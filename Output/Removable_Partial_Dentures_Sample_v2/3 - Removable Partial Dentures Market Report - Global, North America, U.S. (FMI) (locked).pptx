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550" r:id="rId302"/>
    <p:sldId id="544" r:id="rId296"/>
    <p:sldId id="545" r:id="rId297"/>
    <p:sldId id="546" r:id="rId298"/>
    <p:sldId id="547" r:id="rId299"/>
    <p:sldId id="548" r:id="rId300"/>
    <p:sldId id="549" r:id="rId301"/>
    <p:sldId id="559" r:id="rId311"/>
    <p:sldId id="551" r:id="rId303"/>
    <p:sldId id="552" r:id="rId304"/>
    <p:sldId id="553" r:id="rId305"/>
    <p:sldId id="554" r:id="rId306"/>
    <p:sldId id="555" r:id="rId307"/>
    <p:sldId id="556" r:id="rId308"/>
    <p:sldId id="557" r:id="rId309"/>
    <p:sldId id="558" r:id="rId310"/>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26.xml"/><Relationship Id="rId18" Type="http://schemas.openxmlformats.org/officeDocument/2006/relationships/slide" Target="slides/slide27.xml"/><Relationship Id="rId19" Type="http://schemas.openxmlformats.org/officeDocument/2006/relationships/slide" Target="slides/slide28.xml"/><Relationship Id="rId20" Type="http://schemas.openxmlformats.org/officeDocument/2006/relationships/slide" Target="slides/slide29.xml"/><Relationship Id="rId21" Type="http://schemas.openxmlformats.org/officeDocument/2006/relationships/slide" Target="slides/slide30.xml"/><Relationship Id="rId22" Type="http://schemas.openxmlformats.org/officeDocument/2006/relationships/slide" Target="slides/slide31.xml"/><Relationship Id="rId23" Type="http://schemas.openxmlformats.org/officeDocument/2006/relationships/slide" Target="slides/slide32.xml"/><Relationship Id="rId24" Type="http://schemas.openxmlformats.org/officeDocument/2006/relationships/slide" Target="slides/slide33.xml"/><Relationship Id="rId25" Type="http://schemas.openxmlformats.org/officeDocument/2006/relationships/slide" Target="slides/slide34.xml"/><Relationship Id="rId26" Type="http://schemas.openxmlformats.org/officeDocument/2006/relationships/slide" Target="slides/slide35.xml"/><Relationship Id="rId27" Type="http://schemas.openxmlformats.org/officeDocument/2006/relationships/slide" Target="slides/slide36.xml"/><Relationship Id="rId28" Type="http://schemas.openxmlformats.org/officeDocument/2006/relationships/slide" Target="slides/slide37.xml"/><Relationship Id="rId29" Type="http://schemas.openxmlformats.org/officeDocument/2006/relationships/slide" Target="slides/slide38.xml"/><Relationship Id="rId30" Type="http://schemas.openxmlformats.org/officeDocument/2006/relationships/slide" Target="slides/slide39.xml"/><Relationship Id="rId31" Type="http://schemas.openxmlformats.org/officeDocument/2006/relationships/slide" Target="slides/slide40.xml"/><Relationship Id="rId32" Type="http://schemas.openxmlformats.org/officeDocument/2006/relationships/slide" Target="slides/slide41.xml"/><Relationship Id="rId33" Type="http://schemas.openxmlformats.org/officeDocument/2006/relationships/slide" Target="slides/slide42.xml"/><Relationship Id="rId34" Type="http://schemas.openxmlformats.org/officeDocument/2006/relationships/slide" Target="slides/slide43.xml"/><Relationship Id="rId35" Type="http://schemas.openxmlformats.org/officeDocument/2006/relationships/slide" Target="slides/slide44.xml"/><Relationship Id="rId36" Type="http://schemas.openxmlformats.org/officeDocument/2006/relationships/slide" Target="slides/slide45.xml"/><Relationship Id="rId37" Type="http://schemas.openxmlformats.org/officeDocument/2006/relationships/slide" Target="slides/slide46.xml"/><Relationship Id="rId38" Type="http://schemas.openxmlformats.org/officeDocument/2006/relationships/slide" Target="slides/slide47.xml"/><Relationship Id="rId39" Type="http://schemas.openxmlformats.org/officeDocument/2006/relationships/slide" Target="slides/slide48.xml"/><Relationship Id="rId40" Type="http://schemas.openxmlformats.org/officeDocument/2006/relationships/slide" Target="slides/slide49.xml"/><Relationship Id="rId41" Type="http://schemas.openxmlformats.org/officeDocument/2006/relationships/slide" Target="slides/slide50.xml"/><Relationship Id="rId42" Type="http://schemas.openxmlformats.org/officeDocument/2006/relationships/slide" Target="slides/slide51.xml"/><Relationship Id="rId43" Type="http://schemas.openxmlformats.org/officeDocument/2006/relationships/slide" Target="slides/slide52.xml"/><Relationship Id="rId44" Type="http://schemas.openxmlformats.org/officeDocument/2006/relationships/slide" Target="slides/slide53.xml"/><Relationship Id="rId45" Type="http://schemas.openxmlformats.org/officeDocument/2006/relationships/slide" Target="slides/slide54.xml"/><Relationship Id="rId46" Type="http://schemas.openxmlformats.org/officeDocument/2006/relationships/slide" Target="slides/slide55.xml"/><Relationship Id="rId47" Type="http://schemas.openxmlformats.org/officeDocument/2006/relationships/slide" Target="slides/slide56.xml"/><Relationship Id="rId48" Type="http://schemas.openxmlformats.org/officeDocument/2006/relationships/slide" Target="slides/slide57.xml"/><Relationship Id="rId49" Type="http://schemas.openxmlformats.org/officeDocument/2006/relationships/slide" Target="slides/slide58.xml"/><Relationship Id="rId50" Type="http://schemas.openxmlformats.org/officeDocument/2006/relationships/slide" Target="slides/slide59.xml"/><Relationship Id="rId51" Type="http://schemas.openxmlformats.org/officeDocument/2006/relationships/slide" Target="slides/slide60.xml"/><Relationship Id="rId52" Type="http://schemas.openxmlformats.org/officeDocument/2006/relationships/slide" Target="slides/slide61.xml"/><Relationship Id="rId53" Type="http://schemas.openxmlformats.org/officeDocument/2006/relationships/slide" Target="slides/slide62.xml"/><Relationship Id="rId54" Type="http://schemas.openxmlformats.org/officeDocument/2006/relationships/slide" Target="slides/slide63.xml"/><Relationship Id="rId55" Type="http://schemas.openxmlformats.org/officeDocument/2006/relationships/slide" Target="slides/slide64.xml"/><Relationship Id="rId56" Type="http://schemas.openxmlformats.org/officeDocument/2006/relationships/slide" Target="slides/slide65.xml"/><Relationship Id="rId57" Type="http://schemas.openxmlformats.org/officeDocument/2006/relationships/slide" Target="slides/slide66.xml"/><Relationship Id="rId58" Type="http://schemas.openxmlformats.org/officeDocument/2006/relationships/slide" Target="slides/slide67.xml"/><Relationship Id="rId59" Type="http://schemas.openxmlformats.org/officeDocument/2006/relationships/slide" Target="slides/slide68.xml"/><Relationship Id="rId60" Type="http://schemas.openxmlformats.org/officeDocument/2006/relationships/slide" Target="slides/slide69.xml"/><Relationship Id="rId61" Type="http://schemas.openxmlformats.org/officeDocument/2006/relationships/slide" Target="slides/slide70.xml"/><Relationship Id="rId62" Type="http://schemas.openxmlformats.org/officeDocument/2006/relationships/slide" Target="slides/slide71.xml"/><Relationship Id="rId63" Type="http://schemas.openxmlformats.org/officeDocument/2006/relationships/slide" Target="slides/slide72.xml"/><Relationship Id="rId64" Type="http://schemas.openxmlformats.org/officeDocument/2006/relationships/slide" Target="slides/slide73.xml"/><Relationship Id="rId65" Type="http://schemas.openxmlformats.org/officeDocument/2006/relationships/slide" Target="slides/slide74.xml"/><Relationship Id="rId66" Type="http://schemas.openxmlformats.org/officeDocument/2006/relationships/slide" Target="slides/slide75.xml"/><Relationship Id="rId67" Type="http://schemas.openxmlformats.org/officeDocument/2006/relationships/slide" Target="slides/slide76.xml"/><Relationship Id="rId68" Type="http://schemas.openxmlformats.org/officeDocument/2006/relationships/slide" Target="slides/slide77.xml"/><Relationship Id="rId69" Type="http://schemas.openxmlformats.org/officeDocument/2006/relationships/slide" Target="slides/slide78.xml"/><Relationship Id="rId70" Type="http://schemas.openxmlformats.org/officeDocument/2006/relationships/slide" Target="slides/slide79.xml"/><Relationship Id="rId71" Type="http://schemas.openxmlformats.org/officeDocument/2006/relationships/slide" Target="slides/slide80.xml"/><Relationship Id="rId72" Type="http://schemas.openxmlformats.org/officeDocument/2006/relationships/slide" Target="slides/slide81.xml"/><Relationship Id="rId73" Type="http://schemas.openxmlformats.org/officeDocument/2006/relationships/slide" Target="slides/slide82.xml"/><Relationship Id="rId74" Type="http://schemas.openxmlformats.org/officeDocument/2006/relationships/slide" Target="slides/slide83.xml"/><Relationship Id="rId75" Type="http://schemas.openxmlformats.org/officeDocument/2006/relationships/slide" Target="slides/slide84.xml"/><Relationship Id="rId76" Type="http://schemas.openxmlformats.org/officeDocument/2006/relationships/slide" Target="slides/slide85.xml"/><Relationship Id="rId77" Type="http://schemas.openxmlformats.org/officeDocument/2006/relationships/slide" Target="slides/slide86.xml"/><Relationship Id="rId78" Type="http://schemas.openxmlformats.org/officeDocument/2006/relationships/slide" Target="slides/slide87.xml"/><Relationship Id="rId79" Type="http://schemas.openxmlformats.org/officeDocument/2006/relationships/slide" Target="slides/slide88.xml"/><Relationship Id="rId80" Type="http://schemas.openxmlformats.org/officeDocument/2006/relationships/slide" Target="slides/slide89.xml"/><Relationship Id="rId81" Type="http://schemas.openxmlformats.org/officeDocument/2006/relationships/slide" Target="slides/slide90.xml"/><Relationship Id="rId82" Type="http://schemas.openxmlformats.org/officeDocument/2006/relationships/slide" Target="slides/slide91.xml"/><Relationship Id="rId83" Type="http://schemas.openxmlformats.org/officeDocument/2006/relationships/slide" Target="slides/slide92.xml"/><Relationship Id="rId84" Type="http://schemas.openxmlformats.org/officeDocument/2006/relationships/slide" Target="slides/slide93.xml"/><Relationship Id="rId85" Type="http://schemas.openxmlformats.org/officeDocument/2006/relationships/slide" Target="slides/slide94.xml"/><Relationship Id="rId86" Type="http://schemas.openxmlformats.org/officeDocument/2006/relationships/slide" Target="slides/slide95.xml"/><Relationship Id="rId87" Type="http://schemas.openxmlformats.org/officeDocument/2006/relationships/slide" Target="slides/slide96.xml"/><Relationship Id="rId88" Type="http://schemas.openxmlformats.org/officeDocument/2006/relationships/slide" Target="slides/slide97.xml"/><Relationship Id="rId89" Type="http://schemas.openxmlformats.org/officeDocument/2006/relationships/slide" Target="slides/slide98.xml"/><Relationship Id="rId90" Type="http://schemas.openxmlformats.org/officeDocument/2006/relationships/slide" Target="slides/slide99.xml"/><Relationship Id="rId91" Type="http://schemas.openxmlformats.org/officeDocument/2006/relationships/slide" Target="slides/slide100.xml"/><Relationship Id="rId92" Type="http://schemas.openxmlformats.org/officeDocument/2006/relationships/slide" Target="slides/slide101.xml"/><Relationship Id="rId93" Type="http://schemas.openxmlformats.org/officeDocument/2006/relationships/slide" Target="slides/slide102.xml"/><Relationship Id="rId94" Type="http://schemas.openxmlformats.org/officeDocument/2006/relationships/slide" Target="slides/slide103.xml"/><Relationship Id="rId95" Type="http://schemas.openxmlformats.org/officeDocument/2006/relationships/slide" Target="slides/slide104.xml"/><Relationship Id="rId96" Type="http://schemas.openxmlformats.org/officeDocument/2006/relationships/slide" Target="slides/slide105.xml"/><Relationship Id="rId97" Type="http://schemas.openxmlformats.org/officeDocument/2006/relationships/slide" Target="slides/slide106.xml"/><Relationship Id="rId98" Type="http://schemas.openxmlformats.org/officeDocument/2006/relationships/slide" Target="slides/slide107.xml"/><Relationship Id="rId99" Type="http://schemas.openxmlformats.org/officeDocument/2006/relationships/slide" Target="slides/slide108.xml"/><Relationship Id="rId100" Type="http://schemas.openxmlformats.org/officeDocument/2006/relationships/slide" Target="slides/slide109.xml"/><Relationship Id="rId101" Type="http://schemas.openxmlformats.org/officeDocument/2006/relationships/slide" Target="slides/slide110.xml"/><Relationship Id="rId102" Type="http://schemas.openxmlformats.org/officeDocument/2006/relationships/slide" Target="slides/slide111.xml"/><Relationship Id="rId103" Type="http://schemas.openxmlformats.org/officeDocument/2006/relationships/slide" Target="slides/slide112.xml"/><Relationship Id="rId104" Type="http://schemas.openxmlformats.org/officeDocument/2006/relationships/slide" Target="slides/slide113.xml"/><Relationship Id="rId105" Type="http://schemas.openxmlformats.org/officeDocument/2006/relationships/slide" Target="slides/slide114.xml"/><Relationship Id="rId106" Type="http://schemas.openxmlformats.org/officeDocument/2006/relationships/slide" Target="slides/slide115.xml"/><Relationship Id="rId107" Type="http://schemas.openxmlformats.org/officeDocument/2006/relationships/slide" Target="slides/slide116.xml"/><Relationship Id="rId108" Type="http://schemas.openxmlformats.org/officeDocument/2006/relationships/slide" Target="slides/slide117.xml"/><Relationship Id="rId109" Type="http://schemas.openxmlformats.org/officeDocument/2006/relationships/slide" Target="slides/slide118.xml"/><Relationship Id="rId110" Type="http://schemas.openxmlformats.org/officeDocument/2006/relationships/slide" Target="slides/slide119.xml"/><Relationship Id="rId111" Type="http://schemas.openxmlformats.org/officeDocument/2006/relationships/slide" Target="slides/slide120.xml"/><Relationship Id="rId112" Type="http://schemas.openxmlformats.org/officeDocument/2006/relationships/slide" Target="slides/slide121.xml"/><Relationship Id="rId113" Type="http://schemas.openxmlformats.org/officeDocument/2006/relationships/slide" Target="slides/slide122.xml"/><Relationship Id="rId114" Type="http://schemas.openxmlformats.org/officeDocument/2006/relationships/slide" Target="slides/slide123.xml"/><Relationship Id="rId115" Type="http://schemas.openxmlformats.org/officeDocument/2006/relationships/slide" Target="slides/slide124.xml"/><Relationship Id="rId116" Type="http://schemas.openxmlformats.org/officeDocument/2006/relationships/slide" Target="slides/slide125.xml"/><Relationship Id="rId117" Type="http://schemas.openxmlformats.org/officeDocument/2006/relationships/slide" Target="slides/slide126.xml"/><Relationship Id="rId118" Type="http://schemas.openxmlformats.org/officeDocument/2006/relationships/slide" Target="slides/slide127.xml"/><Relationship Id="rId119" Type="http://schemas.openxmlformats.org/officeDocument/2006/relationships/slide" Target="slides/slide128.xml"/><Relationship Id="rId120" Type="http://schemas.openxmlformats.org/officeDocument/2006/relationships/slide" Target="slides/slide129.xml"/><Relationship Id="rId121" Type="http://schemas.openxmlformats.org/officeDocument/2006/relationships/slide" Target="slides/slide130.xml"/><Relationship Id="rId122" Type="http://schemas.openxmlformats.org/officeDocument/2006/relationships/slide" Target="slides/slide131.xml"/><Relationship Id="rId123" Type="http://schemas.openxmlformats.org/officeDocument/2006/relationships/slide" Target="slides/slide132.xml"/><Relationship Id="rId124" Type="http://schemas.openxmlformats.org/officeDocument/2006/relationships/slide" Target="slides/slide133.xml"/><Relationship Id="rId125" Type="http://schemas.openxmlformats.org/officeDocument/2006/relationships/slide" Target="slides/slide134.xml"/><Relationship Id="rId126" Type="http://schemas.openxmlformats.org/officeDocument/2006/relationships/slide" Target="slides/slide135.xml"/><Relationship Id="rId127" Type="http://schemas.openxmlformats.org/officeDocument/2006/relationships/slide" Target="slides/slide136.xml"/><Relationship Id="rId128" Type="http://schemas.openxmlformats.org/officeDocument/2006/relationships/slide" Target="slides/slide137.xml"/><Relationship Id="rId129" Type="http://schemas.openxmlformats.org/officeDocument/2006/relationships/slide" Target="slides/slide138.xml"/><Relationship Id="rId130" Type="http://schemas.openxmlformats.org/officeDocument/2006/relationships/slide" Target="slides/slide139.xml"/><Relationship Id="rId131" Type="http://schemas.openxmlformats.org/officeDocument/2006/relationships/slide" Target="slides/slide140.xml"/><Relationship Id="rId132" Type="http://schemas.openxmlformats.org/officeDocument/2006/relationships/slide" Target="slides/slide141.xml"/><Relationship Id="rId133" Type="http://schemas.openxmlformats.org/officeDocument/2006/relationships/slide" Target="slides/slide142.xml"/><Relationship Id="rId134" Type="http://schemas.openxmlformats.org/officeDocument/2006/relationships/slide" Target="slides/slide143.xml"/><Relationship Id="rId135" Type="http://schemas.openxmlformats.org/officeDocument/2006/relationships/slide" Target="slides/slide144.xml"/><Relationship Id="rId136" Type="http://schemas.openxmlformats.org/officeDocument/2006/relationships/slide" Target="slides/slide145.xml"/><Relationship Id="rId137" Type="http://schemas.openxmlformats.org/officeDocument/2006/relationships/slide" Target="slides/slide146.xml"/><Relationship Id="rId138" Type="http://schemas.openxmlformats.org/officeDocument/2006/relationships/slide" Target="slides/slide147.xml"/><Relationship Id="rId139" Type="http://schemas.openxmlformats.org/officeDocument/2006/relationships/slide" Target="slides/slide148.xml"/><Relationship Id="rId140" Type="http://schemas.openxmlformats.org/officeDocument/2006/relationships/slide" Target="slides/slide149.xml"/><Relationship Id="rId141" Type="http://schemas.openxmlformats.org/officeDocument/2006/relationships/slide" Target="slides/slide150.xml"/><Relationship Id="rId142" Type="http://schemas.openxmlformats.org/officeDocument/2006/relationships/slide" Target="slides/slide151.xml"/><Relationship Id="rId143" Type="http://schemas.openxmlformats.org/officeDocument/2006/relationships/slide" Target="slides/slide152.xml"/><Relationship Id="rId144" Type="http://schemas.openxmlformats.org/officeDocument/2006/relationships/slide" Target="slides/slide153.xml"/><Relationship Id="rId145" Type="http://schemas.openxmlformats.org/officeDocument/2006/relationships/slide" Target="slides/slide154.xml"/><Relationship Id="rId146" Type="http://schemas.openxmlformats.org/officeDocument/2006/relationships/slide" Target="slides/slide155.xml"/><Relationship Id="rId147" Type="http://schemas.openxmlformats.org/officeDocument/2006/relationships/slide" Target="slides/slide156.xml"/><Relationship Id="rId148" Type="http://schemas.openxmlformats.org/officeDocument/2006/relationships/slide" Target="slides/slide157.xml"/><Relationship Id="rId149" Type="http://schemas.openxmlformats.org/officeDocument/2006/relationships/slide" Target="slides/slide158.xml"/><Relationship Id="rId150" Type="http://schemas.openxmlformats.org/officeDocument/2006/relationships/slide" Target="slides/slide159.xml"/><Relationship Id="rId151" Type="http://schemas.openxmlformats.org/officeDocument/2006/relationships/slide" Target="slides/slide160.xml"/><Relationship Id="rId152" Type="http://schemas.openxmlformats.org/officeDocument/2006/relationships/slide" Target="slides/slide161.xml"/><Relationship Id="rId153" Type="http://schemas.openxmlformats.org/officeDocument/2006/relationships/slide" Target="slides/slide162.xml"/><Relationship Id="rId154" Type="http://schemas.openxmlformats.org/officeDocument/2006/relationships/slide" Target="slides/slide163.xml"/><Relationship Id="rId155" Type="http://schemas.openxmlformats.org/officeDocument/2006/relationships/slide" Target="slides/slide164.xml"/><Relationship Id="rId156" Type="http://schemas.openxmlformats.org/officeDocument/2006/relationships/slide" Target="slides/slide165.xml"/><Relationship Id="rId157" Type="http://schemas.openxmlformats.org/officeDocument/2006/relationships/slide" Target="slides/slide166.xml"/><Relationship Id="rId158" Type="http://schemas.openxmlformats.org/officeDocument/2006/relationships/slide" Target="slides/slide167.xml"/><Relationship Id="rId159" Type="http://schemas.openxmlformats.org/officeDocument/2006/relationships/slide" Target="slides/slide168.xml"/><Relationship Id="rId160" Type="http://schemas.openxmlformats.org/officeDocument/2006/relationships/slide" Target="slides/slide169.xml"/><Relationship Id="rId161" Type="http://schemas.openxmlformats.org/officeDocument/2006/relationships/slide" Target="slides/slide170.xml"/><Relationship Id="rId162" Type="http://schemas.openxmlformats.org/officeDocument/2006/relationships/slide" Target="slides/slide171.xml"/><Relationship Id="rId163" Type="http://schemas.openxmlformats.org/officeDocument/2006/relationships/slide" Target="slides/slide172.xml"/><Relationship Id="rId164" Type="http://schemas.openxmlformats.org/officeDocument/2006/relationships/slide" Target="slides/slide173.xml"/><Relationship Id="rId165" Type="http://schemas.openxmlformats.org/officeDocument/2006/relationships/slide" Target="slides/slide174.xml"/><Relationship Id="rId166" Type="http://schemas.openxmlformats.org/officeDocument/2006/relationships/slide" Target="slides/slide175.xml"/><Relationship Id="rId167" Type="http://schemas.openxmlformats.org/officeDocument/2006/relationships/slide" Target="slides/slide176.xml"/><Relationship Id="rId168" Type="http://schemas.openxmlformats.org/officeDocument/2006/relationships/slide" Target="slides/slide177.xml"/><Relationship Id="rId169" Type="http://schemas.openxmlformats.org/officeDocument/2006/relationships/slide" Target="slides/slide178.xml"/><Relationship Id="rId170" Type="http://schemas.openxmlformats.org/officeDocument/2006/relationships/slide" Target="slides/slide179.xml"/><Relationship Id="rId171" Type="http://schemas.openxmlformats.org/officeDocument/2006/relationships/slide" Target="slides/slide180.xml"/><Relationship Id="rId172" Type="http://schemas.openxmlformats.org/officeDocument/2006/relationships/slide" Target="slides/slide181.xml"/><Relationship Id="rId173" Type="http://schemas.openxmlformats.org/officeDocument/2006/relationships/slide" Target="slides/slide182.xml"/><Relationship Id="rId174" Type="http://schemas.openxmlformats.org/officeDocument/2006/relationships/slide" Target="slides/slide183.xml"/><Relationship Id="rId175" Type="http://schemas.openxmlformats.org/officeDocument/2006/relationships/slide" Target="slides/slide184.xml"/><Relationship Id="rId176" Type="http://schemas.openxmlformats.org/officeDocument/2006/relationships/slide" Target="slides/slide185.xml"/><Relationship Id="rId177" Type="http://schemas.openxmlformats.org/officeDocument/2006/relationships/slide" Target="slides/slide186.xml"/><Relationship Id="rId178" Type="http://schemas.openxmlformats.org/officeDocument/2006/relationships/slide" Target="slides/slide187.xml"/><Relationship Id="rId179" Type="http://schemas.openxmlformats.org/officeDocument/2006/relationships/slide" Target="slides/slide188.xml"/><Relationship Id="rId180" Type="http://schemas.openxmlformats.org/officeDocument/2006/relationships/slide" Target="slides/slide189.xml"/><Relationship Id="rId181" Type="http://schemas.openxmlformats.org/officeDocument/2006/relationships/slide" Target="slides/slide190.xml"/><Relationship Id="rId182" Type="http://schemas.openxmlformats.org/officeDocument/2006/relationships/slide" Target="slides/slide191.xml"/><Relationship Id="rId183" Type="http://schemas.openxmlformats.org/officeDocument/2006/relationships/slide" Target="slides/slide192.xml"/><Relationship Id="rId184" Type="http://schemas.openxmlformats.org/officeDocument/2006/relationships/slide" Target="slides/slide193.xml"/><Relationship Id="rId185" Type="http://schemas.openxmlformats.org/officeDocument/2006/relationships/slide" Target="slides/slide194.xml"/><Relationship Id="rId186" Type="http://schemas.openxmlformats.org/officeDocument/2006/relationships/slide" Target="slides/slide195.xml"/><Relationship Id="rId187" Type="http://schemas.openxmlformats.org/officeDocument/2006/relationships/slide" Target="slides/slide196.xml"/><Relationship Id="rId188" Type="http://schemas.openxmlformats.org/officeDocument/2006/relationships/slide" Target="slides/slide197.xml"/><Relationship Id="rId189" Type="http://schemas.openxmlformats.org/officeDocument/2006/relationships/slide" Target="slides/slide198.xml"/><Relationship Id="rId190" Type="http://schemas.openxmlformats.org/officeDocument/2006/relationships/slide" Target="slides/slide199.xml"/><Relationship Id="rId191" Type="http://schemas.openxmlformats.org/officeDocument/2006/relationships/slide" Target="slides/slide200.xml"/><Relationship Id="rId192" Type="http://schemas.openxmlformats.org/officeDocument/2006/relationships/slide" Target="slides/slide201.xml"/><Relationship Id="rId193" Type="http://schemas.openxmlformats.org/officeDocument/2006/relationships/slide" Target="slides/slide202.xml"/><Relationship Id="rId194" Type="http://schemas.openxmlformats.org/officeDocument/2006/relationships/slide" Target="slides/slide203.xml"/><Relationship Id="rId195" Type="http://schemas.openxmlformats.org/officeDocument/2006/relationships/slide" Target="slides/slide204.xml"/><Relationship Id="rId196" Type="http://schemas.openxmlformats.org/officeDocument/2006/relationships/slide" Target="slides/slide205.xml"/><Relationship Id="rId197" Type="http://schemas.openxmlformats.org/officeDocument/2006/relationships/slide" Target="slides/slide206.xml"/><Relationship Id="rId198" Type="http://schemas.openxmlformats.org/officeDocument/2006/relationships/slide" Target="slides/slide207.xml"/><Relationship Id="rId199" Type="http://schemas.openxmlformats.org/officeDocument/2006/relationships/slide" Target="slides/slide208.xml"/><Relationship Id="rId200" Type="http://schemas.openxmlformats.org/officeDocument/2006/relationships/slide" Target="slides/slide209.xml"/><Relationship Id="rId201" Type="http://schemas.openxmlformats.org/officeDocument/2006/relationships/slide" Target="slides/slide210.xml"/><Relationship Id="rId202" Type="http://schemas.openxmlformats.org/officeDocument/2006/relationships/slide" Target="slides/slide211.xml"/><Relationship Id="rId203" Type="http://schemas.openxmlformats.org/officeDocument/2006/relationships/slide" Target="slides/slide212.xml"/><Relationship Id="rId204" Type="http://schemas.openxmlformats.org/officeDocument/2006/relationships/slide" Target="slides/slide213.xml"/><Relationship Id="rId205" Type="http://schemas.openxmlformats.org/officeDocument/2006/relationships/slide" Target="slides/slide214.xml"/><Relationship Id="rId206" Type="http://schemas.openxmlformats.org/officeDocument/2006/relationships/slide" Target="slides/slide215.xml"/><Relationship Id="rId207" Type="http://schemas.openxmlformats.org/officeDocument/2006/relationships/slide" Target="slides/slide216.xml"/><Relationship Id="rId208" Type="http://schemas.openxmlformats.org/officeDocument/2006/relationships/slide" Target="slides/slide217.xml"/><Relationship Id="rId209" Type="http://schemas.openxmlformats.org/officeDocument/2006/relationships/slide" Target="slides/slide218.xml"/><Relationship Id="rId210" Type="http://schemas.openxmlformats.org/officeDocument/2006/relationships/slide" Target="slides/slide219.xml"/><Relationship Id="rId211" Type="http://schemas.openxmlformats.org/officeDocument/2006/relationships/slide" Target="slides/slide220.xml"/><Relationship Id="rId212" Type="http://schemas.openxmlformats.org/officeDocument/2006/relationships/slide" Target="slides/slide221.xml"/><Relationship Id="rId213" Type="http://schemas.openxmlformats.org/officeDocument/2006/relationships/slide" Target="slides/slide222.xml"/><Relationship Id="rId214" Type="http://schemas.openxmlformats.org/officeDocument/2006/relationships/slide" Target="slides/slide223.xml"/><Relationship Id="rId215" Type="http://schemas.openxmlformats.org/officeDocument/2006/relationships/slide" Target="slides/slide224.xml"/><Relationship Id="rId216" Type="http://schemas.openxmlformats.org/officeDocument/2006/relationships/slide" Target="slides/slide225.xml"/><Relationship Id="rId217" Type="http://schemas.openxmlformats.org/officeDocument/2006/relationships/slide" Target="slides/slide226.xml"/><Relationship Id="rId218" Type="http://schemas.openxmlformats.org/officeDocument/2006/relationships/slide" Target="slides/slide227.xml"/><Relationship Id="rId219" Type="http://schemas.openxmlformats.org/officeDocument/2006/relationships/slide" Target="slides/slide228.xml"/><Relationship Id="rId220" Type="http://schemas.openxmlformats.org/officeDocument/2006/relationships/slide" Target="slides/slide229.xml"/><Relationship Id="rId221" Type="http://schemas.openxmlformats.org/officeDocument/2006/relationships/slide" Target="slides/slide230.xml"/><Relationship Id="rId222" Type="http://schemas.openxmlformats.org/officeDocument/2006/relationships/slide" Target="slides/slide231.xml"/><Relationship Id="rId223" Type="http://schemas.openxmlformats.org/officeDocument/2006/relationships/slide" Target="slides/slide232.xml"/><Relationship Id="rId224" Type="http://schemas.openxmlformats.org/officeDocument/2006/relationships/slide" Target="slides/slide233.xml"/><Relationship Id="rId225" Type="http://schemas.openxmlformats.org/officeDocument/2006/relationships/slide" Target="slides/slide234.xml"/><Relationship Id="rId226" Type="http://schemas.openxmlformats.org/officeDocument/2006/relationships/slide" Target="slides/slide235.xml"/><Relationship Id="rId227" Type="http://schemas.openxmlformats.org/officeDocument/2006/relationships/slide" Target="slides/slide236.xml"/><Relationship Id="rId228" Type="http://schemas.openxmlformats.org/officeDocument/2006/relationships/slide" Target="slides/slide237.xml"/><Relationship Id="rId229" Type="http://schemas.openxmlformats.org/officeDocument/2006/relationships/slide" Target="slides/slide238.xml"/><Relationship Id="rId230" Type="http://schemas.openxmlformats.org/officeDocument/2006/relationships/slide" Target="slides/slide239.xml"/><Relationship Id="rId231" Type="http://schemas.openxmlformats.org/officeDocument/2006/relationships/slide" Target="slides/slide240.xml"/><Relationship Id="rId232" Type="http://schemas.openxmlformats.org/officeDocument/2006/relationships/slide" Target="slides/slide241.xml"/><Relationship Id="rId233" Type="http://schemas.openxmlformats.org/officeDocument/2006/relationships/slide" Target="slides/slide242.xml"/><Relationship Id="rId234" Type="http://schemas.openxmlformats.org/officeDocument/2006/relationships/slide" Target="slides/slide243.xml"/><Relationship Id="rId235" Type="http://schemas.openxmlformats.org/officeDocument/2006/relationships/slide" Target="slides/slide244.xml"/><Relationship Id="rId236" Type="http://schemas.openxmlformats.org/officeDocument/2006/relationships/slide" Target="slides/slide245.xml"/><Relationship Id="rId237" Type="http://schemas.openxmlformats.org/officeDocument/2006/relationships/slide" Target="slides/slide246.xml"/><Relationship Id="rId238" Type="http://schemas.openxmlformats.org/officeDocument/2006/relationships/slide" Target="slides/slide247.xml"/><Relationship Id="rId239" Type="http://schemas.openxmlformats.org/officeDocument/2006/relationships/slide" Target="slides/slide248.xml"/><Relationship Id="rId240" Type="http://schemas.openxmlformats.org/officeDocument/2006/relationships/slide" Target="slides/slide249.xml"/><Relationship Id="rId241" Type="http://schemas.openxmlformats.org/officeDocument/2006/relationships/slide" Target="slides/slide250.xml"/><Relationship Id="rId242" Type="http://schemas.openxmlformats.org/officeDocument/2006/relationships/slide" Target="slides/slide251.xml"/><Relationship Id="rId243" Type="http://schemas.openxmlformats.org/officeDocument/2006/relationships/slide" Target="slides/slide252.xml"/><Relationship Id="rId244" Type="http://schemas.openxmlformats.org/officeDocument/2006/relationships/slide" Target="slides/slide253.xml"/><Relationship Id="rId245" Type="http://schemas.openxmlformats.org/officeDocument/2006/relationships/slide" Target="slides/slide254.xml"/><Relationship Id="rId246" Type="http://schemas.openxmlformats.org/officeDocument/2006/relationships/slide" Target="slides/slide255.xml"/><Relationship Id="rId247" Type="http://schemas.openxmlformats.org/officeDocument/2006/relationships/slide" Target="slides/slide256.xml"/><Relationship Id="rId248" Type="http://schemas.openxmlformats.org/officeDocument/2006/relationships/slide" Target="slides/slide257.xml"/><Relationship Id="rId249" Type="http://schemas.openxmlformats.org/officeDocument/2006/relationships/slide" Target="slides/slide258.xml"/><Relationship Id="rId250" Type="http://schemas.openxmlformats.org/officeDocument/2006/relationships/slide" Target="slides/slide259.xml"/><Relationship Id="rId251" Type="http://schemas.openxmlformats.org/officeDocument/2006/relationships/slide" Target="slides/slide260.xml"/><Relationship Id="rId252" Type="http://schemas.openxmlformats.org/officeDocument/2006/relationships/slide" Target="slides/slide261.xml"/><Relationship Id="rId253" Type="http://schemas.openxmlformats.org/officeDocument/2006/relationships/slide" Target="slides/slide262.xml"/><Relationship Id="rId254" Type="http://schemas.openxmlformats.org/officeDocument/2006/relationships/slide" Target="slides/slide263.xml"/><Relationship Id="rId255" Type="http://schemas.openxmlformats.org/officeDocument/2006/relationships/slide" Target="slides/slide264.xml"/><Relationship Id="rId256" Type="http://schemas.openxmlformats.org/officeDocument/2006/relationships/slide" Target="slides/slide265.xml"/><Relationship Id="rId257" Type="http://schemas.openxmlformats.org/officeDocument/2006/relationships/slide" Target="slides/slide266.xml"/><Relationship Id="rId258" Type="http://schemas.openxmlformats.org/officeDocument/2006/relationships/slide" Target="slides/slide267.xml"/><Relationship Id="rId259" Type="http://schemas.openxmlformats.org/officeDocument/2006/relationships/slide" Target="slides/slide268.xml"/><Relationship Id="rId260" Type="http://schemas.openxmlformats.org/officeDocument/2006/relationships/slide" Target="slides/slide269.xml"/><Relationship Id="rId261" Type="http://schemas.openxmlformats.org/officeDocument/2006/relationships/slide" Target="slides/slide270.xml"/><Relationship Id="rId262" Type="http://schemas.openxmlformats.org/officeDocument/2006/relationships/slide" Target="slides/slide271.xml"/><Relationship Id="rId263" Type="http://schemas.openxmlformats.org/officeDocument/2006/relationships/slide" Target="slides/slide272.xml"/><Relationship Id="rId264" Type="http://schemas.openxmlformats.org/officeDocument/2006/relationships/slide" Target="slides/slide273.xml"/><Relationship Id="rId265" Type="http://schemas.openxmlformats.org/officeDocument/2006/relationships/slide" Target="slides/slide274.xml"/><Relationship Id="rId266" Type="http://schemas.openxmlformats.org/officeDocument/2006/relationships/slide" Target="slides/slide275.xml"/><Relationship Id="rId267" Type="http://schemas.openxmlformats.org/officeDocument/2006/relationships/slide" Target="slides/slide276.xml"/><Relationship Id="rId268" Type="http://schemas.openxmlformats.org/officeDocument/2006/relationships/slide" Target="slides/slide277.xml"/><Relationship Id="rId269" Type="http://schemas.openxmlformats.org/officeDocument/2006/relationships/slide" Target="slides/slide278.xml"/><Relationship Id="rId270" Type="http://schemas.openxmlformats.org/officeDocument/2006/relationships/slide" Target="slides/slide279.xml"/><Relationship Id="rId271" Type="http://schemas.openxmlformats.org/officeDocument/2006/relationships/slide" Target="slides/slide280.xml"/><Relationship Id="rId272" Type="http://schemas.openxmlformats.org/officeDocument/2006/relationships/slide" Target="slides/slide281.xml"/><Relationship Id="rId273" Type="http://schemas.openxmlformats.org/officeDocument/2006/relationships/slide" Target="slides/slide282.xml"/><Relationship Id="rId274" Type="http://schemas.openxmlformats.org/officeDocument/2006/relationships/slide" Target="slides/slide283.xml"/><Relationship Id="rId275" Type="http://schemas.openxmlformats.org/officeDocument/2006/relationships/slide" Target="slides/slide284.xml"/><Relationship Id="rId276" Type="http://schemas.openxmlformats.org/officeDocument/2006/relationships/slide" Target="slides/slide285.xml"/><Relationship Id="rId277" Type="http://schemas.openxmlformats.org/officeDocument/2006/relationships/slide" Target="slides/slide286.xml"/><Relationship Id="rId278" Type="http://schemas.openxmlformats.org/officeDocument/2006/relationships/slide" Target="slides/slide287.xml"/><Relationship Id="rId279" Type="http://schemas.openxmlformats.org/officeDocument/2006/relationships/slide" Target="slides/slide288.xml"/><Relationship Id="rId280" Type="http://schemas.openxmlformats.org/officeDocument/2006/relationships/slide" Target="slides/slide289.xml"/><Relationship Id="rId281" Type="http://schemas.openxmlformats.org/officeDocument/2006/relationships/slide" Target="slides/slide290.xml"/><Relationship Id="rId282" Type="http://schemas.openxmlformats.org/officeDocument/2006/relationships/slide" Target="slides/slide291.xml"/><Relationship Id="rId283" Type="http://schemas.openxmlformats.org/officeDocument/2006/relationships/slide" Target="slides/slide292.xml"/><Relationship Id="rId284" Type="http://schemas.openxmlformats.org/officeDocument/2006/relationships/slide" Target="slides/slide293.xml"/><Relationship Id="rId285" Type="http://schemas.openxmlformats.org/officeDocument/2006/relationships/slide" Target="slides/slide294.xml"/><Relationship Id="rId286" Type="http://schemas.openxmlformats.org/officeDocument/2006/relationships/slide" Target="slides/slide295.xml"/><Relationship Id="rId287" Type="http://schemas.openxmlformats.org/officeDocument/2006/relationships/slide" Target="slides/slide296.xml"/><Relationship Id="rId288" Type="http://schemas.openxmlformats.org/officeDocument/2006/relationships/slide" Target="slides/slide297.xml"/><Relationship Id="rId289" Type="http://schemas.openxmlformats.org/officeDocument/2006/relationships/slide" Target="slides/slide298.xml"/><Relationship Id="rId290" Type="http://schemas.openxmlformats.org/officeDocument/2006/relationships/slide" Target="slides/slide299.xml"/><Relationship Id="rId291" Type="http://schemas.openxmlformats.org/officeDocument/2006/relationships/slide" Target="slides/slide300.xml"/><Relationship Id="rId292" Type="http://schemas.openxmlformats.org/officeDocument/2006/relationships/slide" Target="slides/slide301.xml"/><Relationship Id="rId293" Type="http://schemas.openxmlformats.org/officeDocument/2006/relationships/slide" Target="slides/slide302.xml"/><Relationship Id="rId294" Type="http://schemas.openxmlformats.org/officeDocument/2006/relationships/slide" Target="slides/slide303.xml"/><Relationship Id="rId295" Type="http://schemas.openxmlformats.org/officeDocument/2006/relationships/slide" Target="slides/slide304.xml"/><Relationship Id="rId296" Type="http://schemas.openxmlformats.org/officeDocument/2006/relationships/slide" Target="slides/slide11.xml"/><Relationship Id="rId297" Type="http://schemas.openxmlformats.org/officeDocument/2006/relationships/slide" Target="slides/slide12.xml"/><Relationship Id="rId298" Type="http://schemas.openxmlformats.org/officeDocument/2006/relationships/slide" Target="slides/slide13.xml"/><Relationship Id="rId299" Type="http://schemas.openxmlformats.org/officeDocument/2006/relationships/slide" Target="slides/slide14.xml"/><Relationship Id="rId300" Type="http://schemas.openxmlformats.org/officeDocument/2006/relationships/slide" Target="slides/slide15.xml"/><Relationship Id="rId301" Type="http://schemas.openxmlformats.org/officeDocument/2006/relationships/slide" Target="slides/slide16.xml"/><Relationship Id="rId302" Type="http://schemas.openxmlformats.org/officeDocument/2006/relationships/slide" Target="slides/slide10.xml"/><Relationship Id="rId303" Type="http://schemas.openxmlformats.org/officeDocument/2006/relationships/slide" Target="slides/slide18.xml"/><Relationship Id="rId304" Type="http://schemas.openxmlformats.org/officeDocument/2006/relationships/slide" Target="slides/slide19.xml"/><Relationship Id="rId305" Type="http://schemas.openxmlformats.org/officeDocument/2006/relationships/slide" Target="slides/slide20.xml"/><Relationship Id="rId306" Type="http://schemas.openxmlformats.org/officeDocument/2006/relationships/slide" Target="slides/slide21.xml"/><Relationship Id="rId307" Type="http://schemas.openxmlformats.org/officeDocument/2006/relationships/slide" Target="slides/slide22.xml"/><Relationship Id="rId308" Type="http://schemas.openxmlformats.org/officeDocument/2006/relationships/slide" Target="slides/slide23.xml"/><Relationship Id="rId309" Type="http://schemas.openxmlformats.org/officeDocument/2006/relationships/slide" Target="slides/slide24.xml"/><Relationship Id="rId310" Type="http://schemas.openxmlformats.org/officeDocument/2006/relationships/slide" Target="slides/slide25.xml"/><Relationship Id="rId311" Type="http://schemas.openxmlformats.org/officeDocument/2006/relationships/slide" Target="slides/slide17.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 Id="rId10" Type="http://schemas.openxmlformats.org/officeDocument/2006/relationships/image" Target="../media/image45.png"/><Relationship Id="rId11" Type="http://schemas.openxmlformats.org/officeDocument/2006/relationships/image" Target="../media/image46.png"/></Relationships>
</file>

<file path=ppt/charts/_rels/chart8.xml.rels><?xml version='1.0' encoding='UTF-8' standalone='yes'?>
<Relationships xmlns="http://schemas.openxmlformats.org/package/2006/relationships"><Relationship Id="rId2" Type="http://schemas.openxmlformats.org/officeDocument/2006/relationships/image" Target="../media/image47.png"/><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image" Target="../media/image50.png"/><Relationship Id="rId6" Type="http://schemas.openxmlformats.org/officeDocument/2006/relationships/image" Target="../media/image51.png"/><Relationship Id="rId7" Type="http://schemas.openxmlformats.org/officeDocument/2006/relationships/image" Target="../media/image52.png"/><Relationship Id="rId8" Type="http://schemas.openxmlformats.org/officeDocument/2006/relationships/image" Target="../media/image53.png"/><Relationship Id="rId9" Type="http://schemas.openxmlformats.org/officeDocument/2006/relationships/image" Target="../media/image54.png"/><Relationship Id="rId10" Type="http://schemas.openxmlformats.org/officeDocument/2006/relationships/image" Target="../media/image55.png"/><Relationship Id="rId11" Type="http://schemas.openxmlformats.org/officeDocument/2006/relationships/image" Target="../media/image56.png"/></Relationships>
</file>

<file path=ppt/charts/_rels/chart9.xml.rels><?xml version='1.0' encoding='UTF-8' standalone='yes'?>
<Relationships xmlns="http://schemas.openxmlformats.org/package/2006/relationships"><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 Id="rId5" Type="http://schemas.openxmlformats.org/officeDocument/2006/relationships/image" Target="../media/image60.png"/></Relationships>
</file>

<file path=ppt/charts/_rels/chart11.xml.rels><?xml version='1.0' encoding='UTF-8' standalone='yes'?>
<Relationships xmlns="http://schemas.openxmlformats.org/package/2006/relationships"><Relationship Id="rId2" Type="http://schemas.openxmlformats.org/officeDocument/2006/relationships/image" Target="../media/image79.png"/><Relationship Id="rId3" Type="http://schemas.openxmlformats.org/officeDocument/2006/relationships/image" Target="../media/image80.png"/><Relationship Id="rId4" Type="http://schemas.openxmlformats.org/officeDocument/2006/relationships/image" Target="../media/image81.png"/><Relationship Id="rId5" Type="http://schemas.openxmlformats.org/officeDocument/2006/relationships/image" Target="../media/image82.png"/><Relationship Id="rId6" Type="http://schemas.openxmlformats.org/officeDocument/2006/relationships/image" Target="../media/image83.png"/><Relationship Id="rId7" Type="http://schemas.openxmlformats.org/officeDocument/2006/relationships/image" Target="../media/image84.png"/><Relationship Id="rId8" Type="http://schemas.openxmlformats.org/officeDocument/2006/relationships/image" Target="../media/image85.png"/><Relationship Id="rId9" Type="http://schemas.openxmlformats.org/officeDocument/2006/relationships/image" Target="../media/image86.png"/><Relationship Id="rId10" Type="http://schemas.openxmlformats.org/officeDocument/2006/relationships/image" Target="../media/image87.png"/><Relationship Id="rId11" Type="http://schemas.openxmlformats.org/officeDocument/2006/relationships/image" Target="../media/image88.png"/><Relationship Id="rId12" Type="http://schemas.openxmlformats.org/officeDocument/2006/relationships/image" Target="../media/image89.png"/><Relationship Id="rId13" Type="http://schemas.openxmlformats.org/officeDocument/2006/relationships/image" Target="../media/image90.png"/></Relationships>
</file>

<file path=ppt/charts/_rels/chart12.xml.rels><?xml version='1.0' encoding='UTF-8' standalone='yes'?>
<Relationships xmlns="http://schemas.openxmlformats.org/package/2006/relationships"><Relationship Id="rId2" Type="http://schemas.openxmlformats.org/officeDocument/2006/relationships/image" Target="../media/image94.png"/><Relationship Id="rId3" Type="http://schemas.openxmlformats.org/officeDocument/2006/relationships/image" Target="../media/image95.png"/><Relationship Id="rId4" Type="http://schemas.openxmlformats.org/officeDocument/2006/relationships/image" Target="../media/image96.png"/><Relationship Id="rId5" Type="http://schemas.openxmlformats.org/officeDocument/2006/relationships/image" Target="../media/image97.png"/><Relationship Id="rId6" Type="http://schemas.openxmlformats.org/officeDocument/2006/relationships/image" Target="../media/image98.png"/><Relationship Id="rId7" Type="http://schemas.openxmlformats.org/officeDocument/2006/relationships/image" Target="../media/image99.png"/><Relationship Id="rId8" Type="http://schemas.openxmlformats.org/officeDocument/2006/relationships/image" Target="../media/image100.png"/><Relationship Id="rId9" Type="http://schemas.openxmlformats.org/officeDocument/2006/relationships/image" Target="../media/image101.png"/><Relationship Id="rId10" Type="http://schemas.openxmlformats.org/officeDocument/2006/relationships/image" Target="../media/image102.png"/><Relationship Id="rId11" Type="http://schemas.openxmlformats.org/officeDocument/2006/relationships/image" Target="../media/image103.png"/><Relationship Id="rId12" Type="http://schemas.openxmlformats.org/officeDocument/2006/relationships/image" Target="../media/image104.png"/><Relationship Id="rId13" Type="http://schemas.openxmlformats.org/officeDocument/2006/relationships/image" Target="../media/image105.png"/></Relationships>
</file>

<file path=ppt/charts/_rels/chart13.xml.rels><?xml version='1.0' encoding='UTF-8' standalone='yes'?>
<Relationships xmlns="http://schemas.openxmlformats.org/package/2006/relationships"><Relationship Id="rId2" Type="http://schemas.openxmlformats.org/officeDocument/2006/relationships/image" Target="../media/image106.png"/></Relationships>
</file>

<file path=ppt/charts/_rels/chart14.xml.rels><?xml version='1.0' encoding='UTF-8' standalone='yes'?>
<Relationships xmlns="http://schemas.openxmlformats.org/package/2006/relationships"><Relationship Id="rId2" Type="http://schemas.openxmlformats.org/officeDocument/2006/relationships/image" Target="../media/image107.png"/></Relationships>
</file>

<file path=ppt/charts/_rels/chart15.xml.rels><?xml version='1.0' encoding='UTF-8' standalone='yes'?>
<Relationships xmlns="http://schemas.openxmlformats.org/package/2006/relationships"><Relationship Id="rId2" Type="http://schemas.openxmlformats.org/officeDocument/2006/relationships/image" Target="../media/image116.png"/><Relationship Id="rId3" Type="http://schemas.openxmlformats.org/officeDocument/2006/relationships/image" Target="../media/image117.png"/><Relationship Id="rId4" Type="http://schemas.openxmlformats.org/officeDocument/2006/relationships/image" Target="../media/image118.png"/><Relationship Id="rId5" Type="http://schemas.openxmlformats.org/officeDocument/2006/relationships/image" Target="../media/image119.png"/><Relationship Id="rId6" Type="http://schemas.openxmlformats.org/officeDocument/2006/relationships/image" Target="../media/image120.png"/><Relationship Id="rId7" Type="http://schemas.openxmlformats.org/officeDocument/2006/relationships/image" Target="../media/image121.png"/><Relationship Id="rId8" Type="http://schemas.openxmlformats.org/officeDocument/2006/relationships/image" Target="../media/image122.png"/><Relationship Id="rId9" Type="http://schemas.openxmlformats.org/officeDocument/2006/relationships/image" Target="../media/image123.png"/><Relationship Id="rId10" Type="http://schemas.openxmlformats.org/officeDocument/2006/relationships/image" Target="../media/image124.png"/><Relationship Id="rId11" Type="http://schemas.openxmlformats.org/officeDocument/2006/relationships/image" Target="../media/image125.png"/><Relationship Id="rId12" Type="http://schemas.openxmlformats.org/officeDocument/2006/relationships/image" Target="../media/image126.png"/><Relationship Id="rId13" Type="http://schemas.openxmlformats.org/officeDocument/2006/relationships/image" Target="../media/image127.png"/><Relationship Id="rId14" Type="http://schemas.openxmlformats.org/officeDocument/2006/relationships/image" Target="../media/image128.png"/><Relationship Id="rId15" Type="http://schemas.openxmlformats.org/officeDocument/2006/relationships/image" Target="../media/image129.png"/><Relationship Id="rId16" Type="http://schemas.openxmlformats.org/officeDocument/2006/relationships/image" Target="../media/image130.png"/><Relationship Id="rId17" Type="http://schemas.openxmlformats.org/officeDocument/2006/relationships/image" Target="../media/image131.png"/><Relationship Id="rId18" Type="http://schemas.openxmlformats.org/officeDocument/2006/relationships/image" Target="../media/image132.png"/><Relationship Id="rId19" Type="http://schemas.openxmlformats.org/officeDocument/2006/relationships/image" Target="../media/image133.png"/><Relationship Id="rId20" Type="http://schemas.openxmlformats.org/officeDocument/2006/relationships/image" Target="../media/image134.png"/><Relationship Id="rId21" Type="http://schemas.openxmlformats.org/officeDocument/2006/relationships/image" Target="../media/image135.png"/><Relationship Id="rId22" Type="http://schemas.openxmlformats.org/officeDocument/2006/relationships/image" Target="../media/image136.png"/><Relationship Id="rId23" Type="http://schemas.openxmlformats.org/officeDocument/2006/relationships/image" Target="../media/image137.png"/><Relationship Id="rId24" Type="http://schemas.openxmlformats.org/officeDocument/2006/relationships/image" Target="../media/image138.png"/></Relationships>
</file>

<file path=ppt/charts/_rels/chart21.xml.rels><?xml version='1.0' encoding='UTF-8' standalone='yes'?>
<Relationships xmlns="http://schemas.openxmlformats.org/package/2006/relationships"><Relationship Id="rId2" Type="http://schemas.openxmlformats.org/officeDocument/2006/relationships/image" Target="../media/image139.png"/><Relationship Id="rId3" Type="http://schemas.openxmlformats.org/officeDocument/2006/relationships/image" Target="../media/image140.png"/><Relationship Id="rId4" Type="http://schemas.openxmlformats.org/officeDocument/2006/relationships/image" Target="../media/image141.png"/><Relationship Id="rId5" Type="http://schemas.openxmlformats.org/officeDocument/2006/relationships/image" Target="../media/image142.png"/><Relationship Id="rId6" Type="http://schemas.openxmlformats.org/officeDocument/2006/relationships/image" Target="../media/image143.png"/><Relationship Id="rId7" Type="http://schemas.openxmlformats.org/officeDocument/2006/relationships/image" Target="../media/image144.png"/><Relationship Id="rId8" Type="http://schemas.openxmlformats.org/officeDocument/2006/relationships/image" Target="../media/image145.png"/><Relationship Id="rId9" Type="http://schemas.openxmlformats.org/officeDocument/2006/relationships/image" Target="../media/image146.png"/><Relationship Id="rId10" Type="http://schemas.openxmlformats.org/officeDocument/2006/relationships/image" Target="../media/image147.png"/><Relationship Id="rId11" Type="http://schemas.openxmlformats.org/officeDocument/2006/relationships/image" Target="../media/image148.png"/><Relationship Id="rId12" Type="http://schemas.openxmlformats.org/officeDocument/2006/relationships/image" Target="../media/image149.png"/></Relationships>
</file>

<file path=ppt/charts/_rels/chart22.xml.rels><?xml version='1.0' encoding='UTF-8' standalone='yes'?>
<Relationships xmlns="http://schemas.openxmlformats.org/package/2006/relationships"><Relationship Id="rId2" Type="http://schemas.openxmlformats.org/officeDocument/2006/relationships/image" Target="../media/image161.png"/><Relationship Id="rId3" Type="http://schemas.openxmlformats.org/officeDocument/2006/relationships/image" Target="../media/image162.png"/><Relationship Id="rId4" Type="http://schemas.openxmlformats.org/officeDocument/2006/relationships/image" Target="../media/image163.png"/><Relationship Id="rId5" Type="http://schemas.openxmlformats.org/officeDocument/2006/relationships/image" Target="../media/image164.png"/><Relationship Id="rId6" Type="http://schemas.openxmlformats.org/officeDocument/2006/relationships/image" Target="../media/image165.png"/><Relationship Id="rId7" Type="http://schemas.openxmlformats.org/officeDocument/2006/relationships/image" Target="../media/image166.png"/><Relationship Id="rId8" Type="http://schemas.openxmlformats.org/officeDocument/2006/relationships/image" Target="../media/image167.png"/><Relationship Id="rId9" Type="http://schemas.openxmlformats.org/officeDocument/2006/relationships/image" Target="../media/image168.png"/><Relationship Id="rId10" Type="http://schemas.openxmlformats.org/officeDocument/2006/relationships/image" Target="../media/image169.png"/><Relationship Id="rId11" Type="http://schemas.openxmlformats.org/officeDocument/2006/relationships/image" Target="../media/image170.png"/><Relationship Id="rId12" Type="http://schemas.openxmlformats.org/officeDocument/2006/relationships/image" Target="../media/image171.png"/><Relationship Id="rId13" Type="http://schemas.openxmlformats.org/officeDocument/2006/relationships/image" Target="../media/image172.png"/><Relationship Id="rId14" Type="http://schemas.openxmlformats.org/officeDocument/2006/relationships/image" Target="../media/image173.png"/><Relationship Id="rId15" Type="http://schemas.openxmlformats.org/officeDocument/2006/relationships/image" Target="../media/image174.png"/><Relationship Id="rId16" Type="http://schemas.openxmlformats.org/officeDocument/2006/relationships/image" Target="../media/image175.png"/><Relationship Id="rId17" Type="http://schemas.openxmlformats.org/officeDocument/2006/relationships/image" Target="../media/image176.png"/><Relationship Id="rId18" Type="http://schemas.openxmlformats.org/officeDocument/2006/relationships/image" Target="../media/image177.png"/><Relationship Id="rId19" Type="http://schemas.openxmlformats.org/officeDocument/2006/relationships/image" Target="../media/image178.png"/><Relationship Id="rId20" Type="http://schemas.openxmlformats.org/officeDocument/2006/relationships/image" Target="../media/image179.png"/><Relationship Id="rId21" Type="http://schemas.openxmlformats.org/officeDocument/2006/relationships/image" Target="../media/image180.png"/><Relationship Id="rId22" Type="http://schemas.openxmlformats.org/officeDocument/2006/relationships/image" Target="../media/image181.png"/></Relationships>
</file>

<file path=ppt/charts/_rels/chart28.xml.rels><?xml version='1.0' encoding='UTF-8' standalone='yes'?>
<Relationships xmlns="http://schemas.openxmlformats.org/package/2006/relationships"><Relationship Id="rId2" Type="http://schemas.openxmlformats.org/officeDocument/2006/relationships/image" Target="../media/image182.png"/><Relationship Id="rId3" Type="http://schemas.openxmlformats.org/officeDocument/2006/relationships/image" Target="../media/image183.png"/><Relationship Id="rId4" Type="http://schemas.openxmlformats.org/officeDocument/2006/relationships/image" Target="../media/image184.png"/><Relationship Id="rId5" Type="http://schemas.openxmlformats.org/officeDocument/2006/relationships/image" Target="../media/image185.png"/><Relationship Id="rId6" Type="http://schemas.openxmlformats.org/officeDocument/2006/relationships/image" Target="../media/image186.png"/><Relationship Id="rId7" Type="http://schemas.openxmlformats.org/officeDocument/2006/relationships/image" Target="../media/image187.png"/><Relationship Id="rId8" Type="http://schemas.openxmlformats.org/officeDocument/2006/relationships/image" Target="../media/image188.png"/><Relationship Id="rId9" Type="http://schemas.openxmlformats.org/officeDocument/2006/relationships/image" Target="../media/image189.png"/><Relationship Id="rId10" Type="http://schemas.openxmlformats.org/officeDocument/2006/relationships/image" Target="../media/image190.png"/><Relationship Id="rId11" Type="http://schemas.openxmlformats.org/officeDocument/2006/relationships/image" Target="../media/image191.png"/><Relationship Id="rId12" Type="http://schemas.openxmlformats.org/officeDocument/2006/relationships/image" Target="../media/image192.png"/><Relationship Id="rId13" Type="http://schemas.openxmlformats.org/officeDocument/2006/relationships/image" Target="../media/image193.png"/></Relationships>
</file>

<file path=ppt/charts/_rels/chart29.xml.rels><?xml version='1.0' encoding='UTF-8' standalone='yes'?>
<Relationships xmlns="http://schemas.openxmlformats.org/package/2006/relationships"><Relationship Id="rId2" Type="http://schemas.openxmlformats.org/officeDocument/2006/relationships/image" Target="../media/image200.png"/><Relationship Id="rId3" Type="http://schemas.openxmlformats.org/officeDocument/2006/relationships/image" Target="../media/image201.png"/><Relationship Id="rId4" Type="http://schemas.openxmlformats.org/officeDocument/2006/relationships/image" Target="../media/image202.png"/><Relationship Id="rId5" Type="http://schemas.openxmlformats.org/officeDocument/2006/relationships/image" Target="../media/image203.png"/><Relationship Id="rId6" Type="http://schemas.openxmlformats.org/officeDocument/2006/relationships/image" Target="../media/image204.png"/><Relationship Id="rId7" Type="http://schemas.openxmlformats.org/officeDocument/2006/relationships/image" Target="../media/image205.png"/><Relationship Id="rId8" Type="http://schemas.openxmlformats.org/officeDocument/2006/relationships/image" Target="../media/image206.png"/><Relationship Id="rId9" Type="http://schemas.openxmlformats.org/officeDocument/2006/relationships/image" Target="../media/image207.png"/><Relationship Id="rId10" Type="http://schemas.openxmlformats.org/officeDocument/2006/relationships/image" Target="../media/image208.png"/><Relationship Id="rId11" Type="http://schemas.openxmlformats.org/officeDocument/2006/relationships/image" Target="../media/image209.png"/><Relationship Id="rId12" Type="http://schemas.openxmlformats.org/officeDocument/2006/relationships/image" Target="../media/image210.png"/><Relationship Id="rId13" Type="http://schemas.openxmlformats.org/officeDocument/2006/relationships/image" Target="../media/image211.png"/></Relationships>
</file>

<file path=ppt/charts/_rels/chart33.xml.rels><?xml version='1.0' encoding='UTF-8' standalone='yes'?>
<Relationships xmlns="http://schemas.openxmlformats.org/package/2006/relationships"><Relationship Id="rId2" Type="http://schemas.openxmlformats.org/officeDocument/2006/relationships/image" Target="../media/image212.png"/><Relationship Id="rId3" Type="http://schemas.openxmlformats.org/officeDocument/2006/relationships/image" Target="../media/image213.png"/><Relationship Id="rId4" Type="http://schemas.openxmlformats.org/officeDocument/2006/relationships/image" Target="../media/image214.png"/><Relationship Id="rId5" Type="http://schemas.openxmlformats.org/officeDocument/2006/relationships/image" Target="../media/image215.png"/><Relationship Id="rId6" Type="http://schemas.openxmlformats.org/officeDocument/2006/relationships/image" Target="../media/image216.png"/><Relationship Id="rId7" Type="http://schemas.openxmlformats.org/officeDocument/2006/relationships/image" Target="../media/image217.png"/></Relationships>
</file>

<file path=ppt/charts/_rels/chart34.xml.rels><?xml version='1.0' encoding='UTF-8' standalone='yes'?>
<Relationships xmlns="http://schemas.openxmlformats.org/package/2006/relationships"><Relationship Id="rId2" Type="http://schemas.openxmlformats.org/officeDocument/2006/relationships/image" Target="../media/image228.png"/><Relationship Id="rId3" Type="http://schemas.openxmlformats.org/officeDocument/2006/relationships/image" Target="../media/image229.png"/><Relationship Id="rId4" Type="http://schemas.openxmlformats.org/officeDocument/2006/relationships/image" Target="../media/image230.png"/><Relationship Id="rId5" Type="http://schemas.openxmlformats.org/officeDocument/2006/relationships/image" Target="../media/image231.png"/><Relationship Id="rId6" Type="http://schemas.openxmlformats.org/officeDocument/2006/relationships/image" Target="../media/image232.png"/><Relationship Id="rId7" Type="http://schemas.openxmlformats.org/officeDocument/2006/relationships/image" Target="../media/image233.png"/><Relationship Id="rId8" Type="http://schemas.openxmlformats.org/officeDocument/2006/relationships/image" Target="../media/image234.png"/><Relationship Id="rId9" Type="http://schemas.openxmlformats.org/officeDocument/2006/relationships/image" Target="../media/image235.png"/><Relationship Id="rId10" Type="http://schemas.openxmlformats.org/officeDocument/2006/relationships/image" Target="../media/image236.png"/><Relationship Id="rId11" Type="http://schemas.openxmlformats.org/officeDocument/2006/relationships/image" Target="../media/image237.png"/><Relationship Id="rId12" Type="http://schemas.openxmlformats.org/officeDocument/2006/relationships/image" Target="../media/image238.png"/><Relationship Id="rId13" Type="http://schemas.openxmlformats.org/officeDocument/2006/relationships/image" Target="../media/image239.png"/><Relationship Id="rId14" Type="http://schemas.openxmlformats.org/officeDocument/2006/relationships/image" Target="../media/image240.png"/><Relationship Id="rId15" Type="http://schemas.openxmlformats.org/officeDocument/2006/relationships/image" Target="../media/image241.png"/><Relationship Id="rId16" Type="http://schemas.openxmlformats.org/officeDocument/2006/relationships/image" Target="../media/image242.png"/><Relationship Id="rId17" Type="http://schemas.openxmlformats.org/officeDocument/2006/relationships/image" Target="../media/image243.png"/><Relationship Id="rId18" Type="http://schemas.openxmlformats.org/officeDocument/2006/relationships/image" Target="../media/image244.png"/><Relationship Id="rId19" Type="http://schemas.openxmlformats.org/officeDocument/2006/relationships/image" Target="../media/image245.png"/><Relationship Id="rId20" Type="http://schemas.openxmlformats.org/officeDocument/2006/relationships/image" Target="../media/image246.png"/><Relationship Id="rId21" Type="http://schemas.openxmlformats.org/officeDocument/2006/relationships/image" Target="../media/image247.png"/><Relationship Id="rId22" Type="http://schemas.openxmlformats.org/officeDocument/2006/relationships/image" Target="../media/image248.png"/></Relationships>
</file>

<file path=ppt/charts/_rels/chart40.xml.rels><?xml version='1.0' encoding='UTF-8' standalone='yes'?>
<Relationships xmlns="http://schemas.openxmlformats.org/package/2006/relationships"><Relationship Id="rId2" Type="http://schemas.openxmlformats.org/officeDocument/2006/relationships/image" Target="../media/image249.png"/><Relationship Id="rId3" Type="http://schemas.openxmlformats.org/officeDocument/2006/relationships/image" Target="../media/image250.png"/><Relationship Id="rId4" Type="http://schemas.openxmlformats.org/officeDocument/2006/relationships/image" Target="../media/image251.png"/><Relationship Id="rId5" Type="http://schemas.openxmlformats.org/officeDocument/2006/relationships/image" Target="../media/image252.png"/><Relationship Id="rId6" Type="http://schemas.openxmlformats.org/officeDocument/2006/relationships/image" Target="../media/image253.png"/><Relationship Id="rId7" Type="http://schemas.openxmlformats.org/officeDocument/2006/relationships/image" Target="../media/image254.png"/><Relationship Id="rId8" Type="http://schemas.openxmlformats.org/officeDocument/2006/relationships/image" Target="../media/image255.png"/><Relationship Id="rId9" Type="http://schemas.openxmlformats.org/officeDocument/2006/relationships/image" Target="../media/image256.png"/><Relationship Id="rId10" Type="http://schemas.openxmlformats.org/officeDocument/2006/relationships/image" Target="../media/image257.png"/><Relationship Id="rId11" Type="http://schemas.openxmlformats.org/officeDocument/2006/relationships/image" Target="../media/image258.png"/><Relationship Id="rId12" Type="http://schemas.openxmlformats.org/officeDocument/2006/relationships/image" Target="../media/image259.png"/><Relationship Id="rId13" Type="http://schemas.openxmlformats.org/officeDocument/2006/relationships/image" Target="../media/image260.png"/></Relationships>
</file>

<file path=ppt/charts/_rels/chart41.xml.rels><?xml version='1.0' encoding='UTF-8' standalone='yes'?>
<Relationships xmlns="http://schemas.openxmlformats.org/package/2006/relationships"><Relationship Id="rId2" Type="http://schemas.openxmlformats.org/officeDocument/2006/relationships/image" Target="../media/image270.png"/><Relationship Id="rId3" Type="http://schemas.openxmlformats.org/officeDocument/2006/relationships/image" Target="../media/image271.png"/><Relationship Id="rId4" Type="http://schemas.openxmlformats.org/officeDocument/2006/relationships/image" Target="../media/image272.png"/><Relationship Id="rId5" Type="http://schemas.openxmlformats.org/officeDocument/2006/relationships/image" Target="../media/image273.png"/><Relationship Id="rId6" Type="http://schemas.openxmlformats.org/officeDocument/2006/relationships/image" Target="../media/image274.png"/><Relationship Id="rId7" Type="http://schemas.openxmlformats.org/officeDocument/2006/relationships/image" Target="../media/image275.png"/><Relationship Id="rId8" Type="http://schemas.openxmlformats.org/officeDocument/2006/relationships/image" Target="../media/image276.png"/><Relationship Id="rId9" Type="http://schemas.openxmlformats.org/officeDocument/2006/relationships/image" Target="../media/image277.png"/><Relationship Id="rId10" Type="http://schemas.openxmlformats.org/officeDocument/2006/relationships/image" Target="../media/image278.png"/><Relationship Id="rId11" Type="http://schemas.openxmlformats.org/officeDocument/2006/relationships/image" Target="../media/image279.png"/><Relationship Id="rId12" Type="http://schemas.openxmlformats.org/officeDocument/2006/relationships/image" Target="../media/image280.png"/><Relationship Id="rId13" Type="http://schemas.openxmlformats.org/officeDocument/2006/relationships/image" Target="../media/image281.png"/><Relationship Id="rId14" Type="http://schemas.openxmlformats.org/officeDocument/2006/relationships/image" Target="../media/image282.png"/><Relationship Id="rId15" Type="http://schemas.openxmlformats.org/officeDocument/2006/relationships/image" Target="../media/image283.png"/><Relationship Id="rId16" Type="http://schemas.openxmlformats.org/officeDocument/2006/relationships/image" Target="../media/image284.png"/><Relationship Id="rId17" Type="http://schemas.openxmlformats.org/officeDocument/2006/relationships/image" Target="../media/image285.png"/><Relationship Id="rId18" Type="http://schemas.openxmlformats.org/officeDocument/2006/relationships/image" Target="../media/image286.png"/><Relationship Id="rId19" Type="http://schemas.openxmlformats.org/officeDocument/2006/relationships/image" Target="../media/image287.png"/></Relationships>
</file>

<file path=ppt/charts/_rels/chart46.xml.rels><?xml version='1.0' encoding='UTF-8' standalone='yes'?>
<Relationships xmlns="http://schemas.openxmlformats.org/package/2006/relationships"><Relationship Id="rId2" Type="http://schemas.openxmlformats.org/officeDocument/2006/relationships/image" Target="../media/image288.png"/><Relationship Id="rId3" Type="http://schemas.openxmlformats.org/officeDocument/2006/relationships/image" Target="../media/image289.png"/><Relationship Id="rId4" Type="http://schemas.openxmlformats.org/officeDocument/2006/relationships/image" Target="../media/image290.png"/><Relationship Id="rId5" Type="http://schemas.openxmlformats.org/officeDocument/2006/relationships/image" Target="../media/image291.png"/><Relationship Id="rId6" Type="http://schemas.openxmlformats.org/officeDocument/2006/relationships/image" Target="../media/image292.png"/><Relationship Id="rId7" Type="http://schemas.openxmlformats.org/officeDocument/2006/relationships/image" Target="../media/image293.png"/><Relationship Id="rId8" Type="http://schemas.openxmlformats.org/officeDocument/2006/relationships/image" Target="../media/image294.png"/><Relationship Id="rId9" Type="http://schemas.openxmlformats.org/officeDocument/2006/relationships/image" Target="../media/image295.png"/><Relationship Id="rId10" Type="http://schemas.openxmlformats.org/officeDocument/2006/relationships/image" Target="../media/image296.png"/></Relationships>
</file>

<file path=ppt/charts/_rels/chart47.xml.rels><?xml version='1.0' encoding='UTF-8' standalone='yes'?>
<Relationships xmlns="http://schemas.openxmlformats.org/package/2006/relationships"><Relationship Id="rId2" Type="http://schemas.openxmlformats.org/officeDocument/2006/relationships/image" Target="../media/image301.png"/><Relationship Id="rId3" Type="http://schemas.openxmlformats.org/officeDocument/2006/relationships/image" Target="../media/image302.png"/><Relationship Id="rId4" Type="http://schemas.openxmlformats.org/officeDocument/2006/relationships/image" Target="../media/image303.png"/><Relationship Id="rId5" Type="http://schemas.openxmlformats.org/officeDocument/2006/relationships/image" Target="../media/image304.png"/><Relationship Id="rId6" Type="http://schemas.openxmlformats.org/officeDocument/2006/relationships/image" Target="../media/image305.png"/><Relationship Id="rId7" Type="http://schemas.openxmlformats.org/officeDocument/2006/relationships/image" Target="../media/image306.png"/><Relationship Id="rId8" Type="http://schemas.openxmlformats.org/officeDocument/2006/relationships/image" Target="../media/image307.png"/><Relationship Id="rId9" Type="http://schemas.openxmlformats.org/officeDocument/2006/relationships/image" Target="../media/image308.png"/><Relationship Id="rId10" Type="http://schemas.openxmlformats.org/officeDocument/2006/relationships/image" Target="../media/image309.png"/><Relationship Id="rId11" Type="http://schemas.openxmlformats.org/officeDocument/2006/relationships/image" Target="../media/image310.png"/><Relationship Id="rId12" Type="http://schemas.openxmlformats.org/officeDocument/2006/relationships/image" Target="../media/image311.png"/><Relationship Id="rId13" Type="http://schemas.openxmlformats.org/officeDocument/2006/relationships/image" Target="../media/image312.png"/></Relationships>
</file>

<file path=ppt/charts/_rels/chart51.xml.rels><?xml version='1.0' encoding='UTF-8' standalone='yes'?>
<Relationships xmlns="http://schemas.openxmlformats.org/package/2006/relationships"><Relationship Id="rId2" Type="http://schemas.openxmlformats.org/officeDocument/2006/relationships/image" Target="../media/image313.png"/><Relationship Id="rId3" Type="http://schemas.openxmlformats.org/officeDocument/2006/relationships/image" Target="../media/image314.png"/><Relationship Id="rId4" Type="http://schemas.openxmlformats.org/officeDocument/2006/relationships/image" Target="../media/image315.png"/><Relationship Id="rId5" Type="http://schemas.openxmlformats.org/officeDocument/2006/relationships/image" Target="../media/image316.png"/><Relationship Id="rId6" Type="http://schemas.openxmlformats.org/officeDocument/2006/relationships/image" Target="../media/image317.png"/><Relationship Id="rId7" Type="http://schemas.openxmlformats.org/officeDocument/2006/relationships/image" Target="../media/image318.png"/></Relationships>
</file>

<file path=ppt/charts/_rels/chart54.xml.rels><?xml version='1.0' encoding='UTF-8' standalone='yes'?>
<Relationships xmlns="http://schemas.openxmlformats.org/package/2006/relationships"><Relationship Id="rId2" Type="http://schemas.openxmlformats.org/officeDocument/2006/relationships/image" Target="../media/image319.png"/></Relationships>
</file>

<file path=ppt/charts/_rels/chart56.xml.rels><?xml version='1.0' encoding='UTF-8' standalone='yes'?>
<Relationships xmlns="http://schemas.openxmlformats.org/package/2006/relationships"><Relationship Id="rId2" Type="http://schemas.openxmlformats.org/officeDocument/2006/relationships/image" Target="../media/image320.png"/></Relationships>
</file>

<file path=ppt/charts/_rels/chart58.xml.rels><?xml version='1.0' encoding='UTF-8' standalone='yes'?>
<Relationships xmlns="http://schemas.openxmlformats.org/package/2006/relationships"><Relationship Id="rId2" Type="http://schemas.openxmlformats.org/officeDocument/2006/relationships/image" Target="../media/image321.png"/><Relationship Id="rId3" Type="http://schemas.openxmlformats.org/officeDocument/2006/relationships/image" Target="../media/image322.png"/><Relationship Id="rId4" Type="http://schemas.openxmlformats.org/officeDocument/2006/relationships/image" Target="../media/image323.png"/><Relationship Id="rId5" Type="http://schemas.openxmlformats.org/officeDocument/2006/relationships/image" Target="../media/image324.png"/><Relationship Id="rId6" Type="http://schemas.openxmlformats.org/officeDocument/2006/relationships/image" Target="../media/image325.png"/><Relationship Id="rId7" Type="http://schemas.openxmlformats.org/officeDocument/2006/relationships/image" Target="../media/image326.png"/><Relationship Id="rId8" Type="http://schemas.openxmlformats.org/officeDocument/2006/relationships/image" Target="../media/image327.png"/><Relationship Id="rId9" Type="http://schemas.openxmlformats.org/officeDocument/2006/relationships/image" Target="../media/image328.png"/><Relationship Id="rId10" Type="http://schemas.openxmlformats.org/officeDocument/2006/relationships/image" Target="../media/image329.png"/><Relationship Id="rId11" Type="http://schemas.openxmlformats.org/officeDocument/2006/relationships/image" Target="../media/image330.png"/></Relationships>
</file>

<file path=ppt/charts/_rels/chart59.xml.rels><?xml version='1.0' encoding='UTF-8' standalone='yes'?>
<Relationships xmlns="http://schemas.openxmlformats.org/package/2006/relationships"><Relationship Id="rId2" Type="http://schemas.openxmlformats.org/officeDocument/2006/relationships/image" Target="../media/image331.png"/><Relationship Id="rId3" Type="http://schemas.openxmlformats.org/officeDocument/2006/relationships/image" Target="../media/image332.png"/><Relationship Id="rId4" Type="http://schemas.openxmlformats.org/officeDocument/2006/relationships/image" Target="../media/image333.png"/><Relationship Id="rId5" Type="http://schemas.openxmlformats.org/officeDocument/2006/relationships/image" Target="../media/image334.png"/><Relationship Id="rId6" Type="http://schemas.openxmlformats.org/officeDocument/2006/relationships/image" Target="../media/image335.png"/><Relationship Id="rId7" Type="http://schemas.openxmlformats.org/officeDocument/2006/relationships/image" Target="../media/image336.png"/><Relationship Id="rId8" Type="http://schemas.openxmlformats.org/officeDocument/2006/relationships/image" Target="../media/image337.png"/><Relationship Id="rId9" Type="http://schemas.openxmlformats.org/officeDocument/2006/relationships/image" Target="../media/image338.png"/><Relationship Id="rId10" Type="http://schemas.openxmlformats.org/officeDocument/2006/relationships/image" Target="../media/image339.png"/><Relationship Id="rId11" Type="http://schemas.openxmlformats.org/officeDocument/2006/relationships/image" Target="../media/image340.png"/><Relationship Id="rId12" Type="http://schemas.openxmlformats.org/officeDocument/2006/relationships/image" Target="../media/image341.png"/><Relationship Id="rId13" Type="http://schemas.openxmlformats.org/officeDocument/2006/relationships/image" Target="../media/image342.png"/><Relationship Id="rId14" Type="http://schemas.openxmlformats.org/officeDocument/2006/relationships/image" Target="../media/image343.png"/><Relationship Id="rId15" Type="http://schemas.openxmlformats.org/officeDocument/2006/relationships/image" Target="../media/image344.png"/><Relationship Id="rId16" Type="http://schemas.openxmlformats.org/officeDocument/2006/relationships/image" Target="../media/image345.png"/><Relationship Id="rId17" Type="http://schemas.openxmlformats.org/officeDocument/2006/relationships/image" Target="../media/image346.png"/><Relationship Id="rId18" Type="http://schemas.openxmlformats.org/officeDocument/2006/relationships/image" Target="../media/image347.png"/><Relationship Id="rId19" Type="http://schemas.openxmlformats.org/officeDocument/2006/relationships/image" Target="../media/image348.png"/><Relationship Id="rId20" Type="http://schemas.openxmlformats.org/officeDocument/2006/relationships/image" Target="../media/image349.png"/><Relationship Id="rId21" Type="http://schemas.openxmlformats.org/officeDocument/2006/relationships/image" Target="../media/image350.png"/><Relationship Id="rId22" Type="http://schemas.openxmlformats.org/officeDocument/2006/relationships/image" Target="../media/image351.png"/><Relationship Id="rId23" Type="http://schemas.openxmlformats.org/officeDocument/2006/relationships/image" Target="../media/image352.png"/></Relationships>
</file>

<file path=ppt/charts/_rels/chart60.xml.rels><?xml version='1.0' encoding='UTF-8' standalone='yes'?>
<Relationships xmlns="http://schemas.openxmlformats.org/package/2006/relationships"><Relationship Id="rId2" Type="http://schemas.openxmlformats.org/officeDocument/2006/relationships/image" Target="../media/image353.png"/><Relationship Id="rId3" Type="http://schemas.openxmlformats.org/officeDocument/2006/relationships/image" Target="../media/image354.png"/></Relationships>
</file>

<file path=ppt/charts/_rels/chart61.xml.rels><?xml version='1.0' encoding='UTF-8' standalone='yes'?>
<Relationships xmlns="http://schemas.openxmlformats.org/package/2006/relationships"><Relationship Id="rId2" Type="http://schemas.openxmlformats.org/officeDocument/2006/relationships/image" Target="../media/image355.png"/><Relationship Id="rId3" Type="http://schemas.openxmlformats.org/officeDocument/2006/relationships/image" Target="../media/image356.png"/></Relationships>
</file>

<file path=ppt/charts/_rels/chart62.xml.rels><?xml version='1.0' encoding='UTF-8' standalone='yes'?>
<Relationships xmlns="http://schemas.openxmlformats.org/package/2006/relationships"><Relationship Id="rId2" Type="http://schemas.openxmlformats.org/officeDocument/2006/relationships/image" Target="../media/image357.png"/><Relationship Id="rId3" Type="http://schemas.openxmlformats.org/officeDocument/2006/relationships/image" Target="../media/image358.png"/><Relationship Id="rId4" Type="http://schemas.openxmlformats.org/officeDocument/2006/relationships/image" Target="../media/image359.png"/><Relationship Id="rId5" Type="http://schemas.openxmlformats.org/officeDocument/2006/relationships/image" Target="../media/image360.png"/></Relationships>
</file>

<file path=ppt/charts/_rels/chart64.xml.rels><?xml version='1.0' encoding='UTF-8' standalone='yes'?>
<Relationships xmlns="http://schemas.openxmlformats.org/package/2006/relationships"><Relationship Id="rId2" Type="http://schemas.openxmlformats.org/officeDocument/2006/relationships/image" Target="../media/image361.png"/><Relationship Id="rId3" Type="http://schemas.openxmlformats.org/officeDocument/2006/relationships/image" Target="../media/image362.png"/><Relationship Id="rId4" Type="http://schemas.openxmlformats.org/officeDocument/2006/relationships/image" Target="../media/image363.png"/><Relationship Id="rId5" Type="http://schemas.openxmlformats.org/officeDocument/2006/relationships/image" Target="../media/image364.png"/></Relationships>
</file>

<file path=ppt/charts/_rels/chart65.xml.rels><?xml version='1.0' encoding='UTF-8' standalone='yes'?>
<Relationships xmlns="http://schemas.openxmlformats.org/package/2006/relationships"><Relationship Id="rId2" Type="http://schemas.openxmlformats.org/officeDocument/2006/relationships/image" Target="../media/image365.png"/><Relationship Id="rId3" Type="http://schemas.openxmlformats.org/officeDocument/2006/relationships/image" Target="../media/image366.png"/><Relationship Id="rId4" Type="http://schemas.openxmlformats.org/officeDocument/2006/relationships/image" Target="../media/image367.png"/><Relationship Id="rId5" Type="http://schemas.openxmlformats.org/officeDocument/2006/relationships/image" Target="../media/image368.png"/></Relationships>
</file>

<file path=ppt/charts/_rels/chart66.xml.rels><?xml version='1.0' encoding='UTF-8' standalone='yes'?>
<Relationships xmlns="http://schemas.openxmlformats.org/package/2006/relationships"><Relationship Id="rId2" Type="http://schemas.openxmlformats.org/officeDocument/2006/relationships/image" Target="../media/image369.png"/><Relationship Id="rId3" Type="http://schemas.openxmlformats.org/officeDocument/2006/relationships/image" Target="../media/image370.png"/><Relationship Id="rId4" Type="http://schemas.openxmlformats.org/officeDocument/2006/relationships/image" Target="../media/image371.png"/><Relationship Id="rId5" Type="http://schemas.openxmlformats.org/officeDocument/2006/relationships/image" Target="../media/image372.png"/><Relationship Id="rId6" Type="http://schemas.openxmlformats.org/officeDocument/2006/relationships/image" Target="../media/image373.png"/><Relationship Id="rId7" Type="http://schemas.openxmlformats.org/officeDocument/2006/relationships/image" Target="../media/image374.png"/><Relationship Id="rId8" Type="http://schemas.openxmlformats.org/officeDocument/2006/relationships/image" Target="../media/image375.png"/><Relationship Id="rId9" Type="http://schemas.openxmlformats.org/officeDocument/2006/relationships/image" Target="../media/image376.png"/><Relationship Id="rId10" Type="http://schemas.openxmlformats.org/officeDocument/2006/relationships/image" Target="../media/image377.png"/><Relationship Id="rId11" Type="http://schemas.openxmlformats.org/officeDocument/2006/relationships/image" Target="../media/image378.png"/><Relationship Id="rId12" Type="http://schemas.openxmlformats.org/officeDocument/2006/relationships/image" Target="../media/image379.png"/><Relationship Id="rId13" Type="http://schemas.openxmlformats.org/officeDocument/2006/relationships/image" Target="../media/image380.png"/><Relationship Id="rId14" Type="http://schemas.openxmlformats.org/officeDocument/2006/relationships/image" Target="../media/image381.png"/><Relationship Id="rId15" Type="http://schemas.openxmlformats.org/officeDocument/2006/relationships/image" Target="../media/image382.png"/><Relationship Id="rId16" Type="http://schemas.openxmlformats.org/officeDocument/2006/relationships/image" Target="../media/image383.png"/><Relationship Id="rId17" Type="http://schemas.openxmlformats.org/officeDocument/2006/relationships/image" Target="../media/image384.png"/><Relationship Id="rId18" Type="http://schemas.openxmlformats.org/officeDocument/2006/relationships/image" Target="../media/image385.png"/><Relationship Id="rId19" Type="http://schemas.openxmlformats.org/officeDocument/2006/relationships/image" Target="../media/image386.png"/><Relationship Id="rId20" Type="http://schemas.openxmlformats.org/officeDocument/2006/relationships/image" Target="../media/image387.png"/><Relationship Id="rId21" Type="http://schemas.openxmlformats.org/officeDocument/2006/relationships/image" Target="../media/image388.png"/><Relationship Id="rId22" Type="http://schemas.openxmlformats.org/officeDocument/2006/relationships/image" Target="../media/image389.png"/><Relationship Id="rId23" Type="http://schemas.openxmlformats.org/officeDocument/2006/relationships/image" Target="../media/image390.png"/><Relationship Id="rId24" Type="http://schemas.openxmlformats.org/officeDocument/2006/relationships/image" Target="../media/image391.png"/><Relationship Id="rId25" Type="http://schemas.openxmlformats.org/officeDocument/2006/relationships/image" Target="../media/image392.png"/><Relationship Id="rId26" Type="http://schemas.openxmlformats.org/officeDocument/2006/relationships/image" Target="../media/image393.png"/><Relationship Id="rId27" Type="http://schemas.openxmlformats.org/officeDocument/2006/relationships/image" Target="../media/image394.png"/><Relationship Id="rId28" Type="http://schemas.openxmlformats.org/officeDocument/2006/relationships/image" Target="../media/image395.png"/><Relationship Id="rId29" Type="http://schemas.openxmlformats.org/officeDocument/2006/relationships/image" Target="../media/image396.png"/><Relationship Id="rId30" Type="http://schemas.openxmlformats.org/officeDocument/2006/relationships/image" Target="../media/image397.png"/><Relationship Id="rId31" Type="http://schemas.openxmlformats.org/officeDocument/2006/relationships/image" Target="../media/image398.png"/><Relationship Id="rId32" Type="http://schemas.openxmlformats.org/officeDocument/2006/relationships/image" Target="../media/image399.png"/><Relationship Id="rId33" Type="http://schemas.openxmlformats.org/officeDocument/2006/relationships/image" Target="../media/image400.png"/></Relationships>
</file>

<file path=ppt/charts/_rels/chart67.xml.rels><?xml version='1.0' encoding='UTF-8' standalone='yes'?>
<Relationships xmlns="http://schemas.openxmlformats.org/package/2006/relationships"><Relationship Id="rId2" Type="http://schemas.openxmlformats.org/officeDocument/2006/relationships/image" Target="../media/image401.png"/><Relationship Id="rId3" Type="http://schemas.openxmlformats.org/officeDocument/2006/relationships/image" Target="../media/image402.png"/><Relationship Id="rId4" Type="http://schemas.openxmlformats.org/officeDocument/2006/relationships/image" Target="../media/image403.png"/><Relationship Id="rId5" Type="http://schemas.openxmlformats.org/officeDocument/2006/relationships/image" Target="../media/image404.png"/><Relationship Id="rId6" Type="http://schemas.openxmlformats.org/officeDocument/2006/relationships/image" Target="../media/image405.png"/><Relationship Id="rId7" Type="http://schemas.openxmlformats.org/officeDocument/2006/relationships/image" Target="../media/image406.png"/><Relationship Id="rId8" Type="http://schemas.openxmlformats.org/officeDocument/2006/relationships/image" Target="../media/image407.png"/><Relationship Id="rId9" Type="http://schemas.openxmlformats.org/officeDocument/2006/relationships/image" Target="../media/image408.png"/><Relationship Id="rId10" Type="http://schemas.openxmlformats.org/officeDocument/2006/relationships/image" Target="../media/image409.png"/><Relationship Id="rId11" Type="http://schemas.openxmlformats.org/officeDocument/2006/relationships/image" Target="../media/image410.png"/><Relationship Id="rId12" Type="http://schemas.openxmlformats.org/officeDocument/2006/relationships/image" Target="../media/image411.png"/><Relationship Id="rId13" Type="http://schemas.openxmlformats.org/officeDocument/2006/relationships/image" Target="../media/image412.png"/><Relationship Id="rId14" Type="http://schemas.openxmlformats.org/officeDocument/2006/relationships/image" Target="../media/image413.png"/><Relationship Id="rId15" Type="http://schemas.openxmlformats.org/officeDocument/2006/relationships/image" Target="../media/image414.png"/><Relationship Id="rId16" Type="http://schemas.openxmlformats.org/officeDocument/2006/relationships/image" Target="../media/image415.png"/><Relationship Id="rId17" Type="http://schemas.openxmlformats.org/officeDocument/2006/relationships/image" Target="../media/image416.png"/><Relationship Id="rId18" Type="http://schemas.openxmlformats.org/officeDocument/2006/relationships/image" Target="../media/image417.png"/><Relationship Id="rId19" Type="http://schemas.openxmlformats.org/officeDocument/2006/relationships/image" Target="../media/image418.png"/><Relationship Id="rId20" Type="http://schemas.openxmlformats.org/officeDocument/2006/relationships/image" Target="../media/image419.png"/><Relationship Id="rId21" Type="http://schemas.openxmlformats.org/officeDocument/2006/relationships/image" Target="../media/image420.png"/><Relationship Id="rId22" Type="http://schemas.openxmlformats.org/officeDocument/2006/relationships/image" Target="../media/image421.png"/><Relationship Id="rId23" Type="http://schemas.openxmlformats.org/officeDocument/2006/relationships/image" Target="../media/image422.png"/><Relationship Id="rId24" Type="http://schemas.openxmlformats.org/officeDocument/2006/relationships/image" Target="../media/image423.png"/><Relationship Id="rId25" Type="http://schemas.openxmlformats.org/officeDocument/2006/relationships/image" Target="../media/image424.png"/><Relationship Id="rId26" Type="http://schemas.openxmlformats.org/officeDocument/2006/relationships/image" Target="../media/image425.png"/><Relationship Id="rId27" Type="http://schemas.openxmlformats.org/officeDocument/2006/relationships/image" Target="../media/image426.png"/><Relationship Id="rId28" Type="http://schemas.openxmlformats.org/officeDocument/2006/relationships/image" Target="../media/image427.png"/><Relationship Id="rId29" Type="http://schemas.openxmlformats.org/officeDocument/2006/relationships/image" Target="../media/image428.png"/><Relationship Id="rId30" Type="http://schemas.openxmlformats.org/officeDocument/2006/relationships/image" Target="../media/image429.png"/><Relationship Id="rId31" Type="http://schemas.openxmlformats.org/officeDocument/2006/relationships/image" Target="../media/image430.png"/><Relationship Id="rId32" Type="http://schemas.openxmlformats.org/officeDocument/2006/relationships/image" Target="../media/image431.png"/><Relationship Id="rId33" Type="http://schemas.openxmlformats.org/officeDocument/2006/relationships/image" Target="../media/image432.png"/></Relationships>
</file>

<file path=ppt/charts/_rels/chart68.xml.rels><?xml version='1.0' encoding='UTF-8' standalone='yes'?>
<Relationships xmlns="http://schemas.openxmlformats.org/package/2006/relationships"><Relationship Id="rId2" Type="http://schemas.openxmlformats.org/officeDocument/2006/relationships/image" Target="../media/image438.png"/><Relationship Id="rId3" Type="http://schemas.openxmlformats.org/officeDocument/2006/relationships/image" Target="../media/image439.png"/><Relationship Id="rId4" Type="http://schemas.openxmlformats.org/officeDocument/2006/relationships/image" Target="../media/image440.png"/><Relationship Id="rId5" Type="http://schemas.openxmlformats.org/officeDocument/2006/relationships/image" Target="../media/image441.png"/><Relationship Id="rId6" Type="http://schemas.openxmlformats.org/officeDocument/2006/relationships/image" Target="../media/image442.png"/><Relationship Id="rId7" Type="http://schemas.openxmlformats.org/officeDocument/2006/relationships/image" Target="../media/image443.png"/><Relationship Id="rId8" Type="http://schemas.openxmlformats.org/officeDocument/2006/relationships/image" Target="../media/image444.png"/><Relationship Id="rId9" Type="http://schemas.openxmlformats.org/officeDocument/2006/relationships/image" Target="../media/image445.png"/></Relationships>
</file>

<file path=ppt/charts/_rels/chart74.xml.rels><?xml version='1.0' encoding='UTF-8' standalone='yes'?>
<Relationships xmlns="http://schemas.openxmlformats.org/package/2006/relationships"><Relationship Id="rId2" Type="http://schemas.openxmlformats.org/officeDocument/2006/relationships/image" Target="../media/image446.png"/><Relationship Id="rId3" Type="http://schemas.openxmlformats.org/officeDocument/2006/relationships/image" Target="../media/image447.png"/><Relationship Id="rId4" Type="http://schemas.openxmlformats.org/officeDocument/2006/relationships/image" Target="../media/image448.png"/><Relationship Id="rId5" Type="http://schemas.openxmlformats.org/officeDocument/2006/relationships/image" Target="../media/image449.png"/><Relationship Id="rId6" Type="http://schemas.openxmlformats.org/officeDocument/2006/relationships/image" Target="../media/image450.png"/><Relationship Id="rId7" Type="http://schemas.openxmlformats.org/officeDocument/2006/relationships/image" Target="../media/image451.png"/><Relationship Id="rId8" Type="http://schemas.openxmlformats.org/officeDocument/2006/relationships/image" Target="../media/image452.png"/><Relationship Id="rId9" Type="http://schemas.openxmlformats.org/officeDocument/2006/relationships/image" Target="../media/image453.png"/><Relationship Id="rId10" Type="http://schemas.openxmlformats.org/officeDocument/2006/relationships/image" Target="../media/image454.png"/><Relationship Id="rId11" Type="http://schemas.openxmlformats.org/officeDocument/2006/relationships/image" Target="../media/image455.png"/><Relationship Id="rId12" Type="http://schemas.openxmlformats.org/officeDocument/2006/relationships/image" Target="../media/image456.png"/><Relationship Id="rId13" Type="http://schemas.openxmlformats.org/officeDocument/2006/relationships/image" Target="../media/image457.png"/></Relationships>
</file>

<file path=ppt/charts/_rels/chart75.xml.rels><?xml version='1.0' encoding='UTF-8' standalone='yes'?>
<Relationships xmlns="http://schemas.openxmlformats.org/package/2006/relationships"><Relationship Id="rId2" Type="http://schemas.openxmlformats.org/officeDocument/2006/relationships/image" Target="../media/image468.png"/><Relationship Id="rId3" Type="http://schemas.openxmlformats.org/officeDocument/2006/relationships/image" Target="../media/image469.png"/><Relationship Id="rId4" Type="http://schemas.openxmlformats.org/officeDocument/2006/relationships/image" Target="../media/image470.png"/><Relationship Id="rId5" Type="http://schemas.openxmlformats.org/officeDocument/2006/relationships/image" Target="../media/image471.png"/><Relationship Id="rId6" Type="http://schemas.openxmlformats.org/officeDocument/2006/relationships/image" Target="../media/image472.png"/><Relationship Id="rId7" Type="http://schemas.openxmlformats.org/officeDocument/2006/relationships/image" Target="../media/image473.png"/><Relationship Id="rId8" Type="http://schemas.openxmlformats.org/officeDocument/2006/relationships/image" Target="../media/image474.png"/><Relationship Id="rId9" Type="http://schemas.openxmlformats.org/officeDocument/2006/relationships/image" Target="../media/image475.png"/></Relationships>
</file>

<file path=ppt/charts/_rels/chart81.xml.rels><?xml version='1.0' encoding='UTF-8' standalone='yes'?>
<Relationships xmlns="http://schemas.openxmlformats.org/package/2006/relationships"><Relationship Id="rId2" Type="http://schemas.openxmlformats.org/officeDocument/2006/relationships/image" Target="../media/image476.png"/><Relationship Id="rId3" Type="http://schemas.openxmlformats.org/officeDocument/2006/relationships/image" Target="../media/image477.png"/><Relationship Id="rId4" Type="http://schemas.openxmlformats.org/officeDocument/2006/relationships/image" Target="../media/image478.png"/><Relationship Id="rId5" Type="http://schemas.openxmlformats.org/officeDocument/2006/relationships/image" Target="../media/image479.png"/><Relationship Id="rId6" Type="http://schemas.openxmlformats.org/officeDocument/2006/relationships/image" Target="../media/image480.png"/><Relationship Id="rId7" Type="http://schemas.openxmlformats.org/officeDocument/2006/relationships/image" Target="../media/image481.png"/><Relationship Id="rId8" Type="http://schemas.openxmlformats.org/officeDocument/2006/relationships/image" Target="../media/image482.png"/><Relationship Id="rId9" Type="http://schemas.openxmlformats.org/officeDocument/2006/relationships/image" Target="../media/image483.png"/><Relationship Id="rId10" Type="http://schemas.openxmlformats.org/officeDocument/2006/relationships/image" Target="../media/image484.png"/><Relationship Id="rId11" Type="http://schemas.openxmlformats.org/officeDocument/2006/relationships/image" Target="../media/image485.png"/><Relationship Id="rId12" Type="http://schemas.openxmlformats.org/officeDocument/2006/relationships/image" Target="../media/image486.png"/><Relationship Id="rId13" Type="http://schemas.openxmlformats.org/officeDocument/2006/relationships/image" Target="../media/image487.png"/></Relationships>
</file>

<file path=ppt/charts/_rels/chart82.xml.rels><?xml version='1.0' encoding='UTF-8' standalone='yes'?>
<Relationships xmlns="http://schemas.openxmlformats.org/package/2006/relationships"><Relationship Id="rId2" Type="http://schemas.openxmlformats.org/officeDocument/2006/relationships/image" Target="../media/image491.png"/><Relationship Id="rId3" Type="http://schemas.openxmlformats.org/officeDocument/2006/relationships/image" Target="../media/image492.png"/><Relationship Id="rId4" Type="http://schemas.openxmlformats.org/officeDocument/2006/relationships/image" Target="../media/image493.png"/><Relationship Id="rId5" Type="http://schemas.openxmlformats.org/officeDocument/2006/relationships/image" Target="../media/image494.png"/></Relationships>
</file>

<file path=ppt/charts/_rels/chart86.xml.rels><?xml version='1.0' encoding='UTF-8' standalone='yes'?>
<Relationships xmlns="http://schemas.openxmlformats.org/package/2006/relationships"><Relationship Id="rId2" Type="http://schemas.openxmlformats.org/officeDocument/2006/relationships/image" Target="../media/image495.png"/><Relationship Id="rId3" Type="http://schemas.openxmlformats.org/officeDocument/2006/relationships/image" Target="../media/image496.png"/><Relationship Id="rId4" Type="http://schemas.openxmlformats.org/officeDocument/2006/relationships/image" Target="../media/image497.png"/><Relationship Id="rId5" Type="http://schemas.openxmlformats.org/officeDocument/2006/relationships/image" Target="../media/image498.png"/><Relationship Id="rId6" Type="http://schemas.openxmlformats.org/officeDocument/2006/relationships/image" Target="../media/image499.png"/><Relationship Id="rId7" Type="http://schemas.openxmlformats.org/officeDocument/2006/relationships/image" Target="../media/image500.png"/></Relationships>
</file>

<file path=ppt/charts/_rels/chart87.xml.rels><?xml version='1.0' encoding='UTF-8' standalone='yes'?>
<Relationships xmlns="http://schemas.openxmlformats.org/package/2006/relationships"><Relationship Id="rId2" Type="http://schemas.openxmlformats.org/officeDocument/2006/relationships/image" Target="../media/image508.png"/><Relationship Id="rId3" Type="http://schemas.openxmlformats.org/officeDocument/2006/relationships/image" Target="../media/image509.png"/><Relationship Id="rId4" Type="http://schemas.openxmlformats.org/officeDocument/2006/relationships/image" Target="../media/image510.png"/><Relationship Id="rId5" Type="http://schemas.openxmlformats.org/officeDocument/2006/relationships/image" Target="../media/image511.png"/><Relationship Id="rId6" Type="http://schemas.openxmlformats.org/officeDocument/2006/relationships/image" Target="../media/image512.png"/><Relationship Id="rId7" Type="http://schemas.openxmlformats.org/officeDocument/2006/relationships/image" Target="../media/image513.png"/><Relationship Id="rId8" Type="http://schemas.openxmlformats.org/officeDocument/2006/relationships/image" Target="../media/image514.png"/><Relationship Id="rId9" Type="http://schemas.openxmlformats.org/officeDocument/2006/relationships/image" Target="../media/image515.png"/></Relationships>
</file>

<file path=ppt/charts/_rels/chart93.xml.rels><?xml version='1.0' encoding='UTF-8' standalone='yes'?>
<Relationships xmlns="http://schemas.openxmlformats.org/package/2006/relationships"><Relationship Id="rId2" Type="http://schemas.openxmlformats.org/officeDocument/2006/relationships/image" Target="../media/image516.png"/><Relationship Id="rId3" Type="http://schemas.openxmlformats.org/officeDocument/2006/relationships/image" Target="../media/image517.png"/><Relationship Id="rId4" Type="http://schemas.openxmlformats.org/officeDocument/2006/relationships/image" Target="../media/image518.png"/><Relationship Id="rId5" Type="http://schemas.openxmlformats.org/officeDocument/2006/relationships/image" Target="../media/image519.png"/><Relationship Id="rId6" Type="http://schemas.openxmlformats.org/officeDocument/2006/relationships/image" Target="../media/image520.png"/><Relationship Id="rId7" Type="http://schemas.openxmlformats.org/officeDocument/2006/relationships/image" Target="../media/image521.png"/><Relationship Id="rId8" Type="http://schemas.openxmlformats.org/officeDocument/2006/relationships/image" Target="../media/image522.png"/><Relationship Id="rId9" Type="http://schemas.openxmlformats.org/officeDocument/2006/relationships/image" Target="../media/image523.png"/><Relationship Id="rId10" Type="http://schemas.openxmlformats.org/officeDocument/2006/relationships/image" Target="../media/image524.png"/><Relationship Id="rId11" Type="http://schemas.openxmlformats.org/officeDocument/2006/relationships/image" Target="../media/image525.png"/><Relationship Id="rId12" Type="http://schemas.openxmlformats.org/officeDocument/2006/relationships/image" Target="../media/image526.png"/><Relationship Id="rId13" Type="http://schemas.openxmlformats.org/officeDocument/2006/relationships/image" Target="../media/image527.png"/></Relationships>
</file>

<file path=ppt/charts/_rels/chart94.xml.rels><?xml version='1.0' encoding='UTF-8' standalone='yes'?>
<Relationships xmlns="http://schemas.openxmlformats.org/package/2006/relationships"><Relationship Id="rId2" Type="http://schemas.openxmlformats.org/officeDocument/2006/relationships/image" Target="../media/image535.png"/><Relationship Id="rId3" Type="http://schemas.openxmlformats.org/officeDocument/2006/relationships/image" Target="../media/image536.png"/><Relationship Id="rId4" Type="http://schemas.openxmlformats.org/officeDocument/2006/relationships/image" Target="../media/image537.png"/><Relationship Id="rId5" Type="http://schemas.openxmlformats.org/officeDocument/2006/relationships/image" Target="../media/image538.png"/><Relationship Id="rId6" Type="http://schemas.openxmlformats.org/officeDocument/2006/relationships/image" Target="../media/image539.png"/><Relationship Id="rId7" Type="http://schemas.openxmlformats.org/officeDocument/2006/relationships/image" Target="../media/image540.png"/></Relationships>
</file>

<file path=ppt/charts/_rels/chart99.xml.rels><?xml version='1.0' encoding='UTF-8' standalone='yes'?>
<Relationships xmlns="http://schemas.openxmlformats.org/package/2006/relationships"><Relationship Id="rId2" Type="http://schemas.openxmlformats.org/officeDocument/2006/relationships/image" Target="../media/image541.png"/><Relationship Id="rId3" Type="http://schemas.openxmlformats.org/officeDocument/2006/relationships/image" Target="../media/image542.png"/><Relationship Id="rId4" Type="http://schemas.openxmlformats.org/officeDocument/2006/relationships/image" Target="../media/image543.png"/><Relationship Id="rId5" Type="http://schemas.openxmlformats.org/officeDocument/2006/relationships/image" Target="../media/image544.png"/><Relationship Id="rId6" Type="http://schemas.openxmlformats.org/officeDocument/2006/relationships/image" Target="../media/image545.png"/><Relationship Id="rId7" Type="http://schemas.openxmlformats.org/officeDocument/2006/relationships/image" Target="../media/image546.png"/><Relationship Id="rId8" Type="http://schemas.openxmlformats.org/officeDocument/2006/relationships/image" Target="../media/image547.png"/><Relationship Id="rId9" Type="http://schemas.openxmlformats.org/officeDocument/2006/relationships/image" Target="../media/image548.png"/><Relationship Id="rId10" Type="http://schemas.openxmlformats.org/officeDocument/2006/relationships/image" Target="../media/image549.png"/></Relationships>
</file>

<file path=ppt/charts/_rels/chart100.xml.rels><?xml version='1.0' encoding='UTF-8' standalone='yes'?>
<Relationships xmlns="http://schemas.openxmlformats.org/package/2006/relationships"><Relationship Id="rId2" Type="http://schemas.openxmlformats.org/officeDocument/2006/relationships/image" Target="../media/image555.png"/><Relationship Id="rId3" Type="http://schemas.openxmlformats.org/officeDocument/2006/relationships/image" Target="../media/image556.png"/><Relationship Id="rId4" Type="http://schemas.openxmlformats.org/officeDocument/2006/relationships/image" Target="../media/image557.png"/><Relationship Id="rId5" Type="http://schemas.openxmlformats.org/officeDocument/2006/relationships/image" Target="../media/image558.png"/></Relationships>
</file>

<file path=ppt/charts/_rels/chart104.xml.rels><?xml version='1.0' encoding='UTF-8' standalone='yes'?>
<Relationships xmlns="http://schemas.openxmlformats.org/package/2006/relationships"><Relationship Id="rId2" Type="http://schemas.openxmlformats.org/officeDocument/2006/relationships/image" Target="../media/image559.png"/><Relationship Id="rId3" Type="http://schemas.openxmlformats.org/officeDocument/2006/relationships/image" Target="../media/image560.png"/><Relationship Id="rId4" Type="http://schemas.openxmlformats.org/officeDocument/2006/relationships/image" Target="../media/image561.png"/><Relationship Id="rId5" Type="http://schemas.openxmlformats.org/officeDocument/2006/relationships/image" Target="../media/image562.png"/><Relationship Id="rId6" Type="http://schemas.openxmlformats.org/officeDocument/2006/relationships/image" Target="../media/image563.png"/><Relationship Id="rId7" Type="http://schemas.openxmlformats.org/officeDocument/2006/relationships/image" Target="../media/image564.png"/></Relationships>
</file>

<file path=ppt/charts/_rels/chart139.xml.rels><?xml version='1.0' encoding='UTF-8' standalone='yes'?>
<Relationships xmlns="http://schemas.openxmlformats.org/package/2006/relationships"><Relationship Id="rId2" Type="http://schemas.openxmlformats.org/officeDocument/2006/relationships/image" Target="../media/image565.png"/><Relationship Id="rId3" Type="http://schemas.openxmlformats.org/officeDocument/2006/relationships/image" Target="../media/image566.png"/><Relationship Id="rId4" Type="http://schemas.openxmlformats.org/officeDocument/2006/relationships/image" Target="../media/image567.png"/><Relationship Id="rId5" Type="http://schemas.openxmlformats.org/officeDocument/2006/relationships/image" Target="../media/image568.png"/><Relationship Id="rId6" Type="http://schemas.openxmlformats.org/officeDocument/2006/relationships/image" Target="../media/image569.png"/><Relationship Id="rId7" Type="http://schemas.openxmlformats.org/officeDocument/2006/relationships/image" Target="../media/image570.png"/><Relationship Id="rId8" Type="http://schemas.openxmlformats.org/officeDocument/2006/relationships/image" Target="../media/image571.png"/><Relationship Id="rId9" Type="http://schemas.openxmlformats.org/officeDocument/2006/relationships/image" Target="../media/image572.png"/><Relationship Id="rId10" Type="http://schemas.openxmlformats.org/officeDocument/2006/relationships/image" Target="../media/image573.png"/><Relationship Id="rId11" Type="http://schemas.openxmlformats.org/officeDocument/2006/relationships/image" Target="../media/image574.png"/></Relationships>
</file>

<file path=ppt/charts/_rels/chart140.xml.rels><?xml version='1.0' encoding='UTF-8' standalone='yes'?>
<Relationships xmlns="http://schemas.openxmlformats.org/package/2006/relationships"><Relationship Id="rId2" Type="http://schemas.openxmlformats.org/officeDocument/2006/relationships/image" Target="../media/image575.png"/><Relationship Id="rId3" Type="http://schemas.openxmlformats.org/officeDocument/2006/relationships/image" Target="../media/image576.png"/><Relationship Id="rId4" Type="http://schemas.openxmlformats.org/officeDocument/2006/relationships/image" Target="../media/image577.png"/><Relationship Id="rId5" Type="http://schemas.openxmlformats.org/officeDocument/2006/relationships/image" Target="../media/image578.png"/><Relationship Id="rId6" Type="http://schemas.openxmlformats.org/officeDocument/2006/relationships/image" Target="../media/image579.png"/><Relationship Id="rId7" Type="http://schemas.openxmlformats.org/officeDocument/2006/relationships/image" Target="../media/image580.png"/><Relationship Id="rId8" Type="http://schemas.openxmlformats.org/officeDocument/2006/relationships/image" Target="../media/image581.png"/><Relationship Id="rId9" Type="http://schemas.openxmlformats.org/officeDocument/2006/relationships/image" Target="../media/image582.png"/><Relationship Id="rId10" Type="http://schemas.openxmlformats.org/officeDocument/2006/relationships/image" Target="../media/image583.png"/><Relationship Id="rId11" Type="http://schemas.openxmlformats.org/officeDocument/2006/relationships/image" Target="../media/image584.png"/><Relationship Id="rId12" Type="http://schemas.openxmlformats.org/officeDocument/2006/relationships/image" Target="../media/image585.png"/></Relationships>
</file>

<file path=ppt/charts/_rels/chart141.xml.rels><?xml version='1.0' encoding='UTF-8' standalone='yes'?>
<Relationships xmlns="http://schemas.openxmlformats.org/package/2006/relationships"><Relationship Id="rId2" Type="http://schemas.openxmlformats.org/officeDocument/2006/relationships/image" Target="../media/image586.png"/><Relationship Id="rId3" Type="http://schemas.openxmlformats.org/officeDocument/2006/relationships/image" Target="../media/image587.png"/><Relationship Id="rId4" Type="http://schemas.openxmlformats.org/officeDocument/2006/relationships/image" Target="../media/image588.png"/><Relationship Id="rId5" Type="http://schemas.openxmlformats.org/officeDocument/2006/relationships/image" Target="../media/image589.png"/><Relationship Id="rId6" Type="http://schemas.openxmlformats.org/officeDocument/2006/relationships/image" Target="../media/image590.png"/><Relationship Id="rId7" Type="http://schemas.openxmlformats.org/officeDocument/2006/relationships/image" Target="../media/image591.png"/><Relationship Id="rId8" Type="http://schemas.openxmlformats.org/officeDocument/2006/relationships/image" Target="../media/image592.png"/><Relationship Id="rId9" Type="http://schemas.openxmlformats.org/officeDocument/2006/relationships/image" Target="../media/image593.png"/><Relationship Id="rId10" Type="http://schemas.openxmlformats.org/officeDocument/2006/relationships/image" Target="../media/image594.png"/><Relationship Id="rId11" Type="http://schemas.openxmlformats.org/officeDocument/2006/relationships/image" Target="../media/image595.png"/></Relationships>
</file>

<file path=ppt/charts/_rels/chart142.xml.rels><?xml version='1.0' encoding='UTF-8' standalone='yes'?>
<Relationships xmlns="http://schemas.openxmlformats.org/package/2006/relationships"><Relationship Id="rId2" Type="http://schemas.openxmlformats.org/officeDocument/2006/relationships/image" Target="../media/image596.png"/><Relationship Id="rId3" Type="http://schemas.openxmlformats.org/officeDocument/2006/relationships/image" Target="../media/image597.png"/><Relationship Id="rId4" Type="http://schemas.openxmlformats.org/officeDocument/2006/relationships/image" Target="../media/image598.png"/><Relationship Id="rId5" Type="http://schemas.openxmlformats.org/officeDocument/2006/relationships/image" Target="../media/image599.png"/><Relationship Id="rId6" Type="http://schemas.openxmlformats.org/officeDocument/2006/relationships/image" Target="../media/image600.png"/><Relationship Id="rId7" Type="http://schemas.openxmlformats.org/officeDocument/2006/relationships/image" Target="../media/image601.png"/><Relationship Id="rId8" Type="http://schemas.openxmlformats.org/officeDocument/2006/relationships/image" Target="../media/image602.png"/><Relationship Id="rId9" Type="http://schemas.openxmlformats.org/officeDocument/2006/relationships/image" Target="../media/image603.png"/><Relationship Id="rId10" Type="http://schemas.openxmlformats.org/officeDocument/2006/relationships/image" Target="../media/image604.png"/><Relationship Id="rId11" Type="http://schemas.openxmlformats.org/officeDocument/2006/relationships/image" Target="../media/image605.png"/><Relationship Id="rId12" Type="http://schemas.openxmlformats.org/officeDocument/2006/relationships/image" Target="../media/image606.png"/></Relationships>
</file>

<file path=ppt/charts/_rels/chart143.xml.rels><?xml version='1.0' encoding='UTF-8' standalone='yes'?>
<Relationships xmlns="http://schemas.openxmlformats.org/package/2006/relationships"><Relationship Id="rId2" Type="http://schemas.openxmlformats.org/officeDocument/2006/relationships/image" Target="../media/image607.png"/><Relationship Id="rId3" Type="http://schemas.openxmlformats.org/officeDocument/2006/relationships/image" Target="../media/image608.png"/><Relationship Id="rId4" Type="http://schemas.openxmlformats.org/officeDocument/2006/relationships/image" Target="../media/image609.png"/><Relationship Id="rId5" Type="http://schemas.openxmlformats.org/officeDocument/2006/relationships/image" Target="../media/image610.png"/><Relationship Id="rId6" Type="http://schemas.openxmlformats.org/officeDocument/2006/relationships/image" Target="../media/image611.png"/><Relationship Id="rId7" Type="http://schemas.openxmlformats.org/officeDocument/2006/relationships/image" Target="../media/image612.png"/><Relationship Id="rId8" Type="http://schemas.openxmlformats.org/officeDocument/2006/relationships/image" Target="../media/image613.png"/><Relationship Id="rId9" Type="http://schemas.openxmlformats.org/officeDocument/2006/relationships/image" Target="../media/image614.png"/><Relationship Id="rId10" Type="http://schemas.openxmlformats.org/officeDocument/2006/relationships/image" Target="../media/image615.png"/><Relationship Id="rId11" Type="http://schemas.openxmlformats.org/officeDocument/2006/relationships/image" Target="../media/image616.png"/></Relationships>
</file>

<file path=ppt/charts/_rels/chart144.xml.rels><?xml version='1.0' encoding='UTF-8' standalone='yes'?>
<Relationships xmlns="http://schemas.openxmlformats.org/package/2006/relationships"><Relationship Id="rId2" Type="http://schemas.openxmlformats.org/officeDocument/2006/relationships/image" Target="../media/image617.png"/><Relationship Id="rId3" Type="http://schemas.openxmlformats.org/officeDocument/2006/relationships/image" Target="../media/image618.png"/><Relationship Id="rId4" Type="http://schemas.openxmlformats.org/officeDocument/2006/relationships/image" Target="../media/image619.png"/><Relationship Id="rId5" Type="http://schemas.openxmlformats.org/officeDocument/2006/relationships/image" Target="../media/image620.png"/><Relationship Id="rId6" Type="http://schemas.openxmlformats.org/officeDocument/2006/relationships/image" Target="../media/image621.png"/><Relationship Id="rId7" Type="http://schemas.openxmlformats.org/officeDocument/2006/relationships/image" Target="../media/image622.png"/><Relationship Id="rId8" Type="http://schemas.openxmlformats.org/officeDocument/2006/relationships/image" Target="../media/image623.png"/><Relationship Id="rId9" Type="http://schemas.openxmlformats.org/officeDocument/2006/relationships/image" Target="../media/image624.png"/><Relationship Id="rId10" Type="http://schemas.openxmlformats.org/officeDocument/2006/relationships/image" Target="../media/image625.png"/></Relationships>
</file>

<file path=ppt/charts/_rels/chart145.xml.rels><?xml version='1.0' encoding='UTF-8' standalone='yes'?>
<Relationships xmlns="http://schemas.openxmlformats.org/package/2006/relationships"><Relationship Id="rId2" Type="http://schemas.openxmlformats.org/officeDocument/2006/relationships/image" Target="../media/image626.png"/><Relationship Id="rId3" Type="http://schemas.openxmlformats.org/officeDocument/2006/relationships/image" Target="../media/image627.png"/><Relationship Id="rId4" Type="http://schemas.openxmlformats.org/officeDocument/2006/relationships/image" Target="../media/image628.png"/><Relationship Id="rId5" Type="http://schemas.openxmlformats.org/officeDocument/2006/relationships/image" Target="../media/image629.png"/><Relationship Id="rId6" Type="http://schemas.openxmlformats.org/officeDocument/2006/relationships/image" Target="../media/image630.png"/><Relationship Id="rId7" Type="http://schemas.openxmlformats.org/officeDocument/2006/relationships/image" Target="../media/image631.png"/><Relationship Id="rId8" Type="http://schemas.openxmlformats.org/officeDocument/2006/relationships/image" Target="../media/image632.png"/><Relationship Id="rId9" Type="http://schemas.openxmlformats.org/officeDocument/2006/relationships/image" Target="../media/image633.png"/><Relationship Id="rId10" Type="http://schemas.openxmlformats.org/officeDocument/2006/relationships/image" Target="../media/image634.png"/><Relationship Id="rId11" Type="http://schemas.openxmlformats.org/officeDocument/2006/relationships/image" Target="../media/image635.png"/><Relationship Id="rId12" Type="http://schemas.openxmlformats.org/officeDocument/2006/relationships/image" Target="../media/image636.png"/></Relationships>
</file>

<file path=ppt/charts/_rels/chart146.xml.rels><?xml version='1.0' encoding='UTF-8' standalone='yes'?>
<Relationships xmlns="http://schemas.openxmlformats.org/package/2006/relationships"><Relationship Id="rId2" Type="http://schemas.openxmlformats.org/officeDocument/2006/relationships/image" Target="../media/image637.png"/><Relationship Id="rId3" Type="http://schemas.openxmlformats.org/officeDocument/2006/relationships/image" Target="../media/image638.png"/><Relationship Id="rId4" Type="http://schemas.openxmlformats.org/officeDocument/2006/relationships/image" Target="../media/image639.png"/><Relationship Id="rId5" Type="http://schemas.openxmlformats.org/officeDocument/2006/relationships/image" Target="../media/image640.png"/></Relationships>
</file>

<file path=ppt/charts/_rels/chart147.xml.rels><?xml version='1.0' encoding='UTF-8' standalone='yes'?>
<Relationships xmlns="http://schemas.openxmlformats.org/package/2006/relationships"><Relationship Id="rId2" Type="http://schemas.openxmlformats.org/officeDocument/2006/relationships/image" Target="../media/image641.png"/><Relationship Id="rId3" Type="http://schemas.openxmlformats.org/officeDocument/2006/relationships/image" Target="../media/image642.png"/><Relationship Id="rId4" Type="http://schemas.openxmlformats.org/officeDocument/2006/relationships/image" Target="../media/image643.png"/><Relationship Id="rId5" Type="http://schemas.openxmlformats.org/officeDocument/2006/relationships/image" Target="../media/image644.png"/><Relationship Id="rId6" Type="http://schemas.openxmlformats.org/officeDocument/2006/relationships/image" Target="../media/image645.png"/></Relationships>
</file>

<file path=ppt/charts/_rels/chart148.xml.rels><?xml version='1.0' encoding='UTF-8' standalone='yes'?>
<Relationships xmlns="http://schemas.openxmlformats.org/package/2006/relationships"><Relationship Id="rId2" Type="http://schemas.openxmlformats.org/officeDocument/2006/relationships/image" Target="../media/image646.png"/><Relationship Id="rId3" Type="http://schemas.openxmlformats.org/officeDocument/2006/relationships/image" Target="../media/image647.png"/><Relationship Id="rId4" Type="http://schemas.openxmlformats.org/officeDocument/2006/relationships/image" Target="../media/image648.png"/><Relationship Id="rId5" Type="http://schemas.openxmlformats.org/officeDocument/2006/relationships/image" Target="../media/image649.png"/></Relationships>
</file>

<file path=ppt/charts/_rels/chart149.xml.rels><?xml version='1.0' encoding='UTF-8' standalone='yes'?>
<Relationships xmlns="http://schemas.openxmlformats.org/package/2006/relationships"><Relationship Id="rId2" Type="http://schemas.openxmlformats.org/officeDocument/2006/relationships/image" Target="../media/image650.png"/><Relationship Id="rId3" Type="http://schemas.openxmlformats.org/officeDocument/2006/relationships/image" Target="../media/image651.png"/><Relationship Id="rId4" Type="http://schemas.openxmlformats.org/officeDocument/2006/relationships/image" Target="../media/image652.png"/><Relationship Id="rId5" Type="http://schemas.openxmlformats.org/officeDocument/2006/relationships/image" Target="../media/image653.png"/><Relationship Id="rId6" Type="http://schemas.openxmlformats.org/officeDocument/2006/relationships/image" Target="../media/image654.png"/><Relationship Id="rId7" Type="http://schemas.openxmlformats.org/officeDocument/2006/relationships/image" Target="../media/image655.png"/><Relationship Id="rId8" Type="http://schemas.openxmlformats.org/officeDocument/2006/relationships/image" Target="../media/image656.png"/><Relationship Id="rId9" Type="http://schemas.openxmlformats.org/officeDocument/2006/relationships/image" Target="../media/image657.png"/><Relationship Id="rId10" Type="http://schemas.openxmlformats.org/officeDocument/2006/relationships/image" Target="../media/image658.png"/><Relationship Id="rId11" Type="http://schemas.openxmlformats.org/officeDocument/2006/relationships/image" Target="../media/image659.png"/></Relationships>
</file>

<file path=ppt/charts/_rels/chart150.xml.rels><?xml version='1.0' encoding='UTF-8' standalone='yes'?>
<Relationships xmlns="http://schemas.openxmlformats.org/package/2006/relationships"><Relationship Id="rId2" Type="http://schemas.openxmlformats.org/officeDocument/2006/relationships/image" Target="../media/image660.png"/><Relationship Id="rId3" Type="http://schemas.openxmlformats.org/officeDocument/2006/relationships/image" Target="../media/image661.png"/><Relationship Id="rId4" Type="http://schemas.openxmlformats.org/officeDocument/2006/relationships/image" Target="../media/image662.png"/><Relationship Id="rId5" Type="http://schemas.openxmlformats.org/officeDocument/2006/relationships/image" Target="../media/image663.png"/></Relationships>
</file>

<file path=ppt/charts/_rels/chart151.xml.rels><?xml version='1.0' encoding='UTF-8' standalone='yes'?>
<Relationships xmlns="http://schemas.openxmlformats.org/package/2006/relationships"><Relationship Id="rId2" Type="http://schemas.openxmlformats.org/officeDocument/2006/relationships/image" Target="../media/image664.png"/><Relationship Id="rId3" Type="http://schemas.openxmlformats.org/officeDocument/2006/relationships/image" Target="../media/image665.png"/><Relationship Id="rId4" Type="http://schemas.openxmlformats.org/officeDocument/2006/relationships/image" Target="../media/image666.png"/><Relationship Id="rId5" Type="http://schemas.openxmlformats.org/officeDocument/2006/relationships/image" Target="../media/image667.png"/><Relationship Id="rId6" Type="http://schemas.openxmlformats.org/officeDocument/2006/relationships/image" Target="../media/image668.png"/></Relationships>
</file>

<file path=ppt/charts/_rels/chart152.xml.rels><?xml version='1.0' encoding='UTF-8' standalone='yes'?>
<Relationships xmlns="http://schemas.openxmlformats.org/package/2006/relationships"><Relationship Id="rId2" Type="http://schemas.openxmlformats.org/officeDocument/2006/relationships/image" Target="../media/image669.png"/><Relationship Id="rId3" Type="http://schemas.openxmlformats.org/officeDocument/2006/relationships/image" Target="../media/image670.png"/><Relationship Id="rId4" Type="http://schemas.openxmlformats.org/officeDocument/2006/relationships/image" Target="../media/image671.png"/><Relationship Id="rId5" Type="http://schemas.openxmlformats.org/officeDocument/2006/relationships/image" Target="../media/image672.png"/></Relationships>
</file>

<file path=ppt/charts/_rels/chart153.xml.rels><?xml version='1.0' encoding='UTF-8' standalone='yes'?>
<Relationships xmlns="http://schemas.openxmlformats.org/package/2006/relationships"><Relationship Id="rId2" Type="http://schemas.openxmlformats.org/officeDocument/2006/relationships/image" Target="../media/image673.png"/><Relationship Id="rId3" Type="http://schemas.openxmlformats.org/officeDocument/2006/relationships/image" Target="../media/image674.png"/><Relationship Id="rId4" Type="http://schemas.openxmlformats.org/officeDocument/2006/relationships/image" Target="../media/image675.png"/><Relationship Id="rId5" Type="http://schemas.openxmlformats.org/officeDocument/2006/relationships/image" Target="../media/image676.png"/><Relationship Id="rId6" Type="http://schemas.openxmlformats.org/officeDocument/2006/relationships/image" Target="../media/image677.png"/><Relationship Id="rId7" Type="http://schemas.openxmlformats.org/officeDocument/2006/relationships/image" Target="../media/image678.png"/><Relationship Id="rId8" Type="http://schemas.openxmlformats.org/officeDocument/2006/relationships/image" Target="../media/image679.png"/><Relationship Id="rId9" Type="http://schemas.openxmlformats.org/officeDocument/2006/relationships/image" Target="../media/image680.png"/><Relationship Id="rId10" Type="http://schemas.openxmlformats.org/officeDocument/2006/relationships/image" Target="../media/image681.png"/><Relationship Id="rId11" Type="http://schemas.openxmlformats.org/officeDocument/2006/relationships/image" Target="../media/image682.png"/></Relationships>
</file>

<file path=ppt/charts/_rels/chart154.xml.rels><?xml version='1.0' encoding='UTF-8' standalone='yes'?>
<Relationships xmlns="http://schemas.openxmlformats.org/package/2006/relationships"><Relationship Id="rId2" Type="http://schemas.openxmlformats.org/officeDocument/2006/relationships/image" Target="../media/image683.png"/><Relationship Id="rId3" Type="http://schemas.openxmlformats.org/officeDocument/2006/relationships/image" Target="../media/image684.png"/><Relationship Id="rId4" Type="http://schemas.openxmlformats.org/officeDocument/2006/relationships/image" Target="../media/image685.png"/><Relationship Id="rId5" Type="http://schemas.openxmlformats.org/officeDocument/2006/relationships/image" Target="../media/image686.png"/></Relationships>
</file>

<file path=ppt/charts/_rels/chart155.xml.rels><?xml version='1.0' encoding='UTF-8' standalone='yes'?>
<Relationships xmlns="http://schemas.openxmlformats.org/package/2006/relationships"><Relationship Id="rId2" Type="http://schemas.openxmlformats.org/officeDocument/2006/relationships/image" Target="../media/image687.png"/><Relationship Id="rId3" Type="http://schemas.openxmlformats.org/officeDocument/2006/relationships/image" Target="../media/image688.png"/><Relationship Id="rId4" Type="http://schemas.openxmlformats.org/officeDocument/2006/relationships/image" Target="../media/image689.png"/><Relationship Id="rId5" Type="http://schemas.openxmlformats.org/officeDocument/2006/relationships/image" Target="../media/image690.png"/><Relationship Id="rId6" Type="http://schemas.openxmlformats.org/officeDocument/2006/relationships/image" Target="../media/image691.png"/></Relationships>
</file>

<file path=ppt/charts/_rels/chart156.xml.rels><?xml version='1.0' encoding='UTF-8' standalone='yes'?>
<Relationships xmlns="http://schemas.openxmlformats.org/package/2006/relationships"><Relationship Id="rId2" Type="http://schemas.openxmlformats.org/officeDocument/2006/relationships/image" Target="../media/image692.png"/><Relationship Id="rId3" Type="http://schemas.openxmlformats.org/officeDocument/2006/relationships/image" Target="../media/image693.png"/><Relationship Id="rId4" Type="http://schemas.openxmlformats.org/officeDocument/2006/relationships/image" Target="../media/image694.png"/><Relationship Id="rId5" Type="http://schemas.openxmlformats.org/officeDocument/2006/relationships/image" Target="../media/image695.png"/></Relationships>
</file>

<file path=ppt/charts/_rels/chart157.xml.rels><?xml version='1.0' encoding='UTF-8' standalone='yes'?>
<Relationships xmlns="http://schemas.openxmlformats.org/package/2006/relationships"><Relationship Id="rId2" Type="http://schemas.openxmlformats.org/officeDocument/2006/relationships/image" Target="../media/image696.png"/><Relationship Id="rId3" Type="http://schemas.openxmlformats.org/officeDocument/2006/relationships/image" Target="../media/image697.png"/><Relationship Id="rId4" Type="http://schemas.openxmlformats.org/officeDocument/2006/relationships/image" Target="../media/image698.png"/><Relationship Id="rId5" Type="http://schemas.openxmlformats.org/officeDocument/2006/relationships/image" Target="../media/image699.png"/><Relationship Id="rId6" Type="http://schemas.openxmlformats.org/officeDocument/2006/relationships/image" Target="../media/image700.png"/><Relationship Id="rId7" Type="http://schemas.openxmlformats.org/officeDocument/2006/relationships/image" Target="../media/image701.png"/><Relationship Id="rId8" Type="http://schemas.openxmlformats.org/officeDocument/2006/relationships/image" Target="../media/image702.png"/><Relationship Id="rId9" Type="http://schemas.openxmlformats.org/officeDocument/2006/relationships/image" Target="../media/image703.png"/><Relationship Id="rId10" Type="http://schemas.openxmlformats.org/officeDocument/2006/relationships/image" Target="../media/image704.png"/><Relationship Id="rId11" Type="http://schemas.openxmlformats.org/officeDocument/2006/relationships/image" Target="../media/image705.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3.3802379260237547</c:v>
                </c:pt>
                <c:pt idx="1">
                  <c:v>3.7769686344917064</c:v>
                </c:pt>
                <c:pt idx="2">
                  <c:v>3.6445561874627996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98559859752905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2977776.5700000003</c:v>
                </c:pt>
                <c:pt idx="2">
                  <c:v>0.0</c:v>
                </c:pt>
                <c:pt idx="3">
                  <c:v>3516250.0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2977776.5700000003</c:v>
                </c:pt>
                <c:pt idx="1">
                  <c:v>538473.4299999997</c:v>
                </c:pt>
                <c:pt idx="2">
                  <c:v>3516250.0</c:v>
                </c:pt>
                <c:pt idx="3">
                  <c:v>1578109.0589999994</c:v>
                </c:pt>
                <c:pt idx="4">
                  <c:v>5094359.058999999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3.9991764270067787</c:v>
                </c:pt>
                <c:pt idx="1">
                  <c:v>4.400292708053355</c:v>
                </c:pt>
                <c:pt idx="2">
                  <c:v>4.26641567809003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808386374630428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924.8689999999999</c:v>
                </c:pt>
                <c:pt idx="2">
                  <c:v>0.0</c:v>
                </c:pt>
                <c:pt idx="3">
                  <c:v>1125.2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924.8689999999999</c:v>
                </c:pt>
                <c:pt idx="1">
                  <c:v>200.33100000000013</c:v>
                </c:pt>
                <c:pt idx="2">
                  <c:v>1125.2</c:v>
                </c:pt>
                <c:pt idx="3">
                  <c:v>605.6000000000001</c:v>
                </c:pt>
                <c:pt idx="4">
                  <c:v>1730.8000000000002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924.8689999999999</c:v>
                </c:pt>
                <c:pt idx="1">
                  <c:v>958.164</c:v>
                </c:pt>
                <c:pt idx="2">
                  <c:v>994.5740000000001</c:v>
                </c:pt>
                <c:pt idx="3">
                  <c:v>1034.357</c:v>
                </c:pt>
                <c:pt idx="4">
                  <c:v>1077.8</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2977776.5700000003</c:v>
                </c:pt>
                <c:pt idx="1">
                  <c:v>3066615.586</c:v>
                </c:pt>
                <c:pt idx="2">
                  <c:v>3164216.727</c:v>
                </c:pt>
                <c:pt idx="3">
                  <c:v>3271188.052</c:v>
                </c:pt>
                <c:pt idx="4">
                  <c:v>3388301.8630000004</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7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653175"/>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1125.2</c:v>
                </c:pt>
                <c:pt idx="1">
                  <c:v>1174.712</c:v>
                </c:pt>
                <c:pt idx="2">
                  <c:v>1226.403</c:v>
                </c:pt>
                <c:pt idx="3">
                  <c:v>1280.368</c:v>
                </c:pt>
                <c:pt idx="4">
                  <c:v>1336.708</c:v>
                </c:pt>
                <c:pt idx="5">
                  <c:v>1395.527</c:v>
                </c:pt>
                <c:pt idx="6">
                  <c:v>1456.9340000000002</c:v>
                </c:pt>
                <c:pt idx="7">
                  <c:v>1521.0439999999999</c:v>
                </c:pt>
                <c:pt idx="8">
                  <c:v>1587.974</c:v>
                </c:pt>
                <c:pt idx="9">
                  <c:v>1657.85</c:v>
                </c:pt>
                <c:pt idx="10">
                  <c:v>1730.8000000000002</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3516250.0</c:v>
                </c:pt>
                <c:pt idx="1">
                  <c:v>3649090.3600000003</c:v>
                </c:pt>
                <c:pt idx="2">
                  <c:v>3786940.522</c:v>
                </c:pt>
                <c:pt idx="3">
                  <c:v>3929995.289</c:v>
                </c:pt>
                <c:pt idx="4">
                  <c:v>4078445.036</c:v>
                </c:pt>
                <c:pt idx="5">
                  <c:v>4232483.306</c:v>
                </c:pt>
                <c:pt idx="6">
                  <c:v>4392352.176999999</c:v>
                </c:pt>
                <c:pt idx="7">
                  <c:v>4558219.942</c:v>
                </c:pt>
                <c:pt idx="8">
                  <c:v>4730360.94</c:v>
                </c:pt>
                <c:pt idx="9">
                  <c:v>4908999.592</c:v>
                </c:pt>
                <c:pt idx="10">
                  <c:v>5094359.058999999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04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252642"/>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Mexico</c:v>
                </c:pt>
                <c:pt idx="1">
                  <c:v>China</c:v>
                </c:pt>
                <c:pt idx="2">
                  <c:v>Malaysia</c:v>
                </c:pt>
                <c:pt idx="3">
                  <c:v>Spain</c:v>
                </c:pt>
                <c:pt idx="4">
                  <c:v>Thailand</c:v>
                </c:pt>
                <c:pt idx="5">
                  <c:v>Brazil</c:v>
                </c:pt>
                <c:pt idx="6">
                  <c:v>France</c:v>
                </c:pt>
                <c:pt idx="7">
                  <c:v>Netherlands</c:v>
                </c:pt>
                <c:pt idx="8">
                  <c:v>Germany</c:v>
                </c:pt>
                <c:pt idx="9">
                  <c:v>India</c:v>
                </c:pt>
              </c:strCache>
            </c:strRef>
          </c:cat>
          <c:val>
            <c:numRef>
              <c:numCache>
                <c:formatCode>General</c:formatCode>
                <c:ptCount val="10"/>
                <c:pt idx="0">
                  <c:v>102.1157429214519</c:v>
                </c:pt>
                <c:pt idx="1">
                  <c:v>102.61245026470091</c:v>
                </c:pt>
                <c:pt idx="2">
                  <c:v>107.52830750822118</c:v>
                </c:pt>
                <c:pt idx="3">
                  <c:v>117.05697538804678</c:v>
                </c:pt>
                <c:pt idx="4">
                  <c:v>121.1689882252827</c:v>
                </c:pt>
                <c:pt idx="5">
                  <c:v>121.76545665264453</c:v>
                </c:pt>
                <c:pt idx="6">
                  <c:v>126.74195903623655</c:v>
                </c:pt>
                <c:pt idx="7">
                  <c:v>132.07554966301777</c:v>
                </c:pt>
                <c:pt idx="8">
                  <c:v>135.85362756734023</c:v>
                </c:pt>
                <c:pt idx="9">
                  <c:v>140.790540599514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Thailand</c:v>
                </c:pt>
                <c:pt idx="1">
                  <c:v>Japan</c:v>
                </c:pt>
                <c:pt idx="2">
                  <c:v>U.K.</c:v>
                </c:pt>
                <c:pt idx="3">
                  <c:v>France</c:v>
                </c:pt>
                <c:pt idx="4">
                  <c:v>Brazil</c:v>
                </c:pt>
                <c:pt idx="5">
                  <c:v>India</c:v>
                </c:pt>
                <c:pt idx="6">
                  <c:v>China</c:v>
                </c:pt>
                <c:pt idx="7">
                  <c:v>Canada</c:v>
                </c:pt>
                <c:pt idx="8">
                  <c:v>Germany</c:v>
                </c:pt>
                <c:pt idx="9">
                  <c:v>U.S.</c:v>
                </c:pt>
              </c:strCache>
            </c:strRef>
          </c:cat>
          <c:val>
            <c:numRef>
              <c:numCache>
                <c:formatCode>General</c:formatCode>
                <c:ptCount val="10"/>
                <c:pt idx="0">
                  <c:v>2.778401585204755</c:v>
                </c:pt>
                <c:pt idx="1">
                  <c:v>3.039960369881108</c:v>
                </c:pt>
                <c:pt idx="2">
                  <c:v>3.2810435931307795</c:v>
                </c:pt>
                <c:pt idx="3">
                  <c:v>3.8352047556142668</c:v>
                </c:pt>
                <c:pt idx="4">
                  <c:v>5.5209709379128125</c:v>
                </c:pt>
                <c:pt idx="5">
                  <c:v>7.460039630118888</c:v>
                </c:pt>
                <c:pt idx="6">
                  <c:v>7.737285336856006</c:v>
                </c:pt>
                <c:pt idx="7">
                  <c:v>9.13375165125495</c:v>
                </c:pt>
                <c:pt idx="8">
                  <c:v>14.818031704095109</c:v>
                </c:pt>
                <c:pt idx="9">
                  <c:v>16.062582562747682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431.107</c:v>
                </c:pt>
                <c:pt idx="1">
                  <c:v>302.657</c:v>
                </c:pt>
                <c:pt idx="2">
                  <c:v>529.801</c:v>
                </c:pt>
                <c:pt idx="3">
                  <c:v>467.235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0.05581631449339353</c:v>
                </c:pt>
                <c:pt idx="1">
                  <c:v>0.05630855974502243</c:v>
                </c:pt>
                <c:pt idx="2">
                  <c:v>0.057970896168556066</c:v>
                </c:pt>
                <c:pt idx="3">
                  <c:v>0.05916519612332781</c:v>
                </c:pt>
                <c:pt idx="4">
                  <c:v>0.05822105359151502</c:v>
                </c:pt>
                <c:pt idx="5">
                  <c:v>0.05672010905376134</c:v>
                </c:pt>
                <c:pt idx="6">
                  <c:v>0.054581666567176806</c:v>
                </c:pt>
                <c:pt idx="7">
                  <c:v>0.053113000406579125</c:v>
                </c:pt>
                <c:pt idx="8">
                  <c:v>0.05211237071474334</c:v>
                </c:pt>
                <c:pt idx="9">
                  <c:v>0.05099069710857258</c:v>
                </c:pt>
                <c:pt idx="10">
                  <c:v>0.050054624171048785</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0.039053877112995024</c:v>
                </c:pt>
                <c:pt idx="1">
                  <c:v>0.039851732384235464</c:v>
                </c:pt>
                <c:pt idx="2">
                  <c:v>0.04144744292671636</c:v>
                </c:pt>
                <c:pt idx="3">
                  <c:v>0.04264422583357702</c:v>
                </c:pt>
                <c:pt idx="4">
                  <c:v>0.0440404725582478</c:v>
                </c:pt>
                <c:pt idx="5">
                  <c:v>0.04543671928291857</c:v>
                </c:pt>
                <c:pt idx="6">
                  <c:v>0.046633502189779234</c:v>
                </c:pt>
                <c:pt idx="7">
                  <c:v>0.04703242982539946</c:v>
                </c:pt>
                <c:pt idx="8">
                  <c:v>0.046434038371969126</c:v>
                </c:pt>
                <c:pt idx="9">
                  <c:v>0.0460351107363489</c:v>
                </c:pt>
                <c:pt idx="10">
                  <c:v>0.04543671928291857</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0.02845725513198149</c:v>
                </c:pt>
                <c:pt idx="1">
                  <c:v>0.029618376656434332</c:v>
                </c:pt>
                <c:pt idx="2">
                  <c:v>0.030734839660715912</c:v>
                </c:pt>
                <c:pt idx="3">
                  <c:v>0.03149403450362739</c:v>
                </c:pt>
                <c:pt idx="4">
                  <c:v>0.03227803963552289</c:v>
                </c:pt>
                <c:pt idx="5">
                  <c:v>0.03283875216656209</c:v>
                </c:pt>
                <c:pt idx="6">
                  <c:v>0.03351855408472465</c:v>
                </c:pt>
                <c:pt idx="7">
                  <c:v>0.03409911484695107</c:v>
                </c:pt>
                <c:pt idx="8">
                  <c:v>0.03516595727326458</c:v>
                </c:pt>
                <c:pt idx="9">
                  <c:v>0.036887791328756615</c:v>
                </c:pt>
                <c:pt idx="10">
                  <c:v>0.037954633755070126</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Europe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22.19425075008887</c:v>
                </c:pt>
                <c:pt idx="1">
                  <c:v>23.287123978906802</c:v>
                </c:pt>
              </c:numCache>
            </c:numRef>
          </c:val>
        </c:ser>
        <c:ser>
          <c:idx val="1"/>
          <c:order val="1"/>
          <c:tx>
            <c:strRef>
              <c:strCache>
                <c:ptCount val="1"/>
                <c:pt idx="0">
                  <c:v>North America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24.122543391397087</c:v>
                </c:pt>
                <c:pt idx="1">
                  <c:v>21.89247450137377</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19.421104102381797</c:v>
                </c:pt>
                <c:pt idx="1">
                  <c:v>20.90140953293964</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18.292995435478137</c:v>
                </c:pt>
                <c:pt idx="1">
                  <c:v>17.872069488143236</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8.382278250977604</c:v>
                </c:pt>
                <c:pt idx="1">
                  <c:v>8.615487049830264</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7.586828069676502</c:v>
                </c:pt>
                <c:pt idx="1">
                  <c:v>7.431435448806278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32.99999999999999</c:v>
                </c:pt>
                <c:pt idx="1">
                  <c:v>30.269528541714813</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27.00008887308923</c:v>
                </c:pt>
                <c:pt idx="1">
                  <c:v>28.628553270164087</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11.99991112691077</c:v>
                </c:pt>
                <c:pt idx="1">
                  <c:v>13.060261150912872</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13.0</c:v>
                </c:pt>
                <c:pt idx="1">
                  <c:v>12.798994684538942</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8.0</c:v>
                </c:pt>
                <c:pt idx="1">
                  <c:v>8.314536630459903</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6.999999999999999</c:v>
                </c:pt>
                <c:pt idx="1">
                  <c:v>6.928125722209383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751804.094</c:v>
                </c:pt>
                <c:pt idx="1">
                  <c:v>767343.531</c:v>
                </c:pt>
                <c:pt idx="2">
                  <c:v>784651.617</c:v>
                </c:pt>
                <c:pt idx="3">
                  <c:v>803819.262</c:v>
                </c:pt>
                <c:pt idx="4">
                  <c:v>824971.956</c:v>
                </c:pt>
                <c:pt idx="5">
                  <c:v>848208.932</c:v>
                </c:pt>
                <c:pt idx="6">
                  <c:v>872100.564</c:v>
                </c:pt>
                <c:pt idx="7">
                  <c:v>896584.911</c:v>
                </c:pt>
                <c:pt idx="8">
                  <c:v>921675.372</c:v>
                </c:pt>
                <c:pt idx="9">
                  <c:v>947382.782</c:v>
                </c:pt>
                <c:pt idx="10">
                  <c:v>973717.215</c:v>
                </c:pt>
                <c:pt idx="11">
                  <c:v>1000698.318</c:v>
                </c:pt>
                <c:pt idx="12">
                  <c:v>1028327.183</c:v>
                </c:pt>
                <c:pt idx="13">
                  <c:v>1056627.369</c:v>
                </c:pt>
                <c:pt idx="14">
                  <c:v>1085609.252</c:v>
                </c:pt>
                <c:pt idx="15">
                  <c:v>1115281.258</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645592.66</c:v>
                </c:pt>
                <c:pt idx="1">
                  <c:v>667940.128</c:v>
                </c:pt>
                <c:pt idx="2">
                  <c:v>692417.719</c:v>
                </c:pt>
                <c:pt idx="3">
                  <c:v>719188.538</c:v>
                </c:pt>
                <c:pt idx="4">
                  <c:v>748454.986</c:v>
                </c:pt>
                <c:pt idx="5">
                  <c:v>780405.342</c:v>
                </c:pt>
                <c:pt idx="6">
                  <c:v>813722.533</c:v>
                </c:pt>
                <c:pt idx="7">
                  <c:v>848478.515</c:v>
                </c:pt>
                <c:pt idx="8">
                  <c:v>884736.493</c:v>
                </c:pt>
                <c:pt idx="9">
                  <c:v>922559.696</c:v>
                </c:pt>
                <c:pt idx="10">
                  <c:v>962013.071</c:v>
                </c:pt>
                <c:pt idx="11">
                  <c:v>1003173.679</c:v>
                </c:pt>
                <c:pt idx="12">
                  <c:v>1046102.883</c:v>
                </c:pt>
                <c:pt idx="13">
                  <c:v>1090887.428</c:v>
                </c:pt>
                <c:pt idx="14">
                  <c:v>1137603.885</c:v>
                </c:pt>
                <c:pt idx="15">
                  <c:v>1186329.71</c:v>
                </c:pt>
              </c:numCache>
            </c:numRef>
          </c:val>
        </c:ser>
        <c:ser>
          <c:idx val="2"/>
          <c:order val="2"/>
          <c:tx>
            <c:strRef>
              <c:strCache>
                <c:ptCount val="1"/>
                <c:pt idx="0">
                  <c:v>South Asia &amp; Pacific</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557355.07</c:v>
                </c:pt>
                <c:pt idx="1">
                  <c:v>578227.795</c:v>
                </c:pt>
                <c:pt idx="2">
                  <c:v>601048.735</c:v>
                </c:pt>
                <c:pt idx="3">
                  <c:v>625974.057</c:v>
                </c:pt>
                <c:pt idx="4">
                  <c:v>653195.599</c:v>
                </c:pt>
                <c:pt idx="5">
                  <c:v>682894.573</c:v>
                </c:pt>
                <c:pt idx="6">
                  <c:v>713918.753</c:v>
                </c:pt>
                <c:pt idx="7">
                  <c:v>746352.958</c:v>
                </c:pt>
                <c:pt idx="8">
                  <c:v>780261.594</c:v>
                </c:pt>
                <c:pt idx="9">
                  <c:v>815709.557</c:v>
                </c:pt>
                <c:pt idx="10">
                  <c:v>852763.739</c:v>
                </c:pt>
                <c:pt idx="11">
                  <c:v>891502.268</c:v>
                </c:pt>
                <c:pt idx="12">
                  <c:v>931989.877</c:v>
                </c:pt>
                <c:pt idx="13">
                  <c:v>974314.374</c:v>
                </c:pt>
                <c:pt idx="14">
                  <c:v>1018555.132</c:v>
                </c:pt>
                <c:pt idx="15">
                  <c:v>1064792.85</c:v>
                </c:pt>
              </c:numCache>
            </c:numRef>
          </c:val>
        </c:ser>
        <c:ser>
          <c:idx val="3"/>
          <c:order val="3"/>
          <c:tx>
            <c:strRef>
              <c:strCache>
                <c:ptCount val="1"/>
                <c:pt idx="0">
                  <c:v>East Asia</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549358.129</c:v>
                </c:pt>
                <c:pt idx="1">
                  <c:v>564886.809</c:v>
                </c:pt>
                <c:pt idx="2">
                  <c:v>581928.936</c:v>
                </c:pt>
                <c:pt idx="3">
                  <c:v>600583.902</c:v>
                </c:pt>
                <c:pt idx="4">
                  <c:v>620979.635</c:v>
                </c:pt>
                <c:pt idx="5">
                  <c:v>643227.452</c:v>
                </c:pt>
                <c:pt idx="6">
                  <c:v>666235.527</c:v>
                </c:pt>
                <c:pt idx="7">
                  <c:v>690005.783</c:v>
                </c:pt>
                <c:pt idx="8">
                  <c:v>714562.039</c:v>
                </c:pt>
                <c:pt idx="9">
                  <c:v>739926.59</c:v>
                </c:pt>
                <c:pt idx="10">
                  <c:v>766121.581</c:v>
                </c:pt>
                <c:pt idx="11">
                  <c:v>793177.158</c:v>
                </c:pt>
                <c:pt idx="12">
                  <c:v>821109.312</c:v>
                </c:pt>
                <c:pt idx="13">
                  <c:v>849952.341</c:v>
                </c:pt>
                <c:pt idx="14">
                  <c:v>879730.618</c:v>
                </c:pt>
                <c:pt idx="15">
                  <c:v>910467.391</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245670.808</c:v>
                </c:pt>
                <c:pt idx="1">
                  <c:v>253832.309</c:v>
                </c:pt>
                <c:pt idx="2">
                  <c:v>262758.719</c:v>
                </c:pt>
                <c:pt idx="3">
                  <c:v>272506.447</c:v>
                </c:pt>
                <c:pt idx="4">
                  <c:v>283146.04</c:v>
                </c:pt>
                <c:pt idx="5">
                  <c:v>294741.859</c:v>
                </c:pt>
                <c:pt idx="6">
                  <c:v>306793.909</c:v>
                </c:pt>
                <c:pt idx="7">
                  <c:v>319320.731</c:v>
                </c:pt>
                <c:pt idx="8">
                  <c:v>332340.631</c:v>
                </c:pt>
                <c:pt idx="9">
                  <c:v>345871.575</c:v>
                </c:pt>
                <c:pt idx="10">
                  <c:v>359931.801</c:v>
                </c:pt>
                <c:pt idx="11">
                  <c:v>374543.701</c:v>
                </c:pt>
                <c:pt idx="12">
                  <c:v>389723.396</c:v>
                </c:pt>
                <c:pt idx="13">
                  <c:v>405496.058</c:v>
                </c:pt>
                <c:pt idx="14">
                  <c:v>421882.609</c:v>
                </c:pt>
                <c:pt idx="15">
                  <c:v>438903.845</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227995.809</c:v>
                </c:pt>
                <c:pt idx="1">
                  <c:v>234385.014</c:v>
                </c:pt>
                <c:pt idx="2">
                  <c:v>241411.001</c:v>
                </c:pt>
                <c:pt idx="3">
                  <c:v>249115.846</c:v>
                </c:pt>
                <c:pt idx="4">
                  <c:v>257553.647</c:v>
                </c:pt>
                <c:pt idx="5">
                  <c:v>266771.842</c:v>
                </c:pt>
                <c:pt idx="6">
                  <c:v>276319.074</c:v>
                </c:pt>
                <c:pt idx="7">
                  <c:v>286197.624</c:v>
                </c:pt>
                <c:pt idx="8">
                  <c:v>296419.16</c:v>
                </c:pt>
                <c:pt idx="9">
                  <c:v>306994.836</c:v>
                </c:pt>
                <c:pt idx="10">
                  <c:v>317935.899</c:v>
                </c:pt>
                <c:pt idx="11">
                  <c:v>329257.053</c:v>
                </c:pt>
                <c:pt idx="12">
                  <c:v>340967.291</c:v>
                </c:pt>
                <c:pt idx="13">
                  <c:v>353083.37</c:v>
                </c:pt>
                <c:pt idx="14">
                  <c:v>365618.096</c:v>
                </c:pt>
                <c:pt idx="15">
                  <c:v>378584.005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317.71</c:v>
                </c:pt>
                <c:pt idx="1">
                  <c:v>326.573</c:v>
                </c:pt>
                <c:pt idx="2">
                  <c:v>336.3</c:v>
                </c:pt>
                <c:pt idx="3">
                  <c:v>346.954</c:v>
                </c:pt>
                <c:pt idx="4">
                  <c:v>358.609</c:v>
                </c:pt>
                <c:pt idx="5">
                  <c:v>371.316</c:v>
                </c:pt>
                <c:pt idx="6">
                  <c:v>384.476</c:v>
                </c:pt>
                <c:pt idx="7">
                  <c:v>398.068</c:v>
                </c:pt>
                <c:pt idx="8">
                  <c:v>412.101</c:v>
                </c:pt>
                <c:pt idx="9">
                  <c:v>426.594</c:v>
                </c:pt>
                <c:pt idx="10">
                  <c:v>441.556</c:v>
                </c:pt>
                <c:pt idx="11">
                  <c:v>457.002</c:v>
                </c:pt>
                <c:pt idx="12">
                  <c:v>472.944</c:v>
                </c:pt>
                <c:pt idx="13">
                  <c:v>489.4</c:v>
                </c:pt>
                <c:pt idx="14">
                  <c:v>506.381</c:v>
                </c:pt>
                <c:pt idx="15">
                  <c:v>523.905</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242.63</c:v>
                </c:pt>
                <c:pt idx="1">
                  <c:v>252.8</c:v>
                </c:pt>
                <c:pt idx="2">
                  <c:v>263.919</c:v>
                </c:pt>
                <c:pt idx="3">
                  <c:v>276.06</c:v>
                </c:pt>
                <c:pt idx="4">
                  <c:v>289.32</c:v>
                </c:pt>
                <c:pt idx="5">
                  <c:v>303.805</c:v>
                </c:pt>
                <c:pt idx="6">
                  <c:v>319.011</c:v>
                </c:pt>
                <c:pt idx="7">
                  <c:v>334.986</c:v>
                </c:pt>
                <c:pt idx="8">
                  <c:v>351.77</c:v>
                </c:pt>
                <c:pt idx="9">
                  <c:v>369.4</c:v>
                </c:pt>
                <c:pt idx="10">
                  <c:v>387.92</c:v>
                </c:pt>
                <c:pt idx="11">
                  <c:v>407.372</c:v>
                </c:pt>
                <c:pt idx="12">
                  <c:v>427.808</c:v>
                </c:pt>
                <c:pt idx="13">
                  <c:v>449.271</c:v>
                </c:pt>
                <c:pt idx="14">
                  <c:v>471.822</c:v>
                </c:pt>
                <c:pt idx="15">
                  <c:v>495.503</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120.782</c:v>
                </c:pt>
                <c:pt idx="1">
                  <c:v>125.038</c:v>
                </c:pt>
                <c:pt idx="2">
                  <c:v>129.682</c:v>
                </c:pt>
                <c:pt idx="3">
                  <c:v>134.747</c:v>
                </c:pt>
                <c:pt idx="4">
                  <c:v>140.266</c:v>
                </c:pt>
                <c:pt idx="5">
                  <c:v>146.276</c:v>
                </c:pt>
                <c:pt idx="6">
                  <c:v>152.535</c:v>
                </c:pt>
                <c:pt idx="7">
                  <c:v>159.049</c:v>
                </c:pt>
                <c:pt idx="8">
                  <c:v>165.825</c:v>
                </c:pt>
                <c:pt idx="9">
                  <c:v>172.875</c:v>
                </c:pt>
                <c:pt idx="10">
                  <c:v>180.209</c:v>
                </c:pt>
                <c:pt idx="11">
                  <c:v>187.84</c:v>
                </c:pt>
                <c:pt idx="12">
                  <c:v>195.773</c:v>
                </c:pt>
                <c:pt idx="13">
                  <c:v>204.023</c:v>
                </c:pt>
                <c:pt idx="14">
                  <c:v>212.604</c:v>
                </c:pt>
                <c:pt idx="15">
                  <c:v>221.525</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106.342</c:v>
                </c:pt>
                <c:pt idx="1">
                  <c:v>111.116</c:v>
                </c:pt>
                <c:pt idx="2">
                  <c:v>116.326</c:v>
                </c:pt>
                <c:pt idx="3">
                  <c:v>122.018</c:v>
                </c:pt>
                <c:pt idx="4">
                  <c:v>128.233</c:v>
                </c:pt>
                <c:pt idx="5">
                  <c:v>135.023</c:v>
                </c:pt>
                <c:pt idx="6">
                  <c:v>142.169</c:v>
                </c:pt>
                <c:pt idx="7">
                  <c:v>149.687</c:v>
                </c:pt>
                <c:pt idx="8">
                  <c:v>157.606</c:v>
                </c:pt>
                <c:pt idx="9">
                  <c:v>165.942</c:v>
                </c:pt>
                <c:pt idx="10">
                  <c:v>174.718</c:v>
                </c:pt>
                <c:pt idx="11">
                  <c:v>183.958</c:v>
                </c:pt>
                <c:pt idx="12">
                  <c:v>193.685</c:v>
                </c:pt>
                <c:pt idx="13">
                  <c:v>203.922</c:v>
                </c:pt>
                <c:pt idx="14">
                  <c:v>214.699</c:v>
                </c:pt>
                <c:pt idx="15">
                  <c:v>226.047</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72.412</c:v>
                </c:pt>
                <c:pt idx="1">
                  <c:v>75.35</c:v>
                </c:pt>
                <c:pt idx="2">
                  <c:v>78.556</c:v>
                </c:pt>
                <c:pt idx="3">
                  <c:v>82.051</c:v>
                </c:pt>
                <c:pt idx="4">
                  <c:v>85.862</c:v>
                </c:pt>
                <c:pt idx="5">
                  <c:v>90.016</c:v>
                </c:pt>
                <c:pt idx="6">
                  <c:v>94.363</c:v>
                </c:pt>
                <c:pt idx="7">
                  <c:v>98.918</c:v>
                </c:pt>
                <c:pt idx="8">
                  <c:v>103.685</c:v>
                </c:pt>
                <c:pt idx="9">
                  <c:v>108.675</c:v>
                </c:pt>
                <c:pt idx="10">
                  <c:v>113.899</c:v>
                </c:pt>
                <c:pt idx="11">
                  <c:v>119.366</c:v>
                </c:pt>
                <c:pt idx="12">
                  <c:v>125.09</c:v>
                </c:pt>
                <c:pt idx="13">
                  <c:v>131.08</c:v>
                </c:pt>
                <c:pt idx="14">
                  <c:v>137.349</c:v>
                </c:pt>
                <c:pt idx="15">
                  <c:v>143.908</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64.993</c:v>
                </c:pt>
                <c:pt idx="1">
                  <c:v>67.287</c:v>
                </c:pt>
                <c:pt idx="2">
                  <c:v>69.791</c:v>
                </c:pt>
                <c:pt idx="3">
                  <c:v>72.527</c:v>
                </c:pt>
                <c:pt idx="4">
                  <c:v>75.51</c:v>
                </c:pt>
                <c:pt idx="5">
                  <c:v>78.764</c:v>
                </c:pt>
                <c:pt idx="6">
                  <c:v>82.158</c:v>
                </c:pt>
                <c:pt idx="7">
                  <c:v>85.695</c:v>
                </c:pt>
                <c:pt idx="8">
                  <c:v>89.381</c:v>
                </c:pt>
                <c:pt idx="9">
                  <c:v>93.222</c:v>
                </c:pt>
                <c:pt idx="10">
                  <c:v>97.225</c:v>
                </c:pt>
                <c:pt idx="11">
                  <c:v>101.396</c:v>
                </c:pt>
                <c:pt idx="12">
                  <c:v>105.744</c:v>
                </c:pt>
                <c:pt idx="13">
                  <c:v>110.278</c:v>
                </c:pt>
                <c:pt idx="14">
                  <c:v>114.995</c:v>
                </c:pt>
                <c:pt idx="15">
                  <c:v>119.912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Cast Metal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25.71635866301955</c:v>
                </c:pt>
                <c:pt idx="1">
                  <c:v>26.452316757928674</c:v>
                </c:pt>
                <c:pt idx="2">
                  <c:v>21.1524658616409</c:v>
                </c:pt>
                <c:pt idx="3">
                  <c:v>21.376085504342022</c:v>
                </c:pt>
                <c:pt idx="4">
                  <c:v>27.784695551792826</c:v>
                </c:pt>
                <c:pt idx="5">
                  <c:v>24.68978154436396</c:v>
                </c:pt>
              </c:numCache>
            </c:numRef>
          </c:val>
        </c:ser>
        <c:ser>
          <c:idx val="1"/>
          <c:order val="1"/>
          <c:tx>
            <c:strRef>
              <c:strCache>
                <c:ptCount val="1"/>
                <c:pt idx="0">
                  <c:v>Acrylic Partial Dentures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17.459470278204016</c:v>
                </c:pt>
                <c:pt idx="1">
                  <c:v>18.36659532479084</c:v>
                </c:pt>
                <c:pt idx="2">
                  <c:v>19.971109355603208</c:v>
                </c:pt>
                <c:pt idx="3">
                  <c:v>18.07632925895942</c:v>
                </c:pt>
                <c:pt idx="4">
                  <c:v>16.881633410897614</c:v>
                </c:pt>
                <c:pt idx="5">
                  <c:v>16.51807102432693</c:v>
                </c:pt>
              </c:numCache>
            </c:numRef>
          </c:val>
        </c:ser>
        <c:ser>
          <c:idx val="2"/>
          <c:order val="2"/>
          <c:tx>
            <c:strRef>
              <c:strCache>
                <c:ptCount val="1"/>
                <c:pt idx="0">
                  <c:v>Flexible Partial Dentures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31.076956434718795</c:v>
                </c:pt>
                <c:pt idx="1">
                  <c:v>30.666120021124605</c:v>
                </c:pt>
                <c:pt idx="2">
                  <c:v>31.476808486626794</c:v>
                </c:pt>
                <c:pt idx="3">
                  <c:v>30.806425212455824</c:v>
                </c:pt>
                <c:pt idx="4">
                  <c:v>29.230700924111456</c:v>
                </c:pt>
                <c:pt idx="5">
                  <c:v>31.341560015651694</c:v>
                </c:pt>
              </c:numCache>
            </c:numRef>
          </c:val>
        </c:ser>
        <c:ser>
          <c:idx val="3"/>
          <c:order val="3"/>
          <c:tx>
            <c:strRef>
              <c:strCache>
                <c:ptCount val="1"/>
                <c:pt idx="0">
                  <c:v>Combination Framework Partial Dentures</c:v>
                </c:pt>
              </c:strCache>
            </c:strRef>
          </c:tx>
          <c:spPr>
            <a:solidFill>
              <a:srgbClr val="40315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25.74721462405764</c:v>
                </c:pt>
                <c:pt idx="1">
                  <c:v>24.514967896155877</c:v>
                </c:pt>
                <c:pt idx="2">
                  <c:v>27.39961629612911</c:v>
                </c:pt>
                <c:pt idx="3">
                  <c:v>29.741160024242753</c:v>
                </c:pt>
                <c:pt idx="4">
                  <c:v>26.102970113198104</c:v>
                </c:pt>
                <c:pt idx="5">
                  <c:v>27.450587415657417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Cast Metal Partial Dentures</c:v>
                </c:pt>
              </c:strCache>
            </c:strRef>
          </c:tx>
          <c:spPr>
            <a:solidFill>
              <a:srgbClr val="3D85C6"/>
            </a:solidFill>
          </c:spPr>
          <c:invertIfNegative val="0"/>
          <c:xVal>
            <c:numRef>
              <c:numCache>
                <c:formatCode>General</c:formatCode>
                <c:ptCount val="1"/>
                <c:pt idx="0">
                  <c:v>144.72589768703983</c:v>
                </c:pt>
              </c:numCache>
            </c:numRef>
          </c:xVal>
          <c:yVal>
            <c:numRef>
              <c:numCache>
                <c:formatCode>General</c:formatCode>
                <c:ptCount val="1"/>
                <c:pt idx="0">
                  <c:v>82.65908282971917</c:v>
                </c:pt>
              </c:numCache>
            </c:numRef>
          </c:yVal>
          <c:bubbleSize>
            <c:numRef>
              <c:numCache>
                <c:formatCode>General</c:formatCode>
                <c:ptCount val="1"/>
                <c:pt idx="0">
                  <c:v>431.107</c:v>
                </c:pt>
              </c:numCache>
            </c:numRef>
          </c:bubbleSize>
          <c:bubble3D val="0"/>
        </c:ser>
        <c:ser>
          <c:idx val="1"/>
          <c:order val="1"/>
          <c:tx>
            <c:strRef>
              <c:strCache>
                <c:ptCount val="1"/>
                <c:pt idx="0">
                  <c:v>Acrylic Partial Dentures</c:v>
                </c:pt>
              </c:strCache>
            </c:strRef>
          </c:tx>
          <c:spPr>
            <a:solidFill>
              <a:srgbClr val="9E7E0A"/>
            </a:solidFill>
          </c:spPr>
          <c:invertIfNegative val="0"/>
          <c:xVal>
            <c:numRef>
              <c:numCache>
                <c:formatCode>General</c:formatCode>
                <c:ptCount val="1"/>
                <c:pt idx="0">
                  <c:v>74.36782573788618</c:v>
                </c:pt>
              </c:numCache>
            </c:numRef>
          </c:xVal>
          <c:yVal>
            <c:numRef>
              <c:numCache>
                <c:formatCode>General</c:formatCode>
                <c:ptCount val="1"/>
                <c:pt idx="0">
                  <c:v>77.97191610380378</c:v>
                </c:pt>
              </c:numCache>
            </c:numRef>
          </c:yVal>
          <c:bubbleSize>
            <c:numRef>
              <c:numCache>
                <c:formatCode>General</c:formatCode>
                <c:ptCount val="1"/>
                <c:pt idx="0">
                  <c:v>302.657</c:v>
                </c:pt>
              </c:numCache>
            </c:numRef>
          </c:bubbleSize>
          <c:bubble3D val="0"/>
        </c:ser>
        <c:ser>
          <c:idx val="2"/>
          <c:order val="2"/>
          <c:tx>
            <c:strRef>
              <c:strCache>
                <c:ptCount val="1"/>
                <c:pt idx="0">
                  <c:v>Flexible Partial Dentures</c:v>
                </c:pt>
              </c:strCache>
            </c:strRef>
          </c:tx>
          <c:spPr>
            <a:solidFill>
              <a:srgbClr val="008189"/>
            </a:solidFill>
          </c:spPr>
          <c:invertIfNegative val="0"/>
          <c:xVal>
            <c:numRef>
              <c:numCache>
                <c:formatCode>General</c:formatCode>
                <c:ptCount val="1"/>
                <c:pt idx="0">
                  <c:v>69.05650410735002</c:v>
                </c:pt>
              </c:numCache>
            </c:numRef>
          </c:xVal>
          <c:yVal>
            <c:numRef>
              <c:numCache>
                <c:formatCode>General</c:formatCode>
                <c:ptCount val="1"/>
                <c:pt idx="0">
                  <c:v>139.6174902239602</c:v>
                </c:pt>
              </c:numCache>
            </c:numRef>
          </c:yVal>
          <c:bubbleSize>
            <c:numRef>
              <c:numCache>
                <c:formatCode>General</c:formatCode>
                <c:ptCount val="1"/>
                <c:pt idx="0">
                  <c:v>529.801</c:v>
                </c:pt>
              </c:numCache>
            </c:numRef>
          </c:bubbleSize>
          <c:bubble3D val="0"/>
        </c:ser>
        <c:ser>
          <c:idx val="3"/>
          <c:order val="3"/>
          <c:tx>
            <c:strRef>
              <c:strCache>
                <c:ptCount val="1"/>
                <c:pt idx="0">
                  <c:v>Combination Framework Partial Dentures</c:v>
                </c:pt>
              </c:strCache>
            </c:strRef>
          </c:tx>
          <c:spPr>
            <a:solidFill>
              <a:srgbClr val="40315E"/>
            </a:solidFill>
          </c:spPr>
          <c:invertIfNegative val="0"/>
          <c:xVal>
            <c:numRef>
              <c:numCache>
                <c:formatCode>General</c:formatCode>
                <c:ptCount val="1"/>
                <c:pt idx="0">
                  <c:v>118.88350952671698</c:v>
                </c:pt>
              </c:numCache>
            </c:numRef>
          </c:xVal>
          <c:yVal>
            <c:numRef>
              <c:numCache>
                <c:formatCode>General</c:formatCode>
                <c:ptCount val="1"/>
                <c:pt idx="0">
                  <c:v>99.75151084251688</c:v>
                </c:pt>
              </c:numCache>
            </c:numRef>
          </c:yVal>
          <c:bubbleSize>
            <c:numRef>
              <c:numCache>
                <c:formatCode>General</c:formatCode>
                <c:ptCount val="1"/>
                <c:pt idx="0">
                  <c:v>467.235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232.52</c:v>
                </c:pt>
                <c:pt idx="2">
                  <c:v>263.314</c:v>
                </c:pt>
                <c:pt idx="3">
                  <c:v>298.042</c:v>
                </c:pt>
                <c:pt idx="4">
                  <c:v>337.197</c:v>
                </c:pt>
                <c:pt idx="5">
                  <c:v>381.349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232.52</c:v>
                </c:pt>
                <c:pt idx="1">
                  <c:v>30.79400000000001</c:v>
                </c:pt>
                <c:pt idx="2">
                  <c:v>34.72799999999995</c:v>
                </c:pt>
                <c:pt idx="3">
                  <c:v>39.15500000000003</c:v>
                </c:pt>
                <c:pt idx="4">
                  <c:v>44.15199999999999</c:v>
                </c:pt>
                <c:pt idx="5">
                  <c:v>49.75800000000004</c:v>
                </c:pt>
                <c:pt idx="6">
                  <c:v>431.107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219.335</c:v>
                </c:pt>
                <c:pt idx="2">
                  <c:v>234.415</c:v>
                </c:pt>
                <c:pt idx="3">
                  <c:v>250.291</c:v>
                </c:pt>
                <c:pt idx="4">
                  <c:v>266.963</c:v>
                </c:pt>
                <c:pt idx="5">
                  <c:v>284.421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219.335</c:v>
                </c:pt>
                <c:pt idx="1">
                  <c:v>15.079999999999984</c:v>
                </c:pt>
                <c:pt idx="2">
                  <c:v>15.876000000000005</c:v>
                </c:pt>
                <c:pt idx="3">
                  <c:v>16.672000000000025</c:v>
                </c:pt>
                <c:pt idx="4">
                  <c:v>17.45799999999997</c:v>
                </c:pt>
                <c:pt idx="5">
                  <c:v>18.23599999999999</c:v>
                </c:pt>
                <c:pt idx="6">
                  <c:v>302.657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392.744</c:v>
                </c:pt>
                <c:pt idx="2">
                  <c:v>418.052</c:v>
                </c:pt>
                <c:pt idx="3">
                  <c:v>444.461</c:v>
                </c:pt>
                <c:pt idx="4">
                  <c:v>471.941</c:v>
                </c:pt>
                <c:pt idx="5">
                  <c:v>500.413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392.744</c:v>
                </c:pt>
                <c:pt idx="1">
                  <c:v>25.307999999999993</c:v>
                </c:pt>
                <c:pt idx="2">
                  <c:v>26.408999999999992</c:v>
                </c:pt>
                <c:pt idx="3">
                  <c:v>27.47999999999996</c:v>
                </c:pt>
                <c:pt idx="4">
                  <c:v>28.472000000000037</c:v>
                </c:pt>
                <c:pt idx="5">
                  <c:v>29.388000000000034</c:v>
                </c:pt>
                <c:pt idx="6">
                  <c:v>529.801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280.601</c:v>
                </c:pt>
                <c:pt idx="2">
                  <c:v>310.622</c:v>
                </c:pt>
                <c:pt idx="3">
                  <c:v>343.914</c:v>
                </c:pt>
                <c:pt idx="4">
                  <c:v>380.833</c:v>
                </c:pt>
                <c:pt idx="5">
                  <c:v>421.791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280.601</c:v>
                </c:pt>
                <c:pt idx="1">
                  <c:v>30.021000000000015</c:v>
                </c:pt>
                <c:pt idx="2">
                  <c:v>33.29199999999997</c:v>
                </c:pt>
                <c:pt idx="3">
                  <c:v>36.91900000000004</c:v>
                </c:pt>
                <c:pt idx="4">
                  <c:v>40.95799999999997</c:v>
                </c:pt>
                <c:pt idx="5">
                  <c:v>45.44400000000002</c:v>
                </c:pt>
                <c:pt idx="6">
                  <c:v>467.235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Flexible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36.86186908632466</c:v>
                </c:pt>
                <c:pt idx="1">
                  <c:v>34.90437255599005</c:v>
                </c:pt>
                <c:pt idx="2">
                  <c:v>30.610180263461984</c:v>
                </c:pt>
              </c:numCache>
            </c:numRef>
          </c:val>
        </c:ser>
        <c:ser>
          <c:idx val="1"/>
          <c:order val="1"/>
          <c:tx>
            <c:strRef>
              <c:strCache>
                <c:ptCount val="1"/>
                <c:pt idx="0">
                  <c:v>Combination Framework Partial Dentures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24.00512937507907</c:v>
                </c:pt>
                <c:pt idx="1">
                  <c:v>24.93787771062922</c:v>
                </c:pt>
                <c:pt idx="2">
                  <c:v>26.99532008319852</c:v>
                </c:pt>
              </c:numCache>
            </c:numRef>
          </c:val>
        </c:ser>
        <c:ser>
          <c:idx val="2"/>
          <c:order val="2"/>
          <c:tx>
            <c:strRef>
              <c:strCache>
                <c:ptCount val="1"/>
                <c:pt idx="0">
                  <c:v>Cast Metal Partial Dentures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18.73735631748929</c:v>
                </c:pt>
                <c:pt idx="1">
                  <c:v>20.664770707429792</c:v>
                </c:pt>
                <c:pt idx="2">
                  <c:v>24.907961636237577</c:v>
                </c:pt>
              </c:numCache>
            </c:numRef>
          </c:val>
        </c:ser>
        <c:ser>
          <c:idx val="3"/>
          <c:order val="3"/>
          <c:tx>
            <c:strRef>
              <c:strCache>
                <c:ptCount val="1"/>
                <c:pt idx="0">
                  <c:v>Acrylic Partial Dentures</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20.395645221106992</c:v>
                </c:pt>
                <c:pt idx="1">
                  <c:v>19.492979025950945</c:v>
                </c:pt>
                <c:pt idx="2">
                  <c:v>17.486538017101914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Metal Alloys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28.208186003068924</c:v>
                </c:pt>
                <c:pt idx="1">
                  <c:v>30.099091085971597</c:v>
                </c:pt>
                <c:pt idx="2">
                  <c:v>28.07312944362939</c:v>
                </c:pt>
                <c:pt idx="3">
                  <c:v>29.232858653288922</c:v>
                </c:pt>
                <c:pt idx="4">
                  <c:v>28.546345834434906</c:v>
                </c:pt>
                <c:pt idx="5">
                  <c:v>28.548114639104412</c:v>
                </c:pt>
              </c:numCache>
            </c:numRef>
          </c:val>
        </c:ser>
        <c:ser>
          <c:idx val="1"/>
          <c:order val="1"/>
          <c:tx>
            <c:strRef>
              <c:strCache>
                <c:ptCount val="1"/>
                <c:pt idx="0">
                  <c:v>Acrylic / Resin</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42.6954766829008</c:v>
                </c:pt>
                <c:pt idx="1">
                  <c:v>43.10601217444479</c:v>
                </c:pt>
                <c:pt idx="2">
                  <c:v>44.39679494413723</c:v>
                </c:pt>
                <c:pt idx="3">
                  <c:v>43.05166624640009</c:v>
                </c:pt>
                <c:pt idx="4">
                  <c:v>43.73031041184413</c:v>
                </c:pt>
                <c:pt idx="5">
                  <c:v>44.97876523415504</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19.24411234905598</c:v>
                </c:pt>
                <c:pt idx="1">
                  <c:v>17.402090224309976</c:v>
                </c:pt>
                <c:pt idx="2">
                  <c:v>19.026746416882972</c:v>
                </c:pt>
                <c:pt idx="3">
                  <c:v>17.618017491937522</c:v>
                </c:pt>
                <c:pt idx="4">
                  <c:v>18.50846513542804</c:v>
                </c:pt>
                <c:pt idx="5">
                  <c:v>17.04316622288392</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9.852224964974317</c:v>
                </c:pt>
                <c:pt idx="1">
                  <c:v>9.392806515273648</c:v>
                </c:pt>
                <c:pt idx="2">
                  <c:v>8.503329195350412</c:v>
                </c:pt>
                <c:pt idx="3">
                  <c:v>10.097457608373482</c:v>
                </c:pt>
                <c:pt idx="4">
                  <c:v>9.214878618292927</c:v>
                </c:pt>
                <c:pt idx="5">
                  <c:v>9.429953903856614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Metal Alloys</c:v>
                </c:pt>
              </c:strCache>
            </c:strRef>
          </c:tx>
          <c:spPr>
            <a:solidFill>
              <a:srgbClr val="3D85C6"/>
            </a:solidFill>
          </c:spPr>
          <c:invertIfNegative val="0"/>
          <c:xVal>
            <c:numRef>
              <c:numCache>
                <c:formatCode>General</c:formatCode>
                <c:ptCount val="1"/>
                <c:pt idx="0">
                  <c:v>98.58426015904568</c:v>
                </c:pt>
              </c:numCache>
            </c:numRef>
          </c:xVal>
          <c:yVal>
            <c:numRef>
              <c:numCache>
                <c:formatCode>General</c:formatCode>
                <c:ptCount val="1"/>
                <c:pt idx="0">
                  <c:v>115.41343761109135</c:v>
                </c:pt>
              </c:numCache>
            </c:numRef>
          </c:yVal>
          <c:bubbleSize>
            <c:numRef>
              <c:numCache>
                <c:formatCode>General</c:formatCode>
                <c:ptCount val="1"/>
                <c:pt idx="0">
                  <c:v>496.422</c:v>
                </c:pt>
              </c:numCache>
            </c:numRef>
          </c:bubbleSize>
          <c:bubble3D val="0"/>
        </c:ser>
        <c:ser>
          <c:idx val="1"/>
          <c:order val="1"/>
          <c:tx>
            <c:strRef>
              <c:strCache>
                <c:ptCount val="1"/>
                <c:pt idx="0">
                  <c:v>Acrylic / Resin</c:v>
                </c:pt>
              </c:strCache>
            </c:strRef>
          </c:tx>
          <c:spPr>
            <a:solidFill>
              <a:srgbClr val="9E7E0A"/>
            </a:solidFill>
          </c:spPr>
          <c:invertIfNegative val="0"/>
          <c:xVal>
            <c:numRef>
              <c:numCache>
                <c:formatCode>General</c:formatCode>
                <c:ptCount val="1"/>
                <c:pt idx="0">
                  <c:v>102.76104758452247</c:v>
                </c:pt>
              </c:numCache>
            </c:numRef>
          </c:xVal>
          <c:yVal>
            <c:numRef>
              <c:numCache>
                <c:formatCode>General</c:formatCode>
                <c:ptCount val="1"/>
                <c:pt idx="0">
                  <c:v>173.8908638464273</c:v>
                </c:pt>
              </c:numCache>
            </c:numRef>
          </c:yVal>
          <c:bubbleSize>
            <c:numRef>
              <c:numCache>
                <c:formatCode>General</c:formatCode>
                <c:ptCount val="1"/>
                <c:pt idx="0">
                  <c:v>761.228</c:v>
                </c:pt>
              </c:numCache>
            </c:numRef>
          </c:bubbleSize>
          <c:bubble3D val="0"/>
        </c:ser>
        <c:ser>
          <c:idx val="2"/>
          <c:order val="2"/>
          <c:tx>
            <c:strRef>
              <c:strCache>
                <c:ptCount val="1"/>
                <c:pt idx="0">
                  <c:v>Flexible Thermoplastics</c:v>
                </c:pt>
              </c:strCache>
            </c:strRef>
          </c:tx>
          <c:spPr>
            <a:solidFill>
              <a:srgbClr val="008189"/>
            </a:solidFill>
          </c:spPr>
          <c:invertIfNegative val="0"/>
          <c:xVal>
            <c:numRef>
              <c:numCache>
                <c:formatCode>General</c:formatCode>
                <c:ptCount val="1"/>
                <c:pt idx="0">
                  <c:v>92.27410639855349</c:v>
                </c:pt>
              </c:numCache>
            </c:numRef>
          </c:xVal>
          <c:yVal>
            <c:numRef>
              <c:numCache>
                <c:formatCode>General</c:formatCode>
                <c:ptCount val="1"/>
                <c:pt idx="0">
                  <c:v>74.27941699253465</c:v>
                </c:pt>
              </c:numCache>
            </c:numRef>
          </c:yVal>
          <c:bubbleSize>
            <c:numRef>
              <c:numCache>
                <c:formatCode>General</c:formatCode>
                <c:ptCount val="1"/>
                <c:pt idx="0">
                  <c:v>311.09299999999996</c:v>
                </c:pt>
              </c:numCache>
            </c:numRef>
          </c:bubbleSize>
          <c:bubble3D val="0"/>
        </c:ser>
        <c:ser>
          <c:idx val="3"/>
          <c:order val="3"/>
          <c:tx>
            <c:strRef>
              <c:strCache>
                <c:ptCount val="1"/>
                <c:pt idx="0">
                  <c:v>High-performance Polymers</c:v>
                </c:pt>
              </c:strCache>
            </c:strRef>
          </c:tx>
          <c:spPr>
            <a:solidFill>
              <a:srgbClr val="40315E"/>
            </a:solidFill>
          </c:spPr>
          <c:invertIfNegative val="0"/>
          <c:xVal>
            <c:numRef>
              <c:numCache>
                <c:formatCode>General</c:formatCode>
                <c:ptCount val="1"/>
                <c:pt idx="0">
                  <c:v>106.66624899777055</c:v>
                </c:pt>
              </c:numCache>
            </c:numRef>
          </c:xVal>
          <c:yVal>
            <c:numRef>
              <c:numCache>
                <c:formatCode>General</c:formatCode>
                <c:ptCount val="1"/>
                <c:pt idx="0">
                  <c:v>36.416281549946675</c:v>
                </c:pt>
              </c:numCache>
            </c:numRef>
          </c:yVal>
          <c:bubbleSize>
            <c:numRef>
              <c:numCache>
                <c:formatCode>General</c:formatCode>
                <c:ptCount val="1"/>
                <c:pt idx="0">
                  <c:v>162.057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324.658</c:v>
                </c:pt>
                <c:pt idx="2">
                  <c:v>353.39300000000003</c:v>
                </c:pt>
                <c:pt idx="3">
                  <c:v>384.693</c:v>
                </c:pt>
                <c:pt idx="4">
                  <c:v>418.794</c:v>
                </c:pt>
                <c:pt idx="5">
                  <c:v>455.944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324.658</c:v>
                </c:pt>
                <c:pt idx="1">
                  <c:v>28.735000000000014</c:v>
                </c:pt>
                <c:pt idx="2">
                  <c:v>31.299999999999955</c:v>
                </c:pt>
                <c:pt idx="3">
                  <c:v>34.101</c:v>
                </c:pt>
                <c:pt idx="4">
                  <c:v>37.150000000000034</c:v>
                </c:pt>
                <c:pt idx="5">
                  <c:v>40.47800000000001</c:v>
                </c:pt>
                <c:pt idx="6">
                  <c:v>496.422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489.155</c:v>
                </c:pt>
                <c:pt idx="2">
                  <c:v>534.396</c:v>
                </c:pt>
                <c:pt idx="3">
                  <c:v>583.825</c:v>
                </c:pt>
                <c:pt idx="4">
                  <c:v>637.813</c:v>
                </c:pt>
                <c:pt idx="5">
                  <c:v>696.801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489.155</c:v>
                </c:pt>
                <c:pt idx="1">
                  <c:v>45.240999999999985</c:v>
                </c:pt>
                <c:pt idx="2">
                  <c:v>49.42900000000009</c:v>
                </c:pt>
                <c:pt idx="3">
                  <c:v>53.98799999999994</c:v>
                </c:pt>
                <c:pt idx="4">
                  <c:v>58.988000000000056</c:v>
                </c:pt>
                <c:pt idx="5">
                  <c:v>64.42699999999991</c:v>
                </c:pt>
                <c:pt idx="6">
                  <c:v>761.228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208.94799999999998</c:v>
                </c:pt>
                <c:pt idx="2">
                  <c:v>226.33499999999998</c:v>
                </c:pt>
                <c:pt idx="3">
                  <c:v>245.12600000000003</c:v>
                </c:pt>
                <c:pt idx="4">
                  <c:v>265.444</c:v>
                </c:pt>
                <c:pt idx="5">
                  <c:v>287.383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208.94799999999998</c:v>
                </c:pt>
                <c:pt idx="1">
                  <c:v>17.387</c:v>
                </c:pt>
                <c:pt idx="2">
                  <c:v>18.791000000000054</c:v>
                </c:pt>
                <c:pt idx="3">
                  <c:v>20.317999999999984</c:v>
                </c:pt>
                <c:pt idx="4">
                  <c:v>21.938999999999965</c:v>
                </c:pt>
                <c:pt idx="5">
                  <c:v>23.70999999999998</c:v>
                </c:pt>
                <c:pt idx="6">
                  <c:v>311.09299999999996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102.439</c:v>
                </c:pt>
                <c:pt idx="2">
                  <c:v>112.279</c:v>
                </c:pt>
                <c:pt idx="3">
                  <c:v>123.06400000000001</c:v>
                </c:pt>
                <c:pt idx="4">
                  <c:v>134.883</c:v>
                </c:pt>
                <c:pt idx="5">
                  <c:v>147.846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102.439</c:v>
                </c:pt>
                <c:pt idx="1">
                  <c:v>9.840000000000003</c:v>
                </c:pt>
                <c:pt idx="2">
                  <c:v>10.78500000000001</c:v>
                </c:pt>
                <c:pt idx="3">
                  <c:v>11.819000000000003</c:v>
                </c:pt>
                <c:pt idx="4">
                  <c:v>12.962999999999994</c:v>
                </c:pt>
                <c:pt idx="5">
                  <c:v>14.210999999999984</c:v>
                </c:pt>
                <c:pt idx="6">
                  <c:v>162.057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43.22049933558158</c:v>
                </c:pt>
                <c:pt idx="1">
                  <c:v>43.47271596160682</c:v>
                </c:pt>
                <c:pt idx="2">
                  <c:v>43.98128033279408</c:v>
                </c:pt>
              </c:numCache>
            </c:numRef>
          </c:val>
        </c:ser>
        <c:ser>
          <c:idx val="1"/>
          <c:order val="1"/>
          <c:tx>
            <c:strRef>
              <c:strCache>
                <c:ptCount val="1"/>
                <c:pt idx="0">
                  <c:v>Metal Alloys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28.95383021811737</c:v>
                </c:pt>
                <c:pt idx="1">
                  <c:v>28.85335940277284</c:v>
                </c:pt>
                <c:pt idx="2">
                  <c:v>28.68165010399815</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18.847425959784577</c:v>
                </c:pt>
                <c:pt idx="1">
                  <c:v>18.569854248133662</c:v>
                </c:pt>
                <c:pt idx="2">
                  <c:v>17.973942685463367</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8.97824448651647</c:v>
                </c:pt>
                <c:pt idx="1">
                  <c:v>9.104070387486669</c:v>
                </c:pt>
                <c:pt idx="2">
                  <c:v>9.363126877744394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45.34658749749817</c:v>
                </c:pt>
                <c:pt idx="1">
                  <c:v>46.57558996025238</c:v>
                </c:pt>
                <c:pt idx="2">
                  <c:v>45.170071098070196</c:v>
                </c:pt>
                <c:pt idx="3">
                  <c:v>48.16476219547262</c:v>
                </c:pt>
                <c:pt idx="4">
                  <c:v>50.408171090790574</c:v>
                </c:pt>
                <c:pt idx="5">
                  <c:v>40.66366994016091</c:v>
                </c:pt>
              </c:numCache>
            </c:numRef>
          </c:val>
        </c:ser>
        <c:ser>
          <c:idx val="1"/>
          <c:order val="1"/>
          <c:tx>
            <c:strRef>
              <c:strCache>
                <c:ptCount val="1"/>
                <c:pt idx="0">
                  <c:v>Digital Fabrication</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54.65341250250183</c:v>
                </c:pt>
                <c:pt idx="1">
                  <c:v>53.42441003974761</c:v>
                </c:pt>
                <c:pt idx="2">
                  <c:v>54.829928901929804</c:v>
                </c:pt>
                <c:pt idx="3">
                  <c:v>51.83523780452738</c:v>
                </c:pt>
                <c:pt idx="4">
                  <c:v>49.591828909209426</c:v>
                </c:pt>
                <c:pt idx="5">
                  <c:v>59.33633005983909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 Fabrication</c:v>
                </c:pt>
              </c:strCache>
            </c:strRef>
          </c:tx>
          <c:spPr>
            <a:solidFill>
              <a:srgbClr val="3D85C6"/>
            </a:solidFill>
          </c:spPr>
          <c:invertIfNegative val="0"/>
          <c:xVal>
            <c:numRef>
              <c:numCache>
                <c:formatCode>General</c:formatCode>
                <c:ptCount val="1"/>
                <c:pt idx="0">
                  <c:v>130.8978683401889</c:v>
                </c:pt>
              </c:numCache>
            </c:numRef>
          </c:xVal>
          <c:yVal>
            <c:numRef>
              <c:numCache>
                <c:formatCode>General</c:formatCode>
                <c:ptCount val="1"/>
                <c:pt idx="0">
                  <c:v>80.52808389619624</c:v>
                </c:pt>
              </c:numCache>
            </c:numRef>
          </c:yVal>
          <c:bubbleSize>
            <c:numRef>
              <c:numCache>
                <c:formatCode>General</c:formatCode>
                <c:ptCount val="1"/>
                <c:pt idx="0">
                  <c:v>793.153</c:v>
                </c:pt>
              </c:numCache>
            </c:numRef>
          </c:bubbleSize>
          <c:bubble3D val="0"/>
        </c:ser>
        <c:ser>
          <c:idx val="1"/>
          <c:order val="1"/>
          <c:tx>
            <c:strRef>
              <c:strCache>
                <c:ptCount val="1"/>
                <c:pt idx="0">
                  <c:v>Digital Fabrication</c:v>
                </c:pt>
              </c:strCache>
            </c:strRef>
          </c:tx>
          <c:spPr>
            <a:solidFill>
              <a:srgbClr val="9E7E0A"/>
            </a:solidFill>
          </c:spPr>
          <c:invertIfNegative val="0"/>
          <c:xVal>
            <c:numRef>
              <c:numCache>
                <c:formatCode>General</c:formatCode>
                <c:ptCount val="1"/>
                <c:pt idx="0">
                  <c:v>76.92588416104496</c:v>
                </c:pt>
              </c:numCache>
            </c:numRef>
          </c:xVal>
          <c:yVal>
            <c:numRef>
              <c:numCache>
                <c:formatCode>General</c:formatCode>
                <c:ptCount val="1"/>
                <c:pt idx="0">
                  <c:v>119.47191610380376</c:v>
                </c:pt>
              </c:numCache>
            </c:numRef>
          </c:yVal>
          <c:bubbleSize>
            <c:numRef>
              <c:numCache>
                <c:formatCode>General</c:formatCode>
                <c:ptCount val="1"/>
                <c:pt idx="0">
                  <c:v>937.6469999999999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453.05100000000004</c:v>
                </c:pt>
                <c:pt idx="2">
                  <c:v>506.82000000000005</c:v>
                </c:pt>
                <c:pt idx="3">
                  <c:v>566.924</c:v>
                </c:pt>
                <c:pt idx="4">
                  <c:v>634.115</c:v>
                </c:pt>
                <c:pt idx="5">
                  <c:v>709.207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453.05100000000004</c:v>
                </c:pt>
                <c:pt idx="1">
                  <c:v>53.769000000000005</c:v>
                </c:pt>
                <c:pt idx="2">
                  <c:v>60.10399999999993</c:v>
                </c:pt>
                <c:pt idx="3">
                  <c:v>67.19100000000003</c:v>
                </c:pt>
                <c:pt idx="4">
                  <c:v>75.09199999999998</c:v>
                </c:pt>
                <c:pt idx="5">
                  <c:v>83.94600000000003</c:v>
                </c:pt>
                <c:pt idx="6">
                  <c:v>793.153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672.149</c:v>
                </c:pt>
                <c:pt idx="2">
                  <c:v>719.583</c:v>
                </c:pt>
                <c:pt idx="3">
                  <c:v>769.784</c:v>
                </c:pt>
                <c:pt idx="4">
                  <c:v>822.8190000000001</c:v>
                </c:pt>
                <c:pt idx="5">
                  <c:v>878.767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672.149</c:v>
                </c:pt>
                <c:pt idx="1">
                  <c:v>47.43399999999997</c:v>
                </c:pt>
                <c:pt idx="2">
                  <c:v>50.20100000000002</c:v>
                </c:pt>
                <c:pt idx="3">
                  <c:v>53.03500000000008</c:v>
                </c:pt>
                <c:pt idx="4">
                  <c:v>55.94799999999998</c:v>
                </c:pt>
                <c:pt idx="5">
                  <c:v>58.87999999999988</c:v>
                </c:pt>
                <c:pt idx="6">
                  <c:v>937.6469999999999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Digital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62.28828082679817</c:v>
                </c:pt>
                <c:pt idx="1">
                  <c:v>59.73595805190188</c:v>
                </c:pt>
                <c:pt idx="2">
                  <c:v>54.17419690316616</c:v>
                </c:pt>
              </c:numCache>
            </c:numRef>
          </c:val>
        </c:ser>
        <c:ser>
          <c:idx val="1"/>
          <c:order val="1"/>
          <c:tx>
            <c:strRef>
              <c:strCache>
                <c:ptCount val="1"/>
                <c:pt idx="0">
                  <c:v>Conventional Fabrication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37.71171917320182</c:v>
                </c:pt>
                <c:pt idx="1">
                  <c:v>40.26404194809812</c:v>
                </c:pt>
                <c:pt idx="2">
                  <c:v>45.82580309683383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Dental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15.321235572753352</c:v>
                </c:pt>
                <c:pt idx="1">
                  <c:v>11.971537371098204</c:v>
                </c:pt>
                <c:pt idx="2">
                  <c:v>14.58029567768875</c:v>
                </c:pt>
                <c:pt idx="3">
                  <c:v>14.546532358314861</c:v>
                </c:pt>
                <c:pt idx="4">
                  <c:v>14.951473553136912</c:v>
                </c:pt>
                <c:pt idx="5">
                  <c:v>10.88689743369504</c:v>
                </c:pt>
              </c:numCache>
            </c:numRef>
          </c:val>
        </c:ser>
        <c:ser>
          <c:idx val="1"/>
          <c:order val="1"/>
          <c:tx>
            <c:strRef>
              <c:strCache>
                <c:ptCount val="1"/>
                <c:pt idx="0">
                  <c:v>Dental Hospitals</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9.19424244445927</c:v>
                </c:pt>
                <c:pt idx="1">
                  <c:v>8.421352530783558</c:v>
                </c:pt>
                <c:pt idx="2">
                  <c:v>8.248730391603656</c:v>
                </c:pt>
                <c:pt idx="3">
                  <c:v>8.963180223581821</c:v>
                </c:pt>
                <c:pt idx="4">
                  <c:v>8.181786992207918</c:v>
                </c:pt>
                <c:pt idx="5">
                  <c:v>8.335671543505025</c:v>
                </c:pt>
              </c:numCache>
            </c:numRef>
          </c:val>
        </c:ser>
        <c:ser>
          <c:idx val="2"/>
          <c:order val="2"/>
          <c:tx>
            <c:strRef>
              <c:strCache>
                <c:ptCount val="1"/>
                <c:pt idx="0">
                  <c:v>Dental Laboratories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41.97828407498832</c:v>
                </c:pt>
                <c:pt idx="1">
                  <c:v>43.730716846874394</c:v>
                </c:pt>
                <c:pt idx="2">
                  <c:v>43.71199638866945</c:v>
                </c:pt>
                <c:pt idx="3">
                  <c:v>37.63420881498096</c:v>
                </c:pt>
                <c:pt idx="4">
                  <c:v>37.75779359559882</c:v>
                </c:pt>
                <c:pt idx="5">
                  <c:v>35.48983117168189</c:v>
                </c:pt>
              </c:numCache>
            </c:numRef>
          </c:val>
        </c:ser>
        <c:ser>
          <c:idx val="3"/>
          <c:order val="3"/>
          <c:tx>
            <c:strRef>
              <c:strCache>
                <c:ptCount val="1"/>
                <c:pt idx="0">
                  <c:v>Academic &amp; Teaching Dental Institutions</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33.50623790779905</c:v>
                </c:pt>
                <c:pt idx="1">
                  <c:v>35.876393251243854</c:v>
                </c:pt>
                <c:pt idx="2">
                  <c:v>33.45897754203815</c:v>
                </c:pt>
                <c:pt idx="3">
                  <c:v>38.856078603122356</c:v>
                </c:pt>
                <c:pt idx="4">
                  <c:v>39.108945859056355</c:v>
                </c:pt>
                <c:pt idx="5">
                  <c:v>45.287599851118046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Dental Clinics</c:v>
                </c:pt>
              </c:strCache>
            </c:strRef>
          </c:tx>
          <c:spPr>
            <a:solidFill>
              <a:srgbClr val="3D85C6"/>
            </a:solidFill>
          </c:spPr>
          <c:invertIfNegative val="0"/>
          <c:xVal>
            <c:numRef>
              <c:numCache>
                <c:formatCode>General</c:formatCode>
                <c:ptCount val="1"/>
                <c:pt idx="0">
                  <c:v>111.05348532813184</c:v>
                </c:pt>
              </c:numCache>
            </c:numRef>
          </c:xVal>
          <c:yVal>
            <c:numRef>
              <c:numCache>
                <c:formatCode>General</c:formatCode>
                <c:ptCount val="1"/>
                <c:pt idx="0">
                  <c:v>51.16032705296837</c:v>
                </c:pt>
              </c:numCache>
            </c:numRef>
          </c:yVal>
          <c:bubbleSize>
            <c:numRef>
              <c:numCache>
                <c:formatCode>General</c:formatCode>
                <c:ptCount val="1"/>
                <c:pt idx="0">
                  <c:v>231.903</c:v>
                </c:pt>
              </c:numCache>
            </c:numRef>
          </c:bubbleSize>
          <c:bubble3D val="0"/>
        </c:ser>
        <c:ser>
          <c:idx val="1"/>
          <c:order val="1"/>
          <c:tx>
            <c:strRef>
              <c:strCache>
                <c:ptCount val="1"/>
                <c:pt idx="0">
                  <c:v>Dental Hospitals</c:v>
                </c:pt>
              </c:strCache>
            </c:strRef>
          </c:tx>
          <c:spPr>
            <a:solidFill>
              <a:srgbClr val="9E7E0A"/>
            </a:solidFill>
          </c:spPr>
          <c:invertIfNegative val="0"/>
          <c:xVal>
            <c:numRef>
              <c:numCache>
                <c:formatCode>General</c:formatCode>
                <c:ptCount val="1"/>
                <c:pt idx="0">
                  <c:v>147.09674341200142</c:v>
                </c:pt>
              </c:numCache>
            </c:numRef>
          </c:xVal>
          <c:yVal>
            <c:numRef>
              <c:numCache>
                <c:formatCode>General</c:formatCode>
                <c:ptCount val="1"/>
                <c:pt idx="0">
                  <c:v>27.699608958407396</c:v>
                </c:pt>
              </c:numCache>
            </c:numRef>
          </c:yVal>
          <c:bubbleSize>
            <c:numRef>
              <c:numCache>
                <c:formatCode>General</c:formatCode>
                <c:ptCount val="1"/>
                <c:pt idx="0">
                  <c:v>145.89</c:v>
                </c:pt>
              </c:numCache>
            </c:numRef>
          </c:bubbleSize>
          <c:bubble3D val="0"/>
        </c:ser>
        <c:ser>
          <c:idx val="2"/>
          <c:order val="2"/>
          <c:tx>
            <c:strRef>
              <c:strCache>
                <c:ptCount val="1"/>
                <c:pt idx="0">
                  <c:v>Dental Laboratories</c:v>
                </c:pt>
              </c:strCache>
            </c:strRef>
          </c:tx>
          <c:spPr>
            <a:solidFill>
              <a:srgbClr val="008189"/>
            </a:solidFill>
          </c:spPr>
          <c:invertIfNegative val="0"/>
          <c:xVal>
            <c:numRef>
              <c:numCache>
                <c:formatCode>General</c:formatCode>
                <c:ptCount val="1"/>
                <c:pt idx="0">
                  <c:v>71.57284159060377</c:v>
                </c:pt>
              </c:numCache>
            </c:numRef>
          </c:xVal>
          <c:yVal>
            <c:numRef>
              <c:numCache>
                <c:formatCode>General</c:formatCode>
                <c:ptCount val="1"/>
                <c:pt idx="0">
                  <c:v>174.207607536438</c:v>
                </c:pt>
              </c:numCache>
            </c:numRef>
          </c:yVal>
          <c:bubbleSize>
            <c:numRef>
              <c:numCache>
                <c:formatCode>General</c:formatCode>
                <c:ptCount val="1"/>
                <c:pt idx="0">
                  <c:v>668.197</c:v>
                </c:pt>
              </c:numCache>
            </c:numRef>
          </c:bubbleSize>
          <c:bubble3D val="0"/>
        </c:ser>
        <c:ser>
          <c:idx val="3"/>
          <c:order val="3"/>
          <c:tx>
            <c:strRef>
              <c:strCache>
                <c:ptCount val="1"/>
                <c:pt idx="0">
                  <c:v>Academic &amp; Teaching Dental Institutions</c:v>
                </c:pt>
              </c:strCache>
            </c:strRef>
          </c:tx>
          <c:spPr>
            <a:solidFill>
              <a:srgbClr val="40315E"/>
            </a:solidFill>
          </c:spPr>
          <c:invertIfNegative val="0"/>
          <c:xVal>
            <c:numRef>
              <c:numCache>
                <c:formatCode>General</c:formatCode>
                <c:ptCount val="1"/>
                <c:pt idx="0">
                  <c:v>117.69244923779387</c:v>
                </c:pt>
              </c:numCache>
            </c:numRef>
          </c:xVal>
          <c:yVal>
            <c:numRef>
              <c:numCache>
                <c:formatCode>General</c:formatCode>
                <c:ptCount val="1"/>
                <c:pt idx="0">
                  <c:v>146.9324564521863</c:v>
                </c:pt>
              </c:numCache>
            </c:numRef>
          </c:yVal>
          <c:bubbleSize>
            <c:numRef>
              <c:numCache>
                <c:formatCode>General</c:formatCode>
                <c:ptCount val="1"/>
                <c:pt idx="0">
                  <c:v>684.81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143.914</c:v>
                </c:pt>
                <c:pt idx="2">
                  <c:v>158.152</c:v>
                </c:pt>
                <c:pt idx="3">
                  <c:v>173.88</c:v>
                </c:pt>
                <c:pt idx="4">
                  <c:v>191.276</c:v>
                </c:pt>
                <c:pt idx="5">
                  <c:v>210.539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143.914</c:v>
                </c:pt>
                <c:pt idx="1">
                  <c:v>14.238</c:v>
                </c:pt>
                <c:pt idx="2">
                  <c:v>15.728000000000009</c:v>
                </c:pt>
                <c:pt idx="3">
                  <c:v>17.396000000000015</c:v>
                </c:pt>
                <c:pt idx="4">
                  <c:v>19.262999999999977</c:v>
                </c:pt>
                <c:pt idx="5">
                  <c:v>21.364000000000004</c:v>
                </c:pt>
                <c:pt idx="6">
                  <c:v>231.903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77.919</c:v>
                </c:pt>
                <c:pt idx="2">
                  <c:v>88.054</c:v>
                </c:pt>
                <c:pt idx="3">
                  <c:v>99.651</c:v>
                </c:pt>
                <c:pt idx="4">
                  <c:v>112.952</c:v>
                </c:pt>
                <c:pt idx="5">
                  <c:v>128.249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77.919</c:v>
                </c:pt>
                <c:pt idx="1">
                  <c:v>10.135000000000005</c:v>
                </c:pt>
                <c:pt idx="2">
                  <c:v>11.596999999999994</c:v>
                </c:pt>
                <c:pt idx="3">
                  <c:v>13.301000000000002</c:v>
                </c:pt>
                <c:pt idx="4">
                  <c:v>15.296999999999997</c:v>
                </c:pt>
                <c:pt idx="5">
                  <c:v>17.64099999999999</c:v>
                </c:pt>
                <c:pt idx="6">
                  <c:v>145.89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490.046</c:v>
                </c:pt>
                <c:pt idx="2">
                  <c:v>523.856</c:v>
                </c:pt>
                <c:pt idx="3">
                  <c:v>558.885</c:v>
                </c:pt>
                <c:pt idx="4">
                  <c:v>594.888</c:v>
                </c:pt>
                <c:pt idx="5">
                  <c:v>631.486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490.046</c:v>
                </c:pt>
                <c:pt idx="1">
                  <c:v>33.81</c:v>
                </c:pt>
                <c:pt idx="2">
                  <c:v>35.028999999999996</c:v>
                </c:pt>
                <c:pt idx="3">
                  <c:v>36.00300000000004</c:v>
                </c:pt>
                <c:pt idx="4">
                  <c:v>36.597999999999956</c:v>
                </c:pt>
                <c:pt idx="5">
                  <c:v>36.71100000000001</c:v>
                </c:pt>
                <c:pt idx="6">
                  <c:v>668.197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413.321</c:v>
                </c:pt>
                <c:pt idx="2">
                  <c:v>456.341</c:v>
                </c:pt>
                <c:pt idx="3">
                  <c:v>504.292</c:v>
                </c:pt>
                <c:pt idx="4">
                  <c:v>557.818</c:v>
                </c:pt>
                <c:pt idx="5">
                  <c:v>617.7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413.321</c:v>
                </c:pt>
                <c:pt idx="1">
                  <c:v>43.01999999999998</c:v>
                </c:pt>
                <c:pt idx="2">
                  <c:v>47.950999999999965</c:v>
                </c:pt>
                <c:pt idx="3">
                  <c:v>53.52600000000001</c:v>
                </c:pt>
                <c:pt idx="4">
                  <c:v>59.88200000000006</c:v>
                </c:pt>
                <c:pt idx="5">
                  <c:v>67.1099999999999</c:v>
                </c:pt>
                <c:pt idx="6">
                  <c:v>684.81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Academic &amp; Teaching Dental Institutions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35.687432490439186</c:v>
                </c:pt>
                <c:pt idx="1">
                  <c:v>36.733114113046575</c:v>
                </c:pt>
                <c:pt idx="2">
                  <c:v>39.56609660272706</c:v>
                </c:pt>
              </c:numCache>
            </c:numRef>
          </c:val>
        </c:ser>
        <c:ser>
          <c:idx val="1"/>
          <c:order val="1"/>
          <c:tx>
            <c:strRef>
              <c:strCache>
                <c:ptCount val="1"/>
                <c:pt idx="0">
                  <c:v>Laboratories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45.396050683934696</c:v>
                </c:pt>
                <c:pt idx="1">
                  <c:v>43.55190188410949</c:v>
                </c:pt>
                <c:pt idx="2">
                  <c:v>38.60625144441877</c:v>
                </c:pt>
              </c:numCache>
            </c:numRef>
          </c:val>
        </c:ser>
        <c:ser>
          <c:idx val="2"/>
          <c:order val="2"/>
          <c:tx>
            <c:strRef>
              <c:strCache>
                <c:ptCount val="1"/>
                <c:pt idx="0">
                  <c:v>Clinics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12.553129145857412</c:v>
                </c:pt>
                <c:pt idx="1">
                  <c:v>12.790081763242089</c:v>
                </c:pt>
                <c:pt idx="2">
                  <c:v>13.39860180263462</c:v>
                </c:pt>
              </c:numCache>
            </c:numRef>
          </c:val>
        </c:ser>
        <c:ser>
          <c:idx val="3"/>
          <c:order val="3"/>
          <c:tx>
            <c:strRef>
              <c:strCache>
                <c:ptCount val="1"/>
                <c:pt idx="0">
                  <c:v>Hospitals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6.363387679768702</c:v>
                </c:pt>
                <c:pt idx="1">
                  <c:v>6.924902239601847</c:v>
                </c:pt>
                <c:pt idx="2">
                  <c:v>8.42905015021955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Sales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39.35135766228567</c:v>
                </c:pt>
                <c:pt idx="1">
                  <c:v>39.559996664535674</c:v>
                </c:pt>
                <c:pt idx="2">
                  <c:v>38.19343189256293</c:v>
                </c:pt>
                <c:pt idx="3">
                  <c:v>40.93617698974107</c:v>
                </c:pt>
                <c:pt idx="4">
                  <c:v>40.74929919697762</c:v>
                </c:pt>
                <c:pt idx="5">
                  <c:v>35.94086714194367</c:v>
                </c:pt>
              </c:numCache>
            </c:numRef>
          </c:val>
        </c:ser>
        <c:ser>
          <c:idx val="1"/>
          <c:order val="1"/>
          <c:tx>
            <c:strRef>
              <c:strCache>
                <c:ptCount val="1"/>
                <c:pt idx="0">
                  <c:v>Dental Dealers &amp; Distributors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52.01731269597706</c:v>
                </c:pt>
                <c:pt idx="1">
                  <c:v>50.544792506323475</c:v>
                </c:pt>
                <c:pt idx="2">
                  <c:v>54.16589549712223</c:v>
                </c:pt>
                <c:pt idx="3">
                  <c:v>49.750273173278124</c:v>
                </c:pt>
                <c:pt idx="4">
                  <c:v>50.188192604282925</c:v>
                </c:pt>
                <c:pt idx="5">
                  <c:v>56.04603888109485</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8.631329641737274</c:v>
                </c:pt>
                <c:pt idx="1">
                  <c:v>9.89521082914084</c:v>
                </c:pt>
                <c:pt idx="2">
                  <c:v>7.640672610314862</c:v>
                </c:pt>
                <c:pt idx="3">
                  <c:v>9.313549836980805</c:v>
                </c:pt>
                <c:pt idx="4">
                  <c:v>9.062508198739465</c:v>
                </c:pt>
                <c:pt idx="5">
                  <c:v>8.013093976961473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Sales</c:v>
                </c:pt>
              </c:strCache>
            </c:strRef>
          </c:tx>
          <c:spPr>
            <a:solidFill>
              <a:srgbClr val="3D85C6"/>
            </a:solidFill>
          </c:spPr>
          <c:invertIfNegative val="0"/>
          <c:xVal>
            <c:numRef>
              <c:numCache>
                <c:formatCode>General</c:formatCode>
                <c:ptCount val="1"/>
                <c:pt idx="0">
                  <c:v>194.67212285775867</c:v>
                </c:pt>
              </c:numCache>
            </c:numRef>
          </c:xVal>
          <c:yVal>
            <c:numRef>
              <c:numCache>
                <c:formatCode>General</c:formatCode>
                <c:ptCount val="1"/>
                <c:pt idx="0">
                  <c:v>78.69987557767509</c:v>
                </c:pt>
              </c:numCache>
            </c:numRef>
          </c:yVal>
          <c:bubbleSize>
            <c:numRef>
              <c:numCache>
                <c:formatCode>General</c:formatCode>
                <c:ptCount val="1"/>
                <c:pt idx="0">
                  <c:v>671.47</c:v>
                </c:pt>
              </c:numCache>
            </c:numRef>
          </c:bubbleSize>
          <c:bubble3D val="0"/>
        </c:ser>
        <c:ser>
          <c:idx val="1"/>
          <c:order val="1"/>
          <c:tx>
            <c:strRef>
              <c:strCache>
                <c:ptCount val="1"/>
                <c:pt idx="0">
                  <c:v>Dental Dealers &amp; Distributors</c:v>
                </c:pt>
              </c:strCache>
            </c:strRef>
          </c:tx>
          <c:spPr>
            <a:solidFill>
              <a:srgbClr val="9E7E0A"/>
            </a:solidFill>
          </c:spPr>
          <c:invertIfNegative val="0"/>
          <c:xVal>
            <c:numRef>
              <c:numCache>
                <c:formatCode>General</c:formatCode>
                <c:ptCount val="1"/>
                <c:pt idx="0">
                  <c:v>56.19359954308071</c:v>
                </c:pt>
              </c:numCache>
            </c:numRef>
          </c:xVal>
          <c:yVal>
            <c:numRef>
              <c:numCache>
                <c:formatCode>General</c:formatCode>
                <c:ptCount val="1"/>
                <c:pt idx="0">
                  <c:v>190.01688588695342</c:v>
                </c:pt>
              </c:numCache>
            </c:numRef>
          </c:yVal>
          <c:bubbleSize>
            <c:numRef>
              <c:numCache>
                <c:formatCode>General</c:formatCode>
                <c:ptCount val="1"/>
                <c:pt idx="0">
                  <c:v>909.875</c:v>
                </c:pt>
              </c:numCache>
            </c:numRef>
          </c:bubbleSize>
          <c:bubble3D val="0"/>
        </c:ser>
        <c:ser>
          <c:idx val="2"/>
          <c:order val="2"/>
          <c:tx>
            <c:strRef>
              <c:strCache>
                <c:ptCount val="1"/>
                <c:pt idx="0">
                  <c:v>Online Dental Supply Channels</c:v>
                </c:pt>
              </c:strCache>
            </c:strRef>
          </c:tx>
          <c:spPr>
            <a:solidFill>
              <a:srgbClr val="008189"/>
            </a:solidFill>
          </c:spPr>
          <c:invertIfNegative val="0"/>
          <c:xVal>
            <c:numRef>
              <c:numCache>
                <c:formatCode>General</c:formatCode>
                <c:ptCount val="1"/>
                <c:pt idx="0">
                  <c:v>55.662377880120474</c:v>
                </c:pt>
              </c:numCache>
            </c:numRef>
          </c:xVal>
          <c:yVal>
            <c:numRef>
              <c:numCache>
                <c:formatCode>General</c:formatCode>
                <c:ptCount val="1"/>
                <c:pt idx="0">
                  <c:v>31.283238535371495</c:v>
                </c:pt>
              </c:numCache>
            </c:numRef>
          </c:yVal>
          <c:bubbleSize>
            <c:numRef>
              <c:numCache>
                <c:formatCode>General</c:formatCode>
                <c:ptCount val="1"/>
                <c:pt idx="0">
                  <c:v>149.455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3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295.177</c:v>
                </c:pt>
                <c:pt idx="2">
                  <c:v>348.923</c:v>
                </c:pt>
                <c:pt idx="3">
                  <c:v>411.744</c:v>
                </c:pt>
                <c:pt idx="4">
                  <c:v>485.187</c:v>
                </c:pt>
                <c:pt idx="5">
                  <c:v>571.048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295.177</c:v>
                </c:pt>
                <c:pt idx="1">
                  <c:v>53.74599999999998</c:v>
                </c:pt>
                <c:pt idx="2">
                  <c:v>62.821000000000026</c:v>
                </c:pt>
                <c:pt idx="3">
                  <c:v>73.44299999999998</c:v>
                </c:pt>
                <c:pt idx="4">
                  <c:v>85.86099999999999</c:v>
                </c:pt>
                <c:pt idx="5">
                  <c:v>100.42200000000003</c:v>
                </c:pt>
                <c:pt idx="6">
                  <c:v>671.47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712.69</c:v>
                </c:pt>
                <c:pt idx="2">
                  <c:v>753.423</c:v>
                </c:pt>
                <c:pt idx="3">
                  <c:v>794.209</c:v>
                </c:pt>
                <c:pt idx="4">
                  <c:v>834.423</c:v>
                </c:pt>
                <c:pt idx="5">
                  <c:v>873.311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712.69</c:v>
                </c:pt>
                <c:pt idx="1">
                  <c:v>40.73299999999995</c:v>
                </c:pt>
                <c:pt idx="2">
                  <c:v>40.785999999999945</c:v>
                </c:pt>
                <c:pt idx="3">
                  <c:v>40.214000000000055</c:v>
                </c:pt>
                <c:pt idx="4">
                  <c:v>38.888000000000034</c:v>
                </c:pt>
                <c:pt idx="5">
                  <c:v>36.563999999999965</c:v>
                </c:pt>
                <c:pt idx="6">
                  <c:v>909.875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117.333</c:v>
                </c:pt>
                <c:pt idx="2">
                  <c:v>124.057</c:v>
                </c:pt>
                <c:pt idx="3">
                  <c:v>130.755</c:v>
                </c:pt>
                <c:pt idx="4">
                  <c:v>137.324</c:v>
                </c:pt>
                <c:pt idx="5">
                  <c:v>143.615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117.333</c:v>
                </c:pt>
                <c:pt idx="1">
                  <c:v>6.724000000000004</c:v>
                </c:pt>
                <c:pt idx="2">
                  <c:v>6.697999999999993</c:v>
                </c:pt>
                <c:pt idx="3">
                  <c:v>6.569000000000017</c:v>
                </c:pt>
                <c:pt idx="4">
                  <c:v>6.290999999999997</c:v>
                </c:pt>
                <c:pt idx="5">
                  <c:v>5.840000000000003</c:v>
                </c:pt>
                <c:pt idx="6">
                  <c:v>149.455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Dental Dealers &amp; Distributors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67.6625554537994</c:v>
                </c:pt>
                <c:pt idx="1">
                  <c:v>63.33896196231781</c:v>
                </c:pt>
                <c:pt idx="2">
                  <c:v>52.56962098451583</c:v>
                </c:pt>
              </c:numCache>
            </c:numRef>
          </c:val>
        </c:ser>
        <c:ser>
          <c:idx val="1"/>
          <c:order val="1"/>
          <c:tx>
            <c:strRef>
              <c:strCache>
                <c:ptCount val="1"/>
                <c:pt idx="0">
                  <c:v>Direct Sales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21.210355196249417</c:v>
                </c:pt>
                <c:pt idx="1">
                  <c:v>26.233291859225027</c:v>
                </c:pt>
                <c:pt idx="2">
                  <c:v>38.79535474924891</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11.127089349951182</c:v>
                </c:pt>
                <c:pt idx="1">
                  <c:v>10.427746178457163</c:v>
                </c:pt>
                <c:pt idx="2">
                  <c:v>8.635024266235268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Adults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33.99576355994396</c:v>
                </c:pt>
                <c:pt idx="1">
                  <c:v>31.481919003807988</c:v>
                </c:pt>
                <c:pt idx="2">
                  <c:v>29.814242184854983</c:v>
                </c:pt>
                <c:pt idx="3">
                  <c:v>32.92899264312289</c:v>
                </c:pt>
                <c:pt idx="4">
                  <c:v>35.04398560654527</c:v>
                </c:pt>
                <c:pt idx="5">
                  <c:v>31.131980034548253</c:v>
                </c:pt>
              </c:numCache>
            </c:numRef>
          </c:val>
        </c:ser>
        <c:ser>
          <c:idx val="1"/>
          <c:order val="1"/>
          <c:tx>
            <c:strRef>
              <c:strCache>
                <c:ptCount val="1"/>
                <c:pt idx="0">
                  <c:v>Geriatric Patients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66.00423644005605</c:v>
                </c:pt>
                <c:pt idx="1">
                  <c:v>68.51808099619201</c:v>
                </c:pt>
                <c:pt idx="2">
                  <c:v>70.18575781514501</c:v>
                </c:pt>
                <c:pt idx="3">
                  <c:v>67.0710073568771</c:v>
                </c:pt>
                <c:pt idx="4">
                  <c:v>64.95601439345474</c:v>
                </c:pt>
                <c:pt idx="5">
                  <c:v>68.86801996545175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Adults</c:v>
                </c:pt>
              </c:strCache>
            </c:strRef>
          </c:tx>
          <c:spPr>
            <a:solidFill>
              <a:srgbClr val="3D85C6"/>
            </a:solidFill>
          </c:spPr>
          <c:invertIfNegative val="0"/>
          <c:xVal>
            <c:numRef>
              <c:numCache>
                <c:formatCode>General</c:formatCode>
                <c:ptCount val="1"/>
                <c:pt idx="0">
                  <c:v>96.1986271163346</c:v>
                </c:pt>
              </c:numCache>
            </c:numRef>
          </c:xVal>
          <c:yVal>
            <c:numRef>
              <c:numCache>
                <c:formatCode>General</c:formatCode>
                <c:ptCount val="1"/>
                <c:pt idx="0">
                  <c:v>66.14308567365802</c:v>
                </c:pt>
              </c:numCache>
            </c:numRef>
          </c:yVal>
          <c:bubbleSize>
            <c:numRef>
              <c:numCache>
                <c:formatCode>General</c:formatCode>
                <c:ptCount val="1"/>
                <c:pt idx="0">
                  <c:v>563.297</c:v>
                </c:pt>
              </c:numCache>
            </c:numRef>
          </c:bubbleSize>
          <c:bubble3D val="0"/>
        </c:ser>
        <c:ser>
          <c:idx val="1"/>
          <c:order val="1"/>
          <c:tx>
            <c:strRef>
              <c:strCache>
                <c:ptCount val="1"/>
                <c:pt idx="0">
                  <c:v>Geriatric Patients</c:v>
                </c:pt>
              </c:strCache>
            </c:strRef>
          </c:tx>
          <c:spPr>
            <a:solidFill>
              <a:srgbClr val="9E7E0A"/>
            </a:solidFill>
          </c:spPr>
          <c:invertIfNegative val="0"/>
          <c:xVal>
            <c:numRef>
              <c:numCache>
                <c:formatCode>General</c:formatCode>
                <c:ptCount val="1"/>
                <c:pt idx="0">
                  <c:v>101.85833381054444</c:v>
                </c:pt>
              </c:numCache>
            </c:numRef>
          </c:xVal>
          <c:yVal>
            <c:numRef>
              <c:numCache>
                <c:formatCode>General</c:formatCode>
                <c:ptCount val="1"/>
                <c:pt idx="0">
                  <c:v>133.85691432634198</c:v>
                </c:pt>
              </c:numCache>
            </c:numRef>
          </c:yVal>
          <c:bubbleSize>
            <c:numRef>
              <c:numCache>
                <c:formatCode>General</c:formatCode>
                <c:ptCount val="1"/>
                <c:pt idx="0">
                  <c:v>1167.503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372.121</c:v>
                </c:pt>
                <c:pt idx="2">
                  <c:v>404.572</c:v>
                </c:pt>
                <c:pt idx="3">
                  <c:v>439.72</c:v>
                </c:pt>
                <c:pt idx="4">
                  <c:v>477.761</c:v>
                </c:pt>
                <c:pt idx="5">
                  <c:v>518.888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372.121</c:v>
                </c:pt>
                <c:pt idx="1">
                  <c:v>32.45100000000002</c:v>
                </c:pt>
                <c:pt idx="2">
                  <c:v>35.148000000000025</c:v>
                </c:pt>
                <c:pt idx="3">
                  <c:v>38.041</c:v>
                </c:pt>
                <c:pt idx="4">
                  <c:v>41.12700000000001</c:v>
                </c:pt>
                <c:pt idx="5">
                  <c:v>44.40899999999999</c:v>
                </c:pt>
                <c:pt idx="6">
                  <c:v>563.297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753.079</c:v>
                </c:pt>
                <c:pt idx="2">
                  <c:v>821.831</c:v>
                </c:pt>
                <c:pt idx="3">
                  <c:v>896.988</c:v>
                </c:pt>
                <c:pt idx="4">
                  <c:v>979.173</c:v>
                </c:pt>
                <c:pt idx="5">
                  <c:v>1069.086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753.079</c:v>
                </c:pt>
                <c:pt idx="1">
                  <c:v>68.75200000000007</c:v>
                </c:pt>
                <c:pt idx="2">
                  <c:v>75.15700000000004</c:v>
                </c:pt>
                <c:pt idx="3">
                  <c:v>82.18499999999995</c:v>
                </c:pt>
                <c:pt idx="4">
                  <c:v>89.91300000000001</c:v>
                </c:pt>
                <c:pt idx="5">
                  <c:v>98.41699999999992</c:v>
                </c:pt>
                <c:pt idx="6">
                  <c:v>1167.503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Geriatric Patients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66.7562649413052</c:v>
                </c:pt>
                <c:pt idx="1">
                  <c:v>66.92845716317099</c:v>
                </c:pt>
                <c:pt idx="2">
                  <c:v>67.45452969724982</c:v>
                </c:pt>
              </c:numCache>
            </c:numRef>
          </c:val>
        </c:ser>
        <c:ser>
          <c:idx val="1"/>
          <c:order val="1"/>
          <c:tx>
            <c:strRef>
              <c:strCache>
                <c:ptCount val="1"/>
                <c:pt idx="0">
                  <c:v>Adults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33.2437350586948</c:v>
                </c:pt>
                <c:pt idx="1">
                  <c:v>33.07154283682901</c:v>
                </c:pt>
                <c:pt idx="2">
                  <c:v>32.545470302750175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30.064915673615655</c:v>
                </c:pt>
                <c:pt idx="1">
                  <c:v>30.06533856610642</c:v>
                </c:pt>
                <c:pt idx="2">
                  <c:v>30.06533856610642</c:v>
                </c:pt>
                <c:pt idx="3">
                  <c:v>30.06533856610642</c:v>
                </c:pt>
              </c:numCache>
            </c:numRef>
          </c:val>
        </c:ser>
        <c:ser>
          <c:idx val="1"/>
          <c:order val="1"/>
          <c:tx>
            <c:strRef>
              <c:strCache>
                <c:ptCount val="1"/>
                <c:pt idx="0">
                  <c:v>High-performance Polymers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29.68843320724666</c:v>
                </c:pt>
                <c:pt idx="1">
                  <c:v>29.6902994625032</c:v>
                </c:pt>
                <c:pt idx="2">
                  <c:v>29.6902994625032</c:v>
                </c:pt>
                <c:pt idx="3">
                  <c:v>29.6902994625032</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23.268322857711667</c:v>
                </c:pt>
                <c:pt idx="1">
                  <c:v>23.266999402781334</c:v>
                </c:pt>
                <c:pt idx="2">
                  <c:v>23.266999402781334</c:v>
                </c:pt>
                <c:pt idx="3">
                  <c:v>23.266999402781334</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16.97832826142601</c:v>
                </c:pt>
                <c:pt idx="1">
                  <c:v>16.97736256860905</c:v>
                </c:pt>
                <c:pt idx="2">
                  <c:v>16.97736256860905</c:v>
                </c:pt>
                <c:pt idx="3">
                  <c:v>16.97736256860905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51.094324867141815</c:v>
                </c:pt>
                <c:pt idx="1">
                  <c:v>51.09546916937735</c:v>
                </c:pt>
                <c:pt idx="2">
                  <c:v>51.09546916937735</c:v>
                </c:pt>
                <c:pt idx="3">
                  <c:v>51.09546916937735</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48.90567513285819</c:v>
                </c:pt>
                <c:pt idx="1">
                  <c:v>48.904530830622654</c:v>
                </c:pt>
                <c:pt idx="2">
                  <c:v>48.904530830622654</c:v>
                </c:pt>
                <c:pt idx="3">
                  <c:v>48.904530830622654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2.4423732363597184</c:v>
                </c:pt>
                <c:pt idx="1">
                  <c:v>2.775158745701667</c:v>
                </c:pt>
                <c:pt idx="2">
                  <c:v>2.664110298075917</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63209544326200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751804.094</c:v>
                </c:pt>
                <c:pt idx="2">
                  <c:v>0.0</c:v>
                </c:pt>
                <c:pt idx="3">
                  <c:v>848208.932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751804.094</c:v>
                </c:pt>
                <c:pt idx="1">
                  <c:v>96404.83799999999</c:v>
                </c:pt>
                <c:pt idx="2">
                  <c:v>848208.932</c:v>
                </c:pt>
                <c:pt idx="3">
                  <c:v>267072.3259999999</c:v>
                </c:pt>
                <c:pt idx="4">
                  <c:v>1115281.258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3.1674166443515617</c:v>
                </c:pt>
                <c:pt idx="1">
                  <c:v>3.5025114673608027</c:v>
                </c:pt>
                <c:pt idx="2">
                  <c:v>3.390692432729714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623315136916259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317.71</c:v>
                </c:pt>
                <c:pt idx="2">
                  <c:v>0.0</c:v>
                </c:pt>
                <c:pt idx="3">
                  <c:v>371.31600000000003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317.71</c:v>
                </c:pt>
                <c:pt idx="1">
                  <c:v>53.60600000000005</c:v>
                </c:pt>
                <c:pt idx="2">
                  <c:v>371.31600000000003</c:v>
                </c:pt>
                <c:pt idx="3">
                  <c:v>152.58899999999994</c:v>
                </c:pt>
                <c:pt idx="4">
                  <c:v>523.905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317.71</c:v>
                </c:pt>
                <c:pt idx="1">
                  <c:v>326.573</c:v>
                </c:pt>
                <c:pt idx="2">
                  <c:v>336.29999999999995</c:v>
                </c:pt>
                <c:pt idx="3">
                  <c:v>346.95399999999995</c:v>
                </c:pt>
                <c:pt idx="4">
                  <c:v>358.6089999999999</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751804.094</c:v>
                </c:pt>
                <c:pt idx="1">
                  <c:v>767343.531</c:v>
                </c:pt>
                <c:pt idx="2">
                  <c:v>784651.617</c:v>
                </c:pt>
                <c:pt idx="3">
                  <c:v>803819.262</c:v>
                </c:pt>
                <c:pt idx="4">
                  <c:v>824971.956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23"/>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137874"/>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371.31600000000003</c:v>
                </c:pt>
                <c:pt idx="1">
                  <c:v>384.476</c:v>
                </c:pt>
                <c:pt idx="2">
                  <c:v>398.068</c:v>
                </c:pt>
                <c:pt idx="3">
                  <c:v>412.101</c:v>
                </c:pt>
                <c:pt idx="4">
                  <c:v>426.59400000000005</c:v>
                </c:pt>
                <c:pt idx="5">
                  <c:v>441.55600000000004</c:v>
                </c:pt>
                <c:pt idx="6">
                  <c:v>457.002</c:v>
                </c:pt>
                <c:pt idx="7">
                  <c:v>472.94399999999996</c:v>
                </c:pt>
                <c:pt idx="8">
                  <c:v>489.4</c:v>
                </c:pt>
                <c:pt idx="9">
                  <c:v>506.381</c:v>
                </c:pt>
                <c:pt idx="10">
                  <c:v>523.905</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848208.932</c:v>
                </c:pt>
                <c:pt idx="1">
                  <c:v>872100.564</c:v>
                </c:pt>
                <c:pt idx="2">
                  <c:v>896584.9110000001</c:v>
                </c:pt>
                <c:pt idx="3">
                  <c:v>921675.372</c:v>
                </c:pt>
                <c:pt idx="4">
                  <c:v>947382.782</c:v>
                </c:pt>
                <c:pt idx="5">
                  <c:v>973717.2150000001</c:v>
                </c:pt>
                <c:pt idx="6">
                  <c:v>1000698.3180000001</c:v>
                </c:pt>
                <c:pt idx="7">
                  <c:v>1028327.183</c:v>
                </c:pt>
                <c:pt idx="8">
                  <c:v>1056627.369</c:v>
                </c:pt>
                <c:pt idx="9">
                  <c:v>1085609.2519999999</c:v>
                </c:pt>
                <c:pt idx="10">
                  <c:v>1115281.258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18"/>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04764"/>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93.46014725517603</c:v>
                </c:pt>
                <c:pt idx="1">
                  <c:v>114.06416316681829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36.25031948567722</c:v>
                </c:pt>
                <c:pt idx="1">
                  <c:v>63.74968051432279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129.351</c:v>
                </c:pt>
                <c:pt idx="1">
                  <c:v>86.539</c:v>
                </c:pt>
                <c:pt idx="2">
                  <c:v>164.2</c:v>
                </c:pt>
                <c:pt idx="3">
                  <c:v>143.815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0.04021327315999948</c:v>
                </c:pt>
                <c:pt idx="1">
                  <c:v>0.04071271972369234</c:v>
                </c:pt>
                <c:pt idx="2">
                  <c:v>0.041460143252575354</c:v>
                </c:pt>
                <c:pt idx="3">
                  <c:v>0.041956097182955676</c:v>
                </c:pt>
                <c:pt idx="4">
                  <c:v>0.04248697744646137</c:v>
                </c:pt>
                <c:pt idx="5">
                  <c:v>0.0436360538062862</c:v>
                </c:pt>
                <c:pt idx="6">
                  <c:v>0.044421896301607124</c:v>
                </c:pt>
                <c:pt idx="7">
                  <c:v>0.04554303159493166</c:v>
                </c:pt>
                <c:pt idx="8">
                  <c:v>0.046723541654569316</c:v>
                </c:pt>
                <c:pt idx="9">
                  <c:v>0.047216002951637095</c:v>
                </c:pt>
                <c:pt idx="10">
                  <c:v>0.047771331648330556</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0.03694746601946209</c:v>
                </c:pt>
                <c:pt idx="1">
                  <c:v>0.03806505981192823</c:v>
                </c:pt>
                <c:pt idx="2">
                  <c:v>0.03875814123361266</c:v>
                </c:pt>
                <c:pt idx="3">
                  <c:v>0.03833362886283095</c:v>
                </c:pt>
                <c:pt idx="4">
                  <c:v>0.03692147546614892</c:v>
                </c:pt>
                <c:pt idx="5">
                  <c:v>0.03511946376976941</c:v>
                </c:pt>
                <c:pt idx="6">
                  <c:v>0.03381127258634005</c:v>
                </c:pt>
                <c:pt idx="7">
                  <c:v>0.03272833286495813</c:v>
                </c:pt>
                <c:pt idx="8">
                  <c:v>0.032225848834236924</c:v>
                </c:pt>
                <c:pt idx="9">
                  <c:v>0.031688710732431485</c:v>
                </c:pt>
                <c:pt idx="10">
                  <c:v>0.03112558207731289</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0.023189472728295357</c:v>
                </c:pt>
                <c:pt idx="1">
                  <c:v>0.023632404715748623</c:v>
                </c:pt>
                <c:pt idx="2">
                  <c:v>0.024340424786601957</c:v>
                </c:pt>
                <c:pt idx="3">
                  <c:v>0.02482697886372865</c:v>
                </c:pt>
                <c:pt idx="4">
                  <c:v>0.025326955122293326</c:v>
                </c:pt>
                <c:pt idx="5">
                  <c:v>0.025823575835498505</c:v>
                </c:pt>
                <c:pt idx="6">
                  <c:v>0.0266154845403392</c:v>
                </c:pt>
                <c:pt idx="7">
                  <c:v>0.02769261460073692</c:v>
                </c:pt>
                <c:pt idx="8">
                  <c:v>0.028222790767537045</c:v>
                </c:pt>
                <c:pt idx="9">
                  <c:v>0.029380453916562632</c:v>
                </c:pt>
                <c:pt idx="10">
                  <c:v>0.030239473528593214</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70.02305547520454</c:v>
                </c:pt>
                <c:pt idx="1">
                  <c:v>68.54136142938752</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29.976944524795456</c:v>
                </c:pt>
                <c:pt idx="1">
                  <c:v>31.458638570612475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68.93589287830311</c:v>
                </c:pt>
                <c:pt idx="1">
                  <c:v>67.42539200809307</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31.064107121696882</c:v>
                </c:pt>
                <c:pt idx="1">
                  <c:v>32.57460799190693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531933.838</c:v>
                </c:pt>
                <c:pt idx="1">
                  <c:v>541812.842</c:v>
                </c:pt>
                <c:pt idx="2">
                  <c:v>552889.6</c:v>
                </c:pt>
                <c:pt idx="3">
                  <c:v>565220.095</c:v>
                </c:pt>
                <c:pt idx="4">
                  <c:v>578883.998</c:v>
                </c:pt>
                <c:pt idx="5">
                  <c:v>593941.811</c:v>
                </c:pt>
                <c:pt idx="6">
                  <c:v>609394.995</c:v>
                </c:pt>
                <c:pt idx="7">
                  <c:v>625187.905</c:v>
                </c:pt>
                <c:pt idx="8">
                  <c:v>641326.973</c:v>
                </c:pt>
                <c:pt idx="9">
                  <c:v>657816.761</c:v>
                </c:pt>
                <c:pt idx="10">
                  <c:v>674661.227</c:v>
                </c:pt>
                <c:pt idx="11">
                  <c:v>691870.873</c:v>
                </c:pt>
                <c:pt idx="12">
                  <c:v>709443.274</c:v>
                </c:pt>
                <c:pt idx="13">
                  <c:v>727391.45</c:v>
                </c:pt>
                <c:pt idx="14">
                  <c:v>745719.212</c:v>
                </c:pt>
                <c:pt idx="15">
                  <c:v>764428.958</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219870.256</c:v>
                </c:pt>
                <c:pt idx="1">
                  <c:v>225530.689</c:v>
                </c:pt>
                <c:pt idx="2">
                  <c:v>231762.017</c:v>
                </c:pt>
                <c:pt idx="3">
                  <c:v>238599.167</c:v>
                </c:pt>
                <c:pt idx="4">
                  <c:v>246087.958</c:v>
                </c:pt>
                <c:pt idx="5">
                  <c:v>254267.121</c:v>
                </c:pt>
                <c:pt idx="6">
                  <c:v>262705.569</c:v>
                </c:pt>
                <c:pt idx="7">
                  <c:v>271397.006</c:v>
                </c:pt>
                <c:pt idx="8">
                  <c:v>280348.399</c:v>
                </c:pt>
                <c:pt idx="9">
                  <c:v>289566.021</c:v>
                </c:pt>
                <c:pt idx="10">
                  <c:v>299055.988</c:v>
                </c:pt>
                <c:pt idx="11">
                  <c:v>308827.445</c:v>
                </c:pt>
                <c:pt idx="12">
                  <c:v>318883.909</c:v>
                </c:pt>
                <c:pt idx="13">
                  <c:v>329235.919</c:v>
                </c:pt>
                <c:pt idx="14">
                  <c:v>339890.04</c:v>
                </c:pt>
                <c:pt idx="15">
                  <c:v>350852.3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221.386</c:v>
                </c:pt>
                <c:pt idx="1">
                  <c:v>227.078</c:v>
                </c:pt>
                <c:pt idx="2">
                  <c:v>233.34</c:v>
                </c:pt>
                <c:pt idx="3">
                  <c:v>240.215</c:v>
                </c:pt>
                <c:pt idx="4">
                  <c:v>247.749</c:v>
                </c:pt>
                <c:pt idx="5">
                  <c:v>255.97</c:v>
                </c:pt>
                <c:pt idx="6">
                  <c:v>264.468</c:v>
                </c:pt>
                <c:pt idx="7">
                  <c:v>273.221</c:v>
                </c:pt>
                <c:pt idx="8">
                  <c:v>282.234</c:v>
                </c:pt>
                <c:pt idx="9">
                  <c:v>291.518</c:v>
                </c:pt>
                <c:pt idx="10">
                  <c:v>301.076</c:v>
                </c:pt>
                <c:pt idx="11">
                  <c:v>310.917</c:v>
                </c:pt>
                <c:pt idx="12">
                  <c:v>321.046</c:v>
                </c:pt>
                <c:pt idx="13">
                  <c:v>331.473</c:v>
                </c:pt>
                <c:pt idx="14">
                  <c:v>342.202</c:v>
                </c:pt>
                <c:pt idx="15">
                  <c:v>353.245</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96.324</c:v>
                </c:pt>
                <c:pt idx="1">
                  <c:v>99.495</c:v>
                </c:pt>
                <c:pt idx="2">
                  <c:v>102.96</c:v>
                </c:pt>
                <c:pt idx="3">
                  <c:v>106.739</c:v>
                </c:pt>
                <c:pt idx="4">
                  <c:v>110.86</c:v>
                </c:pt>
                <c:pt idx="5">
                  <c:v>115.346</c:v>
                </c:pt>
                <c:pt idx="6">
                  <c:v>120.008</c:v>
                </c:pt>
                <c:pt idx="7">
                  <c:v>124.847</c:v>
                </c:pt>
                <c:pt idx="8">
                  <c:v>129.867</c:v>
                </c:pt>
                <c:pt idx="9">
                  <c:v>135.076</c:v>
                </c:pt>
                <c:pt idx="10">
                  <c:v>140.48</c:v>
                </c:pt>
                <c:pt idx="11">
                  <c:v>146.085</c:v>
                </c:pt>
                <c:pt idx="12">
                  <c:v>151.898</c:v>
                </c:pt>
                <c:pt idx="13">
                  <c:v>157.927</c:v>
                </c:pt>
                <c:pt idx="14">
                  <c:v>164.179</c:v>
                </c:pt>
                <c:pt idx="15">
                  <c:v>170.66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Cast Metal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27.844251728583146</c:v>
                </c:pt>
                <c:pt idx="1">
                  <c:v>23.165791447861963</c:v>
                </c:pt>
              </c:numCache>
            </c:numRef>
          </c:val>
        </c:ser>
        <c:ser>
          <c:idx val="1"/>
          <c:order val="1"/>
          <c:tx>
            <c:strRef>
              <c:strCache>
                <c:ptCount val="1"/>
                <c:pt idx="0">
                  <c:v>Acrylic Partial Dentures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17.463377475682645</c:v>
                </c:pt>
                <c:pt idx="1">
                  <c:v>16.061373834024543</c:v>
                </c:pt>
              </c:numCache>
            </c:numRef>
          </c:val>
        </c:ser>
        <c:ser>
          <c:idx val="2"/>
          <c:order val="2"/>
          <c:tx>
            <c:strRef>
              <c:strCache>
                <c:ptCount val="1"/>
                <c:pt idx="0">
                  <c:v>Flexible Partial Dentures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29.257588187038557</c:v>
                </c:pt>
                <c:pt idx="1">
                  <c:v>32.348370111395774</c:v>
                </c:pt>
              </c:numCache>
            </c:numRef>
          </c:val>
        </c:ser>
        <c:ser>
          <c:idx val="3"/>
          <c:order val="3"/>
          <c:tx>
            <c:strRef>
              <c:strCache>
                <c:ptCount val="1"/>
                <c:pt idx="0">
                  <c:v>Combination Framework Partial Dentures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25.43478260869565</c:v>
                </c:pt>
                <c:pt idx="1">
                  <c:v>28.42446460671772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Cast Metal Partial Dentures</c:v>
                </c:pt>
              </c:strCache>
            </c:strRef>
          </c:tx>
          <c:spPr>
            <a:solidFill>
              <a:srgbClr val="3D85C6"/>
            </a:solidFill>
          </c:spPr>
          <c:invertIfNegative val="0"/>
          <c:xVal>
            <c:numRef>
              <c:numCache>
                <c:formatCode>General</c:formatCode>
                <c:ptCount val="1"/>
                <c:pt idx="0">
                  <c:v>156.61296474095542</c:v>
                </c:pt>
              </c:numCache>
            </c:numRef>
          </c:xVal>
          <c:yVal>
            <c:numRef>
              <c:numCache>
                <c:formatCode>General</c:formatCode>
                <c:ptCount val="1"/>
                <c:pt idx="0">
                  <c:v>81.68891187021296</c:v>
                </c:pt>
              </c:numCache>
            </c:numRef>
          </c:yVal>
          <c:bubbleSize>
            <c:numRef>
              <c:numCache>
                <c:formatCode>General</c:formatCode>
                <c:ptCount val="1"/>
                <c:pt idx="0">
                  <c:v>129.351</c:v>
                </c:pt>
              </c:numCache>
            </c:numRef>
          </c:bubbleSize>
          <c:bubble3D val="0"/>
        </c:ser>
        <c:ser>
          <c:idx val="1"/>
          <c:order val="1"/>
          <c:tx>
            <c:strRef>
              <c:strCache>
                <c:ptCount val="1"/>
                <c:pt idx="0">
                  <c:v>Acrylic Partial Dentures</c:v>
                </c:pt>
              </c:strCache>
            </c:strRef>
          </c:tx>
          <c:spPr>
            <a:solidFill>
              <a:srgbClr val="9E7E0A"/>
            </a:solidFill>
          </c:spPr>
          <c:invertIfNegative val="0"/>
          <c:xVal>
            <c:numRef>
              <c:numCache>
                <c:formatCode>General</c:formatCode>
                <c:ptCount val="1"/>
                <c:pt idx="0">
                  <c:v>67.70226725115347</c:v>
                </c:pt>
              </c:numCache>
            </c:numRef>
          </c:xVal>
          <c:yVal>
            <c:numRef>
              <c:numCache>
                <c:formatCode>General</c:formatCode>
                <c:ptCount val="1"/>
                <c:pt idx="0">
                  <c:v>73.7474280666602</c:v>
                </c:pt>
              </c:numCache>
            </c:numRef>
          </c:yVal>
          <c:bubbleSize>
            <c:numRef>
              <c:numCache>
                <c:formatCode>General</c:formatCode>
                <c:ptCount val="1"/>
                <c:pt idx="0">
                  <c:v>86.539</c:v>
                </c:pt>
              </c:numCache>
            </c:numRef>
          </c:bubbleSize>
          <c:bubble3D val="0"/>
        </c:ser>
        <c:ser>
          <c:idx val="2"/>
          <c:order val="2"/>
          <c:tx>
            <c:strRef>
              <c:strCache>
                <c:ptCount val="1"/>
                <c:pt idx="0">
                  <c:v>Flexible Partial Dentures</c:v>
                </c:pt>
              </c:strCache>
            </c:strRef>
          </c:tx>
          <c:spPr>
            <a:solidFill>
              <a:srgbClr val="008189"/>
            </a:solidFill>
          </c:spPr>
          <c:invertIfNegative val="0"/>
          <c:xVal>
            <c:numRef>
              <c:numCache>
                <c:formatCode>General</c:formatCode>
                <c:ptCount val="1"/>
                <c:pt idx="0">
                  <c:v>61.61581248658897</c:v>
                </c:pt>
              </c:numCache>
            </c:numRef>
          </c:xVal>
          <c:yVal>
            <c:numRef>
              <c:numCache>
                <c:formatCode>General</c:formatCode>
                <c:ptCount val="1"/>
                <c:pt idx="0">
                  <c:v>142.87668724213339</c:v>
                </c:pt>
              </c:numCache>
            </c:numRef>
          </c:yVal>
          <c:bubbleSize>
            <c:numRef>
              <c:numCache>
                <c:formatCode>General</c:formatCode>
                <c:ptCount val="1"/>
                <c:pt idx="0">
                  <c:v>164.2</c:v>
                </c:pt>
              </c:numCache>
            </c:numRef>
          </c:bubbleSize>
          <c:bubble3D val="0"/>
        </c:ser>
        <c:ser>
          <c:idx val="3"/>
          <c:order val="3"/>
          <c:tx>
            <c:strRef>
              <c:strCache>
                <c:ptCount val="1"/>
                <c:pt idx="0">
                  <c:v>Combination Framework Partial Dentures</c:v>
                </c:pt>
              </c:strCache>
            </c:strRef>
          </c:tx>
          <c:spPr>
            <a:solidFill>
              <a:srgbClr val="40315E"/>
            </a:solidFill>
          </c:spPr>
          <c:invertIfNegative val="0"/>
          <c:xVal>
            <c:numRef>
              <c:numCache>
                <c:formatCode>General</c:formatCode>
                <c:ptCount val="1"/>
                <c:pt idx="0">
                  <c:v>122.77735238962049</c:v>
                </c:pt>
              </c:numCache>
            </c:numRef>
          </c:xVal>
          <c:yVal>
            <c:numRef>
              <c:numCache>
                <c:formatCode>General</c:formatCode>
                <c:ptCount val="1"/>
                <c:pt idx="0">
                  <c:v>101.68697282099343</c:v>
                </c:pt>
              </c:numCache>
            </c:numRef>
          </c:yVal>
          <c:bubbleSize>
            <c:numRef>
              <c:numCache>
                <c:formatCode>General</c:formatCode>
                <c:ptCount val="1"/>
                <c:pt idx="0">
                  <c:v>143.815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75.831</c:v>
                </c:pt>
                <c:pt idx="2">
                  <c:v>84.514</c:v>
                </c:pt>
                <c:pt idx="3">
                  <c:v>94.113</c:v>
                </c:pt>
                <c:pt idx="4">
                  <c:v>104.718</c:v>
                </c:pt>
                <c:pt idx="5">
                  <c:v>116.428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75.831</c:v>
                </c:pt>
                <c:pt idx="1">
                  <c:v>8.682999999999993</c:v>
                </c:pt>
                <c:pt idx="2">
                  <c:v>9.599000000000004</c:v>
                </c:pt>
                <c:pt idx="3">
                  <c:v>10.605000000000004</c:v>
                </c:pt>
                <c:pt idx="4">
                  <c:v>11.709999999999994</c:v>
                </c:pt>
                <c:pt idx="5">
                  <c:v>12.923000000000002</c:v>
                </c:pt>
                <c:pt idx="6">
                  <c:v>129.351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68.459</c:v>
                </c:pt>
                <c:pt idx="2">
                  <c:v>71.946</c:v>
                </c:pt>
                <c:pt idx="3">
                  <c:v>75.51</c:v>
                </c:pt>
                <c:pt idx="4">
                  <c:v>79.14</c:v>
                </c:pt>
                <c:pt idx="5">
                  <c:v>82.822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68.459</c:v>
                </c:pt>
                <c:pt idx="1">
                  <c:v>3.4869999999999948</c:v>
                </c:pt>
                <c:pt idx="2">
                  <c:v>3.564000000000007</c:v>
                </c:pt>
                <c:pt idx="3">
                  <c:v>3.6299999999999955</c:v>
                </c:pt>
                <c:pt idx="4">
                  <c:v>3.682000000000002</c:v>
                </c:pt>
                <c:pt idx="5">
                  <c:v>3.7169999999999987</c:v>
                </c:pt>
                <c:pt idx="6">
                  <c:v>86.539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132.631</c:v>
                </c:pt>
                <c:pt idx="2">
                  <c:v>138.877</c:v>
                </c:pt>
                <c:pt idx="3">
                  <c:v>145.193</c:v>
                </c:pt>
                <c:pt idx="4">
                  <c:v>151.546</c:v>
                </c:pt>
                <c:pt idx="5">
                  <c:v>157.895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132.631</c:v>
                </c:pt>
                <c:pt idx="1">
                  <c:v>6.246000000000009</c:v>
                </c:pt>
                <c:pt idx="2">
                  <c:v>6.3160000000000025</c:v>
                </c:pt>
                <c:pt idx="3">
                  <c:v>6.35299999999998</c:v>
                </c:pt>
                <c:pt idx="4">
                  <c:v>6.349000000000018</c:v>
                </c:pt>
                <c:pt idx="5">
                  <c:v>6.304999999999978</c:v>
                </c:pt>
                <c:pt idx="6">
                  <c:v>164.2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94.395</c:v>
                </c:pt>
                <c:pt idx="2">
                  <c:v>102.731</c:v>
                </c:pt>
                <c:pt idx="3">
                  <c:v>111.778</c:v>
                </c:pt>
                <c:pt idx="4">
                  <c:v>121.598</c:v>
                </c:pt>
                <c:pt idx="5">
                  <c:v>132.255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94.395</c:v>
                </c:pt>
                <c:pt idx="1">
                  <c:v>8.335999999999999</c:v>
                </c:pt>
                <c:pt idx="2">
                  <c:v>9.047000000000011</c:v>
                </c:pt>
                <c:pt idx="3">
                  <c:v>9.819999999999993</c:v>
                </c:pt>
                <c:pt idx="4">
                  <c:v>10.656999999999996</c:v>
                </c:pt>
                <c:pt idx="5">
                  <c:v>11.560000000000002</c:v>
                </c:pt>
                <c:pt idx="6">
                  <c:v>143.815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Flexible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37.708287431934785</c:v>
                </c:pt>
                <c:pt idx="1">
                  <c:v>35.719171810533346</c:v>
                </c:pt>
                <c:pt idx="2">
                  <c:v>31.341560015651694</c:v>
                </c:pt>
              </c:numCache>
            </c:numRef>
          </c:val>
        </c:ser>
        <c:ser>
          <c:idx val="1"/>
          <c:order val="1"/>
          <c:tx>
            <c:strRef>
              <c:strCache>
                <c:ptCount val="1"/>
                <c:pt idx="0">
                  <c:v>Combination Framework Partial Dentures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24.499071480280758</c:v>
                </c:pt>
                <c:pt idx="1">
                  <c:v>25.421743205248358</c:v>
                </c:pt>
                <c:pt idx="2">
                  <c:v>27.450587415657417</c:v>
                </c:pt>
              </c:numCache>
            </c:numRef>
          </c:val>
        </c:ser>
        <c:ser>
          <c:idx val="2"/>
          <c:order val="2"/>
          <c:tx>
            <c:strRef>
              <c:strCache>
                <c:ptCount val="1"/>
                <c:pt idx="0">
                  <c:v>Cast Metal Partial Dentures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18.48887350099147</c:v>
                </c:pt>
                <c:pt idx="1">
                  <c:v>20.42222796755324</c:v>
                </c:pt>
                <c:pt idx="2">
                  <c:v>24.68978154436396</c:v>
                </c:pt>
              </c:numCache>
            </c:numRef>
          </c:val>
        </c:ser>
        <c:ser>
          <c:idx val="3"/>
          <c:order val="3"/>
          <c:tx>
            <c:strRef>
              <c:strCache>
                <c:ptCount val="1"/>
                <c:pt idx="0">
                  <c:v>Acrylic Partial Dentures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19.30376758679299</c:v>
                </c:pt>
                <c:pt idx="1">
                  <c:v>18.43685701666505</c:v>
                </c:pt>
                <c:pt idx="2">
                  <c:v>16.51807102432693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Metal Alloys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30.620532052033283</c:v>
                </c:pt>
                <c:pt idx="1">
                  <c:v>27.54688672168042</c:v>
                </c:pt>
              </c:numCache>
            </c:numRef>
          </c:val>
        </c:ser>
        <c:ser>
          <c:idx val="1"/>
          <c:order val="1"/>
          <c:tx>
            <c:strRef>
              <c:strCache>
                <c:ptCount val="1"/>
                <c:pt idx="0">
                  <c:v>Acrylic / Resin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47.200281260986756</c:v>
                </c:pt>
                <c:pt idx="1">
                  <c:v>43.9055046780563</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14.332005156451427</c:v>
                </c:pt>
                <c:pt idx="1">
                  <c:v>18.35298447253323</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7.847181530528537</c:v>
                </c:pt>
                <c:pt idx="1">
                  <c:v>10.194624127730044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Metal Alloys</c:v>
                </c:pt>
              </c:strCache>
            </c:strRef>
          </c:tx>
          <c:spPr>
            <a:solidFill>
              <a:srgbClr val="3D85C6"/>
            </a:solidFill>
          </c:spPr>
          <c:invertIfNegative val="0"/>
          <c:xVal>
            <c:numRef>
              <c:numCache>
                <c:formatCode>General</c:formatCode>
                <c:ptCount val="1"/>
                <c:pt idx="0">
                  <c:v>94.35528164917186</c:v>
                </c:pt>
              </c:numCache>
            </c:numRef>
          </c:xVal>
          <c:yVal>
            <c:numRef>
              <c:numCache>
                <c:formatCode>General</c:formatCode>
                <c:ptCount val="1"/>
                <c:pt idx="0">
                  <c:v>116.39681565028171</c:v>
                </c:pt>
              </c:numCache>
            </c:numRef>
          </c:yVal>
          <c:bubbleSize>
            <c:numRef>
              <c:numCache>
                <c:formatCode>General</c:formatCode>
                <c:ptCount val="1"/>
                <c:pt idx="0">
                  <c:v>149.565</c:v>
                </c:pt>
              </c:numCache>
            </c:numRef>
          </c:bubbleSize>
          <c:bubble3D val="0"/>
        </c:ser>
        <c:ser>
          <c:idx val="1"/>
          <c:order val="1"/>
          <c:tx>
            <c:strRef>
              <c:strCache>
                <c:ptCount val="1"/>
                <c:pt idx="0">
                  <c:v>Acrylic / Resin</c:v>
                </c:pt>
              </c:strCache>
            </c:strRef>
          </c:tx>
          <c:spPr>
            <a:solidFill>
              <a:srgbClr val="9E7E0A"/>
            </a:solidFill>
          </c:spPr>
          <c:invertIfNegative val="0"/>
          <c:xVal>
            <c:numRef>
              <c:numCache>
                <c:formatCode>General</c:formatCode>
                <c:ptCount val="1"/>
                <c:pt idx="0">
                  <c:v>105.60566041208584</c:v>
                </c:pt>
              </c:numCache>
            </c:numRef>
          </c:xVal>
          <c:yVal>
            <c:numRef>
              <c:numCache>
                <c:formatCode>General</c:formatCode>
                <c:ptCount val="1"/>
                <c:pt idx="0">
                  <c:v>176.53750444365446</c:v>
                </c:pt>
              </c:numCache>
            </c:numRef>
          </c:yVal>
          <c:bubbleSize>
            <c:numRef>
              <c:numCache>
                <c:formatCode>General</c:formatCode>
                <c:ptCount val="1"/>
                <c:pt idx="0">
                  <c:v>235.646</c:v>
                </c:pt>
              </c:numCache>
            </c:numRef>
          </c:bubbleSize>
          <c:bubble3D val="0"/>
        </c:ser>
        <c:ser>
          <c:idx val="2"/>
          <c:order val="2"/>
          <c:tx>
            <c:strRef>
              <c:strCache>
                <c:ptCount val="1"/>
                <c:pt idx="0">
                  <c:v>Flexible Thermoplastics</c:v>
                </c:pt>
              </c:strCache>
            </c:strRef>
          </c:tx>
          <c:spPr>
            <a:solidFill>
              <a:srgbClr val="008189"/>
            </a:solidFill>
          </c:spPr>
          <c:invertIfNegative val="0"/>
          <c:xVal>
            <c:numRef>
              <c:numCache>
                <c:formatCode>General</c:formatCode>
                <c:ptCount val="1"/>
                <c:pt idx="0">
                  <c:v>89.96369306847451</c:v>
                </c:pt>
              </c:numCache>
            </c:numRef>
          </c:xVal>
          <c:yVal>
            <c:numRef>
              <c:numCache>
                <c:formatCode>General</c:formatCode>
                <c:ptCount val="1"/>
                <c:pt idx="0">
                  <c:v>70.53183811093515</c:v>
                </c:pt>
              </c:numCache>
            </c:numRef>
          </c:yVal>
          <c:bubbleSize>
            <c:numRef>
              <c:numCache>
                <c:formatCode>General</c:formatCode>
                <c:ptCount val="1"/>
                <c:pt idx="0">
                  <c:v>89.29</c:v>
                </c:pt>
              </c:numCache>
            </c:numRef>
          </c:bubbleSize>
          <c:bubble3D val="0"/>
        </c:ser>
        <c:ser>
          <c:idx val="3"/>
          <c:order val="3"/>
          <c:tx>
            <c:strRef>
              <c:strCache>
                <c:ptCount val="1"/>
                <c:pt idx="0">
                  <c:v>High-performance Polymers</c:v>
                </c:pt>
              </c:strCache>
            </c:strRef>
          </c:tx>
          <c:spPr>
            <a:solidFill>
              <a:srgbClr val="40315E"/>
            </a:solidFill>
          </c:spPr>
          <c:invertIfNegative val="0"/>
          <c:xVal>
            <c:numRef>
              <c:numCache>
                <c:formatCode>General</c:formatCode>
                <c:ptCount val="1"/>
                <c:pt idx="0">
                  <c:v>109.45560669855612</c:v>
                </c:pt>
              </c:numCache>
            </c:numRef>
          </c:xVal>
          <c:yVal>
            <c:numRef>
              <c:numCache>
                <c:formatCode>General</c:formatCode>
                <c:ptCount val="1"/>
                <c:pt idx="0">
                  <c:v>36.53384179512868</c:v>
                </c:pt>
              </c:numCache>
            </c:numRef>
          </c:yVal>
          <c:bubbleSize>
            <c:numRef>
              <c:numCache>
                <c:formatCode>General</c:formatCode>
                <c:ptCount val="1"/>
                <c:pt idx="0">
                  <c:v>49.404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108.05</c:v>
                </c:pt>
                <c:pt idx="2">
                  <c:v>115.405</c:v>
                </c:pt>
                <c:pt idx="3">
                  <c:v>123.209</c:v>
                </c:pt>
                <c:pt idx="4">
                  <c:v>131.489</c:v>
                </c:pt>
                <c:pt idx="5">
                  <c:v>140.265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108.05</c:v>
                </c:pt>
                <c:pt idx="1">
                  <c:v>7.355000000000004</c:v>
                </c:pt>
                <c:pt idx="2">
                  <c:v>7.804000000000002</c:v>
                </c:pt>
                <c:pt idx="3">
                  <c:v>8.280000000000001</c:v>
                </c:pt>
                <c:pt idx="4">
                  <c:v>8.775999999999982</c:v>
                </c:pt>
                <c:pt idx="5">
                  <c:v>9.300000000000011</c:v>
                </c:pt>
                <c:pt idx="6">
                  <c:v>149.565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163.878</c:v>
                </c:pt>
                <c:pt idx="2">
                  <c:v>176.341</c:v>
                </c:pt>
                <c:pt idx="3">
                  <c:v>189.691</c:v>
                </c:pt>
                <c:pt idx="4">
                  <c:v>203.983</c:v>
                </c:pt>
                <c:pt idx="5">
                  <c:v>219.281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163.878</c:v>
                </c:pt>
                <c:pt idx="1">
                  <c:v>12.463000000000022</c:v>
                </c:pt>
                <c:pt idx="2">
                  <c:v>13.349999999999994</c:v>
                </c:pt>
                <c:pt idx="3">
                  <c:v>14.292000000000002</c:v>
                </c:pt>
                <c:pt idx="4">
                  <c:v>15.298000000000002</c:v>
                </c:pt>
                <c:pt idx="5">
                  <c:v>16.36499999999998</c:v>
                </c:pt>
                <c:pt idx="6">
                  <c:v>235.646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65.47399999999999</c:v>
                </c:pt>
                <c:pt idx="2">
                  <c:v>69.73400000000001</c:v>
                </c:pt>
                <c:pt idx="3">
                  <c:v>74.23400000000001</c:v>
                </c:pt>
                <c:pt idx="4">
                  <c:v>78.987</c:v>
                </c:pt>
                <c:pt idx="5">
                  <c:v>84.00200000000001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65.47399999999999</c:v>
                </c:pt>
                <c:pt idx="1">
                  <c:v>4.260000000000019</c:v>
                </c:pt>
                <c:pt idx="2">
                  <c:v>4.5</c:v>
                </c:pt>
                <c:pt idx="3">
                  <c:v>4.752999999999986</c:v>
                </c:pt>
                <c:pt idx="4">
                  <c:v>5.015000000000015</c:v>
                </c:pt>
                <c:pt idx="5">
                  <c:v>5.287999999999997</c:v>
                </c:pt>
                <c:pt idx="6">
                  <c:v>89.29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33.914</c:v>
                </c:pt>
                <c:pt idx="2">
                  <c:v>36.588</c:v>
                </c:pt>
                <c:pt idx="3">
                  <c:v>39.46</c:v>
                </c:pt>
                <c:pt idx="4">
                  <c:v>42.543</c:v>
                </c:pt>
                <c:pt idx="5">
                  <c:v>45.852000000000004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33.914</c:v>
                </c:pt>
                <c:pt idx="1">
                  <c:v>2.6739999999999995</c:v>
                </c:pt>
                <c:pt idx="2">
                  <c:v>2.872</c:v>
                </c:pt>
                <c:pt idx="3">
                  <c:v>3.0829999999999984</c:v>
                </c:pt>
                <c:pt idx="4">
                  <c:v>3.3090000000000046</c:v>
                </c:pt>
                <c:pt idx="5">
                  <c:v>3.5519999999999996</c:v>
                </c:pt>
                <c:pt idx="6">
                  <c:v>49.404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43.72887224198168</c:v>
                </c:pt>
                <c:pt idx="1">
                  <c:v>44.134376110913614</c:v>
                </c:pt>
                <c:pt idx="2">
                  <c:v>44.97876523415505</c:v>
                </c:pt>
              </c:numCache>
            </c:numRef>
          </c:val>
        </c:ser>
        <c:ser>
          <c:idx val="1"/>
          <c:order val="1"/>
          <c:tx>
            <c:strRef>
              <c:strCache>
                <c:ptCount val="1"/>
                <c:pt idx="0">
                  <c:v>Metal Alloys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29.36420005665544</c:v>
                </c:pt>
                <c:pt idx="1">
                  <c:v>29.099203912570427</c:v>
                </c:pt>
                <c:pt idx="2">
                  <c:v>28.548114639104423</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17.915079789745366</c:v>
                </c:pt>
                <c:pt idx="1">
                  <c:v>17.63295952773379</c:v>
                </c:pt>
                <c:pt idx="2">
                  <c:v>17.043166222883922</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8.991847911617512</c:v>
                </c:pt>
                <c:pt idx="1">
                  <c:v>9.13346044878217</c:v>
                </c:pt>
                <c:pt idx="2">
                  <c:v>9.429953903856617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41.52759873432556</c:v>
                </c:pt>
                <c:pt idx="1">
                  <c:v>40.24628798709111</c:v>
                </c:pt>
              </c:numCache>
            </c:numRef>
          </c:val>
        </c:ser>
        <c:ser>
          <c:idx val="1"/>
          <c:order val="1"/>
          <c:tx>
            <c:strRef>
              <c:strCache>
                <c:ptCount val="1"/>
                <c:pt idx="0">
                  <c:v>Digital Fabrication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58.47240126567444</c:v>
                </c:pt>
                <c:pt idx="1">
                  <c:v>59.75371201290889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 Fabrication</c:v>
                </c:pt>
              </c:strCache>
            </c:strRef>
          </c:tx>
          <c:spPr>
            <a:solidFill>
              <a:srgbClr val="3D85C6"/>
            </a:solidFill>
          </c:spPr>
          <c:invertIfNegative val="0"/>
          <c:xVal>
            <c:numRef>
              <c:numCache>
                <c:formatCode>General</c:formatCode>
                <c:ptCount val="1"/>
                <c:pt idx="0">
                  <c:v>139.70826266001893</c:v>
                </c:pt>
              </c:numCache>
            </c:numRef>
          </c:xVal>
          <c:yVal>
            <c:numRef>
              <c:numCache>
                <c:formatCode>General</c:formatCode>
                <c:ptCount val="1"/>
                <c:pt idx="0">
                  <c:v>71.1652608559825</c:v>
                </c:pt>
              </c:numCache>
            </c:numRef>
          </c:yVal>
          <c:bubbleSize>
            <c:numRef>
              <c:numCache>
                <c:formatCode>General</c:formatCode>
                <c:ptCount val="1"/>
                <c:pt idx="0">
                  <c:v>213.039</c:v>
                </c:pt>
              </c:numCache>
            </c:numRef>
          </c:bubbleSize>
          <c:bubble3D val="0"/>
        </c:ser>
        <c:ser>
          <c:idx val="1"/>
          <c:order val="1"/>
          <c:tx>
            <c:strRef>
              <c:strCache>
                <c:ptCount val="1"/>
                <c:pt idx="0">
                  <c:v>Digital Fabrication</c:v>
                </c:pt>
              </c:strCache>
            </c:strRef>
          </c:tx>
          <c:spPr>
            <a:solidFill>
              <a:srgbClr val="9E7E0A"/>
            </a:solidFill>
          </c:spPr>
          <c:invertIfNegative val="0"/>
          <c:xVal>
            <c:numRef>
              <c:numCache>
                <c:formatCode>General</c:formatCode>
                <c:ptCount val="1"/>
                <c:pt idx="0">
                  <c:v>75.81995980553519</c:v>
                </c:pt>
              </c:numCache>
            </c:numRef>
          </c:xVal>
          <c:yVal>
            <c:numRef>
              <c:numCache>
                <c:formatCode>General</c:formatCode>
                <c:ptCount val="1"/>
                <c:pt idx="0">
                  <c:v>128.83473914401748</c:v>
                </c:pt>
              </c:numCache>
            </c:numRef>
          </c:yVal>
          <c:bubbleSize>
            <c:numRef>
              <c:numCache>
                <c:formatCode>General</c:formatCode>
                <c:ptCount val="1"/>
                <c:pt idx="0">
                  <c:v>310.866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132.124</c:v>
                </c:pt>
                <c:pt idx="2">
                  <c:v>145.483</c:v>
                </c:pt>
                <c:pt idx="3">
                  <c:v>160.13</c:v>
                </c:pt>
                <c:pt idx="4">
                  <c:v>176.185</c:v>
                </c:pt>
                <c:pt idx="5">
                  <c:v>193.77200000000002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132.124</c:v>
                </c:pt>
                <c:pt idx="1">
                  <c:v>13.359000000000009</c:v>
                </c:pt>
                <c:pt idx="2">
                  <c:v>14.646999999999991</c:v>
                </c:pt>
                <c:pt idx="3">
                  <c:v>16.055000000000007</c:v>
                </c:pt>
                <c:pt idx="4">
                  <c:v>17.587000000000018</c:v>
                </c:pt>
                <c:pt idx="5">
                  <c:v>19.266999999999967</c:v>
                </c:pt>
                <c:pt idx="6">
                  <c:v>213.039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239.192</c:v>
                </c:pt>
                <c:pt idx="2">
                  <c:v>252.585</c:v>
                </c:pt>
                <c:pt idx="3">
                  <c:v>266.464</c:v>
                </c:pt>
                <c:pt idx="4">
                  <c:v>280.817</c:v>
                </c:pt>
                <c:pt idx="5">
                  <c:v>295.628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239.192</c:v>
                </c:pt>
                <c:pt idx="1">
                  <c:v>13.393</c:v>
                </c:pt>
                <c:pt idx="2">
                  <c:v>13.87899999999999</c:v>
                </c:pt>
                <c:pt idx="3">
                  <c:v>14.353000000000009</c:v>
                </c:pt>
                <c:pt idx="4">
                  <c:v>14.810999999999979</c:v>
                </c:pt>
                <c:pt idx="5">
                  <c:v>15.238</c:v>
                </c:pt>
                <c:pt idx="6">
                  <c:v>310.866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Digital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66.72720405401152</c:v>
                </c:pt>
                <c:pt idx="1">
                  <c:v>64.41736957200874</c:v>
                </c:pt>
                <c:pt idx="2">
                  <c:v>59.33633005983909</c:v>
                </c:pt>
              </c:numCache>
            </c:numRef>
          </c:val>
        </c:ser>
        <c:ser>
          <c:idx val="1"/>
          <c:order val="1"/>
          <c:tx>
            <c:strRef>
              <c:strCache>
                <c:ptCount val="1"/>
                <c:pt idx="0">
                  <c:v>Conventional Fabrication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33.272795945988484</c:v>
                </c:pt>
                <c:pt idx="1">
                  <c:v>35.58263042799125</c:v>
                </c:pt>
                <c:pt idx="2">
                  <c:v>40.66366994016091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Dental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11.310793390366811</c:v>
                </c:pt>
                <c:pt idx="1">
                  <c:v>10.682104488386248</c:v>
                </c:pt>
              </c:numCache>
            </c:numRef>
          </c:val>
        </c:ser>
        <c:ser>
          <c:idx val="1"/>
          <c:order val="1"/>
          <c:tx>
            <c:strRef>
              <c:strCache>
                <c:ptCount val="1"/>
                <c:pt idx="0">
                  <c:v>Dental Hospitals</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8.708543302472751</c:v>
                </c:pt>
                <c:pt idx="1">
                  <c:v>8.155529448399836</c:v>
                </c:pt>
              </c:numCache>
            </c:numRef>
          </c:val>
        </c:ser>
        <c:ser>
          <c:idx val="2"/>
          <c:order val="2"/>
          <c:tx>
            <c:strRef>
              <c:strCache>
                <c:ptCount val="1"/>
                <c:pt idx="0">
                  <c:v>Dental Laboratories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33.04230634009141</c:v>
                </c:pt>
                <c:pt idx="1">
                  <c:v>36.67228127786664</c:v>
                </c:pt>
              </c:numCache>
            </c:numRef>
          </c:val>
        </c:ser>
        <c:ser>
          <c:idx val="3"/>
          <c:order val="3"/>
          <c:tx>
            <c:strRef>
              <c:strCache>
                <c:ptCount val="1"/>
                <c:pt idx="0">
                  <c:v>Academic &amp; Teaching Dental Institutions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46.93835696706902</c:v>
                </c:pt>
                <c:pt idx="1">
                  <c:v>44.49008478534728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Dental Clinics</c:v>
                </c:pt>
              </c:strCache>
            </c:strRef>
          </c:tx>
          <c:spPr>
            <a:solidFill>
              <a:srgbClr val="3D85C6"/>
            </a:solidFill>
          </c:spPr>
          <c:invertIfNegative val="0"/>
          <c:xVal>
            <c:numRef>
              <c:numCache>
                <c:formatCode>General</c:formatCode>
                <c:ptCount val="1"/>
                <c:pt idx="0">
                  <c:v>109.16629606476609</c:v>
                </c:pt>
              </c:numCache>
            </c:numRef>
          </c:xVal>
          <c:yVal>
            <c:numRef>
              <c:numCache>
                <c:formatCode>General</c:formatCode>
                <c:ptCount val="1"/>
                <c:pt idx="0">
                  <c:v>42.21956500662509</c:v>
                </c:pt>
              </c:numCache>
            </c:numRef>
          </c:yVal>
          <c:bubbleSize>
            <c:numRef>
              <c:numCache>
                <c:formatCode>General</c:formatCode>
                <c:ptCount val="1"/>
                <c:pt idx="0">
                  <c:v>57.037</c:v>
                </c:pt>
              </c:numCache>
            </c:numRef>
          </c:bubbleSize>
          <c:bubble3D val="0"/>
        </c:ser>
        <c:ser>
          <c:idx val="1"/>
          <c:order val="1"/>
          <c:tx>
            <c:strRef>
              <c:strCache>
                <c:ptCount val="1"/>
                <c:pt idx="0">
                  <c:v>Dental Hospitals</c:v>
                </c:pt>
              </c:strCache>
            </c:strRef>
          </c:tx>
          <c:spPr>
            <a:solidFill>
              <a:srgbClr val="9E7E0A"/>
            </a:solidFill>
          </c:spPr>
          <c:invertIfNegative val="0"/>
          <c:xVal>
            <c:numRef>
              <c:numCache>
                <c:formatCode>General</c:formatCode>
                <c:ptCount val="1"/>
                <c:pt idx="0">
                  <c:v>157.41144681330866</c:v>
                </c:pt>
              </c:numCache>
            </c:numRef>
          </c:xVal>
          <c:yVal>
            <c:numRef>
              <c:numCache>
                <c:formatCode>General</c:formatCode>
                <c:ptCount val="1"/>
                <c:pt idx="0">
                  <c:v>27.506490428637605</c:v>
                </c:pt>
              </c:numCache>
            </c:numRef>
          </c:yVal>
          <c:bubbleSize>
            <c:numRef>
              <c:numCache>
                <c:formatCode>General</c:formatCode>
                <c:ptCount val="1"/>
                <c:pt idx="0">
                  <c:v>43.671</c:v>
                </c:pt>
              </c:numCache>
            </c:numRef>
          </c:bubbleSize>
          <c:bubble3D val="0"/>
        </c:ser>
        <c:ser>
          <c:idx val="2"/>
          <c:order val="2"/>
          <c:tx>
            <c:strRef>
              <c:strCache>
                <c:ptCount val="1"/>
                <c:pt idx="0">
                  <c:v>Dental Laboratories</c:v>
                </c:pt>
              </c:strCache>
            </c:strRef>
          </c:tx>
          <c:spPr>
            <a:solidFill>
              <a:srgbClr val="008189"/>
            </a:solidFill>
          </c:spPr>
          <c:invertIfNegative val="0"/>
          <c:xVal>
            <c:numRef>
              <c:numCache>
                <c:formatCode>General</c:formatCode>
                <c:ptCount val="1"/>
                <c:pt idx="0">
                  <c:v>61.81908060920194</c:v>
                </c:pt>
              </c:numCache>
            </c:numRef>
          </c:xVal>
          <c:yVal>
            <c:numRef>
              <c:numCache>
                <c:formatCode>General</c:formatCode>
                <c:ptCount val="1"/>
                <c:pt idx="0">
                  <c:v>161.6746921759364</c:v>
                </c:pt>
              </c:numCache>
            </c:numRef>
          </c:yVal>
          <c:bubbleSize>
            <c:numRef>
              <c:numCache>
                <c:formatCode>General</c:formatCode>
                <c:ptCount val="1"/>
                <c:pt idx="0">
                  <c:v>185.933</c:v>
                </c:pt>
              </c:numCache>
            </c:numRef>
          </c:bubbleSize>
          <c:bubble3D val="0"/>
        </c:ser>
        <c:ser>
          <c:idx val="3"/>
          <c:order val="3"/>
          <c:tx>
            <c:strRef>
              <c:strCache>
                <c:ptCount val="1"/>
                <c:pt idx="0">
                  <c:v>Academic &amp; Teaching Dental Institutions</c:v>
                </c:pt>
              </c:strCache>
            </c:strRef>
          </c:tx>
          <c:spPr>
            <a:solidFill>
              <a:srgbClr val="40315E"/>
            </a:solidFill>
          </c:spPr>
          <c:invertIfNegative val="0"/>
          <c:xVal>
            <c:numRef>
              <c:numCache>
                <c:formatCode>General</c:formatCode>
                <c:ptCount val="1"/>
                <c:pt idx="0">
                  <c:v>121.29482586620274</c:v>
                </c:pt>
              </c:numCache>
            </c:numRef>
          </c:xVal>
          <c:yVal>
            <c:numRef>
              <c:numCache>
                <c:formatCode>General</c:formatCode>
                <c:ptCount val="1"/>
                <c:pt idx="0">
                  <c:v>168.59925238880092</c:v>
                </c:pt>
              </c:numCache>
            </c:numRef>
          </c:yVal>
          <c:bubbleSize>
            <c:numRef>
              <c:numCache>
                <c:formatCode>General</c:formatCode>
                <c:ptCount val="1"/>
                <c:pt idx="0">
                  <c:v>237.264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39.192</c:v>
                </c:pt>
                <c:pt idx="2">
                  <c:v>42.243</c:v>
                </c:pt>
                <c:pt idx="3">
                  <c:v>45.531</c:v>
                </c:pt>
                <c:pt idx="4">
                  <c:v>49.077</c:v>
                </c:pt>
                <c:pt idx="5">
                  <c:v>52.903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39.192</c:v>
                </c:pt>
                <c:pt idx="1">
                  <c:v>3.051000000000002</c:v>
                </c:pt>
                <c:pt idx="2">
                  <c:v>3.2879999999999967</c:v>
                </c:pt>
                <c:pt idx="3">
                  <c:v>3.5459999999999994</c:v>
                </c:pt>
                <c:pt idx="4">
                  <c:v>3.8260000000000005</c:v>
                </c:pt>
                <c:pt idx="5">
                  <c:v>4.134</c:v>
                </c:pt>
                <c:pt idx="6">
                  <c:v>57.037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25.534</c:v>
                </c:pt>
                <c:pt idx="2">
                  <c:v>28.364</c:v>
                </c:pt>
                <c:pt idx="3">
                  <c:v>31.539</c:v>
                </c:pt>
                <c:pt idx="4">
                  <c:v>35.109</c:v>
                </c:pt>
                <c:pt idx="5">
                  <c:v>39.13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25.534</c:v>
                </c:pt>
                <c:pt idx="1">
                  <c:v>2.830000000000002</c:v>
                </c:pt>
                <c:pt idx="2">
                  <c:v>3.1750000000000007</c:v>
                </c:pt>
                <c:pt idx="3">
                  <c:v>3.5700000000000003</c:v>
                </c:pt>
                <c:pt idx="4">
                  <c:v>4.021000000000001</c:v>
                </c:pt>
                <c:pt idx="5">
                  <c:v>4.540999999999997</c:v>
                </c:pt>
                <c:pt idx="6">
                  <c:v>43.671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150.081</c:v>
                </c:pt>
                <c:pt idx="2">
                  <c:v>157.542</c:v>
                </c:pt>
                <c:pt idx="3">
                  <c:v>164.969</c:v>
                </c:pt>
                <c:pt idx="4">
                  <c:v>172.264</c:v>
                </c:pt>
                <c:pt idx="5">
                  <c:v>179.303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150.081</c:v>
                </c:pt>
                <c:pt idx="1">
                  <c:v>7.461000000000013</c:v>
                </c:pt>
                <c:pt idx="2">
                  <c:v>7.4269999999999925</c:v>
                </c:pt>
                <c:pt idx="3">
                  <c:v>7.295000000000016</c:v>
                </c:pt>
                <c:pt idx="4">
                  <c:v>7.038999999999987</c:v>
                </c:pt>
                <c:pt idx="5">
                  <c:v>6.6299999999999955</c:v>
                </c:pt>
                <c:pt idx="6">
                  <c:v>185.933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156.509</c:v>
                </c:pt>
                <c:pt idx="2">
                  <c:v>169.919</c:v>
                </c:pt>
                <c:pt idx="3">
                  <c:v>184.555</c:v>
                </c:pt>
                <c:pt idx="4">
                  <c:v>200.552</c:v>
                </c:pt>
                <c:pt idx="5">
                  <c:v>218.064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156.509</c:v>
                </c:pt>
                <c:pt idx="1">
                  <c:v>13.410000000000025</c:v>
                </c:pt>
                <c:pt idx="2">
                  <c:v>14.635999999999996</c:v>
                </c:pt>
                <c:pt idx="3">
                  <c:v>15.996999999999986</c:v>
                </c:pt>
                <c:pt idx="4">
                  <c:v>17.512</c:v>
                </c:pt>
                <c:pt idx="5">
                  <c:v>19.200000000000017</c:v>
                </c:pt>
                <c:pt idx="6">
                  <c:v>237.264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Academic &amp; Teaching Dental Institutions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40.960624468855244</c:v>
                </c:pt>
                <c:pt idx="1">
                  <c:v>42.14981309720023</c:v>
                </c:pt>
                <c:pt idx="2">
                  <c:v>45.287599851118046</c:v>
                </c:pt>
              </c:numCache>
            </c:numRef>
          </c:val>
        </c:ser>
        <c:ser>
          <c:idx val="1"/>
          <c:order val="1"/>
          <c:tx>
            <c:strRef>
              <c:strCache>
                <c:ptCount val="1"/>
                <c:pt idx="0">
                  <c:v>Laboratories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42.28510276667401</c:v>
                </c:pt>
                <c:pt idx="1">
                  <c:v>40.4186730439841</c:v>
                </c:pt>
                <c:pt idx="2">
                  <c:v>35.48983117168189</c:v>
                </c:pt>
              </c:numCache>
            </c:numRef>
          </c:val>
        </c:ser>
        <c:ser>
          <c:idx val="2"/>
          <c:order val="2"/>
          <c:tx>
            <c:strRef>
              <c:strCache>
                <c:ptCount val="1"/>
                <c:pt idx="0">
                  <c:v>Clinics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10.428063328192378</c:v>
                </c:pt>
                <c:pt idx="1">
                  <c:v>10.554891251656272</c:v>
                </c:pt>
                <c:pt idx="2">
                  <c:v>10.88689743369504</c:v>
                </c:pt>
              </c:numCache>
            </c:numRef>
          </c:val>
        </c:ser>
        <c:ser>
          <c:idx val="3"/>
          <c:order val="3"/>
          <c:tx>
            <c:strRef>
              <c:strCache>
                <c:ptCount val="1"/>
                <c:pt idx="0">
                  <c:v>Hospitals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6.326209436278367</c:v>
                </c:pt>
                <c:pt idx="1">
                  <c:v>6.876622607159401</c:v>
                </c:pt>
                <c:pt idx="2">
                  <c:v>8.335671543505025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Sales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41.36294386499472</c:v>
                </c:pt>
                <c:pt idx="1">
                  <c:v>33.321349205225836</c:v>
                </c:pt>
              </c:numCache>
            </c:numRef>
          </c:val>
        </c:ser>
        <c:ser>
          <c:idx val="1"/>
          <c:order val="1"/>
          <c:tx>
            <c:strRef>
              <c:strCache>
                <c:ptCount val="1"/>
                <c:pt idx="0">
                  <c:v>Dental Dealers &amp; Distributors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48.782960271885614</c:v>
                </c:pt>
                <c:pt idx="1">
                  <c:v>59.554983085393985</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9.854095863119653</c:v>
                </c:pt>
                <c:pt idx="1">
                  <c:v>7.123667709380175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Sales</c:v>
                </c:pt>
              </c:strCache>
            </c:strRef>
          </c:tx>
          <c:spPr>
            <a:solidFill>
              <a:srgbClr val="3D85C6"/>
            </a:solidFill>
          </c:spPr>
          <c:invertIfNegative val="0"/>
          <c:xVal>
            <c:numRef>
              <c:numCache>
                <c:formatCode>General</c:formatCode>
                <c:ptCount val="1"/>
                <c:pt idx="0">
                  <c:v>221.45371680970212</c:v>
                </c:pt>
              </c:numCache>
            </c:numRef>
          </c:xVal>
          <c:yVal>
            <c:numRef>
              <c:numCache>
                <c:formatCode>General</c:formatCode>
                <c:ptCount val="1"/>
                <c:pt idx="0">
                  <c:v>72.07526742720486</c:v>
                </c:pt>
              </c:numCache>
            </c:numRef>
          </c:yVal>
          <c:bubbleSize>
            <c:numRef>
              <c:numCache>
                <c:formatCode>General</c:formatCode>
                <c:ptCount val="1"/>
                <c:pt idx="0">
                  <c:v>188.296</c:v>
                </c:pt>
              </c:numCache>
            </c:numRef>
          </c:bubbleSize>
          <c:bubble3D val="0"/>
        </c:ser>
        <c:ser>
          <c:idx val="1"/>
          <c:order val="1"/>
          <c:tx>
            <c:strRef>
              <c:strCache>
                <c:ptCount val="1"/>
                <c:pt idx="0">
                  <c:v>Dental Dealers &amp; Distributors</c:v>
                </c:pt>
              </c:strCache>
            </c:strRef>
          </c:tx>
          <c:spPr>
            <a:solidFill>
              <a:srgbClr val="9E7E0A"/>
            </a:solidFill>
          </c:spPr>
          <c:invertIfNegative val="0"/>
          <c:xVal>
            <c:numRef>
              <c:numCache>
                <c:formatCode>General</c:formatCode>
                <c:ptCount val="1"/>
                <c:pt idx="0">
                  <c:v>50.284969066194016</c:v>
                </c:pt>
              </c:numCache>
            </c:numRef>
          </c:xVal>
          <c:yVal>
            <c:numRef>
              <c:numCache>
                <c:formatCode>General</c:formatCode>
                <c:ptCount val="1"/>
                <c:pt idx="0">
                  <c:v>199.22841999806093</c:v>
                </c:pt>
              </c:numCache>
            </c:numRef>
          </c:yVal>
          <c:bubbleSize>
            <c:numRef>
              <c:numCache>
                <c:formatCode>General</c:formatCode>
                <c:ptCount val="1"/>
                <c:pt idx="0">
                  <c:v>293.628</c:v>
                </c:pt>
              </c:numCache>
            </c:numRef>
          </c:bubbleSize>
          <c:bubble3D val="0"/>
        </c:ser>
        <c:ser>
          <c:idx val="2"/>
          <c:order val="2"/>
          <c:tx>
            <c:strRef>
              <c:strCache>
                <c:ptCount val="1"/>
                <c:pt idx="0">
                  <c:v>Online Dental Supply Channels</c:v>
                </c:pt>
              </c:strCache>
            </c:strRef>
          </c:tx>
          <c:spPr>
            <a:solidFill>
              <a:srgbClr val="008189"/>
            </a:solidFill>
          </c:spPr>
          <c:invertIfNegative val="0"/>
          <c:xVal>
            <c:numRef>
              <c:numCache>
                <c:formatCode>General</c:formatCode>
                <c:ptCount val="1"/>
                <c:pt idx="0">
                  <c:v>48.131965427759376</c:v>
                </c:pt>
              </c:numCache>
            </c:numRef>
          </c:xVal>
          <c:yVal>
            <c:numRef>
              <c:numCache>
                <c:formatCode>General</c:formatCode>
                <c:ptCount val="1"/>
                <c:pt idx="0">
                  <c:v>28.69631257473419</c:v>
                </c:pt>
              </c:numCache>
            </c:numRef>
          </c:yVal>
          <c:bubbleSize>
            <c:numRef>
              <c:numCache>
                <c:formatCode>General</c:formatCode>
                <c:ptCount val="1"/>
                <c:pt idx="0">
                  <c:v>41.981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7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89.209</c:v>
                </c:pt>
                <c:pt idx="2">
                  <c:v>103.915</c:v>
                </c:pt>
                <c:pt idx="3">
                  <c:v>120.818</c:v>
                </c:pt>
                <c:pt idx="4">
                  <c:v>140.248</c:v>
                </c:pt>
                <c:pt idx="5">
                  <c:v>162.591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89.209</c:v>
                </c:pt>
                <c:pt idx="1">
                  <c:v>14.706000000000003</c:v>
                </c:pt>
                <c:pt idx="2">
                  <c:v>16.90299999999999</c:v>
                </c:pt>
                <c:pt idx="3">
                  <c:v>19.429999999999993</c:v>
                </c:pt>
                <c:pt idx="4">
                  <c:v>22.343000000000018</c:v>
                </c:pt>
                <c:pt idx="5">
                  <c:v>25.704999999999984</c:v>
                </c:pt>
                <c:pt idx="6">
                  <c:v>188.296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246.589</c:v>
                </c:pt>
                <c:pt idx="2">
                  <c:v>257.145</c:v>
                </c:pt>
                <c:pt idx="3">
                  <c:v>267.343</c:v>
                </c:pt>
                <c:pt idx="4">
                  <c:v>276.991</c:v>
                </c:pt>
                <c:pt idx="5">
                  <c:v>285.848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246.589</c:v>
                </c:pt>
                <c:pt idx="1">
                  <c:v>10.555999999999983</c:v>
                </c:pt>
                <c:pt idx="2">
                  <c:v>10.198000000000036</c:v>
                </c:pt>
                <c:pt idx="3">
                  <c:v>9.647999999999968</c:v>
                </c:pt>
                <c:pt idx="4">
                  <c:v>8.857000000000028</c:v>
                </c:pt>
                <c:pt idx="5">
                  <c:v>7.779999999999973</c:v>
                </c:pt>
                <c:pt idx="6">
                  <c:v>293.628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35.518</c:v>
                </c:pt>
                <c:pt idx="2">
                  <c:v>37.008</c:v>
                </c:pt>
                <c:pt idx="3">
                  <c:v>38.433</c:v>
                </c:pt>
                <c:pt idx="4">
                  <c:v>39.763</c:v>
                </c:pt>
                <c:pt idx="5">
                  <c:v>40.961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35.518</c:v>
                </c:pt>
                <c:pt idx="1">
                  <c:v>1.490000000000002</c:v>
                </c:pt>
                <c:pt idx="2">
                  <c:v>1.4249999999999972</c:v>
                </c:pt>
                <c:pt idx="3">
                  <c:v>1.3299999999999983</c:v>
                </c:pt>
                <c:pt idx="4">
                  <c:v>1.1980000000000004</c:v>
                </c:pt>
                <c:pt idx="5">
                  <c:v>1.0200000000000031</c:v>
                </c:pt>
                <c:pt idx="6">
                  <c:v>41.981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Dental Dealers &amp; Distributors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70.48629253092442</c:v>
                </c:pt>
                <c:pt idx="1">
                  <c:v>66.40947333268697</c:v>
                </c:pt>
                <c:pt idx="2">
                  <c:v>56.04603888109485</c:v>
                </c:pt>
              </c:numCache>
            </c:numRef>
          </c:val>
        </c:ser>
        <c:ser>
          <c:idx val="1"/>
          <c:order val="1"/>
          <c:tx>
            <c:strRef>
              <c:strCache>
                <c:ptCount val="1"/>
                <c:pt idx="0">
                  <c:v>Direct Sales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19.348777186742623</c:v>
                </c:pt>
                <c:pt idx="1">
                  <c:v>24.02508914240162</c:v>
                </c:pt>
                <c:pt idx="2">
                  <c:v>35.94086714194367</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10.164930282332945</c:v>
                </c:pt>
                <c:pt idx="1">
                  <c:v>9.565437524911395</c:v>
                </c:pt>
                <c:pt idx="2">
                  <c:v>8.013093976961473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Adults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34.743349349583966</c:v>
                </c:pt>
                <c:pt idx="1">
                  <c:v>29.387252473495735</c:v>
                </c:pt>
              </c:numCache>
            </c:numRef>
          </c:val>
        </c:ser>
        <c:ser>
          <c:idx val="1"/>
          <c:order val="1"/>
          <c:tx>
            <c:strRef>
              <c:strCache>
                <c:ptCount val="1"/>
                <c:pt idx="0">
                  <c:v>Geriatric Patients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65.25665065041603</c:v>
                </c:pt>
                <c:pt idx="1">
                  <c:v>70.61274752650426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Adults</c:v>
                </c:pt>
              </c:strCache>
            </c:strRef>
          </c:tx>
          <c:spPr>
            <a:solidFill>
              <a:srgbClr val="3D85C6"/>
            </a:solidFill>
          </c:spPr>
          <c:invertIfNegative val="0"/>
          <c:xVal>
            <c:numRef>
              <c:numCache>
                <c:formatCode>General</c:formatCode>
                <c:ptCount val="1"/>
                <c:pt idx="0">
                  <c:v>94.34655310901744</c:v>
                </c:pt>
              </c:numCache>
            </c:numRef>
          </c:xVal>
          <c:yVal>
            <c:numRef>
              <c:numCache>
                <c:formatCode>General</c:formatCode>
                <c:ptCount val="1"/>
                <c:pt idx="0">
                  <c:v>63.46777407922093</c:v>
                </c:pt>
              </c:numCache>
            </c:numRef>
          </c:yVal>
          <c:bubbleSize>
            <c:numRef>
              <c:numCache>
                <c:formatCode>General</c:formatCode>
                <c:ptCount val="1"/>
                <c:pt idx="0">
                  <c:v>163.102</c:v>
                </c:pt>
              </c:numCache>
            </c:numRef>
          </c:bubbleSize>
          <c:bubble3D val="0"/>
        </c:ser>
        <c:ser>
          <c:idx val="1"/>
          <c:order val="1"/>
          <c:tx>
            <c:strRef>
              <c:strCache>
                <c:ptCount val="1"/>
                <c:pt idx="0">
                  <c:v>Geriatric Patients</c:v>
                </c:pt>
              </c:strCache>
            </c:strRef>
          </c:tx>
          <c:spPr>
            <a:solidFill>
              <a:srgbClr val="9E7E0A"/>
            </a:solidFill>
          </c:spPr>
          <c:invertIfNegative val="0"/>
          <c:xVal>
            <c:numRef>
              <c:numCache>
                <c:formatCode>General</c:formatCode>
                <c:ptCount val="1"/>
                <c:pt idx="0">
                  <c:v>102.59524626416881</c:v>
                </c:pt>
              </c:numCache>
            </c:numRef>
          </c:xVal>
          <c:yVal>
            <c:numRef>
              <c:numCache>
                <c:formatCode>General</c:formatCode>
                <c:ptCount val="1"/>
                <c:pt idx="0">
                  <c:v>136.53222592077904</c:v>
                </c:pt>
              </c:numCache>
            </c:numRef>
          </c:yVal>
          <c:bubbleSize>
            <c:numRef>
              <c:numCache>
                <c:formatCode>General</c:formatCode>
                <c:ptCount val="1"/>
                <c:pt idx="0">
                  <c:v>360.803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117.833</c:v>
                </c:pt>
                <c:pt idx="2">
                  <c:v>125.931</c:v>
                </c:pt>
                <c:pt idx="3">
                  <c:v>134.496</c:v>
                </c:pt>
                <c:pt idx="4">
                  <c:v>143.54</c:v>
                </c:pt>
                <c:pt idx="5">
                  <c:v>153.073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117.833</c:v>
                </c:pt>
                <c:pt idx="1">
                  <c:v>8.097999999999999</c:v>
                </c:pt>
                <c:pt idx="2">
                  <c:v>8.565000000000012</c:v>
                </c:pt>
                <c:pt idx="3">
                  <c:v>9.043999999999983</c:v>
                </c:pt>
                <c:pt idx="4">
                  <c:v>9.533000000000015</c:v>
                </c:pt>
                <c:pt idx="5">
                  <c:v>10.028999999999996</c:v>
                </c:pt>
                <c:pt idx="6">
                  <c:v>163.102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253.483</c:v>
                </c:pt>
                <c:pt idx="2">
                  <c:v>272.137</c:v>
                </c:pt>
                <c:pt idx="3">
                  <c:v>292.098</c:v>
                </c:pt>
                <c:pt idx="4">
                  <c:v>313.462</c:v>
                </c:pt>
                <c:pt idx="5">
                  <c:v>336.327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253.483</c:v>
                </c:pt>
                <c:pt idx="1">
                  <c:v>18.653999999999996</c:v>
                </c:pt>
                <c:pt idx="2">
                  <c:v>19.961000000000013</c:v>
                </c:pt>
                <c:pt idx="3">
                  <c:v>21.363999999999976</c:v>
                </c:pt>
                <c:pt idx="4">
                  <c:v>22.86500000000001</c:v>
                </c:pt>
                <c:pt idx="5">
                  <c:v>24.476</c:v>
                </c:pt>
                <c:pt idx="6">
                  <c:v>360.803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Geriatric Patients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68.05608888609108</c:v>
                </c:pt>
                <c:pt idx="1">
                  <c:v>68.26611296038952</c:v>
                </c:pt>
                <c:pt idx="2">
                  <c:v>68.86801996545175</c:v>
                </c:pt>
              </c:numCache>
            </c:numRef>
          </c:val>
        </c:ser>
        <c:ser>
          <c:idx val="1"/>
          <c:order val="1"/>
          <c:tx>
            <c:strRef>
              <c:strCache>
                <c:ptCount val="1"/>
                <c:pt idx="0">
                  <c:v>Adults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31.943911113908907</c:v>
                </c:pt>
                <c:pt idx="1">
                  <c:v>31.733887039610465</c:v>
                </c:pt>
                <c:pt idx="2">
                  <c:v>31.131980034548253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High-performance Polymers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32.58354340378773</c:v>
                </c:pt>
                <c:pt idx="1">
                  <c:v>32.58860282236347</c:v>
                </c:pt>
                <c:pt idx="2">
                  <c:v>32.58860282236347</c:v>
                </c:pt>
                <c:pt idx="3">
                  <c:v>32.58860282236347</c:v>
                </c:pt>
              </c:numCache>
            </c:numRef>
          </c:val>
        </c:ser>
        <c:ser>
          <c:idx val="1"/>
          <c:order val="1"/>
          <c:tx>
            <c:strRef>
              <c:strCache>
                <c:ptCount val="1"/>
                <c:pt idx="0">
                  <c:v>Acrylic / Resin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26.77374873419085</c:v>
                </c:pt>
                <c:pt idx="1">
                  <c:v>26.770440590326405</c:v>
                </c:pt>
                <c:pt idx="2">
                  <c:v>26.770440590326405</c:v>
                </c:pt>
                <c:pt idx="3">
                  <c:v>26.770440590326405</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22.76086441298774</c:v>
                </c:pt>
                <c:pt idx="1">
                  <c:v>22.75988365830012</c:v>
                </c:pt>
                <c:pt idx="2">
                  <c:v>22.75988365830012</c:v>
                </c:pt>
                <c:pt idx="3">
                  <c:v>22.75988365830012</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17.881843449033674</c:v>
                </c:pt>
                <c:pt idx="1">
                  <c:v>17.88107292901002</c:v>
                </c:pt>
                <c:pt idx="2">
                  <c:v>17.88107292901002</c:v>
                </c:pt>
                <c:pt idx="3">
                  <c:v>17.88107292901002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53.87797311271976</c:v>
                </c:pt>
                <c:pt idx="1">
                  <c:v>53.87598569397164</c:v>
                </c:pt>
                <c:pt idx="2">
                  <c:v>53.87598569397164</c:v>
                </c:pt>
                <c:pt idx="3">
                  <c:v>53.87598569397164</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46.12202688728025</c:v>
                </c:pt>
                <c:pt idx="1">
                  <c:v>46.12401430602836</c:v>
                </c:pt>
                <c:pt idx="2">
                  <c:v>46.12401430602836</c:v>
                </c:pt>
                <c:pt idx="3">
                  <c:v>46.12401430602836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(Units)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531933.838</c:v>
                </c:pt>
                <c:pt idx="1">
                  <c:v>541812.842</c:v>
                </c:pt>
                <c:pt idx="2">
                  <c:v>552889.6000000001</c:v>
                </c:pt>
                <c:pt idx="3">
                  <c:v>565220.095</c:v>
                </c:pt>
                <c:pt idx="4">
                  <c:v>578883.998</c:v>
                </c:pt>
                <c:pt idx="5">
                  <c:v>593941.811</c:v>
                </c:pt>
                <c:pt idx="6">
                  <c:v>609394.995</c:v>
                </c:pt>
                <c:pt idx="7">
                  <c:v>625187.905</c:v>
                </c:pt>
                <c:pt idx="8">
                  <c:v>641326.973</c:v>
                </c:pt>
                <c:pt idx="9">
                  <c:v>657816.7609999999</c:v>
                </c:pt>
                <c:pt idx="10">
                  <c:v>674661.2270000001</c:v>
                </c:pt>
                <c:pt idx="11">
                  <c:v>691870.873</c:v>
                </c:pt>
                <c:pt idx="12">
                  <c:v>709443.274</c:v>
                </c:pt>
                <c:pt idx="13">
                  <c:v>727391.45</c:v>
                </c:pt>
                <c:pt idx="14">
                  <c:v>745719.212</c:v>
                </c:pt>
                <c:pt idx="15">
                  <c:v>764428.958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0.037769686344917064</c:v>
                </c:pt>
                <c:pt idx="1">
                  <c:v>0.02775158745701667</c:v>
                </c:pt>
                <c:pt idx="2">
                  <c:v>0.025555866287209295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098907656563804"/>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593941.811</c:v>
                </c:pt>
                <c:pt idx="2">
                  <c:v>609394.995</c:v>
                </c:pt>
                <c:pt idx="3">
                  <c:v>625187.905</c:v>
                </c:pt>
                <c:pt idx="4">
                  <c:v>641326.973</c:v>
                </c:pt>
                <c:pt idx="5">
                  <c:v>657816.7609999999</c:v>
                </c:pt>
                <c:pt idx="6">
                  <c:v>674661.2270000001</c:v>
                </c:pt>
                <c:pt idx="7">
                  <c:v>691870.873</c:v>
                </c:pt>
                <c:pt idx="8">
                  <c:v>709443.274</c:v>
                </c:pt>
                <c:pt idx="9">
                  <c:v>727391.45</c:v>
                </c:pt>
                <c:pt idx="10">
                  <c:v>745719.212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593941.811</c:v>
                </c:pt>
                <c:pt idx="1">
                  <c:v>15453.184000000008</c:v>
                </c:pt>
                <c:pt idx="2">
                  <c:v>15792.910000000033</c:v>
                </c:pt>
                <c:pt idx="3">
                  <c:v>16139.06799999997</c:v>
                </c:pt>
                <c:pt idx="4">
                  <c:v>16489.787999999942</c:v>
                </c:pt>
                <c:pt idx="5">
                  <c:v>16844.46600000013</c:v>
                </c:pt>
                <c:pt idx="6">
                  <c:v>17209.64599999995</c:v>
                </c:pt>
                <c:pt idx="7">
                  <c:v>17572.400999999954</c:v>
                </c:pt>
                <c:pt idx="8">
                  <c:v>17948.175999999978</c:v>
                </c:pt>
                <c:pt idx="9">
                  <c:v>18327.762000000104</c:v>
                </c:pt>
                <c:pt idx="10">
                  <c:v>18709.745999999926</c:v>
                </c:pt>
                <c:pt idx="11">
                  <c:v>764428.958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70.02305547520454</c:v>
                </c:pt>
                <c:pt idx="1">
                  <c:v>16.89134194098827</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29.976944524795456</c:v>
                </c:pt>
                <c:pt idx="1">
                  <c:v>83.10865805901173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221.38599999999997</c:v>
                </c:pt>
                <c:pt idx="1">
                  <c:v>227.078</c:v>
                </c:pt>
                <c:pt idx="2">
                  <c:v>233.33999999999997</c:v>
                </c:pt>
                <c:pt idx="3">
                  <c:v>240.215</c:v>
                </c:pt>
                <c:pt idx="4">
                  <c:v>247.74899999999997</c:v>
                </c:pt>
                <c:pt idx="5">
                  <c:v>255.97000000000003</c:v>
                </c:pt>
                <c:pt idx="6">
                  <c:v>264.468</c:v>
                </c:pt>
                <c:pt idx="7">
                  <c:v>273.221</c:v>
                </c:pt>
                <c:pt idx="8">
                  <c:v>282.23400000000004</c:v>
                </c:pt>
                <c:pt idx="9">
                  <c:v>291.518</c:v>
                </c:pt>
                <c:pt idx="10">
                  <c:v>301.076</c:v>
                </c:pt>
                <c:pt idx="11">
                  <c:v>310.91700000000003</c:v>
                </c:pt>
                <c:pt idx="12">
                  <c:v>321.046</c:v>
                </c:pt>
                <c:pt idx="13">
                  <c:v>331.473</c:v>
                </c:pt>
                <c:pt idx="14">
                  <c:v>342.202</c:v>
                </c:pt>
                <c:pt idx="15">
                  <c:v>353.245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0.04400292708053355</c:v>
                </c:pt>
                <c:pt idx="1">
                  <c:v>0.03502511467360803</c:v>
                </c:pt>
                <c:pt idx="2">
                  <c:v>0.03273452375024832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9403951558720296"/>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255.97000000000003</c:v>
                </c:pt>
                <c:pt idx="2">
                  <c:v>264.468</c:v>
                </c:pt>
                <c:pt idx="3">
                  <c:v>273.221</c:v>
                </c:pt>
                <c:pt idx="4">
                  <c:v>282.23400000000004</c:v>
                </c:pt>
                <c:pt idx="5">
                  <c:v>291.518</c:v>
                </c:pt>
                <c:pt idx="6">
                  <c:v>301.076</c:v>
                </c:pt>
                <c:pt idx="7">
                  <c:v>310.91700000000003</c:v>
                </c:pt>
                <c:pt idx="8">
                  <c:v>321.046</c:v>
                </c:pt>
                <c:pt idx="9">
                  <c:v>331.473</c:v>
                </c:pt>
                <c:pt idx="10">
                  <c:v>342.202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255.97000000000003</c:v>
                </c:pt>
                <c:pt idx="1">
                  <c:v>8.49799999999999</c:v>
                </c:pt>
                <c:pt idx="2">
                  <c:v>8.752999999999986</c:v>
                </c:pt>
                <c:pt idx="3">
                  <c:v>9.013000000000034</c:v>
                </c:pt>
                <c:pt idx="4">
                  <c:v>9.283999999999935</c:v>
                </c:pt>
                <c:pt idx="5">
                  <c:v>9.55800000000005</c:v>
                </c:pt>
                <c:pt idx="6">
                  <c:v>9.841000000000008</c:v>
                </c:pt>
                <c:pt idx="7">
                  <c:v>10.128999999999962</c:v>
                </c:pt>
                <c:pt idx="8">
                  <c:v>10.427000000000021</c:v>
                </c:pt>
                <c:pt idx="9">
                  <c:v>10.728999999999985</c:v>
                </c:pt>
                <c:pt idx="10">
                  <c:v>11.043000000000006</c:v>
                </c:pt>
                <c:pt idx="11">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68.93589287830312</c:v>
                </c:pt>
                <c:pt idx="1">
                  <c:v>22.748844649840034</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31.06410712169688</c:v>
                </c:pt>
                <c:pt idx="1">
                  <c:v>77.25115535015996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9EC6DE"/>
              </a:solidFill>
            </c:spPr>
          </c:dPt>
          <c:dPt>
            <c:idx val="1"/>
            <c:spPr>
              <a:solidFill>
                <a:srgbClr val="6EAACE"/>
              </a:solidFill>
            </c:spPr>
          </c:dPt>
          <c:dPt>
            <c:idx val="2"/>
            <c:spPr>
              <a:solidFill>
                <a:srgbClr val="3E8EBE"/>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Acrylic Partial Dentu…</c:v>
                </c:pt>
                <c:pt idx="1">
                  <c:v>Cast Metal Partial De…</c:v>
                </c:pt>
                <c:pt idx="2">
                  <c:v>Combination Framework…</c:v>
                </c:pt>
                <c:pt idx="3">
                  <c:v>Flexible Partial Dent…</c:v>
                </c:pt>
              </c:strCache>
            </c:strRef>
          </c:cat>
          <c:val>
            <c:numRef>
              <c:numCache>
                <c:formatCode>General</c:formatCode>
                <c:ptCount val="4"/>
                <c:pt idx="0">
                  <c:v>45.82</c:v>
                </c:pt>
                <c:pt idx="1">
                  <c:v>49.044</c:v>
                </c:pt>
                <c:pt idx="2">
                  <c:v>67.108</c:v>
                </c:pt>
                <c:pt idx="3">
                  <c:v>93.998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9573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9DABB6"/>
              </a:solidFill>
            </c:spPr>
          </c:dPt>
          <c:dPt>
            <c:idx val="1"/>
            <c:spPr>
              <a:solidFill>
                <a:srgbClr val="6C8192"/>
              </a:solidFill>
            </c:spPr>
          </c:dPt>
          <c:dPt>
            <c:idx val="2"/>
            <c:spPr>
              <a:solidFill>
                <a:srgbClr val="3B576E"/>
              </a:solidFill>
            </c:spPr>
          </c:dPt>
          <c:dPt>
            <c:idx val="3"/>
            <c:spPr>
              <a:solidFill>
                <a:srgbClr val="0B2E4A"/>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High-performance Poly…</c:v>
                </c:pt>
                <c:pt idx="1">
                  <c:v>Flexible Thermoplasti…</c:v>
                </c:pt>
                <c:pt idx="2">
                  <c:v>Metal Alloys</c:v>
                </c:pt>
                <c:pt idx="3">
                  <c:v>Acrylic / Resin</c:v>
                </c:pt>
              </c:strCache>
            </c:strRef>
          </c:cat>
          <c:val>
            <c:numRef>
              <c:numCache>
                <c:formatCode>General</c:formatCode>
                <c:ptCount val="4"/>
                <c:pt idx="0">
                  <c:v>25.088</c:v>
                </c:pt>
                <c:pt idx="1">
                  <c:v>48.462</c:v>
                </c:pt>
                <c:pt idx="2">
                  <c:v>72.461</c:v>
                </c:pt>
                <c:pt idx="3">
                  <c:v>109.959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7.3450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C5B1E6"/>
              </a:solidFill>
            </c:spPr>
          </c:dPt>
          <c:dPt>
            <c:idx val="3"/>
            <c:spPr>
              <a:solidFill>
                <a:srgbClr val="6F3CC2"/>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  </c:v>
                </c:pt>
                <c:pt idx="2">
                  <c:v>Conventional Fabricat…</c:v>
                </c:pt>
                <c:pt idx="3">
                  <c:v>Digital Fabrication</c:v>
                </c:pt>
              </c:strCache>
            </c:strRef>
          </c:cat>
          <c:val>
            <c:numRef>
              <c:numCache>
                <c:formatCode>General</c:formatCode>
                <c:ptCount val="4"/>
                <c:pt idx="2">
                  <c:v>90.68100000000001</c:v>
                </c:pt>
                <c:pt idx="3">
                  <c:v>165.289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1.487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DABAA0"/>
              </a:solidFill>
            </c:spPr>
          </c:dPt>
          <c:dPt>
            <c:idx val="1"/>
            <c:spPr>
              <a:solidFill>
                <a:srgbClr val="C79771"/>
              </a:solidFill>
            </c:spPr>
          </c:dPt>
          <c:dPt>
            <c:idx val="2"/>
            <c:spPr>
              <a:solidFill>
                <a:srgbClr val="B57542"/>
              </a:solidFill>
            </c:spPr>
          </c:dPt>
          <c:dPt>
            <c:idx val="3"/>
            <c:spPr>
              <a:solidFill>
                <a:srgbClr val="A35313"/>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Hospitals</c:v>
                </c:pt>
                <c:pt idx="1">
                  <c:v>Clinics</c:v>
                </c:pt>
                <c:pt idx="2">
                  <c:v>Academic &amp; Teaching D…</c:v>
                </c:pt>
                <c:pt idx="3">
                  <c:v>Laboratories</c:v>
                </c:pt>
              </c:strCache>
            </c:strRef>
          </c:cat>
          <c:val>
            <c:numRef>
              <c:numCache>
                <c:formatCode>General</c:formatCode>
                <c:ptCount val="4"/>
                <c:pt idx="0">
                  <c:v>17.195</c:v>
                </c:pt>
                <c:pt idx="1">
                  <c:v>26.465</c:v>
                </c:pt>
                <c:pt idx="2">
                  <c:v>105.81</c:v>
                </c:pt>
                <c:pt idx="3">
                  <c:v>106.5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2.7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C29A4C"/>
              </a:solidFill>
            </c:spPr>
          </c:dPt>
          <c:dPt>
            <c:idx val="3"/>
            <c:spPr>
              <a:solidFill>
                <a:srgbClr val="A86F00"/>
              </a:solidFill>
            </c:spPr>
          </c:dPt>
          <c:dLbls>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Online Dental Supply…</c:v>
                </c:pt>
                <c:pt idx="2">
                  <c:v>Direct Sales</c:v>
                </c:pt>
                <c:pt idx="3">
                  <c:v>Dental Dealers &amp; Dist…</c:v>
                </c:pt>
              </c:strCache>
            </c:strRef>
          </c:cat>
          <c:val>
            <c:numRef>
              <c:numCache>
                <c:formatCode>General</c:formatCode>
                <c:ptCount val="4"/>
                <c:pt idx="1">
                  <c:v>21.531</c:v>
                </c:pt>
                <c:pt idx="2">
                  <c:v>56.356</c:v>
                </c:pt>
                <c:pt idx="3">
                  <c:v>178.083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8.631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E59999"/>
              </a:solidFill>
            </c:spPr>
          </c:dPt>
          <c:dPt>
            <c:idx val="3"/>
            <c:spPr>
              <a:solidFill>
                <a:srgbClr val="C00000"/>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  </c:v>
                </c:pt>
                <c:pt idx="2">
                  <c:v>Adults</c:v>
                </c:pt>
                <c:pt idx="3">
                  <c:v>Geriatric Patients</c:v>
                </c:pt>
              </c:strCache>
            </c:strRef>
          </c:cat>
          <c:val>
            <c:numRef>
              <c:numCache>
                <c:formatCode>General</c:formatCode>
                <c:ptCount val="4"/>
                <c:pt idx="2">
                  <c:v>76.922</c:v>
                </c:pt>
                <c:pt idx="3">
                  <c:v>179.048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9.9243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numCache>
                <c:formatCode>General</c:formatCode>
                <c:ptCount val="6"/>
                <c:pt idx="0">
                  <c:v>0.0</c:v>
                </c:pt>
                <c:pt idx="1">
                  <c:v>255.97000000000003</c:v>
                </c:pt>
                <c:pt idx="2">
                  <c:v>288.75800000000004</c:v>
                </c:pt>
                <c:pt idx="3">
                  <c:v>299.67400000000004</c:v>
                </c:pt>
                <c:pt idx="4">
                  <c:v>319.94500000000005</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numCache>
                <c:formatCode>General</c:formatCode>
                <c:ptCount val="6"/>
                <c:pt idx="0">
                  <c:v>255.97000000000003</c:v>
                </c:pt>
                <c:pt idx="1">
                  <c:v>32.788</c:v>
                </c:pt>
                <c:pt idx="2">
                  <c:v>10.915999999999997</c:v>
                </c:pt>
                <c:pt idx="3">
                  <c:v>20.271</c:v>
                </c:pt>
                <c:pt idx="4">
                  <c:v>33.3</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numCache>
                <c:formatCode>General</c:formatCode>
                <c:ptCount val="5"/>
                <c:pt idx="0">
                  <c:v>0.0</c:v>
                </c:pt>
                <c:pt idx="1">
                  <c:v>32.788</c:v>
                </c:pt>
                <c:pt idx="2">
                  <c:v>43.70399999999999</c:v>
                </c:pt>
                <c:pt idx="3">
                  <c:v>63.974999999999994</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numCache>
                <c:formatCode>General</c:formatCode>
                <c:ptCount val="5"/>
                <c:pt idx="0">
                  <c:v>32.788</c:v>
                </c:pt>
                <c:pt idx="1">
                  <c:v>10.915999999999997</c:v>
                </c:pt>
                <c:pt idx="2">
                  <c:v>20.271</c:v>
                </c:pt>
                <c:pt idx="3">
                  <c:v>33.3</c:v>
                </c:pt>
                <c:pt idx="4">
                  <c:v>97.27499999999999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Metal Alloys</c:v>
                </c:pt>
                <c:pt idx="2">
                  <c:v>Acrylic / Resin</c:v>
                </c:pt>
                <c:pt idx="3">
                  <c:v>Flexible Thermoplastics</c:v>
                </c:pt>
                <c:pt idx="4">
                  <c:v>High-performance Polymers</c:v>
                </c:pt>
                <c:pt idx="5">
                  <c:v>2036 Total</c:v>
                </c:pt>
              </c:strCache>
            </c:strRef>
          </c:cat>
          <c:val>
            <c:numRef>
              <c:numCache>
                <c:formatCode>General</c:formatCode>
                <c:ptCount val="6"/>
                <c:pt idx="0">
                  <c:v>0.0</c:v>
                </c:pt>
                <c:pt idx="1">
                  <c:v>255.97</c:v>
                </c:pt>
                <c:pt idx="2">
                  <c:v>280.817</c:v>
                </c:pt>
                <c:pt idx="3">
                  <c:v>325.952</c:v>
                </c:pt>
                <c:pt idx="4">
                  <c:v>342.321</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Metal Alloys</c:v>
                </c:pt>
                <c:pt idx="2">
                  <c:v>Acrylic / Resin</c:v>
                </c:pt>
                <c:pt idx="3">
                  <c:v>Flexible Thermoplastics</c:v>
                </c:pt>
                <c:pt idx="4">
                  <c:v>High-performance Polymers</c:v>
                </c:pt>
                <c:pt idx="5">
                  <c:v>2036 Total</c:v>
                </c:pt>
              </c:strCache>
            </c:strRef>
          </c:cat>
          <c:val>
            <c:numRef>
              <c:numCache>
                <c:formatCode>General</c:formatCode>
                <c:ptCount val="6"/>
                <c:pt idx="0">
                  <c:v>255.97</c:v>
                </c:pt>
                <c:pt idx="1">
                  <c:v>24.846999999999994</c:v>
                </c:pt>
                <c:pt idx="2">
                  <c:v>45.13499999999999</c:v>
                </c:pt>
                <c:pt idx="3">
                  <c:v>16.369</c:v>
                </c:pt>
                <c:pt idx="4">
                  <c:v>10.924</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Metal Alloys</c:v>
                </c:pt>
                <c:pt idx="1">
                  <c:v>Acrylic / Resin</c:v>
                </c:pt>
                <c:pt idx="2">
                  <c:v>Flexible Thermoplastics</c:v>
                </c:pt>
                <c:pt idx="3">
                  <c:v>High-performance Polymers</c:v>
                </c:pt>
                <c:pt idx="4">
                  <c:v>Total Absolute $ Opportunity</c:v>
                </c:pt>
              </c:strCache>
            </c:strRef>
          </c:cat>
          <c:val>
            <c:numRef>
              <c:numCache>
                <c:formatCode>General</c:formatCode>
                <c:ptCount val="5"/>
                <c:pt idx="0">
                  <c:v>0.0</c:v>
                </c:pt>
                <c:pt idx="1">
                  <c:v>24.846999999999994</c:v>
                </c:pt>
                <c:pt idx="2">
                  <c:v>69.98199999999999</c:v>
                </c:pt>
                <c:pt idx="3">
                  <c:v>86.35099999999998</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Metal Alloys</c:v>
                </c:pt>
                <c:pt idx="1">
                  <c:v>Acrylic / Resin</c:v>
                </c:pt>
                <c:pt idx="2">
                  <c:v>Flexible Thermoplastics</c:v>
                </c:pt>
                <c:pt idx="3">
                  <c:v>High-performance Polymers</c:v>
                </c:pt>
                <c:pt idx="4">
                  <c:v>Total Absolute $ Opportunity</c:v>
                </c:pt>
              </c:strCache>
            </c:strRef>
          </c:cat>
          <c:val>
            <c:numRef>
              <c:numCache>
                <c:formatCode>General</c:formatCode>
                <c:ptCount val="5"/>
                <c:pt idx="0">
                  <c:v>24.846999999999994</c:v>
                </c:pt>
                <c:pt idx="1">
                  <c:v>45.13499999999999</c:v>
                </c:pt>
                <c:pt idx="2">
                  <c:v>16.369</c:v>
                </c:pt>
                <c:pt idx="3">
                  <c:v>10.924</c:v>
                </c:pt>
                <c:pt idx="4">
                  <c:v>97.27499999999998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Conventional Fabrication</c:v>
                </c:pt>
                <c:pt idx="2">
                  <c:v>Digital Fabrication</c:v>
                </c:pt>
                <c:pt idx="3">
                  <c:v>2036 Total</c:v>
                </c:pt>
              </c:strCache>
            </c:strRef>
          </c:cat>
          <c:val>
            <c:numRef>
              <c:numCache>
                <c:formatCode>General</c:formatCode>
                <c:ptCount val="4"/>
                <c:pt idx="0">
                  <c:v>0.0</c:v>
                </c:pt>
                <c:pt idx="1">
                  <c:v>255.97</c:v>
                </c:pt>
                <c:pt idx="2">
                  <c:v>307.457</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Conventional Fabrication</c:v>
                </c:pt>
                <c:pt idx="2">
                  <c:v>Digital Fabrication</c:v>
                </c:pt>
                <c:pt idx="3">
                  <c:v>2036 Total</c:v>
                </c:pt>
              </c:strCache>
            </c:strRef>
          </c:cat>
          <c:val>
            <c:numRef>
              <c:numCache>
                <c:formatCode>General</c:formatCode>
                <c:ptCount val="4"/>
                <c:pt idx="0">
                  <c:v>255.97</c:v>
                </c:pt>
                <c:pt idx="1">
                  <c:v>51.486999999999995</c:v>
                </c:pt>
                <c:pt idx="2">
                  <c:v>45.78800000000001</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Conventional Fabrication</c:v>
                </c:pt>
                <c:pt idx="1">
                  <c:v>Digital Fabrication</c:v>
                </c:pt>
                <c:pt idx="2">
                  <c:v>Total Absolute $ Opportunity</c:v>
                </c:pt>
              </c:strCache>
            </c:strRef>
          </c:cat>
          <c:val>
            <c:numRef>
              <c:numCache>
                <c:formatCode>General</c:formatCode>
                <c:ptCount val="3"/>
                <c:pt idx="0">
                  <c:v>0.0</c:v>
                </c:pt>
                <c:pt idx="1">
                  <c:v>51.486999999999995</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Conventional Fabrication</c:v>
                </c:pt>
                <c:pt idx="1">
                  <c:v>Digital Fabrication</c:v>
                </c:pt>
                <c:pt idx="2">
                  <c:v>Total Absolute $ Opportunity</c:v>
                </c:pt>
              </c:strCache>
            </c:strRef>
          </c:cat>
          <c:val>
            <c:numRef>
              <c:numCache>
                <c:formatCode>General</c:formatCode>
                <c:ptCount val="3"/>
                <c:pt idx="0">
                  <c:v>51.486999999999995</c:v>
                </c:pt>
                <c:pt idx="1">
                  <c:v>45.78800000000001</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Dental Clinics</c:v>
                </c:pt>
                <c:pt idx="2">
                  <c:v>Dental Hospitals</c:v>
                </c:pt>
                <c:pt idx="3">
                  <c:v>Dental Laboratories</c:v>
                </c:pt>
                <c:pt idx="4">
                  <c:v>Academic &amp; Teaching Dental Institutions</c:v>
                </c:pt>
                <c:pt idx="5">
                  <c:v>2036 Total</c:v>
                </c:pt>
              </c:strCache>
            </c:strRef>
          </c:cat>
          <c:val>
            <c:numRef>
              <c:numCache>
                <c:formatCode>General</c:formatCode>
                <c:ptCount val="6"/>
                <c:pt idx="0">
                  <c:v>0.0</c:v>
                </c:pt>
                <c:pt idx="1">
                  <c:v>255.97</c:v>
                </c:pt>
                <c:pt idx="2">
                  <c:v>267.239</c:v>
                </c:pt>
                <c:pt idx="3">
                  <c:v>278.85299999999995</c:v>
                </c:pt>
                <c:pt idx="4">
                  <c:v>301.89599999999996</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Dental Clinics</c:v>
                </c:pt>
                <c:pt idx="2">
                  <c:v>Dental Hospitals</c:v>
                </c:pt>
                <c:pt idx="3">
                  <c:v>Dental Laboratories</c:v>
                </c:pt>
                <c:pt idx="4">
                  <c:v>Academic &amp; Teaching Dental Institutions</c:v>
                </c:pt>
                <c:pt idx="5">
                  <c:v>2036 Total</c:v>
                </c:pt>
              </c:strCache>
            </c:strRef>
          </c:cat>
          <c:val>
            <c:numRef>
              <c:numCache>
                <c:formatCode>General</c:formatCode>
                <c:ptCount val="6"/>
                <c:pt idx="0">
                  <c:v>255.97</c:v>
                </c:pt>
                <c:pt idx="1">
                  <c:v>11.269000000000002</c:v>
                </c:pt>
                <c:pt idx="2">
                  <c:v>11.614</c:v>
                </c:pt>
                <c:pt idx="3">
                  <c:v>23.043000000000006</c:v>
                </c:pt>
                <c:pt idx="4">
                  <c:v>51.34899999999999</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Dental Clinics</c:v>
                </c:pt>
                <c:pt idx="1">
                  <c:v>Dental Hospitals</c:v>
                </c:pt>
                <c:pt idx="2">
                  <c:v>Dental Laboratories</c:v>
                </c:pt>
                <c:pt idx="3">
                  <c:v>Academic &amp; Teaching Dental Institutions</c:v>
                </c:pt>
                <c:pt idx="4">
                  <c:v>Total Absolute $ Opportunity</c:v>
                </c:pt>
              </c:strCache>
            </c:strRef>
          </c:cat>
          <c:val>
            <c:numRef>
              <c:numCache>
                <c:formatCode>General</c:formatCode>
                <c:ptCount val="5"/>
                <c:pt idx="0">
                  <c:v>0.0</c:v>
                </c:pt>
                <c:pt idx="1">
                  <c:v>11.269000000000002</c:v>
                </c:pt>
                <c:pt idx="2">
                  <c:v>22.883000000000003</c:v>
                </c:pt>
                <c:pt idx="3">
                  <c:v>45.92600000000001</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Dental Clinics</c:v>
                </c:pt>
                <c:pt idx="1">
                  <c:v>Dental Hospitals</c:v>
                </c:pt>
                <c:pt idx="2">
                  <c:v>Dental Laboratories</c:v>
                </c:pt>
                <c:pt idx="3">
                  <c:v>Academic &amp; Teaching Dental Institutions</c:v>
                </c:pt>
                <c:pt idx="4">
                  <c:v>Total Absolute $ Opportunity</c:v>
                </c:pt>
              </c:strCache>
            </c:strRef>
          </c:cat>
          <c:val>
            <c:numRef>
              <c:numCache>
                <c:formatCode>General</c:formatCode>
                <c:ptCount val="5"/>
                <c:pt idx="0">
                  <c:v>11.269000000000002</c:v>
                </c:pt>
                <c:pt idx="1">
                  <c:v>11.614</c:v>
                </c:pt>
                <c:pt idx="2">
                  <c:v>23.043000000000006</c:v>
                </c:pt>
                <c:pt idx="3">
                  <c:v>51.34899999999999</c:v>
                </c:pt>
                <c:pt idx="4">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Direct Sales</c:v>
                </c:pt>
                <c:pt idx="2">
                  <c:v>Dental Dealers &amp; Distributors</c:v>
                </c:pt>
                <c:pt idx="3">
                  <c:v>Online Dental Supply Channels</c:v>
                </c:pt>
                <c:pt idx="4">
                  <c:v>2036 Total</c:v>
                </c:pt>
              </c:strCache>
            </c:strRef>
          </c:cat>
          <c:val>
            <c:numRef>
              <c:numCache>
                <c:formatCode>General</c:formatCode>
                <c:ptCount val="5"/>
                <c:pt idx="0">
                  <c:v>0.0</c:v>
                </c:pt>
                <c:pt idx="1">
                  <c:v>255.97</c:v>
                </c:pt>
                <c:pt idx="2">
                  <c:v>317.32</c:v>
                </c:pt>
                <c:pt idx="3">
                  <c:v>349.61199999999997</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Direct Sales</c:v>
                </c:pt>
                <c:pt idx="2">
                  <c:v>Dental Dealers &amp; Distributors</c:v>
                </c:pt>
                <c:pt idx="3">
                  <c:v>Online Dental Supply Channels</c:v>
                </c:pt>
                <c:pt idx="4">
                  <c:v>2036 Total</c:v>
                </c:pt>
              </c:strCache>
            </c:strRef>
          </c:cat>
          <c:val>
            <c:numRef>
              <c:numCache>
                <c:formatCode>General</c:formatCode>
                <c:ptCount val="5"/>
                <c:pt idx="0">
                  <c:v>255.97</c:v>
                </c:pt>
                <c:pt idx="1">
                  <c:v>61.35</c:v>
                </c:pt>
                <c:pt idx="2">
                  <c:v>32.292</c:v>
                </c:pt>
                <c:pt idx="3">
                  <c:v>3.6330000000000027</c:v>
                </c:pt>
                <c:pt idx="4">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Direct Sales</c:v>
                </c:pt>
                <c:pt idx="1">
                  <c:v>Dental Dealers &amp; Distributors</c:v>
                </c:pt>
                <c:pt idx="2">
                  <c:v>Online Dental Supply Channels</c:v>
                </c:pt>
                <c:pt idx="3">
                  <c:v>Total Absolute $ Opportunity</c:v>
                </c:pt>
              </c:strCache>
            </c:strRef>
          </c:cat>
          <c:val>
            <c:numRef>
              <c:numCache>
                <c:formatCode>General</c:formatCode>
                <c:ptCount val="4"/>
                <c:pt idx="0">
                  <c:v>0.0</c:v>
                </c:pt>
                <c:pt idx="1">
                  <c:v>61.35</c:v>
                </c:pt>
                <c:pt idx="2">
                  <c:v>93.642</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Direct Sales</c:v>
                </c:pt>
                <c:pt idx="1">
                  <c:v>Dental Dealers &amp; Distributors</c:v>
                </c:pt>
                <c:pt idx="2">
                  <c:v>Online Dental Supply Channels</c:v>
                </c:pt>
                <c:pt idx="3">
                  <c:v>Total Absolute $ Opportunity</c:v>
                </c:pt>
              </c:strCache>
            </c:strRef>
          </c:cat>
          <c:val>
            <c:numRef>
              <c:numCache>
                <c:formatCode>General</c:formatCode>
                <c:ptCount val="4"/>
                <c:pt idx="0">
                  <c:v>61.35</c:v>
                </c:pt>
                <c:pt idx="1">
                  <c:v>32.292</c:v>
                </c:pt>
                <c:pt idx="2">
                  <c:v>3.6330000000000027</c:v>
                </c:pt>
                <c:pt idx="3">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Adults</c:v>
                </c:pt>
                <c:pt idx="2">
                  <c:v>Geriatric Patients</c:v>
                </c:pt>
                <c:pt idx="3">
                  <c:v>2036 Total</c:v>
                </c:pt>
              </c:strCache>
            </c:strRef>
          </c:cat>
          <c:val>
            <c:numRef>
              <c:numCache>
                <c:formatCode>General</c:formatCode>
                <c:ptCount val="4"/>
                <c:pt idx="0">
                  <c:v>0.0</c:v>
                </c:pt>
                <c:pt idx="1">
                  <c:v>255.97</c:v>
                </c:pt>
                <c:pt idx="2">
                  <c:v>282.85699999999997</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Adults</c:v>
                </c:pt>
                <c:pt idx="2">
                  <c:v>Geriatric Patients</c:v>
                </c:pt>
                <c:pt idx="3">
                  <c:v>2036 Total</c:v>
                </c:pt>
              </c:strCache>
            </c:strRef>
          </c:cat>
          <c:val>
            <c:numRef>
              <c:numCache>
                <c:formatCode>General</c:formatCode>
                <c:ptCount val="4"/>
                <c:pt idx="0">
                  <c:v>255.97</c:v>
                </c:pt>
                <c:pt idx="1">
                  <c:v>26.887</c:v>
                </c:pt>
                <c:pt idx="2">
                  <c:v>70.388</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Adults</c:v>
                </c:pt>
                <c:pt idx="1">
                  <c:v>Geriatric Patients</c:v>
                </c:pt>
                <c:pt idx="2">
                  <c:v>Total Absolute $ Opportunity</c:v>
                </c:pt>
              </c:strCache>
            </c:strRef>
          </c:cat>
          <c:val>
            <c:numRef>
              <c:numCache>
                <c:formatCode>General</c:formatCode>
                <c:ptCount val="3"/>
                <c:pt idx="0">
                  <c:v>0.0</c:v>
                </c:pt>
                <c:pt idx="1">
                  <c:v>26.887</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Adults</c:v>
                </c:pt>
                <c:pt idx="1">
                  <c:v>Geriatric Patients</c:v>
                </c:pt>
                <c:pt idx="2">
                  <c:v>Total Absolute $ Opportunity</c:v>
                </c:pt>
              </c:strCache>
            </c:strRef>
          </c:cat>
          <c:val>
            <c:numRef>
              <c:numCache>
                <c:formatCode>General</c:formatCode>
                <c:ptCount val="3"/>
                <c:pt idx="0">
                  <c:v>26.887</c:v>
                </c:pt>
                <c:pt idx="1">
                  <c:v>70.388</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High-performance Polymers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34.35800462586735</c:v>
                </c:pt>
                <c:pt idx="1">
                  <c:v>34.364159139919366</c:v>
                </c:pt>
                <c:pt idx="2">
                  <c:v>34.364159139919366</c:v>
                </c:pt>
                <c:pt idx="3">
                  <c:v>34.364159139919366</c:v>
                </c:pt>
              </c:numCache>
            </c:numRef>
          </c:val>
        </c:ser>
        <c:ser>
          <c:idx val="1"/>
          <c:order val="1"/>
          <c:tx>
            <c:strRef>
              <c:strCache>
                <c:ptCount val="1"/>
                <c:pt idx="0">
                  <c:v>Acrylic / Resin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26.26586234919047</c:v>
                </c:pt>
                <c:pt idx="1">
                  <c:v>26.263399693721283</c:v>
                </c:pt>
                <c:pt idx="2">
                  <c:v>26.263399693721283</c:v>
                </c:pt>
                <c:pt idx="3">
                  <c:v>26.263399693721283</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20.54291429643058</c:v>
                </c:pt>
                <c:pt idx="1">
                  <c:v>20.540988217645403</c:v>
                </c:pt>
                <c:pt idx="2">
                  <c:v>20.540988217645403</c:v>
                </c:pt>
                <c:pt idx="3">
                  <c:v>20.540988217645403</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18.833218728511596</c:v>
                </c:pt>
                <c:pt idx="1">
                  <c:v>18.83145294871394</c:v>
                </c:pt>
                <c:pt idx="2">
                  <c:v>18.83145294871394</c:v>
                </c:pt>
                <c:pt idx="3">
                  <c:v>18.83145294871394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53.30812263649718</c:v>
                </c:pt>
                <c:pt idx="1">
                  <c:v>53.306663332916614</c:v>
                </c:pt>
                <c:pt idx="2">
                  <c:v>53.306663332916614</c:v>
                </c:pt>
                <c:pt idx="3">
                  <c:v>53.306663332916614</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46.691877363502826</c:v>
                </c:pt>
                <c:pt idx="1">
                  <c:v>46.69333666708339</c:v>
                </c:pt>
                <c:pt idx="2">
                  <c:v>46.69333666708339</c:v>
                </c:pt>
                <c:pt idx="3">
                  <c:v>46.69333666708339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Flexible Partial Dentures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391.0</c:v>
                </c:pt>
                <c:pt idx="1">
                  <c:v>392.0</c:v>
                </c:pt>
                <c:pt idx="2">
                  <c:v>394.0</c:v>
                </c:pt>
                <c:pt idx="3">
                  <c:v>396.0</c:v>
                </c:pt>
                <c:pt idx="4">
                  <c:v>400.0</c:v>
                </c:pt>
                <c:pt idx="5">
                  <c:v>405.0</c:v>
                </c:pt>
                <c:pt idx="6">
                  <c:v>410.0</c:v>
                </c:pt>
                <c:pt idx="7">
                  <c:v>415.0</c:v>
                </c:pt>
                <c:pt idx="8">
                  <c:v>419.0</c:v>
                </c:pt>
                <c:pt idx="9">
                  <c:v>424.0</c:v>
                </c:pt>
                <c:pt idx="10">
                  <c:v>427.0</c:v>
                </c:pt>
                <c:pt idx="11">
                  <c:v>429.0</c:v>
                </c:pt>
                <c:pt idx="12">
                  <c:v>431.0</c:v>
                </c:pt>
                <c:pt idx="13">
                  <c:v>433.0</c:v>
                </c:pt>
                <c:pt idx="14">
                  <c:v>435.0</c:v>
                </c:pt>
                <c:pt idx="15">
                  <c:v>436.0</c:v>
                </c:pt>
              </c:numCache>
            </c:numRef>
          </c:val>
          <c:smooth val="0"/>
        </c:ser>
        <c:ser>
          <c:idx val="1"/>
          <c:order val="1"/>
          <c:tx>
            <c:strRef>
              <c:strCache>
                <c:ptCount val="1"/>
                <c:pt idx="0">
                  <c:v>Acrylic Partial Dentures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313.0</c:v>
                </c:pt>
                <c:pt idx="1">
                  <c:v>315.0</c:v>
                </c:pt>
                <c:pt idx="2">
                  <c:v>317.0</c:v>
                </c:pt>
                <c:pt idx="3">
                  <c:v>319.0</c:v>
                </c:pt>
                <c:pt idx="4">
                  <c:v>322.0</c:v>
                </c:pt>
                <c:pt idx="5">
                  <c:v>324.0</c:v>
                </c:pt>
                <c:pt idx="6">
                  <c:v>328.0</c:v>
                </c:pt>
                <c:pt idx="7">
                  <c:v>331.0</c:v>
                </c:pt>
                <c:pt idx="8">
                  <c:v>335.0</c:v>
                </c:pt>
                <c:pt idx="9">
                  <c:v>337.0</c:v>
                </c:pt>
                <c:pt idx="10">
                  <c:v>340.0</c:v>
                </c:pt>
                <c:pt idx="11">
                  <c:v>342.0</c:v>
                </c:pt>
                <c:pt idx="12">
                  <c:v>345.0</c:v>
                </c:pt>
                <c:pt idx="13">
                  <c:v>346.0</c:v>
                </c:pt>
                <c:pt idx="14">
                  <c:v>348.0</c:v>
                </c:pt>
                <c:pt idx="15">
                  <c:v>350.0</c:v>
                </c:pt>
              </c:numCache>
            </c:numRef>
          </c:val>
          <c:smooth val="0"/>
        </c:ser>
        <c:ser>
          <c:idx val="2"/>
          <c:order val="2"/>
          <c:tx>
            <c:strRef>
              <c:strCache>
                <c:ptCount val="1"/>
                <c:pt idx="0">
                  <c:v>Cast Metal Partial Dentures</c:v>
                </c:pt>
              </c:strCache>
            </c:strRef>
          </c:tx>
          <c:spPr>
            <a:ln w="25400">
              <a:solidFill>
                <a:srgbClr val="7030A0"/>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307.0</c:v>
                </c:pt>
                <c:pt idx="1">
                  <c:v>309.0</c:v>
                </c:pt>
                <c:pt idx="2">
                  <c:v>312.0</c:v>
                </c:pt>
                <c:pt idx="3">
                  <c:v>314.0</c:v>
                </c:pt>
                <c:pt idx="4">
                  <c:v>316.0</c:v>
                </c:pt>
                <c:pt idx="5">
                  <c:v>318.0</c:v>
                </c:pt>
                <c:pt idx="6">
                  <c:v>321.0</c:v>
                </c:pt>
                <c:pt idx="7">
                  <c:v>323.0</c:v>
                </c:pt>
                <c:pt idx="8">
                  <c:v>325.0</c:v>
                </c:pt>
                <c:pt idx="9">
                  <c:v>328.0</c:v>
                </c:pt>
                <c:pt idx="10">
                  <c:v>331.0</c:v>
                </c:pt>
                <c:pt idx="11">
                  <c:v>334.0</c:v>
                </c:pt>
                <c:pt idx="12">
                  <c:v>337.0</c:v>
                </c:pt>
                <c:pt idx="13">
                  <c:v>340.0</c:v>
                </c:pt>
                <c:pt idx="14">
                  <c:v>342.0</c:v>
                </c:pt>
                <c:pt idx="15">
                  <c:v>344.0</c:v>
                </c:pt>
              </c:numCache>
            </c:numRef>
          </c:val>
          <c:smooth val="0"/>
        </c:ser>
        <c:ser>
          <c:idx val="3"/>
          <c:order val="3"/>
          <c:tx>
            <c:strRef>
              <c:strCache>
                <c:ptCount val="1"/>
                <c:pt idx="0">
                  <c:v>Combination Framework Partial Dentures</c:v>
                </c:pt>
              </c:strCache>
            </c:strRef>
          </c:tx>
          <c:spPr>
            <a:ln w="25400">
              <a:solidFill>
                <a:srgbClr val="008189"/>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237.0</c:v>
                </c:pt>
                <c:pt idx="1">
                  <c:v>239.0</c:v>
                </c:pt>
                <c:pt idx="2">
                  <c:v>241.0</c:v>
                </c:pt>
                <c:pt idx="3">
                  <c:v>243.0</c:v>
                </c:pt>
                <c:pt idx="4">
                  <c:v>244.0</c:v>
                </c:pt>
                <c:pt idx="5">
                  <c:v>246.0</c:v>
                </c:pt>
                <c:pt idx="6">
                  <c:v>247.0</c:v>
                </c:pt>
                <c:pt idx="7">
                  <c:v>249.0</c:v>
                </c:pt>
                <c:pt idx="8">
                  <c:v>250.0</c:v>
                </c:pt>
                <c:pt idx="9">
                  <c:v>252.0</c:v>
                </c:pt>
                <c:pt idx="10">
                  <c:v>254.0</c:v>
                </c:pt>
                <c:pt idx="11">
                  <c:v>257.0</c:v>
                </c:pt>
                <c:pt idx="12">
                  <c:v>259.0</c:v>
                </c:pt>
                <c:pt idx="13">
                  <c:v>261.0</c:v>
                </c:pt>
                <c:pt idx="14">
                  <c:v>263.0</c:v>
                </c:pt>
                <c:pt idx="15">
                  <c:v>265.0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
          <c:min val="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strCache>
                <c:ptCount val="4"/>
                <c:pt idx="0">
                  <c:v>Combination Framework Partial Dentures</c:v>
                </c:pt>
                <c:pt idx="1">
                  <c:v>Cast Metal Partial Dentures</c:v>
                </c:pt>
                <c:pt idx="2">
                  <c:v>Acrylic Partial Dentures</c:v>
                </c:pt>
                <c:pt idx="3">
                  <c:v>Flexible Partial Dentures</c:v>
                </c:pt>
              </c:strCache>
            </c:strRef>
          </c:cat>
          <c:val>
            <c:numRef>
              <c:numCache>
                <c:formatCode>General</c:formatCode>
                <c:ptCount val="4"/>
                <c:pt idx="0">
                  <c:v>76.9</c:v>
                </c:pt>
                <c:pt idx="1">
                  <c:v>99.5</c:v>
                </c:pt>
                <c:pt idx="2">
                  <c:v>101.4</c:v>
                </c:pt>
                <c:pt idx="3">
                  <c:v>126.6</c:v>
                </c:pt>
              </c:numCache>
            </c:numRef>
          </c:val>
        </c:ser>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9.0"/>
          <c:min val="74.0"/>
        </c:scaling>
        <c:delete/>
        <c:axPos val="b"/>
        <c:majorTickMark val="out"/>
        <c:minorTickMark val="none"/>
        <c:tickLblPos val="none"/>
        <c:crossAx val="-2068027336"/>
        <c:crosses val="autoZero"/>
      </c:valAx>
    </c:plotArea>
    <c:dispBlanksAs val="gap"/>
  </c:chart>
  <c:txPr>
    <a:bodyPr/>
    <a:lstStyle/>
    <a:p>
      <a:pPr>
        <a:defRPr sz="1800"/>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4"/>
                <c:pt idx="0">
                  <c:v>Cast Metal Partial Dentures</c:v>
                </c:pt>
                <c:pt idx="1">
                  <c:v>Combination Framework Partial Dentures</c:v>
                </c:pt>
                <c:pt idx="2">
                  <c:v>Flexible Partial Dentures</c:v>
                </c:pt>
                <c:pt idx="3">
                  <c:v>Acrylic Partial Dentures</c:v>
                </c:pt>
              </c:strCache>
            </c:strRef>
          </c:cat>
          <c:val>
            <c:numRef>
              <c:numCache>
                <c:formatCode>General</c:formatCode>
                <c:ptCount val="4"/>
                <c:pt idx="0">
                  <c:v>275</c:v>
                </c:pt>
                <c:pt idx="1">
                  <c:v>275</c:v>
                </c:pt>
                <c:pt idx="2">
                  <c:v>275</c:v>
                </c:pt>
                <c:pt idx="3">
                  <c:v>275</c:v>
                </c:pt>
              </c:numCache>
            </c:numRef>
          </c:val>
        </c:ser>
        <c:ser>
          <c:idx val="1"/>
          <c:order val="1"/>
          <c:tx>
            <c:strRef>
              <c:strCache>
                <c:ptCount val="1"/>
                <c:pt idx="0">
                  <c:v>Range</c:v>
                </c:pt>
              </c:strCache>
            </c:strRef>
          </c:tx>
          <c:spPr>
            <a:solidFill>
              <a:srgbClr val="008189"/>
            </a:solidFill>
          </c:spPr>
          <c:cat>
            <c:strRef>
              <c:strCache>
                <c:ptCount val="4"/>
                <c:pt idx="0">
                  <c:v>Cast Metal Partial Dentures</c:v>
                </c:pt>
                <c:pt idx="1">
                  <c:v>Combination Framework Partial Dentures</c:v>
                </c:pt>
                <c:pt idx="2">
                  <c:v>Flexible Partial Dentures</c:v>
                </c:pt>
                <c:pt idx="3">
                  <c:v>Acrylic Partial Dentures</c:v>
                </c:pt>
              </c:strCache>
            </c:strRef>
          </c:cat>
          <c:val>
            <c:numRef>
              <c:numCache>
                <c:formatCode>General</c:formatCode>
                <c:ptCount val="4"/>
                <c:pt idx="0">
                  <c:v>97</c:v>
                </c:pt>
                <c:pt idx="1">
                  <c:v>97</c:v>
                </c:pt>
                <c:pt idx="2">
                  <c:v>97</c:v>
                </c:pt>
                <c:pt idx="3">
                  <c:v>97</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000.0"/>
          <c:min val="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105.7</c:v>
                </c:pt>
                <c:pt idx="1">
                  <c:v>94.4</c:v>
                </c:pt>
                <c:pt idx="2">
                  <c:v>73.3</c:v>
                </c:pt>
                <c:pt idx="3">
                  <c:v>71.1</c:v>
                </c:pt>
                <c:pt idx="4">
                  <c:v>55.0</c:v>
                </c:pt>
                <c:pt idx="5">
                  <c:v>48.1</c:v>
                </c:pt>
              </c:numCache>
            </c:numRef>
          </c:val>
        </c:ser>
        <c:ser>
          <c:idx val="1"/>
          <c:order val="1"/>
          <c:tx>
            <c:strRef>
              <c:strCache>
                <c:ptCount val="1"/>
                <c:pt idx="0">
                  <c:v>Range</c:v>
                </c:pt>
              </c:strCache>
            </c:strRef>
          </c:tx>
          <c:spPr>
            <a:solidFill>
              <a:srgbClr val="008189"/>
            </a:solidFill>
          </c:spPr>
          <c:dPt>
            <c:idx val="2"/>
            <c:spPr>
              <a:solidFill>
                <a:srgbClr val="5B7DB1"/>
              </a:solidFill>
            </c:spPr>
          </c:dPt>
          <c:dPt>
            <c:idx val="3"/>
            <c:spPr>
              <a:solidFill>
                <a:srgbClr val="5B7DB1"/>
              </a:solidFill>
            </c:spPr>
          </c:dPt>
          <c:dPt>
            <c:idx val="4"/>
            <c:spPr>
              <a:solidFill>
                <a:srgbClr val="5B7DB1"/>
              </a:solidFill>
            </c:spPr>
          </c:dPt>
          <c:dPt>
            <c:idx val="5"/>
            <c:spPr>
              <a:solidFill>
                <a:srgbClr val="5B7DB1"/>
              </a:solidFill>
            </c:spPr>
          </c:dPt>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67.6</c:v>
                </c:pt>
                <c:pt idx="1">
                  <c:v>59.7</c:v>
                </c:pt>
                <c:pt idx="2">
                  <c:v>46.8</c:v>
                </c:pt>
                <c:pt idx="3">
                  <c:v>45.1</c:v>
                </c:pt>
                <c:pt idx="4">
                  <c:v>34.5</c:v>
                </c:pt>
                <c:pt idx="5">
                  <c:v>30.8</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75.0"/>
          <c:min val="45.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15.401240790072531</c:v>
                </c:pt>
                <c:pt idx="1">
                  <c:v>13.483170759180721</c:v>
                </c:pt>
                <c:pt idx="2">
                  <c:v>9.299352883645389</c:v>
                </c:pt>
                <c:pt idx="3">
                  <c:v>6.532876475193234</c:v>
                </c:pt>
                <c:pt idx="4">
                  <c:v>6.473319829711895</c:v>
                </c:pt>
                <c:pt idx="5">
                  <c:v>6.433244680872182</c:v>
                </c:pt>
                <c:pt idx="6">
                  <c:v>5.1503700280767655</c:v>
                </c:pt>
                <c:pt idx="7">
                  <c:v>3.1015192989370006</c:v>
                </c:pt>
                <c:pt idx="8">
                  <c:v>2.164598136819089</c:v>
                </c:pt>
                <c:pt idx="9">
                  <c:v>2.136096181068746</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16.616982878130067</c:v>
                </c:pt>
                <c:pt idx="1">
                  <c:v>15.838373751146182</c:v>
                </c:pt>
                <c:pt idx="2">
                  <c:v>12.226323321243273</c:v>
                </c:pt>
                <c:pt idx="3">
                  <c:v>7.956018792951128</c:v>
                </c:pt>
                <c:pt idx="4">
                  <c:v>5.814138033935409</c:v>
                </c:pt>
                <c:pt idx="5">
                  <c:v>5.618762435113717</c:v>
                </c:pt>
                <c:pt idx="6">
                  <c:v>5.851259038190952</c:v>
                </c:pt>
                <c:pt idx="7">
                  <c:v>4.767350351372047</c:v>
                </c:pt>
                <c:pt idx="8">
                  <c:v>3.1905899020099833</c:v>
                </c:pt>
                <c:pt idx="9">
                  <c:v>1.9266097914653117</c:v>
                </c:pt>
                <c:pt idx="10">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74.47031386505773</c:v>
                </c:pt>
                <c:pt idx="1">
                  <c:v>41.430474926266236</c:v>
                </c:pt>
                <c:pt idx="2">
                  <c:v>52.14917384034602</c:v>
                </c:pt>
                <c:pt idx="3">
                  <c:v>98.51471296290543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0.03942111103518"/>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88.49448987493543</c:v>
                </c:pt>
                <c:pt idx="1">
                  <c:v>53.86639895540094</c:v>
                </c:pt>
                <c:pt idx="2">
                  <c:v>29.04858739284977</c:v>
                </c:pt>
                <c:pt idx="3">
                  <c:v>32.82268019649477</c:v>
                </c:pt>
                <c:pt idx="4">
                  <c:v>62.33251917489452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6.8127266349147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30.7132393448906</c:v>
                </c:pt>
                <c:pt idx="1">
                  <c:v>42.69854076382129</c:v>
                </c:pt>
                <c:pt idx="2">
                  <c:v>79.61898332401574</c:v>
                </c:pt>
                <c:pt idx="3">
                  <c:v>113.53391216184778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270.00480000000005</c:v>
                </c:pt>
                <c:pt idx="1">
                  <c:v>242.70791857197986</c:v>
                </c:pt>
                <c:pt idx="2">
                  <c:v>177.37519627364833</c:v>
                </c:pt>
                <c:pt idx="3">
                  <c:v>113.63658577134302</c:v>
                </c:pt>
                <c:pt idx="4">
                  <c:v>90.15507290683095</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88.49448987493543</c:v>
                </c:pt>
                <c:pt idx="1">
                  <c:v>53.86639895540094</c:v>
                </c:pt>
                <c:pt idx="2">
                  <c:v>29.04858739284977</c:v>
                </c:pt>
                <c:pt idx="3">
                  <c:v>32.82268019649477</c:v>
                </c:pt>
                <c:pt idx="4">
                  <c:v>62.33251917489452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45.606144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26.888213508205105</c:v>
                </c:pt>
                <c:pt idx="1">
                  <c:v>37.38086587527017</c:v>
                </c:pt>
                <c:pt idx="2">
                  <c:v>69.70323771069427</c:v>
                </c:pt>
                <c:pt idx="3">
                  <c:v>99.39440240573039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1.20061117556412"/>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42.181445782158505</c:v>
                </c:pt>
                <c:pt idx="1">
                  <c:v>23.467033252982805</c:v>
                </c:pt>
                <c:pt idx="2">
                  <c:v>29.53831446067061</c:v>
                </c:pt>
                <c:pt idx="3">
                  <c:v>55.80066482759253</c:v>
                </c:pt>
                <c:pt idx="4">
                  <c:v>82.37926117649549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8.74062475297406"/>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29.55280890991878</c:v>
                </c:pt>
                <c:pt idx="1">
                  <c:v>54.06258639061627</c:v>
                </c:pt>
                <c:pt idx="2">
                  <c:v>74.45464434317043</c:v>
                </c:pt>
                <c:pt idx="3">
                  <c:v>75.29667985619446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285.58200000000005</c:v>
                </c:pt>
                <c:pt idx="1">
                  <c:v>256.7102984895941</c:v>
                </c:pt>
                <c:pt idx="2">
                  <c:v>187.60838067405115</c:v>
                </c:pt>
                <c:pt idx="3">
                  <c:v>120.19254264276667</c:v>
                </c:pt>
                <c:pt idx="4">
                  <c:v>95.3563271129943</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42.181445782158505</c:v>
                </c:pt>
                <c:pt idx="1">
                  <c:v>23.467033252982805</c:v>
                </c:pt>
                <c:pt idx="2">
                  <c:v>29.53831446067061</c:v>
                </c:pt>
                <c:pt idx="3">
                  <c:v>55.80066482759253</c:v>
                </c:pt>
                <c:pt idx="4">
                  <c:v>82.37926117649549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5.54496000000006"/>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20.382594247658506</c:v>
                </c:pt>
                <c:pt idx="1">
                  <c:v>37.28700597421298</c:v>
                </c:pt>
                <c:pt idx="2">
                  <c:v>51.351423484866174</c:v>
                </c:pt>
                <c:pt idx="3">
                  <c:v>51.93217600339674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8.550472324483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12.828593641017058</c:v>
                </c:pt>
                <c:pt idx="1">
                  <c:v>17.834726658833862</c:v>
                </c:pt>
                <c:pt idx="2">
                  <c:v>33.25600311009297</c:v>
                </c:pt>
                <c:pt idx="3">
                  <c:v>47.4219084233968</c:v>
                </c:pt>
                <c:pt idx="4">
                  <c:v>49.61196787679374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48779759736775"/>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35.26868107132598</c:v>
                </c:pt>
                <c:pt idx="1">
                  <c:v>46.91110219356408</c:v>
                </c:pt>
                <c:pt idx="2">
                  <c:v>45.86079820977741</c:v>
                </c:pt>
                <c:pt idx="3">
                  <c:v>32.91261823546694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301.15920000000006</c:v>
                </c:pt>
                <c:pt idx="1">
                  <c:v>270.71267840720833</c:v>
                </c:pt>
                <c:pt idx="2">
                  <c:v>197.84156507445397</c:v>
                </c:pt>
                <c:pt idx="3">
                  <c:v>126.74849951419033</c:v>
                </c:pt>
                <c:pt idx="4">
                  <c:v>100.55758131915762</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12.828593641017058</c:v>
                </c:pt>
                <c:pt idx="1">
                  <c:v>17.834726658833862</c:v>
                </c:pt>
                <c:pt idx="2">
                  <c:v>33.25600311009297</c:v>
                </c:pt>
                <c:pt idx="3">
                  <c:v>47.4219084233968</c:v>
                </c:pt>
                <c:pt idx="4">
                  <c:v>49.61196787679374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85.483776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Global Removable Partial Dentures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North America Removable Partial Dentures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YoY</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YoY</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YoY</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YoY</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Snapshot</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Snapshot</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Snapshot</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0.xml"/><Relationship Id="rId7" Type="http://schemas.openxmlformats.org/officeDocument/2006/relationships/slide" Target="slide17.xml"/><Relationship Id="rId8" Type="http://schemas.openxmlformats.org/officeDocument/2006/relationships/slide" Target="slide26.xml"/><Relationship Id="rId9" Type="http://schemas.openxmlformats.org/officeDocument/2006/relationships/slide" Target="slide27.xml"/><Relationship Id="rId10" Type="http://schemas.openxmlformats.org/officeDocument/2006/relationships/slide" Target="slide38.xml"/><Relationship Id="rId11" Type="http://schemas.openxmlformats.org/officeDocument/2006/relationships/slide" Target="slide46.xml"/><Relationship Id="rId12" Type="http://schemas.openxmlformats.org/officeDocument/2006/relationships/slide" Target="slide104.xml"/><Relationship Id="rId13" Type="http://schemas.openxmlformats.org/officeDocument/2006/relationships/slide" Target="slide113.xml"/><Relationship Id="rId14" Type="http://schemas.openxmlformats.org/officeDocument/2006/relationships/slide" Target="slide114.xml"/><Relationship Id="rId15" Type="http://schemas.openxmlformats.org/officeDocument/2006/relationships/slide" Target="slide124.xml"/><Relationship Id="rId16" Type="http://schemas.openxmlformats.org/officeDocument/2006/relationships/slide" Target="slide132.xml"/><Relationship Id="rId17" Type="http://schemas.openxmlformats.org/officeDocument/2006/relationships/slide" Target="slide190.xml"/><Relationship Id="rId18" Type="http://schemas.openxmlformats.org/officeDocument/2006/relationships/slide" Target="slide199.xml"/><Relationship Id="rId19" Type="http://schemas.openxmlformats.org/officeDocument/2006/relationships/slide" Target="slide200.xml"/><Relationship Id="rId20" Type="http://schemas.openxmlformats.org/officeDocument/2006/relationships/slide" Target="slide204.xml"/><Relationship Id="rId21" Type="http://schemas.openxmlformats.org/officeDocument/2006/relationships/slide" Target="slide232.xml"/><Relationship Id="rId22" Type="http://schemas.openxmlformats.org/officeDocument/2006/relationships/slide" Target="slide241.xml"/><Relationship Id="rId23" Type="http://schemas.openxmlformats.org/officeDocument/2006/relationships/slide" Target="slide242.xml"/><Relationship Id="rId24" Type="http://schemas.openxmlformats.org/officeDocument/2006/relationships/slide" Target="slide255.xml"/><Relationship Id="rId25" Type="http://schemas.openxmlformats.org/officeDocument/2006/relationships/slide" Target="slide259.xml"/><Relationship Id="rId26" Type="http://schemas.openxmlformats.org/officeDocument/2006/relationships/slide" Target="slide260.xml"/><Relationship Id="rId27" Type="http://schemas.openxmlformats.org/officeDocument/2006/relationships/slide" Target="slide268.xml"/><Relationship Id="rId28" Type="http://schemas.openxmlformats.org/officeDocument/2006/relationships/slide" Target="slide269.xml"/><Relationship Id="rId29" Type="http://schemas.openxmlformats.org/officeDocument/2006/relationships/slide" Target="slide283.xml"/><Relationship Id="rId30" Type="http://schemas.openxmlformats.org/officeDocument/2006/relationships/slide" Target="slide28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 Id="rId6" Type="http://schemas.openxmlformats.org/officeDocument/2006/relationships/image" Target="../media/image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 Id="rId6"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 Id="rId4"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 Id="rId5"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 Id="rId5"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 Id="rId4" Type="http://schemas.openxmlformats.org/officeDocument/2006/relationships/image" Target="../media/image61.png"/><Relationship Id="rId5" Type="http://schemas.openxmlformats.org/officeDocument/2006/relationships/image" Target="../media/image62.png"/><Relationship Id="rId6" Type="http://schemas.openxmlformats.org/officeDocument/2006/relationships/image" Target="../media/image63.png"/><Relationship Id="rId7" Type="http://schemas.openxmlformats.org/officeDocument/2006/relationships/image" Target="../media/image64.png"/><Relationship Id="rId8" Type="http://schemas.openxmlformats.org/officeDocument/2006/relationships/image" Target="../media/image65.png"/><Relationship Id="rId9" Type="http://schemas.openxmlformats.org/officeDocument/2006/relationships/image" Target="../media/image66.png"/><Relationship Id="rId10" Type="http://schemas.openxmlformats.org/officeDocument/2006/relationships/image" Target="../media/image67.png"/><Relationship Id="rId11" Type="http://schemas.openxmlformats.org/officeDocument/2006/relationships/image" Target="../media/image68.png"/><Relationship Id="rId12" Type="http://schemas.openxmlformats.org/officeDocument/2006/relationships/image" Target="../media/image69.png"/><Relationship Id="rId13" Type="http://schemas.openxmlformats.org/officeDocument/2006/relationships/image" Target="../media/image70.png"/><Relationship Id="rId14" Type="http://schemas.openxmlformats.org/officeDocument/2006/relationships/image" Target="../media/image71.png"/><Relationship Id="rId15" Type="http://schemas.openxmlformats.org/officeDocument/2006/relationships/image" Target="../media/image72.png"/><Relationship Id="rId16" Type="http://schemas.openxmlformats.org/officeDocument/2006/relationships/image" Target="../media/image73.png"/><Relationship Id="rId17" Type="http://schemas.openxmlformats.org/officeDocument/2006/relationships/image" Target="../media/image74.png"/><Relationship Id="rId18" Type="http://schemas.openxmlformats.org/officeDocument/2006/relationships/image" Target="../media/image75.png"/><Relationship Id="rId19" Type="http://schemas.openxmlformats.org/officeDocument/2006/relationships/image" Target="../media/image76.png"/><Relationship Id="rId20" Type="http://schemas.openxmlformats.org/officeDocument/2006/relationships/image" Target="../media/image77.png"/><Relationship Id="rId21" Type="http://schemas.openxmlformats.org/officeDocument/2006/relationships/image" Target="../media/image78.png"/><Relationship Id="rId22"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 Id="rId5" Type="http://schemas.openxmlformats.org/officeDocument/2006/relationships/image" Target="../media/image2.png"/><Relationship Id="rId6" Type="http://schemas.openxmlformats.org/officeDocument/2006/relationships/image" Target="../media/image91.png"/><Relationship Id="rId7" Type="http://schemas.openxmlformats.org/officeDocument/2006/relationships/image" Target="../media/image92.png"/><Relationship Id="rId8" Type="http://schemas.openxmlformats.org/officeDocument/2006/relationships/image" Target="../media/image93.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 Id="rId5"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 Id="rId4"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 Id="rId4" Type="http://schemas.openxmlformats.org/officeDocument/2006/relationships/image" Target="../media/image2.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108.png"/><Relationship Id="rId5" Type="http://schemas.openxmlformats.org/officeDocument/2006/relationships/image" Target="../media/image59.png"/><Relationship Id="rId6" Type="http://schemas.openxmlformats.org/officeDocument/2006/relationships/image" Target="../media/image109.png"/><Relationship Id="rId7" Type="http://schemas.openxmlformats.org/officeDocument/2006/relationships/image" Target="../media/image110.png"/><Relationship Id="rId8" Type="http://schemas.openxmlformats.org/officeDocument/2006/relationships/image" Target="../media/image60.png"/><Relationship Id="rId9" Type="http://schemas.openxmlformats.org/officeDocument/2006/relationships/image" Target="../media/image111.png"/><Relationship Id="rId10" Type="http://schemas.openxmlformats.org/officeDocument/2006/relationships/image" Target="../media/image112.png"/><Relationship Id="rId11" Type="http://schemas.openxmlformats.org/officeDocument/2006/relationships/image" Target="../media/image57.png"/><Relationship Id="rId12" Type="http://schemas.openxmlformats.org/officeDocument/2006/relationships/image" Target="../media/image113.png"/><Relationship Id="rId13" Type="http://schemas.openxmlformats.org/officeDocument/2006/relationships/image" Target="../media/image114.png"/><Relationship Id="rId14" Type="http://schemas.openxmlformats.org/officeDocument/2006/relationships/image" Target="../media/image58.png"/><Relationship Id="rId15" Type="http://schemas.openxmlformats.org/officeDocument/2006/relationships/image" Target="../media/image115.png"/><Relationship Id="rId16" Type="http://schemas.openxmlformats.org/officeDocument/2006/relationships/image" Target="../media/image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 Id="rId6"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6.xml"/><Relationship Id="rId8"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 Id="rId4" Type="http://schemas.openxmlformats.org/officeDocument/2006/relationships/image" Target="../media/image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29.xml"/><Relationship Id="rId5" Type="http://schemas.openxmlformats.org/officeDocument/2006/relationships/image" Target="../media/image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 Id="rId4"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150.png"/><Relationship Id="rId5" Type="http://schemas.openxmlformats.org/officeDocument/2006/relationships/image" Target="../media/image151.png"/><Relationship Id="rId6" Type="http://schemas.openxmlformats.org/officeDocument/2006/relationships/image" Target="../media/image152.png"/><Relationship Id="rId7" Type="http://schemas.openxmlformats.org/officeDocument/2006/relationships/image" Target="../media/image153.png"/><Relationship Id="rId8" Type="http://schemas.openxmlformats.org/officeDocument/2006/relationships/image" Target="../media/image154.png"/><Relationship Id="rId9" Type="http://schemas.openxmlformats.org/officeDocument/2006/relationships/image" Target="../media/image78.png"/><Relationship Id="rId10" Type="http://schemas.openxmlformats.org/officeDocument/2006/relationships/image" Target="../media/image155.png"/><Relationship Id="rId11" Type="http://schemas.openxmlformats.org/officeDocument/2006/relationships/image" Target="../media/image156.png"/><Relationship Id="rId12" Type="http://schemas.openxmlformats.org/officeDocument/2006/relationships/image" Target="../media/image157.png"/><Relationship Id="rId13" Type="http://schemas.openxmlformats.org/officeDocument/2006/relationships/image" Target="../media/image158.png"/><Relationship Id="rId14" Type="http://schemas.openxmlformats.org/officeDocument/2006/relationships/image" Target="../media/image159.png"/><Relationship Id="rId15" Type="http://schemas.openxmlformats.org/officeDocument/2006/relationships/image" Target="../media/image160.png"/><Relationship Id="rId16"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3.xml"/><Relationship Id="rId6"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4.xml"/><Relationship Id="rId8"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 Id="rId4"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notesSlide" Target="../notesSlides/notesSlide38.xml"/><Relationship Id="rId5"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 Id="rId4" Type="http://schemas.openxmlformats.org/officeDocument/2006/relationships/image" Target="../media/image194.png"/><Relationship Id="rId5" Type="http://schemas.openxmlformats.org/officeDocument/2006/relationships/image" Target="../media/image195.png"/><Relationship Id="rId6" Type="http://schemas.openxmlformats.org/officeDocument/2006/relationships/image" Target="../media/image196.png"/><Relationship Id="rId7" Type="http://schemas.openxmlformats.org/officeDocument/2006/relationships/image" Target="../media/image197.png"/><Relationship Id="rId8" Type="http://schemas.openxmlformats.org/officeDocument/2006/relationships/image" Target="../media/image198.png"/><Relationship Id="rId9" Type="http://schemas.openxmlformats.org/officeDocument/2006/relationships/image" Target="../media/image199.png"/><Relationship Id="rId10"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xml"/><Relationship Id="rId4" Type="http://schemas.openxmlformats.org/officeDocument/2006/relationships/chart" Target="../charts/chart30.xml"/><Relationship Id="rId5" Type="http://schemas.openxmlformats.org/officeDocument/2006/relationships/notesSlide" Target="../notesSlides/notesSlide44.xml"/><Relationship Id="rId6"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notesSlide" Target="../notesSlides/notesSlide45.xml"/><Relationship Id="rId6"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8.xml"/><Relationship Id="rId5"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 Id="rId4"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18.png"/><Relationship Id="rId5" Type="http://schemas.openxmlformats.org/officeDocument/2006/relationships/image" Target="../media/image219.png"/><Relationship Id="rId6" Type="http://schemas.openxmlformats.org/officeDocument/2006/relationships/image" Target="../media/image220.png"/><Relationship Id="rId7" Type="http://schemas.openxmlformats.org/officeDocument/2006/relationships/image" Target="../media/image221.png"/><Relationship Id="rId8" Type="http://schemas.openxmlformats.org/officeDocument/2006/relationships/image" Target="../media/image222.png"/><Relationship Id="rId9" Type="http://schemas.openxmlformats.org/officeDocument/2006/relationships/image" Target="../media/image111.png"/><Relationship Id="rId10" Type="http://schemas.openxmlformats.org/officeDocument/2006/relationships/image" Target="../media/image74.png"/><Relationship Id="rId11" Type="http://schemas.openxmlformats.org/officeDocument/2006/relationships/image" Target="../media/image223.png"/><Relationship Id="rId12" Type="http://schemas.openxmlformats.org/officeDocument/2006/relationships/image" Target="../media/image224.png"/><Relationship Id="rId13" Type="http://schemas.openxmlformats.org/officeDocument/2006/relationships/image" Target="../media/image225.png"/><Relationship Id="rId14" Type="http://schemas.openxmlformats.org/officeDocument/2006/relationships/image" Target="../media/image226.png"/><Relationship Id="rId15" Type="http://schemas.openxmlformats.org/officeDocument/2006/relationships/image" Target="../media/image227.png"/><Relationship Id="rId16"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52.xml"/><Relationship Id="rId6"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chart" Target="../charts/chart39.xml"/><Relationship Id="rId7" Type="http://schemas.openxmlformats.org/officeDocument/2006/relationships/notesSlide" Target="../notesSlides/notesSlide53.xml"/><Relationship Id="rId8"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notesSlide" Target="../notesSlides/notesSlide56.xml"/><Relationship Id="rId5" Type="http://schemas.openxmlformats.org/officeDocument/2006/relationships/image" Target="../media/image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 Id="rId4"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 Id="rId4"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61.png"/><Relationship Id="rId5" Type="http://schemas.openxmlformats.org/officeDocument/2006/relationships/image" Target="../media/image262.png"/><Relationship Id="rId6" Type="http://schemas.openxmlformats.org/officeDocument/2006/relationships/image" Target="../media/image263.png"/><Relationship Id="rId7" Type="http://schemas.openxmlformats.org/officeDocument/2006/relationships/image" Target="../media/image264.png"/><Relationship Id="rId8" Type="http://schemas.openxmlformats.org/officeDocument/2006/relationships/image" Target="../media/image265.png"/><Relationship Id="rId9" Type="http://schemas.openxmlformats.org/officeDocument/2006/relationships/image" Target="../media/image266.png"/><Relationship Id="rId10" Type="http://schemas.openxmlformats.org/officeDocument/2006/relationships/image" Target="../media/image267.png"/><Relationship Id="rId11" Type="http://schemas.openxmlformats.org/officeDocument/2006/relationships/image" Target="../media/image268.png"/><Relationship Id="rId12" Type="http://schemas.openxmlformats.org/officeDocument/2006/relationships/image" Target="../media/image269.png"/><Relationship Id="rId13"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xml"/><Relationship Id="rId4" Type="http://schemas.openxmlformats.org/officeDocument/2006/relationships/chart" Target="../charts/chart42.xml"/><Relationship Id="rId5" Type="http://schemas.openxmlformats.org/officeDocument/2006/relationships/notesSlide" Target="../notesSlides/notesSlide60.xml"/><Relationship Id="rId6"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chart" Target="../charts/chart45.xml"/><Relationship Id="rId6" Type="http://schemas.openxmlformats.org/officeDocument/2006/relationships/notesSlide" Target="../notesSlides/notesSlide61.xml"/><Relationship Id="rId7"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notesSlide" Target="../notesSlides/notesSlide64.xml"/><Relationship Id="rId5" Type="http://schemas.openxmlformats.org/officeDocument/2006/relationships/image" Target="../media/image2.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 Id="rId4"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 Id="rId4" Type="http://schemas.openxmlformats.org/officeDocument/2006/relationships/image" Target="../media/image297.png"/><Relationship Id="rId5" Type="http://schemas.openxmlformats.org/officeDocument/2006/relationships/image" Target="../media/image298.png"/><Relationship Id="rId6" Type="http://schemas.openxmlformats.org/officeDocument/2006/relationships/image" Target="../media/image152.png"/><Relationship Id="rId7" Type="http://schemas.openxmlformats.org/officeDocument/2006/relationships/image" Target="../media/image299.png"/><Relationship Id="rId8" Type="http://schemas.openxmlformats.org/officeDocument/2006/relationships/image" Target="../media/image300.png"/><Relationship Id="rId9" Type="http://schemas.openxmlformats.org/officeDocument/2006/relationships/image" Target="../media/image69.png"/><Relationship Id="rId10"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xml"/><Relationship Id="rId4" Type="http://schemas.openxmlformats.org/officeDocument/2006/relationships/chart" Target="../charts/chart48.xml"/><Relationship Id="rId5" Type="http://schemas.openxmlformats.org/officeDocument/2006/relationships/notesSlide" Target="../notesSlides/notesSlide68.xml"/><Relationship Id="rId6"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notesSlide" Target="../notesSlides/notesSlide69.xml"/><Relationship Id="rId6"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notesSlide" Target="../notesSlides/notesSlide72.xml"/><Relationship Id="rId5"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 Id="rId4"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76.xml"/><Relationship Id="rId5"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notesSlide" Target="../notesSlides/notesSlide79.xml"/><Relationship Id="rId5"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xml"/><Relationship Id="rId4" Type="http://schemas.openxmlformats.org/officeDocument/2006/relationships/chart" Target="../charts/chart55.xml"/><Relationship Id="rId5" Type="http://schemas.openxmlformats.org/officeDocument/2006/relationships/notesSlide" Target="../notesSlides/notesSlide82.xml"/><Relationship Id="rId6"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chart" Target="../charts/chart57.xml"/><Relationship Id="rId5" Type="http://schemas.openxmlformats.org/officeDocument/2006/relationships/notesSlide" Target="../notesSlides/notesSlide84.xml"/><Relationship Id="rId6"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5.xml"/><Relationship Id="rId6"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notesSlide" Target="../notesSlides/notesSlide86.xml"/><Relationship Id="rId6"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 Id="rId4"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xml"/><Relationship Id="rId4" Type="http://schemas.openxmlformats.org/officeDocument/2006/relationships/notesSlide" Target="../notesSlides/notesSlide88.xml"/><Relationship Id="rId5"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90.xml"/><Relationship Id="rId5"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92.xml"/><Relationship Id="rId5"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93.xml"/><Relationship Id="rId5"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 Id="rId4"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notesSlide" Target="../notesSlides/notesSlide96.xml"/><Relationship Id="rId6"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 Id="rId4" Type="http://schemas.openxmlformats.org/officeDocument/2006/relationships/image" Target="../media/image433.png"/><Relationship Id="rId5" Type="http://schemas.openxmlformats.org/officeDocument/2006/relationships/image" Target="../media/image359.png"/><Relationship Id="rId6" Type="http://schemas.openxmlformats.org/officeDocument/2006/relationships/image" Target="../media/image434.png"/><Relationship Id="rId7" Type="http://schemas.openxmlformats.org/officeDocument/2006/relationships/image" Target="../media/image435.png"/><Relationship Id="rId8" Type="http://schemas.openxmlformats.org/officeDocument/2006/relationships/image" Target="../media/image360.png"/><Relationship Id="rId9" Type="http://schemas.openxmlformats.org/officeDocument/2006/relationships/image" Target="../media/image78.png"/><Relationship Id="rId10" Type="http://schemas.openxmlformats.org/officeDocument/2006/relationships/image" Target="../media/image436.png"/><Relationship Id="rId11" Type="http://schemas.openxmlformats.org/officeDocument/2006/relationships/image" Target="../media/image357.png"/><Relationship Id="rId12" Type="http://schemas.openxmlformats.org/officeDocument/2006/relationships/image" Target="../media/image437.png"/><Relationship Id="rId13" Type="http://schemas.openxmlformats.org/officeDocument/2006/relationships/image" Target="../media/image308.png"/><Relationship Id="rId14" Type="http://schemas.openxmlformats.org/officeDocument/2006/relationships/image" Target="../media/image358.png"/><Relationship Id="rId15" Type="http://schemas.openxmlformats.org/officeDocument/2006/relationships/image" Target="../media/image269.png"/><Relationship Id="rId16"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xml"/><Relationship Id="rId4" Type="http://schemas.openxmlformats.org/officeDocument/2006/relationships/chart" Target="../charts/chart69.xml"/><Relationship Id="rId5" Type="http://schemas.openxmlformats.org/officeDocument/2006/relationships/notesSlide" Target="../notesSlides/notesSlide99.xml"/><Relationship Id="rId6"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chart" Target="../charts/chart72.xml"/><Relationship Id="rId6" Type="http://schemas.openxmlformats.org/officeDocument/2006/relationships/chart" Target="../charts/chart73.xml"/><Relationship Id="rId7" Type="http://schemas.openxmlformats.org/officeDocument/2006/relationships/notesSlide" Target="../notesSlides/notesSlide100.xml"/><Relationship Id="rId8"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notesSlide" Target="../notesSlides/notesSlide103.xml"/><Relationship Id="rId5"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 Id="rId4" Type="http://schemas.openxmlformats.org/officeDocument/2006/relationships/image" Target="../media/image458.png"/><Relationship Id="rId5" Type="http://schemas.openxmlformats.org/officeDocument/2006/relationships/image" Target="../media/image459.png"/><Relationship Id="rId6" Type="http://schemas.openxmlformats.org/officeDocument/2006/relationships/image" Target="../media/image460.png"/><Relationship Id="rId7" Type="http://schemas.openxmlformats.org/officeDocument/2006/relationships/image" Target="../media/image461.png"/><Relationship Id="rId8" Type="http://schemas.openxmlformats.org/officeDocument/2006/relationships/image" Target="../media/image462.png"/><Relationship Id="rId9" Type="http://schemas.openxmlformats.org/officeDocument/2006/relationships/image" Target="../media/image115.png"/><Relationship Id="rId10" Type="http://schemas.openxmlformats.org/officeDocument/2006/relationships/image" Target="../media/image463.png"/><Relationship Id="rId11" Type="http://schemas.openxmlformats.org/officeDocument/2006/relationships/image" Target="../media/image464.png"/><Relationship Id="rId12" Type="http://schemas.openxmlformats.org/officeDocument/2006/relationships/image" Target="../media/image465.png"/><Relationship Id="rId13" Type="http://schemas.openxmlformats.org/officeDocument/2006/relationships/image" Target="../media/image466.png"/><Relationship Id="rId14" Type="http://schemas.openxmlformats.org/officeDocument/2006/relationships/image" Target="../media/image467.png"/><Relationship Id="rId15" Type="http://schemas.openxmlformats.org/officeDocument/2006/relationships/image" Target="../media/image93.png"/><Relationship Id="rId16"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notesSlide" Target="../notesSlides/notesSlide107.xml"/><Relationship Id="rId6"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xml"/><Relationship Id="rId4" Type="http://schemas.openxmlformats.org/officeDocument/2006/relationships/chart" Target="../charts/chart78.xml"/><Relationship Id="rId5" Type="http://schemas.openxmlformats.org/officeDocument/2006/relationships/chart" Target="../charts/chart79.xml"/><Relationship Id="rId6" Type="http://schemas.openxmlformats.org/officeDocument/2006/relationships/chart" Target="../charts/chart80.xml"/><Relationship Id="rId7" Type="http://schemas.openxmlformats.org/officeDocument/2006/relationships/notesSlide" Target="../notesSlides/notesSlide108.xml"/><Relationship Id="rId8"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 Id="rId4"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12.xml"/><Relationship Id="rId5" Type="http://schemas.openxmlformats.org/officeDocument/2006/relationships/image" Target="../media/image2.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 Id="rId4"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 Id="rId4" Type="http://schemas.openxmlformats.org/officeDocument/2006/relationships/image" Target="../media/image488.png"/><Relationship Id="rId5" Type="http://schemas.openxmlformats.org/officeDocument/2006/relationships/image" Target="../media/image412.png"/><Relationship Id="rId6" Type="http://schemas.openxmlformats.org/officeDocument/2006/relationships/image" Target="../media/image489.png"/><Relationship Id="rId7" Type="http://schemas.openxmlformats.org/officeDocument/2006/relationships/image" Target="../media/image44.png"/><Relationship Id="rId8" Type="http://schemas.openxmlformats.org/officeDocument/2006/relationships/image" Target="../media/image490.png"/><Relationship Id="rId9" Type="http://schemas.openxmlformats.org/officeDocument/2006/relationships/image" Target="../media/image224.png"/><Relationship Id="rId10"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notesSlide" Target="../notesSlides/notesSlide118.xml"/><Relationship Id="rId6"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chart" Target="../charts/chart85.xml"/><Relationship Id="rId5" Type="http://schemas.openxmlformats.org/officeDocument/2006/relationships/notesSlide" Target="../notesSlides/notesSlide119.xml"/><Relationship Id="rId6"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 Id="rId4"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notesSlide" Target="../notesSlides/notesSlide122.xml"/><Relationship Id="rId5"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 Id="rId4"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 Id="rId4" Type="http://schemas.openxmlformats.org/officeDocument/2006/relationships/image" Target="../media/image501.png"/><Relationship Id="rId5" Type="http://schemas.openxmlformats.org/officeDocument/2006/relationships/image" Target="../media/image502.png"/><Relationship Id="rId6" Type="http://schemas.openxmlformats.org/officeDocument/2006/relationships/image" Target="../media/image69.png"/><Relationship Id="rId7" Type="http://schemas.openxmlformats.org/officeDocument/2006/relationships/image" Target="../media/image503.png"/><Relationship Id="rId8" Type="http://schemas.openxmlformats.org/officeDocument/2006/relationships/image" Target="../media/image504.png"/><Relationship Id="rId9" Type="http://schemas.openxmlformats.org/officeDocument/2006/relationships/image" Target="../media/image434.png"/><Relationship Id="rId10" Type="http://schemas.openxmlformats.org/officeDocument/2006/relationships/image" Target="../media/image505.png"/><Relationship Id="rId11" Type="http://schemas.openxmlformats.org/officeDocument/2006/relationships/image" Target="../media/image506.png"/><Relationship Id="rId12" Type="http://schemas.openxmlformats.org/officeDocument/2006/relationships/image" Target="../media/image93.png"/><Relationship Id="rId13" Type="http://schemas.openxmlformats.org/officeDocument/2006/relationships/image" Target="../media/image507.png"/><Relationship Id="rId14" Type="http://schemas.openxmlformats.org/officeDocument/2006/relationships/image" Target="../media/image169.png"/><Relationship Id="rId15" Type="http://schemas.openxmlformats.org/officeDocument/2006/relationships/image" Target="../media/image437.png"/><Relationship Id="rId16"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26.xml"/><Relationship Id="rId6"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chart" Target="../charts/chart91.xml"/><Relationship Id="rId6" Type="http://schemas.openxmlformats.org/officeDocument/2006/relationships/chart" Target="../charts/chart92.xml"/><Relationship Id="rId7" Type="http://schemas.openxmlformats.org/officeDocument/2006/relationships/notesSlide" Target="../notesSlides/notesSlide127.xml"/><Relationship Id="rId8"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notesSlide" Target="../notesSlides/notesSlide130.xml"/><Relationship Id="rId5"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528.png"/><Relationship Id="rId5" Type="http://schemas.openxmlformats.org/officeDocument/2006/relationships/image" Target="../media/image529.png"/><Relationship Id="rId6" Type="http://schemas.openxmlformats.org/officeDocument/2006/relationships/image" Target="../media/image530.png"/><Relationship Id="rId7" Type="http://schemas.openxmlformats.org/officeDocument/2006/relationships/image" Target="../media/image531.png"/><Relationship Id="rId8" Type="http://schemas.openxmlformats.org/officeDocument/2006/relationships/image" Target="../media/image532.png"/><Relationship Id="rId9" Type="http://schemas.openxmlformats.org/officeDocument/2006/relationships/image" Target="../media/image533.png"/><Relationship Id="rId10" Type="http://schemas.openxmlformats.org/officeDocument/2006/relationships/image" Target="../media/image243.png"/><Relationship Id="rId11" Type="http://schemas.openxmlformats.org/officeDocument/2006/relationships/image" Target="../media/image239.png"/><Relationship Id="rId12" Type="http://schemas.openxmlformats.org/officeDocument/2006/relationships/image" Target="../media/image534.png"/><Relationship Id="rId13"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notesSlide" Target="../notesSlides/notesSlide134.xml"/><Relationship Id="rId6"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xml"/><Relationship Id="rId4" Type="http://schemas.openxmlformats.org/officeDocument/2006/relationships/chart" Target="../charts/chart97.xml"/><Relationship Id="rId5" Type="http://schemas.openxmlformats.org/officeDocument/2006/relationships/chart" Target="../charts/chart98.xml"/><Relationship Id="rId6" Type="http://schemas.openxmlformats.org/officeDocument/2006/relationships/notesSlide" Target="../notesSlides/notesSlide135.xml"/><Relationship Id="rId7"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 Id="rId4"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 Id="rId4"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38.xml"/><Relationship Id="rId5"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550.png"/><Relationship Id="rId5" Type="http://schemas.openxmlformats.org/officeDocument/2006/relationships/image" Target="../media/image551.png"/><Relationship Id="rId6" Type="http://schemas.openxmlformats.org/officeDocument/2006/relationships/image" Target="../media/image552.png"/><Relationship Id="rId7" Type="http://schemas.openxmlformats.org/officeDocument/2006/relationships/image" Target="../media/image553.png"/><Relationship Id="rId8" Type="http://schemas.openxmlformats.org/officeDocument/2006/relationships/image" Target="../media/image554.png"/><Relationship Id="rId9" Type="http://schemas.openxmlformats.org/officeDocument/2006/relationships/image" Target="../media/image115.png"/><Relationship Id="rId10"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42.xml"/><Relationship Id="rId6"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notesSlide" Target="../notesSlides/notesSlide143.xml"/><Relationship Id="rId6"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 Id="rId4" Type="http://schemas.openxmlformats.org/officeDocument/2006/relationships/image" Target="../media/image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 Id="rId4"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xml"/><Relationship Id="rId4" Type="http://schemas.openxmlformats.org/officeDocument/2006/relationships/notesSlide" Target="../notesSlides/notesSlide146.xml"/><Relationship Id="rId5"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50.xml"/><Relationship Id="rId5"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 Id="rId4"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 Id="rId4"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53.xml"/><Relationship Id="rId5"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chart" Target="../charts/chart109.xml"/><Relationship Id="rId6" Type="http://schemas.openxmlformats.org/officeDocument/2006/relationships/chart" Target="../charts/chart110.xml"/><Relationship Id="rId7" Type="http://schemas.openxmlformats.org/officeDocument/2006/relationships/notesSlide" Target="../notesSlides/notesSlide156.xml"/><Relationship Id="rId8"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chart" Target="../charts/chart113.xml"/><Relationship Id="rId6" Type="http://schemas.openxmlformats.org/officeDocument/2006/relationships/chart" Target="../charts/chart114.xml"/><Relationship Id="rId7" Type="http://schemas.openxmlformats.org/officeDocument/2006/relationships/notesSlide" Target="../notesSlides/notesSlide157.xml"/><Relationship Id="rId8"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chart" Target="../charts/chart119.xml"/><Relationship Id="rId8" Type="http://schemas.openxmlformats.org/officeDocument/2006/relationships/chart" Target="../charts/chart120.xml"/><Relationship Id="rId9" Type="http://schemas.openxmlformats.org/officeDocument/2006/relationships/notesSlide" Target="../notesSlides/notesSlide158.xml"/><Relationship Id="rId10"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notesSlide" Target="../notesSlides/notesSlide159.xml"/><Relationship Id="rId6"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chart" Target="../charts/chart124.xml"/><Relationship Id="rId5" Type="http://schemas.openxmlformats.org/officeDocument/2006/relationships/notesSlide" Target="../notesSlides/notesSlide162.xml"/><Relationship Id="rId6"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 Id="rId4" Type="http://schemas.openxmlformats.org/officeDocument/2006/relationships/image" Target="../media/image2.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notesSlide" Target="../notesSlides/notesSlide167.xml"/><Relationship Id="rId6"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xml"/><Relationship Id="rId4" Type="http://schemas.openxmlformats.org/officeDocument/2006/relationships/chart" Target="../charts/chart128.xml"/><Relationship Id="rId5" Type="http://schemas.openxmlformats.org/officeDocument/2006/relationships/notesSlide" Target="../notesSlides/notesSlide171.xml"/><Relationship Id="rId6"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 Id="rId4"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chart" Target="../charts/chart130.xml"/><Relationship Id="rId5" Type="http://schemas.openxmlformats.org/officeDocument/2006/relationships/notesSlide" Target="../notesSlides/notesSlide174.xml"/><Relationship Id="rId6"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 Id="rId4" Type="http://schemas.openxmlformats.org/officeDocument/2006/relationships/image" Target="../media/image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77.xml"/><Relationship Id="rId6"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 Id="rId4" Type="http://schemas.openxmlformats.org/officeDocument/2006/relationships/image" Target="../media/image2.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81.xml"/><Relationship Id="rId5"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 Id="rId4"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84.xml"/><Relationship Id="rId5"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 Id="rId4"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88.xml"/><Relationship Id="rId6"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notesSlide" Target="../notesSlides/notesSlide189.xml"/><Relationship Id="rId5"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190.xml"/><Relationship Id="rId5"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 Id="rId4"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 Id="rId4" Type="http://schemas.openxmlformats.org/officeDocument/2006/relationships/image" Target="../media/image2.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 Id="rId4" Type="http://schemas.openxmlformats.org/officeDocument/2006/relationships/image" Target="../media/image2.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 Id="rId4"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225.xml"/><Relationship Id="rId5"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chart" Target="../charts/chart142.xml"/><Relationship Id="rId6" Type="http://schemas.openxmlformats.org/officeDocument/2006/relationships/notesSlide" Target="../notesSlides/notesSlide226.xml"/><Relationship Id="rId7"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notesSlide" Target="../notesSlides/notesSlide227.xml"/><Relationship Id="rId7"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chart" Target="../charts/chart147.xml"/><Relationship Id="rId5" Type="http://schemas.openxmlformats.org/officeDocument/2006/relationships/chart" Target="../charts/chart148.xml"/><Relationship Id="rId6" Type="http://schemas.openxmlformats.org/officeDocument/2006/relationships/notesSlide" Target="../notesSlides/notesSlide229.xml"/><Relationship Id="rId7"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notesSlide" Target="../notesSlides/notesSlide230.xml"/><Relationship Id="rId5" Type="http://schemas.openxmlformats.org/officeDocument/2006/relationships/image" Target="../media/image2.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 Id="rId4"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chart" Target="../charts/chart151.xml"/><Relationship Id="rId5" Type="http://schemas.openxmlformats.org/officeDocument/2006/relationships/chart" Target="../charts/chart152.xml"/><Relationship Id="rId6" Type="http://schemas.openxmlformats.org/officeDocument/2006/relationships/notesSlide" Target="../notesSlides/notesSlide234.xml"/><Relationship Id="rId7"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notesSlide" Target="../notesSlides/notesSlide235.xml"/><Relationship Id="rId5"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xml"/><Relationship Id="rId4" Type="http://schemas.openxmlformats.org/officeDocument/2006/relationships/chart" Target="../charts/chart155.xml"/><Relationship Id="rId5" Type="http://schemas.openxmlformats.org/officeDocument/2006/relationships/chart" Target="../charts/chart156.xml"/><Relationship Id="rId6" Type="http://schemas.openxmlformats.org/officeDocument/2006/relationships/notesSlide" Target="../notesSlides/notesSlide239.xml"/><Relationship Id="rId7" Type="http://schemas.openxmlformats.org/officeDocument/2006/relationships/image" Target="../media/image2.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240.xml"/><Relationship Id="rId5" Type="http://schemas.openxmlformats.org/officeDocument/2006/relationships/image" Target="../media/image2.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 Id="rId4" Type="http://schemas.openxmlformats.org/officeDocument/2006/relationships/image" Target="../media/image2.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Removable Partial Dentures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(Units) Analysis and Forecast, 2021–2036</a:t>
            </a:r>
          </a:p>
          <a:p>
            <a:pPr algn="l"/>
            <a:r>
              <a:rPr sz="1100" b="0">
                <a:solidFill>
                  <a:srgbClr val="8FCBE6"/>
                </a:solidFill>
                <a:latin typeface="Calibri"/>
              </a:rPr>
              <a:t>Region focus: Global   ·   Country focus: U.S.   ·   Generated 12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Removable Partial Dentures Market Global Overview</a:t>
            </a:r>
          </a:p>
        </p:txBody>
      </p:sp>
      <p:sp>
        <p:nvSpPr>
          <p:cNvPr id="17" name="Rounded Rectangle 16">
            <a:hlinkClick action="ppaction://hlinksldjump" r:id="rId10"/>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Removable Partial Dentures Market Overview (Volume &amp; Value)</a:t>
            </a:r>
          </a:p>
        </p:txBody>
      </p:sp>
      <p:sp>
        <p:nvSpPr>
          <p:cNvPr id="27" name="Rounded Rectangle 26">
            <a:hlinkClick action="ppaction://hlinksldjump" r:id="rId20"/>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Cross-sectional Assessment</a:t>
            </a:r>
          </a:p>
        </p:txBody>
      </p:sp>
      <p:sp>
        <p:nvSpPr>
          <p:cNvPr id="29" name="Rounded Rectangle 28">
            <a:hlinkClick action="ppaction://hlinksldjump" r:id="rId22"/>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30" name="Rounded Rectangle 29">
            <a:hlinkClick action="ppaction://hlinksldjump" r:id="rId23"/>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Removable Partial Dentures Market Pricing Analysis</a:t>
            </a:r>
          </a:p>
        </p:txBody>
      </p:sp>
      <p:sp>
        <p:nvSpPr>
          <p:cNvPr id="31" name="Rounded Rectangle 30">
            <a:hlinkClick action="ppaction://hlinksldjump" r:id="rId24"/>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Supply Chain Analysis</a:t>
            </a:r>
          </a:p>
        </p:txBody>
      </p:sp>
      <p:sp>
        <p:nvSpPr>
          <p:cNvPr id="32" name="Rounded Rectangle 31">
            <a:hlinkClick action="ppaction://hlinksldjump" r:id="rId25"/>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3" name="Rounded Rectangle 32">
            <a:hlinkClick action="ppaction://hlinksldjump" r:id="rId26"/>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Dynamics &amp; Forces</a:t>
            </a:r>
          </a:p>
        </p:txBody>
      </p:sp>
      <p:sp>
        <p:nvSpPr>
          <p:cNvPr id="34" name="Rounded Rectangle 33">
            <a:hlinkClick action="ppaction://hlinksldjump" r:id="rId27"/>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5" name="Rounded Rectangle 34">
            <a:hlinkClick action="ppaction://hlinksldjump" r:id="rId28"/>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Competitive Landscape</a:t>
            </a:r>
          </a:p>
        </p:txBody>
      </p:sp>
      <p:sp>
        <p:nvSpPr>
          <p:cNvPr id="36" name="Rounded Rectangle 35">
            <a:hlinkClick action="ppaction://hlinksldjump" r:id="rId29"/>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Market Share by Leading Players</a:t>
            </a:r>
          </a:p>
        </p:txBody>
      </p:sp>
      <p:sp>
        <p:nvSpPr>
          <p:cNvPr id="37" name="Rounded Rectangle 36">
            <a:hlinkClick action="ppaction://hlinksldjump" r:id="rId30"/>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Removable Partial Dentures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Removable Partial Dentures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Removable Partial Dentures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Removable Partial Dentures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755875" cy="186689"/>
          </a:xfrm>
          <a:prstGeom prst="rect">
            <a:avLst/>
          </a:prstGeom>
          <a:noFill/>
        </p:spPr>
        <p:txBody>
          <a:bodyPr wrap="none" lIns="0" rIns="0" tIns="0" bIns="0">
            <a:spAutoFit/>
          </a:bodyPr>
          <a:lstStyle/>
          <a:p>
            <a:r>
              <a:rPr sz="1100" b="0">
                <a:solidFill>
                  <a:srgbClr val="2E2E2E"/>
                </a:solidFill>
                <a:latin typeface="Calibri"/>
              </a:rPr>
              <a:t>Flexible Partial Dentures leads Product Type, at</a:t>
            </a:r>
          </a:p>
        </p:txBody>
      </p:sp>
      <p:pic>
        <p:nvPicPr>
          <p:cNvPr id="19" name="Picture 18" descr="lock.png"/>
          <p:cNvPicPr>
            <a:picLocks noChangeAspect="1"/>
          </p:cNvPicPr>
          <p:nvPr/>
        </p:nvPicPr>
        <p:blipFill>
          <a:blip r:embed="rId4"/>
          <a:stretch>
            <a:fillRect/>
          </a:stretch>
        </p:blipFill>
        <p:spPr>
          <a:xfrm>
            <a:off x="6488676" y="2792114"/>
            <a:ext cx="128699" cy="187198"/>
          </a:xfrm>
          <a:prstGeom prst="rect">
            <a:avLst/>
          </a:prstGeom>
        </p:spPr>
      </p:pic>
      <p:sp>
        <p:nvSpPr>
          <p:cNvPr id="20" name="TextBox 19"/>
          <p:cNvSpPr txBox="1"/>
          <p:nvPr/>
        </p:nvSpPr>
        <p:spPr>
          <a:xfrm>
            <a:off x="6656172" y="2801893"/>
            <a:ext cx="1854100" cy="186689"/>
          </a:xfrm>
          <a:prstGeom prst="rect">
            <a:avLst/>
          </a:prstGeom>
          <a:noFill/>
        </p:spPr>
        <p:txBody>
          <a:bodyPr wrap="none" lIns="0" rIns="0" tIns="0" bIns="0">
            <a:spAutoFit/>
          </a:bodyPr>
          <a:lstStyle/>
          <a:p>
            <a:r>
              <a:rPr sz="1100" b="0">
                <a:solidFill>
                  <a:srgbClr val="2E2E2E"/>
                </a:solidFill>
                <a:latin typeface="Calibri"/>
              </a:rPr>
              <a:t>of 2036 value, within a mix of 4</a:t>
            </a:r>
          </a:p>
        </p:txBody>
      </p:sp>
      <p:sp>
        <p:nvSpPr>
          <p:cNvPr id="21" name="TextBox 20"/>
          <p:cNvSpPr txBox="1"/>
          <p:nvPr/>
        </p:nvSpPr>
        <p:spPr>
          <a:xfrm>
            <a:off x="3784750" y="2969533"/>
            <a:ext cx="1158602" cy="186689"/>
          </a:xfrm>
          <a:prstGeom prst="rect">
            <a:avLst/>
          </a:prstGeom>
          <a:noFill/>
        </p:spPr>
        <p:txBody>
          <a:bodyPr wrap="none" lIns="0" rIns="0" tIns="0" bIns="0">
            <a:spAutoFit/>
          </a:bodyPr>
          <a:lstStyle/>
          <a:p>
            <a:r>
              <a:rPr sz="1100" b="0">
                <a:solidFill>
                  <a:srgbClr val="2E2E2E"/>
                </a:solidFill>
                <a:latin typeface="Calibri"/>
              </a:rPr>
              <a:t>tracked categories.</a:t>
            </a:r>
          </a:p>
        </p:txBody>
      </p:sp>
      <p:sp>
        <p:nvSpPr>
          <p:cNvPr id="22" name="TextBox 21"/>
          <p:cNvSpPr txBox="1"/>
          <p:nvPr/>
        </p:nvSpPr>
        <p:spPr>
          <a:xfrm>
            <a:off x="8785375" y="2885713"/>
            <a:ext cx="1866106" cy="186689"/>
          </a:xfrm>
          <a:prstGeom prst="rect">
            <a:avLst/>
          </a:prstGeom>
          <a:noFill/>
        </p:spPr>
        <p:txBody>
          <a:bodyPr wrap="none" lIns="0" rIns="0" tIns="0" bIns="0">
            <a:spAutoFit/>
          </a:bodyPr>
          <a:lstStyle/>
          <a:p>
            <a:r>
              <a:rPr sz="1100" b="0">
                <a:solidFill>
                  <a:srgbClr val="2E2E2E"/>
                </a:solidFill>
                <a:latin typeface="Calibri"/>
              </a:rPr>
              <a:t>Lead: Flexible Partial Dentures ·</a:t>
            </a:r>
          </a:p>
        </p:txBody>
      </p:sp>
      <p:pic>
        <p:nvPicPr>
          <p:cNvPr id="23" name="Picture 22" descr="lock.png"/>
          <p:cNvPicPr>
            <a:picLocks noChangeAspect="1"/>
          </p:cNvPicPr>
          <p:nvPr/>
        </p:nvPicPr>
        <p:blipFill>
          <a:blip r:embed="rId4"/>
          <a:stretch>
            <a:fillRect/>
          </a:stretch>
        </p:blipFill>
        <p:spPr>
          <a:xfrm>
            <a:off x="10599532" y="2875934"/>
            <a:ext cx="128699" cy="187198"/>
          </a:xfrm>
          <a:prstGeom prst="rect">
            <a:avLst/>
          </a:prstGeom>
        </p:spPr>
      </p:pic>
      <p:sp>
        <p:nvSpPr>
          <p:cNvPr id="24" name="TextBox 23"/>
          <p:cNvSpPr txBox="1"/>
          <p:nvPr/>
        </p:nvSpPr>
        <p:spPr>
          <a:xfrm>
            <a:off x="10767028"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3495575" cy="186689"/>
          </a:xfrm>
          <a:prstGeom prst="rect">
            <a:avLst/>
          </a:prstGeom>
          <a:noFill/>
        </p:spPr>
        <p:txBody>
          <a:bodyPr wrap="none" lIns="0" rIns="0" tIns="0" bIns="0">
            <a:spAutoFit/>
          </a:bodyPr>
          <a:lstStyle/>
          <a:p>
            <a:r>
              <a:rPr sz="1100" b="0">
                <a:solidFill>
                  <a:srgbClr val="2E2E2E"/>
                </a:solidFill>
                <a:latin typeface="Calibri"/>
              </a:rPr>
              <a:t>Dental Hospitals is the fastest-growing part of End User, at a</a:t>
            </a:r>
          </a:p>
        </p:txBody>
      </p:sp>
      <p:pic>
        <p:nvPicPr>
          <p:cNvPr id="26" name="Picture 25" descr="lock.png"/>
          <p:cNvPicPr>
            <a:picLocks noChangeAspect="1"/>
          </p:cNvPicPr>
          <p:nvPr/>
        </p:nvPicPr>
        <p:blipFill>
          <a:blip r:embed="rId4"/>
          <a:stretch>
            <a:fillRect/>
          </a:stretch>
        </p:blipFill>
        <p:spPr>
          <a:xfrm>
            <a:off x="7228377" y="3832575"/>
            <a:ext cx="128699" cy="187198"/>
          </a:xfrm>
          <a:prstGeom prst="rect">
            <a:avLst/>
          </a:prstGeom>
        </p:spPr>
      </p:pic>
      <p:sp>
        <p:nvSpPr>
          <p:cNvPr id="27" name="TextBox 26"/>
          <p:cNvSpPr txBox="1"/>
          <p:nvPr/>
        </p:nvSpPr>
        <p:spPr>
          <a:xfrm>
            <a:off x="7395873" y="3842354"/>
            <a:ext cx="889280"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28" name="TextBox 27"/>
          <p:cNvSpPr txBox="1"/>
          <p:nvPr/>
        </p:nvSpPr>
        <p:spPr>
          <a:xfrm>
            <a:off x="3784750" y="4009994"/>
            <a:ext cx="1692299" cy="186689"/>
          </a:xfrm>
          <a:prstGeom prst="rect">
            <a:avLst/>
          </a:prstGeom>
          <a:noFill/>
        </p:spPr>
        <p:txBody>
          <a:bodyPr wrap="none" lIns="0" rIns="0" tIns="0" bIns="0">
            <a:spAutoFit/>
          </a:bodyPr>
          <a:lstStyle/>
          <a:p>
            <a:r>
              <a:rPr sz="1100" b="0">
                <a:solidFill>
                  <a:srgbClr val="2E2E2E"/>
                </a:solidFill>
                <a:latin typeface="Calibri"/>
              </a:rPr>
              <a:t>outpacing the wider market.</a:t>
            </a:r>
          </a:p>
        </p:txBody>
      </p:sp>
      <p:sp>
        <p:nvSpPr>
          <p:cNvPr id="29" name="TextBox 28"/>
          <p:cNvSpPr txBox="1"/>
          <p:nvPr/>
        </p:nvSpPr>
        <p:spPr>
          <a:xfrm>
            <a:off x="8785375" y="3926174"/>
            <a:ext cx="1543536" cy="186689"/>
          </a:xfrm>
          <a:prstGeom prst="rect">
            <a:avLst/>
          </a:prstGeom>
          <a:noFill/>
        </p:spPr>
        <p:txBody>
          <a:bodyPr wrap="none" lIns="0" rIns="0" tIns="0" bIns="0">
            <a:spAutoFit/>
          </a:bodyPr>
          <a:lstStyle/>
          <a:p>
            <a:r>
              <a:rPr sz="1100" b="0">
                <a:solidFill>
                  <a:srgbClr val="2E2E2E"/>
                </a:solidFill>
                <a:latin typeface="Calibri"/>
              </a:rPr>
              <a:t>Fastest: Dental Hospitals ·</a:t>
            </a:r>
          </a:p>
        </p:txBody>
      </p:sp>
      <p:pic>
        <p:nvPicPr>
          <p:cNvPr id="30" name="Picture 29" descr="lock.png"/>
          <p:cNvPicPr>
            <a:picLocks noChangeAspect="1"/>
          </p:cNvPicPr>
          <p:nvPr/>
        </p:nvPicPr>
        <p:blipFill>
          <a:blip r:embed="rId4"/>
          <a:stretch>
            <a:fillRect/>
          </a:stretch>
        </p:blipFill>
        <p:spPr>
          <a:xfrm>
            <a:off x="10276962" y="3916395"/>
            <a:ext cx="128699" cy="187198"/>
          </a:xfrm>
          <a:prstGeom prst="rect">
            <a:avLst/>
          </a:prstGeom>
        </p:spPr>
      </p:pic>
      <p:sp>
        <p:nvSpPr>
          <p:cNvPr id="31" name="TextBox 30"/>
          <p:cNvSpPr txBox="1"/>
          <p:nvPr/>
        </p:nvSpPr>
        <p:spPr>
          <a:xfrm>
            <a:off x="10444458"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2" name="TextBox 31"/>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3" name="Picture 32" descr="lock.png"/>
          <p:cNvPicPr>
            <a:picLocks noChangeAspect="1"/>
          </p:cNvPicPr>
          <p:nvPr/>
        </p:nvPicPr>
        <p:blipFill>
          <a:blip r:embed="rId4"/>
          <a:stretch>
            <a:fillRect/>
          </a:stretch>
        </p:blipFill>
        <p:spPr>
          <a:xfrm>
            <a:off x="6406275" y="4873036"/>
            <a:ext cx="128699" cy="187198"/>
          </a:xfrm>
          <a:prstGeom prst="rect">
            <a:avLst/>
          </a:prstGeom>
        </p:spPr>
      </p:pic>
      <p:sp>
        <p:nvSpPr>
          <p:cNvPr id="34" name="TextBox 33"/>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5" name="TextBox 34"/>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6" name="Picture 35" descr="lock.png"/>
          <p:cNvPicPr>
            <a:picLocks noChangeAspect="1"/>
          </p:cNvPicPr>
          <p:nvPr/>
        </p:nvPicPr>
        <p:blipFill>
          <a:blip r:embed="rId4"/>
          <a:stretch>
            <a:fillRect/>
          </a:stretch>
        </p:blipFill>
        <p:spPr>
          <a:xfrm>
            <a:off x="5106956" y="5040676"/>
            <a:ext cx="128699" cy="187198"/>
          </a:xfrm>
          <a:prstGeom prst="rect">
            <a:avLst/>
          </a:prstGeom>
        </p:spPr>
      </p:pic>
      <p:sp>
        <p:nvSpPr>
          <p:cNvPr id="37" name="TextBox 36"/>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8" name="TextBox 37"/>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9" name="Picture 38" descr="lock.png"/>
          <p:cNvPicPr>
            <a:picLocks noChangeAspect="1"/>
          </p:cNvPicPr>
          <p:nvPr/>
        </p:nvPicPr>
        <p:blipFill>
          <a:blip r:embed="rId4"/>
          <a:stretch>
            <a:fillRect/>
          </a:stretch>
        </p:blipFill>
        <p:spPr>
          <a:xfrm>
            <a:off x="10197622" y="4873036"/>
            <a:ext cx="128699" cy="187198"/>
          </a:xfrm>
          <a:prstGeom prst="rect">
            <a:avLst/>
          </a:prstGeom>
        </p:spPr>
      </p:pic>
      <p:sp>
        <p:nvSpPr>
          <p:cNvPr id="40" name="TextBox 39"/>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1" name="TextBox 40"/>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2" name="Picture 41" descr="lock.png"/>
          <p:cNvPicPr>
            <a:picLocks noChangeAspect="1"/>
          </p:cNvPicPr>
          <p:nvPr/>
        </p:nvPicPr>
        <p:blipFill>
          <a:blip r:embed="rId4"/>
          <a:stretch>
            <a:fillRect/>
          </a:stretch>
        </p:blipFill>
        <p:spPr>
          <a:xfrm>
            <a:off x="9248099" y="5040676"/>
            <a:ext cx="128699" cy="187198"/>
          </a:xfrm>
          <a:prstGeom prst="rect">
            <a:avLst/>
          </a:prstGeom>
        </p:spPr>
      </p:pic>
      <p:sp>
        <p:nvSpPr>
          <p:cNvPr id="43" name="TextBox 42"/>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4" name="TextBox 43"/>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5" name="Picture 44" descr="lock.png"/>
          <p:cNvPicPr>
            <a:picLocks noChangeAspect="1"/>
          </p:cNvPicPr>
          <p:nvPr/>
        </p:nvPicPr>
        <p:blipFill>
          <a:blip r:embed="rId4"/>
          <a:stretch>
            <a:fillRect/>
          </a:stretch>
        </p:blipFill>
        <p:spPr>
          <a:xfrm>
            <a:off x="4678579" y="5913497"/>
            <a:ext cx="128699" cy="187198"/>
          </a:xfrm>
          <a:prstGeom prst="rect">
            <a:avLst/>
          </a:prstGeom>
        </p:spPr>
      </p:pic>
      <p:sp>
        <p:nvSpPr>
          <p:cNvPr id="46" name="TextBox 45"/>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7" name="TextBox 46"/>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8" name="TextBox 47"/>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9" name="Picture 48" descr="lock.png"/>
          <p:cNvPicPr>
            <a:picLocks noChangeAspect="1"/>
          </p:cNvPicPr>
          <p:nvPr/>
        </p:nvPicPr>
        <p:blipFill>
          <a:blip r:embed="rId4"/>
          <a:stretch>
            <a:fillRect/>
          </a:stretch>
        </p:blipFill>
        <p:spPr>
          <a:xfrm>
            <a:off x="9591346" y="5997317"/>
            <a:ext cx="128699" cy="187198"/>
          </a:xfrm>
          <a:prstGeom prst="rect">
            <a:avLst/>
          </a:prstGeom>
        </p:spPr>
      </p:pic>
      <p:sp>
        <p:nvSpPr>
          <p:cNvPr id="50" name="TextBox 49"/>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1" name="Picture 50" descr="lock.png"/>
          <p:cNvPicPr>
            <a:picLocks noChangeAspect="1"/>
          </p:cNvPicPr>
          <p:nvPr/>
        </p:nvPicPr>
        <p:blipFill>
          <a:blip r:embed="rId4"/>
          <a:stretch>
            <a:fillRect/>
          </a:stretch>
        </p:blipFill>
        <p:spPr>
          <a:xfrm>
            <a:off x="11052672" y="5997317"/>
            <a:ext cx="128699" cy="187198"/>
          </a:xfrm>
          <a:prstGeom prst="rect">
            <a:avLst/>
          </a:prstGeom>
        </p:spPr>
      </p:pic>
      <p:sp>
        <p:nvSpPr>
          <p:cNvPr id="52" name="TextBox 51"/>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Removable Partial Dentures Market</a:t>
            </a:r>
          </a:p>
        </p:txBody>
      </p:sp>
      <p:sp>
        <p:nvSpPr>
          <p:cNvPr id="57" name="Rounded Rectangle 56"/>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8" name="Rounded Rectangle 57"/>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9" name="Rounded Rectangle 58"/>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60" name="Rounded Rectangle 59"/>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1" name="Rounded Rectangle 60"/>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2" name="Rounded Rectangle 61"/>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3" name="Rounded Rectangle 62"/>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4" name="Rounded Rectangle 63"/>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5" name="Rounded Rectangle 64"/>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6" name="Rounded Rectangle 65"/>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7" name="Rounded Rectangle 66"/>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8" name="Rounded Rectangle 67"/>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9" name="Rounded Rectangle 68"/>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70" name="Rounded Rectangle 69"/>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1" name="Rounded Rectangle 70"/>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2" name="Rounded Rectangle 71"/>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3" name="Rounded Rectangle 72"/>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 Countries</a:t>
            </a:r>
          </a:p>
        </p:txBody>
      </p:sp>
      <p:sp>
        <p:nvSpPr>
          <p:cNvPr id="74" name="Rounded Rectangle 73"/>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5" name="Rounded Rectangle 74"/>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6" name="Rounded Rectangle 75"/>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7" name="Rounded Rectangle 76"/>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8" name="Rounded Rectangle 77"/>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9" name="Rounded Rectangle 78"/>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80" name="Rounded Rectangle 79"/>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1" name="Rounded Rectangle 80"/>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2" name="Rounded Rectangle 81"/>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3" name="Rounded Rectangle 82"/>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4" name="Rounded Rectangle 83"/>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5" name="Rounded Rectangle 84"/>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6" name="Rounded Rectangle 85"/>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7" name="Rounded Rectangle 86"/>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8" name="Rounded Rectangle 87"/>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9" name="Rounded Rectangle 88"/>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90" name="Rounded Rectangle 89"/>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1" name="Rounded Rectangle 90"/>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 &amp; Pacific</a:t>
            </a:r>
          </a:p>
        </p:txBody>
      </p:sp>
      <p:sp>
        <p:nvSpPr>
          <p:cNvPr id="92" name="Rounded Rectangle 91"/>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3" name="Rounded Rectangle 92"/>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4" name="Rounded Rectangle 93"/>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5" name="Rounded Rectangle 94"/>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6" name="Rounded Rectangle 95"/>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7" name="Rounded Rectangle 96"/>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Other GCC Countries</a:t>
            </a:r>
          </a:p>
        </p:txBody>
      </p:sp>
      <p:sp>
        <p:nvSpPr>
          <p:cNvPr id="98" name="Rounded Rectangle 97"/>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North Africa</a:t>
            </a:r>
          </a:p>
        </p:txBody>
      </p:sp>
      <p:sp>
        <p:nvSpPr>
          <p:cNvPr id="99" name="Rounded Rectangle 98"/>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100" name="Rounded Rectangle 99"/>
          <p:cNvSpPr/>
          <p:nvPr/>
        </p:nvSpPr>
        <p:spPr>
          <a:xfrm>
            <a:off x="1028700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Middle East &amp; Africa</a:t>
            </a:r>
          </a:p>
        </p:txBody>
      </p:sp>
      <p:sp>
        <p:nvSpPr>
          <p:cNvPr id="101" name="TextBox 10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2000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3905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24" name="Rectangle 23"/>
          <p:cNvSpPr/>
          <p:nvPr/>
        </p:nvSpPr>
        <p:spPr>
          <a:xfrm>
            <a:off x="142875" y="208026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Rectangle 24"/>
          <p:cNvSpPr/>
          <p:nvPr/>
        </p:nvSpPr>
        <p:spPr>
          <a:xfrm>
            <a:off x="1428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190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27" name="TextBox 26"/>
          <p:cNvSpPr txBox="1"/>
          <p:nvPr/>
        </p:nvSpPr>
        <p:spPr>
          <a:xfrm>
            <a:off x="2000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905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cxnSp>
        <p:nvCxnSpPr>
          <p:cNvPr id="29" name="Connector 28"/>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000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 name="TextBox 30"/>
          <p:cNvSpPr txBox="1"/>
          <p:nvPr/>
        </p:nvSpPr>
        <p:spPr>
          <a:xfrm>
            <a:off x="3905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cxnSp>
        <p:nvCxnSpPr>
          <p:cNvPr id="32" name="Connector 31"/>
          <p:cNvCxnSpPr/>
          <p:nvPr/>
        </p:nvCxnSpPr>
        <p:spPr>
          <a:xfrm>
            <a:off x="1524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000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905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35" name="Rectangle 34"/>
          <p:cNvSpPr/>
          <p:nvPr/>
        </p:nvSpPr>
        <p:spPr>
          <a:xfrm>
            <a:off x="31527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Type</a:t>
            </a:r>
          </a:p>
        </p:txBody>
      </p:sp>
      <p:sp>
        <p:nvSpPr>
          <p:cNvPr id="38" name="TextBox 3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9" name="TextBox 3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 Alloys</a:t>
            </a:r>
          </a:p>
        </p:txBody>
      </p:sp>
      <p:cxnSp>
        <p:nvCxnSpPr>
          <p:cNvPr id="40" name="Connector 3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2" name="TextBox 41"/>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Cobalt-Chromium Alloys</a:t>
            </a:r>
          </a:p>
        </p:txBody>
      </p:sp>
      <p:cxnSp>
        <p:nvCxnSpPr>
          <p:cNvPr id="43" name="Connector 4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5" name="TextBox 4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Titanium Alloys</a:t>
            </a:r>
          </a:p>
        </p:txBody>
      </p:sp>
      <p:cxnSp>
        <p:nvCxnSpPr>
          <p:cNvPr id="46" name="Connector 4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32099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8" name="TextBox 47"/>
          <p:cNvSpPr txBox="1"/>
          <p:nvPr/>
        </p:nvSpPr>
        <p:spPr>
          <a:xfrm>
            <a:off x="34004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Acrylic / Resin</a:t>
            </a:r>
          </a:p>
        </p:txBody>
      </p:sp>
      <p:cxnSp>
        <p:nvCxnSpPr>
          <p:cNvPr id="49" name="Connector 4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1" name="TextBox 5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PMMA</a:t>
            </a:r>
          </a:p>
        </p:txBody>
      </p:sp>
      <p:cxnSp>
        <p:nvCxnSpPr>
          <p:cNvPr id="52" name="Connector 5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Printable Denture Resins</a:t>
            </a:r>
          </a:p>
        </p:txBody>
      </p:sp>
      <p:cxnSp>
        <p:nvCxnSpPr>
          <p:cNvPr id="55" name="Connector 5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7" name="TextBox 5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Thermoplastics</a:t>
            </a:r>
          </a:p>
        </p:txBody>
      </p:sp>
      <p:cxnSp>
        <p:nvCxnSpPr>
          <p:cNvPr id="58" name="Connector 57"/>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Polyamide / Nylon</a:t>
            </a:r>
          </a:p>
        </p:txBody>
      </p:sp>
      <p:cxnSp>
        <p:nvCxnSpPr>
          <p:cNvPr id="61" name="Connector 60"/>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Thermoplastic Resins</a:t>
            </a:r>
          </a:p>
        </p:txBody>
      </p:sp>
      <p:cxnSp>
        <p:nvCxnSpPr>
          <p:cNvPr id="64" name="Connector 63"/>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32099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34004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High-performance Polymers</a:t>
            </a:r>
          </a:p>
        </p:txBody>
      </p:sp>
      <p:cxnSp>
        <p:nvCxnSpPr>
          <p:cNvPr id="67" name="Connector 66"/>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PEEK-based Materials</a:t>
            </a:r>
          </a:p>
        </p:txBody>
      </p:sp>
      <p:cxnSp>
        <p:nvCxnSpPr>
          <p:cNvPr id="70" name="Connector 69"/>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33813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571875" y="32061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High-performance Dental Polymers</a:t>
            </a:r>
          </a:p>
        </p:txBody>
      </p:sp>
      <p:sp>
        <p:nvSpPr>
          <p:cNvPr id="73" name="Rectangle 72"/>
          <p:cNvSpPr/>
          <p:nvPr/>
        </p:nvSpPr>
        <p:spPr>
          <a:xfrm>
            <a:off x="6162675" y="1028700"/>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Technology</a:t>
            </a:r>
          </a:p>
        </p:txBody>
      </p:sp>
      <p:sp>
        <p:nvSpPr>
          <p:cNvPr id="76" name="TextBox 75"/>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Fabrication</a:t>
            </a:r>
          </a:p>
        </p:txBody>
      </p:sp>
      <p:cxnSp>
        <p:nvCxnSpPr>
          <p:cNvPr id="78" name="Connector 77"/>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Metal Casting</a:t>
            </a:r>
          </a:p>
        </p:txBody>
      </p:sp>
      <p:cxnSp>
        <p:nvCxnSpPr>
          <p:cNvPr id="81" name="Connector 80"/>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Heat-cured / Compression Processing</a:t>
            </a:r>
          </a:p>
        </p:txBody>
      </p:sp>
      <p:cxnSp>
        <p:nvCxnSpPr>
          <p:cNvPr id="84" name="Connector 83"/>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Injection Molding</a:t>
            </a:r>
          </a:p>
        </p:txBody>
      </p:sp>
      <p:cxnSp>
        <p:nvCxnSpPr>
          <p:cNvPr id="87" name="Connector 86"/>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Digital Fabrication</a:t>
            </a:r>
          </a:p>
        </p:txBody>
      </p:sp>
      <p:cxnSp>
        <p:nvCxnSpPr>
          <p:cNvPr id="90" name="Connector 89"/>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CAD/CAM Milling</a:t>
            </a:r>
          </a:p>
        </p:txBody>
      </p:sp>
      <p:cxnSp>
        <p:nvCxnSpPr>
          <p:cNvPr id="93" name="Connector 92"/>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3D Printing / Additive Manufacturing</a:t>
            </a:r>
          </a:p>
        </p:txBody>
      </p:sp>
      <p:cxnSp>
        <p:nvCxnSpPr>
          <p:cNvPr id="96" name="Connector 95"/>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Hybrid Digital Fabrication</a:t>
            </a:r>
          </a:p>
        </p:txBody>
      </p:sp>
      <p:sp>
        <p:nvSpPr>
          <p:cNvPr id="99" name="Rectangle 98"/>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End User</a:t>
            </a:r>
          </a:p>
        </p:txBody>
      </p:sp>
      <p:sp>
        <p:nvSpPr>
          <p:cNvPr id="102" name="TextBox 101"/>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cxnSp>
        <p:nvCxnSpPr>
          <p:cNvPr id="104" name="Connector 103"/>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cxnSp>
        <p:nvCxnSpPr>
          <p:cNvPr id="107" name="Connector 106"/>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cxnSp>
        <p:nvCxnSpPr>
          <p:cNvPr id="110" name="Connector 109"/>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113" name="Rectangle 112"/>
          <p:cNvSpPr/>
          <p:nvPr/>
        </p:nvSpPr>
        <p:spPr>
          <a:xfrm>
            <a:off x="9172575" y="2080260"/>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Patient Age Group</a:t>
            </a:r>
          </a:p>
        </p:txBody>
      </p:sp>
      <p:sp>
        <p:nvSpPr>
          <p:cNvPr id="116" name="TextBox 115"/>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cxnSp>
        <p:nvCxnSpPr>
          <p:cNvPr id="118" name="Connector 117"/>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Removable Partial Dentures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Dentsply Sirona Inc.</a:t>
            </a:r>
          </a:p>
        </p:txBody>
      </p:sp>
      <p:sp>
        <p:nvSpPr>
          <p:cNvPr id="16" name="Rectangle 15"/>
          <p:cNvSpPr/>
          <p:nvPr/>
        </p:nvSpPr>
        <p:spPr>
          <a:xfrm>
            <a:off x="152400" y="2266766"/>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26676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26676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26676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Ivoclar Vivadent AG</a:t>
            </a:r>
          </a:p>
        </p:txBody>
      </p:sp>
      <p:cxnSp>
        <p:nvCxnSpPr>
          <p:cNvPr id="20" name="Connector 19"/>
          <p:cNvCxnSpPr/>
          <p:nvPr/>
        </p:nvCxnSpPr>
        <p:spPr>
          <a:xfrm>
            <a:off x="152400"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704855"/>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704855"/>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Kulzer GmbH</a:t>
            </a:r>
          </a:p>
        </p:txBody>
      </p:sp>
      <p:sp>
        <p:nvSpPr>
          <p:cNvPr id="23" name="Rectangle 22"/>
          <p:cNvSpPr/>
          <p:nvPr/>
        </p:nvSpPr>
        <p:spPr>
          <a:xfrm>
            <a:off x="152400" y="3142944"/>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314294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3142944"/>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3142944"/>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GC Corporation</a:t>
            </a:r>
          </a:p>
        </p:txBody>
      </p:sp>
      <p:cxnSp>
        <p:nvCxnSpPr>
          <p:cNvPr id="27" name="Connector 26"/>
          <p:cNvCxnSpPr/>
          <p:nvPr/>
        </p:nvCxnSpPr>
        <p:spPr>
          <a:xfrm>
            <a:off x="152400"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3581032"/>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3581032"/>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SHOFU INC.</a:t>
            </a:r>
          </a:p>
        </p:txBody>
      </p:sp>
      <p:sp>
        <p:nvSpPr>
          <p:cNvPr id="30" name="Rectangle 29"/>
          <p:cNvSpPr/>
          <p:nvPr/>
        </p:nvSpPr>
        <p:spPr>
          <a:xfrm>
            <a:off x="152400" y="4019121"/>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4019121"/>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4019121"/>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VITA Zahnfabrik H. Rauter GmbH &amp; Co. KG</a:t>
            </a:r>
          </a:p>
        </p:txBody>
      </p:sp>
      <p:cxnSp>
        <p:nvCxnSpPr>
          <p:cNvPr id="34" name="Connector 33"/>
          <p:cNvCxnSpPr/>
          <p:nvPr/>
        </p:nvCxnSpPr>
        <p:spPr>
          <a:xfrm>
            <a:off x="152400"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4457210"/>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4457210"/>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Zhermack S.p.A.</a:t>
            </a:r>
          </a:p>
        </p:txBody>
      </p:sp>
      <p:sp>
        <p:nvSpPr>
          <p:cNvPr id="37" name="Rectangle 36"/>
          <p:cNvSpPr/>
          <p:nvPr/>
        </p:nvSpPr>
        <p:spPr>
          <a:xfrm>
            <a:off x="152400" y="4895299"/>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48952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4895299"/>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4895299"/>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DETAX GmbH</a:t>
            </a:r>
          </a:p>
        </p:txBody>
      </p:sp>
      <p:cxnSp>
        <p:nvCxnSpPr>
          <p:cNvPr id="41" name="Connector 40"/>
          <p:cNvCxnSpPr/>
          <p:nvPr/>
        </p:nvCxnSpPr>
        <p:spPr>
          <a:xfrm>
            <a:off x="152400"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533338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533338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Candulor AG</a:t>
            </a:r>
          </a:p>
        </p:txBody>
      </p:sp>
      <p:sp>
        <p:nvSpPr>
          <p:cNvPr id="44" name="Rectangle 43"/>
          <p:cNvSpPr/>
          <p:nvPr/>
        </p:nvSpPr>
        <p:spPr>
          <a:xfrm>
            <a:off x="152400" y="5771476"/>
            <a:ext cx="5838825" cy="428962"/>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577147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577147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577147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Ruthinium Dental Manufacturing S.p.A.</a:t>
            </a:r>
          </a:p>
        </p:txBody>
      </p:sp>
      <p:sp>
        <p:nvSpPr>
          <p:cNvPr id="48" name="Rectangle 47"/>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51" name="TextBox 50"/>
          <p:cNvSpPr txBox="1"/>
          <p:nvPr/>
        </p:nvSpPr>
        <p:spPr>
          <a:xfrm>
            <a:off x="6381750" y="182867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2" name="TextBox 51"/>
          <p:cNvSpPr txBox="1"/>
          <p:nvPr/>
        </p:nvSpPr>
        <p:spPr>
          <a:xfrm>
            <a:off x="6629400" y="182867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Keystone Industries</a:t>
            </a:r>
          </a:p>
        </p:txBody>
      </p:sp>
      <p:sp>
        <p:nvSpPr>
          <p:cNvPr id="53" name="Rectangle 52"/>
          <p:cNvSpPr/>
          <p:nvPr/>
        </p:nvSpPr>
        <p:spPr>
          <a:xfrm>
            <a:off x="6200775" y="2266766"/>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6200775" y="226676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6381750" y="226676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6" name="TextBox 55"/>
          <p:cNvSpPr txBox="1"/>
          <p:nvPr/>
        </p:nvSpPr>
        <p:spPr>
          <a:xfrm>
            <a:off x="6629400" y="226676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Vertex-Dental B.V.</a:t>
            </a:r>
          </a:p>
        </p:txBody>
      </p:sp>
      <p:cxnSp>
        <p:nvCxnSpPr>
          <p:cNvPr id="57" name="Connector 56"/>
          <p:cNvCxnSpPr/>
          <p:nvPr/>
        </p:nvCxnSpPr>
        <p:spPr>
          <a:xfrm>
            <a:off x="6200775"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6381750" y="2704855"/>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9" name="TextBox 58"/>
          <p:cNvSpPr txBox="1"/>
          <p:nvPr/>
        </p:nvSpPr>
        <p:spPr>
          <a:xfrm>
            <a:off x="6629400" y="2704855"/>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Amann Girrbach AG</a:t>
            </a:r>
          </a:p>
        </p:txBody>
      </p:sp>
      <p:sp>
        <p:nvSpPr>
          <p:cNvPr id="60" name="Rectangle 59"/>
          <p:cNvSpPr/>
          <p:nvPr/>
        </p:nvSpPr>
        <p:spPr>
          <a:xfrm>
            <a:off x="6200775" y="3142944"/>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6200775" y="314294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6381750" y="3142944"/>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3" name="TextBox 62"/>
          <p:cNvSpPr txBox="1"/>
          <p:nvPr/>
        </p:nvSpPr>
        <p:spPr>
          <a:xfrm>
            <a:off x="6629400" y="3142944"/>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BEGO GmbH &amp; Co. KG</a:t>
            </a:r>
          </a:p>
        </p:txBody>
      </p:sp>
      <p:cxnSp>
        <p:nvCxnSpPr>
          <p:cNvPr id="64" name="Connector 63"/>
          <p:cNvCxnSpPr/>
          <p:nvPr/>
        </p:nvCxnSpPr>
        <p:spPr>
          <a:xfrm>
            <a:off x="6200775"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6381750" y="3581032"/>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6" name="TextBox 65"/>
          <p:cNvSpPr txBox="1"/>
          <p:nvPr/>
        </p:nvSpPr>
        <p:spPr>
          <a:xfrm>
            <a:off x="6629400" y="3581032"/>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Dentaurum GmbH &amp; Co. KG</a:t>
            </a:r>
          </a:p>
        </p:txBody>
      </p:sp>
      <p:sp>
        <p:nvSpPr>
          <p:cNvPr id="67" name="Rectangle 66"/>
          <p:cNvSpPr/>
          <p:nvPr/>
        </p:nvSpPr>
        <p:spPr>
          <a:xfrm>
            <a:off x="6200775" y="4019121"/>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8" name="Connector 67"/>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6381750" y="4019121"/>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0" name="TextBox 69"/>
          <p:cNvSpPr txBox="1"/>
          <p:nvPr/>
        </p:nvSpPr>
        <p:spPr>
          <a:xfrm>
            <a:off x="6629400" y="4019121"/>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Valplast International Corp.</a:t>
            </a:r>
          </a:p>
        </p:txBody>
      </p:sp>
      <p:cxnSp>
        <p:nvCxnSpPr>
          <p:cNvPr id="71" name="Connector 70"/>
          <p:cNvCxnSpPr/>
          <p:nvPr/>
        </p:nvCxnSpPr>
        <p:spPr>
          <a:xfrm>
            <a:off x="6200775"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381750" y="4457210"/>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4457210"/>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Renishaw plc</a:t>
            </a:r>
          </a:p>
        </p:txBody>
      </p:sp>
      <p:sp>
        <p:nvSpPr>
          <p:cNvPr id="74" name="Rectangle 73"/>
          <p:cNvSpPr/>
          <p:nvPr/>
        </p:nvSpPr>
        <p:spPr>
          <a:xfrm>
            <a:off x="6200775" y="4895299"/>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6200775" y="48952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381750" y="4895299"/>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7" name="TextBox 76"/>
          <p:cNvSpPr txBox="1"/>
          <p:nvPr/>
        </p:nvSpPr>
        <p:spPr>
          <a:xfrm>
            <a:off x="6629400" y="4895299"/>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3D Systems, Inc.</a:t>
            </a:r>
          </a:p>
        </p:txBody>
      </p:sp>
      <p:cxnSp>
        <p:nvCxnSpPr>
          <p:cNvPr id="78" name="Connector 77"/>
          <p:cNvCxnSpPr/>
          <p:nvPr/>
        </p:nvCxnSpPr>
        <p:spPr>
          <a:xfrm>
            <a:off x="6200775"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533338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533338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Formlabs Inc.</a:t>
            </a:r>
          </a:p>
        </p:txBody>
      </p:sp>
      <p:sp>
        <p:nvSpPr>
          <p:cNvPr id="81" name="Rectangle 80"/>
          <p:cNvSpPr/>
          <p:nvPr/>
        </p:nvSpPr>
        <p:spPr>
          <a:xfrm>
            <a:off x="6200775" y="5771476"/>
            <a:ext cx="5838825" cy="428962"/>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2" name="Connector 81"/>
          <p:cNvCxnSpPr/>
          <p:nvPr/>
        </p:nvCxnSpPr>
        <p:spPr>
          <a:xfrm>
            <a:off x="6200775" y="577147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381750" y="577147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4" name="TextBox 83"/>
          <p:cNvSpPr txBox="1"/>
          <p:nvPr/>
        </p:nvSpPr>
        <p:spPr>
          <a:xfrm>
            <a:off x="6629400" y="577147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Stratasys Ltd.</a:t>
            </a:r>
          </a:p>
        </p:txBody>
      </p:sp>
      <p:sp>
        <p:nvSpPr>
          <p:cNvPr id="85" name="TextBox 84"/>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86" name="TextBox 8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Cast Metal Partial Dentures</a:t>
                      </a:r>
                      <a:endParaRPr sz="1100"/>
                    </a:p>
                  </a:txBody>
                  <a:tcPr marL="771525"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Acrylic Partial Dentures</a:t>
                      </a:r>
                      <a:endParaRPr sz="1100"/>
                    </a:p>
                  </a:txBody>
                  <a:tcPr marL="771525"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Flexible Partial Dentures</a:t>
                      </a:r>
                      <a:endParaRPr sz="1100"/>
                    </a:p>
                  </a:txBody>
                  <a:tcPr marL="771525"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Combination Framework Partial Dentures</a:t>
                      </a:r>
                      <a:endParaRPr sz="1100"/>
                    </a:p>
                  </a:txBody>
                  <a:tcPr marL="771525"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 Type</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Metal Alloys</a:t>
                      </a:r>
                      <a:endParaRPr sz="1100"/>
                    </a:p>
                  </a:txBody>
                  <a:tcPr marL="771525" marR="9525" marT="9525" marB="0" anchor="ctr"/>
                </a:tc>
              </a:tr>
              <a:tr h="175260">
                <a:tc>
                  <a:txBody>
                    <a:bodyPr wrap="square"/>
                    <a:lstStyle/>
                    <a:p>
                      <a:pPr algn="l"/>
                      <a:r>
                        <a:rPr sz="1100" b="0" i="1">
                          <a:solidFill>
                            <a:srgbClr val="000000"/>
                          </a:solidFill>
                          <a:latin typeface="Calibri"/>
                        </a:rPr>
                        <a:t>4.5.1.1.</a:t>
                      </a:r>
                      <a:r>
                        <a:rPr sz="700" b="0" i="1">
                          <a:solidFill>
                            <a:srgbClr val="000000"/>
                          </a:solidFill>
                          <a:latin typeface="Times New Roman"/>
                        </a:rPr>
                        <a:t>    </a:t>
                      </a:r>
                      <a:r>
                        <a:rPr sz="1100" b="0" i="1">
                          <a:solidFill>
                            <a:srgbClr val="000000"/>
                          </a:solidFill>
                          <a:latin typeface="Calibri"/>
                        </a:rPr>
                        <a:t>Cobalt-Chromium Alloys</a:t>
                      </a:r>
                      <a:endParaRPr sz="1100"/>
                    </a:p>
                  </a:txBody>
                  <a:tcPr marL="1028700" marR="9525" marT="9525" marB="0" anchor="ctr"/>
                </a:tc>
              </a:tr>
              <a:tr h="175260">
                <a:tc>
                  <a:txBody>
                    <a:bodyPr wrap="square"/>
                    <a:lstStyle/>
                    <a:p>
                      <a:pPr algn="l"/>
                      <a:r>
                        <a:rPr sz="1100" b="0" i="1">
                          <a:solidFill>
                            <a:srgbClr val="000000"/>
                          </a:solidFill>
                          <a:latin typeface="Calibri"/>
                        </a:rPr>
                        <a:t>4.5.1.2.</a:t>
                      </a:r>
                      <a:r>
                        <a:rPr sz="700" b="0" i="1">
                          <a:solidFill>
                            <a:srgbClr val="000000"/>
                          </a:solidFill>
                          <a:latin typeface="Times New Roman"/>
                        </a:rPr>
                        <a:t>    </a:t>
                      </a:r>
                      <a:r>
                        <a:rPr sz="1100" b="0" i="1">
                          <a:solidFill>
                            <a:srgbClr val="000000"/>
                          </a:solidFill>
                          <a:latin typeface="Calibri"/>
                        </a:rPr>
                        <a:t>Titanium Alloys</a:t>
                      </a:r>
                      <a:endParaRPr sz="1100"/>
                    </a:p>
                  </a:txBody>
                  <a:tcPr marL="1028700"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Acrylic / Resin</a:t>
                      </a:r>
                      <a:endParaRPr sz="1100"/>
                    </a:p>
                  </a:txBody>
                  <a:tcPr marL="771525" marR="9525" marT="9525" marB="0" anchor="ctr"/>
                </a:tc>
              </a:tr>
              <a:tr h="175260">
                <a:tc>
                  <a:txBody>
                    <a:bodyPr wrap="square"/>
                    <a:lstStyle/>
                    <a:p>
                      <a:pPr algn="l"/>
                      <a:r>
                        <a:rPr sz="1100" b="0" i="1">
                          <a:solidFill>
                            <a:srgbClr val="000000"/>
                          </a:solidFill>
                          <a:latin typeface="Calibri"/>
                        </a:rPr>
                        <a:t>4.5.2.1.</a:t>
                      </a:r>
                      <a:r>
                        <a:rPr sz="700" b="0" i="1">
                          <a:solidFill>
                            <a:srgbClr val="000000"/>
                          </a:solidFill>
                          <a:latin typeface="Times New Roman"/>
                        </a:rPr>
                        <a:t>    </a:t>
                      </a:r>
                      <a:r>
                        <a:rPr sz="1100" b="0" i="1">
                          <a:solidFill>
                            <a:srgbClr val="000000"/>
                          </a:solidFill>
                          <a:latin typeface="Calibri"/>
                        </a:rPr>
                        <a:t>PMMA</a:t>
                      </a:r>
                      <a:endParaRPr sz="1100"/>
                    </a:p>
                  </a:txBody>
                  <a:tcPr marL="1028700" marR="9525" marT="9525" marB="0" anchor="ctr"/>
                </a:tc>
              </a:tr>
              <a:tr h="175260">
                <a:tc>
                  <a:txBody>
                    <a:bodyPr wrap="square"/>
                    <a:lstStyle/>
                    <a:p>
                      <a:pPr algn="l"/>
                      <a:r>
                        <a:rPr sz="1100" b="0" i="1">
                          <a:solidFill>
                            <a:srgbClr val="000000"/>
                          </a:solidFill>
                          <a:latin typeface="Calibri"/>
                        </a:rPr>
                        <a:t>4.5.2.2.</a:t>
                      </a:r>
                      <a:r>
                        <a:rPr sz="700" b="0" i="1">
                          <a:solidFill>
                            <a:srgbClr val="000000"/>
                          </a:solidFill>
                          <a:latin typeface="Times New Roman"/>
                        </a:rPr>
                        <a:t>    </a:t>
                      </a:r>
                      <a:r>
                        <a:rPr sz="1100" b="0" i="1">
                          <a:solidFill>
                            <a:srgbClr val="000000"/>
                          </a:solidFill>
                          <a:latin typeface="Calibri"/>
                        </a:rPr>
                        <a:t>Printable Denture Resins</a:t>
                      </a:r>
                      <a:endParaRPr sz="1100"/>
                    </a:p>
                  </a:txBody>
                  <a:tcPr marL="1028700"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Flexible Thermoplastics</a:t>
                      </a:r>
                      <a:endParaRPr sz="1100"/>
                    </a:p>
                  </a:txBody>
                  <a:tcPr marL="771525" marR="9525" marT="9525" marB="0" anchor="ctr"/>
                </a:tc>
              </a:tr>
              <a:tr h="175260">
                <a:tc>
                  <a:txBody>
                    <a:bodyPr wrap="square"/>
                    <a:lstStyle/>
                    <a:p>
                      <a:pPr algn="l"/>
                      <a:r>
                        <a:rPr sz="1100" b="0" i="1">
                          <a:solidFill>
                            <a:srgbClr val="000000"/>
                          </a:solidFill>
                          <a:latin typeface="Calibri"/>
                        </a:rPr>
                        <a:t>4.5.3.1.</a:t>
                      </a:r>
                      <a:r>
                        <a:rPr sz="700" b="0" i="1">
                          <a:solidFill>
                            <a:srgbClr val="000000"/>
                          </a:solidFill>
                          <a:latin typeface="Times New Roman"/>
                        </a:rPr>
                        <a:t>    </a:t>
                      </a:r>
                      <a:r>
                        <a:rPr sz="1100" b="0" i="1">
                          <a:solidFill>
                            <a:srgbClr val="000000"/>
                          </a:solidFill>
                          <a:latin typeface="Calibri"/>
                        </a:rPr>
                        <a:t>Polyamide / Nylon</a:t>
                      </a:r>
                      <a:endParaRPr sz="1100"/>
                    </a:p>
                  </a:txBody>
                  <a:tcPr marL="1028700" marR="9525" marT="9525" marB="0" anchor="ctr"/>
                </a:tc>
              </a:tr>
              <a:tr h="175260">
                <a:tc>
                  <a:txBody>
                    <a:bodyPr wrap="square"/>
                    <a:lstStyle/>
                    <a:p>
                      <a:pPr algn="l"/>
                      <a:r>
                        <a:rPr sz="1100" b="0" i="1">
                          <a:solidFill>
                            <a:srgbClr val="000000"/>
                          </a:solidFill>
                          <a:latin typeface="Calibri"/>
                        </a:rPr>
                        <a:t>4.5.3.2.</a:t>
                      </a:r>
                      <a:r>
                        <a:rPr sz="700" b="0" i="1">
                          <a:solidFill>
                            <a:srgbClr val="000000"/>
                          </a:solidFill>
                          <a:latin typeface="Times New Roman"/>
                        </a:rPr>
                        <a:t>    </a:t>
                      </a:r>
                      <a:r>
                        <a:rPr sz="1100" b="0" i="1">
                          <a:solidFill>
                            <a:srgbClr val="000000"/>
                          </a:solidFill>
                          <a:latin typeface="Calibri"/>
                        </a:rPr>
                        <a:t>Other Thermoplastic Resins</a:t>
                      </a:r>
                      <a:endParaRPr sz="1100"/>
                    </a:p>
                  </a:txBody>
                  <a:tcPr marL="1028700"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High-performance Polymers</a:t>
                      </a:r>
                      <a:endParaRPr sz="1100"/>
                    </a:p>
                  </a:txBody>
                  <a:tcPr marL="771525" marR="9525" marT="9525" marB="0" anchor="ctr"/>
                </a:tc>
              </a:tr>
              <a:tr h="175260">
                <a:tc>
                  <a:txBody>
                    <a:bodyPr wrap="square"/>
                    <a:lstStyle/>
                    <a:p>
                      <a:pPr algn="l"/>
                      <a:r>
                        <a:rPr sz="1100" b="0" i="1">
                          <a:solidFill>
                            <a:srgbClr val="000000"/>
                          </a:solidFill>
                          <a:latin typeface="Calibri"/>
                        </a:rPr>
                        <a:t>4.5.4.1.</a:t>
                      </a:r>
                      <a:r>
                        <a:rPr sz="700" b="0" i="1">
                          <a:solidFill>
                            <a:srgbClr val="000000"/>
                          </a:solidFill>
                          <a:latin typeface="Times New Roman"/>
                        </a:rPr>
                        <a:t>    </a:t>
                      </a:r>
                      <a:r>
                        <a:rPr sz="1100" b="0" i="1">
                          <a:solidFill>
                            <a:srgbClr val="000000"/>
                          </a:solidFill>
                          <a:latin typeface="Calibri"/>
                        </a:rPr>
                        <a:t>PEEK-based Materials</a:t>
                      </a:r>
                      <a:endParaRPr sz="1100"/>
                    </a:p>
                  </a:txBody>
                  <a:tcPr marL="1028700" marR="9525" marT="9525" marB="0" anchor="ctr"/>
                </a:tc>
              </a:tr>
              <a:tr h="175260">
                <a:tc>
                  <a:txBody>
                    <a:bodyPr wrap="square"/>
                    <a:lstStyle/>
                    <a:p>
                      <a:pPr algn="l"/>
                      <a:r>
                        <a:rPr sz="1100" b="0" i="1">
                          <a:solidFill>
                            <a:srgbClr val="000000"/>
                          </a:solidFill>
                          <a:latin typeface="Calibri"/>
                        </a:rPr>
                        <a:t>4.5.4.2.</a:t>
                      </a:r>
                      <a:r>
                        <a:rPr sz="700" b="0" i="1">
                          <a:solidFill>
                            <a:srgbClr val="000000"/>
                          </a:solidFill>
                          <a:latin typeface="Times New Roman"/>
                        </a:rPr>
                        <a:t>    </a:t>
                      </a:r>
                      <a:r>
                        <a:rPr sz="1100" b="0" i="1">
                          <a:solidFill>
                            <a:srgbClr val="000000"/>
                          </a:solidFill>
                          <a:latin typeface="Calibri"/>
                        </a:rPr>
                        <a:t>Other High-performance Dental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Technology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Conventional Fabrication</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Metal Casting</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Heat-cured / Compression Processing</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Injection Molding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Digital Fabrication</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CAD/CAM Milling</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3D Printing / Additive Manufacturing</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Hybrid Digital Fabrication</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End User</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Dental Clinics</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Dental Hospitals</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Dental Laboratories</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Academic &amp; Teaching Dental Institutions</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Distribution Channel</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Direct Sales</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Dental Dealers &amp; Distributors</a:t>
                      </a:r>
                      <a:endParaRPr sz="1100"/>
                    </a:p>
                  </a:txBody>
                  <a:tcPr marL="771525" marR="9525" marT="9525" marB="0" anchor="ctr"/>
                </a:tc>
              </a:tr>
              <a:tr h="175260">
                <a:tc>
                  <a:txBody>
                    <a:bodyPr wrap="square"/>
                    <a:lstStyle/>
                    <a:p>
                      <a:pPr algn="l"/>
                      <a:r>
                        <a:rPr sz="1100" b="0" i="0">
                          <a:solidFill>
                            <a:srgbClr val="000000"/>
                          </a:solidFill>
                          <a:latin typeface="Calibri"/>
                        </a:rPr>
                        <a:t>7.5.3.</a:t>
                      </a:r>
                      <a:r>
                        <a:rPr sz="700" b="0" i="0">
                          <a:solidFill>
                            <a:srgbClr val="000000"/>
                          </a:solidFill>
                          <a:latin typeface="Times New Roman"/>
                        </a:rPr>
                        <a:t>   </a:t>
                      </a:r>
                      <a:r>
                        <a:rPr sz="1100" b="0" i="0">
                          <a:solidFill>
                            <a:srgbClr val="000000"/>
                          </a:solidFill>
                          <a:latin typeface="Calibri"/>
                        </a:rPr>
                        <a:t>Online Dental Supply Channels</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Patient Age Group</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Adults</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Geriatric Patients</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9.5.1.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9.5.1.1.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9.5.1.2.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9.5.2.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9.5.2.1.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9.5.2.2.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9.5.2.3.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9.5.3.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9.5.3.1.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9.5.3.2.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9.5.3.3.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9.5.4.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9.5.4.1.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9.5.4.2.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9.5.4.3.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9.5.4.4.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9.5.4.5.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9.5.4.6.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9.5.4.7.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9.5.4.8.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9.5.4.9.</a:t>
                      </a:r>
                      <a:r>
                        <a:rPr sz="700" b="0" i="1">
                          <a:solidFill>
                            <a:srgbClr val="000000"/>
                          </a:solidFill>
                          <a:latin typeface="Times New Roman"/>
                        </a:rPr>
                        <a:t>    </a:t>
                      </a:r>
                      <a:r>
                        <a:rPr sz="1100" b="0" i="1">
                          <a:solidFill>
                            <a:srgbClr val="000000"/>
                          </a:solidFill>
                          <a:latin typeface="Calibri"/>
                        </a:rPr>
                        <a:t>Rest of South Asia &amp; Pacific</a:t>
                      </a:r>
                      <a:endParaRPr sz="1100"/>
                    </a:p>
                  </a:txBody>
                  <a:tcPr marL="1028700" marR="9525" marT="9525" marB="0" anchor="ctr"/>
                </a:tc>
              </a:tr>
              <a:tr h="175260">
                <a:tc>
                  <a:txBody>
                    <a:bodyPr wrap="square"/>
                    <a:lstStyle/>
                    <a:p>
                      <a:pPr algn="l"/>
                      <a:r>
                        <a:rPr sz="1100" b="0" i="0">
                          <a:solidFill>
                            <a:srgbClr val="000000"/>
                          </a:solidFill>
                          <a:latin typeface="Calibri"/>
                        </a:rPr>
                        <a:t>9.5.5.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9.5.5.1.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9.5.5.2.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9.5.5.3.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9.5.5.4.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9.5.5.5.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9.5.5.6.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9.5.5.7.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9.5.5.8.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9.5.5.9.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9.5.5.10.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9.5.5.11.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9.5.5.12.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9.5.6.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9.5.6.1.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9.5.6.2.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9.5.6.3.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9.5.6.4.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9.5.6.5.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9.5.6.6.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9.5.6.7.</a:t>
                      </a:r>
                      <a:r>
                        <a:rPr sz="700" b="0" i="1">
                          <a:solidFill>
                            <a:srgbClr val="000000"/>
                          </a:solidFill>
                          <a:latin typeface="Times New Roman"/>
                        </a:rPr>
                        <a:t>    </a:t>
                      </a:r>
                      <a:r>
                        <a:rPr sz="1100" b="0" i="1">
                          <a:solidFill>
                            <a:srgbClr val="000000"/>
                          </a:solidFill>
                          <a:latin typeface="Calibri"/>
                        </a:rPr>
                        <a:t>Rest of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Product Type × Material Type</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Material Type × Technology</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Product Type × Patient Age Group</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Technology × End User</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11.4.4.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11.4.5.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11.4.6.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11.4.7.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12.4.4.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12.4.5.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12.4.6.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12.4.7.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13.4.4.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13.4.5.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13.4.6.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13.4.7.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14.4.1.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14.4.2.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14.4.3.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14.4.4.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14.4.5.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14.4.6.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14.4.7.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15.4.1.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15.4.2.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15.4.3.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15.4.4.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15.4.5.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15.4.6.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15.4.7.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16.4.1.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16.4.2.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16.4.3.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16.4.4.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16.4.5.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16.4.6.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16.4.7.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17.1.1.</a:t>
                      </a:r>
                      <a:r>
                        <a:rPr sz="700" b="0" i="0">
                          <a:solidFill>
                            <a:srgbClr val="000000"/>
                          </a:solidFill>
                          <a:latin typeface="Times New Roman"/>
                        </a:rPr>
                        <a:t> </a:t>
                      </a:r>
                      <a:r>
                        <a:rPr sz="1100" b="0" i="0">
                          <a:solidFill>
                            <a:srgbClr val="000000"/>
                          </a:solidFill>
                          <a:latin typeface="Calibri"/>
                        </a:rPr>
                        <a:t>Manufacturer / Dental Laboratory Level Pricing</a:t>
                      </a:r>
                      <a:endParaRPr sz="1100"/>
                    </a:p>
                  </a:txBody>
                  <a:tcPr marL="771525" marR="9525" marT="9525" marB="0" anchor="ctr"/>
                </a:tc>
              </a:tr>
              <a:tr h="175260">
                <a:tc>
                  <a:txBody>
                    <a:bodyPr wrap="square"/>
                    <a:lstStyle/>
                    <a:p>
                      <a:pPr algn="l"/>
                      <a:r>
                        <a:rPr sz="1100" b="0" i="0">
                          <a:solidFill>
                            <a:srgbClr val="000000"/>
                          </a:solidFill>
                          <a:latin typeface="Calibri"/>
                        </a:rPr>
                        <a:t>17.1.2.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17.1.3.</a:t>
                      </a:r>
                      <a:r>
                        <a:rPr sz="700" b="0" i="0">
                          <a:solidFill>
                            <a:srgbClr val="000000"/>
                          </a:solidFill>
                          <a:latin typeface="Times New Roman"/>
                        </a:rPr>
                        <a:t> </a:t>
                      </a:r>
                      <a:r>
                        <a:rPr sz="1100" b="0" i="0">
                          <a:solidFill>
                            <a:srgbClr val="000000"/>
                          </a:solidFill>
                          <a:latin typeface="Calibri"/>
                        </a:rPr>
                        <a:t>Dental Clinic / Patient-Level Pricing</a:t>
                      </a:r>
                      <a:endParaRPr sz="1100"/>
                    </a:p>
                  </a:txBody>
                  <a:tcPr marL="7715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Segment-wise Price Comparison (Product Type vs Material Type)</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17.5.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17.6.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0" i="0">
                          <a:solidFill>
                            <a:srgbClr val="0070C0"/>
                          </a:solidFill>
                          <a:latin typeface="Calibri"/>
                        </a:rPr>
                        <a:t>17.7.</a:t>
                      </a:r>
                      <a:r>
                        <a:rPr sz="700" b="0" i="0">
                          <a:solidFill>
                            <a:srgbClr val="0070C0"/>
                          </a:solidFill>
                          <a:latin typeface="Times New Roman"/>
                        </a:rPr>
                        <a:t>  </a:t>
                      </a:r>
                      <a:r>
                        <a:rPr sz="1100" b="0" i="0">
                          <a:solidFill>
                            <a:srgbClr val="0070C0"/>
                          </a:solidFill>
                          <a:latin typeface="Calibri"/>
                        </a:rPr>
                        <a:t>Device Price Benchmarking Analysis</a:t>
                      </a:r>
                      <a:endParaRPr sz="1100"/>
                    </a:p>
                  </a:txBody>
                  <a:tcPr marL="428625" marR="9525" marT="9525" marB="0" anchor="ctr"/>
                </a:tc>
              </a:tr>
              <a:tr h="175260">
                <a:tc>
                  <a:txBody>
                    <a:bodyPr wrap="square"/>
                    <a:lstStyle/>
                    <a:p>
                      <a:pPr algn="l"/>
                      <a:r>
                        <a:rPr sz="1100" b="0" i="0">
                          <a:solidFill>
                            <a:srgbClr val="000000"/>
                          </a:solidFill>
                          <a:latin typeface="Calibri"/>
                        </a:rPr>
                        <a:t>17.7.1.</a:t>
                      </a:r>
                      <a:r>
                        <a:rPr sz="700" b="0" i="0">
                          <a:solidFill>
                            <a:srgbClr val="000000"/>
                          </a:solidFill>
                          <a:latin typeface="Times New Roman"/>
                        </a:rPr>
                        <a:t> </a:t>
                      </a:r>
                      <a:r>
                        <a:rPr sz="1100" b="0" i="0">
                          <a:solidFill>
                            <a:srgbClr val="000000"/>
                          </a:solidFill>
                          <a:latin typeface="Calibri"/>
                        </a:rPr>
                        <a:t>Product Type-wise Price Comparison</a:t>
                      </a:r>
                      <a:endParaRPr sz="1100"/>
                    </a:p>
                  </a:txBody>
                  <a:tcPr marL="771525" marR="9525" marT="9525" marB="0" anchor="ctr"/>
                </a:tc>
              </a:tr>
              <a:tr h="175260">
                <a:tc>
                  <a:txBody>
                    <a:bodyPr wrap="square"/>
                    <a:lstStyle/>
                    <a:p>
                      <a:pPr algn="l"/>
                      <a:r>
                        <a:rPr sz="1100" b="0" i="0">
                          <a:solidFill>
                            <a:srgbClr val="000000"/>
                          </a:solidFill>
                          <a:latin typeface="Calibri"/>
                        </a:rPr>
                        <a:t>17.7.2.</a:t>
                      </a:r>
                      <a:r>
                        <a:rPr sz="700" b="0" i="0">
                          <a:solidFill>
                            <a:srgbClr val="000000"/>
                          </a:solidFill>
                          <a:latin typeface="Times New Roman"/>
                        </a:rPr>
                        <a:t> </a:t>
                      </a:r>
                      <a:r>
                        <a:rPr sz="1100" b="0" i="0">
                          <a:solidFill>
                            <a:srgbClr val="000000"/>
                          </a:solidFill>
                          <a:latin typeface="Calibri"/>
                        </a:rPr>
                        <a:t>Material Type-wise Price Benchmarking</a:t>
                      </a:r>
                      <a:endParaRPr sz="1100"/>
                    </a:p>
                  </a:txBody>
                  <a:tcPr marL="771525" marR="9525" marT="9525" marB="0" anchor="ctr"/>
                </a:tc>
              </a:tr>
              <a:tr h="175260">
                <a:tc>
                  <a:txBody>
                    <a:bodyPr wrap="square"/>
                    <a:lstStyle/>
                    <a:p>
                      <a:pPr algn="l"/>
                      <a:r>
                        <a:rPr sz="1100" b="0" i="0">
                          <a:solidFill>
                            <a:srgbClr val="000000"/>
                          </a:solidFill>
                          <a:latin typeface="Calibri"/>
                        </a:rPr>
                        <a:t>17.7.3.</a:t>
                      </a:r>
                      <a:r>
                        <a:rPr sz="700" b="0" i="0">
                          <a:solidFill>
                            <a:srgbClr val="000000"/>
                          </a:solidFill>
                          <a:latin typeface="Times New Roman"/>
                        </a:rPr>
                        <a:t> </a:t>
                      </a:r>
                      <a:r>
                        <a:rPr sz="1100" b="0" i="0">
                          <a:solidFill>
                            <a:srgbClr val="000000"/>
                          </a:solidFill>
                          <a:latin typeface="Calibri"/>
                        </a:rPr>
                        <a:t>Conventional vs. Digital Fabrication Cost Comparison</a:t>
                      </a:r>
                      <a:endParaRPr sz="1100"/>
                    </a:p>
                  </a:txBody>
                  <a:tcPr marL="771525" marR="9525" marT="9525" marB="0" anchor="ctr"/>
                </a:tc>
              </a:tr>
              <a:tr h="175260">
                <a:tc>
                  <a:txBody>
                    <a:bodyPr wrap="square"/>
                    <a:lstStyle/>
                    <a:p>
                      <a:pPr algn="l"/>
                      <a:r>
                        <a:rPr sz="1100" b="0" i="0">
                          <a:solidFill>
                            <a:srgbClr val="000000"/>
                          </a:solidFill>
                          <a:latin typeface="Calibri"/>
                        </a:rPr>
                        <a:t>17.7.4.</a:t>
                      </a:r>
                      <a:r>
                        <a:rPr sz="700" b="0" i="0">
                          <a:solidFill>
                            <a:srgbClr val="000000"/>
                          </a:solidFill>
                          <a:latin typeface="Times New Roman"/>
                        </a:rPr>
                        <a:t> </a:t>
                      </a:r>
                      <a:r>
                        <a:rPr sz="1100" b="0" i="0">
                          <a:solidFill>
                            <a:srgbClr val="000000"/>
                          </a:solidFill>
                          <a:latin typeface="Calibri"/>
                        </a:rPr>
                        <a:t>Manufacturer / Dental Laboratory-level Price Comparison</a:t>
                      </a:r>
                      <a:endParaRPr sz="1100"/>
                    </a:p>
                  </a:txBody>
                  <a:tcPr marL="771525" marR="9525" marT="9525" marB="0" anchor="ctr"/>
                </a:tc>
              </a:tr>
              <a:tr h="175260">
                <a:tc>
                  <a:txBody>
                    <a:bodyPr wrap="square"/>
                    <a:lstStyle/>
                    <a:p>
                      <a:pPr algn="l"/>
                      <a:r>
                        <a:rPr sz="1100" b="0" i="0">
                          <a:solidFill>
                            <a:srgbClr val="000000"/>
                          </a:solidFill>
                          <a:latin typeface="Calibri"/>
                        </a:rPr>
                        <a:t>17.7.5.</a:t>
                      </a:r>
                      <a:r>
                        <a:rPr sz="700" b="0" i="0">
                          <a:solidFill>
                            <a:srgbClr val="000000"/>
                          </a:solidFill>
                          <a:latin typeface="Times New Roman"/>
                        </a:rPr>
                        <a:t> </a:t>
                      </a:r>
                      <a:r>
                        <a:rPr sz="1100" b="0" i="0">
                          <a:solidFill>
                            <a:srgbClr val="000000"/>
                          </a:solidFill>
                          <a:latin typeface="Calibri"/>
                        </a:rPr>
                        <a:t>Country-wise and Regional Price Benchmarking</a:t>
                      </a:r>
                      <a:endParaRPr sz="1100"/>
                    </a:p>
                  </a:txBody>
                  <a:tcPr marL="771525" marR="9525" marT="9525" marB="0" anchor="ctr"/>
                </a:tc>
              </a:tr>
              <a:tr h="175260">
                <a:tc>
                  <a:txBody>
                    <a:bodyPr wrap="square"/>
                    <a:lstStyle/>
                    <a:p>
                      <a:pPr algn="l"/>
                      <a:r>
                        <a:rPr sz="1100" b="0" i="0">
                          <a:solidFill>
                            <a:srgbClr val="000000"/>
                          </a:solidFill>
                          <a:latin typeface="Calibri"/>
                        </a:rPr>
                        <a:t>17.7.6.</a:t>
                      </a:r>
                      <a:r>
                        <a:rPr sz="700" b="0" i="0">
                          <a:solidFill>
                            <a:srgbClr val="000000"/>
                          </a:solidFill>
                          <a:latin typeface="Times New Roman"/>
                        </a:rPr>
                        <a:t> </a:t>
                      </a:r>
                      <a:r>
                        <a:rPr sz="1100" b="0" i="0">
                          <a:solidFill>
                            <a:srgbClr val="000000"/>
                          </a:solidFill>
                          <a:latin typeface="Calibri"/>
                        </a:rPr>
                        <a:t>Price Variation by Product Quality, Customization and Design Complexity</a:t>
                      </a:r>
                      <a:endParaRPr sz="1100"/>
                    </a:p>
                  </a:txBody>
                  <a:tcPr marL="7715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18.1.1.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18.1.2.</a:t>
                      </a:r>
                      <a:r>
                        <a:rPr sz="700" b="0" i="0">
                          <a:solidFill>
                            <a:srgbClr val="000000"/>
                          </a:solidFill>
                          <a:latin typeface="Times New Roman"/>
                        </a:rPr>
                        <a:t> </a:t>
                      </a:r>
                      <a:r>
                        <a:rPr sz="1100" b="0" i="0">
                          <a:solidFill>
                            <a:srgbClr val="000000"/>
                          </a:solidFill>
                          <a:latin typeface="Calibri"/>
                        </a:rPr>
                        <a:t>Technology Collaboration in Digital Denture Fabrication</a:t>
                      </a:r>
                      <a:endParaRPr sz="1100"/>
                    </a:p>
                  </a:txBody>
                  <a:tcPr marL="771525" marR="9525" marT="9525" marB="0" anchor="ctr"/>
                </a:tc>
              </a:tr>
              <a:tr h="175260">
                <a:tc>
                  <a:txBody>
                    <a:bodyPr wrap="square"/>
                    <a:lstStyle/>
                    <a:p>
                      <a:pPr algn="l"/>
                      <a:r>
                        <a:rPr sz="1100" b="0" i="0">
                          <a:solidFill>
                            <a:srgbClr val="000000"/>
                          </a:solidFill>
                          <a:latin typeface="Calibri"/>
                        </a:rPr>
                        <a:t>18.1.3.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Manufacturers and Dental Laboratories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Dental Clinics, Dentists and Patients</a:t>
                      </a:r>
                      <a:endParaRPr sz="1100"/>
                    </a:p>
                  </a:txBody>
                  <a:tcPr marL="771525" marR="9525" marT="9525" marB="0" anchor="ctr"/>
                </a:tc>
              </a:tr>
              <a:tr h="175260">
                <a:tc>
                  <a:txBody>
                    <a:bodyPr wrap="square"/>
                    <a:lstStyle/>
                    <a:p>
                      <a:pPr algn="l"/>
                      <a:r>
                        <a:rPr sz="1100" b="0" i="0">
                          <a:solidFill>
                            <a:srgbClr val="000000"/>
                          </a:solidFill>
                          <a:latin typeface="Calibri"/>
                        </a:rPr>
                        <a:t>19.1.3.</a:t>
                      </a:r>
                      <a:r>
                        <a:rPr sz="700" b="0" i="0">
                          <a:solidFill>
                            <a:srgbClr val="000000"/>
                          </a:solidFill>
                          <a:latin typeface="Times New Roman"/>
                        </a:rPr>
                        <a:t> </a:t>
                      </a:r>
                      <a:r>
                        <a:rPr sz="1100" b="0" i="0">
                          <a:solidFill>
                            <a:srgbClr val="000000"/>
                          </a:solidFill>
                          <a:latin typeface="Calibri"/>
                        </a:rPr>
                        <a:t>Dental Dealers and Distributors</a:t>
                      </a:r>
                      <a:endParaRPr sz="1100"/>
                    </a:p>
                  </a:txBody>
                  <a:tcPr marL="7715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19.2.1.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19.2.2.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19.2.3.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19.4.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19.5.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19.6.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19.7.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19.8.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19.9.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0" i="0">
                          <a:solidFill>
                            <a:srgbClr val="0070C0"/>
                          </a:solidFill>
                          <a:latin typeface="Calibri"/>
                        </a:rPr>
                        <a:t>19.10.</a:t>
                      </a:r>
                      <a:r>
                        <a:rPr sz="700" b="0" i="0">
                          <a:solidFill>
                            <a:srgbClr val="0070C0"/>
                          </a:solidFill>
                          <a:latin typeface="Times New Roman"/>
                        </a:rPr>
                        <a:t> </a:t>
                      </a:r>
                      <a:r>
                        <a:rPr sz="1100" b="0" i="0">
                          <a:solidFill>
                            <a:srgbClr val="0070C0"/>
                          </a:solidFill>
                          <a:latin typeface="Calibri"/>
                        </a:rPr>
                        <a:t>Procurement and Purchasing Structure Analysis</a:t>
                      </a:r>
                      <a:endParaRPr sz="1100"/>
                    </a:p>
                  </a:txBody>
                  <a:tcPr marL="428625" marR="9525" marT="9525" marB="0" anchor="ctr"/>
                </a:tc>
              </a:tr>
              <a:tr h="175260">
                <a:tc>
                  <a:txBody>
                    <a:bodyPr wrap="square"/>
                    <a:lstStyle/>
                    <a:p>
                      <a:pPr algn="l"/>
                      <a:r>
                        <a:rPr sz="1100" b="0" i="0">
                          <a:solidFill>
                            <a:srgbClr val="000000"/>
                          </a:solidFill>
                          <a:latin typeface="Calibri"/>
                        </a:rPr>
                        <a:t>19.10.1.</a:t>
                      </a:r>
                      <a:r>
                        <a:rPr sz="700" b="0" i="0">
                          <a:solidFill>
                            <a:srgbClr val="000000"/>
                          </a:solidFill>
                          <a:latin typeface="Times New Roman"/>
                        </a:rPr>
                        <a:t> </a:t>
                      </a:r>
                      <a:r>
                        <a:rPr sz="1100" b="0" i="0">
                          <a:solidFill>
                            <a:srgbClr val="000000"/>
                          </a:solidFill>
                          <a:latin typeface="Calibri"/>
                        </a:rPr>
                        <a:t>Procurement Channels and Purchasing Processes by End User</a:t>
                      </a:r>
                      <a:endParaRPr sz="1100"/>
                    </a:p>
                  </a:txBody>
                  <a:tcPr marL="771525" marR="9525" marT="9525" marB="0" anchor="ctr"/>
                </a:tc>
              </a:tr>
              <a:tr h="175260">
                <a:tc>
                  <a:txBody>
                    <a:bodyPr wrap="square"/>
                    <a:lstStyle/>
                    <a:p>
                      <a:pPr algn="l"/>
                      <a:r>
                        <a:rPr sz="1100" b="0" i="0">
                          <a:solidFill>
                            <a:srgbClr val="000000"/>
                          </a:solidFill>
                          <a:latin typeface="Calibri"/>
                        </a:rPr>
                        <a:t>19.10.2.</a:t>
                      </a:r>
                      <a:r>
                        <a:rPr sz="700" b="0" i="0">
                          <a:solidFill>
                            <a:srgbClr val="000000"/>
                          </a:solidFill>
                          <a:latin typeface="Times New Roman"/>
                        </a:rPr>
                        <a:t> </a:t>
                      </a:r>
                      <a:r>
                        <a:rPr sz="1100" b="0" i="0">
                          <a:solidFill>
                            <a:srgbClr val="000000"/>
                          </a:solidFill>
                          <a:latin typeface="Calibri"/>
                        </a:rPr>
                        <a:t>Direct Purchasing vs. Distributor-led Procurement</a:t>
                      </a:r>
                      <a:endParaRPr sz="1100"/>
                    </a:p>
                  </a:txBody>
                  <a:tcPr marL="771525" marR="9525" marT="9525" marB="0" anchor="ctr"/>
                </a:tc>
              </a:tr>
              <a:tr h="175260">
                <a:tc>
                  <a:txBody>
                    <a:bodyPr wrap="square"/>
                    <a:lstStyle/>
                    <a:p>
                      <a:pPr algn="l"/>
                      <a:r>
                        <a:rPr sz="1100" b="0" i="0">
                          <a:solidFill>
                            <a:srgbClr val="000000"/>
                          </a:solidFill>
                          <a:latin typeface="Calibri"/>
                        </a:rPr>
                        <a:t>19.10.3.</a:t>
                      </a:r>
                      <a:r>
                        <a:rPr sz="700" b="0" i="0">
                          <a:solidFill>
                            <a:srgbClr val="000000"/>
                          </a:solidFill>
                          <a:latin typeface="Times New Roman"/>
                        </a:rPr>
                        <a:t> </a:t>
                      </a:r>
                      <a:r>
                        <a:rPr sz="1100" b="0" i="0">
                          <a:solidFill>
                            <a:srgbClr val="000000"/>
                          </a:solidFill>
                          <a:latin typeface="Calibri"/>
                        </a:rPr>
                        <a:t>Denture Manufacturer and Dental Laboratory Sourcing Strategies</a:t>
                      </a:r>
                      <a:endParaRPr sz="1100"/>
                    </a:p>
                  </a:txBody>
                  <a:tcPr marL="771525" marR="9525" marT="9525" marB="0" anchor="ctr"/>
                </a:tc>
              </a:tr>
              <a:tr h="175260">
                <a:tc>
                  <a:txBody>
                    <a:bodyPr wrap="square"/>
                    <a:lstStyle/>
                    <a:p>
                      <a:pPr algn="l"/>
                      <a:r>
                        <a:rPr sz="1100" b="0" i="0">
                          <a:solidFill>
                            <a:srgbClr val="000000"/>
                          </a:solidFill>
                          <a:latin typeface="Calibri"/>
                        </a:rPr>
                        <a:t>19.10.4.</a:t>
                      </a:r>
                      <a:r>
                        <a:rPr sz="700" b="0" i="0">
                          <a:solidFill>
                            <a:srgbClr val="000000"/>
                          </a:solidFill>
                          <a:latin typeface="Times New Roman"/>
                        </a:rPr>
                        <a:t> </a:t>
                      </a:r>
                      <a:r>
                        <a:rPr sz="1100" b="0" i="0">
                          <a:solidFill>
                            <a:srgbClr val="000000"/>
                          </a:solidFill>
                          <a:latin typeface="Calibri"/>
                        </a:rPr>
                        <a:t>Supplier Selection Criteria: Price, Quality, Material and Delivery Time</a:t>
                      </a:r>
                      <a:endParaRPr sz="1100"/>
                    </a:p>
                  </a:txBody>
                  <a:tcPr marL="771525" marR="9525" marT="9525" marB="0" anchor="ctr"/>
                </a:tc>
              </a:tr>
              <a:tr h="175260">
                <a:tc>
                  <a:txBody>
                    <a:bodyPr wrap="square"/>
                    <a:lstStyle/>
                    <a:p>
                      <a:pPr algn="l"/>
                      <a:r>
                        <a:rPr sz="1100" b="0" i="0">
                          <a:solidFill>
                            <a:srgbClr val="000000"/>
                          </a:solidFill>
                          <a:latin typeface="Calibri"/>
                        </a:rPr>
                        <a:t>19.10.5.</a:t>
                      </a:r>
                      <a:r>
                        <a:rPr sz="700" b="0" i="0">
                          <a:solidFill>
                            <a:srgbClr val="000000"/>
                          </a:solidFill>
                          <a:latin typeface="Times New Roman"/>
                        </a:rPr>
                        <a:t> </a:t>
                      </a:r>
                      <a:r>
                        <a:rPr sz="1100" b="0" i="0">
                          <a:solidFill>
                            <a:srgbClr val="000000"/>
                          </a:solidFill>
                          <a:latin typeface="Calibri"/>
                        </a:rPr>
                        <a:t>Institutional Procurement, Tendering and Bulk Purchasing Practices</a:t>
                      </a:r>
                      <a:endParaRPr sz="1100"/>
                    </a:p>
                  </a:txBody>
                  <a:tcPr marL="771525" marR="9525" marT="9525" marB="0" anchor="ctr"/>
                </a:tc>
              </a:tr>
              <a:tr h="175260">
                <a:tc>
                  <a:txBody>
                    <a:bodyPr wrap="square"/>
                    <a:lstStyle/>
                    <a:p>
                      <a:pPr algn="l"/>
                      <a:r>
                        <a:rPr sz="1100" b="0" i="0">
                          <a:solidFill>
                            <a:srgbClr val="000000"/>
                          </a:solidFill>
                          <a:latin typeface="Calibri"/>
                        </a:rPr>
                        <a:t>19.10.6.</a:t>
                      </a:r>
                      <a:r>
                        <a:rPr sz="700" b="0" i="0">
                          <a:solidFill>
                            <a:srgbClr val="000000"/>
                          </a:solidFill>
                          <a:latin typeface="Times New Roman"/>
                        </a:rPr>
                        <a:t> </a:t>
                      </a:r>
                      <a:r>
                        <a:rPr sz="1100" b="0" i="0">
                          <a:solidFill>
                            <a:srgbClr val="000000"/>
                          </a:solidFill>
                          <a:latin typeface="Calibri"/>
                        </a:rPr>
                        <a:t>Procurement Cost Structure and Supplier Relationship Management</a:t>
                      </a:r>
                      <a:endParaRPr sz="1100"/>
                    </a:p>
                  </a:txBody>
                  <a:tcPr marL="771525" marR="9525" marT="9525" marB="0" anchor="ctr"/>
                </a:tc>
              </a:tr>
              <a:tr h="175260">
                <a:tc>
                  <a:txBody>
                    <a:bodyPr wrap="square"/>
                    <a:lstStyle/>
                    <a:p>
                      <a:pPr algn="l"/>
                      <a:r>
                        <a:rPr sz="1100" b="0" i="0">
                          <a:solidFill>
                            <a:srgbClr val="0070C0"/>
                          </a:solidFill>
                          <a:latin typeface="Calibri"/>
                        </a:rPr>
                        <a:t>19.11.</a:t>
                      </a:r>
                      <a:r>
                        <a:rPr sz="700" b="0" i="0">
                          <a:solidFill>
                            <a:srgbClr val="0070C0"/>
                          </a:solidFill>
                          <a:latin typeface="Times New Roman"/>
                        </a:rPr>
                        <a:t> </a:t>
                      </a:r>
                      <a:r>
                        <a:rPr sz="1100" b="0" i="0">
                          <a:solidFill>
                            <a:srgbClr val="0070C0"/>
                          </a:solidFill>
                          <a:latin typeface="Calibri"/>
                        </a:rPr>
                        <a:t>Technology Adoption and Installed Base Analysis</a:t>
                      </a:r>
                      <a:endParaRPr sz="1100"/>
                    </a:p>
                  </a:txBody>
                  <a:tcPr marL="428625" marR="9525" marT="9525" marB="0" anchor="ctr"/>
                </a:tc>
              </a:tr>
              <a:tr h="175260">
                <a:tc>
                  <a:txBody>
                    <a:bodyPr wrap="square"/>
                    <a:lstStyle/>
                    <a:p>
                      <a:pPr algn="l"/>
                      <a:r>
                        <a:rPr sz="1100" b="0" i="0">
                          <a:solidFill>
                            <a:srgbClr val="000000"/>
                          </a:solidFill>
                          <a:latin typeface="Calibri"/>
                        </a:rPr>
                        <a:t>19.11.1.</a:t>
                      </a:r>
                      <a:r>
                        <a:rPr sz="700" b="0" i="0">
                          <a:solidFill>
                            <a:srgbClr val="000000"/>
                          </a:solidFill>
                          <a:latin typeface="Times New Roman"/>
                        </a:rPr>
                        <a:t> </a:t>
                      </a:r>
                      <a:r>
                        <a:rPr sz="1100" b="0" i="0">
                          <a:solidFill>
                            <a:srgbClr val="000000"/>
                          </a:solidFill>
                          <a:latin typeface="Calibri"/>
                        </a:rPr>
                        <a:t>Adoption of Conventional vs. Digital Denture Fabrication Technologies</a:t>
                      </a:r>
                      <a:endParaRPr sz="1100"/>
                    </a:p>
                  </a:txBody>
                  <a:tcPr marL="771525" marR="9525" marT="9525" marB="0" anchor="ctr"/>
                </a:tc>
              </a:tr>
              <a:tr h="175260">
                <a:tc>
                  <a:txBody>
                    <a:bodyPr wrap="square"/>
                    <a:lstStyle/>
                    <a:p>
                      <a:pPr algn="l"/>
                      <a:r>
                        <a:rPr sz="1100" b="0" i="0">
                          <a:solidFill>
                            <a:srgbClr val="000000"/>
                          </a:solidFill>
                          <a:latin typeface="Calibri"/>
                        </a:rPr>
                        <a:t>19.11.2.</a:t>
                      </a:r>
                      <a:r>
                        <a:rPr sz="700" b="0" i="0">
                          <a:solidFill>
                            <a:srgbClr val="000000"/>
                          </a:solidFill>
                          <a:latin typeface="Times New Roman"/>
                        </a:rPr>
                        <a:t> </a:t>
                      </a:r>
                      <a:r>
                        <a:rPr sz="1100" b="0" i="0">
                          <a:solidFill>
                            <a:srgbClr val="000000"/>
                          </a:solidFill>
                          <a:latin typeface="Calibri"/>
                        </a:rPr>
                        <a:t>CAD/CAM Milling and 3D Printing Adoption Trends</a:t>
                      </a:r>
                      <a:endParaRPr sz="1100"/>
                    </a:p>
                  </a:txBody>
                  <a:tcPr marL="771525" marR="9525" marT="9525" marB="0" anchor="ctr"/>
                </a:tc>
              </a:tr>
              <a:tr h="175260">
                <a:tc>
                  <a:txBody>
                    <a:bodyPr wrap="square"/>
                    <a:lstStyle/>
                    <a:p>
                      <a:pPr algn="l"/>
                      <a:r>
                        <a:rPr sz="1100" b="0" i="0">
                          <a:solidFill>
                            <a:srgbClr val="000000"/>
                          </a:solidFill>
                          <a:latin typeface="Calibri"/>
                        </a:rPr>
                        <a:t>19.11.3.</a:t>
                      </a:r>
                      <a:r>
                        <a:rPr sz="700" b="0" i="0">
                          <a:solidFill>
                            <a:srgbClr val="000000"/>
                          </a:solidFill>
                          <a:latin typeface="Times New Roman"/>
                        </a:rPr>
                        <a:t> </a:t>
                      </a:r>
                      <a:r>
                        <a:rPr sz="1100" b="0" i="0">
                          <a:solidFill>
                            <a:srgbClr val="000000"/>
                          </a:solidFill>
                          <a:latin typeface="Calibri"/>
                        </a:rPr>
                        <a:t>Installed Base of Digital Dental Manufacturing Systems</a:t>
                      </a:r>
                      <a:endParaRPr sz="1100"/>
                    </a:p>
                  </a:txBody>
                  <a:tcPr marL="771525" marR="9525" marT="9525" marB="0" anchor="ctr"/>
                </a:tc>
              </a:tr>
              <a:tr h="175260">
                <a:tc>
                  <a:txBody>
                    <a:bodyPr wrap="square"/>
                    <a:lstStyle/>
                    <a:p>
                      <a:pPr algn="l"/>
                      <a:r>
                        <a:rPr sz="1100" b="0" i="0">
                          <a:solidFill>
                            <a:srgbClr val="000000"/>
                          </a:solidFill>
                          <a:latin typeface="Calibri"/>
                        </a:rPr>
                        <a:t>19.11.4.</a:t>
                      </a:r>
                      <a:r>
                        <a:rPr sz="700" b="0" i="0">
                          <a:solidFill>
                            <a:srgbClr val="000000"/>
                          </a:solidFill>
                          <a:latin typeface="Times New Roman"/>
                        </a:rPr>
                        <a:t> </a:t>
                      </a:r>
                      <a:r>
                        <a:rPr sz="1100" b="0" i="0">
                          <a:solidFill>
                            <a:srgbClr val="000000"/>
                          </a:solidFill>
                          <a:latin typeface="Calibri"/>
                        </a:rPr>
                        <a:t>Technology Adoption by Dental Laboratories, Clinics and Hospitals</a:t>
                      </a:r>
                      <a:endParaRPr sz="1100"/>
                    </a:p>
                  </a:txBody>
                  <a:tcPr marL="771525" marR="9525" marT="9525" marB="0" anchor="ctr"/>
                </a:tc>
              </a:tr>
              <a:tr h="175260">
                <a:tc>
                  <a:txBody>
                    <a:bodyPr wrap="square"/>
                    <a:lstStyle/>
                    <a:p>
                      <a:pPr algn="l"/>
                      <a:r>
                        <a:rPr sz="1100" b="0" i="0">
                          <a:solidFill>
                            <a:srgbClr val="000000"/>
                          </a:solidFill>
                          <a:latin typeface="Calibri"/>
                        </a:rPr>
                        <a:t>19.11.5.</a:t>
                      </a:r>
                      <a:r>
                        <a:rPr sz="700" b="0" i="0">
                          <a:solidFill>
                            <a:srgbClr val="000000"/>
                          </a:solidFill>
                          <a:latin typeface="Times New Roman"/>
                        </a:rPr>
                        <a:t> </a:t>
                      </a:r>
                      <a:r>
                        <a:rPr sz="1100" b="0" i="0">
                          <a:solidFill>
                            <a:srgbClr val="000000"/>
                          </a:solidFill>
                          <a:latin typeface="Calibri"/>
                        </a:rPr>
                        <a:t>Barriers to Technology Adoption: Investment Costs, Skills and Training</a:t>
                      </a:r>
                      <a:endParaRPr sz="1100"/>
                    </a:p>
                  </a:txBody>
                  <a:tcPr marL="771525" marR="9525" marT="9525" marB="0" anchor="ctr"/>
                </a:tc>
              </a:tr>
              <a:tr h="175260">
                <a:tc>
                  <a:txBody>
                    <a:bodyPr wrap="square"/>
                    <a:lstStyle/>
                    <a:p>
                      <a:pPr algn="l"/>
                      <a:r>
                        <a:rPr sz="1100" b="0" i="0">
                          <a:solidFill>
                            <a:srgbClr val="000000"/>
                          </a:solidFill>
                          <a:latin typeface="Calibri"/>
                        </a:rPr>
                        <a:t>19.11.6.</a:t>
                      </a:r>
                      <a:r>
                        <a:rPr sz="700" b="0" i="0">
                          <a:solidFill>
                            <a:srgbClr val="000000"/>
                          </a:solidFill>
                          <a:latin typeface="Times New Roman"/>
                        </a:rPr>
                        <a:t> </a:t>
                      </a:r>
                      <a:r>
                        <a:rPr sz="1100" b="0" i="0">
                          <a:solidFill>
                            <a:srgbClr val="000000"/>
                          </a:solidFill>
                          <a:latin typeface="Calibri"/>
                        </a:rPr>
                        <a:t>Technology Upgrade Trends and Future Adoption Outlook</a:t>
                      </a:r>
                      <a:endParaRPr sz="1100"/>
                    </a:p>
                  </a:txBody>
                  <a:tcPr marL="771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Material Safety, Biocompatibility and Dental Device Requirements</a:t>
                      </a:r>
                      <a:endParaRPr sz="1100"/>
                    </a:p>
                  </a:txBody>
                  <a:tcPr marL="428625" marR="9525" marT="9525" marB="0" anchor="ctr"/>
                </a:tc>
              </a:tr>
              <a:tr h="175260">
                <a:tc>
                  <a:txBody>
                    <a:bodyPr wrap="square"/>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20.4.1.</a:t>
                      </a:r>
                      <a:r>
                        <a:rPr sz="700" b="0" i="0">
                          <a:solidFill>
                            <a:srgbClr val="000000"/>
                          </a:solidFill>
                          <a:latin typeface="Times New Roman"/>
                        </a:rPr>
                        <a:t> </a:t>
                      </a:r>
                      <a:r>
                        <a:rPr sz="1100" b="0" i="0">
                          <a:solidFill>
                            <a:srgbClr val="000000"/>
                          </a:solidFill>
                          <a:latin typeface="Calibri"/>
                        </a:rPr>
                        <a:t>U.S. Food and Drug Administration (FDA)</a:t>
                      </a:r>
                      <a:endParaRPr sz="1100"/>
                    </a:p>
                  </a:txBody>
                  <a:tcPr marL="771525" marR="9525" marT="9525" marB="0" anchor="ctr"/>
                </a:tc>
              </a:tr>
              <a:tr h="175260">
                <a:tc>
                  <a:txBody>
                    <a:bodyPr wrap="square"/>
                    <a:lstStyle/>
                    <a:p>
                      <a:pPr algn="l"/>
                      <a:r>
                        <a:rPr sz="1100" b="0" i="0">
                          <a:solidFill>
                            <a:srgbClr val="000000"/>
                          </a:solidFill>
                          <a:latin typeface="Calibri"/>
                        </a:rPr>
                        <a:t>20.4.2.</a:t>
                      </a:r>
                      <a:r>
                        <a:rPr sz="700" b="0" i="0">
                          <a:solidFill>
                            <a:srgbClr val="000000"/>
                          </a:solidFill>
                          <a:latin typeface="Times New Roman"/>
                        </a:rPr>
                        <a:t> </a:t>
                      </a:r>
                      <a:r>
                        <a:rPr sz="1100" b="0" i="0">
                          <a:solidFill>
                            <a:srgbClr val="000000"/>
                          </a:solidFill>
                          <a:latin typeface="Calibri"/>
                        </a:rPr>
                        <a:t>European Commission - Medical Device Regulation (MDR)</a:t>
                      </a:r>
                      <a:endParaRPr sz="1100"/>
                    </a:p>
                  </a:txBody>
                  <a:tcPr marL="771525" marR="9525" marT="9525" marB="0" anchor="ctr"/>
                </a:tc>
              </a:tr>
              <a:tr h="175260">
                <a:tc>
                  <a:txBody>
                    <a:bodyPr wrap="square"/>
                    <a:lstStyle/>
                    <a:p>
                      <a:pPr algn="l"/>
                      <a:r>
                        <a:rPr sz="1100" b="0" i="0">
                          <a:solidFill>
                            <a:srgbClr val="000000"/>
                          </a:solidFill>
                          <a:latin typeface="Calibri"/>
                        </a:rPr>
                        <a:t>20.4.3.</a:t>
                      </a:r>
                      <a:r>
                        <a:rPr sz="700" b="0" i="0">
                          <a:solidFill>
                            <a:srgbClr val="000000"/>
                          </a:solidFill>
                          <a:latin typeface="Times New Roman"/>
                        </a:rPr>
                        <a:t> </a:t>
                      </a:r>
                      <a:r>
                        <a:rPr sz="1100" b="0" i="0">
                          <a:solidFill>
                            <a:srgbClr val="000000"/>
                          </a:solidFill>
                          <a:latin typeface="Calibri"/>
                        </a:rPr>
                        <a:t>International Organization for Standardization (ISO)</a:t>
                      </a:r>
                      <a:endParaRPr sz="1100"/>
                    </a:p>
                  </a:txBody>
                  <a:tcPr marL="771525" marR="9525" marT="9525" marB="0" anchor="ctr"/>
                </a:tc>
              </a:tr>
              <a:tr h="175260">
                <a:tc>
                  <a:txBody>
                    <a:bodyPr wrap="square"/>
                    <a:lstStyle/>
                    <a:p>
                      <a:pPr algn="l"/>
                      <a:r>
                        <a:rPr sz="1100" b="0" i="0">
                          <a:solidFill>
                            <a:srgbClr val="000000"/>
                          </a:solidFill>
                          <a:latin typeface="Calibri"/>
                        </a:rPr>
                        <a:t>20.4.4.</a:t>
                      </a:r>
                      <a:r>
                        <a:rPr sz="700" b="0" i="0">
                          <a:solidFill>
                            <a:srgbClr val="000000"/>
                          </a:solidFill>
                          <a:latin typeface="Times New Roman"/>
                        </a:rPr>
                        <a:t> </a:t>
                      </a:r>
                      <a:r>
                        <a:rPr sz="1100" b="0" i="0">
                          <a:solidFill>
                            <a:srgbClr val="000000"/>
                          </a:solidFill>
                          <a:latin typeface="Calibri"/>
                        </a:rPr>
                        <a:t>Central Drugs Standard Control Organisation (CDSCO), India</a:t>
                      </a:r>
                      <a:endParaRPr sz="1100"/>
                    </a:p>
                  </a:txBody>
                  <a:tcPr marL="771525" marR="9525" marT="9525" marB="0" anchor="ctr"/>
                </a:tc>
              </a:tr>
              <a:tr h="175260">
                <a:tc>
                  <a:txBody>
                    <a:bodyPr wrap="square"/>
                    <a:lstStyle/>
                    <a:p>
                      <a:pPr algn="l"/>
                      <a:r>
                        <a:rPr sz="1100" b="0" i="0">
                          <a:solidFill>
                            <a:srgbClr val="000000"/>
                          </a:solidFill>
                          <a:latin typeface="Calibri"/>
                        </a:rPr>
                        <a:t>20.4.5.</a:t>
                      </a:r>
                      <a:r>
                        <a:rPr sz="700" b="0" i="0">
                          <a:solidFill>
                            <a:srgbClr val="000000"/>
                          </a:solidFill>
                          <a:latin typeface="Times New Roman"/>
                        </a:rPr>
                        <a:t> </a:t>
                      </a:r>
                      <a:r>
                        <a:rPr sz="1100" b="0" i="0">
                          <a:solidFill>
                            <a:srgbClr val="000000"/>
                          </a:solidFill>
                          <a:latin typeface="Calibri"/>
                        </a:rPr>
                        <a:t>Medical Device Regulatory Framework – United Kingdom (MHRA)</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0" i="0">
                          <a:solidFill>
                            <a:srgbClr val="0070C0"/>
                          </a:solidFill>
                          <a:latin typeface="Calibri"/>
                        </a:rPr>
                        <a:t>21.5.</a:t>
                      </a:r>
                      <a:r>
                        <a:rPr sz="700" b="0" i="0">
                          <a:solidFill>
                            <a:srgbClr val="0070C0"/>
                          </a:solidFill>
                          <a:latin typeface="Times New Roman"/>
                        </a:rPr>
                        <a:t>  </a:t>
                      </a:r>
                      <a:r>
                        <a:rPr sz="1100" b="0" i="0">
                          <a:solidFill>
                            <a:srgbClr val="0070C0"/>
                          </a:solidFill>
                          <a:latin typeface="Calibri"/>
                        </a:rPr>
                        <a:t>Manufacturing Capacity and Supply Base Analysis</a:t>
                      </a:r>
                      <a:endParaRPr sz="1100"/>
                    </a:p>
                  </a:txBody>
                  <a:tcPr marL="428625" marR="9525" marT="9525" marB="0" anchor="ctr"/>
                </a:tc>
              </a:tr>
              <a:tr h="175260">
                <a:tc>
                  <a:txBody>
                    <a:bodyPr wrap="square"/>
                    <a:lstStyle/>
                    <a:p>
                      <a:pPr algn="l"/>
                      <a:r>
                        <a:rPr sz="1100" b="0" i="0">
                          <a:solidFill>
                            <a:srgbClr val="000000"/>
                          </a:solidFill>
                          <a:latin typeface="Calibri"/>
                        </a:rPr>
                        <a:t>21.5.1.</a:t>
                      </a:r>
                      <a:r>
                        <a:rPr sz="700" b="0" i="0">
                          <a:solidFill>
                            <a:srgbClr val="000000"/>
                          </a:solidFill>
                          <a:latin typeface="Times New Roman"/>
                        </a:rPr>
                        <a:t> </a:t>
                      </a:r>
                      <a:r>
                        <a:rPr sz="1100" b="0" i="0">
                          <a:solidFill>
                            <a:srgbClr val="000000"/>
                          </a:solidFill>
                          <a:latin typeface="Calibri"/>
                        </a:rPr>
                        <a:t>Global Manufacturing Capacity and Production Capability Assessment</a:t>
                      </a:r>
                      <a:endParaRPr sz="1100"/>
                    </a:p>
                  </a:txBody>
                  <a:tcPr marL="771525" marR="9525" marT="9525" marB="0" anchor="ctr"/>
                </a:tc>
              </a:tr>
              <a:tr h="175260">
                <a:tc>
                  <a:txBody>
                    <a:bodyPr wrap="square"/>
                    <a:lstStyle/>
                    <a:p>
                      <a:pPr algn="l"/>
                      <a:r>
                        <a:rPr sz="1100" b="0" i="0">
                          <a:solidFill>
                            <a:srgbClr val="000000"/>
                          </a:solidFill>
                          <a:latin typeface="Calibri"/>
                        </a:rPr>
                        <a:t>21.5.2.</a:t>
                      </a:r>
                      <a:r>
                        <a:rPr sz="700" b="0" i="0">
                          <a:solidFill>
                            <a:srgbClr val="000000"/>
                          </a:solidFill>
                          <a:latin typeface="Times New Roman"/>
                        </a:rPr>
                        <a:t> </a:t>
                      </a:r>
                      <a:r>
                        <a:rPr sz="1100" b="0" i="0">
                          <a:solidFill>
                            <a:srgbClr val="000000"/>
                          </a:solidFill>
                          <a:latin typeface="Calibri"/>
                        </a:rPr>
                        <a:t>Regional Distribution of Manufacturing Facilities</a:t>
                      </a:r>
                      <a:endParaRPr sz="1100"/>
                    </a:p>
                  </a:txBody>
                  <a:tcPr marL="771525" marR="9525" marT="9525" marB="0" anchor="ctr"/>
                </a:tc>
              </a:tr>
              <a:tr h="175260">
                <a:tc>
                  <a:txBody>
                    <a:bodyPr wrap="square"/>
                    <a:lstStyle/>
                    <a:p>
                      <a:pPr algn="l"/>
                      <a:r>
                        <a:rPr sz="1100" b="0" i="0">
                          <a:solidFill>
                            <a:srgbClr val="000000"/>
                          </a:solidFill>
                          <a:latin typeface="Calibri"/>
                        </a:rPr>
                        <a:t>21.5.3.</a:t>
                      </a:r>
                      <a:r>
                        <a:rPr sz="700" b="0" i="0">
                          <a:solidFill>
                            <a:srgbClr val="000000"/>
                          </a:solidFill>
                          <a:latin typeface="Times New Roman"/>
                        </a:rPr>
                        <a:t> </a:t>
                      </a:r>
                      <a:r>
                        <a:rPr sz="1100" b="0" i="0">
                          <a:solidFill>
                            <a:srgbClr val="000000"/>
                          </a:solidFill>
                          <a:latin typeface="Calibri"/>
                        </a:rPr>
                        <a:t>Key Raw Material Availability and Supplier Assessment</a:t>
                      </a:r>
                      <a:endParaRPr sz="1100"/>
                    </a:p>
                  </a:txBody>
                  <a:tcPr marL="771525" marR="9525" marT="9525" marB="0" anchor="ctr"/>
                </a:tc>
              </a:tr>
              <a:tr h="175260">
                <a:tc>
                  <a:txBody>
                    <a:bodyPr wrap="square"/>
                    <a:lstStyle/>
                    <a:p>
                      <a:pPr algn="l"/>
                      <a:r>
                        <a:rPr sz="1100" b="0" i="0">
                          <a:solidFill>
                            <a:srgbClr val="000000"/>
                          </a:solidFill>
                          <a:latin typeface="Calibri"/>
                        </a:rPr>
                        <a:t>21.5.4.</a:t>
                      </a:r>
                      <a:r>
                        <a:rPr sz="700" b="0" i="0">
                          <a:solidFill>
                            <a:srgbClr val="000000"/>
                          </a:solidFill>
                          <a:latin typeface="Times New Roman"/>
                        </a:rPr>
                        <a:t> </a:t>
                      </a:r>
                      <a:r>
                        <a:rPr sz="1100" b="0" i="0">
                          <a:solidFill>
                            <a:srgbClr val="000000"/>
                          </a:solidFill>
                          <a:latin typeface="Calibri"/>
                        </a:rPr>
                        <a:t>Conventional vs. Digital Denture Manufacturing Capacity</a:t>
                      </a:r>
                      <a:endParaRPr sz="1100"/>
                    </a:p>
                  </a:txBody>
                  <a:tcPr marL="771525" marR="9525" marT="9525" marB="0" anchor="ctr"/>
                </a:tc>
              </a:tr>
              <a:tr h="175260">
                <a:tc>
                  <a:txBody>
                    <a:bodyPr wrap="square"/>
                    <a:lstStyle/>
                    <a:p>
                      <a:pPr algn="l"/>
                      <a:r>
                        <a:rPr sz="1100" b="0" i="0">
                          <a:solidFill>
                            <a:srgbClr val="000000"/>
                          </a:solidFill>
                          <a:latin typeface="Calibri"/>
                        </a:rPr>
                        <a:t>21.5.5.</a:t>
                      </a:r>
                      <a:r>
                        <a:rPr sz="700" b="0" i="0">
                          <a:solidFill>
                            <a:srgbClr val="000000"/>
                          </a:solidFill>
                          <a:latin typeface="Times New Roman"/>
                        </a:rPr>
                        <a:t> </a:t>
                      </a:r>
                      <a:r>
                        <a:rPr sz="1100" b="0" i="0">
                          <a:solidFill>
                            <a:srgbClr val="000000"/>
                          </a:solidFill>
                          <a:latin typeface="Calibri"/>
                        </a:rPr>
                        <a:t>Supply Chain Structure and Critical Supply Dependencies</a:t>
                      </a:r>
                      <a:endParaRPr sz="1100"/>
                    </a:p>
                  </a:txBody>
                  <a:tcPr marL="771525" marR="9525" marT="9525" marB="0" anchor="ctr"/>
                </a:tc>
              </a:tr>
              <a:tr h="175260">
                <a:tc>
                  <a:txBody>
                    <a:bodyPr wrap="square"/>
                    <a:lstStyle/>
                    <a:p>
                      <a:pPr algn="l"/>
                      <a:r>
                        <a:rPr sz="1100" b="0" i="0">
                          <a:solidFill>
                            <a:srgbClr val="000000"/>
                          </a:solidFill>
                          <a:latin typeface="Calibri"/>
                        </a:rPr>
                        <a:t>21.5.6.</a:t>
                      </a:r>
                      <a:r>
                        <a:rPr sz="700" b="0" i="0">
                          <a:solidFill>
                            <a:srgbClr val="000000"/>
                          </a:solidFill>
                          <a:latin typeface="Times New Roman"/>
                        </a:rPr>
                        <a:t> </a:t>
                      </a:r>
                      <a:r>
                        <a:rPr sz="1100" b="0" i="0">
                          <a:solidFill>
                            <a:srgbClr val="000000"/>
                          </a:solidFill>
                          <a:latin typeface="Calibri"/>
                        </a:rPr>
                        <a:t>Capacity Utilization, Production Constraints and Supply Expansion Outlook</a:t>
                      </a:r>
                      <a:endParaRPr sz="1100"/>
                    </a:p>
                  </a:txBody>
                  <a:tcPr marL="7715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22.1.1.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22.1.2.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22.3.1.</a:t>
                      </a:r>
                      <a:r>
                        <a:rPr sz="700" b="0" i="0">
                          <a:solidFill>
                            <a:srgbClr val="000000"/>
                          </a:solidFill>
                          <a:latin typeface="Times New Roman"/>
                        </a:rPr>
                        <a:t> </a:t>
                      </a:r>
                      <a:r>
                        <a:rPr sz="1100" b="0" i="0">
                          <a:solidFill>
                            <a:srgbClr val="000000"/>
                          </a:solidFill>
                          <a:latin typeface="Calibri"/>
                        </a:rPr>
                        <a:t>Removable Partial Denture Manufacturers and Key Brands</a:t>
                      </a:r>
                      <a:endParaRPr sz="1100"/>
                    </a:p>
                  </a:txBody>
                  <a:tcPr marL="771525" marR="9525" marT="9525" marB="0" anchor="ctr"/>
                </a:tc>
              </a:tr>
              <a:tr h="175260">
                <a:tc>
                  <a:txBody>
                    <a:bodyPr wrap="square"/>
                    <a:lstStyle/>
                    <a:p>
                      <a:pPr algn="l"/>
                      <a:r>
                        <a:rPr sz="1100" b="0" i="0">
                          <a:solidFill>
                            <a:srgbClr val="000000"/>
                          </a:solidFill>
                          <a:latin typeface="Calibri"/>
                        </a:rPr>
                        <a:t>22.3.2.</a:t>
                      </a:r>
                      <a:r>
                        <a:rPr sz="700" b="0" i="0">
                          <a:solidFill>
                            <a:srgbClr val="000000"/>
                          </a:solidFill>
                          <a:latin typeface="Times New Roman"/>
                        </a:rPr>
                        <a:t> </a:t>
                      </a:r>
                      <a:r>
                        <a:rPr sz="1100" b="0" i="0">
                          <a:solidFill>
                            <a:srgbClr val="000000"/>
                          </a:solidFill>
                          <a:latin typeface="Calibri"/>
                        </a:rPr>
                        <a:t>Dental Laboratories, Distributors and Suppliers</a:t>
                      </a:r>
                      <a:endParaRPr sz="1100"/>
                    </a:p>
                  </a:txBody>
                  <a:tcPr marL="771525" marR="9525" marT="9525" marB="0" anchor="ctr"/>
                </a:tc>
              </a:tr>
              <a:tr h="175260">
                <a:tc>
                  <a:txBody>
                    <a:bodyPr wrap="square"/>
                    <a:lstStyle/>
                    <a:p>
                      <a:pPr algn="l"/>
                      <a:r>
                        <a:rPr sz="1100" b="0" i="0">
                          <a:solidFill>
                            <a:srgbClr val="000000"/>
                          </a:solidFill>
                          <a:latin typeface="Calibri"/>
                        </a:rPr>
                        <a:t>22.3.3.</a:t>
                      </a:r>
                      <a:r>
                        <a:rPr sz="700" b="0" i="0">
                          <a:solidFill>
                            <a:srgbClr val="000000"/>
                          </a:solidFill>
                          <a:latin typeface="Times New Roman"/>
                        </a:rPr>
                        <a:t> </a:t>
                      </a:r>
                      <a:r>
                        <a:rPr sz="1100" b="0" i="0">
                          <a:solidFill>
                            <a:srgbClr val="000000"/>
                          </a:solidFill>
                          <a:latin typeface="Calibri"/>
                        </a:rPr>
                        <a:t>Key End Users: Dental Clinics, Dental Hospitals and Dental Laboratories</a:t>
                      </a:r>
                      <a:endParaRPr sz="1100"/>
                    </a:p>
                  </a:txBody>
                  <a:tcPr marL="771525" marR="9525" marT="9525" marB="0" anchor="ctr"/>
                </a:tc>
              </a:tr>
              <a:tr h="175260">
                <a:tc>
                  <a:txBody>
                    <a:bodyPr wrap="square"/>
                    <a:lstStyle/>
                    <a:p>
                      <a:pPr algn="l"/>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Company Profile</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Dentsply Sirona Inc.</a:t>
                      </a:r>
                      <a:endParaRPr sz="1100"/>
                    </a:p>
                  </a:txBody>
                  <a:tcPr marL="428625" marR="9525" marT="9525" marB="0" anchor="ctr"/>
                </a:tc>
              </a:tr>
              <a:tr h="175260">
                <a:tc>
                  <a:txBody>
                    <a:bodyPr wrap="square"/>
                    <a:lstStyle/>
                    <a:p>
                      <a:pPr algn="l"/>
                      <a:r>
                        <a:rPr sz="1100" b="0" i="0">
                          <a:solidFill>
                            <a:srgbClr val="000000"/>
                          </a:solidFill>
                          <a:latin typeface="Calibri"/>
                        </a:rPr>
                        <a:t>26.1.1.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26.1.2.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26.1.3.</a:t>
                      </a:r>
                      <a:r>
                        <a:rPr sz="700" b="0" i="0">
                          <a:solidFill>
                            <a:srgbClr val="000000"/>
                          </a:solidFill>
                          <a:latin typeface="Times New Roman"/>
                        </a:rPr>
                        <a:t> </a:t>
                      </a:r>
                      <a:r>
                        <a:rPr sz="1100" b="0" i="0">
                          <a:solidFill>
                            <a:srgbClr val="000000"/>
                          </a:solidFill>
                          <a:latin typeface="Calibri"/>
                        </a:rPr>
                        <a:t>Pricing Analysis (USD per Unit) by Product Type and Material Type</a:t>
                      </a:r>
                      <a:endParaRPr sz="1100"/>
                    </a:p>
                  </a:txBody>
                  <a:tcPr marL="771525" marR="9525" marT="9525" marB="0" anchor="ctr"/>
                </a:tc>
              </a:tr>
              <a:tr h="175260">
                <a:tc>
                  <a:txBody>
                    <a:bodyPr wrap="square"/>
                    <a:lstStyle/>
                    <a:p>
                      <a:pPr algn="l"/>
                      <a:r>
                        <a:rPr sz="1100" b="0" i="0">
                          <a:solidFill>
                            <a:srgbClr val="000000"/>
                          </a:solidFill>
                          <a:latin typeface="Calibri"/>
                        </a:rPr>
                        <a:t>26.1.4.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26.1.4.1.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26.1.4.2.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26.1.4.3.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26.1.5.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26.1.6.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26.1.6.1.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26.1.6.2.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26.1.6.3.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26.1.6.4.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26.1.7.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26.1.8.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385572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Ivoclar Vivadent AG</a:t>
                      </a:r>
                      <a:endParaRPr sz="1100"/>
                    </a:p>
                  </a:txBody>
                  <a:tcPr marL="428625" marR="9525" marT="9525" marB="0" anchor="ctr"/>
                </a:tc>
              </a:tr>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Kulzer GmbH</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GC Corporation</a:t>
                      </a:r>
                      <a:endParaRPr sz="1100"/>
                    </a:p>
                  </a:txBody>
                  <a:tcPr marL="428625" marR="9525" marT="9525" marB="0" anchor="ctr"/>
                </a:tc>
              </a:tr>
              <a:tr h="175260">
                <a:tc>
                  <a:txBody>
                    <a:bodyPr wrap="square"/>
                    <a:lstStyle/>
                    <a:p>
                      <a:pPr algn="l"/>
                      <a:r>
                        <a:rPr sz="1100" b="0" i="0">
                          <a:solidFill>
                            <a:srgbClr val="0070C0"/>
                          </a:solidFill>
                          <a:latin typeface="Calibri"/>
                        </a:rPr>
                        <a:t>26.5.</a:t>
                      </a:r>
                      <a:r>
                        <a:rPr sz="700" b="0" i="0">
                          <a:solidFill>
                            <a:srgbClr val="0070C0"/>
                          </a:solidFill>
                          <a:latin typeface="Times New Roman"/>
                        </a:rPr>
                        <a:t>  </a:t>
                      </a:r>
                      <a:r>
                        <a:rPr sz="1100" b="0" i="0">
                          <a:solidFill>
                            <a:srgbClr val="0070C0"/>
                          </a:solidFill>
                          <a:latin typeface="Calibri"/>
                        </a:rPr>
                        <a:t>SHOFU INC.</a:t>
                      </a:r>
                      <a:endParaRPr sz="1100"/>
                    </a:p>
                  </a:txBody>
                  <a:tcPr marL="428625" marR="9525" marT="9525" marB="0" anchor="ctr"/>
                </a:tc>
              </a:tr>
              <a:tr h="175260">
                <a:tc>
                  <a:txBody>
                    <a:bodyPr wrap="square"/>
                    <a:lstStyle/>
                    <a:p>
                      <a:pPr algn="l"/>
                      <a:r>
                        <a:rPr sz="1100" b="0" i="0">
                          <a:solidFill>
                            <a:srgbClr val="0070C0"/>
                          </a:solidFill>
                          <a:latin typeface="Calibri"/>
                        </a:rPr>
                        <a:t>26.6.</a:t>
                      </a:r>
                      <a:r>
                        <a:rPr sz="700" b="0" i="0">
                          <a:solidFill>
                            <a:srgbClr val="0070C0"/>
                          </a:solidFill>
                          <a:latin typeface="Times New Roman"/>
                        </a:rPr>
                        <a:t>  </a:t>
                      </a:r>
                      <a:r>
                        <a:rPr sz="1100" b="0" i="0">
                          <a:solidFill>
                            <a:srgbClr val="0070C0"/>
                          </a:solidFill>
                          <a:latin typeface="Calibri"/>
                        </a:rPr>
                        <a:t>VITA Zahnfabrik H. Rauter GmbH &amp; Co. KG</a:t>
                      </a:r>
                      <a:endParaRPr sz="1100"/>
                    </a:p>
                  </a:txBody>
                  <a:tcPr marL="428625" marR="9525" marT="9525" marB="0" anchor="ctr"/>
                </a:tc>
              </a:tr>
              <a:tr h="175260">
                <a:tc>
                  <a:txBody>
                    <a:bodyPr wrap="square"/>
                    <a:lstStyle/>
                    <a:p>
                      <a:pPr algn="l"/>
                      <a:r>
                        <a:rPr sz="1100" b="0" i="0">
                          <a:solidFill>
                            <a:srgbClr val="0070C0"/>
                          </a:solidFill>
                          <a:latin typeface="Calibri"/>
                        </a:rPr>
                        <a:t>26.7.</a:t>
                      </a:r>
                      <a:r>
                        <a:rPr sz="700" b="0" i="0">
                          <a:solidFill>
                            <a:srgbClr val="0070C0"/>
                          </a:solidFill>
                          <a:latin typeface="Times New Roman"/>
                        </a:rPr>
                        <a:t>  </a:t>
                      </a:r>
                      <a:r>
                        <a:rPr sz="1100" b="0" i="0">
                          <a:solidFill>
                            <a:srgbClr val="0070C0"/>
                          </a:solidFill>
                          <a:latin typeface="Calibri"/>
                        </a:rPr>
                        <a:t>Zhermack S.p.A.</a:t>
                      </a:r>
                      <a:endParaRPr sz="1100"/>
                    </a:p>
                  </a:txBody>
                  <a:tcPr marL="428625" marR="9525" marT="9525" marB="0" anchor="ctr"/>
                </a:tc>
              </a:tr>
              <a:tr h="175260">
                <a:tc>
                  <a:txBody>
                    <a:bodyPr wrap="square"/>
                    <a:lstStyle/>
                    <a:p>
                      <a:pPr algn="l"/>
                      <a:r>
                        <a:rPr sz="1100" b="0" i="0">
                          <a:solidFill>
                            <a:srgbClr val="0070C0"/>
                          </a:solidFill>
                          <a:latin typeface="Calibri"/>
                        </a:rPr>
                        <a:t>26.8.</a:t>
                      </a:r>
                      <a:r>
                        <a:rPr sz="700" b="0" i="0">
                          <a:solidFill>
                            <a:srgbClr val="0070C0"/>
                          </a:solidFill>
                          <a:latin typeface="Times New Roman"/>
                        </a:rPr>
                        <a:t>  </a:t>
                      </a:r>
                      <a:r>
                        <a:rPr sz="1100" b="0" i="0">
                          <a:solidFill>
                            <a:srgbClr val="0070C0"/>
                          </a:solidFill>
                          <a:latin typeface="Calibri"/>
                        </a:rPr>
                        <a:t>DETAX GmbH</a:t>
                      </a:r>
                      <a:endParaRPr sz="1100"/>
                    </a:p>
                  </a:txBody>
                  <a:tcPr marL="428625" marR="9525" marT="9525" marB="0" anchor="ctr"/>
                </a:tc>
              </a:tr>
              <a:tr h="175260">
                <a:tc>
                  <a:txBody>
                    <a:bodyPr wrap="square"/>
                    <a:lstStyle/>
                    <a:p>
                      <a:pPr algn="l"/>
                      <a:r>
                        <a:rPr sz="1100" b="0" i="0">
                          <a:solidFill>
                            <a:srgbClr val="0070C0"/>
                          </a:solidFill>
                          <a:latin typeface="Calibri"/>
                        </a:rPr>
                        <a:t>26.9.</a:t>
                      </a:r>
                      <a:r>
                        <a:rPr sz="700" b="0" i="0">
                          <a:solidFill>
                            <a:srgbClr val="0070C0"/>
                          </a:solidFill>
                          <a:latin typeface="Times New Roman"/>
                        </a:rPr>
                        <a:t>  </a:t>
                      </a:r>
                      <a:r>
                        <a:rPr sz="1100" b="0" i="0">
                          <a:solidFill>
                            <a:srgbClr val="0070C0"/>
                          </a:solidFill>
                          <a:latin typeface="Calibri"/>
                        </a:rPr>
                        <a:t>Candulor AG</a:t>
                      </a:r>
                      <a:endParaRPr sz="1100"/>
                    </a:p>
                  </a:txBody>
                  <a:tcPr marL="428625" marR="9525" marT="9525" marB="0" anchor="ctr"/>
                </a:tc>
              </a:tr>
              <a:tr h="175260">
                <a:tc>
                  <a:txBody>
                    <a:bodyPr wrap="square"/>
                    <a:lstStyle/>
                    <a:p>
                      <a:pPr algn="l"/>
                      <a:r>
                        <a:rPr sz="1100" b="0" i="0">
                          <a:solidFill>
                            <a:srgbClr val="0070C0"/>
                          </a:solidFill>
                          <a:latin typeface="Calibri"/>
                        </a:rPr>
                        <a:t>26.10.</a:t>
                      </a:r>
                      <a:r>
                        <a:rPr sz="700" b="0" i="0">
                          <a:solidFill>
                            <a:srgbClr val="0070C0"/>
                          </a:solidFill>
                          <a:latin typeface="Times New Roman"/>
                        </a:rPr>
                        <a:t> </a:t>
                      </a:r>
                      <a:r>
                        <a:rPr sz="1100" b="0" i="0">
                          <a:solidFill>
                            <a:srgbClr val="0070C0"/>
                          </a:solidFill>
                          <a:latin typeface="Calibri"/>
                        </a:rPr>
                        <a:t>Ruthinium Dental Manufacturing S.p.A.</a:t>
                      </a:r>
                      <a:endParaRPr sz="1100"/>
                    </a:p>
                  </a:txBody>
                  <a:tcPr marL="428625" marR="9525" marT="9525" marB="0" anchor="ctr"/>
                </a:tc>
              </a:tr>
              <a:tr h="175260">
                <a:tc>
                  <a:txBody>
                    <a:bodyPr wrap="square"/>
                    <a:lstStyle/>
                    <a:p>
                      <a:pPr algn="l"/>
                      <a:r>
                        <a:rPr sz="1100" b="0" i="0">
                          <a:solidFill>
                            <a:srgbClr val="0070C0"/>
                          </a:solidFill>
                          <a:latin typeface="Calibri"/>
                        </a:rPr>
                        <a:t>26.11.</a:t>
                      </a:r>
                      <a:r>
                        <a:rPr sz="700" b="0" i="0">
                          <a:solidFill>
                            <a:srgbClr val="0070C0"/>
                          </a:solidFill>
                          <a:latin typeface="Times New Roman"/>
                        </a:rPr>
                        <a:t> </a:t>
                      </a:r>
                      <a:r>
                        <a:rPr sz="1100" b="0" i="0">
                          <a:solidFill>
                            <a:srgbClr val="0070C0"/>
                          </a:solidFill>
                          <a:latin typeface="Calibri"/>
                        </a:rPr>
                        <a:t>Keystone Industries</a:t>
                      </a:r>
                      <a:endParaRPr sz="1100"/>
                    </a:p>
                  </a:txBody>
                  <a:tcPr marL="428625" marR="9525" marT="9525" marB="0" anchor="ctr"/>
                </a:tc>
              </a:tr>
              <a:tr h="175260">
                <a:tc>
                  <a:txBody>
                    <a:bodyPr wrap="square"/>
                    <a:lstStyle/>
                    <a:p>
                      <a:pPr algn="l"/>
                      <a:r>
                        <a:rPr sz="1100" b="0" i="0">
                          <a:solidFill>
                            <a:srgbClr val="0070C0"/>
                          </a:solidFill>
                          <a:latin typeface="Calibri"/>
                        </a:rPr>
                        <a:t>26.12.</a:t>
                      </a:r>
                      <a:r>
                        <a:rPr sz="700" b="0" i="0">
                          <a:solidFill>
                            <a:srgbClr val="0070C0"/>
                          </a:solidFill>
                          <a:latin typeface="Times New Roman"/>
                        </a:rPr>
                        <a:t> </a:t>
                      </a:r>
                      <a:r>
                        <a:rPr sz="1100" b="0" i="0">
                          <a:solidFill>
                            <a:srgbClr val="0070C0"/>
                          </a:solidFill>
                          <a:latin typeface="Calibri"/>
                        </a:rPr>
                        <a:t>Vertex-Dental B.V.</a:t>
                      </a:r>
                      <a:endParaRPr sz="1100"/>
                    </a:p>
                  </a:txBody>
                  <a:tcPr marL="428625" marR="9525" marT="9525" marB="0" anchor="ctr"/>
                </a:tc>
              </a:tr>
              <a:tr h="175260">
                <a:tc>
                  <a:txBody>
                    <a:bodyPr wrap="square"/>
                    <a:lstStyle/>
                    <a:p>
                      <a:pPr algn="l"/>
                      <a:r>
                        <a:rPr sz="1100" b="0" i="0">
                          <a:solidFill>
                            <a:srgbClr val="0070C0"/>
                          </a:solidFill>
                          <a:latin typeface="Calibri"/>
                        </a:rPr>
                        <a:t>26.13.</a:t>
                      </a:r>
                      <a:r>
                        <a:rPr sz="700" b="0" i="0">
                          <a:solidFill>
                            <a:srgbClr val="0070C0"/>
                          </a:solidFill>
                          <a:latin typeface="Times New Roman"/>
                        </a:rPr>
                        <a:t> </a:t>
                      </a:r>
                      <a:r>
                        <a:rPr sz="1100" b="0" i="0">
                          <a:solidFill>
                            <a:srgbClr val="0070C0"/>
                          </a:solidFill>
                          <a:latin typeface="Calibri"/>
                        </a:rPr>
                        <a:t>Amann Girrbach AG</a:t>
                      </a:r>
                      <a:endParaRPr sz="1100"/>
                    </a:p>
                  </a:txBody>
                  <a:tcPr marL="428625" marR="9525" marT="9525" marB="0" anchor="ctr"/>
                </a:tc>
              </a:tr>
              <a:tr h="175260">
                <a:tc>
                  <a:txBody>
                    <a:bodyPr wrap="square"/>
                    <a:lstStyle/>
                    <a:p>
                      <a:pPr algn="l"/>
                      <a:r>
                        <a:rPr sz="1100" b="0" i="0">
                          <a:solidFill>
                            <a:srgbClr val="0070C0"/>
                          </a:solidFill>
                          <a:latin typeface="Calibri"/>
                        </a:rPr>
                        <a:t>26.14.</a:t>
                      </a:r>
                      <a:r>
                        <a:rPr sz="700" b="0" i="0">
                          <a:solidFill>
                            <a:srgbClr val="0070C0"/>
                          </a:solidFill>
                          <a:latin typeface="Times New Roman"/>
                        </a:rPr>
                        <a:t> </a:t>
                      </a:r>
                      <a:r>
                        <a:rPr sz="1100" b="0" i="0">
                          <a:solidFill>
                            <a:srgbClr val="0070C0"/>
                          </a:solidFill>
                          <a:latin typeface="Calibri"/>
                        </a:rPr>
                        <a:t>BEGO GmbH &amp; Co. KG</a:t>
                      </a:r>
                      <a:endParaRPr sz="1100"/>
                    </a:p>
                  </a:txBody>
                  <a:tcPr marL="428625" marR="9525" marT="9525" marB="0" anchor="ctr"/>
                </a:tc>
              </a:tr>
              <a:tr h="175260">
                <a:tc>
                  <a:txBody>
                    <a:bodyPr wrap="square"/>
                    <a:lstStyle/>
                    <a:p>
                      <a:pPr algn="l"/>
                      <a:r>
                        <a:rPr sz="1100" b="0" i="0">
                          <a:solidFill>
                            <a:srgbClr val="0070C0"/>
                          </a:solidFill>
                          <a:latin typeface="Calibri"/>
                        </a:rPr>
                        <a:t>26.15.</a:t>
                      </a:r>
                      <a:r>
                        <a:rPr sz="700" b="0" i="0">
                          <a:solidFill>
                            <a:srgbClr val="0070C0"/>
                          </a:solidFill>
                          <a:latin typeface="Times New Roman"/>
                        </a:rPr>
                        <a:t> </a:t>
                      </a:r>
                      <a:r>
                        <a:rPr sz="1100" b="0" i="0">
                          <a:solidFill>
                            <a:srgbClr val="0070C0"/>
                          </a:solidFill>
                          <a:latin typeface="Calibri"/>
                        </a:rPr>
                        <a:t>Dentaurum GmbH &amp; Co. KG</a:t>
                      </a:r>
                      <a:endParaRPr sz="1100"/>
                    </a:p>
                  </a:txBody>
                  <a:tcPr marL="428625" marR="9525" marT="9525" marB="0" anchor="ctr"/>
                </a:tc>
              </a:tr>
              <a:tr h="175260">
                <a:tc>
                  <a:txBody>
                    <a:bodyPr wrap="square"/>
                    <a:lstStyle/>
                    <a:p>
                      <a:pPr algn="l"/>
                      <a:r>
                        <a:rPr sz="1100" b="0" i="0">
                          <a:solidFill>
                            <a:srgbClr val="0070C0"/>
                          </a:solidFill>
                          <a:latin typeface="Calibri"/>
                        </a:rPr>
                        <a:t>26.16.</a:t>
                      </a:r>
                      <a:r>
                        <a:rPr sz="700" b="0" i="0">
                          <a:solidFill>
                            <a:srgbClr val="0070C0"/>
                          </a:solidFill>
                          <a:latin typeface="Times New Roman"/>
                        </a:rPr>
                        <a:t> </a:t>
                      </a:r>
                      <a:r>
                        <a:rPr sz="1100" b="0" i="0">
                          <a:solidFill>
                            <a:srgbClr val="0070C0"/>
                          </a:solidFill>
                          <a:latin typeface="Calibri"/>
                        </a:rPr>
                        <a:t>Valplast International Corp.</a:t>
                      </a:r>
                      <a:endParaRPr sz="1100"/>
                    </a:p>
                  </a:txBody>
                  <a:tcPr marL="428625" marR="9525" marT="9525" marB="0" anchor="ctr"/>
                </a:tc>
              </a:tr>
              <a:tr h="175260">
                <a:tc>
                  <a:txBody>
                    <a:bodyPr wrap="square"/>
                    <a:lstStyle/>
                    <a:p>
                      <a:pPr algn="l"/>
                      <a:r>
                        <a:rPr sz="1100" b="0" i="0">
                          <a:solidFill>
                            <a:srgbClr val="0070C0"/>
                          </a:solidFill>
                          <a:latin typeface="Calibri"/>
                        </a:rPr>
                        <a:t>26.17.</a:t>
                      </a:r>
                      <a:r>
                        <a:rPr sz="700" b="0" i="0">
                          <a:solidFill>
                            <a:srgbClr val="0070C0"/>
                          </a:solidFill>
                          <a:latin typeface="Times New Roman"/>
                        </a:rPr>
                        <a:t> </a:t>
                      </a:r>
                      <a:r>
                        <a:rPr sz="1100" b="0" i="0">
                          <a:solidFill>
                            <a:srgbClr val="0070C0"/>
                          </a:solidFill>
                          <a:latin typeface="Calibri"/>
                        </a:rPr>
                        <a:t>Renishaw plc</a:t>
                      </a:r>
                      <a:endParaRPr sz="1100"/>
                    </a:p>
                  </a:txBody>
                  <a:tcPr marL="428625" marR="9525" marT="9525" marB="0" anchor="ctr"/>
                </a:tc>
              </a:tr>
              <a:tr h="175260">
                <a:tc>
                  <a:txBody>
                    <a:bodyPr wrap="square"/>
                    <a:lstStyle/>
                    <a:p>
                      <a:pPr algn="l"/>
                      <a:r>
                        <a:rPr sz="1100" b="0" i="0">
                          <a:solidFill>
                            <a:srgbClr val="0070C0"/>
                          </a:solidFill>
                          <a:latin typeface="Calibri"/>
                        </a:rPr>
                        <a:t>26.18.</a:t>
                      </a:r>
                      <a:r>
                        <a:rPr sz="700" b="0" i="0">
                          <a:solidFill>
                            <a:srgbClr val="0070C0"/>
                          </a:solidFill>
                          <a:latin typeface="Times New Roman"/>
                        </a:rPr>
                        <a:t> </a:t>
                      </a:r>
                      <a:r>
                        <a:rPr sz="1100" b="0" i="0">
                          <a:solidFill>
                            <a:srgbClr val="0070C0"/>
                          </a:solidFill>
                          <a:latin typeface="Calibri"/>
                        </a:rPr>
                        <a:t>3D Systems, Inc.</a:t>
                      </a:r>
                      <a:endParaRPr sz="1100"/>
                    </a:p>
                  </a:txBody>
                  <a:tcPr marL="428625" marR="9525" marT="9525" marB="0" anchor="ctr"/>
                </a:tc>
              </a:tr>
              <a:tr h="175260">
                <a:tc>
                  <a:txBody>
                    <a:bodyPr wrap="square"/>
                    <a:lstStyle/>
                    <a:p>
                      <a:pPr algn="l"/>
                      <a:r>
                        <a:rPr sz="1100" b="0" i="0">
                          <a:solidFill>
                            <a:srgbClr val="0070C0"/>
                          </a:solidFill>
                          <a:latin typeface="Calibri"/>
                        </a:rPr>
                        <a:t>26.19.</a:t>
                      </a:r>
                      <a:r>
                        <a:rPr sz="700" b="0" i="0">
                          <a:solidFill>
                            <a:srgbClr val="0070C0"/>
                          </a:solidFill>
                          <a:latin typeface="Times New Roman"/>
                        </a:rPr>
                        <a:t> </a:t>
                      </a:r>
                      <a:r>
                        <a:rPr sz="1100" b="0" i="0">
                          <a:solidFill>
                            <a:srgbClr val="0070C0"/>
                          </a:solidFill>
                          <a:latin typeface="Calibri"/>
                        </a:rPr>
                        <a:t>Formlabs Inc.</a:t>
                      </a:r>
                      <a:endParaRPr sz="1100"/>
                    </a:p>
                  </a:txBody>
                  <a:tcPr marL="428625" marR="9525" marT="9525" marB="0" anchor="ctr"/>
                </a:tc>
              </a:tr>
              <a:tr h="175260">
                <a:tc>
                  <a:txBody>
                    <a:bodyPr wrap="square"/>
                    <a:lstStyle/>
                    <a:p>
                      <a:pPr algn="l"/>
                      <a:r>
                        <a:rPr sz="1100" b="0" i="0">
                          <a:solidFill>
                            <a:srgbClr val="0070C0"/>
                          </a:solidFill>
                          <a:latin typeface="Calibri"/>
                        </a:rPr>
                        <a:t>26.20.</a:t>
                      </a:r>
                      <a:r>
                        <a:rPr sz="700" b="0" i="0">
                          <a:solidFill>
                            <a:srgbClr val="0070C0"/>
                          </a:solidFill>
                          <a:latin typeface="Times New Roman"/>
                        </a:rPr>
                        <a:t> </a:t>
                      </a:r>
                      <a:r>
                        <a:rPr sz="1100" b="0" i="0">
                          <a:solidFill>
                            <a:srgbClr val="0070C0"/>
                          </a:solidFill>
                          <a:latin typeface="Calibri"/>
                        </a:rPr>
                        <a:t>Stratasys Ltd.</a:t>
                      </a:r>
                      <a:endParaRPr sz="1100"/>
                    </a:p>
                  </a:txBody>
                  <a:tcPr marL="428625" marR="9525" marT="9525" marB="0" anchor="ctr"/>
                </a:tc>
              </a:tr>
              <a:tr h="175260">
                <a:tc>
                  <a:txBody>
                    <a:bodyPr wrap="square"/>
                    <a:lstStyle/>
                    <a:p>
                      <a:pPr algn="l"/>
                      <a:r>
                        <a:rPr sz="1100" b="0" i="0">
                          <a:solidFill>
                            <a:srgbClr val="0070C0"/>
                          </a:solidFill>
                          <a:latin typeface="Calibri"/>
                        </a:rPr>
                        <a:t>26.21.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Material Type,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Technology,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End User,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Distribution Channel,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Patient Age Group,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Units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US$/Units,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Material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Patient Age Group,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Material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End User,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Distribution Channel,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Patient Age Group,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Absolute $ Opportunity by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Technology,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End User,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BPS Share Change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BPS Share Change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YoY Growth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YoY Growth by Material Type, %,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YoY Growth by Technology, %,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YoY Growth by End User, %,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Patient Age Group,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Attractiveness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Attractiveness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Attractiveness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Attractiveness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Volume by Product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Volume by Material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Volume by Technology, Units, 2021–2036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Volume by End User, Units, 2021–2036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Volume by Distribution Channel, Units, 2021–2036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Volume by Patient Age Group, Units,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Average Selling Price by Product Type, US$/Units, 2021–2036</a:t>
                      </a:r>
                      <a:endParaRPr sz="1050"/>
                    </a:p>
                  </a:txBody>
                  <a:tcPr marL="9525" marR="9525" marT="9525" marB="0" anchor="ctr"/>
                </a:tc>
              </a:tr>
              <a:tr h="169606">
                <a:tc>
                  <a:txBody>
                    <a:bodyPr wrap="square"/>
                    <a:lstStyle/>
                    <a:p>
                      <a:pPr algn="l"/>
                      <a:r>
                        <a:rPr sz="1050" b="0" i="0">
                          <a:solidFill>
                            <a:srgbClr val="000000"/>
                          </a:solidFill>
                          <a:latin typeface="Calibri"/>
                        </a:rPr>
                        <a:t>Figure 64: Product Type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65: Product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66: Product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67: Product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68: Product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69: Material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Material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Material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Material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Technology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Technology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Technology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End User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End User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Distribution Channel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Region × Product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Region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Region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Region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Region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Region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86: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87: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88: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89: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91: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92: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93: Europe Market Value and YoY Growth,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95: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96: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98: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99: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100: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101: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102: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104: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105: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106: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107: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108: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110: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111: Europe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112: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113: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114: U.S.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115: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U.S.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121: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Germany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124: Germany Market Value by Material Type,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Germany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129: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Canada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132: Canada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Canada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137: China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139: India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Brazil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Japan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France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France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Global Market Average Selling Price Trend, US$/Units, 2021–2036</a:t>
                      </a:r>
                      <a:endParaRPr sz="1050"/>
                    </a:p>
                  </a:txBody>
                  <a:tcPr marL="9525" marR="9525" marT="9525" marB="0" anchor="ctr"/>
                </a:tc>
              </a:tr>
              <a:tr h="169606">
                <a:tc>
                  <a:txBody>
                    <a:bodyPr wrap="square"/>
                    <a:lstStyle/>
                    <a:p>
                      <a:pPr algn="l"/>
                      <a:r>
                        <a:rPr sz="1050" b="0" i="0">
                          <a:solidFill>
                            <a:srgbClr val="000000"/>
                          </a:solidFill>
                          <a:latin typeface="Calibri"/>
                        </a:rPr>
                        <a:t>Figure 149: Global Market Average Selling Price by Region,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150: Global Market Average Selling Price by Product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by Material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Technology,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End User,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Distribution Channel,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Patient Age Group, US$/Units,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156: Global Market Value Chain Structure, 2026</a:t>
                      </a:r>
                      <a:endParaRPr sz="1050"/>
                    </a:p>
                  </a:txBody>
                  <a:tcPr marL="9525" marR="9525" marT="9525" marB="0" anchor="ctr"/>
                </a:tc>
              </a:tr>
              <a:tr h="170045">
                <a:tc>
                  <a:txBody>
                    <a:bodyPr wrap="square"/>
                    <a:lstStyle/>
                    <a:p>
                      <a:pPr algn="l"/>
                      <a:r>
                        <a:rPr sz="1050" b="0" i="0">
                          <a:solidFill>
                            <a:srgbClr val="000000"/>
                          </a:solidFill>
                          <a:latin typeface="Calibri"/>
                        </a:rPr>
                        <a:t>Figure 157: Global Market Margin Distribution across the Value Chain, %, 2026</a:t>
                      </a:r>
                      <a:endParaRPr sz="1050"/>
                    </a:p>
                  </a:txBody>
                  <a:tcPr marL="9525" marR="9525" marT="9525" marB="0" anchor="ctr"/>
                </a:tc>
              </a:tr>
              <a:tr h="170045">
                <a:tc>
                  <a:txBody>
                    <a:bodyPr wrap="square"/>
                    <a:lstStyle/>
                    <a:p>
                      <a:pPr algn="l"/>
                      <a:r>
                        <a:rPr sz="1050" b="0" i="0">
                          <a:solidFill>
                            <a:srgbClr val="000000"/>
                          </a:solidFill>
                          <a:latin typeface="Calibri"/>
                        </a:rPr>
                        <a:t>Figure 158: Global Market Cost Structure Breakdown, %, 2026</a:t>
                      </a:r>
                      <a:endParaRPr sz="1050"/>
                    </a:p>
                  </a:txBody>
                  <a:tcPr marL="9525" marR="9525" marT="9525" marB="0" anchor="ctr"/>
                </a:tc>
              </a:tr>
              <a:tr h="170045">
                <a:tc>
                  <a:txBody>
                    <a:bodyPr wrap="square"/>
                    <a:lstStyle/>
                    <a:p>
                      <a:pPr algn="l"/>
                      <a:r>
                        <a:rPr sz="1050" b="0" i="0">
                          <a:solidFill>
                            <a:srgbClr val="000000"/>
                          </a:solidFill>
                          <a:latin typeface="Calibri"/>
                        </a:rPr>
                        <a:t>Figure 159: Global Market Pricing Pressure Assessment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160: Global Market Import and Export Share by Region, %, 2025</a:t>
                      </a:r>
                      <a:endParaRPr sz="1050"/>
                    </a:p>
                  </a:txBody>
                  <a:tcPr marL="9525" marR="9525" marT="9525" marB="0" anchor="ctr"/>
                </a:tc>
              </a:tr>
              <a:tr h="170045">
                <a:tc>
                  <a:txBody>
                    <a:bodyPr wrap="square"/>
                    <a:lstStyle/>
                    <a:p>
                      <a:pPr algn="l"/>
                      <a:r>
                        <a:rPr sz="1050" b="0" i="0">
                          <a:solidFill>
                            <a:srgbClr val="000000"/>
                          </a:solidFill>
                          <a:latin typeface="Calibri"/>
                        </a:rPr>
                        <a:t>Figure 161: Global Market Trade Balance by Leading Country, US$ Mn, 2025</a:t>
                      </a:r>
                      <a:endParaRPr sz="1050"/>
                    </a:p>
                  </a:txBody>
                  <a:tcPr marL="9525" marR="9525" marT="9525" marB="0" anchor="ctr"/>
                </a:tc>
              </a:tr>
              <a:tr h="170045">
                <a:tc>
                  <a:txBody>
                    <a:bodyPr wrap="square"/>
                    <a:lstStyle/>
                    <a:p>
                      <a:pPr algn="l"/>
                      <a:r>
                        <a:rPr sz="1050" b="0" i="0">
                          <a:solidFill>
                            <a:srgbClr val="000000"/>
                          </a:solidFill>
                          <a:latin typeface="Calibri"/>
                        </a:rPr>
                        <a:t>Figure 162: Company Market Share in the Global Market, %, 2026</a:t>
                      </a:r>
                      <a:endParaRPr sz="1050"/>
                    </a:p>
                  </a:txBody>
                  <a:tcPr marL="9525" marR="9525" marT="9525" marB="0" anchor="ctr"/>
                </a:tc>
              </a:tr>
              <a:tr h="170045">
                <a:tc>
                  <a:txBody>
                    <a:bodyPr wrap="square"/>
                    <a:lstStyle/>
                    <a:p>
                      <a:pPr algn="l"/>
                      <a:r>
                        <a:rPr sz="1050" b="0" i="0">
                          <a:solidFill>
                            <a:srgbClr val="000000"/>
                          </a:solidFill>
                          <a:latin typeface="Calibri"/>
                        </a:rPr>
                        <a:t>Figure 163: Competitive Positioning of Leading Removable Partial Dentures Manufacturers, 2026</a:t>
                      </a:r>
                      <a:endParaRPr sz="1050"/>
                    </a:p>
                  </a:txBody>
                  <a:tcPr marL="9525" marR="9525" marT="9525" marB="0" anchor="ctr"/>
                </a:tc>
              </a:tr>
              <a:tr h="170045">
                <a:tc>
                  <a:txBody>
                    <a:bodyPr wrap="square"/>
                    <a:lstStyle/>
                    <a:p>
                      <a:pPr algn="l"/>
                      <a:r>
                        <a:rPr sz="1050" b="0" i="0">
                          <a:solidFill>
                            <a:srgbClr val="000000"/>
                          </a:solidFill>
                          <a:latin typeface="Calibri"/>
                        </a:rPr>
                        <a:t>Figure 164: Company Revenue from the Global Market, US$ Mn, 2026</a:t>
                      </a:r>
                      <a:endParaRPr sz="1050"/>
                    </a:p>
                  </a:txBody>
                  <a:tcPr marL="9525" marR="9525" marT="9525" marB="0" anchor="ctr"/>
                </a:tc>
              </a:tr>
              <a:tr h="170045">
                <a:tc>
                  <a:txBody>
                    <a:bodyPr wrap="square"/>
                    <a:lstStyle/>
                    <a:p>
                      <a:pPr algn="l"/>
                      <a:r>
                        <a:rPr sz="1050" b="0" i="0">
                          <a:solidFill>
                            <a:srgbClr val="000000"/>
                          </a:solidFill>
                          <a:latin typeface="Calibri"/>
                        </a:rPr>
                        <a:t>Figure 165: Global Market Concentration by Company Tier, %, 2026</a:t>
                      </a:r>
                      <a:endParaRPr sz="1050"/>
                    </a:p>
                  </a:txBody>
                  <a:tcPr marL="9525" marR="9525" marT="9525" marB="0" anchor="ctr"/>
                </a:tc>
              </a:tr>
              <a:tr h="170045">
                <a:tc>
                  <a:txBody>
                    <a:bodyPr wrap="square"/>
                    <a:lstStyle/>
                    <a:p>
                      <a:pPr algn="l"/>
                      <a:r>
                        <a:rPr sz="1050" b="0" i="0">
                          <a:solidFill>
                            <a:srgbClr val="000000"/>
                          </a:solidFill>
                          <a:latin typeface="Calibri"/>
                        </a:rPr>
                        <a:t>Figure 166: Global Market Competitive Intensity Assessment, 2026</a:t>
                      </a:r>
                      <a:endParaRPr sz="1050"/>
                    </a:p>
                  </a:txBody>
                  <a:tcPr marL="9525" marR="9525" marT="9525" marB="0" anchor="ctr"/>
                </a:tc>
              </a:tr>
              <a:tr h="170045">
                <a:tc>
                  <a:txBody>
                    <a:bodyPr wrap="square"/>
                    <a:lstStyle/>
                    <a:p>
                      <a:pPr algn="l"/>
                      <a:r>
                        <a:rPr sz="1050" b="0" i="0">
                          <a:solidFill>
                            <a:srgbClr val="000000"/>
                          </a:solidFill>
                          <a:latin typeface="Calibri"/>
                        </a:rPr>
                        <a:t>Figure 167: Company Market Share in the North America Market, %, 2026</a:t>
                      </a:r>
                      <a:endParaRPr sz="1050"/>
                    </a:p>
                  </a:txBody>
                  <a:tcPr marL="9525" marR="9525" marT="9525" marB="0" anchor="ctr"/>
                </a:tc>
              </a:tr>
              <a:tr h="170045">
                <a:tc>
                  <a:txBody>
                    <a:bodyPr wrap="square"/>
                    <a:lstStyle/>
                    <a:p>
                      <a:pPr algn="l"/>
                      <a:r>
                        <a:rPr sz="1050" b="0" i="0">
                          <a:solidFill>
                            <a:srgbClr val="000000"/>
                          </a:solidFill>
                          <a:latin typeface="Calibri"/>
                        </a:rPr>
                        <a:t>Figure 168: Company Market Share in the Latin America Market, %, 2026</a:t>
                      </a:r>
                      <a:endParaRPr sz="1050"/>
                    </a:p>
                  </a:txBody>
                  <a:tcPr marL="9525" marR="9525" marT="9525" marB="0" anchor="ctr"/>
                </a:tc>
              </a:tr>
              <a:tr h="170045">
                <a:tc>
                  <a:txBody>
                    <a:bodyPr wrap="square"/>
                    <a:lstStyle/>
                    <a:p>
                      <a:pPr algn="l"/>
                      <a:r>
                        <a:rPr sz="1050" b="0" i="0">
                          <a:solidFill>
                            <a:srgbClr val="000000"/>
                          </a:solidFill>
                          <a:latin typeface="Calibri"/>
                        </a:rPr>
                        <a:t>Figure 169: Company Market Share in the Europe Market, %, 2026</a:t>
                      </a:r>
                      <a:endParaRPr sz="1050"/>
                    </a:p>
                  </a:txBody>
                  <a:tcPr marL="9525" marR="9525" marT="9525" marB="0" anchor="ctr"/>
                </a:tc>
              </a:tr>
              <a:tr h="170045">
                <a:tc>
                  <a:txBody>
                    <a:bodyPr wrap="square"/>
                    <a:lstStyle/>
                    <a:p>
                      <a:pPr algn="l"/>
                      <a:r>
                        <a:rPr sz="1050" b="0" i="0">
                          <a:solidFill>
                            <a:srgbClr val="000000"/>
                          </a:solidFill>
                          <a:latin typeface="Calibri"/>
                        </a:rPr>
                        <a:t>Figure 170: Company Market Share in the East Asia Market, %, 2026</a:t>
                      </a:r>
                      <a:endParaRPr sz="1050"/>
                    </a:p>
                  </a:txBody>
                  <a:tcPr marL="9525" marR="9525" marT="9525" marB="0" anchor="ctr"/>
                </a:tc>
              </a:tr>
              <a:tr h="170045">
                <a:tc>
                  <a:txBody>
                    <a:bodyPr wrap="square"/>
                    <a:lstStyle/>
                    <a:p>
                      <a:pPr algn="l"/>
                      <a:r>
                        <a:rPr sz="1050" b="0" i="0">
                          <a:solidFill>
                            <a:srgbClr val="000000"/>
                          </a:solidFill>
                          <a:latin typeface="Calibri"/>
                        </a:rPr>
                        <a:t>Figure 171: Company Market Share in the South Asia &amp; Pacific Market, %, 2026</a:t>
                      </a:r>
                      <a:endParaRPr sz="1050"/>
                    </a:p>
                  </a:txBody>
                  <a:tcPr marL="9525" marR="9525" marT="9525" marB="0" anchor="ctr"/>
                </a:tc>
              </a:tr>
              <a:tr h="170045">
                <a:tc>
                  <a:txBody>
                    <a:bodyPr wrap="square"/>
                    <a:lstStyle/>
                    <a:p>
                      <a:pPr algn="l"/>
                      <a:r>
                        <a:rPr sz="1050" b="0" i="0">
                          <a:solidFill>
                            <a:srgbClr val="000000"/>
                          </a:solidFill>
                          <a:latin typeface="Calibri"/>
                        </a:rPr>
                        <a:t>Figure 172: Company Market Share in the Middle East &amp; Africa Market, %, 2026</a:t>
                      </a:r>
                      <a:endParaRPr sz="1050"/>
                    </a:p>
                  </a:txBody>
                  <a:tcPr marL="9525" marR="9525" marT="9525" marB="0" anchor="ctr"/>
                </a:tc>
              </a:tr>
              <a:tr h="170045">
                <a:tc>
                  <a:txBody>
                    <a:bodyPr wrap="square"/>
                    <a:lstStyle/>
                    <a:p>
                      <a:pPr algn="l"/>
                      <a:r>
                        <a:rPr sz="1050" b="0" i="0">
                          <a:solidFill>
                            <a:srgbClr val="000000"/>
                          </a:solidFill>
                          <a:latin typeface="Calibri"/>
                        </a:rPr>
                        <a:t>Figure 173: Dentsply Sirona Inc.: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174: Ivoclar Vivadent AG: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175: Kulzer GmbH: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176: GC Corporation: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177: SHOFU INC.: Revenue from the Global Market and Share, US$ Mn and %, 2026</a:t>
                      </a:r>
                      <a:endParaRPr sz="1050"/>
                    </a:p>
                  </a:txBody>
                  <a:tcPr marL="9525" marR="9525" marT="9525" marB="0" anchor="ctr"/>
                </a:tc>
              </a:tr>
              <a:tr h="333289">
                <a:tc>
                  <a:txBody>
                    <a:bodyPr wrap="square"/>
                    <a:lstStyle/>
                    <a:p>
                      <a:pPr algn="l"/>
                      <a:r>
                        <a:rPr sz="1050" b="0" i="0">
                          <a:solidFill>
                            <a:srgbClr val="000000"/>
                          </a:solidFill>
                          <a:latin typeface="Calibri"/>
                        </a:rPr>
                        <a:t>Figure 178: VITA Zahnfabrik H. Rauter GmbH &amp; Co. KG: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179: Zhermack S.p.A.: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180: DETAX GmbH: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181: Candulor AG: Revenue from the Global Market and Share, US$ Mn and %, 2026</a:t>
                      </a:r>
                      <a:endParaRPr sz="1050"/>
                    </a:p>
                  </a:txBody>
                  <a:tcPr marL="9525" marR="9525" marT="9525" marB="0" anchor="ctr"/>
                </a:tc>
              </a:tr>
              <a:tr h="333289">
                <a:tc>
                  <a:txBody>
                    <a:bodyPr wrap="square"/>
                    <a:lstStyle/>
                    <a:p>
                      <a:pPr algn="l"/>
                      <a:r>
                        <a:rPr sz="1050" b="0" i="0">
                          <a:solidFill>
                            <a:srgbClr val="000000"/>
                          </a:solidFill>
                          <a:latin typeface="Calibri"/>
                        </a:rPr>
                        <a:t>Figure 182: Ruthinium Dental Manufacturing S.p.A.: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183: Global Market Strategic Developments by Type, %, 2025–2026</a:t>
                      </a:r>
                      <a:endParaRPr sz="1050"/>
                    </a:p>
                  </a:txBody>
                  <a:tcPr marL="9525" marR="9525" marT="9525" marB="0" anchor="ctr"/>
                </a:tc>
              </a:tr>
              <a:tr h="170045">
                <a:tc>
                  <a:txBody>
                    <a:bodyPr wrap="square"/>
                    <a:lstStyle/>
                    <a:p>
                      <a:pPr algn="l"/>
                      <a:r>
                        <a:rPr sz="1050" b="0" i="0">
                          <a:solidFill>
                            <a:srgbClr val="000000"/>
                          </a:solidFill>
                          <a:latin typeface="Calibri"/>
                        </a:rPr>
                        <a:t>Figure 184: Global Market Company Footprint by Region,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667008"/>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75260">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75260">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75260">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75260">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75260">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75260">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75260">
                <a:tc>
                  <a:txBody>
                    <a:bodyPr wrap="square"/>
                    <a:lstStyle/>
                    <a:p>
                      <a:pPr algn="l"/>
                      <a:r>
                        <a:rPr sz="1050" b="0" i="0">
                          <a:solidFill>
                            <a:srgbClr val="000000"/>
                          </a:solidFill>
                          <a:latin typeface="Calibri"/>
                        </a:rPr>
                        <a:t>Table 11: Global Market Volume and YoY Growth, Units and %, 2021–2036</a:t>
                      </a:r>
                      <a:endParaRPr sz="1050"/>
                    </a:p>
                  </a:txBody>
                  <a:tcPr marL="9525" marR="9525" marT="9525" marB="0" anchor="ctr"/>
                </a:tc>
              </a:tr>
              <a:tr h="175260">
                <a:tc>
                  <a:txBody>
                    <a:bodyPr wrap="square"/>
                    <a:lstStyle/>
                    <a:p>
                      <a:pPr algn="l"/>
                      <a:r>
                        <a:rPr sz="1050" b="0" i="0">
                          <a:solidFill>
                            <a:srgbClr val="000000"/>
                          </a:solidFill>
                          <a:latin typeface="Calibri"/>
                        </a:rPr>
                        <a:t>Table 12: Global Market Volume Forecast, Units, 2026–2036</a:t>
                      </a:r>
                      <a:endParaRPr sz="1050"/>
                    </a:p>
                  </a:txBody>
                  <a:tcPr marL="9525" marR="9525" marT="9525" marB="0" anchor="ctr"/>
                </a:tc>
              </a:tr>
              <a:tr h="175260">
                <a:tc>
                  <a:txBody>
                    <a:bodyPr wrap="square"/>
                    <a:lstStyle/>
                    <a:p>
                      <a:pPr algn="l"/>
                      <a:r>
                        <a:rPr sz="1050" b="0" i="0">
                          <a:solidFill>
                            <a:srgbClr val="000000"/>
                          </a:solidFill>
                          <a:latin typeface="Calibri"/>
                        </a:rPr>
                        <a:t>Table 13: Global Market Average Selling Price, US$/Units, 2021–2036</a:t>
                      </a:r>
                      <a:endParaRPr sz="1050"/>
                    </a:p>
                  </a:txBody>
                  <a:tcPr marL="9525" marR="9525" marT="9525" marB="0" anchor="ctr"/>
                </a:tc>
              </a:tr>
              <a:tr h="175260">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75260">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75260">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75260">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75260">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75260">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75260">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75260">
                <a:tc>
                  <a:txBody>
                    <a:bodyPr wrap="square"/>
                    <a:lstStyle/>
                    <a:p>
                      <a:pPr algn="l"/>
                      <a:r>
                        <a:rPr sz="1050" b="0" i="0">
                          <a:solidFill>
                            <a:srgbClr val="000000"/>
                          </a:solidFill>
                          <a:latin typeface="Calibri"/>
                        </a:rPr>
                        <a:t>Table 21: Global Market Value by Product Type, US$ Mn, 2021–2036</a:t>
                      </a:r>
                      <a:endParaRPr sz="1050"/>
                    </a:p>
                  </a:txBody>
                  <a:tcPr marL="9525" marR="9525" marT="9525" marB="0" anchor="ctr"/>
                </a:tc>
              </a:tr>
              <a:tr h="175260">
                <a:tc>
                  <a:txBody>
                    <a:bodyPr wrap="square"/>
                    <a:lstStyle/>
                    <a:p>
                      <a:pPr algn="l"/>
                      <a:r>
                        <a:rPr sz="1050" b="0" i="0">
                          <a:solidFill>
                            <a:srgbClr val="000000"/>
                          </a:solidFill>
                          <a:latin typeface="Calibri"/>
                        </a:rPr>
                        <a:t>Table 22: Global Market Value by Material Type, US$ Mn, 2021–2036</a:t>
                      </a:r>
                      <a:endParaRPr sz="1050"/>
                    </a:p>
                  </a:txBody>
                  <a:tcPr marL="9525" marR="9525" marT="9525" marB="0" anchor="ctr"/>
                </a:tc>
              </a:tr>
              <a:tr h="175260">
                <a:tc>
                  <a:txBody>
                    <a:bodyPr wrap="square"/>
                    <a:lstStyle/>
                    <a:p>
                      <a:pPr algn="l"/>
                      <a:r>
                        <a:rPr sz="1050" b="0" i="0">
                          <a:solidFill>
                            <a:srgbClr val="000000"/>
                          </a:solidFill>
                          <a:latin typeface="Calibri"/>
                        </a:rPr>
                        <a:t>Table 23: Global Market Value by Technology, US$ Mn, 2021–2036</a:t>
                      </a:r>
                      <a:endParaRPr sz="1050"/>
                    </a:p>
                  </a:txBody>
                  <a:tcPr marL="9525" marR="9525" marT="9525" marB="0" anchor="ctr"/>
                </a:tc>
              </a:tr>
              <a:tr h="175260">
                <a:tc>
                  <a:txBody>
                    <a:bodyPr wrap="square"/>
                    <a:lstStyle/>
                    <a:p>
                      <a:pPr algn="l"/>
                      <a:r>
                        <a:rPr sz="1050" b="0" i="0">
                          <a:solidFill>
                            <a:srgbClr val="000000"/>
                          </a:solidFill>
                          <a:latin typeface="Calibri"/>
                        </a:rPr>
                        <a:t>Table 24: Global Market Value by End User, US$ Mn, 2021–2036</a:t>
                      </a:r>
                      <a:endParaRPr sz="1050"/>
                    </a:p>
                  </a:txBody>
                  <a:tcPr marL="9525" marR="9525" marT="9525" marB="0" anchor="ctr"/>
                </a:tc>
              </a:tr>
              <a:tr h="175260">
                <a:tc>
                  <a:txBody>
                    <a:bodyPr wrap="square"/>
                    <a:lstStyle/>
                    <a:p>
                      <a:pPr algn="l"/>
                      <a:r>
                        <a:rPr sz="1050" b="0" i="0">
                          <a:solidFill>
                            <a:srgbClr val="000000"/>
                          </a:solidFill>
                          <a:latin typeface="Calibri"/>
                        </a:rPr>
                        <a:t>Table 25: Global Market Value by Distribution Channel, US$ Mn, 2021–2036</a:t>
                      </a:r>
                      <a:endParaRPr sz="1050"/>
                    </a:p>
                  </a:txBody>
                  <a:tcPr marL="9525" marR="9525" marT="9525" marB="0" anchor="ctr"/>
                </a:tc>
              </a:tr>
              <a:tr h="175260">
                <a:tc>
                  <a:txBody>
                    <a:bodyPr wrap="square"/>
                    <a:lstStyle/>
                    <a:p>
                      <a:pPr algn="l"/>
                      <a:r>
                        <a:rPr sz="1050" b="0" i="0">
                          <a:solidFill>
                            <a:srgbClr val="000000"/>
                          </a:solidFill>
                          <a:latin typeface="Calibri"/>
                        </a:rPr>
                        <a:t>Table 26: Global Market Value by Patient Age Group, US$ Mn, 2021–2036</a:t>
                      </a:r>
                      <a:endParaRPr sz="1050"/>
                    </a:p>
                  </a:txBody>
                  <a:tcPr marL="9525" marR="9525" marT="9525" marB="0" anchor="ctr"/>
                </a:tc>
              </a:tr>
              <a:tr h="175260">
                <a:tc>
                  <a:txBody>
                    <a:bodyPr wrap="square"/>
                    <a:lstStyle/>
                    <a:p>
                      <a:pPr algn="l"/>
                      <a:r>
                        <a:rPr sz="1050" b="0" i="0">
                          <a:solidFill>
                            <a:srgbClr val="000000"/>
                          </a:solidFill>
                          <a:latin typeface="Calibri"/>
                        </a:rPr>
                        <a:t>Table 27: Global Market CAGR and Absolute $ Opportunity by Product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28: Global Market CAGR and Absolute $ Opportunity by Material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29: Global Market CAGR and Absolute $ Opportunity by Technology, %, US$ Mn, 2026–2036</a:t>
                      </a:r>
                      <a:endParaRPr sz="1050"/>
                    </a:p>
                  </a:txBody>
                  <a:tcPr marL="9525" marR="9525" marT="9525" marB="0" anchor="ctr"/>
                </a:tc>
              </a:tr>
              <a:tr h="175260">
                <a:tc>
                  <a:txBody>
                    <a:bodyPr wrap="square"/>
                    <a:lstStyle/>
                    <a:p>
                      <a:pPr algn="l"/>
                      <a:r>
                        <a:rPr sz="1050" b="0" i="0">
                          <a:solidFill>
                            <a:srgbClr val="000000"/>
                          </a:solidFill>
                          <a:latin typeface="Calibri"/>
                        </a:rPr>
                        <a:t>Table 30: Global Market CAGR and Absolute $ Opportunity by End User,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Table 31: Global Market CAGR and Absolute $ Opportunity by Distribution Channel, %, US$ Mn, 2026–2036</a:t>
                      </a:r>
                      <a:endParaRPr sz="1050"/>
                    </a:p>
                  </a:txBody>
                  <a:tcPr marL="9525" marR="9525" marT="9525" marB="0" anchor="ctr"/>
                </a:tc>
              </a:tr>
              <a:tr h="333289">
                <a:tc>
                  <a:txBody>
                    <a:bodyPr wrap="square"/>
                    <a:lstStyle/>
                    <a:p>
                      <a:pPr algn="l"/>
                      <a:r>
                        <a:rPr sz="1050" b="0" i="0">
                          <a:solidFill>
                            <a:srgbClr val="000000"/>
                          </a:solidFill>
                          <a:latin typeface="Calibri"/>
                        </a:rPr>
                        <a:t>Table 32: Global Market CAGR and Absolute $ Opportunity by Patient Age Group, %, US$ Mn, 2026–2036</a:t>
                      </a:r>
                      <a:endParaRPr sz="1050"/>
                    </a:p>
                  </a:txBody>
                  <a:tcPr marL="9525" marR="9525" marT="9525" marB="0" anchor="ctr"/>
                </a:tc>
              </a:tr>
              <a:tr h="170045">
                <a:tc>
                  <a:txBody>
                    <a:bodyPr wrap="square"/>
                    <a:lstStyle/>
                    <a:p>
                      <a:pPr algn="l"/>
                      <a:r>
                        <a:rPr sz="1050" b="0" i="0">
                          <a:solidFill>
                            <a:srgbClr val="000000"/>
                          </a:solidFill>
                          <a:latin typeface="Calibri"/>
                        </a:rPr>
                        <a:t>Table 33: Global Market Share and BPS Change by Product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34: Global Market Share and BPS Change by Material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35: Global Market Share and BPS Change by Technology, %, 2025, 2026 and 2036</a:t>
                      </a:r>
                      <a:endParaRPr sz="1050"/>
                    </a:p>
                  </a:txBody>
                  <a:tcPr marL="9525" marR="9525" marT="9525" marB="0" anchor="ctr"/>
                </a:tc>
              </a:tr>
              <a:tr h="170045">
                <a:tc>
                  <a:txBody>
                    <a:bodyPr wrap="square"/>
                    <a:lstStyle/>
                    <a:p>
                      <a:pPr algn="l"/>
                      <a:r>
                        <a:rPr sz="1050" b="0" i="0">
                          <a:solidFill>
                            <a:srgbClr val="000000"/>
                          </a:solidFill>
                          <a:latin typeface="Calibri"/>
                        </a:rPr>
                        <a:t>Table 36: Global Market Share and BPS Change by End User, %, 2025, 2026 and 2036</a:t>
                      </a:r>
                      <a:endParaRPr sz="1050"/>
                    </a:p>
                  </a:txBody>
                  <a:tcPr marL="9525" marR="9525" marT="9525" marB="0" anchor="ctr"/>
                </a:tc>
              </a:tr>
              <a:tr h="170045">
                <a:tc>
                  <a:txBody>
                    <a:bodyPr wrap="square"/>
                    <a:lstStyle/>
                    <a:p>
                      <a:pPr algn="l"/>
                      <a:r>
                        <a:rPr sz="1050" b="0" i="0">
                          <a:solidFill>
                            <a:srgbClr val="000000"/>
                          </a:solidFill>
                          <a:latin typeface="Calibri"/>
                        </a:rPr>
                        <a:t>Table 37: Global Market Share and BPS Change by Distribution Channel, %, 2025, 2026 and 2036</a:t>
                      </a:r>
                      <a:endParaRPr sz="1050"/>
                    </a:p>
                  </a:txBody>
                  <a:tcPr marL="9525" marR="9525" marT="9525" marB="0" anchor="ctr"/>
                </a:tc>
              </a:tr>
              <a:tr h="170045">
                <a:tc>
                  <a:txBody>
                    <a:bodyPr wrap="square"/>
                    <a:lstStyle/>
                    <a:p>
                      <a:pPr algn="l"/>
                      <a:r>
                        <a:rPr sz="1050" b="0" i="0">
                          <a:solidFill>
                            <a:srgbClr val="000000"/>
                          </a:solidFill>
                          <a:latin typeface="Calibri"/>
                        </a:rPr>
                        <a:t>Table 38: Global Market Share and BPS Change by Patient Age Group, %, 2025, 2026 and 2036</a:t>
                      </a:r>
                      <a:endParaRPr sz="1050"/>
                    </a:p>
                  </a:txBody>
                  <a:tcPr marL="9525" marR="9525" marT="9525" marB="0" anchor="ctr"/>
                </a:tc>
              </a:tr>
              <a:tr h="170045">
                <a:tc>
                  <a:txBody>
                    <a:bodyPr wrap="square"/>
                    <a:lstStyle/>
                    <a:p>
                      <a:pPr algn="l"/>
                      <a:r>
                        <a:rPr sz="1050" b="0" i="0">
                          <a:solidFill>
                            <a:srgbClr val="000000"/>
                          </a:solidFill>
                          <a:latin typeface="Calibri"/>
                        </a:rPr>
                        <a:t>Table 39: Global Market YoY Growth by Product Type, %, 2026–2036</a:t>
                      </a:r>
                      <a:endParaRPr sz="1050"/>
                    </a:p>
                  </a:txBody>
                  <a:tcPr marL="9525" marR="9525" marT="9525" marB="0" anchor="ctr"/>
                </a:tc>
              </a:tr>
              <a:tr h="170045">
                <a:tc>
                  <a:txBody>
                    <a:bodyPr wrap="square"/>
                    <a:lstStyle/>
                    <a:p>
                      <a:pPr algn="l"/>
                      <a:r>
                        <a:rPr sz="1050" b="0" i="0">
                          <a:solidFill>
                            <a:srgbClr val="000000"/>
                          </a:solidFill>
                          <a:latin typeface="Calibri"/>
                        </a:rPr>
                        <a:t>Table 40: Global Market YoY Growth by Material Type, %, 2026–2036</a:t>
                      </a:r>
                      <a:endParaRPr sz="1050"/>
                    </a:p>
                  </a:txBody>
                  <a:tcPr marL="9525" marR="9525" marT="9525" marB="0" anchor="ctr"/>
                </a:tc>
              </a:tr>
              <a:tr h="170045">
                <a:tc>
                  <a:txBody>
                    <a:bodyPr wrap="square"/>
                    <a:lstStyle/>
                    <a:p>
                      <a:pPr algn="l"/>
                      <a:r>
                        <a:rPr sz="1050" b="0" i="0">
                          <a:solidFill>
                            <a:srgbClr val="000000"/>
                          </a:solidFill>
                          <a:latin typeface="Calibri"/>
                        </a:rPr>
                        <a:t>Table 41: Global Market YoY Growth by Technology, %, 2026–2036</a:t>
                      </a:r>
                      <a:endParaRPr sz="1050"/>
                    </a:p>
                  </a:txBody>
                  <a:tcPr marL="9525" marR="9525" marT="9525" marB="0" anchor="ctr"/>
                </a:tc>
              </a:tr>
              <a:tr h="170045">
                <a:tc>
                  <a:txBody>
                    <a:bodyPr wrap="square"/>
                    <a:lstStyle/>
                    <a:p>
                      <a:pPr algn="l"/>
                      <a:r>
                        <a:rPr sz="1050" b="0" i="0">
                          <a:solidFill>
                            <a:srgbClr val="000000"/>
                          </a:solidFill>
                          <a:latin typeface="Calibri"/>
                        </a:rPr>
                        <a:t>Table 42: Global Market YoY Growth by End User, %, 2026–2036</a:t>
                      </a:r>
                      <a:endParaRPr sz="1050"/>
                    </a:p>
                  </a:txBody>
                  <a:tcPr marL="9525" marR="9525" marT="9525" marB="0" anchor="ctr"/>
                </a:tc>
              </a:tr>
              <a:tr h="170045">
                <a:tc>
                  <a:txBody>
                    <a:bodyPr wrap="square"/>
                    <a:lstStyle/>
                    <a:p>
                      <a:pPr algn="l"/>
                      <a:r>
                        <a:rPr sz="1050" b="0" i="0">
                          <a:solidFill>
                            <a:srgbClr val="000000"/>
                          </a:solidFill>
                          <a:latin typeface="Calibri"/>
                        </a:rPr>
                        <a:t>Table 43: Global Market YoY Growth by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44: Global Market YoY Growth by Patient Age Group, %, 2026–2036</a:t>
                      </a:r>
                      <a:endParaRPr sz="1050"/>
                    </a:p>
                  </a:txBody>
                  <a:tcPr marL="9525" marR="9525" marT="9525" marB="0" anchor="ctr"/>
                </a:tc>
              </a:tr>
              <a:tr h="170045">
                <a:tc>
                  <a:txBody>
                    <a:bodyPr wrap="square"/>
                    <a:lstStyle/>
                    <a:p>
                      <a:pPr algn="l"/>
                      <a:r>
                        <a:rPr sz="1050" b="0" i="0">
                          <a:solidFill>
                            <a:srgbClr val="000000"/>
                          </a:solidFill>
                          <a:latin typeface="Calibri"/>
                        </a:rPr>
                        <a:t>Table 45: Global Market Volume by Product Type, Units, 2021–2036</a:t>
                      </a:r>
                      <a:endParaRPr sz="1050"/>
                    </a:p>
                  </a:txBody>
                  <a:tcPr marL="9525" marR="9525" marT="9525" marB="0" anchor="ctr"/>
                </a:tc>
              </a:tr>
              <a:tr h="170045">
                <a:tc>
                  <a:txBody>
                    <a:bodyPr wrap="square"/>
                    <a:lstStyle/>
                    <a:p>
                      <a:pPr algn="l"/>
                      <a:r>
                        <a:rPr sz="1050" b="0" i="0">
                          <a:solidFill>
                            <a:srgbClr val="000000"/>
                          </a:solidFill>
                          <a:latin typeface="Calibri"/>
                        </a:rPr>
                        <a:t>Table 46: Global Market Volume by Material Type, Units, 2021–2036</a:t>
                      </a:r>
                      <a:endParaRPr sz="1050"/>
                    </a:p>
                  </a:txBody>
                  <a:tcPr marL="9525" marR="9525" marT="9525" marB="0" anchor="ctr"/>
                </a:tc>
              </a:tr>
              <a:tr h="170045">
                <a:tc>
                  <a:txBody>
                    <a:bodyPr wrap="square"/>
                    <a:lstStyle/>
                    <a:p>
                      <a:pPr algn="l"/>
                      <a:r>
                        <a:rPr sz="1050" b="0" i="0">
                          <a:solidFill>
                            <a:srgbClr val="000000"/>
                          </a:solidFill>
                          <a:latin typeface="Calibri"/>
                        </a:rPr>
                        <a:t>Table 47: Global Market Volume by Technology, Units, 2021–2036</a:t>
                      </a:r>
                      <a:endParaRPr sz="1050"/>
                    </a:p>
                  </a:txBody>
                  <a:tcPr marL="9525" marR="9525" marT="9525" marB="0" anchor="ctr"/>
                </a:tc>
              </a:tr>
              <a:tr h="170045">
                <a:tc>
                  <a:txBody>
                    <a:bodyPr wrap="square"/>
                    <a:lstStyle/>
                    <a:p>
                      <a:pPr algn="l"/>
                      <a:r>
                        <a:rPr sz="1050" b="0" i="0">
                          <a:solidFill>
                            <a:srgbClr val="000000"/>
                          </a:solidFill>
                          <a:latin typeface="Calibri"/>
                        </a:rPr>
                        <a:t>Table 48: Global Market Volume by End User, Units, 2021–2036</a:t>
                      </a:r>
                      <a:endParaRPr sz="1050"/>
                    </a:p>
                  </a:txBody>
                  <a:tcPr marL="9525" marR="9525" marT="9525" marB="0" anchor="ctr"/>
                </a:tc>
              </a:tr>
              <a:tr h="170045">
                <a:tc>
                  <a:txBody>
                    <a:bodyPr wrap="square"/>
                    <a:lstStyle/>
                    <a:p>
                      <a:pPr algn="l"/>
                      <a:r>
                        <a:rPr sz="1050" b="0" i="0">
                          <a:solidFill>
                            <a:srgbClr val="000000"/>
                          </a:solidFill>
                          <a:latin typeface="Calibri"/>
                        </a:rPr>
                        <a:t>Table 49: Global Market Volume by Distribution Channel, Units, 2021–2036</a:t>
                      </a:r>
                      <a:endParaRPr sz="1050"/>
                    </a:p>
                  </a:txBody>
                  <a:tcPr marL="9525" marR="9525" marT="9525" marB="0" anchor="ctr"/>
                </a:tc>
              </a:tr>
              <a:tr h="170045">
                <a:tc>
                  <a:txBody>
                    <a:bodyPr wrap="square"/>
                    <a:lstStyle/>
                    <a:p>
                      <a:pPr algn="l"/>
                      <a:r>
                        <a:rPr sz="1050" b="0" i="0">
                          <a:solidFill>
                            <a:srgbClr val="000000"/>
                          </a:solidFill>
                          <a:latin typeface="Calibri"/>
                        </a:rPr>
                        <a:t>Table 50: Global Market Volume by Patient Age Group, Units, 2021–2036</a:t>
                      </a:r>
                      <a:endParaRPr sz="1050"/>
                    </a:p>
                  </a:txBody>
                  <a:tcPr marL="9525" marR="9525" marT="9525" marB="0" anchor="ctr"/>
                </a:tc>
              </a:tr>
              <a:tr h="170045">
                <a:tc>
                  <a:txBody>
                    <a:bodyPr wrap="square"/>
                    <a:lstStyle/>
                    <a:p>
                      <a:pPr algn="l"/>
                      <a:r>
                        <a:rPr sz="1050" b="0" i="0">
                          <a:solidFill>
                            <a:srgbClr val="000000"/>
                          </a:solidFill>
                          <a:latin typeface="Calibri"/>
                        </a:rPr>
                        <a:t>Table 51: Global Market Average Selling Price by Product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52: Global Market Average Selling Price by Material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53: Global Market Average Selling Price by Technology, US$/Units, 2021–2036</a:t>
                      </a:r>
                      <a:endParaRPr sz="1050"/>
                    </a:p>
                  </a:txBody>
                  <a:tcPr marL="9525" marR="9525" marT="9525" marB="0" anchor="ctr"/>
                </a:tc>
              </a:tr>
              <a:tr h="170045">
                <a:tc>
                  <a:txBody>
                    <a:bodyPr wrap="square"/>
                    <a:lstStyle/>
                    <a:p>
                      <a:pPr algn="l"/>
                      <a:r>
                        <a:rPr sz="1050" b="0" i="0">
                          <a:solidFill>
                            <a:srgbClr val="000000"/>
                          </a:solidFill>
                          <a:latin typeface="Calibri"/>
                        </a:rPr>
                        <a:t>Table 54: Global Market Average Selling Price by End User, US$/Units, 2021–2036</a:t>
                      </a:r>
                      <a:endParaRPr sz="1050"/>
                    </a:p>
                  </a:txBody>
                  <a:tcPr marL="9525" marR="9525" marT="9525" marB="0" anchor="ctr"/>
                </a:tc>
              </a:tr>
              <a:tr h="170045">
                <a:tc>
                  <a:txBody>
                    <a:bodyPr wrap="square"/>
                    <a:lstStyle/>
                    <a:p>
                      <a:pPr algn="l"/>
                      <a:r>
                        <a:rPr sz="1050" b="0" i="0">
                          <a:solidFill>
                            <a:srgbClr val="000000"/>
                          </a:solidFill>
                          <a:latin typeface="Calibri"/>
                        </a:rPr>
                        <a:t>Table 55: Global Market Average Selling Price by Distribution Channel, US$/Units, 2021–2036</a:t>
                      </a:r>
                      <a:endParaRPr sz="1050"/>
                    </a:p>
                  </a:txBody>
                  <a:tcPr marL="9525" marR="9525" marT="9525" marB="0" anchor="ctr"/>
                </a:tc>
              </a:tr>
              <a:tr h="170045">
                <a:tc>
                  <a:txBody>
                    <a:bodyPr wrap="square"/>
                    <a:lstStyle/>
                    <a:p>
                      <a:pPr algn="l"/>
                      <a:r>
                        <a:rPr sz="1050" b="0" i="0">
                          <a:solidFill>
                            <a:srgbClr val="000000"/>
                          </a:solidFill>
                          <a:latin typeface="Calibri"/>
                        </a:rPr>
                        <a:t>Table 56: Global Market Average Selling Price by Patient Age Group, US$/Units, 2021–2036</a:t>
                      </a:r>
                      <a:endParaRPr sz="1050"/>
                    </a:p>
                  </a:txBody>
                  <a:tcPr marL="9525" marR="9525" marT="9525" marB="0" anchor="ctr"/>
                </a:tc>
              </a:tr>
              <a:tr h="170045">
                <a:tc>
                  <a:txBody>
                    <a:bodyPr wrap="square"/>
                    <a:lstStyle/>
                    <a:p>
                      <a:pPr algn="l"/>
                      <a:r>
                        <a:rPr sz="1050" b="0" i="0">
                          <a:solidFill>
                            <a:srgbClr val="000000"/>
                          </a:solidFill>
                          <a:latin typeface="Calibri"/>
                        </a:rPr>
                        <a:t>Table 57: Global Market Attractiveness Index by Product Type, 2026–2036</a:t>
                      </a:r>
                      <a:endParaRPr sz="1050"/>
                    </a:p>
                  </a:txBody>
                  <a:tcPr marL="9525" marR="9525" marT="9525" marB="0" anchor="ctr"/>
                </a:tc>
              </a:tr>
              <a:tr h="170045">
                <a:tc>
                  <a:txBody>
                    <a:bodyPr wrap="square"/>
                    <a:lstStyle/>
                    <a:p>
                      <a:pPr algn="l"/>
                      <a:r>
                        <a:rPr sz="1050" b="0" i="0">
                          <a:solidFill>
                            <a:srgbClr val="000000"/>
                          </a:solidFill>
                          <a:latin typeface="Calibri"/>
                        </a:rPr>
                        <a:t>Table 58: Global Market Attractiveness Index by Material Type, 2026–2036</a:t>
                      </a:r>
                      <a:endParaRPr sz="1050"/>
                    </a:p>
                  </a:txBody>
                  <a:tcPr marL="9525" marR="9525" marT="9525" marB="0" anchor="ctr"/>
                </a:tc>
              </a:tr>
              <a:tr h="170045">
                <a:tc>
                  <a:txBody>
                    <a:bodyPr wrap="square"/>
                    <a:lstStyle/>
                    <a:p>
                      <a:pPr algn="l"/>
                      <a:r>
                        <a:rPr sz="1050" b="0" i="0">
                          <a:solidFill>
                            <a:srgbClr val="000000"/>
                          </a:solidFill>
                          <a:latin typeface="Calibri"/>
                        </a:rPr>
                        <a:t>Table 59: Global Market Attractiveness Index by Technology,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60: Global Market Attractiveness Index by End User, 2026–2036</a:t>
                      </a:r>
                      <a:endParaRPr sz="1050"/>
                    </a:p>
                  </a:txBody>
                  <a:tcPr marL="9525" marR="9525" marT="9525" marB="0" anchor="ctr"/>
                </a:tc>
              </a:tr>
              <a:tr h="169606">
                <a:tc>
                  <a:txBody>
                    <a:bodyPr wrap="square"/>
                    <a:lstStyle/>
                    <a:p>
                      <a:pPr algn="l"/>
                      <a:r>
                        <a:rPr sz="1050" b="0" i="0">
                          <a:solidFill>
                            <a:srgbClr val="000000"/>
                          </a:solidFill>
                          <a:latin typeface="Calibri"/>
                        </a:rPr>
                        <a:t>Table 61: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62: Global Market Attractiveness Index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Table 63: Global Market Value of Cast Metal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64: Global Market Value of Metal Alloys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65: Global Market Value of Conventional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66: Global Market Value of Dental Clinics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67: Global Market Value of Direct Sales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68: Global Market Value of Adults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69: Global Market Value of Acrylic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70: Global Market Value of Acrylic / Resin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71: Global Market Value of Digital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72: Global Market Value of Dental Hospitals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73: Global Market Value of Dental Dealers &amp; Distributors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74: Global Market Value of Geriatric Patients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75: Global Market Value of Flexible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by Product Type and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by Product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by Product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by Product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by Product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by Material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by Material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Material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Material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Technology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Technology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Technology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End User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End User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Distribution Channel and Patient Age Group,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91: Global Market Value by Region and Product Type, US$ Mn, 2026–2036</a:t>
                      </a:r>
                      <a:endParaRPr sz="1050"/>
                    </a:p>
                  </a:txBody>
                  <a:tcPr marL="9525" marR="9525" marT="9525" marB="0" anchor="ctr"/>
                </a:tc>
              </a:tr>
              <a:tr h="170045">
                <a:tc>
                  <a:txBody>
                    <a:bodyPr wrap="square"/>
                    <a:lstStyle/>
                    <a:p>
                      <a:pPr algn="l"/>
                      <a:r>
                        <a:rPr sz="1050" b="0" i="0">
                          <a:solidFill>
                            <a:srgbClr val="000000"/>
                          </a:solidFill>
                          <a:latin typeface="Calibri"/>
                        </a:rPr>
                        <a:t>Table 92: Global Market Value by Region and Material Type, US$ Mn, 2026–2036</a:t>
                      </a:r>
                      <a:endParaRPr sz="1050"/>
                    </a:p>
                  </a:txBody>
                  <a:tcPr marL="9525" marR="9525" marT="9525" marB="0" anchor="ctr"/>
                </a:tc>
              </a:tr>
              <a:tr h="170045">
                <a:tc>
                  <a:txBody>
                    <a:bodyPr wrap="square"/>
                    <a:lstStyle/>
                    <a:p>
                      <a:pPr algn="l"/>
                      <a:r>
                        <a:rPr sz="1050" b="0" i="0">
                          <a:solidFill>
                            <a:srgbClr val="000000"/>
                          </a:solidFill>
                          <a:latin typeface="Calibri"/>
                        </a:rPr>
                        <a:t>Table 93: Global Market Value by Region and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94: Global Market Value by Region and End User, US$ Mn, 2026–2036</a:t>
                      </a:r>
                      <a:endParaRPr sz="1050"/>
                    </a:p>
                  </a:txBody>
                  <a:tcPr marL="9525" marR="9525" marT="9525" marB="0" anchor="ctr"/>
                </a:tc>
              </a:tr>
              <a:tr h="170045">
                <a:tc>
                  <a:txBody>
                    <a:bodyPr wrap="square"/>
                    <a:lstStyle/>
                    <a:p>
                      <a:pPr algn="l"/>
                      <a:r>
                        <a:rPr sz="1050" b="0" i="0">
                          <a:solidFill>
                            <a:srgbClr val="000000"/>
                          </a:solidFill>
                          <a:latin typeface="Calibri"/>
                        </a:rPr>
                        <a:t>Table 95: Global Market Value by Region and Distribution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96: Global Market Value by Region and Patient Age Group, US$ Mn, 2026–2036</a:t>
                      </a:r>
                      <a:endParaRPr sz="1050"/>
                    </a:p>
                  </a:txBody>
                  <a:tcPr marL="9525" marR="9525" marT="9525" marB="0" anchor="ctr"/>
                </a:tc>
              </a:tr>
              <a:tr h="170045">
                <a:tc>
                  <a:txBody>
                    <a:bodyPr wrap="square"/>
                    <a:lstStyle/>
                    <a:p>
                      <a:pPr algn="l"/>
                      <a:r>
                        <a:rPr sz="1050" b="0" i="0">
                          <a:solidFill>
                            <a:srgbClr val="000000"/>
                          </a:solidFill>
                          <a:latin typeface="Calibri"/>
                        </a:rPr>
                        <a:t>Table 97: Global Market CAGR by Product Type and Material Type, %, 2026–2036</a:t>
                      </a:r>
                      <a:endParaRPr sz="1050"/>
                    </a:p>
                  </a:txBody>
                  <a:tcPr marL="9525" marR="9525" marT="9525" marB="0" anchor="ctr"/>
                </a:tc>
              </a:tr>
              <a:tr h="170045">
                <a:tc>
                  <a:txBody>
                    <a:bodyPr wrap="square"/>
                    <a:lstStyle/>
                    <a:p>
                      <a:pPr algn="l"/>
                      <a:r>
                        <a:rPr sz="1050" b="0" i="0">
                          <a:solidFill>
                            <a:srgbClr val="000000"/>
                          </a:solidFill>
                          <a:latin typeface="Calibri"/>
                        </a:rPr>
                        <a:t>Table 98: Global Market CAGR by Product Type and Technology, %, 2026–2036</a:t>
                      </a:r>
                      <a:endParaRPr sz="1050"/>
                    </a:p>
                  </a:txBody>
                  <a:tcPr marL="9525" marR="9525" marT="9525" marB="0" anchor="ctr"/>
                </a:tc>
              </a:tr>
              <a:tr h="170045">
                <a:tc>
                  <a:txBody>
                    <a:bodyPr wrap="square"/>
                    <a:lstStyle/>
                    <a:p>
                      <a:pPr algn="l"/>
                      <a:r>
                        <a:rPr sz="1050" b="0" i="0">
                          <a:solidFill>
                            <a:srgbClr val="000000"/>
                          </a:solidFill>
                          <a:latin typeface="Calibri"/>
                        </a:rPr>
                        <a:t>Table 99: Global Market CAGR by Product Type and End User, %, 2026–2036</a:t>
                      </a:r>
                      <a:endParaRPr sz="1050"/>
                    </a:p>
                  </a:txBody>
                  <a:tcPr marL="9525" marR="9525" marT="9525" marB="0" anchor="ctr"/>
                </a:tc>
              </a:tr>
              <a:tr h="170045">
                <a:tc>
                  <a:txBody>
                    <a:bodyPr wrap="square"/>
                    <a:lstStyle/>
                    <a:p>
                      <a:pPr algn="l"/>
                      <a:r>
                        <a:rPr sz="1050" b="0" i="0">
                          <a:solidFill>
                            <a:srgbClr val="000000"/>
                          </a:solidFill>
                          <a:latin typeface="Calibri"/>
                        </a:rPr>
                        <a:t>Table 100: Global Market CAGR by Product Type and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101: Global Market CAGR by Product Type and Patient Age Group, %, 2026–2036</a:t>
                      </a:r>
                      <a:endParaRPr sz="1050"/>
                    </a:p>
                  </a:txBody>
                  <a:tcPr marL="9525" marR="9525" marT="9525" marB="0" anchor="ctr"/>
                </a:tc>
              </a:tr>
              <a:tr h="170045">
                <a:tc>
                  <a:txBody>
                    <a:bodyPr wrap="square"/>
                    <a:lstStyle/>
                    <a:p>
                      <a:pPr algn="l"/>
                      <a:r>
                        <a:rPr sz="1050" b="0" i="0">
                          <a:solidFill>
                            <a:srgbClr val="000000"/>
                          </a:solidFill>
                          <a:latin typeface="Calibri"/>
                        </a:rPr>
                        <a:t>Table 102: Global Market CAGR by Material Type and Technology, %, 2026–2036</a:t>
                      </a:r>
                      <a:endParaRPr sz="1050"/>
                    </a:p>
                  </a:txBody>
                  <a:tcPr marL="9525" marR="9525" marT="9525" marB="0" anchor="ctr"/>
                </a:tc>
              </a:tr>
              <a:tr h="170045">
                <a:tc>
                  <a:txBody>
                    <a:bodyPr wrap="square"/>
                    <a:lstStyle/>
                    <a:p>
                      <a:pPr algn="l"/>
                      <a:r>
                        <a:rPr sz="1050" b="0" i="0">
                          <a:solidFill>
                            <a:srgbClr val="000000"/>
                          </a:solidFill>
                          <a:latin typeface="Calibri"/>
                        </a:rPr>
                        <a:t>Table 103: Global Market CAGR by Material Type and End User, %, 2026–2036</a:t>
                      </a:r>
                      <a:endParaRPr sz="1050"/>
                    </a:p>
                  </a:txBody>
                  <a:tcPr marL="9525" marR="9525" marT="9525" marB="0" anchor="ctr"/>
                </a:tc>
              </a:tr>
              <a:tr h="170045">
                <a:tc>
                  <a:txBody>
                    <a:bodyPr wrap="square"/>
                    <a:lstStyle/>
                    <a:p>
                      <a:pPr algn="l"/>
                      <a:r>
                        <a:rPr sz="1050" b="0" i="0">
                          <a:solidFill>
                            <a:srgbClr val="000000"/>
                          </a:solidFill>
                          <a:latin typeface="Calibri"/>
                        </a:rPr>
                        <a:t>Table 104: Global Market CAGR by Material Type and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105: Global Market Value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106: Global Market CAGR and Absolute $ Opportunity by Region, %, US$ Mn, 2026–2036</a:t>
                      </a:r>
                      <a:endParaRPr sz="1050"/>
                    </a:p>
                  </a:txBody>
                  <a:tcPr marL="9525" marR="9525" marT="9525" marB="0" anchor="ctr"/>
                </a:tc>
              </a:tr>
              <a:tr h="170045">
                <a:tc>
                  <a:txBody>
                    <a:bodyPr wrap="square"/>
                    <a:lstStyle/>
                    <a:p>
                      <a:pPr algn="l"/>
                      <a:r>
                        <a:rPr sz="1050" b="0" i="0">
                          <a:solidFill>
                            <a:srgbClr val="000000"/>
                          </a:solidFill>
                          <a:latin typeface="Calibri"/>
                        </a:rPr>
                        <a:t>Table 107: Global Market Share and BPS Change by Region, %, 2026 and 2036</a:t>
                      </a:r>
                      <a:endParaRPr sz="1050"/>
                    </a:p>
                  </a:txBody>
                  <a:tcPr marL="9525" marR="9525" marT="9525" marB="0" anchor="ctr"/>
                </a:tc>
              </a:tr>
              <a:tr h="170045">
                <a:tc>
                  <a:txBody>
                    <a:bodyPr wrap="square"/>
                    <a:lstStyle/>
                    <a:p>
                      <a:pPr algn="l"/>
                      <a:r>
                        <a:rPr sz="1050" b="0" i="0">
                          <a:solidFill>
                            <a:srgbClr val="000000"/>
                          </a:solidFill>
                          <a:latin typeface="Calibri"/>
                        </a:rPr>
                        <a:t>Table 108: Global Market Volume by Region, Units, 2021–2036</a:t>
                      </a:r>
                      <a:endParaRPr sz="1050"/>
                    </a:p>
                  </a:txBody>
                  <a:tcPr marL="9525" marR="9525" marT="9525" marB="0" anchor="ctr"/>
                </a:tc>
              </a:tr>
              <a:tr h="170045">
                <a:tc>
                  <a:txBody>
                    <a:bodyPr wrap="square"/>
                    <a:lstStyle/>
                    <a:p>
                      <a:pPr algn="l"/>
                      <a:r>
                        <a:rPr sz="1050" b="0" i="0">
                          <a:solidFill>
                            <a:srgbClr val="000000"/>
                          </a:solidFill>
                          <a:latin typeface="Calibri"/>
                        </a:rPr>
                        <a:t>Table 109: North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110: Latin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111: Europe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112: East Asia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113: South Asia &amp; Pacific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114: Middle East &amp; Africa Market Value by Country, US$ Mn, 2021–2036</a:t>
                      </a:r>
                      <a:endParaRPr sz="1050"/>
                    </a:p>
                  </a:txBody>
                  <a:tcPr marL="9525" marR="9525" marT="9525" marB="0" anchor="ctr"/>
                </a:tc>
              </a:tr>
              <a:tr h="333289">
                <a:tc>
                  <a:txBody>
                    <a:bodyPr wrap="square"/>
                    <a:lstStyle/>
                    <a:p>
                      <a:pPr algn="l"/>
                      <a:r>
                        <a:rPr sz="1050" b="0" i="0">
                          <a:solidFill>
                            <a:srgbClr val="000000"/>
                          </a:solidFill>
                          <a:latin typeface="Calibri"/>
                        </a:rPr>
                        <a:t>Table 115: North America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116: Latin America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117: Europe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118: East Asia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119: South Asia &amp; Pacific Market CAGR and Absolute $ Opportunity by Country,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332858">
                <a:tc>
                  <a:txBody>
                    <a:bodyPr wrap="square"/>
                    <a:lstStyle/>
                    <a:p>
                      <a:pPr algn="l"/>
                      <a:r>
                        <a:rPr sz="1050" b="0" i="0">
                          <a:solidFill>
                            <a:srgbClr val="000000"/>
                          </a:solidFill>
                          <a:latin typeface="Calibri"/>
                        </a:rPr>
                        <a:t>Table 120: Middle East &amp; Africa Market CAGR and Absolute $ Opportunity by Country, %, US$ Mn, 2026–2036</a:t>
                      </a:r>
                      <a:endParaRPr sz="1050"/>
                    </a:p>
                  </a:txBody>
                  <a:tcPr marL="9525" marR="9525" marT="9525" marB="0" anchor="ctr"/>
                </a:tc>
              </a:tr>
              <a:tr h="169826">
                <a:tc>
                  <a:txBody>
                    <a:bodyPr wrap="square"/>
                    <a:lstStyle/>
                    <a:p>
                      <a:pPr algn="l"/>
                      <a:r>
                        <a:rPr sz="1050" b="0" i="0">
                          <a:solidFill>
                            <a:srgbClr val="000000"/>
                          </a:solidFill>
                          <a:latin typeface="Calibri"/>
                        </a:rPr>
                        <a:t>Table 121: North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122: Latin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123: Europe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124: East Asia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125: South Asia &amp; Pacific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126: Middle East &amp; Africa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127: North America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128: Latin America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129: Europe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130: U.S.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131: U.S.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132: U.S.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133: U.S. Market Share within North America, %, 2025, 2026 and 2036</a:t>
                      </a:r>
                      <a:endParaRPr sz="1050"/>
                    </a:p>
                  </a:txBody>
                  <a:tcPr marL="9525" marR="9525" marT="9525" marB="0" anchor="ctr"/>
                </a:tc>
              </a:tr>
              <a:tr h="169826">
                <a:tc>
                  <a:txBody>
                    <a:bodyPr wrap="square"/>
                    <a:lstStyle/>
                    <a:p>
                      <a:pPr algn="l"/>
                      <a:r>
                        <a:rPr sz="1050" b="0" i="0">
                          <a:solidFill>
                            <a:srgbClr val="000000"/>
                          </a:solidFill>
                          <a:latin typeface="Calibri"/>
                        </a:rPr>
                        <a:t>Table 134: U.S.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135: U.S. Market Value by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136: U.S. Market Value by Distribution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137: U.S. Market Value by Patient Age Group, US$ Mn, 2021–2036</a:t>
                      </a:r>
                      <a:endParaRPr sz="1050"/>
                    </a:p>
                  </a:txBody>
                  <a:tcPr marL="9525" marR="9525" marT="9525" marB="0" anchor="ctr"/>
                </a:tc>
              </a:tr>
              <a:tr h="169826">
                <a:tc>
                  <a:txBody>
                    <a:bodyPr wrap="square"/>
                    <a:lstStyle/>
                    <a:p>
                      <a:pPr algn="l"/>
                      <a:r>
                        <a:rPr sz="1050" b="0" i="0">
                          <a:solidFill>
                            <a:srgbClr val="000000"/>
                          </a:solidFill>
                          <a:latin typeface="Calibri"/>
                        </a:rPr>
                        <a:t>Table 138: Germany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139: Germany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140: Germany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141: Germany Market Share within Europe,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142: Germany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143: Germany Market Value by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144: Germany Market Value by Distribution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145: Germany Market Value by Patient Age Group, US$ Mn, 2021–2036</a:t>
                      </a:r>
                      <a:endParaRPr sz="1050"/>
                    </a:p>
                  </a:txBody>
                  <a:tcPr marL="9525" marR="9525" marT="9525" marB="0" anchor="ctr"/>
                </a:tc>
              </a:tr>
              <a:tr h="169826">
                <a:tc>
                  <a:txBody>
                    <a:bodyPr wrap="square"/>
                    <a:lstStyle/>
                    <a:p>
                      <a:pPr algn="l"/>
                      <a:r>
                        <a:rPr sz="1050" b="0" i="0">
                          <a:solidFill>
                            <a:srgbClr val="000000"/>
                          </a:solidFill>
                          <a:latin typeface="Calibri"/>
                        </a:rPr>
                        <a:t>Table 146: Canada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147: Canada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148: Canada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149: Canada Market Share within North America, %, 2025,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150: Canada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151: Canada Market Value by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152: Canada Market Value by Distribution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153: Canada Market Value by Patient Age Group, US$ Mn, 2021–2036</a:t>
                      </a:r>
                      <a:endParaRPr sz="1050"/>
                    </a:p>
                  </a:txBody>
                  <a:tcPr marL="9525" marR="9525" marT="9525" marB="0" anchor="ctr"/>
                </a:tc>
              </a:tr>
              <a:tr h="169826">
                <a:tc>
                  <a:txBody>
                    <a:bodyPr wrap="square"/>
                    <a:lstStyle/>
                    <a:p>
                      <a:pPr algn="l"/>
                      <a:r>
                        <a:rPr sz="1050" b="0" i="0">
                          <a:solidFill>
                            <a:srgbClr val="000000"/>
                          </a:solidFill>
                          <a:latin typeface="Calibri"/>
                        </a:rPr>
                        <a:t>Table 154: China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155: China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156: China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157: India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158: India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159: Brazil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160: Brazil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161: U.K.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162: U.K.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163: Market Product Price Comparison by Company and Product Type, US$/Units, 2026</a:t>
                      </a:r>
                      <a:endParaRPr sz="1050"/>
                    </a:p>
                  </a:txBody>
                  <a:tcPr marL="9525" marR="9525" marT="9525" marB="0" anchor="ctr"/>
                </a:tc>
              </a:tr>
              <a:tr h="169826">
                <a:tc>
                  <a:txBody>
                    <a:bodyPr wrap="square"/>
                    <a:lstStyle/>
                    <a:p>
                      <a:pPr algn="l"/>
                      <a:r>
                        <a:rPr sz="1050" b="0" i="0">
                          <a:solidFill>
                            <a:srgbClr val="000000"/>
                          </a:solidFill>
                          <a:latin typeface="Calibri"/>
                        </a:rPr>
                        <a:t>Table 164: Global Market Average Selling Price by Region, US$/Units, 2021–2036</a:t>
                      </a:r>
                      <a:endParaRPr sz="1050"/>
                    </a:p>
                  </a:txBody>
                  <a:tcPr marL="9525" marR="9525" marT="9525" marB="0" anchor="ctr"/>
                </a:tc>
              </a:tr>
              <a:tr h="169826">
                <a:tc>
                  <a:txBody>
                    <a:bodyPr wrap="square"/>
                    <a:lstStyle/>
                    <a:p>
                      <a:pPr algn="l"/>
                      <a:r>
                        <a:rPr sz="1050" b="0" i="0">
                          <a:solidFill>
                            <a:srgbClr val="000000"/>
                          </a:solidFill>
                          <a:latin typeface="Calibri"/>
                        </a:rPr>
                        <a:t>Table 165: Global Market Average Selling Price by Product Type, US$/Units, 2021–2036</a:t>
                      </a:r>
                      <a:endParaRPr sz="1050"/>
                    </a:p>
                  </a:txBody>
                  <a:tcPr marL="9525" marR="9525" marT="9525" marB="0" anchor="ctr"/>
                </a:tc>
              </a:tr>
              <a:tr h="169826">
                <a:tc>
                  <a:txBody>
                    <a:bodyPr wrap="square"/>
                    <a:lstStyle/>
                    <a:p>
                      <a:pPr algn="l"/>
                      <a:r>
                        <a:rPr sz="1050" b="0" i="0">
                          <a:solidFill>
                            <a:srgbClr val="000000"/>
                          </a:solidFill>
                          <a:latin typeface="Calibri"/>
                        </a:rPr>
                        <a:t>Table 166: Global Market Average Selling Price by Material Type, US$/Units, 2021–2036</a:t>
                      </a:r>
                      <a:endParaRPr sz="1050"/>
                    </a:p>
                  </a:txBody>
                  <a:tcPr marL="9525" marR="9525" marT="9525" marB="0" anchor="ctr"/>
                </a:tc>
              </a:tr>
              <a:tr h="169826">
                <a:tc>
                  <a:txBody>
                    <a:bodyPr wrap="square"/>
                    <a:lstStyle/>
                    <a:p>
                      <a:pPr algn="l"/>
                      <a:r>
                        <a:rPr sz="1050" b="0" i="0">
                          <a:solidFill>
                            <a:srgbClr val="000000"/>
                          </a:solidFill>
                          <a:latin typeface="Calibri"/>
                        </a:rPr>
                        <a:t>Table 167: Global Market Average Selling Price by Technology, US$/Units, 2021–2036</a:t>
                      </a:r>
                      <a:endParaRPr sz="1050"/>
                    </a:p>
                  </a:txBody>
                  <a:tcPr marL="9525" marR="9525" marT="9525" marB="0" anchor="ctr"/>
                </a:tc>
              </a:tr>
              <a:tr h="169826">
                <a:tc>
                  <a:txBody>
                    <a:bodyPr wrap="square"/>
                    <a:lstStyle/>
                    <a:p>
                      <a:pPr algn="l"/>
                      <a:r>
                        <a:rPr sz="1050" b="0" i="0">
                          <a:solidFill>
                            <a:srgbClr val="000000"/>
                          </a:solidFill>
                          <a:latin typeface="Calibri"/>
                        </a:rPr>
                        <a:t>Table 168: Global Market Average Selling Price by End User, US$/Units, 2021–2036</a:t>
                      </a:r>
                      <a:endParaRPr sz="1050"/>
                    </a:p>
                  </a:txBody>
                  <a:tcPr marL="9525" marR="9525" marT="9525" marB="0" anchor="ctr"/>
                </a:tc>
              </a:tr>
              <a:tr h="169826">
                <a:tc>
                  <a:txBody>
                    <a:bodyPr wrap="square"/>
                    <a:lstStyle/>
                    <a:p>
                      <a:pPr algn="l"/>
                      <a:r>
                        <a:rPr sz="1050" b="0" i="0">
                          <a:solidFill>
                            <a:srgbClr val="000000"/>
                          </a:solidFill>
                          <a:latin typeface="Calibri"/>
                        </a:rPr>
                        <a:t>Table 169: Global Market Average Selling Price by Distribution Channel, US$/Units, 2021–2036</a:t>
                      </a:r>
                      <a:endParaRPr sz="1050"/>
                    </a:p>
                  </a:txBody>
                  <a:tcPr marL="9525" marR="9525" marT="9525" marB="0" anchor="ctr"/>
                </a:tc>
              </a:tr>
              <a:tr h="169826">
                <a:tc>
                  <a:txBody>
                    <a:bodyPr wrap="square"/>
                    <a:lstStyle/>
                    <a:p>
                      <a:pPr algn="l"/>
                      <a:r>
                        <a:rPr sz="1050" b="0" i="0">
                          <a:solidFill>
                            <a:srgbClr val="000000"/>
                          </a:solidFill>
                          <a:latin typeface="Calibri"/>
                        </a:rPr>
                        <a:t>Table 170: Global Market Average Selling Price by Patient Age Group, US$/Units, 2021–2036</a:t>
                      </a:r>
                      <a:endParaRPr sz="1050"/>
                    </a:p>
                  </a:txBody>
                  <a:tcPr marL="9525" marR="9525" marT="9525" marB="0" anchor="ctr"/>
                </a:tc>
              </a:tr>
              <a:tr h="169826">
                <a:tc>
                  <a:txBody>
                    <a:bodyPr wrap="square"/>
                    <a:lstStyle/>
                    <a:p>
                      <a:pPr algn="l"/>
                      <a:r>
                        <a:rPr sz="1050" b="0" i="0">
                          <a:solidFill>
                            <a:srgbClr val="000000"/>
                          </a:solidFill>
                          <a:latin typeface="Calibri"/>
                        </a:rPr>
                        <a:t>Table 171: Supplier-to-Customer Relationship Mapping in U.S., 2026</a:t>
                      </a:r>
                      <a:endParaRPr sz="1050"/>
                    </a:p>
                  </a:txBody>
                  <a:tcPr marL="9525" marR="9525" marT="9525" marB="0" anchor="ctr"/>
                </a:tc>
              </a:tr>
              <a:tr h="169826">
                <a:tc>
                  <a:txBody>
                    <a:bodyPr wrap="square"/>
                    <a:lstStyle/>
                    <a:p>
                      <a:pPr algn="l"/>
                      <a:r>
                        <a:rPr sz="1050" b="0" i="0">
                          <a:solidFill>
                            <a:srgbClr val="000000"/>
                          </a:solidFill>
                          <a:latin typeface="Calibri"/>
                        </a:rPr>
                        <a:t>Table 172: Global Market Value Chain Participants by Stage, 2026</a:t>
                      </a:r>
                      <a:endParaRPr sz="1050"/>
                    </a:p>
                  </a:txBody>
                  <a:tcPr marL="9525" marR="9525" marT="9525" marB="0" anchor="ctr"/>
                </a:tc>
              </a:tr>
              <a:tr h="169826">
                <a:tc>
                  <a:txBody>
                    <a:bodyPr wrap="square"/>
                    <a:lstStyle/>
                    <a:p>
                      <a:pPr algn="l"/>
                      <a:r>
                        <a:rPr sz="1050" b="0" i="0">
                          <a:solidFill>
                            <a:srgbClr val="000000"/>
                          </a:solidFill>
                          <a:latin typeface="Calibri"/>
                        </a:rPr>
                        <a:t>Table 173: Global Market Margin Analysis by Value Chain Stage, %, 2026</a:t>
                      </a:r>
                      <a:endParaRPr sz="1050"/>
                    </a:p>
                  </a:txBody>
                  <a:tcPr marL="9525" marR="9525" marT="9525" marB="0" anchor="ctr"/>
                </a:tc>
              </a:tr>
              <a:tr h="169826">
                <a:tc>
                  <a:txBody>
                    <a:bodyPr wrap="square"/>
                    <a:lstStyle/>
                    <a:p>
                      <a:pPr algn="l"/>
                      <a:r>
                        <a:rPr sz="1050" b="0" i="0">
                          <a:solidFill>
                            <a:srgbClr val="000000"/>
                          </a:solidFill>
                          <a:latin typeface="Calibri"/>
                        </a:rPr>
                        <a:t>Table 174: Global Market Cost Structure by Component, %, 2026</a:t>
                      </a:r>
                      <a:endParaRPr sz="1050"/>
                    </a:p>
                  </a:txBody>
                  <a:tcPr marL="9525" marR="9525" marT="9525" marB="0" anchor="ctr"/>
                </a:tc>
              </a:tr>
              <a:tr h="169826">
                <a:tc>
                  <a:txBody>
                    <a:bodyPr wrap="square"/>
                    <a:lstStyle/>
                    <a:p>
                      <a:pPr algn="l"/>
                      <a:r>
                        <a:rPr sz="1050" b="0" i="0">
                          <a:solidFill>
                            <a:srgbClr val="000000"/>
                          </a:solidFill>
                          <a:latin typeface="Calibri"/>
                        </a:rPr>
                        <a:t>Table 175: Global Market Import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176: Global Market Export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177: Global Market Trade Flow Matrix by Region, US$ Mn, 2025</a:t>
                      </a:r>
                      <a:endParaRPr sz="1050"/>
                    </a:p>
                  </a:txBody>
                  <a:tcPr marL="9525" marR="9525" marT="9525" marB="0" anchor="ctr"/>
                </a:tc>
              </a:tr>
              <a:tr h="169826">
                <a:tc>
                  <a:txBody>
                    <a:bodyPr wrap="square"/>
                    <a:lstStyle/>
                    <a:p>
                      <a:pPr algn="l"/>
                      <a:r>
                        <a:rPr sz="1050" b="0" i="0">
                          <a:solidFill>
                            <a:srgbClr val="000000"/>
                          </a:solidFill>
                          <a:latin typeface="Calibri"/>
                        </a:rPr>
                        <a:t>Table 178: Global Market Pricing Factors and Impact Rating, 2026–2036</a:t>
                      </a:r>
                      <a:endParaRPr sz="1050"/>
                    </a:p>
                  </a:txBody>
                  <a:tcPr marL="9525" marR="9525" marT="9525" marB="0" anchor="ctr"/>
                </a:tc>
              </a:tr>
              <a:tr h="332858">
                <a:tc>
                  <a:txBody>
                    <a:bodyPr wrap="square"/>
                    <a:lstStyle/>
                    <a:p>
                      <a:pPr algn="l"/>
                      <a:r>
                        <a:rPr sz="1050" b="0" i="0">
                          <a:solidFill>
                            <a:srgbClr val="000000"/>
                          </a:solidFill>
                          <a:latin typeface="Calibri"/>
                        </a:rPr>
                        <a:t>Table 179: Leading Removable Partial Dentures Manufacturers: Product Portfolio and Geographic Presence,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660468"/>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180: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181: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182: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183: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184: Dentsply Sirona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185: Ivoclar Vivadent AG: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186: Kulzer GmbH: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GC Corporation: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SHOFU INC.: Company Overview, Products and Strategy, 2026</a:t>
                      </a:r>
                      <a:endParaRPr sz="1050"/>
                    </a:p>
                  </a:txBody>
                  <a:tcPr marL="9525" marR="9525" marT="9525" marB="0" anchor="ctr"/>
                </a:tc>
              </a:tr>
              <a:tr h="326708">
                <a:tc>
                  <a:txBody>
                    <a:bodyPr wrap="square"/>
                    <a:lstStyle/>
                    <a:p>
                      <a:pPr algn="l"/>
                      <a:r>
                        <a:rPr sz="1050" b="0" i="0">
                          <a:solidFill>
                            <a:srgbClr val="000000"/>
                          </a:solidFill>
                          <a:latin typeface="Calibri"/>
                        </a:rPr>
                        <a:t>Table 189: VITA Zahnfabrik H. Rauter GmbH &amp; Co. KG: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Zhermack S.p.A.: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DETAX GmbH: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Candulor AG: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Ruthinium Dental Manufacturing S.p.A.: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70116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00596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2710815"/>
            <a:ext cx="7124700" cy="387477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780705" cy="186689"/>
          </a:xfrm>
          <a:prstGeom prst="rect">
            <a:avLst/>
          </a:prstGeom>
          <a:noFill/>
        </p:spPr>
        <p:txBody>
          <a:bodyPr wrap="none" lIns="0" rIns="0" tIns="0" bIns="0">
            <a:spAutoFit/>
          </a:bodyPr>
          <a:lstStyle/>
          <a:p>
            <a:r>
              <a:rPr sz="1100" b="0">
                <a:solidFill>
                  <a:srgbClr val="2E2E2E"/>
                </a:solidFill>
                <a:latin typeface="Calibri"/>
              </a:rPr>
              <a:t>Global removable partial dentures market is projected to register</a:t>
            </a:r>
          </a:p>
        </p:txBody>
      </p:sp>
      <p:pic>
        <p:nvPicPr>
          <p:cNvPr id="36" name="Picture 35" descr="lock.png"/>
          <p:cNvPicPr>
            <a:picLocks noChangeAspect="1"/>
          </p:cNvPicPr>
          <p:nvPr/>
        </p:nvPicPr>
        <p:blipFill>
          <a:blip r:embed="rId6"/>
          <a:stretch>
            <a:fillRect/>
          </a:stretch>
        </p:blipFill>
        <p:spPr>
          <a:xfrm>
            <a:off x="8035157" y="2204848"/>
            <a:ext cx="128699" cy="187198"/>
          </a:xfrm>
          <a:prstGeom prst="rect">
            <a:avLst/>
          </a:prstGeom>
        </p:spPr>
      </p:pic>
      <p:sp>
        <p:nvSpPr>
          <p:cNvPr id="37" name="TextBox 36"/>
          <p:cNvSpPr txBox="1"/>
          <p:nvPr/>
        </p:nvSpPr>
        <p:spPr>
          <a:xfrm>
            <a:off x="8202653" y="2214627"/>
            <a:ext cx="3314948"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a:t>
            </a:r>
          </a:p>
        </p:txBody>
      </p:sp>
      <p:sp>
        <p:nvSpPr>
          <p:cNvPr id="38" name="TextBox 37"/>
          <p:cNvSpPr txBox="1"/>
          <p:nvPr/>
        </p:nvSpPr>
        <p:spPr>
          <a:xfrm>
            <a:off x="8048625" y="2382267"/>
            <a:ext cx="3416721" cy="186689"/>
          </a:xfrm>
          <a:prstGeom prst="rect">
            <a:avLst/>
          </a:prstGeom>
          <a:noFill/>
        </p:spPr>
        <p:txBody>
          <a:bodyPr wrap="none" lIns="0" rIns="0" tIns="0" bIns="0">
            <a:spAutoFit/>
          </a:bodyPr>
          <a:lstStyle/>
          <a:p>
            <a:r>
              <a:rPr sz="1100" b="0">
                <a:solidFill>
                  <a:srgbClr val="2E2E2E"/>
                </a:solidFill>
                <a:latin typeface="Calibri"/>
              </a:rPr>
              <a:t>Global removable partial dentures market volume stood at</a:t>
            </a:r>
          </a:p>
        </p:txBody>
      </p:sp>
      <p:pic>
        <p:nvPicPr>
          <p:cNvPr id="39" name="Picture 38" descr="lock.png"/>
          <p:cNvPicPr>
            <a:picLocks noChangeAspect="1"/>
          </p:cNvPicPr>
          <p:nvPr/>
        </p:nvPicPr>
        <p:blipFill>
          <a:blip r:embed="rId6"/>
          <a:stretch>
            <a:fillRect/>
          </a:stretch>
        </p:blipFill>
        <p:spPr>
          <a:xfrm>
            <a:off x="11413398" y="2372488"/>
            <a:ext cx="128699" cy="187198"/>
          </a:xfrm>
          <a:prstGeom prst="rect">
            <a:avLst/>
          </a:prstGeom>
        </p:spPr>
      </p:pic>
      <p:sp>
        <p:nvSpPr>
          <p:cNvPr id="40" name="TextBox 39"/>
          <p:cNvSpPr txBox="1"/>
          <p:nvPr/>
        </p:nvSpPr>
        <p:spPr>
          <a:xfrm>
            <a:off x="8048625" y="2549907"/>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41" name="Picture 40" descr="lock.png"/>
          <p:cNvPicPr>
            <a:picLocks noChangeAspect="1"/>
          </p:cNvPicPr>
          <p:nvPr/>
        </p:nvPicPr>
        <p:blipFill>
          <a:blip r:embed="rId6"/>
          <a:stretch>
            <a:fillRect/>
          </a:stretch>
        </p:blipFill>
        <p:spPr>
          <a:xfrm>
            <a:off x="10241773" y="2540128"/>
            <a:ext cx="128699" cy="187198"/>
          </a:xfrm>
          <a:prstGeom prst="rect">
            <a:avLst/>
          </a:prstGeom>
        </p:spPr>
      </p:pic>
      <p:sp>
        <p:nvSpPr>
          <p:cNvPr id="42" name="TextBox 41"/>
          <p:cNvSpPr txBox="1"/>
          <p:nvPr/>
        </p:nvSpPr>
        <p:spPr>
          <a:xfrm>
            <a:off x="10409269" y="2549907"/>
            <a:ext cx="1383704" cy="186689"/>
          </a:xfrm>
          <a:prstGeom prst="rect">
            <a:avLst/>
          </a:prstGeom>
          <a:noFill/>
        </p:spPr>
        <p:txBody>
          <a:bodyPr wrap="none" lIns="0" rIns="0" tIns="0" bIns="0">
            <a:spAutoFit/>
          </a:bodyPr>
          <a:lstStyle/>
          <a:p>
            <a:r>
              <a:rPr sz="1100" b="0">
                <a:solidFill>
                  <a:srgbClr val="2E2E2E"/>
                </a:solidFill>
                <a:latin typeface="Calibri"/>
              </a:rPr>
              <a:t>Units by 2036 end, at a</a:t>
            </a:r>
          </a:p>
        </p:txBody>
      </p:sp>
      <p:sp>
        <p:nvSpPr>
          <p:cNvPr id="43" name="TextBox 42"/>
          <p:cNvSpPr txBox="1"/>
          <p:nvPr/>
        </p:nvSpPr>
        <p:spPr>
          <a:xfrm>
            <a:off x="8048625" y="2717547"/>
            <a:ext cx="543304" cy="186689"/>
          </a:xfrm>
          <a:prstGeom prst="rect">
            <a:avLst/>
          </a:prstGeom>
          <a:noFill/>
        </p:spPr>
        <p:txBody>
          <a:bodyPr wrap="none" lIns="0" rIns="0" tIns="0" bIns="0">
            <a:spAutoFit/>
          </a:bodyPr>
          <a:lstStyle/>
          <a:p>
            <a:r>
              <a:rPr sz="1100" b="0">
                <a:solidFill>
                  <a:srgbClr val="2E2E2E"/>
                </a:solidFill>
                <a:latin typeface="Calibri"/>
              </a:rPr>
              <a:t>CAGR of</a:t>
            </a:r>
          </a:p>
        </p:txBody>
      </p:sp>
      <p:pic>
        <p:nvPicPr>
          <p:cNvPr id="44" name="Picture 43" descr="lock.png"/>
          <p:cNvPicPr>
            <a:picLocks noChangeAspect="1"/>
          </p:cNvPicPr>
          <p:nvPr/>
        </p:nvPicPr>
        <p:blipFill>
          <a:blip r:embed="rId6"/>
          <a:stretch>
            <a:fillRect/>
          </a:stretch>
        </p:blipFill>
        <p:spPr>
          <a:xfrm>
            <a:off x="8539981" y="2707768"/>
            <a:ext cx="128699" cy="187198"/>
          </a:xfrm>
          <a:prstGeom prst="rect">
            <a:avLst/>
          </a:prstGeom>
        </p:spPr>
      </p:pic>
      <p:sp>
        <p:nvSpPr>
          <p:cNvPr id="45" name="TextBox 44"/>
          <p:cNvSpPr txBox="1"/>
          <p:nvPr/>
        </p:nvSpPr>
        <p:spPr>
          <a:xfrm>
            <a:off x="8707477"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7" name="TextBox 46"/>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48" name="TextBox 47"/>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9" name="Picture 48" descr="lock.png"/>
          <p:cNvPicPr>
            <a:picLocks noChangeAspect="1"/>
          </p:cNvPicPr>
          <p:nvPr/>
        </p:nvPicPr>
        <p:blipFill>
          <a:blip r:embed="rId6"/>
          <a:stretch>
            <a:fillRect/>
          </a:stretch>
        </p:blipFill>
        <p:spPr>
          <a:xfrm>
            <a:off x="10866614" y="4446251"/>
            <a:ext cx="134549" cy="195707"/>
          </a:xfrm>
          <a:prstGeom prst="rect">
            <a:avLst/>
          </a:prstGeom>
        </p:spPr>
      </p:pic>
      <p:sp>
        <p:nvSpPr>
          <p:cNvPr id="50" name="TextBox 49"/>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571701" cy="194310"/>
          </a:xfrm>
          <a:prstGeom prst="rect">
            <a:avLst/>
          </a:prstGeom>
          <a:noFill/>
        </p:spPr>
        <p:txBody>
          <a:bodyPr wrap="none" lIns="0" rIns="0" tIns="0" bIns="0">
            <a:spAutoFit/>
          </a:bodyPr>
          <a:lstStyle/>
          <a:p>
            <a:r>
              <a:rPr sz="1150" b="0">
                <a:solidFill>
                  <a:srgbClr val="2E2E2E"/>
                </a:solidFill>
                <a:latin typeface="Calibri"/>
              </a:rPr>
              <a:t>▪ Demand concentrates in 'Combination Framework Partial</a:t>
            </a:r>
          </a:p>
        </p:txBody>
      </p:sp>
      <p:sp>
        <p:nvSpPr>
          <p:cNvPr id="52" name="TextBox 51"/>
          <p:cNvSpPr txBox="1"/>
          <p:nvPr/>
        </p:nvSpPr>
        <p:spPr>
          <a:xfrm>
            <a:off x="8048625" y="4859572"/>
            <a:ext cx="1919795" cy="194310"/>
          </a:xfrm>
          <a:prstGeom prst="rect">
            <a:avLst/>
          </a:prstGeom>
          <a:noFill/>
        </p:spPr>
        <p:txBody>
          <a:bodyPr wrap="none" lIns="0" rIns="0" tIns="0" bIns="0">
            <a:spAutoFit/>
          </a:bodyPr>
          <a:lstStyle/>
          <a:p>
            <a:r>
              <a:rPr sz="1150" b="0">
                <a:solidFill>
                  <a:srgbClr val="2E2E2E"/>
                </a:solidFill>
                <a:latin typeface="Calibri"/>
              </a:rPr>
              <a:t>Dentures' within Product Type.</a:t>
            </a:r>
          </a:p>
        </p:txBody>
      </p:sp>
      <p:sp>
        <p:nvSpPr>
          <p:cNvPr id="53" name="TextBox 52"/>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cxnSp>
        <p:nvCxnSpPr>
          <p:cNvPr id="27" name="Connector 26"/>
          <p:cNvCxnSpPr/>
          <p:nvPr/>
        </p:nvCxnSpPr>
        <p:spPr>
          <a:xfrm flipV="1">
            <a:off x="1533525" y="2341158"/>
            <a:ext cx="0" cy="27362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1478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4115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13443"/>
            <a:ext cx="438150" cy="13669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48303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18875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3286125" y="2300085"/>
            <a:ext cx="0" cy="26987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6996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30008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71352"/>
            <a:ext cx="438150" cy="13480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44000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14768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5038725" y="1670329"/>
            <a:ext cx="0" cy="33246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027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57966"/>
            <a:ext cx="438150" cy="16603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424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45" name="Connector 44"/>
          <p:cNvCxnSpPr/>
          <p:nvPr/>
        </p:nvCxnSpPr>
        <p:spPr>
          <a:xfrm flipV="1">
            <a:off x="6791325" y="2915559"/>
            <a:ext cx="0" cy="20399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91555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69359"/>
            <a:ext cx="438150" cy="10193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2122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6315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57" name="Connector 56"/>
          <p:cNvCxnSpPr/>
          <p:nvPr/>
        </p:nvCxnSpPr>
        <p:spPr>
          <a:xfrm>
            <a:off x="619125" y="431733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2855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5509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596222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17332"/>
            <a:ext cx="0" cy="164488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1733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2855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5509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596222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50657"/>
            <a:ext cx="361950" cy="133350"/>
          </a:xfrm>
          <a:prstGeom prst="rect">
            <a:avLst/>
          </a:prstGeom>
          <a:noFill/>
        </p:spPr>
        <p:txBody>
          <a:bodyPr wrap="none" lIns="0" rIns="0" tIns="0" bIns="0" anchor="ctr">
            <a:spAutoFit/>
          </a:bodyPr>
          <a:lstStyle/>
          <a:p>
            <a:pPr algn="r"/>
            <a:r>
              <a:rPr sz="1100" b="0">
                <a:solidFill>
                  <a:srgbClr val="6C7A89"/>
                </a:solidFill>
                <a:latin typeface="Calibri"/>
              </a:rPr>
              <a:t>+43%</a:t>
            </a:r>
          </a:p>
        </p:txBody>
      </p:sp>
      <p:sp>
        <p:nvSpPr>
          <p:cNvPr id="69" name="FMI Scale tick"/>
          <p:cNvSpPr txBox="1"/>
          <p:nvPr/>
        </p:nvSpPr>
        <p:spPr>
          <a:xfrm>
            <a:off x="219075" y="4661879"/>
            <a:ext cx="361950" cy="133350"/>
          </a:xfrm>
          <a:prstGeom prst="rect">
            <a:avLst/>
          </a:prstGeom>
          <a:noFill/>
        </p:spPr>
        <p:txBody>
          <a:bodyPr wrap="none" lIns="0" rIns="0" tIns="0" bIns="0" anchor="ctr">
            <a:spAutoFit/>
          </a:bodyPr>
          <a:lstStyle/>
          <a:p>
            <a:pPr algn="r"/>
            <a:r>
              <a:rPr sz="1100" b="0">
                <a:solidFill>
                  <a:srgbClr val="6C7A89"/>
                </a:solidFill>
                <a:latin typeface="Calibri"/>
              </a:rPr>
              <a:t>+22%</a:t>
            </a:r>
          </a:p>
        </p:txBody>
      </p:sp>
      <p:sp>
        <p:nvSpPr>
          <p:cNvPr id="70"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71" name="FMI Scale tick"/>
          <p:cNvSpPr txBox="1"/>
          <p:nvPr/>
        </p:nvSpPr>
        <p:spPr>
          <a:xfrm>
            <a:off x="219075" y="5484323"/>
            <a:ext cx="361950" cy="133350"/>
          </a:xfrm>
          <a:prstGeom prst="rect">
            <a:avLst/>
          </a:prstGeom>
          <a:noFill/>
        </p:spPr>
        <p:txBody>
          <a:bodyPr wrap="none" lIns="0" rIns="0" tIns="0" bIns="0" anchor="ctr">
            <a:spAutoFit/>
          </a:bodyPr>
          <a:lstStyle/>
          <a:p>
            <a:pPr algn="r"/>
            <a:r>
              <a:rPr sz="1100" b="0">
                <a:solidFill>
                  <a:srgbClr val="6C7A89"/>
                </a:solidFill>
                <a:latin typeface="Calibri"/>
              </a:rPr>
              <a:t>-22%</a:t>
            </a:r>
          </a:p>
        </p:txBody>
      </p:sp>
      <p:sp>
        <p:nvSpPr>
          <p:cNvPr id="72" name="FMI Scale tick"/>
          <p:cNvSpPr txBox="1"/>
          <p:nvPr/>
        </p:nvSpPr>
        <p:spPr>
          <a:xfrm>
            <a:off x="219075" y="5895545"/>
            <a:ext cx="361950" cy="133350"/>
          </a:xfrm>
          <a:prstGeom prst="rect">
            <a:avLst/>
          </a:prstGeom>
          <a:noFill/>
        </p:spPr>
        <p:txBody>
          <a:bodyPr wrap="none" lIns="0" rIns="0" tIns="0" bIns="0" anchor="ctr">
            <a:spAutoFit/>
          </a:bodyPr>
          <a:lstStyle/>
          <a:p>
            <a:pPr algn="r"/>
            <a:r>
              <a:rPr sz="1100" b="0">
                <a:solidFill>
                  <a:srgbClr val="6C7A89"/>
                </a:solidFill>
                <a:latin typeface="Calibri"/>
              </a:rPr>
              <a:t>-43%</a:t>
            </a:r>
          </a:p>
        </p:txBody>
      </p:sp>
      <p:cxnSp>
        <p:nvCxnSpPr>
          <p:cNvPr id="73" name="Connector 72"/>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977900" y="4429085"/>
            <a:ext cx="457200" cy="7106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428621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2152650" y="5139776"/>
            <a:ext cx="457200" cy="7507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793875" y="52243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Rectangle 77"/>
          <p:cNvSpPr/>
          <p:nvPr/>
        </p:nvSpPr>
        <p:spPr>
          <a:xfrm>
            <a:off x="3327400" y="4715430"/>
            <a:ext cx="457200" cy="42434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2968625" y="457255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0" name="Rectangle 79"/>
          <p:cNvSpPr/>
          <p:nvPr/>
        </p:nvSpPr>
        <p:spPr>
          <a:xfrm>
            <a:off x="4502150" y="5139776"/>
            <a:ext cx="457200" cy="54287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4143375" y="569217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2" name="Rectangle 81"/>
          <p:cNvSpPr/>
          <p:nvPr/>
        </p:nvSpPr>
        <p:spPr>
          <a:xfrm>
            <a:off x="5676900" y="5139776"/>
            <a:ext cx="457200" cy="7163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5318125" y="586561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4" name="Rectangle 83"/>
          <p:cNvSpPr/>
          <p:nvPr/>
        </p:nvSpPr>
        <p:spPr>
          <a:xfrm>
            <a:off x="6851650" y="5139776"/>
            <a:ext cx="457200" cy="13692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MI Data Label"/>
          <p:cNvSpPr txBox="1"/>
          <p:nvPr/>
        </p:nvSpPr>
        <p:spPr>
          <a:xfrm>
            <a:off x="6492875" y="528622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6" name="TextBox 85"/>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7" name="TextBox 86"/>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8" name="TextBox 87"/>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9" name="TextBox 88"/>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90" name="TextBox 89"/>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91" name="TextBox 90"/>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92" name="Rounded Rectangle 91"/>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94" name="Rectangle 93"/>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96" name="TextBox 9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7" name="Picture 96" descr="lock.png"/>
          <p:cNvPicPr>
            <a:picLocks noChangeAspect="1"/>
          </p:cNvPicPr>
          <p:nvPr/>
        </p:nvPicPr>
        <p:blipFill>
          <a:blip r:embed="rId4"/>
          <a:stretch>
            <a:fillRect/>
          </a:stretch>
        </p:blipFill>
        <p:spPr>
          <a:xfrm>
            <a:off x="1469175" y="2161834"/>
            <a:ext cx="128699" cy="187198"/>
          </a:xfrm>
          <a:prstGeom prst="rect">
            <a:avLst/>
          </a:prstGeom>
        </p:spPr>
      </p:pic>
      <p:pic>
        <p:nvPicPr>
          <p:cNvPr id="98" name="Picture 97" descr="lock.png"/>
          <p:cNvPicPr>
            <a:picLocks noChangeAspect="1"/>
          </p:cNvPicPr>
          <p:nvPr/>
        </p:nvPicPr>
        <p:blipFill>
          <a:blip r:embed="rId4"/>
          <a:stretch>
            <a:fillRect/>
          </a:stretch>
        </p:blipFill>
        <p:spPr>
          <a:xfrm>
            <a:off x="3221775" y="2120761"/>
            <a:ext cx="128699" cy="187198"/>
          </a:xfrm>
          <a:prstGeom prst="rect">
            <a:avLst/>
          </a:prstGeom>
        </p:spPr>
      </p:pic>
      <p:pic>
        <p:nvPicPr>
          <p:cNvPr id="99" name="Picture 98" descr="lock.png"/>
          <p:cNvPicPr>
            <a:picLocks noChangeAspect="1"/>
          </p:cNvPicPr>
          <p:nvPr/>
        </p:nvPicPr>
        <p:blipFill>
          <a:blip r:embed="rId4"/>
          <a:stretch>
            <a:fillRect/>
          </a:stretch>
        </p:blipFill>
        <p:spPr>
          <a:xfrm>
            <a:off x="4974375" y="1491005"/>
            <a:ext cx="128699" cy="187198"/>
          </a:xfrm>
          <a:prstGeom prst="rect">
            <a:avLst/>
          </a:prstGeom>
        </p:spPr>
      </p:pic>
      <p:pic>
        <p:nvPicPr>
          <p:cNvPr id="100" name="Picture 99" descr="lock.png"/>
          <p:cNvPicPr>
            <a:picLocks noChangeAspect="1"/>
          </p:cNvPicPr>
          <p:nvPr/>
        </p:nvPicPr>
        <p:blipFill>
          <a:blip r:embed="rId4"/>
          <a:stretch>
            <a:fillRect/>
          </a:stretch>
        </p:blipFill>
        <p:spPr>
          <a:xfrm>
            <a:off x="6726975" y="2736235"/>
            <a:ext cx="128699" cy="187198"/>
          </a:xfrm>
          <a:prstGeom prst="rect">
            <a:avLst/>
          </a:prstGeom>
        </p:spPr>
      </p:pic>
      <p:pic>
        <p:nvPicPr>
          <p:cNvPr id="101" name="Picture 100" descr="lock.png"/>
          <p:cNvPicPr>
            <a:picLocks noChangeAspect="1"/>
          </p:cNvPicPr>
          <p:nvPr/>
        </p:nvPicPr>
        <p:blipFill>
          <a:blip r:embed="rId4"/>
          <a:stretch>
            <a:fillRect/>
          </a:stretch>
        </p:blipFill>
        <p:spPr>
          <a:xfrm>
            <a:off x="1142150" y="4259286"/>
            <a:ext cx="128699" cy="187198"/>
          </a:xfrm>
          <a:prstGeom prst="rect">
            <a:avLst/>
          </a:prstGeom>
        </p:spPr>
      </p:pic>
      <p:pic>
        <p:nvPicPr>
          <p:cNvPr id="102" name="Picture 101" descr="lock.png"/>
          <p:cNvPicPr>
            <a:picLocks noChangeAspect="1"/>
          </p:cNvPicPr>
          <p:nvPr/>
        </p:nvPicPr>
        <p:blipFill>
          <a:blip r:embed="rId4"/>
          <a:stretch>
            <a:fillRect/>
          </a:stretch>
        </p:blipFill>
        <p:spPr>
          <a:xfrm>
            <a:off x="2316900" y="5197454"/>
            <a:ext cx="128699" cy="187198"/>
          </a:xfrm>
          <a:prstGeom prst="rect">
            <a:avLst/>
          </a:prstGeom>
        </p:spPr>
      </p:pic>
      <p:pic>
        <p:nvPicPr>
          <p:cNvPr id="103" name="Picture 102" descr="lock.png"/>
          <p:cNvPicPr>
            <a:picLocks noChangeAspect="1"/>
          </p:cNvPicPr>
          <p:nvPr/>
        </p:nvPicPr>
        <p:blipFill>
          <a:blip r:embed="rId4"/>
          <a:stretch>
            <a:fillRect/>
          </a:stretch>
        </p:blipFill>
        <p:spPr>
          <a:xfrm>
            <a:off x="3491650" y="4545631"/>
            <a:ext cx="128699" cy="187198"/>
          </a:xfrm>
          <a:prstGeom prst="rect">
            <a:avLst/>
          </a:prstGeom>
        </p:spPr>
      </p:pic>
      <p:pic>
        <p:nvPicPr>
          <p:cNvPr id="104" name="Picture 103" descr="lock.png"/>
          <p:cNvPicPr>
            <a:picLocks noChangeAspect="1"/>
          </p:cNvPicPr>
          <p:nvPr/>
        </p:nvPicPr>
        <p:blipFill>
          <a:blip r:embed="rId4"/>
          <a:stretch>
            <a:fillRect/>
          </a:stretch>
        </p:blipFill>
        <p:spPr>
          <a:xfrm>
            <a:off x="4666400" y="5665250"/>
            <a:ext cx="128699" cy="187198"/>
          </a:xfrm>
          <a:prstGeom prst="rect">
            <a:avLst/>
          </a:prstGeom>
        </p:spPr>
      </p:pic>
      <p:pic>
        <p:nvPicPr>
          <p:cNvPr id="105" name="Picture 104" descr="lock.png"/>
          <p:cNvPicPr>
            <a:picLocks noChangeAspect="1"/>
          </p:cNvPicPr>
          <p:nvPr/>
        </p:nvPicPr>
        <p:blipFill>
          <a:blip r:embed="rId4"/>
          <a:stretch>
            <a:fillRect/>
          </a:stretch>
        </p:blipFill>
        <p:spPr>
          <a:xfrm>
            <a:off x="5841150" y="5838694"/>
            <a:ext cx="128699" cy="187198"/>
          </a:xfrm>
          <a:prstGeom prst="rect">
            <a:avLst/>
          </a:prstGeom>
        </p:spPr>
      </p:pic>
      <p:pic>
        <p:nvPicPr>
          <p:cNvPr id="106" name="Picture 105" descr="lock.png"/>
          <p:cNvPicPr>
            <a:picLocks noChangeAspect="1"/>
          </p:cNvPicPr>
          <p:nvPr/>
        </p:nvPicPr>
        <p:blipFill>
          <a:blip r:embed="rId4"/>
          <a:stretch>
            <a:fillRect/>
          </a:stretch>
        </p:blipFill>
        <p:spPr>
          <a:xfrm>
            <a:off x="7015900" y="5259301"/>
            <a:ext cx="128699" cy="187198"/>
          </a:xfrm>
          <a:prstGeom prst="rect">
            <a:avLst/>
          </a:prstGeom>
        </p:spPr>
      </p:pic>
      <p:sp>
        <p:nvSpPr>
          <p:cNvPr id="107" name="TextBox 106"/>
          <p:cNvSpPr txBox="1"/>
          <p:nvPr/>
        </p:nvSpPr>
        <p:spPr>
          <a:xfrm>
            <a:off x="8048625" y="1471995"/>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108" name="TextBox 107"/>
          <p:cNvSpPr txBox="1"/>
          <p:nvPr/>
        </p:nvSpPr>
        <p:spPr>
          <a:xfrm>
            <a:off x="8048625" y="1647255"/>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109" name="Picture 108" descr="lock.png"/>
          <p:cNvPicPr>
            <a:picLocks noChangeAspect="1"/>
          </p:cNvPicPr>
          <p:nvPr/>
        </p:nvPicPr>
        <p:blipFill>
          <a:blip r:embed="rId4"/>
          <a:stretch>
            <a:fillRect/>
          </a:stretch>
        </p:blipFill>
        <p:spPr>
          <a:xfrm>
            <a:off x="9764678" y="1637031"/>
            <a:ext cx="134549" cy="195707"/>
          </a:xfrm>
          <a:prstGeom prst="rect">
            <a:avLst/>
          </a:prstGeom>
        </p:spPr>
      </p:pic>
      <p:sp>
        <p:nvSpPr>
          <p:cNvPr id="110" name="TextBox 109"/>
          <p:cNvSpPr txBox="1"/>
          <p:nvPr/>
        </p:nvSpPr>
        <p:spPr>
          <a:xfrm>
            <a:off x="9939788" y="1647255"/>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111" name="TextBox 110"/>
          <p:cNvSpPr txBox="1"/>
          <p:nvPr/>
        </p:nvSpPr>
        <p:spPr>
          <a:xfrm>
            <a:off x="8048625" y="1822515"/>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112" name="Picture 111" descr="lock.png"/>
          <p:cNvPicPr>
            <a:picLocks noChangeAspect="1"/>
          </p:cNvPicPr>
          <p:nvPr/>
        </p:nvPicPr>
        <p:blipFill>
          <a:blip r:embed="rId4"/>
          <a:stretch>
            <a:fillRect/>
          </a:stretch>
        </p:blipFill>
        <p:spPr>
          <a:xfrm>
            <a:off x="8034545" y="1987551"/>
            <a:ext cx="134549" cy="195707"/>
          </a:xfrm>
          <a:prstGeom prst="rect">
            <a:avLst/>
          </a:prstGeom>
        </p:spPr>
      </p:pic>
      <p:sp>
        <p:nvSpPr>
          <p:cNvPr id="113" name="TextBox 112"/>
          <p:cNvSpPr txBox="1"/>
          <p:nvPr/>
        </p:nvSpPr>
        <p:spPr>
          <a:xfrm>
            <a:off x="8209654" y="1997775"/>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114" name="Picture 113" descr="lock.png"/>
          <p:cNvPicPr>
            <a:picLocks noChangeAspect="1"/>
          </p:cNvPicPr>
          <p:nvPr/>
        </p:nvPicPr>
        <p:blipFill>
          <a:blip r:embed="rId4"/>
          <a:stretch>
            <a:fillRect/>
          </a:stretch>
        </p:blipFill>
        <p:spPr>
          <a:xfrm>
            <a:off x="11296924" y="1987551"/>
            <a:ext cx="134549" cy="195707"/>
          </a:xfrm>
          <a:prstGeom prst="rect">
            <a:avLst/>
          </a:prstGeom>
        </p:spPr>
      </p:pic>
      <p:sp>
        <p:nvSpPr>
          <p:cNvPr id="115" name="TextBox 114"/>
          <p:cNvSpPr txBox="1"/>
          <p:nvPr/>
        </p:nvSpPr>
        <p:spPr>
          <a:xfrm>
            <a:off x="8048625" y="2173035"/>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116" name="TextBox 115"/>
          <p:cNvSpPr txBox="1"/>
          <p:nvPr/>
        </p:nvSpPr>
        <p:spPr>
          <a:xfrm>
            <a:off x="8048625" y="2400873"/>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117" name="TextBox 116"/>
          <p:cNvSpPr txBox="1"/>
          <p:nvPr/>
        </p:nvSpPr>
        <p:spPr>
          <a:xfrm>
            <a:off x="8048625" y="2576133"/>
            <a:ext cx="382158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Against the global</a:t>
            </a:r>
          </a:p>
        </p:txBody>
      </p:sp>
      <p:sp>
        <p:nvSpPr>
          <p:cNvPr id="118" name="TextBox 117"/>
          <p:cNvSpPr txBox="1"/>
          <p:nvPr/>
        </p:nvSpPr>
        <p:spPr>
          <a:xfrm>
            <a:off x="8048625" y="2751393"/>
            <a:ext cx="526901" cy="194310"/>
          </a:xfrm>
          <a:prstGeom prst="rect">
            <a:avLst/>
          </a:prstGeom>
          <a:noFill/>
        </p:spPr>
        <p:txBody>
          <a:bodyPr wrap="none" lIns="0" rIns="0" tIns="0" bIns="0">
            <a:spAutoFit/>
          </a:bodyPr>
          <a:lstStyle/>
          <a:p>
            <a:r>
              <a:rPr sz="1150" b="0">
                <a:solidFill>
                  <a:srgbClr val="2E2E2E"/>
                </a:solidFill>
                <a:latin typeface="Calibri"/>
              </a:rPr>
              <a:t>price of</a:t>
            </a:r>
          </a:p>
        </p:txBody>
      </p:sp>
      <p:pic>
        <p:nvPicPr>
          <p:cNvPr id="119" name="Picture 118" descr="lock.png"/>
          <p:cNvPicPr>
            <a:picLocks noChangeAspect="1"/>
          </p:cNvPicPr>
          <p:nvPr/>
        </p:nvPicPr>
        <p:blipFill>
          <a:blip r:embed="rId4"/>
          <a:stretch>
            <a:fillRect/>
          </a:stretch>
        </p:blipFill>
        <p:spPr>
          <a:xfrm>
            <a:off x="8524680" y="2741169"/>
            <a:ext cx="134549" cy="195707"/>
          </a:xfrm>
          <a:prstGeom prst="rect">
            <a:avLst/>
          </a:prstGeom>
        </p:spPr>
      </p:pic>
      <p:sp>
        <p:nvSpPr>
          <p:cNvPr id="120" name="TextBox 119"/>
          <p:cNvSpPr txBox="1"/>
          <p:nvPr/>
        </p:nvSpPr>
        <p:spPr>
          <a:xfrm>
            <a:off x="8699789" y="2751393"/>
            <a:ext cx="3076500" cy="194310"/>
          </a:xfrm>
          <a:prstGeom prst="rect">
            <a:avLst/>
          </a:prstGeom>
          <a:noFill/>
        </p:spPr>
        <p:txBody>
          <a:bodyPr wrap="none" lIns="0" rIns="0" tIns="0" bIns="0">
            <a:spAutoFit/>
          </a:bodyPr>
          <a:lstStyle/>
          <a:p>
            <a:r>
              <a:rPr sz="1150" b="0">
                <a:solidFill>
                  <a:srgbClr val="2E2E2E"/>
                </a:solidFill>
                <a:latin typeface="Calibri"/>
              </a:rPr>
              <a:t>US$/Units, 2 of 6 regions price above and 4 below.</a:t>
            </a:r>
          </a:p>
        </p:txBody>
      </p:sp>
      <p:sp>
        <p:nvSpPr>
          <p:cNvPr id="121" name="TextBox 120"/>
          <p:cNvSpPr txBox="1"/>
          <p:nvPr/>
        </p:nvSpPr>
        <p:spPr>
          <a:xfrm>
            <a:off x="8048625" y="2979230"/>
            <a:ext cx="2108063" cy="194310"/>
          </a:xfrm>
          <a:prstGeom prst="rect">
            <a:avLst/>
          </a:prstGeom>
          <a:noFill/>
        </p:spPr>
        <p:txBody>
          <a:bodyPr wrap="none" lIns="0" rIns="0" tIns="0" bIns="0">
            <a:spAutoFit/>
          </a:bodyPr>
          <a:lstStyle/>
          <a:p>
            <a:r>
              <a:rPr sz="1150" b="0">
                <a:solidFill>
                  <a:srgbClr val="2E2E2E"/>
                </a:solidFill>
                <a:latin typeface="Calibri"/>
              </a:rPr>
              <a:t>'North America' is the dearest at +</a:t>
            </a:r>
          </a:p>
        </p:txBody>
      </p:sp>
      <p:pic>
        <p:nvPicPr>
          <p:cNvPr id="122" name="Picture 121" descr="lock.png"/>
          <p:cNvPicPr>
            <a:picLocks noChangeAspect="1"/>
          </p:cNvPicPr>
          <p:nvPr/>
        </p:nvPicPr>
        <p:blipFill>
          <a:blip r:embed="rId4"/>
          <a:stretch>
            <a:fillRect/>
          </a:stretch>
        </p:blipFill>
        <p:spPr>
          <a:xfrm>
            <a:off x="10105842" y="2969007"/>
            <a:ext cx="134549" cy="195707"/>
          </a:xfrm>
          <a:prstGeom prst="rect">
            <a:avLst/>
          </a:prstGeom>
        </p:spPr>
      </p:pic>
      <p:sp>
        <p:nvSpPr>
          <p:cNvPr id="123" name="TextBox 122"/>
          <p:cNvSpPr txBox="1"/>
          <p:nvPr/>
        </p:nvSpPr>
        <p:spPr>
          <a:xfrm>
            <a:off x="10280951" y="2979230"/>
            <a:ext cx="1599455" cy="194310"/>
          </a:xfrm>
          <a:prstGeom prst="rect">
            <a:avLst/>
          </a:prstGeom>
          <a:noFill/>
        </p:spPr>
        <p:txBody>
          <a:bodyPr wrap="none" lIns="0" rIns="0" tIns="0" bIns="0">
            <a:spAutoFit/>
          </a:bodyPr>
          <a:lstStyle/>
          <a:p>
            <a:r>
              <a:rPr sz="1150" b="0">
                <a:solidFill>
                  <a:srgbClr val="2E2E2E"/>
                </a:solidFill>
                <a:latin typeface="Calibri"/>
              </a:rPr>
              <a:t>versus Global, 'South Asia</a:t>
            </a:r>
          </a:p>
        </p:txBody>
      </p:sp>
      <p:sp>
        <p:nvSpPr>
          <p:cNvPr id="124" name="TextBox 123"/>
          <p:cNvSpPr txBox="1"/>
          <p:nvPr/>
        </p:nvSpPr>
        <p:spPr>
          <a:xfrm>
            <a:off x="8048625" y="3154490"/>
            <a:ext cx="1653654" cy="194310"/>
          </a:xfrm>
          <a:prstGeom prst="rect">
            <a:avLst/>
          </a:prstGeom>
          <a:noFill/>
        </p:spPr>
        <p:txBody>
          <a:bodyPr wrap="none" lIns="0" rIns="0" tIns="0" bIns="0">
            <a:spAutoFit/>
          </a:bodyPr>
          <a:lstStyle/>
          <a:p>
            <a:r>
              <a:rPr sz="1150" b="0">
                <a:solidFill>
                  <a:srgbClr val="2E2E2E"/>
                </a:solidFill>
                <a:latin typeface="Calibri"/>
              </a:rPr>
              <a:t>&amp; Pacific' the cheapest at -</a:t>
            </a:r>
          </a:p>
        </p:txBody>
      </p:sp>
      <p:pic>
        <p:nvPicPr>
          <p:cNvPr id="125" name="Picture 124" descr="lock.png"/>
          <p:cNvPicPr>
            <a:picLocks noChangeAspect="1"/>
          </p:cNvPicPr>
          <p:nvPr/>
        </p:nvPicPr>
        <p:blipFill>
          <a:blip r:embed="rId4"/>
          <a:stretch>
            <a:fillRect/>
          </a:stretch>
        </p:blipFill>
        <p:spPr>
          <a:xfrm>
            <a:off x="9651433" y="3144267"/>
            <a:ext cx="134549" cy="195707"/>
          </a:xfrm>
          <a:prstGeom prst="rect">
            <a:avLst/>
          </a:prstGeom>
        </p:spPr>
      </p:pic>
      <p:sp>
        <p:nvSpPr>
          <p:cNvPr id="126" name="TextBox 125"/>
          <p:cNvSpPr txBox="1"/>
          <p:nvPr/>
        </p:nvSpPr>
        <p:spPr>
          <a:xfrm>
            <a:off x="9826542" y="3154490"/>
            <a:ext cx="1702147" cy="194310"/>
          </a:xfrm>
          <a:prstGeom prst="rect">
            <a:avLst/>
          </a:prstGeom>
          <a:noFill/>
        </p:spPr>
        <p:txBody>
          <a:bodyPr wrap="none" lIns="0" rIns="0" tIns="0" bIns="0">
            <a:spAutoFit/>
          </a:bodyPr>
          <a:lstStyle/>
          <a:p>
            <a:r>
              <a:rPr sz="1150" b="0">
                <a:solidFill>
                  <a:srgbClr val="2E2E2E"/>
                </a:solidFill>
                <a:latin typeface="Calibri"/>
              </a:rPr>
              <a:t>pointing to premiumisation</a:t>
            </a:r>
          </a:p>
        </p:txBody>
      </p:sp>
      <p:sp>
        <p:nvSpPr>
          <p:cNvPr id="127" name="TextBox 126"/>
          <p:cNvSpPr txBox="1"/>
          <p:nvPr/>
        </p:nvSpPr>
        <p:spPr>
          <a:xfrm>
            <a:off x="8048625" y="3329750"/>
            <a:ext cx="2365647" cy="194310"/>
          </a:xfrm>
          <a:prstGeom prst="rect">
            <a:avLst/>
          </a:prstGeom>
          <a:noFill/>
        </p:spPr>
        <p:txBody>
          <a:bodyPr wrap="none" lIns="0" rIns="0" tIns="0" bIns="0">
            <a:spAutoFit/>
          </a:bodyPr>
          <a:lstStyle/>
          <a:p>
            <a:r>
              <a:rPr sz="1150" b="0">
                <a:solidFill>
                  <a:srgbClr val="2E2E2E"/>
                </a:solidFill>
                <a:latin typeface="Calibri"/>
              </a:rPr>
              <a:t>headroom in the lower-priced regions.</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1,125</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1,731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75128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3991062" y="5157531"/>
            <a:ext cx="289830" cy="421571"/>
          </a:xfrm>
          <a:prstGeom prst="rect">
            <a:avLst/>
          </a:prstGeom>
        </p:spPr>
      </p:pic>
      <p:sp>
        <p:nvSpPr>
          <p:cNvPr id="32" name="TextBox 31"/>
          <p:cNvSpPr txBox="1"/>
          <p:nvPr/>
        </p:nvSpPr>
        <p:spPr>
          <a:xfrm>
            <a:off x="8048625" y="2046987"/>
            <a:ext cx="3409627" cy="186689"/>
          </a:xfrm>
          <a:prstGeom prst="rect">
            <a:avLst/>
          </a:prstGeom>
          <a:noFill/>
        </p:spPr>
        <p:txBody>
          <a:bodyPr wrap="none" lIns="0" rIns="0" tIns="0" bIns="0">
            <a:spAutoFit/>
          </a:bodyPr>
          <a:lstStyle/>
          <a:p>
            <a:r>
              <a:rPr sz="1100" b="0">
                <a:solidFill>
                  <a:srgbClr val="2E2E2E"/>
                </a:solidFill>
                <a:latin typeface="Calibri"/>
              </a:rPr>
              <a:t>Removable partial dentures market is projected to register</a:t>
            </a:r>
          </a:p>
        </p:txBody>
      </p:sp>
      <p:pic>
        <p:nvPicPr>
          <p:cNvPr id="33" name="Picture 32" descr="lock.png"/>
          <p:cNvPicPr>
            <a:picLocks noChangeAspect="1"/>
          </p:cNvPicPr>
          <p:nvPr/>
        </p:nvPicPr>
        <p:blipFill>
          <a:blip r:embed="rId6"/>
          <a:stretch>
            <a:fillRect/>
          </a:stretch>
        </p:blipFill>
        <p:spPr>
          <a:xfrm>
            <a:off x="11406304" y="2037208"/>
            <a:ext cx="128699" cy="187198"/>
          </a:xfrm>
          <a:prstGeom prst="rect">
            <a:avLst/>
          </a:prstGeom>
        </p:spPr>
      </p:pic>
      <p:sp>
        <p:nvSpPr>
          <p:cNvPr id="34" name="TextBox 33"/>
          <p:cNvSpPr txBox="1"/>
          <p:nvPr/>
        </p:nvSpPr>
        <p:spPr>
          <a:xfrm>
            <a:off x="11573799" y="2046987"/>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35" name="TextBox 34"/>
          <p:cNvSpPr txBox="1"/>
          <p:nvPr/>
        </p:nvSpPr>
        <p:spPr>
          <a:xfrm>
            <a:off x="8048625" y="2214627"/>
            <a:ext cx="3818086" cy="186689"/>
          </a:xfrm>
          <a:prstGeom prst="rect">
            <a:avLst/>
          </a:prstGeom>
          <a:noFill/>
        </p:spPr>
        <p:txBody>
          <a:bodyPr wrap="none" lIns="0" rIns="0" tIns="0" bIns="0">
            <a:spAutoFit/>
          </a:bodyPr>
          <a:lstStyle/>
          <a:p>
            <a:r>
              <a:rPr sz="1100" b="0">
                <a:solidFill>
                  <a:srgbClr val="2E2E2E"/>
                </a:solidFill>
                <a:latin typeface="Calibri"/>
              </a:rPr>
              <a:t>increase in its revenue by the end of forecast period, 2036. Global</a:t>
            </a:r>
          </a:p>
        </p:txBody>
      </p:sp>
      <p:sp>
        <p:nvSpPr>
          <p:cNvPr id="36" name="TextBox 35"/>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removable partial dentures market is expected to be valued at US$</a:t>
            </a:r>
          </a:p>
        </p:txBody>
      </p:sp>
      <p:sp>
        <p:nvSpPr>
          <p:cNvPr id="37" name="TextBox 36"/>
          <p:cNvSpPr txBox="1"/>
          <p:nvPr/>
        </p:nvSpPr>
        <p:spPr>
          <a:xfrm>
            <a:off x="8048625" y="2549907"/>
            <a:ext cx="1386433" cy="186689"/>
          </a:xfrm>
          <a:prstGeom prst="rect">
            <a:avLst/>
          </a:prstGeom>
          <a:noFill/>
        </p:spPr>
        <p:txBody>
          <a:bodyPr wrap="none" lIns="0" rIns="0" tIns="0" bIns="0">
            <a:spAutoFit/>
          </a:bodyPr>
          <a:lstStyle/>
          <a:p>
            <a:r>
              <a:rPr sz="1100" b="0">
                <a:solidFill>
                  <a:srgbClr val="2E2E2E"/>
                </a:solidFill>
                <a:latin typeface="Calibri"/>
              </a:rPr>
              <a:t>1,731 Mn by 2036 end.</a:t>
            </a:r>
          </a:p>
        </p:txBody>
      </p:sp>
      <p:sp>
        <p:nvSpPr>
          <p:cNvPr id="38" name="TextBox 37"/>
          <p:cNvSpPr txBox="1"/>
          <p:nvPr/>
        </p:nvSpPr>
        <p:spPr>
          <a:xfrm>
            <a:off x="8048625" y="2767838"/>
            <a:ext cx="3650009" cy="186689"/>
          </a:xfrm>
          <a:prstGeom prst="rect">
            <a:avLst/>
          </a:prstGeom>
          <a:noFill/>
        </p:spPr>
        <p:txBody>
          <a:bodyPr wrap="none" lIns="0" rIns="0" tIns="0" bIns="0">
            <a:spAutoFit/>
          </a:bodyPr>
          <a:lstStyle/>
          <a:p>
            <a:r>
              <a:rPr sz="1100" b="0">
                <a:solidFill>
                  <a:srgbClr val="2E2E2E"/>
                </a:solidFill>
                <a:latin typeface="Calibri"/>
              </a:rPr>
              <a:t>It is projected to create overall incremental opportunity of US$</a:t>
            </a:r>
          </a:p>
        </p:txBody>
      </p:sp>
      <p:pic>
        <p:nvPicPr>
          <p:cNvPr id="39" name="Picture 38" descr="lock.png"/>
          <p:cNvPicPr>
            <a:picLocks noChangeAspect="1"/>
          </p:cNvPicPr>
          <p:nvPr/>
        </p:nvPicPr>
        <p:blipFill>
          <a:blip r:embed="rId6"/>
          <a:stretch>
            <a:fillRect/>
          </a:stretch>
        </p:blipFill>
        <p:spPr>
          <a:xfrm>
            <a:off x="8035157" y="2925700"/>
            <a:ext cx="128699" cy="187198"/>
          </a:xfrm>
          <a:prstGeom prst="rect">
            <a:avLst/>
          </a:prstGeom>
        </p:spPr>
      </p:pic>
      <p:sp>
        <p:nvSpPr>
          <p:cNvPr id="40" name="TextBox 39"/>
          <p:cNvSpPr txBox="1"/>
          <p:nvPr/>
        </p:nvSpPr>
        <p:spPr>
          <a:xfrm>
            <a:off x="8202653" y="2935479"/>
            <a:ext cx="3263106" cy="186689"/>
          </a:xfrm>
          <a:prstGeom prst="rect">
            <a:avLst/>
          </a:prstGeom>
          <a:noFill/>
        </p:spPr>
        <p:txBody>
          <a:bodyPr wrap="none" lIns="0" rIns="0" tIns="0" bIns="0">
            <a:spAutoFit/>
          </a:bodyPr>
          <a:lstStyle/>
          <a:p>
            <a:r>
              <a:rPr sz="1100" b="0">
                <a:solidFill>
                  <a:srgbClr val="2E2E2E"/>
                </a:solidFill>
                <a:latin typeface="Calibri"/>
              </a:rPr>
              <a:t>Mn from 2025 to 2036. Increasing prevalence of chronic</a:t>
            </a:r>
          </a:p>
        </p:txBody>
      </p:sp>
      <p:sp>
        <p:nvSpPr>
          <p:cNvPr id="41" name="TextBox 40"/>
          <p:cNvSpPr txBox="1"/>
          <p:nvPr/>
        </p:nvSpPr>
        <p:spPr>
          <a:xfrm>
            <a:off x="8048625" y="3103119"/>
            <a:ext cx="3848100" cy="186689"/>
          </a:xfrm>
          <a:prstGeom prst="rect">
            <a:avLst/>
          </a:prstGeom>
          <a:noFill/>
        </p:spPr>
        <p:txBody>
          <a:bodyPr wrap="none" lIns="0" rIns="0" tIns="0" bIns="0">
            <a:spAutoFit/>
          </a:bodyPr>
          <a:lstStyle/>
          <a:p>
            <a:r>
              <a:rPr sz="1100" b="0">
                <a:solidFill>
                  <a:srgbClr val="2E2E2E"/>
                </a:solidFill>
                <a:latin typeface="Calibri"/>
              </a:rPr>
              <a:t>diseases along with increasing ageing population is fuelling demand</a:t>
            </a:r>
          </a:p>
        </p:txBody>
      </p:sp>
      <p:sp>
        <p:nvSpPr>
          <p:cNvPr id="42" name="TextBox 41"/>
          <p:cNvSpPr txBox="1"/>
          <p:nvPr/>
        </p:nvSpPr>
        <p:spPr>
          <a:xfrm>
            <a:off x="8048625" y="3270759"/>
            <a:ext cx="1857102" cy="186689"/>
          </a:xfrm>
          <a:prstGeom prst="rect">
            <a:avLst/>
          </a:prstGeom>
          <a:noFill/>
        </p:spPr>
        <p:txBody>
          <a:bodyPr wrap="none" lIns="0" rIns="0" tIns="0" bIns="0">
            <a:spAutoFit/>
          </a:bodyPr>
          <a:lstStyle/>
          <a:p>
            <a:r>
              <a:rPr sz="1100" b="0">
                <a:solidFill>
                  <a:srgbClr val="2E2E2E"/>
                </a:solidFill>
                <a:latin typeface="Calibri"/>
              </a:rPr>
              <a:t>for removable partial dentures.</a:t>
            </a:r>
          </a:p>
        </p:txBody>
      </p:sp>
      <p:sp>
        <p:nvSpPr>
          <p:cNvPr id="43" name="TextBox 42"/>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4" name="Picture 43" descr="lock.png"/>
          <p:cNvPicPr>
            <a:picLocks noChangeAspect="1"/>
          </p:cNvPicPr>
          <p:nvPr/>
        </p:nvPicPr>
        <p:blipFill>
          <a:blip r:embed="rId6"/>
          <a:stretch>
            <a:fillRect/>
          </a:stretch>
        </p:blipFill>
        <p:spPr>
          <a:xfrm>
            <a:off x="10866614" y="4446251"/>
            <a:ext cx="134549" cy="195707"/>
          </a:xfrm>
          <a:prstGeom prst="rect">
            <a:avLst/>
          </a:prstGeom>
        </p:spPr>
      </p:pic>
      <p:sp>
        <p:nvSpPr>
          <p:cNvPr id="45" name="TextBox 44"/>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6" name="TextBox 45"/>
          <p:cNvSpPr txBox="1"/>
          <p:nvPr/>
        </p:nvSpPr>
        <p:spPr>
          <a:xfrm>
            <a:off x="8048625" y="4684312"/>
            <a:ext cx="3569419" cy="194310"/>
          </a:xfrm>
          <a:prstGeom prst="rect">
            <a:avLst/>
          </a:prstGeom>
          <a:noFill/>
        </p:spPr>
        <p:txBody>
          <a:bodyPr wrap="none" lIns="0" rIns="0" tIns="0" bIns="0">
            <a:spAutoFit/>
          </a:bodyPr>
          <a:lstStyle/>
          <a:p>
            <a:r>
              <a:rPr sz="1150" b="0">
                <a:solidFill>
                  <a:srgbClr val="2E2E2E"/>
                </a:solidFill>
                <a:latin typeface="Calibri"/>
              </a:rPr>
              <a:t>▪ Demand concentrates in 'Flexible Partial Dentures' within</a:t>
            </a:r>
          </a:p>
        </p:txBody>
      </p:sp>
      <p:sp>
        <p:nvSpPr>
          <p:cNvPr id="47" name="TextBox 46"/>
          <p:cNvSpPr txBox="1"/>
          <p:nvPr/>
        </p:nvSpPr>
        <p:spPr>
          <a:xfrm>
            <a:off x="8048625" y="4859572"/>
            <a:ext cx="901154" cy="194310"/>
          </a:xfrm>
          <a:prstGeom prst="rect">
            <a:avLst/>
          </a:prstGeom>
          <a:noFill/>
        </p:spPr>
        <p:txBody>
          <a:bodyPr wrap="none" lIns="0" rIns="0" tIns="0" bIns="0">
            <a:spAutoFit/>
          </a:bodyPr>
          <a:lstStyle/>
          <a:p>
            <a:r>
              <a:rPr sz="1150" b="0">
                <a:solidFill>
                  <a:srgbClr val="2E2E2E"/>
                </a:solidFill>
                <a:latin typeface="Calibri"/>
              </a:rPr>
              <a:t>Product Type.</a:t>
            </a:r>
          </a:p>
        </p:txBody>
      </p:sp>
      <p:sp>
        <p:nvSpPr>
          <p:cNvPr id="48" name="TextBox 47"/>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49" name="TextBox 48"/>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4.4%</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69984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10351294" y="4022407"/>
            <a:ext cx="157162" cy="228600"/>
          </a:xfrm>
          <a:prstGeom prst="rect">
            <a:avLst/>
          </a:prstGeom>
        </p:spPr>
      </p:pic>
      <p:sp>
        <p:nvSpPr>
          <p:cNvPr id="31" name="TextBox 30"/>
          <p:cNvSpPr txBox="1"/>
          <p:nvPr/>
        </p:nvSpPr>
        <p:spPr>
          <a:xfrm>
            <a:off x="276225" y="4972050"/>
            <a:ext cx="3561146" cy="194310"/>
          </a:xfrm>
          <a:prstGeom prst="rect">
            <a:avLst/>
          </a:prstGeom>
          <a:noFill/>
        </p:spPr>
        <p:txBody>
          <a:bodyPr wrap="none" lIns="0" rIns="0" tIns="0" bIns="0">
            <a:spAutoFit/>
          </a:bodyPr>
          <a:lstStyle/>
          <a:p>
            <a:r>
              <a:rPr sz="1150" b="0">
                <a:solidFill>
                  <a:srgbClr val="2E2E2E"/>
                </a:solidFill>
                <a:latin typeface="Calibri"/>
              </a:rPr>
              <a:t>Removable partial dentures market is projected to register</a:t>
            </a:r>
          </a:p>
        </p:txBody>
      </p:sp>
      <p:pic>
        <p:nvPicPr>
          <p:cNvPr id="32" name="Picture 31" descr="lock.png"/>
          <p:cNvPicPr>
            <a:picLocks noChangeAspect="1"/>
          </p:cNvPicPr>
          <p:nvPr/>
        </p:nvPicPr>
        <p:blipFill>
          <a:blip r:embed="rId6"/>
          <a:stretch>
            <a:fillRect/>
          </a:stretch>
        </p:blipFill>
        <p:spPr>
          <a:xfrm>
            <a:off x="3786525" y="4961826"/>
            <a:ext cx="134549" cy="195707"/>
          </a:xfrm>
          <a:prstGeom prst="rect">
            <a:avLst/>
          </a:prstGeom>
        </p:spPr>
      </p:pic>
      <p:sp>
        <p:nvSpPr>
          <p:cNvPr id="33" name="TextBox 32"/>
          <p:cNvSpPr txBox="1"/>
          <p:nvPr/>
        </p:nvSpPr>
        <p:spPr>
          <a:xfrm>
            <a:off x="3961635" y="4972050"/>
            <a:ext cx="7833965" cy="194310"/>
          </a:xfrm>
          <a:prstGeom prst="rect">
            <a:avLst/>
          </a:prstGeom>
          <a:noFill/>
        </p:spPr>
        <p:txBody>
          <a:bodyPr wrap="none" lIns="0" rIns="0" tIns="0" bIns="0">
            <a:spAutoFit/>
          </a:bodyPr>
          <a:lstStyle/>
          <a:p>
            <a:r>
              <a:rPr sz="1150" b="0">
                <a:solidFill>
                  <a:srgbClr val="2E2E2E"/>
                </a:solidFill>
                <a:latin typeface="Calibri"/>
              </a:rPr>
              <a:t>X increase in its revenue by the end of forecast period, 2036. Global removable partial dentures market is expected to be valued at</a:t>
            </a:r>
          </a:p>
        </p:txBody>
      </p:sp>
      <p:sp>
        <p:nvSpPr>
          <p:cNvPr id="34" name="TextBox 33"/>
          <p:cNvSpPr txBox="1"/>
          <p:nvPr/>
        </p:nvSpPr>
        <p:spPr>
          <a:xfrm>
            <a:off x="276225" y="5147310"/>
            <a:ext cx="5483473" cy="194310"/>
          </a:xfrm>
          <a:prstGeom prst="rect">
            <a:avLst/>
          </a:prstGeom>
          <a:noFill/>
        </p:spPr>
        <p:txBody>
          <a:bodyPr wrap="none" lIns="0" rIns="0" tIns="0" bIns="0">
            <a:spAutoFit/>
          </a:bodyPr>
          <a:lstStyle/>
          <a:p>
            <a:r>
              <a:rPr sz="1150" b="0">
                <a:solidFill>
                  <a:srgbClr val="2E2E2E"/>
                </a:solidFill>
                <a:latin typeface="Calibri"/>
              </a:rPr>
              <a:t>US$ 1,731 Mn by 2036 end. It is projected to create overall incremental opportunity of US$</a:t>
            </a:r>
          </a:p>
        </p:txBody>
      </p:sp>
      <p:pic>
        <p:nvPicPr>
          <p:cNvPr id="35" name="Picture 34" descr="lock.png"/>
          <p:cNvPicPr>
            <a:picLocks noChangeAspect="1"/>
          </p:cNvPicPr>
          <p:nvPr/>
        </p:nvPicPr>
        <p:blipFill>
          <a:blip r:embed="rId6"/>
          <a:stretch>
            <a:fillRect/>
          </a:stretch>
        </p:blipFill>
        <p:spPr>
          <a:xfrm>
            <a:off x="5708851" y="5137086"/>
            <a:ext cx="134549" cy="195707"/>
          </a:xfrm>
          <a:prstGeom prst="rect">
            <a:avLst/>
          </a:prstGeom>
        </p:spPr>
      </p:pic>
      <p:sp>
        <p:nvSpPr>
          <p:cNvPr id="36" name="TextBox 35"/>
          <p:cNvSpPr txBox="1"/>
          <p:nvPr/>
        </p:nvSpPr>
        <p:spPr>
          <a:xfrm>
            <a:off x="5883961" y="5147310"/>
            <a:ext cx="1455687" cy="194310"/>
          </a:xfrm>
          <a:prstGeom prst="rect">
            <a:avLst/>
          </a:prstGeom>
          <a:noFill/>
        </p:spPr>
        <p:txBody>
          <a:bodyPr wrap="none" lIns="0" rIns="0" tIns="0" bIns="0">
            <a:spAutoFit/>
          </a:bodyPr>
          <a:lstStyle/>
          <a:p>
            <a:r>
              <a:rPr sz="1150" b="0">
                <a:solidFill>
                  <a:srgbClr val="2E2E2E"/>
                </a:solidFill>
                <a:latin typeface="Calibri"/>
              </a:rPr>
              <a:t>Mn from 2025 to 2036.</a:t>
            </a:r>
          </a:p>
        </p:txBody>
      </p:sp>
      <p:sp>
        <p:nvSpPr>
          <p:cNvPr id="37" name="TextBox 36"/>
          <p:cNvSpPr txBox="1"/>
          <p:nvPr/>
        </p:nvSpPr>
        <p:spPr>
          <a:xfrm>
            <a:off x="276225" y="5375147"/>
            <a:ext cx="11352286" cy="194310"/>
          </a:xfrm>
          <a:prstGeom prst="rect">
            <a:avLst/>
          </a:prstGeom>
          <a:noFill/>
        </p:spPr>
        <p:txBody>
          <a:bodyPr wrap="none" lIns="0" rIns="0" tIns="0" bIns="0">
            <a:spAutoFit/>
          </a:bodyPr>
          <a:lstStyle/>
          <a:p>
            <a:r>
              <a:rPr sz="1150" b="0">
                <a:solidFill>
                  <a:srgbClr val="2E2E2E"/>
                </a:solidFill>
                <a:latin typeface="Calibri"/>
              </a:rPr>
              <a:t>Increasing prevalence of chronic diseases along with increasing ageing population is fuelling demand for removable partial dentures. Global removable partial dentures market is projected to</a:t>
            </a:r>
          </a:p>
        </p:txBody>
      </p:sp>
      <p:sp>
        <p:nvSpPr>
          <p:cNvPr id="38" name="TextBox 37"/>
          <p:cNvSpPr txBox="1"/>
          <p:nvPr/>
        </p:nvSpPr>
        <p:spPr>
          <a:xfrm>
            <a:off x="276225" y="5550407"/>
            <a:ext cx="532320" cy="194310"/>
          </a:xfrm>
          <a:prstGeom prst="rect">
            <a:avLst/>
          </a:prstGeom>
          <a:noFill/>
        </p:spPr>
        <p:txBody>
          <a:bodyPr wrap="none" lIns="0" rIns="0" tIns="0" bIns="0">
            <a:spAutoFit/>
          </a:bodyPr>
          <a:lstStyle/>
          <a:p>
            <a:r>
              <a:rPr sz="1150" b="0">
                <a:solidFill>
                  <a:srgbClr val="2E2E2E"/>
                </a:solidFill>
                <a:latin typeface="Calibri"/>
              </a:rPr>
              <a:t>register</a:t>
            </a:r>
          </a:p>
        </p:txBody>
      </p:sp>
      <p:pic>
        <p:nvPicPr>
          <p:cNvPr id="39" name="Picture 38" descr="lock.png"/>
          <p:cNvPicPr>
            <a:picLocks noChangeAspect="1"/>
          </p:cNvPicPr>
          <p:nvPr/>
        </p:nvPicPr>
        <p:blipFill>
          <a:blip r:embed="rId6"/>
          <a:stretch>
            <a:fillRect/>
          </a:stretch>
        </p:blipFill>
        <p:spPr>
          <a:xfrm>
            <a:off x="757699" y="5540184"/>
            <a:ext cx="134549" cy="195707"/>
          </a:xfrm>
          <a:prstGeom prst="rect">
            <a:avLst/>
          </a:prstGeom>
        </p:spPr>
      </p:pic>
      <p:sp>
        <p:nvSpPr>
          <p:cNvPr id="40" name="TextBox 39"/>
          <p:cNvSpPr txBox="1"/>
          <p:nvPr/>
        </p:nvSpPr>
        <p:spPr>
          <a:xfrm>
            <a:off x="932809" y="555040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41" name="TextBox 40"/>
          <p:cNvSpPr txBox="1"/>
          <p:nvPr/>
        </p:nvSpPr>
        <p:spPr>
          <a:xfrm>
            <a:off x="276225" y="5778245"/>
            <a:ext cx="3568563" cy="194310"/>
          </a:xfrm>
          <a:prstGeom prst="rect">
            <a:avLst/>
          </a:prstGeom>
          <a:noFill/>
        </p:spPr>
        <p:txBody>
          <a:bodyPr wrap="none" lIns="0" rIns="0" tIns="0" bIns="0">
            <a:spAutoFit/>
          </a:bodyPr>
          <a:lstStyle/>
          <a:p>
            <a:r>
              <a:rPr sz="1150" b="0">
                <a:solidFill>
                  <a:srgbClr val="2E2E2E"/>
                </a:solidFill>
                <a:latin typeface="Calibri"/>
              </a:rPr>
              <a:t>Global removable partial dentures market volume stood at</a:t>
            </a:r>
          </a:p>
        </p:txBody>
      </p:sp>
      <p:pic>
        <p:nvPicPr>
          <p:cNvPr id="42" name="Picture 41" descr="lock.png"/>
          <p:cNvPicPr>
            <a:picLocks noChangeAspect="1"/>
          </p:cNvPicPr>
          <p:nvPr/>
        </p:nvPicPr>
        <p:blipFill>
          <a:blip r:embed="rId6"/>
          <a:stretch>
            <a:fillRect/>
          </a:stretch>
        </p:blipFill>
        <p:spPr>
          <a:xfrm>
            <a:off x="3793942" y="5768022"/>
            <a:ext cx="134549" cy="195707"/>
          </a:xfrm>
          <a:prstGeom prst="rect">
            <a:avLst/>
          </a:prstGeom>
        </p:spPr>
      </p:pic>
      <p:sp>
        <p:nvSpPr>
          <p:cNvPr id="43" name="TextBox 42"/>
          <p:cNvSpPr txBox="1"/>
          <p:nvPr/>
        </p:nvSpPr>
        <p:spPr>
          <a:xfrm>
            <a:off x="3969051" y="5778245"/>
            <a:ext cx="2343683" cy="194310"/>
          </a:xfrm>
          <a:prstGeom prst="rect">
            <a:avLst/>
          </a:prstGeom>
          <a:noFill/>
        </p:spPr>
        <p:txBody>
          <a:bodyPr wrap="none" lIns="0" rIns="0" tIns="0" bIns="0">
            <a:spAutoFit/>
          </a:bodyPr>
          <a:lstStyle/>
          <a:p>
            <a:r>
              <a:rPr sz="1150" b="0">
                <a:solidFill>
                  <a:srgbClr val="2E2E2E"/>
                </a:solidFill>
                <a:latin typeface="Calibri"/>
              </a:rPr>
              <a:t>Units in 2025 and is expected to reach</a:t>
            </a:r>
          </a:p>
        </p:txBody>
      </p:sp>
      <p:pic>
        <p:nvPicPr>
          <p:cNvPr id="44" name="Picture 43" descr="lock.png"/>
          <p:cNvPicPr>
            <a:picLocks noChangeAspect="1"/>
          </p:cNvPicPr>
          <p:nvPr/>
        </p:nvPicPr>
        <p:blipFill>
          <a:blip r:embed="rId6"/>
          <a:stretch>
            <a:fillRect/>
          </a:stretch>
        </p:blipFill>
        <p:spPr>
          <a:xfrm>
            <a:off x="6261889" y="5768022"/>
            <a:ext cx="134549" cy="195707"/>
          </a:xfrm>
          <a:prstGeom prst="rect">
            <a:avLst/>
          </a:prstGeom>
        </p:spPr>
      </p:pic>
      <p:sp>
        <p:nvSpPr>
          <p:cNvPr id="45" name="TextBox 44"/>
          <p:cNvSpPr txBox="1"/>
          <p:nvPr/>
        </p:nvSpPr>
        <p:spPr>
          <a:xfrm>
            <a:off x="6436998" y="5778245"/>
            <a:ext cx="1964563" cy="194310"/>
          </a:xfrm>
          <a:prstGeom prst="rect">
            <a:avLst/>
          </a:prstGeom>
          <a:noFill/>
        </p:spPr>
        <p:txBody>
          <a:bodyPr wrap="none" lIns="0" rIns="0" tIns="0" bIns="0">
            <a:spAutoFit/>
          </a:bodyPr>
          <a:lstStyle/>
          <a:p>
            <a:r>
              <a:rPr sz="1150" b="0">
                <a:solidFill>
                  <a:srgbClr val="2E2E2E"/>
                </a:solidFill>
                <a:latin typeface="Calibri"/>
              </a:rPr>
              <a:t>Units by 2036 end, at a CAGR of</a:t>
            </a:r>
          </a:p>
        </p:txBody>
      </p:sp>
      <p:pic>
        <p:nvPicPr>
          <p:cNvPr id="46" name="Picture 45" descr="lock.png"/>
          <p:cNvPicPr>
            <a:picLocks noChangeAspect="1"/>
          </p:cNvPicPr>
          <p:nvPr/>
        </p:nvPicPr>
        <p:blipFill>
          <a:blip r:embed="rId6"/>
          <a:stretch>
            <a:fillRect/>
          </a:stretch>
        </p:blipFill>
        <p:spPr>
          <a:xfrm>
            <a:off x="8350715" y="5768022"/>
            <a:ext cx="134549" cy="195707"/>
          </a:xfrm>
          <a:prstGeom prst="rect">
            <a:avLst/>
          </a:prstGeom>
        </p:spPr>
      </p:pic>
      <p:sp>
        <p:nvSpPr>
          <p:cNvPr id="47" name="TextBox 46"/>
          <p:cNvSpPr txBox="1"/>
          <p:nvPr/>
        </p:nvSpPr>
        <p:spPr>
          <a:xfrm>
            <a:off x="8525824" y="5778245"/>
            <a:ext cx="2864271"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a:t>
            </a:r>
          </a:p>
        </p:txBody>
      </p:sp>
      <p:sp>
        <p:nvSpPr>
          <p:cNvPr id="48" name="TextBox 47"/>
          <p:cNvSpPr txBox="1"/>
          <p:nvPr/>
        </p:nvSpPr>
        <p:spPr>
          <a:xfrm>
            <a:off x="276225" y="5953505"/>
            <a:ext cx="4232634" cy="194310"/>
          </a:xfrm>
          <a:prstGeom prst="rect">
            <a:avLst/>
          </a:prstGeom>
          <a:noFill/>
        </p:spPr>
        <p:txBody>
          <a:bodyPr wrap="none" lIns="0" rIns="0" tIns="0" bIns="0">
            <a:spAutoFit/>
          </a:bodyPr>
          <a:lstStyle/>
          <a:p>
            <a:r>
              <a:rPr sz="1150" b="0">
                <a:solidFill>
                  <a:srgbClr val="2E2E2E"/>
                </a:solidFill>
                <a:latin typeface="Calibri"/>
              </a:rPr>
              <a:t>over the forecast period, owing to an increase in average selling price.</a:t>
            </a:r>
          </a:p>
        </p:txBody>
      </p:sp>
      <p:sp>
        <p:nvSpPr>
          <p:cNvPr id="49"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13910"/>
                <a:gridCol w="969873"/>
                <a:gridCol w="661933"/>
                <a:gridCol w="1269060"/>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0" cy="200362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0" y="1293011"/>
            <a:ext cx="1369295" cy="200362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96639"/>
            <a:ext cx="1574528" cy="145951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56153"/>
            <a:ext cx="1574528" cy="112245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84578" y="3296639"/>
            <a:ext cx="1190176" cy="113138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974755" y="3296639"/>
            <a:ext cx="978620" cy="113138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84578" y="4428027"/>
            <a:ext cx="1185271" cy="809390"/>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84578" y="5237417"/>
            <a:ext cx="1185271" cy="641193"/>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69850" y="4428027"/>
            <a:ext cx="983525" cy="759246"/>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69850" y="5187272"/>
            <a:ext cx="983525" cy="691337"/>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47283" y="4512977"/>
            <a:ext cx="332867" cy="484170"/>
          </a:xfrm>
          <a:prstGeom prst="rect">
            <a:avLst/>
          </a:prstGeom>
        </p:spPr>
      </p:pic>
      <p:pic>
        <p:nvPicPr>
          <p:cNvPr id="38" name="Picture 37" descr="lock.png"/>
          <p:cNvPicPr>
            <a:picLocks noChangeAspect="1"/>
          </p:cNvPicPr>
          <p:nvPr/>
        </p:nvPicPr>
        <p:blipFill>
          <a:blip r:embed="rId6"/>
          <a:stretch>
            <a:fillRect/>
          </a:stretch>
        </p:blipFill>
        <p:spPr>
          <a:xfrm>
            <a:off x="5339439" y="2294825"/>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1" y="2294825"/>
            <a:ext cx="115252" cy="167639"/>
          </a:xfrm>
          <a:prstGeom prst="rect">
            <a:avLst/>
          </a:prstGeom>
        </p:spPr>
      </p:pic>
      <p:pic>
        <p:nvPicPr>
          <p:cNvPr id="40" name="Picture 39" descr="lock.png"/>
          <p:cNvPicPr>
            <a:picLocks noChangeAspect="1"/>
          </p:cNvPicPr>
          <p:nvPr/>
        </p:nvPicPr>
        <p:blipFill>
          <a:blip r:embed="rId6"/>
          <a:stretch>
            <a:fillRect/>
          </a:stretch>
        </p:blipFill>
        <p:spPr>
          <a:xfrm>
            <a:off x="4939688" y="4026396"/>
            <a:ext cx="115252" cy="167639"/>
          </a:xfrm>
          <a:prstGeom prst="rect">
            <a:avLst/>
          </a:prstGeom>
        </p:spPr>
      </p:pic>
      <p:pic>
        <p:nvPicPr>
          <p:cNvPr id="41" name="Picture 40" descr="lock.png"/>
          <p:cNvPicPr>
            <a:picLocks noChangeAspect="1"/>
          </p:cNvPicPr>
          <p:nvPr/>
        </p:nvPicPr>
        <p:blipFill>
          <a:blip r:embed="rId6"/>
          <a:stretch>
            <a:fillRect/>
          </a:stretch>
        </p:blipFill>
        <p:spPr>
          <a:xfrm>
            <a:off x="4939688" y="5317381"/>
            <a:ext cx="115252" cy="167639"/>
          </a:xfrm>
          <a:prstGeom prst="rect">
            <a:avLst/>
          </a:prstGeom>
        </p:spPr>
      </p:pic>
      <p:pic>
        <p:nvPicPr>
          <p:cNvPr id="42" name="Picture 41" descr="lock.png"/>
          <p:cNvPicPr>
            <a:picLocks noChangeAspect="1"/>
          </p:cNvPicPr>
          <p:nvPr/>
        </p:nvPicPr>
        <p:blipFill>
          <a:blip r:embed="rId6"/>
          <a:stretch>
            <a:fillRect/>
          </a:stretch>
        </p:blipFill>
        <p:spPr>
          <a:xfrm>
            <a:off x="6322040" y="3862333"/>
            <a:ext cx="115252" cy="167639"/>
          </a:xfrm>
          <a:prstGeom prst="rect">
            <a:avLst/>
          </a:prstGeom>
        </p:spPr>
      </p:pic>
      <p:pic>
        <p:nvPicPr>
          <p:cNvPr id="43" name="Picture 42" descr="lock.png"/>
          <p:cNvPicPr>
            <a:picLocks noChangeAspect="1"/>
          </p:cNvPicPr>
          <p:nvPr/>
        </p:nvPicPr>
        <p:blipFill>
          <a:blip r:embed="rId6"/>
          <a:stretch>
            <a:fillRect/>
          </a:stretch>
        </p:blipFill>
        <p:spPr>
          <a:xfrm>
            <a:off x="7406439" y="3862333"/>
            <a:ext cx="115252" cy="167639"/>
          </a:xfrm>
          <a:prstGeom prst="rect">
            <a:avLst/>
          </a:prstGeom>
        </p:spPr>
      </p:pic>
      <p:pic>
        <p:nvPicPr>
          <p:cNvPr id="44" name="Picture 43" descr="lock.png"/>
          <p:cNvPicPr>
            <a:picLocks noChangeAspect="1"/>
          </p:cNvPicPr>
          <p:nvPr/>
        </p:nvPicPr>
        <p:blipFill>
          <a:blip r:embed="rId6"/>
          <a:stretch>
            <a:fillRect/>
          </a:stretch>
        </p:blipFill>
        <p:spPr>
          <a:xfrm>
            <a:off x="6319587" y="4832722"/>
            <a:ext cx="115252" cy="167639"/>
          </a:xfrm>
          <a:prstGeom prst="rect">
            <a:avLst/>
          </a:prstGeom>
        </p:spPr>
      </p:pic>
      <p:pic>
        <p:nvPicPr>
          <p:cNvPr id="45" name="Picture 44" descr="lock.png"/>
          <p:cNvPicPr>
            <a:picLocks noChangeAspect="1"/>
          </p:cNvPicPr>
          <p:nvPr/>
        </p:nvPicPr>
        <p:blipFill>
          <a:blip r:embed="rId6"/>
          <a:stretch>
            <a:fillRect/>
          </a:stretch>
        </p:blipFill>
        <p:spPr>
          <a:xfrm>
            <a:off x="6319587" y="5558013"/>
            <a:ext cx="115252" cy="167639"/>
          </a:xfrm>
          <a:prstGeom prst="rect">
            <a:avLst/>
          </a:prstGeom>
        </p:spPr>
      </p:pic>
      <p:pic>
        <p:nvPicPr>
          <p:cNvPr id="46" name="Picture 45" descr="lock.png"/>
          <p:cNvPicPr>
            <a:picLocks noChangeAspect="1"/>
          </p:cNvPicPr>
          <p:nvPr/>
        </p:nvPicPr>
        <p:blipFill>
          <a:blip r:embed="rId6"/>
          <a:stretch>
            <a:fillRect/>
          </a:stretch>
        </p:blipFill>
        <p:spPr>
          <a:xfrm>
            <a:off x="7403986" y="4807650"/>
            <a:ext cx="115252" cy="167639"/>
          </a:xfrm>
          <a:prstGeom prst="rect">
            <a:avLst/>
          </a:prstGeom>
        </p:spPr>
      </p:pic>
      <p:pic>
        <p:nvPicPr>
          <p:cNvPr id="47" name="Picture 46" descr="lock.png"/>
          <p:cNvPicPr>
            <a:picLocks noChangeAspect="1"/>
          </p:cNvPicPr>
          <p:nvPr/>
        </p:nvPicPr>
        <p:blipFill>
          <a:blip r:embed="rId6"/>
          <a:stretch>
            <a:fillRect/>
          </a:stretch>
        </p:blipFill>
        <p:spPr>
          <a:xfrm>
            <a:off x="7403986" y="5532940"/>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3881387" cy="186689"/>
          </a:xfrm>
          <a:prstGeom prst="rect">
            <a:avLst/>
          </a:prstGeom>
          <a:noFill/>
        </p:spPr>
        <p:txBody>
          <a:bodyPr wrap="none" lIns="0" rIns="0" tIns="0" bIns="0">
            <a:spAutoFit/>
          </a:bodyPr>
          <a:lstStyle/>
          <a:p>
            <a:r>
              <a:rPr sz="1100" b="0">
                <a:solidFill>
                  <a:srgbClr val="2E2E2E"/>
                </a:solidFill>
                <a:latin typeface="Calibri"/>
              </a:rPr>
              <a:t>The U.S. removable partial dentures market is projected to register</a:t>
            </a:r>
          </a:p>
        </p:txBody>
      </p:sp>
      <p:pic>
        <p:nvPicPr>
          <p:cNvPr id="51" name="Picture 50" descr="lock.png"/>
          <p:cNvPicPr>
            <a:picLocks noChangeAspect="1"/>
          </p:cNvPicPr>
          <p:nvPr/>
        </p:nvPicPr>
        <p:blipFill>
          <a:blip r:embed="rId6"/>
          <a:stretch>
            <a:fillRect/>
          </a:stretch>
        </p:blipFill>
        <p:spPr>
          <a:xfrm>
            <a:off x="4086614" y="6150795"/>
            <a:ext cx="128699" cy="187198"/>
          </a:xfrm>
          <a:prstGeom prst="rect">
            <a:avLst/>
          </a:prstGeom>
        </p:spPr>
      </p:pic>
      <p:sp>
        <p:nvSpPr>
          <p:cNvPr id="52" name="TextBox 51"/>
          <p:cNvSpPr txBox="1"/>
          <p:nvPr/>
        </p:nvSpPr>
        <p:spPr>
          <a:xfrm>
            <a:off x="4254110" y="6160574"/>
            <a:ext cx="4298833" cy="186689"/>
          </a:xfrm>
          <a:prstGeom prst="rect">
            <a:avLst/>
          </a:prstGeom>
          <a:noFill/>
        </p:spPr>
        <p:txBody>
          <a:bodyPr wrap="none" lIns="0" rIns="0" t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8500995" y="6150795"/>
            <a:ext cx="128699" cy="187198"/>
          </a:xfrm>
          <a:prstGeom prst="rect">
            <a:avLst/>
          </a:prstGeom>
        </p:spPr>
      </p:pic>
      <p:sp>
        <p:nvSpPr>
          <p:cNvPr id="54" name="TextBox 53"/>
          <p:cNvSpPr txBox="1"/>
          <p:nvPr/>
        </p:nvSpPr>
        <p:spPr>
          <a:xfrm>
            <a:off x="8668491"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9406522" y="6150795"/>
            <a:ext cx="128699" cy="187198"/>
          </a:xfrm>
          <a:prstGeom prst="rect">
            <a:avLst/>
          </a:prstGeom>
        </p:spPr>
      </p:pic>
      <p:sp>
        <p:nvSpPr>
          <p:cNvPr id="56" name="TextBox 55"/>
          <p:cNvSpPr txBox="1"/>
          <p:nvPr/>
        </p:nvSpPr>
        <p:spPr>
          <a:xfrm>
            <a:off x="9574018" y="6160574"/>
            <a:ext cx="1080020" cy="186689"/>
          </a:xfrm>
          <a:prstGeom prst="rect">
            <a:avLst/>
          </a:prstGeom>
          <a:noFill/>
        </p:spPr>
        <p:txBody>
          <a:bodyPr wrap="none" lIns="0" rIns="0" tIns="0" bIns="0">
            <a:spAutoFit/>
          </a:bodyPr>
          <a:lstStyle/>
          <a:p>
            <a:r>
              <a:rPr sz="1100" b="0">
                <a:solidFill>
                  <a:srgbClr val="2E2E2E"/>
                </a:solidFill>
                <a:latin typeface="Calibri"/>
              </a:rPr>
              <a:t>against the global</a:t>
            </a:r>
          </a:p>
        </p:txBody>
      </p:sp>
      <p:sp>
        <p:nvSpPr>
          <p:cNvPr id="57" name="TextBox 56"/>
          <p:cNvSpPr txBox="1"/>
          <p:nvPr/>
        </p:nvSpPr>
        <p:spPr>
          <a:xfrm>
            <a:off x="257175" y="6328214"/>
            <a:ext cx="3580159" cy="186689"/>
          </a:xfrm>
          <a:prstGeom prst="rect">
            <a:avLst/>
          </a:prstGeom>
          <a:noFill/>
        </p:spPr>
        <p:txBody>
          <a:bodyPr wrap="none" lIns="0" rIns="0" tIns="0" bIns="0">
            <a:spAutoFit/>
          </a:bodyPr>
          <a:lstStyle/>
          <a:p>
            <a:r>
              <a:rPr sz="1100" b="0">
                <a:solidFill>
                  <a:srgbClr val="2E2E2E"/>
                </a:solidFill>
                <a:latin typeface="Calibri"/>
              </a:rPr>
              <a:t>benchmark, while U.S. offers the largest absolute opportunity</a:t>
            </a:r>
          </a:p>
        </p:txBody>
      </p:sp>
      <p:pic>
        <p:nvPicPr>
          <p:cNvPr id="58" name="Picture 57" descr="lock.png"/>
          <p:cNvPicPr>
            <a:picLocks noChangeAspect="1"/>
          </p:cNvPicPr>
          <p:nvPr/>
        </p:nvPicPr>
        <p:blipFill>
          <a:blip r:embed="rId6"/>
          <a:stretch>
            <a:fillRect/>
          </a:stretch>
        </p:blipFill>
        <p:spPr>
          <a:xfrm>
            <a:off x="3785386" y="6318435"/>
            <a:ext cx="128699" cy="187198"/>
          </a:xfrm>
          <a:prstGeom prst="rect">
            <a:avLst/>
          </a:prstGeom>
        </p:spPr>
      </p:pic>
      <p:sp>
        <p:nvSpPr>
          <p:cNvPr id="59" name="TextBox 58"/>
          <p:cNvSpPr txBox="1"/>
          <p:nvPr/>
        </p:nvSpPr>
        <p:spPr>
          <a:xfrm>
            <a:off x="3952882"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7212880" y="6318435"/>
            <a:ext cx="128699" cy="187198"/>
          </a:xfrm>
          <a:prstGeom prst="rect">
            <a:avLst/>
          </a:prstGeom>
        </p:spPr>
      </p:pic>
      <p:sp>
        <p:nvSpPr>
          <p:cNvPr id="61" name="TextBox 60"/>
          <p:cNvSpPr txBox="1"/>
          <p:nvPr/>
        </p:nvSpPr>
        <p:spPr>
          <a:xfrm>
            <a:off x="7380376"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gridCol w="3297581"/>
                <a:gridCol w="3297581"/>
                <a:gridCol w="3297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1" cy="1485896"/>
        </p:xfrm>
        <a:graphic>
          <a:graphicData uri="http://schemas.openxmlformats.org/drawingml/2006/table">
            <a:tbl>
              <a:tblPr>
                <a:tableStyleId>{5C22544A-7EE6-4342-B048-85BDC9FD1C3A}</a:tableStyleId>
              </a:tblPr>
              <a:tblGrid>
                <a:gridCol w="1943458"/>
                <a:gridCol w="3314581"/>
                <a:gridCol w="3314581"/>
                <a:gridCol w="3314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81039" y="3580638"/>
            <a:ext cx="366712" cy="533400"/>
          </a:xfrm>
          <a:prstGeom prst="rect">
            <a:avLst/>
          </a:prstGeom>
        </p:spPr>
      </p:pic>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916573" cy="194310"/>
          </a:xfrm>
          <a:prstGeom prst="rect">
            <a:avLst/>
          </a:prstGeom>
          <a:noFill/>
        </p:spPr>
        <p:txBody>
          <a:bodyPr wrap="none" lIns="0" rIns="0" tIns="0" bIns="0">
            <a:spAutoFit/>
          </a:bodyPr>
          <a:lstStyle/>
          <a:p>
            <a:r>
              <a:rPr sz="1150" b="0">
                <a:solidFill>
                  <a:srgbClr val="2E2E2E"/>
                </a:solidFill>
                <a:latin typeface="Calibri"/>
              </a:rPr>
              <a:t>Global removable partial dentures market is expected to witness</a:t>
            </a:r>
          </a:p>
        </p:txBody>
      </p:sp>
      <p:pic>
        <p:nvPicPr>
          <p:cNvPr id="32" name="Picture 31" descr="lock.png"/>
          <p:cNvPicPr>
            <a:picLocks noChangeAspect="1"/>
          </p:cNvPicPr>
          <p:nvPr/>
        </p:nvPicPr>
        <p:blipFill>
          <a:blip r:embed="rId4"/>
          <a:stretch>
            <a:fillRect/>
          </a:stretch>
        </p:blipFill>
        <p:spPr>
          <a:xfrm>
            <a:off x="4141952" y="1389951"/>
            <a:ext cx="134549" cy="195707"/>
          </a:xfrm>
          <a:prstGeom prst="rect">
            <a:avLst/>
          </a:prstGeom>
        </p:spPr>
      </p:pic>
      <p:sp>
        <p:nvSpPr>
          <p:cNvPr id="33" name="TextBox 32"/>
          <p:cNvSpPr txBox="1"/>
          <p:nvPr/>
        </p:nvSpPr>
        <p:spPr>
          <a:xfrm>
            <a:off x="4317061" y="1400175"/>
            <a:ext cx="7426337" cy="194310"/>
          </a:xfrm>
          <a:prstGeom prst="rect">
            <a:avLst/>
          </a:prstGeom>
          <a:noFill/>
        </p:spPr>
        <p:txBody>
          <a:bodyPr wrap="none" lIns="0" rIns="0" tIns="0" bIns="0">
            <a:spAutoFit/>
          </a:bodyPr>
          <a:lstStyle/>
          <a:p>
            <a:r>
              <a:rPr sz="1150" b="0">
                <a:solidFill>
                  <a:srgbClr val="2E2E2E"/>
                </a:solidFill>
                <a:latin typeface="Calibri"/>
              </a:rPr>
              <a:t>X increase in revenue by 2036 end. Global removable partial dentures market accounted for US$ 1,078 Mn in 2025, which is</a:t>
            </a:r>
          </a:p>
        </p:txBody>
      </p:sp>
      <p:sp>
        <p:nvSpPr>
          <p:cNvPr id="34" name="TextBox 33"/>
          <p:cNvSpPr txBox="1"/>
          <p:nvPr/>
        </p:nvSpPr>
        <p:spPr>
          <a:xfrm>
            <a:off x="276225" y="1575435"/>
            <a:ext cx="3947648" cy="194310"/>
          </a:xfrm>
          <a:prstGeom prst="rect">
            <a:avLst/>
          </a:prstGeom>
          <a:noFill/>
        </p:spPr>
        <p:txBody>
          <a:bodyPr wrap="none" lIns="0" rIns="0" tIns="0" bIns="0">
            <a:spAutoFit/>
          </a:bodyPr>
          <a:lstStyle/>
          <a:p>
            <a:r>
              <a:rPr sz="1150" b="0">
                <a:solidFill>
                  <a:srgbClr val="2E2E2E"/>
                </a:solidFill>
                <a:latin typeface="Calibri"/>
              </a:rPr>
              <a:t>expected to increase to US$ 1,731 Mn in 2036 at a CAGR of 4.4%.</a:t>
            </a:r>
          </a:p>
        </p:txBody>
      </p:sp>
      <p:sp>
        <p:nvSpPr>
          <p:cNvPr id="35" name="TextBox 34"/>
          <p:cNvSpPr txBox="1"/>
          <p:nvPr/>
        </p:nvSpPr>
        <p:spPr>
          <a:xfrm>
            <a:off x="276225" y="1803273"/>
            <a:ext cx="11516307" cy="194310"/>
          </a:xfrm>
          <a:prstGeom prst="rect">
            <a:avLst/>
          </a:prstGeom>
          <a:noFill/>
        </p:spPr>
        <p:txBody>
          <a:bodyPr wrap="none" lIns="0" rIns="0" tIns="0" bIns="0">
            <a:spAutoFit/>
          </a:bodyPr>
          <a:lstStyle/>
          <a:p>
            <a:r>
              <a:rPr sz="1150" b="0">
                <a:solidFill>
                  <a:srgbClr val="2E2E2E"/>
                </a:solidFill>
                <a:latin typeface="Calibri"/>
              </a:rPr>
              <a:t>The global removable partial dentures market has been analysed on the basis of product type, material type, technology and end user across the globe. North America is expected to remain the</a:t>
            </a:r>
          </a:p>
        </p:txBody>
      </p:sp>
      <p:sp>
        <p:nvSpPr>
          <p:cNvPr id="36" name="TextBox 35"/>
          <p:cNvSpPr txBox="1"/>
          <p:nvPr/>
        </p:nvSpPr>
        <p:spPr>
          <a:xfrm>
            <a:off x="276225" y="1978533"/>
            <a:ext cx="7847924" cy="194310"/>
          </a:xfrm>
          <a:prstGeom prst="rect">
            <a:avLst/>
          </a:prstGeom>
          <a:noFill/>
        </p:spPr>
        <p:txBody>
          <a:bodyPr wrap="none" lIns="0" rIns="0" tIns="0" bIns="0">
            <a:spAutoFit/>
          </a:bodyPr>
          <a:lstStyle/>
          <a:p>
            <a:r>
              <a:rPr sz="1150" b="0">
                <a:solidFill>
                  <a:srgbClr val="2E2E2E"/>
                </a:solidFill>
                <a:latin typeface="Calibri"/>
              </a:rPr>
              <a:t>largest market for removable partial dentures, while demand in South Asia &amp; Pacific is projected to increase at the highest CAGR of</a:t>
            </a:r>
          </a:p>
        </p:txBody>
      </p:sp>
      <p:pic>
        <p:nvPicPr>
          <p:cNvPr id="37" name="Picture 36" descr="lock.png"/>
          <p:cNvPicPr>
            <a:picLocks noChangeAspect="1"/>
          </p:cNvPicPr>
          <p:nvPr/>
        </p:nvPicPr>
        <p:blipFill>
          <a:blip r:embed="rId4"/>
          <a:stretch>
            <a:fillRect/>
          </a:stretch>
        </p:blipFill>
        <p:spPr>
          <a:xfrm>
            <a:off x="8073303" y="1968309"/>
            <a:ext cx="134549" cy="195707"/>
          </a:xfrm>
          <a:prstGeom prst="rect">
            <a:avLst/>
          </a:prstGeom>
        </p:spPr>
      </p:pic>
      <p:sp>
        <p:nvSpPr>
          <p:cNvPr id="38" name="TextBox 37"/>
          <p:cNvSpPr txBox="1"/>
          <p:nvPr/>
        </p:nvSpPr>
        <p:spPr>
          <a:xfrm>
            <a:off x="8248413"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39" name="TextBox 38"/>
          <p:cNvSpPr txBox="1"/>
          <p:nvPr/>
        </p:nvSpPr>
        <p:spPr>
          <a:xfrm>
            <a:off x="276225" y="3276600"/>
            <a:ext cx="6401420"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product type category 'Flexible Partial Dentures' holds</a:t>
            </a:r>
          </a:p>
        </p:txBody>
      </p:sp>
      <p:pic>
        <p:nvPicPr>
          <p:cNvPr id="40" name="Picture 39" descr="lock.png"/>
          <p:cNvPicPr>
            <a:picLocks noChangeAspect="1"/>
          </p:cNvPicPr>
          <p:nvPr/>
        </p:nvPicPr>
        <p:blipFill>
          <a:blip r:embed="rId4"/>
          <a:stretch>
            <a:fillRect/>
          </a:stretch>
        </p:blipFill>
        <p:spPr>
          <a:xfrm>
            <a:off x="6626799" y="3266376"/>
            <a:ext cx="134549" cy="195707"/>
          </a:xfrm>
          <a:prstGeom prst="rect">
            <a:avLst/>
          </a:prstGeom>
        </p:spPr>
      </p:pic>
      <p:sp>
        <p:nvSpPr>
          <p:cNvPr id="41" name="TextBox 40"/>
          <p:cNvSpPr txBox="1"/>
          <p:nvPr/>
        </p:nvSpPr>
        <p:spPr>
          <a:xfrm>
            <a:off x="680190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2" name="TextBox 41"/>
          <p:cNvSpPr txBox="1"/>
          <p:nvPr/>
        </p:nvSpPr>
        <p:spPr>
          <a:xfrm>
            <a:off x="276225" y="3504437"/>
            <a:ext cx="4910968" cy="194310"/>
          </a:xfrm>
          <a:prstGeom prst="rect">
            <a:avLst/>
          </a:prstGeom>
          <a:noFill/>
        </p:spPr>
        <p:txBody>
          <a:bodyPr wrap="none" lIns="0" rIns="0" tIns="0" bIns="0">
            <a:spAutoFit/>
          </a:bodyPr>
          <a:lstStyle/>
          <a:p>
            <a:r>
              <a:rPr sz="1150" b="0">
                <a:solidFill>
                  <a:srgbClr val="2E2E2E"/>
                </a:solidFill>
                <a:latin typeface="Calibri"/>
              </a:rPr>
              <a:t>▪ Demand spans 6 regions and 8 segmentation lenses (4 product type categories).</a:t>
            </a:r>
          </a:p>
        </p:txBody>
      </p:sp>
      <p:sp>
        <p:nvSpPr>
          <p:cNvPr id="43" name="TextBox 42"/>
          <p:cNvSpPr txBox="1"/>
          <p:nvPr/>
        </p:nvSpPr>
        <p:spPr>
          <a:xfrm>
            <a:off x="276225" y="373227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44" name="Picture 43" descr="lock.png"/>
          <p:cNvPicPr>
            <a:picLocks noChangeAspect="1"/>
          </p:cNvPicPr>
          <p:nvPr/>
        </p:nvPicPr>
        <p:blipFill>
          <a:blip r:embed="rId4"/>
          <a:stretch>
            <a:fillRect/>
          </a:stretch>
        </p:blipFill>
        <p:spPr>
          <a:xfrm>
            <a:off x="3176367" y="3722052"/>
            <a:ext cx="134549" cy="195707"/>
          </a:xfrm>
          <a:prstGeom prst="rect">
            <a:avLst/>
          </a:prstGeom>
        </p:spPr>
      </p:pic>
      <p:sp>
        <p:nvSpPr>
          <p:cNvPr id="45" name="TextBox 44"/>
          <p:cNvSpPr txBox="1"/>
          <p:nvPr/>
        </p:nvSpPr>
        <p:spPr>
          <a:xfrm>
            <a:off x="3351477"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6" name="TextBox 45"/>
          <p:cNvSpPr txBox="1"/>
          <p:nvPr/>
        </p:nvSpPr>
        <p:spPr>
          <a:xfrm>
            <a:off x="276225" y="5038725"/>
            <a:ext cx="3303847" cy="194310"/>
          </a:xfrm>
          <a:prstGeom prst="rect">
            <a:avLst/>
          </a:prstGeom>
          <a:noFill/>
        </p:spPr>
        <p:txBody>
          <a:bodyPr wrap="none" lIns="0" rIns="0" tIns="0" bIns="0">
            <a:spAutoFit/>
          </a:bodyPr>
          <a:lstStyle/>
          <a:p>
            <a:r>
              <a:rPr sz="1150" b="0">
                <a:solidFill>
                  <a:srgbClr val="2E2E2E"/>
                </a:solidFill>
                <a:latin typeface="Calibri"/>
              </a:rPr>
              <a:t>▪ Accelerating uptake of 'Cast Metal Partial Dentures' (</a:t>
            </a:r>
          </a:p>
        </p:txBody>
      </p:sp>
      <p:pic>
        <p:nvPicPr>
          <p:cNvPr id="47" name="Picture 46" descr="lock.png"/>
          <p:cNvPicPr>
            <a:picLocks noChangeAspect="1"/>
          </p:cNvPicPr>
          <p:nvPr/>
        </p:nvPicPr>
        <p:blipFill>
          <a:blip r:embed="rId4"/>
          <a:stretch>
            <a:fillRect/>
          </a:stretch>
        </p:blipFill>
        <p:spPr>
          <a:xfrm>
            <a:off x="3529226" y="5028501"/>
            <a:ext cx="134549" cy="195707"/>
          </a:xfrm>
          <a:prstGeom prst="rect">
            <a:avLst/>
          </a:prstGeom>
        </p:spPr>
      </p:pic>
      <p:sp>
        <p:nvSpPr>
          <p:cNvPr id="48" name="TextBox 47"/>
          <p:cNvSpPr txBox="1"/>
          <p:nvPr/>
        </p:nvSpPr>
        <p:spPr>
          <a:xfrm>
            <a:off x="276225" y="52139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276225" y="5441822"/>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0" name="Picture 49" descr="lock.png"/>
          <p:cNvPicPr>
            <a:picLocks noChangeAspect="1"/>
          </p:cNvPicPr>
          <p:nvPr/>
        </p:nvPicPr>
        <p:blipFill>
          <a:blip r:embed="rId4"/>
          <a:stretch>
            <a:fillRect/>
          </a:stretch>
        </p:blipFill>
        <p:spPr>
          <a:xfrm>
            <a:off x="3102424" y="5431599"/>
            <a:ext cx="134549" cy="195707"/>
          </a:xfrm>
          <a:prstGeom prst="rect">
            <a:avLst/>
          </a:prstGeom>
        </p:spPr>
      </p:pic>
      <p:sp>
        <p:nvSpPr>
          <p:cNvPr id="51" name="TextBox 50"/>
          <p:cNvSpPr txBox="1"/>
          <p:nvPr/>
        </p:nvSpPr>
        <p:spPr>
          <a:xfrm>
            <a:off x="3277533" y="54418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5669660"/>
            <a:ext cx="3052824" cy="194310"/>
          </a:xfrm>
          <a:prstGeom prst="rect">
            <a:avLst/>
          </a:prstGeom>
          <a:noFill/>
        </p:spPr>
        <p:txBody>
          <a:bodyPr wrap="none" lIns="0" rIns="0" tIns="0" bIns="0">
            <a:spAutoFit/>
          </a:bodyPr>
          <a:lstStyle/>
          <a:p>
            <a:r>
              <a:rPr sz="1150" b="0">
                <a:solidFill>
                  <a:srgbClr val="2E2E2E"/>
                </a:solidFill>
                <a:latin typeface="Calibri"/>
              </a:rPr>
              <a:t>▪ Momentum in Dental Hospitals within end user (</a:t>
            </a:r>
          </a:p>
        </p:txBody>
      </p:sp>
      <p:pic>
        <p:nvPicPr>
          <p:cNvPr id="53" name="Picture 52" descr="lock.png"/>
          <p:cNvPicPr>
            <a:picLocks noChangeAspect="1"/>
          </p:cNvPicPr>
          <p:nvPr/>
        </p:nvPicPr>
        <p:blipFill>
          <a:blip r:embed="rId4"/>
          <a:stretch>
            <a:fillRect/>
          </a:stretch>
        </p:blipFill>
        <p:spPr>
          <a:xfrm>
            <a:off x="3278203" y="5659437"/>
            <a:ext cx="134549" cy="195707"/>
          </a:xfrm>
          <a:prstGeom prst="rect">
            <a:avLst/>
          </a:prstGeom>
        </p:spPr>
      </p:pic>
      <p:sp>
        <p:nvSpPr>
          <p:cNvPr id="54" name="TextBox 53"/>
          <p:cNvSpPr txBox="1"/>
          <p:nvPr/>
        </p:nvSpPr>
        <p:spPr>
          <a:xfrm>
            <a:off x="3453312" y="56696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4371975" y="5038725"/>
            <a:ext cx="3069083" cy="194310"/>
          </a:xfrm>
          <a:prstGeom prst="rect">
            <a:avLst/>
          </a:prstGeom>
          <a:noFill/>
        </p:spPr>
        <p:txBody>
          <a:bodyPr wrap="none" lIns="0" rIns="0" tIns="0" bIns="0">
            <a:spAutoFit/>
          </a:bodyPr>
          <a:lstStyle/>
          <a:p>
            <a:r>
              <a:rPr sz="1150" b="0">
                <a:solidFill>
                  <a:srgbClr val="2E2E2E"/>
                </a:solidFill>
                <a:latin typeface="Calibri"/>
              </a:rPr>
              <a:t>▪ Slower momentum in 'Flexible Partial Dentures' (</a:t>
            </a:r>
          </a:p>
        </p:txBody>
      </p:sp>
      <p:pic>
        <p:nvPicPr>
          <p:cNvPr id="56" name="Picture 55" descr="lock.png"/>
          <p:cNvPicPr>
            <a:picLocks noChangeAspect="1"/>
          </p:cNvPicPr>
          <p:nvPr/>
        </p:nvPicPr>
        <p:blipFill>
          <a:blip r:embed="rId4"/>
          <a:stretch>
            <a:fillRect/>
          </a:stretch>
        </p:blipFill>
        <p:spPr>
          <a:xfrm>
            <a:off x="7390212" y="5028501"/>
            <a:ext cx="134549" cy="195707"/>
          </a:xfrm>
          <a:prstGeom prst="rect">
            <a:avLst/>
          </a:prstGeom>
        </p:spPr>
      </p:pic>
      <p:sp>
        <p:nvSpPr>
          <p:cNvPr id="57" name="TextBox 56"/>
          <p:cNvSpPr txBox="1"/>
          <p:nvPr/>
        </p:nvSpPr>
        <p:spPr>
          <a:xfrm>
            <a:off x="7565322"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59" name="TextBox 58"/>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0" name="Picture 59" descr="lock.png"/>
          <p:cNvPicPr>
            <a:picLocks noChangeAspect="1"/>
          </p:cNvPicPr>
          <p:nvPr/>
        </p:nvPicPr>
        <p:blipFill>
          <a:blip r:embed="rId4"/>
          <a:stretch>
            <a:fillRect/>
          </a:stretch>
        </p:blipFill>
        <p:spPr>
          <a:xfrm>
            <a:off x="4883401" y="5431599"/>
            <a:ext cx="134549" cy="195707"/>
          </a:xfrm>
          <a:prstGeom prst="rect">
            <a:avLst/>
          </a:prstGeom>
        </p:spPr>
      </p:pic>
      <p:sp>
        <p:nvSpPr>
          <p:cNvPr id="61" name="TextBox 60"/>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2" name="TextBox 61"/>
          <p:cNvSpPr txBox="1"/>
          <p:nvPr/>
        </p:nvSpPr>
        <p:spPr>
          <a:xfrm>
            <a:off x="4371975" y="5669660"/>
            <a:ext cx="3427648" cy="194310"/>
          </a:xfrm>
          <a:prstGeom prst="rect">
            <a:avLst/>
          </a:prstGeom>
          <a:noFill/>
        </p:spPr>
        <p:txBody>
          <a:bodyPr wrap="none" lIns="0" rIns="0" tIns="0" bIns="0">
            <a:spAutoFit/>
          </a:bodyPr>
          <a:lstStyle/>
          <a:p>
            <a:r>
              <a:rPr sz="1150" b="0">
                <a:solidFill>
                  <a:srgbClr val="2E2E2E"/>
                </a:solidFill>
                <a:latin typeface="Calibri"/>
              </a:rPr>
              <a:t>▪ Value concentration in 'Flexible Partial Dentures' raises</a:t>
            </a:r>
          </a:p>
        </p:txBody>
      </p:sp>
      <p:sp>
        <p:nvSpPr>
          <p:cNvPr id="63" name="TextBox 62"/>
          <p:cNvSpPr txBox="1"/>
          <p:nvPr/>
        </p:nvSpPr>
        <p:spPr>
          <a:xfrm>
            <a:off x="4371975" y="584492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'Cast Metal Partial Dentures'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2430363" cy="186689"/>
          </a:xfrm>
          <a:prstGeom prst="rect">
            <a:avLst/>
          </a:prstGeom>
          <a:noFill/>
        </p:spPr>
        <p:txBody>
          <a:bodyPr wrap="none" lIns="0" rIns="0" tIns="0" bIns="0">
            <a:spAutoFit/>
          </a:bodyPr>
          <a:lstStyle/>
          <a:p>
            <a:r>
              <a:rPr sz="1100" b="0">
                <a:solidFill>
                  <a:srgbClr val="2E2E2E"/>
                </a:solidFill>
                <a:latin typeface="Calibri"/>
              </a:rPr>
              <a:t>▪ Lead category 'Flexible Partial Dentures'</a:t>
            </a:r>
          </a:p>
        </p:txBody>
      </p:sp>
      <p:pic>
        <p:nvPicPr>
          <p:cNvPr id="41" name="Picture 40" descr="lock.png"/>
          <p:cNvPicPr>
            <a:picLocks noChangeAspect="1"/>
          </p:cNvPicPr>
          <p:nvPr/>
        </p:nvPicPr>
        <p:blipFill>
          <a:blip r:embed="rId5"/>
          <a:stretch>
            <a:fillRect/>
          </a:stretch>
        </p:blipFill>
        <p:spPr>
          <a:xfrm>
            <a:off x="8683964" y="1826260"/>
            <a:ext cx="128699" cy="187198"/>
          </a:xfrm>
          <a:prstGeom prst="rect">
            <a:avLst/>
          </a:prstGeom>
        </p:spPr>
      </p:pic>
      <p:sp>
        <p:nvSpPr>
          <p:cNvPr id="42" name="TextBox 41"/>
          <p:cNvSpPr txBox="1"/>
          <p:nvPr/>
        </p:nvSpPr>
        <p:spPr>
          <a:xfrm>
            <a:off x="8851460"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686297" cy="186689"/>
          </a:xfrm>
          <a:prstGeom prst="rect">
            <a:avLst/>
          </a:prstGeom>
          <a:noFill/>
        </p:spPr>
        <p:txBody>
          <a:bodyPr wrap="none" lIns="0" rIns="0" tIns="0" bIns="0">
            <a:spAutoFit/>
          </a:bodyPr>
          <a:lstStyle/>
          <a:p>
            <a:r>
              <a:rPr sz="1100" b="0">
                <a:solidFill>
                  <a:srgbClr val="2E2E2E"/>
                </a:solidFill>
                <a:latin typeface="Calibri"/>
              </a:rPr>
              <a:t>▪ Lead region North America</a:t>
            </a:r>
          </a:p>
        </p:txBody>
      </p:sp>
      <p:pic>
        <p:nvPicPr>
          <p:cNvPr id="44" name="Picture 43" descr="lock.png"/>
          <p:cNvPicPr>
            <a:picLocks noChangeAspect="1"/>
          </p:cNvPicPr>
          <p:nvPr/>
        </p:nvPicPr>
        <p:blipFill>
          <a:blip r:embed="rId5"/>
          <a:stretch>
            <a:fillRect/>
          </a:stretch>
        </p:blipFill>
        <p:spPr>
          <a:xfrm>
            <a:off x="7939898" y="2044192"/>
            <a:ext cx="128699" cy="187198"/>
          </a:xfrm>
          <a:prstGeom prst="rect">
            <a:avLst/>
          </a:prstGeom>
        </p:spPr>
      </p:pic>
      <p:sp>
        <p:nvSpPr>
          <p:cNvPr id="45" name="TextBox 44"/>
          <p:cNvSpPr txBox="1"/>
          <p:nvPr/>
        </p:nvSpPr>
        <p:spPr>
          <a:xfrm>
            <a:off x="8107394"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907582" cy="186689"/>
          </a:xfrm>
          <a:prstGeom prst="rect">
            <a:avLst/>
          </a:prstGeom>
          <a:noFill/>
        </p:spPr>
        <p:txBody>
          <a:bodyPr wrap="none" lIns="0" rIns="0" tIns="0" bIns="0">
            <a:spAutoFit/>
          </a:bodyPr>
          <a:lstStyle/>
          <a:p>
            <a:r>
              <a:rPr sz="1100" b="0">
                <a:solidFill>
                  <a:srgbClr val="2E2E2E"/>
                </a:solidFill>
                <a:latin typeface="Calibri"/>
              </a:rPr>
              <a:t>▪ Investment is flowing toward the fastest-growing tier 'Cast Metal Partial Dentures' (</a:t>
            </a:r>
          </a:p>
        </p:txBody>
      </p:sp>
      <p:pic>
        <p:nvPicPr>
          <p:cNvPr id="50" name="Picture 49" descr="lock.png"/>
          <p:cNvPicPr>
            <a:picLocks noChangeAspect="1"/>
          </p:cNvPicPr>
          <p:nvPr/>
        </p:nvPicPr>
        <p:blipFill>
          <a:blip r:embed="rId5"/>
          <a:stretch>
            <a:fillRect/>
          </a:stretch>
        </p:blipFill>
        <p:spPr>
          <a:xfrm>
            <a:off x="5131859" y="3304921"/>
            <a:ext cx="128699" cy="187198"/>
          </a:xfrm>
          <a:prstGeom prst="rect">
            <a:avLst/>
          </a:prstGeom>
        </p:spPr>
      </p:pic>
      <p:sp>
        <p:nvSpPr>
          <p:cNvPr id="51" name="TextBox 50"/>
          <p:cNvSpPr txBox="1"/>
          <p:nvPr/>
        </p:nvSpPr>
        <p:spPr>
          <a:xfrm>
            <a:off x="5299355" y="33147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52" name="TextBox 51"/>
          <p:cNvSpPr txBox="1"/>
          <p:nvPr/>
        </p:nvSpPr>
        <p:spPr>
          <a:xfrm>
            <a:off x="276225" y="3532632"/>
            <a:ext cx="1351781" cy="186689"/>
          </a:xfrm>
          <a:prstGeom prst="rect">
            <a:avLst/>
          </a:prstGeom>
          <a:noFill/>
        </p:spPr>
        <p:txBody>
          <a:bodyPr wrap="none" lIns="0" rIns="0" tIns="0" bIns="0">
            <a:spAutoFit/>
          </a:bodyPr>
          <a:lstStyle/>
          <a:p>
            <a:r>
              <a:rPr sz="1100" b="0">
                <a:solidFill>
                  <a:srgbClr val="2E2E2E"/>
                </a:solidFill>
                <a:latin typeface="Calibri"/>
              </a:rPr>
              <a:t>▪ South Asia &amp; Pacific (</a:t>
            </a:r>
          </a:p>
        </p:txBody>
      </p:sp>
      <p:pic>
        <p:nvPicPr>
          <p:cNvPr id="53" name="Picture 52" descr="lock.png"/>
          <p:cNvPicPr>
            <a:picLocks noChangeAspect="1"/>
          </p:cNvPicPr>
          <p:nvPr/>
        </p:nvPicPr>
        <p:blipFill>
          <a:blip r:embed="rId5"/>
          <a:stretch>
            <a:fillRect/>
          </a:stretch>
        </p:blipFill>
        <p:spPr>
          <a:xfrm>
            <a:off x="1576057" y="3522853"/>
            <a:ext cx="128699" cy="187198"/>
          </a:xfrm>
          <a:prstGeom prst="rect">
            <a:avLst/>
          </a:prstGeom>
        </p:spPr>
      </p:pic>
      <p:sp>
        <p:nvSpPr>
          <p:cNvPr id="54" name="TextBox 53"/>
          <p:cNvSpPr txBox="1"/>
          <p:nvPr/>
        </p:nvSpPr>
        <p:spPr>
          <a:xfrm>
            <a:off x="1743553" y="3532632"/>
            <a:ext cx="2187525" cy="186689"/>
          </a:xfrm>
          <a:prstGeom prst="rect">
            <a:avLst/>
          </a:prstGeom>
          <a:noFill/>
        </p:spPr>
        <p:txBody>
          <a:bodyPr wrap="none" lIns="0" rIns="0" tIns="0" bIns="0">
            <a:spAutoFit/>
          </a:bodyPr>
          <a:lstStyle/>
          <a:p>
            <a:r>
              <a:rPr sz="1100" b="0">
                <a:solidFill>
                  <a:srgbClr val="2E2E2E"/>
                </a:solidFill>
                <a:latin typeface="Calibri"/>
              </a:rPr>
              <a:t>) is a priority region for new capacity.</a:t>
            </a:r>
          </a:p>
        </p:txBody>
      </p:sp>
      <p:sp>
        <p:nvSpPr>
          <p:cNvPr id="55" name="TextBox 54"/>
          <p:cNvSpPr txBox="1"/>
          <p:nvPr/>
        </p:nvSpPr>
        <p:spPr>
          <a:xfrm>
            <a:off x="276225" y="3750564"/>
            <a:ext cx="3310582" cy="186689"/>
          </a:xfrm>
          <a:prstGeom prst="rect">
            <a:avLst/>
          </a:prstGeom>
          <a:noFill/>
        </p:spPr>
        <p:txBody>
          <a:bodyPr wrap="none" lIns="0" rIns="0" tIns="0" bIns="0">
            <a:spAutoFit/>
          </a:bodyPr>
          <a:lstStyle/>
          <a:p>
            <a:r>
              <a:rPr sz="1100" b="0">
                <a:solidFill>
                  <a:srgbClr val="2E2E2E"/>
                </a:solidFill>
                <a:latin typeface="Calibri"/>
              </a:rPr>
              <a:t>▪ Scale players anchor around 'Flexible Partial Dentures' (</a:t>
            </a:r>
          </a:p>
        </p:txBody>
      </p:sp>
      <p:pic>
        <p:nvPicPr>
          <p:cNvPr id="56" name="Picture 55" descr="lock.png"/>
          <p:cNvPicPr>
            <a:picLocks noChangeAspect="1"/>
          </p:cNvPicPr>
          <p:nvPr/>
        </p:nvPicPr>
        <p:blipFill>
          <a:blip r:embed="rId5"/>
          <a:stretch>
            <a:fillRect/>
          </a:stretch>
        </p:blipFill>
        <p:spPr>
          <a:xfrm>
            <a:off x="3534859" y="3740785"/>
            <a:ext cx="128699" cy="187198"/>
          </a:xfrm>
          <a:prstGeom prst="rect">
            <a:avLst/>
          </a:prstGeom>
        </p:spPr>
      </p:pic>
      <p:sp>
        <p:nvSpPr>
          <p:cNvPr id="57" name="TextBox 56"/>
          <p:cNvSpPr txBox="1"/>
          <p:nvPr/>
        </p:nvSpPr>
        <p:spPr>
          <a:xfrm>
            <a:off x="3702354" y="3750564"/>
            <a:ext cx="466923"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8" name="TextBox 57"/>
          <p:cNvSpPr txBox="1"/>
          <p:nvPr/>
        </p:nvSpPr>
        <p:spPr>
          <a:xfrm>
            <a:off x="6305550" y="3314700"/>
            <a:ext cx="5304308" cy="186689"/>
          </a:xfrm>
          <a:prstGeom prst="rect">
            <a:avLst/>
          </a:prstGeom>
          <a:noFill/>
        </p:spPr>
        <p:txBody>
          <a:bodyPr wrap="none" lIns="0" rIns="0" tIns="0" bIns="0">
            <a:spAutoFit/>
          </a:bodyPr>
          <a:lstStyle/>
          <a:p>
            <a:r>
              <a:rPr sz="1100" b="0">
                <a:solidFill>
                  <a:srgbClr val="2E2E2E"/>
                </a:solidFill>
                <a:latin typeface="Calibri"/>
              </a:rPr>
              <a:t>▪ R&amp;D aligns with the migration to 'Cast Metal Partial Dentures' and adjacent premium tiers.</a:t>
            </a:r>
          </a:p>
        </p:txBody>
      </p:sp>
      <p:sp>
        <p:nvSpPr>
          <p:cNvPr id="59" name="TextBox 58"/>
          <p:cNvSpPr txBox="1"/>
          <p:nvPr/>
        </p:nvSpPr>
        <p:spPr>
          <a:xfrm>
            <a:off x="6305550" y="3532632"/>
            <a:ext cx="4406354" cy="186689"/>
          </a:xfrm>
          <a:prstGeom prst="rect">
            <a:avLst/>
          </a:prstGeom>
          <a:noFill/>
        </p:spPr>
        <p:txBody>
          <a:bodyPr wrap="none" lIns="0" rIns="0" tIns="0" bIns="0">
            <a:spAutoFit/>
          </a:bodyPr>
          <a:lstStyle/>
          <a:p>
            <a:r>
              <a:rPr sz="1100" b="0">
                <a:solidFill>
                  <a:srgbClr val="2E2E2E"/>
                </a:solidFill>
                <a:latin typeface="Calibri"/>
              </a:rPr>
              <a:t>▪ Development spend targets product type categories gaining share to 2036.</a:t>
            </a:r>
          </a:p>
        </p:txBody>
      </p:sp>
      <p:sp>
        <p:nvSpPr>
          <p:cNvPr id="60" name="TextBox 59"/>
          <p:cNvSpPr txBox="1"/>
          <p:nvPr/>
        </p:nvSpPr>
        <p:spPr>
          <a:xfrm>
            <a:off x="6305550" y="3750564"/>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tier and Dental Hospitals within end user.</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05350" cy="194310"/>
          </a:xfrm>
          <a:prstGeom prst="rect">
            <a:avLst/>
          </a:prstGeom>
          <a:noFill/>
        </p:spPr>
        <p:txBody>
          <a:bodyPr wrap="none" lIns="0" rIns="0" tIns="0" bIns="0">
            <a:spAutoFit/>
          </a:bodyPr>
          <a:lstStyle/>
          <a:p>
            <a:r>
              <a:rPr sz="1150" b="0">
                <a:solidFill>
                  <a:srgbClr val="2E2E2E"/>
                </a:solidFill>
                <a:latin typeface="Calibri"/>
              </a:rPr>
              <a:t>▪ Balance scale in 'Flexible Partial Dentures' with targeted growth in 'Cast Metal Partial</a:t>
            </a:r>
          </a:p>
        </p:txBody>
      </p:sp>
      <p:sp>
        <p:nvSpPr>
          <p:cNvPr id="32" name="TextBox 31"/>
          <p:cNvSpPr txBox="1"/>
          <p:nvPr/>
        </p:nvSpPr>
        <p:spPr>
          <a:xfrm>
            <a:off x="276225" y="1575435"/>
            <a:ext cx="1473088" cy="194310"/>
          </a:xfrm>
          <a:prstGeom prst="rect">
            <a:avLst/>
          </a:prstGeom>
          <a:noFill/>
        </p:spPr>
        <p:txBody>
          <a:bodyPr wrap="none" lIns="0" rIns="0" tIns="0" bIns="0">
            <a:spAutoFit/>
          </a:bodyPr>
          <a:lstStyle/>
          <a:p>
            <a:r>
              <a:rPr sz="1150" b="0">
                <a:solidFill>
                  <a:srgbClr val="2E2E2E"/>
                </a:solidFill>
                <a:latin typeface="Calibri"/>
              </a:rPr>
              <a:t>Dentures', pursuing the</a:t>
            </a:r>
          </a:p>
        </p:txBody>
      </p:sp>
      <p:pic>
        <p:nvPicPr>
          <p:cNvPr id="33" name="Picture 32" descr="lock.png"/>
          <p:cNvPicPr>
            <a:picLocks noChangeAspect="1"/>
          </p:cNvPicPr>
          <p:nvPr/>
        </p:nvPicPr>
        <p:blipFill>
          <a:blip r:embed="rId4"/>
          <a:stretch>
            <a:fillRect/>
          </a:stretch>
        </p:blipFill>
        <p:spPr>
          <a:xfrm>
            <a:off x="1698467" y="1565211"/>
            <a:ext cx="134549" cy="195707"/>
          </a:xfrm>
          <a:prstGeom prst="rect">
            <a:avLst/>
          </a:prstGeom>
        </p:spPr>
      </p:pic>
      <p:sp>
        <p:nvSpPr>
          <p:cNvPr id="34" name="TextBox 33"/>
          <p:cNvSpPr txBox="1"/>
          <p:nvPr/>
        </p:nvSpPr>
        <p:spPr>
          <a:xfrm>
            <a:off x="1873576"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502569" cy="194310"/>
          </a:xfrm>
          <a:prstGeom prst="rect">
            <a:avLst/>
          </a:prstGeom>
          <a:noFill/>
        </p:spPr>
        <p:txBody>
          <a:bodyPr wrap="none" lIns="0" rIns="0" tIns="0" bIns="0">
            <a:spAutoFit/>
          </a:bodyPr>
          <a:lstStyle/>
          <a:p>
            <a:r>
              <a:rPr sz="1150" b="0">
                <a:solidFill>
                  <a:srgbClr val="2E2E2E"/>
                </a:solidFill>
                <a:latin typeface="Calibri"/>
              </a:rPr>
              <a:t>▪ Prioritise 'Cast Metal Partial Dentures' (</a:t>
            </a:r>
          </a:p>
        </p:txBody>
      </p:sp>
      <p:pic>
        <p:nvPicPr>
          <p:cNvPr id="36" name="Picture 35" descr="lock.png"/>
          <p:cNvPicPr>
            <a:picLocks noChangeAspect="1"/>
          </p:cNvPicPr>
          <p:nvPr/>
        </p:nvPicPr>
        <p:blipFill>
          <a:blip r:embed="rId4"/>
          <a:stretch>
            <a:fillRect/>
          </a:stretch>
        </p:blipFill>
        <p:spPr>
          <a:xfrm>
            <a:off x="2727948" y="3209226"/>
            <a:ext cx="134549" cy="195707"/>
          </a:xfrm>
          <a:prstGeom prst="rect">
            <a:avLst/>
          </a:prstGeom>
        </p:spPr>
      </p:pic>
      <p:sp>
        <p:nvSpPr>
          <p:cNvPr id="37" name="TextBox 36"/>
          <p:cNvSpPr txBox="1"/>
          <p:nvPr/>
        </p:nvSpPr>
        <p:spPr>
          <a:xfrm>
            <a:off x="2903057" y="3219450"/>
            <a:ext cx="2209043" cy="194310"/>
          </a:xfrm>
          <a:prstGeom prst="rect">
            <a:avLst/>
          </a:prstGeom>
          <a:noFill/>
        </p:spPr>
        <p:txBody>
          <a:bodyPr wrap="none" lIns="0" rIns="0" tIns="0" bIns="0">
            <a:spAutoFit/>
          </a:bodyPr>
          <a:lstStyle/>
          <a:p>
            <a:r>
              <a:rPr sz="1150" b="0">
                <a:solidFill>
                  <a:srgbClr val="2E2E2E"/>
                </a:solidFill>
                <a:latin typeface="Calibri"/>
              </a:rPr>
              <a:t>); 'Flexible Partial Dentures' anchors</a:t>
            </a:r>
          </a:p>
        </p:txBody>
      </p:sp>
      <p:pic>
        <p:nvPicPr>
          <p:cNvPr id="38" name="Picture 37" descr="lock.png"/>
          <p:cNvPicPr>
            <a:picLocks noChangeAspect="1"/>
          </p:cNvPicPr>
          <p:nvPr/>
        </p:nvPicPr>
        <p:blipFill>
          <a:blip r:embed="rId4"/>
          <a:stretch>
            <a:fillRect/>
          </a:stretch>
        </p:blipFill>
        <p:spPr>
          <a:xfrm>
            <a:off x="5061255" y="3209226"/>
            <a:ext cx="134549" cy="195707"/>
          </a:xfrm>
          <a:prstGeom prst="rect">
            <a:avLst/>
          </a:prstGeom>
        </p:spPr>
      </p:pic>
      <p:sp>
        <p:nvSpPr>
          <p:cNvPr id="39" name="TextBox 38"/>
          <p:cNvSpPr txBox="1"/>
          <p:nvPr/>
        </p:nvSpPr>
        <p:spPr>
          <a:xfrm>
            <a:off x="5236364" y="3219450"/>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rIns="0" tIns="0" bIns="0">
            <a:spAutoFit/>
          </a:bodyPr>
          <a:lstStyle/>
          <a:p>
            <a:r>
              <a:rPr sz="1150" b="0">
                <a:solidFill>
                  <a:srgbClr val="2E2E2E"/>
                </a:solidFill>
                <a:latin typeface="Calibri"/>
              </a:rPr>
              <a:t>value.</a:t>
            </a:r>
          </a:p>
        </p:txBody>
      </p:sp>
      <p:sp>
        <p:nvSpPr>
          <p:cNvPr id="41" name="TextBox 40"/>
          <p:cNvSpPr txBox="1"/>
          <p:nvPr/>
        </p:nvSpPr>
        <p:spPr>
          <a:xfrm>
            <a:off x="6305550" y="3219450"/>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2" name="Picture 41" descr="lock.png"/>
          <p:cNvPicPr>
            <a:picLocks noChangeAspect="1"/>
          </p:cNvPicPr>
          <p:nvPr/>
        </p:nvPicPr>
        <p:blipFill>
          <a:blip r:embed="rId4"/>
          <a:stretch>
            <a:fillRect/>
          </a:stretch>
        </p:blipFill>
        <p:spPr>
          <a:xfrm>
            <a:off x="7975392" y="3209226"/>
            <a:ext cx="134549" cy="195707"/>
          </a:xfrm>
          <a:prstGeom prst="rect">
            <a:avLst/>
          </a:prstGeom>
        </p:spPr>
      </p:pic>
      <p:sp>
        <p:nvSpPr>
          <p:cNvPr id="43" name="TextBox 42"/>
          <p:cNvSpPr txBox="1"/>
          <p:nvPr/>
        </p:nvSpPr>
        <p:spPr>
          <a:xfrm>
            <a:off x="8150501" y="3219450"/>
            <a:ext cx="2502854" cy="194310"/>
          </a:xfrm>
          <a:prstGeom prst="rect">
            <a:avLst/>
          </a:prstGeom>
          <a:noFill/>
        </p:spPr>
        <p:txBody>
          <a:bodyPr wrap="none" lIns="0" rIns="0" tIns="0" bIns="0">
            <a:spAutoFit/>
          </a:bodyPr>
          <a:lstStyle/>
          <a:p>
            <a:r>
              <a:rPr sz="1150" b="0">
                <a:solidFill>
                  <a:srgbClr val="2E2E2E"/>
                </a:solidFill>
                <a:latin typeface="Calibri"/>
              </a:rPr>
              <a:t>); capture upside in South Asia &amp; Pacific (</a:t>
            </a:r>
          </a:p>
        </p:txBody>
      </p:sp>
      <p:pic>
        <p:nvPicPr>
          <p:cNvPr id="44" name="Picture 43" descr="lock.png"/>
          <p:cNvPicPr>
            <a:picLocks noChangeAspect="1"/>
          </p:cNvPicPr>
          <p:nvPr/>
        </p:nvPicPr>
        <p:blipFill>
          <a:blip r:embed="rId4"/>
          <a:stretch>
            <a:fillRect/>
          </a:stretch>
        </p:blipFill>
        <p:spPr>
          <a:xfrm>
            <a:off x="10602510" y="3209226"/>
            <a:ext cx="134549" cy="195707"/>
          </a:xfrm>
          <a:prstGeom prst="rect">
            <a:avLst/>
          </a:prstGeom>
        </p:spPr>
      </p:pic>
      <p:sp>
        <p:nvSpPr>
          <p:cNvPr id="45" name="TextBox 44"/>
          <p:cNvSpPr txBox="1"/>
          <p:nvPr/>
        </p:nvSpPr>
        <p:spPr>
          <a:xfrm>
            <a:off x="10777620" y="321945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038725"/>
            <a:ext cx="2134021" cy="194310"/>
          </a:xfrm>
          <a:prstGeom prst="rect">
            <a:avLst/>
          </a:prstGeom>
          <a:noFill/>
        </p:spPr>
        <p:txBody>
          <a:bodyPr wrap="none" lIns="0" rIns="0" tIns="0" bIns="0">
            <a:spAutoFit/>
          </a:bodyPr>
          <a:lstStyle/>
          <a:p>
            <a:r>
              <a:rPr sz="1150" b="0">
                <a:solidFill>
                  <a:srgbClr val="2E2E2E"/>
                </a:solidFill>
                <a:latin typeface="Calibri"/>
              </a:rPr>
              <a:t>▪ Removable Partial Dentures adds</a:t>
            </a:r>
          </a:p>
        </p:txBody>
      </p:sp>
      <p:pic>
        <p:nvPicPr>
          <p:cNvPr id="47" name="Picture 46" descr="lock.png"/>
          <p:cNvPicPr>
            <a:picLocks noChangeAspect="1"/>
          </p:cNvPicPr>
          <p:nvPr/>
        </p:nvPicPr>
        <p:blipFill>
          <a:blip r:embed="rId4"/>
          <a:stretch>
            <a:fillRect/>
          </a:stretch>
        </p:blipFill>
        <p:spPr>
          <a:xfrm>
            <a:off x="2359400" y="5028501"/>
            <a:ext cx="134549" cy="195707"/>
          </a:xfrm>
          <a:prstGeom prst="rect">
            <a:avLst/>
          </a:prstGeom>
        </p:spPr>
      </p:pic>
      <p:sp>
        <p:nvSpPr>
          <p:cNvPr id="48" name="TextBox 47"/>
          <p:cNvSpPr txBox="1"/>
          <p:nvPr/>
        </p:nvSpPr>
        <p:spPr>
          <a:xfrm>
            <a:off x="2534509" y="5038725"/>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4298771" y="5028501"/>
            <a:ext cx="134549" cy="195707"/>
          </a:xfrm>
          <a:prstGeom prst="rect">
            <a:avLst/>
          </a:prstGeom>
        </p:spPr>
      </p:pic>
      <p:sp>
        <p:nvSpPr>
          <p:cNvPr id="50" name="TextBox 49"/>
          <p:cNvSpPr txBox="1"/>
          <p:nvPr/>
        </p:nvSpPr>
        <p:spPr>
          <a:xfrm>
            <a:off x="4473880" y="5038725"/>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51" name="TextBox 50"/>
          <p:cNvSpPr txBox="1"/>
          <p:nvPr/>
        </p:nvSpPr>
        <p:spPr>
          <a:xfrm>
            <a:off x="276225" y="5266563"/>
            <a:ext cx="626563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segment/region while seeding the fastest-growing pockets early.</a:t>
            </a:r>
          </a:p>
        </p:txBody>
      </p:sp>
      <p:sp>
        <p:nvSpPr>
          <p:cNvPr id="52" name="TextBox 51"/>
          <p:cNvSpPr txBox="1"/>
          <p:nvPr/>
        </p:nvSpPr>
        <p:spPr>
          <a:xfrm>
            <a:off x="276225" y="5494400"/>
            <a:ext cx="4810273" cy="194310"/>
          </a:xfrm>
          <a:prstGeom prst="rect">
            <a:avLst/>
          </a:prstGeom>
          <a:noFill/>
        </p:spPr>
        <p:txBody>
          <a:bodyPr wrap="none" lIns="0" rIns="0" tIns="0" bIns="0">
            <a:spAutoFit/>
          </a:bodyPr>
          <a:lstStyle/>
          <a:p>
            <a:r>
              <a:rPr sz="1150" b="0">
                <a:solidFill>
                  <a:srgbClr val="2E2E2E"/>
                </a:solidFill>
                <a:latin typeface="Calibri"/>
              </a:rPr>
              <a:t>▪ Defend share in 'Flexible Partial Dentures' as the value anchor of the portfolio.</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2838"/>
            <a:ext cx="635826" cy="83246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15510"/>
            <a:ext cx="635826" cy="118979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68479"/>
            <a:ext cx="635826" cy="133682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8216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7738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72498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2021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46781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6303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91175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903536"/>
            <a:ext cx="108107" cy="157246"/>
          </a:xfrm>
          <a:prstGeom prst="rect">
            <a:avLst/>
          </a:prstGeom>
        </p:spPr>
      </p:pic>
      <p:sp>
        <p:nvSpPr>
          <p:cNvPr id="56" name="TextBox 55"/>
          <p:cNvSpPr txBox="1"/>
          <p:nvPr/>
        </p:nvSpPr>
        <p:spPr>
          <a:xfrm>
            <a:off x="2032418" y="265457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646361"/>
            <a:ext cx="108107" cy="157246"/>
          </a:xfrm>
          <a:prstGeom prst="rect">
            <a:avLst/>
          </a:prstGeom>
        </p:spPr>
      </p:pic>
      <p:sp>
        <p:nvSpPr>
          <p:cNvPr id="58" name="TextBox 57"/>
          <p:cNvSpPr txBox="1"/>
          <p:nvPr/>
        </p:nvSpPr>
        <p:spPr>
          <a:xfrm>
            <a:off x="2032418" y="239740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89186"/>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Removable Partial Dentures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4.4%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71_3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523_9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3_5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303_8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495_5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0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46_3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221_5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2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35_0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226_0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3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90_0_605E5C.png"/>
          <p:cNvPicPr>
            <a:picLocks noChangeAspect="1"/>
          </p:cNvPicPr>
          <p:nvPr/>
        </p:nvPicPr>
        <p:blipFill>
          <a:blip r:embed="rId16"/>
          <a:stretch>
            <a:fillRect/>
          </a:stretch>
        </p:blipFill>
        <p:spPr>
          <a:xfrm>
            <a:off x="8905194" y="2286582"/>
            <a:ext cx="982436" cy="361950"/>
          </a:xfrm>
          <a:prstGeom prst="rect">
            <a:avLst/>
          </a:prstGeom>
        </p:spPr>
      </p:pic>
      <p:pic>
        <p:nvPicPr>
          <p:cNvPr id="91" name="Picture 90" descr="143_9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4_8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78_8_605E5C.png"/>
          <p:cNvPicPr>
            <a:picLocks noChangeAspect="1"/>
          </p:cNvPicPr>
          <p:nvPr/>
        </p:nvPicPr>
        <p:blipFill>
          <a:blip r:embed="rId19"/>
          <a:stretch>
            <a:fillRect/>
          </a:stretch>
        </p:blipFill>
        <p:spPr>
          <a:xfrm>
            <a:off x="10591119" y="2286582"/>
            <a:ext cx="982436" cy="361950"/>
          </a:xfrm>
          <a:prstGeom prst="rect">
            <a:avLst/>
          </a:prstGeom>
        </p:spPr>
      </p:pic>
      <p:pic>
        <p:nvPicPr>
          <p:cNvPr id="94" name="Picture 93" descr="119_9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3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685206" cy="186689"/>
          </a:xfrm>
          <a:prstGeom prst="rect">
            <a:avLst/>
          </a:prstGeom>
          <a:noFill/>
        </p:spPr>
        <p:txBody>
          <a:bodyPr wrap="none" lIns="0" rIns="0" tIns="0" bIns="0">
            <a:spAutoFit/>
          </a:bodyPr>
          <a:lstStyle/>
          <a:p>
            <a:r>
              <a:rPr sz="1100" b="0">
                <a:solidFill>
                  <a:srgbClr val="2E2E2E"/>
                </a:solidFill>
                <a:latin typeface="Calibri"/>
              </a:rPr>
              <a:t>▪ ¶ North America removable partial dentures</a:t>
            </a:r>
          </a:p>
        </p:txBody>
      </p:sp>
      <p:sp>
        <p:nvSpPr>
          <p:cNvPr id="103" name="TextBox 102"/>
          <p:cNvSpPr txBox="1"/>
          <p:nvPr/>
        </p:nvSpPr>
        <p:spPr>
          <a:xfrm>
            <a:off x="485775" y="4397077"/>
            <a:ext cx="1801986" cy="186689"/>
          </a:xfrm>
          <a:prstGeom prst="rect">
            <a:avLst/>
          </a:prstGeom>
          <a:noFill/>
        </p:spPr>
        <p:txBody>
          <a:bodyPr wrap="none" lIns="0" rIns="0" tIns="0" bIns="0">
            <a:spAutoFit/>
          </a:bodyPr>
          <a:lstStyle/>
          <a:p>
            <a:r>
              <a:rPr sz="1100" b="0">
                <a:solidFill>
                  <a:srgbClr val="2E2E2E"/>
                </a:solidFill>
                <a:latin typeface="Calibri"/>
              </a:rPr>
              <a:t>market is projected to register</a:t>
            </a:r>
          </a:p>
        </p:txBody>
      </p:sp>
      <p:pic>
        <p:nvPicPr>
          <p:cNvPr id="104" name="Picture 103" descr="lock.png"/>
          <p:cNvPicPr>
            <a:picLocks noChangeAspect="1"/>
          </p:cNvPicPr>
          <p:nvPr/>
        </p:nvPicPr>
        <p:blipFill>
          <a:blip r:embed="rId22"/>
          <a:stretch>
            <a:fillRect/>
          </a:stretch>
        </p:blipFill>
        <p:spPr>
          <a:xfrm>
            <a:off x="2235812" y="4387298"/>
            <a:ext cx="128699" cy="187198"/>
          </a:xfrm>
          <a:prstGeom prst="rect">
            <a:avLst/>
          </a:prstGeom>
        </p:spPr>
      </p:pic>
      <p:sp>
        <p:nvSpPr>
          <p:cNvPr id="105" name="TextBox 104"/>
          <p:cNvSpPr txBox="1"/>
          <p:nvPr/>
        </p:nvSpPr>
        <p:spPr>
          <a:xfrm>
            <a:off x="2403308" y="4397077"/>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106" name="TextBox 105"/>
          <p:cNvSpPr txBox="1"/>
          <p:nvPr/>
        </p:nvSpPr>
        <p:spPr>
          <a:xfrm>
            <a:off x="485775" y="4564717"/>
            <a:ext cx="2739504" cy="186689"/>
          </a:xfrm>
          <a:prstGeom prst="rect">
            <a:avLst/>
          </a:prstGeom>
          <a:noFill/>
        </p:spPr>
        <p:txBody>
          <a:bodyPr wrap="none" lIns="0" rIns="0" tIns="0" bIns="0">
            <a:spAutoFit/>
          </a:bodyPr>
          <a:lstStyle/>
          <a:p>
            <a:r>
              <a:rPr sz="1100" b="0">
                <a:solidFill>
                  <a:srgbClr val="2E2E2E"/>
                </a:solidFill>
                <a:latin typeface="Calibri"/>
              </a:rPr>
              <a:t>than Europe in 2036. Among removable partial</a:t>
            </a:r>
          </a:p>
        </p:txBody>
      </p:sp>
      <p:sp>
        <p:nvSpPr>
          <p:cNvPr id="107" name="TextBox 106"/>
          <p:cNvSpPr txBox="1"/>
          <p:nvPr/>
        </p:nvSpPr>
        <p:spPr>
          <a:xfrm>
            <a:off x="485775" y="4732357"/>
            <a:ext cx="2454919" cy="186689"/>
          </a:xfrm>
          <a:prstGeom prst="rect">
            <a:avLst/>
          </a:prstGeom>
          <a:noFill/>
        </p:spPr>
        <p:txBody>
          <a:bodyPr wrap="none" lIns="0" rIns="0" tIns="0" bIns="0">
            <a:spAutoFit/>
          </a:bodyPr>
          <a:lstStyle/>
          <a:p>
            <a:r>
              <a:rPr sz="1100" b="0">
                <a:solidFill>
                  <a:srgbClr val="2E2E2E"/>
                </a:solidFill>
                <a:latin typeface="Calibri"/>
              </a:rPr>
              <a:t>dentures by region, South Asia &amp; Pacific is</a:t>
            </a:r>
          </a:p>
        </p:txBody>
      </p:sp>
      <p:sp>
        <p:nvSpPr>
          <p:cNvPr id="108" name="TextBox 107"/>
          <p:cNvSpPr txBox="1"/>
          <p:nvPr/>
        </p:nvSpPr>
        <p:spPr>
          <a:xfrm>
            <a:off x="485775" y="489999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09" name="Picture 108" descr="lock.png"/>
          <p:cNvPicPr>
            <a:picLocks noChangeAspect="1"/>
          </p:cNvPicPr>
          <p:nvPr/>
        </p:nvPicPr>
        <p:blipFill>
          <a:blip r:embed="rId22"/>
          <a:stretch>
            <a:fillRect/>
          </a:stretch>
        </p:blipFill>
        <p:spPr>
          <a:xfrm>
            <a:off x="2815059" y="4890217"/>
            <a:ext cx="128699" cy="187198"/>
          </a:xfrm>
          <a:prstGeom prst="rect">
            <a:avLst/>
          </a:prstGeom>
        </p:spPr>
      </p:pic>
      <p:sp>
        <p:nvSpPr>
          <p:cNvPr id="110" name="TextBox 109"/>
          <p:cNvSpPr txBox="1"/>
          <p:nvPr/>
        </p:nvSpPr>
        <p:spPr>
          <a:xfrm>
            <a:off x="2982555" y="489999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11" name="TextBox 110"/>
          <p:cNvSpPr txBox="1"/>
          <p:nvPr/>
        </p:nvSpPr>
        <p:spPr>
          <a:xfrm>
            <a:off x="485775" y="5067637"/>
            <a:ext cx="1197892" cy="186689"/>
          </a:xfrm>
          <a:prstGeom prst="rect">
            <a:avLst/>
          </a:prstGeom>
          <a:noFill/>
        </p:spPr>
        <p:txBody>
          <a:bodyPr wrap="none" lIns="0" rIns="0" tIns="0" bIns="0">
            <a:spAutoFit/>
          </a:bodyPr>
          <a:lstStyle/>
          <a:p>
            <a:r>
              <a:rPr sz="1100" b="0">
                <a:solidFill>
                  <a:srgbClr val="2E2E2E"/>
                </a:solidFill>
                <a:latin typeface="Calibri"/>
              </a:rPr>
              <a:t>the forecast period.</a:t>
            </a:r>
          </a:p>
        </p:txBody>
      </p:sp>
      <p:sp>
        <p:nvSpPr>
          <p:cNvPr id="112" name="TextBox 111"/>
          <p:cNvSpPr txBox="1"/>
          <p:nvPr/>
        </p:nvSpPr>
        <p:spPr>
          <a:xfrm>
            <a:off x="485775" y="5285569"/>
            <a:ext cx="2535138" cy="186689"/>
          </a:xfrm>
          <a:prstGeom prst="rect">
            <a:avLst/>
          </a:prstGeom>
          <a:noFill/>
        </p:spPr>
        <p:txBody>
          <a:bodyPr wrap="none" lIns="0" rIns="0" tIns="0" bIns="0">
            <a:spAutoFit/>
          </a:bodyPr>
          <a:lstStyle/>
          <a:p>
            <a:r>
              <a:rPr sz="1100" b="0">
                <a:solidFill>
                  <a:srgbClr val="2E2E2E"/>
                </a:solidFill>
                <a:latin typeface="Calibri"/>
              </a:rPr>
              <a:t>▪ ¶ In terms of value share by region, North</a:t>
            </a:r>
          </a:p>
        </p:txBody>
      </p:sp>
      <p:sp>
        <p:nvSpPr>
          <p:cNvPr id="113" name="TextBox 112"/>
          <p:cNvSpPr txBox="1"/>
          <p:nvPr/>
        </p:nvSpPr>
        <p:spPr>
          <a:xfrm>
            <a:off x="485775" y="5453209"/>
            <a:ext cx="2644551" cy="186689"/>
          </a:xfrm>
          <a:prstGeom prst="rect">
            <a:avLst/>
          </a:prstGeom>
          <a:noFill/>
        </p:spPr>
        <p:txBody>
          <a:bodyPr wrap="none" lIns="0" rIns="0" tIns="0" bIns="0">
            <a:spAutoFit/>
          </a:bodyPr>
          <a:lstStyle/>
          <a:p>
            <a:r>
              <a:rPr sz="1100" b="0">
                <a:solidFill>
                  <a:srgbClr val="2E2E2E"/>
                </a:solidFill>
                <a:latin typeface="Calibri"/>
              </a:rPr>
              <a:t>America is expected to dominate the market,</a:t>
            </a:r>
          </a:p>
        </p:txBody>
      </p:sp>
      <p:sp>
        <p:nvSpPr>
          <p:cNvPr id="114" name="TextBox 113"/>
          <p:cNvSpPr txBox="1"/>
          <p:nvPr/>
        </p:nvSpPr>
        <p:spPr>
          <a:xfrm>
            <a:off x="485775" y="5620849"/>
            <a:ext cx="407987" cy="186689"/>
          </a:xfrm>
          <a:prstGeom prst="rect">
            <a:avLst/>
          </a:prstGeom>
          <a:noFill/>
        </p:spPr>
        <p:txBody>
          <a:bodyPr wrap="none" lIns="0" rIns="0" tIns="0" bIns="0">
            <a:spAutoFit/>
          </a:bodyPr>
          <a:lstStyle/>
          <a:p>
            <a:r>
              <a:rPr sz="1100" b="0">
                <a:solidFill>
                  <a:srgbClr val="2E2E2E"/>
                </a:solidFill>
                <a:latin typeface="Calibri"/>
              </a:rPr>
              <a:t>losing</a:t>
            </a:r>
          </a:p>
        </p:txBody>
      </p:sp>
      <p:pic>
        <p:nvPicPr>
          <p:cNvPr id="115" name="Picture 114" descr="lock.png"/>
          <p:cNvPicPr>
            <a:picLocks noChangeAspect="1"/>
          </p:cNvPicPr>
          <p:nvPr/>
        </p:nvPicPr>
        <p:blipFill>
          <a:blip r:embed="rId22"/>
          <a:stretch>
            <a:fillRect/>
          </a:stretch>
        </p:blipFill>
        <p:spPr>
          <a:xfrm>
            <a:off x="841814" y="5611070"/>
            <a:ext cx="128699" cy="187198"/>
          </a:xfrm>
          <a:prstGeom prst="rect">
            <a:avLst/>
          </a:prstGeom>
        </p:spPr>
      </p:pic>
      <p:sp>
        <p:nvSpPr>
          <p:cNvPr id="116" name="TextBox 115"/>
          <p:cNvSpPr txBox="1"/>
          <p:nvPr/>
        </p:nvSpPr>
        <p:spPr>
          <a:xfrm>
            <a:off x="1009309" y="5620849"/>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17" name="Picture 116" descr="lock.png"/>
          <p:cNvPicPr>
            <a:picLocks noChangeAspect="1"/>
          </p:cNvPicPr>
          <p:nvPr/>
        </p:nvPicPr>
        <p:blipFill>
          <a:blip r:embed="rId22"/>
          <a:stretch>
            <a:fillRect/>
          </a:stretch>
        </p:blipFill>
        <p:spPr>
          <a:xfrm>
            <a:off x="2343794" y="5611070"/>
            <a:ext cx="128699" cy="187198"/>
          </a:xfrm>
          <a:prstGeom prst="rect">
            <a:avLst/>
          </a:prstGeom>
        </p:spPr>
      </p:pic>
      <p:sp>
        <p:nvSpPr>
          <p:cNvPr id="118" name="TextBox 117"/>
          <p:cNvSpPr txBox="1"/>
          <p:nvPr/>
        </p:nvSpPr>
        <p:spPr>
          <a:xfrm>
            <a:off x="2511290" y="5620849"/>
            <a:ext cx="557783" cy="186689"/>
          </a:xfrm>
          <a:prstGeom prst="rect">
            <a:avLst/>
          </a:prstGeom>
          <a:noFill/>
        </p:spPr>
        <p:txBody>
          <a:bodyPr wrap="none" lIns="0" rIns="0" tIns="0" bIns="0">
            <a:spAutoFit/>
          </a:bodyPr>
          <a:lstStyle/>
          <a:p>
            <a:r>
              <a:rPr sz="1100" b="0">
                <a:solidFill>
                  <a:srgbClr val="2E2E2E"/>
                </a:solidFill>
                <a:latin typeface="Calibri"/>
              </a:rPr>
              <a:t>share by</a:t>
            </a:r>
          </a:p>
        </p:txBody>
      </p:sp>
      <p:sp>
        <p:nvSpPr>
          <p:cNvPr id="119" name="TextBox 118"/>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120" name="TextBox 119"/>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21" name="Picture 120" descr="lock.png"/>
          <p:cNvPicPr>
            <a:picLocks noChangeAspect="1"/>
          </p:cNvPicPr>
          <p:nvPr/>
        </p:nvPicPr>
        <p:blipFill>
          <a:blip r:embed="rId22"/>
          <a:stretch>
            <a:fillRect/>
          </a:stretch>
        </p:blipFill>
        <p:spPr>
          <a:xfrm>
            <a:off x="4850003" y="4219658"/>
            <a:ext cx="128699" cy="187198"/>
          </a:xfrm>
          <a:prstGeom prst="rect">
            <a:avLst/>
          </a:prstGeom>
        </p:spPr>
      </p:pic>
      <p:sp>
        <p:nvSpPr>
          <p:cNvPr id="122" name="TextBox 121"/>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3" name="Picture 122" descr="lock.png"/>
          <p:cNvPicPr>
            <a:picLocks noChangeAspect="1"/>
          </p:cNvPicPr>
          <p:nvPr/>
        </p:nvPicPr>
        <p:blipFill>
          <a:blip r:embed="rId22"/>
          <a:stretch>
            <a:fillRect/>
          </a:stretch>
        </p:blipFill>
        <p:spPr>
          <a:xfrm>
            <a:off x="5876949" y="4219658"/>
            <a:ext cx="128699" cy="187198"/>
          </a:xfrm>
          <a:prstGeom prst="rect">
            <a:avLst/>
          </a:prstGeom>
        </p:spPr>
      </p:pic>
      <p:sp>
        <p:nvSpPr>
          <p:cNvPr id="124" name="TextBox 123"/>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5" name="TextBox 124"/>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6" name="Picture 125" descr="lock.png"/>
          <p:cNvPicPr>
            <a:picLocks noChangeAspect="1"/>
          </p:cNvPicPr>
          <p:nvPr/>
        </p:nvPicPr>
        <p:blipFill>
          <a:blip r:embed="rId22"/>
          <a:stretch>
            <a:fillRect/>
          </a:stretch>
        </p:blipFill>
        <p:spPr>
          <a:xfrm>
            <a:off x="4423263" y="4437590"/>
            <a:ext cx="128699" cy="187198"/>
          </a:xfrm>
          <a:prstGeom prst="rect">
            <a:avLst/>
          </a:prstGeom>
        </p:spPr>
      </p:pic>
      <p:sp>
        <p:nvSpPr>
          <p:cNvPr id="127" name="TextBox 126"/>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8" name="Picture 127" descr="lock.png"/>
          <p:cNvPicPr>
            <a:picLocks noChangeAspect="1"/>
          </p:cNvPicPr>
          <p:nvPr/>
        </p:nvPicPr>
        <p:blipFill>
          <a:blip r:embed="rId22"/>
          <a:stretch>
            <a:fillRect/>
          </a:stretch>
        </p:blipFill>
        <p:spPr>
          <a:xfrm>
            <a:off x="5450209" y="4437590"/>
            <a:ext cx="128699" cy="187198"/>
          </a:xfrm>
          <a:prstGeom prst="rect">
            <a:avLst/>
          </a:prstGeom>
        </p:spPr>
      </p:pic>
      <p:sp>
        <p:nvSpPr>
          <p:cNvPr id="129" name="TextBox 128"/>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0" name="TextBox 129"/>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31" name="Picture 130" descr="lock.png"/>
          <p:cNvPicPr>
            <a:picLocks noChangeAspect="1"/>
          </p:cNvPicPr>
          <p:nvPr/>
        </p:nvPicPr>
        <p:blipFill>
          <a:blip r:embed="rId22"/>
          <a:stretch>
            <a:fillRect/>
          </a:stretch>
        </p:blipFill>
        <p:spPr>
          <a:xfrm>
            <a:off x="4518727" y="4655522"/>
            <a:ext cx="128699" cy="187198"/>
          </a:xfrm>
          <a:prstGeom prst="rect">
            <a:avLst/>
          </a:prstGeom>
        </p:spPr>
      </p:pic>
      <p:sp>
        <p:nvSpPr>
          <p:cNvPr id="132" name="TextBox 131"/>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3" name="Picture 132" descr="lock.png"/>
          <p:cNvPicPr>
            <a:picLocks noChangeAspect="1"/>
          </p:cNvPicPr>
          <p:nvPr/>
        </p:nvPicPr>
        <p:blipFill>
          <a:blip r:embed="rId22"/>
          <a:stretch>
            <a:fillRect/>
          </a:stretch>
        </p:blipFill>
        <p:spPr>
          <a:xfrm>
            <a:off x="5545673" y="4655522"/>
            <a:ext cx="128699" cy="187198"/>
          </a:xfrm>
          <a:prstGeom prst="rect">
            <a:avLst/>
          </a:prstGeom>
        </p:spPr>
      </p:pic>
      <p:sp>
        <p:nvSpPr>
          <p:cNvPr id="134" name="TextBox 133"/>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5" name="TextBox 134"/>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6" name="Picture 135" descr="lock.png"/>
          <p:cNvPicPr>
            <a:picLocks noChangeAspect="1"/>
          </p:cNvPicPr>
          <p:nvPr/>
        </p:nvPicPr>
        <p:blipFill>
          <a:blip r:embed="rId22"/>
          <a:stretch>
            <a:fillRect/>
          </a:stretch>
        </p:blipFill>
        <p:spPr>
          <a:xfrm>
            <a:off x="5136770" y="4873454"/>
            <a:ext cx="128699" cy="187198"/>
          </a:xfrm>
          <a:prstGeom prst="rect">
            <a:avLst/>
          </a:prstGeom>
        </p:spPr>
      </p:pic>
      <p:sp>
        <p:nvSpPr>
          <p:cNvPr id="137" name="TextBox 136"/>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8" name="Picture 137" descr="lock.png"/>
          <p:cNvPicPr>
            <a:picLocks noChangeAspect="1"/>
          </p:cNvPicPr>
          <p:nvPr/>
        </p:nvPicPr>
        <p:blipFill>
          <a:blip r:embed="rId22"/>
          <a:stretch>
            <a:fillRect/>
          </a:stretch>
        </p:blipFill>
        <p:spPr>
          <a:xfrm>
            <a:off x="6163716" y="4873454"/>
            <a:ext cx="128699" cy="187198"/>
          </a:xfrm>
          <a:prstGeom prst="rect">
            <a:avLst/>
          </a:prstGeom>
        </p:spPr>
      </p:pic>
      <p:sp>
        <p:nvSpPr>
          <p:cNvPr id="139" name="TextBox 138"/>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40" name="TextBox 139"/>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41" name="Picture 140" descr="lock.png"/>
          <p:cNvPicPr>
            <a:picLocks noChangeAspect="1"/>
          </p:cNvPicPr>
          <p:nvPr/>
        </p:nvPicPr>
        <p:blipFill>
          <a:blip r:embed="rId22"/>
          <a:stretch>
            <a:fillRect/>
          </a:stretch>
        </p:blipFill>
        <p:spPr>
          <a:xfrm>
            <a:off x="4794887" y="5091385"/>
            <a:ext cx="128699" cy="187198"/>
          </a:xfrm>
          <a:prstGeom prst="rect">
            <a:avLst/>
          </a:prstGeom>
        </p:spPr>
      </p:pic>
      <p:sp>
        <p:nvSpPr>
          <p:cNvPr id="142" name="TextBox 141"/>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3" name="Picture 142" descr="lock.png"/>
          <p:cNvPicPr>
            <a:picLocks noChangeAspect="1"/>
          </p:cNvPicPr>
          <p:nvPr/>
        </p:nvPicPr>
        <p:blipFill>
          <a:blip r:embed="rId22"/>
          <a:stretch>
            <a:fillRect/>
          </a:stretch>
        </p:blipFill>
        <p:spPr>
          <a:xfrm>
            <a:off x="5821833" y="5091385"/>
            <a:ext cx="128699" cy="187198"/>
          </a:xfrm>
          <a:prstGeom prst="rect">
            <a:avLst/>
          </a:prstGeom>
        </p:spPr>
      </p:pic>
      <p:sp>
        <p:nvSpPr>
          <p:cNvPr id="144" name="TextBox 143"/>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5" name="TextBox 144"/>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6" name="Picture 145" descr="lock.png"/>
          <p:cNvPicPr>
            <a:picLocks noChangeAspect="1"/>
          </p:cNvPicPr>
          <p:nvPr/>
        </p:nvPicPr>
        <p:blipFill>
          <a:blip r:embed="rId22"/>
          <a:stretch>
            <a:fillRect/>
          </a:stretch>
        </p:blipFill>
        <p:spPr>
          <a:xfrm>
            <a:off x="5173571" y="5309317"/>
            <a:ext cx="128699" cy="187198"/>
          </a:xfrm>
          <a:prstGeom prst="rect">
            <a:avLst/>
          </a:prstGeom>
        </p:spPr>
      </p:pic>
      <p:sp>
        <p:nvSpPr>
          <p:cNvPr id="147" name="TextBox 146"/>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8" name="Picture 147" descr="lock.png"/>
          <p:cNvPicPr>
            <a:picLocks noChangeAspect="1"/>
          </p:cNvPicPr>
          <p:nvPr/>
        </p:nvPicPr>
        <p:blipFill>
          <a:blip r:embed="rId22"/>
          <a:stretch>
            <a:fillRect/>
          </a:stretch>
        </p:blipFill>
        <p:spPr>
          <a:xfrm>
            <a:off x="6200517" y="5309317"/>
            <a:ext cx="128699" cy="187198"/>
          </a:xfrm>
          <a:prstGeom prst="rect">
            <a:avLst/>
          </a:prstGeom>
        </p:spPr>
      </p:pic>
      <p:sp>
        <p:nvSpPr>
          <p:cNvPr id="149" name="TextBox 148"/>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98348"/>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935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1738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929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9257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8781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1161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735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37824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3734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29728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3591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308918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30844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300821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307013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8738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8690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7928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5" name="BPS Value 5"/>
          <p:cNvSpPr txBox="1"/>
          <p:nvPr/>
        </p:nvSpPr>
        <p:spPr>
          <a:xfrm>
            <a:off x="6305550" y="38547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551045" y="47022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46974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62126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9" name="BPS Value 6"/>
          <p:cNvSpPr txBox="1"/>
          <p:nvPr/>
        </p:nvSpPr>
        <p:spPr>
          <a:xfrm>
            <a:off x="6305550" y="468317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3_516_250_605E5C.png"/>
          <p:cNvPicPr>
            <a:picLocks noChangeAspect="1"/>
          </p:cNvPicPr>
          <p:nvPr/>
        </p:nvPicPr>
        <p:blipFill>
          <a:blip r:embed="rId6"/>
          <a:stretch>
            <a:fillRect/>
          </a:stretch>
        </p:blipFill>
        <p:spPr>
          <a:xfrm>
            <a:off x="744310" y="5897562"/>
            <a:ext cx="2740473" cy="482599"/>
          </a:xfrm>
          <a:prstGeom prst="rect">
            <a:avLst/>
          </a:prstGeom>
        </p:spPr>
      </p:pic>
      <p:pic>
        <p:nvPicPr>
          <p:cNvPr id="50" name="Picture 49" descr="5_094_359_605E5C.png"/>
          <p:cNvPicPr>
            <a:picLocks noChangeAspect="1"/>
          </p:cNvPicPr>
          <p:nvPr/>
        </p:nvPicPr>
        <p:blipFill>
          <a:blip r:embed="rId7"/>
          <a:stretch>
            <a:fillRect/>
          </a:stretch>
        </p:blipFill>
        <p:spPr>
          <a:xfrm>
            <a:off x="4778148" y="5897562"/>
            <a:ext cx="2740473" cy="482599"/>
          </a:xfrm>
          <a:prstGeom prst="rect">
            <a:avLst/>
          </a:prstGeom>
        </p:spPr>
      </p:pic>
      <p:pic>
        <p:nvPicPr>
          <p:cNvPr id="51" name="Picture 50" descr="3_8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3991595" cy="194310"/>
          </a:xfrm>
          <a:prstGeom prst="rect">
            <a:avLst/>
          </a:prstGeom>
          <a:noFill/>
        </p:spPr>
        <p:txBody>
          <a:bodyPr wrap="none" lIns="0" rIns="0" tIns="0" bIns="0">
            <a:spAutoFit/>
          </a:bodyPr>
          <a:lstStyle/>
          <a:p>
            <a:r>
              <a:rPr sz="1150" b="0">
                <a:solidFill>
                  <a:srgbClr val="2E2E2E"/>
                </a:solidFill>
                <a:latin typeface="Calibri"/>
              </a:rPr>
              <a:t>Europe removable partial dentures market is projected to register</a:t>
            </a:r>
          </a:p>
        </p:txBody>
      </p:sp>
      <p:pic>
        <p:nvPicPr>
          <p:cNvPr id="54" name="Picture 53" descr="lock.png"/>
          <p:cNvPicPr>
            <a:picLocks noChangeAspect="1"/>
          </p:cNvPicPr>
          <p:nvPr/>
        </p:nvPicPr>
        <p:blipFill>
          <a:blip r:embed="rId5"/>
          <a:stretch>
            <a:fillRect/>
          </a:stretch>
        </p:blipFill>
        <p:spPr>
          <a:xfrm>
            <a:off x="11179749" y="1389951"/>
            <a:ext cx="134549" cy="195707"/>
          </a:xfrm>
          <a:prstGeom prst="rect">
            <a:avLst/>
          </a:prstGeom>
        </p:spPr>
      </p:pic>
      <p:sp>
        <p:nvSpPr>
          <p:cNvPr id="55" name="TextBox 54"/>
          <p:cNvSpPr txBox="1"/>
          <p:nvPr/>
        </p:nvSpPr>
        <p:spPr>
          <a:xfrm>
            <a:off x="11354858"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56" name="TextBox 55"/>
          <p:cNvSpPr txBox="1"/>
          <p:nvPr/>
        </p:nvSpPr>
        <p:spPr>
          <a:xfrm>
            <a:off x="7239000" y="1575435"/>
            <a:ext cx="4195266" cy="194310"/>
          </a:xfrm>
          <a:prstGeom prst="rect">
            <a:avLst/>
          </a:prstGeom>
          <a:noFill/>
        </p:spPr>
        <p:txBody>
          <a:bodyPr wrap="none" lIns="0" rIns="0" tIns="0" bIns="0">
            <a:spAutoFit/>
          </a:bodyPr>
          <a:lstStyle/>
          <a:p>
            <a:r>
              <a:rPr sz="1150" b="0">
                <a:solidFill>
                  <a:srgbClr val="2E2E2E"/>
                </a:solidFill>
                <a:latin typeface="Calibri"/>
              </a:rPr>
              <a:t>higher volume than North America in 2036. Among removable partial</a:t>
            </a:r>
          </a:p>
        </p:txBody>
      </p:sp>
      <p:sp>
        <p:nvSpPr>
          <p:cNvPr id="57" name="TextBox 56"/>
          <p:cNvSpPr txBox="1"/>
          <p:nvPr/>
        </p:nvSpPr>
        <p:spPr>
          <a:xfrm>
            <a:off x="7239000" y="1750695"/>
            <a:ext cx="4484513" cy="194310"/>
          </a:xfrm>
          <a:prstGeom prst="rect">
            <a:avLst/>
          </a:prstGeom>
          <a:noFill/>
        </p:spPr>
        <p:txBody>
          <a:bodyPr wrap="none" lIns="0" rIns="0" tIns="0" bIns="0">
            <a:spAutoFit/>
          </a:bodyPr>
          <a:lstStyle/>
          <a:p>
            <a:r>
              <a:rPr sz="1150" b="0">
                <a:solidFill>
                  <a:srgbClr val="2E2E2E"/>
                </a:solidFill>
                <a:latin typeface="Calibri"/>
              </a:rPr>
              <a:t>dentures by region, South Asia &amp; Pacific is expected to witness the highest</a:t>
            </a:r>
          </a:p>
        </p:txBody>
      </p:sp>
      <p:sp>
        <p:nvSpPr>
          <p:cNvPr id="58" name="TextBox 57"/>
          <p:cNvSpPr txBox="1"/>
          <p:nvPr/>
        </p:nvSpPr>
        <p:spPr>
          <a:xfrm>
            <a:off x="7239000" y="192595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59" name="Picture 58" descr="lock.png"/>
          <p:cNvPicPr>
            <a:picLocks noChangeAspect="1"/>
          </p:cNvPicPr>
          <p:nvPr/>
        </p:nvPicPr>
        <p:blipFill>
          <a:blip r:embed="rId5"/>
          <a:stretch>
            <a:fillRect/>
          </a:stretch>
        </p:blipFill>
        <p:spPr>
          <a:xfrm>
            <a:off x="7752690" y="1915731"/>
            <a:ext cx="134549" cy="195707"/>
          </a:xfrm>
          <a:prstGeom prst="rect">
            <a:avLst/>
          </a:prstGeom>
        </p:spPr>
      </p:pic>
      <p:sp>
        <p:nvSpPr>
          <p:cNvPr id="60" name="TextBox 59"/>
          <p:cNvSpPr txBox="1"/>
          <p:nvPr/>
        </p:nvSpPr>
        <p:spPr>
          <a:xfrm>
            <a:off x="79278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61" name="TextBox 60"/>
          <p:cNvSpPr txBox="1"/>
          <p:nvPr/>
        </p:nvSpPr>
        <p:spPr>
          <a:xfrm>
            <a:off x="7239000" y="2153793"/>
            <a:ext cx="4343883" cy="194310"/>
          </a:xfrm>
          <a:prstGeom prst="rect">
            <a:avLst/>
          </a:prstGeom>
          <a:noFill/>
        </p:spPr>
        <p:txBody>
          <a:bodyPr wrap="none" lIns="0" rIns="0" tIns="0" bIns="0">
            <a:spAutoFit/>
          </a:bodyPr>
          <a:lstStyle/>
          <a:p>
            <a:r>
              <a:rPr sz="1150" b="0">
                <a:solidFill>
                  <a:srgbClr val="2E2E2E"/>
                </a:solidFill>
                <a:latin typeface="Calibri"/>
              </a:rPr>
              <a:t>In terms of volume share by region, Europe is expected to dominate the</a:t>
            </a:r>
          </a:p>
        </p:txBody>
      </p:sp>
      <p:sp>
        <p:nvSpPr>
          <p:cNvPr id="62" name="TextBox 61"/>
          <p:cNvSpPr txBox="1"/>
          <p:nvPr/>
        </p:nvSpPr>
        <p:spPr>
          <a:xfrm>
            <a:off x="7239000" y="2329053"/>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63" name="Picture 62" descr="lock.png"/>
          <p:cNvPicPr>
            <a:picLocks noChangeAspect="1"/>
          </p:cNvPicPr>
          <p:nvPr/>
        </p:nvPicPr>
        <p:blipFill>
          <a:blip r:embed="rId5"/>
          <a:stretch>
            <a:fillRect/>
          </a:stretch>
        </p:blipFill>
        <p:spPr>
          <a:xfrm>
            <a:off x="8188006" y="2318829"/>
            <a:ext cx="134549" cy="195707"/>
          </a:xfrm>
          <a:prstGeom prst="rect">
            <a:avLst/>
          </a:prstGeom>
        </p:spPr>
      </p:pic>
      <p:sp>
        <p:nvSpPr>
          <p:cNvPr id="64" name="TextBox 63"/>
          <p:cNvSpPr txBox="1"/>
          <p:nvPr/>
        </p:nvSpPr>
        <p:spPr>
          <a:xfrm>
            <a:off x="8363115"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5" name="Picture 64" descr="lock.png"/>
          <p:cNvPicPr>
            <a:picLocks noChangeAspect="1"/>
          </p:cNvPicPr>
          <p:nvPr/>
        </p:nvPicPr>
        <p:blipFill>
          <a:blip r:embed="rId5"/>
          <a:stretch>
            <a:fillRect/>
          </a:stretch>
        </p:blipFill>
        <p:spPr>
          <a:xfrm>
            <a:off x="9758258" y="2318829"/>
            <a:ext cx="134549" cy="195707"/>
          </a:xfrm>
          <a:prstGeom prst="rect">
            <a:avLst/>
          </a:prstGeom>
        </p:spPr>
      </p:pic>
      <p:sp>
        <p:nvSpPr>
          <p:cNvPr id="66" name="TextBox 65"/>
          <p:cNvSpPr txBox="1"/>
          <p:nvPr/>
        </p:nvSpPr>
        <p:spPr>
          <a:xfrm>
            <a:off x="9933367" y="2329053"/>
            <a:ext cx="1327608" cy="194310"/>
          </a:xfrm>
          <a:prstGeom prst="rect">
            <a:avLst/>
          </a:prstGeom>
          <a:noFill/>
        </p:spPr>
        <p:txBody>
          <a:bodyPr wrap="none" lIns="0" rIns="0" tIns="0" bIns="0">
            <a:spAutoFit/>
          </a:bodyPr>
          <a:lstStyle/>
          <a:p>
            <a:r>
              <a:rPr sz="1150" b="0">
                <a:solidFill>
                  <a:srgbClr val="2E2E2E"/>
                </a:solidFill>
                <a:latin typeface="Calibri"/>
              </a:rPr>
              <a:t>share by 2036. North</a:t>
            </a:r>
          </a:p>
        </p:txBody>
      </p:sp>
      <p:sp>
        <p:nvSpPr>
          <p:cNvPr id="67" name="TextBox 66"/>
          <p:cNvSpPr txBox="1"/>
          <p:nvPr/>
        </p:nvSpPr>
        <p:spPr>
          <a:xfrm>
            <a:off x="7239000" y="2504313"/>
            <a:ext cx="1702147" cy="194310"/>
          </a:xfrm>
          <a:prstGeom prst="rect">
            <a:avLst/>
          </a:prstGeom>
          <a:noFill/>
        </p:spPr>
        <p:txBody>
          <a:bodyPr wrap="none" lIns="0" rIns="0" tIns="0" bIns="0">
            <a:spAutoFit/>
          </a:bodyPr>
          <a:lstStyle/>
          <a:p>
            <a:r>
              <a:rPr sz="1150" b="0">
                <a:solidFill>
                  <a:srgbClr val="2E2E2E"/>
                </a:solidFill>
                <a:latin typeface="Calibri"/>
              </a:rPr>
              <a:t>America is expected to lose</a:t>
            </a:r>
          </a:p>
        </p:txBody>
      </p:sp>
      <p:pic>
        <p:nvPicPr>
          <p:cNvPr id="68" name="Picture 67" descr="lock.png"/>
          <p:cNvPicPr>
            <a:picLocks noChangeAspect="1"/>
          </p:cNvPicPr>
          <p:nvPr/>
        </p:nvPicPr>
        <p:blipFill>
          <a:blip r:embed="rId5"/>
          <a:stretch>
            <a:fillRect/>
          </a:stretch>
        </p:blipFill>
        <p:spPr>
          <a:xfrm>
            <a:off x="8890301" y="2494089"/>
            <a:ext cx="134549" cy="195707"/>
          </a:xfrm>
          <a:prstGeom prst="rect">
            <a:avLst/>
          </a:prstGeom>
        </p:spPr>
      </p:pic>
      <p:sp>
        <p:nvSpPr>
          <p:cNvPr id="69" name="TextBox 68"/>
          <p:cNvSpPr txBox="1"/>
          <p:nvPr/>
        </p:nvSpPr>
        <p:spPr>
          <a:xfrm>
            <a:off x="9065410" y="2504313"/>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70" name="Picture 69" descr="lock.png"/>
          <p:cNvPicPr>
            <a:picLocks noChangeAspect="1"/>
          </p:cNvPicPr>
          <p:nvPr/>
        </p:nvPicPr>
        <p:blipFill>
          <a:blip r:embed="rId5"/>
          <a:stretch>
            <a:fillRect/>
          </a:stretch>
        </p:blipFill>
        <p:spPr>
          <a:xfrm>
            <a:off x="7224920" y="2669349"/>
            <a:ext cx="134549" cy="195707"/>
          </a:xfrm>
          <a:prstGeom prst="rect">
            <a:avLst/>
          </a:prstGeom>
        </p:spPr>
      </p:pic>
      <p:sp>
        <p:nvSpPr>
          <p:cNvPr id="71" name="TextBox 70"/>
          <p:cNvSpPr txBox="1"/>
          <p:nvPr/>
        </p:nvSpPr>
        <p:spPr>
          <a:xfrm>
            <a:off x="7400029"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72"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11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3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15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06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860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384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764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955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57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09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47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366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298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251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89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08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49426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8950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330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7521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42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694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32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51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1,125</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1,731</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4.4%</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sp>
        <p:nvSpPr>
          <p:cNvPr id="49" name="TextBox 48"/>
          <p:cNvSpPr txBox="1"/>
          <p:nvPr/>
        </p:nvSpPr>
        <p:spPr>
          <a:xfrm>
            <a:off x="7239000" y="140017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50" name="Picture 49" descr="lock.png"/>
          <p:cNvPicPr>
            <a:picLocks noChangeAspect="1"/>
          </p:cNvPicPr>
          <p:nvPr/>
        </p:nvPicPr>
        <p:blipFill>
          <a:blip r:embed="rId5"/>
          <a:stretch>
            <a:fillRect/>
          </a:stretch>
        </p:blipFill>
        <p:spPr>
          <a:xfrm>
            <a:off x="7224920" y="1565211"/>
            <a:ext cx="134549" cy="195707"/>
          </a:xfrm>
          <a:prstGeom prst="rect">
            <a:avLst/>
          </a:prstGeom>
        </p:spPr>
      </p:pic>
      <p:sp>
        <p:nvSpPr>
          <p:cNvPr id="51" name="TextBox 50"/>
          <p:cNvSpPr txBox="1"/>
          <p:nvPr/>
        </p:nvSpPr>
        <p:spPr>
          <a:xfrm>
            <a:off x="7400029" y="1575435"/>
            <a:ext cx="4300239" cy="194310"/>
          </a:xfrm>
          <a:prstGeom prst="rect">
            <a:avLst/>
          </a:prstGeom>
          <a:noFill/>
        </p:spPr>
        <p:txBody>
          <a:bodyPr wrap="none" lIns="0" rIns="0" tIns="0" bIns="0">
            <a:spAutoFit/>
          </a:bodyPr>
          <a:lstStyle/>
          <a:p>
            <a:r>
              <a:rPr sz="1150" b="0">
                <a:solidFill>
                  <a:srgbClr val="2E2E2E"/>
                </a:solidFill>
                <a:latin typeface="Calibri"/>
              </a:rPr>
              <a:t>X higher value than Europe in 2036. Among removable partial dentures</a:t>
            </a:r>
          </a:p>
        </p:txBody>
      </p:sp>
      <p:sp>
        <p:nvSpPr>
          <p:cNvPr id="52" name="TextBox 51"/>
          <p:cNvSpPr txBox="1"/>
          <p:nvPr/>
        </p:nvSpPr>
        <p:spPr>
          <a:xfrm>
            <a:off x="7239000" y="1750695"/>
            <a:ext cx="4439996" cy="194310"/>
          </a:xfrm>
          <a:prstGeom prst="rect">
            <a:avLst/>
          </a:prstGeom>
          <a:noFill/>
        </p:spPr>
        <p:txBody>
          <a:bodyPr wrap="none" lIns="0" rIns="0" tIns="0" bIns="0">
            <a:spAutoFit/>
          </a:bodyPr>
          <a:lstStyle/>
          <a:p>
            <a:r>
              <a:rPr sz="1150" b="0">
                <a:solidFill>
                  <a:srgbClr val="2E2E2E"/>
                </a:solidFill>
                <a:latin typeface="Calibri"/>
              </a:rPr>
              <a:t>by region, South Asia &amp; Pacific is expected to witness the highest CAGR of</a:t>
            </a:r>
          </a:p>
        </p:txBody>
      </p:sp>
      <p:pic>
        <p:nvPicPr>
          <p:cNvPr id="53" name="Picture 52" descr="lock.png"/>
          <p:cNvPicPr>
            <a:picLocks noChangeAspect="1"/>
          </p:cNvPicPr>
          <p:nvPr/>
        </p:nvPicPr>
        <p:blipFill>
          <a:blip r:embed="rId5"/>
          <a:stretch>
            <a:fillRect/>
          </a:stretch>
        </p:blipFill>
        <p:spPr>
          <a:xfrm>
            <a:off x="11628150" y="1740471"/>
            <a:ext cx="134549" cy="195707"/>
          </a:xfrm>
          <a:prstGeom prst="rect">
            <a:avLst/>
          </a:prstGeom>
        </p:spPr>
      </p:pic>
      <p:sp>
        <p:nvSpPr>
          <p:cNvPr id="54" name="TextBox 53"/>
          <p:cNvSpPr txBox="1"/>
          <p:nvPr/>
        </p:nvSpPr>
        <p:spPr>
          <a:xfrm>
            <a:off x="72390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5" name="TextBox 54"/>
          <p:cNvSpPr txBox="1"/>
          <p:nvPr/>
        </p:nvSpPr>
        <p:spPr>
          <a:xfrm>
            <a:off x="7239000" y="2153793"/>
            <a:ext cx="4648200"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a:t>
            </a:r>
          </a:p>
        </p:txBody>
      </p:sp>
      <p:sp>
        <p:nvSpPr>
          <p:cNvPr id="56" name="TextBox 55"/>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106708" y="2318829"/>
            <a:ext cx="134549" cy="195707"/>
          </a:xfrm>
          <a:prstGeom prst="rect">
            <a:avLst/>
          </a:prstGeom>
        </p:spPr>
      </p:pic>
      <p:sp>
        <p:nvSpPr>
          <p:cNvPr id="58" name="TextBox 57"/>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9676961" y="2318829"/>
            <a:ext cx="134549" cy="195707"/>
          </a:xfrm>
          <a:prstGeom prst="rect">
            <a:avLst/>
          </a:prstGeom>
        </p:spPr>
      </p:pic>
      <p:sp>
        <p:nvSpPr>
          <p:cNvPr id="60" name="TextBox 59"/>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(Units)</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3991595" cy="194310"/>
          </a:xfrm>
          <a:prstGeom prst="rect">
            <a:avLst/>
          </a:prstGeom>
          <a:noFill/>
        </p:spPr>
        <p:txBody>
          <a:bodyPr wrap="none" lIns="0" rIns="0" tIns="0" bIns="0">
            <a:spAutoFit/>
          </a:bodyPr>
          <a:lstStyle/>
          <a:p>
            <a:r>
              <a:rPr sz="1150" b="0">
                <a:solidFill>
                  <a:srgbClr val="2E2E2E"/>
                </a:solidFill>
                <a:latin typeface="Calibri"/>
              </a:rPr>
              <a:t>Europe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16974" y="4542726"/>
            <a:ext cx="134549" cy="195707"/>
          </a:xfrm>
          <a:prstGeom prst="rect">
            <a:avLst/>
          </a:prstGeom>
        </p:spPr>
      </p:pic>
      <p:sp>
        <p:nvSpPr>
          <p:cNvPr id="23" name="TextBox 22"/>
          <p:cNvSpPr txBox="1"/>
          <p:nvPr/>
        </p:nvSpPr>
        <p:spPr>
          <a:xfrm>
            <a:off x="4392083" y="4552950"/>
            <a:ext cx="7403231" cy="194310"/>
          </a:xfrm>
          <a:prstGeom prst="rect">
            <a:avLst/>
          </a:prstGeom>
          <a:noFill/>
        </p:spPr>
        <p:txBody>
          <a:bodyPr wrap="none" lIns="0" rIns="0" tIns="0" bIns="0">
            <a:spAutoFit/>
          </a:bodyPr>
          <a:lstStyle/>
          <a:p>
            <a:r>
              <a:rPr sz="1150" b="0">
                <a:solidFill>
                  <a:srgbClr val="2E2E2E"/>
                </a:solidFill>
                <a:latin typeface="Calibri"/>
              </a:rPr>
              <a:t>X higher volume than North America in 2036. Among removable partial dentures by region, South Asia &amp; Pacific is expected</a:t>
            </a:r>
          </a:p>
        </p:txBody>
      </p:sp>
      <p:sp>
        <p:nvSpPr>
          <p:cNvPr id="24" name="TextBox 23"/>
          <p:cNvSpPr txBox="1"/>
          <p:nvPr/>
        </p:nvSpPr>
        <p:spPr>
          <a:xfrm>
            <a:off x="276225" y="47282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4717986"/>
            <a:ext cx="134549" cy="195707"/>
          </a:xfrm>
          <a:prstGeom prst="rect">
            <a:avLst/>
          </a:prstGeom>
        </p:spPr>
      </p:pic>
      <p:sp>
        <p:nvSpPr>
          <p:cNvPr id="26" name="TextBox 25"/>
          <p:cNvSpPr txBox="1"/>
          <p:nvPr/>
        </p:nvSpPr>
        <p:spPr>
          <a:xfrm>
            <a:off x="2307429" y="47282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56047"/>
            <a:ext cx="5300625" cy="194310"/>
          </a:xfrm>
          <a:prstGeom prst="rect">
            <a:avLst/>
          </a:prstGeom>
          <a:noFill/>
        </p:spPr>
        <p:txBody>
          <a:bodyPr wrap="none" lIns="0" rIns="0" tIns="0" bIns="0">
            <a:spAutoFit/>
          </a:bodyPr>
          <a:lstStyle/>
          <a:p>
            <a:r>
              <a:rPr sz="1150" b="0">
                <a:solidFill>
                  <a:srgbClr val="2E2E2E"/>
                </a:solidFill>
                <a:latin typeface="Calibri"/>
              </a:rPr>
              <a:t>In terms of volume share by region, Europe is expected to dominate the market, gaining</a:t>
            </a:r>
          </a:p>
        </p:txBody>
      </p:sp>
      <p:pic>
        <p:nvPicPr>
          <p:cNvPr id="28" name="Picture 27" descr="lock.png"/>
          <p:cNvPicPr>
            <a:picLocks noChangeAspect="1"/>
          </p:cNvPicPr>
          <p:nvPr/>
        </p:nvPicPr>
        <p:blipFill>
          <a:blip r:embed="rId4"/>
          <a:stretch>
            <a:fillRect/>
          </a:stretch>
        </p:blipFill>
        <p:spPr>
          <a:xfrm>
            <a:off x="5526004" y="4945824"/>
            <a:ext cx="134549" cy="195707"/>
          </a:xfrm>
          <a:prstGeom prst="rect">
            <a:avLst/>
          </a:prstGeom>
        </p:spPr>
      </p:pic>
      <p:sp>
        <p:nvSpPr>
          <p:cNvPr id="29" name="TextBox 28"/>
          <p:cNvSpPr txBox="1"/>
          <p:nvPr/>
        </p:nvSpPr>
        <p:spPr>
          <a:xfrm>
            <a:off x="5701113" y="49560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096256" y="4945824"/>
            <a:ext cx="134549" cy="195707"/>
          </a:xfrm>
          <a:prstGeom prst="rect">
            <a:avLst/>
          </a:prstGeom>
        </p:spPr>
      </p:pic>
      <p:sp>
        <p:nvSpPr>
          <p:cNvPr id="31" name="TextBox 30"/>
          <p:cNvSpPr txBox="1"/>
          <p:nvPr/>
        </p:nvSpPr>
        <p:spPr>
          <a:xfrm>
            <a:off x="7271365" y="4956047"/>
            <a:ext cx="2986645" cy="194310"/>
          </a:xfrm>
          <a:prstGeom prst="rect">
            <a:avLst/>
          </a:prstGeom>
          <a:noFill/>
        </p:spPr>
        <p:txBody>
          <a:bodyPr wrap="none" lIns="0" rIns="0" tIns="0" bIns="0">
            <a:spAutoFit/>
          </a:bodyPr>
          <a:lstStyle/>
          <a:p>
            <a:r>
              <a:rPr sz="1150" b="0">
                <a:solidFill>
                  <a:srgbClr val="2E2E2E"/>
                </a:solidFill>
                <a:latin typeface="Calibri"/>
              </a:rPr>
              <a:t>share by 2036. North America is expected to lose</a:t>
            </a:r>
          </a:p>
        </p:txBody>
      </p:sp>
      <p:pic>
        <p:nvPicPr>
          <p:cNvPr id="32" name="Picture 31" descr="lock.png"/>
          <p:cNvPicPr>
            <a:picLocks noChangeAspect="1"/>
          </p:cNvPicPr>
          <p:nvPr/>
        </p:nvPicPr>
        <p:blipFill>
          <a:blip r:embed="rId4"/>
          <a:stretch>
            <a:fillRect/>
          </a:stretch>
        </p:blipFill>
        <p:spPr>
          <a:xfrm>
            <a:off x="10207165" y="4945824"/>
            <a:ext cx="134549" cy="195707"/>
          </a:xfrm>
          <a:prstGeom prst="rect">
            <a:avLst/>
          </a:prstGeom>
        </p:spPr>
      </p:pic>
      <p:sp>
        <p:nvSpPr>
          <p:cNvPr id="33" name="TextBox 32"/>
          <p:cNvSpPr txBox="1"/>
          <p:nvPr/>
        </p:nvSpPr>
        <p:spPr>
          <a:xfrm>
            <a:off x="10382274" y="4956047"/>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34" name="TextBox 33"/>
          <p:cNvSpPr txBox="1"/>
          <p:nvPr/>
        </p:nvSpPr>
        <p:spPr>
          <a:xfrm>
            <a:off x="276225" y="5131307"/>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35" name="Picture 34" descr="lock.png"/>
          <p:cNvPicPr>
            <a:picLocks noChangeAspect="1"/>
          </p:cNvPicPr>
          <p:nvPr/>
        </p:nvPicPr>
        <p:blipFill>
          <a:blip r:embed="rId4"/>
          <a:stretch>
            <a:fillRect/>
          </a:stretch>
        </p:blipFill>
        <p:spPr>
          <a:xfrm>
            <a:off x="2076999" y="5121084"/>
            <a:ext cx="134549" cy="195707"/>
          </a:xfrm>
          <a:prstGeom prst="rect">
            <a:avLst/>
          </a:prstGeom>
        </p:spPr>
      </p:pic>
      <p:sp>
        <p:nvSpPr>
          <p:cNvPr id="36" name="TextBox 35"/>
          <p:cNvSpPr txBox="1"/>
          <p:nvPr/>
        </p:nvSpPr>
        <p:spPr>
          <a:xfrm>
            <a:off x="2252108" y="51313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22" name="Picture 21" descr="lock.png"/>
          <p:cNvPicPr>
            <a:picLocks noChangeAspect="1"/>
          </p:cNvPicPr>
          <p:nvPr/>
        </p:nvPicPr>
        <p:blipFill>
          <a:blip r:embed="rId4"/>
          <a:stretch>
            <a:fillRect/>
          </a:stretch>
        </p:blipFill>
        <p:spPr>
          <a:xfrm>
            <a:off x="4663111" y="3961701"/>
            <a:ext cx="134549" cy="195707"/>
          </a:xfrm>
          <a:prstGeom prst="rect">
            <a:avLst/>
          </a:prstGeom>
        </p:spPr>
      </p:pic>
      <p:sp>
        <p:nvSpPr>
          <p:cNvPr id="23" name="TextBox 22"/>
          <p:cNvSpPr txBox="1"/>
          <p:nvPr/>
        </p:nvSpPr>
        <p:spPr>
          <a:xfrm>
            <a:off x="4838220" y="3971925"/>
            <a:ext cx="6992466" cy="194310"/>
          </a:xfrm>
          <a:prstGeom prst="rect">
            <a:avLst/>
          </a:prstGeom>
          <a:noFill/>
        </p:spPr>
        <p:txBody>
          <a:bodyPr wrap="none" lIns="0" rIns="0" tIns="0" bIns="0">
            <a:spAutoFit/>
          </a:bodyPr>
          <a:lstStyle/>
          <a:p>
            <a:r>
              <a:rPr sz="1150" b="0">
                <a:solidFill>
                  <a:srgbClr val="2E2E2E"/>
                </a:solidFill>
                <a:latin typeface="Calibri"/>
              </a:rPr>
              <a:t>X higher value than Europe in 2036. Among removable partial dentures by region, South Asia &amp; Pacific is expected to</a:t>
            </a:r>
          </a:p>
        </p:txBody>
      </p:sp>
      <p:sp>
        <p:nvSpPr>
          <p:cNvPr id="24" name="TextBox 23"/>
          <p:cNvSpPr txBox="1"/>
          <p:nvPr/>
        </p:nvSpPr>
        <p:spPr>
          <a:xfrm>
            <a:off x="276225" y="414718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25" name="Picture 24" descr="lock.png"/>
          <p:cNvPicPr>
            <a:picLocks noChangeAspect="1"/>
          </p:cNvPicPr>
          <p:nvPr/>
        </p:nvPicPr>
        <p:blipFill>
          <a:blip r:embed="rId4"/>
          <a:stretch>
            <a:fillRect/>
          </a:stretch>
        </p:blipFill>
        <p:spPr>
          <a:xfrm>
            <a:off x="1973149" y="4136961"/>
            <a:ext cx="134549" cy="195707"/>
          </a:xfrm>
          <a:prstGeom prst="rect">
            <a:avLst/>
          </a:prstGeom>
        </p:spPr>
      </p:pic>
      <p:sp>
        <p:nvSpPr>
          <p:cNvPr id="26" name="TextBox 25"/>
          <p:cNvSpPr txBox="1"/>
          <p:nvPr/>
        </p:nvSpPr>
        <p:spPr>
          <a:xfrm>
            <a:off x="2148258"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5541664"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767043" y="4364799"/>
            <a:ext cx="134549" cy="195707"/>
          </a:xfrm>
          <a:prstGeom prst="rect">
            <a:avLst/>
          </a:prstGeom>
        </p:spPr>
      </p:pic>
      <p:sp>
        <p:nvSpPr>
          <p:cNvPr id="29" name="TextBox 28"/>
          <p:cNvSpPr txBox="1"/>
          <p:nvPr/>
        </p:nvSpPr>
        <p:spPr>
          <a:xfrm>
            <a:off x="5942153"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337296" y="4364799"/>
            <a:ext cx="134549" cy="195707"/>
          </a:xfrm>
          <a:prstGeom prst="rect">
            <a:avLst/>
          </a:prstGeom>
        </p:spPr>
      </p:pic>
      <p:sp>
        <p:nvSpPr>
          <p:cNvPr id="31" name="TextBox 30"/>
          <p:cNvSpPr txBox="1"/>
          <p:nvPr/>
        </p:nvSpPr>
        <p:spPr>
          <a:xfrm>
            <a:off x="7512405"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008189"/>
                </a:solidFill>
                <a:latin typeface="Calibri"/>
              </a:rPr>
              <a:t>■  </a:t>
            </a:r>
            <a:r>
              <a:rPr sz="750">
                <a:solidFill>
                  <a:srgbClr val="2E2E2E"/>
                </a:solidFill>
                <a:latin typeface="Calibri"/>
              </a:rPr>
              <a:t>   South Asia &amp; Pacific</a:t>
            </a:r>
          </a:p>
          <a:p>
            <a:pPr>
              <a:spcBef>
                <a:spcPts val="500"/>
              </a:spcBef>
            </a:pPr>
            <a:r>
              <a:rPr sz="900">
                <a:solidFill>
                  <a:srgbClr val="40315E"/>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4653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84657" y="1266825"/>
            <a:ext cx="3441005" cy="288712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84657" y="4153949"/>
            <a:ext cx="3441005" cy="2418301"/>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925663" y="1266825"/>
            <a:ext cx="2853844" cy="2242469"/>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779506" y="1266825"/>
            <a:ext cx="2174369" cy="224246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925663" y="3509294"/>
            <a:ext cx="2443098" cy="164104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925663" y="5150343"/>
            <a:ext cx="2443098" cy="1421907"/>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368761" y="3509294"/>
            <a:ext cx="1303924" cy="211052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72685" y="3509294"/>
            <a:ext cx="1281190" cy="2110527"/>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368761" y="5619821"/>
            <a:ext cx="2585114" cy="95242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70695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5050721" y="2710387"/>
            <a:ext cx="308877" cy="449275"/>
          </a:xfrm>
          <a:prstGeom prst="rect">
            <a:avLst/>
          </a:prstGeom>
        </p:spPr>
      </p:pic>
      <p:pic>
        <p:nvPicPr>
          <p:cNvPr id="26" name="Picture 25" descr="lock.png"/>
          <p:cNvPicPr>
            <a:picLocks noChangeAspect="1"/>
          </p:cNvPicPr>
          <p:nvPr/>
        </p:nvPicPr>
        <p:blipFill>
          <a:blip r:embed="rId4"/>
          <a:stretch>
            <a:fillRect/>
          </a:stretch>
        </p:blipFill>
        <p:spPr>
          <a:xfrm>
            <a:off x="5050721" y="5363099"/>
            <a:ext cx="308877" cy="449275"/>
          </a:xfrm>
          <a:prstGeom prst="rect">
            <a:avLst/>
          </a:prstGeom>
        </p:spPr>
      </p:pic>
      <p:pic>
        <p:nvPicPr>
          <p:cNvPr id="27" name="Picture 26" descr="lock.png"/>
          <p:cNvPicPr>
            <a:picLocks noChangeAspect="1"/>
          </p:cNvPicPr>
          <p:nvPr/>
        </p:nvPicPr>
        <p:blipFill>
          <a:blip r:embed="rId4"/>
          <a:stretch>
            <a:fillRect/>
          </a:stretch>
        </p:blipFill>
        <p:spPr>
          <a:xfrm>
            <a:off x="8198146" y="2388059"/>
            <a:ext cx="308877" cy="449275"/>
          </a:xfrm>
          <a:prstGeom prst="rect">
            <a:avLst/>
          </a:prstGeom>
        </p:spPr>
      </p:pic>
      <p:pic>
        <p:nvPicPr>
          <p:cNvPr id="28" name="Picture 27" descr="lock.png"/>
          <p:cNvPicPr>
            <a:picLocks noChangeAspect="1"/>
          </p:cNvPicPr>
          <p:nvPr/>
        </p:nvPicPr>
        <p:blipFill>
          <a:blip r:embed="rId4"/>
          <a:stretch>
            <a:fillRect/>
          </a:stretch>
        </p:blipFill>
        <p:spPr>
          <a:xfrm>
            <a:off x="10712252" y="2388059"/>
            <a:ext cx="308877" cy="449275"/>
          </a:xfrm>
          <a:prstGeom prst="rect">
            <a:avLst/>
          </a:prstGeom>
        </p:spPr>
      </p:pic>
      <p:pic>
        <p:nvPicPr>
          <p:cNvPr id="29" name="Picture 28" descr="lock.png"/>
          <p:cNvPicPr>
            <a:picLocks noChangeAspect="1"/>
          </p:cNvPicPr>
          <p:nvPr/>
        </p:nvPicPr>
        <p:blipFill>
          <a:blip r:embed="rId4"/>
          <a:stretch>
            <a:fillRect/>
          </a:stretch>
        </p:blipFill>
        <p:spPr>
          <a:xfrm>
            <a:off x="7992773" y="4329818"/>
            <a:ext cx="308877" cy="449275"/>
          </a:xfrm>
          <a:prstGeom prst="rect">
            <a:avLst/>
          </a:prstGeom>
        </p:spPr>
      </p:pic>
      <p:pic>
        <p:nvPicPr>
          <p:cNvPr id="30" name="Picture 29" descr="lock.png"/>
          <p:cNvPicPr>
            <a:picLocks noChangeAspect="1"/>
          </p:cNvPicPr>
          <p:nvPr/>
        </p:nvPicPr>
        <p:blipFill>
          <a:blip r:embed="rId4"/>
          <a:stretch>
            <a:fillRect/>
          </a:stretch>
        </p:blipFill>
        <p:spPr>
          <a:xfrm>
            <a:off x="7992773" y="5861296"/>
            <a:ext cx="308877" cy="449275"/>
          </a:xfrm>
          <a:prstGeom prst="rect">
            <a:avLst/>
          </a:prstGeom>
        </p:spPr>
      </p:pic>
      <p:pic>
        <p:nvPicPr>
          <p:cNvPr id="31" name="Picture 30" descr="lock.png"/>
          <p:cNvPicPr>
            <a:picLocks noChangeAspect="1"/>
          </p:cNvPicPr>
          <p:nvPr/>
        </p:nvPicPr>
        <p:blipFill>
          <a:blip r:embed="rId4"/>
          <a:stretch>
            <a:fillRect/>
          </a:stretch>
        </p:blipFill>
        <p:spPr>
          <a:xfrm>
            <a:off x="9866284" y="4564557"/>
            <a:ext cx="308877" cy="449275"/>
          </a:xfrm>
          <a:prstGeom prst="rect">
            <a:avLst/>
          </a:prstGeom>
        </p:spPr>
      </p:pic>
      <p:pic>
        <p:nvPicPr>
          <p:cNvPr id="32" name="Picture 31" descr="lock.png"/>
          <p:cNvPicPr>
            <a:picLocks noChangeAspect="1"/>
          </p:cNvPicPr>
          <p:nvPr/>
        </p:nvPicPr>
        <p:blipFill>
          <a:blip r:embed="rId4"/>
          <a:stretch>
            <a:fillRect/>
          </a:stretch>
        </p:blipFill>
        <p:spPr>
          <a:xfrm>
            <a:off x="11158841" y="4564557"/>
            <a:ext cx="308877" cy="449275"/>
          </a:xfrm>
          <a:prstGeom prst="rect">
            <a:avLst/>
          </a:prstGeom>
        </p:spPr>
      </p:pic>
      <p:pic>
        <p:nvPicPr>
          <p:cNvPr id="33" name="Picture 32" descr="lock.png"/>
          <p:cNvPicPr>
            <a:picLocks noChangeAspect="1"/>
          </p:cNvPicPr>
          <p:nvPr/>
        </p:nvPicPr>
        <p:blipFill>
          <a:blip r:embed="rId4"/>
          <a:stretch>
            <a:fillRect/>
          </a:stretch>
        </p:blipFill>
        <p:spPr>
          <a:xfrm>
            <a:off x="10506879" y="6096035"/>
            <a:ext cx="308877" cy="449275"/>
          </a:xfrm>
          <a:prstGeom prst="rect">
            <a:avLst/>
          </a:prstGeom>
        </p:spPr>
      </p:pic>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392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529_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80_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67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32_5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431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4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19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02_7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3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05397" cy="186689"/>
          </a:xfrm>
          <a:prstGeom prst="rect">
            <a:avLst/>
          </a:prstGeom>
          <a:noFill/>
        </p:spPr>
        <p:txBody>
          <a:bodyPr wrap="none" lIns="0" rIns="0" tIns="0" bIns="0">
            <a:spAutoFit/>
          </a:bodyPr>
          <a:lstStyle/>
          <a:p>
            <a:r>
              <a:rPr sz="1100" b="0">
                <a:solidFill>
                  <a:srgbClr val="2E2E2E"/>
                </a:solidFill>
                <a:latin typeface="Calibri"/>
              </a:rPr>
              <a:t>▪ ¶ Among removable partial dentures by product</a:t>
            </a:r>
          </a:p>
        </p:txBody>
      </p:sp>
      <p:sp>
        <p:nvSpPr>
          <p:cNvPr id="81" name="TextBox 80"/>
          <p:cNvSpPr txBox="1"/>
          <p:nvPr/>
        </p:nvSpPr>
        <p:spPr>
          <a:xfrm>
            <a:off x="485775" y="4397077"/>
            <a:ext cx="2564060" cy="186689"/>
          </a:xfrm>
          <a:prstGeom prst="rect">
            <a:avLst/>
          </a:prstGeom>
          <a:noFill/>
        </p:spPr>
        <p:txBody>
          <a:bodyPr wrap="none" lIns="0" rIns="0" tIns="0" bIns="0">
            <a:spAutoFit/>
          </a:bodyPr>
          <a:lstStyle/>
          <a:p>
            <a:r>
              <a:rPr sz="1100" b="0">
                <a:solidFill>
                  <a:srgbClr val="2E2E2E"/>
                </a:solidFill>
                <a:latin typeface="Calibri"/>
              </a:rPr>
              <a:t>type, cast metal partial dentures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product type, the flexible partial dentures segment</a:t>
            </a:r>
          </a:p>
        </p:txBody>
      </p:sp>
      <p:sp>
        <p:nvSpPr>
          <p:cNvPr id="87" name="TextBox 86"/>
          <p:cNvSpPr txBox="1"/>
          <p:nvPr/>
        </p:nvSpPr>
        <p:spPr>
          <a:xfrm>
            <a:off x="485775" y="5067637"/>
            <a:ext cx="2507307" cy="186689"/>
          </a:xfrm>
          <a:prstGeom prst="rect">
            <a:avLst/>
          </a:prstGeom>
          <a:noFill/>
        </p:spPr>
        <p:txBody>
          <a:bodyPr wrap="none" lIns="0" rIns="0" tIns="0" bIns="0">
            <a:spAutoFit/>
          </a:bodyPr>
          <a:lstStyle/>
          <a:p>
            <a:r>
              <a:rPr sz="1100" b="0">
                <a:solidFill>
                  <a:srgbClr val="2E2E2E"/>
                </a:solidFill>
                <a:latin typeface="Calibri"/>
              </a:rPr>
              <a:t>is expected to dominate the market, losing</a:t>
            </a:r>
          </a:p>
        </p:txBody>
      </p:sp>
      <p:pic>
        <p:nvPicPr>
          <p:cNvPr id="88" name="Picture 87" descr="lock.png"/>
          <p:cNvPicPr>
            <a:picLocks noChangeAspect="1"/>
          </p:cNvPicPr>
          <p:nvPr/>
        </p:nvPicPr>
        <p:blipFill>
          <a:blip r:embed="rId16"/>
          <a:stretch>
            <a:fillRect/>
          </a:stretch>
        </p:blipFill>
        <p:spPr>
          <a:xfrm>
            <a:off x="2941134" y="5057858"/>
            <a:ext cx="128699" cy="187198"/>
          </a:xfrm>
          <a:prstGeom prst="rect">
            <a:avLst/>
          </a:prstGeom>
        </p:spPr>
      </p:pic>
      <p:sp>
        <p:nvSpPr>
          <p:cNvPr id="89" name="TextBox 88"/>
          <p:cNvSpPr txBox="1"/>
          <p:nvPr/>
        </p:nvSpPr>
        <p:spPr>
          <a:xfrm>
            <a:off x="485775"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90" name="Picture 89" descr="lock.png"/>
          <p:cNvPicPr>
            <a:picLocks noChangeAspect="1"/>
          </p:cNvPicPr>
          <p:nvPr/>
        </p:nvPicPr>
        <p:blipFill>
          <a:blip r:embed="rId16"/>
          <a:stretch>
            <a:fillRect/>
          </a:stretch>
        </p:blipFill>
        <p:spPr>
          <a:xfrm>
            <a:off x="1820259" y="5225498"/>
            <a:ext cx="128699" cy="187198"/>
          </a:xfrm>
          <a:prstGeom prst="rect">
            <a:avLst/>
          </a:prstGeom>
        </p:spPr>
      </p:pic>
      <p:sp>
        <p:nvSpPr>
          <p:cNvPr id="91" name="TextBox 90"/>
          <p:cNvSpPr txBox="1"/>
          <p:nvPr/>
        </p:nvSpPr>
        <p:spPr>
          <a:xfrm>
            <a:off x="198775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2" name="TextBox 91"/>
          <p:cNvSpPr txBox="1"/>
          <p:nvPr/>
        </p:nvSpPr>
        <p:spPr>
          <a:xfrm>
            <a:off x="485775" y="5453209"/>
            <a:ext cx="2866107" cy="186689"/>
          </a:xfrm>
          <a:prstGeom prst="rect">
            <a:avLst/>
          </a:prstGeom>
          <a:noFill/>
        </p:spPr>
        <p:txBody>
          <a:bodyPr wrap="none" lIns="0" rIns="0" tIns="0" bIns="0">
            <a:spAutoFit/>
          </a:bodyPr>
          <a:lstStyle/>
          <a:p>
            <a:r>
              <a:rPr sz="1100" b="0">
                <a:solidFill>
                  <a:srgbClr val="2E2E2E"/>
                </a:solidFill>
                <a:latin typeface="Calibri"/>
              </a:rPr>
              <a:t>▪ ¶ Flexible partial dentures segment is projected</a:t>
            </a:r>
          </a:p>
        </p:txBody>
      </p:sp>
      <p:sp>
        <p:nvSpPr>
          <p:cNvPr id="93" name="TextBox 9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94" name="Picture 93" descr="lock.png"/>
          <p:cNvPicPr>
            <a:picLocks noChangeAspect="1"/>
          </p:cNvPicPr>
          <p:nvPr/>
        </p:nvPicPr>
        <p:blipFill>
          <a:blip r:embed="rId16"/>
          <a:stretch>
            <a:fillRect/>
          </a:stretch>
        </p:blipFill>
        <p:spPr>
          <a:xfrm>
            <a:off x="1098567" y="5611070"/>
            <a:ext cx="128699" cy="187198"/>
          </a:xfrm>
          <a:prstGeom prst="rect">
            <a:avLst/>
          </a:prstGeom>
        </p:spPr>
      </p:pic>
      <p:sp>
        <p:nvSpPr>
          <p:cNvPr id="95" name="TextBox 94"/>
          <p:cNvSpPr txBox="1"/>
          <p:nvPr/>
        </p:nvSpPr>
        <p:spPr>
          <a:xfrm>
            <a:off x="1266063" y="5620849"/>
            <a:ext cx="1920676" cy="186689"/>
          </a:xfrm>
          <a:prstGeom prst="rect">
            <a:avLst/>
          </a:prstGeom>
          <a:noFill/>
        </p:spPr>
        <p:txBody>
          <a:bodyPr wrap="none" lIns="0" rIns="0" tIns="0" bIns="0">
            <a:spAutoFit/>
          </a:bodyPr>
          <a:lstStyle/>
          <a:p>
            <a:r>
              <a:rPr sz="1100" b="0">
                <a:solidFill>
                  <a:srgbClr val="2E2E2E"/>
                </a:solidFill>
                <a:latin typeface="Calibri"/>
              </a:rPr>
              <a:t>X higher value than combination</a:t>
            </a:r>
          </a:p>
        </p:txBody>
      </p:sp>
      <p:sp>
        <p:nvSpPr>
          <p:cNvPr id="96" name="TextBox 95"/>
          <p:cNvSpPr txBox="1"/>
          <p:nvPr/>
        </p:nvSpPr>
        <p:spPr>
          <a:xfrm>
            <a:off x="485775" y="5788489"/>
            <a:ext cx="2652737" cy="186689"/>
          </a:xfrm>
          <a:prstGeom prst="rect">
            <a:avLst/>
          </a:prstGeom>
          <a:noFill/>
        </p:spPr>
        <p:txBody>
          <a:bodyPr wrap="none" lIns="0" rIns="0" tIns="0" bIns="0">
            <a:spAutoFit/>
          </a:bodyPr>
          <a:lstStyle/>
          <a:p>
            <a:r>
              <a:rPr sz="1100" b="0">
                <a:solidFill>
                  <a:srgbClr val="2E2E2E"/>
                </a:solidFill>
                <a:latin typeface="Calibri"/>
              </a:rPr>
              <a:t>framework partial dentures segment in 2036.</a:t>
            </a:r>
          </a:p>
        </p:txBody>
      </p:sp>
      <p:sp>
        <p:nvSpPr>
          <p:cNvPr id="97" name="TextBox 96"/>
          <p:cNvSpPr txBox="1"/>
          <p:nvPr/>
        </p:nvSpPr>
        <p:spPr>
          <a:xfrm>
            <a:off x="3838575" y="4229437"/>
            <a:ext cx="1615082" cy="186689"/>
          </a:xfrm>
          <a:prstGeom prst="rect">
            <a:avLst/>
          </a:prstGeom>
          <a:noFill/>
        </p:spPr>
        <p:txBody>
          <a:bodyPr wrap="none" lIns="0" rIns="0" tIns="0" bIns="0">
            <a:spAutoFit/>
          </a:bodyPr>
          <a:lstStyle/>
          <a:p>
            <a:r>
              <a:rPr sz="1100" b="0">
                <a:solidFill>
                  <a:srgbClr val="2E2E2E"/>
                </a:solidFill>
                <a:latin typeface="Calibri"/>
              </a:rPr>
              <a:t>● Flexible Partial Dentures:</a:t>
            </a:r>
          </a:p>
        </p:txBody>
      </p:sp>
      <p:pic>
        <p:nvPicPr>
          <p:cNvPr id="98" name="Picture 97" descr="lock.png"/>
          <p:cNvPicPr>
            <a:picLocks noChangeAspect="1"/>
          </p:cNvPicPr>
          <p:nvPr/>
        </p:nvPicPr>
        <p:blipFill>
          <a:blip r:embed="rId16"/>
          <a:stretch>
            <a:fillRect/>
          </a:stretch>
        </p:blipFill>
        <p:spPr>
          <a:xfrm>
            <a:off x="5401709" y="4219658"/>
            <a:ext cx="128699" cy="187198"/>
          </a:xfrm>
          <a:prstGeom prst="rect">
            <a:avLst/>
          </a:prstGeom>
        </p:spPr>
      </p:pic>
      <p:sp>
        <p:nvSpPr>
          <p:cNvPr id="99" name="TextBox 98"/>
          <p:cNvSpPr txBox="1"/>
          <p:nvPr/>
        </p:nvSpPr>
        <p:spPr>
          <a:xfrm>
            <a:off x="55692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428655" y="4219658"/>
            <a:ext cx="128699" cy="187198"/>
          </a:xfrm>
          <a:prstGeom prst="rect">
            <a:avLst/>
          </a:prstGeom>
        </p:spPr>
      </p:pic>
      <p:sp>
        <p:nvSpPr>
          <p:cNvPr id="101" name="TextBox 100"/>
          <p:cNvSpPr txBox="1"/>
          <p:nvPr/>
        </p:nvSpPr>
        <p:spPr>
          <a:xfrm>
            <a:off x="659615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02" name="TextBox 10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03" name="TextBox 102"/>
          <p:cNvSpPr txBox="1"/>
          <p:nvPr/>
        </p:nvSpPr>
        <p:spPr>
          <a:xfrm>
            <a:off x="3838575" y="4615009"/>
            <a:ext cx="2591618" cy="186689"/>
          </a:xfrm>
          <a:prstGeom prst="rect">
            <a:avLst/>
          </a:prstGeom>
          <a:noFill/>
        </p:spPr>
        <p:txBody>
          <a:bodyPr wrap="none" lIns="0" rIns="0" tIns="0" bIns="0">
            <a:spAutoFit/>
          </a:bodyPr>
          <a:lstStyle/>
          <a:p>
            <a:r>
              <a:rPr sz="1100" b="0">
                <a:solidFill>
                  <a:srgbClr val="2E2E2E"/>
                </a:solidFill>
                <a:latin typeface="Calibri"/>
              </a:rPr>
              <a:t>● Combination Framework Partial Dentures:</a:t>
            </a:r>
          </a:p>
        </p:txBody>
      </p:sp>
      <p:pic>
        <p:nvPicPr>
          <p:cNvPr id="104" name="Picture 103" descr="lock.png"/>
          <p:cNvPicPr>
            <a:picLocks noChangeAspect="1"/>
          </p:cNvPicPr>
          <p:nvPr/>
        </p:nvPicPr>
        <p:blipFill>
          <a:blip r:embed="rId16"/>
          <a:stretch>
            <a:fillRect/>
          </a:stretch>
        </p:blipFill>
        <p:spPr>
          <a:xfrm>
            <a:off x="6378245" y="4605230"/>
            <a:ext cx="128699" cy="187198"/>
          </a:xfrm>
          <a:prstGeom prst="rect">
            <a:avLst/>
          </a:prstGeom>
        </p:spPr>
      </p:pic>
      <p:sp>
        <p:nvSpPr>
          <p:cNvPr id="105" name="TextBox 104"/>
          <p:cNvSpPr txBox="1"/>
          <p:nvPr/>
        </p:nvSpPr>
        <p:spPr>
          <a:xfrm>
            <a:off x="654574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405191" y="4605230"/>
            <a:ext cx="128699" cy="187198"/>
          </a:xfrm>
          <a:prstGeom prst="rect">
            <a:avLst/>
          </a:prstGeom>
        </p:spPr>
      </p:pic>
      <p:sp>
        <p:nvSpPr>
          <p:cNvPr id="107" name="TextBox 106"/>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5000581"/>
            <a:ext cx="1790799" cy="186689"/>
          </a:xfrm>
          <a:prstGeom prst="rect">
            <a:avLst/>
          </a:prstGeom>
          <a:noFill/>
        </p:spPr>
        <p:txBody>
          <a:bodyPr wrap="none" lIns="0" rIns="0" tIns="0" bIns="0">
            <a:spAutoFit/>
          </a:bodyPr>
          <a:lstStyle/>
          <a:p>
            <a:r>
              <a:rPr sz="1100" b="0">
                <a:solidFill>
                  <a:srgbClr val="2E2E2E"/>
                </a:solidFill>
                <a:latin typeface="Calibri"/>
              </a:rPr>
              <a:t>● Cast Metal Partial Dentures:</a:t>
            </a:r>
          </a:p>
        </p:txBody>
      </p:sp>
      <p:pic>
        <p:nvPicPr>
          <p:cNvPr id="109" name="Picture 108" descr="lock.png"/>
          <p:cNvPicPr>
            <a:picLocks noChangeAspect="1"/>
          </p:cNvPicPr>
          <p:nvPr/>
        </p:nvPicPr>
        <p:blipFill>
          <a:blip r:embed="rId16"/>
          <a:stretch>
            <a:fillRect/>
          </a:stretch>
        </p:blipFill>
        <p:spPr>
          <a:xfrm>
            <a:off x="5577425" y="4990801"/>
            <a:ext cx="128699" cy="187198"/>
          </a:xfrm>
          <a:prstGeom prst="rect">
            <a:avLst/>
          </a:prstGeom>
        </p:spPr>
      </p:pic>
      <p:sp>
        <p:nvSpPr>
          <p:cNvPr id="110" name="TextBox 109"/>
          <p:cNvSpPr txBox="1"/>
          <p:nvPr/>
        </p:nvSpPr>
        <p:spPr>
          <a:xfrm>
            <a:off x="574492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6604371" y="4990801"/>
            <a:ext cx="128699" cy="187198"/>
          </a:xfrm>
          <a:prstGeom prst="rect">
            <a:avLst/>
          </a:prstGeom>
        </p:spPr>
      </p:pic>
      <p:sp>
        <p:nvSpPr>
          <p:cNvPr id="112" name="TextBox 111"/>
          <p:cNvSpPr txBox="1"/>
          <p:nvPr/>
        </p:nvSpPr>
        <p:spPr>
          <a:xfrm>
            <a:off x="6771867" y="500058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3" name="TextBox 112"/>
          <p:cNvSpPr txBox="1"/>
          <p:nvPr/>
        </p:nvSpPr>
        <p:spPr>
          <a:xfrm>
            <a:off x="3838575" y="516822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4" name="TextBox 113"/>
          <p:cNvSpPr txBox="1"/>
          <p:nvPr/>
        </p:nvSpPr>
        <p:spPr>
          <a:xfrm>
            <a:off x="3838575" y="5386153"/>
            <a:ext cx="1556965" cy="186689"/>
          </a:xfrm>
          <a:prstGeom prst="rect">
            <a:avLst/>
          </a:prstGeom>
          <a:noFill/>
        </p:spPr>
        <p:txBody>
          <a:bodyPr wrap="none" lIns="0" rIns="0" tIns="0" bIns="0">
            <a:spAutoFit/>
          </a:bodyPr>
          <a:lstStyle/>
          <a:p>
            <a:r>
              <a:rPr sz="1100" b="0">
                <a:solidFill>
                  <a:srgbClr val="2E2E2E"/>
                </a:solidFill>
                <a:latin typeface="Calibri"/>
              </a:rPr>
              <a:t>● Acrylic Partial Dentures:</a:t>
            </a:r>
          </a:p>
        </p:txBody>
      </p:sp>
      <p:pic>
        <p:nvPicPr>
          <p:cNvPr id="115" name="Picture 114" descr="lock.png"/>
          <p:cNvPicPr>
            <a:picLocks noChangeAspect="1"/>
          </p:cNvPicPr>
          <p:nvPr/>
        </p:nvPicPr>
        <p:blipFill>
          <a:blip r:embed="rId16"/>
          <a:stretch>
            <a:fillRect/>
          </a:stretch>
        </p:blipFill>
        <p:spPr>
          <a:xfrm>
            <a:off x="5343592" y="5376373"/>
            <a:ext cx="128699" cy="187198"/>
          </a:xfrm>
          <a:prstGeom prst="rect">
            <a:avLst/>
          </a:prstGeom>
        </p:spPr>
      </p:pic>
      <p:sp>
        <p:nvSpPr>
          <p:cNvPr id="116" name="TextBox 115"/>
          <p:cNvSpPr txBox="1"/>
          <p:nvPr/>
        </p:nvSpPr>
        <p:spPr>
          <a:xfrm>
            <a:off x="5511087"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7" name="Picture 116" descr="lock.png"/>
          <p:cNvPicPr>
            <a:picLocks noChangeAspect="1"/>
          </p:cNvPicPr>
          <p:nvPr/>
        </p:nvPicPr>
        <p:blipFill>
          <a:blip r:embed="rId16"/>
          <a:stretch>
            <a:fillRect/>
          </a:stretch>
        </p:blipFill>
        <p:spPr>
          <a:xfrm>
            <a:off x="6370538" y="5376373"/>
            <a:ext cx="128699" cy="187198"/>
          </a:xfrm>
          <a:prstGeom prst="rect">
            <a:avLst/>
          </a:prstGeom>
        </p:spPr>
      </p:pic>
      <p:sp>
        <p:nvSpPr>
          <p:cNvPr id="118" name="TextBox 117"/>
          <p:cNvSpPr txBox="1"/>
          <p:nvPr/>
        </p:nvSpPr>
        <p:spPr>
          <a:xfrm>
            <a:off x="6538033" y="538615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Cast metal partial dentures followed by combination framework partial dentures are expected to be the two most attractive product type segments in the global removable partial dentures market in terms</a:t>
            </a:r>
          </a:p>
        </p:txBody>
      </p:sp>
      <p:sp>
        <p:nvSpPr>
          <p:cNvPr id="21" name="TextBox 20"/>
          <p:cNvSpPr txBox="1"/>
          <p:nvPr/>
        </p:nvSpPr>
        <p:spPr>
          <a:xfrm>
            <a:off x="257175" y="5861685"/>
            <a:ext cx="7491469" cy="186689"/>
          </a:xfrm>
          <a:prstGeom prst="rect">
            <a:avLst/>
          </a:prstGeom>
          <a:noFill/>
        </p:spPr>
        <p:txBody>
          <a:bodyPr wrap="none" lIns="0" rIns="0" tIns="0" bIns="0">
            <a:spAutoFit/>
          </a:bodyPr>
          <a:lstStyle/>
          <a:p>
            <a:r>
              <a:rPr sz="1100" b="0">
                <a:solidFill>
                  <a:srgbClr val="2E2E2E"/>
                </a:solidFill>
                <a:latin typeface="Calibri"/>
              </a:rPr>
              <a:t>of value over the forecast period. Cast metal partial dentures and combination framework partial dentures exhibit a CAGR index of</a:t>
            </a:r>
          </a:p>
        </p:txBody>
      </p:sp>
      <p:pic>
        <p:nvPicPr>
          <p:cNvPr id="22" name="Picture 21" descr="lock.png"/>
          <p:cNvPicPr>
            <a:picLocks noChangeAspect="1"/>
          </p:cNvPicPr>
          <p:nvPr/>
        </p:nvPicPr>
        <p:blipFill>
          <a:blip r:embed="rId6"/>
          <a:stretch>
            <a:fillRect/>
          </a:stretch>
        </p:blipFill>
        <p:spPr>
          <a:xfrm>
            <a:off x="7696696" y="5851905"/>
            <a:ext cx="128699" cy="187198"/>
          </a:xfrm>
          <a:prstGeom prst="rect">
            <a:avLst/>
          </a:prstGeom>
        </p:spPr>
      </p:pic>
      <p:sp>
        <p:nvSpPr>
          <p:cNvPr id="23" name="TextBox 22"/>
          <p:cNvSpPr txBox="1"/>
          <p:nvPr/>
        </p:nvSpPr>
        <p:spPr>
          <a:xfrm>
            <a:off x="786419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102086" y="5851905"/>
            <a:ext cx="128699" cy="187198"/>
          </a:xfrm>
          <a:prstGeom prst="rect">
            <a:avLst/>
          </a:prstGeom>
        </p:spPr>
      </p:pic>
      <p:sp>
        <p:nvSpPr>
          <p:cNvPr id="25" name="TextBox 24"/>
          <p:cNvSpPr txBox="1"/>
          <p:nvPr/>
        </p:nvSpPr>
        <p:spPr>
          <a:xfrm>
            <a:off x="826958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878555" y="5851905"/>
            <a:ext cx="128699" cy="187198"/>
          </a:xfrm>
          <a:prstGeom prst="rect">
            <a:avLst/>
          </a:prstGeom>
        </p:spPr>
      </p:pic>
      <p:sp>
        <p:nvSpPr>
          <p:cNvPr id="27" name="TextBox 26"/>
          <p:cNvSpPr txBox="1"/>
          <p:nvPr/>
        </p:nvSpPr>
        <p:spPr>
          <a:xfrm>
            <a:off x="1004605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283946" y="5851905"/>
            <a:ext cx="128699" cy="187198"/>
          </a:xfrm>
          <a:prstGeom prst="rect">
            <a:avLst/>
          </a:prstGeom>
        </p:spPr>
      </p:pic>
      <p:sp>
        <p:nvSpPr>
          <p:cNvPr id="29" name="TextBox 28"/>
          <p:cNvSpPr txBox="1"/>
          <p:nvPr/>
        </p:nvSpPr>
        <p:spPr>
          <a:xfrm>
            <a:off x="10451441" y="5861685"/>
            <a:ext cx="793526"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30" name="TextBox 29"/>
          <p:cNvSpPr txBox="1"/>
          <p:nvPr/>
        </p:nvSpPr>
        <p:spPr>
          <a:xfrm>
            <a:off x="257175" y="6029325"/>
            <a:ext cx="1857375" cy="186689"/>
          </a:xfrm>
          <a:prstGeom prst="rect">
            <a:avLst/>
          </a:prstGeom>
          <a:noFill/>
        </p:spPr>
        <p:txBody>
          <a:bodyPr wrap="none" lIns="0" rIns="0" tIns="0" bIns="0">
            <a:spAutoFit/>
          </a:bodyPr>
          <a:lstStyle/>
          <a:p>
            <a:r>
              <a:rPr sz="1100" b="0">
                <a:solidFill>
                  <a:srgbClr val="2E2E2E"/>
                </a:solidFill>
                <a:latin typeface="Calibri"/>
              </a:rPr>
              <a:t>against the segment average of</a:t>
            </a:r>
          </a:p>
        </p:txBody>
      </p:sp>
      <p:pic>
        <p:nvPicPr>
          <p:cNvPr id="31" name="Picture 30" descr="lock.png"/>
          <p:cNvPicPr>
            <a:picLocks noChangeAspect="1"/>
          </p:cNvPicPr>
          <p:nvPr/>
        </p:nvPicPr>
        <p:blipFill>
          <a:blip r:embed="rId6"/>
          <a:stretch>
            <a:fillRect/>
          </a:stretch>
        </p:blipFill>
        <p:spPr>
          <a:xfrm>
            <a:off x="2062601" y="6019545"/>
            <a:ext cx="128699" cy="187198"/>
          </a:xfrm>
          <a:prstGeom prst="rect">
            <a:avLst/>
          </a:prstGeom>
        </p:spPr>
      </p:pic>
      <p:sp>
        <p:nvSpPr>
          <p:cNvPr id="32" name="TextBox 31"/>
          <p:cNvSpPr txBox="1"/>
          <p:nvPr/>
        </p:nvSpPr>
        <p:spPr>
          <a:xfrm>
            <a:off x="2230097" y="6029325"/>
            <a:ext cx="9668279" cy="186689"/>
          </a:xfrm>
          <a:prstGeom prst="rect">
            <a:avLst/>
          </a:prstGeom>
          <a:noFill/>
        </p:spPr>
        <p:txBody>
          <a:bodyPr wrap="none" lIns="0" rIns="0" tIns="0" bIns="0">
            <a:spAutoFit/>
          </a:bodyPr>
          <a:lstStyle/>
          <a:p>
            <a:r>
              <a:rPr sz="1100" b="0">
                <a:solidFill>
                  <a:srgbClr val="2E2E2E"/>
                </a:solidFill>
                <a:latin typeface="Calibri"/>
              </a:rPr>
              <a:t>. The acrylic partial dentures segment is expected to be less attractive as compared to other segments over the forecast period, owing to its lower CAGR and incremental</a:t>
            </a:r>
          </a:p>
        </p:txBody>
      </p:sp>
      <p:sp>
        <p:nvSpPr>
          <p:cNvPr id="33" name="TextBox 32"/>
          <p:cNvSpPr txBox="1"/>
          <p:nvPr/>
        </p:nvSpPr>
        <p:spPr>
          <a:xfrm>
            <a:off x="257175" y="6196965"/>
            <a:ext cx="5122845" cy="186689"/>
          </a:xfrm>
          <a:prstGeom prst="rect">
            <a:avLst/>
          </a:prstGeom>
          <a:noFill/>
        </p:spPr>
        <p:txBody>
          <a:bodyPr wrap="none" lIns="0" rIns="0" tIns="0" bIns="0">
            <a:spAutoFit/>
          </a:bodyPr>
          <a:lstStyle/>
          <a:p>
            <a:r>
              <a:rPr sz="1100" b="0">
                <a:solidFill>
                  <a:srgbClr val="2E2E2E"/>
                </a:solidFill>
                <a:latin typeface="Calibri"/>
              </a:rPr>
              <a:t>opportunity. 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Type (Units)</a:t>
            </a:r>
          </a:p>
        </p:txBody>
      </p:sp>
      <p:graphicFrame>
        <p:nvGraphicFramePr>
          <p:cNvPr id="13" name="Table 12"/>
          <p:cNvGraphicFramePr>
            <a:graphicFrameLocks noGrp="1"/>
          </p:cNvGraphicFramePr>
          <p:nvPr/>
        </p:nvGraphicFramePr>
        <p:xfrm>
          <a:off x="152400" y="1238250"/>
          <a:ext cx="11887208" cy="263842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903">
                <a:tc>
                  <a:txBody>
                    <a:bodyPr wrap="none"/>
                    <a:lstStyle/>
                    <a:p>
                      <a:pPr algn="l"/>
                      <a:r>
                        <a:rPr sz="1100" b="1">
                          <a:solidFill>
                            <a:srgbClr val="2E2E2E"/>
                          </a:solidFill>
                          <a:latin typeface="Calibri"/>
                        </a:rPr>
                        <a:t>Cast Metal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903">
                <a:tc>
                  <a:txBody>
                    <a:bodyPr wrap="none"/>
                    <a:lstStyle/>
                    <a:p>
                      <a:pPr algn="l"/>
                      <a:r>
                        <a:rPr sz="1100" b="1">
                          <a:solidFill>
                            <a:srgbClr val="2E2E2E"/>
                          </a:solidFill>
                          <a:latin typeface="Calibri"/>
                        </a:rPr>
                        <a:t>Acrylic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03">
                <a:tc>
                  <a:txBody>
                    <a:bodyPr wrap="none"/>
                    <a:lstStyle/>
                    <a:p>
                      <a:pPr algn="l"/>
                      <a:r>
                        <a:rPr sz="1100" b="1">
                          <a:solidFill>
                            <a:srgbClr val="2E2E2E"/>
                          </a:solidFill>
                          <a:latin typeface="Calibri"/>
                        </a:rPr>
                        <a:t>Flexible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689">
                <a:tc>
                  <a:txBody>
                    <a:bodyPr wrap="none"/>
                    <a:lstStyle/>
                    <a:p>
                      <a:pPr algn="l"/>
                      <a:r>
                        <a:rPr sz="1100" b="1">
                          <a:solidFill>
                            <a:srgbClr val="2E2E2E"/>
                          </a:solidFill>
                          <a:latin typeface="Calibri"/>
                        </a:rPr>
                        <a:t>Combination</a:t>
                      </a:r>
                      <a:endParaRPr sz="1100"/>
                    </a:p>
                    <a:p>
                      <a:pPr algn="l"/>
                      <a:r>
                        <a:rPr sz="1100" b="1">
                          <a:solidFill>
                            <a:srgbClr val="2E2E2E"/>
                          </a:solidFill>
                          <a:latin typeface="Calibri"/>
                        </a:rPr>
                        <a:t>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86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195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053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Type</a:t>
            </a:r>
          </a:p>
        </p:txBody>
      </p:sp>
      <p:sp>
        <p:nvSpPr>
          <p:cNvPr id="17" name="Rectangle 16"/>
          <p:cNvSpPr/>
          <p:nvPr/>
        </p:nvSpPr>
        <p:spPr>
          <a:xfrm>
            <a:off x="276225" y="4543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29150"/>
            <a:ext cx="11639550" cy="1924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510219"/>
            <a:ext cx="366712" cy="533400"/>
          </a:xfrm>
          <a:prstGeom prst="rect">
            <a:avLst/>
          </a:prstGeom>
        </p:spPr>
      </p:pic>
      <p:sp>
        <p:nvSpPr>
          <p:cNvPr id="21" name="TextBox 20"/>
          <p:cNvSpPr txBox="1"/>
          <p:nvPr/>
        </p:nvSpPr>
        <p:spPr>
          <a:xfrm>
            <a:off x="276225" y="4638675"/>
            <a:ext cx="4436305" cy="194310"/>
          </a:xfrm>
          <a:prstGeom prst="rect">
            <a:avLst/>
          </a:prstGeom>
          <a:noFill/>
        </p:spPr>
        <p:txBody>
          <a:bodyPr wrap="none" lIns="0" rIns="0" tIns="0" bIns="0">
            <a:spAutoFit/>
          </a:bodyPr>
          <a:lstStyle/>
          <a:p>
            <a:r>
              <a:rPr sz="1150" b="0">
                <a:solidFill>
                  <a:srgbClr val="2E2E2E"/>
                </a:solidFill>
                <a:latin typeface="Calibri"/>
              </a:rPr>
              <a:t>Combination framework partial dentures segment is projected to register</a:t>
            </a:r>
          </a:p>
        </p:txBody>
      </p:sp>
      <p:pic>
        <p:nvPicPr>
          <p:cNvPr id="22" name="Picture 21" descr="lock.png"/>
          <p:cNvPicPr>
            <a:picLocks noChangeAspect="1"/>
          </p:cNvPicPr>
          <p:nvPr/>
        </p:nvPicPr>
        <p:blipFill>
          <a:blip r:embed="rId4"/>
          <a:stretch>
            <a:fillRect/>
          </a:stretch>
        </p:blipFill>
        <p:spPr>
          <a:xfrm>
            <a:off x="4661684" y="4628451"/>
            <a:ext cx="134549" cy="195707"/>
          </a:xfrm>
          <a:prstGeom prst="rect">
            <a:avLst/>
          </a:prstGeom>
        </p:spPr>
      </p:pic>
      <p:sp>
        <p:nvSpPr>
          <p:cNvPr id="23" name="TextBox 22"/>
          <p:cNvSpPr txBox="1"/>
          <p:nvPr/>
        </p:nvSpPr>
        <p:spPr>
          <a:xfrm>
            <a:off x="4836794" y="4638675"/>
            <a:ext cx="6819602" cy="194310"/>
          </a:xfrm>
          <a:prstGeom prst="rect">
            <a:avLst/>
          </a:prstGeom>
          <a:noFill/>
        </p:spPr>
        <p:txBody>
          <a:bodyPr wrap="none" lIns="0" rIns="0" tIns="0" bIns="0">
            <a:spAutoFit/>
          </a:bodyPr>
          <a:lstStyle/>
          <a:p>
            <a:r>
              <a:rPr sz="1150" b="0">
                <a:solidFill>
                  <a:srgbClr val="2E2E2E"/>
                </a:solidFill>
                <a:latin typeface="Calibri"/>
              </a:rPr>
              <a:t>X higher volume than cast metal partial dentures segment in 2036. Among removable partial dentures by product</a:t>
            </a:r>
          </a:p>
        </p:txBody>
      </p:sp>
      <p:sp>
        <p:nvSpPr>
          <p:cNvPr id="24" name="TextBox 23"/>
          <p:cNvSpPr txBox="1"/>
          <p:nvPr/>
        </p:nvSpPr>
        <p:spPr>
          <a:xfrm>
            <a:off x="276225" y="4813935"/>
            <a:ext cx="5120041" cy="194310"/>
          </a:xfrm>
          <a:prstGeom prst="rect">
            <a:avLst/>
          </a:prstGeom>
          <a:noFill/>
        </p:spPr>
        <p:txBody>
          <a:bodyPr wrap="none" lIns="0" rIns="0" tIns="0" bIns="0">
            <a:spAutoFit/>
          </a:bodyPr>
          <a:lstStyle/>
          <a:p>
            <a:r>
              <a:rPr sz="1150" b="0">
                <a:solidFill>
                  <a:srgbClr val="2E2E2E"/>
                </a:solidFill>
                <a:latin typeface="Calibri"/>
              </a:rPr>
              <a:t>type, 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345420" y="4803711"/>
            <a:ext cx="134549" cy="195707"/>
          </a:xfrm>
          <a:prstGeom prst="rect">
            <a:avLst/>
          </a:prstGeom>
        </p:spPr>
      </p:pic>
      <p:sp>
        <p:nvSpPr>
          <p:cNvPr id="26" name="TextBox 25"/>
          <p:cNvSpPr txBox="1"/>
          <p:nvPr/>
        </p:nvSpPr>
        <p:spPr>
          <a:xfrm>
            <a:off x="5520529" y="48139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41772"/>
            <a:ext cx="8459527" cy="194310"/>
          </a:xfrm>
          <a:prstGeom prst="rect">
            <a:avLst/>
          </a:prstGeom>
          <a:noFill/>
        </p:spPr>
        <p:txBody>
          <a:bodyPr wrap="none" lIns="0" rIns="0" tIns="0" bIns="0">
            <a:spAutoFit/>
          </a:bodyPr>
          <a:lstStyle/>
          <a:p>
            <a:r>
              <a:rPr sz="1150" b="0">
                <a:solidFill>
                  <a:srgbClr val="2E2E2E"/>
                </a:solidFill>
                <a:latin typeface="Calibri"/>
              </a:rPr>
              <a:t>In terms of volume share by product type, the combination framework partial dentures segment is expected to dominate the market, gaining</a:t>
            </a:r>
          </a:p>
        </p:txBody>
      </p:sp>
      <p:pic>
        <p:nvPicPr>
          <p:cNvPr id="28" name="Picture 27" descr="lock.png"/>
          <p:cNvPicPr>
            <a:picLocks noChangeAspect="1"/>
          </p:cNvPicPr>
          <p:nvPr/>
        </p:nvPicPr>
        <p:blipFill>
          <a:blip r:embed="rId4"/>
          <a:stretch>
            <a:fillRect/>
          </a:stretch>
        </p:blipFill>
        <p:spPr>
          <a:xfrm>
            <a:off x="8684905" y="5031549"/>
            <a:ext cx="134549" cy="195707"/>
          </a:xfrm>
          <a:prstGeom prst="rect">
            <a:avLst/>
          </a:prstGeom>
        </p:spPr>
      </p:pic>
      <p:sp>
        <p:nvSpPr>
          <p:cNvPr id="29" name="TextBox 28"/>
          <p:cNvSpPr txBox="1"/>
          <p:nvPr/>
        </p:nvSpPr>
        <p:spPr>
          <a:xfrm>
            <a:off x="8860015" y="50417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255158" y="5031549"/>
            <a:ext cx="134549" cy="195707"/>
          </a:xfrm>
          <a:prstGeom prst="rect">
            <a:avLst/>
          </a:prstGeom>
        </p:spPr>
      </p:pic>
      <p:sp>
        <p:nvSpPr>
          <p:cNvPr id="31" name="TextBox 30"/>
          <p:cNvSpPr txBox="1"/>
          <p:nvPr/>
        </p:nvSpPr>
        <p:spPr>
          <a:xfrm>
            <a:off x="10430267" y="50417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17032"/>
            <a:ext cx="3172631"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lose</a:t>
            </a:r>
          </a:p>
        </p:txBody>
      </p:sp>
      <p:pic>
        <p:nvPicPr>
          <p:cNvPr id="33" name="Picture 32" descr="lock.png"/>
          <p:cNvPicPr>
            <a:picLocks noChangeAspect="1"/>
          </p:cNvPicPr>
          <p:nvPr/>
        </p:nvPicPr>
        <p:blipFill>
          <a:blip r:embed="rId4"/>
          <a:stretch>
            <a:fillRect/>
          </a:stretch>
        </p:blipFill>
        <p:spPr>
          <a:xfrm>
            <a:off x="3398010" y="5206809"/>
            <a:ext cx="134549" cy="195707"/>
          </a:xfrm>
          <a:prstGeom prst="rect">
            <a:avLst/>
          </a:prstGeom>
        </p:spPr>
      </p:pic>
      <p:sp>
        <p:nvSpPr>
          <p:cNvPr id="34" name="TextBox 33"/>
          <p:cNvSpPr txBox="1"/>
          <p:nvPr/>
        </p:nvSpPr>
        <p:spPr>
          <a:xfrm>
            <a:off x="3573119" y="52170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160623" y="5206809"/>
            <a:ext cx="134549" cy="195707"/>
          </a:xfrm>
          <a:prstGeom prst="rect">
            <a:avLst/>
          </a:prstGeom>
        </p:spPr>
      </p:pic>
      <p:sp>
        <p:nvSpPr>
          <p:cNvPr id="36" name="TextBox 35"/>
          <p:cNvSpPr txBox="1"/>
          <p:nvPr/>
        </p:nvSpPr>
        <p:spPr>
          <a:xfrm>
            <a:off x="6335733" y="52170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3" name="Table 12"/>
          <p:cNvGraphicFramePr>
            <a:graphicFrameLocks noGrp="1"/>
          </p:cNvGraphicFramePr>
          <p:nvPr/>
        </p:nvGraphicFramePr>
        <p:xfrm>
          <a:off x="152400" y="1238250"/>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53373" y="1837563"/>
            <a:ext cx="366712" cy="533400"/>
          </a:xfrm>
          <a:prstGeom prst="rect">
            <a:avLst/>
          </a:prstGeom>
        </p:spPr>
      </p:pic>
      <p:sp>
        <p:nvSpPr>
          <p:cNvPr id="21" name="TextBox 20"/>
          <p:cNvSpPr txBox="1"/>
          <p:nvPr/>
        </p:nvSpPr>
        <p:spPr>
          <a:xfrm>
            <a:off x="276225" y="3486150"/>
            <a:ext cx="3437917" cy="194310"/>
          </a:xfrm>
          <a:prstGeom prst="rect">
            <a:avLst/>
          </a:prstGeom>
          <a:noFill/>
        </p:spPr>
        <p:txBody>
          <a:bodyPr wrap="none" lIns="0" rIns="0" tIns="0" bIns="0">
            <a:spAutoFit/>
          </a:bodyPr>
          <a:lstStyle/>
          <a:p>
            <a:r>
              <a:rPr sz="1150" b="0">
                <a:solidFill>
                  <a:srgbClr val="2E2E2E"/>
                </a:solidFill>
                <a:latin typeface="Calibri"/>
              </a:rPr>
              <a:t>Flexible partial dentures segment is projected to register</a:t>
            </a:r>
          </a:p>
        </p:txBody>
      </p:sp>
      <p:pic>
        <p:nvPicPr>
          <p:cNvPr id="22" name="Picture 21" descr="lock.png"/>
          <p:cNvPicPr>
            <a:picLocks noChangeAspect="1"/>
          </p:cNvPicPr>
          <p:nvPr/>
        </p:nvPicPr>
        <p:blipFill>
          <a:blip r:embed="rId4"/>
          <a:stretch>
            <a:fillRect/>
          </a:stretch>
        </p:blipFill>
        <p:spPr>
          <a:xfrm>
            <a:off x="3663296" y="3475926"/>
            <a:ext cx="134549" cy="195707"/>
          </a:xfrm>
          <a:prstGeom prst="rect">
            <a:avLst/>
          </a:prstGeom>
        </p:spPr>
      </p:pic>
      <p:sp>
        <p:nvSpPr>
          <p:cNvPr id="23" name="TextBox 22"/>
          <p:cNvSpPr txBox="1"/>
          <p:nvPr/>
        </p:nvSpPr>
        <p:spPr>
          <a:xfrm>
            <a:off x="3838405" y="3486150"/>
            <a:ext cx="7853077" cy="194310"/>
          </a:xfrm>
          <a:prstGeom prst="rect">
            <a:avLst/>
          </a:prstGeom>
          <a:noFill/>
        </p:spPr>
        <p:txBody>
          <a:bodyPr wrap="none" lIns="0" rIns="0" tIns="0" bIns="0">
            <a:spAutoFit/>
          </a:bodyPr>
          <a:lstStyle/>
          <a:p>
            <a:r>
              <a:rPr sz="1150" b="0">
                <a:solidFill>
                  <a:srgbClr val="2E2E2E"/>
                </a:solidFill>
                <a:latin typeface="Calibri"/>
              </a:rPr>
              <a:t>X higher value than combination framework partial dentures segment in 2036. Among removable partial dentures by product type,</a:t>
            </a:r>
          </a:p>
        </p:txBody>
      </p:sp>
      <p:sp>
        <p:nvSpPr>
          <p:cNvPr id="24" name="TextBox 23"/>
          <p:cNvSpPr txBox="1"/>
          <p:nvPr/>
        </p:nvSpPr>
        <p:spPr>
          <a:xfrm>
            <a:off x="276225" y="3661410"/>
            <a:ext cx="4785724" cy="194310"/>
          </a:xfrm>
          <a:prstGeom prst="rect">
            <a:avLst/>
          </a:prstGeom>
          <a:noFill/>
        </p:spPr>
        <p:txBody>
          <a:bodyPr wrap="none" lIns="0" rIns="0" tIns="0" bIns="0">
            <a:spAutoFit/>
          </a:bodyPr>
          <a:lstStyle/>
          <a:p>
            <a:r>
              <a:rPr sz="1150" b="0">
                <a:solidFill>
                  <a:srgbClr val="2E2E2E"/>
                </a:solidFill>
                <a:latin typeface="Calibri"/>
              </a:rPr>
              <a:t>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011103" y="3651186"/>
            <a:ext cx="134549" cy="195707"/>
          </a:xfrm>
          <a:prstGeom prst="rect">
            <a:avLst/>
          </a:prstGeom>
        </p:spPr>
      </p:pic>
      <p:sp>
        <p:nvSpPr>
          <p:cNvPr id="26" name="TextBox 25"/>
          <p:cNvSpPr txBox="1"/>
          <p:nvPr/>
        </p:nvSpPr>
        <p:spPr>
          <a:xfrm>
            <a:off x="5186212"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7249479"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 segment is expected to dominate the market, losing</a:t>
            </a:r>
          </a:p>
        </p:txBody>
      </p:sp>
      <p:pic>
        <p:nvPicPr>
          <p:cNvPr id="28" name="Picture 27" descr="lock.png"/>
          <p:cNvPicPr>
            <a:picLocks noChangeAspect="1"/>
          </p:cNvPicPr>
          <p:nvPr/>
        </p:nvPicPr>
        <p:blipFill>
          <a:blip r:embed="rId4"/>
          <a:stretch>
            <a:fillRect/>
          </a:stretch>
        </p:blipFill>
        <p:spPr>
          <a:xfrm>
            <a:off x="7474858" y="3879024"/>
            <a:ext cx="134549" cy="195707"/>
          </a:xfrm>
          <a:prstGeom prst="rect">
            <a:avLst/>
          </a:prstGeom>
        </p:spPr>
      </p:pic>
      <p:sp>
        <p:nvSpPr>
          <p:cNvPr id="29" name="TextBox 28"/>
          <p:cNvSpPr txBox="1"/>
          <p:nvPr/>
        </p:nvSpPr>
        <p:spPr>
          <a:xfrm>
            <a:off x="7649968"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45111" y="3879024"/>
            <a:ext cx="134549" cy="195707"/>
          </a:xfrm>
          <a:prstGeom prst="rect">
            <a:avLst/>
          </a:prstGeom>
        </p:spPr>
      </p:pic>
      <p:sp>
        <p:nvSpPr>
          <p:cNvPr id="31" name="TextBox 30"/>
          <p:cNvSpPr txBox="1"/>
          <p:nvPr/>
        </p:nvSpPr>
        <p:spPr>
          <a:xfrm>
            <a:off x="9220220" y="3889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710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662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900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519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0402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3548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592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30212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22685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2220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458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20780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4383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390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628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247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11029" cy="194310"/>
          </a:xfrm>
          <a:prstGeom prst="rect">
            <a:avLst/>
          </a:prstGeom>
          <a:noFill/>
        </p:spPr>
        <p:txBody>
          <a:bodyPr wrap="none" lIns="0" rIns="0" tIns="0" bIns="0">
            <a:spAutoFit/>
          </a:bodyPr>
          <a:lstStyle/>
          <a:p>
            <a:r>
              <a:rPr sz="1150" b="0">
                <a:solidFill>
                  <a:srgbClr val="2E2E2E"/>
                </a:solidFill>
                <a:latin typeface="Calibri"/>
              </a:rPr>
              <a:t>Among removable partial dentures by product type, cast metal</a:t>
            </a:r>
          </a:p>
        </p:txBody>
      </p:sp>
      <p:sp>
        <p:nvSpPr>
          <p:cNvPr id="39" name="TextBox 38"/>
          <p:cNvSpPr txBox="1"/>
          <p:nvPr/>
        </p:nvSpPr>
        <p:spPr>
          <a:xfrm>
            <a:off x="7829550" y="1575435"/>
            <a:ext cx="3985016" cy="194310"/>
          </a:xfrm>
          <a:prstGeom prst="rect">
            <a:avLst/>
          </a:prstGeom>
          <a:noFill/>
        </p:spPr>
        <p:txBody>
          <a:bodyPr wrap="none" lIns="0" rIns="0" tIns="0" bIns="0">
            <a:spAutoFit/>
          </a:bodyPr>
          <a:lstStyle/>
          <a:p>
            <a:r>
              <a:rPr sz="1150" b="0">
                <a:solidFill>
                  <a:srgbClr val="2E2E2E"/>
                </a:solidFill>
                <a:latin typeface="Calibri"/>
              </a:rPr>
              <a:t>partial dentures segment is expected to witness the highest CAGR</a:t>
            </a:r>
          </a:p>
        </p:txBody>
      </p:sp>
      <p:sp>
        <p:nvSpPr>
          <p:cNvPr id="40" name="TextBox 39"/>
          <p:cNvSpPr txBox="1"/>
          <p:nvPr/>
        </p:nvSpPr>
        <p:spPr>
          <a:xfrm>
            <a:off x="782955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pic>
        <p:nvPicPr>
          <p:cNvPr id="41" name="Picture 40" descr="lock.png"/>
          <p:cNvPicPr>
            <a:picLocks noChangeAspect="1"/>
          </p:cNvPicPr>
          <p:nvPr/>
        </p:nvPicPr>
        <p:blipFill>
          <a:blip r:embed="rId5"/>
          <a:stretch>
            <a:fillRect/>
          </a:stretch>
        </p:blipFill>
        <p:spPr>
          <a:xfrm>
            <a:off x="7976422" y="1740471"/>
            <a:ext cx="134549" cy="195707"/>
          </a:xfrm>
          <a:prstGeom prst="rect">
            <a:avLst/>
          </a:prstGeom>
        </p:spPr>
      </p:pic>
      <p:sp>
        <p:nvSpPr>
          <p:cNvPr id="42" name="TextBox 41"/>
          <p:cNvSpPr txBox="1"/>
          <p:nvPr/>
        </p:nvSpPr>
        <p:spPr>
          <a:xfrm>
            <a:off x="8151531"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a:t>
            </a:r>
          </a:p>
        </p:txBody>
      </p:sp>
      <p:sp>
        <p:nvSpPr>
          <p:cNvPr id="44" name="TextBox 43"/>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5" name="Picture 44" descr="lock.png"/>
          <p:cNvPicPr>
            <a:picLocks noChangeAspect="1"/>
          </p:cNvPicPr>
          <p:nvPr/>
        </p:nvPicPr>
        <p:blipFill>
          <a:blip r:embed="rId5"/>
          <a:stretch>
            <a:fillRect/>
          </a:stretch>
        </p:blipFill>
        <p:spPr>
          <a:xfrm>
            <a:off x="10943347" y="2143569"/>
            <a:ext cx="134549" cy="195707"/>
          </a:xfrm>
          <a:prstGeom prst="rect">
            <a:avLst/>
          </a:prstGeom>
        </p:spPr>
      </p:pic>
      <p:sp>
        <p:nvSpPr>
          <p:cNvPr id="46" name="TextBox 45"/>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7" name="TextBox 46"/>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8" name="Picture 47" descr="lock.png"/>
          <p:cNvPicPr>
            <a:picLocks noChangeAspect="1"/>
          </p:cNvPicPr>
          <p:nvPr/>
        </p:nvPicPr>
        <p:blipFill>
          <a:blip r:embed="rId5"/>
          <a:stretch>
            <a:fillRect/>
          </a:stretch>
        </p:blipFill>
        <p:spPr>
          <a:xfrm>
            <a:off x="8712947" y="2318829"/>
            <a:ext cx="134549" cy="195707"/>
          </a:xfrm>
          <a:prstGeom prst="rect">
            <a:avLst/>
          </a:prstGeom>
        </p:spPr>
      </p:pic>
      <p:sp>
        <p:nvSpPr>
          <p:cNvPr id="49" name="TextBox 48"/>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89_2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761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5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24_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96_4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08_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11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02_4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62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7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material</a:t>
            </a:r>
          </a:p>
        </p:txBody>
      </p:sp>
      <p:sp>
        <p:nvSpPr>
          <p:cNvPr id="81" name="TextBox 80"/>
          <p:cNvSpPr txBox="1"/>
          <p:nvPr/>
        </p:nvSpPr>
        <p:spPr>
          <a:xfrm>
            <a:off x="485775" y="4397077"/>
            <a:ext cx="2621359" cy="186689"/>
          </a:xfrm>
          <a:prstGeom prst="rect">
            <a:avLst/>
          </a:prstGeom>
          <a:noFill/>
        </p:spPr>
        <p:txBody>
          <a:bodyPr wrap="none" lIns="0" rIns="0" tIns="0" bIns="0">
            <a:spAutoFit/>
          </a:bodyPr>
          <a:lstStyle/>
          <a:p>
            <a:r>
              <a:rPr sz="1100" b="0">
                <a:solidFill>
                  <a:srgbClr val="2E2E2E"/>
                </a:solidFill>
                <a:latin typeface="Calibri"/>
              </a:rPr>
              <a:t>type, high-performance polymers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523405" cy="186689"/>
          </a:xfrm>
          <a:prstGeom prst="rect">
            <a:avLst/>
          </a:prstGeom>
          <a:noFill/>
        </p:spPr>
        <p:txBody>
          <a:bodyPr wrap="none" lIns="0" rIns="0" tIns="0" bIns="0">
            <a:spAutoFit/>
          </a:bodyPr>
          <a:lstStyle/>
          <a:p>
            <a:r>
              <a:rPr sz="1100" b="0">
                <a:solidFill>
                  <a:srgbClr val="2E2E2E"/>
                </a:solidFill>
                <a:latin typeface="Calibri"/>
              </a:rPr>
              <a:t>material type, the acrylic / resin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83842" cy="186689"/>
          </a:xfrm>
          <a:prstGeom prst="rect">
            <a:avLst/>
          </a:prstGeom>
          <a:noFill/>
        </p:spPr>
        <p:txBody>
          <a:bodyPr wrap="none" lIns="0" rIns="0" tIns="0" bIns="0">
            <a:spAutoFit/>
          </a:bodyPr>
          <a:lstStyle/>
          <a:p>
            <a:r>
              <a:rPr sz="1100" b="0">
                <a:solidFill>
                  <a:srgbClr val="2E2E2E"/>
                </a:solidFill>
                <a:latin typeface="Calibri"/>
              </a:rPr>
              <a:t>▪ ¶ Acrylic / resin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6052" cy="186689"/>
          </a:xfrm>
          <a:prstGeom prst="rect">
            <a:avLst/>
          </a:prstGeom>
          <a:noFill/>
        </p:spPr>
        <p:txBody>
          <a:bodyPr wrap="none" lIns="0" rIns="0" tIns="0" bIns="0">
            <a:spAutoFit/>
          </a:bodyPr>
          <a:lstStyle/>
          <a:p>
            <a:r>
              <a:rPr sz="1100" b="0">
                <a:solidFill>
                  <a:srgbClr val="2E2E2E"/>
                </a:solidFill>
                <a:latin typeface="Calibri"/>
              </a:rPr>
              <a:t>X higher value than metal alloys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1028179" cy="186689"/>
          </a:xfrm>
          <a:prstGeom prst="rect">
            <a:avLst/>
          </a:prstGeom>
          <a:noFill/>
        </p:spPr>
        <p:txBody>
          <a:bodyPr wrap="none" lIns="0" rIns="0" tIns="0" bIns="0">
            <a:spAutoFit/>
          </a:bodyPr>
          <a:lstStyle/>
          <a:p>
            <a:r>
              <a:rPr sz="1100" b="0">
                <a:solidFill>
                  <a:srgbClr val="2E2E2E"/>
                </a:solidFill>
                <a:latin typeface="Calibri"/>
              </a:rPr>
              <a:t>● Acrylic / Resin:</a:t>
            </a:r>
          </a:p>
        </p:txBody>
      </p:sp>
      <p:pic>
        <p:nvPicPr>
          <p:cNvPr id="98" name="Picture 97" descr="lock.png"/>
          <p:cNvPicPr>
            <a:picLocks noChangeAspect="1"/>
          </p:cNvPicPr>
          <p:nvPr/>
        </p:nvPicPr>
        <p:blipFill>
          <a:blip r:embed="rId16"/>
          <a:stretch>
            <a:fillRect/>
          </a:stretch>
        </p:blipFill>
        <p:spPr>
          <a:xfrm>
            <a:off x="4814805" y="4219658"/>
            <a:ext cx="128699" cy="187198"/>
          </a:xfrm>
          <a:prstGeom prst="rect">
            <a:avLst/>
          </a:prstGeom>
        </p:spPr>
      </p:pic>
      <p:sp>
        <p:nvSpPr>
          <p:cNvPr id="99" name="TextBox 98"/>
          <p:cNvSpPr txBox="1"/>
          <p:nvPr/>
        </p:nvSpPr>
        <p:spPr>
          <a:xfrm>
            <a:off x="498230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841751" y="4219658"/>
            <a:ext cx="128699" cy="187198"/>
          </a:xfrm>
          <a:prstGeom prst="rect">
            <a:avLst/>
          </a:prstGeom>
        </p:spPr>
      </p:pic>
      <p:sp>
        <p:nvSpPr>
          <p:cNvPr id="101" name="TextBox 100"/>
          <p:cNvSpPr txBox="1"/>
          <p:nvPr/>
        </p:nvSpPr>
        <p:spPr>
          <a:xfrm>
            <a:off x="600924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32953" cy="186689"/>
          </a:xfrm>
          <a:prstGeom prst="rect">
            <a:avLst/>
          </a:prstGeom>
          <a:noFill/>
        </p:spPr>
        <p:txBody>
          <a:bodyPr wrap="none" lIns="0" rIns="0" tIns="0" bIns="0">
            <a:spAutoFit/>
          </a:bodyPr>
          <a:lstStyle/>
          <a:p>
            <a:r>
              <a:rPr sz="1100" b="0">
                <a:solidFill>
                  <a:srgbClr val="2E2E2E"/>
                </a:solidFill>
                <a:latin typeface="Calibri"/>
              </a:rPr>
              <a:t>● Metal Alloys:</a:t>
            </a:r>
          </a:p>
        </p:txBody>
      </p:sp>
      <p:pic>
        <p:nvPicPr>
          <p:cNvPr id="103" name="Picture 102" descr="lock.png"/>
          <p:cNvPicPr>
            <a:picLocks noChangeAspect="1"/>
          </p:cNvPicPr>
          <p:nvPr/>
        </p:nvPicPr>
        <p:blipFill>
          <a:blip r:embed="rId16"/>
          <a:stretch>
            <a:fillRect/>
          </a:stretch>
        </p:blipFill>
        <p:spPr>
          <a:xfrm>
            <a:off x="4719580" y="4437590"/>
            <a:ext cx="128699" cy="187198"/>
          </a:xfrm>
          <a:prstGeom prst="rect">
            <a:avLst/>
          </a:prstGeom>
        </p:spPr>
      </p:pic>
      <p:sp>
        <p:nvSpPr>
          <p:cNvPr id="104" name="TextBox 103"/>
          <p:cNvSpPr txBox="1"/>
          <p:nvPr/>
        </p:nvSpPr>
        <p:spPr>
          <a:xfrm>
            <a:off x="488707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46526" y="4437590"/>
            <a:ext cx="128699" cy="187198"/>
          </a:xfrm>
          <a:prstGeom prst="rect">
            <a:avLst/>
          </a:prstGeom>
        </p:spPr>
      </p:pic>
      <p:sp>
        <p:nvSpPr>
          <p:cNvPr id="106" name="TextBox 105"/>
          <p:cNvSpPr txBox="1"/>
          <p:nvPr/>
        </p:nvSpPr>
        <p:spPr>
          <a:xfrm>
            <a:off x="591402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560239" cy="186689"/>
          </a:xfrm>
          <a:prstGeom prst="rect">
            <a:avLst/>
          </a:prstGeom>
          <a:noFill/>
        </p:spPr>
        <p:txBody>
          <a:bodyPr wrap="none" lIns="0" rIns="0" tIns="0" bIns="0">
            <a:spAutoFit/>
          </a:bodyPr>
          <a:lstStyle/>
          <a:p>
            <a:r>
              <a:rPr sz="1100" b="0">
                <a:solidFill>
                  <a:srgbClr val="2E2E2E"/>
                </a:solidFill>
                <a:latin typeface="Calibri"/>
              </a:rPr>
              <a:t>● Flexible Thermoplastics:</a:t>
            </a:r>
          </a:p>
        </p:txBody>
      </p:sp>
      <p:pic>
        <p:nvPicPr>
          <p:cNvPr id="108" name="Picture 107" descr="lock.png"/>
          <p:cNvPicPr>
            <a:picLocks noChangeAspect="1"/>
          </p:cNvPicPr>
          <p:nvPr/>
        </p:nvPicPr>
        <p:blipFill>
          <a:blip r:embed="rId16"/>
          <a:stretch>
            <a:fillRect/>
          </a:stretch>
        </p:blipFill>
        <p:spPr>
          <a:xfrm>
            <a:off x="5346866" y="4655522"/>
            <a:ext cx="128699" cy="187198"/>
          </a:xfrm>
          <a:prstGeom prst="rect">
            <a:avLst/>
          </a:prstGeom>
        </p:spPr>
      </p:pic>
      <p:sp>
        <p:nvSpPr>
          <p:cNvPr id="109" name="TextBox 108"/>
          <p:cNvSpPr txBox="1"/>
          <p:nvPr/>
        </p:nvSpPr>
        <p:spPr>
          <a:xfrm>
            <a:off x="55143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6373812" y="4655522"/>
            <a:ext cx="128699" cy="187198"/>
          </a:xfrm>
          <a:prstGeom prst="rect">
            <a:avLst/>
          </a:prstGeom>
        </p:spPr>
      </p:pic>
      <p:sp>
        <p:nvSpPr>
          <p:cNvPr id="111" name="TextBox 110"/>
          <p:cNvSpPr txBox="1"/>
          <p:nvPr/>
        </p:nvSpPr>
        <p:spPr>
          <a:xfrm>
            <a:off x="654130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825997" cy="186689"/>
          </a:xfrm>
          <a:prstGeom prst="rect">
            <a:avLst/>
          </a:prstGeom>
          <a:noFill/>
        </p:spPr>
        <p:txBody>
          <a:bodyPr wrap="none" lIns="0" rIns="0" tIns="0" bIns="0">
            <a:spAutoFit/>
          </a:bodyPr>
          <a:lstStyle/>
          <a:p>
            <a:r>
              <a:rPr sz="1100" b="0">
                <a:solidFill>
                  <a:srgbClr val="2E2E2E"/>
                </a:solidFill>
                <a:latin typeface="Calibri"/>
              </a:rPr>
              <a:t>● High-performance Polymers:</a:t>
            </a:r>
          </a:p>
        </p:txBody>
      </p:sp>
      <p:pic>
        <p:nvPicPr>
          <p:cNvPr id="113" name="Picture 112" descr="lock.png"/>
          <p:cNvPicPr>
            <a:picLocks noChangeAspect="1"/>
          </p:cNvPicPr>
          <p:nvPr/>
        </p:nvPicPr>
        <p:blipFill>
          <a:blip r:embed="rId16"/>
          <a:stretch>
            <a:fillRect/>
          </a:stretch>
        </p:blipFill>
        <p:spPr>
          <a:xfrm>
            <a:off x="5612623" y="4873454"/>
            <a:ext cx="128699" cy="187198"/>
          </a:xfrm>
          <a:prstGeom prst="rect">
            <a:avLst/>
          </a:prstGeom>
        </p:spPr>
      </p:pic>
      <p:sp>
        <p:nvSpPr>
          <p:cNvPr id="114" name="TextBox 113"/>
          <p:cNvSpPr txBox="1"/>
          <p:nvPr/>
        </p:nvSpPr>
        <p:spPr>
          <a:xfrm>
            <a:off x="5780119"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639569" y="4873454"/>
            <a:ext cx="128699" cy="187198"/>
          </a:xfrm>
          <a:prstGeom prst="rect">
            <a:avLst/>
          </a:prstGeom>
        </p:spPr>
      </p:pic>
      <p:sp>
        <p:nvSpPr>
          <p:cNvPr id="116" name="TextBox 115"/>
          <p:cNvSpPr txBox="1"/>
          <p:nvPr/>
        </p:nvSpPr>
        <p:spPr>
          <a:xfrm>
            <a:off x="6807065"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Acrylic / resin followed by metal alloys are expected to be the two most attractive material type segments in the global removable partial dentures market in terms of value over the forecast period. Acrylic</a:t>
            </a:r>
          </a:p>
        </p:txBody>
      </p:sp>
      <p:sp>
        <p:nvSpPr>
          <p:cNvPr id="21" name="TextBox 20"/>
          <p:cNvSpPr txBox="1"/>
          <p:nvPr/>
        </p:nvSpPr>
        <p:spPr>
          <a:xfrm>
            <a:off x="257175" y="5861685"/>
            <a:ext cx="2756949" cy="186689"/>
          </a:xfrm>
          <a:prstGeom prst="rect">
            <a:avLst/>
          </a:prstGeom>
          <a:noFill/>
        </p:spPr>
        <p:txBody>
          <a:bodyPr wrap="none" lIns="0" rIns="0" tIns="0" bIns="0">
            <a:spAutoFit/>
          </a:bodyPr>
          <a:lstStyle/>
          <a:p>
            <a:r>
              <a:rPr sz="1100" b="0">
                <a:solidFill>
                  <a:srgbClr val="2E2E2E"/>
                </a:solidFill>
                <a:latin typeface="Calibri"/>
              </a:rPr>
              <a:t>/ resin and metal alloys exhibit a CAGR index of</a:t>
            </a:r>
          </a:p>
        </p:txBody>
      </p:sp>
      <p:pic>
        <p:nvPicPr>
          <p:cNvPr id="22" name="Picture 21" descr="lock.png"/>
          <p:cNvPicPr>
            <a:picLocks noChangeAspect="1"/>
          </p:cNvPicPr>
          <p:nvPr/>
        </p:nvPicPr>
        <p:blipFill>
          <a:blip r:embed="rId6"/>
          <a:stretch>
            <a:fillRect/>
          </a:stretch>
        </p:blipFill>
        <p:spPr>
          <a:xfrm>
            <a:off x="2962176" y="5851905"/>
            <a:ext cx="128699" cy="187198"/>
          </a:xfrm>
          <a:prstGeom prst="rect">
            <a:avLst/>
          </a:prstGeom>
        </p:spPr>
      </p:pic>
      <p:sp>
        <p:nvSpPr>
          <p:cNvPr id="23" name="TextBox 22"/>
          <p:cNvSpPr txBox="1"/>
          <p:nvPr/>
        </p:nvSpPr>
        <p:spPr>
          <a:xfrm>
            <a:off x="312967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367566" y="5851905"/>
            <a:ext cx="128699" cy="187198"/>
          </a:xfrm>
          <a:prstGeom prst="rect">
            <a:avLst/>
          </a:prstGeom>
        </p:spPr>
      </p:pic>
      <p:sp>
        <p:nvSpPr>
          <p:cNvPr id="25" name="TextBox 24"/>
          <p:cNvSpPr txBox="1"/>
          <p:nvPr/>
        </p:nvSpPr>
        <p:spPr>
          <a:xfrm>
            <a:off x="353506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144035" y="5851905"/>
            <a:ext cx="128699" cy="187198"/>
          </a:xfrm>
          <a:prstGeom prst="rect">
            <a:avLst/>
          </a:prstGeom>
        </p:spPr>
      </p:pic>
      <p:sp>
        <p:nvSpPr>
          <p:cNvPr id="27" name="TextBox 26"/>
          <p:cNvSpPr txBox="1"/>
          <p:nvPr/>
        </p:nvSpPr>
        <p:spPr>
          <a:xfrm>
            <a:off x="531153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549425" y="5851905"/>
            <a:ext cx="128699" cy="187198"/>
          </a:xfrm>
          <a:prstGeom prst="rect">
            <a:avLst/>
          </a:prstGeom>
        </p:spPr>
      </p:pic>
      <p:sp>
        <p:nvSpPr>
          <p:cNvPr id="29" name="TextBox 28"/>
          <p:cNvSpPr txBox="1"/>
          <p:nvPr/>
        </p:nvSpPr>
        <p:spPr>
          <a:xfrm>
            <a:off x="5716921"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271325" y="5851905"/>
            <a:ext cx="128699" cy="187198"/>
          </a:xfrm>
          <a:prstGeom prst="rect">
            <a:avLst/>
          </a:prstGeom>
        </p:spPr>
      </p:pic>
      <p:sp>
        <p:nvSpPr>
          <p:cNvPr id="31" name="TextBox 30"/>
          <p:cNvSpPr txBox="1"/>
          <p:nvPr/>
        </p:nvSpPr>
        <p:spPr>
          <a:xfrm>
            <a:off x="8438821" y="5861685"/>
            <a:ext cx="2611263" cy="186689"/>
          </a:xfrm>
          <a:prstGeom prst="rect">
            <a:avLst/>
          </a:prstGeom>
          <a:noFill/>
        </p:spPr>
        <p:txBody>
          <a:bodyPr wrap="none" lIns="0" rIns="0" tIns="0" bIns="0">
            <a:spAutoFit/>
          </a:bodyPr>
          <a:lstStyle/>
          <a:p>
            <a:r>
              <a:rPr sz="1100" b="0">
                <a:solidFill>
                  <a:srgbClr val="2E2E2E"/>
                </a:solidFill>
                <a:latin typeface="Calibri"/>
              </a:rPr>
              <a:t>. The high-performance polymers segment is</a:t>
            </a:r>
          </a:p>
        </p:txBody>
      </p:sp>
      <p:sp>
        <p:nvSpPr>
          <p:cNvPr id="32" name="TextBox 31"/>
          <p:cNvSpPr txBox="1"/>
          <p:nvPr/>
        </p:nvSpPr>
        <p:spPr>
          <a:xfrm>
            <a:off x="257175" y="6029325"/>
            <a:ext cx="11421333" cy="186689"/>
          </a:xfrm>
          <a:prstGeom prst="rect">
            <a:avLst/>
          </a:prstGeom>
          <a:noFill/>
        </p:spPr>
        <p:txBody>
          <a:bodyPr wrap="none" lIns="0" rIns="0" tIns="0" bIns="0">
            <a:spAutoFit/>
          </a:bodyPr>
          <a:lstStyle/>
          <a:p>
            <a:r>
              <a:rPr sz="1100" b="0">
                <a:solidFill>
                  <a:srgbClr val="2E2E2E"/>
                </a:solidFill>
                <a:latin typeface="Calibri"/>
              </a:rPr>
              <a:t>expected to be less attractive as compared to other segments over the forecast period, owing to its lower CAGR and incremental opportunity. Bubbles right of the CAGR-Index line grow faster than the</a:t>
            </a:r>
          </a:p>
        </p:txBody>
      </p:sp>
      <p:sp>
        <p:nvSpPr>
          <p:cNvPr id="33" name="TextBox 32"/>
          <p:cNvSpPr txBox="1"/>
          <p:nvPr/>
        </p:nvSpPr>
        <p:spPr>
          <a:xfrm>
            <a:off x="257175" y="619696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 Resin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209925"/>
          </a:xfrm>
          <a:prstGeom prst="roundRect">
            <a:avLst>
              <a:gd name="adj" fmla="val 23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3" name="Table 12"/>
          <p:cNvGraphicFramePr>
            <a:graphicFrameLocks noGrp="1"/>
          </p:cNvGraphicFramePr>
          <p:nvPr/>
        </p:nvGraphicFramePr>
        <p:xfrm>
          <a:off x="152400" y="1238250"/>
          <a:ext cx="11887208" cy="274319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61">
                <a:tc>
                  <a:txBody>
                    <a:bodyPr wrap="none"/>
                    <a:lstStyle/>
                    <a:p>
                      <a:pPr algn="l"/>
                      <a:r>
                        <a:rPr sz="1100" b="1">
                          <a:solidFill>
                            <a:srgbClr val="2E2E2E"/>
                          </a:solidFill>
                          <a:latin typeface="Calibri"/>
                        </a:rPr>
                        <a:t>Metal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47">
                <a:tc>
                  <a:txBody>
                    <a:bodyPr wrap="none"/>
                    <a:lstStyle/>
                    <a:p>
                      <a:pPr algn="l"/>
                      <a:r>
                        <a:rPr sz="1100" b="1">
                          <a:solidFill>
                            <a:srgbClr val="2E2E2E"/>
                          </a:solidFill>
                          <a:latin typeface="Calibri"/>
                        </a:rPr>
                        <a:t>– Cobalt-Chromium</a:t>
                      </a:r>
                      <a:endParaRPr sz="1100"/>
                    </a:p>
                    <a:p>
                      <a:pPr algn="l"/>
                      <a:r>
                        <a:rPr sz="1100" b="1">
                          <a:solidFill>
                            <a:srgbClr val="2E2E2E"/>
                          </a:solidFill>
                          <a:latin typeface="Calibri"/>
                        </a:rPr>
                        <a:t>Alloys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61">
                <a:tc>
                  <a:txBody>
                    <a:bodyPr wrap="none"/>
                    <a:lstStyle/>
                    <a:p>
                      <a:pPr algn="l"/>
                      <a:r>
                        <a:rPr sz="1100" b="1">
                          <a:solidFill>
                            <a:srgbClr val="2E2E2E"/>
                          </a:solidFill>
                          <a:latin typeface="Calibri"/>
                        </a:rPr>
                        <a:t>– Titanium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61">
                <a:tc>
                  <a:txBody>
                    <a:bodyPr wrap="none"/>
                    <a:lstStyle/>
                    <a:p>
                      <a:pPr algn="l"/>
                      <a:r>
                        <a:rPr sz="1100" b="1">
                          <a:solidFill>
                            <a:srgbClr val="2E2E2E"/>
                          </a:solidFill>
                          <a:latin typeface="Calibri"/>
                        </a:rPr>
                        <a:t>Acrylic / Resin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61">
                <a:tc>
                  <a:txBody>
                    <a:bodyPr wrap="none"/>
                    <a:lstStyle/>
                    <a:p>
                      <a:pPr algn="l"/>
                      <a:r>
                        <a:rPr sz="1100" b="1">
                          <a:solidFill>
                            <a:srgbClr val="2E2E2E"/>
                          </a:solidFill>
                          <a:latin typeface="Calibri"/>
                        </a:rPr>
                        <a:t>– PMMA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47">
                <a:tc>
                  <a:txBody>
                    <a:bodyPr wrap="none"/>
                    <a:lstStyle/>
                    <a:p>
                      <a:pPr algn="l"/>
                      <a:r>
                        <a:rPr sz="1100" b="1">
                          <a:solidFill>
                            <a:srgbClr val="2E2E2E"/>
                          </a:solidFill>
                          <a:latin typeface="Calibri"/>
                        </a:rPr>
                        <a:t>– Printable Denture</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347">
                <a:tc>
                  <a:txBody>
                    <a:bodyPr wrap="none"/>
                    <a:lstStyle/>
                    <a:p>
                      <a:pPr algn="l"/>
                      <a:r>
                        <a:rPr sz="1100" b="1">
                          <a:solidFill>
                            <a:srgbClr val="2E2E2E"/>
                          </a:solidFill>
                          <a:latin typeface="Calibri"/>
                        </a:rPr>
                        <a:t>Flexible</a:t>
                      </a:r>
                      <a:endParaRPr sz="1100"/>
                    </a:p>
                    <a:p>
                      <a:pPr algn="l"/>
                      <a:r>
                        <a:rPr sz="1100" b="1">
                          <a:solidFill>
                            <a:srgbClr val="2E2E2E"/>
                          </a:solidFill>
                          <a:latin typeface="Calibri"/>
                        </a:rPr>
                        <a:t>Thermoplastics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529244" y="2562604"/>
            <a:ext cx="366712" cy="533400"/>
          </a:xfrm>
          <a:prstGeom prst="rect">
            <a:avLst/>
          </a:prstGeom>
        </p:spPr>
      </p:pic>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3733800"/>
          </a:xfrm>
          <a:prstGeom prst="roundRect">
            <a:avLst>
              <a:gd name="adj" fmla="val 20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2" name="Table 11"/>
          <p:cNvGraphicFramePr>
            <a:graphicFrameLocks noGrp="1"/>
          </p:cNvGraphicFramePr>
          <p:nvPr/>
        </p:nvGraphicFramePr>
        <p:xfrm>
          <a:off x="152400" y="1238250"/>
          <a:ext cx="11887208" cy="32670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229">
                <a:tc>
                  <a:txBody>
                    <a:bodyPr wrap="none"/>
                    <a:lstStyle/>
                    <a:p>
                      <a:pPr algn="l"/>
                      <a:r>
                        <a:rPr sz="1100" b="1">
                          <a:solidFill>
                            <a:srgbClr val="2E2E2E"/>
                          </a:solidFill>
                          <a:latin typeface="Calibri"/>
                        </a:rPr>
                        <a:t>– Polyamide /</a:t>
                      </a:r>
                      <a:endParaRPr sz="1100"/>
                    </a:p>
                    <a:p>
                      <a:pPr algn="l"/>
                      <a:r>
                        <a:rPr sz="1100" b="1">
                          <a:solidFill>
                            <a:srgbClr val="2E2E2E"/>
                          </a:solidFill>
                          <a:latin typeface="Calibri"/>
                        </a:rPr>
                        <a:t>Nylon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016">
                <a:tc>
                  <a:txBody>
                    <a:bodyPr wrap="none"/>
                    <a:lstStyle/>
                    <a:p>
                      <a:pPr algn="l"/>
                      <a:r>
                        <a:rPr sz="1100" b="1">
                          <a:solidFill>
                            <a:srgbClr val="2E2E2E"/>
                          </a:solidFill>
                          <a:latin typeface="Calibri"/>
                        </a:rPr>
                        <a:t>– Other</a:t>
                      </a:r>
                      <a:endParaRPr sz="1100"/>
                    </a:p>
                    <a:p>
                      <a:pPr algn="l"/>
                      <a:r>
                        <a:rPr sz="1100" b="1">
                          <a:solidFill>
                            <a:srgbClr val="2E2E2E"/>
                          </a:solidFill>
                          <a:latin typeface="Calibri"/>
                        </a:rPr>
                        <a:t>Thermoplastic</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229">
                <a:tc>
                  <a:txBody>
                    <a:bodyPr wrap="none"/>
                    <a:lstStyle/>
                    <a:p>
                      <a:pPr algn="l"/>
                      <a:r>
                        <a:rPr sz="1100" b="1">
                          <a:solidFill>
                            <a:srgbClr val="2E2E2E"/>
                          </a:solidFill>
                          <a:latin typeface="Calibri"/>
                        </a:rPr>
                        <a:t>High-performance</a:t>
                      </a:r>
                      <a:endParaRPr sz="1100"/>
                    </a:p>
                    <a:p>
                      <a:pPr algn="l"/>
                      <a:r>
                        <a:rPr sz="1100" b="1">
                          <a:solidFill>
                            <a:srgbClr val="2E2E2E"/>
                          </a:solidFill>
                          <a:latin typeface="Calibri"/>
                        </a:rPr>
                        <a:t>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229">
                <a:tc>
                  <a:txBody>
                    <a:bodyPr wrap="none"/>
                    <a:lstStyle/>
                    <a:p>
                      <a:pPr algn="l"/>
                      <a:r>
                        <a:rPr sz="1100" b="1">
                          <a:solidFill>
                            <a:srgbClr val="2E2E2E"/>
                          </a:solidFill>
                          <a:latin typeface="Calibri"/>
                        </a:rPr>
                        <a:t>– PEEK-based</a:t>
                      </a:r>
                      <a:endParaRPr sz="1100"/>
                    </a:p>
                    <a:p>
                      <a:pPr algn="l"/>
                      <a:r>
                        <a:rPr sz="1100" b="1">
                          <a:solidFill>
                            <a:srgbClr val="2E2E2E"/>
                          </a:solidFill>
                          <a:latin typeface="Calibri"/>
                        </a:rPr>
                        <a:t>Materials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016">
                <a:tc>
                  <a:txBody>
                    <a:bodyPr wrap="none"/>
                    <a:lstStyle/>
                    <a:p>
                      <a:pPr algn="l"/>
                      <a:r>
                        <a:rPr sz="1100" b="1">
                          <a:solidFill>
                            <a:srgbClr val="2E2E2E"/>
                          </a:solidFill>
                          <a:latin typeface="Calibri"/>
                        </a:rPr>
                        <a:t>– Other High-</a:t>
                      </a:r>
                      <a:endParaRPr sz="1100"/>
                    </a:p>
                    <a:p>
                      <a:pPr algn="l"/>
                      <a:r>
                        <a:rPr sz="1100" b="1">
                          <a:solidFill>
                            <a:srgbClr val="2E2E2E"/>
                          </a:solidFill>
                          <a:latin typeface="Calibri"/>
                        </a:rPr>
                        <a:t>performance</a:t>
                      </a:r>
                      <a:endParaRPr sz="1100"/>
                    </a:p>
                    <a:p>
                      <a:pPr algn="l"/>
                      <a:r>
                        <a:rPr sz="1100" b="1">
                          <a:solidFill>
                            <a:srgbClr val="2E2E2E"/>
                          </a:solidFill>
                          <a:latin typeface="Calibri"/>
                        </a:rPr>
                        <a:t>Dental 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44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4514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848225"/>
            <a:ext cx="1190625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9339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Material Type</a:t>
            </a:r>
          </a:p>
        </p:txBody>
      </p:sp>
      <p:sp>
        <p:nvSpPr>
          <p:cNvPr id="16" name="Rectangle 15"/>
          <p:cNvSpPr/>
          <p:nvPr/>
        </p:nvSpPr>
        <p:spPr>
          <a:xfrm>
            <a:off x="276225" y="51720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257800"/>
            <a:ext cx="11639550"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29244" y="2824543"/>
            <a:ext cx="366712" cy="533400"/>
          </a:xfrm>
          <a:prstGeom prst="rect">
            <a:avLst/>
          </a:prstGeom>
        </p:spPr>
      </p:pic>
      <p:sp>
        <p:nvSpPr>
          <p:cNvPr id="20" name="TextBox 19"/>
          <p:cNvSpPr txBox="1"/>
          <p:nvPr/>
        </p:nvSpPr>
        <p:spPr>
          <a:xfrm>
            <a:off x="276225" y="5267325"/>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1" name="Picture 20" descr="lock.png"/>
          <p:cNvPicPr>
            <a:picLocks noChangeAspect="1"/>
          </p:cNvPicPr>
          <p:nvPr/>
        </p:nvPicPr>
        <p:blipFill>
          <a:blip r:embed="rId4"/>
          <a:stretch>
            <a:fillRect/>
          </a:stretch>
        </p:blipFill>
        <p:spPr>
          <a:xfrm>
            <a:off x="3033455" y="5257101"/>
            <a:ext cx="134549" cy="195707"/>
          </a:xfrm>
          <a:prstGeom prst="rect">
            <a:avLst/>
          </a:prstGeom>
        </p:spPr>
      </p:pic>
      <p:sp>
        <p:nvSpPr>
          <p:cNvPr id="22" name="TextBox 21"/>
          <p:cNvSpPr txBox="1"/>
          <p:nvPr/>
        </p:nvSpPr>
        <p:spPr>
          <a:xfrm>
            <a:off x="3208564" y="5267325"/>
            <a:ext cx="8657493" cy="194310"/>
          </a:xfrm>
          <a:prstGeom prst="rect">
            <a:avLst/>
          </a:prstGeom>
          <a:noFill/>
        </p:spPr>
        <p:txBody>
          <a:bodyPr wrap="none" lIns="0" rIns="0" tIns="0" bIns="0">
            <a:spAutoFit/>
          </a:bodyPr>
          <a:lstStyle/>
          <a:p>
            <a:r>
              <a:rPr sz="1150" b="0">
                <a:solidFill>
                  <a:srgbClr val="2E2E2E"/>
                </a:solidFill>
                <a:latin typeface="Calibri"/>
              </a:rPr>
              <a:t>X higher volume than metal alloys segment in 2036. Among removable partial dentures by material type, high-performance polymers segment is</a:t>
            </a:r>
          </a:p>
        </p:txBody>
      </p:sp>
      <p:sp>
        <p:nvSpPr>
          <p:cNvPr id="23" name="TextBox 22"/>
          <p:cNvSpPr txBox="1"/>
          <p:nvPr/>
        </p:nvSpPr>
        <p:spPr>
          <a:xfrm>
            <a:off x="276225" y="544258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5432361"/>
            <a:ext cx="134549" cy="195707"/>
          </a:xfrm>
          <a:prstGeom prst="rect">
            <a:avLst/>
          </a:prstGeom>
        </p:spPr>
      </p:pic>
      <p:sp>
        <p:nvSpPr>
          <p:cNvPr id="25" name="TextBox 24"/>
          <p:cNvSpPr txBox="1"/>
          <p:nvPr/>
        </p:nvSpPr>
        <p:spPr>
          <a:xfrm>
            <a:off x="2886495" y="54425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670422"/>
            <a:ext cx="6860108" cy="194310"/>
          </a:xfrm>
          <a:prstGeom prst="rect">
            <a:avLst/>
          </a:prstGeom>
          <a:noFill/>
        </p:spPr>
        <p:txBody>
          <a:bodyPr wrap="none" lIns="0" rIns="0" tIns="0" bIns="0">
            <a:spAutoFit/>
          </a:bodyPr>
          <a:lstStyle/>
          <a:p>
            <a:r>
              <a:rPr sz="1150" b="0">
                <a:solidFill>
                  <a:srgbClr val="2E2E2E"/>
                </a:solidFill>
                <a:latin typeface="Calibri"/>
              </a:rPr>
              <a:t>In terms of volume share by material type, the acrylic / resin segment is expected to dominate the market, gaining</a:t>
            </a:r>
          </a:p>
        </p:txBody>
      </p:sp>
      <p:pic>
        <p:nvPicPr>
          <p:cNvPr id="27" name="Picture 26" descr="lock.png"/>
          <p:cNvPicPr>
            <a:picLocks noChangeAspect="1"/>
          </p:cNvPicPr>
          <p:nvPr/>
        </p:nvPicPr>
        <p:blipFill>
          <a:blip r:embed="rId4"/>
          <a:stretch>
            <a:fillRect/>
          </a:stretch>
        </p:blipFill>
        <p:spPr>
          <a:xfrm>
            <a:off x="7085487" y="5660199"/>
            <a:ext cx="134549" cy="195707"/>
          </a:xfrm>
          <a:prstGeom prst="rect">
            <a:avLst/>
          </a:prstGeom>
        </p:spPr>
      </p:pic>
      <p:sp>
        <p:nvSpPr>
          <p:cNvPr id="28" name="TextBox 27"/>
          <p:cNvSpPr txBox="1"/>
          <p:nvPr/>
        </p:nvSpPr>
        <p:spPr>
          <a:xfrm>
            <a:off x="7260596" y="56704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655739" y="5660199"/>
            <a:ext cx="134549" cy="195707"/>
          </a:xfrm>
          <a:prstGeom prst="rect">
            <a:avLst/>
          </a:prstGeom>
        </p:spPr>
      </p:pic>
      <p:sp>
        <p:nvSpPr>
          <p:cNvPr id="30" name="TextBox 29"/>
          <p:cNvSpPr txBox="1"/>
          <p:nvPr/>
        </p:nvSpPr>
        <p:spPr>
          <a:xfrm>
            <a:off x="8830849" y="5670422"/>
            <a:ext cx="2616386" cy="194310"/>
          </a:xfrm>
          <a:prstGeom prst="rect">
            <a:avLst/>
          </a:prstGeom>
          <a:noFill/>
        </p:spPr>
        <p:txBody>
          <a:bodyPr wrap="none" lIns="0" rIns="0" tIns="0" bIns="0">
            <a:spAutoFit/>
          </a:bodyPr>
          <a:lstStyle/>
          <a:p>
            <a:r>
              <a:rPr sz="1150" b="0">
                <a:solidFill>
                  <a:srgbClr val="2E2E2E"/>
                </a:solidFill>
                <a:latin typeface="Calibri"/>
              </a:rPr>
              <a:t>share by 2036. The metal alloys segment is</a:t>
            </a:r>
          </a:p>
        </p:txBody>
      </p:sp>
      <p:sp>
        <p:nvSpPr>
          <p:cNvPr id="31" name="TextBox 30"/>
          <p:cNvSpPr txBox="1"/>
          <p:nvPr/>
        </p:nvSpPr>
        <p:spPr>
          <a:xfrm>
            <a:off x="276225" y="584568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5835459"/>
            <a:ext cx="134549" cy="195707"/>
          </a:xfrm>
          <a:prstGeom prst="rect">
            <a:avLst/>
          </a:prstGeom>
        </p:spPr>
      </p:pic>
      <p:sp>
        <p:nvSpPr>
          <p:cNvPr id="33" name="TextBox 32"/>
          <p:cNvSpPr txBox="1"/>
          <p:nvPr/>
        </p:nvSpPr>
        <p:spPr>
          <a:xfrm>
            <a:off x="1455394" y="58456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5835459"/>
            <a:ext cx="134549" cy="195707"/>
          </a:xfrm>
          <a:prstGeom prst="rect">
            <a:avLst/>
          </a:prstGeom>
        </p:spPr>
      </p:pic>
      <p:sp>
        <p:nvSpPr>
          <p:cNvPr id="35" name="TextBox 34"/>
          <p:cNvSpPr txBox="1"/>
          <p:nvPr/>
        </p:nvSpPr>
        <p:spPr>
          <a:xfrm>
            <a:off x="4218008" y="58456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Material Type (US$ Mn)</a:t>
            </a:r>
          </a:p>
        </p:txBody>
      </p:sp>
      <p:graphicFrame>
        <p:nvGraphicFramePr>
          <p:cNvPr id="13" name="Table 12"/>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Material Type</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7216" y="2818639"/>
            <a:ext cx="366712" cy="533400"/>
          </a:xfrm>
          <a:prstGeom prst="rect">
            <a:avLst/>
          </a:prstGeom>
        </p:spPr>
      </p:pic>
      <p:sp>
        <p:nvSpPr>
          <p:cNvPr id="21" name="TextBox 20"/>
          <p:cNvSpPr txBox="1"/>
          <p:nvPr/>
        </p:nvSpPr>
        <p:spPr>
          <a:xfrm>
            <a:off x="276225" y="54483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2" name="Picture 21" descr="lock.png"/>
          <p:cNvPicPr>
            <a:picLocks noChangeAspect="1"/>
          </p:cNvPicPr>
          <p:nvPr/>
        </p:nvPicPr>
        <p:blipFill>
          <a:blip r:embed="rId4"/>
          <a:stretch>
            <a:fillRect/>
          </a:stretch>
        </p:blipFill>
        <p:spPr>
          <a:xfrm>
            <a:off x="3033455" y="5438076"/>
            <a:ext cx="134549" cy="195707"/>
          </a:xfrm>
          <a:prstGeom prst="rect">
            <a:avLst/>
          </a:prstGeom>
        </p:spPr>
      </p:pic>
      <p:sp>
        <p:nvSpPr>
          <p:cNvPr id="23" name="TextBox 22"/>
          <p:cNvSpPr txBox="1"/>
          <p:nvPr/>
        </p:nvSpPr>
        <p:spPr>
          <a:xfrm>
            <a:off x="3208564" y="5448300"/>
            <a:ext cx="8533693" cy="194310"/>
          </a:xfrm>
          <a:prstGeom prst="rect">
            <a:avLst/>
          </a:prstGeom>
          <a:noFill/>
        </p:spPr>
        <p:txBody>
          <a:bodyPr wrap="none" lIns="0" rIns="0" tIns="0" bIns="0">
            <a:spAutoFit/>
          </a:bodyPr>
          <a:lstStyle/>
          <a:p>
            <a:r>
              <a:rPr sz="1150" b="0">
                <a:solidFill>
                  <a:srgbClr val="2E2E2E"/>
                </a:solidFill>
                <a:latin typeface="Calibri"/>
              </a:rPr>
              <a:t>X higher value than metal alloys segment in 2036. Among removable partial dentures by material type, high-performance polymers segment is</a:t>
            </a:r>
          </a:p>
        </p:txBody>
      </p:sp>
      <p:sp>
        <p:nvSpPr>
          <p:cNvPr id="24" name="TextBox 23"/>
          <p:cNvSpPr txBox="1"/>
          <p:nvPr/>
        </p:nvSpPr>
        <p:spPr>
          <a:xfrm>
            <a:off x="276225" y="56235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5613336"/>
            <a:ext cx="134549" cy="195707"/>
          </a:xfrm>
          <a:prstGeom prst="rect">
            <a:avLst/>
          </a:prstGeom>
        </p:spPr>
      </p:pic>
      <p:sp>
        <p:nvSpPr>
          <p:cNvPr id="26" name="TextBox 25"/>
          <p:cNvSpPr txBox="1"/>
          <p:nvPr/>
        </p:nvSpPr>
        <p:spPr>
          <a:xfrm>
            <a:off x="2886495" y="56235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851397"/>
            <a:ext cx="6736308" cy="194310"/>
          </a:xfrm>
          <a:prstGeom prst="rect">
            <a:avLst/>
          </a:prstGeom>
          <a:noFill/>
        </p:spPr>
        <p:txBody>
          <a:bodyPr wrap="none" lIns="0" rIns="0" tIns="0" bIns="0">
            <a:spAutoFit/>
          </a:bodyPr>
          <a:lstStyle/>
          <a:p>
            <a:r>
              <a:rPr sz="1150" b="0">
                <a:solidFill>
                  <a:srgbClr val="2E2E2E"/>
                </a:solidFill>
                <a:latin typeface="Calibri"/>
              </a:rPr>
              <a:t>In terms of value share by material type, the acrylic / resin segment is expected to dominate the market, gaining</a:t>
            </a:r>
          </a:p>
        </p:txBody>
      </p:sp>
      <p:pic>
        <p:nvPicPr>
          <p:cNvPr id="28" name="Picture 27" descr="lock.png"/>
          <p:cNvPicPr>
            <a:picLocks noChangeAspect="1"/>
          </p:cNvPicPr>
          <p:nvPr/>
        </p:nvPicPr>
        <p:blipFill>
          <a:blip r:embed="rId4"/>
          <a:stretch>
            <a:fillRect/>
          </a:stretch>
        </p:blipFill>
        <p:spPr>
          <a:xfrm>
            <a:off x="6961687" y="5841174"/>
            <a:ext cx="134549" cy="195707"/>
          </a:xfrm>
          <a:prstGeom prst="rect">
            <a:avLst/>
          </a:prstGeom>
        </p:spPr>
      </p:pic>
      <p:sp>
        <p:nvSpPr>
          <p:cNvPr id="29" name="TextBox 28"/>
          <p:cNvSpPr txBox="1"/>
          <p:nvPr/>
        </p:nvSpPr>
        <p:spPr>
          <a:xfrm>
            <a:off x="7136796" y="58513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31939" y="5841174"/>
            <a:ext cx="134549" cy="195707"/>
          </a:xfrm>
          <a:prstGeom prst="rect">
            <a:avLst/>
          </a:prstGeom>
        </p:spPr>
      </p:pic>
      <p:sp>
        <p:nvSpPr>
          <p:cNvPr id="31" name="TextBox 30"/>
          <p:cNvSpPr txBox="1"/>
          <p:nvPr/>
        </p:nvSpPr>
        <p:spPr>
          <a:xfrm>
            <a:off x="8707048" y="5851397"/>
            <a:ext cx="2579588" cy="194310"/>
          </a:xfrm>
          <a:prstGeom prst="rect">
            <a:avLst/>
          </a:prstGeom>
          <a:noFill/>
        </p:spPr>
        <p:txBody>
          <a:bodyPr wrap="none" lIns="0" rIns="0" tIns="0" bIns="0">
            <a:spAutoFit/>
          </a:bodyPr>
          <a:lstStyle/>
          <a:p>
            <a:r>
              <a:rPr sz="1150" b="0">
                <a:solidFill>
                  <a:srgbClr val="2E2E2E"/>
                </a:solidFill>
                <a:latin typeface="Calibri"/>
              </a:rPr>
              <a:t>share by 2036. The flexible thermoplastics</a:t>
            </a:r>
          </a:p>
        </p:txBody>
      </p:sp>
      <p:sp>
        <p:nvSpPr>
          <p:cNvPr id="32" name="TextBox 31"/>
          <p:cNvSpPr txBox="1"/>
          <p:nvPr/>
        </p:nvSpPr>
        <p:spPr>
          <a:xfrm>
            <a:off x="276225" y="6026657"/>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6016434"/>
            <a:ext cx="134549" cy="195707"/>
          </a:xfrm>
          <a:prstGeom prst="rect">
            <a:avLst/>
          </a:prstGeom>
        </p:spPr>
      </p:pic>
      <p:sp>
        <p:nvSpPr>
          <p:cNvPr id="34" name="TextBox 33"/>
          <p:cNvSpPr txBox="1"/>
          <p:nvPr/>
        </p:nvSpPr>
        <p:spPr>
          <a:xfrm>
            <a:off x="2126026" y="60266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6016434"/>
            <a:ext cx="134549" cy="195707"/>
          </a:xfrm>
          <a:prstGeom prst="rect">
            <a:avLst/>
          </a:prstGeom>
        </p:spPr>
      </p:pic>
      <p:sp>
        <p:nvSpPr>
          <p:cNvPr id="36" name="TextBox 35"/>
          <p:cNvSpPr txBox="1"/>
          <p:nvPr/>
        </p:nvSpPr>
        <p:spPr>
          <a:xfrm>
            <a:off x="4888640" y="60266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53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05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43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626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5102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055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293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912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7692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721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959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578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381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3337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571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2190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192313" cy="194310"/>
          </a:xfrm>
          <a:prstGeom prst="rect">
            <a:avLst/>
          </a:prstGeom>
          <a:noFill/>
        </p:spPr>
        <p:txBody>
          <a:bodyPr wrap="none" lIns="0" rIns="0" tIns="0" bIns="0">
            <a:spAutoFit/>
          </a:bodyPr>
          <a:lstStyle/>
          <a:p>
            <a:r>
              <a:rPr sz="1150" b="0">
                <a:solidFill>
                  <a:srgbClr val="2E2E2E"/>
                </a:solidFill>
                <a:latin typeface="Calibri"/>
              </a:rPr>
              <a:t>Among removable partial dentures by material type,</a:t>
            </a:r>
          </a:p>
        </p:txBody>
      </p:sp>
      <p:sp>
        <p:nvSpPr>
          <p:cNvPr id="39" name="TextBox 38"/>
          <p:cNvSpPr txBox="1"/>
          <p:nvPr/>
        </p:nvSpPr>
        <p:spPr>
          <a:xfrm>
            <a:off x="7829550" y="1575435"/>
            <a:ext cx="3856384" cy="194310"/>
          </a:xfrm>
          <a:prstGeom prst="rect">
            <a:avLst/>
          </a:prstGeom>
          <a:noFill/>
        </p:spPr>
        <p:txBody>
          <a:bodyPr wrap="none" lIns="0" rIns="0" tIns="0" bIns="0">
            <a:spAutoFit/>
          </a:bodyPr>
          <a:lstStyle/>
          <a:p>
            <a:r>
              <a:rPr sz="1150" b="0">
                <a:solidFill>
                  <a:srgbClr val="2E2E2E"/>
                </a:solidFill>
                <a:latin typeface="Calibri"/>
              </a:rPr>
              <a:t>high-performance polymers segment is expected to witness the</a:t>
            </a:r>
          </a:p>
        </p:txBody>
      </p:sp>
      <p:sp>
        <p:nvSpPr>
          <p:cNvPr id="40" name="TextBox 39"/>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1" name="Picture 40" descr="lock.png"/>
          <p:cNvPicPr>
            <a:picLocks noChangeAspect="1"/>
          </p:cNvPicPr>
          <p:nvPr/>
        </p:nvPicPr>
        <p:blipFill>
          <a:blip r:embed="rId5"/>
          <a:stretch>
            <a:fillRect/>
          </a:stretch>
        </p:blipFill>
        <p:spPr>
          <a:xfrm>
            <a:off x="8811057" y="1740471"/>
            <a:ext cx="134549" cy="195707"/>
          </a:xfrm>
          <a:prstGeom prst="rect">
            <a:avLst/>
          </a:prstGeom>
        </p:spPr>
      </p:pic>
      <p:sp>
        <p:nvSpPr>
          <p:cNvPr id="42" name="TextBox 41"/>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3" name="TextBox 42"/>
          <p:cNvSpPr txBox="1"/>
          <p:nvPr/>
        </p:nvSpPr>
        <p:spPr>
          <a:xfrm>
            <a:off x="7829550" y="1925955"/>
            <a:ext cx="3909441" cy="194310"/>
          </a:xfrm>
          <a:prstGeom prst="rect">
            <a:avLst/>
          </a:prstGeom>
          <a:noFill/>
        </p:spPr>
        <p:txBody>
          <a:bodyPr wrap="none" lIns="0" rIns="0" tIns="0" bIns="0">
            <a:spAutoFit/>
          </a:bodyPr>
          <a:lstStyle/>
          <a:p>
            <a:r>
              <a:rPr sz="1150" b="0">
                <a:solidFill>
                  <a:srgbClr val="2E2E2E"/>
                </a:solidFill>
                <a:latin typeface="Calibri"/>
              </a:rPr>
              <a:t>share by material type, the acrylic / resin segment is expected to</a:t>
            </a:r>
          </a:p>
        </p:txBody>
      </p:sp>
      <p:sp>
        <p:nvSpPr>
          <p:cNvPr id="44" name="TextBox 43"/>
          <p:cNvSpPr txBox="1"/>
          <p:nvPr/>
        </p:nvSpPr>
        <p:spPr>
          <a:xfrm>
            <a:off x="7829550" y="210121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45" name="Picture 44" descr="lock.png"/>
          <p:cNvPicPr>
            <a:picLocks noChangeAspect="1"/>
          </p:cNvPicPr>
          <p:nvPr/>
        </p:nvPicPr>
        <p:blipFill>
          <a:blip r:embed="rId5"/>
          <a:stretch>
            <a:fillRect/>
          </a:stretch>
        </p:blipFill>
        <p:spPr>
          <a:xfrm>
            <a:off x="9615776" y="2090991"/>
            <a:ext cx="134549" cy="195707"/>
          </a:xfrm>
          <a:prstGeom prst="rect">
            <a:avLst/>
          </a:prstGeom>
        </p:spPr>
      </p:pic>
      <p:sp>
        <p:nvSpPr>
          <p:cNvPr id="46" name="TextBox 45"/>
          <p:cNvSpPr txBox="1"/>
          <p:nvPr/>
        </p:nvSpPr>
        <p:spPr>
          <a:xfrm>
            <a:off x="979088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1186028" y="2090991"/>
            <a:ext cx="134549" cy="195707"/>
          </a:xfrm>
          <a:prstGeom prst="rect">
            <a:avLst/>
          </a:prstGeom>
        </p:spPr>
      </p:pic>
      <p:sp>
        <p:nvSpPr>
          <p:cNvPr id="48" name="TextBox 4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504313"/>
            <a:ext cx="3358901" cy="194310"/>
          </a:xfrm>
          <a:prstGeom prst="rect">
            <a:avLst/>
          </a:prstGeom>
          <a:noFill/>
        </p:spPr>
        <p:txBody>
          <a:bodyPr wrap="none" lIns="0" rIns="0" tIns="0" bIns="0">
            <a:spAutoFit/>
          </a:bodyPr>
          <a:lstStyle/>
          <a:p>
            <a:r>
              <a:rPr sz="1150" b="0">
                <a:solidFill>
                  <a:srgbClr val="2E2E2E"/>
                </a:solidFill>
                <a:latin typeface="Calibri"/>
              </a:rPr>
              <a:t>The flexible thermoplastics segment is expected to lose</a:t>
            </a:r>
          </a:p>
        </p:txBody>
      </p:sp>
      <p:pic>
        <p:nvPicPr>
          <p:cNvPr id="50" name="Picture 49" descr="lock.png"/>
          <p:cNvPicPr>
            <a:picLocks noChangeAspect="1"/>
          </p:cNvPicPr>
          <p:nvPr/>
        </p:nvPicPr>
        <p:blipFill>
          <a:blip r:embed="rId5"/>
          <a:stretch>
            <a:fillRect/>
          </a:stretch>
        </p:blipFill>
        <p:spPr>
          <a:xfrm>
            <a:off x="11137605" y="2494089"/>
            <a:ext cx="134549" cy="195707"/>
          </a:xfrm>
          <a:prstGeom prst="rect">
            <a:avLst/>
          </a:prstGeom>
        </p:spPr>
      </p:pic>
      <p:sp>
        <p:nvSpPr>
          <p:cNvPr id="51" name="TextBox 50"/>
          <p:cNvSpPr txBox="1"/>
          <p:nvPr/>
        </p:nvSpPr>
        <p:spPr>
          <a:xfrm>
            <a:off x="11312715"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2" name="TextBox 51"/>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3" name="Picture 52" descr="lock.png"/>
          <p:cNvPicPr>
            <a:picLocks noChangeAspect="1"/>
          </p:cNvPicPr>
          <p:nvPr/>
        </p:nvPicPr>
        <p:blipFill>
          <a:blip r:embed="rId5"/>
          <a:stretch>
            <a:fillRect/>
          </a:stretch>
        </p:blipFill>
        <p:spPr>
          <a:xfrm>
            <a:off x="10161752" y="2669349"/>
            <a:ext cx="134549" cy="195707"/>
          </a:xfrm>
          <a:prstGeom prst="rect">
            <a:avLst/>
          </a:prstGeom>
        </p:spPr>
      </p:pic>
      <p:sp>
        <p:nvSpPr>
          <p:cNvPr id="54" name="TextBox 53"/>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B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4" name="Picture 263" descr="lock.png"/>
          <p:cNvPicPr>
            <a:picLocks noChangeAspect="1"/>
          </p:cNvPicPr>
          <p:nvPr/>
        </p:nvPicPr>
        <p:blipFill>
          <a:blip r:embed="rId4"/>
          <a:stretch>
            <a:fillRect/>
          </a:stretch>
        </p:blipFill>
        <p:spPr>
          <a:xfrm>
            <a:off x="11760938" y="1354201"/>
            <a:ext cx="128699" cy="187198"/>
          </a:xfrm>
          <a:prstGeom prst="rect">
            <a:avLst/>
          </a:prstGeom>
        </p:spPr>
      </p:pic>
      <p:pic>
        <p:nvPicPr>
          <p:cNvPr id="265" name="Picture 264" descr="lock.png"/>
          <p:cNvPicPr>
            <a:picLocks noChangeAspect="1"/>
          </p:cNvPicPr>
          <p:nvPr/>
        </p:nvPicPr>
        <p:blipFill>
          <a:blip r:embed="rId4"/>
          <a:stretch>
            <a:fillRect/>
          </a:stretch>
        </p:blipFill>
        <p:spPr>
          <a:xfrm>
            <a:off x="11760938" y="3897376"/>
            <a:ext cx="128699" cy="187198"/>
          </a:xfrm>
          <a:prstGeom prst="rect">
            <a:avLst/>
          </a:prstGeom>
        </p:spPr>
      </p:pic>
      <p:pic>
        <p:nvPicPr>
          <p:cNvPr id="266" name="Picture 26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Technology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72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37_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53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793_2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59" name="TextBox 58"/>
          <p:cNvSpPr txBox="1"/>
          <p:nvPr/>
        </p:nvSpPr>
        <p:spPr>
          <a:xfrm>
            <a:off x="485775" y="4397077"/>
            <a:ext cx="2800622" cy="186689"/>
          </a:xfrm>
          <a:prstGeom prst="rect">
            <a:avLst/>
          </a:prstGeom>
          <a:noFill/>
        </p:spPr>
        <p:txBody>
          <a:bodyPr wrap="none" lIns="0" rIns="0" tIns="0" bIns="0">
            <a:spAutoFit/>
          </a:bodyPr>
          <a:lstStyle/>
          <a:p>
            <a:r>
              <a:rPr sz="1100" b="0">
                <a:solidFill>
                  <a:srgbClr val="2E2E2E"/>
                </a:solidFill>
                <a:latin typeface="Calibri"/>
              </a:rPr>
              <a:t>technology, conventional fabrication segment is</a:t>
            </a:r>
          </a:p>
        </p:txBody>
      </p:sp>
      <p:sp>
        <p:nvSpPr>
          <p:cNvPr id="60" name="TextBox 59"/>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61" name="Picture 60" descr="lock.png"/>
          <p:cNvPicPr>
            <a:picLocks noChangeAspect="1"/>
          </p:cNvPicPr>
          <p:nvPr/>
        </p:nvPicPr>
        <p:blipFill>
          <a:blip r:embed="rId10"/>
          <a:stretch>
            <a:fillRect/>
          </a:stretch>
        </p:blipFill>
        <p:spPr>
          <a:xfrm>
            <a:off x="2815059" y="4554938"/>
            <a:ext cx="128699" cy="187198"/>
          </a:xfrm>
          <a:prstGeom prst="rect">
            <a:avLst/>
          </a:prstGeom>
        </p:spPr>
      </p:pic>
      <p:sp>
        <p:nvSpPr>
          <p:cNvPr id="62" name="TextBox 61"/>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3" name="TextBox 62"/>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4" name="TextBox 63"/>
          <p:cNvSpPr txBox="1"/>
          <p:nvPr/>
        </p:nvSpPr>
        <p:spPr>
          <a:xfrm>
            <a:off x="485775" y="4899997"/>
            <a:ext cx="2634183" cy="186689"/>
          </a:xfrm>
          <a:prstGeom prst="rect">
            <a:avLst/>
          </a:prstGeom>
          <a:noFill/>
        </p:spPr>
        <p:txBody>
          <a:bodyPr wrap="none" lIns="0" rIns="0" tIns="0" bIns="0">
            <a:spAutoFit/>
          </a:bodyPr>
          <a:lstStyle/>
          <a:p>
            <a:r>
              <a:rPr sz="1100" b="0">
                <a:solidFill>
                  <a:srgbClr val="2E2E2E"/>
                </a:solidFill>
                <a:latin typeface="Calibri"/>
              </a:rPr>
              <a:t>technology, the digital fabrication segment is</a:t>
            </a:r>
          </a:p>
        </p:txBody>
      </p:sp>
      <p:sp>
        <p:nvSpPr>
          <p:cNvPr id="65" name="TextBox 64"/>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6" name="Picture 65" descr="lock.png"/>
          <p:cNvPicPr>
            <a:picLocks noChangeAspect="1"/>
          </p:cNvPicPr>
          <p:nvPr/>
        </p:nvPicPr>
        <p:blipFill>
          <a:blip r:embed="rId10"/>
          <a:stretch>
            <a:fillRect/>
          </a:stretch>
        </p:blipFill>
        <p:spPr>
          <a:xfrm>
            <a:off x="2822716" y="5057858"/>
            <a:ext cx="128699" cy="187198"/>
          </a:xfrm>
          <a:prstGeom prst="rect">
            <a:avLst/>
          </a:prstGeom>
        </p:spPr>
      </p:pic>
      <p:sp>
        <p:nvSpPr>
          <p:cNvPr id="67" name="TextBox 66"/>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54101" cy="186689"/>
          </a:xfrm>
          <a:prstGeom prst="rect">
            <a:avLst/>
          </a:prstGeom>
          <a:noFill/>
        </p:spPr>
        <p:txBody>
          <a:bodyPr wrap="none" lIns="0" rIns="0" tIns="0" bIns="0">
            <a:spAutoFit/>
          </a:bodyPr>
          <a:lstStyle/>
          <a:p>
            <a:r>
              <a:rPr sz="1100" b="0">
                <a:solidFill>
                  <a:srgbClr val="2E2E2E"/>
                </a:solidFill>
                <a:latin typeface="Calibri"/>
              </a:rPr>
              <a:t>▪ ¶ Digital fabrication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1941686" cy="186689"/>
          </a:xfrm>
          <a:prstGeom prst="rect">
            <a:avLst/>
          </a:prstGeom>
          <a:noFill/>
        </p:spPr>
        <p:txBody>
          <a:bodyPr wrap="none" lIns="0" rIns="0" tIns="0" bIns="0">
            <a:spAutoFit/>
          </a:bodyPr>
          <a:lstStyle/>
          <a:p>
            <a:r>
              <a:rPr sz="1100" b="0">
                <a:solidFill>
                  <a:srgbClr val="2E2E2E"/>
                </a:solidFill>
                <a:latin typeface="Calibri"/>
              </a:rPr>
              <a:t>X higher value than conventional</a:t>
            </a:r>
          </a:p>
        </p:txBody>
      </p:sp>
      <p:sp>
        <p:nvSpPr>
          <p:cNvPr id="75" name="TextBox 74"/>
          <p:cNvSpPr txBox="1"/>
          <p:nvPr/>
        </p:nvSpPr>
        <p:spPr>
          <a:xfrm>
            <a:off x="485775" y="5788489"/>
            <a:ext cx="1703213" cy="186689"/>
          </a:xfrm>
          <a:prstGeom prst="rect">
            <a:avLst/>
          </a:prstGeom>
          <a:noFill/>
        </p:spPr>
        <p:txBody>
          <a:bodyPr wrap="none" lIns="0" rIns="0" tIns="0" bIns="0">
            <a:spAutoFit/>
          </a:bodyPr>
          <a:lstStyle/>
          <a:p>
            <a:r>
              <a:rPr sz="1100" b="0">
                <a:solidFill>
                  <a:srgbClr val="2E2E2E"/>
                </a:solidFill>
                <a:latin typeface="Calibri"/>
              </a:rPr>
              <a:t>fabrication segment in 2036.</a:t>
            </a:r>
          </a:p>
        </p:txBody>
      </p:sp>
      <p:sp>
        <p:nvSpPr>
          <p:cNvPr id="76" name="TextBox 75"/>
          <p:cNvSpPr txBox="1"/>
          <p:nvPr/>
        </p:nvSpPr>
        <p:spPr>
          <a:xfrm>
            <a:off x="3838575" y="4229437"/>
            <a:ext cx="1260861" cy="186689"/>
          </a:xfrm>
          <a:prstGeom prst="rect">
            <a:avLst/>
          </a:prstGeom>
          <a:noFill/>
        </p:spPr>
        <p:txBody>
          <a:bodyPr wrap="none" lIns="0" rIns="0" tIns="0" bIns="0">
            <a:spAutoFit/>
          </a:bodyPr>
          <a:lstStyle/>
          <a:p>
            <a:r>
              <a:rPr sz="1100" b="0">
                <a:solidFill>
                  <a:srgbClr val="2E2E2E"/>
                </a:solidFill>
                <a:latin typeface="Calibri"/>
              </a:rPr>
              <a:t>● Digital Fabrication:</a:t>
            </a:r>
          </a:p>
        </p:txBody>
      </p:sp>
      <p:pic>
        <p:nvPicPr>
          <p:cNvPr id="77" name="Picture 76" descr="lock.png"/>
          <p:cNvPicPr>
            <a:picLocks noChangeAspect="1"/>
          </p:cNvPicPr>
          <p:nvPr/>
        </p:nvPicPr>
        <p:blipFill>
          <a:blip r:embed="rId10"/>
          <a:stretch>
            <a:fillRect/>
          </a:stretch>
        </p:blipFill>
        <p:spPr>
          <a:xfrm>
            <a:off x="5047488" y="4219658"/>
            <a:ext cx="128699" cy="187198"/>
          </a:xfrm>
          <a:prstGeom prst="rect">
            <a:avLst/>
          </a:prstGeom>
        </p:spPr>
      </p:pic>
      <p:sp>
        <p:nvSpPr>
          <p:cNvPr id="78" name="TextBox 77"/>
          <p:cNvSpPr txBox="1"/>
          <p:nvPr/>
        </p:nvSpPr>
        <p:spPr>
          <a:xfrm>
            <a:off x="52149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74434" y="4219658"/>
            <a:ext cx="128699" cy="187198"/>
          </a:xfrm>
          <a:prstGeom prst="rect">
            <a:avLst/>
          </a:prstGeom>
        </p:spPr>
      </p:pic>
      <p:sp>
        <p:nvSpPr>
          <p:cNvPr id="80" name="TextBox 79"/>
          <p:cNvSpPr txBox="1"/>
          <p:nvPr/>
        </p:nvSpPr>
        <p:spPr>
          <a:xfrm>
            <a:off x="62419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651585" cy="186689"/>
          </a:xfrm>
          <a:prstGeom prst="rect">
            <a:avLst/>
          </a:prstGeom>
          <a:noFill/>
        </p:spPr>
        <p:txBody>
          <a:bodyPr wrap="none" lIns="0" rIns="0" tIns="0" bIns="0">
            <a:spAutoFit/>
          </a:bodyPr>
          <a:lstStyle/>
          <a:p>
            <a:r>
              <a:rPr sz="1100" b="0">
                <a:solidFill>
                  <a:srgbClr val="2E2E2E"/>
                </a:solidFill>
                <a:latin typeface="Calibri"/>
              </a:rPr>
              <a:t>● Conventional Fabrication:</a:t>
            </a:r>
          </a:p>
        </p:txBody>
      </p:sp>
      <p:pic>
        <p:nvPicPr>
          <p:cNvPr id="82" name="Picture 81" descr="lock.png"/>
          <p:cNvPicPr>
            <a:picLocks noChangeAspect="1"/>
          </p:cNvPicPr>
          <p:nvPr/>
        </p:nvPicPr>
        <p:blipFill>
          <a:blip r:embed="rId10"/>
          <a:stretch>
            <a:fillRect/>
          </a:stretch>
        </p:blipFill>
        <p:spPr>
          <a:xfrm>
            <a:off x="5438211" y="4437590"/>
            <a:ext cx="128699" cy="187198"/>
          </a:xfrm>
          <a:prstGeom prst="rect">
            <a:avLst/>
          </a:prstGeom>
        </p:spPr>
      </p:pic>
      <p:sp>
        <p:nvSpPr>
          <p:cNvPr id="83" name="TextBox 82"/>
          <p:cNvSpPr txBox="1"/>
          <p:nvPr/>
        </p:nvSpPr>
        <p:spPr>
          <a:xfrm>
            <a:off x="560570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465157" y="4437590"/>
            <a:ext cx="128699" cy="187198"/>
          </a:xfrm>
          <a:prstGeom prst="rect">
            <a:avLst/>
          </a:prstGeom>
        </p:spPr>
      </p:pic>
      <p:sp>
        <p:nvSpPr>
          <p:cNvPr id="85" name="TextBox 84"/>
          <p:cNvSpPr txBox="1"/>
          <p:nvPr/>
        </p:nvSpPr>
        <p:spPr>
          <a:xfrm>
            <a:off x="6632653"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6" name="TextBox 8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53291" cy="186689"/>
          </a:xfrm>
          <a:prstGeom prst="rect">
            <a:avLst/>
          </a:prstGeom>
          <a:noFill/>
        </p:spPr>
        <p:txBody>
          <a:bodyPr wrap="none" lIns="0" rIns="0" tIns="0" bIns="0">
            <a:spAutoFit/>
          </a:bodyPr>
          <a:lstStyle/>
          <a:p>
            <a:r>
              <a:rPr sz="1100" b="0">
                <a:solidFill>
                  <a:srgbClr val="2E2E2E"/>
                </a:solidFill>
                <a:latin typeface="Calibri"/>
              </a:rPr>
              <a:t>Conventional fabrication followed by digital fabrication are expected to be the two most attractive technology segments in the global removable partial dentures market in terms of value over the forecast</a:t>
            </a:r>
          </a:p>
        </p:txBody>
      </p:sp>
      <p:sp>
        <p:nvSpPr>
          <p:cNvPr id="21" name="TextBox 20"/>
          <p:cNvSpPr txBox="1"/>
          <p:nvPr/>
        </p:nvSpPr>
        <p:spPr>
          <a:xfrm>
            <a:off x="257175" y="5945505"/>
            <a:ext cx="4546855" cy="186689"/>
          </a:xfrm>
          <a:prstGeom prst="rect">
            <a:avLst/>
          </a:prstGeom>
          <a:noFill/>
        </p:spPr>
        <p:txBody>
          <a:bodyPr wrap="none" lIns="0" rIns="0" tIns="0" bIns="0">
            <a:spAutoFit/>
          </a:bodyPr>
          <a:lstStyle/>
          <a:p>
            <a:r>
              <a:rPr sz="1100" b="0">
                <a:solidFill>
                  <a:srgbClr val="2E2E2E"/>
                </a:solidFill>
                <a:latin typeface="Calibri"/>
              </a:rPr>
              <a:t>period. Conventional fabrication and digital fabrication exhibit a CAGR index of</a:t>
            </a:r>
          </a:p>
        </p:txBody>
      </p:sp>
      <p:pic>
        <p:nvPicPr>
          <p:cNvPr id="22" name="Picture 21" descr="lock.png"/>
          <p:cNvPicPr>
            <a:picLocks noChangeAspect="1"/>
          </p:cNvPicPr>
          <p:nvPr/>
        </p:nvPicPr>
        <p:blipFill>
          <a:blip r:embed="rId6"/>
          <a:stretch>
            <a:fillRect/>
          </a:stretch>
        </p:blipFill>
        <p:spPr>
          <a:xfrm>
            <a:off x="4752082" y="5935726"/>
            <a:ext cx="128699" cy="187198"/>
          </a:xfrm>
          <a:prstGeom prst="rect">
            <a:avLst/>
          </a:prstGeom>
        </p:spPr>
      </p:pic>
      <p:sp>
        <p:nvSpPr>
          <p:cNvPr id="23" name="TextBox 22"/>
          <p:cNvSpPr txBox="1"/>
          <p:nvPr/>
        </p:nvSpPr>
        <p:spPr>
          <a:xfrm>
            <a:off x="491957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157472" y="5935726"/>
            <a:ext cx="128699" cy="187198"/>
          </a:xfrm>
          <a:prstGeom prst="rect">
            <a:avLst/>
          </a:prstGeom>
        </p:spPr>
      </p:pic>
      <p:sp>
        <p:nvSpPr>
          <p:cNvPr id="25" name="TextBox 24"/>
          <p:cNvSpPr txBox="1"/>
          <p:nvPr/>
        </p:nvSpPr>
        <p:spPr>
          <a:xfrm>
            <a:off x="5324968"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933941" y="5935726"/>
            <a:ext cx="128699" cy="187198"/>
          </a:xfrm>
          <a:prstGeom prst="rect">
            <a:avLst/>
          </a:prstGeom>
        </p:spPr>
      </p:pic>
      <p:sp>
        <p:nvSpPr>
          <p:cNvPr id="27" name="TextBox 26"/>
          <p:cNvSpPr txBox="1"/>
          <p:nvPr/>
        </p:nvSpPr>
        <p:spPr>
          <a:xfrm>
            <a:off x="710143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339332" y="5935726"/>
            <a:ext cx="128699" cy="187198"/>
          </a:xfrm>
          <a:prstGeom prst="rect">
            <a:avLst/>
          </a:prstGeom>
        </p:spPr>
      </p:pic>
      <p:sp>
        <p:nvSpPr>
          <p:cNvPr id="29" name="TextBox 28"/>
          <p:cNvSpPr txBox="1"/>
          <p:nvPr/>
        </p:nvSpPr>
        <p:spPr>
          <a:xfrm>
            <a:off x="7506827"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061232" y="5935726"/>
            <a:ext cx="128699" cy="187198"/>
          </a:xfrm>
          <a:prstGeom prst="rect">
            <a:avLst/>
          </a:prstGeom>
        </p:spPr>
      </p:pic>
      <p:sp>
        <p:nvSpPr>
          <p:cNvPr id="31" name="TextBox 30"/>
          <p:cNvSpPr txBox="1"/>
          <p:nvPr/>
        </p:nvSpPr>
        <p:spPr>
          <a:xfrm>
            <a:off x="10228727" y="5945505"/>
            <a:ext cx="1042367" cy="186689"/>
          </a:xfrm>
          <a:prstGeom prst="rect">
            <a:avLst/>
          </a:prstGeom>
          <a:noFill/>
        </p:spPr>
        <p:txBody>
          <a:bodyPr wrap="none" lIns="0" rIns="0" tIns="0" bIns="0">
            <a:spAutoFit/>
          </a:bodyPr>
          <a:lstStyle/>
          <a:p>
            <a:r>
              <a:rPr sz="1100" b="0">
                <a:solidFill>
                  <a:srgbClr val="2E2E2E"/>
                </a:solidFill>
                <a:latin typeface="Calibri"/>
              </a:rPr>
              <a:t>. Bubbles right of</a:t>
            </a:r>
          </a:p>
        </p:txBody>
      </p:sp>
      <p:sp>
        <p:nvSpPr>
          <p:cNvPr id="32" name="TextBox 31"/>
          <p:cNvSpPr txBox="1"/>
          <p:nvPr/>
        </p:nvSpPr>
        <p:spPr>
          <a:xfrm>
            <a:off x="257175" y="6113145"/>
            <a:ext cx="3445899" cy="186689"/>
          </a:xfrm>
          <a:prstGeom prst="rect">
            <a:avLst/>
          </a:prstGeom>
          <a:noFill/>
        </p:spPr>
        <p:txBody>
          <a:bodyPr wrap="none" lIns="0" rIns="0" tIns="0" bIns="0">
            <a:spAutoFit/>
          </a:bodyPr>
          <a:lstStyle/>
          <a:p>
            <a:r>
              <a:rPr sz="1100" b="0">
                <a:solidFill>
                  <a:srgbClr val="2E2E2E"/>
                </a:solidFill>
                <a:latin typeface="Calibri"/>
              </a:rPr>
              <a:t>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Digital Fabrication</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86250"/>
          </a:xfrm>
          <a:prstGeom prst="roundRect">
            <a:avLst>
              <a:gd name="adj" fmla="val 17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Technology (Units)</a:t>
            </a:r>
          </a:p>
        </p:txBody>
      </p:sp>
      <p:graphicFrame>
        <p:nvGraphicFramePr>
          <p:cNvPr id="13" name="Table 12"/>
          <p:cNvGraphicFramePr>
            <a:graphicFrameLocks noGrp="1"/>
          </p:cNvGraphicFramePr>
          <p:nvPr/>
        </p:nvGraphicFramePr>
        <p:xfrm>
          <a:off x="152400" y="1238250"/>
          <a:ext cx="11887208" cy="381952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886">
                <a:tc>
                  <a:txBody>
                    <a:bodyPr wrap="none"/>
                    <a:lstStyle/>
                    <a:p>
                      <a:pPr algn="l"/>
                      <a:r>
                        <a:rPr sz="1100" b="1">
                          <a:solidFill>
                            <a:srgbClr val="2E2E2E"/>
                          </a:solidFill>
                          <a:latin typeface="Calibri"/>
                        </a:rPr>
                        <a:t>Conventional</a:t>
                      </a:r>
                      <a:endParaRPr sz="1100"/>
                    </a:p>
                    <a:p>
                      <a:pPr algn="l"/>
                      <a:r>
                        <a:rPr sz="1100" b="1">
                          <a:solidFill>
                            <a:srgbClr val="2E2E2E"/>
                          </a:solidFill>
                          <a:latin typeface="Calibri"/>
                        </a:rPr>
                        <a:t>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Heat-cured /</a:t>
                      </a:r>
                      <a:endParaRPr sz="1100"/>
                    </a:p>
                    <a:p>
                      <a:pPr algn="l"/>
                      <a:r>
                        <a:rPr sz="1100" b="1">
                          <a:solidFill>
                            <a:srgbClr val="2E2E2E"/>
                          </a:solidFill>
                          <a:latin typeface="Calibri"/>
                        </a:rPr>
                        <a:t>Compression</a:t>
                      </a:r>
                      <a:endParaRPr sz="1100"/>
                    </a:p>
                    <a:p>
                      <a:pPr algn="l"/>
                      <a:r>
                        <a:rPr sz="1100" b="1">
                          <a:solidFill>
                            <a:srgbClr val="2E2E2E"/>
                          </a:solidFill>
                          <a:latin typeface="Calibri"/>
                        </a:rPr>
                        <a:t>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3D Printing /</a:t>
                      </a:r>
                      <a:endParaRPr sz="1100"/>
                    </a:p>
                    <a:p>
                      <a:pPr algn="l"/>
                      <a:r>
                        <a:rPr sz="1100" b="1">
                          <a:solidFill>
                            <a:srgbClr val="2E2E2E"/>
                          </a:solidFill>
                          <a:latin typeface="Calibri"/>
                        </a:rPr>
                        <a:t>Additive</a:t>
                      </a:r>
                      <a:endParaRPr sz="1100"/>
                    </a:p>
                    <a:p>
                      <a:pPr algn="l"/>
                      <a:r>
                        <a:rPr sz="1100" b="1">
                          <a:solidFill>
                            <a:srgbClr val="2E2E2E"/>
                          </a:solidFill>
                          <a:latin typeface="Calibri"/>
                        </a:rPr>
                        <a:t>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86">
                <a:tc>
                  <a:txBody>
                    <a:bodyPr wrap="none"/>
                    <a:lstStyle/>
                    <a:p>
                      <a:pPr algn="l"/>
                      <a:r>
                        <a:rPr sz="1100" b="1">
                          <a:solidFill>
                            <a:srgbClr val="2E2E2E"/>
                          </a:solidFill>
                          <a:latin typeface="Calibri"/>
                        </a:rPr>
                        <a:t>– Hybrid Digital</a:t>
                      </a:r>
                      <a:endParaRPr sz="1100"/>
                    </a:p>
                    <a:p>
                      <a:pPr algn="l"/>
                      <a:r>
                        <a:rPr sz="1100" b="1">
                          <a:solidFill>
                            <a:srgbClr val="2E2E2E"/>
                          </a:solidFill>
                          <a:latin typeface="Calibri"/>
                        </a:rPr>
                        <a:t>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673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400675"/>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864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Technology</a:t>
            </a:r>
          </a:p>
        </p:txBody>
      </p:sp>
      <p:sp>
        <p:nvSpPr>
          <p:cNvPr id="17" name="Rectangle 16"/>
          <p:cNvSpPr/>
          <p:nvPr/>
        </p:nvSpPr>
        <p:spPr>
          <a:xfrm>
            <a:off x="276225" y="5724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810250"/>
            <a:ext cx="11639550" cy="742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100770"/>
            <a:ext cx="366712" cy="533400"/>
          </a:xfrm>
          <a:prstGeom prst="rect">
            <a:avLst/>
          </a:prstGeom>
        </p:spPr>
      </p:pic>
      <p:sp>
        <p:nvSpPr>
          <p:cNvPr id="21" name="TextBox 20"/>
          <p:cNvSpPr txBox="1"/>
          <p:nvPr/>
        </p:nvSpPr>
        <p:spPr>
          <a:xfrm>
            <a:off x="276225" y="581977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5809551"/>
            <a:ext cx="134549" cy="195707"/>
          </a:xfrm>
          <a:prstGeom prst="rect">
            <a:avLst/>
          </a:prstGeom>
        </p:spPr>
      </p:pic>
      <p:sp>
        <p:nvSpPr>
          <p:cNvPr id="23" name="TextBox 22"/>
          <p:cNvSpPr txBox="1"/>
          <p:nvPr/>
        </p:nvSpPr>
        <p:spPr>
          <a:xfrm>
            <a:off x="3457591" y="5819775"/>
            <a:ext cx="8380226" cy="194310"/>
          </a:xfrm>
          <a:prstGeom prst="rect">
            <a:avLst/>
          </a:prstGeom>
          <a:noFill/>
        </p:spPr>
        <p:txBody>
          <a:bodyPr wrap="none" lIns="0" rIns="0" tIns="0" bIns="0">
            <a:spAutoFit/>
          </a:bodyPr>
          <a:lstStyle/>
          <a:p>
            <a:r>
              <a:rPr sz="1150" b="0">
                <a:solidFill>
                  <a:srgbClr val="2E2E2E"/>
                </a:solidFill>
                <a:latin typeface="Calibri"/>
              </a:rPr>
              <a:t>X higher volume than conventional fabrication segment in 2036. Among removable partial dentures by technology, conventional fabrication</a:t>
            </a:r>
          </a:p>
        </p:txBody>
      </p:sp>
      <p:sp>
        <p:nvSpPr>
          <p:cNvPr id="24" name="TextBox 23"/>
          <p:cNvSpPr txBox="1"/>
          <p:nvPr/>
        </p:nvSpPr>
        <p:spPr>
          <a:xfrm>
            <a:off x="276225" y="59950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5984811"/>
            <a:ext cx="134549" cy="195707"/>
          </a:xfrm>
          <a:prstGeom prst="rect">
            <a:avLst/>
          </a:prstGeom>
        </p:spPr>
      </p:pic>
      <p:sp>
        <p:nvSpPr>
          <p:cNvPr id="26" name="TextBox 25"/>
          <p:cNvSpPr txBox="1"/>
          <p:nvPr/>
        </p:nvSpPr>
        <p:spPr>
          <a:xfrm>
            <a:off x="3557127" y="59950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6222872"/>
            <a:ext cx="6894624" cy="194310"/>
          </a:xfrm>
          <a:prstGeom prst="rect">
            <a:avLst/>
          </a:prstGeom>
          <a:noFill/>
        </p:spPr>
        <p:txBody>
          <a:bodyPr wrap="none" lIns="0" rIns="0" tIns="0" bIns="0">
            <a:spAutoFit/>
          </a:bodyPr>
          <a:lstStyle/>
          <a:p>
            <a:r>
              <a:rPr sz="1150" b="0">
                <a:solidFill>
                  <a:srgbClr val="2E2E2E"/>
                </a:solidFill>
                <a:latin typeface="Calibri"/>
              </a:rPr>
              <a:t>In terms of volume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7120003" y="6212649"/>
            <a:ext cx="134549" cy="195707"/>
          </a:xfrm>
          <a:prstGeom prst="rect">
            <a:avLst/>
          </a:prstGeom>
        </p:spPr>
      </p:pic>
      <p:sp>
        <p:nvSpPr>
          <p:cNvPr id="29" name="TextBox 28"/>
          <p:cNvSpPr txBox="1"/>
          <p:nvPr/>
        </p:nvSpPr>
        <p:spPr>
          <a:xfrm>
            <a:off x="7295112" y="62228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90255" y="6212649"/>
            <a:ext cx="134549" cy="195707"/>
          </a:xfrm>
          <a:prstGeom prst="rect">
            <a:avLst/>
          </a:prstGeom>
        </p:spPr>
      </p:pic>
      <p:sp>
        <p:nvSpPr>
          <p:cNvPr id="31" name="TextBox 30"/>
          <p:cNvSpPr txBox="1"/>
          <p:nvPr/>
        </p:nvSpPr>
        <p:spPr>
          <a:xfrm>
            <a:off x="8865364" y="62228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Technology (US$ Mn)</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41720" y="2328100"/>
            <a:ext cx="366712" cy="533400"/>
          </a:xfrm>
          <a:prstGeom prst="rect">
            <a:avLst/>
          </a:prstGeom>
        </p:spPr>
      </p:pic>
      <p:sp>
        <p:nvSpPr>
          <p:cNvPr id="21" name="TextBox 20"/>
          <p:cNvSpPr txBox="1"/>
          <p:nvPr/>
        </p:nvSpPr>
        <p:spPr>
          <a:xfrm>
            <a:off x="276225" y="44672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457001"/>
            <a:ext cx="134549" cy="195707"/>
          </a:xfrm>
          <a:prstGeom prst="rect">
            <a:avLst/>
          </a:prstGeom>
        </p:spPr>
      </p:pic>
      <p:sp>
        <p:nvSpPr>
          <p:cNvPr id="23" name="TextBox 22"/>
          <p:cNvSpPr txBox="1"/>
          <p:nvPr/>
        </p:nvSpPr>
        <p:spPr>
          <a:xfrm>
            <a:off x="3457591" y="4467225"/>
            <a:ext cx="8256426" cy="194310"/>
          </a:xfrm>
          <a:prstGeom prst="rect">
            <a:avLst/>
          </a:prstGeom>
          <a:noFill/>
        </p:spPr>
        <p:txBody>
          <a:bodyPr wrap="none" lIns="0" rIns="0" tIns="0" bIns="0">
            <a:spAutoFit/>
          </a:bodyPr>
          <a:lstStyle/>
          <a:p>
            <a:r>
              <a:rPr sz="1150" b="0">
                <a:solidFill>
                  <a:srgbClr val="2E2E2E"/>
                </a:solidFill>
                <a:latin typeface="Calibri"/>
              </a:rPr>
              <a:t>X higher value than conventional fabrication segment in 2036. Among removable partial dentures by technology, conventional fabrication</a:t>
            </a:r>
          </a:p>
        </p:txBody>
      </p:sp>
      <p:sp>
        <p:nvSpPr>
          <p:cNvPr id="24" name="TextBox 23"/>
          <p:cNvSpPr txBox="1"/>
          <p:nvPr/>
        </p:nvSpPr>
        <p:spPr>
          <a:xfrm>
            <a:off x="276225" y="46424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632261"/>
            <a:ext cx="134549" cy="195707"/>
          </a:xfrm>
          <a:prstGeom prst="rect">
            <a:avLst/>
          </a:prstGeom>
        </p:spPr>
      </p:pic>
      <p:sp>
        <p:nvSpPr>
          <p:cNvPr id="26" name="TextBox 25"/>
          <p:cNvSpPr txBox="1"/>
          <p:nvPr/>
        </p:nvSpPr>
        <p:spPr>
          <a:xfrm>
            <a:off x="3557127"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6770823"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6996202" y="4860099"/>
            <a:ext cx="134549" cy="195707"/>
          </a:xfrm>
          <a:prstGeom prst="rect">
            <a:avLst/>
          </a:prstGeom>
        </p:spPr>
      </p:pic>
      <p:sp>
        <p:nvSpPr>
          <p:cNvPr id="29" name="TextBox 28"/>
          <p:cNvSpPr txBox="1"/>
          <p:nvPr/>
        </p:nvSpPr>
        <p:spPr>
          <a:xfrm>
            <a:off x="717131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66455" y="4860099"/>
            <a:ext cx="134549" cy="195707"/>
          </a:xfrm>
          <a:prstGeom prst="rect">
            <a:avLst/>
          </a:prstGeom>
        </p:spPr>
      </p:pic>
      <p:sp>
        <p:nvSpPr>
          <p:cNvPr id="31" name="TextBox 30"/>
          <p:cNvSpPr txBox="1"/>
          <p:nvPr/>
        </p:nvSpPr>
        <p:spPr>
          <a:xfrm>
            <a:off x="8741564" y="48703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Technology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59204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872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10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729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605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557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795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9414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751325"/>
            <a:ext cx="275034" cy="400050"/>
          </a:xfrm>
          <a:prstGeom prst="rect">
            <a:avLst/>
          </a:prstGeom>
        </p:spPr>
      </p:pic>
      <p:sp>
        <p:nvSpPr>
          <p:cNvPr id="30" name="TextBox 29"/>
          <p:cNvSpPr txBox="1"/>
          <p:nvPr/>
        </p:nvSpPr>
        <p:spPr>
          <a:xfrm>
            <a:off x="7829550" y="1400175"/>
            <a:ext cx="3861804" cy="194310"/>
          </a:xfrm>
          <a:prstGeom prst="rect">
            <a:avLst/>
          </a:prstGeom>
          <a:noFill/>
        </p:spPr>
        <p:txBody>
          <a:bodyPr wrap="none" lIns="0" rIns="0" tIns="0" bIns="0">
            <a:spAutoFit/>
          </a:bodyPr>
          <a:lstStyle/>
          <a:p>
            <a:r>
              <a:rPr sz="1150" b="0">
                <a:solidFill>
                  <a:srgbClr val="2E2E2E"/>
                </a:solidFill>
                <a:latin typeface="Calibri"/>
              </a:rPr>
              <a:t>Among removable partial dentures by technology, conventional</a:t>
            </a:r>
          </a:p>
        </p:txBody>
      </p:sp>
      <p:sp>
        <p:nvSpPr>
          <p:cNvPr id="31" name="TextBox 30"/>
          <p:cNvSpPr txBox="1"/>
          <p:nvPr/>
        </p:nvSpPr>
        <p:spPr>
          <a:xfrm>
            <a:off x="7829550" y="1575435"/>
            <a:ext cx="3833831" cy="194310"/>
          </a:xfrm>
          <a:prstGeom prst="rect">
            <a:avLst/>
          </a:prstGeom>
          <a:noFill/>
        </p:spPr>
        <p:txBody>
          <a:bodyPr wrap="none" lIns="0" rIns="0" tIns="0" bIns="0">
            <a:spAutoFit/>
          </a:bodyPr>
          <a:lstStyle/>
          <a:p>
            <a:r>
              <a:rPr sz="1150" b="0">
                <a:solidFill>
                  <a:srgbClr val="2E2E2E"/>
                </a:solidFill>
                <a:latin typeface="Calibri"/>
              </a:rPr>
              <a:t>fabrication segment is expected to witness the highest CAGR of</a:t>
            </a:r>
          </a:p>
        </p:txBody>
      </p:sp>
      <p:pic>
        <p:nvPicPr>
          <p:cNvPr id="32" name="Picture 31" descr="lock.png"/>
          <p:cNvPicPr>
            <a:picLocks noChangeAspect="1"/>
          </p:cNvPicPr>
          <p:nvPr/>
        </p:nvPicPr>
        <p:blipFill>
          <a:blip r:embed="rId5"/>
          <a:stretch>
            <a:fillRect/>
          </a:stretch>
        </p:blipFill>
        <p:spPr>
          <a:xfrm>
            <a:off x="11612535" y="1565211"/>
            <a:ext cx="134549" cy="195707"/>
          </a:xfrm>
          <a:prstGeom prst="rect">
            <a:avLst/>
          </a:prstGeom>
        </p:spPr>
      </p:pic>
      <p:sp>
        <p:nvSpPr>
          <p:cNvPr id="33" name="TextBox 32"/>
          <p:cNvSpPr txBox="1"/>
          <p:nvPr/>
        </p:nvSpPr>
        <p:spPr>
          <a:xfrm>
            <a:off x="782955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4" name="TextBox 33"/>
          <p:cNvSpPr txBox="1"/>
          <p:nvPr/>
        </p:nvSpPr>
        <p:spPr>
          <a:xfrm>
            <a:off x="7829550" y="1978533"/>
            <a:ext cx="3649290"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a:t>
            </a:r>
          </a:p>
        </p:txBody>
      </p:sp>
      <p:sp>
        <p:nvSpPr>
          <p:cNvPr id="35" name="TextBox 34"/>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6" name="Picture 35" descr="lock.png"/>
          <p:cNvPicPr>
            <a:picLocks noChangeAspect="1"/>
          </p:cNvPicPr>
          <p:nvPr/>
        </p:nvPicPr>
        <p:blipFill>
          <a:blip r:embed="rId5"/>
          <a:stretch>
            <a:fillRect/>
          </a:stretch>
        </p:blipFill>
        <p:spPr>
          <a:xfrm>
            <a:off x="10943347" y="2143569"/>
            <a:ext cx="134549" cy="195707"/>
          </a:xfrm>
          <a:prstGeom prst="rect">
            <a:avLst/>
          </a:prstGeom>
        </p:spPr>
      </p:pic>
      <p:sp>
        <p:nvSpPr>
          <p:cNvPr id="37" name="TextBox 36"/>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8" name="TextBox 37"/>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39" name="Picture 38" descr="lock.png"/>
          <p:cNvPicPr>
            <a:picLocks noChangeAspect="1"/>
          </p:cNvPicPr>
          <p:nvPr/>
        </p:nvPicPr>
        <p:blipFill>
          <a:blip r:embed="rId5"/>
          <a:stretch>
            <a:fillRect/>
          </a:stretch>
        </p:blipFill>
        <p:spPr>
          <a:xfrm>
            <a:off x="8712947" y="2318829"/>
            <a:ext cx="134549" cy="195707"/>
          </a:xfrm>
          <a:prstGeom prst="rect">
            <a:avLst/>
          </a:prstGeom>
        </p:spPr>
      </p:pic>
      <p:sp>
        <p:nvSpPr>
          <p:cNvPr id="40" name="TextBox 39"/>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End User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90_0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668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413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684_8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43_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31_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9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77_9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145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end user,</a:t>
            </a:r>
          </a:p>
        </p:txBody>
      </p:sp>
      <p:sp>
        <p:nvSpPr>
          <p:cNvPr id="81" name="TextBox 80"/>
          <p:cNvSpPr txBox="1"/>
          <p:nvPr/>
        </p:nvSpPr>
        <p:spPr>
          <a:xfrm>
            <a:off x="485775" y="4397077"/>
            <a:ext cx="2788344" cy="186689"/>
          </a:xfrm>
          <a:prstGeom prst="rect">
            <a:avLst/>
          </a:prstGeom>
          <a:noFill/>
        </p:spPr>
        <p:txBody>
          <a:bodyPr wrap="none" lIns="0" rIns="0" tIns="0" bIns="0">
            <a:spAutoFit/>
          </a:bodyPr>
          <a:lstStyle/>
          <a:p>
            <a:r>
              <a:rPr sz="1100" b="0">
                <a:solidFill>
                  <a:srgbClr val="2E2E2E"/>
                </a:solidFill>
                <a:latin typeface="Calibri"/>
              </a:rPr>
              <a:t>dental hospitals segment is expected to witness</a:t>
            </a:r>
          </a:p>
        </p:txBody>
      </p:sp>
      <p:sp>
        <p:nvSpPr>
          <p:cNvPr id="82" name="TextBox 81"/>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83" name="Picture 82" descr="lock.png"/>
          <p:cNvPicPr>
            <a:picLocks noChangeAspect="1"/>
          </p:cNvPicPr>
          <p:nvPr/>
        </p:nvPicPr>
        <p:blipFill>
          <a:blip r:embed="rId16"/>
          <a:stretch>
            <a:fillRect/>
          </a:stretch>
        </p:blipFill>
        <p:spPr>
          <a:xfrm>
            <a:off x="1646163" y="4554938"/>
            <a:ext cx="128699" cy="187198"/>
          </a:xfrm>
          <a:prstGeom prst="rect">
            <a:avLst/>
          </a:prstGeom>
        </p:spPr>
      </p:pic>
      <p:sp>
        <p:nvSpPr>
          <p:cNvPr id="84" name="TextBox 83"/>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85" name="TextBox 84"/>
          <p:cNvSpPr txBox="1"/>
          <p:nvPr/>
        </p:nvSpPr>
        <p:spPr>
          <a:xfrm>
            <a:off x="485775" y="4732357"/>
            <a:ext cx="2898849" cy="186689"/>
          </a:xfrm>
          <a:prstGeom prst="rect">
            <a:avLst/>
          </a:prstGeom>
          <a:noFill/>
        </p:spPr>
        <p:txBody>
          <a:bodyPr wrap="none" lIns="0" rIns="0" tIns="0" bIns="0">
            <a:spAutoFit/>
          </a:bodyPr>
          <a:lstStyle/>
          <a:p>
            <a:r>
              <a:rPr sz="1100" b="0">
                <a:solidFill>
                  <a:srgbClr val="2E2E2E"/>
                </a:solidFill>
                <a:latin typeface="Calibri"/>
              </a:rPr>
              <a:t>In terms of value share by end user, the academic</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&amp; teaching dental institutions segment is expected</a:t>
            </a:r>
          </a:p>
        </p:txBody>
      </p:sp>
      <p:sp>
        <p:nvSpPr>
          <p:cNvPr id="87" name="TextBox 86"/>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88" name="Picture 87" descr="lock.png"/>
          <p:cNvPicPr>
            <a:picLocks noChangeAspect="1"/>
          </p:cNvPicPr>
          <p:nvPr/>
        </p:nvPicPr>
        <p:blipFill>
          <a:blip r:embed="rId16"/>
          <a:stretch>
            <a:fillRect/>
          </a:stretch>
        </p:blipFill>
        <p:spPr>
          <a:xfrm>
            <a:off x="2346590" y="5057858"/>
            <a:ext cx="128699" cy="187198"/>
          </a:xfrm>
          <a:prstGeom prst="rect">
            <a:avLst/>
          </a:prstGeom>
        </p:spPr>
      </p:pic>
      <p:sp>
        <p:nvSpPr>
          <p:cNvPr id="89" name="TextBox 88"/>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90" name="TextBox 89"/>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91" name="Picture 90" descr="lock.png"/>
          <p:cNvPicPr>
            <a:picLocks noChangeAspect="1"/>
          </p:cNvPicPr>
          <p:nvPr/>
        </p:nvPicPr>
        <p:blipFill>
          <a:blip r:embed="rId16"/>
          <a:stretch>
            <a:fillRect/>
          </a:stretch>
        </p:blipFill>
        <p:spPr>
          <a:xfrm>
            <a:off x="1330764" y="5225498"/>
            <a:ext cx="128699" cy="187198"/>
          </a:xfrm>
          <a:prstGeom prst="rect">
            <a:avLst/>
          </a:prstGeom>
        </p:spPr>
      </p:pic>
      <p:sp>
        <p:nvSpPr>
          <p:cNvPr id="92" name="TextBox 91"/>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535411" cy="186689"/>
          </a:xfrm>
          <a:prstGeom prst="rect">
            <a:avLst/>
          </a:prstGeom>
          <a:noFill/>
        </p:spPr>
        <p:txBody>
          <a:bodyPr wrap="none" lIns="0" rIns="0" tIns="0" bIns="0">
            <a:spAutoFit/>
          </a:bodyPr>
          <a:lstStyle/>
          <a:p>
            <a:r>
              <a:rPr sz="1100" b="0">
                <a:solidFill>
                  <a:srgbClr val="2E2E2E"/>
                </a:solidFill>
                <a:latin typeface="Calibri"/>
              </a:rPr>
              <a:t>▪ ¶ Academic &amp; teaching dental institutions</a:t>
            </a:r>
          </a:p>
        </p:txBody>
      </p:sp>
      <p:sp>
        <p:nvSpPr>
          <p:cNvPr id="94" name="TextBox 93"/>
          <p:cNvSpPr txBox="1"/>
          <p:nvPr/>
        </p:nvSpPr>
        <p:spPr>
          <a:xfrm>
            <a:off x="485775" y="5620849"/>
            <a:ext cx="1886024" cy="186689"/>
          </a:xfrm>
          <a:prstGeom prst="rect">
            <a:avLst/>
          </a:prstGeom>
          <a:noFill/>
        </p:spPr>
        <p:txBody>
          <a:bodyPr wrap="none" lIns="0" rIns="0" tIns="0" bIns="0">
            <a:spAutoFit/>
          </a:bodyPr>
          <a:lstStyle/>
          <a:p>
            <a:r>
              <a:rPr sz="1100" b="0">
                <a:solidFill>
                  <a:srgbClr val="2E2E2E"/>
                </a:solidFill>
                <a:latin typeface="Calibri"/>
              </a:rPr>
              <a:t>segment is projected to register</a:t>
            </a:r>
          </a:p>
        </p:txBody>
      </p:sp>
      <p:pic>
        <p:nvPicPr>
          <p:cNvPr id="95" name="Picture 94" descr="lock.png"/>
          <p:cNvPicPr>
            <a:picLocks noChangeAspect="1"/>
          </p:cNvPicPr>
          <p:nvPr/>
        </p:nvPicPr>
        <p:blipFill>
          <a:blip r:embed="rId16"/>
          <a:stretch>
            <a:fillRect/>
          </a:stretch>
        </p:blipFill>
        <p:spPr>
          <a:xfrm>
            <a:off x="2319851" y="5611070"/>
            <a:ext cx="128699" cy="187198"/>
          </a:xfrm>
          <a:prstGeom prst="rect">
            <a:avLst/>
          </a:prstGeom>
        </p:spPr>
      </p:pic>
      <p:sp>
        <p:nvSpPr>
          <p:cNvPr id="96" name="TextBox 95"/>
          <p:cNvSpPr txBox="1"/>
          <p:nvPr/>
        </p:nvSpPr>
        <p:spPr>
          <a:xfrm>
            <a:off x="2487346" y="5620849"/>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97" name="TextBox 96"/>
          <p:cNvSpPr txBox="1"/>
          <p:nvPr/>
        </p:nvSpPr>
        <p:spPr>
          <a:xfrm>
            <a:off x="485775" y="5788489"/>
            <a:ext cx="2460922" cy="186689"/>
          </a:xfrm>
          <a:prstGeom prst="rect">
            <a:avLst/>
          </a:prstGeom>
          <a:noFill/>
        </p:spPr>
        <p:txBody>
          <a:bodyPr wrap="none" lIns="0" rIns="0" tIns="0" bIns="0">
            <a:spAutoFit/>
          </a:bodyPr>
          <a:lstStyle/>
          <a:p>
            <a:r>
              <a:rPr sz="1100" b="0">
                <a:solidFill>
                  <a:srgbClr val="2E2E2E"/>
                </a:solidFill>
                <a:latin typeface="Calibri"/>
              </a:rPr>
              <a:t>than dental laboratories segment in 2036.</a:t>
            </a:r>
          </a:p>
        </p:txBody>
      </p:sp>
      <p:sp>
        <p:nvSpPr>
          <p:cNvPr id="98" name="TextBox 97"/>
          <p:cNvSpPr txBox="1"/>
          <p:nvPr/>
        </p:nvSpPr>
        <p:spPr>
          <a:xfrm>
            <a:off x="3838575" y="4229437"/>
            <a:ext cx="1350143" cy="186689"/>
          </a:xfrm>
          <a:prstGeom prst="rect">
            <a:avLst/>
          </a:prstGeom>
          <a:noFill/>
        </p:spPr>
        <p:txBody>
          <a:bodyPr wrap="none" lIns="0" rIns="0" tIns="0" bIns="0">
            <a:spAutoFit/>
          </a:bodyPr>
          <a:lstStyle/>
          <a:p>
            <a:r>
              <a:rPr sz="1100" b="0">
                <a:solidFill>
                  <a:srgbClr val="2E2E2E"/>
                </a:solidFill>
                <a:latin typeface="Calibri"/>
              </a:rPr>
              <a:t>● Dental Laboratories:</a:t>
            </a:r>
          </a:p>
        </p:txBody>
      </p:sp>
      <p:pic>
        <p:nvPicPr>
          <p:cNvPr id="99" name="Picture 98" descr="lock.png"/>
          <p:cNvPicPr>
            <a:picLocks noChangeAspect="1"/>
          </p:cNvPicPr>
          <p:nvPr/>
        </p:nvPicPr>
        <p:blipFill>
          <a:blip r:embed="rId16"/>
          <a:stretch>
            <a:fillRect/>
          </a:stretch>
        </p:blipFill>
        <p:spPr>
          <a:xfrm>
            <a:off x="5136770" y="4219658"/>
            <a:ext cx="128699" cy="187198"/>
          </a:xfrm>
          <a:prstGeom prst="rect">
            <a:avLst/>
          </a:prstGeom>
        </p:spPr>
      </p:pic>
      <p:sp>
        <p:nvSpPr>
          <p:cNvPr id="100" name="TextBox 99"/>
          <p:cNvSpPr txBox="1"/>
          <p:nvPr/>
        </p:nvSpPr>
        <p:spPr>
          <a:xfrm>
            <a:off x="5304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6163716" y="4219658"/>
            <a:ext cx="128699" cy="187198"/>
          </a:xfrm>
          <a:prstGeom prst="rect">
            <a:avLst/>
          </a:prstGeom>
        </p:spPr>
      </p:pic>
      <p:sp>
        <p:nvSpPr>
          <p:cNvPr id="102" name="TextBox 101"/>
          <p:cNvSpPr txBox="1"/>
          <p:nvPr/>
        </p:nvSpPr>
        <p:spPr>
          <a:xfrm>
            <a:off x="6331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447369"/>
            <a:ext cx="2531045" cy="186689"/>
          </a:xfrm>
          <a:prstGeom prst="rect">
            <a:avLst/>
          </a:prstGeom>
          <a:noFill/>
        </p:spPr>
        <p:txBody>
          <a:bodyPr wrap="none" lIns="0" rIns="0" tIns="0" bIns="0">
            <a:spAutoFit/>
          </a:bodyPr>
          <a:lstStyle/>
          <a:p>
            <a:r>
              <a:rPr sz="1100" b="0">
                <a:solidFill>
                  <a:srgbClr val="2E2E2E"/>
                </a:solidFill>
                <a:latin typeface="Calibri"/>
              </a:rPr>
              <a:t>● Academic &amp; Teaching Dental Institutions:</a:t>
            </a:r>
          </a:p>
        </p:txBody>
      </p:sp>
      <p:pic>
        <p:nvPicPr>
          <p:cNvPr id="104" name="Picture 103" descr="lock.png"/>
          <p:cNvPicPr>
            <a:picLocks noChangeAspect="1"/>
          </p:cNvPicPr>
          <p:nvPr/>
        </p:nvPicPr>
        <p:blipFill>
          <a:blip r:embed="rId16"/>
          <a:stretch>
            <a:fillRect/>
          </a:stretch>
        </p:blipFill>
        <p:spPr>
          <a:xfrm>
            <a:off x="6317672" y="4437590"/>
            <a:ext cx="128699" cy="187198"/>
          </a:xfrm>
          <a:prstGeom prst="rect">
            <a:avLst/>
          </a:prstGeom>
        </p:spPr>
      </p:pic>
      <p:sp>
        <p:nvSpPr>
          <p:cNvPr id="105" name="TextBox 104"/>
          <p:cNvSpPr txBox="1"/>
          <p:nvPr/>
        </p:nvSpPr>
        <p:spPr>
          <a:xfrm>
            <a:off x="648516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344618" y="4437590"/>
            <a:ext cx="128699" cy="187198"/>
          </a:xfrm>
          <a:prstGeom prst="rect">
            <a:avLst/>
          </a:prstGeom>
        </p:spPr>
      </p:pic>
      <p:sp>
        <p:nvSpPr>
          <p:cNvPr id="107" name="TextBox 106"/>
          <p:cNvSpPr txBox="1"/>
          <p:nvPr/>
        </p:nvSpPr>
        <p:spPr>
          <a:xfrm>
            <a:off x="3838575"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4832941"/>
            <a:ext cx="994345" cy="186689"/>
          </a:xfrm>
          <a:prstGeom prst="rect">
            <a:avLst/>
          </a:prstGeom>
          <a:noFill/>
        </p:spPr>
        <p:txBody>
          <a:bodyPr wrap="none" lIns="0" rIns="0" tIns="0" bIns="0">
            <a:spAutoFit/>
          </a:bodyPr>
          <a:lstStyle/>
          <a:p>
            <a:r>
              <a:rPr sz="1100" b="0">
                <a:solidFill>
                  <a:srgbClr val="2E2E2E"/>
                </a:solidFill>
                <a:latin typeface="Calibri"/>
              </a:rPr>
              <a:t>● Dental Clinics:</a:t>
            </a:r>
          </a:p>
        </p:txBody>
      </p:sp>
      <p:pic>
        <p:nvPicPr>
          <p:cNvPr id="109" name="Picture 108" descr="lock.png"/>
          <p:cNvPicPr>
            <a:picLocks noChangeAspect="1"/>
          </p:cNvPicPr>
          <p:nvPr/>
        </p:nvPicPr>
        <p:blipFill>
          <a:blip r:embed="rId16"/>
          <a:stretch>
            <a:fillRect/>
          </a:stretch>
        </p:blipFill>
        <p:spPr>
          <a:xfrm>
            <a:off x="4780972" y="4823162"/>
            <a:ext cx="128699" cy="187198"/>
          </a:xfrm>
          <a:prstGeom prst="rect">
            <a:avLst/>
          </a:prstGeom>
        </p:spPr>
      </p:pic>
      <p:sp>
        <p:nvSpPr>
          <p:cNvPr id="110" name="TextBox 109"/>
          <p:cNvSpPr txBox="1"/>
          <p:nvPr/>
        </p:nvSpPr>
        <p:spPr>
          <a:xfrm>
            <a:off x="494846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5807918" y="4823162"/>
            <a:ext cx="128699" cy="187198"/>
          </a:xfrm>
          <a:prstGeom prst="rect">
            <a:avLst/>
          </a:prstGeom>
        </p:spPr>
      </p:pic>
      <p:sp>
        <p:nvSpPr>
          <p:cNvPr id="112" name="TextBox 111"/>
          <p:cNvSpPr txBox="1"/>
          <p:nvPr/>
        </p:nvSpPr>
        <p:spPr>
          <a:xfrm>
            <a:off x="597541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3" name="TextBox 112"/>
          <p:cNvSpPr txBox="1"/>
          <p:nvPr/>
        </p:nvSpPr>
        <p:spPr>
          <a:xfrm>
            <a:off x="3838575" y="5050872"/>
            <a:ext cx="1157510" cy="186689"/>
          </a:xfrm>
          <a:prstGeom prst="rect">
            <a:avLst/>
          </a:prstGeom>
          <a:noFill/>
        </p:spPr>
        <p:txBody>
          <a:bodyPr wrap="none" lIns="0" rIns="0" tIns="0" bIns="0">
            <a:spAutoFit/>
          </a:bodyPr>
          <a:lstStyle/>
          <a:p>
            <a:r>
              <a:rPr sz="1100" b="0">
                <a:solidFill>
                  <a:srgbClr val="2E2E2E"/>
                </a:solidFill>
                <a:latin typeface="Calibri"/>
              </a:rPr>
              <a:t>● Dental Hospitals:</a:t>
            </a:r>
          </a:p>
        </p:txBody>
      </p:sp>
      <p:pic>
        <p:nvPicPr>
          <p:cNvPr id="114" name="Picture 113" descr="lock.png"/>
          <p:cNvPicPr>
            <a:picLocks noChangeAspect="1"/>
          </p:cNvPicPr>
          <p:nvPr/>
        </p:nvPicPr>
        <p:blipFill>
          <a:blip r:embed="rId16"/>
          <a:stretch>
            <a:fillRect/>
          </a:stretch>
        </p:blipFill>
        <p:spPr>
          <a:xfrm>
            <a:off x="4944137" y="5041093"/>
            <a:ext cx="128699" cy="187198"/>
          </a:xfrm>
          <a:prstGeom prst="rect">
            <a:avLst/>
          </a:prstGeom>
        </p:spPr>
      </p:pic>
      <p:sp>
        <p:nvSpPr>
          <p:cNvPr id="115" name="TextBox 114"/>
          <p:cNvSpPr txBox="1"/>
          <p:nvPr/>
        </p:nvSpPr>
        <p:spPr>
          <a:xfrm>
            <a:off x="51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6" name="Picture 115" descr="lock.png"/>
          <p:cNvPicPr>
            <a:picLocks noChangeAspect="1"/>
          </p:cNvPicPr>
          <p:nvPr/>
        </p:nvPicPr>
        <p:blipFill>
          <a:blip r:embed="rId16"/>
          <a:stretch>
            <a:fillRect/>
          </a:stretch>
        </p:blipFill>
        <p:spPr>
          <a:xfrm>
            <a:off x="5971083" y="5041093"/>
            <a:ext cx="128699" cy="187198"/>
          </a:xfrm>
          <a:prstGeom prst="rect">
            <a:avLst/>
          </a:prstGeom>
        </p:spPr>
      </p:pic>
      <p:sp>
        <p:nvSpPr>
          <p:cNvPr id="117" name="TextBox 116"/>
          <p:cNvSpPr txBox="1"/>
          <p:nvPr/>
        </p:nvSpPr>
        <p:spPr>
          <a:xfrm>
            <a:off x="6138579" y="5050872"/>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Academic &amp; teaching dental institutions followed by dental laboratories are expected to be the two most attractive end user segments in the global removable partial dentures market in terms of value over</a:t>
            </a:r>
          </a:p>
        </p:txBody>
      </p:sp>
      <p:sp>
        <p:nvSpPr>
          <p:cNvPr id="21" name="TextBox 20"/>
          <p:cNvSpPr txBox="1"/>
          <p:nvPr/>
        </p:nvSpPr>
        <p:spPr>
          <a:xfrm>
            <a:off x="257175" y="5861685"/>
            <a:ext cx="6210704" cy="186689"/>
          </a:xfrm>
          <a:prstGeom prst="rect">
            <a:avLst/>
          </a:prstGeom>
          <a:noFill/>
        </p:spPr>
        <p:txBody>
          <a:bodyPr wrap="none" lIns="0" rIns="0" tIns="0" bIns="0">
            <a:spAutoFit/>
          </a:bodyPr>
          <a:lstStyle/>
          <a:p>
            <a:r>
              <a:rPr sz="1100" b="0">
                <a:solidFill>
                  <a:srgbClr val="2E2E2E"/>
                </a:solidFill>
                <a:latin typeface="Calibri"/>
              </a:rPr>
              <a:t>the forecast period. Academic &amp; teaching dental institutions and dental laboratories exhibit a CAGR index of</a:t>
            </a:r>
          </a:p>
        </p:txBody>
      </p:sp>
      <p:pic>
        <p:nvPicPr>
          <p:cNvPr id="22" name="Picture 21" descr="lock.png"/>
          <p:cNvPicPr>
            <a:picLocks noChangeAspect="1"/>
          </p:cNvPicPr>
          <p:nvPr/>
        </p:nvPicPr>
        <p:blipFill>
          <a:blip r:embed="rId6"/>
          <a:stretch>
            <a:fillRect/>
          </a:stretch>
        </p:blipFill>
        <p:spPr>
          <a:xfrm>
            <a:off x="6415931" y="5851905"/>
            <a:ext cx="128699" cy="187198"/>
          </a:xfrm>
          <a:prstGeom prst="rect">
            <a:avLst/>
          </a:prstGeom>
        </p:spPr>
      </p:pic>
      <p:sp>
        <p:nvSpPr>
          <p:cNvPr id="23" name="TextBox 22"/>
          <p:cNvSpPr txBox="1"/>
          <p:nvPr/>
        </p:nvSpPr>
        <p:spPr>
          <a:xfrm>
            <a:off x="658342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821321" y="5851905"/>
            <a:ext cx="128699" cy="187198"/>
          </a:xfrm>
          <a:prstGeom prst="rect">
            <a:avLst/>
          </a:prstGeom>
        </p:spPr>
      </p:pic>
      <p:sp>
        <p:nvSpPr>
          <p:cNvPr id="25" name="TextBox 24"/>
          <p:cNvSpPr txBox="1"/>
          <p:nvPr/>
        </p:nvSpPr>
        <p:spPr>
          <a:xfrm>
            <a:off x="6988817"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597790" y="5851905"/>
            <a:ext cx="128699" cy="187198"/>
          </a:xfrm>
          <a:prstGeom prst="rect">
            <a:avLst/>
          </a:prstGeom>
        </p:spPr>
      </p:pic>
      <p:sp>
        <p:nvSpPr>
          <p:cNvPr id="27" name="TextBox 26"/>
          <p:cNvSpPr txBox="1"/>
          <p:nvPr/>
        </p:nvSpPr>
        <p:spPr>
          <a:xfrm>
            <a:off x="876528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003180" y="5851905"/>
            <a:ext cx="128699" cy="187198"/>
          </a:xfrm>
          <a:prstGeom prst="rect">
            <a:avLst/>
          </a:prstGeom>
        </p:spPr>
      </p:pic>
      <p:sp>
        <p:nvSpPr>
          <p:cNvPr id="29" name="TextBox 28"/>
          <p:cNvSpPr txBox="1"/>
          <p:nvPr/>
        </p:nvSpPr>
        <p:spPr>
          <a:xfrm>
            <a:off x="9170676" y="5861685"/>
            <a:ext cx="1976338" cy="186689"/>
          </a:xfrm>
          <a:prstGeom prst="rect">
            <a:avLst/>
          </a:prstGeom>
          <a:noFill/>
        </p:spPr>
        <p:txBody>
          <a:bodyPr wrap="none" lIns="0" rIns="0" tIns="0" bIns="0">
            <a:spAutoFit/>
          </a:bodyPr>
          <a:lstStyle/>
          <a:p>
            <a:r>
              <a:rPr sz="1100" b="0">
                <a:solidFill>
                  <a:srgbClr val="2E2E2E"/>
                </a:solidFill>
                <a:latin typeface="Calibri"/>
              </a:rPr>
              <a:t>respectively, against the segment</a:t>
            </a:r>
          </a:p>
        </p:txBody>
      </p:sp>
      <p:sp>
        <p:nvSpPr>
          <p:cNvPr id="30" name="TextBox 29"/>
          <p:cNvSpPr txBox="1"/>
          <p:nvPr/>
        </p:nvSpPr>
        <p:spPr>
          <a:xfrm>
            <a:off x="257175" y="6029325"/>
            <a:ext cx="674563" cy="186689"/>
          </a:xfrm>
          <a:prstGeom prst="rect">
            <a:avLst/>
          </a:prstGeom>
          <a:noFill/>
        </p:spPr>
        <p:txBody>
          <a:bodyPr wrap="none" lIns="0" rIns="0" tIns="0" bIns="0">
            <a:spAutoFit/>
          </a:bodyPr>
          <a:lstStyle/>
          <a:p>
            <a:r>
              <a:rPr sz="1100" b="0">
                <a:solidFill>
                  <a:srgbClr val="2E2E2E"/>
                </a:solidFill>
                <a:latin typeface="Calibri"/>
              </a:rPr>
              <a:t>average of</a:t>
            </a:r>
          </a:p>
        </p:txBody>
      </p:sp>
      <p:pic>
        <p:nvPicPr>
          <p:cNvPr id="31" name="Picture 30" descr="lock.png"/>
          <p:cNvPicPr>
            <a:picLocks noChangeAspect="1"/>
          </p:cNvPicPr>
          <p:nvPr/>
        </p:nvPicPr>
        <p:blipFill>
          <a:blip r:embed="rId6"/>
          <a:stretch>
            <a:fillRect/>
          </a:stretch>
        </p:blipFill>
        <p:spPr>
          <a:xfrm>
            <a:off x="879790" y="6019545"/>
            <a:ext cx="128699" cy="187198"/>
          </a:xfrm>
          <a:prstGeom prst="rect">
            <a:avLst/>
          </a:prstGeom>
        </p:spPr>
      </p:pic>
      <p:sp>
        <p:nvSpPr>
          <p:cNvPr id="32" name="TextBox 31"/>
          <p:cNvSpPr txBox="1"/>
          <p:nvPr/>
        </p:nvSpPr>
        <p:spPr>
          <a:xfrm>
            <a:off x="1047285" y="6029325"/>
            <a:ext cx="10780149" cy="186689"/>
          </a:xfrm>
          <a:prstGeom prst="rect">
            <a:avLst/>
          </a:prstGeom>
          <a:noFill/>
        </p:spPr>
        <p:txBody>
          <a:bodyPr wrap="none" lIns="0" rIns="0" tIns="0" bIns="0">
            <a:spAutoFit/>
          </a:bodyPr>
          <a:lstStyle/>
          <a:p>
            <a:r>
              <a:rPr sz="1100" b="0">
                <a:solidFill>
                  <a:srgbClr val="2E2E2E"/>
                </a:solidFill>
                <a:latin typeface="Calibri"/>
              </a:rPr>
              <a:t>. The dental clinics segment is expected to be less attractive as compared to other segments over the forecast period, owing to its lower CAGR and incremental opportunity. Bubbles right of</a:t>
            </a:r>
          </a:p>
        </p:txBody>
      </p:sp>
      <p:sp>
        <p:nvSpPr>
          <p:cNvPr id="33" name="TextBox 32"/>
          <p:cNvSpPr txBox="1"/>
          <p:nvPr/>
        </p:nvSpPr>
        <p:spPr>
          <a:xfrm>
            <a:off x="257175" y="6196965"/>
            <a:ext cx="3445899" cy="186689"/>
          </a:xfrm>
          <a:prstGeom prst="rect">
            <a:avLst/>
          </a:prstGeom>
          <a:noFill/>
        </p:spPr>
        <p:txBody>
          <a:bodyPr wrap="none" lIns="0" rIns="0" tIns="0" bIns="0">
            <a:spAutoFit/>
          </a:bodyPr>
          <a:lstStyle/>
          <a:p>
            <a:r>
              <a:rPr sz="1100" b="0">
                <a:solidFill>
                  <a:srgbClr val="2E2E2E"/>
                </a:solidFill>
                <a:latin typeface="Calibri"/>
              </a:rPr>
              <a:t>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Clinics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Hospitals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Laboratories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End User (Units)</a:t>
            </a:r>
          </a:p>
        </p:txBody>
      </p:sp>
      <p:graphicFrame>
        <p:nvGraphicFramePr>
          <p:cNvPr id="13" name="Table 12"/>
          <p:cNvGraphicFramePr>
            <a:graphicFrameLocks noGrp="1"/>
          </p:cNvGraphicFramePr>
          <p:nvPr/>
        </p:nvGraphicFramePr>
        <p:xfrm>
          <a:off x="152400" y="1238250"/>
          <a:ext cx="11887208" cy="20573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83">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83">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54">
                <a:tc>
                  <a:txBody>
                    <a:bodyPr wrap="none"/>
                    <a:lstStyle/>
                    <a:p>
                      <a:pPr algn="l"/>
                      <a:r>
                        <a:rPr sz="1100" b="1">
                          <a:solidFill>
                            <a:srgbClr val="2E2E2E"/>
                          </a:solidFill>
                          <a:latin typeface="Calibri"/>
                        </a:rPr>
                        <a:t>Academic &amp;</a:t>
                      </a:r>
                      <a:endParaRPr sz="1100"/>
                    </a:p>
                    <a:p>
                      <a:pPr algn="l"/>
                      <a:r>
                        <a:rPr sz="1100" b="1">
                          <a:solidFill>
                            <a:srgbClr val="2E2E2E"/>
                          </a:solidFill>
                          <a:latin typeface="Calibri"/>
                        </a:rPr>
                        <a:t>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05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38550"/>
            <a:ext cx="11906250" cy="2990850"/>
          </a:xfrm>
          <a:prstGeom prst="roundRect">
            <a:avLst>
              <a:gd name="adj" fmla="val 25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24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End User</a:t>
            </a:r>
          </a:p>
        </p:txBody>
      </p:sp>
      <p:sp>
        <p:nvSpPr>
          <p:cNvPr id="17" name="Rectangle 16"/>
          <p:cNvSpPr/>
          <p:nvPr/>
        </p:nvSpPr>
        <p:spPr>
          <a:xfrm>
            <a:off x="276225" y="3962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048125"/>
            <a:ext cx="11639550" cy="2505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219705"/>
            <a:ext cx="366712" cy="533400"/>
          </a:xfrm>
          <a:prstGeom prst="rect">
            <a:avLst/>
          </a:prstGeom>
        </p:spPr>
      </p:pic>
      <p:sp>
        <p:nvSpPr>
          <p:cNvPr id="21" name="TextBox 20"/>
          <p:cNvSpPr txBox="1"/>
          <p:nvPr/>
        </p:nvSpPr>
        <p:spPr>
          <a:xfrm>
            <a:off x="276225" y="4057650"/>
            <a:ext cx="3145246" cy="194310"/>
          </a:xfrm>
          <a:prstGeom prst="rect">
            <a:avLst/>
          </a:prstGeom>
          <a:noFill/>
        </p:spPr>
        <p:txBody>
          <a:bodyPr wrap="none" lIns="0" rIns="0" tIns="0" bIns="0">
            <a:spAutoFit/>
          </a:bodyPr>
          <a:lstStyle/>
          <a:p>
            <a:r>
              <a:rPr sz="1150" b="0">
                <a:solidFill>
                  <a:srgbClr val="2E2E2E"/>
                </a:solidFill>
                <a:latin typeface="Calibri"/>
              </a:rPr>
              <a:t>Dental laboratories segment is projected to register</a:t>
            </a:r>
          </a:p>
        </p:txBody>
      </p:sp>
      <p:pic>
        <p:nvPicPr>
          <p:cNvPr id="22" name="Picture 21" descr="lock.png"/>
          <p:cNvPicPr>
            <a:picLocks noChangeAspect="1"/>
          </p:cNvPicPr>
          <p:nvPr/>
        </p:nvPicPr>
        <p:blipFill>
          <a:blip r:embed="rId4"/>
          <a:stretch>
            <a:fillRect/>
          </a:stretch>
        </p:blipFill>
        <p:spPr>
          <a:xfrm>
            <a:off x="3370625" y="4047426"/>
            <a:ext cx="134549" cy="195707"/>
          </a:xfrm>
          <a:prstGeom prst="rect">
            <a:avLst/>
          </a:prstGeom>
        </p:spPr>
      </p:pic>
      <p:sp>
        <p:nvSpPr>
          <p:cNvPr id="23" name="TextBox 22"/>
          <p:cNvSpPr txBox="1"/>
          <p:nvPr/>
        </p:nvSpPr>
        <p:spPr>
          <a:xfrm>
            <a:off x="3545734" y="4057650"/>
            <a:ext cx="8072722" cy="194310"/>
          </a:xfrm>
          <a:prstGeom prst="rect">
            <a:avLst/>
          </a:prstGeom>
          <a:noFill/>
        </p:spPr>
        <p:txBody>
          <a:bodyPr wrap="none" lIns="0" rIns="0" tIns="0" bIns="0">
            <a:spAutoFit/>
          </a:bodyPr>
          <a:lstStyle/>
          <a:p>
            <a:r>
              <a:rPr sz="1150" b="0">
                <a:solidFill>
                  <a:srgbClr val="2E2E2E"/>
                </a:solidFill>
                <a:latin typeface="Calibri"/>
              </a:rPr>
              <a:t>X higher volume than academic &amp; teaching dental institutions segment in 2036. Among removable partial dentures by end user, dental</a:t>
            </a:r>
          </a:p>
        </p:txBody>
      </p:sp>
      <p:sp>
        <p:nvSpPr>
          <p:cNvPr id="24" name="TextBox 23"/>
          <p:cNvSpPr txBox="1"/>
          <p:nvPr/>
        </p:nvSpPr>
        <p:spPr>
          <a:xfrm>
            <a:off x="276225" y="42329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4222686"/>
            <a:ext cx="134549" cy="195707"/>
          </a:xfrm>
          <a:prstGeom prst="rect">
            <a:avLst/>
          </a:prstGeom>
        </p:spPr>
      </p:pic>
      <p:sp>
        <p:nvSpPr>
          <p:cNvPr id="26" name="TextBox 25"/>
          <p:cNvSpPr txBox="1"/>
          <p:nvPr/>
        </p:nvSpPr>
        <p:spPr>
          <a:xfrm>
            <a:off x="4121074" y="42329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460747"/>
            <a:ext cx="6839855" cy="194310"/>
          </a:xfrm>
          <a:prstGeom prst="rect">
            <a:avLst/>
          </a:prstGeom>
          <a:noFill/>
        </p:spPr>
        <p:txBody>
          <a:bodyPr wrap="none" lIns="0" rIns="0" tIns="0" bIns="0">
            <a:spAutoFit/>
          </a:bodyPr>
          <a:lstStyle/>
          <a:p>
            <a:r>
              <a:rPr sz="1150" b="0">
                <a:solidFill>
                  <a:srgbClr val="2E2E2E"/>
                </a:solidFill>
                <a:latin typeface="Calibri"/>
              </a:rPr>
              <a:t>In terms of volume share by end user, the dental laboratories segment is expected to dominate the market, losing</a:t>
            </a:r>
          </a:p>
        </p:txBody>
      </p:sp>
      <p:pic>
        <p:nvPicPr>
          <p:cNvPr id="28" name="Picture 27" descr="lock.png"/>
          <p:cNvPicPr>
            <a:picLocks noChangeAspect="1"/>
          </p:cNvPicPr>
          <p:nvPr/>
        </p:nvPicPr>
        <p:blipFill>
          <a:blip r:embed="rId4"/>
          <a:stretch>
            <a:fillRect/>
          </a:stretch>
        </p:blipFill>
        <p:spPr>
          <a:xfrm>
            <a:off x="7065234" y="4450524"/>
            <a:ext cx="134549" cy="195707"/>
          </a:xfrm>
          <a:prstGeom prst="rect">
            <a:avLst/>
          </a:prstGeom>
        </p:spPr>
      </p:pic>
      <p:sp>
        <p:nvSpPr>
          <p:cNvPr id="29" name="TextBox 28"/>
          <p:cNvSpPr txBox="1"/>
          <p:nvPr/>
        </p:nvSpPr>
        <p:spPr>
          <a:xfrm>
            <a:off x="7240343" y="44607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35486" y="4450524"/>
            <a:ext cx="134549" cy="195707"/>
          </a:xfrm>
          <a:prstGeom prst="rect">
            <a:avLst/>
          </a:prstGeom>
        </p:spPr>
      </p:pic>
      <p:sp>
        <p:nvSpPr>
          <p:cNvPr id="31" name="TextBox 30"/>
          <p:cNvSpPr txBox="1"/>
          <p:nvPr/>
        </p:nvSpPr>
        <p:spPr>
          <a:xfrm>
            <a:off x="8810596" y="44607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End User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End User</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27480" y="1837563"/>
            <a:ext cx="366712" cy="533400"/>
          </a:xfrm>
          <a:prstGeom prst="rect">
            <a:avLst/>
          </a:prstGeom>
        </p:spPr>
      </p:pic>
      <p:sp>
        <p:nvSpPr>
          <p:cNvPr id="21" name="TextBox 20"/>
          <p:cNvSpPr txBox="1"/>
          <p:nvPr/>
        </p:nvSpPr>
        <p:spPr>
          <a:xfrm>
            <a:off x="276225" y="3486150"/>
            <a:ext cx="4368986" cy="194310"/>
          </a:xfrm>
          <a:prstGeom prst="rect">
            <a:avLst/>
          </a:prstGeom>
          <a:noFill/>
        </p:spPr>
        <p:txBody>
          <a:bodyPr wrap="none" lIns="0" rIns="0" tIns="0" bIns="0">
            <a:spAutoFit/>
          </a:bodyPr>
          <a:lstStyle/>
          <a:p>
            <a:r>
              <a:rPr sz="1150" b="0">
                <a:solidFill>
                  <a:srgbClr val="2E2E2E"/>
                </a:solidFill>
                <a:latin typeface="Calibri"/>
              </a:rPr>
              <a:t>Academic &amp; teaching dental institutions segment is projected to register</a:t>
            </a:r>
          </a:p>
        </p:txBody>
      </p:sp>
      <p:pic>
        <p:nvPicPr>
          <p:cNvPr id="22" name="Picture 21" descr="lock.png"/>
          <p:cNvPicPr>
            <a:picLocks noChangeAspect="1"/>
          </p:cNvPicPr>
          <p:nvPr/>
        </p:nvPicPr>
        <p:blipFill>
          <a:blip r:embed="rId4"/>
          <a:stretch>
            <a:fillRect/>
          </a:stretch>
        </p:blipFill>
        <p:spPr>
          <a:xfrm>
            <a:off x="4594364" y="3475926"/>
            <a:ext cx="134549" cy="195707"/>
          </a:xfrm>
          <a:prstGeom prst="rect">
            <a:avLst/>
          </a:prstGeom>
        </p:spPr>
      </p:pic>
      <p:sp>
        <p:nvSpPr>
          <p:cNvPr id="23" name="TextBox 22"/>
          <p:cNvSpPr txBox="1"/>
          <p:nvPr/>
        </p:nvSpPr>
        <p:spPr>
          <a:xfrm>
            <a:off x="4769474" y="3486150"/>
            <a:ext cx="6726609" cy="194310"/>
          </a:xfrm>
          <a:prstGeom prst="rect">
            <a:avLst/>
          </a:prstGeom>
          <a:noFill/>
        </p:spPr>
        <p:txBody>
          <a:bodyPr wrap="none" lIns="0" rIns="0" tIns="0" bIns="0">
            <a:spAutoFit/>
          </a:bodyPr>
          <a:lstStyle/>
          <a:p>
            <a:r>
              <a:rPr sz="1150" b="0">
                <a:solidFill>
                  <a:srgbClr val="2E2E2E"/>
                </a:solidFill>
                <a:latin typeface="Calibri"/>
              </a:rPr>
              <a:t>X higher value than dental laboratories segment in 2036. Among removable partial dentures by end user, dental</a:t>
            </a:r>
          </a:p>
        </p:txBody>
      </p:sp>
      <p:sp>
        <p:nvSpPr>
          <p:cNvPr id="24" name="TextBox 23"/>
          <p:cNvSpPr txBox="1"/>
          <p:nvPr/>
        </p:nvSpPr>
        <p:spPr>
          <a:xfrm>
            <a:off x="276225" y="3661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3651186"/>
            <a:ext cx="134549" cy="195707"/>
          </a:xfrm>
          <a:prstGeom prst="rect">
            <a:avLst/>
          </a:prstGeom>
        </p:spPr>
      </p:pic>
      <p:sp>
        <p:nvSpPr>
          <p:cNvPr id="26" name="TextBox 25"/>
          <p:cNvSpPr txBox="1"/>
          <p:nvPr/>
        </p:nvSpPr>
        <p:spPr>
          <a:xfrm>
            <a:off x="4121074"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8019665" cy="194310"/>
          </a:xfrm>
          <a:prstGeom prst="rect">
            <a:avLst/>
          </a:prstGeom>
          <a:noFill/>
        </p:spPr>
        <p:txBody>
          <a:bodyPr wrap="none" lIns="0" rIns="0" tIns="0" bIns="0">
            <a:spAutoFit/>
          </a:bodyPr>
          <a:lstStyle/>
          <a:p>
            <a:r>
              <a:rPr sz="1150" b="0">
                <a:solidFill>
                  <a:srgbClr val="2E2E2E"/>
                </a:solidFill>
                <a:latin typeface="Calibri"/>
              </a:rPr>
              <a:t>In terms of value share by end user, the academic &amp; teaching dental institutions segment is expected to dominate the market, gaining</a:t>
            </a:r>
          </a:p>
        </p:txBody>
      </p:sp>
      <p:pic>
        <p:nvPicPr>
          <p:cNvPr id="28" name="Picture 27" descr="lock.png"/>
          <p:cNvPicPr>
            <a:picLocks noChangeAspect="1"/>
          </p:cNvPicPr>
          <p:nvPr/>
        </p:nvPicPr>
        <p:blipFill>
          <a:blip r:embed="rId4"/>
          <a:stretch>
            <a:fillRect/>
          </a:stretch>
        </p:blipFill>
        <p:spPr>
          <a:xfrm>
            <a:off x="8245044" y="3879024"/>
            <a:ext cx="134549" cy="195707"/>
          </a:xfrm>
          <a:prstGeom prst="rect">
            <a:avLst/>
          </a:prstGeom>
        </p:spPr>
      </p:pic>
      <p:sp>
        <p:nvSpPr>
          <p:cNvPr id="29" name="TextBox 28"/>
          <p:cNvSpPr txBox="1"/>
          <p:nvPr/>
        </p:nvSpPr>
        <p:spPr>
          <a:xfrm>
            <a:off x="842015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5296" y="3879024"/>
            <a:ext cx="134549" cy="195707"/>
          </a:xfrm>
          <a:prstGeom prst="rect">
            <a:avLst/>
          </a:prstGeom>
        </p:spPr>
      </p:pic>
      <p:sp>
        <p:nvSpPr>
          <p:cNvPr id="31" name="TextBox 30"/>
          <p:cNvSpPr txBox="1"/>
          <p:nvPr/>
        </p:nvSpPr>
        <p:spPr>
          <a:xfrm>
            <a:off x="9990406" y="3889247"/>
            <a:ext cx="1612007" cy="194310"/>
          </a:xfrm>
          <a:prstGeom prst="rect">
            <a:avLst/>
          </a:prstGeom>
          <a:noFill/>
        </p:spPr>
        <p:txBody>
          <a:bodyPr wrap="none" lIns="0" rIns="0" tIns="0" bIns="0">
            <a:spAutoFit/>
          </a:bodyPr>
          <a:lstStyle/>
          <a:p>
            <a:r>
              <a:rPr sz="1150" b="0">
                <a:solidFill>
                  <a:srgbClr val="2E2E2E"/>
                </a:solidFill>
                <a:latin typeface="Calibri"/>
              </a:rPr>
              <a:t>share by 2036. The dental</a:t>
            </a:r>
          </a:p>
        </p:txBody>
      </p:sp>
      <p:sp>
        <p:nvSpPr>
          <p:cNvPr id="32" name="TextBox 31"/>
          <p:cNvSpPr txBox="1"/>
          <p:nvPr/>
        </p:nvSpPr>
        <p:spPr>
          <a:xfrm>
            <a:off x="276225" y="4064507"/>
            <a:ext cx="2477467" cy="194310"/>
          </a:xfrm>
          <a:prstGeom prst="rect">
            <a:avLst/>
          </a:prstGeom>
          <a:noFill/>
        </p:spPr>
        <p:txBody>
          <a:bodyPr wrap="none" lIns="0" rIns="0" tIns="0" bIns="0">
            <a:spAutoFit/>
          </a:bodyPr>
          <a:lstStyle/>
          <a:p>
            <a:r>
              <a:rPr sz="1150" b="0">
                <a:solidFill>
                  <a:srgbClr val="2E2E2E"/>
                </a:solidFill>
                <a:latin typeface="Calibri"/>
              </a:rPr>
              <a:t>laboratories segment is expected to lose</a:t>
            </a:r>
          </a:p>
        </p:txBody>
      </p:sp>
      <p:pic>
        <p:nvPicPr>
          <p:cNvPr id="33" name="Picture 32" descr="lock.png"/>
          <p:cNvPicPr>
            <a:picLocks noChangeAspect="1"/>
          </p:cNvPicPr>
          <p:nvPr/>
        </p:nvPicPr>
        <p:blipFill>
          <a:blip r:embed="rId4"/>
          <a:stretch>
            <a:fillRect/>
          </a:stretch>
        </p:blipFill>
        <p:spPr>
          <a:xfrm>
            <a:off x="2702846" y="4054284"/>
            <a:ext cx="134549" cy="195707"/>
          </a:xfrm>
          <a:prstGeom prst="rect">
            <a:avLst/>
          </a:prstGeom>
        </p:spPr>
      </p:pic>
      <p:sp>
        <p:nvSpPr>
          <p:cNvPr id="34" name="TextBox 33"/>
          <p:cNvSpPr txBox="1"/>
          <p:nvPr/>
        </p:nvSpPr>
        <p:spPr>
          <a:xfrm>
            <a:off x="2877955"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465460" y="4054284"/>
            <a:ext cx="134549" cy="195707"/>
          </a:xfrm>
          <a:prstGeom prst="rect">
            <a:avLst/>
          </a:prstGeom>
        </p:spPr>
      </p:pic>
      <p:sp>
        <p:nvSpPr>
          <p:cNvPr id="36" name="TextBox 35"/>
          <p:cNvSpPr txBox="1"/>
          <p:nvPr/>
        </p:nvSpPr>
        <p:spPr>
          <a:xfrm>
            <a:off x="5640569"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End User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70630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015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53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6872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23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18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42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042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55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4502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74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43596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30652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3017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2255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28747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751325"/>
            <a:ext cx="275034" cy="400050"/>
          </a:xfrm>
          <a:prstGeom prst="rect">
            <a:avLst/>
          </a:prstGeom>
        </p:spPr>
      </p:pic>
      <p:sp>
        <p:nvSpPr>
          <p:cNvPr id="38" name="TextBox 37"/>
          <p:cNvSpPr txBox="1"/>
          <p:nvPr/>
        </p:nvSpPr>
        <p:spPr>
          <a:xfrm>
            <a:off x="7829550" y="1400175"/>
            <a:ext cx="3890615" cy="194310"/>
          </a:xfrm>
          <a:prstGeom prst="rect">
            <a:avLst/>
          </a:prstGeom>
          <a:noFill/>
        </p:spPr>
        <p:txBody>
          <a:bodyPr wrap="none" lIns="0" rIns="0" tIns="0" bIns="0">
            <a:spAutoFit/>
          </a:bodyPr>
          <a:lstStyle/>
          <a:p>
            <a:r>
              <a:rPr sz="1150" b="0">
                <a:solidFill>
                  <a:srgbClr val="2E2E2E"/>
                </a:solidFill>
                <a:latin typeface="Calibri"/>
              </a:rPr>
              <a:t>Among removable partial dentures by end user, dental hospitals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01293"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user, the academic</a:t>
            </a:r>
          </a:p>
        </p:txBody>
      </p:sp>
      <p:sp>
        <p:nvSpPr>
          <p:cNvPr id="43" name="TextBox 42"/>
          <p:cNvSpPr txBox="1"/>
          <p:nvPr/>
        </p:nvSpPr>
        <p:spPr>
          <a:xfrm>
            <a:off x="7829550" y="1925955"/>
            <a:ext cx="4057650" cy="194310"/>
          </a:xfrm>
          <a:prstGeom prst="rect">
            <a:avLst/>
          </a:prstGeom>
          <a:noFill/>
        </p:spPr>
        <p:txBody>
          <a:bodyPr wrap="none" lIns="0" rIns="0" tIns="0" bIns="0">
            <a:spAutoFit/>
          </a:bodyPr>
          <a:lstStyle/>
          <a:p>
            <a:r>
              <a:rPr sz="1150" b="0">
                <a:solidFill>
                  <a:srgbClr val="2E2E2E"/>
                </a:solidFill>
                <a:latin typeface="Calibri"/>
              </a:rPr>
              <a:t>&amp; teaching dental institutions segment is expected to dominate the</a:t>
            </a:r>
          </a:p>
        </p:txBody>
      </p:sp>
      <p:sp>
        <p:nvSpPr>
          <p:cNvPr id="44" name="TextBox 43"/>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5" name="Picture 44" descr="lock.png"/>
          <p:cNvPicPr>
            <a:picLocks noChangeAspect="1"/>
          </p:cNvPicPr>
          <p:nvPr/>
        </p:nvPicPr>
        <p:blipFill>
          <a:blip r:embed="rId5"/>
          <a:stretch>
            <a:fillRect/>
          </a:stretch>
        </p:blipFill>
        <p:spPr>
          <a:xfrm>
            <a:off x="8778556" y="2090991"/>
            <a:ext cx="134549" cy="195707"/>
          </a:xfrm>
          <a:prstGeom prst="rect">
            <a:avLst/>
          </a:prstGeom>
        </p:spPr>
      </p:pic>
      <p:sp>
        <p:nvSpPr>
          <p:cNvPr id="46" name="TextBox 45"/>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0348808" y="2090991"/>
            <a:ext cx="134549" cy="195707"/>
          </a:xfrm>
          <a:prstGeom prst="rect">
            <a:avLst/>
          </a:prstGeom>
        </p:spPr>
      </p:pic>
      <p:sp>
        <p:nvSpPr>
          <p:cNvPr id="48" name="TextBox 47"/>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329053"/>
            <a:ext cx="3143250" cy="194310"/>
          </a:xfrm>
          <a:prstGeom prst="rect">
            <a:avLst/>
          </a:prstGeom>
          <a:noFill/>
        </p:spPr>
        <p:txBody>
          <a:bodyPr wrap="none" lIns="0" rIns="0" tIns="0" bIns="0">
            <a:spAutoFit/>
          </a:bodyPr>
          <a:lstStyle/>
          <a:p>
            <a:r>
              <a:rPr sz="1150" b="0">
                <a:solidFill>
                  <a:srgbClr val="2E2E2E"/>
                </a:solidFill>
                <a:latin typeface="Calibri"/>
              </a:rPr>
              <a:t>The dental laboratories segment is expected to lose</a:t>
            </a:r>
          </a:p>
        </p:txBody>
      </p:sp>
      <p:pic>
        <p:nvPicPr>
          <p:cNvPr id="50" name="Picture 49" descr="lock.png"/>
          <p:cNvPicPr>
            <a:picLocks noChangeAspect="1"/>
          </p:cNvPicPr>
          <p:nvPr/>
        </p:nvPicPr>
        <p:blipFill>
          <a:blip r:embed="rId5"/>
          <a:stretch>
            <a:fillRect/>
          </a:stretch>
        </p:blipFill>
        <p:spPr>
          <a:xfrm>
            <a:off x="10921953" y="2318829"/>
            <a:ext cx="134549" cy="195707"/>
          </a:xfrm>
          <a:prstGeom prst="rect">
            <a:avLst/>
          </a:prstGeom>
        </p:spPr>
      </p:pic>
      <p:sp>
        <p:nvSpPr>
          <p:cNvPr id="51" name="TextBox 50"/>
          <p:cNvSpPr txBox="1"/>
          <p:nvPr/>
        </p:nvSpPr>
        <p:spPr>
          <a:xfrm>
            <a:off x="11097063"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2" name="TextBox 51"/>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53" name="Picture 52" descr="lock.png"/>
          <p:cNvPicPr>
            <a:picLocks noChangeAspect="1"/>
          </p:cNvPicPr>
          <p:nvPr/>
        </p:nvPicPr>
        <p:blipFill>
          <a:blip r:embed="rId5"/>
          <a:stretch>
            <a:fillRect/>
          </a:stretch>
        </p:blipFill>
        <p:spPr>
          <a:xfrm>
            <a:off x="9861950" y="2494089"/>
            <a:ext cx="134549" cy="195707"/>
          </a:xfrm>
          <a:prstGeom prst="rect">
            <a:avLst/>
          </a:prstGeom>
        </p:spPr>
      </p:pic>
      <p:sp>
        <p:nvSpPr>
          <p:cNvPr id="54" name="TextBox 53"/>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4.4%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712_7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909_9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2_5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295_2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71_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8_6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17_3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149_5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4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70" name="TextBox 69"/>
          <p:cNvSpPr txBox="1"/>
          <p:nvPr/>
        </p:nvSpPr>
        <p:spPr>
          <a:xfrm>
            <a:off x="485775" y="4397077"/>
            <a:ext cx="2564606" cy="186689"/>
          </a:xfrm>
          <a:prstGeom prst="rect">
            <a:avLst/>
          </a:prstGeom>
          <a:noFill/>
        </p:spPr>
        <p:txBody>
          <a:bodyPr wrap="none" lIns="0" rIns="0" tIns="0" bIns="0">
            <a:spAutoFit/>
          </a:bodyPr>
          <a:lstStyle/>
          <a:p>
            <a:r>
              <a:rPr sz="1100" b="0">
                <a:solidFill>
                  <a:srgbClr val="2E2E2E"/>
                </a:solidFill>
                <a:latin typeface="Calibri"/>
              </a:rPr>
              <a:t>distribution channel, direct sales segment is</a:t>
            </a:r>
          </a:p>
        </p:txBody>
      </p:sp>
      <p:sp>
        <p:nvSpPr>
          <p:cNvPr id="71" name="TextBox 70"/>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815059" y="4554938"/>
            <a:ext cx="128699" cy="187198"/>
          </a:xfrm>
          <a:prstGeom prst="rect">
            <a:avLst/>
          </a:prstGeom>
        </p:spPr>
      </p:pic>
      <p:sp>
        <p:nvSpPr>
          <p:cNvPr id="73" name="TextBox 72"/>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74" name="TextBox 73"/>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75" name="TextBox 74"/>
          <p:cNvSpPr txBox="1"/>
          <p:nvPr/>
        </p:nvSpPr>
        <p:spPr>
          <a:xfrm>
            <a:off x="485775" y="4899997"/>
            <a:ext cx="2441004" cy="186689"/>
          </a:xfrm>
          <a:prstGeom prst="rect">
            <a:avLst/>
          </a:prstGeom>
          <a:noFill/>
        </p:spPr>
        <p:txBody>
          <a:bodyPr wrap="none" lIns="0" rIns="0" tIns="0" bIns="0">
            <a:spAutoFit/>
          </a:bodyPr>
          <a:lstStyle/>
          <a:p>
            <a:r>
              <a:rPr sz="1100" b="0">
                <a:solidFill>
                  <a:srgbClr val="2E2E2E"/>
                </a:solidFill>
                <a:latin typeface="Calibri"/>
              </a:rPr>
              <a:t>distribution channel, the dental dealers &amp;</a:t>
            </a:r>
          </a:p>
        </p:txBody>
      </p:sp>
      <p:sp>
        <p:nvSpPr>
          <p:cNvPr id="76" name="TextBox 75"/>
          <p:cNvSpPr txBox="1"/>
          <p:nvPr/>
        </p:nvSpPr>
        <p:spPr>
          <a:xfrm>
            <a:off x="485775" y="5067637"/>
            <a:ext cx="2883569" cy="186689"/>
          </a:xfrm>
          <a:prstGeom prst="rect">
            <a:avLst/>
          </a:prstGeom>
          <a:noFill/>
        </p:spPr>
        <p:txBody>
          <a:bodyPr wrap="none" lIns="0" rIns="0" tIns="0" bIns="0">
            <a:spAutoFit/>
          </a:bodyPr>
          <a:lstStyle/>
          <a:p>
            <a:r>
              <a:rPr sz="1100" b="0">
                <a:solidFill>
                  <a:srgbClr val="2E2E2E"/>
                </a:solidFill>
                <a:latin typeface="Calibri"/>
              </a:rPr>
              <a:t>distributors segment is expected to dominate the</a:t>
            </a:r>
          </a:p>
        </p:txBody>
      </p:sp>
      <p:sp>
        <p:nvSpPr>
          <p:cNvPr id="77" name="TextBox 76"/>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78" name="Picture 77" descr="lock.png"/>
          <p:cNvPicPr>
            <a:picLocks noChangeAspect="1"/>
          </p:cNvPicPr>
          <p:nvPr/>
        </p:nvPicPr>
        <p:blipFill>
          <a:blip r:embed="rId13"/>
          <a:stretch>
            <a:fillRect/>
          </a:stretch>
        </p:blipFill>
        <p:spPr>
          <a:xfrm>
            <a:off x="1315757" y="5225498"/>
            <a:ext cx="128699" cy="187198"/>
          </a:xfrm>
          <a:prstGeom prst="rect">
            <a:avLst/>
          </a:prstGeom>
        </p:spPr>
      </p:pic>
      <p:sp>
        <p:nvSpPr>
          <p:cNvPr id="79" name="TextBox 78"/>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80" name="Picture 79" descr="lock.png"/>
          <p:cNvPicPr>
            <a:picLocks noChangeAspect="1"/>
          </p:cNvPicPr>
          <p:nvPr/>
        </p:nvPicPr>
        <p:blipFill>
          <a:blip r:embed="rId13"/>
          <a:stretch>
            <a:fillRect/>
          </a:stretch>
        </p:blipFill>
        <p:spPr>
          <a:xfrm>
            <a:off x="2817737" y="5225498"/>
            <a:ext cx="128699" cy="187198"/>
          </a:xfrm>
          <a:prstGeom prst="rect">
            <a:avLst/>
          </a:prstGeom>
        </p:spPr>
      </p:pic>
      <p:sp>
        <p:nvSpPr>
          <p:cNvPr id="81" name="TextBox 80"/>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620849"/>
            <a:ext cx="2551236" cy="186689"/>
          </a:xfrm>
          <a:prstGeom prst="rect">
            <a:avLst/>
          </a:prstGeom>
          <a:noFill/>
        </p:spPr>
        <p:txBody>
          <a:bodyPr wrap="none" lIns="0" rIns="0" tIns="0" bIns="0">
            <a:spAutoFit/>
          </a:bodyPr>
          <a:lstStyle/>
          <a:p>
            <a:r>
              <a:rPr sz="1100" b="0">
                <a:solidFill>
                  <a:srgbClr val="2E2E2E"/>
                </a:solidFill>
                <a:latin typeface="Calibri"/>
              </a:rPr>
              <a:t>▪ ¶ Dental dealers &amp; distributors segment is</a:t>
            </a:r>
          </a:p>
        </p:txBody>
      </p:sp>
      <p:sp>
        <p:nvSpPr>
          <p:cNvPr id="83" name="TextBox 82"/>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4" name="Picture 83" descr="lock.png"/>
          <p:cNvPicPr>
            <a:picLocks noChangeAspect="1"/>
          </p:cNvPicPr>
          <p:nvPr/>
        </p:nvPicPr>
        <p:blipFill>
          <a:blip r:embed="rId13"/>
          <a:stretch>
            <a:fillRect/>
          </a:stretch>
        </p:blipFill>
        <p:spPr>
          <a:xfrm>
            <a:off x="1678376" y="5778710"/>
            <a:ext cx="128699" cy="187198"/>
          </a:xfrm>
          <a:prstGeom prst="rect">
            <a:avLst/>
          </a:prstGeom>
        </p:spPr>
      </p:pic>
      <p:sp>
        <p:nvSpPr>
          <p:cNvPr id="85" name="TextBox 84"/>
          <p:cNvSpPr txBox="1"/>
          <p:nvPr/>
        </p:nvSpPr>
        <p:spPr>
          <a:xfrm>
            <a:off x="1845872" y="5788489"/>
            <a:ext cx="1534318" cy="186689"/>
          </a:xfrm>
          <a:prstGeom prst="rect">
            <a:avLst/>
          </a:prstGeom>
          <a:noFill/>
        </p:spPr>
        <p:txBody>
          <a:bodyPr wrap="none" lIns="0" rIns="0" tIns="0" bIns="0">
            <a:spAutoFit/>
          </a:bodyPr>
          <a:lstStyle/>
          <a:p>
            <a:r>
              <a:rPr sz="1100" b="0">
                <a:solidFill>
                  <a:srgbClr val="2E2E2E"/>
                </a:solidFill>
                <a:latin typeface="Calibri"/>
              </a:rPr>
              <a:t>X higher value than direct</a:t>
            </a:r>
          </a:p>
        </p:txBody>
      </p:sp>
      <p:sp>
        <p:nvSpPr>
          <p:cNvPr id="86" name="TextBox 85"/>
          <p:cNvSpPr txBox="1"/>
          <p:nvPr/>
        </p:nvSpPr>
        <p:spPr>
          <a:xfrm>
            <a:off x="485775" y="5956129"/>
            <a:ext cx="1364877" cy="186689"/>
          </a:xfrm>
          <a:prstGeom prst="rect">
            <a:avLst/>
          </a:prstGeom>
          <a:noFill/>
        </p:spPr>
        <p:txBody>
          <a:bodyPr wrap="none" lIns="0" rIns="0" tIns="0" bIns="0">
            <a:spAutoFit/>
          </a:bodyPr>
          <a:lstStyle/>
          <a:p>
            <a:r>
              <a:rPr sz="1100" b="0">
                <a:solidFill>
                  <a:srgbClr val="2E2E2E"/>
                </a:solidFill>
                <a:latin typeface="Calibri"/>
              </a:rPr>
              <a:t>sales segment in 2036.</a:t>
            </a:r>
          </a:p>
        </p:txBody>
      </p:sp>
      <p:sp>
        <p:nvSpPr>
          <p:cNvPr id="87" name="TextBox 86"/>
          <p:cNvSpPr txBox="1"/>
          <p:nvPr/>
        </p:nvSpPr>
        <p:spPr>
          <a:xfrm>
            <a:off x="3838575" y="4229437"/>
            <a:ext cx="1893664" cy="186689"/>
          </a:xfrm>
          <a:prstGeom prst="rect">
            <a:avLst/>
          </a:prstGeom>
          <a:noFill/>
        </p:spPr>
        <p:txBody>
          <a:bodyPr wrap="none" lIns="0" rIns="0" tIns="0" bIns="0">
            <a:spAutoFit/>
          </a:bodyPr>
          <a:lstStyle/>
          <a:p>
            <a:r>
              <a:rPr sz="1100" b="0">
                <a:solidFill>
                  <a:srgbClr val="2E2E2E"/>
                </a:solidFill>
                <a:latin typeface="Calibri"/>
              </a:rPr>
              <a:t>● Dental Dealers &amp; Distributors:</a:t>
            </a:r>
          </a:p>
        </p:txBody>
      </p:sp>
      <p:pic>
        <p:nvPicPr>
          <p:cNvPr id="88" name="Picture 87" descr="lock.png"/>
          <p:cNvPicPr>
            <a:picLocks noChangeAspect="1"/>
          </p:cNvPicPr>
          <p:nvPr/>
        </p:nvPicPr>
        <p:blipFill>
          <a:blip r:embed="rId13"/>
          <a:stretch>
            <a:fillRect/>
          </a:stretch>
        </p:blipFill>
        <p:spPr>
          <a:xfrm>
            <a:off x="5680290" y="4219658"/>
            <a:ext cx="128699" cy="187198"/>
          </a:xfrm>
          <a:prstGeom prst="rect">
            <a:avLst/>
          </a:prstGeom>
        </p:spPr>
      </p:pic>
      <p:sp>
        <p:nvSpPr>
          <p:cNvPr id="89" name="TextBox 88"/>
          <p:cNvSpPr txBox="1"/>
          <p:nvPr/>
        </p:nvSpPr>
        <p:spPr>
          <a:xfrm>
            <a:off x="58477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707236" y="4219658"/>
            <a:ext cx="128699" cy="187198"/>
          </a:xfrm>
          <a:prstGeom prst="rect">
            <a:avLst/>
          </a:prstGeom>
        </p:spPr>
      </p:pic>
      <p:sp>
        <p:nvSpPr>
          <p:cNvPr id="91" name="TextBox 90"/>
          <p:cNvSpPr txBox="1"/>
          <p:nvPr/>
        </p:nvSpPr>
        <p:spPr>
          <a:xfrm>
            <a:off x="687473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891207" cy="186689"/>
          </a:xfrm>
          <a:prstGeom prst="rect">
            <a:avLst/>
          </a:prstGeom>
          <a:noFill/>
        </p:spPr>
        <p:txBody>
          <a:bodyPr wrap="none" lIns="0" rIns="0" tIns="0" bIns="0">
            <a:spAutoFit/>
          </a:bodyPr>
          <a:lstStyle/>
          <a:p>
            <a:r>
              <a:rPr sz="1100" b="0">
                <a:solidFill>
                  <a:srgbClr val="2E2E2E"/>
                </a:solidFill>
                <a:latin typeface="Calibri"/>
              </a:rPr>
              <a:t>● Direct Sales:</a:t>
            </a:r>
          </a:p>
        </p:txBody>
      </p:sp>
      <p:pic>
        <p:nvPicPr>
          <p:cNvPr id="94" name="Picture 93" descr="lock.png"/>
          <p:cNvPicPr>
            <a:picLocks noChangeAspect="1"/>
          </p:cNvPicPr>
          <p:nvPr/>
        </p:nvPicPr>
        <p:blipFill>
          <a:blip r:embed="rId13"/>
          <a:stretch>
            <a:fillRect/>
          </a:stretch>
        </p:blipFill>
        <p:spPr>
          <a:xfrm>
            <a:off x="4677834" y="4605230"/>
            <a:ext cx="128699" cy="187198"/>
          </a:xfrm>
          <a:prstGeom prst="rect">
            <a:avLst/>
          </a:prstGeom>
        </p:spPr>
      </p:pic>
      <p:sp>
        <p:nvSpPr>
          <p:cNvPr id="95" name="TextBox 94"/>
          <p:cNvSpPr txBox="1"/>
          <p:nvPr/>
        </p:nvSpPr>
        <p:spPr>
          <a:xfrm>
            <a:off x="484533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5704780" y="4605230"/>
            <a:ext cx="128699" cy="187198"/>
          </a:xfrm>
          <a:prstGeom prst="rect">
            <a:avLst/>
          </a:prstGeom>
        </p:spPr>
      </p:pic>
      <p:sp>
        <p:nvSpPr>
          <p:cNvPr id="97" name="TextBox 96"/>
          <p:cNvSpPr txBox="1"/>
          <p:nvPr/>
        </p:nvSpPr>
        <p:spPr>
          <a:xfrm>
            <a:off x="5872276"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8" name="TextBox 97"/>
          <p:cNvSpPr txBox="1"/>
          <p:nvPr/>
        </p:nvSpPr>
        <p:spPr>
          <a:xfrm>
            <a:off x="3838575" y="4832941"/>
            <a:ext cx="1970335" cy="186689"/>
          </a:xfrm>
          <a:prstGeom prst="rect">
            <a:avLst/>
          </a:prstGeom>
          <a:noFill/>
        </p:spPr>
        <p:txBody>
          <a:bodyPr wrap="none" lIns="0" rIns="0" tIns="0" bIns="0">
            <a:spAutoFit/>
          </a:bodyPr>
          <a:lstStyle/>
          <a:p>
            <a:r>
              <a:rPr sz="1100" b="0">
                <a:solidFill>
                  <a:srgbClr val="2E2E2E"/>
                </a:solidFill>
                <a:latin typeface="Calibri"/>
              </a:rPr>
              <a:t>● Online Dental Supply Channels:</a:t>
            </a:r>
          </a:p>
        </p:txBody>
      </p:sp>
      <p:pic>
        <p:nvPicPr>
          <p:cNvPr id="99" name="Picture 98" descr="lock.png"/>
          <p:cNvPicPr>
            <a:picLocks noChangeAspect="1"/>
          </p:cNvPicPr>
          <p:nvPr/>
        </p:nvPicPr>
        <p:blipFill>
          <a:blip r:embed="rId13"/>
          <a:stretch>
            <a:fillRect/>
          </a:stretch>
        </p:blipFill>
        <p:spPr>
          <a:xfrm>
            <a:off x="5756962" y="4823162"/>
            <a:ext cx="128699" cy="187198"/>
          </a:xfrm>
          <a:prstGeom prst="rect">
            <a:avLst/>
          </a:prstGeom>
        </p:spPr>
      </p:pic>
      <p:sp>
        <p:nvSpPr>
          <p:cNvPr id="100" name="TextBox 99"/>
          <p:cNvSpPr txBox="1"/>
          <p:nvPr/>
        </p:nvSpPr>
        <p:spPr>
          <a:xfrm>
            <a:off x="592445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3"/>
          <a:stretch>
            <a:fillRect/>
          </a:stretch>
        </p:blipFill>
        <p:spPr>
          <a:xfrm>
            <a:off x="6783908" y="4823162"/>
            <a:ext cx="128699" cy="187198"/>
          </a:xfrm>
          <a:prstGeom prst="rect">
            <a:avLst/>
          </a:prstGeom>
        </p:spPr>
      </p:pic>
      <p:sp>
        <p:nvSpPr>
          <p:cNvPr id="102" name="TextBox 101"/>
          <p:cNvSpPr txBox="1"/>
          <p:nvPr/>
        </p:nvSpPr>
        <p:spPr>
          <a:xfrm>
            <a:off x="695140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3" name="TextBox 102"/>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49881" cy="186689"/>
          </a:xfrm>
          <a:prstGeom prst="rect">
            <a:avLst/>
          </a:prstGeom>
          <a:noFill/>
        </p:spPr>
        <p:txBody>
          <a:bodyPr wrap="none" lIns="0" rIns="0" tIns="0" bIns="0">
            <a:spAutoFit/>
          </a:bodyPr>
          <a:lstStyle/>
          <a:p>
            <a:r>
              <a:rPr sz="1100" b="0">
                <a:solidFill>
                  <a:srgbClr val="2E2E2E"/>
                </a:solidFill>
                <a:latin typeface="Calibri"/>
              </a:rPr>
              <a:t>Direct sales followed by dental dealers &amp; distributors are expected to be the two most attractive distribution channel segments in the global removable partial dentures market in terms of value over the</a:t>
            </a:r>
          </a:p>
        </p:txBody>
      </p:sp>
      <p:sp>
        <p:nvSpPr>
          <p:cNvPr id="21" name="TextBox 20"/>
          <p:cNvSpPr txBox="1"/>
          <p:nvPr/>
        </p:nvSpPr>
        <p:spPr>
          <a:xfrm>
            <a:off x="257175" y="5861685"/>
            <a:ext cx="4921480" cy="186689"/>
          </a:xfrm>
          <a:prstGeom prst="rect">
            <a:avLst/>
          </a:prstGeom>
          <a:noFill/>
        </p:spPr>
        <p:txBody>
          <a:bodyPr wrap="none" lIns="0" rIns="0" tIns="0" bIns="0">
            <a:spAutoFit/>
          </a:bodyPr>
          <a:lstStyle/>
          <a:p>
            <a:r>
              <a:rPr sz="1100" b="0">
                <a:solidFill>
                  <a:srgbClr val="2E2E2E"/>
                </a:solidFill>
                <a:latin typeface="Calibri"/>
              </a:rPr>
              <a:t>forecast period. Direct sales and dental dealers &amp; distributors exhibit a CAGR index of</a:t>
            </a:r>
          </a:p>
        </p:txBody>
      </p:sp>
      <p:pic>
        <p:nvPicPr>
          <p:cNvPr id="22" name="Picture 21" descr="lock.png"/>
          <p:cNvPicPr>
            <a:picLocks noChangeAspect="1"/>
          </p:cNvPicPr>
          <p:nvPr/>
        </p:nvPicPr>
        <p:blipFill>
          <a:blip r:embed="rId6"/>
          <a:stretch>
            <a:fillRect/>
          </a:stretch>
        </p:blipFill>
        <p:spPr>
          <a:xfrm>
            <a:off x="5126707" y="5851905"/>
            <a:ext cx="128699" cy="187198"/>
          </a:xfrm>
          <a:prstGeom prst="rect">
            <a:avLst/>
          </a:prstGeom>
        </p:spPr>
      </p:pic>
      <p:sp>
        <p:nvSpPr>
          <p:cNvPr id="23" name="TextBox 22"/>
          <p:cNvSpPr txBox="1"/>
          <p:nvPr/>
        </p:nvSpPr>
        <p:spPr>
          <a:xfrm>
            <a:off x="5294203"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532097" y="5851905"/>
            <a:ext cx="128699" cy="187198"/>
          </a:xfrm>
          <a:prstGeom prst="rect">
            <a:avLst/>
          </a:prstGeom>
        </p:spPr>
      </p:pic>
      <p:sp>
        <p:nvSpPr>
          <p:cNvPr id="25" name="TextBox 24"/>
          <p:cNvSpPr txBox="1"/>
          <p:nvPr/>
        </p:nvSpPr>
        <p:spPr>
          <a:xfrm>
            <a:off x="5699593"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308567" y="5851905"/>
            <a:ext cx="128699" cy="187198"/>
          </a:xfrm>
          <a:prstGeom prst="rect">
            <a:avLst/>
          </a:prstGeom>
        </p:spPr>
      </p:pic>
      <p:sp>
        <p:nvSpPr>
          <p:cNvPr id="27" name="TextBox 26"/>
          <p:cNvSpPr txBox="1"/>
          <p:nvPr/>
        </p:nvSpPr>
        <p:spPr>
          <a:xfrm>
            <a:off x="747606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713957" y="5851905"/>
            <a:ext cx="128699" cy="187198"/>
          </a:xfrm>
          <a:prstGeom prst="rect">
            <a:avLst/>
          </a:prstGeom>
        </p:spPr>
      </p:pic>
      <p:sp>
        <p:nvSpPr>
          <p:cNvPr id="29" name="TextBox 28"/>
          <p:cNvSpPr txBox="1"/>
          <p:nvPr/>
        </p:nvSpPr>
        <p:spPr>
          <a:xfrm>
            <a:off x="7881453"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435857" y="5851905"/>
            <a:ext cx="128699" cy="187198"/>
          </a:xfrm>
          <a:prstGeom prst="rect">
            <a:avLst/>
          </a:prstGeom>
        </p:spPr>
      </p:pic>
      <p:sp>
        <p:nvSpPr>
          <p:cNvPr id="31" name="TextBox 30"/>
          <p:cNvSpPr txBox="1"/>
          <p:nvPr/>
        </p:nvSpPr>
        <p:spPr>
          <a:xfrm>
            <a:off x="10603353" y="5861685"/>
            <a:ext cx="740320" cy="186689"/>
          </a:xfrm>
          <a:prstGeom prst="rect">
            <a:avLst/>
          </a:prstGeom>
          <a:noFill/>
        </p:spPr>
        <p:txBody>
          <a:bodyPr wrap="none" lIns="0" rIns="0" tIns="0" bIns="0">
            <a:spAutoFit/>
          </a:bodyPr>
          <a:lstStyle/>
          <a:p>
            <a:r>
              <a:rPr sz="1100" b="0">
                <a:solidFill>
                  <a:srgbClr val="2E2E2E"/>
                </a:solidFill>
                <a:latin typeface="Calibri"/>
              </a:rPr>
              <a:t>. The online</a:t>
            </a:r>
          </a:p>
        </p:txBody>
      </p:sp>
      <p:sp>
        <p:nvSpPr>
          <p:cNvPr id="32" name="TextBox 31"/>
          <p:cNvSpPr txBox="1"/>
          <p:nvPr/>
        </p:nvSpPr>
        <p:spPr>
          <a:xfrm>
            <a:off x="257175" y="6029325"/>
            <a:ext cx="11253547" cy="186689"/>
          </a:xfrm>
          <a:prstGeom prst="rect">
            <a:avLst/>
          </a:prstGeom>
          <a:noFill/>
        </p:spPr>
        <p:txBody>
          <a:bodyPr wrap="none" lIns="0" rIns="0" tIns="0" bIns="0">
            <a:spAutoFit/>
          </a:bodyPr>
          <a:lstStyle/>
          <a:p>
            <a:r>
              <a:rPr sz="1100" b="0">
                <a:solidFill>
                  <a:srgbClr val="2E2E2E"/>
                </a:solidFill>
                <a:latin typeface="Calibri"/>
              </a:rPr>
              <a:t>dental supply channels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169856" cy="194310"/>
          </a:xfrm>
          <a:prstGeom prst="rect">
            <a:avLst/>
          </a:prstGeom>
          <a:noFill/>
        </p:spPr>
        <p:txBody>
          <a:bodyPr wrap="none" lIns="0" rIns="0" tIns="0" bIns="0">
            <a:spAutoFit/>
          </a:bodyPr>
          <a:lstStyle/>
          <a:p>
            <a:r>
              <a:rPr sz="1150" b="0">
                <a:solidFill>
                  <a:srgbClr val="2E2E2E"/>
                </a:solidFill>
                <a:latin typeface="Calibri"/>
              </a:rPr>
              <a:t>By 2036, direct sales segment is anticipated to witness an increase of</a:t>
            </a:r>
          </a:p>
        </p:txBody>
      </p:sp>
      <p:pic>
        <p:nvPicPr>
          <p:cNvPr id="29" name="Picture 28" descr="lock.png"/>
          <p:cNvPicPr>
            <a:picLocks noChangeAspect="1"/>
          </p:cNvPicPr>
          <p:nvPr/>
        </p:nvPicPr>
        <p:blipFill>
          <a:blip r:embed="rId7"/>
          <a:stretch>
            <a:fillRect/>
          </a:stretch>
        </p:blipFill>
        <p:spPr>
          <a:xfrm>
            <a:off x="10424560" y="4276026"/>
            <a:ext cx="134549" cy="195707"/>
          </a:xfrm>
          <a:prstGeom prst="rect">
            <a:avLst/>
          </a:prstGeom>
        </p:spPr>
      </p:pic>
      <p:sp>
        <p:nvSpPr>
          <p:cNvPr id="30" name="TextBox 29"/>
          <p:cNvSpPr txBox="1"/>
          <p:nvPr/>
        </p:nvSpPr>
        <p:spPr>
          <a:xfrm>
            <a:off x="10599669"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67287" cy="194310"/>
          </a:xfrm>
          <a:prstGeom prst="rect">
            <a:avLst/>
          </a:prstGeom>
          <a:noFill/>
        </p:spPr>
        <p:txBody>
          <a:bodyPr wrap="none" lIns="0" rIns="0" tIns="0" bIns="0">
            <a:spAutoFit/>
          </a:bodyPr>
          <a:lstStyle/>
          <a:p>
            <a:r>
              <a:rPr sz="1150" b="0">
                <a:solidFill>
                  <a:srgbClr val="2E2E2E"/>
                </a:solidFill>
                <a:latin typeface="Calibri"/>
              </a:rPr>
              <a:t>as compared to 2026. The direct sales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74889"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a:t>
            </a:r>
          </a:p>
        </p:txBody>
      </p:sp>
      <p:sp>
        <p:nvSpPr>
          <p:cNvPr id="35" name="TextBox 34"/>
          <p:cNvSpPr txBox="1"/>
          <p:nvPr/>
        </p:nvSpPr>
        <p:spPr>
          <a:xfrm>
            <a:off x="6305550" y="4812029"/>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6305550" y="5039867"/>
            <a:ext cx="5520556" cy="194310"/>
          </a:xfrm>
          <a:prstGeom prst="rect">
            <a:avLst/>
          </a:prstGeom>
          <a:noFill/>
        </p:spPr>
        <p:txBody>
          <a:bodyPr wrap="none" lIns="0" rIns="0" tIns="0" bIns="0">
            <a:spAutoFit/>
          </a:bodyPr>
          <a:lstStyle/>
          <a:p>
            <a:r>
              <a:rPr sz="1150" b="0">
                <a:solidFill>
                  <a:srgbClr val="2E2E2E"/>
                </a:solidFill>
                <a:latin typeface="Calibri"/>
              </a:rPr>
              <a:t>The dental dealers &amp; distributors segment is expected to create an incremental opportunity</a:t>
            </a:r>
          </a:p>
        </p:txBody>
      </p:sp>
      <p:sp>
        <p:nvSpPr>
          <p:cNvPr id="37" name="TextBox 36"/>
          <p:cNvSpPr txBox="1"/>
          <p:nvPr/>
        </p:nvSpPr>
        <p:spPr>
          <a:xfrm>
            <a:off x="6305550" y="5215127"/>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8" name="Picture 37" descr="lock.png"/>
          <p:cNvPicPr>
            <a:picLocks noChangeAspect="1"/>
          </p:cNvPicPr>
          <p:nvPr/>
        </p:nvPicPr>
        <p:blipFill>
          <a:blip r:embed="rId7"/>
          <a:stretch>
            <a:fillRect/>
          </a:stretch>
        </p:blipFill>
        <p:spPr>
          <a:xfrm>
            <a:off x="6720560" y="5204904"/>
            <a:ext cx="134549" cy="195707"/>
          </a:xfrm>
          <a:prstGeom prst="rect">
            <a:avLst/>
          </a:prstGeom>
        </p:spPr>
      </p:pic>
      <p:sp>
        <p:nvSpPr>
          <p:cNvPr id="39" name="TextBox 38"/>
          <p:cNvSpPr txBox="1"/>
          <p:nvPr/>
        </p:nvSpPr>
        <p:spPr>
          <a:xfrm>
            <a:off x="6895670" y="5215127"/>
            <a:ext cx="4695316"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 The</a:t>
            </a:r>
          </a:p>
        </p:txBody>
      </p:sp>
      <p:sp>
        <p:nvSpPr>
          <p:cNvPr id="40" name="TextBox 39"/>
          <p:cNvSpPr txBox="1"/>
          <p:nvPr/>
        </p:nvSpPr>
        <p:spPr>
          <a:xfrm>
            <a:off x="6305550" y="5390387"/>
            <a:ext cx="5482046" cy="194310"/>
          </a:xfrm>
          <a:prstGeom prst="rect">
            <a:avLst/>
          </a:prstGeom>
          <a:noFill/>
        </p:spPr>
        <p:txBody>
          <a:bodyPr wrap="none" lIns="0" rIns="0" tIns="0" bIns="0">
            <a:spAutoFit/>
          </a:bodyPr>
          <a:lstStyle/>
          <a:p>
            <a:r>
              <a:rPr sz="1150" b="0">
                <a:solidFill>
                  <a:srgbClr val="2E2E2E"/>
                </a:solidFill>
                <a:latin typeface="Calibri"/>
              </a:rPr>
              <a:t>online dental supply channels segment is expected to create an incremental opportunity of</a:t>
            </a:r>
          </a:p>
        </p:txBody>
      </p:sp>
      <p:sp>
        <p:nvSpPr>
          <p:cNvPr id="41" name="TextBox 40"/>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2" name="Picture 41" descr="lock.png"/>
          <p:cNvPicPr>
            <a:picLocks noChangeAspect="1"/>
          </p:cNvPicPr>
          <p:nvPr/>
        </p:nvPicPr>
        <p:blipFill>
          <a:blip r:embed="rId7"/>
          <a:stretch>
            <a:fillRect/>
          </a:stretch>
        </p:blipFill>
        <p:spPr>
          <a:xfrm>
            <a:off x="6565953" y="5555424"/>
            <a:ext cx="134549" cy="195707"/>
          </a:xfrm>
          <a:prstGeom prst="rect">
            <a:avLst/>
          </a:prstGeom>
        </p:spPr>
      </p:pic>
      <p:sp>
        <p:nvSpPr>
          <p:cNvPr id="43" name="TextBox 42"/>
          <p:cNvSpPr txBox="1"/>
          <p:nvPr/>
        </p:nvSpPr>
        <p:spPr>
          <a:xfrm>
            <a:off x="6741062" y="5565647"/>
            <a:ext cx="4441440"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Distribution Channel (Units)</a:t>
            </a:r>
          </a:p>
        </p:txBody>
      </p:sp>
      <p:graphicFrame>
        <p:nvGraphicFramePr>
          <p:cNvPr id="13" name="Table 12"/>
          <p:cNvGraphicFramePr>
            <a:graphicFrameLocks noGrp="1"/>
          </p:cNvGraphicFramePr>
          <p:nvPr/>
        </p:nvGraphicFramePr>
        <p:xfrm>
          <a:off x="152400" y="1238250"/>
          <a:ext cx="11887208" cy="180974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Distribution</a:t>
                      </a:r>
                      <a:endParaRPr sz="1100"/>
                    </a:p>
                    <a:p>
                      <a:pPr algn="l"/>
                      <a:r>
                        <a:rPr sz="1100" b="1">
                          <a:solidFill>
                            <a:srgbClr val="0B2E4A"/>
                          </a:solidFill>
                          <a:latin typeface="Calibri"/>
                        </a:rPr>
                        <a:t>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17">
                <a:tc>
                  <a:txBody>
                    <a:bodyPr wrap="none"/>
                    <a:lstStyle/>
                    <a:p>
                      <a:pPr algn="l"/>
                      <a:r>
                        <a:rPr sz="1100" b="1">
                          <a:solidFill>
                            <a:srgbClr val="2E2E2E"/>
                          </a:solidFill>
                          <a:latin typeface="Calibri"/>
                        </a:rPr>
                        <a:t>Direct Sales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101">
                <a:tc>
                  <a:txBody>
                    <a:bodyPr wrap="none"/>
                    <a:lstStyle/>
                    <a:p>
                      <a:pPr algn="l"/>
                      <a:r>
                        <a:rPr sz="1100" b="1">
                          <a:solidFill>
                            <a:srgbClr val="2E2E2E"/>
                          </a:solidFill>
                          <a:latin typeface="Calibri"/>
                        </a:rPr>
                        <a:t>Dental Dealers &amp;</a:t>
                      </a:r>
                      <a:endParaRPr sz="1100"/>
                    </a:p>
                    <a:p>
                      <a:pPr algn="l"/>
                      <a:r>
                        <a:rPr sz="1100" b="1">
                          <a:solidFill>
                            <a:srgbClr val="2E2E2E"/>
                          </a:solidFill>
                          <a:latin typeface="Calibri"/>
                        </a:rPr>
                        <a:t>Distributors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101">
                <a:tc>
                  <a:txBody>
                    <a:bodyPr wrap="none"/>
                    <a:lstStyle/>
                    <a:p>
                      <a:pPr algn="l"/>
                      <a:r>
                        <a:rPr sz="1100" b="1">
                          <a:solidFill>
                            <a:srgbClr val="2E2E2E"/>
                          </a:solidFill>
                          <a:latin typeface="Calibri"/>
                        </a:rPr>
                        <a:t>Online Dental</a:t>
                      </a:r>
                      <a:endParaRPr sz="1100"/>
                    </a:p>
                    <a:p>
                      <a:pPr algn="l"/>
                      <a:r>
                        <a:rPr sz="1100" b="1">
                          <a:solidFill>
                            <a:srgbClr val="2E2E2E"/>
                          </a:solidFill>
                          <a:latin typeface="Calibri"/>
                        </a:rPr>
                        <a:t>Supply Channels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057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0900"/>
            <a:ext cx="11906250" cy="3238500"/>
          </a:xfrm>
          <a:prstGeom prst="roundRect">
            <a:avLst>
              <a:gd name="adj" fmla="val 23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476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Distribution Channel</a:t>
            </a:r>
          </a:p>
        </p:txBody>
      </p:sp>
      <p:sp>
        <p:nvSpPr>
          <p:cNvPr id="17" name="Rectangle 16"/>
          <p:cNvSpPr/>
          <p:nvPr/>
        </p:nvSpPr>
        <p:spPr>
          <a:xfrm>
            <a:off x="276225" y="3714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00475"/>
            <a:ext cx="11639550" cy="27527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95880"/>
            <a:ext cx="366712" cy="533400"/>
          </a:xfrm>
          <a:prstGeom prst="rect">
            <a:avLst/>
          </a:prstGeom>
        </p:spPr>
      </p:pic>
      <p:sp>
        <p:nvSpPr>
          <p:cNvPr id="21" name="TextBox 20"/>
          <p:cNvSpPr txBox="1"/>
          <p:nvPr/>
        </p:nvSpPr>
        <p:spPr>
          <a:xfrm>
            <a:off x="276225" y="38100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799776"/>
            <a:ext cx="134549" cy="195707"/>
          </a:xfrm>
          <a:prstGeom prst="rect">
            <a:avLst/>
          </a:prstGeom>
        </p:spPr>
      </p:pic>
      <p:sp>
        <p:nvSpPr>
          <p:cNvPr id="23" name="TextBox 22"/>
          <p:cNvSpPr txBox="1"/>
          <p:nvPr/>
        </p:nvSpPr>
        <p:spPr>
          <a:xfrm>
            <a:off x="4115387" y="3810000"/>
            <a:ext cx="7353882" cy="194310"/>
          </a:xfrm>
          <a:prstGeom prst="rect">
            <a:avLst/>
          </a:prstGeom>
          <a:noFill/>
        </p:spPr>
        <p:txBody>
          <a:bodyPr wrap="none" lIns="0" rIns="0" tIns="0" bIns="0">
            <a:spAutoFit/>
          </a:bodyPr>
          <a:lstStyle/>
          <a:p>
            <a:r>
              <a:rPr sz="1150" b="0">
                <a:solidFill>
                  <a:srgbClr val="2E2E2E"/>
                </a:solidFill>
                <a:latin typeface="Calibri"/>
              </a:rPr>
              <a:t>X higher volume than direct sales segment in 2036. Among removable partial dentures by distribution channel, direct sales</a:t>
            </a:r>
          </a:p>
        </p:txBody>
      </p:sp>
      <p:sp>
        <p:nvSpPr>
          <p:cNvPr id="24" name="TextBox 23"/>
          <p:cNvSpPr txBox="1"/>
          <p:nvPr/>
        </p:nvSpPr>
        <p:spPr>
          <a:xfrm>
            <a:off x="276225" y="39852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975036"/>
            <a:ext cx="134549" cy="195707"/>
          </a:xfrm>
          <a:prstGeom prst="rect">
            <a:avLst/>
          </a:prstGeom>
        </p:spPr>
      </p:pic>
      <p:sp>
        <p:nvSpPr>
          <p:cNvPr id="26" name="TextBox 25"/>
          <p:cNvSpPr txBox="1"/>
          <p:nvPr/>
        </p:nvSpPr>
        <p:spPr>
          <a:xfrm>
            <a:off x="3557127" y="39852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13097"/>
            <a:ext cx="8085273" cy="194310"/>
          </a:xfrm>
          <a:prstGeom prst="rect">
            <a:avLst/>
          </a:prstGeom>
          <a:noFill/>
        </p:spPr>
        <p:txBody>
          <a:bodyPr wrap="none" lIns="0" rIns="0" tIns="0" bIns="0">
            <a:spAutoFit/>
          </a:bodyPr>
          <a:lstStyle/>
          <a:p>
            <a:r>
              <a:rPr sz="1150" b="0">
                <a:solidFill>
                  <a:srgbClr val="2E2E2E"/>
                </a:solidFill>
                <a:latin typeface="Calibri"/>
              </a:rPr>
              <a:t>In terms of volume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310652" y="4202874"/>
            <a:ext cx="134549" cy="195707"/>
          </a:xfrm>
          <a:prstGeom prst="rect">
            <a:avLst/>
          </a:prstGeom>
        </p:spPr>
      </p:pic>
      <p:sp>
        <p:nvSpPr>
          <p:cNvPr id="29" name="TextBox 28"/>
          <p:cNvSpPr txBox="1"/>
          <p:nvPr/>
        </p:nvSpPr>
        <p:spPr>
          <a:xfrm>
            <a:off x="8485762" y="42130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80905" y="4202874"/>
            <a:ext cx="134549" cy="195707"/>
          </a:xfrm>
          <a:prstGeom prst="rect">
            <a:avLst/>
          </a:prstGeom>
        </p:spPr>
      </p:pic>
      <p:sp>
        <p:nvSpPr>
          <p:cNvPr id="31" name="TextBox 30"/>
          <p:cNvSpPr txBox="1"/>
          <p:nvPr/>
        </p:nvSpPr>
        <p:spPr>
          <a:xfrm>
            <a:off x="10056014" y="42130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3" name="Table 12"/>
          <p:cNvGraphicFramePr>
            <a:graphicFrameLocks noGrp="1"/>
          </p:cNvGraphicFramePr>
          <p:nvPr/>
        </p:nvGraphicFramePr>
        <p:xfrm>
          <a:off x="152400" y="1238250"/>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0200" y="1713738"/>
            <a:ext cx="366712" cy="533400"/>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230082" cy="194310"/>
          </a:xfrm>
          <a:prstGeom prst="rect">
            <a:avLst/>
          </a:prstGeom>
          <a:noFill/>
        </p:spPr>
        <p:txBody>
          <a:bodyPr wrap="none" lIns="0" rIns="0" tIns="0" bIns="0">
            <a:spAutoFit/>
          </a:bodyPr>
          <a:lstStyle/>
          <a:p>
            <a:r>
              <a:rPr sz="1150" b="0">
                <a:solidFill>
                  <a:srgbClr val="2E2E2E"/>
                </a:solidFill>
                <a:latin typeface="Calibri"/>
              </a:rPr>
              <a:t>X higher value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961473"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186852" y="3631374"/>
            <a:ext cx="134549" cy="195707"/>
          </a:xfrm>
          <a:prstGeom prst="rect">
            <a:avLst/>
          </a:prstGeom>
        </p:spPr>
      </p:pic>
      <p:sp>
        <p:nvSpPr>
          <p:cNvPr id="29" name="TextBox 28"/>
          <p:cNvSpPr txBox="1"/>
          <p:nvPr/>
        </p:nvSpPr>
        <p:spPr>
          <a:xfrm>
            <a:off x="8361961"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757105" y="3631374"/>
            <a:ext cx="134549" cy="195707"/>
          </a:xfrm>
          <a:prstGeom prst="rect">
            <a:avLst/>
          </a:prstGeom>
        </p:spPr>
      </p:pic>
      <p:sp>
        <p:nvSpPr>
          <p:cNvPr id="31" name="TextBox 30"/>
          <p:cNvSpPr txBox="1"/>
          <p:nvPr/>
        </p:nvSpPr>
        <p:spPr>
          <a:xfrm>
            <a:off x="99322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867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639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77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4962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53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482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72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933968"/>
            <a:ext cx="514350" cy="123825"/>
          </a:xfrm>
          <a:prstGeom prst="rect">
            <a:avLst/>
          </a:prstGeom>
          <a:noFill/>
        </p:spPr>
        <p:txBody>
          <a:bodyPr wrap="none" lIns="19050" rIns="19050" tIns="0" bIns="0" anchor="ctr">
            <a:spAutoFit/>
          </a:bodyPr>
          <a:lstStyle/>
          <a:p>
            <a:pPr algn="r"/>
            <a:r>
              <a:rPr sz="900" b="1">
                <a:solidFill>
                  <a:srgbClr val="2E7D32"/>
                </a:solidFill>
                <a:latin typeface="Calibri"/>
              </a:rPr>
              <a:t>XX</a:t>
            </a:r>
          </a:p>
        </p:txBody>
      </p:sp>
      <p:sp>
        <p:nvSpPr>
          <p:cNvPr id="24" name="FMI Legend Chip"/>
          <p:cNvSpPr/>
          <p:nvPr/>
        </p:nvSpPr>
        <p:spPr>
          <a:xfrm>
            <a:off x="4928997" y="50417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370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608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5022746"/>
            <a:ext cx="514350" cy="123825"/>
          </a:xfrm>
          <a:prstGeom prst="rect">
            <a:avLst/>
          </a:prstGeom>
          <a:noFill/>
        </p:spPr>
        <p:txBody>
          <a:bodyPr wrap="none" lIns="19050" rIns="1905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68774" cy="194310"/>
          </a:xfrm>
          <a:prstGeom prst="rect">
            <a:avLst/>
          </a:prstGeom>
          <a:noFill/>
        </p:spPr>
        <p:txBody>
          <a:bodyPr wrap="none" lIns="0" rIns="0" tIns="0" bIns="0">
            <a:spAutoFit/>
          </a:bodyPr>
          <a:lstStyle/>
          <a:p>
            <a:r>
              <a:rPr sz="1150" b="0">
                <a:solidFill>
                  <a:srgbClr val="2E2E2E"/>
                </a:solidFill>
                <a:latin typeface="Calibri"/>
              </a:rPr>
              <a:t>Among removable partial dentures by distribution channel, direct</a:t>
            </a:r>
          </a:p>
        </p:txBody>
      </p:sp>
      <p:sp>
        <p:nvSpPr>
          <p:cNvPr id="35" name="TextBox 34"/>
          <p:cNvSpPr txBox="1"/>
          <p:nvPr/>
        </p:nvSpPr>
        <p:spPr>
          <a:xfrm>
            <a:off x="7829550" y="1575435"/>
            <a:ext cx="3480117" cy="194310"/>
          </a:xfrm>
          <a:prstGeom prst="rect">
            <a:avLst/>
          </a:prstGeom>
          <a:noFill/>
        </p:spPr>
        <p:txBody>
          <a:bodyPr wrap="none" lIns="0" rIns="0" tIns="0" bIns="0">
            <a:spAutoFit/>
          </a:bodyPr>
          <a:lstStyle/>
          <a:p>
            <a:r>
              <a:rPr sz="1150" b="0">
                <a:solidFill>
                  <a:srgbClr val="2E2E2E"/>
                </a:solidFill>
                <a:latin typeface="Calibri"/>
              </a:rPr>
              <a:t>sales segment is expected to witness the highest CAGR of</a:t>
            </a:r>
          </a:p>
        </p:txBody>
      </p:sp>
      <p:pic>
        <p:nvPicPr>
          <p:cNvPr id="36" name="Picture 35" descr="lock.png"/>
          <p:cNvPicPr>
            <a:picLocks noChangeAspect="1"/>
          </p:cNvPicPr>
          <p:nvPr/>
        </p:nvPicPr>
        <p:blipFill>
          <a:blip r:embed="rId5"/>
          <a:stretch>
            <a:fillRect/>
          </a:stretch>
        </p:blipFill>
        <p:spPr>
          <a:xfrm>
            <a:off x="11258820" y="1565211"/>
            <a:ext cx="134549" cy="195707"/>
          </a:xfrm>
          <a:prstGeom prst="rect">
            <a:avLst/>
          </a:prstGeom>
        </p:spPr>
      </p:pic>
      <p:sp>
        <p:nvSpPr>
          <p:cNvPr id="37" name="TextBox 36"/>
          <p:cNvSpPr txBox="1"/>
          <p:nvPr/>
        </p:nvSpPr>
        <p:spPr>
          <a:xfrm>
            <a:off x="11433930"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39" name="TextBox 38"/>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a:t>
            </a:r>
          </a:p>
        </p:txBody>
      </p:sp>
      <p:sp>
        <p:nvSpPr>
          <p:cNvPr id="40" name="TextBox 39"/>
          <p:cNvSpPr txBox="1"/>
          <p:nvPr/>
        </p:nvSpPr>
        <p:spPr>
          <a:xfrm>
            <a:off x="7829550" y="2153793"/>
            <a:ext cx="3886621" cy="194310"/>
          </a:xfrm>
          <a:prstGeom prst="rect">
            <a:avLst/>
          </a:prstGeom>
          <a:noFill/>
        </p:spPr>
        <p:txBody>
          <a:bodyPr wrap="none" lIns="0" rIns="0" tIns="0" bIns="0">
            <a:spAutoFit/>
          </a:bodyPr>
          <a:lstStyle/>
          <a:p>
            <a:r>
              <a:rPr sz="1150" b="0">
                <a:solidFill>
                  <a:srgbClr val="2E2E2E"/>
                </a:solidFill>
                <a:latin typeface="Calibri"/>
              </a:rPr>
              <a:t>distributors segment is expected to dominate the market, losing</a:t>
            </a:r>
          </a:p>
        </p:txBody>
      </p:sp>
      <p:pic>
        <p:nvPicPr>
          <p:cNvPr id="41" name="Picture 40" descr="lock.png"/>
          <p:cNvPicPr>
            <a:picLocks noChangeAspect="1"/>
          </p:cNvPicPr>
          <p:nvPr/>
        </p:nvPicPr>
        <p:blipFill>
          <a:blip r:embed="rId5"/>
          <a:stretch>
            <a:fillRect/>
          </a:stretch>
        </p:blipFill>
        <p:spPr>
          <a:xfrm>
            <a:off x="7815470" y="2318829"/>
            <a:ext cx="134549" cy="195707"/>
          </a:xfrm>
          <a:prstGeom prst="rect">
            <a:avLst/>
          </a:prstGeom>
        </p:spPr>
      </p:pic>
      <p:sp>
        <p:nvSpPr>
          <p:cNvPr id="42" name="TextBox 41"/>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385722" y="2318829"/>
            <a:ext cx="134549" cy="195707"/>
          </a:xfrm>
          <a:prstGeom prst="rect">
            <a:avLst/>
          </a:prstGeom>
        </p:spPr>
      </p:pic>
      <p:sp>
        <p:nvSpPr>
          <p:cNvPr id="44" name="TextBox 43"/>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Patient Age Group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753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168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5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72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563_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5834" cy="186689"/>
          </a:xfrm>
          <a:prstGeom prst="rect">
            <a:avLst/>
          </a:prstGeom>
          <a:noFill/>
        </p:spPr>
        <p:txBody>
          <a:bodyPr wrap="none" lIns="0" rIns="0" tIns="0" bIns="0">
            <a:spAutoFit/>
          </a:bodyPr>
          <a:lstStyle/>
          <a:p>
            <a:r>
              <a:rPr sz="1100" b="0">
                <a:solidFill>
                  <a:srgbClr val="2E2E2E"/>
                </a:solidFill>
                <a:latin typeface="Calibri"/>
              </a:rPr>
              <a:t>▪ ¶ Among removable partial dentures by patient</a:t>
            </a:r>
          </a:p>
        </p:txBody>
      </p:sp>
      <p:sp>
        <p:nvSpPr>
          <p:cNvPr id="59" name="TextBox 58"/>
          <p:cNvSpPr txBox="1"/>
          <p:nvPr/>
        </p:nvSpPr>
        <p:spPr>
          <a:xfrm>
            <a:off x="485775" y="4397077"/>
            <a:ext cx="2872928" cy="186689"/>
          </a:xfrm>
          <a:prstGeom prst="rect">
            <a:avLst/>
          </a:prstGeom>
          <a:noFill/>
        </p:spPr>
        <p:txBody>
          <a:bodyPr wrap="none" lIns="0" rIns="0" tIns="0" bIns="0">
            <a:spAutoFit/>
          </a:bodyPr>
          <a:lstStyle/>
          <a:p>
            <a:r>
              <a:rPr sz="1100" b="0">
                <a:solidFill>
                  <a:srgbClr val="2E2E2E"/>
                </a:solidFill>
                <a:latin typeface="Calibri"/>
              </a:rPr>
              <a:t>age group, geriatric patients segment is expected</a:t>
            </a:r>
          </a:p>
        </p:txBody>
      </p:sp>
      <p:sp>
        <p:nvSpPr>
          <p:cNvPr id="60" name="TextBox 59"/>
          <p:cNvSpPr txBox="1"/>
          <p:nvPr/>
        </p:nvSpPr>
        <p:spPr>
          <a:xfrm>
            <a:off x="485775" y="4564717"/>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61" name="Picture 60" descr="lock.png"/>
          <p:cNvPicPr>
            <a:picLocks noChangeAspect="1"/>
          </p:cNvPicPr>
          <p:nvPr/>
        </p:nvPicPr>
        <p:blipFill>
          <a:blip r:embed="rId10"/>
          <a:stretch>
            <a:fillRect/>
          </a:stretch>
        </p:blipFill>
        <p:spPr>
          <a:xfrm>
            <a:off x="2261170" y="4554938"/>
            <a:ext cx="128699" cy="187198"/>
          </a:xfrm>
          <a:prstGeom prst="rect">
            <a:avLst/>
          </a:prstGeom>
        </p:spPr>
      </p:pic>
      <p:sp>
        <p:nvSpPr>
          <p:cNvPr id="62" name="TextBox 61"/>
          <p:cNvSpPr txBox="1"/>
          <p:nvPr/>
        </p:nvSpPr>
        <p:spPr>
          <a:xfrm>
            <a:off x="2428666" y="4564717"/>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forecast period. In terms of value share by patient</a:t>
            </a:r>
          </a:p>
        </p:txBody>
      </p:sp>
      <p:sp>
        <p:nvSpPr>
          <p:cNvPr id="64" name="TextBox 63"/>
          <p:cNvSpPr txBox="1"/>
          <p:nvPr/>
        </p:nvSpPr>
        <p:spPr>
          <a:xfrm>
            <a:off x="485775" y="4899997"/>
            <a:ext cx="2540595" cy="186689"/>
          </a:xfrm>
          <a:prstGeom prst="rect">
            <a:avLst/>
          </a:prstGeom>
          <a:noFill/>
        </p:spPr>
        <p:txBody>
          <a:bodyPr wrap="none" lIns="0" rIns="0" tIns="0" bIns="0">
            <a:spAutoFit/>
          </a:bodyPr>
          <a:lstStyle/>
          <a:p>
            <a:r>
              <a:rPr sz="1100" b="0">
                <a:solidFill>
                  <a:srgbClr val="2E2E2E"/>
                </a:solidFill>
                <a:latin typeface="Calibri"/>
              </a:rPr>
              <a:t>age group, the geriatric patients segment is</a:t>
            </a:r>
          </a:p>
        </p:txBody>
      </p:sp>
      <p:sp>
        <p:nvSpPr>
          <p:cNvPr id="65" name="TextBox 64"/>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66" name="Picture 65" descr="lock.png"/>
          <p:cNvPicPr>
            <a:picLocks noChangeAspect="1"/>
          </p:cNvPicPr>
          <p:nvPr/>
        </p:nvPicPr>
        <p:blipFill>
          <a:blip r:embed="rId10"/>
          <a:stretch>
            <a:fillRect/>
          </a:stretch>
        </p:blipFill>
        <p:spPr>
          <a:xfrm>
            <a:off x="2900479" y="5057858"/>
            <a:ext cx="128699" cy="187198"/>
          </a:xfrm>
          <a:prstGeom prst="rect">
            <a:avLst/>
          </a:prstGeom>
        </p:spPr>
      </p:pic>
      <p:sp>
        <p:nvSpPr>
          <p:cNvPr id="67" name="TextBox 66"/>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32546" cy="186689"/>
          </a:xfrm>
          <a:prstGeom prst="rect">
            <a:avLst/>
          </a:prstGeom>
          <a:noFill/>
        </p:spPr>
        <p:txBody>
          <a:bodyPr wrap="none" lIns="0" rIns="0" tIns="0" bIns="0">
            <a:spAutoFit/>
          </a:bodyPr>
          <a:lstStyle/>
          <a:p>
            <a:r>
              <a:rPr sz="1100" b="0">
                <a:solidFill>
                  <a:srgbClr val="2E2E2E"/>
                </a:solidFill>
                <a:latin typeface="Calibri"/>
              </a:rPr>
              <a:t>▪ ¶ Geriatric patients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211809" cy="186689"/>
          </a:xfrm>
          <a:prstGeom prst="rect">
            <a:avLst/>
          </a:prstGeom>
          <a:noFill/>
        </p:spPr>
        <p:txBody>
          <a:bodyPr wrap="none" lIns="0" rIns="0" tIns="0" bIns="0">
            <a:spAutoFit/>
          </a:bodyPr>
          <a:lstStyle/>
          <a:p>
            <a:r>
              <a:rPr sz="1100" b="0">
                <a:solidFill>
                  <a:srgbClr val="2E2E2E"/>
                </a:solidFill>
                <a:latin typeface="Calibri"/>
              </a:rPr>
              <a:t>X higher value than adults segment in</a:t>
            </a:r>
          </a:p>
        </p:txBody>
      </p:sp>
      <p:sp>
        <p:nvSpPr>
          <p:cNvPr id="75" name="TextBox 7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6" name="TextBox 75"/>
          <p:cNvSpPr txBox="1"/>
          <p:nvPr/>
        </p:nvSpPr>
        <p:spPr>
          <a:xfrm>
            <a:off x="3838575" y="4229437"/>
            <a:ext cx="1216719" cy="186689"/>
          </a:xfrm>
          <a:prstGeom prst="rect">
            <a:avLst/>
          </a:prstGeom>
          <a:noFill/>
        </p:spPr>
        <p:txBody>
          <a:bodyPr wrap="none" lIns="0" rIns="0" tIns="0" bIns="0">
            <a:spAutoFit/>
          </a:bodyPr>
          <a:lstStyle/>
          <a:p>
            <a:r>
              <a:rPr sz="1100" b="0">
                <a:solidFill>
                  <a:srgbClr val="2E2E2E"/>
                </a:solidFill>
                <a:latin typeface="Calibri"/>
              </a:rPr>
              <a:t>● Geriatric Patients:</a:t>
            </a:r>
          </a:p>
        </p:txBody>
      </p:sp>
      <p:pic>
        <p:nvPicPr>
          <p:cNvPr id="77" name="Picture 76" descr="lock.png"/>
          <p:cNvPicPr>
            <a:picLocks noChangeAspect="1"/>
          </p:cNvPicPr>
          <p:nvPr/>
        </p:nvPicPr>
        <p:blipFill>
          <a:blip r:embed="rId10"/>
          <a:stretch>
            <a:fillRect/>
          </a:stretch>
        </p:blipFill>
        <p:spPr>
          <a:xfrm>
            <a:off x="5003346" y="4219658"/>
            <a:ext cx="128699" cy="187198"/>
          </a:xfrm>
          <a:prstGeom prst="rect">
            <a:avLst/>
          </a:prstGeom>
        </p:spPr>
      </p:pic>
      <p:sp>
        <p:nvSpPr>
          <p:cNvPr id="78" name="TextBox 77"/>
          <p:cNvSpPr txBox="1"/>
          <p:nvPr/>
        </p:nvSpPr>
        <p:spPr>
          <a:xfrm>
            <a:off x="51708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30292" y="4219658"/>
            <a:ext cx="128699" cy="187198"/>
          </a:xfrm>
          <a:prstGeom prst="rect">
            <a:avLst/>
          </a:prstGeom>
        </p:spPr>
      </p:pic>
      <p:sp>
        <p:nvSpPr>
          <p:cNvPr id="80" name="TextBox 79"/>
          <p:cNvSpPr txBox="1"/>
          <p:nvPr/>
        </p:nvSpPr>
        <p:spPr>
          <a:xfrm>
            <a:off x="61977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590798" cy="186689"/>
          </a:xfrm>
          <a:prstGeom prst="rect">
            <a:avLst/>
          </a:prstGeom>
          <a:noFill/>
        </p:spPr>
        <p:txBody>
          <a:bodyPr wrap="none" lIns="0" rIns="0" tIns="0" bIns="0">
            <a:spAutoFit/>
          </a:bodyPr>
          <a:lstStyle/>
          <a:p>
            <a:r>
              <a:rPr sz="1100" b="0">
                <a:solidFill>
                  <a:srgbClr val="2E2E2E"/>
                </a:solidFill>
                <a:latin typeface="Calibri"/>
              </a:rPr>
              <a:t>● Adults:</a:t>
            </a:r>
          </a:p>
        </p:txBody>
      </p:sp>
      <p:pic>
        <p:nvPicPr>
          <p:cNvPr id="82" name="Picture 81" descr="lock.png"/>
          <p:cNvPicPr>
            <a:picLocks noChangeAspect="1"/>
          </p:cNvPicPr>
          <p:nvPr/>
        </p:nvPicPr>
        <p:blipFill>
          <a:blip r:embed="rId10"/>
          <a:stretch>
            <a:fillRect/>
          </a:stretch>
        </p:blipFill>
        <p:spPr>
          <a:xfrm>
            <a:off x="4377424" y="4437590"/>
            <a:ext cx="128699" cy="187198"/>
          </a:xfrm>
          <a:prstGeom prst="rect">
            <a:avLst/>
          </a:prstGeom>
        </p:spPr>
      </p:pic>
      <p:sp>
        <p:nvSpPr>
          <p:cNvPr id="83" name="TextBox 82"/>
          <p:cNvSpPr txBox="1"/>
          <p:nvPr/>
        </p:nvSpPr>
        <p:spPr>
          <a:xfrm>
            <a:off x="454492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5404370" y="4437590"/>
            <a:ext cx="128699" cy="187198"/>
          </a:xfrm>
          <a:prstGeom prst="rect">
            <a:avLst/>
          </a:prstGeom>
        </p:spPr>
      </p:pic>
      <p:sp>
        <p:nvSpPr>
          <p:cNvPr id="85" name="TextBox 84"/>
          <p:cNvSpPr txBox="1"/>
          <p:nvPr/>
        </p:nvSpPr>
        <p:spPr>
          <a:xfrm>
            <a:off x="557186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07725" cy="186689"/>
          </a:xfrm>
          <a:prstGeom prst="rect">
            <a:avLst/>
          </a:prstGeom>
          <a:noFill/>
        </p:spPr>
        <p:txBody>
          <a:bodyPr wrap="none" lIns="0" rIns="0" tIns="0" bIns="0">
            <a:spAutoFit/>
          </a:bodyPr>
          <a:lstStyle/>
          <a:p>
            <a:r>
              <a:rPr sz="1100" b="0">
                <a:solidFill>
                  <a:srgbClr val="2E2E2E"/>
                </a:solidFill>
                <a:latin typeface="Calibri"/>
              </a:rPr>
              <a:t>Geriatric patients followed by adults are expected to be the two most attractive patient age group segments in the global removable partial dentures market in terms of value over the forecast period.</a:t>
            </a:r>
          </a:p>
        </p:txBody>
      </p:sp>
      <p:sp>
        <p:nvSpPr>
          <p:cNvPr id="21" name="TextBox 20"/>
          <p:cNvSpPr txBox="1"/>
          <p:nvPr/>
        </p:nvSpPr>
        <p:spPr>
          <a:xfrm>
            <a:off x="257175" y="5945505"/>
            <a:ext cx="3046717" cy="186689"/>
          </a:xfrm>
          <a:prstGeom prst="rect">
            <a:avLst/>
          </a:prstGeom>
          <a:noFill/>
        </p:spPr>
        <p:txBody>
          <a:bodyPr wrap="none" lIns="0" rIns="0" tIns="0" bIns="0">
            <a:spAutoFit/>
          </a:bodyPr>
          <a:lstStyle/>
          <a:p>
            <a:r>
              <a:rPr sz="1100" b="0">
                <a:solidFill>
                  <a:srgbClr val="2E2E2E"/>
                </a:solidFill>
                <a:latin typeface="Calibri"/>
              </a:rPr>
              <a:t>Geriatric patients and adults exhibit a CAGR index of</a:t>
            </a:r>
          </a:p>
        </p:txBody>
      </p:sp>
      <p:pic>
        <p:nvPicPr>
          <p:cNvPr id="22" name="Picture 21" descr="lock.png"/>
          <p:cNvPicPr>
            <a:picLocks noChangeAspect="1"/>
          </p:cNvPicPr>
          <p:nvPr/>
        </p:nvPicPr>
        <p:blipFill>
          <a:blip r:embed="rId6"/>
          <a:stretch>
            <a:fillRect/>
          </a:stretch>
        </p:blipFill>
        <p:spPr>
          <a:xfrm>
            <a:off x="3251944" y="5935726"/>
            <a:ext cx="128699" cy="187198"/>
          </a:xfrm>
          <a:prstGeom prst="rect">
            <a:avLst/>
          </a:prstGeom>
        </p:spPr>
      </p:pic>
      <p:sp>
        <p:nvSpPr>
          <p:cNvPr id="23" name="TextBox 22"/>
          <p:cNvSpPr txBox="1"/>
          <p:nvPr/>
        </p:nvSpPr>
        <p:spPr>
          <a:xfrm>
            <a:off x="3419440"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657334" y="5935726"/>
            <a:ext cx="128699" cy="187198"/>
          </a:xfrm>
          <a:prstGeom prst="rect">
            <a:avLst/>
          </a:prstGeom>
        </p:spPr>
      </p:pic>
      <p:sp>
        <p:nvSpPr>
          <p:cNvPr id="25" name="TextBox 24"/>
          <p:cNvSpPr txBox="1"/>
          <p:nvPr/>
        </p:nvSpPr>
        <p:spPr>
          <a:xfrm>
            <a:off x="3824830"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433803" y="5935726"/>
            <a:ext cx="128699" cy="187198"/>
          </a:xfrm>
          <a:prstGeom prst="rect">
            <a:avLst/>
          </a:prstGeom>
        </p:spPr>
      </p:pic>
      <p:sp>
        <p:nvSpPr>
          <p:cNvPr id="27" name="TextBox 26"/>
          <p:cNvSpPr txBox="1"/>
          <p:nvPr/>
        </p:nvSpPr>
        <p:spPr>
          <a:xfrm>
            <a:off x="560129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839194" y="5935726"/>
            <a:ext cx="128699" cy="187198"/>
          </a:xfrm>
          <a:prstGeom prst="rect">
            <a:avLst/>
          </a:prstGeom>
        </p:spPr>
      </p:pic>
      <p:sp>
        <p:nvSpPr>
          <p:cNvPr id="29" name="TextBox 28"/>
          <p:cNvSpPr txBox="1"/>
          <p:nvPr/>
        </p:nvSpPr>
        <p:spPr>
          <a:xfrm>
            <a:off x="6006689"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561094" y="5935726"/>
            <a:ext cx="128699" cy="187198"/>
          </a:xfrm>
          <a:prstGeom prst="rect">
            <a:avLst/>
          </a:prstGeom>
        </p:spPr>
      </p:pic>
      <p:sp>
        <p:nvSpPr>
          <p:cNvPr id="31" name="TextBox 30"/>
          <p:cNvSpPr txBox="1"/>
          <p:nvPr/>
        </p:nvSpPr>
        <p:spPr>
          <a:xfrm>
            <a:off x="8728589" y="5945505"/>
            <a:ext cx="2528572" cy="186689"/>
          </a:xfrm>
          <a:prstGeom prst="rect">
            <a:avLst/>
          </a:prstGeom>
          <a:noFill/>
        </p:spPr>
        <p:txBody>
          <a:bodyPr wrap="none" lIns="0" rIns="0" tIns="0" bIns="0">
            <a:spAutoFit/>
          </a:bodyPr>
          <a:lstStyle/>
          <a:p>
            <a:r>
              <a:rPr sz="1100" b="0">
                <a:solidFill>
                  <a:srgbClr val="2E2E2E"/>
                </a:solidFill>
                <a:latin typeface="Calibri"/>
              </a:rPr>
              <a:t>. Bubbles right of the CAGR-Index line grow</a:t>
            </a:r>
          </a:p>
        </p:txBody>
      </p:sp>
      <p:sp>
        <p:nvSpPr>
          <p:cNvPr id="32" name="TextBox 31"/>
          <p:cNvSpPr txBox="1"/>
          <p:nvPr/>
        </p:nvSpPr>
        <p:spPr>
          <a:xfrm>
            <a:off x="257175" y="611314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Geriatric Patients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Patient Age Group (Units)</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121278"/>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33202"/>
              </a:tblGrid>
              <a:tr h="438912">
                <a:tc>
                  <a:txBody>
                    <a:bodyPr wrap="none"/>
                    <a:lstStyle/>
                    <a:p>
                      <a:pPr algn="l"/>
                      <a:r>
                        <a:rPr sz="1100" b="1">
                          <a:solidFill>
                            <a:srgbClr val="0B2E4A"/>
                          </a:solidFill>
                          <a:latin typeface="Calibri"/>
                        </a:rPr>
                        <a:t>Patient Age</a:t>
                      </a:r>
                      <a:endParaRPr sz="1100"/>
                    </a:p>
                    <a:p>
                      <a:pPr algn="l"/>
                      <a:r>
                        <a:rPr sz="1100" b="1">
                          <a:solidFill>
                            <a:srgbClr val="0B2E4A"/>
                          </a:solidFill>
                          <a:latin typeface="Calibri"/>
                        </a:rPr>
                        <a:t>Group</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396">
                <a:tc>
                  <a:txBody>
                    <a:bodyPr wrap="none"/>
                    <a:lstStyle/>
                    <a:p>
                      <a:pPr algn="l"/>
                      <a:r>
                        <a:rPr sz="1100" b="1">
                          <a:solidFill>
                            <a:srgbClr val="2E2E2E"/>
                          </a:solidFill>
                          <a:latin typeface="Calibri"/>
                        </a:rPr>
                        <a:t>Adults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396">
                <a:tc>
                  <a:txBody>
                    <a:bodyPr wrap="none"/>
                    <a:lstStyle/>
                    <a:p>
                      <a:pPr algn="l"/>
                      <a:r>
                        <a:rPr sz="1100" b="1">
                          <a:solidFill>
                            <a:srgbClr val="2E2E2E"/>
                          </a:solidFill>
                          <a:latin typeface="Calibri"/>
                        </a:rPr>
                        <a:t>Geriatric Patients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Patient Age Group</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69948" y="1781556"/>
            <a:ext cx="366712" cy="533400"/>
          </a:xfrm>
          <a:prstGeom prst="rect">
            <a:avLst/>
          </a:prstGeom>
        </p:spPr>
      </p:pic>
      <p:sp>
        <p:nvSpPr>
          <p:cNvPr id="21" name="TextBox 20"/>
          <p:cNvSpPr txBox="1"/>
          <p:nvPr/>
        </p:nvSpPr>
        <p:spPr>
          <a:xfrm>
            <a:off x="276225" y="31813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3171126"/>
            <a:ext cx="134549" cy="195707"/>
          </a:xfrm>
          <a:prstGeom prst="rect">
            <a:avLst/>
          </a:prstGeom>
        </p:spPr>
      </p:pic>
      <p:sp>
        <p:nvSpPr>
          <p:cNvPr id="23" name="TextBox 22"/>
          <p:cNvSpPr txBox="1"/>
          <p:nvPr/>
        </p:nvSpPr>
        <p:spPr>
          <a:xfrm>
            <a:off x="3435056" y="3181350"/>
            <a:ext cx="7923249" cy="194310"/>
          </a:xfrm>
          <a:prstGeom prst="rect">
            <a:avLst/>
          </a:prstGeom>
          <a:noFill/>
        </p:spPr>
        <p:txBody>
          <a:bodyPr wrap="none" lIns="0" rIns="0" tIns="0" bIns="0">
            <a:spAutoFit/>
          </a:bodyPr>
          <a:lstStyle/>
          <a:p>
            <a:r>
              <a:rPr sz="1150" b="0">
                <a:solidFill>
                  <a:srgbClr val="2E2E2E"/>
                </a:solidFill>
                <a:latin typeface="Calibri"/>
              </a:rPr>
              <a:t>X higher volume than adults segment in 2036. Among removable partial dentures by patient age group, geriatric patients segment is</a:t>
            </a:r>
          </a:p>
        </p:txBody>
      </p:sp>
      <p:sp>
        <p:nvSpPr>
          <p:cNvPr id="24" name="TextBox 23"/>
          <p:cNvSpPr txBox="1"/>
          <p:nvPr/>
        </p:nvSpPr>
        <p:spPr>
          <a:xfrm>
            <a:off x="276225" y="335661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3346386"/>
            <a:ext cx="134549" cy="195707"/>
          </a:xfrm>
          <a:prstGeom prst="rect">
            <a:avLst/>
          </a:prstGeom>
        </p:spPr>
      </p:pic>
      <p:sp>
        <p:nvSpPr>
          <p:cNvPr id="26" name="TextBox 25"/>
          <p:cNvSpPr txBox="1"/>
          <p:nvPr/>
        </p:nvSpPr>
        <p:spPr>
          <a:xfrm>
            <a:off x="2886495" y="33566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584447"/>
            <a:ext cx="7339049" cy="194310"/>
          </a:xfrm>
          <a:prstGeom prst="rect">
            <a:avLst/>
          </a:prstGeom>
          <a:noFill/>
        </p:spPr>
        <p:txBody>
          <a:bodyPr wrap="none" lIns="0" rIns="0" tIns="0" bIns="0">
            <a:spAutoFit/>
          </a:bodyPr>
          <a:lstStyle/>
          <a:p>
            <a:r>
              <a:rPr sz="1150" b="0">
                <a:solidFill>
                  <a:srgbClr val="2E2E2E"/>
                </a:solidFill>
                <a:latin typeface="Calibri"/>
              </a:rPr>
              <a:t>In terms of volume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564428" y="3574224"/>
            <a:ext cx="134549" cy="195707"/>
          </a:xfrm>
          <a:prstGeom prst="rect">
            <a:avLst/>
          </a:prstGeom>
        </p:spPr>
      </p:pic>
      <p:sp>
        <p:nvSpPr>
          <p:cNvPr id="29" name="TextBox 28"/>
          <p:cNvSpPr txBox="1"/>
          <p:nvPr/>
        </p:nvSpPr>
        <p:spPr>
          <a:xfrm>
            <a:off x="7739537" y="35844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34681" y="3574224"/>
            <a:ext cx="134549" cy="195707"/>
          </a:xfrm>
          <a:prstGeom prst="rect">
            <a:avLst/>
          </a:prstGeom>
        </p:spPr>
      </p:pic>
      <p:sp>
        <p:nvSpPr>
          <p:cNvPr id="31" name="TextBox 30"/>
          <p:cNvSpPr txBox="1"/>
          <p:nvPr/>
        </p:nvSpPr>
        <p:spPr>
          <a:xfrm>
            <a:off x="9309790" y="35844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7597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749484"/>
            <a:ext cx="134549" cy="195707"/>
          </a:xfrm>
          <a:prstGeom prst="rect">
            <a:avLst/>
          </a:prstGeom>
        </p:spPr>
      </p:pic>
      <p:sp>
        <p:nvSpPr>
          <p:cNvPr id="34" name="TextBox 33"/>
          <p:cNvSpPr txBox="1"/>
          <p:nvPr/>
        </p:nvSpPr>
        <p:spPr>
          <a:xfrm>
            <a:off x="1455394" y="37597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749484"/>
            <a:ext cx="134549" cy="195707"/>
          </a:xfrm>
          <a:prstGeom prst="rect">
            <a:avLst/>
          </a:prstGeom>
        </p:spPr>
      </p:pic>
      <p:sp>
        <p:nvSpPr>
          <p:cNvPr id="36" name="TextBox 35"/>
          <p:cNvSpPr txBox="1"/>
          <p:nvPr/>
        </p:nvSpPr>
        <p:spPr>
          <a:xfrm>
            <a:off x="4218008" y="37597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Patient Age Group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86908"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8378514" cy="194310"/>
          </a:xfrm>
          <a:prstGeom prst="rect">
            <a:avLst/>
          </a:prstGeom>
          <a:noFill/>
        </p:spPr>
        <p:txBody>
          <a:bodyPr wrap="none" lIns="0" rIns="0" tIns="0" bIns="0">
            <a:spAutoFit/>
          </a:bodyPr>
          <a:lstStyle/>
          <a:p>
            <a:r>
              <a:rPr sz="1150" b="0">
                <a:solidFill>
                  <a:srgbClr val="2E2E2E"/>
                </a:solidFill>
                <a:latin typeface="Calibri"/>
              </a:rPr>
              <a:t>X higher value than adults segment in 2036. Among removable partial dentures by patient age group, geriatric patients segment is expected</a:t>
            </a:r>
          </a:p>
        </p:txBody>
      </p:sp>
      <p:sp>
        <p:nvSpPr>
          <p:cNvPr id="24" name="TextBox 23"/>
          <p:cNvSpPr txBox="1"/>
          <p:nvPr/>
        </p:nvSpPr>
        <p:spPr>
          <a:xfrm>
            <a:off x="276225" y="31661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3155886"/>
            <a:ext cx="134549" cy="195707"/>
          </a:xfrm>
          <a:prstGeom prst="rect">
            <a:avLst/>
          </a:prstGeom>
        </p:spPr>
      </p:pic>
      <p:sp>
        <p:nvSpPr>
          <p:cNvPr id="26" name="TextBox 25"/>
          <p:cNvSpPr txBox="1"/>
          <p:nvPr/>
        </p:nvSpPr>
        <p:spPr>
          <a:xfrm>
            <a:off x="230742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215249" cy="194310"/>
          </a:xfrm>
          <a:prstGeom prst="rect">
            <a:avLst/>
          </a:prstGeom>
          <a:noFill/>
        </p:spPr>
        <p:txBody>
          <a:bodyPr wrap="none" lIns="0" rIns="0" tIns="0" bIns="0">
            <a:spAutoFit/>
          </a:bodyPr>
          <a:lstStyle/>
          <a:p>
            <a:r>
              <a:rPr sz="1150" b="0">
                <a:solidFill>
                  <a:srgbClr val="2E2E2E"/>
                </a:solidFill>
                <a:latin typeface="Calibri"/>
              </a:rPr>
              <a:t>In terms of value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440628" y="3383724"/>
            <a:ext cx="134549" cy="195707"/>
          </a:xfrm>
          <a:prstGeom prst="rect">
            <a:avLst/>
          </a:prstGeom>
        </p:spPr>
      </p:pic>
      <p:sp>
        <p:nvSpPr>
          <p:cNvPr id="29" name="TextBox 28"/>
          <p:cNvSpPr txBox="1"/>
          <p:nvPr/>
        </p:nvSpPr>
        <p:spPr>
          <a:xfrm>
            <a:off x="76157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10880" y="3383724"/>
            <a:ext cx="134549" cy="195707"/>
          </a:xfrm>
          <a:prstGeom prst="rect">
            <a:avLst/>
          </a:prstGeom>
        </p:spPr>
      </p:pic>
      <p:sp>
        <p:nvSpPr>
          <p:cNvPr id="31" name="TextBox 30"/>
          <p:cNvSpPr txBox="1"/>
          <p:nvPr/>
        </p:nvSpPr>
        <p:spPr>
          <a:xfrm>
            <a:off x="91859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1530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105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3434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9625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0149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9673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205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8244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978473" cy="194310"/>
          </a:xfrm>
          <a:prstGeom prst="rect">
            <a:avLst/>
          </a:prstGeom>
          <a:noFill/>
        </p:spPr>
        <p:txBody>
          <a:bodyPr wrap="none" lIns="0" rIns="0" tIns="0" bIns="0">
            <a:spAutoFit/>
          </a:bodyPr>
          <a:lstStyle/>
          <a:p>
            <a:r>
              <a:rPr sz="1150" b="0">
                <a:solidFill>
                  <a:srgbClr val="2E2E2E"/>
                </a:solidFill>
                <a:latin typeface="Calibri"/>
              </a:rPr>
              <a:t>Among removable partial dentures by patient age group, geriatric</a:t>
            </a:r>
          </a:p>
        </p:txBody>
      </p:sp>
      <p:sp>
        <p:nvSpPr>
          <p:cNvPr id="31" name="TextBox 30"/>
          <p:cNvSpPr txBox="1"/>
          <p:nvPr/>
        </p:nvSpPr>
        <p:spPr>
          <a:xfrm>
            <a:off x="7829550" y="1575435"/>
            <a:ext cx="3674660" cy="194310"/>
          </a:xfrm>
          <a:prstGeom prst="rect">
            <a:avLst/>
          </a:prstGeom>
          <a:noFill/>
        </p:spPr>
        <p:txBody>
          <a:bodyPr wrap="none" lIns="0" rIns="0" tIns="0" bIns="0">
            <a:spAutoFit/>
          </a:bodyPr>
          <a:lstStyle/>
          <a:p>
            <a:r>
              <a:rPr sz="1150" b="0">
                <a:solidFill>
                  <a:srgbClr val="2E2E2E"/>
                </a:solidFill>
                <a:latin typeface="Calibri"/>
              </a:rPr>
              <a:t>patients segment is expected to witness the highest CAGR of</a:t>
            </a:r>
          </a:p>
        </p:txBody>
      </p:sp>
      <p:pic>
        <p:nvPicPr>
          <p:cNvPr id="32" name="Picture 31" descr="lock.png"/>
          <p:cNvPicPr>
            <a:picLocks noChangeAspect="1"/>
          </p:cNvPicPr>
          <p:nvPr/>
        </p:nvPicPr>
        <p:blipFill>
          <a:blip r:embed="rId5"/>
          <a:stretch>
            <a:fillRect/>
          </a:stretch>
        </p:blipFill>
        <p:spPr>
          <a:xfrm>
            <a:off x="11453364" y="1565211"/>
            <a:ext cx="134549" cy="195707"/>
          </a:xfrm>
          <a:prstGeom prst="rect">
            <a:avLst/>
          </a:prstGeom>
        </p:spPr>
      </p:pic>
      <p:sp>
        <p:nvSpPr>
          <p:cNvPr id="33" name="TextBox 32"/>
          <p:cNvSpPr txBox="1"/>
          <p:nvPr/>
        </p:nvSpPr>
        <p:spPr>
          <a:xfrm>
            <a:off x="7829550" y="1750695"/>
            <a:ext cx="3823580"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patient age</a:t>
            </a:r>
          </a:p>
        </p:txBody>
      </p:sp>
      <p:sp>
        <p:nvSpPr>
          <p:cNvPr id="34" name="TextBox 33"/>
          <p:cNvSpPr txBox="1"/>
          <p:nvPr/>
        </p:nvSpPr>
        <p:spPr>
          <a:xfrm>
            <a:off x="7829550" y="1925955"/>
            <a:ext cx="3983608" cy="194310"/>
          </a:xfrm>
          <a:prstGeom prst="rect">
            <a:avLst/>
          </a:prstGeom>
          <a:noFill/>
        </p:spPr>
        <p:txBody>
          <a:bodyPr wrap="none" lIns="0" rIns="0" tIns="0" bIns="0">
            <a:spAutoFit/>
          </a:bodyPr>
          <a:lstStyle/>
          <a:p>
            <a:r>
              <a:rPr sz="1150" b="0">
                <a:solidFill>
                  <a:srgbClr val="2E2E2E"/>
                </a:solidFill>
                <a:latin typeface="Calibri"/>
              </a:rPr>
              <a:t>group, the geriatric patients segment is expected to dominate the</a:t>
            </a:r>
          </a:p>
        </p:txBody>
      </p:sp>
      <p:sp>
        <p:nvSpPr>
          <p:cNvPr id="35" name="TextBox 34"/>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36" name="Picture 35" descr="lock.png"/>
          <p:cNvPicPr>
            <a:picLocks noChangeAspect="1"/>
          </p:cNvPicPr>
          <p:nvPr/>
        </p:nvPicPr>
        <p:blipFill>
          <a:blip r:embed="rId5"/>
          <a:stretch>
            <a:fillRect/>
          </a:stretch>
        </p:blipFill>
        <p:spPr>
          <a:xfrm>
            <a:off x="8778556" y="2090991"/>
            <a:ext cx="134549" cy="195707"/>
          </a:xfrm>
          <a:prstGeom prst="rect">
            <a:avLst/>
          </a:prstGeom>
        </p:spPr>
      </p:pic>
      <p:sp>
        <p:nvSpPr>
          <p:cNvPr id="37" name="TextBox 36"/>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8" name="Picture 37" descr="lock.png"/>
          <p:cNvPicPr>
            <a:picLocks noChangeAspect="1"/>
          </p:cNvPicPr>
          <p:nvPr/>
        </p:nvPicPr>
        <p:blipFill>
          <a:blip r:embed="rId5"/>
          <a:stretch>
            <a:fillRect/>
          </a:stretch>
        </p:blipFill>
        <p:spPr>
          <a:xfrm>
            <a:off x="10348808" y="2090991"/>
            <a:ext cx="134549" cy="195707"/>
          </a:xfrm>
          <a:prstGeom prst="rect">
            <a:avLst/>
          </a:prstGeom>
        </p:spPr>
      </p:pic>
      <p:sp>
        <p:nvSpPr>
          <p:cNvPr id="39" name="TextBox 38"/>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0" name="TextBox 39"/>
          <p:cNvSpPr txBox="1"/>
          <p:nvPr/>
        </p:nvSpPr>
        <p:spPr>
          <a:xfrm>
            <a:off x="7829550" y="2329053"/>
            <a:ext cx="2375631" cy="194310"/>
          </a:xfrm>
          <a:prstGeom prst="rect">
            <a:avLst/>
          </a:prstGeom>
          <a:noFill/>
        </p:spPr>
        <p:txBody>
          <a:bodyPr wrap="none" lIns="0" rIns="0" tIns="0" bIns="0">
            <a:spAutoFit/>
          </a:bodyPr>
          <a:lstStyle/>
          <a:p>
            <a:r>
              <a:rPr sz="1150" b="0">
                <a:solidFill>
                  <a:srgbClr val="2E2E2E"/>
                </a:solidFill>
                <a:latin typeface="Calibri"/>
              </a:rPr>
              <a:t>The adults segment is expected to lose</a:t>
            </a:r>
          </a:p>
        </p:txBody>
      </p:sp>
      <p:pic>
        <p:nvPicPr>
          <p:cNvPr id="41" name="Picture 40" descr="lock.png"/>
          <p:cNvPicPr>
            <a:picLocks noChangeAspect="1"/>
          </p:cNvPicPr>
          <p:nvPr/>
        </p:nvPicPr>
        <p:blipFill>
          <a:blip r:embed="rId5"/>
          <a:stretch>
            <a:fillRect/>
          </a:stretch>
        </p:blipFill>
        <p:spPr>
          <a:xfrm>
            <a:off x="10154335" y="2318829"/>
            <a:ext cx="134549" cy="195707"/>
          </a:xfrm>
          <a:prstGeom prst="rect">
            <a:avLst/>
          </a:prstGeom>
        </p:spPr>
      </p:pic>
      <p:sp>
        <p:nvSpPr>
          <p:cNvPr id="42" name="TextBox 41"/>
          <p:cNvSpPr txBox="1"/>
          <p:nvPr/>
        </p:nvSpPr>
        <p:spPr>
          <a:xfrm>
            <a:off x="10329444"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43" name="TextBox 42"/>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44" name="Picture 43" descr="lock.png"/>
          <p:cNvPicPr>
            <a:picLocks noChangeAspect="1"/>
          </p:cNvPicPr>
          <p:nvPr/>
        </p:nvPicPr>
        <p:blipFill>
          <a:blip r:embed="rId5"/>
          <a:stretch>
            <a:fillRect/>
          </a:stretch>
        </p:blipFill>
        <p:spPr>
          <a:xfrm>
            <a:off x="9114014" y="2494089"/>
            <a:ext cx="134549" cy="195707"/>
          </a:xfrm>
          <a:prstGeom prst="rect">
            <a:avLst/>
          </a:prstGeom>
        </p:spPr>
      </p:pic>
      <p:sp>
        <p:nvSpPr>
          <p:cNvPr id="45" name="TextBox 44"/>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055807"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global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281186" y="3914076"/>
            <a:ext cx="134549" cy="195707"/>
          </a:xfrm>
          <a:prstGeom prst="rect">
            <a:avLst/>
          </a:prstGeom>
        </p:spPr>
      </p:pic>
      <p:sp>
        <p:nvSpPr>
          <p:cNvPr id="23" name="TextBox 22"/>
          <p:cNvSpPr txBox="1"/>
          <p:nvPr/>
        </p:nvSpPr>
        <p:spPr>
          <a:xfrm>
            <a:off x="10456296" y="3924300"/>
            <a:ext cx="1246026" cy="194310"/>
          </a:xfrm>
          <a:prstGeom prst="rect">
            <a:avLst/>
          </a:prstGeom>
          <a:noFill/>
        </p:spPr>
        <p:txBody>
          <a:bodyPr wrap="none" lIns="0" rIns="0" tIns="0" bIns="0">
            <a:spAutoFit/>
          </a:bodyPr>
          <a:lstStyle/>
          <a:p>
            <a:r>
              <a:rPr sz="1150" b="0">
                <a:solidFill>
                  <a:srgbClr val="2E2E2E"/>
                </a:solidFill>
                <a:latin typeface="Calibri"/>
              </a:rPr>
              <a:t>Mn in 2036. 'Acrylic</a:t>
            </a:r>
          </a:p>
        </p:txBody>
      </p:sp>
      <p:sp>
        <p:nvSpPr>
          <p:cNvPr id="24" name="TextBox 23"/>
          <p:cNvSpPr txBox="1"/>
          <p:nvPr/>
        </p:nvSpPr>
        <p:spPr>
          <a:xfrm>
            <a:off x="276225" y="4099560"/>
            <a:ext cx="4436591" cy="194310"/>
          </a:xfrm>
          <a:prstGeom prst="rect">
            <a:avLst/>
          </a:prstGeom>
          <a:noFill/>
        </p:spPr>
        <p:txBody>
          <a:bodyPr wrap="none" lIns="0" rIns="0" tIns="0" bIns="0">
            <a:spAutoFit/>
          </a:bodyPr>
          <a:lstStyle/>
          <a:p>
            <a:r>
              <a:rPr sz="1150" b="0">
                <a:solidFill>
                  <a:srgbClr val="2E2E2E"/>
                </a:solidFill>
                <a:latin typeface="Calibri"/>
              </a:rPr>
              <a:t>Partial Dentures × Acrylic / Resin' is the single largest cross-sectional cell (</a:t>
            </a:r>
          </a:p>
        </p:txBody>
      </p:sp>
      <p:pic>
        <p:nvPicPr>
          <p:cNvPr id="25" name="Picture 24" descr="lock.png"/>
          <p:cNvPicPr>
            <a:picLocks noChangeAspect="1"/>
          </p:cNvPicPr>
          <p:nvPr/>
        </p:nvPicPr>
        <p:blipFill>
          <a:blip r:embed="rId4"/>
          <a:stretch>
            <a:fillRect/>
          </a:stretch>
        </p:blipFill>
        <p:spPr>
          <a:xfrm>
            <a:off x="4661970" y="4089336"/>
            <a:ext cx="134549" cy="195707"/>
          </a:xfrm>
          <a:prstGeom prst="rect">
            <a:avLst/>
          </a:prstGeom>
        </p:spPr>
      </p:pic>
      <p:sp>
        <p:nvSpPr>
          <p:cNvPr id="26" name="TextBox 25"/>
          <p:cNvSpPr txBox="1"/>
          <p:nvPr/>
        </p:nvSpPr>
        <p:spPr>
          <a:xfrm>
            <a:off x="4837079" y="4099560"/>
            <a:ext cx="6815305"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Flexible Thermoplastics' records the fastest growth at a CAGR of</a:t>
            </a:r>
          </a:p>
        </p:txBody>
      </p:sp>
      <p:pic>
        <p:nvPicPr>
          <p:cNvPr id="27" name="Picture 26" descr="lock.png"/>
          <p:cNvPicPr>
            <a:picLocks noChangeAspect="1"/>
          </p:cNvPicPr>
          <p:nvPr/>
        </p:nvPicPr>
        <p:blipFill>
          <a:blip r:embed="rId4"/>
          <a:stretch>
            <a:fillRect/>
          </a:stretch>
        </p:blipFill>
        <p:spPr>
          <a:xfrm>
            <a:off x="262145" y="4264596"/>
            <a:ext cx="134549" cy="195707"/>
          </a:xfrm>
          <a:prstGeom prst="rect">
            <a:avLst/>
          </a:prstGeom>
        </p:spPr>
      </p:pic>
      <p:sp>
        <p:nvSpPr>
          <p:cNvPr id="28" name="TextBox 27"/>
          <p:cNvSpPr txBox="1"/>
          <p:nvPr/>
        </p:nvSpPr>
        <p:spPr>
          <a:xfrm>
            <a:off x="437254"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29" name="TextBox 28"/>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0" name="Picture 29" descr="lock.png"/>
          <p:cNvPicPr>
            <a:picLocks noChangeAspect="1"/>
          </p:cNvPicPr>
          <p:nvPr/>
        </p:nvPicPr>
        <p:blipFill>
          <a:blip r:embed="rId4"/>
          <a:stretch>
            <a:fillRect/>
          </a:stretch>
        </p:blipFill>
        <p:spPr>
          <a:xfrm>
            <a:off x="6092233" y="4492434"/>
            <a:ext cx="134549" cy="195707"/>
          </a:xfrm>
          <a:prstGeom prst="rect">
            <a:avLst/>
          </a:prstGeom>
        </p:spPr>
      </p:pic>
      <p:sp>
        <p:nvSpPr>
          <p:cNvPr id="31" name="TextBox 30"/>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4139071" cy="194310"/>
          </a:xfrm>
          <a:prstGeom prst="rect">
            <a:avLst/>
          </a:prstGeom>
          <a:noFill/>
        </p:spPr>
        <p:txBody>
          <a:bodyPr wrap="none" lIns="0" rIns="0" tIns="0" bIns="0">
            <a:spAutoFit/>
          </a:bodyPr>
          <a:lstStyle/>
          <a:p>
            <a:r>
              <a:rPr sz="1150" b="0">
                <a:solidFill>
                  <a:srgbClr val="2E2E2E"/>
                </a:solidFill>
                <a:latin typeface="Calibri"/>
              </a:rPr>
              <a:t>▪ 'Printable Denture Resins'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530239" cy="194310"/>
          </a:xfrm>
          <a:prstGeom prst="rect">
            <a:avLst/>
          </a:prstGeom>
          <a:noFill/>
        </p:spPr>
        <p:txBody>
          <a:bodyPr wrap="none" lIns="0" rIns="0" tIns="0" bIns="0">
            <a:spAutoFit/>
          </a:bodyPr>
          <a:lstStyle/>
          <a:p>
            <a:r>
              <a:rPr sz="1150" b="0">
                <a:solidFill>
                  <a:srgbClr val="2E2E2E"/>
                </a:solidFill>
                <a:latin typeface="Calibri"/>
              </a:rPr>
              <a:t>of its value via 'Printable Denture Resins'.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6" name="TextBox 35"/>
          <p:cNvSpPr txBox="1"/>
          <p:nvPr/>
        </p:nvSpPr>
        <p:spPr>
          <a:xfrm>
            <a:off x="7715250" y="50962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328665" cy="194310"/>
          </a:xfrm>
          <a:prstGeom prst="rect">
            <a:avLst/>
          </a:prstGeom>
          <a:noFill/>
        </p:spPr>
        <p:txBody>
          <a:bodyPr wrap="none" lIns="0" rIns="0" tIns="0" bIns="0">
            <a:spAutoFit/>
          </a:bodyPr>
          <a:lstStyle/>
          <a:p>
            <a:r>
              <a:rPr sz="1150" b="0">
                <a:solidFill>
                  <a:srgbClr val="2E2E2E"/>
                </a:solidFill>
                <a:latin typeface="Calibri"/>
              </a:rPr>
              <a:t>▪ 1. Acrylic Partial Dentures × Flexible Thermoplastics –</a:t>
            </a:r>
          </a:p>
        </p:txBody>
      </p:sp>
      <p:pic>
        <p:nvPicPr>
          <p:cNvPr id="34" name="Picture 33" descr="lock.png"/>
          <p:cNvPicPr>
            <a:picLocks noChangeAspect="1"/>
          </p:cNvPicPr>
          <p:nvPr/>
        </p:nvPicPr>
        <p:blipFill>
          <a:blip r:embed="rId4"/>
          <a:stretch>
            <a:fillRect/>
          </a:stretch>
        </p:blipFill>
        <p:spPr>
          <a:xfrm>
            <a:off x="3554043" y="3914076"/>
            <a:ext cx="134549" cy="195707"/>
          </a:xfrm>
          <a:prstGeom prst="rect">
            <a:avLst/>
          </a:prstGeom>
        </p:spPr>
      </p:pic>
      <p:sp>
        <p:nvSpPr>
          <p:cNvPr id="35" name="TextBox 34"/>
          <p:cNvSpPr txBox="1"/>
          <p:nvPr/>
        </p:nvSpPr>
        <p:spPr>
          <a:xfrm>
            <a:off x="3729153"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791304" y="3914076"/>
            <a:ext cx="134549" cy="195707"/>
          </a:xfrm>
          <a:prstGeom prst="rect">
            <a:avLst/>
          </a:prstGeom>
        </p:spPr>
      </p:pic>
      <p:sp>
        <p:nvSpPr>
          <p:cNvPr id="37" name="TextBox 36"/>
          <p:cNvSpPr txBox="1"/>
          <p:nvPr/>
        </p:nvSpPr>
        <p:spPr>
          <a:xfrm>
            <a:off x="3966414"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89424" cy="194310"/>
          </a:xfrm>
          <a:prstGeom prst="rect">
            <a:avLst/>
          </a:prstGeom>
          <a:noFill/>
        </p:spPr>
        <p:txBody>
          <a:bodyPr wrap="none" lIns="0" rIns="0" tIns="0" bIns="0">
            <a:spAutoFit/>
          </a:bodyPr>
          <a:lstStyle/>
          <a:p>
            <a:r>
              <a:rPr sz="1150" b="0">
                <a:solidFill>
                  <a:srgbClr val="2E2E2E"/>
                </a:solidFill>
                <a:latin typeface="Calibri"/>
              </a:rPr>
              <a:t>▪ 2. Flexible Partial Dentures × Flexible Thermoplastics –</a:t>
            </a:r>
          </a:p>
        </p:txBody>
      </p:sp>
      <p:pic>
        <p:nvPicPr>
          <p:cNvPr id="39" name="Picture 38" descr="lock.png"/>
          <p:cNvPicPr>
            <a:picLocks noChangeAspect="1"/>
          </p:cNvPicPr>
          <p:nvPr/>
        </p:nvPicPr>
        <p:blipFill>
          <a:blip r:embed="rId4"/>
          <a:stretch>
            <a:fillRect/>
          </a:stretch>
        </p:blipFill>
        <p:spPr>
          <a:xfrm>
            <a:off x="3614803" y="4141914"/>
            <a:ext cx="134549" cy="195707"/>
          </a:xfrm>
          <a:prstGeom prst="rect">
            <a:avLst/>
          </a:prstGeom>
        </p:spPr>
      </p:pic>
      <p:sp>
        <p:nvSpPr>
          <p:cNvPr id="40" name="TextBox 39"/>
          <p:cNvSpPr txBox="1"/>
          <p:nvPr/>
        </p:nvSpPr>
        <p:spPr>
          <a:xfrm>
            <a:off x="3789912"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52064" y="4141914"/>
            <a:ext cx="134549" cy="195707"/>
          </a:xfrm>
          <a:prstGeom prst="rect">
            <a:avLst/>
          </a:prstGeom>
        </p:spPr>
      </p:pic>
      <p:sp>
        <p:nvSpPr>
          <p:cNvPr id="42" name="TextBox 41"/>
          <p:cNvSpPr txBox="1"/>
          <p:nvPr/>
        </p:nvSpPr>
        <p:spPr>
          <a:xfrm>
            <a:off x="4027173"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573127" cy="194310"/>
          </a:xfrm>
          <a:prstGeom prst="rect">
            <a:avLst/>
          </a:prstGeom>
          <a:noFill/>
        </p:spPr>
        <p:txBody>
          <a:bodyPr wrap="none" lIns="0" rIns="0" tIns="0" bIns="0">
            <a:spAutoFit/>
          </a:bodyPr>
          <a:lstStyle/>
          <a:p>
            <a:r>
              <a:rPr sz="1150" b="0">
                <a:solidFill>
                  <a:srgbClr val="2E2E2E"/>
                </a:solidFill>
                <a:latin typeface="Calibri"/>
              </a:rPr>
              <a:t>▪ 4. Cast Metal Partial Dentures × Flexible Thermoplastics –</a:t>
            </a:r>
          </a:p>
        </p:txBody>
      </p:sp>
      <p:pic>
        <p:nvPicPr>
          <p:cNvPr id="49" name="Picture 48" descr="lock.png"/>
          <p:cNvPicPr>
            <a:picLocks noChangeAspect="1"/>
          </p:cNvPicPr>
          <p:nvPr/>
        </p:nvPicPr>
        <p:blipFill>
          <a:blip r:embed="rId4"/>
          <a:stretch>
            <a:fillRect/>
          </a:stretch>
        </p:blipFill>
        <p:spPr>
          <a:xfrm>
            <a:off x="3798506" y="4597590"/>
            <a:ext cx="134549" cy="195707"/>
          </a:xfrm>
          <a:prstGeom prst="rect">
            <a:avLst/>
          </a:prstGeom>
        </p:spPr>
      </p:pic>
      <p:sp>
        <p:nvSpPr>
          <p:cNvPr id="50" name="TextBox 49"/>
          <p:cNvSpPr txBox="1"/>
          <p:nvPr/>
        </p:nvSpPr>
        <p:spPr>
          <a:xfrm>
            <a:off x="3973615"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035767" y="4597590"/>
            <a:ext cx="134549" cy="195707"/>
          </a:xfrm>
          <a:prstGeom prst="rect">
            <a:avLst/>
          </a:prstGeom>
        </p:spPr>
      </p:pic>
      <p:sp>
        <p:nvSpPr>
          <p:cNvPr id="52" name="TextBox 51"/>
          <p:cNvSpPr txBox="1"/>
          <p:nvPr/>
        </p:nvSpPr>
        <p:spPr>
          <a:xfrm>
            <a:off x="4210876" y="46078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59" name="TextBox 58"/>
          <p:cNvSpPr txBox="1"/>
          <p:nvPr/>
        </p:nvSpPr>
        <p:spPr>
          <a:xfrm>
            <a:off x="60293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0" name="TextBox 59"/>
          <p:cNvSpPr txBox="1"/>
          <p:nvPr/>
        </p:nvSpPr>
        <p:spPr>
          <a:xfrm>
            <a:off x="6029325" y="427482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64596"/>
            <a:ext cx="134549" cy="195707"/>
          </a:xfrm>
          <a:prstGeom prst="rect">
            <a:avLst/>
          </a:prstGeom>
        </p:spPr>
      </p:pic>
      <p:sp>
        <p:nvSpPr>
          <p:cNvPr id="62" name="TextBox 61"/>
          <p:cNvSpPr txBox="1"/>
          <p:nvPr/>
        </p:nvSpPr>
        <p:spPr>
          <a:xfrm>
            <a:off x="6510192" y="427482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45007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439856"/>
            <a:ext cx="134549" cy="195707"/>
          </a:xfrm>
          <a:prstGeom prst="rect">
            <a:avLst/>
          </a:prstGeom>
        </p:spPr>
      </p:pic>
      <p:sp>
        <p:nvSpPr>
          <p:cNvPr id="65" name="TextBox 64"/>
          <p:cNvSpPr txBox="1"/>
          <p:nvPr/>
        </p:nvSpPr>
        <p:spPr>
          <a:xfrm>
            <a:off x="6302527" y="44500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6253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8" name="TextBox 67"/>
          <p:cNvSpPr txBox="1"/>
          <p:nvPr/>
        </p:nvSpPr>
        <p:spPr>
          <a:xfrm>
            <a:off x="81248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9" name="TextBox 68"/>
          <p:cNvSpPr txBox="1"/>
          <p:nvPr/>
        </p:nvSpPr>
        <p:spPr>
          <a:xfrm>
            <a:off x="8124825" y="427482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64596"/>
            <a:ext cx="134549" cy="195707"/>
          </a:xfrm>
          <a:prstGeom prst="rect">
            <a:avLst/>
          </a:prstGeom>
        </p:spPr>
      </p:pic>
      <p:sp>
        <p:nvSpPr>
          <p:cNvPr id="71" name="TextBox 70"/>
          <p:cNvSpPr txBox="1"/>
          <p:nvPr/>
        </p:nvSpPr>
        <p:spPr>
          <a:xfrm>
            <a:off x="8938584" y="42748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64596"/>
            <a:ext cx="134549" cy="195707"/>
          </a:xfrm>
          <a:prstGeom prst="rect">
            <a:avLst/>
          </a:prstGeom>
        </p:spPr>
      </p:pic>
      <p:sp>
        <p:nvSpPr>
          <p:cNvPr id="73" name="TextBox 72"/>
          <p:cNvSpPr txBox="1"/>
          <p:nvPr/>
        </p:nvSpPr>
        <p:spPr>
          <a:xfrm>
            <a:off x="8124825" y="44500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6253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9848143"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global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10073522" y="3714051"/>
            <a:ext cx="134549" cy="195707"/>
          </a:xfrm>
          <a:prstGeom prst="rect">
            <a:avLst/>
          </a:prstGeom>
        </p:spPr>
      </p:pic>
      <p:sp>
        <p:nvSpPr>
          <p:cNvPr id="23" name="TextBox 22"/>
          <p:cNvSpPr txBox="1"/>
          <p:nvPr/>
        </p:nvSpPr>
        <p:spPr>
          <a:xfrm>
            <a:off x="10248631" y="3724275"/>
            <a:ext cx="1490488" cy="194310"/>
          </a:xfrm>
          <a:prstGeom prst="rect">
            <a:avLst/>
          </a:prstGeom>
          <a:noFill/>
        </p:spPr>
        <p:txBody>
          <a:bodyPr wrap="none" lIns="0" rIns="0" tIns="0" bIns="0">
            <a:spAutoFit/>
          </a:bodyPr>
          <a:lstStyle/>
          <a:p>
            <a:r>
              <a:rPr sz="1150" b="0">
                <a:solidFill>
                  <a:srgbClr val="2E2E2E"/>
                </a:solidFill>
                <a:latin typeface="Calibri"/>
              </a:rPr>
              <a:t>Mn in 2036. 'Cast Metal</a:t>
            </a:r>
          </a:p>
        </p:txBody>
      </p:sp>
      <p:sp>
        <p:nvSpPr>
          <p:cNvPr id="24" name="TextBox 23"/>
          <p:cNvSpPr txBox="1"/>
          <p:nvPr/>
        </p:nvSpPr>
        <p:spPr>
          <a:xfrm>
            <a:off x="276225" y="3899535"/>
            <a:ext cx="5088333" cy="194310"/>
          </a:xfrm>
          <a:prstGeom prst="rect">
            <a:avLst/>
          </a:prstGeom>
          <a:noFill/>
        </p:spPr>
        <p:txBody>
          <a:bodyPr wrap="none" lIns="0" rIns="0" tIns="0" bIns="0">
            <a:spAutoFit/>
          </a:bodyPr>
          <a:lstStyle/>
          <a:p>
            <a:r>
              <a:rPr sz="1150" b="0">
                <a:solidFill>
                  <a:srgbClr val="2E2E2E"/>
                </a:solidFill>
                <a:latin typeface="Calibri"/>
              </a:rPr>
              <a:t>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313712" y="3889311"/>
            <a:ext cx="134549" cy="195707"/>
          </a:xfrm>
          <a:prstGeom prst="rect">
            <a:avLst/>
          </a:prstGeom>
        </p:spPr>
      </p:pic>
      <p:sp>
        <p:nvSpPr>
          <p:cNvPr id="26" name="TextBox 25"/>
          <p:cNvSpPr txBox="1"/>
          <p:nvPr/>
        </p:nvSpPr>
        <p:spPr>
          <a:xfrm>
            <a:off x="5488822" y="3899535"/>
            <a:ext cx="638937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 growth at a</a:t>
            </a:r>
          </a:p>
        </p:txBody>
      </p:sp>
      <p:sp>
        <p:nvSpPr>
          <p:cNvPr id="27" name="TextBox 26"/>
          <p:cNvSpPr txBox="1"/>
          <p:nvPr/>
        </p:nvSpPr>
        <p:spPr>
          <a:xfrm>
            <a:off x="276225" y="4074794"/>
            <a:ext cx="2061050" cy="194310"/>
          </a:xfrm>
          <a:prstGeom prst="rect">
            <a:avLst/>
          </a:prstGeom>
          <a:noFill/>
        </p:spPr>
        <p:txBody>
          <a:bodyPr wrap="none" lIns="0" rIns="0" tIns="0" bIns="0">
            <a:spAutoFit/>
          </a:bodyPr>
          <a:lstStyle/>
          <a:p>
            <a:r>
              <a:rPr sz="1150" b="0">
                <a:solidFill>
                  <a:srgbClr val="2E2E2E"/>
                </a:solidFill>
                <a:latin typeface="Calibri"/>
              </a:rPr>
              <a:t>CAGR of 4.4% over 2026E–2036F.</a:t>
            </a:r>
          </a:p>
        </p:txBody>
      </p:sp>
      <p:sp>
        <p:nvSpPr>
          <p:cNvPr id="28" name="TextBox 27"/>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29" name="Picture 28" descr="lock.png"/>
          <p:cNvPicPr>
            <a:picLocks noChangeAspect="1"/>
          </p:cNvPicPr>
          <p:nvPr/>
        </p:nvPicPr>
        <p:blipFill>
          <a:blip r:embed="rId4"/>
          <a:stretch>
            <a:fillRect/>
          </a:stretch>
        </p:blipFill>
        <p:spPr>
          <a:xfrm>
            <a:off x="5957593" y="4292409"/>
            <a:ext cx="134549" cy="195707"/>
          </a:xfrm>
          <a:prstGeom prst="rect">
            <a:avLst/>
          </a:prstGeom>
        </p:spPr>
      </p:pic>
      <p:sp>
        <p:nvSpPr>
          <p:cNvPr id="30" name="TextBox 29"/>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03513" cy="194310"/>
          </a:xfrm>
          <a:prstGeom prst="rect">
            <a:avLst/>
          </a:prstGeom>
          <a:noFill/>
        </p:spPr>
        <p:txBody>
          <a:bodyPr wrap="none" lIns="0" rIns="0" tIns="0" bIns="0">
            <a:spAutoFit/>
          </a:bodyPr>
          <a:lstStyle/>
          <a:p>
            <a:r>
              <a:rPr sz="1150" b="0">
                <a:solidFill>
                  <a:srgbClr val="2E2E2E"/>
                </a:solidFill>
                <a:latin typeface="Calibri"/>
              </a:rPr>
              <a:t>▪ 'Hybrid Digital Fabrication' holds the highest share of 'Cast Metal</a:t>
            </a:r>
          </a:p>
        </p:txBody>
      </p:sp>
      <p:sp>
        <p:nvSpPr>
          <p:cNvPr id="26" name="TextBox 25"/>
          <p:cNvSpPr txBox="1"/>
          <p:nvPr/>
        </p:nvSpPr>
        <p:spPr>
          <a:xfrm>
            <a:off x="7715250" y="4099560"/>
            <a:ext cx="1222350" cy="194310"/>
          </a:xfrm>
          <a:prstGeom prst="rect">
            <a:avLst/>
          </a:prstGeom>
          <a:noFill/>
        </p:spPr>
        <p:txBody>
          <a:bodyPr wrap="none" lIns="0" rIns="0" tIns="0" bIns="0">
            <a:spAutoFit/>
          </a:bodyPr>
          <a:lstStyle/>
          <a:p>
            <a:r>
              <a:rPr sz="1150" b="0">
                <a:solidFill>
                  <a:srgbClr val="2E2E2E"/>
                </a:solidFill>
                <a:latin typeface="Calibri"/>
              </a:rPr>
              <a:t>Partial Dentures' at</a:t>
            </a:r>
          </a:p>
        </p:txBody>
      </p:sp>
      <p:pic>
        <p:nvPicPr>
          <p:cNvPr id="27" name="Picture 26" descr="lock.png"/>
          <p:cNvPicPr>
            <a:picLocks noChangeAspect="1"/>
          </p:cNvPicPr>
          <p:nvPr/>
        </p:nvPicPr>
        <p:blipFill>
          <a:blip r:embed="rId5"/>
          <a:stretch>
            <a:fillRect/>
          </a:stretch>
        </p:blipFill>
        <p:spPr>
          <a:xfrm>
            <a:off x="8886754" y="4089336"/>
            <a:ext cx="134549" cy="195707"/>
          </a:xfrm>
          <a:prstGeom prst="rect">
            <a:avLst/>
          </a:prstGeom>
        </p:spPr>
      </p:pic>
      <p:sp>
        <p:nvSpPr>
          <p:cNvPr id="28" name="TextBox 27"/>
          <p:cNvSpPr txBox="1"/>
          <p:nvPr/>
        </p:nvSpPr>
        <p:spPr>
          <a:xfrm>
            <a:off x="906186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66118" cy="194310"/>
          </a:xfrm>
          <a:prstGeom prst="rect">
            <a:avLst/>
          </a:prstGeom>
          <a:noFill/>
        </p:spPr>
        <p:txBody>
          <a:bodyPr wrap="none" lIns="0" rIns="0" tIns="0" bIns="0">
            <a:spAutoFit/>
          </a:bodyPr>
          <a:lstStyle/>
          <a:p>
            <a:r>
              <a:rPr sz="1150" b="0">
                <a:solidFill>
                  <a:srgbClr val="2E2E2E"/>
                </a:solidFill>
                <a:latin typeface="Calibri"/>
              </a:rPr>
              <a:t>of its value via 'Hybrid Digital Fabrication'.</a:t>
            </a:r>
          </a:p>
        </p:txBody>
      </p:sp>
      <p:sp>
        <p:nvSpPr>
          <p:cNvPr id="33" name="TextBox 32"/>
          <p:cNvSpPr txBox="1"/>
          <p:nvPr/>
        </p:nvSpPr>
        <p:spPr>
          <a:xfrm>
            <a:off x="7715250" y="473049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4" name="Picture 33" descr="lock.png"/>
          <p:cNvPicPr>
            <a:picLocks noChangeAspect="1"/>
          </p:cNvPicPr>
          <p:nvPr/>
        </p:nvPicPr>
        <p:blipFill>
          <a:blip r:embed="rId5"/>
          <a:stretch>
            <a:fillRect/>
          </a:stretch>
        </p:blipFill>
        <p:spPr>
          <a:xfrm>
            <a:off x="9151184" y="4720272"/>
            <a:ext cx="134549" cy="195707"/>
          </a:xfrm>
          <a:prstGeom prst="rect">
            <a:avLst/>
          </a:prstGeom>
        </p:spPr>
      </p:pic>
      <p:sp>
        <p:nvSpPr>
          <p:cNvPr id="35" name="TextBox 34"/>
          <p:cNvSpPr txBox="1"/>
          <p:nvPr/>
        </p:nvSpPr>
        <p:spPr>
          <a:xfrm>
            <a:off x="9326293" y="4730495"/>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6" name="TextBox 35"/>
          <p:cNvSpPr txBox="1"/>
          <p:nvPr/>
        </p:nvSpPr>
        <p:spPr>
          <a:xfrm>
            <a:off x="7715250" y="4905755"/>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7"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58390"/>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6319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825240"/>
            <a:ext cx="5067300" cy="210312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p:txBody>
      </p:sp>
      <p:sp>
        <p:nvSpPr>
          <p:cNvPr id="8" name="TextBox 7"/>
          <p:cNvSpPr txBox="1"/>
          <p:nvPr/>
        </p:nvSpPr>
        <p:spPr>
          <a:xfrm>
            <a:off x="6096000" y="3825240"/>
            <a:ext cx="5067300" cy="186690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780159" cy="186689"/>
          </a:xfrm>
          <a:prstGeom prst="rect">
            <a:avLst/>
          </a:prstGeom>
          <a:noFill/>
        </p:spPr>
        <p:txBody>
          <a:bodyPr wrap="none" lIns="0" rIns="0" tIns="0" bIns="0">
            <a:spAutoFit/>
          </a:bodyPr>
          <a:lstStyle/>
          <a:p>
            <a:r>
              <a:rPr sz="1100" b="0">
                <a:solidFill>
                  <a:srgbClr val="2E2E2E"/>
                </a:solidFill>
                <a:latin typeface="Calibri"/>
              </a:rPr>
              <a:t>North America removable partial dentures market is projected to</a:t>
            </a:r>
          </a:p>
        </p:txBody>
      </p:sp>
      <p:sp>
        <p:nvSpPr>
          <p:cNvPr id="36" name="TextBox 35"/>
          <p:cNvSpPr txBox="1"/>
          <p:nvPr/>
        </p:nvSpPr>
        <p:spPr>
          <a:xfrm>
            <a:off x="8048625" y="2214627"/>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37" name="Picture 36" descr="lock.png"/>
          <p:cNvPicPr>
            <a:picLocks noChangeAspect="1"/>
          </p:cNvPicPr>
          <p:nvPr/>
        </p:nvPicPr>
        <p:blipFill>
          <a:blip r:embed="rId6"/>
          <a:stretch>
            <a:fillRect/>
          </a:stretch>
        </p:blipFill>
        <p:spPr>
          <a:xfrm>
            <a:off x="8509166" y="2204848"/>
            <a:ext cx="128699" cy="187198"/>
          </a:xfrm>
          <a:prstGeom prst="rect">
            <a:avLst/>
          </a:prstGeom>
        </p:spPr>
      </p:pic>
      <p:sp>
        <p:nvSpPr>
          <p:cNvPr id="38" name="TextBox 37"/>
          <p:cNvSpPr txBox="1"/>
          <p:nvPr/>
        </p:nvSpPr>
        <p:spPr>
          <a:xfrm>
            <a:off x="8676662" y="2214627"/>
            <a:ext cx="2964333"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a:t>
            </a:r>
          </a:p>
        </p:txBody>
      </p:sp>
      <p:sp>
        <p:nvSpPr>
          <p:cNvPr id="39" name="TextBox 38"/>
          <p:cNvSpPr txBox="1"/>
          <p:nvPr/>
        </p:nvSpPr>
        <p:spPr>
          <a:xfrm>
            <a:off x="8048625" y="2382267"/>
            <a:ext cx="3735412" cy="186689"/>
          </a:xfrm>
          <a:prstGeom prst="rect">
            <a:avLst/>
          </a:prstGeom>
          <a:noFill/>
        </p:spPr>
        <p:txBody>
          <a:bodyPr wrap="none" lIns="0" rIns="0" tIns="0" bIns="0">
            <a:spAutoFit/>
          </a:bodyPr>
          <a:lstStyle/>
          <a:p>
            <a:r>
              <a:rPr sz="1100" b="0">
                <a:solidFill>
                  <a:srgbClr val="2E2E2E"/>
                </a:solidFill>
                <a:latin typeface="Calibri"/>
              </a:rPr>
              <a:t>2036. North America removable partial dentures market volume</a:t>
            </a:r>
          </a:p>
        </p:txBody>
      </p:sp>
      <p:sp>
        <p:nvSpPr>
          <p:cNvPr id="40" name="TextBox 39"/>
          <p:cNvSpPr txBox="1"/>
          <p:nvPr/>
        </p:nvSpPr>
        <p:spPr>
          <a:xfrm>
            <a:off x="8048625" y="2549907"/>
            <a:ext cx="543867" cy="186689"/>
          </a:xfrm>
          <a:prstGeom prst="rect">
            <a:avLst/>
          </a:prstGeom>
          <a:noFill/>
        </p:spPr>
        <p:txBody>
          <a:bodyPr wrap="none" lIns="0" rIns="0" tIns="0" bIns="0">
            <a:spAutoFit/>
          </a:bodyPr>
          <a:lstStyle/>
          <a:p>
            <a:r>
              <a:rPr sz="1100" b="0">
                <a:solidFill>
                  <a:srgbClr val="2E2E2E"/>
                </a:solidFill>
                <a:latin typeface="Calibri"/>
              </a:rPr>
              <a:t>stood at</a:t>
            </a:r>
          </a:p>
        </p:txBody>
      </p:sp>
      <p:pic>
        <p:nvPicPr>
          <p:cNvPr id="41" name="Picture 40" descr="lock.png"/>
          <p:cNvPicPr>
            <a:picLocks noChangeAspect="1"/>
          </p:cNvPicPr>
          <p:nvPr/>
        </p:nvPicPr>
        <p:blipFill>
          <a:blip r:embed="rId6"/>
          <a:stretch>
            <a:fillRect/>
          </a:stretch>
        </p:blipFill>
        <p:spPr>
          <a:xfrm>
            <a:off x="8540544" y="2540128"/>
            <a:ext cx="128699" cy="187198"/>
          </a:xfrm>
          <a:prstGeom prst="rect">
            <a:avLst/>
          </a:prstGeom>
        </p:spPr>
      </p:pic>
      <p:sp>
        <p:nvSpPr>
          <p:cNvPr id="42" name="TextBox 41"/>
          <p:cNvSpPr txBox="1"/>
          <p:nvPr/>
        </p:nvSpPr>
        <p:spPr>
          <a:xfrm>
            <a:off x="8708039" y="2549907"/>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43" name="Picture 42" descr="lock.png"/>
          <p:cNvPicPr>
            <a:picLocks noChangeAspect="1"/>
          </p:cNvPicPr>
          <p:nvPr/>
        </p:nvPicPr>
        <p:blipFill>
          <a:blip r:embed="rId6"/>
          <a:stretch>
            <a:fillRect/>
          </a:stretch>
        </p:blipFill>
        <p:spPr>
          <a:xfrm>
            <a:off x="10901188" y="2540128"/>
            <a:ext cx="128699" cy="187198"/>
          </a:xfrm>
          <a:prstGeom prst="rect">
            <a:avLst/>
          </a:prstGeom>
        </p:spPr>
      </p:pic>
      <p:sp>
        <p:nvSpPr>
          <p:cNvPr id="44" name="TextBox 43"/>
          <p:cNvSpPr txBox="1"/>
          <p:nvPr/>
        </p:nvSpPr>
        <p:spPr>
          <a:xfrm>
            <a:off x="11068684" y="2549907"/>
            <a:ext cx="541411" cy="186689"/>
          </a:xfrm>
          <a:prstGeom prst="rect">
            <a:avLst/>
          </a:prstGeom>
          <a:noFill/>
        </p:spPr>
        <p:txBody>
          <a:bodyPr wrap="none" lIns="0" rIns="0" tIns="0" bIns="0">
            <a:spAutoFit/>
          </a:bodyPr>
          <a:lstStyle/>
          <a:p>
            <a:r>
              <a:rPr sz="1100" b="0">
                <a:solidFill>
                  <a:srgbClr val="2E2E2E"/>
                </a:solidFill>
                <a:latin typeface="Calibri"/>
              </a:rPr>
              <a:t>Units by</a:t>
            </a:r>
          </a:p>
        </p:txBody>
      </p:sp>
      <p:sp>
        <p:nvSpPr>
          <p:cNvPr id="45" name="TextBox 44"/>
          <p:cNvSpPr txBox="1"/>
          <p:nvPr/>
        </p:nvSpPr>
        <p:spPr>
          <a:xfrm>
            <a:off x="8048625" y="2717547"/>
            <a:ext cx="1385597" cy="186689"/>
          </a:xfrm>
          <a:prstGeom prst="rect">
            <a:avLst/>
          </a:prstGeom>
          <a:noFill/>
        </p:spPr>
        <p:txBody>
          <a:bodyPr wrap="none" lIns="0" rIns="0" tIns="0" bIns="0">
            <a:spAutoFit/>
          </a:bodyPr>
          <a:lstStyle/>
          <a:p>
            <a:r>
              <a:rPr sz="1100" b="0">
                <a:solidFill>
                  <a:srgbClr val="2E2E2E"/>
                </a:solidFill>
                <a:latin typeface="Calibri"/>
              </a:rPr>
              <a:t>2036 end, at a CAGR of</a:t>
            </a:r>
          </a:p>
        </p:txBody>
      </p:sp>
      <p:pic>
        <p:nvPicPr>
          <p:cNvPr id="46" name="Picture 45" descr="lock.png"/>
          <p:cNvPicPr>
            <a:picLocks noChangeAspect="1"/>
          </p:cNvPicPr>
          <p:nvPr/>
        </p:nvPicPr>
        <p:blipFill>
          <a:blip r:embed="rId6"/>
          <a:stretch>
            <a:fillRect/>
          </a:stretch>
        </p:blipFill>
        <p:spPr>
          <a:xfrm>
            <a:off x="9382274" y="2707768"/>
            <a:ext cx="128699" cy="187198"/>
          </a:xfrm>
          <a:prstGeom prst="rect">
            <a:avLst/>
          </a:prstGeom>
        </p:spPr>
      </p:pic>
      <p:sp>
        <p:nvSpPr>
          <p:cNvPr id="47" name="TextBox 46"/>
          <p:cNvSpPr txBox="1"/>
          <p:nvPr/>
        </p:nvSpPr>
        <p:spPr>
          <a:xfrm>
            <a:off x="9549770"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9" name="TextBox 48"/>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50" name="TextBox 49"/>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1" name="Picture 50" descr="lock.png"/>
          <p:cNvPicPr>
            <a:picLocks noChangeAspect="1"/>
          </p:cNvPicPr>
          <p:nvPr/>
        </p:nvPicPr>
        <p:blipFill>
          <a:blip r:embed="rId6"/>
          <a:stretch>
            <a:fillRect/>
          </a:stretch>
        </p:blipFill>
        <p:spPr>
          <a:xfrm>
            <a:off x="10136079" y="4446251"/>
            <a:ext cx="134549" cy="195707"/>
          </a:xfrm>
          <a:prstGeom prst="rect">
            <a:avLst/>
          </a:prstGeom>
        </p:spPr>
      </p:pic>
      <p:sp>
        <p:nvSpPr>
          <p:cNvPr id="52" name="TextBox 51"/>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3" name="TextBox 52"/>
          <p:cNvSpPr txBox="1"/>
          <p:nvPr/>
        </p:nvSpPr>
        <p:spPr>
          <a:xfrm>
            <a:off x="8048625" y="4684312"/>
            <a:ext cx="3571701" cy="194310"/>
          </a:xfrm>
          <a:prstGeom prst="rect">
            <a:avLst/>
          </a:prstGeom>
          <a:noFill/>
        </p:spPr>
        <p:txBody>
          <a:bodyPr wrap="none" lIns="0" rIns="0" tIns="0" bIns="0">
            <a:spAutoFit/>
          </a:bodyPr>
          <a:lstStyle/>
          <a:p>
            <a:r>
              <a:rPr sz="1150" b="0">
                <a:solidFill>
                  <a:srgbClr val="2E2E2E"/>
                </a:solidFill>
                <a:latin typeface="Calibri"/>
              </a:rPr>
              <a:t>▪ Demand concentrates in 'Combination Framework Partial</a:t>
            </a:r>
          </a:p>
        </p:txBody>
      </p:sp>
      <p:sp>
        <p:nvSpPr>
          <p:cNvPr id="54" name="TextBox 53"/>
          <p:cNvSpPr txBox="1"/>
          <p:nvPr/>
        </p:nvSpPr>
        <p:spPr>
          <a:xfrm>
            <a:off x="8048625" y="4859572"/>
            <a:ext cx="1919795" cy="194310"/>
          </a:xfrm>
          <a:prstGeom prst="rect">
            <a:avLst/>
          </a:prstGeom>
          <a:noFill/>
        </p:spPr>
        <p:txBody>
          <a:bodyPr wrap="none" lIns="0" rIns="0" tIns="0" bIns="0">
            <a:spAutoFit/>
          </a:bodyPr>
          <a:lstStyle/>
          <a:p>
            <a:r>
              <a:rPr sz="1150" b="0">
                <a:solidFill>
                  <a:srgbClr val="2E2E2E"/>
                </a:solidFill>
                <a:latin typeface="Calibri"/>
              </a:rPr>
              <a:t>Dentures' within Product Type.</a:t>
            </a:r>
          </a:p>
        </p:txBody>
      </p:sp>
      <p:sp>
        <p:nvSpPr>
          <p:cNvPr id="55" name="TextBox 54"/>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6" name="TextBox 55"/>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cxnSp>
        <p:nvCxnSpPr>
          <p:cNvPr id="27" name="Connector 26"/>
          <p:cNvCxnSpPr/>
          <p:nvPr/>
        </p:nvCxnSpPr>
        <p:spPr>
          <a:xfrm flipV="1">
            <a:off x="1533525" y="2396602"/>
            <a:ext cx="0" cy="29241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890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966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74204"/>
            <a:ext cx="438150" cy="14601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54870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4420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3286125" y="2248795"/>
            <a:ext cx="0" cy="31050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5930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2487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31220"/>
            <a:ext cx="438150" cy="15502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41029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09639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5038725" y="1670329"/>
            <a:ext cx="0" cy="38128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5161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71527"/>
            <a:ext cx="438150" cy="19040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686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45" name="Connector 44"/>
          <p:cNvCxnSpPr/>
          <p:nvPr/>
        </p:nvCxnSpPr>
        <p:spPr>
          <a:xfrm flipV="1">
            <a:off x="6791325" y="2887129"/>
            <a:ext cx="0" cy="23242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871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8828"/>
            <a:ext cx="438150" cy="11606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0802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347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7" name="Connector 56"/>
          <p:cNvCxnSpPr/>
          <p:nvPr/>
        </p:nvCxnSpPr>
        <p:spPr>
          <a:xfrm>
            <a:off x="619125" y="431603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45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3165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7019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16035"/>
            <a:ext cx="0" cy="175416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160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45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3165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7019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138112" y="4249360"/>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69" name="FMI Scale tick"/>
          <p:cNvSpPr txBox="1"/>
          <p:nvPr/>
        </p:nvSpPr>
        <p:spPr>
          <a:xfrm>
            <a:off x="138112" y="468790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71" name="FMI Scale tick"/>
          <p:cNvSpPr txBox="1"/>
          <p:nvPr/>
        </p:nvSpPr>
        <p:spPr>
          <a:xfrm>
            <a:off x="164306" y="556498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72" name="FMI Scale tick"/>
          <p:cNvSpPr txBox="1"/>
          <p:nvPr/>
        </p:nvSpPr>
        <p:spPr>
          <a:xfrm>
            <a:off x="164306" y="600352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2152650" y="5193116"/>
            <a:ext cx="457200" cy="33570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538345"/>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TextBox 77"/>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9" name="TextBox 78"/>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80" name="Rounded Rectangle 7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2" name="Rectangle 8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5" name="Picture 84" descr="lock.png"/>
          <p:cNvPicPr>
            <a:picLocks noChangeAspect="1"/>
          </p:cNvPicPr>
          <p:nvPr/>
        </p:nvPicPr>
        <p:blipFill>
          <a:blip r:embed="rId4"/>
          <a:stretch>
            <a:fillRect/>
          </a:stretch>
        </p:blipFill>
        <p:spPr>
          <a:xfrm>
            <a:off x="1469175" y="2217278"/>
            <a:ext cx="128699" cy="187198"/>
          </a:xfrm>
          <a:prstGeom prst="rect">
            <a:avLst/>
          </a:prstGeom>
        </p:spPr>
      </p:pic>
      <p:pic>
        <p:nvPicPr>
          <p:cNvPr id="86" name="Picture 85" descr="lock.png"/>
          <p:cNvPicPr>
            <a:picLocks noChangeAspect="1"/>
          </p:cNvPicPr>
          <p:nvPr/>
        </p:nvPicPr>
        <p:blipFill>
          <a:blip r:embed="rId4"/>
          <a:stretch>
            <a:fillRect/>
          </a:stretch>
        </p:blipFill>
        <p:spPr>
          <a:xfrm>
            <a:off x="3221775" y="2069471"/>
            <a:ext cx="128699" cy="187198"/>
          </a:xfrm>
          <a:prstGeom prst="rect">
            <a:avLst/>
          </a:prstGeom>
        </p:spPr>
      </p:pic>
      <p:pic>
        <p:nvPicPr>
          <p:cNvPr id="87" name="Picture 86" descr="lock.png"/>
          <p:cNvPicPr>
            <a:picLocks noChangeAspect="1"/>
          </p:cNvPicPr>
          <p:nvPr/>
        </p:nvPicPr>
        <p:blipFill>
          <a:blip r:embed="rId4"/>
          <a:stretch>
            <a:fillRect/>
          </a:stretch>
        </p:blipFill>
        <p:spPr>
          <a:xfrm>
            <a:off x="4974375" y="1491005"/>
            <a:ext cx="128699" cy="187198"/>
          </a:xfrm>
          <a:prstGeom prst="rect">
            <a:avLst/>
          </a:prstGeom>
        </p:spPr>
      </p:pic>
      <p:pic>
        <p:nvPicPr>
          <p:cNvPr id="88" name="Picture 87" descr="lock.png"/>
          <p:cNvPicPr>
            <a:picLocks noChangeAspect="1"/>
          </p:cNvPicPr>
          <p:nvPr/>
        </p:nvPicPr>
        <p:blipFill>
          <a:blip r:embed="rId4"/>
          <a:stretch>
            <a:fillRect/>
          </a:stretch>
        </p:blipFill>
        <p:spPr>
          <a:xfrm>
            <a:off x="6726975" y="2707805"/>
            <a:ext cx="128699" cy="187198"/>
          </a:xfrm>
          <a:prstGeom prst="rect">
            <a:avLst/>
          </a:prstGeom>
        </p:spPr>
      </p:pic>
      <p:pic>
        <p:nvPicPr>
          <p:cNvPr id="89" name="Picture 88" descr="lock.png"/>
          <p:cNvPicPr>
            <a:picLocks noChangeAspect="1"/>
          </p:cNvPicPr>
          <p:nvPr/>
        </p:nvPicPr>
        <p:blipFill>
          <a:blip r:embed="rId4"/>
          <a:stretch>
            <a:fillRect/>
          </a:stretch>
        </p:blipFill>
        <p:spPr>
          <a:xfrm>
            <a:off x="2316900" y="5511421"/>
            <a:ext cx="128699" cy="187198"/>
          </a:xfrm>
          <a:prstGeom prst="rect">
            <a:avLst/>
          </a:prstGeom>
        </p:spPr>
      </p:pic>
      <p:pic>
        <p:nvPicPr>
          <p:cNvPr id="90" name="Picture 89" descr="lock.png"/>
          <p:cNvPicPr>
            <a:picLocks noChangeAspect="1"/>
          </p:cNvPicPr>
          <p:nvPr/>
        </p:nvPicPr>
        <p:blipFill>
          <a:blip r:embed="rId4"/>
          <a:stretch>
            <a:fillRect/>
          </a:stretch>
        </p:blipFill>
        <p:spPr>
          <a:xfrm>
            <a:off x="5841150" y="4267488"/>
            <a:ext cx="128699" cy="187198"/>
          </a:xfrm>
          <a:prstGeom prst="rect">
            <a:avLst/>
          </a:prstGeom>
        </p:spPr>
      </p:pic>
      <p:sp>
        <p:nvSpPr>
          <p:cNvPr id="91" name="TextBox 90"/>
          <p:cNvSpPr txBox="1"/>
          <p:nvPr/>
        </p:nvSpPr>
        <p:spPr>
          <a:xfrm>
            <a:off x="8048625" y="1471995"/>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92" name="TextBox 91"/>
          <p:cNvSpPr txBox="1"/>
          <p:nvPr/>
        </p:nvSpPr>
        <p:spPr>
          <a:xfrm>
            <a:off x="8048625" y="1647255"/>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93" name="Picture 92" descr="lock.png"/>
          <p:cNvPicPr>
            <a:picLocks noChangeAspect="1"/>
          </p:cNvPicPr>
          <p:nvPr/>
        </p:nvPicPr>
        <p:blipFill>
          <a:blip r:embed="rId4"/>
          <a:stretch>
            <a:fillRect/>
          </a:stretch>
        </p:blipFill>
        <p:spPr>
          <a:xfrm>
            <a:off x="9764678" y="1637031"/>
            <a:ext cx="134549" cy="195707"/>
          </a:xfrm>
          <a:prstGeom prst="rect">
            <a:avLst/>
          </a:prstGeom>
        </p:spPr>
      </p:pic>
      <p:sp>
        <p:nvSpPr>
          <p:cNvPr id="94" name="TextBox 93"/>
          <p:cNvSpPr txBox="1"/>
          <p:nvPr/>
        </p:nvSpPr>
        <p:spPr>
          <a:xfrm>
            <a:off x="9939788" y="1647255"/>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95" name="TextBox 94"/>
          <p:cNvSpPr txBox="1"/>
          <p:nvPr/>
        </p:nvSpPr>
        <p:spPr>
          <a:xfrm>
            <a:off x="8048625" y="1822515"/>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96" name="Picture 95" descr="lock.png"/>
          <p:cNvPicPr>
            <a:picLocks noChangeAspect="1"/>
          </p:cNvPicPr>
          <p:nvPr/>
        </p:nvPicPr>
        <p:blipFill>
          <a:blip r:embed="rId4"/>
          <a:stretch>
            <a:fillRect/>
          </a:stretch>
        </p:blipFill>
        <p:spPr>
          <a:xfrm>
            <a:off x="8034545" y="1987551"/>
            <a:ext cx="134549" cy="195707"/>
          </a:xfrm>
          <a:prstGeom prst="rect">
            <a:avLst/>
          </a:prstGeom>
        </p:spPr>
      </p:pic>
      <p:sp>
        <p:nvSpPr>
          <p:cNvPr id="97" name="TextBox 96"/>
          <p:cNvSpPr txBox="1"/>
          <p:nvPr/>
        </p:nvSpPr>
        <p:spPr>
          <a:xfrm>
            <a:off x="8209654" y="1997775"/>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98" name="Picture 97" descr="lock.png"/>
          <p:cNvPicPr>
            <a:picLocks noChangeAspect="1"/>
          </p:cNvPicPr>
          <p:nvPr/>
        </p:nvPicPr>
        <p:blipFill>
          <a:blip r:embed="rId4"/>
          <a:stretch>
            <a:fillRect/>
          </a:stretch>
        </p:blipFill>
        <p:spPr>
          <a:xfrm>
            <a:off x="11296924" y="1987551"/>
            <a:ext cx="134549" cy="195707"/>
          </a:xfrm>
          <a:prstGeom prst="rect">
            <a:avLst/>
          </a:prstGeom>
        </p:spPr>
      </p:pic>
      <p:sp>
        <p:nvSpPr>
          <p:cNvPr id="99" name="TextBox 98"/>
          <p:cNvSpPr txBox="1"/>
          <p:nvPr/>
        </p:nvSpPr>
        <p:spPr>
          <a:xfrm>
            <a:off x="8048625" y="2173035"/>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100" name="TextBox 99"/>
          <p:cNvSpPr txBox="1"/>
          <p:nvPr/>
        </p:nvSpPr>
        <p:spPr>
          <a:xfrm>
            <a:off x="8048625" y="2400873"/>
            <a:ext cx="3596518" cy="194310"/>
          </a:xfrm>
          <a:prstGeom prst="rect">
            <a:avLst/>
          </a:prstGeom>
          <a:noFill/>
        </p:spPr>
        <p:txBody>
          <a:bodyPr wrap="none" lIns="0" rIns="0" tIns="0" bIns="0">
            <a:spAutoFit/>
          </a:bodyPr>
          <a:lstStyle/>
          <a:p>
            <a:r>
              <a:rPr sz="1150" b="0">
                <a:solidFill>
                  <a:srgbClr val="2E2E2E"/>
                </a:solidFill>
                <a:latin typeface="Calibri"/>
              </a:rPr>
              <a:t>Canada is the highest-priced country, while U.S. is the most</a:t>
            </a:r>
          </a:p>
        </p:txBody>
      </p:sp>
      <p:sp>
        <p:nvSpPr>
          <p:cNvPr id="101" name="TextBox 100"/>
          <p:cNvSpPr txBox="1"/>
          <p:nvPr/>
        </p:nvSpPr>
        <p:spPr>
          <a:xfrm>
            <a:off x="8048625" y="2576133"/>
            <a:ext cx="3714898" cy="194310"/>
          </a:xfrm>
          <a:prstGeom prst="rect">
            <a:avLst/>
          </a:prstGeom>
          <a:noFill/>
        </p:spPr>
        <p:txBody>
          <a:bodyPr wrap="none" lIns="0" rIns="0" tIns="0" bIns="0">
            <a:spAutoFit/>
          </a:bodyPr>
          <a:lstStyle/>
          <a:p>
            <a:r>
              <a:rPr sz="1150" b="0">
                <a:solidFill>
                  <a:srgbClr val="2E2E2E"/>
                </a:solidFill>
                <a:latin typeface="Calibri"/>
              </a:rPr>
              <a:t>price-competitive market. Against the North America price of</a:t>
            </a:r>
          </a:p>
        </p:txBody>
      </p:sp>
      <p:pic>
        <p:nvPicPr>
          <p:cNvPr id="102" name="Picture 101" descr="lock.png"/>
          <p:cNvPicPr>
            <a:picLocks noChangeAspect="1"/>
          </p:cNvPicPr>
          <p:nvPr/>
        </p:nvPicPr>
        <p:blipFill>
          <a:blip r:embed="rId4"/>
          <a:stretch>
            <a:fillRect/>
          </a:stretch>
        </p:blipFill>
        <p:spPr>
          <a:xfrm>
            <a:off x="8034545" y="2741169"/>
            <a:ext cx="134549" cy="195707"/>
          </a:xfrm>
          <a:prstGeom prst="rect">
            <a:avLst/>
          </a:prstGeom>
        </p:spPr>
      </p:pic>
      <p:sp>
        <p:nvSpPr>
          <p:cNvPr id="103" name="TextBox 102"/>
          <p:cNvSpPr txBox="1"/>
          <p:nvPr/>
        </p:nvSpPr>
        <p:spPr>
          <a:xfrm>
            <a:off x="8209654" y="2751393"/>
            <a:ext cx="3195451" cy="194310"/>
          </a:xfrm>
          <a:prstGeom prst="rect">
            <a:avLst/>
          </a:prstGeom>
          <a:noFill/>
        </p:spPr>
        <p:txBody>
          <a:bodyPr wrap="none" lIns="0" rIns="0" tIns="0" bIns="0">
            <a:spAutoFit/>
          </a:bodyPr>
          <a:lstStyle/>
          <a:p>
            <a:r>
              <a:rPr sz="1150" b="0">
                <a:solidFill>
                  <a:srgbClr val="2E2E2E"/>
                </a:solidFill>
                <a:latin typeface="Calibri"/>
              </a:rPr>
              <a:t>US$/Units, 1 of 2 countries price above and 1 below.</a:t>
            </a:r>
          </a:p>
        </p:txBody>
      </p:sp>
      <p:sp>
        <p:nvSpPr>
          <p:cNvPr id="104" name="TextBox 103"/>
          <p:cNvSpPr txBox="1"/>
          <p:nvPr/>
        </p:nvSpPr>
        <p:spPr>
          <a:xfrm>
            <a:off x="8048625" y="2979230"/>
            <a:ext cx="1677330" cy="194310"/>
          </a:xfrm>
          <a:prstGeom prst="rect">
            <a:avLst/>
          </a:prstGeom>
          <a:noFill/>
        </p:spPr>
        <p:txBody>
          <a:bodyPr wrap="none" lIns="0" rIns="0" tIns="0" bIns="0">
            <a:spAutoFit/>
          </a:bodyPr>
          <a:lstStyle/>
          <a:p>
            <a:r>
              <a:rPr sz="1150" b="0">
                <a:solidFill>
                  <a:srgbClr val="2E2E2E"/>
                </a:solidFill>
                <a:latin typeface="Calibri"/>
              </a:rPr>
              <a:t>'Canada' is the dearest at +</a:t>
            </a:r>
          </a:p>
        </p:txBody>
      </p:sp>
      <p:pic>
        <p:nvPicPr>
          <p:cNvPr id="105" name="Picture 104" descr="lock.png"/>
          <p:cNvPicPr>
            <a:picLocks noChangeAspect="1"/>
          </p:cNvPicPr>
          <p:nvPr/>
        </p:nvPicPr>
        <p:blipFill>
          <a:blip r:embed="rId4"/>
          <a:stretch>
            <a:fillRect/>
          </a:stretch>
        </p:blipFill>
        <p:spPr>
          <a:xfrm>
            <a:off x="9675109" y="2969007"/>
            <a:ext cx="134549" cy="195707"/>
          </a:xfrm>
          <a:prstGeom prst="rect">
            <a:avLst/>
          </a:prstGeom>
        </p:spPr>
      </p:pic>
      <p:sp>
        <p:nvSpPr>
          <p:cNvPr id="106" name="TextBox 105"/>
          <p:cNvSpPr txBox="1"/>
          <p:nvPr/>
        </p:nvSpPr>
        <p:spPr>
          <a:xfrm>
            <a:off x="9850218" y="2979230"/>
            <a:ext cx="1961728" cy="194310"/>
          </a:xfrm>
          <a:prstGeom prst="rect">
            <a:avLst/>
          </a:prstGeom>
          <a:noFill/>
        </p:spPr>
        <p:txBody>
          <a:bodyPr wrap="none" lIns="0" rIns="0" tIns="0" bIns="0">
            <a:spAutoFit/>
          </a:bodyPr>
          <a:lstStyle/>
          <a:p>
            <a:r>
              <a:rPr sz="1150" b="0">
                <a:solidFill>
                  <a:srgbClr val="2E2E2E"/>
                </a:solidFill>
                <a:latin typeface="Calibri"/>
              </a:rPr>
              <a:t>versus North America, 'U.S.' the</a:t>
            </a:r>
          </a:p>
        </p:txBody>
      </p:sp>
      <p:sp>
        <p:nvSpPr>
          <p:cNvPr id="107" name="TextBox 106"/>
          <p:cNvSpPr txBox="1"/>
          <p:nvPr/>
        </p:nvSpPr>
        <p:spPr>
          <a:xfrm>
            <a:off x="8048625" y="3154490"/>
            <a:ext cx="842962" cy="194310"/>
          </a:xfrm>
          <a:prstGeom prst="rect">
            <a:avLst/>
          </a:prstGeom>
          <a:noFill/>
        </p:spPr>
        <p:txBody>
          <a:bodyPr wrap="none" lIns="0" rIns="0" tIns="0" bIns="0">
            <a:spAutoFit/>
          </a:bodyPr>
          <a:lstStyle/>
          <a:p>
            <a:r>
              <a:rPr sz="1150" b="0">
                <a:solidFill>
                  <a:srgbClr val="2E2E2E"/>
                </a:solidFill>
                <a:latin typeface="Calibri"/>
              </a:rPr>
              <a:t>cheapest at -</a:t>
            </a:r>
          </a:p>
        </p:txBody>
      </p:sp>
      <p:pic>
        <p:nvPicPr>
          <p:cNvPr id="108" name="Picture 107" descr="lock.png"/>
          <p:cNvPicPr>
            <a:picLocks noChangeAspect="1"/>
          </p:cNvPicPr>
          <p:nvPr/>
        </p:nvPicPr>
        <p:blipFill>
          <a:blip r:embed="rId4"/>
          <a:stretch>
            <a:fillRect/>
          </a:stretch>
        </p:blipFill>
        <p:spPr>
          <a:xfrm>
            <a:off x="8840741" y="3144267"/>
            <a:ext cx="134549" cy="195707"/>
          </a:xfrm>
          <a:prstGeom prst="rect">
            <a:avLst/>
          </a:prstGeom>
        </p:spPr>
      </p:pic>
      <p:sp>
        <p:nvSpPr>
          <p:cNvPr id="109" name="TextBox 108"/>
          <p:cNvSpPr txBox="1"/>
          <p:nvPr/>
        </p:nvSpPr>
        <p:spPr>
          <a:xfrm>
            <a:off x="9015850" y="3154490"/>
            <a:ext cx="2728205" cy="194310"/>
          </a:xfrm>
          <a:prstGeom prst="rect">
            <a:avLst/>
          </a:prstGeom>
          <a:noFill/>
        </p:spPr>
        <p:txBody>
          <a:bodyPr wrap="none" lIns="0" rIns="0" tIns="0" bIns="0">
            <a:spAutoFit/>
          </a:bodyPr>
          <a:lstStyle/>
          <a:p>
            <a:r>
              <a:rPr sz="1150" b="0">
                <a:solidFill>
                  <a:srgbClr val="2E2E2E"/>
                </a:solidFill>
                <a:latin typeface="Calibri"/>
              </a:rPr>
              <a:t>pointing to premiumisation headroom in the</a:t>
            </a:r>
          </a:p>
        </p:txBody>
      </p:sp>
      <p:sp>
        <p:nvSpPr>
          <p:cNvPr id="110" name="TextBox 109"/>
          <p:cNvSpPr txBox="1"/>
          <p:nvPr/>
        </p:nvSpPr>
        <p:spPr>
          <a:xfrm>
            <a:off x="8048625" y="3329750"/>
            <a:ext cx="1458540" cy="194310"/>
          </a:xfrm>
          <a:prstGeom prst="rect">
            <a:avLst/>
          </a:prstGeom>
          <a:noFill/>
        </p:spPr>
        <p:txBody>
          <a:bodyPr wrap="none" lIns="0" rIns="0" tIns="0" bIns="0">
            <a:spAutoFit/>
          </a:bodyPr>
          <a:lstStyle/>
          <a:p>
            <a:r>
              <a:rPr sz="1150" b="0">
                <a:solidFill>
                  <a:srgbClr val="2E2E2E"/>
                </a:solidFill>
                <a:latin typeface="Calibri"/>
              </a:rPr>
              <a:t>lower-priced countries.</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49054" cy="186689"/>
          </a:xfrm>
          <a:prstGeom prst="rect">
            <a:avLst/>
          </a:prstGeom>
          <a:noFill/>
        </p:spPr>
        <p:txBody>
          <a:bodyPr wrap="none" lIns="0" rIns="0" tIns="0" bIns="0">
            <a:spAutoFit/>
          </a:bodyPr>
          <a:lstStyle/>
          <a:p>
            <a:r>
              <a:rPr sz="1100" b="0">
                <a:solidFill>
                  <a:srgbClr val="2E2E2E"/>
                </a:solidFill>
                <a:latin typeface="Calibri"/>
              </a:rPr>
              <a:t>Removable partial dentures market value in North America is</a:t>
            </a:r>
          </a:p>
        </p:txBody>
      </p:sp>
      <p:sp>
        <p:nvSpPr>
          <p:cNvPr id="36" name="TextBox 35"/>
          <p:cNvSpPr txBox="1"/>
          <p:nvPr/>
        </p:nvSpPr>
        <p:spPr>
          <a:xfrm>
            <a:off x="8048625" y="2214627"/>
            <a:ext cx="1256555" cy="186689"/>
          </a:xfrm>
          <a:prstGeom prst="rect">
            <a:avLst/>
          </a:prstGeom>
          <a:noFill/>
        </p:spPr>
        <p:txBody>
          <a:bodyPr wrap="none" lIns="0" rIns="0" tIns="0" bIns="0">
            <a:spAutoFit/>
          </a:bodyPr>
          <a:lstStyle/>
          <a:p>
            <a:r>
              <a:rPr sz="1100" b="0">
                <a:solidFill>
                  <a:srgbClr val="2E2E2E"/>
                </a:solidFill>
                <a:latin typeface="Calibri"/>
              </a:rPr>
              <a:t>expected to increase</a:t>
            </a:r>
          </a:p>
        </p:txBody>
      </p:sp>
      <p:pic>
        <p:nvPicPr>
          <p:cNvPr id="37" name="Picture 36" descr="lock.png"/>
          <p:cNvPicPr>
            <a:picLocks noChangeAspect="1"/>
          </p:cNvPicPr>
          <p:nvPr/>
        </p:nvPicPr>
        <p:blipFill>
          <a:blip r:embed="rId6"/>
          <a:stretch>
            <a:fillRect/>
          </a:stretch>
        </p:blipFill>
        <p:spPr>
          <a:xfrm>
            <a:off x="9253232" y="2204848"/>
            <a:ext cx="128699" cy="187198"/>
          </a:xfrm>
          <a:prstGeom prst="rect">
            <a:avLst/>
          </a:prstGeom>
        </p:spPr>
      </p:pic>
      <p:sp>
        <p:nvSpPr>
          <p:cNvPr id="38" name="TextBox 37"/>
          <p:cNvSpPr txBox="1"/>
          <p:nvPr/>
        </p:nvSpPr>
        <p:spPr>
          <a:xfrm>
            <a:off x="9420728" y="2214627"/>
            <a:ext cx="2306215" cy="186689"/>
          </a:xfrm>
          <a:prstGeom prst="rect">
            <a:avLst/>
          </a:prstGeom>
          <a:noFill/>
        </p:spPr>
        <p:txBody>
          <a:bodyPr wrap="none" lIns="0" rIns="0" tIns="0" bIns="0">
            <a:spAutoFit/>
          </a:bodyPr>
          <a:lstStyle/>
          <a:p>
            <a:r>
              <a:rPr sz="1100" b="0">
                <a:solidFill>
                  <a:srgbClr val="2E2E2E"/>
                </a:solidFill>
                <a:latin typeface="Calibri"/>
              </a:rPr>
              <a:t>X between 2025 and 2036. In 2025, the</a:t>
            </a:r>
          </a:p>
        </p:txBody>
      </p:sp>
      <p:sp>
        <p:nvSpPr>
          <p:cNvPr id="39" name="TextBox 38"/>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removable partial dentures market in North America was valued at</a:t>
            </a:r>
          </a:p>
        </p:txBody>
      </p:sp>
      <p:sp>
        <p:nvSpPr>
          <p:cNvPr id="40" name="TextBox 39"/>
          <p:cNvSpPr txBox="1"/>
          <p:nvPr/>
        </p:nvSpPr>
        <p:spPr>
          <a:xfrm>
            <a:off x="8048625" y="2549907"/>
            <a:ext cx="301029" cy="186689"/>
          </a:xfrm>
          <a:prstGeom prst="rect">
            <a:avLst/>
          </a:prstGeom>
          <a:noFill/>
        </p:spPr>
        <p:txBody>
          <a:bodyPr wrap="none" lIns="0" rIns="0" tIns="0" bIns="0">
            <a:spAutoFit/>
          </a:bodyPr>
          <a:lstStyle/>
          <a:p>
            <a:r>
              <a:rPr sz="1100" b="0">
                <a:solidFill>
                  <a:srgbClr val="2E2E2E"/>
                </a:solidFill>
                <a:latin typeface="Calibri"/>
              </a:rPr>
              <a:t>US$</a:t>
            </a:r>
          </a:p>
        </p:txBody>
      </p:sp>
      <p:pic>
        <p:nvPicPr>
          <p:cNvPr id="41" name="Picture 40" descr="lock.png"/>
          <p:cNvPicPr>
            <a:picLocks noChangeAspect="1"/>
          </p:cNvPicPr>
          <p:nvPr/>
        </p:nvPicPr>
        <p:blipFill>
          <a:blip r:embed="rId6"/>
          <a:stretch>
            <a:fillRect/>
          </a:stretch>
        </p:blipFill>
        <p:spPr>
          <a:xfrm>
            <a:off x="8297706" y="2540128"/>
            <a:ext cx="128699" cy="187198"/>
          </a:xfrm>
          <a:prstGeom prst="rect">
            <a:avLst/>
          </a:prstGeom>
        </p:spPr>
      </p:pic>
      <p:sp>
        <p:nvSpPr>
          <p:cNvPr id="42" name="TextBox 41"/>
          <p:cNvSpPr txBox="1"/>
          <p:nvPr/>
        </p:nvSpPr>
        <p:spPr>
          <a:xfrm>
            <a:off x="8465202" y="2549907"/>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43" name="Picture 42" descr="lock.png"/>
          <p:cNvPicPr>
            <a:picLocks noChangeAspect="1"/>
          </p:cNvPicPr>
          <p:nvPr/>
        </p:nvPicPr>
        <p:blipFill>
          <a:blip r:embed="rId6"/>
          <a:stretch>
            <a:fillRect/>
          </a:stretch>
        </p:blipFill>
        <p:spPr>
          <a:xfrm>
            <a:off x="10739114" y="2540128"/>
            <a:ext cx="128699" cy="187198"/>
          </a:xfrm>
          <a:prstGeom prst="rect">
            <a:avLst/>
          </a:prstGeom>
        </p:spPr>
      </p:pic>
      <p:sp>
        <p:nvSpPr>
          <p:cNvPr id="44" name="TextBox 43"/>
          <p:cNvSpPr txBox="1"/>
          <p:nvPr/>
        </p:nvSpPr>
        <p:spPr>
          <a:xfrm>
            <a:off x="10906610" y="2549907"/>
            <a:ext cx="907033" cy="186689"/>
          </a:xfrm>
          <a:prstGeom prst="rect">
            <a:avLst/>
          </a:prstGeom>
          <a:noFill/>
        </p:spPr>
        <p:txBody>
          <a:bodyPr wrap="none" lIns="0" rIns="0" tIns="0" bIns="0">
            <a:spAutoFit/>
          </a:bodyPr>
          <a:lstStyle/>
          <a:p>
            <a:r>
              <a:rPr sz="1100" b="0">
                <a:solidFill>
                  <a:srgbClr val="2E2E2E"/>
                </a:solidFill>
                <a:latin typeface="Calibri"/>
              </a:rPr>
              <a:t>Mn by the end</a:t>
            </a:r>
          </a:p>
        </p:txBody>
      </p:sp>
      <p:sp>
        <p:nvSpPr>
          <p:cNvPr id="45" name="TextBox 44"/>
          <p:cNvSpPr txBox="1"/>
          <p:nvPr/>
        </p:nvSpPr>
        <p:spPr>
          <a:xfrm>
            <a:off x="8048625" y="2717547"/>
            <a:ext cx="2392436" cy="186689"/>
          </a:xfrm>
          <a:prstGeom prst="rect">
            <a:avLst/>
          </a:prstGeom>
          <a:noFill/>
        </p:spPr>
        <p:txBody>
          <a:bodyPr wrap="none" lIns="0" rIns="0" tIns="0" bIns="0">
            <a:spAutoFit/>
          </a:bodyPr>
          <a:lstStyle/>
          <a:p>
            <a:r>
              <a:rPr sz="1100" b="0">
                <a:solidFill>
                  <a:srgbClr val="2E2E2E"/>
                </a:solidFill>
                <a:latin typeface="Calibri"/>
              </a:rPr>
              <a:t>of 2026, reflecting a Y-o-Y growth rate of</a:t>
            </a:r>
          </a:p>
        </p:txBody>
      </p:sp>
      <p:pic>
        <p:nvPicPr>
          <p:cNvPr id="46" name="Picture 45" descr="lock.png"/>
          <p:cNvPicPr>
            <a:picLocks noChangeAspect="1"/>
          </p:cNvPicPr>
          <p:nvPr/>
        </p:nvPicPr>
        <p:blipFill>
          <a:blip r:embed="rId6"/>
          <a:stretch>
            <a:fillRect/>
          </a:stretch>
        </p:blipFill>
        <p:spPr>
          <a:xfrm>
            <a:off x="10389113" y="2707768"/>
            <a:ext cx="128699" cy="187198"/>
          </a:xfrm>
          <a:prstGeom prst="rect">
            <a:avLst/>
          </a:prstGeom>
        </p:spPr>
      </p:pic>
      <p:sp>
        <p:nvSpPr>
          <p:cNvPr id="47" name="TextBox 46"/>
          <p:cNvSpPr txBox="1"/>
          <p:nvPr/>
        </p:nvSpPr>
        <p:spPr>
          <a:xfrm>
            <a:off x="10556609"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491210" cy="186689"/>
          </a:xfrm>
          <a:prstGeom prst="rect">
            <a:avLst/>
          </a:prstGeom>
          <a:noFill/>
        </p:spPr>
        <p:txBody>
          <a:bodyPr wrap="none" lIns="0" rIns="0" tIns="0" bIns="0">
            <a:spAutoFit/>
          </a:bodyPr>
          <a:lstStyle/>
          <a:p>
            <a:r>
              <a:rPr sz="1100" b="0">
                <a:solidFill>
                  <a:srgbClr val="2E2E2E"/>
                </a:solidFill>
                <a:latin typeface="Calibri"/>
              </a:rPr>
              <a:t>The market in North America is expected to account for US$</a:t>
            </a:r>
          </a:p>
        </p:txBody>
      </p:sp>
      <p:pic>
        <p:nvPicPr>
          <p:cNvPr id="49" name="Picture 48" descr="lock.png"/>
          <p:cNvPicPr>
            <a:picLocks noChangeAspect="1"/>
          </p:cNvPicPr>
          <p:nvPr/>
        </p:nvPicPr>
        <p:blipFill>
          <a:blip r:embed="rId6"/>
          <a:stretch>
            <a:fillRect/>
          </a:stretch>
        </p:blipFill>
        <p:spPr>
          <a:xfrm>
            <a:off x="8035157" y="3093340"/>
            <a:ext cx="128699" cy="187198"/>
          </a:xfrm>
          <a:prstGeom prst="rect">
            <a:avLst/>
          </a:prstGeom>
        </p:spPr>
      </p:pic>
      <p:sp>
        <p:nvSpPr>
          <p:cNvPr id="50" name="TextBox 49"/>
          <p:cNvSpPr txBox="1"/>
          <p:nvPr/>
        </p:nvSpPr>
        <p:spPr>
          <a:xfrm>
            <a:off x="8202653" y="3103119"/>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51" name="Picture 50" descr="lock.png"/>
          <p:cNvPicPr>
            <a:picLocks noChangeAspect="1"/>
          </p:cNvPicPr>
          <p:nvPr/>
        </p:nvPicPr>
        <p:blipFill>
          <a:blip r:embed="rId6"/>
          <a:stretch>
            <a:fillRect/>
          </a:stretch>
        </p:blipFill>
        <p:spPr>
          <a:xfrm>
            <a:off x="9646261" y="3093340"/>
            <a:ext cx="128699" cy="187198"/>
          </a:xfrm>
          <a:prstGeom prst="rect">
            <a:avLst/>
          </a:prstGeom>
        </p:spPr>
      </p:pic>
      <p:sp>
        <p:nvSpPr>
          <p:cNvPr id="52" name="TextBox 51"/>
          <p:cNvSpPr txBox="1"/>
          <p:nvPr/>
        </p:nvSpPr>
        <p:spPr>
          <a:xfrm>
            <a:off x="9813757" y="3103119"/>
            <a:ext cx="1849462" cy="186689"/>
          </a:xfrm>
          <a:prstGeom prst="rect">
            <a:avLst/>
          </a:prstGeom>
          <a:noFill/>
        </p:spPr>
        <p:txBody>
          <a:bodyPr wrap="none" lIns="0" rIns="0" tIns="0" bIns="0">
            <a:spAutoFit/>
          </a:bodyPr>
          <a:lstStyle/>
          <a:p>
            <a:r>
              <a:rPr sz="1100" b="0">
                <a:solidFill>
                  <a:srgbClr val="2E2E2E"/>
                </a:solidFill>
                <a:latin typeface="Calibri"/>
              </a:rPr>
              <a:t>over the forecast period. North</a:t>
            </a:r>
          </a:p>
        </p:txBody>
      </p:sp>
      <p:sp>
        <p:nvSpPr>
          <p:cNvPr id="53" name="TextBox 52"/>
          <p:cNvSpPr txBox="1"/>
          <p:nvPr/>
        </p:nvSpPr>
        <p:spPr>
          <a:xfrm>
            <a:off x="8048625" y="3270759"/>
            <a:ext cx="3764880" cy="186689"/>
          </a:xfrm>
          <a:prstGeom prst="rect">
            <a:avLst/>
          </a:prstGeom>
          <a:noFill/>
        </p:spPr>
        <p:txBody>
          <a:bodyPr wrap="none" lIns="0" rIns="0" tIns="0" bIns="0">
            <a:spAutoFit/>
          </a:bodyPr>
          <a:lstStyle/>
          <a:p>
            <a:r>
              <a:rPr sz="1100" b="0">
                <a:solidFill>
                  <a:srgbClr val="2E2E2E"/>
                </a:solidFill>
                <a:latin typeface="Calibri"/>
              </a:rPr>
              <a:t>America is expected to create an incremental opportunity of US$</a:t>
            </a:r>
          </a:p>
        </p:txBody>
      </p:sp>
      <p:pic>
        <p:nvPicPr>
          <p:cNvPr id="54" name="Picture 53" descr="lock.png"/>
          <p:cNvPicPr>
            <a:picLocks noChangeAspect="1"/>
          </p:cNvPicPr>
          <p:nvPr/>
        </p:nvPicPr>
        <p:blipFill>
          <a:blip r:embed="rId6"/>
          <a:stretch>
            <a:fillRect/>
          </a:stretch>
        </p:blipFill>
        <p:spPr>
          <a:xfrm>
            <a:off x="8035157" y="3428620"/>
            <a:ext cx="128699" cy="187198"/>
          </a:xfrm>
          <a:prstGeom prst="rect">
            <a:avLst/>
          </a:prstGeom>
        </p:spPr>
      </p:pic>
      <p:sp>
        <p:nvSpPr>
          <p:cNvPr id="55" name="TextBox 54"/>
          <p:cNvSpPr txBox="1"/>
          <p:nvPr/>
        </p:nvSpPr>
        <p:spPr>
          <a:xfrm>
            <a:off x="8202653" y="3438399"/>
            <a:ext cx="3433365" cy="186689"/>
          </a:xfrm>
          <a:prstGeom prst="rect">
            <a:avLst/>
          </a:prstGeom>
          <a:noFill/>
        </p:spPr>
        <p:txBody>
          <a:bodyPr wrap="none" lIns="0" rIns="0" tIns="0" bIns="0">
            <a:spAutoFit/>
          </a:bodyPr>
          <a:lstStyle/>
          <a:p>
            <a:r>
              <a:rPr sz="1100" b="0">
                <a:solidFill>
                  <a:srgbClr val="2E2E2E"/>
                </a:solidFill>
                <a:latin typeface="Calibri"/>
              </a:rPr>
              <a:t>Mn for the overall removable partial dentures market from</a:t>
            </a:r>
          </a:p>
        </p:txBody>
      </p:sp>
      <p:sp>
        <p:nvSpPr>
          <p:cNvPr id="56" name="TextBox 55"/>
          <p:cNvSpPr txBox="1"/>
          <p:nvPr/>
        </p:nvSpPr>
        <p:spPr>
          <a:xfrm>
            <a:off x="8048625" y="3606039"/>
            <a:ext cx="862831" cy="186689"/>
          </a:xfrm>
          <a:prstGeom prst="rect">
            <a:avLst/>
          </a:prstGeom>
          <a:noFill/>
        </p:spPr>
        <p:txBody>
          <a:bodyPr wrap="none" lIns="0" rIns="0" tIns="0" bIns="0">
            <a:spAutoFit/>
          </a:bodyPr>
          <a:lstStyle/>
          <a:p>
            <a:r>
              <a:rPr sz="1100" b="0">
                <a:solidFill>
                  <a:srgbClr val="2E2E2E"/>
                </a:solidFill>
                <a:latin typeface="Calibri"/>
              </a:rPr>
              <a:t>2025 to 2036.</a:t>
            </a:r>
          </a:p>
        </p:txBody>
      </p:sp>
      <p:sp>
        <p:nvSpPr>
          <p:cNvPr id="57" name="TextBox 56"/>
          <p:cNvSpPr txBox="1"/>
          <p:nvPr/>
        </p:nvSpPr>
        <p:spPr>
          <a:xfrm>
            <a:off x="8048625" y="3823971"/>
            <a:ext cx="2837184" cy="186689"/>
          </a:xfrm>
          <a:prstGeom prst="rect">
            <a:avLst/>
          </a:prstGeom>
          <a:noFill/>
        </p:spPr>
        <p:txBody>
          <a:bodyPr wrap="none" lIns="0" rIns="0" tIns="0" bIns="0">
            <a:spAutoFit/>
          </a:bodyPr>
          <a:lstStyle/>
          <a:p>
            <a:r>
              <a:rPr sz="1100" b="0">
                <a:solidFill>
                  <a:srgbClr val="2E2E2E"/>
                </a:solidFill>
                <a:latin typeface="Calibri"/>
              </a:rPr>
              <a:t>Absolute $ value for 2026 is estimated to be US$</a:t>
            </a:r>
          </a:p>
        </p:txBody>
      </p:sp>
      <p:pic>
        <p:nvPicPr>
          <p:cNvPr id="58" name="Picture 57" descr="lock.png"/>
          <p:cNvPicPr>
            <a:picLocks noChangeAspect="1"/>
          </p:cNvPicPr>
          <p:nvPr/>
        </p:nvPicPr>
        <p:blipFill>
          <a:blip r:embed="rId6"/>
          <a:stretch>
            <a:fillRect/>
          </a:stretch>
        </p:blipFill>
        <p:spPr>
          <a:xfrm>
            <a:off x="10833861" y="3814192"/>
            <a:ext cx="128699" cy="187198"/>
          </a:xfrm>
          <a:prstGeom prst="rect">
            <a:avLst/>
          </a:prstGeom>
        </p:spPr>
      </p:pic>
      <p:sp>
        <p:nvSpPr>
          <p:cNvPr id="59" name="TextBox 58"/>
          <p:cNvSpPr txBox="1"/>
          <p:nvPr/>
        </p:nvSpPr>
        <p:spPr>
          <a:xfrm>
            <a:off x="11001357" y="3823971"/>
            <a:ext cx="304303" cy="186689"/>
          </a:xfrm>
          <a:prstGeom prst="rect">
            <a:avLst/>
          </a:prstGeom>
          <a:noFill/>
        </p:spPr>
        <p:txBody>
          <a:bodyPr wrap="none" lIns="0" rIns="0" tIns="0" bIns="0">
            <a:spAutoFit/>
          </a:bodyPr>
          <a:lstStyle/>
          <a:p>
            <a:r>
              <a:rPr sz="1100" b="0">
                <a:solidFill>
                  <a:srgbClr val="2E2E2E"/>
                </a:solidFill>
                <a:latin typeface="Calibri"/>
              </a:rPr>
              <a:t>Mn.</a:t>
            </a:r>
          </a:p>
        </p:txBody>
      </p:sp>
      <p:sp>
        <p:nvSpPr>
          <p:cNvPr id="60" name="TextBox 59"/>
          <p:cNvSpPr txBox="1"/>
          <p:nvPr/>
        </p:nvSpPr>
        <p:spPr>
          <a:xfrm>
            <a:off x="8048625" y="5152979"/>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61" name="Picture 60" descr="lock.png"/>
          <p:cNvPicPr>
            <a:picLocks noChangeAspect="1"/>
          </p:cNvPicPr>
          <p:nvPr/>
        </p:nvPicPr>
        <p:blipFill>
          <a:blip r:embed="rId6"/>
          <a:stretch>
            <a:fillRect/>
          </a:stretch>
        </p:blipFill>
        <p:spPr>
          <a:xfrm>
            <a:off x="10136079" y="5142755"/>
            <a:ext cx="134549" cy="195707"/>
          </a:xfrm>
          <a:prstGeom prst="rect">
            <a:avLst/>
          </a:prstGeom>
        </p:spPr>
      </p:pic>
      <p:sp>
        <p:nvSpPr>
          <p:cNvPr id="62" name="TextBox 61"/>
          <p:cNvSpPr txBox="1"/>
          <p:nvPr/>
        </p:nvSpPr>
        <p:spPr>
          <a:xfrm>
            <a:off x="10311188" y="5152979"/>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3" name="TextBox 62"/>
          <p:cNvSpPr txBox="1"/>
          <p:nvPr/>
        </p:nvSpPr>
        <p:spPr>
          <a:xfrm>
            <a:off x="8048625" y="5380816"/>
            <a:ext cx="3569419" cy="194310"/>
          </a:xfrm>
          <a:prstGeom prst="rect">
            <a:avLst/>
          </a:prstGeom>
          <a:noFill/>
        </p:spPr>
        <p:txBody>
          <a:bodyPr wrap="none" lIns="0" rIns="0" tIns="0" bIns="0">
            <a:spAutoFit/>
          </a:bodyPr>
          <a:lstStyle/>
          <a:p>
            <a:r>
              <a:rPr sz="1150" b="0">
                <a:solidFill>
                  <a:srgbClr val="2E2E2E"/>
                </a:solidFill>
                <a:latin typeface="Calibri"/>
              </a:rPr>
              <a:t>▪ Demand concentrates in 'Flexible Partial Dentures' within</a:t>
            </a:r>
          </a:p>
        </p:txBody>
      </p:sp>
      <p:sp>
        <p:nvSpPr>
          <p:cNvPr id="64" name="TextBox 63"/>
          <p:cNvSpPr txBox="1"/>
          <p:nvPr/>
        </p:nvSpPr>
        <p:spPr>
          <a:xfrm>
            <a:off x="8048625" y="5556076"/>
            <a:ext cx="901154" cy="194310"/>
          </a:xfrm>
          <a:prstGeom prst="rect">
            <a:avLst/>
          </a:prstGeom>
          <a:noFill/>
        </p:spPr>
        <p:txBody>
          <a:bodyPr wrap="none" lIns="0" rIns="0" tIns="0" bIns="0">
            <a:spAutoFit/>
          </a:bodyPr>
          <a:lstStyle/>
          <a:p>
            <a:r>
              <a:rPr sz="1150" b="0">
                <a:solidFill>
                  <a:srgbClr val="2E2E2E"/>
                </a:solidFill>
                <a:latin typeface="Calibri"/>
              </a:rPr>
              <a:t>Product Type.</a:t>
            </a:r>
          </a:p>
        </p:txBody>
      </p:sp>
      <p:sp>
        <p:nvSpPr>
          <p:cNvPr id="65" name="TextBox 64"/>
          <p:cNvSpPr txBox="1"/>
          <p:nvPr/>
        </p:nvSpPr>
        <p:spPr>
          <a:xfrm>
            <a:off x="8048625" y="5783914"/>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66" name="TextBox 65"/>
          <p:cNvSpPr txBox="1"/>
          <p:nvPr/>
        </p:nvSpPr>
        <p:spPr>
          <a:xfrm>
            <a:off x="8048625" y="6011752"/>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5356" y="2029222"/>
            <a:ext cx="202455" cy="294480"/>
          </a:xfrm>
          <a:prstGeom prst="rect">
            <a:avLst/>
          </a:prstGeom>
        </p:spPr>
      </p:pic>
      <p:pic>
        <p:nvPicPr>
          <p:cNvPr id="27" name="Picture 26" descr="lock.png"/>
          <p:cNvPicPr>
            <a:picLocks noChangeAspect="1"/>
          </p:cNvPicPr>
          <p:nvPr/>
        </p:nvPicPr>
        <p:blipFill>
          <a:blip r:embed="rId6"/>
          <a:stretch>
            <a:fillRect/>
          </a:stretch>
        </p:blipFill>
        <p:spPr>
          <a:xfrm>
            <a:off x="8532694" y="1990329"/>
            <a:ext cx="255933" cy="372266"/>
          </a:xfrm>
          <a:prstGeom prst="rect">
            <a:avLst/>
          </a:prstGeom>
        </p:spPr>
      </p:pic>
      <p:pic>
        <p:nvPicPr>
          <p:cNvPr id="28" name="Picture 27" descr="lock.png"/>
          <p:cNvPicPr>
            <a:picLocks noChangeAspect="1"/>
          </p:cNvPicPr>
          <p:nvPr/>
        </p:nvPicPr>
        <p:blipFill>
          <a:blip r:embed="rId6"/>
          <a:stretch>
            <a:fillRect/>
          </a:stretch>
        </p:blipFill>
        <p:spPr>
          <a:xfrm>
            <a:off x="1321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3950970"/>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3950970"/>
            <a:ext cx="157162" cy="228600"/>
          </a:xfrm>
          <a:prstGeom prst="rect">
            <a:avLst/>
          </a:prstGeom>
        </p:spPr>
      </p:pic>
      <p:sp>
        <p:nvSpPr>
          <p:cNvPr id="32" name="TextBox 31"/>
          <p:cNvSpPr txBox="1"/>
          <p:nvPr/>
        </p:nvSpPr>
        <p:spPr>
          <a:xfrm>
            <a:off x="276225" y="4876800"/>
            <a:ext cx="4761061" cy="186689"/>
          </a:xfrm>
          <a:prstGeom prst="rect">
            <a:avLst/>
          </a:prstGeom>
          <a:noFill/>
        </p:spPr>
        <p:txBody>
          <a:bodyPr wrap="none" lIns="0" rIns="0" tIns="0" bIns="0">
            <a:spAutoFit/>
          </a:bodyPr>
          <a:lstStyle/>
          <a:p>
            <a:r>
              <a:rPr sz="1100" b="0">
                <a:solidFill>
                  <a:srgbClr val="2E2E2E"/>
                </a:solidFill>
                <a:latin typeface="Calibri"/>
              </a:rPr>
              <a:t>Removable partial dentures market value in North America is expected to increase</a:t>
            </a:r>
          </a:p>
        </p:txBody>
      </p:sp>
      <p:pic>
        <p:nvPicPr>
          <p:cNvPr id="33" name="Picture 32" descr="lock.png"/>
          <p:cNvPicPr>
            <a:picLocks noChangeAspect="1"/>
          </p:cNvPicPr>
          <p:nvPr/>
        </p:nvPicPr>
        <p:blipFill>
          <a:blip r:embed="rId6"/>
          <a:stretch>
            <a:fillRect/>
          </a:stretch>
        </p:blipFill>
        <p:spPr>
          <a:xfrm>
            <a:off x="4985337" y="4867021"/>
            <a:ext cx="128699" cy="187198"/>
          </a:xfrm>
          <a:prstGeom prst="rect">
            <a:avLst/>
          </a:prstGeom>
        </p:spPr>
      </p:pic>
      <p:sp>
        <p:nvSpPr>
          <p:cNvPr id="34" name="TextBox 33"/>
          <p:cNvSpPr txBox="1"/>
          <p:nvPr/>
        </p:nvSpPr>
        <p:spPr>
          <a:xfrm>
            <a:off x="5152833" y="4876800"/>
            <a:ext cx="6393532" cy="186689"/>
          </a:xfrm>
          <a:prstGeom prst="rect">
            <a:avLst/>
          </a:prstGeom>
          <a:noFill/>
        </p:spPr>
        <p:txBody>
          <a:bodyPr wrap="none" lIns="0" rIns="0" tIns="0" bIns="0">
            <a:spAutoFit/>
          </a:bodyPr>
          <a:lstStyle/>
          <a:p>
            <a:r>
              <a:rPr sz="1100" b="0">
                <a:solidFill>
                  <a:srgbClr val="2E2E2E"/>
                </a:solidFill>
                <a:latin typeface="Calibri"/>
              </a:rPr>
              <a:t>X between 2025 and 2036. In 2025, the removable partial dentures market in North America was valued at US$</a:t>
            </a:r>
          </a:p>
        </p:txBody>
      </p:sp>
      <p:pic>
        <p:nvPicPr>
          <p:cNvPr id="35" name="Picture 34" descr="lock.png"/>
          <p:cNvPicPr>
            <a:picLocks noChangeAspect="1"/>
          </p:cNvPicPr>
          <p:nvPr/>
        </p:nvPicPr>
        <p:blipFill>
          <a:blip r:embed="rId6"/>
          <a:stretch>
            <a:fillRect/>
          </a:stretch>
        </p:blipFill>
        <p:spPr>
          <a:xfrm>
            <a:off x="262757" y="5034660"/>
            <a:ext cx="128699" cy="187198"/>
          </a:xfrm>
          <a:prstGeom prst="rect">
            <a:avLst/>
          </a:prstGeom>
        </p:spPr>
      </p:pic>
      <p:sp>
        <p:nvSpPr>
          <p:cNvPr id="36" name="TextBox 35"/>
          <p:cNvSpPr txBox="1"/>
          <p:nvPr/>
        </p:nvSpPr>
        <p:spPr>
          <a:xfrm>
            <a:off x="430253" y="5044440"/>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37" name="Picture 36" descr="lock.png"/>
          <p:cNvPicPr>
            <a:picLocks noChangeAspect="1"/>
          </p:cNvPicPr>
          <p:nvPr/>
        </p:nvPicPr>
        <p:blipFill>
          <a:blip r:embed="rId6"/>
          <a:stretch>
            <a:fillRect/>
          </a:stretch>
        </p:blipFill>
        <p:spPr>
          <a:xfrm>
            <a:off x="2704166" y="5034660"/>
            <a:ext cx="128699" cy="187198"/>
          </a:xfrm>
          <a:prstGeom prst="rect">
            <a:avLst/>
          </a:prstGeom>
        </p:spPr>
      </p:pic>
      <p:sp>
        <p:nvSpPr>
          <p:cNvPr id="38" name="TextBox 37"/>
          <p:cNvSpPr txBox="1"/>
          <p:nvPr/>
        </p:nvSpPr>
        <p:spPr>
          <a:xfrm>
            <a:off x="2871661" y="5044440"/>
            <a:ext cx="3254920" cy="186689"/>
          </a:xfrm>
          <a:prstGeom prst="rect">
            <a:avLst/>
          </a:prstGeom>
          <a:noFill/>
        </p:spPr>
        <p:txBody>
          <a:bodyPr wrap="none" lIns="0" rIns="0" tIns="0" bIns="0">
            <a:spAutoFit/>
          </a:bodyPr>
          <a:lstStyle/>
          <a:p>
            <a:r>
              <a:rPr sz="1100" b="0">
                <a:solidFill>
                  <a:srgbClr val="2E2E2E"/>
                </a:solidFill>
                <a:latin typeface="Calibri"/>
              </a:rPr>
              <a:t>Mn by the end of 2026, reflecting a Y-o-Y growth rate of</a:t>
            </a:r>
          </a:p>
        </p:txBody>
      </p:sp>
      <p:pic>
        <p:nvPicPr>
          <p:cNvPr id="39" name="Picture 38" descr="lock.png"/>
          <p:cNvPicPr>
            <a:picLocks noChangeAspect="1"/>
          </p:cNvPicPr>
          <p:nvPr/>
        </p:nvPicPr>
        <p:blipFill>
          <a:blip r:embed="rId6"/>
          <a:stretch>
            <a:fillRect/>
          </a:stretch>
        </p:blipFill>
        <p:spPr>
          <a:xfrm>
            <a:off x="6074634" y="5034660"/>
            <a:ext cx="128699" cy="187198"/>
          </a:xfrm>
          <a:prstGeom prst="rect">
            <a:avLst/>
          </a:prstGeom>
        </p:spPr>
      </p:pic>
      <p:sp>
        <p:nvSpPr>
          <p:cNvPr id="40" name="TextBox 39"/>
          <p:cNvSpPr txBox="1"/>
          <p:nvPr/>
        </p:nvSpPr>
        <p:spPr>
          <a:xfrm>
            <a:off x="6242130" y="5044440"/>
            <a:ext cx="3558058" cy="186689"/>
          </a:xfrm>
          <a:prstGeom prst="rect">
            <a:avLst/>
          </a:prstGeom>
          <a:noFill/>
        </p:spPr>
        <p:txBody>
          <a:bodyPr wrap="none" lIns="0" rIns="0" tIns="0" bIns="0">
            <a:spAutoFit/>
          </a:bodyPr>
          <a:lstStyle/>
          <a:p>
            <a:r>
              <a:rPr sz="1100" b="0">
                <a:solidFill>
                  <a:srgbClr val="2E2E2E"/>
                </a:solidFill>
                <a:latin typeface="Calibri"/>
              </a:rPr>
              <a:t>. The market in North America is expected to account for US$</a:t>
            </a:r>
          </a:p>
        </p:txBody>
      </p:sp>
      <p:pic>
        <p:nvPicPr>
          <p:cNvPr id="41" name="Picture 40" descr="lock.png"/>
          <p:cNvPicPr>
            <a:picLocks noChangeAspect="1"/>
          </p:cNvPicPr>
          <p:nvPr/>
        </p:nvPicPr>
        <p:blipFill>
          <a:blip r:embed="rId6"/>
          <a:stretch>
            <a:fillRect/>
          </a:stretch>
        </p:blipFill>
        <p:spPr>
          <a:xfrm>
            <a:off x="9748240" y="5034660"/>
            <a:ext cx="128699" cy="187198"/>
          </a:xfrm>
          <a:prstGeom prst="rect">
            <a:avLst/>
          </a:prstGeom>
        </p:spPr>
      </p:pic>
      <p:sp>
        <p:nvSpPr>
          <p:cNvPr id="42" name="TextBox 41"/>
          <p:cNvSpPr txBox="1"/>
          <p:nvPr/>
        </p:nvSpPr>
        <p:spPr>
          <a:xfrm>
            <a:off x="9915736" y="50444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43" name="Picture 42" descr="lock.png"/>
          <p:cNvPicPr>
            <a:picLocks noChangeAspect="1"/>
          </p:cNvPicPr>
          <p:nvPr/>
        </p:nvPicPr>
        <p:blipFill>
          <a:blip r:embed="rId6"/>
          <a:stretch>
            <a:fillRect/>
          </a:stretch>
        </p:blipFill>
        <p:spPr>
          <a:xfrm>
            <a:off x="262757" y="5202301"/>
            <a:ext cx="128699" cy="187198"/>
          </a:xfrm>
          <a:prstGeom prst="rect">
            <a:avLst/>
          </a:prstGeom>
        </p:spPr>
      </p:pic>
      <p:sp>
        <p:nvSpPr>
          <p:cNvPr id="44" name="TextBox 43"/>
          <p:cNvSpPr txBox="1"/>
          <p:nvPr/>
        </p:nvSpPr>
        <p:spPr>
          <a:xfrm>
            <a:off x="430253" y="5212080"/>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45" name="TextBox 44"/>
          <p:cNvSpPr txBox="1"/>
          <p:nvPr/>
        </p:nvSpPr>
        <p:spPr>
          <a:xfrm>
            <a:off x="276225" y="5430012"/>
            <a:ext cx="4129682" cy="186689"/>
          </a:xfrm>
          <a:prstGeom prst="rect">
            <a:avLst/>
          </a:prstGeom>
          <a:noFill/>
        </p:spPr>
        <p:txBody>
          <a:bodyPr wrap="none" lIns="0" rIns="0" tIns="0" bIns="0">
            <a:spAutoFit/>
          </a:bodyPr>
          <a:lstStyle/>
          <a:p>
            <a:r>
              <a:rPr sz="1100" b="0">
                <a:solidFill>
                  <a:srgbClr val="2E2E2E"/>
                </a:solidFill>
                <a:latin typeface="Calibri"/>
              </a:rPr>
              <a:t>North America is expected to create an incremental opportunity of US$</a:t>
            </a:r>
          </a:p>
        </p:txBody>
      </p:sp>
      <p:pic>
        <p:nvPicPr>
          <p:cNvPr id="46" name="Picture 45" descr="lock.png"/>
          <p:cNvPicPr>
            <a:picLocks noChangeAspect="1"/>
          </p:cNvPicPr>
          <p:nvPr/>
        </p:nvPicPr>
        <p:blipFill>
          <a:blip r:embed="rId6"/>
          <a:stretch>
            <a:fillRect/>
          </a:stretch>
        </p:blipFill>
        <p:spPr>
          <a:xfrm>
            <a:off x="4353959" y="5420233"/>
            <a:ext cx="128699" cy="187198"/>
          </a:xfrm>
          <a:prstGeom prst="rect">
            <a:avLst/>
          </a:prstGeom>
        </p:spPr>
      </p:pic>
      <p:sp>
        <p:nvSpPr>
          <p:cNvPr id="47" name="TextBox 46"/>
          <p:cNvSpPr txBox="1"/>
          <p:nvPr/>
        </p:nvSpPr>
        <p:spPr>
          <a:xfrm>
            <a:off x="4521455" y="5430012"/>
            <a:ext cx="7044283" cy="186689"/>
          </a:xfrm>
          <a:prstGeom prst="rect">
            <a:avLst/>
          </a:prstGeom>
          <a:noFill/>
        </p:spPr>
        <p:txBody>
          <a:bodyPr wrap="none" lIns="0" rIns="0" tIns="0" bIns="0">
            <a:spAutoFit/>
          </a:bodyPr>
          <a:lstStyle/>
          <a:p>
            <a:r>
              <a:rPr sz="1100" b="0">
                <a:solidFill>
                  <a:srgbClr val="2E2E2E"/>
                </a:solidFill>
                <a:latin typeface="Calibri"/>
              </a:rPr>
              <a:t>Mn for the overall removable partial dentures market from 2025 to 2036. Absolute $ value for 2026 is estimated to be US$</a:t>
            </a:r>
          </a:p>
        </p:txBody>
      </p:sp>
      <p:pic>
        <p:nvPicPr>
          <p:cNvPr id="48" name="Picture 47" descr="lock.png"/>
          <p:cNvPicPr>
            <a:picLocks noChangeAspect="1"/>
          </p:cNvPicPr>
          <p:nvPr/>
        </p:nvPicPr>
        <p:blipFill>
          <a:blip r:embed="rId6"/>
          <a:stretch>
            <a:fillRect/>
          </a:stretch>
        </p:blipFill>
        <p:spPr>
          <a:xfrm>
            <a:off x="262757" y="5587873"/>
            <a:ext cx="128699" cy="187198"/>
          </a:xfrm>
          <a:prstGeom prst="rect">
            <a:avLst/>
          </a:prstGeom>
        </p:spPr>
      </p:pic>
      <p:sp>
        <p:nvSpPr>
          <p:cNvPr id="49" name="TextBox 48"/>
          <p:cNvSpPr txBox="1"/>
          <p:nvPr/>
        </p:nvSpPr>
        <p:spPr>
          <a:xfrm>
            <a:off x="430253" y="5597652"/>
            <a:ext cx="4507855" cy="186689"/>
          </a:xfrm>
          <a:prstGeom prst="rect">
            <a:avLst/>
          </a:prstGeom>
          <a:noFill/>
        </p:spPr>
        <p:txBody>
          <a:bodyPr wrap="none" lIns="0" rIns="0" tIns="0" bIns="0">
            <a:spAutoFit/>
          </a:bodyPr>
          <a:lstStyle/>
          <a:p>
            <a:r>
              <a:rPr sz="1100" b="0">
                <a:solidFill>
                  <a:srgbClr val="2E2E2E"/>
                </a:solidFill>
                <a:latin typeface="Calibri"/>
              </a:rPr>
              <a:t>Mn. North America removable partial dentures market is projected to register</a:t>
            </a:r>
          </a:p>
        </p:txBody>
      </p:sp>
      <p:pic>
        <p:nvPicPr>
          <p:cNvPr id="50" name="Picture 49" descr="lock.png"/>
          <p:cNvPicPr>
            <a:picLocks noChangeAspect="1"/>
          </p:cNvPicPr>
          <p:nvPr/>
        </p:nvPicPr>
        <p:blipFill>
          <a:blip r:embed="rId6"/>
          <a:stretch>
            <a:fillRect/>
          </a:stretch>
        </p:blipFill>
        <p:spPr>
          <a:xfrm>
            <a:off x="4886160" y="5587873"/>
            <a:ext cx="128699" cy="187198"/>
          </a:xfrm>
          <a:prstGeom prst="rect">
            <a:avLst/>
          </a:prstGeom>
        </p:spPr>
      </p:pic>
      <p:sp>
        <p:nvSpPr>
          <p:cNvPr id="51" name="TextBox 50"/>
          <p:cNvSpPr txBox="1"/>
          <p:nvPr/>
        </p:nvSpPr>
        <p:spPr>
          <a:xfrm>
            <a:off x="5053655" y="5597652"/>
            <a:ext cx="3314948"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a:t>
            </a:r>
          </a:p>
        </p:txBody>
      </p:sp>
      <p:sp>
        <p:nvSpPr>
          <p:cNvPr id="52" name="TextBox 51"/>
          <p:cNvSpPr txBox="1"/>
          <p:nvPr/>
        </p:nvSpPr>
        <p:spPr>
          <a:xfrm>
            <a:off x="276225" y="5815584"/>
            <a:ext cx="3884116" cy="186689"/>
          </a:xfrm>
          <a:prstGeom prst="rect">
            <a:avLst/>
          </a:prstGeom>
          <a:noFill/>
        </p:spPr>
        <p:txBody>
          <a:bodyPr wrap="none" lIns="0" rIns="0" tIns="0" bIns="0">
            <a:spAutoFit/>
          </a:bodyPr>
          <a:lstStyle/>
          <a:p>
            <a:r>
              <a:rPr sz="1100" b="0">
                <a:solidFill>
                  <a:srgbClr val="2E2E2E"/>
                </a:solidFill>
                <a:latin typeface="Calibri"/>
              </a:rPr>
              <a:t>North America removable partial dentures market volume stood at</a:t>
            </a:r>
          </a:p>
        </p:txBody>
      </p:sp>
      <p:pic>
        <p:nvPicPr>
          <p:cNvPr id="53" name="Picture 52" descr="lock.png"/>
          <p:cNvPicPr>
            <a:picLocks noChangeAspect="1"/>
          </p:cNvPicPr>
          <p:nvPr/>
        </p:nvPicPr>
        <p:blipFill>
          <a:blip r:embed="rId6"/>
          <a:stretch>
            <a:fillRect/>
          </a:stretch>
        </p:blipFill>
        <p:spPr>
          <a:xfrm>
            <a:off x="4108393" y="5805805"/>
            <a:ext cx="128699" cy="187198"/>
          </a:xfrm>
          <a:prstGeom prst="rect">
            <a:avLst/>
          </a:prstGeom>
        </p:spPr>
      </p:pic>
      <p:sp>
        <p:nvSpPr>
          <p:cNvPr id="54" name="TextBox 53"/>
          <p:cNvSpPr txBox="1"/>
          <p:nvPr/>
        </p:nvSpPr>
        <p:spPr>
          <a:xfrm>
            <a:off x="4275888" y="5815584"/>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55" name="Picture 54" descr="lock.png"/>
          <p:cNvPicPr>
            <a:picLocks noChangeAspect="1"/>
          </p:cNvPicPr>
          <p:nvPr/>
        </p:nvPicPr>
        <p:blipFill>
          <a:blip r:embed="rId6"/>
          <a:stretch>
            <a:fillRect/>
          </a:stretch>
        </p:blipFill>
        <p:spPr>
          <a:xfrm>
            <a:off x="6469037" y="5805805"/>
            <a:ext cx="128699" cy="187198"/>
          </a:xfrm>
          <a:prstGeom prst="rect">
            <a:avLst/>
          </a:prstGeom>
        </p:spPr>
      </p:pic>
      <p:sp>
        <p:nvSpPr>
          <p:cNvPr id="56" name="TextBox 55"/>
          <p:cNvSpPr txBox="1"/>
          <p:nvPr/>
        </p:nvSpPr>
        <p:spPr>
          <a:xfrm>
            <a:off x="6636533" y="5815584"/>
            <a:ext cx="1882460" cy="186689"/>
          </a:xfrm>
          <a:prstGeom prst="rect">
            <a:avLst/>
          </a:prstGeom>
          <a:noFill/>
        </p:spPr>
        <p:txBody>
          <a:bodyPr wrap="none" lIns="0" rIns="0" tIns="0" bIns="0">
            <a:spAutoFit/>
          </a:bodyPr>
          <a:lstStyle/>
          <a:p>
            <a:r>
              <a:rPr sz="1100" b="0">
                <a:solidFill>
                  <a:srgbClr val="2E2E2E"/>
                </a:solidFill>
                <a:latin typeface="Calibri"/>
              </a:rPr>
              <a:t>Units by 2036 end, at a CAGR of</a:t>
            </a:r>
          </a:p>
        </p:txBody>
      </p:sp>
      <p:pic>
        <p:nvPicPr>
          <p:cNvPr id="57" name="Picture 56" descr="lock.png"/>
          <p:cNvPicPr>
            <a:picLocks noChangeAspect="1"/>
          </p:cNvPicPr>
          <p:nvPr/>
        </p:nvPicPr>
        <p:blipFill>
          <a:blip r:embed="rId6"/>
          <a:stretch>
            <a:fillRect/>
          </a:stretch>
        </p:blipFill>
        <p:spPr>
          <a:xfrm>
            <a:off x="8467045" y="5805805"/>
            <a:ext cx="128699" cy="187198"/>
          </a:xfrm>
          <a:prstGeom prst="rect">
            <a:avLst/>
          </a:prstGeom>
        </p:spPr>
      </p:pic>
      <p:sp>
        <p:nvSpPr>
          <p:cNvPr id="58" name="TextBox 57"/>
          <p:cNvSpPr txBox="1"/>
          <p:nvPr/>
        </p:nvSpPr>
        <p:spPr>
          <a:xfrm>
            <a:off x="8634541" y="5815584"/>
            <a:ext cx="3029818" cy="186689"/>
          </a:xfrm>
          <a:prstGeom prst="rect">
            <a:avLst/>
          </a:prstGeom>
          <a:noFill/>
        </p:spPr>
        <p:txBody>
          <a:bodyPr wrap="none" lIns="0" rIns="0" tIns="0" bIns="0">
            <a:spAutoFit/>
          </a:bodyPr>
          <a:lstStyle/>
          <a:p>
            <a:r>
              <a:rPr sz="1100" b="0">
                <a:solidFill>
                  <a:srgbClr val="2E2E2E"/>
                </a:solidFill>
                <a:latin typeface="Calibri"/>
              </a:rPr>
              <a:t>. Value is projected to grow faster than volume over</a:t>
            </a:r>
          </a:p>
        </p:txBody>
      </p:sp>
      <p:sp>
        <p:nvSpPr>
          <p:cNvPr id="59" name="TextBox 58"/>
          <p:cNvSpPr txBox="1"/>
          <p:nvPr/>
        </p:nvSpPr>
        <p:spPr>
          <a:xfrm>
            <a:off x="276225" y="5983224"/>
            <a:ext cx="3765153" cy="186689"/>
          </a:xfrm>
          <a:prstGeom prst="rect">
            <a:avLst/>
          </a:prstGeom>
          <a:noFill/>
        </p:spPr>
        <p:txBody>
          <a:bodyPr wrap="none" lIns="0" rIns="0" tIns="0" bIns="0">
            <a:spAutoFit/>
          </a:bodyPr>
          <a:lstStyle/>
          <a:p>
            <a:r>
              <a:rPr sz="1100" b="0">
                <a:solidFill>
                  <a:srgbClr val="2E2E2E"/>
                </a:solidFill>
                <a:latin typeface="Calibri"/>
              </a:rPr>
              <a:t>the forecast period, owing to an increase in average selling price.</a:t>
            </a:r>
          </a:p>
        </p:txBody>
      </p:sp>
      <p:sp>
        <p:nvSpPr>
          <p:cNvPr id="60" name="lockshield_13"/>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16"/>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9"/>
            <a:ext cx="3743325" cy="1493741"/>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40"/>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9"/>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3881387" cy="186689"/>
          </a:xfrm>
          <a:prstGeom prst="rect">
            <a:avLst/>
          </a:prstGeom>
          <a:noFill/>
        </p:spPr>
        <p:txBody>
          <a:bodyPr wrap="none" lIns="0" rIns="0" tIns="0" bIns="0">
            <a:spAutoFit/>
          </a:bodyPr>
          <a:lstStyle/>
          <a:p>
            <a:r>
              <a:rPr sz="1100" b="0">
                <a:solidFill>
                  <a:srgbClr val="2E2E2E"/>
                </a:solidFill>
                <a:latin typeface="Calibri"/>
              </a:rPr>
              <a:t>The U.S. removable partial dentures market is projected to register</a:t>
            </a:r>
          </a:p>
        </p:txBody>
      </p:sp>
      <p:pic>
        <p:nvPicPr>
          <p:cNvPr id="35" name="Picture 34" descr="lock.png"/>
          <p:cNvPicPr>
            <a:picLocks noChangeAspect="1"/>
          </p:cNvPicPr>
          <p:nvPr/>
        </p:nvPicPr>
        <p:blipFill>
          <a:blip r:embed="rId6"/>
          <a:stretch>
            <a:fillRect/>
          </a:stretch>
        </p:blipFill>
        <p:spPr>
          <a:xfrm>
            <a:off x="4086614" y="6150795"/>
            <a:ext cx="128699" cy="187198"/>
          </a:xfrm>
          <a:prstGeom prst="rect">
            <a:avLst/>
          </a:prstGeom>
        </p:spPr>
      </p:pic>
      <p:sp>
        <p:nvSpPr>
          <p:cNvPr id="36" name="TextBox 35"/>
          <p:cNvSpPr txBox="1"/>
          <p:nvPr/>
        </p:nvSpPr>
        <p:spPr>
          <a:xfrm>
            <a:off x="4254110" y="6160574"/>
            <a:ext cx="4339761" cy="186689"/>
          </a:xfrm>
          <a:prstGeom prst="rect">
            <a:avLst/>
          </a:prstGeom>
          <a:noFill/>
        </p:spPr>
        <p:txBody>
          <a:bodyPr wrap="none" lIns="0" rIns="0" t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8541923" y="6150795"/>
            <a:ext cx="128699" cy="187198"/>
          </a:xfrm>
          <a:prstGeom prst="rect">
            <a:avLst/>
          </a:prstGeom>
        </p:spPr>
      </p:pic>
      <p:sp>
        <p:nvSpPr>
          <p:cNvPr id="38" name="TextBox 37"/>
          <p:cNvSpPr txBox="1"/>
          <p:nvPr/>
        </p:nvSpPr>
        <p:spPr>
          <a:xfrm>
            <a:off x="8709419"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9447450" y="6150795"/>
            <a:ext cx="128699" cy="187198"/>
          </a:xfrm>
          <a:prstGeom prst="rect">
            <a:avLst/>
          </a:prstGeom>
        </p:spPr>
      </p:pic>
      <p:sp>
        <p:nvSpPr>
          <p:cNvPr id="40" name="TextBox 39"/>
          <p:cNvSpPr txBox="1"/>
          <p:nvPr/>
        </p:nvSpPr>
        <p:spPr>
          <a:xfrm>
            <a:off x="9614946" y="6160574"/>
            <a:ext cx="1069106" cy="186689"/>
          </a:xfrm>
          <a:prstGeom prst="rect">
            <a:avLst/>
          </a:prstGeom>
          <a:noFill/>
        </p:spPr>
        <p:txBody>
          <a:bodyPr wrap="none" lIns="0" rIns="0" tIns="0" bIns="0">
            <a:spAutoFit/>
          </a:bodyPr>
          <a:lstStyle/>
          <a:p>
            <a:r>
              <a:rPr sz="1100" b="0">
                <a:solidFill>
                  <a:srgbClr val="2E2E2E"/>
                </a:solidFill>
                <a:latin typeface="Calibri"/>
              </a:rPr>
              <a:t>against the North</a:t>
            </a:r>
          </a:p>
        </p:txBody>
      </p:sp>
      <p:sp>
        <p:nvSpPr>
          <p:cNvPr id="41" name="TextBox 40"/>
          <p:cNvSpPr txBox="1"/>
          <p:nvPr/>
        </p:nvSpPr>
        <p:spPr>
          <a:xfrm>
            <a:off x="257175" y="6328214"/>
            <a:ext cx="4080842" cy="186689"/>
          </a:xfrm>
          <a:prstGeom prst="rect">
            <a:avLst/>
          </a:prstGeom>
          <a:noFill/>
        </p:spPr>
        <p:txBody>
          <a:bodyPr wrap="none" lIns="0" rIns="0" tIns="0" bIns="0">
            <a:spAutoFit/>
          </a:bodyPr>
          <a:lstStyle/>
          <a:p>
            <a:r>
              <a:rPr sz="1100" b="0">
                <a:solidFill>
                  <a:srgbClr val="2E2E2E"/>
                </a:solidFill>
                <a:latin typeface="Calibri"/>
              </a:rPr>
              <a:t>America benchmark, while U.S. offers the largest absolute opportunity</a:t>
            </a:r>
          </a:p>
        </p:txBody>
      </p:sp>
      <p:pic>
        <p:nvPicPr>
          <p:cNvPr id="42" name="Picture 41" descr="lock.png"/>
          <p:cNvPicPr>
            <a:picLocks noChangeAspect="1"/>
          </p:cNvPicPr>
          <p:nvPr/>
        </p:nvPicPr>
        <p:blipFill>
          <a:blip r:embed="rId6"/>
          <a:stretch>
            <a:fillRect/>
          </a:stretch>
        </p:blipFill>
        <p:spPr>
          <a:xfrm>
            <a:off x="4286068" y="6318435"/>
            <a:ext cx="128699" cy="187198"/>
          </a:xfrm>
          <a:prstGeom prst="rect">
            <a:avLst/>
          </a:prstGeom>
        </p:spPr>
      </p:pic>
      <p:sp>
        <p:nvSpPr>
          <p:cNvPr id="43" name="TextBox 42"/>
          <p:cNvSpPr txBox="1"/>
          <p:nvPr/>
        </p:nvSpPr>
        <p:spPr>
          <a:xfrm>
            <a:off x="4453564"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713563" y="6318435"/>
            <a:ext cx="128699" cy="187198"/>
          </a:xfrm>
          <a:prstGeom prst="rect">
            <a:avLst/>
          </a:prstGeom>
        </p:spPr>
      </p:pic>
      <p:sp>
        <p:nvSpPr>
          <p:cNvPr id="45" name="TextBox 44"/>
          <p:cNvSpPr txBox="1"/>
          <p:nvPr/>
        </p:nvSpPr>
        <p:spPr>
          <a:xfrm>
            <a:off x="7881058"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916573" cy="194310"/>
          </a:xfrm>
          <a:prstGeom prst="rect">
            <a:avLst/>
          </a:prstGeom>
          <a:noFill/>
        </p:spPr>
        <p:txBody>
          <a:bodyPr wrap="none" lIns="0" rIns="0" tIns="0" bIns="0">
            <a:spAutoFit/>
          </a:bodyPr>
          <a:lstStyle/>
          <a:p>
            <a:r>
              <a:rPr sz="1150" b="0">
                <a:solidFill>
                  <a:srgbClr val="2E2E2E"/>
                </a:solidFill>
                <a:latin typeface="Calibri"/>
              </a:rPr>
              <a:t>Global removable partial dentures market is expected to witness</a:t>
            </a:r>
          </a:p>
        </p:txBody>
      </p:sp>
      <p:pic>
        <p:nvPicPr>
          <p:cNvPr id="32" name="Picture 31" descr="lock.png"/>
          <p:cNvPicPr>
            <a:picLocks noChangeAspect="1"/>
          </p:cNvPicPr>
          <p:nvPr/>
        </p:nvPicPr>
        <p:blipFill>
          <a:blip r:embed="rId4"/>
          <a:stretch>
            <a:fillRect/>
          </a:stretch>
        </p:blipFill>
        <p:spPr>
          <a:xfrm>
            <a:off x="4141952" y="1389951"/>
            <a:ext cx="134549" cy="195707"/>
          </a:xfrm>
          <a:prstGeom prst="rect">
            <a:avLst/>
          </a:prstGeom>
        </p:spPr>
      </p:pic>
      <p:sp>
        <p:nvSpPr>
          <p:cNvPr id="33" name="TextBox 32"/>
          <p:cNvSpPr txBox="1"/>
          <p:nvPr/>
        </p:nvSpPr>
        <p:spPr>
          <a:xfrm>
            <a:off x="4317061" y="1400175"/>
            <a:ext cx="5805239" cy="194310"/>
          </a:xfrm>
          <a:prstGeom prst="rect">
            <a:avLst/>
          </a:prstGeom>
          <a:noFill/>
        </p:spPr>
        <p:txBody>
          <a:bodyPr wrap="none" lIns="0" rIns="0" tIns="0" bIns="0">
            <a:spAutoFit/>
          </a:bodyPr>
          <a:lstStyle/>
          <a:p>
            <a:r>
              <a:rPr sz="1150" b="0">
                <a:solidFill>
                  <a:srgbClr val="2E2E2E"/>
                </a:solidFill>
                <a:latin typeface="Calibri"/>
              </a:rPr>
              <a:t>X increase in revenue by 2036 end. Global removable partial dentures market accounted for US$</a:t>
            </a:r>
          </a:p>
        </p:txBody>
      </p:sp>
      <p:pic>
        <p:nvPicPr>
          <p:cNvPr id="34" name="Picture 33" descr="lock.png"/>
          <p:cNvPicPr>
            <a:picLocks noChangeAspect="1"/>
          </p:cNvPicPr>
          <p:nvPr/>
        </p:nvPicPr>
        <p:blipFill>
          <a:blip r:embed="rId4"/>
          <a:stretch>
            <a:fillRect/>
          </a:stretch>
        </p:blipFill>
        <p:spPr>
          <a:xfrm>
            <a:off x="10071454" y="1389951"/>
            <a:ext cx="134549" cy="195707"/>
          </a:xfrm>
          <a:prstGeom prst="rect">
            <a:avLst/>
          </a:prstGeom>
        </p:spPr>
      </p:pic>
      <p:sp>
        <p:nvSpPr>
          <p:cNvPr id="35" name="TextBox 34"/>
          <p:cNvSpPr txBox="1"/>
          <p:nvPr/>
        </p:nvSpPr>
        <p:spPr>
          <a:xfrm>
            <a:off x="10246564" y="1400175"/>
            <a:ext cx="1297942" cy="194310"/>
          </a:xfrm>
          <a:prstGeom prst="rect">
            <a:avLst/>
          </a:prstGeom>
          <a:noFill/>
        </p:spPr>
        <p:txBody>
          <a:bodyPr wrap="none" lIns="0" rIns="0" tIns="0" bIns="0">
            <a:spAutoFit/>
          </a:bodyPr>
          <a:lstStyle/>
          <a:p>
            <a:r>
              <a:rPr sz="1150" b="0">
                <a:solidFill>
                  <a:srgbClr val="2E2E2E"/>
                </a:solidFill>
                <a:latin typeface="Calibri"/>
              </a:rPr>
              <a:t>Mn in 2025, which is</a:t>
            </a:r>
          </a:p>
        </p:txBody>
      </p:sp>
      <p:sp>
        <p:nvSpPr>
          <p:cNvPr id="36" name="TextBox 35"/>
          <p:cNvSpPr txBox="1"/>
          <p:nvPr/>
        </p:nvSpPr>
        <p:spPr>
          <a:xfrm>
            <a:off x="276225" y="1575435"/>
            <a:ext cx="1737518" cy="194310"/>
          </a:xfrm>
          <a:prstGeom prst="rect">
            <a:avLst/>
          </a:prstGeom>
          <a:noFill/>
        </p:spPr>
        <p:txBody>
          <a:bodyPr wrap="none" lIns="0" rIns="0" tIns="0" bIns="0">
            <a:spAutoFit/>
          </a:bodyPr>
          <a:lstStyle/>
          <a:p>
            <a:r>
              <a:rPr sz="1150" b="0">
                <a:solidFill>
                  <a:srgbClr val="2E2E2E"/>
                </a:solidFill>
                <a:latin typeface="Calibri"/>
              </a:rPr>
              <a:t>expected to increase to US$</a:t>
            </a:r>
          </a:p>
        </p:txBody>
      </p:sp>
      <p:pic>
        <p:nvPicPr>
          <p:cNvPr id="37" name="Picture 36" descr="lock.png"/>
          <p:cNvPicPr>
            <a:picLocks noChangeAspect="1"/>
          </p:cNvPicPr>
          <p:nvPr/>
        </p:nvPicPr>
        <p:blipFill>
          <a:blip r:embed="rId4"/>
          <a:stretch>
            <a:fillRect/>
          </a:stretch>
        </p:blipFill>
        <p:spPr>
          <a:xfrm>
            <a:off x="1962897" y="1565211"/>
            <a:ext cx="134549" cy="195707"/>
          </a:xfrm>
          <a:prstGeom prst="rect">
            <a:avLst/>
          </a:prstGeom>
        </p:spPr>
      </p:pic>
      <p:sp>
        <p:nvSpPr>
          <p:cNvPr id="38" name="TextBox 37"/>
          <p:cNvSpPr txBox="1"/>
          <p:nvPr/>
        </p:nvSpPr>
        <p:spPr>
          <a:xfrm>
            <a:off x="2138006" y="1575435"/>
            <a:ext cx="1527554" cy="194310"/>
          </a:xfrm>
          <a:prstGeom prst="rect">
            <a:avLst/>
          </a:prstGeom>
          <a:noFill/>
        </p:spPr>
        <p:txBody>
          <a:bodyPr wrap="none" lIns="0" rIns="0" t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3614714" y="1565211"/>
            <a:ext cx="134549" cy="195707"/>
          </a:xfrm>
          <a:prstGeom prst="rect">
            <a:avLst/>
          </a:prstGeom>
        </p:spPr>
      </p:pic>
      <p:sp>
        <p:nvSpPr>
          <p:cNvPr id="40" name="TextBox 39"/>
          <p:cNvSpPr txBox="1"/>
          <p:nvPr/>
        </p:nvSpPr>
        <p:spPr>
          <a:xfrm>
            <a:off x="3789824"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314348" cy="194310"/>
          </a:xfrm>
          <a:prstGeom prst="rect">
            <a:avLst/>
          </a:prstGeom>
          <a:noFill/>
        </p:spPr>
        <p:txBody>
          <a:bodyPr wrap="none" lIns="0" rIns="0" tIns="0" bIns="0">
            <a:spAutoFit/>
          </a:bodyPr>
          <a:lstStyle/>
          <a:p>
            <a:r>
              <a:rPr sz="1150" b="0">
                <a:solidFill>
                  <a:srgbClr val="2E2E2E"/>
                </a:solidFill>
                <a:latin typeface="Calibri"/>
              </a:rPr>
              <a:t>The global removable partial dentures market has been analysed on the basis of product type, material type, technology and end user across the globe. U.S. is expected to remain the largest</a:t>
            </a:r>
          </a:p>
        </p:txBody>
      </p:sp>
      <p:sp>
        <p:nvSpPr>
          <p:cNvPr id="42" name="TextBox 41"/>
          <p:cNvSpPr txBox="1"/>
          <p:nvPr/>
        </p:nvSpPr>
        <p:spPr>
          <a:xfrm>
            <a:off x="276225" y="1978533"/>
            <a:ext cx="6682092" cy="194310"/>
          </a:xfrm>
          <a:prstGeom prst="rect">
            <a:avLst/>
          </a:prstGeom>
          <a:noFill/>
        </p:spPr>
        <p:txBody>
          <a:bodyPr wrap="none" lIns="0" rIns="0" tIns="0" bIns="0">
            <a:spAutoFit/>
          </a:bodyPr>
          <a:lstStyle/>
          <a:p>
            <a:r>
              <a:rPr sz="1150" b="0">
                <a:solidFill>
                  <a:srgbClr val="2E2E2E"/>
                </a:solidFill>
                <a:latin typeface="Calibri"/>
              </a:rPr>
              <a:t>market for removable partial dentures, while demand in Canada is projected to increase at the highest CAGR of</a:t>
            </a:r>
          </a:p>
        </p:txBody>
      </p:sp>
      <p:pic>
        <p:nvPicPr>
          <p:cNvPr id="43" name="Picture 42" descr="lock.png"/>
          <p:cNvPicPr>
            <a:picLocks noChangeAspect="1"/>
          </p:cNvPicPr>
          <p:nvPr/>
        </p:nvPicPr>
        <p:blipFill>
          <a:blip r:embed="rId4"/>
          <a:stretch>
            <a:fillRect/>
          </a:stretch>
        </p:blipFill>
        <p:spPr>
          <a:xfrm>
            <a:off x="6907471" y="1968309"/>
            <a:ext cx="134549" cy="195707"/>
          </a:xfrm>
          <a:prstGeom prst="rect">
            <a:avLst/>
          </a:prstGeom>
        </p:spPr>
      </p:pic>
      <p:sp>
        <p:nvSpPr>
          <p:cNvPr id="44" name="TextBox 43"/>
          <p:cNvSpPr txBox="1"/>
          <p:nvPr/>
        </p:nvSpPr>
        <p:spPr>
          <a:xfrm>
            <a:off x="7082580"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76600"/>
            <a:ext cx="6401420"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product type category 'Flexible Partial Dentures' holds</a:t>
            </a:r>
          </a:p>
        </p:txBody>
      </p:sp>
      <p:pic>
        <p:nvPicPr>
          <p:cNvPr id="46" name="Picture 45" descr="lock.png"/>
          <p:cNvPicPr>
            <a:picLocks noChangeAspect="1"/>
          </p:cNvPicPr>
          <p:nvPr/>
        </p:nvPicPr>
        <p:blipFill>
          <a:blip r:embed="rId4"/>
          <a:stretch>
            <a:fillRect/>
          </a:stretch>
        </p:blipFill>
        <p:spPr>
          <a:xfrm>
            <a:off x="6626799" y="3266376"/>
            <a:ext cx="134549" cy="195707"/>
          </a:xfrm>
          <a:prstGeom prst="rect">
            <a:avLst/>
          </a:prstGeom>
        </p:spPr>
      </p:pic>
      <p:sp>
        <p:nvSpPr>
          <p:cNvPr id="47" name="TextBox 46"/>
          <p:cNvSpPr txBox="1"/>
          <p:nvPr/>
        </p:nvSpPr>
        <p:spPr>
          <a:xfrm>
            <a:off x="680190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504437"/>
            <a:ext cx="5029919" cy="194310"/>
          </a:xfrm>
          <a:prstGeom prst="rect">
            <a:avLst/>
          </a:prstGeom>
          <a:noFill/>
        </p:spPr>
        <p:txBody>
          <a:bodyPr wrap="none" lIns="0" rIns="0" tIns="0" bIns="0">
            <a:spAutoFit/>
          </a:bodyPr>
          <a:lstStyle/>
          <a:p>
            <a:r>
              <a:rPr sz="1150" b="0">
                <a:solidFill>
                  <a:srgbClr val="2E2E2E"/>
                </a:solidFill>
                <a:latin typeface="Calibri"/>
              </a:rPr>
              <a:t>▪ Demand spans 2 countries and 8 segmentation lenses (4 product type categories).</a:t>
            </a:r>
          </a:p>
        </p:txBody>
      </p:sp>
      <p:sp>
        <p:nvSpPr>
          <p:cNvPr id="49" name="TextBox 48"/>
          <p:cNvSpPr txBox="1"/>
          <p:nvPr/>
        </p:nvSpPr>
        <p:spPr>
          <a:xfrm>
            <a:off x="276225" y="373227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722052"/>
            <a:ext cx="134549" cy="195707"/>
          </a:xfrm>
          <a:prstGeom prst="rect">
            <a:avLst/>
          </a:prstGeom>
        </p:spPr>
      </p:pic>
      <p:sp>
        <p:nvSpPr>
          <p:cNvPr id="51" name="TextBox 50"/>
          <p:cNvSpPr txBox="1"/>
          <p:nvPr/>
        </p:nvSpPr>
        <p:spPr>
          <a:xfrm>
            <a:off x="2689402"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5038725"/>
            <a:ext cx="3303847" cy="194310"/>
          </a:xfrm>
          <a:prstGeom prst="rect">
            <a:avLst/>
          </a:prstGeom>
          <a:noFill/>
        </p:spPr>
        <p:txBody>
          <a:bodyPr wrap="none" lIns="0" rIns="0" tIns="0" bIns="0">
            <a:spAutoFit/>
          </a:bodyPr>
          <a:lstStyle/>
          <a:p>
            <a:r>
              <a:rPr sz="1150" b="0">
                <a:solidFill>
                  <a:srgbClr val="2E2E2E"/>
                </a:solidFill>
                <a:latin typeface="Calibri"/>
              </a:rPr>
              <a:t>▪ Accelerating uptake of 'Cast Metal Partial Dentures' (</a:t>
            </a:r>
          </a:p>
        </p:txBody>
      </p:sp>
      <p:pic>
        <p:nvPicPr>
          <p:cNvPr id="53" name="Picture 52" descr="lock.png"/>
          <p:cNvPicPr>
            <a:picLocks noChangeAspect="1"/>
          </p:cNvPicPr>
          <p:nvPr/>
        </p:nvPicPr>
        <p:blipFill>
          <a:blip r:embed="rId4"/>
          <a:stretch>
            <a:fillRect/>
          </a:stretch>
        </p:blipFill>
        <p:spPr>
          <a:xfrm>
            <a:off x="3529226" y="5028501"/>
            <a:ext cx="134549" cy="195707"/>
          </a:xfrm>
          <a:prstGeom prst="rect">
            <a:avLst/>
          </a:prstGeom>
        </p:spPr>
      </p:pic>
      <p:sp>
        <p:nvSpPr>
          <p:cNvPr id="54" name="TextBox 53"/>
          <p:cNvSpPr txBox="1"/>
          <p:nvPr/>
        </p:nvSpPr>
        <p:spPr>
          <a:xfrm>
            <a:off x="276225" y="52139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5" name="TextBox 54"/>
          <p:cNvSpPr txBox="1"/>
          <p:nvPr/>
        </p:nvSpPr>
        <p:spPr>
          <a:xfrm>
            <a:off x="276225" y="5441822"/>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6" name="Picture 55" descr="lock.png"/>
          <p:cNvPicPr>
            <a:picLocks noChangeAspect="1"/>
          </p:cNvPicPr>
          <p:nvPr/>
        </p:nvPicPr>
        <p:blipFill>
          <a:blip r:embed="rId4"/>
          <a:stretch>
            <a:fillRect/>
          </a:stretch>
        </p:blipFill>
        <p:spPr>
          <a:xfrm>
            <a:off x="2371889" y="5431599"/>
            <a:ext cx="134549" cy="195707"/>
          </a:xfrm>
          <a:prstGeom prst="rect">
            <a:avLst/>
          </a:prstGeom>
        </p:spPr>
      </p:pic>
      <p:sp>
        <p:nvSpPr>
          <p:cNvPr id="57" name="TextBox 56"/>
          <p:cNvSpPr txBox="1"/>
          <p:nvPr/>
        </p:nvSpPr>
        <p:spPr>
          <a:xfrm>
            <a:off x="2546998" y="54418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276225" y="5669660"/>
            <a:ext cx="3052824" cy="194310"/>
          </a:xfrm>
          <a:prstGeom prst="rect">
            <a:avLst/>
          </a:prstGeom>
          <a:noFill/>
        </p:spPr>
        <p:txBody>
          <a:bodyPr wrap="none" lIns="0" rIns="0" tIns="0" bIns="0">
            <a:spAutoFit/>
          </a:bodyPr>
          <a:lstStyle/>
          <a:p>
            <a:r>
              <a:rPr sz="1150" b="0">
                <a:solidFill>
                  <a:srgbClr val="2E2E2E"/>
                </a:solidFill>
                <a:latin typeface="Calibri"/>
              </a:rPr>
              <a:t>▪ Momentum in Dental Hospitals within end user (</a:t>
            </a:r>
          </a:p>
        </p:txBody>
      </p:sp>
      <p:pic>
        <p:nvPicPr>
          <p:cNvPr id="59" name="Picture 58" descr="lock.png"/>
          <p:cNvPicPr>
            <a:picLocks noChangeAspect="1"/>
          </p:cNvPicPr>
          <p:nvPr/>
        </p:nvPicPr>
        <p:blipFill>
          <a:blip r:embed="rId4"/>
          <a:stretch>
            <a:fillRect/>
          </a:stretch>
        </p:blipFill>
        <p:spPr>
          <a:xfrm>
            <a:off x="3278203" y="5659437"/>
            <a:ext cx="134549" cy="195707"/>
          </a:xfrm>
          <a:prstGeom prst="rect">
            <a:avLst/>
          </a:prstGeom>
        </p:spPr>
      </p:pic>
      <p:sp>
        <p:nvSpPr>
          <p:cNvPr id="60" name="TextBox 59"/>
          <p:cNvSpPr txBox="1"/>
          <p:nvPr/>
        </p:nvSpPr>
        <p:spPr>
          <a:xfrm>
            <a:off x="3453312" y="56696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1" name="TextBox 60"/>
          <p:cNvSpPr txBox="1"/>
          <p:nvPr/>
        </p:nvSpPr>
        <p:spPr>
          <a:xfrm>
            <a:off x="4371975" y="5038725"/>
            <a:ext cx="3069083" cy="194310"/>
          </a:xfrm>
          <a:prstGeom prst="rect">
            <a:avLst/>
          </a:prstGeom>
          <a:noFill/>
        </p:spPr>
        <p:txBody>
          <a:bodyPr wrap="none" lIns="0" rIns="0" tIns="0" bIns="0">
            <a:spAutoFit/>
          </a:bodyPr>
          <a:lstStyle/>
          <a:p>
            <a:r>
              <a:rPr sz="1150" b="0">
                <a:solidFill>
                  <a:srgbClr val="2E2E2E"/>
                </a:solidFill>
                <a:latin typeface="Calibri"/>
              </a:rPr>
              <a:t>▪ Slower momentum in 'Flexible Partial Dentures' (</a:t>
            </a:r>
          </a:p>
        </p:txBody>
      </p:sp>
      <p:pic>
        <p:nvPicPr>
          <p:cNvPr id="62" name="Picture 61" descr="lock.png"/>
          <p:cNvPicPr>
            <a:picLocks noChangeAspect="1"/>
          </p:cNvPicPr>
          <p:nvPr/>
        </p:nvPicPr>
        <p:blipFill>
          <a:blip r:embed="rId4"/>
          <a:stretch>
            <a:fillRect/>
          </a:stretch>
        </p:blipFill>
        <p:spPr>
          <a:xfrm>
            <a:off x="7390212" y="5028501"/>
            <a:ext cx="134549" cy="195707"/>
          </a:xfrm>
          <a:prstGeom prst="rect">
            <a:avLst/>
          </a:prstGeom>
        </p:spPr>
      </p:pic>
      <p:sp>
        <p:nvSpPr>
          <p:cNvPr id="63" name="TextBox 62"/>
          <p:cNvSpPr txBox="1"/>
          <p:nvPr/>
        </p:nvSpPr>
        <p:spPr>
          <a:xfrm>
            <a:off x="7565322"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4" name="TextBox 63"/>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5" name="TextBox 64"/>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6" name="Picture 65" descr="lock.png"/>
          <p:cNvPicPr>
            <a:picLocks noChangeAspect="1"/>
          </p:cNvPicPr>
          <p:nvPr/>
        </p:nvPicPr>
        <p:blipFill>
          <a:blip r:embed="rId4"/>
          <a:stretch>
            <a:fillRect/>
          </a:stretch>
        </p:blipFill>
        <p:spPr>
          <a:xfrm>
            <a:off x="4883401" y="5431599"/>
            <a:ext cx="134549" cy="195707"/>
          </a:xfrm>
          <a:prstGeom prst="rect">
            <a:avLst/>
          </a:prstGeom>
        </p:spPr>
      </p:pic>
      <p:sp>
        <p:nvSpPr>
          <p:cNvPr id="67" name="TextBox 66"/>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8" name="TextBox 67"/>
          <p:cNvSpPr txBox="1"/>
          <p:nvPr/>
        </p:nvSpPr>
        <p:spPr>
          <a:xfrm>
            <a:off x="4371975" y="5669660"/>
            <a:ext cx="3427648" cy="194310"/>
          </a:xfrm>
          <a:prstGeom prst="rect">
            <a:avLst/>
          </a:prstGeom>
          <a:noFill/>
        </p:spPr>
        <p:txBody>
          <a:bodyPr wrap="none" lIns="0" rIns="0" tIns="0" bIns="0">
            <a:spAutoFit/>
          </a:bodyPr>
          <a:lstStyle/>
          <a:p>
            <a:r>
              <a:rPr sz="1150" b="0">
                <a:solidFill>
                  <a:srgbClr val="2E2E2E"/>
                </a:solidFill>
                <a:latin typeface="Calibri"/>
              </a:rPr>
              <a:t>▪ Value concentration in 'Flexible Partial Dentures' raises</a:t>
            </a:r>
          </a:p>
        </p:txBody>
      </p:sp>
      <p:sp>
        <p:nvSpPr>
          <p:cNvPr id="69" name="TextBox 68"/>
          <p:cNvSpPr txBox="1"/>
          <p:nvPr/>
        </p:nvSpPr>
        <p:spPr>
          <a:xfrm>
            <a:off x="4371975" y="584492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'Cast Metal Partial Dentures'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2430363" cy="186689"/>
          </a:xfrm>
          <a:prstGeom prst="rect">
            <a:avLst/>
          </a:prstGeom>
          <a:noFill/>
        </p:spPr>
        <p:txBody>
          <a:bodyPr wrap="none" lIns="0" rIns="0" tIns="0" bIns="0">
            <a:spAutoFit/>
          </a:bodyPr>
          <a:lstStyle/>
          <a:p>
            <a:r>
              <a:rPr sz="1100" b="0">
                <a:solidFill>
                  <a:srgbClr val="2E2E2E"/>
                </a:solidFill>
                <a:latin typeface="Calibri"/>
              </a:rPr>
              <a:t>▪ Lead category 'Flexible Partial Dentures'</a:t>
            </a:r>
          </a:p>
        </p:txBody>
      </p:sp>
      <p:pic>
        <p:nvPicPr>
          <p:cNvPr id="41" name="Picture 40" descr="lock.png"/>
          <p:cNvPicPr>
            <a:picLocks noChangeAspect="1"/>
          </p:cNvPicPr>
          <p:nvPr/>
        </p:nvPicPr>
        <p:blipFill>
          <a:blip r:embed="rId5"/>
          <a:stretch>
            <a:fillRect/>
          </a:stretch>
        </p:blipFill>
        <p:spPr>
          <a:xfrm>
            <a:off x="8683964" y="1826260"/>
            <a:ext cx="128699" cy="187198"/>
          </a:xfrm>
          <a:prstGeom prst="rect">
            <a:avLst/>
          </a:prstGeom>
        </p:spPr>
      </p:pic>
      <p:sp>
        <p:nvSpPr>
          <p:cNvPr id="42" name="TextBox 41"/>
          <p:cNvSpPr txBox="1"/>
          <p:nvPr/>
        </p:nvSpPr>
        <p:spPr>
          <a:xfrm>
            <a:off x="8851460"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rIns="0" t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907582" cy="186689"/>
          </a:xfrm>
          <a:prstGeom prst="rect">
            <a:avLst/>
          </a:prstGeom>
          <a:noFill/>
        </p:spPr>
        <p:txBody>
          <a:bodyPr wrap="none" lIns="0" rIns="0" tIns="0" bIns="0">
            <a:spAutoFit/>
          </a:bodyPr>
          <a:lstStyle/>
          <a:p>
            <a:r>
              <a:rPr sz="1100" b="0">
                <a:solidFill>
                  <a:srgbClr val="2E2E2E"/>
                </a:solidFill>
                <a:latin typeface="Calibri"/>
              </a:rPr>
              <a:t>▪ Investment is flowing toward the fastest-growing tier 'Cast Metal Partial Dentures' (</a:t>
            </a:r>
          </a:p>
        </p:txBody>
      </p:sp>
      <p:pic>
        <p:nvPicPr>
          <p:cNvPr id="50" name="Picture 49" descr="lock.png"/>
          <p:cNvPicPr>
            <a:picLocks noChangeAspect="1"/>
          </p:cNvPicPr>
          <p:nvPr/>
        </p:nvPicPr>
        <p:blipFill>
          <a:blip r:embed="rId5"/>
          <a:stretch>
            <a:fillRect/>
          </a:stretch>
        </p:blipFill>
        <p:spPr>
          <a:xfrm>
            <a:off x="5131859" y="3304921"/>
            <a:ext cx="128699" cy="187198"/>
          </a:xfrm>
          <a:prstGeom prst="rect">
            <a:avLst/>
          </a:prstGeom>
        </p:spPr>
      </p:pic>
      <p:sp>
        <p:nvSpPr>
          <p:cNvPr id="51" name="TextBox 50"/>
          <p:cNvSpPr txBox="1"/>
          <p:nvPr/>
        </p:nvSpPr>
        <p:spPr>
          <a:xfrm>
            <a:off x="5299355" y="33147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52" name="TextBox 51"/>
          <p:cNvSpPr txBox="1"/>
          <p:nvPr/>
        </p:nvSpPr>
        <p:spPr>
          <a:xfrm>
            <a:off x="276225" y="3532632"/>
            <a:ext cx="653008" cy="186689"/>
          </a:xfrm>
          <a:prstGeom prst="rect">
            <a:avLst/>
          </a:prstGeom>
          <a:noFill/>
        </p:spPr>
        <p:txBody>
          <a:bodyPr wrap="none" lIns="0" rIns="0" tIns="0" bIns="0">
            <a:spAutoFit/>
          </a:bodyPr>
          <a:lstStyle/>
          <a:p>
            <a:r>
              <a:rPr sz="110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877284" y="3522853"/>
            <a:ext cx="128699" cy="187198"/>
          </a:xfrm>
          <a:prstGeom prst="rect">
            <a:avLst/>
          </a:prstGeom>
        </p:spPr>
      </p:pic>
      <p:sp>
        <p:nvSpPr>
          <p:cNvPr id="54" name="TextBox 53"/>
          <p:cNvSpPr txBox="1"/>
          <p:nvPr/>
        </p:nvSpPr>
        <p:spPr>
          <a:xfrm>
            <a:off x="1044780" y="3532632"/>
            <a:ext cx="2262832" cy="186689"/>
          </a:xfrm>
          <a:prstGeom prst="rect">
            <a:avLst/>
          </a:prstGeom>
          <a:noFill/>
        </p:spPr>
        <p:txBody>
          <a:bodyPr wrap="none" lIns="0" rIns="0" tIns="0" bIns="0">
            <a:spAutoFit/>
          </a:bodyPr>
          <a:lstStyle/>
          <a:p>
            <a:r>
              <a:rPr sz="1100" b="0">
                <a:solidFill>
                  <a:srgbClr val="2E2E2E"/>
                </a:solidFill>
                <a:latin typeface="Calibri"/>
              </a:rPr>
              <a:t>) is a priority country for new capacity.</a:t>
            </a:r>
          </a:p>
        </p:txBody>
      </p:sp>
      <p:sp>
        <p:nvSpPr>
          <p:cNvPr id="55" name="TextBox 54"/>
          <p:cNvSpPr txBox="1"/>
          <p:nvPr/>
        </p:nvSpPr>
        <p:spPr>
          <a:xfrm>
            <a:off x="276225" y="3750564"/>
            <a:ext cx="3310582" cy="186689"/>
          </a:xfrm>
          <a:prstGeom prst="rect">
            <a:avLst/>
          </a:prstGeom>
          <a:noFill/>
        </p:spPr>
        <p:txBody>
          <a:bodyPr wrap="none" lIns="0" rIns="0" tIns="0" bIns="0">
            <a:spAutoFit/>
          </a:bodyPr>
          <a:lstStyle/>
          <a:p>
            <a:r>
              <a:rPr sz="1100" b="0">
                <a:solidFill>
                  <a:srgbClr val="2E2E2E"/>
                </a:solidFill>
                <a:latin typeface="Calibri"/>
              </a:rPr>
              <a:t>▪ Scale players anchor around 'Flexible Partial Dentures' (</a:t>
            </a:r>
          </a:p>
        </p:txBody>
      </p:sp>
      <p:pic>
        <p:nvPicPr>
          <p:cNvPr id="56" name="Picture 55" descr="lock.png"/>
          <p:cNvPicPr>
            <a:picLocks noChangeAspect="1"/>
          </p:cNvPicPr>
          <p:nvPr/>
        </p:nvPicPr>
        <p:blipFill>
          <a:blip r:embed="rId5"/>
          <a:stretch>
            <a:fillRect/>
          </a:stretch>
        </p:blipFill>
        <p:spPr>
          <a:xfrm>
            <a:off x="3534859" y="3740785"/>
            <a:ext cx="128699" cy="187198"/>
          </a:xfrm>
          <a:prstGeom prst="rect">
            <a:avLst/>
          </a:prstGeom>
        </p:spPr>
      </p:pic>
      <p:sp>
        <p:nvSpPr>
          <p:cNvPr id="57" name="TextBox 56"/>
          <p:cNvSpPr txBox="1"/>
          <p:nvPr/>
        </p:nvSpPr>
        <p:spPr>
          <a:xfrm>
            <a:off x="3702354" y="3750564"/>
            <a:ext cx="466923"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8" name="TextBox 57"/>
          <p:cNvSpPr txBox="1"/>
          <p:nvPr/>
        </p:nvSpPr>
        <p:spPr>
          <a:xfrm>
            <a:off x="6305550" y="3314700"/>
            <a:ext cx="5304308" cy="186689"/>
          </a:xfrm>
          <a:prstGeom prst="rect">
            <a:avLst/>
          </a:prstGeom>
          <a:noFill/>
        </p:spPr>
        <p:txBody>
          <a:bodyPr wrap="none" lIns="0" rIns="0" tIns="0" bIns="0">
            <a:spAutoFit/>
          </a:bodyPr>
          <a:lstStyle/>
          <a:p>
            <a:r>
              <a:rPr sz="1100" b="0">
                <a:solidFill>
                  <a:srgbClr val="2E2E2E"/>
                </a:solidFill>
                <a:latin typeface="Calibri"/>
              </a:rPr>
              <a:t>▪ R&amp;D aligns with the migration to 'Cast Metal Partial Dentures' and adjacent premium tiers.</a:t>
            </a:r>
          </a:p>
        </p:txBody>
      </p:sp>
      <p:sp>
        <p:nvSpPr>
          <p:cNvPr id="59" name="TextBox 58"/>
          <p:cNvSpPr txBox="1"/>
          <p:nvPr/>
        </p:nvSpPr>
        <p:spPr>
          <a:xfrm>
            <a:off x="6305550" y="3532632"/>
            <a:ext cx="4406354" cy="186689"/>
          </a:xfrm>
          <a:prstGeom prst="rect">
            <a:avLst/>
          </a:prstGeom>
          <a:noFill/>
        </p:spPr>
        <p:txBody>
          <a:bodyPr wrap="none" lIns="0" rIns="0" tIns="0" bIns="0">
            <a:spAutoFit/>
          </a:bodyPr>
          <a:lstStyle/>
          <a:p>
            <a:r>
              <a:rPr sz="1100" b="0">
                <a:solidFill>
                  <a:srgbClr val="2E2E2E"/>
                </a:solidFill>
                <a:latin typeface="Calibri"/>
              </a:rPr>
              <a:t>▪ Development spend targets product type categories gaining share to 2036.</a:t>
            </a:r>
          </a:p>
        </p:txBody>
      </p:sp>
      <p:sp>
        <p:nvSpPr>
          <p:cNvPr id="60" name="TextBox 59"/>
          <p:cNvSpPr txBox="1"/>
          <p:nvPr/>
        </p:nvSpPr>
        <p:spPr>
          <a:xfrm>
            <a:off x="6305550" y="3750564"/>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tier and Dental Hospitals within end user.</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05350" cy="194310"/>
          </a:xfrm>
          <a:prstGeom prst="rect">
            <a:avLst/>
          </a:prstGeom>
          <a:noFill/>
        </p:spPr>
        <p:txBody>
          <a:bodyPr wrap="none" lIns="0" rIns="0" tIns="0" bIns="0">
            <a:spAutoFit/>
          </a:bodyPr>
          <a:lstStyle/>
          <a:p>
            <a:r>
              <a:rPr sz="1150" b="0">
                <a:solidFill>
                  <a:srgbClr val="2E2E2E"/>
                </a:solidFill>
                <a:latin typeface="Calibri"/>
              </a:rPr>
              <a:t>▪ Balance scale in 'Flexible Partial Dentures' with targeted growth in 'Cast Metal Partial</a:t>
            </a:r>
          </a:p>
        </p:txBody>
      </p:sp>
      <p:sp>
        <p:nvSpPr>
          <p:cNvPr id="32" name="TextBox 31"/>
          <p:cNvSpPr txBox="1"/>
          <p:nvPr/>
        </p:nvSpPr>
        <p:spPr>
          <a:xfrm>
            <a:off x="276225" y="1575435"/>
            <a:ext cx="1473088" cy="194310"/>
          </a:xfrm>
          <a:prstGeom prst="rect">
            <a:avLst/>
          </a:prstGeom>
          <a:noFill/>
        </p:spPr>
        <p:txBody>
          <a:bodyPr wrap="none" lIns="0" rIns="0" tIns="0" bIns="0">
            <a:spAutoFit/>
          </a:bodyPr>
          <a:lstStyle/>
          <a:p>
            <a:r>
              <a:rPr sz="1150" b="0">
                <a:solidFill>
                  <a:srgbClr val="2E2E2E"/>
                </a:solidFill>
                <a:latin typeface="Calibri"/>
              </a:rPr>
              <a:t>Dentures', pursuing the</a:t>
            </a:r>
          </a:p>
        </p:txBody>
      </p:sp>
      <p:pic>
        <p:nvPicPr>
          <p:cNvPr id="33" name="Picture 32" descr="lock.png"/>
          <p:cNvPicPr>
            <a:picLocks noChangeAspect="1"/>
          </p:cNvPicPr>
          <p:nvPr/>
        </p:nvPicPr>
        <p:blipFill>
          <a:blip r:embed="rId4"/>
          <a:stretch>
            <a:fillRect/>
          </a:stretch>
        </p:blipFill>
        <p:spPr>
          <a:xfrm>
            <a:off x="1698467" y="1565211"/>
            <a:ext cx="134549" cy="195707"/>
          </a:xfrm>
          <a:prstGeom prst="rect">
            <a:avLst/>
          </a:prstGeom>
        </p:spPr>
      </p:pic>
      <p:sp>
        <p:nvSpPr>
          <p:cNvPr id="34" name="TextBox 33"/>
          <p:cNvSpPr txBox="1"/>
          <p:nvPr/>
        </p:nvSpPr>
        <p:spPr>
          <a:xfrm>
            <a:off x="1873576"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502569" cy="194310"/>
          </a:xfrm>
          <a:prstGeom prst="rect">
            <a:avLst/>
          </a:prstGeom>
          <a:noFill/>
        </p:spPr>
        <p:txBody>
          <a:bodyPr wrap="none" lIns="0" rIns="0" tIns="0" bIns="0">
            <a:spAutoFit/>
          </a:bodyPr>
          <a:lstStyle/>
          <a:p>
            <a:r>
              <a:rPr sz="1150" b="0">
                <a:solidFill>
                  <a:srgbClr val="2E2E2E"/>
                </a:solidFill>
                <a:latin typeface="Calibri"/>
              </a:rPr>
              <a:t>▪ Prioritise 'Cast Metal Partial Dentures' (</a:t>
            </a:r>
          </a:p>
        </p:txBody>
      </p:sp>
      <p:pic>
        <p:nvPicPr>
          <p:cNvPr id="36" name="Picture 35" descr="lock.png"/>
          <p:cNvPicPr>
            <a:picLocks noChangeAspect="1"/>
          </p:cNvPicPr>
          <p:nvPr/>
        </p:nvPicPr>
        <p:blipFill>
          <a:blip r:embed="rId4"/>
          <a:stretch>
            <a:fillRect/>
          </a:stretch>
        </p:blipFill>
        <p:spPr>
          <a:xfrm>
            <a:off x="2727948" y="3209226"/>
            <a:ext cx="134549" cy="195707"/>
          </a:xfrm>
          <a:prstGeom prst="rect">
            <a:avLst/>
          </a:prstGeom>
        </p:spPr>
      </p:pic>
      <p:sp>
        <p:nvSpPr>
          <p:cNvPr id="37" name="TextBox 36"/>
          <p:cNvSpPr txBox="1"/>
          <p:nvPr/>
        </p:nvSpPr>
        <p:spPr>
          <a:xfrm>
            <a:off x="2903057" y="3219450"/>
            <a:ext cx="2209043" cy="194310"/>
          </a:xfrm>
          <a:prstGeom prst="rect">
            <a:avLst/>
          </a:prstGeom>
          <a:noFill/>
        </p:spPr>
        <p:txBody>
          <a:bodyPr wrap="none" lIns="0" rIns="0" tIns="0" bIns="0">
            <a:spAutoFit/>
          </a:bodyPr>
          <a:lstStyle/>
          <a:p>
            <a:r>
              <a:rPr sz="1150" b="0">
                <a:solidFill>
                  <a:srgbClr val="2E2E2E"/>
                </a:solidFill>
                <a:latin typeface="Calibri"/>
              </a:rPr>
              <a:t>); 'Flexible Partial Dentures' anchors</a:t>
            </a:r>
          </a:p>
        </p:txBody>
      </p:sp>
      <p:pic>
        <p:nvPicPr>
          <p:cNvPr id="38" name="Picture 37" descr="lock.png"/>
          <p:cNvPicPr>
            <a:picLocks noChangeAspect="1"/>
          </p:cNvPicPr>
          <p:nvPr/>
        </p:nvPicPr>
        <p:blipFill>
          <a:blip r:embed="rId4"/>
          <a:stretch>
            <a:fillRect/>
          </a:stretch>
        </p:blipFill>
        <p:spPr>
          <a:xfrm>
            <a:off x="5061255" y="3209226"/>
            <a:ext cx="134549" cy="195707"/>
          </a:xfrm>
          <a:prstGeom prst="rect">
            <a:avLst/>
          </a:prstGeom>
        </p:spPr>
      </p:pic>
      <p:sp>
        <p:nvSpPr>
          <p:cNvPr id="39" name="TextBox 38"/>
          <p:cNvSpPr txBox="1"/>
          <p:nvPr/>
        </p:nvSpPr>
        <p:spPr>
          <a:xfrm>
            <a:off x="5236364" y="3219450"/>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rIns="0" tIns="0" bIns="0">
            <a:spAutoFit/>
          </a:bodyPr>
          <a:lstStyle/>
          <a:p>
            <a:r>
              <a:rPr sz="1150" b="0">
                <a:solidFill>
                  <a:srgbClr val="2E2E2E"/>
                </a:solidFill>
                <a:latin typeface="Calibri"/>
              </a:rPr>
              <a:t>value.</a:t>
            </a:r>
          </a:p>
        </p:txBody>
      </p:sp>
      <p:sp>
        <p:nvSpPr>
          <p:cNvPr id="41" name="TextBox 40"/>
          <p:cNvSpPr txBox="1"/>
          <p:nvPr/>
        </p:nvSpPr>
        <p:spPr>
          <a:xfrm>
            <a:off x="6305550" y="3219450"/>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2" name="Picture 41" descr="lock.png"/>
          <p:cNvPicPr>
            <a:picLocks noChangeAspect="1"/>
          </p:cNvPicPr>
          <p:nvPr/>
        </p:nvPicPr>
        <p:blipFill>
          <a:blip r:embed="rId4"/>
          <a:stretch>
            <a:fillRect/>
          </a:stretch>
        </p:blipFill>
        <p:spPr>
          <a:xfrm>
            <a:off x="7338135" y="3209226"/>
            <a:ext cx="134549" cy="195707"/>
          </a:xfrm>
          <a:prstGeom prst="rect">
            <a:avLst/>
          </a:prstGeom>
        </p:spPr>
      </p:pic>
      <p:sp>
        <p:nvSpPr>
          <p:cNvPr id="43" name="TextBox 42"/>
          <p:cNvSpPr txBox="1"/>
          <p:nvPr/>
        </p:nvSpPr>
        <p:spPr>
          <a:xfrm>
            <a:off x="7513244" y="3219450"/>
            <a:ext cx="1772319" cy="194310"/>
          </a:xfrm>
          <a:prstGeom prst="rect">
            <a:avLst/>
          </a:prstGeom>
          <a:noFill/>
        </p:spPr>
        <p:txBody>
          <a:bodyPr wrap="none" lIns="0" rIns="0" tIns="0" bIns="0">
            <a:spAutoFit/>
          </a:bodyPr>
          <a:lstStyle/>
          <a:p>
            <a:r>
              <a:rPr sz="1150" b="0">
                <a:solidFill>
                  <a:srgbClr val="2E2E2E"/>
                </a:solidFill>
                <a:latin typeface="Calibri"/>
              </a:rPr>
              <a:t>); capture upside in Canada (</a:t>
            </a:r>
          </a:p>
        </p:txBody>
      </p:sp>
      <p:pic>
        <p:nvPicPr>
          <p:cNvPr id="44" name="Picture 43" descr="lock.png"/>
          <p:cNvPicPr>
            <a:picLocks noChangeAspect="1"/>
          </p:cNvPicPr>
          <p:nvPr/>
        </p:nvPicPr>
        <p:blipFill>
          <a:blip r:embed="rId4"/>
          <a:stretch>
            <a:fillRect/>
          </a:stretch>
        </p:blipFill>
        <p:spPr>
          <a:xfrm>
            <a:off x="9234718" y="3209226"/>
            <a:ext cx="134549" cy="195707"/>
          </a:xfrm>
          <a:prstGeom prst="rect">
            <a:avLst/>
          </a:prstGeom>
        </p:spPr>
      </p:pic>
      <p:sp>
        <p:nvSpPr>
          <p:cNvPr id="45" name="TextBox 44"/>
          <p:cNvSpPr txBox="1"/>
          <p:nvPr/>
        </p:nvSpPr>
        <p:spPr>
          <a:xfrm>
            <a:off x="9409827" y="321945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038725"/>
            <a:ext cx="2134021" cy="194310"/>
          </a:xfrm>
          <a:prstGeom prst="rect">
            <a:avLst/>
          </a:prstGeom>
          <a:noFill/>
        </p:spPr>
        <p:txBody>
          <a:bodyPr wrap="none" lIns="0" rIns="0" tIns="0" bIns="0">
            <a:spAutoFit/>
          </a:bodyPr>
          <a:lstStyle/>
          <a:p>
            <a:r>
              <a:rPr sz="1150" b="0">
                <a:solidFill>
                  <a:srgbClr val="2E2E2E"/>
                </a:solidFill>
                <a:latin typeface="Calibri"/>
              </a:rPr>
              <a:t>▪ Removable Partial Dentures adds</a:t>
            </a:r>
          </a:p>
        </p:txBody>
      </p:sp>
      <p:pic>
        <p:nvPicPr>
          <p:cNvPr id="47" name="Picture 46" descr="lock.png"/>
          <p:cNvPicPr>
            <a:picLocks noChangeAspect="1"/>
          </p:cNvPicPr>
          <p:nvPr/>
        </p:nvPicPr>
        <p:blipFill>
          <a:blip r:embed="rId4"/>
          <a:stretch>
            <a:fillRect/>
          </a:stretch>
        </p:blipFill>
        <p:spPr>
          <a:xfrm>
            <a:off x="2359400" y="5028501"/>
            <a:ext cx="134549" cy="195707"/>
          </a:xfrm>
          <a:prstGeom prst="rect">
            <a:avLst/>
          </a:prstGeom>
        </p:spPr>
      </p:pic>
      <p:sp>
        <p:nvSpPr>
          <p:cNvPr id="48" name="TextBox 47"/>
          <p:cNvSpPr txBox="1"/>
          <p:nvPr/>
        </p:nvSpPr>
        <p:spPr>
          <a:xfrm>
            <a:off x="2534509" y="5038725"/>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4298771" y="5028501"/>
            <a:ext cx="134549" cy="195707"/>
          </a:xfrm>
          <a:prstGeom prst="rect">
            <a:avLst/>
          </a:prstGeom>
        </p:spPr>
      </p:pic>
      <p:sp>
        <p:nvSpPr>
          <p:cNvPr id="50" name="TextBox 49"/>
          <p:cNvSpPr txBox="1"/>
          <p:nvPr/>
        </p:nvSpPr>
        <p:spPr>
          <a:xfrm>
            <a:off x="4473880" y="5038725"/>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51" name="TextBox 50"/>
          <p:cNvSpPr txBox="1"/>
          <p:nvPr/>
        </p:nvSpPr>
        <p:spPr>
          <a:xfrm>
            <a:off x="276225" y="5266563"/>
            <a:ext cx="634436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segment/country while seeding the fastest-growing pockets early.</a:t>
            </a:r>
          </a:p>
        </p:txBody>
      </p:sp>
      <p:sp>
        <p:nvSpPr>
          <p:cNvPr id="52" name="TextBox 51"/>
          <p:cNvSpPr txBox="1"/>
          <p:nvPr/>
        </p:nvSpPr>
        <p:spPr>
          <a:xfrm>
            <a:off x="276225" y="5494400"/>
            <a:ext cx="4810273" cy="194310"/>
          </a:xfrm>
          <a:prstGeom prst="rect">
            <a:avLst/>
          </a:prstGeom>
          <a:noFill/>
        </p:spPr>
        <p:txBody>
          <a:bodyPr wrap="none" lIns="0" rIns="0" tIns="0" bIns="0">
            <a:spAutoFit/>
          </a:bodyPr>
          <a:lstStyle/>
          <a:p>
            <a:r>
              <a:rPr sz="1150" b="0">
                <a:solidFill>
                  <a:srgbClr val="2E2E2E"/>
                </a:solidFill>
                <a:latin typeface="Calibri"/>
              </a:rPr>
              <a:t>▪ Defend share in 'Flexible Partial Dentures' as the value anchor of the portfolio.</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369403"/>
            <a:ext cx="635826" cy="935897"/>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60125"/>
            <a:ext cx="635826" cy="1245175"/>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38015"/>
            <a:ext cx="635826" cy="1367285"/>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26775"/>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22000"/>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69600"/>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64825"/>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412425"/>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07650"/>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5636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48151"/>
            <a:ext cx="108107" cy="157246"/>
          </a:xfrm>
          <a:prstGeom prst="rect">
            <a:avLst/>
          </a:prstGeom>
        </p:spPr>
      </p:pic>
      <p:sp>
        <p:nvSpPr>
          <p:cNvPr id="56" name="TextBox 55"/>
          <p:cNvSpPr txBox="1"/>
          <p:nvPr/>
        </p:nvSpPr>
        <p:spPr>
          <a:xfrm>
            <a:off x="2032418" y="2599191"/>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90976"/>
            <a:ext cx="108107" cy="157246"/>
          </a:xfrm>
          <a:prstGeom prst="rect">
            <a:avLst/>
          </a:prstGeom>
        </p:spPr>
      </p:pic>
      <p:sp>
        <p:nvSpPr>
          <p:cNvPr id="58" name="TextBox 57"/>
          <p:cNvSpPr txBox="1"/>
          <p:nvPr/>
        </p:nvSpPr>
        <p:spPr>
          <a:xfrm>
            <a:off x="2032418" y="234201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33801"/>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Removable Partial Dentures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lock.png"/>
          <p:cNvPicPr>
            <a:picLocks noChangeAspect="1"/>
          </p:cNvPicPr>
          <p:nvPr/>
        </p:nvPicPr>
        <p:blipFill>
          <a:blip r:embed="rId4"/>
          <a:stretch>
            <a:fillRect/>
          </a:stretch>
        </p:blipFill>
        <p:spPr>
          <a:xfrm>
            <a:off x="4250888" y="233992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2832772"/>
            <a:ext cx="175498" cy="255270"/>
          </a:xfrm>
          <a:prstGeom prst="rect">
            <a:avLst/>
          </a:prstGeom>
        </p:spPr>
      </p:pic>
      <p:pic>
        <p:nvPicPr>
          <p:cNvPr id="52" name="Picture 51" descr="lock.png"/>
          <p:cNvPicPr>
            <a:picLocks noChangeAspect="1"/>
          </p:cNvPicPr>
          <p:nvPr/>
        </p:nvPicPr>
        <p:blipFill>
          <a:blip r:embed="rId4"/>
          <a:stretch>
            <a:fillRect/>
          </a:stretch>
        </p:blipFill>
        <p:spPr>
          <a:xfrm>
            <a:off x="4250888" y="33256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33992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2832772"/>
            <a:ext cx="175498" cy="255270"/>
          </a:xfrm>
          <a:prstGeom prst="rect">
            <a:avLst/>
          </a:prstGeom>
        </p:spPr>
      </p:pic>
      <p:pic>
        <p:nvPicPr>
          <p:cNvPr id="55" name="Picture 54" descr="lock.png"/>
          <p:cNvPicPr>
            <a:picLocks noChangeAspect="1"/>
          </p:cNvPicPr>
          <p:nvPr/>
        </p:nvPicPr>
        <p:blipFill>
          <a:blip r:embed="rId4"/>
          <a:stretch>
            <a:fillRect/>
          </a:stretch>
        </p:blipFill>
        <p:spPr>
          <a:xfrm>
            <a:off x="9308663" y="3325622"/>
            <a:ext cx="175498" cy="255270"/>
          </a:xfrm>
          <a:prstGeom prst="rect">
            <a:avLst/>
          </a:prstGeom>
        </p:spPr>
      </p:pic>
      <p:sp>
        <p:nvSpPr>
          <p:cNvPr id="56" name="TextBox 55"/>
          <p:cNvSpPr txBox="1"/>
          <p:nvPr/>
        </p:nvSpPr>
        <p:spPr>
          <a:xfrm>
            <a:off x="485775" y="4229437"/>
            <a:ext cx="2875929" cy="186689"/>
          </a:xfrm>
          <a:prstGeom prst="rect">
            <a:avLst/>
          </a:prstGeom>
          <a:noFill/>
        </p:spPr>
        <p:txBody>
          <a:bodyPr wrap="none" lIns="0" rIns="0" tIns="0" bIns="0">
            <a:spAutoFit/>
          </a:bodyPr>
          <a:lstStyle/>
          <a:p>
            <a:r>
              <a:rPr sz="1100" b="0">
                <a:solidFill>
                  <a:srgbClr val="2E2E2E"/>
                </a:solidFill>
                <a:latin typeface="Calibri"/>
              </a:rPr>
              <a:t>▪ ¶ The U.S. removable partial dentures market is</a:t>
            </a:r>
          </a:p>
        </p:txBody>
      </p:sp>
      <p:sp>
        <p:nvSpPr>
          <p:cNvPr id="57" name="TextBox 56"/>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58" name="Picture 57" descr="lock.png"/>
          <p:cNvPicPr>
            <a:picLocks noChangeAspect="1"/>
          </p:cNvPicPr>
          <p:nvPr/>
        </p:nvPicPr>
        <p:blipFill>
          <a:blip r:embed="rId4"/>
          <a:stretch>
            <a:fillRect/>
          </a:stretch>
        </p:blipFill>
        <p:spPr>
          <a:xfrm>
            <a:off x="1678376" y="4387298"/>
            <a:ext cx="128699" cy="187198"/>
          </a:xfrm>
          <a:prstGeom prst="rect">
            <a:avLst/>
          </a:prstGeom>
        </p:spPr>
      </p:pic>
      <p:sp>
        <p:nvSpPr>
          <p:cNvPr id="59" name="TextBox 58"/>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60" name="TextBox 59"/>
          <p:cNvSpPr txBox="1"/>
          <p:nvPr/>
        </p:nvSpPr>
        <p:spPr>
          <a:xfrm>
            <a:off x="485775" y="4564717"/>
            <a:ext cx="2462014" cy="186689"/>
          </a:xfrm>
          <a:prstGeom prst="rect">
            <a:avLst/>
          </a:prstGeom>
          <a:noFill/>
        </p:spPr>
        <p:txBody>
          <a:bodyPr wrap="none" lIns="0" rIns="0" tIns="0" bIns="0">
            <a:spAutoFit/>
          </a:bodyPr>
          <a:lstStyle/>
          <a:p>
            <a:r>
              <a:rPr sz="1100" b="0">
                <a:solidFill>
                  <a:srgbClr val="2E2E2E"/>
                </a:solidFill>
                <a:latin typeface="Calibri"/>
              </a:rPr>
              <a:t>Canada in 2036. Among removable partial</a:t>
            </a:r>
          </a:p>
        </p:txBody>
      </p:sp>
      <p:sp>
        <p:nvSpPr>
          <p:cNvPr id="61" name="TextBox 60"/>
          <p:cNvSpPr txBox="1"/>
          <p:nvPr/>
        </p:nvSpPr>
        <p:spPr>
          <a:xfrm>
            <a:off x="485775" y="4732357"/>
            <a:ext cx="2537593" cy="186689"/>
          </a:xfrm>
          <a:prstGeom prst="rect">
            <a:avLst/>
          </a:prstGeom>
          <a:noFill/>
        </p:spPr>
        <p:txBody>
          <a:bodyPr wrap="none" lIns="0" rIns="0" tIns="0" bIns="0">
            <a:spAutoFit/>
          </a:bodyPr>
          <a:lstStyle/>
          <a:p>
            <a:r>
              <a:rPr sz="1100" b="0">
                <a:solidFill>
                  <a:srgbClr val="2E2E2E"/>
                </a:solidFill>
                <a:latin typeface="Calibri"/>
              </a:rPr>
              <a:t>dentures by country, Canada is expected to</a:t>
            </a:r>
          </a:p>
        </p:txBody>
      </p:sp>
      <p:sp>
        <p:nvSpPr>
          <p:cNvPr id="62" name="TextBox 61"/>
          <p:cNvSpPr txBox="1"/>
          <p:nvPr/>
        </p:nvSpPr>
        <p:spPr>
          <a:xfrm>
            <a:off x="485775" y="489999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63" name="Picture 62" descr="lock.png"/>
          <p:cNvPicPr>
            <a:picLocks noChangeAspect="1"/>
          </p:cNvPicPr>
          <p:nvPr/>
        </p:nvPicPr>
        <p:blipFill>
          <a:blip r:embed="rId4"/>
          <a:stretch>
            <a:fillRect/>
          </a:stretch>
        </p:blipFill>
        <p:spPr>
          <a:xfrm>
            <a:off x="2108919" y="4890217"/>
            <a:ext cx="128699" cy="187198"/>
          </a:xfrm>
          <a:prstGeom prst="rect">
            <a:avLst/>
          </a:prstGeom>
        </p:spPr>
      </p:pic>
      <p:sp>
        <p:nvSpPr>
          <p:cNvPr id="64" name="TextBox 63"/>
          <p:cNvSpPr txBox="1"/>
          <p:nvPr/>
        </p:nvSpPr>
        <p:spPr>
          <a:xfrm>
            <a:off x="2276415" y="489999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65" name="TextBox 64"/>
          <p:cNvSpPr txBox="1"/>
          <p:nvPr/>
        </p:nvSpPr>
        <p:spPr>
          <a:xfrm>
            <a:off x="485775" y="5067637"/>
            <a:ext cx="482475" cy="186689"/>
          </a:xfrm>
          <a:prstGeom prst="rect">
            <a:avLst/>
          </a:prstGeom>
          <a:noFill/>
        </p:spPr>
        <p:txBody>
          <a:bodyPr wrap="none" lIns="0" rIns="0" tIns="0" bIns="0">
            <a:spAutoFit/>
          </a:bodyPr>
          <a:lstStyle/>
          <a:p>
            <a:r>
              <a:rPr sz="1100" b="0">
                <a:solidFill>
                  <a:srgbClr val="2E2E2E"/>
                </a:solidFill>
                <a:latin typeface="Calibri"/>
              </a:rPr>
              <a:t>period.</a:t>
            </a:r>
          </a:p>
        </p:txBody>
      </p:sp>
      <p:sp>
        <p:nvSpPr>
          <p:cNvPr id="66" name="TextBox 65"/>
          <p:cNvSpPr txBox="1"/>
          <p:nvPr/>
        </p:nvSpPr>
        <p:spPr>
          <a:xfrm>
            <a:off x="485775" y="5285569"/>
            <a:ext cx="2619995" cy="186689"/>
          </a:xfrm>
          <a:prstGeom prst="rect">
            <a:avLst/>
          </a:prstGeom>
          <a:noFill/>
        </p:spPr>
        <p:txBody>
          <a:bodyPr wrap="none" lIns="0" rIns="0" tIns="0" bIns="0">
            <a:spAutoFit/>
          </a:bodyPr>
          <a:lstStyle/>
          <a:p>
            <a:r>
              <a:rPr sz="1100" b="0">
                <a:solidFill>
                  <a:srgbClr val="2E2E2E"/>
                </a:solidFill>
                <a:latin typeface="Calibri"/>
              </a:rPr>
              <a:t>▪ ¶ In terms of value share by country, U.S. is</a:t>
            </a:r>
          </a:p>
        </p:txBody>
      </p:sp>
      <p:sp>
        <p:nvSpPr>
          <p:cNvPr id="67" name="TextBox 66"/>
          <p:cNvSpPr txBox="1"/>
          <p:nvPr/>
        </p:nvSpPr>
        <p:spPr>
          <a:xfrm>
            <a:off x="485775" y="5453209"/>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8" name="Picture 67" descr="lock.png"/>
          <p:cNvPicPr>
            <a:picLocks noChangeAspect="1"/>
          </p:cNvPicPr>
          <p:nvPr/>
        </p:nvPicPr>
        <p:blipFill>
          <a:blip r:embed="rId4"/>
          <a:stretch>
            <a:fillRect/>
          </a:stretch>
        </p:blipFill>
        <p:spPr>
          <a:xfrm>
            <a:off x="2822716" y="5443430"/>
            <a:ext cx="128699" cy="187198"/>
          </a:xfrm>
          <a:prstGeom prst="rect">
            <a:avLst/>
          </a:prstGeom>
        </p:spPr>
      </p:pic>
      <p:sp>
        <p:nvSpPr>
          <p:cNvPr id="69" name="TextBox 68"/>
          <p:cNvSpPr txBox="1"/>
          <p:nvPr/>
        </p:nvSpPr>
        <p:spPr>
          <a:xfrm>
            <a:off x="2990212" y="5453209"/>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70" name="TextBox 69"/>
          <p:cNvSpPr txBox="1"/>
          <p:nvPr/>
        </p:nvSpPr>
        <p:spPr>
          <a:xfrm>
            <a:off x="485775" y="5620849"/>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71" name="Picture 70" descr="lock.png"/>
          <p:cNvPicPr>
            <a:picLocks noChangeAspect="1"/>
          </p:cNvPicPr>
          <p:nvPr/>
        </p:nvPicPr>
        <p:blipFill>
          <a:blip r:embed="rId4"/>
          <a:stretch>
            <a:fillRect/>
          </a:stretch>
        </p:blipFill>
        <p:spPr>
          <a:xfrm>
            <a:off x="1576057" y="5611070"/>
            <a:ext cx="128699" cy="187198"/>
          </a:xfrm>
          <a:prstGeom prst="rect">
            <a:avLst/>
          </a:prstGeom>
        </p:spPr>
      </p:pic>
      <p:sp>
        <p:nvSpPr>
          <p:cNvPr id="72" name="TextBox 71"/>
          <p:cNvSpPr txBox="1"/>
          <p:nvPr/>
        </p:nvSpPr>
        <p:spPr>
          <a:xfrm>
            <a:off x="1743553" y="562084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3" name="TextBox 72"/>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4" name="Picture 73" descr="lock.png"/>
          <p:cNvPicPr>
            <a:picLocks noChangeAspect="1"/>
          </p:cNvPicPr>
          <p:nvPr/>
        </p:nvPicPr>
        <p:blipFill>
          <a:blip r:embed="rId4"/>
          <a:stretch>
            <a:fillRect/>
          </a:stretch>
        </p:blipFill>
        <p:spPr>
          <a:xfrm>
            <a:off x="4240453" y="4219658"/>
            <a:ext cx="128699" cy="187198"/>
          </a:xfrm>
          <a:prstGeom prst="rect">
            <a:avLst/>
          </a:prstGeom>
        </p:spPr>
      </p:pic>
      <p:sp>
        <p:nvSpPr>
          <p:cNvPr id="75" name="TextBox 74"/>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4"/>
          <a:stretch>
            <a:fillRect/>
          </a:stretch>
        </p:blipFill>
        <p:spPr>
          <a:xfrm>
            <a:off x="5267399" y="4219658"/>
            <a:ext cx="128699" cy="187198"/>
          </a:xfrm>
          <a:prstGeom prst="rect">
            <a:avLst/>
          </a:prstGeom>
        </p:spPr>
      </p:pic>
      <p:sp>
        <p:nvSpPr>
          <p:cNvPr id="77" name="TextBox 76"/>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8" name="TextBox 77"/>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9" name="Picture 78" descr="lock.png"/>
          <p:cNvPicPr>
            <a:picLocks noChangeAspect="1"/>
          </p:cNvPicPr>
          <p:nvPr/>
        </p:nvPicPr>
        <p:blipFill>
          <a:blip r:embed="rId4"/>
          <a:stretch>
            <a:fillRect/>
          </a:stretch>
        </p:blipFill>
        <p:spPr>
          <a:xfrm>
            <a:off x="4437997" y="4437590"/>
            <a:ext cx="128699" cy="187198"/>
          </a:xfrm>
          <a:prstGeom prst="rect">
            <a:avLst/>
          </a:prstGeom>
        </p:spPr>
      </p:pic>
      <p:sp>
        <p:nvSpPr>
          <p:cNvPr id="80" name="TextBox 79"/>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4"/>
          <a:stretch>
            <a:fillRect/>
          </a:stretch>
        </p:blipFill>
        <p:spPr>
          <a:xfrm>
            <a:off x="5464943" y="4437590"/>
            <a:ext cx="128699" cy="187198"/>
          </a:xfrm>
          <a:prstGeom prst="rect">
            <a:avLst/>
          </a:prstGeom>
        </p:spPr>
      </p:pic>
      <p:sp>
        <p:nvSpPr>
          <p:cNvPr id="82" name="TextBox 81"/>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4"/>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3890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341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579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1985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72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677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915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5341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37" name="Picture 36" descr="lock.png"/>
          <p:cNvPicPr>
            <a:picLocks noChangeAspect="1"/>
          </p:cNvPicPr>
          <p:nvPr/>
        </p:nvPicPr>
        <p:blipFill>
          <a:blip r:embed="rId5"/>
          <a:stretch>
            <a:fillRect/>
          </a:stretch>
        </p:blipFill>
        <p:spPr>
          <a:xfrm>
            <a:off x="11242504" y="1389951"/>
            <a:ext cx="134549" cy="195707"/>
          </a:xfrm>
          <a:prstGeom prst="rect">
            <a:avLst/>
          </a:prstGeom>
        </p:spPr>
      </p:pic>
      <p:sp>
        <p:nvSpPr>
          <p:cNvPr id="38" name="TextBox 37"/>
          <p:cNvSpPr txBox="1"/>
          <p:nvPr/>
        </p:nvSpPr>
        <p:spPr>
          <a:xfrm>
            <a:off x="11417614"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9" name="TextBox 38"/>
          <p:cNvSpPr txBox="1"/>
          <p:nvPr/>
        </p:nvSpPr>
        <p:spPr>
          <a:xfrm>
            <a:off x="7239000" y="1575435"/>
            <a:ext cx="4506478" cy="194310"/>
          </a:xfrm>
          <a:prstGeom prst="rect">
            <a:avLst/>
          </a:prstGeom>
          <a:noFill/>
        </p:spPr>
        <p:txBody>
          <a:bodyPr wrap="none" lIns="0" rIns="0" tIns="0" bIns="0">
            <a:spAutoFit/>
          </a:bodyPr>
          <a:lstStyle/>
          <a:p>
            <a:r>
              <a:rPr sz="1150" b="0">
                <a:solidFill>
                  <a:srgbClr val="2E2E2E"/>
                </a:solidFill>
                <a:latin typeface="Calibri"/>
              </a:rPr>
              <a:t>higher volume than Canada in 2036. Among removable partial dentures by</a:t>
            </a:r>
          </a:p>
        </p:txBody>
      </p:sp>
      <p:sp>
        <p:nvSpPr>
          <p:cNvPr id="40" name="TextBox 39"/>
          <p:cNvSpPr txBox="1"/>
          <p:nvPr/>
        </p:nvSpPr>
        <p:spPr>
          <a:xfrm>
            <a:off x="7239000" y="1750695"/>
            <a:ext cx="3612189" cy="194310"/>
          </a:xfrm>
          <a:prstGeom prst="rect">
            <a:avLst/>
          </a:prstGeom>
          <a:noFill/>
        </p:spPr>
        <p:txBody>
          <a:bodyPr wrap="none" lIns="0" rIns="0" tIns="0" bIns="0">
            <a:spAutoFit/>
          </a:bodyPr>
          <a:lstStyle/>
          <a:p>
            <a:r>
              <a:rPr sz="1150" b="0">
                <a:solidFill>
                  <a:srgbClr val="2E2E2E"/>
                </a:solidFill>
                <a:latin typeface="Calibri"/>
              </a:rPr>
              <a:t>country, Canada is expected to witness the highest CAGR of</a:t>
            </a:r>
          </a:p>
        </p:txBody>
      </p:sp>
      <p:pic>
        <p:nvPicPr>
          <p:cNvPr id="41" name="Picture 40" descr="lock.png"/>
          <p:cNvPicPr>
            <a:picLocks noChangeAspect="1"/>
          </p:cNvPicPr>
          <p:nvPr/>
        </p:nvPicPr>
        <p:blipFill>
          <a:blip r:embed="rId5"/>
          <a:stretch>
            <a:fillRect/>
          </a:stretch>
        </p:blipFill>
        <p:spPr>
          <a:xfrm>
            <a:off x="10800343" y="1740471"/>
            <a:ext cx="134549" cy="195707"/>
          </a:xfrm>
          <a:prstGeom prst="rect">
            <a:avLst/>
          </a:prstGeom>
        </p:spPr>
      </p:pic>
      <p:sp>
        <p:nvSpPr>
          <p:cNvPr id="42" name="TextBox 41"/>
          <p:cNvSpPr txBox="1"/>
          <p:nvPr/>
        </p:nvSpPr>
        <p:spPr>
          <a:xfrm>
            <a:off x="10975452"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3" name="TextBox 42"/>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44" name="TextBox 43"/>
          <p:cNvSpPr txBox="1"/>
          <p:nvPr/>
        </p:nvSpPr>
        <p:spPr>
          <a:xfrm>
            <a:off x="7239000" y="2153793"/>
            <a:ext cx="4231493"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a:t>
            </a:r>
          </a:p>
        </p:txBody>
      </p:sp>
      <p:sp>
        <p:nvSpPr>
          <p:cNvPr id="45" name="TextBox 44"/>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46" name="Picture 45" descr="lock.png"/>
          <p:cNvPicPr>
            <a:picLocks noChangeAspect="1"/>
          </p:cNvPicPr>
          <p:nvPr/>
        </p:nvPicPr>
        <p:blipFill>
          <a:blip r:embed="rId5"/>
          <a:stretch>
            <a:fillRect/>
          </a:stretch>
        </p:blipFill>
        <p:spPr>
          <a:xfrm>
            <a:off x="8106708" y="2318829"/>
            <a:ext cx="134549" cy="195707"/>
          </a:xfrm>
          <a:prstGeom prst="rect">
            <a:avLst/>
          </a:prstGeom>
        </p:spPr>
      </p:pic>
      <p:sp>
        <p:nvSpPr>
          <p:cNvPr id="47" name="TextBox 46"/>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676961" y="2318829"/>
            <a:ext cx="134549" cy="195707"/>
          </a:xfrm>
          <a:prstGeom prst="rect">
            <a:avLst/>
          </a:prstGeom>
        </p:spPr>
      </p:pic>
      <p:sp>
        <p:nvSpPr>
          <p:cNvPr id="49" name="TextBox 48"/>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37" name="Picture 36" descr="lock.png"/>
          <p:cNvPicPr>
            <a:picLocks noChangeAspect="1"/>
          </p:cNvPicPr>
          <p:nvPr/>
        </p:nvPicPr>
        <p:blipFill>
          <a:blip r:embed="rId5"/>
          <a:stretch>
            <a:fillRect/>
          </a:stretch>
        </p:blipFill>
        <p:spPr>
          <a:xfrm>
            <a:off x="11242504" y="1389951"/>
            <a:ext cx="134549" cy="195707"/>
          </a:xfrm>
          <a:prstGeom prst="rect">
            <a:avLst/>
          </a:prstGeom>
        </p:spPr>
      </p:pic>
      <p:sp>
        <p:nvSpPr>
          <p:cNvPr id="38" name="TextBox 37"/>
          <p:cNvSpPr txBox="1"/>
          <p:nvPr/>
        </p:nvSpPr>
        <p:spPr>
          <a:xfrm>
            <a:off x="11417614"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9" name="TextBox 38"/>
          <p:cNvSpPr txBox="1"/>
          <p:nvPr/>
        </p:nvSpPr>
        <p:spPr>
          <a:xfrm>
            <a:off x="7239000" y="1575435"/>
            <a:ext cx="4382678" cy="194310"/>
          </a:xfrm>
          <a:prstGeom prst="rect">
            <a:avLst/>
          </a:prstGeom>
          <a:noFill/>
        </p:spPr>
        <p:txBody>
          <a:bodyPr wrap="none" lIns="0" rIns="0" tIns="0" bIns="0">
            <a:spAutoFit/>
          </a:bodyPr>
          <a:lstStyle/>
          <a:p>
            <a:r>
              <a:rPr sz="1150" b="0">
                <a:solidFill>
                  <a:srgbClr val="2E2E2E"/>
                </a:solidFill>
                <a:latin typeface="Calibri"/>
              </a:rPr>
              <a:t>higher value than Canada in 2036. Among removable partial dentures by</a:t>
            </a:r>
          </a:p>
        </p:txBody>
      </p:sp>
      <p:sp>
        <p:nvSpPr>
          <p:cNvPr id="40" name="TextBox 39"/>
          <p:cNvSpPr txBox="1"/>
          <p:nvPr/>
        </p:nvSpPr>
        <p:spPr>
          <a:xfrm>
            <a:off x="7239000" y="1750695"/>
            <a:ext cx="3612189" cy="194310"/>
          </a:xfrm>
          <a:prstGeom prst="rect">
            <a:avLst/>
          </a:prstGeom>
          <a:noFill/>
        </p:spPr>
        <p:txBody>
          <a:bodyPr wrap="none" lIns="0" rIns="0" tIns="0" bIns="0">
            <a:spAutoFit/>
          </a:bodyPr>
          <a:lstStyle/>
          <a:p>
            <a:r>
              <a:rPr sz="1150" b="0">
                <a:solidFill>
                  <a:srgbClr val="2E2E2E"/>
                </a:solidFill>
                <a:latin typeface="Calibri"/>
              </a:rPr>
              <a:t>country, Canada is expected to witness the highest CAGR of</a:t>
            </a:r>
          </a:p>
        </p:txBody>
      </p:sp>
      <p:pic>
        <p:nvPicPr>
          <p:cNvPr id="41" name="Picture 40" descr="lock.png"/>
          <p:cNvPicPr>
            <a:picLocks noChangeAspect="1"/>
          </p:cNvPicPr>
          <p:nvPr/>
        </p:nvPicPr>
        <p:blipFill>
          <a:blip r:embed="rId5"/>
          <a:stretch>
            <a:fillRect/>
          </a:stretch>
        </p:blipFill>
        <p:spPr>
          <a:xfrm>
            <a:off x="10800343" y="1740471"/>
            <a:ext cx="134549" cy="195707"/>
          </a:xfrm>
          <a:prstGeom prst="rect">
            <a:avLst/>
          </a:prstGeom>
        </p:spPr>
      </p:pic>
      <p:sp>
        <p:nvSpPr>
          <p:cNvPr id="42" name="TextBox 41"/>
          <p:cNvSpPr txBox="1"/>
          <p:nvPr/>
        </p:nvSpPr>
        <p:spPr>
          <a:xfrm>
            <a:off x="10975452"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3" name="TextBox 42"/>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44" name="TextBox 43"/>
          <p:cNvSpPr txBox="1"/>
          <p:nvPr/>
        </p:nvSpPr>
        <p:spPr>
          <a:xfrm>
            <a:off x="7239000" y="2153793"/>
            <a:ext cx="4603179"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a:t>
            </a:r>
          </a:p>
        </p:txBody>
      </p:sp>
      <p:sp>
        <p:nvSpPr>
          <p:cNvPr id="45" name="TextBox 44"/>
          <p:cNvSpPr txBox="1"/>
          <p:nvPr/>
        </p:nvSpPr>
        <p:spPr>
          <a:xfrm>
            <a:off x="7239000" y="2329053"/>
            <a:ext cx="423068" cy="194310"/>
          </a:xfrm>
          <a:prstGeom prst="rect">
            <a:avLst/>
          </a:prstGeom>
          <a:noFill/>
        </p:spPr>
        <p:txBody>
          <a:bodyPr wrap="none" lIns="0" rIns="0" tIns="0" bIns="0">
            <a:spAutoFit/>
          </a:bodyPr>
          <a:lstStyle/>
          <a:p>
            <a:r>
              <a:rPr sz="1150" b="0">
                <a:solidFill>
                  <a:srgbClr val="2E2E2E"/>
                </a:solidFill>
                <a:latin typeface="Calibri"/>
              </a:rPr>
              <a:t>losing</a:t>
            </a:r>
          </a:p>
        </p:txBody>
      </p:sp>
      <p:pic>
        <p:nvPicPr>
          <p:cNvPr id="46" name="Picture 45" descr="lock.png"/>
          <p:cNvPicPr>
            <a:picLocks noChangeAspect="1"/>
          </p:cNvPicPr>
          <p:nvPr/>
        </p:nvPicPr>
        <p:blipFill>
          <a:blip r:embed="rId5"/>
          <a:stretch>
            <a:fillRect/>
          </a:stretch>
        </p:blipFill>
        <p:spPr>
          <a:xfrm>
            <a:off x="7611222" y="2318829"/>
            <a:ext cx="134549" cy="195707"/>
          </a:xfrm>
          <a:prstGeom prst="rect">
            <a:avLst/>
          </a:prstGeom>
        </p:spPr>
      </p:pic>
      <p:sp>
        <p:nvSpPr>
          <p:cNvPr id="47" name="TextBox 46"/>
          <p:cNvSpPr txBox="1"/>
          <p:nvPr/>
        </p:nvSpPr>
        <p:spPr>
          <a:xfrm>
            <a:off x="7786331"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181475" y="2318829"/>
            <a:ext cx="134549" cy="195707"/>
          </a:xfrm>
          <a:prstGeom prst="rect">
            <a:avLst/>
          </a:prstGeom>
        </p:spPr>
      </p:pic>
      <p:sp>
        <p:nvSpPr>
          <p:cNvPr id="49" name="TextBox 48"/>
          <p:cNvSpPr txBox="1"/>
          <p:nvPr/>
        </p:nvSpPr>
        <p:spPr>
          <a:xfrm>
            <a:off x="9356584"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(Units)</a:t>
            </a:r>
          </a:p>
        </p:txBody>
      </p:sp>
      <p:graphicFrame>
        <p:nvGraphicFramePr>
          <p:cNvPr id="13" name="Table 12"/>
          <p:cNvGraphicFramePr>
            <a:graphicFrameLocks noGrp="1"/>
          </p:cNvGraphicFramePr>
          <p:nvPr/>
        </p:nvGraphicFramePr>
        <p:xfrm>
          <a:off x="152400" y="1238250"/>
          <a:ext cx="11887202" cy="990600"/>
        </p:xfrm>
        <a:graphic>
          <a:graphicData uri="http://schemas.openxmlformats.org/drawingml/2006/table">
            <a:tbl>
              <a:tblPr>
                <a:tableStyleId>{5C22544A-7EE6-4342-B048-85BDC9FD1C3A}</a:tableStyleId>
              </a:tblPr>
              <a:tblGrid>
                <a:gridCol w="631593"/>
                <a:gridCol w="628947"/>
                <a:gridCol w="628947"/>
                <a:gridCol w="628947"/>
                <a:gridCol w="628947"/>
                <a:gridCol w="628947"/>
                <a:gridCol w="628947"/>
                <a:gridCol w="628947"/>
                <a:gridCol w="628947"/>
                <a:gridCol w="628947"/>
                <a:gridCol w="628947"/>
                <a:gridCol w="628947"/>
                <a:gridCol w="748007"/>
                <a:gridCol w="748007"/>
                <a:gridCol w="748007"/>
                <a:gridCol w="748007"/>
                <a:gridCol w="748007"/>
                <a:gridCol w="597157"/>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25107" y="1589913"/>
            <a:ext cx="366712" cy="533400"/>
          </a:xfrm>
          <a:prstGeom prst="rect">
            <a:avLst/>
          </a:prstGeom>
        </p:spPr>
      </p:pic>
      <p:sp>
        <p:nvSpPr>
          <p:cNvPr id="21" name="TextBox 20"/>
          <p:cNvSpPr txBox="1"/>
          <p:nvPr/>
        </p:nvSpPr>
        <p:spPr>
          <a:xfrm>
            <a:off x="276225" y="2990850"/>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79729" y="2980626"/>
            <a:ext cx="134549" cy="195707"/>
          </a:xfrm>
          <a:prstGeom prst="rect">
            <a:avLst/>
          </a:prstGeom>
        </p:spPr>
      </p:pic>
      <p:sp>
        <p:nvSpPr>
          <p:cNvPr id="23" name="TextBox 22"/>
          <p:cNvSpPr txBox="1"/>
          <p:nvPr/>
        </p:nvSpPr>
        <p:spPr>
          <a:xfrm>
            <a:off x="4454839" y="2990850"/>
            <a:ext cx="7195281" cy="194310"/>
          </a:xfrm>
          <a:prstGeom prst="rect">
            <a:avLst/>
          </a:prstGeom>
          <a:noFill/>
        </p:spPr>
        <p:txBody>
          <a:bodyPr wrap="none" lIns="0" rIns="0" tIns="0" bIns="0">
            <a:spAutoFit/>
          </a:bodyPr>
          <a:lstStyle/>
          <a:p>
            <a:r>
              <a:rPr sz="1150" b="0">
                <a:solidFill>
                  <a:srgbClr val="2E2E2E"/>
                </a:solidFill>
                <a:latin typeface="Calibri"/>
              </a:rPr>
              <a:t>X higher volume than Canada in 2036. Among removable partial dentures by country, Canada is expected to witness the</a:t>
            </a:r>
          </a:p>
        </p:txBody>
      </p:sp>
      <p:sp>
        <p:nvSpPr>
          <p:cNvPr id="24" name="TextBox 23"/>
          <p:cNvSpPr txBox="1"/>
          <p:nvPr/>
        </p:nvSpPr>
        <p:spPr>
          <a:xfrm>
            <a:off x="276225" y="31661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155886"/>
            <a:ext cx="134549" cy="195707"/>
          </a:xfrm>
          <a:prstGeom prst="rect">
            <a:avLst/>
          </a:prstGeom>
        </p:spPr>
      </p:pic>
      <p:sp>
        <p:nvSpPr>
          <p:cNvPr id="26" name="TextBox 25"/>
          <p:cNvSpPr txBox="1"/>
          <p:nvPr/>
        </p:nvSpPr>
        <p:spPr>
          <a:xfrm>
            <a:off x="1432841"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5106937"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332316" y="3383724"/>
            <a:ext cx="134549" cy="195707"/>
          </a:xfrm>
          <a:prstGeom prst="rect">
            <a:avLst/>
          </a:prstGeom>
        </p:spPr>
      </p:pic>
      <p:sp>
        <p:nvSpPr>
          <p:cNvPr id="29" name="TextBox 28"/>
          <p:cNvSpPr txBox="1"/>
          <p:nvPr/>
        </p:nvSpPr>
        <p:spPr>
          <a:xfrm>
            <a:off x="550742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902569" y="3383724"/>
            <a:ext cx="134549" cy="195707"/>
          </a:xfrm>
          <a:prstGeom prst="rect">
            <a:avLst/>
          </a:prstGeom>
        </p:spPr>
      </p:pic>
      <p:sp>
        <p:nvSpPr>
          <p:cNvPr id="31" name="TextBox 30"/>
          <p:cNvSpPr txBox="1"/>
          <p:nvPr/>
        </p:nvSpPr>
        <p:spPr>
          <a:xfrm>
            <a:off x="70776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79729" y="2980626"/>
            <a:ext cx="134549" cy="195707"/>
          </a:xfrm>
          <a:prstGeom prst="rect">
            <a:avLst/>
          </a:prstGeom>
        </p:spPr>
      </p:pic>
      <p:sp>
        <p:nvSpPr>
          <p:cNvPr id="23" name="TextBox 22"/>
          <p:cNvSpPr txBox="1"/>
          <p:nvPr/>
        </p:nvSpPr>
        <p:spPr>
          <a:xfrm>
            <a:off x="4454839" y="2990850"/>
            <a:ext cx="7071481" cy="194310"/>
          </a:xfrm>
          <a:prstGeom prst="rect">
            <a:avLst/>
          </a:prstGeom>
          <a:noFill/>
        </p:spPr>
        <p:txBody>
          <a:bodyPr wrap="none" lIns="0" rIns="0" tIns="0" bIns="0">
            <a:spAutoFit/>
          </a:bodyPr>
          <a:lstStyle/>
          <a:p>
            <a:r>
              <a:rPr sz="1150" b="0">
                <a:solidFill>
                  <a:srgbClr val="2E2E2E"/>
                </a:solidFill>
                <a:latin typeface="Calibri"/>
              </a:rPr>
              <a:t>X higher value than Canada in 2036. Among removable partial dentures by country, Canada is expected to witness the</a:t>
            </a:r>
          </a:p>
        </p:txBody>
      </p:sp>
      <p:sp>
        <p:nvSpPr>
          <p:cNvPr id="24" name="TextBox 23"/>
          <p:cNvSpPr txBox="1"/>
          <p:nvPr/>
        </p:nvSpPr>
        <p:spPr>
          <a:xfrm>
            <a:off x="276225" y="31661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155886"/>
            <a:ext cx="134549" cy="195707"/>
          </a:xfrm>
          <a:prstGeom prst="rect">
            <a:avLst/>
          </a:prstGeom>
        </p:spPr>
      </p:pic>
      <p:sp>
        <p:nvSpPr>
          <p:cNvPr id="26" name="TextBox 25"/>
          <p:cNvSpPr txBox="1"/>
          <p:nvPr/>
        </p:nvSpPr>
        <p:spPr>
          <a:xfrm>
            <a:off x="1432841"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4983137"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208516" y="3383724"/>
            <a:ext cx="134549" cy="195707"/>
          </a:xfrm>
          <a:prstGeom prst="rect">
            <a:avLst/>
          </a:prstGeom>
        </p:spPr>
      </p:pic>
      <p:sp>
        <p:nvSpPr>
          <p:cNvPr id="29" name="TextBox 28"/>
          <p:cNvSpPr txBox="1"/>
          <p:nvPr/>
        </p:nvSpPr>
        <p:spPr>
          <a:xfrm>
            <a:off x="5383625"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778769" y="3383724"/>
            <a:ext cx="134549" cy="195707"/>
          </a:xfrm>
          <a:prstGeom prst="rect">
            <a:avLst/>
          </a:prstGeom>
        </p:spPr>
      </p:pic>
      <p:sp>
        <p:nvSpPr>
          <p:cNvPr id="31" name="TextBox 30"/>
          <p:cNvSpPr txBox="1"/>
          <p:nvPr/>
        </p:nvSpPr>
        <p:spPr>
          <a:xfrm>
            <a:off x="69538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9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5" y="1266825"/>
            <a:ext cx="381636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4"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8" y="3919537"/>
            <a:ext cx="115252" cy="167639"/>
          </a:xfrm>
          <a:prstGeom prst="rect">
            <a:avLst/>
          </a:prstGeom>
        </p:spPr>
      </p:pic>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32_6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64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2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4_4_605E5C.png"/>
          <p:cNvPicPr>
            <a:picLocks noChangeAspect="1"/>
          </p:cNvPicPr>
          <p:nvPr/>
        </p:nvPicPr>
        <p:blipFill>
          <a:blip r:embed="rId7"/>
          <a:stretch>
            <a:fillRect/>
          </a:stretch>
        </p:blipFill>
        <p:spPr>
          <a:xfrm>
            <a:off x="5111864" y="2286582"/>
            <a:ext cx="982436" cy="361950"/>
          </a:xfrm>
          <a:prstGeom prst="rect">
            <a:avLst/>
          </a:prstGeom>
        </p:spPr>
      </p:pic>
      <p:pic>
        <p:nvPicPr>
          <p:cNvPr id="68" name="Picture 67" descr="143_8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75_8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129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5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8_5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86_5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2_4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05397" cy="186689"/>
          </a:xfrm>
          <a:prstGeom prst="rect">
            <a:avLst/>
          </a:prstGeom>
          <a:noFill/>
        </p:spPr>
        <p:txBody>
          <a:bodyPr wrap="none" lIns="0" rIns="0" tIns="0" bIns="0">
            <a:spAutoFit/>
          </a:bodyPr>
          <a:lstStyle/>
          <a:p>
            <a:r>
              <a:rPr sz="1100" b="0">
                <a:solidFill>
                  <a:srgbClr val="2E2E2E"/>
                </a:solidFill>
                <a:latin typeface="Calibri"/>
              </a:rPr>
              <a:t>▪ ¶ Among removable partial dentures by product</a:t>
            </a:r>
          </a:p>
        </p:txBody>
      </p:sp>
      <p:sp>
        <p:nvSpPr>
          <p:cNvPr id="81" name="TextBox 80"/>
          <p:cNvSpPr txBox="1"/>
          <p:nvPr/>
        </p:nvSpPr>
        <p:spPr>
          <a:xfrm>
            <a:off x="485775" y="4397077"/>
            <a:ext cx="2564060" cy="186689"/>
          </a:xfrm>
          <a:prstGeom prst="rect">
            <a:avLst/>
          </a:prstGeom>
          <a:noFill/>
        </p:spPr>
        <p:txBody>
          <a:bodyPr wrap="none" lIns="0" rIns="0" tIns="0" bIns="0">
            <a:spAutoFit/>
          </a:bodyPr>
          <a:lstStyle/>
          <a:p>
            <a:r>
              <a:rPr sz="1100" b="0">
                <a:solidFill>
                  <a:srgbClr val="2E2E2E"/>
                </a:solidFill>
                <a:latin typeface="Calibri"/>
              </a:rPr>
              <a:t>type, cast metal partial dentures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product type, the flexible partial dentures segment</a:t>
            </a:r>
          </a:p>
        </p:txBody>
      </p:sp>
      <p:sp>
        <p:nvSpPr>
          <p:cNvPr id="87" name="TextBox 86"/>
          <p:cNvSpPr txBox="1"/>
          <p:nvPr/>
        </p:nvSpPr>
        <p:spPr>
          <a:xfrm>
            <a:off x="485775" y="5067637"/>
            <a:ext cx="2507307" cy="186689"/>
          </a:xfrm>
          <a:prstGeom prst="rect">
            <a:avLst/>
          </a:prstGeom>
          <a:noFill/>
        </p:spPr>
        <p:txBody>
          <a:bodyPr wrap="none" lIns="0" rIns="0" tIns="0" bIns="0">
            <a:spAutoFit/>
          </a:bodyPr>
          <a:lstStyle/>
          <a:p>
            <a:r>
              <a:rPr sz="1100" b="0">
                <a:solidFill>
                  <a:srgbClr val="2E2E2E"/>
                </a:solidFill>
                <a:latin typeface="Calibri"/>
              </a:rPr>
              <a:t>is expected to dominate the market, losing</a:t>
            </a:r>
          </a:p>
        </p:txBody>
      </p:sp>
      <p:pic>
        <p:nvPicPr>
          <p:cNvPr id="88" name="Picture 87" descr="lock.png"/>
          <p:cNvPicPr>
            <a:picLocks noChangeAspect="1"/>
          </p:cNvPicPr>
          <p:nvPr/>
        </p:nvPicPr>
        <p:blipFill>
          <a:blip r:embed="rId16"/>
          <a:stretch>
            <a:fillRect/>
          </a:stretch>
        </p:blipFill>
        <p:spPr>
          <a:xfrm>
            <a:off x="2941134" y="5057858"/>
            <a:ext cx="128699" cy="187198"/>
          </a:xfrm>
          <a:prstGeom prst="rect">
            <a:avLst/>
          </a:prstGeom>
        </p:spPr>
      </p:pic>
      <p:sp>
        <p:nvSpPr>
          <p:cNvPr id="89" name="TextBox 88"/>
          <p:cNvSpPr txBox="1"/>
          <p:nvPr/>
        </p:nvSpPr>
        <p:spPr>
          <a:xfrm>
            <a:off x="485775"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90" name="Picture 89" descr="lock.png"/>
          <p:cNvPicPr>
            <a:picLocks noChangeAspect="1"/>
          </p:cNvPicPr>
          <p:nvPr/>
        </p:nvPicPr>
        <p:blipFill>
          <a:blip r:embed="rId16"/>
          <a:stretch>
            <a:fillRect/>
          </a:stretch>
        </p:blipFill>
        <p:spPr>
          <a:xfrm>
            <a:off x="1820259" y="5225498"/>
            <a:ext cx="128699" cy="187198"/>
          </a:xfrm>
          <a:prstGeom prst="rect">
            <a:avLst/>
          </a:prstGeom>
        </p:spPr>
      </p:pic>
      <p:sp>
        <p:nvSpPr>
          <p:cNvPr id="91" name="TextBox 90"/>
          <p:cNvSpPr txBox="1"/>
          <p:nvPr/>
        </p:nvSpPr>
        <p:spPr>
          <a:xfrm>
            <a:off x="198775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2" name="TextBox 91"/>
          <p:cNvSpPr txBox="1"/>
          <p:nvPr/>
        </p:nvSpPr>
        <p:spPr>
          <a:xfrm>
            <a:off x="485775" y="5453209"/>
            <a:ext cx="2866107" cy="186689"/>
          </a:xfrm>
          <a:prstGeom prst="rect">
            <a:avLst/>
          </a:prstGeom>
          <a:noFill/>
        </p:spPr>
        <p:txBody>
          <a:bodyPr wrap="none" lIns="0" rIns="0" tIns="0" bIns="0">
            <a:spAutoFit/>
          </a:bodyPr>
          <a:lstStyle/>
          <a:p>
            <a:r>
              <a:rPr sz="1100" b="0">
                <a:solidFill>
                  <a:srgbClr val="2E2E2E"/>
                </a:solidFill>
                <a:latin typeface="Calibri"/>
              </a:rPr>
              <a:t>▪ ¶ Flexible partial dentures segment is projected</a:t>
            </a:r>
          </a:p>
        </p:txBody>
      </p:sp>
      <p:sp>
        <p:nvSpPr>
          <p:cNvPr id="93" name="TextBox 9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94" name="Picture 93" descr="lock.png"/>
          <p:cNvPicPr>
            <a:picLocks noChangeAspect="1"/>
          </p:cNvPicPr>
          <p:nvPr/>
        </p:nvPicPr>
        <p:blipFill>
          <a:blip r:embed="rId16"/>
          <a:stretch>
            <a:fillRect/>
          </a:stretch>
        </p:blipFill>
        <p:spPr>
          <a:xfrm>
            <a:off x="1098567" y="5611070"/>
            <a:ext cx="128699" cy="187198"/>
          </a:xfrm>
          <a:prstGeom prst="rect">
            <a:avLst/>
          </a:prstGeom>
        </p:spPr>
      </p:pic>
      <p:sp>
        <p:nvSpPr>
          <p:cNvPr id="95" name="TextBox 94"/>
          <p:cNvSpPr txBox="1"/>
          <p:nvPr/>
        </p:nvSpPr>
        <p:spPr>
          <a:xfrm>
            <a:off x="1266063" y="5620849"/>
            <a:ext cx="1920676" cy="186689"/>
          </a:xfrm>
          <a:prstGeom prst="rect">
            <a:avLst/>
          </a:prstGeom>
          <a:noFill/>
        </p:spPr>
        <p:txBody>
          <a:bodyPr wrap="none" lIns="0" rIns="0" tIns="0" bIns="0">
            <a:spAutoFit/>
          </a:bodyPr>
          <a:lstStyle/>
          <a:p>
            <a:r>
              <a:rPr sz="1100" b="0">
                <a:solidFill>
                  <a:srgbClr val="2E2E2E"/>
                </a:solidFill>
                <a:latin typeface="Calibri"/>
              </a:rPr>
              <a:t>X higher value than combination</a:t>
            </a:r>
          </a:p>
        </p:txBody>
      </p:sp>
      <p:sp>
        <p:nvSpPr>
          <p:cNvPr id="96" name="TextBox 95"/>
          <p:cNvSpPr txBox="1"/>
          <p:nvPr/>
        </p:nvSpPr>
        <p:spPr>
          <a:xfrm>
            <a:off x="485775" y="5788489"/>
            <a:ext cx="2652737" cy="186689"/>
          </a:xfrm>
          <a:prstGeom prst="rect">
            <a:avLst/>
          </a:prstGeom>
          <a:noFill/>
        </p:spPr>
        <p:txBody>
          <a:bodyPr wrap="none" lIns="0" rIns="0" tIns="0" bIns="0">
            <a:spAutoFit/>
          </a:bodyPr>
          <a:lstStyle/>
          <a:p>
            <a:r>
              <a:rPr sz="1100" b="0">
                <a:solidFill>
                  <a:srgbClr val="2E2E2E"/>
                </a:solidFill>
                <a:latin typeface="Calibri"/>
              </a:rPr>
              <a:t>framework partial dentures segment in 2036.</a:t>
            </a:r>
          </a:p>
        </p:txBody>
      </p:sp>
      <p:sp>
        <p:nvSpPr>
          <p:cNvPr id="97" name="TextBox 96"/>
          <p:cNvSpPr txBox="1"/>
          <p:nvPr/>
        </p:nvSpPr>
        <p:spPr>
          <a:xfrm>
            <a:off x="3838575" y="4229437"/>
            <a:ext cx="1615082" cy="186689"/>
          </a:xfrm>
          <a:prstGeom prst="rect">
            <a:avLst/>
          </a:prstGeom>
          <a:noFill/>
        </p:spPr>
        <p:txBody>
          <a:bodyPr wrap="none" lIns="0" rIns="0" tIns="0" bIns="0">
            <a:spAutoFit/>
          </a:bodyPr>
          <a:lstStyle/>
          <a:p>
            <a:r>
              <a:rPr sz="1100" b="0">
                <a:solidFill>
                  <a:srgbClr val="2E2E2E"/>
                </a:solidFill>
                <a:latin typeface="Calibri"/>
              </a:rPr>
              <a:t>● Flexible Partial Dentures:</a:t>
            </a:r>
          </a:p>
        </p:txBody>
      </p:sp>
      <p:pic>
        <p:nvPicPr>
          <p:cNvPr id="98" name="Picture 97" descr="lock.png"/>
          <p:cNvPicPr>
            <a:picLocks noChangeAspect="1"/>
          </p:cNvPicPr>
          <p:nvPr/>
        </p:nvPicPr>
        <p:blipFill>
          <a:blip r:embed="rId16"/>
          <a:stretch>
            <a:fillRect/>
          </a:stretch>
        </p:blipFill>
        <p:spPr>
          <a:xfrm>
            <a:off x="5401709" y="4219658"/>
            <a:ext cx="128699" cy="187198"/>
          </a:xfrm>
          <a:prstGeom prst="rect">
            <a:avLst/>
          </a:prstGeom>
        </p:spPr>
      </p:pic>
      <p:sp>
        <p:nvSpPr>
          <p:cNvPr id="99" name="TextBox 98"/>
          <p:cNvSpPr txBox="1"/>
          <p:nvPr/>
        </p:nvSpPr>
        <p:spPr>
          <a:xfrm>
            <a:off x="55692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428655" y="4219658"/>
            <a:ext cx="128699" cy="187198"/>
          </a:xfrm>
          <a:prstGeom prst="rect">
            <a:avLst/>
          </a:prstGeom>
        </p:spPr>
      </p:pic>
      <p:sp>
        <p:nvSpPr>
          <p:cNvPr id="101" name="TextBox 100"/>
          <p:cNvSpPr txBox="1"/>
          <p:nvPr/>
        </p:nvSpPr>
        <p:spPr>
          <a:xfrm>
            <a:off x="659615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02" name="TextBox 10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03" name="TextBox 102"/>
          <p:cNvSpPr txBox="1"/>
          <p:nvPr/>
        </p:nvSpPr>
        <p:spPr>
          <a:xfrm>
            <a:off x="3838575" y="4615009"/>
            <a:ext cx="2591618" cy="186689"/>
          </a:xfrm>
          <a:prstGeom prst="rect">
            <a:avLst/>
          </a:prstGeom>
          <a:noFill/>
        </p:spPr>
        <p:txBody>
          <a:bodyPr wrap="none" lIns="0" rIns="0" tIns="0" bIns="0">
            <a:spAutoFit/>
          </a:bodyPr>
          <a:lstStyle/>
          <a:p>
            <a:r>
              <a:rPr sz="1100" b="0">
                <a:solidFill>
                  <a:srgbClr val="2E2E2E"/>
                </a:solidFill>
                <a:latin typeface="Calibri"/>
              </a:rPr>
              <a:t>● Combination Framework Partial Dentures:</a:t>
            </a:r>
          </a:p>
        </p:txBody>
      </p:sp>
      <p:pic>
        <p:nvPicPr>
          <p:cNvPr id="104" name="Picture 103" descr="lock.png"/>
          <p:cNvPicPr>
            <a:picLocks noChangeAspect="1"/>
          </p:cNvPicPr>
          <p:nvPr/>
        </p:nvPicPr>
        <p:blipFill>
          <a:blip r:embed="rId16"/>
          <a:stretch>
            <a:fillRect/>
          </a:stretch>
        </p:blipFill>
        <p:spPr>
          <a:xfrm>
            <a:off x="6378245" y="4605230"/>
            <a:ext cx="128699" cy="187198"/>
          </a:xfrm>
          <a:prstGeom prst="rect">
            <a:avLst/>
          </a:prstGeom>
        </p:spPr>
      </p:pic>
      <p:sp>
        <p:nvSpPr>
          <p:cNvPr id="105" name="TextBox 104"/>
          <p:cNvSpPr txBox="1"/>
          <p:nvPr/>
        </p:nvSpPr>
        <p:spPr>
          <a:xfrm>
            <a:off x="654574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405191" y="4605230"/>
            <a:ext cx="128699" cy="187198"/>
          </a:xfrm>
          <a:prstGeom prst="rect">
            <a:avLst/>
          </a:prstGeom>
        </p:spPr>
      </p:pic>
      <p:sp>
        <p:nvSpPr>
          <p:cNvPr id="107" name="TextBox 106"/>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5000581"/>
            <a:ext cx="1790799" cy="186689"/>
          </a:xfrm>
          <a:prstGeom prst="rect">
            <a:avLst/>
          </a:prstGeom>
          <a:noFill/>
        </p:spPr>
        <p:txBody>
          <a:bodyPr wrap="none" lIns="0" rIns="0" tIns="0" bIns="0">
            <a:spAutoFit/>
          </a:bodyPr>
          <a:lstStyle/>
          <a:p>
            <a:r>
              <a:rPr sz="1100" b="0">
                <a:solidFill>
                  <a:srgbClr val="2E2E2E"/>
                </a:solidFill>
                <a:latin typeface="Calibri"/>
              </a:rPr>
              <a:t>● Cast Metal Partial Dentures:</a:t>
            </a:r>
          </a:p>
        </p:txBody>
      </p:sp>
      <p:pic>
        <p:nvPicPr>
          <p:cNvPr id="109" name="Picture 108" descr="lock.png"/>
          <p:cNvPicPr>
            <a:picLocks noChangeAspect="1"/>
          </p:cNvPicPr>
          <p:nvPr/>
        </p:nvPicPr>
        <p:blipFill>
          <a:blip r:embed="rId16"/>
          <a:stretch>
            <a:fillRect/>
          </a:stretch>
        </p:blipFill>
        <p:spPr>
          <a:xfrm>
            <a:off x="5577425" y="4990801"/>
            <a:ext cx="128699" cy="187198"/>
          </a:xfrm>
          <a:prstGeom prst="rect">
            <a:avLst/>
          </a:prstGeom>
        </p:spPr>
      </p:pic>
      <p:sp>
        <p:nvSpPr>
          <p:cNvPr id="110" name="TextBox 109"/>
          <p:cNvSpPr txBox="1"/>
          <p:nvPr/>
        </p:nvSpPr>
        <p:spPr>
          <a:xfrm>
            <a:off x="574492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6604371" y="4990801"/>
            <a:ext cx="128699" cy="187198"/>
          </a:xfrm>
          <a:prstGeom prst="rect">
            <a:avLst/>
          </a:prstGeom>
        </p:spPr>
      </p:pic>
      <p:sp>
        <p:nvSpPr>
          <p:cNvPr id="112" name="TextBox 111"/>
          <p:cNvSpPr txBox="1"/>
          <p:nvPr/>
        </p:nvSpPr>
        <p:spPr>
          <a:xfrm>
            <a:off x="6771867" y="500058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3" name="TextBox 112"/>
          <p:cNvSpPr txBox="1"/>
          <p:nvPr/>
        </p:nvSpPr>
        <p:spPr>
          <a:xfrm>
            <a:off x="3838575" y="516822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4" name="TextBox 113"/>
          <p:cNvSpPr txBox="1"/>
          <p:nvPr/>
        </p:nvSpPr>
        <p:spPr>
          <a:xfrm>
            <a:off x="3838575" y="5386153"/>
            <a:ext cx="1556965" cy="186689"/>
          </a:xfrm>
          <a:prstGeom prst="rect">
            <a:avLst/>
          </a:prstGeom>
          <a:noFill/>
        </p:spPr>
        <p:txBody>
          <a:bodyPr wrap="none" lIns="0" rIns="0" tIns="0" bIns="0">
            <a:spAutoFit/>
          </a:bodyPr>
          <a:lstStyle/>
          <a:p>
            <a:r>
              <a:rPr sz="1100" b="0">
                <a:solidFill>
                  <a:srgbClr val="2E2E2E"/>
                </a:solidFill>
                <a:latin typeface="Calibri"/>
              </a:rPr>
              <a:t>● Acrylic Partial Dentures:</a:t>
            </a:r>
          </a:p>
        </p:txBody>
      </p:sp>
      <p:pic>
        <p:nvPicPr>
          <p:cNvPr id="115" name="Picture 114" descr="lock.png"/>
          <p:cNvPicPr>
            <a:picLocks noChangeAspect="1"/>
          </p:cNvPicPr>
          <p:nvPr/>
        </p:nvPicPr>
        <p:blipFill>
          <a:blip r:embed="rId16"/>
          <a:stretch>
            <a:fillRect/>
          </a:stretch>
        </p:blipFill>
        <p:spPr>
          <a:xfrm>
            <a:off x="5343592" y="5376373"/>
            <a:ext cx="128699" cy="187198"/>
          </a:xfrm>
          <a:prstGeom prst="rect">
            <a:avLst/>
          </a:prstGeom>
        </p:spPr>
      </p:pic>
      <p:sp>
        <p:nvSpPr>
          <p:cNvPr id="116" name="TextBox 115"/>
          <p:cNvSpPr txBox="1"/>
          <p:nvPr/>
        </p:nvSpPr>
        <p:spPr>
          <a:xfrm>
            <a:off x="5511087"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7" name="Picture 116" descr="lock.png"/>
          <p:cNvPicPr>
            <a:picLocks noChangeAspect="1"/>
          </p:cNvPicPr>
          <p:nvPr/>
        </p:nvPicPr>
        <p:blipFill>
          <a:blip r:embed="rId16"/>
          <a:stretch>
            <a:fillRect/>
          </a:stretch>
        </p:blipFill>
        <p:spPr>
          <a:xfrm>
            <a:off x="6370538" y="5376373"/>
            <a:ext cx="128699" cy="187198"/>
          </a:xfrm>
          <a:prstGeom prst="rect">
            <a:avLst/>
          </a:prstGeom>
        </p:spPr>
      </p:pic>
      <p:sp>
        <p:nvSpPr>
          <p:cNvPr id="118" name="TextBox 117"/>
          <p:cNvSpPr txBox="1"/>
          <p:nvPr/>
        </p:nvSpPr>
        <p:spPr>
          <a:xfrm>
            <a:off x="6538033" y="538615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9" name="TextBox 11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120" name="TextBox 119"/>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1" name="Picture 120" descr="lock.png"/>
          <p:cNvPicPr>
            <a:picLocks noChangeAspect="1"/>
          </p:cNvPicPr>
          <p:nvPr/>
        </p:nvPicPr>
        <p:blipFill>
          <a:blip r:embed="rId16"/>
          <a:stretch>
            <a:fillRect/>
          </a:stretch>
        </p:blipFill>
        <p:spPr>
          <a:xfrm>
            <a:off x="9048826" y="6007677"/>
            <a:ext cx="134549" cy="195707"/>
          </a:xfrm>
          <a:prstGeom prst="rect">
            <a:avLst/>
          </a:prstGeom>
        </p:spPr>
      </p:pic>
      <p:sp>
        <p:nvSpPr>
          <p:cNvPr id="122" name="TextBox 121"/>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Cast metal partial dentures followed by combination framework partial dentures are expected to be the two most attractive product type segments in the North America removable partial dentures market</a:t>
            </a:r>
          </a:p>
        </p:txBody>
      </p:sp>
      <p:sp>
        <p:nvSpPr>
          <p:cNvPr id="21" name="TextBox 20"/>
          <p:cNvSpPr txBox="1"/>
          <p:nvPr/>
        </p:nvSpPr>
        <p:spPr>
          <a:xfrm>
            <a:off x="257175" y="5861685"/>
            <a:ext cx="7991879" cy="186689"/>
          </a:xfrm>
          <a:prstGeom prst="rect">
            <a:avLst/>
          </a:prstGeom>
          <a:noFill/>
        </p:spPr>
        <p:txBody>
          <a:bodyPr wrap="none" lIns="0" rIns="0" tIns="0" bIns="0">
            <a:spAutoFit/>
          </a:bodyPr>
          <a:lstStyle/>
          <a:p>
            <a:r>
              <a:rPr sz="1100" b="0">
                <a:solidFill>
                  <a:srgbClr val="2E2E2E"/>
                </a:solidFill>
                <a:latin typeface="Calibri"/>
              </a:rPr>
              <a:t>in terms of value over the forecast period. Cast metal partial dentures and combination framework partial dentures exhibit a CAGR index of</a:t>
            </a:r>
          </a:p>
        </p:txBody>
      </p:sp>
      <p:pic>
        <p:nvPicPr>
          <p:cNvPr id="22" name="Picture 21" descr="lock.png"/>
          <p:cNvPicPr>
            <a:picLocks noChangeAspect="1"/>
          </p:cNvPicPr>
          <p:nvPr/>
        </p:nvPicPr>
        <p:blipFill>
          <a:blip r:embed="rId6"/>
          <a:stretch>
            <a:fillRect/>
          </a:stretch>
        </p:blipFill>
        <p:spPr>
          <a:xfrm>
            <a:off x="8197106" y="5851905"/>
            <a:ext cx="128699" cy="187198"/>
          </a:xfrm>
          <a:prstGeom prst="rect">
            <a:avLst/>
          </a:prstGeom>
        </p:spPr>
      </p:pic>
      <p:sp>
        <p:nvSpPr>
          <p:cNvPr id="23" name="TextBox 22"/>
          <p:cNvSpPr txBox="1"/>
          <p:nvPr/>
        </p:nvSpPr>
        <p:spPr>
          <a:xfrm>
            <a:off x="836460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602496" y="5851905"/>
            <a:ext cx="128699" cy="187198"/>
          </a:xfrm>
          <a:prstGeom prst="rect">
            <a:avLst/>
          </a:prstGeom>
        </p:spPr>
      </p:pic>
      <p:sp>
        <p:nvSpPr>
          <p:cNvPr id="25" name="TextBox 24"/>
          <p:cNvSpPr txBox="1"/>
          <p:nvPr/>
        </p:nvSpPr>
        <p:spPr>
          <a:xfrm>
            <a:off x="876999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378965" y="5851905"/>
            <a:ext cx="128699" cy="187198"/>
          </a:xfrm>
          <a:prstGeom prst="rect">
            <a:avLst/>
          </a:prstGeom>
        </p:spPr>
      </p:pic>
      <p:sp>
        <p:nvSpPr>
          <p:cNvPr id="27" name="TextBox 26"/>
          <p:cNvSpPr txBox="1"/>
          <p:nvPr/>
        </p:nvSpPr>
        <p:spPr>
          <a:xfrm>
            <a:off x="1054646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784355" y="5851905"/>
            <a:ext cx="128699" cy="187198"/>
          </a:xfrm>
          <a:prstGeom prst="rect">
            <a:avLst/>
          </a:prstGeom>
        </p:spPr>
      </p:pic>
      <p:sp>
        <p:nvSpPr>
          <p:cNvPr id="29" name="TextBox 28"/>
          <p:cNvSpPr txBox="1"/>
          <p:nvPr/>
        </p:nvSpPr>
        <p:spPr>
          <a:xfrm>
            <a:off x="257175"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019545"/>
            <a:ext cx="128699" cy="187198"/>
          </a:xfrm>
          <a:prstGeom prst="rect">
            <a:avLst/>
          </a:prstGeom>
        </p:spPr>
      </p:pic>
      <p:sp>
        <p:nvSpPr>
          <p:cNvPr id="31" name="TextBox 30"/>
          <p:cNvSpPr txBox="1"/>
          <p:nvPr/>
        </p:nvSpPr>
        <p:spPr>
          <a:xfrm>
            <a:off x="2979074" y="6029325"/>
            <a:ext cx="8952862" cy="186689"/>
          </a:xfrm>
          <a:prstGeom prst="rect">
            <a:avLst/>
          </a:prstGeom>
          <a:noFill/>
        </p:spPr>
        <p:txBody>
          <a:bodyPr wrap="none" lIns="0" rIns="0" tIns="0" bIns="0">
            <a:spAutoFit/>
          </a:bodyPr>
          <a:lstStyle/>
          <a:p>
            <a:r>
              <a:rPr sz="1100" b="0">
                <a:solidFill>
                  <a:srgbClr val="2E2E2E"/>
                </a:solidFill>
                <a:latin typeface="Calibri"/>
              </a:rPr>
              <a:t>. The acrylic partial dentures segment is expected to be less attractive as compared to other segments over the forecast period, owing to its lower CAGR and</a:t>
            </a:r>
          </a:p>
        </p:txBody>
      </p:sp>
      <p:sp>
        <p:nvSpPr>
          <p:cNvPr id="32" name="TextBox 31"/>
          <p:cNvSpPr txBox="1"/>
          <p:nvPr/>
        </p:nvSpPr>
        <p:spPr>
          <a:xfrm>
            <a:off x="257175" y="6196965"/>
            <a:ext cx="5838262" cy="186689"/>
          </a:xfrm>
          <a:prstGeom prst="rect">
            <a:avLst/>
          </a:prstGeom>
          <a:noFill/>
        </p:spPr>
        <p:txBody>
          <a:bodyPr wrap="none" lIns="0" rIns="0" tIns="0" bIns="0">
            <a:spAutoFit/>
          </a:bodyPr>
          <a:lstStyle/>
          <a:p>
            <a:r>
              <a:rPr sz="1100" b="0">
                <a:solidFill>
                  <a:srgbClr val="2E2E2E"/>
                </a:solidFill>
                <a:latin typeface="Calibri"/>
              </a:rPr>
              <a:t>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(Units)</a:t>
            </a:r>
          </a:p>
        </p:txBody>
      </p:sp>
      <p:graphicFrame>
        <p:nvGraphicFramePr>
          <p:cNvPr id="13" name="Table 12"/>
          <p:cNvGraphicFramePr>
            <a:graphicFrameLocks noGrp="1"/>
          </p:cNvGraphicFramePr>
          <p:nvPr/>
        </p:nvGraphicFramePr>
        <p:xfrm>
          <a:off x="152400" y="1238250"/>
          <a:ext cx="11887207" cy="1866898"/>
        </p:xfrm>
        <a:graphic>
          <a:graphicData uri="http://schemas.openxmlformats.org/drawingml/2006/table">
            <a:tbl>
              <a:tblPr>
                <a:tableStyleId>{5C22544A-7EE6-4342-B048-85BDC9FD1C3A}</a:tableStyleId>
              </a:tblPr>
              <a:tblGrid>
                <a:gridCol w="245394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Cast Metal Partial 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Acrylic Partial 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Flexible Partial 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Combination 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36283" y="2124454"/>
            <a:ext cx="366712" cy="533400"/>
          </a:xfrm>
          <a:prstGeom prst="rect">
            <a:avLst/>
          </a:prstGeom>
        </p:spPr>
      </p:pic>
      <p:sp>
        <p:nvSpPr>
          <p:cNvPr id="21" name="TextBox 20"/>
          <p:cNvSpPr txBox="1"/>
          <p:nvPr/>
        </p:nvSpPr>
        <p:spPr>
          <a:xfrm>
            <a:off x="276225" y="3867150"/>
            <a:ext cx="4436305" cy="194310"/>
          </a:xfrm>
          <a:prstGeom prst="rect">
            <a:avLst/>
          </a:prstGeom>
          <a:noFill/>
        </p:spPr>
        <p:txBody>
          <a:bodyPr wrap="none" lIns="0" rIns="0" tIns="0" bIns="0">
            <a:spAutoFit/>
          </a:bodyPr>
          <a:lstStyle/>
          <a:p>
            <a:r>
              <a:rPr sz="1150" b="0">
                <a:solidFill>
                  <a:srgbClr val="2E2E2E"/>
                </a:solidFill>
                <a:latin typeface="Calibri"/>
              </a:rPr>
              <a:t>Combination framework partial dentures segment is projected to register</a:t>
            </a:r>
          </a:p>
        </p:txBody>
      </p:sp>
      <p:pic>
        <p:nvPicPr>
          <p:cNvPr id="22" name="Picture 21" descr="lock.png"/>
          <p:cNvPicPr>
            <a:picLocks noChangeAspect="1"/>
          </p:cNvPicPr>
          <p:nvPr/>
        </p:nvPicPr>
        <p:blipFill>
          <a:blip r:embed="rId4"/>
          <a:stretch>
            <a:fillRect/>
          </a:stretch>
        </p:blipFill>
        <p:spPr>
          <a:xfrm>
            <a:off x="4661684" y="3856926"/>
            <a:ext cx="134549" cy="195707"/>
          </a:xfrm>
          <a:prstGeom prst="rect">
            <a:avLst/>
          </a:prstGeom>
        </p:spPr>
      </p:pic>
      <p:sp>
        <p:nvSpPr>
          <p:cNvPr id="23" name="TextBox 22"/>
          <p:cNvSpPr txBox="1"/>
          <p:nvPr/>
        </p:nvSpPr>
        <p:spPr>
          <a:xfrm>
            <a:off x="4836794" y="3867150"/>
            <a:ext cx="6819602" cy="194310"/>
          </a:xfrm>
          <a:prstGeom prst="rect">
            <a:avLst/>
          </a:prstGeom>
          <a:noFill/>
        </p:spPr>
        <p:txBody>
          <a:bodyPr wrap="none" lIns="0" rIns="0" tIns="0" bIns="0">
            <a:spAutoFit/>
          </a:bodyPr>
          <a:lstStyle/>
          <a:p>
            <a:r>
              <a:rPr sz="1150" b="0">
                <a:solidFill>
                  <a:srgbClr val="2E2E2E"/>
                </a:solidFill>
                <a:latin typeface="Calibri"/>
              </a:rPr>
              <a:t>X higher volume than cast metal partial dentures segment in 2036. Among removable partial dentures by product</a:t>
            </a:r>
          </a:p>
        </p:txBody>
      </p:sp>
      <p:sp>
        <p:nvSpPr>
          <p:cNvPr id="24" name="TextBox 23"/>
          <p:cNvSpPr txBox="1"/>
          <p:nvPr/>
        </p:nvSpPr>
        <p:spPr>
          <a:xfrm>
            <a:off x="276225" y="4042410"/>
            <a:ext cx="5120041" cy="194310"/>
          </a:xfrm>
          <a:prstGeom prst="rect">
            <a:avLst/>
          </a:prstGeom>
          <a:noFill/>
        </p:spPr>
        <p:txBody>
          <a:bodyPr wrap="none" lIns="0" rIns="0" tIns="0" bIns="0">
            <a:spAutoFit/>
          </a:bodyPr>
          <a:lstStyle/>
          <a:p>
            <a:r>
              <a:rPr sz="1150" b="0">
                <a:solidFill>
                  <a:srgbClr val="2E2E2E"/>
                </a:solidFill>
                <a:latin typeface="Calibri"/>
              </a:rPr>
              <a:t>type, 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345420" y="4032186"/>
            <a:ext cx="134549" cy="195707"/>
          </a:xfrm>
          <a:prstGeom prst="rect">
            <a:avLst/>
          </a:prstGeom>
        </p:spPr>
      </p:pic>
      <p:sp>
        <p:nvSpPr>
          <p:cNvPr id="26" name="TextBox 25"/>
          <p:cNvSpPr txBox="1"/>
          <p:nvPr/>
        </p:nvSpPr>
        <p:spPr>
          <a:xfrm>
            <a:off x="5520529" y="4042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70247"/>
            <a:ext cx="8459527" cy="194310"/>
          </a:xfrm>
          <a:prstGeom prst="rect">
            <a:avLst/>
          </a:prstGeom>
          <a:noFill/>
        </p:spPr>
        <p:txBody>
          <a:bodyPr wrap="none" lIns="0" rIns="0" tIns="0" bIns="0">
            <a:spAutoFit/>
          </a:bodyPr>
          <a:lstStyle/>
          <a:p>
            <a:r>
              <a:rPr sz="1150" b="0">
                <a:solidFill>
                  <a:srgbClr val="2E2E2E"/>
                </a:solidFill>
                <a:latin typeface="Calibri"/>
              </a:rPr>
              <a:t>In terms of volume share by product type, the combination framework partial dentures segment is expected to dominate the market, gaining</a:t>
            </a:r>
          </a:p>
        </p:txBody>
      </p:sp>
      <p:pic>
        <p:nvPicPr>
          <p:cNvPr id="28" name="Picture 27" descr="lock.png"/>
          <p:cNvPicPr>
            <a:picLocks noChangeAspect="1"/>
          </p:cNvPicPr>
          <p:nvPr/>
        </p:nvPicPr>
        <p:blipFill>
          <a:blip r:embed="rId4"/>
          <a:stretch>
            <a:fillRect/>
          </a:stretch>
        </p:blipFill>
        <p:spPr>
          <a:xfrm>
            <a:off x="8684905" y="4260024"/>
            <a:ext cx="134549" cy="195707"/>
          </a:xfrm>
          <a:prstGeom prst="rect">
            <a:avLst/>
          </a:prstGeom>
        </p:spPr>
      </p:pic>
      <p:sp>
        <p:nvSpPr>
          <p:cNvPr id="29" name="TextBox 28"/>
          <p:cNvSpPr txBox="1"/>
          <p:nvPr/>
        </p:nvSpPr>
        <p:spPr>
          <a:xfrm>
            <a:off x="8860015" y="4270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255158" y="4260024"/>
            <a:ext cx="134549" cy="195707"/>
          </a:xfrm>
          <a:prstGeom prst="rect">
            <a:avLst/>
          </a:prstGeom>
        </p:spPr>
      </p:pic>
      <p:sp>
        <p:nvSpPr>
          <p:cNvPr id="31" name="TextBox 30"/>
          <p:cNvSpPr txBox="1"/>
          <p:nvPr/>
        </p:nvSpPr>
        <p:spPr>
          <a:xfrm>
            <a:off x="10430267" y="4270247"/>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4445507"/>
            <a:ext cx="3172631"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lose</a:t>
            </a:r>
          </a:p>
        </p:txBody>
      </p:sp>
      <p:pic>
        <p:nvPicPr>
          <p:cNvPr id="33" name="Picture 32" descr="lock.png"/>
          <p:cNvPicPr>
            <a:picLocks noChangeAspect="1"/>
          </p:cNvPicPr>
          <p:nvPr/>
        </p:nvPicPr>
        <p:blipFill>
          <a:blip r:embed="rId4"/>
          <a:stretch>
            <a:fillRect/>
          </a:stretch>
        </p:blipFill>
        <p:spPr>
          <a:xfrm>
            <a:off x="3398010" y="4435284"/>
            <a:ext cx="134549" cy="195707"/>
          </a:xfrm>
          <a:prstGeom prst="rect">
            <a:avLst/>
          </a:prstGeom>
        </p:spPr>
      </p:pic>
      <p:sp>
        <p:nvSpPr>
          <p:cNvPr id="34" name="TextBox 33"/>
          <p:cNvSpPr txBox="1"/>
          <p:nvPr/>
        </p:nvSpPr>
        <p:spPr>
          <a:xfrm>
            <a:off x="3573119" y="4445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160623" y="4435284"/>
            <a:ext cx="134549" cy="195707"/>
          </a:xfrm>
          <a:prstGeom prst="rect">
            <a:avLst/>
          </a:prstGeom>
        </p:spPr>
      </p:pic>
      <p:sp>
        <p:nvSpPr>
          <p:cNvPr id="36" name="TextBox 35"/>
          <p:cNvSpPr txBox="1"/>
          <p:nvPr/>
        </p:nvSpPr>
        <p:spPr>
          <a:xfrm>
            <a:off x="6335733" y="4445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53373" y="1837563"/>
            <a:ext cx="366712" cy="533400"/>
          </a:xfrm>
          <a:prstGeom prst="rect">
            <a:avLst/>
          </a:prstGeom>
        </p:spPr>
      </p:pic>
      <p:sp>
        <p:nvSpPr>
          <p:cNvPr id="21" name="TextBox 20"/>
          <p:cNvSpPr txBox="1"/>
          <p:nvPr/>
        </p:nvSpPr>
        <p:spPr>
          <a:xfrm>
            <a:off x="276225" y="3486150"/>
            <a:ext cx="3437917" cy="194310"/>
          </a:xfrm>
          <a:prstGeom prst="rect">
            <a:avLst/>
          </a:prstGeom>
          <a:noFill/>
        </p:spPr>
        <p:txBody>
          <a:bodyPr wrap="none" lIns="0" rIns="0" tIns="0" bIns="0">
            <a:spAutoFit/>
          </a:bodyPr>
          <a:lstStyle/>
          <a:p>
            <a:r>
              <a:rPr sz="1150" b="0">
                <a:solidFill>
                  <a:srgbClr val="2E2E2E"/>
                </a:solidFill>
                <a:latin typeface="Calibri"/>
              </a:rPr>
              <a:t>Flexible partial dentures segment is projected to register</a:t>
            </a:r>
          </a:p>
        </p:txBody>
      </p:sp>
      <p:pic>
        <p:nvPicPr>
          <p:cNvPr id="22" name="Picture 21" descr="lock.png"/>
          <p:cNvPicPr>
            <a:picLocks noChangeAspect="1"/>
          </p:cNvPicPr>
          <p:nvPr/>
        </p:nvPicPr>
        <p:blipFill>
          <a:blip r:embed="rId4"/>
          <a:stretch>
            <a:fillRect/>
          </a:stretch>
        </p:blipFill>
        <p:spPr>
          <a:xfrm>
            <a:off x="3663296" y="3475926"/>
            <a:ext cx="134549" cy="195707"/>
          </a:xfrm>
          <a:prstGeom prst="rect">
            <a:avLst/>
          </a:prstGeom>
        </p:spPr>
      </p:pic>
      <p:sp>
        <p:nvSpPr>
          <p:cNvPr id="23" name="TextBox 22"/>
          <p:cNvSpPr txBox="1"/>
          <p:nvPr/>
        </p:nvSpPr>
        <p:spPr>
          <a:xfrm>
            <a:off x="3838405" y="3486150"/>
            <a:ext cx="7853077" cy="194310"/>
          </a:xfrm>
          <a:prstGeom prst="rect">
            <a:avLst/>
          </a:prstGeom>
          <a:noFill/>
        </p:spPr>
        <p:txBody>
          <a:bodyPr wrap="none" lIns="0" rIns="0" tIns="0" bIns="0">
            <a:spAutoFit/>
          </a:bodyPr>
          <a:lstStyle/>
          <a:p>
            <a:r>
              <a:rPr sz="1150" b="0">
                <a:solidFill>
                  <a:srgbClr val="2E2E2E"/>
                </a:solidFill>
                <a:latin typeface="Calibri"/>
              </a:rPr>
              <a:t>X higher value than combination framework partial dentures segment in 2036. Among removable partial dentures by product type,</a:t>
            </a:r>
          </a:p>
        </p:txBody>
      </p:sp>
      <p:sp>
        <p:nvSpPr>
          <p:cNvPr id="24" name="TextBox 23"/>
          <p:cNvSpPr txBox="1"/>
          <p:nvPr/>
        </p:nvSpPr>
        <p:spPr>
          <a:xfrm>
            <a:off x="276225" y="3661410"/>
            <a:ext cx="4785724" cy="194310"/>
          </a:xfrm>
          <a:prstGeom prst="rect">
            <a:avLst/>
          </a:prstGeom>
          <a:noFill/>
        </p:spPr>
        <p:txBody>
          <a:bodyPr wrap="none" lIns="0" rIns="0" tIns="0" bIns="0">
            <a:spAutoFit/>
          </a:bodyPr>
          <a:lstStyle/>
          <a:p>
            <a:r>
              <a:rPr sz="1150" b="0">
                <a:solidFill>
                  <a:srgbClr val="2E2E2E"/>
                </a:solidFill>
                <a:latin typeface="Calibri"/>
              </a:rPr>
              <a:t>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011103" y="3651186"/>
            <a:ext cx="134549" cy="195707"/>
          </a:xfrm>
          <a:prstGeom prst="rect">
            <a:avLst/>
          </a:prstGeom>
        </p:spPr>
      </p:pic>
      <p:sp>
        <p:nvSpPr>
          <p:cNvPr id="26" name="TextBox 25"/>
          <p:cNvSpPr txBox="1"/>
          <p:nvPr/>
        </p:nvSpPr>
        <p:spPr>
          <a:xfrm>
            <a:off x="5186212"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7249479"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 segment is expected to dominate the market, losing</a:t>
            </a:r>
          </a:p>
        </p:txBody>
      </p:sp>
      <p:pic>
        <p:nvPicPr>
          <p:cNvPr id="28" name="Picture 27" descr="lock.png"/>
          <p:cNvPicPr>
            <a:picLocks noChangeAspect="1"/>
          </p:cNvPicPr>
          <p:nvPr/>
        </p:nvPicPr>
        <p:blipFill>
          <a:blip r:embed="rId4"/>
          <a:stretch>
            <a:fillRect/>
          </a:stretch>
        </p:blipFill>
        <p:spPr>
          <a:xfrm>
            <a:off x="7474858" y="3879024"/>
            <a:ext cx="134549" cy="195707"/>
          </a:xfrm>
          <a:prstGeom prst="rect">
            <a:avLst/>
          </a:prstGeom>
        </p:spPr>
      </p:pic>
      <p:sp>
        <p:nvSpPr>
          <p:cNvPr id="29" name="TextBox 28"/>
          <p:cNvSpPr txBox="1"/>
          <p:nvPr/>
        </p:nvSpPr>
        <p:spPr>
          <a:xfrm>
            <a:off x="7649968"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45111" y="3879024"/>
            <a:ext cx="134549" cy="195707"/>
          </a:xfrm>
          <a:prstGeom prst="rect">
            <a:avLst/>
          </a:prstGeom>
        </p:spPr>
      </p:pic>
      <p:sp>
        <p:nvSpPr>
          <p:cNvPr id="31" name="TextBox 30"/>
          <p:cNvSpPr txBox="1"/>
          <p:nvPr/>
        </p:nvSpPr>
        <p:spPr>
          <a:xfrm>
            <a:off x="9220220" y="3889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8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41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9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298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909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62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00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297193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18300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1782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020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16395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2711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223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461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0806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11029" cy="194310"/>
          </a:xfrm>
          <a:prstGeom prst="rect">
            <a:avLst/>
          </a:prstGeom>
          <a:noFill/>
        </p:spPr>
        <p:txBody>
          <a:bodyPr wrap="none" lIns="0" rIns="0" tIns="0" bIns="0">
            <a:spAutoFit/>
          </a:bodyPr>
          <a:lstStyle/>
          <a:p>
            <a:r>
              <a:rPr sz="1150" b="0">
                <a:solidFill>
                  <a:srgbClr val="2E2E2E"/>
                </a:solidFill>
                <a:latin typeface="Calibri"/>
              </a:rPr>
              <a:t>Among removable partial dentures by product type, cast metal</a:t>
            </a:r>
          </a:p>
        </p:txBody>
      </p:sp>
      <p:sp>
        <p:nvSpPr>
          <p:cNvPr id="39" name="TextBox 38"/>
          <p:cNvSpPr txBox="1"/>
          <p:nvPr/>
        </p:nvSpPr>
        <p:spPr>
          <a:xfrm>
            <a:off x="7829550" y="1575435"/>
            <a:ext cx="3985016" cy="194310"/>
          </a:xfrm>
          <a:prstGeom prst="rect">
            <a:avLst/>
          </a:prstGeom>
          <a:noFill/>
        </p:spPr>
        <p:txBody>
          <a:bodyPr wrap="none" lIns="0" rIns="0" tIns="0" bIns="0">
            <a:spAutoFit/>
          </a:bodyPr>
          <a:lstStyle/>
          <a:p>
            <a:r>
              <a:rPr sz="1150" b="0">
                <a:solidFill>
                  <a:srgbClr val="2E2E2E"/>
                </a:solidFill>
                <a:latin typeface="Calibri"/>
              </a:rPr>
              <a:t>partial dentures segment is expected to witness the highest CAGR</a:t>
            </a:r>
          </a:p>
        </p:txBody>
      </p:sp>
      <p:sp>
        <p:nvSpPr>
          <p:cNvPr id="40" name="TextBox 39"/>
          <p:cNvSpPr txBox="1"/>
          <p:nvPr/>
        </p:nvSpPr>
        <p:spPr>
          <a:xfrm>
            <a:off x="782955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pic>
        <p:nvPicPr>
          <p:cNvPr id="41" name="Picture 40" descr="lock.png"/>
          <p:cNvPicPr>
            <a:picLocks noChangeAspect="1"/>
          </p:cNvPicPr>
          <p:nvPr/>
        </p:nvPicPr>
        <p:blipFill>
          <a:blip r:embed="rId5"/>
          <a:stretch>
            <a:fillRect/>
          </a:stretch>
        </p:blipFill>
        <p:spPr>
          <a:xfrm>
            <a:off x="7976422" y="1740471"/>
            <a:ext cx="134549" cy="195707"/>
          </a:xfrm>
          <a:prstGeom prst="rect">
            <a:avLst/>
          </a:prstGeom>
        </p:spPr>
      </p:pic>
      <p:sp>
        <p:nvSpPr>
          <p:cNvPr id="42" name="TextBox 41"/>
          <p:cNvSpPr txBox="1"/>
          <p:nvPr/>
        </p:nvSpPr>
        <p:spPr>
          <a:xfrm>
            <a:off x="8151531"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a:t>
            </a:r>
          </a:p>
        </p:txBody>
      </p:sp>
      <p:sp>
        <p:nvSpPr>
          <p:cNvPr id="44" name="TextBox 43"/>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5" name="Picture 44" descr="lock.png"/>
          <p:cNvPicPr>
            <a:picLocks noChangeAspect="1"/>
          </p:cNvPicPr>
          <p:nvPr/>
        </p:nvPicPr>
        <p:blipFill>
          <a:blip r:embed="rId5"/>
          <a:stretch>
            <a:fillRect/>
          </a:stretch>
        </p:blipFill>
        <p:spPr>
          <a:xfrm>
            <a:off x="10943347" y="2143569"/>
            <a:ext cx="134549" cy="195707"/>
          </a:xfrm>
          <a:prstGeom prst="rect">
            <a:avLst/>
          </a:prstGeom>
        </p:spPr>
      </p:pic>
      <p:sp>
        <p:nvSpPr>
          <p:cNvPr id="46" name="TextBox 45"/>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7" name="TextBox 46"/>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8" name="Picture 47" descr="lock.png"/>
          <p:cNvPicPr>
            <a:picLocks noChangeAspect="1"/>
          </p:cNvPicPr>
          <p:nvPr/>
        </p:nvPicPr>
        <p:blipFill>
          <a:blip r:embed="rId5"/>
          <a:stretch>
            <a:fillRect/>
          </a:stretch>
        </p:blipFill>
        <p:spPr>
          <a:xfrm>
            <a:off x="8712947" y="2318829"/>
            <a:ext cx="134549" cy="195707"/>
          </a:xfrm>
          <a:prstGeom prst="rect">
            <a:avLst/>
          </a:prstGeom>
        </p:spPr>
      </p:pic>
      <p:sp>
        <p:nvSpPr>
          <p:cNvPr id="49" name="TextBox 48"/>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63_9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35_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7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08_0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49_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5_5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89_3_605E5C.png"/>
          <p:cNvPicPr>
            <a:picLocks noChangeAspect="1"/>
          </p:cNvPicPr>
          <p:nvPr/>
        </p:nvPicPr>
        <p:blipFill>
          <a:blip r:embed="rId11"/>
          <a:stretch>
            <a:fillRect/>
          </a:stretch>
        </p:blipFill>
        <p:spPr>
          <a:xfrm>
            <a:off x="7640751" y="2779432"/>
            <a:ext cx="982436" cy="361950"/>
          </a:xfrm>
          <a:prstGeom prst="rect">
            <a:avLst/>
          </a:prstGeom>
        </p:spPr>
      </p:pic>
      <p:pic>
        <p:nvPicPr>
          <p:cNvPr id="72" name="Picture 71" descr="3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33_9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49_4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3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material</a:t>
            </a:r>
          </a:p>
        </p:txBody>
      </p:sp>
      <p:sp>
        <p:nvSpPr>
          <p:cNvPr id="81" name="TextBox 80"/>
          <p:cNvSpPr txBox="1"/>
          <p:nvPr/>
        </p:nvSpPr>
        <p:spPr>
          <a:xfrm>
            <a:off x="485775" y="4397077"/>
            <a:ext cx="2621359" cy="186689"/>
          </a:xfrm>
          <a:prstGeom prst="rect">
            <a:avLst/>
          </a:prstGeom>
          <a:noFill/>
        </p:spPr>
        <p:txBody>
          <a:bodyPr wrap="none" lIns="0" rIns="0" tIns="0" bIns="0">
            <a:spAutoFit/>
          </a:bodyPr>
          <a:lstStyle/>
          <a:p>
            <a:r>
              <a:rPr sz="1100" b="0">
                <a:solidFill>
                  <a:srgbClr val="2E2E2E"/>
                </a:solidFill>
                <a:latin typeface="Calibri"/>
              </a:rPr>
              <a:t>type, high-performance polymers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523405" cy="186689"/>
          </a:xfrm>
          <a:prstGeom prst="rect">
            <a:avLst/>
          </a:prstGeom>
          <a:noFill/>
        </p:spPr>
        <p:txBody>
          <a:bodyPr wrap="none" lIns="0" rIns="0" tIns="0" bIns="0">
            <a:spAutoFit/>
          </a:bodyPr>
          <a:lstStyle/>
          <a:p>
            <a:r>
              <a:rPr sz="1100" b="0">
                <a:solidFill>
                  <a:srgbClr val="2E2E2E"/>
                </a:solidFill>
                <a:latin typeface="Calibri"/>
              </a:rPr>
              <a:t>material type, the acrylic / resin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83842" cy="186689"/>
          </a:xfrm>
          <a:prstGeom prst="rect">
            <a:avLst/>
          </a:prstGeom>
          <a:noFill/>
        </p:spPr>
        <p:txBody>
          <a:bodyPr wrap="none" lIns="0" rIns="0" tIns="0" bIns="0">
            <a:spAutoFit/>
          </a:bodyPr>
          <a:lstStyle/>
          <a:p>
            <a:r>
              <a:rPr sz="1100" b="0">
                <a:solidFill>
                  <a:srgbClr val="2E2E2E"/>
                </a:solidFill>
                <a:latin typeface="Calibri"/>
              </a:rPr>
              <a:t>▪ ¶ Acrylic / resin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6052" cy="186689"/>
          </a:xfrm>
          <a:prstGeom prst="rect">
            <a:avLst/>
          </a:prstGeom>
          <a:noFill/>
        </p:spPr>
        <p:txBody>
          <a:bodyPr wrap="none" lIns="0" rIns="0" tIns="0" bIns="0">
            <a:spAutoFit/>
          </a:bodyPr>
          <a:lstStyle/>
          <a:p>
            <a:r>
              <a:rPr sz="1100" b="0">
                <a:solidFill>
                  <a:srgbClr val="2E2E2E"/>
                </a:solidFill>
                <a:latin typeface="Calibri"/>
              </a:rPr>
              <a:t>X higher value than metal alloys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1028179" cy="186689"/>
          </a:xfrm>
          <a:prstGeom prst="rect">
            <a:avLst/>
          </a:prstGeom>
          <a:noFill/>
        </p:spPr>
        <p:txBody>
          <a:bodyPr wrap="none" lIns="0" rIns="0" tIns="0" bIns="0">
            <a:spAutoFit/>
          </a:bodyPr>
          <a:lstStyle/>
          <a:p>
            <a:r>
              <a:rPr sz="1100" b="0">
                <a:solidFill>
                  <a:srgbClr val="2E2E2E"/>
                </a:solidFill>
                <a:latin typeface="Calibri"/>
              </a:rPr>
              <a:t>● Acrylic / Resin:</a:t>
            </a:r>
          </a:p>
        </p:txBody>
      </p:sp>
      <p:pic>
        <p:nvPicPr>
          <p:cNvPr id="98" name="Picture 97" descr="lock.png"/>
          <p:cNvPicPr>
            <a:picLocks noChangeAspect="1"/>
          </p:cNvPicPr>
          <p:nvPr/>
        </p:nvPicPr>
        <p:blipFill>
          <a:blip r:embed="rId16"/>
          <a:stretch>
            <a:fillRect/>
          </a:stretch>
        </p:blipFill>
        <p:spPr>
          <a:xfrm>
            <a:off x="4814805" y="4219658"/>
            <a:ext cx="128699" cy="187198"/>
          </a:xfrm>
          <a:prstGeom prst="rect">
            <a:avLst/>
          </a:prstGeom>
        </p:spPr>
      </p:pic>
      <p:sp>
        <p:nvSpPr>
          <p:cNvPr id="99" name="TextBox 98"/>
          <p:cNvSpPr txBox="1"/>
          <p:nvPr/>
        </p:nvSpPr>
        <p:spPr>
          <a:xfrm>
            <a:off x="498230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841751" y="4219658"/>
            <a:ext cx="128699" cy="187198"/>
          </a:xfrm>
          <a:prstGeom prst="rect">
            <a:avLst/>
          </a:prstGeom>
        </p:spPr>
      </p:pic>
      <p:sp>
        <p:nvSpPr>
          <p:cNvPr id="101" name="TextBox 100"/>
          <p:cNvSpPr txBox="1"/>
          <p:nvPr/>
        </p:nvSpPr>
        <p:spPr>
          <a:xfrm>
            <a:off x="600924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32953" cy="186689"/>
          </a:xfrm>
          <a:prstGeom prst="rect">
            <a:avLst/>
          </a:prstGeom>
          <a:noFill/>
        </p:spPr>
        <p:txBody>
          <a:bodyPr wrap="none" lIns="0" rIns="0" tIns="0" bIns="0">
            <a:spAutoFit/>
          </a:bodyPr>
          <a:lstStyle/>
          <a:p>
            <a:r>
              <a:rPr sz="1100" b="0">
                <a:solidFill>
                  <a:srgbClr val="2E2E2E"/>
                </a:solidFill>
                <a:latin typeface="Calibri"/>
              </a:rPr>
              <a:t>● Metal Alloys:</a:t>
            </a:r>
          </a:p>
        </p:txBody>
      </p:sp>
      <p:pic>
        <p:nvPicPr>
          <p:cNvPr id="103" name="Picture 102" descr="lock.png"/>
          <p:cNvPicPr>
            <a:picLocks noChangeAspect="1"/>
          </p:cNvPicPr>
          <p:nvPr/>
        </p:nvPicPr>
        <p:blipFill>
          <a:blip r:embed="rId16"/>
          <a:stretch>
            <a:fillRect/>
          </a:stretch>
        </p:blipFill>
        <p:spPr>
          <a:xfrm>
            <a:off x="4719580" y="4437590"/>
            <a:ext cx="128699" cy="187198"/>
          </a:xfrm>
          <a:prstGeom prst="rect">
            <a:avLst/>
          </a:prstGeom>
        </p:spPr>
      </p:pic>
      <p:sp>
        <p:nvSpPr>
          <p:cNvPr id="104" name="TextBox 103"/>
          <p:cNvSpPr txBox="1"/>
          <p:nvPr/>
        </p:nvSpPr>
        <p:spPr>
          <a:xfrm>
            <a:off x="488707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46526" y="4437590"/>
            <a:ext cx="128699" cy="187198"/>
          </a:xfrm>
          <a:prstGeom prst="rect">
            <a:avLst/>
          </a:prstGeom>
        </p:spPr>
      </p:pic>
      <p:sp>
        <p:nvSpPr>
          <p:cNvPr id="106" name="TextBox 105"/>
          <p:cNvSpPr txBox="1"/>
          <p:nvPr/>
        </p:nvSpPr>
        <p:spPr>
          <a:xfrm>
            <a:off x="591402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560239" cy="186689"/>
          </a:xfrm>
          <a:prstGeom prst="rect">
            <a:avLst/>
          </a:prstGeom>
          <a:noFill/>
        </p:spPr>
        <p:txBody>
          <a:bodyPr wrap="none" lIns="0" rIns="0" tIns="0" bIns="0">
            <a:spAutoFit/>
          </a:bodyPr>
          <a:lstStyle/>
          <a:p>
            <a:r>
              <a:rPr sz="1100" b="0">
                <a:solidFill>
                  <a:srgbClr val="2E2E2E"/>
                </a:solidFill>
                <a:latin typeface="Calibri"/>
              </a:rPr>
              <a:t>● Flexible Thermoplastics:</a:t>
            </a:r>
          </a:p>
        </p:txBody>
      </p:sp>
      <p:pic>
        <p:nvPicPr>
          <p:cNvPr id="108" name="Picture 107" descr="lock.png"/>
          <p:cNvPicPr>
            <a:picLocks noChangeAspect="1"/>
          </p:cNvPicPr>
          <p:nvPr/>
        </p:nvPicPr>
        <p:blipFill>
          <a:blip r:embed="rId16"/>
          <a:stretch>
            <a:fillRect/>
          </a:stretch>
        </p:blipFill>
        <p:spPr>
          <a:xfrm>
            <a:off x="5346866" y="4655522"/>
            <a:ext cx="128699" cy="187198"/>
          </a:xfrm>
          <a:prstGeom prst="rect">
            <a:avLst/>
          </a:prstGeom>
        </p:spPr>
      </p:pic>
      <p:sp>
        <p:nvSpPr>
          <p:cNvPr id="109" name="TextBox 108"/>
          <p:cNvSpPr txBox="1"/>
          <p:nvPr/>
        </p:nvSpPr>
        <p:spPr>
          <a:xfrm>
            <a:off x="55143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6373812" y="4655522"/>
            <a:ext cx="128699" cy="187198"/>
          </a:xfrm>
          <a:prstGeom prst="rect">
            <a:avLst/>
          </a:prstGeom>
        </p:spPr>
      </p:pic>
      <p:sp>
        <p:nvSpPr>
          <p:cNvPr id="111" name="TextBox 110"/>
          <p:cNvSpPr txBox="1"/>
          <p:nvPr/>
        </p:nvSpPr>
        <p:spPr>
          <a:xfrm>
            <a:off x="654130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825997" cy="186689"/>
          </a:xfrm>
          <a:prstGeom prst="rect">
            <a:avLst/>
          </a:prstGeom>
          <a:noFill/>
        </p:spPr>
        <p:txBody>
          <a:bodyPr wrap="none" lIns="0" rIns="0" tIns="0" bIns="0">
            <a:spAutoFit/>
          </a:bodyPr>
          <a:lstStyle/>
          <a:p>
            <a:r>
              <a:rPr sz="1100" b="0">
                <a:solidFill>
                  <a:srgbClr val="2E2E2E"/>
                </a:solidFill>
                <a:latin typeface="Calibri"/>
              </a:rPr>
              <a:t>● High-performance Polymers:</a:t>
            </a:r>
          </a:p>
        </p:txBody>
      </p:sp>
      <p:pic>
        <p:nvPicPr>
          <p:cNvPr id="113" name="Picture 112" descr="lock.png"/>
          <p:cNvPicPr>
            <a:picLocks noChangeAspect="1"/>
          </p:cNvPicPr>
          <p:nvPr/>
        </p:nvPicPr>
        <p:blipFill>
          <a:blip r:embed="rId16"/>
          <a:stretch>
            <a:fillRect/>
          </a:stretch>
        </p:blipFill>
        <p:spPr>
          <a:xfrm>
            <a:off x="5612623" y="4873454"/>
            <a:ext cx="128699" cy="187198"/>
          </a:xfrm>
          <a:prstGeom prst="rect">
            <a:avLst/>
          </a:prstGeom>
        </p:spPr>
      </p:pic>
      <p:sp>
        <p:nvSpPr>
          <p:cNvPr id="114" name="TextBox 113"/>
          <p:cNvSpPr txBox="1"/>
          <p:nvPr/>
        </p:nvSpPr>
        <p:spPr>
          <a:xfrm>
            <a:off x="5780119"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639569" y="4873454"/>
            <a:ext cx="128699" cy="187198"/>
          </a:xfrm>
          <a:prstGeom prst="rect">
            <a:avLst/>
          </a:prstGeom>
        </p:spPr>
      </p:pic>
      <p:sp>
        <p:nvSpPr>
          <p:cNvPr id="116" name="TextBox 115"/>
          <p:cNvSpPr txBox="1"/>
          <p:nvPr/>
        </p:nvSpPr>
        <p:spPr>
          <a:xfrm>
            <a:off x="6807065"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0967" cy="194310"/>
          </a:xfrm>
          <a:prstGeom prst="rect">
            <a:avLst/>
          </a:prstGeom>
          <a:noFill/>
        </p:spPr>
        <p:txBody>
          <a:bodyPr wrap="none" lIns="0" rIns="0" tIns="0" bIns="0">
            <a:spAutoFit/>
          </a:bodyPr>
          <a:lstStyle/>
          <a:p>
            <a:r>
              <a:rPr sz="1150" b="1">
                <a:solidFill>
                  <a:srgbClr val="0B2E4A"/>
                </a:solidFill>
                <a:latin typeface="Calibri"/>
              </a:rPr>
              <a:t>The Material Type segment is projected to grow at</a:t>
            </a:r>
          </a:p>
        </p:txBody>
      </p:sp>
      <p:sp>
        <p:nvSpPr>
          <p:cNvPr id="119" name="TextBox 118"/>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20" name="Picture 119" descr="lock.png"/>
          <p:cNvPicPr>
            <a:picLocks noChangeAspect="1"/>
          </p:cNvPicPr>
          <p:nvPr/>
        </p:nvPicPr>
        <p:blipFill>
          <a:blip r:embed="rId16"/>
          <a:stretch>
            <a:fillRect/>
          </a:stretch>
        </p:blipFill>
        <p:spPr>
          <a:xfrm>
            <a:off x="9154084" y="6007677"/>
            <a:ext cx="134549" cy="195707"/>
          </a:xfrm>
          <a:prstGeom prst="rect">
            <a:avLst/>
          </a:prstGeom>
        </p:spPr>
      </p:pic>
      <p:sp>
        <p:nvSpPr>
          <p:cNvPr id="121" name="TextBox 120"/>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327234" cy="186689"/>
          </a:xfrm>
          <a:prstGeom prst="rect">
            <a:avLst/>
          </a:prstGeom>
          <a:noFill/>
        </p:spPr>
        <p:txBody>
          <a:bodyPr wrap="none" lIns="0" rIns="0" tIns="0" bIns="0">
            <a:spAutoFit/>
          </a:bodyPr>
          <a:lstStyle/>
          <a:p>
            <a:r>
              <a:rPr sz="1100" b="0">
                <a:solidFill>
                  <a:srgbClr val="2E2E2E"/>
                </a:solidFill>
                <a:latin typeface="Calibri"/>
              </a:rPr>
              <a:t>Acrylic / resin followed by metal alloys are expected to be the two most attractive material type segments in the North America removable partial dentures market in terms of value over the forecast</a:t>
            </a:r>
          </a:p>
        </p:txBody>
      </p:sp>
      <p:sp>
        <p:nvSpPr>
          <p:cNvPr id="21" name="TextBox 20"/>
          <p:cNvSpPr txBox="1"/>
          <p:nvPr/>
        </p:nvSpPr>
        <p:spPr>
          <a:xfrm>
            <a:off x="257175" y="5861685"/>
            <a:ext cx="3602243" cy="186689"/>
          </a:xfrm>
          <a:prstGeom prst="rect">
            <a:avLst/>
          </a:prstGeom>
          <a:noFill/>
        </p:spPr>
        <p:txBody>
          <a:bodyPr wrap="none" lIns="0" rIns="0" tIns="0" bIns="0">
            <a:spAutoFit/>
          </a:bodyPr>
          <a:lstStyle/>
          <a:p>
            <a:r>
              <a:rPr sz="1100" b="0">
                <a:solidFill>
                  <a:srgbClr val="2E2E2E"/>
                </a:solidFill>
                <a:latin typeface="Calibri"/>
              </a:rPr>
              <a:t>period. Acrylic / resin and metal alloys exhibit a CAGR index of</a:t>
            </a:r>
          </a:p>
        </p:txBody>
      </p:sp>
      <p:pic>
        <p:nvPicPr>
          <p:cNvPr id="22" name="Picture 21" descr="lock.png"/>
          <p:cNvPicPr>
            <a:picLocks noChangeAspect="1"/>
          </p:cNvPicPr>
          <p:nvPr/>
        </p:nvPicPr>
        <p:blipFill>
          <a:blip r:embed="rId6"/>
          <a:stretch>
            <a:fillRect/>
          </a:stretch>
        </p:blipFill>
        <p:spPr>
          <a:xfrm>
            <a:off x="3807470" y="5851905"/>
            <a:ext cx="128699" cy="187198"/>
          </a:xfrm>
          <a:prstGeom prst="rect">
            <a:avLst/>
          </a:prstGeom>
        </p:spPr>
      </p:pic>
      <p:sp>
        <p:nvSpPr>
          <p:cNvPr id="23" name="TextBox 22"/>
          <p:cNvSpPr txBox="1"/>
          <p:nvPr/>
        </p:nvSpPr>
        <p:spPr>
          <a:xfrm>
            <a:off x="397496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212860" y="5851905"/>
            <a:ext cx="128699" cy="187198"/>
          </a:xfrm>
          <a:prstGeom prst="rect">
            <a:avLst/>
          </a:prstGeom>
        </p:spPr>
      </p:pic>
      <p:sp>
        <p:nvSpPr>
          <p:cNvPr id="25" name="TextBox 24"/>
          <p:cNvSpPr txBox="1"/>
          <p:nvPr/>
        </p:nvSpPr>
        <p:spPr>
          <a:xfrm>
            <a:off x="438035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989329" y="5851905"/>
            <a:ext cx="128699" cy="187198"/>
          </a:xfrm>
          <a:prstGeom prst="rect">
            <a:avLst/>
          </a:prstGeom>
        </p:spPr>
      </p:pic>
      <p:sp>
        <p:nvSpPr>
          <p:cNvPr id="27" name="TextBox 26"/>
          <p:cNvSpPr txBox="1"/>
          <p:nvPr/>
        </p:nvSpPr>
        <p:spPr>
          <a:xfrm>
            <a:off x="615682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394719" y="5851905"/>
            <a:ext cx="128699" cy="187198"/>
          </a:xfrm>
          <a:prstGeom prst="rect">
            <a:avLst/>
          </a:prstGeom>
        </p:spPr>
      </p:pic>
      <p:sp>
        <p:nvSpPr>
          <p:cNvPr id="29" name="TextBox 28"/>
          <p:cNvSpPr txBox="1"/>
          <p:nvPr/>
        </p:nvSpPr>
        <p:spPr>
          <a:xfrm>
            <a:off x="6562215"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116619" y="5851905"/>
            <a:ext cx="128699" cy="187198"/>
          </a:xfrm>
          <a:prstGeom prst="rect">
            <a:avLst/>
          </a:prstGeom>
        </p:spPr>
      </p:pic>
      <p:sp>
        <p:nvSpPr>
          <p:cNvPr id="31" name="TextBox 30"/>
          <p:cNvSpPr txBox="1"/>
          <p:nvPr/>
        </p:nvSpPr>
        <p:spPr>
          <a:xfrm>
            <a:off x="9284115" y="5861685"/>
            <a:ext cx="1969789" cy="186689"/>
          </a:xfrm>
          <a:prstGeom prst="rect">
            <a:avLst/>
          </a:prstGeom>
          <a:noFill/>
        </p:spPr>
        <p:txBody>
          <a:bodyPr wrap="none" lIns="0" rIns="0" tIns="0" bIns="0">
            <a:spAutoFit/>
          </a:bodyPr>
          <a:lstStyle/>
          <a:p>
            <a:r>
              <a:rPr sz="1100" b="0">
                <a:solidFill>
                  <a:srgbClr val="2E2E2E"/>
                </a:solidFill>
                <a:latin typeface="Calibri"/>
              </a:rPr>
              <a:t>. The high-performance polymers</a:t>
            </a:r>
          </a:p>
        </p:txBody>
      </p:sp>
      <p:sp>
        <p:nvSpPr>
          <p:cNvPr id="32" name="TextBox 31"/>
          <p:cNvSpPr txBox="1"/>
          <p:nvPr/>
        </p:nvSpPr>
        <p:spPr>
          <a:xfrm>
            <a:off x="257175" y="6029325"/>
            <a:ext cx="11549028" cy="186689"/>
          </a:xfrm>
          <a:prstGeom prst="rect">
            <a:avLst/>
          </a:prstGeom>
          <a:noFill/>
        </p:spPr>
        <p:txBody>
          <a:bodyPr wrap="none" lIns="0" rIns="0" tIns="0" bIns="0">
            <a:spAutoFit/>
          </a:bodyPr>
          <a:lstStyle/>
          <a:p>
            <a:r>
              <a:rPr sz="1100" b="0">
                <a:solidFill>
                  <a:srgbClr val="2E2E2E"/>
                </a:solidFill>
                <a:latin typeface="Calibri"/>
              </a:rPr>
              <a:t>segment is expected to be less attractive as compared to other segments over the forecast period, owing to its lower CAGR and incremental opportunity. Bubbles right of the CAGR-Index line grow faster</a:t>
            </a:r>
          </a:p>
        </p:txBody>
      </p:sp>
      <p:sp>
        <p:nvSpPr>
          <p:cNvPr id="33" name="TextBox 32"/>
          <p:cNvSpPr txBox="1"/>
          <p:nvPr/>
        </p:nvSpPr>
        <p:spPr>
          <a:xfrm>
            <a:off x="257175" y="619696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 Resin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28900"/>
          </a:xfrm>
          <a:prstGeom prst="roundRect">
            <a:avLst>
              <a:gd name="adj" fmla="val 289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3" name="Table 12"/>
          <p:cNvGraphicFramePr>
            <a:graphicFrameLocks noGrp="1"/>
          </p:cNvGraphicFramePr>
          <p:nvPr/>
        </p:nvGraphicFramePr>
        <p:xfrm>
          <a:off x="152400" y="1238250"/>
          <a:ext cx="11887201" cy="2162173"/>
        </p:xfrm>
        <a:graphic>
          <a:graphicData uri="http://schemas.openxmlformats.org/drawingml/2006/table">
            <a:tbl>
              <a:tblPr>
                <a:tableStyleId>{5C22544A-7EE6-4342-B048-85BDC9FD1C3A}</a:tableStyleId>
              </a:tblPr>
              <a:tblGrid>
                <a:gridCol w="1739459"/>
                <a:gridCol w="596926"/>
                <a:gridCol w="596926"/>
                <a:gridCol w="596926"/>
                <a:gridCol w="596926"/>
                <a:gridCol w="596926"/>
                <a:gridCol w="596926"/>
                <a:gridCol w="596926"/>
                <a:gridCol w="596926"/>
                <a:gridCol w="596926"/>
                <a:gridCol w="596926"/>
                <a:gridCol w="596926"/>
                <a:gridCol w="596926"/>
                <a:gridCol w="596926"/>
                <a:gridCol w="596926"/>
                <a:gridCol w="596926"/>
                <a:gridCol w="596926"/>
                <a:gridCol w="596926"/>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73721">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73721">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73721">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73721">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73721">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73721">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73721">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4099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779040" y="2175699"/>
            <a:ext cx="366712" cy="533400"/>
          </a:xfrm>
          <a:prstGeom prst="rect">
            <a:avLst/>
          </a:prstGeom>
        </p:spPr>
      </p:pic>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2" name="Table 11"/>
          <p:cNvGraphicFramePr>
            <a:graphicFrameLocks noGrp="1"/>
          </p:cNvGraphicFramePr>
          <p:nvPr/>
        </p:nvGraphicFramePr>
        <p:xfrm>
          <a:off x="152400" y="1238250"/>
          <a:ext cx="11887207" cy="2114550"/>
        </p:xfrm>
        <a:graphic>
          <a:graphicData uri="http://schemas.openxmlformats.org/drawingml/2006/table">
            <a:tbl>
              <a:tblPr>
                <a:tableStyleId>{5C22544A-7EE6-4342-B048-85BDC9FD1C3A}</a:tableStyleId>
              </a:tblPr>
              <a:tblGrid>
                <a:gridCol w="245394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142">
                <a:tc>
                  <a:txBody>
                    <a:bodyPr wrap="none"/>
                    <a:lstStyle/>
                    <a:p>
                      <a:pPr algn="l"/>
                      <a:r>
                        <a:rPr sz="1100" b="1">
                          <a:solidFill>
                            <a:srgbClr val="2E2E2E"/>
                          </a:solidFill>
                          <a:latin typeface="Calibri"/>
                        </a:rPr>
                        <a:t>– Polyamide / Nylon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 Other Thermoplastic 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42">
                <a:tc>
                  <a:txBody>
                    <a:bodyPr wrap="none"/>
                    <a:lstStyle/>
                    <a:p>
                      <a:pPr algn="l"/>
                      <a:r>
                        <a:rPr sz="1100" b="1">
                          <a:solidFill>
                            <a:srgbClr val="2E2E2E"/>
                          </a:solidFill>
                          <a:latin typeface="Calibri"/>
                        </a:rPr>
                        <a:t>High-performance 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 PEEK-based Materials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28">
                <a:tc>
                  <a:txBody>
                    <a:bodyPr wrap="none"/>
                    <a:lstStyle/>
                    <a:p>
                      <a:pPr algn="l"/>
                      <a:r>
                        <a:rPr sz="1100" b="1">
                          <a:solidFill>
                            <a:srgbClr val="2E2E2E"/>
                          </a:solidFill>
                          <a:latin typeface="Calibri"/>
                        </a:rPr>
                        <a:t>– Other High-performance Dental</a:t>
                      </a:r>
                      <a:endParaRPr sz="1100"/>
                    </a:p>
                    <a:p>
                      <a:pPr algn="l"/>
                      <a:r>
                        <a:rPr sz="1100" b="1">
                          <a:solidFill>
                            <a:srgbClr val="2E2E2E"/>
                          </a:solidFill>
                          <a:latin typeface="Calibri"/>
                        </a:rPr>
                        <a:t>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Material Type</a:t>
            </a:r>
          </a:p>
        </p:txBody>
      </p:sp>
      <p:sp>
        <p:nvSpPr>
          <p:cNvPr id="16" name="Rectangle 15"/>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136283" y="2248281"/>
            <a:ext cx="366712" cy="533400"/>
          </a:xfrm>
          <a:prstGeom prst="rect">
            <a:avLst/>
          </a:prstGeom>
        </p:spPr>
      </p:pic>
      <p:sp>
        <p:nvSpPr>
          <p:cNvPr id="20" name="TextBox 19"/>
          <p:cNvSpPr txBox="1"/>
          <p:nvPr/>
        </p:nvSpPr>
        <p:spPr>
          <a:xfrm>
            <a:off x="276225" y="41148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1" name="Picture 20" descr="lock.png"/>
          <p:cNvPicPr>
            <a:picLocks noChangeAspect="1"/>
          </p:cNvPicPr>
          <p:nvPr/>
        </p:nvPicPr>
        <p:blipFill>
          <a:blip r:embed="rId4"/>
          <a:stretch>
            <a:fillRect/>
          </a:stretch>
        </p:blipFill>
        <p:spPr>
          <a:xfrm>
            <a:off x="3033455" y="4104576"/>
            <a:ext cx="134549" cy="195707"/>
          </a:xfrm>
          <a:prstGeom prst="rect">
            <a:avLst/>
          </a:prstGeom>
        </p:spPr>
      </p:pic>
      <p:sp>
        <p:nvSpPr>
          <p:cNvPr id="22" name="TextBox 21"/>
          <p:cNvSpPr txBox="1"/>
          <p:nvPr/>
        </p:nvSpPr>
        <p:spPr>
          <a:xfrm>
            <a:off x="3208564" y="4114800"/>
            <a:ext cx="8657493" cy="194310"/>
          </a:xfrm>
          <a:prstGeom prst="rect">
            <a:avLst/>
          </a:prstGeom>
          <a:noFill/>
        </p:spPr>
        <p:txBody>
          <a:bodyPr wrap="none" lIns="0" rIns="0" tIns="0" bIns="0">
            <a:spAutoFit/>
          </a:bodyPr>
          <a:lstStyle/>
          <a:p>
            <a:r>
              <a:rPr sz="1150" b="0">
                <a:solidFill>
                  <a:srgbClr val="2E2E2E"/>
                </a:solidFill>
                <a:latin typeface="Calibri"/>
              </a:rPr>
              <a:t>X higher volume than metal alloys segment in 2036. Among removable partial dentures by material type, high-performance polymers segment is</a:t>
            </a:r>
          </a:p>
        </p:txBody>
      </p:sp>
      <p:sp>
        <p:nvSpPr>
          <p:cNvPr id="23" name="TextBox 22"/>
          <p:cNvSpPr txBox="1"/>
          <p:nvPr/>
        </p:nvSpPr>
        <p:spPr>
          <a:xfrm>
            <a:off x="276225" y="42900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4279836"/>
            <a:ext cx="134549" cy="195707"/>
          </a:xfrm>
          <a:prstGeom prst="rect">
            <a:avLst/>
          </a:prstGeom>
        </p:spPr>
      </p:pic>
      <p:sp>
        <p:nvSpPr>
          <p:cNvPr id="25" name="TextBox 24"/>
          <p:cNvSpPr txBox="1"/>
          <p:nvPr/>
        </p:nvSpPr>
        <p:spPr>
          <a:xfrm>
            <a:off x="2886495" y="42900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517897"/>
            <a:ext cx="6860108" cy="194310"/>
          </a:xfrm>
          <a:prstGeom prst="rect">
            <a:avLst/>
          </a:prstGeom>
          <a:noFill/>
        </p:spPr>
        <p:txBody>
          <a:bodyPr wrap="none" lIns="0" rIns="0" tIns="0" bIns="0">
            <a:spAutoFit/>
          </a:bodyPr>
          <a:lstStyle/>
          <a:p>
            <a:r>
              <a:rPr sz="1150" b="0">
                <a:solidFill>
                  <a:srgbClr val="2E2E2E"/>
                </a:solidFill>
                <a:latin typeface="Calibri"/>
              </a:rPr>
              <a:t>In terms of volume share by material type, the acrylic / resin segment is expected to dominate the market, gaining</a:t>
            </a:r>
          </a:p>
        </p:txBody>
      </p:sp>
      <p:pic>
        <p:nvPicPr>
          <p:cNvPr id="27" name="Picture 26" descr="lock.png"/>
          <p:cNvPicPr>
            <a:picLocks noChangeAspect="1"/>
          </p:cNvPicPr>
          <p:nvPr/>
        </p:nvPicPr>
        <p:blipFill>
          <a:blip r:embed="rId4"/>
          <a:stretch>
            <a:fillRect/>
          </a:stretch>
        </p:blipFill>
        <p:spPr>
          <a:xfrm>
            <a:off x="7085487" y="4507674"/>
            <a:ext cx="134549" cy="195707"/>
          </a:xfrm>
          <a:prstGeom prst="rect">
            <a:avLst/>
          </a:prstGeom>
        </p:spPr>
      </p:pic>
      <p:sp>
        <p:nvSpPr>
          <p:cNvPr id="28" name="TextBox 27"/>
          <p:cNvSpPr txBox="1"/>
          <p:nvPr/>
        </p:nvSpPr>
        <p:spPr>
          <a:xfrm>
            <a:off x="7260596" y="45178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655739" y="4507674"/>
            <a:ext cx="134549" cy="195707"/>
          </a:xfrm>
          <a:prstGeom prst="rect">
            <a:avLst/>
          </a:prstGeom>
        </p:spPr>
      </p:pic>
      <p:sp>
        <p:nvSpPr>
          <p:cNvPr id="30" name="TextBox 29"/>
          <p:cNvSpPr txBox="1"/>
          <p:nvPr/>
        </p:nvSpPr>
        <p:spPr>
          <a:xfrm>
            <a:off x="8830849" y="4517897"/>
            <a:ext cx="2616386" cy="194310"/>
          </a:xfrm>
          <a:prstGeom prst="rect">
            <a:avLst/>
          </a:prstGeom>
          <a:noFill/>
        </p:spPr>
        <p:txBody>
          <a:bodyPr wrap="none" lIns="0" rIns="0" tIns="0" bIns="0">
            <a:spAutoFit/>
          </a:bodyPr>
          <a:lstStyle/>
          <a:p>
            <a:r>
              <a:rPr sz="1150" b="0">
                <a:solidFill>
                  <a:srgbClr val="2E2E2E"/>
                </a:solidFill>
                <a:latin typeface="Calibri"/>
              </a:rPr>
              <a:t>share by 2036. The metal alloys segment is</a:t>
            </a:r>
          </a:p>
        </p:txBody>
      </p:sp>
      <p:sp>
        <p:nvSpPr>
          <p:cNvPr id="31" name="TextBox 30"/>
          <p:cNvSpPr txBox="1"/>
          <p:nvPr/>
        </p:nvSpPr>
        <p:spPr>
          <a:xfrm>
            <a:off x="276225" y="469315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4682934"/>
            <a:ext cx="134549" cy="195707"/>
          </a:xfrm>
          <a:prstGeom prst="rect">
            <a:avLst/>
          </a:prstGeom>
        </p:spPr>
      </p:pic>
      <p:sp>
        <p:nvSpPr>
          <p:cNvPr id="33" name="TextBox 32"/>
          <p:cNvSpPr txBox="1"/>
          <p:nvPr/>
        </p:nvSpPr>
        <p:spPr>
          <a:xfrm>
            <a:off x="1455394" y="46931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4682934"/>
            <a:ext cx="134549" cy="195707"/>
          </a:xfrm>
          <a:prstGeom prst="rect">
            <a:avLst/>
          </a:prstGeom>
        </p:spPr>
      </p:pic>
      <p:sp>
        <p:nvSpPr>
          <p:cNvPr id="35" name="TextBox 34"/>
          <p:cNvSpPr txBox="1"/>
          <p:nvPr/>
        </p:nvSpPr>
        <p:spPr>
          <a:xfrm>
            <a:off x="4218008" y="46931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Type (US$ Mn)</a:t>
            </a:r>
          </a:p>
        </p:txBody>
      </p:sp>
      <p:graphicFrame>
        <p:nvGraphicFramePr>
          <p:cNvPr id="13" name="Table 12"/>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Material Type</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7216" y="2818639"/>
            <a:ext cx="366712" cy="533400"/>
          </a:xfrm>
          <a:prstGeom prst="rect">
            <a:avLst/>
          </a:prstGeom>
        </p:spPr>
      </p:pic>
      <p:sp>
        <p:nvSpPr>
          <p:cNvPr id="21" name="TextBox 20"/>
          <p:cNvSpPr txBox="1"/>
          <p:nvPr/>
        </p:nvSpPr>
        <p:spPr>
          <a:xfrm>
            <a:off x="276225" y="54483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2" name="Picture 21" descr="lock.png"/>
          <p:cNvPicPr>
            <a:picLocks noChangeAspect="1"/>
          </p:cNvPicPr>
          <p:nvPr/>
        </p:nvPicPr>
        <p:blipFill>
          <a:blip r:embed="rId4"/>
          <a:stretch>
            <a:fillRect/>
          </a:stretch>
        </p:blipFill>
        <p:spPr>
          <a:xfrm>
            <a:off x="3033455" y="5438076"/>
            <a:ext cx="134549" cy="195707"/>
          </a:xfrm>
          <a:prstGeom prst="rect">
            <a:avLst/>
          </a:prstGeom>
        </p:spPr>
      </p:pic>
      <p:sp>
        <p:nvSpPr>
          <p:cNvPr id="23" name="TextBox 22"/>
          <p:cNvSpPr txBox="1"/>
          <p:nvPr/>
        </p:nvSpPr>
        <p:spPr>
          <a:xfrm>
            <a:off x="3208564" y="5448300"/>
            <a:ext cx="8533693" cy="194310"/>
          </a:xfrm>
          <a:prstGeom prst="rect">
            <a:avLst/>
          </a:prstGeom>
          <a:noFill/>
        </p:spPr>
        <p:txBody>
          <a:bodyPr wrap="none" lIns="0" rIns="0" tIns="0" bIns="0">
            <a:spAutoFit/>
          </a:bodyPr>
          <a:lstStyle/>
          <a:p>
            <a:r>
              <a:rPr sz="1150" b="0">
                <a:solidFill>
                  <a:srgbClr val="2E2E2E"/>
                </a:solidFill>
                <a:latin typeface="Calibri"/>
              </a:rPr>
              <a:t>X higher value than metal alloys segment in 2036. Among removable partial dentures by material type, high-performance polymers segment is</a:t>
            </a:r>
          </a:p>
        </p:txBody>
      </p:sp>
      <p:sp>
        <p:nvSpPr>
          <p:cNvPr id="24" name="TextBox 23"/>
          <p:cNvSpPr txBox="1"/>
          <p:nvPr/>
        </p:nvSpPr>
        <p:spPr>
          <a:xfrm>
            <a:off x="276225" y="56235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5613336"/>
            <a:ext cx="134549" cy="195707"/>
          </a:xfrm>
          <a:prstGeom prst="rect">
            <a:avLst/>
          </a:prstGeom>
        </p:spPr>
      </p:pic>
      <p:sp>
        <p:nvSpPr>
          <p:cNvPr id="26" name="TextBox 25"/>
          <p:cNvSpPr txBox="1"/>
          <p:nvPr/>
        </p:nvSpPr>
        <p:spPr>
          <a:xfrm>
            <a:off x="2886495" y="56235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851397"/>
            <a:ext cx="6736308" cy="194310"/>
          </a:xfrm>
          <a:prstGeom prst="rect">
            <a:avLst/>
          </a:prstGeom>
          <a:noFill/>
        </p:spPr>
        <p:txBody>
          <a:bodyPr wrap="none" lIns="0" rIns="0" tIns="0" bIns="0">
            <a:spAutoFit/>
          </a:bodyPr>
          <a:lstStyle/>
          <a:p>
            <a:r>
              <a:rPr sz="1150" b="0">
                <a:solidFill>
                  <a:srgbClr val="2E2E2E"/>
                </a:solidFill>
                <a:latin typeface="Calibri"/>
              </a:rPr>
              <a:t>In terms of value share by material type, the acrylic / resin segment is expected to dominate the market, gaining</a:t>
            </a:r>
          </a:p>
        </p:txBody>
      </p:sp>
      <p:pic>
        <p:nvPicPr>
          <p:cNvPr id="28" name="Picture 27" descr="lock.png"/>
          <p:cNvPicPr>
            <a:picLocks noChangeAspect="1"/>
          </p:cNvPicPr>
          <p:nvPr/>
        </p:nvPicPr>
        <p:blipFill>
          <a:blip r:embed="rId4"/>
          <a:stretch>
            <a:fillRect/>
          </a:stretch>
        </p:blipFill>
        <p:spPr>
          <a:xfrm>
            <a:off x="6961687" y="5841174"/>
            <a:ext cx="134549" cy="195707"/>
          </a:xfrm>
          <a:prstGeom prst="rect">
            <a:avLst/>
          </a:prstGeom>
        </p:spPr>
      </p:pic>
      <p:sp>
        <p:nvSpPr>
          <p:cNvPr id="29" name="TextBox 28"/>
          <p:cNvSpPr txBox="1"/>
          <p:nvPr/>
        </p:nvSpPr>
        <p:spPr>
          <a:xfrm>
            <a:off x="7136796" y="58513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31939" y="5841174"/>
            <a:ext cx="134549" cy="195707"/>
          </a:xfrm>
          <a:prstGeom prst="rect">
            <a:avLst/>
          </a:prstGeom>
        </p:spPr>
      </p:pic>
      <p:sp>
        <p:nvSpPr>
          <p:cNvPr id="31" name="TextBox 30"/>
          <p:cNvSpPr txBox="1"/>
          <p:nvPr/>
        </p:nvSpPr>
        <p:spPr>
          <a:xfrm>
            <a:off x="8707048" y="5851397"/>
            <a:ext cx="2579588" cy="194310"/>
          </a:xfrm>
          <a:prstGeom prst="rect">
            <a:avLst/>
          </a:prstGeom>
          <a:noFill/>
        </p:spPr>
        <p:txBody>
          <a:bodyPr wrap="none" lIns="0" rIns="0" tIns="0" bIns="0">
            <a:spAutoFit/>
          </a:bodyPr>
          <a:lstStyle/>
          <a:p>
            <a:r>
              <a:rPr sz="1150" b="0">
                <a:solidFill>
                  <a:srgbClr val="2E2E2E"/>
                </a:solidFill>
                <a:latin typeface="Calibri"/>
              </a:rPr>
              <a:t>share by 2036. The flexible thermoplastics</a:t>
            </a:r>
          </a:p>
        </p:txBody>
      </p:sp>
      <p:sp>
        <p:nvSpPr>
          <p:cNvPr id="32" name="TextBox 31"/>
          <p:cNvSpPr txBox="1"/>
          <p:nvPr/>
        </p:nvSpPr>
        <p:spPr>
          <a:xfrm>
            <a:off x="276225" y="6026657"/>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6016434"/>
            <a:ext cx="134549" cy="195707"/>
          </a:xfrm>
          <a:prstGeom prst="rect">
            <a:avLst/>
          </a:prstGeom>
        </p:spPr>
      </p:pic>
      <p:sp>
        <p:nvSpPr>
          <p:cNvPr id="34" name="TextBox 33"/>
          <p:cNvSpPr txBox="1"/>
          <p:nvPr/>
        </p:nvSpPr>
        <p:spPr>
          <a:xfrm>
            <a:off x="2126026" y="60266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6016434"/>
            <a:ext cx="134549" cy="195707"/>
          </a:xfrm>
          <a:prstGeom prst="rect">
            <a:avLst/>
          </a:prstGeom>
        </p:spPr>
      </p:pic>
      <p:sp>
        <p:nvSpPr>
          <p:cNvPr id="36" name="TextBox 35"/>
          <p:cNvSpPr txBox="1"/>
          <p:nvPr/>
        </p:nvSpPr>
        <p:spPr>
          <a:xfrm>
            <a:off x="4888640" y="60266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684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20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58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779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920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87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11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730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343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296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534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153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153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105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343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19628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192313" cy="194310"/>
          </a:xfrm>
          <a:prstGeom prst="rect">
            <a:avLst/>
          </a:prstGeom>
          <a:noFill/>
        </p:spPr>
        <p:txBody>
          <a:bodyPr wrap="none" lIns="0" rIns="0" tIns="0" bIns="0">
            <a:spAutoFit/>
          </a:bodyPr>
          <a:lstStyle/>
          <a:p>
            <a:r>
              <a:rPr sz="1150" b="0">
                <a:solidFill>
                  <a:srgbClr val="2E2E2E"/>
                </a:solidFill>
                <a:latin typeface="Calibri"/>
              </a:rPr>
              <a:t>Among removable partial dentures by material type,</a:t>
            </a:r>
          </a:p>
        </p:txBody>
      </p:sp>
      <p:sp>
        <p:nvSpPr>
          <p:cNvPr id="39" name="TextBox 38"/>
          <p:cNvSpPr txBox="1"/>
          <p:nvPr/>
        </p:nvSpPr>
        <p:spPr>
          <a:xfrm>
            <a:off x="7829550" y="1575435"/>
            <a:ext cx="3856384" cy="194310"/>
          </a:xfrm>
          <a:prstGeom prst="rect">
            <a:avLst/>
          </a:prstGeom>
          <a:noFill/>
        </p:spPr>
        <p:txBody>
          <a:bodyPr wrap="none" lIns="0" rIns="0" tIns="0" bIns="0">
            <a:spAutoFit/>
          </a:bodyPr>
          <a:lstStyle/>
          <a:p>
            <a:r>
              <a:rPr sz="1150" b="0">
                <a:solidFill>
                  <a:srgbClr val="2E2E2E"/>
                </a:solidFill>
                <a:latin typeface="Calibri"/>
              </a:rPr>
              <a:t>high-performance polymers segment is expected to witness the</a:t>
            </a:r>
          </a:p>
        </p:txBody>
      </p:sp>
      <p:sp>
        <p:nvSpPr>
          <p:cNvPr id="40" name="TextBox 39"/>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1" name="Picture 40" descr="lock.png"/>
          <p:cNvPicPr>
            <a:picLocks noChangeAspect="1"/>
          </p:cNvPicPr>
          <p:nvPr/>
        </p:nvPicPr>
        <p:blipFill>
          <a:blip r:embed="rId5"/>
          <a:stretch>
            <a:fillRect/>
          </a:stretch>
        </p:blipFill>
        <p:spPr>
          <a:xfrm>
            <a:off x="8811057" y="1740471"/>
            <a:ext cx="134549" cy="195707"/>
          </a:xfrm>
          <a:prstGeom prst="rect">
            <a:avLst/>
          </a:prstGeom>
        </p:spPr>
      </p:pic>
      <p:sp>
        <p:nvSpPr>
          <p:cNvPr id="42" name="TextBox 41"/>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3" name="TextBox 42"/>
          <p:cNvSpPr txBox="1"/>
          <p:nvPr/>
        </p:nvSpPr>
        <p:spPr>
          <a:xfrm>
            <a:off x="7829550" y="1925955"/>
            <a:ext cx="3909441" cy="194310"/>
          </a:xfrm>
          <a:prstGeom prst="rect">
            <a:avLst/>
          </a:prstGeom>
          <a:noFill/>
        </p:spPr>
        <p:txBody>
          <a:bodyPr wrap="none" lIns="0" rIns="0" tIns="0" bIns="0">
            <a:spAutoFit/>
          </a:bodyPr>
          <a:lstStyle/>
          <a:p>
            <a:r>
              <a:rPr sz="1150" b="0">
                <a:solidFill>
                  <a:srgbClr val="2E2E2E"/>
                </a:solidFill>
                <a:latin typeface="Calibri"/>
              </a:rPr>
              <a:t>share by material type, the acrylic / resin segment is expected to</a:t>
            </a:r>
          </a:p>
        </p:txBody>
      </p:sp>
      <p:sp>
        <p:nvSpPr>
          <p:cNvPr id="44" name="TextBox 43"/>
          <p:cNvSpPr txBox="1"/>
          <p:nvPr/>
        </p:nvSpPr>
        <p:spPr>
          <a:xfrm>
            <a:off x="7829550" y="210121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45" name="Picture 44" descr="lock.png"/>
          <p:cNvPicPr>
            <a:picLocks noChangeAspect="1"/>
          </p:cNvPicPr>
          <p:nvPr/>
        </p:nvPicPr>
        <p:blipFill>
          <a:blip r:embed="rId5"/>
          <a:stretch>
            <a:fillRect/>
          </a:stretch>
        </p:blipFill>
        <p:spPr>
          <a:xfrm>
            <a:off x="9615776" y="2090991"/>
            <a:ext cx="134549" cy="195707"/>
          </a:xfrm>
          <a:prstGeom prst="rect">
            <a:avLst/>
          </a:prstGeom>
        </p:spPr>
      </p:pic>
      <p:sp>
        <p:nvSpPr>
          <p:cNvPr id="46" name="TextBox 45"/>
          <p:cNvSpPr txBox="1"/>
          <p:nvPr/>
        </p:nvSpPr>
        <p:spPr>
          <a:xfrm>
            <a:off x="979088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1186028" y="2090991"/>
            <a:ext cx="134549" cy="195707"/>
          </a:xfrm>
          <a:prstGeom prst="rect">
            <a:avLst/>
          </a:prstGeom>
        </p:spPr>
      </p:pic>
      <p:sp>
        <p:nvSpPr>
          <p:cNvPr id="48" name="TextBox 4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504313"/>
            <a:ext cx="3358901" cy="194310"/>
          </a:xfrm>
          <a:prstGeom prst="rect">
            <a:avLst/>
          </a:prstGeom>
          <a:noFill/>
        </p:spPr>
        <p:txBody>
          <a:bodyPr wrap="none" lIns="0" rIns="0" tIns="0" bIns="0">
            <a:spAutoFit/>
          </a:bodyPr>
          <a:lstStyle/>
          <a:p>
            <a:r>
              <a:rPr sz="1150" b="0">
                <a:solidFill>
                  <a:srgbClr val="2E2E2E"/>
                </a:solidFill>
                <a:latin typeface="Calibri"/>
              </a:rPr>
              <a:t>The flexible thermoplastics segment is expected to lose</a:t>
            </a:r>
          </a:p>
        </p:txBody>
      </p:sp>
      <p:pic>
        <p:nvPicPr>
          <p:cNvPr id="50" name="Picture 49" descr="lock.png"/>
          <p:cNvPicPr>
            <a:picLocks noChangeAspect="1"/>
          </p:cNvPicPr>
          <p:nvPr/>
        </p:nvPicPr>
        <p:blipFill>
          <a:blip r:embed="rId5"/>
          <a:stretch>
            <a:fillRect/>
          </a:stretch>
        </p:blipFill>
        <p:spPr>
          <a:xfrm>
            <a:off x="11137605" y="2494089"/>
            <a:ext cx="134549" cy="195707"/>
          </a:xfrm>
          <a:prstGeom prst="rect">
            <a:avLst/>
          </a:prstGeom>
        </p:spPr>
      </p:pic>
      <p:sp>
        <p:nvSpPr>
          <p:cNvPr id="51" name="TextBox 50"/>
          <p:cNvSpPr txBox="1"/>
          <p:nvPr/>
        </p:nvSpPr>
        <p:spPr>
          <a:xfrm>
            <a:off x="11312715"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2" name="TextBox 51"/>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3" name="Picture 52" descr="lock.png"/>
          <p:cNvPicPr>
            <a:picLocks noChangeAspect="1"/>
          </p:cNvPicPr>
          <p:nvPr/>
        </p:nvPicPr>
        <p:blipFill>
          <a:blip r:embed="rId5"/>
          <a:stretch>
            <a:fillRect/>
          </a:stretch>
        </p:blipFill>
        <p:spPr>
          <a:xfrm>
            <a:off x="10161752" y="2669349"/>
            <a:ext cx="134549" cy="195707"/>
          </a:xfrm>
          <a:prstGeom prst="rect">
            <a:avLst/>
          </a:prstGeom>
        </p:spPr>
      </p:pic>
      <p:sp>
        <p:nvSpPr>
          <p:cNvPr id="54" name="TextBox 53"/>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4" name="Picture 263" descr="lock.png"/>
          <p:cNvPicPr>
            <a:picLocks noChangeAspect="1"/>
          </p:cNvPicPr>
          <p:nvPr/>
        </p:nvPicPr>
        <p:blipFill>
          <a:blip r:embed="rId4"/>
          <a:stretch>
            <a:fillRect/>
          </a:stretch>
        </p:blipFill>
        <p:spPr>
          <a:xfrm>
            <a:off x="11760938" y="1354201"/>
            <a:ext cx="128699" cy="187198"/>
          </a:xfrm>
          <a:prstGeom prst="rect">
            <a:avLst/>
          </a:prstGeom>
        </p:spPr>
      </p:pic>
      <p:pic>
        <p:nvPicPr>
          <p:cNvPr id="265" name="Picture 264" descr="lock.png"/>
          <p:cNvPicPr>
            <a:picLocks noChangeAspect="1"/>
          </p:cNvPicPr>
          <p:nvPr/>
        </p:nvPicPr>
        <p:blipFill>
          <a:blip r:embed="rId4"/>
          <a:stretch>
            <a:fillRect/>
          </a:stretch>
        </p:blipFill>
        <p:spPr>
          <a:xfrm>
            <a:off x="11760938" y="3897376"/>
            <a:ext cx="128699" cy="187198"/>
          </a:xfrm>
          <a:prstGeom prst="rect">
            <a:avLst/>
          </a:prstGeom>
        </p:spPr>
      </p:pic>
      <p:pic>
        <p:nvPicPr>
          <p:cNvPr id="266" name="Picture 26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39_2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10_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2_7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32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13_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9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59" name="TextBox 58"/>
          <p:cNvSpPr txBox="1"/>
          <p:nvPr/>
        </p:nvSpPr>
        <p:spPr>
          <a:xfrm>
            <a:off x="485775" y="4397077"/>
            <a:ext cx="2800622" cy="186689"/>
          </a:xfrm>
          <a:prstGeom prst="rect">
            <a:avLst/>
          </a:prstGeom>
          <a:noFill/>
        </p:spPr>
        <p:txBody>
          <a:bodyPr wrap="none" lIns="0" rIns="0" tIns="0" bIns="0">
            <a:spAutoFit/>
          </a:bodyPr>
          <a:lstStyle/>
          <a:p>
            <a:r>
              <a:rPr sz="1100" b="0">
                <a:solidFill>
                  <a:srgbClr val="2E2E2E"/>
                </a:solidFill>
                <a:latin typeface="Calibri"/>
              </a:rPr>
              <a:t>technology, conventional fabrication segment is</a:t>
            </a:r>
          </a:p>
        </p:txBody>
      </p:sp>
      <p:sp>
        <p:nvSpPr>
          <p:cNvPr id="60" name="TextBox 59"/>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61" name="Picture 60" descr="lock.png"/>
          <p:cNvPicPr>
            <a:picLocks noChangeAspect="1"/>
          </p:cNvPicPr>
          <p:nvPr/>
        </p:nvPicPr>
        <p:blipFill>
          <a:blip r:embed="rId10"/>
          <a:stretch>
            <a:fillRect/>
          </a:stretch>
        </p:blipFill>
        <p:spPr>
          <a:xfrm>
            <a:off x="2815059" y="4554938"/>
            <a:ext cx="128699" cy="187198"/>
          </a:xfrm>
          <a:prstGeom prst="rect">
            <a:avLst/>
          </a:prstGeom>
        </p:spPr>
      </p:pic>
      <p:sp>
        <p:nvSpPr>
          <p:cNvPr id="62" name="TextBox 61"/>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3" name="TextBox 62"/>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4" name="TextBox 63"/>
          <p:cNvSpPr txBox="1"/>
          <p:nvPr/>
        </p:nvSpPr>
        <p:spPr>
          <a:xfrm>
            <a:off x="485775" y="4899997"/>
            <a:ext cx="2634183" cy="186689"/>
          </a:xfrm>
          <a:prstGeom prst="rect">
            <a:avLst/>
          </a:prstGeom>
          <a:noFill/>
        </p:spPr>
        <p:txBody>
          <a:bodyPr wrap="none" lIns="0" rIns="0" tIns="0" bIns="0">
            <a:spAutoFit/>
          </a:bodyPr>
          <a:lstStyle/>
          <a:p>
            <a:r>
              <a:rPr sz="1100" b="0">
                <a:solidFill>
                  <a:srgbClr val="2E2E2E"/>
                </a:solidFill>
                <a:latin typeface="Calibri"/>
              </a:rPr>
              <a:t>technology, the digital fabrication segment is</a:t>
            </a:r>
          </a:p>
        </p:txBody>
      </p:sp>
      <p:sp>
        <p:nvSpPr>
          <p:cNvPr id="65" name="TextBox 64"/>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6" name="Picture 65" descr="lock.png"/>
          <p:cNvPicPr>
            <a:picLocks noChangeAspect="1"/>
          </p:cNvPicPr>
          <p:nvPr/>
        </p:nvPicPr>
        <p:blipFill>
          <a:blip r:embed="rId10"/>
          <a:stretch>
            <a:fillRect/>
          </a:stretch>
        </p:blipFill>
        <p:spPr>
          <a:xfrm>
            <a:off x="2822716" y="5057858"/>
            <a:ext cx="128699" cy="187198"/>
          </a:xfrm>
          <a:prstGeom prst="rect">
            <a:avLst/>
          </a:prstGeom>
        </p:spPr>
      </p:pic>
      <p:sp>
        <p:nvSpPr>
          <p:cNvPr id="67" name="TextBox 66"/>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54101" cy="186689"/>
          </a:xfrm>
          <a:prstGeom prst="rect">
            <a:avLst/>
          </a:prstGeom>
          <a:noFill/>
        </p:spPr>
        <p:txBody>
          <a:bodyPr wrap="none" lIns="0" rIns="0" tIns="0" bIns="0">
            <a:spAutoFit/>
          </a:bodyPr>
          <a:lstStyle/>
          <a:p>
            <a:r>
              <a:rPr sz="1100" b="0">
                <a:solidFill>
                  <a:srgbClr val="2E2E2E"/>
                </a:solidFill>
                <a:latin typeface="Calibri"/>
              </a:rPr>
              <a:t>▪ ¶ Digital fabrication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1941686" cy="186689"/>
          </a:xfrm>
          <a:prstGeom prst="rect">
            <a:avLst/>
          </a:prstGeom>
          <a:noFill/>
        </p:spPr>
        <p:txBody>
          <a:bodyPr wrap="none" lIns="0" rIns="0" tIns="0" bIns="0">
            <a:spAutoFit/>
          </a:bodyPr>
          <a:lstStyle/>
          <a:p>
            <a:r>
              <a:rPr sz="1100" b="0">
                <a:solidFill>
                  <a:srgbClr val="2E2E2E"/>
                </a:solidFill>
                <a:latin typeface="Calibri"/>
              </a:rPr>
              <a:t>X higher value than conventional</a:t>
            </a:r>
          </a:p>
        </p:txBody>
      </p:sp>
      <p:sp>
        <p:nvSpPr>
          <p:cNvPr id="75" name="TextBox 74"/>
          <p:cNvSpPr txBox="1"/>
          <p:nvPr/>
        </p:nvSpPr>
        <p:spPr>
          <a:xfrm>
            <a:off x="485775" y="5788489"/>
            <a:ext cx="1703213" cy="186689"/>
          </a:xfrm>
          <a:prstGeom prst="rect">
            <a:avLst/>
          </a:prstGeom>
          <a:noFill/>
        </p:spPr>
        <p:txBody>
          <a:bodyPr wrap="none" lIns="0" rIns="0" tIns="0" bIns="0">
            <a:spAutoFit/>
          </a:bodyPr>
          <a:lstStyle/>
          <a:p>
            <a:r>
              <a:rPr sz="1100" b="0">
                <a:solidFill>
                  <a:srgbClr val="2E2E2E"/>
                </a:solidFill>
                <a:latin typeface="Calibri"/>
              </a:rPr>
              <a:t>fabrication segment in 2036.</a:t>
            </a:r>
          </a:p>
        </p:txBody>
      </p:sp>
      <p:sp>
        <p:nvSpPr>
          <p:cNvPr id="76" name="TextBox 75"/>
          <p:cNvSpPr txBox="1"/>
          <p:nvPr/>
        </p:nvSpPr>
        <p:spPr>
          <a:xfrm>
            <a:off x="3838575" y="4229437"/>
            <a:ext cx="1260861" cy="186689"/>
          </a:xfrm>
          <a:prstGeom prst="rect">
            <a:avLst/>
          </a:prstGeom>
          <a:noFill/>
        </p:spPr>
        <p:txBody>
          <a:bodyPr wrap="none" lIns="0" rIns="0" tIns="0" bIns="0">
            <a:spAutoFit/>
          </a:bodyPr>
          <a:lstStyle/>
          <a:p>
            <a:r>
              <a:rPr sz="1100" b="0">
                <a:solidFill>
                  <a:srgbClr val="2E2E2E"/>
                </a:solidFill>
                <a:latin typeface="Calibri"/>
              </a:rPr>
              <a:t>● Digital Fabrication:</a:t>
            </a:r>
          </a:p>
        </p:txBody>
      </p:sp>
      <p:pic>
        <p:nvPicPr>
          <p:cNvPr id="77" name="Picture 76" descr="lock.png"/>
          <p:cNvPicPr>
            <a:picLocks noChangeAspect="1"/>
          </p:cNvPicPr>
          <p:nvPr/>
        </p:nvPicPr>
        <p:blipFill>
          <a:blip r:embed="rId10"/>
          <a:stretch>
            <a:fillRect/>
          </a:stretch>
        </p:blipFill>
        <p:spPr>
          <a:xfrm>
            <a:off x="5047488" y="4219658"/>
            <a:ext cx="128699" cy="187198"/>
          </a:xfrm>
          <a:prstGeom prst="rect">
            <a:avLst/>
          </a:prstGeom>
        </p:spPr>
      </p:pic>
      <p:sp>
        <p:nvSpPr>
          <p:cNvPr id="78" name="TextBox 77"/>
          <p:cNvSpPr txBox="1"/>
          <p:nvPr/>
        </p:nvSpPr>
        <p:spPr>
          <a:xfrm>
            <a:off x="52149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74434" y="4219658"/>
            <a:ext cx="128699" cy="187198"/>
          </a:xfrm>
          <a:prstGeom prst="rect">
            <a:avLst/>
          </a:prstGeom>
        </p:spPr>
      </p:pic>
      <p:sp>
        <p:nvSpPr>
          <p:cNvPr id="80" name="TextBox 79"/>
          <p:cNvSpPr txBox="1"/>
          <p:nvPr/>
        </p:nvSpPr>
        <p:spPr>
          <a:xfrm>
            <a:off x="62419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651585" cy="186689"/>
          </a:xfrm>
          <a:prstGeom prst="rect">
            <a:avLst/>
          </a:prstGeom>
          <a:noFill/>
        </p:spPr>
        <p:txBody>
          <a:bodyPr wrap="none" lIns="0" rIns="0" tIns="0" bIns="0">
            <a:spAutoFit/>
          </a:bodyPr>
          <a:lstStyle/>
          <a:p>
            <a:r>
              <a:rPr sz="1100" b="0">
                <a:solidFill>
                  <a:srgbClr val="2E2E2E"/>
                </a:solidFill>
                <a:latin typeface="Calibri"/>
              </a:rPr>
              <a:t>● Conventional Fabrication:</a:t>
            </a:r>
          </a:p>
        </p:txBody>
      </p:sp>
      <p:pic>
        <p:nvPicPr>
          <p:cNvPr id="82" name="Picture 81" descr="lock.png"/>
          <p:cNvPicPr>
            <a:picLocks noChangeAspect="1"/>
          </p:cNvPicPr>
          <p:nvPr/>
        </p:nvPicPr>
        <p:blipFill>
          <a:blip r:embed="rId10"/>
          <a:stretch>
            <a:fillRect/>
          </a:stretch>
        </p:blipFill>
        <p:spPr>
          <a:xfrm>
            <a:off x="5438211" y="4437590"/>
            <a:ext cx="128699" cy="187198"/>
          </a:xfrm>
          <a:prstGeom prst="rect">
            <a:avLst/>
          </a:prstGeom>
        </p:spPr>
      </p:pic>
      <p:sp>
        <p:nvSpPr>
          <p:cNvPr id="83" name="TextBox 82"/>
          <p:cNvSpPr txBox="1"/>
          <p:nvPr/>
        </p:nvSpPr>
        <p:spPr>
          <a:xfrm>
            <a:off x="560570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465157" y="4437590"/>
            <a:ext cx="128699" cy="187198"/>
          </a:xfrm>
          <a:prstGeom prst="rect">
            <a:avLst/>
          </a:prstGeom>
        </p:spPr>
      </p:pic>
      <p:sp>
        <p:nvSpPr>
          <p:cNvPr id="85" name="TextBox 84"/>
          <p:cNvSpPr txBox="1"/>
          <p:nvPr/>
        </p:nvSpPr>
        <p:spPr>
          <a:xfrm>
            <a:off x="6632653"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6" name="TextBox 8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7" name="TextBox 86"/>
          <p:cNvSpPr txBox="1"/>
          <p:nvPr/>
        </p:nvSpPr>
        <p:spPr>
          <a:xfrm>
            <a:off x="8524875" y="5842641"/>
            <a:ext cx="3094471" cy="194310"/>
          </a:xfrm>
          <a:prstGeom prst="rect">
            <a:avLst/>
          </a:prstGeom>
          <a:noFill/>
        </p:spPr>
        <p:txBody>
          <a:bodyPr wrap="none" lIns="0" rIns="0" tIns="0" bIns="0">
            <a:spAutoFit/>
          </a:bodyPr>
          <a:lstStyle/>
          <a:p>
            <a:r>
              <a:rPr sz="1150" b="1">
                <a:solidFill>
                  <a:srgbClr val="0B2E4A"/>
                </a:solidFill>
                <a:latin typeface="Calibri"/>
              </a:rPr>
              <a:t>The Technology segment is projected to grow at a</a:t>
            </a:r>
          </a:p>
        </p:txBody>
      </p:sp>
      <p:sp>
        <p:nvSpPr>
          <p:cNvPr id="88" name="TextBox 87"/>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9" name="Picture 88" descr="lock.png"/>
          <p:cNvPicPr>
            <a:picLocks noChangeAspect="1"/>
          </p:cNvPicPr>
          <p:nvPr/>
        </p:nvPicPr>
        <p:blipFill>
          <a:blip r:embed="rId10"/>
          <a:stretch>
            <a:fillRect/>
          </a:stretch>
        </p:blipFill>
        <p:spPr>
          <a:xfrm>
            <a:off x="9048826" y="6007677"/>
            <a:ext cx="134549" cy="195707"/>
          </a:xfrm>
          <a:prstGeom prst="rect">
            <a:avLst/>
          </a:prstGeom>
        </p:spPr>
      </p:pic>
      <p:sp>
        <p:nvSpPr>
          <p:cNvPr id="90" name="TextBox 89"/>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49199" cy="186689"/>
          </a:xfrm>
          <a:prstGeom prst="rect">
            <a:avLst/>
          </a:prstGeom>
          <a:noFill/>
        </p:spPr>
        <p:txBody>
          <a:bodyPr wrap="none" lIns="0" rIns="0" tIns="0" bIns="0">
            <a:spAutoFit/>
          </a:bodyPr>
          <a:lstStyle/>
          <a:p>
            <a:r>
              <a:rPr sz="1100" b="0">
                <a:solidFill>
                  <a:srgbClr val="2E2E2E"/>
                </a:solidFill>
                <a:latin typeface="Calibri"/>
              </a:rPr>
              <a:t>Conventional fabrication followed by digital fabrication are expected to be the two most attractive technology segments in the North America removable partial dentures market in terms of value over the</a:t>
            </a:r>
          </a:p>
        </p:txBody>
      </p:sp>
      <p:sp>
        <p:nvSpPr>
          <p:cNvPr id="21" name="TextBox 20"/>
          <p:cNvSpPr txBox="1"/>
          <p:nvPr/>
        </p:nvSpPr>
        <p:spPr>
          <a:xfrm>
            <a:off x="257175" y="5945505"/>
            <a:ext cx="5040717" cy="186689"/>
          </a:xfrm>
          <a:prstGeom prst="rect">
            <a:avLst/>
          </a:prstGeom>
          <a:noFill/>
        </p:spPr>
        <p:txBody>
          <a:bodyPr wrap="none" lIns="0" rIns="0" tIns="0" bIns="0">
            <a:spAutoFit/>
          </a:bodyPr>
          <a:lstStyle/>
          <a:p>
            <a:r>
              <a:rPr sz="1100" b="0">
                <a:solidFill>
                  <a:srgbClr val="2E2E2E"/>
                </a:solidFill>
                <a:latin typeface="Calibri"/>
              </a:rPr>
              <a:t>forecast period. Conventional fabrication and digital fabrication exhibit a CAGR index of</a:t>
            </a:r>
          </a:p>
        </p:txBody>
      </p:sp>
      <p:pic>
        <p:nvPicPr>
          <p:cNvPr id="22" name="Picture 21" descr="lock.png"/>
          <p:cNvPicPr>
            <a:picLocks noChangeAspect="1"/>
          </p:cNvPicPr>
          <p:nvPr/>
        </p:nvPicPr>
        <p:blipFill>
          <a:blip r:embed="rId6"/>
          <a:stretch>
            <a:fillRect/>
          </a:stretch>
        </p:blipFill>
        <p:spPr>
          <a:xfrm>
            <a:off x="5245943" y="5935726"/>
            <a:ext cx="128699" cy="187198"/>
          </a:xfrm>
          <a:prstGeom prst="rect">
            <a:avLst/>
          </a:prstGeom>
        </p:spPr>
      </p:pic>
      <p:sp>
        <p:nvSpPr>
          <p:cNvPr id="23" name="TextBox 22"/>
          <p:cNvSpPr txBox="1"/>
          <p:nvPr/>
        </p:nvSpPr>
        <p:spPr>
          <a:xfrm>
            <a:off x="541343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651333" y="5935726"/>
            <a:ext cx="128699" cy="187198"/>
          </a:xfrm>
          <a:prstGeom prst="rect">
            <a:avLst/>
          </a:prstGeom>
        </p:spPr>
      </p:pic>
      <p:sp>
        <p:nvSpPr>
          <p:cNvPr id="25" name="TextBox 24"/>
          <p:cNvSpPr txBox="1"/>
          <p:nvPr/>
        </p:nvSpPr>
        <p:spPr>
          <a:xfrm>
            <a:off x="5818829"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427803" y="5935726"/>
            <a:ext cx="128699" cy="187198"/>
          </a:xfrm>
          <a:prstGeom prst="rect">
            <a:avLst/>
          </a:prstGeom>
        </p:spPr>
      </p:pic>
      <p:sp>
        <p:nvSpPr>
          <p:cNvPr id="27" name="TextBox 26"/>
          <p:cNvSpPr txBox="1"/>
          <p:nvPr/>
        </p:nvSpPr>
        <p:spPr>
          <a:xfrm>
            <a:off x="759529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833193" y="5935726"/>
            <a:ext cx="128699" cy="187198"/>
          </a:xfrm>
          <a:prstGeom prst="rect">
            <a:avLst/>
          </a:prstGeom>
        </p:spPr>
      </p:pic>
      <p:sp>
        <p:nvSpPr>
          <p:cNvPr id="29" name="TextBox 28"/>
          <p:cNvSpPr txBox="1"/>
          <p:nvPr/>
        </p:nvSpPr>
        <p:spPr>
          <a:xfrm>
            <a:off x="8000689"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555093" y="5935726"/>
            <a:ext cx="128699" cy="187198"/>
          </a:xfrm>
          <a:prstGeom prst="rect">
            <a:avLst/>
          </a:prstGeom>
        </p:spPr>
      </p:pic>
      <p:sp>
        <p:nvSpPr>
          <p:cNvPr id="31" name="TextBox 30"/>
          <p:cNvSpPr txBox="1"/>
          <p:nvPr/>
        </p:nvSpPr>
        <p:spPr>
          <a:xfrm>
            <a:off x="10722589" y="5945505"/>
            <a:ext cx="595709" cy="186689"/>
          </a:xfrm>
          <a:prstGeom prst="rect">
            <a:avLst/>
          </a:prstGeom>
          <a:noFill/>
        </p:spPr>
        <p:txBody>
          <a:bodyPr wrap="none" lIns="0" rIns="0" tIns="0" bIns="0">
            <a:spAutoFit/>
          </a:bodyPr>
          <a:lstStyle/>
          <a:p>
            <a:r>
              <a:rPr sz="1100" b="0">
                <a:solidFill>
                  <a:srgbClr val="2E2E2E"/>
                </a:solidFill>
                <a:latin typeface="Calibri"/>
              </a:rPr>
              <a:t>. Bubbles</a:t>
            </a:r>
          </a:p>
        </p:txBody>
      </p:sp>
      <p:sp>
        <p:nvSpPr>
          <p:cNvPr id="32" name="TextBox 31"/>
          <p:cNvSpPr txBox="1"/>
          <p:nvPr/>
        </p:nvSpPr>
        <p:spPr>
          <a:xfrm>
            <a:off x="257175" y="611314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Digital Fabrication</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Technology (Units)</a:t>
            </a:r>
          </a:p>
        </p:txBody>
      </p:sp>
      <p:graphicFrame>
        <p:nvGraphicFramePr>
          <p:cNvPr id="13" name="Table 12"/>
          <p:cNvGraphicFramePr>
            <a:graphicFrameLocks noGrp="1"/>
          </p:cNvGraphicFramePr>
          <p:nvPr/>
        </p:nvGraphicFramePr>
        <p:xfrm>
          <a:off x="152400" y="1238250"/>
          <a:ext cx="11887207" cy="2657475"/>
        </p:xfrm>
        <a:graphic>
          <a:graphicData uri="http://schemas.openxmlformats.org/drawingml/2006/table">
            <a:tbl>
              <a:tblPr>
                <a:tableStyleId>{5C22544A-7EE6-4342-B048-85BDC9FD1C3A}</a:tableStyleId>
              </a:tblPr>
              <a:tblGrid>
                <a:gridCol w="240942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43534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07">
                <a:tc>
                  <a:txBody>
                    <a:bodyPr wrap="none"/>
                    <a:lstStyle/>
                    <a:p>
                      <a:pPr algn="l"/>
                      <a:r>
                        <a:rPr sz="1100" b="1">
                          <a:solidFill>
                            <a:srgbClr val="2E2E2E"/>
                          </a:solidFill>
                          <a:latin typeface="Calibri"/>
                        </a:rPr>
                        <a:t>Conventional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 Heat-cured / Compression 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 3D Printing / Additive 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Hybrid Digital 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905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3862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24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Technology</a:t>
            </a:r>
          </a:p>
        </p:txBody>
      </p:sp>
      <p:sp>
        <p:nvSpPr>
          <p:cNvPr id="17" name="Rectangle 16"/>
          <p:cNvSpPr/>
          <p:nvPr/>
        </p:nvSpPr>
        <p:spPr>
          <a:xfrm>
            <a:off x="276225" y="4562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48200"/>
            <a:ext cx="11639550" cy="1905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14023" y="2519743"/>
            <a:ext cx="366712" cy="533399"/>
          </a:xfrm>
          <a:prstGeom prst="rect">
            <a:avLst/>
          </a:prstGeom>
        </p:spPr>
      </p:pic>
      <p:sp>
        <p:nvSpPr>
          <p:cNvPr id="21" name="TextBox 20"/>
          <p:cNvSpPr txBox="1"/>
          <p:nvPr/>
        </p:nvSpPr>
        <p:spPr>
          <a:xfrm>
            <a:off x="276225" y="46577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647501"/>
            <a:ext cx="134549" cy="195707"/>
          </a:xfrm>
          <a:prstGeom prst="rect">
            <a:avLst/>
          </a:prstGeom>
        </p:spPr>
      </p:pic>
      <p:sp>
        <p:nvSpPr>
          <p:cNvPr id="23" name="TextBox 22"/>
          <p:cNvSpPr txBox="1"/>
          <p:nvPr/>
        </p:nvSpPr>
        <p:spPr>
          <a:xfrm>
            <a:off x="3457591" y="4657725"/>
            <a:ext cx="8380226" cy="194310"/>
          </a:xfrm>
          <a:prstGeom prst="rect">
            <a:avLst/>
          </a:prstGeom>
          <a:noFill/>
        </p:spPr>
        <p:txBody>
          <a:bodyPr wrap="none" lIns="0" rIns="0" tIns="0" bIns="0">
            <a:spAutoFit/>
          </a:bodyPr>
          <a:lstStyle/>
          <a:p>
            <a:r>
              <a:rPr sz="1150" b="0">
                <a:solidFill>
                  <a:srgbClr val="2E2E2E"/>
                </a:solidFill>
                <a:latin typeface="Calibri"/>
              </a:rPr>
              <a:t>X higher volume than conventional fabrication segment in 2036. Among removable partial dentures by technology, conventional fabrication</a:t>
            </a:r>
          </a:p>
        </p:txBody>
      </p:sp>
      <p:sp>
        <p:nvSpPr>
          <p:cNvPr id="24" name="TextBox 23"/>
          <p:cNvSpPr txBox="1"/>
          <p:nvPr/>
        </p:nvSpPr>
        <p:spPr>
          <a:xfrm>
            <a:off x="276225" y="48329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822761"/>
            <a:ext cx="134549" cy="195707"/>
          </a:xfrm>
          <a:prstGeom prst="rect">
            <a:avLst/>
          </a:prstGeom>
        </p:spPr>
      </p:pic>
      <p:sp>
        <p:nvSpPr>
          <p:cNvPr id="26" name="TextBox 25"/>
          <p:cNvSpPr txBox="1"/>
          <p:nvPr/>
        </p:nvSpPr>
        <p:spPr>
          <a:xfrm>
            <a:off x="3557127" y="48329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60822"/>
            <a:ext cx="6894624" cy="194310"/>
          </a:xfrm>
          <a:prstGeom prst="rect">
            <a:avLst/>
          </a:prstGeom>
          <a:noFill/>
        </p:spPr>
        <p:txBody>
          <a:bodyPr wrap="none" lIns="0" rIns="0" tIns="0" bIns="0">
            <a:spAutoFit/>
          </a:bodyPr>
          <a:lstStyle/>
          <a:p>
            <a:r>
              <a:rPr sz="1150" b="0">
                <a:solidFill>
                  <a:srgbClr val="2E2E2E"/>
                </a:solidFill>
                <a:latin typeface="Calibri"/>
              </a:rPr>
              <a:t>In terms of volume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7120003" y="5050599"/>
            <a:ext cx="134549" cy="195707"/>
          </a:xfrm>
          <a:prstGeom prst="rect">
            <a:avLst/>
          </a:prstGeom>
        </p:spPr>
      </p:pic>
      <p:sp>
        <p:nvSpPr>
          <p:cNvPr id="29" name="TextBox 28"/>
          <p:cNvSpPr txBox="1"/>
          <p:nvPr/>
        </p:nvSpPr>
        <p:spPr>
          <a:xfrm>
            <a:off x="7295112" y="50608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90255" y="5050599"/>
            <a:ext cx="134549" cy="195707"/>
          </a:xfrm>
          <a:prstGeom prst="rect">
            <a:avLst/>
          </a:prstGeom>
        </p:spPr>
      </p:pic>
      <p:sp>
        <p:nvSpPr>
          <p:cNvPr id="31" name="TextBox 30"/>
          <p:cNvSpPr txBox="1"/>
          <p:nvPr/>
        </p:nvSpPr>
        <p:spPr>
          <a:xfrm>
            <a:off x="8865364" y="50608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Technology (US$ Mn)</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41720" y="2328100"/>
            <a:ext cx="366712" cy="533400"/>
          </a:xfrm>
          <a:prstGeom prst="rect">
            <a:avLst/>
          </a:prstGeom>
        </p:spPr>
      </p:pic>
      <p:sp>
        <p:nvSpPr>
          <p:cNvPr id="21" name="TextBox 20"/>
          <p:cNvSpPr txBox="1"/>
          <p:nvPr/>
        </p:nvSpPr>
        <p:spPr>
          <a:xfrm>
            <a:off x="276225" y="44672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457001"/>
            <a:ext cx="134549" cy="195707"/>
          </a:xfrm>
          <a:prstGeom prst="rect">
            <a:avLst/>
          </a:prstGeom>
        </p:spPr>
      </p:pic>
      <p:sp>
        <p:nvSpPr>
          <p:cNvPr id="23" name="TextBox 22"/>
          <p:cNvSpPr txBox="1"/>
          <p:nvPr/>
        </p:nvSpPr>
        <p:spPr>
          <a:xfrm>
            <a:off x="3457591" y="4467225"/>
            <a:ext cx="8256426" cy="194310"/>
          </a:xfrm>
          <a:prstGeom prst="rect">
            <a:avLst/>
          </a:prstGeom>
          <a:noFill/>
        </p:spPr>
        <p:txBody>
          <a:bodyPr wrap="none" lIns="0" rIns="0" tIns="0" bIns="0">
            <a:spAutoFit/>
          </a:bodyPr>
          <a:lstStyle/>
          <a:p>
            <a:r>
              <a:rPr sz="1150" b="0">
                <a:solidFill>
                  <a:srgbClr val="2E2E2E"/>
                </a:solidFill>
                <a:latin typeface="Calibri"/>
              </a:rPr>
              <a:t>X higher value than conventional fabrication segment in 2036. Among removable partial dentures by technology, conventional fabrication</a:t>
            </a:r>
          </a:p>
        </p:txBody>
      </p:sp>
      <p:sp>
        <p:nvSpPr>
          <p:cNvPr id="24" name="TextBox 23"/>
          <p:cNvSpPr txBox="1"/>
          <p:nvPr/>
        </p:nvSpPr>
        <p:spPr>
          <a:xfrm>
            <a:off x="276225" y="46424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632261"/>
            <a:ext cx="134549" cy="195707"/>
          </a:xfrm>
          <a:prstGeom prst="rect">
            <a:avLst/>
          </a:prstGeom>
        </p:spPr>
      </p:pic>
      <p:sp>
        <p:nvSpPr>
          <p:cNvPr id="26" name="TextBox 25"/>
          <p:cNvSpPr txBox="1"/>
          <p:nvPr/>
        </p:nvSpPr>
        <p:spPr>
          <a:xfrm>
            <a:off x="3557127"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6770823"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6996202" y="4860099"/>
            <a:ext cx="134549" cy="195707"/>
          </a:xfrm>
          <a:prstGeom prst="rect">
            <a:avLst/>
          </a:prstGeom>
        </p:spPr>
      </p:pic>
      <p:sp>
        <p:nvSpPr>
          <p:cNvPr id="29" name="TextBox 28"/>
          <p:cNvSpPr txBox="1"/>
          <p:nvPr/>
        </p:nvSpPr>
        <p:spPr>
          <a:xfrm>
            <a:off x="717131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66455" y="4860099"/>
            <a:ext cx="134549" cy="195707"/>
          </a:xfrm>
          <a:prstGeom prst="rect">
            <a:avLst/>
          </a:prstGeom>
        </p:spPr>
      </p:pic>
      <p:sp>
        <p:nvSpPr>
          <p:cNvPr id="31" name="TextBox 30"/>
          <p:cNvSpPr txBox="1"/>
          <p:nvPr/>
        </p:nvSpPr>
        <p:spPr>
          <a:xfrm>
            <a:off x="8741564" y="48703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009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961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99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818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8870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882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06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8680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861804" cy="194310"/>
          </a:xfrm>
          <a:prstGeom prst="rect">
            <a:avLst/>
          </a:prstGeom>
          <a:noFill/>
        </p:spPr>
        <p:txBody>
          <a:bodyPr wrap="none" lIns="0" rIns="0" tIns="0" bIns="0">
            <a:spAutoFit/>
          </a:bodyPr>
          <a:lstStyle/>
          <a:p>
            <a:r>
              <a:rPr sz="1150" b="0">
                <a:solidFill>
                  <a:srgbClr val="2E2E2E"/>
                </a:solidFill>
                <a:latin typeface="Calibri"/>
              </a:rPr>
              <a:t>Among removable partial dentures by technology, conventional</a:t>
            </a:r>
          </a:p>
        </p:txBody>
      </p:sp>
      <p:sp>
        <p:nvSpPr>
          <p:cNvPr id="31" name="TextBox 30"/>
          <p:cNvSpPr txBox="1"/>
          <p:nvPr/>
        </p:nvSpPr>
        <p:spPr>
          <a:xfrm>
            <a:off x="7829550" y="1575435"/>
            <a:ext cx="3833831" cy="194310"/>
          </a:xfrm>
          <a:prstGeom prst="rect">
            <a:avLst/>
          </a:prstGeom>
          <a:noFill/>
        </p:spPr>
        <p:txBody>
          <a:bodyPr wrap="none" lIns="0" rIns="0" tIns="0" bIns="0">
            <a:spAutoFit/>
          </a:bodyPr>
          <a:lstStyle/>
          <a:p>
            <a:r>
              <a:rPr sz="1150" b="0">
                <a:solidFill>
                  <a:srgbClr val="2E2E2E"/>
                </a:solidFill>
                <a:latin typeface="Calibri"/>
              </a:rPr>
              <a:t>fabrication segment is expected to witness the highest CAGR of</a:t>
            </a:r>
          </a:p>
        </p:txBody>
      </p:sp>
      <p:pic>
        <p:nvPicPr>
          <p:cNvPr id="32" name="Picture 31" descr="lock.png"/>
          <p:cNvPicPr>
            <a:picLocks noChangeAspect="1"/>
          </p:cNvPicPr>
          <p:nvPr/>
        </p:nvPicPr>
        <p:blipFill>
          <a:blip r:embed="rId5"/>
          <a:stretch>
            <a:fillRect/>
          </a:stretch>
        </p:blipFill>
        <p:spPr>
          <a:xfrm>
            <a:off x="11612535" y="1565211"/>
            <a:ext cx="134549" cy="195707"/>
          </a:xfrm>
          <a:prstGeom prst="rect">
            <a:avLst/>
          </a:prstGeom>
        </p:spPr>
      </p:pic>
      <p:sp>
        <p:nvSpPr>
          <p:cNvPr id="33" name="TextBox 32"/>
          <p:cNvSpPr txBox="1"/>
          <p:nvPr/>
        </p:nvSpPr>
        <p:spPr>
          <a:xfrm>
            <a:off x="782955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4" name="TextBox 33"/>
          <p:cNvSpPr txBox="1"/>
          <p:nvPr/>
        </p:nvSpPr>
        <p:spPr>
          <a:xfrm>
            <a:off x="7829550" y="1978533"/>
            <a:ext cx="3649290"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a:t>
            </a:r>
          </a:p>
        </p:txBody>
      </p:sp>
      <p:sp>
        <p:nvSpPr>
          <p:cNvPr id="35" name="TextBox 34"/>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6" name="Picture 35" descr="lock.png"/>
          <p:cNvPicPr>
            <a:picLocks noChangeAspect="1"/>
          </p:cNvPicPr>
          <p:nvPr/>
        </p:nvPicPr>
        <p:blipFill>
          <a:blip r:embed="rId5"/>
          <a:stretch>
            <a:fillRect/>
          </a:stretch>
        </p:blipFill>
        <p:spPr>
          <a:xfrm>
            <a:off x="10943347" y="2143569"/>
            <a:ext cx="134549" cy="195707"/>
          </a:xfrm>
          <a:prstGeom prst="rect">
            <a:avLst/>
          </a:prstGeom>
        </p:spPr>
      </p:pic>
      <p:sp>
        <p:nvSpPr>
          <p:cNvPr id="37" name="TextBox 36"/>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8" name="TextBox 37"/>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39" name="Picture 38" descr="lock.png"/>
          <p:cNvPicPr>
            <a:picLocks noChangeAspect="1"/>
          </p:cNvPicPr>
          <p:nvPr/>
        </p:nvPicPr>
        <p:blipFill>
          <a:blip r:embed="rId5"/>
          <a:stretch>
            <a:fillRect/>
          </a:stretch>
        </p:blipFill>
        <p:spPr>
          <a:xfrm>
            <a:off x="8712947" y="2318829"/>
            <a:ext cx="134549" cy="195707"/>
          </a:xfrm>
          <a:prstGeom prst="rect">
            <a:avLst/>
          </a:prstGeom>
        </p:spPr>
      </p:pic>
      <p:sp>
        <p:nvSpPr>
          <p:cNvPr id="40" name="TextBox 39"/>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56_5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37_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50_1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85_9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39_2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57_0_605E5C.png"/>
          <p:cNvPicPr>
            <a:picLocks noChangeAspect="1"/>
          </p:cNvPicPr>
          <p:nvPr/>
        </p:nvPicPr>
        <p:blipFill>
          <a:blip r:embed="rId11"/>
          <a:stretch>
            <a:fillRect/>
          </a:stretch>
        </p:blipFill>
        <p:spPr>
          <a:xfrm>
            <a:off x="7640751" y="2779432"/>
            <a:ext cx="982436" cy="361950"/>
          </a:xfrm>
          <a:prstGeom prst="rect">
            <a:avLst/>
          </a:prstGeom>
        </p:spPr>
      </p:pic>
      <p:pic>
        <p:nvPicPr>
          <p:cNvPr id="72" name="Picture 71" descr="3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5_5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43_7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5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end user,</a:t>
            </a:r>
          </a:p>
        </p:txBody>
      </p:sp>
      <p:sp>
        <p:nvSpPr>
          <p:cNvPr id="81" name="TextBox 80"/>
          <p:cNvSpPr txBox="1"/>
          <p:nvPr/>
        </p:nvSpPr>
        <p:spPr>
          <a:xfrm>
            <a:off x="485775" y="4397077"/>
            <a:ext cx="2788344" cy="186689"/>
          </a:xfrm>
          <a:prstGeom prst="rect">
            <a:avLst/>
          </a:prstGeom>
          <a:noFill/>
        </p:spPr>
        <p:txBody>
          <a:bodyPr wrap="none" lIns="0" rIns="0" tIns="0" bIns="0">
            <a:spAutoFit/>
          </a:bodyPr>
          <a:lstStyle/>
          <a:p>
            <a:r>
              <a:rPr sz="1100" b="0">
                <a:solidFill>
                  <a:srgbClr val="2E2E2E"/>
                </a:solidFill>
                <a:latin typeface="Calibri"/>
              </a:rPr>
              <a:t>dental hospitals segment is expected to witness</a:t>
            </a:r>
          </a:p>
        </p:txBody>
      </p:sp>
      <p:sp>
        <p:nvSpPr>
          <p:cNvPr id="82" name="TextBox 81"/>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83" name="Picture 82" descr="lock.png"/>
          <p:cNvPicPr>
            <a:picLocks noChangeAspect="1"/>
          </p:cNvPicPr>
          <p:nvPr/>
        </p:nvPicPr>
        <p:blipFill>
          <a:blip r:embed="rId16"/>
          <a:stretch>
            <a:fillRect/>
          </a:stretch>
        </p:blipFill>
        <p:spPr>
          <a:xfrm>
            <a:off x="1646163" y="4554938"/>
            <a:ext cx="128699" cy="187198"/>
          </a:xfrm>
          <a:prstGeom prst="rect">
            <a:avLst/>
          </a:prstGeom>
        </p:spPr>
      </p:pic>
      <p:sp>
        <p:nvSpPr>
          <p:cNvPr id="84" name="TextBox 83"/>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85" name="TextBox 84"/>
          <p:cNvSpPr txBox="1"/>
          <p:nvPr/>
        </p:nvSpPr>
        <p:spPr>
          <a:xfrm>
            <a:off x="485775" y="4732357"/>
            <a:ext cx="2898849" cy="186689"/>
          </a:xfrm>
          <a:prstGeom prst="rect">
            <a:avLst/>
          </a:prstGeom>
          <a:noFill/>
        </p:spPr>
        <p:txBody>
          <a:bodyPr wrap="none" lIns="0" rIns="0" tIns="0" bIns="0">
            <a:spAutoFit/>
          </a:bodyPr>
          <a:lstStyle/>
          <a:p>
            <a:r>
              <a:rPr sz="1100" b="0">
                <a:solidFill>
                  <a:srgbClr val="2E2E2E"/>
                </a:solidFill>
                <a:latin typeface="Calibri"/>
              </a:rPr>
              <a:t>In terms of value share by end user, the academic</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&amp; teaching dental institutions segment is expected</a:t>
            </a:r>
          </a:p>
        </p:txBody>
      </p:sp>
      <p:sp>
        <p:nvSpPr>
          <p:cNvPr id="87" name="TextBox 86"/>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88" name="Picture 87" descr="lock.png"/>
          <p:cNvPicPr>
            <a:picLocks noChangeAspect="1"/>
          </p:cNvPicPr>
          <p:nvPr/>
        </p:nvPicPr>
        <p:blipFill>
          <a:blip r:embed="rId16"/>
          <a:stretch>
            <a:fillRect/>
          </a:stretch>
        </p:blipFill>
        <p:spPr>
          <a:xfrm>
            <a:off x="2346590" y="5057858"/>
            <a:ext cx="128699" cy="187198"/>
          </a:xfrm>
          <a:prstGeom prst="rect">
            <a:avLst/>
          </a:prstGeom>
        </p:spPr>
      </p:pic>
      <p:sp>
        <p:nvSpPr>
          <p:cNvPr id="89" name="TextBox 88"/>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90" name="TextBox 89"/>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91" name="Picture 90" descr="lock.png"/>
          <p:cNvPicPr>
            <a:picLocks noChangeAspect="1"/>
          </p:cNvPicPr>
          <p:nvPr/>
        </p:nvPicPr>
        <p:blipFill>
          <a:blip r:embed="rId16"/>
          <a:stretch>
            <a:fillRect/>
          </a:stretch>
        </p:blipFill>
        <p:spPr>
          <a:xfrm>
            <a:off x="1330764" y="5225498"/>
            <a:ext cx="128699" cy="187198"/>
          </a:xfrm>
          <a:prstGeom prst="rect">
            <a:avLst/>
          </a:prstGeom>
        </p:spPr>
      </p:pic>
      <p:sp>
        <p:nvSpPr>
          <p:cNvPr id="92" name="TextBox 91"/>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535411" cy="186689"/>
          </a:xfrm>
          <a:prstGeom prst="rect">
            <a:avLst/>
          </a:prstGeom>
          <a:noFill/>
        </p:spPr>
        <p:txBody>
          <a:bodyPr wrap="none" lIns="0" rIns="0" tIns="0" bIns="0">
            <a:spAutoFit/>
          </a:bodyPr>
          <a:lstStyle/>
          <a:p>
            <a:r>
              <a:rPr sz="1100" b="0">
                <a:solidFill>
                  <a:srgbClr val="2E2E2E"/>
                </a:solidFill>
                <a:latin typeface="Calibri"/>
              </a:rPr>
              <a:t>▪ ¶ Academic &amp; teaching dental institutions</a:t>
            </a:r>
          </a:p>
        </p:txBody>
      </p:sp>
      <p:sp>
        <p:nvSpPr>
          <p:cNvPr id="94" name="TextBox 93"/>
          <p:cNvSpPr txBox="1"/>
          <p:nvPr/>
        </p:nvSpPr>
        <p:spPr>
          <a:xfrm>
            <a:off x="485775" y="5620849"/>
            <a:ext cx="1886024" cy="186689"/>
          </a:xfrm>
          <a:prstGeom prst="rect">
            <a:avLst/>
          </a:prstGeom>
          <a:noFill/>
        </p:spPr>
        <p:txBody>
          <a:bodyPr wrap="none" lIns="0" rIns="0" tIns="0" bIns="0">
            <a:spAutoFit/>
          </a:bodyPr>
          <a:lstStyle/>
          <a:p>
            <a:r>
              <a:rPr sz="1100" b="0">
                <a:solidFill>
                  <a:srgbClr val="2E2E2E"/>
                </a:solidFill>
                <a:latin typeface="Calibri"/>
              </a:rPr>
              <a:t>segment is projected to register</a:t>
            </a:r>
          </a:p>
        </p:txBody>
      </p:sp>
      <p:pic>
        <p:nvPicPr>
          <p:cNvPr id="95" name="Picture 94" descr="lock.png"/>
          <p:cNvPicPr>
            <a:picLocks noChangeAspect="1"/>
          </p:cNvPicPr>
          <p:nvPr/>
        </p:nvPicPr>
        <p:blipFill>
          <a:blip r:embed="rId16"/>
          <a:stretch>
            <a:fillRect/>
          </a:stretch>
        </p:blipFill>
        <p:spPr>
          <a:xfrm>
            <a:off x="2319851" y="5611070"/>
            <a:ext cx="128699" cy="187198"/>
          </a:xfrm>
          <a:prstGeom prst="rect">
            <a:avLst/>
          </a:prstGeom>
        </p:spPr>
      </p:pic>
      <p:sp>
        <p:nvSpPr>
          <p:cNvPr id="96" name="TextBox 95"/>
          <p:cNvSpPr txBox="1"/>
          <p:nvPr/>
        </p:nvSpPr>
        <p:spPr>
          <a:xfrm>
            <a:off x="2487346" y="5620849"/>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97" name="TextBox 96"/>
          <p:cNvSpPr txBox="1"/>
          <p:nvPr/>
        </p:nvSpPr>
        <p:spPr>
          <a:xfrm>
            <a:off x="485775" y="5788489"/>
            <a:ext cx="2460922" cy="186689"/>
          </a:xfrm>
          <a:prstGeom prst="rect">
            <a:avLst/>
          </a:prstGeom>
          <a:noFill/>
        </p:spPr>
        <p:txBody>
          <a:bodyPr wrap="none" lIns="0" rIns="0" tIns="0" bIns="0">
            <a:spAutoFit/>
          </a:bodyPr>
          <a:lstStyle/>
          <a:p>
            <a:r>
              <a:rPr sz="1100" b="0">
                <a:solidFill>
                  <a:srgbClr val="2E2E2E"/>
                </a:solidFill>
                <a:latin typeface="Calibri"/>
              </a:rPr>
              <a:t>than dental laboratories segment in 2036.</a:t>
            </a:r>
          </a:p>
        </p:txBody>
      </p:sp>
      <p:sp>
        <p:nvSpPr>
          <p:cNvPr id="98" name="TextBox 97"/>
          <p:cNvSpPr txBox="1"/>
          <p:nvPr/>
        </p:nvSpPr>
        <p:spPr>
          <a:xfrm>
            <a:off x="3838575" y="4229437"/>
            <a:ext cx="2531045" cy="186689"/>
          </a:xfrm>
          <a:prstGeom prst="rect">
            <a:avLst/>
          </a:prstGeom>
          <a:noFill/>
        </p:spPr>
        <p:txBody>
          <a:bodyPr wrap="none" lIns="0" rIns="0" tIns="0" bIns="0">
            <a:spAutoFit/>
          </a:bodyPr>
          <a:lstStyle/>
          <a:p>
            <a:r>
              <a:rPr sz="1100" b="0">
                <a:solidFill>
                  <a:srgbClr val="2E2E2E"/>
                </a:solidFill>
                <a:latin typeface="Calibri"/>
              </a:rPr>
              <a:t>● Academic &amp; Teaching Dental Institutions:</a:t>
            </a:r>
          </a:p>
        </p:txBody>
      </p:sp>
      <p:pic>
        <p:nvPicPr>
          <p:cNvPr id="99" name="Picture 98" descr="lock.png"/>
          <p:cNvPicPr>
            <a:picLocks noChangeAspect="1"/>
          </p:cNvPicPr>
          <p:nvPr/>
        </p:nvPicPr>
        <p:blipFill>
          <a:blip r:embed="rId16"/>
          <a:stretch>
            <a:fillRect/>
          </a:stretch>
        </p:blipFill>
        <p:spPr>
          <a:xfrm>
            <a:off x="6317672" y="4219658"/>
            <a:ext cx="128699" cy="187198"/>
          </a:xfrm>
          <a:prstGeom prst="rect">
            <a:avLst/>
          </a:prstGeom>
        </p:spPr>
      </p:pic>
      <p:sp>
        <p:nvSpPr>
          <p:cNvPr id="100" name="TextBox 99"/>
          <p:cNvSpPr txBox="1"/>
          <p:nvPr/>
        </p:nvSpPr>
        <p:spPr>
          <a:xfrm>
            <a:off x="648516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7344618" y="4219658"/>
            <a:ext cx="128699" cy="187198"/>
          </a:xfrm>
          <a:prstGeom prst="rect">
            <a:avLst/>
          </a:prstGeom>
        </p:spPr>
      </p:pic>
      <p:sp>
        <p:nvSpPr>
          <p:cNvPr id="102" name="TextBox 101"/>
          <p:cNvSpPr txBox="1"/>
          <p:nvPr/>
        </p:nvSpPr>
        <p:spPr>
          <a:xfrm>
            <a:off x="3838575" y="439707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615009"/>
            <a:ext cx="1350143" cy="186689"/>
          </a:xfrm>
          <a:prstGeom prst="rect">
            <a:avLst/>
          </a:prstGeom>
          <a:noFill/>
        </p:spPr>
        <p:txBody>
          <a:bodyPr wrap="none" lIns="0" rIns="0" tIns="0" bIns="0">
            <a:spAutoFit/>
          </a:bodyPr>
          <a:lstStyle/>
          <a:p>
            <a:r>
              <a:rPr sz="1100" b="0">
                <a:solidFill>
                  <a:srgbClr val="2E2E2E"/>
                </a:solidFill>
                <a:latin typeface="Calibri"/>
              </a:rPr>
              <a:t>● Dental Laboratories:</a:t>
            </a:r>
          </a:p>
        </p:txBody>
      </p:sp>
      <p:pic>
        <p:nvPicPr>
          <p:cNvPr id="104" name="Picture 103" descr="lock.png"/>
          <p:cNvPicPr>
            <a:picLocks noChangeAspect="1"/>
          </p:cNvPicPr>
          <p:nvPr/>
        </p:nvPicPr>
        <p:blipFill>
          <a:blip r:embed="rId16"/>
          <a:stretch>
            <a:fillRect/>
          </a:stretch>
        </p:blipFill>
        <p:spPr>
          <a:xfrm>
            <a:off x="5136770" y="4605230"/>
            <a:ext cx="128699" cy="187198"/>
          </a:xfrm>
          <a:prstGeom prst="rect">
            <a:avLst/>
          </a:prstGeom>
        </p:spPr>
      </p:pic>
      <p:sp>
        <p:nvSpPr>
          <p:cNvPr id="105" name="TextBox 104"/>
          <p:cNvSpPr txBox="1"/>
          <p:nvPr/>
        </p:nvSpPr>
        <p:spPr>
          <a:xfrm>
            <a:off x="530426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6163716" y="4605230"/>
            <a:ext cx="128699" cy="187198"/>
          </a:xfrm>
          <a:prstGeom prst="rect">
            <a:avLst/>
          </a:prstGeom>
        </p:spPr>
      </p:pic>
      <p:sp>
        <p:nvSpPr>
          <p:cNvPr id="107" name="TextBox 106"/>
          <p:cNvSpPr txBox="1"/>
          <p:nvPr/>
        </p:nvSpPr>
        <p:spPr>
          <a:xfrm>
            <a:off x="633121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4832941"/>
            <a:ext cx="994345" cy="186689"/>
          </a:xfrm>
          <a:prstGeom prst="rect">
            <a:avLst/>
          </a:prstGeom>
          <a:noFill/>
        </p:spPr>
        <p:txBody>
          <a:bodyPr wrap="none" lIns="0" rIns="0" tIns="0" bIns="0">
            <a:spAutoFit/>
          </a:bodyPr>
          <a:lstStyle/>
          <a:p>
            <a:r>
              <a:rPr sz="1100" b="0">
                <a:solidFill>
                  <a:srgbClr val="2E2E2E"/>
                </a:solidFill>
                <a:latin typeface="Calibri"/>
              </a:rPr>
              <a:t>● Dental Clinics:</a:t>
            </a:r>
          </a:p>
        </p:txBody>
      </p:sp>
      <p:pic>
        <p:nvPicPr>
          <p:cNvPr id="109" name="Picture 108" descr="lock.png"/>
          <p:cNvPicPr>
            <a:picLocks noChangeAspect="1"/>
          </p:cNvPicPr>
          <p:nvPr/>
        </p:nvPicPr>
        <p:blipFill>
          <a:blip r:embed="rId16"/>
          <a:stretch>
            <a:fillRect/>
          </a:stretch>
        </p:blipFill>
        <p:spPr>
          <a:xfrm>
            <a:off x="4780972" y="4823162"/>
            <a:ext cx="128699" cy="187198"/>
          </a:xfrm>
          <a:prstGeom prst="rect">
            <a:avLst/>
          </a:prstGeom>
        </p:spPr>
      </p:pic>
      <p:sp>
        <p:nvSpPr>
          <p:cNvPr id="110" name="TextBox 109"/>
          <p:cNvSpPr txBox="1"/>
          <p:nvPr/>
        </p:nvSpPr>
        <p:spPr>
          <a:xfrm>
            <a:off x="494846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5807918" y="4823162"/>
            <a:ext cx="128699" cy="187198"/>
          </a:xfrm>
          <a:prstGeom prst="rect">
            <a:avLst/>
          </a:prstGeom>
        </p:spPr>
      </p:pic>
      <p:sp>
        <p:nvSpPr>
          <p:cNvPr id="112" name="TextBox 111"/>
          <p:cNvSpPr txBox="1"/>
          <p:nvPr/>
        </p:nvSpPr>
        <p:spPr>
          <a:xfrm>
            <a:off x="597541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3" name="TextBox 112"/>
          <p:cNvSpPr txBox="1"/>
          <p:nvPr/>
        </p:nvSpPr>
        <p:spPr>
          <a:xfrm>
            <a:off x="3838575" y="5050872"/>
            <a:ext cx="1157510" cy="186689"/>
          </a:xfrm>
          <a:prstGeom prst="rect">
            <a:avLst/>
          </a:prstGeom>
          <a:noFill/>
        </p:spPr>
        <p:txBody>
          <a:bodyPr wrap="none" lIns="0" rIns="0" tIns="0" bIns="0">
            <a:spAutoFit/>
          </a:bodyPr>
          <a:lstStyle/>
          <a:p>
            <a:r>
              <a:rPr sz="1100" b="0">
                <a:solidFill>
                  <a:srgbClr val="2E2E2E"/>
                </a:solidFill>
                <a:latin typeface="Calibri"/>
              </a:rPr>
              <a:t>● Dental Hospitals:</a:t>
            </a:r>
          </a:p>
        </p:txBody>
      </p:sp>
      <p:pic>
        <p:nvPicPr>
          <p:cNvPr id="114" name="Picture 113" descr="lock.png"/>
          <p:cNvPicPr>
            <a:picLocks noChangeAspect="1"/>
          </p:cNvPicPr>
          <p:nvPr/>
        </p:nvPicPr>
        <p:blipFill>
          <a:blip r:embed="rId16"/>
          <a:stretch>
            <a:fillRect/>
          </a:stretch>
        </p:blipFill>
        <p:spPr>
          <a:xfrm>
            <a:off x="4944137" y="5041093"/>
            <a:ext cx="128699" cy="187198"/>
          </a:xfrm>
          <a:prstGeom prst="rect">
            <a:avLst/>
          </a:prstGeom>
        </p:spPr>
      </p:pic>
      <p:sp>
        <p:nvSpPr>
          <p:cNvPr id="115" name="TextBox 114"/>
          <p:cNvSpPr txBox="1"/>
          <p:nvPr/>
        </p:nvSpPr>
        <p:spPr>
          <a:xfrm>
            <a:off x="51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6" name="Picture 115" descr="lock.png"/>
          <p:cNvPicPr>
            <a:picLocks noChangeAspect="1"/>
          </p:cNvPicPr>
          <p:nvPr/>
        </p:nvPicPr>
        <p:blipFill>
          <a:blip r:embed="rId16"/>
          <a:stretch>
            <a:fillRect/>
          </a:stretch>
        </p:blipFill>
        <p:spPr>
          <a:xfrm>
            <a:off x="5971083" y="5041093"/>
            <a:ext cx="128699" cy="187198"/>
          </a:xfrm>
          <a:prstGeom prst="rect">
            <a:avLst/>
          </a:prstGeom>
        </p:spPr>
      </p:pic>
      <p:sp>
        <p:nvSpPr>
          <p:cNvPr id="117" name="TextBox 116"/>
          <p:cNvSpPr txBox="1"/>
          <p:nvPr/>
        </p:nvSpPr>
        <p:spPr>
          <a:xfrm>
            <a:off x="6138579" y="5050872"/>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8" name="TextBox 117"/>
          <p:cNvSpPr txBox="1"/>
          <p:nvPr/>
        </p:nvSpPr>
        <p:spPr>
          <a:xfrm>
            <a:off x="8524875" y="5842641"/>
            <a:ext cx="2939293" cy="194310"/>
          </a:xfrm>
          <a:prstGeom prst="rect">
            <a:avLst/>
          </a:prstGeom>
          <a:noFill/>
        </p:spPr>
        <p:txBody>
          <a:bodyPr wrap="none" lIns="0" rIns="0" tIns="0" bIns="0">
            <a:spAutoFit/>
          </a:bodyPr>
          <a:lstStyle/>
          <a:p>
            <a:r>
              <a:rPr sz="1150" b="1">
                <a:solidFill>
                  <a:srgbClr val="0B2E4A"/>
                </a:solidFill>
                <a:latin typeface="Calibri"/>
              </a:rPr>
              <a:t>The End User segment is projected to grow at a</a:t>
            </a:r>
          </a:p>
        </p:txBody>
      </p:sp>
      <p:sp>
        <p:nvSpPr>
          <p:cNvPr id="119" name="TextBox 118"/>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0" name="Picture 119" descr="lock.png"/>
          <p:cNvPicPr>
            <a:picLocks noChangeAspect="1"/>
          </p:cNvPicPr>
          <p:nvPr/>
        </p:nvPicPr>
        <p:blipFill>
          <a:blip r:embed="rId16"/>
          <a:stretch>
            <a:fillRect/>
          </a:stretch>
        </p:blipFill>
        <p:spPr>
          <a:xfrm>
            <a:off x="9048826" y="6007677"/>
            <a:ext cx="134549" cy="195707"/>
          </a:xfrm>
          <a:prstGeom prst="rect">
            <a:avLst/>
          </a:prstGeom>
        </p:spPr>
      </p:pic>
      <p:sp>
        <p:nvSpPr>
          <p:cNvPr id="121" name="TextBox 120"/>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15911" cy="186689"/>
          </a:xfrm>
          <a:prstGeom prst="rect">
            <a:avLst/>
          </a:prstGeom>
          <a:noFill/>
        </p:spPr>
        <p:txBody>
          <a:bodyPr wrap="none" lIns="0" rIns="0" tIns="0" bIns="0">
            <a:spAutoFit/>
          </a:bodyPr>
          <a:lstStyle/>
          <a:p>
            <a:r>
              <a:rPr sz="1100" b="0">
                <a:solidFill>
                  <a:srgbClr val="2E2E2E"/>
                </a:solidFill>
                <a:latin typeface="Calibri"/>
              </a:rPr>
              <a:t>Academic &amp; teaching dental institutions followed by dental laboratories are expected to be the two most attractive end user segments in the North America removable partial dentures market in terms of</a:t>
            </a:r>
          </a:p>
        </p:txBody>
      </p:sp>
      <p:sp>
        <p:nvSpPr>
          <p:cNvPr id="21" name="TextBox 20"/>
          <p:cNvSpPr txBox="1"/>
          <p:nvPr/>
        </p:nvSpPr>
        <p:spPr>
          <a:xfrm>
            <a:off x="257175" y="5861685"/>
            <a:ext cx="6834170" cy="186689"/>
          </a:xfrm>
          <a:prstGeom prst="rect">
            <a:avLst/>
          </a:prstGeom>
          <a:noFill/>
        </p:spPr>
        <p:txBody>
          <a:bodyPr wrap="none" lIns="0" rIns="0" tIns="0" bIns="0">
            <a:spAutoFit/>
          </a:bodyPr>
          <a:lstStyle/>
          <a:p>
            <a:r>
              <a:rPr sz="1100" b="0">
                <a:solidFill>
                  <a:srgbClr val="2E2E2E"/>
                </a:solidFill>
                <a:latin typeface="Calibri"/>
              </a:rPr>
              <a:t>value over the forecast period. Academic &amp; teaching dental institutions and dental laboratories exhibit a CAGR index of</a:t>
            </a:r>
          </a:p>
        </p:txBody>
      </p:sp>
      <p:pic>
        <p:nvPicPr>
          <p:cNvPr id="22" name="Picture 21" descr="lock.png"/>
          <p:cNvPicPr>
            <a:picLocks noChangeAspect="1"/>
          </p:cNvPicPr>
          <p:nvPr/>
        </p:nvPicPr>
        <p:blipFill>
          <a:blip r:embed="rId6"/>
          <a:stretch>
            <a:fillRect/>
          </a:stretch>
        </p:blipFill>
        <p:spPr>
          <a:xfrm>
            <a:off x="7039397" y="5851905"/>
            <a:ext cx="128699" cy="187198"/>
          </a:xfrm>
          <a:prstGeom prst="rect">
            <a:avLst/>
          </a:prstGeom>
        </p:spPr>
      </p:pic>
      <p:sp>
        <p:nvSpPr>
          <p:cNvPr id="23" name="TextBox 22"/>
          <p:cNvSpPr txBox="1"/>
          <p:nvPr/>
        </p:nvSpPr>
        <p:spPr>
          <a:xfrm>
            <a:off x="720689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7444787" y="5851905"/>
            <a:ext cx="128699" cy="187198"/>
          </a:xfrm>
          <a:prstGeom prst="rect">
            <a:avLst/>
          </a:prstGeom>
        </p:spPr>
      </p:pic>
      <p:sp>
        <p:nvSpPr>
          <p:cNvPr id="25" name="TextBox 24"/>
          <p:cNvSpPr txBox="1"/>
          <p:nvPr/>
        </p:nvSpPr>
        <p:spPr>
          <a:xfrm>
            <a:off x="7612283"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221256" y="5851905"/>
            <a:ext cx="128699" cy="187198"/>
          </a:xfrm>
          <a:prstGeom prst="rect">
            <a:avLst/>
          </a:prstGeom>
        </p:spPr>
      </p:pic>
      <p:sp>
        <p:nvSpPr>
          <p:cNvPr id="27" name="TextBox 26"/>
          <p:cNvSpPr txBox="1"/>
          <p:nvPr/>
        </p:nvSpPr>
        <p:spPr>
          <a:xfrm>
            <a:off x="938875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626646" y="5851905"/>
            <a:ext cx="128699" cy="187198"/>
          </a:xfrm>
          <a:prstGeom prst="rect">
            <a:avLst/>
          </a:prstGeom>
        </p:spPr>
      </p:pic>
      <p:sp>
        <p:nvSpPr>
          <p:cNvPr id="29" name="TextBox 28"/>
          <p:cNvSpPr txBox="1"/>
          <p:nvPr/>
        </p:nvSpPr>
        <p:spPr>
          <a:xfrm>
            <a:off x="9794142" y="5861685"/>
            <a:ext cx="1453281" cy="186689"/>
          </a:xfrm>
          <a:prstGeom prst="rect">
            <a:avLst/>
          </a:prstGeom>
          <a:noFill/>
        </p:spPr>
        <p:txBody>
          <a:bodyPr wrap="none" lIns="0" rIns="0" tIns="0" bIns="0">
            <a:spAutoFit/>
          </a:bodyPr>
          <a:lstStyle/>
          <a:p>
            <a:r>
              <a:rPr sz="1100" b="0">
                <a:solidFill>
                  <a:srgbClr val="2E2E2E"/>
                </a:solidFill>
                <a:latin typeface="Calibri"/>
              </a:rPr>
              <a:t>respectively, against the</a:t>
            </a:r>
          </a:p>
        </p:txBody>
      </p:sp>
      <p:sp>
        <p:nvSpPr>
          <p:cNvPr id="30" name="TextBox 29"/>
          <p:cNvSpPr txBox="1"/>
          <p:nvPr/>
        </p:nvSpPr>
        <p:spPr>
          <a:xfrm>
            <a:off x="257175" y="6029325"/>
            <a:ext cx="1197619" cy="186689"/>
          </a:xfrm>
          <a:prstGeom prst="rect">
            <a:avLst/>
          </a:prstGeom>
          <a:noFill/>
        </p:spPr>
        <p:txBody>
          <a:bodyPr wrap="none" lIns="0" rIns="0" tIns="0" bIns="0">
            <a:spAutoFit/>
          </a:bodyPr>
          <a:lstStyle/>
          <a:p>
            <a:r>
              <a:rPr sz="1100" b="0">
                <a:solidFill>
                  <a:srgbClr val="2E2E2E"/>
                </a:solidFill>
                <a:latin typeface="Calibri"/>
              </a:rPr>
              <a:t>segment average of</a:t>
            </a:r>
          </a:p>
        </p:txBody>
      </p:sp>
      <p:pic>
        <p:nvPicPr>
          <p:cNvPr id="31" name="Picture 30" descr="lock.png"/>
          <p:cNvPicPr>
            <a:picLocks noChangeAspect="1"/>
          </p:cNvPicPr>
          <p:nvPr/>
        </p:nvPicPr>
        <p:blipFill>
          <a:blip r:embed="rId6"/>
          <a:stretch>
            <a:fillRect/>
          </a:stretch>
        </p:blipFill>
        <p:spPr>
          <a:xfrm>
            <a:off x="1402846" y="6019545"/>
            <a:ext cx="128699" cy="187198"/>
          </a:xfrm>
          <a:prstGeom prst="rect">
            <a:avLst/>
          </a:prstGeom>
        </p:spPr>
      </p:pic>
      <p:sp>
        <p:nvSpPr>
          <p:cNvPr id="32" name="TextBox 31"/>
          <p:cNvSpPr txBox="1"/>
          <p:nvPr/>
        </p:nvSpPr>
        <p:spPr>
          <a:xfrm>
            <a:off x="1570342" y="6029325"/>
            <a:ext cx="10333491" cy="186689"/>
          </a:xfrm>
          <a:prstGeom prst="rect">
            <a:avLst/>
          </a:prstGeom>
          <a:noFill/>
        </p:spPr>
        <p:txBody>
          <a:bodyPr wrap="none" lIns="0" rIns="0" tIns="0" bIns="0">
            <a:spAutoFit/>
          </a:bodyPr>
          <a:lstStyle/>
          <a:p>
            <a:r>
              <a:rPr sz="1100" b="0">
                <a:solidFill>
                  <a:srgbClr val="2E2E2E"/>
                </a:solidFill>
                <a:latin typeface="Calibri"/>
              </a:rPr>
              <a:t>. The dental clinics segment is expected to be less attractive as compared to other segments over the forecast period, owing to its lower CAGR and incremental opportunity. Bubbles</a:t>
            </a:r>
          </a:p>
        </p:txBody>
      </p:sp>
      <p:sp>
        <p:nvSpPr>
          <p:cNvPr id="33" name="TextBox 32"/>
          <p:cNvSpPr txBox="1"/>
          <p:nvPr/>
        </p:nvSpPr>
        <p:spPr>
          <a:xfrm>
            <a:off x="257175" y="619696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Clinics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Hospitals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Laboratories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End User (Units)</a:t>
            </a:r>
          </a:p>
        </p:txBody>
      </p:sp>
      <p:graphicFrame>
        <p:nvGraphicFramePr>
          <p:cNvPr id="13" name="Table 12"/>
          <p:cNvGraphicFramePr>
            <a:graphicFrameLocks noGrp="1"/>
          </p:cNvGraphicFramePr>
          <p:nvPr/>
        </p:nvGraphicFramePr>
        <p:xfrm>
          <a:off x="152400" y="1238250"/>
          <a:ext cx="11887207" cy="1866898"/>
        </p:xfrm>
        <a:graphic>
          <a:graphicData uri="http://schemas.openxmlformats.org/drawingml/2006/table">
            <a:tbl>
              <a:tblPr>
                <a:tableStyleId>{5C22544A-7EE6-4342-B048-85BDC9FD1C3A}</a:tableStyleId>
              </a:tblPr>
              <a:tblGrid>
                <a:gridCol w="245394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Academic &amp; 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End User</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36283" y="2124454"/>
            <a:ext cx="366712" cy="533400"/>
          </a:xfrm>
          <a:prstGeom prst="rect">
            <a:avLst/>
          </a:prstGeom>
        </p:spPr>
      </p:pic>
      <p:sp>
        <p:nvSpPr>
          <p:cNvPr id="21" name="TextBox 20"/>
          <p:cNvSpPr txBox="1"/>
          <p:nvPr/>
        </p:nvSpPr>
        <p:spPr>
          <a:xfrm>
            <a:off x="276225" y="3867150"/>
            <a:ext cx="3145246" cy="194310"/>
          </a:xfrm>
          <a:prstGeom prst="rect">
            <a:avLst/>
          </a:prstGeom>
          <a:noFill/>
        </p:spPr>
        <p:txBody>
          <a:bodyPr wrap="none" lIns="0" rIns="0" tIns="0" bIns="0">
            <a:spAutoFit/>
          </a:bodyPr>
          <a:lstStyle/>
          <a:p>
            <a:r>
              <a:rPr sz="1150" b="0">
                <a:solidFill>
                  <a:srgbClr val="2E2E2E"/>
                </a:solidFill>
                <a:latin typeface="Calibri"/>
              </a:rPr>
              <a:t>Dental laboratories segment is projected to register</a:t>
            </a:r>
          </a:p>
        </p:txBody>
      </p:sp>
      <p:pic>
        <p:nvPicPr>
          <p:cNvPr id="22" name="Picture 21" descr="lock.png"/>
          <p:cNvPicPr>
            <a:picLocks noChangeAspect="1"/>
          </p:cNvPicPr>
          <p:nvPr/>
        </p:nvPicPr>
        <p:blipFill>
          <a:blip r:embed="rId4"/>
          <a:stretch>
            <a:fillRect/>
          </a:stretch>
        </p:blipFill>
        <p:spPr>
          <a:xfrm>
            <a:off x="3370625" y="3856926"/>
            <a:ext cx="134549" cy="195707"/>
          </a:xfrm>
          <a:prstGeom prst="rect">
            <a:avLst/>
          </a:prstGeom>
        </p:spPr>
      </p:pic>
      <p:sp>
        <p:nvSpPr>
          <p:cNvPr id="23" name="TextBox 22"/>
          <p:cNvSpPr txBox="1"/>
          <p:nvPr/>
        </p:nvSpPr>
        <p:spPr>
          <a:xfrm>
            <a:off x="3545734" y="3867150"/>
            <a:ext cx="8072722" cy="194310"/>
          </a:xfrm>
          <a:prstGeom prst="rect">
            <a:avLst/>
          </a:prstGeom>
          <a:noFill/>
        </p:spPr>
        <p:txBody>
          <a:bodyPr wrap="none" lIns="0" rIns="0" tIns="0" bIns="0">
            <a:spAutoFit/>
          </a:bodyPr>
          <a:lstStyle/>
          <a:p>
            <a:r>
              <a:rPr sz="1150" b="0">
                <a:solidFill>
                  <a:srgbClr val="2E2E2E"/>
                </a:solidFill>
                <a:latin typeface="Calibri"/>
              </a:rPr>
              <a:t>X higher volume than academic &amp; teaching dental institutions segment in 2036. Among removable partial dentures by end user, dental</a:t>
            </a:r>
          </a:p>
        </p:txBody>
      </p:sp>
      <p:sp>
        <p:nvSpPr>
          <p:cNvPr id="24" name="TextBox 23"/>
          <p:cNvSpPr txBox="1"/>
          <p:nvPr/>
        </p:nvSpPr>
        <p:spPr>
          <a:xfrm>
            <a:off x="276225" y="4042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4032186"/>
            <a:ext cx="134549" cy="195707"/>
          </a:xfrm>
          <a:prstGeom prst="rect">
            <a:avLst/>
          </a:prstGeom>
        </p:spPr>
      </p:pic>
      <p:sp>
        <p:nvSpPr>
          <p:cNvPr id="26" name="TextBox 25"/>
          <p:cNvSpPr txBox="1"/>
          <p:nvPr/>
        </p:nvSpPr>
        <p:spPr>
          <a:xfrm>
            <a:off x="4121074" y="4042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70247"/>
            <a:ext cx="6839855" cy="194310"/>
          </a:xfrm>
          <a:prstGeom prst="rect">
            <a:avLst/>
          </a:prstGeom>
          <a:noFill/>
        </p:spPr>
        <p:txBody>
          <a:bodyPr wrap="none" lIns="0" rIns="0" tIns="0" bIns="0">
            <a:spAutoFit/>
          </a:bodyPr>
          <a:lstStyle/>
          <a:p>
            <a:r>
              <a:rPr sz="1150" b="0">
                <a:solidFill>
                  <a:srgbClr val="2E2E2E"/>
                </a:solidFill>
                <a:latin typeface="Calibri"/>
              </a:rPr>
              <a:t>In terms of volume share by end user, the dental laboratories segment is expected to dominate the market, losing</a:t>
            </a:r>
          </a:p>
        </p:txBody>
      </p:sp>
      <p:pic>
        <p:nvPicPr>
          <p:cNvPr id="28" name="Picture 27" descr="lock.png"/>
          <p:cNvPicPr>
            <a:picLocks noChangeAspect="1"/>
          </p:cNvPicPr>
          <p:nvPr/>
        </p:nvPicPr>
        <p:blipFill>
          <a:blip r:embed="rId4"/>
          <a:stretch>
            <a:fillRect/>
          </a:stretch>
        </p:blipFill>
        <p:spPr>
          <a:xfrm>
            <a:off x="7065234" y="4260024"/>
            <a:ext cx="134549" cy="195707"/>
          </a:xfrm>
          <a:prstGeom prst="rect">
            <a:avLst/>
          </a:prstGeom>
        </p:spPr>
      </p:pic>
      <p:sp>
        <p:nvSpPr>
          <p:cNvPr id="29" name="TextBox 28"/>
          <p:cNvSpPr txBox="1"/>
          <p:nvPr/>
        </p:nvSpPr>
        <p:spPr>
          <a:xfrm>
            <a:off x="7240343" y="4270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35486" y="4260024"/>
            <a:ext cx="134549" cy="195707"/>
          </a:xfrm>
          <a:prstGeom prst="rect">
            <a:avLst/>
          </a:prstGeom>
        </p:spPr>
      </p:pic>
      <p:sp>
        <p:nvSpPr>
          <p:cNvPr id="31" name="TextBox 30"/>
          <p:cNvSpPr txBox="1"/>
          <p:nvPr/>
        </p:nvSpPr>
        <p:spPr>
          <a:xfrm>
            <a:off x="8810596" y="4270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End User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End User</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27480" y="1837563"/>
            <a:ext cx="366712" cy="533400"/>
          </a:xfrm>
          <a:prstGeom prst="rect">
            <a:avLst/>
          </a:prstGeom>
        </p:spPr>
      </p:pic>
      <p:sp>
        <p:nvSpPr>
          <p:cNvPr id="21" name="TextBox 20"/>
          <p:cNvSpPr txBox="1"/>
          <p:nvPr/>
        </p:nvSpPr>
        <p:spPr>
          <a:xfrm>
            <a:off x="276225" y="3486150"/>
            <a:ext cx="4368986" cy="194310"/>
          </a:xfrm>
          <a:prstGeom prst="rect">
            <a:avLst/>
          </a:prstGeom>
          <a:noFill/>
        </p:spPr>
        <p:txBody>
          <a:bodyPr wrap="none" lIns="0" rIns="0" tIns="0" bIns="0">
            <a:spAutoFit/>
          </a:bodyPr>
          <a:lstStyle/>
          <a:p>
            <a:r>
              <a:rPr sz="1150" b="0">
                <a:solidFill>
                  <a:srgbClr val="2E2E2E"/>
                </a:solidFill>
                <a:latin typeface="Calibri"/>
              </a:rPr>
              <a:t>Academic &amp; teaching dental institutions segment is projected to register</a:t>
            </a:r>
          </a:p>
        </p:txBody>
      </p:sp>
      <p:pic>
        <p:nvPicPr>
          <p:cNvPr id="22" name="Picture 21" descr="lock.png"/>
          <p:cNvPicPr>
            <a:picLocks noChangeAspect="1"/>
          </p:cNvPicPr>
          <p:nvPr/>
        </p:nvPicPr>
        <p:blipFill>
          <a:blip r:embed="rId4"/>
          <a:stretch>
            <a:fillRect/>
          </a:stretch>
        </p:blipFill>
        <p:spPr>
          <a:xfrm>
            <a:off x="4594364" y="3475926"/>
            <a:ext cx="134549" cy="195707"/>
          </a:xfrm>
          <a:prstGeom prst="rect">
            <a:avLst/>
          </a:prstGeom>
        </p:spPr>
      </p:pic>
      <p:sp>
        <p:nvSpPr>
          <p:cNvPr id="23" name="TextBox 22"/>
          <p:cNvSpPr txBox="1"/>
          <p:nvPr/>
        </p:nvSpPr>
        <p:spPr>
          <a:xfrm>
            <a:off x="4769474" y="3486150"/>
            <a:ext cx="6726609" cy="194310"/>
          </a:xfrm>
          <a:prstGeom prst="rect">
            <a:avLst/>
          </a:prstGeom>
          <a:noFill/>
        </p:spPr>
        <p:txBody>
          <a:bodyPr wrap="none" lIns="0" rIns="0" tIns="0" bIns="0">
            <a:spAutoFit/>
          </a:bodyPr>
          <a:lstStyle/>
          <a:p>
            <a:r>
              <a:rPr sz="1150" b="0">
                <a:solidFill>
                  <a:srgbClr val="2E2E2E"/>
                </a:solidFill>
                <a:latin typeface="Calibri"/>
              </a:rPr>
              <a:t>X higher value than dental laboratories segment in 2036. Among removable partial dentures by end user, dental</a:t>
            </a:r>
          </a:p>
        </p:txBody>
      </p:sp>
      <p:sp>
        <p:nvSpPr>
          <p:cNvPr id="24" name="TextBox 23"/>
          <p:cNvSpPr txBox="1"/>
          <p:nvPr/>
        </p:nvSpPr>
        <p:spPr>
          <a:xfrm>
            <a:off x="276225" y="3661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3651186"/>
            <a:ext cx="134549" cy="195707"/>
          </a:xfrm>
          <a:prstGeom prst="rect">
            <a:avLst/>
          </a:prstGeom>
        </p:spPr>
      </p:pic>
      <p:sp>
        <p:nvSpPr>
          <p:cNvPr id="26" name="TextBox 25"/>
          <p:cNvSpPr txBox="1"/>
          <p:nvPr/>
        </p:nvSpPr>
        <p:spPr>
          <a:xfrm>
            <a:off x="4121074"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8019665" cy="194310"/>
          </a:xfrm>
          <a:prstGeom prst="rect">
            <a:avLst/>
          </a:prstGeom>
          <a:noFill/>
        </p:spPr>
        <p:txBody>
          <a:bodyPr wrap="none" lIns="0" rIns="0" tIns="0" bIns="0">
            <a:spAutoFit/>
          </a:bodyPr>
          <a:lstStyle/>
          <a:p>
            <a:r>
              <a:rPr sz="1150" b="0">
                <a:solidFill>
                  <a:srgbClr val="2E2E2E"/>
                </a:solidFill>
                <a:latin typeface="Calibri"/>
              </a:rPr>
              <a:t>In terms of value share by end user, the academic &amp; teaching dental institutions segment is expected to dominate the market, gaining</a:t>
            </a:r>
          </a:p>
        </p:txBody>
      </p:sp>
      <p:pic>
        <p:nvPicPr>
          <p:cNvPr id="28" name="Picture 27" descr="lock.png"/>
          <p:cNvPicPr>
            <a:picLocks noChangeAspect="1"/>
          </p:cNvPicPr>
          <p:nvPr/>
        </p:nvPicPr>
        <p:blipFill>
          <a:blip r:embed="rId4"/>
          <a:stretch>
            <a:fillRect/>
          </a:stretch>
        </p:blipFill>
        <p:spPr>
          <a:xfrm>
            <a:off x="8245044" y="3879024"/>
            <a:ext cx="134549" cy="195707"/>
          </a:xfrm>
          <a:prstGeom prst="rect">
            <a:avLst/>
          </a:prstGeom>
        </p:spPr>
      </p:pic>
      <p:sp>
        <p:nvSpPr>
          <p:cNvPr id="29" name="TextBox 28"/>
          <p:cNvSpPr txBox="1"/>
          <p:nvPr/>
        </p:nvSpPr>
        <p:spPr>
          <a:xfrm>
            <a:off x="842015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5296" y="3879024"/>
            <a:ext cx="134549" cy="195707"/>
          </a:xfrm>
          <a:prstGeom prst="rect">
            <a:avLst/>
          </a:prstGeom>
        </p:spPr>
      </p:pic>
      <p:sp>
        <p:nvSpPr>
          <p:cNvPr id="31" name="TextBox 30"/>
          <p:cNvSpPr txBox="1"/>
          <p:nvPr/>
        </p:nvSpPr>
        <p:spPr>
          <a:xfrm>
            <a:off x="9990406" y="3889247"/>
            <a:ext cx="1612007" cy="194310"/>
          </a:xfrm>
          <a:prstGeom prst="rect">
            <a:avLst/>
          </a:prstGeom>
          <a:noFill/>
        </p:spPr>
        <p:txBody>
          <a:bodyPr wrap="none" lIns="0" rIns="0" tIns="0" bIns="0">
            <a:spAutoFit/>
          </a:bodyPr>
          <a:lstStyle/>
          <a:p>
            <a:r>
              <a:rPr sz="1150" b="0">
                <a:solidFill>
                  <a:srgbClr val="2E2E2E"/>
                </a:solidFill>
                <a:latin typeface="Calibri"/>
              </a:rPr>
              <a:t>share by 2036. The dental</a:t>
            </a:r>
          </a:p>
        </p:txBody>
      </p:sp>
      <p:sp>
        <p:nvSpPr>
          <p:cNvPr id="32" name="TextBox 31"/>
          <p:cNvSpPr txBox="1"/>
          <p:nvPr/>
        </p:nvSpPr>
        <p:spPr>
          <a:xfrm>
            <a:off x="276225" y="4064507"/>
            <a:ext cx="2477467" cy="194310"/>
          </a:xfrm>
          <a:prstGeom prst="rect">
            <a:avLst/>
          </a:prstGeom>
          <a:noFill/>
        </p:spPr>
        <p:txBody>
          <a:bodyPr wrap="none" lIns="0" rIns="0" tIns="0" bIns="0">
            <a:spAutoFit/>
          </a:bodyPr>
          <a:lstStyle/>
          <a:p>
            <a:r>
              <a:rPr sz="1150" b="0">
                <a:solidFill>
                  <a:srgbClr val="2E2E2E"/>
                </a:solidFill>
                <a:latin typeface="Calibri"/>
              </a:rPr>
              <a:t>laboratories segment is expected to lose</a:t>
            </a:r>
          </a:p>
        </p:txBody>
      </p:sp>
      <p:pic>
        <p:nvPicPr>
          <p:cNvPr id="33" name="Picture 32" descr="lock.png"/>
          <p:cNvPicPr>
            <a:picLocks noChangeAspect="1"/>
          </p:cNvPicPr>
          <p:nvPr/>
        </p:nvPicPr>
        <p:blipFill>
          <a:blip r:embed="rId4"/>
          <a:stretch>
            <a:fillRect/>
          </a:stretch>
        </p:blipFill>
        <p:spPr>
          <a:xfrm>
            <a:off x="2702846" y="4054284"/>
            <a:ext cx="134549" cy="195707"/>
          </a:xfrm>
          <a:prstGeom prst="rect">
            <a:avLst/>
          </a:prstGeom>
        </p:spPr>
      </p:pic>
      <p:sp>
        <p:nvSpPr>
          <p:cNvPr id="34" name="TextBox 33"/>
          <p:cNvSpPr txBox="1"/>
          <p:nvPr/>
        </p:nvSpPr>
        <p:spPr>
          <a:xfrm>
            <a:off x="2877955"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465460" y="4054284"/>
            <a:ext cx="134549" cy="195707"/>
          </a:xfrm>
          <a:prstGeom prst="rect">
            <a:avLst/>
          </a:prstGeom>
        </p:spPr>
      </p:pic>
      <p:sp>
        <p:nvSpPr>
          <p:cNvPr id="36" name="TextBox 35"/>
          <p:cNvSpPr txBox="1"/>
          <p:nvPr/>
        </p:nvSpPr>
        <p:spPr>
          <a:xfrm>
            <a:off x="5640569"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End User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18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570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08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84277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301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96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20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822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3615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567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805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3425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0827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035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273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18922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90615" cy="194310"/>
          </a:xfrm>
          <a:prstGeom prst="rect">
            <a:avLst/>
          </a:prstGeom>
          <a:noFill/>
        </p:spPr>
        <p:txBody>
          <a:bodyPr wrap="none" lIns="0" rIns="0" tIns="0" bIns="0">
            <a:spAutoFit/>
          </a:bodyPr>
          <a:lstStyle/>
          <a:p>
            <a:r>
              <a:rPr sz="1150" b="0">
                <a:solidFill>
                  <a:srgbClr val="2E2E2E"/>
                </a:solidFill>
                <a:latin typeface="Calibri"/>
              </a:rPr>
              <a:t>Among removable partial dentures by end user, dental hospitals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01293"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user, the academic</a:t>
            </a:r>
          </a:p>
        </p:txBody>
      </p:sp>
      <p:sp>
        <p:nvSpPr>
          <p:cNvPr id="43" name="TextBox 42"/>
          <p:cNvSpPr txBox="1"/>
          <p:nvPr/>
        </p:nvSpPr>
        <p:spPr>
          <a:xfrm>
            <a:off x="7829550" y="1925955"/>
            <a:ext cx="4057650" cy="194310"/>
          </a:xfrm>
          <a:prstGeom prst="rect">
            <a:avLst/>
          </a:prstGeom>
          <a:noFill/>
        </p:spPr>
        <p:txBody>
          <a:bodyPr wrap="none" lIns="0" rIns="0" tIns="0" bIns="0">
            <a:spAutoFit/>
          </a:bodyPr>
          <a:lstStyle/>
          <a:p>
            <a:r>
              <a:rPr sz="1150" b="0">
                <a:solidFill>
                  <a:srgbClr val="2E2E2E"/>
                </a:solidFill>
                <a:latin typeface="Calibri"/>
              </a:rPr>
              <a:t>&amp; teaching dental institutions segment is expected to dominate the</a:t>
            </a:r>
          </a:p>
        </p:txBody>
      </p:sp>
      <p:sp>
        <p:nvSpPr>
          <p:cNvPr id="44" name="TextBox 43"/>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5" name="Picture 44" descr="lock.png"/>
          <p:cNvPicPr>
            <a:picLocks noChangeAspect="1"/>
          </p:cNvPicPr>
          <p:nvPr/>
        </p:nvPicPr>
        <p:blipFill>
          <a:blip r:embed="rId5"/>
          <a:stretch>
            <a:fillRect/>
          </a:stretch>
        </p:blipFill>
        <p:spPr>
          <a:xfrm>
            <a:off x="8778556" y="2090991"/>
            <a:ext cx="134549" cy="195707"/>
          </a:xfrm>
          <a:prstGeom prst="rect">
            <a:avLst/>
          </a:prstGeom>
        </p:spPr>
      </p:pic>
      <p:sp>
        <p:nvSpPr>
          <p:cNvPr id="46" name="TextBox 45"/>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0348808" y="2090991"/>
            <a:ext cx="134549" cy="195707"/>
          </a:xfrm>
          <a:prstGeom prst="rect">
            <a:avLst/>
          </a:prstGeom>
        </p:spPr>
      </p:pic>
      <p:sp>
        <p:nvSpPr>
          <p:cNvPr id="48" name="TextBox 47"/>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329053"/>
            <a:ext cx="3143250" cy="194310"/>
          </a:xfrm>
          <a:prstGeom prst="rect">
            <a:avLst/>
          </a:prstGeom>
          <a:noFill/>
        </p:spPr>
        <p:txBody>
          <a:bodyPr wrap="none" lIns="0" rIns="0" tIns="0" bIns="0">
            <a:spAutoFit/>
          </a:bodyPr>
          <a:lstStyle/>
          <a:p>
            <a:r>
              <a:rPr sz="1150" b="0">
                <a:solidFill>
                  <a:srgbClr val="2E2E2E"/>
                </a:solidFill>
                <a:latin typeface="Calibri"/>
              </a:rPr>
              <a:t>The dental laboratories segment is expected to lose</a:t>
            </a:r>
          </a:p>
        </p:txBody>
      </p:sp>
      <p:pic>
        <p:nvPicPr>
          <p:cNvPr id="50" name="Picture 49" descr="lock.png"/>
          <p:cNvPicPr>
            <a:picLocks noChangeAspect="1"/>
          </p:cNvPicPr>
          <p:nvPr/>
        </p:nvPicPr>
        <p:blipFill>
          <a:blip r:embed="rId5"/>
          <a:stretch>
            <a:fillRect/>
          </a:stretch>
        </p:blipFill>
        <p:spPr>
          <a:xfrm>
            <a:off x="10921953" y="2318829"/>
            <a:ext cx="134549" cy="195707"/>
          </a:xfrm>
          <a:prstGeom prst="rect">
            <a:avLst/>
          </a:prstGeom>
        </p:spPr>
      </p:pic>
      <p:sp>
        <p:nvSpPr>
          <p:cNvPr id="51" name="TextBox 50"/>
          <p:cNvSpPr txBox="1"/>
          <p:nvPr/>
        </p:nvSpPr>
        <p:spPr>
          <a:xfrm>
            <a:off x="11097063"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2" name="TextBox 51"/>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53" name="Picture 52" descr="lock.png"/>
          <p:cNvPicPr>
            <a:picLocks noChangeAspect="1"/>
          </p:cNvPicPr>
          <p:nvPr/>
        </p:nvPicPr>
        <p:blipFill>
          <a:blip r:embed="rId5"/>
          <a:stretch>
            <a:fillRect/>
          </a:stretch>
        </p:blipFill>
        <p:spPr>
          <a:xfrm>
            <a:off x="9861950" y="2494089"/>
            <a:ext cx="134549" cy="195707"/>
          </a:xfrm>
          <a:prstGeom prst="rect">
            <a:avLst/>
          </a:prstGeom>
        </p:spPr>
      </p:pic>
      <p:sp>
        <p:nvSpPr>
          <p:cNvPr id="54" name="TextBox 53"/>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46_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93_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1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89_2_605E5C.png"/>
          <p:cNvPicPr>
            <a:picLocks noChangeAspect="1"/>
          </p:cNvPicPr>
          <p:nvPr/>
        </p:nvPicPr>
        <p:blipFill>
          <a:blip r:embed="rId7"/>
          <a:stretch>
            <a:fillRect/>
          </a:stretch>
        </p:blipFill>
        <p:spPr>
          <a:xfrm>
            <a:off x="6376307" y="2286582"/>
            <a:ext cx="982436" cy="361950"/>
          </a:xfrm>
          <a:prstGeom prst="rect">
            <a:avLst/>
          </a:prstGeom>
        </p:spPr>
      </p:pic>
      <p:pic>
        <p:nvPicPr>
          <p:cNvPr id="61" name="Picture 60" descr="188_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7_8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35_5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42_0_605E5C.png"/>
          <p:cNvPicPr>
            <a:picLocks noChangeAspect="1"/>
          </p:cNvPicPr>
          <p:nvPr/>
        </p:nvPicPr>
        <p:blipFill>
          <a:blip r:embed="rId11"/>
          <a:stretch>
            <a:fillRect/>
          </a:stretch>
        </p:blipFill>
        <p:spPr>
          <a:xfrm>
            <a:off x="9748157" y="2779432"/>
            <a:ext cx="982436" cy="361950"/>
          </a:xfrm>
          <a:prstGeom prst="rect">
            <a:avLst/>
          </a:prstGeom>
        </p:spPr>
      </p:pic>
      <p:pic>
        <p:nvPicPr>
          <p:cNvPr id="65" name="Picture 64" descr="1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70" name="TextBox 69"/>
          <p:cNvSpPr txBox="1"/>
          <p:nvPr/>
        </p:nvSpPr>
        <p:spPr>
          <a:xfrm>
            <a:off x="485775" y="4397077"/>
            <a:ext cx="2564606" cy="186689"/>
          </a:xfrm>
          <a:prstGeom prst="rect">
            <a:avLst/>
          </a:prstGeom>
          <a:noFill/>
        </p:spPr>
        <p:txBody>
          <a:bodyPr wrap="none" lIns="0" rIns="0" tIns="0" bIns="0">
            <a:spAutoFit/>
          </a:bodyPr>
          <a:lstStyle/>
          <a:p>
            <a:r>
              <a:rPr sz="1100" b="0">
                <a:solidFill>
                  <a:srgbClr val="2E2E2E"/>
                </a:solidFill>
                <a:latin typeface="Calibri"/>
              </a:rPr>
              <a:t>distribution channel, direct sales segment is</a:t>
            </a:r>
          </a:p>
        </p:txBody>
      </p:sp>
      <p:sp>
        <p:nvSpPr>
          <p:cNvPr id="71" name="TextBox 70"/>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815059" y="4554938"/>
            <a:ext cx="128699" cy="187198"/>
          </a:xfrm>
          <a:prstGeom prst="rect">
            <a:avLst/>
          </a:prstGeom>
        </p:spPr>
      </p:pic>
      <p:sp>
        <p:nvSpPr>
          <p:cNvPr id="73" name="TextBox 72"/>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74" name="TextBox 73"/>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75" name="TextBox 74"/>
          <p:cNvSpPr txBox="1"/>
          <p:nvPr/>
        </p:nvSpPr>
        <p:spPr>
          <a:xfrm>
            <a:off x="485775" y="4899997"/>
            <a:ext cx="2441004" cy="186689"/>
          </a:xfrm>
          <a:prstGeom prst="rect">
            <a:avLst/>
          </a:prstGeom>
          <a:noFill/>
        </p:spPr>
        <p:txBody>
          <a:bodyPr wrap="none" lIns="0" rIns="0" tIns="0" bIns="0">
            <a:spAutoFit/>
          </a:bodyPr>
          <a:lstStyle/>
          <a:p>
            <a:r>
              <a:rPr sz="1100" b="0">
                <a:solidFill>
                  <a:srgbClr val="2E2E2E"/>
                </a:solidFill>
                <a:latin typeface="Calibri"/>
              </a:rPr>
              <a:t>distribution channel, the dental dealers &amp;</a:t>
            </a:r>
          </a:p>
        </p:txBody>
      </p:sp>
      <p:sp>
        <p:nvSpPr>
          <p:cNvPr id="76" name="TextBox 75"/>
          <p:cNvSpPr txBox="1"/>
          <p:nvPr/>
        </p:nvSpPr>
        <p:spPr>
          <a:xfrm>
            <a:off x="485775" y="5067637"/>
            <a:ext cx="2883569" cy="186689"/>
          </a:xfrm>
          <a:prstGeom prst="rect">
            <a:avLst/>
          </a:prstGeom>
          <a:noFill/>
        </p:spPr>
        <p:txBody>
          <a:bodyPr wrap="none" lIns="0" rIns="0" tIns="0" bIns="0">
            <a:spAutoFit/>
          </a:bodyPr>
          <a:lstStyle/>
          <a:p>
            <a:r>
              <a:rPr sz="1100" b="0">
                <a:solidFill>
                  <a:srgbClr val="2E2E2E"/>
                </a:solidFill>
                <a:latin typeface="Calibri"/>
              </a:rPr>
              <a:t>distributors segment is expected to dominate the</a:t>
            </a:r>
          </a:p>
        </p:txBody>
      </p:sp>
      <p:sp>
        <p:nvSpPr>
          <p:cNvPr id="77" name="TextBox 76"/>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78" name="Picture 77" descr="lock.png"/>
          <p:cNvPicPr>
            <a:picLocks noChangeAspect="1"/>
          </p:cNvPicPr>
          <p:nvPr/>
        </p:nvPicPr>
        <p:blipFill>
          <a:blip r:embed="rId13"/>
          <a:stretch>
            <a:fillRect/>
          </a:stretch>
        </p:blipFill>
        <p:spPr>
          <a:xfrm>
            <a:off x="1315757" y="5225498"/>
            <a:ext cx="128699" cy="187198"/>
          </a:xfrm>
          <a:prstGeom prst="rect">
            <a:avLst/>
          </a:prstGeom>
        </p:spPr>
      </p:pic>
      <p:sp>
        <p:nvSpPr>
          <p:cNvPr id="79" name="TextBox 78"/>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80" name="Picture 79" descr="lock.png"/>
          <p:cNvPicPr>
            <a:picLocks noChangeAspect="1"/>
          </p:cNvPicPr>
          <p:nvPr/>
        </p:nvPicPr>
        <p:blipFill>
          <a:blip r:embed="rId13"/>
          <a:stretch>
            <a:fillRect/>
          </a:stretch>
        </p:blipFill>
        <p:spPr>
          <a:xfrm>
            <a:off x="2817737" y="5225498"/>
            <a:ext cx="128699" cy="187198"/>
          </a:xfrm>
          <a:prstGeom prst="rect">
            <a:avLst/>
          </a:prstGeom>
        </p:spPr>
      </p:pic>
      <p:sp>
        <p:nvSpPr>
          <p:cNvPr id="81" name="TextBox 80"/>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620849"/>
            <a:ext cx="2551236" cy="186689"/>
          </a:xfrm>
          <a:prstGeom prst="rect">
            <a:avLst/>
          </a:prstGeom>
          <a:noFill/>
        </p:spPr>
        <p:txBody>
          <a:bodyPr wrap="none" lIns="0" rIns="0" tIns="0" bIns="0">
            <a:spAutoFit/>
          </a:bodyPr>
          <a:lstStyle/>
          <a:p>
            <a:r>
              <a:rPr sz="1100" b="0">
                <a:solidFill>
                  <a:srgbClr val="2E2E2E"/>
                </a:solidFill>
                <a:latin typeface="Calibri"/>
              </a:rPr>
              <a:t>▪ ¶ Dental dealers &amp; distributors segment is</a:t>
            </a:r>
          </a:p>
        </p:txBody>
      </p:sp>
      <p:sp>
        <p:nvSpPr>
          <p:cNvPr id="83" name="TextBox 82"/>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4" name="Picture 83" descr="lock.png"/>
          <p:cNvPicPr>
            <a:picLocks noChangeAspect="1"/>
          </p:cNvPicPr>
          <p:nvPr/>
        </p:nvPicPr>
        <p:blipFill>
          <a:blip r:embed="rId13"/>
          <a:stretch>
            <a:fillRect/>
          </a:stretch>
        </p:blipFill>
        <p:spPr>
          <a:xfrm>
            <a:off x="1678376" y="5778710"/>
            <a:ext cx="128699" cy="187198"/>
          </a:xfrm>
          <a:prstGeom prst="rect">
            <a:avLst/>
          </a:prstGeom>
        </p:spPr>
      </p:pic>
      <p:sp>
        <p:nvSpPr>
          <p:cNvPr id="85" name="TextBox 84"/>
          <p:cNvSpPr txBox="1"/>
          <p:nvPr/>
        </p:nvSpPr>
        <p:spPr>
          <a:xfrm>
            <a:off x="1845872" y="5788489"/>
            <a:ext cx="1534318" cy="186689"/>
          </a:xfrm>
          <a:prstGeom prst="rect">
            <a:avLst/>
          </a:prstGeom>
          <a:noFill/>
        </p:spPr>
        <p:txBody>
          <a:bodyPr wrap="none" lIns="0" rIns="0" tIns="0" bIns="0">
            <a:spAutoFit/>
          </a:bodyPr>
          <a:lstStyle/>
          <a:p>
            <a:r>
              <a:rPr sz="1100" b="0">
                <a:solidFill>
                  <a:srgbClr val="2E2E2E"/>
                </a:solidFill>
                <a:latin typeface="Calibri"/>
              </a:rPr>
              <a:t>X higher value than direct</a:t>
            </a:r>
          </a:p>
        </p:txBody>
      </p:sp>
      <p:sp>
        <p:nvSpPr>
          <p:cNvPr id="86" name="TextBox 85"/>
          <p:cNvSpPr txBox="1"/>
          <p:nvPr/>
        </p:nvSpPr>
        <p:spPr>
          <a:xfrm>
            <a:off x="485775" y="5956129"/>
            <a:ext cx="1364877" cy="186689"/>
          </a:xfrm>
          <a:prstGeom prst="rect">
            <a:avLst/>
          </a:prstGeom>
          <a:noFill/>
        </p:spPr>
        <p:txBody>
          <a:bodyPr wrap="none" lIns="0" rIns="0" tIns="0" bIns="0">
            <a:spAutoFit/>
          </a:bodyPr>
          <a:lstStyle/>
          <a:p>
            <a:r>
              <a:rPr sz="1100" b="0">
                <a:solidFill>
                  <a:srgbClr val="2E2E2E"/>
                </a:solidFill>
                <a:latin typeface="Calibri"/>
              </a:rPr>
              <a:t>sales segment in 2036.</a:t>
            </a:r>
          </a:p>
        </p:txBody>
      </p:sp>
      <p:sp>
        <p:nvSpPr>
          <p:cNvPr id="87" name="TextBox 86"/>
          <p:cNvSpPr txBox="1"/>
          <p:nvPr/>
        </p:nvSpPr>
        <p:spPr>
          <a:xfrm>
            <a:off x="3838575" y="4229437"/>
            <a:ext cx="1893664" cy="186689"/>
          </a:xfrm>
          <a:prstGeom prst="rect">
            <a:avLst/>
          </a:prstGeom>
          <a:noFill/>
        </p:spPr>
        <p:txBody>
          <a:bodyPr wrap="none" lIns="0" rIns="0" tIns="0" bIns="0">
            <a:spAutoFit/>
          </a:bodyPr>
          <a:lstStyle/>
          <a:p>
            <a:r>
              <a:rPr sz="1100" b="0">
                <a:solidFill>
                  <a:srgbClr val="2E2E2E"/>
                </a:solidFill>
                <a:latin typeface="Calibri"/>
              </a:rPr>
              <a:t>● Dental Dealers &amp; Distributors:</a:t>
            </a:r>
          </a:p>
        </p:txBody>
      </p:sp>
      <p:pic>
        <p:nvPicPr>
          <p:cNvPr id="88" name="Picture 87" descr="lock.png"/>
          <p:cNvPicPr>
            <a:picLocks noChangeAspect="1"/>
          </p:cNvPicPr>
          <p:nvPr/>
        </p:nvPicPr>
        <p:blipFill>
          <a:blip r:embed="rId13"/>
          <a:stretch>
            <a:fillRect/>
          </a:stretch>
        </p:blipFill>
        <p:spPr>
          <a:xfrm>
            <a:off x="5680290" y="4219658"/>
            <a:ext cx="128699" cy="187198"/>
          </a:xfrm>
          <a:prstGeom prst="rect">
            <a:avLst/>
          </a:prstGeom>
        </p:spPr>
      </p:pic>
      <p:sp>
        <p:nvSpPr>
          <p:cNvPr id="89" name="TextBox 88"/>
          <p:cNvSpPr txBox="1"/>
          <p:nvPr/>
        </p:nvSpPr>
        <p:spPr>
          <a:xfrm>
            <a:off x="58477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707236" y="4219658"/>
            <a:ext cx="128699" cy="187198"/>
          </a:xfrm>
          <a:prstGeom prst="rect">
            <a:avLst/>
          </a:prstGeom>
        </p:spPr>
      </p:pic>
      <p:sp>
        <p:nvSpPr>
          <p:cNvPr id="91" name="TextBox 90"/>
          <p:cNvSpPr txBox="1"/>
          <p:nvPr/>
        </p:nvSpPr>
        <p:spPr>
          <a:xfrm>
            <a:off x="687473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891207" cy="186689"/>
          </a:xfrm>
          <a:prstGeom prst="rect">
            <a:avLst/>
          </a:prstGeom>
          <a:noFill/>
        </p:spPr>
        <p:txBody>
          <a:bodyPr wrap="none" lIns="0" rIns="0" tIns="0" bIns="0">
            <a:spAutoFit/>
          </a:bodyPr>
          <a:lstStyle/>
          <a:p>
            <a:r>
              <a:rPr sz="1100" b="0">
                <a:solidFill>
                  <a:srgbClr val="2E2E2E"/>
                </a:solidFill>
                <a:latin typeface="Calibri"/>
              </a:rPr>
              <a:t>● Direct Sales:</a:t>
            </a:r>
          </a:p>
        </p:txBody>
      </p:sp>
      <p:pic>
        <p:nvPicPr>
          <p:cNvPr id="94" name="Picture 93" descr="lock.png"/>
          <p:cNvPicPr>
            <a:picLocks noChangeAspect="1"/>
          </p:cNvPicPr>
          <p:nvPr/>
        </p:nvPicPr>
        <p:blipFill>
          <a:blip r:embed="rId13"/>
          <a:stretch>
            <a:fillRect/>
          </a:stretch>
        </p:blipFill>
        <p:spPr>
          <a:xfrm>
            <a:off x="4677834" y="4605230"/>
            <a:ext cx="128699" cy="187198"/>
          </a:xfrm>
          <a:prstGeom prst="rect">
            <a:avLst/>
          </a:prstGeom>
        </p:spPr>
      </p:pic>
      <p:sp>
        <p:nvSpPr>
          <p:cNvPr id="95" name="TextBox 94"/>
          <p:cNvSpPr txBox="1"/>
          <p:nvPr/>
        </p:nvSpPr>
        <p:spPr>
          <a:xfrm>
            <a:off x="484533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5704780" y="4605230"/>
            <a:ext cx="128699" cy="187198"/>
          </a:xfrm>
          <a:prstGeom prst="rect">
            <a:avLst/>
          </a:prstGeom>
        </p:spPr>
      </p:pic>
      <p:sp>
        <p:nvSpPr>
          <p:cNvPr id="97" name="TextBox 96"/>
          <p:cNvSpPr txBox="1"/>
          <p:nvPr/>
        </p:nvSpPr>
        <p:spPr>
          <a:xfrm>
            <a:off x="5872276"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8" name="TextBox 97"/>
          <p:cNvSpPr txBox="1"/>
          <p:nvPr/>
        </p:nvSpPr>
        <p:spPr>
          <a:xfrm>
            <a:off x="3838575" y="4832941"/>
            <a:ext cx="1970335" cy="186689"/>
          </a:xfrm>
          <a:prstGeom prst="rect">
            <a:avLst/>
          </a:prstGeom>
          <a:noFill/>
        </p:spPr>
        <p:txBody>
          <a:bodyPr wrap="none" lIns="0" rIns="0" tIns="0" bIns="0">
            <a:spAutoFit/>
          </a:bodyPr>
          <a:lstStyle/>
          <a:p>
            <a:r>
              <a:rPr sz="1100" b="0">
                <a:solidFill>
                  <a:srgbClr val="2E2E2E"/>
                </a:solidFill>
                <a:latin typeface="Calibri"/>
              </a:rPr>
              <a:t>● Online Dental Supply Channels:</a:t>
            </a:r>
          </a:p>
        </p:txBody>
      </p:sp>
      <p:pic>
        <p:nvPicPr>
          <p:cNvPr id="99" name="Picture 98" descr="lock.png"/>
          <p:cNvPicPr>
            <a:picLocks noChangeAspect="1"/>
          </p:cNvPicPr>
          <p:nvPr/>
        </p:nvPicPr>
        <p:blipFill>
          <a:blip r:embed="rId13"/>
          <a:stretch>
            <a:fillRect/>
          </a:stretch>
        </p:blipFill>
        <p:spPr>
          <a:xfrm>
            <a:off x="5756962" y="4823162"/>
            <a:ext cx="128699" cy="187198"/>
          </a:xfrm>
          <a:prstGeom prst="rect">
            <a:avLst/>
          </a:prstGeom>
        </p:spPr>
      </p:pic>
      <p:sp>
        <p:nvSpPr>
          <p:cNvPr id="100" name="TextBox 99"/>
          <p:cNvSpPr txBox="1"/>
          <p:nvPr/>
        </p:nvSpPr>
        <p:spPr>
          <a:xfrm>
            <a:off x="592445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3"/>
          <a:stretch>
            <a:fillRect/>
          </a:stretch>
        </p:blipFill>
        <p:spPr>
          <a:xfrm>
            <a:off x="6783908" y="4823162"/>
            <a:ext cx="128699" cy="187198"/>
          </a:xfrm>
          <a:prstGeom prst="rect">
            <a:avLst/>
          </a:prstGeom>
        </p:spPr>
      </p:pic>
      <p:sp>
        <p:nvSpPr>
          <p:cNvPr id="102" name="TextBox 101"/>
          <p:cNvSpPr txBox="1"/>
          <p:nvPr/>
        </p:nvSpPr>
        <p:spPr>
          <a:xfrm>
            <a:off x="695140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3" name="TextBox 102"/>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4" name="TextBox 103"/>
          <p:cNvSpPr txBox="1"/>
          <p:nvPr/>
        </p:nvSpPr>
        <p:spPr>
          <a:xfrm>
            <a:off x="8524875" y="5842641"/>
            <a:ext cx="3048830" cy="194310"/>
          </a:xfrm>
          <a:prstGeom prst="rect">
            <a:avLst/>
          </a:prstGeom>
          <a:noFill/>
        </p:spPr>
        <p:txBody>
          <a:bodyPr wrap="none" lIns="0" rIns="0" tIns="0" bIns="0">
            <a:spAutoFit/>
          </a:bodyPr>
          <a:lstStyle/>
          <a:p>
            <a:r>
              <a:rPr sz="1150" b="1">
                <a:solidFill>
                  <a:srgbClr val="0B2E4A"/>
                </a:solidFill>
                <a:latin typeface="Calibri"/>
              </a:rPr>
              <a:t>The Distribution Channel segment is projected to</a:t>
            </a:r>
          </a:p>
        </p:txBody>
      </p:sp>
      <p:sp>
        <p:nvSpPr>
          <p:cNvPr id="105" name="TextBox 104"/>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6" name="Picture 105" descr="lock.png"/>
          <p:cNvPicPr>
            <a:picLocks noChangeAspect="1"/>
          </p:cNvPicPr>
          <p:nvPr/>
        </p:nvPicPr>
        <p:blipFill>
          <a:blip r:embed="rId13"/>
          <a:stretch>
            <a:fillRect/>
          </a:stretch>
        </p:blipFill>
        <p:spPr>
          <a:xfrm>
            <a:off x="9651852" y="6007677"/>
            <a:ext cx="134549" cy="195707"/>
          </a:xfrm>
          <a:prstGeom prst="rect">
            <a:avLst/>
          </a:prstGeom>
        </p:spPr>
      </p:pic>
      <p:sp>
        <p:nvSpPr>
          <p:cNvPr id="107" name="TextBox 106"/>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31327" cy="186689"/>
          </a:xfrm>
          <a:prstGeom prst="rect">
            <a:avLst/>
          </a:prstGeom>
          <a:noFill/>
        </p:spPr>
        <p:txBody>
          <a:bodyPr wrap="none" lIns="0" rIns="0" tIns="0" bIns="0">
            <a:spAutoFit/>
          </a:bodyPr>
          <a:lstStyle/>
          <a:p>
            <a:r>
              <a:rPr sz="1100" b="0">
                <a:solidFill>
                  <a:srgbClr val="2E2E2E"/>
                </a:solidFill>
                <a:latin typeface="Calibri"/>
              </a:rPr>
              <a:t>Direct sales followed by dental dealers &amp; distributors are expected to be the two most attractive distribution channel segments in the North America removable partial dentures market in terms of value</a:t>
            </a:r>
          </a:p>
        </p:txBody>
      </p:sp>
      <p:sp>
        <p:nvSpPr>
          <p:cNvPr id="21" name="TextBox 20"/>
          <p:cNvSpPr txBox="1"/>
          <p:nvPr/>
        </p:nvSpPr>
        <p:spPr>
          <a:xfrm>
            <a:off x="257175" y="5861685"/>
            <a:ext cx="5429803" cy="186689"/>
          </a:xfrm>
          <a:prstGeom prst="rect">
            <a:avLst/>
          </a:prstGeom>
          <a:noFill/>
        </p:spPr>
        <p:txBody>
          <a:bodyPr wrap="none" lIns="0" rIns="0" tIns="0" bIns="0">
            <a:spAutoFit/>
          </a:bodyPr>
          <a:lstStyle/>
          <a:p>
            <a:r>
              <a:rPr sz="1100" b="0">
                <a:solidFill>
                  <a:srgbClr val="2E2E2E"/>
                </a:solidFill>
                <a:latin typeface="Calibri"/>
              </a:rPr>
              <a:t>over the forecast period. Direct sales and dental dealers &amp; distributors exhibit a CAGR index of</a:t>
            </a:r>
          </a:p>
        </p:txBody>
      </p:sp>
      <p:pic>
        <p:nvPicPr>
          <p:cNvPr id="22" name="Picture 21" descr="lock.png"/>
          <p:cNvPicPr>
            <a:picLocks noChangeAspect="1"/>
          </p:cNvPicPr>
          <p:nvPr/>
        </p:nvPicPr>
        <p:blipFill>
          <a:blip r:embed="rId6"/>
          <a:stretch>
            <a:fillRect/>
          </a:stretch>
        </p:blipFill>
        <p:spPr>
          <a:xfrm>
            <a:off x="5635030" y="5851905"/>
            <a:ext cx="128699" cy="187198"/>
          </a:xfrm>
          <a:prstGeom prst="rect">
            <a:avLst/>
          </a:prstGeom>
        </p:spPr>
      </p:pic>
      <p:sp>
        <p:nvSpPr>
          <p:cNvPr id="23" name="TextBox 22"/>
          <p:cNvSpPr txBox="1"/>
          <p:nvPr/>
        </p:nvSpPr>
        <p:spPr>
          <a:xfrm>
            <a:off x="580252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040420" y="5851905"/>
            <a:ext cx="128699" cy="187198"/>
          </a:xfrm>
          <a:prstGeom prst="rect">
            <a:avLst/>
          </a:prstGeom>
        </p:spPr>
      </p:pic>
      <p:sp>
        <p:nvSpPr>
          <p:cNvPr id="25" name="TextBox 24"/>
          <p:cNvSpPr txBox="1"/>
          <p:nvPr/>
        </p:nvSpPr>
        <p:spPr>
          <a:xfrm>
            <a:off x="620791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816889" y="5851905"/>
            <a:ext cx="128699" cy="187198"/>
          </a:xfrm>
          <a:prstGeom prst="rect">
            <a:avLst/>
          </a:prstGeom>
        </p:spPr>
      </p:pic>
      <p:sp>
        <p:nvSpPr>
          <p:cNvPr id="27" name="TextBox 26"/>
          <p:cNvSpPr txBox="1"/>
          <p:nvPr/>
        </p:nvSpPr>
        <p:spPr>
          <a:xfrm>
            <a:off x="798438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222279" y="5851905"/>
            <a:ext cx="128699" cy="187198"/>
          </a:xfrm>
          <a:prstGeom prst="rect">
            <a:avLst/>
          </a:prstGeom>
        </p:spPr>
      </p:pic>
      <p:sp>
        <p:nvSpPr>
          <p:cNvPr id="29" name="TextBox 28"/>
          <p:cNvSpPr txBox="1"/>
          <p:nvPr/>
        </p:nvSpPr>
        <p:spPr>
          <a:xfrm>
            <a:off x="8389775"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944179" y="5851905"/>
            <a:ext cx="128699" cy="187198"/>
          </a:xfrm>
          <a:prstGeom prst="rect">
            <a:avLst/>
          </a:prstGeom>
        </p:spPr>
      </p:pic>
      <p:sp>
        <p:nvSpPr>
          <p:cNvPr id="31" name="TextBox 30"/>
          <p:cNvSpPr txBox="1"/>
          <p:nvPr/>
        </p:nvSpPr>
        <p:spPr>
          <a:xfrm>
            <a:off x="11111675" y="5861685"/>
            <a:ext cx="354235" cy="186689"/>
          </a:xfrm>
          <a:prstGeom prst="rect">
            <a:avLst/>
          </a:prstGeom>
          <a:noFill/>
        </p:spPr>
        <p:txBody>
          <a:bodyPr wrap="none" lIns="0" rIns="0" tIns="0" bIns="0">
            <a:spAutoFit/>
          </a:bodyPr>
          <a:lstStyle/>
          <a:p>
            <a:r>
              <a:rPr sz="1100" b="0">
                <a:solidFill>
                  <a:srgbClr val="2E2E2E"/>
                </a:solidFill>
                <a:latin typeface="Calibri"/>
              </a:rPr>
              <a:t>. The</a:t>
            </a:r>
          </a:p>
        </p:txBody>
      </p:sp>
      <p:sp>
        <p:nvSpPr>
          <p:cNvPr id="32" name="TextBox 31"/>
          <p:cNvSpPr txBox="1"/>
          <p:nvPr/>
        </p:nvSpPr>
        <p:spPr>
          <a:xfrm>
            <a:off x="257175" y="6029325"/>
            <a:ext cx="11639632" cy="186689"/>
          </a:xfrm>
          <a:prstGeom prst="rect">
            <a:avLst/>
          </a:prstGeom>
          <a:noFill/>
        </p:spPr>
        <p:txBody>
          <a:bodyPr wrap="none" lIns="0" rIns="0" tIns="0" bIns="0">
            <a:spAutoFit/>
          </a:bodyPr>
          <a:lstStyle/>
          <a:p>
            <a:r>
              <a:rPr sz="1100" b="0">
                <a:solidFill>
                  <a:srgbClr val="2E2E2E"/>
                </a:solidFill>
                <a:latin typeface="Calibri"/>
              </a:rPr>
              <a:t>online dental supply channels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169856" cy="194310"/>
          </a:xfrm>
          <a:prstGeom prst="rect">
            <a:avLst/>
          </a:prstGeom>
          <a:noFill/>
        </p:spPr>
        <p:txBody>
          <a:bodyPr wrap="none" lIns="0" rIns="0" tIns="0" bIns="0">
            <a:spAutoFit/>
          </a:bodyPr>
          <a:lstStyle/>
          <a:p>
            <a:r>
              <a:rPr sz="1150" b="0">
                <a:solidFill>
                  <a:srgbClr val="2E2E2E"/>
                </a:solidFill>
                <a:latin typeface="Calibri"/>
              </a:rPr>
              <a:t>By 2036, direct sales segment is anticipated to witness an increase of</a:t>
            </a:r>
          </a:p>
        </p:txBody>
      </p:sp>
      <p:pic>
        <p:nvPicPr>
          <p:cNvPr id="29" name="Picture 28" descr="lock.png"/>
          <p:cNvPicPr>
            <a:picLocks noChangeAspect="1"/>
          </p:cNvPicPr>
          <p:nvPr/>
        </p:nvPicPr>
        <p:blipFill>
          <a:blip r:embed="rId7"/>
          <a:stretch>
            <a:fillRect/>
          </a:stretch>
        </p:blipFill>
        <p:spPr>
          <a:xfrm>
            <a:off x="10424560" y="4276026"/>
            <a:ext cx="134549" cy="195707"/>
          </a:xfrm>
          <a:prstGeom prst="rect">
            <a:avLst/>
          </a:prstGeom>
        </p:spPr>
      </p:pic>
      <p:sp>
        <p:nvSpPr>
          <p:cNvPr id="30" name="TextBox 29"/>
          <p:cNvSpPr txBox="1"/>
          <p:nvPr/>
        </p:nvSpPr>
        <p:spPr>
          <a:xfrm>
            <a:off x="10599669"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67287" cy="194310"/>
          </a:xfrm>
          <a:prstGeom prst="rect">
            <a:avLst/>
          </a:prstGeom>
          <a:noFill/>
        </p:spPr>
        <p:txBody>
          <a:bodyPr wrap="none" lIns="0" rIns="0" tIns="0" bIns="0">
            <a:spAutoFit/>
          </a:bodyPr>
          <a:lstStyle/>
          <a:p>
            <a:r>
              <a:rPr sz="1150" b="0">
                <a:solidFill>
                  <a:srgbClr val="2E2E2E"/>
                </a:solidFill>
                <a:latin typeface="Calibri"/>
              </a:rPr>
              <a:t>as compared to 2026. The direct sales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74889"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a:t>
            </a:r>
          </a:p>
        </p:txBody>
      </p:sp>
      <p:sp>
        <p:nvSpPr>
          <p:cNvPr id="35" name="TextBox 34"/>
          <p:cNvSpPr txBox="1"/>
          <p:nvPr/>
        </p:nvSpPr>
        <p:spPr>
          <a:xfrm>
            <a:off x="6305550" y="4812029"/>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6305550" y="5039867"/>
            <a:ext cx="5520556" cy="194310"/>
          </a:xfrm>
          <a:prstGeom prst="rect">
            <a:avLst/>
          </a:prstGeom>
          <a:noFill/>
        </p:spPr>
        <p:txBody>
          <a:bodyPr wrap="none" lIns="0" rIns="0" tIns="0" bIns="0">
            <a:spAutoFit/>
          </a:bodyPr>
          <a:lstStyle/>
          <a:p>
            <a:r>
              <a:rPr sz="1150" b="0">
                <a:solidFill>
                  <a:srgbClr val="2E2E2E"/>
                </a:solidFill>
                <a:latin typeface="Calibri"/>
              </a:rPr>
              <a:t>The dental dealers &amp; distributors segment is expected to create an incremental opportunity</a:t>
            </a:r>
          </a:p>
        </p:txBody>
      </p:sp>
      <p:sp>
        <p:nvSpPr>
          <p:cNvPr id="37" name="TextBox 36"/>
          <p:cNvSpPr txBox="1"/>
          <p:nvPr/>
        </p:nvSpPr>
        <p:spPr>
          <a:xfrm>
            <a:off x="6305550" y="5215127"/>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8" name="Picture 37" descr="lock.png"/>
          <p:cNvPicPr>
            <a:picLocks noChangeAspect="1"/>
          </p:cNvPicPr>
          <p:nvPr/>
        </p:nvPicPr>
        <p:blipFill>
          <a:blip r:embed="rId7"/>
          <a:stretch>
            <a:fillRect/>
          </a:stretch>
        </p:blipFill>
        <p:spPr>
          <a:xfrm>
            <a:off x="6720560" y="5204904"/>
            <a:ext cx="134549" cy="195707"/>
          </a:xfrm>
          <a:prstGeom prst="rect">
            <a:avLst/>
          </a:prstGeom>
        </p:spPr>
      </p:pic>
      <p:sp>
        <p:nvSpPr>
          <p:cNvPr id="39" name="TextBox 38"/>
          <p:cNvSpPr txBox="1"/>
          <p:nvPr/>
        </p:nvSpPr>
        <p:spPr>
          <a:xfrm>
            <a:off x="6895670" y="5215127"/>
            <a:ext cx="4695316"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 The</a:t>
            </a:r>
          </a:p>
        </p:txBody>
      </p:sp>
      <p:sp>
        <p:nvSpPr>
          <p:cNvPr id="40" name="TextBox 39"/>
          <p:cNvSpPr txBox="1"/>
          <p:nvPr/>
        </p:nvSpPr>
        <p:spPr>
          <a:xfrm>
            <a:off x="6305550" y="5390387"/>
            <a:ext cx="5482046" cy="194310"/>
          </a:xfrm>
          <a:prstGeom prst="rect">
            <a:avLst/>
          </a:prstGeom>
          <a:noFill/>
        </p:spPr>
        <p:txBody>
          <a:bodyPr wrap="none" lIns="0" rIns="0" tIns="0" bIns="0">
            <a:spAutoFit/>
          </a:bodyPr>
          <a:lstStyle/>
          <a:p>
            <a:r>
              <a:rPr sz="1150" b="0">
                <a:solidFill>
                  <a:srgbClr val="2E2E2E"/>
                </a:solidFill>
                <a:latin typeface="Calibri"/>
              </a:rPr>
              <a:t>online dental supply channels segment is expected to create an incremental opportunity of</a:t>
            </a:r>
          </a:p>
        </p:txBody>
      </p:sp>
      <p:sp>
        <p:nvSpPr>
          <p:cNvPr id="41" name="TextBox 40"/>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2" name="Picture 41" descr="lock.png"/>
          <p:cNvPicPr>
            <a:picLocks noChangeAspect="1"/>
          </p:cNvPicPr>
          <p:nvPr/>
        </p:nvPicPr>
        <p:blipFill>
          <a:blip r:embed="rId7"/>
          <a:stretch>
            <a:fillRect/>
          </a:stretch>
        </p:blipFill>
        <p:spPr>
          <a:xfrm>
            <a:off x="6565953" y="5555424"/>
            <a:ext cx="134549" cy="195707"/>
          </a:xfrm>
          <a:prstGeom prst="rect">
            <a:avLst/>
          </a:prstGeom>
        </p:spPr>
      </p:pic>
      <p:sp>
        <p:nvSpPr>
          <p:cNvPr id="43" name="TextBox 42"/>
          <p:cNvSpPr txBox="1"/>
          <p:nvPr/>
        </p:nvSpPr>
        <p:spPr>
          <a:xfrm>
            <a:off x="6741062" y="5565647"/>
            <a:ext cx="4441440"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Distribution Channel (Units)</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44154"/>
                <a:gridCol w="553665"/>
                <a:gridCol w="553665"/>
                <a:gridCol w="553665"/>
                <a:gridCol w="553665"/>
                <a:gridCol w="553665"/>
                <a:gridCol w="553665"/>
                <a:gridCol w="553665"/>
                <a:gridCol w="553665"/>
                <a:gridCol w="553665"/>
                <a:gridCol w="553665"/>
                <a:gridCol w="553665"/>
                <a:gridCol w="665801"/>
                <a:gridCol w="665801"/>
                <a:gridCol w="665801"/>
                <a:gridCol w="665801"/>
                <a:gridCol w="665801"/>
                <a:gridCol w="523723"/>
              </a:tblGrid>
              <a:tr h="246126">
                <a:tc>
                  <a:txBody>
                    <a:bodyPr wrap="none"/>
                    <a:lstStyle/>
                    <a:p>
                      <a:pPr algn="l"/>
                      <a:r>
                        <a:rPr sz="1100" b="1">
                          <a:solidFill>
                            <a:srgbClr val="0B2E4A"/>
                          </a:solidFill>
                          <a:latin typeface="Calibri"/>
                        </a:rPr>
                        <a:t>Distribution Channel</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1385" y="1713738"/>
            <a:ext cx="366712" cy="533399"/>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353882" cy="194310"/>
          </a:xfrm>
          <a:prstGeom prst="rect">
            <a:avLst/>
          </a:prstGeom>
          <a:noFill/>
        </p:spPr>
        <p:txBody>
          <a:bodyPr wrap="none" lIns="0" rIns="0" tIns="0" bIns="0">
            <a:spAutoFit/>
          </a:bodyPr>
          <a:lstStyle/>
          <a:p>
            <a:r>
              <a:rPr sz="1150" b="0">
                <a:solidFill>
                  <a:srgbClr val="2E2E2E"/>
                </a:solidFill>
                <a:latin typeface="Calibri"/>
              </a:rPr>
              <a:t>X higher volume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8085273" cy="194310"/>
          </a:xfrm>
          <a:prstGeom prst="rect">
            <a:avLst/>
          </a:prstGeom>
          <a:noFill/>
        </p:spPr>
        <p:txBody>
          <a:bodyPr wrap="none" lIns="0" rIns="0" tIns="0" bIns="0">
            <a:spAutoFit/>
          </a:bodyPr>
          <a:lstStyle/>
          <a:p>
            <a:r>
              <a:rPr sz="1150" b="0">
                <a:solidFill>
                  <a:srgbClr val="2E2E2E"/>
                </a:solidFill>
                <a:latin typeface="Calibri"/>
              </a:rPr>
              <a:t>In terms of volume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310652" y="3631374"/>
            <a:ext cx="134549" cy="195707"/>
          </a:xfrm>
          <a:prstGeom prst="rect">
            <a:avLst/>
          </a:prstGeom>
        </p:spPr>
      </p:pic>
      <p:sp>
        <p:nvSpPr>
          <p:cNvPr id="29" name="TextBox 28"/>
          <p:cNvSpPr txBox="1"/>
          <p:nvPr/>
        </p:nvSpPr>
        <p:spPr>
          <a:xfrm>
            <a:off x="8485762"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80905" y="3631374"/>
            <a:ext cx="134549" cy="195707"/>
          </a:xfrm>
          <a:prstGeom prst="rect">
            <a:avLst/>
          </a:prstGeom>
        </p:spPr>
      </p:pic>
      <p:sp>
        <p:nvSpPr>
          <p:cNvPr id="31" name="TextBox 30"/>
          <p:cNvSpPr txBox="1"/>
          <p:nvPr/>
        </p:nvSpPr>
        <p:spPr>
          <a:xfrm>
            <a:off x="100560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3" name="Table 12"/>
          <p:cNvGraphicFramePr>
            <a:graphicFrameLocks noGrp="1"/>
          </p:cNvGraphicFramePr>
          <p:nvPr/>
        </p:nvGraphicFramePr>
        <p:xfrm>
          <a:off x="152400" y="1238250"/>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0200" y="1713738"/>
            <a:ext cx="366712" cy="533400"/>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230082" cy="194310"/>
          </a:xfrm>
          <a:prstGeom prst="rect">
            <a:avLst/>
          </a:prstGeom>
          <a:noFill/>
        </p:spPr>
        <p:txBody>
          <a:bodyPr wrap="none" lIns="0" rIns="0" tIns="0" bIns="0">
            <a:spAutoFit/>
          </a:bodyPr>
          <a:lstStyle/>
          <a:p>
            <a:r>
              <a:rPr sz="1150" b="0">
                <a:solidFill>
                  <a:srgbClr val="2E2E2E"/>
                </a:solidFill>
                <a:latin typeface="Calibri"/>
              </a:rPr>
              <a:t>X higher value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961473"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186852" y="3631374"/>
            <a:ext cx="134549" cy="195707"/>
          </a:xfrm>
          <a:prstGeom prst="rect">
            <a:avLst/>
          </a:prstGeom>
        </p:spPr>
      </p:pic>
      <p:sp>
        <p:nvSpPr>
          <p:cNvPr id="29" name="TextBox 28"/>
          <p:cNvSpPr txBox="1"/>
          <p:nvPr/>
        </p:nvSpPr>
        <p:spPr>
          <a:xfrm>
            <a:off x="8361961"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757105" y="3631374"/>
            <a:ext cx="134549" cy="195707"/>
          </a:xfrm>
          <a:prstGeom prst="rect">
            <a:avLst/>
          </a:prstGeom>
        </p:spPr>
      </p:pic>
      <p:sp>
        <p:nvSpPr>
          <p:cNvPr id="31" name="TextBox 30"/>
          <p:cNvSpPr txBox="1"/>
          <p:nvPr/>
        </p:nvSpPr>
        <p:spPr>
          <a:xfrm>
            <a:off x="99322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544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496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734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354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5932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545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83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840272"/>
            <a:ext cx="514350" cy="123825"/>
          </a:xfrm>
          <a:prstGeom prst="rect">
            <a:avLst/>
          </a:prstGeom>
          <a:noFill/>
        </p:spPr>
        <p:txBody>
          <a:bodyPr wrap="none" lIns="19050" rIns="19050" tIns="0" bIns="0" anchor="ctr">
            <a:spAutoFit/>
          </a:bodyPr>
          <a:lstStyle/>
          <a:p>
            <a:pPr algn="r"/>
            <a:r>
              <a:rPr sz="900" b="1">
                <a:solidFill>
                  <a:srgbClr val="2E7D32"/>
                </a:solidFill>
                <a:latin typeface="Calibri"/>
              </a:rPr>
              <a:t>XX</a:t>
            </a:r>
          </a:p>
        </p:txBody>
      </p:sp>
      <p:sp>
        <p:nvSpPr>
          <p:cNvPr id="24" name="FMI Legend Chip"/>
          <p:cNvSpPr/>
          <p:nvPr/>
        </p:nvSpPr>
        <p:spPr>
          <a:xfrm>
            <a:off x="4928997" y="496231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575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813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4943268"/>
            <a:ext cx="514350" cy="123825"/>
          </a:xfrm>
          <a:prstGeom prst="rect">
            <a:avLst/>
          </a:prstGeom>
          <a:noFill/>
        </p:spPr>
        <p:txBody>
          <a:bodyPr wrap="none" lIns="19050" rIns="1905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68774" cy="194310"/>
          </a:xfrm>
          <a:prstGeom prst="rect">
            <a:avLst/>
          </a:prstGeom>
          <a:noFill/>
        </p:spPr>
        <p:txBody>
          <a:bodyPr wrap="none" lIns="0" rIns="0" tIns="0" bIns="0">
            <a:spAutoFit/>
          </a:bodyPr>
          <a:lstStyle/>
          <a:p>
            <a:r>
              <a:rPr sz="1150" b="0">
                <a:solidFill>
                  <a:srgbClr val="2E2E2E"/>
                </a:solidFill>
                <a:latin typeface="Calibri"/>
              </a:rPr>
              <a:t>Among removable partial dentures by distribution channel, direct</a:t>
            </a:r>
          </a:p>
        </p:txBody>
      </p:sp>
      <p:sp>
        <p:nvSpPr>
          <p:cNvPr id="35" name="TextBox 34"/>
          <p:cNvSpPr txBox="1"/>
          <p:nvPr/>
        </p:nvSpPr>
        <p:spPr>
          <a:xfrm>
            <a:off x="7829550" y="1575435"/>
            <a:ext cx="3480117" cy="194310"/>
          </a:xfrm>
          <a:prstGeom prst="rect">
            <a:avLst/>
          </a:prstGeom>
          <a:noFill/>
        </p:spPr>
        <p:txBody>
          <a:bodyPr wrap="none" lIns="0" rIns="0" tIns="0" bIns="0">
            <a:spAutoFit/>
          </a:bodyPr>
          <a:lstStyle/>
          <a:p>
            <a:r>
              <a:rPr sz="1150" b="0">
                <a:solidFill>
                  <a:srgbClr val="2E2E2E"/>
                </a:solidFill>
                <a:latin typeface="Calibri"/>
              </a:rPr>
              <a:t>sales segment is expected to witness the highest CAGR of</a:t>
            </a:r>
          </a:p>
        </p:txBody>
      </p:sp>
      <p:pic>
        <p:nvPicPr>
          <p:cNvPr id="36" name="Picture 35" descr="lock.png"/>
          <p:cNvPicPr>
            <a:picLocks noChangeAspect="1"/>
          </p:cNvPicPr>
          <p:nvPr/>
        </p:nvPicPr>
        <p:blipFill>
          <a:blip r:embed="rId5"/>
          <a:stretch>
            <a:fillRect/>
          </a:stretch>
        </p:blipFill>
        <p:spPr>
          <a:xfrm>
            <a:off x="11258820" y="1565211"/>
            <a:ext cx="134549" cy="195707"/>
          </a:xfrm>
          <a:prstGeom prst="rect">
            <a:avLst/>
          </a:prstGeom>
        </p:spPr>
      </p:pic>
      <p:sp>
        <p:nvSpPr>
          <p:cNvPr id="37" name="TextBox 36"/>
          <p:cNvSpPr txBox="1"/>
          <p:nvPr/>
        </p:nvSpPr>
        <p:spPr>
          <a:xfrm>
            <a:off x="11433930"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39" name="TextBox 38"/>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a:t>
            </a:r>
          </a:p>
        </p:txBody>
      </p:sp>
      <p:sp>
        <p:nvSpPr>
          <p:cNvPr id="40" name="TextBox 39"/>
          <p:cNvSpPr txBox="1"/>
          <p:nvPr/>
        </p:nvSpPr>
        <p:spPr>
          <a:xfrm>
            <a:off x="7829550" y="2153793"/>
            <a:ext cx="3886621" cy="194310"/>
          </a:xfrm>
          <a:prstGeom prst="rect">
            <a:avLst/>
          </a:prstGeom>
          <a:noFill/>
        </p:spPr>
        <p:txBody>
          <a:bodyPr wrap="none" lIns="0" rIns="0" tIns="0" bIns="0">
            <a:spAutoFit/>
          </a:bodyPr>
          <a:lstStyle/>
          <a:p>
            <a:r>
              <a:rPr sz="1150" b="0">
                <a:solidFill>
                  <a:srgbClr val="2E2E2E"/>
                </a:solidFill>
                <a:latin typeface="Calibri"/>
              </a:rPr>
              <a:t>distributors segment is expected to dominate the market, losing</a:t>
            </a:r>
          </a:p>
        </p:txBody>
      </p:sp>
      <p:pic>
        <p:nvPicPr>
          <p:cNvPr id="41" name="Picture 40" descr="lock.png"/>
          <p:cNvPicPr>
            <a:picLocks noChangeAspect="1"/>
          </p:cNvPicPr>
          <p:nvPr/>
        </p:nvPicPr>
        <p:blipFill>
          <a:blip r:embed="rId5"/>
          <a:stretch>
            <a:fillRect/>
          </a:stretch>
        </p:blipFill>
        <p:spPr>
          <a:xfrm>
            <a:off x="7815470" y="2318829"/>
            <a:ext cx="134549" cy="195707"/>
          </a:xfrm>
          <a:prstGeom prst="rect">
            <a:avLst/>
          </a:prstGeom>
        </p:spPr>
      </p:pic>
      <p:sp>
        <p:nvSpPr>
          <p:cNvPr id="42" name="TextBox 41"/>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385722" y="2318829"/>
            <a:ext cx="134549" cy="195707"/>
          </a:xfrm>
          <a:prstGeom prst="rect">
            <a:avLst/>
          </a:prstGeom>
        </p:spPr>
      </p:pic>
      <p:sp>
        <p:nvSpPr>
          <p:cNvPr id="44" name="TextBox 43"/>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53_5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60_8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6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17_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63_1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3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5834" cy="186689"/>
          </a:xfrm>
          <a:prstGeom prst="rect">
            <a:avLst/>
          </a:prstGeom>
          <a:noFill/>
        </p:spPr>
        <p:txBody>
          <a:bodyPr wrap="none" lIns="0" rIns="0" tIns="0" bIns="0">
            <a:spAutoFit/>
          </a:bodyPr>
          <a:lstStyle/>
          <a:p>
            <a:r>
              <a:rPr sz="1100" b="0">
                <a:solidFill>
                  <a:srgbClr val="2E2E2E"/>
                </a:solidFill>
                <a:latin typeface="Calibri"/>
              </a:rPr>
              <a:t>▪ ¶ Among removable partial dentures by patient</a:t>
            </a:r>
          </a:p>
        </p:txBody>
      </p:sp>
      <p:sp>
        <p:nvSpPr>
          <p:cNvPr id="59" name="TextBox 58"/>
          <p:cNvSpPr txBox="1"/>
          <p:nvPr/>
        </p:nvSpPr>
        <p:spPr>
          <a:xfrm>
            <a:off x="485775" y="4397077"/>
            <a:ext cx="2872928" cy="186689"/>
          </a:xfrm>
          <a:prstGeom prst="rect">
            <a:avLst/>
          </a:prstGeom>
          <a:noFill/>
        </p:spPr>
        <p:txBody>
          <a:bodyPr wrap="none" lIns="0" rIns="0" tIns="0" bIns="0">
            <a:spAutoFit/>
          </a:bodyPr>
          <a:lstStyle/>
          <a:p>
            <a:r>
              <a:rPr sz="1100" b="0">
                <a:solidFill>
                  <a:srgbClr val="2E2E2E"/>
                </a:solidFill>
                <a:latin typeface="Calibri"/>
              </a:rPr>
              <a:t>age group, geriatric patients segment is expected</a:t>
            </a:r>
          </a:p>
        </p:txBody>
      </p:sp>
      <p:sp>
        <p:nvSpPr>
          <p:cNvPr id="60" name="TextBox 59"/>
          <p:cNvSpPr txBox="1"/>
          <p:nvPr/>
        </p:nvSpPr>
        <p:spPr>
          <a:xfrm>
            <a:off x="485775" y="4564717"/>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61" name="Picture 60" descr="lock.png"/>
          <p:cNvPicPr>
            <a:picLocks noChangeAspect="1"/>
          </p:cNvPicPr>
          <p:nvPr/>
        </p:nvPicPr>
        <p:blipFill>
          <a:blip r:embed="rId10"/>
          <a:stretch>
            <a:fillRect/>
          </a:stretch>
        </p:blipFill>
        <p:spPr>
          <a:xfrm>
            <a:off x="2261170" y="4554938"/>
            <a:ext cx="128699" cy="187198"/>
          </a:xfrm>
          <a:prstGeom prst="rect">
            <a:avLst/>
          </a:prstGeom>
        </p:spPr>
      </p:pic>
      <p:sp>
        <p:nvSpPr>
          <p:cNvPr id="62" name="TextBox 61"/>
          <p:cNvSpPr txBox="1"/>
          <p:nvPr/>
        </p:nvSpPr>
        <p:spPr>
          <a:xfrm>
            <a:off x="2428666" y="4564717"/>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forecast period. In terms of value share by patient</a:t>
            </a:r>
          </a:p>
        </p:txBody>
      </p:sp>
      <p:sp>
        <p:nvSpPr>
          <p:cNvPr id="64" name="TextBox 63"/>
          <p:cNvSpPr txBox="1"/>
          <p:nvPr/>
        </p:nvSpPr>
        <p:spPr>
          <a:xfrm>
            <a:off x="485775" y="4899997"/>
            <a:ext cx="2540595" cy="186689"/>
          </a:xfrm>
          <a:prstGeom prst="rect">
            <a:avLst/>
          </a:prstGeom>
          <a:noFill/>
        </p:spPr>
        <p:txBody>
          <a:bodyPr wrap="none" lIns="0" rIns="0" tIns="0" bIns="0">
            <a:spAutoFit/>
          </a:bodyPr>
          <a:lstStyle/>
          <a:p>
            <a:r>
              <a:rPr sz="1100" b="0">
                <a:solidFill>
                  <a:srgbClr val="2E2E2E"/>
                </a:solidFill>
                <a:latin typeface="Calibri"/>
              </a:rPr>
              <a:t>age group, the geriatric patients segment is</a:t>
            </a:r>
          </a:p>
        </p:txBody>
      </p:sp>
      <p:sp>
        <p:nvSpPr>
          <p:cNvPr id="65" name="TextBox 64"/>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66" name="Picture 65" descr="lock.png"/>
          <p:cNvPicPr>
            <a:picLocks noChangeAspect="1"/>
          </p:cNvPicPr>
          <p:nvPr/>
        </p:nvPicPr>
        <p:blipFill>
          <a:blip r:embed="rId10"/>
          <a:stretch>
            <a:fillRect/>
          </a:stretch>
        </p:blipFill>
        <p:spPr>
          <a:xfrm>
            <a:off x="2900479" y="5057858"/>
            <a:ext cx="128699" cy="187198"/>
          </a:xfrm>
          <a:prstGeom prst="rect">
            <a:avLst/>
          </a:prstGeom>
        </p:spPr>
      </p:pic>
      <p:sp>
        <p:nvSpPr>
          <p:cNvPr id="67" name="TextBox 66"/>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32546" cy="186689"/>
          </a:xfrm>
          <a:prstGeom prst="rect">
            <a:avLst/>
          </a:prstGeom>
          <a:noFill/>
        </p:spPr>
        <p:txBody>
          <a:bodyPr wrap="none" lIns="0" rIns="0" tIns="0" bIns="0">
            <a:spAutoFit/>
          </a:bodyPr>
          <a:lstStyle/>
          <a:p>
            <a:r>
              <a:rPr sz="1100" b="0">
                <a:solidFill>
                  <a:srgbClr val="2E2E2E"/>
                </a:solidFill>
                <a:latin typeface="Calibri"/>
              </a:rPr>
              <a:t>▪ ¶ Geriatric patients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211809" cy="186689"/>
          </a:xfrm>
          <a:prstGeom prst="rect">
            <a:avLst/>
          </a:prstGeom>
          <a:noFill/>
        </p:spPr>
        <p:txBody>
          <a:bodyPr wrap="none" lIns="0" rIns="0" tIns="0" bIns="0">
            <a:spAutoFit/>
          </a:bodyPr>
          <a:lstStyle/>
          <a:p>
            <a:r>
              <a:rPr sz="1100" b="0">
                <a:solidFill>
                  <a:srgbClr val="2E2E2E"/>
                </a:solidFill>
                <a:latin typeface="Calibri"/>
              </a:rPr>
              <a:t>X higher value than adults segment in</a:t>
            </a:r>
          </a:p>
        </p:txBody>
      </p:sp>
      <p:sp>
        <p:nvSpPr>
          <p:cNvPr id="75" name="TextBox 7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6" name="TextBox 75"/>
          <p:cNvSpPr txBox="1"/>
          <p:nvPr/>
        </p:nvSpPr>
        <p:spPr>
          <a:xfrm>
            <a:off x="3838575" y="4229437"/>
            <a:ext cx="1216719" cy="186689"/>
          </a:xfrm>
          <a:prstGeom prst="rect">
            <a:avLst/>
          </a:prstGeom>
          <a:noFill/>
        </p:spPr>
        <p:txBody>
          <a:bodyPr wrap="none" lIns="0" rIns="0" tIns="0" bIns="0">
            <a:spAutoFit/>
          </a:bodyPr>
          <a:lstStyle/>
          <a:p>
            <a:r>
              <a:rPr sz="1100" b="0">
                <a:solidFill>
                  <a:srgbClr val="2E2E2E"/>
                </a:solidFill>
                <a:latin typeface="Calibri"/>
              </a:rPr>
              <a:t>● Geriatric Patients:</a:t>
            </a:r>
          </a:p>
        </p:txBody>
      </p:sp>
      <p:pic>
        <p:nvPicPr>
          <p:cNvPr id="77" name="Picture 76" descr="lock.png"/>
          <p:cNvPicPr>
            <a:picLocks noChangeAspect="1"/>
          </p:cNvPicPr>
          <p:nvPr/>
        </p:nvPicPr>
        <p:blipFill>
          <a:blip r:embed="rId10"/>
          <a:stretch>
            <a:fillRect/>
          </a:stretch>
        </p:blipFill>
        <p:spPr>
          <a:xfrm>
            <a:off x="5003346" y="4219658"/>
            <a:ext cx="128699" cy="187198"/>
          </a:xfrm>
          <a:prstGeom prst="rect">
            <a:avLst/>
          </a:prstGeom>
        </p:spPr>
      </p:pic>
      <p:sp>
        <p:nvSpPr>
          <p:cNvPr id="78" name="TextBox 77"/>
          <p:cNvSpPr txBox="1"/>
          <p:nvPr/>
        </p:nvSpPr>
        <p:spPr>
          <a:xfrm>
            <a:off x="51708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30292" y="4219658"/>
            <a:ext cx="128699" cy="187198"/>
          </a:xfrm>
          <a:prstGeom prst="rect">
            <a:avLst/>
          </a:prstGeom>
        </p:spPr>
      </p:pic>
      <p:sp>
        <p:nvSpPr>
          <p:cNvPr id="80" name="TextBox 79"/>
          <p:cNvSpPr txBox="1"/>
          <p:nvPr/>
        </p:nvSpPr>
        <p:spPr>
          <a:xfrm>
            <a:off x="61977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590798" cy="186689"/>
          </a:xfrm>
          <a:prstGeom prst="rect">
            <a:avLst/>
          </a:prstGeom>
          <a:noFill/>
        </p:spPr>
        <p:txBody>
          <a:bodyPr wrap="none" lIns="0" rIns="0" tIns="0" bIns="0">
            <a:spAutoFit/>
          </a:bodyPr>
          <a:lstStyle/>
          <a:p>
            <a:r>
              <a:rPr sz="1100" b="0">
                <a:solidFill>
                  <a:srgbClr val="2E2E2E"/>
                </a:solidFill>
                <a:latin typeface="Calibri"/>
              </a:rPr>
              <a:t>● Adults:</a:t>
            </a:r>
          </a:p>
        </p:txBody>
      </p:sp>
      <p:pic>
        <p:nvPicPr>
          <p:cNvPr id="82" name="Picture 81" descr="lock.png"/>
          <p:cNvPicPr>
            <a:picLocks noChangeAspect="1"/>
          </p:cNvPicPr>
          <p:nvPr/>
        </p:nvPicPr>
        <p:blipFill>
          <a:blip r:embed="rId10"/>
          <a:stretch>
            <a:fillRect/>
          </a:stretch>
        </p:blipFill>
        <p:spPr>
          <a:xfrm>
            <a:off x="4377424" y="4437590"/>
            <a:ext cx="128699" cy="187198"/>
          </a:xfrm>
          <a:prstGeom prst="rect">
            <a:avLst/>
          </a:prstGeom>
        </p:spPr>
      </p:pic>
      <p:sp>
        <p:nvSpPr>
          <p:cNvPr id="83" name="TextBox 82"/>
          <p:cNvSpPr txBox="1"/>
          <p:nvPr/>
        </p:nvSpPr>
        <p:spPr>
          <a:xfrm>
            <a:off x="454492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5404370" y="4437590"/>
            <a:ext cx="128699" cy="187198"/>
          </a:xfrm>
          <a:prstGeom prst="rect">
            <a:avLst/>
          </a:prstGeom>
        </p:spPr>
      </p:pic>
      <p:sp>
        <p:nvSpPr>
          <p:cNvPr id="85" name="TextBox 84"/>
          <p:cNvSpPr txBox="1"/>
          <p:nvPr/>
        </p:nvSpPr>
        <p:spPr>
          <a:xfrm>
            <a:off x="557186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6" name="TextBox 85"/>
          <p:cNvSpPr txBox="1"/>
          <p:nvPr/>
        </p:nvSpPr>
        <p:spPr>
          <a:xfrm>
            <a:off x="8524875" y="5842641"/>
            <a:ext cx="2913335" cy="194310"/>
          </a:xfrm>
          <a:prstGeom prst="rect">
            <a:avLst/>
          </a:prstGeom>
          <a:noFill/>
        </p:spPr>
        <p:txBody>
          <a:bodyPr wrap="none" lIns="0" rIns="0" tIns="0" bIns="0">
            <a:spAutoFit/>
          </a:bodyPr>
          <a:lstStyle/>
          <a:p>
            <a:r>
              <a:rPr sz="1150" b="1">
                <a:solidFill>
                  <a:srgbClr val="0B2E4A"/>
                </a:solidFill>
                <a:latin typeface="Calibri"/>
              </a:rPr>
              <a:t>The Patient Age Group segment is projected to</a:t>
            </a:r>
          </a:p>
        </p:txBody>
      </p:sp>
      <p:sp>
        <p:nvSpPr>
          <p:cNvPr id="87" name="TextBox 8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8" name="Picture 87" descr="lock.png"/>
          <p:cNvPicPr>
            <a:picLocks noChangeAspect="1"/>
          </p:cNvPicPr>
          <p:nvPr/>
        </p:nvPicPr>
        <p:blipFill>
          <a:blip r:embed="rId10"/>
          <a:stretch>
            <a:fillRect/>
          </a:stretch>
        </p:blipFill>
        <p:spPr>
          <a:xfrm>
            <a:off x="9651852" y="6007677"/>
            <a:ext cx="134549" cy="195707"/>
          </a:xfrm>
          <a:prstGeom prst="rect">
            <a:avLst/>
          </a:prstGeom>
        </p:spPr>
      </p:pic>
      <p:sp>
        <p:nvSpPr>
          <p:cNvPr id="89" name="TextBox 8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59567" cy="186689"/>
          </a:xfrm>
          <a:prstGeom prst="rect">
            <a:avLst/>
          </a:prstGeom>
          <a:noFill/>
        </p:spPr>
        <p:txBody>
          <a:bodyPr wrap="none" lIns="0" rIns="0" tIns="0" bIns="0">
            <a:spAutoFit/>
          </a:bodyPr>
          <a:lstStyle/>
          <a:p>
            <a:r>
              <a:rPr sz="1100" b="0">
                <a:solidFill>
                  <a:srgbClr val="2E2E2E"/>
                </a:solidFill>
                <a:latin typeface="Calibri"/>
              </a:rPr>
              <a:t>Geriatric patients followed by adults are expected to be the two most attractive patient age group segments in the North America removable partial dentures market in terms of value over the forecast</a:t>
            </a:r>
          </a:p>
        </p:txBody>
      </p:sp>
      <p:sp>
        <p:nvSpPr>
          <p:cNvPr id="21" name="TextBox 20"/>
          <p:cNvSpPr txBox="1"/>
          <p:nvPr/>
        </p:nvSpPr>
        <p:spPr>
          <a:xfrm>
            <a:off x="257175" y="5945505"/>
            <a:ext cx="3484644" cy="186689"/>
          </a:xfrm>
          <a:prstGeom prst="rect">
            <a:avLst/>
          </a:prstGeom>
          <a:noFill/>
        </p:spPr>
        <p:txBody>
          <a:bodyPr wrap="none" lIns="0" rIns="0" tIns="0" bIns="0">
            <a:spAutoFit/>
          </a:bodyPr>
          <a:lstStyle/>
          <a:p>
            <a:r>
              <a:rPr sz="1100" b="0">
                <a:solidFill>
                  <a:srgbClr val="2E2E2E"/>
                </a:solidFill>
                <a:latin typeface="Calibri"/>
              </a:rPr>
              <a:t>period. Geriatric patients and adults exhibit a CAGR index of</a:t>
            </a:r>
          </a:p>
        </p:txBody>
      </p:sp>
      <p:pic>
        <p:nvPicPr>
          <p:cNvPr id="22" name="Picture 21" descr="lock.png"/>
          <p:cNvPicPr>
            <a:picLocks noChangeAspect="1"/>
          </p:cNvPicPr>
          <p:nvPr/>
        </p:nvPicPr>
        <p:blipFill>
          <a:blip r:embed="rId6"/>
          <a:stretch>
            <a:fillRect/>
          </a:stretch>
        </p:blipFill>
        <p:spPr>
          <a:xfrm>
            <a:off x="3689871" y="5935726"/>
            <a:ext cx="128699" cy="187198"/>
          </a:xfrm>
          <a:prstGeom prst="rect">
            <a:avLst/>
          </a:prstGeom>
        </p:spPr>
      </p:pic>
      <p:sp>
        <p:nvSpPr>
          <p:cNvPr id="23" name="TextBox 22"/>
          <p:cNvSpPr txBox="1"/>
          <p:nvPr/>
        </p:nvSpPr>
        <p:spPr>
          <a:xfrm>
            <a:off x="385736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095261" y="5935726"/>
            <a:ext cx="128699" cy="187198"/>
          </a:xfrm>
          <a:prstGeom prst="rect">
            <a:avLst/>
          </a:prstGeom>
        </p:spPr>
      </p:pic>
      <p:sp>
        <p:nvSpPr>
          <p:cNvPr id="25" name="TextBox 24"/>
          <p:cNvSpPr txBox="1"/>
          <p:nvPr/>
        </p:nvSpPr>
        <p:spPr>
          <a:xfrm>
            <a:off x="4262757"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871730" y="5935726"/>
            <a:ext cx="128699" cy="187198"/>
          </a:xfrm>
          <a:prstGeom prst="rect">
            <a:avLst/>
          </a:prstGeom>
        </p:spPr>
      </p:pic>
      <p:sp>
        <p:nvSpPr>
          <p:cNvPr id="27" name="TextBox 26"/>
          <p:cNvSpPr txBox="1"/>
          <p:nvPr/>
        </p:nvSpPr>
        <p:spPr>
          <a:xfrm>
            <a:off x="6039226"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277120" y="5935726"/>
            <a:ext cx="128699" cy="187198"/>
          </a:xfrm>
          <a:prstGeom prst="rect">
            <a:avLst/>
          </a:prstGeom>
        </p:spPr>
      </p:pic>
      <p:sp>
        <p:nvSpPr>
          <p:cNvPr id="29" name="TextBox 28"/>
          <p:cNvSpPr txBox="1"/>
          <p:nvPr/>
        </p:nvSpPr>
        <p:spPr>
          <a:xfrm>
            <a:off x="6444616"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999020" y="5935726"/>
            <a:ext cx="128699" cy="187198"/>
          </a:xfrm>
          <a:prstGeom prst="rect">
            <a:avLst/>
          </a:prstGeom>
        </p:spPr>
      </p:pic>
      <p:sp>
        <p:nvSpPr>
          <p:cNvPr id="31" name="TextBox 30"/>
          <p:cNvSpPr txBox="1"/>
          <p:nvPr/>
        </p:nvSpPr>
        <p:spPr>
          <a:xfrm>
            <a:off x="9166516" y="5945505"/>
            <a:ext cx="2208790" cy="186689"/>
          </a:xfrm>
          <a:prstGeom prst="rect">
            <a:avLst/>
          </a:prstGeom>
          <a:noFill/>
        </p:spPr>
        <p:txBody>
          <a:bodyPr wrap="none" lIns="0" rIns="0" tIns="0" bIns="0">
            <a:spAutoFit/>
          </a:bodyPr>
          <a:lstStyle/>
          <a:p>
            <a:r>
              <a:rPr sz="1100" b="0">
                <a:solidFill>
                  <a:srgbClr val="2E2E2E"/>
                </a:solidFill>
                <a:latin typeface="Calibri"/>
              </a:rPr>
              <a:t>. Bubbles right of the CAGR-Index line</a:t>
            </a:r>
          </a:p>
        </p:txBody>
      </p:sp>
      <p:sp>
        <p:nvSpPr>
          <p:cNvPr id="32" name="TextBox 31"/>
          <p:cNvSpPr txBox="1"/>
          <p:nvPr/>
        </p:nvSpPr>
        <p:spPr>
          <a:xfrm>
            <a:off x="257175" y="611314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Geriatric Patients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Patient Age Group (Units)</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1236106"/>
                <a:gridCol w="595168"/>
                <a:gridCol w="595168"/>
                <a:gridCol w="595168"/>
                <a:gridCol w="595168"/>
                <a:gridCol w="595168"/>
                <a:gridCol w="595168"/>
                <a:gridCol w="595168"/>
                <a:gridCol w="595168"/>
                <a:gridCol w="595168"/>
                <a:gridCol w="595168"/>
                <a:gridCol w="595168"/>
                <a:gridCol w="707833"/>
                <a:gridCol w="707833"/>
                <a:gridCol w="707833"/>
                <a:gridCol w="707833"/>
                <a:gridCol w="707833"/>
                <a:gridCol w="565085"/>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7365"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7923249" cy="194310"/>
          </a:xfrm>
          <a:prstGeom prst="rect">
            <a:avLst/>
          </a:prstGeom>
          <a:noFill/>
        </p:spPr>
        <p:txBody>
          <a:bodyPr wrap="none" lIns="0" rIns="0" tIns="0" bIns="0">
            <a:spAutoFit/>
          </a:bodyPr>
          <a:lstStyle/>
          <a:p>
            <a:r>
              <a:rPr sz="1150" b="0">
                <a:solidFill>
                  <a:srgbClr val="2E2E2E"/>
                </a:solidFill>
                <a:latin typeface="Calibri"/>
              </a:rPr>
              <a:t>X higher volume than adults segment in 2036. Among removable partial dentures by patient age group, geriatric patients segment is</a:t>
            </a:r>
          </a:p>
        </p:txBody>
      </p:sp>
      <p:sp>
        <p:nvSpPr>
          <p:cNvPr id="24" name="TextBox 23"/>
          <p:cNvSpPr txBox="1"/>
          <p:nvPr/>
        </p:nvSpPr>
        <p:spPr>
          <a:xfrm>
            <a:off x="276225" y="316611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3155886"/>
            <a:ext cx="134549" cy="195707"/>
          </a:xfrm>
          <a:prstGeom prst="rect">
            <a:avLst/>
          </a:prstGeom>
        </p:spPr>
      </p:pic>
      <p:sp>
        <p:nvSpPr>
          <p:cNvPr id="26" name="TextBox 25"/>
          <p:cNvSpPr txBox="1"/>
          <p:nvPr/>
        </p:nvSpPr>
        <p:spPr>
          <a:xfrm>
            <a:off x="288649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339049" cy="194310"/>
          </a:xfrm>
          <a:prstGeom prst="rect">
            <a:avLst/>
          </a:prstGeom>
          <a:noFill/>
        </p:spPr>
        <p:txBody>
          <a:bodyPr wrap="none" lIns="0" rIns="0" tIns="0" bIns="0">
            <a:spAutoFit/>
          </a:bodyPr>
          <a:lstStyle/>
          <a:p>
            <a:r>
              <a:rPr sz="1150" b="0">
                <a:solidFill>
                  <a:srgbClr val="2E2E2E"/>
                </a:solidFill>
                <a:latin typeface="Calibri"/>
              </a:rPr>
              <a:t>In terms of volume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564428" y="3383724"/>
            <a:ext cx="134549" cy="195707"/>
          </a:xfrm>
          <a:prstGeom prst="rect">
            <a:avLst/>
          </a:prstGeom>
        </p:spPr>
      </p:pic>
      <p:sp>
        <p:nvSpPr>
          <p:cNvPr id="29" name="TextBox 28"/>
          <p:cNvSpPr txBox="1"/>
          <p:nvPr/>
        </p:nvSpPr>
        <p:spPr>
          <a:xfrm>
            <a:off x="77395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34681" y="3383724"/>
            <a:ext cx="134549" cy="195707"/>
          </a:xfrm>
          <a:prstGeom prst="rect">
            <a:avLst/>
          </a:prstGeom>
        </p:spPr>
      </p:pic>
      <p:sp>
        <p:nvSpPr>
          <p:cNvPr id="31" name="TextBox 30"/>
          <p:cNvSpPr txBox="1"/>
          <p:nvPr/>
        </p:nvSpPr>
        <p:spPr>
          <a:xfrm>
            <a:off x="93097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Patient Age Group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86908"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8378514" cy="194310"/>
          </a:xfrm>
          <a:prstGeom prst="rect">
            <a:avLst/>
          </a:prstGeom>
          <a:noFill/>
        </p:spPr>
        <p:txBody>
          <a:bodyPr wrap="none" lIns="0" rIns="0" tIns="0" bIns="0">
            <a:spAutoFit/>
          </a:bodyPr>
          <a:lstStyle/>
          <a:p>
            <a:r>
              <a:rPr sz="1150" b="0">
                <a:solidFill>
                  <a:srgbClr val="2E2E2E"/>
                </a:solidFill>
                <a:latin typeface="Calibri"/>
              </a:rPr>
              <a:t>X higher value than adults segment in 2036. Among removable partial dentures by patient age group, geriatric patients segment is expected</a:t>
            </a:r>
          </a:p>
        </p:txBody>
      </p:sp>
      <p:sp>
        <p:nvSpPr>
          <p:cNvPr id="24" name="TextBox 23"/>
          <p:cNvSpPr txBox="1"/>
          <p:nvPr/>
        </p:nvSpPr>
        <p:spPr>
          <a:xfrm>
            <a:off x="276225" y="31661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3155886"/>
            <a:ext cx="134549" cy="195707"/>
          </a:xfrm>
          <a:prstGeom prst="rect">
            <a:avLst/>
          </a:prstGeom>
        </p:spPr>
      </p:pic>
      <p:sp>
        <p:nvSpPr>
          <p:cNvPr id="26" name="TextBox 25"/>
          <p:cNvSpPr txBox="1"/>
          <p:nvPr/>
        </p:nvSpPr>
        <p:spPr>
          <a:xfrm>
            <a:off x="230742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215249" cy="194310"/>
          </a:xfrm>
          <a:prstGeom prst="rect">
            <a:avLst/>
          </a:prstGeom>
          <a:noFill/>
        </p:spPr>
        <p:txBody>
          <a:bodyPr wrap="none" lIns="0" rIns="0" tIns="0" bIns="0">
            <a:spAutoFit/>
          </a:bodyPr>
          <a:lstStyle/>
          <a:p>
            <a:r>
              <a:rPr sz="1150" b="0">
                <a:solidFill>
                  <a:srgbClr val="2E2E2E"/>
                </a:solidFill>
                <a:latin typeface="Calibri"/>
              </a:rPr>
              <a:t>In terms of value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440628" y="3383724"/>
            <a:ext cx="134549" cy="195707"/>
          </a:xfrm>
          <a:prstGeom prst="rect">
            <a:avLst/>
          </a:prstGeom>
        </p:spPr>
      </p:pic>
      <p:sp>
        <p:nvSpPr>
          <p:cNvPr id="29" name="TextBox 28"/>
          <p:cNvSpPr txBox="1"/>
          <p:nvPr/>
        </p:nvSpPr>
        <p:spPr>
          <a:xfrm>
            <a:off x="76157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10880" y="3383724"/>
            <a:ext cx="134549" cy="195707"/>
          </a:xfrm>
          <a:prstGeom prst="rect">
            <a:avLst/>
          </a:prstGeom>
        </p:spPr>
      </p:pic>
      <p:sp>
        <p:nvSpPr>
          <p:cNvPr id="31" name="TextBox 30"/>
          <p:cNvSpPr txBox="1"/>
          <p:nvPr/>
        </p:nvSpPr>
        <p:spPr>
          <a:xfrm>
            <a:off x="91859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829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782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020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639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66918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6442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5882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501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978473" cy="194310"/>
          </a:xfrm>
          <a:prstGeom prst="rect">
            <a:avLst/>
          </a:prstGeom>
          <a:noFill/>
        </p:spPr>
        <p:txBody>
          <a:bodyPr wrap="none" lIns="0" rIns="0" tIns="0" bIns="0">
            <a:spAutoFit/>
          </a:bodyPr>
          <a:lstStyle/>
          <a:p>
            <a:r>
              <a:rPr sz="1150" b="0">
                <a:solidFill>
                  <a:srgbClr val="2E2E2E"/>
                </a:solidFill>
                <a:latin typeface="Calibri"/>
              </a:rPr>
              <a:t>Among removable partial dentures by patient age group, geriatric</a:t>
            </a:r>
          </a:p>
        </p:txBody>
      </p:sp>
      <p:sp>
        <p:nvSpPr>
          <p:cNvPr id="31" name="TextBox 30"/>
          <p:cNvSpPr txBox="1"/>
          <p:nvPr/>
        </p:nvSpPr>
        <p:spPr>
          <a:xfrm>
            <a:off x="7829550" y="1575435"/>
            <a:ext cx="3674660" cy="194310"/>
          </a:xfrm>
          <a:prstGeom prst="rect">
            <a:avLst/>
          </a:prstGeom>
          <a:noFill/>
        </p:spPr>
        <p:txBody>
          <a:bodyPr wrap="none" lIns="0" rIns="0" tIns="0" bIns="0">
            <a:spAutoFit/>
          </a:bodyPr>
          <a:lstStyle/>
          <a:p>
            <a:r>
              <a:rPr sz="1150" b="0">
                <a:solidFill>
                  <a:srgbClr val="2E2E2E"/>
                </a:solidFill>
                <a:latin typeface="Calibri"/>
              </a:rPr>
              <a:t>patients segment is expected to witness the highest CAGR of</a:t>
            </a:r>
          </a:p>
        </p:txBody>
      </p:sp>
      <p:pic>
        <p:nvPicPr>
          <p:cNvPr id="32" name="Picture 31" descr="lock.png"/>
          <p:cNvPicPr>
            <a:picLocks noChangeAspect="1"/>
          </p:cNvPicPr>
          <p:nvPr/>
        </p:nvPicPr>
        <p:blipFill>
          <a:blip r:embed="rId5"/>
          <a:stretch>
            <a:fillRect/>
          </a:stretch>
        </p:blipFill>
        <p:spPr>
          <a:xfrm>
            <a:off x="11453364" y="1565211"/>
            <a:ext cx="134549" cy="195707"/>
          </a:xfrm>
          <a:prstGeom prst="rect">
            <a:avLst/>
          </a:prstGeom>
        </p:spPr>
      </p:pic>
      <p:sp>
        <p:nvSpPr>
          <p:cNvPr id="33" name="TextBox 32"/>
          <p:cNvSpPr txBox="1"/>
          <p:nvPr/>
        </p:nvSpPr>
        <p:spPr>
          <a:xfrm>
            <a:off x="7829550" y="1750695"/>
            <a:ext cx="3823580"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patient age</a:t>
            </a:r>
          </a:p>
        </p:txBody>
      </p:sp>
      <p:sp>
        <p:nvSpPr>
          <p:cNvPr id="34" name="TextBox 33"/>
          <p:cNvSpPr txBox="1"/>
          <p:nvPr/>
        </p:nvSpPr>
        <p:spPr>
          <a:xfrm>
            <a:off x="7829550" y="1925955"/>
            <a:ext cx="3983608" cy="194310"/>
          </a:xfrm>
          <a:prstGeom prst="rect">
            <a:avLst/>
          </a:prstGeom>
          <a:noFill/>
        </p:spPr>
        <p:txBody>
          <a:bodyPr wrap="none" lIns="0" rIns="0" tIns="0" bIns="0">
            <a:spAutoFit/>
          </a:bodyPr>
          <a:lstStyle/>
          <a:p>
            <a:r>
              <a:rPr sz="1150" b="0">
                <a:solidFill>
                  <a:srgbClr val="2E2E2E"/>
                </a:solidFill>
                <a:latin typeface="Calibri"/>
              </a:rPr>
              <a:t>group, the geriatric patients segment is expected to dominate the</a:t>
            </a:r>
          </a:p>
        </p:txBody>
      </p:sp>
      <p:sp>
        <p:nvSpPr>
          <p:cNvPr id="35" name="TextBox 34"/>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36" name="Picture 35" descr="lock.png"/>
          <p:cNvPicPr>
            <a:picLocks noChangeAspect="1"/>
          </p:cNvPicPr>
          <p:nvPr/>
        </p:nvPicPr>
        <p:blipFill>
          <a:blip r:embed="rId5"/>
          <a:stretch>
            <a:fillRect/>
          </a:stretch>
        </p:blipFill>
        <p:spPr>
          <a:xfrm>
            <a:off x="8778556" y="2090991"/>
            <a:ext cx="134549" cy="195707"/>
          </a:xfrm>
          <a:prstGeom prst="rect">
            <a:avLst/>
          </a:prstGeom>
        </p:spPr>
      </p:pic>
      <p:sp>
        <p:nvSpPr>
          <p:cNvPr id="37" name="TextBox 36"/>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8" name="Picture 37" descr="lock.png"/>
          <p:cNvPicPr>
            <a:picLocks noChangeAspect="1"/>
          </p:cNvPicPr>
          <p:nvPr/>
        </p:nvPicPr>
        <p:blipFill>
          <a:blip r:embed="rId5"/>
          <a:stretch>
            <a:fillRect/>
          </a:stretch>
        </p:blipFill>
        <p:spPr>
          <a:xfrm>
            <a:off x="10348808" y="2090991"/>
            <a:ext cx="134549" cy="195707"/>
          </a:xfrm>
          <a:prstGeom prst="rect">
            <a:avLst/>
          </a:prstGeom>
        </p:spPr>
      </p:pic>
      <p:sp>
        <p:nvSpPr>
          <p:cNvPr id="39" name="TextBox 38"/>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0" name="TextBox 39"/>
          <p:cNvSpPr txBox="1"/>
          <p:nvPr/>
        </p:nvSpPr>
        <p:spPr>
          <a:xfrm>
            <a:off x="7829550" y="2329053"/>
            <a:ext cx="2375631" cy="194310"/>
          </a:xfrm>
          <a:prstGeom prst="rect">
            <a:avLst/>
          </a:prstGeom>
          <a:noFill/>
        </p:spPr>
        <p:txBody>
          <a:bodyPr wrap="none" lIns="0" rIns="0" tIns="0" bIns="0">
            <a:spAutoFit/>
          </a:bodyPr>
          <a:lstStyle/>
          <a:p>
            <a:r>
              <a:rPr sz="1150" b="0">
                <a:solidFill>
                  <a:srgbClr val="2E2E2E"/>
                </a:solidFill>
                <a:latin typeface="Calibri"/>
              </a:rPr>
              <a:t>The adults segment is expected to lose</a:t>
            </a:r>
          </a:p>
        </p:txBody>
      </p:sp>
      <p:pic>
        <p:nvPicPr>
          <p:cNvPr id="41" name="Picture 40" descr="lock.png"/>
          <p:cNvPicPr>
            <a:picLocks noChangeAspect="1"/>
          </p:cNvPicPr>
          <p:nvPr/>
        </p:nvPicPr>
        <p:blipFill>
          <a:blip r:embed="rId5"/>
          <a:stretch>
            <a:fillRect/>
          </a:stretch>
        </p:blipFill>
        <p:spPr>
          <a:xfrm>
            <a:off x="10154335" y="2318829"/>
            <a:ext cx="134549" cy="195707"/>
          </a:xfrm>
          <a:prstGeom prst="rect">
            <a:avLst/>
          </a:prstGeom>
        </p:spPr>
      </p:pic>
      <p:sp>
        <p:nvSpPr>
          <p:cNvPr id="42" name="TextBox 41"/>
          <p:cNvSpPr txBox="1"/>
          <p:nvPr/>
        </p:nvSpPr>
        <p:spPr>
          <a:xfrm>
            <a:off x="10329444"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43" name="TextBox 42"/>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44" name="Picture 43" descr="lock.png"/>
          <p:cNvPicPr>
            <a:picLocks noChangeAspect="1"/>
          </p:cNvPicPr>
          <p:nvPr/>
        </p:nvPicPr>
        <p:blipFill>
          <a:blip r:embed="rId5"/>
          <a:stretch>
            <a:fillRect/>
          </a:stretch>
        </p:blipFill>
        <p:spPr>
          <a:xfrm>
            <a:off x="9114014" y="2494089"/>
            <a:ext cx="134549" cy="195707"/>
          </a:xfrm>
          <a:prstGeom prst="rect">
            <a:avLst/>
          </a:prstGeom>
        </p:spPr>
      </p:pic>
      <p:sp>
        <p:nvSpPr>
          <p:cNvPr id="45" name="TextBox 44"/>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567838"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North America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793217" y="3914076"/>
            <a:ext cx="134549" cy="195707"/>
          </a:xfrm>
          <a:prstGeom prst="rect">
            <a:avLst/>
          </a:prstGeom>
        </p:spPr>
      </p:pic>
      <p:sp>
        <p:nvSpPr>
          <p:cNvPr id="23" name="TextBox 22"/>
          <p:cNvSpPr txBox="1"/>
          <p:nvPr/>
        </p:nvSpPr>
        <p:spPr>
          <a:xfrm>
            <a:off x="10968326" y="3924300"/>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24" name="TextBox 23"/>
          <p:cNvSpPr txBox="1"/>
          <p:nvPr/>
        </p:nvSpPr>
        <p:spPr>
          <a:xfrm>
            <a:off x="276225" y="4099560"/>
            <a:ext cx="5728791" cy="194310"/>
          </a:xfrm>
          <a:prstGeom prst="rect">
            <a:avLst/>
          </a:prstGeom>
          <a:noFill/>
        </p:spPr>
        <p:txBody>
          <a:bodyPr wrap="none" lIns="0" rIns="0" tIns="0" bIns="0">
            <a:spAutoFit/>
          </a:bodyPr>
          <a:lstStyle/>
          <a:p>
            <a:r>
              <a:rPr sz="1150" b="0">
                <a:solidFill>
                  <a:srgbClr val="2E2E2E"/>
                </a:solidFill>
                <a:latin typeface="Calibri"/>
              </a:rPr>
              <a:t>'Acrylic Partial Dentures × High-performance Polymers' is the single largest cross-sectional cell (</a:t>
            </a:r>
          </a:p>
        </p:txBody>
      </p:sp>
      <p:pic>
        <p:nvPicPr>
          <p:cNvPr id="25" name="Picture 24" descr="lock.png"/>
          <p:cNvPicPr>
            <a:picLocks noChangeAspect="1"/>
          </p:cNvPicPr>
          <p:nvPr/>
        </p:nvPicPr>
        <p:blipFill>
          <a:blip r:embed="rId4"/>
          <a:stretch>
            <a:fillRect/>
          </a:stretch>
        </p:blipFill>
        <p:spPr>
          <a:xfrm>
            <a:off x="5954170" y="4089336"/>
            <a:ext cx="134549" cy="195707"/>
          </a:xfrm>
          <a:prstGeom prst="rect">
            <a:avLst/>
          </a:prstGeom>
        </p:spPr>
      </p:pic>
      <p:sp>
        <p:nvSpPr>
          <p:cNvPr id="26" name="TextBox 25"/>
          <p:cNvSpPr txBox="1"/>
          <p:nvPr/>
        </p:nvSpPr>
        <p:spPr>
          <a:xfrm>
            <a:off x="6129279" y="4099560"/>
            <a:ext cx="557874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Flexible Thermoplastics' records the fastest</a:t>
            </a:r>
          </a:p>
        </p:txBody>
      </p:sp>
      <p:sp>
        <p:nvSpPr>
          <p:cNvPr id="27" name="TextBox 26"/>
          <p:cNvSpPr txBox="1"/>
          <p:nvPr/>
        </p:nvSpPr>
        <p:spPr>
          <a:xfrm>
            <a:off x="276225" y="4274820"/>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264596"/>
            <a:ext cx="134549" cy="195707"/>
          </a:xfrm>
          <a:prstGeom prst="rect">
            <a:avLst/>
          </a:prstGeom>
        </p:spPr>
      </p:pic>
      <p:sp>
        <p:nvSpPr>
          <p:cNvPr id="29" name="TextBox 28"/>
          <p:cNvSpPr txBox="1"/>
          <p:nvPr/>
        </p:nvSpPr>
        <p:spPr>
          <a:xfrm>
            <a:off x="1680156"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1" name="Picture 30" descr="lock.png"/>
          <p:cNvPicPr>
            <a:picLocks noChangeAspect="1"/>
          </p:cNvPicPr>
          <p:nvPr/>
        </p:nvPicPr>
        <p:blipFill>
          <a:blip r:embed="rId4"/>
          <a:stretch>
            <a:fillRect/>
          </a:stretch>
        </p:blipFill>
        <p:spPr>
          <a:xfrm>
            <a:off x="6092233" y="4492434"/>
            <a:ext cx="134549" cy="195707"/>
          </a:xfrm>
          <a:prstGeom prst="rect">
            <a:avLst/>
          </a:prstGeom>
        </p:spPr>
      </p:pic>
      <p:sp>
        <p:nvSpPr>
          <p:cNvPr id="32" name="TextBox 31"/>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3955332" cy="194310"/>
          </a:xfrm>
          <a:prstGeom prst="rect">
            <a:avLst/>
          </a:prstGeom>
          <a:noFill/>
        </p:spPr>
        <p:txBody>
          <a:bodyPr wrap="none" lIns="0" rIns="0" tIns="0" bIns="0">
            <a:spAutoFit/>
          </a:bodyPr>
          <a:lstStyle/>
          <a:p>
            <a:r>
              <a:rPr sz="1150" b="0">
                <a:solidFill>
                  <a:srgbClr val="2E2E2E"/>
                </a:solidFill>
                <a:latin typeface="Calibri"/>
              </a:rPr>
              <a:t>▪ 'PEEK-based Materials'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346500" cy="194310"/>
          </a:xfrm>
          <a:prstGeom prst="rect">
            <a:avLst/>
          </a:prstGeom>
          <a:noFill/>
        </p:spPr>
        <p:txBody>
          <a:bodyPr wrap="none" lIns="0" rIns="0" tIns="0" bIns="0">
            <a:spAutoFit/>
          </a:bodyPr>
          <a:lstStyle/>
          <a:p>
            <a:r>
              <a:rPr sz="1150" b="0">
                <a:solidFill>
                  <a:srgbClr val="2E2E2E"/>
                </a:solidFill>
                <a:latin typeface="Calibri"/>
              </a:rPr>
              <a:t>of its value via 'PEEK-based Materials'.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581199" cy="194310"/>
          </a:xfrm>
          <a:prstGeom prst="rect">
            <a:avLst/>
          </a:prstGeom>
          <a:noFill/>
        </p:spPr>
        <p:txBody>
          <a:bodyPr wrap="none" lIns="0" rIns="0" tIns="0" bIns="0">
            <a:spAutoFit/>
          </a:bodyPr>
          <a:lstStyle/>
          <a:p>
            <a:r>
              <a:rPr sz="1150" b="0">
                <a:solidFill>
                  <a:srgbClr val="2E2E2E"/>
                </a:solidFill>
                <a:latin typeface="Calibri"/>
              </a:rPr>
              <a:t>BPS of share of the North</a:t>
            </a:r>
          </a:p>
        </p:txBody>
      </p:sp>
      <p:sp>
        <p:nvSpPr>
          <p:cNvPr id="36" name="TextBox 35"/>
          <p:cNvSpPr txBox="1"/>
          <p:nvPr/>
        </p:nvSpPr>
        <p:spPr>
          <a:xfrm>
            <a:off x="7715250" y="5096255"/>
            <a:ext cx="1986046" cy="194310"/>
          </a:xfrm>
          <a:prstGeom prst="rect">
            <a:avLst/>
          </a:prstGeom>
          <a:noFill/>
        </p:spPr>
        <p:txBody>
          <a:bodyPr wrap="none" lIns="0" rIns="0" tIns="0" bIns="0">
            <a:spAutoFit/>
          </a:bodyPr>
          <a:lstStyle/>
          <a:p>
            <a:r>
              <a:rPr sz="1150" b="0">
                <a:solidFill>
                  <a:srgbClr val="2E2E2E"/>
                </a:solidFill>
                <a:latin typeface="Calibri"/>
              </a:rPr>
              <a:t>America 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328665" cy="194310"/>
          </a:xfrm>
          <a:prstGeom prst="rect">
            <a:avLst/>
          </a:prstGeom>
          <a:noFill/>
        </p:spPr>
        <p:txBody>
          <a:bodyPr wrap="none" lIns="0" rIns="0" tIns="0" bIns="0">
            <a:spAutoFit/>
          </a:bodyPr>
          <a:lstStyle/>
          <a:p>
            <a:r>
              <a:rPr sz="1150" b="0">
                <a:solidFill>
                  <a:srgbClr val="2E2E2E"/>
                </a:solidFill>
                <a:latin typeface="Calibri"/>
              </a:rPr>
              <a:t>▪ 1. Acrylic Partial Dentures × Flexible Thermoplastics –</a:t>
            </a:r>
          </a:p>
        </p:txBody>
      </p:sp>
      <p:pic>
        <p:nvPicPr>
          <p:cNvPr id="34" name="Picture 33" descr="lock.png"/>
          <p:cNvPicPr>
            <a:picLocks noChangeAspect="1"/>
          </p:cNvPicPr>
          <p:nvPr/>
        </p:nvPicPr>
        <p:blipFill>
          <a:blip r:embed="rId4"/>
          <a:stretch>
            <a:fillRect/>
          </a:stretch>
        </p:blipFill>
        <p:spPr>
          <a:xfrm>
            <a:off x="3554043" y="3914076"/>
            <a:ext cx="134549" cy="195707"/>
          </a:xfrm>
          <a:prstGeom prst="rect">
            <a:avLst/>
          </a:prstGeom>
        </p:spPr>
      </p:pic>
      <p:sp>
        <p:nvSpPr>
          <p:cNvPr id="35" name="TextBox 34"/>
          <p:cNvSpPr txBox="1"/>
          <p:nvPr/>
        </p:nvSpPr>
        <p:spPr>
          <a:xfrm>
            <a:off x="3729153"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791304" y="3914076"/>
            <a:ext cx="134549" cy="195707"/>
          </a:xfrm>
          <a:prstGeom prst="rect">
            <a:avLst/>
          </a:prstGeom>
        </p:spPr>
      </p:pic>
      <p:sp>
        <p:nvSpPr>
          <p:cNvPr id="37" name="TextBox 36"/>
          <p:cNvSpPr txBox="1"/>
          <p:nvPr/>
        </p:nvSpPr>
        <p:spPr>
          <a:xfrm>
            <a:off x="3966414"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89424" cy="194310"/>
          </a:xfrm>
          <a:prstGeom prst="rect">
            <a:avLst/>
          </a:prstGeom>
          <a:noFill/>
        </p:spPr>
        <p:txBody>
          <a:bodyPr wrap="none" lIns="0" rIns="0" tIns="0" bIns="0">
            <a:spAutoFit/>
          </a:bodyPr>
          <a:lstStyle/>
          <a:p>
            <a:r>
              <a:rPr sz="1150" b="0">
                <a:solidFill>
                  <a:srgbClr val="2E2E2E"/>
                </a:solidFill>
                <a:latin typeface="Calibri"/>
              </a:rPr>
              <a:t>▪ 2. Flexible Partial Dentures × Flexible Thermoplastics –</a:t>
            </a:r>
          </a:p>
        </p:txBody>
      </p:sp>
      <p:pic>
        <p:nvPicPr>
          <p:cNvPr id="39" name="Picture 38" descr="lock.png"/>
          <p:cNvPicPr>
            <a:picLocks noChangeAspect="1"/>
          </p:cNvPicPr>
          <p:nvPr/>
        </p:nvPicPr>
        <p:blipFill>
          <a:blip r:embed="rId4"/>
          <a:stretch>
            <a:fillRect/>
          </a:stretch>
        </p:blipFill>
        <p:spPr>
          <a:xfrm>
            <a:off x="3614803" y="4141914"/>
            <a:ext cx="134549" cy="195707"/>
          </a:xfrm>
          <a:prstGeom prst="rect">
            <a:avLst/>
          </a:prstGeom>
        </p:spPr>
      </p:pic>
      <p:sp>
        <p:nvSpPr>
          <p:cNvPr id="40" name="TextBox 39"/>
          <p:cNvSpPr txBox="1"/>
          <p:nvPr/>
        </p:nvSpPr>
        <p:spPr>
          <a:xfrm>
            <a:off x="3789912"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52064" y="4141914"/>
            <a:ext cx="134549" cy="195707"/>
          </a:xfrm>
          <a:prstGeom prst="rect">
            <a:avLst/>
          </a:prstGeom>
        </p:spPr>
      </p:pic>
      <p:sp>
        <p:nvSpPr>
          <p:cNvPr id="42" name="TextBox 41"/>
          <p:cNvSpPr txBox="1"/>
          <p:nvPr/>
        </p:nvSpPr>
        <p:spPr>
          <a:xfrm>
            <a:off x="4027173"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573127" cy="194310"/>
          </a:xfrm>
          <a:prstGeom prst="rect">
            <a:avLst/>
          </a:prstGeom>
          <a:noFill/>
        </p:spPr>
        <p:txBody>
          <a:bodyPr wrap="none" lIns="0" rIns="0" tIns="0" bIns="0">
            <a:spAutoFit/>
          </a:bodyPr>
          <a:lstStyle/>
          <a:p>
            <a:r>
              <a:rPr sz="1150" b="0">
                <a:solidFill>
                  <a:srgbClr val="2E2E2E"/>
                </a:solidFill>
                <a:latin typeface="Calibri"/>
              </a:rPr>
              <a:t>▪ 4. Cast Metal Partial Dentures × Flexible Thermoplastics –</a:t>
            </a:r>
          </a:p>
        </p:txBody>
      </p:sp>
      <p:pic>
        <p:nvPicPr>
          <p:cNvPr id="49" name="Picture 48" descr="lock.png"/>
          <p:cNvPicPr>
            <a:picLocks noChangeAspect="1"/>
          </p:cNvPicPr>
          <p:nvPr/>
        </p:nvPicPr>
        <p:blipFill>
          <a:blip r:embed="rId4"/>
          <a:stretch>
            <a:fillRect/>
          </a:stretch>
        </p:blipFill>
        <p:spPr>
          <a:xfrm>
            <a:off x="3798506" y="4597590"/>
            <a:ext cx="134549" cy="195707"/>
          </a:xfrm>
          <a:prstGeom prst="rect">
            <a:avLst/>
          </a:prstGeom>
        </p:spPr>
      </p:pic>
      <p:sp>
        <p:nvSpPr>
          <p:cNvPr id="50" name="TextBox 49"/>
          <p:cNvSpPr txBox="1"/>
          <p:nvPr/>
        </p:nvSpPr>
        <p:spPr>
          <a:xfrm>
            <a:off x="3973615"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035767" y="4597590"/>
            <a:ext cx="134549" cy="195707"/>
          </a:xfrm>
          <a:prstGeom prst="rect">
            <a:avLst/>
          </a:prstGeom>
        </p:spPr>
      </p:pic>
      <p:sp>
        <p:nvSpPr>
          <p:cNvPr id="52" name="TextBox 51"/>
          <p:cNvSpPr txBox="1"/>
          <p:nvPr/>
        </p:nvSpPr>
        <p:spPr>
          <a:xfrm>
            <a:off x="4210876" y="46078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59" name="TextBox 58"/>
          <p:cNvSpPr txBox="1"/>
          <p:nvPr/>
        </p:nvSpPr>
        <p:spPr>
          <a:xfrm>
            <a:off x="60293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0" name="TextBox 59"/>
          <p:cNvSpPr txBox="1"/>
          <p:nvPr/>
        </p:nvSpPr>
        <p:spPr>
          <a:xfrm>
            <a:off x="6029325" y="427482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64596"/>
            <a:ext cx="134549" cy="195707"/>
          </a:xfrm>
          <a:prstGeom prst="rect">
            <a:avLst/>
          </a:prstGeom>
        </p:spPr>
      </p:pic>
      <p:sp>
        <p:nvSpPr>
          <p:cNvPr id="62" name="TextBox 61"/>
          <p:cNvSpPr txBox="1"/>
          <p:nvPr/>
        </p:nvSpPr>
        <p:spPr>
          <a:xfrm>
            <a:off x="6510192" y="427482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45007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439856"/>
            <a:ext cx="134549" cy="195707"/>
          </a:xfrm>
          <a:prstGeom prst="rect">
            <a:avLst/>
          </a:prstGeom>
        </p:spPr>
      </p:pic>
      <p:sp>
        <p:nvSpPr>
          <p:cNvPr id="65" name="TextBox 64"/>
          <p:cNvSpPr txBox="1"/>
          <p:nvPr/>
        </p:nvSpPr>
        <p:spPr>
          <a:xfrm>
            <a:off x="6302527" y="44500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6253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8" name="TextBox 67"/>
          <p:cNvSpPr txBox="1"/>
          <p:nvPr/>
        </p:nvSpPr>
        <p:spPr>
          <a:xfrm>
            <a:off x="81248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9" name="TextBox 68"/>
          <p:cNvSpPr txBox="1"/>
          <p:nvPr/>
        </p:nvSpPr>
        <p:spPr>
          <a:xfrm>
            <a:off x="8124825" y="427482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64596"/>
            <a:ext cx="134549" cy="195707"/>
          </a:xfrm>
          <a:prstGeom prst="rect">
            <a:avLst/>
          </a:prstGeom>
        </p:spPr>
      </p:pic>
      <p:sp>
        <p:nvSpPr>
          <p:cNvPr id="71" name="TextBox 70"/>
          <p:cNvSpPr txBox="1"/>
          <p:nvPr/>
        </p:nvSpPr>
        <p:spPr>
          <a:xfrm>
            <a:off x="8938584" y="42748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64596"/>
            <a:ext cx="134549" cy="195707"/>
          </a:xfrm>
          <a:prstGeom prst="rect">
            <a:avLst/>
          </a:prstGeom>
        </p:spPr>
      </p:pic>
      <p:sp>
        <p:nvSpPr>
          <p:cNvPr id="73" name="TextBox 72"/>
          <p:cNvSpPr txBox="1"/>
          <p:nvPr/>
        </p:nvSpPr>
        <p:spPr>
          <a:xfrm>
            <a:off x="8124825" y="44500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6253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10360173"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North America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10585552" y="3714051"/>
            <a:ext cx="134549" cy="195707"/>
          </a:xfrm>
          <a:prstGeom prst="rect">
            <a:avLst/>
          </a:prstGeom>
        </p:spPr>
      </p:pic>
      <p:sp>
        <p:nvSpPr>
          <p:cNvPr id="23" name="TextBox 22"/>
          <p:cNvSpPr txBox="1"/>
          <p:nvPr/>
        </p:nvSpPr>
        <p:spPr>
          <a:xfrm>
            <a:off x="10760662" y="3724275"/>
            <a:ext cx="1107107" cy="194310"/>
          </a:xfrm>
          <a:prstGeom prst="rect">
            <a:avLst/>
          </a:prstGeom>
          <a:noFill/>
        </p:spPr>
        <p:txBody>
          <a:bodyPr wrap="none" lIns="0" rIns="0" tIns="0" bIns="0">
            <a:spAutoFit/>
          </a:bodyPr>
          <a:lstStyle/>
          <a:p>
            <a:r>
              <a:rPr sz="1150" b="0">
                <a:solidFill>
                  <a:srgbClr val="2E2E2E"/>
                </a:solidFill>
                <a:latin typeface="Calibri"/>
              </a:rPr>
              <a:t>Mn in 2036. 'Cast</a:t>
            </a:r>
          </a:p>
        </p:txBody>
      </p:sp>
      <p:sp>
        <p:nvSpPr>
          <p:cNvPr id="24" name="TextBox 23"/>
          <p:cNvSpPr txBox="1"/>
          <p:nvPr/>
        </p:nvSpPr>
        <p:spPr>
          <a:xfrm>
            <a:off x="276225" y="3899535"/>
            <a:ext cx="5471715" cy="194310"/>
          </a:xfrm>
          <a:prstGeom prst="rect">
            <a:avLst/>
          </a:prstGeom>
          <a:noFill/>
        </p:spPr>
        <p:txBody>
          <a:bodyPr wrap="none" lIns="0" rIns="0" tIns="0" bIns="0">
            <a:spAutoFit/>
          </a:bodyPr>
          <a:lstStyle/>
          <a:p>
            <a:r>
              <a:rPr sz="1150" b="0">
                <a:solidFill>
                  <a:srgbClr val="2E2E2E"/>
                </a:solidFill>
                <a:latin typeface="Calibri"/>
              </a:rPr>
              <a:t>Metal 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697094" y="3889311"/>
            <a:ext cx="134549" cy="195707"/>
          </a:xfrm>
          <a:prstGeom prst="rect">
            <a:avLst/>
          </a:prstGeom>
        </p:spPr>
      </p:pic>
      <p:sp>
        <p:nvSpPr>
          <p:cNvPr id="26" name="TextBox 25"/>
          <p:cNvSpPr txBox="1"/>
          <p:nvPr/>
        </p:nvSpPr>
        <p:spPr>
          <a:xfrm>
            <a:off x="5872203" y="3899535"/>
            <a:ext cx="5674245"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a:t>
            </a:r>
          </a:p>
        </p:txBody>
      </p:sp>
      <p:sp>
        <p:nvSpPr>
          <p:cNvPr id="27" name="TextBox 26"/>
          <p:cNvSpPr txBox="1"/>
          <p:nvPr/>
        </p:nvSpPr>
        <p:spPr>
          <a:xfrm>
            <a:off x="276225" y="4074794"/>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064571"/>
            <a:ext cx="134549" cy="195707"/>
          </a:xfrm>
          <a:prstGeom prst="rect">
            <a:avLst/>
          </a:prstGeom>
        </p:spPr>
      </p:pic>
      <p:sp>
        <p:nvSpPr>
          <p:cNvPr id="29" name="TextBox 28"/>
          <p:cNvSpPr txBox="1"/>
          <p:nvPr/>
        </p:nvSpPr>
        <p:spPr>
          <a:xfrm>
            <a:off x="1680156" y="407479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31" name="Picture 30" descr="lock.png"/>
          <p:cNvPicPr>
            <a:picLocks noChangeAspect="1"/>
          </p:cNvPicPr>
          <p:nvPr/>
        </p:nvPicPr>
        <p:blipFill>
          <a:blip r:embed="rId4"/>
          <a:stretch>
            <a:fillRect/>
          </a:stretch>
        </p:blipFill>
        <p:spPr>
          <a:xfrm>
            <a:off x="5957593" y="4292409"/>
            <a:ext cx="134549" cy="195707"/>
          </a:xfrm>
          <a:prstGeom prst="rect">
            <a:avLst/>
          </a:prstGeom>
        </p:spPr>
      </p:pic>
      <p:sp>
        <p:nvSpPr>
          <p:cNvPr id="32" name="TextBox 31"/>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21832" cy="194310"/>
          </a:xfrm>
          <a:prstGeom prst="rect">
            <a:avLst/>
          </a:prstGeom>
          <a:noFill/>
        </p:spPr>
        <p:txBody>
          <a:bodyPr wrap="none" lIns="0" rIns="0" tIns="0" bIns="0">
            <a:spAutoFit/>
          </a:bodyPr>
          <a:lstStyle/>
          <a:p>
            <a:r>
              <a:rPr sz="1150" b="0">
                <a:solidFill>
                  <a:srgbClr val="2E2E2E"/>
                </a:solidFill>
                <a:latin typeface="Calibri"/>
              </a:rPr>
              <a:t>▪ 'Heat-cured / Compression Processing' holds the highest share of</a:t>
            </a:r>
          </a:p>
        </p:txBody>
      </p:sp>
      <p:sp>
        <p:nvSpPr>
          <p:cNvPr id="26" name="TextBox 25"/>
          <p:cNvSpPr txBox="1"/>
          <p:nvPr/>
        </p:nvSpPr>
        <p:spPr>
          <a:xfrm>
            <a:off x="7715250" y="4099560"/>
            <a:ext cx="1924930" cy="194310"/>
          </a:xfrm>
          <a:prstGeom prst="rect">
            <a:avLst/>
          </a:prstGeom>
          <a:noFill/>
        </p:spPr>
        <p:txBody>
          <a:bodyPr wrap="none" lIns="0" rIns="0" tIns="0" bIns="0">
            <a:spAutoFit/>
          </a:bodyPr>
          <a:lstStyle/>
          <a:p>
            <a:r>
              <a:rPr sz="1150" b="0">
                <a:solidFill>
                  <a:srgbClr val="2E2E2E"/>
                </a:solidFill>
                <a:latin typeface="Calibri"/>
              </a:rPr>
              <a:t>'Cast Metal Partial Dentures' at</a:t>
            </a:r>
          </a:p>
        </p:txBody>
      </p:sp>
      <p:pic>
        <p:nvPicPr>
          <p:cNvPr id="27" name="Picture 26" descr="lock.png"/>
          <p:cNvPicPr>
            <a:picLocks noChangeAspect="1"/>
          </p:cNvPicPr>
          <p:nvPr/>
        </p:nvPicPr>
        <p:blipFill>
          <a:blip r:embed="rId5"/>
          <a:stretch>
            <a:fillRect/>
          </a:stretch>
        </p:blipFill>
        <p:spPr>
          <a:xfrm>
            <a:off x="9589334" y="4089336"/>
            <a:ext cx="134549" cy="195707"/>
          </a:xfrm>
          <a:prstGeom prst="rect">
            <a:avLst/>
          </a:prstGeom>
        </p:spPr>
      </p:pic>
      <p:sp>
        <p:nvSpPr>
          <p:cNvPr id="28" name="TextBox 27"/>
          <p:cNvSpPr txBox="1"/>
          <p:nvPr/>
        </p:nvSpPr>
        <p:spPr>
          <a:xfrm>
            <a:off x="976444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53344" cy="194310"/>
          </a:xfrm>
          <a:prstGeom prst="rect">
            <a:avLst/>
          </a:prstGeom>
          <a:noFill/>
        </p:spPr>
        <p:txBody>
          <a:bodyPr wrap="none" lIns="0" rIns="0" tIns="0" bIns="0">
            <a:spAutoFit/>
          </a:bodyPr>
          <a:lstStyle/>
          <a:p>
            <a:r>
              <a:rPr sz="1150" b="0">
                <a:solidFill>
                  <a:srgbClr val="2E2E2E"/>
                </a:solidFill>
                <a:latin typeface="Calibri"/>
              </a:rPr>
              <a:t>of its value via 'Heat-cured / Compression</a:t>
            </a:r>
          </a:p>
        </p:txBody>
      </p:sp>
      <p:sp>
        <p:nvSpPr>
          <p:cNvPr id="33" name="TextBox 32"/>
          <p:cNvSpPr txBox="1"/>
          <p:nvPr/>
        </p:nvSpPr>
        <p:spPr>
          <a:xfrm>
            <a:off x="7715250" y="4677917"/>
            <a:ext cx="776783" cy="194310"/>
          </a:xfrm>
          <a:prstGeom prst="rect">
            <a:avLst/>
          </a:prstGeom>
          <a:noFill/>
        </p:spPr>
        <p:txBody>
          <a:bodyPr wrap="none" lIns="0" rIns="0" tIns="0" bIns="0">
            <a:spAutoFit/>
          </a:bodyPr>
          <a:lstStyle/>
          <a:p>
            <a:r>
              <a:rPr sz="1150" b="0">
                <a:solidFill>
                  <a:srgbClr val="2E2E2E"/>
                </a:solidFill>
                <a:latin typeface="Calibri"/>
              </a:rPr>
              <a:t>Processing'.</a:t>
            </a:r>
          </a:p>
        </p:txBody>
      </p:sp>
      <p:sp>
        <p:nvSpPr>
          <p:cNvPr id="34" name="TextBox 33"/>
          <p:cNvSpPr txBox="1"/>
          <p:nvPr/>
        </p:nvSpPr>
        <p:spPr>
          <a:xfrm>
            <a:off x="7715250" y="490575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5" name="Picture 34" descr="lock.png"/>
          <p:cNvPicPr>
            <a:picLocks noChangeAspect="1"/>
          </p:cNvPicPr>
          <p:nvPr/>
        </p:nvPicPr>
        <p:blipFill>
          <a:blip r:embed="rId5"/>
          <a:stretch>
            <a:fillRect/>
          </a:stretch>
        </p:blipFill>
        <p:spPr>
          <a:xfrm>
            <a:off x="9151184" y="4895532"/>
            <a:ext cx="134549" cy="195707"/>
          </a:xfrm>
          <a:prstGeom prst="rect">
            <a:avLst/>
          </a:prstGeom>
        </p:spPr>
      </p:pic>
      <p:sp>
        <p:nvSpPr>
          <p:cNvPr id="36" name="TextBox 35"/>
          <p:cNvSpPr txBox="1"/>
          <p:nvPr/>
        </p:nvSpPr>
        <p:spPr>
          <a:xfrm>
            <a:off x="9326293" y="4905755"/>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7" name="TextBox 36"/>
          <p:cNvSpPr txBox="1"/>
          <p:nvPr/>
        </p:nvSpPr>
        <p:spPr>
          <a:xfrm>
            <a:off x="7715250" y="508101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8"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Patient Age Group</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Volume Overview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(UNITS)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3054374" cy="186689"/>
          </a:xfrm>
          <a:prstGeom prst="rect">
            <a:avLst/>
          </a:prstGeom>
          <a:noFill/>
        </p:spPr>
        <p:txBody>
          <a:bodyPr wrap="none" lIns="0" rIns="0" tIns="0" bIns="0">
            <a:spAutoFit/>
          </a:bodyPr>
          <a:lstStyle/>
          <a:p>
            <a:r>
              <a:rPr sz="1100" b="0">
                <a:solidFill>
                  <a:srgbClr val="2E2E2E"/>
                </a:solidFill>
                <a:latin typeface="Calibri"/>
              </a:rPr>
              <a:t>U.S.'s removable partial dentures market expands at</a:t>
            </a:r>
          </a:p>
        </p:txBody>
      </p:sp>
      <p:pic>
        <p:nvPicPr>
          <p:cNvPr id="42" name="Picture 41" descr="lock.png"/>
          <p:cNvPicPr>
            <a:picLocks noChangeAspect="1"/>
          </p:cNvPicPr>
          <p:nvPr/>
        </p:nvPicPr>
        <p:blipFill>
          <a:blip r:embed="rId8"/>
          <a:stretch>
            <a:fillRect/>
          </a:stretch>
        </p:blipFill>
        <p:spPr>
          <a:xfrm>
            <a:off x="11073911" y="2866771"/>
            <a:ext cx="128699" cy="187198"/>
          </a:xfrm>
          <a:prstGeom prst="rect">
            <a:avLst/>
          </a:prstGeom>
        </p:spPr>
      </p:pic>
      <p:sp>
        <p:nvSpPr>
          <p:cNvPr id="43" name="TextBox 42"/>
          <p:cNvSpPr txBox="1"/>
          <p:nvPr/>
        </p:nvSpPr>
        <p:spPr>
          <a:xfrm>
            <a:off x="11241407"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36366" cy="186689"/>
          </a:xfrm>
          <a:prstGeom prst="rect">
            <a:avLst/>
          </a:prstGeom>
          <a:noFill/>
        </p:spPr>
        <p:txBody>
          <a:bodyPr wrap="none" lIns="0" rIns="0" tIns="0" bIns="0">
            <a:spAutoFit/>
          </a:bodyPr>
          <a:lstStyle/>
          <a:p>
            <a:r>
              <a:rPr sz="1100" b="0">
                <a:solidFill>
                  <a:srgbClr val="2E2E2E"/>
                </a:solidFill>
                <a:latin typeface="Calibri"/>
              </a:rPr>
              <a:t>of the North America removable partial dentures market in</a:t>
            </a:r>
          </a:p>
        </p:txBody>
      </p:sp>
      <p:sp>
        <p:nvSpPr>
          <p:cNvPr id="54" name="TextBox 53"/>
          <p:cNvSpPr txBox="1"/>
          <p:nvPr/>
        </p:nvSpPr>
        <p:spPr>
          <a:xfrm>
            <a:off x="257175" y="6134100"/>
            <a:ext cx="2132136" cy="186689"/>
          </a:xfrm>
          <a:prstGeom prst="rect">
            <a:avLst/>
          </a:prstGeom>
          <a:noFill/>
        </p:spPr>
        <p:txBody>
          <a:bodyPr wrap="none" lIns="0" rIns="0" tIns="0" bIns="0">
            <a:spAutoFit/>
          </a:bodyPr>
          <a:lstStyle/>
          <a:p>
            <a:r>
              <a:rPr sz="1100" b="0">
                <a:solidFill>
                  <a:srgbClr val="2E2E2E"/>
                </a:solidFill>
                <a:latin typeface="Calibri"/>
              </a:rPr>
              <a:t>2026; by 2036 those shares move to</a:t>
            </a:r>
          </a:p>
        </p:txBody>
      </p:sp>
      <p:pic>
        <p:nvPicPr>
          <p:cNvPr id="55" name="Picture 54" descr="lock.png"/>
          <p:cNvPicPr>
            <a:picLocks noChangeAspect="1"/>
          </p:cNvPicPr>
          <p:nvPr/>
        </p:nvPicPr>
        <p:blipFill>
          <a:blip r:embed="rId8"/>
          <a:stretch>
            <a:fillRect/>
          </a:stretch>
        </p:blipFill>
        <p:spPr>
          <a:xfrm>
            <a:off x="2337363" y="6124320"/>
            <a:ext cx="128699" cy="187198"/>
          </a:xfrm>
          <a:prstGeom prst="rect">
            <a:avLst/>
          </a:prstGeom>
        </p:spPr>
      </p:pic>
      <p:sp>
        <p:nvSpPr>
          <p:cNvPr id="56" name="TextBox 55"/>
          <p:cNvSpPr txBox="1"/>
          <p:nvPr/>
        </p:nvSpPr>
        <p:spPr>
          <a:xfrm>
            <a:off x="2504858"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742753" y="6124320"/>
            <a:ext cx="128699" cy="187198"/>
          </a:xfrm>
          <a:prstGeom prst="rect">
            <a:avLst/>
          </a:prstGeom>
        </p:spPr>
      </p:pic>
      <p:sp>
        <p:nvSpPr>
          <p:cNvPr id="58" name="TextBox 57"/>
          <p:cNvSpPr txBox="1"/>
          <p:nvPr/>
        </p:nvSpPr>
        <p:spPr>
          <a:xfrm>
            <a:off x="2910249"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226271" cy="186689"/>
          </a:xfrm>
          <a:prstGeom prst="rect">
            <a:avLst/>
          </a:prstGeom>
          <a:noFill/>
        </p:spPr>
        <p:txBody>
          <a:bodyPr wrap="none" lIns="0" rIns="0" tIns="0" bIns="0">
            <a:spAutoFit/>
          </a:bodyPr>
          <a:lstStyle/>
          <a:p>
            <a:r>
              <a:rPr sz="1100" b="0">
                <a:solidFill>
                  <a:srgbClr val="2E2E2E"/>
                </a:solidFill>
                <a:latin typeface="Calibri"/>
              </a:rPr>
              <a:t>Units between 2026 and 2036 the U.S. market grows to</a:t>
            </a:r>
          </a:p>
        </p:txBody>
      </p:sp>
      <p:pic>
        <p:nvPicPr>
          <p:cNvPr id="62" name="Picture 61" descr="lock.png"/>
          <p:cNvPicPr>
            <a:picLocks noChangeAspect="1"/>
          </p:cNvPicPr>
          <p:nvPr/>
        </p:nvPicPr>
        <p:blipFill>
          <a:blip r:embed="rId8"/>
          <a:stretch>
            <a:fillRect/>
          </a:stretch>
        </p:blipFill>
        <p:spPr>
          <a:xfrm>
            <a:off x="11163349" y="5956680"/>
            <a:ext cx="128699" cy="187198"/>
          </a:xfrm>
          <a:prstGeom prst="rect">
            <a:avLst/>
          </a:prstGeom>
        </p:spPr>
      </p:pic>
      <p:sp>
        <p:nvSpPr>
          <p:cNvPr id="63" name="TextBox 62"/>
          <p:cNvSpPr txBox="1"/>
          <p:nvPr/>
        </p:nvSpPr>
        <p:spPr>
          <a:xfrm>
            <a:off x="11330845"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3054374" cy="186689"/>
          </a:xfrm>
          <a:prstGeom prst="rect">
            <a:avLst/>
          </a:prstGeom>
          <a:noFill/>
        </p:spPr>
        <p:txBody>
          <a:bodyPr wrap="none" lIns="0" rIns="0" tIns="0" bIns="0">
            <a:spAutoFit/>
          </a:bodyPr>
          <a:lstStyle/>
          <a:p>
            <a:r>
              <a:rPr sz="1100" b="0">
                <a:solidFill>
                  <a:srgbClr val="2E2E2E"/>
                </a:solidFill>
                <a:latin typeface="Calibri"/>
              </a:rPr>
              <a:t>U.S.'s removable partial dentures market expands at</a:t>
            </a:r>
          </a:p>
        </p:txBody>
      </p:sp>
      <p:pic>
        <p:nvPicPr>
          <p:cNvPr id="42" name="Picture 41" descr="lock.png"/>
          <p:cNvPicPr>
            <a:picLocks noChangeAspect="1"/>
          </p:cNvPicPr>
          <p:nvPr/>
        </p:nvPicPr>
        <p:blipFill>
          <a:blip r:embed="rId8"/>
          <a:stretch>
            <a:fillRect/>
          </a:stretch>
        </p:blipFill>
        <p:spPr>
          <a:xfrm>
            <a:off x="11073911" y="2866771"/>
            <a:ext cx="128699" cy="187198"/>
          </a:xfrm>
          <a:prstGeom prst="rect">
            <a:avLst/>
          </a:prstGeom>
        </p:spPr>
      </p:pic>
      <p:sp>
        <p:nvSpPr>
          <p:cNvPr id="43" name="TextBox 42"/>
          <p:cNvSpPr txBox="1"/>
          <p:nvPr/>
        </p:nvSpPr>
        <p:spPr>
          <a:xfrm>
            <a:off x="11241407"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36366" cy="186689"/>
          </a:xfrm>
          <a:prstGeom prst="rect">
            <a:avLst/>
          </a:prstGeom>
          <a:noFill/>
        </p:spPr>
        <p:txBody>
          <a:bodyPr wrap="none" lIns="0" rIns="0" tIns="0" bIns="0">
            <a:spAutoFit/>
          </a:bodyPr>
          <a:lstStyle/>
          <a:p>
            <a:r>
              <a:rPr sz="1100" b="0">
                <a:solidFill>
                  <a:srgbClr val="2E2E2E"/>
                </a:solidFill>
                <a:latin typeface="Calibri"/>
              </a:rPr>
              <a:t>of the North America removable partial dentures market in</a:t>
            </a:r>
          </a:p>
        </p:txBody>
      </p:sp>
      <p:sp>
        <p:nvSpPr>
          <p:cNvPr id="54" name="TextBox 53"/>
          <p:cNvSpPr txBox="1"/>
          <p:nvPr/>
        </p:nvSpPr>
        <p:spPr>
          <a:xfrm>
            <a:off x="257175" y="6134100"/>
            <a:ext cx="2132136" cy="186689"/>
          </a:xfrm>
          <a:prstGeom prst="rect">
            <a:avLst/>
          </a:prstGeom>
          <a:noFill/>
        </p:spPr>
        <p:txBody>
          <a:bodyPr wrap="none" lIns="0" rIns="0" tIns="0" bIns="0">
            <a:spAutoFit/>
          </a:bodyPr>
          <a:lstStyle/>
          <a:p>
            <a:r>
              <a:rPr sz="1100" b="0">
                <a:solidFill>
                  <a:srgbClr val="2E2E2E"/>
                </a:solidFill>
                <a:latin typeface="Calibri"/>
              </a:rPr>
              <a:t>2026; by 2036 those shares move to</a:t>
            </a:r>
          </a:p>
        </p:txBody>
      </p:sp>
      <p:pic>
        <p:nvPicPr>
          <p:cNvPr id="55" name="Picture 54" descr="lock.png"/>
          <p:cNvPicPr>
            <a:picLocks noChangeAspect="1"/>
          </p:cNvPicPr>
          <p:nvPr/>
        </p:nvPicPr>
        <p:blipFill>
          <a:blip r:embed="rId8"/>
          <a:stretch>
            <a:fillRect/>
          </a:stretch>
        </p:blipFill>
        <p:spPr>
          <a:xfrm>
            <a:off x="2337363" y="6124320"/>
            <a:ext cx="128699" cy="187198"/>
          </a:xfrm>
          <a:prstGeom prst="rect">
            <a:avLst/>
          </a:prstGeom>
        </p:spPr>
      </p:pic>
      <p:sp>
        <p:nvSpPr>
          <p:cNvPr id="56" name="TextBox 55"/>
          <p:cNvSpPr txBox="1"/>
          <p:nvPr/>
        </p:nvSpPr>
        <p:spPr>
          <a:xfrm>
            <a:off x="2504858"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742753" y="6124320"/>
            <a:ext cx="128699" cy="187198"/>
          </a:xfrm>
          <a:prstGeom prst="rect">
            <a:avLst/>
          </a:prstGeom>
        </p:spPr>
      </p:pic>
      <p:sp>
        <p:nvSpPr>
          <p:cNvPr id="58" name="TextBox 57"/>
          <p:cNvSpPr txBox="1"/>
          <p:nvPr/>
        </p:nvSpPr>
        <p:spPr>
          <a:xfrm>
            <a:off x="2910249"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882640"/>
            <a:ext cx="3103215" cy="186689"/>
          </a:xfrm>
          <a:prstGeom prst="rect">
            <a:avLst/>
          </a:prstGeom>
          <a:noFill/>
        </p:spPr>
        <p:txBody>
          <a:bodyPr wrap="none" lIns="0" rIns="0" tIns="0" bIns="0">
            <a:spAutoFit/>
          </a:bodyPr>
          <a:lstStyle/>
          <a:p>
            <a:r>
              <a:rPr sz="1100" b="0">
                <a:solidFill>
                  <a:srgbClr val="2E2E2E"/>
                </a:solidFill>
                <a:latin typeface="Calibri"/>
              </a:rPr>
              <a:t>The market in the U.S. is expected to account for US$</a:t>
            </a:r>
          </a:p>
        </p:txBody>
      </p:sp>
      <p:pic>
        <p:nvPicPr>
          <p:cNvPr id="60" name="Picture 59" descr="lock.png"/>
          <p:cNvPicPr>
            <a:picLocks noChangeAspect="1"/>
          </p:cNvPicPr>
          <p:nvPr/>
        </p:nvPicPr>
        <p:blipFill>
          <a:blip r:embed="rId8"/>
          <a:stretch>
            <a:fillRect/>
          </a:stretch>
        </p:blipFill>
        <p:spPr>
          <a:xfrm>
            <a:off x="9337766" y="5872860"/>
            <a:ext cx="128699" cy="187198"/>
          </a:xfrm>
          <a:prstGeom prst="rect">
            <a:avLst/>
          </a:prstGeom>
        </p:spPr>
      </p:pic>
      <p:sp>
        <p:nvSpPr>
          <p:cNvPr id="61" name="TextBox 60"/>
          <p:cNvSpPr txBox="1"/>
          <p:nvPr/>
        </p:nvSpPr>
        <p:spPr>
          <a:xfrm>
            <a:off x="9505262" y="58826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62" name="Picture 61" descr="lock.png"/>
          <p:cNvPicPr>
            <a:picLocks noChangeAspect="1"/>
          </p:cNvPicPr>
          <p:nvPr/>
        </p:nvPicPr>
        <p:blipFill>
          <a:blip r:embed="rId8"/>
          <a:stretch>
            <a:fillRect/>
          </a:stretch>
        </p:blipFill>
        <p:spPr>
          <a:xfrm>
            <a:off x="10948871" y="5872860"/>
            <a:ext cx="128699" cy="187198"/>
          </a:xfrm>
          <a:prstGeom prst="rect">
            <a:avLst/>
          </a:prstGeom>
        </p:spPr>
      </p:pic>
      <p:sp>
        <p:nvSpPr>
          <p:cNvPr id="63" name="TextBox 62"/>
          <p:cNvSpPr txBox="1"/>
          <p:nvPr/>
        </p:nvSpPr>
        <p:spPr>
          <a:xfrm>
            <a:off x="11116366" y="5882640"/>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4" name="TextBox 63"/>
          <p:cNvSpPr txBox="1"/>
          <p:nvPr/>
        </p:nvSpPr>
        <p:spPr>
          <a:xfrm>
            <a:off x="6286500" y="6050280"/>
            <a:ext cx="4694758" cy="186689"/>
          </a:xfrm>
          <a:prstGeom prst="rect">
            <a:avLst/>
          </a:prstGeom>
          <a:noFill/>
        </p:spPr>
        <p:txBody>
          <a:bodyPr wrap="none" lIns="0" rIns="0" tIns="0" bIns="0">
            <a:spAutoFit/>
          </a:bodyPr>
          <a:lstStyle/>
          <a:p>
            <a:r>
              <a:rPr sz="1100" b="0">
                <a:solidFill>
                  <a:srgbClr val="2E2E2E"/>
                </a:solidFill>
                <a:latin typeface="Calibri"/>
              </a:rPr>
              <a:t>forecast period. The U.S. is expected to create an incremental opportunity of US$</a:t>
            </a:r>
          </a:p>
        </p:txBody>
      </p:sp>
      <p:pic>
        <p:nvPicPr>
          <p:cNvPr id="65" name="Picture 64" descr="lock.png"/>
          <p:cNvPicPr>
            <a:picLocks noChangeAspect="1"/>
          </p:cNvPicPr>
          <p:nvPr/>
        </p:nvPicPr>
        <p:blipFill>
          <a:blip r:embed="rId8"/>
          <a:stretch>
            <a:fillRect/>
          </a:stretch>
        </p:blipFill>
        <p:spPr>
          <a:xfrm>
            <a:off x="10929309" y="6040501"/>
            <a:ext cx="128699" cy="187198"/>
          </a:xfrm>
          <a:prstGeom prst="rect">
            <a:avLst/>
          </a:prstGeom>
        </p:spPr>
      </p:pic>
      <p:sp>
        <p:nvSpPr>
          <p:cNvPr id="66" name="TextBox 65"/>
          <p:cNvSpPr txBox="1"/>
          <p:nvPr/>
        </p:nvSpPr>
        <p:spPr>
          <a:xfrm>
            <a:off x="11096805" y="6050280"/>
            <a:ext cx="687387" cy="186689"/>
          </a:xfrm>
          <a:prstGeom prst="rect">
            <a:avLst/>
          </a:prstGeom>
          <a:noFill/>
        </p:spPr>
        <p:txBody>
          <a:bodyPr wrap="none" lIns="0" rIns="0" tIns="0" bIns="0">
            <a:spAutoFit/>
          </a:bodyPr>
          <a:lstStyle/>
          <a:p>
            <a:r>
              <a:rPr sz="1100" b="0">
                <a:solidFill>
                  <a:srgbClr val="2E2E2E"/>
                </a:solidFill>
                <a:latin typeface="Calibri"/>
              </a:rPr>
              <a:t>Mn for the</a:t>
            </a:r>
          </a:p>
        </p:txBody>
      </p:sp>
      <p:sp>
        <p:nvSpPr>
          <p:cNvPr id="67" name="TextBox 66"/>
          <p:cNvSpPr txBox="1"/>
          <p:nvPr/>
        </p:nvSpPr>
        <p:spPr>
          <a:xfrm>
            <a:off x="6286500" y="6217920"/>
            <a:ext cx="3608809" cy="186689"/>
          </a:xfrm>
          <a:prstGeom prst="rect">
            <a:avLst/>
          </a:prstGeom>
          <a:noFill/>
        </p:spPr>
        <p:txBody>
          <a:bodyPr wrap="none" lIns="0" rIns="0" tIns="0" bIns="0">
            <a:spAutoFit/>
          </a:bodyPr>
          <a:lstStyle/>
          <a:p>
            <a:r>
              <a:rPr sz="1100" b="0">
                <a:solidFill>
                  <a:srgbClr val="2E2E2E"/>
                </a:solidFill>
                <a:latin typeface="Calibri"/>
              </a:rPr>
              <a:t>overall removable partial dentures market from 2025 to 2036.</a:t>
            </a:r>
          </a:p>
        </p:txBody>
      </p:sp>
      <p:sp>
        <p:nvSpPr>
          <p:cNvPr id="68"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(US$ Mn)</a:t>
            </a:r>
          </a:p>
        </p:txBody>
      </p:sp>
      <p:graphicFrame>
        <p:nvGraphicFramePr>
          <p:cNvPr id="16" name="Chart 15"/>
          <p:cNvGraphicFramePr>
            <a:graphicFrameLocks noGrp="1"/>
          </p:cNvGraphicFramePr>
          <p:nvPr/>
        </p:nvGraphicFramePr>
        <p:xfrm>
          <a:off x="3248025" y="1266825"/>
          <a:ext cx="2667000" cy="135255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(US$ Mn)</a:t>
            </a:r>
          </a:p>
        </p:txBody>
      </p:sp>
      <p:graphicFrame>
        <p:nvGraphicFramePr>
          <p:cNvPr id="28" name="Chart 27"/>
          <p:cNvGraphicFramePr>
            <a:graphicFrameLocks noGrp="1"/>
          </p:cNvGraphicFramePr>
          <p:nvPr/>
        </p:nvGraphicFramePr>
        <p:xfrm>
          <a:off x="3324225" y="3095625"/>
          <a:ext cx="2743200" cy="135255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4" name="Picture 33" descr="lock.png"/>
          <p:cNvPicPr>
            <a:picLocks noChangeAspect="1"/>
          </p:cNvPicPr>
          <p:nvPr/>
        </p:nvPicPr>
        <p:blipFill>
          <a:blip r:embed="rId10"/>
          <a:stretch>
            <a:fillRect/>
          </a:stretch>
        </p:blipFill>
        <p:spPr>
          <a:xfrm>
            <a:off x="1811655" y="1724025"/>
            <a:ext cx="183356" cy="266700"/>
          </a:xfrm>
          <a:prstGeom prst="rect">
            <a:avLst/>
          </a:prstGeom>
        </p:spPr>
      </p:pic>
      <p:pic>
        <p:nvPicPr>
          <p:cNvPr id="35" name="Picture 34" descr="lock.png"/>
          <p:cNvPicPr>
            <a:picLocks noChangeAspect="1"/>
          </p:cNvPicPr>
          <p:nvPr/>
        </p:nvPicPr>
        <p:blipFill>
          <a:blip r:embed="rId10"/>
          <a:stretch>
            <a:fillRect/>
          </a:stretch>
        </p:blipFill>
        <p:spPr>
          <a:xfrm>
            <a:off x="4821555" y="1724025"/>
            <a:ext cx="183356" cy="266700"/>
          </a:xfrm>
          <a:prstGeom prst="rect">
            <a:avLst/>
          </a:prstGeom>
        </p:spPr>
      </p:pic>
      <p:pic>
        <p:nvPicPr>
          <p:cNvPr id="36" name="Picture 35" descr="lock.png"/>
          <p:cNvPicPr>
            <a:picLocks noChangeAspect="1"/>
          </p:cNvPicPr>
          <p:nvPr/>
        </p:nvPicPr>
        <p:blipFill>
          <a:blip r:embed="rId10"/>
          <a:stretch>
            <a:fillRect/>
          </a:stretch>
        </p:blipFill>
        <p:spPr>
          <a:xfrm>
            <a:off x="7831455" y="1724025"/>
            <a:ext cx="183356" cy="266700"/>
          </a:xfrm>
          <a:prstGeom prst="rect">
            <a:avLst/>
          </a:prstGeom>
        </p:spPr>
      </p:pic>
      <p:pic>
        <p:nvPicPr>
          <p:cNvPr id="37" name="Picture 36" descr="lock.png"/>
          <p:cNvPicPr>
            <a:picLocks noChangeAspect="1"/>
          </p:cNvPicPr>
          <p:nvPr/>
        </p:nvPicPr>
        <p:blipFill>
          <a:blip r:embed="rId10"/>
          <a:stretch>
            <a:fillRect/>
          </a:stretch>
        </p:blipFill>
        <p:spPr>
          <a:xfrm>
            <a:off x="10841355" y="1724025"/>
            <a:ext cx="183356" cy="266700"/>
          </a:xfrm>
          <a:prstGeom prst="rect">
            <a:avLst/>
          </a:prstGeom>
        </p:spPr>
      </p:pic>
      <p:pic>
        <p:nvPicPr>
          <p:cNvPr id="38" name="Picture 37" descr="lock.png"/>
          <p:cNvPicPr>
            <a:picLocks noChangeAspect="1"/>
          </p:cNvPicPr>
          <p:nvPr/>
        </p:nvPicPr>
        <p:blipFill>
          <a:blip r:embed="rId10"/>
          <a:stretch>
            <a:fillRect/>
          </a:stretch>
        </p:blipFill>
        <p:spPr>
          <a:xfrm>
            <a:off x="1849755" y="3552825"/>
            <a:ext cx="183356" cy="266700"/>
          </a:xfrm>
          <a:prstGeom prst="rect">
            <a:avLst/>
          </a:prstGeom>
        </p:spPr>
      </p:pic>
      <p:pic>
        <p:nvPicPr>
          <p:cNvPr id="39" name="Picture 38" descr="lock.png"/>
          <p:cNvPicPr>
            <a:picLocks noChangeAspect="1"/>
          </p:cNvPicPr>
          <p:nvPr/>
        </p:nvPicPr>
        <p:blipFill>
          <a:blip r:embed="rId10"/>
          <a:stretch>
            <a:fillRect/>
          </a:stretch>
        </p:blipFill>
        <p:spPr>
          <a:xfrm>
            <a:off x="4935855" y="3552825"/>
            <a:ext cx="183356" cy="266700"/>
          </a:xfrm>
          <a:prstGeom prst="rect">
            <a:avLst/>
          </a:prstGeom>
        </p:spPr>
      </p:pic>
      <p:sp>
        <p:nvSpPr>
          <p:cNvPr id="40" name="TextBox 39"/>
          <p:cNvSpPr txBox="1"/>
          <p:nvPr/>
        </p:nvSpPr>
        <p:spPr>
          <a:xfrm>
            <a:off x="276225" y="47339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41" name="Picture 40" descr="lock.png"/>
          <p:cNvPicPr>
            <a:picLocks noChangeAspect="1"/>
          </p:cNvPicPr>
          <p:nvPr/>
        </p:nvPicPr>
        <p:blipFill>
          <a:blip r:embed="rId10"/>
          <a:stretch>
            <a:fillRect/>
          </a:stretch>
        </p:blipFill>
        <p:spPr>
          <a:xfrm>
            <a:off x="1688698" y="4725603"/>
            <a:ext cx="109510" cy="159288"/>
          </a:xfrm>
          <a:prstGeom prst="rect">
            <a:avLst/>
          </a:prstGeom>
        </p:spPr>
      </p:pic>
      <p:sp>
        <p:nvSpPr>
          <p:cNvPr id="42" name="TextBox 41"/>
          <p:cNvSpPr txBox="1"/>
          <p:nvPr/>
        </p:nvSpPr>
        <p:spPr>
          <a:xfrm>
            <a:off x="1831222" y="47339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43" name="TextBox 42"/>
          <p:cNvSpPr txBox="1"/>
          <p:nvPr/>
        </p:nvSpPr>
        <p:spPr>
          <a:xfrm>
            <a:off x="276225" y="5057775"/>
            <a:ext cx="2949895" cy="179984"/>
          </a:xfrm>
          <a:prstGeom prst="rect">
            <a:avLst/>
          </a:prstGeom>
          <a:noFill/>
        </p:spPr>
        <p:txBody>
          <a:bodyPr wrap="none" lIns="0" rIns="0" tIns="0" bIns="0">
            <a:spAutoFit/>
          </a:bodyPr>
          <a:lstStyle/>
          <a:p>
            <a:r>
              <a:rPr sz="1055" b="0">
                <a:solidFill>
                  <a:srgbClr val="2E2E2E"/>
                </a:solidFill>
                <a:latin typeface="Calibri"/>
              </a:rPr>
              <a:t>▪ By Product Type, 'Flexible Partial Dentures' leads at</a:t>
            </a:r>
          </a:p>
        </p:txBody>
      </p:sp>
      <p:pic>
        <p:nvPicPr>
          <p:cNvPr id="44" name="Picture 43" descr="lock.png"/>
          <p:cNvPicPr>
            <a:picLocks noChangeAspect="1"/>
          </p:cNvPicPr>
          <p:nvPr/>
        </p:nvPicPr>
        <p:blipFill>
          <a:blip r:embed="rId10"/>
          <a:stretch>
            <a:fillRect/>
          </a:stretch>
        </p:blipFill>
        <p:spPr>
          <a:xfrm>
            <a:off x="3173202" y="5048387"/>
            <a:ext cx="123551" cy="179710"/>
          </a:xfrm>
          <a:prstGeom prst="rect">
            <a:avLst/>
          </a:prstGeom>
        </p:spPr>
      </p:pic>
      <p:sp>
        <p:nvSpPr>
          <p:cNvPr id="45" name="TextBox 44"/>
          <p:cNvSpPr txBox="1"/>
          <p:nvPr/>
        </p:nvSpPr>
        <p:spPr>
          <a:xfrm>
            <a:off x="3333998" y="5057775"/>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46" name="Picture 45" descr="lock.png"/>
          <p:cNvPicPr>
            <a:picLocks noChangeAspect="1"/>
          </p:cNvPicPr>
          <p:nvPr/>
        </p:nvPicPr>
        <p:blipFill>
          <a:blip r:embed="rId10"/>
          <a:stretch>
            <a:fillRect/>
          </a:stretch>
        </p:blipFill>
        <p:spPr>
          <a:xfrm>
            <a:off x="3859676" y="5048387"/>
            <a:ext cx="123551" cy="179710"/>
          </a:xfrm>
          <a:prstGeom prst="rect">
            <a:avLst/>
          </a:prstGeom>
        </p:spPr>
      </p:pic>
      <p:sp>
        <p:nvSpPr>
          <p:cNvPr id="47" name="TextBox 46"/>
          <p:cNvSpPr txBox="1"/>
          <p:nvPr/>
        </p:nvSpPr>
        <p:spPr>
          <a:xfrm>
            <a:off x="4020472" y="5057775"/>
            <a:ext cx="3387613" cy="179984"/>
          </a:xfrm>
          <a:prstGeom prst="rect">
            <a:avLst/>
          </a:prstGeom>
          <a:noFill/>
        </p:spPr>
        <p:txBody>
          <a:bodyPr wrap="none" lIns="0" rIns="0" tIns="0" bIns="0">
            <a:spAutoFit/>
          </a:bodyPr>
          <a:lstStyle/>
          <a:p>
            <a:r>
              <a:rPr sz="1055" b="0">
                <a:solidFill>
                  <a:srgbClr val="2E2E2E"/>
                </a:solidFill>
                <a:latin typeface="Calibri"/>
              </a:rPr>
              <a:t>share), ahead of 'Combination Framework Partial Dentures' (</a:t>
            </a:r>
          </a:p>
        </p:txBody>
      </p:sp>
      <p:pic>
        <p:nvPicPr>
          <p:cNvPr id="48" name="Picture 47" descr="lock.png"/>
          <p:cNvPicPr>
            <a:picLocks noChangeAspect="1"/>
          </p:cNvPicPr>
          <p:nvPr/>
        </p:nvPicPr>
        <p:blipFill>
          <a:blip r:embed="rId10"/>
          <a:stretch>
            <a:fillRect/>
          </a:stretch>
        </p:blipFill>
        <p:spPr>
          <a:xfrm>
            <a:off x="7355167" y="5048387"/>
            <a:ext cx="123551" cy="179710"/>
          </a:xfrm>
          <a:prstGeom prst="rect">
            <a:avLst/>
          </a:prstGeom>
        </p:spPr>
      </p:pic>
      <p:sp>
        <p:nvSpPr>
          <p:cNvPr id="49" name="TextBox 48"/>
          <p:cNvSpPr txBox="1"/>
          <p:nvPr/>
        </p:nvSpPr>
        <p:spPr>
          <a:xfrm>
            <a:off x="7515963" y="5057775"/>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0" name="TextBox 49"/>
          <p:cNvSpPr txBox="1"/>
          <p:nvPr/>
        </p:nvSpPr>
        <p:spPr>
          <a:xfrm>
            <a:off x="276225" y="5266989"/>
            <a:ext cx="2420258" cy="179984"/>
          </a:xfrm>
          <a:prstGeom prst="rect">
            <a:avLst/>
          </a:prstGeom>
          <a:noFill/>
        </p:spPr>
        <p:txBody>
          <a:bodyPr wrap="none" lIns="0" rIns="0" tIns="0" bIns="0">
            <a:spAutoFit/>
          </a:bodyPr>
          <a:lstStyle/>
          <a:p>
            <a:r>
              <a:rPr sz="1055" b="0">
                <a:solidFill>
                  <a:srgbClr val="2E2E2E"/>
                </a:solidFill>
                <a:latin typeface="Calibri"/>
              </a:rPr>
              <a:t>▪ By Material Type, 'Acrylic / Resin' leads at</a:t>
            </a:r>
          </a:p>
        </p:txBody>
      </p:sp>
      <p:pic>
        <p:nvPicPr>
          <p:cNvPr id="51" name="Picture 50" descr="lock.png"/>
          <p:cNvPicPr>
            <a:picLocks noChangeAspect="1"/>
          </p:cNvPicPr>
          <p:nvPr/>
        </p:nvPicPr>
        <p:blipFill>
          <a:blip r:embed="rId10"/>
          <a:stretch>
            <a:fillRect/>
          </a:stretch>
        </p:blipFill>
        <p:spPr>
          <a:xfrm>
            <a:off x="2643564" y="5257601"/>
            <a:ext cx="123551" cy="179710"/>
          </a:xfrm>
          <a:prstGeom prst="rect">
            <a:avLst/>
          </a:prstGeom>
        </p:spPr>
      </p:pic>
      <p:sp>
        <p:nvSpPr>
          <p:cNvPr id="52" name="TextBox 51"/>
          <p:cNvSpPr txBox="1"/>
          <p:nvPr/>
        </p:nvSpPr>
        <p:spPr>
          <a:xfrm>
            <a:off x="2804360" y="526698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53" name="Picture 52" descr="lock.png"/>
          <p:cNvPicPr>
            <a:picLocks noChangeAspect="1"/>
          </p:cNvPicPr>
          <p:nvPr/>
        </p:nvPicPr>
        <p:blipFill>
          <a:blip r:embed="rId10"/>
          <a:stretch>
            <a:fillRect/>
          </a:stretch>
        </p:blipFill>
        <p:spPr>
          <a:xfrm>
            <a:off x="3330038" y="5257601"/>
            <a:ext cx="123551" cy="179710"/>
          </a:xfrm>
          <a:prstGeom prst="rect">
            <a:avLst/>
          </a:prstGeom>
        </p:spPr>
      </p:pic>
      <p:sp>
        <p:nvSpPr>
          <p:cNvPr id="54" name="TextBox 53"/>
          <p:cNvSpPr txBox="1"/>
          <p:nvPr/>
        </p:nvSpPr>
        <p:spPr>
          <a:xfrm>
            <a:off x="3490834" y="5266989"/>
            <a:ext cx="1795295" cy="179984"/>
          </a:xfrm>
          <a:prstGeom prst="rect">
            <a:avLst/>
          </a:prstGeom>
          <a:noFill/>
        </p:spPr>
        <p:txBody>
          <a:bodyPr wrap="none" lIns="0" rIns="0" tIns="0" bIns="0">
            <a:spAutoFit/>
          </a:bodyPr>
          <a:lstStyle/>
          <a:p>
            <a:r>
              <a:rPr sz="1055" b="0">
                <a:solidFill>
                  <a:srgbClr val="2E2E2E"/>
                </a:solidFill>
                <a:latin typeface="Calibri"/>
              </a:rPr>
              <a:t>share), ahead of 'Metal Alloys' (</a:t>
            </a:r>
          </a:p>
        </p:txBody>
      </p:sp>
      <p:pic>
        <p:nvPicPr>
          <p:cNvPr id="55" name="Picture 54" descr="lock.png"/>
          <p:cNvPicPr>
            <a:picLocks noChangeAspect="1"/>
          </p:cNvPicPr>
          <p:nvPr/>
        </p:nvPicPr>
        <p:blipFill>
          <a:blip r:embed="rId10"/>
          <a:stretch>
            <a:fillRect/>
          </a:stretch>
        </p:blipFill>
        <p:spPr>
          <a:xfrm>
            <a:off x="5233211" y="5257601"/>
            <a:ext cx="123551" cy="179710"/>
          </a:xfrm>
          <a:prstGeom prst="rect">
            <a:avLst/>
          </a:prstGeom>
        </p:spPr>
      </p:pic>
      <p:sp>
        <p:nvSpPr>
          <p:cNvPr id="56" name="TextBox 55"/>
          <p:cNvSpPr txBox="1"/>
          <p:nvPr/>
        </p:nvSpPr>
        <p:spPr>
          <a:xfrm>
            <a:off x="5394007" y="526698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7" name="TextBox 56"/>
          <p:cNvSpPr txBox="1"/>
          <p:nvPr/>
        </p:nvSpPr>
        <p:spPr>
          <a:xfrm>
            <a:off x="276225" y="5476204"/>
            <a:ext cx="2512402" cy="179984"/>
          </a:xfrm>
          <a:prstGeom prst="rect">
            <a:avLst/>
          </a:prstGeom>
          <a:noFill/>
        </p:spPr>
        <p:txBody>
          <a:bodyPr wrap="none" lIns="0" rIns="0" tIns="0" bIns="0">
            <a:spAutoFit/>
          </a:bodyPr>
          <a:lstStyle/>
          <a:p>
            <a:r>
              <a:rPr sz="1055" b="0">
                <a:solidFill>
                  <a:srgbClr val="2E2E2E"/>
                </a:solidFill>
                <a:latin typeface="Calibri"/>
              </a:rPr>
              <a:t>▪ By Technology, 'Digital Fabrication' leads at</a:t>
            </a:r>
          </a:p>
        </p:txBody>
      </p:sp>
      <p:pic>
        <p:nvPicPr>
          <p:cNvPr id="58" name="Picture 57" descr="lock.png"/>
          <p:cNvPicPr>
            <a:picLocks noChangeAspect="1"/>
          </p:cNvPicPr>
          <p:nvPr/>
        </p:nvPicPr>
        <p:blipFill>
          <a:blip r:embed="rId10"/>
          <a:stretch>
            <a:fillRect/>
          </a:stretch>
        </p:blipFill>
        <p:spPr>
          <a:xfrm>
            <a:off x="2735709" y="5466816"/>
            <a:ext cx="123551" cy="179710"/>
          </a:xfrm>
          <a:prstGeom prst="rect">
            <a:avLst/>
          </a:prstGeom>
        </p:spPr>
      </p:pic>
      <p:sp>
        <p:nvSpPr>
          <p:cNvPr id="59" name="TextBox 58"/>
          <p:cNvSpPr txBox="1"/>
          <p:nvPr/>
        </p:nvSpPr>
        <p:spPr>
          <a:xfrm>
            <a:off x="2896505" y="5476204"/>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0" name="Picture 59" descr="lock.png"/>
          <p:cNvPicPr>
            <a:picLocks noChangeAspect="1"/>
          </p:cNvPicPr>
          <p:nvPr/>
        </p:nvPicPr>
        <p:blipFill>
          <a:blip r:embed="rId10"/>
          <a:stretch>
            <a:fillRect/>
          </a:stretch>
        </p:blipFill>
        <p:spPr>
          <a:xfrm>
            <a:off x="3422183" y="5466816"/>
            <a:ext cx="123551" cy="179710"/>
          </a:xfrm>
          <a:prstGeom prst="rect">
            <a:avLst/>
          </a:prstGeom>
        </p:spPr>
      </p:pic>
      <p:sp>
        <p:nvSpPr>
          <p:cNvPr id="61" name="TextBox 60"/>
          <p:cNvSpPr txBox="1"/>
          <p:nvPr/>
        </p:nvSpPr>
        <p:spPr>
          <a:xfrm>
            <a:off x="3582979" y="5476204"/>
            <a:ext cx="2485181" cy="179984"/>
          </a:xfrm>
          <a:prstGeom prst="rect">
            <a:avLst/>
          </a:prstGeom>
          <a:noFill/>
        </p:spPr>
        <p:txBody>
          <a:bodyPr wrap="none" lIns="0" rIns="0" tIns="0" bIns="0">
            <a:spAutoFit/>
          </a:bodyPr>
          <a:lstStyle/>
          <a:p>
            <a:r>
              <a:rPr sz="1055" b="0">
                <a:solidFill>
                  <a:srgbClr val="2E2E2E"/>
                </a:solidFill>
                <a:latin typeface="Calibri"/>
              </a:rPr>
              <a:t>share), ahead of 'Conventional Fabrication' (</a:t>
            </a:r>
          </a:p>
        </p:txBody>
      </p:sp>
      <p:pic>
        <p:nvPicPr>
          <p:cNvPr id="62" name="Picture 61" descr="lock.png"/>
          <p:cNvPicPr>
            <a:picLocks noChangeAspect="1"/>
          </p:cNvPicPr>
          <p:nvPr/>
        </p:nvPicPr>
        <p:blipFill>
          <a:blip r:embed="rId10"/>
          <a:stretch>
            <a:fillRect/>
          </a:stretch>
        </p:blipFill>
        <p:spPr>
          <a:xfrm>
            <a:off x="6015242" y="5466816"/>
            <a:ext cx="123551" cy="179710"/>
          </a:xfrm>
          <a:prstGeom prst="rect">
            <a:avLst/>
          </a:prstGeom>
        </p:spPr>
      </p:pic>
      <p:sp>
        <p:nvSpPr>
          <p:cNvPr id="63" name="TextBox 62"/>
          <p:cNvSpPr txBox="1"/>
          <p:nvPr/>
        </p:nvSpPr>
        <p:spPr>
          <a:xfrm>
            <a:off x="6176038" y="5476204"/>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64" name="TextBox 63"/>
          <p:cNvSpPr txBox="1"/>
          <p:nvPr/>
        </p:nvSpPr>
        <p:spPr>
          <a:xfrm>
            <a:off x="276225" y="5685419"/>
            <a:ext cx="2460858" cy="179984"/>
          </a:xfrm>
          <a:prstGeom prst="rect">
            <a:avLst/>
          </a:prstGeom>
          <a:noFill/>
        </p:spPr>
        <p:txBody>
          <a:bodyPr wrap="none" lIns="0" rIns="0" tIns="0" bIns="0">
            <a:spAutoFit/>
          </a:bodyPr>
          <a:lstStyle/>
          <a:p>
            <a:r>
              <a:rPr sz="1055" b="0">
                <a:solidFill>
                  <a:srgbClr val="2E2E2E"/>
                </a:solidFill>
                <a:latin typeface="Calibri"/>
              </a:rPr>
              <a:t>▪ By End User, 'Dental Laboratories' leads at</a:t>
            </a:r>
          </a:p>
        </p:txBody>
      </p:sp>
      <p:pic>
        <p:nvPicPr>
          <p:cNvPr id="65" name="Picture 64" descr="lock.png"/>
          <p:cNvPicPr>
            <a:picLocks noChangeAspect="1"/>
          </p:cNvPicPr>
          <p:nvPr/>
        </p:nvPicPr>
        <p:blipFill>
          <a:blip r:embed="rId10"/>
          <a:stretch>
            <a:fillRect/>
          </a:stretch>
        </p:blipFill>
        <p:spPr>
          <a:xfrm>
            <a:off x="2684165" y="5676031"/>
            <a:ext cx="123551" cy="179710"/>
          </a:xfrm>
          <a:prstGeom prst="rect">
            <a:avLst/>
          </a:prstGeom>
        </p:spPr>
      </p:pic>
      <p:sp>
        <p:nvSpPr>
          <p:cNvPr id="66" name="TextBox 65"/>
          <p:cNvSpPr txBox="1"/>
          <p:nvPr/>
        </p:nvSpPr>
        <p:spPr>
          <a:xfrm>
            <a:off x="2844961" y="568541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7" name="Picture 66" descr="lock.png"/>
          <p:cNvPicPr>
            <a:picLocks noChangeAspect="1"/>
          </p:cNvPicPr>
          <p:nvPr/>
        </p:nvPicPr>
        <p:blipFill>
          <a:blip r:embed="rId10"/>
          <a:stretch>
            <a:fillRect/>
          </a:stretch>
        </p:blipFill>
        <p:spPr>
          <a:xfrm>
            <a:off x="3370638" y="5676031"/>
            <a:ext cx="123551" cy="179710"/>
          </a:xfrm>
          <a:prstGeom prst="rect">
            <a:avLst/>
          </a:prstGeom>
        </p:spPr>
      </p:pic>
      <p:sp>
        <p:nvSpPr>
          <p:cNvPr id="68" name="TextBox 67"/>
          <p:cNvSpPr txBox="1"/>
          <p:nvPr/>
        </p:nvSpPr>
        <p:spPr>
          <a:xfrm>
            <a:off x="3531434" y="5685419"/>
            <a:ext cx="3329463" cy="179984"/>
          </a:xfrm>
          <a:prstGeom prst="rect">
            <a:avLst/>
          </a:prstGeom>
          <a:noFill/>
        </p:spPr>
        <p:txBody>
          <a:bodyPr wrap="none" lIns="0" rIns="0" tIns="0" bIns="0">
            <a:spAutoFit/>
          </a:bodyPr>
          <a:lstStyle/>
          <a:p>
            <a:r>
              <a:rPr sz="1055" b="0">
                <a:solidFill>
                  <a:srgbClr val="2E2E2E"/>
                </a:solidFill>
                <a:latin typeface="Calibri"/>
              </a:rPr>
              <a:t>share), ahead of 'Academic &amp; Teaching Dental Institutions' (</a:t>
            </a:r>
          </a:p>
        </p:txBody>
      </p:sp>
      <p:pic>
        <p:nvPicPr>
          <p:cNvPr id="69" name="Picture 68" descr="lock.png"/>
          <p:cNvPicPr>
            <a:picLocks noChangeAspect="1"/>
          </p:cNvPicPr>
          <p:nvPr/>
        </p:nvPicPr>
        <p:blipFill>
          <a:blip r:embed="rId10"/>
          <a:stretch>
            <a:fillRect/>
          </a:stretch>
        </p:blipFill>
        <p:spPr>
          <a:xfrm>
            <a:off x="6807979" y="5676031"/>
            <a:ext cx="123551" cy="179710"/>
          </a:xfrm>
          <a:prstGeom prst="rect">
            <a:avLst/>
          </a:prstGeom>
        </p:spPr>
      </p:pic>
      <p:sp>
        <p:nvSpPr>
          <p:cNvPr id="70" name="TextBox 69"/>
          <p:cNvSpPr txBox="1"/>
          <p:nvPr/>
        </p:nvSpPr>
        <p:spPr>
          <a:xfrm>
            <a:off x="6968775" y="568541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1" name="TextBox 70"/>
          <p:cNvSpPr txBox="1"/>
          <p:nvPr/>
        </p:nvSpPr>
        <p:spPr>
          <a:xfrm>
            <a:off x="276225" y="5894633"/>
            <a:ext cx="3615479" cy="179984"/>
          </a:xfrm>
          <a:prstGeom prst="rect">
            <a:avLst/>
          </a:prstGeom>
          <a:noFill/>
        </p:spPr>
        <p:txBody>
          <a:bodyPr wrap="none" lIns="0" rIns="0" tIns="0" bIns="0">
            <a:spAutoFit/>
          </a:bodyPr>
          <a:lstStyle/>
          <a:p>
            <a:r>
              <a:rPr sz="1055" b="0">
                <a:solidFill>
                  <a:srgbClr val="2E2E2E"/>
                </a:solidFill>
                <a:latin typeface="Calibri"/>
              </a:rPr>
              <a:t>▪ By Distribution Channel, 'Dental Dealers &amp; Distributors' leads at</a:t>
            </a:r>
          </a:p>
        </p:txBody>
      </p:sp>
      <p:pic>
        <p:nvPicPr>
          <p:cNvPr id="72" name="Picture 71" descr="lock.png"/>
          <p:cNvPicPr>
            <a:picLocks noChangeAspect="1"/>
          </p:cNvPicPr>
          <p:nvPr/>
        </p:nvPicPr>
        <p:blipFill>
          <a:blip r:embed="rId10"/>
          <a:stretch>
            <a:fillRect/>
          </a:stretch>
        </p:blipFill>
        <p:spPr>
          <a:xfrm>
            <a:off x="3838785" y="5885246"/>
            <a:ext cx="123551" cy="179710"/>
          </a:xfrm>
          <a:prstGeom prst="rect">
            <a:avLst/>
          </a:prstGeom>
        </p:spPr>
      </p:pic>
      <p:sp>
        <p:nvSpPr>
          <p:cNvPr id="73" name="TextBox 72"/>
          <p:cNvSpPr txBox="1"/>
          <p:nvPr/>
        </p:nvSpPr>
        <p:spPr>
          <a:xfrm>
            <a:off x="3999581" y="5894633"/>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74" name="Picture 73" descr="lock.png"/>
          <p:cNvPicPr>
            <a:picLocks noChangeAspect="1"/>
          </p:cNvPicPr>
          <p:nvPr/>
        </p:nvPicPr>
        <p:blipFill>
          <a:blip r:embed="rId10"/>
          <a:stretch>
            <a:fillRect/>
          </a:stretch>
        </p:blipFill>
        <p:spPr>
          <a:xfrm>
            <a:off x="4525259" y="5885246"/>
            <a:ext cx="123551" cy="179710"/>
          </a:xfrm>
          <a:prstGeom prst="rect">
            <a:avLst/>
          </a:prstGeom>
        </p:spPr>
      </p:pic>
      <p:sp>
        <p:nvSpPr>
          <p:cNvPr id="75" name="TextBox 74"/>
          <p:cNvSpPr txBox="1"/>
          <p:nvPr/>
        </p:nvSpPr>
        <p:spPr>
          <a:xfrm>
            <a:off x="4686055" y="5894633"/>
            <a:ext cx="1755219" cy="179984"/>
          </a:xfrm>
          <a:prstGeom prst="rect">
            <a:avLst/>
          </a:prstGeom>
          <a:noFill/>
        </p:spPr>
        <p:txBody>
          <a:bodyPr wrap="none" lIns="0" rIns="0" tIns="0" bIns="0">
            <a:spAutoFit/>
          </a:bodyPr>
          <a:lstStyle/>
          <a:p>
            <a:r>
              <a:rPr sz="1055" b="0">
                <a:solidFill>
                  <a:srgbClr val="2E2E2E"/>
                </a:solidFill>
                <a:latin typeface="Calibri"/>
              </a:rPr>
              <a:t>share), ahead of 'Direct Sales' (</a:t>
            </a:r>
          </a:p>
        </p:txBody>
      </p:sp>
      <p:pic>
        <p:nvPicPr>
          <p:cNvPr id="76" name="Picture 75" descr="lock.png"/>
          <p:cNvPicPr>
            <a:picLocks noChangeAspect="1"/>
          </p:cNvPicPr>
          <p:nvPr/>
        </p:nvPicPr>
        <p:blipFill>
          <a:blip r:embed="rId10"/>
          <a:stretch>
            <a:fillRect/>
          </a:stretch>
        </p:blipFill>
        <p:spPr>
          <a:xfrm>
            <a:off x="6388356" y="5885246"/>
            <a:ext cx="123551" cy="179710"/>
          </a:xfrm>
          <a:prstGeom prst="rect">
            <a:avLst/>
          </a:prstGeom>
        </p:spPr>
      </p:pic>
      <p:sp>
        <p:nvSpPr>
          <p:cNvPr id="77" name="TextBox 76"/>
          <p:cNvSpPr txBox="1"/>
          <p:nvPr/>
        </p:nvSpPr>
        <p:spPr>
          <a:xfrm>
            <a:off x="6549152" y="5894633"/>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8" name="TextBox 77"/>
          <p:cNvSpPr txBox="1"/>
          <p:nvPr/>
        </p:nvSpPr>
        <p:spPr>
          <a:xfrm>
            <a:off x="276225" y="6103848"/>
            <a:ext cx="2846954" cy="179984"/>
          </a:xfrm>
          <a:prstGeom prst="rect">
            <a:avLst/>
          </a:prstGeom>
          <a:noFill/>
        </p:spPr>
        <p:txBody>
          <a:bodyPr wrap="none" lIns="0" rIns="0" tIns="0" bIns="0">
            <a:spAutoFit/>
          </a:bodyPr>
          <a:lstStyle/>
          <a:p>
            <a:r>
              <a:rPr sz="1055" b="0">
                <a:solidFill>
                  <a:srgbClr val="2E2E2E"/>
                </a:solidFill>
                <a:latin typeface="Calibri"/>
              </a:rPr>
              <a:t>▪ By Patient Age Group, 'Geriatric Patients' leads at</a:t>
            </a:r>
          </a:p>
        </p:txBody>
      </p:sp>
      <p:pic>
        <p:nvPicPr>
          <p:cNvPr id="79" name="Picture 78" descr="lock.png"/>
          <p:cNvPicPr>
            <a:picLocks noChangeAspect="1"/>
          </p:cNvPicPr>
          <p:nvPr/>
        </p:nvPicPr>
        <p:blipFill>
          <a:blip r:embed="rId10"/>
          <a:stretch>
            <a:fillRect/>
          </a:stretch>
        </p:blipFill>
        <p:spPr>
          <a:xfrm>
            <a:off x="3070260" y="6094460"/>
            <a:ext cx="123551" cy="179710"/>
          </a:xfrm>
          <a:prstGeom prst="rect">
            <a:avLst/>
          </a:prstGeom>
        </p:spPr>
      </p:pic>
      <p:sp>
        <p:nvSpPr>
          <p:cNvPr id="80" name="TextBox 79"/>
          <p:cNvSpPr txBox="1"/>
          <p:nvPr/>
        </p:nvSpPr>
        <p:spPr>
          <a:xfrm>
            <a:off x="3231056" y="6103848"/>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81" name="Picture 80" descr="lock.png"/>
          <p:cNvPicPr>
            <a:picLocks noChangeAspect="1"/>
          </p:cNvPicPr>
          <p:nvPr/>
        </p:nvPicPr>
        <p:blipFill>
          <a:blip r:embed="rId10"/>
          <a:stretch>
            <a:fillRect/>
          </a:stretch>
        </p:blipFill>
        <p:spPr>
          <a:xfrm>
            <a:off x="3756734" y="6094460"/>
            <a:ext cx="123551" cy="179710"/>
          </a:xfrm>
          <a:prstGeom prst="rect">
            <a:avLst/>
          </a:prstGeom>
        </p:spPr>
      </p:pic>
      <p:sp>
        <p:nvSpPr>
          <p:cNvPr id="82" name="TextBox 81"/>
          <p:cNvSpPr txBox="1"/>
          <p:nvPr/>
        </p:nvSpPr>
        <p:spPr>
          <a:xfrm>
            <a:off x="3917530" y="6103848"/>
            <a:ext cx="1466826" cy="179984"/>
          </a:xfrm>
          <a:prstGeom prst="rect">
            <a:avLst/>
          </a:prstGeom>
          <a:noFill/>
        </p:spPr>
        <p:txBody>
          <a:bodyPr wrap="none" lIns="0" rIns="0" tIns="0" bIns="0">
            <a:spAutoFit/>
          </a:bodyPr>
          <a:lstStyle/>
          <a:p>
            <a:r>
              <a:rPr sz="1055" b="0">
                <a:solidFill>
                  <a:srgbClr val="2E2E2E"/>
                </a:solidFill>
                <a:latin typeface="Calibri"/>
              </a:rPr>
              <a:t>share), ahead of 'Adults' (</a:t>
            </a:r>
          </a:p>
        </p:txBody>
      </p:sp>
      <p:pic>
        <p:nvPicPr>
          <p:cNvPr id="83" name="Picture 82" descr="lock.png"/>
          <p:cNvPicPr>
            <a:picLocks noChangeAspect="1"/>
          </p:cNvPicPr>
          <p:nvPr/>
        </p:nvPicPr>
        <p:blipFill>
          <a:blip r:embed="rId10"/>
          <a:stretch>
            <a:fillRect/>
          </a:stretch>
        </p:blipFill>
        <p:spPr>
          <a:xfrm>
            <a:off x="5331438" y="6094460"/>
            <a:ext cx="123551" cy="179710"/>
          </a:xfrm>
          <a:prstGeom prst="rect">
            <a:avLst/>
          </a:prstGeom>
        </p:spPr>
      </p:pic>
      <p:sp>
        <p:nvSpPr>
          <p:cNvPr id="84" name="TextBox 83"/>
          <p:cNvSpPr txBox="1"/>
          <p:nvPr/>
        </p:nvSpPr>
        <p:spPr>
          <a:xfrm>
            <a:off x="5492234" y="6103848"/>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85" name="TextBox 84"/>
          <p:cNvSpPr txBox="1"/>
          <p:nvPr/>
        </p:nvSpPr>
        <p:spPr>
          <a:xfrm>
            <a:off x="276225" y="6313063"/>
            <a:ext cx="6413777" cy="179984"/>
          </a:xfrm>
          <a:prstGeom prst="rect">
            <a:avLst/>
          </a:prstGeom>
          <a:noFill/>
        </p:spPr>
        <p:txBody>
          <a:bodyPr wrap="none" lIns="0" rIns="0" tIns="0" bIns="0">
            <a:spAutoFit/>
          </a:bodyPr>
          <a:lstStyle/>
          <a:p>
            <a:r>
              <a:rPr sz="1055" b="0">
                <a:solidFill>
                  <a:srgbClr val="2E2E2E"/>
                </a:solidFill>
                <a:latin typeface="Calibri"/>
              </a:rPr>
              <a:t>▪ Use the Country slicer in the top band to switch country the selection stays synced across every page of the report.</a:t>
            </a:r>
          </a:p>
        </p:txBody>
      </p:sp>
      <p:sp>
        <p:nvSpPr>
          <p:cNvPr id="86" name="lockshield_13"/>
          <p:cNvSpPr/>
          <p:nvPr/>
        </p:nvSpPr>
        <p:spPr>
          <a:xfrm>
            <a:off x="2381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lockshield_16"/>
          <p:cNvSpPr/>
          <p:nvPr/>
        </p:nvSpPr>
        <p:spPr>
          <a:xfrm>
            <a:off x="32480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lockshield_19"/>
          <p:cNvSpPr/>
          <p:nvPr/>
        </p:nvSpPr>
        <p:spPr>
          <a:xfrm>
            <a:off x="62579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lockshield_22"/>
          <p:cNvSpPr/>
          <p:nvPr/>
        </p:nvSpPr>
        <p:spPr>
          <a:xfrm>
            <a:off x="92678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lockshield_25"/>
          <p:cNvSpPr/>
          <p:nvPr/>
        </p:nvSpPr>
        <p:spPr>
          <a:xfrm>
            <a:off x="2381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lockshield_28"/>
          <p:cNvSpPr/>
          <p:nvPr/>
        </p:nvSpPr>
        <p:spPr>
          <a:xfrm>
            <a:off x="33242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683585"/>
                <a:gridCol w="798006"/>
                <a:gridCol w="798006"/>
                <a:gridCol w="1007795"/>
                <a:gridCol w="57048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683585"/>
                <a:gridCol w="798006"/>
                <a:gridCol w="798006"/>
                <a:gridCol w="1007795"/>
                <a:gridCol w="57048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68096" y="2240942"/>
            <a:ext cx="362132" cy="526738"/>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268096" y="5127017"/>
            <a:ext cx="362132" cy="526738"/>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Type (Units)</a:t>
            </a:r>
          </a:p>
        </p:txBody>
      </p:sp>
      <p:graphicFrame>
        <p:nvGraphicFramePr>
          <p:cNvPr id="13" name="Table 12"/>
          <p:cNvGraphicFramePr>
            <a:graphicFrameLocks noGrp="1"/>
          </p:cNvGraphicFramePr>
          <p:nvPr/>
        </p:nvGraphicFramePr>
        <p:xfrm>
          <a:off x="152400" y="1238250"/>
          <a:ext cx="11887192" cy="1485896"/>
        </p:xfrm>
        <a:graphic>
          <a:graphicData uri="http://schemas.openxmlformats.org/drawingml/2006/table">
            <a:tbl>
              <a:tblPr>
                <a:tableStyleId>{5C22544A-7EE6-4342-B048-85BDC9FD1C3A}</a:tableStyleId>
              </a:tblPr>
              <a:tblGrid>
                <a:gridCol w="2578349"/>
                <a:gridCol w="547579"/>
                <a:gridCol w="547579"/>
                <a:gridCol w="547579"/>
                <a:gridCol w="547579"/>
                <a:gridCol w="547579"/>
                <a:gridCol w="547579"/>
                <a:gridCol w="547579"/>
                <a:gridCol w="547579"/>
                <a:gridCol w="547579"/>
                <a:gridCol w="547579"/>
                <a:gridCol w="547579"/>
                <a:gridCol w="547579"/>
                <a:gridCol w="547579"/>
                <a:gridCol w="547579"/>
                <a:gridCol w="547579"/>
                <a:gridCol w="547579"/>
                <a:gridCol w="547579"/>
              </a:tblGrid>
              <a:tr h="246126">
                <a:tc>
                  <a:txBody>
                    <a:bodyPr wrap="none"/>
                    <a:lstStyle/>
                    <a:p>
                      <a:pPr algn="l"/>
                      <a:r>
                        <a:rPr sz="1100" b="1">
                          <a:solidFill>
                            <a:srgbClr val="0B2E4A"/>
                          </a:solidFill>
                          <a:latin typeface="Calibri"/>
                        </a:rPr>
                        <a:t>Product Type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7" name="Table 16"/>
          <p:cNvGraphicFramePr>
            <a:graphicFrameLocks noGrp="1"/>
          </p:cNvGraphicFramePr>
          <p:nvPr/>
        </p:nvGraphicFramePr>
        <p:xfrm>
          <a:off x="152400" y="3324225"/>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98480"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7353373" y="3923538"/>
            <a:ext cx="366712" cy="533400"/>
          </a:xfrm>
          <a:prstGeom prst="rect">
            <a:avLst/>
          </a:prstGeom>
        </p:spPr>
      </p:pic>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05889"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305889" y="3552062"/>
            <a:ext cx="366712" cy="533400"/>
          </a:xfrm>
          <a:prstGeom prst="rect">
            <a:avLst/>
          </a:prstGeom>
        </p:spPr>
      </p:pic>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Material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Type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1842315"/>
                <a:gridCol w="1003890"/>
                <a:gridCol w="1003890"/>
                <a:gridCol w="1003890"/>
                <a:gridCol w="100389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Type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1842315"/>
                <a:gridCol w="1003890"/>
                <a:gridCol w="1003890"/>
                <a:gridCol w="1003890"/>
                <a:gridCol w="100389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45130"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845130"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105275"/>
          </a:xfrm>
          <a:prstGeom prst="roundRect">
            <a:avLst>
              <a:gd name="adj" fmla="val 18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Material Type (Units)</a:t>
            </a:r>
          </a:p>
        </p:txBody>
      </p:sp>
      <p:graphicFrame>
        <p:nvGraphicFramePr>
          <p:cNvPr id="13" name="Table 12"/>
          <p:cNvGraphicFramePr>
            <a:graphicFrameLocks noGrp="1"/>
          </p:cNvGraphicFramePr>
          <p:nvPr/>
        </p:nvGraphicFramePr>
        <p:xfrm>
          <a:off x="152400" y="1238250"/>
          <a:ext cx="11887199" cy="3638550"/>
        </p:xfrm>
        <a:graphic>
          <a:graphicData uri="http://schemas.openxmlformats.org/drawingml/2006/table">
            <a:tbl>
              <a:tblPr>
                <a:tableStyleId>{5C22544A-7EE6-4342-B048-85BDC9FD1C3A}</a:tableStyleId>
              </a:tblPr>
              <a:tblGrid>
                <a:gridCol w="2671429"/>
                <a:gridCol w="544949"/>
                <a:gridCol w="544949"/>
                <a:gridCol w="544949"/>
                <a:gridCol w="544949"/>
                <a:gridCol w="544949"/>
                <a:gridCol w="544949"/>
                <a:gridCol w="544949"/>
                <a:gridCol w="544949"/>
                <a:gridCol w="544949"/>
                <a:gridCol w="544949"/>
                <a:gridCol w="544949"/>
                <a:gridCol w="544949"/>
                <a:gridCol w="544949"/>
                <a:gridCol w="544949"/>
                <a:gridCol w="544949"/>
                <a:gridCol w="544949"/>
                <a:gridCol w="496586"/>
              </a:tblGrid>
              <a:tr h="438912">
                <a:tc>
                  <a:txBody>
                    <a:bodyPr wrap="none"/>
                    <a:lstStyle/>
                    <a:p>
                      <a:pPr algn="l"/>
                      <a:r>
                        <a:rPr sz="1100" b="1">
                          <a:solidFill>
                            <a:srgbClr val="0B2E4A"/>
                          </a:solidFill>
                          <a:latin typeface="Calibri"/>
                        </a:rPr>
                        <a:t>Material Type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6126">
                <a:tc>
                  <a:txBody>
                    <a:bodyPr wrap="none"/>
                    <a:lstStyle/>
                    <a:p>
                      <a:pPr algn="l"/>
                      <a:r>
                        <a:rPr sz="1100" b="1">
                          <a:solidFill>
                            <a:srgbClr val="2E2E2E"/>
                          </a:solidFill>
                          <a:latin typeface="Calibri"/>
                        </a:rPr>
                        <a:t>Metal Alloys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Cobalt-Chromium Alloys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Titanium Alloys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Acrylic / Resin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PMMA</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Printable Denture Resins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Flexible Thermoplastics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Polyamide / Nylon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Other Thermoplastic Resins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High-performance Polymers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PEEK-based Materials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Other High-performance Dental Polymers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4886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45023" y="3010280"/>
            <a:ext cx="366712" cy="533400"/>
          </a:xfrm>
          <a:prstGeom prst="rect">
            <a:avLst/>
          </a:prstGeom>
        </p:spPr>
      </p:pic>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Type (US$ Mn)</a:t>
            </a:r>
          </a:p>
        </p:txBody>
      </p:sp>
      <p:graphicFrame>
        <p:nvGraphicFramePr>
          <p:cNvPr id="12" name="Table 11"/>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97216" y="2818639"/>
            <a:ext cx="366712" cy="533400"/>
          </a:xfrm>
          <a:prstGeom prst="rect">
            <a:avLst/>
          </a:prstGeom>
        </p:spPr>
      </p:pic>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Technology</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708500"/>
                <a:gridCol w="1037344"/>
                <a:gridCol w="1037344"/>
                <a:gridCol w="1037344"/>
                <a:gridCol w="1037344"/>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Technology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Technology</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708500"/>
                <a:gridCol w="1037344"/>
                <a:gridCol w="1037344"/>
                <a:gridCol w="1037344"/>
                <a:gridCol w="1037344"/>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7822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7822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Technology (Units)</a:t>
            </a:r>
          </a:p>
        </p:txBody>
      </p:sp>
      <p:graphicFrame>
        <p:nvGraphicFramePr>
          <p:cNvPr id="13" name="Table 12"/>
          <p:cNvGraphicFramePr>
            <a:graphicFrameLocks noGrp="1"/>
          </p:cNvGraphicFramePr>
          <p:nvPr/>
        </p:nvGraphicFramePr>
        <p:xfrm>
          <a:off x="152400" y="1238250"/>
          <a:ext cx="11887197" cy="2466975"/>
        </p:xfrm>
        <a:graphic>
          <a:graphicData uri="http://schemas.openxmlformats.org/drawingml/2006/table">
            <a:tbl>
              <a:tblPr>
                <a:tableStyleId>{5C22544A-7EE6-4342-B048-85BDC9FD1C3A}</a:tableStyleId>
              </a:tblPr>
              <a:tblGrid>
                <a:gridCol w="2465049"/>
                <a:gridCol w="554244"/>
                <a:gridCol w="554244"/>
                <a:gridCol w="554244"/>
                <a:gridCol w="554244"/>
                <a:gridCol w="554244"/>
                <a:gridCol w="554244"/>
                <a:gridCol w="554244"/>
                <a:gridCol w="554244"/>
                <a:gridCol w="554244"/>
                <a:gridCol w="554244"/>
                <a:gridCol w="554244"/>
                <a:gridCol w="554244"/>
                <a:gridCol w="554244"/>
                <a:gridCol w="554244"/>
                <a:gridCol w="554244"/>
                <a:gridCol w="554244"/>
                <a:gridCol w="554244"/>
              </a:tblGrid>
              <a:tr h="246126">
                <a:tc>
                  <a:txBody>
                    <a:bodyPr wrap="none"/>
                    <a:lstStyle/>
                    <a:p>
                      <a:pPr algn="l"/>
                      <a:r>
                        <a:rPr sz="1100" b="1">
                          <a:solidFill>
                            <a:srgbClr val="0B2E4A"/>
                          </a:solidFill>
                          <a:latin typeface="Calibri"/>
                        </a:rPr>
                        <a:t>Technology</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41833" y="2328100"/>
            <a:ext cx="366712" cy="533400"/>
          </a:xfrm>
          <a:prstGeom prst="rect">
            <a:avLst/>
          </a:prstGeom>
        </p:spPr>
      </p:pic>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Technology (US$ Mn)</a:t>
            </a:r>
          </a:p>
        </p:txBody>
      </p:sp>
      <p:graphicFrame>
        <p:nvGraphicFramePr>
          <p:cNvPr id="12" name="Table 11"/>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41720" y="2328100"/>
            <a:ext cx="366712" cy="533400"/>
          </a:xfrm>
          <a:prstGeom prst="rect">
            <a:avLst/>
          </a:prstGeom>
        </p:spPr>
      </p:pic>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219326"/>
        </p:xfrm>
        <a:graphic>
          <a:graphicData uri="http://schemas.openxmlformats.org/drawingml/2006/table">
            <a:tbl>
              <a:tblPr>
                <a:tableStyleId>{5C22544A-7EE6-4342-B048-85BDC9FD1C3A}</a:tableStyleId>
              </a:tblPr>
              <a:tblGrid>
                <a:gridCol w="2522231"/>
                <a:gridCol w="624331"/>
                <a:gridCol w="624331"/>
                <a:gridCol w="624331"/>
                <a:gridCol w="624331"/>
                <a:gridCol w="624331"/>
                <a:gridCol w="624331"/>
                <a:gridCol w="624331"/>
                <a:gridCol w="624331"/>
                <a:gridCol w="624331"/>
                <a:gridCol w="624331"/>
                <a:gridCol w="624331"/>
                <a:gridCol w="624331"/>
                <a:gridCol w="624331"/>
                <a:gridCol w="624331"/>
                <a:gridCol w="624331"/>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0576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70423"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7246762" y="5023676"/>
            <a:ext cx="366712" cy="533399"/>
          </a:xfrm>
          <a:prstGeom prst="rect">
            <a:avLst/>
          </a:prstGeom>
        </p:spPr>
      </p:pic>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End User: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End User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End User</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648970"/>
                <a:gridCol w="806708"/>
                <a:gridCol w="806708"/>
                <a:gridCol w="1018785"/>
                <a:gridCol w="576704"/>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End User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End User</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648970"/>
                <a:gridCol w="806708"/>
                <a:gridCol w="806708"/>
                <a:gridCol w="1018785"/>
                <a:gridCol w="576704"/>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49786" y="2239510"/>
            <a:ext cx="364101" cy="529602"/>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249786" y="5125585"/>
            <a:ext cx="364101" cy="529602"/>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End User,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End User (Units)</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2529849"/>
                <a:gridCol w="550432"/>
                <a:gridCol w="550432"/>
                <a:gridCol w="550432"/>
                <a:gridCol w="550432"/>
                <a:gridCol w="550432"/>
                <a:gridCol w="550432"/>
                <a:gridCol w="550432"/>
                <a:gridCol w="550432"/>
                <a:gridCol w="550432"/>
                <a:gridCol w="550432"/>
                <a:gridCol w="550432"/>
                <a:gridCol w="550432"/>
                <a:gridCol w="550432"/>
                <a:gridCol w="550432"/>
                <a:gridCol w="550432"/>
                <a:gridCol w="550432"/>
                <a:gridCol w="550432"/>
              </a:tblGrid>
              <a:tr h="246126">
                <a:tc>
                  <a:txBody>
                    <a:bodyPr wrap="none"/>
                    <a:lstStyle/>
                    <a:p>
                      <a:pPr algn="l"/>
                      <a:r>
                        <a:rPr sz="1100" b="1">
                          <a:solidFill>
                            <a:srgbClr val="0B2E4A"/>
                          </a:solidFill>
                          <a:latin typeface="Calibri"/>
                        </a:rPr>
                        <a:t>End User</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End User (US$ Mn)</a:t>
            </a:r>
          </a:p>
        </p:txBody>
      </p:sp>
      <p:graphicFrame>
        <p:nvGraphicFramePr>
          <p:cNvPr id="17" name="Table 16"/>
          <p:cNvGraphicFramePr>
            <a:graphicFrameLocks noGrp="1"/>
          </p:cNvGraphicFramePr>
          <p:nvPr/>
        </p:nvGraphicFramePr>
        <p:xfrm>
          <a:off x="152400" y="3324225"/>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74230"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7327480" y="3923538"/>
            <a:ext cx="366712" cy="533400"/>
          </a:xfrm>
          <a:prstGeom prst="rect">
            <a:avLst/>
          </a:prstGeom>
        </p:spPr>
      </p:pic>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End User,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0592"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280592" y="3552062"/>
            <a:ext cx="366712" cy="533400"/>
          </a:xfrm>
          <a:prstGeom prst="rect">
            <a:avLst/>
          </a:prstGeom>
        </p:spPr>
      </p:pic>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Distribution Channel</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059981"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059981"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Distribution Channel (Units)</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1955550"/>
                <a:gridCol w="584215"/>
                <a:gridCol w="584215"/>
                <a:gridCol w="584215"/>
                <a:gridCol w="584215"/>
                <a:gridCol w="584215"/>
                <a:gridCol w="584215"/>
                <a:gridCol w="584215"/>
                <a:gridCol w="584215"/>
                <a:gridCol w="584215"/>
                <a:gridCol w="584215"/>
                <a:gridCol w="584215"/>
                <a:gridCol w="584215"/>
                <a:gridCol w="584215"/>
                <a:gridCol w="584215"/>
                <a:gridCol w="584215"/>
                <a:gridCol w="584215"/>
                <a:gridCol w="584215"/>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7" name="Table 16"/>
          <p:cNvGraphicFramePr>
            <a:graphicFrameLocks noGrp="1"/>
          </p:cNvGraphicFramePr>
          <p:nvPr/>
        </p:nvGraphicFramePr>
        <p:xfrm>
          <a:off x="152400" y="3076575"/>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7087"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930200" y="3552062"/>
            <a:ext cx="366712" cy="533400"/>
          </a:xfrm>
          <a:prstGeom prst="rect">
            <a:avLst/>
          </a:prstGeom>
        </p:spPr>
      </p:pic>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21466"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7021466" y="3180587"/>
            <a:ext cx="366712" cy="533400"/>
          </a:xfrm>
          <a:prstGeom prst="rect">
            <a:avLst/>
          </a:prstGeom>
        </p:spPr>
      </p:pic>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Patient Age Group: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Patient Age Group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Patient Age Group</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384732"/>
                <a:gridCol w="1118286"/>
                <a:gridCol w="1118286"/>
                <a:gridCol w="1118286"/>
                <a:gridCol w="1118286"/>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Patient Age Group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Patient Age Group</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384732"/>
                <a:gridCol w="1118286"/>
                <a:gridCol w="1118286"/>
                <a:gridCol w="1118286"/>
                <a:gridCol w="1118286"/>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16339"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16339"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Patient Age Group,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Patient Age Group (Units)</a:t>
            </a:r>
          </a:p>
        </p:txBody>
      </p:sp>
      <p:graphicFrame>
        <p:nvGraphicFramePr>
          <p:cNvPr id="13" name="Table 12"/>
          <p:cNvGraphicFramePr>
            <a:graphicFrameLocks noGrp="1"/>
          </p:cNvGraphicFramePr>
          <p:nvPr/>
        </p:nvGraphicFramePr>
        <p:xfrm>
          <a:off x="152400" y="1238250"/>
          <a:ext cx="11887201" cy="990600"/>
        </p:xfrm>
        <a:graphic>
          <a:graphicData uri="http://schemas.openxmlformats.org/drawingml/2006/table">
            <a:tbl>
              <a:tblPr>
                <a:tableStyleId>{5C22544A-7EE6-4342-B048-85BDC9FD1C3A}</a:tableStyleId>
              </a:tblPr>
              <a:tblGrid>
                <a:gridCol w="1294161"/>
                <a:gridCol w="623120"/>
                <a:gridCol w="623120"/>
                <a:gridCol w="623120"/>
                <a:gridCol w="623120"/>
                <a:gridCol w="623120"/>
                <a:gridCol w="623120"/>
                <a:gridCol w="623120"/>
                <a:gridCol w="623120"/>
                <a:gridCol w="623120"/>
                <a:gridCol w="623120"/>
                <a:gridCol w="623120"/>
                <a:gridCol w="623120"/>
                <a:gridCol w="623120"/>
                <a:gridCol w="623120"/>
                <a:gridCol w="623120"/>
                <a:gridCol w="623120"/>
                <a:gridCol w="623120"/>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Patient Age Group (US$ Mn)</a:t>
            </a:r>
          </a:p>
        </p:txBody>
      </p:sp>
      <p:graphicFrame>
        <p:nvGraphicFramePr>
          <p:cNvPr id="17" name="Table 16"/>
          <p:cNvGraphicFramePr>
            <a:graphicFrameLocks noGrp="1"/>
          </p:cNvGraphicFramePr>
          <p:nvPr/>
        </p:nvGraphicFramePr>
        <p:xfrm>
          <a:off x="152400" y="2828925"/>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56391"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586908" y="3180587"/>
            <a:ext cx="366712" cy="533400"/>
          </a:xfrm>
          <a:prstGeom prst="rect">
            <a:avLst/>
          </a:prstGeom>
        </p:spPr>
      </p:pic>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Patient Age Group,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70790"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670790" y="2825115"/>
            <a:ext cx="330041" cy="480060"/>
          </a:xfrm>
          <a:prstGeom prst="rect">
            <a:avLst/>
          </a:prstGeom>
        </p:spPr>
      </p:pic>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166771" cy="194310"/>
          </a:xfrm>
          <a:prstGeom prst="rect">
            <a:avLst/>
          </a:prstGeom>
          <a:noFill/>
        </p:spPr>
        <p:txBody>
          <a:bodyPr wrap="none" lIns="0" rIns="0" tIns="0" bIns="0">
            <a:spAutoFit/>
          </a:bodyPr>
          <a:lstStyle/>
          <a:p>
            <a:r>
              <a:rPr sz="1150" b="0">
                <a:solidFill>
                  <a:srgbClr val="2E2E2E"/>
                </a:solidFill>
                <a:latin typeface="Calibri"/>
              </a:rPr>
              <a:t>Cast metal partial dentures segment is projected to account for the largest share of the U.S.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392150" y="3914076"/>
            <a:ext cx="134549" cy="195707"/>
          </a:xfrm>
          <a:prstGeom prst="rect">
            <a:avLst/>
          </a:prstGeom>
        </p:spPr>
      </p:pic>
      <p:sp>
        <p:nvSpPr>
          <p:cNvPr id="23" name="TextBox 22"/>
          <p:cNvSpPr txBox="1"/>
          <p:nvPr/>
        </p:nvSpPr>
        <p:spPr>
          <a:xfrm>
            <a:off x="10567259" y="3924300"/>
            <a:ext cx="1246026" cy="194310"/>
          </a:xfrm>
          <a:prstGeom prst="rect">
            <a:avLst/>
          </a:prstGeom>
          <a:noFill/>
        </p:spPr>
        <p:txBody>
          <a:bodyPr wrap="none" lIns="0" rIns="0" tIns="0" bIns="0">
            <a:spAutoFit/>
          </a:bodyPr>
          <a:lstStyle/>
          <a:p>
            <a:r>
              <a:rPr sz="1150" b="0">
                <a:solidFill>
                  <a:srgbClr val="2E2E2E"/>
                </a:solidFill>
                <a:latin typeface="Calibri"/>
              </a:rPr>
              <a:t>Mn in 2036. 'Acrylic</a:t>
            </a:r>
          </a:p>
        </p:txBody>
      </p:sp>
      <p:sp>
        <p:nvSpPr>
          <p:cNvPr id="24" name="TextBox 23"/>
          <p:cNvSpPr txBox="1"/>
          <p:nvPr/>
        </p:nvSpPr>
        <p:spPr>
          <a:xfrm>
            <a:off x="276225" y="4099560"/>
            <a:ext cx="5270673" cy="194310"/>
          </a:xfrm>
          <a:prstGeom prst="rect">
            <a:avLst/>
          </a:prstGeom>
          <a:noFill/>
        </p:spPr>
        <p:txBody>
          <a:bodyPr wrap="none" lIns="0" rIns="0" tIns="0" bIns="0">
            <a:spAutoFit/>
          </a:bodyPr>
          <a:lstStyle/>
          <a:p>
            <a:r>
              <a:rPr sz="1150" b="0">
                <a:solidFill>
                  <a:srgbClr val="2E2E2E"/>
                </a:solidFill>
                <a:latin typeface="Calibri"/>
              </a:rPr>
              <a:t>Partial Dentures × High-performance Polymers' is the single largest cross-sectional cell (</a:t>
            </a:r>
          </a:p>
        </p:txBody>
      </p:sp>
      <p:pic>
        <p:nvPicPr>
          <p:cNvPr id="25" name="Picture 24" descr="lock.png"/>
          <p:cNvPicPr>
            <a:picLocks noChangeAspect="1"/>
          </p:cNvPicPr>
          <p:nvPr/>
        </p:nvPicPr>
        <p:blipFill>
          <a:blip r:embed="rId4"/>
          <a:stretch>
            <a:fillRect/>
          </a:stretch>
        </p:blipFill>
        <p:spPr>
          <a:xfrm>
            <a:off x="5496052" y="4089336"/>
            <a:ext cx="134549" cy="195707"/>
          </a:xfrm>
          <a:prstGeom prst="rect">
            <a:avLst/>
          </a:prstGeom>
        </p:spPr>
      </p:pic>
      <p:sp>
        <p:nvSpPr>
          <p:cNvPr id="26" name="TextBox 25"/>
          <p:cNvSpPr txBox="1"/>
          <p:nvPr/>
        </p:nvSpPr>
        <p:spPr>
          <a:xfrm>
            <a:off x="5671161" y="4099560"/>
            <a:ext cx="5823210" cy="194310"/>
          </a:xfrm>
          <a:prstGeom prst="rect">
            <a:avLst/>
          </a:prstGeom>
          <a:noFill/>
        </p:spPr>
        <p:txBody>
          <a:bodyPr wrap="none" lIns="0" rIns="0" tIns="0" bIns="0">
            <a:spAutoFit/>
          </a:bodyPr>
          <a:lstStyle/>
          <a:p>
            <a:r>
              <a:rPr sz="1150" b="0">
                <a:solidFill>
                  <a:srgbClr val="2E2E2E"/>
                </a:solidFill>
                <a:latin typeface="Calibri"/>
              </a:rPr>
              <a:t>US$ Mn, 2026E), while 'Cast Metal Partial Dentures × Flexible Thermoplastics' records the fastest</a:t>
            </a:r>
          </a:p>
        </p:txBody>
      </p:sp>
      <p:sp>
        <p:nvSpPr>
          <p:cNvPr id="27" name="TextBox 26"/>
          <p:cNvSpPr txBox="1"/>
          <p:nvPr/>
        </p:nvSpPr>
        <p:spPr>
          <a:xfrm>
            <a:off x="276225" y="4274820"/>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264596"/>
            <a:ext cx="134549" cy="195707"/>
          </a:xfrm>
          <a:prstGeom prst="rect">
            <a:avLst/>
          </a:prstGeom>
        </p:spPr>
      </p:pic>
      <p:sp>
        <p:nvSpPr>
          <p:cNvPr id="29" name="TextBox 28"/>
          <p:cNvSpPr txBox="1"/>
          <p:nvPr/>
        </p:nvSpPr>
        <p:spPr>
          <a:xfrm>
            <a:off x="1680156"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1" name="Picture 30" descr="lock.png"/>
          <p:cNvPicPr>
            <a:picLocks noChangeAspect="1"/>
          </p:cNvPicPr>
          <p:nvPr/>
        </p:nvPicPr>
        <p:blipFill>
          <a:blip r:embed="rId4"/>
          <a:stretch>
            <a:fillRect/>
          </a:stretch>
        </p:blipFill>
        <p:spPr>
          <a:xfrm>
            <a:off x="6092233" y="4492434"/>
            <a:ext cx="134549" cy="195707"/>
          </a:xfrm>
          <a:prstGeom prst="rect">
            <a:avLst/>
          </a:prstGeom>
        </p:spPr>
      </p:pic>
      <p:sp>
        <p:nvSpPr>
          <p:cNvPr id="32" name="TextBox 31"/>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3955332" cy="194310"/>
          </a:xfrm>
          <a:prstGeom prst="rect">
            <a:avLst/>
          </a:prstGeom>
          <a:noFill/>
        </p:spPr>
        <p:txBody>
          <a:bodyPr wrap="none" lIns="0" rIns="0" tIns="0" bIns="0">
            <a:spAutoFit/>
          </a:bodyPr>
          <a:lstStyle/>
          <a:p>
            <a:r>
              <a:rPr sz="1150" b="0">
                <a:solidFill>
                  <a:srgbClr val="2E2E2E"/>
                </a:solidFill>
                <a:latin typeface="Calibri"/>
              </a:rPr>
              <a:t>▪ 'PEEK-based Materials'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346500" cy="194310"/>
          </a:xfrm>
          <a:prstGeom prst="rect">
            <a:avLst/>
          </a:prstGeom>
          <a:noFill/>
        </p:spPr>
        <p:txBody>
          <a:bodyPr wrap="none" lIns="0" rIns="0" tIns="0" bIns="0">
            <a:spAutoFit/>
          </a:bodyPr>
          <a:lstStyle/>
          <a:p>
            <a:r>
              <a:rPr sz="1150" b="0">
                <a:solidFill>
                  <a:srgbClr val="2E2E2E"/>
                </a:solidFill>
                <a:latin typeface="Calibri"/>
              </a:rPr>
              <a:t>of its value via 'PEEK-based Materials'.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467383" cy="194310"/>
          </a:xfrm>
          <a:prstGeom prst="rect">
            <a:avLst/>
          </a:prstGeom>
          <a:noFill/>
        </p:spPr>
        <p:txBody>
          <a:bodyPr wrap="none" lIns="0" rIns="0" tIns="0" bIns="0">
            <a:spAutoFit/>
          </a:bodyPr>
          <a:lstStyle/>
          <a:p>
            <a:r>
              <a:rPr sz="1150" b="0">
                <a:solidFill>
                  <a:srgbClr val="2E2E2E"/>
                </a:solidFill>
                <a:latin typeface="Calibri"/>
              </a:rPr>
              <a:t>BPS of share of the U.S.</a:t>
            </a:r>
          </a:p>
        </p:txBody>
      </p:sp>
      <p:sp>
        <p:nvSpPr>
          <p:cNvPr id="36" name="TextBox 35"/>
          <p:cNvSpPr txBox="1"/>
          <p:nvPr/>
        </p:nvSpPr>
        <p:spPr>
          <a:xfrm>
            <a:off x="7715250" y="50962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573127" cy="194310"/>
          </a:xfrm>
          <a:prstGeom prst="rect">
            <a:avLst/>
          </a:prstGeom>
          <a:noFill/>
        </p:spPr>
        <p:txBody>
          <a:bodyPr wrap="none" lIns="0" rIns="0" tIns="0" bIns="0">
            <a:spAutoFit/>
          </a:bodyPr>
          <a:lstStyle/>
          <a:p>
            <a:r>
              <a:rPr sz="1150" b="0">
                <a:solidFill>
                  <a:srgbClr val="2E2E2E"/>
                </a:solidFill>
                <a:latin typeface="Calibri"/>
              </a:rPr>
              <a:t>▪ 1. Cast Metal Partial Dentures × Flexible Thermoplastics –</a:t>
            </a:r>
          </a:p>
        </p:txBody>
      </p:sp>
      <p:pic>
        <p:nvPicPr>
          <p:cNvPr id="34" name="Picture 33" descr="lock.png"/>
          <p:cNvPicPr>
            <a:picLocks noChangeAspect="1"/>
          </p:cNvPicPr>
          <p:nvPr/>
        </p:nvPicPr>
        <p:blipFill>
          <a:blip r:embed="rId4"/>
          <a:stretch>
            <a:fillRect/>
          </a:stretch>
        </p:blipFill>
        <p:spPr>
          <a:xfrm>
            <a:off x="3798506" y="3914076"/>
            <a:ext cx="134549" cy="195707"/>
          </a:xfrm>
          <a:prstGeom prst="rect">
            <a:avLst/>
          </a:prstGeom>
        </p:spPr>
      </p:pic>
      <p:sp>
        <p:nvSpPr>
          <p:cNvPr id="35" name="TextBox 34"/>
          <p:cNvSpPr txBox="1"/>
          <p:nvPr/>
        </p:nvSpPr>
        <p:spPr>
          <a:xfrm>
            <a:off x="3973615"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4035767" y="3914076"/>
            <a:ext cx="134549" cy="195707"/>
          </a:xfrm>
          <a:prstGeom prst="rect">
            <a:avLst/>
          </a:prstGeom>
        </p:spPr>
      </p:pic>
      <p:sp>
        <p:nvSpPr>
          <p:cNvPr id="37" name="TextBox 36"/>
          <p:cNvSpPr txBox="1"/>
          <p:nvPr/>
        </p:nvSpPr>
        <p:spPr>
          <a:xfrm>
            <a:off x="4210876"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28665" cy="194310"/>
          </a:xfrm>
          <a:prstGeom prst="rect">
            <a:avLst/>
          </a:prstGeom>
          <a:noFill/>
        </p:spPr>
        <p:txBody>
          <a:bodyPr wrap="none" lIns="0" rIns="0" tIns="0" bIns="0">
            <a:spAutoFit/>
          </a:bodyPr>
          <a:lstStyle/>
          <a:p>
            <a:r>
              <a:rPr sz="1150" b="0">
                <a:solidFill>
                  <a:srgbClr val="2E2E2E"/>
                </a:solidFill>
                <a:latin typeface="Calibri"/>
              </a:rPr>
              <a:t>▪ 2. Acrylic Partial Dentures × Flexible Thermoplastics –</a:t>
            </a:r>
          </a:p>
        </p:txBody>
      </p:sp>
      <p:pic>
        <p:nvPicPr>
          <p:cNvPr id="39" name="Picture 38" descr="lock.png"/>
          <p:cNvPicPr>
            <a:picLocks noChangeAspect="1"/>
          </p:cNvPicPr>
          <p:nvPr/>
        </p:nvPicPr>
        <p:blipFill>
          <a:blip r:embed="rId4"/>
          <a:stretch>
            <a:fillRect/>
          </a:stretch>
        </p:blipFill>
        <p:spPr>
          <a:xfrm>
            <a:off x="3554043" y="4141914"/>
            <a:ext cx="134549" cy="195707"/>
          </a:xfrm>
          <a:prstGeom prst="rect">
            <a:avLst/>
          </a:prstGeom>
        </p:spPr>
      </p:pic>
      <p:sp>
        <p:nvSpPr>
          <p:cNvPr id="40" name="TextBox 39"/>
          <p:cNvSpPr txBox="1"/>
          <p:nvPr/>
        </p:nvSpPr>
        <p:spPr>
          <a:xfrm>
            <a:off x="3729153"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791304" y="4141914"/>
            <a:ext cx="134549" cy="195707"/>
          </a:xfrm>
          <a:prstGeom prst="rect">
            <a:avLst/>
          </a:prstGeom>
        </p:spPr>
      </p:pic>
      <p:sp>
        <p:nvSpPr>
          <p:cNvPr id="42" name="TextBox 41"/>
          <p:cNvSpPr txBox="1"/>
          <p:nvPr/>
        </p:nvSpPr>
        <p:spPr>
          <a:xfrm>
            <a:off x="3966414"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389424" cy="194310"/>
          </a:xfrm>
          <a:prstGeom prst="rect">
            <a:avLst/>
          </a:prstGeom>
          <a:noFill/>
        </p:spPr>
        <p:txBody>
          <a:bodyPr wrap="none" lIns="0" rIns="0" tIns="0" bIns="0">
            <a:spAutoFit/>
          </a:bodyPr>
          <a:lstStyle/>
          <a:p>
            <a:r>
              <a:rPr sz="1150" b="0">
                <a:solidFill>
                  <a:srgbClr val="2E2E2E"/>
                </a:solidFill>
                <a:latin typeface="Calibri"/>
              </a:rPr>
              <a:t>▪ 4. Flexible Partial Dentures × Flexible Thermoplastics –</a:t>
            </a:r>
          </a:p>
        </p:txBody>
      </p:sp>
      <p:pic>
        <p:nvPicPr>
          <p:cNvPr id="49" name="Picture 48" descr="lock.png"/>
          <p:cNvPicPr>
            <a:picLocks noChangeAspect="1"/>
          </p:cNvPicPr>
          <p:nvPr/>
        </p:nvPicPr>
        <p:blipFill>
          <a:blip r:embed="rId4"/>
          <a:stretch>
            <a:fillRect/>
          </a:stretch>
        </p:blipFill>
        <p:spPr>
          <a:xfrm>
            <a:off x="3614803" y="4597590"/>
            <a:ext cx="134549" cy="195707"/>
          </a:xfrm>
          <a:prstGeom prst="rect">
            <a:avLst/>
          </a:prstGeom>
        </p:spPr>
      </p:pic>
      <p:sp>
        <p:nvSpPr>
          <p:cNvPr id="50" name="TextBox 49"/>
          <p:cNvSpPr txBox="1"/>
          <p:nvPr/>
        </p:nvSpPr>
        <p:spPr>
          <a:xfrm>
            <a:off x="3789912"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52064" y="4597590"/>
            <a:ext cx="134549" cy="195707"/>
          </a:xfrm>
          <a:prstGeom prst="rect">
            <a:avLst/>
          </a:prstGeom>
        </p:spPr>
      </p:pic>
      <p:sp>
        <p:nvSpPr>
          <p:cNvPr id="52" name="TextBox 51"/>
          <p:cNvSpPr txBox="1"/>
          <p:nvPr/>
        </p:nvSpPr>
        <p:spPr>
          <a:xfrm>
            <a:off x="4027173" y="46078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246311" cy="194310"/>
          </a:xfrm>
          <a:prstGeom prst="rect">
            <a:avLst/>
          </a:prstGeom>
          <a:noFill/>
        </p:spPr>
        <p:txBody>
          <a:bodyPr wrap="none" lIns="0" rIns="0" tIns="0" bIns="0">
            <a:spAutoFit/>
          </a:bodyPr>
          <a:lstStyle/>
          <a:p>
            <a:r>
              <a:rPr sz="1150" b="0">
                <a:solidFill>
                  <a:srgbClr val="2E2E2E"/>
                </a:solidFill>
                <a:latin typeface="Calibri"/>
              </a:rPr>
              <a:t>▪ 'Cast Metal Partial</a:t>
            </a:r>
          </a:p>
        </p:txBody>
      </p:sp>
      <p:sp>
        <p:nvSpPr>
          <p:cNvPr id="59" name="TextBox 58"/>
          <p:cNvSpPr txBox="1"/>
          <p:nvPr/>
        </p:nvSpPr>
        <p:spPr>
          <a:xfrm>
            <a:off x="6029325" y="4099560"/>
            <a:ext cx="1214648" cy="194310"/>
          </a:xfrm>
          <a:prstGeom prst="rect">
            <a:avLst/>
          </a:prstGeom>
          <a:noFill/>
        </p:spPr>
        <p:txBody>
          <a:bodyPr wrap="none" lIns="0" rIns="0" tIns="0" bIns="0">
            <a:spAutoFit/>
          </a:bodyPr>
          <a:lstStyle/>
          <a:p>
            <a:r>
              <a:rPr sz="1150" b="0">
                <a:solidFill>
                  <a:srgbClr val="2E2E2E"/>
                </a:solidFill>
                <a:latin typeface="Calibri"/>
              </a:rPr>
              <a:t>Dentures × Flexible</a:t>
            </a:r>
          </a:p>
        </p:txBody>
      </p:sp>
      <p:sp>
        <p:nvSpPr>
          <p:cNvPr id="60" name="TextBox 59"/>
          <p:cNvSpPr txBox="1"/>
          <p:nvPr/>
        </p:nvSpPr>
        <p:spPr>
          <a:xfrm>
            <a:off x="6029325" y="4274820"/>
            <a:ext cx="1326467" cy="194310"/>
          </a:xfrm>
          <a:prstGeom prst="rect">
            <a:avLst/>
          </a:prstGeom>
          <a:noFill/>
        </p:spPr>
        <p:txBody>
          <a:bodyPr wrap="none" lIns="0" rIns="0" tIns="0" bIns="0">
            <a:spAutoFit/>
          </a:bodyPr>
          <a:lstStyle/>
          <a:p>
            <a:r>
              <a:rPr sz="1150" b="0">
                <a:solidFill>
                  <a:srgbClr val="2E2E2E"/>
                </a:solidFill>
                <a:latin typeface="Calibri"/>
              </a:rPr>
              <a:t>Thermoplastics' adds</a:t>
            </a:r>
          </a:p>
        </p:txBody>
      </p:sp>
      <p:pic>
        <p:nvPicPr>
          <p:cNvPr id="61" name="Picture 60" descr="lock.png"/>
          <p:cNvPicPr>
            <a:picLocks noChangeAspect="1"/>
          </p:cNvPicPr>
          <p:nvPr/>
        </p:nvPicPr>
        <p:blipFill>
          <a:blip r:embed="rId4"/>
          <a:stretch>
            <a:fillRect/>
          </a:stretch>
        </p:blipFill>
        <p:spPr>
          <a:xfrm>
            <a:off x="7304946" y="4264596"/>
            <a:ext cx="134549" cy="195707"/>
          </a:xfrm>
          <a:prstGeom prst="rect">
            <a:avLst/>
          </a:prstGeom>
        </p:spPr>
      </p:pic>
      <p:sp>
        <p:nvSpPr>
          <p:cNvPr id="62" name="TextBox 61"/>
          <p:cNvSpPr txBox="1"/>
          <p:nvPr/>
        </p:nvSpPr>
        <p:spPr>
          <a:xfrm>
            <a:off x="6029325" y="445007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3" name="Picture 62" descr="lock.png"/>
          <p:cNvPicPr>
            <a:picLocks noChangeAspect="1"/>
          </p:cNvPicPr>
          <p:nvPr/>
        </p:nvPicPr>
        <p:blipFill>
          <a:blip r:embed="rId4"/>
          <a:stretch>
            <a:fillRect/>
          </a:stretch>
        </p:blipFill>
        <p:spPr>
          <a:xfrm>
            <a:off x="7203111" y="4439856"/>
            <a:ext cx="134549" cy="195707"/>
          </a:xfrm>
          <a:prstGeom prst="rect">
            <a:avLst/>
          </a:prstGeom>
        </p:spPr>
      </p:pic>
      <p:sp>
        <p:nvSpPr>
          <p:cNvPr id="64" name="TextBox 63"/>
          <p:cNvSpPr txBox="1"/>
          <p:nvPr/>
        </p:nvSpPr>
        <p:spPr>
          <a:xfrm>
            <a:off x="7378220" y="4450079"/>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65" name="TextBox 64"/>
          <p:cNvSpPr txBox="1"/>
          <p:nvPr/>
        </p:nvSpPr>
        <p:spPr>
          <a:xfrm>
            <a:off x="6029325" y="4625339"/>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6" name="TextBox 65"/>
          <p:cNvSpPr txBox="1"/>
          <p:nvPr/>
        </p:nvSpPr>
        <p:spPr>
          <a:xfrm>
            <a:off x="8124825" y="3924300"/>
            <a:ext cx="1246311" cy="194310"/>
          </a:xfrm>
          <a:prstGeom prst="rect">
            <a:avLst/>
          </a:prstGeom>
          <a:noFill/>
        </p:spPr>
        <p:txBody>
          <a:bodyPr wrap="none" lIns="0" rIns="0" tIns="0" bIns="0">
            <a:spAutoFit/>
          </a:bodyPr>
          <a:lstStyle/>
          <a:p>
            <a:r>
              <a:rPr sz="1150" b="0">
                <a:solidFill>
                  <a:srgbClr val="2E2E2E"/>
                </a:solidFill>
                <a:latin typeface="Calibri"/>
              </a:rPr>
              <a:t>▪ 'Cast Metal Partial</a:t>
            </a:r>
          </a:p>
        </p:txBody>
      </p:sp>
      <p:sp>
        <p:nvSpPr>
          <p:cNvPr id="67" name="TextBox 66"/>
          <p:cNvSpPr txBox="1"/>
          <p:nvPr/>
        </p:nvSpPr>
        <p:spPr>
          <a:xfrm>
            <a:off x="8124825" y="4099560"/>
            <a:ext cx="1214648" cy="194310"/>
          </a:xfrm>
          <a:prstGeom prst="rect">
            <a:avLst/>
          </a:prstGeom>
          <a:noFill/>
        </p:spPr>
        <p:txBody>
          <a:bodyPr wrap="none" lIns="0" rIns="0" tIns="0" bIns="0">
            <a:spAutoFit/>
          </a:bodyPr>
          <a:lstStyle/>
          <a:p>
            <a:r>
              <a:rPr sz="1150" b="0">
                <a:solidFill>
                  <a:srgbClr val="2E2E2E"/>
                </a:solidFill>
                <a:latin typeface="Calibri"/>
              </a:rPr>
              <a:t>Dentures × Flexible</a:t>
            </a:r>
          </a:p>
        </p:txBody>
      </p:sp>
      <p:sp>
        <p:nvSpPr>
          <p:cNvPr id="68" name="TextBox 67"/>
          <p:cNvSpPr txBox="1"/>
          <p:nvPr/>
        </p:nvSpPr>
        <p:spPr>
          <a:xfrm>
            <a:off x="8124825" y="4274820"/>
            <a:ext cx="1657350" cy="194310"/>
          </a:xfrm>
          <a:prstGeom prst="rect">
            <a:avLst/>
          </a:prstGeom>
          <a:noFill/>
        </p:spPr>
        <p:txBody>
          <a:bodyPr wrap="none" lIns="0" rIns="0" tIns="0" bIns="0">
            <a:spAutoFit/>
          </a:bodyPr>
          <a:lstStyle/>
          <a:p>
            <a:r>
              <a:rPr sz="1150" b="0">
                <a:solidFill>
                  <a:srgbClr val="2E2E2E"/>
                </a:solidFill>
                <a:latin typeface="Calibri"/>
              </a:rPr>
              <a:t>Thermoplastics' grows at a</a:t>
            </a:r>
          </a:p>
        </p:txBody>
      </p:sp>
      <p:pic>
        <p:nvPicPr>
          <p:cNvPr id="69" name="Picture 68" descr="lock.png"/>
          <p:cNvPicPr>
            <a:picLocks noChangeAspect="1"/>
          </p:cNvPicPr>
          <p:nvPr/>
        </p:nvPicPr>
        <p:blipFill>
          <a:blip r:embed="rId4"/>
          <a:stretch>
            <a:fillRect/>
          </a:stretch>
        </p:blipFill>
        <p:spPr>
          <a:xfrm>
            <a:off x="8110745" y="4439856"/>
            <a:ext cx="134549" cy="195707"/>
          </a:xfrm>
          <a:prstGeom prst="rect">
            <a:avLst/>
          </a:prstGeom>
        </p:spPr>
      </p:pic>
      <p:sp>
        <p:nvSpPr>
          <p:cNvPr id="70" name="TextBox 69"/>
          <p:cNvSpPr txBox="1"/>
          <p:nvPr/>
        </p:nvSpPr>
        <p:spPr>
          <a:xfrm>
            <a:off x="8285854" y="445007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1" name="Picture 70" descr="lock.png"/>
          <p:cNvPicPr>
            <a:picLocks noChangeAspect="1"/>
          </p:cNvPicPr>
          <p:nvPr/>
        </p:nvPicPr>
        <p:blipFill>
          <a:blip r:embed="rId4"/>
          <a:stretch>
            <a:fillRect/>
          </a:stretch>
        </p:blipFill>
        <p:spPr>
          <a:xfrm>
            <a:off x="8681450" y="4439856"/>
            <a:ext cx="134549" cy="195707"/>
          </a:xfrm>
          <a:prstGeom prst="rect">
            <a:avLst/>
          </a:prstGeom>
        </p:spPr>
      </p:pic>
      <p:sp>
        <p:nvSpPr>
          <p:cNvPr id="72" name="TextBox 71"/>
          <p:cNvSpPr txBox="1"/>
          <p:nvPr/>
        </p:nvSpPr>
        <p:spPr>
          <a:xfrm>
            <a:off x="8856559" y="4450079"/>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73" name="TextBox 72"/>
          <p:cNvSpPr txBox="1"/>
          <p:nvPr/>
        </p:nvSpPr>
        <p:spPr>
          <a:xfrm>
            <a:off x="8124825" y="4625339"/>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9722916"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U.S.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9948295" y="3714051"/>
            <a:ext cx="134549" cy="195707"/>
          </a:xfrm>
          <a:prstGeom prst="rect">
            <a:avLst/>
          </a:prstGeom>
        </p:spPr>
      </p:pic>
      <p:sp>
        <p:nvSpPr>
          <p:cNvPr id="23" name="TextBox 22"/>
          <p:cNvSpPr txBox="1"/>
          <p:nvPr/>
        </p:nvSpPr>
        <p:spPr>
          <a:xfrm>
            <a:off x="10123404" y="3724275"/>
            <a:ext cx="1490488" cy="194310"/>
          </a:xfrm>
          <a:prstGeom prst="rect">
            <a:avLst/>
          </a:prstGeom>
          <a:noFill/>
        </p:spPr>
        <p:txBody>
          <a:bodyPr wrap="none" lIns="0" rIns="0" tIns="0" bIns="0">
            <a:spAutoFit/>
          </a:bodyPr>
          <a:lstStyle/>
          <a:p>
            <a:r>
              <a:rPr sz="1150" b="0">
                <a:solidFill>
                  <a:srgbClr val="2E2E2E"/>
                </a:solidFill>
                <a:latin typeface="Calibri"/>
              </a:rPr>
              <a:t>Mn in 2036. 'Cast Metal</a:t>
            </a:r>
          </a:p>
        </p:txBody>
      </p:sp>
      <p:sp>
        <p:nvSpPr>
          <p:cNvPr id="24" name="TextBox 23"/>
          <p:cNvSpPr txBox="1"/>
          <p:nvPr/>
        </p:nvSpPr>
        <p:spPr>
          <a:xfrm>
            <a:off x="276225" y="3899535"/>
            <a:ext cx="5088333" cy="194310"/>
          </a:xfrm>
          <a:prstGeom prst="rect">
            <a:avLst/>
          </a:prstGeom>
          <a:noFill/>
        </p:spPr>
        <p:txBody>
          <a:bodyPr wrap="none" lIns="0" rIns="0" tIns="0" bIns="0">
            <a:spAutoFit/>
          </a:bodyPr>
          <a:lstStyle/>
          <a:p>
            <a:r>
              <a:rPr sz="1150" b="0">
                <a:solidFill>
                  <a:srgbClr val="2E2E2E"/>
                </a:solidFill>
                <a:latin typeface="Calibri"/>
              </a:rPr>
              <a:t>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313712" y="3889311"/>
            <a:ext cx="134549" cy="195707"/>
          </a:xfrm>
          <a:prstGeom prst="rect">
            <a:avLst/>
          </a:prstGeom>
        </p:spPr>
      </p:pic>
      <p:sp>
        <p:nvSpPr>
          <p:cNvPr id="26" name="TextBox 25"/>
          <p:cNvSpPr txBox="1"/>
          <p:nvPr/>
        </p:nvSpPr>
        <p:spPr>
          <a:xfrm>
            <a:off x="5488822" y="3899535"/>
            <a:ext cx="638937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 growth at a</a:t>
            </a:r>
          </a:p>
        </p:txBody>
      </p:sp>
      <p:sp>
        <p:nvSpPr>
          <p:cNvPr id="27" name="TextBox 26"/>
          <p:cNvSpPr txBox="1"/>
          <p:nvPr/>
        </p:nvSpPr>
        <p:spPr>
          <a:xfrm>
            <a:off x="276225" y="4074794"/>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8" name="Picture 27" descr="lock.png"/>
          <p:cNvPicPr>
            <a:picLocks noChangeAspect="1"/>
          </p:cNvPicPr>
          <p:nvPr/>
        </p:nvPicPr>
        <p:blipFill>
          <a:blip r:embed="rId4"/>
          <a:stretch>
            <a:fillRect/>
          </a:stretch>
        </p:blipFill>
        <p:spPr>
          <a:xfrm>
            <a:off x="789915" y="4064571"/>
            <a:ext cx="134549" cy="195707"/>
          </a:xfrm>
          <a:prstGeom prst="rect">
            <a:avLst/>
          </a:prstGeom>
        </p:spPr>
      </p:pic>
      <p:sp>
        <p:nvSpPr>
          <p:cNvPr id="29" name="TextBox 28"/>
          <p:cNvSpPr txBox="1"/>
          <p:nvPr/>
        </p:nvSpPr>
        <p:spPr>
          <a:xfrm>
            <a:off x="965025" y="407479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31" name="Picture 30" descr="lock.png"/>
          <p:cNvPicPr>
            <a:picLocks noChangeAspect="1"/>
          </p:cNvPicPr>
          <p:nvPr/>
        </p:nvPicPr>
        <p:blipFill>
          <a:blip r:embed="rId4"/>
          <a:stretch>
            <a:fillRect/>
          </a:stretch>
        </p:blipFill>
        <p:spPr>
          <a:xfrm>
            <a:off x="5957593" y="4292409"/>
            <a:ext cx="134549" cy="195707"/>
          </a:xfrm>
          <a:prstGeom prst="rect">
            <a:avLst/>
          </a:prstGeom>
        </p:spPr>
      </p:pic>
      <p:sp>
        <p:nvSpPr>
          <p:cNvPr id="32" name="TextBox 31"/>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21832" cy="194310"/>
          </a:xfrm>
          <a:prstGeom prst="rect">
            <a:avLst/>
          </a:prstGeom>
          <a:noFill/>
        </p:spPr>
        <p:txBody>
          <a:bodyPr wrap="none" lIns="0" rIns="0" tIns="0" bIns="0">
            <a:spAutoFit/>
          </a:bodyPr>
          <a:lstStyle/>
          <a:p>
            <a:r>
              <a:rPr sz="1150" b="0">
                <a:solidFill>
                  <a:srgbClr val="2E2E2E"/>
                </a:solidFill>
                <a:latin typeface="Calibri"/>
              </a:rPr>
              <a:t>▪ 'Heat-cured / Compression Processing' holds the highest share of</a:t>
            </a:r>
          </a:p>
        </p:txBody>
      </p:sp>
      <p:sp>
        <p:nvSpPr>
          <p:cNvPr id="26" name="TextBox 25"/>
          <p:cNvSpPr txBox="1"/>
          <p:nvPr/>
        </p:nvSpPr>
        <p:spPr>
          <a:xfrm>
            <a:off x="7715250" y="4099560"/>
            <a:ext cx="1924930" cy="194310"/>
          </a:xfrm>
          <a:prstGeom prst="rect">
            <a:avLst/>
          </a:prstGeom>
          <a:noFill/>
        </p:spPr>
        <p:txBody>
          <a:bodyPr wrap="none" lIns="0" rIns="0" tIns="0" bIns="0">
            <a:spAutoFit/>
          </a:bodyPr>
          <a:lstStyle/>
          <a:p>
            <a:r>
              <a:rPr sz="1150" b="0">
                <a:solidFill>
                  <a:srgbClr val="2E2E2E"/>
                </a:solidFill>
                <a:latin typeface="Calibri"/>
              </a:rPr>
              <a:t>'Cast Metal Partial Dentures' at</a:t>
            </a:r>
          </a:p>
        </p:txBody>
      </p:sp>
      <p:pic>
        <p:nvPicPr>
          <p:cNvPr id="27" name="Picture 26" descr="lock.png"/>
          <p:cNvPicPr>
            <a:picLocks noChangeAspect="1"/>
          </p:cNvPicPr>
          <p:nvPr/>
        </p:nvPicPr>
        <p:blipFill>
          <a:blip r:embed="rId5"/>
          <a:stretch>
            <a:fillRect/>
          </a:stretch>
        </p:blipFill>
        <p:spPr>
          <a:xfrm>
            <a:off x="9589334" y="4089336"/>
            <a:ext cx="134549" cy="195707"/>
          </a:xfrm>
          <a:prstGeom prst="rect">
            <a:avLst/>
          </a:prstGeom>
        </p:spPr>
      </p:pic>
      <p:sp>
        <p:nvSpPr>
          <p:cNvPr id="28" name="TextBox 27"/>
          <p:cNvSpPr txBox="1"/>
          <p:nvPr/>
        </p:nvSpPr>
        <p:spPr>
          <a:xfrm>
            <a:off x="976444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53344" cy="194310"/>
          </a:xfrm>
          <a:prstGeom prst="rect">
            <a:avLst/>
          </a:prstGeom>
          <a:noFill/>
        </p:spPr>
        <p:txBody>
          <a:bodyPr wrap="none" lIns="0" rIns="0" tIns="0" bIns="0">
            <a:spAutoFit/>
          </a:bodyPr>
          <a:lstStyle/>
          <a:p>
            <a:r>
              <a:rPr sz="1150" b="0">
                <a:solidFill>
                  <a:srgbClr val="2E2E2E"/>
                </a:solidFill>
                <a:latin typeface="Calibri"/>
              </a:rPr>
              <a:t>of its value via 'Heat-cured / Compression</a:t>
            </a:r>
          </a:p>
        </p:txBody>
      </p:sp>
      <p:sp>
        <p:nvSpPr>
          <p:cNvPr id="33" name="TextBox 32"/>
          <p:cNvSpPr txBox="1"/>
          <p:nvPr/>
        </p:nvSpPr>
        <p:spPr>
          <a:xfrm>
            <a:off x="7715250" y="4677917"/>
            <a:ext cx="776783" cy="194310"/>
          </a:xfrm>
          <a:prstGeom prst="rect">
            <a:avLst/>
          </a:prstGeom>
          <a:noFill/>
        </p:spPr>
        <p:txBody>
          <a:bodyPr wrap="none" lIns="0" rIns="0" tIns="0" bIns="0">
            <a:spAutoFit/>
          </a:bodyPr>
          <a:lstStyle/>
          <a:p>
            <a:r>
              <a:rPr sz="1150" b="0">
                <a:solidFill>
                  <a:srgbClr val="2E2E2E"/>
                </a:solidFill>
                <a:latin typeface="Calibri"/>
              </a:rPr>
              <a:t>Processing'.</a:t>
            </a:r>
          </a:p>
        </p:txBody>
      </p:sp>
      <p:sp>
        <p:nvSpPr>
          <p:cNvPr id="34" name="TextBox 33"/>
          <p:cNvSpPr txBox="1"/>
          <p:nvPr/>
        </p:nvSpPr>
        <p:spPr>
          <a:xfrm>
            <a:off x="7715250" y="490575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5" name="Picture 34" descr="lock.png"/>
          <p:cNvPicPr>
            <a:picLocks noChangeAspect="1"/>
          </p:cNvPicPr>
          <p:nvPr/>
        </p:nvPicPr>
        <p:blipFill>
          <a:blip r:embed="rId5"/>
          <a:stretch>
            <a:fillRect/>
          </a:stretch>
        </p:blipFill>
        <p:spPr>
          <a:xfrm>
            <a:off x="9151184" y="4895532"/>
            <a:ext cx="134549" cy="195707"/>
          </a:xfrm>
          <a:prstGeom prst="rect">
            <a:avLst/>
          </a:prstGeom>
        </p:spPr>
      </p:pic>
      <p:sp>
        <p:nvSpPr>
          <p:cNvPr id="36" name="TextBox 35"/>
          <p:cNvSpPr txBox="1"/>
          <p:nvPr/>
        </p:nvSpPr>
        <p:spPr>
          <a:xfrm>
            <a:off x="9326293" y="4905755"/>
            <a:ext cx="2453506" cy="194310"/>
          </a:xfrm>
          <a:prstGeom prst="rect">
            <a:avLst/>
          </a:prstGeom>
          <a:noFill/>
        </p:spPr>
        <p:txBody>
          <a:bodyPr wrap="none" lIns="0" rIns="0" tIns="0" bIns="0">
            <a:spAutoFit/>
          </a:bodyPr>
          <a:lstStyle/>
          <a:p>
            <a:r>
              <a:rPr sz="1150" b="0">
                <a:solidFill>
                  <a:srgbClr val="2E2E2E"/>
                </a:solidFill>
                <a:latin typeface="Calibri"/>
              </a:rPr>
              <a:t>BPS of share of the U.S. cross-section by</a:t>
            </a:r>
          </a:p>
        </p:txBody>
      </p:sp>
      <p:sp>
        <p:nvSpPr>
          <p:cNvPr id="37" name="TextBox 36"/>
          <p:cNvSpPr txBox="1"/>
          <p:nvPr/>
        </p:nvSpPr>
        <p:spPr>
          <a:xfrm>
            <a:off x="7715250" y="5081015"/>
            <a:ext cx="476482" cy="194310"/>
          </a:xfrm>
          <a:prstGeom prst="rect">
            <a:avLst/>
          </a:prstGeom>
          <a:noFill/>
        </p:spPr>
        <p:txBody>
          <a:bodyPr wrap="none" lIns="0" rIns="0" tIns="0" bIns="0">
            <a:spAutoFit/>
          </a:bodyPr>
          <a:lstStyle/>
          <a:p>
            <a:r>
              <a:rPr sz="1150" b="0">
                <a:solidFill>
                  <a:srgbClr val="2E2E2E"/>
                </a:solidFill>
                <a:latin typeface="Calibri"/>
              </a:rPr>
              <a:t>2036F.</a:t>
            </a:r>
          </a:p>
        </p:txBody>
      </p:sp>
      <p:sp>
        <p:nvSpPr>
          <p:cNvPr id="38"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207.2</a:t>
            </a:r>
          </a:p>
        </p:txBody>
      </p:sp>
      <p:sp>
        <p:nvSpPr>
          <p:cNvPr id="14" name="TextBox 13"/>
          <p:cNvSpPr txBox="1"/>
          <p:nvPr/>
        </p:nvSpPr>
        <p:spPr>
          <a:xfrm>
            <a:off x="219075" y="256100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336.7</a:t>
            </a:r>
          </a:p>
        </p:txBody>
      </p:sp>
      <p:sp>
        <p:nvSpPr>
          <p:cNvPr id="15" name="TextBox 14"/>
          <p:cNvSpPr txBox="1"/>
          <p:nvPr/>
        </p:nvSpPr>
        <p:spPr>
          <a:xfrm>
            <a:off x="219075" y="1650949"/>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466.2</a:t>
            </a:r>
          </a:p>
        </p:txBody>
      </p:sp>
      <p:cxnSp>
        <p:nvCxnSpPr>
          <p:cNvPr id="16" name="Connector 15"/>
          <p:cNvCxnSpPr/>
          <p:nvPr/>
        </p:nvCxnSpPr>
        <p:spPr>
          <a:xfrm>
            <a:off x="1533525" y="2575717"/>
            <a:ext cx="0" cy="26434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575717"/>
            <a:ext cx="438150" cy="264349"/>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42331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cxnSp>
        <p:nvCxnSpPr>
          <p:cNvPr id="20" name="Connector 19"/>
          <p:cNvCxnSpPr/>
          <p:nvPr/>
        </p:nvCxnSpPr>
        <p:spPr>
          <a:xfrm>
            <a:off x="3286125" y="2536036"/>
            <a:ext cx="0" cy="26072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2536036"/>
            <a:ext cx="438150" cy="26072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23836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cxnSp>
        <p:nvCxnSpPr>
          <p:cNvPr id="24" name="Connector 23"/>
          <p:cNvCxnSpPr/>
          <p:nvPr/>
        </p:nvCxnSpPr>
        <p:spPr>
          <a:xfrm>
            <a:off x="5038725" y="1927636"/>
            <a:ext cx="0" cy="32119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1927636"/>
            <a:ext cx="438150" cy="32119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cxnSp>
        <p:nvCxnSpPr>
          <p:cNvPr id="28" name="Connector 27"/>
          <p:cNvCxnSpPr/>
          <p:nvPr/>
        </p:nvCxnSpPr>
        <p:spPr>
          <a:xfrm>
            <a:off x="6791325" y="3130639"/>
            <a:ext cx="0" cy="19707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130639"/>
            <a:ext cx="438150" cy="19707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7823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34" name="Connector 33"/>
          <p:cNvCxnSpPr/>
          <p:nvPr/>
        </p:nvCxnSpPr>
        <p:spPr>
          <a:xfrm>
            <a:off x="619125" y="45166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88296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1563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598196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16633"/>
            <a:ext cx="0" cy="146533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166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88296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156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598196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138112" y="444995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+8.5%</a:t>
            </a:r>
          </a:p>
        </p:txBody>
      </p:sp>
      <p:sp>
        <p:nvSpPr>
          <p:cNvPr id="46" name="FMI Scale tick"/>
          <p:cNvSpPr txBox="1"/>
          <p:nvPr/>
        </p:nvSpPr>
        <p:spPr>
          <a:xfrm>
            <a:off x="138112" y="481629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47"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164306" y="5548955"/>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49" name="FMI Scale tick"/>
          <p:cNvSpPr txBox="1"/>
          <p:nvPr/>
        </p:nvSpPr>
        <p:spPr>
          <a:xfrm>
            <a:off x="164306" y="5915288"/>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-8.5%</a:t>
            </a:r>
          </a:p>
        </p:txBody>
      </p:sp>
      <p:cxnSp>
        <p:nvCxnSpPr>
          <p:cNvPr id="50" name="Connector 49"/>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977900" y="4619480"/>
            <a:ext cx="457200" cy="6298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47660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2152650" y="4615000"/>
            <a:ext cx="457200" cy="63429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793875" y="447212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Rectangle 54"/>
          <p:cNvSpPr/>
          <p:nvPr/>
        </p:nvSpPr>
        <p:spPr>
          <a:xfrm>
            <a:off x="3327400" y="4620782"/>
            <a:ext cx="457200" cy="6285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2968625" y="4477907"/>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7" name="Rectangle 56"/>
          <p:cNvSpPr/>
          <p:nvPr/>
        </p:nvSpPr>
        <p:spPr>
          <a:xfrm>
            <a:off x="4502150" y="4646647"/>
            <a:ext cx="457200" cy="60265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4143375" y="450377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9" name="Rectangle 58"/>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1" name="Rectangle 60"/>
          <p:cNvSpPr/>
          <p:nvPr/>
        </p:nvSpPr>
        <p:spPr>
          <a:xfrm>
            <a:off x="6851650" y="4621923"/>
            <a:ext cx="457200" cy="6273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6492875" y="447904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3" name="TextBox 62"/>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64" name="TextBox 63"/>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65" name="TextBox 64"/>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66" name="TextBox 65"/>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67" name="TextBox 66"/>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8" name="TextBox 67"/>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9" name="Rounded Rectangle 68"/>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1" name="Rectangle 70"/>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73" name="TextBox 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4" name="Picture 73" descr="lock.png"/>
          <p:cNvPicPr>
            <a:picLocks noChangeAspect="1"/>
          </p:cNvPicPr>
          <p:nvPr/>
        </p:nvPicPr>
        <p:blipFill>
          <a:blip r:embed="rId4"/>
          <a:stretch>
            <a:fillRect/>
          </a:stretch>
        </p:blipFill>
        <p:spPr>
          <a:xfrm>
            <a:off x="1469175" y="2396393"/>
            <a:ext cx="128699" cy="187198"/>
          </a:xfrm>
          <a:prstGeom prst="rect">
            <a:avLst/>
          </a:prstGeom>
        </p:spPr>
      </p:pic>
      <p:pic>
        <p:nvPicPr>
          <p:cNvPr id="75" name="Picture 74" descr="lock.png"/>
          <p:cNvPicPr>
            <a:picLocks noChangeAspect="1"/>
          </p:cNvPicPr>
          <p:nvPr/>
        </p:nvPicPr>
        <p:blipFill>
          <a:blip r:embed="rId4"/>
          <a:stretch>
            <a:fillRect/>
          </a:stretch>
        </p:blipFill>
        <p:spPr>
          <a:xfrm>
            <a:off x="3221775" y="2356712"/>
            <a:ext cx="128699" cy="187198"/>
          </a:xfrm>
          <a:prstGeom prst="rect">
            <a:avLst/>
          </a:prstGeom>
        </p:spPr>
      </p:pic>
      <p:pic>
        <p:nvPicPr>
          <p:cNvPr id="76" name="Picture 75" descr="lock.png"/>
          <p:cNvPicPr>
            <a:picLocks noChangeAspect="1"/>
          </p:cNvPicPr>
          <p:nvPr/>
        </p:nvPicPr>
        <p:blipFill>
          <a:blip r:embed="rId4"/>
          <a:stretch>
            <a:fillRect/>
          </a:stretch>
        </p:blipFill>
        <p:spPr>
          <a:xfrm>
            <a:off x="4974375" y="1748312"/>
            <a:ext cx="128699" cy="187198"/>
          </a:xfrm>
          <a:prstGeom prst="rect">
            <a:avLst/>
          </a:prstGeom>
        </p:spPr>
      </p:pic>
      <p:pic>
        <p:nvPicPr>
          <p:cNvPr id="77" name="Picture 76" descr="lock.png"/>
          <p:cNvPicPr>
            <a:picLocks noChangeAspect="1"/>
          </p:cNvPicPr>
          <p:nvPr/>
        </p:nvPicPr>
        <p:blipFill>
          <a:blip r:embed="rId4"/>
          <a:stretch>
            <a:fillRect/>
          </a:stretch>
        </p:blipFill>
        <p:spPr>
          <a:xfrm>
            <a:off x="6726975" y="2951315"/>
            <a:ext cx="128699" cy="187198"/>
          </a:xfrm>
          <a:prstGeom prst="rect">
            <a:avLst/>
          </a:prstGeom>
        </p:spPr>
      </p:pic>
      <p:pic>
        <p:nvPicPr>
          <p:cNvPr id="78" name="Picture 77" descr="lock.png"/>
          <p:cNvPicPr>
            <a:picLocks noChangeAspect="1"/>
          </p:cNvPicPr>
          <p:nvPr/>
        </p:nvPicPr>
        <p:blipFill>
          <a:blip r:embed="rId4"/>
          <a:stretch>
            <a:fillRect/>
          </a:stretch>
        </p:blipFill>
        <p:spPr>
          <a:xfrm>
            <a:off x="1142150" y="4449681"/>
            <a:ext cx="128699" cy="187198"/>
          </a:xfrm>
          <a:prstGeom prst="rect">
            <a:avLst/>
          </a:prstGeom>
        </p:spPr>
      </p:pic>
      <p:pic>
        <p:nvPicPr>
          <p:cNvPr id="79" name="Picture 78" descr="lock.png"/>
          <p:cNvPicPr>
            <a:picLocks noChangeAspect="1"/>
          </p:cNvPicPr>
          <p:nvPr/>
        </p:nvPicPr>
        <p:blipFill>
          <a:blip r:embed="rId4"/>
          <a:stretch>
            <a:fillRect/>
          </a:stretch>
        </p:blipFill>
        <p:spPr>
          <a:xfrm>
            <a:off x="2316900" y="4445201"/>
            <a:ext cx="128699" cy="187198"/>
          </a:xfrm>
          <a:prstGeom prst="rect">
            <a:avLst/>
          </a:prstGeom>
        </p:spPr>
      </p:pic>
      <p:pic>
        <p:nvPicPr>
          <p:cNvPr id="80" name="Picture 79" descr="lock.png"/>
          <p:cNvPicPr>
            <a:picLocks noChangeAspect="1"/>
          </p:cNvPicPr>
          <p:nvPr/>
        </p:nvPicPr>
        <p:blipFill>
          <a:blip r:embed="rId4"/>
          <a:stretch>
            <a:fillRect/>
          </a:stretch>
        </p:blipFill>
        <p:spPr>
          <a:xfrm>
            <a:off x="3491650" y="4450983"/>
            <a:ext cx="128699" cy="187198"/>
          </a:xfrm>
          <a:prstGeom prst="rect">
            <a:avLst/>
          </a:prstGeom>
        </p:spPr>
      </p:pic>
      <p:pic>
        <p:nvPicPr>
          <p:cNvPr id="81" name="Picture 80" descr="lock.png"/>
          <p:cNvPicPr>
            <a:picLocks noChangeAspect="1"/>
          </p:cNvPicPr>
          <p:nvPr/>
        </p:nvPicPr>
        <p:blipFill>
          <a:blip r:embed="rId4"/>
          <a:stretch>
            <a:fillRect/>
          </a:stretch>
        </p:blipFill>
        <p:spPr>
          <a:xfrm>
            <a:off x="4666400" y="4476848"/>
            <a:ext cx="128699" cy="187198"/>
          </a:xfrm>
          <a:prstGeom prst="rect">
            <a:avLst/>
          </a:prstGeom>
        </p:spPr>
      </p:pic>
      <p:pic>
        <p:nvPicPr>
          <p:cNvPr id="82" name="Picture 81" descr="lock.png"/>
          <p:cNvPicPr>
            <a:picLocks noChangeAspect="1"/>
          </p:cNvPicPr>
          <p:nvPr/>
        </p:nvPicPr>
        <p:blipFill>
          <a:blip r:embed="rId4"/>
          <a:stretch>
            <a:fillRect/>
          </a:stretch>
        </p:blipFill>
        <p:spPr>
          <a:xfrm>
            <a:off x="5841150" y="4444308"/>
            <a:ext cx="128699" cy="187198"/>
          </a:xfrm>
          <a:prstGeom prst="rect">
            <a:avLst/>
          </a:prstGeom>
        </p:spPr>
      </p:pic>
      <p:pic>
        <p:nvPicPr>
          <p:cNvPr id="83" name="Picture 82" descr="lock.png"/>
          <p:cNvPicPr>
            <a:picLocks noChangeAspect="1"/>
          </p:cNvPicPr>
          <p:nvPr/>
        </p:nvPicPr>
        <p:blipFill>
          <a:blip r:embed="rId4"/>
          <a:stretch>
            <a:fillRect/>
          </a:stretch>
        </p:blipFill>
        <p:spPr>
          <a:xfrm>
            <a:off x="7015900" y="4452124"/>
            <a:ext cx="128699" cy="187198"/>
          </a:xfrm>
          <a:prstGeom prst="rect">
            <a:avLst/>
          </a:prstGeom>
        </p:spPr>
      </p:pic>
      <p:sp>
        <p:nvSpPr>
          <p:cNvPr id="84" name="TextBox 83"/>
          <p:cNvSpPr txBox="1"/>
          <p:nvPr/>
        </p:nvSpPr>
        <p:spPr>
          <a:xfrm>
            <a:off x="8048625" y="1736673"/>
            <a:ext cx="3654424"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product type</a:t>
            </a:r>
          </a:p>
        </p:txBody>
      </p:sp>
      <p:sp>
        <p:nvSpPr>
          <p:cNvPr id="85" name="TextBox 84"/>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86" name="TextBox 85"/>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87" name="TextBox 86"/>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88" name="TextBox 87"/>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89" name="TextBox 88"/>
          <p:cNvSpPr txBox="1"/>
          <p:nvPr/>
        </p:nvSpPr>
        <p:spPr>
          <a:xfrm>
            <a:off x="8048625" y="2665551"/>
            <a:ext cx="3440769" cy="194310"/>
          </a:xfrm>
          <a:prstGeom prst="rect">
            <a:avLst/>
          </a:prstGeom>
          <a:noFill/>
        </p:spPr>
        <p:txBody>
          <a:bodyPr wrap="none" lIns="0" rIns="0" tIns="0" bIns="0">
            <a:spAutoFit/>
          </a:bodyPr>
          <a:lstStyle/>
          <a:p>
            <a:r>
              <a:rPr sz="1150" b="0">
                <a:solidFill>
                  <a:srgbClr val="2E2E2E"/>
                </a:solidFill>
                <a:latin typeface="Calibri"/>
              </a:rPr>
              <a:t>price levels 'Cast Metal Partial Dentures' shows the most</a:t>
            </a:r>
          </a:p>
        </p:txBody>
      </p:sp>
      <p:sp>
        <p:nvSpPr>
          <p:cNvPr id="90" name="TextBox 89"/>
          <p:cNvSpPr txBox="1"/>
          <p:nvPr/>
        </p:nvSpPr>
        <p:spPr>
          <a:xfrm>
            <a:off x="8048625" y="2840811"/>
            <a:ext cx="873769" cy="194310"/>
          </a:xfrm>
          <a:prstGeom prst="rect">
            <a:avLst/>
          </a:prstGeom>
          <a:noFill/>
        </p:spPr>
        <p:txBody>
          <a:bodyPr wrap="none" lIns="0" rIns="0" tIns="0" bIns="0">
            <a:spAutoFit/>
          </a:bodyPr>
          <a:lstStyle/>
          <a:p>
            <a:r>
              <a:rPr sz="1150" b="0">
                <a:solidFill>
                  <a:srgbClr val="2E2E2E"/>
                </a:solidFill>
                <a:latin typeface="Calibri"/>
              </a:rPr>
              <a:t>movement (+</a:t>
            </a:r>
          </a:p>
        </p:txBody>
      </p:sp>
      <p:pic>
        <p:nvPicPr>
          <p:cNvPr id="91" name="Picture 90" descr="lock.png"/>
          <p:cNvPicPr>
            <a:picLocks noChangeAspect="1"/>
          </p:cNvPicPr>
          <p:nvPr/>
        </p:nvPicPr>
        <p:blipFill>
          <a:blip r:embed="rId4"/>
          <a:stretch>
            <a:fillRect/>
          </a:stretch>
        </p:blipFill>
        <p:spPr>
          <a:xfrm>
            <a:off x="8871548" y="2830588"/>
            <a:ext cx="134549" cy="195707"/>
          </a:xfrm>
          <a:prstGeom prst="rect">
            <a:avLst/>
          </a:prstGeom>
        </p:spPr>
      </p:pic>
      <p:sp>
        <p:nvSpPr>
          <p:cNvPr id="92" name="TextBox 91"/>
          <p:cNvSpPr txBox="1"/>
          <p:nvPr/>
        </p:nvSpPr>
        <p:spPr>
          <a:xfrm>
            <a:off x="9046658" y="2840811"/>
            <a:ext cx="2470050" cy="194310"/>
          </a:xfrm>
          <a:prstGeom prst="rect">
            <a:avLst/>
          </a:prstGeom>
          <a:noFill/>
        </p:spPr>
        <p:txBody>
          <a:bodyPr wrap="none" lIns="0" rIns="0" tIns="0" bIns="0">
            <a:spAutoFit/>
          </a:bodyPr>
          <a:lstStyle/>
          <a:p>
            <a:r>
              <a:rPr sz="1150" b="0">
                <a:solidFill>
                  <a:srgbClr val="2E2E2E"/>
                </a:solidFill>
                <a:latin typeface="Calibri"/>
              </a:rPr>
              <a:t>) and 'Flexible Partial Dentures' the least</a:t>
            </a:r>
          </a:p>
        </p:txBody>
      </p:sp>
      <p:sp>
        <p:nvSpPr>
          <p:cNvPr id="93" name="TextBox 92"/>
          <p:cNvSpPr txBox="1"/>
          <p:nvPr/>
        </p:nvSpPr>
        <p:spPr>
          <a:xfrm>
            <a:off x="8048625" y="3016071"/>
            <a:ext cx="19315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94" name="Picture 93" descr="lock.png"/>
          <p:cNvPicPr>
            <a:picLocks noChangeAspect="1"/>
          </p:cNvPicPr>
          <p:nvPr/>
        </p:nvPicPr>
        <p:blipFill>
          <a:blip r:embed="rId4"/>
          <a:stretch>
            <a:fillRect/>
          </a:stretch>
        </p:blipFill>
        <p:spPr>
          <a:xfrm>
            <a:off x="8190933" y="3005848"/>
            <a:ext cx="134549" cy="195707"/>
          </a:xfrm>
          <a:prstGeom prst="rect">
            <a:avLst/>
          </a:prstGeom>
        </p:spPr>
      </p:pic>
      <p:sp>
        <p:nvSpPr>
          <p:cNvPr id="95" name="TextBox 94"/>
          <p:cNvSpPr txBox="1"/>
          <p:nvPr/>
        </p:nvSpPr>
        <p:spPr>
          <a:xfrm>
            <a:off x="8366042" y="3016071"/>
            <a:ext cx="3385145" cy="194310"/>
          </a:xfrm>
          <a:prstGeom prst="rect">
            <a:avLst/>
          </a:prstGeom>
          <a:noFill/>
        </p:spPr>
        <p:txBody>
          <a:bodyPr wrap="none" lIns="0" rIns="0" tIns="0" bIns="0">
            <a:spAutoFit/>
          </a:bodyPr>
          <a:lstStyle/>
          <a:p>
            <a:r>
              <a:rPr sz="1150" b="0">
                <a:solidFill>
                  <a:srgbClr val="2E2E2E"/>
                </a:solidFill>
                <a:latin typeface="Calibri"/>
              </a:rPr>
              <a:t>) variability stakeholders should monitor when planning</a:t>
            </a:r>
          </a:p>
        </p:txBody>
      </p:sp>
      <p:sp>
        <p:nvSpPr>
          <p:cNvPr id="96" name="TextBox 95"/>
          <p:cNvSpPr txBox="1"/>
          <p:nvPr/>
        </p:nvSpPr>
        <p:spPr>
          <a:xfrm>
            <a:off x="8048625" y="3191331"/>
            <a:ext cx="1492200" cy="194310"/>
          </a:xfrm>
          <a:prstGeom prst="rect">
            <a:avLst/>
          </a:prstGeom>
          <a:noFill/>
        </p:spPr>
        <p:txBody>
          <a:bodyPr wrap="none" lIns="0" rIns="0" tIns="0" bIns="0">
            <a:spAutoFit/>
          </a:bodyPr>
          <a:lstStyle/>
          <a:p>
            <a:r>
              <a:rPr sz="1150" b="0">
                <a:solidFill>
                  <a:srgbClr val="2E2E2E"/>
                </a:solidFill>
                <a:latin typeface="Calibri"/>
              </a:rPr>
              <a:t>procurement or pricing.</a:t>
            </a:r>
          </a:p>
        </p:txBody>
      </p:sp>
      <p:sp>
        <p:nvSpPr>
          <p:cNvPr id="97" name="TextBox 96"/>
          <p:cNvSpPr txBox="1"/>
          <p:nvPr/>
        </p:nvSpPr>
        <p:spPr>
          <a:xfrm>
            <a:off x="8048625" y="341916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98" name="TextBox 97"/>
          <p:cNvSpPr txBox="1"/>
          <p:nvPr/>
        </p:nvSpPr>
        <p:spPr>
          <a:xfrm>
            <a:off x="8048625" y="359442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99" name="TextBox 98"/>
          <p:cNvSpPr txBox="1"/>
          <p:nvPr/>
        </p:nvSpPr>
        <p:spPr>
          <a:xfrm>
            <a:off x="8048625" y="376968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100" name="TextBox 99"/>
          <p:cNvSpPr txBox="1"/>
          <p:nvPr/>
        </p:nvSpPr>
        <p:spPr>
          <a:xfrm>
            <a:off x="8048625" y="394494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101" name="TextBox 100"/>
          <p:cNvSpPr txBox="1"/>
          <p:nvPr/>
        </p:nvSpPr>
        <p:spPr>
          <a:xfrm>
            <a:off x="8048625" y="417278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102" name="Picture 101" descr="lock.png"/>
          <p:cNvPicPr>
            <a:picLocks noChangeAspect="1"/>
          </p:cNvPicPr>
          <p:nvPr/>
        </p:nvPicPr>
        <p:blipFill>
          <a:blip r:embed="rId4"/>
          <a:stretch>
            <a:fillRect/>
          </a:stretch>
        </p:blipFill>
        <p:spPr>
          <a:xfrm>
            <a:off x="10338039" y="4162564"/>
            <a:ext cx="134549" cy="195707"/>
          </a:xfrm>
          <a:prstGeom prst="rect">
            <a:avLst/>
          </a:prstGeom>
        </p:spPr>
      </p:pic>
      <p:sp>
        <p:nvSpPr>
          <p:cNvPr id="103" name="TextBox 102"/>
          <p:cNvSpPr txBox="1"/>
          <p:nvPr/>
        </p:nvSpPr>
        <p:spPr>
          <a:xfrm>
            <a:off x="10513148" y="417278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104" name="TextBox 103"/>
          <p:cNvSpPr txBox="1"/>
          <p:nvPr/>
        </p:nvSpPr>
        <p:spPr>
          <a:xfrm>
            <a:off x="8048625" y="434804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105" name="TextBox 104"/>
          <p:cNvSpPr txBox="1"/>
          <p:nvPr/>
        </p:nvSpPr>
        <p:spPr>
          <a:xfrm>
            <a:off x="8048625" y="452330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106" name="TextBox 105"/>
          <p:cNvSpPr txBox="1"/>
          <p:nvPr/>
        </p:nvSpPr>
        <p:spPr>
          <a:xfrm>
            <a:off x="8048625" y="469856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(US$/Units)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Acrylic Partial Dentures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BE3D3"/>
                    </a:solidFill>
                  </a:tcPr>
                </a:tc>
              </a:tr>
              <a:tr h="307848">
                <a:tc>
                  <a:txBody>
                    <a:bodyPr wrap="square"/>
                    <a:lstStyle/>
                    <a:p>
                      <a:pPr algn="l"/>
                      <a:r>
                        <a:rPr sz="85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Combination Framework Partial Dentures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(Units).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040505"/>
            <a:ext cx="330041" cy="480060"/>
          </a:xfrm>
          <a:prstGeom prst="rect">
            <a:avLst/>
          </a:prstGeom>
        </p:spPr>
      </p:pic>
      <p:sp>
        <p:nvSpPr>
          <p:cNvPr id="34" name="TextBox 33"/>
          <p:cNvSpPr txBox="1"/>
          <p:nvPr/>
        </p:nvSpPr>
        <p:spPr>
          <a:xfrm>
            <a:off x="411480" y="1110615"/>
            <a:ext cx="4922787" cy="217169"/>
          </a:xfrm>
          <a:prstGeom prst="rect">
            <a:avLst/>
          </a:prstGeom>
          <a:noFill/>
        </p:spPr>
        <p:txBody>
          <a:bodyPr wrap="none" lIns="0" rIns="0" tIns="0" bIns="0">
            <a:spAutoFit/>
          </a:bodyPr>
          <a:lstStyle/>
          <a:p>
            <a:r>
              <a:rPr sz="1300" b="1">
                <a:solidFill>
                  <a:srgbClr val="FFFFFF"/>
                </a:solidFill>
                <a:latin typeface="Calibri"/>
              </a:rPr>
              <a:t>Flexible Partial Dentures command the highest 2026 price point at US$</a:t>
            </a:r>
          </a:p>
        </p:txBody>
      </p:sp>
      <p:pic>
        <p:nvPicPr>
          <p:cNvPr id="35" name="Picture 34" descr="lock.png"/>
          <p:cNvPicPr>
            <a:picLocks noChangeAspect="1"/>
          </p:cNvPicPr>
          <p:nvPr/>
        </p:nvPicPr>
        <p:blipFill>
          <a:blip r:embed="rId6"/>
          <a:stretch>
            <a:fillRect/>
          </a:stretch>
        </p:blipFill>
        <p:spPr>
          <a:xfrm>
            <a:off x="5286728" y="1099058"/>
            <a:ext cx="152098" cy="221234"/>
          </a:xfrm>
          <a:prstGeom prst="rect">
            <a:avLst/>
          </a:prstGeom>
        </p:spPr>
      </p:pic>
      <p:sp>
        <p:nvSpPr>
          <p:cNvPr id="36" name="TextBox 35"/>
          <p:cNvSpPr txBox="1"/>
          <p:nvPr/>
        </p:nvSpPr>
        <p:spPr>
          <a:xfrm>
            <a:off x="5484678" y="1110615"/>
            <a:ext cx="668883" cy="217169"/>
          </a:xfrm>
          <a:prstGeom prst="rect">
            <a:avLst/>
          </a:prstGeom>
          <a:noFill/>
        </p:spPr>
        <p:txBody>
          <a:bodyPr wrap="none" lIns="0" rIns="0" tIns="0" bIns="0">
            <a:spAutoFit/>
          </a:bodyPr>
          <a:lstStyle/>
          <a:p>
            <a:r>
              <a:rPr sz="1300" b="1">
                <a:solidFill>
                  <a:srgbClr val="FFFFFF"/>
                </a:solidFill>
                <a:latin typeface="Calibri"/>
              </a:rPr>
              <a:t>/Units, a</a:t>
            </a:r>
          </a:p>
        </p:txBody>
      </p:sp>
      <p:pic>
        <p:nvPicPr>
          <p:cNvPr id="37" name="Picture 36" descr="lock.png"/>
          <p:cNvPicPr>
            <a:picLocks noChangeAspect="1"/>
          </p:cNvPicPr>
          <p:nvPr/>
        </p:nvPicPr>
        <p:blipFill>
          <a:blip r:embed="rId6"/>
          <a:stretch>
            <a:fillRect/>
          </a:stretch>
        </p:blipFill>
        <p:spPr>
          <a:xfrm>
            <a:off x="6106022" y="1099058"/>
            <a:ext cx="152098" cy="221234"/>
          </a:xfrm>
          <a:prstGeom prst="rect">
            <a:avLst/>
          </a:prstGeom>
        </p:spPr>
      </p:pic>
      <p:sp>
        <p:nvSpPr>
          <p:cNvPr id="38" name="TextBox 37"/>
          <p:cNvSpPr txBox="1"/>
          <p:nvPr/>
        </p:nvSpPr>
        <p:spPr>
          <a:xfrm>
            <a:off x="6303972" y="1110615"/>
            <a:ext cx="3992165" cy="217169"/>
          </a:xfrm>
          <a:prstGeom prst="rect">
            <a:avLst/>
          </a:prstGeom>
          <a:noFill/>
        </p:spPr>
        <p:txBody>
          <a:bodyPr wrap="none" lIns="0" rIns="0" tIns="0" bIns="0">
            <a:spAutoFit/>
          </a:bodyPr>
          <a:lstStyle/>
          <a:p>
            <a:r>
              <a:rPr sz="1300" b="1">
                <a:solidFill>
                  <a:srgbClr val="FFFFFF"/>
                </a:solidFill>
                <a:latin typeface="Calibri"/>
              </a:rPr>
              <a:t>premium over Combination Framework Partial Dentures.</a:t>
            </a:r>
          </a:p>
        </p:txBody>
      </p:sp>
      <p:sp>
        <p:nvSpPr>
          <p:cNvPr id="39" name="TextBox 38"/>
          <p:cNvSpPr txBox="1"/>
          <p:nvPr/>
        </p:nvSpPr>
        <p:spPr>
          <a:xfrm>
            <a:off x="6995160" y="1602867"/>
            <a:ext cx="2164334" cy="180289"/>
          </a:xfrm>
          <a:prstGeom prst="rect">
            <a:avLst/>
          </a:prstGeom>
          <a:noFill/>
        </p:spPr>
        <p:txBody>
          <a:bodyPr wrap="none" lIns="0" rIns="0" t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rIns="0" tIns="0" bIns="0">
            <a:spAutoFit/>
          </a:bodyPr>
          <a:lstStyle/>
          <a:p>
            <a:r>
              <a:rPr sz="1057" b="1">
                <a:solidFill>
                  <a:srgbClr val="0B2E4A"/>
                </a:solidFill>
                <a:latin typeface="Calibri"/>
              </a:rPr>
              <a:t>)</a:t>
            </a:r>
          </a:p>
        </p:txBody>
      </p:sp>
      <p:sp>
        <p:nvSpPr>
          <p:cNvPr id="42" name="TextBox 41"/>
          <p:cNvSpPr txBox="1"/>
          <p:nvPr/>
        </p:nvSpPr>
        <p:spPr>
          <a:xfrm>
            <a:off x="806576" y="5530976"/>
            <a:ext cx="3076575" cy="179069"/>
          </a:xfrm>
          <a:prstGeom prst="rect">
            <a:avLst/>
          </a:prstGeom>
          <a:noFill/>
        </p:spPr>
        <p:txBody>
          <a:bodyPr wrap="none" lIns="0" rIns="0" tIns="0" bIns="0">
            <a:spAutoFit/>
          </a:bodyPr>
          <a:lstStyle/>
          <a:p>
            <a:r>
              <a:rPr sz="1050" b="0">
                <a:solidFill>
                  <a:srgbClr val="1F1F1F"/>
                </a:solidFill>
                <a:latin typeface="Calibri"/>
              </a:rPr>
              <a:t>Flexible Partial Dentures sit at the top of the 2026 price</a:t>
            </a:r>
          </a:p>
        </p:txBody>
      </p:sp>
      <p:sp>
        <p:nvSpPr>
          <p:cNvPr id="43" name="TextBox 42"/>
          <p:cNvSpPr txBox="1"/>
          <p:nvPr/>
        </p:nvSpPr>
        <p:spPr>
          <a:xfrm>
            <a:off x="806576" y="5690996"/>
            <a:ext cx="1193266" cy="179069"/>
          </a:xfrm>
          <a:prstGeom prst="rect">
            <a:avLst/>
          </a:prstGeom>
          <a:noFill/>
        </p:spPr>
        <p:txBody>
          <a:bodyPr wrap="none" lIns="0" rIns="0" tIns="0" bIns="0">
            <a:spAutoFit/>
          </a:bodyPr>
          <a:lstStyle/>
          <a:p>
            <a:r>
              <a:rPr sz="1050" b="0">
                <a:solidFill>
                  <a:srgbClr val="1F1F1F"/>
                </a:solidFill>
                <a:latin typeface="Calibri"/>
              </a:rPr>
              <a:t>ladder at an index of</a:t>
            </a:r>
          </a:p>
        </p:txBody>
      </p:sp>
      <p:pic>
        <p:nvPicPr>
          <p:cNvPr id="44" name="Picture 43" descr="lock.png"/>
          <p:cNvPicPr>
            <a:picLocks noChangeAspect="1"/>
          </p:cNvPicPr>
          <p:nvPr/>
        </p:nvPicPr>
        <p:blipFill>
          <a:blip r:embed="rId6"/>
          <a:stretch>
            <a:fillRect/>
          </a:stretch>
        </p:blipFill>
        <p:spPr>
          <a:xfrm>
            <a:off x="1946792" y="5681662"/>
            <a:ext cx="122849" cy="178689"/>
          </a:xfrm>
          <a:prstGeom prst="rect">
            <a:avLst/>
          </a:prstGeom>
        </p:spPr>
      </p:pic>
      <p:sp>
        <p:nvSpPr>
          <p:cNvPr id="45" name="TextBox 44"/>
          <p:cNvSpPr txBox="1"/>
          <p:nvPr/>
        </p:nvSpPr>
        <p:spPr>
          <a:xfrm>
            <a:off x="2106675" y="5690996"/>
            <a:ext cx="1809489" cy="179069"/>
          </a:xfrm>
          <a:prstGeom prst="rect">
            <a:avLst/>
          </a:prstGeom>
          <a:noFill/>
        </p:spPr>
        <p:txBody>
          <a:bodyPr wrap="none" lIns="0" rIns="0" tIns="0" bIns="0">
            <a:spAutoFit/>
          </a:bodyPr>
          <a:lstStyle/>
          <a:p>
            <a:r>
              <a:rPr sz="1050" b="0">
                <a:solidFill>
                  <a:srgbClr val="1F1F1F"/>
                </a:solidFill>
                <a:latin typeface="Calibri"/>
              </a:rPr>
              <a:t>, while Combination Framework</a:t>
            </a:r>
          </a:p>
        </p:txBody>
      </p:sp>
      <p:sp>
        <p:nvSpPr>
          <p:cNvPr id="46" name="TextBox 45"/>
          <p:cNvSpPr txBox="1"/>
          <p:nvPr/>
        </p:nvSpPr>
        <p:spPr>
          <a:xfrm>
            <a:off x="806576" y="5851016"/>
            <a:ext cx="1415169" cy="179069"/>
          </a:xfrm>
          <a:prstGeom prst="rect">
            <a:avLst/>
          </a:prstGeom>
          <a:noFill/>
        </p:spPr>
        <p:txBody>
          <a:bodyPr wrap="none" lIns="0" rIns="0" tIns="0" bIns="0">
            <a:spAutoFit/>
          </a:bodyPr>
          <a:lstStyle/>
          <a:p>
            <a:r>
              <a:rPr sz="1050" b="0">
                <a:solidFill>
                  <a:srgbClr val="1F1F1F"/>
                </a:solidFill>
                <a:latin typeface="Calibri"/>
              </a:rPr>
              <a:t>Partial Dentures trade at</a:t>
            </a:r>
          </a:p>
        </p:txBody>
      </p:sp>
      <p:pic>
        <p:nvPicPr>
          <p:cNvPr id="47" name="Picture 46" descr="lock.png"/>
          <p:cNvPicPr>
            <a:picLocks noChangeAspect="1"/>
          </p:cNvPicPr>
          <p:nvPr/>
        </p:nvPicPr>
        <p:blipFill>
          <a:blip r:embed="rId6"/>
          <a:stretch>
            <a:fillRect/>
          </a:stretch>
        </p:blipFill>
        <p:spPr>
          <a:xfrm>
            <a:off x="2168695" y="5841682"/>
            <a:ext cx="122849" cy="178689"/>
          </a:xfrm>
          <a:prstGeom prst="rect">
            <a:avLst/>
          </a:prstGeom>
        </p:spPr>
      </p:pic>
      <p:sp>
        <p:nvSpPr>
          <p:cNvPr id="48" name="TextBox 47"/>
          <p:cNvSpPr txBox="1"/>
          <p:nvPr/>
        </p:nvSpPr>
        <p:spPr>
          <a:xfrm>
            <a:off x="2328578" y="5851016"/>
            <a:ext cx="1222176" cy="179069"/>
          </a:xfrm>
          <a:prstGeom prst="rect">
            <a:avLst/>
          </a:prstGeom>
          <a:noFill/>
        </p:spPr>
        <p:txBody>
          <a:bodyPr wrap="none" lIns="0" rIns="0" tIns="0" bIns="0">
            <a:spAutoFit/>
          </a:bodyPr>
          <a:lstStyle/>
          <a:p>
            <a:r>
              <a:rPr sz="1050" b="0">
                <a:solidFill>
                  <a:srgbClr val="1F1F1F"/>
                </a:solidFill>
                <a:latin typeface="Calibri"/>
              </a:rPr>
              <a:t>, which keeps the full</a:t>
            </a:r>
          </a:p>
        </p:txBody>
      </p:sp>
      <p:sp>
        <p:nvSpPr>
          <p:cNvPr id="49" name="TextBox 48"/>
          <p:cNvSpPr txBox="1"/>
          <p:nvPr/>
        </p:nvSpPr>
        <p:spPr>
          <a:xfrm>
            <a:off x="806576" y="6011036"/>
            <a:ext cx="1547738" cy="179069"/>
          </a:xfrm>
          <a:prstGeom prst="rect">
            <a:avLst/>
          </a:prstGeom>
          <a:noFill/>
        </p:spPr>
        <p:txBody>
          <a:bodyPr wrap="none" lIns="0" rIns="0" tIns="0" bIns="0">
            <a:spAutoFit/>
          </a:bodyPr>
          <a:lstStyle/>
          <a:p>
            <a:r>
              <a:rPr sz="1050" b="0">
                <a:solidFill>
                  <a:srgbClr val="1F1F1F"/>
                </a:solidFill>
                <a:latin typeface="Calibri"/>
              </a:rPr>
              <a:t>product type spread within</a:t>
            </a:r>
          </a:p>
        </p:txBody>
      </p:sp>
      <p:pic>
        <p:nvPicPr>
          <p:cNvPr id="50" name="Picture 49" descr="lock.png"/>
          <p:cNvPicPr>
            <a:picLocks noChangeAspect="1"/>
          </p:cNvPicPr>
          <p:nvPr/>
        </p:nvPicPr>
        <p:blipFill>
          <a:blip r:embed="rId6"/>
          <a:stretch>
            <a:fillRect/>
          </a:stretch>
        </p:blipFill>
        <p:spPr>
          <a:xfrm>
            <a:off x="2301264" y="6001702"/>
            <a:ext cx="122849" cy="178689"/>
          </a:xfrm>
          <a:prstGeom prst="rect">
            <a:avLst/>
          </a:prstGeom>
        </p:spPr>
      </p:pic>
      <p:sp>
        <p:nvSpPr>
          <p:cNvPr id="51" name="TextBox 50"/>
          <p:cNvSpPr txBox="1"/>
          <p:nvPr/>
        </p:nvSpPr>
        <p:spPr>
          <a:xfrm>
            <a:off x="2461146" y="6011036"/>
            <a:ext cx="109797" cy="179069"/>
          </a:xfrm>
          <a:prstGeom prst="rect">
            <a:avLst/>
          </a:prstGeom>
          <a:noFill/>
        </p:spPr>
        <p:txBody>
          <a:bodyPr wrap="none" lIns="0" rIns="0" tIns="0" bIns="0">
            <a:spAutoFit/>
          </a:bodyPr>
          <a:lstStyle/>
          <a:p>
            <a:r>
              <a:rPr sz="1050" b="0">
                <a:solidFill>
                  <a:srgbClr val="1F1F1F"/>
                </a:solidFill>
                <a:latin typeface="Calibri"/>
              </a:rPr>
              <a:t>.</a:t>
            </a:r>
          </a:p>
        </p:txBody>
      </p:sp>
      <p:sp>
        <p:nvSpPr>
          <p:cNvPr id="52" name="TextBox 51"/>
          <p:cNvSpPr txBox="1"/>
          <p:nvPr/>
        </p:nvSpPr>
        <p:spPr>
          <a:xfrm>
            <a:off x="4732401" y="5530976"/>
            <a:ext cx="3143249" cy="179069"/>
          </a:xfrm>
          <a:prstGeom prst="rect">
            <a:avLst/>
          </a:prstGeom>
          <a:noFill/>
        </p:spPr>
        <p:txBody>
          <a:bodyPr wrap="none" lIns="0" rIns="0" tIns="0" bIns="0">
            <a:spAutoFit/>
          </a:bodyPr>
          <a:lstStyle/>
          <a:p>
            <a:r>
              <a:rPr sz="1050" b="0">
                <a:solidFill>
                  <a:srgbClr val="1F1F1F"/>
                </a:solidFill>
                <a:latin typeface="Calibri"/>
              </a:rPr>
              <a:t>Cast Metal Partial Dentures post the fastest price growth</a:t>
            </a:r>
          </a:p>
        </p:txBody>
      </p:sp>
      <p:sp>
        <p:nvSpPr>
          <p:cNvPr id="53" name="TextBox 52"/>
          <p:cNvSpPr txBox="1"/>
          <p:nvPr/>
        </p:nvSpPr>
        <p:spPr>
          <a:xfrm>
            <a:off x="4732401" y="5690996"/>
            <a:ext cx="278829" cy="179069"/>
          </a:xfrm>
          <a:prstGeom prst="rect">
            <a:avLst/>
          </a:prstGeom>
          <a:noFill/>
        </p:spPr>
        <p:txBody>
          <a:bodyPr wrap="none" lIns="0" rIns="0" tIns="0" bIns="0">
            <a:spAutoFit/>
          </a:bodyPr>
          <a:lstStyle/>
          <a:p>
            <a:r>
              <a:rPr sz="1050" b="0">
                <a:solidFill>
                  <a:srgbClr val="1F1F1F"/>
                </a:solidFill>
                <a:latin typeface="Calibri"/>
              </a:rPr>
              <a:t>at a</a:t>
            </a:r>
          </a:p>
        </p:txBody>
      </p:sp>
      <p:pic>
        <p:nvPicPr>
          <p:cNvPr id="54" name="Picture 53" descr="lock.png"/>
          <p:cNvPicPr>
            <a:picLocks noChangeAspect="1"/>
          </p:cNvPicPr>
          <p:nvPr/>
        </p:nvPicPr>
        <p:blipFill>
          <a:blip r:embed="rId6"/>
          <a:stretch>
            <a:fillRect/>
          </a:stretch>
        </p:blipFill>
        <p:spPr>
          <a:xfrm>
            <a:off x="4958179" y="5681662"/>
            <a:ext cx="122849" cy="178689"/>
          </a:xfrm>
          <a:prstGeom prst="rect">
            <a:avLst/>
          </a:prstGeom>
        </p:spPr>
      </p:pic>
      <p:sp>
        <p:nvSpPr>
          <p:cNvPr id="55" name="TextBox 54"/>
          <p:cNvSpPr txBox="1"/>
          <p:nvPr/>
        </p:nvSpPr>
        <p:spPr>
          <a:xfrm>
            <a:off x="5118062" y="5690996"/>
            <a:ext cx="2611917" cy="179069"/>
          </a:xfrm>
          <a:prstGeom prst="rect">
            <a:avLst/>
          </a:prstGeom>
          <a:noFill/>
        </p:spPr>
        <p:txBody>
          <a:bodyPr wrap="none" lIns="0" rIns="0" tIns="0" bIns="0">
            <a:spAutoFit/>
          </a:bodyPr>
          <a:lstStyle/>
          <a:p>
            <a:r>
              <a:rPr sz="1050" b="0">
                <a:solidFill>
                  <a:srgbClr val="1F1F1F"/>
                </a:solidFill>
                <a:latin typeface="Calibri"/>
              </a:rPr>
              <a:t>CAGR between 2026 and 2036, compared with</a:t>
            </a:r>
          </a:p>
        </p:txBody>
      </p:sp>
      <p:pic>
        <p:nvPicPr>
          <p:cNvPr id="56" name="Picture 55" descr="lock.png"/>
          <p:cNvPicPr>
            <a:picLocks noChangeAspect="1"/>
          </p:cNvPicPr>
          <p:nvPr/>
        </p:nvPicPr>
        <p:blipFill>
          <a:blip r:embed="rId6"/>
          <a:stretch>
            <a:fillRect/>
          </a:stretch>
        </p:blipFill>
        <p:spPr>
          <a:xfrm>
            <a:off x="4719545" y="5841682"/>
            <a:ext cx="122849" cy="178689"/>
          </a:xfrm>
          <a:prstGeom prst="rect">
            <a:avLst/>
          </a:prstGeom>
        </p:spPr>
      </p:pic>
      <p:sp>
        <p:nvSpPr>
          <p:cNvPr id="57" name="TextBox 56"/>
          <p:cNvSpPr txBox="1"/>
          <p:nvPr/>
        </p:nvSpPr>
        <p:spPr>
          <a:xfrm>
            <a:off x="4879428" y="5851016"/>
            <a:ext cx="1620142" cy="179069"/>
          </a:xfrm>
          <a:prstGeom prst="rect">
            <a:avLst/>
          </a:prstGeom>
          <a:noFill/>
        </p:spPr>
        <p:txBody>
          <a:bodyPr wrap="none" lIns="0" rIns="0" tIns="0" bIns="0">
            <a:spAutoFit/>
          </a:bodyPr>
          <a:lstStyle/>
          <a:p>
            <a:r>
              <a:rPr sz="1050" b="0">
                <a:solidFill>
                  <a:srgbClr val="1F1F1F"/>
                </a:solidFill>
                <a:latin typeface="Calibri"/>
              </a:rPr>
              <a:t>for Flexible Partial Dentures.</a:t>
            </a:r>
          </a:p>
        </p:txBody>
      </p:sp>
      <p:sp>
        <p:nvSpPr>
          <p:cNvPr id="58" name="TextBox 57"/>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59" name="Picture 58" descr="lock.png"/>
          <p:cNvPicPr>
            <a:picLocks noChangeAspect="1"/>
          </p:cNvPicPr>
          <p:nvPr/>
        </p:nvPicPr>
        <p:blipFill>
          <a:blip r:embed="rId6"/>
          <a:stretch>
            <a:fillRect/>
          </a:stretch>
        </p:blipFill>
        <p:spPr>
          <a:xfrm>
            <a:off x="10841019" y="5521642"/>
            <a:ext cx="122849" cy="178689"/>
          </a:xfrm>
          <a:prstGeom prst="rect">
            <a:avLst/>
          </a:prstGeom>
        </p:spPr>
      </p:pic>
      <p:sp>
        <p:nvSpPr>
          <p:cNvPr id="60" name="TextBox 59"/>
          <p:cNvSpPr txBox="1"/>
          <p:nvPr/>
        </p:nvSpPr>
        <p:spPr>
          <a:xfrm>
            <a:off x="11000901" y="5530976"/>
            <a:ext cx="542143" cy="179069"/>
          </a:xfrm>
          <a:prstGeom prst="rect">
            <a:avLst/>
          </a:prstGeom>
          <a:noFill/>
        </p:spPr>
        <p:txBody>
          <a:bodyPr wrap="none" lIns="0" rIns="0" tIns="0" bIns="0">
            <a:spAutoFit/>
          </a:bodyPr>
          <a:lstStyle/>
          <a:p>
            <a:r>
              <a:rPr sz="1050" b="0">
                <a:solidFill>
                  <a:srgbClr val="1F1F1F"/>
                </a:solidFill>
                <a:latin typeface="Calibri"/>
              </a:rPr>
              <a:t>/Units in</a:t>
            </a:r>
          </a:p>
        </p:txBody>
      </p:sp>
      <p:sp>
        <p:nvSpPr>
          <p:cNvPr id="61" name="TextBox 60"/>
          <p:cNvSpPr txBox="1"/>
          <p:nvPr/>
        </p:nvSpPr>
        <p:spPr>
          <a:xfrm>
            <a:off x="8658225" y="5690996"/>
            <a:ext cx="737220" cy="179069"/>
          </a:xfrm>
          <a:prstGeom prst="rect">
            <a:avLst/>
          </a:prstGeom>
          <a:noFill/>
        </p:spPr>
        <p:txBody>
          <a:bodyPr wrap="none" lIns="0" rIns="0" tIns="0" bIns="0">
            <a:spAutoFit/>
          </a:bodyPr>
          <a:lstStyle/>
          <a:p>
            <a:r>
              <a:rPr sz="1050" b="0">
                <a:solidFill>
                  <a:srgbClr val="1F1F1F"/>
                </a:solidFill>
                <a:latin typeface="Calibri"/>
              </a:rPr>
              <a:t>2026 to US$</a:t>
            </a:r>
          </a:p>
        </p:txBody>
      </p:sp>
      <p:pic>
        <p:nvPicPr>
          <p:cNvPr id="62" name="Picture 61" descr="lock.png"/>
          <p:cNvPicPr>
            <a:picLocks noChangeAspect="1"/>
          </p:cNvPicPr>
          <p:nvPr/>
        </p:nvPicPr>
        <p:blipFill>
          <a:blip r:embed="rId6"/>
          <a:stretch>
            <a:fillRect/>
          </a:stretch>
        </p:blipFill>
        <p:spPr>
          <a:xfrm>
            <a:off x="9342394" y="5681662"/>
            <a:ext cx="122849" cy="178689"/>
          </a:xfrm>
          <a:prstGeom prst="rect">
            <a:avLst/>
          </a:prstGeom>
        </p:spPr>
      </p:pic>
      <p:sp>
        <p:nvSpPr>
          <p:cNvPr id="63" name="TextBox 62"/>
          <p:cNvSpPr txBox="1"/>
          <p:nvPr/>
        </p:nvSpPr>
        <p:spPr>
          <a:xfrm>
            <a:off x="9502276" y="5690996"/>
            <a:ext cx="2270224" cy="179069"/>
          </a:xfrm>
          <a:prstGeom prst="rect">
            <a:avLst/>
          </a:prstGeom>
          <a:noFill/>
        </p:spPr>
        <p:txBody>
          <a:bodyPr wrap="none" lIns="0" rIns="0" tIns="0" bIns="0">
            <a:spAutoFit/>
          </a:bodyPr>
          <a:lstStyle/>
          <a:p>
            <a:r>
              <a:rPr sz="1050" b="0">
                <a:solidFill>
                  <a:srgbClr val="1F1F1F"/>
                </a:solidFill>
                <a:latin typeface="Calibri"/>
              </a:rPr>
              <a:t>/Units in 2036, and the gap between the</a:t>
            </a:r>
          </a:p>
        </p:txBody>
      </p:sp>
      <p:sp>
        <p:nvSpPr>
          <p:cNvPr id="64" name="TextBox 63"/>
          <p:cNvSpPr txBox="1"/>
          <p:nvPr/>
        </p:nvSpPr>
        <p:spPr>
          <a:xfrm>
            <a:off x="8658225" y="5851016"/>
            <a:ext cx="2878373" cy="179069"/>
          </a:xfrm>
          <a:prstGeom prst="rect">
            <a:avLst/>
          </a:prstGeom>
          <a:noFill/>
        </p:spPr>
        <p:txBody>
          <a:bodyPr wrap="none" lIns="0" rIns="0" tIns="0" bIns="0">
            <a:spAutoFit/>
          </a:bodyPr>
          <a:lstStyle/>
          <a:p>
            <a:r>
              <a:rPr sz="1050" b="0">
                <a:solidFill>
                  <a:srgbClr val="1F1F1F"/>
                </a:solidFill>
                <a:latin typeface="Calibri"/>
              </a:rPr>
              <a:t>highest and lowest priced product type moves from</a:t>
            </a:r>
          </a:p>
        </p:txBody>
      </p:sp>
      <p:pic>
        <p:nvPicPr>
          <p:cNvPr id="65" name="Picture 64" descr="lock.png"/>
          <p:cNvPicPr>
            <a:picLocks noChangeAspect="1"/>
          </p:cNvPicPr>
          <p:nvPr/>
        </p:nvPicPr>
        <p:blipFill>
          <a:blip r:embed="rId6"/>
          <a:stretch>
            <a:fillRect/>
          </a:stretch>
        </p:blipFill>
        <p:spPr>
          <a:xfrm>
            <a:off x="11483547" y="5841682"/>
            <a:ext cx="122849" cy="178689"/>
          </a:xfrm>
          <a:prstGeom prst="rect">
            <a:avLst/>
          </a:prstGeom>
        </p:spPr>
      </p:pic>
      <p:sp>
        <p:nvSpPr>
          <p:cNvPr id="66" name="TextBox 65"/>
          <p:cNvSpPr txBox="1"/>
          <p:nvPr/>
        </p:nvSpPr>
        <p:spPr>
          <a:xfrm>
            <a:off x="8658225" y="6011036"/>
            <a:ext cx="623403" cy="179069"/>
          </a:xfrm>
          <a:prstGeom prst="rect">
            <a:avLst/>
          </a:prstGeom>
          <a:noFill/>
        </p:spPr>
        <p:txBody>
          <a:bodyPr wrap="none" lIns="0" rIns="0" tIns="0" bIns="0">
            <a:spAutoFit/>
          </a:bodyPr>
          <a:lstStyle/>
          <a:p>
            <a:r>
              <a:rPr sz="1050" b="0">
                <a:solidFill>
                  <a:srgbClr val="1F1F1F"/>
                </a:solidFill>
                <a:latin typeface="Calibri"/>
              </a:rPr>
              <a:t>in 2021 to</a:t>
            </a:r>
          </a:p>
        </p:txBody>
      </p:sp>
      <p:pic>
        <p:nvPicPr>
          <p:cNvPr id="67" name="Picture 66" descr="lock.png"/>
          <p:cNvPicPr>
            <a:picLocks noChangeAspect="1"/>
          </p:cNvPicPr>
          <p:nvPr/>
        </p:nvPicPr>
        <p:blipFill>
          <a:blip r:embed="rId6"/>
          <a:stretch>
            <a:fillRect/>
          </a:stretch>
        </p:blipFill>
        <p:spPr>
          <a:xfrm>
            <a:off x="9228578" y="6001702"/>
            <a:ext cx="122849" cy="178689"/>
          </a:xfrm>
          <a:prstGeom prst="rect">
            <a:avLst/>
          </a:prstGeom>
        </p:spPr>
      </p:pic>
      <p:sp>
        <p:nvSpPr>
          <p:cNvPr id="68" name="TextBox 67"/>
          <p:cNvSpPr txBox="1"/>
          <p:nvPr/>
        </p:nvSpPr>
        <p:spPr>
          <a:xfrm>
            <a:off x="9388460" y="6011036"/>
            <a:ext cx="511671" cy="179069"/>
          </a:xfrm>
          <a:prstGeom prst="rect">
            <a:avLst/>
          </a:prstGeom>
          <a:noFill/>
        </p:spPr>
        <p:txBody>
          <a:bodyPr wrap="none" lIns="0" rIns="0" tIns="0" bIns="0">
            <a:spAutoFit/>
          </a:bodyPr>
          <a:lstStyle/>
          <a:p>
            <a:r>
              <a:rPr sz="1050" b="0">
                <a:solidFill>
                  <a:srgbClr val="1F1F1F"/>
                </a:solidFill>
                <a:latin typeface="Calibri"/>
              </a:rPr>
              <a:t>in 2036.</a:t>
            </a:r>
          </a:p>
        </p:txBody>
      </p:sp>
      <p:pic>
        <p:nvPicPr>
          <p:cNvPr id="69" name="Picture 68" descr="lock.png"/>
          <p:cNvPicPr>
            <a:picLocks noChangeAspect="1"/>
          </p:cNvPicPr>
          <p:nvPr/>
        </p:nvPicPr>
        <p:blipFill>
          <a:blip r:embed="rId6"/>
          <a:stretch>
            <a:fillRect/>
          </a:stretch>
        </p:blipFill>
        <p:spPr>
          <a:xfrm>
            <a:off x="3418190" y="3048804"/>
            <a:ext cx="454926" cy="661711"/>
          </a:xfrm>
          <a:prstGeom prst="rect">
            <a:avLst/>
          </a:prstGeom>
        </p:spPr>
      </p:pic>
      <p:pic>
        <p:nvPicPr>
          <p:cNvPr id="70" name="Picture 69" descr="lock.png"/>
          <p:cNvPicPr>
            <a:picLocks noChangeAspect="1"/>
          </p:cNvPicPr>
          <p:nvPr/>
        </p:nvPicPr>
        <p:blipFill>
          <a:blip r:embed="rId6"/>
          <a:stretch>
            <a:fillRect/>
          </a:stretch>
        </p:blipFill>
        <p:spPr>
          <a:xfrm>
            <a:off x="9403270" y="2219134"/>
            <a:ext cx="256698" cy="373379"/>
          </a:xfrm>
          <a:prstGeom prst="rect">
            <a:avLst/>
          </a:prstGeom>
        </p:spPr>
      </p:pic>
      <p:sp>
        <p:nvSpPr>
          <p:cNvPr id="71"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Price Matrix: Product Type ×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for every product type and material type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(US$/Units),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1300734"/>
                <a:gridCol w="1300734"/>
                <a:gridCol w="1300734"/>
                <a:gridCol w="1300734"/>
                <a:gridCol w="603504"/>
              </a:tblGrid>
              <a:tr h="47244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Metal Alloys</a:t>
                      </a:r>
                    </a:p>
                  </a:txBody>
                  <a:tcPr marL="36576" marR="36576" marT="9144" marB="9144" anchor="ctr">
                    <a:solidFill>
                      <a:srgbClr val="0B2E4A"/>
                    </a:solidFill>
                  </a:tcPr>
                </a:tc>
                <a:tc>
                  <a:txBody>
                    <a:bodyPr wrap="square"/>
                    <a:lstStyle/>
                    <a:p>
                      <a:pPr algn="ctr"/>
                      <a:r>
                        <a:rPr sz="800" b="1">
                          <a:solidFill>
                            <a:srgbClr val="FFFFFF"/>
                          </a:solidFill>
                          <a:latin typeface="Calibri"/>
                        </a:rPr>
                        <a:t>Acrylic / Resin</a:t>
                      </a:r>
                    </a:p>
                  </a:txBody>
                  <a:tcPr marL="36576" marR="36576" marT="9144" marB="9144" anchor="ctr">
                    <a:solidFill>
                      <a:srgbClr val="0B2E4A"/>
                    </a:solidFill>
                  </a:tcPr>
                </a:tc>
                <a:tc>
                  <a:txBody>
                    <a:bodyPr wrap="square"/>
                    <a:lstStyle/>
                    <a:p>
                      <a:pPr algn="ctr"/>
                      <a:r>
                        <a:rPr sz="800" b="1">
                          <a:solidFill>
                            <a:srgbClr val="FFFFFF"/>
                          </a:solidFill>
                          <a:latin typeface="Calibri"/>
                        </a:rPr>
                        <a:t>Flexible Thermoplastics</a:t>
                      </a:r>
                    </a:p>
                  </a:txBody>
                  <a:tcPr marL="36576" marR="36576" marT="9144" marB="9144" anchor="ctr">
                    <a:solidFill>
                      <a:srgbClr val="0B2E4A"/>
                    </a:solidFill>
                  </a:tcPr>
                </a:tc>
                <a:tc>
                  <a:txBody>
                    <a:bodyPr wrap="square"/>
                    <a:lstStyle/>
                    <a:p>
                      <a:pPr algn="ctr"/>
                      <a:r>
                        <a:rPr sz="800" b="1">
                          <a:solidFill>
                            <a:srgbClr val="FFFFFF"/>
                          </a:solidFill>
                          <a:latin typeface="Calibri"/>
                        </a:rPr>
                        <a:t>High-performance Polymers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472440">
                <a:tc>
                  <a:txBody>
                    <a:bodyPr wrap="square"/>
                    <a:lstStyle/>
                    <a:p>
                      <a:pPr algn="l"/>
                      <a:r>
                        <a:rPr sz="900" b="1">
                          <a:solidFill>
                            <a:srgbClr val="1F1F1F"/>
                          </a:solidFill>
                          <a:latin typeface="Calibri"/>
                        </a:rPr>
                        <a:t>Acrylic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Combination Framework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Material Type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(US$/Units)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70" y="3254883"/>
            <a:ext cx="366712" cy="533400"/>
          </a:xfrm>
          <a:prstGeom prst="rect">
            <a:avLst/>
          </a:prstGeom>
        </p:spPr>
      </p:pic>
      <p:sp>
        <p:nvSpPr>
          <p:cNvPr id="43" name="TextBox 42"/>
          <p:cNvSpPr txBox="1"/>
          <p:nvPr/>
        </p:nvSpPr>
        <p:spPr>
          <a:xfrm>
            <a:off x="411480" y="1110615"/>
            <a:ext cx="6162972" cy="217169"/>
          </a:xfrm>
          <a:prstGeom prst="rect">
            <a:avLst/>
          </a:prstGeom>
          <a:noFill/>
        </p:spPr>
        <p:txBody>
          <a:bodyPr wrap="none" lIns="0" rIns="0" tIns="0" bIns="0">
            <a:spAutoFit/>
          </a:bodyPr>
          <a:lstStyle/>
          <a:p>
            <a:r>
              <a:rPr sz="1300" b="1">
                <a:solidFill>
                  <a:srgbClr val="FFFFFF"/>
                </a:solidFill>
                <a:latin typeface="Calibri"/>
              </a:rPr>
              <a:t>Acrylic Partial Dentures for Metal Alloys is the highest priced combination in 2026 at US$</a:t>
            </a:r>
          </a:p>
        </p:txBody>
      </p:sp>
      <p:pic>
        <p:nvPicPr>
          <p:cNvPr id="44" name="Picture 43" descr="lock.png"/>
          <p:cNvPicPr>
            <a:picLocks noChangeAspect="1"/>
          </p:cNvPicPr>
          <p:nvPr/>
        </p:nvPicPr>
        <p:blipFill>
          <a:blip r:embed="rId5"/>
          <a:stretch>
            <a:fillRect/>
          </a:stretch>
        </p:blipFill>
        <p:spPr>
          <a:xfrm>
            <a:off x="6526913" y="1099058"/>
            <a:ext cx="152098" cy="221234"/>
          </a:xfrm>
          <a:prstGeom prst="rect">
            <a:avLst/>
          </a:prstGeom>
        </p:spPr>
      </p:pic>
      <p:sp>
        <p:nvSpPr>
          <p:cNvPr id="45" name="TextBox 44"/>
          <p:cNvSpPr txBox="1"/>
          <p:nvPr/>
        </p:nvSpPr>
        <p:spPr>
          <a:xfrm>
            <a:off x="6724863" y="1110615"/>
            <a:ext cx="669528" cy="217169"/>
          </a:xfrm>
          <a:prstGeom prst="rect">
            <a:avLst/>
          </a:prstGeom>
          <a:noFill/>
        </p:spPr>
        <p:txBody>
          <a:bodyPr wrap="none" lIns="0" rIns="0" tIns="0" bIns="0">
            <a:spAutoFit/>
          </a:bodyPr>
          <a:lstStyle/>
          <a:p>
            <a:r>
              <a:rPr sz="1300" b="1">
                <a:solidFill>
                  <a:srgbClr val="FFFFFF"/>
                </a:solidFill>
                <a:latin typeface="Calibri"/>
              </a:rPr>
              <a:t>/Units, +</a:t>
            </a:r>
          </a:p>
        </p:txBody>
      </p:sp>
      <p:pic>
        <p:nvPicPr>
          <p:cNvPr id="46" name="Picture 45" descr="lock.png"/>
          <p:cNvPicPr>
            <a:picLocks noChangeAspect="1"/>
          </p:cNvPicPr>
          <p:nvPr/>
        </p:nvPicPr>
        <p:blipFill>
          <a:blip r:embed="rId5"/>
          <a:stretch>
            <a:fillRect/>
          </a:stretch>
        </p:blipFill>
        <p:spPr>
          <a:xfrm>
            <a:off x="7346852" y="1099058"/>
            <a:ext cx="152098" cy="221234"/>
          </a:xfrm>
          <a:prstGeom prst="rect">
            <a:avLst/>
          </a:prstGeom>
        </p:spPr>
      </p:pic>
      <p:sp>
        <p:nvSpPr>
          <p:cNvPr id="47" name="TextBox 46"/>
          <p:cNvSpPr txBox="1"/>
          <p:nvPr/>
        </p:nvSpPr>
        <p:spPr>
          <a:xfrm>
            <a:off x="7544801" y="1110615"/>
            <a:ext cx="1871984" cy="217169"/>
          </a:xfrm>
          <a:prstGeom prst="rect">
            <a:avLst/>
          </a:prstGeom>
          <a:noFill/>
        </p:spPr>
        <p:txBody>
          <a:bodyPr wrap="none" lIns="0" rIns="0" tIns="0" bIns="0">
            <a:spAutoFit/>
          </a:bodyPr>
          <a:lstStyle/>
          <a:p>
            <a:r>
              <a:rPr sz="1300" b="1">
                <a:solidFill>
                  <a:srgbClr val="FFFFFF"/>
                </a:solidFill>
                <a:latin typeface="Calibri"/>
              </a:rPr>
              <a:t>above the Global average.</a:t>
            </a:r>
          </a:p>
        </p:txBody>
      </p:sp>
      <p:sp>
        <p:nvSpPr>
          <p:cNvPr id="48" name="TextBox 47"/>
          <p:cNvSpPr txBox="1"/>
          <p:nvPr/>
        </p:nvSpPr>
        <p:spPr>
          <a:xfrm>
            <a:off x="806576" y="5530976"/>
            <a:ext cx="3125539" cy="179069"/>
          </a:xfrm>
          <a:prstGeom prst="rect">
            <a:avLst/>
          </a:prstGeom>
          <a:noFill/>
        </p:spPr>
        <p:txBody>
          <a:bodyPr wrap="none" lIns="0" rIns="0" tIns="0" bIns="0">
            <a:spAutoFit/>
          </a:bodyPr>
          <a:lstStyle/>
          <a:p>
            <a:r>
              <a:rPr sz="1050" b="0">
                <a:solidFill>
                  <a:srgbClr val="1F1F1F"/>
                </a:solidFill>
                <a:latin typeface="Calibri"/>
              </a:rPr>
              <a:t>Acrylic Partial Dentures positioned on Metal Alloys carry</a:t>
            </a:r>
          </a:p>
        </p:txBody>
      </p:sp>
      <p:sp>
        <p:nvSpPr>
          <p:cNvPr id="49" name="TextBox 48"/>
          <p:cNvSpPr txBox="1"/>
          <p:nvPr/>
        </p:nvSpPr>
        <p:spPr>
          <a:xfrm>
            <a:off x="806576" y="5690996"/>
            <a:ext cx="2094160" cy="179069"/>
          </a:xfrm>
          <a:prstGeom prst="rect">
            <a:avLst/>
          </a:prstGeom>
          <a:noFill/>
        </p:spPr>
        <p:txBody>
          <a:bodyPr wrap="none" lIns="0" rIns="0" tIns="0" bIns="0">
            <a:spAutoFit/>
          </a:bodyPr>
          <a:lstStyle/>
          <a:p>
            <a:r>
              <a:rPr sz="1050" b="0">
                <a:solidFill>
                  <a:srgbClr val="1F1F1F"/>
                </a:solidFill>
                <a:latin typeface="Calibri"/>
              </a:rPr>
              <a:t>the strongest premium at an index of</a:t>
            </a:r>
          </a:p>
        </p:txBody>
      </p:sp>
      <p:pic>
        <p:nvPicPr>
          <p:cNvPr id="50" name="Picture 49" descr="lock.png"/>
          <p:cNvPicPr>
            <a:picLocks noChangeAspect="1"/>
          </p:cNvPicPr>
          <p:nvPr/>
        </p:nvPicPr>
        <p:blipFill>
          <a:blip r:embed="rId5"/>
          <a:stretch>
            <a:fillRect/>
          </a:stretch>
        </p:blipFill>
        <p:spPr>
          <a:xfrm>
            <a:off x="2847686" y="5681662"/>
            <a:ext cx="122849" cy="178689"/>
          </a:xfrm>
          <a:prstGeom prst="rect">
            <a:avLst/>
          </a:prstGeom>
        </p:spPr>
      </p:pic>
      <p:sp>
        <p:nvSpPr>
          <p:cNvPr id="51" name="TextBox 50"/>
          <p:cNvSpPr txBox="1"/>
          <p:nvPr/>
        </p:nvSpPr>
        <p:spPr>
          <a:xfrm>
            <a:off x="3007569" y="5690996"/>
            <a:ext cx="854943" cy="179069"/>
          </a:xfrm>
          <a:prstGeom prst="rect">
            <a:avLst/>
          </a:prstGeom>
          <a:noFill/>
        </p:spPr>
        <p:txBody>
          <a:bodyPr wrap="none" lIns="0" rIns="0" tIns="0" bIns="0">
            <a:spAutoFit/>
          </a:bodyPr>
          <a:lstStyle/>
          <a:p>
            <a:r>
              <a:rPr sz="1050" b="0">
                <a:solidFill>
                  <a:srgbClr val="1F1F1F"/>
                </a:solidFill>
                <a:latin typeface="Calibri"/>
              </a:rPr>
              <a:t>, which signals</a:t>
            </a:r>
          </a:p>
        </p:txBody>
      </p:sp>
      <p:sp>
        <p:nvSpPr>
          <p:cNvPr id="52" name="TextBox 51"/>
          <p:cNvSpPr txBox="1"/>
          <p:nvPr/>
        </p:nvSpPr>
        <p:spPr>
          <a:xfrm>
            <a:off x="806576" y="5851016"/>
            <a:ext cx="2737730" cy="179069"/>
          </a:xfrm>
          <a:prstGeom prst="rect">
            <a:avLst/>
          </a:prstGeom>
          <a:noFill/>
        </p:spPr>
        <p:txBody>
          <a:bodyPr wrap="none" lIns="0" rIns="0" tIns="0" bIns="0">
            <a:spAutoFit/>
          </a:bodyPr>
          <a:lstStyle/>
          <a:p>
            <a:r>
              <a:rPr sz="1050" b="0">
                <a:solidFill>
                  <a:srgbClr val="1F1F1F"/>
                </a:solidFill>
                <a:latin typeface="Calibri"/>
              </a:rPr>
              <a:t>room for value-added claims in this combination.</a:t>
            </a:r>
          </a:p>
        </p:txBody>
      </p:sp>
      <p:sp>
        <p:nvSpPr>
          <p:cNvPr id="53" name="TextBox 52"/>
          <p:cNvSpPr txBox="1"/>
          <p:nvPr/>
        </p:nvSpPr>
        <p:spPr>
          <a:xfrm>
            <a:off x="4732401" y="5530976"/>
            <a:ext cx="2776016" cy="179069"/>
          </a:xfrm>
          <a:prstGeom prst="rect">
            <a:avLst/>
          </a:prstGeom>
          <a:noFill/>
        </p:spPr>
        <p:txBody>
          <a:bodyPr wrap="none" lIns="0" rIns="0" tIns="0" bIns="0">
            <a:spAutoFit/>
          </a:bodyPr>
          <a:lstStyle/>
          <a:p>
            <a:r>
              <a:rPr sz="1050" b="0">
                <a:solidFill>
                  <a:srgbClr val="1F1F1F"/>
                </a:solidFill>
                <a:latin typeface="Calibri"/>
              </a:rPr>
              <a:t>Cast Metal Partial Dentures for High-performance</a:t>
            </a:r>
          </a:p>
        </p:txBody>
      </p:sp>
      <p:sp>
        <p:nvSpPr>
          <p:cNvPr id="54" name="TextBox 53"/>
          <p:cNvSpPr txBox="1"/>
          <p:nvPr/>
        </p:nvSpPr>
        <p:spPr>
          <a:xfrm>
            <a:off x="4732401" y="5690996"/>
            <a:ext cx="3143249" cy="179069"/>
          </a:xfrm>
          <a:prstGeom prst="rect">
            <a:avLst/>
          </a:prstGeom>
          <a:noFill/>
        </p:spPr>
        <p:txBody>
          <a:bodyPr wrap="none" lIns="0" rIns="0" tIns="0" bIns="0">
            <a:spAutoFit/>
          </a:bodyPr>
          <a:lstStyle/>
          <a:p>
            <a:r>
              <a:rPr sz="1050" b="0">
                <a:solidFill>
                  <a:srgbClr val="1F1F1F"/>
                </a:solidFill>
                <a:latin typeface="Calibri"/>
              </a:rPr>
              <a:t>Polymers is the lowest priced combination at an index of</a:t>
            </a:r>
          </a:p>
        </p:txBody>
      </p:sp>
      <p:pic>
        <p:nvPicPr>
          <p:cNvPr id="55" name="Picture 54" descr="lock.png"/>
          <p:cNvPicPr>
            <a:picLocks noChangeAspect="1"/>
          </p:cNvPicPr>
          <p:nvPr/>
        </p:nvPicPr>
        <p:blipFill>
          <a:blip r:embed="rId5"/>
          <a:stretch>
            <a:fillRect/>
          </a:stretch>
        </p:blipFill>
        <p:spPr>
          <a:xfrm>
            <a:off x="4719545" y="5841682"/>
            <a:ext cx="122849" cy="178689"/>
          </a:xfrm>
          <a:prstGeom prst="rect">
            <a:avLst/>
          </a:prstGeom>
        </p:spPr>
      </p:pic>
      <p:sp>
        <p:nvSpPr>
          <p:cNvPr id="56" name="TextBox 55"/>
          <p:cNvSpPr txBox="1"/>
          <p:nvPr/>
        </p:nvSpPr>
        <p:spPr>
          <a:xfrm>
            <a:off x="4879428" y="5851016"/>
            <a:ext cx="475729" cy="179069"/>
          </a:xfrm>
          <a:prstGeom prst="rect">
            <a:avLst/>
          </a:prstGeom>
          <a:noFill/>
        </p:spPr>
        <p:txBody>
          <a:bodyPr wrap="none" lIns="0" rIns="0" tIns="0" bIns="0">
            <a:spAutoFit/>
          </a:bodyPr>
          <a:lstStyle/>
          <a:p>
            <a:r>
              <a:rPr sz="1050" b="0">
                <a:solidFill>
                  <a:srgbClr val="1F1F1F"/>
                </a:solidFill>
                <a:latin typeface="Calibri"/>
              </a:rPr>
              <a:t>, sitting</a:t>
            </a:r>
          </a:p>
        </p:txBody>
      </p:sp>
      <p:pic>
        <p:nvPicPr>
          <p:cNvPr id="57" name="Picture 56" descr="lock.png"/>
          <p:cNvPicPr>
            <a:picLocks noChangeAspect="1"/>
          </p:cNvPicPr>
          <p:nvPr/>
        </p:nvPicPr>
        <p:blipFill>
          <a:blip r:embed="rId5"/>
          <a:stretch>
            <a:fillRect/>
          </a:stretch>
        </p:blipFill>
        <p:spPr>
          <a:xfrm>
            <a:off x="5302106" y="5841682"/>
            <a:ext cx="122849" cy="178689"/>
          </a:xfrm>
          <a:prstGeom prst="rect">
            <a:avLst/>
          </a:prstGeom>
        </p:spPr>
      </p:pic>
      <p:sp>
        <p:nvSpPr>
          <p:cNvPr id="58" name="TextBox 57"/>
          <p:cNvSpPr txBox="1"/>
          <p:nvPr/>
        </p:nvSpPr>
        <p:spPr>
          <a:xfrm>
            <a:off x="5461988" y="5851016"/>
            <a:ext cx="1846733" cy="179069"/>
          </a:xfrm>
          <a:prstGeom prst="rect">
            <a:avLst/>
          </a:prstGeom>
          <a:noFill/>
        </p:spPr>
        <p:txBody>
          <a:bodyPr wrap="none" lIns="0" rIns="0" tIns="0" bIns="0">
            <a:spAutoFit/>
          </a:bodyPr>
          <a:lstStyle/>
          <a:p>
            <a:r>
              <a:rPr sz="1050" b="0">
                <a:solidFill>
                  <a:srgbClr val="1F1F1F"/>
                </a:solidFill>
                <a:latin typeface="Calibri"/>
              </a:rPr>
              <a:t>below the Global average of US$</a:t>
            </a:r>
          </a:p>
        </p:txBody>
      </p:sp>
      <p:pic>
        <p:nvPicPr>
          <p:cNvPr id="59" name="Picture 58" descr="lock.png"/>
          <p:cNvPicPr>
            <a:picLocks noChangeAspect="1"/>
          </p:cNvPicPr>
          <p:nvPr/>
        </p:nvPicPr>
        <p:blipFill>
          <a:blip r:embed="rId5"/>
          <a:stretch>
            <a:fillRect/>
          </a:stretch>
        </p:blipFill>
        <p:spPr>
          <a:xfrm>
            <a:off x="4719545" y="6001702"/>
            <a:ext cx="122849" cy="178689"/>
          </a:xfrm>
          <a:prstGeom prst="rect">
            <a:avLst/>
          </a:prstGeom>
        </p:spPr>
      </p:pic>
      <p:sp>
        <p:nvSpPr>
          <p:cNvPr id="60" name="TextBox 59"/>
          <p:cNvSpPr txBox="1"/>
          <p:nvPr/>
        </p:nvSpPr>
        <p:spPr>
          <a:xfrm>
            <a:off x="4879428" y="6011036"/>
            <a:ext cx="444735" cy="179069"/>
          </a:xfrm>
          <a:prstGeom prst="rect">
            <a:avLst/>
          </a:prstGeom>
          <a:noFill/>
        </p:spPr>
        <p:txBody>
          <a:bodyPr wrap="none" lIns="0" rIns="0" tIns="0" bIns="0">
            <a:spAutoFit/>
          </a:bodyPr>
          <a:lstStyle/>
          <a:p>
            <a:r>
              <a:rPr sz="1050" b="0">
                <a:solidFill>
                  <a:srgbClr val="1F1F1F"/>
                </a:solidFill>
                <a:latin typeface="Calibri"/>
              </a:rPr>
              <a:t>/Units.</a:t>
            </a:r>
          </a:p>
        </p:txBody>
      </p:sp>
      <p:sp>
        <p:nvSpPr>
          <p:cNvPr id="61" name="TextBox 60"/>
          <p:cNvSpPr txBox="1"/>
          <p:nvPr/>
        </p:nvSpPr>
        <p:spPr>
          <a:xfrm>
            <a:off x="8658225" y="5530976"/>
            <a:ext cx="2939057" cy="179069"/>
          </a:xfrm>
          <a:prstGeom prst="rect">
            <a:avLst/>
          </a:prstGeom>
          <a:noFill/>
        </p:spPr>
        <p:txBody>
          <a:bodyPr wrap="none" lIns="0" rIns="0" tIns="0" bIns="0">
            <a:spAutoFit/>
          </a:bodyPr>
          <a:lstStyle/>
          <a:p>
            <a:r>
              <a:rPr sz="1050" b="0">
                <a:solidFill>
                  <a:srgbClr val="1F1F1F"/>
                </a:solidFill>
                <a:latin typeface="Calibri"/>
              </a:rPr>
              <a:t>Cast Metal Partial Dentures show the widest internal</a:t>
            </a:r>
          </a:p>
        </p:txBody>
      </p:sp>
      <p:sp>
        <p:nvSpPr>
          <p:cNvPr id="62" name="TextBox 61"/>
          <p:cNvSpPr txBox="1"/>
          <p:nvPr/>
        </p:nvSpPr>
        <p:spPr>
          <a:xfrm>
            <a:off x="8658225" y="5690996"/>
            <a:ext cx="884634" cy="179069"/>
          </a:xfrm>
          <a:prstGeom prst="rect">
            <a:avLst/>
          </a:prstGeom>
          <a:noFill/>
        </p:spPr>
        <p:txBody>
          <a:bodyPr wrap="none" lIns="0" rIns="0" tIns="0" bIns="0">
            <a:spAutoFit/>
          </a:bodyPr>
          <a:lstStyle/>
          <a:p>
            <a:r>
              <a:rPr sz="1050" b="0">
                <a:solidFill>
                  <a:srgbClr val="1F1F1F"/>
                </a:solidFill>
                <a:latin typeface="Calibri"/>
              </a:rPr>
              <a:t>price spread at</a:t>
            </a:r>
          </a:p>
        </p:txBody>
      </p:sp>
      <p:pic>
        <p:nvPicPr>
          <p:cNvPr id="63" name="Picture 62" descr="lock.png"/>
          <p:cNvPicPr>
            <a:picLocks noChangeAspect="1"/>
          </p:cNvPicPr>
          <p:nvPr/>
        </p:nvPicPr>
        <p:blipFill>
          <a:blip r:embed="rId5"/>
          <a:stretch>
            <a:fillRect/>
          </a:stretch>
        </p:blipFill>
        <p:spPr>
          <a:xfrm>
            <a:off x="9489808" y="5681662"/>
            <a:ext cx="122849" cy="178689"/>
          </a:xfrm>
          <a:prstGeom prst="rect">
            <a:avLst/>
          </a:prstGeom>
        </p:spPr>
      </p:pic>
      <p:sp>
        <p:nvSpPr>
          <p:cNvPr id="64" name="TextBox 63"/>
          <p:cNvSpPr txBox="1"/>
          <p:nvPr/>
        </p:nvSpPr>
        <p:spPr>
          <a:xfrm>
            <a:off x="9649690" y="5690996"/>
            <a:ext cx="1085701" cy="179069"/>
          </a:xfrm>
          <a:prstGeom prst="rect">
            <a:avLst/>
          </a:prstGeom>
          <a:noFill/>
        </p:spPr>
        <p:txBody>
          <a:bodyPr wrap="none" lIns="0" rIns="0" tIns="0" bIns="0">
            <a:spAutoFit/>
          </a:bodyPr>
          <a:lstStyle/>
          <a:p>
            <a:r>
              <a:rPr sz="1050" b="0">
                <a:solidFill>
                  <a:srgbClr val="1F1F1F"/>
                </a:solidFill>
                <a:latin typeface="Calibri"/>
              </a:rPr>
              <a:t>, ranging from US$</a:t>
            </a:r>
          </a:p>
        </p:txBody>
      </p:sp>
      <p:pic>
        <p:nvPicPr>
          <p:cNvPr id="65" name="Picture 64" descr="lock.png"/>
          <p:cNvPicPr>
            <a:picLocks noChangeAspect="1"/>
          </p:cNvPicPr>
          <p:nvPr/>
        </p:nvPicPr>
        <p:blipFill>
          <a:blip r:embed="rId5"/>
          <a:stretch>
            <a:fillRect/>
          </a:stretch>
        </p:blipFill>
        <p:spPr>
          <a:xfrm>
            <a:off x="10682341" y="5681662"/>
            <a:ext cx="122849" cy="178689"/>
          </a:xfrm>
          <a:prstGeom prst="rect">
            <a:avLst/>
          </a:prstGeom>
        </p:spPr>
      </p:pic>
      <p:sp>
        <p:nvSpPr>
          <p:cNvPr id="66" name="TextBox 65"/>
          <p:cNvSpPr txBox="1"/>
          <p:nvPr/>
        </p:nvSpPr>
        <p:spPr>
          <a:xfrm>
            <a:off x="10842223" y="5690996"/>
            <a:ext cx="801290" cy="179069"/>
          </a:xfrm>
          <a:prstGeom prst="rect">
            <a:avLst/>
          </a:prstGeom>
          <a:noFill/>
        </p:spPr>
        <p:txBody>
          <a:bodyPr wrap="none" lIns="0" rIns="0" tIns="0" bIns="0">
            <a:spAutoFit/>
          </a:bodyPr>
          <a:lstStyle/>
          <a:p>
            <a:r>
              <a:rPr sz="1050" b="0">
                <a:solidFill>
                  <a:srgbClr val="1F1F1F"/>
                </a:solidFill>
                <a:latin typeface="Calibri"/>
              </a:rPr>
              <a:t>/Units to US$</a:t>
            </a:r>
          </a:p>
        </p:txBody>
      </p:sp>
      <p:pic>
        <p:nvPicPr>
          <p:cNvPr id="67" name="Picture 66" descr="lock.png"/>
          <p:cNvPicPr>
            <a:picLocks noChangeAspect="1"/>
          </p:cNvPicPr>
          <p:nvPr/>
        </p:nvPicPr>
        <p:blipFill>
          <a:blip r:embed="rId5"/>
          <a:stretch>
            <a:fillRect/>
          </a:stretch>
        </p:blipFill>
        <p:spPr>
          <a:xfrm>
            <a:off x="8645369" y="5841682"/>
            <a:ext cx="122849" cy="178689"/>
          </a:xfrm>
          <a:prstGeom prst="rect">
            <a:avLst/>
          </a:prstGeom>
        </p:spPr>
      </p:pic>
      <p:sp>
        <p:nvSpPr>
          <p:cNvPr id="68" name="TextBox 67"/>
          <p:cNvSpPr txBox="1"/>
          <p:nvPr/>
        </p:nvSpPr>
        <p:spPr>
          <a:xfrm>
            <a:off x="8805252" y="5851016"/>
            <a:ext cx="1373497" cy="179069"/>
          </a:xfrm>
          <a:prstGeom prst="rect">
            <a:avLst/>
          </a:prstGeom>
          <a:noFill/>
        </p:spPr>
        <p:txBody>
          <a:bodyPr wrap="none" lIns="0" rIns="0" tIns="0" bIns="0">
            <a:spAutoFit/>
          </a:bodyPr>
          <a:lstStyle/>
          <a:p>
            <a:r>
              <a:rPr sz="1050" b="0">
                <a:solidFill>
                  <a:srgbClr val="1F1F1F"/>
                </a:solidFill>
                <a:latin typeface="Calibri"/>
              </a:rPr>
              <a:t>/Units across sub-types.</a:t>
            </a:r>
          </a:p>
        </p:txBody>
      </p:sp>
      <p:sp>
        <p:nvSpPr>
          <p:cNvPr id="69" name="TextBox 68"/>
          <p:cNvSpPr txBox="1"/>
          <p:nvPr/>
        </p:nvSpPr>
        <p:spPr>
          <a:xfrm>
            <a:off x="301752" y="6391275"/>
            <a:ext cx="5851659"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(Units); shading shows the index vs the Global average of US$</a:t>
            </a:r>
          </a:p>
        </p:txBody>
      </p:sp>
      <p:pic>
        <p:nvPicPr>
          <p:cNvPr id="70" name="Picture 69" descr="lock.png"/>
          <p:cNvPicPr>
            <a:picLocks noChangeAspect="1"/>
          </p:cNvPicPr>
          <p:nvPr/>
        </p:nvPicPr>
        <p:blipFill>
          <a:blip r:embed="rId5"/>
          <a:stretch>
            <a:fillRect/>
          </a:stretch>
        </p:blipFill>
        <p:spPr>
          <a:xfrm>
            <a:off x="6095202" y="6384020"/>
            <a:ext cx="95470" cy="138866"/>
          </a:xfrm>
          <a:prstGeom prst="rect">
            <a:avLst/>
          </a:prstGeom>
        </p:spPr>
      </p:pic>
      <p:sp>
        <p:nvSpPr>
          <p:cNvPr id="71" name="TextBox 70"/>
          <p:cNvSpPr txBox="1"/>
          <p:nvPr/>
        </p:nvSpPr>
        <p:spPr>
          <a:xfrm>
            <a:off x="6219453" y="6391275"/>
            <a:ext cx="362604" cy="143408"/>
          </a:xfrm>
          <a:prstGeom prst="rect">
            <a:avLst/>
          </a:prstGeom>
          <a:noFill/>
        </p:spPr>
        <p:txBody>
          <a:bodyPr wrap="none" lIns="0" rIns="0" tIns="0" bIns="0">
            <a:spAutoFit/>
          </a:bodyPr>
          <a:lstStyle/>
          <a:p>
            <a:r>
              <a:rPr sz="816" b="0">
                <a:solidFill>
                  <a:srgbClr val="59636E"/>
                </a:solidFill>
                <a:latin typeface="Calibri"/>
              </a:rPr>
              <a:t>/Units.</a:t>
            </a:r>
          </a:p>
        </p:txBody>
      </p:sp>
      <p:pic>
        <p:nvPicPr>
          <p:cNvPr id="72" name="Picture 71" descr="lock.png"/>
          <p:cNvPicPr>
            <a:picLocks noChangeAspect="1"/>
          </p:cNvPicPr>
          <p:nvPr/>
        </p:nvPicPr>
        <p:blipFill>
          <a:blip r:embed="rId5"/>
          <a:stretch>
            <a:fillRect/>
          </a:stretch>
        </p:blipFill>
        <p:spPr>
          <a:xfrm>
            <a:off x="9913437" y="3234020"/>
            <a:ext cx="332271" cy="483303"/>
          </a:xfrm>
          <a:prstGeom prst="rect">
            <a:avLst/>
          </a:prstGeom>
        </p:spPr>
      </p:pic>
      <p:sp>
        <p:nvSpPr>
          <p:cNvPr id="73"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(US$/Units)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(US$/Units),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0615"/>
            <a:ext cx="3985393" cy="217169"/>
          </a:xfrm>
          <a:prstGeom prst="rect">
            <a:avLst/>
          </a:prstGeom>
          <a:noFill/>
        </p:spPr>
        <p:txBody>
          <a:bodyPr wrap="none" lIns="0" rIns="0" tIns="0" bIns="0">
            <a:spAutoFit/>
          </a:bodyPr>
          <a:lstStyle/>
          <a:p>
            <a:r>
              <a:rPr sz="1300" b="1">
                <a:solidFill>
                  <a:srgbClr val="FFFFFF"/>
                </a:solidFill>
                <a:latin typeface="Calibri"/>
              </a:rPr>
              <a:t>North America is the most premium Global region at US$</a:t>
            </a:r>
          </a:p>
        </p:txBody>
      </p:sp>
      <p:pic>
        <p:nvPicPr>
          <p:cNvPr id="34" name="Picture 33" descr="lock.png"/>
          <p:cNvPicPr>
            <a:picLocks noChangeAspect="1"/>
          </p:cNvPicPr>
          <p:nvPr/>
        </p:nvPicPr>
        <p:blipFill>
          <a:blip r:embed="rId5"/>
          <a:stretch>
            <a:fillRect/>
          </a:stretch>
        </p:blipFill>
        <p:spPr>
          <a:xfrm>
            <a:off x="4349334" y="1099058"/>
            <a:ext cx="152098" cy="221234"/>
          </a:xfrm>
          <a:prstGeom prst="rect">
            <a:avLst/>
          </a:prstGeom>
        </p:spPr>
      </p:pic>
      <p:sp>
        <p:nvSpPr>
          <p:cNvPr id="35" name="TextBox 34"/>
          <p:cNvSpPr txBox="1"/>
          <p:nvPr/>
        </p:nvSpPr>
        <p:spPr>
          <a:xfrm>
            <a:off x="4547284" y="1110615"/>
            <a:ext cx="1209005" cy="217169"/>
          </a:xfrm>
          <a:prstGeom prst="rect">
            <a:avLst/>
          </a:prstGeom>
          <a:noFill/>
        </p:spPr>
        <p:txBody>
          <a:bodyPr wrap="none" lIns="0" rIns="0" tIns="0" bIns="0">
            <a:spAutoFit/>
          </a:bodyPr>
          <a:lstStyle/>
          <a:p>
            <a:r>
              <a:rPr sz="1300" b="1">
                <a:solidFill>
                  <a:srgbClr val="FFFFFF"/>
                </a:solidFill>
                <a:latin typeface="Calibri"/>
              </a:rPr>
              <a:t>/Units in 2026, +</a:t>
            </a:r>
          </a:p>
        </p:txBody>
      </p:sp>
      <p:pic>
        <p:nvPicPr>
          <p:cNvPr id="36" name="Picture 35" descr="lock.png"/>
          <p:cNvPicPr>
            <a:picLocks noChangeAspect="1"/>
          </p:cNvPicPr>
          <p:nvPr/>
        </p:nvPicPr>
        <p:blipFill>
          <a:blip r:embed="rId5"/>
          <a:stretch>
            <a:fillRect/>
          </a:stretch>
        </p:blipFill>
        <p:spPr>
          <a:xfrm>
            <a:off x="5708750" y="1099058"/>
            <a:ext cx="152098" cy="221234"/>
          </a:xfrm>
          <a:prstGeom prst="rect">
            <a:avLst/>
          </a:prstGeom>
        </p:spPr>
      </p:pic>
      <p:sp>
        <p:nvSpPr>
          <p:cNvPr id="37" name="TextBox 36"/>
          <p:cNvSpPr txBox="1"/>
          <p:nvPr/>
        </p:nvSpPr>
        <p:spPr>
          <a:xfrm>
            <a:off x="5906700" y="1110615"/>
            <a:ext cx="5071119" cy="217169"/>
          </a:xfrm>
          <a:prstGeom prst="rect">
            <a:avLst/>
          </a:prstGeom>
          <a:noFill/>
        </p:spPr>
        <p:txBody>
          <a:bodyPr wrap="none" lIns="0" rIns="0" tIns="0" bIns="0">
            <a:spAutoFit/>
          </a:bodyPr>
          <a:lstStyle/>
          <a:p>
            <a:r>
              <a:rPr sz="1300" b="1">
                <a:solidFill>
                  <a:srgbClr val="FFFFFF"/>
                </a:solidFill>
                <a:latin typeface="Calibri"/>
              </a:rPr>
              <a:t>above the global average, while South Asia &amp; Pacific is the lowest priced.</a:t>
            </a:r>
          </a:p>
        </p:txBody>
      </p:sp>
      <p:sp>
        <p:nvSpPr>
          <p:cNvPr id="38" name="TextBox 37"/>
          <p:cNvSpPr txBox="1"/>
          <p:nvPr/>
        </p:nvSpPr>
        <p:spPr>
          <a:xfrm>
            <a:off x="411480" y="1831467"/>
            <a:ext cx="4975274" cy="148589"/>
          </a:xfrm>
          <a:prstGeom prst="rect">
            <a:avLst/>
          </a:prstGeom>
          <a:noFill/>
        </p:spPr>
        <p:txBody>
          <a:bodyPr wrap="none" lIns="0" rIns="0" tIns="0" bIns="0">
            <a:spAutoFit/>
          </a:bodyPr>
          <a:lstStyle/>
          <a:p>
            <a:r>
              <a:rPr sz="850" b="0">
                <a:solidFill>
                  <a:srgbClr val="59636E"/>
                </a:solidFill>
                <a:latin typeface="Calibri"/>
              </a:rPr>
              <a:t>Bar spans the lowest to highest product type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329294" y="1823910"/>
            <a:ext cx="99449" cy="144653"/>
          </a:xfrm>
          <a:prstGeom prst="rect">
            <a:avLst/>
          </a:prstGeom>
        </p:spPr>
      </p:pic>
      <p:sp>
        <p:nvSpPr>
          <p:cNvPr id="40" name="TextBox 39"/>
          <p:cNvSpPr txBox="1"/>
          <p:nvPr/>
        </p:nvSpPr>
        <p:spPr>
          <a:xfrm>
            <a:off x="5458723" y="1831467"/>
            <a:ext cx="2037010" cy="148589"/>
          </a:xfrm>
          <a:prstGeom prst="rect">
            <a:avLst/>
          </a:prstGeom>
          <a:noFill/>
        </p:spPr>
        <p:txBody>
          <a:bodyPr wrap="none" lIns="0" rIns="0" tIns="0" bIns="0">
            <a:spAutoFit/>
          </a:bodyPr>
          <a:lstStyle/>
          <a:p>
            <a:r>
              <a:rPr sz="850"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rIns="0" t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rIns="0" t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2032173" cy="179069"/>
          </a:xfrm>
          <a:prstGeom prst="rect">
            <a:avLst/>
          </a:prstGeom>
          <a:noFill/>
        </p:spPr>
        <p:txBody>
          <a:bodyPr wrap="none" lIns="0" rIns="0" tIns="0" bIns="0">
            <a:spAutoFit/>
          </a:bodyPr>
          <a:lstStyle/>
          <a:p>
            <a:r>
              <a:rPr sz="1050" b="0">
                <a:solidFill>
                  <a:srgbClr val="1F1F1F"/>
                </a:solidFill>
                <a:latin typeface="Calibri"/>
              </a:rPr>
              <a:t>/Units in South Asia &amp; Pacific to US$</a:t>
            </a:r>
          </a:p>
        </p:txBody>
      </p:sp>
      <p:pic>
        <p:nvPicPr>
          <p:cNvPr id="47" name="Picture 46" descr="lock.png"/>
          <p:cNvPicPr>
            <a:picLocks noChangeAspect="1"/>
          </p:cNvPicPr>
          <p:nvPr/>
        </p:nvPicPr>
        <p:blipFill>
          <a:blip r:embed="rId5"/>
          <a:stretch>
            <a:fillRect/>
          </a:stretch>
        </p:blipFill>
        <p:spPr>
          <a:xfrm>
            <a:off x="793721" y="5841682"/>
            <a:ext cx="122849" cy="178689"/>
          </a:xfrm>
          <a:prstGeom prst="rect">
            <a:avLst/>
          </a:prstGeom>
        </p:spPr>
      </p:pic>
      <p:sp>
        <p:nvSpPr>
          <p:cNvPr id="48" name="TextBox 47"/>
          <p:cNvSpPr txBox="1"/>
          <p:nvPr/>
        </p:nvSpPr>
        <p:spPr>
          <a:xfrm>
            <a:off x="953604" y="5851016"/>
            <a:ext cx="1401886" cy="179069"/>
          </a:xfrm>
          <a:prstGeom prst="rect">
            <a:avLst/>
          </a:prstGeom>
          <a:noFill/>
        </p:spPr>
        <p:txBody>
          <a:bodyPr wrap="none" lIns="0" rIns="0" tIns="0" bIns="0">
            <a:spAutoFit/>
          </a:bodyPr>
          <a:lstStyle/>
          <a:p>
            <a:r>
              <a:rPr sz="1050" b="0">
                <a:solidFill>
                  <a:srgbClr val="1F1F1F"/>
                </a:solidFill>
                <a:latin typeface="Calibri"/>
              </a:rPr>
              <a:t>/Units in North America.</a:t>
            </a:r>
          </a:p>
        </p:txBody>
      </p:sp>
      <p:sp>
        <p:nvSpPr>
          <p:cNvPr id="49" name="TextBox 48"/>
          <p:cNvSpPr txBox="1"/>
          <p:nvPr/>
        </p:nvSpPr>
        <p:spPr>
          <a:xfrm>
            <a:off x="4732401" y="5530976"/>
            <a:ext cx="2951819" cy="179069"/>
          </a:xfrm>
          <a:prstGeom prst="rect">
            <a:avLst/>
          </a:prstGeom>
          <a:noFill/>
        </p:spPr>
        <p:txBody>
          <a:bodyPr wrap="none" lIns="0" rIns="0" tIns="0" bIns="0">
            <a:spAutoFit/>
          </a:bodyPr>
          <a:lstStyle/>
          <a:p>
            <a:r>
              <a:rPr sz="1050" b="0">
                <a:solidFill>
                  <a:srgbClr val="1F1F1F"/>
                </a:solidFill>
                <a:latin typeface="Calibri"/>
              </a:rPr>
              <a:t>South Asia &amp; Pacific records the fastest average price</a:t>
            </a:r>
          </a:p>
        </p:txBody>
      </p:sp>
      <p:sp>
        <p:nvSpPr>
          <p:cNvPr id="50" name="TextBox 49"/>
          <p:cNvSpPr txBox="1"/>
          <p:nvPr/>
        </p:nvSpPr>
        <p:spPr>
          <a:xfrm>
            <a:off x="4732401" y="5690996"/>
            <a:ext cx="698934" cy="179069"/>
          </a:xfrm>
          <a:prstGeom prst="rect">
            <a:avLst/>
          </a:prstGeom>
          <a:noFill/>
        </p:spPr>
        <p:txBody>
          <a:bodyPr wrap="none" lIns="0" rIns="0" tIns="0" bIns="0">
            <a:spAutoFit/>
          </a:bodyPr>
          <a:lstStyle/>
          <a:p>
            <a:r>
              <a:rPr sz="1050" b="0">
                <a:solidFill>
                  <a:srgbClr val="1F1F1F"/>
                </a:solidFill>
                <a:latin typeface="Calibri"/>
              </a:rPr>
              <a:t>growth at a</a:t>
            </a:r>
          </a:p>
        </p:txBody>
      </p:sp>
      <p:pic>
        <p:nvPicPr>
          <p:cNvPr id="51" name="Picture 50" descr="lock.png"/>
          <p:cNvPicPr>
            <a:picLocks noChangeAspect="1"/>
          </p:cNvPicPr>
          <p:nvPr/>
        </p:nvPicPr>
        <p:blipFill>
          <a:blip r:embed="rId5"/>
          <a:stretch>
            <a:fillRect/>
          </a:stretch>
        </p:blipFill>
        <p:spPr>
          <a:xfrm>
            <a:off x="5378284" y="5681662"/>
            <a:ext cx="122849" cy="178689"/>
          </a:xfrm>
          <a:prstGeom prst="rect">
            <a:avLst/>
          </a:prstGeom>
        </p:spPr>
      </p:pic>
      <p:sp>
        <p:nvSpPr>
          <p:cNvPr id="52" name="TextBox 51"/>
          <p:cNvSpPr txBox="1"/>
          <p:nvPr/>
        </p:nvSpPr>
        <p:spPr>
          <a:xfrm>
            <a:off x="5538166" y="5690996"/>
            <a:ext cx="2178529" cy="179069"/>
          </a:xfrm>
          <a:prstGeom prst="rect">
            <a:avLst/>
          </a:prstGeom>
          <a:noFill/>
        </p:spPr>
        <p:txBody>
          <a:bodyPr wrap="none" lIns="0" rIns="0" tIns="0" bIns="0">
            <a:spAutoFit/>
          </a:bodyPr>
          <a:lstStyle/>
          <a:p>
            <a:r>
              <a:rPr sz="1050" b="0">
                <a:solidFill>
                  <a:srgbClr val="1F1F1F"/>
                </a:solidFill>
                <a:latin typeface="Calibri"/>
              </a:rPr>
              <a:t>CAGR between 2026 and 2036, against</a:t>
            </a:r>
          </a:p>
        </p:txBody>
      </p:sp>
      <p:pic>
        <p:nvPicPr>
          <p:cNvPr id="53" name="Picture 52" descr="lock.png"/>
          <p:cNvPicPr>
            <a:picLocks noChangeAspect="1"/>
          </p:cNvPicPr>
          <p:nvPr/>
        </p:nvPicPr>
        <p:blipFill>
          <a:blip r:embed="rId5"/>
          <a:stretch>
            <a:fillRect/>
          </a:stretch>
        </p:blipFill>
        <p:spPr>
          <a:xfrm>
            <a:off x="4719545" y="5841682"/>
            <a:ext cx="122849" cy="178689"/>
          </a:xfrm>
          <a:prstGeom prst="rect">
            <a:avLst/>
          </a:prstGeom>
        </p:spPr>
      </p:pic>
      <p:sp>
        <p:nvSpPr>
          <p:cNvPr id="54" name="TextBox 53"/>
          <p:cNvSpPr txBox="1"/>
          <p:nvPr/>
        </p:nvSpPr>
        <p:spPr>
          <a:xfrm>
            <a:off x="4879428" y="5851016"/>
            <a:ext cx="1250565" cy="179069"/>
          </a:xfrm>
          <a:prstGeom prst="rect">
            <a:avLst/>
          </a:prstGeom>
          <a:noFill/>
        </p:spPr>
        <p:txBody>
          <a:bodyPr wrap="none" lIns="0" rIns="0" tIns="0" bIns="0">
            <a:spAutoFit/>
          </a:bodyPr>
          <a:lstStyle/>
          <a:p>
            <a:r>
              <a:rPr sz="1050" b="0">
                <a:solidFill>
                  <a:srgbClr val="1F1F1F"/>
                </a:solidFill>
                <a:latin typeface="Calibri"/>
              </a:rPr>
              <a:t>for Global as a whole.</a:t>
            </a:r>
          </a:p>
        </p:txBody>
      </p:sp>
      <p:sp>
        <p:nvSpPr>
          <p:cNvPr id="55" name="TextBox 54"/>
          <p:cNvSpPr txBox="1"/>
          <p:nvPr/>
        </p:nvSpPr>
        <p:spPr>
          <a:xfrm>
            <a:off x="8658225" y="5530976"/>
            <a:ext cx="3011462" cy="179069"/>
          </a:xfrm>
          <a:prstGeom prst="rect">
            <a:avLst/>
          </a:prstGeom>
          <a:noFill/>
        </p:spPr>
        <p:txBody>
          <a:bodyPr wrap="none" lIns="0" rIns="0" tIns="0" bIns="0">
            <a:spAutoFit/>
          </a:bodyPr>
          <a:lstStyle/>
          <a:p>
            <a:r>
              <a:rPr sz="1050" b="0">
                <a:solidFill>
                  <a:srgbClr val="1F1F1F"/>
                </a:solidFill>
                <a:latin typeface="Calibri"/>
              </a:rPr>
              <a:t>South Asia &amp; Pacific shows the widest gap between its</a:t>
            </a:r>
          </a:p>
        </p:txBody>
      </p:sp>
      <p:sp>
        <p:nvSpPr>
          <p:cNvPr id="56" name="TextBox 55"/>
          <p:cNvSpPr txBox="1"/>
          <p:nvPr/>
        </p:nvSpPr>
        <p:spPr>
          <a:xfrm>
            <a:off x="8658225" y="5690996"/>
            <a:ext cx="2544216" cy="179069"/>
          </a:xfrm>
          <a:prstGeom prst="rect">
            <a:avLst/>
          </a:prstGeom>
          <a:noFill/>
        </p:spPr>
        <p:txBody>
          <a:bodyPr wrap="none" lIns="0" rIns="0" tIns="0" bIns="0">
            <a:spAutoFit/>
          </a:bodyPr>
          <a:lstStyle/>
          <a:p>
            <a:r>
              <a:rPr sz="1050" b="0">
                <a:solidFill>
                  <a:srgbClr val="1F1F1F"/>
                </a:solidFill>
                <a:latin typeface="Calibri"/>
              </a:rPr>
              <a:t>cheapest and most expensive product type at</a:t>
            </a:r>
          </a:p>
        </p:txBody>
      </p:sp>
      <p:pic>
        <p:nvPicPr>
          <p:cNvPr id="57" name="Picture 56" descr="lock.png"/>
          <p:cNvPicPr>
            <a:picLocks noChangeAspect="1"/>
          </p:cNvPicPr>
          <p:nvPr/>
        </p:nvPicPr>
        <p:blipFill>
          <a:blip r:embed="rId5"/>
          <a:stretch>
            <a:fillRect/>
          </a:stretch>
        </p:blipFill>
        <p:spPr>
          <a:xfrm>
            <a:off x="11149391" y="5681662"/>
            <a:ext cx="122849" cy="178689"/>
          </a:xfrm>
          <a:prstGeom prst="rect">
            <a:avLst/>
          </a:prstGeom>
        </p:spPr>
      </p:pic>
      <p:sp>
        <p:nvSpPr>
          <p:cNvPr id="58" name="TextBox 57"/>
          <p:cNvSpPr txBox="1"/>
          <p:nvPr/>
        </p:nvSpPr>
        <p:spPr>
          <a:xfrm>
            <a:off x="11309273" y="5690996"/>
            <a:ext cx="262160" cy="179069"/>
          </a:xfrm>
          <a:prstGeom prst="rect">
            <a:avLst/>
          </a:prstGeom>
          <a:noFill/>
        </p:spPr>
        <p:txBody>
          <a:bodyPr wrap="none" lIns="0" rIns="0" tIns="0" bIns="0">
            <a:spAutoFit/>
          </a:bodyPr>
          <a:lstStyle/>
          <a:p>
            <a:r>
              <a:rPr sz="1050" b="0">
                <a:solidFill>
                  <a:srgbClr val="1F1F1F"/>
                </a:solidFill>
                <a:latin typeface="Calibri"/>
              </a:rPr>
              <a:t>, so</a:t>
            </a:r>
          </a:p>
        </p:txBody>
      </p:sp>
      <p:sp>
        <p:nvSpPr>
          <p:cNvPr id="59" name="TextBox 58"/>
          <p:cNvSpPr txBox="1"/>
          <p:nvPr/>
        </p:nvSpPr>
        <p:spPr>
          <a:xfrm>
            <a:off x="8658225" y="5851016"/>
            <a:ext cx="2851807" cy="179069"/>
          </a:xfrm>
          <a:prstGeom prst="rect">
            <a:avLst/>
          </a:prstGeom>
          <a:noFill/>
        </p:spPr>
        <p:txBody>
          <a:bodyPr wrap="none" lIns="0" rIns="0" tIns="0" bIns="0">
            <a:spAutoFit/>
          </a:bodyPr>
          <a:lstStyle/>
          <a:p>
            <a:r>
              <a:rPr sz="1050" b="0">
                <a:solidFill>
                  <a:srgbClr val="1F1F1F"/>
                </a:solidFill>
                <a:latin typeface="Calibri"/>
              </a:rPr>
              <a:t>product mix shifts move its average price the most.</a:t>
            </a:r>
          </a:p>
        </p:txBody>
      </p:sp>
      <p:pic>
        <p:nvPicPr>
          <p:cNvPr id="60" name="Picture 59" descr="lock.png"/>
          <p:cNvPicPr>
            <a:picLocks noChangeAspect="1"/>
          </p:cNvPicPr>
          <p:nvPr/>
        </p:nvPicPr>
        <p:blipFill>
          <a:blip r:embed="rId5"/>
          <a:stretch>
            <a:fillRect/>
          </a:stretch>
        </p:blipFill>
        <p:spPr>
          <a:xfrm>
            <a:off x="3952821" y="3129375"/>
            <a:ext cx="482444" cy="701737"/>
          </a:xfrm>
          <a:prstGeom prst="rect">
            <a:avLst/>
          </a:prstGeom>
        </p:spPr>
      </p:pic>
      <p:sp>
        <p:nvSpPr>
          <p:cNvPr id="61"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(US$/Units).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98</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200</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303</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none" lIns="0" rIns="0" tIns="0" bIns="0">
            <a:spAutoFit/>
          </a:bodyPr>
          <a:lstStyle/>
          <a:p>
            <a:pPr algn="ctr"/>
            <a:r>
              <a:rPr sz="1100" b="0">
                <a:solidFill>
                  <a:srgbClr val="6C7A89"/>
                </a:solidFill>
                <a:latin typeface="Calibri"/>
              </a:rPr>
              <a:t>405</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none" lIns="0" rIns="0" tIns="0" bIns="0">
            <a:spAutoFit/>
          </a:bodyPr>
          <a:lstStyle/>
          <a:p>
            <a:pPr algn="ctr"/>
            <a:r>
              <a:rPr sz="1100" b="0">
                <a:solidFill>
                  <a:srgbClr val="6C7A89"/>
                </a:solidFill>
                <a:latin typeface="Calibri"/>
              </a:rPr>
              <a:t>508</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none" lIns="0" rIns="0" tIns="0" bIns="0">
            <a:spAutoFit/>
          </a:bodyPr>
          <a:lstStyle/>
          <a:p>
            <a:pPr algn="ctr"/>
            <a:r>
              <a:rPr sz="1100" b="0">
                <a:solidFill>
                  <a:srgbClr val="6C7A89"/>
                </a:solidFill>
                <a:latin typeface="Calibri"/>
              </a:rPr>
              <a:t>611</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4290624" y="2100912"/>
            <a:ext cx="263643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5499300"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031268" y="2824823"/>
            <a:ext cx="182579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845303"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3853333" y="3548733"/>
            <a:ext cx="2327569"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05225"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315539" y="4272643"/>
            <a:ext cx="134456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02677"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045494" y="4996553"/>
            <a:ext cx="120170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2561093"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2944744" y="5720463"/>
            <a:ext cx="175720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726726"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54" name="TextBox 53"/>
          <p:cNvSpPr txBox="1"/>
          <p:nvPr/>
        </p:nvSpPr>
        <p:spPr>
          <a:xfrm>
            <a:off x="8048625" y="1911934"/>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55" name="Picture 54" descr="lock.png"/>
          <p:cNvPicPr>
            <a:picLocks noChangeAspect="1"/>
          </p:cNvPicPr>
          <p:nvPr/>
        </p:nvPicPr>
        <p:blipFill>
          <a:blip r:embed="rId4"/>
          <a:stretch>
            <a:fillRect/>
          </a:stretch>
        </p:blipFill>
        <p:spPr>
          <a:xfrm>
            <a:off x="9764678" y="1901710"/>
            <a:ext cx="134549" cy="195707"/>
          </a:xfrm>
          <a:prstGeom prst="rect">
            <a:avLst/>
          </a:prstGeom>
        </p:spPr>
      </p:pic>
      <p:sp>
        <p:nvSpPr>
          <p:cNvPr id="56" name="TextBox 55"/>
          <p:cNvSpPr txBox="1"/>
          <p:nvPr/>
        </p:nvSpPr>
        <p:spPr>
          <a:xfrm>
            <a:off x="9939788" y="1911934"/>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57" name="TextBox 56"/>
          <p:cNvSpPr txBox="1"/>
          <p:nvPr/>
        </p:nvSpPr>
        <p:spPr>
          <a:xfrm>
            <a:off x="8048625" y="2087194"/>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58" name="Picture 57" descr="lock.png"/>
          <p:cNvPicPr>
            <a:picLocks noChangeAspect="1"/>
          </p:cNvPicPr>
          <p:nvPr/>
        </p:nvPicPr>
        <p:blipFill>
          <a:blip r:embed="rId4"/>
          <a:stretch>
            <a:fillRect/>
          </a:stretch>
        </p:blipFill>
        <p:spPr>
          <a:xfrm>
            <a:off x="8034545" y="2252230"/>
            <a:ext cx="134549" cy="195707"/>
          </a:xfrm>
          <a:prstGeom prst="rect">
            <a:avLst/>
          </a:prstGeom>
        </p:spPr>
      </p:pic>
      <p:sp>
        <p:nvSpPr>
          <p:cNvPr id="59" name="TextBox 58"/>
          <p:cNvSpPr txBox="1"/>
          <p:nvPr/>
        </p:nvSpPr>
        <p:spPr>
          <a:xfrm>
            <a:off x="8209654" y="2262454"/>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60" name="Picture 59" descr="lock.png"/>
          <p:cNvPicPr>
            <a:picLocks noChangeAspect="1"/>
          </p:cNvPicPr>
          <p:nvPr/>
        </p:nvPicPr>
        <p:blipFill>
          <a:blip r:embed="rId4"/>
          <a:stretch>
            <a:fillRect/>
          </a:stretch>
        </p:blipFill>
        <p:spPr>
          <a:xfrm>
            <a:off x="11296924" y="2252230"/>
            <a:ext cx="134549" cy="195707"/>
          </a:xfrm>
          <a:prstGeom prst="rect">
            <a:avLst/>
          </a:prstGeom>
        </p:spPr>
      </p:pic>
      <p:sp>
        <p:nvSpPr>
          <p:cNvPr id="61" name="TextBox 60"/>
          <p:cNvSpPr txBox="1"/>
          <p:nvPr/>
        </p:nvSpPr>
        <p:spPr>
          <a:xfrm>
            <a:off x="8048625" y="2437714"/>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62" name="TextBox 61"/>
          <p:cNvSpPr txBox="1"/>
          <p:nvPr/>
        </p:nvSpPr>
        <p:spPr>
          <a:xfrm>
            <a:off x="8048625" y="2665551"/>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63" name="TextBox 62"/>
          <p:cNvSpPr txBox="1"/>
          <p:nvPr/>
        </p:nvSpPr>
        <p:spPr>
          <a:xfrm>
            <a:off x="8048625" y="2840811"/>
            <a:ext cx="378735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The orange dot is</a:t>
            </a:r>
          </a:p>
        </p:txBody>
      </p:sp>
      <p:sp>
        <p:nvSpPr>
          <p:cNvPr id="64" name="TextBox 63"/>
          <p:cNvSpPr txBox="1"/>
          <p:nvPr/>
        </p:nvSpPr>
        <p:spPr>
          <a:xfrm>
            <a:off x="8048625" y="3016071"/>
            <a:ext cx="3517503" cy="194310"/>
          </a:xfrm>
          <a:prstGeom prst="rect">
            <a:avLst/>
          </a:prstGeom>
          <a:noFill/>
        </p:spPr>
        <p:txBody>
          <a:bodyPr wrap="none" lIns="0" rIns="0" tIns="0" bIns="0">
            <a:spAutoFit/>
          </a:bodyPr>
          <a:lstStyle/>
          <a:p>
            <a:r>
              <a:rPr sz="1150" b="0">
                <a:solidFill>
                  <a:srgbClr val="2E2E2E"/>
                </a:solidFill>
                <a:latin typeface="Calibri"/>
              </a:rPr>
              <a:t>each region's average selling price; the blue band is its full</a:t>
            </a:r>
          </a:p>
        </p:txBody>
      </p:sp>
      <p:sp>
        <p:nvSpPr>
          <p:cNvPr id="65" name="TextBox 64"/>
          <p:cNvSpPr txBox="1"/>
          <p:nvPr/>
        </p:nvSpPr>
        <p:spPr>
          <a:xfrm>
            <a:off x="8048625" y="3191331"/>
            <a:ext cx="3318395" cy="194310"/>
          </a:xfrm>
          <a:prstGeom prst="rect">
            <a:avLst/>
          </a:prstGeom>
          <a:noFill/>
        </p:spPr>
        <p:txBody>
          <a:bodyPr wrap="none" lIns="0" rIns="0" tIns="0" bIns="0">
            <a:spAutoFit/>
          </a:bodyPr>
          <a:lstStyle/>
          <a:p>
            <a:r>
              <a:rPr sz="1150" b="0">
                <a:solidFill>
                  <a:srgbClr val="2E2E2E"/>
                </a:solidFill>
                <a:latin typeface="Calibri"/>
              </a:rPr>
              <a:t>low-to-high price range, all derived as Value ÷ Volume.</a:t>
            </a:r>
          </a:p>
        </p:txBody>
      </p:sp>
      <p:sp>
        <p:nvSpPr>
          <p:cNvPr id="66" name="TextBox 65"/>
          <p:cNvSpPr txBox="1"/>
          <p:nvPr/>
        </p:nvSpPr>
        <p:spPr>
          <a:xfrm>
            <a:off x="8048625" y="3419169"/>
            <a:ext cx="3691793" cy="194310"/>
          </a:xfrm>
          <a:prstGeom prst="rect">
            <a:avLst/>
          </a:prstGeom>
          <a:noFill/>
        </p:spPr>
        <p:txBody>
          <a:bodyPr wrap="none" lIns="0" rIns="0" tIns="0" bIns="0">
            <a:spAutoFit/>
          </a:bodyPr>
          <a:lstStyle/>
          <a:p>
            <a:r>
              <a:rPr sz="1150" b="0">
                <a:solidFill>
                  <a:srgbClr val="2E2E2E"/>
                </a:solidFill>
                <a:latin typeface="Calibri"/>
              </a:rPr>
              <a:t>Narrow bands point to commoditised, price-led competition;</a:t>
            </a:r>
          </a:p>
        </p:txBody>
      </p:sp>
      <p:sp>
        <p:nvSpPr>
          <p:cNvPr id="67" name="TextBox 66"/>
          <p:cNvSpPr txBox="1"/>
          <p:nvPr/>
        </p:nvSpPr>
        <p:spPr>
          <a:xfrm>
            <a:off x="8048625" y="3594429"/>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68" name="TextBox 67"/>
          <p:cNvSpPr txBox="1"/>
          <p:nvPr/>
        </p:nvSpPr>
        <p:spPr>
          <a:xfrm>
            <a:off x="8048625" y="3769689"/>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69342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743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4802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89560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3365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17170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1927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0997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0997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0997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0997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0997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0997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0118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1592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1592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0118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4792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57663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35278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4277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2217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1910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57663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1136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58990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1050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07768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3855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3855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3855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3855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3855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295275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18470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494609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494609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18470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295275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72079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95940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95940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72079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153275" y="1354081"/>
            <a:ext cx="4895850" cy="3393718"/>
          </a:xfrm>
          <a:prstGeom prst="roundRect">
            <a:avLst>
              <a:gd name="adj" fmla="val 22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286625" y="1439806"/>
            <a:ext cx="4629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286625" y="167793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286625" y="1763656"/>
            <a:ext cx="4629150" cy="2907943"/>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Removable Partial Dentures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Removable Partial Dentures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153275" y="4857321"/>
            <a:ext cx="48958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286625" y="4943046"/>
            <a:ext cx="46291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286625" y="518117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286625" y="5266896"/>
            <a:ext cx="46291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24114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849027" y="1889132"/>
            <a:ext cx="128699" cy="187198"/>
          </a:xfrm>
          <a:prstGeom prst="rect">
            <a:avLst/>
          </a:prstGeom>
        </p:spPr>
      </p:pic>
      <p:sp>
        <p:nvSpPr>
          <p:cNvPr id="66" name="TextBox 65"/>
          <p:cNvSpPr txBox="1"/>
          <p:nvPr/>
        </p:nvSpPr>
        <p:spPr>
          <a:xfrm>
            <a:off x="426705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323363" y="2315626"/>
            <a:ext cx="92663" cy="134782"/>
          </a:xfrm>
          <a:prstGeom prst="rect">
            <a:avLst/>
          </a:prstGeom>
        </p:spPr>
      </p:pic>
      <p:sp>
        <p:nvSpPr>
          <p:cNvPr id="68" name="TextBox 67"/>
          <p:cNvSpPr txBox="1"/>
          <p:nvPr/>
        </p:nvSpPr>
        <p:spPr>
          <a:xfrm>
            <a:off x="503571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077486" y="3363591"/>
            <a:ext cx="92663" cy="134782"/>
          </a:xfrm>
          <a:prstGeom prst="rect">
            <a:avLst/>
          </a:prstGeom>
        </p:spPr>
      </p:pic>
      <p:sp>
        <p:nvSpPr>
          <p:cNvPr id="70" name="TextBox 69"/>
          <p:cNvSpPr txBox="1"/>
          <p:nvPr/>
        </p:nvSpPr>
        <p:spPr>
          <a:xfrm>
            <a:off x="502492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083091" y="4655202"/>
            <a:ext cx="97811" cy="142270"/>
          </a:xfrm>
          <a:prstGeom prst="rect">
            <a:avLst/>
          </a:prstGeom>
        </p:spPr>
      </p:pic>
      <p:sp>
        <p:nvSpPr>
          <p:cNvPr id="72" name="TextBox 71"/>
          <p:cNvSpPr txBox="1"/>
          <p:nvPr/>
        </p:nvSpPr>
        <p:spPr>
          <a:xfrm>
            <a:off x="423204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790363" y="5767261"/>
            <a:ext cx="92663" cy="134782"/>
          </a:xfrm>
          <a:prstGeom prst="rect">
            <a:avLst/>
          </a:prstGeom>
        </p:spPr>
      </p:pic>
      <p:sp>
        <p:nvSpPr>
          <p:cNvPr id="74" name="TextBox 73"/>
          <p:cNvSpPr txBox="1"/>
          <p:nvPr/>
        </p:nvSpPr>
        <p:spPr>
          <a:xfrm>
            <a:off x="304940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071911" y="6103453"/>
            <a:ext cx="97811" cy="142270"/>
          </a:xfrm>
          <a:prstGeom prst="rect">
            <a:avLst/>
          </a:prstGeom>
        </p:spPr>
      </p:pic>
      <p:sp>
        <p:nvSpPr>
          <p:cNvPr id="76" name="TextBox 75"/>
          <p:cNvSpPr txBox="1"/>
          <p:nvPr/>
        </p:nvSpPr>
        <p:spPr>
          <a:xfrm>
            <a:off x="185908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21304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449552" y="5767261"/>
            <a:ext cx="92663" cy="134782"/>
          </a:xfrm>
          <a:prstGeom prst="rect">
            <a:avLst/>
          </a:prstGeom>
        </p:spPr>
      </p:pic>
      <p:sp>
        <p:nvSpPr>
          <p:cNvPr id="79" name="TextBox 78"/>
          <p:cNvSpPr txBox="1"/>
          <p:nvPr/>
        </p:nvSpPr>
        <p:spPr>
          <a:xfrm>
            <a:off x="104956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565060" y="4719297"/>
            <a:ext cx="92663" cy="134782"/>
          </a:xfrm>
          <a:prstGeom prst="rect">
            <a:avLst/>
          </a:prstGeom>
        </p:spPr>
      </p:pic>
      <p:sp>
        <p:nvSpPr>
          <p:cNvPr id="81" name="TextBox 80"/>
          <p:cNvSpPr txBox="1"/>
          <p:nvPr/>
        </p:nvSpPr>
        <p:spPr>
          <a:xfrm>
            <a:off x="103222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107588" y="3363591"/>
            <a:ext cx="92663" cy="134782"/>
          </a:xfrm>
          <a:prstGeom prst="rect">
            <a:avLst/>
          </a:prstGeom>
        </p:spPr>
      </p:pic>
      <p:sp>
        <p:nvSpPr>
          <p:cNvPr id="83" name="TextBox 82"/>
          <p:cNvSpPr txBox="1"/>
          <p:nvPr/>
        </p:nvSpPr>
        <p:spPr>
          <a:xfrm>
            <a:off x="180309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326451" y="2375977"/>
            <a:ext cx="92663" cy="134782"/>
          </a:xfrm>
          <a:prstGeom prst="rect">
            <a:avLst/>
          </a:prstGeom>
        </p:spPr>
      </p:pic>
      <p:sp>
        <p:nvSpPr>
          <p:cNvPr id="85" name="TextBox 84"/>
          <p:cNvSpPr txBox="1"/>
          <p:nvPr/>
        </p:nvSpPr>
        <p:spPr>
          <a:xfrm>
            <a:off x="7286625" y="5276421"/>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7975543" y="5266641"/>
            <a:ext cx="128699" cy="187198"/>
          </a:xfrm>
          <a:prstGeom prst="rect">
            <a:avLst/>
          </a:prstGeom>
        </p:spPr>
      </p:pic>
      <p:sp>
        <p:nvSpPr>
          <p:cNvPr id="87" name="TextBox 86"/>
          <p:cNvSpPr txBox="1"/>
          <p:nvPr/>
        </p:nvSpPr>
        <p:spPr>
          <a:xfrm>
            <a:off x="8143038" y="5276421"/>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286625" y="5494353"/>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086048" y="5484573"/>
            <a:ext cx="128699" cy="187198"/>
          </a:xfrm>
          <a:prstGeom prst="rect">
            <a:avLst/>
          </a:prstGeom>
        </p:spPr>
      </p:pic>
      <p:sp>
        <p:nvSpPr>
          <p:cNvPr id="90" name="TextBox 89"/>
          <p:cNvSpPr txBox="1"/>
          <p:nvPr/>
        </p:nvSpPr>
        <p:spPr>
          <a:xfrm>
            <a:off x="9253544" y="5494353"/>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286625" y="5712285"/>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713060" y="5702505"/>
            <a:ext cx="128699" cy="187198"/>
          </a:xfrm>
          <a:prstGeom prst="rect">
            <a:avLst/>
          </a:prstGeom>
        </p:spPr>
      </p:pic>
      <p:sp>
        <p:nvSpPr>
          <p:cNvPr id="93" name="TextBox 92"/>
          <p:cNvSpPr txBox="1"/>
          <p:nvPr/>
        </p:nvSpPr>
        <p:spPr>
          <a:xfrm>
            <a:off x="8880556" y="5712285"/>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286625" y="5930217"/>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759991" y="5920437"/>
            <a:ext cx="128699" cy="187198"/>
          </a:xfrm>
          <a:prstGeom prst="rect">
            <a:avLst/>
          </a:prstGeom>
        </p:spPr>
      </p:pic>
      <p:sp>
        <p:nvSpPr>
          <p:cNvPr id="96" name="TextBox 95"/>
          <p:cNvSpPr txBox="1"/>
          <p:nvPr/>
        </p:nvSpPr>
        <p:spPr>
          <a:xfrm>
            <a:off x="8927487" y="5930217"/>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286625" y="6148149"/>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8834752" y="6138369"/>
            <a:ext cx="128699" cy="187198"/>
          </a:xfrm>
          <a:prstGeom prst="rect">
            <a:avLst/>
          </a:prstGeom>
        </p:spPr>
      </p:pic>
      <p:sp>
        <p:nvSpPr>
          <p:cNvPr id="99" name="TextBox 98"/>
          <p:cNvSpPr txBox="1"/>
          <p:nvPr/>
        </p:nvSpPr>
        <p:spPr>
          <a:xfrm>
            <a:off x="9002248" y="6148149"/>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(US$/Units)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(US$/Units)</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(US$/Units)</a:t>
            </a:r>
          </a:p>
        </p:txBody>
      </p:sp>
      <p:graphicFrame>
        <p:nvGraphicFramePr>
          <p:cNvPr id="17" name="Table 16"/>
          <p:cNvGraphicFramePr>
            <a:graphicFrameLocks noGrp="1"/>
          </p:cNvGraphicFramePr>
          <p:nvPr/>
        </p:nvGraphicFramePr>
        <p:xfrm>
          <a:off x="6210300" y="1574749"/>
          <a:ext cx="5829301" cy="2271330"/>
        </p:xfrm>
        <a:graphic>
          <a:graphicData uri="http://schemas.openxmlformats.org/drawingml/2006/table">
            <a:tbl>
              <a:tblPr>
                <a:tableStyleId>{5C22544A-7EE6-4342-B048-85BDC9FD1C3A}</a:tableStyleId>
              </a:tblPr>
              <a:tblGrid>
                <a:gridCol w="2305733"/>
                <a:gridCol w="880892"/>
                <a:gridCol w="880892"/>
                <a:gridCol w="880892"/>
                <a:gridCol w="880892"/>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10091127" y="2566777"/>
            <a:ext cx="366712" cy="533400"/>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(US$/Units).</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(US$/Units)</a:t>
            </a:r>
          </a:p>
        </p:txBody>
      </p:sp>
      <p:graphicFrame>
        <p:nvGraphicFramePr>
          <p:cNvPr id="13" name="Table 12"/>
          <p:cNvGraphicFramePr>
            <a:graphicFrameLocks noGrp="1"/>
          </p:cNvGraphicFramePr>
          <p:nvPr/>
        </p:nvGraphicFramePr>
        <p:xfrm>
          <a:off x="152400" y="1571625"/>
          <a:ext cx="11887201" cy="2409822"/>
        </p:xfrm>
        <a:graphic>
          <a:graphicData uri="http://schemas.openxmlformats.org/drawingml/2006/table">
            <a:tbl>
              <a:tblPr>
                <a:tableStyleId>{5C22544A-7EE6-4342-B048-85BDC9FD1C3A}</a:tableStyleId>
              </a:tblPr>
              <a:tblGrid>
                <a:gridCol w="1630747"/>
                <a:gridCol w="2143680"/>
                <a:gridCol w="1846745"/>
                <a:gridCol w="1921729"/>
                <a:gridCol w="3184449"/>
                <a:gridCol w="1159851"/>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Cast Metal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Acrylic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Flexible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Combination Framework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24684" y="2632898"/>
            <a:ext cx="366712" cy="533400"/>
          </a:xfrm>
          <a:prstGeom prst="rect">
            <a:avLst/>
          </a:prstGeom>
        </p:spPr>
      </p:pic>
      <p:sp>
        <p:nvSpPr>
          <p:cNvPr id="21" name="TextBox 20"/>
          <p:cNvSpPr txBox="1"/>
          <p:nvPr/>
        </p:nvSpPr>
        <p:spPr>
          <a:xfrm>
            <a:off x="276225" y="4752975"/>
            <a:ext cx="4641688" cy="194310"/>
          </a:xfrm>
          <a:prstGeom prst="rect">
            <a:avLst/>
          </a:prstGeom>
          <a:noFill/>
        </p:spPr>
        <p:txBody>
          <a:bodyPr wrap="none" lIns="0" rIns="0" tIns="0" bIns="0">
            <a:spAutoFit/>
          </a:bodyPr>
          <a:lstStyle/>
          <a:p>
            <a:r>
              <a:rPr sz="1150" b="0">
                <a:solidFill>
                  <a:srgbClr val="2E2E2E"/>
                </a:solidFill>
                <a:latin typeface="Calibri"/>
              </a:rPr>
              <a:t>▪ On a weighted-average basis 'North America' is the highest-priced region (~</a:t>
            </a:r>
          </a:p>
        </p:txBody>
      </p:sp>
      <p:pic>
        <p:nvPicPr>
          <p:cNvPr id="22" name="Picture 21" descr="lock.png"/>
          <p:cNvPicPr>
            <a:picLocks noChangeAspect="1"/>
          </p:cNvPicPr>
          <p:nvPr/>
        </p:nvPicPr>
        <p:blipFill>
          <a:blip r:embed="rId4"/>
          <a:stretch>
            <a:fillRect/>
          </a:stretch>
        </p:blipFill>
        <p:spPr>
          <a:xfrm>
            <a:off x="4867067" y="4742751"/>
            <a:ext cx="134549" cy="195707"/>
          </a:xfrm>
          <a:prstGeom prst="rect">
            <a:avLst/>
          </a:prstGeom>
        </p:spPr>
      </p:pic>
      <p:sp>
        <p:nvSpPr>
          <p:cNvPr id="23" name="TextBox 22"/>
          <p:cNvSpPr txBox="1"/>
          <p:nvPr/>
        </p:nvSpPr>
        <p:spPr>
          <a:xfrm>
            <a:off x="5042176" y="4752975"/>
            <a:ext cx="3704629" cy="194310"/>
          </a:xfrm>
          <a:prstGeom prst="rect">
            <a:avLst/>
          </a:prstGeom>
          <a:noFill/>
        </p:spPr>
        <p:txBody>
          <a:bodyPr wrap="none" lIns="0" rIns="0" tIns="0" bIns="0">
            <a:spAutoFit/>
          </a:bodyPr>
          <a:lstStyle/>
          <a:p>
            <a:r>
              <a:rPr sz="1150" b="0">
                <a:solidFill>
                  <a:srgbClr val="2E2E2E"/>
                </a:solidFill>
                <a:latin typeface="Calibri"/>
              </a:rPr>
              <a:t>US$/Units) and 'South Asia &amp; Pacific' the most competitive (~</a:t>
            </a:r>
          </a:p>
        </p:txBody>
      </p:sp>
      <p:pic>
        <p:nvPicPr>
          <p:cNvPr id="24" name="Picture 23" descr="lock.png"/>
          <p:cNvPicPr>
            <a:picLocks noChangeAspect="1"/>
          </p:cNvPicPr>
          <p:nvPr/>
        </p:nvPicPr>
        <p:blipFill>
          <a:blip r:embed="rId4"/>
          <a:stretch>
            <a:fillRect/>
          </a:stretch>
        </p:blipFill>
        <p:spPr>
          <a:xfrm>
            <a:off x="8695960" y="4742751"/>
            <a:ext cx="134549" cy="195707"/>
          </a:xfrm>
          <a:prstGeom prst="rect">
            <a:avLst/>
          </a:prstGeom>
        </p:spPr>
      </p:pic>
      <p:sp>
        <p:nvSpPr>
          <p:cNvPr id="25" name="TextBox 24"/>
          <p:cNvSpPr txBox="1"/>
          <p:nvPr/>
        </p:nvSpPr>
        <p:spPr>
          <a:xfrm>
            <a:off x="8871069" y="4752975"/>
            <a:ext cx="759097" cy="194310"/>
          </a:xfrm>
          <a:prstGeom prst="rect">
            <a:avLst/>
          </a:prstGeom>
          <a:noFill/>
        </p:spPr>
        <p:txBody>
          <a:bodyPr wrap="none" lIns="0" rIns="0" tIns="0" bIns="0">
            <a:spAutoFit/>
          </a:bodyPr>
          <a:lstStyle/>
          <a:p>
            <a:r>
              <a:rPr sz="1150" b="0">
                <a:solidFill>
                  <a:srgbClr val="2E2E2E"/>
                </a:solidFill>
                <a:latin typeface="Calibri"/>
              </a:rPr>
              <a:t>US$/Units).</a:t>
            </a:r>
          </a:p>
        </p:txBody>
      </p:sp>
      <p:sp>
        <p:nvSpPr>
          <p:cNvPr id="26" name="TextBox 25"/>
          <p:cNvSpPr txBox="1"/>
          <p:nvPr/>
        </p:nvSpPr>
        <p:spPr>
          <a:xfrm>
            <a:off x="276225" y="4980813"/>
            <a:ext cx="5929610" cy="194310"/>
          </a:xfrm>
          <a:prstGeom prst="rect">
            <a:avLst/>
          </a:prstGeom>
          <a:noFill/>
        </p:spPr>
        <p:txBody>
          <a:bodyPr wrap="none" lIns="0" rIns="0" tIns="0" bIns="0">
            <a:spAutoFit/>
          </a:bodyPr>
          <a:lstStyle/>
          <a:p>
            <a:r>
              <a:rPr sz="1150" b="0">
                <a:solidFill>
                  <a:srgbClr val="2E2E2E"/>
                </a:solidFill>
                <a:latin typeface="Calibri"/>
              </a:rPr>
              <a:t>▪ Price ranges are benchmarked per product type type at 2026, derived as Value ÷ Volume with a ±</a:t>
            </a:r>
          </a:p>
        </p:txBody>
      </p:sp>
      <p:pic>
        <p:nvPicPr>
          <p:cNvPr id="27" name="Picture 26" descr="lock.png"/>
          <p:cNvPicPr>
            <a:picLocks noChangeAspect="1"/>
          </p:cNvPicPr>
          <p:nvPr/>
        </p:nvPicPr>
        <p:blipFill>
          <a:blip r:embed="rId4"/>
          <a:stretch>
            <a:fillRect/>
          </a:stretch>
        </p:blipFill>
        <p:spPr>
          <a:xfrm>
            <a:off x="6154989" y="4970589"/>
            <a:ext cx="134549" cy="195707"/>
          </a:xfrm>
          <a:prstGeom prst="rect">
            <a:avLst/>
          </a:prstGeom>
        </p:spPr>
      </p:pic>
      <p:sp>
        <p:nvSpPr>
          <p:cNvPr id="28" name="TextBox 27"/>
          <p:cNvSpPr txBox="1"/>
          <p:nvPr/>
        </p:nvSpPr>
        <p:spPr>
          <a:xfrm>
            <a:off x="6330098"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(US$/Units).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(US$/Units)</a:t>
            </a:r>
          </a:p>
        </p:txBody>
      </p:sp>
      <p:graphicFrame>
        <p:nvGraphicFramePr>
          <p:cNvPr id="13" name="Table 12"/>
          <p:cNvGraphicFramePr>
            <a:graphicFrameLocks noGrp="1"/>
          </p:cNvGraphicFramePr>
          <p:nvPr/>
        </p:nvGraphicFramePr>
        <p:xfrm>
          <a:off x="152400" y="1574749"/>
          <a:ext cx="11887200" cy="1504674"/>
        </p:xfrm>
        <a:graphic>
          <a:graphicData uri="http://schemas.openxmlformats.org/drawingml/2006/table">
            <a:tbl>
              <a:tblPr>
                <a:tableStyleId>{5C22544A-7EE6-4342-B048-85BDC9FD1C3A}</a:tableStyleId>
              </a:tblPr>
              <a:tblGrid>
                <a:gridCol w="4869228"/>
                <a:gridCol w="1169662"/>
                <a:gridCol w="1169662"/>
                <a:gridCol w="1169662"/>
                <a:gridCol w="1169662"/>
                <a:gridCol w="1169662"/>
                <a:gridCol w="1169662"/>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1463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1463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1463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14637">
                <a:tc>
                  <a:txBody>
                    <a:bodyPr wrap="none"/>
                    <a:lstStyle/>
                    <a:p>
                      <a:pPr algn="l"/>
                      <a:r>
                        <a:rPr sz="1100" b="1">
                          <a:solidFill>
                            <a:srgbClr val="2E2E2E"/>
                          </a:solidFill>
                          <a:latin typeface="Calibri"/>
                        </a:rPr>
                        <a:t>Combination Framework Partial…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8343924" y="2183449"/>
            <a:ext cx="366712" cy="533400"/>
          </a:xfrm>
          <a:prstGeom prst="rect">
            <a:avLst/>
          </a:prstGeom>
        </p:spPr>
      </p:pic>
      <p:sp>
        <p:nvSpPr>
          <p:cNvPr id="25" name="TextBox 24"/>
          <p:cNvSpPr txBox="1"/>
          <p:nvPr/>
        </p:nvSpPr>
        <p:spPr>
          <a:xfrm>
            <a:off x="6334125" y="3817595"/>
            <a:ext cx="3340605" cy="194310"/>
          </a:xfrm>
          <a:prstGeom prst="rect">
            <a:avLst/>
          </a:prstGeom>
          <a:noFill/>
        </p:spPr>
        <p:txBody>
          <a:bodyPr wrap="none" lIns="0" rIns="0" tIns="0" bIns="0">
            <a:spAutoFit/>
          </a:bodyPr>
          <a:lstStyle/>
          <a:p>
            <a:r>
              <a:rPr sz="1150" b="0">
                <a:solidFill>
                  <a:srgbClr val="2E2E2E"/>
                </a:solidFill>
                <a:latin typeface="Calibri"/>
              </a:rPr>
              <a:t>▪ Average product type price is projected to rise from ~</a:t>
            </a:r>
          </a:p>
        </p:txBody>
      </p:sp>
      <p:pic>
        <p:nvPicPr>
          <p:cNvPr id="26" name="Picture 25" descr="lock.png"/>
          <p:cNvPicPr>
            <a:picLocks noChangeAspect="1"/>
          </p:cNvPicPr>
          <p:nvPr/>
        </p:nvPicPr>
        <p:blipFill>
          <a:blip r:embed="rId4"/>
          <a:stretch>
            <a:fillRect/>
          </a:stretch>
        </p:blipFill>
        <p:spPr>
          <a:xfrm>
            <a:off x="9623884" y="3807371"/>
            <a:ext cx="134549" cy="195707"/>
          </a:xfrm>
          <a:prstGeom prst="rect">
            <a:avLst/>
          </a:prstGeom>
        </p:spPr>
      </p:pic>
      <p:sp>
        <p:nvSpPr>
          <p:cNvPr id="27" name="TextBox 26"/>
          <p:cNvSpPr txBox="1"/>
          <p:nvPr/>
        </p:nvSpPr>
        <p:spPr>
          <a:xfrm>
            <a:off x="979899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056259" y="3807371"/>
            <a:ext cx="134549" cy="195707"/>
          </a:xfrm>
          <a:prstGeom prst="rect">
            <a:avLst/>
          </a:prstGeom>
        </p:spPr>
      </p:pic>
      <p:sp>
        <p:nvSpPr>
          <p:cNvPr id="29" name="TextBox 28"/>
          <p:cNvSpPr txBox="1"/>
          <p:nvPr/>
        </p:nvSpPr>
        <p:spPr>
          <a:xfrm>
            <a:off x="10231368" y="3817595"/>
            <a:ext cx="1286817" cy="194310"/>
          </a:xfrm>
          <a:prstGeom prst="rect">
            <a:avLst/>
          </a:prstGeom>
          <a:noFill/>
        </p:spPr>
        <p:txBody>
          <a:bodyPr wrap="none" lIns="0" rIns="0" tIns="0" bIns="0">
            <a:spAutoFit/>
          </a:bodyPr>
          <a:lstStyle/>
          <a:p>
            <a:r>
              <a:rPr sz="1150" b="0">
                <a:solidFill>
                  <a:srgbClr val="2E2E2E"/>
                </a:solidFill>
                <a:latin typeface="Calibri"/>
              </a:rPr>
              <a:t>US$/Units by 2036 a</a:t>
            </a:r>
          </a:p>
        </p:txBody>
      </p:sp>
      <p:sp>
        <p:nvSpPr>
          <p:cNvPr id="30" name="TextBox 29"/>
          <p:cNvSpPr txBox="1"/>
          <p:nvPr/>
        </p:nvSpPr>
        <p:spPr>
          <a:xfrm>
            <a:off x="6334125" y="3992855"/>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1" name="Picture 30" descr="lock.png"/>
          <p:cNvPicPr>
            <a:picLocks noChangeAspect="1"/>
          </p:cNvPicPr>
          <p:nvPr/>
        </p:nvPicPr>
        <p:blipFill>
          <a:blip r:embed="rId4"/>
          <a:stretch>
            <a:fillRect/>
          </a:stretch>
        </p:blipFill>
        <p:spPr>
          <a:xfrm>
            <a:off x="6432218" y="3982631"/>
            <a:ext cx="134549" cy="195707"/>
          </a:xfrm>
          <a:prstGeom prst="rect">
            <a:avLst/>
          </a:prstGeom>
        </p:spPr>
      </p:pic>
      <p:sp>
        <p:nvSpPr>
          <p:cNvPr id="32" name="TextBox 31"/>
          <p:cNvSpPr txBox="1"/>
          <p:nvPr/>
        </p:nvSpPr>
        <p:spPr>
          <a:xfrm>
            <a:off x="6607327"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3" name="TextBox 32"/>
          <p:cNvSpPr txBox="1"/>
          <p:nvPr/>
        </p:nvSpPr>
        <p:spPr>
          <a:xfrm>
            <a:off x="6334125" y="4220692"/>
            <a:ext cx="4863901" cy="194310"/>
          </a:xfrm>
          <a:prstGeom prst="rect">
            <a:avLst/>
          </a:prstGeom>
          <a:noFill/>
        </p:spPr>
        <p:txBody>
          <a:bodyPr wrap="none" lIns="0" rIns="0" tIns="0" bIns="0">
            <a:spAutoFit/>
          </a:bodyPr>
          <a:lstStyle/>
          <a:p>
            <a:r>
              <a:rPr sz="1150" b="0">
                <a:solidFill>
                  <a:srgbClr val="2E2E2E"/>
                </a:solidFill>
                <a:latin typeface="Calibri"/>
              </a:rPr>
              <a:t>▪ 'Cast Metal Partial Dentures' shows the strongest forecast price appreciation (+</a:t>
            </a:r>
          </a:p>
        </p:txBody>
      </p:sp>
      <p:pic>
        <p:nvPicPr>
          <p:cNvPr id="34" name="Picture 33" descr="lock.png"/>
          <p:cNvPicPr>
            <a:picLocks noChangeAspect="1"/>
          </p:cNvPicPr>
          <p:nvPr/>
        </p:nvPicPr>
        <p:blipFill>
          <a:blip r:embed="rId4"/>
          <a:stretch>
            <a:fillRect/>
          </a:stretch>
        </p:blipFill>
        <p:spPr>
          <a:xfrm>
            <a:off x="11147180" y="4210469"/>
            <a:ext cx="134549" cy="195707"/>
          </a:xfrm>
          <a:prstGeom prst="rect">
            <a:avLst/>
          </a:prstGeom>
        </p:spPr>
      </p:pic>
      <p:sp>
        <p:nvSpPr>
          <p:cNvPr id="35" name="TextBox 34"/>
          <p:cNvSpPr txBox="1"/>
          <p:nvPr/>
        </p:nvSpPr>
        <p:spPr>
          <a:xfrm>
            <a:off x="11322289" y="4220692"/>
            <a:ext cx="420216" cy="194310"/>
          </a:xfrm>
          <a:prstGeom prst="rect">
            <a:avLst/>
          </a:prstGeom>
          <a:noFill/>
        </p:spPr>
        <p:txBody>
          <a:bodyPr wrap="none" lIns="0" rIns="0" tIns="0" bIns="0">
            <a:spAutoFit/>
          </a:bodyPr>
          <a:lstStyle/>
          <a:p>
            <a:r>
              <a:rPr sz="1150" b="0">
                <a:solidFill>
                  <a:srgbClr val="2E2E2E"/>
                </a:solidFill>
                <a:latin typeface="Calibri"/>
              </a:rPr>
              <a:t>) over</a:t>
            </a:r>
          </a:p>
        </p:txBody>
      </p:sp>
      <p:sp>
        <p:nvSpPr>
          <p:cNvPr id="36" name="TextBox 35"/>
          <p:cNvSpPr txBox="1"/>
          <p:nvPr/>
        </p:nvSpPr>
        <p:spPr>
          <a:xfrm>
            <a:off x="6334125" y="4395952"/>
            <a:ext cx="794469" cy="194310"/>
          </a:xfrm>
          <a:prstGeom prst="rect">
            <a:avLst/>
          </a:prstGeom>
          <a:noFill/>
        </p:spPr>
        <p:txBody>
          <a:bodyPr wrap="none" lIns="0" rIns="0" tIns="0" bIns="0">
            <a:spAutoFit/>
          </a:bodyPr>
          <a:lstStyle/>
          <a:p>
            <a:r>
              <a:rPr sz="1150" b="0">
                <a:solidFill>
                  <a:srgbClr val="2E2E2E"/>
                </a:solidFill>
                <a:latin typeface="Calibri"/>
              </a:rPr>
              <a:t>the horizon.</a:t>
            </a:r>
          </a:p>
        </p:txBody>
      </p:sp>
      <p:sp>
        <p:nvSpPr>
          <p:cNvPr id="37" name="TextBox 36"/>
          <p:cNvSpPr txBox="1"/>
          <p:nvPr/>
        </p:nvSpPr>
        <p:spPr>
          <a:xfrm>
            <a:off x="6334125" y="462379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8" name="TextBox 37"/>
          <p:cNvSpPr txBox="1"/>
          <p:nvPr/>
        </p:nvSpPr>
        <p:spPr>
          <a:xfrm>
            <a:off x="6334125" y="479905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9" name="TextBox 38"/>
          <p:cNvSpPr txBox="1"/>
          <p:nvPr/>
        </p:nvSpPr>
        <p:spPr>
          <a:xfrm>
            <a:off x="6334125" y="502688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40" name="TextBox 39"/>
          <p:cNvSpPr txBox="1"/>
          <p:nvPr/>
        </p:nvSpPr>
        <p:spPr>
          <a:xfrm>
            <a:off x="6334125" y="520214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6"/>
        </p:xfrm>
        <a:graphic>
          <a:graphicData uri="http://schemas.openxmlformats.org/drawingml/2006/table">
            <a:tbl>
              <a:tblPr>
                <a:tableStyleId>{5C22544A-7EE6-4342-B048-85BDC9FD1C3A}</a:tableStyleId>
              </a:tblPr>
              <a:tblGrid>
                <a:gridCol w="2909579"/>
                <a:gridCol w="482511"/>
                <a:gridCol w="1014378"/>
                <a:gridCol w="949582"/>
                <a:gridCol w="2321099"/>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Dentsply Sirona Inc.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Ivoclar Vivadent AG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Kulzer GmbH</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GC Corporation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SHOFU INC.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VITA Zahnfabrik H. Rauter GmbH &amp; Co. KG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865638" y="3086680"/>
            <a:ext cx="330041" cy="480060"/>
          </a:xfrm>
          <a:prstGeom prst="rect">
            <a:avLst/>
          </a:prstGeom>
        </p:spPr>
      </p:pic>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896615" cy="153161"/>
          </a:xfrm>
          <a:prstGeom prst="rect">
            <a:avLst/>
          </a:prstGeom>
          <a:noFill/>
        </p:spPr>
        <p:txBody>
          <a:bodyPr wrap="none" lIns="0" rIns="0" tIns="0" bIns="0">
            <a:spAutoFit/>
          </a:bodyPr>
          <a:lstStyle/>
          <a:p>
            <a:r>
              <a:rPr sz="879" b="0">
                <a:solidFill>
                  <a:srgbClr val="2E2E2E"/>
                </a:solidFill>
                <a:latin typeface="Calibri"/>
              </a:rPr>
              <a:t>▪ The Removable Partial Dentures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37608"/>
                <a:gridCol w="1484989"/>
                <a:gridCol w="1064342"/>
                <a:gridCol w="1129057"/>
                <a:gridCol w="1603633"/>
                <a:gridCol w="1280058"/>
                <a:gridCol w="1533483"/>
                <a:gridCol w="1350166"/>
                <a:gridCol w="1503864"/>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(US$/Units)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267192" y="2451926"/>
            <a:ext cx="366712" cy="533400"/>
          </a:xfrm>
          <a:prstGeom prst="rect">
            <a:avLst/>
          </a:prstGeom>
        </p:spPr>
      </p:pic>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7" name="Connector 46"/>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596497"/>
            <a:ext cx="128699" cy="187198"/>
          </a:xfrm>
          <a:prstGeom prst="rect">
            <a:avLst/>
          </a:prstGeom>
        </p:spPr>
      </p:pic>
      <p:sp>
        <p:nvSpPr>
          <p:cNvPr id="56" name="TextBox 55"/>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596497"/>
            <a:ext cx="128699" cy="187198"/>
          </a:xfrm>
          <a:prstGeom prst="rect">
            <a:avLst/>
          </a:prstGeom>
        </p:spPr>
      </p:pic>
      <p:sp>
        <p:nvSpPr>
          <p:cNvPr id="58" name="TextBox 57"/>
          <p:cNvSpPr txBox="1"/>
          <p:nvPr/>
        </p:nvSpPr>
        <p:spPr>
          <a:xfrm>
            <a:off x="4278252" y="1606276"/>
            <a:ext cx="938121" cy="186689"/>
          </a:xfrm>
          <a:prstGeom prst="rect">
            <a:avLst/>
          </a:prstGeom>
          <a:noFill/>
        </p:spPr>
        <p:txBody>
          <a:bodyPr wrap="none" lIns="0" rIns="0" tIns="0" bIns="0">
            <a:spAutoFit/>
          </a:bodyPr>
          <a:lstStyle/>
          <a:p>
            <a:r>
              <a:rPr sz="1100" b="0">
                <a:solidFill>
                  <a:srgbClr val="2E2E2E"/>
                </a:solidFill>
                <a:latin typeface="Calibri"/>
              </a:rPr>
              <a:t>CAGR), Flexible</a:t>
            </a:r>
          </a:p>
        </p:txBody>
      </p:sp>
      <p:sp>
        <p:nvSpPr>
          <p:cNvPr id="59" name="TextBox 58"/>
          <p:cNvSpPr txBox="1"/>
          <p:nvPr/>
        </p:nvSpPr>
        <p:spPr>
          <a:xfrm>
            <a:off x="1752600" y="1773915"/>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60" name="TextBox 59"/>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596497"/>
            <a:ext cx="128699" cy="187198"/>
          </a:xfrm>
          <a:prstGeom prst="rect">
            <a:avLst/>
          </a:prstGeom>
        </p:spPr>
      </p:pic>
      <p:sp>
        <p:nvSpPr>
          <p:cNvPr id="62" name="TextBox 61"/>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3" name="TextBox 62"/>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764137"/>
            <a:ext cx="128699" cy="187198"/>
          </a:xfrm>
          <a:prstGeom prst="rect">
            <a:avLst/>
          </a:prstGeom>
        </p:spPr>
      </p:pic>
      <p:sp>
        <p:nvSpPr>
          <p:cNvPr id="65" name="TextBox 64"/>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6" name="TextBox 65"/>
          <p:cNvSpPr txBox="1"/>
          <p:nvPr/>
        </p:nvSpPr>
        <p:spPr>
          <a:xfrm>
            <a:off x="8420100" y="1606276"/>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67" name="Picture 66" descr="lock.png"/>
          <p:cNvPicPr>
            <a:picLocks noChangeAspect="1"/>
          </p:cNvPicPr>
          <p:nvPr/>
        </p:nvPicPr>
        <p:blipFill>
          <a:blip r:embed="rId4"/>
          <a:stretch>
            <a:fillRect/>
          </a:stretch>
        </p:blipFill>
        <p:spPr>
          <a:xfrm>
            <a:off x="10403152" y="1596497"/>
            <a:ext cx="128699" cy="187198"/>
          </a:xfrm>
          <a:prstGeom prst="rect">
            <a:avLst/>
          </a:prstGeom>
        </p:spPr>
      </p:pic>
      <p:sp>
        <p:nvSpPr>
          <p:cNvPr id="68" name="TextBox 67"/>
          <p:cNvSpPr txBox="1"/>
          <p:nvPr/>
        </p:nvSpPr>
        <p:spPr>
          <a:xfrm>
            <a:off x="10570648" y="1606276"/>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10672117" y="1596497"/>
            <a:ext cx="128699" cy="187198"/>
          </a:xfrm>
          <a:prstGeom prst="rect">
            <a:avLst/>
          </a:prstGeom>
        </p:spPr>
      </p:pic>
      <p:sp>
        <p:nvSpPr>
          <p:cNvPr id="70" name="TextBox 69"/>
          <p:cNvSpPr txBox="1"/>
          <p:nvPr/>
        </p:nvSpPr>
        <p:spPr>
          <a:xfrm>
            <a:off x="10839613" y="1606276"/>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8420100" y="1773915"/>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72" name="TextBox 71"/>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3" name="Picture 72" descr="lock.png"/>
          <p:cNvPicPr>
            <a:picLocks noChangeAspect="1"/>
          </p:cNvPicPr>
          <p:nvPr/>
        </p:nvPicPr>
        <p:blipFill>
          <a:blip r:embed="rId4"/>
          <a:stretch>
            <a:fillRect/>
          </a:stretch>
        </p:blipFill>
        <p:spPr>
          <a:xfrm>
            <a:off x="2438789" y="2107601"/>
            <a:ext cx="128699" cy="187198"/>
          </a:xfrm>
          <a:prstGeom prst="rect">
            <a:avLst/>
          </a:prstGeom>
        </p:spPr>
      </p:pic>
      <p:sp>
        <p:nvSpPr>
          <p:cNvPr id="74" name="TextBox 73"/>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5" name="Picture 74" descr="lock.png"/>
          <p:cNvPicPr>
            <a:picLocks noChangeAspect="1"/>
          </p:cNvPicPr>
          <p:nvPr/>
        </p:nvPicPr>
        <p:blipFill>
          <a:blip r:embed="rId4"/>
          <a:stretch>
            <a:fillRect/>
          </a:stretch>
        </p:blipFill>
        <p:spPr>
          <a:xfrm>
            <a:off x="4237905" y="2107601"/>
            <a:ext cx="128699" cy="187198"/>
          </a:xfrm>
          <a:prstGeom prst="rect">
            <a:avLst/>
          </a:prstGeom>
        </p:spPr>
      </p:pic>
      <p:sp>
        <p:nvSpPr>
          <p:cNvPr id="76" name="TextBox 75"/>
          <p:cNvSpPr txBox="1"/>
          <p:nvPr/>
        </p:nvSpPr>
        <p:spPr>
          <a:xfrm>
            <a:off x="4405401" y="2117380"/>
            <a:ext cx="618901" cy="186689"/>
          </a:xfrm>
          <a:prstGeom prst="rect">
            <a:avLst/>
          </a:prstGeom>
          <a:noFill/>
        </p:spPr>
        <p:txBody>
          <a:bodyPr wrap="none" lIns="0" rIns="0" tIns="0" bIns="0">
            <a:spAutoFit/>
          </a:bodyPr>
          <a:lstStyle/>
          <a:p>
            <a:r>
              <a:rPr sz="1100" b="0">
                <a:solidFill>
                  <a:srgbClr val="2E2E2E"/>
                </a:solidFill>
                <a:latin typeface="Calibri"/>
              </a:rPr>
              <a:t>), Flexible</a:t>
            </a:r>
          </a:p>
        </p:txBody>
      </p:sp>
      <p:sp>
        <p:nvSpPr>
          <p:cNvPr id="77" name="TextBox 76"/>
          <p:cNvSpPr txBox="1"/>
          <p:nvPr/>
        </p:nvSpPr>
        <p:spPr>
          <a:xfrm>
            <a:off x="1752600" y="2285020"/>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78" name="TextBox 77"/>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9" name="Picture 78" descr="lock.png"/>
          <p:cNvPicPr>
            <a:picLocks noChangeAspect="1"/>
          </p:cNvPicPr>
          <p:nvPr/>
        </p:nvPicPr>
        <p:blipFill>
          <a:blip r:embed="rId4"/>
          <a:stretch>
            <a:fillRect/>
          </a:stretch>
        </p:blipFill>
        <p:spPr>
          <a:xfrm>
            <a:off x="6623687" y="2191421"/>
            <a:ext cx="128699" cy="187198"/>
          </a:xfrm>
          <a:prstGeom prst="rect">
            <a:avLst/>
          </a:prstGeom>
        </p:spPr>
      </p:pic>
      <p:sp>
        <p:nvSpPr>
          <p:cNvPr id="80" name="TextBox 79"/>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81" name="TextBox 80"/>
          <p:cNvSpPr txBox="1"/>
          <p:nvPr/>
        </p:nvSpPr>
        <p:spPr>
          <a:xfrm>
            <a:off x="8420100" y="2117380"/>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82" name="Picture 81" descr="lock.png"/>
          <p:cNvPicPr>
            <a:picLocks noChangeAspect="1"/>
          </p:cNvPicPr>
          <p:nvPr/>
        </p:nvPicPr>
        <p:blipFill>
          <a:blip r:embed="rId4"/>
          <a:stretch>
            <a:fillRect/>
          </a:stretch>
        </p:blipFill>
        <p:spPr>
          <a:xfrm>
            <a:off x="10403152" y="2107601"/>
            <a:ext cx="128699" cy="187198"/>
          </a:xfrm>
          <a:prstGeom prst="rect">
            <a:avLst/>
          </a:prstGeom>
        </p:spPr>
      </p:pic>
      <p:sp>
        <p:nvSpPr>
          <p:cNvPr id="83" name="TextBox 82"/>
          <p:cNvSpPr txBox="1"/>
          <p:nvPr/>
        </p:nvSpPr>
        <p:spPr>
          <a:xfrm>
            <a:off x="10570648" y="211738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4" name="Picture 83" descr="lock.png"/>
          <p:cNvPicPr>
            <a:picLocks noChangeAspect="1"/>
          </p:cNvPicPr>
          <p:nvPr/>
        </p:nvPicPr>
        <p:blipFill>
          <a:blip r:embed="rId4"/>
          <a:stretch>
            <a:fillRect/>
          </a:stretch>
        </p:blipFill>
        <p:spPr>
          <a:xfrm>
            <a:off x="10672117" y="2107601"/>
            <a:ext cx="128699" cy="187198"/>
          </a:xfrm>
          <a:prstGeom prst="rect">
            <a:avLst/>
          </a:prstGeom>
        </p:spPr>
      </p:pic>
      <p:sp>
        <p:nvSpPr>
          <p:cNvPr id="85" name="TextBox 84"/>
          <p:cNvSpPr txBox="1"/>
          <p:nvPr/>
        </p:nvSpPr>
        <p:spPr>
          <a:xfrm>
            <a:off x="10839613" y="2117380"/>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6" name="TextBox 85"/>
          <p:cNvSpPr txBox="1"/>
          <p:nvPr/>
        </p:nvSpPr>
        <p:spPr>
          <a:xfrm>
            <a:off x="8420100" y="2285020"/>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87" name="TextBox 86"/>
          <p:cNvSpPr txBox="1"/>
          <p:nvPr/>
        </p:nvSpPr>
        <p:spPr>
          <a:xfrm>
            <a:off x="1752600" y="2628483"/>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8" name="Picture 87" descr="lock.png"/>
          <p:cNvPicPr>
            <a:picLocks noChangeAspect="1"/>
          </p:cNvPicPr>
          <p:nvPr/>
        </p:nvPicPr>
        <p:blipFill>
          <a:blip r:embed="rId4"/>
          <a:stretch>
            <a:fillRect/>
          </a:stretch>
        </p:blipFill>
        <p:spPr>
          <a:xfrm>
            <a:off x="2438789" y="2618704"/>
            <a:ext cx="128699" cy="187198"/>
          </a:xfrm>
          <a:prstGeom prst="rect">
            <a:avLst/>
          </a:prstGeom>
        </p:spPr>
      </p:pic>
      <p:sp>
        <p:nvSpPr>
          <p:cNvPr id="89" name="TextBox 88"/>
          <p:cNvSpPr txBox="1"/>
          <p:nvPr/>
        </p:nvSpPr>
        <p:spPr>
          <a:xfrm>
            <a:off x="2606285" y="2628483"/>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90" name="Picture 89" descr="lock.png"/>
          <p:cNvPicPr>
            <a:picLocks noChangeAspect="1"/>
          </p:cNvPicPr>
          <p:nvPr/>
        </p:nvPicPr>
        <p:blipFill>
          <a:blip r:embed="rId4"/>
          <a:stretch>
            <a:fillRect/>
          </a:stretch>
        </p:blipFill>
        <p:spPr>
          <a:xfrm>
            <a:off x="4237905" y="2618704"/>
            <a:ext cx="128699" cy="187198"/>
          </a:xfrm>
          <a:prstGeom prst="rect">
            <a:avLst/>
          </a:prstGeom>
        </p:spPr>
      </p:pic>
      <p:sp>
        <p:nvSpPr>
          <p:cNvPr id="91" name="TextBox 90"/>
          <p:cNvSpPr txBox="1"/>
          <p:nvPr/>
        </p:nvSpPr>
        <p:spPr>
          <a:xfrm>
            <a:off x="4405401" y="2628483"/>
            <a:ext cx="618901" cy="186689"/>
          </a:xfrm>
          <a:prstGeom prst="rect">
            <a:avLst/>
          </a:prstGeom>
          <a:noFill/>
        </p:spPr>
        <p:txBody>
          <a:bodyPr wrap="none" lIns="0" rIns="0" tIns="0" bIns="0">
            <a:spAutoFit/>
          </a:bodyPr>
          <a:lstStyle/>
          <a:p>
            <a:r>
              <a:rPr sz="1100" b="0">
                <a:solidFill>
                  <a:srgbClr val="2E2E2E"/>
                </a:solidFill>
                <a:latin typeface="Calibri"/>
              </a:rPr>
              <a:t>), Flexible</a:t>
            </a:r>
          </a:p>
        </p:txBody>
      </p:sp>
      <p:sp>
        <p:nvSpPr>
          <p:cNvPr id="92" name="TextBox 91"/>
          <p:cNvSpPr txBox="1"/>
          <p:nvPr/>
        </p:nvSpPr>
        <p:spPr>
          <a:xfrm>
            <a:off x="1752600" y="2796123"/>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93" name="TextBox 92"/>
          <p:cNvSpPr txBox="1"/>
          <p:nvPr/>
        </p:nvSpPr>
        <p:spPr>
          <a:xfrm>
            <a:off x="5562600" y="2712303"/>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94" name="Picture 93" descr="lock.png"/>
          <p:cNvPicPr>
            <a:picLocks noChangeAspect="1"/>
          </p:cNvPicPr>
          <p:nvPr/>
        </p:nvPicPr>
        <p:blipFill>
          <a:blip r:embed="rId4"/>
          <a:stretch>
            <a:fillRect/>
          </a:stretch>
        </p:blipFill>
        <p:spPr>
          <a:xfrm>
            <a:off x="6623687" y="2702524"/>
            <a:ext cx="128699" cy="187198"/>
          </a:xfrm>
          <a:prstGeom prst="rect">
            <a:avLst/>
          </a:prstGeom>
        </p:spPr>
      </p:pic>
      <p:sp>
        <p:nvSpPr>
          <p:cNvPr id="95" name="TextBox 94"/>
          <p:cNvSpPr txBox="1"/>
          <p:nvPr/>
        </p:nvSpPr>
        <p:spPr>
          <a:xfrm>
            <a:off x="6791183" y="2712303"/>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96" name="TextBox 95"/>
          <p:cNvSpPr txBox="1"/>
          <p:nvPr/>
        </p:nvSpPr>
        <p:spPr>
          <a:xfrm>
            <a:off x="8420100" y="2628483"/>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97" name="Picture 96" descr="lock.png"/>
          <p:cNvPicPr>
            <a:picLocks noChangeAspect="1"/>
          </p:cNvPicPr>
          <p:nvPr/>
        </p:nvPicPr>
        <p:blipFill>
          <a:blip r:embed="rId4"/>
          <a:stretch>
            <a:fillRect/>
          </a:stretch>
        </p:blipFill>
        <p:spPr>
          <a:xfrm>
            <a:off x="10403152" y="2618704"/>
            <a:ext cx="128699" cy="187198"/>
          </a:xfrm>
          <a:prstGeom prst="rect">
            <a:avLst/>
          </a:prstGeom>
        </p:spPr>
      </p:pic>
      <p:sp>
        <p:nvSpPr>
          <p:cNvPr id="98" name="TextBox 97"/>
          <p:cNvSpPr txBox="1"/>
          <p:nvPr/>
        </p:nvSpPr>
        <p:spPr>
          <a:xfrm>
            <a:off x="10570648" y="2628483"/>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9" name="Picture 98" descr="lock.png"/>
          <p:cNvPicPr>
            <a:picLocks noChangeAspect="1"/>
          </p:cNvPicPr>
          <p:nvPr/>
        </p:nvPicPr>
        <p:blipFill>
          <a:blip r:embed="rId4"/>
          <a:stretch>
            <a:fillRect/>
          </a:stretch>
        </p:blipFill>
        <p:spPr>
          <a:xfrm>
            <a:off x="10672117" y="2618704"/>
            <a:ext cx="128699" cy="187198"/>
          </a:xfrm>
          <a:prstGeom prst="rect">
            <a:avLst/>
          </a:prstGeom>
        </p:spPr>
      </p:pic>
      <p:sp>
        <p:nvSpPr>
          <p:cNvPr id="100" name="TextBox 99"/>
          <p:cNvSpPr txBox="1"/>
          <p:nvPr/>
        </p:nvSpPr>
        <p:spPr>
          <a:xfrm>
            <a:off x="10839613" y="2628483"/>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01" name="TextBox 100"/>
          <p:cNvSpPr txBox="1"/>
          <p:nvPr/>
        </p:nvSpPr>
        <p:spPr>
          <a:xfrm>
            <a:off x="8420100" y="2796123"/>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02" name="TextBox 101"/>
          <p:cNvSpPr txBox="1"/>
          <p:nvPr/>
        </p:nvSpPr>
        <p:spPr>
          <a:xfrm>
            <a:off x="1752600" y="3139587"/>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03" name="Picture 102" descr="lock.png"/>
          <p:cNvPicPr>
            <a:picLocks noChangeAspect="1"/>
          </p:cNvPicPr>
          <p:nvPr/>
        </p:nvPicPr>
        <p:blipFill>
          <a:blip r:embed="rId4"/>
          <a:stretch>
            <a:fillRect/>
          </a:stretch>
        </p:blipFill>
        <p:spPr>
          <a:xfrm>
            <a:off x="2834969" y="3129808"/>
            <a:ext cx="128699" cy="187198"/>
          </a:xfrm>
          <a:prstGeom prst="rect">
            <a:avLst/>
          </a:prstGeom>
        </p:spPr>
      </p:pic>
      <p:sp>
        <p:nvSpPr>
          <p:cNvPr id="104" name="TextBox 103"/>
          <p:cNvSpPr txBox="1"/>
          <p:nvPr/>
        </p:nvSpPr>
        <p:spPr>
          <a:xfrm>
            <a:off x="3002465" y="3139587"/>
            <a:ext cx="1889827" cy="186689"/>
          </a:xfrm>
          <a:prstGeom prst="rect">
            <a:avLst/>
          </a:prstGeom>
          <a:noFill/>
        </p:spPr>
        <p:txBody>
          <a:bodyPr wrap="none" lIns="0" rIns="0" tIns="0" bIns="0">
            <a:spAutoFit/>
          </a:bodyPr>
          <a:lstStyle/>
          <a:p>
            <a:r>
              <a:rPr sz="1100" b="0">
                <a:solidFill>
                  <a:srgbClr val="2E2E2E"/>
                </a:solidFill>
                <a:latin typeface="Calibri"/>
              </a:rPr>
              <a:t>CAGR), Flexible Partial Dentures</a:t>
            </a:r>
          </a:p>
        </p:txBody>
      </p:sp>
      <p:sp>
        <p:nvSpPr>
          <p:cNvPr id="105" name="TextBox 104"/>
          <p:cNvSpPr txBox="1"/>
          <p:nvPr/>
        </p:nvSpPr>
        <p:spPr>
          <a:xfrm>
            <a:off x="1752600" y="3307227"/>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06" name="TextBox 105"/>
          <p:cNvSpPr txBox="1"/>
          <p:nvPr/>
        </p:nvSpPr>
        <p:spPr>
          <a:xfrm>
            <a:off x="5562600" y="313958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7" name="Picture 106" descr="lock.png"/>
          <p:cNvPicPr>
            <a:picLocks noChangeAspect="1"/>
          </p:cNvPicPr>
          <p:nvPr/>
        </p:nvPicPr>
        <p:blipFill>
          <a:blip r:embed="rId4"/>
          <a:stretch>
            <a:fillRect/>
          </a:stretch>
        </p:blipFill>
        <p:spPr>
          <a:xfrm>
            <a:off x="6797766" y="3129808"/>
            <a:ext cx="128699" cy="187198"/>
          </a:xfrm>
          <a:prstGeom prst="rect">
            <a:avLst/>
          </a:prstGeom>
        </p:spPr>
      </p:pic>
      <p:sp>
        <p:nvSpPr>
          <p:cNvPr id="108" name="TextBox 107"/>
          <p:cNvSpPr txBox="1"/>
          <p:nvPr/>
        </p:nvSpPr>
        <p:spPr>
          <a:xfrm>
            <a:off x="6965262" y="3139587"/>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09" name="TextBox 108"/>
          <p:cNvSpPr txBox="1"/>
          <p:nvPr/>
        </p:nvSpPr>
        <p:spPr>
          <a:xfrm>
            <a:off x="5562600" y="3307227"/>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10" name="Picture 109" descr="lock.png"/>
          <p:cNvPicPr>
            <a:picLocks noChangeAspect="1"/>
          </p:cNvPicPr>
          <p:nvPr/>
        </p:nvPicPr>
        <p:blipFill>
          <a:blip r:embed="rId4"/>
          <a:stretch>
            <a:fillRect/>
          </a:stretch>
        </p:blipFill>
        <p:spPr>
          <a:xfrm>
            <a:off x="6258066" y="3297448"/>
            <a:ext cx="128699" cy="187198"/>
          </a:xfrm>
          <a:prstGeom prst="rect">
            <a:avLst/>
          </a:prstGeom>
        </p:spPr>
      </p:pic>
      <p:sp>
        <p:nvSpPr>
          <p:cNvPr id="111" name="TextBox 110"/>
          <p:cNvSpPr txBox="1"/>
          <p:nvPr/>
        </p:nvSpPr>
        <p:spPr>
          <a:xfrm>
            <a:off x="6425562" y="330722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12" name="TextBox 111"/>
          <p:cNvSpPr txBox="1"/>
          <p:nvPr/>
        </p:nvSpPr>
        <p:spPr>
          <a:xfrm>
            <a:off x="8420100" y="3139587"/>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13" name="Picture 112" descr="lock.png"/>
          <p:cNvPicPr>
            <a:picLocks noChangeAspect="1"/>
          </p:cNvPicPr>
          <p:nvPr/>
        </p:nvPicPr>
        <p:blipFill>
          <a:blip r:embed="rId4"/>
          <a:stretch>
            <a:fillRect/>
          </a:stretch>
        </p:blipFill>
        <p:spPr>
          <a:xfrm>
            <a:off x="10403152" y="3129808"/>
            <a:ext cx="128699" cy="187198"/>
          </a:xfrm>
          <a:prstGeom prst="rect">
            <a:avLst/>
          </a:prstGeom>
        </p:spPr>
      </p:pic>
      <p:sp>
        <p:nvSpPr>
          <p:cNvPr id="114" name="TextBox 113"/>
          <p:cNvSpPr txBox="1"/>
          <p:nvPr/>
        </p:nvSpPr>
        <p:spPr>
          <a:xfrm>
            <a:off x="10570648" y="313958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5" name="Picture 114" descr="lock.png"/>
          <p:cNvPicPr>
            <a:picLocks noChangeAspect="1"/>
          </p:cNvPicPr>
          <p:nvPr/>
        </p:nvPicPr>
        <p:blipFill>
          <a:blip r:embed="rId4"/>
          <a:stretch>
            <a:fillRect/>
          </a:stretch>
        </p:blipFill>
        <p:spPr>
          <a:xfrm>
            <a:off x="10672117" y="3129808"/>
            <a:ext cx="128699" cy="187198"/>
          </a:xfrm>
          <a:prstGeom prst="rect">
            <a:avLst/>
          </a:prstGeom>
        </p:spPr>
      </p:pic>
      <p:sp>
        <p:nvSpPr>
          <p:cNvPr id="116" name="TextBox 115"/>
          <p:cNvSpPr txBox="1"/>
          <p:nvPr/>
        </p:nvSpPr>
        <p:spPr>
          <a:xfrm>
            <a:off x="10839613" y="3139587"/>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7" name="TextBox 116"/>
          <p:cNvSpPr txBox="1"/>
          <p:nvPr/>
        </p:nvSpPr>
        <p:spPr>
          <a:xfrm>
            <a:off x="8420100" y="3307227"/>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18" name="TextBox 117"/>
          <p:cNvSpPr txBox="1"/>
          <p:nvPr/>
        </p:nvSpPr>
        <p:spPr>
          <a:xfrm>
            <a:off x="1752600" y="3650690"/>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19" name="Picture 118" descr="lock.png"/>
          <p:cNvPicPr>
            <a:picLocks noChangeAspect="1"/>
          </p:cNvPicPr>
          <p:nvPr/>
        </p:nvPicPr>
        <p:blipFill>
          <a:blip r:embed="rId4"/>
          <a:stretch>
            <a:fillRect/>
          </a:stretch>
        </p:blipFill>
        <p:spPr>
          <a:xfrm>
            <a:off x="2962118" y="3640911"/>
            <a:ext cx="128699" cy="187198"/>
          </a:xfrm>
          <a:prstGeom prst="rect">
            <a:avLst/>
          </a:prstGeom>
        </p:spPr>
      </p:pic>
      <p:sp>
        <p:nvSpPr>
          <p:cNvPr id="120" name="TextBox 119"/>
          <p:cNvSpPr txBox="1"/>
          <p:nvPr/>
        </p:nvSpPr>
        <p:spPr>
          <a:xfrm>
            <a:off x="3129614" y="3650690"/>
            <a:ext cx="2105397" cy="186689"/>
          </a:xfrm>
          <a:prstGeom prst="rect">
            <a:avLst/>
          </a:prstGeom>
          <a:noFill/>
        </p:spPr>
        <p:txBody>
          <a:bodyPr wrap="none" lIns="0" rIns="0" tIns="0" bIns="0">
            <a:spAutoFit/>
          </a:bodyPr>
          <a:lstStyle/>
          <a:p>
            <a:r>
              <a:rPr sz="1100" b="0">
                <a:solidFill>
                  <a:srgbClr val="2E2E2E"/>
                </a:solidFill>
                <a:latin typeface="Calibri"/>
              </a:rPr>
              <a:t>), Flexible Partial Dentures demand,</a:t>
            </a:r>
          </a:p>
        </p:txBody>
      </p:sp>
      <p:sp>
        <p:nvSpPr>
          <p:cNvPr id="121" name="TextBox 120"/>
          <p:cNvSpPr txBox="1"/>
          <p:nvPr/>
        </p:nvSpPr>
        <p:spPr>
          <a:xfrm>
            <a:off x="1752600" y="3818330"/>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22" name="TextBox 121"/>
          <p:cNvSpPr txBox="1"/>
          <p:nvPr/>
        </p:nvSpPr>
        <p:spPr>
          <a:xfrm>
            <a:off x="5562600" y="373451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23" name="Picture 122" descr="lock.png"/>
          <p:cNvPicPr>
            <a:picLocks noChangeAspect="1"/>
          </p:cNvPicPr>
          <p:nvPr/>
        </p:nvPicPr>
        <p:blipFill>
          <a:blip r:embed="rId4"/>
          <a:stretch>
            <a:fillRect/>
          </a:stretch>
        </p:blipFill>
        <p:spPr>
          <a:xfrm>
            <a:off x="6623687" y="3724731"/>
            <a:ext cx="128699" cy="187198"/>
          </a:xfrm>
          <a:prstGeom prst="rect">
            <a:avLst/>
          </a:prstGeom>
        </p:spPr>
      </p:pic>
      <p:sp>
        <p:nvSpPr>
          <p:cNvPr id="124" name="TextBox 123"/>
          <p:cNvSpPr txBox="1"/>
          <p:nvPr/>
        </p:nvSpPr>
        <p:spPr>
          <a:xfrm>
            <a:off x="6791183" y="373451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25" name="TextBox 124"/>
          <p:cNvSpPr txBox="1"/>
          <p:nvPr/>
        </p:nvSpPr>
        <p:spPr>
          <a:xfrm>
            <a:off x="8420100" y="3650690"/>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26" name="Picture 125" descr="lock.png"/>
          <p:cNvPicPr>
            <a:picLocks noChangeAspect="1"/>
          </p:cNvPicPr>
          <p:nvPr/>
        </p:nvPicPr>
        <p:blipFill>
          <a:blip r:embed="rId4"/>
          <a:stretch>
            <a:fillRect/>
          </a:stretch>
        </p:blipFill>
        <p:spPr>
          <a:xfrm>
            <a:off x="10403152" y="3640911"/>
            <a:ext cx="128699" cy="187198"/>
          </a:xfrm>
          <a:prstGeom prst="rect">
            <a:avLst/>
          </a:prstGeom>
        </p:spPr>
      </p:pic>
      <p:sp>
        <p:nvSpPr>
          <p:cNvPr id="127" name="TextBox 126"/>
          <p:cNvSpPr txBox="1"/>
          <p:nvPr/>
        </p:nvSpPr>
        <p:spPr>
          <a:xfrm>
            <a:off x="10570648" y="365069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8" name="Picture 127" descr="lock.png"/>
          <p:cNvPicPr>
            <a:picLocks noChangeAspect="1"/>
          </p:cNvPicPr>
          <p:nvPr/>
        </p:nvPicPr>
        <p:blipFill>
          <a:blip r:embed="rId4"/>
          <a:stretch>
            <a:fillRect/>
          </a:stretch>
        </p:blipFill>
        <p:spPr>
          <a:xfrm>
            <a:off x="10672117" y="3640911"/>
            <a:ext cx="128699" cy="187198"/>
          </a:xfrm>
          <a:prstGeom prst="rect">
            <a:avLst/>
          </a:prstGeom>
        </p:spPr>
      </p:pic>
      <p:sp>
        <p:nvSpPr>
          <p:cNvPr id="129" name="TextBox 128"/>
          <p:cNvSpPr txBox="1"/>
          <p:nvPr/>
        </p:nvSpPr>
        <p:spPr>
          <a:xfrm>
            <a:off x="10839613" y="3650690"/>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30" name="TextBox 129"/>
          <p:cNvSpPr txBox="1"/>
          <p:nvPr/>
        </p:nvSpPr>
        <p:spPr>
          <a:xfrm>
            <a:off x="8420100" y="3818330"/>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31" name="TextBox 130"/>
          <p:cNvSpPr txBox="1"/>
          <p:nvPr/>
        </p:nvSpPr>
        <p:spPr>
          <a:xfrm>
            <a:off x="1752600" y="4161794"/>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32" name="Picture 131" descr="lock.png"/>
          <p:cNvPicPr>
            <a:picLocks noChangeAspect="1"/>
          </p:cNvPicPr>
          <p:nvPr/>
        </p:nvPicPr>
        <p:blipFill>
          <a:blip r:embed="rId4"/>
          <a:stretch>
            <a:fillRect/>
          </a:stretch>
        </p:blipFill>
        <p:spPr>
          <a:xfrm>
            <a:off x="2834969" y="4152015"/>
            <a:ext cx="128699" cy="187198"/>
          </a:xfrm>
          <a:prstGeom prst="rect">
            <a:avLst/>
          </a:prstGeom>
        </p:spPr>
      </p:pic>
      <p:sp>
        <p:nvSpPr>
          <p:cNvPr id="133" name="TextBox 132"/>
          <p:cNvSpPr txBox="1"/>
          <p:nvPr/>
        </p:nvSpPr>
        <p:spPr>
          <a:xfrm>
            <a:off x="3002465" y="4161794"/>
            <a:ext cx="1889827" cy="186689"/>
          </a:xfrm>
          <a:prstGeom prst="rect">
            <a:avLst/>
          </a:prstGeom>
          <a:noFill/>
        </p:spPr>
        <p:txBody>
          <a:bodyPr wrap="none" lIns="0" rIns="0" tIns="0" bIns="0">
            <a:spAutoFit/>
          </a:bodyPr>
          <a:lstStyle/>
          <a:p>
            <a:r>
              <a:rPr sz="1100" b="0">
                <a:solidFill>
                  <a:srgbClr val="2E2E2E"/>
                </a:solidFill>
                <a:latin typeface="Calibri"/>
              </a:rPr>
              <a:t>CAGR), Flexible Partial Dentures</a:t>
            </a:r>
          </a:p>
        </p:txBody>
      </p:sp>
      <p:sp>
        <p:nvSpPr>
          <p:cNvPr id="134" name="TextBox 133"/>
          <p:cNvSpPr txBox="1"/>
          <p:nvPr/>
        </p:nvSpPr>
        <p:spPr>
          <a:xfrm>
            <a:off x="1752600" y="4329434"/>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35" name="TextBox 134"/>
          <p:cNvSpPr txBox="1"/>
          <p:nvPr/>
        </p:nvSpPr>
        <p:spPr>
          <a:xfrm>
            <a:off x="5562600" y="4161794"/>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36" name="Picture 135" descr="lock.png"/>
          <p:cNvPicPr>
            <a:picLocks noChangeAspect="1"/>
          </p:cNvPicPr>
          <p:nvPr/>
        </p:nvPicPr>
        <p:blipFill>
          <a:blip r:embed="rId4"/>
          <a:stretch>
            <a:fillRect/>
          </a:stretch>
        </p:blipFill>
        <p:spPr>
          <a:xfrm>
            <a:off x="6797766" y="4152015"/>
            <a:ext cx="128699" cy="187198"/>
          </a:xfrm>
          <a:prstGeom prst="rect">
            <a:avLst/>
          </a:prstGeom>
        </p:spPr>
      </p:pic>
      <p:sp>
        <p:nvSpPr>
          <p:cNvPr id="137" name="TextBox 136"/>
          <p:cNvSpPr txBox="1"/>
          <p:nvPr/>
        </p:nvSpPr>
        <p:spPr>
          <a:xfrm>
            <a:off x="6965262" y="4161794"/>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38" name="TextBox 137"/>
          <p:cNvSpPr txBox="1"/>
          <p:nvPr/>
        </p:nvSpPr>
        <p:spPr>
          <a:xfrm>
            <a:off x="5562600" y="4329434"/>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39" name="Picture 138" descr="lock.png"/>
          <p:cNvPicPr>
            <a:picLocks noChangeAspect="1"/>
          </p:cNvPicPr>
          <p:nvPr/>
        </p:nvPicPr>
        <p:blipFill>
          <a:blip r:embed="rId4"/>
          <a:stretch>
            <a:fillRect/>
          </a:stretch>
        </p:blipFill>
        <p:spPr>
          <a:xfrm>
            <a:off x="6258066" y="4319655"/>
            <a:ext cx="128699" cy="187198"/>
          </a:xfrm>
          <a:prstGeom prst="rect">
            <a:avLst/>
          </a:prstGeom>
        </p:spPr>
      </p:pic>
      <p:sp>
        <p:nvSpPr>
          <p:cNvPr id="140" name="TextBox 139"/>
          <p:cNvSpPr txBox="1"/>
          <p:nvPr/>
        </p:nvSpPr>
        <p:spPr>
          <a:xfrm>
            <a:off x="6425562" y="432943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41" name="TextBox 140"/>
          <p:cNvSpPr txBox="1"/>
          <p:nvPr/>
        </p:nvSpPr>
        <p:spPr>
          <a:xfrm>
            <a:off x="8420100" y="4161794"/>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42" name="Picture 141" descr="lock.png"/>
          <p:cNvPicPr>
            <a:picLocks noChangeAspect="1"/>
          </p:cNvPicPr>
          <p:nvPr/>
        </p:nvPicPr>
        <p:blipFill>
          <a:blip r:embed="rId4"/>
          <a:stretch>
            <a:fillRect/>
          </a:stretch>
        </p:blipFill>
        <p:spPr>
          <a:xfrm>
            <a:off x="10403152" y="4152015"/>
            <a:ext cx="128699" cy="187198"/>
          </a:xfrm>
          <a:prstGeom prst="rect">
            <a:avLst/>
          </a:prstGeom>
        </p:spPr>
      </p:pic>
      <p:sp>
        <p:nvSpPr>
          <p:cNvPr id="143" name="TextBox 142"/>
          <p:cNvSpPr txBox="1"/>
          <p:nvPr/>
        </p:nvSpPr>
        <p:spPr>
          <a:xfrm>
            <a:off x="10570648" y="416179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44" name="Picture 143" descr="lock.png"/>
          <p:cNvPicPr>
            <a:picLocks noChangeAspect="1"/>
          </p:cNvPicPr>
          <p:nvPr/>
        </p:nvPicPr>
        <p:blipFill>
          <a:blip r:embed="rId4"/>
          <a:stretch>
            <a:fillRect/>
          </a:stretch>
        </p:blipFill>
        <p:spPr>
          <a:xfrm>
            <a:off x="10672117" y="4152015"/>
            <a:ext cx="128699" cy="187198"/>
          </a:xfrm>
          <a:prstGeom prst="rect">
            <a:avLst/>
          </a:prstGeom>
        </p:spPr>
      </p:pic>
      <p:sp>
        <p:nvSpPr>
          <p:cNvPr id="145" name="TextBox 144"/>
          <p:cNvSpPr txBox="1"/>
          <p:nvPr/>
        </p:nvSpPr>
        <p:spPr>
          <a:xfrm>
            <a:off x="10839613" y="4161794"/>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46" name="TextBox 145"/>
          <p:cNvSpPr txBox="1"/>
          <p:nvPr/>
        </p:nvSpPr>
        <p:spPr>
          <a:xfrm>
            <a:off x="8420100" y="4329434"/>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47" name="TextBox 146"/>
          <p:cNvSpPr txBox="1"/>
          <p:nvPr/>
        </p:nvSpPr>
        <p:spPr>
          <a:xfrm>
            <a:off x="304800" y="5232520"/>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48" name="Picture 147" descr="lock.png"/>
          <p:cNvPicPr>
            <a:picLocks noChangeAspect="1"/>
          </p:cNvPicPr>
          <p:nvPr/>
        </p:nvPicPr>
        <p:blipFill>
          <a:blip r:embed="rId4"/>
          <a:stretch>
            <a:fillRect/>
          </a:stretch>
        </p:blipFill>
        <p:spPr>
          <a:xfrm>
            <a:off x="4626463" y="5222741"/>
            <a:ext cx="128699" cy="187198"/>
          </a:xfrm>
          <a:prstGeom prst="rect">
            <a:avLst/>
          </a:prstGeom>
        </p:spPr>
      </p:pic>
      <p:sp>
        <p:nvSpPr>
          <p:cNvPr id="149" name="TextBox 148"/>
          <p:cNvSpPr txBox="1"/>
          <p:nvPr/>
        </p:nvSpPr>
        <p:spPr>
          <a:xfrm>
            <a:off x="4793959" y="5232520"/>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50" name="Picture 149" descr="lock.png"/>
          <p:cNvPicPr>
            <a:picLocks noChangeAspect="1"/>
          </p:cNvPicPr>
          <p:nvPr/>
        </p:nvPicPr>
        <p:blipFill>
          <a:blip r:embed="rId4"/>
          <a:stretch>
            <a:fillRect/>
          </a:stretch>
        </p:blipFill>
        <p:spPr>
          <a:xfrm>
            <a:off x="9365009" y="5222741"/>
            <a:ext cx="128699" cy="187198"/>
          </a:xfrm>
          <a:prstGeom prst="rect">
            <a:avLst/>
          </a:prstGeom>
        </p:spPr>
      </p:pic>
      <p:sp>
        <p:nvSpPr>
          <p:cNvPr id="151" name="TextBox 150"/>
          <p:cNvSpPr txBox="1"/>
          <p:nvPr/>
        </p:nvSpPr>
        <p:spPr>
          <a:xfrm>
            <a:off x="9532505" y="5232520"/>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52" name="Picture 151" descr="lock.png"/>
          <p:cNvPicPr>
            <a:picLocks noChangeAspect="1"/>
          </p:cNvPicPr>
          <p:nvPr/>
        </p:nvPicPr>
        <p:blipFill>
          <a:blip r:embed="rId4"/>
          <a:stretch>
            <a:fillRect/>
          </a:stretch>
        </p:blipFill>
        <p:spPr>
          <a:xfrm>
            <a:off x="291332" y="5390381"/>
            <a:ext cx="128699" cy="187198"/>
          </a:xfrm>
          <a:prstGeom prst="rect">
            <a:avLst/>
          </a:prstGeom>
        </p:spPr>
      </p:pic>
      <p:sp>
        <p:nvSpPr>
          <p:cNvPr id="153" name="TextBox 152"/>
          <p:cNvSpPr txBox="1"/>
          <p:nvPr/>
        </p:nvSpPr>
        <p:spPr>
          <a:xfrm>
            <a:off x="458828" y="5400160"/>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54" name="TextBox 153"/>
          <p:cNvSpPr txBox="1"/>
          <p:nvPr/>
        </p:nvSpPr>
        <p:spPr>
          <a:xfrm>
            <a:off x="304800" y="5567800"/>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59221"/>
            <a:ext cx="2324100" cy="2372981"/>
          </a:xfrm>
          <a:custGeom>
            <a:avLst/>
            <a:gdLst/>
            <a:ahLst/>
            <a:cxnLst/>
            <a:rect l="l" t="t" r="r" b="b"/>
            <a:pathLst>
              <a:path w="244" h="260">
                <a:moveTo>
                  <a:pt x="244" y="17"/>
                </a:moveTo>
                <a:lnTo>
                  <a:pt x="179" y="0"/>
                </a:lnTo>
                <a:lnTo>
                  <a:pt x="134" y="48"/>
                </a:lnTo>
                <a:lnTo>
                  <a:pt x="96" y="101"/>
                </a:lnTo>
                <a:lnTo>
                  <a:pt x="0" y="191"/>
                </a:lnTo>
                <a:lnTo>
                  <a:pt x="87" y="260"/>
                </a:lnTo>
                <a:lnTo>
                  <a:pt x="203" y="219"/>
                </a:lnTo>
                <a:lnTo>
                  <a:pt x="244" y="236"/>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4 end user routes, giving producers wide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rIns="0" t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437729" cy="186689"/>
          </a:xfrm>
          <a:prstGeom prst="rect">
            <a:avLst/>
          </a:prstGeom>
          <a:noFill/>
        </p:spPr>
        <p:txBody>
          <a:bodyPr wrap="none" lIns="0" rIns="0" tIns="0" bIns="0">
            <a:spAutoFit/>
          </a:bodyPr>
          <a:lstStyle/>
          <a:p>
            <a:r>
              <a:rPr sz="1100" b="0">
                <a:solidFill>
                  <a:srgbClr val="2E2E2E"/>
                </a:solidFill>
                <a:latin typeface="Calibri"/>
              </a:rPr>
              <a:t>/10), Portfolio Breadth (</a:t>
            </a:r>
          </a:p>
        </p:txBody>
      </p:sp>
      <p:pic>
        <p:nvPicPr>
          <p:cNvPr id="87" name="Picture 86" descr="lock.png"/>
          <p:cNvPicPr>
            <a:picLocks noChangeAspect="1"/>
          </p:cNvPicPr>
          <p:nvPr/>
        </p:nvPicPr>
        <p:blipFill>
          <a:blip r:embed="rId4"/>
          <a:stretch>
            <a:fillRect/>
          </a:stretch>
        </p:blipFill>
        <p:spPr>
          <a:xfrm>
            <a:off x="9712399" y="1486975"/>
            <a:ext cx="128699" cy="187198"/>
          </a:xfrm>
          <a:prstGeom prst="rect">
            <a:avLst/>
          </a:prstGeom>
        </p:spPr>
      </p:pic>
      <p:sp>
        <p:nvSpPr>
          <p:cNvPr id="88" name="TextBox 87"/>
          <p:cNvSpPr txBox="1"/>
          <p:nvPr/>
        </p:nvSpPr>
        <p:spPr>
          <a:xfrm>
            <a:off x="9879895" y="1496754"/>
            <a:ext cx="1604987" cy="186689"/>
          </a:xfrm>
          <a:prstGeom prst="rect">
            <a:avLst/>
          </a:prstGeom>
          <a:noFill/>
        </p:spPr>
        <p:txBody>
          <a:bodyPr wrap="none" lIns="0" rIns="0" tIns="0" bIns="0">
            <a:spAutoFit/>
          </a:bodyPr>
          <a:lstStyle/>
          <a:p>
            <a:r>
              <a:rPr sz="1100" b="0">
                <a:solidFill>
                  <a:srgbClr val="2E2E2E"/>
                </a:solidFill>
                <a:latin typeface="Calibri"/>
              </a:rPr>
              <a:t>/10), Supply Concentration</a:t>
            </a:r>
          </a:p>
        </p:txBody>
      </p:sp>
      <p:sp>
        <p:nvSpPr>
          <p:cNvPr id="89" name="TextBox 88"/>
          <p:cNvSpPr txBox="1"/>
          <p:nvPr/>
        </p:nvSpPr>
        <p:spPr>
          <a:xfrm>
            <a:off x="5000625" y="1664394"/>
            <a:ext cx="118491"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0" name="Picture 89" descr="lock.png"/>
          <p:cNvPicPr>
            <a:picLocks noChangeAspect="1"/>
          </p:cNvPicPr>
          <p:nvPr/>
        </p:nvPicPr>
        <p:blipFill>
          <a:blip r:embed="rId4"/>
          <a:stretch>
            <a:fillRect/>
          </a:stretch>
        </p:blipFill>
        <p:spPr>
          <a:xfrm>
            <a:off x="5067168" y="1654615"/>
            <a:ext cx="128699" cy="187198"/>
          </a:xfrm>
          <a:prstGeom prst="rect">
            <a:avLst/>
          </a:prstGeom>
        </p:spPr>
      </p:pic>
      <p:sp>
        <p:nvSpPr>
          <p:cNvPr id="91" name="TextBox 90"/>
          <p:cNvSpPr txBox="1"/>
          <p:nvPr/>
        </p:nvSpPr>
        <p:spPr>
          <a:xfrm>
            <a:off x="5234664" y="1664394"/>
            <a:ext cx="3311128" cy="186689"/>
          </a:xfrm>
          <a:prstGeom prst="rect">
            <a:avLst/>
          </a:prstGeom>
          <a:noFill/>
        </p:spPr>
        <p:txBody>
          <a:bodyPr wrap="none" lIns="0" rIns="0" tIns="0" bIns="0">
            <a:spAutoFit/>
          </a:bodyPr>
          <a:lstStyle/>
          <a:p>
            <a:r>
              <a:rPr sz="1100" b="0">
                <a:solidFill>
                  <a:srgbClr val="2E2E2E"/>
                </a:solidFill>
                <a:latin typeface="Calibri"/>
              </a:rPr>
              <a:t>/10) on a 0-10 scale scored from the global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650094"/>
            <a:ext cx="1352550" cy="2865831"/>
          </a:xfrm>
          <a:custGeom>
            <a:avLst/>
            <a:gdLst/>
            <a:ahLst/>
            <a:cxnLst/>
            <a:rect l="l" t="t" r="r" b="b"/>
            <a:pathLst>
              <a:path w="142" h="314">
                <a:moveTo>
                  <a:pt x="0" y="26"/>
                </a:moveTo>
                <a:lnTo>
                  <a:pt x="66" y="0"/>
                </a:lnTo>
                <a:lnTo>
                  <a:pt x="73" y="78"/>
                </a:lnTo>
                <a:lnTo>
                  <a:pt x="97" y="114"/>
                </a:lnTo>
                <a:lnTo>
                  <a:pt x="142" y="168"/>
                </a:lnTo>
                <a:lnTo>
                  <a:pt x="95" y="212"/>
                </a:lnTo>
                <a:lnTo>
                  <a:pt x="46" y="232"/>
                </a:lnTo>
                <a:lnTo>
                  <a:pt x="0" y="314"/>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88617" cy="186689"/>
          </a:xfrm>
          <a:prstGeom prst="rect">
            <a:avLst/>
          </a:prstGeom>
          <a:noFill/>
        </p:spPr>
        <p:txBody>
          <a:bodyPr wrap="none" lIns="0" rIns="0" tIns="0" bIns="0">
            <a:spAutoFit/>
          </a:bodyPr>
          <a:lstStyle/>
          <a:p>
            <a:r>
              <a:rPr sz="1100" b="0">
                <a:solidFill>
                  <a:srgbClr val="2E2E2E"/>
                </a:solidFill>
                <a:latin typeface="Calibri"/>
              </a:rPr>
              <a:t>▪ Demand-side conditions are led by Consumer Reach (</a:t>
            </a:r>
          </a:p>
        </p:txBody>
      </p:sp>
      <p:pic>
        <p:nvPicPr>
          <p:cNvPr id="85" name="Picture 84" descr="lock.png"/>
          <p:cNvPicPr>
            <a:picLocks noChangeAspect="1"/>
          </p:cNvPicPr>
          <p:nvPr/>
        </p:nvPicPr>
        <p:blipFill>
          <a:blip r:embed="rId4"/>
          <a:stretch>
            <a:fillRect/>
          </a:stretch>
        </p:blipFill>
        <p:spPr>
          <a:xfrm>
            <a:off x="3346219" y="1486975"/>
            <a:ext cx="128699" cy="187198"/>
          </a:xfrm>
          <a:prstGeom prst="rect">
            <a:avLst/>
          </a:prstGeom>
        </p:spPr>
      </p:pic>
      <p:sp>
        <p:nvSpPr>
          <p:cNvPr id="86" name="TextBox 85"/>
          <p:cNvSpPr txBox="1"/>
          <p:nvPr/>
        </p:nvSpPr>
        <p:spPr>
          <a:xfrm>
            <a:off x="3513715" y="1496754"/>
            <a:ext cx="1354236" cy="186689"/>
          </a:xfrm>
          <a:prstGeom prst="rect">
            <a:avLst/>
          </a:prstGeom>
          <a:noFill/>
        </p:spPr>
        <p:txBody>
          <a:bodyPr wrap="none" lIns="0" rIns="0" tIns="0" bIns="0">
            <a:spAutoFit/>
          </a:bodyPr>
          <a:lstStyle/>
          <a:p>
            <a:r>
              <a:rPr sz="1100" b="0">
                <a:solidFill>
                  <a:srgbClr val="2E2E2E"/>
                </a:solidFill>
                <a:latin typeface="Calibri"/>
              </a:rPr>
              <a:t>/10), Premiumisation (</a:t>
            </a:r>
          </a:p>
        </p:txBody>
      </p:sp>
      <p:pic>
        <p:nvPicPr>
          <p:cNvPr id="87" name="Picture 86" descr="lock.png"/>
          <p:cNvPicPr>
            <a:picLocks noChangeAspect="1"/>
          </p:cNvPicPr>
          <p:nvPr/>
        </p:nvPicPr>
        <p:blipFill>
          <a:blip r:embed="rId4"/>
          <a:stretch>
            <a:fillRect/>
          </a:stretch>
        </p:blipFill>
        <p:spPr>
          <a:xfrm>
            <a:off x="4816003" y="1486975"/>
            <a:ext cx="128699" cy="187198"/>
          </a:xfrm>
          <a:prstGeom prst="rect">
            <a:avLst/>
          </a:prstGeom>
        </p:spPr>
      </p:pic>
      <p:sp>
        <p:nvSpPr>
          <p:cNvPr id="88" name="TextBox 87"/>
          <p:cNvSpPr txBox="1"/>
          <p:nvPr/>
        </p:nvSpPr>
        <p:spPr>
          <a:xfrm>
            <a:off x="4983499" y="1496754"/>
            <a:ext cx="1606078" cy="186689"/>
          </a:xfrm>
          <a:prstGeom prst="rect">
            <a:avLst/>
          </a:prstGeom>
          <a:noFill/>
        </p:spPr>
        <p:txBody>
          <a:bodyPr wrap="none" lIns="0" rIns="0" tIns="0" bIns="0">
            <a:spAutoFit/>
          </a:bodyPr>
          <a:lstStyle/>
          <a:p>
            <a:r>
              <a:rPr sz="1100" b="0">
                <a:solidFill>
                  <a:srgbClr val="2E2E2E"/>
                </a:solidFill>
                <a:latin typeface="Calibri"/>
              </a:rPr>
              <a:t>/10), Volume Momentum (</a:t>
            </a:r>
          </a:p>
        </p:txBody>
      </p:sp>
      <p:pic>
        <p:nvPicPr>
          <p:cNvPr id="89" name="Picture 88" descr="lock.png"/>
          <p:cNvPicPr>
            <a:picLocks noChangeAspect="1"/>
          </p:cNvPicPr>
          <p:nvPr/>
        </p:nvPicPr>
        <p:blipFill>
          <a:blip r:embed="rId4"/>
          <a:stretch>
            <a:fillRect/>
          </a:stretch>
        </p:blipFill>
        <p:spPr>
          <a:xfrm>
            <a:off x="6537629" y="1486975"/>
            <a:ext cx="128699" cy="187198"/>
          </a:xfrm>
          <a:prstGeom prst="rect">
            <a:avLst/>
          </a:prstGeom>
        </p:spPr>
      </p:pic>
      <p:sp>
        <p:nvSpPr>
          <p:cNvPr id="90" name="TextBox 89"/>
          <p:cNvSpPr txBox="1"/>
          <p:nvPr/>
        </p:nvSpPr>
        <p:spPr>
          <a:xfrm>
            <a:off x="6705125"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209550"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26902"/>
            <a:ext cx="2016174" cy="186689"/>
          </a:xfrm>
          <a:prstGeom prst="rect">
            <a:avLst/>
          </a:prstGeom>
          <a:noFill/>
        </p:spPr>
        <p:txBody>
          <a:bodyPr wrap="none" lIns="0" rIns="0" tIns="0" bIns="0">
            <a:spAutoFit/>
          </a:bodyPr>
          <a:lstStyle/>
          <a:p>
            <a:r>
              <a:rPr sz="1100" b="0">
                <a:solidFill>
                  <a:srgbClr val="2E2E2E"/>
                </a:solidFill>
                <a:latin typeface="Calibri"/>
              </a:rPr>
              <a:t>▪ 'Flexible Partial Dentures' carries</a:t>
            </a:r>
          </a:p>
        </p:txBody>
      </p:sp>
      <p:pic>
        <p:nvPicPr>
          <p:cNvPr id="98" name="Picture 97" descr="lock.png"/>
          <p:cNvPicPr>
            <a:picLocks noChangeAspect="1"/>
          </p:cNvPicPr>
          <p:nvPr/>
        </p:nvPicPr>
        <p:blipFill>
          <a:blip r:embed="rId4"/>
          <a:stretch>
            <a:fillRect/>
          </a:stretch>
        </p:blipFill>
        <p:spPr>
          <a:xfrm>
            <a:off x="2173776" y="2217123"/>
            <a:ext cx="128699" cy="187198"/>
          </a:xfrm>
          <a:prstGeom prst="rect">
            <a:avLst/>
          </a:prstGeom>
        </p:spPr>
      </p:pic>
      <p:sp>
        <p:nvSpPr>
          <p:cNvPr id="99" name="TextBox 98"/>
          <p:cNvSpPr txBox="1"/>
          <p:nvPr/>
        </p:nvSpPr>
        <p:spPr>
          <a:xfrm>
            <a:off x="2341272" y="2226902"/>
            <a:ext cx="4708128" cy="186689"/>
          </a:xfrm>
          <a:prstGeom prst="rect">
            <a:avLst/>
          </a:prstGeom>
          <a:noFill/>
        </p:spPr>
        <p:txBody>
          <a:bodyPr wrap="none" lIns="0" rIns="0" tIns="0" bIns="0">
            <a:spAutoFit/>
          </a:bodyPr>
          <a:lstStyle/>
          <a:p>
            <a:r>
              <a:rPr sz="1100" b="0">
                <a:solidFill>
                  <a:srgbClr val="2E2E2E"/>
                </a:solidFill>
                <a:latin typeface="Calibri"/>
              </a:rPr>
              <a:t>of product type demand while 'Cast Metal Partial Dentures' compounds fastest at</a:t>
            </a:r>
          </a:p>
        </p:txBody>
      </p:sp>
      <p:pic>
        <p:nvPicPr>
          <p:cNvPr id="100" name="Picture 99" descr="lock.png"/>
          <p:cNvPicPr>
            <a:picLocks noChangeAspect="1"/>
          </p:cNvPicPr>
          <p:nvPr/>
        </p:nvPicPr>
        <p:blipFill>
          <a:blip r:embed="rId4"/>
          <a:stretch>
            <a:fillRect/>
          </a:stretch>
        </p:blipFill>
        <p:spPr>
          <a:xfrm>
            <a:off x="196082" y="2384763"/>
            <a:ext cx="128699" cy="187198"/>
          </a:xfrm>
          <a:prstGeom prst="rect">
            <a:avLst/>
          </a:prstGeom>
        </p:spPr>
      </p:pic>
      <p:sp>
        <p:nvSpPr>
          <p:cNvPr id="101" name="TextBox 100"/>
          <p:cNvSpPr txBox="1"/>
          <p:nvPr/>
        </p:nvSpPr>
        <p:spPr>
          <a:xfrm>
            <a:off x="363578" y="239454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767064"/>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757285"/>
            <a:ext cx="128699" cy="187198"/>
          </a:xfrm>
          <a:prstGeom prst="rect">
            <a:avLst/>
          </a:prstGeom>
        </p:spPr>
      </p:pic>
      <p:sp>
        <p:nvSpPr>
          <p:cNvPr id="104" name="TextBox 103"/>
          <p:cNvSpPr txBox="1"/>
          <p:nvPr/>
        </p:nvSpPr>
        <p:spPr>
          <a:xfrm>
            <a:off x="2801845" y="2767064"/>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757285"/>
            <a:ext cx="128699" cy="187198"/>
          </a:xfrm>
          <a:prstGeom prst="rect">
            <a:avLst/>
          </a:prstGeom>
        </p:spPr>
      </p:pic>
      <p:sp>
        <p:nvSpPr>
          <p:cNvPr id="106" name="TextBox 105"/>
          <p:cNvSpPr txBox="1"/>
          <p:nvPr/>
        </p:nvSpPr>
        <p:spPr>
          <a:xfrm>
            <a:off x="3448965" y="2767064"/>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3139587"/>
            <a:ext cx="5248647" cy="186689"/>
          </a:xfrm>
          <a:prstGeom prst="rect">
            <a:avLst/>
          </a:prstGeom>
          <a:noFill/>
        </p:spPr>
        <p:txBody>
          <a:bodyPr wrap="none" lIns="0" rIns="0" tIns="0" bIns="0">
            <a:spAutoFit/>
          </a:bodyPr>
          <a:lstStyle/>
          <a:p>
            <a:r>
              <a:rPr sz="1100" b="0">
                <a:solidFill>
                  <a:srgbClr val="2E2E2E"/>
                </a:solidFill>
                <a:latin typeface="Calibri"/>
              </a:rPr>
              <a:t>▪ Reach runs through 4 end user routes, led by 'Academic &amp; Teaching Dental Institutions' at</a:t>
            </a:r>
          </a:p>
        </p:txBody>
      </p:sp>
      <p:pic>
        <p:nvPicPr>
          <p:cNvPr id="108" name="Picture 107" descr="lock.png"/>
          <p:cNvPicPr>
            <a:picLocks noChangeAspect="1"/>
          </p:cNvPicPr>
          <p:nvPr/>
        </p:nvPicPr>
        <p:blipFill>
          <a:blip r:embed="rId4"/>
          <a:stretch>
            <a:fillRect/>
          </a:stretch>
        </p:blipFill>
        <p:spPr>
          <a:xfrm>
            <a:off x="5406248" y="3129808"/>
            <a:ext cx="128699" cy="187198"/>
          </a:xfrm>
          <a:prstGeom prst="rect">
            <a:avLst/>
          </a:prstGeom>
        </p:spPr>
      </p:pic>
      <p:sp>
        <p:nvSpPr>
          <p:cNvPr id="109" name="TextBox 108"/>
          <p:cNvSpPr txBox="1"/>
          <p:nvPr/>
        </p:nvSpPr>
        <p:spPr>
          <a:xfrm>
            <a:off x="5573744" y="3139587"/>
            <a:ext cx="1011262" cy="186689"/>
          </a:xfrm>
          <a:prstGeom prst="rect">
            <a:avLst/>
          </a:prstGeom>
          <a:noFill/>
        </p:spPr>
        <p:txBody>
          <a:bodyPr wrap="none" lIns="0" rIns="0" tIns="0" bIns="0">
            <a:spAutoFit/>
          </a:bodyPr>
          <a:lstStyle/>
          <a:p>
            <a:r>
              <a:rPr sz="1100" b="0">
                <a:solidFill>
                  <a:srgbClr val="2E2E2E"/>
                </a:solidFill>
                <a:latin typeface="Calibri"/>
              </a:rPr>
              <a:t>and with 'Dental</a:t>
            </a:r>
          </a:p>
        </p:txBody>
      </p:sp>
      <p:sp>
        <p:nvSpPr>
          <p:cNvPr id="110" name="TextBox 109"/>
          <p:cNvSpPr txBox="1"/>
          <p:nvPr/>
        </p:nvSpPr>
        <p:spPr>
          <a:xfrm>
            <a:off x="209550" y="3307227"/>
            <a:ext cx="1678657" cy="186689"/>
          </a:xfrm>
          <a:prstGeom prst="rect">
            <a:avLst/>
          </a:prstGeom>
          <a:noFill/>
        </p:spPr>
        <p:txBody>
          <a:bodyPr wrap="none" lIns="0" rIns="0" tIns="0" bIns="0">
            <a:spAutoFit/>
          </a:bodyPr>
          <a:lstStyle/>
          <a:p>
            <a:r>
              <a:rPr sz="1100" b="0">
                <a:solidFill>
                  <a:srgbClr val="2E2E2E"/>
                </a:solidFill>
                <a:latin typeface="Calibri"/>
              </a:rPr>
              <a:t>Hospitals' growing fastest at</a:t>
            </a:r>
          </a:p>
        </p:txBody>
      </p:sp>
      <p:pic>
        <p:nvPicPr>
          <p:cNvPr id="111" name="Picture 110" descr="lock.png"/>
          <p:cNvPicPr>
            <a:picLocks noChangeAspect="1"/>
          </p:cNvPicPr>
          <p:nvPr/>
        </p:nvPicPr>
        <p:blipFill>
          <a:blip r:embed="rId4"/>
          <a:stretch>
            <a:fillRect/>
          </a:stretch>
        </p:blipFill>
        <p:spPr>
          <a:xfrm>
            <a:off x="1836258" y="3297448"/>
            <a:ext cx="128699" cy="187198"/>
          </a:xfrm>
          <a:prstGeom prst="rect">
            <a:avLst/>
          </a:prstGeom>
        </p:spPr>
      </p:pic>
      <p:sp>
        <p:nvSpPr>
          <p:cNvPr id="112" name="TextBox 111"/>
          <p:cNvSpPr txBox="1"/>
          <p:nvPr/>
        </p:nvSpPr>
        <p:spPr>
          <a:xfrm>
            <a:off x="2003754" y="3307227"/>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Flexible Partial Dentures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837332"/>
            <a:ext cx="2317402" cy="186689"/>
          </a:xfrm>
          <a:prstGeom prst="rect">
            <a:avLst/>
          </a:prstGeom>
          <a:noFill/>
        </p:spPr>
        <p:txBody>
          <a:bodyPr wrap="none" lIns="0" rIns="0" tIns="0" bIns="0">
            <a:spAutoFit/>
          </a:bodyPr>
          <a:lstStyle/>
          <a:p>
            <a:r>
              <a:rPr sz="1100" b="0">
                <a:solidFill>
                  <a:srgbClr val="2E2E2E"/>
                </a:solidFill>
                <a:latin typeface="Calibri"/>
              </a:rPr>
              <a:t>'Flexible Partial Dentures' grows at only</a:t>
            </a:r>
          </a:p>
        </p:txBody>
      </p:sp>
      <p:pic>
        <p:nvPicPr>
          <p:cNvPr id="65" name="Picture 64" descr="lock.png"/>
          <p:cNvPicPr>
            <a:picLocks noChangeAspect="1"/>
          </p:cNvPicPr>
          <p:nvPr/>
        </p:nvPicPr>
        <p:blipFill>
          <a:blip r:embed="rId4"/>
          <a:stretch>
            <a:fillRect/>
          </a:stretch>
        </p:blipFill>
        <p:spPr>
          <a:xfrm>
            <a:off x="2455954" y="1827554"/>
            <a:ext cx="128699" cy="187198"/>
          </a:xfrm>
          <a:prstGeom prst="rect">
            <a:avLst/>
          </a:prstGeom>
        </p:spPr>
      </p:pic>
      <p:sp>
        <p:nvSpPr>
          <p:cNvPr id="66" name="TextBox 65"/>
          <p:cNvSpPr txBox="1"/>
          <p:nvPr/>
        </p:nvSpPr>
        <p:spPr>
          <a:xfrm>
            <a:off x="2623450" y="1837332"/>
            <a:ext cx="1579595" cy="186689"/>
          </a:xfrm>
          <a:prstGeom prst="rect">
            <a:avLst/>
          </a:prstGeom>
          <a:noFill/>
        </p:spPr>
        <p:txBody>
          <a:bodyPr wrap="none" lIns="0" rIns="0" tIns="0" bIns="0">
            <a:spAutoFit/>
          </a:bodyPr>
          <a:lstStyle/>
          <a:p>
            <a:r>
              <a:rPr sz="1100" b="0">
                <a:solidFill>
                  <a:srgbClr val="2E2E2E"/>
                </a:solidFill>
                <a:latin typeface="Calibri"/>
              </a:rPr>
              <a:t>CAGR against the market's</a:t>
            </a:r>
          </a:p>
        </p:txBody>
      </p:sp>
      <p:pic>
        <p:nvPicPr>
          <p:cNvPr id="67" name="Picture 66" descr="lock.png"/>
          <p:cNvPicPr>
            <a:picLocks noChangeAspect="1"/>
          </p:cNvPicPr>
          <p:nvPr/>
        </p:nvPicPr>
        <p:blipFill>
          <a:blip r:embed="rId4"/>
          <a:stretch>
            <a:fillRect/>
          </a:stretch>
        </p:blipFill>
        <p:spPr>
          <a:xfrm>
            <a:off x="4151096" y="1827554"/>
            <a:ext cx="128699" cy="187198"/>
          </a:xfrm>
          <a:prstGeom prst="rect">
            <a:avLst/>
          </a:prstGeom>
        </p:spPr>
      </p:pic>
      <p:sp>
        <p:nvSpPr>
          <p:cNvPr id="68" name="TextBox 67"/>
          <p:cNvSpPr txBox="1"/>
          <p:nvPr/>
        </p:nvSpPr>
        <p:spPr>
          <a:xfrm>
            <a:off x="4318592" y="1837332"/>
            <a:ext cx="284112" cy="186689"/>
          </a:xfrm>
          <a:prstGeom prst="rect">
            <a:avLst/>
          </a:prstGeom>
          <a:noFill/>
        </p:spPr>
        <p:txBody>
          <a:bodyPr wrap="none" lIns="0" rIns="0" tIns="0" bIns="0">
            <a:spAutoFit/>
          </a:bodyPr>
          <a:lstStyle/>
          <a:p>
            <a:r>
              <a:rPr sz="1100" b="0">
                <a:solidFill>
                  <a:srgbClr val="2E2E2E"/>
                </a:solidFill>
                <a:latin typeface="Calibri"/>
              </a:rPr>
              <a:t>, a -</a:t>
            </a:r>
          </a:p>
        </p:txBody>
      </p:sp>
      <p:pic>
        <p:nvPicPr>
          <p:cNvPr id="69" name="Picture 68" descr="lock.png"/>
          <p:cNvPicPr>
            <a:picLocks noChangeAspect="1"/>
          </p:cNvPicPr>
          <p:nvPr/>
        </p:nvPicPr>
        <p:blipFill>
          <a:blip r:embed="rId4"/>
          <a:stretch>
            <a:fillRect/>
          </a:stretch>
        </p:blipFill>
        <p:spPr>
          <a:xfrm>
            <a:off x="4550757" y="1827554"/>
            <a:ext cx="128699" cy="187198"/>
          </a:xfrm>
          <a:prstGeom prst="rect">
            <a:avLst/>
          </a:prstGeom>
        </p:spPr>
      </p:pic>
      <p:sp>
        <p:nvSpPr>
          <p:cNvPr id="70" name="TextBox 69"/>
          <p:cNvSpPr txBox="1"/>
          <p:nvPr/>
        </p:nvSpPr>
        <p:spPr>
          <a:xfrm>
            <a:off x="4718252" y="1837332"/>
            <a:ext cx="2932137" cy="186689"/>
          </a:xfrm>
          <a:prstGeom prst="rect">
            <a:avLst/>
          </a:prstGeom>
          <a:noFill/>
        </p:spPr>
        <p:txBody>
          <a:bodyPr wrap="none" lIns="0" rIns="0" tIns="0" bIns="0">
            <a:spAutoFit/>
          </a:bodyPr>
          <a:lstStyle/>
          <a:p>
            <a:r>
              <a:rPr sz="1100" b="0">
                <a:solidFill>
                  <a:srgbClr val="2E2E2E"/>
                </a:solidFill>
                <a:latin typeface="Calibri"/>
              </a:rPr>
              <a:t>BPS gap, and 'Flexible Partial Dentures' surrenders</a:t>
            </a:r>
          </a:p>
        </p:txBody>
      </p:sp>
      <p:pic>
        <p:nvPicPr>
          <p:cNvPr id="71" name="Picture 70" descr="lock.png"/>
          <p:cNvPicPr>
            <a:picLocks noChangeAspect="1"/>
          </p:cNvPicPr>
          <p:nvPr/>
        </p:nvPicPr>
        <p:blipFill>
          <a:blip r:embed="rId4"/>
          <a:stretch>
            <a:fillRect/>
          </a:stretch>
        </p:blipFill>
        <p:spPr>
          <a:xfrm>
            <a:off x="7598441" y="1827554"/>
            <a:ext cx="128699" cy="187198"/>
          </a:xfrm>
          <a:prstGeom prst="rect">
            <a:avLst/>
          </a:prstGeom>
        </p:spPr>
      </p:pic>
      <p:sp>
        <p:nvSpPr>
          <p:cNvPr id="72" name="TextBox 71"/>
          <p:cNvSpPr txBox="1"/>
          <p:nvPr/>
        </p:nvSpPr>
        <p:spPr>
          <a:xfrm>
            <a:off x="7765937" y="1837332"/>
            <a:ext cx="1201985" cy="186689"/>
          </a:xfrm>
          <a:prstGeom prst="rect">
            <a:avLst/>
          </a:prstGeom>
          <a:noFill/>
        </p:spPr>
        <p:txBody>
          <a:bodyPr wrap="none" lIns="0" rIns="0" tIns="0" bIns="0">
            <a:spAutoFit/>
          </a:bodyPr>
          <a:lstStyle/>
          <a:p>
            <a:r>
              <a:rPr sz="1100" b="0">
                <a:solidFill>
                  <a:srgbClr val="2E2E2E"/>
                </a:solidFill>
                <a:latin typeface="Calibri"/>
              </a:rPr>
              <a:t>BPS of product type</a:t>
            </a:r>
          </a:p>
        </p:txBody>
      </p:sp>
      <p:sp>
        <p:nvSpPr>
          <p:cNvPr id="73" name="TextBox 72"/>
          <p:cNvSpPr txBox="1"/>
          <p:nvPr/>
        </p:nvSpPr>
        <p:spPr>
          <a:xfrm>
            <a:off x="190500" y="2004972"/>
            <a:ext cx="9288487" cy="186689"/>
          </a:xfrm>
          <a:prstGeom prst="rect">
            <a:avLst/>
          </a:prstGeom>
          <a:noFill/>
        </p:spPr>
        <p:txBody>
          <a:bodyPr wrap="none" lIns="0" rIns="0" tIns="0" bIns="0">
            <a:spAutoFit/>
          </a:bodyPr>
          <a:lstStyle/>
          <a:p>
            <a:r>
              <a:rPr sz="1100" b="0">
                <a:solidFill>
                  <a:srgbClr val="2E2E2E"/>
                </a:solidFill>
                <a:latin typeface="Calibri"/>
              </a:rPr>
              <a:t>share between 2026 and 2036. Because these lines still carry meaningful volume, the drag is absorbed by the whole category: blended growth sits below what the</a:t>
            </a:r>
          </a:p>
        </p:txBody>
      </p:sp>
      <p:sp>
        <p:nvSpPr>
          <p:cNvPr id="74" name="TextBox 73"/>
          <p:cNvSpPr txBox="1"/>
          <p:nvPr/>
        </p:nvSpPr>
        <p:spPr>
          <a:xfrm>
            <a:off x="190500" y="2172613"/>
            <a:ext cx="9298037" cy="186689"/>
          </a:xfrm>
          <a:prstGeom prst="rect">
            <a:avLst/>
          </a:prstGeom>
          <a:noFill/>
        </p:spPr>
        <p:txBody>
          <a:bodyPr wrap="none" lIns="0" rIns="0" tIns="0" bIns="0">
            <a:spAutoFit/>
          </a:bodyPr>
          <a:lstStyle/>
          <a:p>
            <a:r>
              <a:rPr sz="1100" b="0">
                <a:solidFill>
                  <a:srgbClr val="2E2E2E"/>
                </a:solidFill>
                <a:latin typeface="Calibri"/>
              </a:rPr>
              <a:t>leading lines achieve on their own. Rationalising or repositioning the lagging end of a 4-line portfolio is therefore a precondition for realising the headline forecast.</a:t>
            </a:r>
          </a:p>
        </p:txBody>
      </p:sp>
      <p:sp>
        <p:nvSpPr>
          <p:cNvPr id="75" name="TextBox 74"/>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6" name="Picture 75" descr="lock.png"/>
          <p:cNvPicPr>
            <a:picLocks noChangeAspect="1"/>
          </p:cNvPicPr>
          <p:nvPr/>
        </p:nvPicPr>
        <p:blipFill>
          <a:blip r:embed="rId4"/>
          <a:stretch>
            <a:fillRect/>
          </a:stretch>
        </p:blipFill>
        <p:spPr>
          <a:xfrm>
            <a:off x="1870142" y="3488640"/>
            <a:ext cx="128699" cy="187198"/>
          </a:xfrm>
          <a:prstGeom prst="rect">
            <a:avLst/>
          </a:prstGeom>
        </p:spPr>
      </p:pic>
      <p:sp>
        <p:nvSpPr>
          <p:cNvPr id="77" name="TextBox 76"/>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8" name="Picture 77" descr="lock.png"/>
          <p:cNvPicPr>
            <a:picLocks noChangeAspect="1"/>
          </p:cNvPicPr>
          <p:nvPr/>
        </p:nvPicPr>
        <p:blipFill>
          <a:blip r:embed="rId4"/>
          <a:stretch>
            <a:fillRect/>
          </a:stretch>
        </p:blipFill>
        <p:spPr>
          <a:xfrm>
            <a:off x="2455597" y="3488640"/>
            <a:ext cx="128699" cy="187198"/>
          </a:xfrm>
          <a:prstGeom prst="rect">
            <a:avLst/>
          </a:prstGeom>
        </p:spPr>
      </p:pic>
      <p:sp>
        <p:nvSpPr>
          <p:cNvPr id="79" name="TextBox 78"/>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80" name="TextBox 79"/>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81" name="Picture 80" descr="lock.png"/>
          <p:cNvPicPr>
            <a:picLocks noChangeAspect="1"/>
          </p:cNvPicPr>
          <p:nvPr/>
        </p:nvPicPr>
        <p:blipFill>
          <a:blip r:embed="rId4"/>
          <a:stretch>
            <a:fillRect/>
          </a:stretch>
        </p:blipFill>
        <p:spPr>
          <a:xfrm>
            <a:off x="8756642" y="3656280"/>
            <a:ext cx="128699" cy="187198"/>
          </a:xfrm>
          <a:prstGeom prst="rect">
            <a:avLst/>
          </a:prstGeom>
        </p:spPr>
      </p:pic>
      <p:sp>
        <p:nvSpPr>
          <p:cNvPr id="82" name="TextBox 81"/>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83" name="TextBox 82"/>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4" name="TextBox 83"/>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5" name="Picture 84" descr="lock.png"/>
          <p:cNvPicPr>
            <a:picLocks noChangeAspect="1"/>
          </p:cNvPicPr>
          <p:nvPr/>
        </p:nvPicPr>
        <p:blipFill>
          <a:blip r:embed="rId4"/>
          <a:stretch>
            <a:fillRect/>
          </a:stretch>
        </p:blipFill>
        <p:spPr>
          <a:xfrm>
            <a:off x="3476146" y="5240995"/>
            <a:ext cx="128699" cy="187198"/>
          </a:xfrm>
          <a:prstGeom prst="rect">
            <a:avLst/>
          </a:prstGeom>
        </p:spPr>
      </p:pic>
      <p:sp>
        <p:nvSpPr>
          <p:cNvPr id="86" name="TextBox 85"/>
          <p:cNvSpPr txBox="1"/>
          <p:nvPr/>
        </p:nvSpPr>
        <p:spPr>
          <a:xfrm>
            <a:off x="3643642"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7" name="Picture 86" descr="lock.png"/>
          <p:cNvPicPr>
            <a:picLocks noChangeAspect="1"/>
          </p:cNvPicPr>
          <p:nvPr/>
        </p:nvPicPr>
        <p:blipFill>
          <a:blip r:embed="rId4"/>
          <a:stretch>
            <a:fillRect/>
          </a:stretch>
        </p:blipFill>
        <p:spPr>
          <a:xfrm>
            <a:off x="6549206" y="5240995"/>
            <a:ext cx="128699" cy="187198"/>
          </a:xfrm>
          <a:prstGeom prst="rect">
            <a:avLst/>
          </a:prstGeom>
        </p:spPr>
      </p:pic>
      <p:sp>
        <p:nvSpPr>
          <p:cNvPr id="88" name="TextBox 87"/>
          <p:cNvSpPr txBox="1"/>
          <p:nvPr/>
        </p:nvSpPr>
        <p:spPr>
          <a:xfrm>
            <a:off x="6716702"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9" name="Picture 88" descr="lock.png"/>
          <p:cNvPicPr>
            <a:picLocks noChangeAspect="1"/>
          </p:cNvPicPr>
          <p:nvPr/>
        </p:nvPicPr>
        <p:blipFill>
          <a:blip r:embed="rId4"/>
          <a:stretch>
            <a:fillRect/>
          </a:stretch>
        </p:blipFill>
        <p:spPr>
          <a:xfrm>
            <a:off x="177032" y="5408635"/>
            <a:ext cx="128699" cy="187198"/>
          </a:xfrm>
          <a:prstGeom prst="rect">
            <a:avLst/>
          </a:prstGeom>
        </p:spPr>
      </p:pic>
      <p:sp>
        <p:nvSpPr>
          <p:cNvPr id="90" name="TextBox 89"/>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91" name="TextBox 90"/>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Dental Hospitals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691754" cy="186689"/>
          </a:xfrm>
          <a:prstGeom prst="rect">
            <a:avLst/>
          </a:prstGeom>
          <a:noFill/>
        </p:spPr>
        <p:txBody>
          <a:bodyPr wrap="none" lIns="0" rIns="0" tIns="0" bIns="0">
            <a:spAutoFit/>
          </a:bodyPr>
          <a:lstStyle/>
          <a:p>
            <a:r>
              <a:rPr sz="1100" b="0">
                <a:solidFill>
                  <a:srgbClr val="2E2E2E"/>
                </a:solidFill>
                <a:latin typeface="Calibri"/>
              </a:rPr>
              <a:t>'Saudi Arabia' compounds at</a:t>
            </a:r>
          </a:p>
        </p:txBody>
      </p:sp>
      <p:pic>
        <p:nvPicPr>
          <p:cNvPr id="74" name="Picture 73" descr="lock.png"/>
          <p:cNvPicPr>
            <a:picLocks noChangeAspect="1"/>
          </p:cNvPicPr>
          <p:nvPr/>
        </p:nvPicPr>
        <p:blipFill>
          <a:blip r:embed="rId4"/>
          <a:stretch>
            <a:fillRect/>
          </a:stretch>
        </p:blipFill>
        <p:spPr>
          <a:xfrm>
            <a:off x="1830305" y="3488640"/>
            <a:ext cx="128699" cy="187198"/>
          </a:xfrm>
          <a:prstGeom prst="rect">
            <a:avLst/>
          </a:prstGeom>
        </p:spPr>
      </p:pic>
      <p:sp>
        <p:nvSpPr>
          <p:cNvPr id="75" name="TextBox 74"/>
          <p:cNvSpPr txBox="1"/>
          <p:nvPr/>
        </p:nvSpPr>
        <p:spPr>
          <a:xfrm>
            <a:off x="1997801"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9 geographies in the dataset combining above-median growth with below-median size.</a:t>
            </a:r>
          </a:p>
        </p:txBody>
      </p:sp>
      <p:sp>
        <p:nvSpPr>
          <p:cNvPr id="76" name="TextBox 75"/>
          <p:cNvSpPr txBox="1"/>
          <p:nvPr/>
        </p:nvSpPr>
        <p:spPr>
          <a:xfrm>
            <a:off x="190500" y="3666059"/>
            <a:ext cx="5046191"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a:t>
            </a:r>
          </a:p>
        </p:txBody>
      </p:sp>
      <p:pic>
        <p:nvPicPr>
          <p:cNvPr id="77" name="Picture 76" descr="lock.png"/>
          <p:cNvPicPr>
            <a:picLocks noChangeAspect="1"/>
          </p:cNvPicPr>
          <p:nvPr/>
        </p:nvPicPr>
        <p:blipFill>
          <a:blip r:embed="rId4"/>
          <a:stretch>
            <a:fillRect/>
          </a:stretch>
        </p:blipFill>
        <p:spPr>
          <a:xfrm>
            <a:off x="5184742" y="3656280"/>
            <a:ext cx="128699" cy="187198"/>
          </a:xfrm>
          <a:prstGeom prst="rect">
            <a:avLst/>
          </a:prstGeom>
        </p:spPr>
      </p:pic>
      <p:sp>
        <p:nvSpPr>
          <p:cNvPr id="78" name="TextBox 77"/>
          <p:cNvSpPr txBox="1"/>
          <p:nvPr/>
        </p:nvSpPr>
        <p:spPr>
          <a:xfrm>
            <a:off x="5352238" y="3666059"/>
            <a:ext cx="2075929" cy="186689"/>
          </a:xfrm>
          <a:prstGeom prst="rect">
            <a:avLst/>
          </a:prstGeom>
          <a:noFill/>
        </p:spPr>
        <p:txBody>
          <a:bodyPr wrap="none" lIns="0" rIns="0" tIns="0" bIns="0">
            <a:spAutoFit/>
          </a:bodyPr>
          <a:lstStyle/>
          <a:p>
            <a:r>
              <a:rPr sz="1100" b="0">
                <a:solidFill>
                  <a:srgbClr val="2E2E2E"/>
                </a:solidFill>
                <a:latin typeface="Calibri"/>
              </a:rPr>
              <a:t>-share leaders, while growth runs +</a:t>
            </a:r>
          </a:p>
        </p:txBody>
      </p:sp>
      <p:pic>
        <p:nvPicPr>
          <p:cNvPr id="79" name="Picture 78" descr="lock.png"/>
          <p:cNvPicPr>
            <a:picLocks noChangeAspect="1"/>
          </p:cNvPicPr>
          <p:nvPr/>
        </p:nvPicPr>
        <p:blipFill>
          <a:blip r:embed="rId4"/>
          <a:stretch>
            <a:fillRect/>
          </a:stretch>
        </p:blipFill>
        <p:spPr>
          <a:xfrm>
            <a:off x="7376219" y="3656280"/>
            <a:ext cx="128699" cy="187198"/>
          </a:xfrm>
          <a:prstGeom prst="rect">
            <a:avLst/>
          </a:prstGeom>
        </p:spPr>
      </p:pic>
      <p:sp>
        <p:nvSpPr>
          <p:cNvPr id="80" name="TextBox 79"/>
          <p:cNvSpPr txBox="1"/>
          <p:nvPr/>
        </p:nvSpPr>
        <p:spPr>
          <a:xfrm>
            <a:off x="7543715"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81" name="TextBox 80"/>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2" name="TextBox 81"/>
          <p:cNvSpPr txBox="1"/>
          <p:nvPr/>
        </p:nvSpPr>
        <p:spPr>
          <a:xfrm>
            <a:off x="190500" y="5250774"/>
            <a:ext cx="1585614" cy="186689"/>
          </a:xfrm>
          <a:prstGeom prst="rect">
            <a:avLst/>
          </a:prstGeom>
          <a:noFill/>
        </p:spPr>
        <p:txBody>
          <a:bodyPr wrap="none" lIns="0" rIns="0" tIns="0" bIns="0">
            <a:spAutoFit/>
          </a:bodyPr>
          <a:lstStyle/>
          <a:p>
            <a:r>
              <a:rPr sz="1100" b="0">
                <a:solidFill>
                  <a:srgbClr val="2E2E2E"/>
                </a:solidFill>
                <a:latin typeface="Calibri"/>
              </a:rPr>
              <a:t>'Dental Hospitals' grows at</a:t>
            </a:r>
          </a:p>
        </p:txBody>
      </p:sp>
      <p:pic>
        <p:nvPicPr>
          <p:cNvPr id="83" name="Picture 82" descr="lock.png"/>
          <p:cNvPicPr>
            <a:picLocks noChangeAspect="1"/>
          </p:cNvPicPr>
          <p:nvPr/>
        </p:nvPicPr>
        <p:blipFill>
          <a:blip r:embed="rId4"/>
          <a:stretch>
            <a:fillRect/>
          </a:stretch>
        </p:blipFill>
        <p:spPr>
          <a:xfrm>
            <a:off x="1724166" y="5240995"/>
            <a:ext cx="128699" cy="187198"/>
          </a:xfrm>
          <a:prstGeom prst="rect">
            <a:avLst/>
          </a:prstGeom>
        </p:spPr>
      </p:pic>
      <p:sp>
        <p:nvSpPr>
          <p:cNvPr id="84" name="TextBox 83"/>
          <p:cNvSpPr txBox="1"/>
          <p:nvPr/>
        </p:nvSpPr>
        <p:spPr>
          <a:xfrm>
            <a:off x="1891662" y="5250774"/>
            <a:ext cx="2820796" cy="186689"/>
          </a:xfrm>
          <a:prstGeom prst="rect">
            <a:avLst/>
          </a:prstGeom>
          <a:noFill/>
        </p:spPr>
        <p:txBody>
          <a:bodyPr wrap="none" lIns="0" rIns="0" tIns="0" bIns="0">
            <a:spAutoFit/>
          </a:bodyPr>
          <a:lstStyle/>
          <a:p>
            <a:r>
              <a:rPr sz="1100" b="0">
                <a:solidFill>
                  <a:srgbClr val="2E2E2E"/>
                </a:solidFill>
                <a:latin typeface="Calibri"/>
              </a:rPr>
              <a:t>CAGR, the fastest of 4 end user routes, and adds</a:t>
            </a:r>
          </a:p>
        </p:txBody>
      </p:sp>
      <p:pic>
        <p:nvPicPr>
          <p:cNvPr id="85" name="Picture 84" descr="lock.png"/>
          <p:cNvPicPr>
            <a:picLocks noChangeAspect="1"/>
          </p:cNvPicPr>
          <p:nvPr/>
        </p:nvPicPr>
        <p:blipFill>
          <a:blip r:embed="rId4"/>
          <a:stretch>
            <a:fillRect/>
          </a:stretch>
        </p:blipFill>
        <p:spPr>
          <a:xfrm>
            <a:off x="4660510" y="5240995"/>
            <a:ext cx="128699" cy="187198"/>
          </a:xfrm>
          <a:prstGeom prst="rect">
            <a:avLst/>
          </a:prstGeom>
        </p:spPr>
      </p:pic>
      <p:sp>
        <p:nvSpPr>
          <p:cNvPr id="86" name="TextBox 85"/>
          <p:cNvSpPr txBox="1"/>
          <p:nvPr/>
        </p:nvSpPr>
        <p:spPr>
          <a:xfrm>
            <a:off x="4828006" y="5250774"/>
            <a:ext cx="3958332" cy="186689"/>
          </a:xfrm>
          <a:prstGeom prst="rect">
            <a:avLst/>
          </a:prstGeom>
          <a:noFill/>
        </p:spPr>
        <p:txBody>
          <a:bodyPr wrap="none" lIns="0" rIns="0" tIns="0" bIns="0">
            <a:spAutoFit/>
          </a:bodyPr>
          <a:lstStyle/>
          <a:p>
            <a:r>
              <a:rPr sz="1100" b="0">
                <a:solidFill>
                  <a:srgbClr val="2E2E2E"/>
                </a:solidFill>
                <a:latin typeface="Calibri"/>
              </a:rPr>
              <a:t>US$ Mn over the forecast period while 'Academic &amp; Teaching Dental</a:t>
            </a:r>
          </a:p>
        </p:txBody>
      </p:sp>
      <p:sp>
        <p:nvSpPr>
          <p:cNvPr id="87" name="TextBox 86"/>
          <p:cNvSpPr txBox="1"/>
          <p:nvPr/>
        </p:nvSpPr>
        <p:spPr>
          <a:xfrm>
            <a:off x="190500" y="5418414"/>
            <a:ext cx="1391890" cy="186689"/>
          </a:xfrm>
          <a:prstGeom prst="rect">
            <a:avLst/>
          </a:prstGeom>
          <a:noFill/>
        </p:spPr>
        <p:txBody>
          <a:bodyPr wrap="none" lIns="0" rIns="0" tIns="0" bIns="0">
            <a:spAutoFit/>
          </a:bodyPr>
          <a:lstStyle/>
          <a:p>
            <a:r>
              <a:rPr sz="1100" b="0">
                <a:solidFill>
                  <a:srgbClr val="2E2E2E"/>
                </a:solidFill>
                <a:latin typeface="Calibri"/>
              </a:rPr>
              <a:t>Institutions' still carries</a:t>
            </a:r>
          </a:p>
        </p:txBody>
      </p:sp>
      <p:pic>
        <p:nvPicPr>
          <p:cNvPr id="88" name="Picture 87" descr="lock.png"/>
          <p:cNvPicPr>
            <a:picLocks noChangeAspect="1"/>
          </p:cNvPicPr>
          <p:nvPr/>
        </p:nvPicPr>
        <p:blipFill>
          <a:blip r:embed="rId4"/>
          <a:stretch>
            <a:fillRect/>
          </a:stretch>
        </p:blipFill>
        <p:spPr>
          <a:xfrm>
            <a:off x="1530441" y="5408635"/>
            <a:ext cx="128699" cy="187198"/>
          </a:xfrm>
          <a:prstGeom prst="rect">
            <a:avLst/>
          </a:prstGeom>
        </p:spPr>
      </p:pic>
      <p:sp>
        <p:nvSpPr>
          <p:cNvPr id="89" name="TextBox 88"/>
          <p:cNvSpPr txBox="1"/>
          <p:nvPr/>
        </p:nvSpPr>
        <p:spPr>
          <a:xfrm>
            <a:off x="1697937" y="5418414"/>
            <a:ext cx="7313041"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'Cast Metal Partial</a:t>
            </a:r>
          </a:p>
        </p:txBody>
      </p:sp>
      <p:sp>
        <p:nvSpPr>
          <p:cNvPr id="90" name="TextBox 89"/>
          <p:cNvSpPr txBox="1"/>
          <p:nvPr/>
        </p:nvSpPr>
        <p:spPr>
          <a:xfrm>
            <a:off x="190500" y="5586054"/>
            <a:ext cx="774700" cy="186689"/>
          </a:xfrm>
          <a:prstGeom prst="rect">
            <a:avLst/>
          </a:prstGeom>
          <a:noFill/>
        </p:spPr>
        <p:txBody>
          <a:bodyPr wrap="none" lIns="0" rIns="0" tIns="0" bIns="0">
            <a:spAutoFit/>
          </a:bodyPr>
          <a:lstStyle/>
          <a:p>
            <a:r>
              <a:rPr sz="1100" b="0">
                <a:solidFill>
                  <a:srgbClr val="2E2E2E"/>
                </a:solidFill>
                <a:latin typeface="Calibri"/>
              </a:rPr>
              <a:t>Dentures' at</a:t>
            </a:r>
          </a:p>
        </p:txBody>
      </p:sp>
      <p:pic>
        <p:nvPicPr>
          <p:cNvPr id="91" name="Picture 90" descr="lock.png"/>
          <p:cNvPicPr>
            <a:picLocks noChangeAspect="1"/>
          </p:cNvPicPr>
          <p:nvPr/>
        </p:nvPicPr>
        <p:blipFill>
          <a:blip r:embed="rId4"/>
          <a:stretch>
            <a:fillRect/>
          </a:stretch>
        </p:blipFill>
        <p:spPr>
          <a:xfrm>
            <a:off x="913251" y="5576275"/>
            <a:ext cx="128699" cy="187198"/>
          </a:xfrm>
          <a:prstGeom prst="rect">
            <a:avLst/>
          </a:prstGeom>
        </p:spPr>
      </p:pic>
      <p:sp>
        <p:nvSpPr>
          <p:cNvPr id="92" name="TextBox 91"/>
          <p:cNvSpPr txBox="1"/>
          <p:nvPr/>
        </p:nvSpPr>
        <p:spPr>
          <a:xfrm>
            <a:off x="1080747" y="5586054"/>
            <a:ext cx="3137594" cy="186689"/>
          </a:xfrm>
          <a:prstGeom prst="rect">
            <a:avLst/>
          </a:prstGeom>
          <a:noFill/>
        </p:spPr>
        <p:txBody>
          <a:bodyPr wrap="none" lIns="0" rIns="0" tIns="0" bIns="0">
            <a:spAutoFit/>
          </a:bodyPr>
          <a:lstStyle/>
          <a:p>
            <a:r>
              <a:rPr sz="1100" b="0">
                <a:solidFill>
                  <a:srgbClr val="2E2E2E"/>
                </a:solidFill>
                <a:latin typeface="Calibri"/>
              </a:rPr>
              <a:t>is the highest-yield combination the dataset supports.</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597199"/>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597199"/>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597199"/>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819551"/>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914773"/>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91477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91477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332091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4128643"/>
            <a:ext cx="11906250" cy="1213871"/>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412864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4" name="Connector 23"/>
          <p:cNvCxnSpPr/>
          <p:nvPr/>
        </p:nvCxnSpPr>
        <p:spPr>
          <a:xfrm>
            <a:off x="1571625" y="412864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453478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5342514"/>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5342514"/>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28" name="Connector 27"/>
          <p:cNvCxnSpPr/>
          <p:nvPr/>
        </p:nvCxnSpPr>
        <p:spPr>
          <a:xfrm>
            <a:off x="1571625" y="5342514"/>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5748660"/>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1743075" y="1948533"/>
            <a:ext cx="3516585" cy="186689"/>
          </a:xfrm>
          <a:prstGeom prst="rect">
            <a:avLst/>
          </a:prstGeom>
          <a:noFill/>
        </p:spPr>
        <p:txBody>
          <a:bodyPr wrap="none" lIns="0" rIns="0" tIns="0" bIns="0">
            <a:spAutoFit/>
          </a:bodyPr>
          <a:lstStyle/>
          <a:p>
            <a:r>
              <a:rPr sz="1100" b="0">
                <a:solidFill>
                  <a:srgbClr val="2E2E2E"/>
                </a:solidFill>
                <a:latin typeface="Calibri"/>
              </a:rPr>
              <a:t>Strongest historical expansion on record: Global value rose +</a:t>
            </a:r>
          </a:p>
        </p:txBody>
      </p:sp>
      <p:pic>
        <p:nvPicPr>
          <p:cNvPr id="32" name="Picture 31" descr="lock.png"/>
          <p:cNvPicPr>
            <a:picLocks noChangeAspect="1"/>
          </p:cNvPicPr>
          <p:nvPr/>
        </p:nvPicPr>
        <p:blipFill>
          <a:blip r:embed="rId4"/>
          <a:stretch>
            <a:fillRect/>
          </a:stretch>
        </p:blipFill>
        <p:spPr>
          <a:xfrm>
            <a:off x="5207711" y="1938754"/>
            <a:ext cx="128699" cy="187198"/>
          </a:xfrm>
          <a:prstGeom prst="rect">
            <a:avLst/>
          </a:prstGeom>
        </p:spPr>
      </p:pic>
      <p:sp>
        <p:nvSpPr>
          <p:cNvPr id="33" name="TextBox 32"/>
          <p:cNvSpPr txBox="1"/>
          <p:nvPr/>
        </p:nvSpPr>
        <p:spPr>
          <a:xfrm>
            <a:off x="5375207" y="1948533"/>
            <a:ext cx="935955" cy="186689"/>
          </a:xfrm>
          <a:prstGeom prst="rect">
            <a:avLst/>
          </a:prstGeom>
          <a:noFill/>
        </p:spPr>
        <p:txBody>
          <a:bodyPr wrap="none" lIns="0" rIns="0" tIns="0" bIns="0">
            <a:spAutoFit/>
          </a:bodyPr>
          <a:lstStyle/>
          <a:p>
            <a:r>
              <a:rPr sz="1100" b="0">
                <a:solidFill>
                  <a:srgbClr val="2E2E2E"/>
                </a:solidFill>
                <a:latin typeface="Calibri"/>
              </a:rPr>
              <a:t>year on year to</a:t>
            </a:r>
          </a:p>
        </p:txBody>
      </p:sp>
      <p:pic>
        <p:nvPicPr>
          <p:cNvPr id="34" name="Picture 33" descr="lock.png"/>
          <p:cNvPicPr>
            <a:picLocks noChangeAspect="1"/>
          </p:cNvPicPr>
          <p:nvPr/>
        </p:nvPicPr>
        <p:blipFill>
          <a:blip r:embed="rId4"/>
          <a:stretch>
            <a:fillRect/>
          </a:stretch>
        </p:blipFill>
        <p:spPr>
          <a:xfrm>
            <a:off x="6259214" y="1938754"/>
            <a:ext cx="128699" cy="187198"/>
          </a:xfrm>
          <a:prstGeom prst="rect">
            <a:avLst/>
          </a:prstGeom>
        </p:spPr>
      </p:pic>
      <p:sp>
        <p:nvSpPr>
          <p:cNvPr id="35" name="TextBox 34"/>
          <p:cNvSpPr txBox="1"/>
          <p:nvPr/>
        </p:nvSpPr>
        <p:spPr>
          <a:xfrm>
            <a:off x="6426710" y="1948533"/>
            <a:ext cx="4980706" cy="186689"/>
          </a:xfrm>
          <a:prstGeom prst="rect">
            <a:avLst/>
          </a:prstGeom>
          <a:noFill/>
        </p:spPr>
        <p:txBody>
          <a:bodyPr wrap="none" lIns="0" rIns="0" tIns="0" bIns="0">
            <a:spAutoFit/>
          </a:bodyPr>
          <a:lstStyle/>
          <a:p>
            <a:r>
              <a:rPr sz="1100" b="0">
                <a:solidFill>
                  <a:srgbClr val="2E2E2E"/>
                </a:solidFill>
                <a:latin typeface="Calibri"/>
              </a:rPr>
              <a:t>US$ Mn, the steepest single-year move of the 2021–2025 period. Demand for 'Flexible</a:t>
            </a:r>
          </a:p>
        </p:txBody>
      </p:sp>
      <p:sp>
        <p:nvSpPr>
          <p:cNvPr id="36" name="TextBox 35"/>
          <p:cNvSpPr txBox="1"/>
          <p:nvPr/>
        </p:nvSpPr>
        <p:spPr>
          <a:xfrm>
            <a:off x="1743075" y="2116173"/>
            <a:ext cx="1027087" cy="186689"/>
          </a:xfrm>
          <a:prstGeom prst="rect">
            <a:avLst/>
          </a:prstGeom>
          <a:noFill/>
        </p:spPr>
        <p:txBody>
          <a:bodyPr wrap="none" lIns="0" rIns="0" tIns="0" bIns="0">
            <a:spAutoFit/>
          </a:bodyPr>
          <a:lstStyle/>
          <a:p>
            <a:r>
              <a:rPr sz="1100" b="0">
                <a:solidFill>
                  <a:srgbClr val="2E2E2E"/>
                </a:solidFill>
                <a:latin typeface="Calibri"/>
              </a:rPr>
              <a:t>Partial Dentures'</a:t>
            </a:r>
          </a:p>
        </p:txBody>
      </p:sp>
      <p:pic>
        <p:nvPicPr>
          <p:cNvPr id="37" name="Picture 36" descr="lock.png"/>
          <p:cNvPicPr>
            <a:picLocks noChangeAspect="1"/>
          </p:cNvPicPr>
          <p:nvPr/>
        </p:nvPicPr>
        <p:blipFill>
          <a:blip r:embed="rId4"/>
          <a:stretch>
            <a:fillRect/>
          </a:stretch>
        </p:blipFill>
        <p:spPr>
          <a:xfrm>
            <a:off x="2718214" y="2106394"/>
            <a:ext cx="128699" cy="187198"/>
          </a:xfrm>
          <a:prstGeom prst="rect">
            <a:avLst/>
          </a:prstGeom>
        </p:spPr>
      </p:pic>
      <p:sp>
        <p:nvSpPr>
          <p:cNvPr id="38" name="TextBox 37"/>
          <p:cNvSpPr txBox="1"/>
          <p:nvPr/>
        </p:nvSpPr>
        <p:spPr>
          <a:xfrm>
            <a:off x="2885710" y="2116173"/>
            <a:ext cx="6857925" cy="186689"/>
          </a:xfrm>
          <a:prstGeom prst="rect">
            <a:avLst/>
          </a:prstGeom>
          <a:noFill/>
        </p:spPr>
        <p:txBody>
          <a:bodyPr wrap="none" lIns="0" rIns="0" tIns="0" bIns="0">
            <a:spAutoFit/>
          </a:bodyPr>
          <a:lstStyle/>
          <a:p>
            <a:r>
              <a:rPr sz="1100" b="0">
                <a:solidFill>
                  <a:srgbClr val="2E2E2E"/>
                </a:solidFill>
                <a:latin typeface="Calibri"/>
              </a:rPr>
              <a:t>of product type value by 2036 set the pace, and the 4 end user routes tracked here all carried volume through the year.</a:t>
            </a:r>
          </a:p>
        </p:txBody>
      </p:sp>
      <p:sp>
        <p:nvSpPr>
          <p:cNvPr id="39" name="TextBox 38"/>
          <p:cNvSpPr txBox="1"/>
          <p:nvPr/>
        </p:nvSpPr>
        <p:spPr>
          <a:xfrm>
            <a:off x="1743075" y="3360774"/>
            <a:ext cx="3340465"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a:t>
            </a:r>
          </a:p>
        </p:txBody>
      </p:sp>
      <p:pic>
        <p:nvPicPr>
          <p:cNvPr id="40" name="Picture 39" descr="lock.png"/>
          <p:cNvPicPr>
            <a:picLocks noChangeAspect="1"/>
          </p:cNvPicPr>
          <p:nvPr/>
        </p:nvPicPr>
        <p:blipFill>
          <a:blip r:embed="rId4"/>
          <a:stretch>
            <a:fillRect/>
          </a:stretch>
        </p:blipFill>
        <p:spPr>
          <a:xfrm>
            <a:off x="5030621" y="3351386"/>
            <a:ext cx="123551" cy="179710"/>
          </a:xfrm>
          <a:prstGeom prst="rect">
            <a:avLst/>
          </a:prstGeom>
        </p:spPr>
      </p:pic>
      <p:sp>
        <p:nvSpPr>
          <p:cNvPr id="41" name="TextBox 40"/>
          <p:cNvSpPr txBox="1"/>
          <p:nvPr/>
        </p:nvSpPr>
        <p:spPr>
          <a:xfrm>
            <a:off x="5191417" y="3360774"/>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2" name="Picture 41" descr="lock.png"/>
          <p:cNvPicPr>
            <a:picLocks noChangeAspect="1"/>
          </p:cNvPicPr>
          <p:nvPr/>
        </p:nvPicPr>
        <p:blipFill>
          <a:blip r:embed="rId4"/>
          <a:stretch>
            <a:fillRect/>
          </a:stretch>
        </p:blipFill>
        <p:spPr>
          <a:xfrm>
            <a:off x="6964179" y="3351386"/>
            <a:ext cx="123551" cy="179710"/>
          </a:xfrm>
          <a:prstGeom prst="rect">
            <a:avLst/>
          </a:prstGeom>
        </p:spPr>
      </p:pic>
      <p:sp>
        <p:nvSpPr>
          <p:cNvPr id="43" name="TextBox 42"/>
          <p:cNvSpPr txBox="1"/>
          <p:nvPr/>
        </p:nvSpPr>
        <p:spPr>
          <a:xfrm>
            <a:off x="7124975" y="3360774"/>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4" name="Picture 43" descr="lock.png"/>
          <p:cNvPicPr>
            <a:picLocks noChangeAspect="1"/>
          </p:cNvPicPr>
          <p:nvPr/>
        </p:nvPicPr>
        <p:blipFill>
          <a:blip r:embed="rId4"/>
          <a:stretch>
            <a:fillRect/>
          </a:stretch>
        </p:blipFill>
        <p:spPr>
          <a:xfrm>
            <a:off x="9382846" y="3351386"/>
            <a:ext cx="123551" cy="179710"/>
          </a:xfrm>
          <a:prstGeom prst="rect">
            <a:avLst/>
          </a:prstGeom>
        </p:spPr>
      </p:pic>
      <p:sp>
        <p:nvSpPr>
          <p:cNvPr id="45" name="TextBox 44"/>
          <p:cNvSpPr txBox="1"/>
          <p:nvPr/>
        </p:nvSpPr>
        <p:spPr>
          <a:xfrm>
            <a:off x="9543642" y="3360774"/>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46" name="TextBox 45"/>
          <p:cNvSpPr txBox="1"/>
          <p:nvPr/>
        </p:nvSpPr>
        <p:spPr>
          <a:xfrm>
            <a:off x="1743075" y="3521708"/>
            <a:ext cx="4153519" cy="179984"/>
          </a:xfrm>
          <a:prstGeom prst="rect">
            <a:avLst/>
          </a:prstGeom>
          <a:noFill/>
        </p:spPr>
        <p:txBody>
          <a:bodyPr wrap="none" lIns="0" rIns="0" tIns="0" bIns="0">
            <a:spAutoFit/>
          </a:bodyPr>
          <a:lstStyle/>
          <a:p>
            <a:r>
              <a:rPr sz="1055" b="0">
                <a:solidFill>
                  <a:srgbClr val="2E2E2E"/>
                </a:solidFill>
                <a:latin typeface="Calibri"/>
              </a:rPr>
              <a:t>forecast is built from 8 segment breakdowns covering 4 product type lines.</a:t>
            </a:r>
          </a:p>
        </p:txBody>
      </p:sp>
      <p:sp>
        <p:nvSpPr>
          <p:cNvPr id="47" name="TextBox 46"/>
          <p:cNvSpPr txBox="1"/>
          <p:nvPr/>
        </p:nvSpPr>
        <p:spPr>
          <a:xfrm>
            <a:off x="1743075" y="4574644"/>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48" name="Picture 47" descr="lock.png"/>
          <p:cNvPicPr>
            <a:picLocks noChangeAspect="1"/>
          </p:cNvPicPr>
          <p:nvPr/>
        </p:nvPicPr>
        <p:blipFill>
          <a:blip r:embed="rId4"/>
          <a:stretch>
            <a:fillRect/>
          </a:stretch>
        </p:blipFill>
        <p:spPr>
          <a:xfrm>
            <a:off x="3880454" y="4565256"/>
            <a:ext cx="123551" cy="179710"/>
          </a:xfrm>
          <a:prstGeom prst="rect">
            <a:avLst/>
          </a:prstGeom>
        </p:spPr>
      </p:pic>
      <p:sp>
        <p:nvSpPr>
          <p:cNvPr id="49" name="TextBox 48"/>
          <p:cNvSpPr txBox="1"/>
          <p:nvPr/>
        </p:nvSpPr>
        <p:spPr>
          <a:xfrm>
            <a:off x="4041250" y="4574644"/>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50" name="Picture 49" descr="lock.png"/>
          <p:cNvPicPr>
            <a:picLocks noChangeAspect="1"/>
          </p:cNvPicPr>
          <p:nvPr/>
        </p:nvPicPr>
        <p:blipFill>
          <a:blip r:embed="rId4"/>
          <a:stretch>
            <a:fillRect/>
          </a:stretch>
        </p:blipFill>
        <p:spPr>
          <a:xfrm>
            <a:off x="4529470" y="4565256"/>
            <a:ext cx="123551" cy="179710"/>
          </a:xfrm>
          <a:prstGeom prst="rect">
            <a:avLst/>
          </a:prstGeom>
        </p:spPr>
      </p:pic>
      <p:sp>
        <p:nvSpPr>
          <p:cNvPr id="51" name="TextBox 50"/>
          <p:cNvSpPr txBox="1"/>
          <p:nvPr/>
        </p:nvSpPr>
        <p:spPr>
          <a:xfrm>
            <a:off x="4690266" y="4574644"/>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52" name="Picture 51" descr="lock.png"/>
          <p:cNvPicPr>
            <a:picLocks noChangeAspect="1"/>
          </p:cNvPicPr>
          <p:nvPr/>
        </p:nvPicPr>
        <p:blipFill>
          <a:blip r:embed="rId4"/>
          <a:stretch>
            <a:fillRect/>
          </a:stretch>
        </p:blipFill>
        <p:spPr>
          <a:xfrm>
            <a:off x="7218681" y="4565256"/>
            <a:ext cx="123551" cy="179710"/>
          </a:xfrm>
          <a:prstGeom prst="rect">
            <a:avLst/>
          </a:prstGeom>
        </p:spPr>
      </p:pic>
      <p:sp>
        <p:nvSpPr>
          <p:cNvPr id="53" name="TextBox 52"/>
          <p:cNvSpPr txBox="1"/>
          <p:nvPr/>
        </p:nvSpPr>
        <p:spPr>
          <a:xfrm>
            <a:off x="7379477" y="4574644"/>
            <a:ext cx="1845063" cy="179984"/>
          </a:xfrm>
          <a:prstGeom prst="rect">
            <a:avLst/>
          </a:prstGeom>
          <a:noFill/>
        </p:spPr>
        <p:txBody>
          <a:bodyPr wrap="none" lIns="0" rIns="0" tIns="0" bIns="0">
            <a:spAutoFit/>
          </a:bodyPr>
          <a:lstStyle/>
          <a:p>
            <a:r>
              <a:rPr sz="1055" b="0">
                <a:solidFill>
                  <a:srgbClr val="2E2E2E"/>
                </a:solidFill>
                <a:latin typeface="Calibri"/>
              </a:rPr>
              <a:t>US$/Units, and mix has moved +</a:t>
            </a:r>
          </a:p>
        </p:txBody>
      </p:sp>
      <p:pic>
        <p:nvPicPr>
          <p:cNvPr id="54" name="Picture 53" descr="lock.png"/>
          <p:cNvPicPr>
            <a:picLocks noChangeAspect="1"/>
          </p:cNvPicPr>
          <p:nvPr/>
        </p:nvPicPr>
        <p:blipFill>
          <a:blip r:embed="rId4"/>
          <a:stretch>
            <a:fillRect/>
          </a:stretch>
        </p:blipFill>
        <p:spPr>
          <a:xfrm>
            <a:off x="9171623" y="4565256"/>
            <a:ext cx="123551" cy="179710"/>
          </a:xfrm>
          <a:prstGeom prst="rect">
            <a:avLst/>
          </a:prstGeom>
        </p:spPr>
      </p:pic>
      <p:sp>
        <p:nvSpPr>
          <p:cNvPr id="55" name="TextBox 54"/>
          <p:cNvSpPr txBox="1"/>
          <p:nvPr/>
        </p:nvSpPr>
        <p:spPr>
          <a:xfrm>
            <a:off x="9332419" y="4574644"/>
            <a:ext cx="1730859" cy="179984"/>
          </a:xfrm>
          <a:prstGeom prst="rect">
            <a:avLst/>
          </a:prstGeom>
          <a:noFill/>
        </p:spPr>
        <p:txBody>
          <a:bodyPr wrap="none" lIns="0" rIns="0" tIns="0" bIns="0">
            <a:spAutoFit/>
          </a:bodyPr>
          <a:lstStyle/>
          <a:p>
            <a:r>
              <a:rPr sz="1055" b="0">
                <a:solidFill>
                  <a:srgbClr val="2E2E2E"/>
                </a:solidFill>
                <a:latin typeface="Calibri"/>
              </a:rPr>
              <a:t>BPS toward 'Cast Metal Partial</a:t>
            </a:r>
          </a:p>
        </p:txBody>
      </p:sp>
      <p:sp>
        <p:nvSpPr>
          <p:cNvPr id="56" name="TextBox 55"/>
          <p:cNvSpPr txBox="1"/>
          <p:nvPr/>
        </p:nvSpPr>
        <p:spPr>
          <a:xfrm>
            <a:off x="1743075" y="4735578"/>
            <a:ext cx="2827591" cy="179984"/>
          </a:xfrm>
          <a:prstGeom prst="rect">
            <a:avLst/>
          </a:prstGeom>
          <a:noFill/>
        </p:spPr>
        <p:txBody>
          <a:bodyPr wrap="none" lIns="0" rIns="0" tIns="0" bIns="0">
            <a:spAutoFit/>
          </a:bodyPr>
          <a:lstStyle/>
          <a:p>
            <a:r>
              <a:rPr sz="1055" b="0">
                <a:solidFill>
                  <a:srgbClr val="2E2E2E"/>
                </a:solidFill>
                <a:latin typeface="Calibri"/>
              </a:rPr>
              <a:t>Dentures' while 'Flexible Partial Dentures' gives up</a:t>
            </a:r>
          </a:p>
        </p:txBody>
      </p:sp>
      <p:pic>
        <p:nvPicPr>
          <p:cNvPr id="57" name="Picture 56" descr="lock.png"/>
          <p:cNvPicPr>
            <a:picLocks noChangeAspect="1"/>
          </p:cNvPicPr>
          <p:nvPr/>
        </p:nvPicPr>
        <p:blipFill>
          <a:blip r:embed="rId4"/>
          <a:stretch>
            <a:fillRect/>
          </a:stretch>
        </p:blipFill>
        <p:spPr>
          <a:xfrm>
            <a:off x="4517748" y="4726190"/>
            <a:ext cx="123551" cy="179710"/>
          </a:xfrm>
          <a:prstGeom prst="rect">
            <a:avLst/>
          </a:prstGeom>
        </p:spPr>
      </p:pic>
      <p:sp>
        <p:nvSpPr>
          <p:cNvPr id="58" name="TextBox 57"/>
          <p:cNvSpPr txBox="1"/>
          <p:nvPr/>
        </p:nvSpPr>
        <p:spPr>
          <a:xfrm>
            <a:off x="4678544" y="4735578"/>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59" name="TextBox 58"/>
          <p:cNvSpPr txBox="1"/>
          <p:nvPr/>
        </p:nvSpPr>
        <p:spPr>
          <a:xfrm>
            <a:off x="1743075" y="5788516"/>
            <a:ext cx="2544146" cy="179984"/>
          </a:xfrm>
          <a:prstGeom prst="rect">
            <a:avLst/>
          </a:prstGeom>
          <a:noFill/>
        </p:spPr>
        <p:txBody>
          <a:bodyPr wrap="none" lIns="0" rIns="0" tIns="0" bIns="0">
            <a:spAutoFit/>
          </a:bodyPr>
          <a:lstStyle/>
          <a:p>
            <a:r>
              <a:rPr sz="1055" b="0">
                <a:solidFill>
                  <a:srgbClr val="2E2E2E"/>
                </a:solidFill>
                <a:latin typeface="Calibri"/>
              </a:rPr>
              <a:t>Forecast outcome: the global market reaches</a:t>
            </a:r>
          </a:p>
        </p:txBody>
      </p:sp>
      <p:pic>
        <p:nvPicPr>
          <p:cNvPr id="60" name="Picture 59" descr="lock.png"/>
          <p:cNvPicPr>
            <a:picLocks noChangeAspect="1"/>
          </p:cNvPicPr>
          <p:nvPr/>
        </p:nvPicPr>
        <p:blipFill>
          <a:blip r:embed="rId4"/>
          <a:stretch>
            <a:fillRect/>
          </a:stretch>
        </p:blipFill>
        <p:spPr>
          <a:xfrm>
            <a:off x="4234303" y="5779128"/>
            <a:ext cx="123551" cy="179710"/>
          </a:xfrm>
          <a:prstGeom prst="rect">
            <a:avLst/>
          </a:prstGeom>
        </p:spPr>
      </p:pic>
      <p:sp>
        <p:nvSpPr>
          <p:cNvPr id="61" name="TextBox 60"/>
          <p:cNvSpPr txBox="1"/>
          <p:nvPr/>
        </p:nvSpPr>
        <p:spPr>
          <a:xfrm>
            <a:off x="4395098" y="5788516"/>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62" name="Picture 61" descr="lock.png"/>
          <p:cNvPicPr>
            <a:picLocks noChangeAspect="1"/>
          </p:cNvPicPr>
          <p:nvPr/>
        </p:nvPicPr>
        <p:blipFill>
          <a:blip r:embed="rId4"/>
          <a:stretch>
            <a:fillRect/>
          </a:stretch>
        </p:blipFill>
        <p:spPr>
          <a:xfrm>
            <a:off x="4977879" y="5779128"/>
            <a:ext cx="123551" cy="179710"/>
          </a:xfrm>
          <a:prstGeom prst="rect">
            <a:avLst/>
          </a:prstGeom>
        </p:spPr>
      </p:pic>
      <p:sp>
        <p:nvSpPr>
          <p:cNvPr id="63" name="TextBox 62"/>
          <p:cNvSpPr txBox="1"/>
          <p:nvPr/>
        </p:nvSpPr>
        <p:spPr>
          <a:xfrm>
            <a:off x="5138675" y="5788516"/>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64" name="Picture 63" descr="lock.png"/>
          <p:cNvPicPr>
            <a:picLocks noChangeAspect="1"/>
          </p:cNvPicPr>
          <p:nvPr/>
        </p:nvPicPr>
        <p:blipFill>
          <a:blip r:embed="rId4"/>
          <a:stretch>
            <a:fillRect/>
          </a:stretch>
        </p:blipFill>
        <p:spPr>
          <a:xfrm>
            <a:off x="6523507" y="5779128"/>
            <a:ext cx="123551" cy="179710"/>
          </a:xfrm>
          <a:prstGeom prst="rect">
            <a:avLst/>
          </a:prstGeom>
        </p:spPr>
      </p:pic>
      <p:sp>
        <p:nvSpPr>
          <p:cNvPr id="65" name="TextBox 64"/>
          <p:cNvSpPr txBox="1"/>
          <p:nvPr/>
        </p:nvSpPr>
        <p:spPr>
          <a:xfrm>
            <a:off x="6684303" y="5788516"/>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66" name="Picture 65" descr="lock.png"/>
          <p:cNvPicPr>
            <a:picLocks noChangeAspect="1"/>
          </p:cNvPicPr>
          <p:nvPr/>
        </p:nvPicPr>
        <p:blipFill>
          <a:blip r:embed="rId4"/>
          <a:stretch>
            <a:fillRect/>
          </a:stretch>
        </p:blipFill>
        <p:spPr>
          <a:xfrm>
            <a:off x="8430610" y="5779128"/>
            <a:ext cx="123551" cy="179710"/>
          </a:xfrm>
          <a:prstGeom prst="rect">
            <a:avLst/>
          </a:prstGeom>
        </p:spPr>
      </p:pic>
      <p:sp>
        <p:nvSpPr>
          <p:cNvPr id="67" name="TextBox 66"/>
          <p:cNvSpPr txBox="1"/>
          <p:nvPr/>
        </p:nvSpPr>
        <p:spPr>
          <a:xfrm>
            <a:off x="8591406" y="5788516"/>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68" name="Picture 67" descr="lock.png"/>
          <p:cNvPicPr>
            <a:picLocks noChangeAspect="1"/>
          </p:cNvPicPr>
          <p:nvPr/>
        </p:nvPicPr>
        <p:blipFill>
          <a:blip r:embed="rId4"/>
          <a:stretch>
            <a:fillRect/>
          </a:stretch>
        </p:blipFill>
        <p:spPr>
          <a:xfrm>
            <a:off x="10217204" y="5779128"/>
            <a:ext cx="123551" cy="179710"/>
          </a:xfrm>
          <a:prstGeom prst="rect">
            <a:avLst/>
          </a:prstGeom>
        </p:spPr>
      </p:pic>
      <p:sp>
        <p:nvSpPr>
          <p:cNvPr id="69" name="TextBox 68"/>
          <p:cNvSpPr txBox="1"/>
          <p:nvPr/>
        </p:nvSpPr>
        <p:spPr>
          <a:xfrm>
            <a:off x="10378000" y="5788516"/>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70" name="TextBox 69"/>
          <p:cNvSpPr txBox="1"/>
          <p:nvPr/>
        </p:nvSpPr>
        <p:spPr>
          <a:xfrm>
            <a:off x="1743075" y="5949450"/>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71" name="Picture 70" descr="lock.png"/>
          <p:cNvPicPr>
            <a:picLocks noChangeAspect="1"/>
          </p:cNvPicPr>
          <p:nvPr/>
        </p:nvPicPr>
        <p:blipFill>
          <a:blip r:embed="rId4"/>
          <a:stretch>
            <a:fillRect/>
          </a:stretch>
        </p:blipFill>
        <p:spPr>
          <a:xfrm>
            <a:off x="3255209" y="5940062"/>
            <a:ext cx="123551" cy="179710"/>
          </a:xfrm>
          <a:prstGeom prst="rect">
            <a:avLst/>
          </a:prstGeom>
        </p:spPr>
      </p:pic>
      <p:sp>
        <p:nvSpPr>
          <p:cNvPr id="72" name="TextBox 71"/>
          <p:cNvSpPr txBox="1"/>
          <p:nvPr/>
        </p:nvSpPr>
        <p:spPr>
          <a:xfrm>
            <a:off x="3416005" y="5949450"/>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530225"/>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9743330"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global dataset 4 product type lines, 4 end user routes and 6 regions at</a:t>
            </a:r>
          </a:p>
        </p:txBody>
      </p:sp>
      <p:pic>
        <p:nvPicPr>
          <p:cNvPr id="59" name="Picture 58" descr="lock.png"/>
          <p:cNvPicPr>
            <a:picLocks noChangeAspect="1"/>
          </p:cNvPicPr>
          <p:nvPr/>
        </p:nvPicPr>
        <p:blipFill>
          <a:blip r:embed="rId4"/>
          <a:stretch>
            <a:fillRect/>
          </a:stretch>
        </p:blipFill>
        <p:spPr>
          <a:xfrm>
            <a:off x="9862832" y="1059691"/>
            <a:ext cx="128699" cy="187198"/>
          </a:xfrm>
          <a:prstGeom prst="rect">
            <a:avLst/>
          </a:prstGeom>
        </p:spPr>
      </p:pic>
      <p:sp>
        <p:nvSpPr>
          <p:cNvPr id="60" name="TextBox 59"/>
          <p:cNvSpPr txBox="1"/>
          <p:nvPr/>
        </p:nvSpPr>
        <p:spPr>
          <a:xfrm>
            <a:off x="10030328"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60746"/>
            <a:ext cx="1746324" cy="186689"/>
          </a:xfrm>
          <a:prstGeom prst="rect">
            <a:avLst/>
          </a:prstGeom>
          <a:noFill/>
        </p:spPr>
        <p:txBody>
          <a:bodyPr wrap="none" lIns="0" rIns="0" tIns="0" bIns="0">
            <a:spAutoFit/>
          </a:bodyPr>
          <a:lstStyle/>
          <a:p>
            <a:r>
              <a:rPr sz="1100" b="0">
                <a:solidFill>
                  <a:srgbClr val="2E2E2E"/>
                </a:solidFill>
                <a:latin typeface="Calibri"/>
              </a:rPr>
              <a:t>▸ Assessed moderate to high.</a:t>
            </a:r>
          </a:p>
        </p:txBody>
      </p:sp>
      <p:sp>
        <p:nvSpPr>
          <p:cNvPr id="73" name="TextBox 72"/>
          <p:cNvSpPr txBox="1"/>
          <p:nvPr/>
        </p:nvSpPr>
        <p:spPr>
          <a:xfrm>
            <a:off x="2657475" y="3028386"/>
            <a:ext cx="2071290" cy="186689"/>
          </a:xfrm>
          <a:prstGeom prst="rect">
            <a:avLst/>
          </a:prstGeom>
          <a:noFill/>
        </p:spPr>
        <p:txBody>
          <a:bodyPr wrap="none" lIns="0" rIns="0" tIns="0" bIns="0">
            <a:spAutoFit/>
          </a:bodyPr>
          <a:lstStyle/>
          <a:p>
            <a:r>
              <a:rPr sz="1100" b="0">
                <a:solidFill>
                  <a:srgbClr val="2E2E2E"/>
                </a:solidFill>
                <a:latin typeface="Calibri"/>
              </a:rPr>
              <a:t>Demand routes through 4 end user</a:t>
            </a:r>
          </a:p>
        </p:txBody>
      </p:sp>
      <p:sp>
        <p:nvSpPr>
          <p:cNvPr id="74" name="TextBox 73"/>
          <p:cNvSpPr txBox="1"/>
          <p:nvPr/>
        </p:nvSpPr>
        <p:spPr>
          <a:xfrm>
            <a:off x="2657475" y="3196026"/>
            <a:ext cx="1696119" cy="186689"/>
          </a:xfrm>
          <a:prstGeom prst="rect">
            <a:avLst/>
          </a:prstGeom>
          <a:noFill/>
        </p:spPr>
        <p:txBody>
          <a:bodyPr wrap="none" lIns="0" rIns="0" tIns="0" bIns="0">
            <a:spAutoFit/>
          </a:bodyPr>
          <a:lstStyle/>
          <a:p>
            <a:r>
              <a:rPr sz="1100" b="0">
                <a:solidFill>
                  <a:srgbClr val="2E2E2E"/>
                </a:solidFill>
                <a:latin typeface="Calibri"/>
              </a:rPr>
              <a:t>channels led by 'Academic &amp;</a:t>
            </a:r>
          </a:p>
        </p:txBody>
      </p:sp>
      <p:sp>
        <p:nvSpPr>
          <p:cNvPr id="75" name="TextBox 74"/>
          <p:cNvSpPr txBox="1"/>
          <p:nvPr/>
        </p:nvSpPr>
        <p:spPr>
          <a:xfrm>
            <a:off x="2657475" y="3363666"/>
            <a:ext cx="1842641" cy="186689"/>
          </a:xfrm>
          <a:prstGeom prst="rect">
            <a:avLst/>
          </a:prstGeom>
          <a:noFill/>
        </p:spPr>
        <p:txBody>
          <a:bodyPr wrap="none" lIns="0" rIns="0" tIns="0" bIns="0">
            <a:spAutoFit/>
          </a:bodyPr>
          <a:lstStyle/>
          <a:p>
            <a:r>
              <a:rPr sz="1100" b="0">
                <a:solidFill>
                  <a:srgbClr val="2E2E2E"/>
                </a:solidFill>
                <a:latin typeface="Calibri"/>
              </a:rPr>
              <a:t>Teaching Dental Institutions' at</a:t>
            </a:r>
          </a:p>
        </p:txBody>
      </p:sp>
      <p:pic>
        <p:nvPicPr>
          <p:cNvPr id="76" name="Picture 75" descr="lock.png"/>
          <p:cNvPicPr>
            <a:picLocks noChangeAspect="1"/>
          </p:cNvPicPr>
          <p:nvPr/>
        </p:nvPicPr>
        <p:blipFill>
          <a:blip r:embed="rId4"/>
          <a:stretch>
            <a:fillRect/>
          </a:stretch>
        </p:blipFill>
        <p:spPr>
          <a:xfrm>
            <a:off x="4448167" y="3353887"/>
            <a:ext cx="128699" cy="187198"/>
          </a:xfrm>
          <a:prstGeom prst="rect">
            <a:avLst/>
          </a:prstGeom>
        </p:spPr>
      </p:pic>
      <p:sp>
        <p:nvSpPr>
          <p:cNvPr id="77" name="TextBox 76"/>
          <p:cNvSpPr txBox="1"/>
          <p:nvPr/>
        </p:nvSpPr>
        <p:spPr>
          <a:xfrm>
            <a:off x="4615663" y="3363666"/>
            <a:ext cx="111125" cy="186689"/>
          </a:xfrm>
          <a:prstGeom prst="rect">
            <a:avLst/>
          </a:prstGeom>
          <a:noFill/>
        </p:spPr>
        <p:txBody>
          <a:bodyPr wrap="none" lIns="0" rIns="0" tIns="0" bIns="0">
            <a:spAutoFit/>
          </a:bodyPr>
          <a:lstStyle/>
          <a:p>
            <a:r>
              <a:rPr sz="1100" b="0">
                <a:solidFill>
                  <a:srgbClr val="2E2E2E"/>
                </a:solidFill>
                <a:latin typeface="Calibri"/>
              </a:rPr>
              <a:t>,</a:t>
            </a:r>
          </a:p>
        </p:txBody>
      </p:sp>
      <p:sp>
        <p:nvSpPr>
          <p:cNvPr id="78" name="TextBox 77"/>
          <p:cNvSpPr txBox="1"/>
          <p:nvPr/>
        </p:nvSpPr>
        <p:spPr>
          <a:xfrm>
            <a:off x="2657475" y="3531306"/>
            <a:ext cx="1487388" cy="186689"/>
          </a:xfrm>
          <a:prstGeom prst="rect">
            <a:avLst/>
          </a:prstGeom>
          <a:noFill/>
        </p:spPr>
        <p:txBody>
          <a:bodyPr wrap="none" lIns="0" rIns="0" tIns="0" bIns="0">
            <a:spAutoFit/>
          </a:bodyPr>
          <a:lstStyle/>
          <a:p>
            <a:r>
              <a:rPr sz="1100" b="0">
                <a:solidFill>
                  <a:srgbClr val="2E2E2E"/>
                </a:solidFill>
                <a:latin typeface="Calibri"/>
              </a:rPr>
              <a:t>giving large buyers scale.</a:t>
            </a:r>
          </a:p>
        </p:txBody>
      </p:sp>
      <p:sp>
        <p:nvSpPr>
          <p:cNvPr id="79" name="TextBox 78"/>
          <p:cNvSpPr txBox="1"/>
          <p:nvPr/>
        </p:nvSpPr>
        <p:spPr>
          <a:xfrm>
            <a:off x="2657475" y="3900000"/>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80" name="TextBox 79"/>
          <p:cNvSpPr txBox="1"/>
          <p:nvPr/>
        </p:nvSpPr>
        <p:spPr>
          <a:xfrm>
            <a:off x="2657475" y="4067640"/>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81" name="Picture 80" descr="lock.png"/>
          <p:cNvPicPr>
            <a:picLocks noChangeAspect="1"/>
          </p:cNvPicPr>
          <p:nvPr/>
        </p:nvPicPr>
        <p:blipFill>
          <a:blip r:embed="rId4"/>
          <a:stretch>
            <a:fillRect/>
          </a:stretch>
        </p:blipFill>
        <p:spPr>
          <a:xfrm>
            <a:off x="3101372" y="4057861"/>
            <a:ext cx="128699" cy="187198"/>
          </a:xfrm>
          <a:prstGeom prst="rect">
            <a:avLst/>
          </a:prstGeom>
        </p:spPr>
      </p:pic>
      <p:sp>
        <p:nvSpPr>
          <p:cNvPr id="82" name="TextBox 81"/>
          <p:cNvSpPr txBox="1"/>
          <p:nvPr/>
        </p:nvSpPr>
        <p:spPr>
          <a:xfrm>
            <a:off x="3268868" y="4067640"/>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3" name="TextBox 82"/>
          <p:cNvSpPr txBox="1"/>
          <p:nvPr/>
        </p:nvSpPr>
        <p:spPr>
          <a:xfrm>
            <a:off x="2657475" y="4235280"/>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4" name="Picture 83" descr="lock.png"/>
          <p:cNvPicPr>
            <a:picLocks noChangeAspect="1"/>
          </p:cNvPicPr>
          <p:nvPr/>
        </p:nvPicPr>
        <p:blipFill>
          <a:blip r:embed="rId4"/>
          <a:stretch>
            <a:fillRect/>
          </a:stretch>
        </p:blipFill>
        <p:spPr>
          <a:xfrm>
            <a:off x="3238070" y="4225501"/>
            <a:ext cx="128699" cy="187198"/>
          </a:xfrm>
          <a:prstGeom prst="rect">
            <a:avLst/>
          </a:prstGeom>
        </p:spPr>
      </p:pic>
      <p:sp>
        <p:nvSpPr>
          <p:cNvPr id="85" name="TextBox 84"/>
          <p:cNvSpPr txBox="1"/>
          <p:nvPr/>
        </p:nvSpPr>
        <p:spPr>
          <a:xfrm>
            <a:off x="3405566" y="423528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6" name="TextBox 85"/>
          <p:cNvSpPr txBox="1"/>
          <p:nvPr/>
        </p:nvSpPr>
        <p:spPr>
          <a:xfrm>
            <a:off x="5038725" y="2932554"/>
            <a:ext cx="1848916" cy="186689"/>
          </a:xfrm>
          <a:prstGeom prst="rect">
            <a:avLst/>
          </a:prstGeom>
          <a:noFill/>
        </p:spPr>
        <p:txBody>
          <a:bodyPr wrap="none" lIns="0" rIns="0" tIns="0" bIns="0">
            <a:spAutoFit/>
          </a:bodyPr>
          <a:lstStyle/>
          <a:p>
            <a:r>
              <a:rPr sz="1100" b="0">
                <a:solidFill>
                  <a:srgbClr val="2E2E2E"/>
                </a:solidFill>
                <a:latin typeface="Calibri"/>
              </a:rPr>
              <a:t>▸ Assessed moderate to high. 4</a:t>
            </a:r>
          </a:p>
        </p:txBody>
      </p:sp>
      <p:sp>
        <p:nvSpPr>
          <p:cNvPr id="87" name="TextBox 86"/>
          <p:cNvSpPr txBox="1"/>
          <p:nvPr/>
        </p:nvSpPr>
        <p:spPr>
          <a:xfrm>
            <a:off x="5038725" y="3100194"/>
            <a:ext cx="2006079" cy="186689"/>
          </a:xfrm>
          <a:prstGeom prst="rect">
            <a:avLst/>
          </a:prstGeom>
          <a:noFill/>
        </p:spPr>
        <p:txBody>
          <a:bodyPr wrap="none" lIns="0" rIns="0" tIns="0" bIns="0">
            <a:spAutoFit/>
          </a:bodyPr>
          <a:lstStyle/>
          <a:p>
            <a:r>
              <a:rPr sz="1100" b="0">
                <a:solidFill>
                  <a:srgbClr val="2E2E2E"/>
                </a:solidFill>
                <a:latin typeface="Calibri"/>
              </a:rPr>
              <a:t>product type lines compete inside</a:t>
            </a:r>
          </a:p>
        </p:txBody>
      </p:sp>
      <p:sp>
        <p:nvSpPr>
          <p:cNvPr id="88" name="TextBox 87"/>
          <p:cNvSpPr txBox="1"/>
          <p:nvPr/>
        </p:nvSpPr>
        <p:spPr>
          <a:xfrm>
            <a:off x="5038725" y="3267834"/>
            <a:ext cx="1779066" cy="186689"/>
          </a:xfrm>
          <a:prstGeom prst="rect">
            <a:avLst/>
          </a:prstGeom>
          <a:noFill/>
        </p:spPr>
        <p:txBody>
          <a:bodyPr wrap="none" lIns="0" rIns="0" tIns="0" bIns="0">
            <a:spAutoFit/>
          </a:bodyPr>
          <a:lstStyle/>
          <a:p>
            <a:r>
              <a:rPr sz="1100" b="0">
                <a:solidFill>
                  <a:srgbClr val="2E2E2E"/>
                </a:solidFill>
                <a:latin typeface="Calibri"/>
              </a:rPr>
              <a:t>the segment; the leader holds</a:t>
            </a:r>
          </a:p>
        </p:txBody>
      </p:sp>
      <p:pic>
        <p:nvPicPr>
          <p:cNvPr id="89" name="Picture 88" descr="lock.png"/>
          <p:cNvPicPr>
            <a:picLocks noChangeAspect="1"/>
          </p:cNvPicPr>
          <p:nvPr/>
        </p:nvPicPr>
        <p:blipFill>
          <a:blip r:embed="rId4"/>
          <a:stretch>
            <a:fillRect/>
          </a:stretch>
        </p:blipFill>
        <p:spPr>
          <a:xfrm>
            <a:off x="6765843" y="3258055"/>
            <a:ext cx="128699" cy="187198"/>
          </a:xfrm>
          <a:prstGeom prst="rect">
            <a:avLst/>
          </a:prstGeom>
        </p:spPr>
      </p:pic>
      <p:sp>
        <p:nvSpPr>
          <p:cNvPr id="90" name="TextBox 89"/>
          <p:cNvSpPr txBox="1"/>
          <p:nvPr/>
        </p:nvSpPr>
        <p:spPr>
          <a:xfrm>
            <a:off x="6933339" y="326783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1" name="TextBox 90"/>
          <p:cNvSpPr txBox="1"/>
          <p:nvPr/>
        </p:nvSpPr>
        <p:spPr>
          <a:xfrm>
            <a:off x="5038725" y="3715785"/>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92" name="TextBox 91"/>
          <p:cNvSpPr txBox="1"/>
          <p:nvPr/>
        </p:nvSpPr>
        <p:spPr>
          <a:xfrm>
            <a:off x="5038725" y="3883425"/>
            <a:ext cx="1844550" cy="186689"/>
          </a:xfrm>
          <a:prstGeom prst="rect">
            <a:avLst/>
          </a:prstGeom>
          <a:noFill/>
        </p:spPr>
        <p:txBody>
          <a:bodyPr wrap="none" lIns="0" rIns="0" tIns="0" bIns="0">
            <a:spAutoFit/>
          </a:bodyPr>
          <a:lstStyle/>
          <a:p>
            <a:r>
              <a:rPr sz="1100" b="0">
                <a:solidFill>
                  <a:srgbClr val="2E2E2E"/>
                </a:solidFill>
                <a:latin typeface="Calibri"/>
              </a:rPr>
              <a:t>'Cast Metal Partial Dentures' at</a:t>
            </a:r>
          </a:p>
        </p:txBody>
      </p:sp>
      <p:pic>
        <p:nvPicPr>
          <p:cNvPr id="93" name="Picture 92" descr="lock.png"/>
          <p:cNvPicPr>
            <a:picLocks noChangeAspect="1"/>
          </p:cNvPicPr>
          <p:nvPr/>
        </p:nvPicPr>
        <p:blipFill>
          <a:blip r:embed="rId4"/>
          <a:stretch>
            <a:fillRect/>
          </a:stretch>
        </p:blipFill>
        <p:spPr>
          <a:xfrm>
            <a:off x="6831327" y="3873646"/>
            <a:ext cx="128699" cy="187198"/>
          </a:xfrm>
          <a:prstGeom prst="rect">
            <a:avLst/>
          </a:prstGeom>
        </p:spPr>
      </p:pic>
      <p:sp>
        <p:nvSpPr>
          <p:cNvPr id="94" name="TextBox 93"/>
          <p:cNvSpPr txBox="1"/>
          <p:nvPr/>
        </p:nvSpPr>
        <p:spPr>
          <a:xfrm>
            <a:off x="5038725" y="4051065"/>
            <a:ext cx="2107034" cy="186689"/>
          </a:xfrm>
          <a:prstGeom prst="rect">
            <a:avLst/>
          </a:prstGeom>
          <a:noFill/>
        </p:spPr>
        <p:txBody>
          <a:bodyPr wrap="none" lIns="0" rIns="0" tIns="0" bIns="0">
            <a:spAutoFit/>
          </a:bodyPr>
          <a:lstStyle/>
          <a:p>
            <a:r>
              <a:rPr sz="1100" b="0">
                <a:solidFill>
                  <a:srgbClr val="2E2E2E"/>
                </a:solidFill>
                <a:latin typeface="Calibri"/>
              </a:rPr>
              <a:t>against 'Flexible Partial Dentures' at</a:t>
            </a:r>
          </a:p>
        </p:txBody>
      </p:sp>
      <p:pic>
        <p:nvPicPr>
          <p:cNvPr id="95" name="Picture 94" descr="lock.png"/>
          <p:cNvPicPr>
            <a:picLocks noChangeAspect="1"/>
          </p:cNvPicPr>
          <p:nvPr/>
        </p:nvPicPr>
        <p:blipFill>
          <a:blip r:embed="rId4"/>
          <a:stretch>
            <a:fillRect/>
          </a:stretch>
        </p:blipFill>
        <p:spPr>
          <a:xfrm>
            <a:off x="5025257" y="4208926"/>
            <a:ext cx="128699" cy="187198"/>
          </a:xfrm>
          <a:prstGeom prst="rect">
            <a:avLst/>
          </a:prstGeom>
        </p:spPr>
      </p:pic>
      <p:sp>
        <p:nvSpPr>
          <p:cNvPr id="96" name="TextBox 95"/>
          <p:cNvSpPr txBox="1"/>
          <p:nvPr/>
        </p:nvSpPr>
        <p:spPr>
          <a:xfrm>
            <a:off x="5192753" y="421870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7" name="TextBox 96"/>
          <p:cNvSpPr txBox="1"/>
          <p:nvPr/>
        </p:nvSpPr>
        <p:spPr>
          <a:xfrm>
            <a:off x="5038725" y="4575387"/>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8" name="Picture 97" descr="lock.png"/>
          <p:cNvPicPr>
            <a:picLocks noChangeAspect="1"/>
          </p:cNvPicPr>
          <p:nvPr/>
        </p:nvPicPr>
        <p:blipFill>
          <a:blip r:embed="rId4"/>
          <a:stretch>
            <a:fillRect/>
          </a:stretch>
        </p:blipFill>
        <p:spPr>
          <a:xfrm>
            <a:off x="5025257" y="4733248"/>
            <a:ext cx="128699" cy="187198"/>
          </a:xfrm>
          <a:prstGeom prst="rect">
            <a:avLst/>
          </a:prstGeom>
        </p:spPr>
      </p:pic>
      <p:sp>
        <p:nvSpPr>
          <p:cNvPr id="99" name="TextBox 98"/>
          <p:cNvSpPr txBox="1"/>
          <p:nvPr/>
        </p:nvSpPr>
        <p:spPr>
          <a:xfrm>
            <a:off x="5192753" y="4743027"/>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100" name="TextBox 99"/>
          <p:cNvSpPr txBox="1"/>
          <p:nvPr/>
        </p:nvSpPr>
        <p:spPr>
          <a:xfrm>
            <a:off x="5038725" y="4910667"/>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1" name="TextBox 100"/>
          <p:cNvSpPr txBox="1"/>
          <p:nvPr/>
        </p:nvSpPr>
        <p:spPr>
          <a:xfrm>
            <a:off x="7419975" y="2860746"/>
            <a:ext cx="1896119" cy="186689"/>
          </a:xfrm>
          <a:prstGeom prst="rect">
            <a:avLst/>
          </a:prstGeom>
          <a:noFill/>
        </p:spPr>
        <p:txBody>
          <a:bodyPr wrap="none" lIns="0" rIns="0" tIns="0" bIns="0">
            <a:spAutoFit/>
          </a:bodyPr>
          <a:lstStyle/>
          <a:p>
            <a:r>
              <a:rPr sz="1100" b="0">
                <a:solidFill>
                  <a:srgbClr val="2E2E2E"/>
                </a:solidFill>
                <a:latin typeface="Calibri"/>
              </a:rPr>
              <a:t>▸ Assessed high. 'Flexible Partial</a:t>
            </a:r>
          </a:p>
        </p:txBody>
      </p:sp>
      <p:sp>
        <p:nvSpPr>
          <p:cNvPr id="102" name="TextBox 101"/>
          <p:cNvSpPr txBox="1"/>
          <p:nvPr/>
        </p:nvSpPr>
        <p:spPr>
          <a:xfrm>
            <a:off x="7419975" y="3028386"/>
            <a:ext cx="945505" cy="186689"/>
          </a:xfrm>
          <a:prstGeom prst="rect">
            <a:avLst/>
          </a:prstGeom>
          <a:noFill/>
        </p:spPr>
        <p:txBody>
          <a:bodyPr wrap="none" lIns="0" rIns="0" tIns="0" bIns="0">
            <a:spAutoFit/>
          </a:bodyPr>
          <a:lstStyle/>
          <a:p>
            <a:r>
              <a:rPr sz="1100" b="0">
                <a:solidFill>
                  <a:srgbClr val="2E2E2E"/>
                </a:solidFill>
                <a:latin typeface="Calibri"/>
              </a:rPr>
              <a:t>Dentures' loses</a:t>
            </a:r>
          </a:p>
        </p:txBody>
      </p:sp>
      <p:pic>
        <p:nvPicPr>
          <p:cNvPr id="103" name="Picture 102" descr="lock.png"/>
          <p:cNvPicPr>
            <a:picLocks noChangeAspect="1"/>
          </p:cNvPicPr>
          <p:nvPr/>
        </p:nvPicPr>
        <p:blipFill>
          <a:blip r:embed="rId4"/>
          <a:stretch>
            <a:fillRect/>
          </a:stretch>
        </p:blipFill>
        <p:spPr>
          <a:xfrm>
            <a:off x="8313531" y="3018607"/>
            <a:ext cx="128699" cy="187198"/>
          </a:xfrm>
          <a:prstGeom prst="rect">
            <a:avLst/>
          </a:prstGeom>
        </p:spPr>
      </p:pic>
      <p:sp>
        <p:nvSpPr>
          <p:cNvPr id="104" name="TextBox 103"/>
          <p:cNvSpPr txBox="1"/>
          <p:nvPr/>
        </p:nvSpPr>
        <p:spPr>
          <a:xfrm>
            <a:off x="8481027" y="3028386"/>
            <a:ext cx="933772" cy="186689"/>
          </a:xfrm>
          <a:prstGeom prst="rect">
            <a:avLst/>
          </a:prstGeom>
          <a:noFill/>
        </p:spPr>
        <p:txBody>
          <a:bodyPr wrap="none" lIns="0" rIns="0" tIns="0" bIns="0">
            <a:spAutoFit/>
          </a:bodyPr>
          <a:lstStyle/>
          <a:p>
            <a:r>
              <a:rPr sz="1100" b="0">
                <a:solidFill>
                  <a:srgbClr val="2E2E2E"/>
                </a:solidFill>
                <a:latin typeface="Calibri"/>
              </a:rPr>
              <a:t>BPS of share to</a:t>
            </a:r>
          </a:p>
        </p:txBody>
      </p:sp>
      <p:sp>
        <p:nvSpPr>
          <p:cNvPr id="105" name="TextBox 104"/>
          <p:cNvSpPr txBox="1"/>
          <p:nvPr/>
        </p:nvSpPr>
        <p:spPr>
          <a:xfrm>
            <a:off x="7419975" y="3196026"/>
            <a:ext cx="1842641" cy="186689"/>
          </a:xfrm>
          <a:prstGeom prst="rect">
            <a:avLst/>
          </a:prstGeom>
          <a:noFill/>
        </p:spPr>
        <p:txBody>
          <a:bodyPr wrap="none" lIns="0" rIns="0" tIns="0" bIns="0">
            <a:spAutoFit/>
          </a:bodyPr>
          <a:lstStyle/>
          <a:p>
            <a:r>
              <a:rPr sz="1100" b="0">
                <a:solidFill>
                  <a:srgbClr val="2E2E2E"/>
                </a:solidFill>
                <a:latin typeface="Calibri"/>
              </a:rPr>
              <a:t>'Cast Metal Partial Dentures' (+</a:t>
            </a:r>
          </a:p>
        </p:txBody>
      </p:sp>
      <p:pic>
        <p:nvPicPr>
          <p:cNvPr id="106" name="Picture 105" descr="lock.png"/>
          <p:cNvPicPr>
            <a:picLocks noChangeAspect="1"/>
          </p:cNvPicPr>
          <p:nvPr/>
        </p:nvPicPr>
        <p:blipFill>
          <a:blip r:embed="rId4"/>
          <a:stretch>
            <a:fillRect/>
          </a:stretch>
        </p:blipFill>
        <p:spPr>
          <a:xfrm>
            <a:off x="9210667" y="3186247"/>
            <a:ext cx="128699" cy="187198"/>
          </a:xfrm>
          <a:prstGeom prst="rect">
            <a:avLst/>
          </a:prstGeom>
        </p:spPr>
      </p:pic>
      <p:sp>
        <p:nvSpPr>
          <p:cNvPr id="107" name="TextBox 106"/>
          <p:cNvSpPr txBox="1"/>
          <p:nvPr/>
        </p:nvSpPr>
        <p:spPr>
          <a:xfrm>
            <a:off x="7419975" y="3363666"/>
            <a:ext cx="2035274" cy="186689"/>
          </a:xfrm>
          <a:prstGeom prst="rect">
            <a:avLst/>
          </a:prstGeom>
          <a:noFill/>
        </p:spPr>
        <p:txBody>
          <a:bodyPr wrap="none" lIns="0" rIns="0" tIns="0" bIns="0">
            <a:spAutoFit/>
          </a:bodyPr>
          <a:lstStyle/>
          <a:p>
            <a:r>
              <a:rPr sz="1100" b="0">
                <a:solidFill>
                  <a:srgbClr val="2E2E2E"/>
                </a:solidFill>
                <a:latin typeface="Calibri"/>
              </a:rPr>
              <a:t>BPS) by 2036 substitution is visible</a:t>
            </a:r>
          </a:p>
        </p:txBody>
      </p:sp>
      <p:sp>
        <p:nvSpPr>
          <p:cNvPr id="108" name="TextBox 107"/>
          <p:cNvSpPr txBox="1"/>
          <p:nvPr/>
        </p:nvSpPr>
        <p:spPr>
          <a:xfrm>
            <a:off x="7419975" y="3531306"/>
            <a:ext cx="904304" cy="186689"/>
          </a:xfrm>
          <a:prstGeom prst="rect">
            <a:avLst/>
          </a:prstGeom>
          <a:noFill/>
        </p:spPr>
        <p:txBody>
          <a:bodyPr wrap="none" lIns="0" rIns="0" tIns="0" bIns="0">
            <a:spAutoFit/>
          </a:bodyPr>
          <a:lstStyle/>
          <a:p>
            <a:r>
              <a:rPr sz="1100" b="0">
                <a:solidFill>
                  <a:srgbClr val="2E2E2E"/>
                </a:solidFill>
                <a:latin typeface="Calibri"/>
              </a:rPr>
              <a:t>inside the mix.</a:t>
            </a:r>
          </a:p>
        </p:txBody>
      </p:sp>
      <p:sp>
        <p:nvSpPr>
          <p:cNvPr id="109" name="TextBox 108"/>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10" name="Picture 109" descr="lock.png"/>
          <p:cNvPicPr>
            <a:picLocks noChangeAspect="1"/>
          </p:cNvPicPr>
          <p:nvPr/>
        </p:nvPicPr>
        <p:blipFill>
          <a:blip r:embed="rId4"/>
          <a:stretch>
            <a:fillRect/>
          </a:stretch>
        </p:blipFill>
        <p:spPr>
          <a:xfrm>
            <a:off x="8917440" y="3885306"/>
            <a:ext cx="123551" cy="179710"/>
          </a:xfrm>
          <a:prstGeom prst="rect">
            <a:avLst/>
          </a:prstGeom>
        </p:spPr>
      </p:pic>
      <p:sp>
        <p:nvSpPr>
          <p:cNvPr id="111" name="TextBox 110"/>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2" name="Picture 111" descr="lock.png"/>
          <p:cNvPicPr>
            <a:picLocks noChangeAspect="1"/>
          </p:cNvPicPr>
          <p:nvPr/>
        </p:nvPicPr>
        <p:blipFill>
          <a:blip r:embed="rId4"/>
          <a:stretch>
            <a:fillRect/>
          </a:stretch>
        </p:blipFill>
        <p:spPr>
          <a:xfrm>
            <a:off x="9206555" y="3885306"/>
            <a:ext cx="123551" cy="179710"/>
          </a:xfrm>
          <a:prstGeom prst="rect">
            <a:avLst/>
          </a:prstGeom>
        </p:spPr>
      </p:pic>
      <p:sp>
        <p:nvSpPr>
          <p:cNvPr id="113" name="TextBox 112"/>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4" name="TextBox 113"/>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5" name="Picture 114" descr="lock.png"/>
          <p:cNvPicPr>
            <a:picLocks noChangeAspect="1"/>
          </p:cNvPicPr>
          <p:nvPr/>
        </p:nvPicPr>
        <p:blipFill>
          <a:blip r:embed="rId4"/>
          <a:stretch>
            <a:fillRect/>
          </a:stretch>
        </p:blipFill>
        <p:spPr>
          <a:xfrm>
            <a:off x="8622399" y="4383071"/>
            <a:ext cx="128699" cy="187198"/>
          </a:xfrm>
          <a:prstGeom prst="rect">
            <a:avLst/>
          </a:prstGeom>
        </p:spPr>
      </p:pic>
      <p:sp>
        <p:nvSpPr>
          <p:cNvPr id="116" name="TextBox 115"/>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7" name="TextBox 116"/>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8" name="TextBox 117"/>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9" name="TextBox 118"/>
          <p:cNvSpPr txBox="1"/>
          <p:nvPr/>
        </p:nvSpPr>
        <p:spPr>
          <a:xfrm>
            <a:off x="9801225" y="2848734"/>
            <a:ext cx="1989162" cy="186689"/>
          </a:xfrm>
          <a:prstGeom prst="rect">
            <a:avLst/>
          </a:prstGeom>
          <a:noFill/>
        </p:spPr>
        <p:txBody>
          <a:bodyPr wrap="none" lIns="0" rIns="0" tIns="0" bIns="0">
            <a:spAutoFit/>
          </a:bodyPr>
          <a:lstStyle/>
          <a:p>
            <a:r>
              <a:rPr sz="1100" b="0">
                <a:solidFill>
                  <a:srgbClr val="2E2E2E"/>
                </a:solidFill>
                <a:latin typeface="Calibri"/>
              </a:rPr>
              <a:t>▸ Assessed moderate to high. The</a:t>
            </a:r>
          </a:p>
        </p:txBody>
      </p:sp>
      <p:sp>
        <p:nvSpPr>
          <p:cNvPr id="120" name="TextBox 119"/>
          <p:cNvSpPr txBox="1"/>
          <p:nvPr/>
        </p:nvSpPr>
        <p:spPr>
          <a:xfrm>
            <a:off x="9801225" y="3016374"/>
            <a:ext cx="1003349" cy="186689"/>
          </a:xfrm>
          <a:prstGeom prst="rect">
            <a:avLst/>
          </a:prstGeom>
          <a:noFill/>
        </p:spPr>
        <p:txBody>
          <a:bodyPr wrap="none" lIns="0" rIns="0" tIns="0" bIns="0">
            <a:spAutoFit/>
          </a:bodyPr>
          <a:lstStyle/>
          <a:p>
            <a:r>
              <a:rPr sz="1100" b="0">
                <a:solidFill>
                  <a:srgbClr val="2E2E2E"/>
                </a:solidFill>
                <a:latin typeface="Calibri"/>
              </a:rPr>
              <a:t>market grows at</a:t>
            </a:r>
          </a:p>
        </p:txBody>
      </p:sp>
      <p:pic>
        <p:nvPicPr>
          <p:cNvPr id="121" name="Picture 120" descr="lock.png"/>
          <p:cNvPicPr>
            <a:picLocks noChangeAspect="1"/>
          </p:cNvPicPr>
          <p:nvPr/>
        </p:nvPicPr>
        <p:blipFill>
          <a:blip r:embed="rId4"/>
          <a:stretch>
            <a:fillRect/>
          </a:stretch>
        </p:blipFill>
        <p:spPr>
          <a:xfrm>
            <a:off x="10752626" y="3006595"/>
            <a:ext cx="128699" cy="187198"/>
          </a:xfrm>
          <a:prstGeom prst="rect">
            <a:avLst/>
          </a:prstGeom>
        </p:spPr>
      </p:pic>
      <p:sp>
        <p:nvSpPr>
          <p:cNvPr id="122" name="TextBox 121"/>
          <p:cNvSpPr txBox="1"/>
          <p:nvPr/>
        </p:nvSpPr>
        <p:spPr>
          <a:xfrm>
            <a:off x="10920122" y="301637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3" name="Picture 122" descr="lock.png"/>
          <p:cNvPicPr>
            <a:picLocks noChangeAspect="1"/>
          </p:cNvPicPr>
          <p:nvPr/>
        </p:nvPicPr>
        <p:blipFill>
          <a:blip r:embed="rId4"/>
          <a:stretch>
            <a:fillRect/>
          </a:stretch>
        </p:blipFill>
        <p:spPr>
          <a:xfrm>
            <a:off x="9787757" y="3174235"/>
            <a:ext cx="128699" cy="187198"/>
          </a:xfrm>
          <a:prstGeom prst="rect">
            <a:avLst/>
          </a:prstGeom>
        </p:spPr>
      </p:pic>
      <p:sp>
        <p:nvSpPr>
          <p:cNvPr id="124" name="TextBox 123"/>
          <p:cNvSpPr txBox="1"/>
          <p:nvPr/>
        </p:nvSpPr>
        <p:spPr>
          <a:xfrm>
            <a:off x="9955253" y="3184014"/>
            <a:ext cx="1629816" cy="186689"/>
          </a:xfrm>
          <a:prstGeom prst="rect">
            <a:avLst/>
          </a:prstGeom>
          <a:noFill/>
        </p:spPr>
        <p:txBody>
          <a:bodyPr wrap="none" lIns="0" rIns="0" tIns="0" bIns="0">
            <a:spAutoFit/>
          </a:bodyPr>
          <a:lstStyle/>
          <a:p>
            <a:r>
              <a:rPr sz="1100" b="0">
                <a:solidFill>
                  <a:srgbClr val="2E2E2E"/>
                </a:solidFill>
                <a:latin typeface="Calibri"/>
              </a:rPr>
              <a:t>US$ Mn by 2036, attracting</a:t>
            </a:r>
          </a:p>
        </p:txBody>
      </p:sp>
      <p:sp>
        <p:nvSpPr>
          <p:cNvPr id="125" name="TextBox 124"/>
          <p:cNvSpPr txBox="1"/>
          <p:nvPr/>
        </p:nvSpPr>
        <p:spPr>
          <a:xfrm>
            <a:off x="9801225" y="3351654"/>
            <a:ext cx="413444" cy="186689"/>
          </a:xfrm>
          <a:prstGeom prst="rect">
            <a:avLst/>
          </a:prstGeom>
          <a:noFill/>
        </p:spPr>
        <p:txBody>
          <a:bodyPr wrap="none" lIns="0" rIns="0" tIns="0" bIns="0">
            <a:spAutoFit/>
          </a:bodyPr>
          <a:lstStyle/>
          <a:p>
            <a:r>
              <a:rPr sz="1100" b="0">
                <a:solidFill>
                  <a:srgbClr val="2E2E2E"/>
                </a:solidFill>
                <a:latin typeface="Calibri"/>
              </a:rPr>
              <a:t>entry.</a:t>
            </a:r>
          </a:p>
        </p:txBody>
      </p:sp>
      <p:sp>
        <p:nvSpPr>
          <p:cNvPr id="126" name="TextBox 125"/>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7" name="TextBox 126"/>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8" name="Picture 127" descr="lock.png"/>
          <p:cNvPicPr>
            <a:picLocks noChangeAspect="1"/>
          </p:cNvPicPr>
          <p:nvPr/>
        </p:nvPicPr>
        <p:blipFill>
          <a:blip r:embed="rId4"/>
          <a:stretch>
            <a:fillRect/>
          </a:stretch>
        </p:blipFill>
        <p:spPr>
          <a:xfrm>
            <a:off x="11242394" y="3866197"/>
            <a:ext cx="128699" cy="187198"/>
          </a:xfrm>
          <a:prstGeom prst="rect">
            <a:avLst/>
          </a:prstGeom>
        </p:spPr>
      </p:pic>
      <p:sp>
        <p:nvSpPr>
          <p:cNvPr id="129" name="TextBox 128"/>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30" name="TextBox 129"/>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31" name="TextBox 130"/>
          <p:cNvSpPr txBox="1"/>
          <p:nvPr/>
        </p:nvSpPr>
        <p:spPr>
          <a:xfrm>
            <a:off x="9801225" y="440029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32" name="TextBox 131"/>
          <p:cNvSpPr txBox="1"/>
          <p:nvPr/>
        </p:nvSpPr>
        <p:spPr>
          <a:xfrm>
            <a:off x="9801225" y="4567939"/>
            <a:ext cx="1842641" cy="186689"/>
          </a:xfrm>
          <a:prstGeom prst="rect">
            <a:avLst/>
          </a:prstGeom>
          <a:noFill/>
        </p:spPr>
        <p:txBody>
          <a:bodyPr wrap="none" lIns="0" rIns="0" tIns="0" bIns="0">
            <a:spAutoFit/>
          </a:bodyPr>
          <a:lstStyle/>
          <a:p>
            <a:r>
              <a:rPr sz="1100" b="0">
                <a:solidFill>
                  <a:srgbClr val="2E2E2E"/>
                </a:solidFill>
                <a:latin typeface="Calibri"/>
              </a:rPr>
              <a:t>and 'Flexible Partial Dentures' (</a:t>
            </a:r>
          </a:p>
        </p:txBody>
      </p:sp>
      <p:pic>
        <p:nvPicPr>
          <p:cNvPr id="133" name="Picture 132" descr="lock.png"/>
          <p:cNvPicPr>
            <a:picLocks noChangeAspect="1"/>
          </p:cNvPicPr>
          <p:nvPr/>
        </p:nvPicPr>
        <p:blipFill>
          <a:blip r:embed="rId4"/>
          <a:stretch>
            <a:fillRect/>
          </a:stretch>
        </p:blipFill>
        <p:spPr>
          <a:xfrm>
            <a:off x="11591917" y="4558160"/>
            <a:ext cx="128699" cy="187198"/>
          </a:xfrm>
          <a:prstGeom prst="rect">
            <a:avLst/>
          </a:prstGeom>
        </p:spPr>
      </p:pic>
      <p:sp>
        <p:nvSpPr>
          <p:cNvPr id="134" name="TextBox 133"/>
          <p:cNvSpPr txBox="1"/>
          <p:nvPr/>
        </p:nvSpPr>
        <p:spPr>
          <a:xfrm>
            <a:off x="9801225" y="4735579"/>
            <a:ext cx="1991345" cy="186689"/>
          </a:xfrm>
          <a:prstGeom prst="rect">
            <a:avLst/>
          </a:prstGeom>
          <a:noFill/>
        </p:spPr>
        <p:txBody>
          <a:bodyPr wrap="none" lIns="0" rIns="0" tIns="0" bIns="0">
            <a:spAutoFit/>
          </a:bodyPr>
          <a:lstStyle/>
          <a:p>
            <a:r>
              <a:rPr sz="1100" b="0">
                <a:solidFill>
                  <a:srgbClr val="2E2E2E"/>
                </a:solidFill>
                <a:latin typeface="Calibri"/>
              </a:rPr>
              <a:t>of segment) remains the principal</a:t>
            </a:r>
          </a:p>
        </p:txBody>
      </p:sp>
      <p:sp>
        <p:nvSpPr>
          <p:cNvPr id="135" name="TextBox 134"/>
          <p:cNvSpPr txBox="1"/>
          <p:nvPr/>
        </p:nvSpPr>
        <p:spPr>
          <a:xfrm>
            <a:off x="9801225" y="4903219"/>
            <a:ext cx="499938" cy="186689"/>
          </a:xfrm>
          <a:prstGeom prst="rect">
            <a:avLst/>
          </a:prstGeom>
          <a:noFill/>
        </p:spPr>
        <p:txBody>
          <a:bodyPr wrap="none" lIns="0" rIns="0" tIns="0" bIns="0">
            <a:spAutoFit/>
          </a:bodyPr>
          <a:lstStyle/>
          <a:p>
            <a:r>
              <a:rPr sz="1100" b="0">
                <a:solidFill>
                  <a:srgbClr val="2E2E2E"/>
                </a:solidFill>
                <a:latin typeface="Calibri"/>
              </a:rPr>
              <a:t>barrier.</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Dentsply Sirona Inc.</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Ivoclar Vivadent AG, Dentsply Sirona Inc., Kulzer GmbH.</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1212746" cy="179984"/>
          </a:xfrm>
          <a:prstGeom prst="rect">
            <a:avLst/>
          </a:prstGeom>
          <a:noFill/>
        </p:spPr>
        <p:txBody>
          <a:bodyPr wrap="none" lIns="0" rIns="0" tIns="0" bIns="0">
            <a:spAutoFit/>
          </a:bodyPr>
          <a:lstStyle/>
          <a:p>
            <a:r>
              <a:rPr sz="1055" b="1">
                <a:solidFill>
                  <a:srgbClr val="0F2D52"/>
                </a:solidFill>
                <a:latin typeface="Calibri"/>
              </a:rPr>
              <a:t>Dental Laboratories,</a:t>
            </a:r>
          </a:p>
        </p:txBody>
      </p:sp>
      <p:pic>
        <p:nvPicPr>
          <p:cNvPr id="68" name="Picture 67" descr="lock.png"/>
          <p:cNvPicPr>
            <a:picLocks noChangeAspect="1"/>
          </p:cNvPicPr>
          <p:nvPr/>
        </p:nvPicPr>
        <p:blipFill>
          <a:blip r:embed="rId4"/>
          <a:stretch>
            <a:fillRect/>
          </a:stretch>
        </p:blipFill>
        <p:spPr>
          <a:xfrm>
            <a:off x="4692421" y="1456471"/>
            <a:ext cx="123551" cy="179710"/>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3 companies lead the 8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5.</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5322316" cy="186689"/>
          </a:xfrm>
          <a:prstGeom prst="rect">
            <a:avLst/>
          </a:prstGeom>
          <a:noFill/>
        </p:spPr>
        <p:txBody>
          <a:bodyPr wrap="none" lIns="0" rIns="0" tIns="0" bIns="0">
            <a:spAutoFit/>
          </a:bodyPr>
          <a:lstStyle/>
          <a:p>
            <a:r>
              <a:rPr sz="1100" b="0">
                <a:solidFill>
                  <a:srgbClr val="1F2933"/>
                </a:solidFill>
                <a:latin typeface="Calibri"/>
              </a:rPr>
              <a:t>'Flexible Partial Dentures' is the largest line; 'Cast Metal Partial Dentures' compounds fastest</a:t>
            </a:r>
          </a:p>
        </p:txBody>
      </p:sp>
      <p:sp>
        <p:nvSpPr>
          <p:cNvPr id="79" name="TextBox 78"/>
          <p:cNvSpPr txBox="1"/>
          <p:nvPr/>
        </p:nvSpPr>
        <p:spPr>
          <a:xfrm>
            <a:off x="523875" y="4501515"/>
            <a:ext cx="189979" cy="186689"/>
          </a:xfrm>
          <a:prstGeom prst="rect">
            <a:avLst/>
          </a:prstGeom>
          <a:noFill/>
        </p:spPr>
        <p:txBody>
          <a:bodyPr wrap="none" lIns="0" rIns="0" tIns="0" bIns="0">
            <a:spAutoFit/>
          </a:bodyPr>
          <a:lstStyle/>
          <a:p>
            <a:r>
              <a:rPr sz="1100" b="0">
                <a:solidFill>
                  <a:srgbClr val="1F2933"/>
                </a:solidFill>
                <a:latin typeface="Calibri"/>
              </a:rPr>
              <a:t>at</a:t>
            </a:r>
          </a:p>
        </p:txBody>
      </p:sp>
      <p:pic>
        <p:nvPicPr>
          <p:cNvPr id="80" name="Picture 79" descr="lock.png"/>
          <p:cNvPicPr>
            <a:picLocks noChangeAspect="1"/>
          </p:cNvPicPr>
          <p:nvPr/>
        </p:nvPicPr>
        <p:blipFill>
          <a:blip r:embed="rId4"/>
          <a:stretch>
            <a:fillRect/>
          </a:stretch>
        </p:blipFill>
        <p:spPr>
          <a:xfrm>
            <a:off x="661905" y="4491736"/>
            <a:ext cx="128699" cy="187198"/>
          </a:xfrm>
          <a:prstGeom prst="rect">
            <a:avLst/>
          </a:prstGeom>
        </p:spPr>
      </p:pic>
      <p:sp>
        <p:nvSpPr>
          <p:cNvPr id="81" name="TextBox 80"/>
          <p:cNvSpPr txBox="1"/>
          <p:nvPr/>
        </p:nvSpPr>
        <p:spPr>
          <a:xfrm>
            <a:off x="829401" y="450151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Dentsply Sirona Inc., Ivoclar Vivadent AG, Kulzer GmbH</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GC Corporation, SHOFU INC.</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VITA Zahnfabrik H. Rauter GmbH &amp; Co. KG, Zhermack S.p.A., DETAX GmbH, Candulor AG, Ruthinium Dental Manufacturing S.p.A.</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Flexible Partial Dentures</a:t>
            </a:r>
          </a:p>
        </p:txBody>
      </p:sp>
      <p:sp>
        <p:nvSpPr>
          <p:cNvPr id="30" name="TextBox 29"/>
          <p:cNvSpPr txBox="1"/>
          <p:nvPr/>
        </p:nvSpPr>
        <p:spPr>
          <a:xfrm>
            <a:off x="3352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Combination Framework Partial Dentures</a:t>
            </a:r>
          </a:p>
        </p:txBody>
      </p:sp>
      <p:sp>
        <p:nvSpPr>
          <p:cNvPr id="31" name="TextBox 30"/>
          <p:cNvSpPr txBox="1"/>
          <p:nvPr/>
        </p:nvSpPr>
        <p:spPr>
          <a:xfrm>
            <a:off x="4591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Cast Metal Partial Dentures</a:t>
            </a:r>
          </a:p>
        </p:txBody>
      </p:sp>
      <p:sp>
        <p:nvSpPr>
          <p:cNvPr id="32" name="TextBox 31"/>
          <p:cNvSpPr txBox="1"/>
          <p:nvPr/>
        </p:nvSpPr>
        <p:spPr>
          <a:xfrm>
            <a:off x="5829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Acrylic Partial Dentures</a:t>
            </a:r>
          </a:p>
        </p:txBody>
      </p:sp>
      <p:sp>
        <p:nvSpPr>
          <p:cNvPr id="33" name="TextBox 32"/>
          <p:cNvSpPr txBox="1"/>
          <p:nvPr/>
        </p:nvSpPr>
        <p:spPr>
          <a:xfrm>
            <a:off x="7067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Laboratories</a:t>
            </a:r>
          </a:p>
        </p:txBody>
      </p:sp>
      <p:sp>
        <p:nvSpPr>
          <p:cNvPr id="34" name="TextBox 33"/>
          <p:cNvSpPr txBox="1"/>
          <p:nvPr/>
        </p:nvSpPr>
        <p:spPr>
          <a:xfrm>
            <a:off x="8305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Academic &amp; Teaching Dental Institutions</a:t>
            </a:r>
          </a:p>
        </p:txBody>
      </p:sp>
      <p:sp>
        <p:nvSpPr>
          <p:cNvPr id="35" name="TextBox 34"/>
          <p:cNvSpPr txBox="1"/>
          <p:nvPr/>
        </p:nvSpPr>
        <p:spPr>
          <a:xfrm>
            <a:off x="9544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Clinics</a:t>
            </a:r>
          </a:p>
        </p:txBody>
      </p:sp>
      <p:sp>
        <p:nvSpPr>
          <p:cNvPr id="36" name="TextBox 35"/>
          <p:cNvSpPr txBox="1"/>
          <p:nvPr/>
        </p:nvSpPr>
        <p:spPr>
          <a:xfrm>
            <a:off x="10782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Hospitals</a:t>
            </a:r>
          </a:p>
        </p:txBody>
      </p:sp>
      <p:cxnSp>
        <p:nvCxnSpPr>
          <p:cNvPr id="37" name="Connector 36"/>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40" name="TextBox 39"/>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1" name="Oval 40"/>
          <p:cNvSpPr/>
          <p:nvPr/>
        </p:nvSpPr>
        <p:spPr>
          <a:xfrm>
            <a:off x="2638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714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38766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5114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6353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7591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7667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82967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890587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067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1306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55" name="TextBox 54"/>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Oval 55"/>
          <p:cNvSpPr/>
          <p:nvPr/>
        </p:nvSpPr>
        <p:spPr>
          <a:xfrm>
            <a:off x="2638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714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38766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39528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5114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6353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6429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7591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7667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8829675"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067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10144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1306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1382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0" name="Connector 69"/>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73" name="TextBox 72"/>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4" name="Oval 73"/>
          <p:cNvSpPr/>
          <p:nvPr/>
        </p:nvSpPr>
        <p:spPr>
          <a:xfrm>
            <a:off x="2638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3876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5114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5191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6353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591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8829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reeform 80"/>
          <p:cNvSpPr/>
          <p:nvPr/>
        </p:nvSpPr>
        <p:spPr>
          <a:xfrm>
            <a:off x="89058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10067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reeform 82"/>
          <p:cNvSpPr/>
          <p:nvPr/>
        </p:nvSpPr>
        <p:spPr>
          <a:xfrm>
            <a:off x="10144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Oval 83"/>
          <p:cNvSpPr/>
          <p:nvPr/>
        </p:nvSpPr>
        <p:spPr>
          <a:xfrm>
            <a:off x="11306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382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89" name="TextBox 88"/>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90" name="Oval 89"/>
          <p:cNvSpPr/>
          <p:nvPr/>
        </p:nvSpPr>
        <p:spPr>
          <a:xfrm>
            <a:off x="2638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3876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3952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5114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51911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6353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64293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7591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76676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8829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8905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10067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11306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106" name="TextBox 10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7" name="Oval 106"/>
          <p:cNvSpPr/>
          <p:nvPr/>
        </p:nvSpPr>
        <p:spPr>
          <a:xfrm>
            <a:off x="2638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14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3876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9528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5114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5191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Oval 112"/>
          <p:cNvSpPr/>
          <p:nvPr/>
        </p:nvSpPr>
        <p:spPr>
          <a:xfrm>
            <a:off x="6353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7591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7667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8829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10067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0144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11306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0" name="Connector 11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1" name="Rectangle 12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123" name="TextBox 12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24" name="Oval 123"/>
          <p:cNvSpPr/>
          <p:nvPr/>
        </p:nvSpPr>
        <p:spPr>
          <a:xfrm>
            <a:off x="2638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27146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3876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3952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5114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Oval 128"/>
          <p:cNvSpPr/>
          <p:nvPr/>
        </p:nvSpPr>
        <p:spPr>
          <a:xfrm>
            <a:off x="6353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7591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8829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8905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10067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101441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11306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6" name="Connector 135"/>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Rectangle 136"/>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139" name="TextBox 138"/>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0" name="Oval 139"/>
          <p:cNvSpPr/>
          <p:nvPr/>
        </p:nvSpPr>
        <p:spPr>
          <a:xfrm>
            <a:off x="2638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714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3876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Oval 142"/>
          <p:cNvSpPr/>
          <p:nvPr/>
        </p:nvSpPr>
        <p:spPr>
          <a:xfrm>
            <a:off x="5114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51911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6353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591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667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8829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89058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10067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11306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2" name="Connector 151"/>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55" name="TextBox 154"/>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6" name="Oval 155"/>
          <p:cNvSpPr/>
          <p:nvPr/>
        </p:nvSpPr>
        <p:spPr>
          <a:xfrm>
            <a:off x="2638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3876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9528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Oval 158"/>
          <p:cNvSpPr/>
          <p:nvPr/>
        </p:nvSpPr>
        <p:spPr>
          <a:xfrm>
            <a:off x="5114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Freeform 159"/>
          <p:cNvSpPr/>
          <p:nvPr/>
        </p:nvSpPr>
        <p:spPr>
          <a:xfrm>
            <a:off x="5191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Oval 160"/>
          <p:cNvSpPr/>
          <p:nvPr/>
        </p:nvSpPr>
        <p:spPr>
          <a:xfrm>
            <a:off x="6353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7591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76676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8829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10067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10144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306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71" name="TextBox 170"/>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72" name="Oval 171"/>
          <p:cNvSpPr/>
          <p:nvPr/>
        </p:nvSpPr>
        <p:spPr>
          <a:xfrm>
            <a:off x="26384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Freeform 172"/>
          <p:cNvSpPr/>
          <p:nvPr/>
        </p:nvSpPr>
        <p:spPr>
          <a:xfrm>
            <a:off x="27146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Oval 173"/>
          <p:cNvSpPr/>
          <p:nvPr/>
        </p:nvSpPr>
        <p:spPr>
          <a:xfrm>
            <a:off x="38766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395287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Oval 175"/>
          <p:cNvSpPr/>
          <p:nvPr/>
        </p:nvSpPr>
        <p:spPr>
          <a:xfrm>
            <a:off x="51149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Freeform 176"/>
          <p:cNvSpPr/>
          <p:nvPr/>
        </p:nvSpPr>
        <p:spPr>
          <a:xfrm>
            <a:off x="51911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Oval 177"/>
          <p:cNvSpPr/>
          <p:nvPr/>
        </p:nvSpPr>
        <p:spPr>
          <a:xfrm>
            <a:off x="63531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Oval 178"/>
          <p:cNvSpPr/>
          <p:nvPr/>
        </p:nvSpPr>
        <p:spPr>
          <a:xfrm>
            <a:off x="75914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Oval 179"/>
          <p:cNvSpPr/>
          <p:nvPr/>
        </p:nvSpPr>
        <p:spPr>
          <a:xfrm>
            <a:off x="88296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Freeform 180"/>
          <p:cNvSpPr/>
          <p:nvPr/>
        </p:nvSpPr>
        <p:spPr>
          <a:xfrm>
            <a:off x="890587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Oval 181"/>
          <p:cNvSpPr/>
          <p:nvPr/>
        </p:nvSpPr>
        <p:spPr>
          <a:xfrm>
            <a:off x="100679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Freeform 182"/>
          <p:cNvSpPr/>
          <p:nvPr/>
        </p:nvSpPr>
        <p:spPr>
          <a:xfrm>
            <a:off x="101441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Oval 183"/>
          <p:cNvSpPr/>
          <p:nvPr/>
        </p:nvSpPr>
        <p:spPr>
          <a:xfrm>
            <a:off x="113061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85" name="Connector 184"/>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86" name="Rectangle 185"/>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88" name="TextBox 187"/>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89" name="Oval 188"/>
          <p:cNvSpPr/>
          <p:nvPr/>
        </p:nvSpPr>
        <p:spPr>
          <a:xfrm>
            <a:off x="26384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Freeform 189"/>
          <p:cNvSpPr/>
          <p:nvPr/>
        </p:nvSpPr>
        <p:spPr>
          <a:xfrm>
            <a:off x="271462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Oval 190"/>
          <p:cNvSpPr/>
          <p:nvPr/>
        </p:nvSpPr>
        <p:spPr>
          <a:xfrm>
            <a:off x="38766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Freeform 191"/>
          <p:cNvSpPr/>
          <p:nvPr/>
        </p:nvSpPr>
        <p:spPr>
          <a:xfrm>
            <a:off x="395287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Oval 192"/>
          <p:cNvSpPr/>
          <p:nvPr/>
        </p:nvSpPr>
        <p:spPr>
          <a:xfrm>
            <a:off x="51149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Oval 193"/>
          <p:cNvSpPr/>
          <p:nvPr/>
        </p:nvSpPr>
        <p:spPr>
          <a:xfrm>
            <a:off x="63531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Oval 194"/>
          <p:cNvSpPr/>
          <p:nvPr/>
        </p:nvSpPr>
        <p:spPr>
          <a:xfrm>
            <a:off x="75914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Freeform 195"/>
          <p:cNvSpPr/>
          <p:nvPr/>
        </p:nvSpPr>
        <p:spPr>
          <a:xfrm>
            <a:off x="766762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Oval 196"/>
          <p:cNvSpPr/>
          <p:nvPr/>
        </p:nvSpPr>
        <p:spPr>
          <a:xfrm>
            <a:off x="88296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890587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100679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Oval 199"/>
          <p:cNvSpPr/>
          <p:nvPr/>
        </p:nvSpPr>
        <p:spPr>
          <a:xfrm>
            <a:off x="113061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1" name="Connector 200"/>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202" name="Rectangle 201"/>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204" name="Rectangle 203"/>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206" name="Rectangle 205"/>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208" name="TextBox 207"/>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209" name="TextBox 208"/>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'Flexible Partial Dentures' is the most contested column (8 players active); 'Acrylic Partial Dentures' is the most open (3).</a:t>
            </a:r>
          </a:p>
        </p:txBody>
      </p:sp>
      <p:sp>
        <p:nvSpPr>
          <p:cNvPr id="210" name="TextBox 20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11" name="TextBox 210"/>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212" name="Picture 211" descr="lock.png"/>
          <p:cNvPicPr>
            <a:picLocks noChangeAspect="1"/>
          </p:cNvPicPr>
          <p:nvPr/>
        </p:nvPicPr>
        <p:blipFill>
          <a:blip r:embed="rId4"/>
          <a:stretch>
            <a:fillRect/>
          </a:stretch>
        </p:blipFill>
        <p:spPr>
          <a:xfrm>
            <a:off x="622441" y="1297051"/>
            <a:ext cx="128699" cy="187198"/>
          </a:xfrm>
          <a:prstGeom prst="rect">
            <a:avLst/>
          </a:prstGeom>
        </p:spPr>
      </p:pic>
      <p:sp>
        <p:nvSpPr>
          <p:cNvPr id="213" name="TextBox 212"/>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214" name="Picture 213" descr="lock.png"/>
          <p:cNvPicPr>
            <a:picLocks noChangeAspect="1"/>
          </p:cNvPicPr>
          <p:nvPr/>
        </p:nvPicPr>
        <p:blipFill>
          <a:blip r:embed="rId4"/>
          <a:stretch>
            <a:fillRect/>
          </a:stretch>
        </p:blipFill>
        <p:spPr>
          <a:xfrm>
            <a:off x="5547332" y="1297051"/>
            <a:ext cx="128699" cy="187198"/>
          </a:xfrm>
          <a:prstGeom prst="rect">
            <a:avLst/>
          </a:prstGeom>
        </p:spPr>
      </p:pic>
      <p:sp>
        <p:nvSpPr>
          <p:cNvPr id="215" name="TextBox 214"/>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216" name="Picture 215" descr="lock.png"/>
          <p:cNvPicPr>
            <a:picLocks noChangeAspect="1"/>
          </p:cNvPicPr>
          <p:nvPr/>
        </p:nvPicPr>
        <p:blipFill>
          <a:blip r:embed="rId4"/>
          <a:stretch>
            <a:fillRect/>
          </a:stretch>
        </p:blipFill>
        <p:spPr>
          <a:xfrm>
            <a:off x="6890588" y="1297051"/>
            <a:ext cx="128699" cy="187198"/>
          </a:xfrm>
          <a:prstGeom prst="rect">
            <a:avLst/>
          </a:prstGeom>
        </p:spPr>
      </p:pic>
      <p:sp>
        <p:nvSpPr>
          <p:cNvPr id="217" name="TextBox 216"/>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218" name="Picture 217"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Flexible Partial Dentures,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Combination Framework Partial Dentures,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Cast Metal Partial Dentures,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Flexible Partial Dentures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Kulzer GmbH</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Dentsply Sirona Inc.</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Ivoclar Vivadent AG</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SHOFU INC.</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VITA Zahnfabrik H. Rauter GmbH &amp; Co. KG</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Combination Framework Partial Dentures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Dentsply Sirona Inc.</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Ivoclar Vivadent AG</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GC Corporation</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SHOFU INC.</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VITA Zahnfabrik H. Rauter GmbH &amp; Co. KG</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Cast Metal Partial Dentures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Dentsply Sirona Inc.</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Kulzer GmbH</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GC Corporation</a:t>
            </a:r>
          </a:p>
        </p:txBody>
      </p:sp>
      <p:sp>
        <p:nvSpPr>
          <p:cNvPr id="78" name="TextBox 77"/>
          <p:cNvSpPr txBox="1"/>
          <p:nvPr/>
        </p:nvSpPr>
        <p:spPr>
          <a:xfrm>
            <a:off x="6315075"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SHOFU INC.</a:t>
            </a:r>
          </a:p>
        </p:txBody>
      </p:sp>
      <p:sp>
        <p:nvSpPr>
          <p:cNvPr id="79" name="TextBox 78"/>
          <p:cNvSpPr txBox="1"/>
          <p:nvPr/>
        </p:nvSpPr>
        <p:spPr>
          <a:xfrm>
            <a:off x="6315075"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Zhermack S.p.A.</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sp>
        <p:nvSpPr>
          <p:cNvPr id="88" name="TextBox 87"/>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4" name="TextBox 93"/>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a:t>
            </a:r>
          </a:p>
        </p:txBody>
      </p:sp>
      <p:sp>
        <p:nvSpPr>
          <p:cNvPr id="95" name="Rectangle 94"/>
          <p:cNvSpPr/>
          <p:nvPr/>
        </p:nvSpPr>
        <p:spPr>
          <a:xfrm>
            <a:off x="10682288" y="2847975"/>
            <a:ext cx="646713"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367100"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7" name="TextBox 96"/>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Clinics</a:t>
            </a:r>
          </a:p>
        </p:txBody>
      </p:sp>
      <p:sp>
        <p:nvSpPr>
          <p:cNvPr id="98" name="Rectangle 97"/>
          <p:cNvSpPr/>
          <p:nvPr/>
        </p:nvSpPr>
        <p:spPr>
          <a:xfrm>
            <a:off x="10682288" y="3171825"/>
            <a:ext cx="225179"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094556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0" name="TextBox 99"/>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Hospitals</a:t>
            </a:r>
          </a:p>
        </p:txBody>
      </p:sp>
      <p:sp>
        <p:nvSpPr>
          <p:cNvPr id="101" name="Rectangle 100"/>
          <p:cNvSpPr/>
          <p:nvPr/>
        </p:nvSpPr>
        <p:spPr>
          <a:xfrm>
            <a:off x="10682288" y="3495675"/>
            <a:ext cx="12191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10842305"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3" name="Connector 102"/>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5" name="TextBox 104"/>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106" name="Rectangle 105"/>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09" name="TextBox 108"/>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Cast Metal Partial Dentures Compounds Fastest Across the Product Type Mix  |  South Asia &amp; Pacific Emerges as the Growth Engine Among Regions  |  Premiumisation Lifts Average Realisation</a:t>
            </a:r>
          </a:p>
        </p:txBody>
      </p:sp>
      <p:sp>
        <p:nvSpPr>
          <p:cNvPr id="110" name="Rectangle 109"/>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3" name="TextBox 112"/>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Flexible Partial Dentures Lags the Category and Dilutes Blended Growth  |  Uneven Region Performance Caps the Blended Rate  |  Concentration Risk Limits Pricing and Sourcing Flexibility</a:t>
            </a:r>
          </a:p>
        </p:txBody>
      </p:sp>
      <p:sp>
        <p:nvSpPr>
          <p:cNvPr id="114" name="TextBox 1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15" name="Picture 114" descr="lock.png"/>
          <p:cNvPicPr>
            <a:picLocks noChangeAspect="1"/>
          </p:cNvPicPr>
          <p:nvPr/>
        </p:nvPicPr>
        <p:blipFill>
          <a:blip r:embed="rId4"/>
          <a:stretch>
            <a:fillRect/>
          </a:stretch>
        </p:blipFill>
        <p:spPr>
          <a:xfrm>
            <a:off x="1316775" y="1258951"/>
            <a:ext cx="128699" cy="187198"/>
          </a:xfrm>
          <a:prstGeom prst="rect">
            <a:avLst/>
          </a:prstGeom>
        </p:spPr>
      </p:pic>
      <p:pic>
        <p:nvPicPr>
          <p:cNvPr id="116" name="Picture 115" descr="lock.png"/>
          <p:cNvPicPr>
            <a:picLocks noChangeAspect="1"/>
          </p:cNvPicPr>
          <p:nvPr/>
        </p:nvPicPr>
        <p:blipFill>
          <a:blip r:embed="rId4"/>
          <a:stretch>
            <a:fillRect/>
          </a:stretch>
        </p:blipFill>
        <p:spPr>
          <a:xfrm>
            <a:off x="3678975" y="1258951"/>
            <a:ext cx="128699" cy="187198"/>
          </a:xfrm>
          <a:prstGeom prst="rect">
            <a:avLst/>
          </a:prstGeom>
        </p:spPr>
      </p:pic>
      <p:pic>
        <p:nvPicPr>
          <p:cNvPr id="117" name="Picture 116" descr="lock.png"/>
          <p:cNvPicPr>
            <a:picLocks noChangeAspect="1"/>
          </p:cNvPicPr>
          <p:nvPr/>
        </p:nvPicPr>
        <p:blipFill>
          <a:blip r:embed="rId4"/>
          <a:stretch>
            <a:fillRect/>
          </a:stretch>
        </p:blipFill>
        <p:spPr>
          <a:xfrm>
            <a:off x="6041175" y="1258951"/>
            <a:ext cx="128699" cy="187198"/>
          </a:xfrm>
          <a:prstGeom prst="rect">
            <a:avLst/>
          </a:prstGeom>
        </p:spPr>
      </p:pic>
      <p:pic>
        <p:nvPicPr>
          <p:cNvPr id="118" name="Picture 117" descr="lock.png"/>
          <p:cNvPicPr>
            <a:picLocks noChangeAspect="1"/>
          </p:cNvPicPr>
          <p:nvPr/>
        </p:nvPicPr>
        <p:blipFill>
          <a:blip r:embed="rId4"/>
          <a:stretch>
            <a:fillRect/>
          </a:stretch>
        </p:blipFill>
        <p:spPr>
          <a:xfrm>
            <a:off x="8403375" y="1258951"/>
            <a:ext cx="128699" cy="187198"/>
          </a:xfrm>
          <a:prstGeom prst="rect">
            <a:avLst/>
          </a:prstGeom>
        </p:spPr>
      </p:pic>
      <p:pic>
        <p:nvPicPr>
          <p:cNvPr id="119" name="Picture 118" descr="lock.png"/>
          <p:cNvPicPr>
            <a:picLocks noChangeAspect="1"/>
          </p:cNvPicPr>
          <p:nvPr/>
        </p:nvPicPr>
        <p:blipFill>
          <a:blip r:embed="rId4"/>
          <a:stretch>
            <a:fillRect/>
          </a:stretch>
        </p:blipFill>
        <p:spPr>
          <a:xfrm>
            <a:off x="10765575" y="1258951"/>
            <a:ext cx="128699" cy="187198"/>
          </a:xfrm>
          <a:prstGeom prst="rect">
            <a:avLst/>
          </a:prstGeom>
        </p:spPr>
      </p:pic>
      <p:pic>
        <p:nvPicPr>
          <p:cNvPr id="120" name="Picture 119" descr="lock.png"/>
          <p:cNvPicPr>
            <a:picLocks noChangeAspect="1"/>
          </p:cNvPicPr>
          <p:nvPr/>
        </p:nvPicPr>
        <p:blipFill>
          <a:blip r:embed="rId4"/>
          <a:stretch>
            <a:fillRect/>
          </a:stretch>
        </p:blipFill>
        <p:spPr>
          <a:xfrm>
            <a:off x="554775" y="1925701"/>
            <a:ext cx="128699" cy="187198"/>
          </a:xfrm>
          <a:prstGeom prst="rect">
            <a:avLst/>
          </a:prstGeom>
        </p:spPr>
      </p:pic>
      <p:pic>
        <p:nvPicPr>
          <p:cNvPr id="121" name="Picture 120" descr="lock.png"/>
          <p:cNvPicPr>
            <a:picLocks noChangeAspect="1"/>
          </p:cNvPicPr>
          <p:nvPr/>
        </p:nvPicPr>
        <p:blipFill>
          <a:blip r:embed="rId4"/>
          <a:stretch>
            <a:fillRect/>
          </a:stretch>
        </p:blipFill>
        <p:spPr>
          <a:xfrm>
            <a:off x="554775" y="2135251"/>
            <a:ext cx="128699" cy="187198"/>
          </a:xfrm>
          <a:prstGeom prst="rect">
            <a:avLst/>
          </a:prstGeom>
        </p:spPr>
      </p:pic>
      <p:pic>
        <p:nvPicPr>
          <p:cNvPr id="122" name="Picture 121" descr="lock.png"/>
          <p:cNvPicPr>
            <a:picLocks noChangeAspect="1"/>
          </p:cNvPicPr>
          <p:nvPr/>
        </p:nvPicPr>
        <p:blipFill>
          <a:blip r:embed="rId4"/>
          <a:stretch>
            <a:fillRect/>
          </a:stretch>
        </p:blipFill>
        <p:spPr>
          <a:xfrm>
            <a:off x="3569437" y="1925701"/>
            <a:ext cx="128699" cy="187198"/>
          </a:xfrm>
          <a:prstGeom prst="rect">
            <a:avLst/>
          </a:prstGeom>
        </p:spPr>
      </p:pic>
      <p:pic>
        <p:nvPicPr>
          <p:cNvPr id="123" name="Picture 122" descr="lock.png"/>
          <p:cNvPicPr>
            <a:picLocks noChangeAspect="1"/>
          </p:cNvPicPr>
          <p:nvPr/>
        </p:nvPicPr>
        <p:blipFill>
          <a:blip r:embed="rId4"/>
          <a:stretch>
            <a:fillRect/>
          </a:stretch>
        </p:blipFill>
        <p:spPr>
          <a:xfrm>
            <a:off x="3569437" y="2135251"/>
            <a:ext cx="128699" cy="187198"/>
          </a:xfrm>
          <a:prstGeom prst="rect">
            <a:avLst/>
          </a:prstGeom>
        </p:spPr>
      </p:pic>
      <p:pic>
        <p:nvPicPr>
          <p:cNvPr id="124" name="Picture 123" descr="lock.png"/>
          <p:cNvPicPr>
            <a:picLocks noChangeAspect="1"/>
          </p:cNvPicPr>
          <p:nvPr/>
        </p:nvPicPr>
        <p:blipFill>
          <a:blip r:embed="rId4"/>
          <a:stretch>
            <a:fillRect/>
          </a:stretch>
        </p:blipFill>
        <p:spPr>
          <a:xfrm>
            <a:off x="6584100" y="1925701"/>
            <a:ext cx="128699" cy="187198"/>
          </a:xfrm>
          <a:prstGeom prst="rect">
            <a:avLst/>
          </a:prstGeom>
        </p:spPr>
      </p:pic>
      <p:pic>
        <p:nvPicPr>
          <p:cNvPr id="125" name="Picture 124" descr="lock.png"/>
          <p:cNvPicPr>
            <a:picLocks noChangeAspect="1"/>
          </p:cNvPicPr>
          <p:nvPr/>
        </p:nvPicPr>
        <p:blipFill>
          <a:blip r:embed="rId4"/>
          <a:stretch>
            <a:fillRect/>
          </a:stretch>
        </p:blipFill>
        <p:spPr>
          <a:xfrm>
            <a:off x="6584100" y="2135251"/>
            <a:ext cx="128699" cy="187198"/>
          </a:xfrm>
          <a:prstGeom prst="rect">
            <a:avLst/>
          </a:prstGeom>
        </p:spPr>
      </p:pic>
      <p:pic>
        <p:nvPicPr>
          <p:cNvPr id="126" name="Picture 125" descr="lock.png"/>
          <p:cNvPicPr>
            <a:picLocks noChangeAspect="1"/>
          </p:cNvPicPr>
          <p:nvPr/>
        </p:nvPicPr>
        <p:blipFill>
          <a:blip r:embed="rId4"/>
          <a:stretch>
            <a:fillRect/>
          </a:stretch>
        </p:blipFill>
        <p:spPr>
          <a:xfrm>
            <a:off x="10553644" y="17256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660925" y="2487676"/>
            <a:ext cx="128699" cy="187198"/>
          </a:xfrm>
          <a:prstGeom prst="rect">
            <a:avLst/>
          </a:prstGeom>
        </p:spPr>
      </p:pic>
      <p:pic>
        <p:nvPicPr>
          <p:cNvPr id="128" name="Picture 127" descr="lock.png"/>
          <p:cNvPicPr>
            <a:picLocks noChangeAspect="1"/>
          </p:cNvPicPr>
          <p:nvPr/>
        </p:nvPicPr>
        <p:blipFill>
          <a:blip r:embed="rId4"/>
          <a:stretch>
            <a:fillRect/>
          </a:stretch>
        </p:blipFill>
        <p:spPr>
          <a:xfrm>
            <a:off x="11540875" y="2811526"/>
            <a:ext cx="128699" cy="187198"/>
          </a:xfrm>
          <a:prstGeom prst="rect">
            <a:avLst/>
          </a:prstGeom>
        </p:spPr>
      </p:pic>
      <p:pic>
        <p:nvPicPr>
          <p:cNvPr id="129" name="Picture 128" descr="lock.png"/>
          <p:cNvPicPr>
            <a:picLocks noChangeAspect="1"/>
          </p:cNvPicPr>
          <p:nvPr/>
        </p:nvPicPr>
        <p:blipFill>
          <a:blip r:embed="rId4"/>
          <a:stretch>
            <a:fillRect/>
          </a:stretch>
        </p:blipFill>
        <p:spPr>
          <a:xfrm>
            <a:off x="11119341" y="3135376"/>
            <a:ext cx="128699" cy="187198"/>
          </a:xfrm>
          <a:prstGeom prst="rect">
            <a:avLst/>
          </a:prstGeom>
        </p:spPr>
      </p:pic>
      <p:pic>
        <p:nvPicPr>
          <p:cNvPr id="130" name="Picture 129" descr="lock.png"/>
          <p:cNvPicPr>
            <a:picLocks noChangeAspect="1"/>
          </p:cNvPicPr>
          <p:nvPr/>
        </p:nvPicPr>
        <p:blipFill>
          <a:blip r:embed="rId4"/>
          <a:stretch>
            <a:fillRect/>
          </a:stretch>
        </p:blipFill>
        <p:spPr>
          <a:xfrm>
            <a:off x="11016080" y="3459226"/>
            <a:ext cx="128699" cy="187198"/>
          </a:xfrm>
          <a:prstGeom prst="rect">
            <a:avLst/>
          </a:prstGeom>
        </p:spPr>
      </p:pic>
      <p:sp>
        <p:nvSpPr>
          <p:cNvPr id="131" name="TextBox 130"/>
          <p:cNvSpPr txBox="1"/>
          <p:nvPr/>
        </p:nvSpPr>
        <p:spPr>
          <a:xfrm>
            <a:off x="314325" y="4676775"/>
            <a:ext cx="2376338" cy="186689"/>
          </a:xfrm>
          <a:prstGeom prst="rect">
            <a:avLst/>
          </a:prstGeom>
          <a:noFill/>
        </p:spPr>
        <p:txBody>
          <a:bodyPr wrap="none" lIns="0" rIns="0" tIns="0" bIns="0">
            <a:spAutoFit/>
          </a:bodyPr>
          <a:lstStyle/>
          <a:p>
            <a:r>
              <a:rPr sz="1100" b="0">
                <a:solidFill>
                  <a:srgbClr val="1F2933"/>
                </a:solidFill>
                <a:latin typeface="Calibri"/>
              </a:rPr>
              <a:t>5 named players compete here; 'Flexible</a:t>
            </a:r>
          </a:p>
        </p:txBody>
      </p:sp>
      <p:sp>
        <p:nvSpPr>
          <p:cNvPr id="132" name="TextBox 131"/>
          <p:cNvSpPr txBox="1"/>
          <p:nvPr/>
        </p:nvSpPr>
        <p:spPr>
          <a:xfrm>
            <a:off x="314325" y="4844415"/>
            <a:ext cx="1326951" cy="186689"/>
          </a:xfrm>
          <a:prstGeom prst="rect">
            <a:avLst/>
          </a:prstGeom>
          <a:noFill/>
        </p:spPr>
        <p:txBody>
          <a:bodyPr wrap="none" lIns="0" rIns="0" tIns="0" bIns="0">
            <a:spAutoFit/>
          </a:bodyPr>
          <a:lstStyle/>
          <a:p>
            <a:r>
              <a:rPr sz="1100" b="0">
                <a:solidFill>
                  <a:srgbClr val="1F2933"/>
                </a:solidFill>
                <a:latin typeface="Calibri"/>
              </a:rPr>
              <a:t>Partial Dentures' adds</a:t>
            </a:r>
          </a:p>
        </p:txBody>
      </p:sp>
      <p:pic>
        <p:nvPicPr>
          <p:cNvPr id="133" name="Picture 132" descr="lock.png"/>
          <p:cNvPicPr>
            <a:picLocks noChangeAspect="1"/>
          </p:cNvPicPr>
          <p:nvPr/>
        </p:nvPicPr>
        <p:blipFill>
          <a:blip r:embed="rId4"/>
          <a:stretch>
            <a:fillRect/>
          </a:stretch>
        </p:blipFill>
        <p:spPr>
          <a:xfrm>
            <a:off x="1589328" y="4834636"/>
            <a:ext cx="128699" cy="187198"/>
          </a:xfrm>
          <a:prstGeom prst="rect">
            <a:avLst/>
          </a:prstGeom>
        </p:spPr>
      </p:pic>
      <p:sp>
        <p:nvSpPr>
          <p:cNvPr id="134" name="TextBox 133"/>
          <p:cNvSpPr txBox="1"/>
          <p:nvPr/>
        </p:nvSpPr>
        <p:spPr>
          <a:xfrm>
            <a:off x="1756823"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35" name="TextBox 134"/>
          <p:cNvSpPr txBox="1"/>
          <p:nvPr/>
        </p:nvSpPr>
        <p:spPr>
          <a:xfrm>
            <a:off x="314325"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36" name="TextBox 135"/>
          <p:cNvSpPr txBox="1"/>
          <p:nvPr/>
        </p:nvSpPr>
        <p:spPr>
          <a:xfrm>
            <a:off x="3328987" y="4676775"/>
            <a:ext cx="1880021" cy="186689"/>
          </a:xfrm>
          <a:prstGeom prst="rect">
            <a:avLst/>
          </a:prstGeom>
          <a:noFill/>
        </p:spPr>
        <p:txBody>
          <a:bodyPr wrap="none" lIns="0" rIns="0" tIns="0" bIns="0">
            <a:spAutoFit/>
          </a:bodyPr>
          <a:lstStyle/>
          <a:p>
            <a:r>
              <a:rPr sz="1100" b="0">
                <a:solidFill>
                  <a:srgbClr val="1F2933"/>
                </a:solidFill>
                <a:latin typeface="Calibri"/>
              </a:rPr>
              <a:t>5 named players compete here;</a:t>
            </a:r>
          </a:p>
        </p:txBody>
      </p:sp>
      <p:sp>
        <p:nvSpPr>
          <p:cNvPr id="137" name="TextBox 136"/>
          <p:cNvSpPr txBox="1"/>
          <p:nvPr/>
        </p:nvSpPr>
        <p:spPr>
          <a:xfrm>
            <a:off x="3328987" y="4844415"/>
            <a:ext cx="2499940" cy="186689"/>
          </a:xfrm>
          <a:prstGeom prst="rect">
            <a:avLst/>
          </a:prstGeom>
          <a:noFill/>
        </p:spPr>
        <p:txBody>
          <a:bodyPr wrap="none" lIns="0" rIns="0" tIns="0" bIns="0">
            <a:spAutoFit/>
          </a:bodyPr>
          <a:lstStyle/>
          <a:p>
            <a:r>
              <a:rPr sz="1100" b="0">
                <a:solidFill>
                  <a:srgbClr val="1F2933"/>
                </a:solidFill>
                <a:latin typeface="Calibri"/>
              </a:rPr>
              <a:t>'Combination Framework Partial Dentures'</a:t>
            </a:r>
          </a:p>
        </p:txBody>
      </p:sp>
      <p:sp>
        <p:nvSpPr>
          <p:cNvPr id="138" name="TextBox 137"/>
          <p:cNvSpPr txBox="1"/>
          <p:nvPr/>
        </p:nvSpPr>
        <p:spPr>
          <a:xfrm>
            <a:off x="3328987" y="5012055"/>
            <a:ext cx="344413" cy="186689"/>
          </a:xfrm>
          <a:prstGeom prst="rect">
            <a:avLst/>
          </a:prstGeom>
          <a:noFill/>
        </p:spPr>
        <p:txBody>
          <a:bodyPr wrap="none" lIns="0" rIns="0" tIns="0" bIns="0">
            <a:spAutoFit/>
          </a:bodyPr>
          <a:lstStyle/>
          <a:p>
            <a:r>
              <a:rPr sz="1100" b="0">
                <a:solidFill>
                  <a:srgbClr val="1F2933"/>
                </a:solidFill>
                <a:latin typeface="Calibri"/>
              </a:rPr>
              <a:t>adds</a:t>
            </a:r>
          </a:p>
        </p:txBody>
      </p:sp>
      <p:pic>
        <p:nvPicPr>
          <p:cNvPr id="139" name="Picture 138" descr="lock.png"/>
          <p:cNvPicPr>
            <a:picLocks noChangeAspect="1"/>
          </p:cNvPicPr>
          <p:nvPr/>
        </p:nvPicPr>
        <p:blipFill>
          <a:blip r:embed="rId4"/>
          <a:stretch>
            <a:fillRect/>
          </a:stretch>
        </p:blipFill>
        <p:spPr>
          <a:xfrm>
            <a:off x="3621451" y="5002276"/>
            <a:ext cx="128699" cy="187198"/>
          </a:xfrm>
          <a:prstGeom prst="rect">
            <a:avLst/>
          </a:prstGeom>
        </p:spPr>
      </p:pic>
      <p:sp>
        <p:nvSpPr>
          <p:cNvPr id="140" name="TextBox 139"/>
          <p:cNvSpPr txBox="1"/>
          <p:nvPr/>
        </p:nvSpPr>
        <p:spPr>
          <a:xfrm>
            <a:off x="3788947" y="501205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41" name="TextBox 140"/>
          <p:cNvSpPr txBox="1"/>
          <p:nvPr/>
        </p:nvSpPr>
        <p:spPr>
          <a:xfrm>
            <a:off x="6343650" y="4676775"/>
            <a:ext cx="2519362" cy="186689"/>
          </a:xfrm>
          <a:prstGeom prst="rect">
            <a:avLst/>
          </a:prstGeom>
          <a:noFill/>
        </p:spPr>
        <p:txBody>
          <a:bodyPr wrap="none" lIns="0" rIns="0" tIns="0" bIns="0">
            <a:spAutoFit/>
          </a:bodyPr>
          <a:lstStyle/>
          <a:p>
            <a:r>
              <a:rPr sz="1100" b="0">
                <a:solidFill>
                  <a:srgbClr val="1F2933"/>
                </a:solidFill>
                <a:latin typeface="Calibri"/>
              </a:rPr>
              <a:t>5 named players compete here; 'Cast Metal</a:t>
            </a:r>
          </a:p>
        </p:txBody>
      </p:sp>
      <p:sp>
        <p:nvSpPr>
          <p:cNvPr id="142" name="TextBox 141"/>
          <p:cNvSpPr txBox="1"/>
          <p:nvPr/>
        </p:nvSpPr>
        <p:spPr>
          <a:xfrm>
            <a:off x="6343650" y="4844415"/>
            <a:ext cx="1326951" cy="186689"/>
          </a:xfrm>
          <a:prstGeom prst="rect">
            <a:avLst/>
          </a:prstGeom>
          <a:noFill/>
        </p:spPr>
        <p:txBody>
          <a:bodyPr wrap="none" lIns="0" rIns="0" tIns="0" bIns="0">
            <a:spAutoFit/>
          </a:bodyPr>
          <a:lstStyle/>
          <a:p>
            <a:r>
              <a:rPr sz="1100" b="0">
                <a:solidFill>
                  <a:srgbClr val="1F2933"/>
                </a:solidFill>
                <a:latin typeface="Calibri"/>
              </a:rPr>
              <a:t>Partial Dentures' adds</a:t>
            </a:r>
          </a:p>
        </p:txBody>
      </p:sp>
      <p:pic>
        <p:nvPicPr>
          <p:cNvPr id="143" name="Picture 142" descr="lock.png"/>
          <p:cNvPicPr>
            <a:picLocks noChangeAspect="1"/>
          </p:cNvPicPr>
          <p:nvPr/>
        </p:nvPicPr>
        <p:blipFill>
          <a:blip r:embed="rId4"/>
          <a:stretch>
            <a:fillRect/>
          </a:stretch>
        </p:blipFill>
        <p:spPr>
          <a:xfrm>
            <a:off x="7618653" y="4834636"/>
            <a:ext cx="128699" cy="187198"/>
          </a:xfrm>
          <a:prstGeom prst="rect">
            <a:avLst/>
          </a:prstGeom>
        </p:spPr>
      </p:pic>
      <p:sp>
        <p:nvSpPr>
          <p:cNvPr id="144" name="TextBox 143"/>
          <p:cNvSpPr txBox="1"/>
          <p:nvPr/>
        </p:nvSpPr>
        <p:spPr>
          <a:xfrm>
            <a:off x="7786148"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45" name="TextBox 144"/>
          <p:cNvSpPr txBox="1"/>
          <p:nvPr/>
        </p:nvSpPr>
        <p:spPr>
          <a:xfrm>
            <a:off x="6343650"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46" name="TextBox 145"/>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47" name="Picture 146" descr="lock.png"/>
          <p:cNvPicPr>
            <a:picLocks noChangeAspect="1"/>
          </p:cNvPicPr>
          <p:nvPr/>
        </p:nvPicPr>
        <p:blipFill>
          <a:blip r:embed="rId4"/>
          <a:stretch>
            <a:fillRect/>
          </a:stretch>
        </p:blipFill>
        <p:spPr>
          <a:xfrm>
            <a:off x="11035226" y="4666996"/>
            <a:ext cx="128699" cy="187198"/>
          </a:xfrm>
          <a:prstGeom prst="rect">
            <a:avLst/>
          </a:prstGeom>
        </p:spPr>
      </p:pic>
      <p:sp>
        <p:nvSpPr>
          <p:cNvPr id="148" name="TextBox 147"/>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49" name="TextBox 148"/>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50" name="TextBox 149"/>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SHOFU INC.</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VITA Zahnfabrik H. Rauter GmbH &amp; Co. KG</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Zhermack S.p.A.</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DETAX GmbH</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Candulor AG</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Ruthinium Dental Manufacturing S.p.A.</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99" name="Picture 98" descr="lock.png"/>
          <p:cNvPicPr>
            <a:picLocks noChangeAspect="1"/>
          </p:cNvPicPr>
          <p:nvPr/>
        </p:nvPicPr>
        <p:blipFill>
          <a:blip r:embed="rId4"/>
          <a:stretch>
            <a:fillRect/>
          </a:stretch>
        </p:blipFill>
        <p:spPr>
          <a:xfrm>
            <a:off x="959834" y="5867145"/>
            <a:ext cx="128699" cy="187198"/>
          </a:xfrm>
          <a:prstGeom prst="rect">
            <a:avLst/>
          </a:prstGeom>
        </p:spPr>
      </p:pic>
      <p:sp>
        <p:nvSpPr>
          <p:cNvPr id="100" name="TextBox 99"/>
          <p:cNvSpPr txBox="1"/>
          <p:nvPr/>
        </p:nvSpPr>
        <p:spPr>
          <a:xfrm>
            <a:off x="1127330"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102" name="Picture 101" descr="lock.png"/>
          <p:cNvPicPr>
            <a:picLocks noChangeAspect="1"/>
          </p:cNvPicPr>
          <p:nvPr/>
        </p:nvPicPr>
        <p:blipFill>
          <a:blip r:embed="rId4"/>
          <a:stretch>
            <a:fillRect/>
          </a:stretch>
        </p:blipFill>
        <p:spPr>
          <a:xfrm>
            <a:off x="3960209" y="5867145"/>
            <a:ext cx="128699" cy="187198"/>
          </a:xfrm>
          <a:prstGeom prst="rect">
            <a:avLst/>
          </a:prstGeom>
        </p:spPr>
      </p:pic>
      <p:sp>
        <p:nvSpPr>
          <p:cNvPr id="103" name="TextBox 102"/>
          <p:cNvSpPr txBox="1"/>
          <p:nvPr/>
        </p:nvSpPr>
        <p:spPr>
          <a:xfrm>
            <a:off x="4127705"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105" name="Picture 104" descr="lock.png"/>
          <p:cNvPicPr>
            <a:picLocks noChangeAspect="1"/>
          </p:cNvPicPr>
          <p:nvPr/>
        </p:nvPicPr>
        <p:blipFill>
          <a:blip r:embed="rId4"/>
          <a:stretch>
            <a:fillRect/>
          </a:stretch>
        </p:blipFill>
        <p:spPr>
          <a:xfrm>
            <a:off x="6960584" y="5867145"/>
            <a:ext cx="128699" cy="187198"/>
          </a:xfrm>
          <a:prstGeom prst="rect">
            <a:avLst/>
          </a:prstGeom>
        </p:spPr>
      </p:pic>
      <p:sp>
        <p:nvSpPr>
          <p:cNvPr id="106" name="TextBox 105"/>
          <p:cNvSpPr txBox="1"/>
          <p:nvPr/>
        </p:nvSpPr>
        <p:spPr>
          <a:xfrm>
            <a:off x="7128080"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1" name="TextBox 50"/>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2" name="Connector 51"/>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55" name="TextBox 54"/>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TextBox 55"/>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8" name="Oval 57"/>
          <p:cNvSpPr/>
          <p:nvPr/>
        </p:nvSpPr>
        <p:spPr>
          <a:xfrm>
            <a:off x="6104467"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4" name="TextBox 63"/>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5" name="Connector 64"/>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68" name="TextBox 67"/>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9" name="TextBox 68"/>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TextBox 69"/>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1" name="Oval 70"/>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8" name="TextBox 77"/>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79" name="Connector 7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82" name="TextBox 8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TextBox 82"/>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TextBox 83"/>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5" name="Oval 84"/>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5" name="Connector 9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98" name="TextBox 9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9" name="TextBox 98"/>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0" name="TextBox 99"/>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1" name="Oval 100"/>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0" name="TextBox 109"/>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1" name="Connector 11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2" name="Rectangle 11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114" name="TextBox 11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5" name="TextBox 114"/>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7" name="Oval 116"/>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6" name="TextBox 125"/>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7" name="Connector 12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30" name="TextBox 12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TextBox 130"/>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2" name="TextBox 131"/>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3" name="Oval 132"/>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2" name="TextBox 141"/>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3" name="Connector 142"/>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4" name="Rectangle 143"/>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46" name="TextBox 145"/>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7" name="TextBox 146"/>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8" name="TextBox 147"/>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49" name="Oval 148"/>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Freeform 153"/>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Oval 154"/>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Freeform 155"/>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8" name="TextBox 157"/>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59" name="Connector 15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0" name="Rectangle 15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62" name="TextBox 16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3" name="TextBox 162"/>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4" name="TextBox 163"/>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5" name="Oval 164"/>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Freeform 167"/>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Oval 168"/>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Freeform 169"/>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Oval 170"/>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Freeform 171"/>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4" name="TextBox 173"/>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5" name="Connector 174"/>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6" name="Oval 175"/>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TextBox 176"/>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78" name="Oval 177"/>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Freeform 178"/>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1" name="Oval 180"/>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TextBox 182"/>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4" name="Oval 183"/>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6" name="TextBox 185"/>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87" name="TextBox 186"/>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89" name="TextBox 188"/>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0" name="Picture 189" descr="lock.png"/>
          <p:cNvPicPr>
            <a:picLocks noChangeAspect="1"/>
          </p:cNvPicPr>
          <p:nvPr/>
        </p:nvPicPr>
        <p:blipFill>
          <a:blip r:embed="rId4"/>
          <a:stretch>
            <a:fillRect/>
          </a:stretch>
        </p:blipFill>
        <p:spPr>
          <a:xfrm>
            <a:off x="9240209" y="1657096"/>
            <a:ext cx="128699" cy="187198"/>
          </a:xfrm>
          <a:prstGeom prst="rect">
            <a:avLst/>
          </a:prstGeom>
        </p:spPr>
      </p:pic>
      <p:sp>
        <p:nvSpPr>
          <p:cNvPr id="191" name="TextBox 190"/>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2" name="Picture 191" descr="lock.png"/>
          <p:cNvPicPr>
            <a:picLocks noChangeAspect="1"/>
          </p:cNvPicPr>
          <p:nvPr/>
        </p:nvPicPr>
        <p:blipFill>
          <a:blip r:embed="rId4"/>
          <a:stretch>
            <a:fillRect/>
          </a:stretch>
        </p:blipFill>
        <p:spPr>
          <a:xfrm>
            <a:off x="8879707" y="1824736"/>
            <a:ext cx="128699" cy="187198"/>
          </a:xfrm>
          <a:prstGeom prst="rect">
            <a:avLst/>
          </a:prstGeom>
        </p:spPr>
      </p:pic>
      <p:sp>
        <p:nvSpPr>
          <p:cNvPr id="193" name="TextBox 192"/>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4" name="Picture 193" descr="lock.png"/>
          <p:cNvPicPr>
            <a:picLocks noChangeAspect="1"/>
          </p:cNvPicPr>
          <p:nvPr/>
        </p:nvPicPr>
        <p:blipFill>
          <a:blip r:embed="rId4"/>
          <a:stretch>
            <a:fillRect/>
          </a:stretch>
        </p:blipFill>
        <p:spPr>
          <a:xfrm>
            <a:off x="3126525" y="2306701"/>
            <a:ext cx="128699" cy="187198"/>
          </a:xfrm>
          <a:prstGeom prst="rect">
            <a:avLst/>
          </a:prstGeom>
        </p:spPr>
      </p:pic>
      <p:pic>
        <p:nvPicPr>
          <p:cNvPr id="195" name="Picture 194" descr="lock.png"/>
          <p:cNvPicPr>
            <a:picLocks noChangeAspect="1"/>
          </p:cNvPicPr>
          <p:nvPr/>
        </p:nvPicPr>
        <p:blipFill>
          <a:blip r:embed="rId4"/>
          <a:stretch>
            <a:fillRect/>
          </a:stretch>
        </p:blipFill>
        <p:spPr>
          <a:xfrm>
            <a:off x="10349650" y="2306701"/>
            <a:ext cx="128699" cy="187198"/>
          </a:xfrm>
          <a:prstGeom prst="rect">
            <a:avLst/>
          </a:prstGeom>
        </p:spPr>
      </p:pic>
      <p:pic>
        <p:nvPicPr>
          <p:cNvPr id="196" name="Picture 195" descr="lock.png"/>
          <p:cNvPicPr>
            <a:picLocks noChangeAspect="1"/>
          </p:cNvPicPr>
          <p:nvPr/>
        </p:nvPicPr>
        <p:blipFill>
          <a:blip r:embed="rId4"/>
          <a:stretch>
            <a:fillRect/>
          </a:stretch>
        </p:blipFill>
        <p:spPr>
          <a:xfrm>
            <a:off x="11407984" y="2306701"/>
            <a:ext cx="128699" cy="187198"/>
          </a:xfrm>
          <a:prstGeom prst="rect">
            <a:avLst/>
          </a:prstGeom>
        </p:spPr>
      </p:pic>
      <p:pic>
        <p:nvPicPr>
          <p:cNvPr id="197" name="Picture 196" descr="lock.png"/>
          <p:cNvPicPr>
            <a:picLocks noChangeAspect="1"/>
          </p:cNvPicPr>
          <p:nvPr/>
        </p:nvPicPr>
        <p:blipFill>
          <a:blip r:embed="rId4"/>
          <a:stretch>
            <a:fillRect/>
          </a:stretch>
        </p:blipFill>
        <p:spPr>
          <a:xfrm>
            <a:off x="3126525" y="26496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0349650" y="2649601"/>
            <a:ext cx="128699" cy="187198"/>
          </a:xfrm>
          <a:prstGeom prst="rect">
            <a:avLst/>
          </a:prstGeom>
        </p:spPr>
      </p:pic>
      <p:pic>
        <p:nvPicPr>
          <p:cNvPr id="199" name="Picture 198" descr="lock.png"/>
          <p:cNvPicPr>
            <a:picLocks noChangeAspect="1"/>
          </p:cNvPicPr>
          <p:nvPr/>
        </p:nvPicPr>
        <p:blipFill>
          <a:blip r:embed="rId4"/>
          <a:stretch>
            <a:fillRect/>
          </a:stretch>
        </p:blipFill>
        <p:spPr>
          <a:xfrm>
            <a:off x="11407984" y="2649601"/>
            <a:ext cx="128699" cy="187198"/>
          </a:xfrm>
          <a:prstGeom prst="rect">
            <a:avLst/>
          </a:prstGeom>
        </p:spPr>
      </p:pic>
      <p:pic>
        <p:nvPicPr>
          <p:cNvPr id="200" name="Picture 199" descr="lock.png"/>
          <p:cNvPicPr>
            <a:picLocks noChangeAspect="1"/>
          </p:cNvPicPr>
          <p:nvPr/>
        </p:nvPicPr>
        <p:blipFill>
          <a:blip r:embed="rId4"/>
          <a:stretch>
            <a:fillRect/>
          </a:stretch>
        </p:blipFill>
        <p:spPr>
          <a:xfrm>
            <a:off x="3126525" y="29925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0349650" y="2992501"/>
            <a:ext cx="128699" cy="187198"/>
          </a:xfrm>
          <a:prstGeom prst="rect">
            <a:avLst/>
          </a:prstGeom>
        </p:spPr>
      </p:pic>
      <p:pic>
        <p:nvPicPr>
          <p:cNvPr id="202" name="Picture 201" descr="lock.png"/>
          <p:cNvPicPr>
            <a:picLocks noChangeAspect="1"/>
          </p:cNvPicPr>
          <p:nvPr/>
        </p:nvPicPr>
        <p:blipFill>
          <a:blip r:embed="rId4"/>
          <a:stretch>
            <a:fillRect/>
          </a:stretch>
        </p:blipFill>
        <p:spPr>
          <a:xfrm>
            <a:off x="11407984" y="2992501"/>
            <a:ext cx="128699" cy="187198"/>
          </a:xfrm>
          <a:prstGeom prst="rect">
            <a:avLst/>
          </a:prstGeom>
        </p:spPr>
      </p:pic>
      <p:pic>
        <p:nvPicPr>
          <p:cNvPr id="203" name="Picture 202" descr="lock.png"/>
          <p:cNvPicPr>
            <a:picLocks noChangeAspect="1"/>
          </p:cNvPicPr>
          <p:nvPr/>
        </p:nvPicPr>
        <p:blipFill>
          <a:blip r:embed="rId4"/>
          <a:stretch>
            <a:fillRect/>
          </a:stretch>
        </p:blipFill>
        <p:spPr>
          <a:xfrm>
            <a:off x="3126525" y="33354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0349650" y="3335401"/>
            <a:ext cx="128699" cy="187198"/>
          </a:xfrm>
          <a:prstGeom prst="rect">
            <a:avLst/>
          </a:prstGeom>
        </p:spPr>
      </p:pic>
      <p:pic>
        <p:nvPicPr>
          <p:cNvPr id="205" name="Picture 204" descr="lock.png"/>
          <p:cNvPicPr>
            <a:picLocks noChangeAspect="1"/>
          </p:cNvPicPr>
          <p:nvPr/>
        </p:nvPicPr>
        <p:blipFill>
          <a:blip r:embed="rId4"/>
          <a:stretch>
            <a:fillRect/>
          </a:stretch>
        </p:blipFill>
        <p:spPr>
          <a:xfrm>
            <a:off x="11407984" y="3335401"/>
            <a:ext cx="128699" cy="187198"/>
          </a:xfrm>
          <a:prstGeom prst="rect">
            <a:avLst/>
          </a:prstGeom>
        </p:spPr>
      </p:pic>
      <p:pic>
        <p:nvPicPr>
          <p:cNvPr id="206" name="Picture 205" descr="lock.png"/>
          <p:cNvPicPr>
            <a:picLocks noChangeAspect="1"/>
          </p:cNvPicPr>
          <p:nvPr/>
        </p:nvPicPr>
        <p:blipFill>
          <a:blip r:embed="rId4"/>
          <a:stretch>
            <a:fillRect/>
          </a:stretch>
        </p:blipFill>
        <p:spPr>
          <a:xfrm>
            <a:off x="3126525" y="36783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0349650" y="3678301"/>
            <a:ext cx="128699" cy="187198"/>
          </a:xfrm>
          <a:prstGeom prst="rect">
            <a:avLst/>
          </a:prstGeom>
        </p:spPr>
      </p:pic>
      <p:pic>
        <p:nvPicPr>
          <p:cNvPr id="208" name="Picture 207" descr="lock.png"/>
          <p:cNvPicPr>
            <a:picLocks noChangeAspect="1"/>
          </p:cNvPicPr>
          <p:nvPr/>
        </p:nvPicPr>
        <p:blipFill>
          <a:blip r:embed="rId4"/>
          <a:stretch>
            <a:fillRect/>
          </a:stretch>
        </p:blipFill>
        <p:spPr>
          <a:xfrm>
            <a:off x="11407984" y="3678301"/>
            <a:ext cx="128699" cy="187198"/>
          </a:xfrm>
          <a:prstGeom prst="rect">
            <a:avLst/>
          </a:prstGeom>
        </p:spPr>
      </p:pic>
      <p:pic>
        <p:nvPicPr>
          <p:cNvPr id="209" name="Picture 208" descr="lock.png"/>
          <p:cNvPicPr>
            <a:picLocks noChangeAspect="1"/>
          </p:cNvPicPr>
          <p:nvPr/>
        </p:nvPicPr>
        <p:blipFill>
          <a:blip r:embed="rId4"/>
          <a:stretch>
            <a:fillRect/>
          </a:stretch>
        </p:blipFill>
        <p:spPr>
          <a:xfrm>
            <a:off x="3126525" y="40212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0349650" y="4021201"/>
            <a:ext cx="128699" cy="187198"/>
          </a:xfrm>
          <a:prstGeom prst="rect">
            <a:avLst/>
          </a:prstGeom>
        </p:spPr>
      </p:pic>
      <p:pic>
        <p:nvPicPr>
          <p:cNvPr id="211" name="Picture 210" descr="lock.png"/>
          <p:cNvPicPr>
            <a:picLocks noChangeAspect="1"/>
          </p:cNvPicPr>
          <p:nvPr/>
        </p:nvPicPr>
        <p:blipFill>
          <a:blip r:embed="rId4"/>
          <a:stretch>
            <a:fillRect/>
          </a:stretch>
        </p:blipFill>
        <p:spPr>
          <a:xfrm>
            <a:off x="11407984" y="4021201"/>
            <a:ext cx="128699" cy="187198"/>
          </a:xfrm>
          <a:prstGeom prst="rect">
            <a:avLst/>
          </a:prstGeom>
        </p:spPr>
      </p:pic>
      <p:pic>
        <p:nvPicPr>
          <p:cNvPr id="212" name="Picture 211" descr="lock.png"/>
          <p:cNvPicPr>
            <a:picLocks noChangeAspect="1"/>
          </p:cNvPicPr>
          <p:nvPr/>
        </p:nvPicPr>
        <p:blipFill>
          <a:blip r:embed="rId4"/>
          <a:stretch>
            <a:fillRect/>
          </a:stretch>
        </p:blipFill>
        <p:spPr>
          <a:xfrm>
            <a:off x="3126525" y="43641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0349650" y="4364101"/>
            <a:ext cx="128699" cy="187198"/>
          </a:xfrm>
          <a:prstGeom prst="rect">
            <a:avLst/>
          </a:prstGeom>
        </p:spPr>
      </p:pic>
      <p:pic>
        <p:nvPicPr>
          <p:cNvPr id="214" name="Picture 213" descr="lock.png"/>
          <p:cNvPicPr>
            <a:picLocks noChangeAspect="1"/>
          </p:cNvPicPr>
          <p:nvPr/>
        </p:nvPicPr>
        <p:blipFill>
          <a:blip r:embed="rId4"/>
          <a:stretch>
            <a:fillRect/>
          </a:stretch>
        </p:blipFill>
        <p:spPr>
          <a:xfrm>
            <a:off x="11407984" y="4364101"/>
            <a:ext cx="128699" cy="187198"/>
          </a:xfrm>
          <a:prstGeom prst="rect">
            <a:avLst/>
          </a:prstGeom>
        </p:spPr>
      </p:pic>
      <p:pic>
        <p:nvPicPr>
          <p:cNvPr id="215" name="Picture 214" descr="lock.png"/>
          <p:cNvPicPr>
            <a:picLocks noChangeAspect="1"/>
          </p:cNvPicPr>
          <p:nvPr/>
        </p:nvPicPr>
        <p:blipFill>
          <a:blip r:embed="rId4"/>
          <a:stretch>
            <a:fillRect/>
          </a:stretch>
        </p:blipFill>
        <p:spPr>
          <a:xfrm>
            <a:off x="3126525" y="47070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0349650" y="4707001"/>
            <a:ext cx="128699" cy="187198"/>
          </a:xfrm>
          <a:prstGeom prst="rect">
            <a:avLst/>
          </a:prstGeom>
        </p:spPr>
      </p:pic>
      <p:pic>
        <p:nvPicPr>
          <p:cNvPr id="217" name="Picture 216" descr="lock.png"/>
          <p:cNvPicPr>
            <a:picLocks noChangeAspect="1"/>
          </p:cNvPicPr>
          <p:nvPr/>
        </p:nvPicPr>
        <p:blipFill>
          <a:blip r:embed="rId4"/>
          <a:stretch>
            <a:fillRect/>
          </a:stretch>
        </p:blipFill>
        <p:spPr>
          <a:xfrm>
            <a:off x="11407984" y="4707001"/>
            <a:ext cx="128699" cy="187198"/>
          </a:xfrm>
          <a:prstGeom prst="rect">
            <a:avLst/>
          </a:prstGeom>
        </p:spPr>
      </p:pic>
      <p:pic>
        <p:nvPicPr>
          <p:cNvPr id="218" name="Picture 217" descr="lock.png"/>
          <p:cNvPicPr>
            <a:picLocks noChangeAspect="1"/>
          </p:cNvPicPr>
          <p:nvPr/>
        </p:nvPicPr>
        <p:blipFill>
          <a:blip r:embed="rId4"/>
          <a:stretch>
            <a:fillRect/>
          </a:stretch>
        </p:blipFill>
        <p:spPr>
          <a:xfrm>
            <a:off x="3126525" y="50499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0349650" y="5049901"/>
            <a:ext cx="128699" cy="187198"/>
          </a:xfrm>
          <a:prstGeom prst="rect">
            <a:avLst/>
          </a:prstGeom>
        </p:spPr>
      </p:pic>
      <p:pic>
        <p:nvPicPr>
          <p:cNvPr id="220" name="Picture 219" descr="lock.png"/>
          <p:cNvPicPr>
            <a:picLocks noChangeAspect="1"/>
          </p:cNvPicPr>
          <p:nvPr/>
        </p:nvPicPr>
        <p:blipFill>
          <a:blip r:embed="rId4"/>
          <a:stretch>
            <a:fillRect/>
          </a:stretch>
        </p:blipFill>
        <p:spPr>
          <a:xfrm>
            <a:off x="11407984" y="5049901"/>
            <a:ext cx="128699" cy="187198"/>
          </a:xfrm>
          <a:prstGeom prst="rect">
            <a:avLst/>
          </a:prstGeom>
        </p:spPr>
      </p:pic>
      <p:pic>
        <p:nvPicPr>
          <p:cNvPr id="221" name="Picture 220" descr="lock.png"/>
          <p:cNvPicPr>
            <a:picLocks noChangeAspect="1"/>
          </p:cNvPicPr>
          <p:nvPr/>
        </p:nvPicPr>
        <p:blipFill>
          <a:blip r:embed="rId4"/>
          <a:stretch>
            <a:fillRect/>
          </a:stretch>
        </p:blipFill>
        <p:spPr>
          <a:xfrm>
            <a:off x="3126525" y="53928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0349650" y="539280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Ivoclar Vivadent AG</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10420350" y="1895475"/>
            <a:ext cx="11430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16014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7" name="Connector 36"/>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Dentsply Sirona Inc.</a:t>
            </a:r>
          </a:p>
        </p:txBody>
      </p:sp>
      <p:sp>
        <p:nvSpPr>
          <p:cNvPr id="40" name="Oval 39"/>
          <p:cNvSpPr/>
          <p:nvPr/>
        </p:nvSpPr>
        <p:spPr>
          <a:xfrm>
            <a:off x="28479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420350" y="22002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15443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48" name="Connector 47"/>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Kulzer GmbH</a:t>
            </a:r>
          </a:p>
        </p:txBody>
      </p:sp>
      <p:sp>
        <p:nvSpPr>
          <p:cNvPr id="51" name="Oval 50"/>
          <p:cNvSpPr/>
          <p:nvPr/>
        </p:nvSpPr>
        <p:spPr>
          <a:xfrm>
            <a:off x="28479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420350" y="25050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15443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9" name="Connector 58"/>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GC Corporation</a:t>
            </a:r>
          </a:p>
        </p:txBody>
      </p:sp>
      <p:sp>
        <p:nvSpPr>
          <p:cNvPr id="62" name="Oval 61"/>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0420350" y="28098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114871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0" name="Connector 69"/>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VITA Zahnfabrik H. Rauter GmbH &amp; Co. KG</a:t>
            </a:r>
          </a:p>
        </p:txBody>
      </p:sp>
      <p:sp>
        <p:nvSpPr>
          <p:cNvPr id="73" name="Oval 72"/>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3" name="Connector 82"/>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4" name="Rectangle 83"/>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SHOFU INC.</a:t>
            </a:r>
          </a:p>
        </p:txBody>
      </p:sp>
      <p:sp>
        <p:nvSpPr>
          <p:cNvPr id="86" name="Oval 85"/>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reeform 86"/>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Oval 87"/>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97" name="Connector 9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DETAX GmbH</a:t>
            </a:r>
          </a:p>
        </p:txBody>
      </p:sp>
      <p:sp>
        <p:nvSpPr>
          <p:cNvPr id="100" name="Oval 99"/>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Freeform 100"/>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0" name="Connector 10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1" name="Rectangle 110"/>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Ruthinium Dental Manufacturing S.p.A.</a:t>
            </a:r>
          </a:p>
        </p:txBody>
      </p:sp>
      <p:sp>
        <p:nvSpPr>
          <p:cNvPr id="113" name="Oval 112"/>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82002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420350" y="40290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118235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3" name="Connector 122"/>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4" name="Rectangle 123"/>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Zhermack S.p.A.</a:t>
            </a:r>
          </a:p>
        </p:txBody>
      </p:sp>
      <p:sp>
        <p:nvSpPr>
          <p:cNvPr id="126" name="Oval 125"/>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292417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78200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789622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0420350" y="43338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1112520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37" name="Connector 136"/>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8" name="Rectangle 137"/>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Candulor AG</a:t>
            </a:r>
          </a:p>
        </p:txBody>
      </p:sp>
      <p:sp>
        <p:nvSpPr>
          <p:cNvPr id="140" name="Oval 139"/>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92417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0420350" y="46386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111252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1" name="Connector 150"/>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2" name="Oval 151"/>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4" name="Oval 153"/>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Freeform 154"/>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57" name="Oval 156"/>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0" name="Oval 159"/>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2" name="TextBox 161"/>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3" name="Rectangle 162"/>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5" name="TextBox 164"/>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Ivoclar Vivadent AG, Dentsply Sirona Inc., Kulzer GmbH, GC Corporation</a:t>
            </a:r>
          </a:p>
        </p:txBody>
      </p:sp>
      <p:sp>
        <p:nvSpPr>
          <p:cNvPr id="166" name="TextBox 165"/>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innovation pipeline.</a:t>
            </a:r>
          </a:p>
        </p:txBody>
      </p:sp>
      <p:sp>
        <p:nvSpPr>
          <p:cNvPr id="167" name="Rectangle 166"/>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69" name="TextBox 168"/>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VITA Zahnfabrik H. Rauter GmbH &amp; Co. KG, SHOFU INC.</a:t>
            </a:r>
          </a:p>
        </p:txBody>
      </p:sp>
      <p:sp>
        <p:nvSpPr>
          <p:cNvPr id="170" name="TextBox 169"/>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1" name="Rectangle 170"/>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3" name="TextBox 172"/>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DETAX GmbH, Ruthinium Dental Manufacturing S.p.A., Zhermack S.p.A., Candulor AG</a:t>
            </a:r>
          </a:p>
        </p:txBody>
      </p:sp>
      <p:sp>
        <p:nvSpPr>
          <p:cNvPr id="174" name="TextBox 173"/>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5" name="TextBox 17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6" name="Picture 175" descr="lock.png"/>
          <p:cNvPicPr>
            <a:picLocks noChangeAspect="1"/>
          </p:cNvPicPr>
          <p:nvPr/>
        </p:nvPicPr>
        <p:blipFill>
          <a:blip r:embed="rId4"/>
          <a:stretch>
            <a:fillRect/>
          </a:stretch>
        </p:blipFill>
        <p:spPr>
          <a:xfrm>
            <a:off x="11746650" y="1868551"/>
            <a:ext cx="128699" cy="187198"/>
          </a:xfrm>
          <a:prstGeom prst="rect">
            <a:avLst/>
          </a:prstGeom>
        </p:spPr>
      </p:pic>
      <p:pic>
        <p:nvPicPr>
          <p:cNvPr id="177" name="Picture 176" descr="lock.png"/>
          <p:cNvPicPr>
            <a:picLocks noChangeAspect="1"/>
          </p:cNvPicPr>
          <p:nvPr/>
        </p:nvPicPr>
        <p:blipFill>
          <a:blip r:embed="rId4"/>
          <a:stretch>
            <a:fillRect/>
          </a:stretch>
        </p:blipFill>
        <p:spPr>
          <a:xfrm>
            <a:off x="11689500" y="2173351"/>
            <a:ext cx="128699" cy="187198"/>
          </a:xfrm>
          <a:prstGeom prst="rect">
            <a:avLst/>
          </a:prstGeom>
        </p:spPr>
      </p:pic>
      <p:pic>
        <p:nvPicPr>
          <p:cNvPr id="178" name="Picture 177" descr="lock.png"/>
          <p:cNvPicPr>
            <a:picLocks noChangeAspect="1"/>
          </p:cNvPicPr>
          <p:nvPr/>
        </p:nvPicPr>
        <p:blipFill>
          <a:blip r:embed="rId4"/>
          <a:stretch>
            <a:fillRect/>
          </a:stretch>
        </p:blipFill>
        <p:spPr>
          <a:xfrm>
            <a:off x="11689500" y="2478151"/>
            <a:ext cx="128699" cy="187198"/>
          </a:xfrm>
          <a:prstGeom prst="rect">
            <a:avLst/>
          </a:prstGeom>
        </p:spPr>
      </p:pic>
      <p:pic>
        <p:nvPicPr>
          <p:cNvPr id="179" name="Picture 178" descr="lock.png"/>
          <p:cNvPicPr>
            <a:picLocks noChangeAspect="1"/>
          </p:cNvPicPr>
          <p:nvPr/>
        </p:nvPicPr>
        <p:blipFill>
          <a:blip r:embed="rId4"/>
          <a:stretch>
            <a:fillRect/>
          </a:stretch>
        </p:blipFill>
        <p:spPr>
          <a:xfrm>
            <a:off x="11632350" y="27829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479950" y="30877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422800" y="33925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327550" y="36973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327550" y="40021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270400" y="43069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270400" y="4611751"/>
            <a:ext cx="128699" cy="187198"/>
          </a:xfrm>
          <a:prstGeom prst="rect">
            <a:avLst/>
          </a:prstGeom>
        </p:spPr>
      </p:pic>
      <p:sp>
        <p:nvSpPr>
          <p:cNvPr id="186" name="TextBox 185"/>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87" name="Picture 186" descr="lock.png"/>
          <p:cNvPicPr>
            <a:picLocks noChangeAspect="1"/>
          </p:cNvPicPr>
          <p:nvPr/>
        </p:nvPicPr>
        <p:blipFill>
          <a:blip r:embed="rId4"/>
          <a:stretch>
            <a:fillRect/>
          </a:stretch>
        </p:blipFill>
        <p:spPr>
          <a:xfrm>
            <a:off x="2482959" y="1212159"/>
            <a:ext cx="92663" cy="134782"/>
          </a:xfrm>
          <a:prstGeom prst="rect">
            <a:avLst/>
          </a:prstGeom>
        </p:spPr>
      </p:pic>
      <p:sp>
        <p:nvSpPr>
          <p:cNvPr id="188" name="TextBox 187"/>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89" name="Picture 188" descr="lock.png"/>
          <p:cNvPicPr>
            <a:picLocks noChangeAspect="1"/>
          </p:cNvPicPr>
          <p:nvPr/>
        </p:nvPicPr>
        <p:blipFill>
          <a:blip r:embed="rId4"/>
          <a:stretch>
            <a:fillRect/>
          </a:stretch>
        </p:blipFill>
        <p:spPr>
          <a:xfrm>
            <a:off x="4140309" y="1212159"/>
            <a:ext cx="92663" cy="134782"/>
          </a:xfrm>
          <a:prstGeom prst="rect">
            <a:avLst/>
          </a:prstGeom>
        </p:spPr>
      </p:pic>
      <p:sp>
        <p:nvSpPr>
          <p:cNvPr id="190" name="TextBox 189"/>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1" name="Picture 190" descr="lock.png"/>
          <p:cNvPicPr>
            <a:picLocks noChangeAspect="1"/>
          </p:cNvPicPr>
          <p:nvPr/>
        </p:nvPicPr>
        <p:blipFill>
          <a:blip r:embed="rId4"/>
          <a:stretch>
            <a:fillRect/>
          </a:stretch>
        </p:blipFill>
        <p:spPr>
          <a:xfrm>
            <a:off x="5797659" y="1212159"/>
            <a:ext cx="92663" cy="134782"/>
          </a:xfrm>
          <a:prstGeom prst="rect">
            <a:avLst/>
          </a:prstGeom>
        </p:spPr>
      </p:pic>
      <p:sp>
        <p:nvSpPr>
          <p:cNvPr id="192" name="TextBox 191"/>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3" name="Picture 192" descr="lock.png"/>
          <p:cNvPicPr>
            <a:picLocks noChangeAspect="1"/>
          </p:cNvPicPr>
          <p:nvPr/>
        </p:nvPicPr>
        <p:blipFill>
          <a:blip r:embed="rId4"/>
          <a:stretch>
            <a:fillRect/>
          </a:stretch>
        </p:blipFill>
        <p:spPr>
          <a:xfrm>
            <a:off x="7455009" y="1212159"/>
            <a:ext cx="92663" cy="134782"/>
          </a:xfrm>
          <a:prstGeom prst="rect">
            <a:avLst/>
          </a:prstGeom>
        </p:spPr>
      </p:pic>
      <p:sp>
        <p:nvSpPr>
          <p:cNvPr id="194" name="TextBox 193"/>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5" name="Picture 194"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Dentsply Sirona Inc.</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Ivoclar Vivadent AG</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Kulzer GmbH</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GC Corporation</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SHOFU INC.</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VITA Zahnfabrik H. Rauter GmbH &amp; Co. KG</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Zhermack S.p.A.</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DETAX GmbH</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Candulor AG</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Ruthinium Dental Manufacturing S.p.A.</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Dentsply Sirona Inc.</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Ivoclar Vivadent AG</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Kulzer GmbH</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GC Corporation</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SHOFU INC.</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VITA Zahnfabrik H. Rauter GmbH &amp; Co. KG</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Zhermack S.p.A.</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DETAX GmbH</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Candulor AG</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Ruthinium Dental Manufacturing S.p.A.</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Dentsply Sirona Inc. · Ivoclar Vivadent AG · Kulzer GmbH · GC Corporation</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SHOFU INC. · VITA Zahnfabrik H. Rauter GmbH &amp; Co. KG</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Zhermack S.p.A. · DETAX GmbH · Candulor AG · Ruthinium Dental Manufacturing S.p.A.</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1,125</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8160488" y="22876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989162"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9817838"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10646512"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8160488" y="25162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989162"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9817838"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10646512"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8160487" y="27448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989163"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9817837"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10646513"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8160487" y="29734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989163"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9817837"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10646513"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1475187"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8160488" y="32020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989163"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9817838"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8160488" y="3478276"/>
            <a:ext cx="128699" cy="187198"/>
          </a:xfrm>
          <a:prstGeom prst="rect">
            <a:avLst/>
          </a:prstGeom>
        </p:spPr>
      </p:pic>
      <p:pic>
        <p:nvPicPr>
          <p:cNvPr id="266" name="Picture 265" descr="lock.png"/>
          <p:cNvPicPr>
            <a:picLocks noChangeAspect="1"/>
          </p:cNvPicPr>
          <p:nvPr/>
        </p:nvPicPr>
        <p:blipFill>
          <a:blip r:embed="rId4"/>
          <a:stretch>
            <a:fillRect/>
          </a:stretch>
        </p:blipFill>
        <p:spPr>
          <a:xfrm>
            <a:off x="8989162"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9817838"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10646512" y="3478276"/>
            <a:ext cx="128699" cy="187198"/>
          </a:xfrm>
          <a:prstGeom prst="rect">
            <a:avLst/>
          </a:prstGeom>
        </p:spPr>
      </p:pic>
      <p:sp>
        <p:nvSpPr>
          <p:cNvPr id="269" name="TextBox 268"/>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0" name="Picture 269" descr="lock.png"/>
          <p:cNvPicPr>
            <a:picLocks noChangeAspect="1"/>
          </p:cNvPicPr>
          <p:nvPr/>
        </p:nvPicPr>
        <p:blipFill>
          <a:blip r:embed="rId4"/>
          <a:stretch>
            <a:fillRect/>
          </a:stretch>
        </p:blipFill>
        <p:spPr>
          <a:xfrm>
            <a:off x="706231" y="1335151"/>
            <a:ext cx="128699" cy="187198"/>
          </a:xfrm>
          <a:prstGeom prst="rect">
            <a:avLst/>
          </a:prstGeom>
        </p:spPr>
      </p:pic>
      <p:sp>
        <p:nvSpPr>
          <p:cNvPr id="271" name="TextBox 270"/>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2" name="Picture 271" descr="lock.png"/>
          <p:cNvPicPr>
            <a:picLocks noChangeAspect="1"/>
          </p:cNvPicPr>
          <p:nvPr/>
        </p:nvPicPr>
        <p:blipFill>
          <a:blip r:embed="rId4"/>
          <a:stretch>
            <a:fillRect/>
          </a:stretch>
        </p:blipFill>
        <p:spPr>
          <a:xfrm>
            <a:off x="2112168" y="1335151"/>
            <a:ext cx="128699" cy="187198"/>
          </a:xfrm>
          <a:prstGeom prst="rect">
            <a:avLst/>
          </a:prstGeom>
        </p:spPr>
      </p:pic>
      <p:sp>
        <p:nvSpPr>
          <p:cNvPr id="273" name="TextBox 272"/>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4" name="Picture 273" descr="lock.png"/>
          <p:cNvPicPr>
            <a:picLocks noChangeAspect="1"/>
          </p:cNvPicPr>
          <p:nvPr/>
        </p:nvPicPr>
        <p:blipFill>
          <a:blip r:embed="rId4"/>
          <a:stretch>
            <a:fillRect/>
          </a:stretch>
        </p:blipFill>
        <p:spPr>
          <a:xfrm>
            <a:off x="2430519" y="1335151"/>
            <a:ext cx="128699" cy="187198"/>
          </a:xfrm>
          <a:prstGeom prst="rect">
            <a:avLst/>
          </a:prstGeom>
        </p:spPr>
      </p:pic>
      <p:sp>
        <p:nvSpPr>
          <p:cNvPr id="275" name="TextBox 274"/>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6" name="Picture 275" descr="lock.png"/>
          <p:cNvPicPr>
            <a:picLocks noChangeAspect="1"/>
          </p:cNvPicPr>
          <p:nvPr/>
        </p:nvPicPr>
        <p:blipFill>
          <a:blip r:embed="rId4"/>
          <a:stretch>
            <a:fillRect/>
          </a:stretch>
        </p:blipFill>
        <p:spPr>
          <a:xfrm>
            <a:off x="1377182" y="1839976"/>
            <a:ext cx="128699" cy="187198"/>
          </a:xfrm>
          <a:prstGeom prst="rect">
            <a:avLst/>
          </a:prstGeom>
        </p:spPr>
      </p:pic>
      <p:sp>
        <p:nvSpPr>
          <p:cNvPr id="277" name="TextBox 276"/>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8" name="Picture 277" descr="lock.png"/>
          <p:cNvPicPr>
            <a:picLocks noChangeAspect="1"/>
          </p:cNvPicPr>
          <p:nvPr/>
        </p:nvPicPr>
        <p:blipFill>
          <a:blip r:embed="rId4"/>
          <a:stretch>
            <a:fillRect/>
          </a:stretch>
        </p:blipFill>
        <p:spPr>
          <a:xfrm>
            <a:off x="2922273" y="1839976"/>
            <a:ext cx="128699" cy="187198"/>
          </a:xfrm>
          <a:prstGeom prst="rect">
            <a:avLst/>
          </a:prstGeom>
        </p:spPr>
      </p:pic>
      <p:sp>
        <p:nvSpPr>
          <p:cNvPr id="279" name="TextBox 278"/>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0" name="Picture 279" descr="lock.png"/>
          <p:cNvPicPr>
            <a:picLocks noChangeAspect="1"/>
          </p:cNvPicPr>
          <p:nvPr/>
        </p:nvPicPr>
        <p:blipFill>
          <a:blip r:embed="rId4"/>
          <a:stretch>
            <a:fillRect/>
          </a:stretch>
        </p:blipFill>
        <p:spPr>
          <a:xfrm>
            <a:off x="1377182" y="2697226"/>
            <a:ext cx="128699" cy="187198"/>
          </a:xfrm>
          <a:prstGeom prst="rect">
            <a:avLst/>
          </a:prstGeom>
        </p:spPr>
      </p:pic>
      <p:sp>
        <p:nvSpPr>
          <p:cNvPr id="281" name="TextBox 280"/>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2" name="Picture 281" descr="lock.png"/>
          <p:cNvPicPr>
            <a:picLocks noChangeAspect="1"/>
          </p:cNvPicPr>
          <p:nvPr/>
        </p:nvPicPr>
        <p:blipFill>
          <a:blip r:embed="rId4"/>
          <a:stretch>
            <a:fillRect/>
          </a:stretch>
        </p:blipFill>
        <p:spPr>
          <a:xfrm>
            <a:off x="2922273" y="2697226"/>
            <a:ext cx="128699" cy="187198"/>
          </a:xfrm>
          <a:prstGeom prst="rect">
            <a:avLst/>
          </a:prstGeom>
        </p:spPr>
      </p:pic>
      <p:sp>
        <p:nvSpPr>
          <p:cNvPr id="283" name="TextBox 282"/>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4" name="Picture 283" descr="lock.png"/>
          <p:cNvPicPr>
            <a:picLocks noChangeAspect="1"/>
          </p:cNvPicPr>
          <p:nvPr/>
        </p:nvPicPr>
        <p:blipFill>
          <a:blip r:embed="rId4"/>
          <a:stretch>
            <a:fillRect/>
          </a:stretch>
        </p:blipFill>
        <p:spPr>
          <a:xfrm>
            <a:off x="1377182" y="3554476"/>
            <a:ext cx="128699" cy="187198"/>
          </a:xfrm>
          <a:prstGeom prst="rect">
            <a:avLst/>
          </a:prstGeom>
        </p:spPr>
      </p:pic>
      <p:sp>
        <p:nvSpPr>
          <p:cNvPr id="285" name="TextBox 284"/>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6" name="Picture 285" descr="lock.png"/>
          <p:cNvPicPr>
            <a:picLocks noChangeAspect="1"/>
          </p:cNvPicPr>
          <p:nvPr/>
        </p:nvPicPr>
        <p:blipFill>
          <a:blip r:embed="rId4"/>
          <a:stretch>
            <a:fillRect/>
          </a:stretch>
        </p:blipFill>
        <p:spPr>
          <a:xfrm>
            <a:off x="2922273" y="3554476"/>
            <a:ext cx="128699" cy="187198"/>
          </a:xfrm>
          <a:prstGeom prst="rect">
            <a:avLst/>
          </a:prstGeom>
        </p:spPr>
      </p:pic>
      <p:sp>
        <p:nvSpPr>
          <p:cNvPr id="287" name="TextBox 286"/>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8" name="Picture 287" descr="lock.png"/>
          <p:cNvPicPr>
            <a:picLocks noChangeAspect="1"/>
          </p:cNvPicPr>
          <p:nvPr/>
        </p:nvPicPr>
        <p:blipFill>
          <a:blip r:embed="rId4"/>
          <a:stretch>
            <a:fillRect/>
          </a:stretch>
        </p:blipFill>
        <p:spPr>
          <a:xfrm>
            <a:off x="1377182" y="4411726"/>
            <a:ext cx="128699" cy="187198"/>
          </a:xfrm>
          <a:prstGeom prst="rect">
            <a:avLst/>
          </a:prstGeom>
        </p:spPr>
      </p:pic>
      <p:sp>
        <p:nvSpPr>
          <p:cNvPr id="289" name="TextBox 288"/>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0" name="TextBox 289"/>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1" name="Picture 290" descr="lock.png"/>
          <p:cNvPicPr>
            <a:picLocks noChangeAspect="1"/>
          </p:cNvPicPr>
          <p:nvPr/>
        </p:nvPicPr>
        <p:blipFill>
          <a:blip r:embed="rId4"/>
          <a:stretch>
            <a:fillRect/>
          </a:stretch>
        </p:blipFill>
        <p:spPr>
          <a:xfrm>
            <a:off x="1682883" y="5792851"/>
            <a:ext cx="128699" cy="187198"/>
          </a:xfrm>
          <a:prstGeom prst="rect">
            <a:avLst/>
          </a:prstGeom>
        </p:spPr>
      </p:pic>
      <p:sp>
        <p:nvSpPr>
          <p:cNvPr id="292" name="TextBox 291"/>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3" name="Picture 292" descr="lock.png"/>
          <p:cNvPicPr>
            <a:picLocks noChangeAspect="1"/>
          </p:cNvPicPr>
          <p:nvPr/>
        </p:nvPicPr>
        <p:blipFill>
          <a:blip r:embed="rId4"/>
          <a:stretch>
            <a:fillRect/>
          </a:stretch>
        </p:blipFill>
        <p:spPr>
          <a:xfrm>
            <a:off x="1225147" y="6097651"/>
            <a:ext cx="128699" cy="187198"/>
          </a:xfrm>
          <a:prstGeom prst="rect">
            <a:avLst/>
          </a:prstGeom>
        </p:spPr>
      </p:pic>
      <p:sp>
        <p:nvSpPr>
          <p:cNvPr id="294" name="TextBox 293"/>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5" name="Picture 294" descr="lock.png"/>
          <p:cNvPicPr>
            <a:picLocks noChangeAspect="1"/>
          </p:cNvPicPr>
          <p:nvPr/>
        </p:nvPicPr>
        <p:blipFill>
          <a:blip r:embed="rId4"/>
          <a:stretch>
            <a:fillRect/>
          </a:stretch>
        </p:blipFill>
        <p:spPr>
          <a:xfrm>
            <a:off x="2408983" y="6097651"/>
            <a:ext cx="128699" cy="187198"/>
          </a:xfrm>
          <a:prstGeom prst="rect">
            <a:avLst/>
          </a:prstGeom>
        </p:spPr>
      </p:pic>
      <p:sp>
        <p:nvSpPr>
          <p:cNvPr id="296" name="TextBox 295"/>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7" name="Picture 296" descr="lock.png"/>
          <p:cNvPicPr>
            <a:picLocks noChangeAspect="1"/>
          </p:cNvPicPr>
          <p:nvPr/>
        </p:nvPicPr>
        <p:blipFill>
          <a:blip r:embed="rId4"/>
          <a:stretch>
            <a:fillRect/>
          </a:stretch>
        </p:blipFill>
        <p:spPr>
          <a:xfrm>
            <a:off x="3922150" y="6097651"/>
            <a:ext cx="128699" cy="187198"/>
          </a:xfrm>
          <a:prstGeom prst="rect">
            <a:avLst/>
          </a:prstGeom>
        </p:spPr>
      </p:pic>
      <p:sp>
        <p:nvSpPr>
          <p:cNvPr id="298" name="TextBox 297"/>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299" name="TextBox 298"/>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0" name="Picture 299" descr="lock.png"/>
          <p:cNvPicPr>
            <a:picLocks noChangeAspect="1"/>
          </p:cNvPicPr>
          <p:nvPr/>
        </p:nvPicPr>
        <p:blipFill>
          <a:blip r:embed="rId4"/>
          <a:stretch>
            <a:fillRect/>
          </a:stretch>
        </p:blipFill>
        <p:spPr>
          <a:xfrm>
            <a:off x="6791838" y="5467095"/>
            <a:ext cx="128699" cy="187198"/>
          </a:xfrm>
          <a:prstGeom prst="rect">
            <a:avLst/>
          </a:prstGeom>
        </p:spPr>
      </p:pic>
      <p:sp>
        <p:nvSpPr>
          <p:cNvPr id="301" name="TextBox 300"/>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2" name="Picture 301" descr="lock.png"/>
          <p:cNvPicPr>
            <a:picLocks noChangeAspect="1"/>
          </p:cNvPicPr>
          <p:nvPr/>
        </p:nvPicPr>
        <p:blipFill>
          <a:blip r:embed="rId4"/>
          <a:stretch>
            <a:fillRect/>
          </a:stretch>
        </p:blipFill>
        <p:spPr>
          <a:xfrm>
            <a:off x="9457531" y="5467095"/>
            <a:ext cx="128699" cy="187198"/>
          </a:xfrm>
          <a:prstGeom prst="rect">
            <a:avLst/>
          </a:prstGeom>
        </p:spPr>
      </p:pic>
      <p:sp>
        <p:nvSpPr>
          <p:cNvPr id="303" name="TextBox 302"/>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4" name="Picture 303" descr="lock.png"/>
          <p:cNvPicPr>
            <a:picLocks noChangeAspect="1"/>
          </p:cNvPicPr>
          <p:nvPr/>
        </p:nvPicPr>
        <p:blipFill>
          <a:blip r:embed="rId4"/>
          <a:stretch>
            <a:fillRect/>
          </a:stretch>
        </p:blipFill>
        <p:spPr>
          <a:xfrm>
            <a:off x="10832908" y="5467095"/>
            <a:ext cx="128699" cy="187198"/>
          </a:xfrm>
          <a:prstGeom prst="rect">
            <a:avLst/>
          </a:prstGeom>
        </p:spPr>
      </p:pic>
      <p:sp>
        <p:nvSpPr>
          <p:cNvPr id="305" name="TextBox 304"/>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6" name="Picture 305" descr="lock.png"/>
          <p:cNvPicPr>
            <a:picLocks noChangeAspect="1"/>
          </p:cNvPicPr>
          <p:nvPr/>
        </p:nvPicPr>
        <p:blipFill>
          <a:blip r:embed="rId4"/>
          <a:stretch>
            <a:fillRect/>
          </a:stretch>
        </p:blipFill>
        <p:spPr>
          <a:xfrm>
            <a:off x="6358757" y="5634735"/>
            <a:ext cx="128699" cy="187198"/>
          </a:xfrm>
          <a:prstGeom prst="rect">
            <a:avLst/>
          </a:prstGeom>
        </p:spPr>
      </p:pic>
      <p:sp>
        <p:nvSpPr>
          <p:cNvPr id="307" name="TextBox 306"/>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8" name="TextBox 307"/>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09" name="Picture 308" descr="lock.png"/>
          <p:cNvPicPr>
            <a:picLocks noChangeAspect="1"/>
          </p:cNvPicPr>
          <p:nvPr/>
        </p:nvPicPr>
        <p:blipFill>
          <a:blip r:embed="rId4"/>
          <a:stretch>
            <a:fillRect/>
          </a:stretch>
        </p:blipFill>
        <p:spPr>
          <a:xfrm>
            <a:off x="7651320" y="5848095"/>
            <a:ext cx="128699" cy="187198"/>
          </a:xfrm>
          <a:prstGeom prst="rect">
            <a:avLst/>
          </a:prstGeom>
        </p:spPr>
      </p:pic>
      <p:sp>
        <p:nvSpPr>
          <p:cNvPr id="310" name="TextBox 309"/>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1" name="Picture 310" descr="lock.png"/>
          <p:cNvPicPr>
            <a:picLocks noChangeAspect="1"/>
          </p:cNvPicPr>
          <p:nvPr/>
        </p:nvPicPr>
        <p:blipFill>
          <a:blip r:embed="rId4"/>
          <a:stretch>
            <a:fillRect/>
          </a:stretch>
        </p:blipFill>
        <p:spPr>
          <a:xfrm>
            <a:off x="8749737" y="5848095"/>
            <a:ext cx="128699" cy="187198"/>
          </a:xfrm>
          <a:prstGeom prst="rect">
            <a:avLst/>
          </a:prstGeom>
        </p:spPr>
      </p:pic>
      <p:sp>
        <p:nvSpPr>
          <p:cNvPr id="312" name="TextBox 311"/>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3" name="TextBox 312"/>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4" name="Picture 313" descr="lock.png"/>
          <p:cNvPicPr>
            <a:picLocks noChangeAspect="1"/>
          </p:cNvPicPr>
          <p:nvPr/>
        </p:nvPicPr>
        <p:blipFill>
          <a:blip r:embed="rId4"/>
          <a:stretch>
            <a:fillRect/>
          </a:stretch>
        </p:blipFill>
        <p:spPr>
          <a:xfrm>
            <a:off x="8481881" y="6067170"/>
            <a:ext cx="128699" cy="187198"/>
          </a:xfrm>
          <a:prstGeom prst="rect">
            <a:avLst/>
          </a:prstGeom>
        </p:spPr>
      </p:pic>
      <p:sp>
        <p:nvSpPr>
          <p:cNvPr id="315" name="TextBox 314"/>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6" name="Picture 315" descr="lock.png"/>
          <p:cNvPicPr>
            <a:picLocks noChangeAspect="1"/>
          </p:cNvPicPr>
          <p:nvPr/>
        </p:nvPicPr>
        <p:blipFill>
          <a:blip r:embed="rId4"/>
          <a:stretch>
            <a:fillRect/>
          </a:stretch>
        </p:blipFill>
        <p:spPr>
          <a:xfrm>
            <a:off x="10724926" y="6067170"/>
            <a:ext cx="128699" cy="187198"/>
          </a:xfrm>
          <a:prstGeom prst="rect">
            <a:avLst/>
          </a:prstGeom>
        </p:spPr>
      </p:pic>
      <p:sp>
        <p:nvSpPr>
          <p:cNvPr id="317" name="TextBox 316"/>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8" name="TextBox 317"/>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Structure broadly stable</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Technology substitution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pic>
        <p:nvPicPr>
          <p:cNvPr id="135" name="Picture 134" descr="lock.png"/>
          <p:cNvPicPr>
            <a:picLocks noChangeAspect="1"/>
          </p:cNvPicPr>
          <p:nvPr/>
        </p:nvPicPr>
        <p:blipFill>
          <a:blip r:embed="rId4"/>
          <a:stretch>
            <a:fillRect/>
          </a:stretch>
        </p:blipFill>
        <p:spPr>
          <a:xfrm>
            <a:off x="4279050" y="4225988"/>
            <a:ext cx="128699" cy="187198"/>
          </a:xfrm>
          <a:prstGeom prst="rect">
            <a:avLst/>
          </a:prstGeom>
        </p:spPr>
      </p:pic>
      <p:pic>
        <p:nvPicPr>
          <p:cNvPr id="136" name="Picture 135" descr="lock.png"/>
          <p:cNvPicPr>
            <a:picLocks noChangeAspect="1"/>
          </p:cNvPicPr>
          <p:nvPr/>
        </p:nvPicPr>
        <p:blipFill>
          <a:blip r:embed="rId4"/>
          <a:stretch>
            <a:fillRect/>
          </a:stretch>
        </p:blipFill>
        <p:spPr>
          <a:xfrm>
            <a:off x="4279050" y="4635563"/>
            <a:ext cx="128699" cy="187198"/>
          </a:xfrm>
          <a:prstGeom prst="rect">
            <a:avLst/>
          </a:prstGeom>
        </p:spPr>
      </p:pic>
      <p:pic>
        <p:nvPicPr>
          <p:cNvPr id="137" name="Picture 136" descr="lock.png"/>
          <p:cNvPicPr>
            <a:picLocks noChangeAspect="1"/>
          </p:cNvPicPr>
          <p:nvPr/>
        </p:nvPicPr>
        <p:blipFill>
          <a:blip r:embed="rId4"/>
          <a:stretch>
            <a:fillRect/>
          </a:stretch>
        </p:blipFill>
        <p:spPr>
          <a:xfrm>
            <a:off x="4279050" y="5045138"/>
            <a:ext cx="128699" cy="187198"/>
          </a:xfrm>
          <a:prstGeom prst="rect">
            <a:avLst/>
          </a:prstGeom>
        </p:spPr>
      </p:pic>
      <p:pic>
        <p:nvPicPr>
          <p:cNvPr id="138" name="Picture 137" descr="lock.png"/>
          <p:cNvPicPr>
            <a:picLocks noChangeAspect="1"/>
          </p:cNvPicPr>
          <p:nvPr/>
        </p:nvPicPr>
        <p:blipFill>
          <a:blip r:embed="rId4"/>
          <a:stretch>
            <a:fillRect/>
          </a:stretch>
        </p:blipFill>
        <p:spPr>
          <a:xfrm>
            <a:off x="4279050" y="5454713"/>
            <a:ext cx="128699" cy="187198"/>
          </a:xfrm>
          <a:prstGeom prst="rect">
            <a:avLst/>
          </a:prstGeom>
        </p:spPr>
      </p:pic>
      <p:pic>
        <p:nvPicPr>
          <p:cNvPr id="139" name="Picture 138" descr="lock.png"/>
          <p:cNvPicPr>
            <a:picLocks noChangeAspect="1"/>
          </p:cNvPicPr>
          <p:nvPr/>
        </p:nvPicPr>
        <p:blipFill>
          <a:blip r:embed="rId4"/>
          <a:stretch>
            <a:fillRect/>
          </a:stretch>
        </p:blipFill>
        <p:spPr>
          <a:xfrm>
            <a:off x="4279050" y="5864288"/>
            <a:ext cx="128699" cy="187198"/>
          </a:xfrm>
          <a:prstGeom prst="rect">
            <a:avLst/>
          </a:prstGeom>
        </p:spPr>
      </p:pic>
      <p:pic>
        <p:nvPicPr>
          <p:cNvPr id="140" name="Picture 139" descr="lock.png"/>
          <p:cNvPicPr>
            <a:picLocks noChangeAspect="1"/>
          </p:cNvPicPr>
          <p:nvPr/>
        </p:nvPicPr>
        <p:blipFill>
          <a:blip r:embed="rId4"/>
          <a:stretch>
            <a:fillRect/>
          </a:stretch>
        </p:blipFill>
        <p:spPr>
          <a:xfrm>
            <a:off x="4279050" y="6273863"/>
            <a:ext cx="128699" cy="187198"/>
          </a:xfrm>
          <a:prstGeom prst="rect">
            <a:avLst/>
          </a:prstGeom>
        </p:spPr>
      </p:pic>
      <p:sp>
        <p:nvSpPr>
          <p:cNvPr id="141" name="TextBox 140"/>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42" name="Picture 141" descr="lock.png"/>
          <p:cNvPicPr>
            <a:picLocks noChangeAspect="1"/>
          </p:cNvPicPr>
          <p:nvPr/>
        </p:nvPicPr>
        <p:blipFill>
          <a:blip r:embed="rId4"/>
          <a:stretch>
            <a:fillRect/>
          </a:stretch>
        </p:blipFill>
        <p:spPr>
          <a:xfrm>
            <a:off x="1424204" y="1860931"/>
            <a:ext cx="128699" cy="187198"/>
          </a:xfrm>
          <a:prstGeom prst="rect">
            <a:avLst/>
          </a:prstGeom>
        </p:spPr>
      </p:pic>
      <p:sp>
        <p:nvSpPr>
          <p:cNvPr id="143" name="TextBox 142"/>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4" name="Picture 143" descr="lock.png"/>
          <p:cNvPicPr>
            <a:picLocks noChangeAspect="1"/>
          </p:cNvPicPr>
          <p:nvPr/>
        </p:nvPicPr>
        <p:blipFill>
          <a:blip r:embed="rId4"/>
          <a:stretch>
            <a:fillRect/>
          </a:stretch>
        </p:blipFill>
        <p:spPr>
          <a:xfrm>
            <a:off x="1742554" y="1860931"/>
            <a:ext cx="128699" cy="187198"/>
          </a:xfrm>
          <a:prstGeom prst="rect">
            <a:avLst/>
          </a:prstGeom>
        </p:spPr>
      </p:pic>
      <p:sp>
        <p:nvSpPr>
          <p:cNvPr id="145" name="TextBox 144"/>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6" name="TextBox 145"/>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7" name="Picture 146" descr="lock.png"/>
          <p:cNvPicPr>
            <a:picLocks noChangeAspect="1"/>
          </p:cNvPicPr>
          <p:nvPr/>
        </p:nvPicPr>
        <p:blipFill>
          <a:blip r:embed="rId4"/>
          <a:stretch>
            <a:fillRect/>
          </a:stretch>
        </p:blipFill>
        <p:spPr>
          <a:xfrm>
            <a:off x="4681754" y="1860931"/>
            <a:ext cx="128699" cy="187198"/>
          </a:xfrm>
          <a:prstGeom prst="rect">
            <a:avLst/>
          </a:prstGeom>
        </p:spPr>
      </p:pic>
      <p:sp>
        <p:nvSpPr>
          <p:cNvPr id="148" name="TextBox 147"/>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9" name="Picture 148" descr="lock.png"/>
          <p:cNvPicPr>
            <a:picLocks noChangeAspect="1"/>
          </p:cNvPicPr>
          <p:nvPr/>
        </p:nvPicPr>
        <p:blipFill>
          <a:blip r:embed="rId4"/>
          <a:stretch>
            <a:fillRect/>
          </a:stretch>
        </p:blipFill>
        <p:spPr>
          <a:xfrm>
            <a:off x="5000104" y="1860931"/>
            <a:ext cx="128699" cy="187198"/>
          </a:xfrm>
          <a:prstGeom prst="rect">
            <a:avLst/>
          </a:prstGeom>
        </p:spPr>
      </p:pic>
      <p:sp>
        <p:nvSpPr>
          <p:cNvPr id="150" name="TextBox 149"/>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1" name="TextBox 150"/>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52" name="Picture 151" descr="lock.png"/>
          <p:cNvPicPr>
            <a:picLocks noChangeAspect="1"/>
          </p:cNvPicPr>
          <p:nvPr/>
        </p:nvPicPr>
        <p:blipFill>
          <a:blip r:embed="rId4"/>
          <a:stretch>
            <a:fillRect/>
          </a:stretch>
        </p:blipFill>
        <p:spPr>
          <a:xfrm>
            <a:off x="7939304" y="1860931"/>
            <a:ext cx="128699" cy="187198"/>
          </a:xfrm>
          <a:prstGeom prst="rect">
            <a:avLst/>
          </a:prstGeom>
        </p:spPr>
      </p:pic>
      <p:sp>
        <p:nvSpPr>
          <p:cNvPr id="153" name="TextBox 152"/>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54" name="Picture 153" descr="lock.png"/>
          <p:cNvPicPr>
            <a:picLocks noChangeAspect="1"/>
          </p:cNvPicPr>
          <p:nvPr/>
        </p:nvPicPr>
        <p:blipFill>
          <a:blip r:embed="rId4"/>
          <a:stretch>
            <a:fillRect/>
          </a:stretch>
        </p:blipFill>
        <p:spPr>
          <a:xfrm>
            <a:off x="8257654" y="1860931"/>
            <a:ext cx="128699" cy="187198"/>
          </a:xfrm>
          <a:prstGeom prst="rect">
            <a:avLst/>
          </a:prstGeom>
        </p:spPr>
      </p:pic>
      <p:sp>
        <p:nvSpPr>
          <p:cNvPr id="155" name="TextBox 154"/>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6" name="TextBox 155"/>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7" name="Picture 156" descr="lock.png"/>
          <p:cNvPicPr>
            <a:picLocks noChangeAspect="1"/>
          </p:cNvPicPr>
          <p:nvPr/>
        </p:nvPicPr>
        <p:blipFill>
          <a:blip r:embed="rId4"/>
          <a:stretch>
            <a:fillRect/>
          </a:stretch>
        </p:blipFill>
        <p:spPr>
          <a:xfrm>
            <a:off x="10872946" y="1944751"/>
            <a:ext cx="128699" cy="187198"/>
          </a:xfrm>
          <a:prstGeom prst="rect">
            <a:avLst/>
          </a:prstGeom>
        </p:spPr>
      </p:pic>
      <p:sp>
        <p:nvSpPr>
          <p:cNvPr id="158" name="TextBox 157"/>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9" name="Picture 158" descr="lock.png"/>
          <p:cNvPicPr>
            <a:picLocks noChangeAspect="1"/>
          </p:cNvPicPr>
          <p:nvPr/>
        </p:nvPicPr>
        <p:blipFill>
          <a:blip r:embed="rId4"/>
          <a:stretch>
            <a:fillRect/>
          </a:stretch>
        </p:blipFill>
        <p:spPr>
          <a:xfrm>
            <a:off x="11191297" y="1944751"/>
            <a:ext cx="128699" cy="187198"/>
          </a:xfrm>
          <a:prstGeom prst="rect">
            <a:avLst/>
          </a:prstGeom>
        </p:spPr>
      </p:pic>
      <p:sp>
        <p:nvSpPr>
          <p:cNvPr id="160" name="TextBox 159"/>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61" name="TextBox 160"/>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62" name="Picture 161" descr="lock.png"/>
          <p:cNvPicPr>
            <a:picLocks noChangeAspect="1"/>
          </p:cNvPicPr>
          <p:nvPr/>
        </p:nvPicPr>
        <p:blipFill>
          <a:blip r:embed="rId4"/>
          <a:stretch>
            <a:fillRect/>
          </a:stretch>
        </p:blipFill>
        <p:spPr>
          <a:xfrm>
            <a:off x="9434331" y="3847846"/>
            <a:ext cx="128699" cy="187198"/>
          </a:xfrm>
          <a:prstGeom prst="rect">
            <a:avLst/>
          </a:prstGeom>
        </p:spPr>
      </p:pic>
      <p:sp>
        <p:nvSpPr>
          <p:cNvPr id="163" name="TextBox 162"/>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64" name="TextBox 163"/>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65" name="Picture 164" descr="lock.png"/>
          <p:cNvPicPr>
            <a:picLocks noChangeAspect="1"/>
          </p:cNvPicPr>
          <p:nvPr/>
        </p:nvPicPr>
        <p:blipFill>
          <a:blip r:embed="rId4"/>
          <a:stretch>
            <a:fillRect/>
          </a:stretch>
        </p:blipFill>
        <p:spPr>
          <a:xfrm>
            <a:off x="9730921" y="4015486"/>
            <a:ext cx="128699" cy="187198"/>
          </a:xfrm>
          <a:prstGeom prst="rect">
            <a:avLst/>
          </a:prstGeom>
        </p:spPr>
      </p:pic>
      <p:sp>
        <p:nvSpPr>
          <p:cNvPr id="166" name="TextBox 165"/>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7" name="TextBox 166"/>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8" name="Picture 167" descr="lock.png"/>
          <p:cNvPicPr>
            <a:picLocks noChangeAspect="1"/>
          </p:cNvPicPr>
          <p:nvPr/>
        </p:nvPicPr>
        <p:blipFill>
          <a:blip r:embed="rId4"/>
          <a:stretch>
            <a:fillRect/>
          </a:stretch>
        </p:blipFill>
        <p:spPr>
          <a:xfrm>
            <a:off x="11077170" y="5009895"/>
            <a:ext cx="128699" cy="187198"/>
          </a:xfrm>
          <a:prstGeom prst="rect">
            <a:avLst/>
          </a:prstGeom>
        </p:spPr>
      </p:pic>
      <p:sp>
        <p:nvSpPr>
          <p:cNvPr id="169" name="TextBox 168"/>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70" name="TextBox 169"/>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Dentsply Sirona Inc.</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Ivoclar Vivadent AG</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Kulzer GmbH</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GC Corporation</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SHOFU INC.</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VITA Zahnfabrik H. Rauter GmbH &amp; Co. KG</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Zhermack S.p.A.</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DETAX GmbH</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Candulor AG</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Ruthinium Dental Manufacturing S.p.A.</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1469231" cy="164283"/>
          </a:xfrm>
          <a:prstGeom prst="rect">
            <a:avLst/>
          </a:prstGeom>
          <a:noFill/>
        </p:spPr>
        <p:txBody>
          <a:bodyPr wrap="square" lIns="0" rIns="0" tIns="0" bIns="0" anchor="ctr">
            <a:spAutoFit/>
          </a:bodyPr>
          <a:lstStyle/>
          <a:p>
            <a:pPr algn="l"/>
            <a:r>
              <a:rPr sz="1100" b="0">
                <a:solidFill>
                  <a:srgbClr val="2E2E2E"/>
                </a:solidFill>
                <a:latin typeface="Calibri"/>
              </a:rPr>
              <a:t>Flexible Partial Dentures</a:t>
            </a:r>
          </a:p>
        </p:txBody>
      </p:sp>
      <p:sp>
        <p:nvSpPr>
          <p:cNvPr id="335" name="Rectangle 334"/>
          <p:cNvSpPr/>
          <p:nvPr/>
        </p:nvSpPr>
        <p:spPr>
          <a:xfrm>
            <a:off x="3062288"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3214688" y="5716715"/>
            <a:ext cx="2447925" cy="164283"/>
          </a:xfrm>
          <a:prstGeom prst="rect">
            <a:avLst/>
          </a:prstGeom>
          <a:noFill/>
        </p:spPr>
        <p:txBody>
          <a:bodyPr wrap="square" lIns="0" rIns="0" tIns="0" bIns="0" anchor="ctr">
            <a:spAutoFit/>
          </a:bodyPr>
          <a:lstStyle/>
          <a:p>
            <a:pPr algn="l"/>
            <a:r>
              <a:rPr sz="1100" b="0">
                <a:solidFill>
                  <a:srgbClr val="2E2E2E"/>
                </a:solidFill>
                <a:latin typeface="Calibri"/>
              </a:rPr>
              <a:t>Combination Framework Partial Dentures</a:t>
            </a:r>
          </a:p>
        </p:txBody>
      </p:sp>
      <p:sp>
        <p:nvSpPr>
          <p:cNvPr id="337" name="Rectangle 336"/>
          <p:cNvSpPr/>
          <p:nvPr/>
        </p:nvSpPr>
        <p:spPr>
          <a:xfrm>
            <a:off x="5719762"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5872162" y="5716715"/>
            <a:ext cx="1640681" cy="164283"/>
          </a:xfrm>
          <a:prstGeom prst="rect">
            <a:avLst/>
          </a:prstGeom>
          <a:noFill/>
        </p:spPr>
        <p:txBody>
          <a:bodyPr wrap="square" lIns="0" rIns="0" tIns="0" bIns="0" anchor="ctr">
            <a:spAutoFit/>
          </a:bodyPr>
          <a:lstStyle/>
          <a:p>
            <a:pPr algn="l"/>
            <a:r>
              <a:rPr sz="1100" b="0">
                <a:solidFill>
                  <a:srgbClr val="2E2E2E"/>
                </a:solidFill>
                <a:latin typeface="Calibri"/>
              </a:rPr>
              <a:t>Cast Metal Partial Dentures</a:t>
            </a:r>
          </a:p>
        </p:txBody>
      </p:sp>
      <p:sp>
        <p:nvSpPr>
          <p:cNvPr id="339" name="Rectangle 338"/>
          <p:cNvSpPr/>
          <p:nvPr/>
        </p:nvSpPr>
        <p:spPr>
          <a:xfrm>
            <a:off x="7569994"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TextBox 339"/>
          <p:cNvSpPr txBox="1"/>
          <p:nvPr/>
        </p:nvSpPr>
        <p:spPr>
          <a:xfrm>
            <a:off x="7722394"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41" name="TextBox 34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2" name="TextBox 34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3" name="TextBox 34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4" name="TextBox 34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5" name="TextBox 34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6" name="TextBox 34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7" name="TextBox 34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8" name="TextBox 34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9" name="TextBox 34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50" name="TextBox 34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51" name="TextBox 35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2" name="Oval 35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TextBox 35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4" name="TextBox 35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5" name="Oval 35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TextBox 35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7" name="TextBox 35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8" name="Oval 35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TextBox 35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60" name="TextBox 35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61" name="Oval 36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TextBox 36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3" name="TextBox 36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4" name="Oval 36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TextBox 36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6" name="TextBox 36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7" name="Oval 36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TextBox 36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9" name="TextBox 36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70" name="Oval 36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TextBox 37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2" name="TextBox 37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3" name="TextBox 37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4" name="TextBox 37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5" name="TextBox 37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6" name="Picture 375" descr="lock.png"/>
          <p:cNvPicPr>
            <a:picLocks noChangeAspect="1"/>
          </p:cNvPicPr>
          <p:nvPr/>
        </p:nvPicPr>
        <p:blipFill>
          <a:blip r:embed="rId4"/>
          <a:stretch>
            <a:fillRect/>
          </a:stretch>
        </p:blipFill>
        <p:spPr>
          <a:xfrm>
            <a:off x="1769213" y="2702524"/>
            <a:ext cx="128699" cy="187198"/>
          </a:xfrm>
          <a:prstGeom prst="rect">
            <a:avLst/>
          </a:prstGeom>
        </p:spPr>
      </p:pic>
      <p:pic>
        <p:nvPicPr>
          <p:cNvPr id="377" name="Picture 376" descr="lock.png"/>
          <p:cNvPicPr>
            <a:picLocks noChangeAspect="1"/>
          </p:cNvPicPr>
          <p:nvPr/>
        </p:nvPicPr>
        <p:blipFill>
          <a:blip r:embed="rId4"/>
          <a:stretch>
            <a:fillRect/>
          </a:stretch>
        </p:blipFill>
        <p:spPr>
          <a:xfrm>
            <a:off x="1769213" y="3031091"/>
            <a:ext cx="128699" cy="187198"/>
          </a:xfrm>
          <a:prstGeom prst="rect">
            <a:avLst/>
          </a:prstGeom>
        </p:spPr>
      </p:pic>
      <p:pic>
        <p:nvPicPr>
          <p:cNvPr id="378" name="Picture 377" descr="lock.png"/>
          <p:cNvPicPr>
            <a:picLocks noChangeAspect="1"/>
          </p:cNvPicPr>
          <p:nvPr/>
        </p:nvPicPr>
        <p:blipFill>
          <a:blip r:embed="rId4"/>
          <a:stretch>
            <a:fillRect/>
          </a:stretch>
        </p:blipFill>
        <p:spPr>
          <a:xfrm>
            <a:off x="1769212" y="3560448"/>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2702524"/>
            <a:ext cx="128699" cy="187198"/>
          </a:xfrm>
          <a:prstGeom prst="rect">
            <a:avLst/>
          </a:prstGeom>
        </p:spPr>
      </p:pic>
      <p:pic>
        <p:nvPicPr>
          <p:cNvPr id="380" name="Picture 379" descr="lock.png"/>
          <p:cNvPicPr>
            <a:picLocks noChangeAspect="1"/>
          </p:cNvPicPr>
          <p:nvPr/>
        </p:nvPicPr>
        <p:blipFill>
          <a:blip r:embed="rId4"/>
          <a:stretch>
            <a:fillRect/>
          </a:stretch>
        </p:blipFill>
        <p:spPr>
          <a:xfrm>
            <a:off x="2845538" y="3031091"/>
            <a:ext cx="128699" cy="187198"/>
          </a:xfrm>
          <a:prstGeom prst="rect">
            <a:avLst/>
          </a:prstGeom>
        </p:spPr>
      </p:pic>
      <p:pic>
        <p:nvPicPr>
          <p:cNvPr id="381" name="Picture 380" descr="lock.png"/>
          <p:cNvPicPr>
            <a:picLocks noChangeAspect="1"/>
          </p:cNvPicPr>
          <p:nvPr/>
        </p:nvPicPr>
        <p:blipFill>
          <a:blip r:embed="rId4"/>
          <a:stretch>
            <a:fillRect/>
          </a:stretch>
        </p:blipFill>
        <p:spPr>
          <a:xfrm>
            <a:off x="2845538" y="3560448"/>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3" y="2702524"/>
            <a:ext cx="128699" cy="187198"/>
          </a:xfrm>
          <a:prstGeom prst="rect">
            <a:avLst/>
          </a:prstGeom>
        </p:spPr>
      </p:pic>
      <p:pic>
        <p:nvPicPr>
          <p:cNvPr id="383" name="Picture 382" descr="lock.png"/>
          <p:cNvPicPr>
            <a:picLocks noChangeAspect="1"/>
          </p:cNvPicPr>
          <p:nvPr/>
        </p:nvPicPr>
        <p:blipFill>
          <a:blip r:embed="rId4"/>
          <a:stretch>
            <a:fillRect/>
          </a:stretch>
        </p:blipFill>
        <p:spPr>
          <a:xfrm>
            <a:off x="3921863" y="3031091"/>
            <a:ext cx="128699" cy="187198"/>
          </a:xfrm>
          <a:prstGeom prst="rect">
            <a:avLst/>
          </a:prstGeom>
        </p:spPr>
      </p:pic>
      <p:pic>
        <p:nvPicPr>
          <p:cNvPr id="384" name="Picture 383" descr="lock.png"/>
          <p:cNvPicPr>
            <a:picLocks noChangeAspect="1"/>
          </p:cNvPicPr>
          <p:nvPr/>
        </p:nvPicPr>
        <p:blipFill>
          <a:blip r:embed="rId4"/>
          <a:stretch>
            <a:fillRect/>
          </a:stretch>
        </p:blipFill>
        <p:spPr>
          <a:xfrm>
            <a:off x="3921862" y="3560448"/>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2702524"/>
            <a:ext cx="128699" cy="187198"/>
          </a:xfrm>
          <a:prstGeom prst="rect">
            <a:avLst/>
          </a:prstGeom>
        </p:spPr>
      </p:pic>
      <p:pic>
        <p:nvPicPr>
          <p:cNvPr id="386" name="Picture 385" descr="lock.png"/>
          <p:cNvPicPr>
            <a:picLocks noChangeAspect="1"/>
          </p:cNvPicPr>
          <p:nvPr/>
        </p:nvPicPr>
        <p:blipFill>
          <a:blip r:embed="rId4"/>
          <a:stretch>
            <a:fillRect/>
          </a:stretch>
        </p:blipFill>
        <p:spPr>
          <a:xfrm>
            <a:off x="4998188" y="3031091"/>
            <a:ext cx="128699" cy="187198"/>
          </a:xfrm>
          <a:prstGeom prst="rect">
            <a:avLst/>
          </a:prstGeom>
        </p:spPr>
      </p:pic>
      <p:pic>
        <p:nvPicPr>
          <p:cNvPr id="387" name="Picture 386" descr="lock.png"/>
          <p:cNvPicPr>
            <a:picLocks noChangeAspect="1"/>
          </p:cNvPicPr>
          <p:nvPr/>
        </p:nvPicPr>
        <p:blipFill>
          <a:blip r:embed="rId4"/>
          <a:stretch>
            <a:fillRect/>
          </a:stretch>
        </p:blipFill>
        <p:spPr>
          <a:xfrm>
            <a:off x="4998188" y="3560448"/>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3" y="2702524"/>
            <a:ext cx="128699" cy="187198"/>
          </a:xfrm>
          <a:prstGeom prst="rect">
            <a:avLst/>
          </a:prstGeom>
        </p:spPr>
      </p:pic>
      <p:pic>
        <p:nvPicPr>
          <p:cNvPr id="389" name="Picture 388" descr="lock.png"/>
          <p:cNvPicPr>
            <a:picLocks noChangeAspect="1"/>
          </p:cNvPicPr>
          <p:nvPr/>
        </p:nvPicPr>
        <p:blipFill>
          <a:blip r:embed="rId4"/>
          <a:stretch>
            <a:fillRect/>
          </a:stretch>
        </p:blipFill>
        <p:spPr>
          <a:xfrm>
            <a:off x="6074513" y="3031091"/>
            <a:ext cx="128699" cy="187198"/>
          </a:xfrm>
          <a:prstGeom prst="rect">
            <a:avLst/>
          </a:prstGeom>
        </p:spPr>
      </p:pic>
      <p:pic>
        <p:nvPicPr>
          <p:cNvPr id="390" name="Picture 389" descr="lock.png"/>
          <p:cNvPicPr>
            <a:picLocks noChangeAspect="1"/>
          </p:cNvPicPr>
          <p:nvPr/>
        </p:nvPicPr>
        <p:blipFill>
          <a:blip r:embed="rId4"/>
          <a:stretch>
            <a:fillRect/>
          </a:stretch>
        </p:blipFill>
        <p:spPr>
          <a:xfrm>
            <a:off x="6074512" y="3560448"/>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2702524"/>
            <a:ext cx="128699" cy="187198"/>
          </a:xfrm>
          <a:prstGeom prst="rect">
            <a:avLst/>
          </a:prstGeom>
        </p:spPr>
      </p:pic>
      <p:pic>
        <p:nvPicPr>
          <p:cNvPr id="392" name="Picture 391" descr="lock.png"/>
          <p:cNvPicPr>
            <a:picLocks noChangeAspect="1"/>
          </p:cNvPicPr>
          <p:nvPr/>
        </p:nvPicPr>
        <p:blipFill>
          <a:blip r:embed="rId4"/>
          <a:stretch>
            <a:fillRect/>
          </a:stretch>
        </p:blipFill>
        <p:spPr>
          <a:xfrm>
            <a:off x="7150838" y="3031091"/>
            <a:ext cx="128699" cy="187198"/>
          </a:xfrm>
          <a:prstGeom prst="rect">
            <a:avLst/>
          </a:prstGeom>
        </p:spPr>
      </p:pic>
      <p:pic>
        <p:nvPicPr>
          <p:cNvPr id="393" name="Picture 392" descr="lock.png"/>
          <p:cNvPicPr>
            <a:picLocks noChangeAspect="1"/>
          </p:cNvPicPr>
          <p:nvPr/>
        </p:nvPicPr>
        <p:blipFill>
          <a:blip r:embed="rId4"/>
          <a:stretch>
            <a:fillRect/>
          </a:stretch>
        </p:blipFill>
        <p:spPr>
          <a:xfrm>
            <a:off x="7150838" y="3560448"/>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3" y="2702524"/>
            <a:ext cx="128699" cy="187198"/>
          </a:xfrm>
          <a:prstGeom prst="rect">
            <a:avLst/>
          </a:prstGeom>
        </p:spPr>
      </p:pic>
      <p:pic>
        <p:nvPicPr>
          <p:cNvPr id="395" name="Picture 394" descr="lock.png"/>
          <p:cNvPicPr>
            <a:picLocks noChangeAspect="1"/>
          </p:cNvPicPr>
          <p:nvPr/>
        </p:nvPicPr>
        <p:blipFill>
          <a:blip r:embed="rId4"/>
          <a:stretch>
            <a:fillRect/>
          </a:stretch>
        </p:blipFill>
        <p:spPr>
          <a:xfrm>
            <a:off x="8227163" y="3031091"/>
            <a:ext cx="128699" cy="187198"/>
          </a:xfrm>
          <a:prstGeom prst="rect">
            <a:avLst/>
          </a:prstGeom>
        </p:spPr>
      </p:pic>
      <p:pic>
        <p:nvPicPr>
          <p:cNvPr id="396" name="Picture 395" descr="lock.png"/>
          <p:cNvPicPr>
            <a:picLocks noChangeAspect="1"/>
          </p:cNvPicPr>
          <p:nvPr/>
        </p:nvPicPr>
        <p:blipFill>
          <a:blip r:embed="rId4"/>
          <a:stretch>
            <a:fillRect/>
          </a:stretch>
        </p:blipFill>
        <p:spPr>
          <a:xfrm>
            <a:off x="8227162" y="3560448"/>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2702524"/>
            <a:ext cx="128699" cy="187198"/>
          </a:xfrm>
          <a:prstGeom prst="rect">
            <a:avLst/>
          </a:prstGeom>
        </p:spPr>
      </p:pic>
      <p:pic>
        <p:nvPicPr>
          <p:cNvPr id="398" name="Picture 397" descr="lock.png"/>
          <p:cNvPicPr>
            <a:picLocks noChangeAspect="1"/>
          </p:cNvPicPr>
          <p:nvPr/>
        </p:nvPicPr>
        <p:blipFill>
          <a:blip r:embed="rId4"/>
          <a:stretch>
            <a:fillRect/>
          </a:stretch>
        </p:blipFill>
        <p:spPr>
          <a:xfrm>
            <a:off x="9303488" y="3031091"/>
            <a:ext cx="128699" cy="187198"/>
          </a:xfrm>
          <a:prstGeom prst="rect">
            <a:avLst/>
          </a:prstGeom>
        </p:spPr>
      </p:pic>
      <p:pic>
        <p:nvPicPr>
          <p:cNvPr id="399" name="Picture 398" descr="lock.png"/>
          <p:cNvPicPr>
            <a:picLocks noChangeAspect="1"/>
          </p:cNvPicPr>
          <p:nvPr/>
        </p:nvPicPr>
        <p:blipFill>
          <a:blip r:embed="rId4"/>
          <a:stretch>
            <a:fillRect/>
          </a:stretch>
        </p:blipFill>
        <p:spPr>
          <a:xfrm>
            <a:off x="9303488" y="3560448"/>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3" y="2702524"/>
            <a:ext cx="128699" cy="187198"/>
          </a:xfrm>
          <a:prstGeom prst="rect">
            <a:avLst/>
          </a:prstGeom>
        </p:spPr>
      </p:pic>
      <p:pic>
        <p:nvPicPr>
          <p:cNvPr id="401" name="Picture 400" descr="lock.png"/>
          <p:cNvPicPr>
            <a:picLocks noChangeAspect="1"/>
          </p:cNvPicPr>
          <p:nvPr/>
        </p:nvPicPr>
        <p:blipFill>
          <a:blip r:embed="rId4"/>
          <a:stretch>
            <a:fillRect/>
          </a:stretch>
        </p:blipFill>
        <p:spPr>
          <a:xfrm>
            <a:off x="10379813" y="3031091"/>
            <a:ext cx="128699" cy="187198"/>
          </a:xfrm>
          <a:prstGeom prst="rect">
            <a:avLst/>
          </a:prstGeom>
        </p:spPr>
      </p:pic>
      <p:pic>
        <p:nvPicPr>
          <p:cNvPr id="402" name="Picture 401" descr="lock.png"/>
          <p:cNvPicPr>
            <a:picLocks noChangeAspect="1"/>
          </p:cNvPicPr>
          <p:nvPr/>
        </p:nvPicPr>
        <p:blipFill>
          <a:blip r:embed="rId4"/>
          <a:stretch>
            <a:fillRect/>
          </a:stretch>
        </p:blipFill>
        <p:spPr>
          <a:xfrm>
            <a:off x="10379812" y="3560448"/>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2702524"/>
            <a:ext cx="128699" cy="187198"/>
          </a:xfrm>
          <a:prstGeom prst="rect">
            <a:avLst/>
          </a:prstGeom>
        </p:spPr>
      </p:pic>
      <p:pic>
        <p:nvPicPr>
          <p:cNvPr id="404" name="Picture 403" descr="lock.png"/>
          <p:cNvPicPr>
            <a:picLocks noChangeAspect="1"/>
          </p:cNvPicPr>
          <p:nvPr/>
        </p:nvPicPr>
        <p:blipFill>
          <a:blip r:embed="rId4"/>
          <a:stretch>
            <a:fillRect/>
          </a:stretch>
        </p:blipFill>
        <p:spPr>
          <a:xfrm>
            <a:off x="11456138" y="3031091"/>
            <a:ext cx="128699" cy="187198"/>
          </a:xfrm>
          <a:prstGeom prst="rect">
            <a:avLst/>
          </a:prstGeom>
        </p:spPr>
      </p:pic>
      <p:pic>
        <p:nvPicPr>
          <p:cNvPr id="405" name="Picture 404"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Removable Partial Dentures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137174"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'Flexible Partial Dentures') to lift</a:t>
            </a:r>
          </a:p>
        </p:txBody>
      </p:sp>
      <p:sp>
        <p:nvSpPr>
          <p:cNvPr id="33" name="TextBox 32"/>
          <p:cNvSpPr txBox="1"/>
          <p:nvPr/>
        </p:nvSpPr>
        <p:spPr>
          <a:xfrm>
            <a:off x="276225" y="2351539"/>
            <a:ext cx="3225403" cy="194310"/>
          </a:xfrm>
          <a:prstGeom prst="rect">
            <a:avLst/>
          </a:prstGeom>
          <a:noFill/>
        </p:spPr>
        <p:txBody>
          <a:bodyPr wrap="none" lIns="0" rIns="0" tIns="0" bIns="0">
            <a:spAutoFit/>
          </a:bodyPr>
          <a:lstStyle/>
          <a:p>
            <a:r>
              <a:rPr sz="1150" b="0">
                <a:solidFill>
                  <a:srgbClr val="2E2E2E"/>
                </a:solidFill>
                <a:latin typeface="Calibri"/>
              </a:rPr>
              <a:t>blended ASP and 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423654" cy="194310"/>
          </a:xfrm>
          <a:prstGeom prst="rect">
            <a:avLst/>
          </a:prstGeom>
          <a:noFill/>
        </p:spPr>
        <p:txBody>
          <a:bodyPr wrap="none" lIns="0" rIns="0" tIns="0" bIns="0">
            <a:spAutoFit/>
          </a:bodyPr>
          <a:lstStyle/>
          <a:p>
            <a:r>
              <a:rPr sz="1150" b="0">
                <a:solidFill>
                  <a:srgbClr val="2E2E2E"/>
                </a:solidFill>
                <a:latin typeface="Calibri"/>
              </a:rPr>
              <a:t>▪ Benchmark relentlessly against 'Dentsply Sirona Inc.' (~</a:t>
            </a:r>
          </a:p>
        </p:txBody>
      </p:sp>
      <p:pic>
        <p:nvPicPr>
          <p:cNvPr id="43" name="Picture 42" descr="lock.png"/>
          <p:cNvPicPr>
            <a:picLocks noChangeAspect="1"/>
          </p:cNvPicPr>
          <p:nvPr/>
        </p:nvPicPr>
        <p:blipFill>
          <a:blip r:embed="rId4"/>
          <a:stretch>
            <a:fillRect/>
          </a:stretch>
        </p:blipFill>
        <p:spPr>
          <a:xfrm>
            <a:off x="9697408" y="4455378"/>
            <a:ext cx="134549" cy="195707"/>
          </a:xfrm>
          <a:prstGeom prst="rect">
            <a:avLst/>
          </a:prstGeom>
        </p:spPr>
      </p:pic>
      <p:sp>
        <p:nvSpPr>
          <p:cNvPr id="44" name="TextBox 43"/>
          <p:cNvSpPr txBox="1"/>
          <p:nvPr/>
        </p:nvSpPr>
        <p:spPr>
          <a:xfrm>
            <a:off x="9872517" y="4465602"/>
            <a:ext cx="1746646" cy="194310"/>
          </a:xfrm>
          <a:prstGeom prst="rect">
            <a:avLst/>
          </a:prstGeom>
          <a:noFill/>
        </p:spPr>
        <p:txBody>
          <a:bodyPr wrap="none" lIns="0" rIns="0" tIns="0" bIns="0">
            <a:spAutoFit/>
          </a:bodyPr>
          <a:lstStyle/>
          <a:p>
            <a:r>
              <a:rPr sz="1150" b="0">
                <a:solidFill>
                  <a:srgbClr val="2E2E2E"/>
                </a:solidFill>
                <a:latin typeface="Calibri"/>
              </a:rPr>
              <a:t>share) match on service and</a:t>
            </a:r>
          </a:p>
        </p:txBody>
      </p:sp>
      <p:sp>
        <p:nvSpPr>
          <p:cNvPr id="45" name="TextBox 44"/>
          <p:cNvSpPr txBox="1"/>
          <p:nvPr/>
        </p:nvSpPr>
        <p:spPr>
          <a:xfrm>
            <a:off x="6324600" y="4640861"/>
            <a:ext cx="2033327" cy="194310"/>
          </a:xfrm>
          <a:prstGeom prst="rect">
            <a:avLst/>
          </a:prstGeom>
          <a:noFill/>
        </p:spPr>
        <p:txBody>
          <a:bodyPr wrap="none" lIns="0" rIns="0" tIns="0" bIns="0">
            <a:spAutoFit/>
          </a:bodyPr>
          <a:lstStyle/>
          <a:p>
            <a:r>
              <a:rPr sz="1150" b="0">
                <a:solidFill>
                  <a:srgbClr val="2E2E2E"/>
                </a:solidFill>
                <a:latin typeface="Calibri"/>
              </a:rPr>
              <a:t>lead on 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919996" cy="194310"/>
          </a:xfrm>
          <a:prstGeom prst="rect">
            <a:avLst/>
          </a:prstGeom>
          <a:noFill/>
        </p:spPr>
        <p:txBody>
          <a:bodyPr wrap="none" lIns="0" rIns="0" tIns="0" bIns="0">
            <a:spAutoFit/>
          </a:bodyPr>
          <a:lstStyle/>
          <a:p>
            <a:r>
              <a:rPr sz="1150" b="0">
                <a:solidFill>
                  <a:srgbClr val="2E2E2E"/>
                </a:solidFill>
                <a:latin typeface="Calibri"/>
              </a:rPr>
              <a:t>Dentsply Sirona Inc. accounted for the largest share of the global</a:t>
            </a:r>
          </a:p>
        </p:txBody>
      </p:sp>
      <p:sp>
        <p:nvSpPr>
          <p:cNvPr id="26" name="TextBox 25"/>
          <p:cNvSpPr txBox="1"/>
          <p:nvPr/>
        </p:nvSpPr>
        <p:spPr>
          <a:xfrm>
            <a:off x="7934325" y="1948441"/>
            <a:ext cx="3962400" cy="194310"/>
          </a:xfrm>
          <a:prstGeom prst="rect">
            <a:avLst/>
          </a:prstGeom>
          <a:noFill/>
        </p:spPr>
        <p:txBody>
          <a:bodyPr wrap="none" lIns="0" rIns="0" tIns="0" bIns="0">
            <a:spAutoFit/>
          </a:bodyPr>
          <a:lstStyle/>
          <a:p>
            <a:r>
              <a:rPr sz="1150" b="0">
                <a:solidFill>
                  <a:srgbClr val="2E2E2E"/>
                </a:solidFill>
                <a:latin typeface="Calibri"/>
              </a:rPr>
              <a:t>removable partial dentures market in 2026. The global removable</a:t>
            </a:r>
          </a:p>
        </p:txBody>
      </p:sp>
      <p:sp>
        <p:nvSpPr>
          <p:cNvPr id="27" name="TextBox 26"/>
          <p:cNvSpPr txBox="1"/>
          <p:nvPr/>
        </p:nvSpPr>
        <p:spPr>
          <a:xfrm>
            <a:off x="7934325" y="2123701"/>
            <a:ext cx="3957649" cy="194310"/>
          </a:xfrm>
          <a:prstGeom prst="rect">
            <a:avLst/>
          </a:prstGeom>
          <a:noFill/>
        </p:spPr>
        <p:txBody>
          <a:bodyPr wrap="none" lIns="0" rIns="0" tIns="0" bIns="0">
            <a:spAutoFit/>
          </a:bodyPr>
          <a:lstStyle/>
          <a:p>
            <a:r>
              <a:rPr sz="1150" b="0">
                <a:solidFill>
                  <a:srgbClr val="2E2E2E"/>
                </a:solidFill>
                <a:latin typeface="Calibri"/>
              </a:rPr>
              <a:t>partial dentures market is fragmented, with the top three players</a:t>
            </a:r>
          </a:p>
        </p:txBody>
      </p:sp>
      <p:sp>
        <p:nvSpPr>
          <p:cNvPr id="28" name="TextBox 27"/>
          <p:cNvSpPr txBox="1"/>
          <p:nvPr/>
        </p:nvSpPr>
        <p:spPr>
          <a:xfrm>
            <a:off x="7934325" y="2298961"/>
            <a:ext cx="1744650" cy="194310"/>
          </a:xfrm>
          <a:prstGeom prst="rect">
            <a:avLst/>
          </a:prstGeom>
          <a:noFill/>
        </p:spPr>
        <p:txBody>
          <a:bodyPr wrap="none" lIns="0" rIns="0" tIns="0" bIns="0">
            <a:spAutoFit/>
          </a:bodyPr>
          <a:lstStyle/>
          <a:p>
            <a:r>
              <a:rPr sz="1150" b="0">
                <a:solidFill>
                  <a:srgbClr val="2E2E2E"/>
                </a:solidFill>
                <a:latin typeface="Calibri"/>
              </a:rPr>
              <a:t>accounting for an estimated</a:t>
            </a:r>
          </a:p>
        </p:txBody>
      </p:sp>
      <p:pic>
        <p:nvPicPr>
          <p:cNvPr id="29" name="Picture 28" descr="lock.png"/>
          <p:cNvPicPr>
            <a:picLocks noChangeAspect="1"/>
          </p:cNvPicPr>
          <p:nvPr/>
        </p:nvPicPr>
        <p:blipFill>
          <a:blip r:embed="rId5"/>
          <a:stretch>
            <a:fillRect/>
          </a:stretch>
        </p:blipFill>
        <p:spPr>
          <a:xfrm>
            <a:off x="9628129" y="2288737"/>
            <a:ext cx="134549" cy="195707"/>
          </a:xfrm>
          <a:prstGeom prst="rect">
            <a:avLst/>
          </a:prstGeom>
        </p:spPr>
      </p:pic>
      <p:sp>
        <p:nvSpPr>
          <p:cNvPr id="30" name="TextBox 29"/>
          <p:cNvSpPr txBox="1"/>
          <p:nvPr/>
        </p:nvSpPr>
        <p:spPr>
          <a:xfrm>
            <a:off x="9803238" y="2298961"/>
            <a:ext cx="1758912" cy="194310"/>
          </a:xfrm>
          <a:prstGeom prst="rect">
            <a:avLst/>
          </a:prstGeom>
          <a:noFill/>
        </p:spPr>
        <p:txBody>
          <a:bodyPr wrap="none" lIns="0" rIns="0" tIns="0" bIns="0">
            <a:spAutoFit/>
          </a:bodyPr>
          <a:lstStyle/>
          <a:p>
            <a:r>
              <a:rPr sz="1150" b="0">
                <a:solidFill>
                  <a:srgbClr val="2E2E2E"/>
                </a:solidFill>
                <a:latin typeface="Calibri"/>
              </a:rPr>
              <a:t>share of the market in 2026.</a:t>
            </a:r>
          </a:p>
        </p:txBody>
      </p:sp>
      <p:sp>
        <p:nvSpPr>
          <p:cNvPr id="31" name="TextBox 30"/>
          <p:cNvSpPr txBox="1"/>
          <p:nvPr/>
        </p:nvSpPr>
        <p:spPr>
          <a:xfrm>
            <a:off x="7934325" y="2526799"/>
            <a:ext cx="2923889" cy="194310"/>
          </a:xfrm>
          <a:prstGeom prst="rect">
            <a:avLst/>
          </a:prstGeom>
          <a:noFill/>
        </p:spPr>
        <p:txBody>
          <a:bodyPr wrap="none" lIns="0" rIns="0" tIns="0" bIns="0">
            <a:spAutoFit/>
          </a:bodyPr>
          <a:lstStyle/>
          <a:p>
            <a:r>
              <a:rPr sz="1150" b="0">
                <a:solidFill>
                  <a:srgbClr val="2E2E2E"/>
                </a:solidFill>
                <a:latin typeface="Calibri"/>
              </a:rPr>
              <a:t>Dentsply Sirona Inc. accounted for an estimated</a:t>
            </a:r>
          </a:p>
        </p:txBody>
      </p:sp>
      <p:pic>
        <p:nvPicPr>
          <p:cNvPr id="32" name="Picture 31" descr="lock.png"/>
          <p:cNvPicPr>
            <a:picLocks noChangeAspect="1"/>
          </p:cNvPicPr>
          <p:nvPr/>
        </p:nvPicPr>
        <p:blipFill>
          <a:blip r:embed="rId5"/>
          <a:stretch>
            <a:fillRect/>
          </a:stretch>
        </p:blipFill>
        <p:spPr>
          <a:xfrm>
            <a:off x="10807368" y="2516575"/>
            <a:ext cx="134549" cy="195707"/>
          </a:xfrm>
          <a:prstGeom prst="rect">
            <a:avLst/>
          </a:prstGeom>
        </p:spPr>
      </p:pic>
      <p:sp>
        <p:nvSpPr>
          <p:cNvPr id="33" name="TextBox 32"/>
          <p:cNvSpPr txBox="1"/>
          <p:nvPr/>
        </p:nvSpPr>
        <p:spPr>
          <a:xfrm>
            <a:off x="10982477" y="2526799"/>
            <a:ext cx="789905" cy="194310"/>
          </a:xfrm>
          <a:prstGeom prst="rect">
            <a:avLst/>
          </a:prstGeom>
          <a:noFill/>
        </p:spPr>
        <p:txBody>
          <a:bodyPr wrap="none" lIns="0" rIns="0" tIns="0" bIns="0">
            <a:spAutoFit/>
          </a:bodyPr>
          <a:lstStyle/>
          <a:p>
            <a:r>
              <a:rPr sz="1150" b="0">
                <a:solidFill>
                  <a:srgbClr val="2E2E2E"/>
                </a:solidFill>
                <a:latin typeface="Calibri"/>
              </a:rPr>
              <a:t>share of the</a:t>
            </a:r>
          </a:p>
        </p:txBody>
      </p:sp>
      <p:sp>
        <p:nvSpPr>
          <p:cNvPr id="34" name="TextBox 33"/>
          <p:cNvSpPr txBox="1"/>
          <p:nvPr/>
        </p:nvSpPr>
        <p:spPr>
          <a:xfrm>
            <a:off x="7934325" y="2702058"/>
            <a:ext cx="2764129" cy="194310"/>
          </a:xfrm>
          <a:prstGeom prst="rect">
            <a:avLst/>
          </a:prstGeom>
          <a:noFill/>
        </p:spPr>
        <p:txBody>
          <a:bodyPr wrap="none" lIns="0" rIns="0" tIns="0" bIns="0">
            <a:spAutoFit/>
          </a:bodyPr>
          <a:lstStyle/>
          <a:p>
            <a:r>
              <a:rPr sz="1150" b="0">
                <a:solidFill>
                  <a:srgbClr val="2E2E2E"/>
                </a:solidFill>
                <a:latin typeface="Calibri"/>
              </a:rPr>
              <a:t>market, followed by Ivoclar Vivadent AG with</a:t>
            </a:r>
          </a:p>
        </p:txBody>
      </p:sp>
      <p:pic>
        <p:nvPicPr>
          <p:cNvPr id="35" name="Picture 34" descr="lock.png"/>
          <p:cNvPicPr>
            <a:picLocks noChangeAspect="1"/>
          </p:cNvPicPr>
          <p:nvPr/>
        </p:nvPicPr>
        <p:blipFill>
          <a:blip r:embed="rId5"/>
          <a:stretch>
            <a:fillRect/>
          </a:stretch>
        </p:blipFill>
        <p:spPr>
          <a:xfrm>
            <a:off x="10647608" y="2691835"/>
            <a:ext cx="134549" cy="195707"/>
          </a:xfrm>
          <a:prstGeom prst="rect">
            <a:avLst/>
          </a:prstGeom>
        </p:spPr>
      </p:pic>
      <p:sp>
        <p:nvSpPr>
          <p:cNvPr id="36" name="TextBox 35"/>
          <p:cNvSpPr txBox="1"/>
          <p:nvPr/>
        </p:nvSpPr>
        <p:spPr>
          <a:xfrm>
            <a:off x="10822717" y="2702058"/>
            <a:ext cx="1048019" cy="194310"/>
          </a:xfrm>
          <a:prstGeom prst="rect">
            <a:avLst/>
          </a:prstGeom>
          <a:noFill/>
        </p:spPr>
        <p:txBody>
          <a:bodyPr wrap="none" lIns="0" rIns="0" tIns="0" bIns="0">
            <a:spAutoFit/>
          </a:bodyPr>
          <a:lstStyle/>
          <a:p>
            <a:r>
              <a:rPr sz="1150" b="0">
                <a:solidFill>
                  <a:srgbClr val="2E2E2E"/>
                </a:solidFill>
                <a:latin typeface="Calibri"/>
              </a:rPr>
              <a:t>. Key players are</a:t>
            </a:r>
          </a:p>
        </p:txBody>
      </p:sp>
      <p:sp>
        <p:nvSpPr>
          <p:cNvPr id="37" name="TextBox 36"/>
          <p:cNvSpPr txBox="1"/>
          <p:nvPr/>
        </p:nvSpPr>
        <p:spPr>
          <a:xfrm>
            <a:off x="7934325" y="2877318"/>
            <a:ext cx="3551448" cy="194310"/>
          </a:xfrm>
          <a:prstGeom prst="rect">
            <a:avLst/>
          </a:prstGeom>
          <a:noFill/>
        </p:spPr>
        <p:txBody>
          <a:bodyPr wrap="none" lIns="0" rIns="0" tIns="0" bIns="0">
            <a:spAutoFit/>
          </a:bodyPr>
          <a:lstStyle/>
          <a:p>
            <a:r>
              <a:rPr sz="1150" b="0">
                <a:solidFill>
                  <a:srgbClr val="2E2E2E"/>
                </a:solidFill>
                <a:latin typeface="Calibri"/>
              </a:rPr>
              <a:t>focusing on product innovation, geographic expansion and</a:t>
            </a:r>
          </a:p>
        </p:txBody>
      </p:sp>
      <p:sp>
        <p:nvSpPr>
          <p:cNvPr id="38" name="TextBox 37"/>
          <p:cNvSpPr txBox="1"/>
          <p:nvPr/>
        </p:nvSpPr>
        <p:spPr>
          <a:xfrm>
            <a:off x="7934325" y="3052578"/>
            <a:ext cx="3540038" cy="194310"/>
          </a:xfrm>
          <a:prstGeom prst="rect">
            <a:avLst/>
          </a:prstGeom>
          <a:noFill/>
        </p:spPr>
        <p:txBody>
          <a:bodyPr wrap="none" lIns="0" rIns="0" tIns="0" bIns="0">
            <a:spAutoFit/>
          </a:bodyPr>
          <a:lstStyle/>
          <a:p>
            <a:r>
              <a:rPr sz="1150" b="0">
                <a:solidFill>
                  <a:srgbClr val="2E2E2E"/>
                </a:solidFill>
                <a:latin typeface="Calibri"/>
              </a:rPr>
              <a:t>strategic partnerships to strengthen their market position.</a:t>
            </a:r>
          </a:p>
        </p:txBody>
      </p:sp>
      <p:sp>
        <p:nvSpPr>
          <p:cNvPr id="39" name="TextBox 38"/>
          <p:cNvSpPr txBox="1"/>
          <p:nvPr/>
        </p:nvSpPr>
        <p:spPr>
          <a:xfrm>
            <a:off x="7934325" y="3280416"/>
            <a:ext cx="3647864" cy="194310"/>
          </a:xfrm>
          <a:prstGeom prst="rect">
            <a:avLst/>
          </a:prstGeom>
          <a:noFill/>
        </p:spPr>
        <p:txBody>
          <a:bodyPr wrap="none" lIns="0" rIns="0" tIns="0" bIns="0">
            <a:spAutoFit/>
          </a:bodyPr>
          <a:lstStyle/>
          <a:p>
            <a:r>
              <a:rPr sz="1150" b="0">
                <a:solidFill>
                  <a:srgbClr val="2E2E2E"/>
                </a:solidFill>
                <a:latin typeface="Calibri"/>
              </a:rPr>
              <a:t>Regional share differs from the global picture use the region</a:t>
            </a:r>
          </a:p>
        </p:txBody>
      </p:sp>
      <p:sp>
        <p:nvSpPr>
          <p:cNvPr id="40" name="TextBox 39"/>
          <p:cNvSpPr txBox="1"/>
          <p:nvPr/>
        </p:nvSpPr>
        <p:spPr>
          <a:xfrm>
            <a:off x="7934325" y="3455676"/>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1"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Partial Dentures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Combination Framework Partial Dentures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Cast Metal Partial Dentures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373065" cy="186689"/>
          </a:xfrm>
          <a:prstGeom prst="rect">
            <a:avLst/>
          </a:prstGeom>
          <a:noFill/>
        </p:spPr>
        <p:txBody>
          <a:bodyPr wrap="none" lIns="0" rIns="0" tIns="0" bIns="0">
            <a:spAutoFit/>
          </a:bodyPr>
          <a:lstStyle/>
          <a:p>
            <a:r>
              <a:rPr sz="1100" b="0">
                <a:solidFill>
                  <a:srgbClr val="2E2E2E"/>
                </a:solidFill>
                <a:latin typeface="Calibri"/>
              </a:rPr>
              <a:t>▪ Flexible Partial Dentures: 'Dentsply Sirona Inc.' leads at ~</a:t>
            </a:r>
          </a:p>
        </p:txBody>
      </p:sp>
      <p:pic>
        <p:nvPicPr>
          <p:cNvPr id="29" name="Picture 28" descr="lock.png"/>
          <p:cNvPicPr>
            <a:picLocks noChangeAspect="1"/>
          </p:cNvPicPr>
          <p:nvPr/>
        </p:nvPicPr>
        <p:blipFill>
          <a:blip r:embed="rId7"/>
          <a:stretch>
            <a:fillRect/>
          </a:stretch>
        </p:blipFill>
        <p:spPr>
          <a:xfrm>
            <a:off x="3597342" y="5012560"/>
            <a:ext cx="128699" cy="187198"/>
          </a:xfrm>
          <a:prstGeom prst="rect">
            <a:avLst/>
          </a:prstGeom>
        </p:spPr>
      </p:pic>
      <p:sp>
        <p:nvSpPr>
          <p:cNvPr id="30" name="TextBox 29"/>
          <p:cNvSpPr txBox="1"/>
          <p:nvPr/>
        </p:nvSpPr>
        <p:spPr>
          <a:xfrm>
            <a:off x="3764837" y="5022340"/>
            <a:ext cx="1757784" cy="186689"/>
          </a:xfrm>
          <a:prstGeom prst="rect">
            <a:avLst/>
          </a:prstGeom>
          <a:noFill/>
        </p:spPr>
        <p:txBody>
          <a:bodyPr wrap="none" lIns="0" rIns="0" tIns="0" bIns="0">
            <a:spAutoFit/>
          </a:bodyPr>
          <a:lstStyle/>
          <a:p>
            <a:r>
              <a:rPr sz="1100" b="0">
                <a:solidFill>
                  <a:srgbClr val="2E2E2E"/>
                </a:solidFill>
                <a:latin typeface="Calibri"/>
              </a:rPr>
              <a:t>, ahead of 'GC Corporation' (~</a:t>
            </a:r>
          </a:p>
        </p:txBody>
      </p:sp>
      <p:pic>
        <p:nvPicPr>
          <p:cNvPr id="31" name="Picture 30" descr="lock.png"/>
          <p:cNvPicPr>
            <a:picLocks noChangeAspect="1"/>
          </p:cNvPicPr>
          <p:nvPr/>
        </p:nvPicPr>
        <p:blipFill>
          <a:blip r:embed="rId7"/>
          <a:stretch>
            <a:fillRect/>
          </a:stretch>
        </p:blipFill>
        <p:spPr>
          <a:xfrm>
            <a:off x="5470673" y="5012560"/>
            <a:ext cx="128699" cy="187198"/>
          </a:xfrm>
          <a:prstGeom prst="rect">
            <a:avLst/>
          </a:prstGeom>
        </p:spPr>
      </p:pic>
      <p:sp>
        <p:nvSpPr>
          <p:cNvPr id="32" name="TextBox 31"/>
          <p:cNvSpPr txBox="1"/>
          <p:nvPr/>
        </p:nvSpPr>
        <p:spPr>
          <a:xfrm>
            <a:off x="5638169" y="5022340"/>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914809" y="5012560"/>
            <a:ext cx="128699" cy="187198"/>
          </a:xfrm>
          <a:prstGeom prst="rect">
            <a:avLst/>
          </a:prstGeom>
        </p:spPr>
      </p:pic>
      <p:sp>
        <p:nvSpPr>
          <p:cNvPr id="34" name="TextBox 33"/>
          <p:cNvSpPr txBox="1"/>
          <p:nvPr/>
        </p:nvSpPr>
        <p:spPr>
          <a:xfrm>
            <a:off x="7082305" y="5022340"/>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570132" y="5012560"/>
            <a:ext cx="128699" cy="187198"/>
          </a:xfrm>
          <a:prstGeom prst="rect">
            <a:avLst/>
          </a:prstGeom>
        </p:spPr>
      </p:pic>
      <p:sp>
        <p:nvSpPr>
          <p:cNvPr id="36" name="TextBox 35"/>
          <p:cNvSpPr txBox="1"/>
          <p:nvPr/>
        </p:nvSpPr>
        <p:spPr>
          <a:xfrm>
            <a:off x="8737628" y="502234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276225" y="5240272"/>
            <a:ext cx="3968393" cy="186689"/>
          </a:xfrm>
          <a:prstGeom prst="rect">
            <a:avLst/>
          </a:prstGeom>
          <a:noFill/>
        </p:spPr>
        <p:txBody>
          <a:bodyPr wrap="none" lIns="0" rIns="0" tIns="0" bIns="0">
            <a:spAutoFit/>
          </a:bodyPr>
          <a:lstStyle/>
          <a:p>
            <a:r>
              <a:rPr sz="1100" b="0">
                <a:solidFill>
                  <a:srgbClr val="2E2E2E"/>
                </a:solidFill>
                <a:latin typeface="Calibri"/>
              </a:rPr>
              <a:t>▪ Combination Framework Partial Dentures: 'Kulzer GmbH' leads at ~</a:t>
            </a:r>
          </a:p>
        </p:txBody>
      </p:sp>
      <p:pic>
        <p:nvPicPr>
          <p:cNvPr id="38" name="Picture 37" descr="lock.png"/>
          <p:cNvPicPr>
            <a:picLocks noChangeAspect="1"/>
          </p:cNvPicPr>
          <p:nvPr/>
        </p:nvPicPr>
        <p:blipFill>
          <a:blip r:embed="rId7"/>
          <a:stretch>
            <a:fillRect/>
          </a:stretch>
        </p:blipFill>
        <p:spPr>
          <a:xfrm>
            <a:off x="4192670" y="5230492"/>
            <a:ext cx="128699" cy="187198"/>
          </a:xfrm>
          <a:prstGeom prst="rect">
            <a:avLst/>
          </a:prstGeom>
        </p:spPr>
      </p:pic>
      <p:sp>
        <p:nvSpPr>
          <p:cNvPr id="39" name="TextBox 38"/>
          <p:cNvSpPr txBox="1"/>
          <p:nvPr/>
        </p:nvSpPr>
        <p:spPr>
          <a:xfrm>
            <a:off x="4360165" y="5240272"/>
            <a:ext cx="1993510" cy="186689"/>
          </a:xfrm>
          <a:prstGeom prst="rect">
            <a:avLst/>
          </a:prstGeom>
          <a:noFill/>
        </p:spPr>
        <p:txBody>
          <a:bodyPr wrap="none" lIns="0" rIns="0" tIns="0" bIns="0">
            <a:spAutoFit/>
          </a:bodyPr>
          <a:lstStyle/>
          <a:p>
            <a:r>
              <a:rPr sz="1100" b="0">
                <a:solidFill>
                  <a:srgbClr val="2E2E2E"/>
                </a:solidFill>
                <a:latin typeface="Calibri"/>
              </a:rPr>
              <a:t>, ahead of 'Ivoclar Vivadent AG' (~</a:t>
            </a:r>
          </a:p>
        </p:txBody>
      </p:sp>
      <p:pic>
        <p:nvPicPr>
          <p:cNvPr id="40" name="Picture 39" descr="lock.png"/>
          <p:cNvPicPr>
            <a:picLocks noChangeAspect="1"/>
          </p:cNvPicPr>
          <p:nvPr/>
        </p:nvPicPr>
        <p:blipFill>
          <a:blip r:embed="rId7"/>
          <a:stretch>
            <a:fillRect/>
          </a:stretch>
        </p:blipFill>
        <p:spPr>
          <a:xfrm>
            <a:off x="6301728" y="5230492"/>
            <a:ext cx="128699" cy="187198"/>
          </a:xfrm>
          <a:prstGeom prst="rect">
            <a:avLst/>
          </a:prstGeom>
        </p:spPr>
      </p:pic>
      <p:sp>
        <p:nvSpPr>
          <p:cNvPr id="41" name="TextBox 40"/>
          <p:cNvSpPr txBox="1"/>
          <p:nvPr/>
        </p:nvSpPr>
        <p:spPr>
          <a:xfrm>
            <a:off x="6469224" y="5240272"/>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7745864" y="5230492"/>
            <a:ext cx="128699" cy="187198"/>
          </a:xfrm>
          <a:prstGeom prst="rect">
            <a:avLst/>
          </a:prstGeom>
        </p:spPr>
      </p:pic>
      <p:sp>
        <p:nvSpPr>
          <p:cNvPr id="43" name="TextBox 42"/>
          <p:cNvSpPr txBox="1"/>
          <p:nvPr/>
        </p:nvSpPr>
        <p:spPr>
          <a:xfrm>
            <a:off x="7913360" y="5240272"/>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9401187" y="5230492"/>
            <a:ext cx="128699" cy="187198"/>
          </a:xfrm>
          <a:prstGeom prst="rect">
            <a:avLst/>
          </a:prstGeom>
        </p:spPr>
      </p:pic>
      <p:sp>
        <p:nvSpPr>
          <p:cNvPr id="45" name="TextBox 44"/>
          <p:cNvSpPr txBox="1"/>
          <p:nvPr/>
        </p:nvSpPr>
        <p:spPr>
          <a:xfrm>
            <a:off x="9568683" y="524027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276225" y="5458204"/>
            <a:ext cx="3548781" cy="186689"/>
          </a:xfrm>
          <a:prstGeom prst="rect">
            <a:avLst/>
          </a:prstGeom>
          <a:noFill/>
        </p:spPr>
        <p:txBody>
          <a:bodyPr wrap="none" lIns="0" rIns="0" tIns="0" bIns="0">
            <a:spAutoFit/>
          </a:bodyPr>
          <a:lstStyle/>
          <a:p>
            <a:r>
              <a:rPr sz="1100" b="0">
                <a:solidFill>
                  <a:srgbClr val="2E2E2E"/>
                </a:solidFill>
                <a:latin typeface="Calibri"/>
              </a:rPr>
              <a:t>▪ Cast Metal Partial Dentures: 'Dentsply Sirona Inc.' leads at ~</a:t>
            </a:r>
          </a:p>
        </p:txBody>
      </p:sp>
      <p:pic>
        <p:nvPicPr>
          <p:cNvPr id="47" name="Picture 46" descr="lock.png"/>
          <p:cNvPicPr>
            <a:picLocks noChangeAspect="1"/>
          </p:cNvPicPr>
          <p:nvPr/>
        </p:nvPicPr>
        <p:blipFill>
          <a:blip r:embed="rId7"/>
          <a:stretch>
            <a:fillRect/>
          </a:stretch>
        </p:blipFill>
        <p:spPr>
          <a:xfrm>
            <a:off x="3773058" y="5448424"/>
            <a:ext cx="128699" cy="187198"/>
          </a:xfrm>
          <a:prstGeom prst="rect">
            <a:avLst/>
          </a:prstGeom>
        </p:spPr>
      </p:pic>
      <p:sp>
        <p:nvSpPr>
          <p:cNvPr id="48" name="TextBox 47"/>
          <p:cNvSpPr txBox="1"/>
          <p:nvPr/>
        </p:nvSpPr>
        <p:spPr>
          <a:xfrm>
            <a:off x="3940554" y="5458204"/>
            <a:ext cx="1993510" cy="186689"/>
          </a:xfrm>
          <a:prstGeom prst="rect">
            <a:avLst/>
          </a:prstGeom>
          <a:noFill/>
        </p:spPr>
        <p:txBody>
          <a:bodyPr wrap="none" lIns="0" rIns="0" tIns="0" bIns="0">
            <a:spAutoFit/>
          </a:bodyPr>
          <a:lstStyle/>
          <a:p>
            <a:r>
              <a:rPr sz="1100" b="0">
                <a:solidFill>
                  <a:srgbClr val="2E2E2E"/>
                </a:solidFill>
                <a:latin typeface="Calibri"/>
              </a:rPr>
              <a:t>, ahead of 'Ivoclar Vivadent AG' (~</a:t>
            </a:r>
          </a:p>
        </p:txBody>
      </p:sp>
      <p:pic>
        <p:nvPicPr>
          <p:cNvPr id="49" name="Picture 48" descr="lock.png"/>
          <p:cNvPicPr>
            <a:picLocks noChangeAspect="1"/>
          </p:cNvPicPr>
          <p:nvPr/>
        </p:nvPicPr>
        <p:blipFill>
          <a:blip r:embed="rId7"/>
          <a:stretch>
            <a:fillRect/>
          </a:stretch>
        </p:blipFill>
        <p:spPr>
          <a:xfrm>
            <a:off x="5882116" y="5448424"/>
            <a:ext cx="128699" cy="187198"/>
          </a:xfrm>
          <a:prstGeom prst="rect">
            <a:avLst/>
          </a:prstGeom>
        </p:spPr>
      </p:pic>
      <p:sp>
        <p:nvSpPr>
          <p:cNvPr id="50" name="TextBox 49"/>
          <p:cNvSpPr txBox="1"/>
          <p:nvPr/>
        </p:nvSpPr>
        <p:spPr>
          <a:xfrm>
            <a:off x="6049612" y="5458204"/>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7326252" y="5448424"/>
            <a:ext cx="128699" cy="187198"/>
          </a:xfrm>
          <a:prstGeom prst="rect">
            <a:avLst/>
          </a:prstGeom>
        </p:spPr>
      </p:pic>
      <p:sp>
        <p:nvSpPr>
          <p:cNvPr id="52" name="TextBox 51"/>
          <p:cNvSpPr txBox="1"/>
          <p:nvPr/>
        </p:nvSpPr>
        <p:spPr>
          <a:xfrm>
            <a:off x="7493748" y="5458204"/>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981576" y="5448424"/>
            <a:ext cx="128699" cy="187198"/>
          </a:xfrm>
          <a:prstGeom prst="rect">
            <a:avLst/>
          </a:prstGeom>
        </p:spPr>
      </p:pic>
      <p:sp>
        <p:nvSpPr>
          <p:cNvPr id="54" name="TextBox 53"/>
          <p:cNvSpPr txBox="1"/>
          <p:nvPr/>
        </p:nvSpPr>
        <p:spPr>
          <a:xfrm>
            <a:off x="9149071" y="545820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55" name="TextBox 54"/>
          <p:cNvSpPr txBox="1"/>
          <p:nvPr/>
        </p:nvSpPr>
        <p:spPr>
          <a:xfrm>
            <a:off x="276225" y="5676136"/>
            <a:ext cx="8524502" cy="186689"/>
          </a:xfrm>
          <a:prstGeom prst="rect">
            <a:avLst/>
          </a:prstGeom>
          <a:noFill/>
        </p:spPr>
        <p:txBody>
          <a:bodyPr wrap="none" lIns="0" rIns="0" tIns="0" bIns="0">
            <a:spAutoFit/>
          </a:bodyPr>
          <a:lstStyle/>
          <a:p>
            <a:r>
              <a:rPr sz="1100" b="0">
                <a:solidFill>
                  <a:srgbClr val="2E2E2E"/>
                </a:solidFill>
                <a:latin typeface="Calibri"/>
              </a:rPr>
              <a:t>▪ Leadership shifts across formulations a strong position in one product type does not carry over to the others, so product-level targeting is essential.</a:t>
            </a:r>
          </a:p>
        </p:txBody>
      </p:sp>
      <p:sp>
        <p:nvSpPr>
          <p:cNvPr id="56" name="TextBox 55"/>
          <p:cNvSpPr txBox="1"/>
          <p:nvPr/>
        </p:nvSpPr>
        <p:spPr>
          <a:xfrm>
            <a:off x="276225" y="5894068"/>
            <a:ext cx="6908403" cy="186689"/>
          </a:xfrm>
          <a:prstGeom prst="rect">
            <a:avLst/>
          </a:prstGeom>
          <a:noFill/>
        </p:spPr>
        <p:txBody>
          <a:bodyPr wrap="none" lIns="0" rIns="0" t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2946139" cy="194310"/>
          </a:xfrm>
          <a:prstGeom prst="rect">
            <a:avLst/>
          </a:prstGeom>
          <a:noFill/>
        </p:spPr>
        <p:txBody>
          <a:bodyPr wrap="none" lIns="0" rIns="0" tIns="0" bIns="0">
            <a:spAutoFit/>
          </a:bodyPr>
          <a:lstStyle/>
          <a:p>
            <a:r>
              <a:rPr sz="1150" b="0">
                <a:solidFill>
                  <a:srgbClr val="2E2E2E"/>
                </a:solidFill>
                <a:latin typeface="Calibri"/>
              </a:rPr>
              <a:t>▪ North America: 'Dentsply Sirona Inc.' leads at ~</a:t>
            </a:r>
          </a:p>
        </p:txBody>
      </p:sp>
      <p:pic>
        <p:nvPicPr>
          <p:cNvPr id="29" name="Picture 28" descr="lock.png"/>
          <p:cNvPicPr>
            <a:picLocks noChangeAspect="1"/>
          </p:cNvPicPr>
          <p:nvPr/>
        </p:nvPicPr>
        <p:blipFill>
          <a:blip r:embed="rId7"/>
          <a:stretch>
            <a:fillRect/>
          </a:stretch>
        </p:blipFill>
        <p:spPr>
          <a:xfrm>
            <a:off x="3171518" y="5012116"/>
            <a:ext cx="134549" cy="195707"/>
          </a:xfrm>
          <a:prstGeom prst="rect">
            <a:avLst/>
          </a:prstGeom>
        </p:spPr>
      </p:pic>
      <p:sp>
        <p:nvSpPr>
          <p:cNvPr id="30" name="TextBox 29"/>
          <p:cNvSpPr txBox="1"/>
          <p:nvPr/>
        </p:nvSpPr>
        <p:spPr>
          <a:xfrm>
            <a:off x="3346627" y="5022340"/>
            <a:ext cx="2080661" cy="194310"/>
          </a:xfrm>
          <a:prstGeom prst="rect">
            <a:avLst/>
          </a:prstGeom>
          <a:noFill/>
        </p:spPr>
        <p:txBody>
          <a:bodyPr wrap="none" lIns="0" rIns="0" tIns="0" bIns="0">
            <a:spAutoFit/>
          </a:bodyPr>
          <a:lstStyle/>
          <a:p>
            <a:r>
              <a:rPr sz="1150" b="0">
                <a:solidFill>
                  <a:srgbClr val="2E2E2E"/>
                </a:solidFill>
                <a:latin typeface="Calibri"/>
              </a:rPr>
              <a:t>, ahead of 'Ivoclar Vivadent AG' (~</a:t>
            </a:r>
          </a:p>
        </p:txBody>
      </p:sp>
      <p:pic>
        <p:nvPicPr>
          <p:cNvPr id="31" name="Picture 30" descr="lock.png"/>
          <p:cNvPicPr>
            <a:picLocks noChangeAspect="1"/>
          </p:cNvPicPr>
          <p:nvPr/>
        </p:nvPicPr>
        <p:blipFill>
          <a:blip r:embed="rId7"/>
          <a:stretch>
            <a:fillRect/>
          </a:stretch>
        </p:blipFill>
        <p:spPr>
          <a:xfrm>
            <a:off x="5376443" y="5012116"/>
            <a:ext cx="134549" cy="195707"/>
          </a:xfrm>
          <a:prstGeom prst="rect">
            <a:avLst/>
          </a:prstGeom>
        </p:spPr>
      </p:pic>
      <p:sp>
        <p:nvSpPr>
          <p:cNvPr id="32" name="TextBox 31"/>
          <p:cNvSpPr txBox="1"/>
          <p:nvPr/>
        </p:nvSpPr>
        <p:spPr>
          <a:xfrm>
            <a:off x="5551552"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886221" y="5012116"/>
            <a:ext cx="134549" cy="195707"/>
          </a:xfrm>
          <a:prstGeom prst="rect">
            <a:avLst/>
          </a:prstGeom>
        </p:spPr>
      </p:pic>
      <p:sp>
        <p:nvSpPr>
          <p:cNvPr id="34" name="TextBox 33"/>
          <p:cNvSpPr txBox="1"/>
          <p:nvPr/>
        </p:nvSpPr>
        <p:spPr>
          <a:xfrm>
            <a:off x="7061330"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616786" y="5012116"/>
            <a:ext cx="134549" cy="195707"/>
          </a:xfrm>
          <a:prstGeom prst="rect">
            <a:avLst/>
          </a:prstGeom>
        </p:spPr>
      </p:pic>
      <p:sp>
        <p:nvSpPr>
          <p:cNvPr id="36" name="TextBox 35"/>
          <p:cNvSpPr txBox="1"/>
          <p:nvPr/>
        </p:nvSpPr>
        <p:spPr>
          <a:xfrm>
            <a:off x="8791896"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2500002" cy="194310"/>
          </a:xfrm>
          <a:prstGeom prst="rect">
            <a:avLst/>
          </a:prstGeom>
          <a:noFill/>
        </p:spPr>
        <p:txBody>
          <a:bodyPr wrap="none" lIns="0" rIns="0" tIns="0" bIns="0">
            <a:spAutoFit/>
          </a:bodyPr>
          <a:lstStyle/>
          <a:p>
            <a:r>
              <a:rPr sz="1150" b="0">
                <a:solidFill>
                  <a:srgbClr val="2E2E2E"/>
                </a:solidFill>
                <a:latin typeface="Calibri"/>
              </a:rPr>
              <a:t>▪ Europe: 'Dentsply Sirona Inc.' leads at ~</a:t>
            </a:r>
          </a:p>
        </p:txBody>
      </p:sp>
      <p:pic>
        <p:nvPicPr>
          <p:cNvPr id="38" name="Picture 37" descr="lock.png"/>
          <p:cNvPicPr>
            <a:picLocks noChangeAspect="1"/>
          </p:cNvPicPr>
          <p:nvPr/>
        </p:nvPicPr>
        <p:blipFill>
          <a:blip r:embed="rId7"/>
          <a:stretch>
            <a:fillRect/>
          </a:stretch>
        </p:blipFill>
        <p:spPr>
          <a:xfrm>
            <a:off x="2725381" y="5239954"/>
            <a:ext cx="134549" cy="195707"/>
          </a:xfrm>
          <a:prstGeom prst="rect">
            <a:avLst/>
          </a:prstGeom>
        </p:spPr>
      </p:pic>
      <p:sp>
        <p:nvSpPr>
          <p:cNvPr id="39" name="TextBox 38"/>
          <p:cNvSpPr txBox="1"/>
          <p:nvPr/>
        </p:nvSpPr>
        <p:spPr>
          <a:xfrm>
            <a:off x="2900490" y="5250177"/>
            <a:ext cx="1834219" cy="194310"/>
          </a:xfrm>
          <a:prstGeom prst="rect">
            <a:avLst/>
          </a:prstGeom>
          <a:noFill/>
        </p:spPr>
        <p:txBody>
          <a:bodyPr wrap="none" lIns="0" rIns="0" tIns="0" bIns="0">
            <a:spAutoFit/>
          </a:bodyPr>
          <a:lstStyle/>
          <a:p>
            <a:r>
              <a:rPr sz="1150" b="0">
                <a:solidFill>
                  <a:srgbClr val="2E2E2E"/>
                </a:solidFill>
                <a:latin typeface="Calibri"/>
              </a:rPr>
              <a:t>, ahead of 'GC Corporation' (~</a:t>
            </a:r>
          </a:p>
        </p:txBody>
      </p:sp>
      <p:pic>
        <p:nvPicPr>
          <p:cNvPr id="40" name="Picture 39" descr="lock.png"/>
          <p:cNvPicPr>
            <a:picLocks noChangeAspect="1"/>
          </p:cNvPicPr>
          <p:nvPr/>
        </p:nvPicPr>
        <p:blipFill>
          <a:blip r:embed="rId7"/>
          <a:stretch>
            <a:fillRect/>
          </a:stretch>
        </p:blipFill>
        <p:spPr>
          <a:xfrm>
            <a:off x="4683864" y="5239954"/>
            <a:ext cx="134549" cy="195707"/>
          </a:xfrm>
          <a:prstGeom prst="rect">
            <a:avLst/>
          </a:prstGeom>
        </p:spPr>
      </p:pic>
      <p:sp>
        <p:nvSpPr>
          <p:cNvPr id="41" name="TextBox 40"/>
          <p:cNvSpPr txBox="1"/>
          <p:nvPr/>
        </p:nvSpPr>
        <p:spPr>
          <a:xfrm>
            <a:off x="4858973"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6193643" y="5239954"/>
            <a:ext cx="134549" cy="195707"/>
          </a:xfrm>
          <a:prstGeom prst="rect">
            <a:avLst/>
          </a:prstGeom>
        </p:spPr>
      </p:pic>
      <p:sp>
        <p:nvSpPr>
          <p:cNvPr id="43" name="TextBox 42"/>
          <p:cNvSpPr txBox="1"/>
          <p:nvPr/>
        </p:nvSpPr>
        <p:spPr>
          <a:xfrm>
            <a:off x="6368752"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7924208" y="5239954"/>
            <a:ext cx="134549" cy="195707"/>
          </a:xfrm>
          <a:prstGeom prst="rect">
            <a:avLst/>
          </a:prstGeom>
        </p:spPr>
      </p:pic>
      <p:sp>
        <p:nvSpPr>
          <p:cNvPr id="45" name="TextBox 44"/>
          <p:cNvSpPr txBox="1"/>
          <p:nvPr/>
        </p:nvSpPr>
        <p:spPr>
          <a:xfrm>
            <a:off x="8099317"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2847406" cy="194310"/>
          </a:xfrm>
          <a:prstGeom prst="rect">
            <a:avLst/>
          </a:prstGeom>
          <a:noFill/>
        </p:spPr>
        <p:txBody>
          <a:bodyPr wrap="none" lIns="0" rIns="0" tIns="0" bIns="0">
            <a:spAutoFit/>
          </a:bodyPr>
          <a:lstStyle/>
          <a:p>
            <a:r>
              <a:rPr sz="1150" b="0">
                <a:solidFill>
                  <a:srgbClr val="2E2E2E"/>
                </a:solidFill>
                <a:latin typeface="Calibri"/>
              </a:rPr>
              <a:t>▪ South Asia &amp; Pacific: 'Kulzer GmbH' leads at ~</a:t>
            </a:r>
          </a:p>
        </p:txBody>
      </p:sp>
      <p:pic>
        <p:nvPicPr>
          <p:cNvPr id="47" name="Picture 46" descr="lock.png"/>
          <p:cNvPicPr>
            <a:picLocks noChangeAspect="1"/>
          </p:cNvPicPr>
          <p:nvPr/>
        </p:nvPicPr>
        <p:blipFill>
          <a:blip r:embed="rId7"/>
          <a:stretch>
            <a:fillRect/>
          </a:stretch>
        </p:blipFill>
        <p:spPr>
          <a:xfrm>
            <a:off x="3072784" y="5467792"/>
            <a:ext cx="134549" cy="195707"/>
          </a:xfrm>
          <a:prstGeom prst="rect">
            <a:avLst/>
          </a:prstGeom>
        </p:spPr>
      </p:pic>
      <p:sp>
        <p:nvSpPr>
          <p:cNvPr id="48" name="TextBox 47"/>
          <p:cNvSpPr txBox="1"/>
          <p:nvPr/>
        </p:nvSpPr>
        <p:spPr>
          <a:xfrm>
            <a:off x="3247894" y="5478015"/>
            <a:ext cx="2080661" cy="194310"/>
          </a:xfrm>
          <a:prstGeom prst="rect">
            <a:avLst/>
          </a:prstGeom>
          <a:noFill/>
        </p:spPr>
        <p:txBody>
          <a:bodyPr wrap="none" lIns="0" rIns="0" tIns="0" bIns="0">
            <a:spAutoFit/>
          </a:bodyPr>
          <a:lstStyle/>
          <a:p>
            <a:r>
              <a:rPr sz="1150" b="0">
                <a:solidFill>
                  <a:srgbClr val="2E2E2E"/>
                </a:solidFill>
                <a:latin typeface="Calibri"/>
              </a:rPr>
              <a:t>, ahead of 'Ivoclar Vivadent AG' (~</a:t>
            </a:r>
          </a:p>
        </p:txBody>
      </p:sp>
      <p:pic>
        <p:nvPicPr>
          <p:cNvPr id="49" name="Picture 48" descr="lock.png"/>
          <p:cNvPicPr>
            <a:picLocks noChangeAspect="1"/>
          </p:cNvPicPr>
          <p:nvPr/>
        </p:nvPicPr>
        <p:blipFill>
          <a:blip r:embed="rId7"/>
          <a:stretch>
            <a:fillRect/>
          </a:stretch>
        </p:blipFill>
        <p:spPr>
          <a:xfrm>
            <a:off x="5277709" y="5467792"/>
            <a:ext cx="134549" cy="195707"/>
          </a:xfrm>
          <a:prstGeom prst="rect">
            <a:avLst/>
          </a:prstGeom>
        </p:spPr>
      </p:pic>
      <p:sp>
        <p:nvSpPr>
          <p:cNvPr id="50" name="TextBox 49"/>
          <p:cNvSpPr txBox="1"/>
          <p:nvPr/>
        </p:nvSpPr>
        <p:spPr>
          <a:xfrm>
            <a:off x="5452818"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6787488" y="5467792"/>
            <a:ext cx="134549" cy="195707"/>
          </a:xfrm>
          <a:prstGeom prst="rect">
            <a:avLst/>
          </a:prstGeom>
        </p:spPr>
      </p:pic>
      <p:sp>
        <p:nvSpPr>
          <p:cNvPr id="52" name="TextBox 51"/>
          <p:cNvSpPr txBox="1"/>
          <p:nvPr/>
        </p:nvSpPr>
        <p:spPr>
          <a:xfrm>
            <a:off x="6962597"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518053" y="5467792"/>
            <a:ext cx="134549" cy="195707"/>
          </a:xfrm>
          <a:prstGeom prst="rect">
            <a:avLst/>
          </a:prstGeom>
        </p:spPr>
      </p:pic>
      <p:sp>
        <p:nvSpPr>
          <p:cNvPr id="54" name="TextBox 53"/>
          <p:cNvSpPr txBox="1"/>
          <p:nvPr/>
        </p:nvSpPr>
        <p:spPr>
          <a:xfrm>
            <a:off x="8693162"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Removable Partial Dentures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Dentsply Sirona Inc.</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Ivoclar Vivadent AG</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Kulzer GmbH</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GC Corporation</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SHOFU INC.</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Dentsply Sirona Inc.: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010036" cy="194310"/>
          </a:xfrm>
          <a:prstGeom prst="rect">
            <a:avLst/>
          </a:prstGeom>
          <a:noFill/>
        </p:spPr>
        <p:txBody>
          <a:bodyPr wrap="none" lIns="0" rIns="0" tIns="0" bIns="0">
            <a:spAutoFit/>
          </a:bodyPr>
          <a:lstStyle/>
          <a:p>
            <a:r>
              <a:rPr sz="1150" b="0">
                <a:solidFill>
                  <a:srgbClr val="2E2E2E"/>
                </a:solidFill>
                <a:latin typeface="Calibri"/>
              </a:rPr>
              <a:t>▪ Market Position: Dentsply Sirona Inc. captures ~</a:t>
            </a:r>
          </a:p>
        </p:txBody>
      </p:sp>
      <p:pic>
        <p:nvPicPr>
          <p:cNvPr id="41" name="Picture 40" descr="lock.png"/>
          <p:cNvPicPr>
            <a:picLocks noChangeAspect="1"/>
          </p:cNvPicPr>
          <p:nvPr/>
        </p:nvPicPr>
        <p:blipFill>
          <a:blip r:embed="rId7"/>
          <a:stretch>
            <a:fillRect/>
          </a:stretch>
        </p:blipFill>
        <p:spPr>
          <a:xfrm>
            <a:off x="3235415" y="5194653"/>
            <a:ext cx="134549" cy="195707"/>
          </a:xfrm>
          <a:prstGeom prst="rect">
            <a:avLst/>
          </a:prstGeom>
        </p:spPr>
      </p:pic>
      <p:sp>
        <p:nvSpPr>
          <p:cNvPr id="42" name="TextBox 41"/>
          <p:cNvSpPr txBox="1"/>
          <p:nvPr/>
        </p:nvSpPr>
        <p:spPr>
          <a:xfrm>
            <a:off x="3410524"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358446"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583825" y="5422491"/>
            <a:ext cx="134549" cy="195707"/>
          </a:xfrm>
          <a:prstGeom prst="rect">
            <a:avLst/>
          </a:prstGeom>
        </p:spPr>
      </p:pic>
      <p:sp>
        <p:nvSpPr>
          <p:cNvPr id="45" name="TextBox 44"/>
          <p:cNvSpPr txBox="1"/>
          <p:nvPr/>
        </p:nvSpPr>
        <p:spPr>
          <a:xfrm>
            <a:off x="775893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Dentsply Sirona Inc.: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Dentsply Sirona Inc.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Dentsply Sirona Inc.: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Dentsply Sirona Inc.: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Dentsply Sirona Inc.'s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Dentsply Sirona Inc.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Dentsply Sirona Inc.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Dentsply Sirona Inc.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Dentsply Sirona Inc.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Dentsply Sirona Inc.'s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Dentsply Sirona Inc.: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59921"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Dentsply Sirona</a:t>
            </a:r>
          </a:p>
        </p:txBody>
      </p:sp>
      <p:sp>
        <p:nvSpPr>
          <p:cNvPr id="31" name="TextBox 30"/>
          <p:cNvSpPr txBox="1"/>
          <p:nvPr/>
        </p:nvSpPr>
        <p:spPr>
          <a:xfrm>
            <a:off x="276225" y="2678589"/>
            <a:ext cx="4101132" cy="194310"/>
          </a:xfrm>
          <a:prstGeom prst="rect">
            <a:avLst/>
          </a:prstGeom>
          <a:noFill/>
        </p:spPr>
        <p:txBody>
          <a:bodyPr wrap="none" lIns="0" rIns="0" tIns="0" bIns="0">
            <a:spAutoFit/>
          </a:bodyPr>
          <a:lstStyle/>
          <a:p>
            <a:r>
              <a:rPr sz="1150" b="0">
                <a:solidFill>
                  <a:srgbClr val="2E2E2E"/>
                </a:solidFill>
                <a:latin typeface="Calibri"/>
              </a:rPr>
              <a:t>Inc.'s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Ivoclar Vivadent AG: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000890" cy="194310"/>
          </a:xfrm>
          <a:prstGeom prst="rect">
            <a:avLst/>
          </a:prstGeom>
          <a:noFill/>
        </p:spPr>
        <p:txBody>
          <a:bodyPr wrap="none" lIns="0" rIns="0" tIns="0" bIns="0">
            <a:spAutoFit/>
          </a:bodyPr>
          <a:lstStyle/>
          <a:p>
            <a:r>
              <a:rPr sz="1150" b="0">
                <a:solidFill>
                  <a:srgbClr val="2E2E2E"/>
                </a:solidFill>
                <a:latin typeface="Calibri"/>
              </a:rPr>
              <a:t>▪ Market Position: Ivoclar Vivadent AG captures ~</a:t>
            </a:r>
          </a:p>
        </p:txBody>
      </p:sp>
      <p:pic>
        <p:nvPicPr>
          <p:cNvPr id="41" name="Picture 40" descr="lock.png"/>
          <p:cNvPicPr>
            <a:picLocks noChangeAspect="1"/>
          </p:cNvPicPr>
          <p:nvPr/>
        </p:nvPicPr>
        <p:blipFill>
          <a:blip r:embed="rId7"/>
          <a:stretch>
            <a:fillRect/>
          </a:stretch>
        </p:blipFill>
        <p:spPr>
          <a:xfrm>
            <a:off x="3226269" y="5194653"/>
            <a:ext cx="134549" cy="195707"/>
          </a:xfrm>
          <a:prstGeom prst="rect">
            <a:avLst/>
          </a:prstGeom>
        </p:spPr>
      </p:pic>
      <p:sp>
        <p:nvSpPr>
          <p:cNvPr id="42" name="TextBox 41"/>
          <p:cNvSpPr txBox="1"/>
          <p:nvPr/>
        </p:nvSpPr>
        <p:spPr>
          <a:xfrm>
            <a:off x="3401378"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Ivoclar Vivadent AG: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Ivoclar Vivadent AG</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Ivoclar Vivadent AG: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Ivoclar Vivadent AG: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Ivoclar Vivadent AG's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Ivoclar Vivadent AG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Ivoclar Vivadent AG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Ivoclar Vivadent AG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Ivoclar Vivadent AG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Ivoclar Vivadent AG's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Ivoclar Vivadent AG: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86449"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Ivoclar Vivadent</a:t>
            </a:r>
          </a:p>
        </p:txBody>
      </p:sp>
      <p:sp>
        <p:nvSpPr>
          <p:cNvPr id="31" name="TextBox 30"/>
          <p:cNvSpPr txBox="1"/>
          <p:nvPr/>
        </p:nvSpPr>
        <p:spPr>
          <a:xfrm>
            <a:off x="276225" y="2678589"/>
            <a:ext cx="4065458" cy="194310"/>
          </a:xfrm>
          <a:prstGeom prst="rect">
            <a:avLst/>
          </a:prstGeom>
          <a:noFill/>
        </p:spPr>
        <p:txBody>
          <a:bodyPr wrap="none" lIns="0" rIns="0" tIns="0" bIns="0">
            <a:spAutoFit/>
          </a:bodyPr>
          <a:lstStyle/>
          <a:p>
            <a:r>
              <a:rPr sz="1150" b="0">
                <a:solidFill>
                  <a:srgbClr val="2E2E2E"/>
                </a:solidFill>
                <a:latin typeface="Calibri"/>
              </a:rPr>
              <a:t>AG's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Kulzer GmbH: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611501" cy="194310"/>
          </a:xfrm>
          <a:prstGeom prst="rect">
            <a:avLst/>
          </a:prstGeom>
          <a:noFill/>
        </p:spPr>
        <p:txBody>
          <a:bodyPr wrap="none" lIns="0" rIns="0" tIns="0" bIns="0">
            <a:spAutoFit/>
          </a:bodyPr>
          <a:lstStyle/>
          <a:p>
            <a:r>
              <a:rPr sz="1150" b="0">
                <a:solidFill>
                  <a:srgbClr val="2E2E2E"/>
                </a:solidFill>
                <a:latin typeface="Calibri"/>
              </a:rPr>
              <a:t>▪ Market Position: Kulzer GmbH captures ~</a:t>
            </a:r>
          </a:p>
        </p:txBody>
      </p:sp>
      <p:pic>
        <p:nvPicPr>
          <p:cNvPr id="41" name="Picture 40" descr="lock.png"/>
          <p:cNvPicPr>
            <a:picLocks noChangeAspect="1"/>
          </p:cNvPicPr>
          <p:nvPr/>
        </p:nvPicPr>
        <p:blipFill>
          <a:blip r:embed="rId7"/>
          <a:stretch>
            <a:fillRect/>
          </a:stretch>
        </p:blipFill>
        <p:spPr>
          <a:xfrm>
            <a:off x="2836880" y="5194653"/>
            <a:ext cx="134549" cy="195707"/>
          </a:xfrm>
          <a:prstGeom prst="rect">
            <a:avLst/>
          </a:prstGeom>
        </p:spPr>
      </p:pic>
      <p:sp>
        <p:nvSpPr>
          <p:cNvPr id="42" name="TextBox 41"/>
          <p:cNvSpPr txBox="1"/>
          <p:nvPr/>
        </p:nvSpPr>
        <p:spPr>
          <a:xfrm>
            <a:off x="3011989"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Kulzer GmbH: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Kulzer GmbH</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Kulzer GmbH: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Kulzer GmbH: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Kulzer GmbH's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Kulzer GmbH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Kulzer GmbH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Kulzer GmbH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Kulzer GmbH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Kulzer GmbH's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Kulzer GmbH: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495988"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Kulzer GmbH's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