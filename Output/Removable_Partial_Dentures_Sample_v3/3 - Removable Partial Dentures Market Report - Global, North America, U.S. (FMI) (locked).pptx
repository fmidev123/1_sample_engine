
<file path=[Content_Types].xml><?xml version="1.0" encoding="utf-8"?>
<Types xmlns="http://schemas.openxmlformats.org/package/2006/content-types">
  <Default Extension="bin" ContentType="application/vnd.openxmlformats-officedocument.presentationml.printerSettings"/>
  <Default Extension="jpeg" ContentType="image/jpeg"/>
  <Default Extension="png" ContentType="image/png"/>
  <Default Extension="rels" ContentType="application/vnd.openxmlformats-package.relationships+xml"/>
  <Default Extension="xml" ContentType="application/xml"/>
  <Override PartName="/docProps/app.xml" ContentType="application/vnd.openxmlformats-officedocument.extended-properties+xml"/>
  <Override PartName="/docProps/core.xml" ContentType="application/vnd.openxmlformats-package.core-properties+xml"/>
  <Override PartName="/ppt/charts/chart1.xml" ContentType="application/vnd.openxmlformats-officedocument.drawingml.chart+xml"/>
  <Override PartName="/ppt/charts/chart10.xml" ContentType="application/vnd.openxmlformats-officedocument.drawingml.chart+xml"/>
  <Override PartName="/ppt/charts/chart100.xml" ContentType="application/vnd.openxmlformats-officedocument.drawingml.chart+xml"/>
  <Override PartName="/ppt/charts/chart101.xml" ContentType="application/vnd.openxmlformats-officedocument.drawingml.chart+xml"/>
  <Override PartName="/ppt/charts/chart102.xml" ContentType="application/vnd.openxmlformats-officedocument.drawingml.chart+xml"/>
  <Override PartName="/ppt/charts/chart103.xml" ContentType="application/vnd.openxmlformats-officedocument.drawingml.chart+xml"/>
  <Override PartName="/ppt/charts/chart104.xml" ContentType="application/vnd.openxmlformats-officedocument.drawingml.chart+xml"/>
  <Override PartName="/ppt/charts/chart105.xml" ContentType="application/vnd.openxmlformats-officedocument.drawingml.chart+xml"/>
  <Override PartName="/ppt/charts/chart106.xml" ContentType="application/vnd.openxmlformats-officedocument.drawingml.chart+xml"/>
  <Override PartName="/ppt/charts/chart107.xml" ContentType="application/vnd.openxmlformats-officedocument.drawingml.chart+xml"/>
  <Override PartName="/ppt/charts/chart108.xml" ContentType="application/vnd.openxmlformats-officedocument.drawingml.chart+xml"/>
  <Override PartName="/ppt/charts/chart109.xml" ContentType="application/vnd.openxmlformats-officedocument.drawingml.chart+xml"/>
  <Override PartName="/ppt/charts/chart11.xml" ContentType="application/vnd.openxmlformats-officedocument.drawingml.chart+xml"/>
  <Override PartName="/ppt/charts/chart110.xml" ContentType="application/vnd.openxmlformats-officedocument.drawingml.chart+xml"/>
  <Override PartName="/ppt/charts/chart111.xml" ContentType="application/vnd.openxmlformats-officedocument.drawingml.chart+xml"/>
  <Override PartName="/ppt/charts/chart112.xml" ContentType="application/vnd.openxmlformats-officedocument.drawingml.chart+xml"/>
  <Override PartName="/ppt/charts/chart113.xml" ContentType="application/vnd.openxmlformats-officedocument.drawingml.chart+xml"/>
  <Override PartName="/ppt/charts/chart114.xml" ContentType="application/vnd.openxmlformats-officedocument.drawingml.chart+xml"/>
  <Override PartName="/ppt/charts/chart115.xml" ContentType="application/vnd.openxmlformats-officedocument.drawingml.chart+xml"/>
  <Override PartName="/ppt/charts/chart116.xml" ContentType="application/vnd.openxmlformats-officedocument.drawingml.chart+xml"/>
  <Override PartName="/ppt/charts/chart117.xml" ContentType="application/vnd.openxmlformats-officedocument.drawingml.chart+xml"/>
  <Override PartName="/ppt/charts/chart118.xml" ContentType="application/vnd.openxmlformats-officedocument.drawingml.chart+xml"/>
  <Override PartName="/ppt/charts/chart119.xml" ContentType="application/vnd.openxmlformats-officedocument.drawingml.chart+xml"/>
  <Override PartName="/ppt/charts/chart12.xml" ContentType="application/vnd.openxmlformats-officedocument.drawingml.chart+xml"/>
  <Override PartName="/ppt/charts/chart120.xml" ContentType="application/vnd.openxmlformats-officedocument.drawingml.chart+xml"/>
  <Override PartName="/ppt/charts/chart121.xml" ContentType="application/vnd.openxmlformats-officedocument.drawingml.chart+xml"/>
  <Override PartName="/ppt/charts/chart122.xml" ContentType="application/vnd.openxmlformats-officedocument.drawingml.chart+xml"/>
  <Override PartName="/ppt/charts/chart123.xml" ContentType="application/vnd.openxmlformats-officedocument.drawingml.chart+xml"/>
  <Override PartName="/ppt/charts/chart124.xml" ContentType="application/vnd.openxmlformats-officedocument.drawingml.chart+xml"/>
  <Override PartName="/ppt/charts/chart125.xml" ContentType="application/vnd.openxmlformats-officedocument.drawingml.chart+xml"/>
  <Override PartName="/ppt/charts/chart126.xml" ContentType="application/vnd.openxmlformats-officedocument.drawingml.chart+xml"/>
  <Override PartName="/ppt/charts/chart127.xml" ContentType="application/vnd.openxmlformats-officedocument.drawingml.chart+xml"/>
  <Override PartName="/ppt/charts/chart128.xml" ContentType="application/vnd.openxmlformats-officedocument.drawingml.chart+xml"/>
  <Override PartName="/ppt/charts/chart129.xml" ContentType="application/vnd.openxmlformats-officedocument.drawingml.chart+xml"/>
  <Override PartName="/ppt/charts/chart13.xml" ContentType="application/vnd.openxmlformats-officedocument.drawingml.chart+xml"/>
  <Override PartName="/ppt/charts/chart130.xml" ContentType="application/vnd.openxmlformats-officedocument.drawingml.chart+xml"/>
  <Override PartName="/ppt/charts/chart131.xml" ContentType="application/vnd.openxmlformats-officedocument.drawingml.chart+xml"/>
  <Override PartName="/ppt/charts/chart132.xml" ContentType="application/vnd.openxmlformats-officedocument.drawingml.chart+xml"/>
  <Override PartName="/ppt/charts/chart133.xml" ContentType="application/vnd.openxmlformats-officedocument.drawingml.chart+xml"/>
  <Override PartName="/ppt/charts/chart134.xml" ContentType="application/vnd.openxmlformats-officedocument.drawingml.chart+xml"/>
  <Override PartName="/ppt/charts/chart135.xml" ContentType="application/vnd.openxmlformats-officedocument.drawingml.chart+xml"/>
  <Override PartName="/ppt/charts/chart136.xml" ContentType="application/vnd.openxmlformats-officedocument.drawingml.chart+xml"/>
  <Override PartName="/ppt/charts/chart137.xml" ContentType="application/vnd.openxmlformats-officedocument.drawingml.chart+xml"/>
  <Override PartName="/ppt/charts/chart138.xml" ContentType="application/vnd.openxmlformats-officedocument.drawingml.chart+xml"/>
  <Override PartName="/ppt/charts/chart139.xml" ContentType="application/vnd.openxmlformats-officedocument.drawingml.chart+xml"/>
  <Override PartName="/ppt/charts/chart14.xml" ContentType="application/vnd.openxmlformats-officedocument.drawingml.chart+xml"/>
  <Override PartName="/ppt/charts/chart140.xml" ContentType="application/vnd.openxmlformats-officedocument.drawingml.chart+xml"/>
  <Override PartName="/ppt/charts/chart141.xml" ContentType="application/vnd.openxmlformats-officedocument.drawingml.chart+xml"/>
  <Override PartName="/ppt/charts/chart142.xml" ContentType="application/vnd.openxmlformats-officedocument.drawingml.chart+xml"/>
  <Override PartName="/ppt/charts/chart143.xml" ContentType="application/vnd.openxmlformats-officedocument.drawingml.chart+xml"/>
  <Override PartName="/ppt/charts/chart144.xml" ContentType="application/vnd.openxmlformats-officedocument.drawingml.chart+xml"/>
  <Override PartName="/ppt/charts/chart145.xml" ContentType="application/vnd.openxmlformats-officedocument.drawingml.chart+xml"/>
  <Override PartName="/ppt/charts/chart146.xml" ContentType="application/vnd.openxmlformats-officedocument.drawingml.chart+xml"/>
  <Override PartName="/ppt/charts/chart147.xml" ContentType="application/vnd.openxmlformats-officedocument.drawingml.chart+xml"/>
  <Override PartName="/ppt/charts/chart148.xml" ContentType="application/vnd.openxmlformats-officedocument.drawingml.chart+xml"/>
  <Override PartName="/ppt/charts/chart149.xml" ContentType="application/vnd.openxmlformats-officedocument.drawingml.chart+xml"/>
  <Override PartName="/ppt/charts/chart15.xml" ContentType="application/vnd.openxmlformats-officedocument.drawingml.chart+xml"/>
  <Override PartName="/ppt/charts/chart150.xml" ContentType="application/vnd.openxmlformats-officedocument.drawingml.chart+xml"/>
  <Override PartName="/ppt/charts/chart151.xml" ContentType="application/vnd.openxmlformats-officedocument.drawingml.chart+xml"/>
  <Override PartName="/ppt/charts/chart152.xml" ContentType="application/vnd.openxmlformats-officedocument.drawingml.chart+xml"/>
  <Override PartName="/ppt/charts/chart153.xml" ContentType="application/vnd.openxmlformats-officedocument.drawingml.chart+xml"/>
  <Override PartName="/ppt/charts/chart154.xml" ContentType="application/vnd.openxmlformats-officedocument.drawingml.chart+xml"/>
  <Override PartName="/ppt/charts/chart155.xml" ContentType="application/vnd.openxmlformats-officedocument.drawingml.chart+xml"/>
  <Override PartName="/ppt/charts/chart156.xml" ContentType="application/vnd.openxmlformats-officedocument.drawingml.chart+xml"/>
  <Override PartName="/ppt/charts/chart157.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chart18.xml" ContentType="application/vnd.openxmlformats-officedocument.drawingml.chart+xml"/>
  <Override PartName="/ppt/charts/chart19.xml" ContentType="application/vnd.openxmlformats-officedocument.drawingml.chart+xml"/>
  <Override PartName="/ppt/charts/chart2.xml" ContentType="application/vnd.openxmlformats-officedocument.drawingml.chart+xml"/>
  <Override PartName="/ppt/charts/chart20.xml" ContentType="application/vnd.openxmlformats-officedocument.drawingml.chart+xml"/>
  <Override PartName="/ppt/charts/chart21.xml" ContentType="application/vnd.openxmlformats-officedocument.drawingml.chart+xml"/>
  <Override PartName="/ppt/charts/chart22.xml" ContentType="application/vnd.openxmlformats-officedocument.drawingml.chart+xml"/>
  <Override PartName="/ppt/charts/chart23.xml" ContentType="application/vnd.openxmlformats-officedocument.drawingml.chart+xml"/>
  <Override PartName="/ppt/charts/chart24.xml" ContentType="application/vnd.openxmlformats-officedocument.drawingml.chart+xml"/>
  <Override PartName="/ppt/charts/chart25.xml" ContentType="application/vnd.openxmlformats-officedocument.drawingml.chart+xml"/>
  <Override PartName="/ppt/charts/chart26.xml" ContentType="application/vnd.openxmlformats-officedocument.drawingml.chart+xml"/>
  <Override PartName="/ppt/charts/chart27.xml" ContentType="application/vnd.openxmlformats-officedocument.drawingml.chart+xml"/>
  <Override PartName="/ppt/charts/chart28.xml" ContentType="application/vnd.openxmlformats-officedocument.drawingml.chart+xml"/>
  <Override PartName="/ppt/charts/chart29.xml" ContentType="application/vnd.openxmlformats-officedocument.drawingml.chart+xml"/>
  <Override PartName="/ppt/charts/chart3.xml" ContentType="application/vnd.openxmlformats-officedocument.drawingml.chart+xml"/>
  <Override PartName="/ppt/charts/chart30.xml" ContentType="application/vnd.openxmlformats-officedocument.drawingml.chart+xml"/>
  <Override PartName="/ppt/charts/chart31.xml" ContentType="application/vnd.openxmlformats-officedocument.drawingml.chart+xml"/>
  <Override PartName="/ppt/charts/chart32.xml" ContentType="application/vnd.openxmlformats-officedocument.drawingml.chart+xml"/>
  <Override PartName="/ppt/charts/chart33.xml" ContentType="application/vnd.openxmlformats-officedocument.drawingml.chart+xml"/>
  <Override PartName="/ppt/charts/chart34.xml" ContentType="application/vnd.openxmlformats-officedocument.drawingml.chart+xml"/>
  <Override PartName="/ppt/charts/chart35.xml" ContentType="application/vnd.openxmlformats-officedocument.drawingml.chart+xml"/>
  <Override PartName="/ppt/charts/chart36.xml" ContentType="application/vnd.openxmlformats-officedocument.drawingml.chart+xml"/>
  <Override PartName="/ppt/charts/chart37.xml" ContentType="application/vnd.openxmlformats-officedocument.drawingml.chart+xml"/>
  <Override PartName="/ppt/charts/chart38.xml" ContentType="application/vnd.openxmlformats-officedocument.drawingml.chart+xml"/>
  <Override PartName="/ppt/charts/chart39.xml" ContentType="application/vnd.openxmlformats-officedocument.drawingml.chart+xml"/>
  <Override PartName="/ppt/charts/chart4.xml" ContentType="application/vnd.openxmlformats-officedocument.drawingml.chart+xml"/>
  <Override PartName="/ppt/charts/chart40.xml" ContentType="application/vnd.openxmlformats-officedocument.drawingml.chart+xml"/>
  <Override PartName="/ppt/charts/chart41.xml" ContentType="application/vnd.openxmlformats-officedocument.drawingml.chart+xml"/>
  <Override PartName="/ppt/charts/chart42.xml" ContentType="application/vnd.openxmlformats-officedocument.drawingml.chart+xml"/>
  <Override PartName="/ppt/charts/chart43.xml" ContentType="application/vnd.openxmlformats-officedocument.drawingml.chart+xml"/>
  <Override PartName="/ppt/charts/chart44.xml" ContentType="application/vnd.openxmlformats-officedocument.drawingml.chart+xml"/>
  <Override PartName="/ppt/charts/chart45.xml" ContentType="application/vnd.openxmlformats-officedocument.drawingml.chart+xml"/>
  <Override PartName="/ppt/charts/chart46.xml" ContentType="application/vnd.openxmlformats-officedocument.drawingml.chart+xml"/>
  <Override PartName="/ppt/charts/chart47.xml" ContentType="application/vnd.openxmlformats-officedocument.drawingml.chart+xml"/>
  <Override PartName="/ppt/charts/chart48.xml" ContentType="application/vnd.openxmlformats-officedocument.drawingml.chart+xml"/>
  <Override PartName="/ppt/charts/chart49.xml" ContentType="application/vnd.openxmlformats-officedocument.drawingml.chart+xml"/>
  <Override PartName="/ppt/charts/chart5.xml" ContentType="application/vnd.openxmlformats-officedocument.drawingml.chart+xml"/>
  <Override PartName="/ppt/charts/chart50.xml" ContentType="application/vnd.openxmlformats-officedocument.drawingml.chart+xml"/>
  <Override PartName="/ppt/charts/chart51.xml" ContentType="application/vnd.openxmlformats-officedocument.drawingml.chart+xml"/>
  <Override PartName="/ppt/charts/chart52.xml" ContentType="application/vnd.openxmlformats-officedocument.drawingml.chart+xml"/>
  <Override PartName="/ppt/charts/chart53.xml" ContentType="application/vnd.openxmlformats-officedocument.drawingml.chart+xml"/>
  <Override PartName="/ppt/charts/chart54.xml" ContentType="application/vnd.openxmlformats-officedocument.drawingml.chart+xml"/>
  <Override PartName="/ppt/charts/chart55.xml" ContentType="application/vnd.openxmlformats-officedocument.drawingml.chart+xml"/>
  <Override PartName="/ppt/charts/chart56.xml" ContentType="application/vnd.openxmlformats-officedocument.drawingml.chart+xml"/>
  <Override PartName="/ppt/charts/chart57.xml" ContentType="application/vnd.openxmlformats-officedocument.drawingml.chart+xml"/>
  <Override PartName="/ppt/charts/chart58.xml" ContentType="application/vnd.openxmlformats-officedocument.drawingml.chart+xml"/>
  <Override PartName="/ppt/charts/chart59.xml" ContentType="application/vnd.openxmlformats-officedocument.drawingml.chart+xml"/>
  <Override PartName="/ppt/charts/chart6.xml" ContentType="application/vnd.openxmlformats-officedocument.drawingml.chart+xml"/>
  <Override PartName="/ppt/charts/chart60.xml" ContentType="application/vnd.openxmlformats-officedocument.drawingml.chart+xml"/>
  <Override PartName="/ppt/charts/chart61.xml" ContentType="application/vnd.openxmlformats-officedocument.drawingml.chart+xml"/>
  <Override PartName="/ppt/charts/chart62.xml" ContentType="application/vnd.openxmlformats-officedocument.drawingml.chart+xml"/>
  <Override PartName="/ppt/charts/chart63.xml" ContentType="application/vnd.openxmlformats-officedocument.drawingml.chart+xml"/>
  <Override PartName="/ppt/charts/chart64.xml" ContentType="application/vnd.openxmlformats-officedocument.drawingml.chart+xml"/>
  <Override PartName="/ppt/charts/chart65.xml" ContentType="application/vnd.openxmlformats-officedocument.drawingml.chart+xml"/>
  <Override PartName="/ppt/charts/chart66.xml" ContentType="application/vnd.openxmlformats-officedocument.drawingml.chart+xml"/>
  <Override PartName="/ppt/charts/chart67.xml" ContentType="application/vnd.openxmlformats-officedocument.drawingml.chart+xml"/>
  <Override PartName="/ppt/charts/chart68.xml" ContentType="application/vnd.openxmlformats-officedocument.drawingml.chart+xml"/>
  <Override PartName="/ppt/charts/chart69.xml" ContentType="application/vnd.openxmlformats-officedocument.drawingml.chart+xml"/>
  <Override PartName="/ppt/charts/chart7.xml" ContentType="application/vnd.openxmlformats-officedocument.drawingml.chart+xml"/>
  <Override PartName="/ppt/charts/chart70.xml" ContentType="application/vnd.openxmlformats-officedocument.drawingml.chart+xml"/>
  <Override PartName="/ppt/charts/chart71.xml" ContentType="application/vnd.openxmlformats-officedocument.drawingml.chart+xml"/>
  <Override PartName="/ppt/charts/chart72.xml" ContentType="application/vnd.openxmlformats-officedocument.drawingml.chart+xml"/>
  <Override PartName="/ppt/charts/chart73.xml" ContentType="application/vnd.openxmlformats-officedocument.drawingml.chart+xml"/>
  <Override PartName="/ppt/charts/chart74.xml" ContentType="application/vnd.openxmlformats-officedocument.drawingml.chart+xml"/>
  <Override PartName="/ppt/charts/chart75.xml" ContentType="application/vnd.openxmlformats-officedocument.drawingml.chart+xml"/>
  <Override PartName="/ppt/charts/chart76.xml" ContentType="application/vnd.openxmlformats-officedocument.drawingml.chart+xml"/>
  <Override PartName="/ppt/charts/chart77.xml" ContentType="application/vnd.openxmlformats-officedocument.drawingml.chart+xml"/>
  <Override PartName="/ppt/charts/chart78.xml" ContentType="application/vnd.openxmlformats-officedocument.drawingml.chart+xml"/>
  <Override PartName="/ppt/charts/chart79.xml" ContentType="application/vnd.openxmlformats-officedocument.drawingml.chart+xml"/>
  <Override PartName="/ppt/charts/chart8.xml" ContentType="application/vnd.openxmlformats-officedocument.drawingml.chart+xml"/>
  <Override PartName="/ppt/charts/chart80.xml" ContentType="application/vnd.openxmlformats-officedocument.drawingml.chart+xml"/>
  <Override PartName="/ppt/charts/chart81.xml" ContentType="application/vnd.openxmlformats-officedocument.drawingml.chart+xml"/>
  <Override PartName="/ppt/charts/chart82.xml" ContentType="application/vnd.openxmlformats-officedocument.drawingml.chart+xml"/>
  <Override PartName="/ppt/charts/chart83.xml" ContentType="application/vnd.openxmlformats-officedocument.drawingml.chart+xml"/>
  <Override PartName="/ppt/charts/chart84.xml" ContentType="application/vnd.openxmlformats-officedocument.drawingml.chart+xml"/>
  <Override PartName="/ppt/charts/chart85.xml" ContentType="application/vnd.openxmlformats-officedocument.drawingml.chart+xml"/>
  <Override PartName="/ppt/charts/chart86.xml" ContentType="application/vnd.openxmlformats-officedocument.drawingml.chart+xml"/>
  <Override PartName="/ppt/charts/chart87.xml" ContentType="application/vnd.openxmlformats-officedocument.drawingml.chart+xml"/>
  <Override PartName="/ppt/charts/chart88.xml" ContentType="application/vnd.openxmlformats-officedocument.drawingml.chart+xml"/>
  <Override PartName="/ppt/charts/chart89.xml" ContentType="application/vnd.openxmlformats-officedocument.drawingml.chart+xml"/>
  <Override PartName="/ppt/charts/chart9.xml" ContentType="application/vnd.openxmlformats-officedocument.drawingml.chart+xml"/>
  <Override PartName="/ppt/charts/chart90.xml" ContentType="application/vnd.openxmlformats-officedocument.drawingml.chart+xml"/>
  <Override PartName="/ppt/charts/chart91.xml" ContentType="application/vnd.openxmlformats-officedocument.drawingml.chart+xml"/>
  <Override PartName="/ppt/charts/chart92.xml" ContentType="application/vnd.openxmlformats-officedocument.drawingml.chart+xml"/>
  <Override PartName="/ppt/charts/chart93.xml" ContentType="application/vnd.openxmlformats-officedocument.drawingml.chart+xml"/>
  <Override PartName="/ppt/charts/chart94.xml" ContentType="application/vnd.openxmlformats-officedocument.drawingml.chart+xml"/>
  <Override PartName="/ppt/charts/chart95.xml" ContentType="application/vnd.openxmlformats-officedocument.drawingml.chart+xml"/>
  <Override PartName="/ppt/charts/chart96.xml" ContentType="application/vnd.openxmlformats-officedocument.drawingml.chart+xml"/>
  <Override PartName="/ppt/charts/chart97.xml" ContentType="application/vnd.openxmlformats-officedocument.drawingml.chart+xml"/>
  <Override PartName="/ppt/charts/chart98.xml" ContentType="application/vnd.openxmlformats-officedocument.drawingml.chart+xml"/>
  <Override PartName="/ppt/charts/chart99.xml" ContentType="application/vnd.openxmlformats-officedocument.drawingml.chart+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2.xml" ContentType="application/vnd.openxmlformats-officedocument.presentationml.notesSl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notesSlides/notesSlide257.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2" Type="http://schemas.openxmlformats.org/package/2006/relationships/metadata/thumbnail" Target="docProps/thumbnail.jpeg"/><Relationship Id="rId3" Type="http://schemas.openxmlformats.org/package/2006/relationships/metadata/core-properties" Target="docProps/core.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sldIdLst>
    <p:sldId id="256" r:id="rId7"/>
    <p:sldId id="257" r:id="rId8"/>
    <p:sldId id="258" r:id="rId9"/>
    <p:sldId id="259" r:id="rId10"/>
    <p:sldId id="260" r:id="rId12"/>
    <p:sldId id="261" r:id="rId13"/>
    <p:sldId id="262" r:id="rId14"/>
    <p:sldId id="263" r:id="rId15"/>
    <p:sldId id="264" r:id="rId16"/>
    <p:sldId id="550" r:id="rId302"/>
    <p:sldId id="544" r:id="rId296"/>
    <p:sldId id="545" r:id="rId297"/>
    <p:sldId id="546" r:id="rId298"/>
    <p:sldId id="547" r:id="rId299"/>
    <p:sldId id="548" r:id="rId300"/>
    <p:sldId id="549" r:id="rId301"/>
    <p:sldId id="559" r:id="rId311"/>
    <p:sldId id="551" r:id="rId303"/>
    <p:sldId id="552" r:id="rId304"/>
    <p:sldId id="553" r:id="rId305"/>
    <p:sldId id="554" r:id="rId306"/>
    <p:sldId id="555" r:id="rId307"/>
    <p:sldId id="556" r:id="rId308"/>
    <p:sldId id="557" r:id="rId309"/>
    <p:sldId id="558" r:id="rId310"/>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 id="308" r:id="rId60"/>
    <p:sldId id="309" r:id="rId61"/>
    <p:sldId id="310" r:id="rId62"/>
    <p:sldId id="311" r:id="rId63"/>
    <p:sldId id="312" r:id="rId64"/>
    <p:sldId id="313" r:id="rId65"/>
    <p:sldId id="314" r:id="rId66"/>
    <p:sldId id="315" r:id="rId67"/>
    <p:sldId id="316" r:id="rId68"/>
    <p:sldId id="317" r:id="rId69"/>
    <p:sldId id="318" r:id="rId70"/>
    <p:sldId id="319" r:id="rId71"/>
    <p:sldId id="320" r:id="rId72"/>
    <p:sldId id="321" r:id="rId73"/>
    <p:sldId id="322" r:id="rId74"/>
    <p:sldId id="323" r:id="rId75"/>
    <p:sldId id="324" r:id="rId76"/>
    <p:sldId id="325" r:id="rId77"/>
    <p:sldId id="326" r:id="rId78"/>
    <p:sldId id="327" r:id="rId79"/>
    <p:sldId id="328" r:id="rId80"/>
    <p:sldId id="329" r:id="rId81"/>
    <p:sldId id="330" r:id="rId82"/>
    <p:sldId id="331" r:id="rId83"/>
    <p:sldId id="332" r:id="rId84"/>
    <p:sldId id="333" r:id="rId85"/>
    <p:sldId id="334" r:id="rId86"/>
    <p:sldId id="335" r:id="rId87"/>
    <p:sldId id="336" r:id="rId88"/>
    <p:sldId id="337" r:id="rId89"/>
    <p:sldId id="338" r:id="rId90"/>
    <p:sldId id="339" r:id="rId91"/>
    <p:sldId id="340" r:id="rId92"/>
    <p:sldId id="341" r:id="rId93"/>
    <p:sldId id="342" r:id="rId94"/>
    <p:sldId id="343" r:id="rId95"/>
    <p:sldId id="344" r:id="rId96"/>
    <p:sldId id="345" r:id="rId97"/>
    <p:sldId id="346" r:id="rId98"/>
    <p:sldId id="347" r:id="rId99"/>
    <p:sldId id="348" r:id="rId100"/>
    <p:sldId id="349" r:id="rId101"/>
    <p:sldId id="350" r:id="rId102"/>
    <p:sldId id="351" r:id="rId103"/>
    <p:sldId id="352" r:id="rId104"/>
    <p:sldId id="353" r:id="rId105"/>
    <p:sldId id="354" r:id="rId106"/>
    <p:sldId id="355" r:id="rId107"/>
    <p:sldId id="356" r:id="rId108"/>
    <p:sldId id="357" r:id="rId109"/>
    <p:sldId id="358" r:id="rId110"/>
    <p:sldId id="359" r:id="rId111"/>
    <p:sldId id="360" r:id="rId112"/>
    <p:sldId id="361" r:id="rId113"/>
    <p:sldId id="362" r:id="rId114"/>
    <p:sldId id="363" r:id="rId115"/>
    <p:sldId id="364" r:id="rId116"/>
    <p:sldId id="365" r:id="rId117"/>
    <p:sldId id="366" r:id="rId118"/>
    <p:sldId id="367" r:id="rId119"/>
    <p:sldId id="368" r:id="rId120"/>
    <p:sldId id="369" r:id="rId121"/>
    <p:sldId id="370" r:id="rId122"/>
    <p:sldId id="371" r:id="rId123"/>
    <p:sldId id="372" r:id="rId124"/>
    <p:sldId id="373" r:id="rId125"/>
    <p:sldId id="374" r:id="rId126"/>
    <p:sldId id="375" r:id="rId127"/>
    <p:sldId id="376" r:id="rId128"/>
    <p:sldId id="377" r:id="rId129"/>
    <p:sldId id="378" r:id="rId130"/>
    <p:sldId id="379" r:id="rId131"/>
    <p:sldId id="380" r:id="rId132"/>
    <p:sldId id="381" r:id="rId133"/>
    <p:sldId id="382" r:id="rId134"/>
    <p:sldId id="383" r:id="rId135"/>
    <p:sldId id="384" r:id="rId136"/>
    <p:sldId id="385" r:id="rId137"/>
    <p:sldId id="386" r:id="rId138"/>
    <p:sldId id="387" r:id="rId139"/>
    <p:sldId id="388" r:id="rId140"/>
    <p:sldId id="389" r:id="rId141"/>
    <p:sldId id="390" r:id="rId142"/>
    <p:sldId id="391" r:id="rId143"/>
    <p:sldId id="392" r:id="rId144"/>
    <p:sldId id="393" r:id="rId145"/>
    <p:sldId id="394" r:id="rId146"/>
    <p:sldId id="395" r:id="rId147"/>
    <p:sldId id="396" r:id="rId148"/>
    <p:sldId id="397" r:id="rId149"/>
    <p:sldId id="398" r:id="rId150"/>
    <p:sldId id="399" r:id="rId151"/>
    <p:sldId id="400" r:id="rId152"/>
    <p:sldId id="401" r:id="rId153"/>
    <p:sldId id="402" r:id="rId154"/>
    <p:sldId id="403" r:id="rId155"/>
    <p:sldId id="404" r:id="rId156"/>
    <p:sldId id="405" r:id="rId157"/>
    <p:sldId id="406" r:id="rId158"/>
    <p:sldId id="407" r:id="rId159"/>
    <p:sldId id="408" r:id="rId160"/>
    <p:sldId id="409" r:id="rId161"/>
    <p:sldId id="410" r:id="rId162"/>
    <p:sldId id="411" r:id="rId163"/>
    <p:sldId id="412" r:id="rId164"/>
    <p:sldId id="413" r:id="rId165"/>
    <p:sldId id="414" r:id="rId166"/>
    <p:sldId id="415" r:id="rId167"/>
    <p:sldId id="416" r:id="rId168"/>
    <p:sldId id="417" r:id="rId169"/>
    <p:sldId id="418" r:id="rId170"/>
    <p:sldId id="419" r:id="rId171"/>
    <p:sldId id="420" r:id="rId172"/>
    <p:sldId id="421" r:id="rId173"/>
    <p:sldId id="422" r:id="rId174"/>
    <p:sldId id="423" r:id="rId175"/>
    <p:sldId id="424" r:id="rId176"/>
    <p:sldId id="425" r:id="rId177"/>
    <p:sldId id="426" r:id="rId178"/>
    <p:sldId id="427" r:id="rId179"/>
    <p:sldId id="428" r:id="rId180"/>
    <p:sldId id="429" r:id="rId181"/>
    <p:sldId id="430" r:id="rId182"/>
    <p:sldId id="431" r:id="rId183"/>
    <p:sldId id="432" r:id="rId184"/>
    <p:sldId id="433" r:id="rId185"/>
    <p:sldId id="434" r:id="rId186"/>
    <p:sldId id="435" r:id="rId187"/>
    <p:sldId id="436" r:id="rId188"/>
    <p:sldId id="437" r:id="rId189"/>
    <p:sldId id="438" r:id="rId190"/>
    <p:sldId id="439" r:id="rId191"/>
    <p:sldId id="440" r:id="rId192"/>
    <p:sldId id="441" r:id="rId193"/>
    <p:sldId id="442" r:id="rId194"/>
    <p:sldId id="443" r:id="rId195"/>
    <p:sldId id="444" r:id="rId196"/>
    <p:sldId id="445" r:id="rId197"/>
    <p:sldId id="446" r:id="rId198"/>
    <p:sldId id="447" r:id="rId199"/>
    <p:sldId id="448" r:id="rId200"/>
    <p:sldId id="449" r:id="rId201"/>
    <p:sldId id="450" r:id="rId202"/>
    <p:sldId id="451" r:id="rId203"/>
    <p:sldId id="452" r:id="rId204"/>
    <p:sldId id="453" r:id="rId205"/>
    <p:sldId id="454" r:id="rId206"/>
    <p:sldId id="455" r:id="rId207"/>
    <p:sldId id="456" r:id="rId208"/>
    <p:sldId id="457" r:id="rId209"/>
    <p:sldId id="458" r:id="rId210"/>
    <p:sldId id="459" r:id="rId211"/>
    <p:sldId id="460" r:id="rId212"/>
    <p:sldId id="461" r:id="rId213"/>
    <p:sldId id="462" r:id="rId214"/>
    <p:sldId id="463" r:id="rId215"/>
    <p:sldId id="464" r:id="rId216"/>
    <p:sldId id="465" r:id="rId217"/>
    <p:sldId id="466" r:id="rId218"/>
    <p:sldId id="467" r:id="rId219"/>
    <p:sldId id="468" r:id="rId220"/>
    <p:sldId id="469" r:id="rId221"/>
    <p:sldId id="470" r:id="rId222"/>
    <p:sldId id="471" r:id="rId223"/>
    <p:sldId id="472" r:id="rId224"/>
    <p:sldId id="473" r:id="rId225"/>
    <p:sldId id="474" r:id="rId226"/>
    <p:sldId id="475" r:id="rId227"/>
    <p:sldId id="476" r:id="rId228"/>
    <p:sldId id="477" r:id="rId229"/>
    <p:sldId id="478" r:id="rId230"/>
    <p:sldId id="479" r:id="rId231"/>
    <p:sldId id="480" r:id="rId232"/>
    <p:sldId id="481" r:id="rId233"/>
    <p:sldId id="482" r:id="rId234"/>
    <p:sldId id="483" r:id="rId235"/>
    <p:sldId id="484" r:id="rId236"/>
    <p:sldId id="485" r:id="rId237"/>
    <p:sldId id="486" r:id="rId238"/>
    <p:sldId id="487" r:id="rId239"/>
    <p:sldId id="488" r:id="rId240"/>
    <p:sldId id="489" r:id="rId241"/>
    <p:sldId id="490" r:id="rId242"/>
    <p:sldId id="491" r:id="rId243"/>
    <p:sldId id="492" r:id="rId244"/>
    <p:sldId id="493" r:id="rId245"/>
    <p:sldId id="494" r:id="rId246"/>
    <p:sldId id="495" r:id="rId247"/>
    <p:sldId id="496" r:id="rId248"/>
    <p:sldId id="497" r:id="rId249"/>
    <p:sldId id="498" r:id="rId250"/>
    <p:sldId id="499" r:id="rId251"/>
    <p:sldId id="500" r:id="rId252"/>
    <p:sldId id="501" r:id="rId253"/>
    <p:sldId id="502" r:id="rId254"/>
    <p:sldId id="503" r:id="rId255"/>
    <p:sldId id="504" r:id="rId256"/>
    <p:sldId id="505" r:id="rId257"/>
    <p:sldId id="506" r:id="rId258"/>
    <p:sldId id="507" r:id="rId259"/>
    <p:sldId id="508" r:id="rId260"/>
    <p:sldId id="509" r:id="rId261"/>
    <p:sldId id="510" r:id="rId262"/>
    <p:sldId id="511" r:id="rId263"/>
    <p:sldId id="512" r:id="rId264"/>
    <p:sldId id="513" r:id="rId265"/>
    <p:sldId id="514" r:id="rId266"/>
    <p:sldId id="515" r:id="rId267"/>
    <p:sldId id="516" r:id="rId268"/>
    <p:sldId id="517" r:id="rId269"/>
    <p:sldId id="518" r:id="rId270"/>
    <p:sldId id="519" r:id="rId271"/>
    <p:sldId id="520" r:id="rId272"/>
    <p:sldId id="521" r:id="rId273"/>
    <p:sldId id="522" r:id="rId274"/>
    <p:sldId id="523" r:id="rId275"/>
    <p:sldId id="524" r:id="rId276"/>
    <p:sldId id="525" r:id="rId277"/>
    <p:sldId id="526" r:id="rId278"/>
    <p:sldId id="527" r:id="rId279"/>
    <p:sldId id="528" r:id="rId280"/>
    <p:sldId id="529" r:id="rId281"/>
    <p:sldId id="530" r:id="rId282"/>
    <p:sldId id="531" r:id="rId283"/>
    <p:sldId id="532" r:id="rId284"/>
    <p:sldId id="533" r:id="rId285"/>
    <p:sldId id="534" r:id="rId286"/>
    <p:sldId id="535" r:id="rId287"/>
    <p:sldId id="536" r:id="rId288"/>
    <p:sldId id="537" r:id="rId289"/>
    <p:sldId id="538" r:id="rId290"/>
    <p:sldId id="539" r:id="rId291"/>
    <p:sldId id="540" r:id="rId292"/>
    <p:sldId id="541" r:id="rId293"/>
    <p:sldId id="542" r:id="rId294"/>
    <p:sldId id="543" r:id="rId295"/>
  </p:sldIdLst>
  <p:sldSz cx="12192000" cy="6858000" type="screen4x3"/>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snapToObjects="1">
      <p:cViewPr varScale="1">
        <p:scale>
          <a:sx n="124" d="100"/>
          <a:sy n="124" d="100"/>
        </p:scale>
        <p:origin x="-1512" y="-112"/>
      </p:cViewPr>
      <p:guideLst>
        <p:guide orient="horz" pos="2160"/>
        <p:guide pos="2880"/>
      </p:guideLst>
    </p:cSldViewPr>
  </p:slideViewPr>
  <p:notesTextViewPr>
    <p:cViewPr>
      <p:scale>
        <a:sx n="100" d="100"/>
        <a:sy n="100" d="100"/>
      </p:scale>
      <p:origin x="0" y="0"/>
    </p:cViewPr>
  </p:notesTextViewPr>
  <p:gridSpacing cx="76200" cy="76200"/>
</p:viewPr>
</file>

<file path=ppt/_rels/presentation.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printerSettings" Target="printerSettings/printerSettings1.bin"/><Relationship Id="rId3" Type="http://schemas.openxmlformats.org/officeDocument/2006/relationships/presProps" Target="presProps.xml"/><Relationship Id="rId4" Type="http://schemas.openxmlformats.org/officeDocument/2006/relationships/viewProps" Target="viewProps.xml"/><Relationship Id="rId5" Type="http://schemas.openxmlformats.org/officeDocument/2006/relationships/theme" Target="theme/theme1.xml"/><Relationship Id="rId6" Type="http://schemas.openxmlformats.org/officeDocument/2006/relationships/tableStyles" Target="tableStyles.xml"/><Relationship Id="rId7" Type="http://schemas.openxmlformats.org/officeDocument/2006/relationships/slide" Target="slides/slide1.xml"/><Relationship Id="rId8" Type="http://schemas.openxmlformats.org/officeDocument/2006/relationships/slide" Target="slides/slide2.xml"/><Relationship Id="rId9" Type="http://schemas.openxmlformats.org/officeDocument/2006/relationships/slide" Target="slides/slide3.xml"/><Relationship Id="rId10" Type="http://schemas.openxmlformats.org/officeDocument/2006/relationships/slide" Target="slides/slide4.xml"/><Relationship Id="rId11" Type="http://schemas.openxmlformats.org/officeDocument/2006/relationships/notesMaster" Target="notesMasters/notesMaster1.xml"/><Relationship Id="rId12" Type="http://schemas.openxmlformats.org/officeDocument/2006/relationships/slide" Target="slides/slide5.xml"/><Relationship Id="rId13" Type="http://schemas.openxmlformats.org/officeDocument/2006/relationships/slide" Target="slides/slide6.xml"/><Relationship Id="rId14" Type="http://schemas.openxmlformats.org/officeDocument/2006/relationships/slide" Target="slides/slide7.xml"/><Relationship Id="rId15" Type="http://schemas.openxmlformats.org/officeDocument/2006/relationships/slide" Target="slides/slide8.xml"/><Relationship Id="rId16" Type="http://schemas.openxmlformats.org/officeDocument/2006/relationships/slide" Target="slides/slide9.xml"/><Relationship Id="rId17" Type="http://schemas.openxmlformats.org/officeDocument/2006/relationships/slide" Target="slides/slide26.xml"/><Relationship Id="rId18" Type="http://schemas.openxmlformats.org/officeDocument/2006/relationships/slide" Target="slides/slide27.xml"/><Relationship Id="rId19" Type="http://schemas.openxmlformats.org/officeDocument/2006/relationships/slide" Target="slides/slide28.xml"/><Relationship Id="rId20" Type="http://schemas.openxmlformats.org/officeDocument/2006/relationships/slide" Target="slides/slide29.xml"/><Relationship Id="rId21" Type="http://schemas.openxmlformats.org/officeDocument/2006/relationships/slide" Target="slides/slide30.xml"/><Relationship Id="rId22" Type="http://schemas.openxmlformats.org/officeDocument/2006/relationships/slide" Target="slides/slide31.xml"/><Relationship Id="rId23" Type="http://schemas.openxmlformats.org/officeDocument/2006/relationships/slide" Target="slides/slide32.xml"/><Relationship Id="rId24" Type="http://schemas.openxmlformats.org/officeDocument/2006/relationships/slide" Target="slides/slide33.xml"/><Relationship Id="rId25" Type="http://schemas.openxmlformats.org/officeDocument/2006/relationships/slide" Target="slides/slide34.xml"/><Relationship Id="rId26" Type="http://schemas.openxmlformats.org/officeDocument/2006/relationships/slide" Target="slides/slide35.xml"/><Relationship Id="rId27" Type="http://schemas.openxmlformats.org/officeDocument/2006/relationships/slide" Target="slides/slide36.xml"/><Relationship Id="rId28" Type="http://schemas.openxmlformats.org/officeDocument/2006/relationships/slide" Target="slides/slide37.xml"/><Relationship Id="rId29" Type="http://schemas.openxmlformats.org/officeDocument/2006/relationships/slide" Target="slides/slide38.xml"/><Relationship Id="rId30" Type="http://schemas.openxmlformats.org/officeDocument/2006/relationships/slide" Target="slides/slide39.xml"/><Relationship Id="rId31" Type="http://schemas.openxmlformats.org/officeDocument/2006/relationships/slide" Target="slides/slide40.xml"/><Relationship Id="rId32" Type="http://schemas.openxmlformats.org/officeDocument/2006/relationships/slide" Target="slides/slide41.xml"/><Relationship Id="rId33" Type="http://schemas.openxmlformats.org/officeDocument/2006/relationships/slide" Target="slides/slide42.xml"/><Relationship Id="rId34" Type="http://schemas.openxmlformats.org/officeDocument/2006/relationships/slide" Target="slides/slide43.xml"/><Relationship Id="rId35" Type="http://schemas.openxmlformats.org/officeDocument/2006/relationships/slide" Target="slides/slide44.xml"/><Relationship Id="rId36" Type="http://schemas.openxmlformats.org/officeDocument/2006/relationships/slide" Target="slides/slide45.xml"/><Relationship Id="rId37" Type="http://schemas.openxmlformats.org/officeDocument/2006/relationships/slide" Target="slides/slide46.xml"/><Relationship Id="rId38" Type="http://schemas.openxmlformats.org/officeDocument/2006/relationships/slide" Target="slides/slide47.xml"/><Relationship Id="rId39" Type="http://schemas.openxmlformats.org/officeDocument/2006/relationships/slide" Target="slides/slide48.xml"/><Relationship Id="rId40" Type="http://schemas.openxmlformats.org/officeDocument/2006/relationships/slide" Target="slides/slide49.xml"/><Relationship Id="rId41" Type="http://schemas.openxmlformats.org/officeDocument/2006/relationships/slide" Target="slides/slide50.xml"/><Relationship Id="rId42" Type="http://schemas.openxmlformats.org/officeDocument/2006/relationships/slide" Target="slides/slide51.xml"/><Relationship Id="rId43" Type="http://schemas.openxmlformats.org/officeDocument/2006/relationships/slide" Target="slides/slide52.xml"/><Relationship Id="rId44" Type="http://schemas.openxmlformats.org/officeDocument/2006/relationships/slide" Target="slides/slide53.xml"/><Relationship Id="rId45" Type="http://schemas.openxmlformats.org/officeDocument/2006/relationships/slide" Target="slides/slide54.xml"/><Relationship Id="rId46" Type="http://schemas.openxmlformats.org/officeDocument/2006/relationships/slide" Target="slides/slide55.xml"/><Relationship Id="rId47" Type="http://schemas.openxmlformats.org/officeDocument/2006/relationships/slide" Target="slides/slide56.xml"/><Relationship Id="rId48" Type="http://schemas.openxmlformats.org/officeDocument/2006/relationships/slide" Target="slides/slide57.xml"/><Relationship Id="rId49" Type="http://schemas.openxmlformats.org/officeDocument/2006/relationships/slide" Target="slides/slide58.xml"/><Relationship Id="rId50" Type="http://schemas.openxmlformats.org/officeDocument/2006/relationships/slide" Target="slides/slide59.xml"/><Relationship Id="rId51" Type="http://schemas.openxmlformats.org/officeDocument/2006/relationships/slide" Target="slides/slide60.xml"/><Relationship Id="rId52" Type="http://schemas.openxmlformats.org/officeDocument/2006/relationships/slide" Target="slides/slide61.xml"/><Relationship Id="rId53" Type="http://schemas.openxmlformats.org/officeDocument/2006/relationships/slide" Target="slides/slide62.xml"/><Relationship Id="rId54" Type="http://schemas.openxmlformats.org/officeDocument/2006/relationships/slide" Target="slides/slide63.xml"/><Relationship Id="rId55" Type="http://schemas.openxmlformats.org/officeDocument/2006/relationships/slide" Target="slides/slide64.xml"/><Relationship Id="rId56" Type="http://schemas.openxmlformats.org/officeDocument/2006/relationships/slide" Target="slides/slide65.xml"/><Relationship Id="rId57" Type="http://schemas.openxmlformats.org/officeDocument/2006/relationships/slide" Target="slides/slide66.xml"/><Relationship Id="rId58" Type="http://schemas.openxmlformats.org/officeDocument/2006/relationships/slide" Target="slides/slide67.xml"/><Relationship Id="rId59" Type="http://schemas.openxmlformats.org/officeDocument/2006/relationships/slide" Target="slides/slide68.xml"/><Relationship Id="rId60" Type="http://schemas.openxmlformats.org/officeDocument/2006/relationships/slide" Target="slides/slide69.xml"/><Relationship Id="rId61" Type="http://schemas.openxmlformats.org/officeDocument/2006/relationships/slide" Target="slides/slide70.xml"/><Relationship Id="rId62" Type="http://schemas.openxmlformats.org/officeDocument/2006/relationships/slide" Target="slides/slide71.xml"/><Relationship Id="rId63" Type="http://schemas.openxmlformats.org/officeDocument/2006/relationships/slide" Target="slides/slide72.xml"/><Relationship Id="rId64" Type="http://schemas.openxmlformats.org/officeDocument/2006/relationships/slide" Target="slides/slide73.xml"/><Relationship Id="rId65" Type="http://schemas.openxmlformats.org/officeDocument/2006/relationships/slide" Target="slides/slide74.xml"/><Relationship Id="rId66" Type="http://schemas.openxmlformats.org/officeDocument/2006/relationships/slide" Target="slides/slide75.xml"/><Relationship Id="rId67" Type="http://schemas.openxmlformats.org/officeDocument/2006/relationships/slide" Target="slides/slide76.xml"/><Relationship Id="rId68" Type="http://schemas.openxmlformats.org/officeDocument/2006/relationships/slide" Target="slides/slide77.xml"/><Relationship Id="rId69" Type="http://schemas.openxmlformats.org/officeDocument/2006/relationships/slide" Target="slides/slide78.xml"/><Relationship Id="rId70" Type="http://schemas.openxmlformats.org/officeDocument/2006/relationships/slide" Target="slides/slide79.xml"/><Relationship Id="rId71" Type="http://schemas.openxmlformats.org/officeDocument/2006/relationships/slide" Target="slides/slide80.xml"/><Relationship Id="rId72" Type="http://schemas.openxmlformats.org/officeDocument/2006/relationships/slide" Target="slides/slide81.xml"/><Relationship Id="rId73" Type="http://schemas.openxmlformats.org/officeDocument/2006/relationships/slide" Target="slides/slide82.xml"/><Relationship Id="rId74" Type="http://schemas.openxmlformats.org/officeDocument/2006/relationships/slide" Target="slides/slide83.xml"/><Relationship Id="rId75" Type="http://schemas.openxmlformats.org/officeDocument/2006/relationships/slide" Target="slides/slide84.xml"/><Relationship Id="rId76" Type="http://schemas.openxmlformats.org/officeDocument/2006/relationships/slide" Target="slides/slide85.xml"/><Relationship Id="rId77" Type="http://schemas.openxmlformats.org/officeDocument/2006/relationships/slide" Target="slides/slide86.xml"/><Relationship Id="rId78" Type="http://schemas.openxmlformats.org/officeDocument/2006/relationships/slide" Target="slides/slide87.xml"/><Relationship Id="rId79" Type="http://schemas.openxmlformats.org/officeDocument/2006/relationships/slide" Target="slides/slide88.xml"/><Relationship Id="rId80" Type="http://schemas.openxmlformats.org/officeDocument/2006/relationships/slide" Target="slides/slide89.xml"/><Relationship Id="rId81" Type="http://schemas.openxmlformats.org/officeDocument/2006/relationships/slide" Target="slides/slide90.xml"/><Relationship Id="rId82" Type="http://schemas.openxmlformats.org/officeDocument/2006/relationships/slide" Target="slides/slide91.xml"/><Relationship Id="rId83" Type="http://schemas.openxmlformats.org/officeDocument/2006/relationships/slide" Target="slides/slide92.xml"/><Relationship Id="rId84" Type="http://schemas.openxmlformats.org/officeDocument/2006/relationships/slide" Target="slides/slide93.xml"/><Relationship Id="rId85" Type="http://schemas.openxmlformats.org/officeDocument/2006/relationships/slide" Target="slides/slide94.xml"/><Relationship Id="rId86" Type="http://schemas.openxmlformats.org/officeDocument/2006/relationships/slide" Target="slides/slide95.xml"/><Relationship Id="rId87" Type="http://schemas.openxmlformats.org/officeDocument/2006/relationships/slide" Target="slides/slide96.xml"/><Relationship Id="rId88" Type="http://schemas.openxmlformats.org/officeDocument/2006/relationships/slide" Target="slides/slide97.xml"/><Relationship Id="rId89" Type="http://schemas.openxmlformats.org/officeDocument/2006/relationships/slide" Target="slides/slide98.xml"/><Relationship Id="rId90" Type="http://schemas.openxmlformats.org/officeDocument/2006/relationships/slide" Target="slides/slide99.xml"/><Relationship Id="rId91" Type="http://schemas.openxmlformats.org/officeDocument/2006/relationships/slide" Target="slides/slide100.xml"/><Relationship Id="rId92" Type="http://schemas.openxmlformats.org/officeDocument/2006/relationships/slide" Target="slides/slide101.xml"/><Relationship Id="rId93" Type="http://schemas.openxmlformats.org/officeDocument/2006/relationships/slide" Target="slides/slide102.xml"/><Relationship Id="rId94" Type="http://schemas.openxmlformats.org/officeDocument/2006/relationships/slide" Target="slides/slide103.xml"/><Relationship Id="rId95" Type="http://schemas.openxmlformats.org/officeDocument/2006/relationships/slide" Target="slides/slide104.xml"/><Relationship Id="rId96" Type="http://schemas.openxmlformats.org/officeDocument/2006/relationships/slide" Target="slides/slide105.xml"/><Relationship Id="rId97" Type="http://schemas.openxmlformats.org/officeDocument/2006/relationships/slide" Target="slides/slide106.xml"/><Relationship Id="rId98" Type="http://schemas.openxmlformats.org/officeDocument/2006/relationships/slide" Target="slides/slide107.xml"/><Relationship Id="rId99" Type="http://schemas.openxmlformats.org/officeDocument/2006/relationships/slide" Target="slides/slide108.xml"/><Relationship Id="rId100" Type="http://schemas.openxmlformats.org/officeDocument/2006/relationships/slide" Target="slides/slide109.xml"/><Relationship Id="rId101" Type="http://schemas.openxmlformats.org/officeDocument/2006/relationships/slide" Target="slides/slide110.xml"/><Relationship Id="rId102" Type="http://schemas.openxmlformats.org/officeDocument/2006/relationships/slide" Target="slides/slide111.xml"/><Relationship Id="rId103" Type="http://schemas.openxmlformats.org/officeDocument/2006/relationships/slide" Target="slides/slide112.xml"/><Relationship Id="rId104" Type="http://schemas.openxmlformats.org/officeDocument/2006/relationships/slide" Target="slides/slide113.xml"/><Relationship Id="rId105" Type="http://schemas.openxmlformats.org/officeDocument/2006/relationships/slide" Target="slides/slide114.xml"/><Relationship Id="rId106" Type="http://schemas.openxmlformats.org/officeDocument/2006/relationships/slide" Target="slides/slide115.xml"/><Relationship Id="rId107" Type="http://schemas.openxmlformats.org/officeDocument/2006/relationships/slide" Target="slides/slide116.xml"/><Relationship Id="rId108" Type="http://schemas.openxmlformats.org/officeDocument/2006/relationships/slide" Target="slides/slide117.xml"/><Relationship Id="rId109" Type="http://schemas.openxmlformats.org/officeDocument/2006/relationships/slide" Target="slides/slide118.xml"/><Relationship Id="rId110" Type="http://schemas.openxmlformats.org/officeDocument/2006/relationships/slide" Target="slides/slide119.xml"/><Relationship Id="rId111" Type="http://schemas.openxmlformats.org/officeDocument/2006/relationships/slide" Target="slides/slide120.xml"/><Relationship Id="rId112" Type="http://schemas.openxmlformats.org/officeDocument/2006/relationships/slide" Target="slides/slide121.xml"/><Relationship Id="rId113" Type="http://schemas.openxmlformats.org/officeDocument/2006/relationships/slide" Target="slides/slide122.xml"/><Relationship Id="rId114" Type="http://schemas.openxmlformats.org/officeDocument/2006/relationships/slide" Target="slides/slide123.xml"/><Relationship Id="rId115" Type="http://schemas.openxmlformats.org/officeDocument/2006/relationships/slide" Target="slides/slide124.xml"/><Relationship Id="rId116" Type="http://schemas.openxmlformats.org/officeDocument/2006/relationships/slide" Target="slides/slide125.xml"/><Relationship Id="rId117" Type="http://schemas.openxmlformats.org/officeDocument/2006/relationships/slide" Target="slides/slide126.xml"/><Relationship Id="rId118" Type="http://schemas.openxmlformats.org/officeDocument/2006/relationships/slide" Target="slides/slide127.xml"/><Relationship Id="rId119" Type="http://schemas.openxmlformats.org/officeDocument/2006/relationships/slide" Target="slides/slide128.xml"/><Relationship Id="rId120" Type="http://schemas.openxmlformats.org/officeDocument/2006/relationships/slide" Target="slides/slide129.xml"/><Relationship Id="rId121" Type="http://schemas.openxmlformats.org/officeDocument/2006/relationships/slide" Target="slides/slide130.xml"/><Relationship Id="rId122" Type="http://schemas.openxmlformats.org/officeDocument/2006/relationships/slide" Target="slides/slide131.xml"/><Relationship Id="rId123" Type="http://schemas.openxmlformats.org/officeDocument/2006/relationships/slide" Target="slides/slide132.xml"/><Relationship Id="rId124" Type="http://schemas.openxmlformats.org/officeDocument/2006/relationships/slide" Target="slides/slide133.xml"/><Relationship Id="rId125" Type="http://schemas.openxmlformats.org/officeDocument/2006/relationships/slide" Target="slides/slide134.xml"/><Relationship Id="rId126" Type="http://schemas.openxmlformats.org/officeDocument/2006/relationships/slide" Target="slides/slide135.xml"/><Relationship Id="rId127" Type="http://schemas.openxmlformats.org/officeDocument/2006/relationships/slide" Target="slides/slide136.xml"/><Relationship Id="rId128" Type="http://schemas.openxmlformats.org/officeDocument/2006/relationships/slide" Target="slides/slide137.xml"/><Relationship Id="rId129" Type="http://schemas.openxmlformats.org/officeDocument/2006/relationships/slide" Target="slides/slide138.xml"/><Relationship Id="rId130" Type="http://schemas.openxmlformats.org/officeDocument/2006/relationships/slide" Target="slides/slide139.xml"/><Relationship Id="rId131" Type="http://schemas.openxmlformats.org/officeDocument/2006/relationships/slide" Target="slides/slide140.xml"/><Relationship Id="rId132" Type="http://schemas.openxmlformats.org/officeDocument/2006/relationships/slide" Target="slides/slide141.xml"/><Relationship Id="rId133" Type="http://schemas.openxmlformats.org/officeDocument/2006/relationships/slide" Target="slides/slide142.xml"/><Relationship Id="rId134" Type="http://schemas.openxmlformats.org/officeDocument/2006/relationships/slide" Target="slides/slide143.xml"/><Relationship Id="rId135" Type="http://schemas.openxmlformats.org/officeDocument/2006/relationships/slide" Target="slides/slide144.xml"/><Relationship Id="rId136" Type="http://schemas.openxmlformats.org/officeDocument/2006/relationships/slide" Target="slides/slide145.xml"/><Relationship Id="rId137" Type="http://schemas.openxmlformats.org/officeDocument/2006/relationships/slide" Target="slides/slide146.xml"/><Relationship Id="rId138" Type="http://schemas.openxmlformats.org/officeDocument/2006/relationships/slide" Target="slides/slide147.xml"/><Relationship Id="rId139" Type="http://schemas.openxmlformats.org/officeDocument/2006/relationships/slide" Target="slides/slide148.xml"/><Relationship Id="rId140" Type="http://schemas.openxmlformats.org/officeDocument/2006/relationships/slide" Target="slides/slide149.xml"/><Relationship Id="rId141" Type="http://schemas.openxmlformats.org/officeDocument/2006/relationships/slide" Target="slides/slide150.xml"/><Relationship Id="rId142" Type="http://schemas.openxmlformats.org/officeDocument/2006/relationships/slide" Target="slides/slide151.xml"/><Relationship Id="rId143" Type="http://schemas.openxmlformats.org/officeDocument/2006/relationships/slide" Target="slides/slide152.xml"/><Relationship Id="rId144" Type="http://schemas.openxmlformats.org/officeDocument/2006/relationships/slide" Target="slides/slide153.xml"/><Relationship Id="rId145" Type="http://schemas.openxmlformats.org/officeDocument/2006/relationships/slide" Target="slides/slide154.xml"/><Relationship Id="rId146" Type="http://schemas.openxmlformats.org/officeDocument/2006/relationships/slide" Target="slides/slide155.xml"/><Relationship Id="rId147" Type="http://schemas.openxmlformats.org/officeDocument/2006/relationships/slide" Target="slides/slide156.xml"/><Relationship Id="rId148" Type="http://schemas.openxmlformats.org/officeDocument/2006/relationships/slide" Target="slides/slide157.xml"/><Relationship Id="rId149" Type="http://schemas.openxmlformats.org/officeDocument/2006/relationships/slide" Target="slides/slide158.xml"/><Relationship Id="rId150" Type="http://schemas.openxmlformats.org/officeDocument/2006/relationships/slide" Target="slides/slide159.xml"/><Relationship Id="rId151" Type="http://schemas.openxmlformats.org/officeDocument/2006/relationships/slide" Target="slides/slide160.xml"/><Relationship Id="rId152" Type="http://schemas.openxmlformats.org/officeDocument/2006/relationships/slide" Target="slides/slide161.xml"/><Relationship Id="rId153" Type="http://schemas.openxmlformats.org/officeDocument/2006/relationships/slide" Target="slides/slide162.xml"/><Relationship Id="rId154" Type="http://schemas.openxmlformats.org/officeDocument/2006/relationships/slide" Target="slides/slide163.xml"/><Relationship Id="rId155" Type="http://schemas.openxmlformats.org/officeDocument/2006/relationships/slide" Target="slides/slide164.xml"/><Relationship Id="rId156" Type="http://schemas.openxmlformats.org/officeDocument/2006/relationships/slide" Target="slides/slide165.xml"/><Relationship Id="rId157" Type="http://schemas.openxmlformats.org/officeDocument/2006/relationships/slide" Target="slides/slide166.xml"/><Relationship Id="rId158" Type="http://schemas.openxmlformats.org/officeDocument/2006/relationships/slide" Target="slides/slide167.xml"/><Relationship Id="rId159" Type="http://schemas.openxmlformats.org/officeDocument/2006/relationships/slide" Target="slides/slide168.xml"/><Relationship Id="rId160" Type="http://schemas.openxmlformats.org/officeDocument/2006/relationships/slide" Target="slides/slide169.xml"/><Relationship Id="rId161" Type="http://schemas.openxmlformats.org/officeDocument/2006/relationships/slide" Target="slides/slide170.xml"/><Relationship Id="rId162" Type="http://schemas.openxmlformats.org/officeDocument/2006/relationships/slide" Target="slides/slide171.xml"/><Relationship Id="rId163" Type="http://schemas.openxmlformats.org/officeDocument/2006/relationships/slide" Target="slides/slide172.xml"/><Relationship Id="rId164" Type="http://schemas.openxmlformats.org/officeDocument/2006/relationships/slide" Target="slides/slide173.xml"/><Relationship Id="rId165" Type="http://schemas.openxmlformats.org/officeDocument/2006/relationships/slide" Target="slides/slide174.xml"/><Relationship Id="rId166" Type="http://schemas.openxmlformats.org/officeDocument/2006/relationships/slide" Target="slides/slide175.xml"/><Relationship Id="rId167" Type="http://schemas.openxmlformats.org/officeDocument/2006/relationships/slide" Target="slides/slide176.xml"/><Relationship Id="rId168" Type="http://schemas.openxmlformats.org/officeDocument/2006/relationships/slide" Target="slides/slide177.xml"/><Relationship Id="rId169" Type="http://schemas.openxmlformats.org/officeDocument/2006/relationships/slide" Target="slides/slide178.xml"/><Relationship Id="rId170" Type="http://schemas.openxmlformats.org/officeDocument/2006/relationships/slide" Target="slides/slide179.xml"/><Relationship Id="rId171" Type="http://schemas.openxmlformats.org/officeDocument/2006/relationships/slide" Target="slides/slide180.xml"/><Relationship Id="rId172" Type="http://schemas.openxmlformats.org/officeDocument/2006/relationships/slide" Target="slides/slide181.xml"/><Relationship Id="rId173" Type="http://schemas.openxmlformats.org/officeDocument/2006/relationships/slide" Target="slides/slide182.xml"/><Relationship Id="rId174" Type="http://schemas.openxmlformats.org/officeDocument/2006/relationships/slide" Target="slides/slide183.xml"/><Relationship Id="rId175" Type="http://schemas.openxmlformats.org/officeDocument/2006/relationships/slide" Target="slides/slide184.xml"/><Relationship Id="rId176" Type="http://schemas.openxmlformats.org/officeDocument/2006/relationships/slide" Target="slides/slide185.xml"/><Relationship Id="rId177" Type="http://schemas.openxmlformats.org/officeDocument/2006/relationships/slide" Target="slides/slide186.xml"/><Relationship Id="rId178" Type="http://schemas.openxmlformats.org/officeDocument/2006/relationships/slide" Target="slides/slide187.xml"/><Relationship Id="rId179" Type="http://schemas.openxmlformats.org/officeDocument/2006/relationships/slide" Target="slides/slide188.xml"/><Relationship Id="rId180" Type="http://schemas.openxmlformats.org/officeDocument/2006/relationships/slide" Target="slides/slide189.xml"/><Relationship Id="rId181" Type="http://schemas.openxmlformats.org/officeDocument/2006/relationships/slide" Target="slides/slide190.xml"/><Relationship Id="rId182" Type="http://schemas.openxmlformats.org/officeDocument/2006/relationships/slide" Target="slides/slide191.xml"/><Relationship Id="rId183" Type="http://schemas.openxmlformats.org/officeDocument/2006/relationships/slide" Target="slides/slide192.xml"/><Relationship Id="rId184" Type="http://schemas.openxmlformats.org/officeDocument/2006/relationships/slide" Target="slides/slide193.xml"/><Relationship Id="rId185" Type="http://schemas.openxmlformats.org/officeDocument/2006/relationships/slide" Target="slides/slide194.xml"/><Relationship Id="rId186" Type="http://schemas.openxmlformats.org/officeDocument/2006/relationships/slide" Target="slides/slide195.xml"/><Relationship Id="rId187" Type="http://schemas.openxmlformats.org/officeDocument/2006/relationships/slide" Target="slides/slide196.xml"/><Relationship Id="rId188" Type="http://schemas.openxmlformats.org/officeDocument/2006/relationships/slide" Target="slides/slide197.xml"/><Relationship Id="rId189" Type="http://schemas.openxmlformats.org/officeDocument/2006/relationships/slide" Target="slides/slide198.xml"/><Relationship Id="rId190" Type="http://schemas.openxmlformats.org/officeDocument/2006/relationships/slide" Target="slides/slide199.xml"/><Relationship Id="rId191" Type="http://schemas.openxmlformats.org/officeDocument/2006/relationships/slide" Target="slides/slide200.xml"/><Relationship Id="rId192" Type="http://schemas.openxmlformats.org/officeDocument/2006/relationships/slide" Target="slides/slide201.xml"/><Relationship Id="rId193" Type="http://schemas.openxmlformats.org/officeDocument/2006/relationships/slide" Target="slides/slide202.xml"/><Relationship Id="rId194" Type="http://schemas.openxmlformats.org/officeDocument/2006/relationships/slide" Target="slides/slide203.xml"/><Relationship Id="rId195" Type="http://schemas.openxmlformats.org/officeDocument/2006/relationships/slide" Target="slides/slide204.xml"/><Relationship Id="rId196" Type="http://schemas.openxmlformats.org/officeDocument/2006/relationships/slide" Target="slides/slide205.xml"/><Relationship Id="rId197" Type="http://schemas.openxmlformats.org/officeDocument/2006/relationships/slide" Target="slides/slide206.xml"/><Relationship Id="rId198" Type="http://schemas.openxmlformats.org/officeDocument/2006/relationships/slide" Target="slides/slide207.xml"/><Relationship Id="rId199" Type="http://schemas.openxmlformats.org/officeDocument/2006/relationships/slide" Target="slides/slide208.xml"/><Relationship Id="rId200" Type="http://schemas.openxmlformats.org/officeDocument/2006/relationships/slide" Target="slides/slide209.xml"/><Relationship Id="rId201" Type="http://schemas.openxmlformats.org/officeDocument/2006/relationships/slide" Target="slides/slide210.xml"/><Relationship Id="rId202" Type="http://schemas.openxmlformats.org/officeDocument/2006/relationships/slide" Target="slides/slide211.xml"/><Relationship Id="rId203" Type="http://schemas.openxmlformats.org/officeDocument/2006/relationships/slide" Target="slides/slide212.xml"/><Relationship Id="rId204" Type="http://schemas.openxmlformats.org/officeDocument/2006/relationships/slide" Target="slides/slide213.xml"/><Relationship Id="rId205" Type="http://schemas.openxmlformats.org/officeDocument/2006/relationships/slide" Target="slides/slide214.xml"/><Relationship Id="rId206" Type="http://schemas.openxmlformats.org/officeDocument/2006/relationships/slide" Target="slides/slide215.xml"/><Relationship Id="rId207" Type="http://schemas.openxmlformats.org/officeDocument/2006/relationships/slide" Target="slides/slide216.xml"/><Relationship Id="rId208" Type="http://schemas.openxmlformats.org/officeDocument/2006/relationships/slide" Target="slides/slide217.xml"/><Relationship Id="rId209" Type="http://schemas.openxmlformats.org/officeDocument/2006/relationships/slide" Target="slides/slide218.xml"/><Relationship Id="rId210" Type="http://schemas.openxmlformats.org/officeDocument/2006/relationships/slide" Target="slides/slide219.xml"/><Relationship Id="rId211" Type="http://schemas.openxmlformats.org/officeDocument/2006/relationships/slide" Target="slides/slide220.xml"/><Relationship Id="rId212" Type="http://schemas.openxmlformats.org/officeDocument/2006/relationships/slide" Target="slides/slide221.xml"/><Relationship Id="rId213" Type="http://schemas.openxmlformats.org/officeDocument/2006/relationships/slide" Target="slides/slide222.xml"/><Relationship Id="rId214" Type="http://schemas.openxmlformats.org/officeDocument/2006/relationships/slide" Target="slides/slide223.xml"/><Relationship Id="rId215" Type="http://schemas.openxmlformats.org/officeDocument/2006/relationships/slide" Target="slides/slide224.xml"/><Relationship Id="rId216" Type="http://schemas.openxmlformats.org/officeDocument/2006/relationships/slide" Target="slides/slide225.xml"/><Relationship Id="rId217" Type="http://schemas.openxmlformats.org/officeDocument/2006/relationships/slide" Target="slides/slide226.xml"/><Relationship Id="rId218" Type="http://schemas.openxmlformats.org/officeDocument/2006/relationships/slide" Target="slides/slide227.xml"/><Relationship Id="rId219" Type="http://schemas.openxmlformats.org/officeDocument/2006/relationships/slide" Target="slides/slide228.xml"/><Relationship Id="rId220" Type="http://schemas.openxmlformats.org/officeDocument/2006/relationships/slide" Target="slides/slide229.xml"/><Relationship Id="rId221" Type="http://schemas.openxmlformats.org/officeDocument/2006/relationships/slide" Target="slides/slide230.xml"/><Relationship Id="rId222" Type="http://schemas.openxmlformats.org/officeDocument/2006/relationships/slide" Target="slides/slide231.xml"/><Relationship Id="rId223" Type="http://schemas.openxmlformats.org/officeDocument/2006/relationships/slide" Target="slides/slide232.xml"/><Relationship Id="rId224" Type="http://schemas.openxmlformats.org/officeDocument/2006/relationships/slide" Target="slides/slide233.xml"/><Relationship Id="rId225" Type="http://schemas.openxmlformats.org/officeDocument/2006/relationships/slide" Target="slides/slide234.xml"/><Relationship Id="rId226" Type="http://schemas.openxmlformats.org/officeDocument/2006/relationships/slide" Target="slides/slide235.xml"/><Relationship Id="rId227" Type="http://schemas.openxmlformats.org/officeDocument/2006/relationships/slide" Target="slides/slide236.xml"/><Relationship Id="rId228" Type="http://schemas.openxmlformats.org/officeDocument/2006/relationships/slide" Target="slides/slide237.xml"/><Relationship Id="rId229" Type="http://schemas.openxmlformats.org/officeDocument/2006/relationships/slide" Target="slides/slide238.xml"/><Relationship Id="rId230" Type="http://schemas.openxmlformats.org/officeDocument/2006/relationships/slide" Target="slides/slide239.xml"/><Relationship Id="rId231" Type="http://schemas.openxmlformats.org/officeDocument/2006/relationships/slide" Target="slides/slide240.xml"/><Relationship Id="rId232" Type="http://schemas.openxmlformats.org/officeDocument/2006/relationships/slide" Target="slides/slide241.xml"/><Relationship Id="rId233" Type="http://schemas.openxmlformats.org/officeDocument/2006/relationships/slide" Target="slides/slide242.xml"/><Relationship Id="rId234" Type="http://schemas.openxmlformats.org/officeDocument/2006/relationships/slide" Target="slides/slide243.xml"/><Relationship Id="rId235" Type="http://schemas.openxmlformats.org/officeDocument/2006/relationships/slide" Target="slides/slide244.xml"/><Relationship Id="rId236" Type="http://schemas.openxmlformats.org/officeDocument/2006/relationships/slide" Target="slides/slide245.xml"/><Relationship Id="rId237" Type="http://schemas.openxmlformats.org/officeDocument/2006/relationships/slide" Target="slides/slide246.xml"/><Relationship Id="rId238" Type="http://schemas.openxmlformats.org/officeDocument/2006/relationships/slide" Target="slides/slide247.xml"/><Relationship Id="rId239" Type="http://schemas.openxmlformats.org/officeDocument/2006/relationships/slide" Target="slides/slide248.xml"/><Relationship Id="rId240" Type="http://schemas.openxmlformats.org/officeDocument/2006/relationships/slide" Target="slides/slide249.xml"/><Relationship Id="rId241" Type="http://schemas.openxmlformats.org/officeDocument/2006/relationships/slide" Target="slides/slide250.xml"/><Relationship Id="rId242" Type="http://schemas.openxmlformats.org/officeDocument/2006/relationships/slide" Target="slides/slide251.xml"/><Relationship Id="rId243" Type="http://schemas.openxmlformats.org/officeDocument/2006/relationships/slide" Target="slides/slide252.xml"/><Relationship Id="rId244" Type="http://schemas.openxmlformats.org/officeDocument/2006/relationships/slide" Target="slides/slide253.xml"/><Relationship Id="rId245" Type="http://schemas.openxmlformats.org/officeDocument/2006/relationships/slide" Target="slides/slide254.xml"/><Relationship Id="rId246" Type="http://schemas.openxmlformats.org/officeDocument/2006/relationships/slide" Target="slides/slide255.xml"/><Relationship Id="rId247" Type="http://schemas.openxmlformats.org/officeDocument/2006/relationships/slide" Target="slides/slide256.xml"/><Relationship Id="rId248" Type="http://schemas.openxmlformats.org/officeDocument/2006/relationships/slide" Target="slides/slide257.xml"/><Relationship Id="rId249" Type="http://schemas.openxmlformats.org/officeDocument/2006/relationships/slide" Target="slides/slide258.xml"/><Relationship Id="rId250" Type="http://schemas.openxmlformats.org/officeDocument/2006/relationships/slide" Target="slides/slide259.xml"/><Relationship Id="rId251" Type="http://schemas.openxmlformats.org/officeDocument/2006/relationships/slide" Target="slides/slide260.xml"/><Relationship Id="rId252" Type="http://schemas.openxmlformats.org/officeDocument/2006/relationships/slide" Target="slides/slide261.xml"/><Relationship Id="rId253" Type="http://schemas.openxmlformats.org/officeDocument/2006/relationships/slide" Target="slides/slide262.xml"/><Relationship Id="rId254" Type="http://schemas.openxmlformats.org/officeDocument/2006/relationships/slide" Target="slides/slide263.xml"/><Relationship Id="rId255" Type="http://schemas.openxmlformats.org/officeDocument/2006/relationships/slide" Target="slides/slide264.xml"/><Relationship Id="rId256" Type="http://schemas.openxmlformats.org/officeDocument/2006/relationships/slide" Target="slides/slide265.xml"/><Relationship Id="rId257" Type="http://schemas.openxmlformats.org/officeDocument/2006/relationships/slide" Target="slides/slide266.xml"/><Relationship Id="rId258" Type="http://schemas.openxmlformats.org/officeDocument/2006/relationships/slide" Target="slides/slide267.xml"/><Relationship Id="rId259" Type="http://schemas.openxmlformats.org/officeDocument/2006/relationships/slide" Target="slides/slide268.xml"/><Relationship Id="rId260" Type="http://schemas.openxmlformats.org/officeDocument/2006/relationships/slide" Target="slides/slide269.xml"/><Relationship Id="rId261" Type="http://schemas.openxmlformats.org/officeDocument/2006/relationships/slide" Target="slides/slide270.xml"/><Relationship Id="rId262" Type="http://schemas.openxmlformats.org/officeDocument/2006/relationships/slide" Target="slides/slide271.xml"/><Relationship Id="rId263" Type="http://schemas.openxmlformats.org/officeDocument/2006/relationships/slide" Target="slides/slide272.xml"/><Relationship Id="rId264" Type="http://schemas.openxmlformats.org/officeDocument/2006/relationships/slide" Target="slides/slide273.xml"/><Relationship Id="rId265" Type="http://schemas.openxmlformats.org/officeDocument/2006/relationships/slide" Target="slides/slide274.xml"/><Relationship Id="rId266" Type="http://schemas.openxmlformats.org/officeDocument/2006/relationships/slide" Target="slides/slide275.xml"/><Relationship Id="rId267" Type="http://schemas.openxmlformats.org/officeDocument/2006/relationships/slide" Target="slides/slide276.xml"/><Relationship Id="rId268" Type="http://schemas.openxmlformats.org/officeDocument/2006/relationships/slide" Target="slides/slide277.xml"/><Relationship Id="rId269" Type="http://schemas.openxmlformats.org/officeDocument/2006/relationships/slide" Target="slides/slide278.xml"/><Relationship Id="rId270" Type="http://schemas.openxmlformats.org/officeDocument/2006/relationships/slide" Target="slides/slide279.xml"/><Relationship Id="rId271" Type="http://schemas.openxmlformats.org/officeDocument/2006/relationships/slide" Target="slides/slide280.xml"/><Relationship Id="rId272" Type="http://schemas.openxmlformats.org/officeDocument/2006/relationships/slide" Target="slides/slide281.xml"/><Relationship Id="rId273" Type="http://schemas.openxmlformats.org/officeDocument/2006/relationships/slide" Target="slides/slide282.xml"/><Relationship Id="rId274" Type="http://schemas.openxmlformats.org/officeDocument/2006/relationships/slide" Target="slides/slide283.xml"/><Relationship Id="rId275" Type="http://schemas.openxmlformats.org/officeDocument/2006/relationships/slide" Target="slides/slide284.xml"/><Relationship Id="rId276" Type="http://schemas.openxmlformats.org/officeDocument/2006/relationships/slide" Target="slides/slide285.xml"/><Relationship Id="rId277" Type="http://schemas.openxmlformats.org/officeDocument/2006/relationships/slide" Target="slides/slide286.xml"/><Relationship Id="rId278" Type="http://schemas.openxmlformats.org/officeDocument/2006/relationships/slide" Target="slides/slide287.xml"/><Relationship Id="rId279" Type="http://schemas.openxmlformats.org/officeDocument/2006/relationships/slide" Target="slides/slide288.xml"/><Relationship Id="rId280" Type="http://schemas.openxmlformats.org/officeDocument/2006/relationships/slide" Target="slides/slide289.xml"/><Relationship Id="rId281" Type="http://schemas.openxmlformats.org/officeDocument/2006/relationships/slide" Target="slides/slide290.xml"/><Relationship Id="rId282" Type="http://schemas.openxmlformats.org/officeDocument/2006/relationships/slide" Target="slides/slide291.xml"/><Relationship Id="rId283" Type="http://schemas.openxmlformats.org/officeDocument/2006/relationships/slide" Target="slides/slide292.xml"/><Relationship Id="rId284" Type="http://schemas.openxmlformats.org/officeDocument/2006/relationships/slide" Target="slides/slide293.xml"/><Relationship Id="rId285" Type="http://schemas.openxmlformats.org/officeDocument/2006/relationships/slide" Target="slides/slide294.xml"/><Relationship Id="rId286" Type="http://schemas.openxmlformats.org/officeDocument/2006/relationships/slide" Target="slides/slide295.xml"/><Relationship Id="rId287" Type="http://schemas.openxmlformats.org/officeDocument/2006/relationships/slide" Target="slides/slide296.xml"/><Relationship Id="rId288" Type="http://schemas.openxmlformats.org/officeDocument/2006/relationships/slide" Target="slides/slide297.xml"/><Relationship Id="rId289" Type="http://schemas.openxmlformats.org/officeDocument/2006/relationships/slide" Target="slides/slide298.xml"/><Relationship Id="rId290" Type="http://schemas.openxmlformats.org/officeDocument/2006/relationships/slide" Target="slides/slide299.xml"/><Relationship Id="rId291" Type="http://schemas.openxmlformats.org/officeDocument/2006/relationships/slide" Target="slides/slide300.xml"/><Relationship Id="rId292" Type="http://schemas.openxmlformats.org/officeDocument/2006/relationships/slide" Target="slides/slide301.xml"/><Relationship Id="rId293" Type="http://schemas.openxmlformats.org/officeDocument/2006/relationships/slide" Target="slides/slide302.xml"/><Relationship Id="rId294" Type="http://schemas.openxmlformats.org/officeDocument/2006/relationships/slide" Target="slides/slide303.xml"/><Relationship Id="rId295" Type="http://schemas.openxmlformats.org/officeDocument/2006/relationships/slide" Target="slides/slide304.xml"/><Relationship Id="rId296" Type="http://schemas.openxmlformats.org/officeDocument/2006/relationships/slide" Target="slides/slide11.xml"/><Relationship Id="rId297" Type="http://schemas.openxmlformats.org/officeDocument/2006/relationships/slide" Target="slides/slide12.xml"/><Relationship Id="rId298" Type="http://schemas.openxmlformats.org/officeDocument/2006/relationships/slide" Target="slides/slide13.xml"/><Relationship Id="rId299" Type="http://schemas.openxmlformats.org/officeDocument/2006/relationships/slide" Target="slides/slide14.xml"/><Relationship Id="rId300" Type="http://schemas.openxmlformats.org/officeDocument/2006/relationships/slide" Target="slides/slide15.xml"/><Relationship Id="rId301" Type="http://schemas.openxmlformats.org/officeDocument/2006/relationships/slide" Target="slides/slide16.xml"/><Relationship Id="rId302" Type="http://schemas.openxmlformats.org/officeDocument/2006/relationships/slide" Target="slides/slide10.xml"/><Relationship Id="rId303" Type="http://schemas.openxmlformats.org/officeDocument/2006/relationships/slide" Target="slides/slide18.xml"/><Relationship Id="rId304" Type="http://schemas.openxmlformats.org/officeDocument/2006/relationships/slide" Target="slides/slide19.xml"/><Relationship Id="rId305" Type="http://schemas.openxmlformats.org/officeDocument/2006/relationships/slide" Target="slides/slide20.xml"/><Relationship Id="rId306" Type="http://schemas.openxmlformats.org/officeDocument/2006/relationships/slide" Target="slides/slide21.xml"/><Relationship Id="rId307" Type="http://schemas.openxmlformats.org/officeDocument/2006/relationships/slide" Target="slides/slide22.xml"/><Relationship Id="rId308" Type="http://schemas.openxmlformats.org/officeDocument/2006/relationships/slide" Target="slides/slide23.xml"/><Relationship Id="rId309" Type="http://schemas.openxmlformats.org/officeDocument/2006/relationships/slide" Target="slides/slide24.xml"/><Relationship Id="rId310" Type="http://schemas.openxmlformats.org/officeDocument/2006/relationships/slide" Target="slides/slide25.xml"/><Relationship Id="rId311" Type="http://schemas.openxmlformats.org/officeDocument/2006/relationships/slide" Target="slides/slide17.xml"/></Relationships>
</file>

<file path=ppt/charts/_rels/chart1.xml.rels><?xml version='1.0' encoding='UTF-8' standalone='yes'?>
<Relationships xmlns="http://schemas.openxmlformats.org/package/2006/relationships"><Relationship Id="rId2" Type="http://schemas.openxmlformats.org/officeDocument/2006/relationships/image" Target="../media/image3.png"/></Relationships>
</file>

<file path=ppt/charts/_rels/chart3.xml.rels><?xml version='1.0' encoding='UTF-8' standalone='yes'?>
<Relationships xmlns="http://schemas.openxmlformats.org/package/2006/relationships"><Relationship Id="rId2" Type="http://schemas.openxmlformats.org/officeDocument/2006/relationships/image" Target="../media/image4.png"/></Relationships>
</file>

<file path=ppt/charts/_rels/chart5.xml.rels><?xml version='1.0' encoding='UTF-8' standalone='yes'?>
<Relationships xmlns="http://schemas.openxmlformats.org/package/2006/relationships"><Relationship Id="rId2" Type="http://schemas.openxmlformats.org/officeDocument/2006/relationships/image" Target="../media/image5.png"/><Relationship Id="rId3" Type="http://schemas.openxmlformats.org/officeDocument/2006/relationships/image" Target="../media/image6.png"/><Relationship Id="rId4" Type="http://schemas.openxmlformats.org/officeDocument/2006/relationships/image" Target="../media/image7.png"/><Relationship Id="rId5" Type="http://schemas.openxmlformats.org/officeDocument/2006/relationships/image" Target="../media/image8.png"/><Relationship Id="rId6" Type="http://schemas.openxmlformats.org/officeDocument/2006/relationships/image" Target="../media/image9.png"/><Relationship Id="rId7" Type="http://schemas.openxmlformats.org/officeDocument/2006/relationships/image" Target="../media/image10.png"/><Relationship Id="rId8" Type="http://schemas.openxmlformats.org/officeDocument/2006/relationships/image" Target="../media/image11.png"/><Relationship Id="rId9" Type="http://schemas.openxmlformats.org/officeDocument/2006/relationships/image" Target="../media/image12.png"/><Relationship Id="rId10" Type="http://schemas.openxmlformats.org/officeDocument/2006/relationships/image" Target="../media/image13.png"/><Relationship Id="rId11" Type="http://schemas.openxmlformats.org/officeDocument/2006/relationships/image" Target="../media/image14.png"/></Relationships>
</file>

<file path=ppt/charts/_rels/chart6.xml.rels><?xml version='1.0' encoding='UTF-8' standalone='yes'?>
<Relationships xmlns="http://schemas.openxmlformats.org/package/2006/relationships"><Relationship Id="rId2" Type="http://schemas.openxmlformats.org/officeDocument/2006/relationships/image" Target="../media/image15.png"/><Relationship Id="rId3" Type="http://schemas.openxmlformats.org/officeDocument/2006/relationships/image" Target="../media/image16.png"/><Relationship Id="rId4" Type="http://schemas.openxmlformats.org/officeDocument/2006/relationships/image" Target="../media/image17.png"/><Relationship Id="rId5" Type="http://schemas.openxmlformats.org/officeDocument/2006/relationships/image" Target="../media/image18.png"/><Relationship Id="rId6" Type="http://schemas.openxmlformats.org/officeDocument/2006/relationships/image" Target="../media/image19.png"/><Relationship Id="rId7" Type="http://schemas.openxmlformats.org/officeDocument/2006/relationships/image" Target="../media/image20.png"/><Relationship Id="rId8" Type="http://schemas.openxmlformats.org/officeDocument/2006/relationships/image" Target="../media/image21.png"/><Relationship Id="rId9" Type="http://schemas.openxmlformats.org/officeDocument/2006/relationships/image" Target="../media/image22.png"/><Relationship Id="rId10" Type="http://schemas.openxmlformats.org/officeDocument/2006/relationships/image" Target="../media/image23.png"/><Relationship Id="rId11" Type="http://schemas.openxmlformats.org/officeDocument/2006/relationships/image" Target="../media/image24.png"/><Relationship Id="rId12" Type="http://schemas.openxmlformats.org/officeDocument/2006/relationships/image" Target="../media/image25.png"/><Relationship Id="rId13" Type="http://schemas.openxmlformats.org/officeDocument/2006/relationships/image" Target="../media/image26.png"/><Relationship Id="rId14" Type="http://schemas.openxmlformats.org/officeDocument/2006/relationships/image" Target="../media/image27.png"/><Relationship Id="rId15" Type="http://schemas.openxmlformats.org/officeDocument/2006/relationships/image" Target="../media/image28.png"/><Relationship Id="rId16" Type="http://schemas.openxmlformats.org/officeDocument/2006/relationships/image" Target="../media/image29.png"/><Relationship Id="rId17" Type="http://schemas.openxmlformats.org/officeDocument/2006/relationships/image" Target="../media/image30.png"/><Relationship Id="rId18" Type="http://schemas.openxmlformats.org/officeDocument/2006/relationships/image" Target="../media/image31.png"/><Relationship Id="rId19" Type="http://schemas.openxmlformats.org/officeDocument/2006/relationships/image" Target="../media/image32.png"/><Relationship Id="rId20" Type="http://schemas.openxmlformats.org/officeDocument/2006/relationships/image" Target="../media/image33.png"/><Relationship Id="rId21" Type="http://schemas.openxmlformats.org/officeDocument/2006/relationships/image" Target="../media/image34.png"/><Relationship Id="rId22" Type="http://schemas.openxmlformats.org/officeDocument/2006/relationships/image" Target="../media/image35.png"/><Relationship Id="rId23" Type="http://schemas.openxmlformats.org/officeDocument/2006/relationships/image" Target="../media/image36.png"/></Relationships>
</file>

<file path=ppt/charts/_rels/chart7.xml.rels><?xml version='1.0' encoding='UTF-8' standalone='yes'?>
<Relationships xmlns="http://schemas.openxmlformats.org/package/2006/relationships"><Relationship Id="rId2" Type="http://schemas.openxmlformats.org/officeDocument/2006/relationships/image" Target="../media/image37.png"/><Relationship Id="rId3" Type="http://schemas.openxmlformats.org/officeDocument/2006/relationships/image" Target="../media/image38.png"/><Relationship Id="rId4" Type="http://schemas.openxmlformats.org/officeDocument/2006/relationships/image" Target="../media/image39.png"/><Relationship Id="rId5" Type="http://schemas.openxmlformats.org/officeDocument/2006/relationships/image" Target="../media/image40.png"/><Relationship Id="rId6" Type="http://schemas.openxmlformats.org/officeDocument/2006/relationships/image" Target="../media/image41.png"/><Relationship Id="rId7" Type="http://schemas.openxmlformats.org/officeDocument/2006/relationships/image" Target="../media/image42.png"/><Relationship Id="rId8" Type="http://schemas.openxmlformats.org/officeDocument/2006/relationships/image" Target="../media/image43.png"/><Relationship Id="rId9" Type="http://schemas.openxmlformats.org/officeDocument/2006/relationships/image" Target="../media/image44.png"/><Relationship Id="rId10" Type="http://schemas.openxmlformats.org/officeDocument/2006/relationships/image" Target="../media/image45.png"/><Relationship Id="rId11" Type="http://schemas.openxmlformats.org/officeDocument/2006/relationships/image" Target="../media/image46.png"/></Relationships>
</file>

<file path=ppt/charts/_rels/chart8.xml.rels><?xml version='1.0' encoding='UTF-8' standalone='yes'?>
<Relationships xmlns="http://schemas.openxmlformats.org/package/2006/relationships"><Relationship Id="rId2" Type="http://schemas.openxmlformats.org/officeDocument/2006/relationships/image" Target="../media/image47.png"/><Relationship Id="rId3" Type="http://schemas.openxmlformats.org/officeDocument/2006/relationships/image" Target="../media/image48.png"/><Relationship Id="rId4" Type="http://schemas.openxmlformats.org/officeDocument/2006/relationships/image" Target="../media/image49.png"/><Relationship Id="rId5" Type="http://schemas.openxmlformats.org/officeDocument/2006/relationships/image" Target="../media/image50.png"/><Relationship Id="rId6" Type="http://schemas.openxmlformats.org/officeDocument/2006/relationships/image" Target="../media/image51.png"/><Relationship Id="rId7" Type="http://schemas.openxmlformats.org/officeDocument/2006/relationships/image" Target="../media/image52.png"/><Relationship Id="rId8" Type="http://schemas.openxmlformats.org/officeDocument/2006/relationships/image" Target="../media/image53.png"/><Relationship Id="rId9" Type="http://schemas.openxmlformats.org/officeDocument/2006/relationships/image" Target="../media/image54.png"/><Relationship Id="rId10" Type="http://schemas.openxmlformats.org/officeDocument/2006/relationships/image" Target="../media/image55.png"/><Relationship Id="rId11" Type="http://schemas.openxmlformats.org/officeDocument/2006/relationships/image" Target="../media/image56.png"/></Relationships>
</file>

<file path=ppt/charts/_rels/chart9.xml.rels><?xml version='1.0' encoding='UTF-8' standalone='yes'?>
<Relationships xmlns="http://schemas.openxmlformats.org/package/2006/relationships"><Relationship Id="rId2" Type="http://schemas.openxmlformats.org/officeDocument/2006/relationships/image" Target="../media/image57.png"/><Relationship Id="rId3" Type="http://schemas.openxmlformats.org/officeDocument/2006/relationships/image" Target="../media/image58.png"/><Relationship Id="rId4" Type="http://schemas.openxmlformats.org/officeDocument/2006/relationships/image" Target="../media/image59.png"/><Relationship Id="rId5" Type="http://schemas.openxmlformats.org/officeDocument/2006/relationships/image" Target="../media/image60.png"/></Relationships>
</file>

<file path=ppt/charts/_rels/chart11.xml.rels><?xml version='1.0' encoding='UTF-8' standalone='yes'?>
<Relationships xmlns="http://schemas.openxmlformats.org/package/2006/relationships"><Relationship Id="rId2" Type="http://schemas.openxmlformats.org/officeDocument/2006/relationships/image" Target="../media/image79.png"/><Relationship Id="rId3" Type="http://schemas.openxmlformats.org/officeDocument/2006/relationships/image" Target="../media/image80.png"/><Relationship Id="rId4" Type="http://schemas.openxmlformats.org/officeDocument/2006/relationships/image" Target="../media/image81.png"/><Relationship Id="rId5" Type="http://schemas.openxmlformats.org/officeDocument/2006/relationships/image" Target="../media/image82.png"/><Relationship Id="rId6" Type="http://schemas.openxmlformats.org/officeDocument/2006/relationships/image" Target="../media/image83.png"/><Relationship Id="rId7" Type="http://schemas.openxmlformats.org/officeDocument/2006/relationships/image" Target="../media/image84.png"/><Relationship Id="rId8" Type="http://schemas.openxmlformats.org/officeDocument/2006/relationships/image" Target="../media/image85.png"/><Relationship Id="rId9" Type="http://schemas.openxmlformats.org/officeDocument/2006/relationships/image" Target="../media/image86.png"/><Relationship Id="rId10" Type="http://schemas.openxmlformats.org/officeDocument/2006/relationships/image" Target="../media/image87.png"/><Relationship Id="rId11" Type="http://schemas.openxmlformats.org/officeDocument/2006/relationships/image" Target="../media/image88.png"/><Relationship Id="rId12" Type="http://schemas.openxmlformats.org/officeDocument/2006/relationships/image" Target="../media/image89.png"/><Relationship Id="rId13" Type="http://schemas.openxmlformats.org/officeDocument/2006/relationships/image" Target="../media/image90.png"/></Relationships>
</file>

<file path=ppt/charts/_rels/chart12.xml.rels><?xml version='1.0' encoding='UTF-8' standalone='yes'?>
<Relationships xmlns="http://schemas.openxmlformats.org/package/2006/relationships"><Relationship Id="rId2" Type="http://schemas.openxmlformats.org/officeDocument/2006/relationships/image" Target="../media/image94.png"/><Relationship Id="rId3" Type="http://schemas.openxmlformats.org/officeDocument/2006/relationships/image" Target="../media/image95.png"/><Relationship Id="rId4" Type="http://schemas.openxmlformats.org/officeDocument/2006/relationships/image" Target="../media/image96.png"/><Relationship Id="rId5" Type="http://schemas.openxmlformats.org/officeDocument/2006/relationships/image" Target="../media/image97.png"/><Relationship Id="rId6" Type="http://schemas.openxmlformats.org/officeDocument/2006/relationships/image" Target="../media/image98.png"/><Relationship Id="rId7" Type="http://schemas.openxmlformats.org/officeDocument/2006/relationships/image" Target="../media/image99.png"/><Relationship Id="rId8" Type="http://schemas.openxmlformats.org/officeDocument/2006/relationships/image" Target="../media/image100.png"/><Relationship Id="rId9" Type="http://schemas.openxmlformats.org/officeDocument/2006/relationships/image" Target="../media/image101.png"/><Relationship Id="rId10" Type="http://schemas.openxmlformats.org/officeDocument/2006/relationships/image" Target="../media/image102.png"/><Relationship Id="rId11" Type="http://schemas.openxmlformats.org/officeDocument/2006/relationships/image" Target="../media/image103.png"/><Relationship Id="rId12" Type="http://schemas.openxmlformats.org/officeDocument/2006/relationships/image" Target="../media/image104.png"/><Relationship Id="rId13" Type="http://schemas.openxmlformats.org/officeDocument/2006/relationships/image" Target="../media/image105.png"/></Relationships>
</file>

<file path=ppt/charts/_rels/chart13.xml.rels><?xml version='1.0' encoding='UTF-8' standalone='yes'?>
<Relationships xmlns="http://schemas.openxmlformats.org/package/2006/relationships"><Relationship Id="rId2" Type="http://schemas.openxmlformats.org/officeDocument/2006/relationships/image" Target="../media/image106.png"/></Relationships>
</file>

<file path=ppt/charts/_rels/chart14.xml.rels><?xml version='1.0' encoding='UTF-8' standalone='yes'?>
<Relationships xmlns="http://schemas.openxmlformats.org/package/2006/relationships"><Relationship Id="rId2" Type="http://schemas.openxmlformats.org/officeDocument/2006/relationships/image" Target="../media/image107.png"/></Relationships>
</file>

<file path=ppt/charts/_rels/chart15.xml.rels><?xml version='1.0' encoding='UTF-8' standalone='yes'?>
<Relationships xmlns="http://schemas.openxmlformats.org/package/2006/relationships"><Relationship Id="rId2" Type="http://schemas.openxmlformats.org/officeDocument/2006/relationships/image" Target="../media/image116.png"/><Relationship Id="rId3" Type="http://schemas.openxmlformats.org/officeDocument/2006/relationships/image" Target="../media/image117.png"/><Relationship Id="rId4" Type="http://schemas.openxmlformats.org/officeDocument/2006/relationships/image" Target="../media/image118.png"/><Relationship Id="rId5" Type="http://schemas.openxmlformats.org/officeDocument/2006/relationships/image" Target="../media/image119.png"/><Relationship Id="rId6" Type="http://schemas.openxmlformats.org/officeDocument/2006/relationships/image" Target="../media/image120.png"/><Relationship Id="rId7" Type="http://schemas.openxmlformats.org/officeDocument/2006/relationships/image" Target="../media/image121.png"/><Relationship Id="rId8" Type="http://schemas.openxmlformats.org/officeDocument/2006/relationships/image" Target="../media/image122.png"/><Relationship Id="rId9" Type="http://schemas.openxmlformats.org/officeDocument/2006/relationships/image" Target="../media/image123.png"/><Relationship Id="rId10" Type="http://schemas.openxmlformats.org/officeDocument/2006/relationships/image" Target="../media/image124.png"/><Relationship Id="rId11" Type="http://schemas.openxmlformats.org/officeDocument/2006/relationships/image" Target="../media/image125.png"/><Relationship Id="rId12" Type="http://schemas.openxmlformats.org/officeDocument/2006/relationships/image" Target="../media/image126.png"/><Relationship Id="rId13" Type="http://schemas.openxmlformats.org/officeDocument/2006/relationships/image" Target="../media/image127.png"/><Relationship Id="rId14" Type="http://schemas.openxmlformats.org/officeDocument/2006/relationships/image" Target="../media/image128.png"/><Relationship Id="rId15" Type="http://schemas.openxmlformats.org/officeDocument/2006/relationships/image" Target="../media/image129.png"/><Relationship Id="rId16" Type="http://schemas.openxmlformats.org/officeDocument/2006/relationships/image" Target="../media/image130.png"/><Relationship Id="rId17" Type="http://schemas.openxmlformats.org/officeDocument/2006/relationships/image" Target="../media/image131.png"/><Relationship Id="rId18" Type="http://schemas.openxmlformats.org/officeDocument/2006/relationships/image" Target="../media/image132.png"/><Relationship Id="rId19" Type="http://schemas.openxmlformats.org/officeDocument/2006/relationships/image" Target="../media/image133.png"/><Relationship Id="rId20" Type="http://schemas.openxmlformats.org/officeDocument/2006/relationships/image" Target="../media/image134.png"/><Relationship Id="rId21" Type="http://schemas.openxmlformats.org/officeDocument/2006/relationships/image" Target="../media/image135.png"/><Relationship Id="rId22" Type="http://schemas.openxmlformats.org/officeDocument/2006/relationships/image" Target="../media/image136.png"/><Relationship Id="rId23" Type="http://schemas.openxmlformats.org/officeDocument/2006/relationships/image" Target="../media/image137.png"/><Relationship Id="rId24" Type="http://schemas.openxmlformats.org/officeDocument/2006/relationships/image" Target="../media/image138.png"/></Relationships>
</file>

<file path=ppt/charts/_rels/chart21.xml.rels><?xml version='1.0' encoding='UTF-8' standalone='yes'?>
<Relationships xmlns="http://schemas.openxmlformats.org/package/2006/relationships"><Relationship Id="rId2" Type="http://schemas.openxmlformats.org/officeDocument/2006/relationships/image" Target="../media/image139.png"/><Relationship Id="rId3" Type="http://schemas.openxmlformats.org/officeDocument/2006/relationships/image" Target="../media/image140.png"/><Relationship Id="rId4" Type="http://schemas.openxmlformats.org/officeDocument/2006/relationships/image" Target="../media/image141.png"/><Relationship Id="rId5" Type="http://schemas.openxmlformats.org/officeDocument/2006/relationships/image" Target="../media/image142.png"/><Relationship Id="rId6" Type="http://schemas.openxmlformats.org/officeDocument/2006/relationships/image" Target="../media/image143.png"/><Relationship Id="rId7" Type="http://schemas.openxmlformats.org/officeDocument/2006/relationships/image" Target="../media/image144.png"/><Relationship Id="rId8" Type="http://schemas.openxmlformats.org/officeDocument/2006/relationships/image" Target="../media/image145.png"/><Relationship Id="rId9" Type="http://schemas.openxmlformats.org/officeDocument/2006/relationships/image" Target="../media/image146.png"/><Relationship Id="rId10" Type="http://schemas.openxmlformats.org/officeDocument/2006/relationships/image" Target="../media/image147.png"/><Relationship Id="rId11" Type="http://schemas.openxmlformats.org/officeDocument/2006/relationships/image" Target="../media/image148.png"/><Relationship Id="rId12" Type="http://schemas.openxmlformats.org/officeDocument/2006/relationships/image" Target="../media/image149.png"/></Relationships>
</file>

<file path=ppt/charts/_rels/chart22.xml.rels><?xml version='1.0' encoding='UTF-8' standalone='yes'?>
<Relationships xmlns="http://schemas.openxmlformats.org/package/2006/relationships"><Relationship Id="rId2" Type="http://schemas.openxmlformats.org/officeDocument/2006/relationships/image" Target="../media/image161.png"/><Relationship Id="rId3" Type="http://schemas.openxmlformats.org/officeDocument/2006/relationships/image" Target="../media/image162.png"/><Relationship Id="rId4" Type="http://schemas.openxmlformats.org/officeDocument/2006/relationships/image" Target="../media/image163.png"/><Relationship Id="rId5" Type="http://schemas.openxmlformats.org/officeDocument/2006/relationships/image" Target="../media/image164.png"/><Relationship Id="rId6" Type="http://schemas.openxmlformats.org/officeDocument/2006/relationships/image" Target="../media/image165.png"/><Relationship Id="rId7" Type="http://schemas.openxmlformats.org/officeDocument/2006/relationships/image" Target="../media/image166.png"/><Relationship Id="rId8" Type="http://schemas.openxmlformats.org/officeDocument/2006/relationships/image" Target="../media/image167.png"/><Relationship Id="rId9" Type="http://schemas.openxmlformats.org/officeDocument/2006/relationships/image" Target="../media/image168.png"/><Relationship Id="rId10" Type="http://schemas.openxmlformats.org/officeDocument/2006/relationships/image" Target="../media/image169.png"/><Relationship Id="rId11" Type="http://schemas.openxmlformats.org/officeDocument/2006/relationships/image" Target="../media/image170.png"/><Relationship Id="rId12" Type="http://schemas.openxmlformats.org/officeDocument/2006/relationships/image" Target="../media/image171.png"/><Relationship Id="rId13" Type="http://schemas.openxmlformats.org/officeDocument/2006/relationships/image" Target="../media/image172.png"/><Relationship Id="rId14" Type="http://schemas.openxmlformats.org/officeDocument/2006/relationships/image" Target="../media/image173.png"/><Relationship Id="rId15" Type="http://schemas.openxmlformats.org/officeDocument/2006/relationships/image" Target="../media/image174.png"/><Relationship Id="rId16" Type="http://schemas.openxmlformats.org/officeDocument/2006/relationships/image" Target="../media/image175.png"/><Relationship Id="rId17" Type="http://schemas.openxmlformats.org/officeDocument/2006/relationships/image" Target="../media/image176.png"/><Relationship Id="rId18" Type="http://schemas.openxmlformats.org/officeDocument/2006/relationships/image" Target="../media/image177.png"/><Relationship Id="rId19" Type="http://schemas.openxmlformats.org/officeDocument/2006/relationships/image" Target="../media/image178.png"/><Relationship Id="rId20" Type="http://schemas.openxmlformats.org/officeDocument/2006/relationships/image" Target="../media/image179.png"/><Relationship Id="rId21" Type="http://schemas.openxmlformats.org/officeDocument/2006/relationships/image" Target="../media/image180.png"/><Relationship Id="rId22" Type="http://schemas.openxmlformats.org/officeDocument/2006/relationships/image" Target="../media/image181.png"/></Relationships>
</file>

<file path=ppt/charts/_rels/chart28.xml.rels><?xml version='1.0' encoding='UTF-8' standalone='yes'?>
<Relationships xmlns="http://schemas.openxmlformats.org/package/2006/relationships"><Relationship Id="rId2" Type="http://schemas.openxmlformats.org/officeDocument/2006/relationships/image" Target="../media/image182.png"/><Relationship Id="rId3" Type="http://schemas.openxmlformats.org/officeDocument/2006/relationships/image" Target="../media/image183.png"/><Relationship Id="rId4" Type="http://schemas.openxmlformats.org/officeDocument/2006/relationships/image" Target="../media/image184.png"/><Relationship Id="rId5" Type="http://schemas.openxmlformats.org/officeDocument/2006/relationships/image" Target="../media/image185.png"/><Relationship Id="rId6" Type="http://schemas.openxmlformats.org/officeDocument/2006/relationships/image" Target="../media/image186.png"/><Relationship Id="rId7" Type="http://schemas.openxmlformats.org/officeDocument/2006/relationships/image" Target="../media/image187.png"/><Relationship Id="rId8" Type="http://schemas.openxmlformats.org/officeDocument/2006/relationships/image" Target="../media/image188.png"/><Relationship Id="rId9" Type="http://schemas.openxmlformats.org/officeDocument/2006/relationships/image" Target="../media/image189.png"/><Relationship Id="rId10" Type="http://schemas.openxmlformats.org/officeDocument/2006/relationships/image" Target="../media/image190.png"/><Relationship Id="rId11" Type="http://schemas.openxmlformats.org/officeDocument/2006/relationships/image" Target="../media/image191.png"/><Relationship Id="rId12" Type="http://schemas.openxmlformats.org/officeDocument/2006/relationships/image" Target="../media/image192.png"/><Relationship Id="rId13" Type="http://schemas.openxmlformats.org/officeDocument/2006/relationships/image" Target="../media/image193.png"/></Relationships>
</file>

<file path=ppt/charts/_rels/chart29.xml.rels><?xml version='1.0' encoding='UTF-8' standalone='yes'?>
<Relationships xmlns="http://schemas.openxmlformats.org/package/2006/relationships"><Relationship Id="rId2" Type="http://schemas.openxmlformats.org/officeDocument/2006/relationships/image" Target="../media/image200.png"/><Relationship Id="rId3" Type="http://schemas.openxmlformats.org/officeDocument/2006/relationships/image" Target="../media/image201.png"/><Relationship Id="rId4" Type="http://schemas.openxmlformats.org/officeDocument/2006/relationships/image" Target="../media/image202.png"/><Relationship Id="rId5" Type="http://schemas.openxmlformats.org/officeDocument/2006/relationships/image" Target="../media/image203.png"/><Relationship Id="rId6" Type="http://schemas.openxmlformats.org/officeDocument/2006/relationships/image" Target="../media/image204.png"/><Relationship Id="rId7" Type="http://schemas.openxmlformats.org/officeDocument/2006/relationships/image" Target="../media/image205.png"/><Relationship Id="rId8" Type="http://schemas.openxmlformats.org/officeDocument/2006/relationships/image" Target="../media/image206.png"/><Relationship Id="rId9" Type="http://schemas.openxmlformats.org/officeDocument/2006/relationships/image" Target="../media/image207.png"/><Relationship Id="rId10" Type="http://schemas.openxmlformats.org/officeDocument/2006/relationships/image" Target="../media/image208.png"/><Relationship Id="rId11" Type="http://schemas.openxmlformats.org/officeDocument/2006/relationships/image" Target="../media/image209.png"/><Relationship Id="rId12" Type="http://schemas.openxmlformats.org/officeDocument/2006/relationships/image" Target="../media/image210.png"/><Relationship Id="rId13" Type="http://schemas.openxmlformats.org/officeDocument/2006/relationships/image" Target="../media/image211.png"/></Relationships>
</file>

<file path=ppt/charts/_rels/chart33.xml.rels><?xml version='1.0' encoding='UTF-8' standalone='yes'?>
<Relationships xmlns="http://schemas.openxmlformats.org/package/2006/relationships"><Relationship Id="rId2" Type="http://schemas.openxmlformats.org/officeDocument/2006/relationships/image" Target="../media/image212.png"/><Relationship Id="rId3" Type="http://schemas.openxmlformats.org/officeDocument/2006/relationships/image" Target="../media/image213.png"/><Relationship Id="rId4" Type="http://schemas.openxmlformats.org/officeDocument/2006/relationships/image" Target="../media/image214.png"/><Relationship Id="rId5" Type="http://schemas.openxmlformats.org/officeDocument/2006/relationships/image" Target="../media/image215.png"/><Relationship Id="rId6" Type="http://schemas.openxmlformats.org/officeDocument/2006/relationships/image" Target="../media/image216.png"/><Relationship Id="rId7" Type="http://schemas.openxmlformats.org/officeDocument/2006/relationships/image" Target="../media/image217.png"/></Relationships>
</file>

<file path=ppt/charts/_rels/chart34.xml.rels><?xml version='1.0' encoding='UTF-8' standalone='yes'?>
<Relationships xmlns="http://schemas.openxmlformats.org/package/2006/relationships"><Relationship Id="rId2" Type="http://schemas.openxmlformats.org/officeDocument/2006/relationships/image" Target="../media/image228.png"/><Relationship Id="rId3" Type="http://schemas.openxmlformats.org/officeDocument/2006/relationships/image" Target="../media/image229.png"/><Relationship Id="rId4" Type="http://schemas.openxmlformats.org/officeDocument/2006/relationships/image" Target="../media/image230.png"/><Relationship Id="rId5" Type="http://schemas.openxmlformats.org/officeDocument/2006/relationships/image" Target="../media/image231.png"/><Relationship Id="rId6" Type="http://schemas.openxmlformats.org/officeDocument/2006/relationships/image" Target="../media/image232.png"/><Relationship Id="rId7" Type="http://schemas.openxmlformats.org/officeDocument/2006/relationships/image" Target="../media/image233.png"/><Relationship Id="rId8" Type="http://schemas.openxmlformats.org/officeDocument/2006/relationships/image" Target="../media/image234.png"/><Relationship Id="rId9" Type="http://schemas.openxmlformats.org/officeDocument/2006/relationships/image" Target="../media/image235.png"/><Relationship Id="rId10" Type="http://schemas.openxmlformats.org/officeDocument/2006/relationships/image" Target="../media/image236.png"/><Relationship Id="rId11" Type="http://schemas.openxmlformats.org/officeDocument/2006/relationships/image" Target="../media/image237.png"/><Relationship Id="rId12" Type="http://schemas.openxmlformats.org/officeDocument/2006/relationships/image" Target="../media/image238.png"/><Relationship Id="rId13" Type="http://schemas.openxmlformats.org/officeDocument/2006/relationships/image" Target="../media/image239.png"/><Relationship Id="rId14" Type="http://schemas.openxmlformats.org/officeDocument/2006/relationships/image" Target="../media/image240.png"/><Relationship Id="rId15" Type="http://schemas.openxmlformats.org/officeDocument/2006/relationships/image" Target="../media/image241.png"/><Relationship Id="rId16" Type="http://schemas.openxmlformats.org/officeDocument/2006/relationships/image" Target="../media/image242.png"/><Relationship Id="rId17" Type="http://schemas.openxmlformats.org/officeDocument/2006/relationships/image" Target="../media/image243.png"/><Relationship Id="rId18" Type="http://schemas.openxmlformats.org/officeDocument/2006/relationships/image" Target="../media/image244.png"/><Relationship Id="rId19" Type="http://schemas.openxmlformats.org/officeDocument/2006/relationships/image" Target="../media/image245.png"/><Relationship Id="rId20" Type="http://schemas.openxmlformats.org/officeDocument/2006/relationships/image" Target="../media/image246.png"/><Relationship Id="rId21" Type="http://schemas.openxmlformats.org/officeDocument/2006/relationships/image" Target="../media/image247.png"/><Relationship Id="rId22" Type="http://schemas.openxmlformats.org/officeDocument/2006/relationships/image" Target="../media/image248.png"/></Relationships>
</file>

<file path=ppt/charts/_rels/chart40.xml.rels><?xml version='1.0' encoding='UTF-8' standalone='yes'?>
<Relationships xmlns="http://schemas.openxmlformats.org/package/2006/relationships"><Relationship Id="rId2" Type="http://schemas.openxmlformats.org/officeDocument/2006/relationships/image" Target="../media/image249.png"/><Relationship Id="rId3" Type="http://schemas.openxmlformats.org/officeDocument/2006/relationships/image" Target="../media/image250.png"/><Relationship Id="rId4" Type="http://schemas.openxmlformats.org/officeDocument/2006/relationships/image" Target="../media/image251.png"/><Relationship Id="rId5" Type="http://schemas.openxmlformats.org/officeDocument/2006/relationships/image" Target="../media/image252.png"/><Relationship Id="rId6" Type="http://schemas.openxmlformats.org/officeDocument/2006/relationships/image" Target="../media/image253.png"/><Relationship Id="rId7" Type="http://schemas.openxmlformats.org/officeDocument/2006/relationships/image" Target="../media/image254.png"/><Relationship Id="rId8" Type="http://schemas.openxmlformats.org/officeDocument/2006/relationships/image" Target="../media/image255.png"/><Relationship Id="rId9" Type="http://schemas.openxmlformats.org/officeDocument/2006/relationships/image" Target="../media/image256.png"/><Relationship Id="rId10" Type="http://schemas.openxmlformats.org/officeDocument/2006/relationships/image" Target="../media/image257.png"/><Relationship Id="rId11" Type="http://schemas.openxmlformats.org/officeDocument/2006/relationships/image" Target="../media/image258.png"/><Relationship Id="rId12" Type="http://schemas.openxmlformats.org/officeDocument/2006/relationships/image" Target="../media/image259.png"/><Relationship Id="rId13" Type="http://schemas.openxmlformats.org/officeDocument/2006/relationships/image" Target="../media/image260.png"/></Relationships>
</file>

<file path=ppt/charts/_rels/chart41.xml.rels><?xml version='1.0' encoding='UTF-8' standalone='yes'?>
<Relationships xmlns="http://schemas.openxmlformats.org/package/2006/relationships"><Relationship Id="rId2" Type="http://schemas.openxmlformats.org/officeDocument/2006/relationships/image" Target="../media/image270.png"/><Relationship Id="rId3" Type="http://schemas.openxmlformats.org/officeDocument/2006/relationships/image" Target="../media/image271.png"/><Relationship Id="rId4" Type="http://schemas.openxmlformats.org/officeDocument/2006/relationships/image" Target="../media/image272.png"/><Relationship Id="rId5" Type="http://schemas.openxmlformats.org/officeDocument/2006/relationships/image" Target="../media/image273.png"/><Relationship Id="rId6" Type="http://schemas.openxmlformats.org/officeDocument/2006/relationships/image" Target="../media/image274.png"/><Relationship Id="rId7" Type="http://schemas.openxmlformats.org/officeDocument/2006/relationships/image" Target="../media/image275.png"/><Relationship Id="rId8" Type="http://schemas.openxmlformats.org/officeDocument/2006/relationships/image" Target="../media/image276.png"/><Relationship Id="rId9" Type="http://schemas.openxmlformats.org/officeDocument/2006/relationships/image" Target="../media/image277.png"/><Relationship Id="rId10" Type="http://schemas.openxmlformats.org/officeDocument/2006/relationships/image" Target="../media/image278.png"/><Relationship Id="rId11" Type="http://schemas.openxmlformats.org/officeDocument/2006/relationships/image" Target="../media/image279.png"/><Relationship Id="rId12" Type="http://schemas.openxmlformats.org/officeDocument/2006/relationships/image" Target="../media/image280.png"/><Relationship Id="rId13" Type="http://schemas.openxmlformats.org/officeDocument/2006/relationships/image" Target="../media/image281.png"/><Relationship Id="rId14" Type="http://schemas.openxmlformats.org/officeDocument/2006/relationships/image" Target="../media/image282.png"/><Relationship Id="rId15" Type="http://schemas.openxmlformats.org/officeDocument/2006/relationships/image" Target="../media/image283.png"/><Relationship Id="rId16" Type="http://schemas.openxmlformats.org/officeDocument/2006/relationships/image" Target="../media/image284.png"/><Relationship Id="rId17" Type="http://schemas.openxmlformats.org/officeDocument/2006/relationships/image" Target="../media/image285.png"/><Relationship Id="rId18" Type="http://schemas.openxmlformats.org/officeDocument/2006/relationships/image" Target="../media/image286.png"/><Relationship Id="rId19" Type="http://schemas.openxmlformats.org/officeDocument/2006/relationships/image" Target="../media/image287.png"/></Relationships>
</file>

<file path=ppt/charts/_rels/chart46.xml.rels><?xml version='1.0' encoding='UTF-8' standalone='yes'?>
<Relationships xmlns="http://schemas.openxmlformats.org/package/2006/relationships"><Relationship Id="rId2" Type="http://schemas.openxmlformats.org/officeDocument/2006/relationships/image" Target="../media/image288.png"/><Relationship Id="rId3" Type="http://schemas.openxmlformats.org/officeDocument/2006/relationships/image" Target="../media/image289.png"/><Relationship Id="rId4" Type="http://schemas.openxmlformats.org/officeDocument/2006/relationships/image" Target="../media/image290.png"/><Relationship Id="rId5" Type="http://schemas.openxmlformats.org/officeDocument/2006/relationships/image" Target="../media/image291.png"/><Relationship Id="rId6" Type="http://schemas.openxmlformats.org/officeDocument/2006/relationships/image" Target="../media/image292.png"/><Relationship Id="rId7" Type="http://schemas.openxmlformats.org/officeDocument/2006/relationships/image" Target="../media/image293.png"/><Relationship Id="rId8" Type="http://schemas.openxmlformats.org/officeDocument/2006/relationships/image" Target="../media/image294.png"/><Relationship Id="rId9" Type="http://schemas.openxmlformats.org/officeDocument/2006/relationships/image" Target="../media/image295.png"/><Relationship Id="rId10" Type="http://schemas.openxmlformats.org/officeDocument/2006/relationships/image" Target="../media/image296.png"/></Relationships>
</file>

<file path=ppt/charts/_rels/chart47.xml.rels><?xml version='1.0' encoding='UTF-8' standalone='yes'?>
<Relationships xmlns="http://schemas.openxmlformats.org/package/2006/relationships"><Relationship Id="rId2" Type="http://schemas.openxmlformats.org/officeDocument/2006/relationships/image" Target="../media/image301.png"/><Relationship Id="rId3" Type="http://schemas.openxmlformats.org/officeDocument/2006/relationships/image" Target="../media/image302.png"/><Relationship Id="rId4" Type="http://schemas.openxmlformats.org/officeDocument/2006/relationships/image" Target="../media/image303.png"/><Relationship Id="rId5" Type="http://schemas.openxmlformats.org/officeDocument/2006/relationships/image" Target="../media/image304.png"/><Relationship Id="rId6" Type="http://schemas.openxmlformats.org/officeDocument/2006/relationships/image" Target="../media/image305.png"/><Relationship Id="rId7" Type="http://schemas.openxmlformats.org/officeDocument/2006/relationships/image" Target="../media/image306.png"/><Relationship Id="rId8" Type="http://schemas.openxmlformats.org/officeDocument/2006/relationships/image" Target="../media/image307.png"/><Relationship Id="rId9" Type="http://schemas.openxmlformats.org/officeDocument/2006/relationships/image" Target="../media/image308.png"/><Relationship Id="rId10" Type="http://schemas.openxmlformats.org/officeDocument/2006/relationships/image" Target="../media/image309.png"/><Relationship Id="rId11" Type="http://schemas.openxmlformats.org/officeDocument/2006/relationships/image" Target="../media/image310.png"/><Relationship Id="rId12" Type="http://schemas.openxmlformats.org/officeDocument/2006/relationships/image" Target="../media/image311.png"/><Relationship Id="rId13" Type="http://schemas.openxmlformats.org/officeDocument/2006/relationships/image" Target="../media/image312.png"/></Relationships>
</file>

<file path=ppt/charts/_rels/chart51.xml.rels><?xml version='1.0' encoding='UTF-8' standalone='yes'?>
<Relationships xmlns="http://schemas.openxmlformats.org/package/2006/relationships"><Relationship Id="rId2" Type="http://schemas.openxmlformats.org/officeDocument/2006/relationships/image" Target="../media/image313.png"/><Relationship Id="rId3" Type="http://schemas.openxmlformats.org/officeDocument/2006/relationships/image" Target="../media/image314.png"/><Relationship Id="rId4" Type="http://schemas.openxmlformats.org/officeDocument/2006/relationships/image" Target="../media/image315.png"/><Relationship Id="rId5" Type="http://schemas.openxmlformats.org/officeDocument/2006/relationships/image" Target="../media/image316.png"/><Relationship Id="rId6" Type="http://schemas.openxmlformats.org/officeDocument/2006/relationships/image" Target="../media/image317.png"/><Relationship Id="rId7" Type="http://schemas.openxmlformats.org/officeDocument/2006/relationships/image" Target="../media/image318.png"/></Relationships>
</file>

<file path=ppt/charts/_rels/chart54.xml.rels><?xml version='1.0' encoding='UTF-8' standalone='yes'?>
<Relationships xmlns="http://schemas.openxmlformats.org/package/2006/relationships"><Relationship Id="rId2" Type="http://schemas.openxmlformats.org/officeDocument/2006/relationships/image" Target="../media/image319.png"/></Relationships>
</file>

<file path=ppt/charts/_rels/chart56.xml.rels><?xml version='1.0' encoding='UTF-8' standalone='yes'?>
<Relationships xmlns="http://schemas.openxmlformats.org/package/2006/relationships"><Relationship Id="rId2" Type="http://schemas.openxmlformats.org/officeDocument/2006/relationships/image" Target="../media/image320.png"/></Relationships>
</file>

<file path=ppt/charts/_rels/chart58.xml.rels><?xml version='1.0' encoding='UTF-8' standalone='yes'?>
<Relationships xmlns="http://schemas.openxmlformats.org/package/2006/relationships"><Relationship Id="rId2" Type="http://schemas.openxmlformats.org/officeDocument/2006/relationships/image" Target="../media/image321.png"/><Relationship Id="rId3" Type="http://schemas.openxmlformats.org/officeDocument/2006/relationships/image" Target="../media/image322.png"/><Relationship Id="rId4" Type="http://schemas.openxmlformats.org/officeDocument/2006/relationships/image" Target="../media/image323.png"/><Relationship Id="rId5" Type="http://schemas.openxmlformats.org/officeDocument/2006/relationships/image" Target="../media/image324.png"/><Relationship Id="rId6" Type="http://schemas.openxmlformats.org/officeDocument/2006/relationships/image" Target="../media/image325.png"/><Relationship Id="rId7" Type="http://schemas.openxmlformats.org/officeDocument/2006/relationships/image" Target="../media/image326.png"/><Relationship Id="rId8" Type="http://schemas.openxmlformats.org/officeDocument/2006/relationships/image" Target="../media/image327.png"/><Relationship Id="rId9" Type="http://schemas.openxmlformats.org/officeDocument/2006/relationships/image" Target="../media/image328.png"/><Relationship Id="rId10" Type="http://schemas.openxmlformats.org/officeDocument/2006/relationships/image" Target="../media/image329.png"/><Relationship Id="rId11" Type="http://schemas.openxmlformats.org/officeDocument/2006/relationships/image" Target="../media/image330.png"/></Relationships>
</file>

<file path=ppt/charts/_rels/chart59.xml.rels><?xml version='1.0' encoding='UTF-8' standalone='yes'?>
<Relationships xmlns="http://schemas.openxmlformats.org/package/2006/relationships"><Relationship Id="rId2" Type="http://schemas.openxmlformats.org/officeDocument/2006/relationships/image" Target="../media/image331.png"/><Relationship Id="rId3" Type="http://schemas.openxmlformats.org/officeDocument/2006/relationships/image" Target="../media/image332.png"/><Relationship Id="rId4" Type="http://schemas.openxmlformats.org/officeDocument/2006/relationships/image" Target="../media/image333.png"/><Relationship Id="rId5" Type="http://schemas.openxmlformats.org/officeDocument/2006/relationships/image" Target="../media/image334.png"/><Relationship Id="rId6" Type="http://schemas.openxmlformats.org/officeDocument/2006/relationships/image" Target="../media/image335.png"/><Relationship Id="rId7" Type="http://schemas.openxmlformats.org/officeDocument/2006/relationships/image" Target="../media/image336.png"/><Relationship Id="rId8" Type="http://schemas.openxmlformats.org/officeDocument/2006/relationships/image" Target="../media/image337.png"/><Relationship Id="rId9" Type="http://schemas.openxmlformats.org/officeDocument/2006/relationships/image" Target="../media/image338.png"/><Relationship Id="rId10" Type="http://schemas.openxmlformats.org/officeDocument/2006/relationships/image" Target="../media/image339.png"/><Relationship Id="rId11" Type="http://schemas.openxmlformats.org/officeDocument/2006/relationships/image" Target="../media/image340.png"/><Relationship Id="rId12" Type="http://schemas.openxmlformats.org/officeDocument/2006/relationships/image" Target="../media/image341.png"/><Relationship Id="rId13" Type="http://schemas.openxmlformats.org/officeDocument/2006/relationships/image" Target="../media/image342.png"/><Relationship Id="rId14" Type="http://schemas.openxmlformats.org/officeDocument/2006/relationships/image" Target="../media/image343.png"/><Relationship Id="rId15" Type="http://schemas.openxmlformats.org/officeDocument/2006/relationships/image" Target="../media/image344.png"/><Relationship Id="rId16" Type="http://schemas.openxmlformats.org/officeDocument/2006/relationships/image" Target="../media/image345.png"/><Relationship Id="rId17" Type="http://schemas.openxmlformats.org/officeDocument/2006/relationships/image" Target="../media/image346.png"/><Relationship Id="rId18" Type="http://schemas.openxmlformats.org/officeDocument/2006/relationships/image" Target="../media/image347.png"/><Relationship Id="rId19" Type="http://schemas.openxmlformats.org/officeDocument/2006/relationships/image" Target="../media/image348.png"/><Relationship Id="rId20" Type="http://schemas.openxmlformats.org/officeDocument/2006/relationships/image" Target="../media/image349.png"/><Relationship Id="rId21" Type="http://schemas.openxmlformats.org/officeDocument/2006/relationships/image" Target="../media/image350.png"/><Relationship Id="rId22" Type="http://schemas.openxmlformats.org/officeDocument/2006/relationships/image" Target="../media/image351.png"/><Relationship Id="rId23" Type="http://schemas.openxmlformats.org/officeDocument/2006/relationships/image" Target="../media/image352.png"/></Relationships>
</file>

<file path=ppt/charts/_rels/chart60.xml.rels><?xml version='1.0' encoding='UTF-8' standalone='yes'?>
<Relationships xmlns="http://schemas.openxmlformats.org/package/2006/relationships"><Relationship Id="rId2" Type="http://schemas.openxmlformats.org/officeDocument/2006/relationships/image" Target="../media/image353.png"/><Relationship Id="rId3" Type="http://schemas.openxmlformats.org/officeDocument/2006/relationships/image" Target="../media/image354.png"/></Relationships>
</file>

<file path=ppt/charts/_rels/chart61.xml.rels><?xml version='1.0' encoding='UTF-8' standalone='yes'?>
<Relationships xmlns="http://schemas.openxmlformats.org/package/2006/relationships"><Relationship Id="rId2" Type="http://schemas.openxmlformats.org/officeDocument/2006/relationships/image" Target="../media/image355.png"/><Relationship Id="rId3" Type="http://schemas.openxmlformats.org/officeDocument/2006/relationships/image" Target="../media/image356.png"/></Relationships>
</file>

<file path=ppt/charts/_rels/chart62.xml.rels><?xml version='1.0' encoding='UTF-8' standalone='yes'?>
<Relationships xmlns="http://schemas.openxmlformats.org/package/2006/relationships"><Relationship Id="rId2" Type="http://schemas.openxmlformats.org/officeDocument/2006/relationships/image" Target="../media/image357.png"/><Relationship Id="rId3" Type="http://schemas.openxmlformats.org/officeDocument/2006/relationships/image" Target="../media/image358.png"/><Relationship Id="rId4" Type="http://schemas.openxmlformats.org/officeDocument/2006/relationships/image" Target="../media/image359.png"/><Relationship Id="rId5" Type="http://schemas.openxmlformats.org/officeDocument/2006/relationships/image" Target="../media/image360.png"/></Relationships>
</file>

<file path=ppt/charts/_rels/chart64.xml.rels><?xml version='1.0' encoding='UTF-8' standalone='yes'?>
<Relationships xmlns="http://schemas.openxmlformats.org/package/2006/relationships"><Relationship Id="rId2" Type="http://schemas.openxmlformats.org/officeDocument/2006/relationships/image" Target="../media/image361.png"/><Relationship Id="rId3" Type="http://schemas.openxmlformats.org/officeDocument/2006/relationships/image" Target="../media/image362.png"/><Relationship Id="rId4" Type="http://schemas.openxmlformats.org/officeDocument/2006/relationships/image" Target="../media/image363.png"/><Relationship Id="rId5" Type="http://schemas.openxmlformats.org/officeDocument/2006/relationships/image" Target="../media/image364.png"/></Relationships>
</file>

<file path=ppt/charts/_rels/chart65.xml.rels><?xml version='1.0' encoding='UTF-8' standalone='yes'?>
<Relationships xmlns="http://schemas.openxmlformats.org/package/2006/relationships"><Relationship Id="rId2" Type="http://schemas.openxmlformats.org/officeDocument/2006/relationships/image" Target="../media/image365.png"/><Relationship Id="rId3" Type="http://schemas.openxmlformats.org/officeDocument/2006/relationships/image" Target="../media/image366.png"/><Relationship Id="rId4" Type="http://schemas.openxmlformats.org/officeDocument/2006/relationships/image" Target="../media/image367.png"/><Relationship Id="rId5" Type="http://schemas.openxmlformats.org/officeDocument/2006/relationships/image" Target="../media/image368.png"/></Relationships>
</file>

<file path=ppt/charts/_rels/chart66.xml.rels><?xml version='1.0' encoding='UTF-8' standalone='yes'?>
<Relationships xmlns="http://schemas.openxmlformats.org/package/2006/relationships"><Relationship Id="rId2" Type="http://schemas.openxmlformats.org/officeDocument/2006/relationships/image" Target="../media/image369.png"/><Relationship Id="rId3" Type="http://schemas.openxmlformats.org/officeDocument/2006/relationships/image" Target="../media/image370.png"/><Relationship Id="rId4" Type="http://schemas.openxmlformats.org/officeDocument/2006/relationships/image" Target="../media/image371.png"/><Relationship Id="rId5" Type="http://schemas.openxmlformats.org/officeDocument/2006/relationships/image" Target="../media/image372.png"/><Relationship Id="rId6" Type="http://schemas.openxmlformats.org/officeDocument/2006/relationships/image" Target="../media/image373.png"/><Relationship Id="rId7" Type="http://schemas.openxmlformats.org/officeDocument/2006/relationships/image" Target="../media/image374.png"/><Relationship Id="rId8" Type="http://schemas.openxmlformats.org/officeDocument/2006/relationships/image" Target="../media/image375.png"/><Relationship Id="rId9" Type="http://schemas.openxmlformats.org/officeDocument/2006/relationships/image" Target="../media/image376.png"/><Relationship Id="rId10" Type="http://schemas.openxmlformats.org/officeDocument/2006/relationships/image" Target="../media/image377.png"/><Relationship Id="rId11" Type="http://schemas.openxmlformats.org/officeDocument/2006/relationships/image" Target="../media/image378.png"/><Relationship Id="rId12" Type="http://schemas.openxmlformats.org/officeDocument/2006/relationships/image" Target="../media/image379.png"/><Relationship Id="rId13" Type="http://schemas.openxmlformats.org/officeDocument/2006/relationships/image" Target="../media/image380.png"/><Relationship Id="rId14" Type="http://schemas.openxmlformats.org/officeDocument/2006/relationships/image" Target="../media/image381.png"/><Relationship Id="rId15" Type="http://schemas.openxmlformats.org/officeDocument/2006/relationships/image" Target="../media/image382.png"/><Relationship Id="rId16" Type="http://schemas.openxmlformats.org/officeDocument/2006/relationships/image" Target="../media/image383.png"/><Relationship Id="rId17" Type="http://schemas.openxmlformats.org/officeDocument/2006/relationships/image" Target="../media/image384.png"/><Relationship Id="rId18" Type="http://schemas.openxmlformats.org/officeDocument/2006/relationships/image" Target="../media/image385.png"/><Relationship Id="rId19" Type="http://schemas.openxmlformats.org/officeDocument/2006/relationships/image" Target="../media/image386.png"/><Relationship Id="rId20" Type="http://schemas.openxmlformats.org/officeDocument/2006/relationships/image" Target="../media/image387.png"/><Relationship Id="rId21" Type="http://schemas.openxmlformats.org/officeDocument/2006/relationships/image" Target="../media/image388.png"/><Relationship Id="rId22" Type="http://schemas.openxmlformats.org/officeDocument/2006/relationships/image" Target="../media/image389.png"/><Relationship Id="rId23" Type="http://schemas.openxmlformats.org/officeDocument/2006/relationships/image" Target="../media/image390.png"/><Relationship Id="rId24" Type="http://schemas.openxmlformats.org/officeDocument/2006/relationships/image" Target="../media/image391.png"/><Relationship Id="rId25" Type="http://schemas.openxmlformats.org/officeDocument/2006/relationships/image" Target="../media/image392.png"/><Relationship Id="rId26" Type="http://schemas.openxmlformats.org/officeDocument/2006/relationships/image" Target="../media/image393.png"/><Relationship Id="rId27" Type="http://schemas.openxmlformats.org/officeDocument/2006/relationships/image" Target="../media/image394.png"/><Relationship Id="rId28" Type="http://schemas.openxmlformats.org/officeDocument/2006/relationships/image" Target="../media/image395.png"/><Relationship Id="rId29" Type="http://schemas.openxmlformats.org/officeDocument/2006/relationships/image" Target="../media/image396.png"/><Relationship Id="rId30" Type="http://schemas.openxmlformats.org/officeDocument/2006/relationships/image" Target="../media/image397.png"/><Relationship Id="rId31" Type="http://schemas.openxmlformats.org/officeDocument/2006/relationships/image" Target="../media/image398.png"/><Relationship Id="rId32" Type="http://schemas.openxmlformats.org/officeDocument/2006/relationships/image" Target="../media/image399.png"/><Relationship Id="rId33" Type="http://schemas.openxmlformats.org/officeDocument/2006/relationships/image" Target="../media/image400.png"/></Relationships>
</file>

<file path=ppt/charts/_rels/chart67.xml.rels><?xml version='1.0' encoding='UTF-8' standalone='yes'?>
<Relationships xmlns="http://schemas.openxmlformats.org/package/2006/relationships"><Relationship Id="rId2" Type="http://schemas.openxmlformats.org/officeDocument/2006/relationships/image" Target="../media/image401.png"/><Relationship Id="rId3" Type="http://schemas.openxmlformats.org/officeDocument/2006/relationships/image" Target="../media/image402.png"/><Relationship Id="rId4" Type="http://schemas.openxmlformats.org/officeDocument/2006/relationships/image" Target="../media/image403.png"/><Relationship Id="rId5" Type="http://schemas.openxmlformats.org/officeDocument/2006/relationships/image" Target="../media/image404.png"/><Relationship Id="rId6" Type="http://schemas.openxmlformats.org/officeDocument/2006/relationships/image" Target="../media/image405.png"/><Relationship Id="rId7" Type="http://schemas.openxmlformats.org/officeDocument/2006/relationships/image" Target="../media/image406.png"/><Relationship Id="rId8" Type="http://schemas.openxmlformats.org/officeDocument/2006/relationships/image" Target="../media/image407.png"/><Relationship Id="rId9" Type="http://schemas.openxmlformats.org/officeDocument/2006/relationships/image" Target="../media/image408.png"/><Relationship Id="rId10" Type="http://schemas.openxmlformats.org/officeDocument/2006/relationships/image" Target="../media/image409.png"/><Relationship Id="rId11" Type="http://schemas.openxmlformats.org/officeDocument/2006/relationships/image" Target="../media/image410.png"/><Relationship Id="rId12" Type="http://schemas.openxmlformats.org/officeDocument/2006/relationships/image" Target="../media/image411.png"/><Relationship Id="rId13" Type="http://schemas.openxmlformats.org/officeDocument/2006/relationships/image" Target="../media/image412.png"/><Relationship Id="rId14" Type="http://schemas.openxmlformats.org/officeDocument/2006/relationships/image" Target="../media/image413.png"/><Relationship Id="rId15" Type="http://schemas.openxmlformats.org/officeDocument/2006/relationships/image" Target="../media/image414.png"/><Relationship Id="rId16" Type="http://schemas.openxmlformats.org/officeDocument/2006/relationships/image" Target="../media/image415.png"/><Relationship Id="rId17" Type="http://schemas.openxmlformats.org/officeDocument/2006/relationships/image" Target="../media/image416.png"/><Relationship Id="rId18" Type="http://schemas.openxmlformats.org/officeDocument/2006/relationships/image" Target="../media/image417.png"/><Relationship Id="rId19" Type="http://schemas.openxmlformats.org/officeDocument/2006/relationships/image" Target="../media/image418.png"/><Relationship Id="rId20" Type="http://schemas.openxmlformats.org/officeDocument/2006/relationships/image" Target="../media/image419.png"/><Relationship Id="rId21" Type="http://schemas.openxmlformats.org/officeDocument/2006/relationships/image" Target="../media/image420.png"/><Relationship Id="rId22" Type="http://schemas.openxmlformats.org/officeDocument/2006/relationships/image" Target="../media/image421.png"/><Relationship Id="rId23" Type="http://schemas.openxmlformats.org/officeDocument/2006/relationships/image" Target="../media/image422.png"/><Relationship Id="rId24" Type="http://schemas.openxmlformats.org/officeDocument/2006/relationships/image" Target="../media/image423.png"/><Relationship Id="rId25" Type="http://schemas.openxmlformats.org/officeDocument/2006/relationships/image" Target="../media/image424.png"/><Relationship Id="rId26" Type="http://schemas.openxmlformats.org/officeDocument/2006/relationships/image" Target="../media/image425.png"/><Relationship Id="rId27" Type="http://schemas.openxmlformats.org/officeDocument/2006/relationships/image" Target="../media/image426.png"/><Relationship Id="rId28" Type="http://schemas.openxmlformats.org/officeDocument/2006/relationships/image" Target="../media/image427.png"/><Relationship Id="rId29" Type="http://schemas.openxmlformats.org/officeDocument/2006/relationships/image" Target="../media/image428.png"/><Relationship Id="rId30" Type="http://schemas.openxmlformats.org/officeDocument/2006/relationships/image" Target="../media/image429.png"/><Relationship Id="rId31" Type="http://schemas.openxmlformats.org/officeDocument/2006/relationships/image" Target="../media/image430.png"/><Relationship Id="rId32" Type="http://schemas.openxmlformats.org/officeDocument/2006/relationships/image" Target="../media/image431.png"/><Relationship Id="rId33" Type="http://schemas.openxmlformats.org/officeDocument/2006/relationships/image" Target="../media/image432.png"/></Relationships>
</file>

<file path=ppt/charts/_rels/chart68.xml.rels><?xml version='1.0' encoding='UTF-8' standalone='yes'?>
<Relationships xmlns="http://schemas.openxmlformats.org/package/2006/relationships"><Relationship Id="rId2" Type="http://schemas.openxmlformats.org/officeDocument/2006/relationships/image" Target="../media/image438.png"/><Relationship Id="rId3" Type="http://schemas.openxmlformats.org/officeDocument/2006/relationships/image" Target="../media/image439.png"/><Relationship Id="rId4" Type="http://schemas.openxmlformats.org/officeDocument/2006/relationships/image" Target="../media/image440.png"/><Relationship Id="rId5" Type="http://schemas.openxmlformats.org/officeDocument/2006/relationships/image" Target="../media/image441.png"/><Relationship Id="rId6" Type="http://schemas.openxmlformats.org/officeDocument/2006/relationships/image" Target="../media/image442.png"/><Relationship Id="rId7" Type="http://schemas.openxmlformats.org/officeDocument/2006/relationships/image" Target="../media/image443.png"/><Relationship Id="rId8" Type="http://schemas.openxmlformats.org/officeDocument/2006/relationships/image" Target="../media/image444.png"/><Relationship Id="rId9" Type="http://schemas.openxmlformats.org/officeDocument/2006/relationships/image" Target="../media/image445.png"/></Relationships>
</file>

<file path=ppt/charts/_rels/chart74.xml.rels><?xml version='1.0' encoding='UTF-8' standalone='yes'?>
<Relationships xmlns="http://schemas.openxmlformats.org/package/2006/relationships"><Relationship Id="rId2" Type="http://schemas.openxmlformats.org/officeDocument/2006/relationships/image" Target="../media/image446.png"/><Relationship Id="rId3" Type="http://schemas.openxmlformats.org/officeDocument/2006/relationships/image" Target="../media/image447.png"/><Relationship Id="rId4" Type="http://schemas.openxmlformats.org/officeDocument/2006/relationships/image" Target="../media/image448.png"/><Relationship Id="rId5" Type="http://schemas.openxmlformats.org/officeDocument/2006/relationships/image" Target="../media/image449.png"/><Relationship Id="rId6" Type="http://schemas.openxmlformats.org/officeDocument/2006/relationships/image" Target="../media/image450.png"/><Relationship Id="rId7" Type="http://schemas.openxmlformats.org/officeDocument/2006/relationships/image" Target="../media/image451.png"/><Relationship Id="rId8" Type="http://schemas.openxmlformats.org/officeDocument/2006/relationships/image" Target="../media/image452.png"/><Relationship Id="rId9" Type="http://schemas.openxmlformats.org/officeDocument/2006/relationships/image" Target="../media/image453.png"/><Relationship Id="rId10" Type="http://schemas.openxmlformats.org/officeDocument/2006/relationships/image" Target="../media/image454.png"/><Relationship Id="rId11" Type="http://schemas.openxmlformats.org/officeDocument/2006/relationships/image" Target="../media/image455.png"/><Relationship Id="rId12" Type="http://schemas.openxmlformats.org/officeDocument/2006/relationships/image" Target="../media/image456.png"/><Relationship Id="rId13" Type="http://schemas.openxmlformats.org/officeDocument/2006/relationships/image" Target="../media/image457.png"/></Relationships>
</file>

<file path=ppt/charts/_rels/chart75.xml.rels><?xml version='1.0' encoding='UTF-8' standalone='yes'?>
<Relationships xmlns="http://schemas.openxmlformats.org/package/2006/relationships"><Relationship Id="rId2" Type="http://schemas.openxmlformats.org/officeDocument/2006/relationships/image" Target="../media/image468.png"/><Relationship Id="rId3" Type="http://schemas.openxmlformats.org/officeDocument/2006/relationships/image" Target="../media/image469.png"/><Relationship Id="rId4" Type="http://schemas.openxmlformats.org/officeDocument/2006/relationships/image" Target="../media/image470.png"/><Relationship Id="rId5" Type="http://schemas.openxmlformats.org/officeDocument/2006/relationships/image" Target="../media/image471.png"/><Relationship Id="rId6" Type="http://schemas.openxmlformats.org/officeDocument/2006/relationships/image" Target="../media/image472.png"/><Relationship Id="rId7" Type="http://schemas.openxmlformats.org/officeDocument/2006/relationships/image" Target="../media/image473.png"/><Relationship Id="rId8" Type="http://schemas.openxmlformats.org/officeDocument/2006/relationships/image" Target="../media/image474.png"/><Relationship Id="rId9" Type="http://schemas.openxmlformats.org/officeDocument/2006/relationships/image" Target="../media/image475.png"/></Relationships>
</file>

<file path=ppt/charts/_rels/chart81.xml.rels><?xml version='1.0' encoding='UTF-8' standalone='yes'?>
<Relationships xmlns="http://schemas.openxmlformats.org/package/2006/relationships"><Relationship Id="rId2" Type="http://schemas.openxmlformats.org/officeDocument/2006/relationships/image" Target="../media/image476.png"/><Relationship Id="rId3" Type="http://schemas.openxmlformats.org/officeDocument/2006/relationships/image" Target="../media/image477.png"/><Relationship Id="rId4" Type="http://schemas.openxmlformats.org/officeDocument/2006/relationships/image" Target="../media/image478.png"/><Relationship Id="rId5" Type="http://schemas.openxmlformats.org/officeDocument/2006/relationships/image" Target="../media/image479.png"/><Relationship Id="rId6" Type="http://schemas.openxmlformats.org/officeDocument/2006/relationships/image" Target="../media/image480.png"/><Relationship Id="rId7" Type="http://schemas.openxmlformats.org/officeDocument/2006/relationships/image" Target="../media/image481.png"/><Relationship Id="rId8" Type="http://schemas.openxmlformats.org/officeDocument/2006/relationships/image" Target="../media/image482.png"/><Relationship Id="rId9" Type="http://schemas.openxmlformats.org/officeDocument/2006/relationships/image" Target="../media/image483.png"/><Relationship Id="rId10" Type="http://schemas.openxmlformats.org/officeDocument/2006/relationships/image" Target="../media/image484.png"/><Relationship Id="rId11" Type="http://schemas.openxmlformats.org/officeDocument/2006/relationships/image" Target="../media/image485.png"/><Relationship Id="rId12" Type="http://schemas.openxmlformats.org/officeDocument/2006/relationships/image" Target="../media/image486.png"/><Relationship Id="rId13" Type="http://schemas.openxmlformats.org/officeDocument/2006/relationships/image" Target="../media/image487.png"/></Relationships>
</file>

<file path=ppt/charts/_rels/chart82.xml.rels><?xml version='1.0' encoding='UTF-8' standalone='yes'?>
<Relationships xmlns="http://schemas.openxmlformats.org/package/2006/relationships"><Relationship Id="rId2" Type="http://schemas.openxmlformats.org/officeDocument/2006/relationships/image" Target="../media/image491.png"/><Relationship Id="rId3" Type="http://schemas.openxmlformats.org/officeDocument/2006/relationships/image" Target="../media/image492.png"/><Relationship Id="rId4" Type="http://schemas.openxmlformats.org/officeDocument/2006/relationships/image" Target="../media/image493.png"/><Relationship Id="rId5" Type="http://schemas.openxmlformats.org/officeDocument/2006/relationships/image" Target="../media/image494.png"/></Relationships>
</file>

<file path=ppt/charts/_rels/chart86.xml.rels><?xml version='1.0' encoding='UTF-8' standalone='yes'?>
<Relationships xmlns="http://schemas.openxmlformats.org/package/2006/relationships"><Relationship Id="rId2" Type="http://schemas.openxmlformats.org/officeDocument/2006/relationships/image" Target="../media/image495.png"/><Relationship Id="rId3" Type="http://schemas.openxmlformats.org/officeDocument/2006/relationships/image" Target="../media/image496.png"/><Relationship Id="rId4" Type="http://schemas.openxmlformats.org/officeDocument/2006/relationships/image" Target="../media/image497.png"/><Relationship Id="rId5" Type="http://schemas.openxmlformats.org/officeDocument/2006/relationships/image" Target="../media/image498.png"/><Relationship Id="rId6" Type="http://schemas.openxmlformats.org/officeDocument/2006/relationships/image" Target="../media/image499.png"/><Relationship Id="rId7" Type="http://schemas.openxmlformats.org/officeDocument/2006/relationships/image" Target="../media/image500.png"/></Relationships>
</file>

<file path=ppt/charts/_rels/chart87.xml.rels><?xml version='1.0' encoding='UTF-8' standalone='yes'?>
<Relationships xmlns="http://schemas.openxmlformats.org/package/2006/relationships"><Relationship Id="rId2" Type="http://schemas.openxmlformats.org/officeDocument/2006/relationships/image" Target="../media/image508.png"/><Relationship Id="rId3" Type="http://schemas.openxmlformats.org/officeDocument/2006/relationships/image" Target="../media/image509.png"/><Relationship Id="rId4" Type="http://schemas.openxmlformats.org/officeDocument/2006/relationships/image" Target="../media/image510.png"/><Relationship Id="rId5" Type="http://schemas.openxmlformats.org/officeDocument/2006/relationships/image" Target="../media/image511.png"/><Relationship Id="rId6" Type="http://schemas.openxmlformats.org/officeDocument/2006/relationships/image" Target="../media/image512.png"/><Relationship Id="rId7" Type="http://schemas.openxmlformats.org/officeDocument/2006/relationships/image" Target="../media/image513.png"/><Relationship Id="rId8" Type="http://schemas.openxmlformats.org/officeDocument/2006/relationships/image" Target="../media/image514.png"/><Relationship Id="rId9" Type="http://schemas.openxmlformats.org/officeDocument/2006/relationships/image" Target="../media/image515.png"/></Relationships>
</file>

<file path=ppt/charts/_rels/chart93.xml.rels><?xml version='1.0' encoding='UTF-8' standalone='yes'?>
<Relationships xmlns="http://schemas.openxmlformats.org/package/2006/relationships"><Relationship Id="rId2" Type="http://schemas.openxmlformats.org/officeDocument/2006/relationships/image" Target="../media/image516.png"/><Relationship Id="rId3" Type="http://schemas.openxmlformats.org/officeDocument/2006/relationships/image" Target="../media/image517.png"/><Relationship Id="rId4" Type="http://schemas.openxmlformats.org/officeDocument/2006/relationships/image" Target="../media/image518.png"/><Relationship Id="rId5" Type="http://schemas.openxmlformats.org/officeDocument/2006/relationships/image" Target="../media/image519.png"/><Relationship Id="rId6" Type="http://schemas.openxmlformats.org/officeDocument/2006/relationships/image" Target="../media/image520.png"/><Relationship Id="rId7" Type="http://schemas.openxmlformats.org/officeDocument/2006/relationships/image" Target="../media/image521.png"/><Relationship Id="rId8" Type="http://schemas.openxmlformats.org/officeDocument/2006/relationships/image" Target="../media/image522.png"/><Relationship Id="rId9" Type="http://schemas.openxmlformats.org/officeDocument/2006/relationships/image" Target="../media/image523.png"/><Relationship Id="rId10" Type="http://schemas.openxmlformats.org/officeDocument/2006/relationships/image" Target="../media/image524.png"/><Relationship Id="rId11" Type="http://schemas.openxmlformats.org/officeDocument/2006/relationships/image" Target="../media/image525.png"/><Relationship Id="rId12" Type="http://schemas.openxmlformats.org/officeDocument/2006/relationships/image" Target="../media/image526.png"/><Relationship Id="rId13" Type="http://schemas.openxmlformats.org/officeDocument/2006/relationships/image" Target="../media/image527.png"/></Relationships>
</file>

<file path=ppt/charts/_rels/chart94.xml.rels><?xml version='1.0' encoding='UTF-8' standalone='yes'?>
<Relationships xmlns="http://schemas.openxmlformats.org/package/2006/relationships"><Relationship Id="rId2" Type="http://schemas.openxmlformats.org/officeDocument/2006/relationships/image" Target="../media/image535.png"/><Relationship Id="rId3" Type="http://schemas.openxmlformats.org/officeDocument/2006/relationships/image" Target="../media/image536.png"/><Relationship Id="rId4" Type="http://schemas.openxmlformats.org/officeDocument/2006/relationships/image" Target="../media/image537.png"/><Relationship Id="rId5" Type="http://schemas.openxmlformats.org/officeDocument/2006/relationships/image" Target="../media/image538.png"/><Relationship Id="rId6" Type="http://schemas.openxmlformats.org/officeDocument/2006/relationships/image" Target="../media/image539.png"/><Relationship Id="rId7" Type="http://schemas.openxmlformats.org/officeDocument/2006/relationships/image" Target="../media/image540.png"/></Relationships>
</file>

<file path=ppt/charts/_rels/chart99.xml.rels><?xml version='1.0' encoding='UTF-8' standalone='yes'?>
<Relationships xmlns="http://schemas.openxmlformats.org/package/2006/relationships"><Relationship Id="rId2" Type="http://schemas.openxmlformats.org/officeDocument/2006/relationships/image" Target="../media/image541.png"/><Relationship Id="rId3" Type="http://schemas.openxmlformats.org/officeDocument/2006/relationships/image" Target="../media/image542.png"/><Relationship Id="rId4" Type="http://schemas.openxmlformats.org/officeDocument/2006/relationships/image" Target="../media/image543.png"/><Relationship Id="rId5" Type="http://schemas.openxmlformats.org/officeDocument/2006/relationships/image" Target="../media/image544.png"/><Relationship Id="rId6" Type="http://schemas.openxmlformats.org/officeDocument/2006/relationships/image" Target="../media/image545.png"/><Relationship Id="rId7" Type="http://schemas.openxmlformats.org/officeDocument/2006/relationships/image" Target="../media/image546.png"/><Relationship Id="rId8" Type="http://schemas.openxmlformats.org/officeDocument/2006/relationships/image" Target="../media/image547.png"/><Relationship Id="rId9" Type="http://schemas.openxmlformats.org/officeDocument/2006/relationships/image" Target="../media/image548.png"/><Relationship Id="rId10" Type="http://schemas.openxmlformats.org/officeDocument/2006/relationships/image" Target="../media/image549.png"/></Relationships>
</file>

<file path=ppt/charts/_rels/chart100.xml.rels><?xml version='1.0' encoding='UTF-8' standalone='yes'?>
<Relationships xmlns="http://schemas.openxmlformats.org/package/2006/relationships"><Relationship Id="rId2" Type="http://schemas.openxmlformats.org/officeDocument/2006/relationships/image" Target="../media/image555.png"/><Relationship Id="rId3" Type="http://schemas.openxmlformats.org/officeDocument/2006/relationships/image" Target="../media/image556.png"/><Relationship Id="rId4" Type="http://schemas.openxmlformats.org/officeDocument/2006/relationships/image" Target="../media/image557.png"/><Relationship Id="rId5" Type="http://schemas.openxmlformats.org/officeDocument/2006/relationships/image" Target="../media/image558.png"/></Relationships>
</file>

<file path=ppt/charts/_rels/chart104.xml.rels><?xml version='1.0' encoding='UTF-8' standalone='yes'?>
<Relationships xmlns="http://schemas.openxmlformats.org/package/2006/relationships"><Relationship Id="rId2" Type="http://schemas.openxmlformats.org/officeDocument/2006/relationships/image" Target="../media/image559.png"/><Relationship Id="rId3" Type="http://schemas.openxmlformats.org/officeDocument/2006/relationships/image" Target="../media/image560.png"/><Relationship Id="rId4" Type="http://schemas.openxmlformats.org/officeDocument/2006/relationships/image" Target="../media/image561.png"/><Relationship Id="rId5" Type="http://schemas.openxmlformats.org/officeDocument/2006/relationships/image" Target="../media/image562.png"/><Relationship Id="rId6" Type="http://schemas.openxmlformats.org/officeDocument/2006/relationships/image" Target="../media/image563.png"/><Relationship Id="rId7" Type="http://schemas.openxmlformats.org/officeDocument/2006/relationships/image" Target="../media/image564.png"/></Relationships>
</file>

<file path=ppt/charts/_rels/chart139.xml.rels><?xml version='1.0' encoding='UTF-8' standalone='yes'?>
<Relationships xmlns="http://schemas.openxmlformats.org/package/2006/relationships"><Relationship Id="rId2" Type="http://schemas.openxmlformats.org/officeDocument/2006/relationships/image" Target="../media/image565.png"/><Relationship Id="rId3" Type="http://schemas.openxmlformats.org/officeDocument/2006/relationships/image" Target="../media/image566.png"/><Relationship Id="rId4" Type="http://schemas.openxmlformats.org/officeDocument/2006/relationships/image" Target="../media/image567.png"/><Relationship Id="rId5" Type="http://schemas.openxmlformats.org/officeDocument/2006/relationships/image" Target="../media/image568.png"/><Relationship Id="rId6" Type="http://schemas.openxmlformats.org/officeDocument/2006/relationships/image" Target="../media/image569.png"/><Relationship Id="rId7" Type="http://schemas.openxmlformats.org/officeDocument/2006/relationships/image" Target="../media/image570.png"/><Relationship Id="rId8" Type="http://schemas.openxmlformats.org/officeDocument/2006/relationships/image" Target="../media/image571.png"/><Relationship Id="rId9" Type="http://schemas.openxmlformats.org/officeDocument/2006/relationships/image" Target="../media/image572.png"/><Relationship Id="rId10" Type="http://schemas.openxmlformats.org/officeDocument/2006/relationships/image" Target="../media/image573.png"/><Relationship Id="rId11" Type="http://schemas.openxmlformats.org/officeDocument/2006/relationships/image" Target="../media/image574.png"/></Relationships>
</file>

<file path=ppt/charts/_rels/chart140.xml.rels><?xml version='1.0' encoding='UTF-8' standalone='yes'?>
<Relationships xmlns="http://schemas.openxmlformats.org/package/2006/relationships"><Relationship Id="rId2" Type="http://schemas.openxmlformats.org/officeDocument/2006/relationships/image" Target="../media/image575.png"/><Relationship Id="rId3" Type="http://schemas.openxmlformats.org/officeDocument/2006/relationships/image" Target="../media/image576.png"/><Relationship Id="rId4" Type="http://schemas.openxmlformats.org/officeDocument/2006/relationships/image" Target="../media/image577.png"/><Relationship Id="rId5" Type="http://schemas.openxmlformats.org/officeDocument/2006/relationships/image" Target="../media/image578.png"/><Relationship Id="rId6" Type="http://schemas.openxmlformats.org/officeDocument/2006/relationships/image" Target="../media/image579.png"/><Relationship Id="rId7" Type="http://schemas.openxmlformats.org/officeDocument/2006/relationships/image" Target="../media/image580.png"/><Relationship Id="rId8" Type="http://schemas.openxmlformats.org/officeDocument/2006/relationships/image" Target="../media/image581.png"/><Relationship Id="rId9" Type="http://schemas.openxmlformats.org/officeDocument/2006/relationships/image" Target="../media/image582.png"/><Relationship Id="rId10" Type="http://schemas.openxmlformats.org/officeDocument/2006/relationships/image" Target="../media/image583.png"/><Relationship Id="rId11" Type="http://schemas.openxmlformats.org/officeDocument/2006/relationships/image" Target="../media/image584.png"/><Relationship Id="rId12" Type="http://schemas.openxmlformats.org/officeDocument/2006/relationships/image" Target="../media/image585.png"/></Relationships>
</file>

<file path=ppt/charts/_rels/chart141.xml.rels><?xml version='1.0' encoding='UTF-8' standalone='yes'?>
<Relationships xmlns="http://schemas.openxmlformats.org/package/2006/relationships"><Relationship Id="rId2" Type="http://schemas.openxmlformats.org/officeDocument/2006/relationships/image" Target="../media/image586.png"/><Relationship Id="rId3" Type="http://schemas.openxmlformats.org/officeDocument/2006/relationships/image" Target="../media/image587.png"/><Relationship Id="rId4" Type="http://schemas.openxmlformats.org/officeDocument/2006/relationships/image" Target="../media/image588.png"/><Relationship Id="rId5" Type="http://schemas.openxmlformats.org/officeDocument/2006/relationships/image" Target="../media/image589.png"/><Relationship Id="rId6" Type="http://schemas.openxmlformats.org/officeDocument/2006/relationships/image" Target="../media/image590.png"/><Relationship Id="rId7" Type="http://schemas.openxmlformats.org/officeDocument/2006/relationships/image" Target="../media/image591.png"/><Relationship Id="rId8" Type="http://schemas.openxmlformats.org/officeDocument/2006/relationships/image" Target="../media/image592.png"/><Relationship Id="rId9" Type="http://schemas.openxmlformats.org/officeDocument/2006/relationships/image" Target="../media/image593.png"/><Relationship Id="rId10" Type="http://schemas.openxmlformats.org/officeDocument/2006/relationships/image" Target="../media/image594.png"/><Relationship Id="rId11" Type="http://schemas.openxmlformats.org/officeDocument/2006/relationships/image" Target="../media/image595.png"/></Relationships>
</file>

<file path=ppt/charts/_rels/chart142.xml.rels><?xml version='1.0' encoding='UTF-8' standalone='yes'?>
<Relationships xmlns="http://schemas.openxmlformats.org/package/2006/relationships"><Relationship Id="rId2" Type="http://schemas.openxmlformats.org/officeDocument/2006/relationships/image" Target="../media/image596.png"/><Relationship Id="rId3" Type="http://schemas.openxmlformats.org/officeDocument/2006/relationships/image" Target="../media/image597.png"/><Relationship Id="rId4" Type="http://schemas.openxmlformats.org/officeDocument/2006/relationships/image" Target="../media/image598.png"/><Relationship Id="rId5" Type="http://schemas.openxmlformats.org/officeDocument/2006/relationships/image" Target="../media/image599.png"/><Relationship Id="rId6" Type="http://schemas.openxmlformats.org/officeDocument/2006/relationships/image" Target="../media/image600.png"/><Relationship Id="rId7" Type="http://schemas.openxmlformats.org/officeDocument/2006/relationships/image" Target="../media/image601.png"/><Relationship Id="rId8" Type="http://schemas.openxmlformats.org/officeDocument/2006/relationships/image" Target="../media/image602.png"/><Relationship Id="rId9" Type="http://schemas.openxmlformats.org/officeDocument/2006/relationships/image" Target="../media/image603.png"/><Relationship Id="rId10" Type="http://schemas.openxmlformats.org/officeDocument/2006/relationships/image" Target="../media/image604.png"/><Relationship Id="rId11" Type="http://schemas.openxmlformats.org/officeDocument/2006/relationships/image" Target="../media/image605.png"/><Relationship Id="rId12" Type="http://schemas.openxmlformats.org/officeDocument/2006/relationships/image" Target="../media/image606.png"/></Relationships>
</file>

<file path=ppt/charts/_rels/chart143.xml.rels><?xml version='1.0' encoding='UTF-8' standalone='yes'?>
<Relationships xmlns="http://schemas.openxmlformats.org/package/2006/relationships"><Relationship Id="rId2" Type="http://schemas.openxmlformats.org/officeDocument/2006/relationships/image" Target="../media/image607.png"/><Relationship Id="rId3" Type="http://schemas.openxmlformats.org/officeDocument/2006/relationships/image" Target="../media/image608.png"/><Relationship Id="rId4" Type="http://schemas.openxmlformats.org/officeDocument/2006/relationships/image" Target="../media/image609.png"/><Relationship Id="rId5" Type="http://schemas.openxmlformats.org/officeDocument/2006/relationships/image" Target="../media/image610.png"/><Relationship Id="rId6" Type="http://schemas.openxmlformats.org/officeDocument/2006/relationships/image" Target="../media/image611.png"/><Relationship Id="rId7" Type="http://schemas.openxmlformats.org/officeDocument/2006/relationships/image" Target="../media/image612.png"/><Relationship Id="rId8" Type="http://schemas.openxmlformats.org/officeDocument/2006/relationships/image" Target="../media/image613.png"/><Relationship Id="rId9" Type="http://schemas.openxmlformats.org/officeDocument/2006/relationships/image" Target="../media/image614.png"/><Relationship Id="rId10" Type="http://schemas.openxmlformats.org/officeDocument/2006/relationships/image" Target="../media/image615.png"/><Relationship Id="rId11" Type="http://schemas.openxmlformats.org/officeDocument/2006/relationships/image" Target="../media/image616.png"/></Relationships>
</file>

<file path=ppt/charts/_rels/chart144.xml.rels><?xml version='1.0' encoding='UTF-8' standalone='yes'?>
<Relationships xmlns="http://schemas.openxmlformats.org/package/2006/relationships"><Relationship Id="rId2" Type="http://schemas.openxmlformats.org/officeDocument/2006/relationships/image" Target="../media/image617.png"/><Relationship Id="rId3" Type="http://schemas.openxmlformats.org/officeDocument/2006/relationships/image" Target="../media/image618.png"/><Relationship Id="rId4" Type="http://schemas.openxmlformats.org/officeDocument/2006/relationships/image" Target="../media/image619.png"/><Relationship Id="rId5" Type="http://schemas.openxmlformats.org/officeDocument/2006/relationships/image" Target="../media/image620.png"/><Relationship Id="rId6" Type="http://schemas.openxmlformats.org/officeDocument/2006/relationships/image" Target="../media/image621.png"/><Relationship Id="rId7" Type="http://schemas.openxmlformats.org/officeDocument/2006/relationships/image" Target="../media/image622.png"/><Relationship Id="rId8" Type="http://schemas.openxmlformats.org/officeDocument/2006/relationships/image" Target="../media/image623.png"/><Relationship Id="rId9" Type="http://schemas.openxmlformats.org/officeDocument/2006/relationships/image" Target="../media/image624.png"/><Relationship Id="rId10" Type="http://schemas.openxmlformats.org/officeDocument/2006/relationships/image" Target="../media/image625.png"/></Relationships>
</file>

<file path=ppt/charts/_rels/chart145.xml.rels><?xml version='1.0' encoding='UTF-8' standalone='yes'?>
<Relationships xmlns="http://schemas.openxmlformats.org/package/2006/relationships"><Relationship Id="rId2" Type="http://schemas.openxmlformats.org/officeDocument/2006/relationships/image" Target="../media/image626.png"/><Relationship Id="rId3" Type="http://schemas.openxmlformats.org/officeDocument/2006/relationships/image" Target="../media/image627.png"/><Relationship Id="rId4" Type="http://schemas.openxmlformats.org/officeDocument/2006/relationships/image" Target="../media/image628.png"/><Relationship Id="rId5" Type="http://schemas.openxmlformats.org/officeDocument/2006/relationships/image" Target="../media/image629.png"/><Relationship Id="rId6" Type="http://schemas.openxmlformats.org/officeDocument/2006/relationships/image" Target="../media/image630.png"/><Relationship Id="rId7" Type="http://schemas.openxmlformats.org/officeDocument/2006/relationships/image" Target="../media/image631.png"/><Relationship Id="rId8" Type="http://schemas.openxmlformats.org/officeDocument/2006/relationships/image" Target="../media/image632.png"/><Relationship Id="rId9" Type="http://schemas.openxmlformats.org/officeDocument/2006/relationships/image" Target="../media/image633.png"/><Relationship Id="rId10" Type="http://schemas.openxmlformats.org/officeDocument/2006/relationships/image" Target="../media/image634.png"/><Relationship Id="rId11" Type="http://schemas.openxmlformats.org/officeDocument/2006/relationships/image" Target="../media/image635.png"/><Relationship Id="rId12" Type="http://schemas.openxmlformats.org/officeDocument/2006/relationships/image" Target="../media/image636.png"/></Relationships>
</file>

<file path=ppt/charts/_rels/chart146.xml.rels><?xml version='1.0' encoding='UTF-8' standalone='yes'?>
<Relationships xmlns="http://schemas.openxmlformats.org/package/2006/relationships"><Relationship Id="rId2" Type="http://schemas.openxmlformats.org/officeDocument/2006/relationships/image" Target="../media/image637.png"/><Relationship Id="rId3" Type="http://schemas.openxmlformats.org/officeDocument/2006/relationships/image" Target="../media/image638.png"/><Relationship Id="rId4" Type="http://schemas.openxmlformats.org/officeDocument/2006/relationships/image" Target="../media/image639.png"/><Relationship Id="rId5" Type="http://schemas.openxmlformats.org/officeDocument/2006/relationships/image" Target="../media/image640.png"/></Relationships>
</file>

<file path=ppt/charts/_rels/chart147.xml.rels><?xml version='1.0' encoding='UTF-8' standalone='yes'?>
<Relationships xmlns="http://schemas.openxmlformats.org/package/2006/relationships"><Relationship Id="rId2" Type="http://schemas.openxmlformats.org/officeDocument/2006/relationships/image" Target="../media/image641.png"/><Relationship Id="rId3" Type="http://schemas.openxmlformats.org/officeDocument/2006/relationships/image" Target="../media/image642.png"/><Relationship Id="rId4" Type="http://schemas.openxmlformats.org/officeDocument/2006/relationships/image" Target="../media/image643.png"/><Relationship Id="rId5" Type="http://schemas.openxmlformats.org/officeDocument/2006/relationships/image" Target="../media/image644.png"/><Relationship Id="rId6" Type="http://schemas.openxmlformats.org/officeDocument/2006/relationships/image" Target="../media/image645.png"/></Relationships>
</file>

<file path=ppt/charts/_rels/chart148.xml.rels><?xml version='1.0' encoding='UTF-8' standalone='yes'?>
<Relationships xmlns="http://schemas.openxmlformats.org/package/2006/relationships"><Relationship Id="rId2" Type="http://schemas.openxmlformats.org/officeDocument/2006/relationships/image" Target="../media/image646.png"/><Relationship Id="rId3" Type="http://schemas.openxmlformats.org/officeDocument/2006/relationships/image" Target="../media/image647.png"/><Relationship Id="rId4" Type="http://schemas.openxmlformats.org/officeDocument/2006/relationships/image" Target="../media/image648.png"/><Relationship Id="rId5" Type="http://schemas.openxmlformats.org/officeDocument/2006/relationships/image" Target="../media/image649.png"/></Relationships>
</file>

<file path=ppt/charts/_rels/chart149.xml.rels><?xml version='1.0' encoding='UTF-8' standalone='yes'?>
<Relationships xmlns="http://schemas.openxmlformats.org/package/2006/relationships"><Relationship Id="rId2" Type="http://schemas.openxmlformats.org/officeDocument/2006/relationships/image" Target="../media/image650.png"/><Relationship Id="rId3" Type="http://schemas.openxmlformats.org/officeDocument/2006/relationships/image" Target="../media/image651.png"/><Relationship Id="rId4" Type="http://schemas.openxmlformats.org/officeDocument/2006/relationships/image" Target="../media/image652.png"/><Relationship Id="rId5" Type="http://schemas.openxmlformats.org/officeDocument/2006/relationships/image" Target="../media/image653.png"/><Relationship Id="rId6" Type="http://schemas.openxmlformats.org/officeDocument/2006/relationships/image" Target="../media/image654.png"/><Relationship Id="rId7" Type="http://schemas.openxmlformats.org/officeDocument/2006/relationships/image" Target="../media/image655.png"/><Relationship Id="rId8" Type="http://schemas.openxmlformats.org/officeDocument/2006/relationships/image" Target="../media/image656.png"/><Relationship Id="rId9" Type="http://schemas.openxmlformats.org/officeDocument/2006/relationships/image" Target="../media/image657.png"/><Relationship Id="rId10" Type="http://schemas.openxmlformats.org/officeDocument/2006/relationships/image" Target="../media/image658.png"/><Relationship Id="rId11" Type="http://schemas.openxmlformats.org/officeDocument/2006/relationships/image" Target="../media/image659.png"/></Relationships>
</file>

<file path=ppt/charts/_rels/chart150.xml.rels><?xml version='1.0' encoding='UTF-8' standalone='yes'?>
<Relationships xmlns="http://schemas.openxmlformats.org/package/2006/relationships"><Relationship Id="rId2" Type="http://schemas.openxmlformats.org/officeDocument/2006/relationships/image" Target="../media/image660.png"/><Relationship Id="rId3" Type="http://schemas.openxmlformats.org/officeDocument/2006/relationships/image" Target="../media/image661.png"/><Relationship Id="rId4" Type="http://schemas.openxmlformats.org/officeDocument/2006/relationships/image" Target="../media/image662.png"/><Relationship Id="rId5" Type="http://schemas.openxmlformats.org/officeDocument/2006/relationships/image" Target="../media/image663.png"/></Relationships>
</file>

<file path=ppt/charts/_rels/chart151.xml.rels><?xml version='1.0' encoding='UTF-8' standalone='yes'?>
<Relationships xmlns="http://schemas.openxmlformats.org/package/2006/relationships"><Relationship Id="rId2" Type="http://schemas.openxmlformats.org/officeDocument/2006/relationships/image" Target="../media/image664.png"/><Relationship Id="rId3" Type="http://schemas.openxmlformats.org/officeDocument/2006/relationships/image" Target="../media/image665.png"/><Relationship Id="rId4" Type="http://schemas.openxmlformats.org/officeDocument/2006/relationships/image" Target="../media/image666.png"/><Relationship Id="rId5" Type="http://schemas.openxmlformats.org/officeDocument/2006/relationships/image" Target="../media/image667.png"/><Relationship Id="rId6" Type="http://schemas.openxmlformats.org/officeDocument/2006/relationships/image" Target="../media/image668.png"/></Relationships>
</file>

<file path=ppt/charts/_rels/chart152.xml.rels><?xml version='1.0' encoding='UTF-8' standalone='yes'?>
<Relationships xmlns="http://schemas.openxmlformats.org/package/2006/relationships"><Relationship Id="rId2" Type="http://schemas.openxmlformats.org/officeDocument/2006/relationships/image" Target="../media/image669.png"/><Relationship Id="rId3" Type="http://schemas.openxmlformats.org/officeDocument/2006/relationships/image" Target="../media/image670.png"/><Relationship Id="rId4" Type="http://schemas.openxmlformats.org/officeDocument/2006/relationships/image" Target="../media/image671.png"/><Relationship Id="rId5" Type="http://schemas.openxmlformats.org/officeDocument/2006/relationships/image" Target="../media/image672.png"/></Relationships>
</file>

<file path=ppt/charts/_rels/chart153.xml.rels><?xml version='1.0' encoding='UTF-8' standalone='yes'?>
<Relationships xmlns="http://schemas.openxmlformats.org/package/2006/relationships"><Relationship Id="rId2" Type="http://schemas.openxmlformats.org/officeDocument/2006/relationships/image" Target="../media/image673.png"/><Relationship Id="rId3" Type="http://schemas.openxmlformats.org/officeDocument/2006/relationships/image" Target="../media/image674.png"/><Relationship Id="rId4" Type="http://schemas.openxmlformats.org/officeDocument/2006/relationships/image" Target="../media/image675.png"/><Relationship Id="rId5" Type="http://schemas.openxmlformats.org/officeDocument/2006/relationships/image" Target="../media/image676.png"/><Relationship Id="rId6" Type="http://schemas.openxmlformats.org/officeDocument/2006/relationships/image" Target="../media/image677.png"/><Relationship Id="rId7" Type="http://schemas.openxmlformats.org/officeDocument/2006/relationships/image" Target="../media/image678.png"/><Relationship Id="rId8" Type="http://schemas.openxmlformats.org/officeDocument/2006/relationships/image" Target="../media/image679.png"/><Relationship Id="rId9" Type="http://schemas.openxmlformats.org/officeDocument/2006/relationships/image" Target="../media/image680.png"/><Relationship Id="rId10" Type="http://schemas.openxmlformats.org/officeDocument/2006/relationships/image" Target="../media/image681.png"/><Relationship Id="rId11" Type="http://schemas.openxmlformats.org/officeDocument/2006/relationships/image" Target="../media/image682.png"/></Relationships>
</file>

<file path=ppt/charts/_rels/chart154.xml.rels><?xml version='1.0' encoding='UTF-8' standalone='yes'?>
<Relationships xmlns="http://schemas.openxmlformats.org/package/2006/relationships"><Relationship Id="rId2" Type="http://schemas.openxmlformats.org/officeDocument/2006/relationships/image" Target="../media/image683.png"/><Relationship Id="rId3" Type="http://schemas.openxmlformats.org/officeDocument/2006/relationships/image" Target="../media/image684.png"/><Relationship Id="rId4" Type="http://schemas.openxmlformats.org/officeDocument/2006/relationships/image" Target="../media/image685.png"/><Relationship Id="rId5" Type="http://schemas.openxmlformats.org/officeDocument/2006/relationships/image" Target="../media/image686.png"/></Relationships>
</file>

<file path=ppt/charts/_rels/chart155.xml.rels><?xml version='1.0' encoding='UTF-8' standalone='yes'?>
<Relationships xmlns="http://schemas.openxmlformats.org/package/2006/relationships"><Relationship Id="rId2" Type="http://schemas.openxmlformats.org/officeDocument/2006/relationships/image" Target="../media/image687.png"/><Relationship Id="rId3" Type="http://schemas.openxmlformats.org/officeDocument/2006/relationships/image" Target="../media/image688.png"/><Relationship Id="rId4" Type="http://schemas.openxmlformats.org/officeDocument/2006/relationships/image" Target="../media/image689.png"/><Relationship Id="rId5" Type="http://schemas.openxmlformats.org/officeDocument/2006/relationships/image" Target="../media/image690.png"/><Relationship Id="rId6" Type="http://schemas.openxmlformats.org/officeDocument/2006/relationships/image" Target="../media/image691.png"/></Relationships>
</file>

<file path=ppt/charts/_rels/chart156.xml.rels><?xml version='1.0' encoding='UTF-8' standalone='yes'?>
<Relationships xmlns="http://schemas.openxmlformats.org/package/2006/relationships"><Relationship Id="rId2" Type="http://schemas.openxmlformats.org/officeDocument/2006/relationships/image" Target="../media/image692.png"/><Relationship Id="rId3" Type="http://schemas.openxmlformats.org/officeDocument/2006/relationships/image" Target="../media/image693.png"/><Relationship Id="rId4" Type="http://schemas.openxmlformats.org/officeDocument/2006/relationships/image" Target="../media/image694.png"/><Relationship Id="rId5" Type="http://schemas.openxmlformats.org/officeDocument/2006/relationships/image" Target="../media/image695.png"/></Relationships>
</file>

<file path=ppt/charts/_rels/chart157.xml.rels><?xml version='1.0' encoding='UTF-8' standalone='yes'?>
<Relationships xmlns="http://schemas.openxmlformats.org/package/2006/relationships"><Relationship Id="rId2" Type="http://schemas.openxmlformats.org/officeDocument/2006/relationships/image" Target="../media/image696.png"/><Relationship Id="rId3" Type="http://schemas.openxmlformats.org/officeDocument/2006/relationships/image" Target="../media/image697.png"/><Relationship Id="rId4" Type="http://schemas.openxmlformats.org/officeDocument/2006/relationships/image" Target="../media/image698.png"/><Relationship Id="rId5" Type="http://schemas.openxmlformats.org/officeDocument/2006/relationships/image" Target="../media/image699.png"/><Relationship Id="rId6" Type="http://schemas.openxmlformats.org/officeDocument/2006/relationships/image" Target="../media/image700.png"/><Relationship Id="rId7" Type="http://schemas.openxmlformats.org/officeDocument/2006/relationships/image" Target="../media/image701.png"/><Relationship Id="rId8" Type="http://schemas.openxmlformats.org/officeDocument/2006/relationships/image" Target="../media/image702.png"/><Relationship Id="rId9" Type="http://schemas.openxmlformats.org/officeDocument/2006/relationships/image" Target="../media/image703.png"/><Relationship Id="rId10" Type="http://schemas.openxmlformats.org/officeDocument/2006/relationships/image" Target="../media/image704.png"/><Relationship Id="rId11" Type="http://schemas.openxmlformats.org/officeDocument/2006/relationships/image" Target="../media/image705.png"/></Relationships>
</file>

<file path=ppt/charts/chart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03E58"/>
            </a:solidFill>
            <a:ln>
              <a:noFill/>
            </a:ln>
          </c:spPr>
          <c:dLbls>
            <c:dLbl>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3"/>
                <c:pt idx="0">
                  <c:v>2021–2026</c:v>
                </c:pt>
                <c:pt idx="1">
                  <c:v>2026–2036</c:v>
                </c:pt>
                <c:pt idx="2">
                  <c:v>2021–2036</c:v>
                </c:pt>
              </c:strCache>
            </c:strRef>
          </c:cat>
          <c:val>
            <c:numRef>
              <c:numCache>
                <c:formatCode>General</c:formatCode>
                <c:ptCount val="3"/>
                <c:pt idx="0">
                  <c:v>3.3802379260237547</c:v>
                </c:pt>
                <c:pt idx="1">
                  <c:v>3.7769686344917064</c:v>
                </c:pt>
                <c:pt idx="2">
                  <c:v>3.6445561874627996</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4.985598597529052"/>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2021</c:v>
                </c:pt>
                <c:pt idx="1">
                  <c:v>2021–2026</c:v>
                </c:pt>
                <c:pt idx="2">
                  <c:v>2026</c:v>
                </c:pt>
                <c:pt idx="3">
                  <c:v>2026–2036</c:v>
                </c:pt>
                <c:pt idx="4">
                  <c:v>2036</c:v>
                </c:pt>
              </c:strCache>
            </c:strRef>
          </c:cat>
          <c:val>
            <c:numRef>
              <c:numCache>
                <c:formatCode>General</c:formatCode>
                <c:ptCount val="5"/>
                <c:pt idx="0">
                  <c:v>0.0</c:v>
                </c:pt>
                <c:pt idx="1">
                  <c:v>2977776.5700000003</c:v>
                </c:pt>
                <c:pt idx="2">
                  <c:v>0.0</c:v>
                </c:pt>
                <c:pt idx="3">
                  <c:v>3516250.0</c:v>
                </c:pt>
                <c:pt idx="4">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0,,&quot;M&quot;"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2021</c:v>
                </c:pt>
                <c:pt idx="1">
                  <c:v>2021–2026</c:v>
                </c:pt>
                <c:pt idx="2">
                  <c:v>2026</c:v>
                </c:pt>
                <c:pt idx="3">
                  <c:v>2026–2036</c:v>
                </c:pt>
                <c:pt idx="4">
                  <c:v>2036</c:v>
                </c:pt>
              </c:strCache>
            </c:strRef>
          </c:cat>
          <c:val>
            <c:numRef>
              <c:numCache>
                <c:formatCode>General</c:formatCode>
                <c:ptCount val="5"/>
                <c:pt idx="0">
                  <c:v>2977776.5700000003</c:v>
                </c:pt>
                <c:pt idx="1">
                  <c:v>538473.4299999997</c:v>
                </c:pt>
                <c:pt idx="2">
                  <c:v>3516250.0</c:v>
                </c:pt>
                <c:pt idx="3">
                  <c:v>1578109.0589999994</c:v>
                </c:pt>
                <c:pt idx="4">
                  <c:v>5094359.058999999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quot;M&quot;"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03E58"/>
            </a:solidFill>
            <a:ln>
              <a:noFill/>
            </a:ln>
          </c:spPr>
          <c:dLbls>
            <c:dLbl>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3"/>
                <c:pt idx="0">
                  <c:v>2021–2026</c:v>
                </c:pt>
                <c:pt idx="1">
                  <c:v>2026–2036</c:v>
                </c:pt>
                <c:pt idx="2">
                  <c:v>2021–2036</c:v>
                </c:pt>
              </c:strCache>
            </c:strRef>
          </c:cat>
          <c:val>
            <c:numRef>
              <c:numCache>
                <c:formatCode>General</c:formatCode>
                <c:ptCount val="3"/>
                <c:pt idx="0">
                  <c:v>3.9991764270067787</c:v>
                </c:pt>
                <c:pt idx="1">
                  <c:v>4.400292708053355</c:v>
                </c:pt>
                <c:pt idx="2">
                  <c:v>4.26641567809003</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5.8083863746304285"/>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2021</c:v>
                </c:pt>
                <c:pt idx="1">
                  <c:v>2021–2026</c:v>
                </c:pt>
                <c:pt idx="2">
                  <c:v>2026</c:v>
                </c:pt>
                <c:pt idx="3">
                  <c:v>2026–2036</c:v>
                </c:pt>
                <c:pt idx="4">
                  <c:v>2036</c:v>
                </c:pt>
              </c:strCache>
            </c:strRef>
          </c:cat>
          <c:val>
            <c:numRef>
              <c:numCache>
                <c:formatCode>General</c:formatCode>
                <c:ptCount val="5"/>
                <c:pt idx="0">
                  <c:v>0.0</c:v>
                </c:pt>
                <c:pt idx="1">
                  <c:v>924.8689999999999</c:v>
                </c:pt>
                <c:pt idx="2">
                  <c:v>0.0</c:v>
                </c:pt>
                <c:pt idx="3">
                  <c:v>1125.2</c:v>
                </c:pt>
                <c:pt idx="4">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2021</c:v>
                </c:pt>
                <c:pt idx="1">
                  <c:v>2021–2026</c:v>
                </c:pt>
                <c:pt idx="2">
                  <c:v>2026</c:v>
                </c:pt>
                <c:pt idx="3">
                  <c:v>2026–2036</c:v>
                </c:pt>
                <c:pt idx="4">
                  <c:v>2036</c:v>
                </c:pt>
              </c:strCache>
            </c:strRef>
          </c:cat>
          <c:val>
            <c:numRef>
              <c:numCache>
                <c:formatCode>General</c:formatCode>
                <c:ptCount val="5"/>
                <c:pt idx="0">
                  <c:v>924.8689999999999</c:v>
                </c:pt>
                <c:pt idx="1">
                  <c:v>200.33100000000013</c:v>
                </c:pt>
                <c:pt idx="2">
                  <c:v>1125.2</c:v>
                </c:pt>
                <c:pt idx="3">
                  <c:v>605.6000000000001</c:v>
                </c:pt>
                <c:pt idx="4">
                  <c:v>1730.8000000000002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Value (US$ Mn)</c:v>
                </c:pt>
              </c:strCache>
            </c:strRef>
          </c:tx>
          <c:spPr>
            <a:solidFill>
              <a:srgbClr val="69B1E0"/>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quot;;&quot;MMMMMMM&quot;;&quot;MM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quot;;&quot;MMMMMMM&quot;;&quot;MM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strCache>
                <c:ptCount val="5"/>
                <c:pt idx="0">
                  <c:v>2021</c:v>
                </c:pt>
                <c:pt idx="1">
                  <c:v>2022</c:v>
                </c:pt>
                <c:pt idx="2">
                  <c:v>2023</c:v>
                </c:pt>
                <c:pt idx="3">
                  <c:v>2024</c:v>
                </c:pt>
                <c:pt idx="4">
                  <c:v>2025</c:v>
                </c:pt>
              </c:strCache>
            </c:strRef>
          </c:cat>
          <c:val>
            <c:numRef>
              <c:numCache>
                <c:formatCode>General</c:formatCode>
                <c:ptCount val="5"/>
                <c:pt idx="0">
                  <c:v>924.8689999999999</c:v>
                </c:pt>
                <c:pt idx="1">
                  <c:v>958.164</c:v>
                </c:pt>
                <c:pt idx="2">
                  <c:v>994.5740000000001</c:v>
                </c:pt>
                <c:pt idx="3">
                  <c:v>1034.357</c:v>
                </c:pt>
                <c:pt idx="4">
                  <c:v>1077.8</c:v>
                </c:pt>
              </c:numCache>
            </c:numRef>
          </c:val>
        </c:ser>
        <c:gapWidth val="50"/>
        <c:axId val="-2068027336"/>
        <c:axId val="-2113994440"/>
      </c:barChart>
      <c:barChart>
        <c:barDir val="col"/>
        <c:grouping val="clustered"/>
        <c:varyColors val="0"/>
        <c:ser>
          <c:idx val="1"/>
          <c:order val="1"/>
          <c:tx>
            <c:strRef>
              <c:strCache>
                <c:ptCount val="1"/>
                <c:pt idx="0">
                  <c:v>Volume (Units)</c:v>
                </c:pt>
              </c:strCache>
            </c:strRef>
          </c:tx>
          <c:spPr>
            <a:solidFill>
              <a:srgbClr val="C55A11"/>
            </a:solidFill>
            <a:ln>
              <a:noFill/>
            </a:ln>
          </c:spPr>
          <c:dLbls>
            <c:dLbl>
              <c:idx val="0"/>
              <c:numFmt formatCode="&quot;MMMMMMMMMMM&quot;;&quot;MMMMMMMMMMM&quot;;&quot;MMMMMM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MMMM&quot;;&quot;MMMMMMMMMMM&quot;;&quot;MMMMMM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MMMM&quot;;&quot;MMMMMMMMMMM&quot;;&quot;MMMMMM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MMMM&quot;;&quot;MMMMMMMMMMM&quot;;&quot;MMMMMM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MMMM&quot;;&quot;MMMMMMMMMMM&quot;;&quot;MMMMMM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M&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5"/>
                <c:pt idx="0">
                  <c:v>2021</c:v>
                </c:pt>
                <c:pt idx="1">
                  <c:v>2022</c:v>
                </c:pt>
                <c:pt idx="2">
                  <c:v>2023</c:v>
                </c:pt>
                <c:pt idx="3">
                  <c:v>2024</c:v>
                </c:pt>
                <c:pt idx="4">
                  <c:v>2025</c:v>
                </c:pt>
              </c:strCache>
            </c:strRef>
          </c:cat>
          <c:val>
            <c:numRef>
              <c:numCache>
                <c:formatCode>General</c:formatCode>
                <c:ptCount val="5"/>
                <c:pt idx="0">
                  <c:v>2977776.5700000003</c:v>
                </c:pt>
                <c:pt idx="1">
                  <c:v>3066615.586</c:v>
                </c:pt>
                <c:pt idx="2">
                  <c:v>3164216.727</c:v>
                </c:pt>
                <c:pt idx="3">
                  <c:v>3271188.052</c:v>
                </c:pt>
                <c:pt idx="4">
                  <c:v>3388301.8630000004</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1272"/>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4653175"/>
          <c:min val="0"/>
        </c:scaling>
        <c:delete val="0"/>
        <c:axPos val="r"/>
        <c:numFmt formatCode="#,##0,,&quot;M&quot;"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Value (US$ Mn)</c:v>
                </c:pt>
              </c:strCache>
            </c:strRef>
          </c:tx>
          <c:spPr>
            <a:solidFill>
              <a:srgbClr val="69B1E0"/>
            </a:solidFill>
            <a:ln>
              <a:noFill/>
            </a:ln>
          </c:spPr>
          <c:dLbls>
            <c:dLbl>
              <c:idx val="0"/>
              <c:numFmt formatCode="&quot;MMMMMMM&quot;;&quot;MMMMMMM&quot;;&quot;MM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quot;;&quot;MMMMMMM&quot;;&quot;MM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quot;;&quot;MMMMMMM&quot;;&quot;MM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quot;;&quot;MMMMMMM&quot;;&quot;MM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quot;;&quot;MMMMMMM&quot;;&quot;MM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MM&quot;;&quot;MMMMMMM&quot;;&quot;MM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MM&quot;;&quot;MMMMMMM&quot;;&quot;MM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MM&quot;;&quot;MMMMMMM&quot;;&quot;MM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MM&quot;;&quot;MMMMMMM&quot;;&quot;MM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MM&quot;;&quot;MMMMMMM&quot;;&quot;MM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MM&quot;;&quot;MMMMMMM&quot;;&quot;MMM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1125.2</c:v>
                </c:pt>
                <c:pt idx="1">
                  <c:v>1174.712</c:v>
                </c:pt>
                <c:pt idx="2">
                  <c:v>1226.403</c:v>
                </c:pt>
                <c:pt idx="3">
                  <c:v>1280.368</c:v>
                </c:pt>
                <c:pt idx="4">
                  <c:v>1336.708</c:v>
                </c:pt>
                <c:pt idx="5">
                  <c:v>1395.527</c:v>
                </c:pt>
                <c:pt idx="6">
                  <c:v>1456.9340000000002</c:v>
                </c:pt>
                <c:pt idx="7">
                  <c:v>1521.0439999999999</c:v>
                </c:pt>
                <c:pt idx="8">
                  <c:v>1587.974</c:v>
                </c:pt>
                <c:pt idx="9">
                  <c:v>1657.85</c:v>
                </c:pt>
                <c:pt idx="10">
                  <c:v>1730.8000000000002</c:v>
                </c:pt>
              </c:numCache>
            </c:numRef>
          </c:val>
        </c:ser>
        <c:gapWidth val="50"/>
        <c:axId val="-2068027336"/>
        <c:axId val="-2113994440"/>
      </c:barChart>
      <c:barChart>
        <c:barDir val="col"/>
        <c:grouping val="clustered"/>
        <c:varyColors val="0"/>
        <c:ser>
          <c:idx val="1"/>
          <c:order val="1"/>
          <c:tx>
            <c:strRef>
              <c:strCache>
                <c:ptCount val="1"/>
                <c:pt idx="0">
                  <c:v>Volume (Units)</c:v>
                </c:pt>
              </c:strCache>
            </c:strRef>
          </c:tx>
          <c:spPr>
            <a:solidFill>
              <a:srgbClr val="C55A11"/>
            </a:solidFill>
            <a:ln>
              <a:noFill/>
            </a:ln>
          </c:spPr>
          <c:dLbls>
            <c:dLbl>
              <c:idx val="0"/>
              <c:numFmt formatCode="&quot;MMMMMMMMMMM&quot;;&quot;MMMMMMMMMMM&quot;;&quot;MMMMMMM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MMMM&quot;;&quot;MMMMMMMMMMM&quot;;&quot;MMMMMMMM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MMMM&quot;;&quot;MMMMMMMMMMM&quot;;&quot;MMMMMMMM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MMMM&quot;;&quot;MMMMMMMMMMM&quot;;&quot;MMMMMMMM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MMMM&quot;;&quot;MMMMMMMMMMM&quot;;&quot;MMMMMMMM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MMMMMM&quot;;&quot;MMMMMMMMMMM&quot;;&quot;MMMMMMMM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MMMMMM&quot;;&quot;MMMMMMMMMMM&quot;;&quot;MMMMMMMM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MMMMMM&quot;;&quot;MMMMMMMMMMM&quot;;&quot;MMMMMMMMMMM&quot;" sourceLinked="0"/>
              <c:spPr>
                <a:blipFill>
                  <a:blip r:embed="rId2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MMMMMM&quot;;&quot;MMMMMMMMMMM&quot;;&quot;MMMMMMMMMMM&quot;" sourceLinked="0"/>
              <c:spPr>
                <a:blipFill>
                  <a:blip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MMMMMM&quot;;&quot;MMMMMMMMMMM&quot;;&quot;MMMMMMMMMMM&quot;" sourceLinked="0"/>
              <c:spPr>
                <a:blipFill>
                  <a:blip r:embed="rId2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MMMMMM&quot;;&quot;MMMMMMMMMMM&quot;;&quot;MMMMMMMMMMM&quot;" sourceLinked="0"/>
              <c:spPr>
                <a:blipFill>
                  <a:blip r:embed="rId2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M&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3516250.0</c:v>
                </c:pt>
                <c:pt idx="1">
                  <c:v>3649090.3600000003</c:v>
                </c:pt>
                <c:pt idx="2">
                  <c:v>3786940.522</c:v>
                </c:pt>
                <c:pt idx="3">
                  <c:v>3929995.289</c:v>
                </c:pt>
                <c:pt idx="4">
                  <c:v>4078445.036</c:v>
                </c:pt>
                <c:pt idx="5">
                  <c:v>4232483.306</c:v>
                </c:pt>
                <c:pt idx="6">
                  <c:v>4392352.176999999</c:v>
                </c:pt>
                <c:pt idx="7">
                  <c:v>4558219.942</c:v>
                </c:pt>
                <c:pt idx="8">
                  <c:v>4730360.94</c:v>
                </c:pt>
                <c:pt idx="9">
                  <c:v>4908999.592</c:v>
                </c:pt>
                <c:pt idx="10">
                  <c:v>5094359.058999999</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2042"/>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7252642"/>
          <c:min val="0"/>
        </c:scaling>
        <c:delete val="0"/>
        <c:axPos val="r"/>
        <c:numFmt formatCode="#,##0,,&quot;M&quot;"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Index</c:v>
                </c:pt>
              </c:strCache>
            </c:strRef>
          </c:tx>
          <c:spPr>
            <a:solidFill>
              <a:srgbClr val="0E72AE"/>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quot;;&quot;MMMMM&quot;;&quot;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quot;;&quot;MMMMM&quot;;&quot;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quot;;&quot;MMMMM&quot;;&quot;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quot;;&quot;MMMMM&quot;;&quot;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quot;;&quot;MMMMM&quot;;&quot;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10"/>
                <c:pt idx="0">
                  <c:v>Mexico</c:v>
                </c:pt>
                <c:pt idx="1">
                  <c:v>China</c:v>
                </c:pt>
                <c:pt idx="2">
                  <c:v>Malaysia</c:v>
                </c:pt>
                <c:pt idx="3">
                  <c:v>Spain</c:v>
                </c:pt>
                <c:pt idx="4">
                  <c:v>Thailand</c:v>
                </c:pt>
                <c:pt idx="5">
                  <c:v>Brazil</c:v>
                </c:pt>
                <c:pt idx="6">
                  <c:v>France</c:v>
                </c:pt>
                <c:pt idx="7">
                  <c:v>Netherlands</c:v>
                </c:pt>
                <c:pt idx="8">
                  <c:v>Germany</c:v>
                </c:pt>
                <c:pt idx="9">
                  <c:v>India</c:v>
                </c:pt>
              </c:strCache>
            </c:strRef>
          </c:cat>
          <c:val>
            <c:numRef>
              <c:numCache>
                <c:formatCode>General</c:formatCode>
                <c:ptCount val="10"/>
                <c:pt idx="0">
                  <c:v>102.1157429214519</c:v>
                </c:pt>
                <c:pt idx="1">
                  <c:v>102.61245026470091</c:v>
                </c:pt>
                <c:pt idx="2">
                  <c:v>107.52830750822118</c:v>
                </c:pt>
                <c:pt idx="3">
                  <c:v>117.05697538804678</c:v>
                </c:pt>
                <c:pt idx="4">
                  <c:v>121.1689882252827</c:v>
                </c:pt>
                <c:pt idx="5">
                  <c:v>121.76545665264453</c:v>
                </c:pt>
                <c:pt idx="6">
                  <c:v>126.74195903623655</c:v>
                </c:pt>
                <c:pt idx="7">
                  <c:v>132.07554966301777</c:v>
                </c:pt>
                <c:pt idx="8">
                  <c:v>135.85362756734023</c:v>
                </c:pt>
                <c:pt idx="9">
                  <c:v>140.790540599514</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Index</c:v>
                </c:pt>
              </c:strCache>
            </c:strRef>
          </c:tx>
          <c:spPr>
            <a:solidFill>
              <a:srgbClr val="0E72AE"/>
            </a:solidFill>
            <a:ln>
              <a:noFill/>
            </a:ln>
          </c:spPr>
          <c:dLbls>
            <c:dLbl>
              <c:idx val="0"/>
              <c:numFmt formatCode="&quot;MMM&quot;;&quot;MMM&quot;;&quot;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10"/>
                <c:pt idx="0">
                  <c:v>Thailand</c:v>
                </c:pt>
                <c:pt idx="1">
                  <c:v>Japan</c:v>
                </c:pt>
                <c:pt idx="2">
                  <c:v>U.K.</c:v>
                </c:pt>
                <c:pt idx="3">
                  <c:v>France</c:v>
                </c:pt>
                <c:pt idx="4">
                  <c:v>Brazil</c:v>
                </c:pt>
                <c:pt idx="5">
                  <c:v>India</c:v>
                </c:pt>
                <c:pt idx="6">
                  <c:v>China</c:v>
                </c:pt>
                <c:pt idx="7">
                  <c:v>Canada</c:v>
                </c:pt>
                <c:pt idx="8">
                  <c:v>Germany</c:v>
                </c:pt>
                <c:pt idx="9">
                  <c:v>U.S.</c:v>
                </c:pt>
              </c:strCache>
            </c:strRef>
          </c:cat>
          <c:val>
            <c:numRef>
              <c:numCache>
                <c:formatCode>General</c:formatCode>
                <c:ptCount val="10"/>
                <c:pt idx="0">
                  <c:v>2.778401585204755</c:v>
                </c:pt>
                <c:pt idx="1">
                  <c:v>3.039960369881108</c:v>
                </c:pt>
                <c:pt idx="2">
                  <c:v>3.2810435931307795</c:v>
                </c:pt>
                <c:pt idx="3">
                  <c:v>3.8352047556142668</c:v>
                </c:pt>
                <c:pt idx="4">
                  <c:v>5.5209709379128125</c:v>
                </c:pt>
                <c:pt idx="5">
                  <c:v>7.460039630118888</c:v>
                </c:pt>
                <c:pt idx="6">
                  <c:v>7.737285336856006</c:v>
                </c:pt>
                <c:pt idx="7">
                  <c:v>9.13375165125495</c:v>
                </c:pt>
                <c:pt idx="8">
                  <c:v>14.818031704095109</c:v>
                </c:pt>
                <c:pt idx="9">
                  <c:v>16.062582562747682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431.107</c:v>
                </c:pt>
                <c:pt idx="1">
                  <c:v>302.657</c:v>
                </c:pt>
                <c:pt idx="2">
                  <c:v>529.801</c:v>
                </c:pt>
                <c:pt idx="3">
                  <c:v>467.235</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0.xml><?xml version="1.0" encoding="utf-8"?>
<c:chartSpace xmlns:c="http://schemas.openxmlformats.org/drawingml/2006/chart" xmlns:a="http://schemas.openxmlformats.org/drawingml/2006/main" xmlns:r="http://schemas.openxmlformats.org/officeDocument/2006/relationships">
  <c:date1904 val="0"/>
  <c:chart>
    <c:autoTitleDeleted val="1"/>
    <c:plotArea>
      <c:lineChart>
        <c:grouping val="standard"/>
        <c:varyColors val="0"/>
        <c:ser>
          <c:idx val="0"/>
          <c:order val="0"/>
          <c:tx>
            <c:strRef>
              <c:strCache>
                <c:ptCount val="1"/>
                <c:pt idx="0">
                  <c:v>Optimistic Scenario</c:v>
                </c:pt>
              </c:strCache>
            </c:strRef>
          </c:tx>
          <c:spPr>
            <a:ln w="28575">
              <a:solidFill>
                <a:srgbClr val="2E5F8A"/>
              </a:solidFill>
            </a:ln>
          </c:spPr>
          <c:marker>
            <c:symbol val="circle"/>
            <c:size val="6"/>
            <c:spPr>
              <a:solidFill>
                <a:srgbClr val="2E5F8A"/>
              </a:solidFill>
              <a:ln>
                <a:solidFill>
                  <a:srgbClr val="2E5F8A"/>
                </a:solidFill>
              </a:ln>
            </c:spPr>
          </c:marker>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0.05581631449339353</c:v>
                </c:pt>
                <c:pt idx="1">
                  <c:v>0.05630855974502243</c:v>
                </c:pt>
                <c:pt idx="2">
                  <c:v>0.057970896168556066</c:v>
                </c:pt>
                <c:pt idx="3">
                  <c:v>0.05916519612332781</c:v>
                </c:pt>
                <c:pt idx="4">
                  <c:v>0.05822105359151502</c:v>
                </c:pt>
                <c:pt idx="5">
                  <c:v>0.05672010905376134</c:v>
                </c:pt>
                <c:pt idx="6">
                  <c:v>0.054581666567176806</c:v>
                </c:pt>
                <c:pt idx="7">
                  <c:v>0.053113000406579125</c:v>
                </c:pt>
                <c:pt idx="8">
                  <c:v>0.05211237071474334</c:v>
                </c:pt>
                <c:pt idx="9">
                  <c:v>0.05099069710857258</c:v>
                </c:pt>
                <c:pt idx="10">
                  <c:v>0.050054624171048785</c:v>
                </c:pt>
              </c:numCache>
            </c:numRef>
          </c:val>
          <c:smooth val="0"/>
        </c:ser>
        <c:ser>
          <c:idx val="1"/>
          <c:order val="1"/>
          <c:tx>
            <c:strRef>
              <c:strCache>
                <c:ptCount val="1"/>
                <c:pt idx="0">
                  <c:v>Likely Scenario</c:v>
                </c:pt>
              </c:strCache>
            </c:strRef>
          </c:tx>
          <c:spPr>
            <a:ln w="28575">
              <a:solidFill>
                <a:srgbClr val="8B1A1A"/>
              </a:solidFill>
            </a:ln>
          </c:spPr>
          <c:marker>
            <c:symbol val="circle"/>
            <c:size val="6"/>
            <c:spPr>
              <a:solidFill>
                <a:srgbClr val="8B1A1A"/>
              </a:solidFill>
              <a:ln>
                <a:solidFill>
                  <a:srgbClr val="8B1A1A"/>
                </a:solidFill>
              </a:ln>
            </c:spPr>
          </c:marker>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0.039053877112995024</c:v>
                </c:pt>
                <c:pt idx="1">
                  <c:v>0.039851732384235464</c:v>
                </c:pt>
                <c:pt idx="2">
                  <c:v>0.04144744292671636</c:v>
                </c:pt>
                <c:pt idx="3">
                  <c:v>0.04264422583357702</c:v>
                </c:pt>
                <c:pt idx="4">
                  <c:v>0.0440404725582478</c:v>
                </c:pt>
                <c:pt idx="5">
                  <c:v>0.04543671928291857</c:v>
                </c:pt>
                <c:pt idx="6">
                  <c:v>0.046633502189779234</c:v>
                </c:pt>
                <c:pt idx="7">
                  <c:v>0.04703242982539946</c:v>
                </c:pt>
                <c:pt idx="8">
                  <c:v>0.046434038371969126</c:v>
                </c:pt>
                <c:pt idx="9">
                  <c:v>0.0460351107363489</c:v>
                </c:pt>
                <c:pt idx="10">
                  <c:v>0.04543671928291857</c:v>
                </c:pt>
              </c:numCache>
            </c:numRef>
          </c:val>
          <c:smooth val="0"/>
        </c:ser>
        <c:ser>
          <c:idx val="2"/>
          <c:order val="2"/>
          <c:tx>
            <c:strRef>
              <c:strCache>
                <c:ptCount val="1"/>
                <c:pt idx="0">
                  <c:v>Conservative Scenario</c:v>
                </c:pt>
              </c:strCache>
            </c:strRef>
          </c:tx>
          <c:spPr>
            <a:ln w="28575">
              <a:solidFill>
                <a:srgbClr val="A08000"/>
              </a:solidFill>
            </a:ln>
          </c:spPr>
          <c:marker>
            <c:symbol val="circle"/>
            <c:size val="6"/>
            <c:spPr>
              <a:solidFill>
                <a:srgbClr val="A08000"/>
              </a:solidFill>
              <a:ln>
                <a:solidFill>
                  <a:srgbClr val="A08000"/>
                </a:solidFill>
              </a:ln>
            </c:spPr>
          </c:marker>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0.02845725513198149</c:v>
                </c:pt>
                <c:pt idx="1">
                  <c:v>0.029618376656434332</c:v>
                </c:pt>
                <c:pt idx="2">
                  <c:v>0.030734839660715912</c:v>
                </c:pt>
                <c:pt idx="3">
                  <c:v>0.03149403450362739</c:v>
                </c:pt>
                <c:pt idx="4">
                  <c:v>0.03227803963552289</c:v>
                </c:pt>
                <c:pt idx="5">
                  <c:v>0.03283875216656209</c:v>
                </c:pt>
                <c:pt idx="6">
                  <c:v>0.03351855408472465</c:v>
                </c:pt>
                <c:pt idx="7">
                  <c:v>0.03409911484695107</c:v>
                </c:pt>
                <c:pt idx="8">
                  <c:v>0.03516595727326458</c:v>
                </c:pt>
                <c:pt idx="9">
                  <c:v>0.036887791328756615</c:v>
                </c:pt>
                <c:pt idx="10">
                  <c:v>0.037954633755070126</c:v>
                </c:pt>
              </c:numCache>
            </c:numRef>
          </c:val>
          <c:smooth val="0"/>
        </c:ser>
        <c:marker val="1"/>
        <c:smooth val="0"/>
        <c:axId val="2118791784"/>
        <c:axId val="2140495176"/>
      </c:lineChart>
      <c:catAx>
        <c:axId val="2118791784"/>
        <c:scaling>
          <c:orientation val="minMax"/>
        </c:scaling>
        <c:delete val="0"/>
        <c:axPos val="b"/>
        <c:majorTickMark val="out"/>
        <c:minorTickMark val="none"/>
        <c:tickLblPos val="nextTo"/>
        <c:spPr>
          <a:ln>
            <a:solidFill>
              <a:srgbClr val="C6D5E1"/>
            </a:solidFill>
          </a:ln>
        </c:spPr>
        <c:txPr>
          <a:bodyPr/>
          <a:lstStyle/>
          <a:p>
            <a:pPr>
              <a:defRPr sz="1100"/>
            </a:pPr>
          </a:p>
        </c:txPr>
        <c:crossAx val="2140495176"/>
        <c:crosses val="autoZero"/>
        <c:auto val="1"/>
        <c:lblAlgn val="ctr"/>
        <c:lblOffset val="100"/>
        <c:noMultiLvlLbl val="0"/>
        <c:tickLblSkip val="1"/>
        <c:tickMarkSkip val="1"/>
      </c:catAx>
      <c:valAx>
        <c:axId val="2140495176"/>
        <c:scaling>
          <c:min val="0.0"/>
        </c:scaling>
        <c:delete val="0"/>
        <c:axPos val="l"/>
        <c:numFmt formatCode="0.00%" sourceLinked="0"/>
        <c:majorTickMark val="out"/>
        <c:minorTickMark val="none"/>
        <c:tickLblPos val="nextTo"/>
        <c:spPr>
          <a:ln>
            <a:solidFill>
              <a:srgbClr val="C6D5E1"/>
            </a:solidFill>
          </a:ln>
        </c:spPr>
        <c:txPr>
          <a:bodyPr/>
          <a:lstStyle/>
          <a:p>
            <a:pPr>
              <a:defRPr sz="1100"/>
            </a:pPr>
          </a:p>
        </c:txPr>
        <c:crossAx val="2118791784"/>
        <c:crosses val="autoZero"/>
      </c:valAx>
    </c:plotArea>
    <c:legend>
      <c:legendPos val="b"/>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Europe</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22.19425075008887</c:v>
                </c:pt>
                <c:pt idx="1">
                  <c:v>23.287123978906802</c:v>
                </c:pt>
              </c:numCache>
            </c:numRef>
          </c:val>
        </c:ser>
        <c:ser>
          <c:idx val="1"/>
          <c:order val="1"/>
          <c:tx>
            <c:strRef>
              <c:strCache>
                <c:ptCount val="1"/>
                <c:pt idx="0">
                  <c:v>North America</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24.122543391397087</c:v>
                </c:pt>
                <c:pt idx="1">
                  <c:v>21.89247450137377</c:v>
                </c:pt>
              </c:numCache>
            </c:numRef>
          </c:val>
        </c:ser>
        <c:ser>
          <c:idx val="2"/>
          <c:order val="2"/>
          <c:tx>
            <c:strRef>
              <c:strCache>
                <c:ptCount val="1"/>
                <c:pt idx="0">
                  <c:v>South Asia &amp; Pacific</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19.421104102381797</c:v>
                </c:pt>
                <c:pt idx="1">
                  <c:v>20.90140953293964</c:v>
                </c:pt>
              </c:numCache>
            </c:numRef>
          </c:val>
        </c:ser>
        <c:ser>
          <c:idx val="3"/>
          <c:order val="3"/>
          <c:tx>
            <c:strRef>
              <c:strCache>
                <c:ptCount val="1"/>
                <c:pt idx="0">
                  <c:v>East Asia</c:v>
                </c:pt>
              </c:strCache>
            </c:strRef>
          </c:tx>
          <c:spPr>
            <a:solidFill>
              <a:srgbClr val="40315E"/>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18.292995435478137</c:v>
                </c:pt>
                <c:pt idx="1">
                  <c:v>17.872069488143236</c:v>
                </c:pt>
              </c:numCache>
            </c:numRef>
          </c:val>
        </c:ser>
        <c:ser>
          <c:idx val="4"/>
          <c:order val="4"/>
          <c:tx>
            <c:strRef>
              <c:strCache>
                <c:ptCount val="1"/>
                <c:pt idx="0">
                  <c:v>Latin America</c:v>
                </c:pt>
              </c:strCache>
            </c:strRef>
          </c:tx>
          <c:spPr>
            <a:solidFill>
              <a:srgbClr val="A35313"/>
            </a:solidFill>
            <a:ln>
              <a:noFill/>
            </a:ln>
          </c:spPr>
          <c:dLbls>
            <c:dLbl>
              <c:idx val="0"/>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8.382278250977604</c:v>
                </c:pt>
                <c:pt idx="1">
                  <c:v>8.615487049830264</c:v>
                </c:pt>
              </c:numCache>
            </c:numRef>
          </c:val>
        </c:ser>
        <c:ser>
          <c:idx val="5"/>
          <c:order val="5"/>
          <c:tx>
            <c:strRef>
              <c:strCache>
                <c:ptCount val="1"/>
                <c:pt idx="0">
                  <c:v>Middle East &amp; Africa</c:v>
                </c:pt>
              </c:strCache>
            </c:strRef>
          </c:tx>
          <c:spPr>
            <a:solidFill>
              <a:srgbClr val="808080"/>
            </a:solidFill>
            <a:ln>
              <a:noFill/>
            </a:ln>
          </c:spPr>
          <c:dLbls>
            <c:dLbl>
              <c:idx val="0"/>
              <c:numFmt formatCode="&quot;MMM&quot;;&quot;MMM&quot;;&quot;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7.586828069676502</c:v>
                </c:pt>
                <c:pt idx="1">
                  <c:v>7.431435448806278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North America</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32.99999999999999</c:v>
                </c:pt>
                <c:pt idx="1">
                  <c:v>30.269528541714813</c:v>
                </c:pt>
              </c:numCache>
            </c:numRef>
          </c:val>
        </c:ser>
        <c:ser>
          <c:idx val="1"/>
          <c:order val="1"/>
          <c:tx>
            <c:strRef>
              <c:strCache>
                <c:ptCount val="1"/>
                <c:pt idx="0">
                  <c:v>Europe</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27.00008887308923</c:v>
                </c:pt>
                <c:pt idx="1">
                  <c:v>28.628553270164087</c:v>
                </c:pt>
              </c:numCache>
            </c:numRef>
          </c:val>
        </c:ser>
        <c:ser>
          <c:idx val="2"/>
          <c:order val="2"/>
          <c:tx>
            <c:strRef>
              <c:strCache>
                <c:ptCount val="1"/>
                <c:pt idx="0">
                  <c:v>South Asia &amp; Pacific</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11.99991112691077</c:v>
                </c:pt>
                <c:pt idx="1">
                  <c:v>13.060261150912872</c:v>
                </c:pt>
              </c:numCache>
            </c:numRef>
          </c:val>
        </c:ser>
        <c:ser>
          <c:idx val="3"/>
          <c:order val="3"/>
          <c:tx>
            <c:strRef>
              <c:strCache>
                <c:ptCount val="1"/>
                <c:pt idx="0">
                  <c:v>East Asia</c:v>
                </c:pt>
              </c:strCache>
            </c:strRef>
          </c:tx>
          <c:spPr>
            <a:solidFill>
              <a:srgbClr val="40315E"/>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13.0</c:v>
                </c:pt>
                <c:pt idx="1">
                  <c:v>12.798994684538942</c:v>
                </c:pt>
              </c:numCache>
            </c:numRef>
          </c:val>
        </c:ser>
        <c:ser>
          <c:idx val="4"/>
          <c:order val="4"/>
          <c:tx>
            <c:strRef>
              <c:strCache>
                <c:ptCount val="1"/>
                <c:pt idx="0">
                  <c:v>Latin America</c:v>
                </c:pt>
              </c:strCache>
            </c:strRef>
          </c:tx>
          <c:spPr>
            <a:solidFill>
              <a:srgbClr val="A35313"/>
            </a:solidFill>
            <a:ln>
              <a:noFill/>
            </a:ln>
          </c:spPr>
          <c:dLbls>
            <c:dLbl>
              <c:idx val="0"/>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8.0</c:v>
                </c:pt>
                <c:pt idx="1">
                  <c:v>8.314536630459903</c:v>
                </c:pt>
              </c:numCache>
            </c:numRef>
          </c:val>
        </c:ser>
        <c:ser>
          <c:idx val="5"/>
          <c:order val="5"/>
          <c:tx>
            <c:strRef>
              <c:strCache>
                <c:ptCount val="1"/>
                <c:pt idx="0">
                  <c:v>Middle East &amp; Africa</c:v>
                </c:pt>
              </c:strCache>
            </c:strRef>
          </c:tx>
          <c:spPr>
            <a:solidFill>
              <a:srgbClr val="808080"/>
            </a:solidFill>
            <a:ln>
              <a:noFill/>
            </a:ln>
          </c:spPr>
          <c:dLbls>
            <c:dLbl>
              <c:idx val="0"/>
              <c:numFmt formatCode="&quot;MMM&quot;;&quot;MMM&quot;;&quot;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6.999999999999999</c:v>
                </c:pt>
                <c:pt idx="1">
                  <c:v>6.928125722209383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North America</c:v>
                </c:pt>
              </c:strCache>
            </c:strRef>
          </c:tx>
          <c:spPr>
            <a:solidFill>
              <a:srgbClr val="3D85C6"/>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751804.094</c:v>
                </c:pt>
                <c:pt idx="1">
                  <c:v>767343.531</c:v>
                </c:pt>
                <c:pt idx="2">
                  <c:v>784651.617</c:v>
                </c:pt>
                <c:pt idx="3">
                  <c:v>803819.262</c:v>
                </c:pt>
                <c:pt idx="4">
                  <c:v>824971.956</c:v>
                </c:pt>
                <c:pt idx="5">
                  <c:v>848208.932</c:v>
                </c:pt>
                <c:pt idx="6">
                  <c:v>872100.564</c:v>
                </c:pt>
                <c:pt idx="7">
                  <c:v>896584.911</c:v>
                </c:pt>
                <c:pt idx="8">
                  <c:v>921675.372</c:v>
                </c:pt>
                <c:pt idx="9">
                  <c:v>947382.782</c:v>
                </c:pt>
                <c:pt idx="10">
                  <c:v>973717.215</c:v>
                </c:pt>
                <c:pt idx="11">
                  <c:v>1000698.318</c:v>
                </c:pt>
                <c:pt idx="12">
                  <c:v>1028327.183</c:v>
                </c:pt>
                <c:pt idx="13">
                  <c:v>1056627.369</c:v>
                </c:pt>
                <c:pt idx="14">
                  <c:v>1085609.252</c:v>
                </c:pt>
                <c:pt idx="15">
                  <c:v>1115281.258</c:v>
                </c:pt>
              </c:numCache>
            </c:numRef>
          </c:val>
        </c:ser>
        <c:ser>
          <c:idx val="1"/>
          <c:order val="1"/>
          <c:tx>
            <c:strRef>
              <c:strCache>
                <c:ptCount val="1"/>
                <c:pt idx="0">
                  <c:v>Europe</c:v>
                </c:pt>
              </c:strCache>
            </c:strRef>
          </c:tx>
          <c:spPr>
            <a:solidFill>
              <a:srgbClr val="9E7E0A"/>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645592.66</c:v>
                </c:pt>
                <c:pt idx="1">
                  <c:v>667940.128</c:v>
                </c:pt>
                <c:pt idx="2">
                  <c:v>692417.719</c:v>
                </c:pt>
                <c:pt idx="3">
                  <c:v>719188.538</c:v>
                </c:pt>
                <c:pt idx="4">
                  <c:v>748454.986</c:v>
                </c:pt>
                <c:pt idx="5">
                  <c:v>780405.342</c:v>
                </c:pt>
                <c:pt idx="6">
                  <c:v>813722.533</c:v>
                </c:pt>
                <c:pt idx="7">
                  <c:v>848478.515</c:v>
                </c:pt>
                <c:pt idx="8">
                  <c:v>884736.493</c:v>
                </c:pt>
                <c:pt idx="9">
                  <c:v>922559.696</c:v>
                </c:pt>
                <c:pt idx="10">
                  <c:v>962013.071</c:v>
                </c:pt>
                <c:pt idx="11">
                  <c:v>1003173.679</c:v>
                </c:pt>
                <c:pt idx="12">
                  <c:v>1046102.883</c:v>
                </c:pt>
                <c:pt idx="13">
                  <c:v>1090887.428</c:v>
                </c:pt>
                <c:pt idx="14">
                  <c:v>1137603.885</c:v>
                </c:pt>
                <c:pt idx="15">
                  <c:v>1186329.71</c:v>
                </c:pt>
              </c:numCache>
            </c:numRef>
          </c:val>
        </c:ser>
        <c:ser>
          <c:idx val="2"/>
          <c:order val="2"/>
          <c:tx>
            <c:strRef>
              <c:strCache>
                <c:ptCount val="1"/>
                <c:pt idx="0">
                  <c:v>South Asia &amp; Pacific</c:v>
                </c:pt>
              </c:strCache>
            </c:strRef>
          </c:tx>
          <c:spPr>
            <a:solidFill>
              <a:srgbClr val="008189"/>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557355.07</c:v>
                </c:pt>
                <c:pt idx="1">
                  <c:v>578227.795</c:v>
                </c:pt>
                <c:pt idx="2">
                  <c:v>601048.735</c:v>
                </c:pt>
                <c:pt idx="3">
                  <c:v>625974.057</c:v>
                </c:pt>
                <c:pt idx="4">
                  <c:v>653195.599</c:v>
                </c:pt>
                <c:pt idx="5">
                  <c:v>682894.573</c:v>
                </c:pt>
                <c:pt idx="6">
                  <c:v>713918.753</c:v>
                </c:pt>
                <c:pt idx="7">
                  <c:v>746352.958</c:v>
                </c:pt>
                <c:pt idx="8">
                  <c:v>780261.594</c:v>
                </c:pt>
                <c:pt idx="9">
                  <c:v>815709.557</c:v>
                </c:pt>
                <c:pt idx="10">
                  <c:v>852763.739</c:v>
                </c:pt>
                <c:pt idx="11">
                  <c:v>891502.268</c:v>
                </c:pt>
                <c:pt idx="12">
                  <c:v>931989.877</c:v>
                </c:pt>
                <c:pt idx="13">
                  <c:v>974314.374</c:v>
                </c:pt>
                <c:pt idx="14">
                  <c:v>1018555.132</c:v>
                </c:pt>
                <c:pt idx="15">
                  <c:v>1064792.85</c:v>
                </c:pt>
              </c:numCache>
            </c:numRef>
          </c:val>
        </c:ser>
        <c:ser>
          <c:idx val="3"/>
          <c:order val="3"/>
          <c:tx>
            <c:strRef>
              <c:strCache>
                <c:ptCount val="1"/>
                <c:pt idx="0">
                  <c:v>East Asia</c:v>
                </c:pt>
              </c:strCache>
            </c:strRef>
          </c:tx>
          <c:spPr>
            <a:solidFill>
              <a:srgbClr val="40315E"/>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549358.129</c:v>
                </c:pt>
                <c:pt idx="1">
                  <c:v>564886.809</c:v>
                </c:pt>
                <c:pt idx="2">
                  <c:v>581928.936</c:v>
                </c:pt>
                <c:pt idx="3">
                  <c:v>600583.902</c:v>
                </c:pt>
                <c:pt idx="4">
                  <c:v>620979.635</c:v>
                </c:pt>
                <c:pt idx="5">
                  <c:v>643227.452</c:v>
                </c:pt>
                <c:pt idx="6">
                  <c:v>666235.527</c:v>
                </c:pt>
                <c:pt idx="7">
                  <c:v>690005.783</c:v>
                </c:pt>
                <c:pt idx="8">
                  <c:v>714562.039</c:v>
                </c:pt>
                <c:pt idx="9">
                  <c:v>739926.59</c:v>
                </c:pt>
                <c:pt idx="10">
                  <c:v>766121.581</c:v>
                </c:pt>
                <c:pt idx="11">
                  <c:v>793177.158</c:v>
                </c:pt>
                <c:pt idx="12">
                  <c:v>821109.312</c:v>
                </c:pt>
                <c:pt idx="13">
                  <c:v>849952.341</c:v>
                </c:pt>
                <c:pt idx="14">
                  <c:v>879730.618</c:v>
                </c:pt>
                <c:pt idx="15">
                  <c:v>910467.391</c:v>
                </c:pt>
              </c:numCache>
            </c:numRef>
          </c:val>
        </c:ser>
        <c:ser>
          <c:idx val="4"/>
          <c:order val="4"/>
          <c:tx>
            <c:strRef>
              <c:strCache>
                <c:ptCount val="1"/>
                <c:pt idx="0">
                  <c:v>Latin America</c:v>
                </c:pt>
              </c:strCache>
            </c:strRef>
          </c:tx>
          <c:spPr>
            <a:solidFill>
              <a:srgbClr val="A35313"/>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245670.808</c:v>
                </c:pt>
                <c:pt idx="1">
                  <c:v>253832.309</c:v>
                </c:pt>
                <c:pt idx="2">
                  <c:v>262758.719</c:v>
                </c:pt>
                <c:pt idx="3">
                  <c:v>272506.447</c:v>
                </c:pt>
                <c:pt idx="4">
                  <c:v>283146.04</c:v>
                </c:pt>
                <c:pt idx="5">
                  <c:v>294741.859</c:v>
                </c:pt>
                <c:pt idx="6">
                  <c:v>306793.909</c:v>
                </c:pt>
                <c:pt idx="7">
                  <c:v>319320.731</c:v>
                </c:pt>
                <c:pt idx="8">
                  <c:v>332340.631</c:v>
                </c:pt>
                <c:pt idx="9">
                  <c:v>345871.575</c:v>
                </c:pt>
                <c:pt idx="10">
                  <c:v>359931.801</c:v>
                </c:pt>
                <c:pt idx="11">
                  <c:v>374543.701</c:v>
                </c:pt>
                <c:pt idx="12">
                  <c:v>389723.396</c:v>
                </c:pt>
                <c:pt idx="13">
                  <c:v>405496.058</c:v>
                </c:pt>
                <c:pt idx="14">
                  <c:v>421882.609</c:v>
                </c:pt>
                <c:pt idx="15">
                  <c:v>438903.845</c:v>
                </c:pt>
              </c:numCache>
            </c:numRef>
          </c:val>
        </c:ser>
        <c:ser>
          <c:idx val="5"/>
          <c:order val="5"/>
          <c:tx>
            <c:strRef>
              <c:strCache>
                <c:ptCount val="1"/>
                <c:pt idx="0">
                  <c:v>Middle East &amp; Africa</c:v>
                </c:pt>
              </c:strCache>
            </c:strRef>
          </c:tx>
          <c:spPr>
            <a:solidFill>
              <a:srgbClr val="808080"/>
            </a:solidFill>
            <a:ln>
              <a:noFill/>
            </a:ln>
          </c:spPr>
          <c:dLbls>
            <c:dLbl>
              <c:layout>
                <c:manualLayout>
                  <c:x val="0"/>
                  <c:y val="-0.0830"/>
                </c:manualLayout>
              </c:layout>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3"/>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4"/>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5"/>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6"/>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7"/>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8"/>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9"/>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3"/>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4"/>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5"/>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227995.809</c:v>
                </c:pt>
                <c:pt idx="1">
                  <c:v>234385.014</c:v>
                </c:pt>
                <c:pt idx="2">
                  <c:v>241411.001</c:v>
                </c:pt>
                <c:pt idx="3">
                  <c:v>249115.846</c:v>
                </c:pt>
                <c:pt idx="4">
                  <c:v>257553.647</c:v>
                </c:pt>
                <c:pt idx="5">
                  <c:v>266771.842</c:v>
                </c:pt>
                <c:pt idx="6">
                  <c:v>276319.074</c:v>
                </c:pt>
                <c:pt idx="7">
                  <c:v>286197.624</c:v>
                </c:pt>
                <c:pt idx="8">
                  <c:v>296419.16</c:v>
                </c:pt>
                <c:pt idx="9">
                  <c:v>306994.836</c:v>
                </c:pt>
                <c:pt idx="10">
                  <c:v>317935.899</c:v>
                </c:pt>
                <c:pt idx="11">
                  <c:v>329257.053</c:v>
                </c:pt>
                <c:pt idx="12">
                  <c:v>340967.291</c:v>
                </c:pt>
                <c:pt idx="13">
                  <c:v>353083.37</c:v>
                </c:pt>
                <c:pt idx="14">
                  <c:v>365618.096</c:v>
                </c:pt>
                <c:pt idx="15">
                  <c:v>378584.005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quot;M&quot;"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North America</c:v>
                </c:pt>
              </c:strCache>
            </c:strRef>
          </c:tx>
          <c:spPr>
            <a:solidFill>
              <a:srgbClr val="3D85C6"/>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317.71</c:v>
                </c:pt>
                <c:pt idx="1">
                  <c:v>326.573</c:v>
                </c:pt>
                <c:pt idx="2">
                  <c:v>336.3</c:v>
                </c:pt>
                <c:pt idx="3">
                  <c:v>346.954</c:v>
                </c:pt>
                <c:pt idx="4">
                  <c:v>358.609</c:v>
                </c:pt>
                <c:pt idx="5">
                  <c:v>371.316</c:v>
                </c:pt>
                <c:pt idx="6">
                  <c:v>384.476</c:v>
                </c:pt>
                <c:pt idx="7">
                  <c:v>398.068</c:v>
                </c:pt>
                <c:pt idx="8">
                  <c:v>412.101</c:v>
                </c:pt>
                <c:pt idx="9">
                  <c:v>426.594</c:v>
                </c:pt>
                <c:pt idx="10">
                  <c:v>441.556</c:v>
                </c:pt>
                <c:pt idx="11">
                  <c:v>457.002</c:v>
                </c:pt>
                <c:pt idx="12">
                  <c:v>472.944</c:v>
                </c:pt>
                <c:pt idx="13">
                  <c:v>489.4</c:v>
                </c:pt>
                <c:pt idx="14">
                  <c:v>506.381</c:v>
                </c:pt>
                <c:pt idx="15">
                  <c:v>523.905</c:v>
                </c:pt>
              </c:numCache>
            </c:numRef>
          </c:val>
        </c:ser>
        <c:ser>
          <c:idx val="1"/>
          <c:order val="1"/>
          <c:tx>
            <c:strRef>
              <c:strCache>
                <c:ptCount val="1"/>
                <c:pt idx="0">
                  <c:v>Europe</c:v>
                </c:pt>
              </c:strCache>
            </c:strRef>
          </c:tx>
          <c:spPr>
            <a:solidFill>
              <a:srgbClr val="9E7E0A"/>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242.63</c:v>
                </c:pt>
                <c:pt idx="1">
                  <c:v>252.8</c:v>
                </c:pt>
                <c:pt idx="2">
                  <c:v>263.919</c:v>
                </c:pt>
                <c:pt idx="3">
                  <c:v>276.06</c:v>
                </c:pt>
                <c:pt idx="4">
                  <c:v>289.32</c:v>
                </c:pt>
                <c:pt idx="5">
                  <c:v>303.805</c:v>
                </c:pt>
                <c:pt idx="6">
                  <c:v>319.011</c:v>
                </c:pt>
                <c:pt idx="7">
                  <c:v>334.986</c:v>
                </c:pt>
                <c:pt idx="8">
                  <c:v>351.77</c:v>
                </c:pt>
                <c:pt idx="9">
                  <c:v>369.4</c:v>
                </c:pt>
                <c:pt idx="10">
                  <c:v>387.92</c:v>
                </c:pt>
                <c:pt idx="11">
                  <c:v>407.372</c:v>
                </c:pt>
                <c:pt idx="12">
                  <c:v>427.808</c:v>
                </c:pt>
                <c:pt idx="13">
                  <c:v>449.271</c:v>
                </c:pt>
                <c:pt idx="14">
                  <c:v>471.822</c:v>
                </c:pt>
                <c:pt idx="15">
                  <c:v>495.503</c:v>
                </c:pt>
              </c:numCache>
            </c:numRef>
          </c:val>
        </c:ser>
        <c:ser>
          <c:idx val="2"/>
          <c:order val="2"/>
          <c:tx>
            <c:strRef>
              <c:strCache>
                <c:ptCount val="1"/>
                <c:pt idx="0">
                  <c:v>East Asia</c:v>
                </c:pt>
              </c:strCache>
            </c:strRef>
          </c:tx>
          <c:spPr>
            <a:solidFill>
              <a:srgbClr val="008189"/>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120.782</c:v>
                </c:pt>
                <c:pt idx="1">
                  <c:v>125.038</c:v>
                </c:pt>
                <c:pt idx="2">
                  <c:v>129.682</c:v>
                </c:pt>
                <c:pt idx="3">
                  <c:v>134.747</c:v>
                </c:pt>
                <c:pt idx="4">
                  <c:v>140.266</c:v>
                </c:pt>
                <c:pt idx="5">
                  <c:v>146.276</c:v>
                </c:pt>
                <c:pt idx="6">
                  <c:v>152.535</c:v>
                </c:pt>
                <c:pt idx="7">
                  <c:v>159.049</c:v>
                </c:pt>
                <c:pt idx="8">
                  <c:v>165.825</c:v>
                </c:pt>
                <c:pt idx="9">
                  <c:v>172.875</c:v>
                </c:pt>
                <c:pt idx="10">
                  <c:v>180.209</c:v>
                </c:pt>
                <c:pt idx="11">
                  <c:v>187.84</c:v>
                </c:pt>
                <c:pt idx="12">
                  <c:v>195.773</c:v>
                </c:pt>
                <c:pt idx="13">
                  <c:v>204.023</c:v>
                </c:pt>
                <c:pt idx="14">
                  <c:v>212.604</c:v>
                </c:pt>
                <c:pt idx="15">
                  <c:v>221.525</c:v>
                </c:pt>
              </c:numCache>
            </c:numRef>
          </c:val>
        </c:ser>
        <c:ser>
          <c:idx val="3"/>
          <c:order val="3"/>
          <c:tx>
            <c:strRef>
              <c:strCache>
                <c:ptCount val="1"/>
                <c:pt idx="0">
                  <c:v>South Asia &amp; Pacific</c:v>
                </c:pt>
              </c:strCache>
            </c:strRef>
          </c:tx>
          <c:spPr>
            <a:solidFill>
              <a:srgbClr val="40315E"/>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106.342</c:v>
                </c:pt>
                <c:pt idx="1">
                  <c:v>111.116</c:v>
                </c:pt>
                <c:pt idx="2">
                  <c:v>116.326</c:v>
                </c:pt>
                <c:pt idx="3">
                  <c:v>122.018</c:v>
                </c:pt>
                <c:pt idx="4">
                  <c:v>128.233</c:v>
                </c:pt>
                <c:pt idx="5">
                  <c:v>135.023</c:v>
                </c:pt>
                <c:pt idx="6">
                  <c:v>142.169</c:v>
                </c:pt>
                <c:pt idx="7">
                  <c:v>149.687</c:v>
                </c:pt>
                <c:pt idx="8">
                  <c:v>157.606</c:v>
                </c:pt>
                <c:pt idx="9">
                  <c:v>165.942</c:v>
                </c:pt>
                <c:pt idx="10">
                  <c:v>174.718</c:v>
                </c:pt>
                <c:pt idx="11">
                  <c:v>183.958</c:v>
                </c:pt>
                <c:pt idx="12">
                  <c:v>193.685</c:v>
                </c:pt>
                <c:pt idx="13">
                  <c:v>203.922</c:v>
                </c:pt>
                <c:pt idx="14">
                  <c:v>214.699</c:v>
                </c:pt>
                <c:pt idx="15">
                  <c:v>226.047</c:v>
                </c:pt>
              </c:numCache>
            </c:numRef>
          </c:val>
        </c:ser>
        <c:ser>
          <c:idx val="4"/>
          <c:order val="4"/>
          <c:tx>
            <c:strRef>
              <c:strCache>
                <c:ptCount val="1"/>
                <c:pt idx="0">
                  <c:v>Latin America</c:v>
                </c:pt>
              </c:strCache>
            </c:strRef>
          </c:tx>
          <c:spPr>
            <a:solidFill>
              <a:srgbClr val="A35313"/>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72.412</c:v>
                </c:pt>
                <c:pt idx="1">
                  <c:v>75.35</c:v>
                </c:pt>
                <c:pt idx="2">
                  <c:v>78.556</c:v>
                </c:pt>
                <c:pt idx="3">
                  <c:v>82.051</c:v>
                </c:pt>
                <c:pt idx="4">
                  <c:v>85.862</c:v>
                </c:pt>
                <c:pt idx="5">
                  <c:v>90.016</c:v>
                </c:pt>
                <c:pt idx="6">
                  <c:v>94.363</c:v>
                </c:pt>
                <c:pt idx="7">
                  <c:v>98.918</c:v>
                </c:pt>
                <c:pt idx="8">
                  <c:v>103.685</c:v>
                </c:pt>
                <c:pt idx="9">
                  <c:v>108.675</c:v>
                </c:pt>
                <c:pt idx="10">
                  <c:v>113.899</c:v>
                </c:pt>
                <c:pt idx="11">
                  <c:v>119.366</c:v>
                </c:pt>
                <c:pt idx="12">
                  <c:v>125.09</c:v>
                </c:pt>
                <c:pt idx="13">
                  <c:v>131.08</c:v>
                </c:pt>
                <c:pt idx="14">
                  <c:v>137.349</c:v>
                </c:pt>
                <c:pt idx="15">
                  <c:v>143.908</c:v>
                </c:pt>
              </c:numCache>
            </c:numRef>
          </c:val>
        </c:ser>
        <c:ser>
          <c:idx val="5"/>
          <c:order val="5"/>
          <c:tx>
            <c:strRef>
              <c:strCache>
                <c:ptCount val="1"/>
                <c:pt idx="0">
                  <c:v>Middle East &amp; Africa</c:v>
                </c:pt>
              </c:strCache>
            </c:strRef>
          </c:tx>
          <c:spPr>
            <a:solidFill>
              <a:srgbClr val="808080"/>
            </a:solidFill>
            <a:ln>
              <a:noFill/>
            </a:ln>
          </c:spPr>
          <c:dLbls>
            <c:dLbl>
              <c:layout>
                <c:manualLayout>
                  <c:x val="0"/>
                  <c:y val="-0.0830"/>
                </c:manualLayout>
              </c:layout>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3"/>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4"/>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5"/>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6"/>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7"/>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8"/>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9"/>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3"/>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4"/>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5"/>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64.993</c:v>
                </c:pt>
                <c:pt idx="1">
                  <c:v>67.287</c:v>
                </c:pt>
                <c:pt idx="2">
                  <c:v>69.791</c:v>
                </c:pt>
                <c:pt idx="3">
                  <c:v>72.527</c:v>
                </c:pt>
                <c:pt idx="4">
                  <c:v>75.51</c:v>
                </c:pt>
                <c:pt idx="5">
                  <c:v>78.764</c:v>
                </c:pt>
                <c:pt idx="6">
                  <c:v>82.158</c:v>
                </c:pt>
                <c:pt idx="7">
                  <c:v>85.695</c:v>
                </c:pt>
                <c:pt idx="8">
                  <c:v>89.381</c:v>
                </c:pt>
                <c:pt idx="9">
                  <c:v>93.222</c:v>
                </c:pt>
                <c:pt idx="10">
                  <c:v>97.225</c:v>
                </c:pt>
                <c:pt idx="11">
                  <c:v>101.396</c:v>
                </c:pt>
                <c:pt idx="12">
                  <c:v>105.744</c:v>
                </c:pt>
                <c:pt idx="13">
                  <c:v>110.278</c:v>
                </c:pt>
                <c:pt idx="14">
                  <c:v>114.995</c:v>
                </c:pt>
                <c:pt idx="15">
                  <c:v>119.912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Cast Metal Partial Dentures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25.71635866301955</c:v>
                </c:pt>
                <c:pt idx="1">
                  <c:v>26.452316757928674</c:v>
                </c:pt>
                <c:pt idx="2">
                  <c:v>21.1524658616409</c:v>
                </c:pt>
                <c:pt idx="3">
                  <c:v>21.376085504342022</c:v>
                </c:pt>
                <c:pt idx="4">
                  <c:v>27.784695551792826</c:v>
                </c:pt>
                <c:pt idx="5">
                  <c:v>24.68978154436396</c:v>
                </c:pt>
              </c:numCache>
            </c:numRef>
          </c:val>
        </c:ser>
        <c:ser>
          <c:idx val="1"/>
          <c:order val="1"/>
          <c:tx>
            <c:strRef>
              <c:strCache>
                <c:ptCount val="1"/>
                <c:pt idx="0">
                  <c:v>Acrylic Partial Dentures</c:v>
                </c:pt>
              </c:strCache>
            </c:strRef>
          </c:tx>
          <c:spPr>
            <a:solidFill>
              <a:srgbClr val="9E7E0A"/>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17.459470278204016</c:v>
                </c:pt>
                <c:pt idx="1">
                  <c:v>18.36659532479084</c:v>
                </c:pt>
                <c:pt idx="2">
                  <c:v>19.971109355603208</c:v>
                </c:pt>
                <c:pt idx="3">
                  <c:v>18.07632925895942</c:v>
                </c:pt>
                <c:pt idx="4">
                  <c:v>16.881633410897614</c:v>
                </c:pt>
                <c:pt idx="5">
                  <c:v>16.51807102432693</c:v>
                </c:pt>
              </c:numCache>
            </c:numRef>
          </c:val>
        </c:ser>
        <c:ser>
          <c:idx val="2"/>
          <c:order val="2"/>
          <c:tx>
            <c:strRef>
              <c:strCache>
                <c:ptCount val="1"/>
                <c:pt idx="0">
                  <c:v>Flexible Partial Dentures</c:v>
                </c:pt>
              </c:strCache>
            </c:strRef>
          </c:tx>
          <c:spPr>
            <a:solidFill>
              <a:srgbClr val="008189"/>
            </a:solidFill>
            <a:ln>
              <a:noFill/>
            </a:ln>
          </c:spPr>
          <c:dLbls>
            <c:dLbl>
              <c:idx val="0"/>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31.076956434718795</c:v>
                </c:pt>
                <c:pt idx="1">
                  <c:v>30.666120021124605</c:v>
                </c:pt>
                <c:pt idx="2">
                  <c:v>31.476808486626794</c:v>
                </c:pt>
                <c:pt idx="3">
                  <c:v>30.806425212455824</c:v>
                </c:pt>
                <c:pt idx="4">
                  <c:v>29.230700924111456</c:v>
                </c:pt>
                <c:pt idx="5">
                  <c:v>31.341560015651694</c:v>
                </c:pt>
              </c:numCache>
            </c:numRef>
          </c:val>
        </c:ser>
        <c:ser>
          <c:idx val="3"/>
          <c:order val="3"/>
          <c:tx>
            <c:strRef>
              <c:strCache>
                <c:ptCount val="1"/>
                <c:pt idx="0">
                  <c:v>Combination Framework Partial Dentures</c:v>
                </c:pt>
              </c:strCache>
            </c:strRef>
          </c:tx>
          <c:spPr>
            <a:solidFill>
              <a:srgbClr val="40315E"/>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2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2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2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2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2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25.74721462405764</c:v>
                </c:pt>
                <c:pt idx="1">
                  <c:v>24.514967896155877</c:v>
                </c:pt>
                <c:pt idx="2">
                  <c:v>27.39961629612911</c:v>
                </c:pt>
                <c:pt idx="3">
                  <c:v>29.741160024242753</c:v>
                </c:pt>
                <c:pt idx="4">
                  <c:v>26.102970113198104</c:v>
                </c:pt>
                <c:pt idx="5">
                  <c:v>27.450587415657417</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6.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Cast Metal Partial Dentures</c:v>
                </c:pt>
              </c:strCache>
            </c:strRef>
          </c:tx>
          <c:spPr>
            <a:solidFill>
              <a:srgbClr val="3D85C6"/>
            </a:solidFill>
          </c:spPr>
          <c:invertIfNegative val="0"/>
          <c:xVal>
            <c:numRef>
              <c:numCache>
                <c:formatCode>General</c:formatCode>
                <c:ptCount val="1"/>
                <c:pt idx="0">
                  <c:v>144.72589768703983</c:v>
                </c:pt>
              </c:numCache>
            </c:numRef>
          </c:xVal>
          <c:yVal>
            <c:numRef>
              <c:numCache>
                <c:formatCode>General</c:formatCode>
                <c:ptCount val="1"/>
                <c:pt idx="0">
                  <c:v>82.65908282971917</c:v>
                </c:pt>
              </c:numCache>
            </c:numRef>
          </c:yVal>
          <c:bubbleSize>
            <c:numRef>
              <c:numCache>
                <c:formatCode>General</c:formatCode>
                <c:ptCount val="1"/>
                <c:pt idx="0">
                  <c:v>431.107</c:v>
                </c:pt>
              </c:numCache>
            </c:numRef>
          </c:bubbleSize>
          <c:bubble3D val="0"/>
        </c:ser>
        <c:ser>
          <c:idx val="1"/>
          <c:order val="1"/>
          <c:tx>
            <c:strRef>
              <c:strCache>
                <c:ptCount val="1"/>
                <c:pt idx="0">
                  <c:v>Acrylic Partial Dentures</c:v>
                </c:pt>
              </c:strCache>
            </c:strRef>
          </c:tx>
          <c:spPr>
            <a:solidFill>
              <a:srgbClr val="9E7E0A"/>
            </a:solidFill>
          </c:spPr>
          <c:invertIfNegative val="0"/>
          <c:xVal>
            <c:numRef>
              <c:numCache>
                <c:formatCode>General</c:formatCode>
                <c:ptCount val="1"/>
                <c:pt idx="0">
                  <c:v>74.36782573788618</c:v>
                </c:pt>
              </c:numCache>
            </c:numRef>
          </c:xVal>
          <c:yVal>
            <c:numRef>
              <c:numCache>
                <c:formatCode>General</c:formatCode>
                <c:ptCount val="1"/>
                <c:pt idx="0">
                  <c:v>77.97191610380378</c:v>
                </c:pt>
              </c:numCache>
            </c:numRef>
          </c:yVal>
          <c:bubbleSize>
            <c:numRef>
              <c:numCache>
                <c:formatCode>General</c:formatCode>
                <c:ptCount val="1"/>
                <c:pt idx="0">
                  <c:v>302.657</c:v>
                </c:pt>
              </c:numCache>
            </c:numRef>
          </c:bubbleSize>
          <c:bubble3D val="0"/>
        </c:ser>
        <c:ser>
          <c:idx val="2"/>
          <c:order val="2"/>
          <c:tx>
            <c:strRef>
              <c:strCache>
                <c:ptCount val="1"/>
                <c:pt idx="0">
                  <c:v>Flexible Partial Dentures</c:v>
                </c:pt>
              </c:strCache>
            </c:strRef>
          </c:tx>
          <c:spPr>
            <a:solidFill>
              <a:srgbClr val="008189"/>
            </a:solidFill>
          </c:spPr>
          <c:invertIfNegative val="0"/>
          <c:xVal>
            <c:numRef>
              <c:numCache>
                <c:formatCode>General</c:formatCode>
                <c:ptCount val="1"/>
                <c:pt idx="0">
                  <c:v>69.05650410735002</c:v>
                </c:pt>
              </c:numCache>
            </c:numRef>
          </c:xVal>
          <c:yVal>
            <c:numRef>
              <c:numCache>
                <c:formatCode>General</c:formatCode>
                <c:ptCount val="1"/>
                <c:pt idx="0">
                  <c:v>139.6174902239602</c:v>
                </c:pt>
              </c:numCache>
            </c:numRef>
          </c:yVal>
          <c:bubbleSize>
            <c:numRef>
              <c:numCache>
                <c:formatCode>General</c:formatCode>
                <c:ptCount val="1"/>
                <c:pt idx="0">
                  <c:v>529.801</c:v>
                </c:pt>
              </c:numCache>
            </c:numRef>
          </c:bubbleSize>
          <c:bubble3D val="0"/>
        </c:ser>
        <c:ser>
          <c:idx val="3"/>
          <c:order val="3"/>
          <c:tx>
            <c:strRef>
              <c:strCache>
                <c:ptCount val="1"/>
                <c:pt idx="0">
                  <c:v>Combination Framework Partial Dentures</c:v>
                </c:pt>
              </c:strCache>
            </c:strRef>
          </c:tx>
          <c:spPr>
            <a:solidFill>
              <a:srgbClr val="40315E"/>
            </a:solidFill>
          </c:spPr>
          <c:invertIfNegative val="0"/>
          <c:xVal>
            <c:numRef>
              <c:numCache>
                <c:formatCode>General</c:formatCode>
                <c:ptCount val="1"/>
                <c:pt idx="0">
                  <c:v>118.88350952671698</c:v>
                </c:pt>
              </c:numCache>
            </c:numRef>
          </c:xVal>
          <c:yVal>
            <c:numRef>
              <c:numCache>
                <c:formatCode>General</c:formatCode>
                <c:ptCount val="1"/>
                <c:pt idx="0">
                  <c:v>99.75151084251688</c:v>
                </c:pt>
              </c:numCache>
            </c:numRef>
          </c:yVal>
          <c:bubbleSize>
            <c:numRef>
              <c:numCache>
                <c:formatCode>General</c:formatCode>
                <c:ptCount val="1"/>
                <c:pt idx="0">
                  <c:v>467.235</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70.0"/>
          <c:min val="5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75.0"/>
          <c:min val="5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232.52</c:v>
                </c:pt>
                <c:pt idx="2">
                  <c:v>263.314</c:v>
                </c:pt>
                <c:pt idx="3">
                  <c:v>298.042</c:v>
                </c:pt>
                <c:pt idx="4">
                  <c:v>337.197</c:v>
                </c:pt>
                <c:pt idx="5">
                  <c:v>381.349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232.52</c:v>
                </c:pt>
                <c:pt idx="1">
                  <c:v>30.79400000000001</c:v>
                </c:pt>
                <c:pt idx="2">
                  <c:v>34.72799999999995</c:v>
                </c:pt>
                <c:pt idx="3">
                  <c:v>39.15500000000003</c:v>
                </c:pt>
                <c:pt idx="4">
                  <c:v>44.15199999999999</c:v>
                </c:pt>
                <c:pt idx="5">
                  <c:v>49.75800000000004</c:v>
                </c:pt>
                <c:pt idx="6">
                  <c:v>431.107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219.335</c:v>
                </c:pt>
                <c:pt idx="2">
                  <c:v>234.415</c:v>
                </c:pt>
                <c:pt idx="3">
                  <c:v>250.291</c:v>
                </c:pt>
                <c:pt idx="4">
                  <c:v>266.963</c:v>
                </c:pt>
                <c:pt idx="5">
                  <c:v>284.421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219.335</c:v>
                </c:pt>
                <c:pt idx="1">
                  <c:v>15.079999999999984</c:v>
                </c:pt>
                <c:pt idx="2">
                  <c:v>15.876000000000005</c:v>
                </c:pt>
                <c:pt idx="3">
                  <c:v>16.672000000000025</c:v>
                </c:pt>
                <c:pt idx="4">
                  <c:v>17.45799999999997</c:v>
                </c:pt>
                <c:pt idx="5">
                  <c:v>18.23599999999999</c:v>
                </c:pt>
                <c:pt idx="6">
                  <c:v>302.657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392.744</c:v>
                </c:pt>
                <c:pt idx="2">
                  <c:v>418.052</c:v>
                </c:pt>
                <c:pt idx="3">
                  <c:v>444.461</c:v>
                </c:pt>
                <c:pt idx="4">
                  <c:v>471.941</c:v>
                </c:pt>
                <c:pt idx="5">
                  <c:v>500.413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392.744</c:v>
                </c:pt>
                <c:pt idx="1">
                  <c:v>25.307999999999993</c:v>
                </c:pt>
                <c:pt idx="2">
                  <c:v>26.408999999999992</c:v>
                </c:pt>
                <c:pt idx="3">
                  <c:v>27.47999999999996</c:v>
                </c:pt>
                <c:pt idx="4">
                  <c:v>28.472000000000037</c:v>
                </c:pt>
                <c:pt idx="5">
                  <c:v>29.388000000000034</c:v>
                </c:pt>
                <c:pt idx="6">
                  <c:v>529.801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280.601</c:v>
                </c:pt>
                <c:pt idx="2">
                  <c:v>310.622</c:v>
                </c:pt>
                <c:pt idx="3">
                  <c:v>343.914</c:v>
                </c:pt>
                <c:pt idx="4">
                  <c:v>380.833</c:v>
                </c:pt>
                <c:pt idx="5">
                  <c:v>421.791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280.601</c:v>
                </c:pt>
                <c:pt idx="1">
                  <c:v>30.021000000000015</c:v>
                </c:pt>
                <c:pt idx="2">
                  <c:v>33.29199999999997</c:v>
                </c:pt>
                <c:pt idx="3">
                  <c:v>36.91900000000004</c:v>
                </c:pt>
                <c:pt idx="4">
                  <c:v>40.95799999999997</c:v>
                </c:pt>
                <c:pt idx="5">
                  <c:v>45.44400000000002</c:v>
                </c:pt>
                <c:pt idx="6">
                  <c:v>467.235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Flexible Partial Dentures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36.86186908632466</c:v>
                </c:pt>
                <c:pt idx="1">
                  <c:v>34.90437255599005</c:v>
                </c:pt>
                <c:pt idx="2">
                  <c:v>30.610180263461984</c:v>
                </c:pt>
              </c:numCache>
            </c:numRef>
          </c:val>
        </c:ser>
        <c:ser>
          <c:idx val="1"/>
          <c:order val="1"/>
          <c:tx>
            <c:strRef>
              <c:strCache>
                <c:ptCount val="1"/>
                <c:pt idx="0">
                  <c:v>Combination Framework Partial Dentures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24.00512937507907</c:v>
                </c:pt>
                <c:pt idx="1">
                  <c:v>24.93787771062922</c:v>
                </c:pt>
                <c:pt idx="2">
                  <c:v>26.99532008319852</c:v>
                </c:pt>
              </c:numCache>
            </c:numRef>
          </c:val>
        </c:ser>
        <c:ser>
          <c:idx val="2"/>
          <c:order val="2"/>
          <c:tx>
            <c:strRef>
              <c:strCache>
                <c:ptCount val="1"/>
                <c:pt idx="0">
                  <c:v>Cast Metal Partial Dentures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18.73735631748929</c:v>
                </c:pt>
                <c:pt idx="1">
                  <c:v>20.664770707429792</c:v>
                </c:pt>
                <c:pt idx="2">
                  <c:v>24.907961636237577</c:v>
                </c:pt>
              </c:numCache>
            </c:numRef>
          </c:val>
        </c:ser>
        <c:ser>
          <c:idx val="3"/>
          <c:order val="3"/>
          <c:tx>
            <c:strRef>
              <c:strCache>
                <c:ptCount val="1"/>
                <c:pt idx="0">
                  <c:v>Acrylic Partial Dentures</c:v>
                </c:pt>
              </c:strCache>
            </c:strRef>
          </c:tx>
          <c:spPr>
            <a:solidFill>
              <a:srgbClr val="40315E"/>
            </a:solidFill>
            <a:ln>
              <a:noFill/>
            </a:ln>
          </c:spPr>
          <c:dLbls>
            <c:dLbl>
              <c:idx val="0"/>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20.395645221106992</c:v>
                </c:pt>
                <c:pt idx="1">
                  <c:v>19.492979025950945</c:v>
                </c:pt>
                <c:pt idx="2">
                  <c:v>17.486538017101914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Metal Alloys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28.208186003068924</c:v>
                </c:pt>
                <c:pt idx="1">
                  <c:v>30.099091085971597</c:v>
                </c:pt>
                <c:pt idx="2">
                  <c:v>28.07312944362939</c:v>
                </c:pt>
                <c:pt idx="3">
                  <c:v>29.232858653288922</c:v>
                </c:pt>
                <c:pt idx="4">
                  <c:v>28.546345834434906</c:v>
                </c:pt>
                <c:pt idx="5">
                  <c:v>28.548114639104412</c:v>
                </c:pt>
              </c:numCache>
            </c:numRef>
          </c:val>
        </c:ser>
        <c:ser>
          <c:idx val="1"/>
          <c:order val="1"/>
          <c:tx>
            <c:strRef>
              <c:strCache>
                <c:ptCount val="1"/>
                <c:pt idx="0">
                  <c:v>Acrylic / Resin</c:v>
                </c:pt>
              </c:strCache>
            </c:strRef>
          </c:tx>
          <c:spPr>
            <a:solidFill>
              <a:srgbClr val="9E7E0A"/>
            </a:solidFill>
            <a:ln>
              <a:noFill/>
            </a:ln>
          </c:spPr>
          <c:dLbls>
            <c:dLbl>
              <c:idx val="0"/>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42.6954766829008</c:v>
                </c:pt>
                <c:pt idx="1">
                  <c:v>43.10601217444479</c:v>
                </c:pt>
                <c:pt idx="2">
                  <c:v>44.39679494413723</c:v>
                </c:pt>
                <c:pt idx="3">
                  <c:v>43.05166624640009</c:v>
                </c:pt>
                <c:pt idx="4">
                  <c:v>43.73031041184413</c:v>
                </c:pt>
                <c:pt idx="5">
                  <c:v>44.97876523415504</c:v>
                </c:pt>
              </c:numCache>
            </c:numRef>
          </c:val>
        </c:ser>
        <c:ser>
          <c:idx val="2"/>
          <c:order val="2"/>
          <c:tx>
            <c:strRef>
              <c:strCache>
                <c:ptCount val="1"/>
                <c:pt idx="0">
                  <c:v>Flexible Thermoplastics</c:v>
                </c:pt>
              </c:strCache>
            </c:strRef>
          </c:tx>
          <c:spPr>
            <a:solidFill>
              <a:srgbClr val="008189"/>
            </a:solidFill>
            <a:ln>
              <a:noFill/>
            </a:ln>
          </c:spPr>
          <c:dLbls>
            <c:dLbl>
              <c:idx val="0"/>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19.24411234905598</c:v>
                </c:pt>
                <c:pt idx="1">
                  <c:v>17.402090224309976</c:v>
                </c:pt>
                <c:pt idx="2">
                  <c:v>19.026746416882972</c:v>
                </c:pt>
                <c:pt idx="3">
                  <c:v>17.618017491937522</c:v>
                </c:pt>
                <c:pt idx="4">
                  <c:v>18.50846513542804</c:v>
                </c:pt>
                <c:pt idx="5">
                  <c:v>17.04316622288392</c:v>
                </c:pt>
              </c:numCache>
            </c:numRef>
          </c:val>
        </c:ser>
        <c:ser>
          <c:idx val="3"/>
          <c:order val="3"/>
          <c:tx>
            <c:strRef>
              <c:strCache>
                <c:ptCount val="1"/>
                <c:pt idx="0">
                  <c:v>High-performance Polymers</c:v>
                </c:pt>
              </c:strCache>
            </c:strRef>
          </c:tx>
          <c:spPr>
            <a:solidFill>
              <a:srgbClr val="40315E"/>
            </a:solidFill>
            <a:ln>
              <a:noFill/>
            </a:ln>
          </c:spPr>
          <c:dLbls>
            <c:dLbl>
              <c:idx val="0"/>
              <c:numFmt formatCode="&quot;MMM&quot;;&quot;MMM&quot;;&quot;MMM&quot;" sourceLinked="0"/>
              <c:spPr>
                <a:blipFill>
                  <a:blip r:embed="rId1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quot;;&quot;MMM&quot;;&quot;MMM&quot;" sourceLinked="0"/>
              <c:spPr>
                <a:blipFill>
                  <a:blip r:embed="rId1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quot;;&quot;MMM&quot;;&quot;MMM&quot;" sourceLinked="0"/>
              <c:spPr>
                <a:blipFill>
                  <a:blip r:embed="rId2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2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quot;;&quot;MMM&quot;;&quot;MMM&quot;" sourceLinked="0"/>
              <c:spPr>
                <a:blipFill>
                  <a:blip r:embed="rId2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quot;;&quot;MMM&quot;;&quot;MMM&quot;" sourceLinked="0"/>
              <c:spPr>
                <a:blipFill>
                  <a:blip r:embed="rId1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9.852224964974317</c:v>
                </c:pt>
                <c:pt idx="1">
                  <c:v>9.392806515273648</c:v>
                </c:pt>
                <c:pt idx="2">
                  <c:v>8.503329195350412</c:v>
                </c:pt>
                <c:pt idx="3">
                  <c:v>10.097457608373482</c:v>
                </c:pt>
                <c:pt idx="4">
                  <c:v>9.214878618292927</c:v>
                </c:pt>
                <c:pt idx="5">
                  <c:v>9.429953903856614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23.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Metal Alloys</c:v>
                </c:pt>
              </c:strCache>
            </c:strRef>
          </c:tx>
          <c:spPr>
            <a:solidFill>
              <a:srgbClr val="3D85C6"/>
            </a:solidFill>
          </c:spPr>
          <c:invertIfNegative val="0"/>
          <c:xVal>
            <c:numRef>
              <c:numCache>
                <c:formatCode>General</c:formatCode>
                <c:ptCount val="1"/>
                <c:pt idx="0">
                  <c:v>98.58426015904568</c:v>
                </c:pt>
              </c:numCache>
            </c:numRef>
          </c:xVal>
          <c:yVal>
            <c:numRef>
              <c:numCache>
                <c:formatCode>General</c:formatCode>
                <c:ptCount val="1"/>
                <c:pt idx="0">
                  <c:v>115.41343761109135</c:v>
                </c:pt>
              </c:numCache>
            </c:numRef>
          </c:yVal>
          <c:bubbleSize>
            <c:numRef>
              <c:numCache>
                <c:formatCode>General</c:formatCode>
                <c:ptCount val="1"/>
                <c:pt idx="0">
                  <c:v>496.422</c:v>
                </c:pt>
              </c:numCache>
            </c:numRef>
          </c:bubbleSize>
          <c:bubble3D val="0"/>
        </c:ser>
        <c:ser>
          <c:idx val="1"/>
          <c:order val="1"/>
          <c:tx>
            <c:strRef>
              <c:strCache>
                <c:ptCount val="1"/>
                <c:pt idx="0">
                  <c:v>Acrylic / Resin</c:v>
                </c:pt>
              </c:strCache>
            </c:strRef>
          </c:tx>
          <c:spPr>
            <a:solidFill>
              <a:srgbClr val="9E7E0A"/>
            </a:solidFill>
          </c:spPr>
          <c:invertIfNegative val="0"/>
          <c:xVal>
            <c:numRef>
              <c:numCache>
                <c:formatCode>General</c:formatCode>
                <c:ptCount val="1"/>
                <c:pt idx="0">
                  <c:v>102.76104758452247</c:v>
                </c:pt>
              </c:numCache>
            </c:numRef>
          </c:xVal>
          <c:yVal>
            <c:numRef>
              <c:numCache>
                <c:formatCode>General</c:formatCode>
                <c:ptCount val="1"/>
                <c:pt idx="0">
                  <c:v>173.8908638464273</c:v>
                </c:pt>
              </c:numCache>
            </c:numRef>
          </c:yVal>
          <c:bubbleSize>
            <c:numRef>
              <c:numCache>
                <c:formatCode>General</c:formatCode>
                <c:ptCount val="1"/>
                <c:pt idx="0">
                  <c:v>761.228</c:v>
                </c:pt>
              </c:numCache>
            </c:numRef>
          </c:bubbleSize>
          <c:bubble3D val="0"/>
        </c:ser>
        <c:ser>
          <c:idx val="2"/>
          <c:order val="2"/>
          <c:tx>
            <c:strRef>
              <c:strCache>
                <c:ptCount val="1"/>
                <c:pt idx="0">
                  <c:v>Flexible Thermoplastics</c:v>
                </c:pt>
              </c:strCache>
            </c:strRef>
          </c:tx>
          <c:spPr>
            <a:solidFill>
              <a:srgbClr val="008189"/>
            </a:solidFill>
          </c:spPr>
          <c:invertIfNegative val="0"/>
          <c:xVal>
            <c:numRef>
              <c:numCache>
                <c:formatCode>General</c:formatCode>
                <c:ptCount val="1"/>
                <c:pt idx="0">
                  <c:v>92.27410639855349</c:v>
                </c:pt>
              </c:numCache>
            </c:numRef>
          </c:xVal>
          <c:yVal>
            <c:numRef>
              <c:numCache>
                <c:formatCode>General</c:formatCode>
                <c:ptCount val="1"/>
                <c:pt idx="0">
                  <c:v>74.27941699253465</c:v>
                </c:pt>
              </c:numCache>
            </c:numRef>
          </c:yVal>
          <c:bubbleSize>
            <c:numRef>
              <c:numCache>
                <c:formatCode>General</c:formatCode>
                <c:ptCount val="1"/>
                <c:pt idx="0">
                  <c:v>311.09299999999996</c:v>
                </c:pt>
              </c:numCache>
            </c:numRef>
          </c:bubbleSize>
          <c:bubble3D val="0"/>
        </c:ser>
        <c:ser>
          <c:idx val="3"/>
          <c:order val="3"/>
          <c:tx>
            <c:strRef>
              <c:strCache>
                <c:ptCount val="1"/>
                <c:pt idx="0">
                  <c:v>High-performance Polymers</c:v>
                </c:pt>
              </c:strCache>
            </c:strRef>
          </c:tx>
          <c:spPr>
            <a:solidFill>
              <a:srgbClr val="40315E"/>
            </a:solidFill>
          </c:spPr>
          <c:invertIfNegative val="0"/>
          <c:xVal>
            <c:numRef>
              <c:numCache>
                <c:formatCode>General</c:formatCode>
                <c:ptCount val="1"/>
                <c:pt idx="0">
                  <c:v>106.66624899777055</c:v>
                </c:pt>
              </c:numCache>
            </c:numRef>
          </c:xVal>
          <c:yVal>
            <c:numRef>
              <c:numCache>
                <c:formatCode>General</c:formatCode>
                <c:ptCount val="1"/>
                <c:pt idx="0">
                  <c:v>36.416281549946675</c:v>
                </c:pt>
              </c:numCache>
            </c:numRef>
          </c:yVal>
          <c:bubbleSize>
            <c:numRef>
              <c:numCache>
                <c:formatCode>General</c:formatCode>
                <c:ptCount val="1"/>
                <c:pt idx="0">
                  <c:v>162.057</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5.0"/>
          <c:min val="8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2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324.658</c:v>
                </c:pt>
                <c:pt idx="2">
                  <c:v>353.39300000000003</c:v>
                </c:pt>
                <c:pt idx="3">
                  <c:v>384.693</c:v>
                </c:pt>
                <c:pt idx="4">
                  <c:v>418.794</c:v>
                </c:pt>
                <c:pt idx="5">
                  <c:v>455.944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324.658</c:v>
                </c:pt>
                <c:pt idx="1">
                  <c:v>28.735000000000014</c:v>
                </c:pt>
                <c:pt idx="2">
                  <c:v>31.299999999999955</c:v>
                </c:pt>
                <c:pt idx="3">
                  <c:v>34.101</c:v>
                </c:pt>
                <c:pt idx="4">
                  <c:v>37.150000000000034</c:v>
                </c:pt>
                <c:pt idx="5">
                  <c:v>40.47800000000001</c:v>
                </c:pt>
                <c:pt idx="6">
                  <c:v>496.422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489.155</c:v>
                </c:pt>
                <c:pt idx="2">
                  <c:v>534.396</c:v>
                </c:pt>
                <c:pt idx="3">
                  <c:v>583.825</c:v>
                </c:pt>
                <c:pt idx="4">
                  <c:v>637.813</c:v>
                </c:pt>
                <c:pt idx="5">
                  <c:v>696.801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489.155</c:v>
                </c:pt>
                <c:pt idx="1">
                  <c:v>45.240999999999985</c:v>
                </c:pt>
                <c:pt idx="2">
                  <c:v>49.42900000000009</c:v>
                </c:pt>
                <c:pt idx="3">
                  <c:v>53.98799999999994</c:v>
                </c:pt>
                <c:pt idx="4">
                  <c:v>58.988000000000056</c:v>
                </c:pt>
                <c:pt idx="5">
                  <c:v>64.42699999999991</c:v>
                </c:pt>
                <c:pt idx="6">
                  <c:v>761.228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208.94799999999998</c:v>
                </c:pt>
                <c:pt idx="2">
                  <c:v>226.33499999999998</c:v>
                </c:pt>
                <c:pt idx="3">
                  <c:v>245.12600000000003</c:v>
                </c:pt>
                <c:pt idx="4">
                  <c:v>265.444</c:v>
                </c:pt>
                <c:pt idx="5">
                  <c:v>287.383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208.94799999999998</c:v>
                </c:pt>
                <c:pt idx="1">
                  <c:v>17.387</c:v>
                </c:pt>
                <c:pt idx="2">
                  <c:v>18.791000000000054</c:v>
                </c:pt>
                <c:pt idx="3">
                  <c:v>20.317999999999984</c:v>
                </c:pt>
                <c:pt idx="4">
                  <c:v>21.938999999999965</c:v>
                </c:pt>
                <c:pt idx="5">
                  <c:v>23.70999999999998</c:v>
                </c:pt>
                <c:pt idx="6">
                  <c:v>311.09299999999996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102.439</c:v>
                </c:pt>
                <c:pt idx="2">
                  <c:v>112.279</c:v>
                </c:pt>
                <c:pt idx="3">
                  <c:v>123.06400000000001</c:v>
                </c:pt>
                <c:pt idx="4">
                  <c:v>134.883</c:v>
                </c:pt>
                <c:pt idx="5">
                  <c:v>147.846</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102.439</c:v>
                </c:pt>
                <c:pt idx="1">
                  <c:v>9.840000000000003</c:v>
                </c:pt>
                <c:pt idx="2">
                  <c:v>10.78500000000001</c:v>
                </c:pt>
                <c:pt idx="3">
                  <c:v>11.819000000000003</c:v>
                </c:pt>
                <c:pt idx="4">
                  <c:v>12.962999999999994</c:v>
                </c:pt>
                <c:pt idx="5">
                  <c:v>14.210999999999984</c:v>
                </c:pt>
                <c:pt idx="6">
                  <c:v>162.057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Acrylic / Resin</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43.22049933558158</c:v>
                </c:pt>
                <c:pt idx="1">
                  <c:v>43.47271596160682</c:v>
                </c:pt>
                <c:pt idx="2">
                  <c:v>43.98128033279408</c:v>
                </c:pt>
              </c:numCache>
            </c:numRef>
          </c:val>
        </c:ser>
        <c:ser>
          <c:idx val="1"/>
          <c:order val="1"/>
          <c:tx>
            <c:strRef>
              <c:strCache>
                <c:ptCount val="1"/>
                <c:pt idx="0">
                  <c:v>Metal Alloys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28.95383021811737</c:v>
                </c:pt>
                <c:pt idx="1">
                  <c:v>28.85335940277284</c:v>
                </c:pt>
                <c:pt idx="2">
                  <c:v>28.68165010399815</c:v>
                </c:pt>
              </c:numCache>
            </c:numRef>
          </c:val>
        </c:ser>
        <c:ser>
          <c:idx val="2"/>
          <c:order val="2"/>
          <c:tx>
            <c:strRef>
              <c:strCache>
                <c:ptCount val="1"/>
                <c:pt idx="0">
                  <c:v>Flexible Thermoplastics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18.847425959784577</c:v>
                </c:pt>
                <c:pt idx="1">
                  <c:v>18.569854248133662</c:v>
                </c:pt>
                <c:pt idx="2">
                  <c:v>17.973942685463367</c:v>
                </c:pt>
              </c:numCache>
            </c:numRef>
          </c:val>
        </c:ser>
        <c:ser>
          <c:idx val="3"/>
          <c:order val="3"/>
          <c:tx>
            <c:strRef>
              <c:strCache>
                <c:ptCount val="1"/>
                <c:pt idx="0">
                  <c:v>High-performance Polymers</c:v>
                </c:pt>
              </c:strCache>
            </c:strRef>
          </c:tx>
          <c:spPr>
            <a:solidFill>
              <a:srgbClr val="40315E"/>
            </a:solidFill>
            <a:ln>
              <a:noFill/>
            </a:ln>
          </c:spPr>
          <c:dLbls>
            <c:dLbl>
              <c:idx val="0"/>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8.97824448651647</c:v>
                </c:pt>
                <c:pt idx="1">
                  <c:v>9.104070387486669</c:v>
                </c:pt>
                <c:pt idx="2">
                  <c:v>9.363126877744394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Conventional Fabrication</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45.34658749749817</c:v>
                </c:pt>
                <c:pt idx="1">
                  <c:v>46.57558996025238</c:v>
                </c:pt>
                <c:pt idx="2">
                  <c:v>45.170071098070196</c:v>
                </c:pt>
                <c:pt idx="3">
                  <c:v>48.16476219547262</c:v>
                </c:pt>
                <c:pt idx="4">
                  <c:v>50.408171090790574</c:v>
                </c:pt>
                <c:pt idx="5">
                  <c:v>40.66366994016091</c:v>
                </c:pt>
              </c:numCache>
            </c:numRef>
          </c:val>
        </c:ser>
        <c:ser>
          <c:idx val="1"/>
          <c:order val="1"/>
          <c:tx>
            <c:strRef>
              <c:strCache>
                <c:ptCount val="1"/>
                <c:pt idx="0">
                  <c:v>Digital Fabrication</c:v>
                </c:pt>
              </c:strCache>
            </c:strRef>
          </c:tx>
          <c:spPr>
            <a:solidFill>
              <a:srgbClr val="9E7E0A"/>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54.65341250250183</c:v>
                </c:pt>
                <c:pt idx="1">
                  <c:v>53.42441003974761</c:v>
                </c:pt>
                <c:pt idx="2">
                  <c:v>54.829928901929804</c:v>
                </c:pt>
                <c:pt idx="3">
                  <c:v>51.83523780452738</c:v>
                </c:pt>
                <c:pt idx="4">
                  <c:v>49.591828909209426</c:v>
                </c:pt>
                <c:pt idx="5">
                  <c:v>59.33633005983909</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30.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Conventional Fabrication</c:v>
                </c:pt>
              </c:strCache>
            </c:strRef>
          </c:tx>
          <c:spPr>
            <a:solidFill>
              <a:srgbClr val="3D85C6"/>
            </a:solidFill>
          </c:spPr>
          <c:invertIfNegative val="0"/>
          <c:xVal>
            <c:numRef>
              <c:numCache>
                <c:formatCode>General</c:formatCode>
                <c:ptCount val="1"/>
                <c:pt idx="0">
                  <c:v>130.8978683401889</c:v>
                </c:pt>
              </c:numCache>
            </c:numRef>
          </c:xVal>
          <c:yVal>
            <c:numRef>
              <c:numCache>
                <c:formatCode>General</c:formatCode>
                <c:ptCount val="1"/>
                <c:pt idx="0">
                  <c:v>80.52808389619624</c:v>
                </c:pt>
              </c:numCache>
            </c:numRef>
          </c:yVal>
          <c:bubbleSize>
            <c:numRef>
              <c:numCache>
                <c:formatCode>General</c:formatCode>
                <c:ptCount val="1"/>
                <c:pt idx="0">
                  <c:v>793.153</c:v>
                </c:pt>
              </c:numCache>
            </c:numRef>
          </c:bubbleSize>
          <c:bubble3D val="0"/>
        </c:ser>
        <c:ser>
          <c:idx val="1"/>
          <c:order val="1"/>
          <c:tx>
            <c:strRef>
              <c:strCache>
                <c:ptCount val="1"/>
                <c:pt idx="0">
                  <c:v>Digital Fabrication</c:v>
                </c:pt>
              </c:strCache>
            </c:strRef>
          </c:tx>
          <c:spPr>
            <a:solidFill>
              <a:srgbClr val="9E7E0A"/>
            </a:solidFill>
          </c:spPr>
          <c:invertIfNegative val="0"/>
          <c:xVal>
            <c:numRef>
              <c:numCache>
                <c:formatCode>General</c:formatCode>
                <c:ptCount val="1"/>
                <c:pt idx="0">
                  <c:v>76.92588416104496</c:v>
                </c:pt>
              </c:numCache>
            </c:numRef>
          </c:xVal>
          <c:yVal>
            <c:numRef>
              <c:numCache>
                <c:formatCode>General</c:formatCode>
                <c:ptCount val="1"/>
                <c:pt idx="0">
                  <c:v>119.47191610380376</c:v>
                </c:pt>
              </c:numCache>
            </c:numRef>
          </c:yVal>
          <c:bubbleSize>
            <c:numRef>
              <c:numCache>
                <c:formatCode>General</c:formatCode>
                <c:ptCount val="1"/>
                <c:pt idx="0">
                  <c:v>937.6469999999999</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45.0"/>
          <c:min val="6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30.0"/>
          <c:min val="7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453.05100000000004</c:v>
                </c:pt>
                <c:pt idx="2">
                  <c:v>506.82000000000005</c:v>
                </c:pt>
                <c:pt idx="3">
                  <c:v>566.924</c:v>
                </c:pt>
                <c:pt idx="4">
                  <c:v>634.115</c:v>
                </c:pt>
                <c:pt idx="5">
                  <c:v>709.207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453.05100000000004</c:v>
                </c:pt>
                <c:pt idx="1">
                  <c:v>53.769000000000005</c:v>
                </c:pt>
                <c:pt idx="2">
                  <c:v>60.10399999999993</c:v>
                </c:pt>
                <c:pt idx="3">
                  <c:v>67.19100000000003</c:v>
                </c:pt>
                <c:pt idx="4">
                  <c:v>75.09199999999998</c:v>
                </c:pt>
                <c:pt idx="5">
                  <c:v>83.94600000000003</c:v>
                </c:pt>
                <c:pt idx="6">
                  <c:v>793.153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672.149</c:v>
                </c:pt>
                <c:pt idx="2">
                  <c:v>719.583</c:v>
                </c:pt>
                <c:pt idx="3">
                  <c:v>769.784</c:v>
                </c:pt>
                <c:pt idx="4">
                  <c:v>822.8190000000001</c:v>
                </c:pt>
                <c:pt idx="5">
                  <c:v>878.767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672.149</c:v>
                </c:pt>
                <c:pt idx="1">
                  <c:v>47.43399999999997</c:v>
                </c:pt>
                <c:pt idx="2">
                  <c:v>50.20100000000002</c:v>
                </c:pt>
                <c:pt idx="3">
                  <c:v>53.03500000000008</c:v>
                </c:pt>
                <c:pt idx="4">
                  <c:v>55.94799999999998</c:v>
                </c:pt>
                <c:pt idx="5">
                  <c:v>58.87999999999988</c:v>
                </c:pt>
                <c:pt idx="6">
                  <c:v>937.6469999999999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Digital Fabrication</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62.28828082679817</c:v>
                </c:pt>
                <c:pt idx="1">
                  <c:v>59.73595805190188</c:v>
                </c:pt>
                <c:pt idx="2">
                  <c:v>54.17419690316616</c:v>
                </c:pt>
              </c:numCache>
            </c:numRef>
          </c:val>
        </c:ser>
        <c:ser>
          <c:idx val="1"/>
          <c:order val="1"/>
          <c:tx>
            <c:strRef>
              <c:strCache>
                <c:ptCount val="1"/>
                <c:pt idx="0">
                  <c:v>Conventional Fabrication</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37.71171917320182</c:v>
                </c:pt>
                <c:pt idx="1">
                  <c:v>40.26404194809812</c:v>
                </c:pt>
                <c:pt idx="2">
                  <c:v>45.82580309683383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Dental Clinics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15.321235572753352</c:v>
                </c:pt>
                <c:pt idx="1">
                  <c:v>11.971537371098204</c:v>
                </c:pt>
                <c:pt idx="2">
                  <c:v>14.58029567768875</c:v>
                </c:pt>
                <c:pt idx="3">
                  <c:v>14.546532358314861</c:v>
                </c:pt>
                <c:pt idx="4">
                  <c:v>14.951473553136912</c:v>
                </c:pt>
                <c:pt idx="5">
                  <c:v>10.88689743369504</c:v>
                </c:pt>
              </c:numCache>
            </c:numRef>
          </c:val>
        </c:ser>
        <c:ser>
          <c:idx val="1"/>
          <c:order val="1"/>
          <c:tx>
            <c:strRef>
              <c:strCache>
                <c:ptCount val="1"/>
                <c:pt idx="0">
                  <c:v>Dental Hospitals</c:v>
                </c:pt>
              </c:strCache>
            </c:strRef>
          </c:tx>
          <c:spPr>
            <a:solidFill>
              <a:srgbClr val="9E7E0A"/>
            </a:solidFill>
            <a:ln>
              <a:noFill/>
            </a:ln>
          </c:spPr>
          <c:dLbls>
            <c:dLbl>
              <c:idx val="0"/>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quot;;&quot;MMM&quot;;&quot;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9.19424244445927</c:v>
                </c:pt>
                <c:pt idx="1">
                  <c:v>8.421352530783558</c:v>
                </c:pt>
                <c:pt idx="2">
                  <c:v>8.248730391603656</c:v>
                </c:pt>
                <c:pt idx="3">
                  <c:v>8.963180223581821</c:v>
                </c:pt>
                <c:pt idx="4">
                  <c:v>8.181786992207918</c:v>
                </c:pt>
                <c:pt idx="5">
                  <c:v>8.335671543505025</c:v>
                </c:pt>
              </c:numCache>
            </c:numRef>
          </c:val>
        </c:ser>
        <c:ser>
          <c:idx val="2"/>
          <c:order val="2"/>
          <c:tx>
            <c:strRef>
              <c:strCache>
                <c:ptCount val="1"/>
                <c:pt idx="0">
                  <c:v>Dental Laboratories</c:v>
                </c:pt>
              </c:strCache>
            </c:strRef>
          </c:tx>
          <c:spPr>
            <a:solidFill>
              <a:srgbClr val="008189"/>
            </a:solidFill>
            <a:ln>
              <a:noFill/>
            </a:ln>
          </c:spPr>
          <c:dLbls>
            <c:dLbl>
              <c:idx val="0"/>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41.97828407498832</c:v>
                </c:pt>
                <c:pt idx="1">
                  <c:v>43.730716846874394</c:v>
                </c:pt>
                <c:pt idx="2">
                  <c:v>43.71199638866945</c:v>
                </c:pt>
                <c:pt idx="3">
                  <c:v>37.63420881498096</c:v>
                </c:pt>
                <c:pt idx="4">
                  <c:v>37.75779359559882</c:v>
                </c:pt>
                <c:pt idx="5">
                  <c:v>35.48983117168189</c:v>
                </c:pt>
              </c:numCache>
            </c:numRef>
          </c:val>
        </c:ser>
        <c:ser>
          <c:idx val="3"/>
          <c:order val="3"/>
          <c:tx>
            <c:strRef>
              <c:strCache>
                <c:ptCount val="1"/>
                <c:pt idx="0">
                  <c:v>Academic &amp; Teaching Dental Institutions</c:v>
                </c:pt>
              </c:strCache>
            </c:strRef>
          </c:tx>
          <c:spPr>
            <a:solidFill>
              <a:srgbClr val="40315E"/>
            </a:solidFill>
            <a:ln>
              <a:noFill/>
            </a:ln>
          </c:spPr>
          <c:dLbls>
            <c:dLbl>
              <c:idx val="0"/>
              <c:numFmt formatCode="&quot;MMMM&quot;;&quot;MMMM&quot;;&quot;MMMM&quot;" sourceLinked="0"/>
              <c:spPr>
                <a:blipFill>
                  <a:blip r:embed="rId1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2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2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2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33.50623790779905</c:v>
                </c:pt>
                <c:pt idx="1">
                  <c:v>35.876393251243854</c:v>
                </c:pt>
                <c:pt idx="2">
                  <c:v>33.45897754203815</c:v>
                </c:pt>
                <c:pt idx="3">
                  <c:v>38.856078603122356</c:v>
                </c:pt>
                <c:pt idx="4">
                  <c:v>39.108945859056355</c:v>
                </c:pt>
                <c:pt idx="5">
                  <c:v>45.287599851118046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35.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Dental Clinics</c:v>
                </c:pt>
              </c:strCache>
            </c:strRef>
          </c:tx>
          <c:spPr>
            <a:solidFill>
              <a:srgbClr val="3D85C6"/>
            </a:solidFill>
          </c:spPr>
          <c:invertIfNegative val="0"/>
          <c:xVal>
            <c:numRef>
              <c:numCache>
                <c:formatCode>General</c:formatCode>
                <c:ptCount val="1"/>
                <c:pt idx="0">
                  <c:v>111.05348532813184</c:v>
                </c:pt>
              </c:numCache>
            </c:numRef>
          </c:xVal>
          <c:yVal>
            <c:numRef>
              <c:numCache>
                <c:formatCode>General</c:formatCode>
                <c:ptCount val="1"/>
                <c:pt idx="0">
                  <c:v>51.16032705296837</c:v>
                </c:pt>
              </c:numCache>
            </c:numRef>
          </c:yVal>
          <c:bubbleSize>
            <c:numRef>
              <c:numCache>
                <c:formatCode>General</c:formatCode>
                <c:ptCount val="1"/>
                <c:pt idx="0">
                  <c:v>231.903</c:v>
                </c:pt>
              </c:numCache>
            </c:numRef>
          </c:bubbleSize>
          <c:bubble3D val="0"/>
        </c:ser>
        <c:ser>
          <c:idx val="1"/>
          <c:order val="1"/>
          <c:tx>
            <c:strRef>
              <c:strCache>
                <c:ptCount val="1"/>
                <c:pt idx="0">
                  <c:v>Dental Hospitals</c:v>
                </c:pt>
              </c:strCache>
            </c:strRef>
          </c:tx>
          <c:spPr>
            <a:solidFill>
              <a:srgbClr val="9E7E0A"/>
            </a:solidFill>
          </c:spPr>
          <c:invertIfNegative val="0"/>
          <c:xVal>
            <c:numRef>
              <c:numCache>
                <c:formatCode>General</c:formatCode>
                <c:ptCount val="1"/>
                <c:pt idx="0">
                  <c:v>147.09674341200142</c:v>
                </c:pt>
              </c:numCache>
            </c:numRef>
          </c:xVal>
          <c:yVal>
            <c:numRef>
              <c:numCache>
                <c:formatCode>General</c:formatCode>
                <c:ptCount val="1"/>
                <c:pt idx="0">
                  <c:v>27.699608958407396</c:v>
                </c:pt>
              </c:numCache>
            </c:numRef>
          </c:yVal>
          <c:bubbleSize>
            <c:numRef>
              <c:numCache>
                <c:formatCode>General</c:formatCode>
                <c:ptCount val="1"/>
                <c:pt idx="0">
                  <c:v>145.89</c:v>
                </c:pt>
              </c:numCache>
            </c:numRef>
          </c:bubbleSize>
          <c:bubble3D val="0"/>
        </c:ser>
        <c:ser>
          <c:idx val="2"/>
          <c:order val="2"/>
          <c:tx>
            <c:strRef>
              <c:strCache>
                <c:ptCount val="1"/>
                <c:pt idx="0">
                  <c:v>Dental Laboratories</c:v>
                </c:pt>
              </c:strCache>
            </c:strRef>
          </c:tx>
          <c:spPr>
            <a:solidFill>
              <a:srgbClr val="008189"/>
            </a:solidFill>
          </c:spPr>
          <c:invertIfNegative val="0"/>
          <c:xVal>
            <c:numRef>
              <c:numCache>
                <c:formatCode>General</c:formatCode>
                <c:ptCount val="1"/>
                <c:pt idx="0">
                  <c:v>71.57284159060377</c:v>
                </c:pt>
              </c:numCache>
            </c:numRef>
          </c:xVal>
          <c:yVal>
            <c:numRef>
              <c:numCache>
                <c:formatCode>General</c:formatCode>
                <c:ptCount val="1"/>
                <c:pt idx="0">
                  <c:v>174.207607536438</c:v>
                </c:pt>
              </c:numCache>
            </c:numRef>
          </c:yVal>
          <c:bubbleSize>
            <c:numRef>
              <c:numCache>
                <c:formatCode>General</c:formatCode>
                <c:ptCount val="1"/>
                <c:pt idx="0">
                  <c:v>668.197</c:v>
                </c:pt>
              </c:numCache>
            </c:numRef>
          </c:bubbleSize>
          <c:bubble3D val="0"/>
        </c:ser>
        <c:ser>
          <c:idx val="3"/>
          <c:order val="3"/>
          <c:tx>
            <c:strRef>
              <c:strCache>
                <c:ptCount val="1"/>
                <c:pt idx="0">
                  <c:v>Academic &amp; Teaching Dental Institutions</c:v>
                </c:pt>
              </c:strCache>
            </c:strRef>
          </c:tx>
          <c:spPr>
            <a:solidFill>
              <a:srgbClr val="40315E"/>
            </a:solidFill>
          </c:spPr>
          <c:invertIfNegative val="0"/>
          <c:xVal>
            <c:numRef>
              <c:numCache>
                <c:formatCode>General</c:formatCode>
                <c:ptCount val="1"/>
                <c:pt idx="0">
                  <c:v>117.69244923779387</c:v>
                </c:pt>
              </c:numCache>
            </c:numRef>
          </c:xVal>
          <c:yVal>
            <c:numRef>
              <c:numCache>
                <c:formatCode>General</c:formatCode>
                <c:ptCount val="1"/>
                <c:pt idx="0">
                  <c:v>146.9324564521863</c:v>
                </c:pt>
              </c:numCache>
            </c:numRef>
          </c:yVal>
          <c:bubbleSize>
            <c:numRef>
              <c:numCache>
                <c:formatCode>General</c:formatCode>
                <c:ptCount val="1"/>
                <c:pt idx="0">
                  <c:v>684.81</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70.0"/>
          <c:min val="5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2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143.914</c:v>
                </c:pt>
                <c:pt idx="2">
                  <c:v>158.152</c:v>
                </c:pt>
                <c:pt idx="3">
                  <c:v>173.88</c:v>
                </c:pt>
                <c:pt idx="4">
                  <c:v>191.276</c:v>
                </c:pt>
                <c:pt idx="5">
                  <c:v>210.539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143.914</c:v>
                </c:pt>
                <c:pt idx="1">
                  <c:v>14.238</c:v>
                </c:pt>
                <c:pt idx="2">
                  <c:v>15.728000000000009</c:v>
                </c:pt>
                <c:pt idx="3">
                  <c:v>17.396000000000015</c:v>
                </c:pt>
                <c:pt idx="4">
                  <c:v>19.262999999999977</c:v>
                </c:pt>
                <c:pt idx="5">
                  <c:v>21.364000000000004</c:v>
                </c:pt>
                <c:pt idx="6">
                  <c:v>231.903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77.919</c:v>
                </c:pt>
                <c:pt idx="2">
                  <c:v>88.054</c:v>
                </c:pt>
                <c:pt idx="3">
                  <c:v>99.651</c:v>
                </c:pt>
                <c:pt idx="4">
                  <c:v>112.952</c:v>
                </c:pt>
                <c:pt idx="5">
                  <c:v>128.249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77.919</c:v>
                </c:pt>
                <c:pt idx="1">
                  <c:v>10.135000000000005</c:v>
                </c:pt>
                <c:pt idx="2">
                  <c:v>11.596999999999994</c:v>
                </c:pt>
                <c:pt idx="3">
                  <c:v>13.301000000000002</c:v>
                </c:pt>
                <c:pt idx="4">
                  <c:v>15.296999999999997</c:v>
                </c:pt>
                <c:pt idx="5">
                  <c:v>17.64099999999999</c:v>
                </c:pt>
                <c:pt idx="6">
                  <c:v>145.89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490.046</c:v>
                </c:pt>
                <c:pt idx="2">
                  <c:v>523.856</c:v>
                </c:pt>
                <c:pt idx="3">
                  <c:v>558.885</c:v>
                </c:pt>
                <c:pt idx="4">
                  <c:v>594.888</c:v>
                </c:pt>
                <c:pt idx="5">
                  <c:v>631.486</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490.046</c:v>
                </c:pt>
                <c:pt idx="1">
                  <c:v>33.81</c:v>
                </c:pt>
                <c:pt idx="2">
                  <c:v>35.028999999999996</c:v>
                </c:pt>
                <c:pt idx="3">
                  <c:v>36.00300000000004</c:v>
                </c:pt>
                <c:pt idx="4">
                  <c:v>36.597999999999956</c:v>
                </c:pt>
                <c:pt idx="5">
                  <c:v>36.71100000000001</c:v>
                </c:pt>
                <c:pt idx="6">
                  <c:v>668.197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413.321</c:v>
                </c:pt>
                <c:pt idx="2">
                  <c:v>456.341</c:v>
                </c:pt>
                <c:pt idx="3">
                  <c:v>504.292</c:v>
                </c:pt>
                <c:pt idx="4">
                  <c:v>557.818</c:v>
                </c:pt>
                <c:pt idx="5">
                  <c:v>617.7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413.321</c:v>
                </c:pt>
                <c:pt idx="1">
                  <c:v>43.01999999999998</c:v>
                </c:pt>
                <c:pt idx="2">
                  <c:v>47.950999999999965</c:v>
                </c:pt>
                <c:pt idx="3">
                  <c:v>53.52600000000001</c:v>
                </c:pt>
                <c:pt idx="4">
                  <c:v>59.88200000000006</c:v>
                </c:pt>
                <c:pt idx="5">
                  <c:v>67.1099999999999</c:v>
                </c:pt>
                <c:pt idx="6">
                  <c:v>684.81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Academic &amp; Teaching Dental Institutions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35.687432490439186</c:v>
                </c:pt>
                <c:pt idx="1">
                  <c:v>36.733114113046575</c:v>
                </c:pt>
                <c:pt idx="2">
                  <c:v>39.56609660272706</c:v>
                </c:pt>
              </c:numCache>
            </c:numRef>
          </c:val>
        </c:ser>
        <c:ser>
          <c:idx val="1"/>
          <c:order val="1"/>
          <c:tx>
            <c:strRef>
              <c:strCache>
                <c:ptCount val="1"/>
                <c:pt idx="0">
                  <c:v>Laboratories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45.396050683934696</c:v>
                </c:pt>
                <c:pt idx="1">
                  <c:v>43.55190188410949</c:v>
                </c:pt>
                <c:pt idx="2">
                  <c:v>38.60625144441877</c:v>
                </c:pt>
              </c:numCache>
            </c:numRef>
          </c:val>
        </c:ser>
        <c:ser>
          <c:idx val="2"/>
          <c:order val="2"/>
          <c:tx>
            <c:strRef>
              <c:strCache>
                <c:ptCount val="1"/>
                <c:pt idx="0">
                  <c:v>Clinics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12.553129145857412</c:v>
                </c:pt>
                <c:pt idx="1">
                  <c:v>12.790081763242089</c:v>
                </c:pt>
                <c:pt idx="2">
                  <c:v>13.39860180263462</c:v>
                </c:pt>
              </c:numCache>
            </c:numRef>
          </c:val>
        </c:ser>
        <c:ser>
          <c:idx val="3"/>
          <c:order val="3"/>
          <c:tx>
            <c:strRef>
              <c:strCache>
                <c:ptCount val="1"/>
                <c:pt idx="0">
                  <c:v>Hospitals</c:v>
                </c:pt>
              </c:strCache>
            </c:strRef>
          </c:tx>
          <c:spPr>
            <a:solidFill>
              <a:srgbClr val="40315E"/>
            </a:solidFill>
            <a:ln>
              <a:noFill/>
            </a:ln>
          </c:spPr>
          <c:dLbls>
            <c:dLbl>
              <c:idx val="0"/>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6.363387679768702</c:v>
                </c:pt>
                <c:pt idx="1">
                  <c:v>6.924902239601847</c:v>
                </c:pt>
                <c:pt idx="2">
                  <c:v>8.42905015021955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Direct Sales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39.35135766228567</c:v>
                </c:pt>
                <c:pt idx="1">
                  <c:v>39.559996664535674</c:v>
                </c:pt>
                <c:pt idx="2">
                  <c:v>38.19343189256293</c:v>
                </c:pt>
                <c:pt idx="3">
                  <c:v>40.93617698974107</c:v>
                </c:pt>
                <c:pt idx="4">
                  <c:v>40.74929919697762</c:v>
                </c:pt>
                <c:pt idx="5">
                  <c:v>35.94086714194367</c:v>
                </c:pt>
              </c:numCache>
            </c:numRef>
          </c:val>
        </c:ser>
        <c:ser>
          <c:idx val="1"/>
          <c:order val="1"/>
          <c:tx>
            <c:strRef>
              <c:strCache>
                <c:ptCount val="1"/>
                <c:pt idx="0">
                  <c:v>Dental Dealers &amp; Distributors</c:v>
                </c:pt>
              </c:strCache>
            </c:strRef>
          </c:tx>
          <c:spPr>
            <a:solidFill>
              <a:srgbClr val="9E7E0A"/>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52.01731269597706</c:v>
                </c:pt>
                <c:pt idx="1">
                  <c:v>50.544792506323475</c:v>
                </c:pt>
                <c:pt idx="2">
                  <c:v>54.16589549712223</c:v>
                </c:pt>
                <c:pt idx="3">
                  <c:v>49.750273173278124</c:v>
                </c:pt>
                <c:pt idx="4">
                  <c:v>50.188192604282925</c:v>
                </c:pt>
                <c:pt idx="5">
                  <c:v>56.04603888109485</c:v>
                </c:pt>
              </c:numCache>
            </c:numRef>
          </c:val>
        </c:ser>
        <c:ser>
          <c:idx val="2"/>
          <c:order val="2"/>
          <c:tx>
            <c:strRef>
              <c:strCache>
                <c:ptCount val="1"/>
                <c:pt idx="0">
                  <c:v>Online Dental Supply Channels</c:v>
                </c:pt>
              </c:strCache>
            </c:strRef>
          </c:tx>
          <c:spPr>
            <a:solidFill>
              <a:srgbClr val="008189"/>
            </a:solidFill>
            <a:ln>
              <a:noFill/>
            </a:ln>
          </c:spPr>
          <c:dLbls>
            <c:dLbl>
              <c:idx val="0"/>
              <c:numFmt formatCode="&quot;MMM&quot;;&quot;MMM&quot;;&quot;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quot;;&quot;MMM&quot;;&quot;MMM&quot;" sourceLinked="0"/>
              <c:spPr>
                <a:blipFill>
                  <a:blip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quot;;&quot;MMM&quot;;&quot;MMM&quot;" sourceLinked="0"/>
              <c:spPr>
                <a:blipFill>
                  <a:blip r:embed="rId1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quot;;&quot;MMM&quot;;&quot;MMM&quot;" sourceLinked="0"/>
              <c:spPr>
                <a:blipFill>
                  <a:blip r:embed="rId1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quot;;&quot;MMM&quot;;&quot;MMM&quot;" sourceLinked="0"/>
              <c:spPr>
                <a:blipFill>
                  <a:blip r:embed="rId1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quot;;&quot;MMM&quot;;&quot;MMM&quot;" sourceLinked="0"/>
              <c:spPr>
                <a:blipFill>
                  <a:blip r:embed="rId1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8.631329641737274</c:v>
                </c:pt>
                <c:pt idx="1">
                  <c:v>9.89521082914084</c:v>
                </c:pt>
                <c:pt idx="2">
                  <c:v>7.640672610314862</c:v>
                </c:pt>
                <c:pt idx="3">
                  <c:v>9.313549836980805</c:v>
                </c:pt>
                <c:pt idx="4">
                  <c:v>9.062508198739465</c:v>
                </c:pt>
                <c:pt idx="5">
                  <c:v>8.013093976961473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42.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Direct Sales</c:v>
                </c:pt>
              </c:strCache>
            </c:strRef>
          </c:tx>
          <c:spPr>
            <a:solidFill>
              <a:srgbClr val="3D85C6"/>
            </a:solidFill>
          </c:spPr>
          <c:invertIfNegative val="0"/>
          <c:xVal>
            <c:numRef>
              <c:numCache>
                <c:formatCode>General</c:formatCode>
                <c:ptCount val="1"/>
                <c:pt idx="0">
                  <c:v>194.67212285775867</c:v>
                </c:pt>
              </c:numCache>
            </c:numRef>
          </c:xVal>
          <c:yVal>
            <c:numRef>
              <c:numCache>
                <c:formatCode>General</c:formatCode>
                <c:ptCount val="1"/>
                <c:pt idx="0">
                  <c:v>78.69987557767509</c:v>
                </c:pt>
              </c:numCache>
            </c:numRef>
          </c:yVal>
          <c:bubbleSize>
            <c:numRef>
              <c:numCache>
                <c:formatCode>General</c:formatCode>
                <c:ptCount val="1"/>
                <c:pt idx="0">
                  <c:v>671.47</c:v>
                </c:pt>
              </c:numCache>
            </c:numRef>
          </c:bubbleSize>
          <c:bubble3D val="0"/>
        </c:ser>
        <c:ser>
          <c:idx val="1"/>
          <c:order val="1"/>
          <c:tx>
            <c:strRef>
              <c:strCache>
                <c:ptCount val="1"/>
                <c:pt idx="0">
                  <c:v>Dental Dealers &amp; Distributors</c:v>
                </c:pt>
              </c:strCache>
            </c:strRef>
          </c:tx>
          <c:spPr>
            <a:solidFill>
              <a:srgbClr val="9E7E0A"/>
            </a:solidFill>
          </c:spPr>
          <c:invertIfNegative val="0"/>
          <c:xVal>
            <c:numRef>
              <c:numCache>
                <c:formatCode>General</c:formatCode>
                <c:ptCount val="1"/>
                <c:pt idx="0">
                  <c:v>56.19359954308071</c:v>
                </c:pt>
              </c:numCache>
            </c:numRef>
          </c:xVal>
          <c:yVal>
            <c:numRef>
              <c:numCache>
                <c:formatCode>General</c:formatCode>
                <c:ptCount val="1"/>
                <c:pt idx="0">
                  <c:v>190.01688588695342</c:v>
                </c:pt>
              </c:numCache>
            </c:numRef>
          </c:yVal>
          <c:bubbleSize>
            <c:numRef>
              <c:numCache>
                <c:formatCode>General</c:formatCode>
                <c:ptCount val="1"/>
                <c:pt idx="0">
                  <c:v>909.875</c:v>
                </c:pt>
              </c:numCache>
            </c:numRef>
          </c:bubbleSize>
          <c:bubble3D val="0"/>
        </c:ser>
        <c:ser>
          <c:idx val="2"/>
          <c:order val="2"/>
          <c:tx>
            <c:strRef>
              <c:strCache>
                <c:ptCount val="1"/>
                <c:pt idx="0">
                  <c:v>Online Dental Supply Channels</c:v>
                </c:pt>
              </c:strCache>
            </c:strRef>
          </c:tx>
          <c:spPr>
            <a:solidFill>
              <a:srgbClr val="008189"/>
            </a:solidFill>
          </c:spPr>
          <c:invertIfNegative val="0"/>
          <c:xVal>
            <c:numRef>
              <c:numCache>
                <c:formatCode>General</c:formatCode>
                <c:ptCount val="1"/>
                <c:pt idx="0">
                  <c:v>55.662377880120474</c:v>
                </c:pt>
              </c:numCache>
            </c:numRef>
          </c:xVal>
          <c:yVal>
            <c:numRef>
              <c:numCache>
                <c:formatCode>General</c:formatCode>
                <c:ptCount val="1"/>
                <c:pt idx="0">
                  <c:v>31.283238535371495</c:v>
                </c:pt>
              </c:numCache>
            </c:numRef>
          </c:yVal>
          <c:bubbleSize>
            <c:numRef>
              <c:numCache>
                <c:formatCode>General</c:formatCode>
                <c:ptCount val="1"/>
                <c:pt idx="0">
                  <c:v>149.455</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230.0"/>
          <c:min val="2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5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295.177</c:v>
                </c:pt>
                <c:pt idx="2">
                  <c:v>348.923</c:v>
                </c:pt>
                <c:pt idx="3">
                  <c:v>411.744</c:v>
                </c:pt>
                <c:pt idx="4">
                  <c:v>485.187</c:v>
                </c:pt>
                <c:pt idx="5">
                  <c:v>571.048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295.177</c:v>
                </c:pt>
                <c:pt idx="1">
                  <c:v>53.74599999999998</c:v>
                </c:pt>
                <c:pt idx="2">
                  <c:v>62.821000000000026</c:v>
                </c:pt>
                <c:pt idx="3">
                  <c:v>73.44299999999998</c:v>
                </c:pt>
                <c:pt idx="4">
                  <c:v>85.86099999999999</c:v>
                </c:pt>
                <c:pt idx="5">
                  <c:v>100.42200000000003</c:v>
                </c:pt>
                <c:pt idx="6">
                  <c:v>671.47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712.69</c:v>
                </c:pt>
                <c:pt idx="2">
                  <c:v>753.423</c:v>
                </c:pt>
                <c:pt idx="3">
                  <c:v>794.209</c:v>
                </c:pt>
                <c:pt idx="4">
                  <c:v>834.423</c:v>
                </c:pt>
                <c:pt idx="5">
                  <c:v>873.311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712.69</c:v>
                </c:pt>
                <c:pt idx="1">
                  <c:v>40.73299999999995</c:v>
                </c:pt>
                <c:pt idx="2">
                  <c:v>40.785999999999945</c:v>
                </c:pt>
                <c:pt idx="3">
                  <c:v>40.214000000000055</c:v>
                </c:pt>
                <c:pt idx="4">
                  <c:v>38.888000000000034</c:v>
                </c:pt>
                <c:pt idx="5">
                  <c:v>36.563999999999965</c:v>
                </c:pt>
                <c:pt idx="6">
                  <c:v>909.875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117.333</c:v>
                </c:pt>
                <c:pt idx="2">
                  <c:v>124.057</c:v>
                </c:pt>
                <c:pt idx="3">
                  <c:v>130.755</c:v>
                </c:pt>
                <c:pt idx="4">
                  <c:v>137.324</c:v>
                </c:pt>
                <c:pt idx="5">
                  <c:v>143.615</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117.333</c:v>
                </c:pt>
                <c:pt idx="1">
                  <c:v>6.724000000000004</c:v>
                </c:pt>
                <c:pt idx="2">
                  <c:v>6.697999999999993</c:v>
                </c:pt>
                <c:pt idx="3">
                  <c:v>6.569000000000017</c:v>
                </c:pt>
                <c:pt idx="4">
                  <c:v>6.290999999999997</c:v>
                </c:pt>
                <c:pt idx="5">
                  <c:v>5.840000000000003</c:v>
                </c:pt>
                <c:pt idx="6">
                  <c:v>149.455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Dental Dealers &amp; Distributors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67.6625554537994</c:v>
                </c:pt>
                <c:pt idx="1">
                  <c:v>63.33896196231781</c:v>
                </c:pt>
                <c:pt idx="2">
                  <c:v>52.56962098451583</c:v>
                </c:pt>
              </c:numCache>
            </c:numRef>
          </c:val>
        </c:ser>
        <c:ser>
          <c:idx val="1"/>
          <c:order val="1"/>
          <c:tx>
            <c:strRef>
              <c:strCache>
                <c:ptCount val="1"/>
                <c:pt idx="0">
                  <c:v>Direct Sales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21.210355196249417</c:v>
                </c:pt>
                <c:pt idx="1">
                  <c:v>26.233291859225027</c:v>
                </c:pt>
                <c:pt idx="2">
                  <c:v>38.79535474924891</c:v>
                </c:pt>
              </c:numCache>
            </c:numRef>
          </c:val>
        </c:ser>
        <c:ser>
          <c:idx val="2"/>
          <c:order val="2"/>
          <c:tx>
            <c:strRef>
              <c:strCache>
                <c:ptCount val="1"/>
                <c:pt idx="0">
                  <c:v>Online Dental Supply Channels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11.127089349951182</c:v>
                </c:pt>
                <c:pt idx="1">
                  <c:v>10.427746178457163</c:v>
                </c:pt>
                <c:pt idx="2">
                  <c:v>8.635024266235268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Adults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33.99576355994396</c:v>
                </c:pt>
                <c:pt idx="1">
                  <c:v>31.481919003807988</c:v>
                </c:pt>
                <c:pt idx="2">
                  <c:v>29.814242184854983</c:v>
                </c:pt>
                <c:pt idx="3">
                  <c:v>32.92899264312289</c:v>
                </c:pt>
                <c:pt idx="4">
                  <c:v>35.04398560654527</c:v>
                </c:pt>
                <c:pt idx="5">
                  <c:v>31.131980034548253</c:v>
                </c:pt>
              </c:numCache>
            </c:numRef>
          </c:val>
        </c:ser>
        <c:ser>
          <c:idx val="1"/>
          <c:order val="1"/>
          <c:tx>
            <c:strRef>
              <c:strCache>
                <c:ptCount val="1"/>
                <c:pt idx="0">
                  <c:v>Geriatric Patients</c:v>
                </c:pt>
              </c:strCache>
            </c:strRef>
          </c:tx>
          <c:spPr>
            <a:solidFill>
              <a:srgbClr val="9E7E0A"/>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66.00423644005605</c:v>
                </c:pt>
                <c:pt idx="1">
                  <c:v>68.51808099619201</c:v>
                </c:pt>
                <c:pt idx="2">
                  <c:v>70.18575781514501</c:v>
                </c:pt>
                <c:pt idx="3">
                  <c:v>67.0710073568771</c:v>
                </c:pt>
                <c:pt idx="4">
                  <c:v>64.95601439345474</c:v>
                </c:pt>
                <c:pt idx="5">
                  <c:v>68.86801996545175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48.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Adults</c:v>
                </c:pt>
              </c:strCache>
            </c:strRef>
          </c:tx>
          <c:spPr>
            <a:solidFill>
              <a:srgbClr val="3D85C6"/>
            </a:solidFill>
          </c:spPr>
          <c:invertIfNegative val="0"/>
          <c:xVal>
            <c:numRef>
              <c:numCache>
                <c:formatCode>General</c:formatCode>
                <c:ptCount val="1"/>
                <c:pt idx="0">
                  <c:v>96.1986271163346</c:v>
                </c:pt>
              </c:numCache>
            </c:numRef>
          </c:xVal>
          <c:yVal>
            <c:numRef>
              <c:numCache>
                <c:formatCode>General</c:formatCode>
                <c:ptCount val="1"/>
                <c:pt idx="0">
                  <c:v>66.14308567365802</c:v>
                </c:pt>
              </c:numCache>
            </c:numRef>
          </c:yVal>
          <c:bubbleSize>
            <c:numRef>
              <c:numCache>
                <c:formatCode>General</c:formatCode>
                <c:ptCount val="1"/>
                <c:pt idx="0">
                  <c:v>563.297</c:v>
                </c:pt>
              </c:numCache>
            </c:numRef>
          </c:bubbleSize>
          <c:bubble3D val="0"/>
        </c:ser>
        <c:ser>
          <c:idx val="1"/>
          <c:order val="1"/>
          <c:tx>
            <c:strRef>
              <c:strCache>
                <c:ptCount val="1"/>
                <c:pt idx="0">
                  <c:v>Geriatric Patients</c:v>
                </c:pt>
              </c:strCache>
            </c:strRef>
          </c:tx>
          <c:spPr>
            <a:solidFill>
              <a:srgbClr val="9E7E0A"/>
            </a:solidFill>
          </c:spPr>
          <c:invertIfNegative val="0"/>
          <c:xVal>
            <c:numRef>
              <c:numCache>
                <c:formatCode>General</c:formatCode>
                <c:ptCount val="1"/>
                <c:pt idx="0">
                  <c:v>101.85833381054444</c:v>
                </c:pt>
              </c:numCache>
            </c:numRef>
          </c:xVal>
          <c:yVal>
            <c:numRef>
              <c:numCache>
                <c:formatCode>General</c:formatCode>
                <c:ptCount val="1"/>
                <c:pt idx="0">
                  <c:v>133.85691432634198</c:v>
                </c:pt>
              </c:numCache>
            </c:numRef>
          </c:yVal>
          <c:bubbleSize>
            <c:numRef>
              <c:numCache>
                <c:formatCode>General</c:formatCode>
                <c:ptCount val="1"/>
                <c:pt idx="0">
                  <c:v>1167.503</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0.0"/>
          <c:min val="9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75.0"/>
          <c:min val="25.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372.121</c:v>
                </c:pt>
                <c:pt idx="2">
                  <c:v>404.572</c:v>
                </c:pt>
                <c:pt idx="3">
                  <c:v>439.72</c:v>
                </c:pt>
                <c:pt idx="4">
                  <c:v>477.761</c:v>
                </c:pt>
                <c:pt idx="5">
                  <c:v>518.888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372.121</c:v>
                </c:pt>
                <c:pt idx="1">
                  <c:v>32.45100000000002</c:v>
                </c:pt>
                <c:pt idx="2">
                  <c:v>35.148000000000025</c:v>
                </c:pt>
                <c:pt idx="3">
                  <c:v>38.041</c:v>
                </c:pt>
                <c:pt idx="4">
                  <c:v>41.12700000000001</c:v>
                </c:pt>
                <c:pt idx="5">
                  <c:v>44.40899999999999</c:v>
                </c:pt>
                <c:pt idx="6">
                  <c:v>563.297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753.079</c:v>
                </c:pt>
                <c:pt idx="2">
                  <c:v>821.831</c:v>
                </c:pt>
                <c:pt idx="3">
                  <c:v>896.988</c:v>
                </c:pt>
                <c:pt idx="4">
                  <c:v>979.173</c:v>
                </c:pt>
                <c:pt idx="5">
                  <c:v>1069.086</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753.079</c:v>
                </c:pt>
                <c:pt idx="1">
                  <c:v>68.75200000000007</c:v>
                </c:pt>
                <c:pt idx="2">
                  <c:v>75.15700000000004</c:v>
                </c:pt>
                <c:pt idx="3">
                  <c:v>82.18499999999995</c:v>
                </c:pt>
                <c:pt idx="4">
                  <c:v>89.91300000000001</c:v>
                </c:pt>
                <c:pt idx="5">
                  <c:v>98.41699999999992</c:v>
                </c:pt>
                <c:pt idx="6">
                  <c:v>1167.503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Geriatric Patients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66.7562649413052</c:v>
                </c:pt>
                <c:pt idx="1">
                  <c:v>66.92845716317099</c:v>
                </c:pt>
                <c:pt idx="2">
                  <c:v>67.45452969724982</c:v>
                </c:pt>
              </c:numCache>
            </c:numRef>
          </c:val>
        </c:ser>
        <c:ser>
          <c:idx val="1"/>
          <c:order val="1"/>
          <c:tx>
            <c:strRef>
              <c:strCache>
                <c:ptCount val="1"/>
                <c:pt idx="0">
                  <c:v>Adults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33.2437350586948</c:v>
                </c:pt>
                <c:pt idx="1">
                  <c:v>33.07154283682901</c:v>
                </c:pt>
                <c:pt idx="2">
                  <c:v>32.545470302750175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Acrylic / Resin</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30.064915673615655</c:v>
                </c:pt>
                <c:pt idx="1">
                  <c:v>30.06533856610642</c:v>
                </c:pt>
                <c:pt idx="2">
                  <c:v>30.06533856610642</c:v>
                </c:pt>
                <c:pt idx="3">
                  <c:v>30.06533856610642</c:v>
                </c:pt>
              </c:numCache>
            </c:numRef>
          </c:val>
        </c:ser>
        <c:ser>
          <c:idx val="1"/>
          <c:order val="1"/>
          <c:tx>
            <c:strRef>
              <c:strCache>
                <c:ptCount val="1"/>
                <c:pt idx="0">
                  <c:v>High-performance Polymers</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29.68843320724666</c:v>
                </c:pt>
                <c:pt idx="1">
                  <c:v>29.6902994625032</c:v>
                </c:pt>
                <c:pt idx="2">
                  <c:v>29.6902994625032</c:v>
                </c:pt>
                <c:pt idx="3">
                  <c:v>29.6902994625032</c:v>
                </c:pt>
              </c:numCache>
            </c:numRef>
          </c:val>
        </c:ser>
        <c:ser>
          <c:idx val="2"/>
          <c:order val="2"/>
          <c:tx>
            <c:strRef>
              <c:strCache>
                <c:ptCount val="1"/>
                <c:pt idx="0">
                  <c:v>Flexible Thermoplastics</c:v>
                </c:pt>
              </c:strCache>
            </c:strRef>
          </c:tx>
          <c:spPr>
            <a:solidFill>
              <a:srgbClr val="008189"/>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23.268322857711667</c:v>
                </c:pt>
                <c:pt idx="1">
                  <c:v>23.266999402781334</c:v>
                </c:pt>
                <c:pt idx="2">
                  <c:v>23.266999402781334</c:v>
                </c:pt>
                <c:pt idx="3">
                  <c:v>23.266999402781334</c:v>
                </c:pt>
              </c:numCache>
            </c:numRef>
          </c:val>
        </c:ser>
        <c:ser>
          <c:idx val="3"/>
          <c:order val="3"/>
          <c:tx>
            <c:strRef>
              <c:strCache>
                <c:ptCount val="1"/>
                <c:pt idx="0">
                  <c:v>Metal Alloys</c:v>
                </c:pt>
              </c:strCache>
            </c:strRef>
          </c:tx>
          <c:spPr>
            <a:solidFill>
              <a:srgbClr val="40315E"/>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16.97832826142601</c:v>
                </c:pt>
                <c:pt idx="1">
                  <c:v>16.97736256860905</c:v>
                </c:pt>
                <c:pt idx="2">
                  <c:v>16.97736256860905</c:v>
                </c:pt>
                <c:pt idx="3">
                  <c:v>16.97736256860905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Conventional Fabrication</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51.094324867141815</c:v>
                </c:pt>
                <c:pt idx="1">
                  <c:v>51.09546916937735</c:v>
                </c:pt>
                <c:pt idx="2">
                  <c:v>51.09546916937735</c:v>
                </c:pt>
                <c:pt idx="3">
                  <c:v>51.09546916937735</c:v>
                </c:pt>
              </c:numCache>
            </c:numRef>
          </c:val>
        </c:ser>
        <c:ser>
          <c:idx val="1"/>
          <c:order val="1"/>
          <c:tx>
            <c:strRef>
              <c:strCache>
                <c:ptCount val="1"/>
                <c:pt idx="0">
                  <c:v>Digital Fabrication</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48.90567513285819</c:v>
                </c:pt>
                <c:pt idx="1">
                  <c:v>48.904530830622654</c:v>
                </c:pt>
                <c:pt idx="2">
                  <c:v>48.904530830622654</c:v>
                </c:pt>
                <c:pt idx="3">
                  <c:v>48.904530830622654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5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03E58"/>
            </a:solidFill>
            <a:ln>
              <a:noFill/>
            </a:ln>
          </c:spPr>
          <c:dLbls>
            <c:dLbl>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3"/>
                <c:pt idx="0">
                  <c:v>2021–2026</c:v>
                </c:pt>
                <c:pt idx="1">
                  <c:v>2026–2036</c:v>
                </c:pt>
                <c:pt idx="2">
                  <c:v>2021–2036</c:v>
                </c:pt>
              </c:strCache>
            </c:strRef>
          </c:cat>
          <c:val>
            <c:numRef>
              <c:numCache>
                <c:formatCode>General</c:formatCode>
                <c:ptCount val="3"/>
                <c:pt idx="0">
                  <c:v>2.4423732363597184</c:v>
                </c:pt>
                <c:pt idx="1">
                  <c:v>2.775158745701667</c:v>
                </c:pt>
                <c:pt idx="2">
                  <c:v>2.664110298075917</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3.6632095443262003"/>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2021</c:v>
                </c:pt>
                <c:pt idx="1">
                  <c:v>2021–2026</c:v>
                </c:pt>
                <c:pt idx="2">
                  <c:v>2026</c:v>
                </c:pt>
                <c:pt idx="3">
                  <c:v>2026–2036</c:v>
                </c:pt>
                <c:pt idx="4">
                  <c:v>2036</c:v>
                </c:pt>
              </c:strCache>
            </c:strRef>
          </c:cat>
          <c:val>
            <c:numRef>
              <c:numCache>
                <c:formatCode>General</c:formatCode>
                <c:ptCount val="5"/>
                <c:pt idx="0">
                  <c:v>0.0</c:v>
                </c:pt>
                <c:pt idx="1">
                  <c:v>751804.094</c:v>
                </c:pt>
                <c:pt idx="2">
                  <c:v>0.0</c:v>
                </c:pt>
                <c:pt idx="3">
                  <c:v>848208.932</c:v>
                </c:pt>
                <c:pt idx="4">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0,,&quot;M&quot;"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2021</c:v>
                </c:pt>
                <c:pt idx="1">
                  <c:v>2021–2026</c:v>
                </c:pt>
                <c:pt idx="2">
                  <c:v>2026</c:v>
                </c:pt>
                <c:pt idx="3">
                  <c:v>2026–2036</c:v>
                </c:pt>
                <c:pt idx="4">
                  <c:v>2036</c:v>
                </c:pt>
              </c:strCache>
            </c:strRef>
          </c:cat>
          <c:val>
            <c:numRef>
              <c:numCache>
                <c:formatCode>General</c:formatCode>
                <c:ptCount val="5"/>
                <c:pt idx="0">
                  <c:v>751804.094</c:v>
                </c:pt>
                <c:pt idx="1">
                  <c:v>96404.83799999999</c:v>
                </c:pt>
                <c:pt idx="2">
                  <c:v>848208.932</c:v>
                </c:pt>
                <c:pt idx="3">
                  <c:v>267072.3259999999</c:v>
                </c:pt>
                <c:pt idx="4">
                  <c:v>1115281.258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quot;M&quot;"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03E58"/>
            </a:solidFill>
            <a:ln>
              <a:noFill/>
            </a:ln>
          </c:spPr>
          <c:dLbls>
            <c:dLbl>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3"/>
                <c:pt idx="0">
                  <c:v>2021–2026</c:v>
                </c:pt>
                <c:pt idx="1">
                  <c:v>2026–2036</c:v>
                </c:pt>
                <c:pt idx="2">
                  <c:v>2021–2036</c:v>
                </c:pt>
              </c:strCache>
            </c:strRef>
          </c:cat>
          <c:val>
            <c:numRef>
              <c:numCache>
                <c:formatCode>General</c:formatCode>
                <c:ptCount val="3"/>
                <c:pt idx="0">
                  <c:v>3.1674166443515617</c:v>
                </c:pt>
                <c:pt idx="1">
                  <c:v>3.5025114673608027</c:v>
                </c:pt>
                <c:pt idx="2">
                  <c:v>3.390692432729714</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4.6233151369162595"/>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2021</c:v>
                </c:pt>
                <c:pt idx="1">
                  <c:v>2021–2026</c:v>
                </c:pt>
                <c:pt idx="2">
                  <c:v>2026</c:v>
                </c:pt>
                <c:pt idx="3">
                  <c:v>2026–2036</c:v>
                </c:pt>
                <c:pt idx="4">
                  <c:v>2036</c:v>
                </c:pt>
              </c:strCache>
            </c:strRef>
          </c:cat>
          <c:val>
            <c:numRef>
              <c:numCache>
                <c:formatCode>General</c:formatCode>
                <c:ptCount val="5"/>
                <c:pt idx="0">
                  <c:v>0.0</c:v>
                </c:pt>
                <c:pt idx="1">
                  <c:v>317.71</c:v>
                </c:pt>
                <c:pt idx="2">
                  <c:v>0.0</c:v>
                </c:pt>
                <c:pt idx="3">
                  <c:v>371.31600000000003</c:v>
                </c:pt>
                <c:pt idx="4">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2021</c:v>
                </c:pt>
                <c:pt idx="1">
                  <c:v>2021–2026</c:v>
                </c:pt>
                <c:pt idx="2">
                  <c:v>2026</c:v>
                </c:pt>
                <c:pt idx="3">
                  <c:v>2026–2036</c:v>
                </c:pt>
                <c:pt idx="4">
                  <c:v>2036</c:v>
                </c:pt>
              </c:strCache>
            </c:strRef>
          </c:cat>
          <c:val>
            <c:numRef>
              <c:numCache>
                <c:formatCode>General</c:formatCode>
                <c:ptCount val="5"/>
                <c:pt idx="0">
                  <c:v>317.71</c:v>
                </c:pt>
                <c:pt idx="1">
                  <c:v>53.60600000000005</c:v>
                </c:pt>
                <c:pt idx="2">
                  <c:v>371.31600000000003</c:v>
                </c:pt>
                <c:pt idx="3">
                  <c:v>152.58899999999994</c:v>
                </c:pt>
                <c:pt idx="4">
                  <c:v>523.905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Value (US$ Mn)</c:v>
                </c:pt>
              </c:strCache>
            </c:strRef>
          </c:tx>
          <c:spPr>
            <a:solidFill>
              <a:srgbClr val="69B1E0"/>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strCache>
                <c:ptCount val="5"/>
                <c:pt idx="0">
                  <c:v>2021</c:v>
                </c:pt>
                <c:pt idx="1">
                  <c:v>2022</c:v>
                </c:pt>
                <c:pt idx="2">
                  <c:v>2023</c:v>
                </c:pt>
                <c:pt idx="3">
                  <c:v>2024</c:v>
                </c:pt>
                <c:pt idx="4">
                  <c:v>2025</c:v>
                </c:pt>
              </c:strCache>
            </c:strRef>
          </c:cat>
          <c:val>
            <c:numRef>
              <c:numCache>
                <c:formatCode>General</c:formatCode>
                <c:ptCount val="5"/>
                <c:pt idx="0">
                  <c:v>317.71</c:v>
                </c:pt>
                <c:pt idx="1">
                  <c:v>326.573</c:v>
                </c:pt>
                <c:pt idx="2">
                  <c:v>336.29999999999995</c:v>
                </c:pt>
                <c:pt idx="3">
                  <c:v>346.95399999999995</c:v>
                </c:pt>
                <c:pt idx="4">
                  <c:v>358.6089999999999</c:v>
                </c:pt>
              </c:numCache>
            </c:numRef>
          </c:val>
        </c:ser>
        <c:gapWidth val="50"/>
        <c:axId val="-2068027336"/>
        <c:axId val="-2113994440"/>
      </c:barChart>
      <c:barChart>
        <c:barDir val="col"/>
        <c:grouping val="clustered"/>
        <c:varyColors val="0"/>
        <c:ser>
          <c:idx val="1"/>
          <c:order val="1"/>
          <c:tx>
            <c:strRef>
              <c:strCache>
                <c:ptCount val="1"/>
                <c:pt idx="0">
                  <c:v>Volume (Units)</c:v>
                </c:pt>
              </c:strCache>
            </c:strRef>
          </c:tx>
          <c:spPr>
            <a:solidFill>
              <a:srgbClr val="C55A11"/>
            </a:solidFill>
            <a:ln>
              <a:noFill/>
            </a:ln>
          </c:spPr>
          <c:dLbls>
            <c:dLbl>
              <c:idx val="0"/>
              <c:numFmt formatCode="&quot;MMMMMMMMM&quot;;&quot;MMMMMMMMM&quot;;&quot;MMMM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MM&quot;;&quot;MMMMMMMMM&quot;;&quot;MMMM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MM&quot;;&quot;MMMMMMMMM&quot;;&quot;MMMM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MM&quot;;&quot;MMMMMMMMM&quot;;&quot;MMMM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MM&quot;;&quot;MMMMMMMMM&quot;;&quot;MMMM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5"/>
                <c:pt idx="0">
                  <c:v>2021</c:v>
                </c:pt>
                <c:pt idx="1">
                  <c:v>2022</c:v>
                </c:pt>
                <c:pt idx="2">
                  <c:v>2023</c:v>
                </c:pt>
                <c:pt idx="3">
                  <c:v>2024</c:v>
                </c:pt>
                <c:pt idx="4">
                  <c:v>2025</c:v>
                </c:pt>
              </c:strCache>
            </c:strRef>
          </c:cat>
          <c:val>
            <c:numRef>
              <c:numCache>
                <c:formatCode>General</c:formatCode>
                <c:ptCount val="5"/>
                <c:pt idx="0">
                  <c:v>751804.094</c:v>
                </c:pt>
                <c:pt idx="1">
                  <c:v>767343.531</c:v>
                </c:pt>
                <c:pt idx="2">
                  <c:v>784651.617</c:v>
                </c:pt>
                <c:pt idx="3">
                  <c:v>803819.262</c:v>
                </c:pt>
                <c:pt idx="4">
                  <c:v>824971.956</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423"/>
          <c:min val="0"/>
        </c:scaling>
        <c:delete val="0"/>
        <c:axPos val="l"/>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1137874"/>
          <c:min val="0"/>
        </c:scaling>
        <c:delete val="0"/>
        <c:axPos val="r"/>
        <c:numFmt formatCode="#,##0"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5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Value (US$ Mn)</c:v>
                </c:pt>
              </c:strCache>
            </c:strRef>
          </c:tx>
          <c:spPr>
            <a:solidFill>
              <a:srgbClr val="69B1E0"/>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quot;;&quot;MMMMM&quot;;&quot;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quot;;&quot;MMMMM&quot;;&quot;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quot;;&quot;MMMMM&quot;;&quot;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quot;;&quot;MMMMM&quot;;&quot;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quot;;&quot;MMMMM&quot;;&quot;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quot;;&quot;MMMMM&quot;;&quot;M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371.31600000000003</c:v>
                </c:pt>
                <c:pt idx="1">
                  <c:v>384.476</c:v>
                </c:pt>
                <c:pt idx="2">
                  <c:v>398.068</c:v>
                </c:pt>
                <c:pt idx="3">
                  <c:v>412.101</c:v>
                </c:pt>
                <c:pt idx="4">
                  <c:v>426.59400000000005</c:v>
                </c:pt>
                <c:pt idx="5">
                  <c:v>441.55600000000004</c:v>
                </c:pt>
                <c:pt idx="6">
                  <c:v>457.002</c:v>
                </c:pt>
                <c:pt idx="7">
                  <c:v>472.94399999999996</c:v>
                </c:pt>
                <c:pt idx="8">
                  <c:v>489.4</c:v>
                </c:pt>
                <c:pt idx="9">
                  <c:v>506.381</c:v>
                </c:pt>
                <c:pt idx="10">
                  <c:v>523.905</c:v>
                </c:pt>
              </c:numCache>
            </c:numRef>
          </c:val>
        </c:ser>
        <c:gapWidth val="50"/>
        <c:axId val="-2068027336"/>
        <c:axId val="-2113994440"/>
      </c:barChart>
      <c:barChart>
        <c:barDir val="col"/>
        <c:grouping val="clustered"/>
        <c:varyColors val="0"/>
        <c:ser>
          <c:idx val="1"/>
          <c:order val="1"/>
          <c:tx>
            <c:strRef>
              <c:strCache>
                <c:ptCount val="1"/>
                <c:pt idx="0">
                  <c:v>Volume (Units)</c:v>
                </c:pt>
              </c:strCache>
            </c:strRef>
          </c:tx>
          <c:spPr>
            <a:solidFill>
              <a:srgbClr val="C55A11"/>
            </a:solidFill>
            <a:ln>
              <a:noFill/>
            </a:ln>
          </c:spPr>
          <c:dLbls>
            <c:dLbl>
              <c:idx val="0"/>
              <c:numFmt formatCode="&quot;MMMMMMMMM&quot;;&quot;MMMMMMMMM&quot;;&quot;MMMMM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MM&quot;;&quot;MMMMMMMMM&quot;;&quot;MMMMMM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MM&quot;;&quot;MMMMMMMMM&quot;;&quot;MMMMMM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MM&quot;;&quot;MMMMMMMMM&quot;;&quot;MMMMMM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MM&quot;;&quot;MMMMMMMMM&quot;;&quot;MMMMMM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MMMM&quot;;&quot;MMMMMMMMM&quot;;&quot;MMMMMM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MMMMMM&quot;;&quot;MMMMMMMMMMM&quot;;&quot;MMMMMMMM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MMMMMM&quot;;&quot;MMMMMMMMMMM&quot;;&quot;MMMMMMMMMMM&quot;" sourceLinked="0"/>
              <c:spPr>
                <a:blipFill>
                  <a:blip r:embed="rId2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MMMMMM&quot;;&quot;MMMMMMMMMMM&quot;;&quot;MMMMMMMMMMM&quot;" sourceLinked="0"/>
              <c:spPr>
                <a:blipFill>
                  <a:blip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MMMMMM&quot;;&quot;MMMMMMMMMMM&quot;;&quot;MMMMMMMMMMM&quot;" sourceLinked="0"/>
              <c:spPr>
                <a:blipFill>
                  <a:blip r:embed="rId2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MMMMMM&quot;;&quot;MMMMMMMMMMM&quot;;&quot;MMMMMMMMMMM&quot;" sourceLinked="0"/>
              <c:spPr>
                <a:blipFill>
                  <a:blip r:embed="rId2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M&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848208.932</c:v>
                </c:pt>
                <c:pt idx="1">
                  <c:v>872100.564</c:v>
                </c:pt>
                <c:pt idx="2">
                  <c:v>896584.9110000001</c:v>
                </c:pt>
                <c:pt idx="3">
                  <c:v>921675.372</c:v>
                </c:pt>
                <c:pt idx="4">
                  <c:v>947382.782</c:v>
                </c:pt>
                <c:pt idx="5">
                  <c:v>973717.2150000001</c:v>
                </c:pt>
                <c:pt idx="6">
                  <c:v>1000698.3180000001</c:v>
                </c:pt>
                <c:pt idx="7">
                  <c:v>1028327.183</c:v>
                </c:pt>
                <c:pt idx="8">
                  <c:v>1056627.369</c:v>
                </c:pt>
                <c:pt idx="9">
                  <c:v>1085609.2519999999</c:v>
                </c:pt>
                <c:pt idx="10">
                  <c:v>1115281.258</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618"/>
          <c:min val="0"/>
        </c:scaling>
        <c:delete val="0"/>
        <c:axPos val="l"/>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1604764"/>
          <c:min val="0"/>
        </c:scaling>
        <c:delete val="0"/>
        <c:axPos val="r"/>
        <c:numFmt formatCode="#,##0,,&quot;M&quot;"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6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Index</c:v>
                </c:pt>
              </c:strCache>
            </c:strRef>
          </c:tx>
          <c:spPr>
            <a:solidFill>
              <a:srgbClr val="0E72AE"/>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2"/>
                <c:pt idx="0">
                  <c:v>U.S.</c:v>
                </c:pt>
                <c:pt idx="1">
                  <c:v>Canada</c:v>
                </c:pt>
              </c:strCache>
            </c:strRef>
          </c:cat>
          <c:val>
            <c:numRef>
              <c:numCache>
                <c:formatCode>General</c:formatCode>
                <c:ptCount val="2"/>
                <c:pt idx="0">
                  <c:v>93.46014725517603</c:v>
                </c:pt>
                <c:pt idx="1">
                  <c:v>114.06416316681829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Index</c:v>
                </c:pt>
              </c:strCache>
            </c:strRef>
          </c:tx>
          <c:spPr>
            <a:solidFill>
              <a:srgbClr val="0E72AE"/>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36.25031948567722</c:v>
                </c:pt>
                <c:pt idx="1">
                  <c:v>63.74968051432279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62.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129.351</c:v>
                </c:pt>
                <c:pt idx="1">
                  <c:v>86.539</c:v>
                </c:pt>
                <c:pt idx="2">
                  <c:v>164.2</c:v>
                </c:pt>
                <c:pt idx="3">
                  <c:v>143.815</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63.xml><?xml version="1.0" encoding="utf-8"?>
<c:chartSpace xmlns:c="http://schemas.openxmlformats.org/drawingml/2006/chart" xmlns:a="http://schemas.openxmlformats.org/drawingml/2006/main" xmlns:r="http://schemas.openxmlformats.org/officeDocument/2006/relationships">
  <c:date1904 val="0"/>
  <c:chart>
    <c:autoTitleDeleted val="1"/>
    <c:plotArea>
      <c:lineChart>
        <c:grouping val="standard"/>
        <c:varyColors val="0"/>
        <c:ser>
          <c:idx val="0"/>
          <c:order val="0"/>
          <c:tx>
            <c:strRef>
              <c:strCache>
                <c:ptCount val="1"/>
                <c:pt idx="0">
                  <c:v>Optimistic Scenario</c:v>
                </c:pt>
              </c:strCache>
            </c:strRef>
          </c:tx>
          <c:spPr>
            <a:ln w="28575">
              <a:solidFill>
                <a:srgbClr val="2E5F8A"/>
              </a:solidFill>
            </a:ln>
          </c:spPr>
          <c:marker>
            <c:symbol val="circle"/>
            <c:size val="6"/>
            <c:spPr>
              <a:solidFill>
                <a:srgbClr val="2E5F8A"/>
              </a:solidFill>
              <a:ln>
                <a:solidFill>
                  <a:srgbClr val="2E5F8A"/>
                </a:solidFill>
              </a:ln>
            </c:spPr>
          </c:marker>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0.04021327315999948</c:v>
                </c:pt>
                <c:pt idx="1">
                  <c:v>0.04071271972369234</c:v>
                </c:pt>
                <c:pt idx="2">
                  <c:v>0.041460143252575354</c:v>
                </c:pt>
                <c:pt idx="3">
                  <c:v>0.041956097182955676</c:v>
                </c:pt>
                <c:pt idx="4">
                  <c:v>0.04248697744646137</c:v>
                </c:pt>
                <c:pt idx="5">
                  <c:v>0.0436360538062862</c:v>
                </c:pt>
                <c:pt idx="6">
                  <c:v>0.044421896301607124</c:v>
                </c:pt>
                <c:pt idx="7">
                  <c:v>0.04554303159493166</c:v>
                </c:pt>
                <c:pt idx="8">
                  <c:v>0.046723541654569316</c:v>
                </c:pt>
                <c:pt idx="9">
                  <c:v>0.047216002951637095</c:v>
                </c:pt>
                <c:pt idx="10">
                  <c:v>0.047771331648330556</c:v>
                </c:pt>
              </c:numCache>
            </c:numRef>
          </c:val>
          <c:smooth val="0"/>
        </c:ser>
        <c:ser>
          <c:idx val="1"/>
          <c:order val="1"/>
          <c:tx>
            <c:strRef>
              <c:strCache>
                <c:ptCount val="1"/>
                <c:pt idx="0">
                  <c:v>Likely Scenario</c:v>
                </c:pt>
              </c:strCache>
            </c:strRef>
          </c:tx>
          <c:spPr>
            <a:ln w="28575">
              <a:solidFill>
                <a:srgbClr val="8B1A1A"/>
              </a:solidFill>
            </a:ln>
          </c:spPr>
          <c:marker>
            <c:symbol val="circle"/>
            <c:size val="6"/>
            <c:spPr>
              <a:solidFill>
                <a:srgbClr val="8B1A1A"/>
              </a:solidFill>
              <a:ln>
                <a:solidFill>
                  <a:srgbClr val="8B1A1A"/>
                </a:solidFill>
              </a:ln>
            </c:spPr>
          </c:marker>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0.03694746601946209</c:v>
                </c:pt>
                <c:pt idx="1">
                  <c:v>0.03806505981192823</c:v>
                </c:pt>
                <c:pt idx="2">
                  <c:v>0.03875814123361266</c:v>
                </c:pt>
                <c:pt idx="3">
                  <c:v>0.03833362886283095</c:v>
                </c:pt>
                <c:pt idx="4">
                  <c:v>0.03692147546614892</c:v>
                </c:pt>
                <c:pt idx="5">
                  <c:v>0.03511946376976941</c:v>
                </c:pt>
                <c:pt idx="6">
                  <c:v>0.03381127258634005</c:v>
                </c:pt>
                <c:pt idx="7">
                  <c:v>0.03272833286495813</c:v>
                </c:pt>
                <c:pt idx="8">
                  <c:v>0.032225848834236924</c:v>
                </c:pt>
                <c:pt idx="9">
                  <c:v>0.031688710732431485</c:v>
                </c:pt>
                <c:pt idx="10">
                  <c:v>0.03112558207731289</c:v>
                </c:pt>
              </c:numCache>
            </c:numRef>
          </c:val>
          <c:smooth val="0"/>
        </c:ser>
        <c:ser>
          <c:idx val="2"/>
          <c:order val="2"/>
          <c:tx>
            <c:strRef>
              <c:strCache>
                <c:ptCount val="1"/>
                <c:pt idx="0">
                  <c:v>Conservative Scenario</c:v>
                </c:pt>
              </c:strCache>
            </c:strRef>
          </c:tx>
          <c:spPr>
            <a:ln w="28575">
              <a:solidFill>
                <a:srgbClr val="A08000"/>
              </a:solidFill>
            </a:ln>
          </c:spPr>
          <c:marker>
            <c:symbol val="circle"/>
            <c:size val="6"/>
            <c:spPr>
              <a:solidFill>
                <a:srgbClr val="A08000"/>
              </a:solidFill>
              <a:ln>
                <a:solidFill>
                  <a:srgbClr val="A08000"/>
                </a:solidFill>
              </a:ln>
            </c:spPr>
          </c:marker>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0.023189472728295357</c:v>
                </c:pt>
                <c:pt idx="1">
                  <c:v>0.023632404715748623</c:v>
                </c:pt>
                <c:pt idx="2">
                  <c:v>0.024340424786601957</c:v>
                </c:pt>
                <c:pt idx="3">
                  <c:v>0.02482697886372865</c:v>
                </c:pt>
                <c:pt idx="4">
                  <c:v>0.025326955122293326</c:v>
                </c:pt>
                <c:pt idx="5">
                  <c:v>0.025823575835498505</c:v>
                </c:pt>
                <c:pt idx="6">
                  <c:v>0.0266154845403392</c:v>
                </c:pt>
                <c:pt idx="7">
                  <c:v>0.02769261460073692</c:v>
                </c:pt>
                <c:pt idx="8">
                  <c:v>0.028222790767537045</c:v>
                </c:pt>
                <c:pt idx="9">
                  <c:v>0.029380453916562632</c:v>
                </c:pt>
                <c:pt idx="10">
                  <c:v>0.030239473528593214</c:v>
                </c:pt>
              </c:numCache>
            </c:numRef>
          </c:val>
          <c:smooth val="0"/>
        </c:ser>
        <c:marker val="1"/>
        <c:smooth val="0"/>
        <c:axId val="2118791784"/>
        <c:axId val="2140495176"/>
      </c:lineChart>
      <c:catAx>
        <c:axId val="2118791784"/>
        <c:scaling>
          <c:orientation val="minMax"/>
        </c:scaling>
        <c:delete val="0"/>
        <c:axPos val="b"/>
        <c:majorTickMark val="out"/>
        <c:minorTickMark val="none"/>
        <c:tickLblPos val="nextTo"/>
        <c:spPr>
          <a:ln>
            <a:solidFill>
              <a:srgbClr val="C6D5E1"/>
            </a:solidFill>
          </a:ln>
        </c:spPr>
        <c:txPr>
          <a:bodyPr/>
          <a:lstStyle/>
          <a:p>
            <a:pPr>
              <a:defRPr sz="1100"/>
            </a:pPr>
          </a:p>
        </c:txPr>
        <c:crossAx val="2140495176"/>
        <c:crosses val="autoZero"/>
        <c:auto val="1"/>
        <c:lblAlgn val="ctr"/>
        <c:lblOffset val="100"/>
        <c:noMultiLvlLbl val="0"/>
        <c:tickLblSkip val="1"/>
        <c:tickMarkSkip val="1"/>
      </c:catAx>
      <c:valAx>
        <c:axId val="2140495176"/>
        <c:scaling>
          <c:min val="0.0"/>
        </c:scaling>
        <c:delete val="0"/>
        <c:axPos val="l"/>
        <c:numFmt formatCode="0.00%" sourceLinked="0"/>
        <c:majorTickMark val="out"/>
        <c:minorTickMark val="none"/>
        <c:tickLblPos val="nextTo"/>
        <c:spPr>
          <a:ln>
            <a:solidFill>
              <a:srgbClr val="C6D5E1"/>
            </a:solidFill>
          </a:ln>
        </c:spPr>
        <c:txPr>
          <a:bodyPr/>
          <a:lstStyle/>
          <a:p>
            <a:pPr>
              <a:defRPr sz="1100"/>
            </a:pPr>
          </a:p>
        </c:txPr>
        <c:crossAx val="2118791784"/>
        <c:crosses val="autoZero"/>
      </c:valAx>
    </c:plotArea>
    <c:legend>
      <c:legendPos val="b"/>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U.S.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70.02305547520454</c:v>
                </c:pt>
                <c:pt idx="1">
                  <c:v>68.54136142938752</c:v>
                </c:pt>
              </c:numCache>
            </c:numRef>
          </c:val>
        </c:ser>
        <c:ser>
          <c:idx val="1"/>
          <c:order val="1"/>
          <c:tx>
            <c:strRef>
              <c:strCache>
                <c:ptCount val="1"/>
                <c:pt idx="0">
                  <c:v>Canada</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29.976944524795456</c:v>
                </c:pt>
                <c:pt idx="1">
                  <c:v>31.458638570612475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6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U.S.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68.93589287830311</c:v>
                </c:pt>
                <c:pt idx="1">
                  <c:v>67.42539200809307</c:v>
                </c:pt>
              </c:numCache>
            </c:numRef>
          </c:val>
        </c:ser>
        <c:ser>
          <c:idx val="1"/>
          <c:order val="1"/>
          <c:tx>
            <c:strRef>
              <c:strCache>
                <c:ptCount val="1"/>
                <c:pt idx="0">
                  <c:v>Canada</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31.064107121696882</c:v>
                </c:pt>
                <c:pt idx="1">
                  <c:v>32.57460799190693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U.S.</c:v>
                </c:pt>
              </c:strCache>
            </c:strRef>
          </c:tx>
          <c:spPr>
            <a:solidFill>
              <a:srgbClr val="3D85C6"/>
            </a:solidFill>
            <a:ln>
              <a:noFill/>
            </a:ln>
          </c:spPr>
          <c:dLbls>
            <c:dLbl>
              <c:idx val="0"/>
              <c:numFmt formatCode="&quot;MMMMMMMMM&quot;;&quot;MMMMMMMMM&quot;;&quot;MMMM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MM&quot;;&quot;MMMMMMMMM&quot;;&quot;MMMM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MM&quot;;&quot;MMMMMMMMM&quot;;&quot;MMMM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MM&quot;;&quot;MMMMMMMMM&quot;;&quot;MMMM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MM&quot;;&quot;MMMMMMMMM&quot;;&quot;MMMM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MMMM&quot;;&quot;MMMMMMMMM&quot;;&quot;MMMM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MMMM&quot;;&quot;MMMMMMMMM&quot;;&quot;MMMM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MMMM&quot;;&quot;MMMMMMMMM&quot;;&quot;MMMM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MMMM&quot;;&quot;MMMMMMMMM&quot;;&quot;MMMM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MMMM&quot;;&quot;MMMMMMMMM&quot;;&quot;MMMM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MMMM&quot;;&quot;MMMMMMMMM&quot;;&quot;MMMMM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1"/>
              <c:numFmt formatCode="&quot;MMMMMMMMM&quot;;&quot;MMMMMMMMM&quot;;&quot;MMMMM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2"/>
              <c:numFmt formatCode="&quot;MMMMMMMMM&quot;;&quot;MMMMMMMMM&quot;;&quot;MMMMMM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3"/>
              <c:numFmt formatCode="&quot;MMMMMMMMM&quot;;&quot;MMMMMMMMM&quot;;&quot;MMMMMM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4"/>
              <c:numFmt formatCode="&quot;MMMMMMMMM&quot;;&quot;MMMMMMMMM&quot;;&quot;MMMMMM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5"/>
              <c:numFmt formatCode="&quot;MMMMMMMMM&quot;;&quot;MMMMMMMMM&quot;;&quot;MMMMMM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531933.838</c:v>
                </c:pt>
                <c:pt idx="1">
                  <c:v>541812.842</c:v>
                </c:pt>
                <c:pt idx="2">
                  <c:v>552889.6</c:v>
                </c:pt>
                <c:pt idx="3">
                  <c:v>565220.095</c:v>
                </c:pt>
                <c:pt idx="4">
                  <c:v>578883.998</c:v>
                </c:pt>
                <c:pt idx="5">
                  <c:v>593941.811</c:v>
                </c:pt>
                <c:pt idx="6">
                  <c:v>609394.995</c:v>
                </c:pt>
                <c:pt idx="7">
                  <c:v>625187.905</c:v>
                </c:pt>
                <c:pt idx="8">
                  <c:v>641326.973</c:v>
                </c:pt>
                <c:pt idx="9">
                  <c:v>657816.761</c:v>
                </c:pt>
                <c:pt idx="10">
                  <c:v>674661.227</c:v>
                </c:pt>
                <c:pt idx="11">
                  <c:v>691870.873</c:v>
                </c:pt>
                <c:pt idx="12">
                  <c:v>709443.274</c:v>
                </c:pt>
                <c:pt idx="13">
                  <c:v>727391.45</c:v>
                </c:pt>
                <c:pt idx="14">
                  <c:v>745719.212</c:v>
                </c:pt>
                <c:pt idx="15">
                  <c:v>764428.958</c:v>
                </c:pt>
              </c:numCache>
            </c:numRef>
          </c:val>
        </c:ser>
        <c:ser>
          <c:idx val="1"/>
          <c:order val="1"/>
          <c:tx>
            <c:strRef>
              <c:strCache>
                <c:ptCount val="1"/>
                <c:pt idx="0">
                  <c:v>Canada</c:v>
                </c:pt>
              </c:strCache>
            </c:strRef>
          </c:tx>
          <c:spPr>
            <a:solidFill>
              <a:srgbClr val="9E7E0A"/>
            </a:solidFill>
            <a:ln>
              <a:noFill/>
            </a:ln>
          </c:spPr>
          <c:dLbls>
            <c:dLbl>
              <c:idx val="0"/>
              <c:numFmt formatCode="&quot;MMMMMMMMM&quot;;&quot;MMMMMMMMM&quot;;&quot;MMMMMM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MM&quot;;&quot;MMMMMMMMM&quot;;&quot;MMMMMM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MM&quot;;&quot;MMMMMMMMM&quot;;&quot;MMMMMMMMM&quot;" sourceLinked="0"/>
              <c:spPr>
                <a:blipFill>
                  <a:blip r:embed="rId2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MM&quot;;&quot;MMMMMMMMM&quot;;&quot;MMMMMMMMM&quot;" sourceLinked="0"/>
              <c:spPr>
                <a:blipFill>
                  <a:blip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MM&quot;;&quot;MMMMMMMMM&quot;;&quot;MMMMMMMMM&quot;" sourceLinked="0"/>
              <c:spPr>
                <a:blipFill>
                  <a:blip r:embed="rId2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MMMM&quot;;&quot;MMMMMMMMM&quot;;&quot;MMMMMMMMM&quot;" sourceLinked="0"/>
              <c:spPr>
                <a:blipFill>
                  <a:blip r:embed="rId2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MMMM&quot;;&quot;MMMMMMMMM&quot;;&quot;MMMMMMMMM&quot;" sourceLinked="0"/>
              <c:spPr>
                <a:blipFill>
                  <a:blip r:embed="rId2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MMMM&quot;;&quot;MMMMMMMMM&quot;;&quot;MMMMMMMMM&quot;" sourceLinked="0"/>
              <c:spPr>
                <a:blipFill>
                  <a:blip r:embed="rId2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MMMM&quot;;&quot;MMMMMMMMM&quot;;&quot;MMMMMMMMM&quot;" sourceLinked="0"/>
              <c:spPr>
                <a:blipFill>
                  <a:blip r:embed="rId2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MMMM&quot;;&quot;MMMMMMMMM&quot;;&quot;MMMMMMMMM&quot;" sourceLinked="0"/>
              <c:spPr>
                <a:blipFill>
                  <a:blip r:embed="rId2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MMMM&quot;;&quot;MMMMMMMMM&quot;;&quot;MMMMMMMMM&quot;" sourceLinked="0"/>
              <c:spPr>
                <a:blipFill>
                  <a:blip r:embed="rId2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1"/>
              <c:numFmt formatCode="&quot;MMMMMMMMM&quot;;&quot;MMMMMMMMM&quot;;&quot;MMMMMMMMM&quot;" sourceLinked="0"/>
              <c:spPr>
                <a:blipFill>
                  <a:blip r:embed="rId2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2"/>
              <c:numFmt formatCode="&quot;MMMMMMMMM&quot;;&quot;MMMMMMMMM&quot;;&quot;MMMMMMMMM&quot;" sourceLinked="0"/>
              <c:spPr>
                <a:blipFill>
                  <a:blip r:embed="rId3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3"/>
              <c:numFmt formatCode="&quot;MMMMMMMMM&quot;;&quot;MMMMMMMMM&quot;;&quot;MMMMMMMMM&quot;" sourceLinked="0"/>
              <c:spPr>
                <a:blipFill>
                  <a:blip r:embed="rId3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4"/>
              <c:numFmt formatCode="&quot;MMMMMMMMM&quot;;&quot;MMMMMMMMM&quot;;&quot;MMMMMMMMM&quot;" sourceLinked="0"/>
              <c:spPr>
                <a:blipFill>
                  <a:blip r:embed="rId3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5"/>
              <c:numFmt formatCode="&quot;MMMMMMMMM&quot;;&quot;MMMMMMMMM&quot;;&quot;MMMMMMMMM&quot;" sourceLinked="0"/>
              <c:spPr>
                <a:blipFill>
                  <a:blip r:embed="rId3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219870.256</c:v>
                </c:pt>
                <c:pt idx="1">
                  <c:v>225530.689</c:v>
                </c:pt>
                <c:pt idx="2">
                  <c:v>231762.017</c:v>
                </c:pt>
                <c:pt idx="3">
                  <c:v>238599.167</c:v>
                </c:pt>
                <c:pt idx="4">
                  <c:v>246087.958</c:v>
                </c:pt>
                <c:pt idx="5">
                  <c:v>254267.121</c:v>
                </c:pt>
                <c:pt idx="6">
                  <c:v>262705.569</c:v>
                </c:pt>
                <c:pt idx="7">
                  <c:v>271397.006</c:v>
                </c:pt>
                <c:pt idx="8">
                  <c:v>280348.399</c:v>
                </c:pt>
                <c:pt idx="9">
                  <c:v>289566.021</c:v>
                </c:pt>
                <c:pt idx="10">
                  <c:v>299055.988</c:v>
                </c:pt>
                <c:pt idx="11">
                  <c:v>308827.445</c:v>
                </c:pt>
                <c:pt idx="12">
                  <c:v>318883.909</c:v>
                </c:pt>
                <c:pt idx="13">
                  <c:v>329235.919</c:v>
                </c:pt>
                <c:pt idx="14">
                  <c:v>339890.04</c:v>
                </c:pt>
                <c:pt idx="15">
                  <c:v>350852.3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U.S.</c:v>
                </c:pt>
              </c:strCache>
            </c:strRef>
          </c:tx>
          <c:spPr>
            <a:solidFill>
              <a:srgbClr val="3D85C6"/>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quot;;&quot;MMMMM&quot;;&quot;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quot;;&quot;MMMMM&quot;;&quot;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quot;;&quot;MMMMM&quot;;&quot;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quot;;&quot;MMMMM&quot;;&quot;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quot;;&quot;MMMMM&quot;;&quot;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quot;;&quot;MMMMM&quot;;&quot;M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1"/>
              <c:numFmt formatCode="&quot;MMMMM&quot;;&quot;MMMMM&quot;;&quot;M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2"/>
              <c:numFmt formatCode="&quot;MMMMM&quot;;&quot;MMMMM&quot;;&quot;MM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3"/>
              <c:numFmt formatCode="&quot;MMMMM&quot;;&quot;MMMMM&quot;;&quot;MM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4"/>
              <c:numFmt formatCode="&quot;MMMMM&quot;;&quot;MMMMM&quot;;&quot;MM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5"/>
              <c:numFmt formatCode="&quot;MMMMM&quot;;&quot;MMMMM&quot;;&quot;MM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221.386</c:v>
                </c:pt>
                <c:pt idx="1">
                  <c:v>227.078</c:v>
                </c:pt>
                <c:pt idx="2">
                  <c:v>233.34</c:v>
                </c:pt>
                <c:pt idx="3">
                  <c:v>240.215</c:v>
                </c:pt>
                <c:pt idx="4">
                  <c:v>247.749</c:v>
                </c:pt>
                <c:pt idx="5">
                  <c:v>255.97</c:v>
                </c:pt>
                <c:pt idx="6">
                  <c:v>264.468</c:v>
                </c:pt>
                <c:pt idx="7">
                  <c:v>273.221</c:v>
                </c:pt>
                <c:pt idx="8">
                  <c:v>282.234</c:v>
                </c:pt>
                <c:pt idx="9">
                  <c:v>291.518</c:v>
                </c:pt>
                <c:pt idx="10">
                  <c:v>301.076</c:v>
                </c:pt>
                <c:pt idx="11">
                  <c:v>310.917</c:v>
                </c:pt>
                <c:pt idx="12">
                  <c:v>321.046</c:v>
                </c:pt>
                <c:pt idx="13">
                  <c:v>331.473</c:v>
                </c:pt>
                <c:pt idx="14">
                  <c:v>342.202</c:v>
                </c:pt>
                <c:pt idx="15">
                  <c:v>353.245</c:v>
                </c:pt>
              </c:numCache>
            </c:numRef>
          </c:val>
        </c:ser>
        <c:ser>
          <c:idx val="1"/>
          <c:order val="1"/>
          <c:tx>
            <c:strRef>
              <c:strCache>
                <c:ptCount val="1"/>
                <c:pt idx="0">
                  <c:v>Canada</c:v>
                </c:pt>
              </c:strCache>
            </c:strRef>
          </c:tx>
          <c:spPr>
            <a:solidFill>
              <a:srgbClr val="9E7E0A"/>
            </a:solidFill>
            <a:ln>
              <a:noFill/>
            </a:ln>
          </c:spPr>
          <c:dLbls>
            <c:dLbl>
              <c:idx val="0"/>
              <c:numFmt formatCode="&quot;MMMM&quot;;&quot;MMMM&quot;;&quot;M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2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2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quot;;&quot;MMMMM&quot;;&quot;MMMMM&quot;" sourceLinked="0"/>
              <c:spPr>
                <a:blipFill>
                  <a:blip r:embed="rId2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quot;;&quot;MMMMM&quot;;&quot;MMMMM&quot;" sourceLinked="0"/>
              <c:spPr>
                <a:blipFill>
                  <a:blip r:embed="rId2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quot;;&quot;MMMMM&quot;;&quot;MMMMM&quot;" sourceLinked="0"/>
              <c:spPr>
                <a:blipFill>
                  <a:blip r:embed="rId2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quot;;&quot;MMMMM&quot;;&quot;MMMMM&quot;" sourceLinked="0"/>
              <c:spPr>
                <a:blipFill>
                  <a:blip r:embed="rId2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quot;;&quot;MMMMM&quot;;&quot;MMMMM&quot;" sourceLinked="0"/>
              <c:spPr>
                <a:blipFill>
                  <a:blip r:embed="rId2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quot;;&quot;MMMMM&quot;;&quot;MMMMM&quot;" sourceLinked="0"/>
              <c:spPr>
                <a:blipFill>
                  <a:blip r:embed="rId2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1"/>
              <c:numFmt formatCode="&quot;MMMMM&quot;;&quot;MMMMM&quot;;&quot;MMMMM&quot;" sourceLinked="0"/>
              <c:spPr>
                <a:blipFill>
                  <a:blip r:embed="rId2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2"/>
              <c:numFmt formatCode="&quot;MMMMM&quot;;&quot;MMMMM&quot;;&quot;MMMMM&quot;" sourceLinked="0"/>
              <c:spPr>
                <a:blipFill>
                  <a:blip r:embed="rId3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3"/>
              <c:numFmt formatCode="&quot;MMMMM&quot;;&quot;MMMMM&quot;;&quot;MMMMM&quot;" sourceLinked="0"/>
              <c:spPr>
                <a:blipFill>
                  <a:blip r:embed="rId3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4"/>
              <c:numFmt formatCode="&quot;MMMMM&quot;;&quot;MMMMM&quot;;&quot;MMMMM&quot;" sourceLinked="0"/>
              <c:spPr>
                <a:blipFill>
                  <a:blip r:embed="rId3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5"/>
              <c:numFmt formatCode="&quot;MMMMM&quot;;&quot;MMMMM&quot;;&quot;MMMMM&quot;" sourceLinked="0"/>
              <c:spPr>
                <a:blipFill>
                  <a:blip r:embed="rId3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96.324</c:v>
                </c:pt>
                <c:pt idx="1">
                  <c:v>99.495</c:v>
                </c:pt>
                <c:pt idx="2">
                  <c:v>102.96</c:v>
                </c:pt>
                <c:pt idx="3">
                  <c:v>106.739</c:v>
                </c:pt>
                <c:pt idx="4">
                  <c:v>110.86</c:v>
                </c:pt>
                <c:pt idx="5">
                  <c:v>115.346</c:v>
                </c:pt>
                <c:pt idx="6">
                  <c:v>120.008</c:v>
                </c:pt>
                <c:pt idx="7">
                  <c:v>124.847</c:v>
                </c:pt>
                <c:pt idx="8">
                  <c:v>129.867</c:v>
                </c:pt>
                <c:pt idx="9">
                  <c:v>135.076</c:v>
                </c:pt>
                <c:pt idx="10">
                  <c:v>140.48</c:v>
                </c:pt>
                <c:pt idx="11">
                  <c:v>146.085</c:v>
                </c:pt>
                <c:pt idx="12">
                  <c:v>151.898</c:v>
                </c:pt>
                <c:pt idx="13">
                  <c:v>157.927</c:v>
                </c:pt>
                <c:pt idx="14">
                  <c:v>164.179</c:v>
                </c:pt>
                <c:pt idx="15">
                  <c:v>170.66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Cast Metal Partial Dentures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27.844251728583146</c:v>
                </c:pt>
                <c:pt idx="1">
                  <c:v>23.165791447861963</c:v>
                </c:pt>
              </c:numCache>
            </c:numRef>
          </c:val>
        </c:ser>
        <c:ser>
          <c:idx val="1"/>
          <c:order val="1"/>
          <c:tx>
            <c:strRef>
              <c:strCache>
                <c:ptCount val="1"/>
                <c:pt idx="0">
                  <c:v>Acrylic Partial Dentures</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17.463377475682645</c:v>
                </c:pt>
                <c:pt idx="1">
                  <c:v>16.061373834024543</c:v>
                </c:pt>
              </c:numCache>
            </c:numRef>
          </c:val>
        </c:ser>
        <c:ser>
          <c:idx val="2"/>
          <c:order val="2"/>
          <c:tx>
            <c:strRef>
              <c:strCache>
                <c:ptCount val="1"/>
                <c:pt idx="0">
                  <c:v>Flexible Partial Dentures</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29.257588187038557</c:v>
                </c:pt>
                <c:pt idx="1">
                  <c:v>32.348370111395774</c:v>
                </c:pt>
              </c:numCache>
            </c:numRef>
          </c:val>
        </c:ser>
        <c:ser>
          <c:idx val="3"/>
          <c:order val="3"/>
          <c:tx>
            <c:strRef>
              <c:strCache>
                <c:ptCount val="1"/>
                <c:pt idx="0">
                  <c:v>Combination Framework Partial Dentures</c:v>
                </c:pt>
              </c:strCache>
            </c:strRef>
          </c:tx>
          <c:spPr>
            <a:solidFill>
              <a:srgbClr val="40315E"/>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25.43478260869565</c:v>
                </c:pt>
                <c:pt idx="1">
                  <c:v>28.42446460671772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69.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Cast Metal Partial Dentures</c:v>
                </c:pt>
              </c:strCache>
            </c:strRef>
          </c:tx>
          <c:spPr>
            <a:solidFill>
              <a:srgbClr val="3D85C6"/>
            </a:solidFill>
          </c:spPr>
          <c:invertIfNegative val="0"/>
          <c:xVal>
            <c:numRef>
              <c:numCache>
                <c:formatCode>General</c:formatCode>
                <c:ptCount val="1"/>
                <c:pt idx="0">
                  <c:v>156.61296474095542</c:v>
                </c:pt>
              </c:numCache>
            </c:numRef>
          </c:xVal>
          <c:yVal>
            <c:numRef>
              <c:numCache>
                <c:formatCode>General</c:formatCode>
                <c:ptCount val="1"/>
                <c:pt idx="0">
                  <c:v>81.68891187021296</c:v>
                </c:pt>
              </c:numCache>
            </c:numRef>
          </c:yVal>
          <c:bubbleSize>
            <c:numRef>
              <c:numCache>
                <c:formatCode>General</c:formatCode>
                <c:ptCount val="1"/>
                <c:pt idx="0">
                  <c:v>129.351</c:v>
                </c:pt>
              </c:numCache>
            </c:numRef>
          </c:bubbleSize>
          <c:bubble3D val="0"/>
        </c:ser>
        <c:ser>
          <c:idx val="1"/>
          <c:order val="1"/>
          <c:tx>
            <c:strRef>
              <c:strCache>
                <c:ptCount val="1"/>
                <c:pt idx="0">
                  <c:v>Acrylic Partial Dentures</c:v>
                </c:pt>
              </c:strCache>
            </c:strRef>
          </c:tx>
          <c:spPr>
            <a:solidFill>
              <a:srgbClr val="9E7E0A"/>
            </a:solidFill>
          </c:spPr>
          <c:invertIfNegative val="0"/>
          <c:xVal>
            <c:numRef>
              <c:numCache>
                <c:formatCode>General</c:formatCode>
                <c:ptCount val="1"/>
                <c:pt idx="0">
                  <c:v>67.70226725115347</c:v>
                </c:pt>
              </c:numCache>
            </c:numRef>
          </c:xVal>
          <c:yVal>
            <c:numRef>
              <c:numCache>
                <c:formatCode>General</c:formatCode>
                <c:ptCount val="1"/>
                <c:pt idx="0">
                  <c:v>73.7474280666602</c:v>
                </c:pt>
              </c:numCache>
            </c:numRef>
          </c:yVal>
          <c:bubbleSize>
            <c:numRef>
              <c:numCache>
                <c:formatCode>General</c:formatCode>
                <c:ptCount val="1"/>
                <c:pt idx="0">
                  <c:v>86.539</c:v>
                </c:pt>
              </c:numCache>
            </c:numRef>
          </c:bubbleSize>
          <c:bubble3D val="0"/>
        </c:ser>
        <c:ser>
          <c:idx val="2"/>
          <c:order val="2"/>
          <c:tx>
            <c:strRef>
              <c:strCache>
                <c:ptCount val="1"/>
                <c:pt idx="0">
                  <c:v>Flexible Partial Dentures</c:v>
                </c:pt>
              </c:strCache>
            </c:strRef>
          </c:tx>
          <c:spPr>
            <a:solidFill>
              <a:srgbClr val="008189"/>
            </a:solidFill>
          </c:spPr>
          <c:invertIfNegative val="0"/>
          <c:xVal>
            <c:numRef>
              <c:numCache>
                <c:formatCode>General</c:formatCode>
                <c:ptCount val="1"/>
                <c:pt idx="0">
                  <c:v>61.61581248658897</c:v>
                </c:pt>
              </c:numCache>
            </c:numRef>
          </c:xVal>
          <c:yVal>
            <c:numRef>
              <c:numCache>
                <c:formatCode>General</c:formatCode>
                <c:ptCount val="1"/>
                <c:pt idx="0">
                  <c:v>142.87668724213339</c:v>
                </c:pt>
              </c:numCache>
            </c:numRef>
          </c:yVal>
          <c:bubbleSize>
            <c:numRef>
              <c:numCache>
                <c:formatCode>General</c:formatCode>
                <c:ptCount val="1"/>
                <c:pt idx="0">
                  <c:v>164.2</c:v>
                </c:pt>
              </c:numCache>
            </c:numRef>
          </c:bubbleSize>
          <c:bubble3D val="0"/>
        </c:ser>
        <c:ser>
          <c:idx val="3"/>
          <c:order val="3"/>
          <c:tx>
            <c:strRef>
              <c:strCache>
                <c:ptCount val="1"/>
                <c:pt idx="0">
                  <c:v>Combination Framework Partial Dentures</c:v>
                </c:pt>
              </c:strCache>
            </c:strRef>
          </c:tx>
          <c:spPr>
            <a:solidFill>
              <a:srgbClr val="40315E"/>
            </a:solidFill>
          </c:spPr>
          <c:invertIfNegative val="0"/>
          <c:xVal>
            <c:numRef>
              <c:numCache>
                <c:formatCode>General</c:formatCode>
                <c:ptCount val="1"/>
                <c:pt idx="0">
                  <c:v>122.77735238962049</c:v>
                </c:pt>
              </c:numCache>
            </c:numRef>
          </c:xVal>
          <c:yVal>
            <c:numRef>
              <c:numCache>
                <c:formatCode>General</c:formatCode>
                <c:ptCount val="1"/>
                <c:pt idx="0">
                  <c:v>101.68697282099343</c:v>
                </c:pt>
              </c:numCache>
            </c:numRef>
          </c:yVal>
          <c:bubbleSize>
            <c:numRef>
              <c:numCache>
                <c:formatCode>General</c:formatCode>
                <c:ptCount val="1"/>
                <c:pt idx="0">
                  <c:v>143.815</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90.0"/>
          <c:min val="3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75.0"/>
          <c:min val="25.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75.831</c:v>
                </c:pt>
                <c:pt idx="2">
                  <c:v>84.514</c:v>
                </c:pt>
                <c:pt idx="3">
                  <c:v>94.113</c:v>
                </c:pt>
                <c:pt idx="4">
                  <c:v>104.718</c:v>
                </c:pt>
                <c:pt idx="5">
                  <c:v>116.428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75.831</c:v>
                </c:pt>
                <c:pt idx="1">
                  <c:v>8.682999999999993</c:v>
                </c:pt>
                <c:pt idx="2">
                  <c:v>9.599000000000004</c:v>
                </c:pt>
                <c:pt idx="3">
                  <c:v>10.605000000000004</c:v>
                </c:pt>
                <c:pt idx="4">
                  <c:v>11.709999999999994</c:v>
                </c:pt>
                <c:pt idx="5">
                  <c:v>12.923000000000002</c:v>
                </c:pt>
                <c:pt idx="6">
                  <c:v>129.351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68.459</c:v>
                </c:pt>
                <c:pt idx="2">
                  <c:v>71.946</c:v>
                </c:pt>
                <c:pt idx="3">
                  <c:v>75.51</c:v>
                </c:pt>
                <c:pt idx="4">
                  <c:v>79.14</c:v>
                </c:pt>
                <c:pt idx="5">
                  <c:v>82.822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68.459</c:v>
                </c:pt>
                <c:pt idx="1">
                  <c:v>3.4869999999999948</c:v>
                </c:pt>
                <c:pt idx="2">
                  <c:v>3.564000000000007</c:v>
                </c:pt>
                <c:pt idx="3">
                  <c:v>3.6299999999999955</c:v>
                </c:pt>
                <c:pt idx="4">
                  <c:v>3.682000000000002</c:v>
                </c:pt>
                <c:pt idx="5">
                  <c:v>3.7169999999999987</c:v>
                </c:pt>
                <c:pt idx="6">
                  <c:v>86.539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132.631</c:v>
                </c:pt>
                <c:pt idx="2">
                  <c:v>138.877</c:v>
                </c:pt>
                <c:pt idx="3">
                  <c:v>145.193</c:v>
                </c:pt>
                <c:pt idx="4">
                  <c:v>151.546</c:v>
                </c:pt>
                <c:pt idx="5">
                  <c:v>157.895</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132.631</c:v>
                </c:pt>
                <c:pt idx="1">
                  <c:v>6.246000000000009</c:v>
                </c:pt>
                <c:pt idx="2">
                  <c:v>6.3160000000000025</c:v>
                </c:pt>
                <c:pt idx="3">
                  <c:v>6.35299999999998</c:v>
                </c:pt>
                <c:pt idx="4">
                  <c:v>6.349000000000018</c:v>
                </c:pt>
                <c:pt idx="5">
                  <c:v>6.304999999999978</c:v>
                </c:pt>
                <c:pt idx="6">
                  <c:v>164.2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94.395</c:v>
                </c:pt>
                <c:pt idx="2">
                  <c:v>102.731</c:v>
                </c:pt>
                <c:pt idx="3">
                  <c:v>111.778</c:v>
                </c:pt>
                <c:pt idx="4">
                  <c:v>121.598</c:v>
                </c:pt>
                <c:pt idx="5">
                  <c:v>132.255</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94.395</c:v>
                </c:pt>
                <c:pt idx="1">
                  <c:v>8.335999999999999</c:v>
                </c:pt>
                <c:pt idx="2">
                  <c:v>9.047000000000011</c:v>
                </c:pt>
                <c:pt idx="3">
                  <c:v>9.819999999999993</c:v>
                </c:pt>
                <c:pt idx="4">
                  <c:v>10.656999999999996</c:v>
                </c:pt>
                <c:pt idx="5">
                  <c:v>11.560000000000002</c:v>
                </c:pt>
                <c:pt idx="6">
                  <c:v>143.815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Flexible Partial Dentures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37.708287431934785</c:v>
                </c:pt>
                <c:pt idx="1">
                  <c:v>35.719171810533346</c:v>
                </c:pt>
                <c:pt idx="2">
                  <c:v>31.341560015651694</c:v>
                </c:pt>
              </c:numCache>
            </c:numRef>
          </c:val>
        </c:ser>
        <c:ser>
          <c:idx val="1"/>
          <c:order val="1"/>
          <c:tx>
            <c:strRef>
              <c:strCache>
                <c:ptCount val="1"/>
                <c:pt idx="0">
                  <c:v>Combination Framework Partial Dentures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24.499071480280758</c:v>
                </c:pt>
                <c:pt idx="1">
                  <c:v>25.421743205248358</c:v>
                </c:pt>
                <c:pt idx="2">
                  <c:v>27.450587415657417</c:v>
                </c:pt>
              </c:numCache>
            </c:numRef>
          </c:val>
        </c:ser>
        <c:ser>
          <c:idx val="2"/>
          <c:order val="2"/>
          <c:tx>
            <c:strRef>
              <c:strCache>
                <c:ptCount val="1"/>
                <c:pt idx="0">
                  <c:v>Cast Metal Partial Dentures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18.48887350099147</c:v>
                </c:pt>
                <c:pt idx="1">
                  <c:v>20.42222796755324</c:v>
                </c:pt>
                <c:pt idx="2">
                  <c:v>24.68978154436396</c:v>
                </c:pt>
              </c:numCache>
            </c:numRef>
          </c:val>
        </c:ser>
        <c:ser>
          <c:idx val="3"/>
          <c:order val="3"/>
          <c:tx>
            <c:strRef>
              <c:strCache>
                <c:ptCount val="1"/>
                <c:pt idx="0">
                  <c:v>Acrylic Partial Dentures</c:v>
                </c:pt>
              </c:strCache>
            </c:strRef>
          </c:tx>
          <c:spPr>
            <a:solidFill>
              <a:srgbClr val="40315E"/>
            </a:solidFill>
            <a:ln>
              <a:noFill/>
            </a:ln>
          </c:spPr>
          <c:dLbls>
            <c:dLbl>
              <c:idx val="0"/>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19.30376758679299</c:v>
                </c:pt>
                <c:pt idx="1">
                  <c:v>18.43685701666505</c:v>
                </c:pt>
                <c:pt idx="2">
                  <c:v>16.51807102432693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Metal Alloys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30.620532052033283</c:v>
                </c:pt>
                <c:pt idx="1">
                  <c:v>27.54688672168042</c:v>
                </c:pt>
              </c:numCache>
            </c:numRef>
          </c:val>
        </c:ser>
        <c:ser>
          <c:idx val="1"/>
          <c:order val="1"/>
          <c:tx>
            <c:strRef>
              <c:strCache>
                <c:ptCount val="1"/>
                <c:pt idx="0">
                  <c:v>Acrylic / Resin</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47.200281260986756</c:v>
                </c:pt>
                <c:pt idx="1">
                  <c:v>43.9055046780563</c:v>
                </c:pt>
              </c:numCache>
            </c:numRef>
          </c:val>
        </c:ser>
        <c:ser>
          <c:idx val="2"/>
          <c:order val="2"/>
          <c:tx>
            <c:strRef>
              <c:strCache>
                <c:ptCount val="1"/>
                <c:pt idx="0">
                  <c:v>Flexible Thermoplastics</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14.332005156451427</c:v>
                </c:pt>
                <c:pt idx="1">
                  <c:v>18.35298447253323</c:v>
                </c:pt>
              </c:numCache>
            </c:numRef>
          </c:val>
        </c:ser>
        <c:ser>
          <c:idx val="3"/>
          <c:order val="3"/>
          <c:tx>
            <c:strRef>
              <c:strCache>
                <c:ptCount val="1"/>
                <c:pt idx="0">
                  <c:v>High-performance Polymers</c:v>
                </c:pt>
              </c:strCache>
            </c:strRef>
          </c:tx>
          <c:spPr>
            <a:solidFill>
              <a:srgbClr val="40315E"/>
            </a:solidFill>
            <a:ln>
              <a:noFill/>
            </a:ln>
          </c:spPr>
          <c:dLbls>
            <c:dLbl>
              <c:idx val="0"/>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7.847181530528537</c:v>
                </c:pt>
                <c:pt idx="1">
                  <c:v>10.194624127730044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76.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Metal Alloys</c:v>
                </c:pt>
              </c:strCache>
            </c:strRef>
          </c:tx>
          <c:spPr>
            <a:solidFill>
              <a:srgbClr val="3D85C6"/>
            </a:solidFill>
          </c:spPr>
          <c:invertIfNegative val="0"/>
          <c:xVal>
            <c:numRef>
              <c:numCache>
                <c:formatCode>General</c:formatCode>
                <c:ptCount val="1"/>
                <c:pt idx="0">
                  <c:v>94.35528164917186</c:v>
                </c:pt>
              </c:numCache>
            </c:numRef>
          </c:xVal>
          <c:yVal>
            <c:numRef>
              <c:numCache>
                <c:formatCode>General</c:formatCode>
                <c:ptCount val="1"/>
                <c:pt idx="0">
                  <c:v>116.39681565028171</c:v>
                </c:pt>
              </c:numCache>
            </c:numRef>
          </c:yVal>
          <c:bubbleSize>
            <c:numRef>
              <c:numCache>
                <c:formatCode>General</c:formatCode>
                <c:ptCount val="1"/>
                <c:pt idx="0">
                  <c:v>149.565</c:v>
                </c:pt>
              </c:numCache>
            </c:numRef>
          </c:bubbleSize>
          <c:bubble3D val="0"/>
        </c:ser>
        <c:ser>
          <c:idx val="1"/>
          <c:order val="1"/>
          <c:tx>
            <c:strRef>
              <c:strCache>
                <c:ptCount val="1"/>
                <c:pt idx="0">
                  <c:v>Acrylic / Resin</c:v>
                </c:pt>
              </c:strCache>
            </c:strRef>
          </c:tx>
          <c:spPr>
            <a:solidFill>
              <a:srgbClr val="9E7E0A"/>
            </a:solidFill>
          </c:spPr>
          <c:invertIfNegative val="0"/>
          <c:xVal>
            <c:numRef>
              <c:numCache>
                <c:formatCode>General</c:formatCode>
                <c:ptCount val="1"/>
                <c:pt idx="0">
                  <c:v>105.60566041208584</c:v>
                </c:pt>
              </c:numCache>
            </c:numRef>
          </c:xVal>
          <c:yVal>
            <c:numRef>
              <c:numCache>
                <c:formatCode>General</c:formatCode>
                <c:ptCount val="1"/>
                <c:pt idx="0">
                  <c:v>176.53750444365446</c:v>
                </c:pt>
              </c:numCache>
            </c:numRef>
          </c:yVal>
          <c:bubbleSize>
            <c:numRef>
              <c:numCache>
                <c:formatCode>General</c:formatCode>
                <c:ptCount val="1"/>
                <c:pt idx="0">
                  <c:v>235.646</c:v>
                </c:pt>
              </c:numCache>
            </c:numRef>
          </c:bubbleSize>
          <c:bubble3D val="0"/>
        </c:ser>
        <c:ser>
          <c:idx val="2"/>
          <c:order val="2"/>
          <c:tx>
            <c:strRef>
              <c:strCache>
                <c:ptCount val="1"/>
                <c:pt idx="0">
                  <c:v>Flexible Thermoplastics</c:v>
                </c:pt>
              </c:strCache>
            </c:strRef>
          </c:tx>
          <c:spPr>
            <a:solidFill>
              <a:srgbClr val="008189"/>
            </a:solidFill>
          </c:spPr>
          <c:invertIfNegative val="0"/>
          <c:xVal>
            <c:numRef>
              <c:numCache>
                <c:formatCode>General</c:formatCode>
                <c:ptCount val="1"/>
                <c:pt idx="0">
                  <c:v>89.96369306847451</c:v>
                </c:pt>
              </c:numCache>
            </c:numRef>
          </c:xVal>
          <c:yVal>
            <c:numRef>
              <c:numCache>
                <c:formatCode>General</c:formatCode>
                <c:ptCount val="1"/>
                <c:pt idx="0">
                  <c:v>70.53183811093515</c:v>
                </c:pt>
              </c:numCache>
            </c:numRef>
          </c:yVal>
          <c:bubbleSize>
            <c:numRef>
              <c:numCache>
                <c:formatCode>General</c:formatCode>
                <c:ptCount val="1"/>
                <c:pt idx="0">
                  <c:v>89.29</c:v>
                </c:pt>
              </c:numCache>
            </c:numRef>
          </c:bubbleSize>
          <c:bubble3D val="0"/>
        </c:ser>
        <c:ser>
          <c:idx val="3"/>
          <c:order val="3"/>
          <c:tx>
            <c:strRef>
              <c:strCache>
                <c:ptCount val="1"/>
                <c:pt idx="0">
                  <c:v>High-performance Polymers</c:v>
                </c:pt>
              </c:strCache>
            </c:strRef>
          </c:tx>
          <c:spPr>
            <a:solidFill>
              <a:srgbClr val="40315E"/>
            </a:solidFill>
          </c:spPr>
          <c:invertIfNegative val="0"/>
          <c:xVal>
            <c:numRef>
              <c:numCache>
                <c:formatCode>General</c:formatCode>
                <c:ptCount val="1"/>
                <c:pt idx="0">
                  <c:v>109.45560669855612</c:v>
                </c:pt>
              </c:numCache>
            </c:numRef>
          </c:xVal>
          <c:yVal>
            <c:numRef>
              <c:numCache>
                <c:formatCode>General</c:formatCode>
                <c:ptCount val="1"/>
                <c:pt idx="0">
                  <c:v>36.53384179512868</c:v>
                </c:pt>
              </c:numCache>
            </c:numRef>
          </c:yVal>
          <c:bubbleSize>
            <c:numRef>
              <c:numCache>
                <c:formatCode>General</c:formatCode>
                <c:ptCount val="1"/>
                <c:pt idx="0">
                  <c:v>49.404</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5.0"/>
          <c:min val="8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2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7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108.05</c:v>
                </c:pt>
                <c:pt idx="2">
                  <c:v>115.405</c:v>
                </c:pt>
                <c:pt idx="3">
                  <c:v>123.209</c:v>
                </c:pt>
                <c:pt idx="4">
                  <c:v>131.489</c:v>
                </c:pt>
                <c:pt idx="5">
                  <c:v>140.265</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108.05</c:v>
                </c:pt>
                <c:pt idx="1">
                  <c:v>7.355000000000004</c:v>
                </c:pt>
                <c:pt idx="2">
                  <c:v>7.804000000000002</c:v>
                </c:pt>
                <c:pt idx="3">
                  <c:v>8.280000000000001</c:v>
                </c:pt>
                <c:pt idx="4">
                  <c:v>8.775999999999982</c:v>
                </c:pt>
                <c:pt idx="5">
                  <c:v>9.300000000000011</c:v>
                </c:pt>
                <c:pt idx="6">
                  <c:v>149.565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163.878</c:v>
                </c:pt>
                <c:pt idx="2">
                  <c:v>176.341</c:v>
                </c:pt>
                <c:pt idx="3">
                  <c:v>189.691</c:v>
                </c:pt>
                <c:pt idx="4">
                  <c:v>203.983</c:v>
                </c:pt>
                <c:pt idx="5">
                  <c:v>219.281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163.878</c:v>
                </c:pt>
                <c:pt idx="1">
                  <c:v>12.463000000000022</c:v>
                </c:pt>
                <c:pt idx="2">
                  <c:v>13.349999999999994</c:v>
                </c:pt>
                <c:pt idx="3">
                  <c:v>14.292000000000002</c:v>
                </c:pt>
                <c:pt idx="4">
                  <c:v>15.298000000000002</c:v>
                </c:pt>
                <c:pt idx="5">
                  <c:v>16.36499999999998</c:v>
                </c:pt>
                <c:pt idx="6">
                  <c:v>235.646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65.47399999999999</c:v>
                </c:pt>
                <c:pt idx="2">
                  <c:v>69.73400000000001</c:v>
                </c:pt>
                <c:pt idx="3">
                  <c:v>74.23400000000001</c:v>
                </c:pt>
                <c:pt idx="4">
                  <c:v>78.987</c:v>
                </c:pt>
                <c:pt idx="5">
                  <c:v>84.00200000000001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65.47399999999999</c:v>
                </c:pt>
                <c:pt idx="1">
                  <c:v>4.260000000000019</c:v>
                </c:pt>
                <c:pt idx="2">
                  <c:v>4.5</c:v>
                </c:pt>
                <c:pt idx="3">
                  <c:v>4.752999999999986</c:v>
                </c:pt>
                <c:pt idx="4">
                  <c:v>5.015000000000015</c:v>
                </c:pt>
                <c:pt idx="5">
                  <c:v>5.287999999999997</c:v>
                </c:pt>
                <c:pt idx="6">
                  <c:v>89.29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33.914</c:v>
                </c:pt>
                <c:pt idx="2">
                  <c:v>36.588</c:v>
                </c:pt>
                <c:pt idx="3">
                  <c:v>39.46</c:v>
                </c:pt>
                <c:pt idx="4">
                  <c:v>42.543</c:v>
                </c:pt>
                <c:pt idx="5">
                  <c:v>45.852000000000004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33.914</c:v>
                </c:pt>
                <c:pt idx="1">
                  <c:v>2.6739999999999995</c:v>
                </c:pt>
                <c:pt idx="2">
                  <c:v>2.872</c:v>
                </c:pt>
                <c:pt idx="3">
                  <c:v>3.0829999999999984</c:v>
                </c:pt>
                <c:pt idx="4">
                  <c:v>3.3090000000000046</c:v>
                </c:pt>
                <c:pt idx="5">
                  <c:v>3.5519999999999996</c:v>
                </c:pt>
                <c:pt idx="6">
                  <c:v>49.404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Acrylic / Resin</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43.72887224198168</c:v>
                </c:pt>
                <c:pt idx="1">
                  <c:v>44.134376110913614</c:v>
                </c:pt>
                <c:pt idx="2">
                  <c:v>44.97876523415505</c:v>
                </c:pt>
              </c:numCache>
            </c:numRef>
          </c:val>
        </c:ser>
        <c:ser>
          <c:idx val="1"/>
          <c:order val="1"/>
          <c:tx>
            <c:strRef>
              <c:strCache>
                <c:ptCount val="1"/>
                <c:pt idx="0">
                  <c:v>Metal Alloys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29.36420005665544</c:v>
                </c:pt>
                <c:pt idx="1">
                  <c:v>29.099203912570427</c:v>
                </c:pt>
                <c:pt idx="2">
                  <c:v>28.548114639104423</c:v>
                </c:pt>
              </c:numCache>
            </c:numRef>
          </c:val>
        </c:ser>
        <c:ser>
          <c:idx val="2"/>
          <c:order val="2"/>
          <c:tx>
            <c:strRef>
              <c:strCache>
                <c:ptCount val="1"/>
                <c:pt idx="0">
                  <c:v>Flexible Thermoplastics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17.915079789745366</c:v>
                </c:pt>
                <c:pt idx="1">
                  <c:v>17.63295952773379</c:v>
                </c:pt>
                <c:pt idx="2">
                  <c:v>17.043166222883922</c:v>
                </c:pt>
              </c:numCache>
            </c:numRef>
          </c:val>
        </c:ser>
        <c:ser>
          <c:idx val="3"/>
          <c:order val="3"/>
          <c:tx>
            <c:strRef>
              <c:strCache>
                <c:ptCount val="1"/>
                <c:pt idx="0">
                  <c:v>High-performance Polymers</c:v>
                </c:pt>
              </c:strCache>
            </c:strRef>
          </c:tx>
          <c:spPr>
            <a:solidFill>
              <a:srgbClr val="40315E"/>
            </a:solidFill>
            <a:ln>
              <a:noFill/>
            </a:ln>
          </c:spPr>
          <c:dLbls>
            <c:dLbl>
              <c:idx val="0"/>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8.991847911617512</c:v>
                </c:pt>
                <c:pt idx="1">
                  <c:v>9.13346044878217</c:v>
                </c:pt>
                <c:pt idx="2">
                  <c:v>9.429953903856617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Conventional Fabrication</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41.52759873432556</c:v>
                </c:pt>
                <c:pt idx="1">
                  <c:v>40.24628798709111</c:v>
                </c:pt>
              </c:numCache>
            </c:numRef>
          </c:val>
        </c:ser>
        <c:ser>
          <c:idx val="1"/>
          <c:order val="1"/>
          <c:tx>
            <c:strRef>
              <c:strCache>
                <c:ptCount val="1"/>
                <c:pt idx="0">
                  <c:v>Digital Fabrication</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58.47240126567444</c:v>
                </c:pt>
                <c:pt idx="1">
                  <c:v>59.75371201290889</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83.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Conventional Fabrication</c:v>
                </c:pt>
              </c:strCache>
            </c:strRef>
          </c:tx>
          <c:spPr>
            <a:solidFill>
              <a:srgbClr val="3D85C6"/>
            </a:solidFill>
          </c:spPr>
          <c:invertIfNegative val="0"/>
          <c:xVal>
            <c:numRef>
              <c:numCache>
                <c:formatCode>General</c:formatCode>
                <c:ptCount val="1"/>
                <c:pt idx="0">
                  <c:v>139.70826266001893</c:v>
                </c:pt>
              </c:numCache>
            </c:numRef>
          </c:xVal>
          <c:yVal>
            <c:numRef>
              <c:numCache>
                <c:formatCode>General</c:formatCode>
                <c:ptCount val="1"/>
                <c:pt idx="0">
                  <c:v>71.1652608559825</c:v>
                </c:pt>
              </c:numCache>
            </c:numRef>
          </c:yVal>
          <c:bubbleSize>
            <c:numRef>
              <c:numCache>
                <c:formatCode>General</c:formatCode>
                <c:ptCount val="1"/>
                <c:pt idx="0">
                  <c:v>213.039</c:v>
                </c:pt>
              </c:numCache>
            </c:numRef>
          </c:bubbleSize>
          <c:bubble3D val="0"/>
        </c:ser>
        <c:ser>
          <c:idx val="1"/>
          <c:order val="1"/>
          <c:tx>
            <c:strRef>
              <c:strCache>
                <c:ptCount val="1"/>
                <c:pt idx="0">
                  <c:v>Digital Fabrication</c:v>
                </c:pt>
              </c:strCache>
            </c:strRef>
          </c:tx>
          <c:spPr>
            <a:solidFill>
              <a:srgbClr val="9E7E0A"/>
            </a:solidFill>
          </c:spPr>
          <c:invertIfNegative val="0"/>
          <c:xVal>
            <c:numRef>
              <c:numCache>
                <c:formatCode>General</c:formatCode>
                <c:ptCount val="1"/>
                <c:pt idx="0">
                  <c:v>75.81995980553519</c:v>
                </c:pt>
              </c:numCache>
            </c:numRef>
          </c:xVal>
          <c:yVal>
            <c:numRef>
              <c:numCache>
                <c:formatCode>General</c:formatCode>
                <c:ptCount val="1"/>
                <c:pt idx="0">
                  <c:v>128.83473914401748</c:v>
                </c:pt>
              </c:numCache>
            </c:numRef>
          </c:yVal>
          <c:bubbleSize>
            <c:numRef>
              <c:numCache>
                <c:formatCode>General</c:formatCode>
                <c:ptCount val="1"/>
                <c:pt idx="0">
                  <c:v>310.866</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60.0"/>
          <c:min val="5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50.0"/>
          <c:min val="5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132.124</c:v>
                </c:pt>
                <c:pt idx="2">
                  <c:v>145.483</c:v>
                </c:pt>
                <c:pt idx="3">
                  <c:v>160.13</c:v>
                </c:pt>
                <c:pt idx="4">
                  <c:v>176.185</c:v>
                </c:pt>
                <c:pt idx="5">
                  <c:v>193.77200000000002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132.124</c:v>
                </c:pt>
                <c:pt idx="1">
                  <c:v>13.359000000000009</c:v>
                </c:pt>
                <c:pt idx="2">
                  <c:v>14.646999999999991</c:v>
                </c:pt>
                <c:pt idx="3">
                  <c:v>16.055000000000007</c:v>
                </c:pt>
                <c:pt idx="4">
                  <c:v>17.587000000000018</c:v>
                </c:pt>
                <c:pt idx="5">
                  <c:v>19.266999999999967</c:v>
                </c:pt>
                <c:pt idx="6">
                  <c:v>213.039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239.192</c:v>
                </c:pt>
                <c:pt idx="2">
                  <c:v>252.585</c:v>
                </c:pt>
                <c:pt idx="3">
                  <c:v>266.464</c:v>
                </c:pt>
                <c:pt idx="4">
                  <c:v>280.817</c:v>
                </c:pt>
                <c:pt idx="5">
                  <c:v>295.628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239.192</c:v>
                </c:pt>
                <c:pt idx="1">
                  <c:v>13.393</c:v>
                </c:pt>
                <c:pt idx="2">
                  <c:v>13.87899999999999</c:v>
                </c:pt>
                <c:pt idx="3">
                  <c:v>14.353000000000009</c:v>
                </c:pt>
                <c:pt idx="4">
                  <c:v>14.810999999999979</c:v>
                </c:pt>
                <c:pt idx="5">
                  <c:v>15.238</c:v>
                </c:pt>
                <c:pt idx="6">
                  <c:v>310.866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Digital Fabrication</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66.72720405401152</c:v>
                </c:pt>
                <c:pt idx="1">
                  <c:v>64.41736957200874</c:v>
                </c:pt>
                <c:pt idx="2">
                  <c:v>59.33633005983909</c:v>
                </c:pt>
              </c:numCache>
            </c:numRef>
          </c:val>
        </c:ser>
        <c:ser>
          <c:idx val="1"/>
          <c:order val="1"/>
          <c:tx>
            <c:strRef>
              <c:strCache>
                <c:ptCount val="1"/>
                <c:pt idx="0">
                  <c:v>Conventional Fabrication</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33.272795945988484</c:v>
                </c:pt>
                <c:pt idx="1">
                  <c:v>35.58263042799125</c:v>
                </c:pt>
                <c:pt idx="2">
                  <c:v>40.66366994016091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Dental Clinics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11.310793390366811</c:v>
                </c:pt>
                <c:pt idx="1">
                  <c:v>10.682104488386248</c:v>
                </c:pt>
              </c:numCache>
            </c:numRef>
          </c:val>
        </c:ser>
        <c:ser>
          <c:idx val="1"/>
          <c:order val="1"/>
          <c:tx>
            <c:strRef>
              <c:strCache>
                <c:ptCount val="1"/>
                <c:pt idx="0">
                  <c:v>Dental Hospitals</c:v>
                </c:pt>
              </c:strCache>
            </c:strRef>
          </c:tx>
          <c:spPr>
            <a:solidFill>
              <a:srgbClr val="9E7E0A"/>
            </a:solidFill>
            <a:ln>
              <a:noFill/>
            </a:ln>
          </c:spPr>
          <c:dLbls>
            <c:dLbl>
              <c:idx val="0"/>
              <c:numFmt formatCode="&quot;MMM&quot;;&quot;MMM&quot;;&quot;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8.708543302472751</c:v>
                </c:pt>
                <c:pt idx="1">
                  <c:v>8.155529448399836</c:v>
                </c:pt>
              </c:numCache>
            </c:numRef>
          </c:val>
        </c:ser>
        <c:ser>
          <c:idx val="2"/>
          <c:order val="2"/>
          <c:tx>
            <c:strRef>
              <c:strCache>
                <c:ptCount val="1"/>
                <c:pt idx="0">
                  <c:v>Dental Laboratories</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33.04230634009141</c:v>
                </c:pt>
                <c:pt idx="1">
                  <c:v>36.67228127786664</c:v>
                </c:pt>
              </c:numCache>
            </c:numRef>
          </c:val>
        </c:ser>
        <c:ser>
          <c:idx val="3"/>
          <c:order val="3"/>
          <c:tx>
            <c:strRef>
              <c:strCache>
                <c:ptCount val="1"/>
                <c:pt idx="0">
                  <c:v>Academic &amp; Teaching Dental Institutions</c:v>
                </c:pt>
              </c:strCache>
            </c:strRef>
          </c:tx>
          <c:spPr>
            <a:solidFill>
              <a:srgbClr val="40315E"/>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46.93835696706902</c:v>
                </c:pt>
                <c:pt idx="1">
                  <c:v>44.49008478534728</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88.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Dental Clinics</c:v>
                </c:pt>
              </c:strCache>
            </c:strRef>
          </c:tx>
          <c:spPr>
            <a:solidFill>
              <a:srgbClr val="3D85C6"/>
            </a:solidFill>
          </c:spPr>
          <c:invertIfNegative val="0"/>
          <c:xVal>
            <c:numRef>
              <c:numCache>
                <c:formatCode>General</c:formatCode>
                <c:ptCount val="1"/>
                <c:pt idx="0">
                  <c:v>109.16629606476609</c:v>
                </c:pt>
              </c:numCache>
            </c:numRef>
          </c:xVal>
          <c:yVal>
            <c:numRef>
              <c:numCache>
                <c:formatCode>General</c:formatCode>
                <c:ptCount val="1"/>
                <c:pt idx="0">
                  <c:v>42.21956500662509</c:v>
                </c:pt>
              </c:numCache>
            </c:numRef>
          </c:yVal>
          <c:bubbleSize>
            <c:numRef>
              <c:numCache>
                <c:formatCode>General</c:formatCode>
                <c:ptCount val="1"/>
                <c:pt idx="0">
                  <c:v>57.037</c:v>
                </c:pt>
              </c:numCache>
            </c:numRef>
          </c:bubbleSize>
          <c:bubble3D val="0"/>
        </c:ser>
        <c:ser>
          <c:idx val="1"/>
          <c:order val="1"/>
          <c:tx>
            <c:strRef>
              <c:strCache>
                <c:ptCount val="1"/>
                <c:pt idx="0">
                  <c:v>Dental Hospitals</c:v>
                </c:pt>
              </c:strCache>
            </c:strRef>
          </c:tx>
          <c:spPr>
            <a:solidFill>
              <a:srgbClr val="9E7E0A"/>
            </a:solidFill>
          </c:spPr>
          <c:invertIfNegative val="0"/>
          <c:xVal>
            <c:numRef>
              <c:numCache>
                <c:formatCode>General</c:formatCode>
                <c:ptCount val="1"/>
                <c:pt idx="0">
                  <c:v>157.41144681330866</c:v>
                </c:pt>
              </c:numCache>
            </c:numRef>
          </c:xVal>
          <c:yVal>
            <c:numRef>
              <c:numCache>
                <c:formatCode>General</c:formatCode>
                <c:ptCount val="1"/>
                <c:pt idx="0">
                  <c:v>27.506490428637605</c:v>
                </c:pt>
              </c:numCache>
            </c:numRef>
          </c:yVal>
          <c:bubbleSize>
            <c:numRef>
              <c:numCache>
                <c:formatCode>General</c:formatCode>
                <c:ptCount val="1"/>
                <c:pt idx="0">
                  <c:v>43.671</c:v>
                </c:pt>
              </c:numCache>
            </c:numRef>
          </c:bubbleSize>
          <c:bubble3D val="0"/>
        </c:ser>
        <c:ser>
          <c:idx val="2"/>
          <c:order val="2"/>
          <c:tx>
            <c:strRef>
              <c:strCache>
                <c:ptCount val="1"/>
                <c:pt idx="0">
                  <c:v>Dental Laboratories</c:v>
                </c:pt>
              </c:strCache>
            </c:strRef>
          </c:tx>
          <c:spPr>
            <a:solidFill>
              <a:srgbClr val="008189"/>
            </a:solidFill>
          </c:spPr>
          <c:invertIfNegative val="0"/>
          <c:xVal>
            <c:numRef>
              <c:numCache>
                <c:formatCode>General</c:formatCode>
                <c:ptCount val="1"/>
                <c:pt idx="0">
                  <c:v>61.81908060920194</c:v>
                </c:pt>
              </c:numCache>
            </c:numRef>
          </c:xVal>
          <c:yVal>
            <c:numRef>
              <c:numCache>
                <c:formatCode>General</c:formatCode>
                <c:ptCount val="1"/>
                <c:pt idx="0">
                  <c:v>161.6746921759364</c:v>
                </c:pt>
              </c:numCache>
            </c:numRef>
          </c:yVal>
          <c:bubbleSize>
            <c:numRef>
              <c:numCache>
                <c:formatCode>General</c:formatCode>
                <c:ptCount val="1"/>
                <c:pt idx="0">
                  <c:v>185.933</c:v>
                </c:pt>
              </c:numCache>
            </c:numRef>
          </c:bubbleSize>
          <c:bubble3D val="0"/>
        </c:ser>
        <c:ser>
          <c:idx val="3"/>
          <c:order val="3"/>
          <c:tx>
            <c:strRef>
              <c:strCache>
                <c:ptCount val="1"/>
                <c:pt idx="0">
                  <c:v>Academic &amp; Teaching Dental Institutions</c:v>
                </c:pt>
              </c:strCache>
            </c:strRef>
          </c:tx>
          <c:spPr>
            <a:solidFill>
              <a:srgbClr val="40315E"/>
            </a:solidFill>
          </c:spPr>
          <c:invertIfNegative val="0"/>
          <c:xVal>
            <c:numRef>
              <c:numCache>
                <c:formatCode>General</c:formatCode>
                <c:ptCount val="1"/>
                <c:pt idx="0">
                  <c:v>121.29482586620274</c:v>
                </c:pt>
              </c:numCache>
            </c:numRef>
          </c:xVal>
          <c:yVal>
            <c:numRef>
              <c:numCache>
                <c:formatCode>General</c:formatCode>
                <c:ptCount val="1"/>
                <c:pt idx="0">
                  <c:v>168.59925238880092</c:v>
                </c:pt>
              </c:numCache>
            </c:numRef>
          </c:yVal>
          <c:bubbleSize>
            <c:numRef>
              <c:numCache>
                <c:formatCode>General</c:formatCode>
                <c:ptCount val="1"/>
                <c:pt idx="0">
                  <c:v>237.264</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90.0"/>
          <c:min val="3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2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8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39.192</c:v>
                </c:pt>
                <c:pt idx="2">
                  <c:v>42.243</c:v>
                </c:pt>
                <c:pt idx="3">
                  <c:v>45.531</c:v>
                </c:pt>
                <c:pt idx="4">
                  <c:v>49.077</c:v>
                </c:pt>
                <c:pt idx="5">
                  <c:v>52.903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39.192</c:v>
                </c:pt>
                <c:pt idx="1">
                  <c:v>3.051000000000002</c:v>
                </c:pt>
                <c:pt idx="2">
                  <c:v>3.2879999999999967</c:v>
                </c:pt>
                <c:pt idx="3">
                  <c:v>3.5459999999999994</c:v>
                </c:pt>
                <c:pt idx="4">
                  <c:v>3.8260000000000005</c:v>
                </c:pt>
                <c:pt idx="5">
                  <c:v>4.134</c:v>
                </c:pt>
                <c:pt idx="6">
                  <c:v>57.037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25.534</c:v>
                </c:pt>
                <c:pt idx="2">
                  <c:v>28.364</c:v>
                </c:pt>
                <c:pt idx="3">
                  <c:v>31.539</c:v>
                </c:pt>
                <c:pt idx="4">
                  <c:v>35.109</c:v>
                </c:pt>
                <c:pt idx="5">
                  <c:v>39.13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25.534</c:v>
                </c:pt>
                <c:pt idx="1">
                  <c:v>2.830000000000002</c:v>
                </c:pt>
                <c:pt idx="2">
                  <c:v>3.1750000000000007</c:v>
                </c:pt>
                <c:pt idx="3">
                  <c:v>3.5700000000000003</c:v>
                </c:pt>
                <c:pt idx="4">
                  <c:v>4.021000000000001</c:v>
                </c:pt>
                <c:pt idx="5">
                  <c:v>4.540999999999997</c:v>
                </c:pt>
                <c:pt idx="6">
                  <c:v>43.671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150.081</c:v>
                </c:pt>
                <c:pt idx="2">
                  <c:v>157.542</c:v>
                </c:pt>
                <c:pt idx="3">
                  <c:v>164.969</c:v>
                </c:pt>
                <c:pt idx="4">
                  <c:v>172.264</c:v>
                </c:pt>
                <c:pt idx="5">
                  <c:v>179.303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150.081</c:v>
                </c:pt>
                <c:pt idx="1">
                  <c:v>7.461000000000013</c:v>
                </c:pt>
                <c:pt idx="2">
                  <c:v>7.4269999999999925</c:v>
                </c:pt>
                <c:pt idx="3">
                  <c:v>7.295000000000016</c:v>
                </c:pt>
                <c:pt idx="4">
                  <c:v>7.038999999999987</c:v>
                </c:pt>
                <c:pt idx="5">
                  <c:v>6.6299999999999955</c:v>
                </c:pt>
                <c:pt idx="6">
                  <c:v>185.933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156.509</c:v>
                </c:pt>
                <c:pt idx="2">
                  <c:v>169.919</c:v>
                </c:pt>
                <c:pt idx="3">
                  <c:v>184.555</c:v>
                </c:pt>
                <c:pt idx="4">
                  <c:v>200.552</c:v>
                </c:pt>
                <c:pt idx="5">
                  <c:v>218.064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156.509</c:v>
                </c:pt>
                <c:pt idx="1">
                  <c:v>13.410000000000025</c:v>
                </c:pt>
                <c:pt idx="2">
                  <c:v>14.635999999999996</c:v>
                </c:pt>
                <c:pt idx="3">
                  <c:v>15.996999999999986</c:v>
                </c:pt>
                <c:pt idx="4">
                  <c:v>17.512</c:v>
                </c:pt>
                <c:pt idx="5">
                  <c:v>19.200000000000017</c:v>
                </c:pt>
                <c:pt idx="6">
                  <c:v>237.264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Academic &amp; Teaching Dental Institutions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40.960624468855244</c:v>
                </c:pt>
                <c:pt idx="1">
                  <c:v>42.14981309720023</c:v>
                </c:pt>
                <c:pt idx="2">
                  <c:v>45.287599851118046</c:v>
                </c:pt>
              </c:numCache>
            </c:numRef>
          </c:val>
        </c:ser>
        <c:ser>
          <c:idx val="1"/>
          <c:order val="1"/>
          <c:tx>
            <c:strRef>
              <c:strCache>
                <c:ptCount val="1"/>
                <c:pt idx="0">
                  <c:v>Laboratories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42.28510276667401</c:v>
                </c:pt>
                <c:pt idx="1">
                  <c:v>40.4186730439841</c:v>
                </c:pt>
                <c:pt idx="2">
                  <c:v>35.48983117168189</c:v>
                </c:pt>
              </c:numCache>
            </c:numRef>
          </c:val>
        </c:ser>
        <c:ser>
          <c:idx val="2"/>
          <c:order val="2"/>
          <c:tx>
            <c:strRef>
              <c:strCache>
                <c:ptCount val="1"/>
                <c:pt idx="0">
                  <c:v>Clinics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10.428063328192378</c:v>
                </c:pt>
                <c:pt idx="1">
                  <c:v>10.554891251656272</c:v>
                </c:pt>
                <c:pt idx="2">
                  <c:v>10.88689743369504</c:v>
                </c:pt>
              </c:numCache>
            </c:numRef>
          </c:val>
        </c:ser>
        <c:ser>
          <c:idx val="3"/>
          <c:order val="3"/>
          <c:tx>
            <c:strRef>
              <c:strCache>
                <c:ptCount val="1"/>
                <c:pt idx="0">
                  <c:v>Hospitals</c:v>
                </c:pt>
              </c:strCache>
            </c:strRef>
          </c:tx>
          <c:spPr>
            <a:solidFill>
              <a:srgbClr val="40315E"/>
            </a:solidFill>
            <a:ln>
              <a:noFill/>
            </a:ln>
          </c:spPr>
          <c:dLbls>
            <c:dLbl>
              <c:idx val="0"/>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6.326209436278367</c:v>
                </c:pt>
                <c:pt idx="1">
                  <c:v>6.876622607159401</c:v>
                </c:pt>
                <c:pt idx="2">
                  <c:v>8.335671543505025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Direct Sales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41.36294386499472</c:v>
                </c:pt>
                <c:pt idx="1">
                  <c:v>33.321349205225836</c:v>
                </c:pt>
              </c:numCache>
            </c:numRef>
          </c:val>
        </c:ser>
        <c:ser>
          <c:idx val="1"/>
          <c:order val="1"/>
          <c:tx>
            <c:strRef>
              <c:strCache>
                <c:ptCount val="1"/>
                <c:pt idx="0">
                  <c:v>Dental Dealers &amp; Distributors</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48.782960271885614</c:v>
                </c:pt>
                <c:pt idx="1">
                  <c:v>59.554983085393985</c:v>
                </c:pt>
              </c:numCache>
            </c:numRef>
          </c:val>
        </c:ser>
        <c:ser>
          <c:idx val="2"/>
          <c:order val="2"/>
          <c:tx>
            <c:strRef>
              <c:strCache>
                <c:ptCount val="1"/>
                <c:pt idx="0">
                  <c:v>Online Dental Supply Channels</c:v>
                </c:pt>
              </c:strCache>
            </c:strRef>
          </c:tx>
          <c:spPr>
            <a:solidFill>
              <a:srgbClr val="008189"/>
            </a:solidFill>
            <a:ln>
              <a:noFill/>
            </a:ln>
          </c:spPr>
          <c:dLbls>
            <c:dLbl>
              <c:idx val="0"/>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9.854095863119653</c:v>
                </c:pt>
                <c:pt idx="1">
                  <c:v>7.123667709380175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95.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Direct Sales</c:v>
                </c:pt>
              </c:strCache>
            </c:strRef>
          </c:tx>
          <c:spPr>
            <a:solidFill>
              <a:srgbClr val="3D85C6"/>
            </a:solidFill>
          </c:spPr>
          <c:invertIfNegative val="0"/>
          <c:xVal>
            <c:numRef>
              <c:numCache>
                <c:formatCode>General</c:formatCode>
                <c:ptCount val="1"/>
                <c:pt idx="0">
                  <c:v>221.45371680970212</c:v>
                </c:pt>
              </c:numCache>
            </c:numRef>
          </c:xVal>
          <c:yVal>
            <c:numRef>
              <c:numCache>
                <c:formatCode>General</c:formatCode>
                <c:ptCount val="1"/>
                <c:pt idx="0">
                  <c:v>72.07526742720486</c:v>
                </c:pt>
              </c:numCache>
            </c:numRef>
          </c:yVal>
          <c:bubbleSize>
            <c:numRef>
              <c:numCache>
                <c:formatCode>General</c:formatCode>
                <c:ptCount val="1"/>
                <c:pt idx="0">
                  <c:v>188.296</c:v>
                </c:pt>
              </c:numCache>
            </c:numRef>
          </c:bubbleSize>
          <c:bubble3D val="0"/>
        </c:ser>
        <c:ser>
          <c:idx val="1"/>
          <c:order val="1"/>
          <c:tx>
            <c:strRef>
              <c:strCache>
                <c:ptCount val="1"/>
                <c:pt idx="0">
                  <c:v>Dental Dealers &amp; Distributors</c:v>
                </c:pt>
              </c:strCache>
            </c:strRef>
          </c:tx>
          <c:spPr>
            <a:solidFill>
              <a:srgbClr val="9E7E0A"/>
            </a:solidFill>
          </c:spPr>
          <c:invertIfNegative val="0"/>
          <c:xVal>
            <c:numRef>
              <c:numCache>
                <c:formatCode>General</c:formatCode>
                <c:ptCount val="1"/>
                <c:pt idx="0">
                  <c:v>50.284969066194016</c:v>
                </c:pt>
              </c:numCache>
            </c:numRef>
          </c:xVal>
          <c:yVal>
            <c:numRef>
              <c:numCache>
                <c:formatCode>General</c:formatCode>
                <c:ptCount val="1"/>
                <c:pt idx="0">
                  <c:v>199.22841999806093</c:v>
                </c:pt>
              </c:numCache>
            </c:numRef>
          </c:yVal>
          <c:bubbleSize>
            <c:numRef>
              <c:numCache>
                <c:formatCode>General</c:formatCode>
                <c:ptCount val="1"/>
                <c:pt idx="0">
                  <c:v>293.628</c:v>
                </c:pt>
              </c:numCache>
            </c:numRef>
          </c:bubbleSize>
          <c:bubble3D val="0"/>
        </c:ser>
        <c:ser>
          <c:idx val="2"/>
          <c:order val="2"/>
          <c:tx>
            <c:strRef>
              <c:strCache>
                <c:ptCount val="1"/>
                <c:pt idx="0">
                  <c:v>Online Dental Supply Channels</c:v>
                </c:pt>
              </c:strCache>
            </c:strRef>
          </c:tx>
          <c:spPr>
            <a:solidFill>
              <a:srgbClr val="008189"/>
            </a:solidFill>
          </c:spPr>
          <c:invertIfNegative val="0"/>
          <c:xVal>
            <c:numRef>
              <c:numCache>
                <c:formatCode>General</c:formatCode>
                <c:ptCount val="1"/>
                <c:pt idx="0">
                  <c:v>48.131965427759376</c:v>
                </c:pt>
              </c:numCache>
            </c:numRef>
          </c:xVal>
          <c:yVal>
            <c:numRef>
              <c:numCache>
                <c:formatCode>General</c:formatCode>
                <c:ptCount val="1"/>
                <c:pt idx="0">
                  <c:v>28.69631257473419</c:v>
                </c:pt>
              </c:numCache>
            </c:numRef>
          </c:yVal>
          <c:bubbleSize>
            <c:numRef>
              <c:numCache>
                <c:formatCode>General</c:formatCode>
                <c:ptCount val="1"/>
                <c:pt idx="0">
                  <c:v>41.981</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270.0"/>
          <c:min val="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5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9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89.209</c:v>
                </c:pt>
                <c:pt idx="2">
                  <c:v>103.915</c:v>
                </c:pt>
                <c:pt idx="3">
                  <c:v>120.818</c:v>
                </c:pt>
                <c:pt idx="4">
                  <c:v>140.248</c:v>
                </c:pt>
                <c:pt idx="5">
                  <c:v>162.591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89.209</c:v>
                </c:pt>
                <c:pt idx="1">
                  <c:v>14.706000000000003</c:v>
                </c:pt>
                <c:pt idx="2">
                  <c:v>16.90299999999999</c:v>
                </c:pt>
                <c:pt idx="3">
                  <c:v>19.429999999999993</c:v>
                </c:pt>
                <c:pt idx="4">
                  <c:v>22.343000000000018</c:v>
                </c:pt>
                <c:pt idx="5">
                  <c:v>25.704999999999984</c:v>
                </c:pt>
                <c:pt idx="6">
                  <c:v>188.296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246.589</c:v>
                </c:pt>
                <c:pt idx="2">
                  <c:v>257.145</c:v>
                </c:pt>
                <c:pt idx="3">
                  <c:v>267.343</c:v>
                </c:pt>
                <c:pt idx="4">
                  <c:v>276.991</c:v>
                </c:pt>
                <c:pt idx="5">
                  <c:v>285.848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246.589</c:v>
                </c:pt>
                <c:pt idx="1">
                  <c:v>10.555999999999983</c:v>
                </c:pt>
                <c:pt idx="2">
                  <c:v>10.198000000000036</c:v>
                </c:pt>
                <c:pt idx="3">
                  <c:v>9.647999999999968</c:v>
                </c:pt>
                <c:pt idx="4">
                  <c:v>8.857000000000028</c:v>
                </c:pt>
                <c:pt idx="5">
                  <c:v>7.779999999999973</c:v>
                </c:pt>
                <c:pt idx="6">
                  <c:v>293.628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35.518</c:v>
                </c:pt>
                <c:pt idx="2">
                  <c:v>37.008</c:v>
                </c:pt>
                <c:pt idx="3">
                  <c:v>38.433</c:v>
                </c:pt>
                <c:pt idx="4">
                  <c:v>39.763</c:v>
                </c:pt>
                <c:pt idx="5">
                  <c:v>40.961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35.518</c:v>
                </c:pt>
                <c:pt idx="1">
                  <c:v>1.490000000000002</c:v>
                </c:pt>
                <c:pt idx="2">
                  <c:v>1.4249999999999972</c:v>
                </c:pt>
                <c:pt idx="3">
                  <c:v>1.3299999999999983</c:v>
                </c:pt>
                <c:pt idx="4">
                  <c:v>1.1980000000000004</c:v>
                </c:pt>
                <c:pt idx="5">
                  <c:v>1.0200000000000031</c:v>
                </c:pt>
                <c:pt idx="6">
                  <c:v>41.981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Dental Dealers &amp; Distributors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70.48629253092442</c:v>
                </c:pt>
                <c:pt idx="1">
                  <c:v>66.40947333268697</c:v>
                </c:pt>
                <c:pt idx="2">
                  <c:v>56.04603888109485</c:v>
                </c:pt>
              </c:numCache>
            </c:numRef>
          </c:val>
        </c:ser>
        <c:ser>
          <c:idx val="1"/>
          <c:order val="1"/>
          <c:tx>
            <c:strRef>
              <c:strCache>
                <c:ptCount val="1"/>
                <c:pt idx="0">
                  <c:v>Direct Sales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19.348777186742623</c:v>
                </c:pt>
                <c:pt idx="1">
                  <c:v>24.02508914240162</c:v>
                </c:pt>
                <c:pt idx="2">
                  <c:v>35.94086714194367</c:v>
                </c:pt>
              </c:numCache>
            </c:numRef>
          </c:val>
        </c:ser>
        <c:ser>
          <c:idx val="2"/>
          <c:order val="2"/>
          <c:tx>
            <c:strRef>
              <c:strCache>
                <c:ptCount val="1"/>
                <c:pt idx="0">
                  <c:v>Online Dental Supply Channels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10.164930282332945</c:v>
                </c:pt>
                <c:pt idx="1">
                  <c:v>9.565437524911395</c:v>
                </c:pt>
                <c:pt idx="2">
                  <c:v>8.013093976961473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0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Adults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34.743349349583966</c:v>
                </c:pt>
                <c:pt idx="1">
                  <c:v>29.387252473495735</c:v>
                </c:pt>
              </c:numCache>
            </c:numRef>
          </c:val>
        </c:ser>
        <c:ser>
          <c:idx val="1"/>
          <c:order val="1"/>
          <c:tx>
            <c:strRef>
              <c:strCache>
                <c:ptCount val="1"/>
                <c:pt idx="0">
                  <c:v>Geriatric Patients</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65.25665065041603</c:v>
                </c:pt>
                <c:pt idx="1">
                  <c:v>70.61274752650426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01.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Adults</c:v>
                </c:pt>
              </c:strCache>
            </c:strRef>
          </c:tx>
          <c:spPr>
            <a:solidFill>
              <a:srgbClr val="3D85C6"/>
            </a:solidFill>
          </c:spPr>
          <c:invertIfNegative val="0"/>
          <c:xVal>
            <c:numRef>
              <c:numCache>
                <c:formatCode>General</c:formatCode>
                <c:ptCount val="1"/>
                <c:pt idx="0">
                  <c:v>94.34655310901744</c:v>
                </c:pt>
              </c:numCache>
            </c:numRef>
          </c:xVal>
          <c:yVal>
            <c:numRef>
              <c:numCache>
                <c:formatCode>General</c:formatCode>
                <c:ptCount val="1"/>
                <c:pt idx="0">
                  <c:v>63.46777407922093</c:v>
                </c:pt>
              </c:numCache>
            </c:numRef>
          </c:yVal>
          <c:bubbleSize>
            <c:numRef>
              <c:numCache>
                <c:formatCode>General</c:formatCode>
                <c:ptCount val="1"/>
                <c:pt idx="0">
                  <c:v>163.102</c:v>
                </c:pt>
              </c:numCache>
            </c:numRef>
          </c:bubbleSize>
          <c:bubble3D val="0"/>
        </c:ser>
        <c:ser>
          <c:idx val="1"/>
          <c:order val="1"/>
          <c:tx>
            <c:strRef>
              <c:strCache>
                <c:ptCount val="1"/>
                <c:pt idx="0">
                  <c:v>Geriatric Patients</c:v>
                </c:pt>
              </c:strCache>
            </c:strRef>
          </c:tx>
          <c:spPr>
            <a:solidFill>
              <a:srgbClr val="9E7E0A"/>
            </a:solidFill>
          </c:spPr>
          <c:invertIfNegative val="0"/>
          <c:xVal>
            <c:numRef>
              <c:numCache>
                <c:formatCode>General</c:formatCode>
                <c:ptCount val="1"/>
                <c:pt idx="0">
                  <c:v>102.59524626416881</c:v>
                </c:pt>
              </c:numCache>
            </c:numRef>
          </c:xVal>
          <c:yVal>
            <c:numRef>
              <c:numCache>
                <c:formatCode>General</c:formatCode>
                <c:ptCount val="1"/>
                <c:pt idx="0">
                  <c:v>136.53222592077904</c:v>
                </c:pt>
              </c:numCache>
            </c:numRef>
          </c:yVal>
          <c:bubbleSize>
            <c:numRef>
              <c:numCache>
                <c:formatCode>General</c:formatCode>
                <c:ptCount val="1"/>
                <c:pt idx="0">
                  <c:v>360.803</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0.0"/>
          <c:min val="8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75.0"/>
          <c:min val="25.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0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117.833</c:v>
                </c:pt>
                <c:pt idx="2">
                  <c:v>125.931</c:v>
                </c:pt>
                <c:pt idx="3">
                  <c:v>134.496</c:v>
                </c:pt>
                <c:pt idx="4">
                  <c:v>143.54</c:v>
                </c:pt>
                <c:pt idx="5">
                  <c:v>153.073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117.833</c:v>
                </c:pt>
                <c:pt idx="1">
                  <c:v>8.097999999999999</c:v>
                </c:pt>
                <c:pt idx="2">
                  <c:v>8.565000000000012</c:v>
                </c:pt>
                <c:pt idx="3">
                  <c:v>9.043999999999983</c:v>
                </c:pt>
                <c:pt idx="4">
                  <c:v>9.533000000000015</c:v>
                </c:pt>
                <c:pt idx="5">
                  <c:v>10.028999999999996</c:v>
                </c:pt>
                <c:pt idx="6">
                  <c:v>163.102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0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253.483</c:v>
                </c:pt>
                <c:pt idx="2">
                  <c:v>272.137</c:v>
                </c:pt>
                <c:pt idx="3">
                  <c:v>292.098</c:v>
                </c:pt>
                <c:pt idx="4">
                  <c:v>313.462</c:v>
                </c:pt>
                <c:pt idx="5">
                  <c:v>336.327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253.483</c:v>
                </c:pt>
                <c:pt idx="1">
                  <c:v>18.653999999999996</c:v>
                </c:pt>
                <c:pt idx="2">
                  <c:v>19.961000000000013</c:v>
                </c:pt>
                <c:pt idx="3">
                  <c:v>21.363999999999976</c:v>
                </c:pt>
                <c:pt idx="4">
                  <c:v>22.86500000000001</c:v>
                </c:pt>
                <c:pt idx="5">
                  <c:v>24.476</c:v>
                </c:pt>
                <c:pt idx="6">
                  <c:v>360.803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0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Geriatric Patients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68.05608888609108</c:v>
                </c:pt>
                <c:pt idx="1">
                  <c:v>68.26611296038952</c:v>
                </c:pt>
                <c:pt idx="2">
                  <c:v>68.86801996545175</c:v>
                </c:pt>
              </c:numCache>
            </c:numRef>
          </c:val>
        </c:ser>
        <c:ser>
          <c:idx val="1"/>
          <c:order val="1"/>
          <c:tx>
            <c:strRef>
              <c:strCache>
                <c:ptCount val="1"/>
                <c:pt idx="0">
                  <c:v>Adults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31.943911113908907</c:v>
                </c:pt>
                <c:pt idx="1">
                  <c:v>31.733887039610465</c:v>
                </c:pt>
                <c:pt idx="2">
                  <c:v>31.131980034548253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0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High-performance Polymers</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32.58354340378773</c:v>
                </c:pt>
                <c:pt idx="1">
                  <c:v>32.58860282236347</c:v>
                </c:pt>
                <c:pt idx="2">
                  <c:v>32.58860282236347</c:v>
                </c:pt>
                <c:pt idx="3">
                  <c:v>32.58860282236347</c:v>
                </c:pt>
              </c:numCache>
            </c:numRef>
          </c:val>
        </c:ser>
        <c:ser>
          <c:idx val="1"/>
          <c:order val="1"/>
          <c:tx>
            <c:strRef>
              <c:strCache>
                <c:ptCount val="1"/>
                <c:pt idx="0">
                  <c:v>Acrylic / Resin</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26.77374873419085</c:v>
                </c:pt>
                <c:pt idx="1">
                  <c:v>26.770440590326405</c:v>
                </c:pt>
                <c:pt idx="2">
                  <c:v>26.770440590326405</c:v>
                </c:pt>
                <c:pt idx="3">
                  <c:v>26.770440590326405</c:v>
                </c:pt>
              </c:numCache>
            </c:numRef>
          </c:val>
        </c:ser>
        <c:ser>
          <c:idx val="2"/>
          <c:order val="2"/>
          <c:tx>
            <c:strRef>
              <c:strCache>
                <c:ptCount val="1"/>
                <c:pt idx="0">
                  <c:v>Flexible Thermoplastics</c:v>
                </c:pt>
              </c:strCache>
            </c:strRef>
          </c:tx>
          <c:spPr>
            <a:solidFill>
              <a:srgbClr val="008189"/>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22.76086441298774</c:v>
                </c:pt>
                <c:pt idx="1">
                  <c:v>22.75988365830012</c:v>
                </c:pt>
                <c:pt idx="2">
                  <c:v>22.75988365830012</c:v>
                </c:pt>
                <c:pt idx="3">
                  <c:v>22.75988365830012</c:v>
                </c:pt>
              </c:numCache>
            </c:numRef>
          </c:val>
        </c:ser>
        <c:ser>
          <c:idx val="3"/>
          <c:order val="3"/>
          <c:tx>
            <c:strRef>
              <c:strCache>
                <c:ptCount val="1"/>
                <c:pt idx="0">
                  <c:v>Metal Alloys</c:v>
                </c:pt>
              </c:strCache>
            </c:strRef>
          </c:tx>
          <c:spPr>
            <a:solidFill>
              <a:srgbClr val="40315E"/>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17.881843449033674</c:v>
                </c:pt>
                <c:pt idx="1">
                  <c:v>17.88107292901002</c:v>
                </c:pt>
                <c:pt idx="2">
                  <c:v>17.88107292901002</c:v>
                </c:pt>
                <c:pt idx="3">
                  <c:v>17.88107292901002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0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Conventional Fabrication</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53.87797311271976</c:v>
                </c:pt>
                <c:pt idx="1">
                  <c:v>53.87598569397164</c:v>
                </c:pt>
                <c:pt idx="2">
                  <c:v>53.87598569397164</c:v>
                </c:pt>
                <c:pt idx="3">
                  <c:v>53.87598569397164</c:v>
                </c:pt>
              </c:numCache>
            </c:numRef>
          </c:val>
        </c:ser>
        <c:ser>
          <c:idx val="1"/>
          <c:order val="1"/>
          <c:tx>
            <c:strRef>
              <c:strCache>
                <c:ptCount val="1"/>
                <c:pt idx="0">
                  <c:v>Digital Fabrication</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46.12202688728025</c:v>
                </c:pt>
                <c:pt idx="1">
                  <c:v>46.12401430602836</c:v>
                </c:pt>
                <c:pt idx="2">
                  <c:v>46.12401430602836</c:v>
                </c:pt>
                <c:pt idx="3">
                  <c:v>46.12401430602836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0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Volume (Units)</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delete val="1"/>
              <c:numFmt formatCode="&quot;&quot;" sourceLinked="0"/>
            </c:dLbl>
            <c:dLbl>
              <c:idx val="2"/>
              <c:delete val="1"/>
              <c:numFmt formatCode="&quot;&quot;" sourceLinked="0"/>
            </c:dLbl>
            <c:dLbl>
              <c:idx val="3"/>
              <c:delete val="1"/>
              <c:numFmt formatCode="&quot;&quot;" sourceLinked="0"/>
            </c:dLbl>
            <c:dLbl>
              <c:idx val="4"/>
              <c:delete val="1"/>
              <c:numFmt formatCode="&quot;&quot;" sourceLinked="0"/>
            </c:dLbl>
            <c:dLbl>
              <c:idx val="5"/>
              <c:delete val="1"/>
              <c:numFmt formatCode="&quot;&quot;" sourceLinked="0"/>
            </c:dLbl>
            <c:dLbl>
              <c:idx val="6"/>
              <c:delete val="1"/>
              <c:numFmt formatCode="&quot;&quot;" sourceLinked="0"/>
            </c:dLbl>
            <c:dLbl>
              <c:idx val="7"/>
              <c:delete val="1"/>
              <c:numFmt formatCode="&quot;&quot;" sourceLinked="0"/>
            </c:dLbl>
            <c:dLbl>
              <c:idx val="8"/>
              <c:delete val="1"/>
              <c:numFmt formatCode="&quot;&quot;" sourceLinked="0"/>
            </c:dLbl>
            <c:dLbl>
              <c:idx val="9"/>
              <c:delete val="1"/>
              <c:numFmt formatCode="&quot;&quot;" sourceLinked="0"/>
            </c:dLbl>
            <c:dLbl>
              <c:idx val="10"/>
              <c:delete val="1"/>
              <c:numFmt formatCode="&quot;&quot;" sourceLinked="0"/>
            </c:dLbl>
            <c:dLbl>
              <c:idx val="11"/>
              <c:delete val="1"/>
              <c:numFmt formatCode="&quot;&quot;" sourceLinked="0"/>
            </c:dLbl>
            <c:dLbl>
              <c:idx val="12"/>
              <c:delete val="1"/>
              <c:numFmt formatCode="&quot;&quot;" sourceLinked="0"/>
            </c:dLbl>
            <c:dLbl>
              <c:idx val="13"/>
              <c:delete val="1"/>
              <c:numFmt formatCode="&quot;&quot;" sourceLinked="0"/>
            </c:dLbl>
            <c:dLbl>
              <c:idx val="14"/>
              <c:delete val="1"/>
              <c:numFmt formatCode="&quot;&quot;" sourceLinked="0"/>
            </c:dLbl>
            <c:dLbl>
              <c:idx val="15"/>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531933.838</c:v>
                </c:pt>
                <c:pt idx="1">
                  <c:v>541812.842</c:v>
                </c:pt>
                <c:pt idx="2">
                  <c:v>552889.6000000001</c:v>
                </c:pt>
                <c:pt idx="3">
                  <c:v>565220.095</c:v>
                </c:pt>
                <c:pt idx="4">
                  <c:v>578883.998</c:v>
                </c:pt>
                <c:pt idx="5">
                  <c:v>593941.811</c:v>
                </c:pt>
                <c:pt idx="6">
                  <c:v>609394.995</c:v>
                </c:pt>
                <c:pt idx="7">
                  <c:v>625187.905</c:v>
                </c:pt>
                <c:pt idx="8">
                  <c:v>641326.973</c:v>
                </c:pt>
                <c:pt idx="9">
                  <c:v>657816.7609999999</c:v>
                </c:pt>
                <c:pt idx="10">
                  <c:v>674661.2270000001</c:v>
                </c:pt>
                <c:pt idx="11">
                  <c:v>691870.873</c:v>
                </c:pt>
                <c:pt idx="12">
                  <c:v>709443.274</c:v>
                </c:pt>
                <c:pt idx="13">
                  <c:v>727391.45</c:v>
                </c:pt>
                <c:pt idx="14">
                  <c:v>745719.212</c:v>
                </c:pt>
                <c:pt idx="15">
                  <c:v>764428.958</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0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strCache>
                <c:ptCount val="3"/>
                <c:pt idx="0">
                  <c:v>Global</c:v>
                </c:pt>
                <c:pt idx="1">
                  <c:v>North America</c:v>
                </c:pt>
                <c:pt idx="2">
                  <c:v>U.S.</c:v>
                </c:pt>
              </c:strCache>
            </c:strRef>
          </c:cat>
          <c:val>
            <c:numRef>
              <c:numCache>
                <c:formatCode>General</c:formatCode>
                <c:ptCount val="3"/>
                <c:pt idx="0">
                  <c:v>0.037769686344917064</c:v>
                </c:pt>
                <c:pt idx="1">
                  <c:v>0.02775158745701667</c:v>
                </c:pt>
                <c:pt idx="2">
                  <c:v>0.025555866287209295</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5098907656563804"/>
          <c:min val="0.0"/>
        </c:scaling>
        <c:delete/>
        <c:axPos val="b"/>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0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numCache>
                <c:formatCode>General</c:formatCode>
                <c:ptCount val="12"/>
                <c:pt idx="0">
                  <c:v>0.0</c:v>
                </c:pt>
                <c:pt idx="1">
                  <c:v>593941.811</c:v>
                </c:pt>
                <c:pt idx="2">
                  <c:v>609394.995</c:v>
                </c:pt>
                <c:pt idx="3">
                  <c:v>625187.905</c:v>
                </c:pt>
                <c:pt idx="4">
                  <c:v>641326.973</c:v>
                </c:pt>
                <c:pt idx="5">
                  <c:v>657816.7609999999</c:v>
                </c:pt>
                <c:pt idx="6">
                  <c:v>674661.2270000001</c:v>
                </c:pt>
                <c:pt idx="7">
                  <c:v>691870.873</c:v>
                </c:pt>
                <c:pt idx="8">
                  <c:v>709443.274</c:v>
                </c:pt>
                <c:pt idx="9">
                  <c:v>727391.45</c:v>
                </c:pt>
                <c:pt idx="10">
                  <c:v>745719.212</c:v>
                </c:pt>
                <c:pt idx="11">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txPr>
                <a:bodyPr/>
                <a:lstStyle/>
                <a:p>
                  <a:pPr>
                    <a:defRPr/>
                  </a:pPr>
                </a:p>
              </c:txPr>
              <c:showLegendKey val="0"/>
              <c:showVal val="1"/>
              <c:showCatName val="0"/>
              <c:showSerName val="0"/>
              <c:showPercent val="0"/>
              <c:showBubbleSize val="0"/>
            </c:dLbl>
            <c:dLbl>
              <c:idx val="10"/>
              <c:numFmt formatCode="&quot;&quot;" sourceLinked="0"/>
              <c:txPr>
                <a:bodyPr/>
                <a:lstStyle/>
                <a:p>
                  <a:pPr>
                    <a:defRPr/>
                  </a:pPr>
                </a:p>
              </c:txPr>
              <c:showLegendKey val="0"/>
              <c:showVal val="1"/>
              <c:showCatName val="0"/>
              <c:showSerName val="0"/>
              <c:showPercent val="0"/>
              <c:showBubbleSize val="0"/>
            </c:dLbl>
            <c:dLbl>
              <c:idx val="11"/>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numCache>
                <c:formatCode>General</c:formatCode>
                <c:ptCount val="12"/>
                <c:pt idx="0">
                  <c:v>593941.811</c:v>
                </c:pt>
                <c:pt idx="1">
                  <c:v>15453.184000000008</c:v>
                </c:pt>
                <c:pt idx="2">
                  <c:v>15792.910000000033</c:v>
                </c:pt>
                <c:pt idx="3">
                  <c:v>16139.06799999997</c:v>
                </c:pt>
                <c:pt idx="4">
                  <c:v>16489.787999999942</c:v>
                </c:pt>
                <c:pt idx="5">
                  <c:v>16844.46600000013</c:v>
                </c:pt>
                <c:pt idx="6">
                  <c:v>17209.64599999995</c:v>
                </c:pt>
                <c:pt idx="7">
                  <c:v>17572.400999999954</c:v>
                </c:pt>
                <c:pt idx="8">
                  <c:v>17948.175999999978</c:v>
                </c:pt>
                <c:pt idx="9">
                  <c:v>18327.762000000104</c:v>
                </c:pt>
                <c:pt idx="10">
                  <c:v>18709.745999999926</c:v>
                </c:pt>
                <c:pt idx="11">
                  <c:v>764428.958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U.S.</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Share of North America</c:v>
                </c:pt>
                <c:pt idx="1">
                  <c:v>Share of Global</c:v>
                </c:pt>
              </c:strCache>
            </c:strRef>
          </c:cat>
          <c:val>
            <c:numRef>
              <c:numCache>
                <c:formatCode>General</c:formatCode>
                <c:ptCount val="2"/>
                <c:pt idx="0">
                  <c:v>70.02305547520454</c:v>
                </c:pt>
                <c:pt idx="1">
                  <c:v>16.89134194098827</c:v>
                </c:pt>
              </c:numCache>
            </c:numRef>
          </c:val>
        </c:ser>
        <c:ser>
          <c:idx val="1"/>
          <c:order val="1"/>
          <c:tx>
            <c:strRef>
              <c:strCache>
                <c:ptCount val="1"/>
                <c:pt idx="0">
                  <c:v>Rest of the market</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Share of North America</c:v>
                </c:pt>
                <c:pt idx="1">
                  <c:v>Share of Global</c:v>
                </c:pt>
              </c:strCache>
            </c:strRef>
          </c:cat>
          <c:val>
            <c:numRef>
              <c:numCache>
                <c:formatCode>General</c:formatCode>
                <c:ptCount val="2"/>
                <c:pt idx="0">
                  <c:v>29.976944524795456</c:v>
                </c:pt>
                <c:pt idx="1">
                  <c:v>83.10865805901173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Value (US$ Mn)</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delete val="1"/>
              <c:numFmt formatCode="&quot;&quot;" sourceLinked="0"/>
            </c:dLbl>
            <c:dLbl>
              <c:idx val="2"/>
              <c:delete val="1"/>
              <c:numFmt formatCode="&quot;&quot;" sourceLinked="0"/>
            </c:dLbl>
            <c:dLbl>
              <c:idx val="3"/>
              <c:delete val="1"/>
              <c:numFmt formatCode="&quot;&quot;" sourceLinked="0"/>
            </c:dLbl>
            <c:dLbl>
              <c:idx val="4"/>
              <c:delete val="1"/>
              <c:numFmt formatCode="&quot;&quot;" sourceLinked="0"/>
            </c:dLbl>
            <c:dLbl>
              <c:idx val="5"/>
              <c:delete val="1"/>
              <c:numFmt formatCode="&quot;&quot;" sourceLinked="0"/>
            </c:dLbl>
            <c:dLbl>
              <c:idx val="6"/>
              <c:delete val="1"/>
              <c:numFmt formatCode="&quot;&quot;" sourceLinked="0"/>
            </c:dLbl>
            <c:dLbl>
              <c:idx val="7"/>
              <c:delete val="1"/>
              <c:numFmt formatCode="&quot;&quot;" sourceLinked="0"/>
            </c:dLbl>
            <c:dLbl>
              <c:idx val="8"/>
              <c:delete val="1"/>
              <c:numFmt formatCode="&quot;&quot;" sourceLinked="0"/>
            </c:dLbl>
            <c:dLbl>
              <c:idx val="9"/>
              <c:delete val="1"/>
              <c:numFmt formatCode="&quot;&quot;" sourceLinked="0"/>
            </c:dLbl>
            <c:dLbl>
              <c:idx val="10"/>
              <c:delete val="1"/>
              <c:numFmt formatCode="&quot;&quot;" sourceLinked="0"/>
            </c:dLbl>
            <c:dLbl>
              <c:idx val="11"/>
              <c:delete val="1"/>
              <c:numFmt formatCode="&quot;&quot;" sourceLinked="0"/>
            </c:dLbl>
            <c:dLbl>
              <c:idx val="12"/>
              <c:delete val="1"/>
              <c:numFmt formatCode="&quot;&quot;" sourceLinked="0"/>
            </c:dLbl>
            <c:dLbl>
              <c:idx val="13"/>
              <c:delete val="1"/>
              <c:numFmt formatCode="&quot;&quot;" sourceLinked="0"/>
            </c:dLbl>
            <c:dLbl>
              <c:idx val="14"/>
              <c:delete val="1"/>
              <c:numFmt formatCode="&quot;&quot;" sourceLinked="0"/>
            </c:dLbl>
            <c:dLbl>
              <c:idx val="15"/>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221.38599999999997</c:v>
                </c:pt>
                <c:pt idx="1">
                  <c:v>227.078</c:v>
                </c:pt>
                <c:pt idx="2">
                  <c:v>233.33999999999997</c:v>
                </c:pt>
                <c:pt idx="3">
                  <c:v>240.215</c:v>
                </c:pt>
                <c:pt idx="4">
                  <c:v>247.74899999999997</c:v>
                </c:pt>
                <c:pt idx="5">
                  <c:v>255.97000000000003</c:v>
                </c:pt>
                <c:pt idx="6">
                  <c:v>264.468</c:v>
                </c:pt>
                <c:pt idx="7">
                  <c:v>273.221</c:v>
                </c:pt>
                <c:pt idx="8">
                  <c:v>282.23400000000004</c:v>
                </c:pt>
                <c:pt idx="9">
                  <c:v>291.518</c:v>
                </c:pt>
                <c:pt idx="10">
                  <c:v>301.076</c:v>
                </c:pt>
                <c:pt idx="11">
                  <c:v>310.91700000000003</c:v>
                </c:pt>
                <c:pt idx="12">
                  <c:v>321.046</c:v>
                </c:pt>
                <c:pt idx="13">
                  <c:v>331.473</c:v>
                </c:pt>
                <c:pt idx="14">
                  <c:v>342.202</c:v>
                </c:pt>
                <c:pt idx="15">
                  <c:v>353.245</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strCache>
                <c:ptCount val="3"/>
                <c:pt idx="0">
                  <c:v>Global</c:v>
                </c:pt>
                <c:pt idx="1">
                  <c:v>North America</c:v>
                </c:pt>
                <c:pt idx="2">
                  <c:v>U.S.</c:v>
                </c:pt>
              </c:strCache>
            </c:strRef>
          </c:cat>
          <c:val>
            <c:numRef>
              <c:numCache>
                <c:formatCode>General</c:formatCode>
                <c:ptCount val="3"/>
                <c:pt idx="0">
                  <c:v>0.04400292708053355</c:v>
                </c:pt>
                <c:pt idx="1">
                  <c:v>0.03502511467360803</c:v>
                </c:pt>
                <c:pt idx="2">
                  <c:v>0.03273452375024832</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59403951558720296"/>
          <c:min val="0.0"/>
        </c:scaling>
        <c:delete/>
        <c:axPos val="b"/>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numCache>
                <c:formatCode>General</c:formatCode>
                <c:ptCount val="12"/>
                <c:pt idx="0">
                  <c:v>0.0</c:v>
                </c:pt>
                <c:pt idx="1">
                  <c:v>255.97000000000003</c:v>
                </c:pt>
                <c:pt idx="2">
                  <c:v>264.468</c:v>
                </c:pt>
                <c:pt idx="3">
                  <c:v>273.221</c:v>
                </c:pt>
                <c:pt idx="4">
                  <c:v>282.23400000000004</c:v>
                </c:pt>
                <c:pt idx="5">
                  <c:v>291.518</c:v>
                </c:pt>
                <c:pt idx="6">
                  <c:v>301.076</c:v>
                </c:pt>
                <c:pt idx="7">
                  <c:v>310.91700000000003</c:v>
                </c:pt>
                <c:pt idx="8">
                  <c:v>321.046</c:v>
                </c:pt>
                <c:pt idx="9">
                  <c:v>331.473</c:v>
                </c:pt>
                <c:pt idx="10">
                  <c:v>342.202</c:v>
                </c:pt>
                <c:pt idx="11">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txPr>
                <a:bodyPr/>
                <a:lstStyle/>
                <a:p>
                  <a:pPr>
                    <a:defRPr/>
                  </a:pPr>
                </a:p>
              </c:txPr>
              <c:showLegendKey val="0"/>
              <c:showVal val="1"/>
              <c:showCatName val="0"/>
              <c:showSerName val="0"/>
              <c:showPercent val="0"/>
              <c:showBubbleSize val="0"/>
            </c:dLbl>
            <c:dLbl>
              <c:idx val="10"/>
              <c:numFmt formatCode="&quot;&quot;" sourceLinked="0"/>
              <c:txPr>
                <a:bodyPr/>
                <a:lstStyle/>
                <a:p>
                  <a:pPr>
                    <a:defRPr/>
                  </a:pPr>
                </a:p>
              </c:txPr>
              <c:showLegendKey val="0"/>
              <c:showVal val="1"/>
              <c:showCatName val="0"/>
              <c:showSerName val="0"/>
              <c:showPercent val="0"/>
              <c:showBubbleSize val="0"/>
            </c:dLbl>
            <c:dLbl>
              <c:idx val="11"/>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numCache>
                <c:formatCode>General</c:formatCode>
                <c:ptCount val="12"/>
                <c:pt idx="0">
                  <c:v>255.97000000000003</c:v>
                </c:pt>
                <c:pt idx="1">
                  <c:v>8.49799999999999</c:v>
                </c:pt>
                <c:pt idx="2">
                  <c:v>8.752999999999986</c:v>
                </c:pt>
                <c:pt idx="3">
                  <c:v>9.013000000000034</c:v>
                </c:pt>
                <c:pt idx="4">
                  <c:v>9.283999999999935</c:v>
                </c:pt>
                <c:pt idx="5">
                  <c:v>9.55800000000005</c:v>
                </c:pt>
                <c:pt idx="6">
                  <c:v>9.841000000000008</c:v>
                </c:pt>
                <c:pt idx="7">
                  <c:v>10.128999999999962</c:v>
                </c:pt>
                <c:pt idx="8">
                  <c:v>10.427000000000021</c:v>
                </c:pt>
                <c:pt idx="9">
                  <c:v>10.728999999999985</c:v>
                </c:pt>
                <c:pt idx="10">
                  <c:v>11.043000000000006</c:v>
                </c:pt>
                <c:pt idx="11">
                  <c:v>353.245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U.S.</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Share of North America</c:v>
                </c:pt>
                <c:pt idx="1">
                  <c:v>Share of Global</c:v>
                </c:pt>
              </c:strCache>
            </c:strRef>
          </c:cat>
          <c:val>
            <c:numRef>
              <c:numCache>
                <c:formatCode>General</c:formatCode>
                <c:ptCount val="2"/>
                <c:pt idx="0">
                  <c:v>68.93589287830312</c:v>
                </c:pt>
                <c:pt idx="1">
                  <c:v>22.748844649840034</c:v>
                </c:pt>
              </c:numCache>
            </c:numRef>
          </c:val>
        </c:ser>
        <c:ser>
          <c:idx val="1"/>
          <c:order val="1"/>
          <c:tx>
            <c:strRef>
              <c:strCache>
                <c:ptCount val="1"/>
                <c:pt idx="0">
                  <c:v>Rest of the market</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Share of North America</c:v>
                </c:pt>
                <c:pt idx="1">
                  <c:v>Share of Global</c:v>
                </c:pt>
              </c:strCache>
            </c:strRef>
          </c:cat>
          <c:val>
            <c:numRef>
              <c:numCache>
                <c:formatCode>General</c:formatCode>
                <c:ptCount val="2"/>
                <c:pt idx="0">
                  <c:v>31.06410712169688</c:v>
                </c:pt>
                <c:pt idx="1">
                  <c:v>77.25115535015996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9EC6DE"/>
              </a:solidFill>
            </c:spPr>
          </c:dPt>
          <c:dPt>
            <c:idx val="1"/>
            <c:spPr>
              <a:solidFill>
                <a:srgbClr val="6EAACE"/>
              </a:solidFill>
            </c:spPr>
          </c:dPt>
          <c:dPt>
            <c:idx val="2"/>
            <c:spPr>
              <a:solidFill>
                <a:srgbClr val="3E8EBE"/>
              </a:solidFill>
            </c:spPr>
          </c:dPt>
          <c:dPt>
            <c:idx val="3"/>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4"/>
                <c:pt idx="0">
                  <c:v>Acrylic Partial Dentu…</c:v>
                </c:pt>
                <c:pt idx="1">
                  <c:v>Cast Metal Partial De…</c:v>
                </c:pt>
                <c:pt idx="2">
                  <c:v>Combination Framework…</c:v>
                </c:pt>
                <c:pt idx="3">
                  <c:v>Flexible Partial Dent…</c:v>
                </c:pt>
              </c:strCache>
            </c:strRef>
          </c:cat>
          <c:val>
            <c:numRef>
              <c:numCache>
                <c:formatCode>General</c:formatCode>
                <c:ptCount val="4"/>
                <c:pt idx="0">
                  <c:v>45.82</c:v>
                </c:pt>
                <c:pt idx="1">
                  <c:v>49.044</c:v>
                </c:pt>
                <c:pt idx="2">
                  <c:v>67.108</c:v>
                </c:pt>
                <c:pt idx="3">
                  <c:v>93.998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25.95732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9DABB6"/>
              </a:solidFill>
            </c:spPr>
          </c:dPt>
          <c:dPt>
            <c:idx val="1"/>
            <c:spPr>
              <a:solidFill>
                <a:srgbClr val="6C8192"/>
              </a:solidFill>
            </c:spPr>
          </c:dPt>
          <c:dPt>
            <c:idx val="2"/>
            <c:spPr>
              <a:solidFill>
                <a:srgbClr val="3B576E"/>
              </a:solidFill>
            </c:spPr>
          </c:dPt>
          <c:dPt>
            <c:idx val="3"/>
            <c:spPr>
              <a:solidFill>
                <a:srgbClr val="0B2E4A"/>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4"/>
                <c:pt idx="0">
                  <c:v>High-performance Poly…</c:v>
                </c:pt>
                <c:pt idx="1">
                  <c:v>Flexible Thermoplasti…</c:v>
                </c:pt>
                <c:pt idx="2">
                  <c:v>Metal Alloys</c:v>
                </c:pt>
                <c:pt idx="3">
                  <c:v>Acrylic / Resin</c:v>
                </c:pt>
              </c:strCache>
            </c:strRef>
          </c:cat>
          <c:val>
            <c:numRef>
              <c:numCache>
                <c:formatCode>General</c:formatCode>
                <c:ptCount val="4"/>
                <c:pt idx="0">
                  <c:v>25.088</c:v>
                </c:pt>
                <c:pt idx="1">
                  <c:v>48.462</c:v>
                </c:pt>
                <c:pt idx="2">
                  <c:v>72.461</c:v>
                </c:pt>
                <c:pt idx="3">
                  <c:v>109.959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47.34506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C5B1E6"/>
              </a:solidFill>
            </c:spPr>
          </c:dPt>
          <c:dPt>
            <c:idx val="3"/>
            <c:spPr>
              <a:solidFill>
                <a:srgbClr val="6F3CC2"/>
              </a:solidFill>
            </c:spPr>
          </c:dPt>
          <c:dLbls>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4"/>
                <c:pt idx="0">
                  <c:v> </c:v>
                </c:pt>
                <c:pt idx="1">
                  <c:v>  </c:v>
                </c:pt>
                <c:pt idx="2">
                  <c:v>Conventional Fabricat…</c:v>
                </c:pt>
                <c:pt idx="3">
                  <c:v>Digital Fabrication</c:v>
                </c:pt>
              </c:strCache>
            </c:strRef>
          </c:cat>
          <c:val>
            <c:numRef>
              <c:numCache>
                <c:formatCode>General</c:formatCode>
                <c:ptCount val="4"/>
                <c:pt idx="2">
                  <c:v>90.68100000000001</c:v>
                </c:pt>
                <c:pt idx="3">
                  <c:v>165.289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21.4872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DABAA0"/>
              </a:solidFill>
            </c:spPr>
          </c:dPt>
          <c:dPt>
            <c:idx val="1"/>
            <c:spPr>
              <a:solidFill>
                <a:srgbClr val="C79771"/>
              </a:solidFill>
            </c:spPr>
          </c:dPt>
          <c:dPt>
            <c:idx val="2"/>
            <c:spPr>
              <a:solidFill>
                <a:srgbClr val="B57542"/>
              </a:solidFill>
            </c:spPr>
          </c:dPt>
          <c:dPt>
            <c:idx val="3"/>
            <c:spPr>
              <a:solidFill>
                <a:srgbClr val="A35313"/>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4"/>
                <c:pt idx="0">
                  <c:v>Hospitals</c:v>
                </c:pt>
                <c:pt idx="1">
                  <c:v>Clinics</c:v>
                </c:pt>
                <c:pt idx="2">
                  <c:v>Academic &amp; Teaching D…</c:v>
                </c:pt>
                <c:pt idx="3">
                  <c:v>Laboratories</c:v>
                </c:pt>
              </c:strCache>
            </c:strRef>
          </c:cat>
          <c:val>
            <c:numRef>
              <c:numCache>
                <c:formatCode>General</c:formatCode>
                <c:ptCount val="4"/>
                <c:pt idx="0">
                  <c:v>17.195</c:v>
                </c:pt>
                <c:pt idx="1">
                  <c:v>26.465</c:v>
                </c:pt>
                <c:pt idx="2">
                  <c:v>105.81</c:v>
                </c:pt>
                <c:pt idx="3">
                  <c:v>106.5</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142.7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FFFFFF"/>
              </a:solidFill>
            </c:spPr>
          </c:dPt>
          <c:dPt>
            <c:idx val="1"/>
            <c:spPr>
              <a:solidFill>
                <a:srgbClr val="DCC599"/>
              </a:solidFill>
            </c:spPr>
          </c:dPt>
          <c:dPt>
            <c:idx val="2"/>
            <c:spPr>
              <a:solidFill>
                <a:srgbClr val="C29A4C"/>
              </a:solidFill>
            </c:spPr>
          </c:dPt>
          <c:dPt>
            <c:idx val="3"/>
            <c:spPr>
              <a:solidFill>
                <a:srgbClr val="A86F00"/>
              </a:solidFill>
            </c:spPr>
          </c:dPt>
          <c:dLbls>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4"/>
                <c:pt idx="0">
                  <c:v> </c:v>
                </c:pt>
                <c:pt idx="1">
                  <c:v>Online Dental Supply…</c:v>
                </c:pt>
                <c:pt idx="2">
                  <c:v>Direct Sales</c:v>
                </c:pt>
                <c:pt idx="3">
                  <c:v>Dental Dealers &amp; Dist…</c:v>
                </c:pt>
              </c:strCache>
            </c:strRef>
          </c:cat>
          <c:val>
            <c:numRef>
              <c:numCache>
                <c:formatCode>General</c:formatCode>
                <c:ptCount val="4"/>
                <c:pt idx="1">
                  <c:v>21.531</c:v>
                </c:pt>
                <c:pt idx="2">
                  <c:v>56.356</c:v>
                </c:pt>
                <c:pt idx="3">
                  <c:v>178.083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38.6312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E59999"/>
              </a:solidFill>
            </c:spPr>
          </c:dPt>
          <c:dPt>
            <c:idx val="3"/>
            <c:spPr>
              <a:solidFill>
                <a:srgbClr val="C00000"/>
              </a:solidFill>
            </c:spPr>
          </c:dPt>
          <c:dLbls>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4"/>
                <c:pt idx="0">
                  <c:v> </c:v>
                </c:pt>
                <c:pt idx="1">
                  <c:v>  </c:v>
                </c:pt>
                <c:pt idx="2">
                  <c:v>Adults</c:v>
                </c:pt>
                <c:pt idx="3">
                  <c:v>Geriatric Patients</c:v>
                </c:pt>
              </c:strCache>
            </c:strRef>
          </c:cat>
          <c:val>
            <c:numRef>
              <c:numCache>
                <c:formatCode>General</c:formatCode>
                <c:ptCount val="4"/>
                <c:pt idx="2">
                  <c:v>76.922</c:v>
                </c:pt>
                <c:pt idx="3">
                  <c:v>179.048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39.92432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6"/>
                <c:pt idx="0">
                  <c:v>2026</c:v>
                </c:pt>
                <c:pt idx="1">
                  <c:v>Cast Metal Partial Dentures</c:v>
                </c:pt>
                <c:pt idx="2">
                  <c:v>Acrylic Partial Dentures</c:v>
                </c:pt>
                <c:pt idx="3">
                  <c:v>Flexible Partial Dentures</c:v>
                </c:pt>
                <c:pt idx="4">
                  <c:v>Combination Framework Partial Dentures</c:v>
                </c:pt>
                <c:pt idx="5">
                  <c:v>2036 Total</c:v>
                </c:pt>
              </c:strCache>
            </c:strRef>
          </c:cat>
          <c:val>
            <c:numRef>
              <c:numCache>
                <c:formatCode>General</c:formatCode>
                <c:ptCount val="6"/>
                <c:pt idx="0">
                  <c:v>0.0</c:v>
                </c:pt>
                <c:pt idx="1">
                  <c:v>255.97000000000003</c:v>
                </c:pt>
                <c:pt idx="2">
                  <c:v>288.75800000000004</c:v>
                </c:pt>
                <c:pt idx="3">
                  <c:v>299.67400000000004</c:v>
                </c:pt>
                <c:pt idx="4">
                  <c:v>319.94500000000005</c:v>
                </c:pt>
                <c:pt idx="5">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6"/>
                <c:pt idx="0">
                  <c:v>2026</c:v>
                </c:pt>
                <c:pt idx="1">
                  <c:v>Cast Metal Partial Dentures</c:v>
                </c:pt>
                <c:pt idx="2">
                  <c:v>Acrylic Partial Dentures</c:v>
                </c:pt>
                <c:pt idx="3">
                  <c:v>Flexible Partial Dentures</c:v>
                </c:pt>
                <c:pt idx="4">
                  <c:v>Combination Framework Partial Dentures</c:v>
                </c:pt>
                <c:pt idx="5">
                  <c:v>2036 Total</c:v>
                </c:pt>
              </c:strCache>
            </c:strRef>
          </c:cat>
          <c:val>
            <c:numRef>
              <c:numCache>
                <c:formatCode>General</c:formatCode>
                <c:ptCount val="6"/>
                <c:pt idx="0">
                  <c:v>255.97000000000003</c:v>
                </c:pt>
                <c:pt idx="1">
                  <c:v>32.788</c:v>
                </c:pt>
                <c:pt idx="2">
                  <c:v>10.915999999999997</c:v>
                </c:pt>
                <c:pt idx="3">
                  <c:v>20.271</c:v>
                </c:pt>
                <c:pt idx="4">
                  <c:v>33.3</c:v>
                </c:pt>
                <c:pt idx="5">
                  <c:v>353.245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Cast Metal Partial Dentures</c:v>
                </c:pt>
                <c:pt idx="1">
                  <c:v>Acrylic Partial Dentures</c:v>
                </c:pt>
                <c:pt idx="2">
                  <c:v>Flexible Partial Dentures</c:v>
                </c:pt>
                <c:pt idx="3">
                  <c:v>Combination Framework Partial Dentures</c:v>
                </c:pt>
                <c:pt idx="4">
                  <c:v>Total Absolute $ Opportunity</c:v>
                </c:pt>
              </c:strCache>
            </c:strRef>
          </c:cat>
          <c:val>
            <c:numRef>
              <c:numCache>
                <c:formatCode>General</c:formatCode>
                <c:ptCount val="5"/>
                <c:pt idx="0">
                  <c:v>0.0</c:v>
                </c:pt>
                <c:pt idx="1">
                  <c:v>32.788</c:v>
                </c:pt>
                <c:pt idx="2">
                  <c:v>43.70399999999999</c:v>
                </c:pt>
                <c:pt idx="3">
                  <c:v>63.974999999999994</c:v>
                </c:pt>
                <c:pt idx="4">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Cast Metal Partial Dentures</c:v>
                </c:pt>
                <c:pt idx="1">
                  <c:v>Acrylic Partial Dentures</c:v>
                </c:pt>
                <c:pt idx="2">
                  <c:v>Flexible Partial Dentures</c:v>
                </c:pt>
                <c:pt idx="3">
                  <c:v>Combination Framework Partial Dentures</c:v>
                </c:pt>
                <c:pt idx="4">
                  <c:v>Total Absolute $ Opportunity</c:v>
                </c:pt>
              </c:strCache>
            </c:strRef>
          </c:cat>
          <c:val>
            <c:numRef>
              <c:numCache>
                <c:formatCode>General</c:formatCode>
                <c:ptCount val="5"/>
                <c:pt idx="0">
                  <c:v>32.788</c:v>
                </c:pt>
                <c:pt idx="1">
                  <c:v>10.915999999999997</c:v>
                </c:pt>
                <c:pt idx="2">
                  <c:v>20.271</c:v>
                </c:pt>
                <c:pt idx="3">
                  <c:v>33.3</c:v>
                </c:pt>
                <c:pt idx="4">
                  <c:v>97.27499999999999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6"/>
                <c:pt idx="0">
                  <c:v>2026</c:v>
                </c:pt>
                <c:pt idx="1">
                  <c:v>Metal Alloys</c:v>
                </c:pt>
                <c:pt idx="2">
                  <c:v>Acrylic / Resin</c:v>
                </c:pt>
                <c:pt idx="3">
                  <c:v>Flexible Thermoplastics</c:v>
                </c:pt>
                <c:pt idx="4">
                  <c:v>High-performance Polymers</c:v>
                </c:pt>
                <c:pt idx="5">
                  <c:v>2036 Total</c:v>
                </c:pt>
              </c:strCache>
            </c:strRef>
          </c:cat>
          <c:val>
            <c:numRef>
              <c:numCache>
                <c:formatCode>General</c:formatCode>
                <c:ptCount val="6"/>
                <c:pt idx="0">
                  <c:v>0.0</c:v>
                </c:pt>
                <c:pt idx="1">
                  <c:v>255.97</c:v>
                </c:pt>
                <c:pt idx="2">
                  <c:v>280.817</c:v>
                </c:pt>
                <c:pt idx="3">
                  <c:v>325.952</c:v>
                </c:pt>
                <c:pt idx="4">
                  <c:v>342.321</c:v>
                </c:pt>
                <c:pt idx="5">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6"/>
                <c:pt idx="0">
                  <c:v>2026</c:v>
                </c:pt>
                <c:pt idx="1">
                  <c:v>Metal Alloys</c:v>
                </c:pt>
                <c:pt idx="2">
                  <c:v>Acrylic / Resin</c:v>
                </c:pt>
                <c:pt idx="3">
                  <c:v>Flexible Thermoplastics</c:v>
                </c:pt>
                <c:pt idx="4">
                  <c:v>High-performance Polymers</c:v>
                </c:pt>
                <c:pt idx="5">
                  <c:v>2036 Total</c:v>
                </c:pt>
              </c:strCache>
            </c:strRef>
          </c:cat>
          <c:val>
            <c:numRef>
              <c:numCache>
                <c:formatCode>General</c:formatCode>
                <c:ptCount val="6"/>
                <c:pt idx="0">
                  <c:v>255.97</c:v>
                </c:pt>
                <c:pt idx="1">
                  <c:v>24.846999999999994</c:v>
                </c:pt>
                <c:pt idx="2">
                  <c:v>45.13499999999999</c:v>
                </c:pt>
                <c:pt idx="3">
                  <c:v>16.369</c:v>
                </c:pt>
                <c:pt idx="4">
                  <c:v>10.924</c:v>
                </c:pt>
                <c:pt idx="5">
                  <c:v>353.245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Metal Alloys</c:v>
                </c:pt>
                <c:pt idx="1">
                  <c:v>Acrylic / Resin</c:v>
                </c:pt>
                <c:pt idx="2">
                  <c:v>Flexible Thermoplastics</c:v>
                </c:pt>
                <c:pt idx="3">
                  <c:v>High-performance Polymers</c:v>
                </c:pt>
                <c:pt idx="4">
                  <c:v>Total Absolute $ Opportunity</c:v>
                </c:pt>
              </c:strCache>
            </c:strRef>
          </c:cat>
          <c:val>
            <c:numRef>
              <c:numCache>
                <c:formatCode>General</c:formatCode>
                <c:ptCount val="5"/>
                <c:pt idx="0">
                  <c:v>0.0</c:v>
                </c:pt>
                <c:pt idx="1">
                  <c:v>24.846999999999994</c:v>
                </c:pt>
                <c:pt idx="2">
                  <c:v>69.98199999999999</c:v>
                </c:pt>
                <c:pt idx="3">
                  <c:v>86.35099999999998</c:v>
                </c:pt>
                <c:pt idx="4">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Metal Alloys</c:v>
                </c:pt>
                <c:pt idx="1">
                  <c:v>Acrylic / Resin</c:v>
                </c:pt>
                <c:pt idx="2">
                  <c:v>Flexible Thermoplastics</c:v>
                </c:pt>
                <c:pt idx="3">
                  <c:v>High-performance Polymers</c:v>
                </c:pt>
                <c:pt idx="4">
                  <c:v>Total Absolute $ Opportunity</c:v>
                </c:pt>
              </c:strCache>
            </c:strRef>
          </c:cat>
          <c:val>
            <c:numRef>
              <c:numCache>
                <c:formatCode>General</c:formatCode>
                <c:ptCount val="5"/>
                <c:pt idx="0">
                  <c:v>24.846999999999994</c:v>
                </c:pt>
                <c:pt idx="1">
                  <c:v>45.13499999999999</c:v>
                </c:pt>
                <c:pt idx="2">
                  <c:v>16.369</c:v>
                </c:pt>
                <c:pt idx="3">
                  <c:v>10.924</c:v>
                </c:pt>
                <c:pt idx="4">
                  <c:v>97.27499999999998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4"/>
                <c:pt idx="0">
                  <c:v>2026</c:v>
                </c:pt>
                <c:pt idx="1">
                  <c:v>Conventional Fabrication</c:v>
                </c:pt>
                <c:pt idx="2">
                  <c:v>Digital Fabrication</c:v>
                </c:pt>
                <c:pt idx="3">
                  <c:v>2036 Total</c:v>
                </c:pt>
              </c:strCache>
            </c:strRef>
          </c:cat>
          <c:val>
            <c:numRef>
              <c:numCache>
                <c:formatCode>General</c:formatCode>
                <c:ptCount val="4"/>
                <c:pt idx="0">
                  <c:v>0.0</c:v>
                </c:pt>
                <c:pt idx="1">
                  <c:v>255.97</c:v>
                </c:pt>
                <c:pt idx="2">
                  <c:v>307.457</c:v>
                </c:pt>
                <c:pt idx="3">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4"/>
                <c:pt idx="0">
                  <c:v>2026</c:v>
                </c:pt>
                <c:pt idx="1">
                  <c:v>Conventional Fabrication</c:v>
                </c:pt>
                <c:pt idx="2">
                  <c:v>Digital Fabrication</c:v>
                </c:pt>
                <c:pt idx="3">
                  <c:v>2036 Total</c:v>
                </c:pt>
              </c:strCache>
            </c:strRef>
          </c:cat>
          <c:val>
            <c:numRef>
              <c:numCache>
                <c:formatCode>General</c:formatCode>
                <c:ptCount val="4"/>
                <c:pt idx="0">
                  <c:v>255.97</c:v>
                </c:pt>
                <c:pt idx="1">
                  <c:v>51.486999999999995</c:v>
                </c:pt>
                <c:pt idx="2">
                  <c:v>45.78800000000001</c:v>
                </c:pt>
                <c:pt idx="3">
                  <c:v>353.245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3"/>
                <c:pt idx="0">
                  <c:v>Conventional Fabrication</c:v>
                </c:pt>
                <c:pt idx="1">
                  <c:v>Digital Fabrication</c:v>
                </c:pt>
                <c:pt idx="2">
                  <c:v>Total Absolute $ Opportunity</c:v>
                </c:pt>
              </c:strCache>
            </c:strRef>
          </c:cat>
          <c:val>
            <c:numRef>
              <c:numCache>
                <c:formatCode>General</c:formatCode>
                <c:ptCount val="3"/>
                <c:pt idx="0">
                  <c:v>0.0</c:v>
                </c:pt>
                <c:pt idx="1">
                  <c:v>51.486999999999995</c:v>
                </c:pt>
                <c:pt idx="2">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3"/>
                <c:pt idx="0">
                  <c:v>Conventional Fabrication</c:v>
                </c:pt>
                <c:pt idx="1">
                  <c:v>Digital Fabrication</c:v>
                </c:pt>
                <c:pt idx="2">
                  <c:v>Total Absolute $ Opportunity</c:v>
                </c:pt>
              </c:strCache>
            </c:strRef>
          </c:cat>
          <c:val>
            <c:numRef>
              <c:numCache>
                <c:formatCode>General</c:formatCode>
                <c:ptCount val="3"/>
                <c:pt idx="0">
                  <c:v>51.486999999999995</c:v>
                </c:pt>
                <c:pt idx="1">
                  <c:v>45.78800000000001</c:v>
                </c:pt>
                <c:pt idx="2">
                  <c:v>97.275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6"/>
                <c:pt idx="0">
                  <c:v>2026</c:v>
                </c:pt>
                <c:pt idx="1">
                  <c:v>Dental Clinics</c:v>
                </c:pt>
                <c:pt idx="2">
                  <c:v>Dental Hospitals</c:v>
                </c:pt>
                <c:pt idx="3">
                  <c:v>Dental Laboratories</c:v>
                </c:pt>
                <c:pt idx="4">
                  <c:v>Academic &amp; Teaching Dental Institutions</c:v>
                </c:pt>
                <c:pt idx="5">
                  <c:v>2036 Total</c:v>
                </c:pt>
              </c:strCache>
            </c:strRef>
          </c:cat>
          <c:val>
            <c:numRef>
              <c:numCache>
                <c:formatCode>General</c:formatCode>
                <c:ptCount val="6"/>
                <c:pt idx="0">
                  <c:v>0.0</c:v>
                </c:pt>
                <c:pt idx="1">
                  <c:v>255.97</c:v>
                </c:pt>
                <c:pt idx="2">
                  <c:v>267.239</c:v>
                </c:pt>
                <c:pt idx="3">
                  <c:v>278.85299999999995</c:v>
                </c:pt>
                <c:pt idx="4">
                  <c:v>301.89599999999996</c:v>
                </c:pt>
                <c:pt idx="5">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6"/>
                <c:pt idx="0">
                  <c:v>2026</c:v>
                </c:pt>
                <c:pt idx="1">
                  <c:v>Dental Clinics</c:v>
                </c:pt>
                <c:pt idx="2">
                  <c:v>Dental Hospitals</c:v>
                </c:pt>
                <c:pt idx="3">
                  <c:v>Dental Laboratories</c:v>
                </c:pt>
                <c:pt idx="4">
                  <c:v>Academic &amp; Teaching Dental Institutions</c:v>
                </c:pt>
                <c:pt idx="5">
                  <c:v>2036 Total</c:v>
                </c:pt>
              </c:strCache>
            </c:strRef>
          </c:cat>
          <c:val>
            <c:numRef>
              <c:numCache>
                <c:formatCode>General</c:formatCode>
                <c:ptCount val="6"/>
                <c:pt idx="0">
                  <c:v>255.97</c:v>
                </c:pt>
                <c:pt idx="1">
                  <c:v>11.269000000000002</c:v>
                </c:pt>
                <c:pt idx="2">
                  <c:v>11.614</c:v>
                </c:pt>
                <c:pt idx="3">
                  <c:v>23.043000000000006</c:v>
                </c:pt>
                <c:pt idx="4">
                  <c:v>51.34899999999999</c:v>
                </c:pt>
                <c:pt idx="5">
                  <c:v>353.245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Dental Clinics</c:v>
                </c:pt>
                <c:pt idx="1">
                  <c:v>Dental Hospitals</c:v>
                </c:pt>
                <c:pt idx="2">
                  <c:v>Dental Laboratories</c:v>
                </c:pt>
                <c:pt idx="3">
                  <c:v>Academic &amp; Teaching Dental Institutions</c:v>
                </c:pt>
                <c:pt idx="4">
                  <c:v>Total Absolute $ Opportunity</c:v>
                </c:pt>
              </c:strCache>
            </c:strRef>
          </c:cat>
          <c:val>
            <c:numRef>
              <c:numCache>
                <c:formatCode>General</c:formatCode>
                <c:ptCount val="5"/>
                <c:pt idx="0">
                  <c:v>0.0</c:v>
                </c:pt>
                <c:pt idx="1">
                  <c:v>11.269000000000002</c:v>
                </c:pt>
                <c:pt idx="2">
                  <c:v>22.883000000000003</c:v>
                </c:pt>
                <c:pt idx="3">
                  <c:v>45.92600000000001</c:v>
                </c:pt>
                <c:pt idx="4">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Dental Clinics</c:v>
                </c:pt>
                <c:pt idx="1">
                  <c:v>Dental Hospitals</c:v>
                </c:pt>
                <c:pt idx="2">
                  <c:v>Dental Laboratories</c:v>
                </c:pt>
                <c:pt idx="3">
                  <c:v>Academic &amp; Teaching Dental Institutions</c:v>
                </c:pt>
                <c:pt idx="4">
                  <c:v>Total Absolute $ Opportunity</c:v>
                </c:pt>
              </c:strCache>
            </c:strRef>
          </c:cat>
          <c:val>
            <c:numRef>
              <c:numCache>
                <c:formatCode>General</c:formatCode>
                <c:ptCount val="5"/>
                <c:pt idx="0">
                  <c:v>11.269000000000002</c:v>
                </c:pt>
                <c:pt idx="1">
                  <c:v>11.614</c:v>
                </c:pt>
                <c:pt idx="2">
                  <c:v>23.043000000000006</c:v>
                </c:pt>
                <c:pt idx="3">
                  <c:v>51.34899999999999</c:v>
                </c:pt>
                <c:pt idx="4">
                  <c:v>97.275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2026</c:v>
                </c:pt>
                <c:pt idx="1">
                  <c:v>Direct Sales</c:v>
                </c:pt>
                <c:pt idx="2">
                  <c:v>Dental Dealers &amp; Distributors</c:v>
                </c:pt>
                <c:pt idx="3">
                  <c:v>Online Dental Supply Channels</c:v>
                </c:pt>
                <c:pt idx="4">
                  <c:v>2036 Total</c:v>
                </c:pt>
              </c:strCache>
            </c:strRef>
          </c:cat>
          <c:val>
            <c:numRef>
              <c:numCache>
                <c:formatCode>General</c:formatCode>
                <c:ptCount val="5"/>
                <c:pt idx="0">
                  <c:v>0.0</c:v>
                </c:pt>
                <c:pt idx="1">
                  <c:v>255.97</c:v>
                </c:pt>
                <c:pt idx="2">
                  <c:v>317.32</c:v>
                </c:pt>
                <c:pt idx="3">
                  <c:v>349.61199999999997</c:v>
                </c:pt>
                <c:pt idx="4">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2026</c:v>
                </c:pt>
                <c:pt idx="1">
                  <c:v>Direct Sales</c:v>
                </c:pt>
                <c:pt idx="2">
                  <c:v>Dental Dealers &amp; Distributors</c:v>
                </c:pt>
                <c:pt idx="3">
                  <c:v>Online Dental Supply Channels</c:v>
                </c:pt>
                <c:pt idx="4">
                  <c:v>2036 Total</c:v>
                </c:pt>
              </c:strCache>
            </c:strRef>
          </c:cat>
          <c:val>
            <c:numRef>
              <c:numCache>
                <c:formatCode>General</c:formatCode>
                <c:ptCount val="5"/>
                <c:pt idx="0">
                  <c:v>255.97</c:v>
                </c:pt>
                <c:pt idx="1">
                  <c:v>61.35</c:v>
                </c:pt>
                <c:pt idx="2">
                  <c:v>32.292</c:v>
                </c:pt>
                <c:pt idx="3">
                  <c:v>3.6330000000000027</c:v>
                </c:pt>
                <c:pt idx="4">
                  <c:v>353.245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4"/>
                <c:pt idx="0">
                  <c:v>Direct Sales</c:v>
                </c:pt>
                <c:pt idx="1">
                  <c:v>Dental Dealers &amp; Distributors</c:v>
                </c:pt>
                <c:pt idx="2">
                  <c:v>Online Dental Supply Channels</c:v>
                </c:pt>
                <c:pt idx="3">
                  <c:v>Total Absolute $ Opportunity</c:v>
                </c:pt>
              </c:strCache>
            </c:strRef>
          </c:cat>
          <c:val>
            <c:numRef>
              <c:numCache>
                <c:formatCode>General</c:formatCode>
                <c:ptCount val="4"/>
                <c:pt idx="0">
                  <c:v>0.0</c:v>
                </c:pt>
                <c:pt idx="1">
                  <c:v>61.35</c:v>
                </c:pt>
                <c:pt idx="2">
                  <c:v>93.642</c:v>
                </c:pt>
                <c:pt idx="3">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08189"/>
              </a:solidFill>
            </c:spPr>
          </c:dPt>
          <c:dPt>
            <c:idx val="3"/>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4"/>
                <c:pt idx="0">
                  <c:v>Direct Sales</c:v>
                </c:pt>
                <c:pt idx="1">
                  <c:v>Dental Dealers &amp; Distributors</c:v>
                </c:pt>
                <c:pt idx="2">
                  <c:v>Online Dental Supply Channels</c:v>
                </c:pt>
                <c:pt idx="3">
                  <c:v>Total Absolute $ Opportunity</c:v>
                </c:pt>
              </c:strCache>
            </c:strRef>
          </c:cat>
          <c:val>
            <c:numRef>
              <c:numCache>
                <c:formatCode>General</c:formatCode>
                <c:ptCount val="4"/>
                <c:pt idx="0">
                  <c:v>61.35</c:v>
                </c:pt>
                <c:pt idx="1">
                  <c:v>32.292</c:v>
                </c:pt>
                <c:pt idx="2">
                  <c:v>3.6330000000000027</c:v>
                </c:pt>
                <c:pt idx="3">
                  <c:v>97.275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4"/>
                <c:pt idx="0">
                  <c:v>2026</c:v>
                </c:pt>
                <c:pt idx="1">
                  <c:v>Adults</c:v>
                </c:pt>
                <c:pt idx="2">
                  <c:v>Geriatric Patients</c:v>
                </c:pt>
                <c:pt idx="3">
                  <c:v>2036 Total</c:v>
                </c:pt>
              </c:strCache>
            </c:strRef>
          </c:cat>
          <c:val>
            <c:numRef>
              <c:numCache>
                <c:formatCode>General</c:formatCode>
                <c:ptCount val="4"/>
                <c:pt idx="0">
                  <c:v>0.0</c:v>
                </c:pt>
                <c:pt idx="1">
                  <c:v>255.97</c:v>
                </c:pt>
                <c:pt idx="2">
                  <c:v>282.85699999999997</c:v>
                </c:pt>
                <c:pt idx="3">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4"/>
                <c:pt idx="0">
                  <c:v>2026</c:v>
                </c:pt>
                <c:pt idx="1">
                  <c:v>Adults</c:v>
                </c:pt>
                <c:pt idx="2">
                  <c:v>Geriatric Patients</c:v>
                </c:pt>
                <c:pt idx="3">
                  <c:v>2036 Total</c:v>
                </c:pt>
              </c:strCache>
            </c:strRef>
          </c:cat>
          <c:val>
            <c:numRef>
              <c:numCache>
                <c:formatCode>General</c:formatCode>
                <c:ptCount val="4"/>
                <c:pt idx="0">
                  <c:v>255.97</c:v>
                </c:pt>
                <c:pt idx="1">
                  <c:v>26.887</c:v>
                </c:pt>
                <c:pt idx="2">
                  <c:v>70.388</c:v>
                </c:pt>
                <c:pt idx="3">
                  <c:v>353.245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3"/>
                <c:pt idx="0">
                  <c:v>Adults</c:v>
                </c:pt>
                <c:pt idx="1">
                  <c:v>Geriatric Patients</c:v>
                </c:pt>
                <c:pt idx="2">
                  <c:v>Total Absolute $ Opportunity</c:v>
                </c:pt>
              </c:strCache>
            </c:strRef>
          </c:cat>
          <c:val>
            <c:numRef>
              <c:numCache>
                <c:formatCode>General</c:formatCode>
                <c:ptCount val="3"/>
                <c:pt idx="0">
                  <c:v>0.0</c:v>
                </c:pt>
                <c:pt idx="1">
                  <c:v>26.887</c:v>
                </c:pt>
                <c:pt idx="2">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3"/>
                <c:pt idx="0">
                  <c:v>Adults</c:v>
                </c:pt>
                <c:pt idx="1">
                  <c:v>Geriatric Patients</c:v>
                </c:pt>
                <c:pt idx="2">
                  <c:v>Total Absolute $ Opportunity</c:v>
                </c:pt>
              </c:strCache>
            </c:strRef>
          </c:cat>
          <c:val>
            <c:numRef>
              <c:numCache>
                <c:formatCode>General</c:formatCode>
                <c:ptCount val="3"/>
                <c:pt idx="0">
                  <c:v>26.887</c:v>
                </c:pt>
                <c:pt idx="1">
                  <c:v>70.388</c:v>
                </c:pt>
                <c:pt idx="2">
                  <c:v>97.275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High-performance Polymers</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34.35800462586735</c:v>
                </c:pt>
                <c:pt idx="1">
                  <c:v>34.364159139919366</c:v>
                </c:pt>
                <c:pt idx="2">
                  <c:v>34.364159139919366</c:v>
                </c:pt>
                <c:pt idx="3">
                  <c:v>34.364159139919366</c:v>
                </c:pt>
              </c:numCache>
            </c:numRef>
          </c:val>
        </c:ser>
        <c:ser>
          <c:idx val="1"/>
          <c:order val="1"/>
          <c:tx>
            <c:strRef>
              <c:strCache>
                <c:ptCount val="1"/>
                <c:pt idx="0">
                  <c:v>Acrylic / Resin</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26.26586234919047</c:v>
                </c:pt>
                <c:pt idx="1">
                  <c:v>26.263399693721283</c:v>
                </c:pt>
                <c:pt idx="2">
                  <c:v>26.263399693721283</c:v>
                </c:pt>
                <c:pt idx="3">
                  <c:v>26.263399693721283</c:v>
                </c:pt>
              </c:numCache>
            </c:numRef>
          </c:val>
        </c:ser>
        <c:ser>
          <c:idx val="2"/>
          <c:order val="2"/>
          <c:tx>
            <c:strRef>
              <c:strCache>
                <c:ptCount val="1"/>
                <c:pt idx="0">
                  <c:v>Flexible Thermoplastics</c:v>
                </c:pt>
              </c:strCache>
            </c:strRef>
          </c:tx>
          <c:spPr>
            <a:solidFill>
              <a:srgbClr val="008189"/>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20.54291429643058</c:v>
                </c:pt>
                <c:pt idx="1">
                  <c:v>20.540988217645403</c:v>
                </c:pt>
                <c:pt idx="2">
                  <c:v>20.540988217645403</c:v>
                </c:pt>
                <c:pt idx="3">
                  <c:v>20.540988217645403</c:v>
                </c:pt>
              </c:numCache>
            </c:numRef>
          </c:val>
        </c:ser>
        <c:ser>
          <c:idx val="3"/>
          <c:order val="3"/>
          <c:tx>
            <c:strRef>
              <c:strCache>
                <c:ptCount val="1"/>
                <c:pt idx="0">
                  <c:v>Metal Alloys</c:v>
                </c:pt>
              </c:strCache>
            </c:strRef>
          </c:tx>
          <c:spPr>
            <a:solidFill>
              <a:srgbClr val="40315E"/>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18.833218728511596</c:v>
                </c:pt>
                <c:pt idx="1">
                  <c:v>18.83145294871394</c:v>
                </c:pt>
                <c:pt idx="2">
                  <c:v>18.83145294871394</c:v>
                </c:pt>
                <c:pt idx="3">
                  <c:v>18.83145294871394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Conventional Fabrication</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53.30812263649718</c:v>
                </c:pt>
                <c:pt idx="1">
                  <c:v>53.306663332916614</c:v>
                </c:pt>
                <c:pt idx="2">
                  <c:v>53.306663332916614</c:v>
                </c:pt>
                <c:pt idx="3">
                  <c:v>53.306663332916614</c:v>
                </c:pt>
              </c:numCache>
            </c:numRef>
          </c:val>
        </c:ser>
        <c:ser>
          <c:idx val="1"/>
          <c:order val="1"/>
          <c:tx>
            <c:strRef>
              <c:strCache>
                <c:ptCount val="1"/>
                <c:pt idx="0">
                  <c:v>Digital Fabrication</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4"/>
                <c:pt idx="0">
                  <c:v>Cast Metal Partial Dentures</c:v>
                </c:pt>
                <c:pt idx="1">
                  <c:v>Acrylic Partial Dentures</c:v>
                </c:pt>
                <c:pt idx="2">
                  <c:v>Flexible Partial Dentures</c:v>
                </c:pt>
                <c:pt idx="3">
                  <c:v>Combination Framework Partial Dentures</c:v>
                </c:pt>
              </c:strCache>
            </c:strRef>
          </c:cat>
          <c:val>
            <c:numRef>
              <c:numCache>
                <c:formatCode>General</c:formatCode>
                <c:ptCount val="4"/>
                <c:pt idx="0">
                  <c:v>46.691877363502826</c:v>
                </c:pt>
                <c:pt idx="1">
                  <c:v>46.69333666708339</c:v>
                </c:pt>
                <c:pt idx="2">
                  <c:v>46.69333666708339</c:v>
                </c:pt>
                <c:pt idx="3">
                  <c:v>46.69333666708339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35.xml><?xml version="1.0" encoding="utf-8"?>
<c:chartSpace xmlns:c="http://schemas.openxmlformats.org/drawingml/2006/chart" xmlns:a="http://schemas.openxmlformats.org/drawingml/2006/main" xmlns:r="http://schemas.openxmlformats.org/officeDocument/2006/relationships">
  <c:date1904 val="0"/>
  <c:chart>
    <c:autoTitleDeleted val="0"/>
    <c:plotArea>
      <c:lineChart>
        <c:grouping val="standard"/>
        <c:varyColors val="0"/>
        <c:ser>
          <c:idx val="0"/>
          <c:order val="0"/>
          <c:tx>
            <c:strRef>
              <c:strCache>
                <c:ptCount val="1"/>
                <c:pt idx="0">
                  <c:v>Flexible Partial Dentures</c:v>
                </c:pt>
              </c:strCache>
            </c:strRef>
          </c:tx>
          <c:spPr>
            <a:ln w="25400">
              <a:solidFill>
                <a:srgbClr val="C55A11"/>
              </a:solidFill>
            </a:ln>
          </c:spPr>
          <c:marker>
            <c:symbol val="none"/>
          </c:marker>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391.0</c:v>
                </c:pt>
                <c:pt idx="1">
                  <c:v>392.0</c:v>
                </c:pt>
                <c:pt idx="2">
                  <c:v>394.0</c:v>
                </c:pt>
                <c:pt idx="3">
                  <c:v>396.0</c:v>
                </c:pt>
                <c:pt idx="4">
                  <c:v>400.0</c:v>
                </c:pt>
                <c:pt idx="5">
                  <c:v>405.0</c:v>
                </c:pt>
                <c:pt idx="6">
                  <c:v>410.0</c:v>
                </c:pt>
                <c:pt idx="7">
                  <c:v>415.0</c:v>
                </c:pt>
                <c:pt idx="8">
                  <c:v>419.0</c:v>
                </c:pt>
                <c:pt idx="9">
                  <c:v>424.0</c:v>
                </c:pt>
                <c:pt idx="10">
                  <c:v>427.0</c:v>
                </c:pt>
                <c:pt idx="11">
                  <c:v>429.0</c:v>
                </c:pt>
                <c:pt idx="12">
                  <c:v>431.0</c:v>
                </c:pt>
                <c:pt idx="13">
                  <c:v>433.0</c:v>
                </c:pt>
                <c:pt idx="14">
                  <c:v>435.0</c:v>
                </c:pt>
                <c:pt idx="15">
                  <c:v>436.0</c:v>
                </c:pt>
              </c:numCache>
            </c:numRef>
          </c:val>
          <c:smooth val="0"/>
        </c:ser>
        <c:ser>
          <c:idx val="1"/>
          <c:order val="1"/>
          <c:tx>
            <c:strRef>
              <c:strCache>
                <c:ptCount val="1"/>
                <c:pt idx="0">
                  <c:v>Acrylic Partial Dentures</c:v>
                </c:pt>
              </c:strCache>
            </c:strRef>
          </c:tx>
          <c:spPr>
            <a:ln w="25400">
              <a:solidFill>
                <a:srgbClr val="0B2E4A"/>
              </a:solidFill>
            </a:ln>
          </c:spPr>
          <c:marker>
            <c:symbol val="none"/>
          </c:marker>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313.0</c:v>
                </c:pt>
                <c:pt idx="1">
                  <c:v>315.0</c:v>
                </c:pt>
                <c:pt idx="2">
                  <c:v>317.0</c:v>
                </c:pt>
                <c:pt idx="3">
                  <c:v>319.0</c:v>
                </c:pt>
                <c:pt idx="4">
                  <c:v>322.0</c:v>
                </c:pt>
                <c:pt idx="5">
                  <c:v>324.0</c:v>
                </c:pt>
                <c:pt idx="6">
                  <c:v>328.0</c:v>
                </c:pt>
                <c:pt idx="7">
                  <c:v>331.0</c:v>
                </c:pt>
                <c:pt idx="8">
                  <c:v>335.0</c:v>
                </c:pt>
                <c:pt idx="9">
                  <c:v>337.0</c:v>
                </c:pt>
                <c:pt idx="10">
                  <c:v>340.0</c:v>
                </c:pt>
                <c:pt idx="11">
                  <c:v>342.0</c:v>
                </c:pt>
                <c:pt idx="12">
                  <c:v>345.0</c:v>
                </c:pt>
                <c:pt idx="13">
                  <c:v>346.0</c:v>
                </c:pt>
                <c:pt idx="14">
                  <c:v>348.0</c:v>
                </c:pt>
                <c:pt idx="15">
                  <c:v>350.0</c:v>
                </c:pt>
              </c:numCache>
            </c:numRef>
          </c:val>
          <c:smooth val="0"/>
        </c:ser>
        <c:ser>
          <c:idx val="2"/>
          <c:order val="2"/>
          <c:tx>
            <c:strRef>
              <c:strCache>
                <c:ptCount val="1"/>
                <c:pt idx="0">
                  <c:v>Cast Metal Partial Dentures</c:v>
                </c:pt>
              </c:strCache>
            </c:strRef>
          </c:tx>
          <c:spPr>
            <a:ln w="25400">
              <a:solidFill>
                <a:srgbClr val="7030A0"/>
              </a:solidFill>
            </a:ln>
          </c:spPr>
          <c:marker>
            <c:symbol val="none"/>
          </c:marker>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307.0</c:v>
                </c:pt>
                <c:pt idx="1">
                  <c:v>309.0</c:v>
                </c:pt>
                <c:pt idx="2">
                  <c:v>312.0</c:v>
                </c:pt>
                <c:pt idx="3">
                  <c:v>314.0</c:v>
                </c:pt>
                <c:pt idx="4">
                  <c:v>316.0</c:v>
                </c:pt>
                <c:pt idx="5">
                  <c:v>318.0</c:v>
                </c:pt>
                <c:pt idx="6">
                  <c:v>321.0</c:v>
                </c:pt>
                <c:pt idx="7">
                  <c:v>323.0</c:v>
                </c:pt>
                <c:pt idx="8">
                  <c:v>325.0</c:v>
                </c:pt>
                <c:pt idx="9">
                  <c:v>328.0</c:v>
                </c:pt>
                <c:pt idx="10">
                  <c:v>331.0</c:v>
                </c:pt>
                <c:pt idx="11">
                  <c:v>334.0</c:v>
                </c:pt>
                <c:pt idx="12">
                  <c:v>337.0</c:v>
                </c:pt>
                <c:pt idx="13">
                  <c:v>340.0</c:v>
                </c:pt>
                <c:pt idx="14">
                  <c:v>342.0</c:v>
                </c:pt>
                <c:pt idx="15">
                  <c:v>344.0</c:v>
                </c:pt>
              </c:numCache>
            </c:numRef>
          </c:val>
          <c:smooth val="0"/>
        </c:ser>
        <c:ser>
          <c:idx val="3"/>
          <c:order val="3"/>
          <c:tx>
            <c:strRef>
              <c:strCache>
                <c:ptCount val="1"/>
                <c:pt idx="0">
                  <c:v>Combination Framework Partial Dentures</c:v>
                </c:pt>
              </c:strCache>
            </c:strRef>
          </c:tx>
          <c:spPr>
            <a:ln w="25400">
              <a:solidFill>
                <a:srgbClr val="008189"/>
              </a:solidFill>
            </a:ln>
          </c:spPr>
          <c:marker>
            <c:symbol val="none"/>
          </c:marker>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237.0</c:v>
                </c:pt>
                <c:pt idx="1">
                  <c:v>239.0</c:v>
                </c:pt>
                <c:pt idx="2">
                  <c:v>241.0</c:v>
                </c:pt>
                <c:pt idx="3">
                  <c:v>243.0</c:v>
                </c:pt>
                <c:pt idx="4">
                  <c:v>244.0</c:v>
                </c:pt>
                <c:pt idx="5">
                  <c:v>246.0</c:v>
                </c:pt>
                <c:pt idx="6">
                  <c:v>247.0</c:v>
                </c:pt>
                <c:pt idx="7">
                  <c:v>249.0</c:v>
                </c:pt>
                <c:pt idx="8">
                  <c:v>250.0</c:v>
                </c:pt>
                <c:pt idx="9">
                  <c:v>252.0</c:v>
                </c:pt>
                <c:pt idx="10">
                  <c:v>254.0</c:v>
                </c:pt>
                <c:pt idx="11">
                  <c:v>257.0</c:v>
                </c:pt>
                <c:pt idx="12">
                  <c:v>259.0</c:v>
                </c:pt>
                <c:pt idx="13">
                  <c:v>261.0</c:v>
                </c:pt>
                <c:pt idx="14">
                  <c:v>263.0</c:v>
                </c:pt>
                <c:pt idx="15">
                  <c:v>265.0</c:v>
                </c:pt>
              </c:numCache>
            </c:numRef>
          </c:val>
          <c:smooth val="0"/>
        </c:ser>
        <c:marker val="1"/>
        <c:smooth val="0"/>
        <c:axId val="2118791784"/>
        <c:axId val="2140495176"/>
      </c:lineChart>
      <c:catAx>
        <c:axId val="2118791784"/>
        <c:scaling>
          <c:orientation val="minMax"/>
        </c:scaling>
        <c:delete val="0"/>
        <c:axPos val="b"/>
        <c:majorTickMark val="out"/>
        <c:minorTickMark val="none"/>
        <c:tickLblPos val="low"/>
        <c:spPr>
          <a:ln>
            <a:solidFill>
              <a:srgbClr val="D9DEE4"/>
            </a:solidFill>
          </a:ln>
        </c:spPr>
        <c:txPr>
          <a:bodyPr/>
          <a:lstStyle/>
          <a:p>
            <a:pPr>
              <a:defRPr sz="900">
                <a:solidFill>
                  <a:srgbClr val="59636E"/>
                </a:solidFill>
                <a:latin typeface="Calibri"/>
              </a:defRPr>
            </a:pPr>
          </a:p>
        </c:txPr>
        <c:crossAx val="2140495176"/>
        <c:crosses val="autoZero"/>
        <c:auto val="1"/>
        <c:lblAlgn val="ctr"/>
        <c:lblOffset val="100"/>
        <c:noMultiLvlLbl val="0"/>
      </c:catAx>
      <c:valAx>
        <c:axId val="2140495176"/>
        <c:scaling>
          <c:max val="500.0"/>
          <c:min val="0.0"/>
        </c:scaling>
        <c:delete val="0"/>
        <c:axPos val="l"/>
        <c:majorGridlines>
          <c:spPr>
            <a:ln>
              <a:solidFill>
                <a:srgbClr val="D9DEE4"/>
              </a:solidFill>
            </a:ln>
          </c:spPr>
        </c:majorGridlines>
        <c:numFmt formatCode="#,##0" sourceLinked="0"/>
        <c:majorTickMark val="out"/>
        <c:minorTickMark val="none"/>
        <c:tickLblPos val="none"/>
        <c:spPr>
          <a:ln>
            <a:noFill/>
          </a:ln>
        </c:spPr>
        <c:txPr>
          <a:bodyPr/>
          <a:lstStyle/>
          <a:p>
            <a:pPr>
              <a:defRPr sz="900">
                <a:solidFill>
                  <a:srgbClr val="59636E"/>
                </a:solidFill>
                <a:latin typeface="Calibri"/>
              </a:defRPr>
            </a:pPr>
          </a:p>
        </c:txPr>
        <c:crossAx val="2118791784"/>
        <c:crosses val="autoZero"/>
        <c:majorUnit val="500.0"/>
      </c:valAx>
    </c:plotArea>
    <c:legend>
      <c:legendPos val="b"/>
      <c:layout/>
      <c:overlay val="0"/>
      <c:txPr>
        <a:bodyPr/>
        <a:lstStyle/>
        <a:p>
          <a:pPr>
            <a:defRPr sz="900">
              <a:latin typeface="Calibri"/>
            </a:defRPr>
          </a:pPr>
        </a:p>
      </c:txPr>
    </c:legend>
    <c:plotVisOnly val="1"/>
    <c:dispBlanksAs val="gap"/>
    <c:showDLblsOverMax val="0"/>
  </c:chart>
  <c:txPr>
    <a:bodyPr/>
    <a:lstStyle/>
    <a:p>
      <a:pPr>
        <a:defRPr sz="1800"/>
      </a:pPr>
      <a:endParaRPr lang="en-US"/>
    </a:p>
  </c:txPr>
</c:chartSpace>
</file>

<file path=ppt/charts/chart1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ser>
          <c:idx val="0"/>
          <c:order val="0"/>
          <c:tx>
            <c:strRef>
              <c:strCache>
                <c:ptCount val="1"/>
                <c:pt idx="0">
                  <c:v>Index</c:v>
                </c:pt>
              </c:strCache>
            </c:strRef>
          </c:tx>
          <c:dPt>
            <c:idx val="0"/>
            <c:spPr>
              <a:solidFill>
                <a:srgbClr val="5B7DB1"/>
              </a:solidFill>
            </c:spPr>
          </c:dPt>
          <c:dPt>
            <c:idx val="1"/>
            <c:spPr>
              <a:solidFill>
                <a:srgbClr val="5B7DB1"/>
              </a:solidFill>
            </c:spPr>
          </c:dPt>
          <c:dPt>
            <c:idx val="2"/>
            <c:spPr>
              <a:solidFill>
                <a:srgbClr val="C55A11"/>
              </a:solidFill>
            </c:spPr>
          </c:dPt>
          <c:dPt>
            <c:idx val="3"/>
            <c:spPr>
              <a:solidFill>
                <a:srgbClr val="C55A11"/>
              </a:solidFill>
            </c:spPr>
          </c:dPt>
          <c:cat>
            <c:strRef>
              <c:strCache>
                <c:ptCount val="4"/>
                <c:pt idx="0">
                  <c:v>Combination Framework Partial Dentures</c:v>
                </c:pt>
                <c:pt idx="1">
                  <c:v>Cast Metal Partial Dentures</c:v>
                </c:pt>
                <c:pt idx="2">
                  <c:v>Acrylic Partial Dentures</c:v>
                </c:pt>
                <c:pt idx="3">
                  <c:v>Flexible Partial Dentures</c:v>
                </c:pt>
              </c:strCache>
            </c:strRef>
          </c:cat>
          <c:val>
            <c:numRef>
              <c:numCache>
                <c:formatCode>General</c:formatCode>
                <c:ptCount val="4"/>
                <c:pt idx="0">
                  <c:v>76.9</c:v>
                </c:pt>
                <c:pt idx="1">
                  <c:v>99.5</c:v>
                </c:pt>
                <c:pt idx="2">
                  <c:v>101.4</c:v>
                </c:pt>
                <c:pt idx="3">
                  <c:v>126.6</c:v>
                </c:pt>
              </c:numCache>
            </c:numRef>
          </c:val>
        </c:ser>
        <c:gapWidth val="45"/>
        <c:axId val="-2068027336"/>
        <c:axId val="-2113994440"/>
      </c:barChart>
      <c:catAx>
        <c:axId val="-2068027336"/>
        <c:scaling>
          <c:orientation val="minMax"/>
        </c:scaling>
        <c:delete val="0"/>
        <c:axPos val="l"/>
        <c:majorTickMark val="out"/>
        <c:minorTickMark val="none"/>
        <c:tickLblPos val="nextTo"/>
        <c:spPr>
          <a:ln>
            <a:solidFill>
              <a:srgbClr val="D9DEE4"/>
            </a:solidFill>
          </a:ln>
        </c:spPr>
        <c:txPr>
          <a:bodyPr/>
          <a:lstStyle/>
          <a:p>
            <a:pPr>
              <a:defRPr sz="850">
                <a:solidFill>
                  <a:srgbClr val="1F1F1F"/>
                </a:solidFill>
                <a:latin typeface="Calibri"/>
              </a:defRPr>
            </a:pPr>
          </a:p>
        </c:txPr>
        <c:crossAx val="-2113994440"/>
        <c:crosses val="autoZero"/>
        <c:auto val="1"/>
        <c:lblAlgn val="ctr"/>
        <c:lblOffset val="100"/>
        <c:tickLblSkip val="1"/>
        <c:noMultiLvlLbl val="0"/>
      </c:catAx>
      <c:valAx>
        <c:axId val="-2113994440"/>
        <c:scaling>
          <c:max val="129.0"/>
          <c:min val="74.0"/>
        </c:scaling>
        <c:delete/>
        <c:axPos val="b"/>
        <c:majorTickMark val="out"/>
        <c:minorTickMark val="none"/>
        <c:tickLblPos val="none"/>
        <c:crossAx val="-2068027336"/>
        <c:crosses val="autoZero"/>
      </c:valAx>
    </c:plotArea>
    <c:dispBlanksAs val="gap"/>
  </c:chart>
  <c:txPr>
    <a:bodyPr/>
    <a:lstStyle/>
    <a:p>
      <a:pPr>
        <a:defRPr sz="1800"/>
      </a:pPr>
      <a:endParaRPr lang="en-US"/>
    </a:p>
  </c:txPr>
</c:chartSpace>
</file>

<file path=ppt/charts/chart137.xml><?xml version="1.0" encoding="utf-8"?>
<c:chartSpace xmlns:c="http://schemas.openxmlformats.org/drawingml/2006/chart" xmlns:a="http://schemas.openxmlformats.org/drawingml/2006/main" xmlns:r="http://schemas.openxmlformats.org/officeDocument/2006/relationships">
  <c:date1904 val="0"/>
  <c:chart>
    <c:autoTitleDeleted val="0"/>
    <c:plotArea>
      <c:barChart>
        <c:barDir val="bar"/>
        <c:grouping val="stacked"/>
        <c:ser>
          <c:idx val="0"/>
          <c:order val="0"/>
          <c:tx>
            <c:strRef>
              <c:strCache>
                <c:ptCount val="1"/>
                <c:pt idx="0">
                  <c:v>Base</c:v>
                </c:pt>
              </c:strCache>
            </c:strRef>
          </c:tx>
          <c:spPr>
            <a:noFill/>
          </c:spPr>
          <c:cat>
            <c:strRef>
              <c:strCache>
                <c:ptCount val="4"/>
                <c:pt idx="0">
                  <c:v>Cast Metal Partial Dentures</c:v>
                </c:pt>
                <c:pt idx="1">
                  <c:v>Combination Framework Partial Dentures</c:v>
                </c:pt>
                <c:pt idx="2">
                  <c:v>Flexible Partial Dentures</c:v>
                </c:pt>
                <c:pt idx="3">
                  <c:v>Acrylic Partial Dentures</c:v>
                </c:pt>
              </c:strCache>
            </c:strRef>
          </c:cat>
          <c:val>
            <c:numRef>
              <c:numCache>
                <c:formatCode>General</c:formatCode>
                <c:ptCount val="4"/>
                <c:pt idx="0">
                  <c:v>275</c:v>
                </c:pt>
                <c:pt idx="1">
                  <c:v>275</c:v>
                </c:pt>
                <c:pt idx="2">
                  <c:v>275</c:v>
                </c:pt>
                <c:pt idx="3">
                  <c:v>275</c:v>
                </c:pt>
              </c:numCache>
            </c:numRef>
          </c:val>
        </c:ser>
        <c:ser>
          <c:idx val="1"/>
          <c:order val="1"/>
          <c:tx>
            <c:strRef>
              <c:strCache>
                <c:ptCount val="1"/>
                <c:pt idx="0">
                  <c:v>Range</c:v>
                </c:pt>
              </c:strCache>
            </c:strRef>
          </c:tx>
          <c:spPr>
            <a:solidFill>
              <a:srgbClr val="008189"/>
            </a:solidFill>
          </c:spPr>
          <c:cat>
            <c:strRef>
              <c:strCache>
                <c:ptCount val="4"/>
                <c:pt idx="0">
                  <c:v>Cast Metal Partial Dentures</c:v>
                </c:pt>
                <c:pt idx="1">
                  <c:v>Combination Framework Partial Dentures</c:v>
                </c:pt>
                <c:pt idx="2">
                  <c:v>Flexible Partial Dentures</c:v>
                </c:pt>
                <c:pt idx="3">
                  <c:v>Acrylic Partial Dentures</c:v>
                </c:pt>
              </c:strCache>
            </c:strRef>
          </c:cat>
          <c:val>
            <c:numRef>
              <c:numCache>
                <c:formatCode>General</c:formatCode>
                <c:ptCount val="4"/>
                <c:pt idx="0">
                  <c:v>97</c:v>
                </c:pt>
                <c:pt idx="1">
                  <c:v>97</c:v>
                </c:pt>
                <c:pt idx="2">
                  <c:v>97</c:v>
                </c:pt>
                <c:pt idx="3">
                  <c:v>97</c:v>
                </c:pt>
              </c:numCache>
            </c:numRef>
          </c:val>
        </c:ser>
        <c:gapWidth val="55"/>
        <c:overlap val="100"/>
        <c:axId val="-2068027336"/>
        <c:axId val="-2113994440"/>
      </c:barChart>
      <c:catAx>
        <c:axId val="-2068027336"/>
        <c:scaling>
          <c:orientation val="minMax"/>
        </c:scaling>
        <c:delete val="0"/>
        <c:axPos val="l"/>
        <c:majorTickMark val="out"/>
        <c:minorTickMark val="none"/>
        <c:tickLblPos val="nextTo"/>
        <c:spPr>
          <a:ln>
            <a:solidFill>
              <a:srgbClr val="D9DEE4"/>
            </a:solidFill>
          </a:ln>
        </c:spPr>
        <c:txPr>
          <a:bodyPr/>
          <a:lstStyle/>
          <a:p>
            <a:pPr>
              <a:defRPr sz="850">
                <a:solidFill>
                  <a:srgbClr val="1F1F1F"/>
                </a:solidFill>
                <a:latin typeface="Calibri"/>
              </a:defRPr>
            </a:pPr>
          </a:p>
        </c:txPr>
        <c:crossAx val="-2113994440"/>
        <c:crosses val="autoZero"/>
        <c:auto val="1"/>
        <c:lblAlgn val="ctr"/>
        <c:lblOffset val="100"/>
        <c:tickLblSkip val="1"/>
        <c:noMultiLvlLbl val="0"/>
      </c:catAx>
      <c:valAx>
        <c:axId val="-2113994440"/>
        <c:scaling>
          <c:max val="2000.0"/>
          <c:min val="0.0"/>
        </c:scaling>
        <c:delete val="0"/>
        <c:axPos val="b"/>
        <c:majorGridlines>
          <c:spPr>
            <a:ln>
              <a:solidFill>
                <a:srgbClr val="D9DEE4"/>
              </a:solidFill>
            </a:ln>
          </c:spPr>
        </c:majorGridlines>
        <c:numFmt formatCode="#,##0" sourceLinked="0"/>
        <c:majorTickMark val="out"/>
        <c:minorTickMark val="none"/>
        <c:tickLblPos val="none"/>
        <c:spPr>
          <a:ln>
            <a:noFill/>
          </a:ln>
        </c:spPr>
        <c:txPr>
          <a:bodyPr/>
          <a:lstStyle/>
          <a:p>
            <a:pPr>
              <a:defRPr sz="800">
                <a:solidFill>
                  <a:srgbClr val="59636E"/>
                </a:solidFill>
                <a:latin typeface="Calibri"/>
              </a:defRPr>
            </a:pPr>
          </a:p>
        </c:txPr>
        <c:crossAx val="-2068027336"/>
        <c:crosses val="autoZero"/>
        <c:majorUnit val="2000.0"/>
      </c:valAx>
    </c:plotArea>
    <c:dispBlanksAs val="gap"/>
  </c:chart>
  <c:txPr>
    <a:bodyPr/>
    <a:lstStyle/>
    <a:p>
      <a:pPr>
        <a:defRPr sz="1800"/>
      </a:pPr>
      <a:endParaRPr lang="en-US"/>
    </a:p>
  </c:txPr>
</c:chartSpace>
</file>

<file path=ppt/charts/chart138.xml><?xml version="1.0" encoding="utf-8"?>
<c:chartSpace xmlns:c="http://schemas.openxmlformats.org/drawingml/2006/chart" xmlns:a="http://schemas.openxmlformats.org/drawingml/2006/main" xmlns:r="http://schemas.openxmlformats.org/officeDocument/2006/relationships">
  <c:date1904 val="0"/>
  <c:chart>
    <c:autoTitleDeleted val="0"/>
    <c:plotArea>
      <c:barChart>
        <c:barDir val="col"/>
        <c:grouping val="stacked"/>
        <c:ser>
          <c:idx val="0"/>
          <c:order val="0"/>
          <c:tx>
            <c:strRef>
              <c:strCache>
                <c:ptCount val="1"/>
                <c:pt idx="0">
                  <c:v>Base</c:v>
                </c:pt>
              </c:strCache>
            </c:strRef>
          </c:tx>
          <c:spPr>
            <a:noFill/>
          </c:spPr>
          <c:cat>
            <c:strRef>
              <c:strCache>
                <c:ptCount val="6"/>
                <c:pt idx="0">
                  <c:v>North America</c:v>
                </c:pt>
                <c:pt idx="1">
                  <c:v>Europe</c:v>
                </c:pt>
                <c:pt idx="2">
                  <c:v>Latin America</c:v>
                </c:pt>
                <c:pt idx="3">
                  <c:v>Middle East &amp; Africa</c:v>
                </c:pt>
                <c:pt idx="4">
                  <c:v>East Asia</c:v>
                </c:pt>
                <c:pt idx="5">
                  <c:v>South Asia &amp; Pacific</c:v>
                </c:pt>
              </c:strCache>
            </c:strRef>
          </c:cat>
          <c:val>
            <c:numRef>
              <c:numCache>
                <c:formatCode>General</c:formatCode>
                <c:ptCount val="6"/>
                <c:pt idx="0">
                  <c:v>105.7</c:v>
                </c:pt>
                <c:pt idx="1">
                  <c:v>94.4</c:v>
                </c:pt>
                <c:pt idx="2">
                  <c:v>73.3</c:v>
                </c:pt>
                <c:pt idx="3">
                  <c:v>71.1</c:v>
                </c:pt>
                <c:pt idx="4">
                  <c:v>55.0</c:v>
                </c:pt>
                <c:pt idx="5">
                  <c:v>48.1</c:v>
                </c:pt>
              </c:numCache>
            </c:numRef>
          </c:val>
        </c:ser>
        <c:ser>
          <c:idx val="1"/>
          <c:order val="1"/>
          <c:tx>
            <c:strRef>
              <c:strCache>
                <c:ptCount val="1"/>
                <c:pt idx="0">
                  <c:v>Range</c:v>
                </c:pt>
              </c:strCache>
            </c:strRef>
          </c:tx>
          <c:spPr>
            <a:solidFill>
              <a:srgbClr val="008189"/>
            </a:solidFill>
          </c:spPr>
          <c:dPt>
            <c:idx val="2"/>
            <c:spPr>
              <a:solidFill>
                <a:srgbClr val="5B7DB1"/>
              </a:solidFill>
            </c:spPr>
          </c:dPt>
          <c:dPt>
            <c:idx val="3"/>
            <c:spPr>
              <a:solidFill>
                <a:srgbClr val="5B7DB1"/>
              </a:solidFill>
            </c:spPr>
          </c:dPt>
          <c:dPt>
            <c:idx val="4"/>
            <c:spPr>
              <a:solidFill>
                <a:srgbClr val="5B7DB1"/>
              </a:solidFill>
            </c:spPr>
          </c:dPt>
          <c:dPt>
            <c:idx val="5"/>
            <c:spPr>
              <a:solidFill>
                <a:srgbClr val="5B7DB1"/>
              </a:solidFill>
            </c:spPr>
          </c:dPt>
          <c:cat>
            <c:strRef>
              <c:strCache>
                <c:ptCount val="6"/>
                <c:pt idx="0">
                  <c:v>North America</c:v>
                </c:pt>
                <c:pt idx="1">
                  <c:v>Europe</c:v>
                </c:pt>
                <c:pt idx="2">
                  <c:v>Latin America</c:v>
                </c:pt>
                <c:pt idx="3">
                  <c:v>Middle East &amp; Africa</c:v>
                </c:pt>
                <c:pt idx="4">
                  <c:v>East Asia</c:v>
                </c:pt>
                <c:pt idx="5">
                  <c:v>South Asia &amp; Pacific</c:v>
                </c:pt>
              </c:strCache>
            </c:strRef>
          </c:cat>
          <c:val>
            <c:numRef>
              <c:numCache>
                <c:formatCode>General</c:formatCode>
                <c:ptCount val="6"/>
                <c:pt idx="0">
                  <c:v>67.6</c:v>
                </c:pt>
                <c:pt idx="1">
                  <c:v>59.7</c:v>
                </c:pt>
                <c:pt idx="2">
                  <c:v>46.8</c:v>
                </c:pt>
                <c:pt idx="3">
                  <c:v>45.1</c:v>
                </c:pt>
                <c:pt idx="4">
                  <c:v>34.5</c:v>
                </c:pt>
                <c:pt idx="5">
                  <c:v>30.8</c:v>
                </c:pt>
              </c:numCache>
            </c:numRef>
          </c:val>
        </c:ser>
        <c:gapWidth val="40"/>
        <c:overlap val="100"/>
        <c:axId val="-2068027336"/>
        <c:axId val="-2113994440"/>
      </c:barChart>
      <c:catAx>
        <c:axId val="-2068027336"/>
        <c:scaling>
          <c:orientation val="minMax"/>
        </c:scaling>
        <c:delete val="0"/>
        <c:axPos val="b"/>
        <c:majorTickMark val="out"/>
        <c:minorTickMark val="none"/>
        <c:tickLblPos val="nextTo"/>
        <c:spPr>
          <a:ln>
            <a:solidFill>
              <a:srgbClr val="D9DEE4"/>
            </a:solidFill>
          </a:ln>
        </c:spPr>
        <c:txPr>
          <a:bodyPr/>
          <a:lstStyle/>
          <a:p>
            <a:pPr>
              <a:defRPr sz="850">
                <a:solidFill>
                  <a:srgbClr val="1F1F1F"/>
                </a:solidFill>
                <a:latin typeface="Calibri"/>
              </a:defRPr>
            </a:pPr>
          </a:p>
        </c:txPr>
        <c:crossAx val="-2113994440"/>
        <c:crosses val="autoZero"/>
        <c:auto val="1"/>
        <c:lblAlgn val="ctr"/>
        <c:lblOffset val="100"/>
        <c:tickLblSkip val="1"/>
        <c:noMultiLvlLbl val="0"/>
      </c:catAx>
      <c:valAx>
        <c:axId val="-2113994440"/>
        <c:scaling>
          <c:max val="175.0"/>
          <c:min val="45.0"/>
        </c:scaling>
        <c:delete val="0"/>
        <c:axPos val="l"/>
        <c:majorGridlines>
          <c:spPr>
            <a:ln>
              <a:solidFill>
                <a:srgbClr val="D9DEE4"/>
              </a:solidFill>
            </a:ln>
          </c:spPr>
        </c:majorGridlines>
        <c:numFmt formatCode="0" sourceLinked="0"/>
        <c:majorTickMark val="out"/>
        <c:minorTickMark val="none"/>
        <c:tickLblPos val="none"/>
        <c:spPr>
          <a:ln>
            <a:noFill/>
          </a:ln>
        </c:spPr>
        <c:txPr>
          <a:bodyPr/>
          <a:lstStyle/>
          <a:p>
            <a:pPr>
              <a:defRPr sz="850">
                <a:solidFill>
                  <a:srgbClr val="59636E"/>
                </a:solidFill>
                <a:latin typeface="Calibri"/>
              </a:defRPr>
            </a:pPr>
          </a:p>
        </c:txPr>
        <c:crossAx val="-2068027336"/>
        <c:crosses val="autoZero"/>
        <c:majorUnit val="10.0"/>
      </c:valAx>
    </c:plotArea>
    <c:dispBlanksAs val="gap"/>
  </c:chart>
  <c:txPr>
    <a:bodyPr/>
    <a:lstStyle/>
    <a:p>
      <a:pPr>
        <a:defRPr sz="1800"/>
      </a:pPr>
      <a:endParaRPr lang="en-US"/>
    </a:p>
  </c:txPr>
</c:chartSpace>
</file>

<file path=ppt/charts/chart139.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0B2E4A"/>
              </a:solidFill>
            </c:spPr>
          </c:dPt>
          <c:dPt>
            <c:idx val="9"/>
            <c:spPr>
              <a:solidFill>
                <a:srgbClr val="6C7A89"/>
              </a:solidFill>
            </c:spPr>
          </c:dPt>
          <c:dPt>
            <c:idx val="10"/>
            <c:spPr>
              <a:solidFill>
                <a:srgbClr val="B9B3AC"/>
              </a:solidFill>
            </c:spPr>
          </c:dPt>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1"/>
                <c:pt idx="0">
                  <c:v>Dentsply Sirona Inc.</c:v>
                </c:pt>
                <c:pt idx="1">
                  <c:v>Ivoclar Vivadent AG</c:v>
                </c:pt>
                <c:pt idx="2">
                  <c:v>Kulzer GmbH</c:v>
                </c:pt>
                <c:pt idx="3">
                  <c:v>GC Corporation</c:v>
                </c:pt>
                <c:pt idx="4">
                  <c:v>SHOFU INC.</c:v>
                </c:pt>
                <c:pt idx="5">
                  <c:v>VITA Zahnfabrik H. Rauter GmbH &amp; Co. KG</c:v>
                </c:pt>
                <c:pt idx="6">
                  <c:v>Zhermack S.p.A.</c:v>
                </c:pt>
                <c:pt idx="7">
                  <c:v>DETAX GmbH</c:v>
                </c:pt>
                <c:pt idx="8">
                  <c:v>Candulor AG</c:v>
                </c:pt>
                <c:pt idx="9">
                  <c:v>Ruthinium Dental Manufacturing S.p.A.</c:v>
                </c:pt>
                <c:pt idx="10">
                  <c:v>Others</c:v>
                </c:pt>
              </c:strCache>
            </c:strRef>
          </c:cat>
          <c:val>
            <c:numRef>
              <c:numCache>
                <c:formatCode>General</c:formatCode>
                <c:ptCount val="11"/>
                <c:pt idx="0">
                  <c:v>15.401240790072531</c:v>
                </c:pt>
                <c:pt idx="1">
                  <c:v>13.483170759180721</c:v>
                </c:pt>
                <c:pt idx="2">
                  <c:v>9.299352883645389</c:v>
                </c:pt>
                <c:pt idx="3">
                  <c:v>6.532876475193234</c:v>
                </c:pt>
                <c:pt idx="4">
                  <c:v>6.473319829711895</c:v>
                </c:pt>
                <c:pt idx="5">
                  <c:v>6.433244680872182</c:v>
                </c:pt>
                <c:pt idx="6">
                  <c:v>5.1503700280767655</c:v>
                </c:pt>
                <c:pt idx="7">
                  <c:v>3.1015192989370006</c:v>
                </c:pt>
                <c:pt idx="8">
                  <c:v>2.164598136819089</c:v>
                </c:pt>
                <c:pt idx="9">
                  <c:v>2.136096181068746</c:v>
                </c:pt>
                <c:pt idx="10">
                  <c:v>29.824210936422443</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40.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0B2E4A"/>
              </a:solidFill>
            </c:spPr>
          </c:dPt>
          <c:dPt>
            <c:idx val="9"/>
            <c:spPr>
              <a:solidFill>
                <a:srgbClr val="6C7A89"/>
              </a:solidFill>
            </c:spPr>
          </c:dPt>
          <c:dPt>
            <c:idx val="10"/>
            <c:spPr>
              <a:solidFill>
                <a:srgbClr val="B9B3AC"/>
              </a:solidFill>
            </c:spPr>
          </c:dPt>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1"/>
                <c:pt idx="0">
                  <c:v>Dentsply Sirona Inc.</c:v>
                </c:pt>
                <c:pt idx="1">
                  <c:v>Ivoclar Vivadent AG</c:v>
                </c:pt>
                <c:pt idx="2">
                  <c:v>Kulzer GmbH</c:v>
                </c:pt>
                <c:pt idx="3">
                  <c:v>GC Corporation</c:v>
                </c:pt>
                <c:pt idx="4">
                  <c:v>SHOFU INC.</c:v>
                </c:pt>
                <c:pt idx="5">
                  <c:v>VITA Zahnfabrik H. Rauter GmbH &amp; Co. KG</c:v>
                </c:pt>
                <c:pt idx="6">
                  <c:v>Zhermack S.p.A.</c:v>
                </c:pt>
                <c:pt idx="7">
                  <c:v>DETAX GmbH</c:v>
                </c:pt>
                <c:pt idx="8">
                  <c:v>Candulor AG</c:v>
                </c:pt>
                <c:pt idx="9">
                  <c:v>Ruthinium Dental Manufacturing S.p.A.</c:v>
                </c:pt>
                <c:pt idx="10">
                  <c:v>Others</c:v>
                </c:pt>
              </c:strCache>
            </c:strRef>
          </c:cat>
          <c:val>
            <c:numRef>
              <c:numCache>
                <c:formatCode>General</c:formatCode>
                <c:ptCount val="11"/>
                <c:pt idx="0">
                  <c:v>11.693602256562977</c:v>
                </c:pt>
                <c:pt idx="1">
                  <c:v>9.98907014549872</c:v>
                </c:pt>
                <c:pt idx="2">
                  <c:v>11.264513875278551</c:v>
                </c:pt>
                <c:pt idx="3">
                  <c:v>11.542462021743303</c:v>
                </c:pt>
                <c:pt idx="4">
                  <c:v>9.170712625473369</c:v>
                </c:pt>
                <c:pt idx="5">
                  <c:v>5.69371565484273</c:v>
                </c:pt>
                <c:pt idx="6">
                  <c:v>3.7515880157620747</c:v>
                </c:pt>
                <c:pt idx="7">
                  <c:v>3.240076671241286</c:v>
                </c:pt>
                <c:pt idx="8">
                  <c:v>3.3901784262482124</c:v>
                </c:pt>
                <c:pt idx="9">
                  <c:v>3.0300946920704144</c:v>
                </c:pt>
                <c:pt idx="10">
                  <c:v>27.23398561527836</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41.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0B2E4A"/>
              </a:solidFill>
            </c:spPr>
          </c:dPt>
          <c:dPt>
            <c:idx val="9"/>
            <c:spPr>
              <a:solidFill>
                <a:srgbClr val="6C7A89"/>
              </a:solidFill>
            </c:spPr>
          </c:dPt>
          <c:dPt>
            <c:idx val="10"/>
            <c:spPr>
              <a:solidFill>
                <a:srgbClr val="B9B3AC"/>
              </a:solidFill>
            </c:spPr>
          </c:dPt>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1"/>
                <c:pt idx="0">
                  <c:v>Dentsply Sirona Inc.</c:v>
                </c:pt>
                <c:pt idx="1">
                  <c:v>Ivoclar Vivadent AG</c:v>
                </c:pt>
                <c:pt idx="2">
                  <c:v>Kulzer GmbH</c:v>
                </c:pt>
                <c:pt idx="3">
                  <c:v>GC Corporation</c:v>
                </c:pt>
                <c:pt idx="4">
                  <c:v>SHOFU INC.</c:v>
                </c:pt>
                <c:pt idx="5">
                  <c:v>VITA Zahnfabrik H. Rauter GmbH &amp; Co. KG</c:v>
                </c:pt>
                <c:pt idx="6">
                  <c:v>Zhermack S.p.A.</c:v>
                </c:pt>
                <c:pt idx="7">
                  <c:v>DETAX GmbH</c:v>
                </c:pt>
                <c:pt idx="8">
                  <c:v>Candulor AG</c:v>
                </c:pt>
                <c:pt idx="9">
                  <c:v>Ruthinium Dental Manufacturing S.p.A.</c:v>
                </c:pt>
                <c:pt idx="10">
                  <c:v>Others</c:v>
                </c:pt>
              </c:strCache>
            </c:strRef>
          </c:cat>
          <c:val>
            <c:numRef>
              <c:numCache>
                <c:formatCode>General</c:formatCode>
                <c:ptCount val="11"/>
                <c:pt idx="0">
                  <c:v>12.127056022733685</c:v>
                </c:pt>
                <c:pt idx="1">
                  <c:v>13.515963661294228</c:v>
                </c:pt>
                <c:pt idx="2">
                  <c:v>13.672509787055716</c:v>
                </c:pt>
                <c:pt idx="3">
                  <c:v>10.747277583816313</c:v>
                </c:pt>
                <c:pt idx="4">
                  <c:v>6.853819923875349</c:v>
                </c:pt>
                <c:pt idx="5">
                  <c:v>4.527540451517601</c:v>
                </c:pt>
                <c:pt idx="6">
                  <c:v>4.351504519294602</c:v>
                </c:pt>
                <c:pt idx="7">
                  <c:v>4.386878793633664</c:v>
                </c:pt>
                <c:pt idx="8">
                  <c:v>3.8343075690671227</c:v>
                </c:pt>
                <c:pt idx="9">
                  <c:v>2.614124464284719</c:v>
                </c:pt>
                <c:pt idx="10">
                  <c:v>23.369017223427004</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42.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0B2E4A"/>
              </a:solidFill>
            </c:spPr>
          </c:dPt>
          <c:dPt>
            <c:idx val="9"/>
            <c:spPr>
              <a:solidFill>
                <a:srgbClr val="6C7A89"/>
              </a:solidFill>
            </c:spPr>
          </c:dPt>
          <c:dPt>
            <c:idx val="10"/>
            <c:spPr>
              <a:solidFill>
                <a:srgbClr val="B9B3AC"/>
              </a:solidFill>
            </c:spPr>
          </c:dPt>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1"/>
                <c:pt idx="0">
                  <c:v>Dentsply Sirona Inc.</c:v>
                </c:pt>
                <c:pt idx="1">
                  <c:v>Ivoclar Vivadent AG</c:v>
                </c:pt>
                <c:pt idx="2">
                  <c:v>Kulzer GmbH</c:v>
                </c:pt>
                <c:pt idx="3">
                  <c:v>GC Corporation</c:v>
                </c:pt>
                <c:pt idx="4">
                  <c:v>SHOFU INC.</c:v>
                </c:pt>
                <c:pt idx="5">
                  <c:v>VITA Zahnfabrik H. Rauter GmbH &amp; Co. KG</c:v>
                </c:pt>
                <c:pt idx="6">
                  <c:v>Zhermack S.p.A.</c:v>
                </c:pt>
                <c:pt idx="7">
                  <c:v>DETAX GmbH</c:v>
                </c:pt>
                <c:pt idx="8">
                  <c:v>Candulor AG</c:v>
                </c:pt>
                <c:pt idx="9">
                  <c:v>Ruthinium Dental Manufacturing S.p.A.</c:v>
                </c:pt>
                <c:pt idx="10">
                  <c:v>Others</c:v>
                </c:pt>
              </c:strCache>
            </c:strRef>
          </c:cat>
          <c:val>
            <c:numRef>
              <c:numCache>
                <c:formatCode>General</c:formatCode>
                <c:ptCount val="11"/>
                <c:pt idx="0">
                  <c:v>16.616982878130067</c:v>
                </c:pt>
                <c:pt idx="1">
                  <c:v>15.838373751146182</c:v>
                </c:pt>
                <c:pt idx="2">
                  <c:v>12.226323321243273</c:v>
                </c:pt>
                <c:pt idx="3">
                  <c:v>7.956018792951128</c:v>
                </c:pt>
                <c:pt idx="4">
                  <c:v>5.814138033935409</c:v>
                </c:pt>
                <c:pt idx="5">
                  <c:v>5.618762435113717</c:v>
                </c:pt>
                <c:pt idx="6">
                  <c:v>5.851259038190952</c:v>
                </c:pt>
                <c:pt idx="7">
                  <c:v>4.767350351372047</c:v>
                </c:pt>
                <c:pt idx="8">
                  <c:v>3.1905899020099833</c:v>
                </c:pt>
                <c:pt idx="9">
                  <c:v>1.9266097914653117</c:v>
                </c:pt>
                <c:pt idx="10">
                  <c:v>20.193591704441936</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43.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0B2E4A"/>
              </a:solidFill>
            </c:spPr>
          </c:dPt>
          <c:dPt>
            <c:idx val="9"/>
            <c:spPr>
              <a:solidFill>
                <a:srgbClr val="6C7A89"/>
              </a:solidFill>
            </c:spPr>
          </c:dPt>
          <c:dPt>
            <c:idx val="10"/>
            <c:spPr>
              <a:solidFill>
                <a:srgbClr val="B9B3AC"/>
              </a:solidFill>
            </c:spPr>
          </c:dPt>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1"/>
                <c:pt idx="0">
                  <c:v>Dentsply Sirona Inc.</c:v>
                </c:pt>
                <c:pt idx="1">
                  <c:v>Ivoclar Vivadent AG</c:v>
                </c:pt>
                <c:pt idx="2">
                  <c:v>Kulzer GmbH</c:v>
                </c:pt>
                <c:pt idx="3">
                  <c:v>GC Corporation</c:v>
                </c:pt>
                <c:pt idx="4">
                  <c:v>SHOFU INC.</c:v>
                </c:pt>
                <c:pt idx="5">
                  <c:v>VITA Zahnfabrik H. Rauter GmbH &amp; Co. KG</c:v>
                </c:pt>
                <c:pt idx="6">
                  <c:v>Zhermack S.p.A.</c:v>
                </c:pt>
                <c:pt idx="7">
                  <c:v>DETAX GmbH</c:v>
                </c:pt>
                <c:pt idx="8">
                  <c:v>Candulor AG</c:v>
                </c:pt>
                <c:pt idx="9">
                  <c:v>Ruthinium Dental Manufacturing S.p.A.</c:v>
                </c:pt>
                <c:pt idx="10">
                  <c:v>Others</c:v>
                </c:pt>
              </c:strCache>
            </c:strRef>
          </c:cat>
          <c:val>
            <c:numRef>
              <c:numCache>
                <c:formatCode>General</c:formatCode>
                <c:ptCount val="11"/>
                <c:pt idx="0">
                  <c:v>17.074931814674855</c:v>
                </c:pt>
                <c:pt idx="1">
                  <c:v>12.550885260107192</c:v>
                </c:pt>
                <c:pt idx="2">
                  <c:v>8.380043562697718</c:v>
                </c:pt>
                <c:pt idx="3">
                  <c:v>7.444952014860334</c:v>
                </c:pt>
                <c:pt idx="4">
                  <c:v>8.04660708305492</c:v>
                </c:pt>
                <c:pt idx="5">
                  <c:v>6.919214229256515</c:v>
                </c:pt>
                <c:pt idx="6">
                  <c:v>4.691071174682332</c:v>
                </c:pt>
                <c:pt idx="7">
                  <c:v>2.86510879859984</c:v>
                </c:pt>
                <c:pt idx="8">
                  <c:v>2.560369933335589</c:v>
                </c:pt>
                <c:pt idx="9">
                  <c:v>2.6169804142295043</c:v>
                </c:pt>
                <c:pt idx="10">
                  <c:v>26.849835714501204</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44.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0B2E4A"/>
              </a:solidFill>
            </c:spPr>
          </c:dPt>
          <c:dPt>
            <c:idx val="9"/>
            <c:spPr>
              <a:solidFill>
                <a:srgbClr val="6C7A89"/>
              </a:solidFill>
            </c:spPr>
          </c:dPt>
          <c:dPt>
            <c:idx val="10"/>
            <c:spPr>
              <a:solidFill>
                <a:srgbClr val="B9B3AC"/>
              </a:solidFill>
            </c:spPr>
          </c:dPt>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1"/>
                <c:pt idx="0">
                  <c:v>Dentsply Sirona Inc.</c:v>
                </c:pt>
                <c:pt idx="1">
                  <c:v>Ivoclar Vivadent AG</c:v>
                </c:pt>
                <c:pt idx="2">
                  <c:v>Kulzer GmbH</c:v>
                </c:pt>
                <c:pt idx="3">
                  <c:v>GC Corporation</c:v>
                </c:pt>
                <c:pt idx="4">
                  <c:v>SHOFU INC.</c:v>
                </c:pt>
                <c:pt idx="5">
                  <c:v>VITA Zahnfabrik H. Rauter GmbH &amp; Co. KG</c:v>
                </c:pt>
                <c:pt idx="6">
                  <c:v>Zhermack S.p.A.</c:v>
                </c:pt>
                <c:pt idx="7">
                  <c:v>DETAX GmbH</c:v>
                </c:pt>
                <c:pt idx="8">
                  <c:v>Candulor AG</c:v>
                </c:pt>
                <c:pt idx="9">
                  <c:v>Ruthinium Dental Manufacturing S.p.A.</c:v>
                </c:pt>
                <c:pt idx="10">
                  <c:v>Others</c:v>
                </c:pt>
              </c:strCache>
            </c:strRef>
          </c:cat>
          <c:val>
            <c:numRef>
              <c:numCache>
                <c:formatCode>General</c:formatCode>
                <c:ptCount val="11"/>
                <c:pt idx="0">
                  <c:v>15.570454803610694</c:v>
                </c:pt>
                <c:pt idx="1">
                  <c:v>10.546713911504883</c:v>
                </c:pt>
                <c:pt idx="2">
                  <c:v>10.489494550876001</c:v>
                </c:pt>
                <c:pt idx="3">
                  <c:v>11.523850319189417</c:v>
                </c:pt>
                <c:pt idx="4">
                  <c:v>9.716274527037694</c:v>
                </c:pt>
                <c:pt idx="5">
                  <c:v>6.041847824962319</c:v>
                </c:pt>
                <c:pt idx="6">
                  <c:v>4.100995695833606</c:v>
                </c:pt>
                <c:pt idx="7">
                  <c:v>3.8524851858046234</c:v>
                </c:pt>
                <c:pt idx="8">
                  <c:v>3.889793811996375</c:v>
                </c:pt>
                <c:pt idx="9">
                  <c:v>2.9792010725276863</c:v>
                </c:pt>
                <c:pt idx="10">
                  <c:v>21.288888296656708</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45.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0B2E4A"/>
              </a:solidFill>
            </c:spPr>
          </c:dPt>
          <c:dPt>
            <c:idx val="9"/>
            <c:spPr>
              <a:solidFill>
                <a:srgbClr val="6C7A89"/>
              </a:solidFill>
            </c:spPr>
          </c:dPt>
          <c:dPt>
            <c:idx val="10"/>
            <c:spPr>
              <a:solidFill>
                <a:srgbClr val="B9B3AC"/>
              </a:solidFill>
            </c:spPr>
          </c:dPt>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1"/>
                <c:pt idx="0">
                  <c:v>Dentsply Sirona Inc.</c:v>
                </c:pt>
                <c:pt idx="1">
                  <c:v>Ivoclar Vivadent AG</c:v>
                </c:pt>
                <c:pt idx="2">
                  <c:v>Kulzer GmbH</c:v>
                </c:pt>
                <c:pt idx="3">
                  <c:v>GC Corporation</c:v>
                </c:pt>
                <c:pt idx="4">
                  <c:v>SHOFU INC.</c:v>
                </c:pt>
                <c:pt idx="5">
                  <c:v>VITA Zahnfabrik H. Rauter GmbH &amp; Co. KG</c:v>
                </c:pt>
                <c:pt idx="6">
                  <c:v>Zhermack S.p.A.</c:v>
                </c:pt>
                <c:pt idx="7">
                  <c:v>DETAX GmbH</c:v>
                </c:pt>
                <c:pt idx="8">
                  <c:v>Candulor AG</c:v>
                </c:pt>
                <c:pt idx="9">
                  <c:v>Ruthinium Dental Manufacturing S.p.A.</c:v>
                </c:pt>
                <c:pt idx="10">
                  <c:v>Others</c:v>
                </c:pt>
              </c:strCache>
            </c:strRef>
          </c:cat>
          <c:val>
            <c:numRef>
              <c:numCache>
                <c:formatCode>General</c:formatCode>
                <c:ptCount val="11"/>
                <c:pt idx="0">
                  <c:v>11.931858870012501</c:v>
                </c:pt>
                <c:pt idx="1">
                  <c:v>12.495250983383206</c:v>
                </c:pt>
                <c:pt idx="2">
                  <c:v>13.557011133261542</c:v>
                </c:pt>
                <c:pt idx="3">
                  <c:v>11.024479649083794</c:v>
                </c:pt>
                <c:pt idx="4">
                  <c:v>6.975036720459171</c:v>
                </c:pt>
                <c:pt idx="5">
                  <c:v>4.918850211127804</c:v>
                </c:pt>
                <c:pt idx="6">
                  <c:v>5.131252406943278</c:v>
                </c:pt>
                <c:pt idx="7">
                  <c:v>4.808839258461541</c:v>
                </c:pt>
                <c:pt idx="8">
                  <c:v>3.5084788144252483</c:v>
                </c:pt>
                <c:pt idx="9">
                  <c:v>2.100246059545411</c:v>
                </c:pt>
                <c:pt idx="10">
                  <c:v>23.5486958932965</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1668A8"/>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4"/>
                <c:pt idx="0">
                  <c:v>Dental Clinics</c:v>
                </c:pt>
                <c:pt idx="1">
                  <c:v>Dental Hospitals</c:v>
                </c:pt>
                <c:pt idx="2">
                  <c:v>Dental Laboratories</c:v>
                </c:pt>
                <c:pt idx="3">
                  <c:v>Academic &amp; Teaching Dental Institutions</c:v>
                </c:pt>
              </c:strCache>
            </c:strRef>
          </c:cat>
          <c:val>
            <c:numRef>
              <c:numCache>
                <c:formatCode>General</c:formatCode>
                <c:ptCount val="4"/>
                <c:pt idx="0">
                  <c:v>74.47031386505773</c:v>
                </c:pt>
                <c:pt idx="1">
                  <c:v>41.430474926266236</c:v>
                </c:pt>
                <c:pt idx="2">
                  <c:v>52.14917384034602</c:v>
                </c:pt>
                <c:pt idx="3">
                  <c:v>98.51471296290543</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30.03942111103518"/>
          <c:min val="0.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E3A5F"/>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the World</c:v>
                </c:pt>
              </c:strCache>
            </c:strRef>
          </c:cat>
          <c:val>
            <c:numRef>
              <c:numCache>
                <c:formatCode>General</c:formatCode>
                <c:ptCount val="5"/>
                <c:pt idx="0">
                  <c:v>88.49448987493543</c:v>
                </c:pt>
                <c:pt idx="1">
                  <c:v>53.86639895540094</c:v>
                </c:pt>
                <c:pt idx="2">
                  <c:v>29.04858739284977</c:v>
                </c:pt>
                <c:pt idx="3">
                  <c:v>32.82268019649477</c:v>
                </c:pt>
                <c:pt idx="4">
                  <c:v>62.33251917489452</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16.81272663491477"/>
          <c:min val="0.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48.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4"/>
                <c:pt idx="0">
                  <c:v>Flexible Partial Dentures</c:v>
                </c:pt>
                <c:pt idx="1">
                  <c:v>Combination Framework Partial Dentures</c:v>
                </c:pt>
                <c:pt idx="2">
                  <c:v>Cast Metal Partial Dentures</c:v>
                </c:pt>
                <c:pt idx="3">
                  <c:v>Acrylic Partial Dentures</c:v>
                </c:pt>
              </c:strCache>
            </c:strRef>
          </c:cat>
          <c:val>
            <c:numRef>
              <c:numCache>
                <c:formatCode>General</c:formatCode>
                <c:ptCount val="4"/>
                <c:pt idx="0">
                  <c:v>30.7132393448906</c:v>
                </c:pt>
                <c:pt idx="1">
                  <c:v>42.69854076382129</c:v>
                </c:pt>
                <c:pt idx="2">
                  <c:v>79.61898332401574</c:v>
                </c:pt>
                <c:pt idx="3">
                  <c:v>113.53391216184778</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SAM</c:v>
                </c:pt>
              </c:strCache>
            </c:strRef>
          </c:tx>
          <c:spPr>
            <a:solidFill>
              <a:srgbClr val="69B1E0"/>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the World</c:v>
                </c:pt>
              </c:strCache>
            </c:strRef>
          </c:cat>
          <c:val>
            <c:numRef>
              <c:numCache>
                <c:formatCode>General</c:formatCode>
                <c:ptCount val="5"/>
                <c:pt idx="0">
                  <c:v>270.00480000000005</c:v>
                </c:pt>
                <c:pt idx="1">
                  <c:v>242.70791857197986</c:v>
                </c:pt>
                <c:pt idx="2">
                  <c:v>177.37519627364833</c:v>
                </c:pt>
                <c:pt idx="3">
                  <c:v>113.63658577134302</c:v>
                </c:pt>
                <c:pt idx="4">
                  <c:v>90.15507290683095</c:v>
                </c:pt>
              </c:numCache>
            </c:numRef>
          </c:val>
        </c:ser>
        <c:ser>
          <c:idx val="1"/>
          <c:order val="1"/>
          <c:tx>
            <c:strRef>
              <c:strCache>
                <c:ptCount val="1"/>
                <c:pt idx="0">
                  <c:v>SOM</c:v>
                </c:pt>
              </c:strCache>
            </c:strRef>
          </c:tx>
          <c:spPr>
            <a:solidFill>
              <a:srgbClr val="0E72AE"/>
            </a:solidFill>
            <a:ln>
              <a:noFill/>
            </a:ln>
          </c:spPr>
          <c:dLbls>
            <c:dLbl>
              <c:idx val="0"/>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the World</c:v>
                </c:pt>
              </c:strCache>
            </c:strRef>
          </c:cat>
          <c:val>
            <c:numRef>
              <c:numCache>
                <c:formatCode>General</c:formatCode>
                <c:ptCount val="5"/>
                <c:pt idx="0">
                  <c:v>88.49448987493543</c:v>
                </c:pt>
                <c:pt idx="1">
                  <c:v>53.86639895540094</c:v>
                </c:pt>
                <c:pt idx="2">
                  <c:v>29.04858739284977</c:v>
                </c:pt>
                <c:pt idx="3">
                  <c:v>32.82268019649477</c:v>
                </c:pt>
                <c:pt idx="4">
                  <c:v>62.33251917489452</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345.6061440000001"/>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1668A8"/>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4"/>
                <c:pt idx="0">
                  <c:v>Dental Clinics</c:v>
                </c:pt>
                <c:pt idx="1">
                  <c:v>Dental Hospitals</c:v>
                </c:pt>
                <c:pt idx="2">
                  <c:v>Dental Laboratories</c:v>
                </c:pt>
                <c:pt idx="3">
                  <c:v>Academic &amp; Teaching Dental Institutions</c:v>
                </c:pt>
              </c:strCache>
            </c:strRef>
          </c:cat>
          <c:val>
            <c:numRef>
              <c:numCache>
                <c:formatCode>General</c:formatCode>
                <c:ptCount val="4"/>
                <c:pt idx="0">
                  <c:v>26.888213508205105</c:v>
                </c:pt>
                <c:pt idx="1">
                  <c:v>37.38086587527017</c:v>
                </c:pt>
                <c:pt idx="2">
                  <c:v>69.70323771069427</c:v>
                </c:pt>
                <c:pt idx="3">
                  <c:v>99.39440240573039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31.20061117556412"/>
          <c:min val="0.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E3A5F"/>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the World</c:v>
                </c:pt>
              </c:strCache>
            </c:strRef>
          </c:cat>
          <c:val>
            <c:numRef>
              <c:numCache>
                <c:formatCode>General</c:formatCode>
                <c:ptCount val="5"/>
                <c:pt idx="0">
                  <c:v>42.181445782158505</c:v>
                </c:pt>
                <c:pt idx="1">
                  <c:v>23.467033252982805</c:v>
                </c:pt>
                <c:pt idx="2">
                  <c:v>29.53831446067061</c:v>
                </c:pt>
                <c:pt idx="3">
                  <c:v>55.80066482759253</c:v>
                </c:pt>
                <c:pt idx="4">
                  <c:v>82.37926117649549</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8.74062475297406"/>
          <c:min val="0.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52.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4"/>
                <c:pt idx="0">
                  <c:v>Flexible Partial Dentures</c:v>
                </c:pt>
                <c:pt idx="1">
                  <c:v>Combination Framework Partial Dentures</c:v>
                </c:pt>
                <c:pt idx="2">
                  <c:v>Cast Metal Partial Dentures</c:v>
                </c:pt>
                <c:pt idx="3">
                  <c:v>Acrylic Partial Dentures</c:v>
                </c:pt>
              </c:strCache>
            </c:strRef>
          </c:cat>
          <c:val>
            <c:numRef>
              <c:numCache>
                <c:formatCode>General</c:formatCode>
                <c:ptCount val="4"/>
                <c:pt idx="0">
                  <c:v>29.55280890991878</c:v>
                </c:pt>
                <c:pt idx="1">
                  <c:v>54.06258639061627</c:v>
                </c:pt>
                <c:pt idx="2">
                  <c:v>74.45464434317043</c:v>
                </c:pt>
                <c:pt idx="3">
                  <c:v>75.29667985619446</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SAM</c:v>
                </c:pt>
              </c:strCache>
            </c:strRef>
          </c:tx>
          <c:spPr>
            <a:solidFill>
              <a:srgbClr val="69B1E0"/>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the World</c:v>
                </c:pt>
              </c:strCache>
            </c:strRef>
          </c:cat>
          <c:val>
            <c:numRef>
              <c:numCache>
                <c:formatCode>General</c:formatCode>
                <c:ptCount val="5"/>
                <c:pt idx="0">
                  <c:v>285.58200000000005</c:v>
                </c:pt>
                <c:pt idx="1">
                  <c:v>256.7102984895941</c:v>
                </c:pt>
                <c:pt idx="2">
                  <c:v>187.60838067405115</c:v>
                </c:pt>
                <c:pt idx="3">
                  <c:v>120.19254264276667</c:v>
                </c:pt>
                <c:pt idx="4">
                  <c:v>95.3563271129943</c:v>
                </c:pt>
              </c:numCache>
            </c:numRef>
          </c:val>
        </c:ser>
        <c:ser>
          <c:idx val="1"/>
          <c:order val="1"/>
          <c:tx>
            <c:strRef>
              <c:strCache>
                <c:ptCount val="1"/>
                <c:pt idx="0">
                  <c:v>SOM</c:v>
                </c:pt>
              </c:strCache>
            </c:strRef>
          </c:tx>
          <c:spPr>
            <a:solidFill>
              <a:srgbClr val="0E72AE"/>
            </a:solidFill>
            <a:ln>
              <a:noFill/>
            </a:ln>
          </c:spPr>
          <c:dLbls>
            <c:dLbl>
              <c:idx val="0"/>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the World</c:v>
                </c:pt>
              </c:strCache>
            </c:strRef>
          </c:cat>
          <c:val>
            <c:numRef>
              <c:numCache>
                <c:formatCode>General</c:formatCode>
                <c:ptCount val="5"/>
                <c:pt idx="0">
                  <c:v>42.181445782158505</c:v>
                </c:pt>
                <c:pt idx="1">
                  <c:v>23.467033252982805</c:v>
                </c:pt>
                <c:pt idx="2">
                  <c:v>29.53831446067061</c:v>
                </c:pt>
                <c:pt idx="3">
                  <c:v>55.80066482759253</c:v>
                </c:pt>
                <c:pt idx="4">
                  <c:v>82.37926117649549</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365.54496000000006"/>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5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1668A8"/>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4"/>
                <c:pt idx="0">
                  <c:v>Dental Clinics</c:v>
                </c:pt>
                <c:pt idx="1">
                  <c:v>Dental Hospitals</c:v>
                </c:pt>
                <c:pt idx="2">
                  <c:v>Dental Laboratories</c:v>
                </c:pt>
                <c:pt idx="3">
                  <c:v>Academic &amp; Teaching Dental Institutions</c:v>
                </c:pt>
              </c:strCache>
            </c:strRef>
          </c:cat>
          <c:val>
            <c:numRef>
              <c:numCache>
                <c:formatCode>General</c:formatCode>
                <c:ptCount val="4"/>
                <c:pt idx="0">
                  <c:v>20.382594247658506</c:v>
                </c:pt>
                <c:pt idx="1">
                  <c:v>37.28700597421298</c:v>
                </c:pt>
                <c:pt idx="2">
                  <c:v>51.351423484866174</c:v>
                </c:pt>
                <c:pt idx="3">
                  <c:v>51.93217600339674</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68.5504723244837"/>
          <c:min val="0.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E3A5F"/>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the World</c:v>
                </c:pt>
              </c:strCache>
            </c:strRef>
          </c:cat>
          <c:val>
            <c:numRef>
              <c:numCache>
                <c:formatCode>General</c:formatCode>
                <c:ptCount val="5"/>
                <c:pt idx="0">
                  <c:v>12.828593641017058</c:v>
                </c:pt>
                <c:pt idx="1">
                  <c:v>17.834726658833862</c:v>
                </c:pt>
                <c:pt idx="2">
                  <c:v>33.25600311009297</c:v>
                </c:pt>
                <c:pt idx="3">
                  <c:v>47.4219084233968</c:v>
                </c:pt>
                <c:pt idx="4">
                  <c:v>49.61196787679374</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65.48779759736775"/>
          <c:min val="0.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56.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4"/>
                <c:pt idx="0">
                  <c:v>Flexible Partial Dentures</c:v>
                </c:pt>
                <c:pt idx="1">
                  <c:v>Combination Framework Partial Dentures</c:v>
                </c:pt>
                <c:pt idx="2">
                  <c:v>Cast Metal Partial Dentures</c:v>
                </c:pt>
                <c:pt idx="3">
                  <c:v>Acrylic Partial Dentures</c:v>
                </c:pt>
              </c:strCache>
            </c:strRef>
          </c:cat>
          <c:val>
            <c:numRef>
              <c:numCache>
                <c:formatCode>General</c:formatCode>
                <c:ptCount val="4"/>
                <c:pt idx="0">
                  <c:v>35.26868107132598</c:v>
                </c:pt>
                <c:pt idx="1">
                  <c:v>46.91110219356408</c:v>
                </c:pt>
                <c:pt idx="2">
                  <c:v>45.86079820977741</c:v>
                </c:pt>
                <c:pt idx="3">
                  <c:v>32.91261823546694</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SAM</c:v>
                </c:pt>
              </c:strCache>
            </c:strRef>
          </c:tx>
          <c:spPr>
            <a:solidFill>
              <a:srgbClr val="69B1E0"/>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the World</c:v>
                </c:pt>
              </c:strCache>
            </c:strRef>
          </c:cat>
          <c:val>
            <c:numRef>
              <c:numCache>
                <c:formatCode>General</c:formatCode>
                <c:ptCount val="5"/>
                <c:pt idx="0">
                  <c:v>301.15920000000006</c:v>
                </c:pt>
                <c:pt idx="1">
                  <c:v>270.71267840720833</c:v>
                </c:pt>
                <c:pt idx="2">
                  <c:v>197.84156507445397</c:v>
                </c:pt>
                <c:pt idx="3">
                  <c:v>126.74849951419033</c:v>
                </c:pt>
                <c:pt idx="4">
                  <c:v>100.55758131915762</c:v>
                </c:pt>
              </c:numCache>
            </c:numRef>
          </c:val>
        </c:ser>
        <c:ser>
          <c:idx val="1"/>
          <c:order val="1"/>
          <c:tx>
            <c:strRef>
              <c:strCache>
                <c:ptCount val="1"/>
                <c:pt idx="0">
                  <c:v>SOM</c:v>
                </c:pt>
              </c:strCache>
            </c:strRef>
          </c:tx>
          <c:spPr>
            <a:solidFill>
              <a:srgbClr val="0E72AE"/>
            </a:solidFill>
            <a:ln>
              <a:noFill/>
            </a:ln>
          </c:spPr>
          <c:dLbls>
            <c:dLbl>
              <c:idx val="0"/>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the World</c:v>
                </c:pt>
              </c:strCache>
            </c:strRef>
          </c:cat>
          <c:val>
            <c:numRef>
              <c:numCache>
                <c:formatCode>General</c:formatCode>
                <c:ptCount val="5"/>
                <c:pt idx="0">
                  <c:v>12.828593641017058</c:v>
                </c:pt>
                <c:pt idx="1">
                  <c:v>17.834726658833862</c:v>
                </c:pt>
                <c:pt idx="2">
                  <c:v>33.25600311009297</c:v>
                </c:pt>
                <c:pt idx="3">
                  <c:v>47.4219084233968</c:v>
                </c:pt>
                <c:pt idx="4">
                  <c:v>49.61196787679374</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385.4837760000001"/>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p="http://schemas.openxmlformats.org/presentationml/2006/main" xmlns:r="http://schemas.openxmlformats.org/officeDocument/2006/relationships">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0F89C1C7-3DCD-1040-A9CF-14679D8B5DDD}" type="datetimeFigureOut">
              <a:rPr lang="en-US" smtClean="0"/>
              <a:t>10/17/16</a:t>
            </a:fld>
            <a:endParaRPr lang="en-US"/>
          </a:p>
        </p:txBody>
      </p:sp>
      <p:sp>
        <p:nvSpPr>
          <p:cNvPr id="4" name="Slide Image Placeholder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BB5E49A5-4136-284D-997B-48E1D791AD67}" type="slidenum">
              <a:rPr lang="en-US" smtClean="0"/>
              <a:t>‹#›</a:t>
            </a:fld>
            <a:endParaRPr lang="en-US"/>
          </a:p>
        </p:txBody>
      </p:sp>
    </p:spTree>
    <p:extLst>
      <p:ext uri="{BB962C8B-B14F-4D97-AF65-F5344CB8AC3E}">
        <p14:creationId xmlns:p14="http://schemas.microsoft.com/office/powerpoint/2010/main" val="2623252185"/>
      </p:ext>
    </p:extLst>
  </p:cSld>
  <p:clrMap bg1="lt1" tx1="dk1" bg2="lt2" tx2="dk2" accent1="accent1" accent2="accent2" accent3="accent3" accent4="accent4" accent5="accent5" accent6="accent6" hlink="hlink" folHlink="folHlink"/>
  <p:notesStyle>
    <a:lvl1pPr marL="0" algn="l" defTabSz="457200" rtl="0" eaLnBrk="1" latinLnBrk="0" hangingPunct="1">
      <a:defRPr sz="1200" kern="1200">
        <a:solidFill>
          <a:schemeClr val="tx1"/>
        </a:solidFill>
        <a:latin typeface="+mn-lt"/>
        <a:ea typeface="+mn-ea"/>
        <a:cs typeface="+mn-cs"/>
      </a:defRPr>
    </a:lvl1pPr>
    <a:lvl2pPr marL="457200" algn="l" defTabSz="457200" rtl="0" eaLnBrk="1" latinLnBrk="0" hangingPunct="1">
      <a:defRPr sz="1200" kern="1200">
        <a:solidFill>
          <a:schemeClr val="tx1"/>
        </a:solidFill>
        <a:latin typeface="+mn-lt"/>
        <a:ea typeface="+mn-ea"/>
        <a:cs typeface="+mn-cs"/>
      </a:defRPr>
    </a:lvl2pPr>
    <a:lvl3pPr marL="914400" algn="l" defTabSz="457200" rtl="0" eaLnBrk="1" latinLnBrk="0" hangingPunct="1">
      <a:defRPr sz="1200" kern="1200">
        <a:solidFill>
          <a:schemeClr val="tx1"/>
        </a:solidFill>
        <a:latin typeface="+mn-lt"/>
        <a:ea typeface="+mn-ea"/>
        <a:cs typeface="+mn-cs"/>
      </a:defRPr>
    </a:lvl3pPr>
    <a:lvl4pPr marL="1371600" algn="l" defTabSz="457200" rtl="0" eaLnBrk="1" latinLnBrk="0" hangingPunct="1">
      <a:defRPr sz="1200" kern="1200">
        <a:solidFill>
          <a:schemeClr val="tx1"/>
        </a:solidFill>
        <a:latin typeface="+mn-lt"/>
        <a:ea typeface="+mn-ea"/>
        <a:cs typeface="+mn-cs"/>
      </a:defRPr>
    </a:lvl4pPr>
    <a:lvl5pPr marL="1828800" algn="l" defTabSz="457200" rtl="0" eaLnBrk="1" latinLnBrk="0" hangingPunct="1">
      <a:defRPr sz="1200" kern="1200">
        <a:solidFill>
          <a:schemeClr val="tx1"/>
        </a:solidFill>
        <a:latin typeface="+mn-lt"/>
        <a:ea typeface="+mn-ea"/>
        <a:cs typeface="+mn-cs"/>
      </a:defRPr>
    </a:lvl5pPr>
    <a:lvl6pPr marL="2286000" algn="l" defTabSz="457200" rtl="0" eaLnBrk="1" latinLnBrk="0" hangingPunct="1">
      <a:defRPr sz="1200" kern="1200">
        <a:solidFill>
          <a:schemeClr val="tx1"/>
        </a:solidFill>
        <a:latin typeface="+mn-lt"/>
        <a:ea typeface="+mn-ea"/>
        <a:cs typeface="+mn-cs"/>
      </a:defRPr>
    </a:lvl6pPr>
    <a:lvl7pPr marL="2743200" algn="l" defTabSz="457200" rtl="0" eaLnBrk="1" latinLnBrk="0" hangingPunct="1">
      <a:defRPr sz="1200" kern="1200">
        <a:solidFill>
          <a:schemeClr val="tx1"/>
        </a:solidFill>
        <a:latin typeface="+mn-lt"/>
        <a:ea typeface="+mn-ea"/>
        <a:cs typeface="+mn-cs"/>
      </a:defRPr>
    </a:lvl7pPr>
    <a:lvl8pPr marL="3200400" algn="l" defTabSz="457200" rtl="0" eaLnBrk="1" latinLnBrk="0" hangingPunct="1">
      <a:defRPr sz="1200" kern="1200">
        <a:solidFill>
          <a:schemeClr val="tx1"/>
        </a:solidFill>
        <a:latin typeface="+mn-lt"/>
        <a:ea typeface="+mn-ea"/>
        <a:cs typeface="+mn-cs"/>
      </a:defRPr>
    </a:lvl8pPr>
    <a:lvl9pPr marL="3657600" algn="l" defTabSz="4572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5.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7.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8.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9.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0.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2.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3.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5.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6.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7.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9.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0.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2.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3.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4.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5.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6.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8.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9.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0.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2.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3.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4.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5.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7.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8.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9.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0.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2.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3.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4.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6.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7.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8.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9.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0.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1.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2.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3.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6.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7.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8.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0.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2.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3.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5.xm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6.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7.xml"/></Relationships>
</file>

<file path=ppt/notesSlides/_rels/notesSlide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8.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9.xml"/></Relationships>
</file>

<file path=ppt/notesSlides/_rels/notesSlide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0.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1.xml"/></Relationships>
</file>

<file path=ppt/notesSlides/_rels/notesSlide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2.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3.xml"/></Relationships>
</file>

<file path=ppt/notesSlides/_rels/notesSlide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6.xml"/></Relationships>
</file>

<file path=ppt/notesSlides/_rels/notesSlide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7.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8.xml"/></Relationships>
</file>

<file path=ppt/notesSlides/_rels/notesSlide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9.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0.xml"/></Relationships>
</file>

<file path=ppt/notesSlides/_rels/notesSlide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1.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4.xml"/></Relationships>
</file>

<file path=ppt/notesSlides/_rels/notesSlide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5.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6.xml"/></Relationships>
</file>

<file path=ppt/notesSlides/_rels/notesSlide1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7.xm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8.xml"/></Relationships>
</file>

<file path=ppt/notesSlides/_rels/notesSlide1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9.xm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0.xml"/></Relationships>
</file>

<file path=ppt/notesSlides/_rels/notesSlide1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1.xm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3.xml"/></Relationships>
</file>

<file path=ppt/notesSlides/_rels/notesSlide1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4.xm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5.xml"/></Relationships>
</file>

<file path=ppt/notesSlides/_rels/notesSlide1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6.xm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7.xml"/></Relationships>
</file>

<file path=ppt/notesSlides/_rels/notesSlide1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8.xm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9.xml"/></Relationships>
</file>

<file path=ppt/notesSlides/_rels/notesSlide1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0.xml"/></Relationships>
</file>

<file path=ppt/notesSlides/_rels/notesSlide1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1.xm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2.xml"/></Relationships>
</file>

<file path=ppt/notesSlides/_rels/notesSlide1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3.xml"/></Relationships>
</file>

<file path=ppt/notesSlides/_rels/notesSlide1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5.xml"/></Relationships>
</file>

<file path=ppt/notesSlides/_rels/notesSlide1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6.xml"/></Relationships>
</file>

<file path=ppt/notesSlides/_rels/notesSlide1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7.xml"/></Relationships>
</file>

<file path=ppt/notesSlides/_rels/notesSlide1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8.xml"/></Relationships>
</file>

<file path=ppt/notesSlides/_rels/notesSlide1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9.xml"/></Relationships>
</file>

<file path=ppt/notesSlides/_rels/notesSlide1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0.xml"/></Relationships>
</file>

<file path=ppt/notesSlides/_rels/notesSlide1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1.xml"/></Relationships>
</file>

<file path=ppt/notesSlides/_rels/notesSlide1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2.xml"/></Relationships>
</file>

<file path=ppt/notesSlides/_rels/notesSlide1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4.xml"/></Relationships>
</file>

<file path=ppt/notesSlides/_rels/notesSlide1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5.xml"/></Relationships>
</file>

<file path=ppt/notesSlides/_rels/notesSlide1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6.xml"/></Relationships>
</file>

<file path=ppt/notesSlides/_rels/notesSlide1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7.xml"/></Relationships>
</file>

<file path=ppt/notesSlides/_rels/notesSlide1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8.xml"/></Relationships>
</file>

<file path=ppt/notesSlides/_rels/notesSlide1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9.xml"/></Relationships>
</file>

<file path=ppt/notesSlides/_rels/notesSlide1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0.xml"/></Relationships>
</file>

<file path=ppt/notesSlides/_rels/notesSlide1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1.xml"/></Relationships>
</file>

<file path=ppt/notesSlides/_rels/notesSlide1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3.xml"/></Relationships>
</file>

<file path=ppt/notesSlides/_rels/notesSlide1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4.xml"/></Relationships>
</file>

<file path=ppt/notesSlides/_rels/notesSlide1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5.xml"/></Relationships>
</file>

<file path=ppt/notesSlides/_rels/notesSlide1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6.xml"/></Relationships>
</file>

<file path=ppt/notesSlides/_rels/notesSlide1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7.xml"/></Relationships>
</file>

<file path=ppt/notesSlides/_rels/notesSlide1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8.xml"/></Relationships>
</file>

<file path=ppt/notesSlides/_rels/notesSlide1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9.xml"/></Relationships>
</file>

<file path=ppt/notesSlides/_rels/notesSlide1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0.xml"/></Relationships>
</file>

<file path=ppt/notesSlides/_rels/notesSlide1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2.xml"/></Relationships>
</file>

<file path=ppt/notesSlides/_rels/notesSlide1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3.xml"/></Relationships>
</file>

<file path=ppt/notesSlides/_rels/notesSlide1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4.xml"/></Relationships>
</file>

<file path=ppt/notesSlides/_rels/notesSlide1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5.xml"/></Relationships>
</file>

<file path=ppt/notesSlides/_rels/notesSlide1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6.xml"/></Relationships>
</file>

<file path=ppt/notesSlides/_rels/notesSlide1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7.xml"/></Relationships>
</file>

<file path=ppt/notesSlides/_rels/notesSlide1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8.xml"/></Relationships>
</file>

<file path=ppt/notesSlides/_rels/notesSlide1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9.xml"/></Relationships>
</file>

<file path=ppt/notesSlides/_rels/notesSlide1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2.xml"/></Relationships>
</file>

<file path=ppt/notesSlides/_rels/notesSlide1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3.xml"/></Relationships>
</file>

<file path=ppt/notesSlides/_rels/notesSlide1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4.xml"/></Relationships>
</file>

<file path=ppt/notesSlides/_rels/notesSlide1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6.xml"/></Relationships>
</file>

<file path=ppt/notesSlides/_rels/notesSlide1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7.xml"/></Relationships>
</file>

<file path=ppt/notesSlides/_rels/notesSlide1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8.xml"/></Relationships>
</file>

<file path=ppt/notesSlides/_rels/notesSlide1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9.xml"/></Relationships>
</file>

<file path=ppt/notesSlides/_rels/notesSlide1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1.xml"/></Relationships>
</file>

<file path=ppt/notesSlides/_rels/notesSlide1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2.xml"/></Relationships>
</file>

<file path=ppt/notesSlides/_rels/notesSlide1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3.xml"/></Relationships>
</file>

<file path=ppt/notesSlides/_rels/notesSlide1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6.xml"/></Relationships>
</file>

<file path=ppt/notesSlides/_rels/notesSlide1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7.xml"/></Relationships>
</file>

<file path=ppt/notesSlides/_rels/notesSlide1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8.xml"/></Relationships>
</file>

<file path=ppt/notesSlides/_rels/notesSlide1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0.xml"/></Relationships>
</file>

<file path=ppt/notesSlides/_rels/notesSlide1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1.xml"/></Relationships>
</file>

<file path=ppt/notesSlides/_rels/notesSlide1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2.xml"/></Relationships>
</file>

<file path=ppt/notesSlides/_rels/notesSlide1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3.xml"/></Relationships>
</file>

<file path=ppt/notesSlides/_rels/notesSlide1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4.xml"/></Relationships>
</file>

<file path=ppt/notesSlides/_rels/notesSlide1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6.xml"/></Relationships>
</file>

<file path=ppt/notesSlides/_rels/notesSlide1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7.xml"/></Relationships>
</file>

<file path=ppt/notesSlides/_rels/notesSlide1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8.xml"/></Relationships>
</file>

<file path=ppt/notesSlides/_rels/notesSlide1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9.xml"/></Relationships>
</file>

<file path=ppt/notesSlides/_rels/notesSlide1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1.xml"/></Relationships>
</file>

<file path=ppt/notesSlides/_rels/notesSlide1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2.xml"/></Relationships>
</file>

<file path=ppt/notesSlides/_rels/notesSlide1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3.xml"/></Relationships>
</file>

<file path=ppt/notesSlides/_rels/notesSlide1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5.xml"/></Relationships>
</file>

<file path=ppt/notesSlides/_rels/notesSlide1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6.xml"/></Relationships>
</file>

<file path=ppt/notesSlides/_rels/notesSlide1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7.xml"/></Relationships>
</file>

<file path=ppt/notesSlides/_rels/notesSlide1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9.xml"/></Relationships>
</file>

<file path=ppt/notesSlides/_rels/notesSlide1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0.xml"/></Relationships>
</file>

<file path=ppt/notesSlides/_rels/notesSlide1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1.xml"/></Relationships>
</file>

<file path=ppt/notesSlides/_rels/notesSlide1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4.xml"/></Relationships>
</file>

<file path=ppt/notesSlides/_rels/notesSlide1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5.xml"/></Relationships>
</file>

<file path=ppt/notesSlides/_rels/notesSlide1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6.xml"/></Relationships>
</file>

<file path=ppt/notesSlides/_rels/notesSlide1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8.xml"/></Relationships>
</file>

<file path=ppt/notesSlides/_rels/notesSlide1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9.xml"/></Relationships>
</file>

<file path=ppt/notesSlides/_rels/notesSlide1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0.xml"/></Relationships>
</file>

<file path=ppt/notesSlides/_rels/notesSlide1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1.xml"/></Relationships>
</file>

<file path=ppt/notesSlides/_rels/notesSlide1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3.xml"/></Relationships>
</file>

<file path=ppt/notesSlides/_rels/notesSlide1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4.xml"/></Relationships>
</file>

<file path=ppt/notesSlides/_rels/notesSlide1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5.xml"/></Relationships>
</file>

<file path=ppt/notesSlides/_rels/notesSlide1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6.xml"/></Relationships>
</file>

<file path=ppt/notesSlides/_rels/notesSlide1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7.xml"/></Relationships>
</file>

<file path=ppt/notesSlides/_rels/notesSlide1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8.xml"/></Relationships>
</file>

<file path=ppt/notesSlides/_rels/notesSlide1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9.xml"/></Relationships>
</file>

<file path=ppt/notesSlides/_rels/notesSlide1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0.xml"/></Relationships>
</file>

<file path=ppt/notesSlides/_rels/notesSlide1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1.xml"/></Relationships>
</file>

<file path=ppt/notesSlides/_rels/notesSlide1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2.xml"/></Relationships>
</file>

<file path=ppt/notesSlides/_rels/notesSlide1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3.xml"/></Relationships>
</file>

<file path=ppt/notesSlides/_rels/notesSlide1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4.xml"/></Relationships>
</file>

<file path=ppt/notesSlides/_rels/notesSlide1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6.xml"/></Relationships>
</file>

<file path=ppt/notesSlides/_rels/notesSlide2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7.xml"/></Relationships>
</file>

<file path=ppt/notesSlides/_rels/notesSlide2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8.xml"/></Relationships>
</file>

<file path=ppt/notesSlides/_rels/notesSlide2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9.xml"/></Relationships>
</file>

<file path=ppt/notesSlides/_rels/notesSlide2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1.xml"/></Relationships>
</file>

<file path=ppt/notesSlides/_rels/notesSlide2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2.xml"/></Relationships>
</file>

<file path=ppt/notesSlides/_rels/notesSlide2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3.xml"/></Relationships>
</file>

<file path=ppt/notesSlides/_rels/notesSlide2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4.xml"/></Relationships>
</file>

<file path=ppt/notesSlides/_rels/notesSlide2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5.xml"/></Relationships>
</file>

<file path=ppt/notesSlides/_rels/notesSlide2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6.xml"/></Relationships>
</file>

<file path=ppt/notesSlides/_rels/notesSlide2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7.xml"/></Relationships>
</file>

<file path=ppt/notesSlides/_rels/notesSlide2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8.xml"/></Relationships>
</file>

<file path=ppt/notesSlides/_rels/notesSlide2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0.xml"/></Relationships>
</file>

<file path=ppt/notesSlides/_rels/notesSlide2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1.xml"/></Relationships>
</file>

<file path=ppt/notesSlides/_rels/notesSlide2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2.xml"/></Relationships>
</file>

<file path=ppt/notesSlides/_rels/notesSlide2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3.xml"/></Relationships>
</file>

<file path=ppt/notesSlides/_rels/notesSlide2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4.xml"/></Relationships>
</file>

<file path=ppt/notesSlides/_rels/notesSlide2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5.xml"/></Relationships>
</file>

<file path=ppt/notesSlides/_rels/notesSlide2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6.xml"/></Relationships>
</file>

<file path=ppt/notesSlides/_rels/notesSlide2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7.xml"/></Relationships>
</file>

<file path=ppt/notesSlides/_rels/notesSlide2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8.xml"/></Relationships>
</file>

<file path=ppt/notesSlides/_rels/notesSlide2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9.xml"/></Relationships>
</file>

<file path=ppt/notesSlides/_rels/notesSlide2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0.xml"/></Relationships>
</file>

<file path=ppt/notesSlides/_rels/notesSlide2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1.xml"/></Relationships>
</file>

<file path=ppt/notesSlides/_rels/notesSlide2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2.xml"/></Relationships>
</file>

<file path=ppt/notesSlides/_rels/notesSlide2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4.xml"/></Relationships>
</file>

<file path=ppt/notesSlides/_rels/notesSlide2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5.xml"/></Relationships>
</file>

<file path=ppt/notesSlides/_rels/notesSlide2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6.xml"/></Relationships>
</file>

<file path=ppt/notesSlides/_rels/notesSlide2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7.xml"/></Relationships>
</file>

<file path=ppt/notesSlides/_rels/notesSlide2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8.xml"/></Relationships>
</file>

<file path=ppt/notesSlides/_rels/notesSlide2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0.xml"/></Relationships>
</file>

<file path=ppt/notesSlides/_rels/notesSlide2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1.xml"/></Relationships>
</file>

<file path=ppt/notesSlides/_rels/notesSlide2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2.xml"/></Relationships>
</file>

<file path=ppt/notesSlides/_rels/notesSlide2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3.xml"/></Relationships>
</file>

<file path=ppt/notesSlides/_rels/notesSlide2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4.xml"/></Relationships>
</file>

<file path=ppt/notesSlides/_rels/notesSlide2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5.xml"/></Relationships>
</file>

<file path=ppt/notesSlides/_rels/notesSlide2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6.xml"/></Relationships>
</file>

<file path=ppt/notesSlides/_rels/notesSlide2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7.xml"/></Relationships>
</file>

<file path=ppt/notesSlides/_rels/notesSlide2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8.xml"/></Relationships>
</file>

<file path=ppt/notesSlides/_rels/notesSlide2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9.xml"/></Relationships>
</file>

<file path=ppt/notesSlides/_rels/notesSlide2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0.xml"/></Relationships>
</file>

<file path=ppt/notesSlides/_rels/notesSlide2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1.xml"/></Relationships>
</file>

<file path=ppt/notesSlides/_rels/notesSlide2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2.xml"/></Relationships>
</file>

<file path=ppt/notesSlides/_rels/notesSlide2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3.xml"/></Relationships>
</file>

<file path=ppt/notesSlides/_rels/notesSlide2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4.xml"/></Relationships>
</file>

<file path=ppt/notesSlides/_rels/notesSlide2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xml"/></Relationships>
</file>

<file path=ppt/notesSlides/_rels/notesSlide2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xml"/></Relationships>
</file>

<file path=ppt/notesSlides/_rels/notesSlide2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xml"/></Relationships>
</file>

<file path=ppt/notesSlides/_rels/notesSlide2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xml"/></Relationships>
</file>

<file path=ppt/notesSlides/_rels/notesSlide2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xml"/></Relationships>
</file>

<file path=ppt/notesSlides/_rels/notesSlide2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xml"/></Relationships>
</file>

<file path=ppt/notesSlides/_rels/notesSlide2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xml"/></Relationships>
</file>

<file path=ppt/notesSlides/_rels/notesSlide2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xml"/></Relationships>
</file>

<file path=ppt/notesSlides/_rels/notesSlide2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xml"/></Relationships>
</file>

<file path=ppt/notesSlides/_rels/notesSlide2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xml"/></Relationships>
</file>

<file path=ppt/notesSlides/_rels/notesSlide2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xml"/></Relationships>
</file>

<file path=ppt/notesSlides/_rels/notesSlide2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xml"/></Relationships>
</file>

<file path=ppt/notesSlides/_rels/notesSlide2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xml"/></Relationships>
</file>

<file path=ppt/notesSlides/_rels/notesSlide2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xml"/></Relationships>
</file>

<file path=ppt/notesSlides/notesSlide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Market Signals Market Signals</a:t>
            </a:r>
          </a:p>
        </p:txBody>
      </p:sp>
      <p:sp>
        <p:nvSpPr>
          <p:cNvPr id="4" name="Slide Number Placeholder 3"/>
          <p:cNvSpPr>
            <a:spLocks noGrp="1"/>
          </p:cNvSpPr>
          <p:nvPr>
            <p:ph type="sldNum" idx="5" sz="quarter"/>
          </p:nvPr>
        </p:nvSpPr>
        <p:spPr/>
      </p:sp>
    </p:spTree>
  </p:cSld>
  <p:clrMapOvr>
    <a:masterClrMapping/>
  </p:clrMapOvr>
</p:notes>
</file>

<file path=ppt/notesSlides/notesSlide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Market Overview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Market Taxonomy Geographic Coverage</a:t>
            </a:r>
          </a:p>
        </p:txBody>
      </p:sp>
      <p:sp>
        <p:nvSpPr>
          <p:cNvPr id="4" name="Slide Number Placeholder 3"/>
          <p:cNvSpPr>
            <a:spLocks noGrp="1"/>
          </p:cNvSpPr>
          <p:nvPr>
            <p:ph type="sldNum" idx="5" sz="quarter"/>
          </p:nvPr>
        </p:nvSpPr>
        <p:spPr/>
      </p:sp>
    </p:spTree>
  </p:cSld>
  <p:clrMapOvr>
    <a:masterClrMapping/>
  </p:clrMapOvr>
</p:notes>
</file>

<file path=ppt/notesSlides/notesSlide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Market Taxonomy Market Segments</a:t>
            </a:r>
          </a:p>
        </p:txBody>
      </p:sp>
      <p:sp>
        <p:nvSpPr>
          <p:cNvPr id="4" name="Slide Number Placeholder 3"/>
          <p:cNvSpPr>
            <a:spLocks noGrp="1"/>
          </p:cNvSpPr>
          <p:nvPr>
            <p:ph type="sldNum" idx="5" sz="quarter"/>
          </p:nvPr>
        </p:nvSpPr>
        <p:spPr/>
      </p:sp>
    </p:spTree>
  </p:cSld>
  <p:clrMapOvr>
    <a:masterClrMapping/>
  </p:clrMapOvr>
</p:notes>
</file>

<file path=ppt/notesSlides/notesSlide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Market Taxonomy Company Coverage</a:t>
            </a:r>
          </a:p>
        </p:txBody>
      </p:sp>
      <p:sp>
        <p:nvSpPr>
          <p:cNvPr id="4" name="Slide Number Placeholder 3"/>
          <p:cNvSpPr>
            <a:spLocks noGrp="1"/>
          </p:cNvSpPr>
          <p:nvPr>
            <p:ph type="sldNum" idx="5" sz="quarter"/>
          </p:nvPr>
        </p:nvSpPr>
        <p:spPr/>
      </p:sp>
    </p:spTree>
  </p:cSld>
  <p:clrMapOvr>
    <a:masterClrMapping/>
  </p:clrMapOvr>
</p:notes>
</file>

<file path=ppt/notesSlides/notesSlide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Global Market Outlook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Global Overview Volume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Global Overview Pricing &amp; Price Index</a:t>
            </a:r>
          </a:p>
        </p:txBody>
      </p:sp>
      <p:sp>
        <p:nvSpPr>
          <p:cNvPr id="4" name="Slide Number Placeholder 3"/>
          <p:cNvSpPr>
            <a:spLocks noGrp="1"/>
          </p:cNvSpPr>
          <p:nvPr>
            <p:ph type="sldNum" idx="5" sz="quarter"/>
          </p:nvPr>
        </p:nvSpPr>
        <p:spPr/>
      </p:sp>
    </p:spTree>
  </p:cSld>
  <p:clrMapOvr>
    <a:masterClrMapping/>
  </p:clrMapOvr>
</p:notes>
</file>

<file path=ppt/notesSlides/notesSlide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Global Overview Value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Global Overview Market Volume &amp;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Global Overview Country Outlook  (1/2)</a:t>
            </a:r>
          </a:p>
        </p:txBody>
      </p:sp>
      <p:sp>
        <p:nvSpPr>
          <p:cNvPr id="4" name="Slide Number Placeholder 3"/>
          <p:cNvSpPr>
            <a:spLocks noGrp="1"/>
          </p:cNvSpPr>
          <p:nvPr>
            <p:ph type="sldNum" idx="5" sz="quarter"/>
          </p:nvPr>
        </p:nvSpPr>
        <p:spPr/>
      </p:sp>
    </p:spTree>
  </p:cSld>
  <p:clrMapOvr>
    <a:masterClrMapping/>
  </p:clrMapOvr>
</p:notes>
</file>

<file path=ppt/notesSlides/notesSlide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Global Overview Country Outlook  (2/2)</a:t>
            </a:r>
          </a:p>
        </p:txBody>
      </p:sp>
      <p:sp>
        <p:nvSpPr>
          <p:cNvPr id="4" name="Slide Number Placeholder 3"/>
          <p:cNvSpPr>
            <a:spLocks noGrp="1"/>
          </p:cNvSpPr>
          <p:nvPr>
            <p:ph type="sldNum" idx="5" sz="quarter"/>
          </p:nvPr>
        </p:nvSpPr>
        <p:spPr/>
      </p:sp>
    </p:spTree>
  </p:cSld>
  <p:clrMapOvr>
    <a:masterClrMapping/>
  </p:clrMapOvr>
</p:notes>
</file>

<file path=ppt/notesSlides/notesSlide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Global Overview Market Overview (1/4)</a:t>
            </a:r>
          </a:p>
        </p:txBody>
      </p:sp>
      <p:sp>
        <p:nvSpPr>
          <p:cNvPr id="4" name="Slide Number Placeholder 3"/>
          <p:cNvSpPr>
            <a:spLocks noGrp="1"/>
          </p:cNvSpPr>
          <p:nvPr>
            <p:ph type="sldNum" idx="5" sz="quarter"/>
          </p:nvPr>
        </p:nvSpPr>
        <p:spPr/>
      </p:sp>
    </p:spTree>
  </p:cSld>
  <p:clrMapOvr>
    <a:masterClrMapping/>
  </p:clrMapOvr>
</p:notes>
</file>

<file path=ppt/notesSlides/notesSlide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Global Overview Supply Side Trends</a:t>
            </a:r>
          </a:p>
        </p:txBody>
      </p:sp>
      <p:sp>
        <p:nvSpPr>
          <p:cNvPr id="4" name="Slide Number Placeholder 3"/>
          <p:cNvSpPr>
            <a:spLocks noGrp="1"/>
          </p:cNvSpPr>
          <p:nvPr>
            <p:ph type="sldNum" idx="5" sz="quarter"/>
          </p:nvPr>
        </p:nvSpPr>
        <p:spPr/>
      </p:sp>
    </p:spTree>
  </p:cSld>
  <p:clrMapOvr>
    <a:masterClrMapping/>
  </p:clrMapOvr>
</p:notes>
</file>

<file path=ppt/notesSlides/notesSlide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Global Overview Analysis and Recommendation</a:t>
            </a:r>
          </a:p>
        </p:txBody>
      </p:sp>
      <p:sp>
        <p:nvSpPr>
          <p:cNvPr id="4" name="Slide Number Placeholder 3"/>
          <p:cNvSpPr>
            <a:spLocks noGrp="1"/>
          </p:cNvSpPr>
          <p:nvPr>
            <p:ph type="sldNum" idx="5" sz="quarter"/>
          </p:nvPr>
        </p:nvSpPr>
        <p:spPr/>
      </p:sp>
    </p:spTree>
  </p:cSld>
  <p:clrMapOvr>
    <a:masterClrMapping/>
  </p:clrMapOvr>
</p:notes>
</file>

<file path=ppt/notesSlides/notesSlide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Global Overview Scenario Outlook (4/4)</a:t>
            </a:r>
          </a:p>
        </p:txBody>
      </p:sp>
      <p:sp>
        <p:nvSpPr>
          <p:cNvPr id="4" name="Slide Number Placeholder 3"/>
          <p:cNvSpPr>
            <a:spLocks noGrp="1"/>
          </p:cNvSpPr>
          <p:nvPr>
            <p:ph type="sldNum" idx="5" sz="quarter"/>
          </p:nvPr>
        </p:nvSpPr>
        <p:spPr/>
      </p:sp>
    </p:spTree>
  </p:cSld>
  <p:clrMapOvr>
    <a:masterClrMapping/>
  </p:clrMapOvr>
</p:notes>
</file>

<file path=ppt/notesSlides/notesSlide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Region Global Removable Partial Dentures – Regional Outlook</a:t>
            </a:r>
          </a:p>
        </p:txBody>
      </p:sp>
      <p:sp>
        <p:nvSpPr>
          <p:cNvPr id="4" name="Slide Number Placeholder 3"/>
          <p:cNvSpPr>
            <a:spLocks noGrp="1"/>
          </p:cNvSpPr>
          <p:nvPr>
            <p:ph type="sldNum" idx="5" sz="quarter"/>
          </p:nvPr>
        </p:nvSpPr>
        <p:spPr/>
      </p:sp>
    </p:spTree>
  </p:cSld>
  <p:clrMapOvr>
    <a:masterClrMapping/>
  </p:clrMapOvr>
</p:notes>
</file>

<file path=ppt/notesSlides/notesSlide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Region Market Analysis By Region (1/2)</a:t>
            </a:r>
          </a:p>
        </p:txBody>
      </p:sp>
      <p:sp>
        <p:nvSpPr>
          <p:cNvPr id="4" name="Slide Number Placeholder 3"/>
          <p:cNvSpPr>
            <a:spLocks noGrp="1"/>
          </p:cNvSpPr>
          <p:nvPr>
            <p:ph type="sldNum" idx="5" sz="quarter"/>
          </p:nvPr>
        </p:nvSpPr>
        <p:spPr/>
      </p:sp>
    </p:spTree>
  </p:cSld>
  <p:clrMapOvr>
    <a:masterClrMapping/>
  </p:clrMapOvr>
</p:notes>
</file>

<file path=ppt/notesSlides/notesSlide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Region Market Analysis By Region (2/2)</a:t>
            </a:r>
          </a:p>
        </p:txBody>
      </p:sp>
      <p:sp>
        <p:nvSpPr>
          <p:cNvPr id="4" name="Slide Number Placeholder 3"/>
          <p:cNvSpPr>
            <a:spLocks noGrp="1"/>
          </p:cNvSpPr>
          <p:nvPr>
            <p:ph type="sldNum" idx="5" sz="quarter"/>
          </p:nvPr>
        </p:nvSpPr>
        <p:spPr/>
      </p:sp>
    </p:spTree>
  </p:cSld>
  <p:clrMapOvr>
    <a:masterClrMapping/>
  </p:clrMapOvr>
</p:notes>
</file>

<file path=ppt/notesSlides/notesSlide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Region Volume Share Analysis By Region</a:t>
            </a:r>
          </a:p>
        </p:txBody>
      </p:sp>
      <p:sp>
        <p:nvSpPr>
          <p:cNvPr id="4" name="Slide Number Placeholder 3"/>
          <p:cNvSpPr>
            <a:spLocks noGrp="1"/>
          </p:cNvSpPr>
          <p:nvPr>
            <p:ph type="sldNum" idx="5" sz="quarter"/>
          </p:nvPr>
        </p:nvSpPr>
        <p:spPr/>
      </p:sp>
    </p:spTree>
  </p:cSld>
  <p:clrMapOvr>
    <a:masterClrMapping/>
  </p:clrMapOvr>
</p:notes>
</file>

<file path=ppt/notesSlides/notesSlide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Region Value Share Analysis By Region</a:t>
            </a:r>
          </a:p>
        </p:txBody>
      </p:sp>
      <p:sp>
        <p:nvSpPr>
          <p:cNvPr id="4" name="Slide Number Placeholder 3"/>
          <p:cNvSpPr>
            <a:spLocks noGrp="1"/>
          </p:cNvSpPr>
          <p:nvPr>
            <p:ph type="sldNum" idx="5" sz="quarter"/>
          </p:nvPr>
        </p:nvSpPr>
        <p:spPr/>
      </p:sp>
    </p:spTree>
  </p:cSld>
  <p:clrMapOvr>
    <a:masterClrMapping/>
  </p:clrMapOvr>
</p:notes>
</file>

<file path=ppt/notesSlides/notesSlide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Region Market Trends By Region</a:t>
            </a:r>
          </a:p>
        </p:txBody>
      </p:sp>
      <p:sp>
        <p:nvSpPr>
          <p:cNvPr id="4" name="Slide Number Placeholder 3"/>
          <p:cNvSpPr>
            <a:spLocks noGrp="1"/>
          </p:cNvSpPr>
          <p:nvPr>
            <p:ph type="sldNum" idx="5" sz="quarter"/>
          </p:nvPr>
        </p:nvSpPr>
        <p:spPr/>
      </p:sp>
    </p:spTree>
  </p:cSld>
  <p:clrMapOvr>
    <a:masterClrMapping/>
  </p:clrMapOvr>
</p:notes>
</file>

<file path=ppt/notesSlides/notesSlide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Region Top Countries</a:t>
            </a:r>
          </a:p>
        </p:txBody>
      </p:sp>
      <p:sp>
        <p:nvSpPr>
          <p:cNvPr id="4" name="Slide Number Placeholder 3"/>
          <p:cNvSpPr>
            <a:spLocks noGrp="1"/>
          </p:cNvSpPr>
          <p:nvPr>
            <p:ph type="sldNum" idx="5" sz="quarter"/>
          </p:nvPr>
        </p:nvSpPr>
        <p:spPr/>
      </p:sp>
    </p:spTree>
  </p:cSld>
  <p:clrMapOvr>
    <a:masterClrMapping/>
  </p:clrMapOvr>
</p:notes>
</file>

<file path=ppt/notesSlides/notesSlide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By Product Type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By Material Type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Market Volume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Market Volume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YoY Analysis Volume  (1/2)</a:t>
            </a:r>
          </a:p>
        </p:txBody>
      </p:sp>
      <p:sp>
        <p:nvSpPr>
          <p:cNvPr id="4" name="Slide Number Placeholder 3"/>
          <p:cNvSpPr>
            <a:spLocks noGrp="1"/>
          </p:cNvSpPr>
          <p:nvPr>
            <p:ph type="sldNum" idx="5" sz="quarter"/>
          </p:nvPr>
        </p:nvSpPr>
        <p:spPr/>
      </p:sp>
    </p:spTree>
  </p:cSld>
  <p:clrMapOvr>
    <a:masterClrMapping/>
  </p:clrMapOvr>
</p:notes>
</file>

<file path=ppt/notesSlides/notesSlide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YoY Analysis Volume  (2/2)</a:t>
            </a:r>
          </a:p>
        </p:txBody>
      </p:sp>
      <p:sp>
        <p:nvSpPr>
          <p:cNvPr id="4" name="Slide Number Placeholder 3"/>
          <p:cNvSpPr>
            <a:spLocks noGrp="1"/>
          </p:cNvSpPr>
          <p:nvPr>
            <p:ph type="sldNum" idx="5" sz="quarter"/>
          </p:nvPr>
        </p:nvSpPr>
        <p:spPr/>
      </p:sp>
    </p:spTree>
  </p:cSld>
  <p:clrMapOvr>
    <a:masterClrMapping/>
  </p:clrMapOvr>
</p:notes>
</file>

<file path=ppt/notesSlides/notesSlide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By Technology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By End User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By Distribution Channel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By Patient Age Group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Material Type Market Snapshot</a:t>
            </a:r>
          </a:p>
        </p:txBody>
      </p:sp>
      <p:sp>
        <p:nvSpPr>
          <p:cNvPr id="4" name="Slide Number Placeholder 3"/>
          <p:cNvSpPr>
            <a:spLocks noGrp="1"/>
          </p:cNvSpPr>
          <p:nvPr>
            <p:ph type="sldNum" idx="5" sz="quarter"/>
          </p:nvPr>
        </p:nvSpPr>
        <p:spPr/>
      </p:sp>
    </p:spTree>
  </p:cSld>
  <p:clrMapOvr>
    <a:masterClrMapping/>
  </p:clrMapOvr>
</p:notes>
</file>

<file path=ppt/notesSlides/notesSlide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Material Type Market Share Analysis</a:t>
            </a:r>
          </a:p>
        </p:txBody>
      </p:sp>
      <p:sp>
        <p:nvSpPr>
          <p:cNvPr id="4" name="Slide Number Placeholder 3"/>
          <p:cNvSpPr>
            <a:spLocks noGrp="1"/>
          </p:cNvSpPr>
          <p:nvPr>
            <p:ph type="sldNum" idx="5" sz="quarter"/>
          </p:nvPr>
        </p:nvSpPr>
        <p:spPr/>
      </p:sp>
    </p:spTree>
  </p:cSld>
  <p:clrMapOvr>
    <a:masterClrMapping/>
  </p:clrMapOvr>
</p:notes>
</file>

<file path=ppt/notesSlides/notesSlide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Material Type Absolute $ Opportunity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Technology Market Snapshot</a:t>
            </a:r>
          </a:p>
        </p:txBody>
      </p:sp>
      <p:sp>
        <p:nvSpPr>
          <p:cNvPr id="4" name="Slide Number Placeholder 3"/>
          <p:cNvSpPr>
            <a:spLocks noGrp="1"/>
          </p:cNvSpPr>
          <p:nvPr>
            <p:ph type="sldNum" idx="5" sz="quarter"/>
          </p:nvPr>
        </p:nvSpPr>
        <p:spPr/>
      </p:sp>
    </p:spTree>
  </p:cSld>
  <p:clrMapOvr>
    <a:masterClrMapping/>
  </p:clrMapOvr>
</p:notes>
</file>

<file path=ppt/notesSlides/notesSlide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Technology Market Share Analysis</a:t>
            </a:r>
          </a:p>
        </p:txBody>
      </p:sp>
      <p:sp>
        <p:nvSpPr>
          <p:cNvPr id="4" name="Slide Number Placeholder 3"/>
          <p:cNvSpPr>
            <a:spLocks noGrp="1"/>
          </p:cNvSpPr>
          <p:nvPr>
            <p:ph type="sldNum" idx="5" sz="quarter"/>
          </p:nvPr>
        </p:nvSpPr>
        <p:spPr/>
      </p:sp>
    </p:spTree>
  </p:cSld>
  <p:clrMapOvr>
    <a:masterClrMapping/>
  </p:clrMapOvr>
</p:notes>
</file>

<file path=ppt/notesSlides/notesSlide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Technology Absolute $ Opportunity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North America Market Outlook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North America Overview Volume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North America Overview Pricing &amp; Price Index</a:t>
            </a:r>
          </a:p>
        </p:txBody>
      </p:sp>
      <p:sp>
        <p:nvSpPr>
          <p:cNvPr id="4" name="Slide Number Placeholder 3"/>
          <p:cNvSpPr>
            <a:spLocks noGrp="1"/>
          </p:cNvSpPr>
          <p:nvPr>
            <p:ph type="sldNum" idx="5" sz="quarter"/>
          </p:nvPr>
        </p:nvSpPr>
        <p:spPr/>
      </p:sp>
    </p:spTree>
  </p:cSld>
  <p:clrMapOvr>
    <a:masterClrMapping/>
  </p:clrMapOvr>
</p:notes>
</file>

<file path=ppt/notesSlides/notesSlide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North America Overview Value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North America Overview Market Volume &amp;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North America Overview Country Outlook</a:t>
            </a:r>
          </a:p>
        </p:txBody>
      </p:sp>
      <p:sp>
        <p:nvSpPr>
          <p:cNvPr id="4" name="Slide Number Placeholder 3"/>
          <p:cNvSpPr>
            <a:spLocks noGrp="1"/>
          </p:cNvSpPr>
          <p:nvPr>
            <p:ph type="sldNum" idx="5" sz="quarter"/>
          </p:nvPr>
        </p:nvSpPr>
        <p:spPr/>
      </p:sp>
    </p:spTree>
  </p:cSld>
  <p:clrMapOvr>
    <a:masterClrMapping/>
  </p:clrMapOvr>
</p:notes>
</file>

<file path=ppt/notesSlides/notesSlide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North America Overview Market Overview (1/4)</a:t>
            </a:r>
          </a:p>
        </p:txBody>
      </p:sp>
      <p:sp>
        <p:nvSpPr>
          <p:cNvPr id="4" name="Slide Number Placeholder 3"/>
          <p:cNvSpPr>
            <a:spLocks noGrp="1"/>
          </p:cNvSpPr>
          <p:nvPr>
            <p:ph type="sldNum" idx="5" sz="quarter"/>
          </p:nvPr>
        </p:nvSpPr>
        <p:spPr/>
      </p:sp>
    </p:spTree>
  </p:cSld>
  <p:clrMapOvr>
    <a:masterClrMapping/>
  </p:clrMapOvr>
</p:notes>
</file>

<file path=ppt/notesSlides/notesSlide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North America Overview Supply Side Trends</a:t>
            </a:r>
          </a:p>
        </p:txBody>
      </p:sp>
      <p:sp>
        <p:nvSpPr>
          <p:cNvPr id="4" name="Slide Number Placeholder 3"/>
          <p:cNvSpPr>
            <a:spLocks noGrp="1"/>
          </p:cNvSpPr>
          <p:nvPr>
            <p:ph type="sldNum" idx="5" sz="quarter"/>
          </p:nvPr>
        </p:nvSpPr>
        <p:spPr/>
      </p:sp>
    </p:spTree>
  </p:cSld>
  <p:clrMapOvr>
    <a:masterClrMapping/>
  </p:clrMapOvr>
</p:notes>
</file>

<file path=ppt/notesSlides/notesSlide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North America Overview Analysis and Recommendation</a:t>
            </a:r>
          </a:p>
        </p:txBody>
      </p:sp>
      <p:sp>
        <p:nvSpPr>
          <p:cNvPr id="4" name="Slide Number Placeholder 3"/>
          <p:cNvSpPr>
            <a:spLocks noGrp="1"/>
          </p:cNvSpPr>
          <p:nvPr>
            <p:ph type="sldNum" idx="5" sz="quarter"/>
          </p:nvPr>
        </p:nvSpPr>
        <p:spPr/>
      </p:sp>
    </p:spTree>
  </p:cSld>
  <p:clrMapOvr>
    <a:masterClrMapping/>
  </p:clrMapOvr>
</p:notes>
</file>

<file path=ppt/notesSlides/notesSlide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North America Overview Scenario Outlook (4/4)</a:t>
            </a:r>
          </a:p>
        </p:txBody>
      </p:sp>
      <p:sp>
        <p:nvSpPr>
          <p:cNvPr id="4" name="Slide Number Placeholder 3"/>
          <p:cNvSpPr>
            <a:spLocks noGrp="1"/>
          </p:cNvSpPr>
          <p:nvPr>
            <p:ph type="sldNum" idx="5" sz="quarter"/>
          </p:nvPr>
        </p:nvSpPr>
        <p:spPr/>
      </p:sp>
    </p:spTree>
  </p:cSld>
  <p:clrMapOvr>
    <a:masterClrMapping/>
  </p:clrMapOvr>
</p:notes>
</file>

<file path=ppt/notesSlides/notesSlide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Country North America Removable Partial Dentures – Country Outlook</a:t>
            </a:r>
          </a:p>
        </p:txBody>
      </p:sp>
      <p:sp>
        <p:nvSpPr>
          <p:cNvPr id="4" name="Slide Number Placeholder 3"/>
          <p:cNvSpPr>
            <a:spLocks noGrp="1"/>
          </p:cNvSpPr>
          <p:nvPr>
            <p:ph type="sldNum" idx="5" sz="quarter"/>
          </p:nvPr>
        </p:nvSpPr>
        <p:spPr/>
      </p:sp>
    </p:spTree>
  </p:cSld>
  <p:clrMapOvr>
    <a:masterClrMapping/>
  </p:clrMapOvr>
</p:notes>
</file>

<file path=ppt/notesSlides/notesSlide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Country Market Analysis By Country (1/2)</a:t>
            </a:r>
          </a:p>
        </p:txBody>
      </p:sp>
      <p:sp>
        <p:nvSpPr>
          <p:cNvPr id="4" name="Slide Number Placeholder 3"/>
          <p:cNvSpPr>
            <a:spLocks noGrp="1"/>
          </p:cNvSpPr>
          <p:nvPr>
            <p:ph type="sldNum" idx="5" sz="quarter"/>
          </p:nvPr>
        </p:nvSpPr>
        <p:spPr/>
      </p:sp>
    </p:spTree>
  </p:cSld>
  <p:clrMapOvr>
    <a:masterClrMapping/>
  </p:clrMapOvr>
</p:notes>
</file>

<file path=ppt/notesSlides/notesSlide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Country Market Analysis By Country (2/2)</a:t>
            </a:r>
          </a:p>
        </p:txBody>
      </p:sp>
      <p:sp>
        <p:nvSpPr>
          <p:cNvPr id="4" name="Slide Number Placeholder 3"/>
          <p:cNvSpPr>
            <a:spLocks noGrp="1"/>
          </p:cNvSpPr>
          <p:nvPr>
            <p:ph type="sldNum" idx="5" sz="quarter"/>
          </p:nvPr>
        </p:nvSpPr>
        <p:spPr/>
      </p:sp>
    </p:spTree>
  </p:cSld>
  <p:clrMapOvr>
    <a:masterClrMapping/>
  </p:clrMapOvr>
</p:notes>
</file>

<file path=ppt/notesSlides/notesSlide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Country Volume Share Analysis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Country Value Share Analysis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Country Market Trends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By Country Top Countries</a:t>
            </a:r>
          </a:p>
        </p:txBody>
      </p:sp>
      <p:sp>
        <p:nvSpPr>
          <p:cNvPr id="4" name="Slide Number Placeholder 3"/>
          <p:cNvSpPr>
            <a:spLocks noGrp="1"/>
          </p:cNvSpPr>
          <p:nvPr>
            <p:ph type="sldNum" idx="5" sz="quarter"/>
          </p:nvPr>
        </p:nvSpPr>
        <p:spPr/>
      </p:sp>
    </p:spTree>
  </p:cSld>
  <p:clrMapOvr>
    <a:masterClrMapping/>
  </p:clrMapOvr>
</p:notes>
</file>

<file path=ppt/notesSlides/notesSlide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By Product Type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By Material Type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Market Volume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1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Market Volume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1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YoY Analysis Volume  (1/2)</a:t>
            </a:r>
          </a:p>
        </p:txBody>
      </p:sp>
      <p:sp>
        <p:nvSpPr>
          <p:cNvPr id="4" name="Slide Number Placeholder 3"/>
          <p:cNvSpPr>
            <a:spLocks noGrp="1"/>
          </p:cNvSpPr>
          <p:nvPr>
            <p:ph type="sldNum" idx="5" sz="quarter"/>
          </p:nvPr>
        </p:nvSpPr>
        <p:spPr/>
      </p:sp>
    </p:spTree>
  </p:cSld>
  <p:clrMapOvr>
    <a:masterClrMapping/>
  </p:clrMapOvr>
</p:notes>
</file>

<file path=ppt/notesSlides/notesSlide1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YoY Analysis Volume  (2/2)</a:t>
            </a:r>
          </a:p>
        </p:txBody>
      </p:sp>
      <p:sp>
        <p:nvSpPr>
          <p:cNvPr id="4" name="Slide Number Placeholder 3"/>
          <p:cNvSpPr>
            <a:spLocks noGrp="1"/>
          </p:cNvSpPr>
          <p:nvPr>
            <p:ph type="sldNum" idx="5" sz="quarter"/>
          </p:nvPr>
        </p:nvSpPr>
        <p:spPr/>
      </p:sp>
    </p:spTree>
  </p:cSld>
  <p:clrMapOvr>
    <a:masterClrMapping/>
  </p:clrMapOvr>
</p:notes>
</file>

<file path=ppt/notesSlides/notesSlide1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1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Material Type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1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By Technology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Technology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By End User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End User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By Distribution Channel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Distribution Channel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By Patient Age Group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1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1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Patient Age Group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1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Material Type Market Snapshot</a:t>
            </a:r>
          </a:p>
        </p:txBody>
      </p:sp>
      <p:sp>
        <p:nvSpPr>
          <p:cNvPr id="4" name="Slide Number Placeholder 3"/>
          <p:cNvSpPr>
            <a:spLocks noGrp="1"/>
          </p:cNvSpPr>
          <p:nvPr>
            <p:ph type="sldNum" idx="5" sz="quarter"/>
          </p:nvPr>
        </p:nvSpPr>
        <p:spPr/>
      </p:sp>
    </p:spTree>
  </p:cSld>
  <p:clrMapOvr>
    <a:masterClrMapping/>
  </p:clrMapOvr>
</p:notes>
</file>

<file path=ppt/notesSlides/notesSlide1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Material Type Market Share Analysis</a:t>
            </a:r>
          </a:p>
        </p:txBody>
      </p:sp>
      <p:sp>
        <p:nvSpPr>
          <p:cNvPr id="4" name="Slide Number Placeholder 3"/>
          <p:cNvSpPr>
            <a:spLocks noGrp="1"/>
          </p:cNvSpPr>
          <p:nvPr>
            <p:ph type="sldNum" idx="5" sz="quarter"/>
          </p:nvPr>
        </p:nvSpPr>
        <p:spPr/>
      </p:sp>
    </p:spTree>
  </p:cSld>
  <p:clrMapOvr>
    <a:masterClrMapping/>
  </p:clrMapOvr>
</p:notes>
</file>

<file path=ppt/notesSlides/notesSlide1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Material Type Absolute $ Opportunity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Technology Market Snapshot</a:t>
            </a:r>
          </a:p>
        </p:txBody>
      </p:sp>
      <p:sp>
        <p:nvSpPr>
          <p:cNvPr id="4" name="Slide Number Placeholder 3"/>
          <p:cNvSpPr>
            <a:spLocks noGrp="1"/>
          </p:cNvSpPr>
          <p:nvPr>
            <p:ph type="sldNum" idx="5" sz="quarter"/>
          </p:nvPr>
        </p:nvSpPr>
        <p:spPr/>
      </p:sp>
    </p:spTree>
  </p:cSld>
  <p:clrMapOvr>
    <a:masterClrMapping/>
  </p:clrMapOvr>
</p:notes>
</file>

<file path=ppt/notesSlides/notesSlide1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Technology Market Share Analysis</a:t>
            </a:r>
          </a:p>
        </p:txBody>
      </p:sp>
      <p:sp>
        <p:nvSpPr>
          <p:cNvPr id="4" name="Slide Number Placeholder 3"/>
          <p:cNvSpPr>
            <a:spLocks noGrp="1"/>
          </p:cNvSpPr>
          <p:nvPr>
            <p:ph type="sldNum" idx="5" sz="quarter"/>
          </p:nvPr>
        </p:nvSpPr>
        <p:spPr/>
      </p:sp>
    </p:spTree>
  </p:cSld>
  <p:clrMapOvr>
    <a:masterClrMapping/>
  </p:clrMapOvr>
</p:notes>
</file>

<file path=ppt/notesSlides/notesSlide1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Technology Absolute $ Opportunity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Country Market Outlook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1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Overview Key Segments (Value)</a:t>
            </a:r>
          </a:p>
        </p:txBody>
      </p:sp>
      <p:sp>
        <p:nvSpPr>
          <p:cNvPr id="4" name="Slide Number Placeholder 3"/>
          <p:cNvSpPr>
            <a:spLocks noGrp="1"/>
          </p:cNvSpPr>
          <p:nvPr>
            <p:ph type="sldNum" idx="5" sz="quarter"/>
          </p:nvPr>
        </p:nvSpPr>
        <p:spPr/>
      </p:sp>
    </p:spTree>
  </p:cSld>
  <p:clrMapOvr>
    <a:masterClrMapping/>
  </p:clrMapOvr>
</p:notes>
</file>

<file path=ppt/notesSlides/notesSlide1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Product Type Segmental</a:t>
            </a:r>
          </a:p>
        </p:txBody>
      </p:sp>
      <p:sp>
        <p:nvSpPr>
          <p:cNvPr id="4" name="Slide Number Placeholder 3"/>
          <p:cNvSpPr>
            <a:spLocks noGrp="1"/>
          </p:cNvSpPr>
          <p:nvPr>
            <p:ph type="sldNum" idx="5" sz="quarter"/>
          </p:nvPr>
        </p:nvSpPr>
        <p:spPr/>
      </p:sp>
    </p:spTree>
  </p:cSld>
  <p:clrMapOvr>
    <a:masterClrMapping/>
  </p:clrMapOvr>
</p:notes>
</file>

<file path=ppt/notesSlides/notesSlide1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Product Type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Product Type YoY</a:t>
            </a:r>
          </a:p>
        </p:txBody>
      </p:sp>
      <p:sp>
        <p:nvSpPr>
          <p:cNvPr id="4" name="Slide Number Placeholder 3"/>
          <p:cNvSpPr>
            <a:spLocks noGrp="1"/>
          </p:cNvSpPr>
          <p:nvPr>
            <p:ph type="sldNum" idx="5" sz="quarter"/>
          </p:nvPr>
        </p:nvSpPr>
        <p:spPr/>
      </p:sp>
    </p:spTree>
  </p:cSld>
  <p:clrMapOvr>
    <a:masterClrMapping/>
  </p:clrMapOvr>
</p:notes>
</file>

<file path=ppt/notesSlides/notesSlide1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Material Type Segmental</a:t>
            </a:r>
          </a:p>
        </p:txBody>
      </p:sp>
      <p:sp>
        <p:nvSpPr>
          <p:cNvPr id="4" name="Slide Number Placeholder 3"/>
          <p:cNvSpPr>
            <a:spLocks noGrp="1"/>
          </p:cNvSpPr>
          <p:nvPr>
            <p:ph type="sldNum" idx="5" sz="quarter"/>
          </p:nvPr>
        </p:nvSpPr>
        <p:spPr/>
      </p:sp>
    </p:spTree>
  </p:cSld>
  <p:clrMapOvr>
    <a:masterClrMapping/>
  </p:clrMapOvr>
</p:notes>
</file>

<file path=ppt/notesSlides/notesSlide1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Material Type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Material Type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Material Type YoY  (1/2)</a:t>
            </a:r>
          </a:p>
        </p:txBody>
      </p:sp>
      <p:sp>
        <p:nvSpPr>
          <p:cNvPr id="4" name="Slide Number Placeholder 3"/>
          <p:cNvSpPr>
            <a:spLocks noGrp="1"/>
          </p:cNvSpPr>
          <p:nvPr>
            <p:ph type="sldNum" idx="5" sz="quarter"/>
          </p:nvPr>
        </p:nvSpPr>
        <p:spPr/>
      </p:sp>
    </p:spTree>
  </p:cSld>
  <p:clrMapOvr>
    <a:masterClrMapping/>
  </p:clrMapOvr>
</p:notes>
</file>

<file path=ppt/notesSlides/notesSlide1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Material Type YoY  (2/2)</a:t>
            </a:r>
          </a:p>
        </p:txBody>
      </p:sp>
      <p:sp>
        <p:nvSpPr>
          <p:cNvPr id="4" name="Slide Number Placeholder 3"/>
          <p:cNvSpPr>
            <a:spLocks noGrp="1"/>
          </p:cNvSpPr>
          <p:nvPr>
            <p:ph type="sldNum" idx="5" sz="quarter"/>
          </p:nvPr>
        </p:nvSpPr>
        <p:spPr/>
      </p:sp>
    </p:spTree>
  </p:cSld>
  <p:clrMapOvr>
    <a:masterClrMapping/>
  </p:clrMapOvr>
</p:notes>
</file>

<file path=ppt/notesSlides/notesSlide1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Technology Segmental</a:t>
            </a:r>
          </a:p>
        </p:txBody>
      </p:sp>
      <p:sp>
        <p:nvSpPr>
          <p:cNvPr id="4" name="Slide Number Placeholder 3"/>
          <p:cNvSpPr>
            <a:spLocks noGrp="1"/>
          </p:cNvSpPr>
          <p:nvPr>
            <p:ph type="sldNum" idx="5" sz="quarter"/>
          </p:nvPr>
        </p:nvSpPr>
        <p:spPr/>
      </p:sp>
    </p:spTree>
  </p:cSld>
  <p:clrMapOvr>
    <a:masterClrMapping/>
  </p:clrMapOvr>
</p:notes>
</file>

<file path=ppt/notesSlides/notesSlide1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Technology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Technology YoY</a:t>
            </a:r>
          </a:p>
        </p:txBody>
      </p:sp>
      <p:sp>
        <p:nvSpPr>
          <p:cNvPr id="4" name="Slide Number Placeholder 3"/>
          <p:cNvSpPr>
            <a:spLocks noGrp="1"/>
          </p:cNvSpPr>
          <p:nvPr>
            <p:ph type="sldNum" idx="5" sz="quarter"/>
          </p:nvPr>
        </p:nvSpPr>
        <p:spPr/>
      </p:sp>
    </p:spTree>
  </p:cSld>
  <p:clrMapOvr>
    <a:masterClrMapping/>
  </p:clrMapOvr>
</p:notes>
</file>

<file path=ppt/notesSlides/notesSlide1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End User Segmental</a:t>
            </a:r>
          </a:p>
        </p:txBody>
      </p:sp>
      <p:sp>
        <p:nvSpPr>
          <p:cNvPr id="4" name="Slide Number Placeholder 3"/>
          <p:cNvSpPr>
            <a:spLocks noGrp="1"/>
          </p:cNvSpPr>
          <p:nvPr>
            <p:ph type="sldNum" idx="5" sz="quarter"/>
          </p:nvPr>
        </p:nvSpPr>
        <p:spPr/>
      </p:sp>
    </p:spTree>
  </p:cSld>
  <p:clrMapOvr>
    <a:masterClrMapping/>
  </p:clrMapOvr>
</p:notes>
</file>

<file path=ppt/notesSlides/notesSlide1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End User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End User YoY</a:t>
            </a:r>
          </a:p>
        </p:txBody>
      </p:sp>
      <p:sp>
        <p:nvSpPr>
          <p:cNvPr id="4" name="Slide Number Placeholder 3"/>
          <p:cNvSpPr>
            <a:spLocks noGrp="1"/>
          </p:cNvSpPr>
          <p:nvPr>
            <p:ph type="sldNum" idx="5" sz="quarter"/>
          </p:nvPr>
        </p:nvSpPr>
        <p:spPr/>
      </p:sp>
    </p:spTree>
  </p:cSld>
  <p:clrMapOvr>
    <a:masterClrMapping/>
  </p:clrMapOvr>
</p:notes>
</file>

<file path=ppt/notesSlides/notesSlide1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Distribution Channel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Distribution Channel YoY</a:t>
            </a:r>
          </a:p>
        </p:txBody>
      </p:sp>
      <p:sp>
        <p:nvSpPr>
          <p:cNvPr id="4" name="Slide Number Placeholder 3"/>
          <p:cNvSpPr>
            <a:spLocks noGrp="1"/>
          </p:cNvSpPr>
          <p:nvPr>
            <p:ph type="sldNum" idx="5" sz="quarter"/>
          </p:nvPr>
        </p:nvSpPr>
        <p:spPr/>
      </p:sp>
    </p:spTree>
  </p:cSld>
  <p:clrMapOvr>
    <a:masterClrMapping/>
  </p:clrMapOvr>
</p:notes>
</file>

<file path=ppt/notesSlides/notesSlide1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Patient Age Group Segmental</a:t>
            </a:r>
          </a:p>
        </p:txBody>
      </p:sp>
      <p:sp>
        <p:nvSpPr>
          <p:cNvPr id="4" name="Slide Number Placeholder 3"/>
          <p:cNvSpPr>
            <a:spLocks noGrp="1"/>
          </p:cNvSpPr>
          <p:nvPr>
            <p:ph type="sldNum" idx="5" sz="quarter"/>
          </p:nvPr>
        </p:nvSpPr>
        <p:spPr/>
      </p:sp>
    </p:spTree>
  </p:cSld>
  <p:clrMapOvr>
    <a:masterClrMapping/>
  </p:clrMapOvr>
</p:notes>
</file>

<file path=ppt/notesSlides/notesSlide1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Patient Age Group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Country Patient Age Group YoY</a:t>
            </a:r>
          </a:p>
        </p:txBody>
      </p:sp>
      <p:sp>
        <p:nvSpPr>
          <p:cNvPr id="4" name="Slide Number Placeholder 3"/>
          <p:cNvSpPr>
            <a:spLocks noGrp="1"/>
          </p:cNvSpPr>
          <p:nvPr>
            <p:ph type="sldNum" idx="5" sz="quarter"/>
          </p:nvPr>
        </p:nvSpPr>
        <p:spPr/>
      </p:sp>
    </p:spTree>
  </p:cSld>
  <p:clrMapOvr>
    <a:masterClrMapping/>
  </p:clrMapOvr>
</p:notes>
</file>

<file path=ppt/notesSlides/notesSlide1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Material Type Market Snapshot</a:t>
            </a:r>
          </a:p>
        </p:txBody>
      </p:sp>
      <p:sp>
        <p:nvSpPr>
          <p:cNvPr id="4" name="Slide Number Placeholder 3"/>
          <p:cNvSpPr>
            <a:spLocks noGrp="1"/>
          </p:cNvSpPr>
          <p:nvPr>
            <p:ph type="sldNum" idx="5" sz="quarter"/>
          </p:nvPr>
        </p:nvSpPr>
        <p:spPr/>
      </p:sp>
    </p:spTree>
  </p:cSld>
  <p:clrMapOvr>
    <a:masterClrMapping/>
  </p:clrMapOvr>
</p:notes>
</file>

<file path=ppt/notesSlides/notesSlide1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Material Type Market Share Analysis</a:t>
            </a:r>
          </a:p>
        </p:txBody>
      </p:sp>
      <p:sp>
        <p:nvSpPr>
          <p:cNvPr id="4" name="Slide Number Placeholder 3"/>
          <p:cNvSpPr>
            <a:spLocks noGrp="1"/>
          </p:cNvSpPr>
          <p:nvPr>
            <p:ph type="sldNum" idx="5" sz="quarter"/>
          </p:nvPr>
        </p:nvSpPr>
        <p:spPr/>
      </p:sp>
    </p:spTree>
  </p:cSld>
  <p:clrMapOvr>
    <a:masterClrMapping/>
  </p:clrMapOvr>
</p:notes>
</file>

<file path=ppt/notesSlides/notesSlide1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Material Type Absolute $ Opportunity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Technology Market Snapshot</a:t>
            </a:r>
          </a:p>
        </p:txBody>
      </p:sp>
      <p:sp>
        <p:nvSpPr>
          <p:cNvPr id="4" name="Slide Number Placeholder 3"/>
          <p:cNvSpPr>
            <a:spLocks noGrp="1"/>
          </p:cNvSpPr>
          <p:nvPr>
            <p:ph type="sldNum" idx="5" sz="quarter"/>
          </p:nvPr>
        </p:nvSpPr>
        <p:spPr/>
      </p:sp>
    </p:spTree>
  </p:cSld>
  <p:clrMapOvr>
    <a:masterClrMapping/>
  </p:clrMapOvr>
</p:notes>
</file>

<file path=ppt/notesSlides/notesSlide1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Technology Market Share Analysis</a:t>
            </a:r>
          </a:p>
        </p:txBody>
      </p:sp>
      <p:sp>
        <p:nvSpPr>
          <p:cNvPr id="4" name="Slide Number Placeholder 3"/>
          <p:cNvSpPr>
            <a:spLocks noGrp="1"/>
          </p:cNvSpPr>
          <p:nvPr>
            <p:ph type="sldNum" idx="5" sz="quarter"/>
          </p:nvPr>
        </p:nvSpPr>
        <p:spPr/>
      </p:sp>
    </p:spTree>
  </p:cSld>
  <p:clrMapOvr>
    <a:masterClrMapping/>
  </p:clrMapOvr>
</p:notes>
</file>

<file path=ppt/notesSlides/notesSlide1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Product Type x Technology Absolute $ Opportunity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Pricing Assessment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1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Pricing Product Pricing &amp; Regional Price Index Trends</a:t>
            </a:r>
          </a:p>
        </p:txBody>
      </p:sp>
      <p:sp>
        <p:nvSpPr>
          <p:cNvPr id="4" name="Slide Number Placeholder 3"/>
          <p:cNvSpPr>
            <a:spLocks noGrp="1"/>
          </p:cNvSpPr>
          <p:nvPr>
            <p:ph type="sldNum" idx="5" sz="quarter"/>
          </p:nvPr>
        </p:nvSpPr>
        <p:spPr/>
      </p:sp>
    </p:spTree>
  </p:cSld>
  <p:clrMapOvr>
    <a:masterClrMapping/>
  </p:clrMapOvr>
</p:notes>
</file>

<file path=ppt/notesSlides/notesSlide1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Pricing Global Pricing Assessment</a:t>
            </a:r>
          </a:p>
        </p:txBody>
      </p:sp>
      <p:sp>
        <p:nvSpPr>
          <p:cNvPr id="4" name="Slide Number Placeholder 3"/>
          <p:cNvSpPr>
            <a:spLocks noGrp="1"/>
          </p:cNvSpPr>
          <p:nvPr>
            <p:ph type="sldNum" idx="5" sz="quarter"/>
          </p:nvPr>
        </p:nvSpPr>
        <p:spPr/>
      </p:sp>
    </p:spTree>
  </p:cSld>
  <p:clrMapOvr>
    <a:masterClrMapping/>
  </p:clrMapOvr>
</p:notes>
</file>

<file path=ppt/notesSlides/notesSlide1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Pricing Global Pricing Assessment</a:t>
            </a:r>
          </a:p>
        </p:txBody>
      </p:sp>
      <p:sp>
        <p:nvSpPr>
          <p:cNvPr id="4" name="Slide Number Placeholder 3"/>
          <p:cNvSpPr>
            <a:spLocks noGrp="1"/>
          </p:cNvSpPr>
          <p:nvPr>
            <p:ph type="sldNum" idx="5" sz="quarter"/>
          </p:nvPr>
        </p:nvSpPr>
        <p:spPr/>
      </p:sp>
    </p:spTree>
  </p:cSld>
  <p:clrMapOvr>
    <a:masterClrMapping/>
  </p:clrMapOvr>
</p:notes>
</file>

<file path=ppt/notesSlides/notesSlide1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Pricing Global Pricing Assessment</a:t>
            </a:r>
          </a:p>
        </p:txBody>
      </p:sp>
      <p:sp>
        <p:nvSpPr>
          <p:cNvPr id="4" name="Slide Number Placeholder 3"/>
          <p:cNvSpPr>
            <a:spLocks noGrp="1"/>
          </p:cNvSpPr>
          <p:nvPr>
            <p:ph type="sldNum" idx="5" sz="quarter"/>
          </p:nvPr>
        </p:nvSpPr>
        <p:spPr/>
      </p:sp>
    </p:spTree>
  </p:cSld>
  <p:clrMapOvr>
    <a:masterClrMapping/>
  </p:clrMapOvr>
</p:notes>
</file>

<file path=ppt/notesSlides/notesSlide1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Pricing Price Positioning &amp; Key Findings</a:t>
            </a:r>
          </a:p>
        </p:txBody>
      </p:sp>
      <p:sp>
        <p:nvSpPr>
          <p:cNvPr id="4" name="Slide Number Placeholder 3"/>
          <p:cNvSpPr>
            <a:spLocks noGrp="1"/>
          </p:cNvSpPr>
          <p:nvPr>
            <p:ph type="sldNum" idx="5" sz="quarter"/>
          </p:nvPr>
        </p:nvSpPr>
        <p:spPr/>
      </p:sp>
    </p:spTree>
  </p:cSld>
  <p:clrMapOvr>
    <a:masterClrMapping/>
  </p:clrMapOvr>
</p:notes>
</file>

<file path=ppt/notesSlides/notesSlide1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Pricing Key Pricing Drivers</a:t>
            </a:r>
          </a:p>
        </p:txBody>
      </p:sp>
      <p:sp>
        <p:nvSpPr>
          <p:cNvPr id="4" name="Slide Number Placeholder 3"/>
          <p:cNvSpPr>
            <a:spLocks noGrp="1"/>
          </p:cNvSpPr>
          <p:nvPr>
            <p:ph type="sldNum" idx="5" sz="quarter"/>
          </p:nvPr>
        </p:nvSpPr>
        <p:spPr/>
      </p:sp>
    </p:spTree>
  </p:cSld>
  <p:clrMapOvr>
    <a:masterClrMapping/>
  </p:clrMapOvr>
</p:notes>
</file>

<file path=ppt/notesSlides/notesSlide1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Pricing Factors Impacting Pricing</a:t>
            </a:r>
          </a:p>
        </p:txBody>
      </p:sp>
      <p:sp>
        <p:nvSpPr>
          <p:cNvPr id="4" name="Slide Number Placeholder 3"/>
          <p:cNvSpPr>
            <a:spLocks noGrp="1"/>
          </p:cNvSpPr>
          <p:nvPr>
            <p:ph type="sldNum" idx="5" sz="quarter"/>
          </p:nvPr>
        </p:nvSpPr>
        <p:spPr/>
      </p:sp>
    </p:spTree>
  </p:cSld>
  <p:clrMapOvr>
    <a:masterClrMapping/>
  </p:clrMapOvr>
</p:notes>
</file>

<file path=ppt/notesSlides/notesSlide1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Pricing Regional Price Assessment</a:t>
            </a:r>
          </a:p>
        </p:txBody>
      </p:sp>
      <p:sp>
        <p:nvSpPr>
          <p:cNvPr id="4" name="Slide Number Placeholder 3"/>
          <p:cNvSpPr>
            <a:spLocks noGrp="1"/>
          </p:cNvSpPr>
          <p:nvPr>
            <p:ph type="sldNum" idx="5" sz="quarter"/>
          </p:nvPr>
        </p:nvSpPr>
        <p:spPr/>
      </p:sp>
    </p:spTree>
  </p:cSld>
  <p:clrMapOvr>
    <a:masterClrMapping/>
  </p:clrMapOvr>
</p:notes>
</file>

<file path=ppt/notesSlides/notesSlide1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Pricing Global Pricing Benchmarking</a:t>
            </a:r>
          </a:p>
        </p:txBody>
      </p:sp>
      <p:sp>
        <p:nvSpPr>
          <p:cNvPr id="4" name="Slide Number Placeholder 3"/>
          <p:cNvSpPr>
            <a:spLocks noGrp="1"/>
          </p:cNvSpPr>
          <p:nvPr>
            <p:ph type="sldNum" idx="5" sz="quarter"/>
          </p:nvPr>
        </p:nvSpPr>
        <p:spPr/>
      </p:sp>
    </p:spTree>
  </p:cSld>
  <p:clrMapOvr>
    <a:masterClrMapping/>
  </p:clrMapOvr>
</p:notes>
</file>

<file path=ppt/notesSlides/notesSlide1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Pricing Price Forecast &amp; Dynamics</a:t>
            </a:r>
          </a:p>
        </p:txBody>
      </p:sp>
      <p:sp>
        <p:nvSpPr>
          <p:cNvPr id="4" name="Slide Number Placeholder 3"/>
          <p:cNvSpPr>
            <a:spLocks noGrp="1"/>
          </p:cNvSpPr>
          <p:nvPr>
            <p:ph type="sldNum" idx="5" sz="quarter"/>
          </p:nvPr>
        </p:nvSpPr>
        <p:spPr/>
      </p:sp>
    </p:spTree>
  </p:cSld>
  <p:clrMapOvr>
    <a:masterClrMapping/>
  </p:clrMapOvr>
</p:notes>
</file>

<file path=ppt/notesSlides/notesSlide1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Pricing Competitor Pricing Strategies</a:t>
            </a:r>
          </a:p>
        </p:txBody>
      </p:sp>
      <p:sp>
        <p:nvSpPr>
          <p:cNvPr id="4" name="Slide Number Placeholder 3"/>
          <p:cNvSpPr>
            <a:spLocks noGrp="1"/>
          </p:cNvSpPr>
          <p:nvPr>
            <p:ph type="sldNum" idx="5" sz="quarter"/>
          </p:nvPr>
        </p:nvSpPr>
        <p:spPr/>
      </p:sp>
    </p:spTree>
  </p:cSld>
  <p:clrMapOvr>
    <a:masterClrMapping/>
  </p:clrMapOvr>
</p:notes>
</file>

<file path=ppt/notesSlides/notesSlide1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Supply Chain Analysis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1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Supply Chain Analysis Value Chain &amp; Stakeholder Mapping</a:t>
            </a:r>
          </a:p>
        </p:txBody>
      </p:sp>
      <p:sp>
        <p:nvSpPr>
          <p:cNvPr id="4" name="Slide Number Placeholder 3"/>
          <p:cNvSpPr>
            <a:spLocks noGrp="1"/>
          </p:cNvSpPr>
          <p:nvPr>
            <p:ph type="sldNum" idx="5" sz="quarter"/>
          </p:nvPr>
        </p:nvSpPr>
        <p:spPr/>
      </p:sp>
    </p:spTree>
  </p:cSld>
  <p:clrMapOvr>
    <a:masterClrMapping/>
  </p:clrMapOvr>
</p:notes>
</file>

<file path=ppt/notesSlides/notesSlide2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Supply Chain Analysis Operating Margin Analysis</a:t>
            </a:r>
          </a:p>
        </p:txBody>
      </p:sp>
      <p:sp>
        <p:nvSpPr>
          <p:cNvPr id="4" name="Slide Number Placeholder 3"/>
          <p:cNvSpPr>
            <a:spLocks noGrp="1"/>
          </p:cNvSpPr>
          <p:nvPr>
            <p:ph type="sldNum" idx="5" sz="quarter"/>
          </p:nvPr>
        </p:nvSpPr>
        <p:spPr/>
      </p:sp>
    </p:spTree>
  </p:cSld>
  <p:clrMapOvr>
    <a:masterClrMapping/>
  </p:clrMapOvr>
</p:notes>
</file>

<file path=ppt/notesSlides/notesSlide2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Supply Chain Analysis Buyers Assessment</a:t>
            </a:r>
          </a:p>
        </p:txBody>
      </p:sp>
      <p:sp>
        <p:nvSpPr>
          <p:cNvPr id="4" name="Slide Number Placeholder 3"/>
          <p:cNvSpPr>
            <a:spLocks noGrp="1"/>
          </p:cNvSpPr>
          <p:nvPr>
            <p:ph type="sldNum" idx="5" sz="quarter"/>
          </p:nvPr>
        </p:nvSpPr>
        <p:spPr/>
      </p:sp>
    </p:spTree>
  </p:cSld>
  <p:clrMapOvr>
    <a:masterClrMapping/>
  </p:clrMapOvr>
</p:notes>
</file>

<file path=ppt/notesSlides/notesSlide2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Market Dynamics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2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Market Dynamics Market Dynamics &amp; Forces Market Dynamics by Geography</a:t>
            </a:r>
          </a:p>
        </p:txBody>
      </p:sp>
      <p:sp>
        <p:nvSpPr>
          <p:cNvPr id="4" name="Slide Number Placeholder 3"/>
          <p:cNvSpPr>
            <a:spLocks noGrp="1"/>
          </p:cNvSpPr>
          <p:nvPr>
            <p:ph type="sldNum" idx="5" sz="quarter"/>
          </p:nvPr>
        </p:nvSpPr>
        <p:spPr/>
      </p:sp>
    </p:spTree>
  </p:cSld>
  <p:clrMapOvr>
    <a:masterClrMapping/>
  </p:clrMapOvr>
</p:notes>
</file>

<file path=ppt/notesSlides/notesSlide2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Market Dynamics Market Dynamics &amp; Forces Driving Factors Supply Side (1/2)</a:t>
            </a:r>
          </a:p>
        </p:txBody>
      </p:sp>
      <p:sp>
        <p:nvSpPr>
          <p:cNvPr id="4" name="Slide Number Placeholder 3"/>
          <p:cNvSpPr>
            <a:spLocks noGrp="1"/>
          </p:cNvSpPr>
          <p:nvPr>
            <p:ph type="sldNum" idx="5" sz="quarter"/>
          </p:nvPr>
        </p:nvSpPr>
        <p:spPr/>
      </p:sp>
    </p:spTree>
  </p:cSld>
  <p:clrMapOvr>
    <a:masterClrMapping/>
  </p:clrMapOvr>
</p:notes>
</file>

<file path=ppt/notesSlides/notesSlide2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Market Dynamics Market Dynamics &amp; Forces Driving Factors Demand Side (2/2)</a:t>
            </a:r>
          </a:p>
        </p:txBody>
      </p:sp>
      <p:sp>
        <p:nvSpPr>
          <p:cNvPr id="4" name="Slide Number Placeholder 3"/>
          <p:cNvSpPr>
            <a:spLocks noGrp="1"/>
          </p:cNvSpPr>
          <p:nvPr>
            <p:ph type="sldNum" idx="5" sz="quarter"/>
          </p:nvPr>
        </p:nvSpPr>
        <p:spPr/>
      </p:sp>
    </p:spTree>
  </p:cSld>
  <p:clrMapOvr>
    <a:masterClrMapping/>
  </p:clrMapOvr>
</p:notes>
</file>

<file path=ppt/notesSlides/notesSlide2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Market Dynamics Market Dynamics &amp; Forces Market Restraints</a:t>
            </a:r>
          </a:p>
        </p:txBody>
      </p:sp>
      <p:sp>
        <p:nvSpPr>
          <p:cNvPr id="4" name="Slide Number Placeholder 3"/>
          <p:cNvSpPr>
            <a:spLocks noGrp="1"/>
          </p:cNvSpPr>
          <p:nvPr>
            <p:ph type="sldNum" idx="5" sz="quarter"/>
          </p:nvPr>
        </p:nvSpPr>
        <p:spPr/>
      </p:sp>
    </p:spTree>
  </p:cSld>
  <p:clrMapOvr>
    <a:masterClrMapping/>
  </p:clrMapOvr>
</p:notes>
</file>

<file path=ppt/notesSlides/notesSlide2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Market Dynamics Market Dynamics &amp; Forces Market Opportunities</a:t>
            </a:r>
          </a:p>
        </p:txBody>
      </p:sp>
      <p:sp>
        <p:nvSpPr>
          <p:cNvPr id="4" name="Slide Number Placeholder 3"/>
          <p:cNvSpPr>
            <a:spLocks noGrp="1"/>
          </p:cNvSpPr>
          <p:nvPr>
            <p:ph type="sldNum" idx="5" sz="quarter"/>
          </p:nvPr>
        </p:nvSpPr>
        <p:spPr/>
      </p:sp>
    </p:spTree>
  </p:cSld>
  <p:clrMapOvr>
    <a:masterClrMapping/>
  </p:clrMapOvr>
</p:notes>
</file>

<file path=ppt/notesSlides/notesSlide2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Market Dynamics Market Dynamics &amp; Forces Recent Developments &amp; Milestones</a:t>
            </a:r>
          </a:p>
        </p:txBody>
      </p:sp>
      <p:sp>
        <p:nvSpPr>
          <p:cNvPr id="4" name="Slide Number Placeholder 3"/>
          <p:cNvSpPr>
            <a:spLocks noGrp="1"/>
          </p:cNvSpPr>
          <p:nvPr>
            <p:ph type="sldNum" idx="5" sz="quarter"/>
          </p:nvPr>
        </p:nvSpPr>
        <p:spPr/>
      </p:sp>
    </p:spTree>
  </p:cSld>
  <p:clrMapOvr>
    <a:masterClrMapping/>
  </p:clrMapOvr>
</p:notes>
</file>

<file path=ppt/notesSlides/notesSlide2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Market Dynamics Market Dynamics &amp; Forces Five Forces Analysis</a:t>
            </a:r>
          </a:p>
        </p:txBody>
      </p:sp>
      <p:sp>
        <p:nvSpPr>
          <p:cNvPr id="4" name="Slide Number Placeholder 3"/>
          <p:cNvSpPr>
            <a:spLocks noGrp="1"/>
          </p:cNvSpPr>
          <p:nvPr>
            <p:ph type="sldNum" idx="5" sz="quarter"/>
          </p:nvPr>
        </p:nvSpPr>
        <p:spPr/>
      </p:sp>
    </p:spTree>
  </p:cSld>
  <p:clrMapOvr>
    <a:masterClrMapping/>
  </p:clrMapOvr>
</p:notes>
</file>

<file path=ppt/notesSlides/notesSlide2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Competition Assessment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2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Competitive Landscape Competitive Landscape at a Glance</a:t>
            </a:r>
          </a:p>
        </p:txBody>
      </p:sp>
      <p:sp>
        <p:nvSpPr>
          <p:cNvPr id="4" name="Slide Number Placeholder 3"/>
          <p:cNvSpPr>
            <a:spLocks noGrp="1"/>
          </p:cNvSpPr>
          <p:nvPr>
            <p:ph type="sldNum" idx="5" sz="quarter"/>
          </p:nvPr>
        </p:nvSpPr>
        <p:spPr/>
      </p:sp>
    </p:spTree>
  </p:cSld>
  <p:clrMapOvr>
    <a:masterClrMapping/>
  </p:clrMapOvr>
</p:notes>
</file>

<file path=ppt/notesSlides/notesSlide2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Competitive Landscape Segment Leadership Map</a:t>
            </a:r>
          </a:p>
        </p:txBody>
      </p:sp>
      <p:sp>
        <p:nvSpPr>
          <p:cNvPr id="4" name="Slide Number Placeholder 3"/>
          <p:cNvSpPr>
            <a:spLocks noGrp="1"/>
          </p:cNvSpPr>
          <p:nvPr>
            <p:ph type="sldNum" idx="5" sz="quarter"/>
          </p:nvPr>
        </p:nvSpPr>
        <p:spPr/>
      </p:sp>
    </p:spTree>
  </p:cSld>
  <p:clrMapOvr>
    <a:masterClrMapping/>
  </p:clrMapOvr>
</p:notes>
</file>

<file path=ppt/notesSlides/notesSlide2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Competitive Landscape Value Chain Positioning</a:t>
            </a:r>
          </a:p>
        </p:txBody>
      </p:sp>
      <p:sp>
        <p:nvSpPr>
          <p:cNvPr id="4" name="Slide Number Placeholder 3"/>
          <p:cNvSpPr>
            <a:spLocks noGrp="1"/>
          </p:cNvSpPr>
          <p:nvPr>
            <p:ph type="sldNum" idx="5" sz="quarter"/>
          </p:nvPr>
        </p:nvSpPr>
        <p:spPr/>
      </p:sp>
    </p:spTree>
  </p:cSld>
  <p:clrMapOvr>
    <a:masterClrMapping/>
  </p:clrMapOvr>
</p:notes>
</file>

<file path=ppt/notesSlides/notesSlide2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Competitive Landscape Player Landscape</a:t>
            </a:r>
          </a:p>
        </p:txBody>
      </p:sp>
      <p:sp>
        <p:nvSpPr>
          <p:cNvPr id="4" name="Slide Number Placeholder 3"/>
          <p:cNvSpPr>
            <a:spLocks noGrp="1"/>
          </p:cNvSpPr>
          <p:nvPr>
            <p:ph type="sldNum" idx="5" sz="quarter"/>
          </p:nvPr>
        </p:nvSpPr>
        <p:spPr/>
      </p:sp>
    </p:spTree>
  </p:cSld>
  <p:clrMapOvr>
    <a:masterClrMapping/>
  </p:clrMapOvr>
</p:notes>
</file>

<file path=ppt/notesSlides/notesSlide2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Competitive Landscape Corporate Scorecard</a:t>
            </a:r>
          </a:p>
        </p:txBody>
      </p:sp>
      <p:sp>
        <p:nvSpPr>
          <p:cNvPr id="4" name="Slide Number Placeholder 3"/>
          <p:cNvSpPr>
            <a:spLocks noGrp="1"/>
          </p:cNvSpPr>
          <p:nvPr>
            <p:ph type="sldNum" idx="5" sz="quarter"/>
          </p:nvPr>
        </p:nvSpPr>
        <p:spPr/>
      </p:sp>
    </p:spTree>
  </p:cSld>
  <p:clrMapOvr>
    <a:masterClrMapping/>
  </p:clrMapOvr>
</p:notes>
</file>

<file path=ppt/notesSlides/notesSlide2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Competitive Landscape Offering Scorecard</a:t>
            </a:r>
          </a:p>
        </p:txBody>
      </p:sp>
      <p:sp>
        <p:nvSpPr>
          <p:cNvPr id="4" name="Slide Number Placeholder 3"/>
          <p:cNvSpPr>
            <a:spLocks noGrp="1"/>
          </p:cNvSpPr>
          <p:nvPr>
            <p:ph type="sldNum" idx="5" sz="quarter"/>
          </p:nvPr>
        </p:nvSpPr>
        <p:spPr/>
      </p:sp>
    </p:spTree>
  </p:cSld>
  <p:clrMapOvr>
    <a:masterClrMapping/>
  </p:clrMapOvr>
</p:notes>
</file>

<file path=ppt/notesSlides/notesSlide2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Competitive Landscape Execution Scorecard</a:t>
            </a:r>
          </a:p>
        </p:txBody>
      </p:sp>
      <p:sp>
        <p:nvSpPr>
          <p:cNvPr id="4" name="Slide Number Placeholder 3"/>
          <p:cNvSpPr>
            <a:spLocks noGrp="1"/>
          </p:cNvSpPr>
          <p:nvPr>
            <p:ph type="sldNum" idx="5" sz="quarter"/>
          </p:nvPr>
        </p:nvSpPr>
        <p:spPr/>
      </p:sp>
    </p:spTree>
  </p:cSld>
  <p:clrMapOvr>
    <a:masterClrMapping/>
  </p:clrMapOvr>
</p:notes>
</file>

<file path=ppt/notesSlides/notesSlide2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Competitive Landscape Success Factors</a:t>
            </a:r>
          </a:p>
        </p:txBody>
      </p:sp>
      <p:sp>
        <p:nvSpPr>
          <p:cNvPr id="4" name="Slide Number Placeholder 3"/>
          <p:cNvSpPr>
            <a:spLocks noGrp="1"/>
          </p:cNvSpPr>
          <p:nvPr>
            <p:ph type="sldNum" idx="5" sz="quarter"/>
          </p:nvPr>
        </p:nvSpPr>
        <p:spPr/>
      </p:sp>
    </p:spTree>
  </p:cSld>
  <p:clrMapOvr>
    <a:masterClrMapping/>
  </p:clrMapOvr>
</p:notes>
</file>

<file path=ppt/notesSlides/notesSlide2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Competitive Landscape Strategic Activity Tracker</a:t>
            </a:r>
          </a:p>
        </p:txBody>
      </p:sp>
      <p:sp>
        <p:nvSpPr>
          <p:cNvPr id="4" name="Slide Number Placeholder 3"/>
          <p:cNvSpPr>
            <a:spLocks noGrp="1"/>
          </p:cNvSpPr>
          <p:nvPr>
            <p:ph type="sldNum" idx="5" sz="quarter"/>
          </p:nvPr>
        </p:nvSpPr>
        <p:spPr/>
      </p:sp>
    </p:spTree>
  </p:cSld>
  <p:clrMapOvr>
    <a:masterClrMapping/>
  </p:clrMapOvr>
</p:notes>
</file>

<file path=ppt/notesSlides/notesSlide2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Competitive Landscape Strategic Activity by Function</a:t>
            </a:r>
          </a:p>
        </p:txBody>
      </p:sp>
      <p:sp>
        <p:nvSpPr>
          <p:cNvPr id="4" name="Slide Number Placeholder 3"/>
          <p:cNvSpPr>
            <a:spLocks noGrp="1"/>
          </p:cNvSpPr>
          <p:nvPr>
            <p:ph type="sldNum" idx="5" sz="quarter"/>
          </p:nvPr>
        </p:nvSpPr>
        <p:spPr/>
      </p:sp>
    </p:spTree>
  </p:cSld>
  <p:clrMapOvr>
    <a:masterClrMapping/>
  </p:clrMapOvr>
</p:notes>
</file>

<file path=ppt/notesSlides/notesSlide2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Competitive Landscape Industry Structure Landscape  (1/2)</a:t>
            </a:r>
          </a:p>
        </p:txBody>
      </p:sp>
      <p:sp>
        <p:nvSpPr>
          <p:cNvPr id="4" name="Slide Number Placeholder 3"/>
          <p:cNvSpPr>
            <a:spLocks noGrp="1"/>
          </p:cNvSpPr>
          <p:nvPr>
            <p:ph type="sldNum" idx="5" sz="quarter"/>
          </p:nvPr>
        </p:nvSpPr>
        <p:spPr/>
      </p:sp>
    </p:spTree>
  </p:cSld>
  <p:clrMapOvr>
    <a:masterClrMapping/>
  </p:clrMapOvr>
</p:notes>
</file>

<file path=ppt/notesSlides/notesSlide2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Competitive Landscape Industry Structure Landscape  (2/2)</a:t>
            </a:r>
          </a:p>
        </p:txBody>
      </p:sp>
      <p:sp>
        <p:nvSpPr>
          <p:cNvPr id="4" name="Slide Number Placeholder 3"/>
          <p:cNvSpPr>
            <a:spLocks noGrp="1"/>
          </p:cNvSpPr>
          <p:nvPr>
            <p:ph type="sldNum" idx="5" sz="quarter"/>
          </p:nvPr>
        </p:nvSpPr>
        <p:spPr/>
      </p:sp>
    </p:spTree>
  </p:cSld>
  <p:clrMapOvr>
    <a:masterClrMapping/>
  </p:clrMapOvr>
</p:notes>
</file>

<file path=ppt/notesSlides/notesSlide2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Competitive Landscape Competitive Dashboard</a:t>
            </a:r>
          </a:p>
        </p:txBody>
      </p:sp>
      <p:sp>
        <p:nvSpPr>
          <p:cNvPr id="4" name="Slide Number Placeholder 3"/>
          <p:cNvSpPr>
            <a:spLocks noGrp="1"/>
          </p:cNvSpPr>
          <p:nvPr>
            <p:ph type="sldNum" idx="5" sz="quarter"/>
          </p:nvPr>
        </p:nvSpPr>
        <p:spPr/>
      </p:sp>
    </p:spTree>
  </p:cSld>
  <p:clrMapOvr>
    <a:masterClrMapping/>
  </p:clrMapOvr>
</p:notes>
</file>

<file path=ppt/notesSlides/notesSlide2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Market Share by Leading Players Advice for Vendors &amp; Suppliers</a:t>
            </a:r>
          </a:p>
        </p:txBody>
      </p:sp>
      <p:sp>
        <p:nvSpPr>
          <p:cNvPr id="4" name="Slide Number Placeholder 3"/>
          <p:cNvSpPr>
            <a:spLocks noGrp="1"/>
          </p:cNvSpPr>
          <p:nvPr>
            <p:ph type="sldNum" idx="5" sz="quarter"/>
          </p:nvPr>
        </p:nvSpPr>
        <p:spPr/>
      </p:sp>
    </p:spTree>
  </p:cSld>
  <p:clrMapOvr>
    <a:masterClrMapping/>
  </p:clrMapOvr>
</p:notes>
</file>

<file path=ppt/notesSlides/notesSlide2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Market Share by Leading Players Company Value Share</a:t>
            </a:r>
          </a:p>
        </p:txBody>
      </p:sp>
      <p:sp>
        <p:nvSpPr>
          <p:cNvPr id="4" name="Slide Number Placeholder 3"/>
          <p:cNvSpPr>
            <a:spLocks noGrp="1"/>
          </p:cNvSpPr>
          <p:nvPr>
            <p:ph type="sldNum" idx="5" sz="quarter"/>
          </p:nvPr>
        </p:nvSpPr>
        <p:spPr/>
      </p:sp>
    </p:spTree>
  </p:cSld>
  <p:clrMapOvr>
    <a:masterClrMapping/>
  </p:clrMapOvr>
</p:notes>
</file>

<file path=ppt/notesSlides/notesSlide2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Market Share by Leading Players Company Share by Product Type</a:t>
            </a:r>
          </a:p>
        </p:txBody>
      </p:sp>
      <p:sp>
        <p:nvSpPr>
          <p:cNvPr id="4" name="Slide Number Placeholder 3"/>
          <p:cNvSpPr>
            <a:spLocks noGrp="1"/>
          </p:cNvSpPr>
          <p:nvPr>
            <p:ph type="sldNum" idx="5" sz="quarter"/>
          </p:nvPr>
        </p:nvSpPr>
        <p:spPr/>
      </p:sp>
    </p:spTree>
  </p:cSld>
  <p:clrMapOvr>
    <a:masterClrMapping/>
  </p:clrMapOvr>
</p:notes>
</file>

<file path=ppt/notesSlides/notesSlide2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Market Share by Leading Players Company Share by Region</a:t>
            </a:r>
          </a:p>
        </p:txBody>
      </p:sp>
      <p:sp>
        <p:nvSpPr>
          <p:cNvPr id="4" name="Slide Number Placeholder 3"/>
          <p:cNvSpPr>
            <a:spLocks noGrp="1"/>
          </p:cNvSpPr>
          <p:nvPr>
            <p:ph type="sldNum" idx="5" sz="quarter"/>
          </p:nvPr>
        </p:nvSpPr>
        <p:spPr/>
      </p:sp>
    </p:spTree>
  </p:cSld>
  <p:clrMapOvr>
    <a:masterClrMapping/>
  </p:clrMapOvr>
</p:notes>
</file>

<file path=ppt/notesSlides/notesSlide2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Market Share by Leading Players Who Shaped Growth</a:t>
            </a:r>
          </a:p>
        </p:txBody>
      </p:sp>
      <p:sp>
        <p:nvSpPr>
          <p:cNvPr id="4" name="Slide Number Placeholder 3"/>
          <p:cNvSpPr>
            <a:spLocks noGrp="1"/>
          </p:cNvSpPr>
          <p:nvPr>
            <p:ph type="sldNum" idx="5" sz="quarter"/>
          </p:nvPr>
        </p:nvSpPr>
        <p:spPr/>
      </p:sp>
    </p:spTree>
  </p:cSld>
  <p:clrMapOvr>
    <a:masterClrMapping/>
  </p:clrMapOvr>
</p:notes>
</file>

<file path=ppt/notesSlides/notesSlide2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Dentsply Sirona Inc. Snapshot</a:t>
            </a:r>
          </a:p>
        </p:txBody>
      </p:sp>
      <p:sp>
        <p:nvSpPr>
          <p:cNvPr id="4" name="Slide Number Placeholder 3"/>
          <p:cNvSpPr>
            <a:spLocks noGrp="1"/>
          </p:cNvSpPr>
          <p:nvPr>
            <p:ph type="sldNum" idx="5" sz="quarter"/>
          </p:nvPr>
        </p:nvSpPr>
        <p:spPr/>
      </p:sp>
    </p:spTree>
  </p:cSld>
  <p:clrMapOvr>
    <a:masterClrMapping/>
  </p:clrMapOvr>
</p:notes>
</file>

<file path=ppt/notesSlides/notesSlide2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Dentsply Sirona Inc. Penetration &amp; Win</a:t>
            </a:r>
          </a:p>
        </p:txBody>
      </p:sp>
      <p:sp>
        <p:nvSpPr>
          <p:cNvPr id="4" name="Slide Number Placeholder 3"/>
          <p:cNvSpPr>
            <a:spLocks noGrp="1"/>
          </p:cNvSpPr>
          <p:nvPr>
            <p:ph type="sldNum" idx="5" sz="quarter"/>
          </p:nvPr>
        </p:nvSpPr>
        <p:spPr/>
      </p:sp>
    </p:spTree>
  </p:cSld>
  <p:clrMapOvr>
    <a:masterClrMapping/>
  </p:clrMapOvr>
</p:notes>
</file>

<file path=ppt/notesSlides/notesSlide2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Dentsply Sirona Inc. SWOT Analysis</a:t>
            </a:r>
          </a:p>
        </p:txBody>
      </p:sp>
      <p:sp>
        <p:nvSpPr>
          <p:cNvPr id="4" name="Slide Number Placeholder 3"/>
          <p:cNvSpPr>
            <a:spLocks noGrp="1"/>
          </p:cNvSpPr>
          <p:nvPr>
            <p:ph type="sldNum" idx="5" sz="quarter"/>
          </p:nvPr>
        </p:nvSpPr>
        <p:spPr/>
      </p:sp>
    </p:spTree>
  </p:cSld>
  <p:clrMapOvr>
    <a:masterClrMapping/>
  </p:clrMapOvr>
</p:notes>
</file>

<file path=ppt/notesSlides/notesSlide2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Dentsply Sirona Inc. Key Financials</a:t>
            </a:r>
          </a:p>
        </p:txBody>
      </p:sp>
      <p:sp>
        <p:nvSpPr>
          <p:cNvPr id="4" name="Slide Number Placeholder 3"/>
          <p:cNvSpPr>
            <a:spLocks noGrp="1"/>
          </p:cNvSpPr>
          <p:nvPr>
            <p:ph type="sldNum" idx="5" sz="quarter"/>
          </p:nvPr>
        </p:nvSpPr>
        <p:spPr/>
      </p:sp>
    </p:spTree>
  </p:cSld>
  <p:clrMapOvr>
    <a:masterClrMapping/>
  </p:clrMapOvr>
</p:notes>
</file>

<file path=ppt/notesSlides/notesSlide2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Dentsply Sirona Inc. Strategy Analysis</a:t>
            </a:r>
          </a:p>
        </p:txBody>
      </p:sp>
      <p:sp>
        <p:nvSpPr>
          <p:cNvPr id="4" name="Slide Number Placeholder 3"/>
          <p:cNvSpPr>
            <a:spLocks noGrp="1"/>
          </p:cNvSpPr>
          <p:nvPr>
            <p:ph type="sldNum" idx="5" sz="quarter"/>
          </p:nvPr>
        </p:nvSpPr>
        <p:spPr/>
      </p:sp>
    </p:spTree>
  </p:cSld>
  <p:clrMapOvr>
    <a:masterClrMapping/>
  </p:clrMapOvr>
</p:notes>
</file>

<file path=ppt/notesSlides/notesSlide2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Ivoclar Vivadent AG Snapshot</a:t>
            </a:r>
          </a:p>
        </p:txBody>
      </p:sp>
      <p:sp>
        <p:nvSpPr>
          <p:cNvPr id="4" name="Slide Number Placeholder 3"/>
          <p:cNvSpPr>
            <a:spLocks noGrp="1"/>
          </p:cNvSpPr>
          <p:nvPr>
            <p:ph type="sldNum" idx="5" sz="quarter"/>
          </p:nvPr>
        </p:nvSpPr>
        <p:spPr/>
      </p:sp>
    </p:spTree>
  </p:cSld>
  <p:clrMapOvr>
    <a:masterClrMapping/>
  </p:clrMapOvr>
</p:notes>
</file>

<file path=ppt/notesSlides/notesSlide2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Ivoclar Vivadent AG Penetration &amp; Win</a:t>
            </a:r>
          </a:p>
        </p:txBody>
      </p:sp>
      <p:sp>
        <p:nvSpPr>
          <p:cNvPr id="4" name="Slide Number Placeholder 3"/>
          <p:cNvSpPr>
            <a:spLocks noGrp="1"/>
          </p:cNvSpPr>
          <p:nvPr>
            <p:ph type="sldNum" idx="5" sz="quarter"/>
          </p:nvPr>
        </p:nvSpPr>
        <p:spPr/>
      </p:sp>
    </p:spTree>
  </p:cSld>
  <p:clrMapOvr>
    <a:masterClrMapping/>
  </p:clrMapOvr>
</p:notes>
</file>

<file path=ppt/notesSlides/notesSlide2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Ivoclar Vivadent AG SWOT Analysis</a:t>
            </a:r>
          </a:p>
        </p:txBody>
      </p:sp>
      <p:sp>
        <p:nvSpPr>
          <p:cNvPr id="4" name="Slide Number Placeholder 3"/>
          <p:cNvSpPr>
            <a:spLocks noGrp="1"/>
          </p:cNvSpPr>
          <p:nvPr>
            <p:ph type="sldNum" idx="5" sz="quarter"/>
          </p:nvPr>
        </p:nvSpPr>
        <p:spPr/>
      </p:sp>
    </p:spTree>
  </p:cSld>
  <p:clrMapOvr>
    <a:masterClrMapping/>
  </p:clrMapOvr>
</p:notes>
</file>

<file path=ppt/notesSlides/notesSlide2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Ivoclar Vivadent AG Key Financials</a:t>
            </a:r>
          </a:p>
        </p:txBody>
      </p:sp>
      <p:sp>
        <p:nvSpPr>
          <p:cNvPr id="4" name="Slide Number Placeholder 3"/>
          <p:cNvSpPr>
            <a:spLocks noGrp="1"/>
          </p:cNvSpPr>
          <p:nvPr>
            <p:ph type="sldNum" idx="5" sz="quarter"/>
          </p:nvPr>
        </p:nvSpPr>
        <p:spPr/>
      </p:sp>
    </p:spTree>
  </p:cSld>
  <p:clrMapOvr>
    <a:masterClrMapping/>
  </p:clrMapOvr>
</p:notes>
</file>

<file path=ppt/notesSlides/notesSlide2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Ivoclar Vivadent AG Strategy Analysis</a:t>
            </a:r>
          </a:p>
        </p:txBody>
      </p:sp>
      <p:sp>
        <p:nvSpPr>
          <p:cNvPr id="4" name="Slide Number Placeholder 3"/>
          <p:cNvSpPr>
            <a:spLocks noGrp="1"/>
          </p:cNvSpPr>
          <p:nvPr>
            <p:ph type="sldNum" idx="5" sz="quarter"/>
          </p:nvPr>
        </p:nvSpPr>
        <p:spPr/>
      </p:sp>
    </p:spTree>
  </p:cSld>
  <p:clrMapOvr>
    <a:masterClrMapping/>
  </p:clrMapOvr>
</p:notes>
</file>

<file path=ppt/notesSlides/notesSlide2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Kulzer GmbH Snapshot</a:t>
            </a:r>
          </a:p>
        </p:txBody>
      </p:sp>
      <p:sp>
        <p:nvSpPr>
          <p:cNvPr id="4" name="Slide Number Placeholder 3"/>
          <p:cNvSpPr>
            <a:spLocks noGrp="1"/>
          </p:cNvSpPr>
          <p:nvPr>
            <p:ph type="sldNum" idx="5" sz="quarter"/>
          </p:nvPr>
        </p:nvSpPr>
        <p:spPr/>
      </p:sp>
    </p:spTree>
  </p:cSld>
  <p:clrMapOvr>
    <a:masterClrMapping/>
  </p:clrMapOvr>
</p:notes>
</file>

<file path=ppt/notesSlides/notesSlide2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Kulzer GmbH Penetration &amp; Win</a:t>
            </a:r>
          </a:p>
        </p:txBody>
      </p:sp>
      <p:sp>
        <p:nvSpPr>
          <p:cNvPr id="4" name="Slide Number Placeholder 3"/>
          <p:cNvSpPr>
            <a:spLocks noGrp="1"/>
          </p:cNvSpPr>
          <p:nvPr>
            <p:ph type="sldNum" idx="5" sz="quarter"/>
          </p:nvPr>
        </p:nvSpPr>
        <p:spPr/>
      </p:sp>
    </p:spTree>
  </p:cSld>
  <p:clrMapOvr>
    <a:masterClrMapping/>
  </p:clrMapOvr>
</p:notes>
</file>

<file path=ppt/notesSlides/notesSlide2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Kulzer GmbH SWOT Analysis</a:t>
            </a:r>
          </a:p>
        </p:txBody>
      </p:sp>
      <p:sp>
        <p:nvSpPr>
          <p:cNvPr id="4" name="Slide Number Placeholder 3"/>
          <p:cNvSpPr>
            <a:spLocks noGrp="1"/>
          </p:cNvSpPr>
          <p:nvPr>
            <p:ph type="sldNum" idx="5" sz="quarter"/>
          </p:nvPr>
        </p:nvSpPr>
        <p:spPr/>
      </p:sp>
    </p:spTree>
  </p:cSld>
  <p:clrMapOvr>
    <a:masterClrMapping/>
  </p:clrMapOvr>
</p:notes>
</file>

<file path=ppt/notesSlides/notesSlide2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Kulzer GmbH Key Financials</a:t>
            </a:r>
          </a:p>
        </p:txBody>
      </p:sp>
      <p:sp>
        <p:nvSpPr>
          <p:cNvPr id="4" name="Slide Number Placeholder 3"/>
          <p:cNvSpPr>
            <a:spLocks noGrp="1"/>
          </p:cNvSpPr>
          <p:nvPr>
            <p:ph type="sldNum" idx="5" sz="quarter"/>
          </p:nvPr>
        </p:nvSpPr>
        <p:spPr/>
      </p:sp>
    </p:spTree>
  </p:cSld>
  <p:clrMapOvr>
    <a:masterClrMapping/>
  </p:clrMapOvr>
</p:notes>
</file>

<file path=ppt/notesSlides/notesSlide2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Competitor Company Profiles &amp; Strategic Benchmarking Kulzer GmbH Strategy Analysis</a:t>
            </a:r>
          </a:p>
        </p:txBody>
      </p:sp>
      <p:sp>
        <p:nvSpPr>
          <p:cNvPr id="4" name="Slide Number Placeholder 3"/>
          <p:cNvSpPr>
            <a:spLocks noGrp="1"/>
          </p:cNvSpPr>
          <p:nvPr>
            <p:ph type="sldNum" idx="5" sz="quarter"/>
          </p:nvPr>
        </p:nvSpPr>
        <p:spPr/>
      </p:sp>
    </p:spTree>
  </p:cSld>
  <p:clrMapOvr>
    <a:masterClrMapping/>
  </p:clrMapOvr>
</p:notes>
</file>

<file path=ppt/notesSlides/notesSlide2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Table of Contents  (1/6)</a:t>
            </a:r>
          </a:p>
        </p:txBody>
      </p:sp>
      <p:sp>
        <p:nvSpPr>
          <p:cNvPr id="4" name="Slide Number Placeholder 3"/>
          <p:cNvSpPr>
            <a:spLocks noGrp="1"/>
          </p:cNvSpPr>
          <p:nvPr>
            <p:ph type="sldNum" idx="5" sz="quarter"/>
          </p:nvPr>
        </p:nvSpPr>
        <p:spPr/>
      </p:sp>
    </p:spTree>
  </p:cSld>
  <p:clrMapOvr>
    <a:masterClrMapping/>
  </p:clrMapOvr>
</p:notes>
</file>

<file path=ppt/notesSlides/notesSlide2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Table of Contents  (2/6)</a:t>
            </a:r>
          </a:p>
        </p:txBody>
      </p:sp>
      <p:sp>
        <p:nvSpPr>
          <p:cNvPr id="4" name="Slide Number Placeholder 3"/>
          <p:cNvSpPr>
            <a:spLocks noGrp="1"/>
          </p:cNvSpPr>
          <p:nvPr>
            <p:ph type="sldNum" idx="5" sz="quarter"/>
          </p:nvPr>
        </p:nvSpPr>
        <p:spPr/>
      </p:sp>
    </p:spTree>
  </p:cSld>
  <p:clrMapOvr>
    <a:masterClrMapping/>
  </p:clrMapOvr>
</p:notes>
</file>

<file path=ppt/notesSlides/notesSlide2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Table of Contents  (3/6)</a:t>
            </a:r>
          </a:p>
        </p:txBody>
      </p:sp>
      <p:sp>
        <p:nvSpPr>
          <p:cNvPr id="4" name="Slide Number Placeholder 3"/>
          <p:cNvSpPr>
            <a:spLocks noGrp="1"/>
          </p:cNvSpPr>
          <p:nvPr>
            <p:ph type="sldNum" idx="5" sz="quarter"/>
          </p:nvPr>
        </p:nvSpPr>
        <p:spPr/>
      </p:sp>
    </p:spTree>
  </p:cSld>
  <p:clrMapOvr>
    <a:masterClrMapping/>
  </p:clrMapOvr>
</p:notes>
</file>

<file path=ppt/notesSlides/notesSlide2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Table of Contents  (4/6)</a:t>
            </a:r>
          </a:p>
        </p:txBody>
      </p:sp>
      <p:sp>
        <p:nvSpPr>
          <p:cNvPr id="4" name="Slide Number Placeholder 3"/>
          <p:cNvSpPr>
            <a:spLocks noGrp="1"/>
          </p:cNvSpPr>
          <p:nvPr>
            <p:ph type="sldNum" idx="5" sz="quarter"/>
          </p:nvPr>
        </p:nvSpPr>
        <p:spPr/>
      </p:sp>
    </p:spTree>
  </p:cSld>
  <p:clrMapOvr>
    <a:masterClrMapping/>
  </p:clrMapOvr>
</p:notes>
</file>

<file path=ppt/notesSlides/notesSlide2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Table of Contents  (5/6)</a:t>
            </a:r>
          </a:p>
        </p:txBody>
      </p:sp>
      <p:sp>
        <p:nvSpPr>
          <p:cNvPr id="4" name="Slide Number Placeholder 3"/>
          <p:cNvSpPr>
            <a:spLocks noGrp="1"/>
          </p:cNvSpPr>
          <p:nvPr>
            <p:ph type="sldNum" idx="5" sz="quarter"/>
          </p:nvPr>
        </p:nvSpPr>
        <p:spPr/>
      </p:sp>
    </p:spTree>
  </p:cSld>
  <p:clrMapOvr>
    <a:masterClrMapping/>
  </p:clrMapOvr>
</p:notes>
</file>

<file path=ppt/notesSlides/notesSlide2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Table of Contents  (6/6)</a:t>
            </a:r>
          </a:p>
        </p:txBody>
      </p:sp>
      <p:sp>
        <p:nvSpPr>
          <p:cNvPr id="4" name="Slide Number Placeholder 3"/>
          <p:cNvSpPr>
            <a:spLocks noGrp="1"/>
          </p:cNvSpPr>
          <p:nvPr>
            <p:ph type="sldNum" idx="5" sz="quarter"/>
          </p:nvPr>
        </p:nvSpPr>
        <p:spPr/>
      </p:sp>
    </p:spTree>
  </p:cSld>
  <p:clrMapOvr>
    <a:masterClrMapping/>
  </p:clrMapOvr>
</p:notes>
</file>

<file path=ppt/notesSlides/notesSlide2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List of Figures  (1/4)</a:t>
            </a:r>
          </a:p>
        </p:txBody>
      </p:sp>
      <p:sp>
        <p:nvSpPr>
          <p:cNvPr id="4" name="Slide Number Placeholder 3"/>
          <p:cNvSpPr>
            <a:spLocks noGrp="1"/>
          </p:cNvSpPr>
          <p:nvPr>
            <p:ph type="sldNum" idx="5" sz="quarter"/>
          </p:nvPr>
        </p:nvSpPr>
        <p:spPr/>
      </p:sp>
    </p:spTree>
  </p:cSld>
  <p:clrMapOvr>
    <a:masterClrMapping/>
  </p:clrMapOvr>
</p:notes>
</file>

<file path=ppt/notesSlides/notesSlide2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List of Figures  (2/4)</a:t>
            </a:r>
          </a:p>
        </p:txBody>
      </p:sp>
      <p:sp>
        <p:nvSpPr>
          <p:cNvPr id="4" name="Slide Number Placeholder 3"/>
          <p:cNvSpPr>
            <a:spLocks noGrp="1"/>
          </p:cNvSpPr>
          <p:nvPr>
            <p:ph type="sldNum" idx="5" sz="quarter"/>
          </p:nvPr>
        </p:nvSpPr>
        <p:spPr/>
      </p:sp>
    </p:spTree>
  </p:cSld>
  <p:clrMapOvr>
    <a:masterClrMapping/>
  </p:clrMapOvr>
</p:notes>
</file>

<file path=ppt/notesSlides/notesSlide2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List of Figures  (3/4)</a:t>
            </a:r>
          </a:p>
        </p:txBody>
      </p:sp>
      <p:sp>
        <p:nvSpPr>
          <p:cNvPr id="4" name="Slide Number Placeholder 3"/>
          <p:cNvSpPr>
            <a:spLocks noGrp="1"/>
          </p:cNvSpPr>
          <p:nvPr>
            <p:ph type="sldNum" idx="5" sz="quarter"/>
          </p:nvPr>
        </p:nvSpPr>
        <p:spPr/>
      </p:sp>
    </p:spTree>
  </p:cSld>
  <p:clrMapOvr>
    <a:masterClrMapping/>
  </p:clrMapOvr>
</p:notes>
</file>

<file path=ppt/notesSlides/notesSlide2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List of Figures  (4/4)</a:t>
            </a:r>
          </a:p>
        </p:txBody>
      </p:sp>
      <p:sp>
        <p:nvSpPr>
          <p:cNvPr id="4" name="Slide Number Placeholder 3"/>
          <p:cNvSpPr>
            <a:spLocks noGrp="1"/>
          </p:cNvSpPr>
          <p:nvPr>
            <p:ph type="sldNum" idx="5" sz="quarter"/>
          </p:nvPr>
        </p:nvSpPr>
        <p:spPr/>
      </p:sp>
    </p:spTree>
  </p:cSld>
  <p:clrMapOvr>
    <a:masterClrMapping/>
  </p:clrMapOvr>
</p:notes>
</file>

<file path=ppt/notesSlides/notesSlide2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List of Tables  (1/4)</a:t>
            </a:r>
          </a:p>
        </p:txBody>
      </p:sp>
      <p:sp>
        <p:nvSpPr>
          <p:cNvPr id="4" name="Slide Number Placeholder 3"/>
          <p:cNvSpPr>
            <a:spLocks noGrp="1"/>
          </p:cNvSpPr>
          <p:nvPr>
            <p:ph type="sldNum" idx="5" sz="quarter"/>
          </p:nvPr>
        </p:nvSpPr>
        <p:spPr/>
      </p:sp>
    </p:spTree>
  </p:cSld>
  <p:clrMapOvr>
    <a:masterClrMapping/>
  </p:clrMapOvr>
</p:notes>
</file>

<file path=ppt/notesSlides/notesSlide2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List of Tables  (2/4)</a:t>
            </a:r>
          </a:p>
        </p:txBody>
      </p:sp>
      <p:sp>
        <p:nvSpPr>
          <p:cNvPr id="4" name="Slide Number Placeholder 3"/>
          <p:cNvSpPr>
            <a:spLocks noGrp="1"/>
          </p:cNvSpPr>
          <p:nvPr>
            <p:ph type="sldNum" idx="5" sz="quarter"/>
          </p:nvPr>
        </p:nvSpPr>
        <p:spPr/>
      </p:sp>
    </p:spTree>
  </p:cSld>
  <p:clrMapOvr>
    <a:masterClrMapping/>
  </p:clrMapOvr>
</p:notes>
</file>

<file path=ppt/notesSlides/notesSlide2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List of Tables  (3/4)</a:t>
            </a:r>
          </a:p>
        </p:txBody>
      </p:sp>
      <p:sp>
        <p:nvSpPr>
          <p:cNvPr id="4" name="Slide Number Placeholder 3"/>
          <p:cNvSpPr>
            <a:spLocks noGrp="1"/>
          </p:cNvSpPr>
          <p:nvPr>
            <p:ph type="sldNum" idx="5" sz="quarter"/>
          </p:nvPr>
        </p:nvSpPr>
        <p:spPr/>
      </p:sp>
    </p:spTree>
  </p:cSld>
  <p:clrMapOvr>
    <a:masterClrMapping/>
  </p:clrMapOvr>
</p:notes>
</file>

<file path=ppt/notesSlides/notesSlide2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Removable Partial Dentures Market List of Tables  (4/4)</a:t>
            </a:r>
          </a:p>
        </p:txBody>
      </p:sp>
      <p:sp>
        <p:nvSpPr>
          <p:cNvPr id="4" name="Slide Number Placeholder 3"/>
          <p:cNvSpPr>
            <a:spLocks noGrp="1"/>
          </p:cNvSpPr>
          <p:nvPr>
            <p:ph type="sldNum" idx="5" sz="quarter"/>
          </p:nvPr>
        </p:nvSpPr>
        <p:spPr/>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16807558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61431425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96064837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78224494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5BCAD085-E8A6-8845-BD4E-CB4CCA059FC4}" type="datetimeFigureOut">
              <a:rPr lang="en-US" smtClean="0"/>
              <a:t>1/27/13</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99015873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5BCAD085-E8A6-8845-BD4E-CB4CCA059FC4}" type="datetimeFigureOut">
              <a:rPr lang="en-US" smtClean="0"/>
              <a:t>1/27/13</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72702771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5BCAD085-E8A6-8845-BD4E-CB4CCA059FC4}" type="datetimeFigureOut">
              <a:rPr lang="en-US" smtClean="0"/>
              <a:t>1/27/13</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21299981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84072656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88923693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91092796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612223792"/>
      </p:ext>
    </p:extLst>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BCAD085-E8A6-8845-BD4E-CB4CCA059FC4}" type="datetimeFigureOut">
              <a:rPr lang="en-US" smtClean="0"/>
              <a:t>1/27/13</a:t>
            </a:fld>
            <a:endParaRPr lang="en-US"/>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1FF6DA9-008F-8B48-92A6-B652298478BF}" type="slidenum">
              <a:rPr lang="en-US" smtClean="0"/>
              <a:t>‹#›</a:t>
            </a:fld>
            <a:endParaRPr lang="en-US"/>
          </a:p>
        </p:txBody>
      </p:sp>
    </p:spTree>
    <p:extLst>
      <p:ext uri="{BB962C8B-B14F-4D97-AF65-F5344CB8AC3E}">
        <p14:creationId xmlns:p14="http://schemas.microsoft.com/office/powerpoint/2010/main" val="2209977519"/>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slide" Target="slide3.xml"/><Relationship Id="rId4" Type="http://schemas.openxmlformats.org/officeDocument/2006/relationships/slide" Target="slide5.xml"/><Relationship Id="rId5" Type="http://schemas.openxmlformats.org/officeDocument/2006/relationships/slide" Target="slide6.xml"/><Relationship Id="rId6" Type="http://schemas.openxmlformats.org/officeDocument/2006/relationships/slide" Target="slide10.xml"/><Relationship Id="rId7" Type="http://schemas.openxmlformats.org/officeDocument/2006/relationships/slide" Target="slide17.xml"/><Relationship Id="rId8" Type="http://schemas.openxmlformats.org/officeDocument/2006/relationships/slide" Target="slide26.xml"/><Relationship Id="rId9" Type="http://schemas.openxmlformats.org/officeDocument/2006/relationships/slide" Target="slide27.xml"/><Relationship Id="rId10" Type="http://schemas.openxmlformats.org/officeDocument/2006/relationships/slide" Target="slide38.xml"/><Relationship Id="rId11" Type="http://schemas.openxmlformats.org/officeDocument/2006/relationships/slide" Target="slide46.xml"/><Relationship Id="rId12" Type="http://schemas.openxmlformats.org/officeDocument/2006/relationships/slide" Target="slide104.xml"/><Relationship Id="rId13" Type="http://schemas.openxmlformats.org/officeDocument/2006/relationships/slide" Target="slide113.xml"/><Relationship Id="rId14" Type="http://schemas.openxmlformats.org/officeDocument/2006/relationships/slide" Target="slide114.xml"/><Relationship Id="rId15" Type="http://schemas.openxmlformats.org/officeDocument/2006/relationships/slide" Target="slide124.xml"/><Relationship Id="rId16" Type="http://schemas.openxmlformats.org/officeDocument/2006/relationships/slide" Target="slide132.xml"/><Relationship Id="rId17" Type="http://schemas.openxmlformats.org/officeDocument/2006/relationships/slide" Target="slide190.xml"/><Relationship Id="rId18" Type="http://schemas.openxmlformats.org/officeDocument/2006/relationships/slide" Target="slide199.xml"/><Relationship Id="rId19" Type="http://schemas.openxmlformats.org/officeDocument/2006/relationships/slide" Target="slide200.xml"/><Relationship Id="rId20" Type="http://schemas.openxmlformats.org/officeDocument/2006/relationships/slide" Target="slide204.xml"/><Relationship Id="rId21" Type="http://schemas.openxmlformats.org/officeDocument/2006/relationships/slide" Target="slide232.xml"/><Relationship Id="rId22" Type="http://schemas.openxmlformats.org/officeDocument/2006/relationships/slide" Target="slide241.xml"/><Relationship Id="rId23" Type="http://schemas.openxmlformats.org/officeDocument/2006/relationships/slide" Target="slide242.xml"/><Relationship Id="rId24" Type="http://schemas.openxmlformats.org/officeDocument/2006/relationships/slide" Target="slide255.xml"/><Relationship Id="rId25" Type="http://schemas.openxmlformats.org/officeDocument/2006/relationships/slide" Target="slide259.xml"/><Relationship Id="rId26" Type="http://schemas.openxmlformats.org/officeDocument/2006/relationships/slide" Target="slide260.xml"/><Relationship Id="rId27" Type="http://schemas.openxmlformats.org/officeDocument/2006/relationships/slide" Target="slide268.xml"/><Relationship Id="rId28" Type="http://schemas.openxmlformats.org/officeDocument/2006/relationships/slide" Target="slide269.xml"/><Relationship Id="rId29" Type="http://schemas.openxmlformats.org/officeDocument/2006/relationships/slide" Target="slide283.xml"/><Relationship Id="rId30" Type="http://schemas.openxmlformats.org/officeDocument/2006/relationships/slide" Target="slide28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xml"/><Relationship Id="rId4" Type="http://schemas.openxmlformats.org/officeDocument/2006/relationships/image" Target="../media/image2.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4.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5.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6.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7.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8.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9.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0.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1.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2.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3.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4.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5.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6.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7.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xml"/><Relationship Id="rId4" Type="http://schemas.openxmlformats.org/officeDocument/2006/relationships/chart" Target="../charts/chart2.xml"/><Relationship Id="rId5" Type="http://schemas.openxmlformats.org/officeDocument/2006/relationships/notesSlide" Target="../notesSlides/notesSlide7.xml"/><Relationship Id="rId6" Type="http://schemas.openxmlformats.org/officeDocument/2006/relationships/image" Target="../media/image2.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xml"/><Relationship Id="rId4" Type="http://schemas.openxmlformats.org/officeDocument/2006/relationships/image" Target="../media/image2.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xml"/><Relationship Id="rId4" Type="http://schemas.openxmlformats.org/officeDocument/2006/relationships/chart" Target="../charts/chart4.xml"/><Relationship Id="rId5" Type="http://schemas.openxmlformats.org/officeDocument/2006/relationships/notesSlide" Target="../notesSlides/notesSlide9.xml"/><Relationship Id="rId6" Type="http://schemas.openxmlformats.org/officeDocument/2006/relationships/image" Target="../media/image2.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xml"/><Relationship Id="rId4" Type="http://schemas.openxmlformats.org/officeDocument/2006/relationships/chart" Target="../charts/chart6.xml"/><Relationship Id="rId5" Type="http://schemas.openxmlformats.org/officeDocument/2006/relationships/notesSlide" Target="../notesSlides/notesSlide10.xml"/><Relationship Id="rId6" Type="http://schemas.openxmlformats.org/officeDocument/2006/relationships/image" Target="../media/image2.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xml"/><Relationship Id="rId4" Type="http://schemas.openxmlformats.org/officeDocument/2006/relationships/chart" Target="../charts/chart8.xml"/><Relationship Id="rId5" Type="http://schemas.openxmlformats.org/officeDocument/2006/relationships/notesSlide" Target="../notesSlides/notesSlide11.xml"/><Relationship Id="rId6" Type="http://schemas.openxmlformats.org/officeDocument/2006/relationships/image" Target="../media/image2.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xml"/><Relationship Id="rId4" Type="http://schemas.openxmlformats.org/officeDocument/2006/relationships/image" Target="../media/image2.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xml"/><Relationship Id="rId4" Type="http://schemas.openxmlformats.org/officeDocument/2006/relationships/image" Target="../media/image2.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xml"/><Relationship Id="rId4" Type="http://schemas.openxmlformats.org/officeDocument/2006/relationships/notesSlide" Target="../notesSlides/notesSlide14.xml"/><Relationship Id="rId5" Type="http://schemas.openxmlformats.org/officeDocument/2006/relationships/image" Target="../media/image2.pn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xml"/><Relationship Id="rId4" Type="http://schemas.openxmlformats.org/officeDocument/2006/relationships/image" Target="../media/image2.pn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xml"/><Relationship Id="rId4" Type="http://schemas.openxmlformats.org/officeDocument/2006/relationships/notesSlide" Target="../notesSlides/notesSlide16.xml"/><Relationship Id="rId5" Type="http://schemas.openxmlformats.org/officeDocument/2006/relationships/image" Target="../media/image2.pn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xml"/><Relationship Id="rId4" Type="http://schemas.openxmlformats.org/officeDocument/2006/relationships/image" Target="../media/image61.png"/><Relationship Id="rId5" Type="http://schemas.openxmlformats.org/officeDocument/2006/relationships/image" Target="../media/image62.png"/><Relationship Id="rId6" Type="http://schemas.openxmlformats.org/officeDocument/2006/relationships/image" Target="../media/image63.png"/><Relationship Id="rId7" Type="http://schemas.openxmlformats.org/officeDocument/2006/relationships/image" Target="../media/image64.png"/><Relationship Id="rId8" Type="http://schemas.openxmlformats.org/officeDocument/2006/relationships/image" Target="../media/image65.png"/><Relationship Id="rId9" Type="http://schemas.openxmlformats.org/officeDocument/2006/relationships/image" Target="../media/image66.png"/><Relationship Id="rId10" Type="http://schemas.openxmlformats.org/officeDocument/2006/relationships/image" Target="../media/image67.png"/><Relationship Id="rId11" Type="http://schemas.openxmlformats.org/officeDocument/2006/relationships/image" Target="../media/image68.png"/><Relationship Id="rId12" Type="http://schemas.openxmlformats.org/officeDocument/2006/relationships/image" Target="../media/image69.png"/><Relationship Id="rId13" Type="http://schemas.openxmlformats.org/officeDocument/2006/relationships/image" Target="../media/image70.png"/><Relationship Id="rId14" Type="http://schemas.openxmlformats.org/officeDocument/2006/relationships/image" Target="../media/image71.png"/><Relationship Id="rId15" Type="http://schemas.openxmlformats.org/officeDocument/2006/relationships/image" Target="../media/image72.png"/><Relationship Id="rId16" Type="http://schemas.openxmlformats.org/officeDocument/2006/relationships/image" Target="../media/image73.png"/><Relationship Id="rId17" Type="http://schemas.openxmlformats.org/officeDocument/2006/relationships/image" Target="../media/image74.png"/><Relationship Id="rId18" Type="http://schemas.openxmlformats.org/officeDocument/2006/relationships/image" Target="../media/image75.png"/><Relationship Id="rId19" Type="http://schemas.openxmlformats.org/officeDocument/2006/relationships/image" Target="../media/image76.png"/><Relationship Id="rId20" Type="http://schemas.openxmlformats.org/officeDocument/2006/relationships/image" Target="../media/image77.png"/><Relationship Id="rId21" Type="http://schemas.openxmlformats.org/officeDocument/2006/relationships/image" Target="../media/image78.png"/><Relationship Id="rId22" Type="http://schemas.openxmlformats.org/officeDocument/2006/relationships/image" Target="../media/image2.pn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xml"/><Relationship Id="rId4" Type="http://schemas.openxmlformats.org/officeDocument/2006/relationships/notesSlide" Target="../notesSlides/notesSlide18.xml"/><Relationship Id="rId5" Type="http://schemas.openxmlformats.org/officeDocument/2006/relationships/image" Target="../media/image2.png"/><Relationship Id="rId6" Type="http://schemas.openxmlformats.org/officeDocument/2006/relationships/image" Target="../media/image91.png"/><Relationship Id="rId7" Type="http://schemas.openxmlformats.org/officeDocument/2006/relationships/image" Target="../media/image92.png"/><Relationship Id="rId8" Type="http://schemas.openxmlformats.org/officeDocument/2006/relationships/image" Target="../media/image93.png"/></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xml"/><Relationship Id="rId4" Type="http://schemas.openxmlformats.org/officeDocument/2006/relationships/notesSlide" Target="../notesSlides/notesSlide19.xml"/><Relationship Id="rId5" Type="http://schemas.openxmlformats.org/officeDocument/2006/relationships/image" Target="../media/image2.png"/></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xml"/><Relationship Id="rId4" Type="http://schemas.openxmlformats.org/officeDocument/2006/relationships/image" Target="../media/image2.png"/></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xml"/><Relationship Id="rId4" Type="http://schemas.openxmlformats.org/officeDocument/2006/relationships/image" Target="../media/image2.png"/></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xml"/><Relationship Id="rId4" Type="http://schemas.openxmlformats.org/officeDocument/2006/relationships/chart" Target="../charts/chart14.xml"/><Relationship Id="rId5" Type="http://schemas.openxmlformats.org/officeDocument/2006/relationships/notesSlide" Target="../notesSlides/notesSlide22.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xml"/><Relationship Id="rId4" Type="http://schemas.openxmlformats.org/officeDocument/2006/relationships/image" Target="../media/image2.png"/></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xml"/><Relationship Id="rId4" Type="http://schemas.openxmlformats.org/officeDocument/2006/relationships/image" Target="../media/image108.png"/><Relationship Id="rId5" Type="http://schemas.openxmlformats.org/officeDocument/2006/relationships/image" Target="../media/image59.png"/><Relationship Id="rId6" Type="http://schemas.openxmlformats.org/officeDocument/2006/relationships/image" Target="../media/image109.png"/><Relationship Id="rId7" Type="http://schemas.openxmlformats.org/officeDocument/2006/relationships/image" Target="../media/image110.png"/><Relationship Id="rId8" Type="http://schemas.openxmlformats.org/officeDocument/2006/relationships/image" Target="../media/image60.png"/><Relationship Id="rId9" Type="http://schemas.openxmlformats.org/officeDocument/2006/relationships/image" Target="../media/image111.png"/><Relationship Id="rId10" Type="http://schemas.openxmlformats.org/officeDocument/2006/relationships/image" Target="../media/image112.png"/><Relationship Id="rId11" Type="http://schemas.openxmlformats.org/officeDocument/2006/relationships/image" Target="../media/image57.png"/><Relationship Id="rId12" Type="http://schemas.openxmlformats.org/officeDocument/2006/relationships/image" Target="../media/image113.png"/><Relationship Id="rId13" Type="http://schemas.openxmlformats.org/officeDocument/2006/relationships/image" Target="../media/image114.png"/><Relationship Id="rId14" Type="http://schemas.openxmlformats.org/officeDocument/2006/relationships/image" Target="../media/image58.png"/><Relationship Id="rId15" Type="http://schemas.openxmlformats.org/officeDocument/2006/relationships/image" Target="../media/image115.png"/><Relationship Id="rId16" Type="http://schemas.openxmlformats.org/officeDocument/2006/relationships/image" Target="../media/image2.png"/></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xml"/><Relationship Id="rId4" Type="http://schemas.openxmlformats.org/officeDocument/2006/relationships/chart" Target="../charts/chart16.xml"/><Relationship Id="rId5" Type="http://schemas.openxmlformats.org/officeDocument/2006/relationships/notesSlide" Target="../notesSlides/notesSlide25.xml"/><Relationship Id="rId6" Type="http://schemas.openxmlformats.org/officeDocument/2006/relationships/image" Target="../media/image2.png"/></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7.xml"/><Relationship Id="rId4" Type="http://schemas.openxmlformats.org/officeDocument/2006/relationships/chart" Target="../charts/chart18.xml"/><Relationship Id="rId5" Type="http://schemas.openxmlformats.org/officeDocument/2006/relationships/chart" Target="../charts/chart19.xml"/><Relationship Id="rId6" Type="http://schemas.openxmlformats.org/officeDocument/2006/relationships/chart" Target="../charts/chart20.xml"/><Relationship Id="rId7" Type="http://schemas.openxmlformats.org/officeDocument/2006/relationships/notesSlide" Target="../notesSlides/notesSlide26.xml"/><Relationship Id="rId8" Type="http://schemas.openxmlformats.org/officeDocument/2006/relationships/image" Target="../media/image2.png"/></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xml"/><Relationship Id="rId4" Type="http://schemas.openxmlformats.org/officeDocument/2006/relationships/image" Target="../media/image2.png"/></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xml"/><Relationship Id="rId4" Type="http://schemas.openxmlformats.org/officeDocument/2006/relationships/image" Target="../media/image2.png"/></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1.xml"/><Relationship Id="rId4" Type="http://schemas.openxmlformats.org/officeDocument/2006/relationships/notesSlide" Target="../notesSlides/notesSlide29.xml"/><Relationship Id="rId5" Type="http://schemas.openxmlformats.org/officeDocument/2006/relationships/image" Target="../media/image2.png"/></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xml"/><Relationship Id="rId4" Type="http://schemas.openxmlformats.org/officeDocument/2006/relationships/image" Target="../media/image2.png"/></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1.xml"/><Relationship Id="rId4" Type="http://schemas.openxmlformats.org/officeDocument/2006/relationships/image" Target="../media/image2.png"/></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xml"/><Relationship Id="rId4" Type="http://schemas.openxmlformats.org/officeDocument/2006/relationships/image" Target="../media/image150.png"/><Relationship Id="rId5" Type="http://schemas.openxmlformats.org/officeDocument/2006/relationships/image" Target="../media/image151.png"/><Relationship Id="rId6" Type="http://schemas.openxmlformats.org/officeDocument/2006/relationships/image" Target="../media/image152.png"/><Relationship Id="rId7" Type="http://schemas.openxmlformats.org/officeDocument/2006/relationships/image" Target="../media/image153.png"/><Relationship Id="rId8" Type="http://schemas.openxmlformats.org/officeDocument/2006/relationships/image" Target="../media/image154.png"/><Relationship Id="rId9" Type="http://schemas.openxmlformats.org/officeDocument/2006/relationships/image" Target="../media/image78.png"/><Relationship Id="rId10" Type="http://schemas.openxmlformats.org/officeDocument/2006/relationships/image" Target="../media/image155.png"/><Relationship Id="rId11" Type="http://schemas.openxmlformats.org/officeDocument/2006/relationships/image" Target="../media/image156.png"/><Relationship Id="rId12" Type="http://schemas.openxmlformats.org/officeDocument/2006/relationships/image" Target="../media/image157.png"/><Relationship Id="rId13" Type="http://schemas.openxmlformats.org/officeDocument/2006/relationships/image" Target="../media/image158.png"/><Relationship Id="rId14" Type="http://schemas.openxmlformats.org/officeDocument/2006/relationships/image" Target="../media/image159.png"/><Relationship Id="rId15" Type="http://schemas.openxmlformats.org/officeDocument/2006/relationships/image" Target="../media/image160.png"/><Relationship Id="rId16" Type="http://schemas.openxmlformats.org/officeDocument/2006/relationships/image" Target="../media/image2.png"/></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2.xml"/><Relationship Id="rId4" Type="http://schemas.openxmlformats.org/officeDocument/2006/relationships/chart" Target="../charts/chart23.xml"/><Relationship Id="rId5" Type="http://schemas.openxmlformats.org/officeDocument/2006/relationships/notesSlide" Target="../notesSlides/notesSlide33.xml"/><Relationship Id="rId6" Type="http://schemas.openxmlformats.org/officeDocument/2006/relationships/image" Target="../media/image2.png"/></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4.xml"/><Relationship Id="rId4" Type="http://schemas.openxmlformats.org/officeDocument/2006/relationships/chart" Target="../charts/chart25.xml"/><Relationship Id="rId5" Type="http://schemas.openxmlformats.org/officeDocument/2006/relationships/chart" Target="../charts/chart26.xml"/><Relationship Id="rId6" Type="http://schemas.openxmlformats.org/officeDocument/2006/relationships/chart" Target="../charts/chart27.xml"/><Relationship Id="rId7" Type="http://schemas.openxmlformats.org/officeDocument/2006/relationships/notesSlide" Target="../notesSlides/notesSlide34.xml"/><Relationship Id="rId8" Type="http://schemas.openxmlformats.org/officeDocument/2006/relationships/image" Target="../media/image2.png"/></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5.xml"/><Relationship Id="rId4" Type="http://schemas.openxmlformats.org/officeDocument/2006/relationships/image" Target="../media/image2.png"/></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6.xml"/><Relationship Id="rId4" Type="http://schemas.openxmlformats.org/officeDocument/2006/relationships/image" Target="../media/image2.png"/></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7.xml"/><Relationship Id="rId4" Type="http://schemas.openxmlformats.org/officeDocument/2006/relationships/image" Target="../media/image2.png"/></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8.xml"/><Relationship Id="rId4" Type="http://schemas.openxmlformats.org/officeDocument/2006/relationships/notesSlide" Target="../notesSlides/notesSlide38.xml"/><Relationship Id="rId5" Type="http://schemas.openxmlformats.org/officeDocument/2006/relationships/image" Target="../media/image2.png"/></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9.xml"/><Relationship Id="rId4" Type="http://schemas.openxmlformats.org/officeDocument/2006/relationships/image" Target="../media/image2.png"/></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0.xml"/><Relationship Id="rId4" Type="http://schemas.openxmlformats.org/officeDocument/2006/relationships/image" Target="../media/image2.png"/></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1.xml"/><Relationship Id="rId4" Type="http://schemas.openxmlformats.org/officeDocument/2006/relationships/image" Target="../media/image2.png"/></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3.xml"/><Relationship Id="rId4" Type="http://schemas.openxmlformats.org/officeDocument/2006/relationships/image" Target="../media/image194.png"/><Relationship Id="rId5" Type="http://schemas.openxmlformats.org/officeDocument/2006/relationships/image" Target="../media/image195.png"/><Relationship Id="rId6" Type="http://schemas.openxmlformats.org/officeDocument/2006/relationships/image" Target="../media/image196.png"/><Relationship Id="rId7" Type="http://schemas.openxmlformats.org/officeDocument/2006/relationships/image" Target="../media/image197.png"/><Relationship Id="rId8" Type="http://schemas.openxmlformats.org/officeDocument/2006/relationships/image" Target="../media/image198.png"/><Relationship Id="rId9" Type="http://schemas.openxmlformats.org/officeDocument/2006/relationships/image" Target="../media/image199.png"/><Relationship Id="rId10" Type="http://schemas.openxmlformats.org/officeDocument/2006/relationships/image" Target="../media/image2.png"/></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9.xml"/><Relationship Id="rId4" Type="http://schemas.openxmlformats.org/officeDocument/2006/relationships/chart" Target="../charts/chart30.xml"/><Relationship Id="rId5" Type="http://schemas.openxmlformats.org/officeDocument/2006/relationships/notesSlide" Target="../notesSlides/notesSlide44.xml"/><Relationship Id="rId6" Type="http://schemas.openxmlformats.org/officeDocument/2006/relationships/image" Target="../media/image2.png"/></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1.xml"/><Relationship Id="rId4" Type="http://schemas.openxmlformats.org/officeDocument/2006/relationships/chart" Target="../charts/chart32.xml"/><Relationship Id="rId5" Type="http://schemas.openxmlformats.org/officeDocument/2006/relationships/notesSlide" Target="../notesSlides/notesSlide45.xml"/><Relationship Id="rId6" Type="http://schemas.openxmlformats.org/officeDocument/2006/relationships/image" Target="../media/image2.png"/></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6.xml"/><Relationship Id="rId4" Type="http://schemas.openxmlformats.org/officeDocument/2006/relationships/image" Target="../media/image2.png"/></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7.xml"/><Relationship Id="rId4" Type="http://schemas.openxmlformats.org/officeDocument/2006/relationships/image" Target="../media/image2.png"/></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3.xml"/><Relationship Id="rId4" Type="http://schemas.openxmlformats.org/officeDocument/2006/relationships/notesSlide" Target="../notesSlides/notesSlide48.xml"/><Relationship Id="rId5" Type="http://schemas.openxmlformats.org/officeDocument/2006/relationships/image" Target="../media/image2.png"/></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9.xml"/><Relationship Id="rId4" Type="http://schemas.openxmlformats.org/officeDocument/2006/relationships/image" Target="../media/image2.png"/></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0.xml"/><Relationship Id="rId4" Type="http://schemas.openxmlformats.org/officeDocument/2006/relationships/image" Target="../media/image2.png"/></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1.xml"/><Relationship Id="rId4" Type="http://schemas.openxmlformats.org/officeDocument/2006/relationships/image" Target="../media/image218.png"/><Relationship Id="rId5" Type="http://schemas.openxmlformats.org/officeDocument/2006/relationships/image" Target="../media/image219.png"/><Relationship Id="rId6" Type="http://schemas.openxmlformats.org/officeDocument/2006/relationships/image" Target="../media/image220.png"/><Relationship Id="rId7" Type="http://schemas.openxmlformats.org/officeDocument/2006/relationships/image" Target="../media/image221.png"/><Relationship Id="rId8" Type="http://schemas.openxmlformats.org/officeDocument/2006/relationships/image" Target="../media/image222.png"/><Relationship Id="rId9" Type="http://schemas.openxmlformats.org/officeDocument/2006/relationships/image" Target="../media/image111.png"/><Relationship Id="rId10" Type="http://schemas.openxmlformats.org/officeDocument/2006/relationships/image" Target="../media/image74.png"/><Relationship Id="rId11" Type="http://schemas.openxmlformats.org/officeDocument/2006/relationships/image" Target="../media/image223.png"/><Relationship Id="rId12" Type="http://schemas.openxmlformats.org/officeDocument/2006/relationships/image" Target="../media/image224.png"/><Relationship Id="rId13" Type="http://schemas.openxmlformats.org/officeDocument/2006/relationships/image" Target="../media/image225.png"/><Relationship Id="rId14" Type="http://schemas.openxmlformats.org/officeDocument/2006/relationships/image" Target="../media/image226.png"/><Relationship Id="rId15" Type="http://schemas.openxmlformats.org/officeDocument/2006/relationships/image" Target="../media/image227.png"/><Relationship Id="rId16" Type="http://schemas.openxmlformats.org/officeDocument/2006/relationships/image" Target="../media/image2.png"/></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4.xml"/><Relationship Id="rId4" Type="http://schemas.openxmlformats.org/officeDocument/2006/relationships/chart" Target="../charts/chart35.xml"/><Relationship Id="rId5" Type="http://schemas.openxmlformats.org/officeDocument/2006/relationships/notesSlide" Target="../notesSlides/notesSlide52.xml"/><Relationship Id="rId6" Type="http://schemas.openxmlformats.org/officeDocument/2006/relationships/image" Target="../media/image2.png"/></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6.xml"/><Relationship Id="rId4" Type="http://schemas.openxmlformats.org/officeDocument/2006/relationships/chart" Target="../charts/chart37.xml"/><Relationship Id="rId5" Type="http://schemas.openxmlformats.org/officeDocument/2006/relationships/chart" Target="../charts/chart38.xml"/><Relationship Id="rId6" Type="http://schemas.openxmlformats.org/officeDocument/2006/relationships/chart" Target="../charts/chart39.xml"/><Relationship Id="rId7" Type="http://schemas.openxmlformats.org/officeDocument/2006/relationships/notesSlide" Target="../notesSlides/notesSlide53.xml"/><Relationship Id="rId8" Type="http://schemas.openxmlformats.org/officeDocument/2006/relationships/image" Target="../media/image2.png"/></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4.xml"/><Relationship Id="rId4" Type="http://schemas.openxmlformats.org/officeDocument/2006/relationships/image" Target="../media/image2.png"/></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5.xml"/><Relationship Id="rId4" Type="http://schemas.openxmlformats.org/officeDocument/2006/relationships/image" Target="../media/image2.png"/></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0.xml"/><Relationship Id="rId4" Type="http://schemas.openxmlformats.org/officeDocument/2006/relationships/notesSlide" Target="../notesSlides/notesSlide56.xml"/><Relationship Id="rId5" Type="http://schemas.openxmlformats.org/officeDocument/2006/relationships/image" Target="../media/image2.png"/></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7.xml"/><Relationship Id="rId4" Type="http://schemas.openxmlformats.org/officeDocument/2006/relationships/image" Target="../media/image2.png"/></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8.xml"/><Relationship Id="rId4" Type="http://schemas.openxmlformats.org/officeDocument/2006/relationships/image" Target="../media/image2.png"/></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9.xml"/><Relationship Id="rId4" Type="http://schemas.openxmlformats.org/officeDocument/2006/relationships/image" Target="../media/image261.png"/><Relationship Id="rId5" Type="http://schemas.openxmlformats.org/officeDocument/2006/relationships/image" Target="../media/image262.png"/><Relationship Id="rId6" Type="http://schemas.openxmlformats.org/officeDocument/2006/relationships/image" Target="../media/image263.png"/><Relationship Id="rId7" Type="http://schemas.openxmlformats.org/officeDocument/2006/relationships/image" Target="../media/image264.png"/><Relationship Id="rId8" Type="http://schemas.openxmlformats.org/officeDocument/2006/relationships/image" Target="../media/image265.png"/><Relationship Id="rId9" Type="http://schemas.openxmlformats.org/officeDocument/2006/relationships/image" Target="../media/image266.png"/><Relationship Id="rId10" Type="http://schemas.openxmlformats.org/officeDocument/2006/relationships/image" Target="../media/image267.png"/><Relationship Id="rId11" Type="http://schemas.openxmlformats.org/officeDocument/2006/relationships/image" Target="../media/image268.png"/><Relationship Id="rId12" Type="http://schemas.openxmlformats.org/officeDocument/2006/relationships/image" Target="../media/image269.png"/><Relationship Id="rId13" Type="http://schemas.openxmlformats.org/officeDocument/2006/relationships/image" Target="../media/image2.png"/></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1.xml"/><Relationship Id="rId4" Type="http://schemas.openxmlformats.org/officeDocument/2006/relationships/chart" Target="../charts/chart42.xml"/><Relationship Id="rId5" Type="http://schemas.openxmlformats.org/officeDocument/2006/relationships/notesSlide" Target="../notesSlides/notesSlide60.xml"/><Relationship Id="rId6" Type="http://schemas.openxmlformats.org/officeDocument/2006/relationships/image" Target="../media/image2.png"/></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3.xml"/><Relationship Id="rId4" Type="http://schemas.openxmlformats.org/officeDocument/2006/relationships/chart" Target="../charts/chart44.xml"/><Relationship Id="rId5" Type="http://schemas.openxmlformats.org/officeDocument/2006/relationships/chart" Target="../charts/chart45.xml"/><Relationship Id="rId6" Type="http://schemas.openxmlformats.org/officeDocument/2006/relationships/notesSlide" Target="../notesSlides/notesSlide61.xml"/><Relationship Id="rId7" Type="http://schemas.openxmlformats.org/officeDocument/2006/relationships/image" Target="../media/image2.png"/></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2.xml"/><Relationship Id="rId4" Type="http://schemas.openxmlformats.org/officeDocument/2006/relationships/image" Target="../media/image2.png"/></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3.xml"/><Relationship Id="rId4" Type="http://schemas.openxmlformats.org/officeDocument/2006/relationships/image" Target="../media/image2.png"/></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6.xml"/><Relationship Id="rId4" Type="http://schemas.openxmlformats.org/officeDocument/2006/relationships/notesSlide" Target="../notesSlides/notesSlide64.xml"/><Relationship Id="rId5" Type="http://schemas.openxmlformats.org/officeDocument/2006/relationships/image" Target="../media/image2.png"/></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5.xml"/><Relationship Id="rId4" Type="http://schemas.openxmlformats.org/officeDocument/2006/relationships/image" Target="../media/image2.png"/></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6.xml"/><Relationship Id="rId4" Type="http://schemas.openxmlformats.org/officeDocument/2006/relationships/image" Target="../media/image2.png"/></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7.xml"/><Relationship Id="rId4" Type="http://schemas.openxmlformats.org/officeDocument/2006/relationships/image" Target="../media/image297.png"/><Relationship Id="rId5" Type="http://schemas.openxmlformats.org/officeDocument/2006/relationships/image" Target="../media/image298.png"/><Relationship Id="rId6" Type="http://schemas.openxmlformats.org/officeDocument/2006/relationships/image" Target="../media/image152.png"/><Relationship Id="rId7" Type="http://schemas.openxmlformats.org/officeDocument/2006/relationships/image" Target="../media/image299.png"/><Relationship Id="rId8" Type="http://schemas.openxmlformats.org/officeDocument/2006/relationships/image" Target="../media/image300.png"/><Relationship Id="rId9" Type="http://schemas.openxmlformats.org/officeDocument/2006/relationships/image" Target="../media/image69.png"/><Relationship Id="rId10" Type="http://schemas.openxmlformats.org/officeDocument/2006/relationships/image" Target="../media/image2.png"/></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7.xml"/><Relationship Id="rId4" Type="http://schemas.openxmlformats.org/officeDocument/2006/relationships/chart" Target="../charts/chart48.xml"/><Relationship Id="rId5" Type="http://schemas.openxmlformats.org/officeDocument/2006/relationships/notesSlide" Target="../notesSlides/notesSlide68.xml"/><Relationship Id="rId6" Type="http://schemas.openxmlformats.org/officeDocument/2006/relationships/image" Target="../media/image2.png"/></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9.xml"/><Relationship Id="rId4" Type="http://schemas.openxmlformats.org/officeDocument/2006/relationships/chart" Target="../charts/chart50.xml"/><Relationship Id="rId5" Type="http://schemas.openxmlformats.org/officeDocument/2006/relationships/notesSlide" Target="../notesSlides/notesSlide69.xml"/><Relationship Id="rId6" Type="http://schemas.openxmlformats.org/officeDocument/2006/relationships/image" Target="../media/image2.png"/></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0.xml"/><Relationship Id="rId4" Type="http://schemas.openxmlformats.org/officeDocument/2006/relationships/image" Target="../media/image2.png"/></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1.xml"/><Relationship Id="rId4" Type="http://schemas.openxmlformats.org/officeDocument/2006/relationships/image" Target="../media/image2.png"/></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1.xml"/><Relationship Id="rId4" Type="http://schemas.openxmlformats.org/officeDocument/2006/relationships/notesSlide" Target="../notesSlides/notesSlide72.xml"/><Relationship Id="rId5" Type="http://schemas.openxmlformats.org/officeDocument/2006/relationships/image" Target="../media/image2.png"/></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3.xml"/><Relationship Id="rId4" Type="http://schemas.openxmlformats.org/officeDocument/2006/relationships/image" Target="../media/image2.png"/></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4.xml"/><Relationship Id="rId4" Type="http://schemas.openxmlformats.org/officeDocument/2006/relationships/image" Target="../media/image2.png"/></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5.xml"/><Relationship Id="rId4" Type="http://schemas.openxmlformats.org/officeDocument/2006/relationships/image" Target="../media/image2.png"/></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2.xml"/><Relationship Id="rId4" Type="http://schemas.openxmlformats.org/officeDocument/2006/relationships/notesSlide" Target="../notesSlides/notesSlide76.xml"/><Relationship Id="rId5" Type="http://schemas.openxmlformats.org/officeDocument/2006/relationships/image" Target="../media/image2.png"/></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7.xml"/><Relationship Id="rId4" Type="http://schemas.openxmlformats.org/officeDocument/2006/relationships/image" Target="../media/image2.png"/></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8.xml"/><Relationship Id="rId4" Type="http://schemas.openxmlformats.org/officeDocument/2006/relationships/image" Target="../media/image2.png"/></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3.xml"/><Relationship Id="rId4" Type="http://schemas.openxmlformats.org/officeDocument/2006/relationships/notesSlide" Target="../notesSlides/notesSlide79.xml"/><Relationship Id="rId5" Type="http://schemas.openxmlformats.org/officeDocument/2006/relationships/image" Target="../media/image2.png"/></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0.xml"/><Relationship Id="rId4" Type="http://schemas.openxmlformats.org/officeDocument/2006/relationships/image" Target="../media/image2.png"/></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1.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4.xml"/><Relationship Id="rId4" Type="http://schemas.openxmlformats.org/officeDocument/2006/relationships/chart" Target="../charts/chart55.xml"/><Relationship Id="rId5" Type="http://schemas.openxmlformats.org/officeDocument/2006/relationships/notesSlide" Target="../notesSlides/notesSlide82.xml"/><Relationship Id="rId6" Type="http://schemas.openxmlformats.org/officeDocument/2006/relationships/image" Target="../media/image2.png"/></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3.xml"/><Relationship Id="rId4" Type="http://schemas.openxmlformats.org/officeDocument/2006/relationships/image" Target="../media/image2.png"/></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6.xml"/><Relationship Id="rId4" Type="http://schemas.openxmlformats.org/officeDocument/2006/relationships/chart" Target="../charts/chart57.xml"/><Relationship Id="rId5" Type="http://schemas.openxmlformats.org/officeDocument/2006/relationships/notesSlide" Target="../notesSlides/notesSlide84.xml"/><Relationship Id="rId6" Type="http://schemas.openxmlformats.org/officeDocument/2006/relationships/image" Target="../media/image2.png"/></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8.xml"/><Relationship Id="rId4" Type="http://schemas.openxmlformats.org/officeDocument/2006/relationships/chart" Target="../charts/chart59.xml"/><Relationship Id="rId5" Type="http://schemas.openxmlformats.org/officeDocument/2006/relationships/notesSlide" Target="../notesSlides/notesSlide85.xml"/><Relationship Id="rId6" Type="http://schemas.openxmlformats.org/officeDocument/2006/relationships/image" Target="../media/image2.png"/></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0.xml"/><Relationship Id="rId4" Type="http://schemas.openxmlformats.org/officeDocument/2006/relationships/chart" Target="../charts/chart61.xml"/><Relationship Id="rId5" Type="http://schemas.openxmlformats.org/officeDocument/2006/relationships/notesSlide" Target="../notesSlides/notesSlide86.xml"/><Relationship Id="rId6" Type="http://schemas.openxmlformats.org/officeDocument/2006/relationships/image" Target="../media/image2.png"/></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7.xml"/><Relationship Id="rId4" Type="http://schemas.openxmlformats.org/officeDocument/2006/relationships/image" Target="../media/image2.png"/></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2.xml"/><Relationship Id="rId4" Type="http://schemas.openxmlformats.org/officeDocument/2006/relationships/notesSlide" Target="../notesSlides/notesSlide88.xml"/><Relationship Id="rId5" Type="http://schemas.openxmlformats.org/officeDocument/2006/relationships/image" Target="../media/image2.png"/></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9.xml"/><Relationship Id="rId4" Type="http://schemas.openxmlformats.org/officeDocument/2006/relationships/image" Target="../media/image2.png"/></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3.xml"/><Relationship Id="rId4" Type="http://schemas.openxmlformats.org/officeDocument/2006/relationships/notesSlide" Target="../notesSlides/notesSlide90.xml"/><Relationship Id="rId5" Type="http://schemas.openxmlformats.org/officeDocument/2006/relationships/image" Target="../media/image2.png"/></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1.xml"/><Relationship Id="rId4" Type="http://schemas.openxmlformats.org/officeDocument/2006/relationships/image" Target="../media/image2.png"/></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4.xml"/><Relationship Id="rId4" Type="http://schemas.openxmlformats.org/officeDocument/2006/relationships/notesSlide" Target="../notesSlides/notesSlide92.xml"/><Relationship Id="rId5" Type="http://schemas.openxmlformats.org/officeDocument/2006/relationships/image" Target="../media/image2.png"/></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5.xml"/><Relationship Id="rId4" Type="http://schemas.openxmlformats.org/officeDocument/2006/relationships/notesSlide" Target="../notesSlides/notesSlide93.xml"/><Relationship Id="rId5" Type="http://schemas.openxmlformats.org/officeDocument/2006/relationships/image" Target="../media/image2.png"/></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4.xml"/><Relationship Id="rId4" Type="http://schemas.openxmlformats.org/officeDocument/2006/relationships/image" Target="../media/image2.png"/></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5.xml"/><Relationship Id="rId4" Type="http://schemas.openxmlformats.org/officeDocument/2006/relationships/image" Target="../media/image2.png"/></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6.xml"/><Relationship Id="rId4" Type="http://schemas.openxmlformats.org/officeDocument/2006/relationships/chart" Target="../charts/chart67.xml"/><Relationship Id="rId5" Type="http://schemas.openxmlformats.org/officeDocument/2006/relationships/notesSlide" Target="../notesSlides/notesSlide96.xml"/><Relationship Id="rId6" Type="http://schemas.openxmlformats.org/officeDocument/2006/relationships/image" Target="../media/image2.png"/></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7.xml"/><Relationship Id="rId4" Type="http://schemas.openxmlformats.org/officeDocument/2006/relationships/image" Target="../media/image2.png"/></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8.xml"/><Relationship Id="rId4" Type="http://schemas.openxmlformats.org/officeDocument/2006/relationships/image" Target="../media/image433.png"/><Relationship Id="rId5" Type="http://schemas.openxmlformats.org/officeDocument/2006/relationships/image" Target="../media/image359.png"/><Relationship Id="rId6" Type="http://schemas.openxmlformats.org/officeDocument/2006/relationships/image" Target="../media/image434.png"/><Relationship Id="rId7" Type="http://schemas.openxmlformats.org/officeDocument/2006/relationships/image" Target="../media/image435.png"/><Relationship Id="rId8" Type="http://schemas.openxmlformats.org/officeDocument/2006/relationships/image" Target="../media/image360.png"/><Relationship Id="rId9" Type="http://schemas.openxmlformats.org/officeDocument/2006/relationships/image" Target="../media/image78.png"/><Relationship Id="rId10" Type="http://schemas.openxmlformats.org/officeDocument/2006/relationships/image" Target="../media/image436.png"/><Relationship Id="rId11" Type="http://schemas.openxmlformats.org/officeDocument/2006/relationships/image" Target="../media/image357.png"/><Relationship Id="rId12" Type="http://schemas.openxmlformats.org/officeDocument/2006/relationships/image" Target="../media/image437.png"/><Relationship Id="rId13" Type="http://schemas.openxmlformats.org/officeDocument/2006/relationships/image" Target="../media/image308.png"/><Relationship Id="rId14" Type="http://schemas.openxmlformats.org/officeDocument/2006/relationships/image" Target="../media/image358.png"/><Relationship Id="rId15" Type="http://schemas.openxmlformats.org/officeDocument/2006/relationships/image" Target="../media/image269.png"/><Relationship Id="rId16" Type="http://schemas.openxmlformats.org/officeDocument/2006/relationships/image" Target="../media/image2.png"/></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8.xml"/><Relationship Id="rId4" Type="http://schemas.openxmlformats.org/officeDocument/2006/relationships/chart" Target="../charts/chart69.xml"/><Relationship Id="rId5" Type="http://schemas.openxmlformats.org/officeDocument/2006/relationships/notesSlide" Target="../notesSlides/notesSlide99.xml"/><Relationship Id="rId6" Type="http://schemas.openxmlformats.org/officeDocument/2006/relationships/image" Target="../media/image2.png"/></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0.xml"/><Relationship Id="rId4" Type="http://schemas.openxmlformats.org/officeDocument/2006/relationships/chart" Target="../charts/chart71.xml"/><Relationship Id="rId5" Type="http://schemas.openxmlformats.org/officeDocument/2006/relationships/chart" Target="../charts/chart72.xml"/><Relationship Id="rId6" Type="http://schemas.openxmlformats.org/officeDocument/2006/relationships/chart" Target="../charts/chart73.xml"/><Relationship Id="rId7" Type="http://schemas.openxmlformats.org/officeDocument/2006/relationships/notesSlide" Target="../notesSlides/notesSlide100.xml"/><Relationship Id="rId8" Type="http://schemas.openxmlformats.org/officeDocument/2006/relationships/image" Target="../media/image2.png"/></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1.xml"/><Relationship Id="rId4" Type="http://schemas.openxmlformats.org/officeDocument/2006/relationships/image" Target="../media/image2.png"/></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2.xml"/><Relationship Id="rId4" Type="http://schemas.openxmlformats.org/officeDocument/2006/relationships/image" Target="../media/image2.png"/></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4.xml"/><Relationship Id="rId4" Type="http://schemas.openxmlformats.org/officeDocument/2006/relationships/notesSlide" Target="../notesSlides/notesSlide103.xml"/><Relationship Id="rId5" Type="http://schemas.openxmlformats.org/officeDocument/2006/relationships/image" Target="../media/image2.png"/></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4.xml"/><Relationship Id="rId4" Type="http://schemas.openxmlformats.org/officeDocument/2006/relationships/image" Target="../media/image2.png"/></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5.xml"/><Relationship Id="rId4" Type="http://schemas.openxmlformats.org/officeDocument/2006/relationships/image" Target="../media/image2.png"/></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6.xml"/><Relationship Id="rId4" Type="http://schemas.openxmlformats.org/officeDocument/2006/relationships/image" Target="../media/image458.png"/><Relationship Id="rId5" Type="http://schemas.openxmlformats.org/officeDocument/2006/relationships/image" Target="../media/image459.png"/><Relationship Id="rId6" Type="http://schemas.openxmlformats.org/officeDocument/2006/relationships/image" Target="../media/image460.png"/><Relationship Id="rId7" Type="http://schemas.openxmlformats.org/officeDocument/2006/relationships/image" Target="../media/image461.png"/><Relationship Id="rId8" Type="http://schemas.openxmlformats.org/officeDocument/2006/relationships/image" Target="../media/image462.png"/><Relationship Id="rId9" Type="http://schemas.openxmlformats.org/officeDocument/2006/relationships/image" Target="../media/image115.png"/><Relationship Id="rId10" Type="http://schemas.openxmlformats.org/officeDocument/2006/relationships/image" Target="../media/image463.png"/><Relationship Id="rId11" Type="http://schemas.openxmlformats.org/officeDocument/2006/relationships/image" Target="../media/image464.png"/><Relationship Id="rId12" Type="http://schemas.openxmlformats.org/officeDocument/2006/relationships/image" Target="../media/image465.png"/><Relationship Id="rId13" Type="http://schemas.openxmlformats.org/officeDocument/2006/relationships/image" Target="../media/image466.png"/><Relationship Id="rId14" Type="http://schemas.openxmlformats.org/officeDocument/2006/relationships/image" Target="../media/image467.png"/><Relationship Id="rId15" Type="http://schemas.openxmlformats.org/officeDocument/2006/relationships/image" Target="../media/image93.png"/><Relationship Id="rId16" Type="http://schemas.openxmlformats.org/officeDocument/2006/relationships/image" Target="../media/image2.png"/></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5.xml"/><Relationship Id="rId4" Type="http://schemas.openxmlformats.org/officeDocument/2006/relationships/chart" Target="../charts/chart76.xml"/><Relationship Id="rId5" Type="http://schemas.openxmlformats.org/officeDocument/2006/relationships/notesSlide" Target="../notesSlides/notesSlide107.xml"/><Relationship Id="rId6" Type="http://schemas.openxmlformats.org/officeDocument/2006/relationships/image" Target="../media/image2.png"/></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7.xml"/><Relationship Id="rId4" Type="http://schemas.openxmlformats.org/officeDocument/2006/relationships/chart" Target="../charts/chart78.xml"/><Relationship Id="rId5" Type="http://schemas.openxmlformats.org/officeDocument/2006/relationships/chart" Target="../charts/chart79.xml"/><Relationship Id="rId6" Type="http://schemas.openxmlformats.org/officeDocument/2006/relationships/chart" Target="../charts/chart80.xml"/><Relationship Id="rId7" Type="http://schemas.openxmlformats.org/officeDocument/2006/relationships/notesSlide" Target="../notesSlides/notesSlide108.xml"/><Relationship Id="rId8" Type="http://schemas.openxmlformats.org/officeDocument/2006/relationships/image" Target="../media/image2.png"/></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9.xml"/><Relationship Id="rId4" Type="http://schemas.openxmlformats.org/officeDocument/2006/relationships/image" Target="../media/image2.png"/></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0.xml"/><Relationship Id="rId4" Type="http://schemas.openxmlformats.org/officeDocument/2006/relationships/image" Target="../media/image2.png"/></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1.xml"/><Relationship Id="rId4" Type="http://schemas.openxmlformats.org/officeDocument/2006/relationships/image" Target="../media/image2.png"/></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1.xml"/><Relationship Id="rId4" Type="http://schemas.openxmlformats.org/officeDocument/2006/relationships/notesSlide" Target="../notesSlides/notesSlide112.xml"/><Relationship Id="rId5" Type="http://schemas.openxmlformats.org/officeDocument/2006/relationships/image" Target="../media/image2.png"/></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3.xml"/><Relationship Id="rId4" Type="http://schemas.openxmlformats.org/officeDocument/2006/relationships/image" Target="../media/image2.png"/></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4.xml"/><Relationship Id="rId4" Type="http://schemas.openxmlformats.org/officeDocument/2006/relationships/image" Target="../media/image2.png"/></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5.xml"/><Relationship Id="rId4" Type="http://schemas.openxmlformats.org/officeDocument/2006/relationships/image" Target="../media/image2.png"/></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6.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7.xml"/><Relationship Id="rId4" Type="http://schemas.openxmlformats.org/officeDocument/2006/relationships/image" Target="../media/image488.png"/><Relationship Id="rId5" Type="http://schemas.openxmlformats.org/officeDocument/2006/relationships/image" Target="../media/image412.png"/><Relationship Id="rId6" Type="http://schemas.openxmlformats.org/officeDocument/2006/relationships/image" Target="../media/image489.png"/><Relationship Id="rId7" Type="http://schemas.openxmlformats.org/officeDocument/2006/relationships/image" Target="../media/image44.png"/><Relationship Id="rId8" Type="http://schemas.openxmlformats.org/officeDocument/2006/relationships/image" Target="../media/image490.png"/><Relationship Id="rId9" Type="http://schemas.openxmlformats.org/officeDocument/2006/relationships/image" Target="../media/image224.png"/><Relationship Id="rId10" Type="http://schemas.openxmlformats.org/officeDocument/2006/relationships/image" Target="../media/image2.png"/></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2.xml"/><Relationship Id="rId4" Type="http://schemas.openxmlformats.org/officeDocument/2006/relationships/chart" Target="../charts/chart83.xml"/><Relationship Id="rId5" Type="http://schemas.openxmlformats.org/officeDocument/2006/relationships/notesSlide" Target="../notesSlides/notesSlide118.xml"/><Relationship Id="rId6" Type="http://schemas.openxmlformats.org/officeDocument/2006/relationships/image" Target="../media/image2.png"/></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4.xml"/><Relationship Id="rId4" Type="http://schemas.openxmlformats.org/officeDocument/2006/relationships/chart" Target="../charts/chart85.xml"/><Relationship Id="rId5" Type="http://schemas.openxmlformats.org/officeDocument/2006/relationships/notesSlide" Target="../notesSlides/notesSlide119.xml"/><Relationship Id="rId6" Type="http://schemas.openxmlformats.org/officeDocument/2006/relationships/image" Target="../media/image2.png"/></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0.xml"/><Relationship Id="rId4" Type="http://schemas.openxmlformats.org/officeDocument/2006/relationships/image" Target="../media/image2.png"/></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1.xml"/><Relationship Id="rId4" Type="http://schemas.openxmlformats.org/officeDocument/2006/relationships/image" Target="../media/image2.png"/></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6.xml"/><Relationship Id="rId4" Type="http://schemas.openxmlformats.org/officeDocument/2006/relationships/notesSlide" Target="../notesSlides/notesSlide122.xml"/><Relationship Id="rId5" Type="http://schemas.openxmlformats.org/officeDocument/2006/relationships/image" Target="../media/image2.png"/></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3.xml"/><Relationship Id="rId4" Type="http://schemas.openxmlformats.org/officeDocument/2006/relationships/image" Target="../media/image2.png"/></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4.xml"/><Relationship Id="rId4" Type="http://schemas.openxmlformats.org/officeDocument/2006/relationships/image" Target="../media/image2.png"/></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5.xml"/><Relationship Id="rId4" Type="http://schemas.openxmlformats.org/officeDocument/2006/relationships/image" Target="../media/image501.png"/><Relationship Id="rId5" Type="http://schemas.openxmlformats.org/officeDocument/2006/relationships/image" Target="../media/image502.png"/><Relationship Id="rId6" Type="http://schemas.openxmlformats.org/officeDocument/2006/relationships/image" Target="../media/image69.png"/><Relationship Id="rId7" Type="http://schemas.openxmlformats.org/officeDocument/2006/relationships/image" Target="../media/image503.png"/><Relationship Id="rId8" Type="http://schemas.openxmlformats.org/officeDocument/2006/relationships/image" Target="../media/image504.png"/><Relationship Id="rId9" Type="http://schemas.openxmlformats.org/officeDocument/2006/relationships/image" Target="../media/image434.png"/><Relationship Id="rId10" Type="http://schemas.openxmlformats.org/officeDocument/2006/relationships/image" Target="../media/image505.png"/><Relationship Id="rId11" Type="http://schemas.openxmlformats.org/officeDocument/2006/relationships/image" Target="../media/image506.png"/><Relationship Id="rId12" Type="http://schemas.openxmlformats.org/officeDocument/2006/relationships/image" Target="../media/image93.png"/><Relationship Id="rId13" Type="http://schemas.openxmlformats.org/officeDocument/2006/relationships/image" Target="../media/image507.png"/><Relationship Id="rId14" Type="http://schemas.openxmlformats.org/officeDocument/2006/relationships/image" Target="../media/image169.png"/><Relationship Id="rId15" Type="http://schemas.openxmlformats.org/officeDocument/2006/relationships/image" Target="../media/image437.png"/><Relationship Id="rId16" Type="http://schemas.openxmlformats.org/officeDocument/2006/relationships/image" Target="../media/image2.png"/></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7.xml"/><Relationship Id="rId4" Type="http://schemas.openxmlformats.org/officeDocument/2006/relationships/chart" Target="../charts/chart88.xml"/><Relationship Id="rId5" Type="http://schemas.openxmlformats.org/officeDocument/2006/relationships/notesSlide" Target="../notesSlides/notesSlide126.xml"/><Relationship Id="rId6" Type="http://schemas.openxmlformats.org/officeDocument/2006/relationships/image" Target="../media/image2.png"/></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9.xml"/><Relationship Id="rId4" Type="http://schemas.openxmlformats.org/officeDocument/2006/relationships/chart" Target="../charts/chart90.xml"/><Relationship Id="rId5" Type="http://schemas.openxmlformats.org/officeDocument/2006/relationships/chart" Target="../charts/chart91.xml"/><Relationship Id="rId6" Type="http://schemas.openxmlformats.org/officeDocument/2006/relationships/chart" Target="../charts/chart92.xml"/><Relationship Id="rId7" Type="http://schemas.openxmlformats.org/officeDocument/2006/relationships/notesSlide" Target="../notesSlides/notesSlide127.xml"/><Relationship Id="rId8" Type="http://schemas.openxmlformats.org/officeDocument/2006/relationships/image" Target="../media/image2.png"/></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8.xml"/><Relationship Id="rId4" Type="http://schemas.openxmlformats.org/officeDocument/2006/relationships/image" Target="../media/image2.png"/></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9.xml"/><Relationship Id="rId4" Type="http://schemas.openxmlformats.org/officeDocument/2006/relationships/image" Target="../media/image2.png"/></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3.xml"/><Relationship Id="rId4" Type="http://schemas.openxmlformats.org/officeDocument/2006/relationships/notesSlide" Target="../notesSlides/notesSlide130.xml"/><Relationship Id="rId5" Type="http://schemas.openxmlformats.org/officeDocument/2006/relationships/image" Target="../media/image2.png"/></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1.xml"/><Relationship Id="rId4" Type="http://schemas.openxmlformats.org/officeDocument/2006/relationships/image" Target="../media/image2.png"/></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2.xml"/><Relationship Id="rId4" Type="http://schemas.openxmlformats.org/officeDocument/2006/relationships/image" Target="../media/image2.png"/></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3.xml"/><Relationship Id="rId4" Type="http://schemas.openxmlformats.org/officeDocument/2006/relationships/image" Target="../media/image528.png"/><Relationship Id="rId5" Type="http://schemas.openxmlformats.org/officeDocument/2006/relationships/image" Target="../media/image529.png"/><Relationship Id="rId6" Type="http://schemas.openxmlformats.org/officeDocument/2006/relationships/image" Target="../media/image530.png"/><Relationship Id="rId7" Type="http://schemas.openxmlformats.org/officeDocument/2006/relationships/image" Target="../media/image531.png"/><Relationship Id="rId8" Type="http://schemas.openxmlformats.org/officeDocument/2006/relationships/image" Target="../media/image532.png"/><Relationship Id="rId9" Type="http://schemas.openxmlformats.org/officeDocument/2006/relationships/image" Target="../media/image533.png"/><Relationship Id="rId10" Type="http://schemas.openxmlformats.org/officeDocument/2006/relationships/image" Target="../media/image243.png"/><Relationship Id="rId11" Type="http://schemas.openxmlformats.org/officeDocument/2006/relationships/image" Target="../media/image239.png"/><Relationship Id="rId12" Type="http://schemas.openxmlformats.org/officeDocument/2006/relationships/image" Target="../media/image534.png"/><Relationship Id="rId13" Type="http://schemas.openxmlformats.org/officeDocument/2006/relationships/image" Target="../media/image2.png"/></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4.xml"/><Relationship Id="rId4" Type="http://schemas.openxmlformats.org/officeDocument/2006/relationships/chart" Target="../charts/chart95.xml"/><Relationship Id="rId5" Type="http://schemas.openxmlformats.org/officeDocument/2006/relationships/notesSlide" Target="../notesSlides/notesSlide134.xml"/><Relationship Id="rId6" Type="http://schemas.openxmlformats.org/officeDocument/2006/relationships/image" Target="../media/image2.png"/></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6.xml"/><Relationship Id="rId4" Type="http://schemas.openxmlformats.org/officeDocument/2006/relationships/chart" Target="../charts/chart97.xml"/><Relationship Id="rId5" Type="http://schemas.openxmlformats.org/officeDocument/2006/relationships/chart" Target="../charts/chart98.xml"/><Relationship Id="rId6" Type="http://schemas.openxmlformats.org/officeDocument/2006/relationships/notesSlide" Target="../notesSlides/notesSlide135.xml"/><Relationship Id="rId7" Type="http://schemas.openxmlformats.org/officeDocument/2006/relationships/image" Target="../media/image2.png"/></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6.xml"/><Relationship Id="rId4" Type="http://schemas.openxmlformats.org/officeDocument/2006/relationships/image" Target="../media/image2.png"/></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7.xml"/><Relationship Id="rId4" Type="http://schemas.openxmlformats.org/officeDocument/2006/relationships/image" Target="../media/image2.png"/></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9.xml"/><Relationship Id="rId4" Type="http://schemas.openxmlformats.org/officeDocument/2006/relationships/notesSlide" Target="../notesSlides/notesSlide138.xml"/><Relationship Id="rId5" Type="http://schemas.openxmlformats.org/officeDocument/2006/relationships/image" Target="../media/image2.png"/></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9.xml"/><Relationship Id="rId4" Type="http://schemas.openxmlformats.org/officeDocument/2006/relationships/image" Target="../media/image2.png"/></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0.xml"/><Relationship Id="rId4" Type="http://schemas.openxmlformats.org/officeDocument/2006/relationships/image" Target="../media/image2.png"/></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1.xml"/><Relationship Id="rId4" Type="http://schemas.openxmlformats.org/officeDocument/2006/relationships/image" Target="../media/image550.png"/><Relationship Id="rId5" Type="http://schemas.openxmlformats.org/officeDocument/2006/relationships/image" Target="../media/image551.png"/><Relationship Id="rId6" Type="http://schemas.openxmlformats.org/officeDocument/2006/relationships/image" Target="../media/image552.png"/><Relationship Id="rId7" Type="http://schemas.openxmlformats.org/officeDocument/2006/relationships/image" Target="../media/image553.png"/><Relationship Id="rId8" Type="http://schemas.openxmlformats.org/officeDocument/2006/relationships/image" Target="../media/image554.png"/><Relationship Id="rId9" Type="http://schemas.openxmlformats.org/officeDocument/2006/relationships/image" Target="../media/image115.png"/><Relationship Id="rId10" Type="http://schemas.openxmlformats.org/officeDocument/2006/relationships/image" Target="../media/image2.png"/></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0.xml"/><Relationship Id="rId4" Type="http://schemas.openxmlformats.org/officeDocument/2006/relationships/chart" Target="../charts/chart101.xml"/><Relationship Id="rId5" Type="http://schemas.openxmlformats.org/officeDocument/2006/relationships/notesSlide" Target="../notesSlides/notesSlide142.xml"/><Relationship Id="rId6" Type="http://schemas.openxmlformats.org/officeDocument/2006/relationships/image" Target="../media/image2.png"/></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2.xml"/><Relationship Id="rId4" Type="http://schemas.openxmlformats.org/officeDocument/2006/relationships/chart" Target="../charts/chart103.xml"/><Relationship Id="rId5" Type="http://schemas.openxmlformats.org/officeDocument/2006/relationships/notesSlide" Target="../notesSlides/notesSlide143.xml"/><Relationship Id="rId6" Type="http://schemas.openxmlformats.org/officeDocument/2006/relationships/image" Target="../media/image2.png"/></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4.xml"/><Relationship Id="rId4" Type="http://schemas.openxmlformats.org/officeDocument/2006/relationships/image" Target="../media/image2.png"/></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5.xml"/><Relationship Id="rId4" Type="http://schemas.openxmlformats.org/officeDocument/2006/relationships/image" Target="../media/image2.png"/></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4.xml"/><Relationship Id="rId4" Type="http://schemas.openxmlformats.org/officeDocument/2006/relationships/notesSlide" Target="../notesSlides/notesSlide146.xml"/><Relationship Id="rId5" Type="http://schemas.openxmlformats.org/officeDocument/2006/relationships/image" Target="../media/image2.png"/></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7.xml"/><Relationship Id="rId4" Type="http://schemas.openxmlformats.org/officeDocument/2006/relationships/image" Target="../media/image2.png"/></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8.xml"/><Relationship Id="rId4" Type="http://schemas.openxmlformats.org/officeDocument/2006/relationships/image" Target="../media/image2.png"/></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9.xml"/><Relationship Id="rId4" Type="http://schemas.openxmlformats.org/officeDocument/2006/relationships/image" Target="../media/image2.png"/></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5.xml"/><Relationship Id="rId4" Type="http://schemas.openxmlformats.org/officeDocument/2006/relationships/notesSlide" Target="../notesSlides/notesSlide150.xml"/><Relationship Id="rId5" Type="http://schemas.openxmlformats.org/officeDocument/2006/relationships/image" Target="../media/image2.png"/></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1.xml"/><Relationship Id="rId4" Type="http://schemas.openxmlformats.org/officeDocument/2006/relationships/image" Target="../media/image2.png"/></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2.xml"/><Relationship Id="rId4" Type="http://schemas.openxmlformats.org/officeDocument/2006/relationships/image" Target="../media/image2.png"/></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6.xml"/><Relationship Id="rId4" Type="http://schemas.openxmlformats.org/officeDocument/2006/relationships/notesSlide" Target="../notesSlides/notesSlide153.xml"/><Relationship Id="rId5" Type="http://schemas.openxmlformats.org/officeDocument/2006/relationships/image" Target="../media/image2.png"/></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4.xml"/><Relationship Id="rId4" Type="http://schemas.openxmlformats.org/officeDocument/2006/relationships/image" Target="../media/image2.png"/></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5.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7.xml"/><Relationship Id="rId4" Type="http://schemas.openxmlformats.org/officeDocument/2006/relationships/chart" Target="../charts/chart108.xml"/><Relationship Id="rId5" Type="http://schemas.openxmlformats.org/officeDocument/2006/relationships/chart" Target="../charts/chart109.xml"/><Relationship Id="rId6" Type="http://schemas.openxmlformats.org/officeDocument/2006/relationships/chart" Target="../charts/chart110.xml"/><Relationship Id="rId7" Type="http://schemas.openxmlformats.org/officeDocument/2006/relationships/notesSlide" Target="../notesSlides/notesSlide156.xml"/><Relationship Id="rId8" Type="http://schemas.openxmlformats.org/officeDocument/2006/relationships/image" Target="../media/image2.png"/></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1.xml"/><Relationship Id="rId4" Type="http://schemas.openxmlformats.org/officeDocument/2006/relationships/chart" Target="../charts/chart112.xml"/><Relationship Id="rId5" Type="http://schemas.openxmlformats.org/officeDocument/2006/relationships/chart" Target="../charts/chart113.xml"/><Relationship Id="rId6" Type="http://schemas.openxmlformats.org/officeDocument/2006/relationships/chart" Target="../charts/chart114.xml"/><Relationship Id="rId7" Type="http://schemas.openxmlformats.org/officeDocument/2006/relationships/notesSlide" Target="../notesSlides/notesSlide157.xml"/><Relationship Id="rId8" Type="http://schemas.openxmlformats.org/officeDocument/2006/relationships/image" Target="../media/image2.png"/></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5.xml"/><Relationship Id="rId4" Type="http://schemas.openxmlformats.org/officeDocument/2006/relationships/chart" Target="../charts/chart116.xml"/><Relationship Id="rId5" Type="http://schemas.openxmlformats.org/officeDocument/2006/relationships/chart" Target="../charts/chart117.xml"/><Relationship Id="rId6" Type="http://schemas.openxmlformats.org/officeDocument/2006/relationships/chart" Target="../charts/chart118.xml"/><Relationship Id="rId7" Type="http://schemas.openxmlformats.org/officeDocument/2006/relationships/chart" Target="../charts/chart119.xml"/><Relationship Id="rId8" Type="http://schemas.openxmlformats.org/officeDocument/2006/relationships/chart" Target="../charts/chart120.xml"/><Relationship Id="rId9" Type="http://schemas.openxmlformats.org/officeDocument/2006/relationships/notesSlide" Target="../notesSlides/notesSlide158.xml"/><Relationship Id="rId10" Type="http://schemas.openxmlformats.org/officeDocument/2006/relationships/image" Target="../media/image2.png"/></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1.xml"/><Relationship Id="rId4" Type="http://schemas.openxmlformats.org/officeDocument/2006/relationships/chart" Target="../charts/chart122.xml"/><Relationship Id="rId5" Type="http://schemas.openxmlformats.org/officeDocument/2006/relationships/notesSlide" Target="../notesSlides/notesSlide159.xml"/><Relationship Id="rId6" Type="http://schemas.openxmlformats.org/officeDocument/2006/relationships/image" Target="../media/image2.png"/></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0.xml"/><Relationship Id="rId4" Type="http://schemas.openxmlformats.org/officeDocument/2006/relationships/image" Target="../media/image2.png"/></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1.xml"/><Relationship Id="rId4" Type="http://schemas.openxmlformats.org/officeDocument/2006/relationships/image" Target="../media/image2.png"/></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3.xml"/><Relationship Id="rId4" Type="http://schemas.openxmlformats.org/officeDocument/2006/relationships/chart" Target="../charts/chart124.xml"/><Relationship Id="rId5" Type="http://schemas.openxmlformats.org/officeDocument/2006/relationships/notesSlide" Target="../notesSlides/notesSlide162.xml"/><Relationship Id="rId6" Type="http://schemas.openxmlformats.org/officeDocument/2006/relationships/image" Target="../media/image2.png"/></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3.xml"/><Relationship Id="rId4" Type="http://schemas.openxmlformats.org/officeDocument/2006/relationships/image" Target="../media/image2.png"/></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4.xml"/><Relationship Id="rId4" Type="http://schemas.openxmlformats.org/officeDocument/2006/relationships/image" Target="../media/image2.png"/></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5.xml"/><Relationship Id="rId4" Type="http://schemas.openxmlformats.org/officeDocument/2006/relationships/image" Target="../media/image2.png"/></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6.xml"/><Relationship Id="rId4" Type="http://schemas.openxmlformats.org/officeDocument/2006/relationships/image" Target="../media/image2.png"/></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5.xml"/><Relationship Id="rId4" Type="http://schemas.openxmlformats.org/officeDocument/2006/relationships/chart" Target="../charts/chart126.xml"/><Relationship Id="rId5" Type="http://schemas.openxmlformats.org/officeDocument/2006/relationships/notesSlide" Target="../notesSlides/notesSlide167.xml"/><Relationship Id="rId6" Type="http://schemas.openxmlformats.org/officeDocument/2006/relationships/image" Target="../media/image2.png"/></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8.xml"/><Relationship Id="rId4" Type="http://schemas.openxmlformats.org/officeDocument/2006/relationships/image" Target="../media/image2.png"/></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9.xml"/><Relationship Id="rId4" Type="http://schemas.openxmlformats.org/officeDocument/2006/relationships/image" Target="../media/image2.png"/></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0.xml"/><Relationship Id="rId4" Type="http://schemas.openxmlformats.org/officeDocument/2006/relationships/image" Target="../media/image2.png"/></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7.xml"/><Relationship Id="rId4" Type="http://schemas.openxmlformats.org/officeDocument/2006/relationships/chart" Target="../charts/chart128.xml"/><Relationship Id="rId5" Type="http://schemas.openxmlformats.org/officeDocument/2006/relationships/notesSlide" Target="../notesSlides/notesSlide171.xml"/><Relationship Id="rId6" Type="http://schemas.openxmlformats.org/officeDocument/2006/relationships/image" Target="../media/image2.png"/></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2.xml"/><Relationship Id="rId4" Type="http://schemas.openxmlformats.org/officeDocument/2006/relationships/image" Target="../media/image2.png"/></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3.xml"/><Relationship Id="rId4" Type="http://schemas.openxmlformats.org/officeDocument/2006/relationships/image" Target="../media/image2.png"/></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9.xml"/><Relationship Id="rId4" Type="http://schemas.openxmlformats.org/officeDocument/2006/relationships/chart" Target="../charts/chart130.xml"/><Relationship Id="rId5" Type="http://schemas.openxmlformats.org/officeDocument/2006/relationships/notesSlide" Target="../notesSlides/notesSlide174.xml"/><Relationship Id="rId6" Type="http://schemas.openxmlformats.org/officeDocument/2006/relationships/image" Target="../media/image2.png"/></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5.xml"/><Relationship Id="rId4" Type="http://schemas.openxmlformats.org/officeDocument/2006/relationships/image" Target="../media/image2.png"/></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6.xml"/><Relationship Id="rId4" Type="http://schemas.openxmlformats.org/officeDocument/2006/relationships/image" Target="../media/image2.png"/></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1.xml"/><Relationship Id="rId4" Type="http://schemas.openxmlformats.org/officeDocument/2006/relationships/chart" Target="../charts/chart132.xml"/><Relationship Id="rId5" Type="http://schemas.openxmlformats.org/officeDocument/2006/relationships/notesSlide" Target="../notesSlides/notesSlide177.xml"/><Relationship Id="rId6" Type="http://schemas.openxmlformats.org/officeDocument/2006/relationships/image" Target="../media/image2.png"/></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8.xml"/><Relationship Id="rId4" Type="http://schemas.openxmlformats.org/officeDocument/2006/relationships/image" Target="../media/image2.png"/></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9.xml"/><Relationship Id="rId4" Type="http://schemas.openxmlformats.org/officeDocument/2006/relationships/image" Target="../media/image2.png"/></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0.xml"/><Relationship Id="rId4" Type="http://schemas.openxmlformats.org/officeDocument/2006/relationships/image" Target="../media/image2.png"/></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3.xml"/><Relationship Id="rId4" Type="http://schemas.openxmlformats.org/officeDocument/2006/relationships/notesSlide" Target="../notesSlides/notesSlide181.xml"/><Relationship Id="rId5" Type="http://schemas.openxmlformats.org/officeDocument/2006/relationships/image" Target="../media/image2.png"/></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2.xml"/><Relationship Id="rId4" Type="http://schemas.openxmlformats.org/officeDocument/2006/relationships/image" Target="../media/image2.png"/></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3.xml"/><Relationship Id="rId4" Type="http://schemas.openxmlformats.org/officeDocument/2006/relationships/image" Target="../media/image2.png"/></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4.xml"/><Relationship Id="rId4" Type="http://schemas.openxmlformats.org/officeDocument/2006/relationships/notesSlide" Target="../notesSlides/notesSlide184.xml"/><Relationship Id="rId5" Type="http://schemas.openxmlformats.org/officeDocument/2006/relationships/image" Target="../media/image2.png"/></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5.xml"/><Relationship Id="rId4" Type="http://schemas.openxmlformats.org/officeDocument/2006/relationships/image" Target="../media/image2.png"/></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6.xml"/></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7.xml"/><Relationship Id="rId4" Type="http://schemas.openxmlformats.org/officeDocument/2006/relationships/image" Target="../media/image2.png"/></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5.xml"/><Relationship Id="rId4" Type="http://schemas.openxmlformats.org/officeDocument/2006/relationships/chart" Target="../charts/chart136.xml"/><Relationship Id="rId5" Type="http://schemas.openxmlformats.org/officeDocument/2006/relationships/notesSlide" Target="../notesSlides/notesSlide188.xml"/><Relationship Id="rId6" Type="http://schemas.openxmlformats.org/officeDocument/2006/relationships/image" Target="../media/image2.png"/></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7.xml"/><Relationship Id="rId4" Type="http://schemas.openxmlformats.org/officeDocument/2006/relationships/notesSlide" Target="../notesSlides/notesSlide189.xml"/><Relationship Id="rId5" Type="http://schemas.openxmlformats.org/officeDocument/2006/relationships/image" Target="../media/image2.png"/></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8.xml"/><Relationship Id="rId4" Type="http://schemas.openxmlformats.org/officeDocument/2006/relationships/notesSlide" Target="../notesSlides/notesSlide190.xml"/><Relationship Id="rId5" Type="http://schemas.openxmlformats.org/officeDocument/2006/relationships/image" Target="../media/image2.png"/></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1.xml"/><Relationship Id="rId4" Type="http://schemas.openxmlformats.org/officeDocument/2006/relationships/image" Target="../media/image2.png"/></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2.xml"/><Relationship Id="rId4" Type="http://schemas.openxmlformats.org/officeDocument/2006/relationships/image" Target="../media/image2.png"/></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3.xml"/><Relationship Id="rId4" Type="http://schemas.openxmlformats.org/officeDocument/2006/relationships/image" Target="../media/image2.png"/></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4.xml"/><Relationship Id="rId4" Type="http://schemas.openxmlformats.org/officeDocument/2006/relationships/image" Target="../media/image2.png"/></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5.xml"/><Relationship Id="rId4" Type="http://schemas.openxmlformats.org/officeDocument/2006/relationships/image" Target="../media/image2.png"/></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6.xml"/><Relationship Id="rId4" Type="http://schemas.openxmlformats.org/officeDocument/2006/relationships/image" Target="../media/image2.png"/></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7.xml"/><Relationship Id="rId4" Type="http://schemas.openxmlformats.org/officeDocument/2006/relationships/image" Target="../media/image2.png"/></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8.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9.xml"/><Relationship Id="rId4" Type="http://schemas.openxmlformats.org/officeDocument/2006/relationships/image" Target="../media/image2.png"/></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0.xml"/><Relationship Id="rId4" Type="http://schemas.openxmlformats.org/officeDocument/2006/relationships/image" Target="../media/image2.png"/></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1.xml"/><Relationship Id="rId4" Type="http://schemas.openxmlformats.org/officeDocument/2006/relationships/image" Target="../media/image2.png"/></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2.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3.xml"/><Relationship Id="rId4" Type="http://schemas.openxmlformats.org/officeDocument/2006/relationships/image" Target="../media/image2.png"/></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4.xml"/><Relationship Id="rId4" Type="http://schemas.openxmlformats.org/officeDocument/2006/relationships/image" Target="../media/image2.png"/></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5.xml"/><Relationship Id="rId4" Type="http://schemas.openxmlformats.org/officeDocument/2006/relationships/image" Target="../media/image2.png"/></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6.xml"/><Relationship Id="rId4" Type="http://schemas.openxmlformats.org/officeDocument/2006/relationships/image" Target="../media/image2.png"/></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7.xml"/><Relationship Id="rId4" Type="http://schemas.openxmlformats.org/officeDocument/2006/relationships/image" Target="../media/image2.png"/></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8.xml"/><Relationship Id="rId4" Type="http://schemas.openxmlformats.org/officeDocument/2006/relationships/image" Target="../media/image2.png"/></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9.xml"/><Relationship Id="rId4" Type="http://schemas.openxmlformats.org/officeDocument/2006/relationships/image" Target="../media/image2.png"/></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0.xml"/></Relationships>
</file>

<file path=ppt/slides/_rels/slide2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1.xml"/><Relationship Id="rId4" Type="http://schemas.openxmlformats.org/officeDocument/2006/relationships/image" Target="../media/image2.png"/></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2.xml"/><Relationship Id="rId4" Type="http://schemas.openxmlformats.org/officeDocument/2006/relationships/image" Target="../media/image2.png"/></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3.xml"/><Relationship Id="rId4" Type="http://schemas.openxmlformats.org/officeDocument/2006/relationships/image" Target="../media/image2.png"/></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4.xml"/><Relationship Id="rId4" Type="http://schemas.openxmlformats.org/officeDocument/2006/relationships/image" Target="../media/image2.png"/></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5.xml"/><Relationship Id="rId4" Type="http://schemas.openxmlformats.org/officeDocument/2006/relationships/image" Target="../media/image2.png"/></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6.xml"/><Relationship Id="rId4" Type="http://schemas.openxmlformats.org/officeDocument/2006/relationships/image" Target="../media/image2.png"/></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7.xml"/><Relationship Id="rId4" Type="http://schemas.openxmlformats.org/officeDocument/2006/relationships/image" Target="../media/image2.png"/></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8.xml"/><Relationship Id="rId4" Type="http://schemas.openxmlformats.org/officeDocument/2006/relationships/image" Target="../media/image2.png"/></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9.xml"/><Relationship Id="rId4" Type="http://schemas.openxmlformats.org/officeDocument/2006/relationships/image" Target="../media/image2.png"/></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0.xml"/></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1.xml"/><Relationship Id="rId4" Type="http://schemas.openxmlformats.org/officeDocument/2006/relationships/image" Target="../media/image2.png"/></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2.xml"/><Relationship Id="rId4" Type="http://schemas.openxmlformats.org/officeDocument/2006/relationships/image" Target="../media/image2.png"/></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3.xml"/><Relationship Id="rId4" Type="http://schemas.openxmlformats.org/officeDocument/2006/relationships/image" Target="../media/image2.png"/></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4.xml"/><Relationship Id="rId4" Type="http://schemas.openxmlformats.org/officeDocument/2006/relationships/image" Target="../media/image2.png"/></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9.xml"/><Relationship Id="rId4" Type="http://schemas.openxmlformats.org/officeDocument/2006/relationships/notesSlide" Target="../notesSlides/notesSlide225.xml"/><Relationship Id="rId5" Type="http://schemas.openxmlformats.org/officeDocument/2006/relationships/image" Target="../media/image2.png"/></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0.xml"/><Relationship Id="rId4" Type="http://schemas.openxmlformats.org/officeDocument/2006/relationships/chart" Target="../charts/chart141.xml"/><Relationship Id="rId5" Type="http://schemas.openxmlformats.org/officeDocument/2006/relationships/chart" Target="../charts/chart142.xml"/><Relationship Id="rId6" Type="http://schemas.openxmlformats.org/officeDocument/2006/relationships/notesSlide" Target="../notesSlides/notesSlide226.xml"/><Relationship Id="rId7" Type="http://schemas.openxmlformats.org/officeDocument/2006/relationships/image" Target="../media/image2.png"/></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3.xml"/><Relationship Id="rId4" Type="http://schemas.openxmlformats.org/officeDocument/2006/relationships/chart" Target="../charts/chart144.xml"/><Relationship Id="rId5" Type="http://schemas.openxmlformats.org/officeDocument/2006/relationships/chart" Target="../charts/chart145.xml"/><Relationship Id="rId6" Type="http://schemas.openxmlformats.org/officeDocument/2006/relationships/notesSlide" Target="../notesSlides/notesSlide227.xml"/><Relationship Id="rId7" Type="http://schemas.openxmlformats.org/officeDocument/2006/relationships/image" Target="../media/image2.png"/></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8.xml"/><Relationship Id="rId4" Type="http://schemas.openxmlformats.org/officeDocument/2006/relationships/image" Target="../media/image2.png"/></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6.xml"/><Relationship Id="rId4" Type="http://schemas.openxmlformats.org/officeDocument/2006/relationships/chart" Target="../charts/chart147.xml"/><Relationship Id="rId5" Type="http://schemas.openxmlformats.org/officeDocument/2006/relationships/chart" Target="../charts/chart148.xml"/><Relationship Id="rId6" Type="http://schemas.openxmlformats.org/officeDocument/2006/relationships/notesSlide" Target="../notesSlides/notesSlide229.xml"/><Relationship Id="rId7" Type="http://schemas.openxmlformats.org/officeDocument/2006/relationships/image" Target="../media/image2.png"/></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9.xml"/><Relationship Id="rId4" Type="http://schemas.openxmlformats.org/officeDocument/2006/relationships/notesSlide" Target="../notesSlides/notesSlide230.xml"/><Relationship Id="rId5" Type="http://schemas.openxmlformats.org/officeDocument/2006/relationships/image" Target="../media/image2.png"/></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1.xml"/><Relationship Id="rId4" Type="http://schemas.openxmlformats.org/officeDocument/2006/relationships/image" Target="../media/image2.png"/></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2.xml"/><Relationship Id="rId4" Type="http://schemas.openxmlformats.org/officeDocument/2006/relationships/image" Target="../media/image2.png"/></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3.xml"/><Relationship Id="rId4" Type="http://schemas.openxmlformats.org/officeDocument/2006/relationships/image" Target="../media/image2.png"/></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0.xml"/><Relationship Id="rId4" Type="http://schemas.openxmlformats.org/officeDocument/2006/relationships/chart" Target="../charts/chart151.xml"/><Relationship Id="rId5" Type="http://schemas.openxmlformats.org/officeDocument/2006/relationships/chart" Target="../charts/chart152.xml"/><Relationship Id="rId6" Type="http://schemas.openxmlformats.org/officeDocument/2006/relationships/notesSlide" Target="../notesSlides/notesSlide234.xml"/><Relationship Id="rId7" Type="http://schemas.openxmlformats.org/officeDocument/2006/relationships/image" Target="../media/image2.png"/></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3.xml"/><Relationship Id="rId4" Type="http://schemas.openxmlformats.org/officeDocument/2006/relationships/notesSlide" Target="../notesSlides/notesSlide235.xml"/><Relationship Id="rId5" Type="http://schemas.openxmlformats.org/officeDocument/2006/relationships/image" Target="../media/image2.png"/></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6.xml"/><Relationship Id="rId4" Type="http://schemas.openxmlformats.org/officeDocument/2006/relationships/image" Target="../media/image2.png"/></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7.xml"/><Relationship Id="rId4" Type="http://schemas.openxmlformats.org/officeDocument/2006/relationships/image" Target="../media/image2.png"/></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8.xml"/><Relationship Id="rId4" Type="http://schemas.openxmlformats.org/officeDocument/2006/relationships/image" Target="../media/image2.png"/></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4.xml"/><Relationship Id="rId4" Type="http://schemas.openxmlformats.org/officeDocument/2006/relationships/chart" Target="../charts/chart155.xml"/><Relationship Id="rId5" Type="http://schemas.openxmlformats.org/officeDocument/2006/relationships/chart" Target="../charts/chart156.xml"/><Relationship Id="rId6" Type="http://schemas.openxmlformats.org/officeDocument/2006/relationships/notesSlide" Target="../notesSlides/notesSlide239.xml"/><Relationship Id="rId7" Type="http://schemas.openxmlformats.org/officeDocument/2006/relationships/image" Target="../media/image2.png"/></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7.xml"/><Relationship Id="rId4" Type="http://schemas.openxmlformats.org/officeDocument/2006/relationships/notesSlide" Target="../notesSlides/notesSlide240.xml"/><Relationship Id="rId5" Type="http://schemas.openxmlformats.org/officeDocument/2006/relationships/image" Target="../media/image2.png"/></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1.xml"/><Relationship Id="rId4" Type="http://schemas.openxmlformats.org/officeDocument/2006/relationships/image" Target="../media/image2.png"/></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2.xml"/><Relationship Id="rId4" Type="http://schemas.openxmlformats.org/officeDocument/2006/relationships/image" Target="../media/image2.png"/></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3.xml"/><Relationship Id="rId4" Type="http://schemas.openxmlformats.org/officeDocument/2006/relationships/image" Target="../media/image2.png"/></Relationships>
</file>

<file path=ppt/slides/slide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8F8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Oval 2"/>
          <p:cNvSpPr/>
          <p:nvPr/>
        </p:nvSpPr>
        <p:spPr>
          <a:xfrm>
            <a:off x="-1905000" y="4476750"/>
            <a:ext cx="5334000" cy="5334000"/>
          </a:xfrm>
          <a:prstGeom prst="ellipse">
            <a:avLst/>
          </a:prstGeom>
          <a:solidFill>
            <a:srgbClr val="EAF6FB">
              <a:alpha val="4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Oval 3"/>
          <p:cNvSpPr/>
          <p:nvPr/>
        </p:nvSpPr>
        <p:spPr>
          <a:xfrm>
            <a:off x="8001000" y="-2000250"/>
            <a:ext cx="5334000" cy="5334000"/>
          </a:xfrm>
          <a:prstGeom prst="ellipse">
            <a:avLst/>
          </a:prstGeom>
          <a:noFill/>
          <a:ln w="19050">
            <a:solidFill>
              <a:srgbClr val="B2B2B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Oval 4"/>
          <p:cNvSpPr/>
          <p:nvPr/>
        </p:nvSpPr>
        <p:spPr>
          <a:xfrm>
            <a:off x="8715375" y="-1285875"/>
            <a:ext cx="3905250" cy="3905250"/>
          </a:xfrm>
          <a:prstGeom prst="ellipse">
            <a:avLst/>
          </a:prstGeom>
          <a:noFill/>
          <a:ln w="19050">
            <a:solidFill>
              <a:srgbClr val="B2B2B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Oval 5"/>
          <p:cNvSpPr/>
          <p:nvPr/>
        </p:nvSpPr>
        <p:spPr>
          <a:xfrm>
            <a:off x="9382125" y="-619125"/>
            <a:ext cx="2571750" cy="2571750"/>
          </a:xfrm>
          <a:prstGeom prst="ellipse">
            <a:avLst/>
          </a:prstGeom>
          <a:noFill/>
          <a:ln w="19050">
            <a:solidFill>
              <a:srgbClr val="B2B2B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Oval 6"/>
          <p:cNvSpPr/>
          <p:nvPr/>
        </p:nvSpPr>
        <p:spPr>
          <a:xfrm>
            <a:off x="10096500" y="95250"/>
            <a:ext cx="1143000" cy="1143000"/>
          </a:xfrm>
          <a:prstGeom prst="ellipse">
            <a:avLst/>
          </a:prstGeom>
          <a:solidFill>
            <a:srgbClr val="EAF6FB">
              <a:alpha val="22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 name="Rounded Rectangle 7"/>
          <p:cNvSpPr/>
          <p:nvPr/>
        </p:nvSpPr>
        <p:spPr>
          <a:xfrm>
            <a:off x="9010650" y="5848350"/>
            <a:ext cx="228600" cy="24765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 name="Rounded Rectangle 8"/>
          <p:cNvSpPr/>
          <p:nvPr/>
        </p:nvSpPr>
        <p:spPr>
          <a:xfrm>
            <a:off x="9391650" y="5676900"/>
            <a:ext cx="228600" cy="4191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 name="Rounded Rectangle 9"/>
          <p:cNvSpPr/>
          <p:nvPr/>
        </p:nvSpPr>
        <p:spPr>
          <a:xfrm>
            <a:off x="9772650" y="5772150"/>
            <a:ext cx="228600" cy="32385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Rounded Rectangle 10"/>
          <p:cNvSpPr/>
          <p:nvPr/>
        </p:nvSpPr>
        <p:spPr>
          <a:xfrm>
            <a:off x="10153650" y="5524500"/>
            <a:ext cx="228600" cy="5715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ounded Rectangle 11"/>
          <p:cNvSpPr/>
          <p:nvPr/>
        </p:nvSpPr>
        <p:spPr>
          <a:xfrm>
            <a:off x="10534650" y="5314950"/>
            <a:ext cx="228600" cy="78105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Rounded Rectangle 12"/>
          <p:cNvSpPr/>
          <p:nvPr/>
        </p:nvSpPr>
        <p:spPr>
          <a:xfrm>
            <a:off x="10915650" y="5600700"/>
            <a:ext cx="228600" cy="4953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Rounded Rectangle 13"/>
          <p:cNvSpPr/>
          <p:nvPr/>
        </p:nvSpPr>
        <p:spPr>
          <a:xfrm>
            <a:off x="11296650" y="5181600"/>
            <a:ext cx="228600" cy="9144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15" name="Picture 14" descr="fmi_logo_template.png"/>
          <p:cNvPicPr>
            <a:picLocks noChangeAspect="1"/>
          </p:cNvPicPr>
          <p:nvPr/>
        </p:nvPicPr>
        <p:blipFill>
          <a:blip r:embed="rId2"/>
          <a:stretch>
            <a:fillRect/>
          </a:stretch>
        </p:blipFill>
        <p:spPr>
          <a:xfrm>
            <a:off x="914400" y="381000"/>
            <a:ext cx="1307592" cy="1325880"/>
          </a:xfrm>
          <a:prstGeom prst="rect">
            <a:avLst/>
          </a:prstGeom>
        </p:spPr>
      </p:pic>
      <p:sp>
        <p:nvSpPr>
          <p:cNvPr id="16" name="TextBox 15"/>
          <p:cNvSpPr txBox="1"/>
          <p:nvPr/>
        </p:nvSpPr>
        <p:spPr>
          <a:xfrm>
            <a:off x="1143000" y="2667000"/>
            <a:ext cx="9334500" cy="1809750"/>
          </a:xfrm>
          <a:prstGeom prst="rect">
            <a:avLst/>
          </a:prstGeom>
          <a:noFill/>
        </p:spPr>
        <p:txBody>
          <a:bodyPr wrap="square" lIns="28575" rIns="28575" tIns="9525" bIns="9525" anchor="ctr">
            <a:spAutoFit/>
          </a:bodyPr>
          <a:lstStyle/>
          <a:p>
            <a:pPr algn="l"/>
            <a:r>
              <a:rPr sz="3400" b="1">
                <a:solidFill>
                  <a:srgbClr val="0B2E4A"/>
                </a:solidFill>
                <a:latin typeface="Calibri"/>
              </a:rPr>
              <a:t>Global Removable Partial Dentures Market</a:t>
            </a:r>
          </a:p>
        </p:txBody>
      </p:sp>
      <p:sp>
        <p:nvSpPr>
          <p:cNvPr id="17" name="TextBox 16"/>
          <p:cNvSpPr txBox="1"/>
          <p:nvPr/>
        </p:nvSpPr>
        <p:spPr>
          <a:xfrm>
            <a:off x="1162050" y="4686300"/>
            <a:ext cx="9334500" cy="857250"/>
          </a:xfrm>
          <a:prstGeom prst="rect">
            <a:avLst/>
          </a:prstGeom>
          <a:noFill/>
        </p:spPr>
        <p:txBody>
          <a:bodyPr wrap="square" lIns="28575" rIns="28575" tIns="9525" bIns="9525">
            <a:spAutoFit/>
          </a:bodyPr>
          <a:lstStyle/>
          <a:p>
            <a:pPr algn="l"/>
            <a:r>
              <a:rPr sz="1600" b="0">
                <a:solidFill>
                  <a:srgbClr val="6C7A89"/>
                </a:solidFill>
                <a:latin typeface="Calibri"/>
              </a:rPr>
              <a:t>Value (US$ Mn) and Volume (Units) Analysis and Forecast, 2021–2036</a:t>
            </a:r>
          </a:p>
          <a:p>
            <a:pPr algn="l"/>
            <a:r>
              <a:rPr sz="1100" b="0">
                <a:solidFill>
                  <a:srgbClr val="8FCBE6"/>
                </a:solidFill>
                <a:latin typeface="Calibri"/>
              </a:rPr>
              <a:t>Region focus: Global   ·   Country focus: U.S.   ·   Generated 12 Oct 2026   ·   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Agenda</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Storyline of the report by section · click a section card to jump to it</a:t>
            </a:r>
          </a:p>
        </p:txBody>
      </p:sp>
      <p:sp>
        <p:nvSpPr>
          <p:cNvPr id="10" name="Rounded Rectangle 9">
            <a:hlinkClick action="ppaction://hlinksldjump" r:id="rId3"/>
          </p:cNvPr>
          <p:cNvSpPr/>
          <p:nvPr/>
        </p:nvSpPr>
        <p:spPr>
          <a:xfrm>
            <a:off x="314325" y="1135037"/>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 Market Signals</a:t>
            </a:r>
          </a:p>
        </p:txBody>
      </p:sp>
      <p:sp>
        <p:nvSpPr>
          <p:cNvPr id="11" name="Rounded Rectangle 10">
            <a:hlinkClick action="ppaction://hlinksldjump" r:id="rId4"/>
          </p:cNvPr>
          <p:cNvSpPr/>
          <p:nvPr/>
        </p:nvSpPr>
        <p:spPr>
          <a:xfrm>
            <a:off x="142875" y="1494026"/>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Market Overview</a:t>
            </a:r>
          </a:p>
        </p:txBody>
      </p:sp>
      <p:sp>
        <p:nvSpPr>
          <p:cNvPr id="12" name="Rounded Rectangle 11">
            <a:hlinkClick action="ppaction://hlinksldjump" r:id="rId5"/>
          </p:cNvPr>
          <p:cNvSpPr/>
          <p:nvPr/>
        </p:nvSpPr>
        <p:spPr>
          <a:xfrm>
            <a:off x="314325" y="1868227"/>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2. Market Taxonomy</a:t>
            </a:r>
          </a:p>
        </p:txBody>
      </p:sp>
      <p:sp>
        <p:nvSpPr>
          <p:cNvPr id="13" name="Rounded Rectangle 12">
            <a:hlinkClick action="ppaction://hlinksldjump" r:id="rId6"/>
          </p:cNvPr>
          <p:cNvSpPr/>
          <p:nvPr/>
        </p:nvSpPr>
        <p:spPr>
          <a:xfrm>
            <a:off x="314325" y="2227217"/>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3. Table of Contents</a:t>
            </a:r>
          </a:p>
        </p:txBody>
      </p:sp>
      <p:sp>
        <p:nvSpPr>
          <p:cNvPr id="14" name="Rounded Rectangle 13">
            <a:hlinkClick action="ppaction://hlinksldjump" r:id="rId7"/>
          </p:cNvPr>
          <p:cNvSpPr/>
          <p:nvPr/>
        </p:nvSpPr>
        <p:spPr>
          <a:xfrm>
            <a:off x="314325" y="2586206"/>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4. List of Figures, List of Tables</a:t>
            </a:r>
          </a:p>
        </p:txBody>
      </p:sp>
      <p:sp>
        <p:nvSpPr>
          <p:cNvPr id="15" name="Rounded Rectangle 14">
            <a:hlinkClick action="ppaction://hlinksldjump" r:id="rId8"/>
          </p:cNvPr>
          <p:cNvSpPr/>
          <p:nvPr/>
        </p:nvSpPr>
        <p:spPr>
          <a:xfrm>
            <a:off x="142875" y="2945195"/>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Global Market Outlook</a:t>
            </a:r>
          </a:p>
        </p:txBody>
      </p:sp>
      <p:sp>
        <p:nvSpPr>
          <p:cNvPr id="16" name="Rounded Rectangle 15">
            <a:hlinkClick action="ppaction://hlinksldjump" r:id="rId9"/>
          </p:cNvPr>
          <p:cNvSpPr/>
          <p:nvPr/>
        </p:nvSpPr>
        <p:spPr>
          <a:xfrm>
            <a:off x="314325" y="3319396"/>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5. Removable Partial Dentures Market Global Overview</a:t>
            </a:r>
          </a:p>
        </p:txBody>
      </p:sp>
      <p:sp>
        <p:nvSpPr>
          <p:cNvPr id="17" name="Rounded Rectangle 16">
            <a:hlinkClick action="ppaction://hlinksldjump" r:id="rId10"/>
          </p:cNvPr>
          <p:cNvSpPr/>
          <p:nvPr/>
        </p:nvSpPr>
        <p:spPr>
          <a:xfrm>
            <a:off x="314325" y="3678386"/>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6. Global Market Analysis By Region</a:t>
            </a:r>
          </a:p>
        </p:txBody>
      </p:sp>
      <p:sp>
        <p:nvSpPr>
          <p:cNvPr id="18" name="Rounded Rectangle 17">
            <a:hlinkClick action="ppaction://hlinksldjump" r:id="rId11"/>
          </p:cNvPr>
          <p:cNvSpPr/>
          <p:nvPr/>
        </p:nvSpPr>
        <p:spPr>
          <a:xfrm>
            <a:off x="314325" y="4037375"/>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7. Global Market Analysis By Segments</a:t>
            </a:r>
          </a:p>
        </p:txBody>
      </p:sp>
      <p:sp>
        <p:nvSpPr>
          <p:cNvPr id="19" name="Rounded Rectangle 18">
            <a:hlinkClick action="ppaction://hlinksldjump" r:id="rId12"/>
          </p:cNvPr>
          <p:cNvSpPr/>
          <p:nvPr/>
        </p:nvSpPr>
        <p:spPr>
          <a:xfrm>
            <a:off x="314325" y="4396364"/>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8. Cross-sectional Assessment</a:t>
            </a:r>
          </a:p>
        </p:txBody>
      </p:sp>
      <p:sp>
        <p:nvSpPr>
          <p:cNvPr id="20" name="Rounded Rectangle 19">
            <a:hlinkClick action="ppaction://hlinksldjump" r:id="rId13"/>
          </p:cNvPr>
          <p:cNvSpPr/>
          <p:nvPr/>
        </p:nvSpPr>
        <p:spPr>
          <a:xfrm>
            <a:off x="142875" y="4755354"/>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North America Market Outlook</a:t>
            </a:r>
          </a:p>
        </p:txBody>
      </p:sp>
      <p:sp>
        <p:nvSpPr>
          <p:cNvPr id="21" name="Rounded Rectangle 20">
            <a:hlinkClick action="ppaction://hlinksldjump" r:id="rId14"/>
          </p:cNvPr>
          <p:cNvSpPr/>
          <p:nvPr/>
        </p:nvSpPr>
        <p:spPr>
          <a:xfrm>
            <a:off x="314325" y="5129555"/>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9. North America Overview</a:t>
            </a:r>
          </a:p>
        </p:txBody>
      </p:sp>
      <p:sp>
        <p:nvSpPr>
          <p:cNvPr id="22" name="Rounded Rectangle 21">
            <a:hlinkClick action="ppaction://hlinksldjump" r:id="rId15"/>
          </p:cNvPr>
          <p:cNvSpPr/>
          <p:nvPr/>
        </p:nvSpPr>
        <p:spPr>
          <a:xfrm>
            <a:off x="314325" y="5488544"/>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10. North America Market Analysis By Country</a:t>
            </a:r>
          </a:p>
        </p:txBody>
      </p:sp>
      <p:sp>
        <p:nvSpPr>
          <p:cNvPr id="23" name="Rounded Rectangle 22">
            <a:hlinkClick action="ppaction://hlinksldjump" r:id="rId16"/>
          </p:cNvPr>
          <p:cNvSpPr/>
          <p:nvPr/>
        </p:nvSpPr>
        <p:spPr>
          <a:xfrm>
            <a:off x="314325" y="5847533"/>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11. North America Market Analysis By Segments</a:t>
            </a:r>
          </a:p>
        </p:txBody>
      </p:sp>
      <p:sp>
        <p:nvSpPr>
          <p:cNvPr id="24" name="Rounded Rectangle 23">
            <a:hlinkClick action="ppaction://hlinksldjump" r:id="rId17"/>
          </p:cNvPr>
          <p:cNvSpPr/>
          <p:nvPr/>
        </p:nvSpPr>
        <p:spPr>
          <a:xfrm>
            <a:off x="314325" y="6206523"/>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12. Cross-sectional Assessment</a:t>
            </a:r>
          </a:p>
        </p:txBody>
      </p:sp>
      <p:sp>
        <p:nvSpPr>
          <p:cNvPr id="25" name="Rounded Rectangle 24">
            <a:hlinkClick action="ppaction://hlinksldjump" r:id="rId18"/>
          </p:cNvPr>
          <p:cNvSpPr/>
          <p:nvPr/>
        </p:nvSpPr>
        <p:spPr>
          <a:xfrm>
            <a:off x="6219825" y="1135037"/>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Country Market Outlook</a:t>
            </a:r>
          </a:p>
        </p:txBody>
      </p:sp>
      <p:sp>
        <p:nvSpPr>
          <p:cNvPr id="26" name="Rounded Rectangle 25">
            <a:hlinkClick action="ppaction://hlinksldjump" r:id="rId19"/>
          </p:cNvPr>
          <p:cNvSpPr/>
          <p:nvPr/>
        </p:nvSpPr>
        <p:spPr>
          <a:xfrm>
            <a:off x="6391275" y="1567802"/>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13. Removable Partial Dentures Market Overview (Volume &amp; Value)</a:t>
            </a:r>
          </a:p>
        </p:txBody>
      </p:sp>
      <p:sp>
        <p:nvSpPr>
          <p:cNvPr id="27" name="Rounded Rectangle 26">
            <a:hlinkClick action="ppaction://hlinksldjump" r:id="rId20"/>
          </p:cNvPr>
          <p:cNvSpPr/>
          <p:nvPr/>
        </p:nvSpPr>
        <p:spPr>
          <a:xfrm>
            <a:off x="6391275" y="1985355"/>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14. Segment Overview (Volume &amp; Value)</a:t>
            </a:r>
          </a:p>
        </p:txBody>
      </p:sp>
      <p:sp>
        <p:nvSpPr>
          <p:cNvPr id="28" name="Rounded Rectangle 27">
            <a:hlinkClick action="ppaction://hlinksldjump" r:id="rId21"/>
          </p:cNvPr>
          <p:cNvSpPr/>
          <p:nvPr/>
        </p:nvSpPr>
        <p:spPr>
          <a:xfrm>
            <a:off x="6391275" y="2402908"/>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15. Cross-sectional Assessment</a:t>
            </a:r>
          </a:p>
        </p:txBody>
      </p:sp>
      <p:sp>
        <p:nvSpPr>
          <p:cNvPr id="29" name="Rounded Rectangle 28">
            <a:hlinkClick action="ppaction://hlinksldjump" r:id="rId22"/>
          </p:cNvPr>
          <p:cNvSpPr/>
          <p:nvPr/>
        </p:nvSpPr>
        <p:spPr>
          <a:xfrm>
            <a:off x="6219825" y="2820462"/>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Pricing Assessment</a:t>
            </a:r>
          </a:p>
        </p:txBody>
      </p:sp>
      <p:sp>
        <p:nvSpPr>
          <p:cNvPr id="30" name="Rounded Rectangle 29">
            <a:hlinkClick action="ppaction://hlinksldjump" r:id="rId23"/>
          </p:cNvPr>
          <p:cNvSpPr/>
          <p:nvPr/>
        </p:nvSpPr>
        <p:spPr>
          <a:xfrm>
            <a:off x="6391275" y="3253227"/>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16. Removable Partial Dentures Market Pricing Analysis</a:t>
            </a:r>
          </a:p>
        </p:txBody>
      </p:sp>
      <p:sp>
        <p:nvSpPr>
          <p:cNvPr id="31" name="Rounded Rectangle 30">
            <a:hlinkClick action="ppaction://hlinksldjump" r:id="rId24"/>
          </p:cNvPr>
          <p:cNvSpPr/>
          <p:nvPr/>
        </p:nvSpPr>
        <p:spPr>
          <a:xfrm>
            <a:off x="6391275" y="3670779"/>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17. Supply Chain Analysis</a:t>
            </a:r>
          </a:p>
        </p:txBody>
      </p:sp>
      <p:sp>
        <p:nvSpPr>
          <p:cNvPr id="32" name="Rounded Rectangle 31">
            <a:hlinkClick action="ppaction://hlinksldjump" r:id="rId25"/>
          </p:cNvPr>
          <p:cNvSpPr/>
          <p:nvPr/>
        </p:nvSpPr>
        <p:spPr>
          <a:xfrm>
            <a:off x="6219825" y="4088333"/>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Market Dynamics</a:t>
            </a:r>
          </a:p>
        </p:txBody>
      </p:sp>
      <p:sp>
        <p:nvSpPr>
          <p:cNvPr id="33" name="Rounded Rectangle 32">
            <a:hlinkClick action="ppaction://hlinksldjump" r:id="rId26"/>
          </p:cNvPr>
          <p:cNvSpPr/>
          <p:nvPr/>
        </p:nvSpPr>
        <p:spPr>
          <a:xfrm>
            <a:off x="6391275" y="4521098"/>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18. Market Dynamics &amp; Forces</a:t>
            </a:r>
          </a:p>
        </p:txBody>
      </p:sp>
      <p:sp>
        <p:nvSpPr>
          <p:cNvPr id="34" name="Rounded Rectangle 33">
            <a:hlinkClick action="ppaction://hlinksldjump" r:id="rId27"/>
          </p:cNvPr>
          <p:cNvSpPr/>
          <p:nvPr/>
        </p:nvSpPr>
        <p:spPr>
          <a:xfrm>
            <a:off x="6219825" y="4938651"/>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Competition Assessment</a:t>
            </a:r>
          </a:p>
        </p:txBody>
      </p:sp>
      <p:sp>
        <p:nvSpPr>
          <p:cNvPr id="35" name="Rounded Rectangle 34">
            <a:hlinkClick action="ppaction://hlinksldjump" r:id="rId28"/>
          </p:cNvPr>
          <p:cNvSpPr/>
          <p:nvPr/>
        </p:nvSpPr>
        <p:spPr>
          <a:xfrm>
            <a:off x="6391275" y="5371416"/>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19. Competitive Landscape</a:t>
            </a:r>
          </a:p>
        </p:txBody>
      </p:sp>
      <p:sp>
        <p:nvSpPr>
          <p:cNvPr id="36" name="Rounded Rectangle 35">
            <a:hlinkClick action="ppaction://hlinksldjump" r:id="rId29"/>
          </p:cNvPr>
          <p:cNvSpPr/>
          <p:nvPr/>
        </p:nvSpPr>
        <p:spPr>
          <a:xfrm>
            <a:off x="6391275" y="5788969"/>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20. Market Share by Leading Players</a:t>
            </a:r>
          </a:p>
        </p:txBody>
      </p:sp>
      <p:sp>
        <p:nvSpPr>
          <p:cNvPr id="37" name="Rounded Rectangle 36">
            <a:hlinkClick action="ppaction://hlinksldjump" r:id="rId30"/>
          </p:cNvPr>
          <p:cNvSpPr/>
          <p:nvPr/>
        </p:nvSpPr>
        <p:spPr>
          <a:xfrm>
            <a:off x="6391275" y="6206523"/>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21. Company Profiles &amp; Strategic Benchmarking</a:t>
            </a:r>
          </a:p>
        </p:txBody>
      </p:sp>
      <p:sp>
        <p:nvSpPr>
          <p:cNvPr id="38" name="TextBox 3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31464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489325"/>
            <a:ext cx="8572500" cy="514350"/>
          </a:xfrm>
          <a:prstGeom prst="rect">
            <a:avLst/>
          </a:prstGeom>
          <a:noFill/>
        </p:spPr>
        <p:txBody>
          <a:bodyPr wrap="square" lIns="0" rIns="0" tIns="0">
            <a:spAutoFit/>
          </a:bodyPr>
          <a:lstStyle/>
          <a:p>
            <a:r>
              <a:rPr sz="3000" b="1">
                <a:solidFill>
                  <a:srgbClr val="0B3C8C"/>
                </a:solidFill>
                <a:latin typeface="Calibri"/>
              </a:rPr>
              <a:t>Market Signals</a:t>
            </a:r>
          </a:p>
        </p:txBody>
      </p:sp>
      <p:sp>
        <p:nvSpPr>
          <p:cNvPr id="11" name="TextBox 10"/>
          <p:cNvSpPr txBox="1"/>
          <p:nvPr/>
        </p:nvSpPr>
        <p:spPr>
          <a:xfrm>
            <a:off x="914400" y="4175125"/>
            <a:ext cx="84582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Signals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Signals Reshaping Removable Partial Dentures Demand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Signals reshaping Removable Partial Dentures demand, the evidence behind each and what it implies for the global market</a:t>
            </a:r>
          </a:p>
        </p:txBody>
      </p:sp>
      <p:graphicFrame>
        <p:nvGraphicFramePr>
          <p:cNvPr id="10" name="Table 9"/>
          <p:cNvGraphicFramePr>
            <a:graphicFrameLocks noGrp="1"/>
          </p:cNvGraphicFramePr>
          <p:nvPr/>
        </p:nvGraphicFramePr>
        <p:xfrm>
          <a:off x="142875" y="1062022"/>
          <a:ext cx="11906250" cy="5549125"/>
        </p:xfrm>
        <a:graphic>
          <a:graphicData uri="http://schemas.openxmlformats.org/drawingml/2006/table">
            <a:tbl>
              <a:tblPr>
                <a:tableStyleId>{5C22544A-7EE6-4342-B048-85BDC9FD1C3A}</a:tableStyleId>
              </a:tblPr>
              <a:tblGrid>
                <a:gridCol w="3571875"/>
                <a:gridCol w="5000625"/>
                <a:gridCol w="3333750"/>
              </a:tblGrid>
              <a:tr h="346820">
                <a:tc>
                  <a:txBody>
                    <a:bodyPr wrap="square"/>
                    <a:lstStyle/>
                    <a:p>
                      <a:pPr algn="l"/>
                      <a:r>
                        <a:rPr sz="1100" b="1">
                          <a:solidFill>
                            <a:srgbClr val="0B2E4A"/>
                          </a:solidFill>
                          <a:latin typeface="Calibri"/>
                        </a:rPr>
                        <a:t>QUESTIONS WE'RE HEARING</a:t>
                      </a:r>
                    </a:p>
                  </a:txBody>
                  <a:tcPr marL="70000" marR="70000" marT="45000" marB="45000" anchor="ctr">
                    <a:solidFill>
                      <a:srgbClr val="EAF1F8"/>
                    </a:solidFill>
                  </a:tcPr>
                </a:tc>
                <a:tc>
                  <a:txBody>
                    <a:bodyPr wrap="square"/>
                    <a:lstStyle/>
                    <a:p>
                      <a:pPr algn="l"/>
                      <a:r>
                        <a:rPr sz="1100" b="1">
                          <a:solidFill>
                            <a:srgbClr val="0B2E4A"/>
                          </a:solidFill>
                          <a:latin typeface="Calibri"/>
                        </a:rPr>
                        <a:t>WHAT WE'RE OBSERVING</a:t>
                      </a:r>
                    </a:p>
                  </a:txBody>
                  <a:tcPr marL="70000" marR="70000" marT="45000" marB="45000" anchor="ctr">
                    <a:solidFill>
                      <a:srgbClr val="EAF1F8"/>
                    </a:solidFill>
                  </a:tcPr>
                </a:tc>
                <a:tc>
                  <a:txBody>
                    <a:bodyPr wrap="square"/>
                    <a:lstStyle/>
                    <a:p>
                      <a:pPr algn="l"/>
                      <a:r>
                        <a:rPr sz="1100" b="1">
                          <a:solidFill>
                            <a:srgbClr val="0B2E4A"/>
                          </a:solidFill>
                          <a:latin typeface="Calibri"/>
                        </a:rPr>
                        <a:t>SELECT DATA POINTS</a:t>
                      </a:r>
                    </a:p>
                  </a:txBody>
                  <a:tcPr marL="70000" marR="70000" marT="45000" marB="45000" anchor="ctr">
                    <a:solidFill>
                      <a:srgbClr val="EAF1F8"/>
                    </a:solidFill>
                  </a:tcPr>
                </a:tc>
              </a:tr>
              <a:tr h="1040461">
                <a:tc>
                  <a:txBody>
                    <a:bodyPr wrap="square"/>
                    <a:lstStyle/>
                    <a:p>
                      <a:pPr algn="l"/>
                      <a:r>
                        <a:rPr sz="1100" b="1">
                          <a:solidFill>
                            <a:srgbClr val="0B2E4A"/>
                          </a:solidFill>
                          <a:latin typeface="Calibri"/>
                        </a:rPr>
                        <a:t>How fast is Removable Partial Dentures demand set to grow through 2036?</a:t>
                      </a:r>
                    </a:p>
                  </a:txBody>
                  <a:tcPr marL="70000" marR="70000" marT="45000" marB="45000" anchor="ctr">
                    <a:solidFill>
                      <a:srgbClr val="FFFFFF"/>
                    </a:solidFill>
                  </a:tcPr>
                </a:tc>
                <a:tc>
                  <a:txBody>
                    <a:bodyPr wrap="square"/>
                    <a:lstStyle/>
                    <a:p>
                      <a:pPr algn="l"/>
                      <a:r>
                        <a:rPr sz="1100" b="0">
                          <a:solidFill>
                            <a:srgbClr val="2E2E2E"/>
                          </a:solidFill>
                          <a:latin typeface="Calibri"/>
                        </a:rPr>
                        <a:t/>
                      </a:r>
                    </a:p>
                  </a:txBody>
                  <a:tcPr marL="70000" marR="70000" marT="45000" marB="45000" anchor="ctr">
                    <a:solidFill>
                      <a:srgbClr val="FFFFFF"/>
                    </a:solidFill>
                  </a:tcPr>
                </a:tc>
                <a:tc>
                  <a:txBody>
                    <a:bodyPr wrap="square"/>
                    <a:lstStyle/>
                    <a:p>
                      <a:pPr algn="l"/>
                      <a:r>
                        <a:rPr sz="1100"/>
                        <a:t> </a:t>
                      </a:r>
                    </a:p>
                  </a:txBody>
                  <a:tcPr marL="70000" marR="70000" marT="45000" marB="45000" anchor="ctr">
                    <a:solidFill>
                      <a:srgbClr val="FFFFFF"/>
                    </a:solidFill>
                  </a:tcPr>
                </a:tc>
              </a:tr>
              <a:tr h="1040461">
                <a:tc>
                  <a:txBody>
                    <a:bodyPr wrap="square"/>
                    <a:lstStyle/>
                    <a:p>
                      <a:pPr algn="l"/>
                      <a:r>
                        <a:rPr sz="1100" b="1">
                          <a:solidFill>
                            <a:srgbClr val="0B2E4A"/>
                          </a:solidFill>
                          <a:latin typeface="Calibri"/>
                        </a:rPr>
                        <a:t>Which product type categories are buyers prioritising?</a:t>
                      </a:r>
                    </a:p>
                  </a:txBody>
                  <a:tcPr marL="70000" marR="70000" marT="45000" marB="45000" anchor="ctr">
                    <a:solidFill>
                      <a:srgbClr val="F6F9FC"/>
                    </a:solidFill>
                  </a:tcPr>
                </a:tc>
                <a:tc>
                  <a:txBody>
                    <a:bodyPr wrap="square"/>
                    <a:lstStyle/>
                    <a:p>
                      <a:pPr algn="l"/>
                      <a:r>
                        <a:rPr sz="1100" b="0">
                          <a:solidFill>
                            <a:srgbClr val="2E2E2E"/>
                          </a:solidFill>
                          <a:latin typeface="Calibri"/>
                        </a:rPr>
                        <a:t/>
                      </a:r>
                    </a:p>
                  </a:txBody>
                  <a:tcPr marL="70000" marR="70000" marT="45000" marB="45000" anchor="ctr">
                    <a:solidFill>
                      <a:srgbClr val="F6F9FC"/>
                    </a:solidFill>
                  </a:tcPr>
                </a:tc>
                <a:tc>
                  <a:txBody>
                    <a:bodyPr wrap="square"/>
                    <a:lstStyle/>
                    <a:p>
                      <a:pPr algn="l"/>
                      <a:r>
                        <a:rPr sz="1100" b="0">
                          <a:solidFill>
                            <a:srgbClr val="2E2E2E"/>
                          </a:solidFill>
                          <a:latin typeface="Calibri"/>
                        </a:rPr>
                        <a:t/>
                      </a:r>
                    </a:p>
                  </a:txBody>
                  <a:tcPr marL="70000" marR="70000" marT="45000" marB="45000" anchor="ctr">
                    <a:solidFill>
                      <a:srgbClr val="F6F9FC"/>
                    </a:solidFill>
                  </a:tcPr>
                </a:tc>
              </a:tr>
              <a:tr h="1040461">
                <a:tc>
                  <a:txBody>
                    <a:bodyPr wrap="square"/>
                    <a:lstStyle/>
                    <a:p>
                      <a:pPr algn="l"/>
                      <a:r>
                        <a:rPr sz="1100" b="1">
                          <a:solidFill>
                            <a:srgbClr val="0B2E4A"/>
                          </a:solidFill>
                          <a:latin typeface="Calibri"/>
                        </a:rPr>
                        <a:t>Where is incremental demand concentrating?</a:t>
                      </a:r>
                    </a:p>
                  </a:txBody>
                  <a:tcPr marL="70000" marR="70000" marT="45000" marB="45000" anchor="ctr">
                    <a:solidFill>
                      <a:srgbClr val="FFFFFF"/>
                    </a:solidFill>
                  </a:tcPr>
                </a:tc>
                <a:tc>
                  <a:txBody>
                    <a:bodyPr wrap="square"/>
                    <a:lstStyle/>
                    <a:p>
                      <a:pPr algn="l"/>
                      <a:r>
                        <a:rPr sz="1100" b="0">
                          <a:solidFill>
                            <a:srgbClr val="2E2E2E"/>
                          </a:solidFill>
                          <a:latin typeface="Calibri"/>
                        </a:rPr>
                        <a:t/>
                      </a:r>
                    </a:p>
                  </a:txBody>
                  <a:tcPr marL="70000" marR="70000" marT="45000" marB="45000" anchor="ctr">
                    <a:solidFill>
                      <a:srgbClr val="FFFFFF"/>
                    </a:solidFill>
                  </a:tcPr>
                </a:tc>
                <a:tc>
                  <a:txBody>
                    <a:bodyPr wrap="square"/>
                    <a:lstStyle/>
                    <a:p>
                      <a:pPr algn="l"/>
                      <a:r>
                        <a:rPr sz="1100" b="0">
                          <a:solidFill>
                            <a:srgbClr val="2E2E2E"/>
                          </a:solidFill>
                          <a:latin typeface="Calibri"/>
                        </a:rPr>
                        <a:t/>
                      </a:r>
                    </a:p>
                  </a:txBody>
                  <a:tcPr marL="70000" marR="70000" marT="45000" marB="45000" anchor="ctr">
                    <a:solidFill>
                      <a:srgbClr val="FFFFFF"/>
                    </a:solidFill>
                  </a:tcPr>
                </a:tc>
              </a:tr>
              <a:tr h="1040461">
                <a:tc>
                  <a:txBody>
                    <a:bodyPr wrap="square"/>
                    <a:lstStyle/>
                    <a:p>
                      <a:pPr algn="l"/>
                      <a:r>
                        <a:rPr sz="1100" b="1">
                          <a:solidFill>
                            <a:srgbClr val="0B2E4A"/>
                          </a:solidFill>
                          <a:latin typeface="Calibri"/>
                        </a:rPr>
                        <a:t>Which regions will drive the next wave of Removable Partial Dentures demand?</a:t>
                      </a:r>
                    </a:p>
                  </a:txBody>
                  <a:tcPr marL="70000" marR="70000" marT="45000" marB="45000" anchor="ctr">
                    <a:solidFill>
                      <a:srgbClr val="F6F9FC"/>
                    </a:solidFill>
                  </a:tcPr>
                </a:tc>
                <a:tc>
                  <a:txBody>
                    <a:bodyPr wrap="square"/>
                    <a:lstStyle/>
                    <a:p>
                      <a:pPr algn="l"/>
                      <a:r>
                        <a:rPr sz="1100" b="0">
                          <a:solidFill>
                            <a:srgbClr val="2E2E2E"/>
                          </a:solidFill>
                          <a:latin typeface="Calibri"/>
                        </a:rPr>
                        <a:t/>
                      </a:r>
                    </a:p>
                  </a:txBody>
                  <a:tcPr marL="70000" marR="70000" marT="45000" marB="45000" anchor="ctr">
                    <a:solidFill>
                      <a:srgbClr val="F6F9FC"/>
                    </a:solidFill>
                  </a:tcPr>
                </a:tc>
                <a:tc>
                  <a:txBody>
                    <a:bodyPr wrap="square"/>
                    <a:lstStyle/>
                    <a:p>
                      <a:pPr algn="l"/>
                      <a:r>
                        <a:rPr sz="1100" b="0">
                          <a:solidFill>
                            <a:srgbClr val="2E2E2E"/>
                          </a:solidFill>
                          <a:latin typeface="Calibri"/>
                        </a:rPr>
                        <a:t/>
                      </a:r>
                    </a:p>
                  </a:txBody>
                  <a:tcPr marL="70000" marR="70000" marT="45000" marB="45000" anchor="ctr">
                    <a:solidFill>
                      <a:srgbClr val="F6F9FC"/>
                    </a:solidFill>
                  </a:tcPr>
                </a:tc>
              </a:tr>
              <a:tr h="1040461">
                <a:tc>
                  <a:txBody>
                    <a:bodyPr wrap="square"/>
                    <a:lstStyle/>
                    <a:p>
                      <a:pPr algn="l"/>
                      <a:r>
                        <a:rPr sz="1100" b="1">
                          <a:solidFill>
                            <a:srgbClr val="0B2E4A"/>
                          </a:solidFill>
                          <a:latin typeface="Calibri"/>
                        </a:rPr>
                        <a:t>Where should suppliers focus investment?</a:t>
                      </a:r>
                    </a:p>
                  </a:txBody>
                  <a:tcPr marL="70000" marR="70000" marT="45000" marB="45000" anchor="ctr">
                    <a:solidFill>
                      <a:srgbClr val="FFFFFF"/>
                    </a:solidFill>
                  </a:tcPr>
                </a:tc>
                <a:tc>
                  <a:txBody>
                    <a:bodyPr wrap="square"/>
                    <a:lstStyle/>
                    <a:p>
                      <a:pPr algn="l"/>
                      <a:r>
                        <a:rPr sz="1100" b="0">
                          <a:solidFill>
                            <a:srgbClr val="2E2E2E"/>
                          </a:solidFill>
                          <a:latin typeface="Calibri"/>
                        </a:rPr>
                        <a:t/>
                      </a:r>
                    </a:p>
                  </a:txBody>
                  <a:tcPr marL="70000" marR="70000" marT="45000" marB="45000" anchor="ctr">
                    <a:solidFill>
                      <a:srgbClr val="FFFFFF"/>
                    </a:solidFill>
                  </a:tcPr>
                </a:tc>
                <a:tc>
                  <a:txBody>
                    <a:bodyPr wrap="square"/>
                    <a:lstStyle/>
                    <a:p>
                      <a:pPr algn="l"/>
                      <a:r>
                        <a:rPr sz="1100" b="0">
                          <a:solidFill>
                            <a:srgbClr val="2E2E2E"/>
                          </a:solidFill>
                          <a:latin typeface="Calibri"/>
                        </a:rPr>
                        <a:t/>
                      </a:r>
                    </a:p>
                  </a:txBody>
                  <a:tcPr marL="70000" marR="70000" marT="45000" marB="45000" anchor="ctr">
                    <a:solidFill>
                      <a:srgbClr val="FFFFFF"/>
                    </a:solidFill>
                  </a:tcP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12" name="TextBox 11"/>
          <p:cNvSpPr txBox="1"/>
          <p:nvPr/>
        </p:nvSpPr>
        <p:spPr>
          <a:xfrm>
            <a:off x="3784750" y="1761432"/>
            <a:ext cx="1689844" cy="186689"/>
          </a:xfrm>
          <a:prstGeom prst="rect">
            <a:avLst/>
          </a:prstGeom>
          <a:noFill/>
        </p:spPr>
        <p:txBody>
          <a:bodyPr wrap="none" lIns="0" rIns="0" tIns="0" bIns="0">
            <a:spAutoFit/>
          </a:bodyPr>
          <a:lstStyle/>
          <a:p>
            <a:r>
              <a:rPr sz="1100" b="0">
                <a:solidFill>
                  <a:srgbClr val="2E2E2E"/>
                </a:solidFill>
                <a:latin typeface="Calibri"/>
              </a:rPr>
              <a:t>Global demand expands at a</a:t>
            </a:r>
          </a:p>
        </p:txBody>
      </p:sp>
      <p:pic>
        <p:nvPicPr>
          <p:cNvPr id="13" name="Picture 12" descr="lock.png"/>
          <p:cNvPicPr>
            <a:picLocks noChangeAspect="1"/>
          </p:cNvPicPr>
          <p:nvPr/>
        </p:nvPicPr>
        <p:blipFill>
          <a:blip r:embed="rId4"/>
          <a:stretch>
            <a:fillRect/>
          </a:stretch>
        </p:blipFill>
        <p:spPr>
          <a:xfrm>
            <a:off x="5422645" y="1751653"/>
            <a:ext cx="128699" cy="187198"/>
          </a:xfrm>
          <a:prstGeom prst="rect">
            <a:avLst/>
          </a:prstGeom>
        </p:spPr>
      </p:pic>
      <p:sp>
        <p:nvSpPr>
          <p:cNvPr id="14" name="TextBox 13"/>
          <p:cNvSpPr txBox="1"/>
          <p:nvPr/>
        </p:nvSpPr>
        <p:spPr>
          <a:xfrm>
            <a:off x="5590141" y="1761432"/>
            <a:ext cx="2708109" cy="186689"/>
          </a:xfrm>
          <a:prstGeom prst="rect">
            <a:avLst/>
          </a:prstGeom>
          <a:noFill/>
        </p:spPr>
        <p:txBody>
          <a:bodyPr wrap="none" lIns="0" rIns="0" tIns="0" bIns="0">
            <a:spAutoFit/>
          </a:bodyPr>
          <a:lstStyle/>
          <a:p>
            <a:r>
              <a:rPr sz="1100" b="0">
                <a:solidFill>
                  <a:srgbClr val="2E2E2E"/>
                </a:solidFill>
                <a:latin typeface="Calibri"/>
              </a:rPr>
              <a:t>forecast CAGR (2026–2036), accelerating from</a:t>
            </a:r>
          </a:p>
        </p:txBody>
      </p:sp>
      <p:pic>
        <p:nvPicPr>
          <p:cNvPr id="15" name="Picture 14" descr="lock.png"/>
          <p:cNvPicPr>
            <a:picLocks noChangeAspect="1"/>
          </p:cNvPicPr>
          <p:nvPr/>
        </p:nvPicPr>
        <p:blipFill>
          <a:blip r:embed="rId4"/>
          <a:stretch>
            <a:fillRect/>
          </a:stretch>
        </p:blipFill>
        <p:spPr>
          <a:xfrm>
            <a:off x="8246302" y="1751653"/>
            <a:ext cx="128699" cy="187198"/>
          </a:xfrm>
          <a:prstGeom prst="rect">
            <a:avLst/>
          </a:prstGeom>
        </p:spPr>
      </p:pic>
      <p:sp>
        <p:nvSpPr>
          <p:cNvPr id="16" name="TextBox 15"/>
          <p:cNvSpPr txBox="1"/>
          <p:nvPr/>
        </p:nvSpPr>
        <p:spPr>
          <a:xfrm>
            <a:off x="3784750" y="1929072"/>
            <a:ext cx="1137865" cy="186689"/>
          </a:xfrm>
          <a:prstGeom prst="rect">
            <a:avLst/>
          </a:prstGeom>
          <a:noFill/>
        </p:spPr>
        <p:txBody>
          <a:bodyPr wrap="none" lIns="0" rIns="0" tIns="0" bIns="0">
            <a:spAutoFit/>
          </a:bodyPr>
          <a:lstStyle/>
          <a:p>
            <a:r>
              <a:rPr sz="1100" b="0">
                <a:solidFill>
                  <a:srgbClr val="2E2E2E"/>
                </a:solidFill>
                <a:latin typeface="Calibri"/>
              </a:rPr>
              <a:t>across 2021–2025.</a:t>
            </a:r>
          </a:p>
        </p:txBody>
      </p:sp>
      <p:pic>
        <p:nvPicPr>
          <p:cNvPr id="17" name="Picture 16" descr="lock.png"/>
          <p:cNvPicPr>
            <a:picLocks noChangeAspect="1"/>
          </p:cNvPicPr>
          <p:nvPr/>
        </p:nvPicPr>
        <p:blipFill>
          <a:blip r:embed="rId4"/>
          <a:stretch>
            <a:fillRect/>
          </a:stretch>
        </p:blipFill>
        <p:spPr>
          <a:xfrm>
            <a:off x="10214228" y="1689042"/>
            <a:ext cx="330041" cy="480060"/>
          </a:xfrm>
          <a:prstGeom prst="rect">
            <a:avLst/>
          </a:prstGeom>
        </p:spPr>
      </p:pic>
      <p:sp>
        <p:nvSpPr>
          <p:cNvPr id="18" name="TextBox 17"/>
          <p:cNvSpPr txBox="1"/>
          <p:nvPr/>
        </p:nvSpPr>
        <p:spPr>
          <a:xfrm>
            <a:off x="3784750" y="2801893"/>
            <a:ext cx="2755875" cy="186689"/>
          </a:xfrm>
          <a:prstGeom prst="rect">
            <a:avLst/>
          </a:prstGeom>
          <a:noFill/>
        </p:spPr>
        <p:txBody>
          <a:bodyPr wrap="none" lIns="0" rIns="0" tIns="0" bIns="0">
            <a:spAutoFit/>
          </a:bodyPr>
          <a:lstStyle/>
          <a:p>
            <a:r>
              <a:rPr sz="1100" b="0">
                <a:solidFill>
                  <a:srgbClr val="2E2E2E"/>
                </a:solidFill>
                <a:latin typeface="Calibri"/>
              </a:rPr>
              <a:t>Flexible Partial Dentures leads Product Type, at</a:t>
            </a:r>
          </a:p>
        </p:txBody>
      </p:sp>
      <p:pic>
        <p:nvPicPr>
          <p:cNvPr id="19" name="Picture 18" descr="lock.png"/>
          <p:cNvPicPr>
            <a:picLocks noChangeAspect="1"/>
          </p:cNvPicPr>
          <p:nvPr/>
        </p:nvPicPr>
        <p:blipFill>
          <a:blip r:embed="rId4"/>
          <a:stretch>
            <a:fillRect/>
          </a:stretch>
        </p:blipFill>
        <p:spPr>
          <a:xfrm>
            <a:off x="6488676" y="2792114"/>
            <a:ext cx="128699" cy="187198"/>
          </a:xfrm>
          <a:prstGeom prst="rect">
            <a:avLst/>
          </a:prstGeom>
        </p:spPr>
      </p:pic>
      <p:sp>
        <p:nvSpPr>
          <p:cNvPr id="20" name="TextBox 19"/>
          <p:cNvSpPr txBox="1"/>
          <p:nvPr/>
        </p:nvSpPr>
        <p:spPr>
          <a:xfrm>
            <a:off x="6656172" y="2801893"/>
            <a:ext cx="1854100" cy="186689"/>
          </a:xfrm>
          <a:prstGeom prst="rect">
            <a:avLst/>
          </a:prstGeom>
          <a:noFill/>
        </p:spPr>
        <p:txBody>
          <a:bodyPr wrap="none" lIns="0" rIns="0" tIns="0" bIns="0">
            <a:spAutoFit/>
          </a:bodyPr>
          <a:lstStyle/>
          <a:p>
            <a:r>
              <a:rPr sz="1100" b="0">
                <a:solidFill>
                  <a:srgbClr val="2E2E2E"/>
                </a:solidFill>
                <a:latin typeface="Calibri"/>
              </a:rPr>
              <a:t>of 2036 value, within a mix of 4</a:t>
            </a:r>
          </a:p>
        </p:txBody>
      </p:sp>
      <p:sp>
        <p:nvSpPr>
          <p:cNvPr id="21" name="TextBox 20"/>
          <p:cNvSpPr txBox="1"/>
          <p:nvPr/>
        </p:nvSpPr>
        <p:spPr>
          <a:xfrm>
            <a:off x="3784750" y="2969533"/>
            <a:ext cx="1158602" cy="186689"/>
          </a:xfrm>
          <a:prstGeom prst="rect">
            <a:avLst/>
          </a:prstGeom>
          <a:noFill/>
        </p:spPr>
        <p:txBody>
          <a:bodyPr wrap="none" lIns="0" rIns="0" tIns="0" bIns="0">
            <a:spAutoFit/>
          </a:bodyPr>
          <a:lstStyle/>
          <a:p>
            <a:r>
              <a:rPr sz="1100" b="0">
                <a:solidFill>
                  <a:srgbClr val="2E2E2E"/>
                </a:solidFill>
                <a:latin typeface="Calibri"/>
              </a:rPr>
              <a:t>tracked categories.</a:t>
            </a:r>
          </a:p>
        </p:txBody>
      </p:sp>
      <p:sp>
        <p:nvSpPr>
          <p:cNvPr id="22" name="TextBox 21"/>
          <p:cNvSpPr txBox="1"/>
          <p:nvPr/>
        </p:nvSpPr>
        <p:spPr>
          <a:xfrm>
            <a:off x="8785375" y="2885713"/>
            <a:ext cx="1866106" cy="186689"/>
          </a:xfrm>
          <a:prstGeom prst="rect">
            <a:avLst/>
          </a:prstGeom>
          <a:noFill/>
        </p:spPr>
        <p:txBody>
          <a:bodyPr wrap="none" lIns="0" rIns="0" tIns="0" bIns="0">
            <a:spAutoFit/>
          </a:bodyPr>
          <a:lstStyle/>
          <a:p>
            <a:r>
              <a:rPr sz="1100" b="0">
                <a:solidFill>
                  <a:srgbClr val="2E2E2E"/>
                </a:solidFill>
                <a:latin typeface="Calibri"/>
              </a:rPr>
              <a:t>Lead: Flexible Partial Dentures ·</a:t>
            </a:r>
          </a:p>
        </p:txBody>
      </p:sp>
      <p:pic>
        <p:nvPicPr>
          <p:cNvPr id="23" name="Picture 22" descr="lock.png"/>
          <p:cNvPicPr>
            <a:picLocks noChangeAspect="1"/>
          </p:cNvPicPr>
          <p:nvPr/>
        </p:nvPicPr>
        <p:blipFill>
          <a:blip r:embed="rId4"/>
          <a:stretch>
            <a:fillRect/>
          </a:stretch>
        </p:blipFill>
        <p:spPr>
          <a:xfrm>
            <a:off x="10599532" y="2875934"/>
            <a:ext cx="128699" cy="187198"/>
          </a:xfrm>
          <a:prstGeom prst="rect">
            <a:avLst/>
          </a:prstGeom>
        </p:spPr>
      </p:pic>
      <p:sp>
        <p:nvSpPr>
          <p:cNvPr id="24" name="TextBox 23"/>
          <p:cNvSpPr txBox="1"/>
          <p:nvPr/>
        </p:nvSpPr>
        <p:spPr>
          <a:xfrm>
            <a:off x="10767028" y="2885713"/>
            <a:ext cx="789433" cy="186689"/>
          </a:xfrm>
          <a:prstGeom prst="rect">
            <a:avLst/>
          </a:prstGeom>
          <a:noFill/>
        </p:spPr>
        <p:txBody>
          <a:bodyPr wrap="none" lIns="0" rIns="0" tIns="0" bIns="0">
            <a:spAutoFit/>
          </a:bodyPr>
          <a:lstStyle/>
          <a:p>
            <a:r>
              <a:rPr sz="1100" b="0">
                <a:solidFill>
                  <a:srgbClr val="2E2E2E"/>
                </a:solidFill>
                <a:latin typeface="Calibri"/>
              </a:rPr>
              <a:t>share (2036)</a:t>
            </a:r>
          </a:p>
        </p:txBody>
      </p:sp>
      <p:sp>
        <p:nvSpPr>
          <p:cNvPr id="25" name="TextBox 24"/>
          <p:cNvSpPr txBox="1"/>
          <p:nvPr/>
        </p:nvSpPr>
        <p:spPr>
          <a:xfrm>
            <a:off x="3784750" y="3842354"/>
            <a:ext cx="3495575" cy="186689"/>
          </a:xfrm>
          <a:prstGeom prst="rect">
            <a:avLst/>
          </a:prstGeom>
          <a:noFill/>
        </p:spPr>
        <p:txBody>
          <a:bodyPr wrap="none" lIns="0" rIns="0" tIns="0" bIns="0">
            <a:spAutoFit/>
          </a:bodyPr>
          <a:lstStyle/>
          <a:p>
            <a:r>
              <a:rPr sz="1100" b="0">
                <a:solidFill>
                  <a:srgbClr val="2E2E2E"/>
                </a:solidFill>
                <a:latin typeface="Calibri"/>
              </a:rPr>
              <a:t>Dental Hospitals is the fastest-growing part of End User, at a</a:t>
            </a:r>
          </a:p>
        </p:txBody>
      </p:sp>
      <p:pic>
        <p:nvPicPr>
          <p:cNvPr id="26" name="Picture 25" descr="lock.png"/>
          <p:cNvPicPr>
            <a:picLocks noChangeAspect="1"/>
          </p:cNvPicPr>
          <p:nvPr/>
        </p:nvPicPr>
        <p:blipFill>
          <a:blip r:embed="rId4"/>
          <a:stretch>
            <a:fillRect/>
          </a:stretch>
        </p:blipFill>
        <p:spPr>
          <a:xfrm>
            <a:off x="7228377" y="3832575"/>
            <a:ext cx="128699" cy="187198"/>
          </a:xfrm>
          <a:prstGeom prst="rect">
            <a:avLst/>
          </a:prstGeom>
        </p:spPr>
      </p:pic>
      <p:sp>
        <p:nvSpPr>
          <p:cNvPr id="27" name="TextBox 26"/>
          <p:cNvSpPr txBox="1"/>
          <p:nvPr/>
        </p:nvSpPr>
        <p:spPr>
          <a:xfrm>
            <a:off x="7395873" y="3842354"/>
            <a:ext cx="889280" cy="186689"/>
          </a:xfrm>
          <a:prstGeom prst="rect">
            <a:avLst/>
          </a:prstGeom>
          <a:noFill/>
        </p:spPr>
        <p:txBody>
          <a:bodyPr wrap="none" lIns="0" rIns="0" tIns="0" bIns="0">
            <a:spAutoFit/>
          </a:bodyPr>
          <a:lstStyle/>
          <a:p>
            <a:r>
              <a:rPr sz="1100" b="0">
                <a:solidFill>
                  <a:srgbClr val="2E2E2E"/>
                </a:solidFill>
                <a:latin typeface="Calibri"/>
              </a:rPr>
              <a:t>forecast CAGR</a:t>
            </a:r>
          </a:p>
        </p:txBody>
      </p:sp>
      <p:sp>
        <p:nvSpPr>
          <p:cNvPr id="28" name="TextBox 27"/>
          <p:cNvSpPr txBox="1"/>
          <p:nvPr/>
        </p:nvSpPr>
        <p:spPr>
          <a:xfrm>
            <a:off x="3784750" y="4009994"/>
            <a:ext cx="1692299" cy="186689"/>
          </a:xfrm>
          <a:prstGeom prst="rect">
            <a:avLst/>
          </a:prstGeom>
          <a:noFill/>
        </p:spPr>
        <p:txBody>
          <a:bodyPr wrap="none" lIns="0" rIns="0" tIns="0" bIns="0">
            <a:spAutoFit/>
          </a:bodyPr>
          <a:lstStyle/>
          <a:p>
            <a:r>
              <a:rPr sz="1100" b="0">
                <a:solidFill>
                  <a:srgbClr val="2E2E2E"/>
                </a:solidFill>
                <a:latin typeface="Calibri"/>
              </a:rPr>
              <a:t>outpacing the wider market.</a:t>
            </a:r>
          </a:p>
        </p:txBody>
      </p:sp>
      <p:sp>
        <p:nvSpPr>
          <p:cNvPr id="29" name="TextBox 28"/>
          <p:cNvSpPr txBox="1"/>
          <p:nvPr/>
        </p:nvSpPr>
        <p:spPr>
          <a:xfrm>
            <a:off x="8785375" y="3926174"/>
            <a:ext cx="1543536" cy="186689"/>
          </a:xfrm>
          <a:prstGeom prst="rect">
            <a:avLst/>
          </a:prstGeom>
          <a:noFill/>
        </p:spPr>
        <p:txBody>
          <a:bodyPr wrap="none" lIns="0" rIns="0" tIns="0" bIns="0">
            <a:spAutoFit/>
          </a:bodyPr>
          <a:lstStyle/>
          <a:p>
            <a:r>
              <a:rPr sz="1100" b="0">
                <a:solidFill>
                  <a:srgbClr val="2E2E2E"/>
                </a:solidFill>
                <a:latin typeface="Calibri"/>
              </a:rPr>
              <a:t>Fastest: Dental Hospitals ·</a:t>
            </a:r>
          </a:p>
        </p:txBody>
      </p:sp>
      <p:pic>
        <p:nvPicPr>
          <p:cNvPr id="30" name="Picture 29" descr="lock.png"/>
          <p:cNvPicPr>
            <a:picLocks noChangeAspect="1"/>
          </p:cNvPicPr>
          <p:nvPr/>
        </p:nvPicPr>
        <p:blipFill>
          <a:blip r:embed="rId4"/>
          <a:stretch>
            <a:fillRect/>
          </a:stretch>
        </p:blipFill>
        <p:spPr>
          <a:xfrm>
            <a:off x="10276962" y="3916395"/>
            <a:ext cx="128699" cy="187198"/>
          </a:xfrm>
          <a:prstGeom prst="rect">
            <a:avLst/>
          </a:prstGeom>
        </p:spPr>
      </p:pic>
      <p:sp>
        <p:nvSpPr>
          <p:cNvPr id="31" name="TextBox 30"/>
          <p:cNvSpPr txBox="1"/>
          <p:nvPr/>
        </p:nvSpPr>
        <p:spPr>
          <a:xfrm>
            <a:off x="10444458" y="3926174"/>
            <a:ext cx="502377" cy="186689"/>
          </a:xfrm>
          <a:prstGeom prst="rect">
            <a:avLst/>
          </a:prstGeom>
          <a:noFill/>
        </p:spPr>
        <p:txBody>
          <a:bodyPr wrap="none" lIns="0" rIns="0" tIns="0" bIns="0">
            <a:spAutoFit/>
          </a:bodyPr>
          <a:lstStyle/>
          <a:p>
            <a:r>
              <a:rPr sz="1100" b="0">
                <a:solidFill>
                  <a:srgbClr val="2E2E2E"/>
                </a:solidFill>
                <a:latin typeface="Calibri"/>
              </a:rPr>
              <a:t>F-CAGR</a:t>
            </a:r>
          </a:p>
        </p:txBody>
      </p:sp>
      <p:sp>
        <p:nvSpPr>
          <p:cNvPr id="32" name="TextBox 31"/>
          <p:cNvSpPr txBox="1"/>
          <p:nvPr/>
        </p:nvSpPr>
        <p:spPr>
          <a:xfrm>
            <a:off x="3784750" y="4882815"/>
            <a:ext cx="2673474" cy="186689"/>
          </a:xfrm>
          <a:prstGeom prst="rect">
            <a:avLst/>
          </a:prstGeom>
          <a:noFill/>
        </p:spPr>
        <p:txBody>
          <a:bodyPr wrap="none" lIns="0" rIns="0" tIns="0" bIns="0">
            <a:spAutoFit/>
          </a:bodyPr>
          <a:lstStyle/>
          <a:p>
            <a:r>
              <a:rPr sz="1100" b="0">
                <a:solidFill>
                  <a:srgbClr val="2E2E2E"/>
                </a:solidFill>
                <a:latin typeface="Calibri"/>
              </a:rPr>
              <a:t>North America is the largest regional market (</a:t>
            </a:r>
          </a:p>
        </p:txBody>
      </p:sp>
      <p:pic>
        <p:nvPicPr>
          <p:cNvPr id="33" name="Picture 32" descr="lock.png"/>
          <p:cNvPicPr>
            <a:picLocks noChangeAspect="1"/>
          </p:cNvPicPr>
          <p:nvPr/>
        </p:nvPicPr>
        <p:blipFill>
          <a:blip r:embed="rId4"/>
          <a:stretch>
            <a:fillRect/>
          </a:stretch>
        </p:blipFill>
        <p:spPr>
          <a:xfrm>
            <a:off x="6406275" y="4873036"/>
            <a:ext cx="128699" cy="187198"/>
          </a:xfrm>
          <a:prstGeom prst="rect">
            <a:avLst/>
          </a:prstGeom>
        </p:spPr>
      </p:pic>
      <p:sp>
        <p:nvSpPr>
          <p:cNvPr id="34" name="TextBox 33"/>
          <p:cNvSpPr txBox="1"/>
          <p:nvPr/>
        </p:nvSpPr>
        <p:spPr>
          <a:xfrm>
            <a:off x="6573771" y="4882815"/>
            <a:ext cx="2016720" cy="186689"/>
          </a:xfrm>
          <a:prstGeom prst="rect">
            <a:avLst/>
          </a:prstGeom>
          <a:noFill/>
        </p:spPr>
        <p:txBody>
          <a:bodyPr wrap="none" lIns="0" rIns="0" tIns="0" bIns="0">
            <a:spAutoFit/>
          </a:bodyPr>
          <a:lstStyle/>
          <a:p>
            <a:r>
              <a:rPr sz="1100" b="0">
                <a:solidFill>
                  <a:srgbClr val="2E2E2E"/>
                </a:solidFill>
                <a:latin typeface="Calibri"/>
              </a:rPr>
              <a:t>of 2036 value), while South Asia &amp;</a:t>
            </a:r>
          </a:p>
        </p:txBody>
      </p:sp>
      <p:sp>
        <p:nvSpPr>
          <p:cNvPr id="35" name="TextBox 34"/>
          <p:cNvSpPr txBox="1"/>
          <p:nvPr/>
        </p:nvSpPr>
        <p:spPr>
          <a:xfrm>
            <a:off x="3784750" y="5050455"/>
            <a:ext cx="1374154" cy="186689"/>
          </a:xfrm>
          <a:prstGeom prst="rect">
            <a:avLst/>
          </a:prstGeom>
          <a:noFill/>
        </p:spPr>
        <p:txBody>
          <a:bodyPr wrap="none" lIns="0" rIns="0" tIns="0" bIns="0">
            <a:spAutoFit/>
          </a:bodyPr>
          <a:lstStyle/>
          <a:p>
            <a:r>
              <a:rPr sz="1100" b="0">
                <a:solidFill>
                  <a:srgbClr val="2E2E2E"/>
                </a:solidFill>
                <a:latin typeface="Calibri"/>
              </a:rPr>
              <a:t>Pacific grows fastest at</a:t>
            </a:r>
          </a:p>
        </p:txBody>
      </p:sp>
      <p:pic>
        <p:nvPicPr>
          <p:cNvPr id="36" name="Picture 35" descr="lock.png"/>
          <p:cNvPicPr>
            <a:picLocks noChangeAspect="1"/>
          </p:cNvPicPr>
          <p:nvPr/>
        </p:nvPicPr>
        <p:blipFill>
          <a:blip r:embed="rId4"/>
          <a:stretch>
            <a:fillRect/>
          </a:stretch>
        </p:blipFill>
        <p:spPr>
          <a:xfrm>
            <a:off x="5106956" y="5040676"/>
            <a:ext cx="128699" cy="187198"/>
          </a:xfrm>
          <a:prstGeom prst="rect">
            <a:avLst/>
          </a:prstGeom>
        </p:spPr>
      </p:pic>
      <p:sp>
        <p:nvSpPr>
          <p:cNvPr id="37" name="TextBox 36"/>
          <p:cNvSpPr txBox="1"/>
          <p:nvPr/>
        </p:nvSpPr>
        <p:spPr>
          <a:xfrm>
            <a:off x="5274452" y="5050455"/>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38" name="TextBox 37"/>
          <p:cNvSpPr txBox="1"/>
          <p:nvPr/>
        </p:nvSpPr>
        <p:spPr>
          <a:xfrm>
            <a:off x="8785375" y="4882815"/>
            <a:ext cx="1464195" cy="186689"/>
          </a:xfrm>
          <a:prstGeom prst="rect">
            <a:avLst/>
          </a:prstGeom>
          <a:noFill/>
        </p:spPr>
        <p:txBody>
          <a:bodyPr wrap="none" lIns="0" rIns="0" tIns="0" bIns="0">
            <a:spAutoFit/>
          </a:bodyPr>
          <a:lstStyle/>
          <a:p>
            <a:r>
              <a:rPr sz="1100" b="0">
                <a:solidFill>
                  <a:srgbClr val="2E2E2E"/>
                </a:solidFill>
                <a:latin typeface="Calibri"/>
              </a:rPr>
              <a:t>Largest: North America (</a:t>
            </a:r>
          </a:p>
        </p:txBody>
      </p:sp>
      <p:pic>
        <p:nvPicPr>
          <p:cNvPr id="39" name="Picture 38" descr="lock.png"/>
          <p:cNvPicPr>
            <a:picLocks noChangeAspect="1"/>
          </p:cNvPicPr>
          <p:nvPr/>
        </p:nvPicPr>
        <p:blipFill>
          <a:blip r:embed="rId4"/>
          <a:stretch>
            <a:fillRect/>
          </a:stretch>
        </p:blipFill>
        <p:spPr>
          <a:xfrm>
            <a:off x="10197622" y="4873036"/>
            <a:ext cx="128699" cy="187198"/>
          </a:xfrm>
          <a:prstGeom prst="rect">
            <a:avLst/>
          </a:prstGeom>
        </p:spPr>
      </p:pic>
      <p:sp>
        <p:nvSpPr>
          <p:cNvPr id="40" name="TextBox 39"/>
          <p:cNvSpPr txBox="1"/>
          <p:nvPr/>
        </p:nvSpPr>
        <p:spPr>
          <a:xfrm>
            <a:off x="10365118" y="4882815"/>
            <a:ext cx="1413931" cy="186689"/>
          </a:xfrm>
          <a:prstGeom prst="rect">
            <a:avLst/>
          </a:prstGeom>
          <a:noFill/>
        </p:spPr>
        <p:txBody>
          <a:bodyPr wrap="none" lIns="0" rIns="0" tIns="0" bIns="0">
            <a:spAutoFit/>
          </a:bodyPr>
          <a:lstStyle/>
          <a:p>
            <a:r>
              <a:rPr sz="1100" b="0">
                <a:solidFill>
                  <a:srgbClr val="2E2E2E"/>
                </a:solidFill>
                <a:latin typeface="Calibri"/>
              </a:rPr>
              <a:t>) · Fastest: South Asia &amp;</a:t>
            </a:r>
          </a:p>
        </p:txBody>
      </p:sp>
      <p:sp>
        <p:nvSpPr>
          <p:cNvPr id="41" name="TextBox 40"/>
          <p:cNvSpPr txBox="1"/>
          <p:nvPr/>
        </p:nvSpPr>
        <p:spPr>
          <a:xfrm>
            <a:off x="8785375" y="5050455"/>
            <a:ext cx="514672" cy="186689"/>
          </a:xfrm>
          <a:prstGeom prst="rect">
            <a:avLst/>
          </a:prstGeom>
          <a:noFill/>
        </p:spPr>
        <p:txBody>
          <a:bodyPr wrap="none" lIns="0" rIns="0" tIns="0" bIns="0">
            <a:spAutoFit/>
          </a:bodyPr>
          <a:lstStyle/>
          <a:p>
            <a:r>
              <a:rPr sz="1100" b="0">
                <a:solidFill>
                  <a:srgbClr val="2E2E2E"/>
                </a:solidFill>
                <a:latin typeface="Calibri"/>
              </a:rPr>
              <a:t>Pacific (</a:t>
            </a:r>
          </a:p>
        </p:txBody>
      </p:sp>
      <p:pic>
        <p:nvPicPr>
          <p:cNvPr id="42" name="Picture 41" descr="lock.png"/>
          <p:cNvPicPr>
            <a:picLocks noChangeAspect="1"/>
          </p:cNvPicPr>
          <p:nvPr/>
        </p:nvPicPr>
        <p:blipFill>
          <a:blip r:embed="rId4"/>
          <a:stretch>
            <a:fillRect/>
          </a:stretch>
        </p:blipFill>
        <p:spPr>
          <a:xfrm>
            <a:off x="9248099" y="5040676"/>
            <a:ext cx="128699" cy="187198"/>
          </a:xfrm>
          <a:prstGeom prst="rect">
            <a:avLst/>
          </a:prstGeom>
        </p:spPr>
      </p:pic>
      <p:sp>
        <p:nvSpPr>
          <p:cNvPr id="43" name="TextBox 42"/>
          <p:cNvSpPr txBox="1"/>
          <p:nvPr/>
        </p:nvSpPr>
        <p:spPr>
          <a:xfrm>
            <a:off x="9415594" y="5050455"/>
            <a:ext cx="118491" cy="186689"/>
          </a:xfrm>
          <a:prstGeom prst="rect">
            <a:avLst/>
          </a:prstGeom>
          <a:noFill/>
        </p:spPr>
        <p:txBody>
          <a:bodyPr wrap="none" lIns="0" rIns="0" tIns="0" bIns="0">
            <a:spAutoFit/>
          </a:bodyPr>
          <a:lstStyle/>
          <a:p>
            <a:r>
              <a:rPr sz="1100" b="0">
                <a:solidFill>
                  <a:srgbClr val="2E2E2E"/>
                </a:solidFill>
                <a:latin typeface="Calibri"/>
              </a:rPr>
              <a:t>)</a:t>
            </a:r>
          </a:p>
        </p:txBody>
      </p:sp>
      <p:sp>
        <p:nvSpPr>
          <p:cNvPr id="44" name="TextBox 43"/>
          <p:cNvSpPr txBox="1"/>
          <p:nvPr/>
        </p:nvSpPr>
        <p:spPr>
          <a:xfrm>
            <a:off x="3784750" y="5923276"/>
            <a:ext cx="945777" cy="186689"/>
          </a:xfrm>
          <a:prstGeom prst="rect">
            <a:avLst/>
          </a:prstGeom>
          <a:noFill/>
        </p:spPr>
        <p:txBody>
          <a:bodyPr wrap="none" lIns="0" rIns="0" tIns="0" bIns="0">
            <a:spAutoFit/>
          </a:bodyPr>
          <a:lstStyle/>
          <a:p>
            <a:r>
              <a:rPr sz="1100" b="0">
                <a:solidFill>
                  <a:srgbClr val="2E2E2E"/>
                </a:solidFill>
                <a:latin typeface="Calibri"/>
              </a:rPr>
              <a:t>An incremental</a:t>
            </a:r>
          </a:p>
        </p:txBody>
      </p:sp>
      <p:pic>
        <p:nvPicPr>
          <p:cNvPr id="45" name="Picture 44" descr="lock.png"/>
          <p:cNvPicPr>
            <a:picLocks noChangeAspect="1"/>
          </p:cNvPicPr>
          <p:nvPr/>
        </p:nvPicPr>
        <p:blipFill>
          <a:blip r:embed="rId4"/>
          <a:stretch>
            <a:fillRect/>
          </a:stretch>
        </p:blipFill>
        <p:spPr>
          <a:xfrm>
            <a:off x="4678579" y="5913497"/>
            <a:ext cx="128699" cy="187198"/>
          </a:xfrm>
          <a:prstGeom prst="rect">
            <a:avLst/>
          </a:prstGeom>
        </p:spPr>
      </p:pic>
      <p:sp>
        <p:nvSpPr>
          <p:cNvPr id="46" name="TextBox 45"/>
          <p:cNvSpPr txBox="1"/>
          <p:nvPr/>
        </p:nvSpPr>
        <p:spPr>
          <a:xfrm>
            <a:off x="4846075" y="5923276"/>
            <a:ext cx="3125043" cy="186689"/>
          </a:xfrm>
          <a:prstGeom prst="rect">
            <a:avLst/>
          </a:prstGeom>
          <a:noFill/>
        </p:spPr>
        <p:txBody>
          <a:bodyPr wrap="none" lIns="0" rIns="0" tIns="0" bIns="0">
            <a:spAutoFit/>
          </a:bodyPr>
          <a:lstStyle/>
          <a:p>
            <a:r>
              <a:rPr sz="1100" b="0">
                <a:solidFill>
                  <a:srgbClr val="2E2E2E"/>
                </a:solidFill>
                <a:latin typeface="Calibri"/>
              </a:rPr>
              <a:t>US$ Mn of demand is added between 2026 and 2036,</a:t>
            </a:r>
          </a:p>
        </p:txBody>
      </p:sp>
      <p:sp>
        <p:nvSpPr>
          <p:cNvPr id="47" name="TextBox 46"/>
          <p:cNvSpPr txBox="1"/>
          <p:nvPr/>
        </p:nvSpPr>
        <p:spPr>
          <a:xfrm>
            <a:off x="3784750" y="6090916"/>
            <a:ext cx="3324497" cy="186689"/>
          </a:xfrm>
          <a:prstGeom prst="rect">
            <a:avLst/>
          </a:prstGeom>
          <a:noFill/>
        </p:spPr>
        <p:txBody>
          <a:bodyPr wrap="none" lIns="0" rIns="0" tIns="0" bIns="0">
            <a:spAutoFit/>
          </a:bodyPr>
          <a:lstStyle/>
          <a:p>
            <a:r>
              <a:rPr sz="1100" b="0">
                <a:solidFill>
                  <a:srgbClr val="2E2E2E"/>
                </a:solidFill>
                <a:latin typeface="Calibri"/>
              </a:rPr>
              <a:t>front-loaded in the leading categories and regions above.</a:t>
            </a:r>
          </a:p>
        </p:txBody>
      </p:sp>
      <p:sp>
        <p:nvSpPr>
          <p:cNvPr id="48" name="TextBox 47"/>
          <p:cNvSpPr txBox="1"/>
          <p:nvPr/>
        </p:nvSpPr>
        <p:spPr>
          <a:xfrm>
            <a:off x="8785375" y="6007096"/>
            <a:ext cx="857919" cy="186689"/>
          </a:xfrm>
          <a:prstGeom prst="rect">
            <a:avLst/>
          </a:prstGeom>
          <a:noFill/>
        </p:spPr>
        <p:txBody>
          <a:bodyPr wrap="none" lIns="0" rIns="0" tIns="0" bIns="0">
            <a:spAutoFit/>
          </a:bodyPr>
          <a:lstStyle/>
          <a:p>
            <a:r>
              <a:rPr sz="1100" b="0">
                <a:solidFill>
                  <a:srgbClr val="2E2E2E"/>
                </a:solidFill>
                <a:latin typeface="Calibri"/>
              </a:rPr>
              <a:t>$ opportunity</a:t>
            </a:r>
          </a:p>
        </p:txBody>
      </p:sp>
      <p:pic>
        <p:nvPicPr>
          <p:cNvPr id="49" name="Picture 48" descr="lock.png"/>
          <p:cNvPicPr>
            <a:picLocks noChangeAspect="1"/>
          </p:cNvPicPr>
          <p:nvPr/>
        </p:nvPicPr>
        <p:blipFill>
          <a:blip r:embed="rId4"/>
          <a:stretch>
            <a:fillRect/>
          </a:stretch>
        </p:blipFill>
        <p:spPr>
          <a:xfrm>
            <a:off x="9591346" y="5997317"/>
            <a:ext cx="128699" cy="187198"/>
          </a:xfrm>
          <a:prstGeom prst="rect">
            <a:avLst/>
          </a:prstGeom>
        </p:spPr>
      </p:pic>
      <p:sp>
        <p:nvSpPr>
          <p:cNvPr id="50" name="TextBox 49"/>
          <p:cNvSpPr txBox="1"/>
          <p:nvPr/>
        </p:nvSpPr>
        <p:spPr>
          <a:xfrm>
            <a:off x="9758842" y="6007096"/>
            <a:ext cx="1345778" cy="186689"/>
          </a:xfrm>
          <a:prstGeom prst="rect">
            <a:avLst/>
          </a:prstGeom>
          <a:noFill/>
        </p:spPr>
        <p:txBody>
          <a:bodyPr wrap="none" lIns="0" rIns="0" tIns="0" bIns="0">
            <a:spAutoFit/>
          </a:bodyPr>
          <a:lstStyle/>
          <a:p>
            <a:r>
              <a:rPr sz="1100" b="0">
                <a:solidFill>
                  <a:srgbClr val="2E2E2E"/>
                </a:solidFill>
                <a:latin typeface="Calibri"/>
              </a:rPr>
              <a:t>US$ Mn (2026–2036) ·</a:t>
            </a:r>
          </a:p>
        </p:txBody>
      </p:sp>
      <p:pic>
        <p:nvPicPr>
          <p:cNvPr id="51" name="Picture 50" descr="lock.png"/>
          <p:cNvPicPr>
            <a:picLocks noChangeAspect="1"/>
          </p:cNvPicPr>
          <p:nvPr/>
        </p:nvPicPr>
        <p:blipFill>
          <a:blip r:embed="rId4"/>
          <a:stretch>
            <a:fillRect/>
          </a:stretch>
        </p:blipFill>
        <p:spPr>
          <a:xfrm>
            <a:off x="11052672" y="5997317"/>
            <a:ext cx="128699" cy="187198"/>
          </a:xfrm>
          <a:prstGeom prst="rect">
            <a:avLst/>
          </a:prstGeom>
        </p:spPr>
      </p:pic>
      <p:sp>
        <p:nvSpPr>
          <p:cNvPr id="52" name="TextBox 51"/>
          <p:cNvSpPr txBox="1"/>
          <p:nvPr/>
        </p:nvSpPr>
        <p:spPr>
          <a:xfrm>
            <a:off x="11220167" y="6007096"/>
            <a:ext cx="528315" cy="186689"/>
          </a:xfrm>
          <a:prstGeom prst="rect">
            <a:avLst/>
          </a:prstGeom>
          <a:noFill/>
        </p:spPr>
        <p:txBody>
          <a:bodyPr wrap="none" lIns="0" rIns="0" tIns="0" bIns="0">
            <a:spAutoFit/>
          </a:bodyPr>
          <a:lstStyle/>
          <a:p>
            <a:r>
              <a:rPr sz="1100" b="0">
                <a:solidFill>
                  <a:srgbClr val="2E2E2E"/>
                </a:solidFill>
                <a:latin typeface="Calibri"/>
              </a:rPr>
              <a:t>by 2031</a:t>
            </a:r>
          </a:p>
        </p:txBody>
      </p:sp>
    </p:spTree>
  </p:cSld>
  <p:clrMapOvr>
    <a:masterClrMapping/>
  </p:clrMapOvr>
</p:sld>
</file>

<file path=ppt/slides/slide5.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000375"/>
            <a:ext cx="7239000" cy="247650"/>
          </a:xfrm>
          <a:prstGeom prst="rect">
            <a:avLst/>
          </a:prstGeom>
          <a:noFill/>
        </p:spPr>
        <p:txBody>
          <a:bodyPr wrap="none" lIns="0" tIns="0">
            <a:spAutoFit/>
          </a:bodyPr>
          <a:lstStyle/>
          <a:p>
            <a:r>
              <a:rPr sz="1400" b="0">
                <a:solidFill>
                  <a:srgbClr val="8FC8F2"/>
                </a:solidFill>
                <a:latin typeface="Calibri"/>
              </a:rPr>
              <a:t>Removable Partial Dentures Market</a:t>
            </a:r>
          </a:p>
        </p:txBody>
      </p:sp>
      <p:sp>
        <p:nvSpPr>
          <p:cNvPr id="6" name="FMI Breaker Title"/>
          <p:cNvSpPr txBox="1"/>
          <p:nvPr/>
        </p:nvSpPr>
        <p:spPr>
          <a:xfrm>
            <a:off x="914400" y="3305175"/>
            <a:ext cx="7239000" cy="514350"/>
          </a:xfrm>
          <a:prstGeom prst="rect">
            <a:avLst/>
          </a:prstGeom>
          <a:noFill/>
        </p:spPr>
        <p:txBody>
          <a:bodyPr wrap="square" lIns="0" rIns="0" tIns="0">
            <a:spAutoFit/>
          </a:bodyPr>
          <a:lstStyle/>
          <a:p>
            <a:r>
              <a:rPr sz="3000" b="1" cap="all" spc="400">
                <a:solidFill>
                  <a:srgbClr val="FFFFFF"/>
                </a:solidFill>
                <a:latin typeface="Calibri"/>
              </a:rPr>
              <a:t>Market Overview</a:t>
            </a:r>
          </a:p>
        </p:txBody>
      </p:sp>
      <p:sp>
        <p:nvSpPr>
          <p:cNvPr id="7" name="TextBox 6"/>
          <p:cNvSpPr txBox="1"/>
          <p:nvPr/>
        </p:nvSpPr>
        <p:spPr>
          <a:xfrm>
            <a:off x="914400" y="4010025"/>
            <a:ext cx="71247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Taxonomy</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Table of Contents</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List of Figures, List of Tables</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Market Taxonomy</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Geographic Coverage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Segments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Coverage</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Taxonomy Regions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Geographic scope of the study: the global market broken into 6 regions and the countries assessed under each</a:t>
            </a:r>
          </a:p>
        </p:txBody>
      </p:sp>
      <p:cxnSp>
        <p:nvCxnSpPr>
          <p:cNvPr id="10" name="Connector 9"/>
          <p:cNvCxnSpPr/>
          <p:nvPr/>
        </p:nvCxnSpPr>
        <p:spPr>
          <a:xfrm>
            <a:off x="6096000" y="1682648"/>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1" name="Connector 10"/>
          <p:cNvCxnSpPr/>
          <p:nvPr/>
        </p:nvCxnSpPr>
        <p:spPr>
          <a:xfrm>
            <a:off x="1085850" y="1846931"/>
            <a:ext cx="10010775" cy="0"/>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1085850"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3" name="Connector 12"/>
          <p:cNvCxnSpPr/>
          <p:nvPr/>
        </p:nvCxnSpPr>
        <p:spPr>
          <a:xfrm>
            <a:off x="3086100"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5086350"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7096125"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9096375"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11096625"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1152525"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1152525" y="275048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3152775"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3152775" y="275048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3152775" y="310643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3152775" y="346238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5153025"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a:off x="5153025" y="2750489"/>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a:off x="5153025" y="309730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5153025" y="3453257"/>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5153025" y="3800077"/>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5153025" y="4146897"/>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0" name="Connector 29"/>
          <p:cNvCxnSpPr/>
          <p:nvPr/>
        </p:nvCxnSpPr>
        <p:spPr>
          <a:xfrm>
            <a:off x="5153025" y="4493717"/>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1" name="Connector 30"/>
          <p:cNvCxnSpPr/>
          <p:nvPr/>
        </p:nvCxnSpPr>
        <p:spPr>
          <a:xfrm>
            <a:off x="5153025" y="4849664"/>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2" name="Connector 31"/>
          <p:cNvCxnSpPr/>
          <p:nvPr/>
        </p:nvCxnSpPr>
        <p:spPr>
          <a:xfrm>
            <a:off x="5153025" y="5196485"/>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3" name="Connector 32"/>
          <p:cNvCxnSpPr/>
          <p:nvPr/>
        </p:nvCxnSpPr>
        <p:spPr>
          <a:xfrm>
            <a:off x="5153025" y="5543305"/>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5153025" y="589012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5153025" y="6246072"/>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6" name="Connector 35"/>
          <p:cNvCxnSpPr/>
          <p:nvPr/>
        </p:nvCxnSpPr>
        <p:spPr>
          <a:xfrm>
            <a:off x="7162800"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7" name="Connector 36"/>
          <p:cNvCxnSpPr/>
          <p:nvPr/>
        </p:nvCxnSpPr>
        <p:spPr>
          <a:xfrm>
            <a:off x="7162800" y="275048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8" name="Connector 37"/>
          <p:cNvCxnSpPr/>
          <p:nvPr/>
        </p:nvCxnSpPr>
        <p:spPr>
          <a:xfrm>
            <a:off x="7162800" y="310643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9" name="Connector 38"/>
          <p:cNvCxnSpPr/>
          <p:nvPr/>
        </p:nvCxnSpPr>
        <p:spPr>
          <a:xfrm>
            <a:off x="9163050"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9163050" y="275048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9163050" y="310643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2" name="Connector 41"/>
          <p:cNvCxnSpPr/>
          <p:nvPr/>
        </p:nvCxnSpPr>
        <p:spPr>
          <a:xfrm>
            <a:off x="9163050" y="346238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3" name="Connector 42"/>
          <p:cNvCxnSpPr/>
          <p:nvPr/>
        </p:nvCxnSpPr>
        <p:spPr>
          <a:xfrm>
            <a:off x="9163050" y="3818331"/>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4" name="Connector 43"/>
          <p:cNvCxnSpPr/>
          <p:nvPr/>
        </p:nvCxnSpPr>
        <p:spPr>
          <a:xfrm>
            <a:off x="9163050" y="4174278"/>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5" name="Connector 44"/>
          <p:cNvCxnSpPr/>
          <p:nvPr/>
        </p:nvCxnSpPr>
        <p:spPr>
          <a:xfrm>
            <a:off x="9163050" y="453022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9163050" y="488617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9163050" y="524211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8" name="Connector 47"/>
          <p:cNvCxnSpPr/>
          <p:nvPr/>
        </p:nvCxnSpPr>
        <p:spPr>
          <a:xfrm>
            <a:off x="11163300"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9" name="Connector 48"/>
          <p:cNvCxnSpPr/>
          <p:nvPr/>
        </p:nvCxnSpPr>
        <p:spPr>
          <a:xfrm>
            <a:off x="11163300" y="275048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0" name="Connector 49"/>
          <p:cNvCxnSpPr/>
          <p:nvPr/>
        </p:nvCxnSpPr>
        <p:spPr>
          <a:xfrm>
            <a:off x="11163300" y="310643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1" name="Connector 50"/>
          <p:cNvCxnSpPr/>
          <p:nvPr/>
        </p:nvCxnSpPr>
        <p:spPr>
          <a:xfrm>
            <a:off x="11163300" y="346238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2" name="Connector 51"/>
          <p:cNvCxnSpPr/>
          <p:nvPr/>
        </p:nvCxnSpPr>
        <p:spPr>
          <a:xfrm>
            <a:off x="11163300" y="3818331"/>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3" name="Connector 52"/>
          <p:cNvCxnSpPr/>
          <p:nvPr/>
        </p:nvCxnSpPr>
        <p:spPr>
          <a:xfrm>
            <a:off x="11163300" y="4174278"/>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4" name="Connector 53"/>
          <p:cNvCxnSpPr/>
          <p:nvPr/>
        </p:nvCxnSpPr>
        <p:spPr>
          <a:xfrm>
            <a:off x="11163300" y="453022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5" name="Connector 54"/>
          <p:cNvCxnSpPr/>
          <p:nvPr/>
        </p:nvCxnSpPr>
        <p:spPr>
          <a:xfrm>
            <a:off x="11163300" y="488617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56" name="Rounded Rectangle 55"/>
          <p:cNvSpPr/>
          <p:nvPr/>
        </p:nvSpPr>
        <p:spPr>
          <a:xfrm>
            <a:off x="4667250" y="1080276"/>
            <a:ext cx="2857500" cy="602372"/>
          </a:xfrm>
          <a:prstGeom prst="roundRect">
            <a:avLst>
              <a:gd name="adj" fmla="val 10606"/>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500" b="1">
                <a:solidFill>
                  <a:srgbClr val="FFFFFF"/>
                </a:solidFill>
                <a:latin typeface="Calibri"/>
              </a:rPr>
              <a:t>Removable Partial Dentures Market</a:t>
            </a:r>
          </a:p>
        </p:txBody>
      </p:sp>
      <p:sp>
        <p:nvSpPr>
          <p:cNvPr id="57" name="Rounded Rectangle 56"/>
          <p:cNvSpPr/>
          <p:nvPr/>
        </p:nvSpPr>
        <p:spPr>
          <a:xfrm>
            <a:off x="142875"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North America</a:t>
            </a:r>
          </a:p>
        </p:txBody>
      </p:sp>
      <p:sp>
        <p:nvSpPr>
          <p:cNvPr id="58" name="Rounded Rectangle 57"/>
          <p:cNvSpPr/>
          <p:nvPr/>
        </p:nvSpPr>
        <p:spPr>
          <a:xfrm>
            <a:off x="276225"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U.S.</a:t>
            </a:r>
          </a:p>
        </p:txBody>
      </p:sp>
      <p:sp>
        <p:nvSpPr>
          <p:cNvPr id="59" name="Rounded Rectangle 58"/>
          <p:cNvSpPr/>
          <p:nvPr/>
        </p:nvSpPr>
        <p:spPr>
          <a:xfrm>
            <a:off x="276225" y="282350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Canada</a:t>
            </a:r>
          </a:p>
        </p:txBody>
      </p:sp>
      <p:sp>
        <p:nvSpPr>
          <p:cNvPr id="60" name="Rounded Rectangle 59"/>
          <p:cNvSpPr/>
          <p:nvPr/>
        </p:nvSpPr>
        <p:spPr>
          <a:xfrm>
            <a:off x="2143125"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Latin America</a:t>
            </a:r>
          </a:p>
        </p:txBody>
      </p:sp>
      <p:sp>
        <p:nvSpPr>
          <p:cNvPr id="61" name="Rounded Rectangle 60"/>
          <p:cNvSpPr/>
          <p:nvPr/>
        </p:nvSpPr>
        <p:spPr>
          <a:xfrm>
            <a:off x="2276475"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Brazil</a:t>
            </a:r>
          </a:p>
        </p:txBody>
      </p:sp>
      <p:sp>
        <p:nvSpPr>
          <p:cNvPr id="62" name="Rounded Rectangle 61"/>
          <p:cNvSpPr/>
          <p:nvPr/>
        </p:nvSpPr>
        <p:spPr>
          <a:xfrm>
            <a:off x="2276475" y="282350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Mexico</a:t>
            </a:r>
          </a:p>
        </p:txBody>
      </p:sp>
      <p:sp>
        <p:nvSpPr>
          <p:cNvPr id="63" name="Rounded Rectangle 62"/>
          <p:cNvSpPr/>
          <p:nvPr/>
        </p:nvSpPr>
        <p:spPr>
          <a:xfrm>
            <a:off x="2276475" y="3179451"/>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Colombia</a:t>
            </a:r>
          </a:p>
        </p:txBody>
      </p:sp>
      <p:sp>
        <p:nvSpPr>
          <p:cNvPr id="64" name="Rounded Rectangle 63"/>
          <p:cNvSpPr/>
          <p:nvPr/>
        </p:nvSpPr>
        <p:spPr>
          <a:xfrm>
            <a:off x="2276475" y="3535398"/>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Latin America</a:t>
            </a:r>
          </a:p>
        </p:txBody>
      </p:sp>
      <p:sp>
        <p:nvSpPr>
          <p:cNvPr id="65" name="Rounded Rectangle 64"/>
          <p:cNvSpPr/>
          <p:nvPr/>
        </p:nvSpPr>
        <p:spPr>
          <a:xfrm>
            <a:off x="4143375"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Europe</a:t>
            </a:r>
          </a:p>
        </p:txBody>
      </p:sp>
      <p:sp>
        <p:nvSpPr>
          <p:cNvPr id="66" name="Rounded Rectangle 65"/>
          <p:cNvSpPr/>
          <p:nvPr/>
        </p:nvSpPr>
        <p:spPr>
          <a:xfrm>
            <a:off x="4276725"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Germany</a:t>
            </a:r>
          </a:p>
        </p:txBody>
      </p:sp>
      <p:sp>
        <p:nvSpPr>
          <p:cNvPr id="67" name="Rounded Rectangle 66"/>
          <p:cNvSpPr/>
          <p:nvPr/>
        </p:nvSpPr>
        <p:spPr>
          <a:xfrm>
            <a:off x="4276725" y="281437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U.K.</a:t>
            </a:r>
          </a:p>
        </p:txBody>
      </p:sp>
      <p:sp>
        <p:nvSpPr>
          <p:cNvPr id="68" name="Rounded Rectangle 67"/>
          <p:cNvSpPr/>
          <p:nvPr/>
        </p:nvSpPr>
        <p:spPr>
          <a:xfrm>
            <a:off x="4276725" y="317032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France</a:t>
            </a:r>
          </a:p>
        </p:txBody>
      </p:sp>
      <p:sp>
        <p:nvSpPr>
          <p:cNvPr id="69" name="Rounded Rectangle 68"/>
          <p:cNvSpPr/>
          <p:nvPr/>
        </p:nvSpPr>
        <p:spPr>
          <a:xfrm>
            <a:off x="4276725" y="3517145"/>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Italy</a:t>
            </a:r>
          </a:p>
        </p:txBody>
      </p:sp>
      <p:sp>
        <p:nvSpPr>
          <p:cNvPr id="70" name="Rounded Rectangle 69"/>
          <p:cNvSpPr/>
          <p:nvPr/>
        </p:nvSpPr>
        <p:spPr>
          <a:xfrm>
            <a:off x="4276725" y="3863965"/>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Spain</a:t>
            </a:r>
          </a:p>
        </p:txBody>
      </p:sp>
      <p:sp>
        <p:nvSpPr>
          <p:cNvPr id="71" name="Rounded Rectangle 70"/>
          <p:cNvSpPr/>
          <p:nvPr/>
        </p:nvSpPr>
        <p:spPr>
          <a:xfrm>
            <a:off x="4276725" y="4210785"/>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Belgium</a:t>
            </a:r>
          </a:p>
        </p:txBody>
      </p:sp>
      <p:sp>
        <p:nvSpPr>
          <p:cNvPr id="72" name="Rounded Rectangle 71"/>
          <p:cNvSpPr/>
          <p:nvPr/>
        </p:nvSpPr>
        <p:spPr>
          <a:xfrm>
            <a:off x="4276725" y="4566732"/>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Netherlands</a:t>
            </a:r>
          </a:p>
        </p:txBody>
      </p:sp>
      <p:sp>
        <p:nvSpPr>
          <p:cNvPr id="73" name="Rounded Rectangle 72"/>
          <p:cNvSpPr/>
          <p:nvPr/>
        </p:nvSpPr>
        <p:spPr>
          <a:xfrm>
            <a:off x="4276725" y="4913552"/>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Nordic Countries</a:t>
            </a:r>
          </a:p>
        </p:txBody>
      </p:sp>
      <p:sp>
        <p:nvSpPr>
          <p:cNvPr id="74" name="Rounded Rectangle 73"/>
          <p:cNvSpPr/>
          <p:nvPr/>
        </p:nvSpPr>
        <p:spPr>
          <a:xfrm>
            <a:off x="4276725" y="5260373"/>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Switzerland</a:t>
            </a:r>
          </a:p>
        </p:txBody>
      </p:sp>
      <p:sp>
        <p:nvSpPr>
          <p:cNvPr id="75" name="Rounded Rectangle 74"/>
          <p:cNvSpPr/>
          <p:nvPr/>
        </p:nvSpPr>
        <p:spPr>
          <a:xfrm>
            <a:off x="4276725" y="5607193"/>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Russia</a:t>
            </a:r>
          </a:p>
        </p:txBody>
      </p:sp>
      <p:sp>
        <p:nvSpPr>
          <p:cNvPr id="76" name="Rounded Rectangle 75"/>
          <p:cNvSpPr/>
          <p:nvPr/>
        </p:nvSpPr>
        <p:spPr>
          <a:xfrm>
            <a:off x="4276725" y="5963140"/>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Poland</a:t>
            </a:r>
          </a:p>
        </p:txBody>
      </p:sp>
      <p:sp>
        <p:nvSpPr>
          <p:cNvPr id="77" name="Rounded Rectangle 76"/>
          <p:cNvSpPr/>
          <p:nvPr/>
        </p:nvSpPr>
        <p:spPr>
          <a:xfrm>
            <a:off x="4276725" y="6309960"/>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Europe</a:t>
            </a:r>
          </a:p>
        </p:txBody>
      </p:sp>
      <p:sp>
        <p:nvSpPr>
          <p:cNvPr id="78" name="Rounded Rectangle 77"/>
          <p:cNvSpPr/>
          <p:nvPr/>
        </p:nvSpPr>
        <p:spPr>
          <a:xfrm>
            <a:off x="6153150"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East Asia</a:t>
            </a:r>
          </a:p>
        </p:txBody>
      </p:sp>
      <p:sp>
        <p:nvSpPr>
          <p:cNvPr id="79" name="Rounded Rectangle 78"/>
          <p:cNvSpPr/>
          <p:nvPr/>
        </p:nvSpPr>
        <p:spPr>
          <a:xfrm>
            <a:off x="6286500"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China</a:t>
            </a:r>
          </a:p>
        </p:txBody>
      </p:sp>
      <p:sp>
        <p:nvSpPr>
          <p:cNvPr id="80" name="Rounded Rectangle 79"/>
          <p:cNvSpPr/>
          <p:nvPr/>
        </p:nvSpPr>
        <p:spPr>
          <a:xfrm>
            <a:off x="6286500" y="282350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Japan</a:t>
            </a:r>
          </a:p>
        </p:txBody>
      </p:sp>
      <p:sp>
        <p:nvSpPr>
          <p:cNvPr id="81" name="Rounded Rectangle 80"/>
          <p:cNvSpPr/>
          <p:nvPr/>
        </p:nvSpPr>
        <p:spPr>
          <a:xfrm>
            <a:off x="6286500" y="3179451"/>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South Korea</a:t>
            </a:r>
          </a:p>
        </p:txBody>
      </p:sp>
      <p:sp>
        <p:nvSpPr>
          <p:cNvPr id="82" name="Rounded Rectangle 81"/>
          <p:cNvSpPr/>
          <p:nvPr/>
        </p:nvSpPr>
        <p:spPr>
          <a:xfrm>
            <a:off x="8153400"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South Asia &amp; Pacific</a:t>
            </a:r>
          </a:p>
        </p:txBody>
      </p:sp>
      <p:sp>
        <p:nvSpPr>
          <p:cNvPr id="83" name="Rounded Rectangle 82"/>
          <p:cNvSpPr/>
          <p:nvPr/>
        </p:nvSpPr>
        <p:spPr>
          <a:xfrm>
            <a:off x="8286750"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India</a:t>
            </a:r>
          </a:p>
        </p:txBody>
      </p:sp>
      <p:sp>
        <p:nvSpPr>
          <p:cNvPr id="84" name="Rounded Rectangle 83"/>
          <p:cNvSpPr/>
          <p:nvPr/>
        </p:nvSpPr>
        <p:spPr>
          <a:xfrm>
            <a:off x="8286750" y="282350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Thailand</a:t>
            </a:r>
          </a:p>
        </p:txBody>
      </p:sp>
      <p:sp>
        <p:nvSpPr>
          <p:cNvPr id="85" name="Rounded Rectangle 84"/>
          <p:cNvSpPr/>
          <p:nvPr/>
        </p:nvSpPr>
        <p:spPr>
          <a:xfrm>
            <a:off x="8286750" y="3179451"/>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Malaysia</a:t>
            </a:r>
          </a:p>
        </p:txBody>
      </p:sp>
      <p:sp>
        <p:nvSpPr>
          <p:cNvPr id="86" name="Rounded Rectangle 85"/>
          <p:cNvSpPr/>
          <p:nvPr/>
        </p:nvSpPr>
        <p:spPr>
          <a:xfrm>
            <a:off x="8286750" y="3535398"/>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Indonesia</a:t>
            </a:r>
          </a:p>
        </p:txBody>
      </p:sp>
      <p:sp>
        <p:nvSpPr>
          <p:cNvPr id="87" name="Rounded Rectangle 86"/>
          <p:cNvSpPr/>
          <p:nvPr/>
        </p:nvSpPr>
        <p:spPr>
          <a:xfrm>
            <a:off x="8286750" y="3891345"/>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Singapore</a:t>
            </a:r>
          </a:p>
        </p:txBody>
      </p:sp>
      <p:sp>
        <p:nvSpPr>
          <p:cNvPr id="88" name="Rounded Rectangle 87"/>
          <p:cNvSpPr/>
          <p:nvPr/>
        </p:nvSpPr>
        <p:spPr>
          <a:xfrm>
            <a:off x="8286750" y="4247292"/>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Philippines</a:t>
            </a:r>
          </a:p>
        </p:txBody>
      </p:sp>
      <p:sp>
        <p:nvSpPr>
          <p:cNvPr id="89" name="Rounded Rectangle 88"/>
          <p:cNvSpPr/>
          <p:nvPr/>
        </p:nvSpPr>
        <p:spPr>
          <a:xfrm>
            <a:off x="8286750" y="4603240"/>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Australia</a:t>
            </a:r>
          </a:p>
        </p:txBody>
      </p:sp>
      <p:sp>
        <p:nvSpPr>
          <p:cNvPr id="90" name="Rounded Rectangle 89"/>
          <p:cNvSpPr/>
          <p:nvPr/>
        </p:nvSpPr>
        <p:spPr>
          <a:xfrm>
            <a:off x="8286750" y="495918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New Zealand</a:t>
            </a:r>
          </a:p>
        </p:txBody>
      </p:sp>
      <p:sp>
        <p:nvSpPr>
          <p:cNvPr id="91" name="Rounded Rectangle 90"/>
          <p:cNvSpPr/>
          <p:nvPr/>
        </p:nvSpPr>
        <p:spPr>
          <a:xfrm>
            <a:off x="8286750" y="531513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South Asia &amp; Pacific</a:t>
            </a:r>
          </a:p>
        </p:txBody>
      </p:sp>
      <p:sp>
        <p:nvSpPr>
          <p:cNvPr id="92" name="Rounded Rectangle 91"/>
          <p:cNvSpPr/>
          <p:nvPr/>
        </p:nvSpPr>
        <p:spPr>
          <a:xfrm>
            <a:off x="10153650"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Middle East &amp; Africa</a:t>
            </a:r>
          </a:p>
        </p:txBody>
      </p:sp>
      <p:sp>
        <p:nvSpPr>
          <p:cNvPr id="93" name="Rounded Rectangle 92"/>
          <p:cNvSpPr/>
          <p:nvPr/>
        </p:nvSpPr>
        <p:spPr>
          <a:xfrm>
            <a:off x="10287000"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Turkey</a:t>
            </a:r>
          </a:p>
        </p:txBody>
      </p:sp>
      <p:sp>
        <p:nvSpPr>
          <p:cNvPr id="94" name="Rounded Rectangle 93"/>
          <p:cNvSpPr/>
          <p:nvPr/>
        </p:nvSpPr>
        <p:spPr>
          <a:xfrm>
            <a:off x="10287000" y="282350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UAE</a:t>
            </a:r>
          </a:p>
        </p:txBody>
      </p:sp>
      <p:sp>
        <p:nvSpPr>
          <p:cNvPr id="95" name="Rounded Rectangle 94"/>
          <p:cNvSpPr/>
          <p:nvPr/>
        </p:nvSpPr>
        <p:spPr>
          <a:xfrm>
            <a:off x="10287000" y="3179451"/>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Saudi Arabia</a:t>
            </a:r>
          </a:p>
        </p:txBody>
      </p:sp>
      <p:sp>
        <p:nvSpPr>
          <p:cNvPr id="96" name="Rounded Rectangle 95"/>
          <p:cNvSpPr/>
          <p:nvPr/>
        </p:nvSpPr>
        <p:spPr>
          <a:xfrm>
            <a:off x="10287000" y="3535398"/>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Israel</a:t>
            </a:r>
          </a:p>
        </p:txBody>
      </p:sp>
      <p:sp>
        <p:nvSpPr>
          <p:cNvPr id="97" name="Rounded Rectangle 96"/>
          <p:cNvSpPr/>
          <p:nvPr/>
        </p:nvSpPr>
        <p:spPr>
          <a:xfrm>
            <a:off x="10287000" y="3891345"/>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Other GCC Countries</a:t>
            </a:r>
          </a:p>
        </p:txBody>
      </p:sp>
      <p:sp>
        <p:nvSpPr>
          <p:cNvPr id="98" name="Rounded Rectangle 97"/>
          <p:cNvSpPr/>
          <p:nvPr/>
        </p:nvSpPr>
        <p:spPr>
          <a:xfrm>
            <a:off x="10287000" y="4247292"/>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North Africa</a:t>
            </a:r>
          </a:p>
        </p:txBody>
      </p:sp>
      <p:sp>
        <p:nvSpPr>
          <p:cNvPr id="99" name="Rounded Rectangle 98"/>
          <p:cNvSpPr/>
          <p:nvPr/>
        </p:nvSpPr>
        <p:spPr>
          <a:xfrm>
            <a:off x="10287000" y="4603240"/>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South Africa</a:t>
            </a:r>
          </a:p>
        </p:txBody>
      </p:sp>
      <p:sp>
        <p:nvSpPr>
          <p:cNvPr id="100" name="Rounded Rectangle 99"/>
          <p:cNvSpPr/>
          <p:nvPr/>
        </p:nvSpPr>
        <p:spPr>
          <a:xfrm>
            <a:off x="10287000" y="495918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Middle East &amp; Africa</a:t>
            </a:r>
          </a:p>
        </p:txBody>
      </p:sp>
      <p:sp>
        <p:nvSpPr>
          <p:cNvPr id="101" name="TextBox 10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Taxonomy Segments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Segmentation framework of the study: 6 axes and the sub-segments sized under each</a:t>
            </a:r>
          </a:p>
        </p:txBody>
      </p:sp>
      <p:sp>
        <p:nvSpPr>
          <p:cNvPr id="10" name="Rectangle 9"/>
          <p:cNvSpPr/>
          <p:nvPr/>
        </p:nvSpPr>
        <p:spPr>
          <a:xfrm>
            <a:off x="142875" y="1028700"/>
            <a:ext cx="2876550" cy="93726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Rectangle 10"/>
          <p:cNvSpPr/>
          <p:nvPr/>
        </p:nvSpPr>
        <p:spPr>
          <a:xfrm>
            <a:off x="1428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190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Product Type</a:t>
            </a:r>
          </a:p>
        </p:txBody>
      </p:sp>
      <p:sp>
        <p:nvSpPr>
          <p:cNvPr id="13" name="TextBox 12"/>
          <p:cNvSpPr txBox="1"/>
          <p:nvPr/>
        </p:nvSpPr>
        <p:spPr>
          <a:xfrm>
            <a:off x="2000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 name="TextBox 13"/>
          <p:cNvSpPr txBox="1"/>
          <p:nvPr/>
        </p:nvSpPr>
        <p:spPr>
          <a:xfrm>
            <a:off x="390525" y="125730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Cast Metal Partial Dentures</a:t>
            </a:r>
          </a:p>
        </p:txBody>
      </p:sp>
      <p:cxnSp>
        <p:nvCxnSpPr>
          <p:cNvPr id="15" name="Connector 14"/>
          <p:cNvCxnSpPr/>
          <p:nvPr/>
        </p:nvCxnSpPr>
        <p:spPr>
          <a:xfrm>
            <a:off x="1524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20002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 name="TextBox 16"/>
          <p:cNvSpPr txBox="1"/>
          <p:nvPr/>
        </p:nvSpPr>
        <p:spPr>
          <a:xfrm>
            <a:off x="390525" y="143446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Acrylic Partial Dentures</a:t>
            </a:r>
          </a:p>
        </p:txBody>
      </p:sp>
      <p:cxnSp>
        <p:nvCxnSpPr>
          <p:cNvPr id="18" name="Connector 17"/>
          <p:cNvCxnSpPr/>
          <p:nvPr/>
        </p:nvCxnSpPr>
        <p:spPr>
          <a:xfrm>
            <a:off x="1524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9" name="TextBox 18"/>
          <p:cNvSpPr txBox="1"/>
          <p:nvPr/>
        </p:nvSpPr>
        <p:spPr>
          <a:xfrm>
            <a:off x="20002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 name="TextBox 19"/>
          <p:cNvSpPr txBox="1"/>
          <p:nvPr/>
        </p:nvSpPr>
        <p:spPr>
          <a:xfrm>
            <a:off x="390525" y="161163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Flexible Partial Dentures</a:t>
            </a:r>
          </a:p>
        </p:txBody>
      </p:sp>
      <p:cxnSp>
        <p:nvCxnSpPr>
          <p:cNvPr id="21" name="Connector 20"/>
          <p:cNvCxnSpPr/>
          <p:nvPr/>
        </p:nvCxnSpPr>
        <p:spPr>
          <a:xfrm>
            <a:off x="1524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2" name="TextBox 21"/>
          <p:cNvSpPr txBox="1"/>
          <p:nvPr/>
        </p:nvSpPr>
        <p:spPr>
          <a:xfrm>
            <a:off x="20002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 name="TextBox 22"/>
          <p:cNvSpPr txBox="1"/>
          <p:nvPr/>
        </p:nvSpPr>
        <p:spPr>
          <a:xfrm>
            <a:off x="390525" y="178879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Combination Framework Partial Dentures</a:t>
            </a:r>
          </a:p>
        </p:txBody>
      </p:sp>
      <p:sp>
        <p:nvSpPr>
          <p:cNvPr id="24" name="Rectangle 23"/>
          <p:cNvSpPr/>
          <p:nvPr/>
        </p:nvSpPr>
        <p:spPr>
          <a:xfrm>
            <a:off x="142875" y="2080260"/>
            <a:ext cx="2876550" cy="76009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Rectangle 24"/>
          <p:cNvSpPr/>
          <p:nvPr/>
        </p:nvSpPr>
        <p:spPr>
          <a:xfrm>
            <a:off x="142875" y="208026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19075" y="208026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Distribution Channel</a:t>
            </a:r>
          </a:p>
        </p:txBody>
      </p:sp>
      <p:sp>
        <p:nvSpPr>
          <p:cNvPr id="27" name="TextBox 26"/>
          <p:cNvSpPr txBox="1"/>
          <p:nvPr/>
        </p:nvSpPr>
        <p:spPr>
          <a:xfrm>
            <a:off x="200025" y="23088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8" name="TextBox 27"/>
          <p:cNvSpPr txBox="1"/>
          <p:nvPr/>
        </p:nvSpPr>
        <p:spPr>
          <a:xfrm>
            <a:off x="390525" y="230886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Direct Sales</a:t>
            </a:r>
          </a:p>
        </p:txBody>
      </p:sp>
      <p:cxnSp>
        <p:nvCxnSpPr>
          <p:cNvPr id="29" name="Connector 28"/>
          <p:cNvCxnSpPr/>
          <p:nvPr/>
        </p:nvCxnSpPr>
        <p:spPr>
          <a:xfrm>
            <a:off x="152400" y="24860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0" name="TextBox 29"/>
          <p:cNvSpPr txBox="1"/>
          <p:nvPr/>
        </p:nvSpPr>
        <p:spPr>
          <a:xfrm>
            <a:off x="200025" y="24860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1" name="TextBox 30"/>
          <p:cNvSpPr txBox="1"/>
          <p:nvPr/>
        </p:nvSpPr>
        <p:spPr>
          <a:xfrm>
            <a:off x="390525" y="248602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Dental Dealers &amp; Distributors</a:t>
            </a:r>
          </a:p>
        </p:txBody>
      </p:sp>
      <p:cxnSp>
        <p:nvCxnSpPr>
          <p:cNvPr id="32" name="Connector 31"/>
          <p:cNvCxnSpPr/>
          <p:nvPr/>
        </p:nvCxnSpPr>
        <p:spPr>
          <a:xfrm>
            <a:off x="152400" y="26631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3" name="TextBox 32"/>
          <p:cNvSpPr txBox="1"/>
          <p:nvPr/>
        </p:nvSpPr>
        <p:spPr>
          <a:xfrm>
            <a:off x="200025" y="26631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4" name="TextBox 33"/>
          <p:cNvSpPr txBox="1"/>
          <p:nvPr/>
        </p:nvSpPr>
        <p:spPr>
          <a:xfrm>
            <a:off x="390525" y="266319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Online Dental Supply Channels</a:t>
            </a:r>
          </a:p>
        </p:txBody>
      </p:sp>
      <p:sp>
        <p:nvSpPr>
          <p:cNvPr id="35" name="Rectangle 34"/>
          <p:cNvSpPr/>
          <p:nvPr/>
        </p:nvSpPr>
        <p:spPr>
          <a:xfrm>
            <a:off x="3152775" y="1028700"/>
            <a:ext cx="2876550" cy="253174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1527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32289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Material Type</a:t>
            </a:r>
          </a:p>
        </p:txBody>
      </p:sp>
      <p:sp>
        <p:nvSpPr>
          <p:cNvPr id="38" name="TextBox 37"/>
          <p:cNvSpPr txBox="1"/>
          <p:nvPr/>
        </p:nvSpPr>
        <p:spPr>
          <a:xfrm>
            <a:off x="32099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9" name="TextBox 38"/>
          <p:cNvSpPr txBox="1"/>
          <p:nvPr/>
        </p:nvSpPr>
        <p:spPr>
          <a:xfrm>
            <a:off x="3400425" y="125730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Metal Alloys</a:t>
            </a:r>
          </a:p>
        </p:txBody>
      </p:sp>
      <p:cxnSp>
        <p:nvCxnSpPr>
          <p:cNvPr id="40" name="Connector 39"/>
          <p:cNvCxnSpPr/>
          <p:nvPr/>
        </p:nvCxnSpPr>
        <p:spPr>
          <a:xfrm>
            <a:off x="31623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1" name="TextBox 40"/>
          <p:cNvSpPr txBox="1"/>
          <p:nvPr/>
        </p:nvSpPr>
        <p:spPr>
          <a:xfrm>
            <a:off x="338137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2" name="TextBox 41"/>
          <p:cNvSpPr txBox="1"/>
          <p:nvPr/>
        </p:nvSpPr>
        <p:spPr>
          <a:xfrm>
            <a:off x="3571875" y="143446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Cobalt-Chromium Alloys</a:t>
            </a:r>
          </a:p>
        </p:txBody>
      </p:sp>
      <p:cxnSp>
        <p:nvCxnSpPr>
          <p:cNvPr id="43" name="Connector 42"/>
          <p:cNvCxnSpPr/>
          <p:nvPr/>
        </p:nvCxnSpPr>
        <p:spPr>
          <a:xfrm>
            <a:off x="31623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338137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5" name="TextBox 44"/>
          <p:cNvSpPr txBox="1"/>
          <p:nvPr/>
        </p:nvSpPr>
        <p:spPr>
          <a:xfrm>
            <a:off x="3571875" y="161163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Titanium Alloys</a:t>
            </a:r>
          </a:p>
        </p:txBody>
      </p:sp>
      <p:cxnSp>
        <p:nvCxnSpPr>
          <p:cNvPr id="46" name="Connector 45"/>
          <p:cNvCxnSpPr/>
          <p:nvPr/>
        </p:nvCxnSpPr>
        <p:spPr>
          <a:xfrm>
            <a:off x="31623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7" name="TextBox 46"/>
          <p:cNvSpPr txBox="1"/>
          <p:nvPr/>
        </p:nvSpPr>
        <p:spPr>
          <a:xfrm>
            <a:off x="320992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8" name="TextBox 47"/>
          <p:cNvSpPr txBox="1"/>
          <p:nvPr/>
        </p:nvSpPr>
        <p:spPr>
          <a:xfrm>
            <a:off x="3400425" y="178879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Acrylic / Resin</a:t>
            </a:r>
          </a:p>
        </p:txBody>
      </p:sp>
      <p:cxnSp>
        <p:nvCxnSpPr>
          <p:cNvPr id="49" name="Connector 48"/>
          <p:cNvCxnSpPr/>
          <p:nvPr/>
        </p:nvCxnSpPr>
        <p:spPr>
          <a:xfrm>
            <a:off x="3162300" y="19659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0" name="TextBox 49"/>
          <p:cNvSpPr txBox="1"/>
          <p:nvPr/>
        </p:nvSpPr>
        <p:spPr>
          <a:xfrm>
            <a:off x="338137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1" name="TextBox 50"/>
          <p:cNvSpPr txBox="1"/>
          <p:nvPr/>
        </p:nvSpPr>
        <p:spPr>
          <a:xfrm>
            <a:off x="3571875" y="196596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PMMA</a:t>
            </a:r>
          </a:p>
        </p:txBody>
      </p:sp>
      <p:cxnSp>
        <p:nvCxnSpPr>
          <p:cNvPr id="52" name="Connector 51"/>
          <p:cNvCxnSpPr/>
          <p:nvPr/>
        </p:nvCxnSpPr>
        <p:spPr>
          <a:xfrm>
            <a:off x="3162300" y="21431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3" name="TextBox 52"/>
          <p:cNvSpPr txBox="1"/>
          <p:nvPr/>
        </p:nvSpPr>
        <p:spPr>
          <a:xfrm>
            <a:off x="3381375" y="21431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4" name="TextBox 53"/>
          <p:cNvSpPr txBox="1"/>
          <p:nvPr/>
        </p:nvSpPr>
        <p:spPr>
          <a:xfrm>
            <a:off x="3571875" y="21431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Printable Denture Resins</a:t>
            </a:r>
          </a:p>
        </p:txBody>
      </p:sp>
      <p:cxnSp>
        <p:nvCxnSpPr>
          <p:cNvPr id="55" name="Connector 54"/>
          <p:cNvCxnSpPr/>
          <p:nvPr/>
        </p:nvCxnSpPr>
        <p:spPr>
          <a:xfrm>
            <a:off x="3162300" y="23202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6" name="TextBox 55"/>
          <p:cNvSpPr txBox="1"/>
          <p:nvPr/>
        </p:nvSpPr>
        <p:spPr>
          <a:xfrm>
            <a:off x="3209925" y="23202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7" name="TextBox 56"/>
          <p:cNvSpPr txBox="1"/>
          <p:nvPr/>
        </p:nvSpPr>
        <p:spPr>
          <a:xfrm>
            <a:off x="3400425" y="232029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Flexible Thermoplastics</a:t>
            </a:r>
          </a:p>
        </p:txBody>
      </p:sp>
      <p:cxnSp>
        <p:nvCxnSpPr>
          <p:cNvPr id="58" name="Connector 57"/>
          <p:cNvCxnSpPr/>
          <p:nvPr/>
        </p:nvCxnSpPr>
        <p:spPr>
          <a:xfrm>
            <a:off x="3162300" y="24974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9" name="TextBox 58"/>
          <p:cNvSpPr txBox="1"/>
          <p:nvPr/>
        </p:nvSpPr>
        <p:spPr>
          <a:xfrm>
            <a:off x="3381375" y="24974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0" name="TextBox 59"/>
          <p:cNvSpPr txBox="1"/>
          <p:nvPr/>
        </p:nvSpPr>
        <p:spPr>
          <a:xfrm>
            <a:off x="3571875" y="249745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Polyamide / Nylon</a:t>
            </a:r>
          </a:p>
        </p:txBody>
      </p:sp>
      <p:cxnSp>
        <p:nvCxnSpPr>
          <p:cNvPr id="61" name="Connector 60"/>
          <p:cNvCxnSpPr/>
          <p:nvPr/>
        </p:nvCxnSpPr>
        <p:spPr>
          <a:xfrm>
            <a:off x="3162300" y="26746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2" name="TextBox 61"/>
          <p:cNvSpPr txBox="1"/>
          <p:nvPr/>
        </p:nvSpPr>
        <p:spPr>
          <a:xfrm>
            <a:off x="3381375" y="26746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3" name="TextBox 62"/>
          <p:cNvSpPr txBox="1"/>
          <p:nvPr/>
        </p:nvSpPr>
        <p:spPr>
          <a:xfrm>
            <a:off x="3571875" y="26746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Other Thermoplastic Resins</a:t>
            </a:r>
          </a:p>
        </p:txBody>
      </p:sp>
      <p:cxnSp>
        <p:nvCxnSpPr>
          <p:cNvPr id="64" name="Connector 63"/>
          <p:cNvCxnSpPr/>
          <p:nvPr/>
        </p:nvCxnSpPr>
        <p:spPr>
          <a:xfrm>
            <a:off x="3162300" y="28517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5" name="TextBox 64"/>
          <p:cNvSpPr txBox="1"/>
          <p:nvPr/>
        </p:nvSpPr>
        <p:spPr>
          <a:xfrm>
            <a:off x="3209925" y="28517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6" name="TextBox 65"/>
          <p:cNvSpPr txBox="1"/>
          <p:nvPr/>
        </p:nvSpPr>
        <p:spPr>
          <a:xfrm>
            <a:off x="3400425" y="285178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High-performance Polymers</a:t>
            </a:r>
          </a:p>
        </p:txBody>
      </p:sp>
      <p:cxnSp>
        <p:nvCxnSpPr>
          <p:cNvPr id="67" name="Connector 66"/>
          <p:cNvCxnSpPr/>
          <p:nvPr/>
        </p:nvCxnSpPr>
        <p:spPr>
          <a:xfrm>
            <a:off x="3162300" y="30289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8" name="TextBox 67"/>
          <p:cNvSpPr txBox="1"/>
          <p:nvPr/>
        </p:nvSpPr>
        <p:spPr>
          <a:xfrm>
            <a:off x="3381375" y="30289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9" name="TextBox 68"/>
          <p:cNvSpPr txBox="1"/>
          <p:nvPr/>
        </p:nvSpPr>
        <p:spPr>
          <a:xfrm>
            <a:off x="3571875" y="302895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PEEK-based Materials</a:t>
            </a:r>
          </a:p>
        </p:txBody>
      </p:sp>
      <p:cxnSp>
        <p:nvCxnSpPr>
          <p:cNvPr id="70" name="Connector 69"/>
          <p:cNvCxnSpPr/>
          <p:nvPr/>
        </p:nvCxnSpPr>
        <p:spPr>
          <a:xfrm>
            <a:off x="3162300" y="320611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1" name="TextBox 70"/>
          <p:cNvSpPr txBox="1"/>
          <p:nvPr/>
        </p:nvSpPr>
        <p:spPr>
          <a:xfrm>
            <a:off x="3381375" y="32061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2" name="TextBox 71"/>
          <p:cNvSpPr txBox="1"/>
          <p:nvPr/>
        </p:nvSpPr>
        <p:spPr>
          <a:xfrm>
            <a:off x="3571875" y="3206115"/>
            <a:ext cx="2419350" cy="354330"/>
          </a:xfrm>
          <a:prstGeom prst="rect">
            <a:avLst/>
          </a:prstGeom>
          <a:noFill/>
        </p:spPr>
        <p:txBody>
          <a:bodyPr wrap="square" lIns="28575" rIns="28575" tIns="9525" bIns="9525" anchor="t">
            <a:spAutoFit/>
          </a:bodyPr>
          <a:lstStyle/>
          <a:p>
            <a:pPr algn="l">
              <a:lnSpc>
                <a:spcPct val="100000"/>
              </a:lnSpc>
            </a:pPr>
            <a:r>
              <a:rPr sz="1100" b="0">
                <a:solidFill>
                  <a:srgbClr val="2E2E2E"/>
                </a:solidFill>
                <a:latin typeface="Calibri"/>
              </a:rPr>
              <a:t>Other High-performance Dental Polymers</a:t>
            </a:r>
          </a:p>
        </p:txBody>
      </p:sp>
      <p:sp>
        <p:nvSpPr>
          <p:cNvPr id="73" name="Rectangle 72"/>
          <p:cNvSpPr/>
          <p:nvPr/>
        </p:nvSpPr>
        <p:spPr>
          <a:xfrm>
            <a:off x="6162675" y="1028700"/>
            <a:ext cx="2876550" cy="164592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61626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62388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Technology</a:t>
            </a:r>
          </a:p>
        </p:txBody>
      </p:sp>
      <p:sp>
        <p:nvSpPr>
          <p:cNvPr id="76" name="TextBox 75"/>
          <p:cNvSpPr txBox="1"/>
          <p:nvPr/>
        </p:nvSpPr>
        <p:spPr>
          <a:xfrm>
            <a:off x="62198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7" name="TextBox 76"/>
          <p:cNvSpPr txBox="1"/>
          <p:nvPr/>
        </p:nvSpPr>
        <p:spPr>
          <a:xfrm>
            <a:off x="6410325" y="125730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Conventional Fabrication</a:t>
            </a:r>
          </a:p>
        </p:txBody>
      </p:sp>
      <p:cxnSp>
        <p:nvCxnSpPr>
          <p:cNvPr id="78" name="Connector 77"/>
          <p:cNvCxnSpPr/>
          <p:nvPr/>
        </p:nvCxnSpPr>
        <p:spPr>
          <a:xfrm>
            <a:off x="61722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9" name="TextBox 78"/>
          <p:cNvSpPr txBox="1"/>
          <p:nvPr/>
        </p:nvSpPr>
        <p:spPr>
          <a:xfrm>
            <a:off x="639127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0" name="TextBox 79"/>
          <p:cNvSpPr txBox="1"/>
          <p:nvPr/>
        </p:nvSpPr>
        <p:spPr>
          <a:xfrm>
            <a:off x="6581775" y="143446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Metal Casting</a:t>
            </a:r>
          </a:p>
        </p:txBody>
      </p:sp>
      <p:cxnSp>
        <p:nvCxnSpPr>
          <p:cNvPr id="81" name="Connector 80"/>
          <p:cNvCxnSpPr/>
          <p:nvPr/>
        </p:nvCxnSpPr>
        <p:spPr>
          <a:xfrm>
            <a:off x="61722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2" name="TextBox 81"/>
          <p:cNvSpPr txBox="1"/>
          <p:nvPr/>
        </p:nvSpPr>
        <p:spPr>
          <a:xfrm>
            <a:off x="639127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3" name="TextBox 82"/>
          <p:cNvSpPr txBox="1"/>
          <p:nvPr/>
        </p:nvSpPr>
        <p:spPr>
          <a:xfrm>
            <a:off x="6581775" y="161163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Heat-cured / Compression Processing</a:t>
            </a:r>
          </a:p>
        </p:txBody>
      </p:sp>
      <p:cxnSp>
        <p:nvCxnSpPr>
          <p:cNvPr id="84" name="Connector 83"/>
          <p:cNvCxnSpPr/>
          <p:nvPr/>
        </p:nvCxnSpPr>
        <p:spPr>
          <a:xfrm>
            <a:off x="61722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5" name="TextBox 84"/>
          <p:cNvSpPr txBox="1"/>
          <p:nvPr/>
        </p:nvSpPr>
        <p:spPr>
          <a:xfrm>
            <a:off x="639127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6" name="TextBox 85"/>
          <p:cNvSpPr txBox="1"/>
          <p:nvPr/>
        </p:nvSpPr>
        <p:spPr>
          <a:xfrm>
            <a:off x="6581775" y="178879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Injection Molding</a:t>
            </a:r>
          </a:p>
        </p:txBody>
      </p:sp>
      <p:cxnSp>
        <p:nvCxnSpPr>
          <p:cNvPr id="87" name="Connector 86"/>
          <p:cNvCxnSpPr/>
          <p:nvPr/>
        </p:nvCxnSpPr>
        <p:spPr>
          <a:xfrm>
            <a:off x="6172200" y="19659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8" name="TextBox 87"/>
          <p:cNvSpPr txBox="1"/>
          <p:nvPr/>
        </p:nvSpPr>
        <p:spPr>
          <a:xfrm>
            <a:off x="621982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9" name="TextBox 88"/>
          <p:cNvSpPr txBox="1"/>
          <p:nvPr/>
        </p:nvSpPr>
        <p:spPr>
          <a:xfrm>
            <a:off x="6410325" y="196596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Digital Fabrication</a:t>
            </a:r>
          </a:p>
        </p:txBody>
      </p:sp>
      <p:cxnSp>
        <p:nvCxnSpPr>
          <p:cNvPr id="90" name="Connector 89"/>
          <p:cNvCxnSpPr/>
          <p:nvPr/>
        </p:nvCxnSpPr>
        <p:spPr>
          <a:xfrm>
            <a:off x="6172200" y="21431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1" name="TextBox 90"/>
          <p:cNvSpPr txBox="1"/>
          <p:nvPr/>
        </p:nvSpPr>
        <p:spPr>
          <a:xfrm>
            <a:off x="6391275" y="21431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2" name="TextBox 91"/>
          <p:cNvSpPr txBox="1"/>
          <p:nvPr/>
        </p:nvSpPr>
        <p:spPr>
          <a:xfrm>
            <a:off x="6581775" y="21431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CAD/CAM Milling</a:t>
            </a:r>
          </a:p>
        </p:txBody>
      </p:sp>
      <p:cxnSp>
        <p:nvCxnSpPr>
          <p:cNvPr id="93" name="Connector 92"/>
          <p:cNvCxnSpPr/>
          <p:nvPr/>
        </p:nvCxnSpPr>
        <p:spPr>
          <a:xfrm>
            <a:off x="6172200" y="23202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4" name="TextBox 93"/>
          <p:cNvSpPr txBox="1"/>
          <p:nvPr/>
        </p:nvSpPr>
        <p:spPr>
          <a:xfrm>
            <a:off x="6391275" y="23202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5" name="TextBox 94"/>
          <p:cNvSpPr txBox="1"/>
          <p:nvPr/>
        </p:nvSpPr>
        <p:spPr>
          <a:xfrm>
            <a:off x="6581775" y="232029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3D Printing / Additive Manufacturing</a:t>
            </a:r>
          </a:p>
        </p:txBody>
      </p:sp>
      <p:cxnSp>
        <p:nvCxnSpPr>
          <p:cNvPr id="96" name="Connector 95"/>
          <p:cNvCxnSpPr/>
          <p:nvPr/>
        </p:nvCxnSpPr>
        <p:spPr>
          <a:xfrm>
            <a:off x="6172200" y="24974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7" name="TextBox 96"/>
          <p:cNvSpPr txBox="1"/>
          <p:nvPr/>
        </p:nvSpPr>
        <p:spPr>
          <a:xfrm>
            <a:off x="6391275" y="24974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8" name="TextBox 97"/>
          <p:cNvSpPr txBox="1"/>
          <p:nvPr/>
        </p:nvSpPr>
        <p:spPr>
          <a:xfrm>
            <a:off x="6581775" y="249745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Hybrid Digital Fabrication</a:t>
            </a:r>
          </a:p>
        </p:txBody>
      </p:sp>
      <p:sp>
        <p:nvSpPr>
          <p:cNvPr id="99" name="Rectangle 98"/>
          <p:cNvSpPr/>
          <p:nvPr/>
        </p:nvSpPr>
        <p:spPr>
          <a:xfrm>
            <a:off x="9172575" y="1028700"/>
            <a:ext cx="2876550" cy="93726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91725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TextBox 100"/>
          <p:cNvSpPr txBox="1"/>
          <p:nvPr/>
        </p:nvSpPr>
        <p:spPr>
          <a:xfrm>
            <a:off x="92487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End User</a:t>
            </a:r>
          </a:p>
        </p:txBody>
      </p:sp>
      <p:sp>
        <p:nvSpPr>
          <p:cNvPr id="102" name="TextBox 101"/>
          <p:cNvSpPr txBox="1"/>
          <p:nvPr/>
        </p:nvSpPr>
        <p:spPr>
          <a:xfrm>
            <a:off x="92297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3" name="TextBox 102"/>
          <p:cNvSpPr txBox="1"/>
          <p:nvPr/>
        </p:nvSpPr>
        <p:spPr>
          <a:xfrm>
            <a:off x="9420225" y="125730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Dental Clinics</a:t>
            </a:r>
          </a:p>
        </p:txBody>
      </p:sp>
      <p:cxnSp>
        <p:nvCxnSpPr>
          <p:cNvPr id="104" name="Connector 103"/>
          <p:cNvCxnSpPr/>
          <p:nvPr/>
        </p:nvCxnSpPr>
        <p:spPr>
          <a:xfrm>
            <a:off x="91821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5" name="TextBox 104"/>
          <p:cNvSpPr txBox="1"/>
          <p:nvPr/>
        </p:nvSpPr>
        <p:spPr>
          <a:xfrm>
            <a:off x="922972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6" name="TextBox 105"/>
          <p:cNvSpPr txBox="1"/>
          <p:nvPr/>
        </p:nvSpPr>
        <p:spPr>
          <a:xfrm>
            <a:off x="9420225" y="143446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Dental Hospitals</a:t>
            </a:r>
          </a:p>
        </p:txBody>
      </p:sp>
      <p:cxnSp>
        <p:nvCxnSpPr>
          <p:cNvPr id="107" name="Connector 106"/>
          <p:cNvCxnSpPr/>
          <p:nvPr/>
        </p:nvCxnSpPr>
        <p:spPr>
          <a:xfrm>
            <a:off x="91821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8" name="TextBox 107"/>
          <p:cNvSpPr txBox="1"/>
          <p:nvPr/>
        </p:nvSpPr>
        <p:spPr>
          <a:xfrm>
            <a:off x="922972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9" name="TextBox 108"/>
          <p:cNvSpPr txBox="1"/>
          <p:nvPr/>
        </p:nvSpPr>
        <p:spPr>
          <a:xfrm>
            <a:off x="9420225" y="161163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Dental Laboratories</a:t>
            </a:r>
          </a:p>
        </p:txBody>
      </p:sp>
      <p:cxnSp>
        <p:nvCxnSpPr>
          <p:cNvPr id="110" name="Connector 109"/>
          <p:cNvCxnSpPr/>
          <p:nvPr/>
        </p:nvCxnSpPr>
        <p:spPr>
          <a:xfrm>
            <a:off x="91821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1" name="TextBox 110"/>
          <p:cNvSpPr txBox="1"/>
          <p:nvPr/>
        </p:nvSpPr>
        <p:spPr>
          <a:xfrm>
            <a:off x="922972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2" name="TextBox 111"/>
          <p:cNvSpPr txBox="1"/>
          <p:nvPr/>
        </p:nvSpPr>
        <p:spPr>
          <a:xfrm>
            <a:off x="9420225" y="178879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Academic &amp; Teaching Dental Institutions</a:t>
            </a:r>
          </a:p>
        </p:txBody>
      </p:sp>
      <p:sp>
        <p:nvSpPr>
          <p:cNvPr id="113" name="Rectangle 112"/>
          <p:cNvSpPr/>
          <p:nvPr/>
        </p:nvSpPr>
        <p:spPr>
          <a:xfrm>
            <a:off x="9172575" y="2080260"/>
            <a:ext cx="2876550" cy="58293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9172575" y="208026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TextBox 114"/>
          <p:cNvSpPr txBox="1"/>
          <p:nvPr/>
        </p:nvSpPr>
        <p:spPr>
          <a:xfrm>
            <a:off x="9248775" y="208026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Patient Age Group</a:t>
            </a:r>
          </a:p>
        </p:txBody>
      </p:sp>
      <p:sp>
        <p:nvSpPr>
          <p:cNvPr id="116" name="TextBox 115"/>
          <p:cNvSpPr txBox="1"/>
          <p:nvPr/>
        </p:nvSpPr>
        <p:spPr>
          <a:xfrm>
            <a:off x="9229725" y="23088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7" name="TextBox 116"/>
          <p:cNvSpPr txBox="1"/>
          <p:nvPr/>
        </p:nvSpPr>
        <p:spPr>
          <a:xfrm>
            <a:off x="9420225" y="230886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Adults</a:t>
            </a:r>
          </a:p>
        </p:txBody>
      </p:sp>
      <p:cxnSp>
        <p:nvCxnSpPr>
          <p:cNvPr id="118" name="Connector 117"/>
          <p:cNvCxnSpPr/>
          <p:nvPr/>
        </p:nvCxnSpPr>
        <p:spPr>
          <a:xfrm>
            <a:off x="9182100" y="24860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9" name="TextBox 118"/>
          <p:cNvSpPr txBox="1"/>
          <p:nvPr/>
        </p:nvSpPr>
        <p:spPr>
          <a:xfrm>
            <a:off x="9229725" y="24860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0" name="TextBox 119"/>
          <p:cNvSpPr txBox="1"/>
          <p:nvPr/>
        </p:nvSpPr>
        <p:spPr>
          <a:xfrm>
            <a:off x="9420225" y="248602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Geriatric Patients</a:t>
            </a:r>
          </a:p>
        </p:txBody>
      </p:sp>
      <p:sp>
        <p:nvSpPr>
          <p:cNvPr id="121" name="TextBox 12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Company Coverage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Companies profiled and benchmarked across the competition assessment</a:t>
            </a:r>
          </a:p>
        </p:txBody>
      </p:sp>
      <p:sp>
        <p:nvSpPr>
          <p:cNvPr id="10" name="TextBox 9"/>
          <p:cNvSpPr txBox="1"/>
          <p:nvPr/>
        </p:nvSpPr>
        <p:spPr>
          <a:xfrm>
            <a:off x="142875" y="1007261"/>
            <a:ext cx="11906250" cy="182537"/>
          </a:xfrm>
          <a:prstGeom prst="rect">
            <a:avLst/>
          </a:prstGeom>
          <a:noFill/>
        </p:spPr>
        <p:txBody>
          <a:bodyPr wrap="square" lIns="28575" rIns="28575" tIns="9525" bIns="9525" anchor="ctr">
            <a:spAutoFit/>
          </a:bodyPr>
          <a:lstStyle/>
          <a:p>
            <a:pPr algn="l"/>
            <a:r>
              <a:rPr sz="1100" b="0">
                <a:solidFill>
                  <a:srgbClr val="6C7A89"/>
                </a:solidFill>
                <a:latin typeface="Calibri"/>
              </a:rPr>
              <a:t>Companies covered in this study of the Removable Partial Dentures Market profiled and benchmarked in the Competition Assessment section.</a:t>
            </a:r>
          </a:p>
        </p:txBody>
      </p:sp>
      <p:sp>
        <p:nvSpPr>
          <p:cNvPr id="11" name="Rectangle 10"/>
          <p:cNvSpPr/>
          <p:nvPr/>
        </p:nvSpPr>
        <p:spPr>
          <a:xfrm>
            <a:off x="142875" y="1554872"/>
            <a:ext cx="5857875" cy="4654693"/>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ectangle 11"/>
          <p:cNvSpPr/>
          <p:nvPr/>
        </p:nvSpPr>
        <p:spPr>
          <a:xfrm>
            <a:off x="142875" y="1554872"/>
            <a:ext cx="5857875" cy="273805"/>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142875" y="1618760"/>
            <a:ext cx="5857875" cy="164283"/>
          </a:xfrm>
          <a:prstGeom prst="rect">
            <a:avLst/>
          </a:prstGeom>
          <a:noFill/>
        </p:spPr>
        <p:txBody>
          <a:bodyPr wrap="square" lIns="28575" rIns="28575" tIns="9525" bIns="9525" anchor="ctr">
            <a:spAutoFit/>
          </a:bodyPr>
          <a:lstStyle/>
          <a:p>
            <a:pPr algn="ctr"/>
            <a:r>
              <a:rPr sz="1100" b="1">
                <a:solidFill>
                  <a:srgbClr val="FFFFFF"/>
                </a:solidFill>
                <a:latin typeface="Calibri"/>
              </a:rPr>
              <a:t>List Companies</a:t>
            </a:r>
          </a:p>
        </p:txBody>
      </p:sp>
      <p:sp>
        <p:nvSpPr>
          <p:cNvPr id="14" name="TextBox 13"/>
          <p:cNvSpPr txBox="1"/>
          <p:nvPr/>
        </p:nvSpPr>
        <p:spPr>
          <a:xfrm>
            <a:off x="333375" y="1828677"/>
            <a:ext cx="190500" cy="43808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5" name="TextBox 14"/>
          <p:cNvSpPr txBox="1"/>
          <p:nvPr/>
        </p:nvSpPr>
        <p:spPr>
          <a:xfrm>
            <a:off x="581025" y="1828677"/>
            <a:ext cx="5324475" cy="438089"/>
          </a:xfrm>
          <a:prstGeom prst="rect">
            <a:avLst/>
          </a:prstGeom>
          <a:noFill/>
        </p:spPr>
        <p:txBody>
          <a:bodyPr wrap="square" lIns="28575" rIns="28575" tIns="9525" bIns="9525" anchor="ctr">
            <a:spAutoFit/>
          </a:bodyPr>
          <a:lstStyle/>
          <a:p>
            <a:pPr algn="l"/>
            <a:r>
              <a:rPr sz="1100" b="0">
                <a:solidFill>
                  <a:srgbClr val="2E2E2E"/>
                </a:solidFill>
                <a:latin typeface="Calibri"/>
              </a:rPr>
              <a:t>Dentsply Sirona Inc.</a:t>
            </a:r>
          </a:p>
        </p:txBody>
      </p:sp>
      <p:sp>
        <p:nvSpPr>
          <p:cNvPr id="16" name="Rectangle 15"/>
          <p:cNvSpPr/>
          <p:nvPr/>
        </p:nvSpPr>
        <p:spPr>
          <a:xfrm>
            <a:off x="152400" y="2266766"/>
            <a:ext cx="5838825" cy="43808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7" name="Connector 16"/>
          <p:cNvCxnSpPr/>
          <p:nvPr/>
        </p:nvCxnSpPr>
        <p:spPr>
          <a:xfrm>
            <a:off x="152400" y="2266766"/>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333375" y="2266766"/>
            <a:ext cx="190500" cy="43808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9" name="TextBox 18"/>
          <p:cNvSpPr txBox="1"/>
          <p:nvPr/>
        </p:nvSpPr>
        <p:spPr>
          <a:xfrm>
            <a:off x="581025" y="2266766"/>
            <a:ext cx="5324475" cy="438089"/>
          </a:xfrm>
          <a:prstGeom prst="rect">
            <a:avLst/>
          </a:prstGeom>
          <a:noFill/>
        </p:spPr>
        <p:txBody>
          <a:bodyPr wrap="square" lIns="28575" rIns="28575" tIns="9525" bIns="9525" anchor="ctr">
            <a:spAutoFit/>
          </a:bodyPr>
          <a:lstStyle/>
          <a:p>
            <a:pPr algn="l"/>
            <a:r>
              <a:rPr sz="1100" b="0">
                <a:solidFill>
                  <a:srgbClr val="2E2E2E"/>
                </a:solidFill>
                <a:latin typeface="Calibri"/>
              </a:rPr>
              <a:t>Ivoclar Vivadent AG</a:t>
            </a:r>
          </a:p>
        </p:txBody>
      </p:sp>
      <p:cxnSp>
        <p:nvCxnSpPr>
          <p:cNvPr id="20" name="Connector 19"/>
          <p:cNvCxnSpPr/>
          <p:nvPr/>
        </p:nvCxnSpPr>
        <p:spPr>
          <a:xfrm>
            <a:off x="152400" y="2704855"/>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1" name="TextBox 20"/>
          <p:cNvSpPr txBox="1"/>
          <p:nvPr/>
        </p:nvSpPr>
        <p:spPr>
          <a:xfrm>
            <a:off x="333375" y="2704855"/>
            <a:ext cx="190500" cy="43808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22" name="TextBox 21"/>
          <p:cNvSpPr txBox="1"/>
          <p:nvPr/>
        </p:nvSpPr>
        <p:spPr>
          <a:xfrm>
            <a:off x="581025" y="2704855"/>
            <a:ext cx="5324475" cy="438089"/>
          </a:xfrm>
          <a:prstGeom prst="rect">
            <a:avLst/>
          </a:prstGeom>
          <a:noFill/>
        </p:spPr>
        <p:txBody>
          <a:bodyPr wrap="square" lIns="28575" rIns="28575" tIns="9525" bIns="9525" anchor="ctr">
            <a:spAutoFit/>
          </a:bodyPr>
          <a:lstStyle/>
          <a:p>
            <a:pPr algn="l"/>
            <a:r>
              <a:rPr sz="1100" b="0">
                <a:solidFill>
                  <a:srgbClr val="2E2E2E"/>
                </a:solidFill>
                <a:latin typeface="Calibri"/>
              </a:rPr>
              <a:t>Kulzer GmbH</a:t>
            </a:r>
          </a:p>
        </p:txBody>
      </p:sp>
      <p:sp>
        <p:nvSpPr>
          <p:cNvPr id="23" name="Rectangle 22"/>
          <p:cNvSpPr/>
          <p:nvPr/>
        </p:nvSpPr>
        <p:spPr>
          <a:xfrm>
            <a:off x="152400" y="3142944"/>
            <a:ext cx="5838825" cy="43808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4" name="Connector 23"/>
          <p:cNvCxnSpPr/>
          <p:nvPr/>
        </p:nvCxnSpPr>
        <p:spPr>
          <a:xfrm>
            <a:off x="152400" y="3142944"/>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333375" y="3142944"/>
            <a:ext cx="190500" cy="43808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26" name="TextBox 25"/>
          <p:cNvSpPr txBox="1"/>
          <p:nvPr/>
        </p:nvSpPr>
        <p:spPr>
          <a:xfrm>
            <a:off x="581025" y="3142944"/>
            <a:ext cx="5324475" cy="438089"/>
          </a:xfrm>
          <a:prstGeom prst="rect">
            <a:avLst/>
          </a:prstGeom>
          <a:noFill/>
        </p:spPr>
        <p:txBody>
          <a:bodyPr wrap="square" lIns="28575" rIns="28575" tIns="9525" bIns="9525" anchor="ctr">
            <a:spAutoFit/>
          </a:bodyPr>
          <a:lstStyle/>
          <a:p>
            <a:pPr algn="l"/>
            <a:r>
              <a:rPr sz="1100" b="0">
                <a:solidFill>
                  <a:srgbClr val="2E2E2E"/>
                </a:solidFill>
                <a:latin typeface="Calibri"/>
              </a:rPr>
              <a:t>GC Corporation</a:t>
            </a:r>
          </a:p>
        </p:txBody>
      </p:sp>
      <p:cxnSp>
        <p:nvCxnSpPr>
          <p:cNvPr id="27" name="Connector 26"/>
          <p:cNvCxnSpPr/>
          <p:nvPr/>
        </p:nvCxnSpPr>
        <p:spPr>
          <a:xfrm>
            <a:off x="152400" y="3581032"/>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333375" y="3581032"/>
            <a:ext cx="190500" cy="43808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29" name="TextBox 28"/>
          <p:cNvSpPr txBox="1"/>
          <p:nvPr/>
        </p:nvSpPr>
        <p:spPr>
          <a:xfrm>
            <a:off x="581025" y="3581032"/>
            <a:ext cx="5324475" cy="438089"/>
          </a:xfrm>
          <a:prstGeom prst="rect">
            <a:avLst/>
          </a:prstGeom>
          <a:noFill/>
        </p:spPr>
        <p:txBody>
          <a:bodyPr wrap="square" lIns="28575" rIns="28575" tIns="9525" bIns="9525" anchor="ctr">
            <a:spAutoFit/>
          </a:bodyPr>
          <a:lstStyle/>
          <a:p>
            <a:pPr algn="l"/>
            <a:r>
              <a:rPr sz="1100" b="0">
                <a:solidFill>
                  <a:srgbClr val="2E2E2E"/>
                </a:solidFill>
                <a:latin typeface="Calibri"/>
              </a:rPr>
              <a:t>SHOFU INC.</a:t>
            </a:r>
          </a:p>
        </p:txBody>
      </p:sp>
      <p:sp>
        <p:nvSpPr>
          <p:cNvPr id="30" name="Rectangle 29"/>
          <p:cNvSpPr/>
          <p:nvPr/>
        </p:nvSpPr>
        <p:spPr>
          <a:xfrm>
            <a:off x="152400" y="4019121"/>
            <a:ext cx="5838825" cy="43808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1" name="Connector 30"/>
          <p:cNvCxnSpPr/>
          <p:nvPr/>
        </p:nvCxnSpPr>
        <p:spPr>
          <a:xfrm>
            <a:off x="152400" y="4019121"/>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333375" y="4019121"/>
            <a:ext cx="190500" cy="43808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33" name="TextBox 32"/>
          <p:cNvSpPr txBox="1"/>
          <p:nvPr/>
        </p:nvSpPr>
        <p:spPr>
          <a:xfrm>
            <a:off x="581025" y="4019121"/>
            <a:ext cx="5324475" cy="438089"/>
          </a:xfrm>
          <a:prstGeom prst="rect">
            <a:avLst/>
          </a:prstGeom>
          <a:noFill/>
        </p:spPr>
        <p:txBody>
          <a:bodyPr wrap="square" lIns="28575" rIns="28575" tIns="9525" bIns="9525" anchor="ctr">
            <a:spAutoFit/>
          </a:bodyPr>
          <a:lstStyle/>
          <a:p>
            <a:pPr algn="l"/>
            <a:r>
              <a:rPr sz="1100" b="0">
                <a:solidFill>
                  <a:srgbClr val="2E2E2E"/>
                </a:solidFill>
                <a:latin typeface="Calibri"/>
              </a:rPr>
              <a:t>VITA Zahnfabrik H. Rauter GmbH &amp; Co. KG</a:t>
            </a:r>
          </a:p>
        </p:txBody>
      </p:sp>
      <p:cxnSp>
        <p:nvCxnSpPr>
          <p:cNvPr id="34" name="Connector 33"/>
          <p:cNvCxnSpPr/>
          <p:nvPr/>
        </p:nvCxnSpPr>
        <p:spPr>
          <a:xfrm>
            <a:off x="152400" y="4457210"/>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5" name="TextBox 34"/>
          <p:cNvSpPr txBox="1"/>
          <p:nvPr/>
        </p:nvSpPr>
        <p:spPr>
          <a:xfrm>
            <a:off x="333375" y="4457210"/>
            <a:ext cx="190500" cy="43808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36" name="TextBox 35"/>
          <p:cNvSpPr txBox="1"/>
          <p:nvPr/>
        </p:nvSpPr>
        <p:spPr>
          <a:xfrm>
            <a:off x="581025" y="4457210"/>
            <a:ext cx="5324475" cy="438089"/>
          </a:xfrm>
          <a:prstGeom prst="rect">
            <a:avLst/>
          </a:prstGeom>
          <a:noFill/>
        </p:spPr>
        <p:txBody>
          <a:bodyPr wrap="square" lIns="28575" rIns="28575" tIns="9525" bIns="9525" anchor="ctr">
            <a:spAutoFit/>
          </a:bodyPr>
          <a:lstStyle/>
          <a:p>
            <a:pPr algn="l"/>
            <a:r>
              <a:rPr sz="1100" b="0">
                <a:solidFill>
                  <a:srgbClr val="2E2E2E"/>
                </a:solidFill>
                <a:latin typeface="Calibri"/>
              </a:rPr>
              <a:t>Zhermack S.p.A.</a:t>
            </a:r>
          </a:p>
        </p:txBody>
      </p:sp>
      <p:sp>
        <p:nvSpPr>
          <p:cNvPr id="37" name="Rectangle 36"/>
          <p:cNvSpPr/>
          <p:nvPr/>
        </p:nvSpPr>
        <p:spPr>
          <a:xfrm>
            <a:off x="152400" y="4895299"/>
            <a:ext cx="5838825" cy="43808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8" name="Connector 37"/>
          <p:cNvCxnSpPr/>
          <p:nvPr/>
        </p:nvCxnSpPr>
        <p:spPr>
          <a:xfrm>
            <a:off x="152400" y="4895299"/>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9" name="TextBox 38"/>
          <p:cNvSpPr txBox="1"/>
          <p:nvPr/>
        </p:nvSpPr>
        <p:spPr>
          <a:xfrm>
            <a:off x="333375" y="4895299"/>
            <a:ext cx="190500" cy="43808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40" name="TextBox 39"/>
          <p:cNvSpPr txBox="1"/>
          <p:nvPr/>
        </p:nvSpPr>
        <p:spPr>
          <a:xfrm>
            <a:off x="581025" y="4895299"/>
            <a:ext cx="5324475" cy="438089"/>
          </a:xfrm>
          <a:prstGeom prst="rect">
            <a:avLst/>
          </a:prstGeom>
          <a:noFill/>
        </p:spPr>
        <p:txBody>
          <a:bodyPr wrap="square" lIns="28575" rIns="28575" tIns="9525" bIns="9525" anchor="ctr">
            <a:spAutoFit/>
          </a:bodyPr>
          <a:lstStyle/>
          <a:p>
            <a:pPr algn="l"/>
            <a:r>
              <a:rPr sz="1100" b="0">
                <a:solidFill>
                  <a:srgbClr val="2E2E2E"/>
                </a:solidFill>
                <a:latin typeface="Calibri"/>
              </a:rPr>
              <a:t>DETAX GmbH</a:t>
            </a:r>
          </a:p>
        </p:txBody>
      </p:sp>
      <p:cxnSp>
        <p:nvCxnSpPr>
          <p:cNvPr id="41" name="Connector 40"/>
          <p:cNvCxnSpPr/>
          <p:nvPr/>
        </p:nvCxnSpPr>
        <p:spPr>
          <a:xfrm>
            <a:off x="152400" y="5333387"/>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2" name="TextBox 41"/>
          <p:cNvSpPr txBox="1"/>
          <p:nvPr/>
        </p:nvSpPr>
        <p:spPr>
          <a:xfrm>
            <a:off x="333375" y="5333387"/>
            <a:ext cx="190500" cy="43808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43" name="TextBox 42"/>
          <p:cNvSpPr txBox="1"/>
          <p:nvPr/>
        </p:nvSpPr>
        <p:spPr>
          <a:xfrm>
            <a:off x="581025" y="5333387"/>
            <a:ext cx="5324475" cy="438089"/>
          </a:xfrm>
          <a:prstGeom prst="rect">
            <a:avLst/>
          </a:prstGeom>
          <a:noFill/>
        </p:spPr>
        <p:txBody>
          <a:bodyPr wrap="square" lIns="28575" rIns="28575" tIns="9525" bIns="9525" anchor="ctr">
            <a:spAutoFit/>
          </a:bodyPr>
          <a:lstStyle/>
          <a:p>
            <a:pPr algn="l"/>
            <a:r>
              <a:rPr sz="1100" b="0">
                <a:solidFill>
                  <a:srgbClr val="2E2E2E"/>
                </a:solidFill>
                <a:latin typeface="Calibri"/>
              </a:rPr>
              <a:t>Candulor AG</a:t>
            </a:r>
          </a:p>
        </p:txBody>
      </p:sp>
      <p:sp>
        <p:nvSpPr>
          <p:cNvPr id="44" name="Rectangle 43"/>
          <p:cNvSpPr/>
          <p:nvPr/>
        </p:nvSpPr>
        <p:spPr>
          <a:xfrm>
            <a:off x="152400" y="5771476"/>
            <a:ext cx="5838825" cy="428962"/>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5" name="Connector 44"/>
          <p:cNvCxnSpPr/>
          <p:nvPr/>
        </p:nvCxnSpPr>
        <p:spPr>
          <a:xfrm>
            <a:off x="152400" y="5771476"/>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6" name="TextBox 45"/>
          <p:cNvSpPr txBox="1"/>
          <p:nvPr/>
        </p:nvSpPr>
        <p:spPr>
          <a:xfrm>
            <a:off x="333375" y="5771476"/>
            <a:ext cx="190500" cy="43808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47" name="TextBox 46"/>
          <p:cNvSpPr txBox="1"/>
          <p:nvPr/>
        </p:nvSpPr>
        <p:spPr>
          <a:xfrm>
            <a:off x="581025" y="5771476"/>
            <a:ext cx="5324475" cy="438089"/>
          </a:xfrm>
          <a:prstGeom prst="rect">
            <a:avLst/>
          </a:prstGeom>
          <a:noFill/>
        </p:spPr>
        <p:txBody>
          <a:bodyPr wrap="square" lIns="28575" rIns="28575" tIns="9525" bIns="9525" anchor="ctr">
            <a:spAutoFit/>
          </a:bodyPr>
          <a:lstStyle/>
          <a:p>
            <a:pPr algn="l"/>
            <a:r>
              <a:rPr sz="1100" b="0">
                <a:solidFill>
                  <a:srgbClr val="2E2E2E"/>
                </a:solidFill>
                <a:latin typeface="Calibri"/>
              </a:rPr>
              <a:t>Ruthinium Dental Manufacturing S.p.A.</a:t>
            </a:r>
          </a:p>
        </p:txBody>
      </p:sp>
      <p:sp>
        <p:nvSpPr>
          <p:cNvPr id="48" name="Rectangle 47"/>
          <p:cNvSpPr/>
          <p:nvPr/>
        </p:nvSpPr>
        <p:spPr>
          <a:xfrm>
            <a:off x="6191250" y="1554872"/>
            <a:ext cx="5857875" cy="4654693"/>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6191250" y="1554872"/>
            <a:ext cx="5857875" cy="273805"/>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6191250" y="1618760"/>
            <a:ext cx="5857875" cy="164283"/>
          </a:xfrm>
          <a:prstGeom prst="rect">
            <a:avLst/>
          </a:prstGeom>
          <a:noFill/>
        </p:spPr>
        <p:txBody>
          <a:bodyPr wrap="square" lIns="28575" rIns="28575" tIns="9525" bIns="9525" anchor="ctr">
            <a:spAutoFit/>
          </a:bodyPr>
          <a:lstStyle/>
          <a:p>
            <a:pPr algn="ctr"/>
            <a:r>
              <a:rPr sz="1100" b="1">
                <a:solidFill>
                  <a:srgbClr val="FFFFFF"/>
                </a:solidFill>
                <a:latin typeface="Calibri"/>
              </a:rPr>
              <a:t>List Companies</a:t>
            </a:r>
          </a:p>
        </p:txBody>
      </p:sp>
      <p:sp>
        <p:nvSpPr>
          <p:cNvPr id="51" name="TextBox 50"/>
          <p:cNvSpPr txBox="1"/>
          <p:nvPr/>
        </p:nvSpPr>
        <p:spPr>
          <a:xfrm>
            <a:off x="6381750" y="1828677"/>
            <a:ext cx="190500" cy="43808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52" name="TextBox 51"/>
          <p:cNvSpPr txBox="1"/>
          <p:nvPr/>
        </p:nvSpPr>
        <p:spPr>
          <a:xfrm>
            <a:off x="6629400" y="1828677"/>
            <a:ext cx="5324475" cy="438089"/>
          </a:xfrm>
          <a:prstGeom prst="rect">
            <a:avLst/>
          </a:prstGeom>
          <a:noFill/>
        </p:spPr>
        <p:txBody>
          <a:bodyPr wrap="square" lIns="28575" rIns="28575" tIns="9525" bIns="9525" anchor="ctr">
            <a:spAutoFit/>
          </a:bodyPr>
          <a:lstStyle/>
          <a:p>
            <a:pPr algn="l"/>
            <a:r>
              <a:rPr sz="1100" b="0">
                <a:solidFill>
                  <a:srgbClr val="2E2E2E"/>
                </a:solidFill>
                <a:latin typeface="Calibri"/>
              </a:rPr>
              <a:t>Keystone Industries</a:t>
            </a:r>
          </a:p>
        </p:txBody>
      </p:sp>
      <p:sp>
        <p:nvSpPr>
          <p:cNvPr id="53" name="Rectangle 52"/>
          <p:cNvSpPr/>
          <p:nvPr/>
        </p:nvSpPr>
        <p:spPr>
          <a:xfrm>
            <a:off x="6200775" y="2266766"/>
            <a:ext cx="5838825" cy="43808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54" name="Connector 53"/>
          <p:cNvCxnSpPr/>
          <p:nvPr/>
        </p:nvCxnSpPr>
        <p:spPr>
          <a:xfrm>
            <a:off x="6200775" y="2266766"/>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5" name="TextBox 54"/>
          <p:cNvSpPr txBox="1"/>
          <p:nvPr/>
        </p:nvSpPr>
        <p:spPr>
          <a:xfrm>
            <a:off x="6381750" y="2266766"/>
            <a:ext cx="190500" cy="43808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56" name="TextBox 55"/>
          <p:cNvSpPr txBox="1"/>
          <p:nvPr/>
        </p:nvSpPr>
        <p:spPr>
          <a:xfrm>
            <a:off x="6629400" y="2266766"/>
            <a:ext cx="5324475" cy="438089"/>
          </a:xfrm>
          <a:prstGeom prst="rect">
            <a:avLst/>
          </a:prstGeom>
          <a:noFill/>
        </p:spPr>
        <p:txBody>
          <a:bodyPr wrap="square" lIns="28575" rIns="28575" tIns="9525" bIns="9525" anchor="ctr">
            <a:spAutoFit/>
          </a:bodyPr>
          <a:lstStyle/>
          <a:p>
            <a:pPr algn="l"/>
            <a:r>
              <a:rPr sz="1100" b="0">
                <a:solidFill>
                  <a:srgbClr val="2E2E2E"/>
                </a:solidFill>
                <a:latin typeface="Calibri"/>
              </a:rPr>
              <a:t>Vertex-Dental B.V.</a:t>
            </a:r>
          </a:p>
        </p:txBody>
      </p:sp>
      <p:cxnSp>
        <p:nvCxnSpPr>
          <p:cNvPr id="57" name="Connector 56"/>
          <p:cNvCxnSpPr/>
          <p:nvPr/>
        </p:nvCxnSpPr>
        <p:spPr>
          <a:xfrm>
            <a:off x="6200775" y="2704855"/>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8" name="TextBox 57"/>
          <p:cNvSpPr txBox="1"/>
          <p:nvPr/>
        </p:nvSpPr>
        <p:spPr>
          <a:xfrm>
            <a:off x="6381750" y="2704855"/>
            <a:ext cx="190500" cy="43808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59" name="TextBox 58"/>
          <p:cNvSpPr txBox="1"/>
          <p:nvPr/>
        </p:nvSpPr>
        <p:spPr>
          <a:xfrm>
            <a:off x="6629400" y="2704855"/>
            <a:ext cx="5324475" cy="438089"/>
          </a:xfrm>
          <a:prstGeom prst="rect">
            <a:avLst/>
          </a:prstGeom>
          <a:noFill/>
        </p:spPr>
        <p:txBody>
          <a:bodyPr wrap="square" lIns="28575" rIns="28575" tIns="9525" bIns="9525" anchor="ctr">
            <a:spAutoFit/>
          </a:bodyPr>
          <a:lstStyle/>
          <a:p>
            <a:pPr algn="l"/>
            <a:r>
              <a:rPr sz="1100" b="0">
                <a:solidFill>
                  <a:srgbClr val="2E2E2E"/>
                </a:solidFill>
                <a:latin typeface="Calibri"/>
              </a:rPr>
              <a:t>Amann Girrbach AG</a:t>
            </a:r>
          </a:p>
        </p:txBody>
      </p:sp>
      <p:sp>
        <p:nvSpPr>
          <p:cNvPr id="60" name="Rectangle 59"/>
          <p:cNvSpPr/>
          <p:nvPr/>
        </p:nvSpPr>
        <p:spPr>
          <a:xfrm>
            <a:off x="6200775" y="3142944"/>
            <a:ext cx="5838825" cy="43808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61" name="Connector 60"/>
          <p:cNvCxnSpPr/>
          <p:nvPr/>
        </p:nvCxnSpPr>
        <p:spPr>
          <a:xfrm>
            <a:off x="6200775" y="3142944"/>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2" name="TextBox 61"/>
          <p:cNvSpPr txBox="1"/>
          <p:nvPr/>
        </p:nvSpPr>
        <p:spPr>
          <a:xfrm>
            <a:off x="6381750" y="3142944"/>
            <a:ext cx="190500" cy="43808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63" name="TextBox 62"/>
          <p:cNvSpPr txBox="1"/>
          <p:nvPr/>
        </p:nvSpPr>
        <p:spPr>
          <a:xfrm>
            <a:off x="6629400" y="3142944"/>
            <a:ext cx="5324475" cy="438089"/>
          </a:xfrm>
          <a:prstGeom prst="rect">
            <a:avLst/>
          </a:prstGeom>
          <a:noFill/>
        </p:spPr>
        <p:txBody>
          <a:bodyPr wrap="square" lIns="28575" rIns="28575" tIns="9525" bIns="9525" anchor="ctr">
            <a:spAutoFit/>
          </a:bodyPr>
          <a:lstStyle/>
          <a:p>
            <a:pPr algn="l"/>
            <a:r>
              <a:rPr sz="1100" b="0">
                <a:solidFill>
                  <a:srgbClr val="2E2E2E"/>
                </a:solidFill>
                <a:latin typeface="Calibri"/>
              </a:rPr>
              <a:t>BEGO GmbH &amp; Co. KG</a:t>
            </a:r>
          </a:p>
        </p:txBody>
      </p:sp>
      <p:cxnSp>
        <p:nvCxnSpPr>
          <p:cNvPr id="64" name="Connector 63"/>
          <p:cNvCxnSpPr/>
          <p:nvPr/>
        </p:nvCxnSpPr>
        <p:spPr>
          <a:xfrm>
            <a:off x="6200775" y="3581032"/>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5" name="TextBox 64"/>
          <p:cNvSpPr txBox="1"/>
          <p:nvPr/>
        </p:nvSpPr>
        <p:spPr>
          <a:xfrm>
            <a:off x="6381750" y="3581032"/>
            <a:ext cx="190500" cy="43808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66" name="TextBox 65"/>
          <p:cNvSpPr txBox="1"/>
          <p:nvPr/>
        </p:nvSpPr>
        <p:spPr>
          <a:xfrm>
            <a:off x="6629400" y="3581032"/>
            <a:ext cx="5324475" cy="438089"/>
          </a:xfrm>
          <a:prstGeom prst="rect">
            <a:avLst/>
          </a:prstGeom>
          <a:noFill/>
        </p:spPr>
        <p:txBody>
          <a:bodyPr wrap="square" lIns="28575" rIns="28575" tIns="9525" bIns="9525" anchor="ctr">
            <a:spAutoFit/>
          </a:bodyPr>
          <a:lstStyle/>
          <a:p>
            <a:pPr algn="l"/>
            <a:r>
              <a:rPr sz="1100" b="0">
                <a:solidFill>
                  <a:srgbClr val="2E2E2E"/>
                </a:solidFill>
                <a:latin typeface="Calibri"/>
              </a:rPr>
              <a:t>Dentaurum GmbH &amp; Co. KG</a:t>
            </a:r>
          </a:p>
        </p:txBody>
      </p:sp>
      <p:sp>
        <p:nvSpPr>
          <p:cNvPr id="67" name="Rectangle 66"/>
          <p:cNvSpPr/>
          <p:nvPr/>
        </p:nvSpPr>
        <p:spPr>
          <a:xfrm>
            <a:off x="6200775" y="4019121"/>
            <a:ext cx="5838825" cy="43808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68" name="Connector 67"/>
          <p:cNvCxnSpPr/>
          <p:nvPr/>
        </p:nvCxnSpPr>
        <p:spPr>
          <a:xfrm>
            <a:off x="6200775" y="4019121"/>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9" name="TextBox 68"/>
          <p:cNvSpPr txBox="1"/>
          <p:nvPr/>
        </p:nvSpPr>
        <p:spPr>
          <a:xfrm>
            <a:off x="6381750" y="4019121"/>
            <a:ext cx="190500" cy="43808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70" name="TextBox 69"/>
          <p:cNvSpPr txBox="1"/>
          <p:nvPr/>
        </p:nvSpPr>
        <p:spPr>
          <a:xfrm>
            <a:off x="6629400" y="4019121"/>
            <a:ext cx="5324475" cy="438089"/>
          </a:xfrm>
          <a:prstGeom prst="rect">
            <a:avLst/>
          </a:prstGeom>
          <a:noFill/>
        </p:spPr>
        <p:txBody>
          <a:bodyPr wrap="square" lIns="28575" rIns="28575" tIns="9525" bIns="9525" anchor="ctr">
            <a:spAutoFit/>
          </a:bodyPr>
          <a:lstStyle/>
          <a:p>
            <a:pPr algn="l"/>
            <a:r>
              <a:rPr sz="1100" b="0">
                <a:solidFill>
                  <a:srgbClr val="2E2E2E"/>
                </a:solidFill>
                <a:latin typeface="Calibri"/>
              </a:rPr>
              <a:t>Valplast International Corp.</a:t>
            </a:r>
          </a:p>
        </p:txBody>
      </p:sp>
      <p:cxnSp>
        <p:nvCxnSpPr>
          <p:cNvPr id="71" name="Connector 70"/>
          <p:cNvCxnSpPr/>
          <p:nvPr/>
        </p:nvCxnSpPr>
        <p:spPr>
          <a:xfrm>
            <a:off x="6200775" y="4457210"/>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2" name="TextBox 71"/>
          <p:cNvSpPr txBox="1"/>
          <p:nvPr/>
        </p:nvSpPr>
        <p:spPr>
          <a:xfrm>
            <a:off x="6381750" y="4457210"/>
            <a:ext cx="190500" cy="43808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73" name="TextBox 72"/>
          <p:cNvSpPr txBox="1"/>
          <p:nvPr/>
        </p:nvSpPr>
        <p:spPr>
          <a:xfrm>
            <a:off x="6629400" y="4457210"/>
            <a:ext cx="5324475" cy="438089"/>
          </a:xfrm>
          <a:prstGeom prst="rect">
            <a:avLst/>
          </a:prstGeom>
          <a:noFill/>
        </p:spPr>
        <p:txBody>
          <a:bodyPr wrap="square" lIns="28575" rIns="28575" tIns="9525" bIns="9525" anchor="ctr">
            <a:spAutoFit/>
          </a:bodyPr>
          <a:lstStyle/>
          <a:p>
            <a:pPr algn="l"/>
            <a:r>
              <a:rPr sz="1100" b="0">
                <a:solidFill>
                  <a:srgbClr val="2E2E2E"/>
                </a:solidFill>
                <a:latin typeface="Calibri"/>
              </a:rPr>
              <a:t>Renishaw plc</a:t>
            </a:r>
          </a:p>
        </p:txBody>
      </p:sp>
      <p:sp>
        <p:nvSpPr>
          <p:cNvPr id="74" name="Rectangle 73"/>
          <p:cNvSpPr/>
          <p:nvPr/>
        </p:nvSpPr>
        <p:spPr>
          <a:xfrm>
            <a:off x="6200775" y="4895299"/>
            <a:ext cx="5838825" cy="43808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75" name="Connector 74"/>
          <p:cNvCxnSpPr/>
          <p:nvPr/>
        </p:nvCxnSpPr>
        <p:spPr>
          <a:xfrm>
            <a:off x="6200775" y="4895299"/>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6" name="TextBox 75"/>
          <p:cNvSpPr txBox="1"/>
          <p:nvPr/>
        </p:nvSpPr>
        <p:spPr>
          <a:xfrm>
            <a:off x="6381750" y="4895299"/>
            <a:ext cx="190500" cy="43808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77" name="TextBox 76"/>
          <p:cNvSpPr txBox="1"/>
          <p:nvPr/>
        </p:nvSpPr>
        <p:spPr>
          <a:xfrm>
            <a:off x="6629400" y="4895299"/>
            <a:ext cx="5324475" cy="438089"/>
          </a:xfrm>
          <a:prstGeom prst="rect">
            <a:avLst/>
          </a:prstGeom>
          <a:noFill/>
        </p:spPr>
        <p:txBody>
          <a:bodyPr wrap="square" lIns="28575" rIns="28575" tIns="9525" bIns="9525" anchor="ctr">
            <a:spAutoFit/>
          </a:bodyPr>
          <a:lstStyle/>
          <a:p>
            <a:pPr algn="l"/>
            <a:r>
              <a:rPr sz="1100" b="0">
                <a:solidFill>
                  <a:srgbClr val="2E2E2E"/>
                </a:solidFill>
                <a:latin typeface="Calibri"/>
              </a:rPr>
              <a:t>3D Systems, Inc.</a:t>
            </a:r>
          </a:p>
        </p:txBody>
      </p:sp>
      <p:cxnSp>
        <p:nvCxnSpPr>
          <p:cNvPr id="78" name="Connector 77"/>
          <p:cNvCxnSpPr/>
          <p:nvPr/>
        </p:nvCxnSpPr>
        <p:spPr>
          <a:xfrm>
            <a:off x="6200775" y="5333387"/>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9" name="TextBox 78"/>
          <p:cNvSpPr txBox="1"/>
          <p:nvPr/>
        </p:nvSpPr>
        <p:spPr>
          <a:xfrm>
            <a:off x="6381750" y="5333387"/>
            <a:ext cx="190500" cy="43808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80" name="TextBox 79"/>
          <p:cNvSpPr txBox="1"/>
          <p:nvPr/>
        </p:nvSpPr>
        <p:spPr>
          <a:xfrm>
            <a:off x="6629400" y="5333387"/>
            <a:ext cx="5324475" cy="438089"/>
          </a:xfrm>
          <a:prstGeom prst="rect">
            <a:avLst/>
          </a:prstGeom>
          <a:noFill/>
        </p:spPr>
        <p:txBody>
          <a:bodyPr wrap="square" lIns="28575" rIns="28575" tIns="9525" bIns="9525" anchor="ctr">
            <a:spAutoFit/>
          </a:bodyPr>
          <a:lstStyle/>
          <a:p>
            <a:pPr algn="l"/>
            <a:r>
              <a:rPr sz="1100" b="0">
                <a:solidFill>
                  <a:srgbClr val="2E2E2E"/>
                </a:solidFill>
                <a:latin typeface="Calibri"/>
              </a:rPr>
              <a:t>Formlabs Inc.</a:t>
            </a:r>
          </a:p>
        </p:txBody>
      </p:sp>
      <p:sp>
        <p:nvSpPr>
          <p:cNvPr id="81" name="Rectangle 80"/>
          <p:cNvSpPr/>
          <p:nvPr/>
        </p:nvSpPr>
        <p:spPr>
          <a:xfrm>
            <a:off x="6200775" y="5771476"/>
            <a:ext cx="5838825" cy="428962"/>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82" name="Connector 81"/>
          <p:cNvCxnSpPr/>
          <p:nvPr/>
        </p:nvCxnSpPr>
        <p:spPr>
          <a:xfrm>
            <a:off x="6200775" y="5771476"/>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3" name="TextBox 82"/>
          <p:cNvSpPr txBox="1"/>
          <p:nvPr/>
        </p:nvSpPr>
        <p:spPr>
          <a:xfrm>
            <a:off x="6381750" y="5771476"/>
            <a:ext cx="190500" cy="43808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84" name="TextBox 83"/>
          <p:cNvSpPr txBox="1"/>
          <p:nvPr/>
        </p:nvSpPr>
        <p:spPr>
          <a:xfrm>
            <a:off x="6629400" y="5771476"/>
            <a:ext cx="5324475" cy="438089"/>
          </a:xfrm>
          <a:prstGeom prst="rect">
            <a:avLst/>
          </a:prstGeom>
          <a:noFill/>
        </p:spPr>
        <p:txBody>
          <a:bodyPr wrap="square" lIns="28575" rIns="28575" tIns="9525" bIns="9525" anchor="ctr">
            <a:spAutoFit/>
          </a:bodyPr>
          <a:lstStyle/>
          <a:p>
            <a:pPr algn="l"/>
            <a:r>
              <a:rPr sz="1100" b="0">
                <a:solidFill>
                  <a:srgbClr val="2E2E2E"/>
                </a:solidFill>
                <a:latin typeface="Calibri"/>
              </a:rPr>
              <a:t>Stratasys Ltd.</a:t>
            </a:r>
          </a:p>
        </p:txBody>
      </p:sp>
      <p:sp>
        <p:nvSpPr>
          <p:cNvPr id="85" name="TextBox 84"/>
          <p:cNvSpPr txBox="1"/>
          <p:nvPr/>
        </p:nvSpPr>
        <p:spPr>
          <a:xfrm>
            <a:off x="142875" y="6337341"/>
            <a:ext cx="11906250" cy="182537"/>
          </a:xfrm>
          <a:prstGeom prst="rect">
            <a:avLst/>
          </a:prstGeom>
          <a:noFill/>
        </p:spPr>
        <p:txBody>
          <a:bodyPr wrap="square" lIns="28575" rIns="28575" tIns="9525" bIns="9525" anchor="ctr">
            <a:spAutoFit/>
          </a:bodyPr>
          <a:lstStyle/>
          <a:p>
            <a:pPr algn="l"/>
            <a:r>
              <a:rPr sz="1100" b="1">
                <a:solidFill>
                  <a:srgbClr val="B06A2C"/>
                </a:solidFill>
                <a:latin typeface="Calibri"/>
              </a:rPr>
              <a:t>Note: the list of companies is indicative and can be customised on request.</a:t>
            </a:r>
          </a:p>
        </p:txBody>
      </p:sp>
      <p:sp>
        <p:nvSpPr>
          <p:cNvPr id="86" name="TextBox 8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31464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489325"/>
            <a:ext cx="8572500" cy="514350"/>
          </a:xfrm>
          <a:prstGeom prst="rect">
            <a:avLst/>
          </a:prstGeom>
          <a:noFill/>
        </p:spPr>
        <p:txBody>
          <a:bodyPr wrap="square" lIns="0" rIns="0" tIns="0">
            <a:spAutoFit/>
          </a:bodyPr>
          <a:lstStyle/>
          <a:p>
            <a:r>
              <a:rPr sz="3000" b="1">
                <a:solidFill>
                  <a:srgbClr val="0B3C8C"/>
                </a:solidFill>
                <a:latin typeface="Calibri"/>
              </a:rPr>
              <a:t>Table of Contents</a:t>
            </a:r>
          </a:p>
        </p:txBody>
      </p:sp>
      <p:sp>
        <p:nvSpPr>
          <p:cNvPr id="11" name="TextBox 10"/>
          <p:cNvSpPr txBox="1"/>
          <p:nvPr/>
        </p:nvSpPr>
        <p:spPr>
          <a:xfrm>
            <a:off x="914400" y="4175125"/>
            <a:ext cx="84582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The full contents of this study, as delivered</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(1/6)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1" i="0">
                          <a:solidFill>
                            <a:srgbClr val="000000"/>
                          </a:solidFill>
                          <a:latin typeface="Symbol"/>
                        </a:rPr>
                        <a:t></a:t>
                      </a:r>
                      <a:r>
                        <a:rPr sz="700" b="1" i="0">
                          <a:solidFill>
                            <a:srgbClr val="000000"/>
                          </a:solidFill>
                          <a:latin typeface="Times New Roman"/>
                        </a:rPr>
                        <a:t>         </a:t>
                      </a:r>
                      <a:r>
                        <a:rPr sz="1100" b="1" i="0">
                          <a:solidFill>
                            <a:srgbClr val="000000"/>
                          </a:solidFill>
                          <a:latin typeface="Calibri"/>
                        </a:rPr>
                        <a:t>Executive Summary</a:t>
                      </a:r>
                      <a:endParaRPr sz="1100"/>
                    </a:p>
                  </a:txBody>
                  <a:tcPr marL="17145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Global Market Snapshot</a:t>
                      </a:r>
                      <a:endParaRPr sz="1100"/>
                    </a:p>
                  </a:txBody>
                  <a:tcPr marL="6858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Key Demand Trends</a:t>
                      </a:r>
                      <a:endParaRPr sz="1100"/>
                    </a:p>
                  </a:txBody>
                  <a:tcPr marL="6858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Key Supply Trends</a:t>
                      </a:r>
                      <a:endParaRPr sz="1100"/>
                    </a:p>
                  </a:txBody>
                  <a:tcPr marL="6858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Technology Roadmap</a:t>
                      </a:r>
                      <a:endParaRPr sz="1100"/>
                    </a:p>
                  </a:txBody>
                  <a:tcPr marL="6858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Analyst Takeaways &amp; Recommendations</a:t>
                      </a:r>
                      <a:endParaRPr sz="1100"/>
                    </a:p>
                  </a:txBody>
                  <a:tcPr marL="685800" marR="9525" marT="9525" marB="0" anchor="ctr"/>
                </a:tc>
              </a:tr>
              <a:tr h="175260">
                <a:tc>
                  <a:txBody>
                    <a:bodyPr wrap="square"/>
                    <a:lstStyle/>
                    <a:p>
                      <a:pPr algn="l"/>
                      <a:r>
                        <a:rPr sz="1100" b="1" i="0">
                          <a:solidFill>
                            <a:srgbClr val="000000"/>
                          </a:solidFill>
                          <a:latin typeface="Calibri"/>
                        </a:rPr>
                        <a:t>1.</a:t>
                      </a:r>
                      <a:r>
                        <a:rPr sz="700" b="1" i="0">
                          <a:solidFill>
                            <a:srgbClr val="000000"/>
                          </a:solidFill>
                          <a:latin typeface="Times New Roman"/>
                        </a:rPr>
                        <a:t>       </a:t>
                      </a:r>
                      <a:r>
                        <a:rPr sz="1100" b="1" i="0">
                          <a:solidFill>
                            <a:srgbClr val="000000"/>
                          </a:solidFill>
                          <a:latin typeface="Calibri"/>
                        </a:rPr>
                        <a:t>Market Overview</a:t>
                      </a:r>
                      <a:endParaRPr sz="1100"/>
                    </a:p>
                  </a:txBody>
                  <a:tcPr marL="171450" marR="9525" marT="9525" marB="0" anchor="ctr"/>
                </a:tc>
              </a:tr>
              <a:tr h="175260">
                <a:tc>
                  <a:txBody>
                    <a:bodyPr wrap="square"/>
                    <a:lstStyle/>
                    <a:p>
                      <a:pPr algn="l"/>
                      <a:r>
                        <a:rPr sz="1100" b="0" i="0">
                          <a:solidFill>
                            <a:srgbClr val="0070C0"/>
                          </a:solidFill>
                          <a:latin typeface="Calibri"/>
                        </a:rPr>
                        <a:t>1.1.</a:t>
                      </a:r>
                      <a:r>
                        <a:rPr sz="700" b="0" i="0">
                          <a:solidFill>
                            <a:srgbClr val="0070C0"/>
                          </a:solidFill>
                          <a:latin typeface="Times New Roman"/>
                        </a:rPr>
                        <a:t>    </a:t>
                      </a:r>
                      <a:r>
                        <a:rPr sz="1100" b="0" i="0">
                          <a:solidFill>
                            <a:srgbClr val="0070C0"/>
                          </a:solidFill>
                          <a:latin typeface="Calibri"/>
                        </a:rPr>
                        <a:t>Market Coverage / Taxonomy</a:t>
                      </a:r>
                      <a:endParaRPr sz="1100"/>
                    </a:p>
                  </a:txBody>
                  <a:tcPr marL="428625" marR="9525" marT="9525" marB="0" anchor="ctr"/>
                </a:tc>
              </a:tr>
              <a:tr h="175260">
                <a:tc>
                  <a:txBody>
                    <a:bodyPr wrap="square"/>
                    <a:lstStyle/>
                    <a:p>
                      <a:pPr algn="l"/>
                      <a:r>
                        <a:rPr sz="1100" b="0" i="0">
                          <a:solidFill>
                            <a:srgbClr val="0070C0"/>
                          </a:solidFill>
                          <a:latin typeface="Calibri"/>
                        </a:rPr>
                        <a:t>1.2.</a:t>
                      </a:r>
                      <a:r>
                        <a:rPr sz="700" b="0" i="0">
                          <a:solidFill>
                            <a:srgbClr val="0070C0"/>
                          </a:solidFill>
                          <a:latin typeface="Times New Roman"/>
                        </a:rPr>
                        <a:t>    </a:t>
                      </a:r>
                      <a:r>
                        <a:rPr sz="1100" b="0" i="0">
                          <a:solidFill>
                            <a:srgbClr val="0070C0"/>
                          </a:solidFill>
                          <a:latin typeface="Calibri"/>
                        </a:rPr>
                        <a:t>Market Definition By Segments Covered</a:t>
                      </a:r>
                      <a:endParaRPr sz="1100"/>
                    </a:p>
                  </a:txBody>
                  <a:tcPr marL="428625" marR="9525" marT="9525" marB="0" anchor="ctr"/>
                </a:tc>
              </a:tr>
              <a:tr h="175260">
                <a:tc>
                  <a:txBody>
                    <a:bodyPr wrap="square"/>
                    <a:lstStyle/>
                    <a:p>
                      <a:pPr algn="l"/>
                      <a:r>
                        <a:rPr sz="1100" b="1" i="0">
                          <a:solidFill>
                            <a:srgbClr val="000000"/>
                          </a:solidFill>
                          <a:latin typeface="Calibri"/>
                        </a:rPr>
                        <a:t>Section 1: Global Market Outlook</a:t>
                      </a:r>
                      <a:endParaRPr sz="1100"/>
                    </a:p>
                  </a:txBody>
                  <a:tcPr marL="9525" marR="9525" marT="9525" marB="0" anchor="ctr"/>
                </a:tc>
              </a:tr>
              <a:tr h="175260">
                <a:tc>
                  <a:txBody>
                    <a:bodyPr wrap="square"/>
                    <a:lstStyle/>
                    <a:p>
                      <a:pPr algn="l"/>
                      <a:r>
                        <a:rPr sz="1100" b="1" i="0">
                          <a:solidFill>
                            <a:srgbClr val="000000"/>
                          </a:solidFill>
                          <a:latin typeface="Calibri"/>
                        </a:rPr>
                        <a:t>2.</a:t>
                      </a:r>
                      <a:r>
                        <a:rPr sz="700" b="1" i="0">
                          <a:solidFill>
                            <a:srgbClr val="000000"/>
                          </a:solidFill>
                          <a:latin typeface="Times New Roman"/>
                        </a:rPr>
                        <a:t>       </a:t>
                      </a:r>
                      <a:r>
                        <a:rPr sz="1100" b="1" i="0">
                          <a:solidFill>
                            <a:srgbClr val="000000"/>
                          </a:solidFill>
                          <a:latin typeface="Calibri"/>
                        </a:rPr>
                        <a:t>Global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2.1.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2.2.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2.3.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2.4.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1" i="0">
                          <a:solidFill>
                            <a:srgbClr val="000000"/>
                          </a:solidFill>
                          <a:latin typeface="Calibri"/>
                        </a:rPr>
                        <a:t>3.</a:t>
                      </a:r>
                      <a:r>
                        <a:rPr sz="700" b="1" i="0">
                          <a:solidFill>
                            <a:srgbClr val="000000"/>
                          </a:solidFill>
                          <a:latin typeface="Times New Roman"/>
                        </a:rPr>
                        <a:t>       </a:t>
                      </a:r>
                      <a:r>
                        <a:rPr sz="1100" b="1" i="0">
                          <a:solidFill>
                            <a:srgbClr val="000000"/>
                          </a:solidFill>
                          <a:latin typeface="Calibri"/>
                        </a:rPr>
                        <a:t>Global Market (Value- Volume) Analysis 2021-2036, By Product Type</a:t>
                      </a:r>
                      <a:endParaRPr sz="1100"/>
                    </a:p>
                  </a:txBody>
                  <a:tcPr marL="171450" marR="9525" marT="9525" marB="0" anchor="ctr"/>
                </a:tc>
              </a:tr>
              <a:tr h="175260">
                <a:tc>
                  <a:txBody>
                    <a:bodyPr wrap="square"/>
                    <a:lstStyle/>
                    <a:p>
                      <a:pPr algn="l"/>
                      <a:r>
                        <a:rPr sz="1100" b="0" i="0">
                          <a:solidFill>
                            <a:srgbClr val="0070C0"/>
                          </a:solidFill>
                          <a:latin typeface="Calibri"/>
                        </a:rPr>
                        <a:t>3.1.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3.2.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3.3.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3.4.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3.5.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3.5.1.</a:t>
                      </a:r>
                      <a:r>
                        <a:rPr sz="700" b="0" i="0">
                          <a:solidFill>
                            <a:srgbClr val="000000"/>
                          </a:solidFill>
                          <a:latin typeface="Times New Roman"/>
                        </a:rPr>
                        <a:t>   </a:t>
                      </a:r>
                      <a:r>
                        <a:rPr sz="1100" b="0" i="0">
                          <a:solidFill>
                            <a:srgbClr val="000000"/>
                          </a:solidFill>
                          <a:latin typeface="Calibri"/>
                        </a:rPr>
                        <a:t>Cast Metal Partial Dentures</a:t>
                      </a:r>
                      <a:endParaRPr sz="1100"/>
                    </a:p>
                  </a:txBody>
                  <a:tcPr marL="771525" marR="9525" marT="9525" marB="0" anchor="ctr"/>
                </a:tc>
              </a:tr>
              <a:tr h="175260">
                <a:tc>
                  <a:txBody>
                    <a:bodyPr wrap="square"/>
                    <a:lstStyle/>
                    <a:p>
                      <a:pPr algn="l"/>
                      <a:r>
                        <a:rPr sz="1100" b="0" i="0">
                          <a:solidFill>
                            <a:srgbClr val="000000"/>
                          </a:solidFill>
                          <a:latin typeface="Calibri"/>
                        </a:rPr>
                        <a:t>3.5.2.</a:t>
                      </a:r>
                      <a:r>
                        <a:rPr sz="700" b="0" i="0">
                          <a:solidFill>
                            <a:srgbClr val="000000"/>
                          </a:solidFill>
                          <a:latin typeface="Times New Roman"/>
                        </a:rPr>
                        <a:t>   </a:t>
                      </a:r>
                      <a:r>
                        <a:rPr sz="1100" b="0" i="0">
                          <a:solidFill>
                            <a:srgbClr val="000000"/>
                          </a:solidFill>
                          <a:latin typeface="Calibri"/>
                        </a:rPr>
                        <a:t>Acrylic Partial Dentures</a:t>
                      </a:r>
                      <a:endParaRPr sz="1100"/>
                    </a:p>
                  </a:txBody>
                  <a:tcPr marL="771525" marR="9525" marT="9525" marB="0" anchor="ctr"/>
                </a:tc>
              </a:tr>
              <a:tr h="175260">
                <a:tc>
                  <a:txBody>
                    <a:bodyPr wrap="square"/>
                    <a:lstStyle/>
                    <a:p>
                      <a:pPr algn="l"/>
                      <a:r>
                        <a:rPr sz="1100" b="0" i="0">
                          <a:solidFill>
                            <a:srgbClr val="000000"/>
                          </a:solidFill>
                          <a:latin typeface="Calibri"/>
                        </a:rPr>
                        <a:t>3.5.3.</a:t>
                      </a:r>
                      <a:r>
                        <a:rPr sz="700" b="0" i="0">
                          <a:solidFill>
                            <a:srgbClr val="000000"/>
                          </a:solidFill>
                          <a:latin typeface="Times New Roman"/>
                        </a:rPr>
                        <a:t>   </a:t>
                      </a:r>
                      <a:r>
                        <a:rPr sz="1100" b="0" i="0">
                          <a:solidFill>
                            <a:srgbClr val="000000"/>
                          </a:solidFill>
                          <a:latin typeface="Calibri"/>
                        </a:rPr>
                        <a:t>Flexible Partial Dentures</a:t>
                      </a:r>
                      <a:endParaRPr sz="1100"/>
                    </a:p>
                  </a:txBody>
                  <a:tcPr marL="771525" marR="9525" marT="9525" marB="0" anchor="ctr"/>
                </a:tc>
              </a:tr>
              <a:tr h="175260">
                <a:tc>
                  <a:txBody>
                    <a:bodyPr wrap="square"/>
                    <a:lstStyle/>
                    <a:p>
                      <a:pPr algn="l"/>
                      <a:r>
                        <a:rPr sz="1100" b="0" i="0">
                          <a:solidFill>
                            <a:srgbClr val="000000"/>
                          </a:solidFill>
                          <a:latin typeface="Calibri"/>
                        </a:rPr>
                        <a:t>3.5.4.</a:t>
                      </a:r>
                      <a:r>
                        <a:rPr sz="700" b="0" i="0">
                          <a:solidFill>
                            <a:srgbClr val="000000"/>
                          </a:solidFill>
                          <a:latin typeface="Times New Roman"/>
                        </a:rPr>
                        <a:t>   </a:t>
                      </a:r>
                      <a:r>
                        <a:rPr sz="1100" b="0" i="0">
                          <a:solidFill>
                            <a:srgbClr val="000000"/>
                          </a:solidFill>
                          <a:latin typeface="Calibri"/>
                        </a:rPr>
                        <a:t>Combination Framework Partial Dentures</a:t>
                      </a:r>
                      <a:endParaRPr sz="1100"/>
                    </a:p>
                  </a:txBody>
                  <a:tcPr marL="771525" marR="9525" marT="9525" marB="0" anchor="ctr"/>
                </a:tc>
              </a:tr>
              <a:tr h="175260">
                <a:tc>
                  <a:txBody>
                    <a:bodyPr wrap="square"/>
                    <a:lstStyle/>
                    <a:p>
                      <a:pPr algn="l"/>
                      <a:r>
                        <a:rPr sz="1100" b="1" i="0">
                          <a:solidFill>
                            <a:srgbClr val="000000"/>
                          </a:solidFill>
                          <a:latin typeface="Calibri"/>
                        </a:rPr>
                        <a:t>4.</a:t>
                      </a:r>
                      <a:r>
                        <a:rPr sz="700" b="1" i="0">
                          <a:solidFill>
                            <a:srgbClr val="000000"/>
                          </a:solidFill>
                          <a:latin typeface="Times New Roman"/>
                        </a:rPr>
                        <a:t>       </a:t>
                      </a:r>
                      <a:r>
                        <a:rPr sz="1100" b="1" i="0">
                          <a:solidFill>
                            <a:srgbClr val="000000"/>
                          </a:solidFill>
                          <a:latin typeface="Calibri"/>
                        </a:rPr>
                        <a:t>Global Market (Value- Volume) Analysis 2021–2036, By Material Type</a:t>
                      </a:r>
                      <a:endParaRPr sz="1100"/>
                    </a:p>
                  </a:txBody>
                  <a:tcPr marL="171450" marR="9525" marT="9525" marB="0" anchor="ctr"/>
                </a:tc>
              </a:tr>
              <a:tr h="175260">
                <a:tc>
                  <a:txBody>
                    <a:bodyPr wrap="square"/>
                    <a:lstStyle/>
                    <a:p>
                      <a:pPr algn="l"/>
                      <a:r>
                        <a:rPr sz="1100" b="0" i="0">
                          <a:solidFill>
                            <a:srgbClr val="0070C0"/>
                          </a:solidFill>
                          <a:latin typeface="Calibri"/>
                        </a:rPr>
                        <a:t>4.1.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4.2.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4.3.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4.4.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4.5.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4.5.1.</a:t>
                      </a:r>
                      <a:r>
                        <a:rPr sz="700" b="0" i="0">
                          <a:solidFill>
                            <a:srgbClr val="000000"/>
                          </a:solidFill>
                          <a:latin typeface="Times New Roman"/>
                        </a:rPr>
                        <a:t>   </a:t>
                      </a:r>
                      <a:r>
                        <a:rPr sz="1100" b="0" i="0">
                          <a:solidFill>
                            <a:srgbClr val="000000"/>
                          </a:solidFill>
                          <a:latin typeface="Calibri"/>
                        </a:rPr>
                        <a:t>Metal Alloys</a:t>
                      </a:r>
                      <a:endParaRPr sz="1100"/>
                    </a:p>
                  </a:txBody>
                  <a:tcPr marL="771525" marR="9525" marT="9525" marB="0" anchor="ctr"/>
                </a:tc>
              </a:tr>
              <a:tr h="175260">
                <a:tc>
                  <a:txBody>
                    <a:bodyPr wrap="square"/>
                    <a:lstStyle/>
                    <a:p>
                      <a:pPr algn="l"/>
                      <a:r>
                        <a:rPr sz="1100" b="0" i="1">
                          <a:solidFill>
                            <a:srgbClr val="000000"/>
                          </a:solidFill>
                          <a:latin typeface="Calibri"/>
                        </a:rPr>
                        <a:t>4.5.1.1.</a:t>
                      </a:r>
                      <a:r>
                        <a:rPr sz="700" b="0" i="1">
                          <a:solidFill>
                            <a:srgbClr val="000000"/>
                          </a:solidFill>
                          <a:latin typeface="Times New Roman"/>
                        </a:rPr>
                        <a:t>    </a:t>
                      </a:r>
                      <a:r>
                        <a:rPr sz="1100" b="0" i="1">
                          <a:solidFill>
                            <a:srgbClr val="000000"/>
                          </a:solidFill>
                          <a:latin typeface="Calibri"/>
                        </a:rPr>
                        <a:t>Cobalt-Chromium Alloys</a:t>
                      </a:r>
                      <a:endParaRPr sz="1100"/>
                    </a:p>
                  </a:txBody>
                  <a:tcPr marL="1028700" marR="9525" marT="9525" marB="0" anchor="ctr"/>
                </a:tc>
              </a:tr>
              <a:tr h="175260">
                <a:tc>
                  <a:txBody>
                    <a:bodyPr wrap="square"/>
                    <a:lstStyle/>
                    <a:p>
                      <a:pPr algn="l"/>
                      <a:r>
                        <a:rPr sz="1100" b="0" i="1">
                          <a:solidFill>
                            <a:srgbClr val="000000"/>
                          </a:solidFill>
                          <a:latin typeface="Calibri"/>
                        </a:rPr>
                        <a:t>4.5.1.2.</a:t>
                      </a:r>
                      <a:r>
                        <a:rPr sz="700" b="0" i="1">
                          <a:solidFill>
                            <a:srgbClr val="000000"/>
                          </a:solidFill>
                          <a:latin typeface="Times New Roman"/>
                        </a:rPr>
                        <a:t>    </a:t>
                      </a:r>
                      <a:r>
                        <a:rPr sz="1100" b="0" i="1">
                          <a:solidFill>
                            <a:srgbClr val="000000"/>
                          </a:solidFill>
                          <a:latin typeface="Calibri"/>
                        </a:rPr>
                        <a:t>Titanium Alloys</a:t>
                      </a:r>
                      <a:endParaRPr sz="1100"/>
                    </a:p>
                  </a:txBody>
                  <a:tcPr marL="1028700" marR="9525" marT="9525" marB="0" anchor="ctr"/>
                </a:tc>
              </a:tr>
              <a:tr h="175260">
                <a:tc>
                  <a:txBody>
                    <a:bodyPr wrap="square"/>
                    <a:lstStyle/>
                    <a:p>
                      <a:pPr algn="l"/>
                      <a:r>
                        <a:rPr sz="1100" b="0" i="0">
                          <a:solidFill>
                            <a:srgbClr val="000000"/>
                          </a:solidFill>
                          <a:latin typeface="Calibri"/>
                        </a:rPr>
                        <a:t>4.5.2.</a:t>
                      </a:r>
                      <a:r>
                        <a:rPr sz="700" b="0" i="0">
                          <a:solidFill>
                            <a:srgbClr val="000000"/>
                          </a:solidFill>
                          <a:latin typeface="Times New Roman"/>
                        </a:rPr>
                        <a:t>   </a:t>
                      </a:r>
                      <a:r>
                        <a:rPr sz="1100" b="0" i="0">
                          <a:solidFill>
                            <a:srgbClr val="000000"/>
                          </a:solidFill>
                          <a:latin typeface="Calibri"/>
                        </a:rPr>
                        <a:t>Acrylic / Resin</a:t>
                      </a:r>
                      <a:endParaRPr sz="1100"/>
                    </a:p>
                  </a:txBody>
                  <a:tcPr marL="771525" marR="9525" marT="9525" marB="0" anchor="ctr"/>
                </a:tc>
              </a:tr>
              <a:tr h="175260">
                <a:tc>
                  <a:txBody>
                    <a:bodyPr wrap="square"/>
                    <a:lstStyle/>
                    <a:p>
                      <a:pPr algn="l"/>
                      <a:r>
                        <a:rPr sz="1100" b="0" i="1">
                          <a:solidFill>
                            <a:srgbClr val="000000"/>
                          </a:solidFill>
                          <a:latin typeface="Calibri"/>
                        </a:rPr>
                        <a:t>4.5.2.1.</a:t>
                      </a:r>
                      <a:r>
                        <a:rPr sz="700" b="0" i="1">
                          <a:solidFill>
                            <a:srgbClr val="000000"/>
                          </a:solidFill>
                          <a:latin typeface="Times New Roman"/>
                        </a:rPr>
                        <a:t>    </a:t>
                      </a:r>
                      <a:r>
                        <a:rPr sz="1100" b="0" i="1">
                          <a:solidFill>
                            <a:srgbClr val="000000"/>
                          </a:solidFill>
                          <a:latin typeface="Calibri"/>
                        </a:rPr>
                        <a:t>PMMA</a:t>
                      </a:r>
                      <a:endParaRPr sz="1100"/>
                    </a:p>
                  </a:txBody>
                  <a:tcPr marL="1028700" marR="9525" marT="9525" marB="0" anchor="ctr"/>
                </a:tc>
              </a:tr>
              <a:tr h="175260">
                <a:tc>
                  <a:txBody>
                    <a:bodyPr wrap="square"/>
                    <a:lstStyle/>
                    <a:p>
                      <a:pPr algn="l"/>
                      <a:r>
                        <a:rPr sz="1100" b="0" i="1">
                          <a:solidFill>
                            <a:srgbClr val="000000"/>
                          </a:solidFill>
                          <a:latin typeface="Calibri"/>
                        </a:rPr>
                        <a:t>4.5.2.2.</a:t>
                      </a:r>
                      <a:r>
                        <a:rPr sz="700" b="0" i="1">
                          <a:solidFill>
                            <a:srgbClr val="000000"/>
                          </a:solidFill>
                          <a:latin typeface="Times New Roman"/>
                        </a:rPr>
                        <a:t>    </a:t>
                      </a:r>
                      <a:r>
                        <a:rPr sz="1100" b="0" i="1">
                          <a:solidFill>
                            <a:srgbClr val="000000"/>
                          </a:solidFill>
                          <a:latin typeface="Calibri"/>
                        </a:rPr>
                        <a:t>Printable Denture Resins</a:t>
                      </a:r>
                      <a:endParaRPr sz="1100"/>
                    </a:p>
                  </a:txBody>
                  <a:tcPr marL="1028700" marR="9525" marT="9525" marB="0" anchor="ctr"/>
                </a:tc>
              </a:tr>
              <a:tr h="175260">
                <a:tc>
                  <a:txBody>
                    <a:bodyPr wrap="square"/>
                    <a:lstStyle/>
                    <a:p>
                      <a:pPr algn="l"/>
                      <a:r>
                        <a:rPr sz="1100" b="0" i="0">
                          <a:solidFill>
                            <a:srgbClr val="000000"/>
                          </a:solidFill>
                          <a:latin typeface="Calibri"/>
                        </a:rPr>
                        <a:t>4.5.3.</a:t>
                      </a:r>
                      <a:r>
                        <a:rPr sz="700" b="0" i="0">
                          <a:solidFill>
                            <a:srgbClr val="000000"/>
                          </a:solidFill>
                          <a:latin typeface="Times New Roman"/>
                        </a:rPr>
                        <a:t>   </a:t>
                      </a:r>
                      <a:r>
                        <a:rPr sz="1100" b="0" i="0">
                          <a:solidFill>
                            <a:srgbClr val="000000"/>
                          </a:solidFill>
                          <a:latin typeface="Calibri"/>
                        </a:rPr>
                        <a:t>Flexible Thermoplastics</a:t>
                      </a:r>
                      <a:endParaRPr sz="1100"/>
                    </a:p>
                  </a:txBody>
                  <a:tcPr marL="771525" marR="9525" marT="9525" marB="0" anchor="ctr"/>
                </a:tc>
              </a:tr>
              <a:tr h="175260">
                <a:tc>
                  <a:txBody>
                    <a:bodyPr wrap="square"/>
                    <a:lstStyle/>
                    <a:p>
                      <a:pPr algn="l"/>
                      <a:r>
                        <a:rPr sz="1100" b="0" i="1">
                          <a:solidFill>
                            <a:srgbClr val="000000"/>
                          </a:solidFill>
                          <a:latin typeface="Calibri"/>
                        </a:rPr>
                        <a:t>4.5.3.1.</a:t>
                      </a:r>
                      <a:r>
                        <a:rPr sz="700" b="0" i="1">
                          <a:solidFill>
                            <a:srgbClr val="000000"/>
                          </a:solidFill>
                          <a:latin typeface="Times New Roman"/>
                        </a:rPr>
                        <a:t>    </a:t>
                      </a:r>
                      <a:r>
                        <a:rPr sz="1100" b="0" i="1">
                          <a:solidFill>
                            <a:srgbClr val="000000"/>
                          </a:solidFill>
                          <a:latin typeface="Calibri"/>
                        </a:rPr>
                        <a:t>Polyamide / Nylon</a:t>
                      </a:r>
                      <a:endParaRPr sz="1100"/>
                    </a:p>
                  </a:txBody>
                  <a:tcPr marL="1028700" marR="9525" marT="9525" marB="0" anchor="ctr"/>
                </a:tc>
              </a:tr>
              <a:tr h="175260">
                <a:tc>
                  <a:txBody>
                    <a:bodyPr wrap="square"/>
                    <a:lstStyle/>
                    <a:p>
                      <a:pPr algn="l"/>
                      <a:r>
                        <a:rPr sz="1100" b="0" i="1">
                          <a:solidFill>
                            <a:srgbClr val="000000"/>
                          </a:solidFill>
                          <a:latin typeface="Calibri"/>
                        </a:rPr>
                        <a:t>4.5.3.2.</a:t>
                      </a:r>
                      <a:r>
                        <a:rPr sz="700" b="0" i="1">
                          <a:solidFill>
                            <a:srgbClr val="000000"/>
                          </a:solidFill>
                          <a:latin typeface="Times New Roman"/>
                        </a:rPr>
                        <a:t>    </a:t>
                      </a:r>
                      <a:r>
                        <a:rPr sz="1100" b="0" i="1">
                          <a:solidFill>
                            <a:srgbClr val="000000"/>
                          </a:solidFill>
                          <a:latin typeface="Calibri"/>
                        </a:rPr>
                        <a:t>Other Thermoplastic Resins</a:t>
                      </a:r>
                      <a:endParaRPr sz="1100"/>
                    </a:p>
                  </a:txBody>
                  <a:tcPr marL="1028700" marR="9525" marT="9525" marB="0" anchor="ctr"/>
                </a:tc>
              </a:tr>
              <a:tr h="175260">
                <a:tc>
                  <a:txBody>
                    <a:bodyPr wrap="square"/>
                    <a:lstStyle/>
                    <a:p>
                      <a:pPr algn="l"/>
                      <a:r>
                        <a:rPr sz="1100" b="0" i="0">
                          <a:solidFill>
                            <a:srgbClr val="000000"/>
                          </a:solidFill>
                          <a:latin typeface="Calibri"/>
                        </a:rPr>
                        <a:t>4.5.4.</a:t>
                      </a:r>
                      <a:r>
                        <a:rPr sz="700" b="0" i="0">
                          <a:solidFill>
                            <a:srgbClr val="000000"/>
                          </a:solidFill>
                          <a:latin typeface="Times New Roman"/>
                        </a:rPr>
                        <a:t>   </a:t>
                      </a:r>
                      <a:r>
                        <a:rPr sz="1100" b="0" i="0">
                          <a:solidFill>
                            <a:srgbClr val="000000"/>
                          </a:solidFill>
                          <a:latin typeface="Calibri"/>
                        </a:rPr>
                        <a:t>High-performance Polymers</a:t>
                      </a:r>
                      <a:endParaRPr sz="1100"/>
                    </a:p>
                  </a:txBody>
                  <a:tcPr marL="771525" marR="9525" marT="9525" marB="0" anchor="ctr"/>
                </a:tc>
              </a:tr>
              <a:tr h="175260">
                <a:tc>
                  <a:txBody>
                    <a:bodyPr wrap="square"/>
                    <a:lstStyle/>
                    <a:p>
                      <a:pPr algn="l"/>
                      <a:r>
                        <a:rPr sz="1100" b="0" i="1">
                          <a:solidFill>
                            <a:srgbClr val="000000"/>
                          </a:solidFill>
                          <a:latin typeface="Calibri"/>
                        </a:rPr>
                        <a:t>4.5.4.1.</a:t>
                      </a:r>
                      <a:r>
                        <a:rPr sz="700" b="0" i="1">
                          <a:solidFill>
                            <a:srgbClr val="000000"/>
                          </a:solidFill>
                          <a:latin typeface="Times New Roman"/>
                        </a:rPr>
                        <a:t>    </a:t>
                      </a:r>
                      <a:r>
                        <a:rPr sz="1100" b="0" i="1">
                          <a:solidFill>
                            <a:srgbClr val="000000"/>
                          </a:solidFill>
                          <a:latin typeface="Calibri"/>
                        </a:rPr>
                        <a:t>PEEK-based Materials</a:t>
                      </a:r>
                      <a:endParaRPr sz="1100"/>
                    </a:p>
                  </a:txBody>
                  <a:tcPr marL="1028700" marR="9525" marT="9525" marB="0" anchor="ctr"/>
                </a:tc>
              </a:tr>
              <a:tr h="175260">
                <a:tc>
                  <a:txBody>
                    <a:bodyPr wrap="square"/>
                    <a:lstStyle/>
                    <a:p>
                      <a:pPr algn="l"/>
                      <a:r>
                        <a:rPr sz="1100" b="0" i="1">
                          <a:solidFill>
                            <a:srgbClr val="000000"/>
                          </a:solidFill>
                          <a:latin typeface="Calibri"/>
                        </a:rPr>
                        <a:t>4.5.4.2.</a:t>
                      </a:r>
                      <a:r>
                        <a:rPr sz="700" b="0" i="1">
                          <a:solidFill>
                            <a:srgbClr val="000000"/>
                          </a:solidFill>
                          <a:latin typeface="Times New Roman"/>
                        </a:rPr>
                        <a:t>    </a:t>
                      </a:r>
                      <a:r>
                        <a:rPr sz="1100" b="0" i="1">
                          <a:solidFill>
                            <a:srgbClr val="000000"/>
                          </a:solidFill>
                          <a:latin typeface="Calibri"/>
                        </a:rPr>
                        <a:t>Other High-performance Dental Polymers</a:t>
                      </a:r>
                      <a:endParaRPr sz="1100"/>
                    </a:p>
                  </a:txBody>
                  <a:tcPr marL="1028700" marR="9525" marT="9525" marB="0" anchor="ctr"/>
                </a:tc>
              </a:tr>
              <a:tr h="175260">
                <a:tc>
                  <a:txBody>
                    <a:bodyPr wrap="square"/>
                    <a:lstStyle/>
                    <a:p>
                      <a:pPr algn="l"/>
                      <a:r>
                        <a:rPr sz="1100" b="1" i="0">
                          <a:solidFill>
                            <a:srgbClr val="000000"/>
                          </a:solidFill>
                          <a:latin typeface="Calibri"/>
                        </a:rPr>
                        <a:t>5.</a:t>
                      </a:r>
                      <a:r>
                        <a:rPr sz="700" b="1" i="0">
                          <a:solidFill>
                            <a:srgbClr val="000000"/>
                          </a:solidFill>
                          <a:latin typeface="Times New Roman"/>
                        </a:rPr>
                        <a:t>       </a:t>
                      </a:r>
                      <a:r>
                        <a:rPr sz="1100" b="1" i="0">
                          <a:solidFill>
                            <a:srgbClr val="000000"/>
                          </a:solidFill>
                          <a:latin typeface="Calibri"/>
                        </a:rPr>
                        <a:t>Global Market (Value- Volume) Analysis 2021–2036, By Technology</a:t>
                      </a:r>
                      <a:endParaRPr sz="1100"/>
                    </a:p>
                  </a:txBody>
                  <a:tcPr marL="171450" marR="9525" marT="9525" marB="0" anchor="ctr"/>
                </a:tc>
              </a:tr>
              <a:tr h="175260">
                <a:tc>
                  <a:txBody>
                    <a:bodyPr wrap="square"/>
                    <a:lstStyle/>
                    <a:p>
                      <a:pPr algn="l"/>
                      <a:r>
                        <a:rPr sz="1100" b="0" i="0">
                          <a:solidFill>
                            <a:srgbClr val="0070C0"/>
                          </a:solidFill>
                          <a:latin typeface="Calibri"/>
                        </a:rPr>
                        <a:t>5.1.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5.2.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5.3.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5.4.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5.5.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5.5.1.</a:t>
                      </a:r>
                      <a:r>
                        <a:rPr sz="700" b="0" i="0">
                          <a:solidFill>
                            <a:srgbClr val="000000"/>
                          </a:solidFill>
                          <a:latin typeface="Times New Roman"/>
                        </a:rPr>
                        <a:t>   </a:t>
                      </a:r>
                      <a:r>
                        <a:rPr sz="1100" b="0" i="0">
                          <a:solidFill>
                            <a:srgbClr val="000000"/>
                          </a:solidFill>
                          <a:latin typeface="Calibri"/>
                        </a:rPr>
                        <a:t>Conventional Fabrication</a:t>
                      </a:r>
                      <a:endParaRPr sz="1100"/>
                    </a:p>
                  </a:txBody>
                  <a:tcPr marL="771525" marR="9525" marT="9525" marB="0" anchor="ctr"/>
                </a:tc>
              </a:tr>
              <a:tr h="175260">
                <a:tc>
                  <a:txBody>
                    <a:bodyPr wrap="square"/>
                    <a:lstStyle/>
                    <a:p>
                      <a:pPr algn="l"/>
                      <a:r>
                        <a:rPr sz="1100" b="0" i="1">
                          <a:solidFill>
                            <a:srgbClr val="000000"/>
                          </a:solidFill>
                          <a:latin typeface="Calibri"/>
                        </a:rPr>
                        <a:t>5.5.1.1.</a:t>
                      </a:r>
                      <a:r>
                        <a:rPr sz="700" b="0" i="1">
                          <a:solidFill>
                            <a:srgbClr val="000000"/>
                          </a:solidFill>
                          <a:latin typeface="Times New Roman"/>
                        </a:rPr>
                        <a:t>    </a:t>
                      </a:r>
                      <a:r>
                        <a:rPr sz="1100" b="0" i="1">
                          <a:solidFill>
                            <a:srgbClr val="000000"/>
                          </a:solidFill>
                          <a:latin typeface="Calibri"/>
                        </a:rPr>
                        <a:t>Metal Casting</a:t>
                      </a:r>
                      <a:endParaRPr sz="1100"/>
                    </a:p>
                  </a:txBody>
                  <a:tcPr marL="1028700" marR="9525" marT="9525" marB="0" anchor="ctr"/>
                </a:tc>
              </a:tr>
              <a:tr h="175260">
                <a:tc>
                  <a:txBody>
                    <a:bodyPr wrap="square"/>
                    <a:lstStyle/>
                    <a:p>
                      <a:pPr algn="l"/>
                      <a:r>
                        <a:rPr sz="1100" b="0" i="1">
                          <a:solidFill>
                            <a:srgbClr val="000000"/>
                          </a:solidFill>
                          <a:latin typeface="Calibri"/>
                        </a:rPr>
                        <a:t>5.5.1.2.</a:t>
                      </a:r>
                      <a:r>
                        <a:rPr sz="700" b="0" i="1">
                          <a:solidFill>
                            <a:srgbClr val="000000"/>
                          </a:solidFill>
                          <a:latin typeface="Times New Roman"/>
                        </a:rPr>
                        <a:t>    </a:t>
                      </a:r>
                      <a:r>
                        <a:rPr sz="1100" b="0" i="1">
                          <a:solidFill>
                            <a:srgbClr val="000000"/>
                          </a:solidFill>
                          <a:latin typeface="Calibri"/>
                        </a:rPr>
                        <a:t>Heat-cured / Compression Processing</a:t>
                      </a:r>
                      <a:endParaRPr sz="1100"/>
                    </a:p>
                  </a:txBody>
                  <a:tcPr marL="1028700" marR="9525" marT="9525" marB="0" anchor="ctr"/>
                </a:tc>
              </a:tr>
              <a:tr h="175260">
                <a:tc>
                  <a:txBody>
                    <a:bodyPr wrap="square"/>
                    <a:lstStyle/>
                    <a:p>
                      <a:pPr algn="l"/>
                      <a:r>
                        <a:rPr sz="1100" b="0" i="1">
                          <a:solidFill>
                            <a:srgbClr val="000000"/>
                          </a:solidFill>
                          <a:latin typeface="Calibri"/>
                        </a:rPr>
                        <a:t>5.5.1.3.</a:t>
                      </a:r>
                      <a:r>
                        <a:rPr sz="700" b="0" i="1">
                          <a:solidFill>
                            <a:srgbClr val="000000"/>
                          </a:solidFill>
                          <a:latin typeface="Times New Roman"/>
                        </a:rPr>
                        <a:t>    </a:t>
                      </a:r>
                      <a:r>
                        <a:rPr sz="1100" b="0" i="1">
                          <a:solidFill>
                            <a:srgbClr val="000000"/>
                          </a:solidFill>
                          <a:latin typeface="Calibri"/>
                        </a:rPr>
                        <a:t>Injection Molding</a:t>
                      </a:r>
                      <a:endParaRPr sz="1100"/>
                    </a:p>
                  </a:txBody>
                  <a:tcPr marL="1028700" marR="9525" marT="9525" marB="0" anchor="ctr"/>
                </a:tc>
              </a:tr>
              <a:tr h="175260">
                <a:tc>
                  <a:txBody>
                    <a:bodyPr wrap="square"/>
                    <a:lstStyle/>
                    <a:p>
                      <a:pPr algn="l"/>
                      <a:r>
                        <a:rPr sz="1100" b="0" i="0">
                          <a:solidFill>
                            <a:srgbClr val="000000"/>
                          </a:solidFill>
                          <a:latin typeface="Calibri"/>
                        </a:rPr>
                        <a:t>5.5.2.</a:t>
                      </a:r>
                      <a:r>
                        <a:rPr sz="700" b="0" i="0">
                          <a:solidFill>
                            <a:srgbClr val="000000"/>
                          </a:solidFill>
                          <a:latin typeface="Times New Roman"/>
                        </a:rPr>
                        <a:t>   </a:t>
                      </a:r>
                      <a:r>
                        <a:rPr sz="1100" b="0" i="0">
                          <a:solidFill>
                            <a:srgbClr val="000000"/>
                          </a:solidFill>
                          <a:latin typeface="Calibri"/>
                        </a:rPr>
                        <a:t>Digital Fabrication</a:t>
                      </a:r>
                      <a:endParaRPr sz="1100"/>
                    </a:p>
                  </a:txBody>
                  <a:tcPr marL="771525" marR="9525" marT="9525" marB="0" anchor="ctr"/>
                </a:tc>
              </a:tr>
              <a:tr h="175260">
                <a:tc>
                  <a:txBody>
                    <a:bodyPr wrap="square"/>
                    <a:lstStyle/>
                    <a:p>
                      <a:pPr algn="l"/>
                      <a:r>
                        <a:rPr sz="1100" b="0" i="1">
                          <a:solidFill>
                            <a:srgbClr val="000000"/>
                          </a:solidFill>
                          <a:latin typeface="Calibri"/>
                        </a:rPr>
                        <a:t>5.5.2.1.</a:t>
                      </a:r>
                      <a:r>
                        <a:rPr sz="700" b="0" i="1">
                          <a:solidFill>
                            <a:srgbClr val="000000"/>
                          </a:solidFill>
                          <a:latin typeface="Times New Roman"/>
                        </a:rPr>
                        <a:t>    </a:t>
                      </a:r>
                      <a:r>
                        <a:rPr sz="1100" b="0" i="1">
                          <a:solidFill>
                            <a:srgbClr val="000000"/>
                          </a:solidFill>
                          <a:latin typeface="Calibri"/>
                        </a:rPr>
                        <a:t>CAD/CAM Milling</a:t>
                      </a:r>
                      <a:endParaRPr sz="1100"/>
                    </a:p>
                  </a:txBody>
                  <a:tcPr marL="1028700" marR="9525" marT="9525" marB="0" anchor="ctr"/>
                </a:tc>
              </a:tr>
              <a:tr h="175260">
                <a:tc>
                  <a:txBody>
                    <a:bodyPr wrap="square"/>
                    <a:lstStyle/>
                    <a:p>
                      <a:pPr algn="l"/>
                      <a:r>
                        <a:rPr sz="1100" b="0" i="1">
                          <a:solidFill>
                            <a:srgbClr val="000000"/>
                          </a:solidFill>
                          <a:latin typeface="Calibri"/>
                        </a:rPr>
                        <a:t>5.5.2.2.</a:t>
                      </a:r>
                      <a:r>
                        <a:rPr sz="700" b="0" i="1">
                          <a:solidFill>
                            <a:srgbClr val="000000"/>
                          </a:solidFill>
                          <a:latin typeface="Times New Roman"/>
                        </a:rPr>
                        <a:t>    </a:t>
                      </a:r>
                      <a:r>
                        <a:rPr sz="1100" b="0" i="1">
                          <a:solidFill>
                            <a:srgbClr val="000000"/>
                          </a:solidFill>
                          <a:latin typeface="Calibri"/>
                        </a:rPr>
                        <a:t>3D Printing / Additive Manufacturing</a:t>
                      </a:r>
                      <a:endParaRPr sz="1100"/>
                    </a:p>
                  </a:txBody>
                  <a:tcPr marL="1028700" marR="9525" marT="9525" marB="0" anchor="ctr"/>
                </a:tc>
              </a:tr>
              <a:tr h="175260">
                <a:tc>
                  <a:txBody>
                    <a:bodyPr wrap="square"/>
                    <a:lstStyle/>
                    <a:p>
                      <a:pPr algn="l"/>
                      <a:r>
                        <a:rPr sz="1100" b="0" i="1">
                          <a:solidFill>
                            <a:srgbClr val="000000"/>
                          </a:solidFill>
                          <a:latin typeface="Calibri"/>
                        </a:rPr>
                        <a:t>5.5.2.3.</a:t>
                      </a:r>
                      <a:r>
                        <a:rPr sz="700" b="0" i="1">
                          <a:solidFill>
                            <a:srgbClr val="000000"/>
                          </a:solidFill>
                          <a:latin typeface="Times New Roman"/>
                        </a:rPr>
                        <a:t>    </a:t>
                      </a:r>
                      <a:r>
                        <a:rPr sz="1100" b="0" i="1">
                          <a:solidFill>
                            <a:srgbClr val="000000"/>
                          </a:solidFill>
                          <a:latin typeface="Calibri"/>
                        </a:rPr>
                        <a:t>Hybrid Digital Fabrication</a:t>
                      </a:r>
                      <a:endParaRPr sz="1100"/>
                    </a:p>
                  </a:txBody>
                  <a:tcPr marL="1028700" marR="9525" marT="9525" marB="0" anchor="ctr"/>
                </a:tc>
              </a:tr>
              <a:tr h="175260">
                <a:tc>
                  <a:txBody>
                    <a:bodyPr wrap="square"/>
                    <a:lstStyle/>
                    <a:p>
                      <a:pPr algn="l"/>
                      <a:r>
                        <a:rPr sz="1100" b="1" i="0">
                          <a:solidFill>
                            <a:srgbClr val="000000"/>
                          </a:solidFill>
                          <a:latin typeface="Calibri"/>
                        </a:rPr>
                        <a:t>6.</a:t>
                      </a:r>
                      <a:r>
                        <a:rPr sz="700" b="1" i="0">
                          <a:solidFill>
                            <a:srgbClr val="000000"/>
                          </a:solidFill>
                          <a:latin typeface="Times New Roman"/>
                        </a:rPr>
                        <a:t>       </a:t>
                      </a:r>
                      <a:r>
                        <a:rPr sz="1100" b="1" i="0">
                          <a:solidFill>
                            <a:srgbClr val="000000"/>
                          </a:solidFill>
                          <a:latin typeface="Calibri"/>
                        </a:rPr>
                        <a:t>Global Market (Value- Volume) Analysis 2021–2036, By End User</a:t>
                      </a:r>
                      <a:endParaRPr sz="1100"/>
                    </a:p>
                  </a:txBody>
                  <a:tcPr marL="171450" marR="9525" marT="9525" marB="0" anchor="ctr"/>
                </a:tc>
              </a:tr>
              <a:tr h="175260">
                <a:tc>
                  <a:txBody>
                    <a:bodyPr wrap="square"/>
                    <a:lstStyle/>
                    <a:p>
                      <a:pPr algn="l"/>
                      <a:r>
                        <a:rPr sz="1100" b="0" i="0">
                          <a:solidFill>
                            <a:srgbClr val="0070C0"/>
                          </a:solidFill>
                          <a:latin typeface="Calibri"/>
                        </a:rPr>
                        <a:t>6.1.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6.2.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(2/6)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6.3.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6.4.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6.5.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6.5.1.</a:t>
                      </a:r>
                      <a:r>
                        <a:rPr sz="700" b="0" i="0">
                          <a:solidFill>
                            <a:srgbClr val="000000"/>
                          </a:solidFill>
                          <a:latin typeface="Times New Roman"/>
                        </a:rPr>
                        <a:t>   </a:t>
                      </a:r>
                      <a:r>
                        <a:rPr sz="1100" b="0" i="0">
                          <a:solidFill>
                            <a:srgbClr val="000000"/>
                          </a:solidFill>
                          <a:latin typeface="Calibri"/>
                        </a:rPr>
                        <a:t>Dental Clinics</a:t>
                      </a:r>
                      <a:endParaRPr sz="1100"/>
                    </a:p>
                  </a:txBody>
                  <a:tcPr marL="771525" marR="9525" marT="9525" marB="0" anchor="ctr"/>
                </a:tc>
              </a:tr>
              <a:tr h="175260">
                <a:tc>
                  <a:txBody>
                    <a:bodyPr wrap="square"/>
                    <a:lstStyle/>
                    <a:p>
                      <a:pPr algn="l"/>
                      <a:r>
                        <a:rPr sz="1100" b="0" i="0">
                          <a:solidFill>
                            <a:srgbClr val="000000"/>
                          </a:solidFill>
                          <a:latin typeface="Calibri"/>
                        </a:rPr>
                        <a:t>6.5.2.</a:t>
                      </a:r>
                      <a:r>
                        <a:rPr sz="700" b="0" i="0">
                          <a:solidFill>
                            <a:srgbClr val="000000"/>
                          </a:solidFill>
                          <a:latin typeface="Times New Roman"/>
                        </a:rPr>
                        <a:t>   </a:t>
                      </a:r>
                      <a:r>
                        <a:rPr sz="1100" b="0" i="0">
                          <a:solidFill>
                            <a:srgbClr val="000000"/>
                          </a:solidFill>
                          <a:latin typeface="Calibri"/>
                        </a:rPr>
                        <a:t>Dental Hospitals</a:t>
                      </a:r>
                      <a:endParaRPr sz="1100"/>
                    </a:p>
                  </a:txBody>
                  <a:tcPr marL="771525" marR="9525" marT="9525" marB="0" anchor="ctr"/>
                </a:tc>
              </a:tr>
              <a:tr h="175260">
                <a:tc>
                  <a:txBody>
                    <a:bodyPr wrap="square"/>
                    <a:lstStyle/>
                    <a:p>
                      <a:pPr algn="l"/>
                      <a:r>
                        <a:rPr sz="1100" b="0" i="0">
                          <a:solidFill>
                            <a:srgbClr val="000000"/>
                          </a:solidFill>
                          <a:latin typeface="Calibri"/>
                        </a:rPr>
                        <a:t>6.5.3.</a:t>
                      </a:r>
                      <a:r>
                        <a:rPr sz="700" b="0" i="0">
                          <a:solidFill>
                            <a:srgbClr val="000000"/>
                          </a:solidFill>
                          <a:latin typeface="Times New Roman"/>
                        </a:rPr>
                        <a:t>   </a:t>
                      </a:r>
                      <a:r>
                        <a:rPr sz="1100" b="0" i="0">
                          <a:solidFill>
                            <a:srgbClr val="000000"/>
                          </a:solidFill>
                          <a:latin typeface="Calibri"/>
                        </a:rPr>
                        <a:t>Dental Laboratories</a:t>
                      </a:r>
                      <a:endParaRPr sz="1100"/>
                    </a:p>
                  </a:txBody>
                  <a:tcPr marL="771525" marR="9525" marT="9525" marB="0" anchor="ctr"/>
                </a:tc>
              </a:tr>
              <a:tr h="175260">
                <a:tc>
                  <a:txBody>
                    <a:bodyPr wrap="square"/>
                    <a:lstStyle/>
                    <a:p>
                      <a:pPr algn="l"/>
                      <a:r>
                        <a:rPr sz="1100" b="0" i="0">
                          <a:solidFill>
                            <a:srgbClr val="000000"/>
                          </a:solidFill>
                          <a:latin typeface="Calibri"/>
                        </a:rPr>
                        <a:t>6.5.4.</a:t>
                      </a:r>
                      <a:r>
                        <a:rPr sz="700" b="0" i="0">
                          <a:solidFill>
                            <a:srgbClr val="000000"/>
                          </a:solidFill>
                          <a:latin typeface="Times New Roman"/>
                        </a:rPr>
                        <a:t>   </a:t>
                      </a:r>
                      <a:r>
                        <a:rPr sz="1100" b="0" i="0">
                          <a:solidFill>
                            <a:srgbClr val="000000"/>
                          </a:solidFill>
                          <a:latin typeface="Calibri"/>
                        </a:rPr>
                        <a:t>Academic &amp; Teaching Dental Institutions</a:t>
                      </a:r>
                      <a:endParaRPr sz="1100"/>
                    </a:p>
                  </a:txBody>
                  <a:tcPr marL="771525" marR="9525" marT="9525" marB="0" anchor="ctr"/>
                </a:tc>
              </a:tr>
              <a:tr h="175260">
                <a:tc>
                  <a:txBody>
                    <a:bodyPr wrap="square"/>
                    <a:lstStyle/>
                    <a:p>
                      <a:pPr algn="l"/>
                      <a:r>
                        <a:rPr sz="1100" b="1" i="0">
                          <a:solidFill>
                            <a:srgbClr val="000000"/>
                          </a:solidFill>
                          <a:latin typeface="Calibri"/>
                        </a:rPr>
                        <a:t>7.</a:t>
                      </a:r>
                      <a:r>
                        <a:rPr sz="700" b="1" i="0">
                          <a:solidFill>
                            <a:srgbClr val="000000"/>
                          </a:solidFill>
                          <a:latin typeface="Times New Roman"/>
                        </a:rPr>
                        <a:t>       </a:t>
                      </a:r>
                      <a:r>
                        <a:rPr sz="1100" b="1" i="0">
                          <a:solidFill>
                            <a:srgbClr val="000000"/>
                          </a:solidFill>
                          <a:latin typeface="Calibri"/>
                        </a:rPr>
                        <a:t>Global Market (Value- Volume) Analysis 2021–2036, By Distribution Channel</a:t>
                      </a:r>
                      <a:endParaRPr sz="1100"/>
                    </a:p>
                  </a:txBody>
                  <a:tcPr marL="171450" marR="9525" marT="9525" marB="0" anchor="ctr"/>
                </a:tc>
              </a:tr>
              <a:tr h="175260">
                <a:tc>
                  <a:txBody>
                    <a:bodyPr wrap="square"/>
                    <a:lstStyle/>
                    <a:p>
                      <a:pPr algn="l"/>
                      <a:r>
                        <a:rPr sz="1100" b="0" i="0">
                          <a:solidFill>
                            <a:srgbClr val="0070C0"/>
                          </a:solidFill>
                          <a:latin typeface="Calibri"/>
                        </a:rPr>
                        <a:t>7.1.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7.2.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7.3.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7.4.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7.5.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7.5.1.</a:t>
                      </a:r>
                      <a:r>
                        <a:rPr sz="700" b="0" i="0">
                          <a:solidFill>
                            <a:srgbClr val="000000"/>
                          </a:solidFill>
                          <a:latin typeface="Times New Roman"/>
                        </a:rPr>
                        <a:t>   </a:t>
                      </a:r>
                      <a:r>
                        <a:rPr sz="1100" b="0" i="0">
                          <a:solidFill>
                            <a:srgbClr val="000000"/>
                          </a:solidFill>
                          <a:latin typeface="Calibri"/>
                        </a:rPr>
                        <a:t>Direct Sales</a:t>
                      </a:r>
                      <a:endParaRPr sz="1100"/>
                    </a:p>
                  </a:txBody>
                  <a:tcPr marL="771525" marR="9525" marT="9525" marB="0" anchor="ctr"/>
                </a:tc>
              </a:tr>
              <a:tr h="175260">
                <a:tc>
                  <a:txBody>
                    <a:bodyPr wrap="square"/>
                    <a:lstStyle/>
                    <a:p>
                      <a:pPr algn="l"/>
                      <a:r>
                        <a:rPr sz="1100" b="0" i="0">
                          <a:solidFill>
                            <a:srgbClr val="000000"/>
                          </a:solidFill>
                          <a:latin typeface="Calibri"/>
                        </a:rPr>
                        <a:t>7.5.2.</a:t>
                      </a:r>
                      <a:r>
                        <a:rPr sz="700" b="0" i="0">
                          <a:solidFill>
                            <a:srgbClr val="000000"/>
                          </a:solidFill>
                          <a:latin typeface="Times New Roman"/>
                        </a:rPr>
                        <a:t>   </a:t>
                      </a:r>
                      <a:r>
                        <a:rPr sz="1100" b="0" i="0">
                          <a:solidFill>
                            <a:srgbClr val="000000"/>
                          </a:solidFill>
                          <a:latin typeface="Calibri"/>
                        </a:rPr>
                        <a:t>Dental Dealers &amp; Distributors</a:t>
                      </a:r>
                      <a:endParaRPr sz="1100"/>
                    </a:p>
                  </a:txBody>
                  <a:tcPr marL="771525" marR="9525" marT="9525" marB="0" anchor="ctr"/>
                </a:tc>
              </a:tr>
              <a:tr h="175260">
                <a:tc>
                  <a:txBody>
                    <a:bodyPr wrap="square"/>
                    <a:lstStyle/>
                    <a:p>
                      <a:pPr algn="l"/>
                      <a:r>
                        <a:rPr sz="1100" b="0" i="0">
                          <a:solidFill>
                            <a:srgbClr val="000000"/>
                          </a:solidFill>
                          <a:latin typeface="Calibri"/>
                        </a:rPr>
                        <a:t>7.5.3.</a:t>
                      </a:r>
                      <a:r>
                        <a:rPr sz="700" b="0" i="0">
                          <a:solidFill>
                            <a:srgbClr val="000000"/>
                          </a:solidFill>
                          <a:latin typeface="Times New Roman"/>
                        </a:rPr>
                        <a:t>   </a:t>
                      </a:r>
                      <a:r>
                        <a:rPr sz="1100" b="0" i="0">
                          <a:solidFill>
                            <a:srgbClr val="000000"/>
                          </a:solidFill>
                          <a:latin typeface="Calibri"/>
                        </a:rPr>
                        <a:t>Online Dental Supply Channels</a:t>
                      </a:r>
                      <a:endParaRPr sz="1100"/>
                    </a:p>
                  </a:txBody>
                  <a:tcPr marL="771525" marR="9525" marT="9525" marB="0" anchor="ctr"/>
                </a:tc>
              </a:tr>
              <a:tr h="175260">
                <a:tc>
                  <a:txBody>
                    <a:bodyPr wrap="square"/>
                    <a:lstStyle/>
                    <a:p>
                      <a:pPr algn="l"/>
                      <a:r>
                        <a:rPr sz="1100" b="1" i="0">
                          <a:solidFill>
                            <a:srgbClr val="000000"/>
                          </a:solidFill>
                          <a:latin typeface="Calibri"/>
                        </a:rPr>
                        <a:t>8.</a:t>
                      </a:r>
                      <a:r>
                        <a:rPr sz="700" b="1" i="0">
                          <a:solidFill>
                            <a:srgbClr val="000000"/>
                          </a:solidFill>
                          <a:latin typeface="Times New Roman"/>
                        </a:rPr>
                        <a:t>       </a:t>
                      </a:r>
                      <a:r>
                        <a:rPr sz="1100" b="1" i="0">
                          <a:solidFill>
                            <a:srgbClr val="000000"/>
                          </a:solidFill>
                          <a:latin typeface="Calibri"/>
                        </a:rPr>
                        <a:t>Global Market (Value- Volume) Analysis 2021–2036, By Patient Age Group</a:t>
                      </a:r>
                      <a:endParaRPr sz="1100"/>
                    </a:p>
                  </a:txBody>
                  <a:tcPr marL="171450" marR="9525" marT="9525" marB="0" anchor="ctr"/>
                </a:tc>
              </a:tr>
              <a:tr h="175260">
                <a:tc>
                  <a:txBody>
                    <a:bodyPr wrap="square"/>
                    <a:lstStyle/>
                    <a:p>
                      <a:pPr algn="l"/>
                      <a:r>
                        <a:rPr sz="1100" b="0" i="0">
                          <a:solidFill>
                            <a:srgbClr val="0070C0"/>
                          </a:solidFill>
                          <a:latin typeface="Calibri"/>
                        </a:rPr>
                        <a:t>8.1.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8.2.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8.3.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8.4.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8.5.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8.5.1.</a:t>
                      </a:r>
                      <a:r>
                        <a:rPr sz="700" b="0" i="0">
                          <a:solidFill>
                            <a:srgbClr val="000000"/>
                          </a:solidFill>
                          <a:latin typeface="Times New Roman"/>
                        </a:rPr>
                        <a:t>   </a:t>
                      </a:r>
                      <a:r>
                        <a:rPr sz="1100" b="0" i="0">
                          <a:solidFill>
                            <a:srgbClr val="000000"/>
                          </a:solidFill>
                          <a:latin typeface="Calibri"/>
                        </a:rPr>
                        <a:t>Adults</a:t>
                      </a:r>
                      <a:endParaRPr sz="1100"/>
                    </a:p>
                  </a:txBody>
                  <a:tcPr marL="771525" marR="9525" marT="9525" marB="0" anchor="ctr"/>
                </a:tc>
              </a:tr>
              <a:tr h="175260">
                <a:tc>
                  <a:txBody>
                    <a:bodyPr wrap="square"/>
                    <a:lstStyle/>
                    <a:p>
                      <a:pPr algn="l"/>
                      <a:r>
                        <a:rPr sz="1100" b="0" i="0">
                          <a:solidFill>
                            <a:srgbClr val="000000"/>
                          </a:solidFill>
                          <a:latin typeface="Calibri"/>
                        </a:rPr>
                        <a:t>8.5.2.</a:t>
                      </a:r>
                      <a:r>
                        <a:rPr sz="700" b="0" i="0">
                          <a:solidFill>
                            <a:srgbClr val="000000"/>
                          </a:solidFill>
                          <a:latin typeface="Times New Roman"/>
                        </a:rPr>
                        <a:t>   </a:t>
                      </a:r>
                      <a:r>
                        <a:rPr sz="1100" b="0" i="0">
                          <a:solidFill>
                            <a:srgbClr val="000000"/>
                          </a:solidFill>
                          <a:latin typeface="Calibri"/>
                        </a:rPr>
                        <a:t>Geriatric Patients</a:t>
                      </a:r>
                      <a:endParaRPr sz="1100"/>
                    </a:p>
                  </a:txBody>
                  <a:tcPr marL="771525" marR="9525" marT="9525" marB="0" anchor="ctr"/>
                </a:tc>
              </a:tr>
              <a:tr h="175260">
                <a:tc>
                  <a:txBody>
                    <a:bodyPr wrap="square"/>
                    <a:lstStyle/>
                    <a:p>
                      <a:pPr algn="l"/>
                      <a:r>
                        <a:rPr sz="1100" b="1" i="0">
                          <a:solidFill>
                            <a:srgbClr val="000000"/>
                          </a:solidFill>
                          <a:latin typeface="Calibri"/>
                        </a:rPr>
                        <a:t>9.</a:t>
                      </a:r>
                      <a:r>
                        <a:rPr sz="700" b="1" i="0">
                          <a:solidFill>
                            <a:srgbClr val="000000"/>
                          </a:solidFill>
                          <a:latin typeface="Times New Roman"/>
                        </a:rPr>
                        <a:t>       </a:t>
                      </a:r>
                      <a:r>
                        <a:rPr sz="1100" b="1" i="0">
                          <a:solidFill>
                            <a:srgbClr val="000000"/>
                          </a:solidFill>
                          <a:latin typeface="Calibri"/>
                        </a:rPr>
                        <a:t>Global Market (Value- Volume) Analysis 2021–2036, by Region</a:t>
                      </a:r>
                      <a:endParaRPr sz="1100"/>
                    </a:p>
                  </a:txBody>
                  <a:tcPr marL="171450" marR="9525" marT="9525" marB="0" anchor="ctr"/>
                </a:tc>
              </a:tr>
              <a:tr h="175260">
                <a:tc>
                  <a:txBody>
                    <a:bodyPr wrap="square"/>
                    <a:lstStyle/>
                    <a:p>
                      <a:pPr algn="l"/>
                      <a:r>
                        <a:rPr sz="1100" b="0" i="0">
                          <a:solidFill>
                            <a:srgbClr val="0070C0"/>
                          </a:solidFill>
                          <a:latin typeface="Calibri"/>
                        </a:rPr>
                        <a:t>9.1.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9.2.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9.3.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9.4.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9.5.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0000"/>
                          </a:solidFill>
                          <a:latin typeface="Calibri"/>
                        </a:rPr>
                        <a:t>9.5.1.</a:t>
                      </a:r>
                      <a:r>
                        <a:rPr sz="700" b="0" i="0">
                          <a:solidFill>
                            <a:srgbClr val="000000"/>
                          </a:solidFill>
                          <a:latin typeface="Times New Roman"/>
                        </a:rPr>
                        <a:t>   </a:t>
                      </a:r>
                      <a:r>
                        <a:rPr sz="1100" b="0" i="0">
                          <a:solidFill>
                            <a:srgbClr val="000000"/>
                          </a:solidFill>
                          <a:latin typeface="Calibri"/>
                        </a:rPr>
                        <a:t>North America</a:t>
                      </a:r>
                      <a:endParaRPr sz="1100"/>
                    </a:p>
                  </a:txBody>
                  <a:tcPr marL="771525" marR="9525" marT="9525" marB="0" anchor="ctr"/>
                </a:tc>
              </a:tr>
              <a:tr h="175260">
                <a:tc>
                  <a:txBody>
                    <a:bodyPr wrap="square"/>
                    <a:lstStyle/>
                    <a:p>
                      <a:pPr algn="l"/>
                      <a:r>
                        <a:rPr sz="1100" b="0" i="1">
                          <a:solidFill>
                            <a:srgbClr val="000000"/>
                          </a:solidFill>
                          <a:latin typeface="Calibri"/>
                        </a:rPr>
                        <a:t>9.5.1.1.</a:t>
                      </a:r>
                      <a:r>
                        <a:rPr sz="700" b="0" i="1">
                          <a:solidFill>
                            <a:srgbClr val="000000"/>
                          </a:solidFill>
                          <a:latin typeface="Times New Roman"/>
                        </a:rPr>
                        <a:t>    </a:t>
                      </a:r>
                      <a:r>
                        <a:rPr sz="1100" b="0" i="1">
                          <a:solidFill>
                            <a:srgbClr val="000000"/>
                          </a:solidFill>
                          <a:latin typeface="Calibri"/>
                        </a:rPr>
                        <a:t>U.S.</a:t>
                      </a:r>
                      <a:endParaRPr sz="1100"/>
                    </a:p>
                  </a:txBody>
                  <a:tcPr marL="1028700" marR="9525" marT="9525" marB="0" anchor="ctr"/>
                </a:tc>
              </a:tr>
              <a:tr h="175260">
                <a:tc>
                  <a:txBody>
                    <a:bodyPr wrap="square"/>
                    <a:lstStyle/>
                    <a:p>
                      <a:pPr algn="l"/>
                      <a:r>
                        <a:rPr sz="1100" b="0" i="1">
                          <a:solidFill>
                            <a:srgbClr val="000000"/>
                          </a:solidFill>
                          <a:latin typeface="Calibri"/>
                        </a:rPr>
                        <a:t>9.5.1.2.</a:t>
                      </a:r>
                      <a:r>
                        <a:rPr sz="700" b="0" i="1">
                          <a:solidFill>
                            <a:srgbClr val="000000"/>
                          </a:solidFill>
                          <a:latin typeface="Times New Roman"/>
                        </a:rPr>
                        <a:t>    </a:t>
                      </a:r>
                      <a:r>
                        <a:rPr sz="1100" b="0" i="1">
                          <a:solidFill>
                            <a:srgbClr val="000000"/>
                          </a:solidFill>
                          <a:latin typeface="Calibri"/>
                        </a:rPr>
                        <a:t>Canada</a:t>
                      </a:r>
                      <a:endParaRPr sz="1100"/>
                    </a:p>
                  </a:txBody>
                  <a:tcPr marL="1028700" marR="9525" marT="9525" marB="0" anchor="ctr"/>
                </a:tc>
              </a:tr>
              <a:tr h="175260">
                <a:tc>
                  <a:txBody>
                    <a:bodyPr wrap="square"/>
                    <a:lstStyle/>
                    <a:p>
                      <a:pPr algn="l"/>
                      <a:r>
                        <a:rPr sz="1100" b="0" i="0">
                          <a:solidFill>
                            <a:srgbClr val="000000"/>
                          </a:solidFill>
                          <a:latin typeface="Calibri"/>
                        </a:rPr>
                        <a:t>9.5.2.</a:t>
                      </a:r>
                      <a:r>
                        <a:rPr sz="700" b="0" i="0">
                          <a:solidFill>
                            <a:srgbClr val="000000"/>
                          </a:solidFill>
                          <a:latin typeface="Times New Roman"/>
                        </a:rPr>
                        <a:t>   </a:t>
                      </a:r>
                      <a:r>
                        <a:rPr sz="1100" b="0" i="0">
                          <a:solidFill>
                            <a:srgbClr val="000000"/>
                          </a:solidFill>
                          <a:latin typeface="Calibri"/>
                        </a:rPr>
                        <a:t>Latin America</a:t>
                      </a:r>
                      <a:endParaRPr sz="1100"/>
                    </a:p>
                  </a:txBody>
                  <a:tcPr marL="771525" marR="9525" marT="9525" marB="0" anchor="ctr"/>
                </a:tc>
              </a:tr>
              <a:tr h="175260">
                <a:tc>
                  <a:txBody>
                    <a:bodyPr wrap="square"/>
                    <a:lstStyle/>
                    <a:p>
                      <a:pPr algn="l"/>
                      <a:r>
                        <a:rPr sz="1100" b="0" i="1">
                          <a:solidFill>
                            <a:srgbClr val="000000"/>
                          </a:solidFill>
                          <a:latin typeface="Calibri"/>
                        </a:rPr>
                        <a:t>9.5.2.1.</a:t>
                      </a:r>
                      <a:r>
                        <a:rPr sz="700" b="0" i="1">
                          <a:solidFill>
                            <a:srgbClr val="000000"/>
                          </a:solidFill>
                          <a:latin typeface="Times New Roman"/>
                        </a:rPr>
                        <a:t>    </a:t>
                      </a:r>
                      <a:r>
                        <a:rPr sz="1100" b="0" i="1">
                          <a:solidFill>
                            <a:srgbClr val="000000"/>
                          </a:solidFill>
                          <a:latin typeface="Calibri"/>
                        </a:rPr>
                        <a:t>Brazil</a:t>
                      </a:r>
                      <a:endParaRPr sz="1100"/>
                    </a:p>
                  </a:txBody>
                  <a:tcPr marL="1028700" marR="9525" marT="9525" marB="0" anchor="ctr"/>
                </a:tc>
              </a:tr>
              <a:tr h="175260">
                <a:tc>
                  <a:txBody>
                    <a:bodyPr wrap="square"/>
                    <a:lstStyle/>
                    <a:p>
                      <a:pPr algn="l"/>
                      <a:r>
                        <a:rPr sz="1100" b="0" i="1">
                          <a:solidFill>
                            <a:srgbClr val="000000"/>
                          </a:solidFill>
                          <a:latin typeface="Calibri"/>
                        </a:rPr>
                        <a:t>9.5.2.2.</a:t>
                      </a:r>
                      <a:r>
                        <a:rPr sz="700" b="0" i="1">
                          <a:solidFill>
                            <a:srgbClr val="000000"/>
                          </a:solidFill>
                          <a:latin typeface="Times New Roman"/>
                        </a:rPr>
                        <a:t>    </a:t>
                      </a:r>
                      <a:r>
                        <a:rPr sz="1100" b="0" i="1">
                          <a:solidFill>
                            <a:srgbClr val="000000"/>
                          </a:solidFill>
                          <a:latin typeface="Calibri"/>
                        </a:rPr>
                        <a:t>Mexico</a:t>
                      </a:r>
                      <a:endParaRPr sz="1100"/>
                    </a:p>
                  </a:txBody>
                  <a:tcPr marL="1028700" marR="9525" marT="9525" marB="0" anchor="ctr"/>
                </a:tc>
              </a:tr>
              <a:tr h="175260">
                <a:tc>
                  <a:txBody>
                    <a:bodyPr wrap="square"/>
                    <a:lstStyle/>
                    <a:p>
                      <a:pPr algn="l"/>
                      <a:r>
                        <a:rPr sz="1100" b="0" i="1">
                          <a:solidFill>
                            <a:srgbClr val="000000"/>
                          </a:solidFill>
                          <a:latin typeface="Calibri"/>
                        </a:rPr>
                        <a:t>9.5.2.3.</a:t>
                      </a:r>
                      <a:r>
                        <a:rPr sz="700" b="0" i="1">
                          <a:solidFill>
                            <a:srgbClr val="000000"/>
                          </a:solidFill>
                          <a:latin typeface="Times New Roman"/>
                        </a:rPr>
                        <a:t>    </a:t>
                      </a:r>
                      <a:r>
                        <a:rPr sz="1100" b="0" i="1">
                          <a:solidFill>
                            <a:srgbClr val="000000"/>
                          </a:solidFill>
                          <a:latin typeface="Calibri"/>
                        </a:rPr>
                        <a:t>Rest of LATAM</a:t>
                      </a:r>
                      <a:endParaRPr sz="1100"/>
                    </a:p>
                  </a:txBody>
                  <a:tcPr marL="1028700" marR="9525" marT="9525" marB="0" anchor="ctr"/>
                </a:tc>
              </a:tr>
              <a:tr h="175260">
                <a:tc>
                  <a:txBody>
                    <a:bodyPr wrap="square"/>
                    <a:lstStyle/>
                    <a:p>
                      <a:pPr algn="l"/>
                      <a:r>
                        <a:rPr sz="1100" b="0" i="0">
                          <a:solidFill>
                            <a:srgbClr val="000000"/>
                          </a:solidFill>
                          <a:latin typeface="Calibri"/>
                        </a:rPr>
                        <a:t>9.5.3.</a:t>
                      </a:r>
                      <a:r>
                        <a:rPr sz="700" b="0" i="0">
                          <a:solidFill>
                            <a:srgbClr val="000000"/>
                          </a:solidFill>
                          <a:latin typeface="Times New Roman"/>
                        </a:rPr>
                        <a:t>   </a:t>
                      </a:r>
                      <a:r>
                        <a:rPr sz="1100" b="0" i="0">
                          <a:solidFill>
                            <a:srgbClr val="000000"/>
                          </a:solidFill>
                          <a:latin typeface="Calibri"/>
                        </a:rPr>
                        <a:t>East Asia</a:t>
                      </a:r>
                      <a:endParaRPr sz="1100"/>
                    </a:p>
                  </a:txBody>
                  <a:tcPr marL="771525" marR="9525" marT="9525" marB="0" anchor="ctr"/>
                </a:tc>
              </a:tr>
              <a:tr h="175260">
                <a:tc>
                  <a:txBody>
                    <a:bodyPr wrap="square"/>
                    <a:lstStyle/>
                    <a:p>
                      <a:pPr algn="l"/>
                      <a:r>
                        <a:rPr sz="1100" b="0" i="1">
                          <a:solidFill>
                            <a:srgbClr val="000000"/>
                          </a:solidFill>
                          <a:latin typeface="Calibri"/>
                        </a:rPr>
                        <a:t>9.5.3.1.</a:t>
                      </a:r>
                      <a:r>
                        <a:rPr sz="700" b="0" i="1">
                          <a:solidFill>
                            <a:srgbClr val="000000"/>
                          </a:solidFill>
                          <a:latin typeface="Times New Roman"/>
                        </a:rPr>
                        <a:t>    </a:t>
                      </a:r>
                      <a:r>
                        <a:rPr sz="1100" b="0" i="1">
                          <a:solidFill>
                            <a:srgbClr val="000000"/>
                          </a:solidFill>
                          <a:latin typeface="Calibri"/>
                        </a:rPr>
                        <a:t>China</a:t>
                      </a:r>
                      <a:endParaRPr sz="1100"/>
                    </a:p>
                  </a:txBody>
                  <a:tcPr marL="1028700" marR="9525" marT="9525" marB="0" anchor="ctr"/>
                </a:tc>
              </a:tr>
              <a:tr h="175260">
                <a:tc>
                  <a:txBody>
                    <a:bodyPr wrap="square"/>
                    <a:lstStyle/>
                    <a:p>
                      <a:pPr algn="l"/>
                      <a:r>
                        <a:rPr sz="1100" b="0" i="1">
                          <a:solidFill>
                            <a:srgbClr val="000000"/>
                          </a:solidFill>
                          <a:latin typeface="Calibri"/>
                        </a:rPr>
                        <a:t>9.5.3.2.</a:t>
                      </a:r>
                      <a:r>
                        <a:rPr sz="700" b="0" i="1">
                          <a:solidFill>
                            <a:srgbClr val="000000"/>
                          </a:solidFill>
                          <a:latin typeface="Times New Roman"/>
                        </a:rPr>
                        <a:t>    </a:t>
                      </a:r>
                      <a:r>
                        <a:rPr sz="1100" b="0" i="1">
                          <a:solidFill>
                            <a:srgbClr val="000000"/>
                          </a:solidFill>
                          <a:latin typeface="Calibri"/>
                        </a:rPr>
                        <a:t>Japan</a:t>
                      </a:r>
                      <a:endParaRPr sz="1100"/>
                    </a:p>
                  </a:txBody>
                  <a:tcPr marL="1028700" marR="9525" marT="9525" marB="0" anchor="ctr"/>
                </a:tc>
              </a:tr>
              <a:tr h="175260">
                <a:tc>
                  <a:txBody>
                    <a:bodyPr wrap="square"/>
                    <a:lstStyle/>
                    <a:p>
                      <a:pPr algn="l"/>
                      <a:r>
                        <a:rPr sz="1100" b="0" i="1">
                          <a:solidFill>
                            <a:srgbClr val="000000"/>
                          </a:solidFill>
                          <a:latin typeface="Calibri"/>
                        </a:rPr>
                        <a:t>9.5.3.3.</a:t>
                      </a:r>
                      <a:r>
                        <a:rPr sz="700" b="0" i="1">
                          <a:solidFill>
                            <a:srgbClr val="000000"/>
                          </a:solidFill>
                          <a:latin typeface="Times New Roman"/>
                        </a:rPr>
                        <a:t>    </a:t>
                      </a:r>
                      <a:r>
                        <a:rPr sz="1100" b="0" i="1">
                          <a:solidFill>
                            <a:srgbClr val="000000"/>
                          </a:solidFill>
                          <a:latin typeface="Calibri"/>
                        </a:rPr>
                        <a:t>S Korea</a:t>
                      </a:r>
                      <a:endParaRPr sz="1100"/>
                    </a:p>
                  </a:txBody>
                  <a:tcPr marL="1028700" marR="9525" marT="9525" marB="0" anchor="ctr"/>
                </a:tc>
              </a:tr>
              <a:tr h="175260">
                <a:tc>
                  <a:txBody>
                    <a:bodyPr wrap="square"/>
                    <a:lstStyle/>
                    <a:p>
                      <a:pPr algn="l"/>
                      <a:r>
                        <a:rPr sz="1100" b="0" i="0">
                          <a:solidFill>
                            <a:srgbClr val="000000"/>
                          </a:solidFill>
                          <a:latin typeface="Calibri"/>
                        </a:rPr>
                        <a:t>9.5.4.</a:t>
                      </a:r>
                      <a:r>
                        <a:rPr sz="700" b="0" i="0">
                          <a:solidFill>
                            <a:srgbClr val="000000"/>
                          </a:solidFill>
                          <a:latin typeface="Times New Roman"/>
                        </a:rPr>
                        <a:t>   </a:t>
                      </a:r>
                      <a:r>
                        <a:rPr sz="1100" b="0" i="0">
                          <a:solidFill>
                            <a:srgbClr val="000000"/>
                          </a:solidFill>
                          <a:latin typeface="Calibri"/>
                        </a:rPr>
                        <a:t>South Asia &amp; Pacific</a:t>
                      </a:r>
                      <a:endParaRPr sz="1100"/>
                    </a:p>
                  </a:txBody>
                  <a:tcPr marL="771525" marR="9525" marT="9525" marB="0" anchor="ctr"/>
                </a:tc>
              </a:tr>
              <a:tr h="175260">
                <a:tc>
                  <a:txBody>
                    <a:bodyPr wrap="square"/>
                    <a:lstStyle/>
                    <a:p>
                      <a:pPr algn="l"/>
                      <a:r>
                        <a:rPr sz="1100" b="0" i="1">
                          <a:solidFill>
                            <a:srgbClr val="000000"/>
                          </a:solidFill>
                          <a:latin typeface="Calibri"/>
                        </a:rPr>
                        <a:t>9.5.4.1.</a:t>
                      </a:r>
                      <a:r>
                        <a:rPr sz="700" b="0" i="1">
                          <a:solidFill>
                            <a:srgbClr val="000000"/>
                          </a:solidFill>
                          <a:latin typeface="Times New Roman"/>
                        </a:rPr>
                        <a:t>    </a:t>
                      </a:r>
                      <a:r>
                        <a:rPr sz="1100" b="0" i="1">
                          <a:solidFill>
                            <a:srgbClr val="000000"/>
                          </a:solidFill>
                          <a:latin typeface="Calibri"/>
                        </a:rPr>
                        <a:t>India</a:t>
                      </a:r>
                      <a:endParaRPr sz="1100"/>
                    </a:p>
                  </a:txBody>
                  <a:tcPr marL="1028700" marR="9525" marT="9525" marB="0" anchor="ctr"/>
                </a:tc>
              </a:tr>
              <a:tr h="175260">
                <a:tc>
                  <a:txBody>
                    <a:bodyPr wrap="square"/>
                    <a:lstStyle/>
                    <a:p>
                      <a:pPr algn="l"/>
                      <a:r>
                        <a:rPr sz="1100" b="0" i="1">
                          <a:solidFill>
                            <a:srgbClr val="000000"/>
                          </a:solidFill>
                          <a:latin typeface="Calibri"/>
                        </a:rPr>
                        <a:t>9.5.4.2.</a:t>
                      </a:r>
                      <a:r>
                        <a:rPr sz="700" b="0" i="1">
                          <a:solidFill>
                            <a:srgbClr val="000000"/>
                          </a:solidFill>
                          <a:latin typeface="Times New Roman"/>
                        </a:rPr>
                        <a:t>    </a:t>
                      </a:r>
                      <a:r>
                        <a:rPr sz="1100" b="0" i="1">
                          <a:solidFill>
                            <a:srgbClr val="000000"/>
                          </a:solidFill>
                          <a:latin typeface="Calibri"/>
                        </a:rPr>
                        <a:t>Thailand</a:t>
                      </a:r>
                      <a:endParaRPr sz="1100"/>
                    </a:p>
                  </a:txBody>
                  <a:tcPr marL="1028700" marR="9525" marT="9525" marB="0" anchor="ctr"/>
                </a:tc>
              </a:tr>
              <a:tr h="175260">
                <a:tc>
                  <a:txBody>
                    <a:bodyPr wrap="square"/>
                    <a:lstStyle/>
                    <a:p>
                      <a:pPr algn="l"/>
                      <a:r>
                        <a:rPr sz="1100" b="0" i="1">
                          <a:solidFill>
                            <a:srgbClr val="000000"/>
                          </a:solidFill>
                          <a:latin typeface="Calibri"/>
                        </a:rPr>
                        <a:t>9.5.4.3.</a:t>
                      </a:r>
                      <a:r>
                        <a:rPr sz="700" b="0" i="1">
                          <a:solidFill>
                            <a:srgbClr val="000000"/>
                          </a:solidFill>
                          <a:latin typeface="Times New Roman"/>
                        </a:rPr>
                        <a:t>    </a:t>
                      </a:r>
                      <a:r>
                        <a:rPr sz="1100" b="0" i="1">
                          <a:solidFill>
                            <a:srgbClr val="000000"/>
                          </a:solidFill>
                          <a:latin typeface="Calibri"/>
                        </a:rPr>
                        <a:t>Malaysia</a:t>
                      </a:r>
                      <a:endParaRPr sz="1100"/>
                    </a:p>
                  </a:txBody>
                  <a:tcPr marL="1028700" marR="9525" marT="9525" marB="0" anchor="ctr"/>
                </a:tc>
              </a:tr>
              <a:tr h="175260">
                <a:tc>
                  <a:txBody>
                    <a:bodyPr wrap="square"/>
                    <a:lstStyle/>
                    <a:p>
                      <a:pPr algn="l"/>
                      <a:r>
                        <a:rPr sz="1100" b="0" i="1">
                          <a:solidFill>
                            <a:srgbClr val="000000"/>
                          </a:solidFill>
                          <a:latin typeface="Calibri"/>
                        </a:rPr>
                        <a:t>9.5.4.4.</a:t>
                      </a:r>
                      <a:r>
                        <a:rPr sz="700" b="0" i="1">
                          <a:solidFill>
                            <a:srgbClr val="000000"/>
                          </a:solidFill>
                          <a:latin typeface="Times New Roman"/>
                        </a:rPr>
                        <a:t>    </a:t>
                      </a:r>
                      <a:r>
                        <a:rPr sz="1100" b="0" i="1">
                          <a:solidFill>
                            <a:srgbClr val="000000"/>
                          </a:solidFill>
                          <a:latin typeface="Calibri"/>
                        </a:rPr>
                        <a:t>Indonesia</a:t>
                      </a:r>
                      <a:endParaRPr sz="1100"/>
                    </a:p>
                  </a:txBody>
                  <a:tcPr marL="1028700" marR="9525" marT="9525" marB="0" anchor="ctr"/>
                </a:tc>
              </a:tr>
              <a:tr h="175260">
                <a:tc>
                  <a:txBody>
                    <a:bodyPr wrap="square"/>
                    <a:lstStyle/>
                    <a:p>
                      <a:pPr algn="l"/>
                      <a:r>
                        <a:rPr sz="1100" b="0" i="1">
                          <a:solidFill>
                            <a:srgbClr val="000000"/>
                          </a:solidFill>
                          <a:latin typeface="Calibri"/>
                        </a:rPr>
                        <a:t>9.5.4.5.</a:t>
                      </a:r>
                      <a:r>
                        <a:rPr sz="700" b="0" i="1">
                          <a:solidFill>
                            <a:srgbClr val="000000"/>
                          </a:solidFill>
                          <a:latin typeface="Times New Roman"/>
                        </a:rPr>
                        <a:t>    </a:t>
                      </a:r>
                      <a:r>
                        <a:rPr sz="1100" b="0" i="1">
                          <a:solidFill>
                            <a:srgbClr val="000000"/>
                          </a:solidFill>
                          <a:latin typeface="Calibri"/>
                        </a:rPr>
                        <a:t>Philippines</a:t>
                      </a:r>
                      <a:endParaRPr sz="1100"/>
                    </a:p>
                  </a:txBody>
                  <a:tcPr marL="1028700" marR="9525" marT="9525" marB="0" anchor="ctr"/>
                </a:tc>
              </a:tr>
              <a:tr h="175260">
                <a:tc>
                  <a:txBody>
                    <a:bodyPr wrap="square"/>
                    <a:lstStyle/>
                    <a:p>
                      <a:pPr algn="l"/>
                      <a:r>
                        <a:rPr sz="1100" b="0" i="1">
                          <a:solidFill>
                            <a:srgbClr val="000000"/>
                          </a:solidFill>
                          <a:latin typeface="Calibri"/>
                        </a:rPr>
                        <a:t>9.5.4.6.</a:t>
                      </a:r>
                      <a:r>
                        <a:rPr sz="700" b="0" i="1">
                          <a:solidFill>
                            <a:srgbClr val="000000"/>
                          </a:solidFill>
                          <a:latin typeface="Times New Roman"/>
                        </a:rPr>
                        <a:t>    </a:t>
                      </a:r>
                      <a:r>
                        <a:rPr sz="1100" b="0" i="1">
                          <a:solidFill>
                            <a:srgbClr val="000000"/>
                          </a:solidFill>
                          <a:latin typeface="Calibri"/>
                        </a:rPr>
                        <a:t>Singapore</a:t>
                      </a:r>
                      <a:endParaRPr sz="1100"/>
                    </a:p>
                  </a:txBody>
                  <a:tcPr marL="1028700" marR="9525" marT="9525" marB="0" anchor="ctr"/>
                </a:tc>
              </a:tr>
              <a:tr h="175260">
                <a:tc>
                  <a:txBody>
                    <a:bodyPr wrap="square"/>
                    <a:lstStyle/>
                    <a:p>
                      <a:pPr algn="l"/>
                      <a:r>
                        <a:rPr sz="1100" b="0" i="1">
                          <a:solidFill>
                            <a:srgbClr val="000000"/>
                          </a:solidFill>
                          <a:latin typeface="Calibri"/>
                        </a:rPr>
                        <a:t>9.5.4.7.</a:t>
                      </a:r>
                      <a:r>
                        <a:rPr sz="700" b="0" i="1">
                          <a:solidFill>
                            <a:srgbClr val="000000"/>
                          </a:solidFill>
                          <a:latin typeface="Times New Roman"/>
                        </a:rPr>
                        <a:t>    </a:t>
                      </a:r>
                      <a:r>
                        <a:rPr sz="1100" b="0" i="1">
                          <a:solidFill>
                            <a:srgbClr val="000000"/>
                          </a:solidFill>
                          <a:latin typeface="Calibri"/>
                        </a:rPr>
                        <a:t>Australia</a:t>
                      </a:r>
                      <a:endParaRPr sz="1100"/>
                    </a:p>
                  </a:txBody>
                  <a:tcPr marL="1028700" marR="9525" marT="9525" marB="0" anchor="ctr"/>
                </a:tc>
              </a:tr>
              <a:tr h="175260">
                <a:tc>
                  <a:txBody>
                    <a:bodyPr wrap="square"/>
                    <a:lstStyle/>
                    <a:p>
                      <a:pPr algn="l"/>
                      <a:r>
                        <a:rPr sz="1100" b="0" i="1">
                          <a:solidFill>
                            <a:srgbClr val="000000"/>
                          </a:solidFill>
                          <a:latin typeface="Calibri"/>
                        </a:rPr>
                        <a:t>9.5.4.8.</a:t>
                      </a:r>
                      <a:r>
                        <a:rPr sz="700" b="0" i="1">
                          <a:solidFill>
                            <a:srgbClr val="000000"/>
                          </a:solidFill>
                          <a:latin typeface="Times New Roman"/>
                        </a:rPr>
                        <a:t>    </a:t>
                      </a:r>
                      <a:r>
                        <a:rPr sz="1100" b="0" i="1">
                          <a:solidFill>
                            <a:srgbClr val="000000"/>
                          </a:solidFill>
                          <a:latin typeface="Calibri"/>
                        </a:rPr>
                        <a:t>New Zealand</a:t>
                      </a:r>
                      <a:endParaRPr sz="1100"/>
                    </a:p>
                  </a:txBody>
                  <a:tcPr marL="1028700" marR="9525" marT="9525" marB="0" anchor="ctr"/>
                </a:tc>
              </a:tr>
              <a:tr h="175260">
                <a:tc>
                  <a:txBody>
                    <a:bodyPr wrap="square"/>
                    <a:lstStyle/>
                    <a:p>
                      <a:pPr algn="l"/>
                      <a:r>
                        <a:rPr sz="1100" b="0" i="1">
                          <a:solidFill>
                            <a:srgbClr val="000000"/>
                          </a:solidFill>
                          <a:latin typeface="Calibri"/>
                        </a:rPr>
                        <a:t>9.5.4.9.</a:t>
                      </a:r>
                      <a:r>
                        <a:rPr sz="700" b="0" i="1">
                          <a:solidFill>
                            <a:srgbClr val="000000"/>
                          </a:solidFill>
                          <a:latin typeface="Times New Roman"/>
                        </a:rPr>
                        <a:t>    </a:t>
                      </a:r>
                      <a:r>
                        <a:rPr sz="1100" b="0" i="1">
                          <a:solidFill>
                            <a:srgbClr val="000000"/>
                          </a:solidFill>
                          <a:latin typeface="Calibri"/>
                        </a:rPr>
                        <a:t>Rest of South Asia &amp; Pacific</a:t>
                      </a:r>
                      <a:endParaRPr sz="1100"/>
                    </a:p>
                  </a:txBody>
                  <a:tcPr marL="1028700" marR="9525" marT="9525" marB="0" anchor="ctr"/>
                </a:tc>
              </a:tr>
              <a:tr h="175260">
                <a:tc>
                  <a:txBody>
                    <a:bodyPr wrap="square"/>
                    <a:lstStyle/>
                    <a:p>
                      <a:pPr algn="l"/>
                      <a:r>
                        <a:rPr sz="1100" b="0" i="0">
                          <a:solidFill>
                            <a:srgbClr val="000000"/>
                          </a:solidFill>
                          <a:latin typeface="Calibri"/>
                        </a:rPr>
                        <a:t>9.5.5.</a:t>
                      </a:r>
                      <a:r>
                        <a:rPr sz="700" b="0" i="0">
                          <a:solidFill>
                            <a:srgbClr val="000000"/>
                          </a:solidFill>
                          <a:latin typeface="Times New Roman"/>
                        </a:rPr>
                        <a:t>   </a:t>
                      </a:r>
                      <a:r>
                        <a:rPr sz="1100" b="0" i="0">
                          <a:solidFill>
                            <a:srgbClr val="000000"/>
                          </a:solidFill>
                          <a:latin typeface="Calibri"/>
                        </a:rPr>
                        <a:t>Europe</a:t>
                      </a:r>
                      <a:endParaRPr sz="1100"/>
                    </a:p>
                  </a:txBody>
                  <a:tcPr marL="771525" marR="9525" marT="9525" marB="0" anchor="ctr"/>
                </a:tc>
              </a:tr>
              <a:tr h="175260">
                <a:tc>
                  <a:txBody>
                    <a:bodyPr wrap="square"/>
                    <a:lstStyle/>
                    <a:p>
                      <a:pPr algn="l"/>
                      <a:r>
                        <a:rPr sz="1100" b="0" i="1">
                          <a:solidFill>
                            <a:srgbClr val="000000"/>
                          </a:solidFill>
                          <a:latin typeface="Calibri"/>
                        </a:rPr>
                        <a:t>9.5.5.1.</a:t>
                      </a:r>
                      <a:r>
                        <a:rPr sz="700" b="0" i="1">
                          <a:solidFill>
                            <a:srgbClr val="000000"/>
                          </a:solidFill>
                          <a:latin typeface="Times New Roman"/>
                        </a:rPr>
                        <a:t>    </a:t>
                      </a:r>
                      <a:r>
                        <a:rPr sz="1100" b="0" i="1">
                          <a:solidFill>
                            <a:srgbClr val="000000"/>
                          </a:solidFill>
                          <a:latin typeface="Calibri"/>
                        </a:rPr>
                        <a:t>Germany</a:t>
                      </a:r>
                      <a:endParaRPr sz="1100"/>
                    </a:p>
                  </a:txBody>
                  <a:tcPr marL="1028700" marR="9525" marT="9525" marB="0" anchor="ctr"/>
                </a:tc>
              </a:tr>
              <a:tr h="175260">
                <a:tc>
                  <a:txBody>
                    <a:bodyPr wrap="square"/>
                    <a:lstStyle/>
                    <a:p>
                      <a:pPr algn="l"/>
                      <a:r>
                        <a:rPr sz="1100" b="0" i="1">
                          <a:solidFill>
                            <a:srgbClr val="000000"/>
                          </a:solidFill>
                          <a:latin typeface="Calibri"/>
                        </a:rPr>
                        <a:t>9.5.5.2.</a:t>
                      </a:r>
                      <a:r>
                        <a:rPr sz="700" b="0" i="1">
                          <a:solidFill>
                            <a:srgbClr val="000000"/>
                          </a:solidFill>
                          <a:latin typeface="Times New Roman"/>
                        </a:rPr>
                        <a:t>    </a:t>
                      </a:r>
                      <a:r>
                        <a:rPr sz="1100" b="0" i="1">
                          <a:solidFill>
                            <a:srgbClr val="000000"/>
                          </a:solidFill>
                          <a:latin typeface="Calibri"/>
                        </a:rPr>
                        <a:t>U.K.</a:t>
                      </a:r>
                      <a:endParaRPr sz="1100"/>
                    </a:p>
                  </a:txBody>
                  <a:tcPr marL="1028700" marR="9525" marT="9525" marB="0" anchor="ctr"/>
                </a:tc>
              </a:tr>
              <a:tr h="175260">
                <a:tc>
                  <a:txBody>
                    <a:bodyPr wrap="square"/>
                    <a:lstStyle/>
                    <a:p>
                      <a:pPr algn="l"/>
                      <a:r>
                        <a:rPr sz="1100" b="0" i="1">
                          <a:solidFill>
                            <a:srgbClr val="000000"/>
                          </a:solidFill>
                          <a:latin typeface="Calibri"/>
                        </a:rPr>
                        <a:t>9.5.5.3.</a:t>
                      </a:r>
                      <a:r>
                        <a:rPr sz="700" b="0" i="1">
                          <a:solidFill>
                            <a:srgbClr val="000000"/>
                          </a:solidFill>
                          <a:latin typeface="Times New Roman"/>
                        </a:rPr>
                        <a:t>    </a:t>
                      </a:r>
                      <a:r>
                        <a:rPr sz="1100" b="0" i="1">
                          <a:solidFill>
                            <a:srgbClr val="000000"/>
                          </a:solidFill>
                          <a:latin typeface="Calibri"/>
                        </a:rPr>
                        <a:t>France</a:t>
                      </a:r>
                      <a:endParaRPr sz="1100"/>
                    </a:p>
                  </a:txBody>
                  <a:tcPr marL="1028700" marR="9525" marT="9525" marB="0" anchor="ctr"/>
                </a:tc>
              </a:tr>
              <a:tr h="175260">
                <a:tc>
                  <a:txBody>
                    <a:bodyPr wrap="square"/>
                    <a:lstStyle/>
                    <a:p>
                      <a:pPr algn="l"/>
                      <a:r>
                        <a:rPr sz="1100" b="0" i="1">
                          <a:solidFill>
                            <a:srgbClr val="000000"/>
                          </a:solidFill>
                          <a:latin typeface="Calibri"/>
                        </a:rPr>
                        <a:t>9.5.5.4.</a:t>
                      </a:r>
                      <a:r>
                        <a:rPr sz="700" b="0" i="1">
                          <a:solidFill>
                            <a:srgbClr val="000000"/>
                          </a:solidFill>
                          <a:latin typeface="Times New Roman"/>
                        </a:rPr>
                        <a:t>    </a:t>
                      </a:r>
                      <a:r>
                        <a:rPr sz="1100" b="0" i="1">
                          <a:solidFill>
                            <a:srgbClr val="000000"/>
                          </a:solidFill>
                          <a:latin typeface="Calibri"/>
                        </a:rPr>
                        <a:t>Italy</a:t>
                      </a:r>
                      <a:endParaRPr sz="1100"/>
                    </a:p>
                  </a:txBody>
                  <a:tcPr marL="1028700" marR="9525" marT="9525" marB="0" anchor="ctr"/>
                </a:tc>
              </a:tr>
              <a:tr h="175260">
                <a:tc>
                  <a:txBody>
                    <a:bodyPr wrap="square"/>
                    <a:lstStyle/>
                    <a:p>
                      <a:pPr algn="l"/>
                      <a:r>
                        <a:rPr sz="1100" b="0" i="1">
                          <a:solidFill>
                            <a:srgbClr val="000000"/>
                          </a:solidFill>
                          <a:latin typeface="Calibri"/>
                        </a:rPr>
                        <a:t>9.5.5.5.</a:t>
                      </a:r>
                      <a:r>
                        <a:rPr sz="700" b="0" i="1">
                          <a:solidFill>
                            <a:srgbClr val="000000"/>
                          </a:solidFill>
                          <a:latin typeface="Times New Roman"/>
                        </a:rPr>
                        <a:t>    </a:t>
                      </a:r>
                      <a:r>
                        <a:rPr sz="1100" b="0" i="1">
                          <a:solidFill>
                            <a:srgbClr val="000000"/>
                          </a:solidFill>
                          <a:latin typeface="Calibri"/>
                        </a:rPr>
                        <a:t>Spain</a:t>
                      </a:r>
                      <a:endParaRPr sz="1100"/>
                    </a:p>
                  </a:txBody>
                  <a:tcPr marL="1028700" marR="9525" marT="9525" marB="0" anchor="ctr"/>
                </a:tc>
              </a:tr>
              <a:tr h="175260">
                <a:tc>
                  <a:txBody>
                    <a:bodyPr wrap="square"/>
                    <a:lstStyle/>
                    <a:p>
                      <a:pPr algn="l"/>
                      <a:r>
                        <a:rPr sz="1100" b="0" i="1">
                          <a:solidFill>
                            <a:srgbClr val="000000"/>
                          </a:solidFill>
                          <a:latin typeface="Calibri"/>
                        </a:rPr>
                        <a:t>9.5.5.6.</a:t>
                      </a:r>
                      <a:r>
                        <a:rPr sz="700" b="0" i="1">
                          <a:solidFill>
                            <a:srgbClr val="000000"/>
                          </a:solidFill>
                          <a:latin typeface="Times New Roman"/>
                        </a:rPr>
                        <a:t>    </a:t>
                      </a:r>
                      <a:r>
                        <a:rPr sz="1100" b="0" i="1">
                          <a:solidFill>
                            <a:srgbClr val="000000"/>
                          </a:solidFill>
                          <a:latin typeface="Calibri"/>
                        </a:rPr>
                        <a:t>Belgium</a:t>
                      </a:r>
                      <a:endParaRPr sz="1100"/>
                    </a:p>
                  </a:txBody>
                  <a:tcPr marL="1028700" marR="9525" marT="9525" marB="0" anchor="ctr"/>
                </a:tc>
              </a:tr>
              <a:tr h="175260">
                <a:tc>
                  <a:txBody>
                    <a:bodyPr wrap="square"/>
                    <a:lstStyle/>
                    <a:p>
                      <a:pPr algn="l"/>
                      <a:r>
                        <a:rPr sz="1100" b="0" i="1">
                          <a:solidFill>
                            <a:srgbClr val="000000"/>
                          </a:solidFill>
                          <a:latin typeface="Calibri"/>
                        </a:rPr>
                        <a:t>9.5.5.7.</a:t>
                      </a:r>
                      <a:r>
                        <a:rPr sz="700" b="0" i="1">
                          <a:solidFill>
                            <a:srgbClr val="000000"/>
                          </a:solidFill>
                          <a:latin typeface="Times New Roman"/>
                        </a:rPr>
                        <a:t>    </a:t>
                      </a:r>
                      <a:r>
                        <a:rPr sz="1100" b="0" i="1">
                          <a:solidFill>
                            <a:srgbClr val="000000"/>
                          </a:solidFill>
                          <a:latin typeface="Calibri"/>
                        </a:rPr>
                        <a:t>Netherlands</a:t>
                      </a:r>
                      <a:endParaRPr sz="1100"/>
                    </a:p>
                  </a:txBody>
                  <a:tcPr marL="1028700" marR="9525" marT="9525" marB="0" anchor="ctr"/>
                </a:tc>
              </a:tr>
              <a:tr h="175260">
                <a:tc>
                  <a:txBody>
                    <a:bodyPr wrap="square"/>
                    <a:lstStyle/>
                    <a:p>
                      <a:pPr algn="l"/>
                      <a:r>
                        <a:rPr sz="1100" b="0" i="1">
                          <a:solidFill>
                            <a:srgbClr val="000000"/>
                          </a:solidFill>
                          <a:latin typeface="Calibri"/>
                        </a:rPr>
                        <a:t>9.5.5.8.</a:t>
                      </a:r>
                      <a:r>
                        <a:rPr sz="700" b="0" i="1">
                          <a:solidFill>
                            <a:srgbClr val="000000"/>
                          </a:solidFill>
                          <a:latin typeface="Times New Roman"/>
                        </a:rPr>
                        <a:t>    </a:t>
                      </a:r>
                      <a:r>
                        <a:rPr sz="1100" b="0" i="1">
                          <a:solidFill>
                            <a:srgbClr val="000000"/>
                          </a:solidFill>
                          <a:latin typeface="Calibri"/>
                        </a:rPr>
                        <a:t>Nordic</a:t>
                      </a:r>
                      <a:endParaRPr sz="1100"/>
                    </a:p>
                  </a:txBody>
                  <a:tcPr marL="1028700"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(3/6)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9.5.5.9.</a:t>
                      </a:r>
                      <a:r>
                        <a:rPr sz="700" b="0" i="1">
                          <a:solidFill>
                            <a:srgbClr val="000000"/>
                          </a:solidFill>
                          <a:latin typeface="Times New Roman"/>
                        </a:rPr>
                        <a:t>    </a:t>
                      </a:r>
                      <a:r>
                        <a:rPr sz="1100" b="0" i="1">
                          <a:solidFill>
                            <a:srgbClr val="000000"/>
                          </a:solidFill>
                          <a:latin typeface="Calibri"/>
                        </a:rPr>
                        <a:t>Russia</a:t>
                      </a:r>
                      <a:endParaRPr sz="1100"/>
                    </a:p>
                  </a:txBody>
                  <a:tcPr marL="1028700" marR="9525" marT="9525" marB="0" anchor="ctr"/>
                </a:tc>
              </a:tr>
              <a:tr h="175260">
                <a:tc>
                  <a:txBody>
                    <a:bodyPr wrap="square"/>
                    <a:lstStyle/>
                    <a:p>
                      <a:pPr algn="l"/>
                      <a:r>
                        <a:rPr sz="1100" b="0" i="1">
                          <a:solidFill>
                            <a:srgbClr val="000000"/>
                          </a:solidFill>
                          <a:latin typeface="Calibri"/>
                        </a:rPr>
                        <a:t>9.5.5.10.</a:t>
                      </a:r>
                      <a:r>
                        <a:rPr sz="700" b="0" i="1">
                          <a:solidFill>
                            <a:srgbClr val="000000"/>
                          </a:solidFill>
                          <a:latin typeface="Times New Roman"/>
                        </a:rPr>
                        <a:t> </a:t>
                      </a:r>
                      <a:r>
                        <a:rPr sz="1100" b="0" i="1">
                          <a:solidFill>
                            <a:srgbClr val="000000"/>
                          </a:solidFill>
                          <a:latin typeface="Calibri"/>
                        </a:rPr>
                        <a:t>Poland</a:t>
                      </a:r>
                      <a:endParaRPr sz="1100"/>
                    </a:p>
                  </a:txBody>
                  <a:tcPr marL="1028700" marR="9525" marT="9525" marB="0" anchor="ctr"/>
                </a:tc>
              </a:tr>
              <a:tr h="175260">
                <a:tc>
                  <a:txBody>
                    <a:bodyPr wrap="square"/>
                    <a:lstStyle/>
                    <a:p>
                      <a:pPr algn="l"/>
                      <a:r>
                        <a:rPr sz="1100" b="0" i="1">
                          <a:solidFill>
                            <a:srgbClr val="000000"/>
                          </a:solidFill>
                          <a:latin typeface="Calibri"/>
                        </a:rPr>
                        <a:t>9.5.5.11.</a:t>
                      </a:r>
                      <a:r>
                        <a:rPr sz="700" b="0" i="1">
                          <a:solidFill>
                            <a:srgbClr val="000000"/>
                          </a:solidFill>
                          <a:latin typeface="Times New Roman"/>
                        </a:rPr>
                        <a:t> </a:t>
                      </a:r>
                      <a:r>
                        <a:rPr sz="1100" b="0" i="1">
                          <a:solidFill>
                            <a:srgbClr val="000000"/>
                          </a:solidFill>
                          <a:latin typeface="Calibri"/>
                        </a:rPr>
                        <a:t>Switzerland</a:t>
                      </a:r>
                      <a:endParaRPr sz="1100"/>
                    </a:p>
                  </a:txBody>
                  <a:tcPr marL="1028700" marR="9525" marT="9525" marB="0" anchor="ctr"/>
                </a:tc>
              </a:tr>
              <a:tr h="175260">
                <a:tc>
                  <a:txBody>
                    <a:bodyPr wrap="square"/>
                    <a:lstStyle/>
                    <a:p>
                      <a:pPr algn="l"/>
                      <a:r>
                        <a:rPr sz="1100" b="0" i="1">
                          <a:solidFill>
                            <a:srgbClr val="000000"/>
                          </a:solidFill>
                          <a:latin typeface="Calibri"/>
                        </a:rPr>
                        <a:t>9.5.5.12.</a:t>
                      </a:r>
                      <a:r>
                        <a:rPr sz="700" b="0" i="1">
                          <a:solidFill>
                            <a:srgbClr val="000000"/>
                          </a:solidFill>
                          <a:latin typeface="Times New Roman"/>
                        </a:rPr>
                        <a:t> </a:t>
                      </a:r>
                      <a:r>
                        <a:rPr sz="1100" b="0" i="1">
                          <a:solidFill>
                            <a:srgbClr val="000000"/>
                          </a:solidFill>
                          <a:latin typeface="Calibri"/>
                        </a:rPr>
                        <a:t>Rest of Europe</a:t>
                      </a:r>
                      <a:endParaRPr sz="1100"/>
                    </a:p>
                  </a:txBody>
                  <a:tcPr marL="1028700" marR="9525" marT="9525" marB="0" anchor="ctr"/>
                </a:tc>
              </a:tr>
              <a:tr h="175260">
                <a:tc>
                  <a:txBody>
                    <a:bodyPr wrap="square"/>
                    <a:lstStyle/>
                    <a:p>
                      <a:pPr algn="l"/>
                      <a:r>
                        <a:rPr sz="1100" b="0" i="0">
                          <a:solidFill>
                            <a:srgbClr val="000000"/>
                          </a:solidFill>
                          <a:latin typeface="Calibri"/>
                        </a:rPr>
                        <a:t>9.5.6.</a:t>
                      </a:r>
                      <a:r>
                        <a:rPr sz="700" b="0" i="0">
                          <a:solidFill>
                            <a:srgbClr val="000000"/>
                          </a:solidFill>
                          <a:latin typeface="Times New Roman"/>
                        </a:rPr>
                        <a:t>   </a:t>
                      </a:r>
                      <a:r>
                        <a:rPr sz="1100" b="0" i="0">
                          <a:solidFill>
                            <a:srgbClr val="000000"/>
                          </a:solidFill>
                          <a:latin typeface="Calibri"/>
                        </a:rPr>
                        <a:t>Middle East &amp; Africa</a:t>
                      </a:r>
                      <a:endParaRPr sz="1100"/>
                    </a:p>
                  </a:txBody>
                  <a:tcPr marL="771525" marR="9525" marT="9525" marB="0" anchor="ctr"/>
                </a:tc>
              </a:tr>
              <a:tr h="175260">
                <a:tc>
                  <a:txBody>
                    <a:bodyPr wrap="square"/>
                    <a:lstStyle/>
                    <a:p>
                      <a:pPr algn="l"/>
                      <a:r>
                        <a:rPr sz="1100" b="0" i="1">
                          <a:solidFill>
                            <a:srgbClr val="000000"/>
                          </a:solidFill>
                          <a:latin typeface="Calibri"/>
                        </a:rPr>
                        <a:t>9.5.6.1.</a:t>
                      </a:r>
                      <a:r>
                        <a:rPr sz="700" b="0" i="1">
                          <a:solidFill>
                            <a:srgbClr val="000000"/>
                          </a:solidFill>
                          <a:latin typeface="Times New Roman"/>
                        </a:rPr>
                        <a:t>    </a:t>
                      </a:r>
                      <a:r>
                        <a:rPr sz="1100" b="0" i="1">
                          <a:solidFill>
                            <a:srgbClr val="000000"/>
                          </a:solidFill>
                          <a:latin typeface="Calibri"/>
                        </a:rPr>
                        <a:t>UAE</a:t>
                      </a:r>
                      <a:endParaRPr sz="1100"/>
                    </a:p>
                  </a:txBody>
                  <a:tcPr marL="1028700" marR="9525" marT="9525" marB="0" anchor="ctr"/>
                </a:tc>
              </a:tr>
              <a:tr h="175260">
                <a:tc>
                  <a:txBody>
                    <a:bodyPr wrap="square"/>
                    <a:lstStyle/>
                    <a:p>
                      <a:pPr algn="l"/>
                      <a:r>
                        <a:rPr sz="1100" b="0" i="1">
                          <a:solidFill>
                            <a:srgbClr val="000000"/>
                          </a:solidFill>
                          <a:latin typeface="Calibri"/>
                        </a:rPr>
                        <a:t>9.5.6.2.</a:t>
                      </a:r>
                      <a:r>
                        <a:rPr sz="700" b="0" i="1">
                          <a:solidFill>
                            <a:srgbClr val="000000"/>
                          </a:solidFill>
                          <a:latin typeface="Times New Roman"/>
                        </a:rPr>
                        <a:t>    </a:t>
                      </a:r>
                      <a:r>
                        <a:rPr sz="1100" b="0" i="1">
                          <a:solidFill>
                            <a:srgbClr val="000000"/>
                          </a:solidFill>
                          <a:latin typeface="Calibri"/>
                        </a:rPr>
                        <a:t>Saudi Arabia</a:t>
                      </a:r>
                      <a:endParaRPr sz="1100"/>
                    </a:p>
                  </a:txBody>
                  <a:tcPr marL="1028700" marR="9525" marT="9525" marB="0" anchor="ctr"/>
                </a:tc>
              </a:tr>
              <a:tr h="175260">
                <a:tc>
                  <a:txBody>
                    <a:bodyPr wrap="square"/>
                    <a:lstStyle/>
                    <a:p>
                      <a:pPr algn="l"/>
                      <a:r>
                        <a:rPr sz="1100" b="0" i="1">
                          <a:solidFill>
                            <a:srgbClr val="000000"/>
                          </a:solidFill>
                          <a:latin typeface="Calibri"/>
                        </a:rPr>
                        <a:t>9.5.6.3.</a:t>
                      </a:r>
                      <a:r>
                        <a:rPr sz="700" b="0" i="1">
                          <a:solidFill>
                            <a:srgbClr val="000000"/>
                          </a:solidFill>
                          <a:latin typeface="Times New Roman"/>
                        </a:rPr>
                        <a:t>    </a:t>
                      </a:r>
                      <a:r>
                        <a:rPr sz="1100" b="0" i="1">
                          <a:solidFill>
                            <a:srgbClr val="000000"/>
                          </a:solidFill>
                          <a:latin typeface="Calibri"/>
                        </a:rPr>
                        <a:t>Turkey</a:t>
                      </a:r>
                      <a:endParaRPr sz="1100"/>
                    </a:p>
                  </a:txBody>
                  <a:tcPr marL="1028700" marR="9525" marT="9525" marB="0" anchor="ctr"/>
                </a:tc>
              </a:tr>
              <a:tr h="175260">
                <a:tc>
                  <a:txBody>
                    <a:bodyPr wrap="square"/>
                    <a:lstStyle/>
                    <a:p>
                      <a:pPr algn="l"/>
                      <a:r>
                        <a:rPr sz="1100" b="0" i="1">
                          <a:solidFill>
                            <a:srgbClr val="000000"/>
                          </a:solidFill>
                          <a:latin typeface="Calibri"/>
                        </a:rPr>
                        <a:t>9.5.6.4.</a:t>
                      </a:r>
                      <a:r>
                        <a:rPr sz="700" b="0" i="1">
                          <a:solidFill>
                            <a:srgbClr val="000000"/>
                          </a:solidFill>
                          <a:latin typeface="Times New Roman"/>
                        </a:rPr>
                        <a:t>    </a:t>
                      </a:r>
                      <a:r>
                        <a:rPr sz="1100" b="0" i="1">
                          <a:solidFill>
                            <a:srgbClr val="000000"/>
                          </a:solidFill>
                          <a:latin typeface="Calibri"/>
                        </a:rPr>
                        <a:t>Israel</a:t>
                      </a:r>
                      <a:endParaRPr sz="1100"/>
                    </a:p>
                  </a:txBody>
                  <a:tcPr marL="1028700" marR="9525" marT="9525" marB="0" anchor="ctr"/>
                </a:tc>
              </a:tr>
              <a:tr h="175260">
                <a:tc>
                  <a:txBody>
                    <a:bodyPr wrap="square"/>
                    <a:lstStyle/>
                    <a:p>
                      <a:pPr algn="l"/>
                      <a:r>
                        <a:rPr sz="1100" b="0" i="1">
                          <a:solidFill>
                            <a:srgbClr val="000000"/>
                          </a:solidFill>
                          <a:latin typeface="Calibri"/>
                        </a:rPr>
                        <a:t>9.5.6.5.</a:t>
                      </a:r>
                      <a:r>
                        <a:rPr sz="700" b="0" i="1">
                          <a:solidFill>
                            <a:srgbClr val="000000"/>
                          </a:solidFill>
                          <a:latin typeface="Times New Roman"/>
                        </a:rPr>
                        <a:t>    </a:t>
                      </a:r>
                      <a:r>
                        <a:rPr sz="1100" b="0" i="1">
                          <a:solidFill>
                            <a:srgbClr val="000000"/>
                          </a:solidFill>
                          <a:latin typeface="Calibri"/>
                        </a:rPr>
                        <a:t>Rest of GCC</a:t>
                      </a:r>
                      <a:endParaRPr sz="1100"/>
                    </a:p>
                  </a:txBody>
                  <a:tcPr marL="1028700" marR="9525" marT="9525" marB="0" anchor="ctr"/>
                </a:tc>
              </a:tr>
              <a:tr h="175260">
                <a:tc>
                  <a:txBody>
                    <a:bodyPr wrap="square"/>
                    <a:lstStyle/>
                    <a:p>
                      <a:pPr algn="l"/>
                      <a:r>
                        <a:rPr sz="1100" b="0" i="1">
                          <a:solidFill>
                            <a:srgbClr val="000000"/>
                          </a:solidFill>
                          <a:latin typeface="Calibri"/>
                        </a:rPr>
                        <a:t>9.5.6.6.</a:t>
                      </a:r>
                      <a:r>
                        <a:rPr sz="700" b="0" i="1">
                          <a:solidFill>
                            <a:srgbClr val="000000"/>
                          </a:solidFill>
                          <a:latin typeface="Times New Roman"/>
                        </a:rPr>
                        <a:t>    </a:t>
                      </a:r>
                      <a:r>
                        <a:rPr sz="1100" b="0" i="1">
                          <a:solidFill>
                            <a:srgbClr val="000000"/>
                          </a:solidFill>
                          <a:latin typeface="Calibri"/>
                        </a:rPr>
                        <a:t>South Africa</a:t>
                      </a:r>
                      <a:endParaRPr sz="1100"/>
                    </a:p>
                  </a:txBody>
                  <a:tcPr marL="1028700" marR="9525" marT="9525" marB="0" anchor="ctr"/>
                </a:tc>
              </a:tr>
              <a:tr h="175260">
                <a:tc>
                  <a:txBody>
                    <a:bodyPr wrap="square"/>
                    <a:lstStyle/>
                    <a:p>
                      <a:pPr algn="l"/>
                      <a:r>
                        <a:rPr sz="1100" b="0" i="1">
                          <a:solidFill>
                            <a:srgbClr val="000000"/>
                          </a:solidFill>
                          <a:latin typeface="Calibri"/>
                        </a:rPr>
                        <a:t>9.5.6.7.</a:t>
                      </a:r>
                      <a:r>
                        <a:rPr sz="700" b="0" i="1">
                          <a:solidFill>
                            <a:srgbClr val="000000"/>
                          </a:solidFill>
                          <a:latin typeface="Times New Roman"/>
                        </a:rPr>
                        <a:t>    </a:t>
                      </a:r>
                      <a:r>
                        <a:rPr sz="1100" b="0" i="1">
                          <a:solidFill>
                            <a:srgbClr val="000000"/>
                          </a:solidFill>
                          <a:latin typeface="Calibri"/>
                        </a:rPr>
                        <a:t>Rest of MEA</a:t>
                      </a:r>
                      <a:endParaRPr sz="1100"/>
                    </a:p>
                  </a:txBody>
                  <a:tcPr marL="1028700" marR="9525" marT="9525" marB="0" anchor="ctr"/>
                </a:tc>
              </a:tr>
              <a:tr h="175260">
                <a:tc>
                  <a:txBody>
                    <a:bodyPr wrap="square"/>
                    <a:lstStyle/>
                    <a:p>
                      <a:pPr algn="l"/>
                      <a:r>
                        <a:rPr sz="1100" b="0" i="1">
                          <a:solidFill>
                            <a:srgbClr val="EE0000"/>
                          </a:solidFill>
                          <a:latin typeface="Calibri"/>
                        </a:rPr>
                        <a:t>Note: Value &amp; Volume (US$ Mn / Units) for all segments will be provided for each region/ Country</a:t>
                      </a:r>
                      <a:endParaRPr sz="1100"/>
                    </a:p>
                  </a:txBody>
                  <a:tcPr marL="9525" marR="9525" marT="9525" marB="0" anchor="ctr"/>
                </a:tc>
              </a:tr>
              <a:tr h="175260">
                <a:tc>
                  <a:txBody>
                    <a:bodyPr wrap="square"/>
                    <a:lstStyle/>
                    <a:p>
                      <a:pPr algn="l"/>
                      <a:r>
                        <a:rPr sz="1100" b="1" i="0">
                          <a:solidFill>
                            <a:srgbClr val="000000"/>
                          </a:solidFill>
                          <a:latin typeface="Calibri"/>
                        </a:rPr>
                        <a:t>10.</a:t>
                      </a:r>
                      <a:r>
                        <a:rPr sz="700" b="1" i="0">
                          <a:solidFill>
                            <a:srgbClr val="000000"/>
                          </a:solidFill>
                          <a:latin typeface="Times New Roman"/>
                        </a:rPr>
                        <a:t>    </a:t>
                      </a:r>
                      <a:r>
                        <a:rPr sz="1100" b="1" i="0">
                          <a:solidFill>
                            <a:srgbClr val="000000"/>
                          </a:solidFill>
                          <a:latin typeface="Calibri"/>
                        </a:rPr>
                        <a:t>Cross-sectional Assessment</a:t>
                      </a:r>
                      <a:endParaRPr sz="1100"/>
                    </a:p>
                  </a:txBody>
                  <a:tcPr marL="171450" marR="9525" marT="9525" marB="0" anchor="ctr"/>
                </a:tc>
              </a:tr>
              <a:tr h="175260">
                <a:tc>
                  <a:txBody>
                    <a:bodyPr wrap="square"/>
                    <a:lstStyle/>
                    <a:p>
                      <a:pPr algn="l"/>
                      <a:r>
                        <a:rPr sz="1100" b="0" i="0">
                          <a:solidFill>
                            <a:srgbClr val="0070C0"/>
                          </a:solidFill>
                          <a:latin typeface="Calibri"/>
                        </a:rPr>
                        <a:t>10.1.</a:t>
                      </a:r>
                      <a:r>
                        <a:rPr sz="700" b="0" i="0">
                          <a:solidFill>
                            <a:srgbClr val="0070C0"/>
                          </a:solidFill>
                          <a:latin typeface="Times New Roman"/>
                        </a:rPr>
                        <a:t>  </a:t>
                      </a:r>
                      <a:r>
                        <a:rPr sz="1100" b="0" i="0">
                          <a:solidFill>
                            <a:srgbClr val="0070C0"/>
                          </a:solidFill>
                          <a:latin typeface="Calibri"/>
                        </a:rPr>
                        <a:t>Product Type × Material Type</a:t>
                      </a:r>
                      <a:endParaRPr sz="1100"/>
                    </a:p>
                  </a:txBody>
                  <a:tcPr marL="428625" marR="9525" marT="9525" marB="0" anchor="ctr"/>
                </a:tc>
              </a:tr>
              <a:tr h="175260">
                <a:tc>
                  <a:txBody>
                    <a:bodyPr wrap="square"/>
                    <a:lstStyle/>
                    <a:p>
                      <a:pPr algn="l"/>
                      <a:r>
                        <a:rPr sz="1100" b="0" i="0">
                          <a:solidFill>
                            <a:srgbClr val="0070C0"/>
                          </a:solidFill>
                          <a:latin typeface="Calibri"/>
                        </a:rPr>
                        <a:t>10.2.</a:t>
                      </a:r>
                      <a:r>
                        <a:rPr sz="700" b="0" i="0">
                          <a:solidFill>
                            <a:srgbClr val="0070C0"/>
                          </a:solidFill>
                          <a:latin typeface="Times New Roman"/>
                        </a:rPr>
                        <a:t>  </a:t>
                      </a:r>
                      <a:r>
                        <a:rPr sz="1100" b="0" i="0">
                          <a:solidFill>
                            <a:srgbClr val="0070C0"/>
                          </a:solidFill>
                          <a:latin typeface="Calibri"/>
                        </a:rPr>
                        <a:t>Material Type × Technology</a:t>
                      </a:r>
                      <a:endParaRPr sz="1100"/>
                    </a:p>
                  </a:txBody>
                  <a:tcPr marL="428625" marR="9525" marT="9525" marB="0" anchor="ctr"/>
                </a:tc>
              </a:tr>
              <a:tr h="175260">
                <a:tc>
                  <a:txBody>
                    <a:bodyPr wrap="square"/>
                    <a:lstStyle/>
                    <a:p>
                      <a:pPr algn="l"/>
                      <a:r>
                        <a:rPr sz="1100" b="0" i="0">
                          <a:solidFill>
                            <a:srgbClr val="0070C0"/>
                          </a:solidFill>
                          <a:latin typeface="Calibri"/>
                        </a:rPr>
                        <a:t>10.3.</a:t>
                      </a:r>
                      <a:r>
                        <a:rPr sz="700" b="0" i="0">
                          <a:solidFill>
                            <a:srgbClr val="0070C0"/>
                          </a:solidFill>
                          <a:latin typeface="Times New Roman"/>
                        </a:rPr>
                        <a:t>  </a:t>
                      </a:r>
                      <a:r>
                        <a:rPr sz="1100" b="0" i="0">
                          <a:solidFill>
                            <a:srgbClr val="0070C0"/>
                          </a:solidFill>
                          <a:latin typeface="Calibri"/>
                        </a:rPr>
                        <a:t>Product Type × Patient Age Group</a:t>
                      </a:r>
                      <a:endParaRPr sz="1100"/>
                    </a:p>
                  </a:txBody>
                  <a:tcPr marL="428625" marR="9525" marT="9525" marB="0" anchor="ctr"/>
                </a:tc>
              </a:tr>
              <a:tr h="175260">
                <a:tc>
                  <a:txBody>
                    <a:bodyPr wrap="square"/>
                    <a:lstStyle/>
                    <a:p>
                      <a:pPr algn="l"/>
                      <a:r>
                        <a:rPr sz="1100" b="0" i="0">
                          <a:solidFill>
                            <a:srgbClr val="0070C0"/>
                          </a:solidFill>
                          <a:latin typeface="Calibri"/>
                        </a:rPr>
                        <a:t>10.4.</a:t>
                      </a:r>
                      <a:r>
                        <a:rPr sz="700" b="0" i="0">
                          <a:solidFill>
                            <a:srgbClr val="0070C0"/>
                          </a:solidFill>
                          <a:latin typeface="Times New Roman"/>
                        </a:rPr>
                        <a:t>  </a:t>
                      </a:r>
                      <a:r>
                        <a:rPr sz="1100" b="0" i="0">
                          <a:solidFill>
                            <a:srgbClr val="0070C0"/>
                          </a:solidFill>
                          <a:latin typeface="Calibri"/>
                        </a:rPr>
                        <a:t>Technology × End User</a:t>
                      </a:r>
                      <a:endParaRPr sz="1100"/>
                    </a:p>
                  </a:txBody>
                  <a:tcPr marL="428625" marR="9525" marT="9525" marB="0" anchor="ctr"/>
                </a:tc>
              </a:tr>
              <a:tr h="175260">
                <a:tc>
                  <a:txBody>
                    <a:bodyPr wrap="square"/>
                    <a:lstStyle/>
                    <a:p>
                      <a:pPr algn="l"/>
                      <a:r>
                        <a:rPr sz="1100" b="0" i="1">
                          <a:solidFill>
                            <a:srgbClr val="EE0000"/>
                          </a:solidFill>
                          <a:latin typeface="Calibri"/>
                        </a:rPr>
                        <a:t>Note: Cross Sectional Assessment shall be provided on custom request</a:t>
                      </a:r>
                      <a:endParaRPr sz="1100"/>
                    </a:p>
                  </a:txBody>
                  <a:tcPr marL="9525" marR="9525" marT="9525" marB="0" anchor="ctr"/>
                </a:tc>
              </a:tr>
              <a:tr h="175260">
                <a:tc>
                  <a:txBody>
                    <a:bodyPr wrap="square"/>
                    <a:lstStyle/>
                    <a:p>
                      <a:pPr algn="l"/>
                      <a:r>
                        <a:rPr sz="1100" b="1" i="0">
                          <a:solidFill>
                            <a:srgbClr val="000000"/>
                          </a:solidFill>
                          <a:latin typeface="Calibri"/>
                        </a:rPr>
                        <a:t>Section 2: Regional and Country Market Outlook</a:t>
                      </a:r>
                      <a:endParaRPr sz="1100"/>
                    </a:p>
                  </a:txBody>
                  <a:tcPr marL="9525" marR="9525" marT="9525" marB="0" anchor="ctr"/>
                </a:tc>
              </a:tr>
              <a:tr h="175260">
                <a:tc>
                  <a:txBody>
                    <a:bodyPr wrap="square"/>
                    <a:lstStyle/>
                    <a:p>
                      <a:pPr algn="l"/>
                      <a:r>
                        <a:rPr sz="1100" b="1" i="0">
                          <a:solidFill>
                            <a:srgbClr val="000000"/>
                          </a:solidFill>
                          <a:latin typeface="Calibri"/>
                        </a:rPr>
                        <a:t>11.</a:t>
                      </a:r>
                      <a:r>
                        <a:rPr sz="700" b="1" i="0">
                          <a:solidFill>
                            <a:srgbClr val="000000"/>
                          </a:solidFill>
                          <a:latin typeface="Times New Roman"/>
                        </a:rPr>
                        <a:t>    </a:t>
                      </a:r>
                      <a:r>
                        <a:rPr sz="1100" b="1" i="0">
                          <a:solidFill>
                            <a:srgbClr val="000000"/>
                          </a:solidFill>
                          <a:latin typeface="Calibri"/>
                        </a:rPr>
                        <a:t>North America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11.1.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11.2.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11.3.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11.4.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11.4.1.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11.4.2.</a:t>
                      </a:r>
                      <a:r>
                        <a:rPr sz="700" b="0" i="0">
                          <a:solidFill>
                            <a:srgbClr val="000000"/>
                          </a:solidFill>
                          <a:latin typeface="Times New Roman"/>
                        </a:rPr>
                        <a:t> </a:t>
                      </a:r>
                      <a:r>
                        <a:rPr sz="1100" b="0" i="0">
                          <a:solidFill>
                            <a:srgbClr val="000000"/>
                          </a:solidFill>
                          <a:latin typeface="Calibri"/>
                        </a:rPr>
                        <a:t>By Material Type</a:t>
                      </a:r>
                      <a:endParaRPr sz="1100"/>
                    </a:p>
                  </a:txBody>
                  <a:tcPr marL="771525" marR="9525" marT="9525" marB="0" anchor="ctr"/>
                </a:tc>
              </a:tr>
              <a:tr h="175260">
                <a:tc>
                  <a:txBody>
                    <a:bodyPr wrap="square"/>
                    <a:lstStyle/>
                    <a:p>
                      <a:pPr algn="l"/>
                      <a:r>
                        <a:rPr sz="1100" b="0" i="0">
                          <a:solidFill>
                            <a:srgbClr val="000000"/>
                          </a:solidFill>
                          <a:latin typeface="Calibri"/>
                        </a:rPr>
                        <a:t>11.4.3.</a:t>
                      </a:r>
                      <a:r>
                        <a:rPr sz="700" b="0" i="0">
                          <a:solidFill>
                            <a:srgbClr val="000000"/>
                          </a:solidFill>
                          <a:latin typeface="Times New Roman"/>
                        </a:rPr>
                        <a:t> </a:t>
                      </a:r>
                      <a:r>
                        <a:rPr sz="1100" b="0" i="0">
                          <a:solidFill>
                            <a:srgbClr val="000000"/>
                          </a:solidFill>
                          <a:latin typeface="Calibri"/>
                        </a:rPr>
                        <a:t>By Technology</a:t>
                      </a:r>
                      <a:endParaRPr sz="1100"/>
                    </a:p>
                  </a:txBody>
                  <a:tcPr marL="771525" marR="9525" marT="9525" marB="0" anchor="ctr"/>
                </a:tc>
              </a:tr>
              <a:tr h="175260">
                <a:tc>
                  <a:txBody>
                    <a:bodyPr wrap="square"/>
                    <a:lstStyle/>
                    <a:p>
                      <a:pPr algn="l"/>
                      <a:r>
                        <a:rPr sz="1100" b="0" i="0">
                          <a:solidFill>
                            <a:srgbClr val="000000"/>
                          </a:solidFill>
                          <a:latin typeface="Calibri"/>
                        </a:rPr>
                        <a:t>11.4.4.</a:t>
                      </a:r>
                      <a:r>
                        <a:rPr sz="700" b="0" i="0">
                          <a:solidFill>
                            <a:srgbClr val="000000"/>
                          </a:solidFill>
                          <a:latin typeface="Times New Roman"/>
                        </a:rPr>
                        <a:t> </a:t>
                      </a:r>
                      <a:r>
                        <a:rPr sz="1100" b="0" i="0">
                          <a:solidFill>
                            <a:srgbClr val="000000"/>
                          </a:solidFill>
                          <a:latin typeface="Calibri"/>
                        </a:rPr>
                        <a:t>By End User</a:t>
                      </a:r>
                      <a:endParaRPr sz="1100"/>
                    </a:p>
                  </a:txBody>
                  <a:tcPr marL="771525" marR="9525" marT="9525" marB="0" anchor="ctr"/>
                </a:tc>
              </a:tr>
              <a:tr h="175260">
                <a:tc>
                  <a:txBody>
                    <a:bodyPr wrap="square"/>
                    <a:lstStyle/>
                    <a:p>
                      <a:pPr algn="l"/>
                      <a:r>
                        <a:rPr sz="1100" b="0" i="0">
                          <a:solidFill>
                            <a:srgbClr val="000000"/>
                          </a:solidFill>
                          <a:latin typeface="Calibri"/>
                        </a:rPr>
                        <a:t>11.4.5.</a:t>
                      </a:r>
                      <a:r>
                        <a:rPr sz="700" b="0" i="0">
                          <a:solidFill>
                            <a:srgbClr val="000000"/>
                          </a:solidFill>
                          <a:latin typeface="Times New Roman"/>
                        </a:rPr>
                        <a:t> </a:t>
                      </a:r>
                      <a:r>
                        <a:rPr sz="1100" b="0" i="0">
                          <a:solidFill>
                            <a:srgbClr val="000000"/>
                          </a:solidFill>
                          <a:latin typeface="Calibri"/>
                        </a:rPr>
                        <a:t>By Distribution Channel</a:t>
                      </a:r>
                      <a:endParaRPr sz="1100"/>
                    </a:p>
                  </a:txBody>
                  <a:tcPr marL="771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0000"/>
                          </a:solidFill>
                          <a:latin typeface="Calibri"/>
                        </a:rPr>
                        <a:t>11.4.6.</a:t>
                      </a:r>
                      <a:r>
                        <a:rPr sz="700" b="0" i="0">
                          <a:solidFill>
                            <a:srgbClr val="000000"/>
                          </a:solidFill>
                          <a:latin typeface="Times New Roman"/>
                        </a:rPr>
                        <a:t> </a:t>
                      </a:r>
                      <a:r>
                        <a:rPr sz="1100" b="0" i="0">
                          <a:solidFill>
                            <a:srgbClr val="000000"/>
                          </a:solidFill>
                          <a:latin typeface="Calibri"/>
                        </a:rPr>
                        <a:t>By Patient Age Group</a:t>
                      </a:r>
                      <a:endParaRPr sz="1100"/>
                    </a:p>
                  </a:txBody>
                  <a:tcPr marL="771525" marR="9525" marT="9525" marB="0" anchor="ctr"/>
                </a:tc>
              </a:tr>
              <a:tr h="175260">
                <a:tc>
                  <a:txBody>
                    <a:bodyPr wrap="square"/>
                    <a:lstStyle/>
                    <a:p>
                      <a:pPr algn="l"/>
                      <a:r>
                        <a:rPr sz="1100" b="0" i="0">
                          <a:solidFill>
                            <a:srgbClr val="000000"/>
                          </a:solidFill>
                          <a:latin typeface="Calibri"/>
                        </a:rPr>
                        <a:t>11.4.7.</a:t>
                      </a:r>
                      <a:r>
                        <a:rPr sz="700" b="0" i="0">
                          <a:solidFill>
                            <a:srgbClr val="000000"/>
                          </a:solidFill>
                          <a:latin typeface="Times New Roman"/>
                        </a:rPr>
                        <a:t> </a:t>
                      </a:r>
                      <a:r>
                        <a:rPr sz="1100" b="0" i="0">
                          <a:solidFill>
                            <a:srgbClr val="000000"/>
                          </a:solidFill>
                          <a:latin typeface="Calibri"/>
                        </a:rPr>
                        <a:t>By Country</a:t>
                      </a:r>
                      <a:endParaRPr sz="1100"/>
                    </a:p>
                  </a:txBody>
                  <a:tcPr marL="771525" marR="9525" marT="9525" marB="0" anchor="ctr"/>
                </a:tc>
              </a:tr>
              <a:tr h="175260">
                <a:tc>
                  <a:txBody>
                    <a:bodyPr wrap="square"/>
                    <a:lstStyle/>
                    <a:p>
                      <a:pPr algn="l"/>
                      <a:r>
                        <a:rPr sz="1100" b="1" i="0">
                          <a:solidFill>
                            <a:srgbClr val="000000"/>
                          </a:solidFill>
                          <a:latin typeface="Calibri"/>
                        </a:rPr>
                        <a:t>12.</a:t>
                      </a:r>
                      <a:r>
                        <a:rPr sz="700" b="1" i="0">
                          <a:solidFill>
                            <a:srgbClr val="000000"/>
                          </a:solidFill>
                          <a:latin typeface="Times New Roman"/>
                        </a:rPr>
                        <a:t>    </a:t>
                      </a:r>
                      <a:r>
                        <a:rPr sz="1100" b="1" i="0">
                          <a:solidFill>
                            <a:srgbClr val="000000"/>
                          </a:solidFill>
                          <a:latin typeface="Calibri"/>
                        </a:rPr>
                        <a:t>Latin America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12.1.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12.2.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12.3.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12.4.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12.4.1.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12.4.2.</a:t>
                      </a:r>
                      <a:r>
                        <a:rPr sz="700" b="0" i="0">
                          <a:solidFill>
                            <a:srgbClr val="000000"/>
                          </a:solidFill>
                          <a:latin typeface="Times New Roman"/>
                        </a:rPr>
                        <a:t> </a:t>
                      </a:r>
                      <a:r>
                        <a:rPr sz="1100" b="0" i="0">
                          <a:solidFill>
                            <a:srgbClr val="000000"/>
                          </a:solidFill>
                          <a:latin typeface="Calibri"/>
                        </a:rPr>
                        <a:t>By Material Type</a:t>
                      </a:r>
                      <a:endParaRPr sz="1100"/>
                    </a:p>
                  </a:txBody>
                  <a:tcPr marL="771525" marR="9525" marT="9525" marB="0" anchor="ctr"/>
                </a:tc>
              </a:tr>
              <a:tr h="175260">
                <a:tc>
                  <a:txBody>
                    <a:bodyPr wrap="square"/>
                    <a:lstStyle/>
                    <a:p>
                      <a:pPr algn="l"/>
                      <a:r>
                        <a:rPr sz="1100" b="0" i="0">
                          <a:solidFill>
                            <a:srgbClr val="000000"/>
                          </a:solidFill>
                          <a:latin typeface="Calibri"/>
                        </a:rPr>
                        <a:t>12.4.3.</a:t>
                      </a:r>
                      <a:r>
                        <a:rPr sz="700" b="0" i="0">
                          <a:solidFill>
                            <a:srgbClr val="000000"/>
                          </a:solidFill>
                          <a:latin typeface="Times New Roman"/>
                        </a:rPr>
                        <a:t> </a:t>
                      </a:r>
                      <a:r>
                        <a:rPr sz="1100" b="0" i="0">
                          <a:solidFill>
                            <a:srgbClr val="000000"/>
                          </a:solidFill>
                          <a:latin typeface="Calibri"/>
                        </a:rPr>
                        <a:t>By Technology</a:t>
                      </a:r>
                      <a:endParaRPr sz="1100"/>
                    </a:p>
                  </a:txBody>
                  <a:tcPr marL="771525" marR="9525" marT="9525" marB="0" anchor="ctr"/>
                </a:tc>
              </a:tr>
              <a:tr h="175260">
                <a:tc>
                  <a:txBody>
                    <a:bodyPr wrap="square"/>
                    <a:lstStyle/>
                    <a:p>
                      <a:pPr algn="l"/>
                      <a:r>
                        <a:rPr sz="1100" b="0" i="0">
                          <a:solidFill>
                            <a:srgbClr val="000000"/>
                          </a:solidFill>
                          <a:latin typeface="Calibri"/>
                        </a:rPr>
                        <a:t>12.4.4.</a:t>
                      </a:r>
                      <a:r>
                        <a:rPr sz="700" b="0" i="0">
                          <a:solidFill>
                            <a:srgbClr val="000000"/>
                          </a:solidFill>
                          <a:latin typeface="Times New Roman"/>
                        </a:rPr>
                        <a:t> </a:t>
                      </a:r>
                      <a:r>
                        <a:rPr sz="1100" b="0" i="0">
                          <a:solidFill>
                            <a:srgbClr val="000000"/>
                          </a:solidFill>
                          <a:latin typeface="Calibri"/>
                        </a:rPr>
                        <a:t>By End User</a:t>
                      </a:r>
                      <a:endParaRPr sz="1100"/>
                    </a:p>
                  </a:txBody>
                  <a:tcPr marL="771525" marR="9525" marT="9525" marB="0" anchor="ctr"/>
                </a:tc>
              </a:tr>
              <a:tr h="175260">
                <a:tc>
                  <a:txBody>
                    <a:bodyPr wrap="square"/>
                    <a:lstStyle/>
                    <a:p>
                      <a:pPr algn="l"/>
                      <a:r>
                        <a:rPr sz="1100" b="0" i="0">
                          <a:solidFill>
                            <a:srgbClr val="000000"/>
                          </a:solidFill>
                          <a:latin typeface="Calibri"/>
                        </a:rPr>
                        <a:t>12.4.5.</a:t>
                      </a:r>
                      <a:r>
                        <a:rPr sz="700" b="0" i="0">
                          <a:solidFill>
                            <a:srgbClr val="000000"/>
                          </a:solidFill>
                          <a:latin typeface="Times New Roman"/>
                        </a:rPr>
                        <a:t> </a:t>
                      </a:r>
                      <a:r>
                        <a:rPr sz="1100" b="0" i="0">
                          <a:solidFill>
                            <a:srgbClr val="000000"/>
                          </a:solidFill>
                          <a:latin typeface="Calibri"/>
                        </a:rPr>
                        <a:t>By Distribution Channel</a:t>
                      </a:r>
                      <a:endParaRPr sz="1100"/>
                    </a:p>
                  </a:txBody>
                  <a:tcPr marL="771525" marR="9525" marT="9525" marB="0" anchor="ctr"/>
                </a:tc>
              </a:tr>
              <a:tr h="175260">
                <a:tc>
                  <a:txBody>
                    <a:bodyPr wrap="square"/>
                    <a:lstStyle/>
                    <a:p>
                      <a:pPr algn="l"/>
                      <a:r>
                        <a:rPr sz="1100" b="0" i="0">
                          <a:solidFill>
                            <a:srgbClr val="000000"/>
                          </a:solidFill>
                          <a:latin typeface="Calibri"/>
                        </a:rPr>
                        <a:t>12.4.6.</a:t>
                      </a:r>
                      <a:r>
                        <a:rPr sz="700" b="0" i="0">
                          <a:solidFill>
                            <a:srgbClr val="000000"/>
                          </a:solidFill>
                          <a:latin typeface="Times New Roman"/>
                        </a:rPr>
                        <a:t> </a:t>
                      </a:r>
                      <a:r>
                        <a:rPr sz="1100" b="0" i="0">
                          <a:solidFill>
                            <a:srgbClr val="000000"/>
                          </a:solidFill>
                          <a:latin typeface="Calibri"/>
                        </a:rPr>
                        <a:t>By Patient Age Group</a:t>
                      </a:r>
                      <a:endParaRPr sz="1100"/>
                    </a:p>
                  </a:txBody>
                  <a:tcPr marL="771525" marR="9525" marT="9525" marB="0" anchor="ctr"/>
                </a:tc>
              </a:tr>
              <a:tr h="175260">
                <a:tc>
                  <a:txBody>
                    <a:bodyPr wrap="square"/>
                    <a:lstStyle/>
                    <a:p>
                      <a:pPr algn="l"/>
                      <a:r>
                        <a:rPr sz="1100" b="0" i="0">
                          <a:solidFill>
                            <a:srgbClr val="000000"/>
                          </a:solidFill>
                          <a:latin typeface="Calibri"/>
                        </a:rPr>
                        <a:t>12.4.7.</a:t>
                      </a:r>
                      <a:r>
                        <a:rPr sz="700" b="0" i="0">
                          <a:solidFill>
                            <a:srgbClr val="000000"/>
                          </a:solidFill>
                          <a:latin typeface="Times New Roman"/>
                        </a:rPr>
                        <a:t> </a:t>
                      </a:r>
                      <a:r>
                        <a:rPr sz="1100" b="0" i="0">
                          <a:solidFill>
                            <a:srgbClr val="000000"/>
                          </a:solidFill>
                          <a:latin typeface="Calibri"/>
                        </a:rPr>
                        <a:t>By Country</a:t>
                      </a:r>
                      <a:endParaRPr sz="1100"/>
                    </a:p>
                  </a:txBody>
                  <a:tcPr marL="771525" marR="9525" marT="9525" marB="0" anchor="ctr"/>
                </a:tc>
              </a:tr>
              <a:tr h="175260">
                <a:tc>
                  <a:txBody>
                    <a:bodyPr wrap="square"/>
                    <a:lstStyle/>
                    <a:p>
                      <a:pPr algn="l"/>
                      <a:r>
                        <a:rPr sz="1100" b="1" i="0">
                          <a:solidFill>
                            <a:srgbClr val="000000"/>
                          </a:solidFill>
                          <a:latin typeface="Calibri"/>
                        </a:rPr>
                        <a:t>13.</a:t>
                      </a:r>
                      <a:r>
                        <a:rPr sz="700" b="1" i="0">
                          <a:solidFill>
                            <a:srgbClr val="000000"/>
                          </a:solidFill>
                          <a:latin typeface="Times New Roman"/>
                        </a:rPr>
                        <a:t>    </a:t>
                      </a:r>
                      <a:r>
                        <a:rPr sz="1100" b="1" i="0">
                          <a:solidFill>
                            <a:srgbClr val="000000"/>
                          </a:solidFill>
                          <a:latin typeface="Calibri"/>
                        </a:rPr>
                        <a:t>Europe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13.1.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13.2.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13.3.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13.4.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13.4.1.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13.4.2.</a:t>
                      </a:r>
                      <a:r>
                        <a:rPr sz="700" b="0" i="0">
                          <a:solidFill>
                            <a:srgbClr val="000000"/>
                          </a:solidFill>
                          <a:latin typeface="Times New Roman"/>
                        </a:rPr>
                        <a:t> </a:t>
                      </a:r>
                      <a:r>
                        <a:rPr sz="1100" b="0" i="0">
                          <a:solidFill>
                            <a:srgbClr val="000000"/>
                          </a:solidFill>
                          <a:latin typeface="Calibri"/>
                        </a:rPr>
                        <a:t>By Material Type</a:t>
                      </a:r>
                      <a:endParaRPr sz="1100"/>
                    </a:p>
                  </a:txBody>
                  <a:tcPr marL="771525" marR="9525" marT="9525" marB="0" anchor="ctr"/>
                </a:tc>
              </a:tr>
              <a:tr h="175260">
                <a:tc>
                  <a:txBody>
                    <a:bodyPr wrap="square"/>
                    <a:lstStyle/>
                    <a:p>
                      <a:pPr algn="l"/>
                      <a:r>
                        <a:rPr sz="1100" b="0" i="0">
                          <a:solidFill>
                            <a:srgbClr val="000000"/>
                          </a:solidFill>
                          <a:latin typeface="Calibri"/>
                        </a:rPr>
                        <a:t>13.4.3.</a:t>
                      </a:r>
                      <a:r>
                        <a:rPr sz="700" b="0" i="0">
                          <a:solidFill>
                            <a:srgbClr val="000000"/>
                          </a:solidFill>
                          <a:latin typeface="Times New Roman"/>
                        </a:rPr>
                        <a:t> </a:t>
                      </a:r>
                      <a:r>
                        <a:rPr sz="1100" b="0" i="0">
                          <a:solidFill>
                            <a:srgbClr val="000000"/>
                          </a:solidFill>
                          <a:latin typeface="Calibri"/>
                        </a:rPr>
                        <a:t>By Technology</a:t>
                      </a:r>
                      <a:endParaRPr sz="1100"/>
                    </a:p>
                  </a:txBody>
                  <a:tcPr marL="771525" marR="9525" marT="9525" marB="0" anchor="ctr"/>
                </a:tc>
              </a:tr>
              <a:tr h="175260">
                <a:tc>
                  <a:txBody>
                    <a:bodyPr wrap="square"/>
                    <a:lstStyle/>
                    <a:p>
                      <a:pPr algn="l"/>
                      <a:r>
                        <a:rPr sz="1100" b="0" i="0">
                          <a:solidFill>
                            <a:srgbClr val="000000"/>
                          </a:solidFill>
                          <a:latin typeface="Calibri"/>
                        </a:rPr>
                        <a:t>13.4.4.</a:t>
                      </a:r>
                      <a:r>
                        <a:rPr sz="700" b="0" i="0">
                          <a:solidFill>
                            <a:srgbClr val="000000"/>
                          </a:solidFill>
                          <a:latin typeface="Times New Roman"/>
                        </a:rPr>
                        <a:t> </a:t>
                      </a:r>
                      <a:r>
                        <a:rPr sz="1100" b="0" i="0">
                          <a:solidFill>
                            <a:srgbClr val="000000"/>
                          </a:solidFill>
                          <a:latin typeface="Calibri"/>
                        </a:rPr>
                        <a:t>By End User</a:t>
                      </a:r>
                      <a:endParaRPr sz="1100"/>
                    </a:p>
                  </a:txBody>
                  <a:tcPr marL="771525" marR="9525" marT="9525" marB="0" anchor="ctr"/>
                </a:tc>
              </a:tr>
              <a:tr h="175260">
                <a:tc>
                  <a:txBody>
                    <a:bodyPr wrap="square"/>
                    <a:lstStyle/>
                    <a:p>
                      <a:pPr algn="l"/>
                      <a:r>
                        <a:rPr sz="1100" b="0" i="0">
                          <a:solidFill>
                            <a:srgbClr val="000000"/>
                          </a:solidFill>
                          <a:latin typeface="Calibri"/>
                        </a:rPr>
                        <a:t>13.4.5.</a:t>
                      </a:r>
                      <a:r>
                        <a:rPr sz="700" b="0" i="0">
                          <a:solidFill>
                            <a:srgbClr val="000000"/>
                          </a:solidFill>
                          <a:latin typeface="Times New Roman"/>
                        </a:rPr>
                        <a:t> </a:t>
                      </a:r>
                      <a:r>
                        <a:rPr sz="1100" b="0" i="0">
                          <a:solidFill>
                            <a:srgbClr val="000000"/>
                          </a:solidFill>
                          <a:latin typeface="Calibri"/>
                        </a:rPr>
                        <a:t>By Distribution Channel</a:t>
                      </a:r>
                      <a:endParaRPr sz="1100"/>
                    </a:p>
                  </a:txBody>
                  <a:tcPr marL="771525" marR="9525" marT="9525" marB="0" anchor="ctr"/>
                </a:tc>
              </a:tr>
              <a:tr h="175260">
                <a:tc>
                  <a:txBody>
                    <a:bodyPr wrap="square"/>
                    <a:lstStyle/>
                    <a:p>
                      <a:pPr algn="l"/>
                      <a:r>
                        <a:rPr sz="1100" b="0" i="0">
                          <a:solidFill>
                            <a:srgbClr val="000000"/>
                          </a:solidFill>
                          <a:latin typeface="Calibri"/>
                        </a:rPr>
                        <a:t>13.4.6.</a:t>
                      </a:r>
                      <a:r>
                        <a:rPr sz="700" b="0" i="0">
                          <a:solidFill>
                            <a:srgbClr val="000000"/>
                          </a:solidFill>
                          <a:latin typeface="Times New Roman"/>
                        </a:rPr>
                        <a:t> </a:t>
                      </a:r>
                      <a:r>
                        <a:rPr sz="1100" b="0" i="0">
                          <a:solidFill>
                            <a:srgbClr val="000000"/>
                          </a:solidFill>
                          <a:latin typeface="Calibri"/>
                        </a:rPr>
                        <a:t>By Patient Age Group</a:t>
                      </a:r>
                      <a:endParaRPr sz="1100"/>
                    </a:p>
                  </a:txBody>
                  <a:tcPr marL="771525" marR="9525" marT="9525" marB="0" anchor="ctr"/>
                </a:tc>
              </a:tr>
              <a:tr h="175260">
                <a:tc>
                  <a:txBody>
                    <a:bodyPr wrap="square"/>
                    <a:lstStyle/>
                    <a:p>
                      <a:pPr algn="l"/>
                      <a:r>
                        <a:rPr sz="1100" b="0" i="0">
                          <a:solidFill>
                            <a:srgbClr val="000000"/>
                          </a:solidFill>
                          <a:latin typeface="Calibri"/>
                        </a:rPr>
                        <a:t>13.4.7.</a:t>
                      </a:r>
                      <a:r>
                        <a:rPr sz="700" b="0" i="0">
                          <a:solidFill>
                            <a:srgbClr val="000000"/>
                          </a:solidFill>
                          <a:latin typeface="Times New Roman"/>
                        </a:rPr>
                        <a:t> </a:t>
                      </a:r>
                      <a:r>
                        <a:rPr sz="1100" b="0" i="0">
                          <a:solidFill>
                            <a:srgbClr val="000000"/>
                          </a:solidFill>
                          <a:latin typeface="Calibri"/>
                        </a:rPr>
                        <a:t>By Country</a:t>
                      </a:r>
                      <a:endParaRPr sz="1100"/>
                    </a:p>
                  </a:txBody>
                  <a:tcPr marL="771525" marR="9525" marT="9525" marB="0" anchor="ctr"/>
                </a:tc>
              </a:tr>
              <a:tr h="175260">
                <a:tc>
                  <a:txBody>
                    <a:bodyPr wrap="square"/>
                    <a:lstStyle/>
                    <a:p>
                      <a:pPr algn="l"/>
                      <a:r>
                        <a:rPr sz="1100" b="1" i="0">
                          <a:solidFill>
                            <a:srgbClr val="000000"/>
                          </a:solidFill>
                          <a:latin typeface="Calibri"/>
                        </a:rPr>
                        <a:t>14.</a:t>
                      </a:r>
                      <a:r>
                        <a:rPr sz="700" b="1" i="0">
                          <a:solidFill>
                            <a:srgbClr val="000000"/>
                          </a:solidFill>
                          <a:latin typeface="Times New Roman"/>
                        </a:rPr>
                        <a:t>    </a:t>
                      </a:r>
                      <a:r>
                        <a:rPr sz="1100" b="1" i="0">
                          <a:solidFill>
                            <a:srgbClr val="000000"/>
                          </a:solidFill>
                          <a:latin typeface="Calibri"/>
                        </a:rPr>
                        <a:t>East Asia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14.1.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14.2.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14.3.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(4/6)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14.4.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14.4.1.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14.4.2.</a:t>
                      </a:r>
                      <a:r>
                        <a:rPr sz="700" b="0" i="0">
                          <a:solidFill>
                            <a:srgbClr val="000000"/>
                          </a:solidFill>
                          <a:latin typeface="Times New Roman"/>
                        </a:rPr>
                        <a:t> </a:t>
                      </a:r>
                      <a:r>
                        <a:rPr sz="1100" b="0" i="0">
                          <a:solidFill>
                            <a:srgbClr val="000000"/>
                          </a:solidFill>
                          <a:latin typeface="Calibri"/>
                        </a:rPr>
                        <a:t>By Material Type</a:t>
                      </a:r>
                      <a:endParaRPr sz="1100"/>
                    </a:p>
                  </a:txBody>
                  <a:tcPr marL="771525" marR="9525" marT="9525" marB="0" anchor="ctr"/>
                </a:tc>
              </a:tr>
              <a:tr h="175260">
                <a:tc>
                  <a:txBody>
                    <a:bodyPr wrap="square"/>
                    <a:lstStyle/>
                    <a:p>
                      <a:pPr algn="l"/>
                      <a:r>
                        <a:rPr sz="1100" b="0" i="0">
                          <a:solidFill>
                            <a:srgbClr val="000000"/>
                          </a:solidFill>
                          <a:latin typeface="Calibri"/>
                        </a:rPr>
                        <a:t>14.4.3.</a:t>
                      </a:r>
                      <a:r>
                        <a:rPr sz="700" b="0" i="0">
                          <a:solidFill>
                            <a:srgbClr val="000000"/>
                          </a:solidFill>
                          <a:latin typeface="Times New Roman"/>
                        </a:rPr>
                        <a:t> </a:t>
                      </a:r>
                      <a:r>
                        <a:rPr sz="1100" b="0" i="0">
                          <a:solidFill>
                            <a:srgbClr val="000000"/>
                          </a:solidFill>
                          <a:latin typeface="Calibri"/>
                        </a:rPr>
                        <a:t>By Technology</a:t>
                      </a:r>
                      <a:endParaRPr sz="1100"/>
                    </a:p>
                  </a:txBody>
                  <a:tcPr marL="771525" marR="9525" marT="9525" marB="0" anchor="ctr"/>
                </a:tc>
              </a:tr>
              <a:tr h="175260">
                <a:tc>
                  <a:txBody>
                    <a:bodyPr wrap="square"/>
                    <a:lstStyle/>
                    <a:p>
                      <a:pPr algn="l"/>
                      <a:r>
                        <a:rPr sz="1100" b="0" i="0">
                          <a:solidFill>
                            <a:srgbClr val="000000"/>
                          </a:solidFill>
                          <a:latin typeface="Calibri"/>
                        </a:rPr>
                        <a:t>14.4.4.</a:t>
                      </a:r>
                      <a:r>
                        <a:rPr sz="700" b="0" i="0">
                          <a:solidFill>
                            <a:srgbClr val="000000"/>
                          </a:solidFill>
                          <a:latin typeface="Times New Roman"/>
                        </a:rPr>
                        <a:t> </a:t>
                      </a:r>
                      <a:r>
                        <a:rPr sz="1100" b="0" i="0">
                          <a:solidFill>
                            <a:srgbClr val="000000"/>
                          </a:solidFill>
                          <a:latin typeface="Calibri"/>
                        </a:rPr>
                        <a:t>By End User</a:t>
                      </a:r>
                      <a:endParaRPr sz="1100"/>
                    </a:p>
                  </a:txBody>
                  <a:tcPr marL="771525" marR="9525" marT="9525" marB="0" anchor="ctr"/>
                </a:tc>
              </a:tr>
              <a:tr h="175260">
                <a:tc>
                  <a:txBody>
                    <a:bodyPr wrap="square"/>
                    <a:lstStyle/>
                    <a:p>
                      <a:pPr algn="l"/>
                      <a:r>
                        <a:rPr sz="1100" b="0" i="0">
                          <a:solidFill>
                            <a:srgbClr val="000000"/>
                          </a:solidFill>
                          <a:latin typeface="Calibri"/>
                        </a:rPr>
                        <a:t>14.4.5.</a:t>
                      </a:r>
                      <a:r>
                        <a:rPr sz="700" b="0" i="0">
                          <a:solidFill>
                            <a:srgbClr val="000000"/>
                          </a:solidFill>
                          <a:latin typeface="Times New Roman"/>
                        </a:rPr>
                        <a:t> </a:t>
                      </a:r>
                      <a:r>
                        <a:rPr sz="1100" b="0" i="0">
                          <a:solidFill>
                            <a:srgbClr val="000000"/>
                          </a:solidFill>
                          <a:latin typeface="Calibri"/>
                        </a:rPr>
                        <a:t>By Distribution Channel</a:t>
                      </a:r>
                      <a:endParaRPr sz="1100"/>
                    </a:p>
                  </a:txBody>
                  <a:tcPr marL="771525" marR="9525" marT="9525" marB="0" anchor="ctr"/>
                </a:tc>
              </a:tr>
              <a:tr h="175260">
                <a:tc>
                  <a:txBody>
                    <a:bodyPr wrap="square"/>
                    <a:lstStyle/>
                    <a:p>
                      <a:pPr algn="l"/>
                      <a:r>
                        <a:rPr sz="1100" b="0" i="0">
                          <a:solidFill>
                            <a:srgbClr val="000000"/>
                          </a:solidFill>
                          <a:latin typeface="Calibri"/>
                        </a:rPr>
                        <a:t>14.4.6.</a:t>
                      </a:r>
                      <a:r>
                        <a:rPr sz="700" b="0" i="0">
                          <a:solidFill>
                            <a:srgbClr val="000000"/>
                          </a:solidFill>
                          <a:latin typeface="Times New Roman"/>
                        </a:rPr>
                        <a:t> </a:t>
                      </a:r>
                      <a:r>
                        <a:rPr sz="1100" b="0" i="0">
                          <a:solidFill>
                            <a:srgbClr val="000000"/>
                          </a:solidFill>
                          <a:latin typeface="Calibri"/>
                        </a:rPr>
                        <a:t>By Patient Age Group</a:t>
                      </a:r>
                      <a:endParaRPr sz="1100"/>
                    </a:p>
                  </a:txBody>
                  <a:tcPr marL="771525" marR="9525" marT="9525" marB="0" anchor="ctr"/>
                </a:tc>
              </a:tr>
              <a:tr h="175260">
                <a:tc>
                  <a:txBody>
                    <a:bodyPr wrap="square"/>
                    <a:lstStyle/>
                    <a:p>
                      <a:pPr algn="l"/>
                      <a:r>
                        <a:rPr sz="1100" b="0" i="0">
                          <a:solidFill>
                            <a:srgbClr val="000000"/>
                          </a:solidFill>
                          <a:latin typeface="Calibri"/>
                        </a:rPr>
                        <a:t>14.4.7.</a:t>
                      </a:r>
                      <a:r>
                        <a:rPr sz="700" b="0" i="0">
                          <a:solidFill>
                            <a:srgbClr val="000000"/>
                          </a:solidFill>
                          <a:latin typeface="Times New Roman"/>
                        </a:rPr>
                        <a:t> </a:t>
                      </a:r>
                      <a:r>
                        <a:rPr sz="1100" b="0" i="0">
                          <a:solidFill>
                            <a:srgbClr val="000000"/>
                          </a:solidFill>
                          <a:latin typeface="Calibri"/>
                        </a:rPr>
                        <a:t>By Country</a:t>
                      </a:r>
                      <a:endParaRPr sz="1100"/>
                    </a:p>
                  </a:txBody>
                  <a:tcPr marL="771525" marR="9525" marT="9525" marB="0" anchor="ctr"/>
                </a:tc>
              </a:tr>
              <a:tr h="175260">
                <a:tc>
                  <a:txBody>
                    <a:bodyPr wrap="square"/>
                    <a:lstStyle/>
                    <a:p>
                      <a:pPr algn="l"/>
                      <a:r>
                        <a:rPr sz="1100" b="1" i="0">
                          <a:solidFill>
                            <a:srgbClr val="000000"/>
                          </a:solidFill>
                          <a:latin typeface="Calibri"/>
                        </a:rPr>
                        <a:t>15.</a:t>
                      </a:r>
                      <a:r>
                        <a:rPr sz="700" b="1" i="0">
                          <a:solidFill>
                            <a:srgbClr val="000000"/>
                          </a:solidFill>
                          <a:latin typeface="Times New Roman"/>
                        </a:rPr>
                        <a:t>    </a:t>
                      </a:r>
                      <a:r>
                        <a:rPr sz="1100" b="1" i="0">
                          <a:solidFill>
                            <a:srgbClr val="000000"/>
                          </a:solidFill>
                          <a:latin typeface="Calibri"/>
                        </a:rPr>
                        <a:t>South Asia &amp; Pacific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15.1.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15.2.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15.3.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15.4.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15.4.1.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15.4.2.</a:t>
                      </a:r>
                      <a:r>
                        <a:rPr sz="700" b="0" i="0">
                          <a:solidFill>
                            <a:srgbClr val="000000"/>
                          </a:solidFill>
                          <a:latin typeface="Times New Roman"/>
                        </a:rPr>
                        <a:t> </a:t>
                      </a:r>
                      <a:r>
                        <a:rPr sz="1100" b="0" i="0">
                          <a:solidFill>
                            <a:srgbClr val="000000"/>
                          </a:solidFill>
                          <a:latin typeface="Calibri"/>
                        </a:rPr>
                        <a:t>By Material Type</a:t>
                      </a:r>
                      <a:endParaRPr sz="1100"/>
                    </a:p>
                  </a:txBody>
                  <a:tcPr marL="771525" marR="9525" marT="9525" marB="0" anchor="ctr"/>
                </a:tc>
              </a:tr>
              <a:tr h="175260">
                <a:tc>
                  <a:txBody>
                    <a:bodyPr wrap="square"/>
                    <a:lstStyle/>
                    <a:p>
                      <a:pPr algn="l"/>
                      <a:r>
                        <a:rPr sz="1100" b="0" i="0">
                          <a:solidFill>
                            <a:srgbClr val="000000"/>
                          </a:solidFill>
                          <a:latin typeface="Calibri"/>
                        </a:rPr>
                        <a:t>15.4.3.</a:t>
                      </a:r>
                      <a:r>
                        <a:rPr sz="700" b="0" i="0">
                          <a:solidFill>
                            <a:srgbClr val="000000"/>
                          </a:solidFill>
                          <a:latin typeface="Times New Roman"/>
                        </a:rPr>
                        <a:t> </a:t>
                      </a:r>
                      <a:r>
                        <a:rPr sz="1100" b="0" i="0">
                          <a:solidFill>
                            <a:srgbClr val="000000"/>
                          </a:solidFill>
                          <a:latin typeface="Calibri"/>
                        </a:rPr>
                        <a:t>By Technology</a:t>
                      </a:r>
                      <a:endParaRPr sz="1100"/>
                    </a:p>
                  </a:txBody>
                  <a:tcPr marL="771525" marR="9525" marT="9525" marB="0" anchor="ctr"/>
                </a:tc>
              </a:tr>
              <a:tr h="175260">
                <a:tc>
                  <a:txBody>
                    <a:bodyPr wrap="square"/>
                    <a:lstStyle/>
                    <a:p>
                      <a:pPr algn="l"/>
                      <a:r>
                        <a:rPr sz="1100" b="0" i="0">
                          <a:solidFill>
                            <a:srgbClr val="000000"/>
                          </a:solidFill>
                          <a:latin typeface="Calibri"/>
                        </a:rPr>
                        <a:t>15.4.4.</a:t>
                      </a:r>
                      <a:r>
                        <a:rPr sz="700" b="0" i="0">
                          <a:solidFill>
                            <a:srgbClr val="000000"/>
                          </a:solidFill>
                          <a:latin typeface="Times New Roman"/>
                        </a:rPr>
                        <a:t> </a:t>
                      </a:r>
                      <a:r>
                        <a:rPr sz="1100" b="0" i="0">
                          <a:solidFill>
                            <a:srgbClr val="000000"/>
                          </a:solidFill>
                          <a:latin typeface="Calibri"/>
                        </a:rPr>
                        <a:t>By End User</a:t>
                      </a:r>
                      <a:endParaRPr sz="1100"/>
                    </a:p>
                  </a:txBody>
                  <a:tcPr marL="771525" marR="9525" marT="9525" marB="0" anchor="ctr"/>
                </a:tc>
              </a:tr>
              <a:tr h="175260">
                <a:tc>
                  <a:txBody>
                    <a:bodyPr wrap="square"/>
                    <a:lstStyle/>
                    <a:p>
                      <a:pPr algn="l"/>
                      <a:r>
                        <a:rPr sz="1100" b="0" i="0">
                          <a:solidFill>
                            <a:srgbClr val="000000"/>
                          </a:solidFill>
                          <a:latin typeface="Calibri"/>
                        </a:rPr>
                        <a:t>15.4.5.</a:t>
                      </a:r>
                      <a:r>
                        <a:rPr sz="700" b="0" i="0">
                          <a:solidFill>
                            <a:srgbClr val="000000"/>
                          </a:solidFill>
                          <a:latin typeface="Times New Roman"/>
                        </a:rPr>
                        <a:t> </a:t>
                      </a:r>
                      <a:r>
                        <a:rPr sz="1100" b="0" i="0">
                          <a:solidFill>
                            <a:srgbClr val="000000"/>
                          </a:solidFill>
                          <a:latin typeface="Calibri"/>
                        </a:rPr>
                        <a:t>By Distribution Channel</a:t>
                      </a:r>
                      <a:endParaRPr sz="1100"/>
                    </a:p>
                  </a:txBody>
                  <a:tcPr marL="771525" marR="9525" marT="9525" marB="0" anchor="ctr"/>
                </a:tc>
              </a:tr>
              <a:tr h="175260">
                <a:tc>
                  <a:txBody>
                    <a:bodyPr wrap="square"/>
                    <a:lstStyle/>
                    <a:p>
                      <a:pPr algn="l"/>
                      <a:r>
                        <a:rPr sz="1100" b="0" i="0">
                          <a:solidFill>
                            <a:srgbClr val="000000"/>
                          </a:solidFill>
                          <a:latin typeface="Calibri"/>
                        </a:rPr>
                        <a:t>15.4.6.</a:t>
                      </a:r>
                      <a:r>
                        <a:rPr sz="700" b="0" i="0">
                          <a:solidFill>
                            <a:srgbClr val="000000"/>
                          </a:solidFill>
                          <a:latin typeface="Times New Roman"/>
                        </a:rPr>
                        <a:t> </a:t>
                      </a:r>
                      <a:r>
                        <a:rPr sz="1100" b="0" i="0">
                          <a:solidFill>
                            <a:srgbClr val="000000"/>
                          </a:solidFill>
                          <a:latin typeface="Calibri"/>
                        </a:rPr>
                        <a:t>By Patient Age Group</a:t>
                      </a:r>
                      <a:endParaRPr sz="1100"/>
                    </a:p>
                  </a:txBody>
                  <a:tcPr marL="771525" marR="9525" marT="9525" marB="0" anchor="ctr"/>
                </a:tc>
              </a:tr>
              <a:tr h="175260">
                <a:tc>
                  <a:txBody>
                    <a:bodyPr wrap="square"/>
                    <a:lstStyle/>
                    <a:p>
                      <a:pPr algn="l"/>
                      <a:r>
                        <a:rPr sz="1100" b="0" i="0">
                          <a:solidFill>
                            <a:srgbClr val="000000"/>
                          </a:solidFill>
                          <a:latin typeface="Calibri"/>
                        </a:rPr>
                        <a:t>15.4.7.</a:t>
                      </a:r>
                      <a:r>
                        <a:rPr sz="700" b="0" i="0">
                          <a:solidFill>
                            <a:srgbClr val="000000"/>
                          </a:solidFill>
                          <a:latin typeface="Times New Roman"/>
                        </a:rPr>
                        <a:t> </a:t>
                      </a:r>
                      <a:r>
                        <a:rPr sz="1100" b="0" i="0">
                          <a:solidFill>
                            <a:srgbClr val="000000"/>
                          </a:solidFill>
                          <a:latin typeface="Calibri"/>
                        </a:rPr>
                        <a:t>By Country</a:t>
                      </a:r>
                      <a:endParaRPr sz="1100"/>
                    </a:p>
                  </a:txBody>
                  <a:tcPr marL="771525" marR="9525" marT="9525" marB="0" anchor="ctr"/>
                </a:tc>
              </a:tr>
              <a:tr h="175260">
                <a:tc>
                  <a:txBody>
                    <a:bodyPr wrap="square"/>
                    <a:lstStyle/>
                    <a:p>
                      <a:pPr algn="l"/>
                      <a:r>
                        <a:rPr sz="1100" b="1" i="0">
                          <a:solidFill>
                            <a:srgbClr val="000000"/>
                          </a:solidFill>
                          <a:latin typeface="Calibri"/>
                        </a:rPr>
                        <a:t>16.</a:t>
                      </a:r>
                      <a:r>
                        <a:rPr sz="700" b="1" i="0">
                          <a:solidFill>
                            <a:srgbClr val="000000"/>
                          </a:solidFill>
                          <a:latin typeface="Times New Roman"/>
                        </a:rPr>
                        <a:t>    </a:t>
                      </a:r>
                      <a:r>
                        <a:rPr sz="1100" b="1" i="0">
                          <a:solidFill>
                            <a:srgbClr val="000000"/>
                          </a:solidFill>
                          <a:latin typeface="Calibri"/>
                        </a:rPr>
                        <a:t>Middle East &amp; Africa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16.1.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16.2.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16.3.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16.4.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16.4.1.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16.4.2.</a:t>
                      </a:r>
                      <a:r>
                        <a:rPr sz="700" b="0" i="0">
                          <a:solidFill>
                            <a:srgbClr val="000000"/>
                          </a:solidFill>
                          <a:latin typeface="Times New Roman"/>
                        </a:rPr>
                        <a:t> </a:t>
                      </a:r>
                      <a:r>
                        <a:rPr sz="1100" b="0" i="0">
                          <a:solidFill>
                            <a:srgbClr val="000000"/>
                          </a:solidFill>
                          <a:latin typeface="Calibri"/>
                        </a:rPr>
                        <a:t>By Material Type</a:t>
                      </a:r>
                      <a:endParaRPr sz="1100"/>
                    </a:p>
                  </a:txBody>
                  <a:tcPr marL="771525" marR="9525" marT="9525" marB="0" anchor="ctr"/>
                </a:tc>
              </a:tr>
              <a:tr h="175260">
                <a:tc>
                  <a:txBody>
                    <a:bodyPr wrap="square"/>
                    <a:lstStyle/>
                    <a:p>
                      <a:pPr algn="l"/>
                      <a:r>
                        <a:rPr sz="1100" b="0" i="0">
                          <a:solidFill>
                            <a:srgbClr val="000000"/>
                          </a:solidFill>
                          <a:latin typeface="Calibri"/>
                        </a:rPr>
                        <a:t>16.4.3.</a:t>
                      </a:r>
                      <a:r>
                        <a:rPr sz="700" b="0" i="0">
                          <a:solidFill>
                            <a:srgbClr val="000000"/>
                          </a:solidFill>
                          <a:latin typeface="Times New Roman"/>
                        </a:rPr>
                        <a:t> </a:t>
                      </a:r>
                      <a:r>
                        <a:rPr sz="1100" b="0" i="0">
                          <a:solidFill>
                            <a:srgbClr val="000000"/>
                          </a:solidFill>
                          <a:latin typeface="Calibri"/>
                        </a:rPr>
                        <a:t>By Technology</a:t>
                      </a:r>
                      <a:endParaRPr sz="1100"/>
                    </a:p>
                  </a:txBody>
                  <a:tcPr marL="771525" marR="9525" marT="9525" marB="0" anchor="ctr"/>
                </a:tc>
              </a:tr>
              <a:tr h="175260">
                <a:tc>
                  <a:txBody>
                    <a:bodyPr wrap="square"/>
                    <a:lstStyle/>
                    <a:p>
                      <a:pPr algn="l"/>
                      <a:r>
                        <a:rPr sz="1100" b="0" i="0">
                          <a:solidFill>
                            <a:srgbClr val="000000"/>
                          </a:solidFill>
                          <a:latin typeface="Calibri"/>
                        </a:rPr>
                        <a:t>16.4.4.</a:t>
                      </a:r>
                      <a:r>
                        <a:rPr sz="700" b="0" i="0">
                          <a:solidFill>
                            <a:srgbClr val="000000"/>
                          </a:solidFill>
                          <a:latin typeface="Times New Roman"/>
                        </a:rPr>
                        <a:t> </a:t>
                      </a:r>
                      <a:r>
                        <a:rPr sz="1100" b="0" i="0">
                          <a:solidFill>
                            <a:srgbClr val="000000"/>
                          </a:solidFill>
                          <a:latin typeface="Calibri"/>
                        </a:rPr>
                        <a:t>By End User</a:t>
                      </a:r>
                      <a:endParaRPr sz="1100"/>
                    </a:p>
                  </a:txBody>
                  <a:tcPr marL="771525" marR="9525" marT="9525" marB="0" anchor="ctr"/>
                </a:tc>
              </a:tr>
              <a:tr h="175260">
                <a:tc>
                  <a:txBody>
                    <a:bodyPr wrap="square"/>
                    <a:lstStyle/>
                    <a:p>
                      <a:pPr algn="l"/>
                      <a:r>
                        <a:rPr sz="1100" b="0" i="0">
                          <a:solidFill>
                            <a:srgbClr val="000000"/>
                          </a:solidFill>
                          <a:latin typeface="Calibri"/>
                        </a:rPr>
                        <a:t>16.4.5.</a:t>
                      </a:r>
                      <a:r>
                        <a:rPr sz="700" b="0" i="0">
                          <a:solidFill>
                            <a:srgbClr val="000000"/>
                          </a:solidFill>
                          <a:latin typeface="Times New Roman"/>
                        </a:rPr>
                        <a:t> </a:t>
                      </a:r>
                      <a:r>
                        <a:rPr sz="1100" b="0" i="0">
                          <a:solidFill>
                            <a:srgbClr val="000000"/>
                          </a:solidFill>
                          <a:latin typeface="Calibri"/>
                        </a:rPr>
                        <a:t>By Distribution Channel</a:t>
                      </a:r>
                      <a:endParaRPr sz="1100"/>
                    </a:p>
                  </a:txBody>
                  <a:tcPr marL="771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0000"/>
                          </a:solidFill>
                          <a:latin typeface="Calibri"/>
                        </a:rPr>
                        <a:t>16.4.6.</a:t>
                      </a:r>
                      <a:r>
                        <a:rPr sz="700" b="0" i="0">
                          <a:solidFill>
                            <a:srgbClr val="000000"/>
                          </a:solidFill>
                          <a:latin typeface="Times New Roman"/>
                        </a:rPr>
                        <a:t> </a:t>
                      </a:r>
                      <a:r>
                        <a:rPr sz="1100" b="0" i="0">
                          <a:solidFill>
                            <a:srgbClr val="000000"/>
                          </a:solidFill>
                          <a:latin typeface="Calibri"/>
                        </a:rPr>
                        <a:t>By Patient Age Group</a:t>
                      </a:r>
                      <a:endParaRPr sz="1100"/>
                    </a:p>
                  </a:txBody>
                  <a:tcPr marL="771525" marR="9525" marT="9525" marB="0" anchor="ctr"/>
                </a:tc>
              </a:tr>
              <a:tr h="175260">
                <a:tc>
                  <a:txBody>
                    <a:bodyPr wrap="square"/>
                    <a:lstStyle/>
                    <a:p>
                      <a:pPr algn="l"/>
                      <a:r>
                        <a:rPr sz="1100" b="0" i="0">
                          <a:solidFill>
                            <a:srgbClr val="000000"/>
                          </a:solidFill>
                          <a:latin typeface="Calibri"/>
                        </a:rPr>
                        <a:t>16.4.7.</a:t>
                      </a:r>
                      <a:r>
                        <a:rPr sz="700" b="0" i="0">
                          <a:solidFill>
                            <a:srgbClr val="000000"/>
                          </a:solidFill>
                          <a:latin typeface="Times New Roman"/>
                        </a:rPr>
                        <a:t> </a:t>
                      </a:r>
                      <a:r>
                        <a:rPr sz="1100" b="0" i="0">
                          <a:solidFill>
                            <a:srgbClr val="000000"/>
                          </a:solidFill>
                          <a:latin typeface="Calibri"/>
                        </a:rPr>
                        <a:t>By Country</a:t>
                      </a:r>
                      <a:endParaRPr sz="1100"/>
                    </a:p>
                  </a:txBody>
                  <a:tcPr marL="771525" marR="9525" marT="9525" marB="0" anchor="ctr"/>
                </a:tc>
              </a:tr>
              <a:tr h="175260">
                <a:tc>
                  <a:txBody>
                    <a:bodyPr wrap="square"/>
                    <a:lstStyle/>
                    <a:p>
                      <a:pPr algn="l"/>
                      <a:r>
                        <a:rPr sz="1100" b="1" i="0">
                          <a:solidFill>
                            <a:srgbClr val="000000"/>
                          </a:solidFill>
                          <a:latin typeface="Calibri"/>
                        </a:rPr>
                        <a:t>Section 3: Pricing Assessment</a:t>
                      </a:r>
                      <a:endParaRPr sz="1100"/>
                    </a:p>
                  </a:txBody>
                  <a:tcPr marL="9525" marR="9525" marT="9525" marB="0" anchor="ctr"/>
                </a:tc>
              </a:tr>
              <a:tr h="175260">
                <a:tc>
                  <a:txBody>
                    <a:bodyPr wrap="square"/>
                    <a:lstStyle/>
                    <a:p>
                      <a:pPr algn="l"/>
                      <a:r>
                        <a:rPr sz="1100" b="1" i="0">
                          <a:solidFill>
                            <a:srgbClr val="000000"/>
                          </a:solidFill>
                          <a:latin typeface="Calibri"/>
                        </a:rPr>
                        <a:t>17.</a:t>
                      </a:r>
                      <a:r>
                        <a:rPr sz="700" b="1" i="0">
                          <a:solidFill>
                            <a:srgbClr val="000000"/>
                          </a:solidFill>
                          <a:latin typeface="Times New Roman"/>
                        </a:rPr>
                        <a:t>    </a:t>
                      </a:r>
                      <a:r>
                        <a:rPr sz="1100" b="1" i="0">
                          <a:solidFill>
                            <a:srgbClr val="000000"/>
                          </a:solidFill>
                          <a:latin typeface="Calibri"/>
                        </a:rPr>
                        <a:t>Global Pricing Analysis</a:t>
                      </a:r>
                      <a:endParaRPr sz="1100"/>
                    </a:p>
                  </a:txBody>
                  <a:tcPr marL="171450" marR="9525" marT="9525" marB="0" anchor="ctr"/>
                </a:tc>
              </a:tr>
              <a:tr h="175260">
                <a:tc>
                  <a:txBody>
                    <a:bodyPr wrap="square"/>
                    <a:lstStyle/>
                    <a:p>
                      <a:pPr algn="l"/>
                      <a:r>
                        <a:rPr sz="1100" b="0" i="0">
                          <a:solidFill>
                            <a:srgbClr val="0070C0"/>
                          </a:solidFill>
                          <a:latin typeface="Calibri"/>
                        </a:rPr>
                        <a:t>17.1.</a:t>
                      </a:r>
                      <a:r>
                        <a:rPr sz="700" b="0" i="0">
                          <a:solidFill>
                            <a:srgbClr val="0070C0"/>
                          </a:solidFill>
                          <a:latin typeface="Times New Roman"/>
                        </a:rPr>
                        <a:t>  </a:t>
                      </a:r>
                      <a:r>
                        <a:rPr sz="1100" b="0" i="0">
                          <a:solidFill>
                            <a:srgbClr val="0070C0"/>
                          </a:solidFill>
                          <a:latin typeface="Calibri"/>
                        </a:rPr>
                        <a:t>Regional Price Assessment</a:t>
                      </a:r>
                      <a:endParaRPr sz="1100"/>
                    </a:p>
                  </a:txBody>
                  <a:tcPr marL="428625" marR="9525" marT="9525" marB="0" anchor="ctr"/>
                </a:tc>
              </a:tr>
              <a:tr h="175260">
                <a:tc>
                  <a:txBody>
                    <a:bodyPr wrap="square"/>
                    <a:lstStyle/>
                    <a:p>
                      <a:pPr algn="l"/>
                      <a:r>
                        <a:rPr sz="1100" b="0" i="0">
                          <a:solidFill>
                            <a:srgbClr val="000000"/>
                          </a:solidFill>
                          <a:latin typeface="Calibri"/>
                        </a:rPr>
                        <a:t>17.1.1.</a:t>
                      </a:r>
                      <a:r>
                        <a:rPr sz="700" b="0" i="0">
                          <a:solidFill>
                            <a:srgbClr val="000000"/>
                          </a:solidFill>
                          <a:latin typeface="Times New Roman"/>
                        </a:rPr>
                        <a:t> </a:t>
                      </a:r>
                      <a:r>
                        <a:rPr sz="1100" b="0" i="0">
                          <a:solidFill>
                            <a:srgbClr val="000000"/>
                          </a:solidFill>
                          <a:latin typeface="Calibri"/>
                        </a:rPr>
                        <a:t>Manufacturer / Dental Laboratory Level Pricing</a:t>
                      </a:r>
                      <a:endParaRPr sz="1100"/>
                    </a:p>
                  </a:txBody>
                  <a:tcPr marL="771525" marR="9525" marT="9525" marB="0" anchor="ctr"/>
                </a:tc>
              </a:tr>
              <a:tr h="175260">
                <a:tc>
                  <a:txBody>
                    <a:bodyPr wrap="square"/>
                    <a:lstStyle/>
                    <a:p>
                      <a:pPr algn="l"/>
                      <a:r>
                        <a:rPr sz="1100" b="0" i="0">
                          <a:solidFill>
                            <a:srgbClr val="000000"/>
                          </a:solidFill>
                          <a:latin typeface="Calibri"/>
                        </a:rPr>
                        <a:t>17.1.2.</a:t>
                      </a:r>
                      <a:r>
                        <a:rPr sz="700" b="0" i="0">
                          <a:solidFill>
                            <a:srgbClr val="000000"/>
                          </a:solidFill>
                          <a:latin typeface="Times New Roman"/>
                        </a:rPr>
                        <a:t> </a:t>
                      </a:r>
                      <a:r>
                        <a:rPr sz="1100" b="0" i="0">
                          <a:solidFill>
                            <a:srgbClr val="000000"/>
                          </a:solidFill>
                          <a:latin typeface="Calibri"/>
                        </a:rPr>
                        <a:t>Distributor Level Pricing</a:t>
                      </a:r>
                      <a:endParaRPr sz="1100"/>
                    </a:p>
                  </a:txBody>
                  <a:tcPr marL="771525" marR="9525" marT="9525" marB="0" anchor="ctr"/>
                </a:tc>
              </a:tr>
              <a:tr h="175260">
                <a:tc>
                  <a:txBody>
                    <a:bodyPr wrap="square"/>
                    <a:lstStyle/>
                    <a:p>
                      <a:pPr algn="l"/>
                      <a:r>
                        <a:rPr sz="1100" b="0" i="0">
                          <a:solidFill>
                            <a:srgbClr val="000000"/>
                          </a:solidFill>
                          <a:latin typeface="Calibri"/>
                        </a:rPr>
                        <a:t>17.1.3.</a:t>
                      </a:r>
                      <a:r>
                        <a:rPr sz="700" b="0" i="0">
                          <a:solidFill>
                            <a:srgbClr val="000000"/>
                          </a:solidFill>
                          <a:latin typeface="Times New Roman"/>
                        </a:rPr>
                        <a:t> </a:t>
                      </a:r>
                      <a:r>
                        <a:rPr sz="1100" b="0" i="0">
                          <a:solidFill>
                            <a:srgbClr val="000000"/>
                          </a:solidFill>
                          <a:latin typeface="Calibri"/>
                        </a:rPr>
                        <a:t>Dental Clinic / Patient-Level Pricing</a:t>
                      </a:r>
                      <a:endParaRPr sz="1100"/>
                    </a:p>
                  </a:txBody>
                  <a:tcPr marL="771525" marR="9525" marT="9525" marB="0" anchor="ctr"/>
                </a:tc>
              </a:tr>
              <a:tr h="175260">
                <a:tc>
                  <a:txBody>
                    <a:bodyPr wrap="square"/>
                    <a:lstStyle/>
                    <a:p>
                      <a:pPr algn="l"/>
                      <a:r>
                        <a:rPr sz="1100" b="0" i="0">
                          <a:solidFill>
                            <a:srgbClr val="0070C0"/>
                          </a:solidFill>
                          <a:latin typeface="Calibri"/>
                        </a:rPr>
                        <a:t>17.2.</a:t>
                      </a:r>
                      <a:r>
                        <a:rPr sz="700" b="0" i="0">
                          <a:solidFill>
                            <a:srgbClr val="0070C0"/>
                          </a:solidFill>
                          <a:latin typeface="Times New Roman"/>
                        </a:rPr>
                        <a:t>  </a:t>
                      </a:r>
                      <a:r>
                        <a:rPr sz="1100" b="0" i="0">
                          <a:solidFill>
                            <a:srgbClr val="0070C0"/>
                          </a:solidFill>
                          <a:latin typeface="Calibri"/>
                        </a:rPr>
                        <a:t>Segment-wise Price Comparison (Product Type vs Material Type)</a:t>
                      </a:r>
                      <a:endParaRPr sz="1100"/>
                    </a:p>
                  </a:txBody>
                  <a:tcPr marL="428625" marR="9525" marT="9525" marB="0" anchor="ctr"/>
                </a:tc>
              </a:tr>
              <a:tr h="175260">
                <a:tc>
                  <a:txBody>
                    <a:bodyPr wrap="square"/>
                    <a:lstStyle/>
                    <a:p>
                      <a:pPr algn="l"/>
                      <a:r>
                        <a:rPr sz="1100" b="0" i="0">
                          <a:solidFill>
                            <a:srgbClr val="0070C0"/>
                          </a:solidFill>
                          <a:latin typeface="Calibri"/>
                        </a:rPr>
                        <a:t>17.3.</a:t>
                      </a:r>
                      <a:r>
                        <a:rPr sz="700" b="0" i="0">
                          <a:solidFill>
                            <a:srgbClr val="0070C0"/>
                          </a:solidFill>
                          <a:latin typeface="Times New Roman"/>
                        </a:rPr>
                        <a:t>  </a:t>
                      </a:r>
                      <a:r>
                        <a:rPr sz="1100" b="0" i="0">
                          <a:solidFill>
                            <a:srgbClr val="0070C0"/>
                          </a:solidFill>
                          <a:latin typeface="Calibri"/>
                        </a:rPr>
                        <a:t>Country-wise Price Comparison (Product Type)</a:t>
                      </a:r>
                      <a:endParaRPr sz="1100"/>
                    </a:p>
                  </a:txBody>
                  <a:tcPr marL="428625" marR="9525" marT="9525" marB="0" anchor="ctr"/>
                </a:tc>
              </a:tr>
              <a:tr h="175260">
                <a:tc>
                  <a:txBody>
                    <a:bodyPr wrap="square"/>
                    <a:lstStyle/>
                    <a:p>
                      <a:pPr algn="l"/>
                      <a:r>
                        <a:rPr sz="1100" b="0" i="0">
                          <a:solidFill>
                            <a:srgbClr val="0070C0"/>
                          </a:solidFill>
                          <a:latin typeface="Calibri"/>
                        </a:rPr>
                        <a:t>17.4.</a:t>
                      </a:r>
                      <a:r>
                        <a:rPr sz="700" b="0" i="0">
                          <a:solidFill>
                            <a:srgbClr val="0070C0"/>
                          </a:solidFill>
                          <a:latin typeface="Times New Roman"/>
                        </a:rPr>
                        <a:t>  </a:t>
                      </a:r>
                      <a:r>
                        <a:rPr sz="1100" b="0" i="0">
                          <a:solidFill>
                            <a:srgbClr val="0070C0"/>
                          </a:solidFill>
                          <a:latin typeface="Calibri"/>
                        </a:rPr>
                        <a:t>Price Forecast till 2036</a:t>
                      </a:r>
                      <a:endParaRPr sz="1100"/>
                    </a:p>
                  </a:txBody>
                  <a:tcPr marL="428625" marR="9525" marT="9525" marB="0" anchor="ctr"/>
                </a:tc>
              </a:tr>
              <a:tr h="175260">
                <a:tc>
                  <a:txBody>
                    <a:bodyPr wrap="square"/>
                    <a:lstStyle/>
                    <a:p>
                      <a:pPr algn="l"/>
                      <a:r>
                        <a:rPr sz="1100" b="0" i="0">
                          <a:solidFill>
                            <a:srgbClr val="0070C0"/>
                          </a:solidFill>
                          <a:latin typeface="Calibri"/>
                        </a:rPr>
                        <a:t>17.5.</a:t>
                      </a:r>
                      <a:r>
                        <a:rPr sz="700" b="0" i="0">
                          <a:solidFill>
                            <a:srgbClr val="0070C0"/>
                          </a:solidFill>
                          <a:latin typeface="Times New Roman"/>
                        </a:rPr>
                        <a:t>  </a:t>
                      </a:r>
                      <a:r>
                        <a:rPr sz="1100" b="0" i="0">
                          <a:solidFill>
                            <a:srgbClr val="0070C0"/>
                          </a:solidFill>
                          <a:latin typeface="Calibri"/>
                        </a:rPr>
                        <a:t>Factors Impacting Pricing</a:t>
                      </a:r>
                      <a:endParaRPr sz="1100"/>
                    </a:p>
                  </a:txBody>
                  <a:tcPr marL="428625" marR="9525" marT="9525" marB="0" anchor="ctr"/>
                </a:tc>
              </a:tr>
              <a:tr h="175260">
                <a:tc>
                  <a:txBody>
                    <a:bodyPr wrap="square"/>
                    <a:lstStyle/>
                    <a:p>
                      <a:pPr algn="l"/>
                      <a:r>
                        <a:rPr sz="1100" b="0" i="0">
                          <a:solidFill>
                            <a:srgbClr val="0070C0"/>
                          </a:solidFill>
                          <a:latin typeface="Calibri"/>
                        </a:rPr>
                        <a:t>17.6.</a:t>
                      </a:r>
                      <a:r>
                        <a:rPr sz="700" b="0" i="0">
                          <a:solidFill>
                            <a:srgbClr val="0070C0"/>
                          </a:solidFill>
                          <a:latin typeface="Times New Roman"/>
                        </a:rPr>
                        <a:t>  </a:t>
                      </a:r>
                      <a:r>
                        <a:rPr sz="1100" b="0" i="0">
                          <a:solidFill>
                            <a:srgbClr val="0070C0"/>
                          </a:solidFill>
                          <a:latin typeface="Calibri"/>
                        </a:rPr>
                        <a:t>Competitor Pricing Strategies</a:t>
                      </a:r>
                      <a:endParaRPr sz="1100"/>
                    </a:p>
                  </a:txBody>
                  <a:tcPr marL="428625" marR="9525" marT="9525" marB="0" anchor="ctr"/>
                </a:tc>
              </a:tr>
              <a:tr h="175260">
                <a:tc>
                  <a:txBody>
                    <a:bodyPr wrap="square"/>
                    <a:lstStyle/>
                    <a:p>
                      <a:pPr algn="l"/>
                      <a:r>
                        <a:rPr sz="1100" b="0" i="0">
                          <a:solidFill>
                            <a:srgbClr val="0070C0"/>
                          </a:solidFill>
                          <a:latin typeface="Calibri"/>
                        </a:rPr>
                        <a:t>17.7.</a:t>
                      </a:r>
                      <a:r>
                        <a:rPr sz="700" b="0" i="0">
                          <a:solidFill>
                            <a:srgbClr val="0070C0"/>
                          </a:solidFill>
                          <a:latin typeface="Times New Roman"/>
                        </a:rPr>
                        <a:t>  </a:t>
                      </a:r>
                      <a:r>
                        <a:rPr sz="1100" b="0" i="0">
                          <a:solidFill>
                            <a:srgbClr val="0070C0"/>
                          </a:solidFill>
                          <a:latin typeface="Calibri"/>
                        </a:rPr>
                        <a:t>Device Price Benchmarking Analysis</a:t>
                      </a:r>
                      <a:endParaRPr sz="1100"/>
                    </a:p>
                  </a:txBody>
                  <a:tcPr marL="428625" marR="9525" marT="9525" marB="0" anchor="ctr"/>
                </a:tc>
              </a:tr>
              <a:tr h="175260">
                <a:tc>
                  <a:txBody>
                    <a:bodyPr wrap="square"/>
                    <a:lstStyle/>
                    <a:p>
                      <a:pPr algn="l"/>
                      <a:r>
                        <a:rPr sz="1100" b="0" i="0">
                          <a:solidFill>
                            <a:srgbClr val="000000"/>
                          </a:solidFill>
                          <a:latin typeface="Calibri"/>
                        </a:rPr>
                        <a:t>17.7.1.</a:t>
                      </a:r>
                      <a:r>
                        <a:rPr sz="700" b="0" i="0">
                          <a:solidFill>
                            <a:srgbClr val="000000"/>
                          </a:solidFill>
                          <a:latin typeface="Times New Roman"/>
                        </a:rPr>
                        <a:t> </a:t>
                      </a:r>
                      <a:r>
                        <a:rPr sz="1100" b="0" i="0">
                          <a:solidFill>
                            <a:srgbClr val="000000"/>
                          </a:solidFill>
                          <a:latin typeface="Calibri"/>
                        </a:rPr>
                        <a:t>Product Type-wise Price Comparison</a:t>
                      </a:r>
                      <a:endParaRPr sz="1100"/>
                    </a:p>
                  </a:txBody>
                  <a:tcPr marL="771525" marR="9525" marT="9525" marB="0" anchor="ctr"/>
                </a:tc>
              </a:tr>
              <a:tr h="175260">
                <a:tc>
                  <a:txBody>
                    <a:bodyPr wrap="square"/>
                    <a:lstStyle/>
                    <a:p>
                      <a:pPr algn="l"/>
                      <a:r>
                        <a:rPr sz="1100" b="0" i="0">
                          <a:solidFill>
                            <a:srgbClr val="000000"/>
                          </a:solidFill>
                          <a:latin typeface="Calibri"/>
                        </a:rPr>
                        <a:t>17.7.2.</a:t>
                      </a:r>
                      <a:r>
                        <a:rPr sz="700" b="0" i="0">
                          <a:solidFill>
                            <a:srgbClr val="000000"/>
                          </a:solidFill>
                          <a:latin typeface="Times New Roman"/>
                        </a:rPr>
                        <a:t> </a:t>
                      </a:r>
                      <a:r>
                        <a:rPr sz="1100" b="0" i="0">
                          <a:solidFill>
                            <a:srgbClr val="000000"/>
                          </a:solidFill>
                          <a:latin typeface="Calibri"/>
                        </a:rPr>
                        <a:t>Material Type-wise Price Benchmarking</a:t>
                      </a:r>
                      <a:endParaRPr sz="1100"/>
                    </a:p>
                  </a:txBody>
                  <a:tcPr marL="771525" marR="9525" marT="9525" marB="0" anchor="ctr"/>
                </a:tc>
              </a:tr>
              <a:tr h="175260">
                <a:tc>
                  <a:txBody>
                    <a:bodyPr wrap="square"/>
                    <a:lstStyle/>
                    <a:p>
                      <a:pPr algn="l"/>
                      <a:r>
                        <a:rPr sz="1100" b="0" i="0">
                          <a:solidFill>
                            <a:srgbClr val="000000"/>
                          </a:solidFill>
                          <a:latin typeface="Calibri"/>
                        </a:rPr>
                        <a:t>17.7.3.</a:t>
                      </a:r>
                      <a:r>
                        <a:rPr sz="700" b="0" i="0">
                          <a:solidFill>
                            <a:srgbClr val="000000"/>
                          </a:solidFill>
                          <a:latin typeface="Times New Roman"/>
                        </a:rPr>
                        <a:t> </a:t>
                      </a:r>
                      <a:r>
                        <a:rPr sz="1100" b="0" i="0">
                          <a:solidFill>
                            <a:srgbClr val="000000"/>
                          </a:solidFill>
                          <a:latin typeface="Calibri"/>
                        </a:rPr>
                        <a:t>Conventional vs. Digital Fabrication Cost Comparison</a:t>
                      </a:r>
                      <a:endParaRPr sz="1100"/>
                    </a:p>
                  </a:txBody>
                  <a:tcPr marL="771525" marR="9525" marT="9525" marB="0" anchor="ctr"/>
                </a:tc>
              </a:tr>
              <a:tr h="175260">
                <a:tc>
                  <a:txBody>
                    <a:bodyPr wrap="square"/>
                    <a:lstStyle/>
                    <a:p>
                      <a:pPr algn="l"/>
                      <a:r>
                        <a:rPr sz="1100" b="0" i="0">
                          <a:solidFill>
                            <a:srgbClr val="000000"/>
                          </a:solidFill>
                          <a:latin typeface="Calibri"/>
                        </a:rPr>
                        <a:t>17.7.4.</a:t>
                      </a:r>
                      <a:r>
                        <a:rPr sz="700" b="0" i="0">
                          <a:solidFill>
                            <a:srgbClr val="000000"/>
                          </a:solidFill>
                          <a:latin typeface="Times New Roman"/>
                        </a:rPr>
                        <a:t> </a:t>
                      </a:r>
                      <a:r>
                        <a:rPr sz="1100" b="0" i="0">
                          <a:solidFill>
                            <a:srgbClr val="000000"/>
                          </a:solidFill>
                          <a:latin typeface="Calibri"/>
                        </a:rPr>
                        <a:t>Manufacturer / Dental Laboratory-level Price Comparison</a:t>
                      </a:r>
                      <a:endParaRPr sz="1100"/>
                    </a:p>
                  </a:txBody>
                  <a:tcPr marL="771525" marR="9525" marT="9525" marB="0" anchor="ctr"/>
                </a:tc>
              </a:tr>
              <a:tr h="175260">
                <a:tc>
                  <a:txBody>
                    <a:bodyPr wrap="square"/>
                    <a:lstStyle/>
                    <a:p>
                      <a:pPr algn="l"/>
                      <a:r>
                        <a:rPr sz="1100" b="0" i="0">
                          <a:solidFill>
                            <a:srgbClr val="000000"/>
                          </a:solidFill>
                          <a:latin typeface="Calibri"/>
                        </a:rPr>
                        <a:t>17.7.5.</a:t>
                      </a:r>
                      <a:r>
                        <a:rPr sz="700" b="0" i="0">
                          <a:solidFill>
                            <a:srgbClr val="000000"/>
                          </a:solidFill>
                          <a:latin typeface="Times New Roman"/>
                        </a:rPr>
                        <a:t> </a:t>
                      </a:r>
                      <a:r>
                        <a:rPr sz="1100" b="0" i="0">
                          <a:solidFill>
                            <a:srgbClr val="000000"/>
                          </a:solidFill>
                          <a:latin typeface="Calibri"/>
                        </a:rPr>
                        <a:t>Country-wise and Regional Price Benchmarking</a:t>
                      </a:r>
                      <a:endParaRPr sz="1100"/>
                    </a:p>
                  </a:txBody>
                  <a:tcPr marL="771525" marR="9525" marT="9525" marB="0" anchor="ctr"/>
                </a:tc>
              </a:tr>
              <a:tr h="175260">
                <a:tc>
                  <a:txBody>
                    <a:bodyPr wrap="square"/>
                    <a:lstStyle/>
                    <a:p>
                      <a:pPr algn="l"/>
                      <a:r>
                        <a:rPr sz="1100" b="0" i="0">
                          <a:solidFill>
                            <a:srgbClr val="000000"/>
                          </a:solidFill>
                          <a:latin typeface="Calibri"/>
                        </a:rPr>
                        <a:t>17.7.6.</a:t>
                      </a:r>
                      <a:r>
                        <a:rPr sz="700" b="0" i="0">
                          <a:solidFill>
                            <a:srgbClr val="000000"/>
                          </a:solidFill>
                          <a:latin typeface="Times New Roman"/>
                        </a:rPr>
                        <a:t> </a:t>
                      </a:r>
                      <a:r>
                        <a:rPr sz="1100" b="0" i="0">
                          <a:solidFill>
                            <a:srgbClr val="000000"/>
                          </a:solidFill>
                          <a:latin typeface="Calibri"/>
                        </a:rPr>
                        <a:t>Price Variation by Product Quality, Customization and Design Complexity</a:t>
                      </a:r>
                      <a:endParaRPr sz="1100"/>
                    </a:p>
                  </a:txBody>
                  <a:tcPr marL="771525" marR="9525" marT="9525" marB="0" anchor="ctr"/>
                </a:tc>
              </a:tr>
              <a:tr h="175260">
                <a:tc>
                  <a:txBody>
                    <a:bodyPr wrap="square"/>
                    <a:lstStyle/>
                    <a:p>
                      <a:pPr algn="l"/>
                      <a:r>
                        <a:rPr sz="1100" b="1" i="0">
                          <a:solidFill>
                            <a:srgbClr val="000000"/>
                          </a:solidFill>
                          <a:latin typeface="Calibri"/>
                        </a:rPr>
                        <a:t>Section 4: Market Dynamics</a:t>
                      </a:r>
                      <a:endParaRPr sz="1100"/>
                    </a:p>
                  </a:txBody>
                  <a:tcPr marL="9525" marR="9525" marT="9525" marB="0" anchor="ctr"/>
                </a:tc>
              </a:tr>
              <a:tr h="175260">
                <a:tc>
                  <a:txBody>
                    <a:bodyPr wrap="square"/>
                    <a:lstStyle/>
                    <a:p>
                      <a:pPr algn="l"/>
                      <a:r>
                        <a:rPr sz="1100" b="1" i="0">
                          <a:solidFill>
                            <a:srgbClr val="000000"/>
                          </a:solidFill>
                          <a:latin typeface="Calibri"/>
                        </a:rPr>
                        <a:t>18.</a:t>
                      </a:r>
                      <a:r>
                        <a:rPr sz="700" b="1" i="0">
                          <a:solidFill>
                            <a:srgbClr val="000000"/>
                          </a:solidFill>
                          <a:latin typeface="Times New Roman"/>
                        </a:rPr>
                        <a:t>    </a:t>
                      </a:r>
                      <a:r>
                        <a:rPr sz="1100" b="1" i="0">
                          <a:solidFill>
                            <a:srgbClr val="000000"/>
                          </a:solidFill>
                          <a:latin typeface="Calibri"/>
                        </a:rPr>
                        <a:t>Innovation Tracker</a:t>
                      </a:r>
                      <a:endParaRPr sz="1100"/>
                    </a:p>
                  </a:txBody>
                  <a:tcPr marL="171450" marR="9525" marT="9525" marB="0" anchor="ctr"/>
                </a:tc>
              </a:tr>
              <a:tr h="175260">
                <a:tc>
                  <a:txBody>
                    <a:bodyPr wrap="square"/>
                    <a:lstStyle/>
                    <a:p>
                      <a:pPr algn="l"/>
                      <a:r>
                        <a:rPr sz="1100" b="0" i="0">
                          <a:solidFill>
                            <a:srgbClr val="0070C0"/>
                          </a:solidFill>
                          <a:latin typeface="Calibri"/>
                        </a:rPr>
                        <a:t>18.1.</a:t>
                      </a:r>
                      <a:r>
                        <a:rPr sz="700" b="0" i="0">
                          <a:solidFill>
                            <a:srgbClr val="0070C0"/>
                          </a:solidFill>
                          <a:latin typeface="Times New Roman"/>
                        </a:rPr>
                        <a:t>  </a:t>
                      </a:r>
                      <a:r>
                        <a:rPr sz="1100" b="0" i="0">
                          <a:solidFill>
                            <a:srgbClr val="0070C0"/>
                          </a:solidFill>
                          <a:latin typeface="Calibri"/>
                        </a:rPr>
                        <a:t>Major Deals and Strategic Alliance</a:t>
                      </a:r>
                      <a:endParaRPr sz="1100"/>
                    </a:p>
                  </a:txBody>
                  <a:tcPr marL="428625" marR="9525" marT="9525" marB="0" anchor="ctr"/>
                </a:tc>
              </a:tr>
              <a:tr h="175260">
                <a:tc>
                  <a:txBody>
                    <a:bodyPr wrap="square"/>
                    <a:lstStyle/>
                    <a:p>
                      <a:pPr algn="l"/>
                      <a:r>
                        <a:rPr sz="1100" b="0" i="0">
                          <a:solidFill>
                            <a:srgbClr val="000000"/>
                          </a:solidFill>
                          <a:latin typeface="Calibri"/>
                        </a:rPr>
                        <a:t>18.1.1.</a:t>
                      </a:r>
                      <a:r>
                        <a:rPr sz="700" b="0" i="0">
                          <a:solidFill>
                            <a:srgbClr val="000000"/>
                          </a:solidFill>
                          <a:latin typeface="Times New Roman"/>
                        </a:rPr>
                        <a:t> </a:t>
                      </a:r>
                      <a:r>
                        <a:rPr sz="1100" b="0" i="0">
                          <a:solidFill>
                            <a:srgbClr val="000000"/>
                          </a:solidFill>
                          <a:latin typeface="Calibri"/>
                        </a:rPr>
                        <a:t>Joint Ventures, M&amp;A, Licensing &amp; Partnerships</a:t>
                      </a:r>
                      <a:endParaRPr sz="1100"/>
                    </a:p>
                  </a:txBody>
                  <a:tcPr marL="771525" marR="9525" marT="9525" marB="0" anchor="ctr"/>
                </a:tc>
              </a:tr>
              <a:tr h="175260">
                <a:tc>
                  <a:txBody>
                    <a:bodyPr wrap="square"/>
                    <a:lstStyle/>
                    <a:p>
                      <a:pPr algn="l"/>
                      <a:r>
                        <a:rPr sz="1100" b="0" i="0">
                          <a:solidFill>
                            <a:srgbClr val="000000"/>
                          </a:solidFill>
                          <a:latin typeface="Calibri"/>
                        </a:rPr>
                        <a:t>18.1.2.</a:t>
                      </a:r>
                      <a:r>
                        <a:rPr sz="700" b="0" i="0">
                          <a:solidFill>
                            <a:srgbClr val="000000"/>
                          </a:solidFill>
                          <a:latin typeface="Times New Roman"/>
                        </a:rPr>
                        <a:t> </a:t>
                      </a:r>
                      <a:r>
                        <a:rPr sz="1100" b="0" i="0">
                          <a:solidFill>
                            <a:srgbClr val="000000"/>
                          </a:solidFill>
                          <a:latin typeface="Calibri"/>
                        </a:rPr>
                        <a:t>Technology Collaboration in Digital Denture Fabrication</a:t>
                      </a:r>
                      <a:endParaRPr sz="1100"/>
                    </a:p>
                  </a:txBody>
                  <a:tcPr marL="771525" marR="9525" marT="9525" marB="0" anchor="ctr"/>
                </a:tc>
              </a:tr>
              <a:tr h="175260">
                <a:tc>
                  <a:txBody>
                    <a:bodyPr wrap="square"/>
                    <a:lstStyle/>
                    <a:p>
                      <a:pPr algn="l"/>
                      <a:r>
                        <a:rPr sz="1100" b="0" i="0">
                          <a:solidFill>
                            <a:srgbClr val="000000"/>
                          </a:solidFill>
                          <a:latin typeface="Calibri"/>
                        </a:rPr>
                        <a:t>18.1.3.</a:t>
                      </a:r>
                      <a:r>
                        <a:rPr sz="700" b="0" i="0">
                          <a:solidFill>
                            <a:srgbClr val="000000"/>
                          </a:solidFill>
                          <a:latin typeface="Times New Roman"/>
                        </a:rPr>
                        <a:t> </a:t>
                      </a:r>
                      <a:r>
                        <a:rPr sz="1100" b="0" i="0">
                          <a:solidFill>
                            <a:srgbClr val="000000"/>
                          </a:solidFill>
                          <a:latin typeface="Calibri"/>
                        </a:rPr>
                        <a:t>Strategic Divestments/ Investments</a:t>
                      </a:r>
                      <a:endParaRPr sz="1100"/>
                    </a:p>
                  </a:txBody>
                  <a:tcPr marL="771525" marR="9525" marT="9525" marB="0" anchor="ctr"/>
                </a:tc>
              </a:tr>
              <a:tr h="175260">
                <a:tc>
                  <a:txBody>
                    <a:bodyPr wrap="square"/>
                    <a:lstStyle/>
                    <a:p>
                      <a:pPr algn="l"/>
                      <a:r>
                        <a:rPr sz="1100" b="0" i="0">
                          <a:solidFill>
                            <a:srgbClr val="0070C0"/>
                          </a:solidFill>
                          <a:latin typeface="Calibri"/>
                        </a:rPr>
                        <a:t>18.2.</a:t>
                      </a:r>
                      <a:r>
                        <a:rPr sz="700" b="0" i="0">
                          <a:solidFill>
                            <a:srgbClr val="0070C0"/>
                          </a:solidFill>
                          <a:latin typeface="Times New Roman"/>
                        </a:rPr>
                        <a:t>  </a:t>
                      </a:r>
                      <a:r>
                        <a:rPr sz="1100" b="0" i="0">
                          <a:solidFill>
                            <a:srgbClr val="0070C0"/>
                          </a:solidFill>
                          <a:latin typeface="Calibri"/>
                        </a:rPr>
                        <a:t>Product Launches &amp; Development</a:t>
                      </a:r>
                      <a:endParaRPr sz="1100"/>
                    </a:p>
                  </a:txBody>
                  <a:tcPr marL="428625" marR="9525" marT="9525" marB="0" anchor="ctr"/>
                </a:tc>
              </a:tr>
              <a:tr h="175260">
                <a:tc>
                  <a:txBody>
                    <a:bodyPr wrap="square"/>
                    <a:lstStyle/>
                    <a:p>
                      <a:pPr algn="l"/>
                      <a:r>
                        <a:rPr sz="1100" b="1" i="0">
                          <a:solidFill>
                            <a:srgbClr val="000000"/>
                          </a:solidFill>
                          <a:latin typeface="Calibri"/>
                        </a:rPr>
                        <a:t>19.</a:t>
                      </a:r>
                      <a:r>
                        <a:rPr sz="700" b="1" i="0">
                          <a:solidFill>
                            <a:srgbClr val="000000"/>
                          </a:solidFill>
                          <a:latin typeface="Times New Roman"/>
                        </a:rPr>
                        <a:t>    </a:t>
                      </a:r>
                      <a:r>
                        <a:rPr sz="1100" b="1" i="0">
                          <a:solidFill>
                            <a:srgbClr val="000000"/>
                          </a:solidFill>
                          <a:latin typeface="Calibri"/>
                        </a:rPr>
                        <a:t>Stakeholder Perspectives – Manufacturer, Customer &amp; Distributor Insights</a:t>
                      </a:r>
                      <a:endParaRPr sz="1100"/>
                    </a:p>
                  </a:txBody>
                  <a:tcPr marL="171450" marR="9525" marT="9525" marB="0" anchor="ctr"/>
                </a:tc>
              </a:tr>
              <a:tr h="175260">
                <a:tc>
                  <a:txBody>
                    <a:bodyPr wrap="square"/>
                    <a:lstStyle/>
                    <a:p>
                      <a:pPr algn="l"/>
                      <a:r>
                        <a:rPr sz="1100" b="0" i="0">
                          <a:solidFill>
                            <a:srgbClr val="0070C0"/>
                          </a:solidFill>
                          <a:latin typeface="Calibri"/>
                        </a:rPr>
                        <a:t>19.1.</a:t>
                      </a:r>
                      <a:r>
                        <a:rPr sz="700" b="0" i="0">
                          <a:solidFill>
                            <a:srgbClr val="0070C0"/>
                          </a:solidFill>
                          <a:latin typeface="Times New Roman"/>
                        </a:rPr>
                        <a:t>  </a:t>
                      </a:r>
                      <a:r>
                        <a:rPr sz="1100" b="0" i="0">
                          <a:solidFill>
                            <a:srgbClr val="0070C0"/>
                          </a:solidFill>
                          <a:latin typeface="Calibri"/>
                        </a:rPr>
                        <a:t>Stakeholder Insights</a:t>
                      </a:r>
                      <a:endParaRPr sz="1100"/>
                    </a:p>
                  </a:txBody>
                  <a:tcPr marL="428625" marR="9525" marT="9525" marB="0" anchor="ctr"/>
                </a:tc>
              </a:tr>
              <a:tr h="175260">
                <a:tc>
                  <a:txBody>
                    <a:bodyPr wrap="square"/>
                    <a:lstStyle/>
                    <a:p>
                      <a:pPr algn="l"/>
                      <a:r>
                        <a:rPr sz="1100" b="0" i="0">
                          <a:solidFill>
                            <a:srgbClr val="000000"/>
                          </a:solidFill>
                          <a:latin typeface="Calibri"/>
                        </a:rPr>
                        <a:t>19.1.1.</a:t>
                      </a:r>
                      <a:r>
                        <a:rPr sz="700" b="0" i="0">
                          <a:solidFill>
                            <a:srgbClr val="000000"/>
                          </a:solidFill>
                          <a:latin typeface="Times New Roman"/>
                        </a:rPr>
                        <a:t> </a:t>
                      </a:r>
                      <a:r>
                        <a:rPr sz="1100" b="0" i="0">
                          <a:solidFill>
                            <a:srgbClr val="000000"/>
                          </a:solidFill>
                          <a:latin typeface="Calibri"/>
                        </a:rPr>
                        <a:t>Manufacturers and Dental Laboratories</a:t>
                      </a:r>
                      <a:endParaRPr sz="1100"/>
                    </a:p>
                  </a:txBody>
                  <a:tcPr marL="771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(5/6)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0000"/>
                          </a:solidFill>
                          <a:latin typeface="Calibri"/>
                        </a:rPr>
                        <a:t>19.1.2.</a:t>
                      </a:r>
                      <a:r>
                        <a:rPr sz="700" b="0" i="0">
                          <a:solidFill>
                            <a:srgbClr val="000000"/>
                          </a:solidFill>
                          <a:latin typeface="Times New Roman"/>
                        </a:rPr>
                        <a:t> </a:t>
                      </a:r>
                      <a:r>
                        <a:rPr sz="1100" b="0" i="0">
                          <a:solidFill>
                            <a:srgbClr val="000000"/>
                          </a:solidFill>
                          <a:latin typeface="Calibri"/>
                        </a:rPr>
                        <a:t>Dental Clinics, Dentists and Patients</a:t>
                      </a:r>
                      <a:endParaRPr sz="1100"/>
                    </a:p>
                  </a:txBody>
                  <a:tcPr marL="771525" marR="9525" marT="9525" marB="0" anchor="ctr"/>
                </a:tc>
              </a:tr>
              <a:tr h="175260">
                <a:tc>
                  <a:txBody>
                    <a:bodyPr wrap="square"/>
                    <a:lstStyle/>
                    <a:p>
                      <a:pPr algn="l"/>
                      <a:r>
                        <a:rPr sz="1100" b="0" i="0">
                          <a:solidFill>
                            <a:srgbClr val="000000"/>
                          </a:solidFill>
                          <a:latin typeface="Calibri"/>
                        </a:rPr>
                        <a:t>19.1.3.</a:t>
                      </a:r>
                      <a:r>
                        <a:rPr sz="700" b="0" i="0">
                          <a:solidFill>
                            <a:srgbClr val="000000"/>
                          </a:solidFill>
                          <a:latin typeface="Times New Roman"/>
                        </a:rPr>
                        <a:t> </a:t>
                      </a:r>
                      <a:r>
                        <a:rPr sz="1100" b="0" i="0">
                          <a:solidFill>
                            <a:srgbClr val="000000"/>
                          </a:solidFill>
                          <a:latin typeface="Calibri"/>
                        </a:rPr>
                        <a:t>Dental Dealers and Distributors</a:t>
                      </a:r>
                      <a:endParaRPr sz="1100"/>
                    </a:p>
                  </a:txBody>
                  <a:tcPr marL="771525" marR="9525" marT="9525" marB="0" anchor="ctr"/>
                </a:tc>
              </a:tr>
              <a:tr h="175260">
                <a:tc>
                  <a:txBody>
                    <a:bodyPr wrap="square"/>
                    <a:lstStyle/>
                    <a:p>
                      <a:pPr algn="l"/>
                      <a:r>
                        <a:rPr sz="1100" b="0" i="0">
                          <a:solidFill>
                            <a:srgbClr val="0070C0"/>
                          </a:solidFill>
                          <a:latin typeface="Calibri"/>
                        </a:rPr>
                        <a:t>19.2.</a:t>
                      </a:r>
                      <a:r>
                        <a:rPr sz="700" b="0" i="0">
                          <a:solidFill>
                            <a:srgbClr val="0070C0"/>
                          </a:solidFill>
                          <a:latin typeface="Times New Roman"/>
                        </a:rPr>
                        <a:t>  </a:t>
                      </a:r>
                      <a:r>
                        <a:rPr sz="1100" b="0" i="0">
                          <a:solidFill>
                            <a:srgbClr val="0070C0"/>
                          </a:solidFill>
                          <a:latin typeface="Calibri"/>
                        </a:rPr>
                        <a:t>Country- Level Market Drivers</a:t>
                      </a:r>
                      <a:endParaRPr sz="1100"/>
                    </a:p>
                  </a:txBody>
                  <a:tcPr marL="428625" marR="9525" marT="9525" marB="0" anchor="ctr"/>
                </a:tc>
              </a:tr>
              <a:tr h="175260">
                <a:tc>
                  <a:txBody>
                    <a:bodyPr wrap="square"/>
                    <a:lstStyle/>
                    <a:p>
                      <a:pPr algn="l"/>
                      <a:r>
                        <a:rPr sz="1100" b="0" i="0">
                          <a:solidFill>
                            <a:srgbClr val="000000"/>
                          </a:solidFill>
                          <a:latin typeface="Calibri"/>
                        </a:rPr>
                        <a:t>19.2.1.</a:t>
                      </a:r>
                      <a:r>
                        <a:rPr sz="700" b="0" i="0">
                          <a:solidFill>
                            <a:srgbClr val="000000"/>
                          </a:solidFill>
                          <a:latin typeface="Times New Roman"/>
                        </a:rPr>
                        <a:t> </a:t>
                      </a:r>
                      <a:r>
                        <a:rPr sz="1100" b="0" i="0">
                          <a:solidFill>
                            <a:srgbClr val="000000"/>
                          </a:solidFill>
                          <a:latin typeface="Calibri"/>
                        </a:rPr>
                        <a:t>Supply Side Drivers</a:t>
                      </a:r>
                      <a:endParaRPr sz="1100"/>
                    </a:p>
                  </a:txBody>
                  <a:tcPr marL="771525" marR="9525" marT="9525" marB="0" anchor="ctr"/>
                </a:tc>
              </a:tr>
              <a:tr h="175260">
                <a:tc>
                  <a:txBody>
                    <a:bodyPr wrap="square"/>
                    <a:lstStyle/>
                    <a:p>
                      <a:pPr algn="l"/>
                      <a:r>
                        <a:rPr sz="1100" b="0" i="0">
                          <a:solidFill>
                            <a:srgbClr val="000000"/>
                          </a:solidFill>
                          <a:latin typeface="Calibri"/>
                        </a:rPr>
                        <a:t>19.2.2.</a:t>
                      </a:r>
                      <a:r>
                        <a:rPr sz="700" b="0" i="0">
                          <a:solidFill>
                            <a:srgbClr val="000000"/>
                          </a:solidFill>
                          <a:latin typeface="Times New Roman"/>
                        </a:rPr>
                        <a:t> </a:t>
                      </a:r>
                      <a:r>
                        <a:rPr sz="1100" b="0" i="0">
                          <a:solidFill>
                            <a:srgbClr val="000000"/>
                          </a:solidFill>
                          <a:latin typeface="Calibri"/>
                        </a:rPr>
                        <a:t>Demand Side drivers</a:t>
                      </a:r>
                      <a:endParaRPr sz="1100"/>
                    </a:p>
                  </a:txBody>
                  <a:tcPr marL="771525" marR="9525" marT="9525" marB="0" anchor="ctr"/>
                </a:tc>
              </a:tr>
              <a:tr h="175260">
                <a:tc>
                  <a:txBody>
                    <a:bodyPr wrap="square"/>
                    <a:lstStyle/>
                    <a:p>
                      <a:pPr algn="l"/>
                      <a:r>
                        <a:rPr sz="1100" b="0" i="0">
                          <a:solidFill>
                            <a:srgbClr val="000000"/>
                          </a:solidFill>
                          <a:latin typeface="Calibri"/>
                        </a:rPr>
                        <a:t>19.2.3.</a:t>
                      </a:r>
                      <a:r>
                        <a:rPr sz="700" b="0" i="0">
                          <a:solidFill>
                            <a:srgbClr val="000000"/>
                          </a:solidFill>
                          <a:latin typeface="Times New Roman"/>
                        </a:rPr>
                        <a:t> </a:t>
                      </a:r>
                      <a:r>
                        <a:rPr sz="1100" b="0" i="0">
                          <a:solidFill>
                            <a:srgbClr val="000000"/>
                          </a:solidFill>
                          <a:latin typeface="Calibri"/>
                        </a:rPr>
                        <a:t>Economic Side Drivers</a:t>
                      </a:r>
                      <a:endParaRPr sz="1100"/>
                    </a:p>
                  </a:txBody>
                  <a:tcPr marL="771525" marR="9525" marT="9525" marB="0" anchor="ctr"/>
                </a:tc>
              </a:tr>
              <a:tr h="175260">
                <a:tc>
                  <a:txBody>
                    <a:bodyPr wrap="square"/>
                    <a:lstStyle/>
                    <a:p>
                      <a:pPr algn="l"/>
                      <a:r>
                        <a:rPr sz="1100" b="0" i="0">
                          <a:solidFill>
                            <a:srgbClr val="0070C0"/>
                          </a:solidFill>
                          <a:latin typeface="Calibri"/>
                        </a:rPr>
                        <a:t>19.3.</a:t>
                      </a:r>
                      <a:r>
                        <a:rPr sz="700" b="0" i="0">
                          <a:solidFill>
                            <a:srgbClr val="0070C0"/>
                          </a:solidFill>
                          <a:latin typeface="Times New Roman"/>
                        </a:rPr>
                        <a:t>  </a:t>
                      </a:r>
                      <a:r>
                        <a:rPr sz="1100" b="0" i="0">
                          <a:solidFill>
                            <a:srgbClr val="0070C0"/>
                          </a:solidFill>
                          <a:latin typeface="Calibri"/>
                        </a:rPr>
                        <a:t>Country Level Restraints</a:t>
                      </a:r>
                      <a:endParaRPr sz="1100"/>
                    </a:p>
                  </a:txBody>
                  <a:tcPr marL="428625" marR="9525" marT="9525" marB="0" anchor="ctr"/>
                </a:tc>
              </a:tr>
              <a:tr h="175260">
                <a:tc>
                  <a:txBody>
                    <a:bodyPr wrap="square"/>
                    <a:lstStyle/>
                    <a:p>
                      <a:pPr algn="l"/>
                      <a:r>
                        <a:rPr sz="1100" b="0" i="0">
                          <a:solidFill>
                            <a:srgbClr val="0070C0"/>
                          </a:solidFill>
                          <a:latin typeface="Calibri"/>
                        </a:rPr>
                        <a:t>19.4.</a:t>
                      </a:r>
                      <a:r>
                        <a:rPr sz="700" b="0" i="0">
                          <a:solidFill>
                            <a:srgbClr val="0070C0"/>
                          </a:solidFill>
                          <a:latin typeface="Times New Roman"/>
                        </a:rPr>
                        <a:t>  </a:t>
                      </a:r>
                      <a:r>
                        <a:rPr sz="1100" b="0" i="0">
                          <a:solidFill>
                            <a:srgbClr val="0070C0"/>
                          </a:solidFill>
                          <a:latin typeface="Calibri"/>
                        </a:rPr>
                        <a:t>Country Level Opportunity</a:t>
                      </a:r>
                      <a:endParaRPr sz="1100"/>
                    </a:p>
                  </a:txBody>
                  <a:tcPr marL="428625" marR="9525" marT="9525" marB="0" anchor="ctr"/>
                </a:tc>
              </a:tr>
              <a:tr h="175260">
                <a:tc>
                  <a:txBody>
                    <a:bodyPr wrap="square"/>
                    <a:lstStyle/>
                    <a:p>
                      <a:pPr algn="l"/>
                      <a:r>
                        <a:rPr sz="1100" b="0" i="0">
                          <a:solidFill>
                            <a:srgbClr val="0070C0"/>
                          </a:solidFill>
                          <a:latin typeface="Calibri"/>
                        </a:rPr>
                        <a:t>19.5.</a:t>
                      </a:r>
                      <a:r>
                        <a:rPr sz="700" b="0" i="0">
                          <a:solidFill>
                            <a:srgbClr val="0070C0"/>
                          </a:solidFill>
                          <a:latin typeface="Times New Roman"/>
                        </a:rPr>
                        <a:t>  </a:t>
                      </a:r>
                      <a:r>
                        <a:rPr sz="1100" b="0" i="0">
                          <a:solidFill>
                            <a:srgbClr val="0070C0"/>
                          </a:solidFill>
                          <a:latin typeface="Calibri"/>
                        </a:rPr>
                        <a:t>Country Level Market Trends</a:t>
                      </a:r>
                      <a:endParaRPr sz="1100"/>
                    </a:p>
                  </a:txBody>
                  <a:tcPr marL="428625" marR="9525" marT="9525" marB="0" anchor="ctr"/>
                </a:tc>
              </a:tr>
              <a:tr h="175260">
                <a:tc>
                  <a:txBody>
                    <a:bodyPr wrap="square"/>
                    <a:lstStyle/>
                    <a:p>
                      <a:pPr algn="l"/>
                      <a:r>
                        <a:rPr sz="1100" b="0" i="0">
                          <a:solidFill>
                            <a:srgbClr val="0070C0"/>
                          </a:solidFill>
                          <a:latin typeface="Calibri"/>
                        </a:rPr>
                        <a:t>19.6.</a:t>
                      </a:r>
                      <a:r>
                        <a:rPr sz="700" b="0" i="0">
                          <a:solidFill>
                            <a:srgbClr val="0070C0"/>
                          </a:solidFill>
                          <a:latin typeface="Times New Roman"/>
                        </a:rPr>
                        <a:t>  </a:t>
                      </a:r>
                      <a:r>
                        <a:rPr sz="1100" b="0" i="0">
                          <a:solidFill>
                            <a:srgbClr val="0070C0"/>
                          </a:solidFill>
                          <a:latin typeface="Calibri"/>
                        </a:rPr>
                        <a:t>Forecast Factors – Top 20 Drivers by Relevance &amp; Impact</a:t>
                      </a:r>
                      <a:endParaRPr sz="1100"/>
                    </a:p>
                  </a:txBody>
                  <a:tcPr marL="428625" marR="9525" marT="9525" marB="0" anchor="ctr"/>
                </a:tc>
              </a:tr>
              <a:tr h="175260">
                <a:tc>
                  <a:txBody>
                    <a:bodyPr wrap="square"/>
                    <a:lstStyle/>
                    <a:p>
                      <a:pPr algn="l"/>
                      <a:r>
                        <a:rPr sz="1100" b="0" i="0">
                          <a:solidFill>
                            <a:srgbClr val="0070C0"/>
                          </a:solidFill>
                          <a:latin typeface="Calibri"/>
                        </a:rPr>
                        <a:t>19.7.</a:t>
                      </a:r>
                      <a:r>
                        <a:rPr sz="700" b="0" i="0">
                          <a:solidFill>
                            <a:srgbClr val="0070C0"/>
                          </a:solidFill>
                          <a:latin typeface="Times New Roman"/>
                        </a:rPr>
                        <a:t>  </a:t>
                      </a:r>
                      <a:r>
                        <a:rPr sz="1100" b="0" i="0">
                          <a:solidFill>
                            <a:srgbClr val="0070C0"/>
                          </a:solidFill>
                          <a:latin typeface="Calibri"/>
                        </a:rPr>
                        <a:t>Regional Macro-&amp; Micro Economic Indicators</a:t>
                      </a:r>
                      <a:endParaRPr sz="1100"/>
                    </a:p>
                  </a:txBody>
                  <a:tcPr marL="428625" marR="9525" marT="9525" marB="0" anchor="ctr"/>
                </a:tc>
              </a:tr>
              <a:tr h="175260">
                <a:tc>
                  <a:txBody>
                    <a:bodyPr wrap="square"/>
                    <a:lstStyle/>
                    <a:p>
                      <a:pPr algn="l"/>
                      <a:r>
                        <a:rPr sz="1100" b="0" i="0">
                          <a:solidFill>
                            <a:srgbClr val="0070C0"/>
                          </a:solidFill>
                          <a:latin typeface="Calibri"/>
                        </a:rPr>
                        <a:t>19.8.</a:t>
                      </a:r>
                      <a:r>
                        <a:rPr sz="700" b="0" i="0">
                          <a:solidFill>
                            <a:srgbClr val="0070C0"/>
                          </a:solidFill>
                          <a:latin typeface="Times New Roman"/>
                        </a:rPr>
                        <a:t>  </a:t>
                      </a:r>
                      <a:r>
                        <a:rPr sz="1100" b="0" i="0">
                          <a:solidFill>
                            <a:srgbClr val="0070C0"/>
                          </a:solidFill>
                          <a:latin typeface="Calibri"/>
                        </a:rPr>
                        <a:t>PESTEL Analysis</a:t>
                      </a:r>
                      <a:endParaRPr sz="1100"/>
                    </a:p>
                  </a:txBody>
                  <a:tcPr marL="428625" marR="9525" marT="9525" marB="0" anchor="ctr"/>
                </a:tc>
              </a:tr>
              <a:tr h="175260">
                <a:tc>
                  <a:txBody>
                    <a:bodyPr wrap="square"/>
                    <a:lstStyle/>
                    <a:p>
                      <a:pPr algn="l"/>
                      <a:r>
                        <a:rPr sz="1100" b="0" i="0">
                          <a:solidFill>
                            <a:srgbClr val="0070C0"/>
                          </a:solidFill>
                          <a:latin typeface="Calibri"/>
                        </a:rPr>
                        <a:t>19.9.</a:t>
                      </a:r>
                      <a:r>
                        <a:rPr sz="700" b="0" i="0">
                          <a:solidFill>
                            <a:srgbClr val="0070C0"/>
                          </a:solidFill>
                          <a:latin typeface="Times New Roman"/>
                        </a:rPr>
                        <a:t>  </a:t>
                      </a:r>
                      <a:r>
                        <a:rPr sz="1100" b="0" i="0">
                          <a:solidFill>
                            <a:srgbClr val="0070C0"/>
                          </a:solidFill>
                          <a:latin typeface="Calibri"/>
                        </a:rPr>
                        <a:t>Porter’s Analysis</a:t>
                      </a:r>
                      <a:endParaRPr sz="1100"/>
                    </a:p>
                  </a:txBody>
                  <a:tcPr marL="428625" marR="9525" marT="9525" marB="0" anchor="ctr"/>
                </a:tc>
              </a:tr>
              <a:tr h="175260">
                <a:tc>
                  <a:txBody>
                    <a:bodyPr wrap="square"/>
                    <a:lstStyle/>
                    <a:p>
                      <a:pPr algn="l"/>
                      <a:r>
                        <a:rPr sz="1100" b="0" i="0">
                          <a:solidFill>
                            <a:srgbClr val="0070C0"/>
                          </a:solidFill>
                          <a:latin typeface="Calibri"/>
                        </a:rPr>
                        <a:t>19.10.</a:t>
                      </a:r>
                      <a:r>
                        <a:rPr sz="700" b="0" i="0">
                          <a:solidFill>
                            <a:srgbClr val="0070C0"/>
                          </a:solidFill>
                          <a:latin typeface="Times New Roman"/>
                        </a:rPr>
                        <a:t> </a:t>
                      </a:r>
                      <a:r>
                        <a:rPr sz="1100" b="0" i="0">
                          <a:solidFill>
                            <a:srgbClr val="0070C0"/>
                          </a:solidFill>
                          <a:latin typeface="Calibri"/>
                        </a:rPr>
                        <a:t>Procurement and Purchasing Structure Analysis</a:t>
                      </a:r>
                      <a:endParaRPr sz="1100"/>
                    </a:p>
                  </a:txBody>
                  <a:tcPr marL="428625" marR="9525" marT="9525" marB="0" anchor="ctr"/>
                </a:tc>
              </a:tr>
              <a:tr h="175260">
                <a:tc>
                  <a:txBody>
                    <a:bodyPr wrap="square"/>
                    <a:lstStyle/>
                    <a:p>
                      <a:pPr algn="l"/>
                      <a:r>
                        <a:rPr sz="1100" b="0" i="0">
                          <a:solidFill>
                            <a:srgbClr val="000000"/>
                          </a:solidFill>
                          <a:latin typeface="Calibri"/>
                        </a:rPr>
                        <a:t>19.10.1.</a:t>
                      </a:r>
                      <a:r>
                        <a:rPr sz="700" b="0" i="0">
                          <a:solidFill>
                            <a:srgbClr val="000000"/>
                          </a:solidFill>
                          <a:latin typeface="Times New Roman"/>
                        </a:rPr>
                        <a:t> </a:t>
                      </a:r>
                      <a:r>
                        <a:rPr sz="1100" b="0" i="0">
                          <a:solidFill>
                            <a:srgbClr val="000000"/>
                          </a:solidFill>
                          <a:latin typeface="Calibri"/>
                        </a:rPr>
                        <a:t>Procurement Channels and Purchasing Processes by End User</a:t>
                      </a:r>
                      <a:endParaRPr sz="1100"/>
                    </a:p>
                  </a:txBody>
                  <a:tcPr marL="771525" marR="9525" marT="9525" marB="0" anchor="ctr"/>
                </a:tc>
              </a:tr>
              <a:tr h="175260">
                <a:tc>
                  <a:txBody>
                    <a:bodyPr wrap="square"/>
                    <a:lstStyle/>
                    <a:p>
                      <a:pPr algn="l"/>
                      <a:r>
                        <a:rPr sz="1100" b="0" i="0">
                          <a:solidFill>
                            <a:srgbClr val="000000"/>
                          </a:solidFill>
                          <a:latin typeface="Calibri"/>
                        </a:rPr>
                        <a:t>19.10.2.</a:t>
                      </a:r>
                      <a:r>
                        <a:rPr sz="700" b="0" i="0">
                          <a:solidFill>
                            <a:srgbClr val="000000"/>
                          </a:solidFill>
                          <a:latin typeface="Times New Roman"/>
                        </a:rPr>
                        <a:t> </a:t>
                      </a:r>
                      <a:r>
                        <a:rPr sz="1100" b="0" i="0">
                          <a:solidFill>
                            <a:srgbClr val="000000"/>
                          </a:solidFill>
                          <a:latin typeface="Calibri"/>
                        </a:rPr>
                        <a:t>Direct Purchasing vs. Distributor-led Procurement</a:t>
                      </a:r>
                      <a:endParaRPr sz="1100"/>
                    </a:p>
                  </a:txBody>
                  <a:tcPr marL="771525" marR="9525" marT="9525" marB="0" anchor="ctr"/>
                </a:tc>
              </a:tr>
              <a:tr h="175260">
                <a:tc>
                  <a:txBody>
                    <a:bodyPr wrap="square"/>
                    <a:lstStyle/>
                    <a:p>
                      <a:pPr algn="l"/>
                      <a:r>
                        <a:rPr sz="1100" b="0" i="0">
                          <a:solidFill>
                            <a:srgbClr val="000000"/>
                          </a:solidFill>
                          <a:latin typeface="Calibri"/>
                        </a:rPr>
                        <a:t>19.10.3.</a:t>
                      </a:r>
                      <a:r>
                        <a:rPr sz="700" b="0" i="0">
                          <a:solidFill>
                            <a:srgbClr val="000000"/>
                          </a:solidFill>
                          <a:latin typeface="Times New Roman"/>
                        </a:rPr>
                        <a:t> </a:t>
                      </a:r>
                      <a:r>
                        <a:rPr sz="1100" b="0" i="0">
                          <a:solidFill>
                            <a:srgbClr val="000000"/>
                          </a:solidFill>
                          <a:latin typeface="Calibri"/>
                        </a:rPr>
                        <a:t>Denture Manufacturer and Dental Laboratory Sourcing Strategies</a:t>
                      </a:r>
                      <a:endParaRPr sz="1100"/>
                    </a:p>
                  </a:txBody>
                  <a:tcPr marL="771525" marR="9525" marT="9525" marB="0" anchor="ctr"/>
                </a:tc>
              </a:tr>
              <a:tr h="175260">
                <a:tc>
                  <a:txBody>
                    <a:bodyPr wrap="square"/>
                    <a:lstStyle/>
                    <a:p>
                      <a:pPr algn="l"/>
                      <a:r>
                        <a:rPr sz="1100" b="0" i="0">
                          <a:solidFill>
                            <a:srgbClr val="000000"/>
                          </a:solidFill>
                          <a:latin typeface="Calibri"/>
                        </a:rPr>
                        <a:t>19.10.4.</a:t>
                      </a:r>
                      <a:r>
                        <a:rPr sz="700" b="0" i="0">
                          <a:solidFill>
                            <a:srgbClr val="000000"/>
                          </a:solidFill>
                          <a:latin typeface="Times New Roman"/>
                        </a:rPr>
                        <a:t> </a:t>
                      </a:r>
                      <a:r>
                        <a:rPr sz="1100" b="0" i="0">
                          <a:solidFill>
                            <a:srgbClr val="000000"/>
                          </a:solidFill>
                          <a:latin typeface="Calibri"/>
                        </a:rPr>
                        <a:t>Supplier Selection Criteria: Price, Quality, Material and Delivery Time</a:t>
                      </a:r>
                      <a:endParaRPr sz="1100"/>
                    </a:p>
                  </a:txBody>
                  <a:tcPr marL="771525" marR="9525" marT="9525" marB="0" anchor="ctr"/>
                </a:tc>
              </a:tr>
              <a:tr h="175260">
                <a:tc>
                  <a:txBody>
                    <a:bodyPr wrap="square"/>
                    <a:lstStyle/>
                    <a:p>
                      <a:pPr algn="l"/>
                      <a:r>
                        <a:rPr sz="1100" b="0" i="0">
                          <a:solidFill>
                            <a:srgbClr val="000000"/>
                          </a:solidFill>
                          <a:latin typeface="Calibri"/>
                        </a:rPr>
                        <a:t>19.10.5.</a:t>
                      </a:r>
                      <a:r>
                        <a:rPr sz="700" b="0" i="0">
                          <a:solidFill>
                            <a:srgbClr val="000000"/>
                          </a:solidFill>
                          <a:latin typeface="Times New Roman"/>
                        </a:rPr>
                        <a:t> </a:t>
                      </a:r>
                      <a:r>
                        <a:rPr sz="1100" b="0" i="0">
                          <a:solidFill>
                            <a:srgbClr val="000000"/>
                          </a:solidFill>
                          <a:latin typeface="Calibri"/>
                        </a:rPr>
                        <a:t>Institutional Procurement, Tendering and Bulk Purchasing Practices</a:t>
                      </a:r>
                      <a:endParaRPr sz="1100"/>
                    </a:p>
                  </a:txBody>
                  <a:tcPr marL="771525" marR="9525" marT="9525" marB="0" anchor="ctr"/>
                </a:tc>
              </a:tr>
              <a:tr h="175260">
                <a:tc>
                  <a:txBody>
                    <a:bodyPr wrap="square"/>
                    <a:lstStyle/>
                    <a:p>
                      <a:pPr algn="l"/>
                      <a:r>
                        <a:rPr sz="1100" b="0" i="0">
                          <a:solidFill>
                            <a:srgbClr val="000000"/>
                          </a:solidFill>
                          <a:latin typeface="Calibri"/>
                        </a:rPr>
                        <a:t>19.10.6.</a:t>
                      </a:r>
                      <a:r>
                        <a:rPr sz="700" b="0" i="0">
                          <a:solidFill>
                            <a:srgbClr val="000000"/>
                          </a:solidFill>
                          <a:latin typeface="Times New Roman"/>
                        </a:rPr>
                        <a:t> </a:t>
                      </a:r>
                      <a:r>
                        <a:rPr sz="1100" b="0" i="0">
                          <a:solidFill>
                            <a:srgbClr val="000000"/>
                          </a:solidFill>
                          <a:latin typeface="Calibri"/>
                        </a:rPr>
                        <a:t>Procurement Cost Structure and Supplier Relationship Management</a:t>
                      </a:r>
                      <a:endParaRPr sz="1100"/>
                    </a:p>
                  </a:txBody>
                  <a:tcPr marL="771525" marR="9525" marT="9525" marB="0" anchor="ctr"/>
                </a:tc>
              </a:tr>
              <a:tr h="175260">
                <a:tc>
                  <a:txBody>
                    <a:bodyPr wrap="square"/>
                    <a:lstStyle/>
                    <a:p>
                      <a:pPr algn="l"/>
                      <a:r>
                        <a:rPr sz="1100" b="0" i="0">
                          <a:solidFill>
                            <a:srgbClr val="0070C0"/>
                          </a:solidFill>
                          <a:latin typeface="Calibri"/>
                        </a:rPr>
                        <a:t>19.11.</a:t>
                      </a:r>
                      <a:r>
                        <a:rPr sz="700" b="0" i="0">
                          <a:solidFill>
                            <a:srgbClr val="0070C0"/>
                          </a:solidFill>
                          <a:latin typeface="Times New Roman"/>
                        </a:rPr>
                        <a:t> </a:t>
                      </a:r>
                      <a:r>
                        <a:rPr sz="1100" b="0" i="0">
                          <a:solidFill>
                            <a:srgbClr val="0070C0"/>
                          </a:solidFill>
                          <a:latin typeface="Calibri"/>
                        </a:rPr>
                        <a:t>Technology Adoption and Installed Base Analysis</a:t>
                      </a:r>
                      <a:endParaRPr sz="1100"/>
                    </a:p>
                  </a:txBody>
                  <a:tcPr marL="428625" marR="9525" marT="9525" marB="0" anchor="ctr"/>
                </a:tc>
              </a:tr>
              <a:tr h="175260">
                <a:tc>
                  <a:txBody>
                    <a:bodyPr wrap="square"/>
                    <a:lstStyle/>
                    <a:p>
                      <a:pPr algn="l"/>
                      <a:r>
                        <a:rPr sz="1100" b="0" i="0">
                          <a:solidFill>
                            <a:srgbClr val="000000"/>
                          </a:solidFill>
                          <a:latin typeface="Calibri"/>
                        </a:rPr>
                        <a:t>19.11.1.</a:t>
                      </a:r>
                      <a:r>
                        <a:rPr sz="700" b="0" i="0">
                          <a:solidFill>
                            <a:srgbClr val="000000"/>
                          </a:solidFill>
                          <a:latin typeface="Times New Roman"/>
                        </a:rPr>
                        <a:t> </a:t>
                      </a:r>
                      <a:r>
                        <a:rPr sz="1100" b="0" i="0">
                          <a:solidFill>
                            <a:srgbClr val="000000"/>
                          </a:solidFill>
                          <a:latin typeface="Calibri"/>
                        </a:rPr>
                        <a:t>Adoption of Conventional vs. Digital Denture Fabrication Technologies</a:t>
                      </a:r>
                      <a:endParaRPr sz="1100"/>
                    </a:p>
                  </a:txBody>
                  <a:tcPr marL="771525" marR="9525" marT="9525" marB="0" anchor="ctr"/>
                </a:tc>
              </a:tr>
              <a:tr h="175260">
                <a:tc>
                  <a:txBody>
                    <a:bodyPr wrap="square"/>
                    <a:lstStyle/>
                    <a:p>
                      <a:pPr algn="l"/>
                      <a:r>
                        <a:rPr sz="1100" b="0" i="0">
                          <a:solidFill>
                            <a:srgbClr val="000000"/>
                          </a:solidFill>
                          <a:latin typeface="Calibri"/>
                        </a:rPr>
                        <a:t>19.11.2.</a:t>
                      </a:r>
                      <a:r>
                        <a:rPr sz="700" b="0" i="0">
                          <a:solidFill>
                            <a:srgbClr val="000000"/>
                          </a:solidFill>
                          <a:latin typeface="Times New Roman"/>
                        </a:rPr>
                        <a:t> </a:t>
                      </a:r>
                      <a:r>
                        <a:rPr sz="1100" b="0" i="0">
                          <a:solidFill>
                            <a:srgbClr val="000000"/>
                          </a:solidFill>
                          <a:latin typeface="Calibri"/>
                        </a:rPr>
                        <a:t>CAD/CAM Milling and 3D Printing Adoption Trends</a:t>
                      </a:r>
                      <a:endParaRPr sz="1100"/>
                    </a:p>
                  </a:txBody>
                  <a:tcPr marL="771525" marR="9525" marT="9525" marB="0" anchor="ctr"/>
                </a:tc>
              </a:tr>
              <a:tr h="175260">
                <a:tc>
                  <a:txBody>
                    <a:bodyPr wrap="square"/>
                    <a:lstStyle/>
                    <a:p>
                      <a:pPr algn="l"/>
                      <a:r>
                        <a:rPr sz="1100" b="0" i="0">
                          <a:solidFill>
                            <a:srgbClr val="000000"/>
                          </a:solidFill>
                          <a:latin typeface="Calibri"/>
                        </a:rPr>
                        <a:t>19.11.3.</a:t>
                      </a:r>
                      <a:r>
                        <a:rPr sz="700" b="0" i="0">
                          <a:solidFill>
                            <a:srgbClr val="000000"/>
                          </a:solidFill>
                          <a:latin typeface="Times New Roman"/>
                        </a:rPr>
                        <a:t> </a:t>
                      </a:r>
                      <a:r>
                        <a:rPr sz="1100" b="0" i="0">
                          <a:solidFill>
                            <a:srgbClr val="000000"/>
                          </a:solidFill>
                          <a:latin typeface="Calibri"/>
                        </a:rPr>
                        <a:t>Installed Base of Digital Dental Manufacturing Systems</a:t>
                      </a:r>
                      <a:endParaRPr sz="1100"/>
                    </a:p>
                  </a:txBody>
                  <a:tcPr marL="771525" marR="9525" marT="9525" marB="0" anchor="ctr"/>
                </a:tc>
              </a:tr>
              <a:tr h="175260">
                <a:tc>
                  <a:txBody>
                    <a:bodyPr wrap="square"/>
                    <a:lstStyle/>
                    <a:p>
                      <a:pPr algn="l"/>
                      <a:r>
                        <a:rPr sz="1100" b="0" i="0">
                          <a:solidFill>
                            <a:srgbClr val="000000"/>
                          </a:solidFill>
                          <a:latin typeface="Calibri"/>
                        </a:rPr>
                        <a:t>19.11.4.</a:t>
                      </a:r>
                      <a:r>
                        <a:rPr sz="700" b="0" i="0">
                          <a:solidFill>
                            <a:srgbClr val="000000"/>
                          </a:solidFill>
                          <a:latin typeface="Times New Roman"/>
                        </a:rPr>
                        <a:t> </a:t>
                      </a:r>
                      <a:r>
                        <a:rPr sz="1100" b="0" i="0">
                          <a:solidFill>
                            <a:srgbClr val="000000"/>
                          </a:solidFill>
                          <a:latin typeface="Calibri"/>
                        </a:rPr>
                        <a:t>Technology Adoption by Dental Laboratories, Clinics and Hospitals</a:t>
                      </a:r>
                      <a:endParaRPr sz="1100"/>
                    </a:p>
                  </a:txBody>
                  <a:tcPr marL="771525" marR="9525" marT="9525" marB="0" anchor="ctr"/>
                </a:tc>
              </a:tr>
              <a:tr h="175260">
                <a:tc>
                  <a:txBody>
                    <a:bodyPr wrap="square"/>
                    <a:lstStyle/>
                    <a:p>
                      <a:pPr algn="l"/>
                      <a:r>
                        <a:rPr sz="1100" b="0" i="0">
                          <a:solidFill>
                            <a:srgbClr val="000000"/>
                          </a:solidFill>
                          <a:latin typeface="Calibri"/>
                        </a:rPr>
                        <a:t>19.11.5.</a:t>
                      </a:r>
                      <a:r>
                        <a:rPr sz="700" b="0" i="0">
                          <a:solidFill>
                            <a:srgbClr val="000000"/>
                          </a:solidFill>
                          <a:latin typeface="Times New Roman"/>
                        </a:rPr>
                        <a:t> </a:t>
                      </a:r>
                      <a:r>
                        <a:rPr sz="1100" b="0" i="0">
                          <a:solidFill>
                            <a:srgbClr val="000000"/>
                          </a:solidFill>
                          <a:latin typeface="Calibri"/>
                        </a:rPr>
                        <a:t>Barriers to Technology Adoption: Investment Costs, Skills and Training</a:t>
                      </a:r>
                      <a:endParaRPr sz="1100"/>
                    </a:p>
                  </a:txBody>
                  <a:tcPr marL="771525" marR="9525" marT="9525" marB="0" anchor="ctr"/>
                </a:tc>
              </a:tr>
              <a:tr h="175260">
                <a:tc>
                  <a:txBody>
                    <a:bodyPr wrap="square"/>
                    <a:lstStyle/>
                    <a:p>
                      <a:pPr algn="l"/>
                      <a:r>
                        <a:rPr sz="1100" b="0" i="0">
                          <a:solidFill>
                            <a:srgbClr val="000000"/>
                          </a:solidFill>
                          <a:latin typeface="Calibri"/>
                        </a:rPr>
                        <a:t>19.11.6.</a:t>
                      </a:r>
                      <a:r>
                        <a:rPr sz="700" b="0" i="0">
                          <a:solidFill>
                            <a:srgbClr val="000000"/>
                          </a:solidFill>
                          <a:latin typeface="Times New Roman"/>
                        </a:rPr>
                        <a:t> </a:t>
                      </a:r>
                      <a:r>
                        <a:rPr sz="1100" b="0" i="0">
                          <a:solidFill>
                            <a:srgbClr val="000000"/>
                          </a:solidFill>
                          <a:latin typeface="Calibri"/>
                        </a:rPr>
                        <a:t>Technology Upgrade Trends and Future Adoption Outlook</a:t>
                      </a:r>
                      <a:endParaRPr sz="1100"/>
                    </a:p>
                  </a:txBody>
                  <a:tcPr marL="771525" marR="9525" marT="9525" marB="0" anchor="ctr"/>
                </a:tc>
              </a:tr>
              <a:tr h="175260">
                <a:tc>
                  <a:txBody>
                    <a:bodyPr wrap="square"/>
                    <a:lstStyle/>
                    <a:p>
                      <a:pPr algn="l"/>
                      <a:r>
                        <a:rPr sz="1100" b="1" i="0">
                          <a:solidFill>
                            <a:srgbClr val="000000"/>
                          </a:solidFill>
                          <a:latin typeface="Calibri"/>
                        </a:rPr>
                        <a:t>20.</a:t>
                      </a:r>
                      <a:r>
                        <a:rPr sz="700" b="1" i="0">
                          <a:solidFill>
                            <a:srgbClr val="000000"/>
                          </a:solidFill>
                          <a:latin typeface="Times New Roman"/>
                        </a:rPr>
                        <a:t>    </a:t>
                      </a:r>
                      <a:r>
                        <a:rPr sz="1100" b="1" i="0">
                          <a:solidFill>
                            <a:srgbClr val="000000"/>
                          </a:solidFill>
                          <a:latin typeface="Calibri"/>
                        </a:rPr>
                        <a:t>Regulations</a:t>
                      </a:r>
                      <a:endParaRPr sz="1100"/>
                    </a:p>
                  </a:txBody>
                  <a:tcPr marL="171450" marR="9525" marT="9525" marB="0" anchor="ctr"/>
                </a:tc>
              </a:tr>
              <a:tr h="175260">
                <a:tc>
                  <a:txBody>
                    <a:bodyPr wrap="square"/>
                    <a:lstStyle/>
                    <a:p>
                      <a:pPr algn="l"/>
                      <a:r>
                        <a:rPr sz="1100" b="0" i="0">
                          <a:solidFill>
                            <a:srgbClr val="0070C0"/>
                          </a:solidFill>
                          <a:latin typeface="Calibri"/>
                        </a:rPr>
                        <a:t>20.1.</a:t>
                      </a:r>
                      <a:r>
                        <a:rPr sz="700" b="0" i="0">
                          <a:solidFill>
                            <a:srgbClr val="0070C0"/>
                          </a:solidFill>
                          <a:latin typeface="Times New Roman"/>
                        </a:rPr>
                        <a:t>  </a:t>
                      </a:r>
                      <a:r>
                        <a:rPr sz="1100" b="0" i="0">
                          <a:solidFill>
                            <a:srgbClr val="0070C0"/>
                          </a:solidFill>
                          <a:latin typeface="Calibri"/>
                        </a:rPr>
                        <a:t>Certifications and Certifying Agency Overview</a:t>
                      </a:r>
                      <a:endParaRPr sz="1100"/>
                    </a:p>
                  </a:txBody>
                  <a:tcPr marL="428625" marR="9525" marT="9525" marB="0" anchor="ctr"/>
                </a:tc>
              </a:tr>
              <a:tr h="175260">
                <a:tc>
                  <a:txBody>
                    <a:bodyPr wrap="square"/>
                    <a:lstStyle/>
                    <a:p>
                      <a:pPr algn="l"/>
                      <a:r>
                        <a:rPr sz="1100" b="0" i="0">
                          <a:solidFill>
                            <a:srgbClr val="0070C0"/>
                          </a:solidFill>
                          <a:latin typeface="Calibri"/>
                        </a:rPr>
                        <a:t>20.2.</a:t>
                      </a:r>
                      <a:r>
                        <a:rPr sz="700" b="0" i="0">
                          <a:solidFill>
                            <a:srgbClr val="0070C0"/>
                          </a:solidFill>
                          <a:latin typeface="Times New Roman"/>
                        </a:rPr>
                        <a:t>  </a:t>
                      </a:r>
                      <a:r>
                        <a:rPr sz="1100" b="0" i="0">
                          <a:solidFill>
                            <a:srgbClr val="0070C0"/>
                          </a:solidFill>
                          <a:latin typeface="Calibri"/>
                        </a:rPr>
                        <a:t>Import/Export Policies</a:t>
                      </a:r>
                      <a:endParaRPr sz="1100"/>
                    </a:p>
                  </a:txBody>
                  <a:tcPr marL="4286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20.3.</a:t>
                      </a:r>
                      <a:r>
                        <a:rPr sz="700" b="0" i="0">
                          <a:solidFill>
                            <a:srgbClr val="0070C0"/>
                          </a:solidFill>
                          <a:latin typeface="Times New Roman"/>
                        </a:rPr>
                        <a:t>  </a:t>
                      </a:r>
                      <a:r>
                        <a:rPr sz="1100" b="0" i="0">
                          <a:solidFill>
                            <a:srgbClr val="0070C0"/>
                          </a:solidFill>
                          <a:latin typeface="Calibri"/>
                        </a:rPr>
                        <a:t>Material Safety, Biocompatibility and Dental Device Requirements</a:t>
                      </a:r>
                      <a:endParaRPr sz="1100"/>
                    </a:p>
                  </a:txBody>
                  <a:tcPr marL="428625" marR="9525" marT="9525" marB="0" anchor="ctr"/>
                </a:tc>
              </a:tr>
              <a:tr h="175260">
                <a:tc>
                  <a:txBody>
                    <a:bodyPr wrap="square"/>
                    <a:lstStyle/>
                    <a:p>
                      <a:pPr algn="l"/>
                      <a:r>
                        <a:rPr sz="1100" b="0" i="0">
                          <a:solidFill>
                            <a:srgbClr val="0070C0"/>
                          </a:solidFill>
                          <a:latin typeface="Calibri"/>
                        </a:rPr>
                        <a:t>20.4.</a:t>
                      </a:r>
                      <a:r>
                        <a:rPr sz="700" b="0" i="0">
                          <a:solidFill>
                            <a:srgbClr val="0070C0"/>
                          </a:solidFill>
                          <a:latin typeface="Times New Roman"/>
                        </a:rPr>
                        <a:t>  </a:t>
                      </a:r>
                      <a:r>
                        <a:rPr sz="1100" b="0" i="0">
                          <a:solidFill>
                            <a:srgbClr val="0070C0"/>
                          </a:solidFill>
                          <a:latin typeface="Calibri"/>
                        </a:rPr>
                        <a:t>Standards as per institutions</a:t>
                      </a:r>
                      <a:endParaRPr sz="1100"/>
                    </a:p>
                  </a:txBody>
                  <a:tcPr marL="428625" marR="9525" marT="9525" marB="0" anchor="ctr"/>
                </a:tc>
              </a:tr>
              <a:tr h="175260">
                <a:tc>
                  <a:txBody>
                    <a:bodyPr wrap="square"/>
                    <a:lstStyle/>
                    <a:p>
                      <a:pPr algn="l"/>
                      <a:r>
                        <a:rPr sz="1100" b="0" i="0">
                          <a:solidFill>
                            <a:srgbClr val="000000"/>
                          </a:solidFill>
                          <a:latin typeface="Calibri"/>
                        </a:rPr>
                        <a:t>20.4.1.</a:t>
                      </a:r>
                      <a:r>
                        <a:rPr sz="700" b="0" i="0">
                          <a:solidFill>
                            <a:srgbClr val="000000"/>
                          </a:solidFill>
                          <a:latin typeface="Times New Roman"/>
                        </a:rPr>
                        <a:t> </a:t>
                      </a:r>
                      <a:r>
                        <a:rPr sz="1100" b="0" i="0">
                          <a:solidFill>
                            <a:srgbClr val="000000"/>
                          </a:solidFill>
                          <a:latin typeface="Calibri"/>
                        </a:rPr>
                        <a:t>U.S. Food and Drug Administration (FDA)</a:t>
                      </a:r>
                      <a:endParaRPr sz="1100"/>
                    </a:p>
                  </a:txBody>
                  <a:tcPr marL="771525" marR="9525" marT="9525" marB="0" anchor="ctr"/>
                </a:tc>
              </a:tr>
              <a:tr h="175260">
                <a:tc>
                  <a:txBody>
                    <a:bodyPr wrap="square"/>
                    <a:lstStyle/>
                    <a:p>
                      <a:pPr algn="l"/>
                      <a:r>
                        <a:rPr sz="1100" b="0" i="0">
                          <a:solidFill>
                            <a:srgbClr val="000000"/>
                          </a:solidFill>
                          <a:latin typeface="Calibri"/>
                        </a:rPr>
                        <a:t>20.4.2.</a:t>
                      </a:r>
                      <a:r>
                        <a:rPr sz="700" b="0" i="0">
                          <a:solidFill>
                            <a:srgbClr val="000000"/>
                          </a:solidFill>
                          <a:latin typeface="Times New Roman"/>
                        </a:rPr>
                        <a:t> </a:t>
                      </a:r>
                      <a:r>
                        <a:rPr sz="1100" b="0" i="0">
                          <a:solidFill>
                            <a:srgbClr val="000000"/>
                          </a:solidFill>
                          <a:latin typeface="Calibri"/>
                        </a:rPr>
                        <a:t>European Commission - Medical Device Regulation (MDR)</a:t>
                      </a:r>
                      <a:endParaRPr sz="1100"/>
                    </a:p>
                  </a:txBody>
                  <a:tcPr marL="771525" marR="9525" marT="9525" marB="0" anchor="ctr"/>
                </a:tc>
              </a:tr>
              <a:tr h="175260">
                <a:tc>
                  <a:txBody>
                    <a:bodyPr wrap="square"/>
                    <a:lstStyle/>
                    <a:p>
                      <a:pPr algn="l"/>
                      <a:r>
                        <a:rPr sz="1100" b="0" i="0">
                          <a:solidFill>
                            <a:srgbClr val="000000"/>
                          </a:solidFill>
                          <a:latin typeface="Calibri"/>
                        </a:rPr>
                        <a:t>20.4.3.</a:t>
                      </a:r>
                      <a:r>
                        <a:rPr sz="700" b="0" i="0">
                          <a:solidFill>
                            <a:srgbClr val="000000"/>
                          </a:solidFill>
                          <a:latin typeface="Times New Roman"/>
                        </a:rPr>
                        <a:t> </a:t>
                      </a:r>
                      <a:r>
                        <a:rPr sz="1100" b="0" i="0">
                          <a:solidFill>
                            <a:srgbClr val="000000"/>
                          </a:solidFill>
                          <a:latin typeface="Calibri"/>
                        </a:rPr>
                        <a:t>International Organization for Standardization (ISO)</a:t>
                      </a:r>
                      <a:endParaRPr sz="1100"/>
                    </a:p>
                  </a:txBody>
                  <a:tcPr marL="771525" marR="9525" marT="9525" marB="0" anchor="ctr"/>
                </a:tc>
              </a:tr>
              <a:tr h="175260">
                <a:tc>
                  <a:txBody>
                    <a:bodyPr wrap="square"/>
                    <a:lstStyle/>
                    <a:p>
                      <a:pPr algn="l"/>
                      <a:r>
                        <a:rPr sz="1100" b="0" i="0">
                          <a:solidFill>
                            <a:srgbClr val="000000"/>
                          </a:solidFill>
                          <a:latin typeface="Calibri"/>
                        </a:rPr>
                        <a:t>20.4.4.</a:t>
                      </a:r>
                      <a:r>
                        <a:rPr sz="700" b="0" i="0">
                          <a:solidFill>
                            <a:srgbClr val="000000"/>
                          </a:solidFill>
                          <a:latin typeface="Times New Roman"/>
                        </a:rPr>
                        <a:t> </a:t>
                      </a:r>
                      <a:r>
                        <a:rPr sz="1100" b="0" i="0">
                          <a:solidFill>
                            <a:srgbClr val="000000"/>
                          </a:solidFill>
                          <a:latin typeface="Calibri"/>
                        </a:rPr>
                        <a:t>Central Drugs Standard Control Organisation (CDSCO), India</a:t>
                      </a:r>
                      <a:endParaRPr sz="1100"/>
                    </a:p>
                  </a:txBody>
                  <a:tcPr marL="771525" marR="9525" marT="9525" marB="0" anchor="ctr"/>
                </a:tc>
              </a:tr>
              <a:tr h="175260">
                <a:tc>
                  <a:txBody>
                    <a:bodyPr wrap="square"/>
                    <a:lstStyle/>
                    <a:p>
                      <a:pPr algn="l"/>
                      <a:r>
                        <a:rPr sz="1100" b="0" i="0">
                          <a:solidFill>
                            <a:srgbClr val="000000"/>
                          </a:solidFill>
                          <a:latin typeface="Calibri"/>
                        </a:rPr>
                        <a:t>20.4.5.</a:t>
                      </a:r>
                      <a:r>
                        <a:rPr sz="700" b="0" i="0">
                          <a:solidFill>
                            <a:srgbClr val="000000"/>
                          </a:solidFill>
                          <a:latin typeface="Times New Roman"/>
                        </a:rPr>
                        <a:t> </a:t>
                      </a:r>
                      <a:r>
                        <a:rPr sz="1100" b="0" i="0">
                          <a:solidFill>
                            <a:srgbClr val="000000"/>
                          </a:solidFill>
                          <a:latin typeface="Calibri"/>
                        </a:rPr>
                        <a:t>Medical Device Regulatory Framework – United Kingdom (MHRA)</a:t>
                      </a:r>
                      <a:endParaRPr sz="1100"/>
                    </a:p>
                  </a:txBody>
                  <a:tcPr marL="771525" marR="9525" marT="9525" marB="0" anchor="ctr"/>
                </a:tc>
              </a:tr>
              <a:tr h="175260">
                <a:tc>
                  <a:txBody>
                    <a:bodyPr wrap="square"/>
                    <a:lstStyle/>
                    <a:p>
                      <a:pPr algn="l"/>
                      <a:r>
                        <a:rPr sz="1100" b="1" i="0">
                          <a:solidFill>
                            <a:srgbClr val="000000"/>
                          </a:solidFill>
                          <a:latin typeface="Calibri"/>
                        </a:rPr>
                        <a:t>Section 5: Production and Trade Outlook</a:t>
                      </a:r>
                      <a:endParaRPr sz="1100"/>
                    </a:p>
                  </a:txBody>
                  <a:tcPr marL="9525" marR="9525" marT="9525" marB="0" anchor="ctr"/>
                </a:tc>
              </a:tr>
              <a:tr h="175260">
                <a:tc>
                  <a:txBody>
                    <a:bodyPr wrap="square"/>
                    <a:lstStyle/>
                    <a:p>
                      <a:pPr algn="l"/>
                      <a:r>
                        <a:rPr sz="1100" b="1" i="0">
                          <a:solidFill>
                            <a:srgbClr val="000000"/>
                          </a:solidFill>
                          <a:latin typeface="Calibri"/>
                        </a:rPr>
                        <a:t>21.</a:t>
                      </a:r>
                      <a:r>
                        <a:rPr sz="700" b="1" i="0">
                          <a:solidFill>
                            <a:srgbClr val="000000"/>
                          </a:solidFill>
                          <a:latin typeface="Times New Roman"/>
                        </a:rPr>
                        <a:t>    </a:t>
                      </a:r>
                      <a:r>
                        <a:rPr sz="1100" b="1" i="0">
                          <a:solidFill>
                            <a:srgbClr val="000000"/>
                          </a:solidFill>
                          <a:latin typeface="Calibri"/>
                        </a:rPr>
                        <a:t>Global Market- Production and Trade Analysis</a:t>
                      </a:r>
                      <a:endParaRPr sz="1100"/>
                    </a:p>
                  </a:txBody>
                  <a:tcPr marL="171450" marR="9525" marT="9525" marB="0" anchor="ctr"/>
                </a:tc>
              </a:tr>
              <a:tr h="175260">
                <a:tc>
                  <a:txBody>
                    <a:bodyPr wrap="square"/>
                    <a:lstStyle/>
                    <a:p>
                      <a:pPr algn="l"/>
                      <a:r>
                        <a:rPr sz="1100" b="0" i="0">
                          <a:solidFill>
                            <a:srgbClr val="0070C0"/>
                          </a:solidFill>
                          <a:latin typeface="Calibri"/>
                        </a:rPr>
                        <a:t>21.1.</a:t>
                      </a:r>
                      <a:r>
                        <a:rPr sz="700" b="0" i="0">
                          <a:solidFill>
                            <a:srgbClr val="0070C0"/>
                          </a:solidFill>
                          <a:latin typeface="Times New Roman"/>
                        </a:rPr>
                        <a:t>  </a:t>
                      </a:r>
                      <a:r>
                        <a:rPr sz="1100" b="0" i="0">
                          <a:solidFill>
                            <a:srgbClr val="0070C0"/>
                          </a:solidFill>
                          <a:latin typeface="Calibri"/>
                        </a:rPr>
                        <a:t>Production Volume (Units), (2021-2026) by Region/ Country</a:t>
                      </a:r>
                      <a:endParaRPr sz="1100"/>
                    </a:p>
                  </a:txBody>
                  <a:tcPr marL="428625" marR="9525" marT="9525" marB="0" anchor="ctr"/>
                </a:tc>
              </a:tr>
              <a:tr h="175260">
                <a:tc>
                  <a:txBody>
                    <a:bodyPr wrap="square"/>
                    <a:lstStyle/>
                    <a:p>
                      <a:pPr algn="l"/>
                      <a:r>
                        <a:rPr sz="1100" b="0" i="0">
                          <a:solidFill>
                            <a:srgbClr val="0070C0"/>
                          </a:solidFill>
                          <a:latin typeface="Calibri"/>
                        </a:rPr>
                        <a:t>21.2.</a:t>
                      </a:r>
                      <a:r>
                        <a:rPr sz="700" b="0" i="0">
                          <a:solidFill>
                            <a:srgbClr val="0070C0"/>
                          </a:solidFill>
                          <a:latin typeface="Times New Roman"/>
                        </a:rPr>
                        <a:t>  </a:t>
                      </a:r>
                      <a:r>
                        <a:rPr sz="1100" b="0" i="0">
                          <a:solidFill>
                            <a:srgbClr val="0070C0"/>
                          </a:solidFill>
                          <a:latin typeface="Calibri"/>
                        </a:rPr>
                        <a:t>Exports: Key Countries, Share &amp; Value (US$ Mn / Units)</a:t>
                      </a:r>
                      <a:endParaRPr sz="1100"/>
                    </a:p>
                  </a:txBody>
                  <a:tcPr marL="428625" marR="9525" marT="9525" marB="0" anchor="ctr"/>
                </a:tc>
              </a:tr>
              <a:tr h="175260">
                <a:tc>
                  <a:txBody>
                    <a:bodyPr wrap="square"/>
                    <a:lstStyle/>
                    <a:p>
                      <a:pPr algn="l"/>
                      <a:r>
                        <a:rPr sz="1100" b="0" i="0">
                          <a:solidFill>
                            <a:srgbClr val="0070C0"/>
                          </a:solidFill>
                          <a:latin typeface="Calibri"/>
                        </a:rPr>
                        <a:t>21.3.</a:t>
                      </a:r>
                      <a:r>
                        <a:rPr sz="700" b="0" i="0">
                          <a:solidFill>
                            <a:srgbClr val="0070C0"/>
                          </a:solidFill>
                          <a:latin typeface="Times New Roman"/>
                        </a:rPr>
                        <a:t>  </a:t>
                      </a:r>
                      <a:r>
                        <a:rPr sz="1100" b="0" i="0">
                          <a:solidFill>
                            <a:srgbClr val="0070C0"/>
                          </a:solidFill>
                          <a:latin typeface="Calibri"/>
                        </a:rPr>
                        <a:t>Imports: Key Countries, Share &amp; Value (US$ Mn / Units)</a:t>
                      </a:r>
                      <a:endParaRPr sz="1100"/>
                    </a:p>
                  </a:txBody>
                  <a:tcPr marL="428625" marR="9525" marT="9525" marB="0" anchor="ctr"/>
                </a:tc>
              </a:tr>
              <a:tr h="175260">
                <a:tc>
                  <a:txBody>
                    <a:bodyPr wrap="square"/>
                    <a:lstStyle/>
                    <a:p>
                      <a:pPr algn="l"/>
                      <a:r>
                        <a:rPr sz="1100" b="0" i="0">
                          <a:solidFill>
                            <a:srgbClr val="0070C0"/>
                          </a:solidFill>
                          <a:latin typeface="Calibri"/>
                        </a:rPr>
                        <a:t>21.4.</a:t>
                      </a:r>
                      <a:r>
                        <a:rPr sz="700" b="0" i="0">
                          <a:solidFill>
                            <a:srgbClr val="0070C0"/>
                          </a:solidFill>
                          <a:latin typeface="Times New Roman"/>
                        </a:rPr>
                        <a:t>  </a:t>
                      </a:r>
                      <a:r>
                        <a:rPr sz="1100" b="0" i="0">
                          <a:solidFill>
                            <a:srgbClr val="0070C0"/>
                          </a:solidFill>
                          <a:latin typeface="Calibri"/>
                        </a:rPr>
                        <a:t>Global Supply-Demand Overview (Prod., Sales, Import, Export)</a:t>
                      </a:r>
                      <a:endParaRPr sz="1100"/>
                    </a:p>
                  </a:txBody>
                  <a:tcPr marL="428625" marR="9525" marT="9525" marB="0" anchor="ctr"/>
                </a:tc>
              </a:tr>
              <a:tr h="175260">
                <a:tc>
                  <a:txBody>
                    <a:bodyPr wrap="square"/>
                    <a:lstStyle/>
                    <a:p>
                      <a:pPr algn="l"/>
                      <a:r>
                        <a:rPr sz="1100" b="0" i="0">
                          <a:solidFill>
                            <a:srgbClr val="0070C0"/>
                          </a:solidFill>
                          <a:latin typeface="Calibri"/>
                        </a:rPr>
                        <a:t>21.5.</a:t>
                      </a:r>
                      <a:r>
                        <a:rPr sz="700" b="0" i="0">
                          <a:solidFill>
                            <a:srgbClr val="0070C0"/>
                          </a:solidFill>
                          <a:latin typeface="Times New Roman"/>
                        </a:rPr>
                        <a:t>  </a:t>
                      </a:r>
                      <a:r>
                        <a:rPr sz="1100" b="0" i="0">
                          <a:solidFill>
                            <a:srgbClr val="0070C0"/>
                          </a:solidFill>
                          <a:latin typeface="Calibri"/>
                        </a:rPr>
                        <a:t>Manufacturing Capacity and Supply Base Analysis</a:t>
                      </a:r>
                      <a:endParaRPr sz="1100"/>
                    </a:p>
                  </a:txBody>
                  <a:tcPr marL="428625" marR="9525" marT="9525" marB="0" anchor="ctr"/>
                </a:tc>
              </a:tr>
              <a:tr h="175260">
                <a:tc>
                  <a:txBody>
                    <a:bodyPr wrap="square"/>
                    <a:lstStyle/>
                    <a:p>
                      <a:pPr algn="l"/>
                      <a:r>
                        <a:rPr sz="1100" b="0" i="0">
                          <a:solidFill>
                            <a:srgbClr val="000000"/>
                          </a:solidFill>
                          <a:latin typeface="Calibri"/>
                        </a:rPr>
                        <a:t>21.5.1.</a:t>
                      </a:r>
                      <a:r>
                        <a:rPr sz="700" b="0" i="0">
                          <a:solidFill>
                            <a:srgbClr val="000000"/>
                          </a:solidFill>
                          <a:latin typeface="Times New Roman"/>
                        </a:rPr>
                        <a:t> </a:t>
                      </a:r>
                      <a:r>
                        <a:rPr sz="1100" b="0" i="0">
                          <a:solidFill>
                            <a:srgbClr val="000000"/>
                          </a:solidFill>
                          <a:latin typeface="Calibri"/>
                        </a:rPr>
                        <a:t>Global Manufacturing Capacity and Production Capability Assessment</a:t>
                      </a:r>
                      <a:endParaRPr sz="1100"/>
                    </a:p>
                  </a:txBody>
                  <a:tcPr marL="771525" marR="9525" marT="9525" marB="0" anchor="ctr"/>
                </a:tc>
              </a:tr>
              <a:tr h="175260">
                <a:tc>
                  <a:txBody>
                    <a:bodyPr wrap="square"/>
                    <a:lstStyle/>
                    <a:p>
                      <a:pPr algn="l"/>
                      <a:r>
                        <a:rPr sz="1100" b="0" i="0">
                          <a:solidFill>
                            <a:srgbClr val="000000"/>
                          </a:solidFill>
                          <a:latin typeface="Calibri"/>
                        </a:rPr>
                        <a:t>21.5.2.</a:t>
                      </a:r>
                      <a:r>
                        <a:rPr sz="700" b="0" i="0">
                          <a:solidFill>
                            <a:srgbClr val="000000"/>
                          </a:solidFill>
                          <a:latin typeface="Times New Roman"/>
                        </a:rPr>
                        <a:t> </a:t>
                      </a:r>
                      <a:r>
                        <a:rPr sz="1100" b="0" i="0">
                          <a:solidFill>
                            <a:srgbClr val="000000"/>
                          </a:solidFill>
                          <a:latin typeface="Calibri"/>
                        </a:rPr>
                        <a:t>Regional Distribution of Manufacturing Facilities</a:t>
                      </a:r>
                      <a:endParaRPr sz="1100"/>
                    </a:p>
                  </a:txBody>
                  <a:tcPr marL="771525" marR="9525" marT="9525" marB="0" anchor="ctr"/>
                </a:tc>
              </a:tr>
              <a:tr h="175260">
                <a:tc>
                  <a:txBody>
                    <a:bodyPr wrap="square"/>
                    <a:lstStyle/>
                    <a:p>
                      <a:pPr algn="l"/>
                      <a:r>
                        <a:rPr sz="1100" b="0" i="0">
                          <a:solidFill>
                            <a:srgbClr val="000000"/>
                          </a:solidFill>
                          <a:latin typeface="Calibri"/>
                        </a:rPr>
                        <a:t>21.5.3.</a:t>
                      </a:r>
                      <a:r>
                        <a:rPr sz="700" b="0" i="0">
                          <a:solidFill>
                            <a:srgbClr val="000000"/>
                          </a:solidFill>
                          <a:latin typeface="Times New Roman"/>
                        </a:rPr>
                        <a:t> </a:t>
                      </a:r>
                      <a:r>
                        <a:rPr sz="1100" b="0" i="0">
                          <a:solidFill>
                            <a:srgbClr val="000000"/>
                          </a:solidFill>
                          <a:latin typeface="Calibri"/>
                        </a:rPr>
                        <a:t>Key Raw Material Availability and Supplier Assessment</a:t>
                      </a:r>
                      <a:endParaRPr sz="1100"/>
                    </a:p>
                  </a:txBody>
                  <a:tcPr marL="771525" marR="9525" marT="9525" marB="0" anchor="ctr"/>
                </a:tc>
              </a:tr>
              <a:tr h="175260">
                <a:tc>
                  <a:txBody>
                    <a:bodyPr wrap="square"/>
                    <a:lstStyle/>
                    <a:p>
                      <a:pPr algn="l"/>
                      <a:r>
                        <a:rPr sz="1100" b="0" i="0">
                          <a:solidFill>
                            <a:srgbClr val="000000"/>
                          </a:solidFill>
                          <a:latin typeface="Calibri"/>
                        </a:rPr>
                        <a:t>21.5.4.</a:t>
                      </a:r>
                      <a:r>
                        <a:rPr sz="700" b="0" i="0">
                          <a:solidFill>
                            <a:srgbClr val="000000"/>
                          </a:solidFill>
                          <a:latin typeface="Times New Roman"/>
                        </a:rPr>
                        <a:t> </a:t>
                      </a:r>
                      <a:r>
                        <a:rPr sz="1100" b="0" i="0">
                          <a:solidFill>
                            <a:srgbClr val="000000"/>
                          </a:solidFill>
                          <a:latin typeface="Calibri"/>
                        </a:rPr>
                        <a:t>Conventional vs. Digital Denture Manufacturing Capacity</a:t>
                      </a:r>
                      <a:endParaRPr sz="1100"/>
                    </a:p>
                  </a:txBody>
                  <a:tcPr marL="771525" marR="9525" marT="9525" marB="0" anchor="ctr"/>
                </a:tc>
              </a:tr>
              <a:tr h="175260">
                <a:tc>
                  <a:txBody>
                    <a:bodyPr wrap="square"/>
                    <a:lstStyle/>
                    <a:p>
                      <a:pPr algn="l"/>
                      <a:r>
                        <a:rPr sz="1100" b="0" i="0">
                          <a:solidFill>
                            <a:srgbClr val="000000"/>
                          </a:solidFill>
                          <a:latin typeface="Calibri"/>
                        </a:rPr>
                        <a:t>21.5.5.</a:t>
                      </a:r>
                      <a:r>
                        <a:rPr sz="700" b="0" i="0">
                          <a:solidFill>
                            <a:srgbClr val="000000"/>
                          </a:solidFill>
                          <a:latin typeface="Times New Roman"/>
                        </a:rPr>
                        <a:t> </a:t>
                      </a:r>
                      <a:r>
                        <a:rPr sz="1100" b="0" i="0">
                          <a:solidFill>
                            <a:srgbClr val="000000"/>
                          </a:solidFill>
                          <a:latin typeface="Calibri"/>
                        </a:rPr>
                        <a:t>Supply Chain Structure and Critical Supply Dependencies</a:t>
                      </a:r>
                      <a:endParaRPr sz="1100"/>
                    </a:p>
                  </a:txBody>
                  <a:tcPr marL="771525" marR="9525" marT="9525" marB="0" anchor="ctr"/>
                </a:tc>
              </a:tr>
              <a:tr h="175260">
                <a:tc>
                  <a:txBody>
                    <a:bodyPr wrap="square"/>
                    <a:lstStyle/>
                    <a:p>
                      <a:pPr algn="l"/>
                      <a:r>
                        <a:rPr sz="1100" b="0" i="0">
                          <a:solidFill>
                            <a:srgbClr val="000000"/>
                          </a:solidFill>
                          <a:latin typeface="Calibri"/>
                        </a:rPr>
                        <a:t>21.5.6.</a:t>
                      </a:r>
                      <a:r>
                        <a:rPr sz="700" b="0" i="0">
                          <a:solidFill>
                            <a:srgbClr val="000000"/>
                          </a:solidFill>
                          <a:latin typeface="Times New Roman"/>
                        </a:rPr>
                        <a:t> </a:t>
                      </a:r>
                      <a:r>
                        <a:rPr sz="1100" b="0" i="0">
                          <a:solidFill>
                            <a:srgbClr val="000000"/>
                          </a:solidFill>
                          <a:latin typeface="Calibri"/>
                        </a:rPr>
                        <a:t>Capacity Utilization, Production Constraints and Supply Expansion Outlook</a:t>
                      </a:r>
                      <a:endParaRPr sz="1100"/>
                    </a:p>
                  </a:txBody>
                  <a:tcPr marL="771525" marR="9525" marT="9525" marB="0" anchor="ctr"/>
                </a:tc>
              </a:tr>
              <a:tr h="175260">
                <a:tc>
                  <a:txBody>
                    <a:bodyPr wrap="square"/>
                    <a:lstStyle/>
                    <a:p>
                      <a:pPr algn="l"/>
                      <a:r>
                        <a:rPr sz="1100" b="1" i="0">
                          <a:solidFill>
                            <a:srgbClr val="000000"/>
                          </a:solidFill>
                          <a:latin typeface="Calibri"/>
                        </a:rPr>
                        <a:t>22.</a:t>
                      </a:r>
                      <a:r>
                        <a:rPr sz="700" b="1" i="0">
                          <a:solidFill>
                            <a:srgbClr val="000000"/>
                          </a:solidFill>
                          <a:latin typeface="Times New Roman"/>
                        </a:rPr>
                        <a:t>    </a:t>
                      </a:r>
                      <a:r>
                        <a:rPr sz="1100" b="1" i="0">
                          <a:solidFill>
                            <a:srgbClr val="000000"/>
                          </a:solidFill>
                          <a:latin typeface="Calibri"/>
                        </a:rPr>
                        <a:t>Value Chain Analysis</a:t>
                      </a:r>
                      <a:endParaRPr sz="1100"/>
                    </a:p>
                  </a:txBody>
                  <a:tcPr marL="171450" marR="9525" marT="9525" marB="0" anchor="ctr"/>
                </a:tc>
              </a:tr>
              <a:tr h="175260">
                <a:tc>
                  <a:txBody>
                    <a:bodyPr wrap="square"/>
                    <a:lstStyle/>
                    <a:p>
                      <a:pPr algn="l"/>
                      <a:r>
                        <a:rPr sz="1100" b="0" i="0">
                          <a:solidFill>
                            <a:srgbClr val="0070C0"/>
                          </a:solidFill>
                          <a:latin typeface="Calibri"/>
                        </a:rPr>
                        <a:t>22.1.</a:t>
                      </a:r>
                      <a:r>
                        <a:rPr sz="700" b="0" i="0">
                          <a:solidFill>
                            <a:srgbClr val="0070C0"/>
                          </a:solidFill>
                          <a:latin typeface="Times New Roman"/>
                        </a:rPr>
                        <a:t>  </a:t>
                      </a:r>
                      <a:r>
                        <a:rPr sz="1100" b="0" i="0">
                          <a:solidFill>
                            <a:srgbClr val="0070C0"/>
                          </a:solidFill>
                          <a:latin typeface="Calibri"/>
                        </a:rPr>
                        <a:t>Industry-Wide Operating Margin</a:t>
                      </a:r>
                      <a:endParaRPr sz="1100"/>
                    </a:p>
                  </a:txBody>
                  <a:tcPr marL="428625" marR="9525" marT="9525" marB="0" anchor="ctr"/>
                </a:tc>
              </a:tr>
              <a:tr h="175260">
                <a:tc>
                  <a:txBody>
                    <a:bodyPr wrap="square"/>
                    <a:lstStyle/>
                    <a:p>
                      <a:pPr algn="l"/>
                      <a:r>
                        <a:rPr sz="1100" b="0" i="0">
                          <a:solidFill>
                            <a:srgbClr val="000000"/>
                          </a:solidFill>
                          <a:latin typeface="Calibri"/>
                        </a:rPr>
                        <a:t>22.1.1.</a:t>
                      </a:r>
                      <a:r>
                        <a:rPr sz="700" b="0" i="0">
                          <a:solidFill>
                            <a:srgbClr val="000000"/>
                          </a:solidFill>
                          <a:latin typeface="Times New Roman"/>
                        </a:rPr>
                        <a:t> </a:t>
                      </a:r>
                      <a:r>
                        <a:rPr sz="1100" b="0" i="0">
                          <a:solidFill>
                            <a:srgbClr val="000000"/>
                          </a:solidFill>
                          <a:latin typeface="Calibri"/>
                        </a:rPr>
                        <a:t>Operating margins at each node of supply chain</a:t>
                      </a:r>
                      <a:endParaRPr sz="1100"/>
                    </a:p>
                  </a:txBody>
                  <a:tcPr marL="771525" marR="9525" marT="9525" marB="0" anchor="ctr"/>
                </a:tc>
              </a:tr>
              <a:tr h="175260">
                <a:tc>
                  <a:txBody>
                    <a:bodyPr wrap="square"/>
                    <a:lstStyle/>
                    <a:p>
                      <a:pPr algn="l"/>
                      <a:r>
                        <a:rPr sz="1100" b="0" i="0">
                          <a:solidFill>
                            <a:srgbClr val="000000"/>
                          </a:solidFill>
                          <a:latin typeface="Calibri"/>
                        </a:rPr>
                        <a:t>22.1.2.</a:t>
                      </a:r>
                      <a:r>
                        <a:rPr sz="700" b="0" i="0">
                          <a:solidFill>
                            <a:srgbClr val="000000"/>
                          </a:solidFill>
                          <a:latin typeface="Times New Roman"/>
                        </a:rPr>
                        <a:t> </a:t>
                      </a:r>
                      <a:r>
                        <a:rPr sz="1100" b="0" i="0">
                          <a:solidFill>
                            <a:srgbClr val="000000"/>
                          </a:solidFill>
                          <a:latin typeface="Calibri"/>
                        </a:rPr>
                        <a:t>Operating margins Comparison to Parent/Associated Market</a:t>
                      </a:r>
                      <a:endParaRPr sz="1100"/>
                    </a:p>
                  </a:txBody>
                  <a:tcPr marL="771525" marR="9525" marT="9525" marB="0" anchor="ctr"/>
                </a:tc>
              </a:tr>
              <a:tr h="175260">
                <a:tc>
                  <a:txBody>
                    <a:bodyPr wrap="square"/>
                    <a:lstStyle/>
                    <a:p>
                      <a:pPr algn="l"/>
                      <a:r>
                        <a:rPr sz="1100" b="0" i="0">
                          <a:solidFill>
                            <a:srgbClr val="0070C0"/>
                          </a:solidFill>
                          <a:latin typeface="Calibri"/>
                        </a:rPr>
                        <a:t>22.2.</a:t>
                      </a:r>
                      <a:r>
                        <a:rPr sz="700" b="0" i="0">
                          <a:solidFill>
                            <a:srgbClr val="0070C0"/>
                          </a:solidFill>
                          <a:latin typeface="Times New Roman"/>
                        </a:rPr>
                        <a:t>  </a:t>
                      </a:r>
                      <a:r>
                        <a:rPr sz="1100" b="0" i="0">
                          <a:solidFill>
                            <a:srgbClr val="0070C0"/>
                          </a:solidFill>
                          <a:latin typeface="Calibri"/>
                        </a:rPr>
                        <a:t>Margin Optimization Strategies</a:t>
                      </a:r>
                      <a:endParaRPr sz="1100"/>
                    </a:p>
                  </a:txBody>
                  <a:tcPr marL="428625" marR="9525" marT="9525" marB="0" anchor="ctr"/>
                </a:tc>
              </a:tr>
              <a:tr h="175260">
                <a:tc>
                  <a:txBody>
                    <a:bodyPr wrap="square"/>
                    <a:lstStyle/>
                    <a:p>
                      <a:pPr algn="l"/>
                      <a:r>
                        <a:rPr sz="1100" b="0" i="0">
                          <a:solidFill>
                            <a:srgbClr val="0070C0"/>
                          </a:solidFill>
                          <a:latin typeface="Calibri"/>
                        </a:rPr>
                        <a:t>22.3.</a:t>
                      </a:r>
                      <a:r>
                        <a:rPr sz="700" b="0" i="0">
                          <a:solidFill>
                            <a:srgbClr val="0070C0"/>
                          </a:solidFill>
                          <a:latin typeface="Times New Roman"/>
                        </a:rPr>
                        <a:t>  </a:t>
                      </a:r>
                      <a:r>
                        <a:rPr sz="1100" b="0" i="0">
                          <a:solidFill>
                            <a:srgbClr val="0070C0"/>
                          </a:solidFill>
                          <a:latin typeface="Calibri"/>
                        </a:rPr>
                        <a:t>List of Active Market Participants</a:t>
                      </a:r>
                      <a:endParaRPr sz="1100"/>
                    </a:p>
                  </a:txBody>
                  <a:tcPr marL="428625" marR="9525" marT="9525" marB="0" anchor="ctr"/>
                </a:tc>
              </a:tr>
              <a:tr h="175260">
                <a:tc>
                  <a:txBody>
                    <a:bodyPr wrap="square"/>
                    <a:lstStyle/>
                    <a:p>
                      <a:pPr algn="l"/>
                      <a:r>
                        <a:rPr sz="1100" b="0" i="0">
                          <a:solidFill>
                            <a:srgbClr val="000000"/>
                          </a:solidFill>
                          <a:latin typeface="Calibri"/>
                        </a:rPr>
                        <a:t>22.3.1.</a:t>
                      </a:r>
                      <a:r>
                        <a:rPr sz="700" b="0" i="0">
                          <a:solidFill>
                            <a:srgbClr val="000000"/>
                          </a:solidFill>
                          <a:latin typeface="Times New Roman"/>
                        </a:rPr>
                        <a:t> </a:t>
                      </a:r>
                      <a:r>
                        <a:rPr sz="1100" b="0" i="0">
                          <a:solidFill>
                            <a:srgbClr val="000000"/>
                          </a:solidFill>
                          <a:latin typeface="Calibri"/>
                        </a:rPr>
                        <a:t>Removable Partial Denture Manufacturers and Key Brands</a:t>
                      </a:r>
                      <a:endParaRPr sz="1100"/>
                    </a:p>
                  </a:txBody>
                  <a:tcPr marL="771525" marR="9525" marT="9525" marB="0" anchor="ctr"/>
                </a:tc>
              </a:tr>
              <a:tr h="175260">
                <a:tc>
                  <a:txBody>
                    <a:bodyPr wrap="square"/>
                    <a:lstStyle/>
                    <a:p>
                      <a:pPr algn="l"/>
                      <a:r>
                        <a:rPr sz="1100" b="0" i="0">
                          <a:solidFill>
                            <a:srgbClr val="000000"/>
                          </a:solidFill>
                          <a:latin typeface="Calibri"/>
                        </a:rPr>
                        <a:t>22.3.2.</a:t>
                      </a:r>
                      <a:r>
                        <a:rPr sz="700" b="0" i="0">
                          <a:solidFill>
                            <a:srgbClr val="000000"/>
                          </a:solidFill>
                          <a:latin typeface="Times New Roman"/>
                        </a:rPr>
                        <a:t> </a:t>
                      </a:r>
                      <a:r>
                        <a:rPr sz="1100" b="0" i="0">
                          <a:solidFill>
                            <a:srgbClr val="000000"/>
                          </a:solidFill>
                          <a:latin typeface="Calibri"/>
                        </a:rPr>
                        <a:t>Dental Laboratories, Distributors and Suppliers</a:t>
                      </a:r>
                      <a:endParaRPr sz="1100"/>
                    </a:p>
                  </a:txBody>
                  <a:tcPr marL="771525" marR="9525" marT="9525" marB="0" anchor="ctr"/>
                </a:tc>
              </a:tr>
              <a:tr h="175260">
                <a:tc>
                  <a:txBody>
                    <a:bodyPr wrap="square"/>
                    <a:lstStyle/>
                    <a:p>
                      <a:pPr algn="l"/>
                      <a:r>
                        <a:rPr sz="1100" b="0" i="0">
                          <a:solidFill>
                            <a:srgbClr val="000000"/>
                          </a:solidFill>
                          <a:latin typeface="Calibri"/>
                        </a:rPr>
                        <a:t>22.3.3.</a:t>
                      </a:r>
                      <a:r>
                        <a:rPr sz="700" b="0" i="0">
                          <a:solidFill>
                            <a:srgbClr val="000000"/>
                          </a:solidFill>
                          <a:latin typeface="Times New Roman"/>
                        </a:rPr>
                        <a:t> </a:t>
                      </a:r>
                      <a:r>
                        <a:rPr sz="1100" b="0" i="0">
                          <a:solidFill>
                            <a:srgbClr val="000000"/>
                          </a:solidFill>
                          <a:latin typeface="Calibri"/>
                        </a:rPr>
                        <a:t>Key End Users: Dental Clinics, Dental Hospitals and Dental Laboratories</a:t>
                      </a:r>
                      <a:endParaRPr sz="1100"/>
                    </a:p>
                  </a:txBody>
                  <a:tcPr marL="771525" marR="9525" marT="9525" marB="0" anchor="ctr"/>
                </a:tc>
              </a:tr>
              <a:tr h="175260">
                <a:tc>
                  <a:txBody>
                    <a:bodyPr wrap="square"/>
                    <a:lstStyle/>
                    <a:p>
                      <a:pPr algn="l"/>
                      <a:endParaRPr sz="110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(6/6)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350520">
                <a:tc>
                  <a:txBody>
                    <a:bodyPr wrap="square"/>
                    <a:lstStyle/>
                    <a:p>
                      <a:pPr algn="l"/>
                      <a:r>
                        <a:rPr sz="1100" b="0" i="1">
                          <a:solidFill>
                            <a:srgbClr val="FF0000"/>
                          </a:solidFill>
                          <a:latin typeface="Calibri"/>
                        </a:rPr>
                        <a:t>Note: The section lists 20-30 active market participants. For a comprehensive list, please contact the respective sales personnel</a:t>
                      </a:r>
                      <a:endParaRPr sz="1100"/>
                    </a:p>
                  </a:txBody>
                  <a:tcPr marL="9525" marR="9525" marT="9525" marB="0" anchor="ctr"/>
                </a:tc>
              </a:tr>
              <a:tr h="175260">
                <a:tc>
                  <a:txBody>
                    <a:bodyPr wrap="square"/>
                    <a:lstStyle/>
                    <a:p>
                      <a:pPr algn="l"/>
                      <a:r>
                        <a:rPr sz="1100" b="1" i="0">
                          <a:solidFill>
                            <a:srgbClr val="000000"/>
                          </a:solidFill>
                          <a:latin typeface="Calibri"/>
                        </a:rPr>
                        <a:t>Section 6: Competition Assessment</a:t>
                      </a:r>
                      <a:endParaRPr sz="1100"/>
                    </a:p>
                  </a:txBody>
                  <a:tcPr marL="9525" marR="9525" marT="9525" marB="0" anchor="ctr"/>
                </a:tc>
              </a:tr>
              <a:tr h="175260">
                <a:tc>
                  <a:txBody>
                    <a:bodyPr wrap="square"/>
                    <a:lstStyle/>
                    <a:p>
                      <a:pPr algn="l"/>
                      <a:r>
                        <a:rPr sz="1100" b="1" i="0">
                          <a:solidFill>
                            <a:srgbClr val="000000"/>
                          </a:solidFill>
                          <a:latin typeface="Calibri"/>
                        </a:rPr>
                        <a:t>23.</a:t>
                      </a:r>
                      <a:r>
                        <a:rPr sz="700" b="1" i="0">
                          <a:solidFill>
                            <a:srgbClr val="000000"/>
                          </a:solidFill>
                          <a:latin typeface="Times New Roman"/>
                        </a:rPr>
                        <a:t>    </a:t>
                      </a:r>
                      <a:r>
                        <a:rPr sz="1100" b="1" i="0">
                          <a:solidFill>
                            <a:srgbClr val="000000"/>
                          </a:solidFill>
                          <a:latin typeface="Calibri"/>
                        </a:rPr>
                        <a:t>Competition at a Glance- a Dashboard View</a:t>
                      </a:r>
                      <a:endParaRPr sz="1100"/>
                    </a:p>
                  </a:txBody>
                  <a:tcPr marL="171450" marR="9525" marT="9525" marB="0" anchor="ctr"/>
                </a:tc>
              </a:tr>
              <a:tr h="175260">
                <a:tc>
                  <a:txBody>
                    <a:bodyPr wrap="square"/>
                    <a:lstStyle/>
                    <a:p>
                      <a:pPr algn="l"/>
                      <a:r>
                        <a:rPr sz="1100" b="1" i="0">
                          <a:solidFill>
                            <a:srgbClr val="000000"/>
                          </a:solidFill>
                          <a:latin typeface="Calibri"/>
                        </a:rPr>
                        <a:t>24.</a:t>
                      </a:r>
                      <a:r>
                        <a:rPr sz="700" b="1" i="0">
                          <a:solidFill>
                            <a:srgbClr val="000000"/>
                          </a:solidFill>
                          <a:latin typeface="Times New Roman"/>
                        </a:rPr>
                        <a:t>    </a:t>
                      </a:r>
                      <a:r>
                        <a:rPr sz="1100" b="1" i="0">
                          <a:solidFill>
                            <a:srgbClr val="000000"/>
                          </a:solidFill>
                          <a:latin typeface="Calibri"/>
                        </a:rPr>
                        <a:t>Company Share (%) Analysis, 2023, 2025, 2026</a:t>
                      </a:r>
                      <a:endParaRPr sz="1100"/>
                    </a:p>
                  </a:txBody>
                  <a:tcPr marL="171450" marR="9525" marT="9525" marB="0" anchor="ctr"/>
                </a:tc>
              </a:tr>
              <a:tr h="175260">
                <a:tc>
                  <a:txBody>
                    <a:bodyPr wrap="square"/>
                    <a:lstStyle/>
                    <a:p>
                      <a:pPr algn="l"/>
                      <a:r>
                        <a:rPr sz="1100" b="0" i="0">
                          <a:solidFill>
                            <a:srgbClr val="0070C0"/>
                          </a:solidFill>
                          <a:latin typeface="Calibri"/>
                        </a:rPr>
                        <a:t>24.1.</a:t>
                      </a:r>
                      <a:r>
                        <a:rPr sz="700" b="0" i="0">
                          <a:solidFill>
                            <a:srgbClr val="0070C0"/>
                          </a:solidFill>
                          <a:latin typeface="Times New Roman"/>
                        </a:rPr>
                        <a:t>  </a:t>
                      </a:r>
                      <a:r>
                        <a:rPr sz="1100" b="0" i="0">
                          <a:solidFill>
                            <a:srgbClr val="0070C0"/>
                          </a:solidFill>
                          <a:latin typeface="Calibri"/>
                        </a:rPr>
                        <a:t>By Region</a:t>
                      </a:r>
                      <a:endParaRPr sz="1100"/>
                    </a:p>
                  </a:txBody>
                  <a:tcPr marL="428625" marR="9525" marT="9525" marB="0" anchor="ctr"/>
                </a:tc>
              </a:tr>
              <a:tr h="175260">
                <a:tc>
                  <a:txBody>
                    <a:bodyPr wrap="square"/>
                    <a:lstStyle/>
                    <a:p>
                      <a:pPr algn="l"/>
                      <a:r>
                        <a:rPr sz="1100" b="0" i="0">
                          <a:solidFill>
                            <a:srgbClr val="0070C0"/>
                          </a:solidFill>
                          <a:latin typeface="Calibri"/>
                        </a:rPr>
                        <a:t>24.2.</a:t>
                      </a:r>
                      <a:r>
                        <a:rPr sz="700" b="0" i="0">
                          <a:solidFill>
                            <a:srgbClr val="0070C0"/>
                          </a:solidFill>
                          <a:latin typeface="Times New Roman"/>
                        </a:rPr>
                        <a:t>  </a:t>
                      </a:r>
                      <a:r>
                        <a:rPr sz="1100" b="0" i="0">
                          <a:solidFill>
                            <a:srgbClr val="0070C0"/>
                          </a:solidFill>
                          <a:latin typeface="Calibri"/>
                        </a:rPr>
                        <a:t>By Product Type</a:t>
                      </a:r>
                      <a:endParaRPr sz="1100"/>
                    </a:p>
                  </a:txBody>
                  <a:tcPr marL="428625" marR="9525" marT="9525" marB="0" anchor="ctr"/>
                </a:tc>
              </a:tr>
              <a:tr h="175260">
                <a:tc>
                  <a:txBody>
                    <a:bodyPr wrap="square"/>
                    <a:lstStyle/>
                    <a:p>
                      <a:pPr algn="l"/>
                      <a:r>
                        <a:rPr sz="1100" b="0" i="0">
                          <a:solidFill>
                            <a:srgbClr val="0070C0"/>
                          </a:solidFill>
                          <a:latin typeface="Calibri"/>
                        </a:rPr>
                        <a:t>24.3.</a:t>
                      </a:r>
                      <a:r>
                        <a:rPr sz="700" b="0" i="0">
                          <a:solidFill>
                            <a:srgbClr val="0070C0"/>
                          </a:solidFill>
                          <a:latin typeface="Times New Roman"/>
                        </a:rPr>
                        <a:t>  </a:t>
                      </a:r>
                      <a:r>
                        <a:rPr sz="1100" b="0" i="0">
                          <a:solidFill>
                            <a:srgbClr val="0070C0"/>
                          </a:solidFill>
                          <a:latin typeface="Calibri"/>
                        </a:rPr>
                        <a:t>By End Use Application/ Sales Channel</a:t>
                      </a:r>
                      <a:endParaRPr sz="1100"/>
                    </a:p>
                  </a:txBody>
                  <a:tcPr marL="428625" marR="9525" marT="9525" marB="0" anchor="ctr"/>
                </a:tc>
              </a:tr>
              <a:tr h="175260">
                <a:tc>
                  <a:txBody>
                    <a:bodyPr wrap="square"/>
                    <a:lstStyle/>
                    <a:p>
                      <a:pPr algn="l"/>
                      <a:r>
                        <a:rPr sz="1100" b="1" i="0">
                          <a:solidFill>
                            <a:srgbClr val="000000"/>
                          </a:solidFill>
                          <a:latin typeface="Calibri"/>
                        </a:rPr>
                        <a:t>25.</a:t>
                      </a:r>
                      <a:r>
                        <a:rPr sz="700" b="1" i="0">
                          <a:solidFill>
                            <a:srgbClr val="000000"/>
                          </a:solidFill>
                          <a:latin typeface="Times New Roman"/>
                        </a:rPr>
                        <a:t>    </a:t>
                      </a:r>
                      <a:r>
                        <a:rPr sz="1100" b="1" i="0">
                          <a:solidFill>
                            <a:srgbClr val="000000"/>
                          </a:solidFill>
                          <a:latin typeface="Calibri"/>
                        </a:rPr>
                        <a:t>Company Share Breakdown (2026)</a:t>
                      </a:r>
                      <a:endParaRPr sz="1100"/>
                    </a:p>
                  </a:txBody>
                  <a:tcPr marL="171450" marR="9525" marT="9525" marB="0" anchor="ctr"/>
                </a:tc>
              </a:tr>
              <a:tr h="175260">
                <a:tc>
                  <a:txBody>
                    <a:bodyPr wrap="square"/>
                    <a:lstStyle/>
                    <a:p>
                      <a:pPr algn="l"/>
                      <a:r>
                        <a:rPr sz="1100" b="0" i="0">
                          <a:solidFill>
                            <a:srgbClr val="0070C0"/>
                          </a:solidFill>
                          <a:latin typeface="Calibri"/>
                        </a:rPr>
                        <a:t>25.1.</a:t>
                      </a:r>
                      <a:r>
                        <a:rPr sz="700" b="0" i="0">
                          <a:solidFill>
                            <a:srgbClr val="0070C0"/>
                          </a:solidFill>
                          <a:latin typeface="Times New Roman"/>
                        </a:rPr>
                        <a:t>  </a:t>
                      </a:r>
                      <a:r>
                        <a:rPr sz="1100" b="0" i="0">
                          <a:solidFill>
                            <a:srgbClr val="0070C0"/>
                          </a:solidFill>
                          <a:latin typeface="Calibri"/>
                        </a:rPr>
                        <a:t>Top Players (Tier 1)</a:t>
                      </a:r>
                      <a:endParaRPr sz="1100"/>
                    </a:p>
                  </a:txBody>
                  <a:tcPr marL="428625" marR="9525" marT="9525" marB="0" anchor="ctr"/>
                </a:tc>
              </a:tr>
              <a:tr h="175260">
                <a:tc>
                  <a:txBody>
                    <a:bodyPr wrap="square"/>
                    <a:lstStyle/>
                    <a:p>
                      <a:pPr algn="l"/>
                      <a:r>
                        <a:rPr sz="1100" b="0" i="0">
                          <a:solidFill>
                            <a:srgbClr val="0070C0"/>
                          </a:solidFill>
                          <a:latin typeface="Calibri"/>
                        </a:rPr>
                        <a:t>25.2.</a:t>
                      </a:r>
                      <a:r>
                        <a:rPr sz="700" b="0" i="0">
                          <a:solidFill>
                            <a:srgbClr val="0070C0"/>
                          </a:solidFill>
                          <a:latin typeface="Times New Roman"/>
                        </a:rPr>
                        <a:t>  </a:t>
                      </a:r>
                      <a:r>
                        <a:rPr sz="1100" b="0" i="0">
                          <a:solidFill>
                            <a:srgbClr val="0070C0"/>
                          </a:solidFill>
                          <a:latin typeface="Calibri"/>
                        </a:rPr>
                        <a:t>Mid-Sized Players (Tier 2)</a:t>
                      </a:r>
                      <a:endParaRPr sz="1100"/>
                    </a:p>
                  </a:txBody>
                  <a:tcPr marL="428625" marR="9525" marT="9525" marB="0" anchor="ctr"/>
                </a:tc>
              </a:tr>
              <a:tr h="175260">
                <a:tc>
                  <a:txBody>
                    <a:bodyPr wrap="square"/>
                    <a:lstStyle/>
                    <a:p>
                      <a:pPr algn="l"/>
                      <a:r>
                        <a:rPr sz="1100" b="0" i="0">
                          <a:solidFill>
                            <a:srgbClr val="0070C0"/>
                          </a:solidFill>
                          <a:latin typeface="Calibri"/>
                        </a:rPr>
                        <a:t>25.3.</a:t>
                      </a:r>
                      <a:r>
                        <a:rPr sz="700" b="0" i="0">
                          <a:solidFill>
                            <a:srgbClr val="0070C0"/>
                          </a:solidFill>
                          <a:latin typeface="Times New Roman"/>
                        </a:rPr>
                        <a:t>  </a:t>
                      </a:r>
                      <a:r>
                        <a:rPr sz="1100" b="0" i="0">
                          <a:solidFill>
                            <a:srgbClr val="0070C0"/>
                          </a:solidFill>
                          <a:latin typeface="Calibri"/>
                        </a:rPr>
                        <a:t>Emerging/Local Players (Tier 3)</a:t>
                      </a:r>
                      <a:endParaRPr sz="1100"/>
                    </a:p>
                  </a:txBody>
                  <a:tcPr marL="428625" marR="9525" marT="9525" marB="0" anchor="ctr"/>
                </a:tc>
              </a:tr>
              <a:tr h="175260">
                <a:tc>
                  <a:txBody>
                    <a:bodyPr wrap="square"/>
                    <a:lstStyle/>
                    <a:p>
                      <a:pPr algn="l"/>
                      <a:r>
                        <a:rPr sz="1100" b="1" i="0">
                          <a:solidFill>
                            <a:srgbClr val="000000"/>
                          </a:solidFill>
                          <a:latin typeface="Calibri"/>
                        </a:rPr>
                        <a:t>26.</a:t>
                      </a:r>
                      <a:r>
                        <a:rPr sz="700" b="1" i="0">
                          <a:solidFill>
                            <a:srgbClr val="000000"/>
                          </a:solidFill>
                          <a:latin typeface="Times New Roman"/>
                        </a:rPr>
                        <a:t>    </a:t>
                      </a:r>
                      <a:r>
                        <a:rPr sz="1100" b="1" i="0">
                          <a:solidFill>
                            <a:srgbClr val="000000"/>
                          </a:solidFill>
                          <a:latin typeface="Calibri"/>
                        </a:rPr>
                        <a:t>Company Profile</a:t>
                      </a:r>
                      <a:endParaRPr sz="1100"/>
                    </a:p>
                  </a:txBody>
                  <a:tcPr marL="171450" marR="9525" marT="9525" marB="0" anchor="ctr"/>
                </a:tc>
              </a:tr>
              <a:tr h="175260">
                <a:tc>
                  <a:txBody>
                    <a:bodyPr wrap="square"/>
                    <a:lstStyle/>
                    <a:p>
                      <a:pPr algn="l"/>
                      <a:r>
                        <a:rPr sz="1100" b="0" i="0">
                          <a:solidFill>
                            <a:srgbClr val="0070C0"/>
                          </a:solidFill>
                          <a:latin typeface="Calibri"/>
                        </a:rPr>
                        <a:t>26.1.</a:t>
                      </a:r>
                      <a:r>
                        <a:rPr sz="700" b="0" i="0">
                          <a:solidFill>
                            <a:srgbClr val="0070C0"/>
                          </a:solidFill>
                          <a:latin typeface="Times New Roman"/>
                        </a:rPr>
                        <a:t>  </a:t>
                      </a:r>
                      <a:r>
                        <a:rPr sz="1100" b="0" i="0">
                          <a:solidFill>
                            <a:srgbClr val="0070C0"/>
                          </a:solidFill>
                          <a:latin typeface="Calibri"/>
                        </a:rPr>
                        <a:t>Dentsply Sirona Inc.</a:t>
                      </a:r>
                      <a:endParaRPr sz="1100"/>
                    </a:p>
                  </a:txBody>
                  <a:tcPr marL="428625" marR="9525" marT="9525" marB="0" anchor="ctr"/>
                </a:tc>
              </a:tr>
              <a:tr h="175260">
                <a:tc>
                  <a:txBody>
                    <a:bodyPr wrap="square"/>
                    <a:lstStyle/>
                    <a:p>
                      <a:pPr algn="l"/>
                      <a:r>
                        <a:rPr sz="1100" b="0" i="0">
                          <a:solidFill>
                            <a:srgbClr val="000000"/>
                          </a:solidFill>
                          <a:latin typeface="Calibri"/>
                        </a:rPr>
                        <a:t>26.1.1.</a:t>
                      </a:r>
                      <a:r>
                        <a:rPr sz="700" b="0" i="0">
                          <a:solidFill>
                            <a:srgbClr val="000000"/>
                          </a:solidFill>
                          <a:latin typeface="Times New Roman"/>
                        </a:rPr>
                        <a:t> </a:t>
                      </a:r>
                      <a:r>
                        <a:rPr sz="1100" b="0" i="0">
                          <a:solidFill>
                            <a:srgbClr val="000000"/>
                          </a:solidFill>
                          <a:latin typeface="Calibri"/>
                        </a:rPr>
                        <a:t>Product Portfolio</a:t>
                      </a:r>
                      <a:endParaRPr sz="1100"/>
                    </a:p>
                  </a:txBody>
                  <a:tcPr marL="771525" marR="9525" marT="9525" marB="0" anchor="ctr"/>
                </a:tc>
              </a:tr>
              <a:tr h="175260">
                <a:tc>
                  <a:txBody>
                    <a:bodyPr wrap="square"/>
                    <a:lstStyle/>
                    <a:p>
                      <a:pPr algn="l"/>
                      <a:r>
                        <a:rPr sz="1100" b="0" i="0">
                          <a:solidFill>
                            <a:srgbClr val="000000"/>
                          </a:solidFill>
                          <a:latin typeface="Calibri"/>
                        </a:rPr>
                        <a:t>26.1.2.</a:t>
                      </a:r>
                      <a:r>
                        <a:rPr sz="700" b="0" i="0">
                          <a:solidFill>
                            <a:srgbClr val="000000"/>
                          </a:solidFill>
                          <a:latin typeface="Times New Roman"/>
                        </a:rPr>
                        <a:t> </a:t>
                      </a:r>
                      <a:r>
                        <a:rPr sz="1100" b="0" i="0">
                          <a:solidFill>
                            <a:srgbClr val="000000"/>
                          </a:solidFill>
                          <a:latin typeface="Calibri"/>
                        </a:rPr>
                        <a:t>Apparent Production Volume (Units)</a:t>
                      </a:r>
                      <a:endParaRPr sz="1100"/>
                    </a:p>
                  </a:txBody>
                  <a:tcPr marL="771525" marR="9525" marT="9525" marB="0" anchor="ctr"/>
                </a:tc>
              </a:tr>
              <a:tr h="175260">
                <a:tc>
                  <a:txBody>
                    <a:bodyPr wrap="square"/>
                    <a:lstStyle/>
                    <a:p>
                      <a:pPr algn="l"/>
                      <a:r>
                        <a:rPr sz="1100" b="0" i="0">
                          <a:solidFill>
                            <a:srgbClr val="000000"/>
                          </a:solidFill>
                          <a:latin typeface="Calibri"/>
                        </a:rPr>
                        <a:t>26.1.3.</a:t>
                      </a:r>
                      <a:r>
                        <a:rPr sz="700" b="0" i="0">
                          <a:solidFill>
                            <a:srgbClr val="000000"/>
                          </a:solidFill>
                          <a:latin typeface="Times New Roman"/>
                        </a:rPr>
                        <a:t> </a:t>
                      </a:r>
                      <a:r>
                        <a:rPr sz="1100" b="0" i="0">
                          <a:solidFill>
                            <a:srgbClr val="000000"/>
                          </a:solidFill>
                          <a:latin typeface="Calibri"/>
                        </a:rPr>
                        <a:t>Pricing Analysis (USD per Unit) by Product Type and Material Type</a:t>
                      </a:r>
                      <a:endParaRPr sz="1100"/>
                    </a:p>
                  </a:txBody>
                  <a:tcPr marL="771525" marR="9525" marT="9525" marB="0" anchor="ctr"/>
                </a:tc>
              </a:tr>
              <a:tr h="175260">
                <a:tc>
                  <a:txBody>
                    <a:bodyPr wrap="square"/>
                    <a:lstStyle/>
                    <a:p>
                      <a:pPr algn="l"/>
                      <a:r>
                        <a:rPr sz="1100" b="0" i="0">
                          <a:solidFill>
                            <a:srgbClr val="000000"/>
                          </a:solidFill>
                          <a:latin typeface="Calibri"/>
                        </a:rPr>
                        <a:t>26.1.4.</a:t>
                      </a:r>
                      <a:r>
                        <a:rPr sz="700" b="0" i="0">
                          <a:solidFill>
                            <a:srgbClr val="000000"/>
                          </a:solidFill>
                          <a:latin typeface="Times New Roman"/>
                        </a:rPr>
                        <a:t> </a:t>
                      </a:r>
                      <a:r>
                        <a:rPr sz="1100" b="0" i="0">
                          <a:solidFill>
                            <a:srgbClr val="000000"/>
                          </a:solidFill>
                          <a:latin typeface="Calibri"/>
                        </a:rPr>
                        <a:t>Revenue (USD Mn) and Market Share by Market Segments</a:t>
                      </a:r>
                      <a:endParaRPr sz="1100"/>
                    </a:p>
                  </a:txBody>
                  <a:tcPr marL="771525" marR="9525" marT="9525" marB="0" anchor="ctr"/>
                </a:tc>
              </a:tr>
              <a:tr h="175260">
                <a:tc>
                  <a:txBody>
                    <a:bodyPr wrap="square"/>
                    <a:lstStyle/>
                    <a:p>
                      <a:pPr algn="l"/>
                      <a:r>
                        <a:rPr sz="1100" b="0" i="1">
                          <a:solidFill>
                            <a:srgbClr val="000000"/>
                          </a:solidFill>
                          <a:latin typeface="Calibri"/>
                        </a:rPr>
                        <a:t>26.1.4.1.</a:t>
                      </a:r>
                      <a:r>
                        <a:rPr sz="700" b="0" i="1">
                          <a:solidFill>
                            <a:srgbClr val="000000"/>
                          </a:solidFill>
                          <a:latin typeface="Times New Roman"/>
                        </a:rPr>
                        <a:t> </a:t>
                      </a:r>
                      <a:r>
                        <a:rPr sz="1100" b="0" i="1">
                          <a:solidFill>
                            <a:srgbClr val="000000"/>
                          </a:solidFill>
                          <a:latin typeface="Calibri"/>
                        </a:rPr>
                        <a:t>Product Sales</a:t>
                      </a:r>
                      <a:endParaRPr sz="1100"/>
                    </a:p>
                  </a:txBody>
                  <a:tcPr marL="1028700" marR="9525" marT="9525" marB="0" anchor="ctr"/>
                </a:tc>
              </a:tr>
              <a:tr h="175260">
                <a:tc>
                  <a:txBody>
                    <a:bodyPr wrap="square"/>
                    <a:lstStyle/>
                    <a:p>
                      <a:pPr algn="l"/>
                      <a:r>
                        <a:rPr sz="1100" b="0" i="1">
                          <a:solidFill>
                            <a:srgbClr val="000000"/>
                          </a:solidFill>
                          <a:latin typeface="Calibri"/>
                        </a:rPr>
                        <a:t>26.1.4.2.</a:t>
                      </a:r>
                      <a:r>
                        <a:rPr sz="700" b="0" i="1">
                          <a:solidFill>
                            <a:srgbClr val="000000"/>
                          </a:solidFill>
                          <a:latin typeface="Times New Roman"/>
                        </a:rPr>
                        <a:t> </a:t>
                      </a:r>
                      <a:r>
                        <a:rPr sz="1100" b="0" i="1">
                          <a:solidFill>
                            <a:srgbClr val="000000"/>
                          </a:solidFill>
                          <a:latin typeface="Calibri"/>
                        </a:rPr>
                        <a:t>Channel Sales</a:t>
                      </a:r>
                      <a:endParaRPr sz="1100"/>
                    </a:p>
                  </a:txBody>
                  <a:tcPr marL="1028700" marR="9525" marT="9525" marB="0" anchor="ctr"/>
                </a:tc>
              </a:tr>
              <a:tr h="175260">
                <a:tc>
                  <a:txBody>
                    <a:bodyPr wrap="square"/>
                    <a:lstStyle/>
                    <a:p>
                      <a:pPr algn="l"/>
                      <a:r>
                        <a:rPr sz="1100" b="0" i="1">
                          <a:solidFill>
                            <a:srgbClr val="000000"/>
                          </a:solidFill>
                          <a:latin typeface="Calibri"/>
                        </a:rPr>
                        <a:t>26.1.4.3.</a:t>
                      </a:r>
                      <a:r>
                        <a:rPr sz="700" b="0" i="1">
                          <a:solidFill>
                            <a:srgbClr val="000000"/>
                          </a:solidFill>
                          <a:latin typeface="Times New Roman"/>
                        </a:rPr>
                        <a:t> </a:t>
                      </a:r>
                      <a:r>
                        <a:rPr sz="1100" b="0" i="1">
                          <a:solidFill>
                            <a:srgbClr val="000000"/>
                          </a:solidFill>
                          <a:latin typeface="Calibri"/>
                        </a:rPr>
                        <a:t>Regional Sales</a:t>
                      </a:r>
                      <a:endParaRPr sz="1100"/>
                    </a:p>
                  </a:txBody>
                  <a:tcPr marL="1028700" marR="9525" marT="9525" marB="0" anchor="ctr"/>
                </a:tc>
              </a:tr>
              <a:tr h="175260">
                <a:tc>
                  <a:txBody>
                    <a:bodyPr wrap="square"/>
                    <a:lstStyle/>
                    <a:p>
                      <a:pPr algn="l"/>
                      <a:r>
                        <a:rPr sz="1100" b="0" i="0">
                          <a:solidFill>
                            <a:srgbClr val="000000"/>
                          </a:solidFill>
                          <a:latin typeface="Calibri"/>
                        </a:rPr>
                        <a:t>26.1.5.</a:t>
                      </a:r>
                      <a:r>
                        <a:rPr sz="700" b="0" i="0">
                          <a:solidFill>
                            <a:srgbClr val="000000"/>
                          </a:solidFill>
                          <a:latin typeface="Times New Roman"/>
                        </a:rPr>
                        <a:t> </a:t>
                      </a:r>
                      <a:r>
                        <a:rPr sz="1100" b="0" i="0">
                          <a:solidFill>
                            <a:srgbClr val="000000"/>
                          </a:solidFill>
                          <a:latin typeface="Calibri"/>
                        </a:rPr>
                        <a:t>Sales Footprint</a:t>
                      </a:r>
                      <a:endParaRPr sz="1100"/>
                    </a:p>
                  </a:txBody>
                  <a:tcPr marL="771525" marR="9525" marT="9525" marB="0" anchor="ctr"/>
                </a:tc>
              </a:tr>
              <a:tr h="175260">
                <a:tc>
                  <a:txBody>
                    <a:bodyPr wrap="square"/>
                    <a:lstStyle/>
                    <a:p>
                      <a:pPr algn="l"/>
                      <a:r>
                        <a:rPr sz="1100" b="0" i="0">
                          <a:solidFill>
                            <a:srgbClr val="000000"/>
                          </a:solidFill>
                          <a:latin typeface="Calibri"/>
                        </a:rPr>
                        <a:t>26.1.6.</a:t>
                      </a:r>
                      <a:r>
                        <a:rPr sz="700" b="0" i="0">
                          <a:solidFill>
                            <a:srgbClr val="000000"/>
                          </a:solidFill>
                          <a:latin typeface="Times New Roman"/>
                        </a:rPr>
                        <a:t> </a:t>
                      </a:r>
                      <a:r>
                        <a:rPr sz="1100" b="0" i="0">
                          <a:solidFill>
                            <a:srgbClr val="000000"/>
                          </a:solidFill>
                          <a:latin typeface="Calibri"/>
                        </a:rPr>
                        <a:t>Strategy Overview</a:t>
                      </a:r>
                      <a:endParaRPr sz="1100"/>
                    </a:p>
                  </a:txBody>
                  <a:tcPr marL="771525" marR="9525" marT="9525" marB="0" anchor="ctr"/>
                </a:tc>
              </a:tr>
              <a:tr h="175260">
                <a:tc>
                  <a:txBody>
                    <a:bodyPr wrap="square"/>
                    <a:lstStyle/>
                    <a:p>
                      <a:pPr algn="l"/>
                      <a:r>
                        <a:rPr sz="1100" b="0" i="1">
                          <a:solidFill>
                            <a:srgbClr val="000000"/>
                          </a:solidFill>
                          <a:latin typeface="Calibri"/>
                        </a:rPr>
                        <a:t>26.1.6.1.</a:t>
                      </a:r>
                      <a:r>
                        <a:rPr sz="700" b="0" i="1">
                          <a:solidFill>
                            <a:srgbClr val="000000"/>
                          </a:solidFill>
                          <a:latin typeface="Times New Roman"/>
                        </a:rPr>
                        <a:t> </a:t>
                      </a:r>
                      <a:r>
                        <a:rPr sz="1100" b="0" i="1">
                          <a:solidFill>
                            <a:srgbClr val="000000"/>
                          </a:solidFill>
                          <a:latin typeface="Calibri"/>
                        </a:rPr>
                        <a:t>Marketing Strategy</a:t>
                      </a:r>
                      <a:endParaRPr sz="1100"/>
                    </a:p>
                  </a:txBody>
                  <a:tcPr marL="1028700" marR="9525" marT="9525" marB="0" anchor="ctr"/>
                </a:tc>
              </a:tr>
              <a:tr h="175260">
                <a:tc>
                  <a:txBody>
                    <a:bodyPr wrap="square"/>
                    <a:lstStyle/>
                    <a:p>
                      <a:pPr algn="l"/>
                      <a:r>
                        <a:rPr sz="1100" b="0" i="1">
                          <a:solidFill>
                            <a:srgbClr val="000000"/>
                          </a:solidFill>
                          <a:latin typeface="Calibri"/>
                        </a:rPr>
                        <a:t>26.1.6.2.</a:t>
                      </a:r>
                      <a:r>
                        <a:rPr sz="700" b="0" i="1">
                          <a:solidFill>
                            <a:srgbClr val="000000"/>
                          </a:solidFill>
                          <a:latin typeface="Times New Roman"/>
                        </a:rPr>
                        <a:t> </a:t>
                      </a:r>
                      <a:r>
                        <a:rPr sz="1100" b="0" i="1">
                          <a:solidFill>
                            <a:srgbClr val="000000"/>
                          </a:solidFill>
                          <a:latin typeface="Calibri"/>
                        </a:rPr>
                        <a:t>Product Strategy</a:t>
                      </a:r>
                      <a:endParaRPr sz="1100"/>
                    </a:p>
                  </a:txBody>
                  <a:tcPr marL="1028700" marR="9525" marT="9525" marB="0" anchor="ctr"/>
                </a:tc>
              </a:tr>
              <a:tr h="175260">
                <a:tc>
                  <a:txBody>
                    <a:bodyPr wrap="square"/>
                    <a:lstStyle/>
                    <a:p>
                      <a:pPr algn="l"/>
                      <a:r>
                        <a:rPr sz="1100" b="0" i="1">
                          <a:solidFill>
                            <a:srgbClr val="000000"/>
                          </a:solidFill>
                          <a:latin typeface="Calibri"/>
                        </a:rPr>
                        <a:t>26.1.6.3.</a:t>
                      </a:r>
                      <a:r>
                        <a:rPr sz="700" b="0" i="1">
                          <a:solidFill>
                            <a:srgbClr val="000000"/>
                          </a:solidFill>
                          <a:latin typeface="Times New Roman"/>
                        </a:rPr>
                        <a:t> </a:t>
                      </a:r>
                      <a:r>
                        <a:rPr sz="1100" b="0" i="1">
                          <a:solidFill>
                            <a:srgbClr val="000000"/>
                          </a:solidFill>
                          <a:latin typeface="Calibri"/>
                        </a:rPr>
                        <a:t>Channel Strategy</a:t>
                      </a:r>
                      <a:endParaRPr sz="1100"/>
                    </a:p>
                  </a:txBody>
                  <a:tcPr marL="1028700" marR="9525" marT="9525" marB="0" anchor="ctr"/>
                </a:tc>
              </a:tr>
              <a:tr h="175260">
                <a:tc>
                  <a:txBody>
                    <a:bodyPr wrap="square"/>
                    <a:lstStyle/>
                    <a:p>
                      <a:pPr algn="l"/>
                      <a:r>
                        <a:rPr sz="1100" b="0" i="1">
                          <a:solidFill>
                            <a:srgbClr val="000000"/>
                          </a:solidFill>
                          <a:latin typeface="Calibri"/>
                        </a:rPr>
                        <a:t>26.1.6.4.</a:t>
                      </a:r>
                      <a:r>
                        <a:rPr sz="700" b="0" i="1">
                          <a:solidFill>
                            <a:srgbClr val="000000"/>
                          </a:solidFill>
                          <a:latin typeface="Times New Roman"/>
                        </a:rPr>
                        <a:t> </a:t>
                      </a:r>
                      <a:r>
                        <a:rPr sz="1100" b="0" i="1">
                          <a:solidFill>
                            <a:srgbClr val="000000"/>
                          </a:solidFill>
                          <a:latin typeface="Calibri"/>
                        </a:rPr>
                        <a:t>Pricing Strategy</a:t>
                      </a:r>
                      <a:endParaRPr sz="1100"/>
                    </a:p>
                  </a:txBody>
                  <a:tcPr marL="1028700" marR="9525" marT="9525" marB="0" anchor="ctr"/>
                </a:tc>
              </a:tr>
              <a:tr h="175260">
                <a:tc>
                  <a:txBody>
                    <a:bodyPr wrap="square"/>
                    <a:lstStyle/>
                    <a:p>
                      <a:pPr algn="l"/>
                      <a:r>
                        <a:rPr sz="1100" b="0" i="0">
                          <a:solidFill>
                            <a:srgbClr val="000000"/>
                          </a:solidFill>
                          <a:latin typeface="Calibri"/>
                        </a:rPr>
                        <a:t>26.1.7.</a:t>
                      </a:r>
                      <a:r>
                        <a:rPr sz="700" b="0" i="0">
                          <a:solidFill>
                            <a:srgbClr val="000000"/>
                          </a:solidFill>
                          <a:latin typeface="Times New Roman"/>
                        </a:rPr>
                        <a:t> </a:t>
                      </a:r>
                      <a:r>
                        <a:rPr sz="1100" b="0" i="0">
                          <a:solidFill>
                            <a:srgbClr val="000000"/>
                          </a:solidFill>
                          <a:latin typeface="Calibri"/>
                        </a:rPr>
                        <a:t>SWOT</a:t>
                      </a:r>
                      <a:endParaRPr sz="1100"/>
                    </a:p>
                  </a:txBody>
                  <a:tcPr marL="771525" marR="9525" marT="9525" marB="0" anchor="ctr"/>
                </a:tc>
              </a:tr>
              <a:tr h="175260">
                <a:tc>
                  <a:txBody>
                    <a:bodyPr wrap="square"/>
                    <a:lstStyle/>
                    <a:p>
                      <a:pPr algn="l"/>
                      <a:r>
                        <a:rPr sz="1100" b="0" i="0">
                          <a:solidFill>
                            <a:srgbClr val="000000"/>
                          </a:solidFill>
                          <a:latin typeface="Calibri"/>
                        </a:rPr>
                        <a:t>26.1.8.</a:t>
                      </a:r>
                      <a:r>
                        <a:rPr sz="700" b="0" i="0">
                          <a:solidFill>
                            <a:srgbClr val="000000"/>
                          </a:solidFill>
                          <a:latin typeface="Times New Roman"/>
                        </a:rPr>
                        <a:t> </a:t>
                      </a:r>
                      <a:r>
                        <a:rPr sz="1100" b="0" i="0">
                          <a:solidFill>
                            <a:srgbClr val="000000"/>
                          </a:solidFill>
                          <a:latin typeface="Calibri"/>
                        </a:rPr>
                        <a:t>Analyst Comment</a:t>
                      </a:r>
                      <a:endParaRPr sz="1100"/>
                    </a:p>
                  </a:txBody>
                  <a:tcPr marL="771525" marR="9525" marT="9525" marB="0" anchor="ctr"/>
                </a:tc>
              </a:tr>
              <a:tr h="175260">
                <a:tc>
                  <a:txBody>
                    <a:bodyPr wrap="square"/>
                    <a:lstStyle/>
                    <a:p>
                      <a:pPr algn="l"/>
                      <a:r>
                        <a:rPr sz="1100" b="0" i="1">
                          <a:solidFill>
                            <a:srgbClr val="EE0000"/>
                          </a:solidFill>
                          <a:latin typeface="Calibri"/>
                        </a:rPr>
                        <a:t>Note: All companies shall be indicated in similar manner</a:t>
                      </a:r>
                      <a:endParaRPr sz="110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385572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26.2.</a:t>
                      </a:r>
                      <a:r>
                        <a:rPr sz="700" b="0" i="0">
                          <a:solidFill>
                            <a:srgbClr val="0070C0"/>
                          </a:solidFill>
                          <a:latin typeface="Times New Roman"/>
                        </a:rPr>
                        <a:t>  </a:t>
                      </a:r>
                      <a:r>
                        <a:rPr sz="1100" b="0" i="0">
                          <a:solidFill>
                            <a:srgbClr val="0070C0"/>
                          </a:solidFill>
                          <a:latin typeface="Calibri"/>
                        </a:rPr>
                        <a:t>Ivoclar Vivadent AG</a:t>
                      </a:r>
                      <a:endParaRPr sz="1100"/>
                    </a:p>
                  </a:txBody>
                  <a:tcPr marL="428625" marR="9525" marT="9525" marB="0" anchor="ctr"/>
                </a:tc>
              </a:tr>
              <a:tr h="175260">
                <a:tc>
                  <a:txBody>
                    <a:bodyPr wrap="square"/>
                    <a:lstStyle/>
                    <a:p>
                      <a:pPr algn="l"/>
                      <a:r>
                        <a:rPr sz="1100" b="0" i="0">
                          <a:solidFill>
                            <a:srgbClr val="0070C0"/>
                          </a:solidFill>
                          <a:latin typeface="Calibri"/>
                        </a:rPr>
                        <a:t>26.3.</a:t>
                      </a:r>
                      <a:r>
                        <a:rPr sz="700" b="0" i="0">
                          <a:solidFill>
                            <a:srgbClr val="0070C0"/>
                          </a:solidFill>
                          <a:latin typeface="Times New Roman"/>
                        </a:rPr>
                        <a:t>  </a:t>
                      </a:r>
                      <a:r>
                        <a:rPr sz="1100" b="0" i="0">
                          <a:solidFill>
                            <a:srgbClr val="0070C0"/>
                          </a:solidFill>
                          <a:latin typeface="Calibri"/>
                        </a:rPr>
                        <a:t>Kulzer GmbH</a:t>
                      </a:r>
                      <a:endParaRPr sz="1100"/>
                    </a:p>
                  </a:txBody>
                  <a:tcPr marL="428625" marR="9525" marT="9525" marB="0" anchor="ctr"/>
                </a:tc>
              </a:tr>
              <a:tr h="175260">
                <a:tc>
                  <a:txBody>
                    <a:bodyPr wrap="square"/>
                    <a:lstStyle/>
                    <a:p>
                      <a:pPr algn="l"/>
                      <a:r>
                        <a:rPr sz="1100" b="0" i="0">
                          <a:solidFill>
                            <a:srgbClr val="0070C0"/>
                          </a:solidFill>
                          <a:latin typeface="Calibri"/>
                        </a:rPr>
                        <a:t>26.4.</a:t>
                      </a:r>
                      <a:r>
                        <a:rPr sz="700" b="0" i="0">
                          <a:solidFill>
                            <a:srgbClr val="0070C0"/>
                          </a:solidFill>
                          <a:latin typeface="Times New Roman"/>
                        </a:rPr>
                        <a:t>  </a:t>
                      </a:r>
                      <a:r>
                        <a:rPr sz="1100" b="0" i="0">
                          <a:solidFill>
                            <a:srgbClr val="0070C0"/>
                          </a:solidFill>
                          <a:latin typeface="Calibri"/>
                        </a:rPr>
                        <a:t>GC Corporation</a:t>
                      </a:r>
                      <a:endParaRPr sz="1100"/>
                    </a:p>
                  </a:txBody>
                  <a:tcPr marL="428625" marR="9525" marT="9525" marB="0" anchor="ctr"/>
                </a:tc>
              </a:tr>
              <a:tr h="175260">
                <a:tc>
                  <a:txBody>
                    <a:bodyPr wrap="square"/>
                    <a:lstStyle/>
                    <a:p>
                      <a:pPr algn="l"/>
                      <a:r>
                        <a:rPr sz="1100" b="0" i="0">
                          <a:solidFill>
                            <a:srgbClr val="0070C0"/>
                          </a:solidFill>
                          <a:latin typeface="Calibri"/>
                        </a:rPr>
                        <a:t>26.5.</a:t>
                      </a:r>
                      <a:r>
                        <a:rPr sz="700" b="0" i="0">
                          <a:solidFill>
                            <a:srgbClr val="0070C0"/>
                          </a:solidFill>
                          <a:latin typeface="Times New Roman"/>
                        </a:rPr>
                        <a:t>  </a:t>
                      </a:r>
                      <a:r>
                        <a:rPr sz="1100" b="0" i="0">
                          <a:solidFill>
                            <a:srgbClr val="0070C0"/>
                          </a:solidFill>
                          <a:latin typeface="Calibri"/>
                        </a:rPr>
                        <a:t>SHOFU INC.</a:t>
                      </a:r>
                      <a:endParaRPr sz="1100"/>
                    </a:p>
                  </a:txBody>
                  <a:tcPr marL="428625" marR="9525" marT="9525" marB="0" anchor="ctr"/>
                </a:tc>
              </a:tr>
              <a:tr h="175260">
                <a:tc>
                  <a:txBody>
                    <a:bodyPr wrap="square"/>
                    <a:lstStyle/>
                    <a:p>
                      <a:pPr algn="l"/>
                      <a:r>
                        <a:rPr sz="1100" b="0" i="0">
                          <a:solidFill>
                            <a:srgbClr val="0070C0"/>
                          </a:solidFill>
                          <a:latin typeface="Calibri"/>
                        </a:rPr>
                        <a:t>26.6.</a:t>
                      </a:r>
                      <a:r>
                        <a:rPr sz="700" b="0" i="0">
                          <a:solidFill>
                            <a:srgbClr val="0070C0"/>
                          </a:solidFill>
                          <a:latin typeface="Times New Roman"/>
                        </a:rPr>
                        <a:t>  </a:t>
                      </a:r>
                      <a:r>
                        <a:rPr sz="1100" b="0" i="0">
                          <a:solidFill>
                            <a:srgbClr val="0070C0"/>
                          </a:solidFill>
                          <a:latin typeface="Calibri"/>
                        </a:rPr>
                        <a:t>VITA Zahnfabrik H. Rauter GmbH &amp; Co. KG</a:t>
                      </a:r>
                      <a:endParaRPr sz="1100"/>
                    </a:p>
                  </a:txBody>
                  <a:tcPr marL="428625" marR="9525" marT="9525" marB="0" anchor="ctr"/>
                </a:tc>
              </a:tr>
              <a:tr h="175260">
                <a:tc>
                  <a:txBody>
                    <a:bodyPr wrap="square"/>
                    <a:lstStyle/>
                    <a:p>
                      <a:pPr algn="l"/>
                      <a:r>
                        <a:rPr sz="1100" b="0" i="0">
                          <a:solidFill>
                            <a:srgbClr val="0070C0"/>
                          </a:solidFill>
                          <a:latin typeface="Calibri"/>
                        </a:rPr>
                        <a:t>26.7.</a:t>
                      </a:r>
                      <a:r>
                        <a:rPr sz="700" b="0" i="0">
                          <a:solidFill>
                            <a:srgbClr val="0070C0"/>
                          </a:solidFill>
                          <a:latin typeface="Times New Roman"/>
                        </a:rPr>
                        <a:t>  </a:t>
                      </a:r>
                      <a:r>
                        <a:rPr sz="1100" b="0" i="0">
                          <a:solidFill>
                            <a:srgbClr val="0070C0"/>
                          </a:solidFill>
                          <a:latin typeface="Calibri"/>
                        </a:rPr>
                        <a:t>Zhermack S.p.A.</a:t>
                      </a:r>
                      <a:endParaRPr sz="1100"/>
                    </a:p>
                  </a:txBody>
                  <a:tcPr marL="428625" marR="9525" marT="9525" marB="0" anchor="ctr"/>
                </a:tc>
              </a:tr>
              <a:tr h="175260">
                <a:tc>
                  <a:txBody>
                    <a:bodyPr wrap="square"/>
                    <a:lstStyle/>
                    <a:p>
                      <a:pPr algn="l"/>
                      <a:r>
                        <a:rPr sz="1100" b="0" i="0">
                          <a:solidFill>
                            <a:srgbClr val="0070C0"/>
                          </a:solidFill>
                          <a:latin typeface="Calibri"/>
                        </a:rPr>
                        <a:t>26.8.</a:t>
                      </a:r>
                      <a:r>
                        <a:rPr sz="700" b="0" i="0">
                          <a:solidFill>
                            <a:srgbClr val="0070C0"/>
                          </a:solidFill>
                          <a:latin typeface="Times New Roman"/>
                        </a:rPr>
                        <a:t>  </a:t>
                      </a:r>
                      <a:r>
                        <a:rPr sz="1100" b="0" i="0">
                          <a:solidFill>
                            <a:srgbClr val="0070C0"/>
                          </a:solidFill>
                          <a:latin typeface="Calibri"/>
                        </a:rPr>
                        <a:t>DETAX GmbH</a:t>
                      </a:r>
                      <a:endParaRPr sz="1100"/>
                    </a:p>
                  </a:txBody>
                  <a:tcPr marL="428625" marR="9525" marT="9525" marB="0" anchor="ctr"/>
                </a:tc>
              </a:tr>
              <a:tr h="175260">
                <a:tc>
                  <a:txBody>
                    <a:bodyPr wrap="square"/>
                    <a:lstStyle/>
                    <a:p>
                      <a:pPr algn="l"/>
                      <a:r>
                        <a:rPr sz="1100" b="0" i="0">
                          <a:solidFill>
                            <a:srgbClr val="0070C0"/>
                          </a:solidFill>
                          <a:latin typeface="Calibri"/>
                        </a:rPr>
                        <a:t>26.9.</a:t>
                      </a:r>
                      <a:r>
                        <a:rPr sz="700" b="0" i="0">
                          <a:solidFill>
                            <a:srgbClr val="0070C0"/>
                          </a:solidFill>
                          <a:latin typeface="Times New Roman"/>
                        </a:rPr>
                        <a:t>  </a:t>
                      </a:r>
                      <a:r>
                        <a:rPr sz="1100" b="0" i="0">
                          <a:solidFill>
                            <a:srgbClr val="0070C0"/>
                          </a:solidFill>
                          <a:latin typeface="Calibri"/>
                        </a:rPr>
                        <a:t>Candulor AG</a:t>
                      </a:r>
                      <a:endParaRPr sz="1100"/>
                    </a:p>
                  </a:txBody>
                  <a:tcPr marL="428625" marR="9525" marT="9525" marB="0" anchor="ctr"/>
                </a:tc>
              </a:tr>
              <a:tr h="175260">
                <a:tc>
                  <a:txBody>
                    <a:bodyPr wrap="square"/>
                    <a:lstStyle/>
                    <a:p>
                      <a:pPr algn="l"/>
                      <a:r>
                        <a:rPr sz="1100" b="0" i="0">
                          <a:solidFill>
                            <a:srgbClr val="0070C0"/>
                          </a:solidFill>
                          <a:latin typeface="Calibri"/>
                        </a:rPr>
                        <a:t>26.10.</a:t>
                      </a:r>
                      <a:r>
                        <a:rPr sz="700" b="0" i="0">
                          <a:solidFill>
                            <a:srgbClr val="0070C0"/>
                          </a:solidFill>
                          <a:latin typeface="Times New Roman"/>
                        </a:rPr>
                        <a:t> </a:t>
                      </a:r>
                      <a:r>
                        <a:rPr sz="1100" b="0" i="0">
                          <a:solidFill>
                            <a:srgbClr val="0070C0"/>
                          </a:solidFill>
                          <a:latin typeface="Calibri"/>
                        </a:rPr>
                        <a:t>Ruthinium Dental Manufacturing S.p.A.</a:t>
                      </a:r>
                      <a:endParaRPr sz="1100"/>
                    </a:p>
                  </a:txBody>
                  <a:tcPr marL="428625" marR="9525" marT="9525" marB="0" anchor="ctr"/>
                </a:tc>
              </a:tr>
              <a:tr h="175260">
                <a:tc>
                  <a:txBody>
                    <a:bodyPr wrap="square"/>
                    <a:lstStyle/>
                    <a:p>
                      <a:pPr algn="l"/>
                      <a:r>
                        <a:rPr sz="1100" b="0" i="0">
                          <a:solidFill>
                            <a:srgbClr val="0070C0"/>
                          </a:solidFill>
                          <a:latin typeface="Calibri"/>
                        </a:rPr>
                        <a:t>26.11.</a:t>
                      </a:r>
                      <a:r>
                        <a:rPr sz="700" b="0" i="0">
                          <a:solidFill>
                            <a:srgbClr val="0070C0"/>
                          </a:solidFill>
                          <a:latin typeface="Times New Roman"/>
                        </a:rPr>
                        <a:t> </a:t>
                      </a:r>
                      <a:r>
                        <a:rPr sz="1100" b="0" i="0">
                          <a:solidFill>
                            <a:srgbClr val="0070C0"/>
                          </a:solidFill>
                          <a:latin typeface="Calibri"/>
                        </a:rPr>
                        <a:t>Keystone Industries</a:t>
                      </a:r>
                      <a:endParaRPr sz="1100"/>
                    </a:p>
                  </a:txBody>
                  <a:tcPr marL="428625" marR="9525" marT="9525" marB="0" anchor="ctr"/>
                </a:tc>
              </a:tr>
              <a:tr h="175260">
                <a:tc>
                  <a:txBody>
                    <a:bodyPr wrap="square"/>
                    <a:lstStyle/>
                    <a:p>
                      <a:pPr algn="l"/>
                      <a:r>
                        <a:rPr sz="1100" b="0" i="0">
                          <a:solidFill>
                            <a:srgbClr val="0070C0"/>
                          </a:solidFill>
                          <a:latin typeface="Calibri"/>
                        </a:rPr>
                        <a:t>26.12.</a:t>
                      </a:r>
                      <a:r>
                        <a:rPr sz="700" b="0" i="0">
                          <a:solidFill>
                            <a:srgbClr val="0070C0"/>
                          </a:solidFill>
                          <a:latin typeface="Times New Roman"/>
                        </a:rPr>
                        <a:t> </a:t>
                      </a:r>
                      <a:r>
                        <a:rPr sz="1100" b="0" i="0">
                          <a:solidFill>
                            <a:srgbClr val="0070C0"/>
                          </a:solidFill>
                          <a:latin typeface="Calibri"/>
                        </a:rPr>
                        <a:t>Vertex-Dental B.V.</a:t>
                      </a:r>
                      <a:endParaRPr sz="1100"/>
                    </a:p>
                  </a:txBody>
                  <a:tcPr marL="428625" marR="9525" marT="9525" marB="0" anchor="ctr"/>
                </a:tc>
              </a:tr>
              <a:tr h="175260">
                <a:tc>
                  <a:txBody>
                    <a:bodyPr wrap="square"/>
                    <a:lstStyle/>
                    <a:p>
                      <a:pPr algn="l"/>
                      <a:r>
                        <a:rPr sz="1100" b="0" i="0">
                          <a:solidFill>
                            <a:srgbClr val="0070C0"/>
                          </a:solidFill>
                          <a:latin typeface="Calibri"/>
                        </a:rPr>
                        <a:t>26.13.</a:t>
                      </a:r>
                      <a:r>
                        <a:rPr sz="700" b="0" i="0">
                          <a:solidFill>
                            <a:srgbClr val="0070C0"/>
                          </a:solidFill>
                          <a:latin typeface="Times New Roman"/>
                        </a:rPr>
                        <a:t> </a:t>
                      </a:r>
                      <a:r>
                        <a:rPr sz="1100" b="0" i="0">
                          <a:solidFill>
                            <a:srgbClr val="0070C0"/>
                          </a:solidFill>
                          <a:latin typeface="Calibri"/>
                        </a:rPr>
                        <a:t>Amann Girrbach AG</a:t>
                      </a:r>
                      <a:endParaRPr sz="1100"/>
                    </a:p>
                  </a:txBody>
                  <a:tcPr marL="428625" marR="9525" marT="9525" marB="0" anchor="ctr"/>
                </a:tc>
              </a:tr>
              <a:tr h="175260">
                <a:tc>
                  <a:txBody>
                    <a:bodyPr wrap="square"/>
                    <a:lstStyle/>
                    <a:p>
                      <a:pPr algn="l"/>
                      <a:r>
                        <a:rPr sz="1100" b="0" i="0">
                          <a:solidFill>
                            <a:srgbClr val="0070C0"/>
                          </a:solidFill>
                          <a:latin typeface="Calibri"/>
                        </a:rPr>
                        <a:t>26.14.</a:t>
                      </a:r>
                      <a:r>
                        <a:rPr sz="700" b="0" i="0">
                          <a:solidFill>
                            <a:srgbClr val="0070C0"/>
                          </a:solidFill>
                          <a:latin typeface="Times New Roman"/>
                        </a:rPr>
                        <a:t> </a:t>
                      </a:r>
                      <a:r>
                        <a:rPr sz="1100" b="0" i="0">
                          <a:solidFill>
                            <a:srgbClr val="0070C0"/>
                          </a:solidFill>
                          <a:latin typeface="Calibri"/>
                        </a:rPr>
                        <a:t>BEGO GmbH &amp; Co. KG</a:t>
                      </a:r>
                      <a:endParaRPr sz="1100"/>
                    </a:p>
                  </a:txBody>
                  <a:tcPr marL="428625" marR="9525" marT="9525" marB="0" anchor="ctr"/>
                </a:tc>
              </a:tr>
              <a:tr h="175260">
                <a:tc>
                  <a:txBody>
                    <a:bodyPr wrap="square"/>
                    <a:lstStyle/>
                    <a:p>
                      <a:pPr algn="l"/>
                      <a:r>
                        <a:rPr sz="1100" b="0" i="0">
                          <a:solidFill>
                            <a:srgbClr val="0070C0"/>
                          </a:solidFill>
                          <a:latin typeface="Calibri"/>
                        </a:rPr>
                        <a:t>26.15.</a:t>
                      </a:r>
                      <a:r>
                        <a:rPr sz="700" b="0" i="0">
                          <a:solidFill>
                            <a:srgbClr val="0070C0"/>
                          </a:solidFill>
                          <a:latin typeface="Times New Roman"/>
                        </a:rPr>
                        <a:t> </a:t>
                      </a:r>
                      <a:r>
                        <a:rPr sz="1100" b="0" i="0">
                          <a:solidFill>
                            <a:srgbClr val="0070C0"/>
                          </a:solidFill>
                          <a:latin typeface="Calibri"/>
                        </a:rPr>
                        <a:t>Dentaurum GmbH &amp; Co. KG</a:t>
                      </a:r>
                      <a:endParaRPr sz="1100"/>
                    </a:p>
                  </a:txBody>
                  <a:tcPr marL="428625" marR="9525" marT="9525" marB="0" anchor="ctr"/>
                </a:tc>
              </a:tr>
              <a:tr h="175260">
                <a:tc>
                  <a:txBody>
                    <a:bodyPr wrap="square"/>
                    <a:lstStyle/>
                    <a:p>
                      <a:pPr algn="l"/>
                      <a:r>
                        <a:rPr sz="1100" b="0" i="0">
                          <a:solidFill>
                            <a:srgbClr val="0070C0"/>
                          </a:solidFill>
                          <a:latin typeface="Calibri"/>
                        </a:rPr>
                        <a:t>26.16.</a:t>
                      </a:r>
                      <a:r>
                        <a:rPr sz="700" b="0" i="0">
                          <a:solidFill>
                            <a:srgbClr val="0070C0"/>
                          </a:solidFill>
                          <a:latin typeface="Times New Roman"/>
                        </a:rPr>
                        <a:t> </a:t>
                      </a:r>
                      <a:r>
                        <a:rPr sz="1100" b="0" i="0">
                          <a:solidFill>
                            <a:srgbClr val="0070C0"/>
                          </a:solidFill>
                          <a:latin typeface="Calibri"/>
                        </a:rPr>
                        <a:t>Valplast International Corp.</a:t>
                      </a:r>
                      <a:endParaRPr sz="1100"/>
                    </a:p>
                  </a:txBody>
                  <a:tcPr marL="428625" marR="9525" marT="9525" marB="0" anchor="ctr"/>
                </a:tc>
              </a:tr>
              <a:tr h="175260">
                <a:tc>
                  <a:txBody>
                    <a:bodyPr wrap="square"/>
                    <a:lstStyle/>
                    <a:p>
                      <a:pPr algn="l"/>
                      <a:r>
                        <a:rPr sz="1100" b="0" i="0">
                          <a:solidFill>
                            <a:srgbClr val="0070C0"/>
                          </a:solidFill>
                          <a:latin typeface="Calibri"/>
                        </a:rPr>
                        <a:t>26.17.</a:t>
                      </a:r>
                      <a:r>
                        <a:rPr sz="700" b="0" i="0">
                          <a:solidFill>
                            <a:srgbClr val="0070C0"/>
                          </a:solidFill>
                          <a:latin typeface="Times New Roman"/>
                        </a:rPr>
                        <a:t> </a:t>
                      </a:r>
                      <a:r>
                        <a:rPr sz="1100" b="0" i="0">
                          <a:solidFill>
                            <a:srgbClr val="0070C0"/>
                          </a:solidFill>
                          <a:latin typeface="Calibri"/>
                        </a:rPr>
                        <a:t>Renishaw plc</a:t>
                      </a:r>
                      <a:endParaRPr sz="1100"/>
                    </a:p>
                  </a:txBody>
                  <a:tcPr marL="428625" marR="9525" marT="9525" marB="0" anchor="ctr"/>
                </a:tc>
              </a:tr>
              <a:tr h="175260">
                <a:tc>
                  <a:txBody>
                    <a:bodyPr wrap="square"/>
                    <a:lstStyle/>
                    <a:p>
                      <a:pPr algn="l"/>
                      <a:r>
                        <a:rPr sz="1100" b="0" i="0">
                          <a:solidFill>
                            <a:srgbClr val="0070C0"/>
                          </a:solidFill>
                          <a:latin typeface="Calibri"/>
                        </a:rPr>
                        <a:t>26.18.</a:t>
                      </a:r>
                      <a:r>
                        <a:rPr sz="700" b="0" i="0">
                          <a:solidFill>
                            <a:srgbClr val="0070C0"/>
                          </a:solidFill>
                          <a:latin typeface="Times New Roman"/>
                        </a:rPr>
                        <a:t> </a:t>
                      </a:r>
                      <a:r>
                        <a:rPr sz="1100" b="0" i="0">
                          <a:solidFill>
                            <a:srgbClr val="0070C0"/>
                          </a:solidFill>
                          <a:latin typeface="Calibri"/>
                        </a:rPr>
                        <a:t>3D Systems, Inc.</a:t>
                      </a:r>
                      <a:endParaRPr sz="1100"/>
                    </a:p>
                  </a:txBody>
                  <a:tcPr marL="428625" marR="9525" marT="9525" marB="0" anchor="ctr"/>
                </a:tc>
              </a:tr>
              <a:tr h="175260">
                <a:tc>
                  <a:txBody>
                    <a:bodyPr wrap="square"/>
                    <a:lstStyle/>
                    <a:p>
                      <a:pPr algn="l"/>
                      <a:r>
                        <a:rPr sz="1100" b="0" i="0">
                          <a:solidFill>
                            <a:srgbClr val="0070C0"/>
                          </a:solidFill>
                          <a:latin typeface="Calibri"/>
                        </a:rPr>
                        <a:t>26.19.</a:t>
                      </a:r>
                      <a:r>
                        <a:rPr sz="700" b="0" i="0">
                          <a:solidFill>
                            <a:srgbClr val="0070C0"/>
                          </a:solidFill>
                          <a:latin typeface="Times New Roman"/>
                        </a:rPr>
                        <a:t> </a:t>
                      </a:r>
                      <a:r>
                        <a:rPr sz="1100" b="0" i="0">
                          <a:solidFill>
                            <a:srgbClr val="0070C0"/>
                          </a:solidFill>
                          <a:latin typeface="Calibri"/>
                        </a:rPr>
                        <a:t>Formlabs Inc.</a:t>
                      </a:r>
                      <a:endParaRPr sz="1100"/>
                    </a:p>
                  </a:txBody>
                  <a:tcPr marL="428625" marR="9525" marT="9525" marB="0" anchor="ctr"/>
                </a:tc>
              </a:tr>
              <a:tr h="175260">
                <a:tc>
                  <a:txBody>
                    <a:bodyPr wrap="square"/>
                    <a:lstStyle/>
                    <a:p>
                      <a:pPr algn="l"/>
                      <a:r>
                        <a:rPr sz="1100" b="0" i="0">
                          <a:solidFill>
                            <a:srgbClr val="0070C0"/>
                          </a:solidFill>
                          <a:latin typeface="Calibri"/>
                        </a:rPr>
                        <a:t>26.20.</a:t>
                      </a:r>
                      <a:r>
                        <a:rPr sz="700" b="0" i="0">
                          <a:solidFill>
                            <a:srgbClr val="0070C0"/>
                          </a:solidFill>
                          <a:latin typeface="Times New Roman"/>
                        </a:rPr>
                        <a:t> </a:t>
                      </a:r>
                      <a:r>
                        <a:rPr sz="1100" b="0" i="0">
                          <a:solidFill>
                            <a:srgbClr val="0070C0"/>
                          </a:solidFill>
                          <a:latin typeface="Calibri"/>
                        </a:rPr>
                        <a:t>Stratasys Ltd.</a:t>
                      </a:r>
                      <a:endParaRPr sz="1100"/>
                    </a:p>
                  </a:txBody>
                  <a:tcPr marL="428625" marR="9525" marT="9525" marB="0" anchor="ctr"/>
                </a:tc>
              </a:tr>
              <a:tr h="175260">
                <a:tc>
                  <a:txBody>
                    <a:bodyPr wrap="square"/>
                    <a:lstStyle/>
                    <a:p>
                      <a:pPr algn="l"/>
                      <a:r>
                        <a:rPr sz="1100" b="0" i="0">
                          <a:solidFill>
                            <a:srgbClr val="0070C0"/>
                          </a:solidFill>
                          <a:latin typeface="Calibri"/>
                        </a:rPr>
                        <a:t>26.21.</a:t>
                      </a:r>
                      <a:r>
                        <a:rPr sz="700" b="0" i="0">
                          <a:solidFill>
                            <a:srgbClr val="0070C0"/>
                          </a:solidFill>
                          <a:latin typeface="Times New Roman"/>
                        </a:rPr>
                        <a:t> </a:t>
                      </a:r>
                      <a:r>
                        <a:rPr sz="1100" b="0" i="0">
                          <a:solidFill>
                            <a:srgbClr val="0070C0"/>
                          </a:solidFill>
                          <a:latin typeface="Calibri"/>
                        </a:rPr>
                        <a:t>Others on request</a:t>
                      </a:r>
                      <a:endParaRPr sz="1100"/>
                    </a:p>
                  </a:txBody>
                  <a:tcPr marL="428625" marR="9525" marT="9525" marB="0" anchor="ctr"/>
                </a:tc>
              </a:tr>
              <a:tr h="175260">
                <a:tc>
                  <a:txBody>
                    <a:bodyPr wrap="square"/>
                    <a:lstStyle/>
                    <a:p>
                      <a:pPr algn="l"/>
                      <a:r>
                        <a:rPr sz="1100" b="1" i="0">
                          <a:solidFill>
                            <a:srgbClr val="000000"/>
                          </a:solidFill>
                          <a:latin typeface="Calibri"/>
                        </a:rPr>
                        <a:t>27.</a:t>
                      </a:r>
                      <a:r>
                        <a:rPr sz="700" b="1" i="0">
                          <a:solidFill>
                            <a:srgbClr val="000000"/>
                          </a:solidFill>
                          <a:latin typeface="Times New Roman"/>
                        </a:rPr>
                        <a:t>    </a:t>
                      </a:r>
                      <a:r>
                        <a:rPr sz="1100" b="1" i="0">
                          <a:solidFill>
                            <a:srgbClr val="000000"/>
                          </a:solidFill>
                          <a:latin typeface="Calibri"/>
                        </a:rPr>
                        <a:t>Assumptions and Acronyms Used</a:t>
                      </a:r>
                      <a:endParaRPr sz="1100"/>
                    </a:p>
                  </a:txBody>
                  <a:tcPr marL="171450" marR="9525" marT="9525" marB="0" anchor="ctr"/>
                </a:tc>
              </a:tr>
              <a:tr h="175260">
                <a:tc>
                  <a:txBody>
                    <a:bodyPr wrap="square"/>
                    <a:lstStyle/>
                    <a:p>
                      <a:pPr algn="l"/>
                      <a:r>
                        <a:rPr sz="1100" b="1" i="0">
                          <a:solidFill>
                            <a:srgbClr val="000000"/>
                          </a:solidFill>
                          <a:latin typeface="Calibri"/>
                        </a:rPr>
                        <a:t>28.</a:t>
                      </a:r>
                      <a:r>
                        <a:rPr sz="700" b="1" i="0">
                          <a:solidFill>
                            <a:srgbClr val="000000"/>
                          </a:solidFill>
                          <a:latin typeface="Times New Roman"/>
                        </a:rPr>
                        <a:t>    </a:t>
                      </a:r>
                      <a:r>
                        <a:rPr sz="1100" b="1" i="0">
                          <a:solidFill>
                            <a:srgbClr val="000000"/>
                          </a:solidFill>
                          <a:latin typeface="Calibri"/>
                        </a:rPr>
                        <a:t>Research Methodology</a:t>
                      </a:r>
                      <a:endParaRPr sz="1100"/>
                    </a:p>
                  </a:txBody>
                  <a:tcPr marL="171450"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94957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292475"/>
            <a:ext cx="8572500" cy="514350"/>
          </a:xfrm>
          <a:prstGeom prst="rect">
            <a:avLst/>
          </a:prstGeom>
          <a:noFill/>
        </p:spPr>
        <p:txBody>
          <a:bodyPr wrap="square" lIns="0" rIns="0" tIns="0">
            <a:spAutoFit/>
          </a:bodyPr>
          <a:lstStyle/>
          <a:p>
            <a:r>
              <a:rPr sz="3000" b="1">
                <a:solidFill>
                  <a:srgbClr val="0B3C8C"/>
                </a:solidFill>
                <a:latin typeface="Calibri"/>
              </a:rPr>
              <a:t>List of Figures, List of Tables</a:t>
            </a:r>
          </a:p>
        </p:txBody>
      </p:sp>
      <p:sp>
        <p:nvSpPr>
          <p:cNvPr id="11" name="TextBox 10"/>
          <p:cNvSpPr txBox="1"/>
          <p:nvPr/>
        </p:nvSpPr>
        <p:spPr>
          <a:xfrm>
            <a:off x="914400" y="3978275"/>
            <a:ext cx="8458200" cy="8826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Every figure in the full study, by analysis block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Every table in the full study, by analysis block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(1/4)</a:t>
            </a:r>
          </a:p>
        </p:txBody>
      </p:sp>
      <p:graphicFrame>
        <p:nvGraphicFramePr>
          <p:cNvPr id="9" name="FMI Contents Table"/>
          <p:cNvGraphicFramePr>
            <a:graphicFrameLocks noGrp="1"/>
          </p:cNvGraphicFramePr>
          <p:nvPr/>
        </p:nvGraphicFramePr>
        <p:xfrm>
          <a:off x="142875"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1: Global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2: Global Market Value Snapshot, US$ Mn, 2026 and 2036</a:t>
                      </a:r>
                      <a:endParaRPr sz="1050"/>
                    </a:p>
                  </a:txBody>
                  <a:tcPr marL="9525" marR="9525" marT="9525" marB="0" anchor="ctr"/>
                </a:tc>
              </a:tr>
              <a:tr h="169606">
                <a:tc>
                  <a:txBody>
                    <a:bodyPr wrap="square"/>
                    <a:lstStyle/>
                    <a:p>
                      <a:pPr algn="l"/>
                      <a:r>
                        <a:rPr sz="1050" b="0" i="0">
                          <a:solidFill>
                            <a:srgbClr val="000000"/>
                          </a:solidFill>
                          <a:latin typeface="Calibri"/>
                        </a:rPr>
                        <a:t>Figure 3: Global Market Taxonomy by Segment, 2026</a:t>
                      </a:r>
                      <a:endParaRPr sz="1050"/>
                    </a:p>
                  </a:txBody>
                  <a:tcPr marL="9525" marR="9525" marT="9525" marB="0" anchor="ctr"/>
                </a:tc>
              </a:tr>
              <a:tr h="169606">
                <a:tc>
                  <a:txBody>
                    <a:bodyPr wrap="square"/>
                    <a:lstStyle/>
                    <a:p>
                      <a:pPr algn="l"/>
                      <a:r>
                        <a:rPr sz="1050" b="0" i="0">
                          <a:solidFill>
                            <a:srgbClr val="000000"/>
                          </a:solidFill>
                          <a:latin typeface="Calibri"/>
                        </a:rPr>
                        <a:t>Figure 4: Global Market Share by Product Type, %, 2026</a:t>
                      </a:r>
                      <a:endParaRPr sz="1050"/>
                    </a:p>
                  </a:txBody>
                  <a:tcPr marL="9525" marR="9525" marT="9525" marB="0" anchor="ctr"/>
                </a:tc>
              </a:tr>
              <a:tr h="169606">
                <a:tc>
                  <a:txBody>
                    <a:bodyPr wrap="square"/>
                    <a:lstStyle/>
                    <a:p>
                      <a:pPr algn="l"/>
                      <a:r>
                        <a:rPr sz="1050" b="0" i="0">
                          <a:solidFill>
                            <a:srgbClr val="000000"/>
                          </a:solidFill>
                          <a:latin typeface="Calibri"/>
                        </a:rPr>
                        <a:t>Figure 5: Global Market Share by Material Type, %, 2026</a:t>
                      </a:r>
                      <a:endParaRPr sz="1050"/>
                    </a:p>
                  </a:txBody>
                  <a:tcPr marL="9525" marR="9525" marT="9525" marB="0" anchor="ctr"/>
                </a:tc>
              </a:tr>
              <a:tr h="169606">
                <a:tc>
                  <a:txBody>
                    <a:bodyPr wrap="square"/>
                    <a:lstStyle/>
                    <a:p>
                      <a:pPr algn="l"/>
                      <a:r>
                        <a:rPr sz="1050" b="0" i="0">
                          <a:solidFill>
                            <a:srgbClr val="000000"/>
                          </a:solidFill>
                          <a:latin typeface="Calibri"/>
                        </a:rPr>
                        <a:t>Figure 6: Global Market Share by Technology, %, 2026</a:t>
                      </a:r>
                      <a:endParaRPr sz="1050"/>
                    </a:p>
                  </a:txBody>
                  <a:tcPr marL="9525" marR="9525" marT="9525" marB="0" anchor="ctr"/>
                </a:tc>
              </a:tr>
              <a:tr h="169606">
                <a:tc>
                  <a:txBody>
                    <a:bodyPr wrap="square"/>
                    <a:lstStyle/>
                    <a:p>
                      <a:pPr algn="l"/>
                      <a:r>
                        <a:rPr sz="1050" b="0" i="0">
                          <a:solidFill>
                            <a:srgbClr val="000000"/>
                          </a:solidFill>
                          <a:latin typeface="Calibri"/>
                        </a:rPr>
                        <a:t>Figure 7: Global Market Share by End User, %, 2026</a:t>
                      </a:r>
                      <a:endParaRPr sz="1050"/>
                    </a:p>
                  </a:txBody>
                  <a:tcPr marL="9525" marR="9525" marT="9525" marB="0" anchor="ctr"/>
                </a:tc>
              </a:tr>
              <a:tr h="169606">
                <a:tc>
                  <a:txBody>
                    <a:bodyPr wrap="square"/>
                    <a:lstStyle/>
                    <a:p>
                      <a:pPr algn="l"/>
                      <a:r>
                        <a:rPr sz="1050" b="0" i="0">
                          <a:solidFill>
                            <a:srgbClr val="000000"/>
                          </a:solidFill>
                          <a:latin typeface="Calibri"/>
                        </a:rPr>
                        <a:t>Figure 8: Global Market Share by Distribution Channel, %, 2026</a:t>
                      </a:r>
                      <a:endParaRPr sz="1050"/>
                    </a:p>
                  </a:txBody>
                  <a:tcPr marL="9525" marR="9525" marT="9525" marB="0" anchor="ctr"/>
                </a:tc>
              </a:tr>
              <a:tr h="169606">
                <a:tc>
                  <a:txBody>
                    <a:bodyPr wrap="square"/>
                    <a:lstStyle/>
                    <a:p>
                      <a:pPr algn="l"/>
                      <a:r>
                        <a:rPr sz="1050" b="0" i="0">
                          <a:solidFill>
                            <a:srgbClr val="000000"/>
                          </a:solidFill>
                          <a:latin typeface="Calibri"/>
                        </a:rPr>
                        <a:t>Figure 9: Global Market Share by Patient Age Group, %, 2026</a:t>
                      </a:r>
                      <a:endParaRPr sz="1050"/>
                    </a:p>
                  </a:txBody>
                  <a:tcPr marL="9525" marR="9525" marT="9525" marB="0" anchor="ctr"/>
                </a:tc>
              </a:tr>
              <a:tr h="169606">
                <a:tc>
                  <a:txBody>
                    <a:bodyPr wrap="square"/>
                    <a:lstStyle/>
                    <a:p>
                      <a:pPr algn="l"/>
                      <a:r>
                        <a:rPr sz="1050" b="0" i="0">
                          <a:solidFill>
                            <a:srgbClr val="000000"/>
                          </a:solidFill>
                          <a:latin typeface="Calibri"/>
                        </a:rPr>
                        <a:t>Figure 10: Global Market Historical Value, US$ Mn, 2021–2025</a:t>
                      </a:r>
                      <a:endParaRPr sz="1050"/>
                    </a:p>
                  </a:txBody>
                  <a:tcPr marL="9525" marR="9525" marT="9525" marB="0" anchor="ctr"/>
                </a:tc>
              </a:tr>
              <a:tr h="169606">
                <a:tc>
                  <a:txBody>
                    <a:bodyPr wrap="square"/>
                    <a:lstStyle/>
                    <a:p>
                      <a:pPr algn="l"/>
                      <a:r>
                        <a:rPr sz="1050" b="0" i="0">
                          <a:solidFill>
                            <a:srgbClr val="000000"/>
                          </a:solidFill>
                          <a:latin typeface="Calibri"/>
                        </a:rPr>
                        <a:t>Figure 11: Global Market Forecast Value, US$ Mn, 2026–2036</a:t>
                      </a:r>
                      <a:endParaRPr sz="1050"/>
                    </a:p>
                  </a:txBody>
                  <a:tcPr marL="9525" marR="9525" marT="9525" marB="0" anchor="ctr"/>
                </a:tc>
              </a:tr>
              <a:tr h="169606">
                <a:tc>
                  <a:txBody>
                    <a:bodyPr wrap="square"/>
                    <a:lstStyle/>
                    <a:p>
                      <a:pPr algn="l"/>
                      <a:r>
                        <a:rPr sz="1050" b="0" i="0">
                          <a:solidFill>
                            <a:srgbClr val="000000"/>
                          </a:solidFill>
                          <a:latin typeface="Calibri"/>
                        </a:rPr>
                        <a:t>Figure 12: Global Market YoY Growth, %, 2021–2036</a:t>
                      </a:r>
                      <a:endParaRPr sz="1050"/>
                    </a:p>
                  </a:txBody>
                  <a:tcPr marL="9525" marR="9525" marT="9525" marB="0" anchor="ctr"/>
                </a:tc>
              </a:tr>
              <a:tr h="169606">
                <a:tc>
                  <a:txBody>
                    <a:bodyPr wrap="square"/>
                    <a:lstStyle/>
                    <a:p>
                      <a:pPr algn="l"/>
                      <a:r>
                        <a:rPr sz="1050" b="0" i="0">
                          <a:solidFill>
                            <a:srgbClr val="000000"/>
                          </a:solidFill>
                          <a:latin typeface="Calibri"/>
                        </a:rPr>
                        <a:t>Figure 13: Global Market Volume and YoY Growth, Units and %, 2021–2036</a:t>
                      </a:r>
                      <a:endParaRPr sz="1050"/>
                    </a:p>
                  </a:txBody>
                  <a:tcPr marL="9525" marR="9525" marT="9525" marB="0" anchor="ctr"/>
                </a:tc>
              </a:tr>
              <a:tr h="169606">
                <a:tc>
                  <a:txBody>
                    <a:bodyPr wrap="square"/>
                    <a:lstStyle/>
                    <a:p>
                      <a:pPr algn="l"/>
                      <a:r>
                        <a:rPr sz="1050" b="0" i="0">
                          <a:solidFill>
                            <a:srgbClr val="000000"/>
                          </a:solidFill>
                          <a:latin typeface="Calibri"/>
                        </a:rPr>
                        <a:t>Figure 14: Global Market Volume vs Value CAGR Comparison, %, 2026–2036</a:t>
                      </a:r>
                      <a:endParaRPr sz="1050"/>
                    </a:p>
                  </a:txBody>
                  <a:tcPr marL="9525" marR="9525" marT="9525" marB="0" anchor="ctr"/>
                </a:tc>
              </a:tr>
              <a:tr h="169606">
                <a:tc>
                  <a:txBody>
                    <a:bodyPr wrap="square"/>
                    <a:lstStyle/>
                    <a:p>
                      <a:pPr algn="l"/>
                      <a:r>
                        <a:rPr sz="1050" b="0" i="0">
                          <a:solidFill>
                            <a:srgbClr val="000000"/>
                          </a:solidFill>
                          <a:latin typeface="Calibri"/>
                        </a:rPr>
                        <a:t>Figure 15: Global Market Average Selling Price, US$/Units, 2021–2036</a:t>
                      </a:r>
                      <a:endParaRPr sz="1050"/>
                    </a:p>
                  </a:txBody>
                  <a:tcPr marL="9525" marR="9525" marT="9525" marB="0" anchor="ctr"/>
                </a:tc>
              </a:tr>
              <a:tr h="169606">
                <a:tc>
                  <a:txBody>
                    <a:bodyPr wrap="square"/>
                    <a:lstStyle/>
                    <a:p>
                      <a:pPr algn="l"/>
                      <a:r>
                        <a:rPr sz="1050" b="0" i="0">
                          <a:solidFill>
                            <a:srgbClr val="000000"/>
                          </a:solidFill>
                          <a:latin typeface="Calibri"/>
                        </a:rPr>
                        <a:t>Figure 16: Global Market Absolute $ Opportunity, US$ Mn, 2026–2036</a:t>
                      </a:r>
                      <a:endParaRPr sz="1050"/>
                    </a:p>
                  </a:txBody>
                  <a:tcPr marL="9525" marR="9525" marT="9525" marB="0" anchor="ctr"/>
                </a:tc>
              </a:tr>
              <a:tr h="169606">
                <a:tc>
                  <a:txBody>
                    <a:bodyPr wrap="square"/>
                    <a:lstStyle/>
                    <a:p>
                      <a:pPr algn="l"/>
                      <a:r>
                        <a:rPr sz="1050" b="0" i="0">
                          <a:solidFill>
                            <a:srgbClr val="000000"/>
                          </a:solidFill>
                          <a:latin typeface="Calibri"/>
                        </a:rPr>
                        <a:t>Figure 17: Global Market Incremental Opportunity by Year, US$ Mn, 2026–2036</a:t>
                      </a:r>
                      <a:endParaRPr sz="1050"/>
                    </a:p>
                  </a:txBody>
                  <a:tcPr marL="9525" marR="9525" marT="9525" marB="0" anchor="ctr"/>
                </a:tc>
              </a:tr>
              <a:tr h="169606">
                <a:tc>
                  <a:txBody>
                    <a:bodyPr wrap="square"/>
                    <a:lstStyle/>
                    <a:p>
                      <a:pPr algn="l"/>
                      <a:r>
                        <a:rPr sz="1050" b="0" i="0">
                          <a:solidFill>
                            <a:srgbClr val="000000"/>
                          </a:solidFill>
                          <a:latin typeface="Calibri"/>
                        </a:rPr>
                        <a:t>Figure 18: Global Market Historical vs Forecast CAGR, %, 2021–2036</a:t>
                      </a:r>
                      <a:endParaRPr sz="1050"/>
                    </a:p>
                  </a:txBody>
                  <a:tcPr marL="9525" marR="9525" marT="9525" marB="0" anchor="ctr"/>
                </a:tc>
              </a:tr>
              <a:tr h="169606">
                <a:tc>
                  <a:txBody>
                    <a:bodyPr wrap="square"/>
                    <a:lstStyle/>
                    <a:p>
                      <a:pPr algn="l"/>
                      <a:r>
                        <a:rPr sz="1050" b="0" i="0">
                          <a:solidFill>
                            <a:srgbClr val="000000"/>
                          </a:solidFill>
                          <a:latin typeface="Calibri"/>
                        </a:rPr>
                        <a:t>Figure 19: Global Market Value by Scenario (Optimistic, Likely, Pessimistic), US$ Mn, 2026–2036</a:t>
                      </a:r>
                      <a:endParaRPr sz="1050"/>
                    </a:p>
                  </a:txBody>
                  <a:tcPr marL="9525" marR="9525" marT="9525" marB="0" anchor="ctr"/>
                </a:tc>
              </a:tr>
              <a:tr h="169606">
                <a:tc>
                  <a:txBody>
                    <a:bodyPr wrap="square"/>
                    <a:lstStyle/>
                    <a:p>
                      <a:pPr algn="l"/>
                      <a:r>
                        <a:rPr sz="1050" b="0" i="0">
                          <a:solidFill>
                            <a:srgbClr val="000000"/>
                          </a:solidFill>
                          <a:latin typeface="Calibri"/>
                        </a:rPr>
                        <a:t>Figure 20: Global Market Size Evolution Index, 2025=100, 2021–2036</a:t>
                      </a:r>
                      <a:endParaRPr sz="1050"/>
                    </a:p>
                  </a:txBody>
                  <a:tcPr marL="9525" marR="9525" marT="9525" marB="0" anchor="ctr"/>
                </a:tc>
              </a:tr>
              <a:tr h="169606">
                <a:tc>
                  <a:txBody>
                    <a:bodyPr wrap="square"/>
                    <a:lstStyle/>
                    <a:p>
                      <a:pPr algn="l"/>
                      <a:r>
                        <a:rPr sz="1050" b="0" i="0">
                          <a:solidFill>
                            <a:srgbClr val="000000"/>
                          </a:solidFill>
                          <a:latin typeface="Calibri"/>
                        </a:rPr>
                        <a:t>Figure 21: Global Market Value by Product Type, US$ Mn, 2021–2036</a:t>
                      </a:r>
                      <a:endParaRPr sz="1050"/>
                    </a:p>
                  </a:txBody>
                  <a:tcPr marL="9525" marR="9525" marT="9525" marB="0" anchor="ctr"/>
                </a:tc>
              </a:tr>
              <a:tr h="169606">
                <a:tc>
                  <a:txBody>
                    <a:bodyPr wrap="square"/>
                    <a:lstStyle/>
                    <a:p>
                      <a:pPr algn="l"/>
                      <a:r>
                        <a:rPr sz="1050" b="0" i="0">
                          <a:solidFill>
                            <a:srgbClr val="000000"/>
                          </a:solidFill>
                          <a:latin typeface="Calibri"/>
                        </a:rPr>
                        <a:t>Figure 22: Global Market Value by Material Type, US$ Mn, 2021–2036</a:t>
                      </a:r>
                      <a:endParaRPr sz="1050"/>
                    </a:p>
                  </a:txBody>
                  <a:tcPr marL="9525" marR="9525" marT="9525" marB="0" anchor="ctr"/>
                </a:tc>
              </a:tr>
              <a:tr h="169606">
                <a:tc>
                  <a:txBody>
                    <a:bodyPr wrap="square"/>
                    <a:lstStyle/>
                    <a:p>
                      <a:pPr algn="l"/>
                      <a:r>
                        <a:rPr sz="1050" b="0" i="0">
                          <a:solidFill>
                            <a:srgbClr val="000000"/>
                          </a:solidFill>
                          <a:latin typeface="Calibri"/>
                        </a:rPr>
                        <a:t>Figure 23: Global Market Value by Technology, US$ Mn, 2021–2036</a:t>
                      </a:r>
                      <a:endParaRPr sz="1050"/>
                    </a:p>
                  </a:txBody>
                  <a:tcPr marL="9525" marR="9525" marT="9525" marB="0" anchor="ctr"/>
                </a:tc>
              </a:tr>
              <a:tr h="169606">
                <a:tc>
                  <a:txBody>
                    <a:bodyPr wrap="square"/>
                    <a:lstStyle/>
                    <a:p>
                      <a:pPr algn="l"/>
                      <a:r>
                        <a:rPr sz="1050" b="0" i="0">
                          <a:solidFill>
                            <a:srgbClr val="000000"/>
                          </a:solidFill>
                          <a:latin typeface="Calibri"/>
                        </a:rPr>
                        <a:t>Figure 24: Global Market Value by End User, US$ Mn, 2021–2036</a:t>
                      </a:r>
                      <a:endParaRPr sz="1050"/>
                    </a:p>
                  </a:txBody>
                  <a:tcPr marL="9525" marR="9525" marT="9525" marB="0" anchor="ctr"/>
                </a:tc>
              </a:tr>
              <a:tr h="169606">
                <a:tc>
                  <a:txBody>
                    <a:bodyPr wrap="square"/>
                    <a:lstStyle/>
                    <a:p>
                      <a:pPr algn="l"/>
                      <a:r>
                        <a:rPr sz="1050" b="0" i="0">
                          <a:solidFill>
                            <a:srgbClr val="000000"/>
                          </a:solidFill>
                          <a:latin typeface="Calibri"/>
                        </a:rPr>
                        <a:t>Figure 25: Global Market Value by Distribution Channel, US$ Mn, 2021–2036</a:t>
                      </a:r>
                      <a:endParaRPr sz="1050"/>
                    </a:p>
                  </a:txBody>
                  <a:tcPr marL="9525" marR="9525" marT="9525" marB="0" anchor="ctr"/>
                </a:tc>
              </a:tr>
              <a:tr h="169606">
                <a:tc>
                  <a:txBody>
                    <a:bodyPr wrap="square"/>
                    <a:lstStyle/>
                    <a:p>
                      <a:pPr algn="l"/>
                      <a:r>
                        <a:rPr sz="1050" b="0" i="0">
                          <a:solidFill>
                            <a:srgbClr val="000000"/>
                          </a:solidFill>
                          <a:latin typeface="Calibri"/>
                        </a:rPr>
                        <a:t>Figure 26: Global Market Value by Patient Age Group, US$ Mn, 2021–2036</a:t>
                      </a:r>
                      <a:endParaRPr sz="1050"/>
                    </a:p>
                  </a:txBody>
                  <a:tcPr marL="9525" marR="9525" marT="9525" marB="0" anchor="ctr"/>
                </a:tc>
              </a:tr>
              <a:tr h="169606">
                <a:tc>
                  <a:txBody>
                    <a:bodyPr wrap="square"/>
                    <a:lstStyle/>
                    <a:p>
                      <a:pPr algn="l"/>
                      <a:r>
                        <a:rPr sz="1050" b="0" i="0">
                          <a:solidFill>
                            <a:srgbClr val="000000"/>
                          </a:solidFill>
                          <a:latin typeface="Calibri"/>
                        </a:rPr>
                        <a:t>Figure 27: Global Market Share by Product Type, %, 2026 and 2036</a:t>
                      </a:r>
                      <a:endParaRPr sz="1050"/>
                    </a:p>
                  </a:txBody>
                  <a:tcPr marL="9525" marR="9525" marT="9525" marB="0" anchor="ctr"/>
                </a:tc>
              </a:tr>
              <a:tr h="169606">
                <a:tc>
                  <a:txBody>
                    <a:bodyPr wrap="square"/>
                    <a:lstStyle/>
                    <a:p>
                      <a:pPr algn="l"/>
                      <a:r>
                        <a:rPr sz="1050" b="0" i="0">
                          <a:solidFill>
                            <a:srgbClr val="000000"/>
                          </a:solidFill>
                          <a:latin typeface="Calibri"/>
                        </a:rPr>
                        <a:t>Figure 28: Global Market Share by Material Type, %, 2026 and 2036</a:t>
                      </a:r>
                      <a:endParaRPr sz="1050"/>
                    </a:p>
                  </a:txBody>
                  <a:tcPr marL="9525" marR="9525" marT="9525" marB="0" anchor="ctr"/>
                </a:tc>
              </a:tr>
              <a:tr h="169606">
                <a:tc>
                  <a:txBody>
                    <a:bodyPr wrap="square"/>
                    <a:lstStyle/>
                    <a:p>
                      <a:pPr algn="l"/>
                      <a:r>
                        <a:rPr sz="1050" b="0" i="0">
                          <a:solidFill>
                            <a:srgbClr val="000000"/>
                          </a:solidFill>
                          <a:latin typeface="Calibri"/>
                        </a:rPr>
                        <a:t>Figure 29: Global Market Share by Technology, %, 2026 and 2036</a:t>
                      </a:r>
                      <a:endParaRPr sz="1050"/>
                    </a:p>
                  </a:txBody>
                  <a:tcPr marL="9525" marR="9525" marT="9525" marB="0" anchor="ctr"/>
                </a:tc>
              </a:tr>
              <a:tr h="169606">
                <a:tc>
                  <a:txBody>
                    <a:bodyPr wrap="square"/>
                    <a:lstStyle/>
                    <a:p>
                      <a:pPr algn="l"/>
                      <a:r>
                        <a:rPr sz="1050" b="0" i="0">
                          <a:solidFill>
                            <a:srgbClr val="000000"/>
                          </a:solidFill>
                          <a:latin typeface="Calibri"/>
                        </a:rPr>
                        <a:t>Figure 30: Global Market Share by End User, %, 2026 and 2036</a:t>
                      </a:r>
                      <a:endParaRPr sz="1050"/>
                    </a:p>
                  </a:txBody>
                  <a:tcPr marL="9525" marR="9525" marT="9525" marB="0" anchor="ctr"/>
                </a:tc>
              </a:tr>
              <a:tr h="169606">
                <a:tc>
                  <a:txBody>
                    <a:bodyPr wrap="square"/>
                    <a:lstStyle/>
                    <a:p>
                      <a:pPr algn="l"/>
                      <a:r>
                        <a:rPr sz="1050" b="0" i="0">
                          <a:solidFill>
                            <a:srgbClr val="000000"/>
                          </a:solidFill>
                          <a:latin typeface="Calibri"/>
                        </a:rPr>
                        <a:t>Figure 31: Global Market Share by Distribution Channel, %, 2026 and 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32: Global Market Share by Patient Age Group, %, 2026 and 2036</a:t>
                      </a:r>
                      <a:endParaRPr sz="1050"/>
                    </a:p>
                  </a:txBody>
                  <a:tcPr marL="9525" marR="9525" marT="9525" marB="0" anchor="ctr"/>
                </a:tc>
              </a:tr>
              <a:tr h="169606">
                <a:tc>
                  <a:txBody>
                    <a:bodyPr wrap="square"/>
                    <a:lstStyle/>
                    <a:p>
                      <a:pPr algn="l"/>
                      <a:r>
                        <a:rPr sz="1050" b="0" i="0">
                          <a:solidFill>
                            <a:srgbClr val="000000"/>
                          </a:solidFill>
                          <a:latin typeface="Calibri"/>
                        </a:rPr>
                        <a:t>Figure 33: Global Market Absolute $ Opportunity by Product Type, US$ Mn, 2026–2036</a:t>
                      </a:r>
                      <a:endParaRPr sz="1050"/>
                    </a:p>
                  </a:txBody>
                  <a:tcPr marL="9525" marR="9525" marT="9525" marB="0" anchor="ctr"/>
                </a:tc>
              </a:tr>
              <a:tr h="169606">
                <a:tc>
                  <a:txBody>
                    <a:bodyPr wrap="square"/>
                    <a:lstStyle/>
                    <a:p>
                      <a:pPr algn="l"/>
                      <a:r>
                        <a:rPr sz="1050" b="0" i="0">
                          <a:solidFill>
                            <a:srgbClr val="000000"/>
                          </a:solidFill>
                          <a:latin typeface="Calibri"/>
                        </a:rPr>
                        <a:t>Figure 34: Global Market Absolute $ Opportunity by Material Type, US$ Mn, 2026–2036</a:t>
                      </a:r>
                      <a:endParaRPr sz="1050"/>
                    </a:p>
                  </a:txBody>
                  <a:tcPr marL="9525" marR="9525" marT="9525" marB="0" anchor="ctr"/>
                </a:tc>
              </a:tr>
              <a:tr h="169606">
                <a:tc>
                  <a:txBody>
                    <a:bodyPr wrap="square"/>
                    <a:lstStyle/>
                    <a:p>
                      <a:pPr algn="l"/>
                      <a:r>
                        <a:rPr sz="1050" b="0" i="0">
                          <a:solidFill>
                            <a:srgbClr val="000000"/>
                          </a:solidFill>
                          <a:latin typeface="Calibri"/>
                        </a:rPr>
                        <a:t>Figure 35: Global Market Absolute $ Opportunity by Technology, US$ Mn, 2026–2036</a:t>
                      </a:r>
                      <a:endParaRPr sz="1050"/>
                    </a:p>
                  </a:txBody>
                  <a:tcPr marL="9525" marR="9525" marT="9525" marB="0" anchor="ctr"/>
                </a:tc>
              </a:tr>
              <a:tr h="169606">
                <a:tc>
                  <a:txBody>
                    <a:bodyPr wrap="square"/>
                    <a:lstStyle/>
                    <a:p>
                      <a:pPr algn="l"/>
                      <a:r>
                        <a:rPr sz="1050" b="0" i="0">
                          <a:solidFill>
                            <a:srgbClr val="000000"/>
                          </a:solidFill>
                          <a:latin typeface="Calibri"/>
                        </a:rPr>
                        <a:t>Figure 36: Global Market Absolute $ Opportunity by End User, US$ Mn, 2026–2036</a:t>
                      </a:r>
                      <a:endParaRPr sz="1050"/>
                    </a:p>
                  </a:txBody>
                  <a:tcPr marL="9525" marR="9525" marT="9525" marB="0" anchor="ctr"/>
                </a:tc>
              </a:tr>
              <a:tr h="169606">
                <a:tc>
                  <a:txBody>
                    <a:bodyPr wrap="square"/>
                    <a:lstStyle/>
                    <a:p>
                      <a:pPr algn="l"/>
                      <a:r>
                        <a:rPr sz="1050" b="0" i="0">
                          <a:solidFill>
                            <a:srgbClr val="000000"/>
                          </a:solidFill>
                          <a:latin typeface="Calibri"/>
                        </a:rPr>
                        <a:t>Figure 37: Global Market Absolute $ Opportunity by Distribution Channel, US$ Mn, 2026–2036</a:t>
                      </a:r>
                      <a:endParaRPr sz="1050"/>
                    </a:p>
                  </a:txBody>
                  <a:tcPr marL="9525" marR="9525" marT="9525" marB="0" anchor="ctr"/>
                </a:tc>
              </a:tr>
              <a:tr h="169606">
                <a:tc>
                  <a:txBody>
                    <a:bodyPr wrap="square"/>
                    <a:lstStyle/>
                    <a:p>
                      <a:pPr algn="l"/>
                      <a:r>
                        <a:rPr sz="1050" b="0" i="0">
                          <a:solidFill>
                            <a:srgbClr val="000000"/>
                          </a:solidFill>
                          <a:latin typeface="Calibri"/>
                        </a:rPr>
                        <a:t>Figure 38: Global Market Absolute $ Opportunity by Patient Age Group, US$ Mn, 2026–2036</a:t>
                      </a:r>
                      <a:endParaRPr sz="1050"/>
                    </a:p>
                  </a:txBody>
                  <a:tcPr marL="9525" marR="9525" marT="9525" marB="0" anchor="ctr"/>
                </a:tc>
              </a:tr>
              <a:tr h="169606">
                <a:tc>
                  <a:txBody>
                    <a:bodyPr wrap="square"/>
                    <a:lstStyle/>
                    <a:p>
                      <a:pPr algn="l"/>
                      <a:r>
                        <a:rPr sz="1050" b="0" i="0">
                          <a:solidFill>
                            <a:srgbClr val="000000"/>
                          </a:solidFill>
                          <a:latin typeface="Calibri"/>
                        </a:rPr>
                        <a:t>Figure 39: Global Market BPS Share Change by Product Type, 2026–2036</a:t>
                      </a:r>
                      <a:endParaRPr sz="1050"/>
                    </a:p>
                  </a:txBody>
                  <a:tcPr marL="9525" marR="9525" marT="9525" marB="0" anchor="ctr"/>
                </a:tc>
              </a:tr>
              <a:tr h="169606">
                <a:tc>
                  <a:txBody>
                    <a:bodyPr wrap="square"/>
                    <a:lstStyle/>
                    <a:p>
                      <a:pPr algn="l"/>
                      <a:r>
                        <a:rPr sz="1050" b="0" i="0">
                          <a:solidFill>
                            <a:srgbClr val="000000"/>
                          </a:solidFill>
                          <a:latin typeface="Calibri"/>
                        </a:rPr>
                        <a:t>Figure 40: Global Market BPS Share Change by Material Type, 2026–2036</a:t>
                      </a:r>
                      <a:endParaRPr sz="1050"/>
                    </a:p>
                  </a:txBody>
                  <a:tcPr marL="9525" marR="9525" marT="9525" marB="0" anchor="ctr"/>
                </a:tc>
              </a:tr>
              <a:tr h="169606">
                <a:tc>
                  <a:txBody>
                    <a:bodyPr wrap="square"/>
                    <a:lstStyle/>
                    <a:p>
                      <a:pPr algn="l"/>
                      <a:r>
                        <a:rPr sz="1050" b="0" i="0">
                          <a:solidFill>
                            <a:srgbClr val="000000"/>
                          </a:solidFill>
                          <a:latin typeface="Calibri"/>
                        </a:rPr>
                        <a:t>Figure 41: Global Market BPS Share Change by Technology, 2026–2036</a:t>
                      </a:r>
                      <a:endParaRPr sz="1050"/>
                    </a:p>
                  </a:txBody>
                  <a:tcPr marL="9525" marR="9525" marT="9525" marB="0" anchor="ctr"/>
                </a:tc>
              </a:tr>
              <a:tr h="169606">
                <a:tc>
                  <a:txBody>
                    <a:bodyPr wrap="square"/>
                    <a:lstStyle/>
                    <a:p>
                      <a:pPr algn="l"/>
                      <a:r>
                        <a:rPr sz="1050" b="0" i="0">
                          <a:solidFill>
                            <a:srgbClr val="000000"/>
                          </a:solidFill>
                          <a:latin typeface="Calibri"/>
                        </a:rPr>
                        <a:t>Figure 42: Global Market BPS Share Change by End User, 2026–2036</a:t>
                      </a:r>
                      <a:endParaRPr sz="1050"/>
                    </a:p>
                  </a:txBody>
                  <a:tcPr marL="9525" marR="9525" marT="9525" marB="0" anchor="ctr"/>
                </a:tc>
              </a:tr>
              <a:tr h="169606">
                <a:tc>
                  <a:txBody>
                    <a:bodyPr wrap="square"/>
                    <a:lstStyle/>
                    <a:p>
                      <a:pPr algn="l"/>
                      <a:r>
                        <a:rPr sz="1050" b="0" i="0">
                          <a:solidFill>
                            <a:srgbClr val="000000"/>
                          </a:solidFill>
                          <a:latin typeface="Calibri"/>
                        </a:rPr>
                        <a:t>Figure 43: Global Market BPS Share Change by Distribution Channel, 2026–2036</a:t>
                      </a:r>
                      <a:endParaRPr sz="1050"/>
                    </a:p>
                  </a:txBody>
                  <a:tcPr marL="9525" marR="9525" marT="9525" marB="0" anchor="ctr"/>
                </a:tc>
              </a:tr>
              <a:tr h="169606">
                <a:tc>
                  <a:txBody>
                    <a:bodyPr wrap="square"/>
                    <a:lstStyle/>
                    <a:p>
                      <a:pPr algn="l"/>
                      <a:r>
                        <a:rPr sz="1050" b="0" i="0">
                          <a:solidFill>
                            <a:srgbClr val="000000"/>
                          </a:solidFill>
                          <a:latin typeface="Calibri"/>
                        </a:rPr>
                        <a:t>Figure 44: Global Market BPS Share Change by Patient Age Group, 2026–2036</a:t>
                      </a:r>
                      <a:endParaRPr sz="1050"/>
                    </a:p>
                  </a:txBody>
                  <a:tcPr marL="9525" marR="9525" marT="9525" marB="0" anchor="ctr"/>
                </a:tc>
              </a:tr>
              <a:tr h="169606">
                <a:tc>
                  <a:txBody>
                    <a:bodyPr wrap="square"/>
                    <a:lstStyle/>
                    <a:p>
                      <a:pPr algn="l"/>
                      <a:r>
                        <a:rPr sz="1050" b="0" i="0">
                          <a:solidFill>
                            <a:srgbClr val="000000"/>
                          </a:solidFill>
                          <a:latin typeface="Calibri"/>
                        </a:rPr>
                        <a:t>Figure 45: Global Market YoY Growth by Product Type, %, 2026–2036</a:t>
                      </a:r>
                      <a:endParaRPr sz="1050"/>
                    </a:p>
                  </a:txBody>
                  <a:tcPr marL="9525" marR="9525" marT="9525" marB="0" anchor="ctr"/>
                </a:tc>
              </a:tr>
              <a:tr h="169606">
                <a:tc>
                  <a:txBody>
                    <a:bodyPr wrap="square"/>
                    <a:lstStyle/>
                    <a:p>
                      <a:pPr algn="l"/>
                      <a:r>
                        <a:rPr sz="1050" b="0" i="0">
                          <a:solidFill>
                            <a:srgbClr val="000000"/>
                          </a:solidFill>
                          <a:latin typeface="Calibri"/>
                        </a:rPr>
                        <a:t>Figure 46: Global Market YoY Growth by Material Type, %, 2026–2036</a:t>
                      </a:r>
                      <a:endParaRPr sz="1050"/>
                    </a:p>
                  </a:txBody>
                  <a:tcPr marL="9525" marR="9525" marT="9525" marB="0" anchor="ctr"/>
                </a:tc>
              </a:tr>
              <a:tr h="169606">
                <a:tc>
                  <a:txBody>
                    <a:bodyPr wrap="square"/>
                    <a:lstStyle/>
                    <a:p>
                      <a:pPr algn="l"/>
                      <a:r>
                        <a:rPr sz="1050" b="0" i="0">
                          <a:solidFill>
                            <a:srgbClr val="000000"/>
                          </a:solidFill>
                          <a:latin typeface="Calibri"/>
                        </a:rPr>
                        <a:t>Figure 47: Global Market YoY Growth by Technology, %, 2026–2036</a:t>
                      </a:r>
                      <a:endParaRPr sz="1050"/>
                    </a:p>
                  </a:txBody>
                  <a:tcPr marL="9525" marR="9525" marT="9525" marB="0" anchor="ctr"/>
                </a:tc>
              </a:tr>
              <a:tr h="169606">
                <a:tc>
                  <a:txBody>
                    <a:bodyPr wrap="square"/>
                    <a:lstStyle/>
                    <a:p>
                      <a:pPr algn="l"/>
                      <a:r>
                        <a:rPr sz="1050" b="0" i="0">
                          <a:solidFill>
                            <a:srgbClr val="000000"/>
                          </a:solidFill>
                          <a:latin typeface="Calibri"/>
                        </a:rPr>
                        <a:t>Figure 48: Global Market YoY Growth by End User, %, 2026–2036</a:t>
                      </a:r>
                      <a:endParaRPr sz="1050"/>
                    </a:p>
                  </a:txBody>
                  <a:tcPr marL="9525" marR="9525" marT="9525" marB="0" anchor="ctr"/>
                </a:tc>
              </a:tr>
              <a:tr h="169606">
                <a:tc>
                  <a:txBody>
                    <a:bodyPr wrap="square"/>
                    <a:lstStyle/>
                    <a:p>
                      <a:pPr algn="l"/>
                      <a:r>
                        <a:rPr sz="1050" b="0" i="0">
                          <a:solidFill>
                            <a:srgbClr val="000000"/>
                          </a:solidFill>
                          <a:latin typeface="Calibri"/>
                        </a:rPr>
                        <a:t>Figure 49: Global Market YoY Growth by Distribution Channel, %, 2026–2036</a:t>
                      </a:r>
                      <a:endParaRPr sz="1050"/>
                    </a:p>
                  </a:txBody>
                  <a:tcPr marL="9525" marR="9525" marT="9525" marB="0" anchor="ctr"/>
                </a:tc>
              </a:tr>
              <a:tr h="169606">
                <a:tc>
                  <a:txBody>
                    <a:bodyPr wrap="square"/>
                    <a:lstStyle/>
                    <a:p>
                      <a:pPr algn="l"/>
                      <a:r>
                        <a:rPr sz="1050" b="0" i="0">
                          <a:solidFill>
                            <a:srgbClr val="000000"/>
                          </a:solidFill>
                          <a:latin typeface="Calibri"/>
                        </a:rPr>
                        <a:t>Figure 50: Global Market YoY Growth by Patient Age Group, %, 2026–2036</a:t>
                      </a:r>
                      <a:endParaRPr sz="1050"/>
                    </a:p>
                  </a:txBody>
                  <a:tcPr marL="9525" marR="9525" marT="9525" marB="0" anchor="ctr"/>
                </a:tc>
              </a:tr>
              <a:tr h="169606">
                <a:tc>
                  <a:txBody>
                    <a:bodyPr wrap="square"/>
                    <a:lstStyle/>
                    <a:p>
                      <a:pPr algn="l"/>
                      <a:r>
                        <a:rPr sz="1050" b="0" i="0">
                          <a:solidFill>
                            <a:srgbClr val="000000"/>
                          </a:solidFill>
                          <a:latin typeface="Calibri"/>
                        </a:rPr>
                        <a:t>Figure 51: Global Market Attractiveness by Product Type, 2026–2036</a:t>
                      </a:r>
                      <a:endParaRPr sz="1050"/>
                    </a:p>
                  </a:txBody>
                  <a:tcPr marL="9525" marR="9525" marT="9525" marB="0" anchor="ctr"/>
                </a:tc>
              </a:tr>
              <a:tr h="169606">
                <a:tc>
                  <a:txBody>
                    <a:bodyPr wrap="square"/>
                    <a:lstStyle/>
                    <a:p>
                      <a:pPr algn="l"/>
                      <a:r>
                        <a:rPr sz="1050" b="0" i="0">
                          <a:solidFill>
                            <a:srgbClr val="000000"/>
                          </a:solidFill>
                          <a:latin typeface="Calibri"/>
                        </a:rPr>
                        <a:t>Figure 52: Global Market Attractiveness by Material Type, 2026–2036</a:t>
                      </a:r>
                      <a:endParaRPr sz="1050"/>
                    </a:p>
                  </a:txBody>
                  <a:tcPr marL="9525" marR="9525" marT="9525" marB="0" anchor="ctr"/>
                </a:tc>
              </a:tr>
              <a:tr h="169606">
                <a:tc>
                  <a:txBody>
                    <a:bodyPr wrap="square"/>
                    <a:lstStyle/>
                    <a:p>
                      <a:pPr algn="l"/>
                      <a:r>
                        <a:rPr sz="1050" b="0" i="0">
                          <a:solidFill>
                            <a:srgbClr val="000000"/>
                          </a:solidFill>
                          <a:latin typeface="Calibri"/>
                        </a:rPr>
                        <a:t>Figure 53: Global Market Attractiveness by Technology, 2026–2036</a:t>
                      </a:r>
                      <a:endParaRPr sz="1050"/>
                    </a:p>
                  </a:txBody>
                  <a:tcPr marL="9525" marR="9525" marT="9525" marB="0" anchor="ctr"/>
                </a:tc>
              </a:tr>
              <a:tr h="169606">
                <a:tc>
                  <a:txBody>
                    <a:bodyPr wrap="square"/>
                    <a:lstStyle/>
                    <a:p>
                      <a:pPr algn="l"/>
                      <a:r>
                        <a:rPr sz="1050" b="0" i="0">
                          <a:solidFill>
                            <a:srgbClr val="000000"/>
                          </a:solidFill>
                          <a:latin typeface="Calibri"/>
                        </a:rPr>
                        <a:t>Figure 54: Global Market Attractiveness by End User, 2026–2036</a:t>
                      </a:r>
                      <a:endParaRPr sz="1050"/>
                    </a:p>
                  </a:txBody>
                  <a:tcPr marL="9525" marR="9525" marT="9525" marB="0" anchor="ctr"/>
                </a:tc>
              </a:tr>
              <a:tr h="169606">
                <a:tc>
                  <a:txBody>
                    <a:bodyPr wrap="square"/>
                    <a:lstStyle/>
                    <a:p>
                      <a:pPr algn="l"/>
                      <a:r>
                        <a:rPr sz="1050" b="0" i="0">
                          <a:solidFill>
                            <a:srgbClr val="000000"/>
                          </a:solidFill>
                          <a:latin typeface="Calibri"/>
                        </a:rPr>
                        <a:t>Figure 55: Global Market Attractiveness by Distribution Channel, 2026–2036</a:t>
                      </a:r>
                      <a:endParaRPr sz="1050"/>
                    </a:p>
                  </a:txBody>
                  <a:tcPr marL="9525" marR="9525" marT="9525" marB="0" anchor="ctr"/>
                </a:tc>
              </a:tr>
              <a:tr h="169606">
                <a:tc>
                  <a:txBody>
                    <a:bodyPr wrap="square"/>
                    <a:lstStyle/>
                    <a:p>
                      <a:pPr algn="l"/>
                      <a:r>
                        <a:rPr sz="1050" b="0" i="0">
                          <a:solidFill>
                            <a:srgbClr val="000000"/>
                          </a:solidFill>
                          <a:latin typeface="Calibri"/>
                        </a:rPr>
                        <a:t>Figure 56: Global Market Attractiveness by Patient Age Group, 2026–2036</a:t>
                      </a:r>
                      <a:endParaRPr sz="1050"/>
                    </a:p>
                  </a:txBody>
                  <a:tcPr marL="9525" marR="9525" marT="9525" marB="0" anchor="ctr"/>
                </a:tc>
              </a:tr>
              <a:tr h="169606">
                <a:tc>
                  <a:txBody>
                    <a:bodyPr wrap="square"/>
                    <a:lstStyle/>
                    <a:p>
                      <a:pPr algn="l"/>
                      <a:r>
                        <a:rPr sz="1050" b="0" i="0">
                          <a:solidFill>
                            <a:srgbClr val="000000"/>
                          </a:solidFill>
                          <a:latin typeface="Calibri"/>
                        </a:rPr>
                        <a:t>Figure 57: Global Market Volume by Product Type, Units, 2021–2036</a:t>
                      </a:r>
                      <a:endParaRPr sz="1050"/>
                    </a:p>
                  </a:txBody>
                  <a:tcPr marL="9525" marR="9525" marT="9525" marB="0" anchor="ctr"/>
                </a:tc>
              </a:tr>
              <a:tr h="169606">
                <a:tc>
                  <a:txBody>
                    <a:bodyPr wrap="square"/>
                    <a:lstStyle/>
                    <a:p>
                      <a:pPr algn="l"/>
                      <a:r>
                        <a:rPr sz="1050" b="0" i="0">
                          <a:solidFill>
                            <a:srgbClr val="000000"/>
                          </a:solidFill>
                          <a:latin typeface="Calibri"/>
                        </a:rPr>
                        <a:t>Figure 58: Global Market Volume by Material Type, Units, 2021–2036</a:t>
                      </a:r>
                      <a:endParaRPr sz="1050"/>
                    </a:p>
                  </a:txBody>
                  <a:tcPr marL="9525" marR="9525" marT="9525" marB="0" anchor="ctr"/>
                </a:tc>
              </a:tr>
              <a:tr h="169606">
                <a:tc>
                  <a:txBody>
                    <a:bodyPr wrap="square"/>
                    <a:lstStyle/>
                    <a:p>
                      <a:pPr algn="l"/>
                      <a:r>
                        <a:rPr sz="1050" b="0" i="0">
                          <a:solidFill>
                            <a:srgbClr val="000000"/>
                          </a:solidFill>
                          <a:latin typeface="Calibri"/>
                        </a:rPr>
                        <a:t>Figure 59: Global Market Volume by Technology, Units, 2021–2036</a:t>
                      </a:r>
                      <a:endParaRPr sz="1050"/>
                    </a:p>
                  </a:txBody>
                  <a:tcPr marL="9525" marR="9525" marT="9525" marB="0" anchor="ctr"/>
                </a:tc>
              </a:tr>
              <a:tr h="169606">
                <a:tc>
                  <a:txBody>
                    <a:bodyPr wrap="square"/>
                    <a:lstStyle/>
                    <a:p>
                      <a:pPr algn="l"/>
                      <a:r>
                        <a:rPr sz="1050" b="0" i="0">
                          <a:solidFill>
                            <a:srgbClr val="000000"/>
                          </a:solidFill>
                          <a:latin typeface="Calibri"/>
                        </a:rPr>
                        <a:t>Figure 60: Global Market Volume by End User, Units, 2021–2036</a:t>
                      </a:r>
                      <a:endParaRPr sz="1050"/>
                    </a:p>
                  </a:txBody>
                  <a:tcPr marL="9525" marR="9525" marT="9525" marB="0" anchor="ctr"/>
                </a:tc>
              </a:tr>
              <a:tr h="169606">
                <a:tc>
                  <a:txBody>
                    <a:bodyPr wrap="square"/>
                    <a:lstStyle/>
                    <a:p>
                      <a:pPr algn="l"/>
                      <a:r>
                        <a:rPr sz="1050" b="0" i="0">
                          <a:solidFill>
                            <a:srgbClr val="000000"/>
                          </a:solidFill>
                          <a:latin typeface="Calibri"/>
                        </a:rPr>
                        <a:t>Figure 61: Global Market Volume by Distribution Channel, Units, 2021–2036</a:t>
                      </a:r>
                      <a:endParaRPr sz="1050"/>
                    </a:p>
                  </a:txBody>
                  <a:tcPr marL="9525" marR="9525" marT="9525" marB="0" anchor="ctr"/>
                </a:tc>
              </a:tr>
              <a:tr h="169606">
                <a:tc>
                  <a:txBody>
                    <a:bodyPr wrap="square"/>
                    <a:lstStyle/>
                    <a:p>
                      <a:pPr algn="l"/>
                      <a:r>
                        <a:rPr sz="1050" b="0" i="0">
                          <a:solidFill>
                            <a:srgbClr val="000000"/>
                          </a:solidFill>
                          <a:latin typeface="Calibri"/>
                        </a:rPr>
                        <a:t>Figure 62: Global Market Volume by Patient Age Group, Units, 2021–2036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(2/4)</a:t>
            </a:r>
          </a:p>
        </p:txBody>
      </p:sp>
      <p:graphicFrame>
        <p:nvGraphicFramePr>
          <p:cNvPr id="9" name="FMI Contents Table"/>
          <p:cNvGraphicFramePr>
            <a:graphicFrameLocks noGrp="1"/>
          </p:cNvGraphicFramePr>
          <p:nvPr/>
        </p:nvGraphicFramePr>
        <p:xfrm>
          <a:off x="142875"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63: Global Market Average Selling Price by Product Type, US$/Units, 2021–2036</a:t>
                      </a:r>
                      <a:endParaRPr sz="1050"/>
                    </a:p>
                  </a:txBody>
                  <a:tcPr marL="9525" marR="9525" marT="9525" marB="0" anchor="ctr"/>
                </a:tc>
              </a:tr>
              <a:tr h="169606">
                <a:tc>
                  <a:txBody>
                    <a:bodyPr wrap="square"/>
                    <a:lstStyle/>
                    <a:p>
                      <a:pPr algn="l"/>
                      <a:r>
                        <a:rPr sz="1050" b="0" i="0">
                          <a:solidFill>
                            <a:srgbClr val="000000"/>
                          </a:solidFill>
                          <a:latin typeface="Calibri"/>
                        </a:rPr>
                        <a:t>Figure 64: Product Type × Material Type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65: Product Type × Technology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66: Product Type × End User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67: Product Type × Distribution Channel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68: Product Type × Patient Age Group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69: Material Type × Technology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70: Material Type × End User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71: Material Type × Distribution Channel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72: Material Type × Patient Age Group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73: Technology × End User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74: Technology × Distribution Channel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75: Technology × Patient Age Group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76: End User × Distribution Channel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77: End User × Patient Age Group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78: Distribution Channel × Patient Age Group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79: Region × Product Type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80: Region × Material Type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81: Region × Technology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82: Region × End User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83: Region × Distribution Channel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84: Region × Patient Age Group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85: Global Market Value by Region, US$ Mn, 2021–2036</a:t>
                      </a:r>
                      <a:endParaRPr sz="1050"/>
                    </a:p>
                  </a:txBody>
                  <a:tcPr marL="9525" marR="9525" marT="9525" marB="0" anchor="ctr"/>
                </a:tc>
              </a:tr>
              <a:tr h="169606">
                <a:tc>
                  <a:txBody>
                    <a:bodyPr wrap="square"/>
                    <a:lstStyle/>
                    <a:p>
                      <a:pPr algn="l"/>
                      <a:r>
                        <a:rPr sz="1050" b="0" i="0">
                          <a:solidFill>
                            <a:srgbClr val="000000"/>
                          </a:solidFill>
                          <a:latin typeface="Calibri"/>
                        </a:rPr>
                        <a:t>Figure 86: Global Market Share by Region, %, 2026 and 2036</a:t>
                      </a:r>
                      <a:endParaRPr sz="1050"/>
                    </a:p>
                  </a:txBody>
                  <a:tcPr marL="9525" marR="9525" marT="9525" marB="0" anchor="ctr"/>
                </a:tc>
              </a:tr>
              <a:tr h="169606">
                <a:tc>
                  <a:txBody>
                    <a:bodyPr wrap="square"/>
                    <a:lstStyle/>
                    <a:p>
                      <a:pPr algn="l"/>
                      <a:r>
                        <a:rPr sz="1050" b="0" i="0">
                          <a:solidFill>
                            <a:srgbClr val="000000"/>
                          </a:solidFill>
                          <a:latin typeface="Calibri"/>
                        </a:rPr>
                        <a:t>Figure 87: Global Market CAGR by Region, %, 2026–2036</a:t>
                      </a:r>
                      <a:endParaRPr sz="1050"/>
                    </a:p>
                  </a:txBody>
                  <a:tcPr marL="9525" marR="9525" marT="9525" marB="0" anchor="ctr"/>
                </a:tc>
              </a:tr>
              <a:tr h="169606">
                <a:tc>
                  <a:txBody>
                    <a:bodyPr wrap="square"/>
                    <a:lstStyle/>
                    <a:p>
                      <a:pPr algn="l"/>
                      <a:r>
                        <a:rPr sz="1050" b="0" i="0">
                          <a:solidFill>
                            <a:srgbClr val="000000"/>
                          </a:solidFill>
                          <a:latin typeface="Calibri"/>
                        </a:rPr>
                        <a:t>Figure 88: Global Market Absolute $ Opportunity by Region, US$ Mn, 2026–2036</a:t>
                      </a:r>
                      <a:endParaRPr sz="1050"/>
                    </a:p>
                  </a:txBody>
                  <a:tcPr marL="9525" marR="9525" marT="9525" marB="0" anchor="ctr"/>
                </a:tc>
              </a:tr>
              <a:tr h="169606">
                <a:tc>
                  <a:txBody>
                    <a:bodyPr wrap="square"/>
                    <a:lstStyle/>
                    <a:p>
                      <a:pPr algn="l"/>
                      <a:r>
                        <a:rPr sz="1050" b="0" i="0">
                          <a:solidFill>
                            <a:srgbClr val="000000"/>
                          </a:solidFill>
                          <a:latin typeface="Calibri"/>
                        </a:rPr>
                        <a:t>Figure 89: Global Market Attractiveness by Region, 2026–2036</a:t>
                      </a:r>
                      <a:endParaRPr sz="1050"/>
                    </a:p>
                  </a:txBody>
                  <a:tcPr marL="9525" marR="9525" marT="9525" marB="0" anchor="ctr"/>
                </a:tc>
              </a:tr>
              <a:tr h="169606">
                <a:tc>
                  <a:txBody>
                    <a:bodyPr wrap="square"/>
                    <a:lstStyle/>
                    <a:p>
                      <a:pPr algn="l"/>
                      <a:r>
                        <a:rPr sz="1050" b="0" i="0">
                          <a:solidFill>
                            <a:srgbClr val="000000"/>
                          </a:solidFill>
                          <a:latin typeface="Calibri"/>
                        </a:rPr>
                        <a:t>Figure 90: Global Market BPS Share Change by Region, 2026–2036</a:t>
                      </a:r>
                      <a:endParaRPr sz="1050"/>
                    </a:p>
                  </a:txBody>
                  <a:tcPr marL="9525" marR="9525" marT="9525" marB="0" anchor="ctr"/>
                </a:tc>
              </a:tr>
              <a:tr h="169606">
                <a:tc>
                  <a:txBody>
                    <a:bodyPr wrap="square"/>
                    <a:lstStyle/>
                    <a:p>
                      <a:pPr algn="l"/>
                      <a:r>
                        <a:rPr sz="1050" b="0" i="0">
                          <a:solidFill>
                            <a:srgbClr val="000000"/>
                          </a:solidFill>
                          <a:latin typeface="Calibri"/>
                        </a:rPr>
                        <a:t>Figure 91: North America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92: Latin America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93: Europe Market Value and YoY Growth, US$ Mn and %, 2021–2036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94: East Asia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95: South Asia &amp; Pacific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96: Middle East &amp; Africa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97: North America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98: Latin America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99: Europe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100: East Asia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101: South Asia &amp; Pacific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102: Middle East &amp; Africa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103: North America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104: Latin America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105: Europe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106: East Asia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107: South Asia &amp; Pacific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108: Middle East &amp; Africa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109: North America Market Absolute $ Opportunity, US$ Mn, 2026–2036</a:t>
                      </a:r>
                      <a:endParaRPr sz="1050"/>
                    </a:p>
                  </a:txBody>
                  <a:tcPr marL="9525" marR="9525" marT="9525" marB="0" anchor="ctr"/>
                </a:tc>
              </a:tr>
              <a:tr h="169606">
                <a:tc>
                  <a:txBody>
                    <a:bodyPr wrap="square"/>
                    <a:lstStyle/>
                    <a:p>
                      <a:pPr algn="l"/>
                      <a:r>
                        <a:rPr sz="1050" b="0" i="0">
                          <a:solidFill>
                            <a:srgbClr val="000000"/>
                          </a:solidFill>
                          <a:latin typeface="Calibri"/>
                        </a:rPr>
                        <a:t>Figure 110: Latin America Market Absolute $ Opportunity, US$ Mn, 2026–2036</a:t>
                      </a:r>
                      <a:endParaRPr sz="1050"/>
                    </a:p>
                  </a:txBody>
                  <a:tcPr marL="9525" marR="9525" marT="9525" marB="0" anchor="ctr"/>
                </a:tc>
              </a:tr>
              <a:tr h="169606">
                <a:tc>
                  <a:txBody>
                    <a:bodyPr wrap="square"/>
                    <a:lstStyle/>
                    <a:p>
                      <a:pPr algn="l"/>
                      <a:r>
                        <a:rPr sz="1050" b="0" i="0">
                          <a:solidFill>
                            <a:srgbClr val="000000"/>
                          </a:solidFill>
                          <a:latin typeface="Calibri"/>
                        </a:rPr>
                        <a:t>Figure 111: Europe Market Absolute $ Opportunity, US$ Mn, 2026–2036</a:t>
                      </a:r>
                      <a:endParaRPr sz="1050"/>
                    </a:p>
                  </a:txBody>
                  <a:tcPr marL="9525" marR="9525" marT="9525" marB="0" anchor="ctr"/>
                </a:tc>
              </a:tr>
              <a:tr h="169606">
                <a:tc>
                  <a:txBody>
                    <a:bodyPr wrap="square"/>
                    <a:lstStyle/>
                    <a:p>
                      <a:pPr algn="l"/>
                      <a:r>
                        <a:rPr sz="1050" b="0" i="0">
                          <a:solidFill>
                            <a:srgbClr val="000000"/>
                          </a:solidFill>
                          <a:latin typeface="Calibri"/>
                        </a:rPr>
                        <a:t>Figure 112: U.S.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113: U.S.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114: U.S. Market Value by End User,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115: U.S. Market Share within North America, %, 2026 and 2036</a:t>
                      </a:r>
                      <a:endParaRPr sz="1050"/>
                    </a:p>
                  </a:txBody>
                  <a:tcPr marL="9525" marR="9525" marT="9525" marB="0" anchor="ctr"/>
                </a:tc>
              </a:tr>
              <a:tr h="169606">
                <a:tc>
                  <a:txBody>
                    <a:bodyPr wrap="square"/>
                    <a:lstStyle/>
                    <a:p>
                      <a:pPr algn="l"/>
                      <a:r>
                        <a:rPr sz="1050" b="0" i="0">
                          <a:solidFill>
                            <a:srgbClr val="000000"/>
                          </a:solidFill>
                          <a:latin typeface="Calibri"/>
                        </a:rPr>
                        <a:t>Figure 116: U.S. Market Value by Material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117: U.S. Market Value by Technology,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118: U.S. Market Value by Distribution Channel,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119: U.S. Market Value by Patient Age Group,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120: Germany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121: Germany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122: Germany Market Value by End User,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123: Germany Market Share within Europe, %, 2026 and 2036</a:t>
                      </a:r>
                      <a:endParaRPr sz="1050"/>
                    </a:p>
                  </a:txBody>
                  <a:tcPr marL="9525" marR="9525" marT="9525" marB="0" anchor="ctr"/>
                </a:tc>
              </a:tr>
              <a:tr h="169606">
                <a:tc>
                  <a:txBody>
                    <a:bodyPr wrap="square"/>
                    <a:lstStyle/>
                    <a:p>
                      <a:pPr algn="l"/>
                      <a:r>
                        <a:rPr sz="1050" b="0" i="0">
                          <a:solidFill>
                            <a:srgbClr val="000000"/>
                          </a:solidFill>
                          <a:latin typeface="Calibri"/>
                        </a:rPr>
                        <a:t>Figure 124: Germany Market Value by Material Type, US$ Mn, 2026 and 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(3/4)</a:t>
            </a:r>
          </a:p>
        </p:txBody>
      </p:sp>
      <p:graphicFrame>
        <p:nvGraphicFramePr>
          <p:cNvPr id="9" name="FMI Contents Table"/>
          <p:cNvGraphicFramePr>
            <a:graphicFrameLocks noGrp="1"/>
          </p:cNvGraphicFramePr>
          <p:nvPr/>
        </p:nvGraphicFramePr>
        <p:xfrm>
          <a:off x="142875"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125: Germany Market Value by Technology,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126: Germany Market Value by Distribution Channel,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127: Germany Market Value by Patient Age Group,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128: Canada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129: Canada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130: Canada Market Value by End User,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131: Canada Market Share within North America, %, 2026 and 2036</a:t>
                      </a:r>
                      <a:endParaRPr sz="1050"/>
                    </a:p>
                  </a:txBody>
                  <a:tcPr marL="9525" marR="9525" marT="9525" marB="0" anchor="ctr"/>
                </a:tc>
              </a:tr>
              <a:tr h="169606">
                <a:tc>
                  <a:txBody>
                    <a:bodyPr wrap="square"/>
                    <a:lstStyle/>
                    <a:p>
                      <a:pPr algn="l"/>
                      <a:r>
                        <a:rPr sz="1050" b="0" i="0">
                          <a:solidFill>
                            <a:srgbClr val="000000"/>
                          </a:solidFill>
                          <a:latin typeface="Calibri"/>
                        </a:rPr>
                        <a:t>Figure 132: Canada Market Value by Material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133: Canada Market Value by Technology,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134: Canada Market Value by Distribution Channel,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135: Canada Market Value by Patient Age Group,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136: China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137: China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138: India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139: India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140: Brazil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141: Brazil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142: U.K.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143: U.K.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144: Japan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145: Japan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146: France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147: France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148: Global Market Average Selling Price Trend, US$/Units, 2021–2036</a:t>
                      </a:r>
                      <a:endParaRPr sz="1050"/>
                    </a:p>
                  </a:txBody>
                  <a:tcPr marL="9525" marR="9525" marT="9525" marB="0" anchor="ctr"/>
                </a:tc>
              </a:tr>
              <a:tr h="169606">
                <a:tc>
                  <a:txBody>
                    <a:bodyPr wrap="square"/>
                    <a:lstStyle/>
                    <a:p>
                      <a:pPr algn="l"/>
                      <a:r>
                        <a:rPr sz="1050" b="0" i="0">
                          <a:solidFill>
                            <a:srgbClr val="000000"/>
                          </a:solidFill>
                          <a:latin typeface="Calibri"/>
                        </a:rPr>
                        <a:t>Figure 149: Global Market Average Selling Price by Region, US$/Units, 2026 and 2036</a:t>
                      </a:r>
                      <a:endParaRPr sz="1050"/>
                    </a:p>
                  </a:txBody>
                  <a:tcPr marL="9525" marR="9525" marT="9525" marB="0" anchor="ctr"/>
                </a:tc>
              </a:tr>
              <a:tr h="169606">
                <a:tc>
                  <a:txBody>
                    <a:bodyPr wrap="square"/>
                    <a:lstStyle/>
                    <a:p>
                      <a:pPr algn="l"/>
                      <a:r>
                        <a:rPr sz="1050" b="0" i="0">
                          <a:solidFill>
                            <a:srgbClr val="000000"/>
                          </a:solidFill>
                          <a:latin typeface="Calibri"/>
                        </a:rPr>
                        <a:t>Figure 150: Global Market Average Selling Price by Product Type, US$/Units, 2026 and 2036</a:t>
                      </a:r>
                      <a:endParaRPr sz="1050"/>
                    </a:p>
                  </a:txBody>
                  <a:tcPr marL="9525" marR="9525" marT="9525" marB="0" anchor="ctr"/>
                </a:tc>
              </a:tr>
              <a:tr h="169606">
                <a:tc>
                  <a:txBody>
                    <a:bodyPr wrap="square"/>
                    <a:lstStyle/>
                    <a:p>
                      <a:pPr algn="l"/>
                      <a:r>
                        <a:rPr sz="1050" b="0" i="0">
                          <a:solidFill>
                            <a:srgbClr val="000000"/>
                          </a:solidFill>
                          <a:latin typeface="Calibri"/>
                        </a:rPr>
                        <a:t>Figure 151: Global Market Average Selling Price by Material Type, US$/Units, 2026 and 2036</a:t>
                      </a:r>
                      <a:endParaRPr sz="1050"/>
                    </a:p>
                  </a:txBody>
                  <a:tcPr marL="9525" marR="9525" marT="9525" marB="0" anchor="ctr"/>
                </a:tc>
              </a:tr>
              <a:tr h="169606">
                <a:tc>
                  <a:txBody>
                    <a:bodyPr wrap="square"/>
                    <a:lstStyle/>
                    <a:p>
                      <a:pPr algn="l"/>
                      <a:r>
                        <a:rPr sz="1050" b="0" i="0">
                          <a:solidFill>
                            <a:srgbClr val="000000"/>
                          </a:solidFill>
                          <a:latin typeface="Calibri"/>
                        </a:rPr>
                        <a:t>Figure 152: Global Market Average Selling Price by Technology, US$/Units, 2026 and 2036</a:t>
                      </a:r>
                      <a:endParaRPr sz="1050"/>
                    </a:p>
                  </a:txBody>
                  <a:tcPr marL="9525" marR="9525" marT="9525" marB="0" anchor="ctr"/>
                </a:tc>
              </a:tr>
              <a:tr h="169606">
                <a:tc>
                  <a:txBody>
                    <a:bodyPr wrap="square"/>
                    <a:lstStyle/>
                    <a:p>
                      <a:pPr algn="l"/>
                      <a:r>
                        <a:rPr sz="1050" b="0" i="0">
                          <a:solidFill>
                            <a:srgbClr val="000000"/>
                          </a:solidFill>
                          <a:latin typeface="Calibri"/>
                        </a:rPr>
                        <a:t>Figure 153: Global Market Average Selling Price by End User, US$/Units, 2026 and 2036</a:t>
                      </a:r>
                      <a:endParaRPr sz="1050"/>
                    </a:p>
                  </a:txBody>
                  <a:tcPr marL="9525" marR="9525" marT="9525" marB="0" anchor="ctr"/>
                </a:tc>
              </a:tr>
              <a:tr h="169606">
                <a:tc>
                  <a:txBody>
                    <a:bodyPr wrap="square"/>
                    <a:lstStyle/>
                    <a:p>
                      <a:pPr algn="l"/>
                      <a:r>
                        <a:rPr sz="1050" b="0" i="0">
                          <a:solidFill>
                            <a:srgbClr val="000000"/>
                          </a:solidFill>
                          <a:latin typeface="Calibri"/>
                        </a:rPr>
                        <a:t>Figure 154: Global Market Average Selling Price by Distribution Channel, US$/Units, 2026 and 2036</a:t>
                      </a:r>
                      <a:endParaRPr sz="1050"/>
                    </a:p>
                  </a:txBody>
                  <a:tcPr marL="9525" marR="9525" marT="9525" marB="0" anchor="ctr"/>
                </a:tc>
              </a:tr>
              <a:tr h="169606">
                <a:tc>
                  <a:txBody>
                    <a:bodyPr wrap="square"/>
                    <a:lstStyle/>
                    <a:p>
                      <a:pPr algn="l"/>
                      <a:r>
                        <a:rPr sz="1050" b="0" i="0">
                          <a:solidFill>
                            <a:srgbClr val="000000"/>
                          </a:solidFill>
                          <a:latin typeface="Calibri"/>
                        </a:rPr>
                        <a:t>Figure 155: Global Market Average Selling Price by Patient Age Group, US$/Units, 2026 and 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93"/>
        </p:xfrm>
        <a:graphic>
          <a:graphicData uri="http://schemas.openxmlformats.org/drawingml/2006/table">
            <a:tbl>
              <a:tblPr>
                <a:tableStyleId>{3B4B98B0-60AC-42C2-AFA5-B58CD77FA1E5}</a:tableStyleId>
              </a:tblPr>
              <a:tblGrid>
                <a:gridCol w="5876925"/>
              </a:tblGrid>
              <a:tr h="170045">
                <a:tc>
                  <a:txBody>
                    <a:bodyPr wrap="square"/>
                    <a:lstStyle/>
                    <a:p>
                      <a:pPr algn="l"/>
                      <a:r>
                        <a:rPr sz="1050" b="0" i="0">
                          <a:solidFill>
                            <a:srgbClr val="000000"/>
                          </a:solidFill>
                          <a:latin typeface="Calibri"/>
                        </a:rPr>
                        <a:t>Figure 156: Global Market Value Chain Structure, 2026</a:t>
                      </a:r>
                      <a:endParaRPr sz="1050"/>
                    </a:p>
                  </a:txBody>
                  <a:tcPr marL="9525" marR="9525" marT="9525" marB="0" anchor="ctr"/>
                </a:tc>
              </a:tr>
              <a:tr h="170045">
                <a:tc>
                  <a:txBody>
                    <a:bodyPr wrap="square"/>
                    <a:lstStyle/>
                    <a:p>
                      <a:pPr algn="l"/>
                      <a:r>
                        <a:rPr sz="1050" b="0" i="0">
                          <a:solidFill>
                            <a:srgbClr val="000000"/>
                          </a:solidFill>
                          <a:latin typeface="Calibri"/>
                        </a:rPr>
                        <a:t>Figure 157: Global Market Margin Distribution across the Value Chain, %, 2026</a:t>
                      </a:r>
                      <a:endParaRPr sz="1050"/>
                    </a:p>
                  </a:txBody>
                  <a:tcPr marL="9525" marR="9525" marT="9525" marB="0" anchor="ctr"/>
                </a:tc>
              </a:tr>
              <a:tr h="170045">
                <a:tc>
                  <a:txBody>
                    <a:bodyPr wrap="square"/>
                    <a:lstStyle/>
                    <a:p>
                      <a:pPr algn="l"/>
                      <a:r>
                        <a:rPr sz="1050" b="0" i="0">
                          <a:solidFill>
                            <a:srgbClr val="000000"/>
                          </a:solidFill>
                          <a:latin typeface="Calibri"/>
                        </a:rPr>
                        <a:t>Figure 158: Global Market Cost Structure Breakdown, %, 2026</a:t>
                      </a:r>
                      <a:endParaRPr sz="1050"/>
                    </a:p>
                  </a:txBody>
                  <a:tcPr marL="9525" marR="9525" marT="9525" marB="0" anchor="ctr"/>
                </a:tc>
              </a:tr>
              <a:tr h="170045">
                <a:tc>
                  <a:txBody>
                    <a:bodyPr wrap="square"/>
                    <a:lstStyle/>
                    <a:p>
                      <a:pPr algn="l"/>
                      <a:r>
                        <a:rPr sz="1050" b="0" i="0">
                          <a:solidFill>
                            <a:srgbClr val="000000"/>
                          </a:solidFill>
                          <a:latin typeface="Calibri"/>
                        </a:rPr>
                        <a:t>Figure 159: Global Market Pricing Pressure Assessment by Product Type, 2026–2036</a:t>
                      </a:r>
                      <a:endParaRPr sz="1050"/>
                    </a:p>
                  </a:txBody>
                  <a:tcPr marL="9525" marR="9525" marT="9525" marB="0" anchor="ctr"/>
                </a:tc>
              </a:tr>
              <a:tr h="170045">
                <a:tc>
                  <a:txBody>
                    <a:bodyPr wrap="square"/>
                    <a:lstStyle/>
                    <a:p>
                      <a:pPr algn="l"/>
                      <a:r>
                        <a:rPr sz="1050" b="0" i="0">
                          <a:solidFill>
                            <a:srgbClr val="000000"/>
                          </a:solidFill>
                          <a:latin typeface="Calibri"/>
                        </a:rPr>
                        <a:t>Figure 160: Global Market Import and Export Share by Region, %, 2025</a:t>
                      </a:r>
                      <a:endParaRPr sz="1050"/>
                    </a:p>
                  </a:txBody>
                  <a:tcPr marL="9525" marR="9525" marT="9525" marB="0" anchor="ctr"/>
                </a:tc>
              </a:tr>
              <a:tr h="170045">
                <a:tc>
                  <a:txBody>
                    <a:bodyPr wrap="square"/>
                    <a:lstStyle/>
                    <a:p>
                      <a:pPr algn="l"/>
                      <a:r>
                        <a:rPr sz="1050" b="0" i="0">
                          <a:solidFill>
                            <a:srgbClr val="000000"/>
                          </a:solidFill>
                          <a:latin typeface="Calibri"/>
                        </a:rPr>
                        <a:t>Figure 161: Global Market Trade Balance by Leading Country, US$ Mn, 2025</a:t>
                      </a:r>
                      <a:endParaRPr sz="1050"/>
                    </a:p>
                  </a:txBody>
                  <a:tcPr marL="9525" marR="9525" marT="9525" marB="0" anchor="ctr"/>
                </a:tc>
              </a:tr>
              <a:tr h="170045">
                <a:tc>
                  <a:txBody>
                    <a:bodyPr wrap="square"/>
                    <a:lstStyle/>
                    <a:p>
                      <a:pPr algn="l"/>
                      <a:r>
                        <a:rPr sz="1050" b="0" i="0">
                          <a:solidFill>
                            <a:srgbClr val="000000"/>
                          </a:solidFill>
                          <a:latin typeface="Calibri"/>
                        </a:rPr>
                        <a:t>Figure 162: Company Market Share in the Global Market, %, 2026</a:t>
                      </a:r>
                      <a:endParaRPr sz="1050"/>
                    </a:p>
                  </a:txBody>
                  <a:tcPr marL="9525" marR="9525" marT="9525" marB="0" anchor="ctr"/>
                </a:tc>
              </a:tr>
              <a:tr h="170045">
                <a:tc>
                  <a:txBody>
                    <a:bodyPr wrap="square"/>
                    <a:lstStyle/>
                    <a:p>
                      <a:pPr algn="l"/>
                      <a:r>
                        <a:rPr sz="1050" b="0" i="0">
                          <a:solidFill>
                            <a:srgbClr val="000000"/>
                          </a:solidFill>
                          <a:latin typeface="Calibri"/>
                        </a:rPr>
                        <a:t>Figure 163: Competitive Positioning of Leading Removable Partial Dentures Manufacturers, 2026</a:t>
                      </a:r>
                      <a:endParaRPr sz="1050"/>
                    </a:p>
                  </a:txBody>
                  <a:tcPr marL="9525" marR="9525" marT="9525" marB="0" anchor="ctr"/>
                </a:tc>
              </a:tr>
              <a:tr h="170045">
                <a:tc>
                  <a:txBody>
                    <a:bodyPr wrap="square"/>
                    <a:lstStyle/>
                    <a:p>
                      <a:pPr algn="l"/>
                      <a:r>
                        <a:rPr sz="1050" b="0" i="0">
                          <a:solidFill>
                            <a:srgbClr val="000000"/>
                          </a:solidFill>
                          <a:latin typeface="Calibri"/>
                        </a:rPr>
                        <a:t>Figure 164: Company Revenue from the Global Market, US$ Mn, 2026</a:t>
                      </a:r>
                      <a:endParaRPr sz="1050"/>
                    </a:p>
                  </a:txBody>
                  <a:tcPr marL="9525" marR="9525" marT="9525" marB="0" anchor="ctr"/>
                </a:tc>
              </a:tr>
              <a:tr h="170045">
                <a:tc>
                  <a:txBody>
                    <a:bodyPr wrap="square"/>
                    <a:lstStyle/>
                    <a:p>
                      <a:pPr algn="l"/>
                      <a:r>
                        <a:rPr sz="1050" b="0" i="0">
                          <a:solidFill>
                            <a:srgbClr val="000000"/>
                          </a:solidFill>
                          <a:latin typeface="Calibri"/>
                        </a:rPr>
                        <a:t>Figure 165: Global Market Concentration by Company Tier, %, 2026</a:t>
                      </a:r>
                      <a:endParaRPr sz="1050"/>
                    </a:p>
                  </a:txBody>
                  <a:tcPr marL="9525" marR="9525" marT="9525" marB="0" anchor="ctr"/>
                </a:tc>
              </a:tr>
              <a:tr h="170045">
                <a:tc>
                  <a:txBody>
                    <a:bodyPr wrap="square"/>
                    <a:lstStyle/>
                    <a:p>
                      <a:pPr algn="l"/>
                      <a:r>
                        <a:rPr sz="1050" b="0" i="0">
                          <a:solidFill>
                            <a:srgbClr val="000000"/>
                          </a:solidFill>
                          <a:latin typeface="Calibri"/>
                        </a:rPr>
                        <a:t>Figure 166: Global Market Competitive Intensity Assessment, 2026</a:t>
                      </a:r>
                      <a:endParaRPr sz="1050"/>
                    </a:p>
                  </a:txBody>
                  <a:tcPr marL="9525" marR="9525" marT="9525" marB="0" anchor="ctr"/>
                </a:tc>
              </a:tr>
              <a:tr h="170045">
                <a:tc>
                  <a:txBody>
                    <a:bodyPr wrap="square"/>
                    <a:lstStyle/>
                    <a:p>
                      <a:pPr algn="l"/>
                      <a:r>
                        <a:rPr sz="1050" b="0" i="0">
                          <a:solidFill>
                            <a:srgbClr val="000000"/>
                          </a:solidFill>
                          <a:latin typeface="Calibri"/>
                        </a:rPr>
                        <a:t>Figure 167: Company Market Share in the North America Market, %, 2026</a:t>
                      </a:r>
                      <a:endParaRPr sz="1050"/>
                    </a:p>
                  </a:txBody>
                  <a:tcPr marL="9525" marR="9525" marT="9525" marB="0" anchor="ctr"/>
                </a:tc>
              </a:tr>
              <a:tr h="170045">
                <a:tc>
                  <a:txBody>
                    <a:bodyPr wrap="square"/>
                    <a:lstStyle/>
                    <a:p>
                      <a:pPr algn="l"/>
                      <a:r>
                        <a:rPr sz="1050" b="0" i="0">
                          <a:solidFill>
                            <a:srgbClr val="000000"/>
                          </a:solidFill>
                          <a:latin typeface="Calibri"/>
                        </a:rPr>
                        <a:t>Figure 168: Company Market Share in the Latin America Market, %, 2026</a:t>
                      </a:r>
                      <a:endParaRPr sz="1050"/>
                    </a:p>
                  </a:txBody>
                  <a:tcPr marL="9525" marR="9525" marT="9525" marB="0" anchor="ctr"/>
                </a:tc>
              </a:tr>
              <a:tr h="170045">
                <a:tc>
                  <a:txBody>
                    <a:bodyPr wrap="square"/>
                    <a:lstStyle/>
                    <a:p>
                      <a:pPr algn="l"/>
                      <a:r>
                        <a:rPr sz="1050" b="0" i="0">
                          <a:solidFill>
                            <a:srgbClr val="000000"/>
                          </a:solidFill>
                          <a:latin typeface="Calibri"/>
                        </a:rPr>
                        <a:t>Figure 169: Company Market Share in the Europe Market, %, 2026</a:t>
                      </a:r>
                      <a:endParaRPr sz="1050"/>
                    </a:p>
                  </a:txBody>
                  <a:tcPr marL="9525" marR="9525" marT="9525" marB="0" anchor="ctr"/>
                </a:tc>
              </a:tr>
              <a:tr h="170045">
                <a:tc>
                  <a:txBody>
                    <a:bodyPr wrap="square"/>
                    <a:lstStyle/>
                    <a:p>
                      <a:pPr algn="l"/>
                      <a:r>
                        <a:rPr sz="1050" b="0" i="0">
                          <a:solidFill>
                            <a:srgbClr val="000000"/>
                          </a:solidFill>
                          <a:latin typeface="Calibri"/>
                        </a:rPr>
                        <a:t>Figure 170: Company Market Share in the East Asia Market, %, 2026</a:t>
                      </a:r>
                      <a:endParaRPr sz="1050"/>
                    </a:p>
                  </a:txBody>
                  <a:tcPr marL="9525" marR="9525" marT="9525" marB="0" anchor="ctr"/>
                </a:tc>
              </a:tr>
              <a:tr h="170045">
                <a:tc>
                  <a:txBody>
                    <a:bodyPr wrap="square"/>
                    <a:lstStyle/>
                    <a:p>
                      <a:pPr algn="l"/>
                      <a:r>
                        <a:rPr sz="1050" b="0" i="0">
                          <a:solidFill>
                            <a:srgbClr val="000000"/>
                          </a:solidFill>
                          <a:latin typeface="Calibri"/>
                        </a:rPr>
                        <a:t>Figure 171: Company Market Share in the South Asia &amp; Pacific Market, %, 2026</a:t>
                      </a:r>
                      <a:endParaRPr sz="1050"/>
                    </a:p>
                  </a:txBody>
                  <a:tcPr marL="9525" marR="9525" marT="9525" marB="0" anchor="ctr"/>
                </a:tc>
              </a:tr>
              <a:tr h="170045">
                <a:tc>
                  <a:txBody>
                    <a:bodyPr wrap="square"/>
                    <a:lstStyle/>
                    <a:p>
                      <a:pPr algn="l"/>
                      <a:r>
                        <a:rPr sz="1050" b="0" i="0">
                          <a:solidFill>
                            <a:srgbClr val="000000"/>
                          </a:solidFill>
                          <a:latin typeface="Calibri"/>
                        </a:rPr>
                        <a:t>Figure 172: Company Market Share in the Middle East &amp; Africa Market, %, 2026</a:t>
                      </a:r>
                      <a:endParaRPr sz="1050"/>
                    </a:p>
                  </a:txBody>
                  <a:tcPr marL="9525" marR="9525" marT="9525" marB="0" anchor="ctr"/>
                </a:tc>
              </a:tr>
              <a:tr h="170045">
                <a:tc>
                  <a:txBody>
                    <a:bodyPr wrap="square"/>
                    <a:lstStyle/>
                    <a:p>
                      <a:pPr algn="l"/>
                      <a:r>
                        <a:rPr sz="1050" b="0" i="0">
                          <a:solidFill>
                            <a:srgbClr val="000000"/>
                          </a:solidFill>
                          <a:latin typeface="Calibri"/>
                        </a:rPr>
                        <a:t>Figure 173: Dentsply Sirona Inc.: Revenue from the Global Market and Share, US$ Mn and %, 2026</a:t>
                      </a:r>
                      <a:endParaRPr sz="1050"/>
                    </a:p>
                  </a:txBody>
                  <a:tcPr marL="9525" marR="9525" marT="9525" marB="0" anchor="ctr"/>
                </a:tc>
              </a:tr>
              <a:tr h="170045">
                <a:tc>
                  <a:txBody>
                    <a:bodyPr wrap="square"/>
                    <a:lstStyle/>
                    <a:p>
                      <a:pPr algn="l"/>
                      <a:r>
                        <a:rPr sz="1050" b="0" i="0">
                          <a:solidFill>
                            <a:srgbClr val="000000"/>
                          </a:solidFill>
                          <a:latin typeface="Calibri"/>
                        </a:rPr>
                        <a:t>Figure 174: Ivoclar Vivadent AG: Revenue from the Global Market and Share, US$ Mn and %, 2026</a:t>
                      </a:r>
                      <a:endParaRPr sz="1050"/>
                    </a:p>
                  </a:txBody>
                  <a:tcPr marL="9525" marR="9525" marT="9525" marB="0" anchor="ctr"/>
                </a:tc>
              </a:tr>
              <a:tr h="170045">
                <a:tc>
                  <a:txBody>
                    <a:bodyPr wrap="square"/>
                    <a:lstStyle/>
                    <a:p>
                      <a:pPr algn="l"/>
                      <a:r>
                        <a:rPr sz="1050" b="0" i="0">
                          <a:solidFill>
                            <a:srgbClr val="000000"/>
                          </a:solidFill>
                          <a:latin typeface="Calibri"/>
                        </a:rPr>
                        <a:t>Figure 175: Kulzer GmbH: Revenue from the Global Market and Share, US$ Mn and %, 2026</a:t>
                      </a:r>
                      <a:endParaRPr sz="1050"/>
                    </a:p>
                  </a:txBody>
                  <a:tcPr marL="9525" marR="9525" marT="9525" marB="0" anchor="ctr"/>
                </a:tc>
              </a:tr>
              <a:tr h="170045">
                <a:tc>
                  <a:txBody>
                    <a:bodyPr wrap="square"/>
                    <a:lstStyle/>
                    <a:p>
                      <a:pPr algn="l"/>
                      <a:r>
                        <a:rPr sz="1050" b="0" i="0">
                          <a:solidFill>
                            <a:srgbClr val="000000"/>
                          </a:solidFill>
                          <a:latin typeface="Calibri"/>
                        </a:rPr>
                        <a:t>Figure 176: GC Corporation: Revenue from the Global Market and Share, US$ Mn and %, 2026</a:t>
                      </a:r>
                      <a:endParaRPr sz="1050"/>
                    </a:p>
                  </a:txBody>
                  <a:tcPr marL="9525" marR="9525" marT="9525" marB="0" anchor="ctr"/>
                </a:tc>
              </a:tr>
              <a:tr h="170045">
                <a:tc>
                  <a:txBody>
                    <a:bodyPr wrap="square"/>
                    <a:lstStyle/>
                    <a:p>
                      <a:pPr algn="l"/>
                      <a:r>
                        <a:rPr sz="1050" b="0" i="0">
                          <a:solidFill>
                            <a:srgbClr val="000000"/>
                          </a:solidFill>
                          <a:latin typeface="Calibri"/>
                        </a:rPr>
                        <a:t>Figure 177: SHOFU INC.: Revenue from the Global Market and Share, US$ Mn and %, 2026</a:t>
                      </a:r>
                      <a:endParaRPr sz="1050"/>
                    </a:p>
                  </a:txBody>
                  <a:tcPr marL="9525" marR="9525" marT="9525" marB="0" anchor="ctr"/>
                </a:tc>
              </a:tr>
              <a:tr h="333289">
                <a:tc>
                  <a:txBody>
                    <a:bodyPr wrap="square"/>
                    <a:lstStyle/>
                    <a:p>
                      <a:pPr algn="l"/>
                      <a:r>
                        <a:rPr sz="1050" b="0" i="0">
                          <a:solidFill>
                            <a:srgbClr val="000000"/>
                          </a:solidFill>
                          <a:latin typeface="Calibri"/>
                        </a:rPr>
                        <a:t>Figure 178: VITA Zahnfabrik H. Rauter GmbH &amp; Co. KG: Revenue from the Global Market and Share, US$ Mn and %, 2026</a:t>
                      </a:r>
                      <a:endParaRPr sz="1050"/>
                    </a:p>
                  </a:txBody>
                  <a:tcPr marL="9525" marR="9525" marT="9525" marB="0" anchor="ctr"/>
                </a:tc>
              </a:tr>
              <a:tr h="170045">
                <a:tc>
                  <a:txBody>
                    <a:bodyPr wrap="square"/>
                    <a:lstStyle/>
                    <a:p>
                      <a:pPr algn="l"/>
                      <a:r>
                        <a:rPr sz="1050" b="0" i="0">
                          <a:solidFill>
                            <a:srgbClr val="000000"/>
                          </a:solidFill>
                          <a:latin typeface="Calibri"/>
                        </a:rPr>
                        <a:t>Figure 179: Zhermack S.p.A.: Revenue from the Global Market and Share, US$ Mn and %, 2026</a:t>
                      </a:r>
                      <a:endParaRPr sz="1050"/>
                    </a:p>
                  </a:txBody>
                  <a:tcPr marL="9525" marR="9525" marT="9525" marB="0" anchor="ctr"/>
                </a:tc>
              </a:tr>
              <a:tr h="170045">
                <a:tc>
                  <a:txBody>
                    <a:bodyPr wrap="square"/>
                    <a:lstStyle/>
                    <a:p>
                      <a:pPr algn="l"/>
                      <a:r>
                        <a:rPr sz="1050" b="0" i="0">
                          <a:solidFill>
                            <a:srgbClr val="000000"/>
                          </a:solidFill>
                          <a:latin typeface="Calibri"/>
                        </a:rPr>
                        <a:t>Figure 180: DETAX GmbH: Revenue from the Global Market and Share, US$ Mn and %, 2026</a:t>
                      </a:r>
                      <a:endParaRPr sz="1050"/>
                    </a:p>
                  </a:txBody>
                  <a:tcPr marL="9525" marR="9525" marT="9525" marB="0" anchor="ctr"/>
                </a:tc>
              </a:tr>
              <a:tr h="170045">
                <a:tc>
                  <a:txBody>
                    <a:bodyPr wrap="square"/>
                    <a:lstStyle/>
                    <a:p>
                      <a:pPr algn="l"/>
                      <a:r>
                        <a:rPr sz="1050" b="0" i="0">
                          <a:solidFill>
                            <a:srgbClr val="000000"/>
                          </a:solidFill>
                          <a:latin typeface="Calibri"/>
                        </a:rPr>
                        <a:t>Figure 181: Candulor AG: Revenue from the Global Market and Share, US$ Mn and %, 2026</a:t>
                      </a:r>
                      <a:endParaRPr sz="1050"/>
                    </a:p>
                  </a:txBody>
                  <a:tcPr marL="9525" marR="9525" marT="9525" marB="0" anchor="ctr"/>
                </a:tc>
              </a:tr>
              <a:tr h="333289">
                <a:tc>
                  <a:txBody>
                    <a:bodyPr wrap="square"/>
                    <a:lstStyle/>
                    <a:p>
                      <a:pPr algn="l"/>
                      <a:r>
                        <a:rPr sz="1050" b="0" i="0">
                          <a:solidFill>
                            <a:srgbClr val="000000"/>
                          </a:solidFill>
                          <a:latin typeface="Calibri"/>
                        </a:rPr>
                        <a:t>Figure 182: Ruthinium Dental Manufacturing S.p.A.: Revenue from the Global Market and Share, US$ Mn and %, 2026</a:t>
                      </a:r>
                      <a:endParaRPr sz="1050"/>
                    </a:p>
                  </a:txBody>
                  <a:tcPr marL="9525" marR="9525" marT="9525" marB="0" anchor="ctr"/>
                </a:tc>
              </a:tr>
              <a:tr h="170045">
                <a:tc>
                  <a:txBody>
                    <a:bodyPr wrap="square"/>
                    <a:lstStyle/>
                    <a:p>
                      <a:pPr algn="l"/>
                      <a:r>
                        <a:rPr sz="1050" b="0" i="0">
                          <a:solidFill>
                            <a:srgbClr val="000000"/>
                          </a:solidFill>
                          <a:latin typeface="Calibri"/>
                        </a:rPr>
                        <a:t>Figure 183: Global Market Strategic Developments by Type, %, 2025–2026</a:t>
                      </a:r>
                      <a:endParaRPr sz="1050"/>
                    </a:p>
                  </a:txBody>
                  <a:tcPr marL="9525" marR="9525" marT="9525" marB="0" anchor="ctr"/>
                </a:tc>
              </a:tr>
              <a:tr h="170045">
                <a:tc>
                  <a:txBody>
                    <a:bodyPr wrap="square"/>
                    <a:lstStyle/>
                    <a:p>
                      <a:pPr algn="l"/>
                      <a:r>
                        <a:rPr sz="1050" b="0" i="0">
                          <a:solidFill>
                            <a:srgbClr val="000000"/>
                          </a:solidFill>
                          <a:latin typeface="Calibri"/>
                        </a:rPr>
                        <a:t>Figure 184: Global Market Company Footprint by Region, 2026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(4/4)</a:t>
            </a:r>
          </a:p>
        </p:txBody>
      </p:sp>
      <p:graphicFrame>
        <p:nvGraphicFramePr>
          <p:cNvPr id="9" name="FMI Contents Table"/>
          <p:cNvGraphicFramePr>
            <a:graphicFrameLocks noGrp="1"/>
          </p:cNvGraphicFramePr>
          <p:nvPr/>
        </p:nvGraphicFramePr>
        <p:xfrm>
          <a:off x="142875" y="981075"/>
          <a:ext cx="5876925" cy="2667008"/>
        </p:xfrm>
        <a:graphic>
          <a:graphicData uri="http://schemas.openxmlformats.org/drawingml/2006/table">
            <a:tbl>
              <a:tblPr>
                <a:tableStyleId>{3B4B98B0-60AC-42C2-AFA5-B58CD77FA1E5}</a:tableStyleId>
              </a:tblPr>
              <a:tblGrid>
                <a:gridCol w="5876925"/>
              </a:tblGrid>
              <a:tr h="166688">
                <a:tc>
                  <a:txBody>
                    <a:bodyPr wrap="square"/>
                    <a:lstStyle/>
                    <a:p>
                      <a:pPr algn="l"/>
                      <a:r>
                        <a:rPr sz="1050" b="0" i="0">
                          <a:solidFill>
                            <a:srgbClr val="000000"/>
                          </a:solidFill>
                          <a:latin typeface="Calibri"/>
                        </a:rPr>
                        <a:t>Figure 185: Global Market Value Forecast by Scenario, US$ Mn, 2026–2036</a:t>
                      </a:r>
                      <a:endParaRPr sz="1050"/>
                    </a:p>
                  </a:txBody>
                  <a:tcPr marL="9525" marR="9525" marT="9525" marB="0" anchor="ctr"/>
                </a:tc>
              </a:tr>
              <a:tr h="166688">
                <a:tc>
                  <a:txBody>
                    <a:bodyPr wrap="square"/>
                    <a:lstStyle/>
                    <a:p>
                      <a:pPr algn="l"/>
                      <a:r>
                        <a:rPr sz="1050" b="0" i="0">
                          <a:solidFill>
                            <a:srgbClr val="000000"/>
                          </a:solidFill>
                          <a:latin typeface="Calibri"/>
                        </a:rPr>
                        <a:t>Figure 186: Global Market YoY Growth by Scenario, %, 2026–2036</a:t>
                      </a:r>
                      <a:endParaRPr sz="1050"/>
                    </a:p>
                  </a:txBody>
                  <a:tcPr marL="9525" marR="9525" marT="9525" marB="0" anchor="ctr"/>
                </a:tc>
              </a:tr>
              <a:tr h="166688">
                <a:tc>
                  <a:txBody>
                    <a:bodyPr wrap="square"/>
                    <a:lstStyle/>
                    <a:p>
                      <a:pPr algn="l"/>
                      <a:r>
                        <a:rPr sz="1050" b="0" i="0">
                          <a:solidFill>
                            <a:srgbClr val="000000"/>
                          </a:solidFill>
                          <a:latin typeface="Calibri"/>
                        </a:rPr>
                        <a:t>Figure 187: Global Market Key Trends Impact Assessment, 2026–2036</a:t>
                      </a:r>
                      <a:endParaRPr sz="1050"/>
                    </a:p>
                  </a:txBody>
                  <a:tcPr marL="9525" marR="9525" marT="9525" marB="0" anchor="ctr"/>
                </a:tc>
              </a:tr>
              <a:tr h="166688">
                <a:tc>
                  <a:txBody>
                    <a:bodyPr wrap="square"/>
                    <a:lstStyle/>
                    <a:p>
                      <a:pPr algn="l"/>
                      <a:r>
                        <a:rPr sz="1050" b="0" i="0">
                          <a:solidFill>
                            <a:srgbClr val="000000"/>
                          </a:solidFill>
                          <a:latin typeface="Calibri"/>
                        </a:rPr>
                        <a:t>Figure 188: Global Market Drivers, Restraints and Opportunities Impact, 2026–2036</a:t>
                      </a:r>
                      <a:endParaRPr sz="1050"/>
                    </a:p>
                  </a:txBody>
                  <a:tcPr marL="9525" marR="9525" marT="9525" marB="0" anchor="ctr"/>
                </a:tc>
              </a:tr>
              <a:tr h="166688">
                <a:tc>
                  <a:txBody>
                    <a:bodyPr wrap="square"/>
                    <a:lstStyle/>
                    <a:p>
                      <a:pPr algn="l"/>
                      <a:r>
                        <a:rPr sz="1050" b="0" i="0">
                          <a:solidFill>
                            <a:srgbClr val="000000"/>
                          </a:solidFill>
                          <a:latin typeface="Calibri"/>
                        </a:rPr>
                        <a:t>Figure 189: Global Market Opportunity Map by Region and Product Type, 2026–2036</a:t>
                      </a:r>
                      <a:endParaRPr sz="1050"/>
                    </a:p>
                  </a:txBody>
                  <a:tcPr marL="9525" marR="9525" marT="9525" marB="0" anchor="ctr"/>
                </a:tc>
              </a:tr>
              <a:tr h="166688">
                <a:tc>
                  <a:txBody>
                    <a:bodyPr wrap="square"/>
                    <a:lstStyle/>
                    <a:p>
                      <a:pPr algn="l"/>
                      <a:r>
                        <a:rPr sz="1050" b="0" i="0">
                          <a:solidFill>
                            <a:srgbClr val="000000"/>
                          </a:solidFill>
                          <a:latin typeface="Calibri"/>
                        </a:rPr>
                        <a:t>Figure 190: Global Market Technology Adoption Roadmap, 2021–2036</a:t>
                      </a:r>
                      <a:endParaRPr sz="1050"/>
                    </a:p>
                  </a:txBody>
                  <a:tcPr marL="9525" marR="9525" marT="9525" marB="0" anchor="ctr"/>
                </a:tc>
              </a:tr>
              <a:tr h="166688">
                <a:tc>
                  <a:txBody>
                    <a:bodyPr wrap="square"/>
                    <a:lstStyle/>
                    <a:p>
                      <a:pPr algn="l"/>
                      <a:r>
                        <a:rPr sz="1050" b="0" i="0">
                          <a:solidFill>
                            <a:srgbClr val="000000"/>
                          </a:solidFill>
                          <a:latin typeface="Calibri"/>
                        </a:rPr>
                        <a:t>Figure 191: Global Market Emerging Opportunity Pockets by Product Type, US$ Mn, 2026–2036</a:t>
                      </a:r>
                      <a:endParaRPr sz="1050"/>
                    </a:p>
                  </a:txBody>
                  <a:tcPr marL="9525" marR="9525" marT="9525" marB="0" anchor="ctr"/>
                </a:tc>
              </a:tr>
              <a:tr h="166688">
                <a:tc>
                  <a:txBody>
                    <a:bodyPr wrap="square"/>
                    <a:lstStyle/>
                    <a:p>
                      <a:pPr algn="l"/>
                      <a:r>
                        <a:rPr sz="1050" b="0" i="0">
                          <a:solidFill>
                            <a:srgbClr val="000000"/>
                          </a:solidFill>
                          <a:latin typeface="Calibri"/>
                        </a:rPr>
                        <a:t>Figure 192: Global Market Risk and Sensitivity Analysis, %, 2026–2036</a:t>
                      </a:r>
                      <a:endParaRPr sz="1050"/>
                    </a:p>
                  </a:txBody>
                  <a:tcPr marL="9525" marR="9525" marT="9525" marB="0" anchor="ctr"/>
                </a:tc>
              </a:tr>
              <a:tr h="166688">
                <a:tc>
                  <a:txBody>
                    <a:bodyPr wrap="square"/>
                    <a:lstStyle/>
                    <a:p>
                      <a:pPr algn="l"/>
                      <a:r>
                        <a:rPr sz="1050" b="0" i="0">
                          <a:solidFill>
                            <a:srgbClr val="000000"/>
                          </a:solidFill>
                          <a:latin typeface="Calibri"/>
                        </a:rPr>
                        <a:t>Figure 193: Global Market Regulatory Landscape Timeline, 2021–2036</a:t>
                      </a:r>
                      <a:endParaRPr sz="1050"/>
                    </a:p>
                  </a:txBody>
                  <a:tcPr marL="9525" marR="9525" marT="9525" marB="0" anchor="ctr"/>
                </a:tc>
              </a:tr>
              <a:tr h="166688">
                <a:tc>
                  <a:txBody>
                    <a:bodyPr wrap="square"/>
                    <a:lstStyle/>
                    <a:p>
                      <a:pPr algn="l"/>
                      <a:r>
                        <a:rPr sz="1050" b="0" i="0">
                          <a:solidFill>
                            <a:srgbClr val="000000"/>
                          </a:solidFill>
                          <a:latin typeface="Calibri"/>
                        </a:rPr>
                        <a:t>Figure 194: Global Market Investment Hotspots by Region, 2026–2036</a:t>
                      </a:r>
                      <a:endParaRPr sz="1050"/>
                    </a:p>
                  </a:txBody>
                  <a:tcPr marL="9525" marR="9525" marT="9525" marB="0" anchor="ctr"/>
                </a:tc>
              </a:tr>
              <a:tr h="166688">
                <a:tc>
                  <a:txBody>
                    <a:bodyPr wrap="square"/>
                    <a:lstStyle/>
                    <a:p>
                      <a:pPr algn="l"/>
                      <a:r>
                        <a:rPr sz="1050" b="0" i="0">
                          <a:solidFill>
                            <a:srgbClr val="000000"/>
                          </a:solidFill>
                          <a:latin typeface="Calibri"/>
                        </a:rPr>
                        <a:t>Figure 195: Global Market Innovation Pipeline Assessment, 2026</a:t>
                      </a:r>
                      <a:endParaRPr sz="1050"/>
                    </a:p>
                  </a:txBody>
                  <a:tcPr marL="9525" marR="9525" marT="9525" marB="0" anchor="ctr"/>
                </a:tc>
              </a:tr>
              <a:tr h="166688">
                <a:tc>
                  <a:txBody>
                    <a:bodyPr wrap="square"/>
                    <a:lstStyle/>
                    <a:p>
                      <a:pPr algn="l"/>
                      <a:r>
                        <a:rPr sz="1050" b="0" i="0">
                          <a:solidFill>
                            <a:srgbClr val="000000"/>
                          </a:solidFill>
                          <a:latin typeface="Calibri"/>
                        </a:rPr>
                        <a:t>Figure 196: Global Market White-Space Opportunity Assessment, 2026–2036</a:t>
                      </a:r>
                      <a:endParaRPr sz="1050"/>
                    </a:p>
                  </a:txBody>
                  <a:tcPr marL="9525" marR="9525" marT="9525" marB="0" anchor="ctr"/>
                </a:tc>
              </a:tr>
              <a:tr h="166688">
                <a:tc>
                  <a:txBody>
                    <a:bodyPr wrap="square"/>
                    <a:lstStyle/>
                    <a:p>
                      <a:pPr algn="l"/>
                      <a:r>
                        <a:rPr sz="1050" b="0" i="0">
                          <a:solidFill>
                            <a:srgbClr val="000000"/>
                          </a:solidFill>
                          <a:latin typeface="Calibri"/>
                        </a:rPr>
                        <a:t>Figure 197: Global Market Customer Purchase Criteria Assessment, 2026</a:t>
                      </a:r>
                      <a:endParaRPr sz="1050"/>
                    </a:p>
                  </a:txBody>
                  <a:tcPr marL="9525" marR="9525" marT="9525" marB="0" anchor="ctr"/>
                </a:tc>
              </a:tr>
              <a:tr h="166688">
                <a:tc>
                  <a:txBody>
                    <a:bodyPr wrap="square"/>
                    <a:lstStyle/>
                    <a:p>
                      <a:pPr algn="l"/>
                      <a:r>
                        <a:rPr sz="1050" b="0" i="0">
                          <a:solidFill>
                            <a:srgbClr val="000000"/>
                          </a:solidFill>
                          <a:latin typeface="Calibri"/>
                        </a:rPr>
                        <a:t>Figure 198: Global Market Go-to-Market Priority by Region, 2026–2036</a:t>
                      </a:r>
                      <a:endParaRPr sz="1050"/>
                    </a:p>
                  </a:txBody>
                  <a:tcPr marL="9525" marR="9525" marT="9525" marB="0" anchor="ctr"/>
                </a:tc>
              </a:tr>
              <a:tr h="166688">
                <a:tc>
                  <a:txBody>
                    <a:bodyPr wrap="square"/>
                    <a:lstStyle/>
                    <a:p>
                      <a:pPr algn="l"/>
                      <a:r>
                        <a:rPr sz="1050" b="0" i="0">
                          <a:solidFill>
                            <a:srgbClr val="000000"/>
                          </a:solidFill>
                          <a:latin typeface="Calibri"/>
                        </a:rPr>
                        <a:t>Figure 199: Global Market Unmet Needs Analysis by Product Type, 2026</a:t>
                      </a:r>
                      <a:endParaRPr sz="1050"/>
                    </a:p>
                  </a:txBody>
                  <a:tcPr marL="9525" marR="9525" marT="9525" marB="0" anchor="ctr"/>
                </a:tc>
              </a:tr>
              <a:tr h="166688">
                <a:tc>
                  <a:txBody>
                    <a:bodyPr wrap="square"/>
                    <a:lstStyle/>
                    <a:p>
                      <a:pPr algn="l"/>
                      <a:r>
                        <a:rPr sz="1050" b="0" i="0">
                          <a:solidFill>
                            <a:srgbClr val="000000"/>
                          </a:solidFill>
                          <a:latin typeface="Calibri"/>
                        </a:rPr>
                        <a:t>Figure 200: Global Market Right-to-Win Assessment, 2026</a:t>
                      </a:r>
                      <a:endParaRPr sz="1050"/>
                    </a:p>
                  </a:txBody>
                  <a:tcPr marL="9525" marR="9525" marT="9525" marB="0" anchor="ctr"/>
                </a:tc>
              </a:tr>
            </a:tbl>
          </a:graphicData>
        </a:graphic>
      </p:graphicFrame>
      <p:sp>
        <p:nvSpPr>
          <p:cNvPr id="10" name="TextBox 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(1/4)</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050" b="0" i="0">
                          <a:solidFill>
                            <a:srgbClr val="000000"/>
                          </a:solidFill>
                          <a:latin typeface="Calibri"/>
                        </a:rPr>
                        <a:t>Table 1: Global Market Snapshot: Value, Volume and CAGR, US$ Mn, 2025–2036</a:t>
                      </a:r>
                      <a:endParaRPr sz="1050"/>
                    </a:p>
                  </a:txBody>
                  <a:tcPr marL="9525" marR="9525" marT="9525" marB="0" anchor="ctr"/>
                </a:tc>
              </a:tr>
              <a:tr h="175260">
                <a:tc>
                  <a:txBody>
                    <a:bodyPr wrap="square"/>
                    <a:lstStyle/>
                    <a:p>
                      <a:pPr algn="l"/>
                      <a:r>
                        <a:rPr sz="1050" b="0" i="0">
                          <a:solidFill>
                            <a:srgbClr val="000000"/>
                          </a:solidFill>
                          <a:latin typeface="Calibri"/>
                        </a:rPr>
                        <a:t>Table 2: Global Market Taxonomy by Segment, 2026</a:t>
                      </a:r>
                      <a:endParaRPr sz="1050"/>
                    </a:p>
                  </a:txBody>
                  <a:tcPr marL="9525" marR="9525" marT="9525" marB="0" anchor="ctr"/>
                </a:tc>
              </a:tr>
              <a:tr h="175260">
                <a:tc>
                  <a:txBody>
                    <a:bodyPr wrap="square"/>
                    <a:lstStyle/>
                    <a:p>
                      <a:pPr algn="l"/>
                      <a:r>
                        <a:rPr sz="1050" b="0" i="0">
                          <a:solidFill>
                            <a:srgbClr val="000000"/>
                          </a:solidFill>
                          <a:latin typeface="Calibri"/>
                        </a:rPr>
                        <a:t>Table 3: Global Market Scope: Inclusions and Exclusions by Segment, 2026</a:t>
                      </a:r>
                      <a:endParaRPr sz="1050"/>
                    </a:p>
                  </a:txBody>
                  <a:tcPr marL="9525" marR="9525" marT="9525" marB="0" anchor="ctr"/>
                </a:tc>
              </a:tr>
              <a:tr h="175260">
                <a:tc>
                  <a:txBody>
                    <a:bodyPr wrap="square"/>
                    <a:lstStyle/>
                    <a:p>
                      <a:pPr algn="l"/>
                      <a:r>
                        <a:rPr sz="1050" b="0" i="0">
                          <a:solidFill>
                            <a:srgbClr val="000000"/>
                          </a:solidFill>
                          <a:latin typeface="Calibri"/>
                        </a:rPr>
                        <a:t>Table 4: Global Market Key Demand Drivers and Impact Rating, 2026–2036</a:t>
                      </a:r>
                      <a:endParaRPr sz="1050"/>
                    </a:p>
                  </a:txBody>
                  <a:tcPr marL="9525" marR="9525" marT="9525" marB="0" anchor="ctr"/>
                </a:tc>
              </a:tr>
              <a:tr h="175260">
                <a:tc>
                  <a:txBody>
                    <a:bodyPr wrap="square"/>
                    <a:lstStyle/>
                    <a:p>
                      <a:pPr algn="l"/>
                      <a:r>
                        <a:rPr sz="1050" b="0" i="0">
                          <a:solidFill>
                            <a:srgbClr val="000000"/>
                          </a:solidFill>
                          <a:latin typeface="Calibri"/>
                        </a:rPr>
                        <a:t>Table 5: Global Market Key Restraints and Impact Rating, 2026–2036</a:t>
                      </a:r>
                      <a:endParaRPr sz="1050"/>
                    </a:p>
                  </a:txBody>
                  <a:tcPr marL="9525" marR="9525" marT="9525" marB="0" anchor="ctr"/>
                </a:tc>
              </a:tr>
              <a:tr h="175260">
                <a:tc>
                  <a:txBody>
                    <a:bodyPr wrap="square"/>
                    <a:lstStyle/>
                    <a:p>
                      <a:pPr algn="l"/>
                      <a:r>
                        <a:rPr sz="1050" b="0" i="0">
                          <a:solidFill>
                            <a:srgbClr val="000000"/>
                          </a:solidFill>
                          <a:latin typeface="Calibri"/>
                        </a:rPr>
                        <a:t>Table 6: Global Market Analyst Recommendations by Segment, 2026–2036</a:t>
                      </a:r>
                      <a:endParaRPr sz="1050"/>
                    </a:p>
                  </a:txBody>
                  <a:tcPr marL="9525" marR="9525" marT="9525" marB="0" anchor="ctr"/>
                </a:tc>
              </a:tr>
              <a:tr h="175260">
                <a:tc>
                  <a:txBody>
                    <a:bodyPr wrap="square"/>
                    <a:lstStyle/>
                    <a:p>
                      <a:pPr algn="l"/>
                      <a:r>
                        <a:rPr sz="1050" b="0" i="0">
                          <a:solidFill>
                            <a:srgbClr val="000000"/>
                          </a:solidFill>
                          <a:latin typeface="Calibri"/>
                        </a:rPr>
                        <a:t>Table 7: Global Market Key Market Signals and Data Points, 2026</a:t>
                      </a:r>
                      <a:endParaRPr sz="1050"/>
                    </a:p>
                  </a:txBody>
                  <a:tcPr marL="9525" marR="9525" marT="9525" marB="0" anchor="ctr"/>
                </a:tc>
              </a:tr>
              <a:tr h="175260">
                <a:tc>
                  <a:txBody>
                    <a:bodyPr wrap="square"/>
                    <a:lstStyle/>
                    <a:p>
                      <a:pPr algn="l"/>
                      <a:r>
                        <a:rPr sz="1050" b="0" i="0">
                          <a:solidFill>
                            <a:srgbClr val="000000"/>
                          </a:solidFill>
                          <a:latin typeface="Calibri"/>
                        </a:rPr>
                        <a:t>Table 8: Global Market Value and YoY Growth, US$ Mn and %, 2021–2036</a:t>
                      </a:r>
                      <a:endParaRPr sz="1050"/>
                    </a:p>
                  </a:txBody>
                  <a:tcPr marL="9525" marR="9525" marT="9525" marB="0" anchor="ctr"/>
                </a:tc>
              </a:tr>
              <a:tr h="175260">
                <a:tc>
                  <a:txBody>
                    <a:bodyPr wrap="square"/>
                    <a:lstStyle/>
                    <a:p>
                      <a:pPr algn="l"/>
                      <a:r>
                        <a:rPr sz="1050" b="0" i="0">
                          <a:solidFill>
                            <a:srgbClr val="000000"/>
                          </a:solidFill>
                          <a:latin typeface="Calibri"/>
                        </a:rPr>
                        <a:t>Table 9: Global Market Historical Value Analysis, US$ Mn, 2021–2025</a:t>
                      </a:r>
                      <a:endParaRPr sz="1050"/>
                    </a:p>
                  </a:txBody>
                  <a:tcPr marL="9525" marR="9525" marT="9525" marB="0" anchor="ctr"/>
                </a:tc>
              </a:tr>
              <a:tr h="175260">
                <a:tc>
                  <a:txBody>
                    <a:bodyPr wrap="square"/>
                    <a:lstStyle/>
                    <a:p>
                      <a:pPr algn="l"/>
                      <a:r>
                        <a:rPr sz="1050" b="0" i="0">
                          <a:solidFill>
                            <a:srgbClr val="000000"/>
                          </a:solidFill>
                          <a:latin typeface="Calibri"/>
                        </a:rPr>
                        <a:t>Table 10: Global Market Forecast Value Analysis, US$ Mn, 2026–2036</a:t>
                      </a:r>
                      <a:endParaRPr sz="1050"/>
                    </a:p>
                  </a:txBody>
                  <a:tcPr marL="9525" marR="9525" marT="9525" marB="0" anchor="ctr"/>
                </a:tc>
              </a:tr>
              <a:tr h="175260">
                <a:tc>
                  <a:txBody>
                    <a:bodyPr wrap="square"/>
                    <a:lstStyle/>
                    <a:p>
                      <a:pPr algn="l"/>
                      <a:r>
                        <a:rPr sz="1050" b="0" i="0">
                          <a:solidFill>
                            <a:srgbClr val="000000"/>
                          </a:solidFill>
                          <a:latin typeface="Calibri"/>
                        </a:rPr>
                        <a:t>Table 11: Global Market Volume and YoY Growth, Units and %, 2021–2036</a:t>
                      </a:r>
                      <a:endParaRPr sz="1050"/>
                    </a:p>
                  </a:txBody>
                  <a:tcPr marL="9525" marR="9525" marT="9525" marB="0" anchor="ctr"/>
                </a:tc>
              </a:tr>
              <a:tr h="175260">
                <a:tc>
                  <a:txBody>
                    <a:bodyPr wrap="square"/>
                    <a:lstStyle/>
                    <a:p>
                      <a:pPr algn="l"/>
                      <a:r>
                        <a:rPr sz="1050" b="0" i="0">
                          <a:solidFill>
                            <a:srgbClr val="000000"/>
                          </a:solidFill>
                          <a:latin typeface="Calibri"/>
                        </a:rPr>
                        <a:t>Table 12: Global Market Volume Forecast, Units, 2026–2036</a:t>
                      </a:r>
                      <a:endParaRPr sz="1050"/>
                    </a:p>
                  </a:txBody>
                  <a:tcPr marL="9525" marR="9525" marT="9525" marB="0" anchor="ctr"/>
                </a:tc>
              </a:tr>
              <a:tr h="175260">
                <a:tc>
                  <a:txBody>
                    <a:bodyPr wrap="square"/>
                    <a:lstStyle/>
                    <a:p>
                      <a:pPr algn="l"/>
                      <a:r>
                        <a:rPr sz="1050" b="0" i="0">
                          <a:solidFill>
                            <a:srgbClr val="000000"/>
                          </a:solidFill>
                          <a:latin typeface="Calibri"/>
                        </a:rPr>
                        <a:t>Table 13: Global Market Average Selling Price, US$/Units, 2021–2036</a:t>
                      </a:r>
                      <a:endParaRPr sz="1050"/>
                    </a:p>
                  </a:txBody>
                  <a:tcPr marL="9525" marR="9525" marT="9525" marB="0" anchor="ctr"/>
                </a:tc>
              </a:tr>
              <a:tr h="175260">
                <a:tc>
                  <a:txBody>
                    <a:bodyPr wrap="square"/>
                    <a:lstStyle/>
                    <a:p>
                      <a:pPr algn="l"/>
                      <a:r>
                        <a:rPr sz="1050" b="0" i="0">
                          <a:solidFill>
                            <a:srgbClr val="000000"/>
                          </a:solidFill>
                          <a:latin typeface="Calibri"/>
                        </a:rPr>
                        <a:t>Table 14: Global Market Average Selling Price YoY Change, %, 2026–2036</a:t>
                      </a:r>
                      <a:endParaRPr sz="1050"/>
                    </a:p>
                  </a:txBody>
                  <a:tcPr marL="9525" marR="9525" marT="9525" marB="0" anchor="ctr"/>
                </a:tc>
              </a:tr>
              <a:tr h="175260">
                <a:tc>
                  <a:txBody>
                    <a:bodyPr wrap="square"/>
                    <a:lstStyle/>
                    <a:p>
                      <a:pPr algn="l"/>
                      <a:r>
                        <a:rPr sz="1050" b="0" i="0">
                          <a:solidFill>
                            <a:srgbClr val="000000"/>
                          </a:solidFill>
                          <a:latin typeface="Calibri"/>
                        </a:rPr>
                        <a:t>Table 15: Global Market CAGR and Absolute $ Opportunity, %, US$ Mn, 2026–2036</a:t>
                      </a:r>
                      <a:endParaRPr sz="1050"/>
                    </a:p>
                  </a:txBody>
                  <a:tcPr marL="9525" marR="9525" marT="9525" marB="0" anchor="ctr"/>
                </a:tc>
              </a:tr>
              <a:tr h="175260">
                <a:tc>
                  <a:txBody>
                    <a:bodyPr wrap="square"/>
                    <a:lstStyle/>
                    <a:p>
                      <a:pPr algn="l"/>
                      <a:r>
                        <a:rPr sz="1050" b="0" i="0">
                          <a:solidFill>
                            <a:srgbClr val="000000"/>
                          </a:solidFill>
                          <a:latin typeface="Calibri"/>
                        </a:rPr>
                        <a:t>Table 16: Global Market Absolute $ Opportunity by Year, US$ Mn, 2026–2036</a:t>
                      </a:r>
                      <a:endParaRPr sz="1050"/>
                    </a:p>
                  </a:txBody>
                  <a:tcPr marL="9525" marR="9525" marT="9525" marB="0" anchor="ctr"/>
                </a:tc>
              </a:tr>
              <a:tr h="175260">
                <a:tc>
                  <a:txBody>
                    <a:bodyPr wrap="square"/>
                    <a:lstStyle/>
                    <a:p>
                      <a:pPr algn="l"/>
                      <a:r>
                        <a:rPr sz="1050" b="0" i="0">
                          <a:solidFill>
                            <a:srgbClr val="000000"/>
                          </a:solidFill>
                          <a:latin typeface="Calibri"/>
                        </a:rPr>
                        <a:t>Table 17: Global Market Value by Scenario (Optimistic, Likely, Pessimistic), US$ Mn, 2026–2036</a:t>
                      </a:r>
                      <a:endParaRPr sz="1050"/>
                    </a:p>
                  </a:txBody>
                  <a:tcPr marL="9525" marR="9525" marT="9525" marB="0" anchor="ctr"/>
                </a:tc>
              </a:tr>
              <a:tr h="175260">
                <a:tc>
                  <a:txBody>
                    <a:bodyPr wrap="square"/>
                    <a:lstStyle/>
                    <a:p>
                      <a:pPr algn="l"/>
                      <a:r>
                        <a:rPr sz="1050" b="0" i="0">
                          <a:solidFill>
                            <a:srgbClr val="000000"/>
                          </a:solidFill>
                          <a:latin typeface="Calibri"/>
                        </a:rPr>
                        <a:t>Table 18: Global Market Scenario CAGR Comparison, %, 2026–2036</a:t>
                      </a:r>
                      <a:endParaRPr sz="1050"/>
                    </a:p>
                  </a:txBody>
                  <a:tcPr marL="9525" marR="9525" marT="9525" marB="0" anchor="ctr"/>
                </a:tc>
              </a:tr>
              <a:tr h="175260">
                <a:tc>
                  <a:txBody>
                    <a:bodyPr wrap="square"/>
                    <a:lstStyle/>
                    <a:p>
                      <a:pPr algn="l"/>
                      <a:r>
                        <a:rPr sz="1050" b="0" i="0">
                          <a:solidFill>
                            <a:srgbClr val="000000"/>
                          </a:solidFill>
                          <a:latin typeface="Calibri"/>
                        </a:rPr>
                        <a:t>Table 19: Global Market Historical vs Forecast Growth Comparison, %, 2021–2036</a:t>
                      </a:r>
                      <a:endParaRPr sz="1050"/>
                    </a:p>
                  </a:txBody>
                  <a:tcPr marL="9525" marR="9525" marT="9525" marB="0" anchor="ctr"/>
                </a:tc>
              </a:tr>
              <a:tr h="175260">
                <a:tc>
                  <a:txBody>
                    <a:bodyPr wrap="square"/>
                    <a:lstStyle/>
                    <a:p>
                      <a:pPr algn="l"/>
                      <a:r>
                        <a:rPr sz="1050" b="0" i="0">
                          <a:solidFill>
                            <a:srgbClr val="000000"/>
                          </a:solidFill>
                          <a:latin typeface="Calibri"/>
                        </a:rPr>
                        <a:t>Table 20: Global Market Five-Year Block Value Summary, US$ Mn, 2021–2036</a:t>
                      </a:r>
                      <a:endParaRPr sz="1050"/>
                    </a:p>
                  </a:txBody>
                  <a:tcPr marL="9525" marR="9525" marT="9525" marB="0" anchor="ctr"/>
                </a:tc>
              </a:tr>
              <a:tr h="175260">
                <a:tc>
                  <a:txBody>
                    <a:bodyPr wrap="square"/>
                    <a:lstStyle/>
                    <a:p>
                      <a:pPr algn="l"/>
                      <a:r>
                        <a:rPr sz="1050" b="0" i="0">
                          <a:solidFill>
                            <a:srgbClr val="000000"/>
                          </a:solidFill>
                          <a:latin typeface="Calibri"/>
                        </a:rPr>
                        <a:t>Table 21: Global Market Value by Product Type, US$ Mn, 2021–2036</a:t>
                      </a:r>
                      <a:endParaRPr sz="1050"/>
                    </a:p>
                  </a:txBody>
                  <a:tcPr marL="9525" marR="9525" marT="9525" marB="0" anchor="ctr"/>
                </a:tc>
              </a:tr>
              <a:tr h="175260">
                <a:tc>
                  <a:txBody>
                    <a:bodyPr wrap="square"/>
                    <a:lstStyle/>
                    <a:p>
                      <a:pPr algn="l"/>
                      <a:r>
                        <a:rPr sz="1050" b="0" i="0">
                          <a:solidFill>
                            <a:srgbClr val="000000"/>
                          </a:solidFill>
                          <a:latin typeface="Calibri"/>
                        </a:rPr>
                        <a:t>Table 22: Global Market Value by Material Type, US$ Mn, 2021–2036</a:t>
                      </a:r>
                      <a:endParaRPr sz="1050"/>
                    </a:p>
                  </a:txBody>
                  <a:tcPr marL="9525" marR="9525" marT="9525" marB="0" anchor="ctr"/>
                </a:tc>
              </a:tr>
              <a:tr h="175260">
                <a:tc>
                  <a:txBody>
                    <a:bodyPr wrap="square"/>
                    <a:lstStyle/>
                    <a:p>
                      <a:pPr algn="l"/>
                      <a:r>
                        <a:rPr sz="1050" b="0" i="0">
                          <a:solidFill>
                            <a:srgbClr val="000000"/>
                          </a:solidFill>
                          <a:latin typeface="Calibri"/>
                        </a:rPr>
                        <a:t>Table 23: Global Market Value by Technology, US$ Mn, 2021–2036</a:t>
                      </a:r>
                      <a:endParaRPr sz="1050"/>
                    </a:p>
                  </a:txBody>
                  <a:tcPr marL="9525" marR="9525" marT="9525" marB="0" anchor="ctr"/>
                </a:tc>
              </a:tr>
              <a:tr h="175260">
                <a:tc>
                  <a:txBody>
                    <a:bodyPr wrap="square"/>
                    <a:lstStyle/>
                    <a:p>
                      <a:pPr algn="l"/>
                      <a:r>
                        <a:rPr sz="1050" b="0" i="0">
                          <a:solidFill>
                            <a:srgbClr val="000000"/>
                          </a:solidFill>
                          <a:latin typeface="Calibri"/>
                        </a:rPr>
                        <a:t>Table 24: Global Market Value by End User, US$ Mn, 2021–2036</a:t>
                      </a:r>
                      <a:endParaRPr sz="1050"/>
                    </a:p>
                  </a:txBody>
                  <a:tcPr marL="9525" marR="9525" marT="9525" marB="0" anchor="ctr"/>
                </a:tc>
              </a:tr>
              <a:tr h="175260">
                <a:tc>
                  <a:txBody>
                    <a:bodyPr wrap="square"/>
                    <a:lstStyle/>
                    <a:p>
                      <a:pPr algn="l"/>
                      <a:r>
                        <a:rPr sz="1050" b="0" i="0">
                          <a:solidFill>
                            <a:srgbClr val="000000"/>
                          </a:solidFill>
                          <a:latin typeface="Calibri"/>
                        </a:rPr>
                        <a:t>Table 25: Global Market Value by Distribution Channel, US$ Mn, 2021–2036</a:t>
                      </a:r>
                      <a:endParaRPr sz="1050"/>
                    </a:p>
                  </a:txBody>
                  <a:tcPr marL="9525" marR="9525" marT="9525" marB="0" anchor="ctr"/>
                </a:tc>
              </a:tr>
              <a:tr h="175260">
                <a:tc>
                  <a:txBody>
                    <a:bodyPr wrap="square"/>
                    <a:lstStyle/>
                    <a:p>
                      <a:pPr algn="l"/>
                      <a:r>
                        <a:rPr sz="1050" b="0" i="0">
                          <a:solidFill>
                            <a:srgbClr val="000000"/>
                          </a:solidFill>
                          <a:latin typeface="Calibri"/>
                        </a:rPr>
                        <a:t>Table 26: Global Market Value by Patient Age Group, US$ Mn, 2021–2036</a:t>
                      </a:r>
                      <a:endParaRPr sz="1050"/>
                    </a:p>
                  </a:txBody>
                  <a:tcPr marL="9525" marR="9525" marT="9525" marB="0" anchor="ctr"/>
                </a:tc>
              </a:tr>
              <a:tr h="175260">
                <a:tc>
                  <a:txBody>
                    <a:bodyPr wrap="square"/>
                    <a:lstStyle/>
                    <a:p>
                      <a:pPr algn="l"/>
                      <a:r>
                        <a:rPr sz="1050" b="0" i="0">
                          <a:solidFill>
                            <a:srgbClr val="000000"/>
                          </a:solidFill>
                          <a:latin typeface="Calibri"/>
                        </a:rPr>
                        <a:t>Table 27: Global Market CAGR and Absolute $ Opportunity by Product Type, %, US$ Mn, 2026–2036</a:t>
                      </a:r>
                      <a:endParaRPr sz="1050"/>
                    </a:p>
                  </a:txBody>
                  <a:tcPr marL="9525" marR="9525" marT="9525" marB="0" anchor="ctr"/>
                </a:tc>
              </a:tr>
              <a:tr h="175260">
                <a:tc>
                  <a:txBody>
                    <a:bodyPr wrap="square"/>
                    <a:lstStyle/>
                    <a:p>
                      <a:pPr algn="l"/>
                      <a:r>
                        <a:rPr sz="1050" b="0" i="0">
                          <a:solidFill>
                            <a:srgbClr val="000000"/>
                          </a:solidFill>
                          <a:latin typeface="Calibri"/>
                        </a:rPr>
                        <a:t>Table 28: Global Market CAGR and Absolute $ Opportunity by Material Type, %, US$ Mn, 2026–2036</a:t>
                      </a:r>
                      <a:endParaRPr sz="1050"/>
                    </a:p>
                  </a:txBody>
                  <a:tcPr marL="9525" marR="9525" marT="9525" marB="0" anchor="ctr"/>
                </a:tc>
              </a:tr>
              <a:tr h="175260">
                <a:tc>
                  <a:txBody>
                    <a:bodyPr wrap="square"/>
                    <a:lstStyle/>
                    <a:p>
                      <a:pPr algn="l"/>
                      <a:r>
                        <a:rPr sz="1050" b="0" i="0">
                          <a:solidFill>
                            <a:srgbClr val="000000"/>
                          </a:solidFill>
                          <a:latin typeface="Calibri"/>
                        </a:rPr>
                        <a:t>Table 29: Global Market CAGR and Absolute $ Opportunity by Technology, %, US$ Mn, 2026–2036</a:t>
                      </a:r>
                      <a:endParaRPr sz="1050"/>
                    </a:p>
                  </a:txBody>
                  <a:tcPr marL="9525" marR="9525" marT="9525" marB="0" anchor="ctr"/>
                </a:tc>
              </a:tr>
              <a:tr h="175260">
                <a:tc>
                  <a:txBody>
                    <a:bodyPr wrap="square"/>
                    <a:lstStyle/>
                    <a:p>
                      <a:pPr algn="l"/>
                      <a:r>
                        <a:rPr sz="1050" b="0" i="0">
                          <a:solidFill>
                            <a:srgbClr val="000000"/>
                          </a:solidFill>
                          <a:latin typeface="Calibri"/>
                        </a:rPr>
                        <a:t>Table 30: Global Market CAGR and Absolute $ Opportunity by End User, %, US$ Mn, 2026–2036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93"/>
        </p:xfrm>
        <a:graphic>
          <a:graphicData uri="http://schemas.openxmlformats.org/drawingml/2006/table">
            <a:tbl>
              <a:tblPr>
                <a:tableStyleId>{3B4B98B0-60AC-42C2-AFA5-B58CD77FA1E5}</a:tableStyleId>
              </a:tblPr>
              <a:tblGrid>
                <a:gridCol w="5876925"/>
              </a:tblGrid>
              <a:tr h="333289">
                <a:tc>
                  <a:txBody>
                    <a:bodyPr wrap="square"/>
                    <a:lstStyle/>
                    <a:p>
                      <a:pPr algn="l"/>
                      <a:r>
                        <a:rPr sz="1050" b="0" i="0">
                          <a:solidFill>
                            <a:srgbClr val="000000"/>
                          </a:solidFill>
                          <a:latin typeface="Calibri"/>
                        </a:rPr>
                        <a:t>Table 31: Global Market CAGR and Absolute $ Opportunity by Distribution Channel, %, US$ Mn, 2026–2036</a:t>
                      </a:r>
                      <a:endParaRPr sz="1050"/>
                    </a:p>
                  </a:txBody>
                  <a:tcPr marL="9525" marR="9525" marT="9525" marB="0" anchor="ctr"/>
                </a:tc>
              </a:tr>
              <a:tr h="333289">
                <a:tc>
                  <a:txBody>
                    <a:bodyPr wrap="square"/>
                    <a:lstStyle/>
                    <a:p>
                      <a:pPr algn="l"/>
                      <a:r>
                        <a:rPr sz="1050" b="0" i="0">
                          <a:solidFill>
                            <a:srgbClr val="000000"/>
                          </a:solidFill>
                          <a:latin typeface="Calibri"/>
                        </a:rPr>
                        <a:t>Table 32: Global Market CAGR and Absolute $ Opportunity by Patient Age Group, %, US$ Mn, 2026–2036</a:t>
                      </a:r>
                      <a:endParaRPr sz="1050"/>
                    </a:p>
                  </a:txBody>
                  <a:tcPr marL="9525" marR="9525" marT="9525" marB="0" anchor="ctr"/>
                </a:tc>
              </a:tr>
              <a:tr h="170045">
                <a:tc>
                  <a:txBody>
                    <a:bodyPr wrap="square"/>
                    <a:lstStyle/>
                    <a:p>
                      <a:pPr algn="l"/>
                      <a:r>
                        <a:rPr sz="1050" b="0" i="0">
                          <a:solidFill>
                            <a:srgbClr val="000000"/>
                          </a:solidFill>
                          <a:latin typeface="Calibri"/>
                        </a:rPr>
                        <a:t>Table 33: Global Market Share and BPS Change by Product Type, %, 2025, 2026 and 2036</a:t>
                      </a:r>
                      <a:endParaRPr sz="1050"/>
                    </a:p>
                  </a:txBody>
                  <a:tcPr marL="9525" marR="9525" marT="9525" marB="0" anchor="ctr"/>
                </a:tc>
              </a:tr>
              <a:tr h="170045">
                <a:tc>
                  <a:txBody>
                    <a:bodyPr wrap="square"/>
                    <a:lstStyle/>
                    <a:p>
                      <a:pPr algn="l"/>
                      <a:r>
                        <a:rPr sz="1050" b="0" i="0">
                          <a:solidFill>
                            <a:srgbClr val="000000"/>
                          </a:solidFill>
                          <a:latin typeface="Calibri"/>
                        </a:rPr>
                        <a:t>Table 34: Global Market Share and BPS Change by Material Type, %, 2025, 2026 and 2036</a:t>
                      </a:r>
                      <a:endParaRPr sz="1050"/>
                    </a:p>
                  </a:txBody>
                  <a:tcPr marL="9525" marR="9525" marT="9525" marB="0" anchor="ctr"/>
                </a:tc>
              </a:tr>
              <a:tr h="170045">
                <a:tc>
                  <a:txBody>
                    <a:bodyPr wrap="square"/>
                    <a:lstStyle/>
                    <a:p>
                      <a:pPr algn="l"/>
                      <a:r>
                        <a:rPr sz="1050" b="0" i="0">
                          <a:solidFill>
                            <a:srgbClr val="000000"/>
                          </a:solidFill>
                          <a:latin typeface="Calibri"/>
                        </a:rPr>
                        <a:t>Table 35: Global Market Share and BPS Change by Technology, %, 2025, 2026 and 2036</a:t>
                      </a:r>
                      <a:endParaRPr sz="1050"/>
                    </a:p>
                  </a:txBody>
                  <a:tcPr marL="9525" marR="9525" marT="9525" marB="0" anchor="ctr"/>
                </a:tc>
              </a:tr>
              <a:tr h="170045">
                <a:tc>
                  <a:txBody>
                    <a:bodyPr wrap="square"/>
                    <a:lstStyle/>
                    <a:p>
                      <a:pPr algn="l"/>
                      <a:r>
                        <a:rPr sz="1050" b="0" i="0">
                          <a:solidFill>
                            <a:srgbClr val="000000"/>
                          </a:solidFill>
                          <a:latin typeface="Calibri"/>
                        </a:rPr>
                        <a:t>Table 36: Global Market Share and BPS Change by End User, %, 2025, 2026 and 2036</a:t>
                      </a:r>
                      <a:endParaRPr sz="1050"/>
                    </a:p>
                  </a:txBody>
                  <a:tcPr marL="9525" marR="9525" marT="9525" marB="0" anchor="ctr"/>
                </a:tc>
              </a:tr>
              <a:tr h="170045">
                <a:tc>
                  <a:txBody>
                    <a:bodyPr wrap="square"/>
                    <a:lstStyle/>
                    <a:p>
                      <a:pPr algn="l"/>
                      <a:r>
                        <a:rPr sz="1050" b="0" i="0">
                          <a:solidFill>
                            <a:srgbClr val="000000"/>
                          </a:solidFill>
                          <a:latin typeface="Calibri"/>
                        </a:rPr>
                        <a:t>Table 37: Global Market Share and BPS Change by Distribution Channel, %, 2025, 2026 and 2036</a:t>
                      </a:r>
                      <a:endParaRPr sz="1050"/>
                    </a:p>
                  </a:txBody>
                  <a:tcPr marL="9525" marR="9525" marT="9525" marB="0" anchor="ctr"/>
                </a:tc>
              </a:tr>
              <a:tr h="170045">
                <a:tc>
                  <a:txBody>
                    <a:bodyPr wrap="square"/>
                    <a:lstStyle/>
                    <a:p>
                      <a:pPr algn="l"/>
                      <a:r>
                        <a:rPr sz="1050" b="0" i="0">
                          <a:solidFill>
                            <a:srgbClr val="000000"/>
                          </a:solidFill>
                          <a:latin typeface="Calibri"/>
                        </a:rPr>
                        <a:t>Table 38: Global Market Share and BPS Change by Patient Age Group, %, 2025, 2026 and 2036</a:t>
                      </a:r>
                      <a:endParaRPr sz="1050"/>
                    </a:p>
                  </a:txBody>
                  <a:tcPr marL="9525" marR="9525" marT="9525" marB="0" anchor="ctr"/>
                </a:tc>
              </a:tr>
              <a:tr h="170045">
                <a:tc>
                  <a:txBody>
                    <a:bodyPr wrap="square"/>
                    <a:lstStyle/>
                    <a:p>
                      <a:pPr algn="l"/>
                      <a:r>
                        <a:rPr sz="1050" b="0" i="0">
                          <a:solidFill>
                            <a:srgbClr val="000000"/>
                          </a:solidFill>
                          <a:latin typeface="Calibri"/>
                        </a:rPr>
                        <a:t>Table 39: Global Market YoY Growth by Product Type, %, 2026–2036</a:t>
                      </a:r>
                      <a:endParaRPr sz="1050"/>
                    </a:p>
                  </a:txBody>
                  <a:tcPr marL="9525" marR="9525" marT="9525" marB="0" anchor="ctr"/>
                </a:tc>
              </a:tr>
              <a:tr h="170045">
                <a:tc>
                  <a:txBody>
                    <a:bodyPr wrap="square"/>
                    <a:lstStyle/>
                    <a:p>
                      <a:pPr algn="l"/>
                      <a:r>
                        <a:rPr sz="1050" b="0" i="0">
                          <a:solidFill>
                            <a:srgbClr val="000000"/>
                          </a:solidFill>
                          <a:latin typeface="Calibri"/>
                        </a:rPr>
                        <a:t>Table 40: Global Market YoY Growth by Material Type, %, 2026–2036</a:t>
                      </a:r>
                      <a:endParaRPr sz="1050"/>
                    </a:p>
                  </a:txBody>
                  <a:tcPr marL="9525" marR="9525" marT="9525" marB="0" anchor="ctr"/>
                </a:tc>
              </a:tr>
              <a:tr h="170045">
                <a:tc>
                  <a:txBody>
                    <a:bodyPr wrap="square"/>
                    <a:lstStyle/>
                    <a:p>
                      <a:pPr algn="l"/>
                      <a:r>
                        <a:rPr sz="1050" b="0" i="0">
                          <a:solidFill>
                            <a:srgbClr val="000000"/>
                          </a:solidFill>
                          <a:latin typeface="Calibri"/>
                        </a:rPr>
                        <a:t>Table 41: Global Market YoY Growth by Technology, %, 2026–2036</a:t>
                      </a:r>
                      <a:endParaRPr sz="1050"/>
                    </a:p>
                  </a:txBody>
                  <a:tcPr marL="9525" marR="9525" marT="9525" marB="0" anchor="ctr"/>
                </a:tc>
              </a:tr>
              <a:tr h="170045">
                <a:tc>
                  <a:txBody>
                    <a:bodyPr wrap="square"/>
                    <a:lstStyle/>
                    <a:p>
                      <a:pPr algn="l"/>
                      <a:r>
                        <a:rPr sz="1050" b="0" i="0">
                          <a:solidFill>
                            <a:srgbClr val="000000"/>
                          </a:solidFill>
                          <a:latin typeface="Calibri"/>
                        </a:rPr>
                        <a:t>Table 42: Global Market YoY Growth by End User, %, 2026–2036</a:t>
                      </a:r>
                      <a:endParaRPr sz="1050"/>
                    </a:p>
                  </a:txBody>
                  <a:tcPr marL="9525" marR="9525" marT="9525" marB="0" anchor="ctr"/>
                </a:tc>
              </a:tr>
              <a:tr h="170045">
                <a:tc>
                  <a:txBody>
                    <a:bodyPr wrap="square"/>
                    <a:lstStyle/>
                    <a:p>
                      <a:pPr algn="l"/>
                      <a:r>
                        <a:rPr sz="1050" b="0" i="0">
                          <a:solidFill>
                            <a:srgbClr val="000000"/>
                          </a:solidFill>
                          <a:latin typeface="Calibri"/>
                        </a:rPr>
                        <a:t>Table 43: Global Market YoY Growth by Distribution Channel, %, 2026–2036</a:t>
                      </a:r>
                      <a:endParaRPr sz="1050"/>
                    </a:p>
                  </a:txBody>
                  <a:tcPr marL="9525" marR="9525" marT="9525" marB="0" anchor="ctr"/>
                </a:tc>
              </a:tr>
              <a:tr h="170045">
                <a:tc>
                  <a:txBody>
                    <a:bodyPr wrap="square"/>
                    <a:lstStyle/>
                    <a:p>
                      <a:pPr algn="l"/>
                      <a:r>
                        <a:rPr sz="1050" b="0" i="0">
                          <a:solidFill>
                            <a:srgbClr val="000000"/>
                          </a:solidFill>
                          <a:latin typeface="Calibri"/>
                        </a:rPr>
                        <a:t>Table 44: Global Market YoY Growth by Patient Age Group, %, 2026–2036</a:t>
                      </a:r>
                      <a:endParaRPr sz="1050"/>
                    </a:p>
                  </a:txBody>
                  <a:tcPr marL="9525" marR="9525" marT="9525" marB="0" anchor="ctr"/>
                </a:tc>
              </a:tr>
              <a:tr h="170045">
                <a:tc>
                  <a:txBody>
                    <a:bodyPr wrap="square"/>
                    <a:lstStyle/>
                    <a:p>
                      <a:pPr algn="l"/>
                      <a:r>
                        <a:rPr sz="1050" b="0" i="0">
                          <a:solidFill>
                            <a:srgbClr val="000000"/>
                          </a:solidFill>
                          <a:latin typeface="Calibri"/>
                        </a:rPr>
                        <a:t>Table 45: Global Market Volume by Product Type, Units, 2021–2036</a:t>
                      </a:r>
                      <a:endParaRPr sz="1050"/>
                    </a:p>
                  </a:txBody>
                  <a:tcPr marL="9525" marR="9525" marT="9525" marB="0" anchor="ctr"/>
                </a:tc>
              </a:tr>
              <a:tr h="170045">
                <a:tc>
                  <a:txBody>
                    <a:bodyPr wrap="square"/>
                    <a:lstStyle/>
                    <a:p>
                      <a:pPr algn="l"/>
                      <a:r>
                        <a:rPr sz="1050" b="0" i="0">
                          <a:solidFill>
                            <a:srgbClr val="000000"/>
                          </a:solidFill>
                          <a:latin typeface="Calibri"/>
                        </a:rPr>
                        <a:t>Table 46: Global Market Volume by Material Type, Units, 2021–2036</a:t>
                      </a:r>
                      <a:endParaRPr sz="1050"/>
                    </a:p>
                  </a:txBody>
                  <a:tcPr marL="9525" marR="9525" marT="9525" marB="0" anchor="ctr"/>
                </a:tc>
              </a:tr>
              <a:tr h="170045">
                <a:tc>
                  <a:txBody>
                    <a:bodyPr wrap="square"/>
                    <a:lstStyle/>
                    <a:p>
                      <a:pPr algn="l"/>
                      <a:r>
                        <a:rPr sz="1050" b="0" i="0">
                          <a:solidFill>
                            <a:srgbClr val="000000"/>
                          </a:solidFill>
                          <a:latin typeface="Calibri"/>
                        </a:rPr>
                        <a:t>Table 47: Global Market Volume by Technology, Units, 2021–2036</a:t>
                      </a:r>
                      <a:endParaRPr sz="1050"/>
                    </a:p>
                  </a:txBody>
                  <a:tcPr marL="9525" marR="9525" marT="9525" marB="0" anchor="ctr"/>
                </a:tc>
              </a:tr>
              <a:tr h="170045">
                <a:tc>
                  <a:txBody>
                    <a:bodyPr wrap="square"/>
                    <a:lstStyle/>
                    <a:p>
                      <a:pPr algn="l"/>
                      <a:r>
                        <a:rPr sz="1050" b="0" i="0">
                          <a:solidFill>
                            <a:srgbClr val="000000"/>
                          </a:solidFill>
                          <a:latin typeface="Calibri"/>
                        </a:rPr>
                        <a:t>Table 48: Global Market Volume by End User, Units, 2021–2036</a:t>
                      </a:r>
                      <a:endParaRPr sz="1050"/>
                    </a:p>
                  </a:txBody>
                  <a:tcPr marL="9525" marR="9525" marT="9525" marB="0" anchor="ctr"/>
                </a:tc>
              </a:tr>
              <a:tr h="170045">
                <a:tc>
                  <a:txBody>
                    <a:bodyPr wrap="square"/>
                    <a:lstStyle/>
                    <a:p>
                      <a:pPr algn="l"/>
                      <a:r>
                        <a:rPr sz="1050" b="0" i="0">
                          <a:solidFill>
                            <a:srgbClr val="000000"/>
                          </a:solidFill>
                          <a:latin typeface="Calibri"/>
                        </a:rPr>
                        <a:t>Table 49: Global Market Volume by Distribution Channel, Units, 2021–2036</a:t>
                      </a:r>
                      <a:endParaRPr sz="1050"/>
                    </a:p>
                  </a:txBody>
                  <a:tcPr marL="9525" marR="9525" marT="9525" marB="0" anchor="ctr"/>
                </a:tc>
              </a:tr>
              <a:tr h="170045">
                <a:tc>
                  <a:txBody>
                    <a:bodyPr wrap="square"/>
                    <a:lstStyle/>
                    <a:p>
                      <a:pPr algn="l"/>
                      <a:r>
                        <a:rPr sz="1050" b="0" i="0">
                          <a:solidFill>
                            <a:srgbClr val="000000"/>
                          </a:solidFill>
                          <a:latin typeface="Calibri"/>
                        </a:rPr>
                        <a:t>Table 50: Global Market Volume by Patient Age Group, Units, 2021–2036</a:t>
                      </a:r>
                      <a:endParaRPr sz="1050"/>
                    </a:p>
                  </a:txBody>
                  <a:tcPr marL="9525" marR="9525" marT="9525" marB="0" anchor="ctr"/>
                </a:tc>
              </a:tr>
              <a:tr h="170045">
                <a:tc>
                  <a:txBody>
                    <a:bodyPr wrap="square"/>
                    <a:lstStyle/>
                    <a:p>
                      <a:pPr algn="l"/>
                      <a:r>
                        <a:rPr sz="1050" b="0" i="0">
                          <a:solidFill>
                            <a:srgbClr val="000000"/>
                          </a:solidFill>
                          <a:latin typeface="Calibri"/>
                        </a:rPr>
                        <a:t>Table 51: Global Market Average Selling Price by Product Type, US$/Units, 2021–2036</a:t>
                      </a:r>
                      <a:endParaRPr sz="1050"/>
                    </a:p>
                  </a:txBody>
                  <a:tcPr marL="9525" marR="9525" marT="9525" marB="0" anchor="ctr"/>
                </a:tc>
              </a:tr>
              <a:tr h="170045">
                <a:tc>
                  <a:txBody>
                    <a:bodyPr wrap="square"/>
                    <a:lstStyle/>
                    <a:p>
                      <a:pPr algn="l"/>
                      <a:r>
                        <a:rPr sz="1050" b="0" i="0">
                          <a:solidFill>
                            <a:srgbClr val="000000"/>
                          </a:solidFill>
                          <a:latin typeface="Calibri"/>
                        </a:rPr>
                        <a:t>Table 52: Global Market Average Selling Price by Material Type, US$/Units, 2021–2036</a:t>
                      </a:r>
                      <a:endParaRPr sz="1050"/>
                    </a:p>
                  </a:txBody>
                  <a:tcPr marL="9525" marR="9525" marT="9525" marB="0" anchor="ctr"/>
                </a:tc>
              </a:tr>
              <a:tr h="170045">
                <a:tc>
                  <a:txBody>
                    <a:bodyPr wrap="square"/>
                    <a:lstStyle/>
                    <a:p>
                      <a:pPr algn="l"/>
                      <a:r>
                        <a:rPr sz="1050" b="0" i="0">
                          <a:solidFill>
                            <a:srgbClr val="000000"/>
                          </a:solidFill>
                          <a:latin typeface="Calibri"/>
                        </a:rPr>
                        <a:t>Table 53: Global Market Average Selling Price by Technology, US$/Units, 2021–2036</a:t>
                      </a:r>
                      <a:endParaRPr sz="1050"/>
                    </a:p>
                  </a:txBody>
                  <a:tcPr marL="9525" marR="9525" marT="9525" marB="0" anchor="ctr"/>
                </a:tc>
              </a:tr>
              <a:tr h="170045">
                <a:tc>
                  <a:txBody>
                    <a:bodyPr wrap="square"/>
                    <a:lstStyle/>
                    <a:p>
                      <a:pPr algn="l"/>
                      <a:r>
                        <a:rPr sz="1050" b="0" i="0">
                          <a:solidFill>
                            <a:srgbClr val="000000"/>
                          </a:solidFill>
                          <a:latin typeface="Calibri"/>
                        </a:rPr>
                        <a:t>Table 54: Global Market Average Selling Price by End User, US$/Units, 2021–2036</a:t>
                      </a:r>
                      <a:endParaRPr sz="1050"/>
                    </a:p>
                  </a:txBody>
                  <a:tcPr marL="9525" marR="9525" marT="9525" marB="0" anchor="ctr"/>
                </a:tc>
              </a:tr>
              <a:tr h="170045">
                <a:tc>
                  <a:txBody>
                    <a:bodyPr wrap="square"/>
                    <a:lstStyle/>
                    <a:p>
                      <a:pPr algn="l"/>
                      <a:r>
                        <a:rPr sz="1050" b="0" i="0">
                          <a:solidFill>
                            <a:srgbClr val="000000"/>
                          </a:solidFill>
                          <a:latin typeface="Calibri"/>
                        </a:rPr>
                        <a:t>Table 55: Global Market Average Selling Price by Distribution Channel, US$/Units, 2021–2036</a:t>
                      </a:r>
                      <a:endParaRPr sz="1050"/>
                    </a:p>
                  </a:txBody>
                  <a:tcPr marL="9525" marR="9525" marT="9525" marB="0" anchor="ctr"/>
                </a:tc>
              </a:tr>
              <a:tr h="170045">
                <a:tc>
                  <a:txBody>
                    <a:bodyPr wrap="square"/>
                    <a:lstStyle/>
                    <a:p>
                      <a:pPr algn="l"/>
                      <a:r>
                        <a:rPr sz="1050" b="0" i="0">
                          <a:solidFill>
                            <a:srgbClr val="000000"/>
                          </a:solidFill>
                          <a:latin typeface="Calibri"/>
                        </a:rPr>
                        <a:t>Table 56: Global Market Average Selling Price by Patient Age Group, US$/Units, 2021–2036</a:t>
                      </a:r>
                      <a:endParaRPr sz="1050"/>
                    </a:p>
                  </a:txBody>
                  <a:tcPr marL="9525" marR="9525" marT="9525" marB="0" anchor="ctr"/>
                </a:tc>
              </a:tr>
              <a:tr h="170045">
                <a:tc>
                  <a:txBody>
                    <a:bodyPr wrap="square"/>
                    <a:lstStyle/>
                    <a:p>
                      <a:pPr algn="l"/>
                      <a:r>
                        <a:rPr sz="1050" b="0" i="0">
                          <a:solidFill>
                            <a:srgbClr val="000000"/>
                          </a:solidFill>
                          <a:latin typeface="Calibri"/>
                        </a:rPr>
                        <a:t>Table 57: Global Market Attractiveness Index by Product Type, 2026–2036</a:t>
                      </a:r>
                      <a:endParaRPr sz="1050"/>
                    </a:p>
                  </a:txBody>
                  <a:tcPr marL="9525" marR="9525" marT="9525" marB="0" anchor="ctr"/>
                </a:tc>
              </a:tr>
              <a:tr h="170045">
                <a:tc>
                  <a:txBody>
                    <a:bodyPr wrap="square"/>
                    <a:lstStyle/>
                    <a:p>
                      <a:pPr algn="l"/>
                      <a:r>
                        <a:rPr sz="1050" b="0" i="0">
                          <a:solidFill>
                            <a:srgbClr val="000000"/>
                          </a:solidFill>
                          <a:latin typeface="Calibri"/>
                        </a:rPr>
                        <a:t>Table 58: Global Market Attractiveness Index by Material Type, 2026–2036</a:t>
                      </a:r>
                      <a:endParaRPr sz="1050"/>
                    </a:p>
                  </a:txBody>
                  <a:tcPr marL="9525" marR="9525" marT="9525" marB="0" anchor="ctr"/>
                </a:tc>
              </a:tr>
              <a:tr h="170045">
                <a:tc>
                  <a:txBody>
                    <a:bodyPr wrap="square"/>
                    <a:lstStyle/>
                    <a:p>
                      <a:pPr algn="l"/>
                      <a:r>
                        <a:rPr sz="1050" b="0" i="0">
                          <a:solidFill>
                            <a:srgbClr val="000000"/>
                          </a:solidFill>
                          <a:latin typeface="Calibri"/>
                        </a:rPr>
                        <a:t>Table 59: Global Market Attractiveness Index by Technology, 2026–2036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(2/4)</a:t>
            </a:r>
          </a:p>
        </p:txBody>
      </p:sp>
      <p:graphicFrame>
        <p:nvGraphicFramePr>
          <p:cNvPr id="9" name="FMI Contents Table"/>
          <p:cNvGraphicFramePr>
            <a:graphicFrameLocks noGrp="1"/>
          </p:cNvGraphicFramePr>
          <p:nvPr/>
        </p:nvGraphicFramePr>
        <p:xfrm>
          <a:off x="142875"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Table 60: Global Market Attractiveness Index by End User, 2026–2036</a:t>
                      </a:r>
                      <a:endParaRPr sz="1050"/>
                    </a:p>
                  </a:txBody>
                  <a:tcPr marL="9525" marR="9525" marT="9525" marB="0" anchor="ctr"/>
                </a:tc>
              </a:tr>
              <a:tr h="169606">
                <a:tc>
                  <a:txBody>
                    <a:bodyPr wrap="square"/>
                    <a:lstStyle/>
                    <a:p>
                      <a:pPr algn="l"/>
                      <a:r>
                        <a:rPr sz="1050" b="0" i="0">
                          <a:solidFill>
                            <a:srgbClr val="000000"/>
                          </a:solidFill>
                          <a:latin typeface="Calibri"/>
                        </a:rPr>
                        <a:t>Table 61: Global Market Attractiveness Index by Distribution Channel, 2026–2036</a:t>
                      </a:r>
                      <a:endParaRPr sz="1050"/>
                    </a:p>
                  </a:txBody>
                  <a:tcPr marL="9525" marR="9525" marT="9525" marB="0" anchor="ctr"/>
                </a:tc>
              </a:tr>
              <a:tr h="169606">
                <a:tc>
                  <a:txBody>
                    <a:bodyPr wrap="square"/>
                    <a:lstStyle/>
                    <a:p>
                      <a:pPr algn="l"/>
                      <a:r>
                        <a:rPr sz="1050" b="0" i="0">
                          <a:solidFill>
                            <a:srgbClr val="000000"/>
                          </a:solidFill>
                          <a:latin typeface="Calibri"/>
                        </a:rPr>
                        <a:t>Table 62: Global Market Attractiveness Index by Patient Age Group, 2026–2036</a:t>
                      </a:r>
                      <a:endParaRPr sz="1050"/>
                    </a:p>
                  </a:txBody>
                  <a:tcPr marL="9525" marR="9525" marT="9525" marB="0" anchor="ctr"/>
                </a:tc>
              </a:tr>
              <a:tr h="169606">
                <a:tc>
                  <a:txBody>
                    <a:bodyPr wrap="square"/>
                    <a:lstStyle/>
                    <a:p>
                      <a:pPr algn="l"/>
                      <a:r>
                        <a:rPr sz="1050" b="0" i="0">
                          <a:solidFill>
                            <a:srgbClr val="000000"/>
                          </a:solidFill>
                          <a:latin typeface="Calibri"/>
                        </a:rPr>
                        <a:t>Table 63: Global Market Value of Cast Metal Partial Dentures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64: Global Market Value of Metal Alloys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65: Global Market Value of Conventional Fabrication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66: Global Market Value of Dental Clinics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67: Global Market Value of Direct Sales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68: Global Market Value of Adults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69: Global Market Value of Acrylic Partial Dentures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70: Global Market Value of Acrylic / Resin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71: Global Market Value of Digital Fabrication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72: Global Market Value of Dental Hospitals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73: Global Market Value of Dental Dealers &amp; Distributors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74: Global Market Value of Geriatric Patients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75: Global Market Value of Flexible Partial Dentures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76: Global Market Value by Product Type and Material Type, US$ Mn, 2026–2036</a:t>
                      </a:r>
                      <a:endParaRPr sz="1050"/>
                    </a:p>
                  </a:txBody>
                  <a:tcPr marL="9525" marR="9525" marT="9525" marB="0" anchor="ctr"/>
                </a:tc>
              </a:tr>
              <a:tr h="169606">
                <a:tc>
                  <a:txBody>
                    <a:bodyPr wrap="square"/>
                    <a:lstStyle/>
                    <a:p>
                      <a:pPr algn="l"/>
                      <a:r>
                        <a:rPr sz="1050" b="0" i="0">
                          <a:solidFill>
                            <a:srgbClr val="000000"/>
                          </a:solidFill>
                          <a:latin typeface="Calibri"/>
                        </a:rPr>
                        <a:t>Table 77: Global Market Value by Product Type and Technology, US$ Mn, 2026–2036</a:t>
                      </a:r>
                      <a:endParaRPr sz="1050"/>
                    </a:p>
                  </a:txBody>
                  <a:tcPr marL="9525" marR="9525" marT="9525" marB="0" anchor="ctr"/>
                </a:tc>
              </a:tr>
              <a:tr h="169606">
                <a:tc>
                  <a:txBody>
                    <a:bodyPr wrap="square"/>
                    <a:lstStyle/>
                    <a:p>
                      <a:pPr algn="l"/>
                      <a:r>
                        <a:rPr sz="1050" b="0" i="0">
                          <a:solidFill>
                            <a:srgbClr val="000000"/>
                          </a:solidFill>
                          <a:latin typeface="Calibri"/>
                        </a:rPr>
                        <a:t>Table 78: Global Market Value by Product Type and End User, US$ Mn, 2026–2036</a:t>
                      </a:r>
                      <a:endParaRPr sz="1050"/>
                    </a:p>
                  </a:txBody>
                  <a:tcPr marL="9525" marR="9525" marT="9525" marB="0" anchor="ctr"/>
                </a:tc>
              </a:tr>
              <a:tr h="169606">
                <a:tc>
                  <a:txBody>
                    <a:bodyPr wrap="square"/>
                    <a:lstStyle/>
                    <a:p>
                      <a:pPr algn="l"/>
                      <a:r>
                        <a:rPr sz="1050" b="0" i="0">
                          <a:solidFill>
                            <a:srgbClr val="000000"/>
                          </a:solidFill>
                          <a:latin typeface="Calibri"/>
                        </a:rPr>
                        <a:t>Table 79: Global Market Value by Product Type and Distribution Channel, US$ Mn, 2026–2036</a:t>
                      </a:r>
                      <a:endParaRPr sz="1050"/>
                    </a:p>
                  </a:txBody>
                  <a:tcPr marL="9525" marR="9525" marT="9525" marB="0" anchor="ctr"/>
                </a:tc>
              </a:tr>
              <a:tr h="169606">
                <a:tc>
                  <a:txBody>
                    <a:bodyPr wrap="square"/>
                    <a:lstStyle/>
                    <a:p>
                      <a:pPr algn="l"/>
                      <a:r>
                        <a:rPr sz="1050" b="0" i="0">
                          <a:solidFill>
                            <a:srgbClr val="000000"/>
                          </a:solidFill>
                          <a:latin typeface="Calibri"/>
                        </a:rPr>
                        <a:t>Table 80: Global Market Value by Product Type and Patient Age Group, US$ Mn, 2026–2036</a:t>
                      </a:r>
                      <a:endParaRPr sz="1050"/>
                    </a:p>
                  </a:txBody>
                  <a:tcPr marL="9525" marR="9525" marT="9525" marB="0" anchor="ctr"/>
                </a:tc>
              </a:tr>
              <a:tr h="169606">
                <a:tc>
                  <a:txBody>
                    <a:bodyPr wrap="square"/>
                    <a:lstStyle/>
                    <a:p>
                      <a:pPr algn="l"/>
                      <a:r>
                        <a:rPr sz="1050" b="0" i="0">
                          <a:solidFill>
                            <a:srgbClr val="000000"/>
                          </a:solidFill>
                          <a:latin typeface="Calibri"/>
                        </a:rPr>
                        <a:t>Table 81: Global Market Value by Material Type and Technology, US$ Mn, 2026–2036</a:t>
                      </a:r>
                      <a:endParaRPr sz="1050"/>
                    </a:p>
                  </a:txBody>
                  <a:tcPr marL="9525" marR="9525" marT="9525" marB="0" anchor="ctr"/>
                </a:tc>
              </a:tr>
              <a:tr h="169606">
                <a:tc>
                  <a:txBody>
                    <a:bodyPr wrap="square"/>
                    <a:lstStyle/>
                    <a:p>
                      <a:pPr algn="l"/>
                      <a:r>
                        <a:rPr sz="1050" b="0" i="0">
                          <a:solidFill>
                            <a:srgbClr val="000000"/>
                          </a:solidFill>
                          <a:latin typeface="Calibri"/>
                        </a:rPr>
                        <a:t>Table 82: Global Market Value by Material Type and End User, US$ Mn, 2026–2036</a:t>
                      </a:r>
                      <a:endParaRPr sz="1050"/>
                    </a:p>
                  </a:txBody>
                  <a:tcPr marL="9525" marR="9525" marT="9525" marB="0" anchor="ctr"/>
                </a:tc>
              </a:tr>
              <a:tr h="169606">
                <a:tc>
                  <a:txBody>
                    <a:bodyPr wrap="square"/>
                    <a:lstStyle/>
                    <a:p>
                      <a:pPr algn="l"/>
                      <a:r>
                        <a:rPr sz="1050" b="0" i="0">
                          <a:solidFill>
                            <a:srgbClr val="000000"/>
                          </a:solidFill>
                          <a:latin typeface="Calibri"/>
                        </a:rPr>
                        <a:t>Table 83: Global Market Value by Material Type and Distribution Channel, US$ Mn, 2026–2036</a:t>
                      </a:r>
                      <a:endParaRPr sz="1050"/>
                    </a:p>
                  </a:txBody>
                  <a:tcPr marL="9525" marR="9525" marT="9525" marB="0" anchor="ctr"/>
                </a:tc>
              </a:tr>
              <a:tr h="169606">
                <a:tc>
                  <a:txBody>
                    <a:bodyPr wrap="square"/>
                    <a:lstStyle/>
                    <a:p>
                      <a:pPr algn="l"/>
                      <a:r>
                        <a:rPr sz="1050" b="0" i="0">
                          <a:solidFill>
                            <a:srgbClr val="000000"/>
                          </a:solidFill>
                          <a:latin typeface="Calibri"/>
                        </a:rPr>
                        <a:t>Table 84: Global Market Value by Material Type and Patient Age Group, US$ Mn, 2026–2036</a:t>
                      </a:r>
                      <a:endParaRPr sz="1050"/>
                    </a:p>
                  </a:txBody>
                  <a:tcPr marL="9525" marR="9525" marT="9525" marB="0" anchor="ctr"/>
                </a:tc>
              </a:tr>
              <a:tr h="169606">
                <a:tc>
                  <a:txBody>
                    <a:bodyPr wrap="square"/>
                    <a:lstStyle/>
                    <a:p>
                      <a:pPr algn="l"/>
                      <a:r>
                        <a:rPr sz="1050" b="0" i="0">
                          <a:solidFill>
                            <a:srgbClr val="000000"/>
                          </a:solidFill>
                          <a:latin typeface="Calibri"/>
                        </a:rPr>
                        <a:t>Table 85: Global Market Value by Technology and End User, US$ Mn, 2026–2036</a:t>
                      </a:r>
                      <a:endParaRPr sz="1050"/>
                    </a:p>
                  </a:txBody>
                  <a:tcPr marL="9525" marR="9525" marT="9525" marB="0" anchor="ctr"/>
                </a:tc>
              </a:tr>
              <a:tr h="169606">
                <a:tc>
                  <a:txBody>
                    <a:bodyPr wrap="square"/>
                    <a:lstStyle/>
                    <a:p>
                      <a:pPr algn="l"/>
                      <a:r>
                        <a:rPr sz="1050" b="0" i="0">
                          <a:solidFill>
                            <a:srgbClr val="000000"/>
                          </a:solidFill>
                          <a:latin typeface="Calibri"/>
                        </a:rPr>
                        <a:t>Table 86: Global Market Value by Technology and Distribution Channel, US$ Mn, 2026–2036</a:t>
                      </a:r>
                      <a:endParaRPr sz="1050"/>
                    </a:p>
                  </a:txBody>
                  <a:tcPr marL="9525" marR="9525" marT="9525" marB="0" anchor="ctr"/>
                </a:tc>
              </a:tr>
              <a:tr h="169606">
                <a:tc>
                  <a:txBody>
                    <a:bodyPr wrap="square"/>
                    <a:lstStyle/>
                    <a:p>
                      <a:pPr algn="l"/>
                      <a:r>
                        <a:rPr sz="1050" b="0" i="0">
                          <a:solidFill>
                            <a:srgbClr val="000000"/>
                          </a:solidFill>
                          <a:latin typeface="Calibri"/>
                        </a:rPr>
                        <a:t>Table 87: Global Market Value by Technology and Patient Age Group, US$ Mn, 2026–2036</a:t>
                      </a:r>
                      <a:endParaRPr sz="1050"/>
                    </a:p>
                  </a:txBody>
                  <a:tcPr marL="9525" marR="9525" marT="9525" marB="0" anchor="ctr"/>
                </a:tc>
              </a:tr>
              <a:tr h="169606">
                <a:tc>
                  <a:txBody>
                    <a:bodyPr wrap="square"/>
                    <a:lstStyle/>
                    <a:p>
                      <a:pPr algn="l"/>
                      <a:r>
                        <a:rPr sz="1050" b="0" i="0">
                          <a:solidFill>
                            <a:srgbClr val="000000"/>
                          </a:solidFill>
                          <a:latin typeface="Calibri"/>
                        </a:rPr>
                        <a:t>Table 88: Global Market Value by End User and Distribution Channel, US$ Mn, 2026–2036</a:t>
                      </a:r>
                      <a:endParaRPr sz="1050"/>
                    </a:p>
                  </a:txBody>
                  <a:tcPr marL="9525" marR="9525" marT="9525" marB="0" anchor="ctr"/>
                </a:tc>
              </a:tr>
              <a:tr h="169606">
                <a:tc>
                  <a:txBody>
                    <a:bodyPr wrap="square"/>
                    <a:lstStyle/>
                    <a:p>
                      <a:pPr algn="l"/>
                      <a:r>
                        <a:rPr sz="1050" b="0" i="0">
                          <a:solidFill>
                            <a:srgbClr val="000000"/>
                          </a:solidFill>
                          <a:latin typeface="Calibri"/>
                        </a:rPr>
                        <a:t>Table 89: Global Market Value by End User and Patient Age Group, US$ Mn, 2026–2036</a:t>
                      </a:r>
                      <a:endParaRPr sz="1050"/>
                    </a:p>
                  </a:txBody>
                  <a:tcPr marL="9525" marR="9525" marT="9525" marB="0" anchor="ctr"/>
                </a:tc>
              </a:tr>
              <a:tr h="169606">
                <a:tc>
                  <a:txBody>
                    <a:bodyPr wrap="square"/>
                    <a:lstStyle/>
                    <a:p>
                      <a:pPr algn="l"/>
                      <a:r>
                        <a:rPr sz="1050" b="0" i="0">
                          <a:solidFill>
                            <a:srgbClr val="000000"/>
                          </a:solidFill>
                          <a:latin typeface="Calibri"/>
                        </a:rPr>
                        <a:t>Table 90: Global Market Value by Distribution Channel and Patient Age Group, US$ Mn, 2026–2036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93"/>
        </p:xfrm>
        <a:graphic>
          <a:graphicData uri="http://schemas.openxmlformats.org/drawingml/2006/table">
            <a:tbl>
              <a:tblPr>
                <a:tableStyleId>{3B4B98B0-60AC-42C2-AFA5-B58CD77FA1E5}</a:tableStyleId>
              </a:tblPr>
              <a:tblGrid>
                <a:gridCol w="5876925"/>
              </a:tblGrid>
              <a:tr h="170045">
                <a:tc>
                  <a:txBody>
                    <a:bodyPr wrap="square"/>
                    <a:lstStyle/>
                    <a:p>
                      <a:pPr algn="l"/>
                      <a:r>
                        <a:rPr sz="1050" b="0" i="0">
                          <a:solidFill>
                            <a:srgbClr val="000000"/>
                          </a:solidFill>
                          <a:latin typeface="Calibri"/>
                        </a:rPr>
                        <a:t>Table 91: Global Market Value by Region and Product Type, US$ Mn, 2026–2036</a:t>
                      </a:r>
                      <a:endParaRPr sz="1050"/>
                    </a:p>
                  </a:txBody>
                  <a:tcPr marL="9525" marR="9525" marT="9525" marB="0" anchor="ctr"/>
                </a:tc>
              </a:tr>
              <a:tr h="170045">
                <a:tc>
                  <a:txBody>
                    <a:bodyPr wrap="square"/>
                    <a:lstStyle/>
                    <a:p>
                      <a:pPr algn="l"/>
                      <a:r>
                        <a:rPr sz="1050" b="0" i="0">
                          <a:solidFill>
                            <a:srgbClr val="000000"/>
                          </a:solidFill>
                          <a:latin typeface="Calibri"/>
                        </a:rPr>
                        <a:t>Table 92: Global Market Value by Region and Material Type, US$ Mn, 2026–2036</a:t>
                      </a:r>
                      <a:endParaRPr sz="1050"/>
                    </a:p>
                  </a:txBody>
                  <a:tcPr marL="9525" marR="9525" marT="9525" marB="0" anchor="ctr"/>
                </a:tc>
              </a:tr>
              <a:tr h="170045">
                <a:tc>
                  <a:txBody>
                    <a:bodyPr wrap="square"/>
                    <a:lstStyle/>
                    <a:p>
                      <a:pPr algn="l"/>
                      <a:r>
                        <a:rPr sz="1050" b="0" i="0">
                          <a:solidFill>
                            <a:srgbClr val="000000"/>
                          </a:solidFill>
                          <a:latin typeface="Calibri"/>
                        </a:rPr>
                        <a:t>Table 93: Global Market Value by Region and Technology, US$ Mn, 2026–2036</a:t>
                      </a:r>
                      <a:endParaRPr sz="1050"/>
                    </a:p>
                  </a:txBody>
                  <a:tcPr marL="9525" marR="9525" marT="9525" marB="0" anchor="ctr"/>
                </a:tc>
              </a:tr>
              <a:tr h="170045">
                <a:tc>
                  <a:txBody>
                    <a:bodyPr wrap="square"/>
                    <a:lstStyle/>
                    <a:p>
                      <a:pPr algn="l"/>
                      <a:r>
                        <a:rPr sz="1050" b="0" i="0">
                          <a:solidFill>
                            <a:srgbClr val="000000"/>
                          </a:solidFill>
                          <a:latin typeface="Calibri"/>
                        </a:rPr>
                        <a:t>Table 94: Global Market Value by Region and End User, US$ Mn, 2026–2036</a:t>
                      </a:r>
                      <a:endParaRPr sz="1050"/>
                    </a:p>
                  </a:txBody>
                  <a:tcPr marL="9525" marR="9525" marT="9525" marB="0" anchor="ctr"/>
                </a:tc>
              </a:tr>
              <a:tr h="170045">
                <a:tc>
                  <a:txBody>
                    <a:bodyPr wrap="square"/>
                    <a:lstStyle/>
                    <a:p>
                      <a:pPr algn="l"/>
                      <a:r>
                        <a:rPr sz="1050" b="0" i="0">
                          <a:solidFill>
                            <a:srgbClr val="000000"/>
                          </a:solidFill>
                          <a:latin typeface="Calibri"/>
                        </a:rPr>
                        <a:t>Table 95: Global Market Value by Region and Distribution Channel, US$ Mn, 2026–2036</a:t>
                      </a:r>
                      <a:endParaRPr sz="1050"/>
                    </a:p>
                  </a:txBody>
                  <a:tcPr marL="9525" marR="9525" marT="9525" marB="0" anchor="ctr"/>
                </a:tc>
              </a:tr>
              <a:tr h="170045">
                <a:tc>
                  <a:txBody>
                    <a:bodyPr wrap="square"/>
                    <a:lstStyle/>
                    <a:p>
                      <a:pPr algn="l"/>
                      <a:r>
                        <a:rPr sz="1050" b="0" i="0">
                          <a:solidFill>
                            <a:srgbClr val="000000"/>
                          </a:solidFill>
                          <a:latin typeface="Calibri"/>
                        </a:rPr>
                        <a:t>Table 96: Global Market Value by Region and Patient Age Group, US$ Mn, 2026–2036</a:t>
                      </a:r>
                      <a:endParaRPr sz="1050"/>
                    </a:p>
                  </a:txBody>
                  <a:tcPr marL="9525" marR="9525" marT="9525" marB="0" anchor="ctr"/>
                </a:tc>
              </a:tr>
              <a:tr h="170045">
                <a:tc>
                  <a:txBody>
                    <a:bodyPr wrap="square"/>
                    <a:lstStyle/>
                    <a:p>
                      <a:pPr algn="l"/>
                      <a:r>
                        <a:rPr sz="1050" b="0" i="0">
                          <a:solidFill>
                            <a:srgbClr val="000000"/>
                          </a:solidFill>
                          <a:latin typeface="Calibri"/>
                        </a:rPr>
                        <a:t>Table 97: Global Market CAGR by Product Type and Material Type, %, 2026–2036</a:t>
                      </a:r>
                      <a:endParaRPr sz="1050"/>
                    </a:p>
                  </a:txBody>
                  <a:tcPr marL="9525" marR="9525" marT="9525" marB="0" anchor="ctr"/>
                </a:tc>
              </a:tr>
              <a:tr h="170045">
                <a:tc>
                  <a:txBody>
                    <a:bodyPr wrap="square"/>
                    <a:lstStyle/>
                    <a:p>
                      <a:pPr algn="l"/>
                      <a:r>
                        <a:rPr sz="1050" b="0" i="0">
                          <a:solidFill>
                            <a:srgbClr val="000000"/>
                          </a:solidFill>
                          <a:latin typeface="Calibri"/>
                        </a:rPr>
                        <a:t>Table 98: Global Market CAGR by Product Type and Technology, %, 2026–2036</a:t>
                      </a:r>
                      <a:endParaRPr sz="1050"/>
                    </a:p>
                  </a:txBody>
                  <a:tcPr marL="9525" marR="9525" marT="9525" marB="0" anchor="ctr"/>
                </a:tc>
              </a:tr>
              <a:tr h="170045">
                <a:tc>
                  <a:txBody>
                    <a:bodyPr wrap="square"/>
                    <a:lstStyle/>
                    <a:p>
                      <a:pPr algn="l"/>
                      <a:r>
                        <a:rPr sz="1050" b="0" i="0">
                          <a:solidFill>
                            <a:srgbClr val="000000"/>
                          </a:solidFill>
                          <a:latin typeface="Calibri"/>
                        </a:rPr>
                        <a:t>Table 99: Global Market CAGR by Product Type and End User, %, 2026–2036</a:t>
                      </a:r>
                      <a:endParaRPr sz="1050"/>
                    </a:p>
                  </a:txBody>
                  <a:tcPr marL="9525" marR="9525" marT="9525" marB="0" anchor="ctr"/>
                </a:tc>
              </a:tr>
              <a:tr h="170045">
                <a:tc>
                  <a:txBody>
                    <a:bodyPr wrap="square"/>
                    <a:lstStyle/>
                    <a:p>
                      <a:pPr algn="l"/>
                      <a:r>
                        <a:rPr sz="1050" b="0" i="0">
                          <a:solidFill>
                            <a:srgbClr val="000000"/>
                          </a:solidFill>
                          <a:latin typeface="Calibri"/>
                        </a:rPr>
                        <a:t>Table 100: Global Market CAGR by Product Type and Distribution Channel, %, 2026–2036</a:t>
                      </a:r>
                      <a:endParaRPr sz="1050"/>
                    </a:p>
                  </a:txBody>
                  <a:tcPr marL="9525" marR="9525" marT="9525" marB="0" anchor="ctr"/>
                </a:tc>
              </a:tr>
              <a:tr h="170045">
                <a:tc>
                  <a:txBody>
                    <a:bodyPr wrap="square"/>
                    <a:lstStyle/>
                    <a:p>
                      <a:pPr algn="l"/>
                      <a:r>
                        <a:rPr sz="1050" b="0" i="0">
                          <a:solidFill>
                            <a:srgbClr val="000000"/>
                          </a:solidFill>
                          <a:latin typeface="Calibri"/>
                        </a:rPr>
                        <a:t>Table 101: Global Market CAGR by Product Type and Patient Age Group, %, 2026–2036</a:t>
                      </a:r>
                      <a:endParaRPr sz="1050"/>
                    </a:p>
                  </a:txBody>
                  <a:tcPr marL="9525" marR="9525" marT="9525" marB="0" anchor="ctr"/>
                </a:tc>
              </a:tr>
              <a:tr h="170045">
                <a:tc>
                  <a:txBody>
                    <a:bodyPr wrap="square"/>
                    <a:lstStyle/>
                    <a:p>
                      <a:pPr algn="l"/>
                      <a:r>
                        <a:rPr sz="1050" b="0" i="0">
                          <a:solidFill>
                            <a:srgbClr val="000000"/>
                          </a:solidFill>
                          <a:latin typeface="Calibri"/>
                        </a:rPr>
                        <a:t>Table 102: Global Market CAGR by Material Type and Technology, %, 2026–2036</a:t>
                      </a:r>
                      <a:endParaRPr sz="1050"/>
                    </a:p>
                  </a:txBody>
                  <a:tcPr marL="9525" marR="9525" marT="9525" marB="0" anchor="ctr"/>
                </a:tc>
              </a:tr>
              <a:tr h="170045">
                <a:tc>
                  <a:txBody>
                    <a:bodyPr wrap="square"/>
                    <a:lstStyle/>
                    <a:p>
                      <a:pPr algn="l"/>
                      <a:r>
                        <a:rPr sz="1050" b="0" i="0">
                          <a:solidFill>
                            <a:srgbClr val="000000"/>
                          </a:solidFill>
                          <a:latin typeface="Calibri"/>
                        </a:rPr>
                        <a:t>Table 103: Global Market CAGR by Material Type and End User, %, 2026–2036</a:t>
                      </a:r>
                      <a:endParaRPr sz="1050"/>
                    </a:p>
                  </a:txBody>
                  <a:tcPr marL="9525" marR="9525" marT="9525" marB="0" anchor="ctr"/>
                </a:tc>
              </a:tr>
              <a:tr h="170045">
                <a:tc>
                  <a:txBody>
                    <a:bodyPr wrap="square"/>
                    <a:lstStyle/>
                    <a:p>
                      <a:pPr algn="l"/>
                      <a:r>
                        <a:rPr sz="1050" b="0" i="0">
                          <a:solidFill>
                            <a:srgbClr val="000000"/>
                          </a:solidFill>
                          <a:latin typeface="Calibri"/>
                        </a:rPr>
                        <a:t>Table 104: Global Market CAGR by Material Type and Distribution Channel, %, 2026–2036</a:t>
                      </a:r>
                      <a:endParaRPr sz="1050"/>
                    </a:p>
                  </a:txBody>
                  <a:tcPr marL="9525" marR="9525" marT="9525" marB="0" anchor="ctr"/>
                </a:tc>
              </a:tr>
              <a:tr h="170045">
                <a:tc>
                  <a:txBody>
                    <a:bodyPr wrap="square"/>
                    <a:lstStyle/>
                    <a:p>
                      <a:pPr algn="l"/>
                      <a:r>
                        <a:rPr sz="1050" b="0" i="0">
                          <a:solidFill>
                            <a:srgbClr val="000000"/>
                          </a:solidFill>
                          <a:latin typeface="Calibri"/>
                        </a:rPr>
                        <a:t>Table 105: Global Market Value by Region, US$ Mn, 2021–2036</a:t>
                      </a:r>
                      <a:endParaRPr sz="1050"/>
                    </a:p>
                  </a:txBody>
                  <a:tcPr marL="9525" marR="9525" marT="9525" marB="0" anchor="ctr"/>
                </a:tc>
              </a:tr>
              <a:tr h="170045">
                <a:tc>
                  <a:txBody>
                    <a:bodyPr wrap="square"/>
                    <a:lstStyle/>
                    <a:p>
                      <a:pPr algn="l"/>
                      <a:r>
                        <a:rPr sz="1050" b="0" i="0">
                          <a:solidFill>
                            <a:srgbClr val="000000"/>
                          </a:solidFill>
                          <a:latin typeface="Calibri"/>
                        </a:rPr>
                        <a:t>Table 106: Global Market CAGR and Absolute $ Opportunity by Region, %, US$ Mn, 2026–2036</a:t>
                      </a:r>
                      <a:endParaRPr sz="1050"/>
                    </a:p>
                  </a:txBody>
                  <a:tcPr marL="9525" marR="9525" marT="9525" marB="0" anchor="ctr"/>
                </a:tc>
              </a:tr>
              <a:tr h="170045">
                <a:tc>
                  <a:txBody>
                    <a:bodyPr wrap="square"/>
                    <a:lstStyle/>
                    <a:p>
                      <a:pPr algn="l"/>
                      <a:r>
                        <a:rPr sz="1050" b="0" i="0">
                          <a:solidFill>
                            <a:srgbClr val="000000"/>
                          </a:solidFill>
                          <a:latin typeface="Calibri"/>
                        </a:rPr>
                        <a:t>Table 107: Global Market Share and BPS Change by Region, %, 2026 and 2036</a:t>
                      </a:r>
                      <a:endParaRPr sz="1050"/>
                    </a:p>
                  </a:txBody>
                  <a:tcPr marL="9525" marR="9525" marT="9525" marB="0" anchor="ctr"/>
                </a:tc>
              </a:tr>
              <a:tr h="170045">
                <a:tc>
                  <a:txBody>
                    <a:bodyPr wrap="square"/>
                    <a:lstStyle/>
                    <a:p>
                      <a:pPr algn="l"/>
                      <a:r>
                        <a:rPr sz="1050" b="0" i="0">
                          <a:solidFill>
                            <a:srgbClr val="000000"/>
                          </a:solidFill>
                          <a:latin typeface="Calibri"/>
                        </a:rPr>
                        <a:t>Table 108: Global Market Volume by Region, Units, 2021–2036</a:t>
                      </a:r>
                      <a:endParaRPr sz="1050"/>
                    </a:p>
                  </a:txBody>
                  <a:tcPr marL="9525" marR="9525" marT="9525" marB="0" anchor="ctr"/>
                </a:tc>
              </a:tr>
              <a:tr h="170045">
                <a:tc>
                  <a:txBody>
                    <a:bodyPr wrap="square"/>
                    <a:lstStyle/>
                    <a:p>
                      <a:pPr algn="l"/>
                      <a:r>
                        <a:rPr sz="1050" b="0" i="0">
                          <a:solidFill>
                            <a:srgbClr val="000000"/>
                          </a:solidFill>
                          <a:latin typeface="Calibri"/>
                        </a:rPr>
                        <a:t>Table 109: North America Market Value by Country, US$ Mn, 2021–2036</a:t>
                      </a:r>
                      <a:endParaRPr sz="1050"/>
                    </a:p>
                  </a:txBody>
                  <a:tcPr marL="9525" marR="9525" marT="9525" marB="0" anchor="ctr"/>
                </a:tc>
              </a:tr>
              <a:tr h="170045">
                <a:tc>
                  <a:txBody>
                    <a:bodyPr wrap="square"/>
                    <a:lstStyle/>
                    <a:p>
                      <a:pPr algn="l"/>
                      <a:r>
                        <a:rPr sz="1050" b="0" i="0">
                          <a:solidFill>
                            <a:srgbClr val="000000"/>
                          </a:solidFill>
                          <a:latin typeface="Calibri"/>
                        </a:rPr>
                        <a:t>Table 110: Latin America Market Value by Country, US$ Mn, 2021–2036</a:t>
                      </a:r>
                      <a:endParaRPr sz="1050"/>
                    </a:p>
                  </a:txBody>
                  <a:tcPr marL="9525" marR="9525" marT="9525" marB="0" anchor="ctr"/>
                </a:tc>
              </a:tr>
              <a:tr h="170045">
                <a:tc>
                  <a:txBody>
                    <a:bodyPr wrap="square"/>
                    <a:lstStyle/>
                    <a:p>
                      <a:pPr algn="l"/>
                      <a:r>
                        <a:rPr sz="1050" b="0" i="0">
                          <a:solidFill>
                            <a:srgbClr val="000000"/>
                          </a:solidFill>
                          <a:latin typeface="Calibri"/>
                        </a:rPr>
                        <a:t>Table 111: Europe Market Value by Country, US$ Mn, 2021–2036</a:t>
                      </a:r>
                      <a:endParaRPr sz="1050"/>
                    </a:p>
                  </a:txBody>
                  <a:tcPr marL="9525" marR="9525" marT="9525" marB="0" anchor="ctr"/>
                </a:tc>
              </a:tr>
              <a:tr h="170045">
                <a:tc>
                  <a:txBody>
                    <a:bodyPr wrap="square"/>
                    <a:lstStyle/>
                    <a:p>
                      <a:pPr algn="l"/>
                      <a:r>
                        <a:rPr sz="1050" b="0" i="0">
                          <a:solidFill>
                            <a:srgbClr val="000000"/>
                          </a:solidFill>
                          <a:latin typeface="Calibri"/>
                        </a:rPr>
                        <a:t>Table 112: East Asia Market Value by Country, US$ Mn, 2021–2036</a:t>
                      </a:r>
                      <a:endParaRPr sz="1050"/>
                    </a:p>
                  </a:txBody>
                  <a:tcPr marL="9525" marR="9525" marT="9525" marB="0" anchor="ctr"/>
                </a:tc>
              </a:tr>
              <a:tr h="170045">
                <a:tc>
                  <a:txBody>
                    <a:bodyPr wrap="square"/>
                    <a:lstStyle/>
                    <a:p>
                      <a:pPr algn="l"/>
                      <a:r>
                        <a:rPr sz="1050" b="0" i="0">
                          <a:solidFill>
                            <a:srgbClr val="000000"/>
                          </a:solidFill>
                          <a:latin typeface="Calibri"/>
                        </a:rPr>
                        <a:t>Table 113: South Asia &amp; Pacific Market Value by Country, US$ Mn, 2021–2036</a:t>
                      </a:r>
                      <a:endParaRPr sz="1050"/>
                    </a:p>
                  </a:txBody>
                  <a:tcPr marL="9525" marR="9525" marT="9525" marB="0" anchor="ctr"/>
                </a:tc>
              </a:tr>
              <a:tr h="170045">
                <a:tc>
                  <a:txBody>
                    <a:bodyPr wrap="square"/>
                    <a:lstStyle/>
                    <a:p>
                      <a:pPr algn="l"/>
                      <a:r>
                        <a:rPr sz="1050" b="0" i="0">
                          <a:solidFill>
                            <a:srgbClr val="000000"/>
                          </a:solidFill>
                          <a:latin typeface="Calibri"/>
                        </a:rPr>
                        <a:t>Table 114: Middle East &amp; Africa Market Value by Country, US$ Mn, 2021–2036</a:t>
                      </a:r>
                      <a:endParaRPr sz="1050"/>
                    </a:p>
                  </a:txBody>
                  <a:tcPr marL="9525" marR="9525" marT="9525" marB="0" anchor="ctr"/>
                </a:tc>
              </a:tr>
              <a:tr h="333289">
                <a:tc>
                  <a:txBody>
                    <a:bodyPr wrap="square"/>
                    <a:lstStyle/>
                    <a:p>
                      <a:pPr algn="l"/>
                      <a:r>
                        <a:rPr sz="1050" b="0" i="0">
                          <a:solidFill>
                            <a:srgbClr val="000000"/>
                          </a:solidFill>
                          <a:latin typeface="Calibri"/>
                        </a:rPr>
                        <a:t>Table 115: North America Market CAGR and Absolute $ Opportunity by Country, %, US$ Mn, 2026–2036</a:t>
                      </a:r>
                      <a:endParaRPr sz="1050"/>
                    </a:p>
                  </a:txBody>
                  <a:tcPr marL="9525" marR="9525" marT="9525" marB="0" anchor="ctr"/>
                </a:tc>
              </a:tr>
              <a:tr h="170045">
                <a:tc>
                  <a:txBody>
                    <a:bodyPr wrap="square"/>
                    <a:lstStyle/>
                    <a:p>
                      <a:pPr algn="l"/>
                      <a:r>
                        <a:rPr sz="1050" b="0" i="0">
                          <a:solidFill>
                            <a:srgbClr val="000000"/>
                          </a:solidFill>
                          <a:latin typeface="Calibri"/>
                        </a:rPr>
                        <a:t>Table 116: Latin America Market CAGR and Absolute $ Opportunity by Country, %, US$ Mn, 2026–2036</a:t>
                      </a:r>
                      <a:endParaRPr sz="1050"/>
                    </a:p>
                  </a:txBody>
                  <a:tcPr marL="9525" marR="9525" marT="9525" marB="0" anchor="ctr"/>
                </a:tc>
              </a:tr>
              <a:tr h="170045">
                <a:tc>
                  <a:txBody>
                    <a:bodyPr wrap="square"/>
                    <a:lstStyle/>
                    <a:p>
                      <a:pPr algn="l"/>
                      <a:r>
                        <a:rPr sz="1050" b="0" i="0">
                          <a:solidFill>
                            <a:srgbClr val="000000"/>
                          </a:solidFill>
                          <a:latin typeface="Calibri"/>
                        </a:rPr>
                        <a:t>Table 117: Europe Market CAGR and Absolute $ Opportunity by Country, %, US$ Mn, 2026–2036</a:t>
                      </a:r>
                      <a:endParaRPr sz="1050"/>
                    </a:p>
                  </a:txBody>
                  <a:tcPr marL="9525" marR="9525" marT="9525" marB="0" anchor="ctr"/>
                </a:tc>
              </a:tr>
              <a:tr h="170045">
                <a:tc>
                  <a:txBody>
                    <a:bodyPr wrap="square"/>
                    <a:lstStyle/>
                    <a:p>
                      <a:pPr algn="l"/>
                      <a:r>
                        <a:rPr sz="1050" b="0" i="0">
                          <a:solidFill>
                            <a:srgbClr val="000000"/>
                          </a:solidFill>
                          <a:latin typeface="Calibri"/>
                        </a:rPr>
                        <a:t>Table 118: East Asia Market CAGR and Absolute $ Opportunity by Country, %, US$ Mn, 2026–2036</a:t>
                      </a:r>
                      <a:endParaRPr sz="1050"/>
                    </a:p>
                  </a:txBody>
                  <a:tcPr marL="9525" marR="9525" marT="9525" marB="0" anchor="ctr"/>
                </a:tc>
              </a:tr>
              <a:tr h="333289">
                <a:tc>
                  <a:txBody>
                    <a:bodyPr wrap="square"/>
                    <a:lstStyle/>
                    <a:p>
                      <a:pPr algn="l"/>
                      <a:r>
                        <a:rPr sz="1050" b="0" i="0">
                          <a:solidFill>
                            <a:srgbClr val="000000"/>
                          </a:solidFill>
                          <a:latin typeface="Calibri"/>
                        </a:rPr>
                        <a:t>Table 119: South Asia &amp; Pacific Market CAGR and Absolute $ Opportunity by Country, %, US$ Mn, 2026–2036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(3/4)</a:t>
            </a:r>
          </a:p>
        </p:txBody>
      </p:sp>
      <p:graphicFrame>
        <p:nvGraphicFramePr>
          <p:cNvPr id="9" name="FMI Contents Table"/>
          <p:cNvGraphicFramePr>
            <a:graphicFrameLocks noGrp="1"/>
          </p:cNvGraphicFramePr>
          <p:nvPr/>
        </p:nvGraphicFramePr>
        <p:xfrm>
          <a:off x="142875" y="981075"/>
          <a:ext cx="5876925" cy="5257812"/>
        </p:xfrm>
        <a:graphic>
          <a:graphicData uri="http://schemas.openxmlformats.org/drawingml/2006/table">
            <a:tbl>
              <a:tblPr>
                <a:tableStyleId>{3B4B98B0-60AC-42C2-AFA5-B58CD77FA1E5}</a:tableStyleId>
              </a:tblPr>
              <a:tblGrid>
                <a:gridCol w="5876925"/>
              </a:tblGrid>
              <a:tr h="332858">
                <a:tc>
                  <a:txBody>
                    <a:bodyPr wrap="square"/>
                    <a:lstStyle/>
                    <a:p>
                      <a:pPr algn="l"/>
                      <a:r>
                        <a:rPr sz="1050" b="0" i="0">
                          <a:solidFill>
                            <a:srgbClr val="000000"/>
                          </a:solidFill>
                          <a:latin typeface="Calibri"/>
                        </a:rPr>
                        <a:t>Table 120: Middle East &amp; Africa Market CAGR and Absolute $ Opportunity by Country, %, US$ Mn, 2026–2036</a:t>
                      </a:r>
                      <a:endParaRPr sz="1050"/>
                    </a:p>
                  </a:txBody>
                  <a:tcPr marL="9525" marR="9525" marT="9525" marB="0" anchor="ctr"/>
                </a:tc>
              </a:tr>
              <a:tr h="169826">
                <a:tc>
                  <a:txBody>
                    <a:bodyPr wrap="square"/>
                    <a:lstStyle/>
                    <a:p>
                      <a:pPr algn="l"/>
                      <a:r>
                        <a:rPr sz="1050" b="0" i="0">
                          <a:solidFill>
                            <a:srgbClr val="000000"/>
                          </a:solidFill>
                          <a:latin typeface="Calibri"/>
                        </a:rPr>
                        <a:t>Table 121: North America Market Value by Product Type, US$ Mn, 2021–2036</a:t>
                      </a:r>
                      <a:endParaRPr sz="1050"/>
                    </a:p>
                  </a:txBody>
                  <a:tcPr marL="9525" marR="9525" marT="9525" marB="0" anchor="ctr"/>
                </a:tc>
              </a:tr>
              <a:tr h="169826">
                <a:tc>
                  <a:txBody>
                    <a:bodyPr wrap="square"/>
                    <a:lstStyle/>
                    <a:p>
                      <a:pPr algn="l"/>
                      <a:r>
                        <a:rPr sz="1050" b="0" i="0">
                          <a:solidFill>
                            <a:srgbClr val="000000"/>
                          </a:solidFill>
                          <a:latin typeface="Calibri"/>
                        </a:rPr>
                        <a:t>Table 122: Latin America Market Value by Product Type, US$ Mn, 2021–2036</a:t>
                      </a:r>
                      <a:endParaRPr sz="1050"/>
                    </a:p>
                  </a:txBody>
                  <a:tcPr marL="9525" marR="9525" marT="9525" marB="0" anchor="ctr"/>
                </a:tc>
              </a:tr>
              <a:tr h="169826">
                <a:tc>
                  <a:txBody>
                    <a:bodyPr wrap="square"/>
                    <a:lstStyle/>
                    <a:p>
                      <a:pPr algn="l"/>
                      <a:r>
                        <a:rPr sz="1050" b="0" i="0">
                          <a:solidFill>
                            <a:srgbClr val="000000"/>
                          </a:solidFill>
                          <a:latin typeface="Calibri"/>
                        </a:rPr>
                        <a:t>Table 123: Europe Market Value by Product Type, US$ Mn, 2021–2036</a:t>
                      </a:r>
                      <a:endParaRPr sz="1050"/>
                    </a:p>
                  </a:txBody>
                  <a:tcPr marL="9525" marR="9525" marT="9525" marB="0" anchor="ctr"/>
                </a:tc>
              </a:tr>
              <a:tr h="169826">
                <a:tc>
                  <a:txBody>
                    <a:bodyPr wrap="square"/>
                    <a:lstStyle/>
                    <a:p>
                      <a:pPr algn="l"/>
                      <a:r>
                        <a:rPr sz="1050" b="0" i="0">
                          <a:solidFill>
                            <a:srgbClr val="000000"/>
                          </a:solidFill>
                          <a:latin typeface="Calibri"/>
                        </a:rPr>
                        <a:t>Table 124: East Asia Market Value by Product Type, US$ Mn, 2021–2036</a:t>
                      </a:r>
                      <a:endParaRPr sz="1050"/>
                    </a:p>
                  </a:txBody>
                  <a:tcPr marL="9525" marR="9525" marT="9525" marB="0" anchor="ctr"/>
                </a:tc>
              </a:tr>
              <a:tr h="169826">
                <a:tc>
                  <a:txBody>
                    <a:bodyPr wrap="square"/>
                    <a:lstStyle/>
                    <a:p>
                      <a:pPr algn="l"/>
                      <a:r>
                        <a:rPr sz="1050" b="0" i="0">
                          <a:solidFill>
                            <a:srgbClr val="000000"/>
                          </a:solidFill>
                          <a:latin typeface="Calibri"/>
                        </a:rPr>
                        <a:t>Table 125: South Asia &amp; Pacific Market Value by Product Type, US$ Mn, 2021–2036</a:t>
                      </a:r>
                      <a:endParaRPr sz="1050"/>
                    </a:p>
                  </a:txBody>
                  <a:tcPr marL="9525" marR="9525" marT="9525" marB="0" anchor="ctr"/>
                </a:tc>
              </a:tr>
              <a:tr h="169826">
                <a:tc>
                  <a:txBody>
                    <a:bodyPr wrap="square"/>
                    <a:lstStyle/>
                    <a:p>
                      <a:pPr algn="l"/>
                      <a:r>
                        <a:rPr sz="1050" b="0" i="0">
                          <a:solidFill>
                            <a:srgbClr val="000000"/>
                          </a:solidFill>
                          <a:latin typeface="Calibri"/>
                        </a:rPr>
                        <a:t>Table 126: Middle East &amp; Africa Market Value by Product Type, US$ Mn, 2021–2036</a:t>
                      </a:r>
                      <a:endParaRPr sz="1050"/>
                    </a:p>
                  </a:txBody>
                  <a:tcPr marL="9525" marR="9525" marT="9525" marB="0" anchor="ctr"/>
                </a:tc>
              </a:tr>
              <a:tr h="169826">
                <a:tc>
                  <a:txBody>
                    <a:bodyPr wrap="square"/>
                    <a:lstStyle/>
                    <a:p>
                      <a:pPr algn="l"/>
                      <a:r>
                        <a:rPr sz="1050" b="0" i="0">
                          <a:solidFill>
                            <a:srgbClr val="000000"/>
                          </a:solidFill>
                          <a:latin typeface="Calibri"/>
                        </a:rPr>
                        <a:t>Table 127: North America Market Value by Material Type, US$ Mn, 2021–2036</a:t>
                      </a:r>
                      <a:endParaRPr sz="1050"/>
                    </a:p>
                  </a:txBody>
                  <a:tcPr marL="9525" marR="9525" marT="9525" marB="0" anchor="ctr"/>
                </a:tc>
              </a:tr>
              <a:tr h="169826">
                <a:tc>
                  <a:txBody>
                    <a:bodyPr wrap="square"/>
                    <a:lstStyle/>
                    <a:p>
                      <a:pPr algn="l"/>
                      <a:r>
                        <a:rPr sz="1050" b="0" i="0">
                          <a:solidFill>
                            <a:srgbClr val="000000"/>
                          </a:solidFill>
                          <a:latin typeface="Calibri"/>
                        </a:rPr>
                        <a:t>Table 128: Latin America Market Value by Material Type, US$ Mn, 2021–2036</a:t>
                      </a:r>
                      <a:endParaRPr sz="1050"/>
                    </a:p>
                  </a:txBody>
                  <a:tcPr marL="9525" marR="9525" marT="9525" marB="0" anchor="ctr"/>
                </a:tc>
              </a:tr>
              <a:tr h="169826">
                <a:tc>
                  <a:txBody>
                    <a:bodyPr wrap="square"/>
                    <a:lstStyle/>
                    <a:p>
                      <a:pPr algn="l"/>
                      <a:r>
                        <a:rPr sz="1050" b="0" i="0">
                          <a:solidFill>
                            <a:srgbClr val="000000"/>
                          </a:solidFill>
                          <a:latin typeface="Calibri"/>
                        </a:rPr>
                        <a:t>Table 129: Europe Market Value by Material Type, US$ Mn, 2021–2036</a:t>
                      </a:r>
                      <a:endParaRPr sz="1050"/>
                    </a:p>
                  </a:txBody>
                  <a:tcPr marL="9525" marR="9525" marT="9525" marB="0" anchor="ctr"/>
                </a:tc>
              </a:tr>
              <a:tr h="169826">
                <a:tc>
                  <a:txBody>
                    <a:bodyPr wrap="square"/>
                    <a:lstStyle/>
                    <a:p>
                      <a:pPr algn="l"/>
                      <a:r>
                        <a:rPr sz="1050" b="0" i="0">
                          <a:solidFill>
                            <a:srgbClr val="000000"/>
                          </a:solidFill>
                          <a:latin typeface="Calibri"/>
                        </a:rPr>
                        <a:t>Table 130: U.S. Market Value by Product Type, US$ Mn, 2021–2036</a:t>
                      </a:r>
                      <a:endParaRPr sz="1050"/>
                    </a:p>
                  </a:txBody>
                  <a:tcPr marL="9525" marR="9525" marT="9525" marB="0" anchor="ctr"/>
                </a:tc>
              </a:tr>
              <a:tr h="169826">
                <a:tc>
                  <a:txBody>
                    <a:bodyPr wrap="square"/>
                    <a:lstStyle/>
                    <a:p>
                      <a:pPr algn="l"/>
                      <a:r>
                        <a:rPr sz="1050" b="0" i="0">
                          <a:solidFill>
                            <a:srgbClr val="000000"/>
                          </a:solidFill>
                          <a:latin typeface="Calibri"/>
                        </a:rPr>
                        <a:t>Table 131: U.S. Market Historical and Forecast Growth, %, 2021–2036</a:t>
                      </a:r>
                      <a:endParaRPr sz="1050"/>
                    </a:p>
                  </a:txBody>
                  <a:tcPr marL="9525" marR="9525" marT="9525" marB="0" anchor="ctr"/>
                </a:tc>
              </a:tr>
              <a:tr h="169826">
                <a:tc>
                  <a:txBody>
                    <a:bodyPr wrap="square"/>
                    <a:lstStyle/>
                    <a:p>
                      <a:pPr algn="l"/>
                      <a:r>
                        <a:rPr sz="1050" b="0" i="0">
                          <a:solidFill>
                            <a:srgbClr val="000000"/>
                          </a:solidFill>
                          <a:latin typeface="Calibri"/>
                        </a:rPr>
                        <a:t>Table 132: U.S. Market Value by End User, US$ Mn, 2021–2036</a:t>
                      </a:r>
                      <a:endParaRPr sz="1050"/>
                    </a:p>
                  </a:txBody>
                  <a:tcPr marL="9525" marR="9525" marT="9525" marB="0" anchor="ctr"/>
                </a:tc>
              </a:tr>
              <a:tr h="169826">
                <a:tc>
                  <a:txBody>
                    <a:bodyPr wrap="square"/>
                    <a:lstStyle/>
                    <a:p>
                      <a:pPr algn="l"/>
                      <a:r>
                        <a:rPr sz="1050" b="0" i="0">
                          <a:solidFill>
                            <a:srgbClr val="000000"/>
                          </a:solidFill>
                          <a:latin typeface="Calibri"/>
                        </a:rPr>
                        <a:t>Table 133: U.S. Market Share within North America, %, 2025, 2026 and 2036</a:t>
                      </a:r>
                      <a:endParaRPr sz="1050"/>
                    </a:p>
                  </a:txBody>
                  <a:tcPr marL="9525" marR="9525" marT="9525" marB="0" anchor="ctr"/>
                </a:tc>
              </a:tr>
              <a:tr h="169826">
                <a:tc>
                  <a:txBody>
                    <a:bodyPr wrap="square"/>
                    <a:lstStyle/>
                    <a:p>
                      <a:pPr algn="l"/>
                      <a:r>
                        <a:rPr sz="1050" b="0" i="0">
                          <a:solidFill>
                            <a:srgbClr val="000000"/>
                          </a:solidFill>
                          <a:latin typeface="Calibri"/>
                        </a:rPr>
                        <a:t>Table 134: U.S. Market Value by Material Type, US$ Mn, 2021–2036</a:t>
                      </a:r>
                      <a:endParaRPr sz="1050"/>
                    </a:p>
                  </a:txBody>
                  <a:tcPr marL="9525" marR="9525" marT="9525" marB="0" anchor="ctr"/>
                </a:tc>
              </a:tr>
              <a:tr h="169826">
                <a:tc>
                  <a:txBody>
                    <a:bodyPr wrap="square"/>
                    <a:lstStyle/>
                    <a:p>
                      <a:pPr algn="l"/>
                      <a:r>
                        <a:rPr sz="1050" b="0" i="0">
                          <a:solidFill>
                            <a:srgbClr val="000000"/>
                          </a:solidFill>
                          <a:latin typeface="Calibri"/>
                        </a:rPr>
                        <a:t>Table 135: U.S. Market Value by Technology, US$ Mn, 2021–2036</a:t>
                      </a:r>
                      <a:endParaRPr sz="1050"/>
                    </a:p>
                  </a:txBody>
                  <a:tcPr marL="9525" marR="9525" marT="9525" marB="0" anchor="ctr"/>
                </a:tc>
              </a:tr>
              <a:tr h="169826">
                <a:tc>
                  <a:txBody>
                    <a:bodyPr wrap="square"/>
                    <a:lstStyle/>
                    <a:p>
                      <a:pPr algn="l"/>
                      <a:r>
                        <a:rPr sz="1050" b="0" i="0">
                          <a:solidFill>
                            <a:srgbClr val="000000"/>
                          </a:solidFill>
                          <a:latin typeface="Calibri"/>
                        </a:rPr>
                        <a:t>Table 136: U.S. Market Value by Distribution Channel, US$ Mn, 2021–2036</a:t>
                      </a:r>
                      <a:endParaRPr sz="1050"/>
                    </a:p>
                  </a:txBody>
                  <a:tcPr marL="9525" marR="9525" marT="9525" marB="0" anchor="ctr"/>
                </a:tc>
              </a:tr>
              <a:tr h="169826">
                <a:tc>
                  <a:txBody>
                    <a:bodyPr wrap="square"/>
                    <a:lstStyle/>
                    <a:p>
                      <a:pPr algn="l"/>
                      <a:r>
                        <a:rPr sz="1050" b="0" i="0">
                          <a:solidFill>
                            <a:srgbClr val="000000"/>
                          </a:solidFill>
                          <a:latin typeface="Calibri"/>
                        </a:rPr>
                        <a:t>Table 137: U.S. Market Value by Patient Age Group, US$ Mn, 2021–2036</a:t>
                      </a:r>
                      <a:endParaRPr sz="1050"/>
                    </a:p>
                  </a:txBody>
                  <a:tcPr marL="9525" marR="9525" marT="9525" marB="0" anchor="ctr"/>
                </a:tc>
              </a:tr>
              <a:tr h="169826">
                <a:tc>
                  <a:txBody>
                    <a:bodyPr wrap="square"/>
                    <a:lstStyle/>
                    <a:p>
                      <a:pPr algn="l"/>
                      <a:r>
                        <a:rPr sz="1050" b="0" i="0">
                          <a:solidFill>
                            <a:srgbClr val="000000"/>
                          </a:solidFill>
                          <a:latin typeface="Calibri"/>
                        </a:rPr>
                        <a:t>Table 138: Germany Market Value by Product Type, US$ Mn, 2021–2036</a:t>
                      </a:r>
                      <a:endParaRPr sz="1050"/>
                    </a:p>
                  </a:txBody>
                  <a:tcPr marL="9525" marR="9525" marT="9525" marB="0" anchor="ctr"/>
                </a:tc>
              </a:tr>
              <a:tr h="169826">
                <a:tc>
                  <a:txBody>
                    <a:bodyPr wrap="square"/>
                    <a:lstStyle/>
                    <a:p>
                      <a:pPr algn="l"/>
                      <a:r>
                        <a:rPr sz="1050" b="0" i="0">
                          <a:solidFill>
                            <a:srgbClr val="000000"/>
                          </a:solidFill>
                          <a:latin typeface="Calibri"/>
                        </a:rPr>
                        <a:t>Table 139: Germany Market Historical and Forecast Growth, %, 2021–2036</a:t>
                      </a:r>
                      <a:endParaRPr sz="1050"/>
                    </a:p>
                  </a:txBody>
                  <a:tcPr marL="9525" marR="9525" marT="9525" marB="0" anchor="ctr"/>
                </a:tc>
              </a:tr>
              <a:tr h="169826">
                <a:tc>
                  <a:txBody>
                    <a:bodyPr wrap="square"/>
                    <a:lstStyle/>
                    <a:p>
                      <a:pPr algn="l"/>
                      <a:r>
                        <a:rPr sz="1050" b="0" i="0">
                          <a:solidFill>
                            <a:srgbClr val="000000"/>
                          </a:solidFill>
                          <a:latin typeface="Calibri"/>
                        </a:rPr>
                        <a:t>Table 140: Germany Market Value by End User, US$ Mn, 2021–2036</a:t>
                      </a:r>
                      <a:endParaRPr sz="1050"/>
                    </a:p>
                  </a:txBody>
                  <a:tcPr marL="9525" marR="9525" marT="9525" marB="0" anchor="ctr"/>
                </a:tc>
              </a:tr>
              <a:tr h="169826">
                <a:tc>
                  <a:txBody>
                    <a:bodyPr wrap="square"/>
                    <a:lstStyle/>
                    <a:p>
                      <a:pPr algn="l"/>
                      <a:r>
                        <a:rPr sz="1050" b="0" i="0">
                          <a:solidFill>
                            <a:srgbClr val="000000"/>
                          </a:solidFill>
                          <a:latin typeface="Calibri"/>
                        </a:rPr>
                        <a:t>Table 141: Germany Market Share within Europe, %, 2025, 2026 and 2036</a:t>
                      </a:r>
                      <a:endParaRPr sz="1050"/>
                    </a:p>
                  </a:txBody>
                  <a:tcPr marL="9525" marR="9525" marT="9525" marB="0" anchor="ctr"/>
                </a:tc>
              </a:tr>
              <a:tr h="169826">
                <a:tc>
                  <a:txBody>
                    <a:bodyPr wrap="square"/>
                    <a:lstStyle/>
                    <a:p>
                      <a:pPr algn="l"/>
                      <a:r>
                        <a:rPr sz="1050" b="0" i="0">
                          <a:solidFill>
                            <a:srgbClr val="000000"/>
                          </a:solidFill>
                          <a:latin typeface="Calibri"/>
                        </a:rPr>
                        <a:t>Table 142: Germany Market Value by Material Type, US$ Mn, 2021–2036</a:t>
                      </a:r>
                      <a:endParaRPr sz="1050"/>
                    </a:p>
                  </a:txBody>
                  <a:tcPr marL="9525" marR="9525" marT="9525" marB="0" anchor="ctr"/>
                </a:tc>
              </a:tr>
              <a:tr h="169826">
                <a:tc>
                  <a:txBody>
                    <a:bodyPr wrap="square"/>
                    <a:lstStyle/>
                    <a:p>
                      <a:pPr algn="l"/>
                      <a:r>
                        <a:rPr sz="1050" b="0" i="0">
                          <a:solidFill>
                            <a:srgbClr val="000000"/>
                          </a:solidFill>
                          <a:latin typeface="Calibri"/>
                        </a:rPr>
                        <a:t>Table 143: Germany Market Value by Technology, US$ Mn, 2021–2036</a:t>
                      </a:r>
                      <a:endParaRPr sz="1050"/>
                    </a:p>
                  </a:txBody>
                  <a:tcPr marL="9525" marR="9525" marT="9525" marB="0" anchor="ctr"/>
                </a:tc>
              </a:tr>
              <a:tr h="169826">
                <a:tc>
                  <a:txBody>
                    <a:bodyPr wrap="square"/>
                    <a:lstStyle/>
                    <a:p>
                      <a:pPr algn="l"/>
                      <a:r>
                        <a:rPr sz="1050" b="0" i="0">
                          <a:solidFill>
                            <a:srgbClr val="000000"/>
                          </a:solidFill>
                          <a:latin typeface="Calibri"/>
                        </a:rPr>
                        <a:t>Table 144: Germany Market Value by Distribution Channel, US$ Mn, 2021–2036</a:t>
                      </a:r>
                      <a:endParaRPr sz="1050"/>
                    </a:p>
                  </a:txBody>
                  <a:tcPr marL="9525" marR="9525" marT="9525" marB="0" anchor="ctr"/>
                </a:tc>
              </a:tr>
              <a:tr h="169826">
                <a:tc>
                  <a:txBody>
                    <a:bodyPr wrap="square"/>
                    <a:lstStyle/>
                    <a:p>
                      <a:pPr algn="l"/>
                      <a:r>
                        <a:rPr sz="1050" b="0" i="0">
                          <a:solidFill>
                            <a:srgbClr val="000000"/>
                          </a:solidFill>
                          <a:latin typeface="Calibri"/>
                        </a:rPr>
                        <a:t>Table 145: Germany Market Value by Patient Age Group, US$ Mn, 2021–2036</a:t>
                      </a:r>
                      <a:endParaRPr sz="1050"/>
                    </a:p>
                  </a:txBody>
                  <a:tcPr marL="9525" marR="9525" marT="9525" marB="0" anchor="ctr"/>
                </a:tc>
              </a:tr>
              <a:tr h="169826">
                <a:tc>
                  <a:txBody>
                    <a:bodyPr wrap="square"/>
                    <a:lstStyle/>
                    <a:p>
                      <a:pPr algn="l"/>
                      <a:r>
                        <a:rPr sz="1050" b="0" i="0">
                          <a:solidFill>
                            <a:srgbClr val="000000"/>
                          </a:solidFill>
                          <a:latin typeface="Calibri"/>
                        </a:rPr>
                        <a:t>Table 146: Canada Market Value by Product Type, US$ Mn, 2021–2036</a:t>
                      </a:r>
                      <a:endParaRPr sz="1050"/>
                    </a:p>
                  </a:txBody>
                  <a:tcPr marL="9525" marR="9525" marT="9525" marB="0" anchor="ctr"/>
                </a:tc>
              </a:tr>
              <a:tr h="169826">
                <a:tc>
                  <a:txBody>
                    <a:bodyPr wrap="square"/>
                    <a:lstStyle/>
                    <a:p>
                      <a:pPr algn="l"/>
                      <a:r>
                        <a:rPr sz="1050" b="0" i="0">
                          <a:solidFill>
                            <a:srgbClr val="000000"/>
                          </a:solidFill>
                          <a:latin typeface="Calibri"/>
                        </a:rPr>
                        <a:t>Table 147: Canada Market Historical and Forecast Growth, %, 2021–2036</a:t>
                      </a:r>
                      <a:endParaRPr sz="1050"/>
                    </a:p>
                  </a:txBody>
                  <a:tcPr marL="9525" marR="9525" marT="9525" marB="0" anchor="ctr"/>
                </a:tc>
              </a:tr>
              <a:tr h="169826">
                <a:tc>
                  <a:txBody>
                    <a:bodyPr wrap="square"/>
                    <a:lstStyle/>
                    <a:p>
                      <a:pPr algn="l"/>
                      <a:r>
                        <a:rPr sz="1050" b="0" i="0">
                          <a:solidFill>
                            <a:srgbClr val="000000"/>
                          </a:solidFill>
                          <a:latin typeface="Calibri"/>
                        </a:rPr>
                        <a:t>Table 148: Canada Market Value by End User, US$ Mn, 2021–2036</a:t>
                      </a:r>
                      <a:endParaRPr sz="1050"/>
                    </a:p>
                  </a:txBody>
                  <a:tcPr marL="9525" marR="9525" marT="9525" marB="0" anchor="ctr"/>
                </a:tc>
              </a:tr>
              <a:tr h="169826">
                <a:tc>
                  <a:txBody>
                    <a:bodyPr wrap="square"/>
                    <a:lstStyle/>
                    <a:p>
                      <a:pPr algn="l"/>
                      <a:r>
                        <a:rPr sz="1050" b="0" i="0">
                          <a:solidFill>
                            <a:srgbClr val="000000"/>
                          </a:solidFill>
                          <a:latin typeface="Calibri"/>
                        </a:rPr>
                        <a:t>Table 149: Canada Market Share within North America, %, 2025, 2026 and 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12"/>
        </p:xfrm>
        <a:graphic>
          <a:graphicData uri="http://schemas.openxmlformats.org/drawingml/2006/table">
            <a:tbl>
              <a:tblPr>
                <a:tableStyleId>{3B4B98B0-60AC-42C2-AFA5-B58CD77FA1E5}</a:tableStyleId>
              </a:tblPr>
              <a:tblGrid>
                <a:gridCol w="5876925"/>
              </a:tblGrid>
              <a:tr h="169826">
                <a:tc>
                  <a:txBody>
                    <a:bodyPr wrap="square"/>
                    <a:lstStyle/>
                    <a:p>
                      <a:pPr algn="l"/>
                      <a:r>
                        <a:rPr sz="1050" b="0" i="0">
                          <a:solidFill>
                            <a:srgbClr val="000000"/>
                          </a:solidFill>
                          <a:latin typeface="Calibri"/>
                        </a:rPr>
                        <a:t>Table 150: Canada Market Value by Material Type, US$ Mn, 2021–2036</a:t>
                      </a:r>
                      <a:endParaRPr sz="1050"/>
                    </a:p>
                  </a:txBody>
                  <a:tcPr marL="9525" marR="9525" marT="9525" marB="0" anchor="ctr"/>
                </a:tc>
              </a:tr>
              <a:tr h="169826">
                <a:tc>
                  <a:txBody>
                    <a:bodyPr wrap="square"/>
                    <a:lstStyle/>
                    <a:p>
                      <a:pPr algn="l"/>
                      <a:r>
                        <a:rPr sz="1050" b="0" i="0">
                          <a:solidFill>
                            <a:srgbClr val="000000"/>
                          </a:solidFill>
                          <a:latin typeface="Calibri"/>
                        </a:rPr>
                        <a:t>Table 151: Canada Market Value by Technology, US$ Mn, 2021–2036</a:t>
                      </a:r>
                      <a:endParaRPr sz="1050"/>
                    </a:p>
                  </a:txBody>
                  <a:tcPr marL="9525" marR="9525" marT="9525" marB="0" anchor="ctr"/>
                </a:tc>
              </a:tr>
              <a:tr h="169826">
                <a:tc>
                  <a:txBody>
                    <a:bodyPr wrap="square"/>
                    <a:lstStyle/>
                    <a:p>
                      <a:pPr algn="l"/>
                      <a:r>
                        <a:rPr sz="1050" b="0" i="0">
                          <a:solidFill>
                            <a:srgbClr val="000000"/>
                          </a:solidFill>
                          <a:latin typeface="Calibri"/>
                        </a:rPr>
                        <a:t>Table 152: Canada Market Value by Distribution Channel, US$ Mn, 2021–2036</a:t>
                      </a:r>
                      <a:endParaRPr sz="1050"/>
                    </a:p>
                  </a:txBody>
                  <a:tcPr marL="9525" marR="9525" marT="9525" marB="0" anchor="ctr"/>
                </a:tc>
              </a:tr>
              <a:tr h="169826">
                <a:tc>
                  <a:txBody>
                    <a:bodyPr wrap="square"/>
                    <a:lstStyle/>
                    <a:p>
                      <a:pPr algn="l"/>
                      <a:r>
                        <a:rPr sz="1050" b="0" i="0">
                          <a:solidFill>
                            <a:srgbClr val="000000"/>
                          </a:solidFill>
                          <a:latin typeface="Calibri"/>
                        </a:rPr>
                        <a:t>Table 153: Canada Market Value by Patient Age Group, US$ Mn, 2021–2036</a:t>
                      </a:r>
                      <a:endParaRPr sz="1050"/>
                    </a:p>
                  </a:txBody>
                  <a:tcPr marL="9525" marR="9525" marT="9525" marB="0" anchor="ctr"/>
                </a:tc>
              </a:tr>
              <a:tr h="169826">
                <a:tc>
                  <a:txBody>
                    <a:bodyPr wrap="square"/>
                    <a:lstStyle/>
                    <a:p>
                      <a:pPr algn="l"/>
                      <a:r>
                        <a:rPr sz="1050" b="0" i="0">
                          <a:solidFill>
                            <a:srgbClr val="000000"/>
                          </a:solidFill>
                          <a:latin typeface="Calibri"/>
                        </a:rPr>
                        <a:t>Table 154: China Market Value by Product Type, US$ Mn, 2021–2036</a:t>
                      </a:r>
                      <a:endParaRPr sz="1050"/>
                    </a:p>
                  </a:txBody>
                  <a:tcPr marL="9525" marR="9525" marT="9525" marB="0" anchor="ctr"/>
                </a:tc>
              </a:tr>
              <a:tr h="169826">
                <a:tc>
                  <a:txBody>
                    <a:bodyPr wrap="square"/>
                    <a:lstStyle/>
                    <a:p>
                      <a:pPr algn="l"/>
                      <a:r>
                        <a:rPr sz="1050" b="0" i="0">
                          <a:solidFill>
                            <a:srgbClr val="000000"/>
                          </a:solidFill>
                          <a:latin typeface="Calibri"/>
                        </a:rPr>
                        <a:t>Table 155: China Market Historical and Forecast Growth, %, 2021–2036</a:t>
                      </a:r>
                      <a:endParaRPr sz="1050"/>
                    </a:p>
                  </a:txBody>
                  <a:tcPr marL="9525" marR="9525" marT="9525" marB="0" anchor="ctr"/>
                </a:tc>
              </a:tr>
              <a:tr h="169826">
                <a:tc>
                  <a:txBody>
                    <a:bodyPr wrap="square"/>
                    <a:lstStyle/>
                    <a:p>
                      <a:pPr algn="l"/>
                      <a:r>
                        <a:rPr sz="1050" b="0" i="0">
                          <a:solidFill>
                            <a:srgbClr val="000000"/>
                          </a:solidFill>
                          <a:latin typeface="Calibri"/>
                        </a:rPr>
                        <a:t>Table 156: China Market Value by End User, US$ Mn, 2021–2036</a:t>
                      </a:r>
                      <a:endParaRPr sz="1050"/>
                    </a:p>
                  </a:txBody>
                  <a:tcPr marL="9525" marR="9525" marT="9525" marB="0" anchor="ctr"/>
                </a:tc>
              </a:tr>
              <a:tr h="169826">
                <a:tc>
                  <a:txBody>
                    <a:bodyPr wrap="square"/>
                    <a:lstStyle/>
                    <a:p>
                      <a:pPr algn="l"/>
                      <a:r>
                        <a:rPr sz="1050" b="0" i="0">
                          <a:solidFill>
                            <a:srgbClr val="000000"/>
                          </a:solidFill>
                          <a:latin typeface="Calibri"/>
                        </a:rPr>
                        <a:t>Table 157: India Market Value by Product Type, US$ Mn, 2021–2036</a:t>
                      </a:r>
                      <a:endParaRPr sz="1050"/>
                    </a:p>
                  </a:txBody>
                  <a:tcPr marL="9525" marR="9525" marT="9525" marB="0" anchor="ctr"/>
                </a:tc>
              </a:tr>
              <a:tr h="169826">
                <a:tc>
                  <a:txBody>
                    <a:bodyPr wrap="square"/>
                    <a:lstStyle/>
                    <a:p>
                      <a:pPr algn="l"/>
                      <a:r>
                        <a:rPr sz="1050" b="0" i="0">
                          <a:solidFill>
                            <a:srgbClr val="000000"/>
                          </a:solidFill>
                          <a:latin typeface="Calibri"/>
                        </a:rPr>
                        <a:t>Table 158: India Market Historical and Forecast Growth, %, 2021–2036</a:t>
                      </a:r>
                      <a:endParaRPr sz="1050"/>
                    </a:p>
                  </a:txBody>
                  <a:tcPr marL="9525" marR="9525" marT="9525" marB="0" anchor="ctr"/>
                </a:tc>
              </a:tr>
              <a:tr h="169826">
                <a:tc>
                  <a:txBody>
                    <a:bodyPr wrap="square"/>
                    <a:lstStyle/>
                    <a:p>
                      <a:pPr algn="l"/>
                      <a:r>
                        <a:rPr sz="1050" b="0" i="0">
                          <a:solidFill>
                            <a:srgbClr val="000000"/>
                          </a:solidFill>
                          <a:latin typeface="Calibri"/>
                        </a:rPr>
                        <a:t>Table 159: Brazil Market Value by Product Type, US$ Mn, 2021–2036</a:t>
                      </a:r>
                      <a:endParaRPr sz="1050"/>
                    </a:p>
                  </a:txBody>
                  <a:tcPr marL="9525" marR="9525" marT="9525" marB="0" anchor="ctr"/>
                </a:tc>
              </a:tr>
              <a:tr h="169826">
                <a:tc>
                  <a:txBody>
                    <a:bodyPr wrap="square"/>
                    <a:lstStyle/>
                    <a:p>
                      <a:pPr algn="l"/>
                      <a:r>
                        <a:rPr sz="1050" b="0" i="0">
                          <a:solidFill>
                            <a:srgbClr val="000000"/>
                          </a:solidFill>
                          <a:latin typeface="Calibri"/>
                        </a:rPr>
                        <a:t>Table 160: Brazil Market Historical and Forecast Growth, %, 2021–2036</a:t>
                      </a:r>
                      <a:endParaRPr sz="1050"/>
                    </a:p>
                  </a:txBody>
                  <a:tcPr marL="9525" marR="9525" marT="9525" marB="0" anchor="ctr"/>
                </a:tc>
              </a:tr>
              <a:tr h="169826">
                <a:tc>
                  <a:txBody>
                    <a:bodyPr wrap="square"/>
                    <a:lstStyle/>
                    <a:p>
                      <a:pPr algn="l"/>
                      <a:r>
                        <a:rPr sz="1050" b="0" i="0">
                          <a:solidFill>
                            <a:srgbClr val="000000"/>
                          </a:solidFill>
                          <a:latin typeface="Calibri"/>
                        </a:rPr>
                        <a:t>Table 161: U.K. Market Value by Product Type, US$ Mn, 2021–2036</a:t>
                      </a:r>
                      <a:endParaRPr sz="1050"/>
                    </a:p>
                  </a:txBody>
                  <a:tcPr marL="9525" marR="9525" marT="9525" marB="0" anchor="ctr"/>
                </a:tc>
              </a:tr>
              <a:tr h="169826">
                <a:tc>
                  <a:txBody>
                    <a:bodyPr wrap="square"/>
                    <a:lstStyle/>
                    <a:p>
                      <a:pPr algn="l"/>
                      <a:r>
                        <a:rPr sz="1050" b="0" i="0">
                          <a:solidFill>
                            <a:srgbClr val="000000"/>
                          </a:solidFill>
                          <a:latin typeface="Calibri"/>
                        </a:rPr>
                        <a:t>Table 162: U.K. Market Historical and Forecast Growth, %, 2021–2036</a:t>
                      </a:r>
                      <a:endParaRPr sz="1050"/>
                    </a:p>
                  </a:txBody>
                  <a:tcPr marL="9525" marR="9525" marT="9525" marB="0" anchor="ctr"/>
                </a:tc>
              </a:tr>
              <a:tr h="169826">
                <a:tc>
                  <a:txBody>
                    <a:bodyPr wrap="square"/>
                    <a:lstStyle/>
                    <a:p>
                      <a:pPr algn="l"/>
                      <a:r>
                        <a:rPr sz="1050" b="0" i="0">
                          <a:solidFill>
                            <a:srgbClr val="000000"/>
                          </a:solidFill>
                          <a:latin typeface="Calibri"/>
                        </a:rPr>
                        <a:t>Table 163: Market Product Price Comparison by Company and Product Type, US$/Units, 2026</a:t>
                      </a:r>
                      <a:endParaRPr sz="1050"/>
                    </a:p>
                  </a:txBody>
                  <a:tcPr marL="9525" marR="9525" marT="9525" marB="0" anchor="ctr"/>
                </a:tc>
              </a:tr>
              <a:tr h="169826">
                <a:tc>
                  <a:txBody>
                    <a:bodyPr wrap="square"/>
                    <a:lstStyle/>
                    <a:p>
                      <a:pPr algn="l"/>
                      <a:r>
                        <a:rPr sz="1050" b="0" i="0">
                          <a:solidFill>
                            <a:srgbClr val="000000"/>
                          </a:solidFill>
                          <a:latin typeface="Calibri"/>
                        </a:rPr>
                        <a:t>Table 164: Global Market Average Selling Price by Region, US$/Units, 2021–2036</a:t>
                      </a:r>
                      <a:endParaRPr sz="1050"/>
                    </a:p>
                  </a:txBody>
                  <a:tcPr marL="9525" marR="9525" marT="9525" marB="0" anchor="ctr"/>
                </a:tc>
              </a:tr>
              <a:tr h="169826">
                <a:tc>
                  <a:txBody>
                    <a:bodyPr wrap="square"/>
                    <a:lstStyle/>
                    <a:p>
                      <a:pPr algn="l"/>
                      <a:r>
                        <a:rPr sz="1050" b="0" i="0">
                          <a:solidFill>
                            <a:srgbClr val="000000"/>
                          </a:solidFill>
                          <a:latin typeface="Calibri"/>
                        </a:rPr>
                        <a:t>Table 165: Global Market Average Selling Price by Product Type, US$/Units, 2021–2036</a:t>
                      </a:r>
                      <a:endParaRPr sz="1050"/>
                    </a:p>
                  </a:txBody>
                  <a:tcPr marL="9525" marR="9525" marT="9525" marB="0" anchor="ctr"/>
                </a:tc>
              </a:tr>
              <a:tr h="169826">
                <a:tc>
                  <a:txBody>
                    <a:bodyPr wrap="square"/>
                    <a:lstStyle/>
                    <a:p>
                      <a:pPr algn="l"/>
                      <a:r>
                        <a:rPr sz="1050" b="0" i="0">
                          <a:solidFill>
                            <a:srgbClr val="000000"/>
                          </a:solidFill>
                          <a:latin typeface="Calibri"/>
                        </a:rPr>
                        <a:t>Table 166: Global Market Average Selling Price by Material Type, US$/Units, 2021–2036</a:t>
                      </a:r>
                      <a:endParaRPr sz="1050"/>
                    </a:p>
                  </a:txBody>
                  <a:tcPr marL="9525" marR="9525" marT="9525" marB="0" anchor="ctr"/>
                </a:tc>
              </a:tr>
              <a:tr h="169826">
                <a:tc>
                  <a:txBody>
                    <a:bodyPr wrap="square"/>
                    <a:lstStyle/>
                    <a:p>
                      <a:pPr algn="l"/>
                      <a:r>
                        <a:rPr sz="1050" b="0" i="0">
                          <a:solidFill>
                            <a:srgbClr val="000000"/>
                          </a:solidFill>
                          <a:latin typeface="Calibri"/>
                        </a:rPr>
                        <a:t>Table 167: Global Market Average Selling Price by Technology, US$/Units, 2021–2036</a:t>
                      </a:r>
                      <a:endParaRPr sz="1050"/>
                    </a:p>
                  </a:txBody>
                  <a:tcPr marL="9525" marR="9525" marT="9525" marB="0" anchor="ctr"/>
                </a:tc>
              </a:tr>
              <a:tr h="169826">
                <a:tc>
                  <a:txBody>
                    <a:bodyPr wrap="square"/>
                    <a:lstStyle/>
                    <a:p>
                      <a:pPr algn="l"/>
                      <a:r>
                        <a:rPr sz="1050" b="0" i="0">
                          <a:solidFill>
                            <a:srgbClr val="000000"/>
                          </a:solidFill>
                          <a:latin typeface="Calibri"/>
                        </a:rPr>
                        <a:t>Table 168: Global Market Average Selling Price by End User, US$/Units, 2021–2036</a:t>
                      </a:r>
                      <a:endParaRPr sz="1050"/>
                    </a:p>
                  </a:txBody>
                  <a:tcPr marL="9525" marR="9525" marT="9525" marB="0" anchor="ctr"/>
                </a:tc>
              </a:tr>
              <a:tr h="169826">
                <a:tc>
                  <a:txBody>
                    <a:bodyPr wrap="square"/>
                    <a:lstStyle/>
                    <a:p>
                      <a:pPr algn="l"/>
                      <a:r>
                        <a:rPr sz="1050" b="0" i="0">
                          <a:solidFill>
                            <a:srgbClr val="000000"/>
                          </a:solidFill>
                          <a:latin typeface="Calibri"/>
                        </a:rPr>
                        <a:t>Table 169: Global Market Average Selling Price by Distribution Channel, US$/Units, 2021–2036</a:t>
                      </a:r>
                      <a:endParaRPr sz="1050"/>
                    </a:p>
                  </a:txBody>
                  <a:tcPr marL="9525" marR="9525" marT="9525" marB="0" anchor="ctr"/>
                </a:tc>
              </a:tr>
              <a:tr h="169826">
                <a:tc>
                  <a:txBody>
                    <a:bodyPr wrap="square"/>
                    <a:lstStyle/>
                    <a:p>
                      <a:pPr algn="l"/>
                      <a:r>
                        <a:rPr sz="1050" b="0" i="0">
                          <a:solidFill>
                            <a:srgbClr val="000000"/>
                          </a:solidFill>
                          <a:latin typeface="Calibri"/>
                        </a:rPr>
                        <a:t>Table 170: Global Market Average Selling Price by Patient Age Group, US$/Units, 2021–2036</a:t>
                      </a:r>
                      <a:endParaRPr sz="1050"/>
                    </a:p>
                  </a:txBody>
                  <a:tcPr marL="9525" marR="9525" marT="9525" marB="0" anchor="ctr"/>
                </a:tc>
              </a:tr>
              <a:tr h="169826">
                <a:tc>
                  <a:txBody>
                    <a:bodyPr wrap="square"/>
                    <a:lstStyle/>
                    <a:p>
                      <a:pPr algn="l"/>
                      <a:r>
                        <a:rPr sz="1050" b="0" i="0">
                          <a:solidFill>
                            <a:srgbClr val="000000"/>
                          </a:solidFill>
                          <a:latin typeface="Calibri"/>
                        </a:rPr>
                        <a:t>Table 171: Supplier-to-Customer Relationship Mapping in U.S., 2026</a:t>
                      </a:r>
                      <a:endParaRPr sz="1050"/>
                    </a:p>
                  </a:txBody>
                  <a:tcPr marL="9525" marR="9525" marT="9525" marB="0" anchor="ctr"/>
                </a:tc>
              </a:tr>
              <a:tr h="169826">
                <a:tc>
                  <a:txBody>
                    <a:bodyPr wrap="square"/>
                    <a:lstStyle/>
                    <a:p>
                      <a:pPr algn="l"/>
                      <a:r>
                        <a:rPr sz="1050" b="0" i="0">
                          <a:solidFill>
                            <a:srgbClr val="000000"/>
                          </a:solidFill>
                          <a:latin typeface="Calibri"/>
                        </a:rPr>
                        <a:t>Table 172: Global Market Value Chain Participants by Stage, 2026</a:t>
                      </a:r>
                      <a:endParaRPr sz="1050"/>
                    </a:p>
                  </a:txBody>
                  <a:tcPr marL="9525" marR="9525" marT="9525" marB="0" anchor="ctr"/>
                </a:tc>
              </a:tr>
              <a:tr h="169826">
                <a:tc>
                  <a:txBody>
                    <a:bodyPr wrap="square"/>
                    <a:lstStyle/>
                    <a:p>
                      <a:pPr algn="l"/>
                      <a:r>
                        <a:rPr sz="1050" b="0" i="0">
                          <a:solidFill>
                            <a:srgbClr val="000000"/>
                          </a:solidFill>
                          <a:latin typeface="Calibri"/>
                        </a:rPr>
                        <a:t>Table 173: Global Market Margin Analysis by Value Chain Stage, %, 2026</a:t>
                      </a:r>
                      <a:endParaRPr sz="1050"/>
                    </a:p>
                  </a:txBody>
                  <a:tcPr marL="9525" marR="9525" marT="9525" marB="0" anchor="ctr"/>
                </a:tc>
              </a:tr>
              <a:tr h="169826">
                <a:tc>
                  <a:txBody>
                    <a:bodyPr wrap="square"/>
                    <a:lstStyle/>
                    <a:p>
                      <a:pPr algn="l"/>
                      <a:r>
                        <a:rPr sz="1050" b="0" i="0">
                          <a:solidFill>
                            <a:srgbClr val="000000"/>
                          </a:solidFill>
                          <a:latin typeface="Calibri"/>
                        </a:rPr>
                        <a:t>Table 174: Global Market Cost Structure by Component, %, 2026</a:t>
                      </a:r>
                      <a:endParaRPr sz="1050"/>
                    </a:p>
                  </a:txBody>
                  <a:tcPr marL="9525" marR="9525" marT="9525" marB="0" anchor="ctr"/>
                </a:tc>
              </a:tr>
              <a:tr h="169826">
                <a:tc>
                  <a:txBody>
                    <a:bodyPr wrap="square"/>
                    <a:lstStyle/>
                    <a:p>
                      <a:pPr algn="l"/>
                      <a:r>
                        <a:rPr sz="1050" b="0" i="0">
                          <a:solidFill>
                            <a:srgbClr val="000000"/>
                          </a:solidFill>
                          <a:latin typeface="Calibri"/>
                        </a:rPr>
                        <a:t>Table 175: Global Market Import Value by Leading Country, US$ Mn, 2021–2025</a:t>
                      </a:r>
                      <a:endParaRPr sz="1050"/>
                    </a:p>
                  </a:txBody>
                  <a:tcPr marL="9525" marR="9525" marT="9525" marB="0" anchor="ctr"/>
                </a:tc>
              </a:tr>
              <a:tr h="169826">
                <a:tc>
                  <a:txBody>
                    <a:bodyPr wrap="square"/>
                    <a:lstStyle/>
                    <a:p>
                      <a:pPr algn="l"/>
                      <a:r>
                        <a:rPr sz="1050" b="0" i="0">
                          <a:solidFill>
                            <a:srgbClr val="000000"/>
                          </a:solidFill>
                          <a:latin typeface="Calibri"/>
                        </a:rPr>
                        <a:t>Table 176: Global Market Export Value by Leading Country, US$ Mn, 2021–2025</a:t>
                      </a:r>
                      <a:endParaRPr sz="1050"/>
                    </a:p>
                  </a:txBody>
                  <a:tcPr marL="9525" marR="9525" marT="9525" marB="0" anchor="ctr"/>
                </a:tc>
              </a:tr>
              <a:tr h="169826">
                <a:tc>
                  <a:txBody>
                    <a:bodyPr wrap="square"/>
                    <a:lstStyle/>
                    <a:p>
                      <a:pPr algn="l"/>
                      <a:r>
                        <a:rPr sz="1050" b="0" i="0">
                          <a:solidFill>
                            <a:srgbClr val="000000"/>
                          </a:solidFill>
                          <a:latin typeface="Calibri"/>
                        </a:rPr>
                        <a:t>Table 177: Global Market Trade Flow Matrix by Region, US$ Mn, 2025</a:t>
                      </a:r>
                      <a:endParaRPr sz="1050"/>
                    </a:p>
                  </a:txBody>
                  <a:tcPr marL="9525" marR="9525" marT="9525" marB="0" anchor="ctr"/>
                </a:tc>
              </a:tr>
              <a:tr h="169826">
                <a:tc>
                  <a:txBody>
                    <a:bodyPr wrap="square"/>
                    <a:lstStyle/>
                    <a:p>
                      <a:pPr algn="l"/>
                      <a:r>
                        <a:rPr sz="1050" b="0" i="0">
                          <a:solidFill>
                            <a:srgbClr val="000000"/>
                          </a:solidFill>
                          <a:latin typeface="Calibri"/>
                        </a:rPr>
                        <a:t>Table 178: Global Market Pricing Factors and Impact Rating, 2026–2036</a:t>
                      </a:r>
                      <a:endParaRPr sz="1050"/>
                    </a:p>
                  </a:txBody>
                  <a:tcPr marL="9525" marR="9525" marT="9525" marB="0" anchor="ctr"/>
                </a:tc>
              </a:tr>
              <a:tr h="332858">
                <a:tc>
                  <a:txBody>
                    <a:bodyPr wrap="square"/>
                    <a:lstStyle/>
                    <a:p>
                      <a:pPr algn="l"/>
                      <a:r>
                        <a:rPr sz="1050" b="0" i="0">
                          <a:solidFill>
                            <a:srgbClr val="000000"/>
                          </a:solidFill>
                          <a:latin typeface="Calibri"/>
                        </a:rPr>
                        <a:t>Table 179: Leading Removable Partial Dentures Manufacturers: Product Portfolio and Geographic Presence, 2026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(4/4)</a:t>
            </a:r>
          </a:p>
        </p:txBody>
      </p:sp>
      <p:graphicFrame>
        <p:nvGraphicFramePr>
          <p:cNvPr id="9" name="FMI Contents Table"/>
          <p:cNvGraphicFramePr>
            <a:graphicFrameLocks noGrp="1"/>
          </p:cNvGraphicFramePr>
          <p:nvPr/>
        </p:nvGraphicFramePr>
        <p:xfrm>
          <a:off x="142875" y="981075"/>
          <a:ext cx="5876925" cy="3660468"/>
        </p:xfrm>
        <a:graphic>
          <a:graphicData uri="http://schemas.openxmlformats.org/drawingml/2006/table">
            <a:tbl>
              <a:tblPr>
                <a:tableStyleId>{3B4B98B0-60AC-42C2-AFA5-B58CD77FA1E5}</a:tableStyleId>
              </a:tblPr>
              <a:tblGrid>
                <a:gridCol w="5876925"/>
              </a:tblGrid>
              <a:tr h="166688">
                <a:tc>
                  <a:txBody>
                    <a:bodyPr wrap="square"/>
                    <a:lstStyle/>
                    <a:p>
                      <a:pPr algn="l"/>
                      <a:r>
                        <a:rPr sz="1050" b="0" i="0">
                          <a:solidFill>
                            <a:srgbClr val="000000"/>
                          </a:solidFill>
                          <a:latin typeface="Calibri"/>
                        </a:rPr>
                        <a:t>Table 180: Company Revenue from the Global Market, US$ Mn, 2025–2026</a:t>
                      </a:r>
                      <a:endParaRPr sz="1050"/>
                    </a:p>
                  </a:txBody>
                  <a:tcPr marL="9525" marR="9525" marT="9525" marB="0" anchor="ctr"/>
                </a:tc>
              </a:tr>
              <a:tr h="166688">
                <a:tc>
                  <a:txBody>
                    <a:bodyPr wrap="square"/>
                    <a:lstStyle/>
                    <a:p>
                      <a:pPr algn="l"/>
                      <a:r>
                        <a:rPr sz="1050" b="0" i="0">
                          <a:solidFill>
                            <a:srgbClr val="000000"/>
                          </a:solidFill>
                          <a:latin typeface="Calibri"/>
                        </a:rPr>
                        <a:t>Table 181: Company Market Share in the Global Market by Region, %, 2026</a:t>
                      </a:r>
                      <a:endParaRPr sz="1050"/>
                    </a:p>
                  </a:txBody>
                  <a:tcPr marL="9525" marR="9525" marT="9525" marB="0" anchor="ctr"/>
                </a:tc>
              </a:tr>
              <a:tr h="166688">
                <a:tc>
                  <a:txBody>
                    <a:bodyPr wrap="square"/>
                    <a:lstStyle/>
                    <a:p>
                      <a:pPr algn="l"/>
                      <a:r>
                        <a:rPr sz="1050" b="0" i="0">
                          <a:solidFill>
                            <a:srgbClr val="000000"/>
                          </a:solidFill>
                          <a:latin typeface="Calibri"/>
                        </a:rPr>
                        <a:t>Table 182: Global Market Competitive Benchmarking Matrix, 2026</a:t>
                      </a:r>
                      <a:endParaRPr sz="1050"/>
                    </a:p>
                  </a:txBody>
                  <a:tcPr marL="9525" marR="9525" marT="9525" marB="0" anchor="ctr"/>
                </a:tc>
              </a:tr>
              <a:tr h="166688">
                <a:tc>
                  <a:txBody>
                    <a:bodyPr wrap="square"/>
                    <a:lstStyle/>
                    <a:p>
                      <a:pPr algn="l"/>
                      <a:r>
                        <a:rPr sz="1050" b="0" i="0">
                          <a:solidFill>
                            <a:srgbClr val="000000"/>
                          </a:solidFill>
                          <a:latin typeface="Calibri"/>
                        </a:rPr>
                        <a:t>Table 183: Global Market Mergers, Acquisitions and Partnerships, 2021–2026</a:t>
                      </a:r>
                      <a:endParaRPr sz="1050"/>
                    </a:p>
                  </a:txBody>
                  <a:tcPr marL="9525" marR="9525" marT="9525" marB="0" anchor="ctr"/>
                </a:tc>
              </a:tr>
              <a:tr h="166688">
                <a:tc>
                  <a:txBody>
                    <a:bodyPr wrap="square"/>
                    <a:lstStyle/>
                    <a:p>
                      <a:pPr algn="l"/>
                      <a:r>
                        <a:rPr sz="1050" b="0" i="0">
                          <a:solidFill>
                            <a:srgbClr val="000000"/>
                          </a:solidFill>
                          <a:latin typeface="Calibri"/>
                        </a:rPr>
                        <a:t>Table 184: Dentsply Sirona Inc.: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185: Ivoclar Vivadent AG: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186: Kulzer GmbH: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187: GC Corporation: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188: SHOFU INC.: Company Overview, Products and Strategy, 2026</a:t>
                      </a:r>
                      <a:endParaRPr sz="1050"/>
                    </a:p>
                  </a:txBody>
                  <a:tcPr marL="9525" marR="9525" marT="9525" marB="0" anchor="ctr"/>
                </a:tc>
              </a:tr>
              <a:tr h="326708">
                <a:tc>
                  <a:txBody>
                    <a:bodyPr wrap="square"/>
                    <a:lstStyle/>
                    <a:p>
                      <a:pPr algn="l"/>
                      <a:r>
                        <a:rPr sz="1050" b="0" i="0">
                          <a:solidFill>
                            <a:srgbClr val="000000"/>
                          </a:solidFill>
                          <a:latin typeface="Calibri"/>
                        </a:rPr>
                        <a:t>Table 189: VITA Zahnfabrik H. Rauter GmbH &amp; Co. KG: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190: Zhermack S.p.A.: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191: DETAX GmbH: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192: Candulor AG: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193: Ruthinium Dental Manufacturing S.p.A.: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194: Global Market Value by Scenario and Region, US$ Mn, 2026–2036</a:t>
                      </a:r>
                      <a:endParaRPr sz="1050"/>
                    </a:p>
                  </a:txBody>
                  <a:tcPr marL="9525" marR="9525" marT="9525" marB="0" anchor="ctr"/>
                </a:tc>
              </a:tr>
              <a:tr h="166688">
                <a:tc>
                  <a:txBody>
                    <a:bodyPr wrap="square"/>
                    <a:lstStyle/>
                    <a:p>
                      <a:pPr algn="l"/>
                      <a:r>
                        <a:rPr sz="1050" b="0" i="0">
                          <a:solidFill>
                            <a:srgbClr val="000000"/>
                          </a:solidFill>
                          <a:latin typeface="Calibri"/>
                        </a:rPr>
                        <a:t>Table 195: Global Market Key Trends and Impact Rating, 2026–2036</a:t>
                      </a:r>
                      <a:endParaRPr sz="1050"/>
                    </a:p>
                  </a:txBody>
                  <a:tcPr marL="9525" marR="9525" marT="9525" marB="0" anchor="ctr"/>
                </a:tc>
              </a:tr>
              <a:tr h="166688">
                <a:tc>
                  <a:txBody>
                    <a:bodyPr wrap="square"/>
                    <a:lstStyle/>
                    <a:p>
                      <a:pPr algn="l"/>
                      <a:r>
                        <a:rPr sz="1050" b="0" i="0">
                          <a:solidFill>
                            <a:srgbClr val="000000"/>
                          </a:solidFill>
                          <a:latin typeface="Calibri"/>
                        </a:rPr>
                        <a:t>Table 196: Global Market Opportunity Assessment by Product Type, US$ Mn, 2026–2036</a:t>
                      </a:r>
                      <a:endParaRPr sz="1050"/>
                    </a:p>
                  </a:txBody>
                  <a:tcPr marL="9525" marR="9525" marT="9525" marB="0" anchor="ctr"/>
                </a:tc>
              </a:tr>
              <a:tr h="166688">
                <a:tc>
                  <a:txBody>
                    <a:bodyPr wrap="square"/>
                    <a:lstStyle/>
                    <a:p>
                      <a:pPr algn="l"/>
                      <a:r>
                        <a:rPr sz="1050" b="0" i="0">
                          <a:solidFill>
                            <a:srgbClr val="000000"/>
                          </a:solidFill>
                          <a:latin typeface="Calibri"/>
                        </a:rPr>
                        <a:t>Table 197: Global Market Scenario Assumptions, 2026–2036</a:t>
                      </a:r>
                      <a:endParaRPr sz="1050"/>
                    </a:p>
                  </a:txBody>
                  <a:tcPr marL="9525" marR="9525" marT="9525" marB="0" anchor="ctr"/>
                </a:tc>
              </a:tr>
              <a:tr h="166688">
                <a:tc>
                  <a:txBody>
                    <a:bodyPr wrap="square"/>
                    <a:lstStyle/>
                    <a:p>
                      <a:pPr algn="l"/>
                      <a:r>
                        <a:rPr sz="1050" b="0" i="0">
                          <a:solidFill>
                            <a:srgbClr val="000000"/>
                          </a:solidFill>
                          <a:latin typeface="Calibri"/>
                        </a:rPr>
                        <a:t>Table 198: Global Market Client Opportunity Prioritisation by Product Type, 2026–2036</a:t>
                      </a:r>
                      <a:endParaRPr sz="1050"/>
                    </a:p>
                  </a:txBody>
                  <a:tcPr marL="9525" marR="9525" marT="9525" marB="0" anchor="ctr"/>
                </a:tc>
              </a:tr>
              <a:tr h="166688">
                <a:tc>
                  <a:txBody>
                    <a:bodyPr wrap="square"/>
                    <a:lstStyle/>
                    <a:p>
                      <a:pPr algn="l"/>
                      <a:r>
                        <a:rPr sz="1050" b="0" i="0">
                          <a:solidFill>
                            <a:srgbClr val="000000"/>
                          </a:solidFill>
                          <a:latin typeface="Calibri"/>
                        </a:rPr>
                        <a:t>Table 199: Global Market Customer Purchase Criteria by Product Type, 2026</a:t>
                      </a:r>
                      <a:endParaRPr sz="1050"/>
                    </a:p>
                  </a:txBody>
                  <a:tcPr marL="9525" marR="9525" marT="9525" marB="0" anchor="ctr"/>
                </a:tc>
              </a:tr>
              <a:tr h="166688">
                <a:tc>
                  <a:txBody>
                    <a:bodyPr wrap="square"/>
                    <a:lstStyle/>
                    <a:p>
                      <a:pPr algn="l"/>
                      <a:r>
                        <a:rPr sz="1050" b="0" i="0">
                          <a:solidFill>
                            <a:srgbClr val="000000"/>
                          </a:solidFill>
                          <a:latin typeface="Calibri"/>
                        </a:rPr>
                        <a:t>Table 200: Global Market Strategic Recommendations and Action Plan, 2026–2036</a:t>
                      </a:r>
                      <a:endParaRPr sz="1050"/>
                    </a:p>
                  </a:txBody>
                  <a:tcPr marL="9525" marR="9525" marT="9525" marB="0" anchor="ctr"/>
                </a:tc>
              </a:tr>
            </a:tbl>
          </a:graphicData>
        </a:graphic>
      </p:graphicFrame>
      <p:sp>
        <p:nvSpPr>
          <p:cNvPr id="10" name="TextBox 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1701165"/>
            <a:ext cx="7239000" cy="247650"/>
          </a:xfrm>
          <a:prstGeom prst="rect">
            <a:avLst/>
          </a:prstGeom>
          <a:noFill/>
        </p:spPr>
        <p:txBody>
          <a:bodyPr wrap="none" lIns="0" tIns="0">
            <a:spAutoFit/>
          </a:bodyPr>
          <a:lstStyle/>
          <a:p>
            <a:r>
              <a:rPr sz="1400" b="0">
                <a:solidFill>
                  <a:srgbClr val="8FC8F2"/>
                </a:solidFill>
                <a:latin typeface="Calibri"/>
              </a:rPr>
              <a:t>Removable Partial Dentures Market</a:t>
            </a:r>
          </a:p>
        </p:txBody>
      </p:sp>
      <p:sp>
        <p:nvSpPr>
          <p:cNvPr id="6" name="FMI Breaker Title"/>
          <p:cNvSpPr txBox="1"/>
          <p:nvPr/>
        </p:nvSpPr>
        <p:spPr>
          <a:xfrm>
            <a:off x="914400" y="2005965"/>
            <a:ext cx="7239000" cy="514350"/>
          </a:xfrm>
          <a:prstGeom prst="rect">
            <a:avLst/>
          </a:prstGeom>
          <a:noFill/>
        </p:spPr>
        <p:txBody>
          <a:bodyPr wrap="square" lIns="0" rIns="0" tIns="0">
            <a:spAutoFit/>
          </a:bodyPr>
          <a:lstStyle/>
          <a:p>
            <a:r>
              <a:rPr sz="3000" b="1" cap="all" spc="400">
                <a:solidFill>
                  <a:srgbClr val="FFFFFF"/>
                </a:solidFill>
                <a:latin typeface="Calibri"/>
              </a:rPr>
              <a:t>Global Market Outlook</a:t>
            </a:r>
          </a:p>
        </p:txBody>
      </p:sp>
      <p:sp>
        <p:nvSpPr>
          <p:cNvPr id="7" name="TextBox 6"/>
          <p:cNvSpPr txBox="1"/>
          <p:nvPr/>
        </p:nvSpPr>
        <p:spPr>
          <a:xfrm>
            <a:off x="914400" y="2710815"/>
            <a:ext cx="7124700" cy="387477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Global Overview</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Global Market Analysis By Region</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Global Market Analysis By Segments</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Product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Material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Technology</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End User</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Distribution Channel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Patient Age Group</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Cross-sectional Assessment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Product Type x Material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Product Type x Technology</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Global Overview</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Pricing &amp; Price Index</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&amp; Value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Country Outlook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Summary, By Volume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global market volume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(UNITS)</a:t>
            </a:r>
          </a:p>
          <a:p>
            <a:pPr algn="ctr">
              <a:lnSpc>
                <a:spcPct val="95000"/>
              </a:lnSpc>
            </a:pPr>
            <a:r>
              <a:rPr sz="1500" b="1">
                <a:solidFill>
                  <a:srgbClr val="0E72AE"/>
                </a:solidFill>
                <a:latin typeface="Calibri"/>
              </a:rPr>
              <a:t> </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(UNITS)</a:t>
            </a:r>
          </a:p>
          <a:p>
            <a:pPr algn="ctr">
              <a:lnSpc>
                <a:spcPct val="95000"/>
              </a:lnSpc>
            </a:pPr>
            <a:r>
              <a:rPr sz="1500" b="1">
                <a:solidFill>
                  <a:srgbClr val="0E72AE"/>
                </a:solidFill>
                <a:latin typeface="Calibri"/>
              </a:rPr>
              <a:t> </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 </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 </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(Units)</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
            </a:r>
          </a:p>
          <a:p>
            <a:pPr algn="l">
              <a:lnSpc>
                <a:spcPct val="110000"/>
              </a:lnSpc>
              <a:spcBef>
                <a:spcPts val="0"/>
              </a:spcBef>
              <a:spcAft>
                <a:spcPts val="500"/>
              </a:spcAft>
            </a:pPr>
            <a:r>
              <a:rPr sz="1100" b="0">
                <a:solidFill>
                  <a:srgbClr val="2E2E2E"/>
                </a:solidFill>
                <a:latin typeface="Calibri"/>
              </a:rPr>
              <a:t/>
            </a:r>
          </a:p>
        </p:txBody>
      </p:sp>
      <p:sp>
        <p:nvSpPr>
          <p:cNvPr id="25" name="Rounded Rectangle 24"/>
          <p:cNvSpPr/>
          <p:nvPr/>
        </p:nvSpPr>
        <p:spPr>
          <a:xfrm>
            <a:off x="7915275" y="4037375"/>
            <a:ext cx="413385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123100"/>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36122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4446950"/>
            <a:ext cx="3867150" cy="20332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6"/>
          <a:stretch>
            <a:fillRect/>
          </a:stretch>
        </p:blipFill>
        <p:spPr>
          <a:xfrm>
            <a:off x="1502569" y="1250587"/>
            <a:ext cx="157162" cy="228600"/>
          </a:xfrm>
          <a:prstGeom prst="rect">
            <a:avLst/>
          </a:prstGeom>
        </p:spPr>
      </p:pic>
      <p:pic>
        <p:nvPicPr>
          <p:cNvPr id="31" name="Picture 30" descr="lock.png"/>
          <p:cNvPicPr>
            <a:picLocks noChangeAspect="1"/>
          </p:cNvPicPr>
          <p:nvPr/>
        </p:nvPicPr>
        <p:blipFill>
          <a:blip r:embed="rId6"/>
          <a:stretch>
            <a:fillRect/>
          </a:stretch>
        </p:blipFill>
        <p:spPr>
          <a:xfrm>
            <a:off x="4502944" y="1250587"/>
            <a:ext cx="157162" cy="228600"/>
          </a:xfrm>
          <a:prstGeom prst="rect">
            <a:avLst/>
          </a:prstGeom>
        </p:spPr>
      </p:pic>
      <p:pic>
        <p:nvPicPr>
          <p:cNvPr id="32" name="Picture 31" descr="lock.png"/>
          <p:cNvPicPr>
            <a:picLocks noChangeAspect="1"/>
          </p:cNvPicPr>
          <p:nvPr/>
        </p:nvPicPr>
        <p:blipFill>
          <a:blip r:embed="rId6"/>
          <a:stretch>
            <a:fillRect/>
          </a:stretch>
        </p:blipFill>
        <p:spPr>
          <a:xfrm>
            <a:off x="7512844" y="1250587"/>
            <a:ext cx="157162" cy="228600"/>
          </a:xfrm>
          <a:prstGeom prst="rect">
            <a:avLst/>
          </a:prstGeom>
        </p:spPr>
      </p:pic>
      <p:pic>
        <p:nvPicPr>
          <p:cNvPr id="33" name="Picture 32" descr="lock.png"/>
          <p:cNvPicPr>
            <a:picLocks noChangeAspect="1"/>
          </p:cNvPicPr>
          <p:nvPr/>
        </p:nvPicPr>
        <p:blipFill>
          <a:blip r:embed="rId6"/>
          <a:stretch>
            <a:fillRect/>
          </a:stretch>
        </p:blipFill>
        <p:spPr>
          <a:xfrm>
            <a:off x="10522744" y="1250587"/>
            <a:ext cx="157162" cy="228600"/>
          </a:xfrm>
          <a:prstGeom prst="rect">
            <a:avLst/>
          </a:prstGeom>
        </p:spPr>
      </p:pic>
      <p:pic>
        <p:nvPicPr>
          <p:cNvPr id="34" name="Picture 33" descr="lock.png"/>
          <p:cNvPicPr>
            <a:picLocks noChangeAspect="1"/>
          </p:cNvPicPr>
          <p:nvPr/>
        </p:nvPicPr>
        <p:blipFill>
          <a:blip r:embed="rId6"/>
          <a:stretch>
            <a:fillRect/>
          </a:stretch>
        </p:blipFill>
        <p:spPr>
          <a:xfrm>
            <a:off x="3991062" y="5157531"/>
            <a:ext cx="289830" cy="421571"/>
          </a:xfrm>
          <a:prstGeom prst="rect">
            <a:avLst/>
          </a:prstGeom>
        </p:spPr>
      </p:pic>
      <p:sp>
        <p:nvSpPr>
          <p:cNvPr id="35" name="TextBox 34"/>
          <p:cNvSpPr txBox="1"/>
          <p:nvPr/>
        </p:nvSpPr>
        <p:spPr>
          <a:xfrm>
            <a:off x="8048625" y="2046987"/>
            <a:ext cx="3780705" cy="186689"/>
          </a:xfrm>
          <a:prstGeom prst="rect">
            <a:avLst/>
          </a:prstGeom>
          <a:noFill/>
        </p:spPr>
        <p:txBody>
          <a:bodyPr wrap="none" lIns="0" rIns="0" tIns="0" bIns="0">
            <a:spAutoFit/>
          </a:bodyPr>
          <a:lstStyle/>
          <a:p>
            <a:r>
              <a:rPr sz="1100" b="0">
                <a:solidFill>
                  <a:srgbClr val="2E2E2E"/>
                </a:solidFill>
                <a:latin typeface="Calibri"/>
              </a:rPr>
              <a:t>Global removable partial dentures market is projected to register</a:t>
            </a:r>
          </a:p>
        </p:txBody>
      </p:sp>
      <p:pic>
        <p:nvPicPr>
          <p:cNvPr id="36" name="Picture 35" descr="lock.png"/>
          <p:cNvPicPr>
            <a:picLocks noChangeAspect="1"/>
          </p:cNvPicPr>
          <p:nvPr/>
        </p:nvPicPr>
        <p:blipFill>
          <a:blip r:embed="rId6"/>
          <a:stretch>
            <a:fillRect/>
          </a:stretch>
        </p:blipFill>
        <p:spPr>
          <a:xfrm>
            <a:off x="8035157" y="2204848"/>
            <a:ext cx="128699" cy="187198"/>
          </a:xfrm>
          <a:prstGeom prst="rect">
            <a:avLst/>
          </a:prstGeom>
        </p:spPr>
      </p:pic>
      <p:sp>
        <p:nvSpPr>
          <p:cNvPr id="37" name="TextBox 36"/>
          <p:cNvSpPr txBox="1"/>
          <p:nvPr/>
        </p:nvSpPr>
        <p:spPr>
          <a:xfrm>
            <a:off x="8202653" y="2214627"/>
            <a:ext cx="3314948" cy="186689"/>
          </a:xfrm>
          <a:prstGeom prst="rect">
            <a:avLst/>
          </a:prstGeom>
          <a:noFill/>
        </p:spPr>
        <p:txBody>
          <a:bodyPr wrap="none" lIns="0" rIns="0" tIns="0" bIns="0">
            <a:spAutoFit/>
          </a:bodyPr>
          <a:lstStyle/>
          <a:p>
            <a:r>
              <a:rPr sz="1100" b="0">
                <a:solidFill>
                  <a:srgbClr val="2E2E2E"/>
                </a:solidFill>
                <a:latin typeface="Calibri"/>
              </a:rPr>
              <a:t>X increase in volume by the end of forecast period, 2036.</a:t>
            </a:r>
          </a:p>
        </p:txBody>
      </p:sp>
      <p:sp>
        <p:nvSpPr>
          <p:cNvPr id="38" name="TextBox 37"/>
          <p:cNvSpPr txBox="1"/>
          <p:nvPr/>
        </p:nvSpPr>
        <p:spPr>
          <a:xfrm>
            <a:off x="8048625" y="2382267"/>
            <a:ext cx="3416721" cy="186689"/>
          </a:xfrm>
          <a:prstGeom prst="rect">
            <a:avLst/>
          </a:prstGeom>
          <a:noFill/>
        </p:spPr>
        <p:txBody>
          <a:bodyPr wrap="none" lIns="0" rIns="0" tIns="0" bIns="0">
            <a:spAutoFit/>
          </a:bodyPr>
          <a:lstStyle/>
          <a:p>
            <a:r>
              <a:rPr sz="1100" b="0">
                <a:solidFill>
                  <a:srgbClr val="2E2E2E"/>
                </a:solidFill>
                <a:latin typeface="Calibri"/>
              </a:rPr>
              <a:t>Global removable partial dentures market volume stood at</a:t>
            </a:r>
          </a:p>
        </p:txBody>
      </p:sp>
      <p:pic>
        <p:nvPicPr>
          <p:cNvPr id="39" name="Picture 38" descr="lock.png"/>
          <p:cNvPicPr>
            <a:picLocks noChangeAspect="1"/>
          </p:cNvPicPr>
          <p:nvPr/>
        </p:nvPicPr>
        <p:blipFill>
          <a:blip r:embed="rId6"/>
          <a:stretch>
            <a:fillRect/>
          </a:stretch>
        </p:blipFill>
        <p:spPr>
          <a:xfrm>
            <a:off x="11413398" y="2372488"/>
            <a:ext cx="128699" cy="187198"/>
          </a:xfrm>
          <a:prstGeom prst="rect">
            <a:avLst/>
          </a:prstGeom>
        </p:spPr>
      </p:pic>
      <p:sp>
        <p:nvSpPr>
          <p:cNvPr id="40" name="TextBox 39"/>
          <p:cNvSpPr txBox="1"/>
          <p:nvPr/>
        </p:nvSpPr>
        <p:spPr>
          <a:xfrm>
            <a:off x="8048625" y="2549907"/>
            <a:ext cx="2245097" cy="186689"/>
          </a:xfrm>
          <a:prstGeom prst="rect">
            <a:avLst/>
          </a:prstGeom>
          <a:noFill/>
        </p:spPr>
        <p:txBody>
          <a:bodyPr wrap="none" lIns="0" rIns="0" tIns="0" bIns="0">
            <a:spAutoFit/>
          </a:bodyPr>
          <a:lstStyle/>
          <a:p>
            <a:r>
              <a:rPr sz="1100" b="0">
                <a:solidFill>
                  <a:srgbClr val="2E2E2E"/>
                </a:solidFill>
                <a:latin typeface="Calibri"/>
              </a:rPr>
              <a:t>Units in 2025 and is expected to reach</a:t>
            </a:r>
          </a:p>
        </p:txBody>
      </p:sp>
      <p:pic>
        <p:nvPicPr>
          <p:cNvPr id="41" name="Picture 40" descr="lock.png"/>
          <p:cNvPicPr>
            <a:picLocks noChangeAspect="1"/>
          </p:cNvPicPr>
          <p:nvPr/>
        </p:nvPicPr>
        <p:blipFill>
          <a:blip r:embed="rId6"/>
          <a:stretch>
            <a:fillRect/>
          </a:stretch>
        </p:blipFill>
        <p:spPr>
          <a:xfrm>
            <a:off x="10241773" y="2540128"/>
            <a:ext cx="128699" cy="187198"/>
          </a:xfrm>
          <a:prstGeom prst="rect">
            <a:avLst/>
          </a:prstGeom>
        </p:spPr>
      </p:pic>
      <p:sp>
        <p:nvSpPr>
          <p:cNvPr id="42" name="TextBox 41"/>
          <p:cNvSpPr txBox="1"/>
          <p:nvPr/>
        </p:nvSpPr>
        <p:spPr>
          <a:xfrm>
            <a:off x="10409269" y="2549907"/>
            <a:ext cx="1383704" cy="186689"/>
          </a:xfrm>
          <a:prstGeom prst="rect">
            <a:avLst/>
          </a:prstGeom>
          <a:noFill/>
        </p:spPr>
        <p:txBody>
          <a:bodyPr wrap="none" lIns="0" rIns="0" tIns="0" bIns="0">
            <a:spAutoFit/>
          </a:bodyPr>
          <a:lstStyle/>
          <a:p>
            <a:r>
              <a:rPr sz="1100" b="0">
                <a:solidFill>
                  <a:srgbClr val="2E2E2E"/>
                </a:solidFill>
                <a:latin typeface="Calibri"/>
              </a:rPr>
              <a:t>Units by 2036 end, at a</a:t>
            </a:r>
          </a:p>
        </p:txBody>
      </p:sp>
      <p:sp>
        <p:nvSpPr>
          <p:cNvPr id="43" name="TextBox 42"/>
          <p:cNvSpPr txBox="1"/>
          <p:nvPr/>
        </p:nvSpPr>
        <p:spPr>
          <a:xfrm>
            <a:off x="8048625" y="2717547"/>
            <a:ext cx="543304" cy="186689"/>
          </a:xfrm>
          <a:prstGeom prst="rect">
            <a:avLst/>
          </a:prstGeom>
          <a:noFill/>
        </p:spPr>
        <p:txBody>
          <a:bodyPr wrap="none" lIns="0" rIns="0" tIns="0" bIns="0">
            <a:spAutoFit/>
          </a:bodyPr>
          <a:lstStyle/>
          <a:p>
            <a:r>
              <a:rPr sz="1100" b="0">
                <a:solidFill>
                  <a:srgbClr val="2E2E2E"/>
                </a:solidFill>
                <a:latin typeface="Calibri"/>
              </a:rPr>
              <a:t>CAGR of</a:t>
            </a:r>
          </a:p>
        </p:txBody>
      </p:sp>
      <p:pic>
        <p:nvPicPr>
          <p:cNvPr id="44" name="Picture 43" descr="lock.png"/>
          <p:cNvPicPr>
            <a:picLocks noChangeAspect="1"/>
          </p:cNvPicPr>
          <p:nvPr/>
        </p:nvPicPr>
        <p:blipFill>
          <a:blip r:embed="rId6"/>
          <a:stretch>
            <a:fillRect/>
          </a:stretch>
        </p:blipFill>
        <p:spPr>
          <a:xfrm>
            <a:off x="8539981" y="2707768"/>
            <a:ext cx="128699" cy="187198"/>
          </a:xfrm>
          <a:prstGeom prst="rect">
            <a:avLst/>
          </a:prstGeom>
        </p:spPr>
      </p:pic>
      <p:sp>
        <p:nvSpPr>
          <p:cNvPr id="45" name="TextBox 44"/>
          <p:cNvSpPr txBox="1"/>
          <p:nvPr/>
        </p:nvSpPr>
        <p:spPr>
          <a:xfrm>
            <a:off x="8707477" y="2717547"/>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46" name="TextBox 45"/>
          <p:cNvSpPr txBox="1"/>
          <p:nvPr/>
        </p:nvSpPr>
        <p:spPr>
          <a:xfrm>
            <a:off x="8048625" y="2935479"/>
            <a:ext cx="3678386" cy="186689"/>
          </a:xfrm>
          <a:prstGeom prst="rect">
            <a:avLst/>
          </a:prstGeom>
          <a:noFill/>
        </p:spPr>
        <p:txBody>
          <a:bodyPr wrap="none" lIns="0" rIns="0" tIns="0" bIns="0">
            <a:spAutoFit/>
          </a:bodyPr>
          <a:lstStyle/>
          <a:p>
            <a:r>
              <a:rPr sz="1100" b="0">
                <a:solidFill>
                  <a:srgbClr val="2E2E2E"/>
                </a:solidFill>
                <a:latin typeface="Calibri"/>
              </a:rPr>
              <a:t>Value is projected to grow faster than volume over the forecast</a:t>
            </a:r>
          </a:p>
        </p:txBody>
      </p:sp>
      <p:sp>
        <p:nvSpPr>
          <p:cNvPr id="47" name="TextBox 46"/>
          <p:cNvSpPr txBox="1"/>
          <p:nvPr/>
        </p:nvSpPr>
        <p:spPr>
          <a:xfrm>
            <a:off x="8048625" y="3103119"/>
            <a:ext cx="3049736" cy="186689"/>
          </a:xfrm>
          <a:prstGeom prst="rect">
            <a:avLst/>
          </a:prstGeom>
          <a:noFill/>
        </p:spPr>
        <p:txBody>
          <a:bodyPr wrap="none" lIns="0" rIns="0" tIns="0" bIns="0">
            <a:spAutoFit/>
          </a:bodyPr>
          <a:lstStyle/>
          <a:p>
            <a:r>
              <a:rPr sz="1100" b="0">
                <a:solidFill>
                  <a:srgbClr val="2E2E2E"/>
                </a:solidFill>
                <a:latin typeface="Calibri"/>
              </a:rPr>
              <a:t>period, owing to an increase in average selling price.</a:t>
            </a:r>
          </a:p>
        </p:txBody>
      </p:sp>
      <p:sp>
        <p:nvSpPr>
          <p:cNvPr id="48" name="TextBox 47"/>
          <p:cNvSpPr txBox="1"/>
          <p:nvPr/>
        </p:nvSpPr>
        <p:spPr>
          <a:xfrm>
            <a:off x="8048625" y="4456475"/>
            <a:ext cx="2868835" cy="194310"/>
          </a:xfrm>
          <a:prstGeom prst="rect">
            <a:avLst/>
          </a:prstGeom>
          <a:noFill/>
        </p:spPr>
        <p:txBody>
          <a:bodyPr wrap="none" lIns="0" rIns="0" tIns="0" bIns="0">
            <a:spAutoFit/>
          </a:bodyPr>
          <a:lstStyle/>
          <a:p>
            <a:r>
              <a:rPr sz="1150" b="0">
                <a:solidFill>
                  <a:srgbClr val="2E2E2E"/>
                </a:solidFill>
                <a:latin typeface="Calibri"/>
              </a:rPr>
              <a:t>▪ 'South Asia &amp; Pacific' leads regional growth at</a:t>
            </a:r>
          </a:p>
        </p:txBody>
      </p:sp>
      <p:pic>
        <p:nvPicPr>
          <p:cNvPr id="49" name="Picture 48" descr="lock.png"/>
          <p:cNvPicPr>
            <a:picLocks noChangeAspect="1"/>
          </p:cNvPicPr>
          <p:nvPr/>
        </p:nvPicPr>
        <p:blipFill>
          <a:blip r:embed="rId6"/>
          <a:stretch>
            <a:fillRect/>
          </a:stretch>
        </p:blipFill>
        <p:spPr>
          <a:xfrm>
            <a:off x="10866614" y="4446251"/>
            <a:ext cx="134549" cy="195707"/>
          </a:xfrm>
          <a:prstGeom prst="rect">
            <a:avLst/>
          </a:prstGeom>
        </p:spPr>
      </p:pic>
      <p:sp>
        <p:nvSpPr>
          <p:cNvPr id="50" name="TextBox 49"/>
          <p:cNvSpPr txBox="1"/>
          <p:nvPr/>
        </p:nvSpPr>
        <p:spPr>
          <a:xfrm>
            <a:off x="11041723" y="4456475"/>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51" name="TextBox 50"/>
          <p:cNvSpPr txBox="1"/>
          <p:nvPr/>
        </p:nvSpPr>
        <p:spPr>
          <a:xfrm>
            <a:off x="8048625" y="4684312"/>
            <a:ext cx="3571701" cy="194310"/>
          </a:xfrm>
          <a:prstGeom prst="rect">
            <a:avLst/>
          </a:prstGeom>
          <a:noFill/>
        </p:spPr>
        <p:txBody>
          <a:bodyPr wrap="none" lIns="0" rIns="0" tIns="0" bIns="0">
            <a:spAutoFit/>
          </a:bodyPr>
          <a:lstStyle/>
          <a:p>
            <a:r>
              <a:rPr sz="1150" b="0">
                <a:solidFill>
                  <a:srgbClr val="2E2E2E"/>
                </a:solidFill>
                <a:latin typeface="Calibri"/>
              </a:rPr>
              <a:t>▪ Demand concentrates in 'Combination Framework Partial</a:t>
            </a:r>
          </a:p>
        </p:txBody>
      </p:sp>
      <p:sp>
        <p:nvSpPr>
          <p:cNvPr id="52" name="TextBox 51"/>
          <p:cNvSpPr txBox="1"/>
          <p:nvPr/>
        </p:nvSpPr>
        <p:spPr>
          <a:xfrm>
            <a:off x="8048625" y="4859572"/>
            <a:ext cx="1919795" cy="194310"/>
          </a:xfrm>
          <a:prstGeom prst="rect">
            <a:avLst/>
          </a:prstGeom>
          <a:noFill/>
        </p:spPr>
        <p:txBody>
          <a:bodyPr wrap="none" lIns="0" rIns="0" tIns="0" bIns="0">
            <a:spAutoFit/>
          </a:bodyPr>
          <a:lstStyle/>
          <a:p>
            <a:r>
              <a:rPr sz="1150" b="0">
                <a:solidFill>
                  <a:srgbClr val="2E2E2E"/>
                </a:solidFill>
                <a:latin typeface="Calibri"/>
              </a:rPr>
              <a:t>Dentures' within Product Type.</a:t>
            </a:r>
          </a:p>
        </p:txBody>
      </p:sp>
      <p:sp>
        <p:nvSpPr>
          <p:cNvPr id="53" name="TextBox 52"/>
          <p:cNvSpPr txBox="1"/>
          <p:nvPr/>
        </p:nvSpPr>
        <p:spPr>
          <a:xfrm>
            <a:off x="8048625" y="5087410"/>
            <a:ext cx="3291296" cy="194310"/>
          </a:xfrm>
          <a:prstGeom prst="rect">
            <a:avLst/>
          </a:prstGeom>
          <a:noFill/>
        </p:spPr>
        <p:txBody>
          <a:bodyPr wrap="none" lIns="0" rIns="0" tIns="0" bIns="0">
            <a:spAutoFit/>
          </a:bodyPr>
          <a:lstStyle/>
          <a:p>
            <a:r>
              <a:rPr sz="1150" b="0">
                <a:solidFill>
                  <a:srgbClr val="2E2E2E"/>
                </a:solidFill>
                <a:latin typeface="Calibri"/>
              </a:rPr>
              <a:t>▪ Product innovation and premiumisation lifting value.</a:t>
            </a:r>
          </a:p>
        </p:txBody>
      </p:sp>
      <p:sp>
        <p:nvSpPr>
          <p:cNvPr id="54" name="TextBox 53"/>
          <p:cNvSpPr txBox="1"/>
          <p:nvPr/>
        </p:nvSpPr>
        <p:spPr>
          <a:xfrm>
            <a:off x="8048625" y="5315248"/>
            <a:ext cx="2741327" cy="194310"/>
          </a:xfrm>
          <a:prstGeom prst="rect">
            <a:avLst/>
          </a:prstGeom>
          <a:noFill/>
        </p:spPr>
        <p:txBody>
          <a:bodyPr wrap="none" lIns="0" rIns="0" tIns="0" bIns="0">
            <a:spAutoFit/>
          </a:bodyPr>
          <a:lstStyle/>
          <a:p>
            <a:r>
              <a:rPr sz="1150" b="0">
                <a:solidFill>
                  <a:srgbClr val="2E2E2E"/>
                </a:solidFill>
                <a:latin typeface="Calibri"/>
              </a:rPr>
              <a:t>▪ Expanding end-use applications and access.</a:t>
            </a:r>
          </a:p>
        </p:txBody>
      </p:sp>
      <p:sp>
        <p:nvSpPr>
          <p:cNvPr id="55" name="lockshield_17"/>
          <p:cNvSpPr/>
          <p:nvPr/>
        </p:nvSpPr>
        <p:spPr>
          <a:xfrm>
            <a:off x="238125" y="1913637"/>
            <a:ext cx="7505700" cy="2011827"/>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lockshield_20"/>
          <p:cNvSpPr/>
          <p:nvPr/>
        </p:nvSpPr>
        <p:spPr>
          <a:xfrm>
            <a:off x="238125" y="4323125"/>
            <a:ext cx="7505700" cy="217611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Pricing &amp; Regional Price Index</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average price by sub-segment and price variation by region, highlighting where pricing power sits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52895"/>
            <a:ext cx="7696200" cy="2665040"/>
          </a:xfrm>
          <a:prstGeom prst="roundRect">
            <a:avLst>
              <a:gd name="adj" fmla="val 28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11004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by Product Type  ·  range across 2021–2036 (US$/Units)</a:t>
            </a:r>
          </a:p>
        </p:txBody>
      </p:sp>
      <p:cxnSp>
        <p:nvCxnSpPr>
          <p:cNvPr id="13" name="Connector 12"/>
          <p:cNvCxnSpPr/>
          <p:nvPr/>
        </p:nvCxnSpPr>
        <p:spPr>
          <a:xfrm>
            <a:off x="657225" y="333693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657225" y="2865938"/>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657225" y="2394940"/>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657225" y="1923943"/>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7225" y="145294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657225" y="1452945"/>
            <a:ext cx="0" cy="188399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628650" y="333693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628650" y="286593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628650" y="239494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628650" y="192394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628650" y="145294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24" name="FMI Scale tick"/>
          <p:cNvSpPr txBox="1"/>
          <p:nvPr/>
        </p:nvSpPr>
        <p:spPr>
          <a:xfrm>
            <a:off x="219075" y="3270260"/>
            <a:ext cx="381000" cy="133350"/>
          </a:xfrm>
          <a:prstGeom prst="rect">
            <a:avLst/>
          </a:prstGeom>
          <a:noFill/>
        </p:spPr>
        <p:txBody>
          <a:bodyPr wrap="none" lIns="0" rIns="0" tIns="0" bIns="0" anchor="ctr">
            <a:spAutoFit/>
          </a:bodyPr>
          <a:lstStyle/>
          <a:p>
            <a:pPr algn="r"/>
            <a:r>
              <a:rPr sz="1100" b="0">
                <a:solidFill>
                  <a:srgbClr val="6C7A89"/>
                </a:solidFill>
                <a:latin typeface="Calibri"/>
              </a:rPr>
              <a:t/>
            </a:r>
          </a:p>
        </p:txBody>
      </p:sp>
      <p:sp>
        <p:nvSpPr>
          <p:cNvPr id="25" name="FMI Scale tick"/>
          <p:cNvSpPr txBox="1"/>
          <p:nvPr/>
        </p:nvSpPr>
        <p:spPr>
          <a:xfrm>
            <a:off x="219075" y="2328265"/>
            <a:ext cx="381000" cy="133350"/>
          </a:xfrm>
          <a:prstGeom prst="rect">
            <a:avLst/>
          </a:prstGeom>
          <a:noFill/>
        </p:spPr>
        <p:txBody>
          <a:bodyPr wrap="none" lIns="0" rIns="0" tIns="0" bIns="0" anchor="ctr">
            <a:spAutoFit/>
          </a:bodyPr>
          <a:lstStyle/>
          <a:p>
            <a:pPr algn="r"/>
            <a:r>
              <a:rPr sz="1100" b="0">
                <a:solidFill>
                  <a:srgbClr val="6C7A89"/>
                </a:solidFill>
                <a:latin typeface="Calibri"/>
              </a:rPr>
              <a:t/>
            </a:r>
          </a:p>
        </p:txBody>
      </p:sp>
      <p:sp>
        <p:nvSpPr>
          <p:cNvPr id="26" name="FMI Scale tick"/>
          <p:cNvSpPr txBox="1"/>
          <p:nvPr/>
        </p:nvSpPr>
        <p:spPr>
          <a:xfrm>
            <a:off x="219075" y="1386270"/>
            <a:ext cx="381000" cy="133350"/>
          </a:xfrm>
          <a:prstGeom prst="rect">
            <a:avLst/>
          </a:prstGeom>
          <a:noFill/>
        </p:spPr>
        <p:txBody>
          <a:bodyPr wrap="none" lIns="0" rIns="0" tIns="0" bIns="0" anchor="ctr">
            <a:spAutoFit/>
          </a:bodyPr>
          <a:lstStyle/>
          <a:p>
            <a:pPr algn="r"/>
            <a:r>
              <a:rPr sz="1100" b="0">
                <a:solidFill>
                  <a:srgbClr val="6C7A89"/>
                </a:solidFill>
                <a:latin typeface="Calibri"/>
              </a:rPr>
              <a:t/>
            </a:r>
          </a:p>
        </p:txBody>
      </p:sp>
      <p:cxnSp>
        <p:nvCxnSpPr>
          <p:cNvPr id="27" name="Connector 26"/>
          <p:cNvCxnSpPr/>
          <p:nvPr/>
        </p:nvCxnSpPr>
        <p:spPr>
          <a:xfrm flipV="1">
            <a:off x="1533525" y="2341158"/>
            <a:ext cx="0" cy="273628"/>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1402080" y="2614786"/>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1402080" y="2341158"/>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314450" y="2413443"/>
            <a:ext cx="438150" cy="136696"/>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1" name="Connector 30"/>
          <p:cNvCxnSpPr/>
          <p:nvPr/>
        </p:nvCxnSpPr>
        <p:spPr>
          <a:xfrm>
            <a:off x="1314450" y="2483032"/>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657225" y="2188758"/>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cxnSp>
        <p:nvCxnSpPr>
          <p:cNvPr id="33" name="Connector 32"/>
          <p:cNvCxnSpPr/>
          <p:nvPr/>
        </p:nvCxnSpPr>
        <p:spPr>
          <a:xfrm flipV="1">
            <a:off x="3286125" y="2300085"/>
            <a:ext cx="0" cy="269875"/>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3154680" y="2569960"/>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3154680" y="2300085"/>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6" name="Rectangle 35"/>
          <p:cNvSpPr/>
          <p:nvPr/>
        </p:nvSpPr>
        <p:spPr>
          <a:xfrm>
            <a:off x="3067050" y="2371352"/>
            <a:ext cx="438150" cy="134803"/>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7" name="Connector 36"/>
          <p:cNvCxnSpPr/>
          <p:nvPr/>
        </p:nvCxnSpPr>
        <p:spPr>
          <a:xfrm>
            <a:off x="3067050" y="2440008"/>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8" name="TextBox 37"/>
          <p:cNvSpPr txBox="1"/>
          <p:nvPr/>
        </p:nvSpPr>
        <p:spPr>
          <a:xfrm>
            <a:off x="2409825" y="2147685"/>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cxnSp>
        <p:nvCxnSpPr>
          <p:cNvPr id="39" name="Connector 38"/>
          <p:cNvCxnSpPr/>
          <p:nvPr/>
        </p:nvCxnSpPr>
        <p:spPr>
          <a:xfrm flipV="1">
            <a:off x="5038725" y="1670329"/>
            <a:ext cx="0" cy="332467"/>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4907280" y="2002796"/>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4907280" y="167032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2" name="Rectangle 41"/>
          <p:cNvSpPr/>
          <p:nvPr/>
        </p:nvSpPr>
        <p:spPr>
          <a:xfrm>
            <a:off x="4819650" y="1757966"/>
            <a:ext cx="438150" cy="166037"/>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3" name="Connector 42"/>
          <p:cNvCxnSpPr/>
          <p:nvPr/>
        </p:nvCxnSpPr>
        <p:spPr>
          <a:xfrm>
            <a:off x="4819650" y="1842498"/>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4162425" y="1517929"/>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cxnSp>
        <p:nvCxnSpPr>
          <p:cNvPr id="45" name="Connector 44"/>
          <p:cNvCxnSpPr/>
          <p:nvPr/>
        </p:nvCxnSpPr>
        <p:spPr>
          <a:xfrm flipV="1">
            <a:off x="6791325" y="2915559"/>
            <a:ext cx="0" cy="203993"/>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6659880" y="3119552"/>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6659880" y="291555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8" name="Rectangle 47"/>
          <p:cNvSpPr/>
          <p:nvPr/>
        </p:nvSpPr>
        <p:spPr>
          <a:xfrm>
            <a:off x="6572250" y="2969359"/>
            <a:ext cx="438150" cy="101933"/>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9" name="Connector 48"/>
          <p:cNvCxnSpPr/>
          <p:nvPr/>
        </p:nvCxnSpPr>
        <p:spPr>
          <a:xfrm>
            <a:off x="6572250" y="3021224"/>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50" name="TextBox 49"/>
          <p:cNvSpPr txBox="1"/>
          <p:nvPr/>
        </p:nvSpPr>
        <p:spPr>
          <a:xfrm>
            <a:off x="5915025" y="2763159"/>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sp>
        <p:nvSpPr>
          <p:cNvPr id="51" name="TextBox 50"/>
          <p:cNvSpPr txBox="1"/>
          <p:nvPr/>
        </p:nvSpPr>
        <p:spPr>
          <a:xfrm>
            <a:off x="6572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Cast Metal Partial De…</a:t>
            </a:r>
          </a:p>
        </p:txBody>
      </p:sp>
      <p:sp>
        <p:nvSpPr>
          <p:cNvPr id="52" name="TextBox 51"/>
          <p:cNvSpPr txBox="1"/>
          <p:nvPr/>
        </p:nvSpPr>
        <p:spPr>
          <a:xfrm>
            <a:off x="24098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Acrylic Partial Dentu…</a:t>
            </a:r>
          </a:p>
        </p:txBody>
      </p:sp>
      <p:sp>
        <p:nvSpPr>
          <p:cNvPr id="53" name="TextBox 52"/>
          <p:cNvSpPr txBox="1"/>
          <p:nvPr/>
        </p:nvSpPr>
        <p:spPr>
          <a:xfrm>
            <a:off x="41624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Flexible Partial Dent…</a:t>
            </a:r>
          </a:p>
        </p:txBody>
      </p:sp>
      <p:sp>
        <p:nvSpPr>
          <p:cNvPr id="54" name="TextBox 53"/>
          <p:cNvSpPr txBox="1"/>
          <p:nvPr/>
        </p:nvSpPr>
        <p:spPr>
          <a:xfrm>
            <a:off x="59150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Combination Framework…</a:t>
            </a:r>
          </a:p>
        </p:txBody>
      </p:sp>
      <p:sp>
        <p:nvSpPr>
          <p:cNvPr id="55" name="Rounded Rectangle 54"/>
          <p:cNvSpPr/>
          <p:nvPr/>
        </p:nvSpPr>
        <p:spPr>
          <a:xfrm>
            <a:off x="142875" y="3772696"/>
            <a:ext cx="7696200" cy="2783689"/>
          </a:xfrm>
          <a:prstGeom prst="roundRect">
            <a:avLst>
              <a:gd name="adj" fmla="val 27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238125" y="3829846"/>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Region vs Global  ·  2026–2036</a:t>
            </a:r>
          </a:p>
        </p:txBody>
      </p:sp>
      <p:cxnSp>
        <p:nvCxnSpPr>
          <p:cNvPr id="57" name="Connector 56"/>
          <p:cNvCxnSpPr/>
          <p:nvPr/>
        </p:nvCxnSpPr>
        <p:spPr>
          <a:xfrm>
            <a:off x="619125" y="4317332"/>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8" name="Connector 57"/>
          <p:cNvCxnSpPr/>
          <p:nvPr/>
        </p:nvCxnSpPr>
        <p:spPr>
          <a:xfrm>
            <a:off x="619125" y="4728554"/>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9" name="Connector 58"/>
          <p:cNvCxnSpPr/>
          <p:nvPr/>
        </p:nvCxnSpPr>
        <p:spPr>
          <a:xfrm>
            <a:off x="619125" y="513977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60" name="Connector 59"/>
          <p:cNvCxnSpPr/>
          <p:nvPr/>
        </p:nvCxnSpPr>
        <p:spPr>
          <a:xfrm>
            <a:off x="619125" y="5550998"/>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61" name="Connector 60"/>
          <p:cNvCxnSpPr/>
          <p:nvPr/>
        </p:nvCxnSpPr>
        <p:spPr>
          <a:xfrm>
            <a:off x="619125" y="5962220"/>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62" name="Connector 61"/>
          <p:cNvCxnSpPr/>
          <p:nvPr/>
        </p:nvCxnSpPr>
        <p:spPr>
          <a:xfrm>
            <a:off x="619125" y="4317332"/>
            <a:ext cx="0" cy="1644888"/>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3" name="Connector 62"/>
          <p:cNvCxnSpPr/>
          <p:nvPr/>
        </p:nvCxnSpPr>
        <p:spPr>
          <a:xfrm>
            <a:off x="590550" y="4317332"/>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4" name="Connector 63"/>
          <p:cNvCxnSpPr/>
          <p:nvPr/>
        </p:nvCxnSpPr>
        <p:spPr>
          <a:xfrm>
            <a:off x="590550" y="4728554"/>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5" name="Connector 64"/>
          <p:cNvCxnSpPr/>
          <p:nvPr/>
        </p:nvCxnSpPr>
        <p:spPr>
          <a:xfrm>
            <a:off x="590550" y="513977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6" name="Connector 65"/>
          <p:cNvCxnSpPr/>
          <p:nvPr/>
        </p:nvCxnSpPr>
        <p:spPr>
          <a:xfrm>
            <a:off x="590550" y="555099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7" name="Connector 66"/>
          <p:cNvCxnSpPr/>
          <p:nvPr/>
        </p:nvCxnSpPr>
        <p:spPr>
          <a:xfrm>
            <a:off x="590550" y="596222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68" name="FMI Scale tick"/>
          <p:cNvSpPr txBox="1"/>
          <p:nvPr/>
        </p:nvSpPr>
        <p:spPr>
          <a:xfrm>
            <a:off x="219075" y="4250657"/>
            <a:ext cx="361950" cy="133350"/>
          </a:xfrm>
          <a:prstGeom prst="rect">
            <a:avLst/>
          </a:prstGeom>
          <a:noFill/>
        </p:spPr>
        <p:txBody>
          <a:bodyPr wrap="none" lIns="0" rIns="0" tIns="0" bIns="0" anchor="ctr">
            <a:spAutoFit/>
          </a:bodyPr>
          <a:lstStyle/>
          <a:p>
            <a:pPr algn="r"/>
            <a:r>
              <a:rPr sz="1100" b="0">
                <a:solidFill>
                  <a:srgbClr val="6C7A89"/>
                </a:solidFill>
                <a:latin typeface="Calibri"/>
              </a:rPr>
              <a:t>+43%</a:t>
            </a:r>
          </a:p>
        </p:txBody>
      </p:sp>
      <p:sp>
        <p:nvSpPr>
          <p:cNvPr id="69" name="FMI Scale tick"/>
          <p:cNvSpPr txBox="1"/>
          <p:nvPr/>
        </p:nvSpPr>
        <p:spPr>
          <a:xfrm>
            <a:off x="219075" y="4661879"/>
            <a:ext cx="361950" cy="133350"/>
          </a:xfrm>
          <a:prstGeom prst="rect">
            <a:avLst/>
          </a:prstGeom>
          <a:noFill/>
        </p:spPr>
        <p:txBody>
          <a:bodyPr wrap="none" lIns="0" rIns="0" tIns="0" bIns="0" anchor="ctr">
            <a:spAutoFit/>
          </a:bodyPr>
          <a:lstStyle/>
          <a:p>
            <a:pPr algn="r"/>
            <a:r>
              <a:rPr sz="1100" b="0">
                <a:solidFill>
                  <a:srgbClr val="6C7A89"/>
                </a:solidFill>
                <a:latin typeface="Calibri"/>
              </a:rPr>
              <a:t>+22%</a:t>
            </a:r>
          </a:p>
        </p:txBody>
      </p:sp>
      <p:sp>
        <p:nvSpPr>
          <p:cNvPr id="70" name="FMI Scale tick"/>
          <p:cNvSpPr txBox="1"/>
          <p:nvPr/>
        </p:nvSpPr>
        <p:spPr>
          <a:xfrm>
            <a:off x="107156" y="5073101"/>
            <a:ext cx="473869" cy="133350"/>
          </a:xfrm>
          <a:prstGeom prst="rect">
            <a:avLst/>
          </a:prstGeom>
          <a:noFill/>
        </p:spPr>
        <p:txBody>
          <a:bodyPr wrap="square" lIns="28575" rIns="28575" tIns="9525" bIns="9525" anchor="ctr">
            <a:spAutoFit/>
          </a:bodyPr>
          <a:lstStyle/>
          <a:p>
            <a:pPr algn="r"/>
            <a:r>
              <a:rPr sz="1100" b="1">
                <a:solidFill>
                  <a:srgbClr val="6C7A89"/>
                </a:solidFill>
                <a:latin typeface="Calibri"/>
              </a:rPr>
              <a:t>Global</a:t>
            </a:r>
          </a:p>
        </p:txBody>
      </p:sp>
      <p:sp>
        <p:nvSpPr>
          <p:cNvPr id="71" name="FMI Scale tick"/>
          <p:cNvSpPr txBox="1"/>
          <p:nvPr/>
        </p:nvSpPr>
        <p:spPr>
          <a:xfrm>
            <a:off x="219075" y="5484323"/>
            <a:ext cx="361950" cy="133350"/>
          </a:xfrm>
          <a:prstGeom prst="rect">
            <a:avLst/>
          </a:prstGeom>
          <a:noFill/>
        </p:spPr>
        <p:txBody>
          <a:bodyPr wrap="none" lIns="0" rIns="0" tIns="0" bIns="0" anchor="ctr">
            <a:spAutoFit/>
          </a:bodyPr>
          <a:lstStyle/>
          <a:p>
            <a:pPr algn="r"/>
            <a:r>
              <a:rPr sz="1100" b="0">
                <a:solidFill>
                  <a:srgbClr val="6C7A89"/>
                </a:solidFill>
                <a:latin typeface="Calibri"/>
              </a:rPr>
              <a:t>-22%</a:t>
            </a:r>
          </a:p>
        </p:txBody>
      </p:sp>
      <p:sp>
        <p:nvSpPr>
          <p:cNvPr id="72" name="FMI Scale tick"/>
          <p:cNvSpPr txBox="1"/>
          <p:nvPr/>
        </p:nvSpPr>
        <p:spPr>
          <a:xfrm>
            <a:off x="219075" y="5895545"/>
            <a:ext cx="361950" cy="133350"/>
          </a:xfrm>
          <a:prstGeom prst="rect">
            <a:avLst/>
          </a:prstGeom>
          <a:noFill/>
        </p:spPr>
        <p:txBody>
          <a:bodyPr wrap="none" lIns="0" rIns="0" tIns="0" bIns="0" anchor="ctr">
            <a:spAutoFit/>
          </a:bodyPr>
          <a:lstStyle/>
          <a:p>
            <a:pPr algn="r"/>
            <a:r>
              <a:rPr sz="1100" b="0">
                <a:solidFill>
                  <a:srgbClr val="6C7A89"/>
                </a:solidFill>
                <a:latin typeface="Calibri"/>
              </a:rPr>
              <a:t>-43%</a:t>
            </a:r>
          </a:p>
        </p:txBody>
      </p:sp>
      <p:cxnSp>
        <p:nvCxnSpPr>
          <p:cNvPr id="73" name="Connector 72"/>
          <p:cNvCxnSpPr/>
          <p:nvPr/>
        </p:nvCxnSpPr>
        <p:spPr>
          <a:xfrm>
            <a:off x="619125" y="5139776"/>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74" name="Rectangle 73"/>
          <p:cNvSpPr/>
          <p:nvPr/>
        </p:nvSpPr>
        <p:spPr>
          <a:xfrm>
            <a:off x="977900" y="4429085"/>
            <a:ext cx="457200" cy="710691"/>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FMI Data Label"/>
          <p:cNvSpPr txBox="1"/>
          <p:nvPr/>
        </p:nvSpPr>
        <p:spPr>
          <a:xfrm>
            <a:off x="619125" y="4286210"/>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76" name="Rectangle 75"/>
          <p:cNvSpPr/>
          <p:nvPr/>
        </p:nvSpPr>
        <p:spPr>
          <a:xfrm>
            <a:off x="2152650" y="5139776"/>
            <a:ext cx="457200" cy="75078"/>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FMI Data Label"/>
          <p:cNvSpPr txBox="1"/>
          <p:nvPr/>
        </p:nvSpPr>
        <p:spPr>
          <a:xfrm>
            <a:off x="1793875" y="5224379"/>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78" name="Rectangle 77"/>
          <p:cNvSpPr/>
          <p:nvPr/>
        </p:nvSpPr>
        <p:spPr>
          <a:xfrm>
            <a:off x="3327400" y="4715430"/>
            <a:ext cx="457200" cy="424346"/>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FMI Data Label"/>
          <p:cNvSpPr txBox="1"/>
          <p:nvPr/>
        </p:nvSpPr>
        <p:spPr>
          <a:xfrm>
            <a:off x="2968625" y="4572555"/>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80" name="Rectangle 79"/>
          <p:cNvSpPr/>
          <p:nvPr/>
        </p:nvSpPr>
        <p:spPr>
          <a:xfrm>
            <a:off x="4502150" y="5139776"/>
            <a:ext cx="457200" cy="542874"/>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FMI Data Label"/>
          <p:cNvSpPr txBox="1"/>
          <p:nvPr/>
        </p:nvSpPr>
        <p:spPr>
          <a:xfrm>
            <a:off x="4143375" y="5692175"/>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82" name="Rectangle 81"/>
          <p:cNvSpPr/>
          <p:nvPr/>
        </p:nvSpPr>
        <p:spPr>
          <a:xfrm>
            <a:off x="5676900" y="5139776"/>
            <a:ext cx="457200" cy="716318"/>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FMI Data Label"/>
          <p:cNvSpPr txBox="1"/>
          <p:nvPr/>
        </p:nvSpPr>
        <p:spPr>
          <a:xfrm>
            <a:off x="5318125" y="5865619"/>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84" name="Rectangle 83"/>
          <p:cNvSpPr/>
          <p:nvPr/>
        </p:nvSpPr>
        <p:spPr>
          <a:xfrm>
            <a:off x="6851650" y="5139776"/>
            <a:ext cx="457200" cy="136924"/>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FMI Data Label"/>
          <p:cNvSpPr txBox="1"/>
          <p:nvPr/>
        </p:nvSpPr>
        <p:spPr>
          <a:xfrm>
            <a:off x="6492875" y="5286225"/>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86" name="TextBox 85"/>
          <p:cNvSpPr txBox="1"/>
          <p:nvPr/>
        </p:nvSpPr>
        <p:spPr>
          <a:xfrm>
            <a:off x="6191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North America</a:t>
            </a:r>
          </a:p>
        </p:txBody>
      </p:sp>
      <p:sp>
        <p:nvSpPr>
          <p:cNvPr id="87" name="TextBox 86"/>
          <p:cNvSpPr txBox="1"/>
          <p:nvPr/>
        </p:nvSpPr>
        <p:spPr>
          <a:xfrm>
            <a:off x="17938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Latin America</a:t>
            </a:r>
          </a:p>
        </p:txBody>
      </p:sp>
      <p:sp>
        <p:nvSpPr>
          <p:cNvPr id="88" name="TextBox 87"/>
          <p:cNvSpPr txBox="1"/>
          <p:nvPr/>
        </p:nvSpPr>
        <p:spPr>
          <a:xfrm>
            <a:off x="29686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Europe</a:t>
            </a:r>
          </a:p>
        </p:txBody>
      </p:sp>
      <p:sp>
        <p:nvSpPr>
          <p:cNvPr id="89" name="TextBox 88"/>
          <p:cNvSpPr txBox="1"/>
          <p:nvPr/>
        </p:nvSpPr>
        <p:spPr>
          <a:xfrm>
            <a:off x="41433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East Asia</a:t>
            </a:r>
          </a:p>
        </p:txBody>
      </p:sp>
      <p:sp>
        <p:nvSpPr>
          <p:cNvPr id="90" name="TextBox 89"/>
          <p:cNvSpPr txBox="1"/>
          <p:nvPr/>
        </p:nvSpPr>
        <p:spPr>
          <a:xfrm>
            <a:off x="53181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South Asia &amp; Pacific</a:t>
            </a:r>
          </a:p>
        </p:txBody>
      </p:sp>
      <p:sp>
        <p:nvSpPr>
          <p:cNvPr id="91" name="TextBox 90"/>
          <p:cNvSpPr txBox="1"/>
          <p:nvPr/>
        </p:nvSpPr>
        <p:spPr>
          <a:xfrm>
            <a:off x="64928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Middle East &amp; Africa</a:t>
            </a:r>
          </a:p>
        </p:txBody>
      </p:sp>
      <p:sp>
        <p:nvSpPr>
          <p:cNvPr id="92" name="Rounded Rectangle 91"/>
          <p:cNvSpPr/>
          <p:nvPr/>
        </p:nvSpPr>
        <p:spPr>
          <a:xfrm>
            <a:off x="7915275" y="1052895"/>
            <a:ext cx="4133850" cy="550349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8048625" y="1138620"/>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94" name="Rectangle 93"/>
          <p:cNvSpPr/>
          <p:nvPr/>
        </p:nvSpPr>
        <p:spPr>
          <a:xfrm>
            <a:off x="8048625" y="137674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TextBox 94"/>
          <p:cNvSpPr txBox="1"/>
          <p:nvPr/>
        </p:nvSpPr>
        <p:spPr>
          <a:xfrm>
            <a:off x="8048625" y="1462470"/>
            <a:ext cx="3867150" cy="501771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96" name="TextBox 9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97" name="Picture 96" descr="lock.png"/>
          <p:cNvPicPr>
            <a:picLocks noChangeAspect="1"/>
          </p:cNvPicPr>
          <p:nvPr/>
        </p:nvPicPr>
        <p:blipFill>
          <a:blip r:embed="rId4"/>
          <a:stretch>
            <a:fillRect/>
          </a:stretch>
        </p:blipFill>
        <p:spPr>
          <a:xfrm>
            <a:off x="1469175" y="2161834"/>
            <a:ext cx="128699" cy="187198"/>
          </a:xfrm>
          <a:prstGeom prst="rect">
            <a:avLst/>
          </a:prstGeom>
        </p:spPr>
      </p:pic>
      <p:pic>
        <p:nvPicPr>
          <p:cNvPr id="98" name="Picture 97" descr="lock.png"/>
          <p:cNvPicPr>
            <a:picLocks noChangeAspect="1"/>
          </p:cNvPicPr>
          <p:nvPr/>
        </p:nvPicPr>
        <p:blipFill>
          <a:blip r:embed="rId4"/>
          <a:stretch>
            <a:fillRect/>
          </a:stretch>
        </p:blipFill>
        <p:spPr>
          <a:xfrm>
            <a:off x="3221775" y="2120761"/>
            <a:ext cx="128699" cy="187198"/>
          </a:xfrm>
          <a:prstGeom prst="rect">
            <a:avLst/>
          </a:prstGeom>
        </p:spPr>
      </p:pic>
      <p:pic>
        <p:nvPicPr>
          <p:cNvPr id="99" name="Picture 98" descr="lock.png"/>
          <p:cNvPicPr>
            <a:picLocks noChangeAspect="1"/>
          </p:cNvPicPr>
          <p:nvPr/>
        </p:nvPicPr>
        <p:blipFill>
          <a:blip r:embed="rId4"/>
          <a:stretch>
            <a:fillRect/>
          </a:stretch>
        </p:blipFill>
        <p:spPr>
          <a:xfrm>
            <a:off x="4974375" y="1491005"/>
            <a:ext cx="128699" cy="187198"/>
          </a:xfrm>
          <a:prstGeom prst="rect">
            <a:avLst/>
          </a:prstGeom>
        </p:spPr>
      </p:pic>
      <p:pic>
        <p:nvPicPr>
          <p:cNvPr id="100" name="Picture 99" descr="lock.png"/>
          <p:cNvPicPr>
            <a:picLocks noChangeAspect="1"/>
          </p:cNvPicPr>
          <p:nvPr/>
        </p:nvPicPr>
        <p:blipFill>
          <a:blip r:embed="rId4"/>
          <a:stretch>
            <a:fillRect/>
          </a:stretch>
        </p:blipFill>
        <p:spPr>
          <a:xfrm>
            <a:off x="6726975" y="2736235"/>
            <a:ext cx="128699" cy="187198"/>
          </a:xfrm>
          <a:prstGeom prst="rect">
            <a:avLst/>
          </a:prstGeom>
        </p:spPr>
      </p:pic>
      <p:pic>
        <p:nvPicPr>
          <p:cNvPr id="101" name="Picture 100" descr="lock.png"/>
          <p:cNvPicPr>
            <a:picLocks noChangeAspect="1"/>
          </p:cNvPicPr>
          <p:nvPr/>
        </p:nvPicPr>
        <p:blipFill>
          <a:blip r:embed="rId4"/>
          <a:stretch>
            <a:fillRect/>
          </a:stretch>
        </p:blipFill>
        <p:spPr>
          <a:xfrm>
            <a:off x="1142150" y="4259286"/>
            <a:ext cx="128699" cy="187198"/>
          </a:xfrm>
          <a:prstGeom prst="rect">
            <a:avLst/>
          </a:prstGeom>
        </p:spPr>
      </p:pic>
      <p:pic>
        <p:nvPicPr>
          <p:cNvPr id="102" name="Picture 101" descr="lock.png"/>
          <p:cNvPicPr>
            <a:picLocks noChangeAspect="1"/>
          </p:cNvPicPr>
          <p:nvPr/>
        </p:nvPicPr>
        <p:blipFill>
          <a:blip r:embed="rId4"/>
          <a:stretch>
            <a:fillRect/>
          </a:stretch>
        </p:blipFill>
        <p:spPr>
          <a:xfrm>
            <a:off x="2316900" y="5197454"/>
            <a:ext cx="128699" cy="187198"/>
          </a:xfrm>
          <a:prstGeom prst="rect">
            <a:avLst/>
          </a:prstGeom>
        </p:spPr>
      </p:pic>
      <p:pic>
        <p:nvPicPr>
          <p:cNvPr id="103" name="Picture 102" descr="lock.png"/>
          <p:cNvPicPr>
            <a:picLocks noChangeAspect="1"/>
          </p:cNvPicPr>
          <p:nvPr/>
        </p:nvPicPr>
        <p:blipFill>
          <a:blip r:embed="rId4"/>
          <a:stretch>
            <a:fillRect/>
          </a:stretch>
        </p:blipFill>
        <p:spPr>
          <a:xfrm>
            <a:off x="3491650" y="4545631"/>
            <a:ext cx="128699" cy="187198"/>
          </a:xfrm>
          <a:prstGeom prst="rect">
            <a:avLst/>
          </a:prstGeom>
        </p:spPr>
      </p:pic>
      <p:pic>
        <p:nvPicPr>
          <p:cNvPr id="104" name="Picture 103" descr="lock.png"/>
          <p:cNvPicPr>
            <a:picLocks noChangeAspect="1"/>
          </p:cNvPicPr>
          <p:nvPr/>
        </p:nvPicPr>
        <p:blipFill>
          <a:blip r:embed="rId4"/>
          <a:stretch>
            <a:fillRect/>
          </a:stretch>
        </p:blipFill>
        <p:spPr>
          <a:xfrm>
            <a:off x="4666400" y="5665250"/>
            <a:ext cx="128699" cy="187198"/>
          </a:xfrm>
          <a:prstGeom prst="rect">
            <a:avLst/>
          </a:prstGeom>
        </p:spPr>
      </p:pic>
      <p:pic>
        <p:nvPicPr>
          <p:cNvPr id="105" name="Picture 104" descr="lock.png"/>
          <p:cNvPicPr>
            <a:picLocks noChangeAspect="1"/>
          </p:cNvPicPr>
          <p:nvPr/>
        </p:nvPicPr>
        <p:blipFill>
          <a:blip r:embed="rId4"/>
          <a:stretch>
            <a:fillRect/>
          </a:stretch>
        </p:blipFill>
        <p:spPr>
          <a:xfrm>
            <a:off x="5841150" y="5838694"/>
            <a:ext cx="128699" cy="187198"/>
          </a:xfrm>
          <a:prstGeom prst="rect">
            <a:avLst/>
          </a:prstGeom>
        </p:spPr>
      </p:pic>
      <p:pic>
        <p:nvPicPr>
          <p:cNvPr id="106" name="Picture 105" descr="lock.png"/>
          <p:cNvPicPr>
            <a:picLocks noChangeAspect="1"/>
          </p:cNvPicPr>
          <p:nvPr/>
        </p:nvPicPr>
        <p:blipFill>
          <a:blip r:embed="rId4"/>
          <a:stretch>
            <a:fillRect/>
          </a:stretch>
        </p:blipFill>
        <p:spPr>
          <a:xfrm>
            <a:off x="7015900" y="5259301"/>
            <a:ext cx="128699" cy="187198"/>
          </a:xfrm>
          <a:prstGeom prst="rect">
            <a:avLst/>
          </a:prstGeom>
        </p:spPr>
      </p:pic>
      <p:sp>
        <p:nvSpPr>
          <p:cNvPr id="107" name="TextBox 106"/>
          <p:cNvSpPr txBox="1"/>
          <p:nvPr/>
        </p:nvSpPr>
        <p:spPr>
          <a:xfrm>
            <a:off x="8048625" y="1471995"/>
            <a:ext cx="3781933" cy="194310"/>
          </a:xfrm>
          <a:prstGeom prst="rect">
            <a:avLst/>
          </a:prstGeom>
          <a:noFill/>
        </p:spPr>
        <p:txBody>
          <a:bodyPr wrap="none" lIns="0" rIns="0" tIns="0" bIns="0">
            <a:spAutoFit/>
          </a:bodyPr>
          <a:lstStyle/>
          <a:p>
            <a:r>
              <a:rPr sz="1150" b="0">
                <a:solidFill>
                  <a:srgbClr val="2E2E2E"/>
                </a:solidFill>
                <a:latin typeface="Calibri"/>
              </a:rPr>
              <a:t>Flexible partial dentures segment is expected to command the</a:t>
            </a:r>
          </a:p>
        </p:txBody>
      </p:sp>
      <p:sp>
        <p:nvSpPr>
          <p:cNvPr id="108" name="TextBox 107"/>
          <p:cNvSpPr txBox="1"/>
          <p:nvPr/>
        </p:nvSpPr>
        <p:spPr>
          <a:xfrm>
            <a:off x="8048625" y="1647255"/>
            <a:ext cx="1766899" cy="194310"/>
          </a:xfrm>
          <a:prstGeom prst="rect">
            <a:avLst/>
          </a:prstGeom>
          <a:noFill/>
        </p:spPr>
        <p:txBody>
          <a:bodyPr wrap="none" lIns="0" rIns="0" tIns="0" bIns="0">
            <a:spAutoFit/>
          </a:bodyPr>
          <a:lstStyle/>
          <a:p>
            <a:r>
              <a:rPr sz="1150" b="0">
                <a:solidFill>
                  <a:srgbClr val="2E2E2E"/>
                </a:solidFill>
                <a:latin typeface="Calibri"/>
              </a:rPr>
              <a:t>highest average price of US$</a:t>
            </a:r>
          </a:p>
        </p:txBody>
      </p:sp>
      <p:pic>
        <p:nvPicPr>
          <p:cNvPr id="109" name="Picture 108" descr="lock.png"/>
          <p:cNvPicPr>
            <a:picLocks noChangeAspect="1"/>
          </p:cNvPicPr>
          <p:nvPr/>
        </p:nvPicPr>
        <p:blipFill>
          <a:blip r:embed="rId4"/>
          <a:stretch>
            <a:fillRect/>
          </a:stretch>
        </p:blipFill>
        <p:spPr>
          <a:xfrm>
            <a:off x="9764678" y="1637031"/>
            <a:ext cx="134549" cy="195707"/>
          </a:xfrm>
          <a:prstGeom prst="rect">
            <a:avLst/>
          </a:prstGeom>
        </p:spPr>
      </p:pic>
      <p:sp>
        <p:nvSpPr>
          <p:cNvPr id="110" name="TextBox 109"/>
          <p:cNvSpPr txBox="1"/>
          <p:nvPr/>
        </p:nvSpPr>
        <p:spPr>
          <a:xfrm>
            <a:off x="9939788" y="1647255"/>
            <a:ext cx="1591713" cy="194310"/>
          </a:xfrm>
          <a:prstGeom prst="rect">
            <a:avLst/>
          </a:prstGeom>
          <a:noFill/>
        </p:spPr>
        <p:txBody>
          <a:bodyPr wrap="none" lIns="0" rIns="0" tIns="0" bIns="0">
            <a:spAutoFit/>
          </a:bodyPr>
          <a:lstStyle/>
          <a:p>
            <a:r>
              <a:rPr sz="1150" b="0">
                <a:solidFill>
                  <a:srgbClr val="2E2E2E"/>
                </a:solidFill>
                <a:latin typeface="Calibri"/>
              </a:rPr>
              <a:t>per Unit in 2036. Average</a:t>
            </a:r>
          </a:p>
        </p:txBody>
      </p:sp>
      <p:sp>
        <p:nvSpPr>
          <p:cNvPr id="111" name="TextBox 110"/>
          <p:cNvSpPr txBox="1"/>
          <p:nvPr/>
        </p:nvSpPr>
        <p:spPr>
          <a:xfrm>
            <a:off x="8048625" y="1822515"/>
            <a:ext cx="3763391" cy="194310"/>
          </a:xfrm>
          <a:prstGeom prst="rect">
            <a:avLst/>
          </a:prstGeom>
          <a:noFill/>
        </p:spPr>
        <p:txBody>
          <a:bodyPr wrap="none" lIns="0" rIns="0" tIns="0" bIns="0">
            <a:spAutoFit/>
          </a:bodyPr>
          <a:lstStyle/>
          <a:p>
            <a:r>
              <a:rPr sz="1150" b="0">
                <a:solidFill>
                  <a:srgbClr val="2E2E2E"/>
                </a:solidFill>
                <a:latin typeface="Calibri"/>
              </a:rPr>
              <a:t>selling price of removable partial dentures is estimated at US$</a:t>
            </a:r>
          </a:p>
        </p:txBody>
      </p:sp>
      <p:pic>
        <p:nvPicPr>
          <p:cNvPr id="112" name="Picture 111" descr="lock.png"/>
          <p:cNvPicPr>
            <a:picLocks noChangeAspect="1"/>
          </p:cNvPicPr>
          <p:nvPr/>
        </p:nvPicPr>
        <p:blipFill>
          <a:blip r:embed="rId4"/>
          <a:stretch>
            <a:fillRect/>
          </a:stretch>
        </p:blipFill>
        <p:spPr>
          <a:xfrm>
            <a:off x="8034545" y="1987551"/>
            <a:ext cx="134549" cy="195707"/>
          </a:xfrm>
          <a:prstGeom prst="rect">
            <a:avLst/>
          </a:prstGeom>
        </p:spPr>
      </p:pic>
      <p:sp>
        <p:nvSpPr>
          <p:cNvPr id="113" name="TextBox 112"/>
          <p:cNvSpPr txBox="1"/>
          <p:nvPr/>
        </p:nvSpPr>
        <p:spPr>
          <a:xfrm>
            <a:off x="8209654" y="1997775"/>
            <a:ext cx="3138115" cy="194310"/>
          </a:xfrm>
          <a:prstGeom prst="rect">
            <a:avLst/>
          </a:prstGeom>
          <a:noFill/>
        </p:spPr>
        <p:txBody>
          <a:bodyPr wrap="none" lIns="0" rIns="0" tIns="0" bIns="0">
            <a:spAutoFit/>
          </a:bodyPr>
          <a:lstStyle/>
          <a:p>
            <a:r>
              <a:rPr sz="1150" b="0">
                <a:solidFill>
                  <a:srgbClr val="2E2E2E"/>
                </a:solidFill>
                <a:latin typeface="Calibri"/>
              </a:rPr>
              <a:t>per Unit in 2025 and is projected to increase to US$</a:t>
            </a:r>
          </a:p>
        </p:txBody>
      </p:sp>
      <p:pic>
        <p:nvPicPr>
          <p:cNvPr id="114" name="Picture 113" descr="lock.png"/>
          <p:cNvPicPr>
            <a:picLocks noChangeAspect="1"/>
          </p:cNvPicPr>
          <p:nvPr/>
        </p:nvPicPr>
        <p:blipFill>
          <a:blip r:embed="rId4"/>
          <a:stretch>
            <a:fillRect/>
          </a:stretch>
        </p:blipFill>
        <p:spPr>
          <a:xfrm>
            <a:off x="11296924" y="1987551"/>
            <a:ext cx="134549" cy="195707"/>
          </a:xfrm>
          <a:prstGeom prst="rect">
            <a:avLst/>
          </a:prstGeom>
        </p:spPr>
      </p:pic>
      <p:sp>
        <p:nvSpPr>
          <p:cNvPr id="115" name="TextBox 114"/>
          <p:cNvSpPr txBox="1"/>
          <p:nvPr/>
        </p:nvSpPr>
        <p:spPr>
          <a:xfrm>
            <a:off x="8048625" y="2173035"/>
            <a:ext cx="1105681" cy="194310"/>
          </a:xfrm>
          <a:prstGeom prst="rect">
            <a:avLst/>
          </a:prstGeom>
          <a:noFill/>
        </p:spPr>
        <p:txBody>
          <a:bodyPr wrap="none" lIns="0" rIns="0" tIns="0" bIns="0">
            <a:spAutoFit/>
          </a:bodyPr>
          <a:lstStyle/>
          <a:p>
            <a:r>
              <a:rPr sz="1150" b="0">
                <a:solidFill>
                  <a:srgbClr val="2E2E2E"/>
                </a:solidFill>
                <a:latin typeface="Calibri"/>
              </a:rPr>
              <a:t>per Unit by 2036.</a:t>
            </a:r>
          </a:p>
        </p:txBody>
      </p:sp>
      <p:sp>
        <p:nvSpPr>
          <p:cNvPr id="116" name="TextBox 115"/>
          <p:cNvSpPr txBox="1"/>
          <p:nvPr/>
        </p:nvSpPr>
        <p:spPr>
          <a:xfrm>
            <a:off x="8048625" y="2400873"/>
            <a:ext cx="3783074" cy="194310"/>
          </a:xfrm>
          <a:prstGeom prst="rect">
            <a:avLst/>
          </a:prstGeom>
          <a:noFill/>
        </p:spPr>
        <p:txBody>
          <a:bodyPr wrap="none" lIns="0" rIns="0" tIns="0" bIns="0">
            <a:spAutoFit/>
          </a:bodyPr>
          <a:lstStyle/>
          <a:p>
            <a:r>
              <a:rPr sz="1150" b="0">
                <a:solidFill>
                  <a:srgbClr val="2E2E2E"/>
                </a:solidFill>
                <a:latin typeface="Calibri"/>
              </a:rPr>
              <a:t>North America is the highest-priced region, while South Asia &amp;</a:t>
            </a:r>
          </a:p>
        </p:txBody>
      </p:sp>
      <p:sp>
        <p:nvSpPr>
          <p:cNvPr id="117" name="TextBox 116"/>
          <p:cNvSpPr txBox="1"/>
          <p:nvPr/>
        </p:nvSpPr>
        <p:spPr>
          <a:xfrm>
            <a:off x="8048625" y="2576133"/>
            <a:ext cx="3821583" cy="194310"/>
          </a:xfrm>
          <a:prstGeom prst="rect">
            <a:avLst/>
          </a:prstGeom>
          <a:noFill/>
        </p:spPr>
        <p:txBody>
          <a:bodyPr wrap="none" lIns="0" rIns="0" tIns="0" bIns="0">
            <a:spAutoFit/>
          </a:bodyPr>
          <a:lstStyle/>
          <a:p>
            <a:r>
              <a:rPr sz="1150" b="0">
                <a:solidFill>
                  <a:srgbClr val="2E2E2E"/>
                </a:solidFill>
                <a:latin typeface="Calibri"/>
              </a:rPr>
              <a:t>Pacific is the most price-competitive market. Against the global</a:t>
            </a:r>
          </a:p>
        </p:txBody>
      </p:sp>
      <p:sp>
        <p:nvSpPr>
          <p:cNvPr id="118" name="TextBox 117"/>
          <p:cNvSpPr txBox="1"/>
          <p:nvPr/>
        </p:nvSpPr>
        <p:spPr>
          <a:xfrm>
            <a:off x="8048625" y="2751393"/>
            <a:ext cx="526901" cy="194310"/>
          </a:xfrm>
          <a:prstGeom prst="rect">
            <a:avLst/>
          </a:prstGeom>
          <a:noFill/>
        </p:spPr>
        <p:txBody>
          <a:bodyPr wrap="none" lIns="0" rIns="0" tIns="0" bIns="0">
            <a:spAutoFit/>
          </a:bodyPr>
          <a:lstStyle/>
          <a:p>
            <a:r>
              <a:rPr sz="1150" b="0">
                <a:solidFill>
                  <a:srgbClr val="2E2E2E"/>
                </a:solidFill>
                <a:latin typeface="Calibri"/>
              </a:rPr>
              <a:t>price of</a:t>
            </a:r>
          </a:p>
        </p:txBody>
      </p:sp>
      <p:pic>
        <p:nvPicPr>
          <p:cNvPr id="119" name="Picture 118" descr="lock.png"/>
          <p:cNvPicPr>
            <a:picLocks noChangeAspect="1"/>
          </p:cNvPicPr>
          <p:nvPr/>
        </p:nvPicPr>
        <p:blipFill>
          <a:blip r:embed="rId4"/>
          <a:stretch>
            <a:fillRect/>
          </a:stretch>
        </p:blipFill>
        <p:spPr>
          <a:xfrm>
            <a:off x="8524680" y="2741169"/>
            <a:ext cx="134549" cy="195707"/>
          </a:xfrm>
          <a:prstGeom prst="rect">
            <a:avLst/>
          </a:prstGeom>
        </p:spPr>
      </p:pic>
      <p:sp>
        <p:nvSpPr>
          <p:cNvPr id="120" name="TextBox 119"/>
          <p:cNvSpPr txBox="1"/>
          <p:nvPr/>
        </p:nvSpPr>
        <p:spPr>
          <a:xfrm>
            <a:off x="8699789" y="2751393"/>
            <a:ext cx="3076500" cy="194310"/>
          </a:xfrm>
          <a:prstGeom prst="rect">
            <a:avLst/>
          </a:prstGeom>
          <a:noFill/>
        </p:spPr>
        <p:txBody>
          <a:bodyPr wrap="none" lIns="0" rIns="0" tIns="0" bIns="0">
            <a:spAutoFit/>
          </a:bodyPr>
          <a:lstStyle/>
          <a:p>
            <a:r>
              <a:rPr sz="1150" b="0">
                <a:solidFill>
                  <a:srgbClr val="2E2E2E"/>
                </a:solidFill>
                <a:latin typeface="Calibri"/>
              </a:rPr>
              <a:t>US$/Units, 2 of 6 regions price above and 4 below.</a:t>
            </a:r>
          </a:p>
        </p:txBody>
      </p:sp>
      <p:sp>
        <p:nvSpPr>
          <p:cNvPr id="121" name="TextBox 120"/>
          <p:cNvSpPr txBox="1"/>
          <p:nvPr/>
        </p:nvSpPr>
        <p:spPr>
          <a:xfrm>
            <a:off x="8048625" y="2979230"/>
            <a:ext cx="2108063" cy="194310"/>
          </a:xfrm>
          <a:prstGeom prst="rect">
            <a:avLst/>
          </a:prstGeom>
          <a:noFill/>
        </p:spPr>
        <p:txBody>
          <a:bodyPr wrap="none" lIns="0" rIns="0" tIns="0" bIns="0">
            <a:spAutoFit/>
          </a:bodyPr>
          <a:lstStyle/>
          <a:p>
            <a:r>
              <a:rPr sz="1150" b="0">
                <a:solidFill>
                  <a:srgbClr val="2E2E2E"/>
                </a:solidFill>
                <a:latin typeface="Calibri"/>
              </a:rPr>
              <a:t>'North America' is the dearest at +</a:t>
            </a:r>
          </a:p>
        </p:txBody>
      </p:sp>
      <p:pic>
        <p:nvPicPr>
          <p:cNvPr id="122" name="Picture 121" descr="lock.png"/>
          <p:cNvPicPr>
            <a:picLocks noChangeAspect="1"/>
          </p:cNvPicPr>
          <p:nvPr/>
        </p:nvPicPr>
        <p:blipFill>
          <a:blip r:embed="rId4"/>
          <a:stretch>
            <a:fillRect/>
          </a:stretch>
        </p:blipFill>
        <p:spPr>
          <a:xfrm>
            <a:off x="10105842" y="2969007"/>
            <a:ext cx="134549" cy="195707"/>
          </a:xfrm>
          <a:prstGeom prst="rect">
            <a:avLst/>
          </a:prstGeom>
        </p:spPr>
      </p:pic>
      <p:sp>
        <p:nvSpPr>
          <p:cNvPr id="123" name="TextBox 122"/>
          <p:cNvSpPr txBox="1"/>
          <p:nvPr/>
        </p:nvSpPr>
        <p:spPr>
          <a:xfrm>
            <a:off x="10280951" y="2979230"/>
            <a:ext cx="1599455" cy="194310"/>
          </a:xfrm>
          <a:prstGeom prst="rect">
            <a:avLst/>
          </a:prstGeom>
          <a:noFill/>
        </p:spPr>
        <p:txBody>
          <a:bodyPr wrap="none" lIns="0" rIns="0" tIns="0" bIns="0">
            <a:spAutoFit/>
          </a:bodyPr>
          <a:lstStyle/>
          <a:p>
            <a:r>
              <a:rPr sz="1150" b="0">
                <a:solidFill>
                  <a:srgbClr val="2E2E2E"/>
                </a:solidFill>
                <a:latin typeface="Calibri"/>
              </a:rPr>
              <a:t>versus Global, 'South Asia</a:t>
            </a:r>
          </a:p>
        </p:txBody>
      </p:sp>
      <p:sp>
        <p:nvSpPr>
          <p:cNvPr id="124" name="TextBox 123"/>
          <p:cNvSpPr txBox="1"/>
          <p:nvPr/>
        </p:nvSpPr>
        <p:spPr>
          <a:xfrm>
            <a:off x="8048625" y="3154490"/>
            <a:ext cx="1653654" cy="194310"/>
          </a:xfrm>
          <a:prstGeom prst="rect">
            <a:avLst/>
          </a:prstGeom>
          <a:noFill/>
        </p:spPr>
        <p:txBody>
          <a:bodyPr wrap="none" lIns="0" rIns="0" tIns="0" bIns="0">
            <a:spAutoFit/>
          </a:bodyPr>
          <a:lstStyle/>
          <a:p>
            <a:r>
              <a:rPr sz="1150" b="0">
                <a:solidFill>
                  <a:srgbClr val="2E2E2E"/>
                </a:solidFill>
                <a:latin typeface="Calibri"/>
              </a:rPr>
              <a:t>&amp; Pacific' the cheapest at -</a:t>
            </a:r>
          </a:p>
        </p:txBody>
      </p:sp>
      <p:pic>
        <p:nvPicPr>
          <p:cNvPr id="125" name="Picture 124" descr="lock.png"/>
          <p:cNvPicPr>
            <a:picLocks noChangeAspect="1"/>
          </p:cNvPicPr>
          <p:nvPr/>
        </p:nvPicPr>
        <p:blipFill>
          <a:blip r:embed="rId4"/>
          <a:stretch>
            <a:fillRect/>
          </a:stretch>
        </p:blipFill>
        <p:spPr>
          <a:xfrm>
            <a:off x="9651433" y="3144267"/>
            <a:ext cx="134549" cy="195707"/>
          </a:xfrm>
          <a:prstGeom prst="rect">
            <a:avLst/>
          </a:prstGeom>
        </p:spPr>
      </p:pic>
      <p:sp>
        <p:nvSpPr>
          <p:cNvPr id="126" name="TextBox 125"/>
          <p:cNvSpPr txBox="1"/>
          <p:nvPr/>
        </p:nvSpPr>
        <p:spPr>
          <a:xfrm>
            <a:off x="9826542" y="3154490"/>
            <a:ext cx="1702147" cy="194310"/>
          </a:xfrm>
          <a:prstGeom prst="rect">
            <a:avLst/>
          </a:prstGeom>
          <a:noFill/>
        </p:spPr>
        <p:txBody>
          <a:bodyPr wrap="none" lIns="0" rIns="0" tIns="0" bIns="0">
            <a:spAutoFit/>
          </a:bodyPr>
          <a:lstStyle/>
          <a:p>
            <a:r>
              <a:rPr sz="1150" b="0">
                <a:solidFill>
                  <a:srgbClr val="2E2E2E"/>
                </a:solidFill>
                <a:latin typeface="Calibri"/>
              </a:rPr>
              <a:t>pointing to premiumisation</a:t>
            </a:r>
          </a:p>
        </p:txBody>
      </p:sp>
      <p:sp>
        <p:nvSpPr>
          <p:cNvPr id="127" name="TextBox 126"/>
          <p:cNvSpPr txBox="1"/>
          <p:nvPr/>
        </p:nvSpPr>
        <p:spPr>
          <a:xfrm>
            <a:off x="8048625" y="3329750"/>
            <a:ext cx="2365647" cy="194310"/>
          </a:xfrm>
          <a:prstGeom prst="rect">
            <a:avLst/>
          </a:prstGeom>
          <a:noFill/>
        </p:spPr>
        <p:txBody>
          <a:bodyPr wrap="none" lIns="0" rIns="0" tIns="0" bIns="0">
            <a:spAutoFit/>
          </a:bodyPr>
          <a:lstStyle/>
          <a:p>
            <a:r>
              <a:rPr sz="1150" b="0">
                <a:solidFill>
                  <a:srgbClr val="2E2E2E"/>
                </a:solidFill>
                <a:latin typeface="Calibri"/>
              </a:rPr>
              <a:t>headroom in the lower-priced regions.</a:t>
            </a:r>
          </a:p>
        </p:txBody>
      </p:sp>
    </p:spTree>
  </p:cSld>
  <p:clrMapOvr>
    <a:masterClrMapping/>
  </p:clrMapOvr>
</p:sld>
</file>

<file path=ppt/slides/slide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Summary, By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global market value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(US$ MN)</a:t>
            </a:r>
          </a:p>
          <a:p>
            <a:pPr algn="ctr">
              <a:lnSpc>
                <a:spcPct val="95000"/>
              </a:lnSpc>
            </a:pPr>
            <a:r>
              <a:rPr sz="1500" b="1">
                <a:solidFill>
                  <a:srgbClr val="0E72AE"/>
                </a:solidFill>
                <a:latin typeface="Calibri"/>
              </a:rPr>
              <a:t>1,125</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1,731</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 </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4.4%</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(US$ Mn)</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
            </a:r>
          </a:p>
          <a:p>
            <a:pPr algn="l">
              <a:lnSpc>
                <a:spcPct val="110000"/>
              </a:lnSpc>
              <a:spcBef>
                <a:spcPts val="0"/>
              </a:spcBef>
              <a:spcAft>
                <a:spcPts val="500"/>
              </a:spcAft>
            </a:pPr>
            <a:r>
              <a:rPr sz="1100" b="0">
                <a:solidFill>
                  <a:srgbClr val="2E2E2E"/>
                </a:solidFill>
                <a:latin typeface="Calibri"/>
              </a:rPr>
              <a:t/>
            </a:r>
          </a:p>
        </p:txBody>
      </p:sp>
      <p:sp>
        <p:nvSpPr>
          <p:cNvPr id="25" name="Rounded Rectangle 24"/>
          <p:cNvSpPr/>
          <p:nvPr/>
        </p:nvSpPr>
        <p:spPr>
          <a:xfrm>
            <a:off x="7915275" y="4037375"/>
            <a:ext cx="413385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123100"/>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36122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4446950"/>
            <a:ext cx="3867150" cy="20332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6"/>
          <a:stretch>
            <a:fillRect/>
          </a:stretch>
        </p:blipFill>
        <p:spPr>
          <a:xfrm>
            <a:off x="7512844" y="1250587"/>
            <a:ext cx="157162" cy="228600"/>
          </a:xfrm>
          <a:prstGeom prst="rect">
            <a:avLst/>
          </a:prstGeom>
        </p:spPr>
      </p:pic>
      <p:pic>
        <p:nvPicPr>
          <p:cNvPr id="31" name="Picture 30" descr="lock.png"/>
          <p:cNvPicPr>
            <a:picLocks noChangeAspect="1"/>
          </p:cNvPicPr>
          <p:nvPr/>
        </p:nvPicPr>
        <p:blipFill>
          <a:blip r:embed="rId6"/>
          <a:stretch>
            <a:fillRect/>
          </a:stretch>
        </p:blipFill>
        <p:spPr>
          <a:xfrm>
            <a:off x="3991062" y="5157531"/>
            <a:ext cx="289830" cy="421571"/>
          </a:xfrm>
          <a:prstGeom prst="rect">
            <a:avLst/>
          </a:prstGeom>
        </p:spPr>
      </p:pic>
      <p:sp>
        <p:nvSpPr>
          <p:cNvPr id="32" name="TextBox 31"/>
          <p:cNvSpPr txBox="1"/>
          <p:nvPr/>
        </p:nvSpPr>
        <p:spPr>
          <a:xfrm>
            <a:off x="8048625" y="2046987"/>
            <a:ext cx="3409627" cy="186689"/>
          </a:xfrm>
          <a:prstGeom prst="rect">
            <a:avLst/>
          </a:prstGeom>
          <a:noFill/>
        </p:spPr>
        <p:txBody>
          <a:bodyPr wrap="none" lIns="0" rIns="0" tIns="0" bIns="0">
            <a:spAutoFit/>
          </a:bodyPr>
          <a:lstStyle/>
          <a:p>
            <a:r>
              <a:rPr sz="1100" b="0">
                <a:solidFill>
                  <a:srgbClr val="2E2E2E"/>
                </a:solidFill>
                <a:latin typeface="Calibri"/>
              </a:rPr>
              <a:t>Removable partial dentures market is projected to register</a:t>
            </a:r>
          </a:p>
        </p:txBody>
      </p:sp>
      <p:pic>
        <p:nvPicPr>
          <p:cNvPr id="33" name="Picture 32" descr="lock.png"/>
          <p:cNvPicPr>
            <a:picLocks noChangeAspect="1"/>
          </p:cNvPicPr>
          <p:nvPr/>
        </p:nvPicPr>
        <p:blipFill>
          <a:blip r:embed="rId6"/>
          <a:stretch>
            <a:fillRect/>
          </a:stretch>
        </p:blipFill>
        <p:spPr>
          <a:xfrm>
            <a:off x="11406304" y="2037208"/>
            <a:ext cx="128699" cy="187198"/>
          </a:xfrm>
          <a:prstGeom prst="rect">
            <a:avLst/>
          </a:prstGeom>
        </p:spPr>
      </p:pic>
      <p:sp>
        <p:nvSpPr>
          <p:cNvPr id="34" name="TextBox 33"/>
          <p:cNvSpPr txBox="1"/>
          <p:nvPr/>
        </p:nvSpPr>
        <p:spPr>
          <a:xfrm>
            <a:off x="11573799" y="2046987"/>
            <a:ext cx="148778" cy="186689"/>
          </a:xfrm>
          <a:prstGeom prst="rect">
            <a:avLst/>
          </a:prstGeom>
          <a:noFill/>
        </p:spPr>
        <p:txBody>
          <a:bodyPr wrap="none" lIns="0" rIns="0" tIns="0" bIns="0">
            <a:spAutoFit/>
          </a:bodyPr>
          <a:lstStyle/>
          <a:p>
            <a:r>
              <a:rPr sz="1100" b="0">
                <a:solidFill>
                  <a:srgbClr val="2E2E2E"/>
                </a:solidFill>
                <a:latin typeface="Calibri"/>
              </a:rPr>
              <a:t>X</a:t>
            </a:r>
          </a:p>
        </p:txBody>
      </p:sp>
      <p:sp>
        <p:nvSpPr>
          <p:cNvPr id="35" name="TextBox 34"/>
          <p:cNvSpPr txBox="1"/>
          <p:nvPr/>
        </p:nvSpPr>
        <p:spPr>
          <a:xfrm>
            <a:off x="8048625" y="2214627"/>
            <a:ext cx="3818086" cy="186689"/>
          </a:xfrm>
          <a:prstGeom prst="rect">
            <a:avLst/>
          </a:prstGeom>
          <a:noFill/>
        </p:spPr>
        <p:txBody>
          <a:bodyPr wrap="none" lIns="0" rIns="0" tIns="0" bIns="0">
            <a:spAutoFit/>
          </a:bodyPr>
          <a:lstStyle/>
          <a:p>
            <a:r>
              <a:rPr sz="1100" b="0">
                <a:solidFill>
                  <a:srgbClr val="2E2E2E"/>
                </a:solidFill>
                <a:latin typeface="Calibri"/>
              </a:rPr>
              <a:t>increase in its revenue by the end of forecast period, 2036. Global</a:t>
            </a:r>
          </a:p>
        </p:txBody>
      </p:sp>
      <p:sp>
        <p:nvSpPr>
          <p:cNvPr id="36" name="TextBox 35"/>
          <p:cNvSpPr txBox="1"/>
          <p:nvPr/>
        </p:nvSpPr>
        <p:spPr>
          <a:xfrm>
            <a:off x="8048625" y="2382267"/>
            <a:ext cx="3848100" cy="186689"/>
          </a:xfrm>
          <a:prstGeom prst="rect">
            <a:avLst/>
          </a:prstGeom>
          <a:noFill/>
        </p:spPr>
        <p:txBody>
          <a:bodyPr wrap="none" lIns="0" rIns="0" tIns="0" bIns="0">
            <a:spAutoFit/>
          </a:bodyPr>
          <a:lstStyle/>
          <a:p>
            <a:r>
              <a:rPr sz="1100" b="0">
                <a:solidFill>
                  <a:srgbClr val="2E2E2E"/>
                </a:solidFill>
                <a:latin typeface="Calibri"/>
              </a:rPr>
              <a:t>removable partial dentures market is expected to be valued at US$</a:t>
            </a:r>
          </a:p>
        </p:txBody>
      </p:sp>
      <p:sp>
        <p:nvSpPr>
          <p:cNvPr id="37" name="TextBox 36"/>
          <p:cNvSpPr txBox="1"/>
          <p:nvPr/>
        </p:nvSpPr>
        <p:spPr>
          <a:xfrm>
            <a:off x="8048625" y="2549907"/>
            <a:ext cx="1386433" cy="186689"/>
          </a:xfrm>
          <a:prstGeom prst="rect">
            <a:avLst/>
          </a:prstGeom>
          <a:noFill/>
        </p:spPr>
        <p:txBody>
          <a:bodyPr wrap="none" lIns="0" rIns="0" tIns="0" bIns="0">
            <a:spAutoFit/>
          </a:bodyPr>
          <a:lstStyle/>
          <a:p>
            <a:r>
              <a:rPr sz="1100" b="0">
                <a:solidFill>
                  <a:srgbClr val="2E2E2E"/>
                </a:solidFill>
                <a:latin typeface="Calibri"/>
              </a:rPr>
              <a:t>1,731 Mn by 2036 end.</a:t>
            </a:r>
          </a:p>
        </p:txBody>
      </p:sp>
      <p:sp>
        <p:nvSpPr>
          <p:cNvPr id="38" name="TextBox 37"/>
          <p:cNvSpPr txBox="1"/>
          <p:nvPr/>
        </p:nvSpPr>
        <p:spPr>
          <a:xfrm>
            <a:off x="8048625" y="2767838"/>
            <a:ext cx="3650009" cy="186689"/>
          </a:xfrm>
          <a:prstGeom prst="rect">
            <a:avLst/>
          </a:prstGeom>
          <a:noFill/>
        </p:spPr>
        <p:txBody>
          <a:bodyPr wrap="none" lIns="0" rIns="0" tIns="0" bIns="0">
            <a:spAutoFit/>
          </a:bodyPr>
          <a:lstStyle/>
          <a:p>
            <a:r>
              <a:rPr sz="1100" b="0">
                <a:solidFill>
                  <a:srgbClr val="2E2E2E"/>
                </a:solidFill>
                <a:latin typeface="Calibri"/>
              </a:rPr>
              <a:t>It is projected to create overall incremental opportunity of US$</a:t>
            </a:r>
          </a:p>
        </p:txBody>
      </p:sp>
      <p:pic>
        <p:nvPicPr>
          <p:cNvPr id="39" name="Picture 38" descr="lock.png"/>
          <p:cNvPicPr>
            <a:picLocks noChangeAspect="1"/>
          </p:cNvPicPr>
          <p:nvPr/>
        </p:nvPicPr>
        <p:blipFill>
          <a:blip r:embed="rId6"/>
          <a:stretch>
            <a:fillRect/>
          </a:stretch>
        </p:blipFill>
        <p:spPr>
          <a:xfrm>
            <a:off x="8035157" y="2925700"/>
            <a:ext cx="128699" cy="187198"/>
          </a:xfrm>
          <a:prstGeom prst="rect">
            <a:avLst/>
          </a:prstGeom>
        </p:spPr>
      </p:pic>
      <p:sp>
        <p:nvSpPr>
          <p:cNvPr id="40" name="TextBox 39"/>
          <p:cNvSpPr txBox="1"/>
          <p:nvPr/>
        </p:nvSpPr>
        <p:spPr>
          <a:xfrm>
            <a:off x="8202653" y="2935479"/>
            <a:ext cx="3263106" cy="186689"/>
          </a:xfrm>
          <a:prstGeom prst="rect">
            <a:avLst/>
          </a:prstGeom>
          <a:noFill/>
        </p:spPr>
        <p:txBody>
          <a:bodyPr wrap="none" lIns="0" rIns="0" tIns="0" bIns="0">
            <a:spAutoFit/>
          </a:bodyPr>
          <a:lstStyle/>
          <a:p>
            <a:r>
              <a:rPr sz="1100" b="0">
                <a:solidFill>
                  <a:srgbClr val="2E2E2E"/>
                </a:solidFill>
                <a:latin typeface="Calibri"/>
              </a:rPr>
              <a:t>Mn from 2025 to 2036. Increasing prevalence of chronic</a:t>
            </a:r>
          </a:p>
        </p:txBody>
      </p:sp>
      <p:sp>
        <p:nvSpPr>
          <p:cNvPr id="41" name="TextBox 40"/>
          <p:cNvSpPr txBox="1"/>
          <p:nvPr/>
        </p:nvSpPr>
        <p:spPr>
          <a:xfrm>
            <a:off x="8048625" y="3103119"/>
            <a:ext cx="3848100" cy="186689"/>
          </a:xfrm>
          <a:prstGeom prst="rect">
            <a:avLst/>
          </a:prstGeom>
          <a:noFill/>
        </p:spPr>
        <p:txBody>
          <a:bodyPr wrap="none" lIns="0" rIns="0" tIns="0" bIns="0">
            <a:spAutoFit/>
          </a:bodyPr>
          <a:lstStyle/>
          <a:p>
            <a:r>
              <a:rPr sz="1100" b="0">
                <a:solidFill>
                  <a:srgbClr val="2E2E2E"/>
                </a:solidFill>
                <a:latin typeface="Calibri"/>
              </a:rPr>
              <a:t>diseases along with increasing ageing population is fuelling demand</a:t>
            </a:r>
          </a:p>
        </p:txBody>
      </p:sp>
      <p:sp>
        <p:nvSpPr>
          <p:cNvPr id="42" name="TextBox 41"/>
          <p:cNvSpPr txBox="1"/>
          <p:nvPr/>
        </p:nvSpPr>
        <p:spPr>
          <a:xfrm>
            <a:off x="8048625" y="3270759"/>
            <a:ext cx="1857102" cy="186689"/>
          </a:xfrm>
          <a:prstGeom prst="rect">
            <a:avLst/>
          </a:prstGeom>
          <a:noFill/>
        </p:spPr>
        <p:txBody>
          <a:bodyPr wrap="none" lIns="0" rIns="0" tIns="0" bIns="0">
            <a:spAutoFit/>
          </a:bodyPr>
          <a:lstStyle/>
          <a:p>
            <a:r>
              <a:rPr sz="1100" b="0">
                <a:solidFill>
                  <a:srgbClr val="2E2E2E"/>
                </a:solidFill>
                <a:latin typeface="Calibri"/>
              </a:rPr>
              <a:t>for removable partial dentures.</a:t>
            </a:r>
          </a:p>
        </p:txBody>
      </p:sp>
      <p:sp>
        <p:nvSpPr>
          <p:cNvPr id="43" name="TextBox 42"/>
          <p:cNvSpPr txBox="1"/>
          <p:nvPr/>
        </p:nvSpPr>
        <p:spPr>
          <a:xfrm>
            <a:off x="8048625" y="4456475"/>
            <a:ext cx="2868835" cy="194310"/>
          </a:xfrm>
          <a:prstGeom prst="rect">
            <a:avLst/>
          </a:prstGeom>
          <a:noFill/>
        </p:spPr>
        <p:txBody>
          <a:bodyPr wrap="none" lIns="0" rIns="0" tIns="0" bIns="0">
            <a:spAutoFit/>
          </a:bodyPr>
          <a:lstStyle/>
          <a:p>
            <a:r>
              <a:rPr sz="1150" b="0">
                <a:solidFill>
                  <a:srgbClr val="2E2E2E"/>
                </a:solidFill>
                <a:latin typeface="Calibri"/>
              </a:rPr>
              <a:t>▪ 'South Asia &amp; Pacific' leads regional growth at</a:t>
            </a:r>
          </a:p>
        </p:txBody>
      </p:sp>
      <p:pic>
        <p:nvPicPr>
          <p:cNvPr id="44" name="Picture 43" descr="lock.png"/>
          <p:cNvPicPr>
            <a:picLocks noChangeAspect="1"/>
          </p:cNvPicPr>
          <p:nvPr/>
        </p:nvPicPr>
        <p:blipFill>
          <a:blip r:embed="rId6"/>
          <a:stretch>
            <a:fillRect/>
          </a:stretch>
        </p:blipFill>
        <p:spPr>
          <a:xfrm>
            <a:off x="10866614" y="4446251"/>
            <a:ext cx="134549" cy="195707"/>
          </a:xfrm>
          <a:prstGeom prst="rect">
            <a:avLst/>
          </a:prstGeom>
        </p:spPr>
      </p:pic>
      <p:sp>
        <p:nvSpPr>
          <p:cNvPr id="45" name="TextBox 44"/>
          <p:cNvSpPr txBox="1"/>
          <p:nvPr/>
        </p:nvSpPr>
        <p:spPr>
          <a:xfrm>
            <a:off x="11041723" y="4456475"/>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46" name="TextBox 45"/>
          <p:cNvSpPr txBox="1"/>
          <p:nvPr/>
        </p:nvSpPr>
        <p:spPr>
          <a:xfrm>
            <a:off x="8048625" y="4684312"/>
            <a:ext cx="3569419" cy="194310"/>
          </a:xfrm>
          <a:prstGeom prst="rect">
            <a:avLst/>
          </a:prstGeom>
          <a:noFill/>
        </p:spPr>
        <p:txBody>
          <a:bodyPr wrap="none" lIns="0" rIns="0" tIns="0" bIns="0">
            <a:spAutoFit/>
          </a:bodyPr>
          <a:lstStyle/>
          <a:p>
            <a:r>
              <a:rPr sz="1150" b="0">
                <a:solidFill>
                  <a:srgbClr val="2E2E2E"/>
                </a:solidFill>
                <a:latin typeface="Calibri"/>
              </a:rPr>
              <a:t>▪ Demand concentrates in 'Flexible Partial Dentures' within</a:t>
            </a:r>
          </a:p>
        </p:txBody>
      </p:sp>
      <p:sp>
        <p:nvSpPr>
          <p:cNvPr id="47" name="TextBox 46"/>
          <p:cNvSpPr txBox="1"/>
          <p:nvPr/>
        </p:nvSpPr>
        <p:spPr>
          <a:xfrm>
            <a:off x="8048625" y="4859572"/>
            <a:ext cx="901154" cy="194310"/>
          </a:xfrm>
          <a:prstGeom prst="rect">
            <a:avLst/>
          </a:prstGeom>
          <a:noFill/>
        </p:spPr>
        <p:txBody>
          <a:bodyPr wrap="none" lIns="0" rIns="0" tIns="0" bIns="0">
            <a:spAutoFit/>
          </a:bodyPr>
          <a:lstStyle/>
          <a:p>
            <a:r>
              <a:rPr sz="1150" b="0">
                <a:solidFill>
                  <a:srgbClr val="2E2E2E"/>
                </a:solidFill>
                <a:latin typeface="Calibri"/>
              </a:rPr>
              <a:t>Product Type.</a:t>
            </a:r>
          </a:p>
        </p:txBody>
      </p:sp>
      <p:sp>
        <p:nvSpPr>
          <p:cNvPr id="48" name="TextBox 47"/>
          <p:cNvSpPr txBox="1"/>
          <p:nvPr/>
        </p:nvSpPr>
        <p:spPr>
          <a:xfrm>
            <a:off x="8048625" y="5087410"/>
            <a:ext cx="3291296" cy="194310"/>
          </a:xfrm>
          <a:prstGeom prst="rect">
            <a:avLst/>
          </a:prstGeom>
          <a:noFill/>
        </p:spPr>
        <p:txBody>
          <a:bodyPr wrap="none" lIns="0" rIns="0" tIns="0" bIns="0">
            <a:spAutoFit/>
          </a:bodyPr>
          <a:lstStyle/>
          <a:p>
            <a:r>
              <a:rPr sz="1150" b="0">
                <a:solidFill>
                  <a:srgbClr val="2E2E2E"/>
                </a:solidFill>
                <a:latin typeface="Calibri"/>
              </a:rPr>
              <a:t>▪ Product innovation and premiumisation lifting value.</a:t>
            </a:r>
          </a:p>
        </p:txBody>
      </p:sp>
      <p:sp>
        <p:nvSpPr>
          <p:cNvPr id="49" name="TextBox 48"/>
          <p:cNvSpPr txBox="1"/>
          <p:nvPr/>
        </p:nvSpPr>
        <p:spPr>
          <a:xfrm>
            <a:off x="8048625" y="5315248"/>
            <a:ext cx="2741327" cy="194310"/>
          </a:xfrm>
          <a:prstGeom prst="rect">
            <a:avLst/>
          </a:prstGeom>
          <a:noFill/>
        </p:spPr>
        <p:txBody>
          <a:bodyPr wrap="none" lIns="0" rIns="0" tIns="0" bIns="0">
            <a:spAutoFit/>
          </a:bodyPr>
          <a:lstStyle/>
          <a:p>
            <a:r>
              <a:rPr sz="1150" b="0">
                <a:solidFill>
                  <a:srgbClr val="2E2E2E"/>
                </a:solidFill>
                <a:latin typeface="Calibri"/>
              </a:rPr>
              <a:t>▪ Expanding end-use applications and access.</a:t>
            </a:r>
          </a:p>
        </p:txBody>
      </p:sp>
      <p:sp>
        <p:nvSpPr>
          <p:cNvPr id="50" name="lockshield_17"/>
          <p:cNvSpPr/>
          <p:nvPr/>
        </p:nvSpPr>
        <p:spPr>
          <a:xfrm>
            <a:off x="238125" y="1913637"/>
            <a:ext cx="7505700" cy="2011827"/>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lockshield_20"/>
          <p:cNvSpPr/>
          <p:nvPr/>
        </p:nvSpPr>
        <p:spPr>
          <a:xfrm>
            <a:off x="238125" y="4323125"/>
            <a:ext cx="7505700" cy="217611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Volume &amp; Value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and value growth of the global market and the incremental $ opportunity it creates,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4695825" cy="2571750"/>
          </a:xfrm>
          <a:prstGeom prst="roundRect">
            <a:avLst>
              <a:gd name="adj" fmla="val 29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2021–2025 (Historical)</a:t>
            </a:r>
          </a:p>
        </p:txBody>
      </p:sp>
      <p:graphicFrame>
        <p:nvGraphicFramePr>
          <p:cNvPr id="13" name="Chart 12"/>
          <p:cNvGraphicFramePr>
            <a:graphicFrameLocks noGrp="1"/>
          </p:cNvGraphicFramePr>
          <p:nvPr/>
        </p:nvGraphicFramePr>
        <p:xfrm>
          <a:off x="238125" y="1266825"/>
          <a:ext cx="4505325" cy="2228850"/>
        </p:xfrm>
        <a:graphic>
          <a:graphicData uri="http://schemas.openxmlformats.org/drawingml/2006/chart">
            <c:chart xmlns:c="http://schemas.openxmlformats.org/drawingml/2006/chart" r:id="rId3"/>
          </a:graphicData>
        </a:graphic>
      </p:graphicFrame>
      <p:sp>
        <p:nvSpPr>
          <p:cNvPr id="14" name="Rounded Rectangle 13"/>
          <p:cNvSpPr/>
          <p:nvPr/>
        </p:nvSpPr>
        <p:spPr>
          <a:xfrm>
            <a:off x="4991100" y="981075"/>
            <a:ext cx="7048500" cy="2571750"/>
          </a:xfrm>
          <a:prstGeom prst="roundRect">
            <a:avLst>
              <a:gd name="adj" fmla="val 29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5086350" y="10382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2026–2036 (Forecast)</a:t>
            </a:r>
          </a:p>
        </p:txBody>
      </p:sp>
      <p:graphicFrame>
        <p:nvGraphicFramePr>
          <p:cNvPr id="16" name="Chart 15"/>
          <p:cNvGraphicFramePr>
            <a:graphicFrameLocks noGrp="1"/>
          </p:cNvGraphicFramePr>
          <p:nvPr/>
        </p:nvGraphicFramePr>
        <p:xfrm>
          <a:off x="5086350" y="1266825"/>
          <a:ext cx="6858000" cy="22288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686175"/>
            <a:ext cx="25146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2021–2025</a:t>
            </a:r>
          </a:p>
          <a:p>
            <a:pPr algn="ctr">
              <a:lnSpc>
                <a:spcPct val="95000"/>
              </a:lnSpc>
            </a:pPr>
            <a:r>
              <a:rPr sz="1500" b="1">
                <a:solidFill>
                  <a:srgbClr val="0E72AE"/>
                </a:solidFill>
                <a:latin typeface="Calibri"/>
              </a:rPr>
              <a:t> </a:t>
            </a:r>
          </a:p>
        </p:txBody>
      </p:sp>
      <p:sp>
        <p:nvSpPr>
          <p:cNvPr id="18" name="Rounded Rectangle 17"/>
          <p:cNvSpPr/>
          <p:nvPr/>
        </p:nvSpPr>
        <p:spPr>
          <a:xfrm>
            <a:off x="2809875" y="3686175"/>
            <a:ext cx="25146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2026–2036</a:t>
            </a:r>
          </a:p>
          <a:p>
            <a:pPr algn="ctr">
              <a:lnSpc>
                <a:spcPct val="95000"/>
              </a:lnSpc>
            </a:pPr>
            <a:r>
              <a:rPr sz="1500" b="1">
                <a:solidFill>
                  <a:srgbClr val="0E72AE"/>
                </a:solidFill>
                <a:latin typeface="Calibri"/>
              </a:rPr>
              <a:t>4.4%</a:t>
            </a:r>
          </a:p>
        </p:txBody>
      </p:sp>
      <p:sp>
        <p:nvSpPr>
          <p:cNvPr id="19" name="Rounded Rectangle 18"/>
          <p:cNvSpPr/>
          <p:nvPr/>
        </p:nvSpPr>
        <p:spPr>
          <a:xfrm>
            <a:off x="5476875" y="3686175"/>
            <a:ext cx="32004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2026–2031</a:t>
            </a:r>
          </a:p>
          <a:p>
            <a:pPr algn="ctr">
              <a:lnSpc>
                <a:spcPct val="95000"/>
              </a:lnSpc>
            </a:pPr>
            <a:r>
              <a:rPr sz="1500" b="1">
                <a:solidFill>
                  <a:srgbClr val="0E72AE"/>
                </a:solidFill>
                <a:latin typeface="Calibri"/>
              </a:rPr>
              <a:t> </a:t>
            </a:r>
          </a:p>
        </p:txBody>
      </p:sp>
      <p:sp>
        <p:nvSpPr>
          <p:cNvPr id="20" name="Rounded Rectangle 19"/>
          <p:cNvSpPr/>
          <p:nvPr/>
        </p:nvSpPr>
        <p:spPr>
          <a:xfrm>
            <a:off x="8829675" y="3686175"/>
            <a:ext cx="32004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2026–2036</a:t>
            </a:r>
          </a:p>
          <a:p>
            <a:pPr algn="ctr">
              <a:lnSpc>
                <a:spcPct val="95000"/>
              </a:lnSpc>
            </a:pPr>
            <a:r>
              <a:rPr sz="1500" b="1">
                <a:solidFill>
                  <a:srgbClr val="0E72AE"/>
                </a:solidFill>
                <a:latin typeface="Calibri"/>
              </a:rPr>
              <a:t> </a:t>
            </a:r>
          </a:p>
        </p:txBody>
      </p:sp>
      <p:sp>
        <p:nvSpPr>
          <p:cNvPr id="21" name="Rounded Rectangle 20"/>
          <p:cNvSpPr/>
          <p:nvPr/>
        </p:nvSpPr>
        <p:spPr>
          <a:xfrm>
            <a:off x="142875" y="4552950"/>
            <a:ext cx="11906250" cy="2057400"/>
          </a:xfrm>
          <a:prstGeom prst="roundRect">
            <a:avLst>
              <a:gd name="adj" fmla="val 370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6386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&amp; Value Analysis</a:t>
            </a:r>
          </a:p>
        </p:txBody>
      </p:sp>
      <p:sp>
        <p:nvSpPr>
          <p:cNvPr id="23" name="Rectangle 22"/>
          <p:cNvSpPr/>
          <p:nvPr/>
        </p:nvSpPr>
        <p:spPr>
          <a:xfrm>
            <a:off x="276225" y="48768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76225" y="4962525"/>
            <a:ext cx="11639550" cy="15716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2533894" y="2050946"/>
            <a:ext cx="205327" cy="298657"/>
          </a:xfrm>
          <a:prstGeom prst="rect">
            <a:avLst/>
          </a:prstGeom>
        </p:spPr>
      </p:pic>
      <p:pic>
        <p:nvPicPr>
          <p:cNvPr id="27" name="Picture 26" descr="lock.png"/>
          <p:cNvPicPr>
            <a:picLocks noChangeAspect="1"/>
          </p:cNvPicPr>
          <p:nvPr/>
        </p:nvPicPr>
        <p:blipFill>
          <a:blip r:embed="rId6"/>
          <a:stretch>
            <a:fillRect/>
          </a:stretch>
        </p:blipFill>
        <p:spPr>
          <a:xfrm>
            <a:off x="8530846" y="2011501"/>
            <a:ext cx="259564" cy="377547"/>
          </a:xfrm>
          <a:prstGeom prst="rect">
            <a:avLst/>
          </a:prstGeom>
        </p:spPr>
      </p:pic>
      <p:pic>
        <p:nvPicPr>
          <p:cNvPr id="28" name="Picture 27" descr="lock.png"/>
          <p:cNvPicPr>
            <a:picLocks noChangeAspect="1"/>
          </p:cNvPicPr>
          <p:nvPr/>
        </p:nvPicPr>
        <p:blipFill>
          <a:blip r:embed="rId6"/>
          <a:stretch>
            <a:fillRect/>
          </a:stretch>
        </p:blipFill>
        <p:spPr>
          <a:xfrm>
            <a:off x="1321594" y="4022407"/>
            <a:ext cx="157162" cy="228600"/>
          </a:xfrm>
          <a:prstGeom prst="rect">
            <a:avLst/>
          </a:prstGeom>
        </p:spPr>
      </p:pic>
      <p:pic>
        <p:nvPicPr>
          <p:cNvPr id="29" name="Picture 28" descr="lock.png"/>
          <p:cNvPicPr>
            <a:picLocks noChangeAspect="1"/>
          </p:cNvPicPr>
          <p:nvPr/>
        </p:nvPicPr>
        <p:blipFill>
          <a:blip r:embed="rId6"/>
          <a:stretch>
            <a:fillRect/>
          </a:stretch>
        </p:blipFill>
        <p:spPr>
          <a:xfrm>
            <a:off x="6998494" y="4022407"/>
            <a:ext cx="157162" cy="228600"/>
          </a:xfrm>
          <a:prstGeom prst="rect">
            <a:avLst/>
          </a:prstGeom>
        </p:spPr>
      </p:pic>
      <p:pic>
        <p:nvPicPr>
          <p:cNvPr id="30" name="Picture 29" descr="lock.png"/>
          <p:cNvPicPr>
            <a:picLocks noChangeAspect="1"/>
          </p:cNvPicPr>
          <p:nvPr/>
        </p:nvPicPr>
        <p:blipFill>
          <a:blip r:embed="rId6"/>
          <a:stretch>
            <a:fillRect/>
          </a:stretch>
        </p:blipFill>
        <p:spPr>
          <a:xfrm>
            <a:off x="10351294" y="4022407"/>
            <a:ext cx="157162" cy="228600"/>
          </a:xfrm>
          <a:prstGeom prst="rect">
            <a:avLst/>
          </a:prstGeom>
        </p:spPr>
      </p:pic>
      <p:sp>
        <p:nvSpPr>
          <p:cNvPr id="31" name="TextBox 30"/>
          <p:cNvSpPr txBox="1"/>
          <p:nvPr/>
        </p:nvSpPr>
        <p:spPr>
          <a:xfrm>
            <a:off x="276225" y="4972050"/>
            <a:ext cx="3561146" cy="194310"/>
          </a:xfrm>
          <a:prstGeom prst="rect">
            <a:avLst/>
          </a:prstGeom>
          <a:noFill/>
        </p:spPr>
        <p:txBody>
          <a:bodyPr wrap="none" lIns="0" rIns="0" tIns="0" bIns="0">
            <a:spAutoFit/>
          </a:bodyPr>
          <a:lstStyle/>
          <a:p>
            <a:r>
              <a:rPr sz="1150" b="0">
                <a:solidFill>
                  <a:srgbClr val="2E2E2E"/>
                </a:solidFill>
                <a:latin typeface="Calibri"/>
              </a:rPr>
              <a:t>Removable partial dentures market is projected to register</a:t>
            </a:r>
          </a:p>
        </p:txBody>
      </p:sp>
      <p:pic>
        <p:nvPicPr>
          <p:cNvPr id="32" name="Picture 31" descr="lock.png"/>
          <p:cNvPicPr>
            <a:picLocks noChangeAspect="1"/>
          </p:cNvPicPr>
          <p:nvPr/>
        </p:nvPicPr>
        <p:blipFill>
          <a:blip r:embed="rId6"/>
          <a:stretch>
            <a:fillRect/>
          </a:stretch>
        </p:blipFill>
        <p:spPr>
          <a:xfrm>
            <a:off x="3786525" y="4961826"/>
            <a:ext cx="134549" cy="195707"/>
          </a:xfrm>
          <a:prstGeom prst="rect">
            <a:avLst/>
          </a:prstGeom>
        </p:spPr>
      </p:pic>
      <p:sp>
        <p:nvSpPr>
          <p:cNvPr id="33" name="TextBox 32"/>
          <p:cNvSpPr txBox="1"/>
          <p:nvPr/>
        </p:nvSpPr>
        <p:spPr>
          <a:xfrm>
            <a:off x="3961635" y="4972050"/>
            <a:ext cx="7833965" cy="194310"/>
          </a:xfrm>
          <a:prstGeom prst="rect">
            <a:avLst/>
          </a:prstGeom>
          <a:noFill/>
        </p:spPr>
        <p:txBody>
          <a:bodyPr wrap="none" lIns="0" rIns="0" tIns="0" bIns="0">
            <a:spAutoFit/>
          </a:bodyPr>
          <a:lstStyle/>
          <a:p>
            <a:r>
              <a:rPr sz="1150" b="0">
                <a:solidFill>
                  <a:srgbClr val="2E2E2E"/>
                </a:solidFill>
                <a:latin typeface="Calibri"/>
              </a:rPr>
              <a:t>X increase in its revenue by the end of forecast period, 2036. Global removable partial dentures market is expected to be valued at</a:t>
            </a:r>
          </a:p>
        </p:txBody>
      </p:sp>
      <p:sp>
        <p:nvSpPr>
          <p:cNvPr id="34" name="TextBox 33"/>
          <p:cNvSpPr txBox="1"/>
          <p:nvPr/>
        </p:nvSpPr>
        <p:spPr>
          <a:xfrm>
            <a:off x="276225" y="5147310"/>
            <a:ext cx="5483473" cy="194310"/>
          </a:xfrm>
          <a:prstGeom prst="rect">
            <a:avLst/>
          </a:prstGeom>
          <a:noFill/>
        </p:spPr>
        <p:txBody>
          <a:bodyPr wrap="none" lIns="0" rIns="0" tIns="0" bIns="0">
            <a:spAutoFit/>
          </a:bodyPr>
          <a:lstStyle/>
          <a:p>
            <a:r>
              <a:rPr sz="1150" b="0">
                <a:solidFill>
                  <a:srgbClr val="2E2E2E"/>
                </a:solidFill>
                <a:latin typeface="Calibri"/>
              </a:rPr>
              <a:t>US$ 1,731 Mn by 2036 end. It is projected to create overall incremental opportunity of US$</a:t>
            </a:r>
          </a:p>
        </p:txBody>
      </p:sp>
      <p:pic>
        <p:nvPicPr>
          <p:cNvPr id="35" name="Picture 34" descr="lock.png"/>
          <p:cNvPicPr>
            <a:picLocks noChangeAspect="1"/>
          </p:cNvPicPr>
          <p:nvPr/>
        </p:nvPicPr>
        <p:blipFill>
          <a:blip r:embed="rId6"/>
          <a:stretch>
            <a:fillRect/>
          </a:stretch>
        </p:blipFill>
        <p:spPr>
          <a:xfrm>
            <a:off x="5708851" y="5137086"/>
            <a:ext cx="134549" cy="195707"/>
          </a:xfrm>
          <a:prstGeom prst="rect">
            <a:avLst/>
          </a:prstGeom>
        </p:spPr>
      </p:pic>
      <p:sp>
        <p:nvSpPr>
          <p:cNvPr id="36" name="TextBox 35"/>
          <p:cNvSpPr txBox="1"/>
          <p:nvPr/>
        </p:nvSpPr>
        <p:spPr>
          <a:xfrm>
            <a:off x="5883961" y="5147310"/>
            <a:ext cx="1455687" cy="194310"/>
          </a:xfrm>
          <a:prstGeom prst="rect">
            <a:avLst/>
          </a:prstGeom>
          <a:noFill/>
        </p:spPr>
        <p:txBody>
          <a:bodyPr wrap="none" lIns="0" rIns="0" tIns="0" bIns="0">
            <a:spAutoFit/>
          </a:bodyPr>
          <a:lstStyle/>
          <a:p>
            <a:r>
              <a:rPr sz="1150" b="0">
                <a:solidFill>
                  <a:srgbClr val="2E2E2E"/>
                </a:solidFill>
                <a:latin typeface="Calibri"/>
              </a:rPr>
              <a:t>Mn from 2025 to 2036.</a:t>
            </a:r>
          </a:p>
        </p:txBody>
      </p:sp>
      <p:sp>
        <p:nvSpPr>
          <p:cNvPr id="37" name="TextBox 36"/>
          <p:cNvSpPr txBox="1"/>
          <p:nvPr/>
        </p:nvSpPr>
        <p:spPr>
          <a:xfrm>
            <a:off x="276225" y="5375147"/>
            <a:ext cx="11352286" cy="194310"/>
          </a:xfrm>
          <a:prstGeom prst="rect">
            <a:avLst/>
          </a:prstGeom>
          <a:noFill/>
        </p:spPr>
        <p:txBody>
          <a:bodyPr wrap="none" lIns="0" rIns="0" tIns="0" bIns="0">
            <a:spAutoFit/>
          </a:bodyPr>
          <a:lstStyle/>
          <a:p>
            <a:r>
              <a:rPr sz="1150" b="0">
                <a:solidFill>
                  <a:srgbClr val="2E2E2E"/>
                </a:solidFill>
                <a:latin typeface="Calibri"/>
              </a:rPr>
              <a:t>Increasing prevalence of chronic diseases along with increasing ageing population is fuelling demand for removable partial dentures. Global removable partial dentures market is projected to</a:t>
            </a:r>
          </a:p>
        </p:txBody>
      </p:sp>
      <p:sp>
        <p:nvSpPr>
          <p:cNvPr id="38" name="TextBox 37"/>
          <p:cNvSpPr txBox="1"/>
          <p:nvPr/>
        </p:nvSpPr>
        <p:spPr>
          <a:xfrm>
            <a:off x="276225" y="5550407"/>
            <a:ext cx="532320" cy="194310"/>
          </a:xfrm>
          <a:prstGeom prst="rect">
            <a:avLst/>
          </a:prstGeom>
          <a:noFill/>
        </p:spPr>
        <p:txBody>
          <a:bodyPr wrap="none" lIns="0" rIns="0" tIns="0" bIns="0">
            <a:spAutoFit/>
          </a:bodyPr>
          <a:lstStyle/>
          <a:p>
            <a:r>
              <a:rPr sz="1150" b="0">
                <a:solidFill>
                  <a:srgbClr val="2E2E2E"/>
                </a:solidFill>
                <a:latin typeface="Calibri"/>
              </a:rPr>
              <a:t>register</a:t>
            </a:r>
          </a:p>
        </p:txBody>
      </p:sp>
      <p:pic>
        <p:nvPicPr>
          <p:cNvPr id="39" name="Picture 38" descr="lock.png"/>
          <p:cNvPicPr>
            <a:picLocks noChangeAspect="1"/>
          </p:cNvPicPr>
          <p:nvPr/>
        </p:nvPicPr>
        <p:blipFill>
          <a:blip r:embed="rId6"/>
          <a:stretch>
            <a:fillRect/>
          </a:stretch>
        </p:blipFill>
        <p:spPr>
          <a:xfrm>
            <a:off x="757699" y="5540184"/>
            <a:ext cx="134549" cy="195707"/>
          </a:xfrm>
          <a:prstGeom prst="rect">
            <a:avLst/>
          </a:prstGeom>
        </p:spPr>
      </p:pic>
      <p:sp>
        <p:nvSpPr>
          <p:cNvPr id="40" name="TextBox 39"/>
          <p:cNvSpPr txBox="1"/>
          <p:nvPr/>
        </p:nvSpPr>
        <p:spPr>
          <a:xfrm>
            <a:off x="932809" y="5550407"/>
            <a:ext cx="3462163" cy="194310"/>
          </a:xfrm>
          <a:prstGeom prst="rect">
            <a:avLst/>
          </a:prstGeom>
          <a:noFill/>
        </p:spPr>
        <p:txBody>
          <a:bodyPr wrap="none" lIns="0" rIns="0" tIns="0" bIns="0">
            <a:spAutoFit/>
          </a:bodyPr>
          <a:lstStyle/>
          <a:p>
            <a:r>
              <a:rPr sz="1150" b="0">
                <a:solidFill>
                  <a:srgbClr val="2E2E2E"/>
                </a:solidFill>
                <a:latin typeface="Calibri"/>
              </a:rPr>
              <a:t>X increase in volume by the end of forecast period, 2036.</a:t>
            </a:r>
          </a:p>
        </p:txBody>
      </p:sp>
      <p:sp>
        <p:nvSpPr>
          <p:cNvPr id="41" name="TextBox 40"/>
          <p:cNvSpPr txBox="1"/>
          <p:nvPr/>
        </p:nvSpPr>
        <p:spPr>
          <a:xfrm>
            <a:off x="276225" y="5778245"/>
            <a:ext cx="3568563" cy="194310"/>
          </a:xfrm>
          <a:prstGeom prst="rect">
            <a:avLst/>
          </a:prstGeom>
          <a:noFill/>
        </p:spPr>
        <p:txBody>
          <a:bodyPr wrap="none" lIns="0" rIns="0" tIns="0" bIns="0">
            <a:spAutoFit/>
          </a:bodyPr>
          <a:lstStyle/>
          <a:p>
            <a:r>
              <a:rPr sz="1150" b="0">
                <a:solidFill>
                  <a:srgbClr val="2E2E2E"/>
                </a:solidFill>
                <a:latin typeface="Calibri"/>
              </a:rPr>
              <a:t>Global removable partial dentures market volume stood at</a:t>
            </a:r>
          </a:p>
        </p:txBody>
      </p:sp>
      <p:pic>
        <p:nvPicPr>
          <p:cNvPr id="42" name="Picture 41" descr="lock.png"/>
          <p:cNvPicPr>
            <a:picLocks noChangeAspect="1"/>
          </p:cNvPicPr>
          <p:nvPr/>
        </p:nvPicPr>
        <p:blipFill>
          <a:blip r:embed="rId6"/>
          <a:stretch>
            <a:fillRect/>
          </a:stretch>
        </p:blipFill>
        <p:spPr>
          <a:xfrm>
            <a:off x="3793942" y="5768022"/>
            <a:ext cx="134549" cy="195707"/>
          </a:xfrm>
          <a:prstGeom prst="rect">
            <a:avLst/>
          </a:prstGeom>
        </p:spPr>
      </p:pic>
      <p:sp>
        <p:nvSpPr>
          <p:cNvPr id="43" name="TextBox 42"/>
          <p:cNvSpPr txBox="1"/>
          <p:nvPr/>
        </p:nvSpPr>
        <p:spPr>
          <a:xfrm>
            <a:off x="3969051" y="5778245"/>
            <a:ext cx="2343683" cy="194310"/>
          </a:xfrm>
          <a:prstGeom prst="rect">
            <a:avLst/>
          </a:prstGeom>
          <a:noFill/>
        </p:spPr>
        <p:txBody>
          <a:bodyPr wrap="none" lIns="0" rIns="0" tIns="0" bIns="0">
            <a:spAutoFit/>
          </a:bodyPr>
          <a:lstStyle/>
          <a:p>
            <a:r>
              <a:rPr sz="1150" b="0">
                <a:solidFill>
                  <a:srgbClr val="2E2E2E"/>
                </a:solidFill>
                <a:latin typeface="Calibri"/>
              </a:rPr>
              <a:t>Units in 2025 and is expected to reach</a:t>
            </a:r>
          </a:p>
        </p:txBody>
      </p:sp>
      <p:pic>
        <p:nvPicPr>
          <p:cNvPr id="44" name="Picture 43" descr="lock.png"/>
          <p:cNvPicPr>
            <a:picLocks noChangeAspect="1"/>
          </p:cNvPicPr>
          <p:nvPr/>
        </p:nvPicPr>
        <p:blipFill>
          <a:blip r:embed="rId6"/>
          <a:stretch>
            <a:fillRect/>
          </a:stretch>
        </p:blipFill>
        <p:spPr>
          <a:xfrm>
            <a:off x="6261889" y="5768022"/>
            <a:ext cx="134549" cy="195707"/>
          </a:xfrm>
          <a:prstGeom prst="rect">
            <a:avLst/>
          </a:prstGeom>
        </p:spPr>
      </p:pic>
      <p:sp>
        <p:nvSpPr>
          <p:cNvPr id="45" name="TextBox 44"/>
          <p:cNvSpPr txBox="1"/>
          <p:nvPr/>
        </p:nvSpPr>
        <p:spPr>
          <a:xfrm>
            <a:off x="6436998" y="5778245"/>
            <a:ext cx="1964563" cy="194310"/>
          </a:xfrm>
          <a:prstGeom prst="rect">
            <a:avLst/>
          </a:prstGeom>
          <a:noFill/>
        </p:spPr>
        <p:txBody>
          <a:bodyPr wrap="none" lIns="0" rIns="0" tIns="0" bIns="0">
            <a:spAutoFit/>
          </a:bodyPr>
          <a:lstStyle/>
          <a:p>
            <a:r>
              <a:rPr sz="1150" b="0">
                <a:solidFill>
                  <a:srgbClr val="2E2E2E"/>
                </a:solidFill>
                <a:latin typeface="Calibri"/>
              </a:rPr>
              <a:t>Units by 2036 end, at a CAGR of</a:t>
            </a:r>
          </a:p>
        </p:txBody>
      </p:sp>
      <p:pic>
        <p:nvPicPr>
          <p:cNvPr id="46" name="Picture 45" descr="lock.png"/>
          <p:cNvPicPr>
            <a:picLocks noChangeAspect="1"/>
          </p:cNvPicPr>
          <p:nvPr/>
        </p:nvPicPr>
        <p:blipFill>
          <a:blip r:embed="rId6"/>
          <a:stretch>
            <a:fillRect/>
          </a:stretch>
        </p:blipFill>
        <p:spPr>
          <a:xfrm>
            <a:off x="8350715" y="5768022"/>
            <a:ext cx="134549" cy="195707"/>
          </a:xfrm>
          <a:prstGeom prst="rect">
            <a:avLst/>
          </a:prstGeom>
        </p:spPr>
      </p:pic>
      <p:sp>
        <p:nvSpPr>
          <p:cNvPr id="47" name="TextBox 46"/>
          <p:cNvSpPr txBox="1"/>
          <p:nvPr/>
        </p:nvSpPr>
        <p:spPr>
          <a:xfrm>
            <a:off x="8525824" y="5778245"/>
            <a:ext cx="2864271" cy="194310"/>
          </a:xfrm>
          <a:prstGeom prst="rect">
            <a:avLst/>
          </a:prstGeom>
          <a:noFill/>
        </p:spPr>
        <p:txBody>
          <a:bodyPr wrap="none" lIns="0" rIns="0" tIns="0" bIns="0">
            <a:spAutoFit/>
          </a:bodyPr>
          <a:lstStyle/>
          <a:p>
            <a:r>
              <a:rPr sz="1150" b="0">
                <a:solidFill>
                  <a:srgbClr val="2E2E2E"/>
                </a:solidFill>
                <a:latin typeface="Calibri"/>
              </a:rPr>
              <a:t>. Value is projected to grow faster than volume</a:t>
            </a:r>
          </a:p>
        </p:txBody>
      </p:sp>
      <p:sp>
        <p:nvSpPr>
          <p:cNvPr id="48" name="TextBox 47"/>
          <p:cNvSpPr txBox="1"/>
          <p:nvPr/>
        </p:nvSpPr>
        <p:spPr>
          <a:xfrm>
            <a:off x="276225" y="5953505"/>
            <a:ext cx="4232634" cy="194310"/>
          </a:xfrm>
          <a:prstGeom prst="rect">
            <a:avLst/>
          </a:prstGeom>
          <a:noFill/>
        </p:spPr>
        <p:txBody>
          <a:bodyPr wrap="none" lIns="0" rIns="0" tIns="0" bIns="0">
            <a:spAutoFit/>
          </a:bodyPr>
          <a:lstStyle/>
          <a:p>
            <a:r>
              <a:rPr sz="1150" b="0">
                <a:solidFill>
                  <a:srgbClr val="2E2E2E"/>
                </a:solidFill>
                <a:latin typeface="Calibri"/>
              </a:rPr>
              <a:t>over the forecast period, owing to an increase in average selling price.</a:t>
            </a:r>
          </a:p>
        </p:txBody>
      </p:sp>
      <p:sp>
        <p:nvSpPr>
          <p:cNvPr id="49" name="lockshield_13"/>
          <p:cNvSpPr/>
          <p:nvPr/>
        </p:nvSpPr>
        <p:spPr>
          <a:xfrm>
            <a:off x="238125" y="1266825"/>
            <a:ext cx="4505325" cy="22288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lockshield_16"/>
          <p:cNvSpPr/>
          <p:nvPr/>
        </p:nvSpPr>
        <p:spPr>
          <a:xfrm>
            <a:off x="5086350" y="1266825"/>
            <a:ext cx="6858000" cy="22288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Summary Country Indices (Value)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outlook ranking 2036 market size, growth and absolute-growth indices to highlight the strongest markets</a:t>
            </a:r>
          </a:p>
        </p:txBody>
      </p:sp>
      <p:sp>
        <p:nvSpPr>
          <p:cNvPr id="10" name="Rounded Rectangle 9"/>
          <p:cNvSpPr/>
          <p:nvPr/>
        </p:nvSpPr>
        <p:spPr>
          <a:xfrm>
            <a:off x="142875" y="1007261"/>
            <a:ext cx="3933825" cy="2445995"/>
          </a:xfrm>
          <a:prstGeom prst="roundRect">
            <a:avLst>
              <a:gd name="adj" fmla="val 311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CAGR Index</a:t>
            </a:r>
          </a:p>
        </p:txBody>
      </p:sp>
      <p:graphicFrame>
        <p:nvGraphicFramePr>
          <p:cNvPr id="12" name="Chart 11"/>
          <p:cNvGraphicFramePr>
            <a:graphicFrameLocks noGrp="1"/>
          </p:cNvGraphicFramePr>
          <p:nvPr/>
        </p:nvGraphicFramePr>
        <p:xfrm>
          <a:off x="238125" y="1293011"/>
          <a:ext cx="3743325" cy="210309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489764"/>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4" name="Table 13"/>
          <p:cNvGraphicFramePr>
            <a:graphicFrameLocks noGrp="1"/>
          </p:cNvGraphicFramePr>
          <p:nvPr/>
        </p:nvGraphicFramePr>
        <p:xfrm>
          <a:off x="152400" y="3565964"/>
          <a:ext cx="3914776" cy="2132071"/>
        </p:xfrm>
        <a:graphic>
          <a:graphicData uri="http://schemas.openxmlformats.org/drawingml/2006/table">
            <a:tbl>
              <a:tblPr>
                <a:tableStyleId>{5C22544A-7EE6-4342-B048-85BDC9FD1C3A}</a:tableStyleId>
              </a:tblPr>
              <a:tblGrid>
                <a:gridCol w="1013910"/>
                <a:gridCol w="969873"/>
                <a:gridCol w="661933"/>
                <a:gridCol w="1269060"/>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 Index</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 Opp (US$ Mn)</a:t>
                      </a:r>
                      <a:endParaRPr sz="1100"/>
                    </a:p>
                  </a:txBody>
                  <a:tcPr marL="47625" marR="38100" marT="19050" marB="19050" anchor="ctr">
                    <a:solidFill>
                      <a:srgbClr val="E0E8EF"/>
                    </a:solidFill>
                  </a:tcPr>
                </a:tc>
              </a:tr>
              <a:tr h="377189">
                <a:tc>
                  <a:txBody>
                    <a:bodyPr wrap="none"/>
                    <a:lstStyle/>
                    <a:p>
                      <a:pPr algn="l"/>
                      <a:r>
                        <a:rPr sz="1100" b="1">
                          <a:solidFill>
                            <a:srgbClr val="2E2E2E"/>
                          </a:solidFill>
                          <a:latin typeface="Calibri"/>
                        </a:rPr>
                        <a:t>India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77189">
                <a:tc>
                  <a:txBody>
                    <a:bodyPr wrap="none"/>
                    <a:lstStyle/>
                    <a:p>
                      <a:pPr algn="l"/>
                      <a:r>
                        <a:rPr sz="1100" b="1">
                          <a:solidFill>
                            <a:srgbClr val="2E2E2E"/>
                          </a:solidFill>
                          <a:latin typeface="Calibri"/>
                        </a:rPr>
                        <a:t>Germany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77189">
                <a:tc>
                  <a:txBody>
                    <a:bodyPr wrap="none"/>
                    <a:lstStyle/>
                    <a:p>
                      <a:pPr algn="l"/>
                      <a:r>
                        <a:rPr sz="1100" b="1">
                          <a:solidFill>
                            <a:srgbClr val="2E2E2E"/>
                          </a:solidFill>
                          <a:latin typeface="Calibri"/>
                        </a:rPr>
                        <a:t>Netherlands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77189">
                <a:tc>
                  <a:txBody>
                    <a:bodyPr wrap="none"/>
                    <a:lstStyle/>
                    <a:p>
                      <a:pPr algn="l"/>
                      <a:r>
                        <a:rPr sz="1100" b="1">
                          <a:solidFill>
                            <a:srgbClr val="2E2E2E"/>
                          </a:solidFill>
                          <a:latin typeface="Calibri"/>
                        </a:rPr>
                        <a:t>France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77189">
                <a:tc>
                  <a:txBody>
                    <a:bodyPr wrap="none"/>
                    <a:lstStyle/>
                    <a:p>
                      <a:pPr algn="l"/>
                      <a:r>
                        <a:rPr sz="1100" b="1">
                          <a:solidFill>
                            <a:srgbClr val="2E2E2E"/>
                          </a:solidFill>
                          <a:latin typeface="Calibri"/>
                        </a:rPr>
                        <a:t>Brazil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5" name="TextBox 14"/>
          <p:cNvSpPr txBox="1"/>
          <p:nvPr/>
        </p:nvSpPr>
        <p:spPr>
          <a:xfrm>
            <a:off x="219075" y="5707558"/>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6" name="Rounded Rectangle 15"/>
          <p:cNvSpPr/>
          <p:nvPr/>
        </p:nvSpPr>
        <p:spPr>
          <a:xfrm>
            <a:off x="4114800" y="1007261"/>
            <a:ext cx="3933825" cy="4928498"/>
          </a:xfrm>
          <a:prstGeom prst="roundRect">
            <a:avLst>
              <a:gd name="adj" fmla="val 19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210050"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2036 Market By Country (US$ Mn)  ·  Top 10</a:t>
            </a:r>
          </a:p>
        </p:txBody>
      </p:sp>
      <p:sp>
        <p:nvSpPr>
          <p:cNvPr id="18" name="Rectangle 17"/>
          <p:cNvSpPr/>
          <p:nvPr/>
        </p:nvSpPr>
        <p:spPr>
          <a:xfrm>
            <a:off x="4210050" y="1293011"/>
            <a:ext cx="2374030" cy="2003628"/>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U.S.</a:t>
            </a:r>
          </a:p>
          <a:p>
            <a:pPr algn="ctr"/>
            <a:r>
              <a:rPr sz="1100" b="0">
                <a:solidFill>
                  <a:srgbClr val="FFFFFF"/>
                </a:solidFill>
                <a:latin typeface="Calibri"/>
              </a:rPr>
              <a:t> </a:t>
            </a:r>
          </a:p>
        </p:txBody>
      </p:sp>
      <p:sp>
        <p:nvSpPr>
          <p:cNvPr id="19" name="Rectangle 18"/>
          <p:cNvSpPr/>
          <p:nvPr/>
        </p:nvSpPr>
        <p:spPr>
          <a:xfrm>
            <a:off x="6584080" y="1293011"/>
            <a:ext cx="1369295" cy="2003628"/>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Germany</a:t>
            </a:r>
          </a:p>
          <a:p>
            <a:pPr algn="ctr"/>
            <a:r>
              <a:rPr sz="1100" b="0">
                <a:solidFill>
                  <a:srgbClr val="FFFFFF"/>
                </a:solidFill>
                <a:latin typeface="Calibri"/>
              </a:rPr>
              <a:t> </a:t>
            </a:r>
          </a:p>
        </p:txBody>
      </p:sp>
      <p:sp>
        <p:nvSpPr>
          <p:cNvPr id="20" name="Rectangle 19"/>
          <p:cNvSpPr/>
          <p:nvPr/>
        </p:nvSpPr>
        <p:spPr>
          <a:xfrm>
            <a:off x="4210050" y="3296639"/>
            <a:ext cx="1574528" cy="1459515"/>
          </a:xfrm>
          <a:prstGeom prst="rect">
            <a:avLst/>
          </a:prstGeom>
          <a:solidFill>
            <a:srgbClr val="0081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Canada</a:t>
            </a:r>
          </a:p>
          <a:p>
            <a:pPr algn="ctr"/>
            <a:r>
              <a:rPr sz="1100" b="0">
                <a:solidFill>
                  <a:srgbClr val="FFFFFF"/>
                </a:solidFill>
                <a:latin typeface="Calibri"/>
              </a:rPr>
              <a:t> </a:t>
            </a:r>
          </a:p>
        </p:txBody>
      </p:sp>
      <p:sp>
        <p:nvSpPr>
          <p:cNvPr id="21" name="Rectangle 20"/>
          <p:cNvSpPr/>
          <p:nvPr/>
        </p:nvSpPr>
        <p:spPr>
          <a:xfrm>
            <a:off x="4210050" y="4756153"/>
            <a:ext cx="1574528" cy="1122456"/>
          </a:xfrm>
          <a:prstGeom prst="rect">
            <a:avLst/>
          </a:prstGeom>
          <a:solidFill>
            <a:srgbClr val="40315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China</a:t>
            </a:r>
          </a:p>
          <a:p>
            <a:pPr algn="ctr"/>
            <a:r>
              <a:rPr sz="1100" b="0">
                <a:solidFill>
                  <a:srgbClr val="FFFFFF"/>
                </a:solidFill>
                <a:latin typeface="Calibri"/>
              </a:rPr>
              <a:t> </a:t>
            </a:r>
          </a:p>
        </p:txBody>
      </p:sp>
      <p:sp>
        <p:nvSpPr>
          <p:cNvPr id="22" name="Rectangle 21"/>
          <p:cNvSpPr/>
          <p:nvPr/>
        </p:nvSpPr>
        <p:spPr>
          <a:xfrm>
            <a:off x="5784578" y="3296639"/>
            <a:ext cx="1190176" cy="1131388"/>
          </a:xfrm>
          <a:prstGeom prst="rect">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India</a:t>
            </a:r>
          </a:p>
          <a:p>
            <a:pPr algn="ctr"/>
            <a:r>
              <a:rPr sz="1100" b="0">
                <a:solidFill>
                  <a:srgbClr val="FFFFFF"/>
                </a:solidFill>
                <a:latin typeface="Calibri"/>
              </a:rPr>
              <a:t> </a:t>
            </a:r>
          </a:p>
        </p:txBody>
      </p:sp>
      <p:sp>
        <p:nvSpPr>
          <p:cNvPr id="23" name="Rectangle 22"/>
          <p:cNvSpPr/>
          <p:nvPr/>
        </p:nvSpPr>
        <p:spPr>
          <a:xfrm>
            <a:off x="6974755" y="3296639"/>
            <a:ext cx="978620" cy="1131388"/>
          </a:xfrm>
          <a:prstGeom prst="rect">
            <a:avLst/>
          </a:prstGeom>
          <a:solidFill>
            <a:srgbClr val="80808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Brazil</a:t>
            </a:r>
          </a:p>
          <a:p>
            <a:pPr algn="ctr"/>
            <a:r>
              <a:rPr sz="1100" b="0">
                <a:solidFill>
                  <a:srgbClr val="FFFFFF"/>
                </a:solidFill>
                <a:latin typeface="Calibri"/>
              </a:rPr>
              <a:t> </a:t>
            </a:r>
          </a:p>
        </p:txBody>
      </p:sp>
      <p:sp>
        <p:nvSpPr>
          <p:cNvPr id="24" name="Rectangle 23"/>
          <p:cNvSpPr/>
          <p:nvPr/>
        </p:nvSpPr>
        <p:spPr>
          <a:xfrm>
            <a:off x="5784578" y="4428027"/>
            <a:ext cx="1185271" cy="809390"/>
          </a:xfrm>
          <a:prstGeom prst="rect">
            <a:avLst/>
          </a:prstGeom>
          <a:solidFill>
            <a:srgbClr val="0E72A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U.K.</a:t>
            </a:r>
          </a:p>
          <a:p>
            <a:pPr algn="ctr"/>
            <a:r>
              <a:rPr sz="1100" b="0">
                <a:solidFill>
                  <a:srgbClr val="FFFFFF"/>
                </a:solidFill>
                <a:latin typeface="Calibri"/>
              </a:rPr>
              <a:t> </a:t>
            </a:r>
          </a:p>
        </p:txBody>
      </p:sp>
      <p:sp>
        <p:nvSpPr>
          <p:cNvPr id="25" name="Rectangle 24"/>
          <p:cNvSpPr/>
          <p:nvPr/>
        </p:nvSpPr>
        <p:spPr>
          <a:xfrm>
            <a:off x="5784578" y="5237417"/>
            <a:ext cx="1185271" cy="641193"/>
          </a:xfrm>
          <a:prstGeom prst="rect">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Japan</a:t>
            </a:r>
          </a:p>
          <a:p>
            <a:pPr algn="ctr"/>
            <a:r>
              <a:rPr sz="1100" b="0">
                <a:solidFill>
                  <a:srgbClr val="FFFFFF"/>
                </a:solidFill>
                <a:latin typeface="Calibri"/>
              </a:rPr>
              <a:t> </a:t>
            </a:r>
          </a:p>
        </p:txBody>
      </p:sp>
      <p:sp>
        <p:nvSpPr>
          <p:cNvPr id="26" name="Rectangle 25"/>
          <p:cNvSpPr/>
          <p:nvPr/>
        </p:nvSpPr>
        <p:spPr>
          <a:xfrm>
            <a:off x="6969850" y="4428027"/>
            <a:ext cx="983525" cy="759246"/>
          </a:xfrm>
          <a:prstGeom prst="rect">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France</a:t>
            </a:r>
          </a:p>
          <a:p>
            <a:pPr algn="ctr"/>
            <a:r>
              <a:rPr sz="1100" b="0">
                <a:solidFill>
                  <a:srgbClr val="FFFFFF"/>
                </a:solidFill>
                <a:latin typeface="Calibri"/>
              </a:rPr>
              <a:t> </a:t>
            </a:r>
          </a:p>
        </p:txBody>
      </p:sp>
      <p:sp>
        <p:nvSpPr>
          <p:cNvPr id="27" name="Rectangle 26"/>
          <p:cNvSpPr/>
          <p:nvPr/>
        </p:nvSpPr>
        <p:spPr>
          <a:xfrm>
            <a:off x="6969850" y="5187272"/>
            <a:ext cx="983525" cy="691337"/>
          </a:xfrm>
          <a:prstGeom prst="rect">
            <a:avLst/>
          </a:prstGeom>
          <a:solidFill>
            <a:srgbClr val="6C7A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Turkey</a:t>
            </a:r>
          </a:p>
          <a:p>
            <a:pPr algn="ctr"/>
            <a:r>
              <a:rPr sz="1100" b="0">
                <a:solidFill>
                  <a:srgbClr val="FFFFFF"/>
                </a:solidFill>
                <a:latin typeface="Calibri"/>
              </a:rPr>
              <a:t> </a:t>
            </a:r>
          </a:p>
        </p:txBody>
      </p:sp>
      <p:sp>
        <p:nvSpPr>
          <p:cNvPr id="28" name="Rounded Rectangle 27"/>
          <p:cNvSpPr/>
          <p:nvPr/>
        </p:nvSpPr>
        <p:spPr>
          <a:xfrm>
            <a:off x="8086725" y="1007261"/>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818197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Absolute Index</a:t>
            </a:r>
          </a:p>
        </p:txBody>
      </p:sp>
      <p:graphicFrame>
        <p:nvGraphicFramePr>
          <p:cNvPr id="30" name="Chart 29"/>
          <p:cNvGraphicFramePr>
            <a:graphicFrameLocks noGrp="1"/>
          </p:cNvGraphicFramePr>
          <p:nvPr/>
        </p:nvGraphicFramePr>
        <p:xfrm>
          <a:off x="8181975" y="1293011"/>
          <a:ext cx="3743325" cy="2093969"/>
        </p:xfrm>
        <a:graphic>
          <a:graphicData uri="http://schemas.openxmlformats.org/drawingml/2006/chart">
            <c:chart xmlns:c="http://schemas.openxmlformats.org/drawingml/2006/chart" r:id="rId4"/>
          </a:graphicData>
        </a:graphic>
      </p:graphicFrame>
      <p:sp>
        <p:nvSpPr>
          <p:cNvPr id="31" name="Rounded Rectangle 30"/>
          <p:cNvSpPr/>
          <p:nvPr/>
        </p:nvSpPr>
        <p:spPr>
          <a:xfrm>
            <a:off x="8086725" y="3471510"/>
            <a:ext cx="3933825" cy="2464249"/>
          </a:xfrm>
          <a:prstGeom prst="roundRect">
            <a:avLst>
              <a:gd name="adj" fmla="val 30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32" name="Table 31"/>
          <p:cNvGraphicFramePr>
            <a:graphicFrameLocks noGrp="1"/>
          </p:cNvGraphicFramePr>
          <p:nvPr/>
        </p:nvGraphicFramePr>
        <p:xfrm>
          <a:off x="8096250" y="3547710"/>
          <a:ext cx="3914776" cy="2159451"/>
        </p:xfrm>
        <a:graphic>
          <a:graphicData uri="http://schemas.openxmlformats.org/drawingml/2006/table">
            <a:tbl>
              <a:tblPr>
                <a:tableStyleId>{5C22544A-7EE6-4342-B048-85BDC9FD1C3A}</a:tableStyleId>
              </a:tblPr>
              <a:tblGrid>
                <a:gridCol w="671383"/>
                <a:gridCol w="1081131"/>
                <a:gridCol w="1081131"/>
                <a:gridCol w="1081131"/>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Absolute Index</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 Opp (US$ Mn)</a:t>
                      </a:r>
                      <a:endParaRPr sz="1100"/>
                    </a:p>
                  </a:txBody>
                  <a:tcPr marL="47625" marR="38100" marT="19050" marB="19050" anchor="ctr">
                    <a:solidFill>
                      <a:srgbClr val="E0E8EF"/>
                    </a:solidFill>
                  </a:tcPr>
                </a:tc>
              </a:tr>
              <a:tr h="382665">
                <a:tc>
                  <a:txBody>
                    <a:bodyPr wrap="none"/>
                    <a:lstStyle/>
                    <a:p>
                      <a:pPr algn="l"/>
                      <a:r>
                        <a:rPr sz="1100" b="1">
                          <a:solidFill>
                            <a:srgbClr val="2E2E2E"/>
                          </a:solidFill>
                          <a:latin typeface="Calibri"/>
                        </a:rPr>
                        <a:t>U.S.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82665">
                <a:tc>
                  <a:txBody>
                    <a:bodyPr wrap="none"/>
                    <a:lstStyle/>
                    <a:p>
                      <a:pPr algn="l"/>
                      <a:r>
                        <a:rPr sz="1100" b="1">
                          <a:solidFill>
                            <a:srgbClr val="2E2E2E"/>
                          </a:solidFill>
                          <a:latin typeface="Calibri"/>
                        </a:rPr>
                        <a:t>Germany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82665">
                <a:tc>
                  <a:txBody>
                    <a:bodyPr wrap="none"/>
                    <a:lstStyle/>
                    <a:p>
                      <a:pPr algn="l"/>
                      <a:r>
                        <a:rPr sz="1100" b="1">
                          <a:solidFill>
                            <a:srgbClr val="2E2E2E"/>
                          </a:solidFill>
                          <a:latin typeface="Calibri"/>
                        </a:rPr>
                        <a:t>Canada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82665">
                <a:tc>
                  <a:txBody>
                    <a:bodyPr wrap="none"/>
                    <a:lstStyle/>
                    <a:p>
                      <a:pPr algn="l"/>
                      <a:r>
                        <a:rPr sz="1100" b="1">
                          <a:solidFill>
                            <a:srgbClr val="2E2E2E"/>
                          </a:solidFill>
                          <a:latin typeface="Calibri"/>
                        </a:rPr>
                        <a:t>China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82665">
                <a:tc>
                  <a:txBody>
                    <a:bodyPr wrap="none"/>
                    <a:lstStyle/>
                    <a:p>
                      <a:pPr algn="l"/>
                      <a:r>
                        <a:rPr sz="1100" b="1">
                          <a:solidFill>
                            <a:srgbClr val="2E2E2E"/>
                          </a:solidFill>
                          <a:latin typeface="Calibri"/>
                        </a:rPr>
                        <a:t>India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33" name="TextBox 32"/>
          <p:cNvSpPr txBox="1"/>
          <p:nvPr/>
        </p:nvSpPr>
        <p:spPr>
          <a:xfrm>
            <a:off x="8162925" y="5716684"/>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34" name="Rounded Rectangle 33"/>
          <p:cNvSpPr/>
          <p:nvPr/>
        </p:nvSpPr>
        <p:spPr>
          <a:xfrm>
            <a:off x="142875" y="6027028"/>
            <a:ext cx="10858500" cy="602372"/>
          </a:xfrm>
          <a:prstGeom prst="roundRect">
            <a:avLst>
              <a:gd name="adj" fmla="val 126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35" name="TextBox 3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6" name="Picture 35" descr="lock.png"/>
          <p:cNvPicPr>
            <a:picLocks noChangeAspect="1"/>
          </p:cNvPicPr>
          <p:nvPr/>
        </p:nvPicPr>
        <p:blipFill>
          <a:blip r:embed="rId6"/>
          <a:stretch>
            <a:fillRect/>
          </a:stretch>
        </p:blipFill>
        <p:spPr>
          <a:xfrm>
            <a:off x="3188017" y="2125483"/>
            <a:ext cx="183356" cy="266700"/>
          </a:xfrm>
          <a:prstGeom prst="rect">
            <a:avLst/>
          </a:prstGeom>
        </p:spPr>
      </p:pic>
      <p:pic>
        <p:nvPicPr>
          <p:cNvPr id="37" name="Picture 36" descr="lock.png"/>
          <p:cNvPicPr>
            <a:picLocks noChangeAspect="1"/>
          </p:cNvPicPr>
          <p:nvPr/>
        </p:nvPicPr>
        <p:blipFill>
          <a:blip r:embed="rId6"/>
          <a:stretch>
            <a:fillRect/>
          </a:stretch>
        </p:blipFill>
        <p:spPr>
          <a:xfrm>
            <a:off x="2447283" y="4512977"/>
            <a:ext cx="332867" cy="484170"/>
          </a:xfrm>
          <a:prstGeom prst="rect">
            <a:avLst/>
          </a:prstGeom>
        </p:spPr>
      </p:pic>
      <p:pic>
        <p:nvPicPr>
          <p:cNvPr id="38" name="Picture 37" descr="lock.png"/>
          <p:cNvPicPr>
            <a:picLocks noChangeAspect="1"/>
          </p:cNvPicPr>
          <p:nvPr/>
        </p:nvPicPr>
        <p:blipFill>
          <a:blip r:embed="rId6"/>
          <a:stretch>
            <a:fillRect/>
          </a:stretch>
        </p:blipFill>
        <p:spPr>
          <a:xfrm>
            <a:off x="5339439" y="2294825"/>
            <a:ext cx="115252" cy="167639"/>
          </a:xfrm>
          <a:prstGeom prst="rect">
            <a:avLst/>
          </a:prstGeom>
        </p:spPr>
      </p:pic>
      <p:pic>
        <p:nvPicPr>
          <p:cNvPr id="39" name="Picture 38" descr="lock.png"/>
          <p:cNvPicPr>
            <a:picLocks noChangeAspect="1"/>
          </p:cNvPicPr>
          <p:nvPr/>
        </p:nvPicPr>
        <p:blipFill>
          <a:blip r:embed="rId6"/>
          <a:stretch>
            <a:fillRect/>
          </a:stretch>
        </p:blipFill>
        <p:spPr>
          <a:xfrm>
            <a:off x="7211101" y="2294825"/>
            <a:ext cx="115252" cy="167639"/>
          </a:xfrm>
          <a:prstGeom prst="rect">
            <a:avLst/>
          </a:prstGeom>
        </p:spPr>
      </p:pic>
      <p:pic>
        <p:nvPicPr>
          <p:cNvPr id="40" name="Picture 39" descr="lock.png"/>
          <p:cNvPicPr>
            <a:picLocks noChangeAspect="1"/>
          </p:cNvPicPr>
          <p:nvPr/>
        </p:nvPicPr>
        <p:blipFill>
          <a:blip r:embed="rId6"/>
          <a:stretch>
            <a:fillRect/>
          </a:stretch>
        </p:blipFill>
        <p:spPr>
          <a:xfrm>
            <a:off x="4939688" y="4026396"/>
            <a:ext cx="115252" cy="167639"/>
          </a:xfrm>
          <a:prstGeom prst="rect">
            <a:avLst/>
          </a:prstGeom>
        </p:spPr>
      </p:pic>
      <p:pic>
        <p:nvPicPr>
          <p:cNvPr id="41" name="Picture 40" descr="lock.png"/>
          <p:cNvPicPr>
            <a:picLocks noChangeAspect="1"/>
          </p:cNvPicPr>
          <p:nvPr/>
        </p:nvPicPr>
        <p:blipFill>
          <a:blip r:embed="rId6"/>
          <a:stretch>
            <a:fillRect/>
          </a:stretch>
        </p:blipFill>
        <p:spPr>
          <a:xfrm>
            <a:off x="4939688" y="5317381"/>
            <a:ext cx="115252" cy="167639"/>
          </a:xfrm>
          <a:prstGeom prst="rect">
            <a:avLst/>
          </a:prstGeom>
        </p:spPr>
      </p:pic>
      <p:pic>
        <p:nvPicPr>
          <p:cNvPr id="42" name="Picture 41" descr="lock.png"/>
          <p:cNvPicPr>
            <a:picLocks noChangeAspect="1"/>
          </p:cNvPicPr>
          <p:nvPr/>
        </p:nvPicPr>
        <p:blipFill>
          <a:blip r:embed="rId6"/>
          <a:stretch>
            <a:fillRect/>
          </a:stretch>
        </p:blipFill>
        <p:spPr>
          <a:xfrm>
            <a:off x="6322040" y="3862333"/>
            <a:ext cx="115252" cy="167639"/>
          </a:xfrm>
          <a:prstGeom prst="rect">
            <a:avLst/>
          </a:prstGeom>
        </p:spPr>
      </p:pic>
      <p:pic>
        <p:nvPicPr>
          <p:cNvPr id="43" name="Picture 42" descr="lock.png"/>
          <p:cNvPicPr>
            <a:picLocks noChangeAspect="1"/>
          </p:cNvPicPr>
          <p:nvPr/>
        </p:nvPicPr>
        <p:blipFill>
          <a:blip r:embed="rId6"/>
          <a:stretch>
            <a:fillRect/>
          </a:stretch>
        </p:blipFill>
        <p:spPr>
          <a:xfrm>
            <a:off x="7406439" y="3862333"/>
            <a:ext cx="115252" cy="167639"/>
          </a:xfrm>
          <a:prstGeom prst="rect">
            <a:avLst/>
          </a:prstGeom>
        </p:spPr>
      </p:pic>
      <p:pic>
        <p:nvPicPr>
          <p:cNvPr id="44" name="Picture 43" descr="lock.png"/>
          <p:cNvPicPr>
            <a:picLocks noChangeAspect="1"/>
          </p:cNvPicPr>
          <p:nvPr/>
        </p:nvPicPr>
        <p:blipFill>
          <a:blip r:embed="rId6"/>
          <a:stretch>
            <a:fillRect/>
          </a:stretch>
        </p:blipFill>
        <p:spPr>
          <a:xfrm>
            <a:off x="6319587" y="4832722"/>
            <a:ext cx="115252" cy="167639"/>
          </a:xfrm>
          <a:prstGeom prst="rect">
            <a:avLst/>
          </a:prstGeom>
        </p:spPr>
      </p:pic>
      <p:pic>
        <p:nvPicPr>
          <p:cNvPr id="45" name="Picture 44" descr="lock.png"/>
          <p:cNvPicPr>
            <a:picLocks noChangeAspect="1"/>
          </p:cNvPicPr>
          <p:nvPr/>
        </p:nvPicPr>
        <p:blipFill>
          <a:blip r:embed="rId6"/>
          <a:stretch>
            <a:fillRect/>
          </a:stretch>
        </p:blipFill>
        <p:spPr>
          <a:xfrm>
            <a:off x="6319587" y="5558013"/>
            <a:ext cx="115252" cy="167639"/>
          </a:xfrm>
          <a:prstGeom prst="rect">
            <a:avLst/>
          </a:prstGeom>
        </p:spPr>
      </p:pic>
      <p:pic>
        <p:nvPicPr>
          <p:cNvPr id="46" name="Picture 45" descr="lock.png"/>
          <p:cNvPicPr>
            <a:picLocks noChangeAspect="1"/>
          </p:cNvPicPr>
          <p:nvPr/>
        </p:nvPicPr>
        <p:blipFill>
          <a:blip r:embed="rId6"/>
          <a:stretch>
            <a:fillRect/>
          </a:stretch>
        </p:blipFill>
        <p:spPr>
          <a:xfrm>
            <a:off x="7403986" y="4807650"/>
            <a:ext cx="115252" cy="167639"/>
          </a:xfrm>
          <a:prstGeom prst="rect">
            <a:avLst/>
          </a:prstGeom>
        </p:spPr>
      </p:pic>
      <p:pic>
        <p:nvPicPr>
          <p:cNvPr id="47" name="Picture 46" descr="lock.png"/>
          <p:cNvPicPr>
            <a:picLocks noChangeAspect="1"/>
          </p:cNvPicPr>
          <p:nvPr/>
        </p:nvPicPr>
        <p:blipFill>
          <a:blip r:embed="rId6"/>
          <a:stretch>
            <a:fillRect/>
          </a:stretch>
        </p:blipFill>
        <p:spPr>
          <a:xfrm>
            <a:off x="7403986" y="5532940"/>
            <a:ext cx="115252" cy="167639"/>
          </a:xfrm>
          <a:prstGeom prst="rect">
            <a:avLst/>
          </a:prstGeom>
        </p:spPr>
      </p:pic>
      <p:pic>
        <p:nvPicPr>
          <p:cNvPr id="48" name="Picture 47" descr="lock.png"/>
          <p:cNvPicPr>
            <a:picLocks noChangeAspect="1"/>
          </p:cNvPicPr>
          <p:nvPr/>
        </p:nvPicPr>
        <p:blipFill>
          <a:blip r:embed="rId6"/>
          <a:stretch>
            <a:fillRect/>
          </a:stretch>
        </p:blipFill>
        <p:spPr>
          <a:xfrm>
            <a:off x="11131867" y="2120920"/>
            <a:ext cx="183356" cy="266700"/>
          </a:xfrm>
          <a:prstGeom prst="rect">
            <a:avLst/>
          </a:prstGeom>
        </p:spPr>
      </p:pic>
      <p:pic>
        <p:nvPicPr>
          <p:cNvPr id="49" name="Picture 48" descr="lock.png"/>
          <p:cNvPicPr>
            <a:picLocks noChangeAspect="1"/>
          </p:cNvPicPr>
          <p:nvPr/>
        </p:nvPicPr>
        <p:blipFill>
          <a:blip r:embed="rId6"/>
          <a:stretch>
            <a:fillRect/>
          </a:stretch>
        </p:blipFill>
        <p:spPr>
          <a:xfrm>
            <a:off x="10208848" y="4492667"/>
            <a:ext cx="354517" cy="515661"/>
          </a:xfrm>
          <a:prstGeom prst="rect">
            <a:avLst/>
          </a:prstGeom>
        </p:spPr>
      </p:pic>
      <p:sp>
        <p:nvSpPr>
          <p:cNvPr id="50" name="TextBox 49"/>
          <p:cNvSpPr txBox="1"/>
          <p:nvPr/>
        </p:nvSpPr>
        <p:spPr>
          <a:xfrm>
            <a:off x="257175" y="6160574"/>
            <a:ext cx="3881387" cy="186689"/>
          </a:xfrm>
          <a:prstGeom prst="rect">
            <a:avLst/>
          </a:prstGeom>
          <a:noFill/>
        </p:spPr>
        <p:txBody>
          <a:bodyPr wrap="none" lIns="0" rIns="0" tIns="0" bIns="0">
            <a:spAutoFit/>
          </a:bodyPr>
          <a:lstStyle/>
          <a:p>
            <a:r>
              <a:rPr sz="1100" b="0">
                <a:solidFill>
                  <a:srgbClr val="2E2E2E"/>
                </a:solidFill>
                <a:latin typeface="Calibri"/>
              </a:rPr>
              <a:t>The U.S. removable partial dentures market is projected to register</a:t>
            </a:r>
          </a:p>
        </p:txBody>
      </p:sp>
      <p:pic>
        <p:nvPicPr>
          <p:cNvPr id="51" name="Picture 50" descr="lock.png"/>
          <p:cNvPicPr>
            <a:picLocks noChangeAspect="1"/>
          </p:cNvPicPr>
          <p:nvPr/>
        </p:nvPicPr>
        <p:blipFill>
          <a:blip r:embed="rId6"/>
          <a:stretch>
            <a:fillRect/>
          </a:stretch>
        </p:blipFill>
        <p:spPr>
          <a:xfrm>
            <a:off x="4086614" y="6150795"/>
            <a:ext cx="128699" cy="187198"/>
          </a:xfrm>
          <a:prstGeom prst="rect">
            <a:avLst/>
          </a:prstGeom>
        </p:spPr>
      </p:pic>
      <p:sp>
        <p:nvSpPr>
          <p:cNvPr id="52" name="TextBox 51"/>
          <p:cNvSpPr txBox="1"/>
          <p:nvPr/>
        </p:nvSpPr>
        <p:spPr>
          <a:xfrm>
            <a:off x="4254110" y="6160574"/>
            <a:ext cx="4298833" cy="186689"/>
          </a:xfrm>
          <a:prstGeom prst="rect">
            <a:avLst/>
          </a:prstGeom>
          <a:noFill/>
        </p:spPr>
        <p:txBody>
          <a:bodyPr wrap="none" lIns="0" rIns="0" tIns="0" bIns="0">
            <a:spAutoFit/>
          </a:bodyPr>
          <a:lstStyle/>
          <a:p>
            <a:r>
              <a:rPr sz="1100" b="0">
                <a:solidFill>
                  <a:srgbClr val="2E2E2E"/>
                </a:solidFill>
                <a:latin typeface="Calibri"/>
              </a:rPr>
              <a:t>X higher value than Germany in 2036. India posts the highest CAGR Index (</a:t>
            </a:r>
          </a:p>
        </p:txBody>
      </p:sp>
      <p:pic>
        <p:nvPicPr>
          <p:cNvPr id="53" name="Picture 52" descr="lock.png"/>
          <p:cNvPicPr>
            <a:picLocks noChangeAspect="1"/>
          </p:cNvPicPr>
          <p:nvPr/>
        </p:nvPicPr>
        <p:blipFill>
          <a:blip r:embed="rId6"/>
          <a:stretch>
            <a:fillRect/>
          </a:stretch>
        </p:blipFill>
        <p:spPr>
          <a:xfrm>
            <a:off x="8500995" y="6150795"/>
            <a:ext cx="128699" cy="187198"/>
          </a:xfrm>
          <a:prstGeom prst="rect">
            <a:avLst/>
          </a:prstGeom>
        </p:spPr>
      </p:pic>
      <p:sp>
        <p:nvSpPr>
          <p:cNvPr id="54" name="TextBox 53"/>
          <p:cNvSpPr txBox="1"/>
          <p:nvPr/>
        </p:nvSpPr>
        <p:spPr>
          <a:xfrm>
            <a:off x="8668491" y="6160574"/>
            <a:ext cx="789979" cy="186689"/>
          </a:xfrm>
          <a:prstGeom prst="rect">
            <a:avLst/>
          </a:prstGeom>
          <a:noFill/>
        </p:spPr>
        <p:txBody>
          <a:bodyPr wrap="none" lIns="0" rIns="0" tIns="0" bIns="0">
            <a:spAutoFit/>
          </a:bodyPr>
          <a:lstStyle/>
          <a:p>
            <a:r>
              <a:rPr sz="1100" b="0">
                <a:solidFill>
                  <a:srgbClr val="2E2E2E"/>
                </a:solidFill>
                <a:latin typeface="Calibri"/>
              </a:rPr>
              <a:t>), growing at</a:t>
            </a:r>
          </a:p>
        </p:txBody>
      </p:sp>
      <p:pic>
        <p:nvPicPr>
          <p:cNvPr id="55" name="Picture 54" descr="lock.png"/>
          <p:cNvPicPr>
            <a:picLocks noChangeAspect="1"/>
          </p:cNvPicPr>
          <p:nvPr/>
        </p:nvPicPr>
        <p:blipFill>
          <a:blip r:embed="rId6"/>
          <a:stretch>
            <a:fillRect/>
          </a:stretch>
        </p:blipFill>
        <p:spPr>
          <a:xfrm>
            <a:off x="9406522" y="6150795"/>
            <a:ext cx="128699" cy="187198"/>
          </a:xfrm>
          <a:prstGeom prst="rect">
            <a:avLst/>
          </a:prstGeom>
        </p:spPr>
      </p:pic>
      <p:sp>
        <p:nvSpPr>
          <p:cNvPr id="56" name="TextBox 55"/>
          <p:cNvSpPr txBox="1"/>
          <p:nvPr/>
        </p:nvSpPr>
        <p:spPr>
          <a:xfrm>
            <a:off x="9574018" y="6160574"/>
            <a:ext cx="1080020" cy="186689"/>
          </a:xfrm>
          <a:prstGeom prst="rect">
            <a:avLst/>
          </a:prstGeom>
          <a:noFill/>
        </p:spPr>
        <p:txBody>
          <a:bodyPr wrap="none" lIns="0" rIns="0" tIns="0" bIns="0">
            <a:spAutoFit/>
          </a:bodyPr>
          <a:lstStyle/>
          <a:p>
            <a:r>
              <a:rPr sz="1100" b="0">
                <a:solidFill>
                  <a:srgbClr val="2E2E2E"/>
                </a:solidFill>
                <a:latin typeface="Calibri"/>
              </a:rPr>
              <a:t>against the global</a:t>
            </a:r>
          </a:p>
        </p:txBody>
      </p:sp>
      <p:sp>
        <p:nvSpPr>
          <p:cNvPr id="57" name="TextBox 56"/>
          <p:cNvSpPr txBox="1"/>
          <p:nvPr/>
        </p:nvSpPr>
        <p:spPr>
          <a:xfrm>
            <a:off x="257175" y="6328214"/>
            <a:ext cx="3580159" cy="186689"/>
          </a:xfrm>
          <a:prstGeom prst="rect">
            <a:avLst/>
          </a:prstGeom>
          <a:noFill/>
        </p:spPr>
        <p:txBody>
          <a:bodyPr wrap="none" lIns="0" rIns="0" tIns="0" bIns="0">
            <a:spAutoFit/>
          </a:bodyPr>
          <a:lstStyle/>
          <a:p>
            <a:r>
              <a:rPr sz="1100" b="0">
                <a:solidFill>
                  <a:srgbClr val="2E2E2E"/>
                </a:solidFill>
                <a:latin typeface="Calibri"/>
              </a:rPr>
              <a:t>benchmark, while U.S. offers the largest absolute opportunity</a:t>
            </a:r>
          </a:p>
        </p:txBody>
      </p:sp>
      <p:pic>
        <p:nvPicPr>
          <p:cNvPr id="58" name="Picture 57" descr="lock.png"/>
          <p:cNvPicPr>
            <a:picLocks noChangeAspect="1"/>
          </p:cNvPicPr>
          <p:nvPr/>
        </p:nvPicPr>
        <p:blipFill>
          <a:blip r:embed="rId6"/>
          <a:stretch>
            <a:fillRect/>
          </a:stretch>
        </p:blipFill>
        <p:spPr>
          <a:xfrm>
            <a:off x="3785386" y="6318435"/>
            <a:ext cx="128699" cy="187198"/>
          </a:xfrm>
          <a:prstGeom prst="rect">
            <a:avLst/>
          </a:prstGeom>
        </p:spPr>
      </p:pic>
      <p:sp>
        <p:nvSpPr>
          <p:cNvPr id="59" name="TextBox 58"/>
          <p:cNvSpPr txBox="1"/>
          <p:nvPr/>
        </p:nvSpPr>
        <p:spPr>
          <a:xfrm>
            <a:off x="3952882" y="6328214"/>
            <a:ext cx="3311946" cy="186689"/>
          </a:xfrm>
          <a:prstGeom prst="rect">
            <a:avLst/>
          </a:prstGeom>
          <a:noFill/>
        </p:spPr>
        <p:txBody>
          <a:bodyPr wrap="none" lIns="0" rIns="0" tIns="0" bIns="0">
            <a:spAutoFit/>
          </a:bodyPr>
          <a:lstStyle/>
          <a:p>
            <a:r>
              <a:rPr sz="1100" b="0">
                <a:solidFill>
                  <a:srgbClr val="2E2E2E"/>
                </a:solidFill>
                <a:latin typeface="Calibri"/>
              </a:rPr>
              <a:t>US$ Mn of incremental market between 2026 and 2036 (</a:t>
            </a:r>
          </a:p>
        </p:txBody>
      </p:sp>
      <p:pic>
        <p:nvPicPr>
          <p:cNvPr id="60" name="Picture 59" descr="lock.png"/>
          <p:cNvPicPr>
            <a:picLocks noChangeAspect="1"/>
          </p:cNvPicPr>
          <p:nvPr/>
        </p:nvPicPr>
        <p:blipFill>
          <a:blip r:embed="rId6"/>
          <a:stretch>
            <a:fillRect/>
          </a:stretch>
        </p:blipFill>
        <p:spPr>
          <a:xfrm>
            <a:off x="7212880" y="6318435"/>
            <a:ext cx="128699" cy="187198"/>
          </a:xfrm>
          <a:prstGeom prst="rect">
            <a:avLst/>
          </a:prstGeom>
        </p:spPr>
      </p:pic>
      <p:sp>
        <p:nvSpPr>
          <p:cNvPr id="61" name="TextBox 60"/>
          <p:cNvSpPr txBox="1"/>
          <p:nvPr/>
        </p:nvSpPr>
        <p:spPr>
          <a:xfrm>
            <a:off x="7380376" y="6328214"/>
            <a:ext cx="1483568" cy="186689"/>
          </a:xfrm>
          <a:prstGeom prst="rect">
            <a:avLst/>
          </a:prstGeom>
          <a:noFill/>
        </p:spPr>
        <p:txBody>
          <a:bodyPr wrap="none" lIns="0" rIns="0" tIns="0" bIns="0">
            <a:spAutoFit/>
          </a:bodyPr>
          <a:lstStyle/>
          <a:p>
            <a:r>
              <a:rPr sz="1100" b="0">
                <a:solidFill>
                  <a:srgbClr val="2E2E2E"/>
                </a:solidFill>
                <a:latin typeface="Calibri"/>
              </a:rPr>
              <a:t>of the global increment).</a:t>
            </a:r>
          </a:p>
        </p:txBody>
      </p:sp>
      <p:sp>
        <p:nvSpPr>
          <p:cNvPr id="62" name="lockshield_12"/>
          <p:cNvSpPr/>
          <p:nvPr/>
        </p:nvSpPr>
        <p:spPr>
          <a:xfrm>
            <a:off x="238125" y="1293011"/>
            <a:ext cx="3743325" cy="210309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lockshield_30"/>
          <p:cNvSpPr/>
          <p:nvPr/>
        </p:nvSpPr>
        <p:spPr>
          <a:xfrm>
            <a:off x="8181975" y="1293011"/>
            <a:ext cx="3743325" cy="209396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Summary Country Indices (Value)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outlook ranking 2036 market size, growth and absolute-growth indices to highlight the strongest markets</a:t>
            </a:r>
          </a:p>
        </p:txBody>
      </p:sp>
      <p:sp>
        <p:nvSpPr>
          <p:cNvPr id="10" name="Rounded Rectangle 9"/>
          <p:cNvSpPr/>
          <p:nvPr/>
        </p:nvSpPr>
        <p:spPr>
          <a:xfrm>
            <a:off x="142875" y="981075"/>
            <a:ext cx="11906250" cy="1790700"/>
          </a:xfrm>
          <a:prstGeom prst="roundRect">
            <a:avLst>
              <a:gd name="adj" fmla="val 42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1" name="Table 10"/>
          <p:cNvGraphicFramePr>
            <a:graphicFrameLocks noGrp="1"/>
          </p:cNvGraphicFramePr>
          <p:nvPr/>
        </p:nvGraphicFramePr>
        <p:xfrm>
          <a:off x="152400" y="1057275"/>
          <a:ext cx="11887199" cy="1485896"/>
        </p:xfrm>
        <a:graphic>
          <a:graphicData uri="http://schemas.openxmlformats.org/drawingml/2006/table">
            <a:tbl>
              <a:tblPr>
                <a:tableStyleId>{5C22544A-7EE6-4342-B048-85BDC9FD1C3A}</a:tableStyleId>
              </a:tblPr>
              <a:tblGrid>
                <a:gridCol w="1994456"/>
                <a:gridCol w="3297581"/>
                <a:gridCol w="3297581"/>
                <a:gridCol w="3297581"/>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 Index</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 Opp (US$ Mn)</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Thailand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Spain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Malaysia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China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Mexico</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2" name="TextBox 11"/>
          <p:cNvSpPr txBox="1"/>
          <p:nvPr/>
        </p:nvSpPr>
        <p:spPr>
          <a:xfrm>
            <a:off x="219075" y="25527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3" name="Rounded Rectangle 12"/>
          <p:cNvSpPr/>
          <p:nvPr/>
        </p:nvSpPr>
        <p:spPr>
          <a:xfrm>
            <a:off x="142875" y="2905125"/>
            <a:ext cx="11906250" cy="1790700"/>
          </a:xfrm>
          <a:prstGeom prst="roundRect">
            <a:avLst>
              <a:gd name="adj" fmla="val 42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4" name="Table 13"/>
          <p:cNvGraphicFramePr>
            <a:graphicFrameLocks noGrp="1"/>
          </p:cNvGraphicFramePr>
          <p:nvPr/>
        </p:nvGraphicFramePr>
        <p:xfrm>
          <a:off x="152400" y="2981325"/>
          <a:ext cx="11887201" cy="1485896"/>
        </p:xfrm>
        <a:graphic>
          <a:graphicData uri="http://schemas.openxmlformats.org/drawingml/2006/table">
            <a:tbl>
              <a:tblPr>
                <a:tableStyleId>{5C22544A-7EE6-4342-B048-85BDC9FD1C3A}</a:tableStyleId>
              </a:tblPr>
              <a:tblGrid>
                <a:gridCol w="1943458"/>
                <a:gridCol w="3314581"/>
                <a:gridCol w="3314581"/>
                <a:gridCol w="3314581"/>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Absolute Index</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 Opp (US$ Mn)</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Brazil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France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U.K.</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Japan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Thailand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5" name="TextBox 14"/>
          <p:cNvSpPr txBox="1"/>
          <p:nvPr/>
        </p:nvSpPr>
        <p:spPr>
          <a:xfrm>
            <a:off x="219075" y="4476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6" name="TextBox 1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7" name="Picture 16" descr="lock.png"/>
          <p:cNvPicPr>
            <a:picLocks noChangeAspect="1"/>
          </p:cNvPicPr>
          <p:nvPr/>
        </p:nvPicPr>
        <p:blipFill>
          <a:blip r:embed="rId4"/>
          <a:stretch>
            <a:fillRect/>
          </a:stretch>
        </p:blipFill>
        <p:spPr>
          <a:xfrm>
            <a:off x="6906537" y="1656588"/>
            <a:ext cx="366712" cy="533400"/>
          </a:xfrm>
          <a:prstGeom prst="rect">
            <a:avLst/>
          </a:prstGeom>
        </p:spPr>
      </p:pic>
      <p:pic>
        <p:nvPicPr>
          <p:cNvPr id="18" name="Picture 17" descr="lock.png"/>
          <p:cNvPicPr>
            <a:picLocks noChangeAspect="1"/>
          </p:cNvPicPr>
          <p:nvPr/>
        </p:nvPicPr>
        <p:blipFill>
          <a:blip r:embed="rId4"/>
          <a:stretch>
            <a:fillRect/>
          </a:stretch>
        </p:blipFill>
        <p:spPr>
          <a:xfrm>
            <a:off x="6881039" y="3580638"/>
            <a:ext cx="366712" cy="533400"/>
          </a:xfrm>
          <a:prstGeom prst="rect">
            <a:avLst/>
          </a:prstGeom>
        </p:spPr>
      </p:pic>
    </p:spTree>
  </p:cSld>
  <p:clrMapOvr>
    <a:masterClrMapping/>
  </p:clrMapOvr>
</p:sld>
</file>

<file path=ppt/slides/slide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Overview (1/4)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market size, competitive landscape and the drivers, restraints and trends shaping demand</a:t>
            </a:r>
          </a:p>
        </p:txBody>
      </p:sp>
      <p:sp>
        <p:nvSpPr>
          <p:cNvPr id="10" name="Rounded Rectangle 9"/>
          <p:cNvSpPr/>
          <p:nvPr/>
        </p:nvSpPr>
        <p:spPr>
          <a:xfrm>
            <a:off x="142875" y="981075"/>
            <a:ext cx="11906250" cy="1743075"/>
          </a:xfrm>
          <a:prstGeom prst="roundRect">
            <a:avLst>
              <a:gd name="adj" fmla="val 4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Market Overview</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573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4" name="Rounded Rectangle 13"/>
          <p:cNvSpPr/>
          <p:nvPr/>
        </p:nvSpPr>
        <p:spPr>
          <a:xfrm>
            <a:off x="142875" y="2857500"/>
            <a:ext cx="11906250" cy="1628775"/>
          </a:xfrm>
          <a:prstGeom prst="roundRect">
            <a:avLst>
              <a:gd name="adj" fmla="val 46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294322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Competitive Landscape</a:t>
            </a:r>
          </a:p>
        </p:txBody>
      </p:sp>
      <p:sp>
        <p:nvSpPr>
          <p:cNvPr id="16" name="Rectangle 15"/>
          <p:cNvSpPr/>
          <p:nvPr/>
        </p:nvSpPr>
        <p:spPr>
          <a:xfrm>
            <a:off x="276225" y="31813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267075"/>
            <a:ext cx="11639550" cy="11430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8" name="Rounded Rectangle 17"/>
          <p:cNvSpPr/>
          <p:nvPr/>
        </p:nvSpPr>
        <p:spPr>
          <a:xfrm>
            <a:off x="142875" y="4619625"/>
            <a:ext cx="3943350"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4705350"/>
            <a:ext cx="3676650" cy="209550"/>
          </a:xfrm>
          <a:prstGeom prst="rect">
            <a:avLst/>
          </a:prstGeom>
          <a:noFill/>
        </p:spPr>
        <p:txBody>
          <a:bodyPr wrap="square" lIns="0" rIns="19050" tIns="9525" bIns="9525">
            <a:spAutoFit/>
          </a:bodyPr>
          <a:lstStyle/>
          <a:p>
            <a:pPr algn="l"/>
            <a:r>
              <a:rPr sz="1300" b="1">
                <a:solidFill>
                  <a:srgbClr val="0B2E4A"/>
                </a:solidFill>
                <a:latin typeface="Calibri"/>
              </a:rPr>
              <a:t>Drivers</a:t>
            </a:r>
          </a:p>
        </p:txBody>
      </p:sp>
      <p:sp>
        <p:nvSpPr>
          <p:cNvPr id="20" name="Rectangle 19"/>
          <p:cNvSpPr/>
          <p:nvPr/>
        </p:nvSpPr>
        <p:spPr>
          <a:xfrm>
            <a:off x="276225" y="4943475"/>
            <a:ext cx="3676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5029200"/>
            <a:ext cx="3676650"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Rounded Rectangle 21"/>
          <p:cNvSpPr/>
          <p:nvPr/>
        </p:nvSpPr>
        <p:spPr>
          <a:xfrm>
            <a:off x="4238625"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4371975"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Restraints</a:t>
            </a:r>
          </a:p>
        </p:txBody>
      </p:sp>
      <p:sp>
        <p:nvSpPr>
          <p:cNvPr id="24" name="Rectangle 23"/>
          <p:cNvSpPr/>
          <p:nvPr/>
        </p:nvSpPr>
        <p:spPr>
          <a:xfrm>
            <a:off x="4371975"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4371975"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6" name="Rounded Rectangle 25"/>
          <p:cNvSpPr/>
          <p:nvPr/>
        </p:nvSpPr>
        <p:spPr>
          <a:xfrm>
            <a:off x="8210550"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8343900"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Trends</a:t>
            </a:r>
          </a:p>
        </p:txBody>
      </p:sp>
      <p:sp>
        <p:nvSpPr>
          <p:cNvPr id="28" name="Rectangle 27"/>
          <p:cNvSpPr/>
          <p:nvPr/>
        </p:nvSpPr>
        <p:spPr>
          <a:xfrm>
            <a:off x="8343900"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8343900"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Mix shifting toward 'Cast Metal Partial Dentures' and higher-growth tiers.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South Asia &amp; Pacific outpacing the global average.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broadening across 4 product type categories.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31" name="TextBox 30"/>
          <p:cNvSpPr txBox="1"/>
          <p:nvPr/>
        </p:nvSpPr>
        <p:spPr>
          <a:xfrm>
            <a:off x="276225" y="1400175"/>
            <a:ext cx="3916573" cy="194310"/>
          </a:xfrm>
          <a:prstGeom prst="rect">
            <a:avLst/>
          </a:prstGeom>
          <a:noFill/>
        </p:spPr>
        <p:txBody>
          <a:bodyPr wrap="none" lIns="0" rIns="0" tIns="0" bIns="0">
            <a:spAutoFit/>
          </a:bodyPr>
          <a:lstStyle/>
          <a:p>
            <a:r>
              <a:rPr sz="1150" b="0">
                <a:solidFill>
                  <a:srgbClr val="2E2E2E"/>
                </a:solidFill>
                <a:latin typeface="Calibri"/>
              </a:rPr>
              <a:t>Global removable partial dentures market is expected to witness</a:t>
            </a:r>
          </a:p>
        </p:txBody>
      </p:sp>
      <p:pic>
        <p:nvPicPr>
          <p:cNvPr id="32" name="Picture 31" descr="lock.png"/>
          <p:cNvPicPr>
            <a:picLocks noChangeAspect="1"/>
          </p:cNvPicPr>
          <p:nvPr/>
        </p:nvPicPr>
        <p:blipFill>
          <a:blip r:embed="rId4"/>
          <a:stretch>
            <a:fillRect/>
          </a:stretch>
        </p:blipFill>
        <p:spPr>
          <a:xfrm>
            <a:off x="4141952" y="1389951"/>
            <a:ext cx="134549" cy="195707"/>
          </a:xfrm>
          <a:prstGeom prst="rect">
            <a:avLst/>
          </a:prstGeom>
        </p:spPr>
      </p:pic>
      <p:sp>
        <p:nvSpPr>
          <p:cNvPr id="33" name="TextBox 32"/>
          <p:cNvSpPr txBox="1"/>
          <p:nvPr/>
        </p:nvSpPr>
        <p:spPr>
          <a:xfrm>
            <a:off x="4317061" y="1400175"/>
            <a:ext cx="7426337" cy="194310"/>
          </a:xfrm>
          <a:prstGeom prst="rect">
            <a:avLst/>
          </a:prstGeom>
          <a:noFill/>
        </p:spPr>
        <p:txBody>
          <a:bodyPr wrap="none" lIns="0" rIns="0" tIns="0" bIns="0">
            <a:spAutoFit/>
          </a:bodyPr>
          <a:lstStyle/>
          <a:p>
            <a:r>
              <a:rPr sz="1150" b="0">
                <a:solidFill>
                  <a:srgbClr val="2E2E2E"/>
                </a:solidFill>
                <a:latin typeface="Calibri"/>
              </a:rPr>
              <a:t>X increase in revenue by 2036 end. Global removable partial dentures market accounted for US$ 1,078 Mn in 2025, which is</a:t>
            </a:r>
          </a:p>
        </p:txBody>
      </p:sp>
      <p:sp>
        <p:nvSpPr>
          <p:cNvPr id="34" name="TextBox 33"/>
          <p:cNvSpPr txBox="1"/>
          <p:nvPr/>
        </p:nvSpPr>
        <p:spPr>
          <a:xfrm>
            <a:off x="276225" y="1575435"/>
            <a:ext cx="3947648" cy="194310"/>
          </a:xfrm>
          <a:prstGeom prst="rect">
            <a:avLst/>
          </a:prstGeom>
          <a:noFill/>
        </p:spPr>
        <p:txBody>
          <a:bodyPr wrap="none" lIns="0" rIns="0" tIns="0" bIns="0">
            <a:spAutoFit/>
          </a:bodyPr>
          <a:lstStyle/>
          <a:p>
            <a:r>
              <a:rPr sz="1150" b="0">
                <a:solidFill>
                  <a:srgbClr val="2E2E2E"/>
                </a:solidFill>
                <a:latin typeface="Calibri"/>
              </a:rPr>
              <a:t>expected to increase to US$ 1,731 Mn in 2036 at a CAGR of 4.4%.</a:t>
            </a:r>
          </a:p>
        </p:txBody>
      </p:sp>
      <p:sp>
        <p:nvSpPr>
          <p:cNvPr id="35" name="TextBox 34"/>
          <p:cNvSpPr txBox="1"/>
          <p:nvPr/>
        </p:nvSpPr>
        <p:spPr>
          <a:xfrm>
            <a:off x="276225" y="1803273"/>
            <a:ext cx="11516307" cy="194310"/>
          </a:xfrm>
          <a:prstGeom prst="rect">
            <a:avLst/>
          </a:prstGeom>
          <a:noFill/>
        </p:spPr>
        <p:txBody>
          <a:bodyPr wrap="none" lIns="0" rIns="0" tIns="0" bIns="0">
            <a:spAutoFit/>
          </a:bodyPr>
          <a:lstStyle/>
          <a:p>
            <a:r>
              <a:rPr sz="1150" b="0">
                <a:solidFill>
                  <a:srgbClr val="2E2E2E"/>
                </a:solidFill>
                <a:latin typeface="Calibri"/>
              </a:rPr>
              <a:t>The global removable partial dentures market has been analysed on the basis of product type, material type, technology and end user across the globe. North America is expected to remain the</a:t>
            </a:r>
          </a:p>
        </p:txBody>
      </p:sp>
      <p:sp>
        <p:nvSpPr>
          <p:cNvPr id="36" name="TextBox 35"/>
          <p:cNvSpPr txBox="1"/>
          <p:nvPr/>
        </p:nvSpPr>
        <p:spPr>
          <a:xfrm>
            <a:off x="276225" y="1978533"/>
            <a:ext cx="7847924" cy="194310"/>
          </a:xfrm>
          <a:prstGeom prst="rect">
            <a:avLst/>
          </a:prstGeom>
          <a:noFill/>
        </p:spPr>
        <p:txBody>
          <a:bodyPr wrap="none" lIns="0" rIns="0" tIns="0" bIns="0">
            <a:spAutoFit/>
          </a:bodyPr>
          <a:lstStyle/>
          <a:p>
            <a:r>
              <a:rPr sz="1150" b="0">
                <a:solidFill>
                  <a:srgbClr val="2E2E2E"/>
                </a:solidFill>
                <a:latin typeface="Calibri"/>
              </a:rPr>
              <a:t>largest market for removable partial dentures, while demand in South Asia &amp; Pacific is projected to increase at the highest CAGR of</a:t>
            </a:r>
          </a:p>
        </p:txBody>
      </p:sp>
      <p:pic>
        <p:nvPicPr>
          <p:cNvPr id="37" name="Picture 36" descr="lock.png"/>
          <p:cNvPicPr>
            <a:picLocks noChangeAspect="1"/>
          </p:cNvPicPr>
          <p:nvPr/>
        </p:nvPicPr>
        <p:blipFill>
          <a:blip r:embed="rId4"/>
          <a:stretch>
            <a:fillRect/>
          </a:stretch>
        </p:blipFill>
        <p:spPr>
          <a:xfrm>
            <a:off x="8073303" y="1968309"/>
            <a:ext cx="134549" cy="195707"/>
          </a:xfrm>
          <a:prstGeom prst="rect">
            <a:avLst/>
          </a:prstGeom>
        </p:spPr>
      </p:pic>
      <p:sp>
        <p:nvSpPr>
          <p:cNvPr id="38" name="TextBox 37"/>
          <p:cNvSpPr txBox="1"/>
          <p:nvPr/>
        </p:nvSpPr>
        <p:spPr>
          <a:xfrm>
            <a:off x="8248413" y="1978533"/>
            <a:ext cx="1960872" cy="194310"/>
          </a:xfrm>
          <a:prstGeom prst="rect">
            <a:avLst/>
          </a:prstGeom>
          <a:noFill/>
        </p:spPr>
        <p:txBody>
          <a:bodyPr wrap="none" lIns="0" rIns="0" tIns="0" bIns="0">
            <a:spAutoFit/>
          </a:bodyPr>
          <a:lstStyle/>
          <a:p>
            <a:r>
              <a:rPr sz="1150" b="0">
                <a:solidFill>
                  <a:srgbClr val="2E2E2E"/>
                </a:solidFill>
                <a:latin typeface="Calibri"/>
              </a:rPr>
              <a:t>throughout the forecast period.</a:t>
            </a:r>
          </a:p>
        </p:txBody>
      </p:sp>
      <p:sp>
        <p:nvSpPr>
          <p:cNvPr id="39" name="TextBox 38"/>
          <p:cNvSpPr txBox="1"/>
          <p:nvPr/>
        </p:nvSpPr>
        <p:spPr>
          <a:xfrm>
            <a:off x="276225" y="3276600"/>
            <a:ext cx="6401420" cy="194310"/>
          </a:xfrm>
          <a:prstGeom prst="rect">
            <a:avLst/>
          </a:prstGeom>
          <a:noFill/>
        </p:spPr>
        <p:txBody>
          <a:bodyPr wrap="none" lIns="0" rIns="0" tIns="0" bIns="0">
            <a:spAutoFit/>
          </a:bodyPr>
          <a:lstStyle/>
          <a:p>
            <a:r>
              <a:rPr sz="1150" b="0">
                <a:solidFill>
                  <a:srgbClr val="2E2E2E"/>
                </a:solidFill>
                <a:latin typeface="Calibri"/>
              </a:rPr>
              <a:t>▪ The market is moderately fragmented: the leading product type category 'Flexible Partial Dentures' holds</a:t>
            </a:r>
          </a:p>
        </p:txBody>
      </p:sp>
      <p:pic>
        <p:nvPicPr>
          <p:cNvPr id="40" name="Picture 39" descr="lock.png"/>
          <p:cNvPicPr>
            <a:picLocks noChangeAspect="1"/>
          </p:cNvPicPr>
          <p:nvPr/>
        </p:nvPicPr>
        <p:blipFill>
          <a:blip r:embed="rId4"/>
          <a:stretch>
            <a:fillRect/>
          </a:stretch>
        </p:blipFill>
        <p:spPr>
          <a:xfrm>
            <a:off x="6626799" y="3266376"/>
            <a:ext cx="134549" cy="195707"/>
          </a:xfrm>
          <a:prstGeom prst="rect">
            <a:avLst/>
          </a:prstGeom>
        </p:spPr>
      </p:pic>
      <p:sp>
        <p:nvSpPr>
          <p:cNvPr id="41" name="TextBox 40"/>
          <p:cNvSpPr txBox="1"/>
          <p:nvPr/>
        </p:nvSpPr>
        <p:spPr>
          <a:xfrm>
            <a:off x="6801908" y="3276600"/>
            <a:ext cx="916272" cy="194310"/>
          </a:xfrm>
          <a:prstGeom prst="rect">
            <a:avLst/>
          </a:prstGeom>
          <a:noFill/>
        </p:spPr>
        <p:txBody>
          <a:bodyPr wrap="none" lIns="0" rIns="0" tIns="0" bIns="0">
            <a:spAutoFit/>
          </a:bodyPr>
          <a:lstStyle/>
          <a:p>
            <a:r>
              <a:rPr sz="1150" b="0">
                <a:solidFill>
                  <a:srgbClr val="2E2E2E"/>
                </a:solidFill>
                <a:latin typeface="Calibri"/>
              </a:rPr>
              <a:t>of 2036 value.</a:t>
            </a:r>
          </a:p>
        </p:txBody>
      </p:sp>
      <p:sp>
        <p:nvSpPr>
          <p:cNvPr id="42" name="TextBox 41"/>
          <p:cNvSpPr txBox="1"/>
          <p:nvPr/>
        </p:nvSpPr>
        <p:spPr>
          <a:xfrm>
            <a:off x="276225" y="3504437"/>
            <a:ext cx="4910968" cy="194310"/>
          </a:xfrm>
          <a:prstGeom prst="rect">
            <a:avLst/>
          </a:prstGeom>
          <a:noFill/>
        </p:spPr>
        <p:txBody>
          <a:bodyPr wrap="none" lIns="0" rIns="0" tIns="0" bIns="0">
            <a:spAutoFit/>
          </a:bodyPr>
          <a:lstStyle/>
          <a:p>
            <a:r>
              <a:rPr sz="1150" b="0">
                <a:solidFill>
                  <a:srgbClr val="2E2E2E"/>
                </a:solidFill>
                <a:latin typeface="Calibri"/>
              </a:rPr>
              <a:t>▪ Demand spans 6 regions and 8 segmentation lenses (4 product type categories).</a:t>
            </a:r>
          </a:p>
        </p:txBody>
      </p:sp>
      <p:sp>
        <p:nvSpPr>
          <p:cNvPr id="43" name="TextBox 42"/>
          <p:cNvSpPr txBox="1"/>
          <p:nvPr/>
        </p:nvSpPr>
        <p:spPr>
          <a:xfrm>
            <a:off x="276225" y="3732275"/>
            <a:ext cx="2950988" cy="194310"/>
          </a:xfrm>
          <a:prstGeom prst="rect">
            <a:avLst/>
          </a:prstGeom>
          <a:noFill/>
        </p:spPr>
        <p:txBody>
          <a:bodyPr wrap="none" lIns="0" rIns="0" tIns="0" bIns="0">
            <a:spAutoFit/>
          </a:bodyPr>
          <a:lstStyle/>
          <a:p>
            <a:r>
              <a:rPr sz="1150" b="0">
                <a:solidFill>
                  <a:srgbClr val="2E2E2E"/>
                </a:solidFill>
                <a:latin typeface="Calibri"/>
              </a:rPr>
              <a:t>▪ North America is the largest regional market at</a:t>
            </a:r>
          </a:p>
        </p:txBody>
      </p:sp>
      <p:pic>
        <p:nvPicPr>
          <p:cNvPr id="44" name="Picture 43" descr="lock.png"/>
          <p:cNvPicPr>
            <a:picLocks noChangeAspect="1"/>
          </p:cNvPicPr>
          <p:nvPr/>
        </p:nvPicPr>
        <p:blipFill>
          <a:blip r:embed="rId4"/>
          <a:stretch>
            <a:fillRect/>
          </a:stretch>
        </p:blipFill>
        <p:spPr>
          <a:xfrm>
            <a:off x="3176367" y="3722052"/>
            <a:ext cx="134549" cy="195707"/>
          </a:xfrm>
          <a:prstGeom prst="rect">
            <a:avLst/>
          </a:prstGeom>
        </p:spPr>
      </p:pic>
      <p:sp>
        <p:nvSpPr>
          <p:cNvPr id="45" name="TextBox 44"/>
          <p:cNvSpPr txBox="1"/>
          <p:nvPr/>
        </p:nvSpPr>
        <p:spPr>
          <a:xfrm>
            <a:off x="3351477" y="3732275"/>
            <a:ext cx="916272" cy="194310"/>
          </a:xfrm>
          <a:prstGeom prst="rect">
            <a:avLst/>
          </a:prstGeom>
          <a:noFill/>
        </p:spPr>
        <p:txBody>
          <a:bodyPr wrap="none" lIns="0" rIns="0" tIns="0" bIns="0">
            <a:spAutoFit/>
          </a:bodyPr>
          <a:lstStyle/>
          <a:p>
            <a:r>
              <a:rPr sz="1150" b="0">
                <a:solidFill>
                  <a:srgbClr val="2E2E2E"/>
                </a:solidFill>
                <a:latin typeface="Calibri"/>
              </a:rPr>
              <a:t>of 2036 value.</a:t>
            </a:r>
          </a:p>
        </p:txBody>
      </p:sp>
      <p:sp>
        <p:nvSpPr>
          <p:cNvPr id="46" name="TextBox 45"/>
          <p:cNvSpPr txBox="1"/>
          <p:nvPr/>
        </p:nvSpPr>
        <p:spPr>
          <a:xfrm>
            <a:off x="276225" y="5038725"/>
            <a:ext cx="3303847" cy="194310"/>
          </a:xfrm>
          <a:prstGeom prst="rect">
            <a:avLst/>
          </a:prstGeom>
          <a:noFill/>
        </p:spPr>
        <p:txBody>
          <a:bodyPr wrap="none" lIns="0" rIns="0" tIns="0" bIns="0">
            <a:spAutoFit/>
          </a:bodyPr>
          <a:lstStyle/>
          <a:p>
            <a:r>
              <a:rPr sz="1150" b="0">
                <a:solidFill>
                  <a:srgbClr val="2E2E2E"/>
                </a:solidFill>
                <a:latin typeface="Calibri"/>
              </a:rPr>
              <a:t>▪ Accelerating uptake of 'Cast Metal Partial Dentures' (</a:t>
            </a:r>
          </a:p>
        </p:txBody>
      </p:sp>
      <p:pic>
        <p:nvPicPr>
          <p:cNvPr id="47" name="Picture 46" descr="lock.png"/>
          <p:cNvPicPr>
            <a:picLocks noChangeAspect="1"/>
          </p:cNvPicPr>
          <p:nvPr/>
        </p:nvPicPr>
        <p:blipFill>
          <a:blip r:embed="rId4"/>
          <a:stretch>
            <a:fillRect/>
          </a:stretch>
        </p:blipFill>
        <p:spPr>
          <a:xfrm>
            <a:off x="3529226" y="5028501"/>
            <a:ext cx="134549" cy="195707"/>
          </a:xfrm>
          <a:prstGeom prst="rect">
            <a:avLst/>
          </a:prstGeom>
        </p:spPr>
      </p:pic>
      <p:sp>
        <p:nvSpPr>
          <p:cNvPr id="48" name="TextBox 47"/>
          <p:cNvSpPr txBox="1"/>
          <p:nvPr/>
        </p:nvSpPr>
        <p:spPr>
          <a:xfrm>
            <a:off x="276225" y="5213985"/>
            <a:ext cx="490941"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49" name="TextBox 48"/>
          <p:cNvSpPr txBox="1"/>
          <p:nvPr/>
        </p:nvSpPr>
        <p:spPr>
          <a:xfrm>
            <a:off x="276225" y="5441822"/>
            <a:ext cx="2877045" cy="194310"/>
          </a:xfrm>
          <a:prstGeom prst="rect">
            <a:avLst/>
          </a:prstGeom>
          <a:noFill/>
        </p:spPr>
        <p:txBody>
          <a:bodyPr wrap="none" lIns="0" rIns="0" tIns="0" bIns="0">
            <a:spAutoFit/>
          </a:bodyPr>
          <a:lstStyle/>
          <a:p>
            <a:r>
              <a:rPr sz="1150" b="0">
                <a:solidFill>
                  <a:srgbClr val="2E2E2E"/>
                </a:solidFill>
                <a:latin typeface="Calibri"/>
              </a:rPr>
              <a:t>▪ Fast-growing demand in South Asia &amp; Pacific (</a:t>
            </a:r>
          </a:p>
        </p:txBody>
      </p:sp>
      <p:pic>
        <p:nvPicPr>
          <p:cNvPr id="50" name="Picture 49" descr="lock.png"/>
          <p:cNvPicPr>
            <a:picLocks noChangeAspect="1"/>
          </p:cNvPicPr>
          <p:nvPr/>
        </p:nvPicPr>
        <p:blipFill>
          <a:blip r:embed="rId4"/>
          <a:stretch>
            <a:fillRect/>
          </a:stretch>
        </p:blipFill>
        <p:spPr>
          <a:xfrm>
            <a:off x="3102424" y="5431599"/>
            <a:ext cx="134549" cy="195707"/>
          </a:xfrm>
          <a:prstGeom prst="rect">
            <a:avLst/>
          </a:prstGeom>
        </p:spPr>
      </p:pic>
      <p:sp>
        <p:nvSpPr>
          <p:cNvPr id="51" name="TextBox 50"/>
          <p:cNvSpPr txBox="1"/>
          <p:nvPr/>
        </p:nvSpPr>
        <p:spPr>
          <a:xfrm>
            <a:off x="3277533" y="5441822"/>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52" name="TextBox 51"/>
          <p:cNvSpPr txBox="1"/>
          <p:nvPr/>
        </p:nvSpPr>
        <p:spPr>
          <a:xfrm>
            <a:off x="276225" y="5669660"/>
            <a:ext cx="3052824" cy="194310"/>
          </a:xfrm>
          <a:prstGeom prst="rect">
            <a:avLst/>
          </a:prstGeom>
          <a:noFill/>
        </p:spPr>
        <p:txBody>
          <a:bodyPr wrap="none" lIns="0" rIns="0" tIns="0" bIns="0">
            <a:spAutoFit/>
          </a:bodyPr>
          <a:lstStyle/>
          <a:p>
            <a:r>
              <a:rPr sz="1150" b="0">
                <a:solidFill>
                  <a:srgbClr val="2E2E2E"/>
                </a:solidFill>
                <a:latin typeface="Calibri"/>
              </a:rPr>
              <a:t>▪ Momentum in Dental Hospitals within end user (</a:t>
            </a:r>
          </a:p>
        </p:txBody>
      </p:sp>
      <p:pic>
        <p:nvPicPr>
          <p:cNvPr id="53" name="Picture 52" descr="lock.png"/>
          <p:cNvPicPr>
            <a:picLocks noChangeAspect="1"/>
          </p:cNvPicPr>
          <p:nvPr/>
        </p:nvPicPr>
        <p:blipFill>
          <a:blip r:embed="rId4"/>
          <a:stretch>
            <a:fillRect/>
          </a:stretch>
        </p:blipFill>
        <p:spPr>
          <a:xfrm>
            <a:off x="3278203" y="5659437"/>
            <a:ext cx="134549" cy="195707"/>
          </a:xfrm>
          <a:prstGeom prst="rect">
            <a:avLst/>
          </a:prstGeom>
        </p:spPr>
      </p:pic>
      <p:sp>
        <p:nvSpPr>
          <p:cNvPr id="54" name="TextBox 53"/>
          <p:cNvSpPr txBox="1"/>
          <p:nvPr/>
        </p:nvSpPr>
        <p:spPr>
          <a:xfrm>
            <a:off x="3453312" y="5669660"/>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55" name="TextBox 54"/>
          <p:cNvSpPr txBox="1"/>
          <p:nvPr/>
        </p:nvSpPr>
        <p:spPr>
          <a:xfrm>
            <a:off x="4371975" y="5038725"/>
            <a:ext cx="3069083" cy="194310"/>
          </a:xfrm>
          <a:prstGeom prst="rect">
            <a:avLst/>
          </a:prstGeom>
          <a:noFill/>
        </p:spPr>
        <p:txBody>
          <a:bodyPr wrap="none" lIns="0" rIns="0" tIns="0" bIns="0">
            <a:spAutoFit/>
          </a:bodyPr>
          <a:lstStyle/>
          <a:p>
            <a:r>
              <a:rPr sz="1150" b="0">
                <a:solidFill>
                  <a:srgbClr val="2E2E2E"/>
                </a:solidFill>
                <a:latin typeface="Calibri"/>
              </a:rPr>
              <a:t>▪ Slower momentum in 'Flexible Partial Dentures' (</a:t>
            </a:r>
          </a:p>
        </p:txBody>
      </p:sp>
      <p:pic>
        <p:nvPicPr>
          <p:cNvPr id="56" name="Picture 55" descr="lock.png"/>
          <p:cNvPicPr>
            <a:picLocks noChangeAspect="1"/>
          </p:cNvPicPr>
          <p:nvPr/>
        </p:nvPicPr>
        <p:blipFill>
          <a:blip r:embed="rId4"/>
          <a:stretch>
            <a:fillRect/>
          </a:stretch>
        </p:blipFill>
        <p:spPr>
          <a:xfrm>
            <a:off x="7390212" y="5028501"/>
            <a:ext cx="134549" cy="195707"/>
          </a:xfrm>
          <a:prstGeom prst="rect">
            <a:avLst/>
          </a:prstGeom>
        </p:spPr>
      </p:pic>
      <p:sp>
        <p:nvSpPr>
          <p:cNvPr id="57" name="TextBox 56"/>
          <p:cNvSpPr txBox="1"/>
          <p:nvPr/>
        </p:nvSpPr>
        <p:spPr>
          <a:xfrm>
            <a:off x="7565322" y="5038725"/>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58" name="TextBox 57"/>
          <p:cNvSpPr txBox="1"/>
          <p:nvPr/>
        </p:nvSpPr>
        <p:spPr>
          <a:xfrm>
            <a:off x="4371975" y="5266563"/>
            <a:ext cx="3264197" cy="194310"/>
          </a:xfrm>
          <a:prstGeom prst="rect">
            <a:avLst/>
          </a:prstGeom>
          <a:noFill/>
        </p:spPr>
        <p:txBody>
          <a:bodyPr wrap="none" lIns="0" rIns="0" tIns="0" bIns="0">
            <a:spAutoFit/>
          </a:bodyPr>
          <a:lstStyle/>
          <a:p>
            <a:r>
              <a:rPr sz="1150" b="0">
                <a:solidFill>
                  <a:srgbClr val="2E2E2E"/>
                </a:solidFill>
                <a:latin typeface="Calibri"/>
              </a:rPr>
              <a:t>▪ Maturing demand in established categories caps the</a:t>
            </a:r>
          </a:p>
        </p:txBody>
      </p:sp>
      <p:sp>
        <p:nvSpPr>
          <p:cNvPr id="59" name="TextBox 58"/>
          <p:cNvSpPr txBox="1"/>
          <p:nvPr/>
        </p:nvSpPr>
        <p:spPr>
          <a:xfrm>
            <a:off x="4371975" y="5441822"/>
            <a:ext cx="562272" cy="194310"/>
          </a:xfrm>
          <a:prstGeom prst="rect">
            <a:avLst/>
          </a:prstGeom>
          <a:noFill/>
        </p:spPr>
        <p:txBody>
          <a:bodyPr wrap="none" lIns="0" rIns="0" tIns="0" bIns="0">
            <a:spAutoFit/>
          </a:bodyPr>
          <a:lstStyle/>
          <a:p>
            <a:r>
              <a:rPr sz="1150" b="0">
                <a:solidFill>
                  <a:srgbClr val="2E2E2E"/>
                </a:solidFill>
                <a:latin typeface="Calibri"/>
              </a:rPr>
              <a:t>blended</a:t>
            </a:r>
          </a:p>
        </p:txBody>
      </p:sp>
      <p:pic>
        <p:nvPicPr>
          <p:cNvPr id="60" name="Picture 59" descr="lock.png"/>
          <p:cNvPicPr>
            <a:picLocks noChangeAspect="1"/>
          </p:cNvPicPr>
          <p:nvPr/>
        </p:nvPicPr>
        <p:blipFill>
          <a:blip r:embed="rId4"/>
          <a:stretch>
            <a:fillRect/>
          </a:stretch>
        </p:blipFill>
        <p:spPr>
          <a:xfrm>
            <a:off x="4883401" y="5431599"/>
            <a:ext cx="134549" cy="195707"/>
          </a:xfrm>
          <a:prstGeom prst="rect">
            <a:avLst/>
          </a:prstGeom>
        </p:spPr>
      </p:pic>
      <p:sp>
        <p:nvSpPr>
          <p:cNvPr id="61" name="TextBox 60"/>
          <p:cNvSpPr txBox="1"/>
          <p:nvPr/>
        </p:nvSpPr>
        <p:spPr>
          <a:xfrm>
            <a:off x="5058510" y="5441822"/>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62" name="TextBox 61"/>
          <p:cNvSpPr txBox="1"/>
          <p:nvPr/>
        </p:nvSpPr>
        <p:spPr>
          <a:xfrm>
            <a:off x="4371975" y="5669660"/>
            <a:ext cx="3427648" cy="194310"/>
          </a:xfrm>
          <a:prstGeom prst="rect">
            <a:avLst/>
          </a:prstGeom>
          <a:noFill/>
        </p:spPr>
        <p:txBody>
          <a:bodyPr wrap="none" lIns="0" rIns="0" tIns="0" bIns="0">
            <a:spAutoFit/>
          </a:bodyPr>
          <a:lstStyle/>
          <a:p>
            <a:r>
              <a:rPr sz="1150" b="0">
                <a:solidFill>
                  <a:srgbClr val="2E2E2E"/>
                </a:solidFill>
                <a:latin typeface="Calibri"/>
              </a:rPr>
              <a:t>▪ Value concentration in 'Flexible Partial Dentures' raises</a:t>
            </a:r>
          </a:p>
        </p:txBody>
      </p:sp>
      <p:sp>
        <p:nvSpPr>
          <p:cNvPr id="63" name="TextBox 62"/>
          <p:cNvSpPr txBox="1"/>
          <p:nvPr/>
        </p:nvSpPr>
        <p:spPr>
          <a:xfrm>
            <a:off x="4371975" y="5844920"/>
            <a:ext cx="1604305" cy="194310"/>
          </a:xfrm>
          <a:prstGeom prst="rect">
            <a:avLst/>
          </a:prstGeom>
          <a:noFill/>
        </p:spPr>
        <p:txBody>
          <a:bodyPr wrap="none" lIns="0" rIns="0" tIns="0" bIns="0">
            <a:spAutoFit/>
          </a:bodyPr>
          <a:lstStyle/>
          <a:p>
            <a:r>
              <a:rPr sz="1150" b="0">
                <a:solidFill>
                  <a:srgbClr val="2E2E2E"/>
                </a:solidFill>
                <a:latin typeface="Calibri"/>
              </a:rPr>
              <a:t>barriers for new entrants.</a:t>
            </a:r>
          </a:p>
        </p:txBody>
      </p:sp>
    </p:spTree>
  </p:cSld>
  <p:clrMapOvr>
    <a:masterClrMapping/>
  </p:clrMapOvr>
</p:sld>
</file>

<file path=ppt/slides/slide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Supply Side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recent developments, investments and R&amp;D activity shaping the supply side of the market</a:t>
            </a:r>
          </a:p>
        </p:txBody>
      </p:sp>
      <p:sp>
        <p:nvSpPr>
          <p:cNvPr id="10" name="Rounded Rectangle 9"/>
          <p:cNvSpPr/>
          <p:nvPr/>
        </p:nvSpPr>
        <p:spPr>
          <a:xfrm>
            <a:off x="142875" y="981075"/>
            <a:ext cx="5876925" cy="1676400"/>
          </a:xfrm>
          <a:prstGeom prst="roundRect">
            <a:avLst>
              <a:gd name="adj" fmla="val 45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Recent Developments &amp; Key Industry Activities</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1906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14" name="Rounded Rectangle 13"/>
          <p:cNvSpPr/>
          <p:nvPr/>
        </p:nvSpPr>
        <p:spPr>
          <a:xfrm>
            <a:off x="6172200" y="981075"/>
            <a:ext cx="5876925" cy="1676400"/>
          </a:xfrm>
          <a:prstGeom prst="roundRect">
            <a:avLst>
              <a:gd name="adj" fmla="val 45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1906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18" name="Rounded Rectangle 17"/>
          <p:cNvSpPr/>
          <p:nvPr/>
        </p:nvSpPr>
        <p:spPr>
          <a:xfrm>
            <a:off x="142875" y="2790825"/>
            <a:ext cx="5876925" cy="1571625"/>
          </a:xfrm>
          <a:prstGeom prst="roundRect">
            <a:avLst>
              <a:gd name="adj" fmla="val 484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876550"/>
            <a:ext cx="5610225" cy="209550"/>
          </a:xfrm>
          <a:prstGeom prst="rect">
            <a:avLst/>
          </a:prstGeom>
          <a:noFill/>
        </p:spPr>
        <p:txBody>
          <a:bodyPr wrap="square" lIns="0" rIns="19050" tIns="9525" bIns="9525">
            <a:spAutoFit/>
          </a:bodyPr>
          <a:lstStyle/>
          <a:p>
            <a:pPr algn="l"/>
            <a:r>
              <a:rPr sz="1300" b="1">
                <a:solidFill>
                  <a:srgbClr val="0B2E4A"/>
                </a:solidFill>
                <a:latin typeface="Calibri"/>
              </a:rPr>
              <a:t>Strategic Acquisitions &amp; New Investments</a:t>
            </a:r>
          </a:p>
        </p:txBody>
      </p:sp>
      <p:sp>
        <p:nvSpPr>
          <p:cNvPr id="20" name="Rectangle 19"/>
          <p:cNvSpPr/>
          <p:nvPr/>
        </p:nvSpPr>
        <p:spPr>
          <a:xfrm>
            <a:off x="276225" y="311467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200400"/>
            <a:ext cx="5610225" cy="108585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22" name="Rounded Rectangle 21"/>
          <p:cNvSpPr/>
          <p:nvPr/>
        </p:nvSpPr>
        <p:spPr>
          <a:xfrm>
            <a:off x="6172200" y="2790825"/>
            <a:ext cx="5876925" cy="1571625"/>
          </a:xfrm>
          <a:prstGeom prst="roundRect">
            <a:avLst>
              <a:gd name="adj" fmla="val 484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876550"/>
            <a:ext cx="5610225" cy="209550"/>
          </a:xfrm>
          <a:prstGeom prst="rect">
            <a:avLst/>
          </a:prstGeom>
          <a:noFill/>
        </p:spPr>
        <p:txBody>
          <a:bodyPr wrap="square" lIns="0" rIns="19050" tIns="9525" bIns="9525">
            <a:spAutoFit/>
          </a:bodyPr>
          <a:lstStyle/>
          <a:p>
            <a:pPr algn="l"/>
            <a:r>
              <a:rPr sz="1300" b="1">
                <a:solidFill>
                  <a:srgbClr val="0B2E4A"/>
                </a:solidFill>
                <a:latin typeface="Calibri"/>
              </a:rPr>
              <a:t>Substantial Investment in R&amp;D</a:t>
            </a:r>
          </a:p>
        </p:txBody>
      </p:sp>
      <p:sp>
        <p:nvSpPr>
          <p:cNvPr id="24" name="Rectangle 23"/>
          <p:cNvSpPr/>
          <p:nvPr/>
        </p:nvSpPr>
        <p:spPr>
          <a:xfrm>
            <a:off x="6305550" y="311467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200400"/>
            <a:ext cx="5610225" cy="108585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26" name="Rounded Rectangle 25"/>
          <p:cNvSpPr/>
          <p:nvPr/>
        </p:nvSpPr>
        <p:spPr>
          <a:xfrm>
            <a:off x="142875" y="4495800"/>
            <a:ext cx="11906250" cy="2114550"/>
          </a:xfrm>
          <a:prstGeom prst="roundRect">
            <a:avLst>
              <a:gd name="adj" fmla="val 360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38125" y="45529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Structure: Product Type Share (2036)</a:t>
            </a:r>
          </a:p>
        </p:txBody>
      </p:sp>
      <p:graphicFrame>
        <p:nvGraphicFramePr>
          <p:cNvPr id="28" name="Chart 27"/>
          <p:cNvGraphicFramePr>
            <a:graphicFrameLocks noGrp="1"/>
          </p:cNvGraphicFramePr>
          <p:nvPr/>
        </p:nvGraphicFramePr>
        <p:xfrm>
          <a:off x="238125" y="4781550"/>
          <a:ext cx="11715750" cy="1771650"/>
        </p:xfrm>
        <a:graphic>
          <a:graphicData uri="http://schemas.openxmlformats.org/drawingml/2006/chart">
            <c:chart xmlns:c="http://schemas.openxmlformats.org/drawingml/2006/chart" r:id="rId3"/>
          </a:graphicData>
        </a:graphic>
      </p:graphicFrame>
      <p:sp>
        <p:nvSpPr>
          <p:cNvPr id="29" name="TextBox 28"/>
          <p:cNvSpPr txBox="1"/>
          <p:nvPr/>
        </p:nvSpPr>
        <p:spPr>
          <a:xfrm>
            <a:off x="3914859" y="5553075"/>
            <a:ext cx="847557" cy="228600"/>
          </a:xfrm>
          <a:prstGeom prst="rect">
            <a:avLst/>
          </a:prstGeom>
          <a:noFill/>
        </p:spPr>
        <p:txBody>
          <a:bodyPr wrap="square" lIns="28575" rIns="28575" tIns="9525" bIns="9525" anchor="ctr">
            <a:spAutoFit/>
          </a:bodyPr>
          <a:lstStyle/>
          <a:p>
            <a:pPr algn="ctr"/>
            <a:r>
              <a:rPr sz="1300" b="1">
                <a:solidFill>
                  <a:srgbClr val="2E2E2E"/>
                </a:solidFill>
                <a:latin typeface="Calibri"/>
              </a:rPr>
              <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1" name="Picture 30" descr="lock.png"/>
          <p:cNvPicPr>
            <a:picLocks noChangeAspect="1"/>
          </p:cNvPicPr>
          <p:nvPr/>
        </p:nvPicPr>
        <p:blipFill>
          <a:blip r:embed="rId5"/>
          <a:stretch>
            <a:fillRect/>
          </a:stretch>
        </p:blipFill>
        <p:spPr>
          <a:xfrm>
            <a:off x="4153896" y="5402105"/>
            <a:ext cx="347376" cy="505274"/>
          </a:xfrm>
          <a:prstGeom prst="rect">
            <a:avLst/>
          </a:prstGeom>
        </p:spPr>
      </p:pic>
      <p:sp>
        <p:nvSpPr>
          <p:cNvPr id="32" name="TextBox 31"/>
          <p:cNvSpPr txBox="1"/>
          <p:nvPr/>
        </p:nvSpPr>
        <p:spPr>
          <a:xfrm>
            <a:off x="276225" y="1400175"/>
            <a:ext cx="5366518" cy="186689"/>
          </a:xfrm>
          <a:prstGeom prst="rect">
            <a:avLst/>
          </a:prstGeom>
          <a:noFill/>
        </p:spPr>
        <p:txBody>
          <a:bodyPr wrap="none" lIns="0" rIns="0" tIns="0" bIns="0">
            <a:spAutoFit/>
          </a:bodyPr>
          <a:lstStyle/>
          <a:p>
            <a:r>
              <a:rPr sz="1100" b="0">
                <a:solidFill>
                  <a:srgbClr val="2E2E2E"/>
                </a:solidFill>
                <a:latin typeface="Calibri"/>
              </a:rPr>
              <a:t>▪ Capacity and product development are concentrating in 'Cast Metal Partial Dentures' and in</a:t>
            </a:r>
          </a:p>
        </p:txBody>
      </p:sp>
      <p:sp>
        <p:nvSpPr>
          <p:cNvPr id="33" name="TextBox 32"/>
          <p:cNvSpPr txBox="1"/>
          <p:nvPr/>
        </p:nvSpPr>
        <p:spPr>
          <a:xfrm>
            <a:off x="276225" y="1567815"/>
            <a:ext cx="2799531" cy="186689"/>
          </a:xfrm>
          <a:prstGeom prst="rect">
            <a:avLst/>
          </a:prstGeom>
          <a:noFill/>
        </p:spPr>
        <p:txBody>
          <a:bodyPr wrap="none" lIns="0" rIns="0" tIns="0" bIns="0">
            <a:spAutoFit/>
          </a:bodyPr>
          <a:lstStyle/>
          <a:p>
            <a:r>
              <a:rPr sz="1100" b="0">
                <a:solidFill>
                  <a:srgbClr val="2E2E2E"/>
                </a:solidFill>
                <a:latin typeface="Calibri"/>
              </a:rPr>
              <a:t>South Asia &amp; Pacific, the fastest-growing region.</a:t>
            </a:r>
          </a:p>
        </p:txBody>
      </p:sp>
      <p:sp>
        <p:nvSpPr>
          <p:cNvPr id="34" name="TextBox 33"/>
          <p:cNvSpPr txBox="1"/>
          <p:nvPr/>
        </p:nvSpPr>
        <p:spPr>
          <a:xfrm>
            <a:off x="276225" y="1785747"/>
            <a:ext cx="5078933" cy="186689"/>
          </a:xfrm>
          <a:prstGeom prst="rect">
            <a:avLst/>
          </a:prstGeom>
          <a:noFill/>
        </p:spPr>
        <p:txBody>
          <a:bodyPr wrap="none" lIns="0" rIns="0" tIns="0" bIns="0">
            <a:spAutoFit/>
          </a:bodyPr>
          <a:lstStyle/>
          <a:p>
            <a:r>
              <a:rPr sz="1100" b="0">
                <a:solidFill>
                  <a:srgbClr val="2E2E2E"/>
                </a:solidFill>
                <a:latin typeface="Calibri"/>
              </a:rPr>
              <a:t>▪ Portfolio expansion is tracking the shift toward higher-growth product type categories.</a:t>
            </a:r>
          </a:p>
        </p:txBody>
      </p:sp>
      <p:sp>
        <p:nvSpPr>
          <p:cNvPr id="35" name="TextBox 34"/>
          <p:cNvSpPr txBox="1"/>
          <p:nvPr/>
        </p:nvSpPr>
        <p:spPr>
          <a:xfrm>
            <a:off x="276225" y="2003678"/>
            <a:ext cx="5313312" cy="186689"/>
          </a:xfrm>
          <a:prstGeom prst="rect">
            <a:avLst/>
          </a:prstGeom>
          <a:noFill/>
        </p:spPr>
        <p:txBody>
          <a:bodyPr wrap="none" lIns="0" rIns="0" tIns="0" bIns="0">
            <a:spAutoFit/>
          </a:bodyPr>
          <a:lstStyle/>
          <a:p>
            <a:r>
              <a:rPr sz="1100" b="0">
                <a:solidFill>
                  <a:srgbClr val="2E2E2E"/>
                </a:solidFill>
                <a:latin typeface="Calibri"/>
              </a:rPr>
              <a:t>▪ Commercial focus is intensifying in North America and South Asia &amp; Pacific, which together</a:t>
            </a:r>
          </a:p>
        </p:txBody>
      </p:sp>
      <p:sp>
        <p:nvSpPr>
          <p:cNvPr id="36" name="TextBox 35"/>
          <p:cNvSpPr txBox="1"/>
          <p:nvPr/>
        </p:nvSpPr>
        <p:spPr>
          <a:xfrm>
            <a:off x="276225" y="2171319"/>
            <a:ext cx="725586" cy="186689"/>
          </a:xfrm>
          <a:prstGeom prst="rect">
            <a:avLst/>
          </a:prstGeom>
          <a:noFill/>
        </p:spPr>
        <p:txBody>
          <a:bodyPr wrap="none" lIns="0" rIns="0" tIns="0" bIns="0">
            <a:spAutoFit/>
          </a:bodyPr>
          <a:lstStyle/>
          <a:p>
            <a:r>
              <a:rPr sz="1100" b="0">
                <a:solidFill>
                  <a:srgbClr val="2E2E2E"/>
                </a:solidFill>
                <a:latin typeface="Calibri"/>
              </a:rPr>
              <a:t>account for</a:t>
            </a:r>
          </a:p>
        </p:txBody>
      </p:sp>
      <p:pic>
        <p:nvPicPr>
          <p:cNvPr id="37" name="Picture 36" descr="lock.png"/>
          <p:cNvPicPr>
            <a:picLocks noChangeAspect="1"/>
          </p:cNvPicPr>
          <p:nvPr/>
        </p:nvPicPr>
        <p:blipFill>
          <a:blip r:embed="rId5"/>
          <a:stretch>
            <a:fillRect/>
          </a:stretch>
        </p:blipFill>
        <p:spPr>
          <a:xfrm>
            <a:off x="949863" y="2161540"/>
            <a:ext cx="128699" cy="187198"/>
          </a:xfrm>
          <a:prstGeom prst="rect">
            <a:avLst/>
          </a:prstGeom>
        </p:spPr>
      </p:pic>
      <p:sp>
        <p:nvSpPr>
          <p:cNvPr id="38" name="TextBox 37"/>
          <p:cNvSpPr txBox="1"/>
          <p:nvPr/>
        </p:nvSpPr>
        <p:spPr>
          <a:xfrm>
            <a:off x="1117359" y="2171319"/>
            <a:ext cx="879747" cy="186689"/>
          </a:xfrm>
          <a:prstGeom prst="rect">
            <a:avLst/>
          </a:prstGeom>
          <a:noFill/>
        </p:spPr>
        <p:txBody>
          <a:bodyPr wrap="none" lIns="0" rIns="0" tIns="0" bIns="0">
            <a:spAutoFit/>
          </a:bodyPr>
          <a:lstStyle/>
          <a:p>
            <a:r>
              <a:rPr sz="1100" b="0">
                <a:solidFill>
                  <a:srgbClr val="2E2E2E"/>
                </a:solidFill>
                <a:latin typeface="Calibri"/>
              </a:rPr>
              <a:t>of 2036 value.</a:t>
            </a:r>
          </a:p>
        </p:txBody>
      </p:sp>
      <p:sp>
        <p:nvSpPr>
          <p:cNvPr id="39" name="TextBox 38"/>
          <p:cNvSpPr txBox="1"/>
          <p:nvPr/>
        </p:nvSpPr>
        <p:spPr>
          <a:xfrm>
            <a:off x="6305550" y="1400175"/>
            <a:ext cx="1508943" cy="186689"/>
          </a:xfrm>
          <a:prstGeom prst="rect">
            <a:avLst/>
          </a:prstGeom>
          <a:noFill/>
        </p:spPr>
        <p:txBody>
          <a:bodyPr wrap="none" lIns="0" rIns="0" tIns="0" bIns="0">
            <a:spAutoFit/>
          </a:bodyPr>
          <a:lstStyle/>
          <a:p>
            <a:r>
              <a:rPr sz="1100" b="0">
                <a:solidFill>
                  <a:srgbClr val="2E2E2E"/>
                </a:solidFill>
                <a:latin typeface="Calibri"/>
              </a:rPr>
              <a:t>▪ Market value rises from</a:t>
            </a:r>
          </a:p>
        </p:txBody>
      </p:sp>
      <p:pic>
        <p:nvPicPr>
          <p:cNvPr id="40" name="Picture 39" descr="lock.png"/>
          <p:cNvPicPr>
            <a:picLocks noChangeAspect="1"/>
          </p:cNvPicPr>
          <p:nvPr/>
        </p:nvPicPr>
        <p:blipFill>
          <a:blip r:embed="rId5"/>
          <a:stretch>
            <a:fillRect/>
          </a:stretch>
        </p:blipFill>
        <p:spPr>
          <a:xfrm>
            <a:off x="7762545" y="1390396"/>
            <a:ext cx="128699" cy="187198"/>
          </a:xfrm>
          <a:prstGeom prst="rect">
            <a:avLst/>
          </a:prstGeom>
        </p:spPr>
      </p:pic>
      <p:sp>
        <p:nvSpPr>
          <p:cNvPr id="41" name="TextBox 40"/>
          <p:cNvSpPr txBox="1"/>
          <p:nvPr/>
        </p:nvSpPr>
        <p:spPr>
          <a:xfrm>
            <a:off x="7930040" y="1400175"/>
            <a:ext cx="1130498" cy="186689"/>
          </a:xfrm>
          <a:prstGeom prst="rect">
            <a:avLst/>
          </a:prstGeom>
          <a:noFill/>
        </p:spPr>
        <p:txBody>
          <a:bodyPr wrap="none" lIns="0" rIns="0" tIns="0" bIns="0">
            <a:spAutoFit/>
          </a:bodyPr>
          <a:lstStyle/>
          <a:p>
            <a:r>
              <a:rPr sz="1100" b="0">
                <a:solidFill>
                  <a:srgbClr val="2E2E2E"/>
                </a:solidFill>
                <a:latin typeface="Calibri"/>
              </a:rPr>
              <a:t>US$ Mn in 2026 to</a:t>
            </a:r>
          </a:p>
        </p:txBody>
      </p:sp>
      <p:pic>
        <p:nvPicPr>
          <p:cNvPr id="42" name="Picture 41" descr="lock.png"/>
          <p:cNvPicPr>
            <a:picLocks noChangeAspect="1"/>
          </p:cNvPicPr>
          <p:nvPr/>
        </p:nvPicPr>
        <p:blipFill>
          <a:blip r:embed="rId5"/>
          <a:stretch>
            <a:fillRect/>
          </a:stretch>
        </p:blipFill>
        <p:spPr>
          <a:xfrm>
            <a:off x="9008591" y="1390396"/>
            <a:ext cx="128699" cy="187198"/>
          </a:xfrm>
          <a:prstGeom prst="rect">
            <a:avLst/>
          </a:prstGeom>
        </p:spPr>
      </p:pic>
      <p:sp>
        <p:nvSpPr>
          <p:cNvPr id="43" name="TextBox 42"/>
          <p:cNvSpPr txBox="1"/>
          <p:nvPr/>
        </p:nvSpPr>
        <p:spPr>
          <a:xfrm>
            <a:off x="9176086" y="1400175"/>
            <a:ext cx="1013445" cy="186689"/>
          </a:xfrm>
          <a:prstGeom prst="rect">
            <a:avLst/>
          </a:prstGeom>
          <a:noFill/>
        </p:spPr>
        <p:txBody>
          <a:bodyPr wrap="none" lIns="0" rIns="0" tIns="0" bIns="0">
            <a:spAutoFit/>
          </a:bodyPr>
          <a:lstStyle/>
          <a:p>
            <a:r>
              <a:rPr sz="1100" b="0">
                <a:solidFill>
                  <a:srgbClr val="2E2E2E"/>
                </a:solidFill>
                <a:latin typeface="Calibri"/>
              </a:rPr>
              <a:t>US$ Mn in 2036.</a:t>
            </a:r>
          </a:p>
        </p:txBody>
      </p:sp>
      <p:sp>
        <p:nvSpPr>
          <p:cNvPr id="44" name="TextBox 43"/>
          <p:cNvSpPr txBox="1"/>
          <p:nvPr/>
        </p:nvSpPr>
        <p:spPr>
          <a:xfrm>
            <a:off x="6305550" y="1618107"/>
            <a:ext cx="1331572" cy="186689"/>
          </a:xfrm>
          <a:prstGeom prst="rect">
            <a:avLst/>
          </a:prstGeom>
          <a:noFill/>
        </p:spPr>
        <p:txBody>
          <a:bodyPr wrap="none" lIns="0" rIns="0" tIns="0" bIns="0">
            <a:spAutoFit/>
          </a:bodyPr>
          <a:lstStyle/>
          <a:p>
            <a:r>
              <a:rPr sz="1100" b="0">
                <a:solidFill>
                  <a:srgbClr val="2E2E2E"/>
                </a:solidFill>
                <a:latin typeface="Calibri"/>
              </a:rPr>
              <a:t>▪ The forecast CAGR is</a:t>
            </a:r>
          </a:p>
        </p:txBody>
      </p:sp>
      <p:pic>
        <p:nvPicPr>
          <p:cNvPr id="45" name="Picture 44" descr="lock.png"/>
          <p:cNvPicPr>
            <a:picLocks noChangeAspect="1"/>
          </p:cNvPicPr>
          <p:nvPr/>
        </p:nvPicPr>
        <p:blipFill>
          <a:blip r:embed="rId5"/>
          <a:stretch>
            <a:fillRect/>
          </a:stretch>
        </p:blipFill>
        <p:spPr>
          <a:xfrm>
            <a:off x="7585174" y="1608328"/>
            <a:ext cx="128699" cy="187198"/>
          </a:xfrm>
          <a:prstGeom prst="rect">
            <a:avLst/>
          </a:prstGeom>
        </p:spPr>
      </p:pic>
      <p:sp>
        <p:nvSpPr>
          <p:cNvPr id="46" name="TextBox 45"/>
          <p:cNvSpPr txBox="1"/>
          <p:nvPr/>
        </p:nvSpPr>
        <p:spPr>
          <a:xfrm>
            <a:off x="7752670" y="1618107"/>
            <a:ext cx="1008533" cy="186689"/>
          </a:xfrm>
          <a:prstGeom prst="rect">
            <a:avLst/>
          </a:prstGeom>
          <a:noFill/>
        </p:spPr>
        <p:txBody>
          <a:bodyPr wrap="none" lIns="0" rIns="0" tIns="0" bIns="0">
            <a:spAutoFit/>
          </a:bodyPr>
          <a:lstStyle/>
          <a:p>
            <a:r>
              <a:rPr sz="1100" b="0">
                <a:solidFill>
                  <a:srgbClr val="2E2E2E"/>
                </a:solidFill>
                <a:latin typeface="Calibri"/>
              </a:rPr>
              <a:t>over 2026-2036.</a:t>
            </a:r>
          </a:p>
        </p:txBody>
      </p:sp>
      <p:sp>
        <p:nvSpPr>
          <p:cNvPr id="47" name="TextBox 46"/>
          <p:cNvSpPr txBox="1"/>
          <p:nvPr/>
        </p:nvSpPr>
        <p:spPr>
          <a:xfrm>
            <a:off x="6305550" y="1836039"/>
            <a:ext cx="3793256" cy="186689"/>
          </a:xfrm>
          <a:prstGeom prst="rect">
            <a:avLst/>
          </a:prstGeom>
          <a:noFill/>
        </p:spPr>
        <p:txBody>
          <a:bodyPr wrap="none" lIns="0" rIns="0" tIns="0" bIns="0">
            <a:spAutoFit/>
          </a:bodyPr>
          <a:lstStyle/>
          <a:p>
            <a:r>
              <a:rPr sz="1100" b="0">
                <a:solidFill>
                  <a:srgbClr val="2E2E2E"/>
                </a:solidFill>
                <a:latin typeface="Calibri"/>
              </a:rPr>
              <a:t>▪ 'Flexible Partial Dentures' is the lead product type category with</a:t>
            </a:r>
          </a:p>
        </p:txBody>
      </p:sp>
      <p:pic>
        <p:nvPicPr>
          <p:cNvPr id="48" name="Picture 47" descr="lock.png"/>
          <p:cNvPicPr>
            <a:picLocks noChangeAspect="1"/>
          </p:cNvPicPr>
          <p:nvPr/>
        </p:nvPicPr>
        <p:blipFill>
          <a:blip r:embed="rId5"/>
          <a:stretch>
            <a:fillRect/>
          </a:stretch>
        </p:blipFill>
        <p:spPr>
          <a:xfrm>
            <a:off x="10046858" y="1826260"/>
            <a:ext cx="128699" cy="187198"/>
          </a:xfrm>
          <a:prstGeom prst="rect">
            <a:avLst/>
          </a:prstGeom>
        </p:spPr>
      </p:pic>
      <p:sp>
        <p:nvSpPr>
          <p:cNvPr id="49" name="TextBox 48"/>
          <p:cNvSpPr txBox="1"/>
          <p:nvPr/>
        </p:nvSpPr>
        <p:spPr>
          <a:xfrm>
            <a:off x="10214354" y="1836039"/>
            <a:ext cx="879747" cy="186689"/>
          </a:xfrm>
          <a:prstGeom prst="rect">
            <a:avLst/>
          </a:prstGeom>
          <a:noFill/>
        </p:spPr>
        <p:txBody>
          <a:bodyPr wrap="none" lIns="0" rIns="0" tIns="0" bIns="0">
            <a:spAutoFit/>
          </a:bodyPr>
          <a:lstStyle/>
          <a:p>
            <a:r>
              <a:rPr sz="1100" b="0">
                <a:solidFill>
                  <a:srgbClr val="2E2E2E"/>
                </a:solidFill>
                <a:latin typeface="Calibri"/>
              </a:rPr>
              <a:t>of 2036 value.</a:t>
            </a:r>
          </a:p>
        </p:txBody>
      </p:sp>
      <p:sp>
        <p:nvSpPr>
          <p:cNvPr id="50" name="TextBox 49"/>
          <p:cNvSpPr txBox="1"/>
          <p:nvPr/>
        </p:nvSpPr>
        <p:spPr>
          <a:xfrm>
            <a:off x="6305550" y="2053970"/>
            <a:ext cx="2283841" cy="186689"/>
          </a:xfrm>
          <a:prstGeom prst="rect">
            <a:avLst/>
          </a:prstGeom>
          <a:noFill/>
        </p:spPr>
        <p:txBody>
          <a:bodyPr wrap="none" lIns="0" rIns="0" tIns="0" bIns="0">
            <a:spAutoFit/>
          </a:bodyPr>
          <a:lstStyle/>
          <a:p>
            <a:r>
              <a:rPr sz="1100" b="0">
                <a:solidFill>
                  <a:srgbClr val="2E2E2E"/>
                </a:solidFill>
                <a:latin typeface="Calibri"/>
              </a:rPr>
              <a:t>▪ North America is the lead region with</a:t>
            </a:r>
          </a:p>
        </p:txBody>
      </p:sp>
      <p:pic>
        <p:nvPicPr>
          <p:cNvPr id="51" name="Picture 50" descr="lock.png"/>
          <p:cNvPicPr>
            <a:picLocks noChangeAspect="1"/>
          </p:cNvPicPr>
          <p:nvPr/>
        </p:nvPicPr>
        <p:blipFill>
          <a:blip r:embed="rId5"/>
          <a:stretch>
            <a:fillRect/>
          </a:stretch>
        </p:blipFill>
        <p:spPr>
          <a:xfrm>
            <a:off x="8537443" y="2044192"/>
            <a:ext cx="128699" cy="187198"/>
          </a:xfrm>
          <a:prstGeom prst="rect">
            <a:avLst/>
          </a:prstGeom>
        </p:spPr>
      </p:pic>
      <p:sp>
        <p:nvSpPr>
          <p:cNvPr id="52" name="TextBox 51"/>
          <p:cNvSpPr txBox="1"/>
          <p:nvPr/>
        </p:nvSpPr>
        <p:spPr>
          <a:xfrm>
            <a:off x="8704939" y="2053970"/>
            <a:ext cx="879747" cy="186689"/>
          </a:xfrm>
          <a:prstGeom prst="rect">
            <a:avLst/>
          </a:prstGeom>
          <a:noFill/>
        </p:spPr>
        <p:txBody>
          <a:bodyPr wrap="none" lIns="0" rIns="0" tIns="0" bIns="0">
            <a:spAutoFit/>
          </a:bodyPr>
          <a:lstStyle/>
          <a:p>
            <a:r>
              <a:rPr sz="1100" b="0">
                <a:solidFill>
                  <a:srgbClr val="2E2E2E"/>
                </a:solidFill>
                <a:latin typeface="Calibri"/>
              </a:rPr>
              <a:t>of 2036 value.</a:t>
            </a:r>
          </a:p>
        </p:txBody>
      </p:sp>
      <p:sp>
        <p:nvSpPr>
          <p:cNvPr id="53" name="TextBox 52"/>
          <p:cNvSpPr txBox="1"/>
          <p:nvPr/>
        </p:nvSpPr>
        <p:spPr>
          <a:xfrm>
            <a:off x="6305550" y="2271903"/>
            <a:ext cx="2841823" cy="186689"/>
          </a:xfrm>
          <a:prstGeom prst="rect">
            <a:avLst/>
          </a:prstGeom>
          <a:noFill/>
        </p:spPr>
        <p:txBody>
          <a:bodyPr wrap="none" lIns="0" rIns="0" tIns="0" bIns="0">
            <a:spAutoFit/>
          </a:bodyPr>
          <a:lstStyle/>
          <a:p>
            <a:r>
              <a:rPr sz="1100" b="0">
                <a:solidFill>
                  <a:srgbClr val="2E2E2E"/>
                </a:solidFill>
                <a:latin typeface="Calibri"/>
              </a:rPr>
              <a:t>▪ The incremental opportunity over 2026-2036 is</a:t>
            </a:r>
          </a:p>
        </p:txBody>
      </p:sp>
      <p:pic>
        <p:nvPicPr>
          <p:cNvPr id="54" name="Picture 53" descr="lock.png"/>
          <p:cNvPicPr>
            <a:picLocks noChangeAspect="1"/>
          </p:cNvPicPr>
          <p:nvPr/>
        </p:nvPicPr>
        <p:blipFill>
          <a:blip r:embed="rId5"/>
          <a:stretch>
            <a:fillRect/>
          </a:stretch>
        </p:blipFill>
        <p:spPr>
          <a:xfrm>
            <a:off x="9095425" y="2262124"/>
            <a:ext cx="128699" cy="187198"/>
          </a:xfrm>
          <a:prstGeom prst="rect">
            <a:avLst/>
          </a:prstGeom>
        </p:spPr>
      </p:pic>
      <p:sp>
        <p:nvSpPr>
          <p:cNvPr id="55" name="TextBox 54"/>
          <p:cNvSpPr txBox="1"/>
          <p:nvPr/>
        </p:nvSpPr>
        <p:spPr>
          <a:xfrm>
            <a:off x="9262920" y="2271903"/>
            <a:ext cx="560784"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56" name="TextBox 55"/>
          <p:cNvSpPr txBox="1"/>
          <p:nvPr/>
        </p:nvSpPr>
        <p:spPr>
          <a:xfrm>
            <a:off x="276225" y="3209925"/>
            <a:ext cx="5404718" cy="186689"/>
          </a:xfrm>
          <a:prstGeom prst="rect">
            <a:avLst/>
          </a:prstGeom>
          <a:noFill/>
        </p:spPr>
        <p:txBody>
          <a:bodyPr wrap="none" lIns="0" rIns="0" tIns="0" bIns="0">
            <a:spAutoFit/>
          </a:bodyPr>
          <a:lstStyle/>
          <a:p>
            <a:r>
              <a:rPr sz="1100" b="0">
                <a:solidFill>
                  <a:srgbClr val="2E2E2E"/>
                </a:solidFill>
                <a:latin typeface="Calibri"/>
              </a:rPr>
              <a:t>▪ Investment is flowing toward 'Cast Metal Partial Dentures', the fastest-growing product type</a:t>
            </a:r>
          </a:p>
        </p:txBody>
      </p:sp>
      <p:sp>
        <p:nvSpPr>
          <p:cNvPr id="57" name="TextBox 56"/>
          <p:cNvSpPr txBox="1"/>
          <p:nvPr/>
        </p:nvSpPr>
        <p:spPr>
          <a:xfrm>
            <a:off x="276225" y="3377565"/>
            <a:ext cx="715764" cy="186689"/>
          </a:xfrm>
          <a:prstGeom prst="rect">
            <a:avLst/>
          </a:prstGeom>
          <a:noFill/>
        </p:spPr>
        <p:txBody>
          <a:bodyPr wrap="none" lIns="0" rIns="0" tIns="0" bIns="0">
            <a:spAutoFit/>
          </a:bodyPr>
          <a:lstStyle/>
          <a:p>
            <a:r>
              <a:rPr sz="1100" b="0">
                <a:solidFill>
                  <a:srgbClr val="2E2E2E"/>
                </a:solidFill>
                <a:latin typeface="Calibri"/>
              </a:rPr>
              <a:t>category at</a:t>
            </a:r>
          </a:p>
        </p:txBody>
      </p:sp>
      <p:pic>
        <p:nvPicPr>
          <p:cNvPr id="58" name="Picture 57" descr="lock.png"/>
          <p:cNvPicPr>
            <a:picLocks noChangeAspect="1"/>
          </p:cNvPicPr>
          <p:nvPr/>
        </p:nvPicPr>
        <p:blipFill>
          <a:blip r:embed="rId5"/>
          <a:stretch>
            <a:fillRect/>
          </a:stretch>
        </p:blipFill>
        <p:spPr>
          <a:xfrm>
            <a:off x="940040" y="3367786"/>
            <a:ext cx="128699" cy="187198"/>
          </a:xfrm>
          <a:prstGeom prst="rect">
            <a:avLst/>
          </a:prstGeom>
        </p:spPr>
      </p:pic>
      <p:sp>
        <p:nvSpPr>
          <p:cNvPr id="59" name="TextBox 58"/>
          <p:cNvSpPr txBox="1"/>
          <p:nvPr/>
        </p:nvSpPr>
        <p:spPr>
          <a:xfrm>
            <a:off x="1107536" y="3377565"/>
            <a:ext cx="430617" cy="186689"/>
          </a:xfrm>
          <a:prstGeom prst="rect">
            <a:avLst/>
          </a:prstGeom>
          <a:noFill/>
        </p:spPr>
        <p:txBody>
          <a:bodyPr wrap="none" lIns="0" rIns="0" tIns="0" bIns="0">
            <a:spAutoFit/>
          </a:bodyPr>
          <a:lstStyle/>
          <a:p>
            <a:r>
              <a:rPr sz="1100" b="0">
                <a:solidFill>
                  <a:srgbClr val="2E2E2E"/>
                </a:solidFill>
                <a:latin typeface="Calibri"/>
              </a:rPr>
              <a:t>CAGR.</a:t>
            </a:r>
          </a:p>
        </p:txBody>
      </p:sp>
      <p:sp>
        <p:nvSpPr>
          <p:cNvPr id="60" name="TextBox 59"/>
          <p:cNvSpPr txBox="1"/>
          <p:nvPr/>
        </p:nvSpPr>
        <p:spPr>
          <a:xfrm>
            <a:off x="276225" y="3595497"/>
            <a:ext cx="1351781" cy="186689"/>
          </a:xfrm>
          <a:prstGeom prst="rect">
            <a:avLst/>
          </a:prstGeom>
          <a:noFill/>
        </p:spPr>
        <p:txBody>
          <a:bodyPr wrap="none" lIns="0" rIns="0" tIns="0" bIns="0">
            <a:spAutoFit/>
          </a:bodyPr>
          <a:lstStyle/>
          <a:p>
            <a:r>
              <a:rPr sz="1100" b="0">
                <a:solidFill>
                  <a:srgbClr val="2E2E2E"/>
                </a:solidFill>
                <a:latin typeface="Calibri"/>
              </a:rPr>
              <a:t>▪ South Asia &amp; Pacific (</a:t>
            </a:r>
          </a:p>
        </p:txBody>
      </p:sp>
      <p:pic>
        <p:nvPicPr>
          <p:cNvPr id="61" name="Picture 60" descr="lock.png"/>
          <p:cNvPicPr>
            <a:picLocks noChangeAspect="1"/>
          </p:cNvPicPr>
          <p:nvPr/>
        </p:nvPicPr>
        <p:blipFill>
          <a:blip r:embed="rId5"/>
          <a:stretch>
            <a:fillRect/>
          </a:stretch>
        </p:blipFill>
        <p:spPr>
          <a:xfrm>
            <a:off x="1576057" y="3585718"/>
            <a:ext cx="128699" cy="187198"/>
          </a:xfrm>
          <a:prstGeom prst="rect">
            <a:avLst/>
          </a:prstGeom>
        </p:spPr>
      </p:pic>
      <p:sp>
        <p:nvSpPr>
          <p:cNvPr id="62" name="TextBox 61"/>
          <p:cNvSpPr txBox="1"/>
          <p:nvPr/>
        </p:nvSpPr>
        <p:spPr>
          <a:xfrm>
            <a:off x="1743553" y="3595497"/>
            <a:ext cx="3444808" cy="186689"/>
          </a:xfrm>
          <a:prstGeom prst="rect">
            <a:avLst/>
          </a:prstGeom>
          <a:noFill/>
        </p:spPr>
        <p:txBody>
          <a:bodyPr wrap="none" lIns="0" rIns="0" tIns="0" bIns="0">
            <a:spAutoFit/>
          </a:bodyPr>
          <a:lstStyle/>
          <a:p>
            <a:r>
              <a:rPr sz="1100" b="0">
                <a:solidFill>
                  <a:srgbClr val="2E2E2E"/>
                </a:solidFill>
                <a:latin typeface="Calibri"/>
              </a:rPr>
              <a:t>CAGR) is a priority region for new capacity and distribution.</a:t>
            </a:r>
          </a:p>
        </p:txBody>
      </p:sp>
      <p:sp>
        <p:nvSpPr>
          <p:cNvPr id="63" name="TextBox 62"/>
          <p:cNvSpPr txBox="1"/>
          <p:nvPr/>
        </p:nvSpPr>
        <p:spPr>
          <a:xfrm>
            <a:off x="276225" y="3813429"/>
            <a:ext cx="5254376" cy="186689"/>
          </a:xfrm>
          <a:prstGeom prst="rect">
            <a:avLst/>
          </a:prstGeom>
          <a:noFill/>
        </p:spPr>
        <p:txBody>
          <a:bodyPr wrap="none" lIns="0" rIns="0" tIns="0" bIns="0">
            <a:spAutoFit/>
          </a:bodyPr>
          <a:lstStyle/>
          <a:p>
            <a:r>
              <a:rPr sz="1100" b="0">
                <a:solidFill>
                  <a:srgbClr val="2E2E2E"/>
                </a:solidFill>
                <a:latin typeface="Calibri"/>
              </a:rPr>
              <a:t>▪ Scale players are anchoring their portfolios around 'Flexible Partial Dentures', which holds</a:t>
            </a:r>
          </a:p>
        </p:txBody>
      </p:sp>
      <p:pic>
        <p:nvPicPr>
          <p:cNvPr id="64" name="Picture 63" descr="lock.png"/>
          <p:cNvPicPr>
            <a:picLocks noChangeAspect="1"/>
          </p:cNvPicPr>
          <p:nvPr/>
        </p:nvPicPr>
        <p:blipFill>
          <a:blip r:embed="rId5"/>
          <a:stretch>
            <a:fillRect/>
          </a:stretch>
        </p:blipFill>
        <p:spPr>
          <a:xfrm>
            <a:off x="5478653" y="3803650"/>
            <a:ext cx="128699" cy="187198"/>
          </a:xfrm>
          <a:prstGeom prst="rect">
            <a:avLst/>
          </a:prstGeom>
        </p:spPr>
      </p:pic>
      <p:sp>
        <p:nvSpPr>
          <p:cNvPr id="65" name="TextBox 64"/>
          <p:cNvSpPr txBox="1"/>
          <p:nvPr/>
        </p:nvSpPr>
        <p:spPr>
          <a:xfrm>
            <a:off x="276225" y="3981069"/>
            <a:ext cx="424631" cy="186689"/>
          </a:xfrm>
          <a:prstGeom prst="rect">
            <a:avLst/>
          </a:prstGeom>
          <a:noFill/>
        </p:spPr>
        <p:txBody>
          <a:bodyPr wrap="none" lIns="0" rIns="0" tIns="0" bIns="0">
            <a:spAutoFit/>
          </a:bodyPr>
          <a:lstStyle/>
          <a:p>
            <a:r>
              <a:rPr sz="1100" b="0">
                <a:solidFill>
                  <a:srgbClr val="2E2E2E"/>
                </a:solidFill>
                <a:latin typeface="Calibri"/>
              </a:rPr>
              <a:t>share.</a:t>
            </a:r>
          </a:p>
        </p:txBody>
      </p:sp>
      <p:sp>
        <p:nvSpPr>
          <p:cNvPr id="66" name="TextBox 65"/>
          <p:cNvSpPr txBox="1"/>
          <p:nvPr/>
        </p:nvSpPr>
        <p:spPr>
          <a:xfrm>
            <a:off x="6305550" y="3209925"/>
            <a:ext cx="5569520" cy="186689"/>
          </a:xfrm>
          <a:prstGeom prst="rect">
            <a:avLst/>
          </a:prstGeom>
          <a:noFill/>
        </p:spPr>
        <p:txBody>
          <a:bodyPr wrap="none" lIns="0" rIns="0" tIns="0" bIns="0">
            <a:spAutoFit/>
          </a:bodyPr>
          <a:lstStyle/>
          <a:p>
            <a:r>
              <a:rPr sz="1100" b="0">
                <a:solidFill>
                  <a:srgbClr val="2E2E2E"/>
                </a:solidFill>
                <a:latin typeface="Calibri"/>
              </a:rPr>
              <a:t>▪ R&amp;D programmes are focused on next-generation product design and digital integration, in line</a:t>
            </a:r>
          </a:p>
        </p:txBody>
      </p:sp>
      <p:sp>
        <p:nvSpPr>
          <p:cNvPr id="67" name="TextBox 66"/>
          <p:cNvSpPr txBox="1"/>
          <p:nvPr/>
        </p:nvSpPr>
        <p:spPr>
          <a:xfrm>
            <a:off x="6305550" y="3377565"/>
            <a:ext cx="3264197" cy="186689"/>
          </a:xfrm>
          <a:prstGeom prst="rect">
            <a:avLst/>
          </a:prstGeom>
          <a:noFill/>
        </p:spPr>
        <p:txBody>
          <a:bodyPr wrap="none" lIns="0" rIns="0" tIns="0" bIns="0">
            <a:spAutoFit/>
          </a:bodyPr>
          <a:lstStyle/>
          <a:p>
            <a:r>
              <a:rPr sz="1100" b="0">
                <a:solidFill>
                  <a:srgbClr val="2E2E2E"/>
                </a:solidFill>
                <a:latin typeface="Calibri"/>
              </a:rPr>
              <a:t>with the migration toward 'Cast Metal Partial Dentures'.</a:t>
            </a:r>
          </a:p>
        </p:txBody>
      </p:sp>
      <p:sp>
        <p:nvSpPr>
          <p:cNvPr id="68" name="TextBox 67"/>
          <p:cNvSpPr txBox="1"/>
          <p:nvPr/>
        </p:nvSpPr>
        <p:spPr>
          <a:xfrm>
            <a:off x="6305550" y="3595497"/>
            <a:ext cx="5292303" cy="186689"/>
          </a:xfrm>
          <a:prstGeom prst="rect">
            <a:avLst/>
          </a:prstGeom>
          <a:noFill/>
        </p:spPr>
        <p:txBody>
          <a:bodyPr wrap="none" lIns="0" rIns="0" tIns="0" bIns="0">
            <a:spAutoFit/>
          </a:bodyPr>
          <a:lstStyle/>
          <a:p>
            <a:r>
              <a:rPr sz="1100" b="0">
                <a:solidFill>
                  <a:srgbClr val="2E2E2E"/>
                </a:solidFill>
                <a:latin typeface="Calibri"/>
              </a:rPr>
              <a:t>▪ Development spend is targeting the product type categories that gain share through 2036.</a:t>
            </a:r>
          </a:p>
        </p:txBody>
      </p:sp>
      <p:sp>
        <p:nvSpPr>
          <p:cNvPr id="69" name="TextBox 68"/>
          <p:cNvSpPr txBox="1"/>
          <p:nvPr/>
        </p:nvSpPr>
        <p:spPr>
          <a:xfrm>
            <a:off x="6305550" y="3813429"/>
            <a:ext cx="1594346" cy="186689"/>
          </a:xfrm>
          <a:prstGeom prst="rect">
            <a:avLst/>
          </a:prstGeom>
          <a:noFill/>
        </p:spPr>
        <p:txBody>
          <a:bodyPr wrap="none" lIns="0" rIns="0" tIns="0" bIns="0">
            <a:spAutoFit/>
          </a:bodyPr>
          <a:lstStyle/>
          <a:p>
            <a:r>
              <a:rPr sz="1100" b="0">
                <a:solidFill>
                  <a:srgbClr val="2E2E2E"/>
                </a:solidFill>
                <a:latin typeface="Calibri"/>
              </a:rPr>
              <a:t>▪ Innovation underpins the</a:t>
            </a:r>
          </a:p>
        </p:txBody>
      </p:sp>
      <p:pic>
        <p:nvPicPr>
          <p:cNvPr id="70" name="Picture 69" descr="lock.png"/>
          <p:cNvPicPr>
            <a:picLocks noChangeAspect="1"/>
          </p:cNvPicPr>
          <p:nvPr/>
        </p:nvPicPr>
        <p:blipFill>
          <a:blip r:embed="rId5"/>
          <a:stretch>
            <a:fillRect/>
          </a:stretch>
        </p:blipFill>
        <p:spPr>
          <a:xfrm>
            <a:off x="7847947" y="3803650"/>
            <a:ext cx="128699" cy="187198"/>
          </a:xfrm>
          <a:prstGeom prst="rect">
            <a:avLst/>
          </a:prstGeom>
        </p:spPr>
      </p:pic>
      <p:sp>
        <p:nvSpPr>
          <p:cNvPr id="71" name="TextBox 70"/>
          <p:cNvSpPr txBox="1"/>
          <p:nvPr/>
        </p:nvSpPr>
        <p:spPr>
          <a:xfrm>
            <a:off x="8015443" y="3813429"/>
            <a:ext cx="3416977" cy="186689"/>
          </a:xfrm>
          <a:prstGeom prst="rect">
            <a:avLst/>
          </a:prstGeom>
          <a:noFill/>
        </p:spPr>
        <p:txBody>
          <a:bodyPr wrap="none" lIns="0" rIns="0" tIns="0" bIns="0">
            <a:spAutoFit/>
          </a:bodyPr>
          <a:lstStyle/>
          <a:p>
            <a:r>
              <a:rPr sz="1100" b="0">
                <a:solidFill>
                  <a:srgbClr val="2E2E2E"/>
                </a:solidFill>
                <a:latin typeface="Calibri"/>
              </a:rPr>
              <a:t>forecast CAGR by sustaining both volume growth and price</a:t>
            </a:r>
          </a:p>
        </p:txBody>
      </p:sp>
      <p:sp>
        <p:nvSpPr>
          <p:cNvPr id="72" name="TextBox 71"/>
          <p:cNvSpPr txBox="1"/>
          <p:nvPr/>
        </p:nvSpPr>
        <p:spPr>
          <a:xfrm>
            <a:off x="6305550" y="3981069"/>
            <a:ext cx="708669" cy="186689"/>
          </a:xfrm>
          <a:prstGeom prst="rect">
            <a:avLst/>
          </a:prstGeom>
          <a:noFill/>
        </p:spPr>
        <p:txBody>
          <a:bodyPr wrap="none" lIns="0" rIns="0" tIns="0" bIns="0">
            <a:spAutoFit/>
          </a:bodyPr>
          <a:lstStyle/>
          <a:p>
            <a:r>
              <a:rPr sz="1100" b="0">
                <a:solidFill>
                  <a:srgbClr val="2E2E2E"/>
                </a:solidFill>
                <a:latin typeface="Calibri"/>
              </a:rPr>
              <a:t>realisation.</a:t>
            </a:r>
          </a:p>
        </p:txBody>
      </p:sp>
      <p:sp>
        <p:nvSpPr>
          <p:cNvPr id="73" name="lockshield_28"/>
          <p:cNvSpPr/>
          <p:nvPr/>
        </p:nvSpPr>
        <p:spPr>
          <a:xfrm>
            <a:off x="238125" y="4781550"/>
            <a:ext cx="11715750" cy="17716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Analysis and Recommendation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the market approach, differentiating strategy and FMI's analysis and recommendation</a:t>
            </a:r>
          </a:p>
        </p:txBody>
      </p:sp>
      <p:sp>
        <p:nvSpPr>
          <p:cNvPr id="10" name="Rounded Rectangle 9"/>
          <p:cNvSpPr/>
          <p:nvPr/>
        </p:nvSpPr>
        <p:spPr>
          <a:xfrm>
            <a:off x="142875" y="981075"/>
            <a:ext cx="5876925"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Overall Market Approach</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362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4" name="Rounded Rectangle 13"/>
          <p:cNvSpPr/>
          <p:nvPr/>
        </p:nvSpPr>
        <p:spPr>
          <a:xfrm>
            <a:off x="6172200" y="981075"/>
            <a:ext cx="5876925"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Differentiating Strategy</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362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Differentiate through the high-growth 'Cast Metal Partial Dentures' category and the 'Dental Hospitals' end user route, where growth outpaces the market.</a:t>
            </a:r>
          </a:p>
        </p:txBody>
      </p:sp>
      <p:sp>
        <p:nvSpPr>
          <p:cNvPr id="18" name="Rounded Rectangle 17"/>
          <p:cNvSpPr/>
          <p:nvPr/>
        </p:nvSpPr>
        <p:spPr>
          <a:xfrm>
            <a:off x="142875" y="2962275"/>
            <a:ext cx="5876925"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3048000"/>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Segment</a:t>
            </a:r>
          </a:p>
        </p:txBody>
      </p:sp>
      <p:sp>
        <p:nvSpPr>
          <p:cNvPr id="20" name="Rectangle 19"/>
          <p:cNvSpPr/>
          <p:nvPr/>
        </p:nvSpPr>
        <p:spPr>
          <a:xfrm>
            <a:off x="276225" y="32861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371850"/>
            <a:ext cx="5610225"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Rounded Rectangle 21"/>
          <p:cNvSpPr/>
          <p:nvPr/>
        </p:nvSpPr>
        <p:spPr>
          <a:xfrm>
            <a:off x="6172200" y="2962275"/>
            <a:ext cx="5876925"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3048000"/>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Region</a:t>
            </a:r>
          </a:p>
        </p:txBody>
      </p:sp>
      <p:sp>
        <p:nvSpPr>
          <p:cNvPr id="24" name="Rectangle 23"/>
          <p:cNvSpPr/>
          <p:nvPr/>
        </p:nvSpPr>
        <p:spPr>
          <a:xfrm>
            <a:off x="6305550" y="32861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371850"/>
            <a:ext cx="5610225"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6" name="Rounded Rectangle 25"/>
          <p:cNvSpPr/>
          <p:nvPr/>
        </p:nvSpPr>
        <p:spPr>
          <a:xfrm>
            <a:off x="142875" y="4695825"/>
            <a:ext cx="11906250" cy="1914525"/>
          </a:xfrm>
          <a:prstGeom prst="roundRect">
            <a:avLst>
              <a:gd name="adj" fmla="val 39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76225" y="4781550"/>
            <a:ext cx="11639550" cy="209550"/>
          </a:xfrm>
          <a:prstGeom prst="rect">
            <a:avLst/>
          </a:prstGeom>
          <a:noFill/>
        </p:spPr>
        <p:txBody>
          <a:bodyPr wrap="square" lIns="0" rIns="19050" tIns="9525" bIns="9525">
            <a:spAutoFit/>
          </a:bodyPr>
          <a:lstStyle/>
          <a:p>
            <a:pPr algn="l"/>
            <a:r>
              <a:rPr sz="1300" b="1">
                <a:solidFill>
                  <a:srgbClr val="0B2E4A"/>
                </a:solidFill>
                <a:latin typeface="Calibri"/>
              </a:rPr>
              <a:t>FMI Analysis and Recommendation</a:t>
            </a:r>
          </a:p>
        </p:txBody>
      </p:sp>
      <p:sp>
        <p:nvSpPr>
          <p:cNvPr id="28" name="Rectangle 27"/>
          <p:cNvSpPr/>
          <p:nvPr/>
        </p:nvSpPr>
        <p:spPr>
          <a:xfrm>
            <a:off x="276225" y="50196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76225" y="5105400"/>
            <a:ext cx="11639550" cy="14287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Concentrate resources on the leading segment and region while seeding the fastest-growing pockets early.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Defend share in 'Flexible Partial Dentures' as the value anchor of the portfolio.</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Build regulatory clearance and clinical evidence into the offer to protect pricing as competition intensifies.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31" name="TextBox 30"/>
          <p:cNvSpPr txBox="1"/>
          <p:nvPr/>
        </p:nvSpPr>
        <p:spPr>
          <a:xfrm>
            <a:off x="276225" y="1400175"/>
            <a:ext cx="5205350" cy="194310"/>
          </a:xfrm>
          <a:prstGeom prst="rect">
            <a:avLst/>
          </a:prstGeom>
          <a:noFill/>
        </p:spPr>
        <p:txBody>
          <a:bodyPr wrap="none" lIns="0" rIns="0" tIns="0" bIns="0">
            <a:spAutoFit/>
          </a:bodyPr>
          <a:lstStyle/>
          <a:p>
            <a:r>
              <a:rPr sz="1150" b="0">
                <a:solidFill>
                  <a:srgbClr val="2E2E2E"/>
                </a:solidFill>
                <a:latin typeface="Calibri"/>
              </a:rPr>
              <a:t>▪ Balance scale in 'Flexible Partial Dentures' with targeted growth in 'Cast Metal Partial</a:t>
            </a:r>
          </a:p>
        </p:txBody>
      </p:sp>
      <p:sp>
        <p:nvSpPr>
          <p:cNvPr id="32" name="TextBox 31"/>
          <p:cNvSpPr txBox="1"/>
          <p:nvPr/>
        </p:nvSpPr>
        <p:spPr>
          <a:xfrm>
            <a:off x="276225" y="1575435"/>
            <a:ext cx="1536414" cy="194310"/>
          </a:xfrm>
          <a:prstGeom prst="rect">
            <a:avLst/>
          </a:prstGeom>
          <a:noFill/>
        </p:spPr>
        <p:txBody>
          <a:bodyPr wrap="none" lIns="0" rIns="0" tIns="0" bIns="0">
            <a:spAutoFit/>
          </a:bodyPr>
          <a:lstStyle/>
          <a:p>
            <a:r>
              <a:rPr sz="1150" b="0">
                <a:solidFill>
                  <a:srgbClr val="2E2E2E"/>
                </a:solidFill>
                <a:latin typeface="Calibri"/>
              </a:rPr>
              <a:t>Dentures' to capture the</a:t>
            </a:r>
          </a:p>
        </p:txBody>
      </p:sp>
      <p:pic>
        <p:nvPicPr>
          <p:cNvPr id="33" name="Picture 32" descr="lock.png"/>
          <p:cNvPicPr>
            <a:picLocks noChangeAspect="1"/>
          </p:cNvPicPr>
          <p:nvPr/>
        </p:nvPicPr>
        <p:blipFill>
          <a:blip r:embed="rId4"/>
          <a:stretch>
            <a:fillRect/>
          </a:stretch>
        </p:blipFill>
        <p:spPr>
          <a:xfrm>
            <a:off x="1761793" y="1565211"/>
            <a:ext cx="134549" cy="195707"/>
          </a:xfrm>
          <a:prstGeom prst="rect">
            <a:avLst/>
          </a:prstGeom>
        </p:spPr>
      </p:pic>
      <p:sp>
        <p:nvSpPr>
          <p:cNvPr id="34" name="TextBox 33"/>
          <p:cNvSpPr txBox="1"/>
          <p:nvPr/>
        </p:nvSpPr>
        <p:spPr>
          <a:xfrm>
            <a:off x="1936902" y="1575435"/>
            <a:ext cx="1551800" cy="194310"/>
          </a:xfrm>
          <a:prstGeom prst="rect">
            <a:avLst/>
          </a:prstGeom>
          <a:noFill/>
        </p:spPr>
        <p:txBody>
          <a:bodyPr wrap="none" lIns="0" rIns="0" tIns="0" bIns="0">
            <a:spAutoFit/>
          </a:bodyPr>
          <a:lstStyle/>
          <a:p>
            <a:r>
              <a:rPr sz="1150" b="0">
                <a:solidFill>
                  <a:srgbClr val="2E2E2E"/>
                </a:solidFill>
                <a:latin typeface="Calibri"/>
              </a:rPr>
              <a:t>CAGR trajectory to 2036.</a:t>
            </a:r>
          </a:p>
        </p:txBody>
      </p:sp>
      <p:sp>
        <p:nvSpPr>
          <p:cNvPr id="35" name="TextBox 34"/>
          <p:cNvSpPr txBox="1"/>
          <p:nvPr/>
        </p:nvSpPr>
        <p:spPr>
          <a:xfrm>
            <a:off x="276225" y="1803273"/>
            <a:ext cx="1154174" cy="194310"/>
          </a:xfrm>
          <a:prstGeom prst="rect">
            <a:avLst/>
          </a:prstGeom>
          <a:noFill/>
        </p:spPr>
        <p:txBody>
          <a:bodyPr wrap="none" lIns="0" rIns="0" tIns="0" bIns="0">
            <a:spAutoFit/>
          </a:bodyPr>
          <a:lstStyle/>
          <a:p>
            <a:r>
              <a:rPr sz="1150" b="0">
                <a:solidFill>
                  <a:srgbClr val="2E2E2E"/>
                </a:solidFill>
                <a:latin typeface="Calibri"/>
              </a:rPr>
              <a:t>▪ The market adds</a:t>
            </a:r>
          </a:p>
        </p:txBody>
      </p:sp>
      <p:pic>
        <p:nvPicPr>
          <p:cNvPr id="36" name="Picture 35" descr="lock.png"/>
          <p:cNvPicPr>
            <a:picLocks noChangeAspect="1"/>
          </p:cNvPicPr>
          <p:nvPr/>
        </p:nvPicPr>
        <p:blipFill>
          <a:blip r:embed="rId4"/>
          <a:stretch>
            <a:fillRect/>
          </a:stretch>
        </p:blipFill>
        <p:spPr>
          <a:xfrm>
            <a:off x="1379553" y="1793049"/>
            <a:ext cx="134549" cy="195707"/>
          </a:xfrm>
          <a:prstGeom prst="rect">
            <a:avLst/>
          </a:prstGeom>
        </p:spPr>
      </p:pic>
      <p:sp>
        <p:nvSpPr>
          <p:cNvPr id="37" name="TextBox 36"/>
          <p:cNvSpPr txBox="1"/>
          <p:nvPr/>
        </p:nvSpPr>
        <p:spPr>
          <a:xfrm>
            <a:off x="1554662" y="1803273"/>
            <a:ext cx="1851620" cy="194310"/>
          </a:xfrm>
          <a:prstGeom prst="rect">
            <a:avLst/>
          </a:prstGeom>
          <a:noFill/>
        </p:spPr>
        <p:txBody>
          <a:bodyPr wrap="none" lIns="0" rIns="0" tIns="0" bIns="0">
            <a:spAutoFit/>
          </a:bodyPr>
          <a:lstStyle/>
          <a:p>
            <a:r>
              <a:rPr sz="1150" b="0">
                <a:solidFill>
                  <a:srgbClr val="2E2E2E"/>
                </a:solidFill>
                <a:latin typeface="Calibri"/>
              </a:rPr>
              <a:t>US$ Mn of demand to 2036, a</a:t>
            </a:r>
          </a:p>
        </p:txBody>
      </p:sp>
      <p:pic>
        <p:nvPicPr>
          <p:cNvPr id="38" name="Picture 37" descr="lock.png"/>
          <p:cNvPicPr>
            <a:picLocks noChangeAspect="1"/>
          </p:cNvPicPr>
          <p:nvPr/>
        </p:nvPicPr>
        <p:blipFill>
          <a:blip r:embed="rId4"/>
          <a:stretch>
            <a:fillRect/>
          </a:stretch>
        </p:blipFill>
        <p:spPr>
          <a:xfrm>
            <a:off x="3355436" y="1793049"/>
            <a:ext cx="134549" cy="195707"/>
          </a:xfrm>
          <a:prstGeom prst="rect">
            <a:avLst/>
          </a:prstGeom>
        </p:spPr>
      </p:pic>
      <p:sp>
        <p:nvSpPr>
          <p:cNvPr id="39" name="TextBox 38"/>
          <p:cNvSpPr txBox="1"/>
          <p:nvPr/>
        </p:nvSpPr>
        <p:spPr>
          <a:xfrm>
            <a:off x="3530546" y="1803273"/>
            <a:ext cx="1871017" cy="194310"/>
          </a:xfrm>
          <a:prstGeom prst="rect">
            <a:avLst/>
          </a:prstGeom>
          <a:noFill/>
        </p:spPr>
        <p:txBody>
          <a:bodyPr wrap="none" lIns="0" rIns="0" tIns="0" bIns="0">
            <a:spAutoFit/>
          </a:bodyPr>
          <a:lstStyle/>
          <a:p>
            <a:r>
              <a:rPr sz="1150" b="0">
                <a:solidFill>
                  <a:srgbClr val="2E2E2E"/>
                </a:solidFill>
                <a:latin typeface="Calibri"/>
              </a:rPr>
              <a:t>x expansion on the 2026 base.</a:t>
            </a:r>
          </a:p>
        </p:txBody>
      </p:sp>
      <p:sp>
        <p:nvSpPr>
          <p:cNvPr id="40" name="TextBox 39"/>
          <p:cNvSpPr txBox="1"/>
          <p:nvPr/>
        </p:nvSpPr>
        <p:spPr>
          <a:xfrm>
            <a:off x="276225" y="3381375"/>
            <a:ext cx="2502569" cy="194310"/>
          </a:xfrm>
          <a:prstGeom prst="rect">
            <a:avLst/>
          </a:prstGeom>
          <a:noFill/>
        </p:spPr>
        <p:txBody>
          <a:bodyPr wrap="none" lIns="0" rIns="0" tIns="0" bIns="0">
            <a:spAutoFit/>
          </a:bodyPr>
          <a:lstStyle/>
          <a:p>
            <a:r>
              <a:rPr sz="1150" b="0">
                <a:solidFill>
                  <a:srgbClr val="2E2E2E"/>
                </a:solidFill>
                <a:latin typeface="Calibri"/>
              </a:rPr>
              <a:t>▪ Prioritise 'Cast Metal Partial Dentures' (</a:t>
            </a:r>
          </a:p>
        </p:txBody>
      </p:sp>
      <p:pic>
        <p:nvPicPr>
          <p:cNvPr id="41" name="Picture 40" descr="lock.png"/>
          <p:cNvPicPr>
            <a:picLocks noChangeAspect="1"/>
          </p:cNvPicPr>
          <p:nvPr/>
        </p:nvPicPr>
        <p:blipFill>
          <a:blip r:embed="rId4"/>
          <a:stretch>
            <a:fillRect/>
          </a:stretch>
        </p:blipFill>
        <p:spPr>
          <a:xfrm>
            <a:off x="2727948" y="3371151"/>
            <a:ext cx="134549" cy="195707"/>
          </a:xfrm>
          <a:prstGeom prst="rect">
            <a:avLst/>
          </a:prstGeom>
        </p:spPr>
      </p:pic>
      <p:sp>
        <p:nvSpPr>
          <p:cNvPr id="42" name="TextBox 41"/>
          <p:cNvSpPr txBox="1"/>
          <p:nvPr/>
        </p:nvSpPr>
        <p:spPr>
          <a:xfrm>
            <a:off x="2903057" y="3381375"/>
            <a:ext cx="2445501" cy="194310"/>
          </a:xfrm>
          <a:prstGeom prst="rect">
            <a:avLst/>
          </a:prstGeom>
          <a:noFill/>
        </p:spPr>
        <p:txBody>
          <a:bodyPr wrap="none" lIns="0" rIns="0" tIns="0" bIns="0">
            <a:spAutoFit/>
          </a:bodyPr>
          <a:lstStyle/>
          <a:p>
            <a:r>
              <a:rPr sz="1150" b="0">
                <a:solidFill>
                  <a:srgbClr val="2E2E2E"/>
                </a:solidFill>
                <a:latin typeface="Calibri"/>
              </a:rPr>
              <a:t>CAGR) for growth, while 'Flexible Partial</a:t>
            </a:r>
          </a:p>
        </p:txBody>
      </p:sp>
      <p:sp>
        <p:nvSpPr>
          <p:cNvPr id="43" name="TextBox 42"/>
          <p:cNvSpPr txBox="1"/>
          <p:nvPr/>
        </p:nvSpPr>
        <p:spPr>
          <a:xfrm>
            <a:off x="276225" y="3556635"/>
            <a:ext cx="1157882" cy="194310"/>
          </a:xfrm>
          <a:prstGeom prst="rect">
            <a:avLst/>
          </a:prstGeom>
          <a:noFill/>
        </p:spPr>
        <p:txBody>
          <a:bodyPr wrap="none" lIns="0" rIns="0" tIns="0" bIns="0">
            <a:spAutoFit/>
          </a:bodyPr>
          <a:lstStyle/>
          <a:p>
            <a:r>
              <a:rPr sz="1150" b="0">
                <a:solidFill>
                  <a:srgbClr val="2E2E2E"/>
                </a:solidFill>
                <a:latin typeface="Calibri"/>
              </a:rPr>
              <a:t>Dentures' anchors</a:t>
            </a:r>
          </a:p>
        </p:txBody>
      </p:sp>
      <p:pic>
        <p:nvPicPr>
          <p:cNvPr id="44" name="Picture 43" descr="lock.png"/>
          <p:cNvPicPr>
            <a:picLocks noChangeAspect="1"/>
          </p:cNvPicPr>
          <p:nvPr/>
        </p:nvPicPr>
        <p:blipFill>
          <a:blip r:embed="rId4"/>
          <a:stretch>
            <a:fillRect/>
          </a:stretch>
        </p:blipFill>
        <p:spPr>
          <a:xfrm>
            <a:off x="1383261" y="3546411"/>
            <a:ext cx="134549" cy="195707"/>
          </a:xfrm>
          <a:prstGeom prst="rect">
            <a:avLst/>
          </a:prstGeom>
        </p:spPr>
      </p:pic>
      <p:sp>
        <p:nvSpPr>
          <p:cNvPr id="45" name="TextBox 44"/>
          <p:cNvSpPr txBox="1"/>
          <p:nvPr/>
        </p:nvSpPr>
        <p:spPr>
          <a:xfrm>
            <a:off x="1558371" y="3556635"/>
            <a:ext cx="1992250" cy="194310"/>
          </a:xfrm>
          <a:prstGeom prst="rect">
            <a:avLst/>
          </a:prstGeom>
          <a:noFill/>
        </p:spPr>
        <p:txBody>
          <a:bodyPr wrap="none" lIns="0" rIns="0" tIns="0" bIns="0">
            <a:spAutoFit/>
          </a:bodyPr>
          <a:lstStyle/>
          <a:p>
            <a:r>
              <a:rPr sz="1150" b="0">
                <a:solidFill>
                  <a:srgbClr val="2E2E2E"/>
                </a:solidFill>
                <a:latin typeface="Calibri"/>
              </a:rPr>
              <a:t>of value and funds the portfolio.</a:t>
            </a:r>
          </a:p>
        </p:txBody>
      </p:sp>
      <p:sp>
        <p:nvSpPr>
          <p:cNvPr id="46" name="TextBox 45"/>
          <p:cNvSpPr txBox="1"/>
          <p:nvPr/>
        </p:nvSpPr>
        <p:spPr>
          <a:xfrm>
            <a:off x="6305550" y="3381375"/>
            <a:ext cx="1720688" cy="194310"/>
          </a:xfrm>
          <a:prstGeom prst="rect">
            <a:avLst/>
          </a:prstGeom>
          <a:noFill/>
        </p:spPr>
        <p:txBody>
          <a:bodyPr wrap="none" lIns="0" rIns="0" tIns="0" bIns="0">
            <a:spAutoFit/>
          </a:bodyPr>
          <a:lstStyle/>
          <a:p>
            <a:r>
              <a:rPr sz="1150" b="0">
                <a:solidFill>
                  <a:srgbClr val="2E2E2E"/>
                </a:solidFill>
                <a:latin typeface="Calibri"/>
              </a:rPr>
              <a:t>▪ Lead with North America (</a:t>
            </a:r>
          </a:p>
        </p:txBody>
      </p:sp>
      <p:pic>
        <p:nvPicPr>
          <p:cNvPr id="47" name="Picture 46" descr="lock.png"/>
          <p:cNvPicPr>
            <a:picLocks noChangeAspect="1"/>
          </p:cNvPicPr>
          <p:nvPr/>
        </p:nvPicPr>
        <p:blipFill>
          <a:blip r:embed="rId4"/>
          <a:stretch>
            <a:fillRect/>
          </a:stretch>
        </p:blipFill>
        <p:spPr>
          <a:xfrm>
            <a:off x="7975392" y="3371151"/>
            <a:ext cx="134549" cy="195707"/>
          </a:xfrm>
          <a:prstGeom prst="rect">
            <a:avLst/>
          </a:prstGeom>
        </p:spPr>
      </p:pic>
      <p:sp>
        <p:nvSpPr>
          <p:cNvPr id="48" name="TextBox 47"/>
          <p:cNvSpPr txBox="1"/>
          <p:nvPr/>
        </p:nvSpPr>
        <p:spPr>
          <a:xfrm>
            <a:off x="8150501" y="3381375"/>
            <a:ext cx="3193739" cy="194310"/>
          </a:xfrm>
          <a:prstGeom prst="rect">
            <a:avLst/>
          </a:prstGeom>
          <a:noFill/>
        </p:spPr>
        <p:txBody>
          <a:bodyPr wrap="none" lIns="0" rIns="0" tIns="0" bIns="0">
            <a:spAutoFit/>
          </a:bodyPr>
          <a:lstStyle/>
          <a:p>
            <a:r>
              <a:rPr sz="1150" b="0">
                <a:solidFill>
                  <a:srgbClr val="2E2E2E"/>
                </a:solidFill>
                <a:latin typeface="Calibri"/>
              </a:rPr>
              <a:t>of value) and capture upside in South Asia &amp; Pacific (</a:t>
            </a:r>
          </a:p>
        </p:txBody>
      </p:sp>
      <p:pic>
        <p:nvPicPr>
          <p:cNvPr id="49" name="Picture 48" descr="lock.png"/>
          <p:cNvPicPr>
            <a:picLocks noChangeAspect="1"/>
          </p:cNvPicPr>
          <p:nvPr/>
        </p:nvPicPr>
        <p:blipFill>
          <a:blip r:embed="rId4"/>
          <a:stretch>
            <a:fillRect/>
          </a:stretch>
        </p:blipFill>
        <p:spPr>
          <a:xfrm>
            <a:off x="11293395" y="3371151"/>
            <a:ext cx="134549" cy="195707"/>
          </a:xfrm>
          <a:prstGeom prst="rect">
            <a:avLst/>
          </a:prstGeom>
        </p:spPr>
      </p:pic>
      <p:sp>
        <p:nvSpPr>
          <p:cNvPr id="50" name="TextBox 49"/>
          <p:cNvSpPr txBox="1"/>
          <p:nvPr/>
        </p:nvSpPr>
        <p:spPr>
          <a:xfrm>
            <a:off x="6305550" y="3556635"/>
            <a:ext cx="490941" cy="194310"/>
          </a:xfrm>
          <a:prstGeom prst="rect">
            <a:avLst/>
          </a:prstGeom>
          <a:noFill/>
        </p:spPr>
        <p:txBody>
          <a:bodyPr wrap="none" lIns="0" rIns="0" tIns="0" bIns="0">
            <a:spAutoFit/>
          </a:bodyPr>
          <a:lstStyle/>
          <a:p>
            <a:r>
              <a:rPr sz="1150" b="0">
                <a:solidFill>
                  <a:srgbClr val="2E2E2E"/>
                </a:solidFill>
                <a:latin typeface="Calibri"/>
              </a:rPr>
              <a:t>CAGR).</a:t>
            </a:r>
          </a:p>
        </p:txBody>
      </p:sp>
    </p:spTree>
  </p:cSld>
  <p:clrMapOvr>
    <a:masterClrMapping/>
  </p:clrMapOvr>
</p:sld>
</file>

<file path=ppt/slides/slide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Scenario Outlook (4/4)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Scenario outlook comparing optimistic, likely and conservative outcomes for 2036 and the CAGR behind each</a:t>
            </a:r>
          </a:p>
        </p:txBody>
      </p:sp>
      <p:sp>
        <p:nvSpPr>
          <p:cNvPr id="10" name="Rounded Rectangle 9"/>
          <p:cNvSpPr/>
          <p:nvPr/>
        </p:nvSpPr>
        <p:spPr>
          <a:xfrm>
            <a:off x="142875" y="981075"/>
            <a:ext cx="3943350" cy="6096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1" name="Rounded Rectangle 10"/>
          <p:cNvSpPr/>
          <p:nvPr/>
        </p:nvSpPr>
        <p:spPr>
          <a:xfrm>
            <a:off x="4238625" y="981075"/>
            <a:ext cx="3819525" cy="6096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2" name="Rounded Rectangle 11"/>
          <p:cNvSpPr/>
          <p:nvPr/>
        </p:nvSpPr>
        <p:spPr>
          <a:xfrm>
            <a:off x="8210550" y="981075"/>
            <a:ext cx="3819525" cy="6096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3" name="Rounded Rectangle 12"/>
          <p:cNvSpPr/>
          <p:nvPr/>
        </p:nvSpPr>
        <p:spPr>
          <a:xfrm>
            <a:off x="142875" y="1724025"/>
            <a:ext cx="5876925" cy="2924175"/>
          </a:xfrm>
          <a:prstGeom prst="roundRect">
            <a:avLst>
              <a:gd name="adj" fmla="val 26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178117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Removable Partial Dentures Market Value (US$ Mn): Scenario Forecast, 2025 and 2036</a:t>
            </a:r>
          </a:p>
        </p:txBody>
      </p:sp>
      <p:cxnSp>
        <p:nvCxnSpPr>
          <p:cNvPr id="15" name="Connector 14"/>
          <p:cNvCxnSpPr/>
          <p:nvPr/>
        </p:nvCxnSpPr>
        <p:spPr>
          <a:xfrm>
            <a:off x="238125" y="4133850"/>
            <a:ext cx="5686425" cy="0"/>
          </a:xfrm>
          <a:prstGeom prst="line">
            <a:avLst/>
          </a:prstGeom>
          <a:ln w="9525">
            <a:solidFill>
              <a:srgbClr val="BFBFBF"/>
            </a:solidFill>
          </a:ln>
        </p:spPr>
        <p:style>
          <a:lnRef idx="2">
            <a:schemeClr val="accent1"/>
          </a:lnRef>
          <a:fillRef idx="0">
            <a:schemeClr val="accent1"/>
          </a:fillRef>
          <a:effectRef idx="1">
            <a:schemeClr val="accent1"/>
          </a:effectRef>
          <a:fontRef idx="minor">
            <a:schemeClr val="tx1"/>
          </a:fontRef>
        </p:style>
      </p:cxnSp>
      <p:sp>
        <p:nvSpPr>
          <p:cNvPr id="16" name="Rectangle 15"/>
          <p:cNvSpPr/>
          <p:nvPr/>
        </p:nvSpPr>
        <p:spPr>
          <a:xfrm>
            <a:off x="706342" y="3337065"/>
            <a:ext cx="635826" cy="796785"/>
          </a:xfrm>
          <a:prstGeom prst="rect">
            <a:avLst/>
          </a:prstGeom>
          <a:solidFill>
            <a:srgbClr val="4031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ectangle 16"/>
          <p:cNvSpPr/>
          <p:nvPr/>
        </p:nvSpPr>
        <p:spPr>
          <a:xfrm>
            <a:off x="3043936" y="2995051"/>
            <a:ext cx="635826" cy="1138799"/>
          </a:xfrm>
          <a:prstGeom prst="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4025725" y="2854321"/>
            <a:ext cx="635826" cy="1279529"/>
          </a:xfrm>
          <a:prstGeom prst="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ectangle 18"/>
          <p:cNvSpPr/>
          <p:nvPr/>
        </p:nvSpPr>
        <p:spPr>
          <a:xfrm>
            <a:off x="5007515" y="2697956"/>
            <a:ext cx="635826" cy="1435894"/>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0" name="Connector 19"/>
          <p:cNvCxnSpPr/>
          <p:nvPr/>
        </p:nvCxnSpPr>
        <p:spPr>
          <a:xfrm>
            <a:off x="1456468" y="2861701"/>
            <a:ext cx="1568418" cy="0"/>
          </a:xfrm>
          <a:prstGeom prst="line">
            <a:avLst/>
          </a:prstGeom>
          <a:ln w="15875">
            <a:solidFill>
              <a:srgbClr val="92D05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1" name="Rounded Rectangle 20"/>
          <p:cNvSpPr/>
          <p:nvPr/>
        </p:nvSpPr>
        <p:spPr>
          <a:xfrm>
            <a:off x="1570768" y="2756926"/>
            <a:ext cx="1358868" cy="209550"/>
          </a:xfrm>
          <a:prstGeom prst="round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
            </a:r>
          </a:p>
        </p:txBody>
      </p:sp>
      <p:cxnSp>
        <p:nvCxnSpPr>
          <p:cNvPr id="22" name="Connector 21"/>
          <p:cNvCxnSpPr/>
          <p:nvPr/>
        </p:nvCxnSpPr>
        <p:spPr>
          <a:xfrm>
            <a:off x="1456468" y="2604526"/>
            <a:ext cx="2550207" cy="0"/>
          </a:xfrm>
          <a:prstGeom prst="line">
            <a:avLst/>
          </a:prstGeom>
          <a:ln w="15875">
            <a:solidFill>
              <a:srgbClr val="0078D4"/>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3" name="Rounded Rectangle 22"/>
          <p:cNvSpPr/>
          <p:nvPr/>
        </p:nvSpPr>
        <p:spPr>
          <a:xfrm>
            <a:off x="1570768" y="2499751"/>
            <a:ext cx="1358868" cy="209550"/>
          </a:xfrm>
          <a:prstGeom prst="round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
            </a:r>
          </a:p>
        </p:txBody>
      </p:sp>
      <p:cxnSp>
        <p:nvCxnSpPr>
          <p:cNvPr id="24" name="Connector 23"/>
          <p:cNvCxnSpPr/>
          <p:nvPr/>
        </p:nvCxnSpPr>
        <p:spPr>
          <a:xfrm>
            <a:off x="1456468" y="2347351"/>
            <a:ext cx="3531997" cy="0"/>
          </a:xfrm>
          <a:prstGeom prst="line">
            <a:avLst/>
          </a:prstGeom>
          <a:ln w="15875">
            <a:solidFill>
              <a:srgbClr val="80808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5" name="Rounded Rectangle 24"/>
          <p:cNvSpPr/>
          <p:nvPr/>
        </p:nvSpPr>
        <p:spPr>
          <a:xfrm>
            <a:off x="1570768" y="2242576"/>
            <a:ext cx="1358868" cy="209550"/>
          </a:xfrm>
          <a:prstGeom prst="round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
            </a:r>
          </a:p>
        </p:txBody>
      </p:sp>
      <p:sp>
        <p:nvSpPr>
          <p:cNvPr id="26" name="TextBox 25"/>
          <p:cNvSpPr txBox="1"/>
          <p:nvPr/>
        </p:nvSpPr>
        <p:spPr>
          <a:xfrm>
            <a:off x="643255" y="416242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2025</a:t>
            </a:r>
          </a:p>
        </p:txBody>
      </p:sp>
      <p:sp>
        <p:nvSpPr>
          <p:cNvPr id="27" name="TextBox 26"/>
          <p:cNvSpPr txBox="1"/>
          <p:nvPr/>
        </p:nvSpPr>
        <p:spPr>
          <a:xfrm>
            <a:off x="3962638" y="416242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2036</a:t>
            </a:r>
          </a:p>
        </p:txBody>
      </p:sp>
      <p:sp>
        <p:nvSpPr>
          <p:cNvPr id="28" name="Oval 27"/>
          <p:cNvSpPr/>
          <p:nvPr/>
        </p:nvSpPr>
        <p:spPr>
          <a:xfrm>
            <a:off x="304800" y="4400550"/>
            <a:ext cx="133350" cy="133350"/>
          </a:xfrm>
          <a:prstGeom prst="ellipse">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85775" y="437197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Conservative Scenario</a:t>
            </a:r>
          </a:p>
        </p:txBody>
      </p:sp>
      <p:sp>
        <p:nvSpPr>
          <p:cNvPr id="30" name="Oval 29"/>
          <p:cNvSpPr/>
          <p:nvPr/>
        </p:nvSpPr>
        <p:spPr>
          <a:xfrm>
            <a:off x="2200275" y="4400550"/>
            <a:ext cx="133350" cy="133350"/>
          </a:xfrm>
          <a:prstGeom prst="ellipse">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0" y="437197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Likely Scenario</a:t>
            </a:r>
          </a:p>
        </p:txBody>
      </p:sp>
      <p:sp>
        <p:nvSpPr>
          <p:cNvPr id="32" name="Oval 31"/>
          <p:cNvSpPr/>
          <p:nvPr/>
        </p:nvSpPr>
        <p:spPr>
          <a:xfrm>
            <a:off x="4095750" y="4400550"/>
            <a:ext cx="133350" cy="133350"/>
          </a:xfrm>
          <a:prstGeom prst="ellipse">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4276725" y="437197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Optimistic Scenario</a:t>
            </a:r>
          </a:p>
        </p:txBody>
      </p:sp>
      <p:sp>
        <p:nvSpPr>
          <p:cNvPr id="34" name="Rounded Rectangle 33"/>
          <p:cNvSpPr/>
          <p:nvPr/>
        </p:nvSpPr>
        <p:spPr>
          <a:xfrm>
            <a:off x="6172200" y="1724025"/>
            <a:ext cx="5876925" cy="2924175"/>
          </a:xfrm>
          <a:prstGeom prst="roundRect">
            <a:avLst>
              <a:gd name="adj" fmla="val 26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267450" y="178117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Removable Partial Dentures Market Attractiveness Analysis By Region, 2026–2036</a:t>
            </a:r>
          </a:p>
        </p:txBody>
      </p:sp>
      <p:graphicFrame>
        <p:nvGraphicFramePr>
          <p:cNvPr id="36" name="Chart 35"/>
          <p:cNvGraphicFramePr>
            <a:graphicFrameLocks noGrp="1"/>
          </p:cNvGraphicFramePr>
          <p:nvPr/>
        </p:nvGraphicFramePr>
        <p:xfrm>
          <a:off x="6267450" y="2181225"/>
          <a:ext cx="5686425" cy="2409825"/>
        </p:xfrm>
        <a:graphic>
          <a:graphicData uri="http://schemas.openxmlformats.org/drawingml/2006/chart">
            <c:chart xmlns:c="http://schemas.openxmlformats.org/drawingml/2006/chart" r:id="rId3"/>
          </a:graphicData>
        </a:graphic>
      </p:graphicFrame>
      <p:sp>
        <p:nvSpPr>
          <p:cNvPr id="37" name="Rounded Rectangle 36"/>
          <p:cNvSpPr/>
          <p:nvPr/>
        </p:nvSpPr>
        <p:spPr>
          <a:xfrm>
            <a:off x="142875" y="4781550"/>
            <a:ext cx="11906250" cy="1838325"/>
          </a:xfrm>
          <a:prstGeom prst="roundRect">
            <a:avLst>
              <a:gd name="adj" fmla="val 41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76225" y="4867275"/>
            <a:ext cx="11639550" cy="209550"/>
          </a:xfrm>
          <a:prstGeom prst="rect">
            <a:avLst/>
          </a:prstGeom>
          <a:noFill/>
        </p:spPr>
        <p:txBody>
          <a:bodyPr wrap="square" lIns="0" rIns="19050" tIns="9525" bIns="9525">
            <a:spAutoFit/>
          </a:bodyPr>
          <a:lstStyle/>
          <a:p>
            <a:pPr algn="l"/>
            <a:r>
              <a:rPr sz="1300" b="1">
                <a:solidFill>
                  <a:srgbClr val="0B2E4A"/>
                </a:solidFill>
                <a:latin typeface="Calibri"/>
              </a:rPr>
              <a:t>Scenario Assumptions &amp; Outlook</a:t>
            </a:r>
          </a:p>
        </p:txBody>
      </p:sp>
      <p:sp>
        <p:nvSpPr>
          <p:cNvPr id="39" name="Rectangle 38"/>
          <p:cNvSpPr/>
          <p:nvPr/>
        </p:nvSpPr>
        <p:spPr>
          <a:xfrm>
            <a:off x="276225" y="5105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76225" y="5191125"/>
            <a:ext cx="11639550" cy="135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41" name="TextBox 4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2" name="Picture 41" descr="lock.png"/>
          <p:cNvPicPr>
            <a:picLocks noChangeAspect="1"/>
          </p:cNvPicPr>
          <p:nvPr/>
        </p:nvPicPr>
        <p:blipFill>
          <a:blip r:embed="rId5"/>
          <a:stretch>
            <a:fillRect/>
          </a:stretch>
        </p:blipFill>
        <p:spPr>
          <a:xfrm>
            <a:off x="2035969" y="1171575"/>
            <a:ext cx="157162" cy="228600"/>
          </a:xfrm>
          <a:prstGeom prst="rect">
            <a:avLst/>
          </a:prstGeom>
        </p:spPr>
      </p:pic>
      <p:pic>
        <p:nvPicPr>
          <p:cNvPr id="43" name="Picture 42" descr="lock.png"/>
          <p:cNvPicPr>
            <a:picLocks noChangeAspect="1"/>
          </p:cNvPicPr>
          <p:nvPr/>
        </p:nvPicPr>
        <p:blipFill>
          <a:blip r:embed="rId5"/>
          <a:stretch>
            <a:fillRect/>
          </a:stretch>
        </p:blipFill>
        <p:spPr>
          <a:xfrm>
            <a:off x="6069806" y="1171575"/>
            <a:ext cx="157162" cy="228600"/>
          </a:xfrm>
          <a:prstGeom prst="rect">
            <a:avLst/>
          </a:prstGeom>
        </p:spPr>
      </p:pic>
      <p:pic>
        <p:nvPicPr>
          <p:cNvPr id="44" name="Picture 43" descr="lock.png"/>
          <p:cNvPicPr>
            <a:picLocks noChangeAspect="1"/>
          </p:cNvPicPr>
          <p:nvPr/>
        </p:nvPicPr>
        <p:blipFill>
          <a:blip r:embed="rId5"/>
          <a:stretch>
            <a:fillRect/>
          </a:stretch>
        </p:blipFill>
        <p:spPr>
          <a:xfrm>
            <a:off x="10041731" y="1171575"/>
            <a:ext cx="157162" cy="228600"/>
          </a:xfrm>
          <a:prstGeom prst="rect">
            <a:avLst/>
          </a:prstGeom>
        </p:spPr>
      </p:pic>
      <p:sp>
        <p:nvSpPr>
          <p:cNvPr id="45" name="TextBox 44"/>
          <p:cNvSpPr txBox="1"/>
          <p:nvPr/>
        </p:nvSpPr>
        <p:spPr>
          <a:xfrm>
            <a:off x="1702407" y="1026429"/>
            <a:ext cx="900484" cy="146456"/>
          </a:xfrm>
          <a:prstGeom prst="rect">
            <a:avLst/>
          </a:prstGeom>
          <a:noFill/>
        </p:spPr>
        <p:txBody>
          <a:bodyPr wrap="none" lIns="0" rIns="0" tIns="0" bIns="0">
            <a:spAutoFit/>
          </a:bodyPr>
          <a:lstStyle/>
          <a:p>
            <a:r>
              <a:rPr sz="835" b="1">
                <a:solidFill>
                  <a:srgbClr val="6C7A89"/>
                </a:solidFill>
                <a:latin typeface="Calibri"/>
              </a:rPr>
              <a:t>OPTIMISTIC (2036)</a:t>
            </a:r>
          </a:p>
        </p:txBody>
      </p:sp>
      <p:sp>
        <p:nvSpPr>
          <p:cNvPr id="46" name="TextBox 45"/>
          <p:cNvSpPr txBox="1"/>
          <p:nvPr/>
        </p:nvSpPr>
        <p:spPr>
          <a:xfrm>
            <a:off x="1934715" y="1417914"/>
            <a:ext cx="318806" cy="146456"/>
          </a:xfrm>
          <a:prstGeom prst="rect">
            <a:avLst/>
          </a:prstGeom>
          <a:noFill/>
        </p:spPr>
        <p:txBody>
          <a:bodyPr wrap="none" lIns="0" rIns="0" tIns="0" bIns="0">
            <a:spAutoFit/>
          </a:bodyPr>
          <a:lstStyle/>
          <a:p>
            <a:r>
              <a:rPr sz="835" b="0">
                <a:solidFill>
                  <a:srgbClr val="6C7A89"/>
                </a:solidFill>
                <a:latin typeface="Calibri"/>
              </a:rPr>
              <a:t>CAGR</a:t>
            </a:r>
          </a:p>
        </p:txBody>
      </p:sp>
      <p:pic>
        <p:nvPicPr>
          <p:cNvPr id="47" name="Picture 46" descr="lock.png"/>
          <p:cNvPicPr>
            <a:picLocks noChangeAspect="1"/>
          </p:cNvPicPr>
          <p:nvPr/>
        </p:nvPicPr>
        <p:blipFill>
          <a:blip r:embed="rId5"/>
          <a:stretch>
            <a:fillRect/>
          </a:stretch>
        </p:blipFill>
        <p:spPr>
          <a:xfrm>
            <a:off x="2195753" y="1410482"/>
            <a:ext cx="97811" cy="142270"/>
          </a:xfrm>
          <a:prstGeom prst="rect">
            <a:avLst/>
          </a:prstGeom>
        </p:spPr>
      </p:pic>
      <p:sp>
        <p:nvSpPr>
          <p:cNvPr id="48" name="TextBox 47"/>
          <p:cNvSpPr txBox="1"/>
          <p:nvPr/>
        </p:nvSpPr>
        <p:spPr>
          <a:xfrm>
            <a:off x="5853687" y="1026429"/>
            <a:ext cx="665599" cy="146456"/>
          </a:xfrm>
          <a:prstGeom prst="rect">
            <a:avLst/>
          </a:prstGeom>
          <a:noFill/>
        </p:spPr>
        <p:txBody>
          <a:bodyPr wrap="none" lIns="0" rIns="0" tIns="0" bIns="0">
            <a:spAutoFit/>
          </a:bodyPr>
          <a:lstStyle/>
          <a:p>
            <a:r>
              <a:rPr sz="835" b="1">
                <a:solidFill>
                  <a:srgbClr val="6C7A89"/>
                </a:solidFill>
                <a:latin typeface="Calibri"/>
              </a:rPr>
              <a:t>LIKELY (2036)</a:t>
            </a:r>
          </a:p>
        </p:txBody>
      </p:sp>
      <p:sp>
        <p:nvSpPr>
          <p:cNvPr id="49" name="TextBox 48"/>
          <p:cNvSpPr txBox="1"/>
          <p:nvPr/>
        </p:nvSpPr>
        <p:spPr>
          <a:xfrm>
            <a:off x="5968553" y="1417914"/>
            <a:ext cx="318806" cy="146456"/>
          </a:xfrm>
          <a:prstGeom prst="rect">
            <a:avLst/>
          </a:prstGeom>
          <a:noFill/>
        </p:spPr>
        <p:txBody>
          <a:bodyPr wrap="none" lIns="0" rIns="0" tIns="0" bIns="0">
            <a:spAutoFit/>
          </a:bodyPr>
          <a:lstStyle/>
          <a:p>
            <a:r>
              <a:rPr sz="835" b="0">
                <a:solidFill>
                  <a:srgbClr val="6C7A89"/>
                </a:solidFill>
                <a:latin typeface="Calibri"/>
              </a:rPr>
              <a:t>CAGR</a:t>
            </a:r>
          </a:p>
        </p:txBody>
      </p:sp>
      <p:pic>
        <p:nvPicPr>
          <p:cNvPr id="50" name="Picture 49" descr="lock.png"/>
          <p:cNvPicPr>
            <a:picLocks noChangeAspect="1"/>
          </p:cNvPicPr>
          <p:nvPr/>
        </p:nvPicPr>
        <p:blipFill>
          <a:blip r:embed="rId5"/>
          <a:stretch>
            <a:fillRect/>
          </a:stretch>
        </p:blipFill>
        <p:spPr>
          <a:xfrm>
            <a:off x="6229591" y="1410482"/>
            <a:ext cx="97811" cy="142270"/>
          </a:xfrm>
          <a:prstGeom prst="rect">
            <a:avLst/>
          </a:prstGeom>
        </p:spPr>
      </p:pic>
      <p:sp>
        <p:nvSpPr>
          <p:cNvPr id="51" name="TextBox 50"/>
          <p:cNvSpPr txBox="1"/>
          <p:nvPr/>
        </p:nvSpPr>
        <p:spPr>
          <a:xfrm>
            <a:off x="9626124" y="1026429"/>
            <a:ext cx="1064576" cy="146456"/>
          </a:xfrm>
          <a:prstGeom prst="rect">
            <a:avLst/>
          </a:prstGeom>
          <a:noFill/>
        </p:spPr>
        <p:txBody>
          <a:bodyPr wrap="none" lIns="0" rIns="0" tIns="0" bIns="0">
            <a:spAutoFit/>
          </a:bodyPr>
          <a:lstStyle/>
          <a:p>
            <a:r>
              <a:rPr sz="835" b="1">
                <a:solidFill>
                  <a:srgbClr val="6C7A89"/>
                </a:solidFill>
                <a:latin typeface="Calibri"/>
              </a:rPr>
              <a:t>CONSERVATIVE (2036)</a:t>
            </a:r>
          </a:p>
        </p:txBody>
      </p:sp>
      <p:sp>
        <p:nvSpPr>
          <p:cNvPr id="52" name="TextBox 51"/>
          <p:cNvSpPr txBox="1"/>
          <p:nvPr/>
        </p:nvSpPr>
        <p:spPr>
          <a:xfrm>
            <a:off x="9940478" y="1417914"/>
            <a:ext cx="318806" cy="146456"/>
          </a:xfrm>
          <a:prstGeom prst="rect">
            <a:avLst/>
          </a:prstGeom>
          <a:noFill/>
        </p:spPr>
        <p:txBody>
          <a:bodyPr wrap="none" lIns="0" rIns="0" tIns="0" bIns="0">
            <a:spAutoFit/>
          </a:bodyPr>
          <a:lstStyle/>
          <a:p>
            <a:r>
              <a:rPr sz="835" b="0">
                <a:solidFill>
                  <a:srgbClr val="6C7A89"/>
                </a:solidFill>
                <a:latin typeface="Calibri"/>
              </a:rPr>
              <a:t>CAGR</a:t>
            </a:r>
          </a:p>
        </p:txBody>
      </p:sp>
      <p:pic>
        <p:nvPicPr>
          <p:cNvPr id="53" name="Picture 52" descr="lock.png"/>
          <p:cNvPicPr>
            <a:picLocks noChangeAspect="1"/>
          </p:cNvPicPr>
          <p:nvPr/>
        </p:nvPicPr>
        <p:blipFill>
          <a:blip r:embed="rId5"/>
          <a:stretch>
            <a:fillRect/>
          </a:stretch>
        </p:blipFill>
        <p:spPr>
          <a:xfrm>
            <a:off x="10201516" y="1410482"/>
            <a:ext cx="97811" cy="142270"/>
          </a:xfrm>
          <a:prstGeom prst="rect">
            <a:avLst/>
          </a:prstGeom>
        </p:spPr>
      </p:pic>
      <p:sp>
        <p:nvSpPr>
          <p:cNvPr id="54" name="TextBox 53"/>
          <p:cNvSpPr txBox="1"/>
          <p:nvPr/>
        </p:nvSpPr>
        <p:spPr>
          <a:xfrm>
            <a:off x="2032418" y="2791292"/>
            <a:ext cx="382383" cy="159867"/>
          </a:xfrm>
          <a:prstGeom prst="rect">
            <a:avLst/>
          </a:prstGeom>
          <a:noFill/>
        </p:spPr>
        <p:txBody>
          <a:bodyPr wrap="none" lIns="0" rIns="0" tIns="0" bIns="0">
            <a:spAutoFit/>
          </a:bodyPr>
          <a:lstStyle/>
          <a:p>
            <a:r>
              <a:rPr sz="923" b="1">
                <a:solidFill>
                  <a:srgbClr val="FFFFFF"/>
                </a:solidFill>
                <a:latin typeface="Calibri"/>
              </a:rPr>
              <a:t>CAGR:</a:t>
            </a:r>
          </a:p>
        </p:txBody>
      </p:sp>
      <p:pic>
        <p:nvPicPr>
          <p:cNvPr id="55" name="Picture 54" descr="lock.png"/>
          <p:cNvPicPr>
            <a:picLocks noChangeAspect="1"/>
          </p:cNvPicPr>
          <p:nvPr/>
        </p:nvPicPr>
        <p:blipFill>
          <a:blip r:embed="rId5"/>
          <a:stretch>
            <a:fillRect/>
          </a:stretch>
        </p:blipFill>
        <p:spPr>
          <a:xfrm>
            <a:off x="2358973" y="2783077"/>
            <a:ext cx="108107" cy="157246"/>
          </a:xfrm>
          <a:prstGeom prst="rect">
            <a:avLst/>
          </a:prstGeom>
        </p:spPr>
      </p:pic>
      <p:sp>
        <p:nvSpPr>
          <p:cNvPr id="56" name="TextBox 55"/>
          <p:cNvSpPr txBox="1"/>
          <p:nvPr/>
        </p:nvSpPr>
        <p:spPr>
          <a:xfrm>
            <a:off x="2032418" y="2534117"/>
            <a:ext cx="382383" cy="159867"/>
          </a:xfrm>
          <a:prstGeom prst="rect">
            <a:avLst/>
          </a:prstGeom>
          <a:noFill/>
        </p:spPr>
        <p:txBody>
          <a:bodyPr wrap="none" lIns="0" rIns="0" tIns="0" bIns="0">
            <a:spAutoFit/>
          </a:bodyPr>
          <a:lstStyle/>
          <a:p>
            <a:r>
              <a:rPr sz="923" b="1">
                <a:solidFill>
                  <a:srgbClr val="FFFFFF"/>
                </a:solidFill>
                <a:latin typeface="Calibri"/>
              </a:rPr>
              <a:t>CAGR:</a:t>
            </a:r>
          </a:p>
        </p:txBody>
      </p:sp>
      <p:pic>
        <p:nvPicPr>
          <p:cNvPr id="57" name="Picture 56" descr="lock.png"/>
          <p:cNvPicPr>
            <a:picLocks noChangeAspect="1"/>
          </p:cNvPicPr>
          <p:nvPr/>
        </p:nvPicPr>
        <p:blipFill>
          <a:blip r:embed="rId5"/>
          <a:stretch>
            <a:fillRect/>
          </a:stretch>
        </p:blipFill>
        <p:spPr>
          <a:xfrm>
            <a:off x="2358973" y="2525902"/>
            <a:ext cx="108107" cy="157246"/>
          </a:xfrm>
          <a:prstGeom prst="rect">
            <a:avLst/>
          </a:prstGeom>
        </p:spPr>
      </p:pic>
      <p:sp>
        <p:nvSpPr>
          <p:cNvPr id="58" name="TextBox 57"/>
          <p:cNvSpPr txBox="1"/>
          <p:nvPr/>
        </p:nvSpPr>
        <p:spPr>
          <a:xfrm>
            <a:off x="2032418" y="2276942"/>
            <a:ext cx="382383" cy="159867"/>
          </a:xfrm>
          <a:prstGeom prst="rect">
            <a:avLst/>
          </a:prstGeom>
          <a:noFill/>
        </p:spPr>
        <p:txBody>
          <a:bodyPr wrap="none" lIns="0" rIns="0" tIns="0" bIns="0">
            <a:spAutoFit/>
          </a:bodyPr>
          <a:lstStyle/>
          <a:p>
            <a:r>
              <a:rPr sz="923" b="1">
                <a:solidFill>
                  <a:srgbClr val="FFFFFF"/>
                </a:solidFill>
                <a:latin typeface="Calibri"/>
              </a:rPr>
              <a:t>CAGR:</a:t>
            </a:r>
          </a:p>
        </p:txBody>
      </p:sp>
      <p:pic>
        <p:nvPicPr>
          <p:cNvPr id="59" name="Picture 58" descr="lock.png"/>
          <p:cNvPicPr>
            <a:picLocks noChangeAspect="1"/>
          </p:cNvPicPr>
          <p:nvPr/>
        </p:nvPicPr>
        <p:blipFill>
          <a:blip r:embed="rId5"/>
          <a:stretch>
            <a:fillRect/>
          </a:stretch>
        </p:blipFill>
        <p:spPr>
          <a:xfrm>
            <a:off x="2358973" y="2268727"/>
            <a:ext cx="108107" cy="157246"/>
          </a:xfrm>
          <a:prstGeom prst="rect">
            <a:avLst/>
          </a:prstGeom>
        </p:spPr>
      </p:pic>
      <p:sp>
        <p:nvSpPr>
          <p:cNvPr id="60" name="TextBox 59"/>
          <p:cNvSpPr txBox="1"/>
          <p:nvPr/>
        </p:nvSpPr>
        <p:spPr>
          <a:xfrm>
            <a:off x="276225" y="5200650"/>
            <a:ext cx="1993962" cy="194310"/>
          </a:xfrm>
          <a:prstGeom prst="rect">
            <a:avLst/>
          </a:prstGeom>
          <a:noFill/>
        </p:spPr>
        <p:txBody>
          <a:bodyPr wrap="none" lIns="0" rIns="0" tIns="0" bIns="0">
            <a:spAutoFit/>
          </a:bodyPr>
          <a:lstStyle/>
          <a:p>
            <a:r>
              <a:rPr sz="1150" b="0">
                <a:solidFill>
                  <a:srgbClr val="2E2E2E"/>
                </a:solidFill>
                <a:latin typeface="Calibri"/>
              </a:rPr>
              <a:t>▪ Optimistic: the market reaches</a:t>
            </a:r>
          </a:p>
        </p:txBody>
      </p:sp>
      <p:pic>
        <p:nvPicPr>
          <p:cNvPr id="61" name="Picture 60" descr="lock.png"/>
          <p:cNvPicPr>
            <a:picLocks noChangeAspect="1"/>
          </p:cNvPicPr>
          <p:nvPr/>
        </p:nvPicPr>
        <p:blipFill>
          <a:blip r:embed="rId5"/>
          <a:stretch>
            <a:fillRect/>
          </a:stretch>
        </p:blipFill>
        <p:spPr>
          <a:xfrm>
            <a:off x="2219340" y="5190426"/>
            <a:ext cx="134549" cy="195707"/>
          </a:xfrm>
          <a:prstGeom prst="rect">
            <a:avLst/>
          </a:prstGeom>
        </p:spPr>
      </p:pic>
      <p:sp>
        <p:nvSpPr>
          <p:cNvPr id="62" name="TextBox 61"/>
          <p:cNvSpPr txBox="1"/>
          <p:nvPr/>
        </p:nvSpPr>
        <p:spPr>
          <a:xfrm>
            <a:off x="2394450" y="5200650"/>
            <a:ext cx="1203808" cy="194310"/>
          </a:xfrm>
          <a:prstGeom prst="rect">
            <a:avLst/>
          </a:prstGeom>
          <a:noFill/>
        </p:spPr>
        <p:txBody>
          <a:bodyPr wrap="none" lIns="0" rIns="0" tIns="0" bIns="0">
            <a:spAutoFit/>
          </a:bodyPr>
          <a:lstStyle/>
          <a:p>
            <a:r>
              <a:rPr sz="1150" b="0">
                <a:solidFill>
                  <a:srgbClr val="2E2E2E"/>
                </a:solidFill>
                <a:latin typeface="Calibri"/>
              </a:rPr>
              <a:t>US$ Mn by 2036 at</a:t>
            </a:r>
          </a:p>
        </p:txBody>
      </p:sp>
      <p:pic>
        <p:nvPicPr>
          <p:cNvPr id="63" name="Picture 62" descr="lock.png"/>
          <p:cNvPicPr>
            <a:picLocks noChangeAspect="1"/>
          </p:cNvPicPr>
          <p:nvPr/>
        </p:nvPicPr>
        <p:blipFill>
          <a:blip r:embed="rId5"/>
          <a:stretch>
            <a:fillRect/>
          </a:stretch>
        </p:blipFill>
        <p:spPr>
          <a:xfrm>
            <a:off x="3547412" y="5190426"/>
            <a:ext cx="134549" cy="195707"/>
          </a:xfrm>
          <a:prstGeom prst="rect">
            <a:avLst/>
          </a:prstGeom>
        </p:spPr>
      </p:pic>
      <p:sp>
        <p:nvSpPr>
          <p:cNvPr id="64" name="TextBox 63"/>
          <p:cNvSpPr txBox="1"/>
          <p:nvPr/>
        </p:nvSpPr>
        <p:spPr>
          <a:xfrm>
            <a:off x="3722522" y="5200650"/>
            <a:ext cx="3799886" cy="194310"/>
          </a:xfrm>
          <a:prstGeom prst="rect">
            <a:avLst/>
          </a:prstGeom>
          <a:noFill/>
        </p:spPr>
        <p:txBody>
          <a:bodyPr wrap="none" lIns="0" rIns="0" tIns="0" bIns="0">
            <a:spAutoFit/>
          </a:bodyPr>
          <a:lstStyle/>
          <a:p>
            <a:r>
              <a:rPr sz="1150" b="0">
                <a:solidFill>
                  <a:srgbClr val="2E2E2E"/>
                </a:solidFill>
                <a:latin typeface="Calibri"/>
              </a:rPr>
              <a:t>CAGR, assuming faster adoption and stronger price realisation.</a:t>
            </a:r>
          </a:p>
        </p:txBody>
      </p:sp>
      <p:sp>
        <p:nvSpPr>
          <p:cNvPr id="65" name="TextBox 64"/>
          <p:cNvSpPr txBox="1"/>
          <p:nvPr/>
        </p:nvSpPr>
        <p:spPr>
          <a:xfrm>
            <a:off x="276225" y="5428488"/>
            <a:ext cx="2634071" cy="194310"/>
          </a:xfrm>
          <a:prstGeom prst="rect">
            <a:avLst/>
          </a:prstGeom>
          <a:noFill/>
        </p:spPr>
        <p:txBody>
          <a:bodyPr wrap="none" lIns="0" rIns="0" tIns="0" bIns="0">
            <a:spAutoFit/>
          </a:bodyPr>
          <a:lstStyle/>
          <a:p>
            <a:r>
              <a:rPr sz="1150" b="0">
                <a:solidFill>
                  <a:srgbClr val="2E2E2E"/>
                </a:solidFill>
                <a:latin typeface="Calibri"/>
              </a:rPr>
              <a:t>▪ Likely (base forecast): the market reaches</a:t>
            </a:r>
          </a:p>
        </p:txBody>
      </p:sp>
      <p:pic>
        <p:nvPicPr>
          <p:cNvPr id="66" name="Picture 65" descr="lock.png"/>
          <p:cNvPicPr>
            <a:picLocks noChangeAspect="1"/>
          </p:cNvPicPr>
          <p:nvPr/>
        </p:nvPicPr>
        <p:blipFill>
          <a:blip r:embed="rId5"/>
          <a:stretch>
            <a:fillRect/>
          </a:stretch>
        </p:blipFill>
        <p:spPr>
          <a:xfrm>
            <a:off x="2859450" y="5418264"/>
            <a:ext cx="134549" cy="195707"/>
          </a:xfrm>
          <a:prstGeom prst="rect">
            <a:avLst/>
          </a:prstGeom>
        </p:spPr>
      </p:pic>
      <p:sp>
        <p:nvSpPr>
          <p:cNvPr id="67" name="TextBox 66"/>
          <p:cNvSpPr txBox="1"/>
          <p:nvPr/>
        </p:nvSpPr>
        <p:spPr>
          <a:xfrm>
            <a:off x="3034559" y="5428488"/>
            <a:ext cx="1203808" cy="194310"/>
          </a:xfrm>
          <a:prstGeom prst="rect">
            <a:avLst/>
          </a:prstGeom>
          <a:noFill/>
        </p:spPr>
        <p:txBody>
          <a:bodyPr wrap="none" lIns="0" rIns="0" tIns="0" bIns="0">
            <a:spAutoFit/>
          </a:bodyPr>
          <a:lstStyle/>
          <a:p>
            <a:r>
              <a:rPr sz="1150" b="0">
                <a:solidFill>
                  <a:srgbClr val="2E2E2E"/>
                </a:solidFill>
                <a:latin typeface="Calibri"/>
              </a:rPr>
              <a:t>US$ Mn by 2036 at</a:t>
            </a:r>
          </a:p>
        </p:txBody>
      </p:sp>
      <p:pic>
        <p:nvPicPr>
          <p:cNvPr id="68" name="Picture 67" descr="lock.png"/>
          <p:cNvPicPr>
            <a:picLocks noChangeAspect="1"/>
          </p:cNvPicPr>
          <p:nvPr/>
        </p:nvPicPr>
        <p:blipFill>
          <a:blip r:embed="rId5"/>
          <a:stretch>
            <a:fillRect/>
          </a:stretch>
        </p:blipFill>
        <p:spPr>
          <a:xfrm>
            <a:off x="4187522" y="5418264"/>
            <a:ext cx="134549" cy="195707"/>
          </a:xfrm>
          <a:prstGeom prst="rect">
            <a:avLst/>
          </a:prstGeom>
        </p:spPr>
      </p:pic>
      <p:sp>
        <p:nvSpPr>
          <p:cNvPr id="69" name="TextBox 68"/>
          <p:cNvSpPr txBox="1"/>
          <p:nvPr/>
        </p:nvSpPr>
        <p:spPr>
          <a:xfrm>
            <a:off x="4362631" y="5428488"/>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70" name="TextBox 69"/>
          <p:cNvSpPr txBox="1"/>
          <p:nvPr/>
        </p:nvSpPr>
        <p:spPr>
          <a:xfrm>
            <a:off x="276225" y="5656325"/>
            <a:ext cx="2155415" cy="194310"/>
          </a:xfrm>
          <a:prstGeom prst="rect">
            <a:avLst/>
          </a:prstGeom>
          <a:noFill/>
        </p:spPr>
        <p:txBody>
          <a:bodyPr wrap="none" lIns="0" rIns="0" tIns="0" bIns="0">
            <a:spAutoFit/>
          </a:bodyPr>
          <a:lstStyle/>
          <a:p>
            <a:r>
              <a:rPr sz="1150" b="0">
                <a:solidFill>
                  <a:srgbClr val="2E2E2E"/>
                </a:solidFill>
                <a:latin typeface="Calibri"/>
              </a:rPr>
              <a:t>▪ Conservative: the market reaches</a:t>
            </a:r>
          </a:p>
        </p:txBody>
      </p:sp>
      <p:pic>
        <p:nvPicPr>
          <p:cNvPr id="71" name="Picture 70" descr="lock.png"/>
          <p:cNvPicPr>
            <a:picLocks noChangeAspect="1"/>
          </p:cNvPicPr>
          <p:nvPr/>
        </p:nvPicPr>
        <p:blipFill>
          <a:blip r:embed="rId5"/>
          <a:stretch>
            <a:fillRect/>
          </a:stretch>
        </p:blipFill>
        <p:spPr>
          <a:xfrm>
            <a:off x="2380794" y="5646102"/>
            <a:ext cx="134549" cy="195707"/>
          </a:xfrm>
          <a:prstGeom prst="rect">
            <a:avLst/>
          </a:prstGeom>
        </p:spPr>
      </p:pic>
      <p:sp>
        <p:nvSpPr>
          <p:cNvPr id="72" name="TextBox 71"/>
          <p:cNvSpPr txBox="1"/>
          <p:nvPr/>
        </p:nvSpPr>
        <p:spPr>
          <a:xfrm>
            <a:off x="2555903" y="5656325"/>
            <a:ext cx="1203808" cy="194310"/>
          </a:xfrm>
          <a:prstGeom prst="rect">
            <a:avLst/>
          </a:prstGeom>
          <a:noFill/>
        </p:spPr>
        <p:txBody>
          <a:bodyPr wrap="none" lIns="0" rIns="0" tIns="0" bIns="0">
            <a:spAutoFit/>
          </a:bodyPr>
          <a:lstStyle/>
          <a:p>
            <a:r>
              <a:rPr sz="1150" b="0">
                <a:solidFill>
                  <a:srgbClr val="2E2E2E"/>
                </a:solidFill>
                <a:latin typeface="Calibri"/>
              </a:rPr>
              <a:t>US$ Mn by 2036 at</a:t>
            </a:r>
          </a:p>
        </p:txBody>
      </p:sp>
      <p:pic>
        <p:nvPicPr>
          <p:cNvPr id="73" name="Picture 72" descr="lock.png"/>
          <p:cNvPicPr>
            <a:picLocks noChangeAspect="1"/>
          </p:cNvPicPr>
          <p:nvPr/>
        </p:nvPicPr>
        <p:blipFill>
          <a:blip r:embed="rId5"/>
          <a:stretch>
            <a:fillRect/>
          </a:stretch>
        </p:blipFill>
        <p:spPr>
          <a:xfrm>
            <a:off x="3708866" y="5646102"/>
            <a:ext cx="134549" cy="195707"/>
          </a:xfrm>
          <a:prstGeom prst="rect">
            <a:avLst/>
          </a:prstGeom>
        </p:spPr>
      </p:pic>
      <p:sp>
        <p:nvSpPr>
          <p:cNvPr id="74" name="TextBox 73"/>
          <p:cNvSpPr txBox="1"/>
          <p:nvPr/>
        </p:nvSpPr>
        <p:spPr>
          <a:xfrm>
            <a:off x="3883975" y="5656325"/>
            <a:ext cx="3198000" cy="194310"/>
          </a:xfrm>
          <a:prstGeom prst="rect">
            <a:avLst/>
          </a:prstGeom>
          <a:noFill/>
        </p:spPr>
        <p:txBody>
          <a:bodyPr wrap="none" lIns="0" rIns="0" tIns="0" bIns="0">
            <a:spAutoFit/>
          </a:bodyPr>
          <a:lstStyle/>
          <a:p>
            <a:r>
              <a:rPr sz="1150" b="0">
                <a:solidFill>
                  <a:srgbClr val="2E2E2E"/>
                </a:solidFill>
                <a:latin typeface="Calibri"/>
              </a:rPr>
              <a:t>CAGR, assuming slower adoption and tighter pricing.</a:t>
            </a:r>
          </a:p>
        </p:txBody>
      </p:sp>
      <p:sp>
        <p:nvSpPr>
          <p:cNvPr id="75" name="TextBox 74"/>
          <p:cNvSpPr txBox="1"/>
          <p:nvPr/>
        </p:nvSpPr>
        <p:spPr>
          <a:xfrm>
            <a:off x="276225" y="5884163"/>
            <a:ext cx="4386671" cy="194310"/>
          </a:xfrm>
          <a:prstGeom prst="rect">
            <a:avLst/>
          </a:prstGeom>
          <a:noFill/>
        </p:spPr>
        <p:txBody>
          <a:bodyPr wrap="none" lIns="0" rIns="0" tIns="0" bIns="0">
            <a:spAutoFit/>
          </a:bodyPr>
          <a:lstStyle/>
          <a:p>
            <a:r>
              <a:rPr sz="1150" b="0">
                <a:solidFill>
                  <a:srgbClr val="2E2E2E"/>
                </a:solidFill>
                <a:latin typeface="Calibri"/>
              </a:rPr>
              <a:t>▪ Scenarios flex the base forecast's year-on-year growth by plus or minus</a:t>
            </a:r>
          </a:p>
        </p:txBody>
      </p:sp>
      <p:pic>
        <p:nvPicPr>
          <p:cNvPr id="76" name="Picture 75" descr="lock.png"/>
          <p:cNvPicPr>
            <a:picLocks noChangeAspect="1"/>
          </p:cNvPicPr>
          <p:nvPr/>
        </p:nvPicPr>
        <p:blipFill>
          <a:blip r:embed="rId5"/>
          <a:stretch>
            <a:fillRect/>
          </a:stretch>
        </p:blipFill>
        <p:spPr>
          <a:xfrm>
            <a:off x="4612050" y="5873940"/>
            <a:ext cx="134549" cy="195707"/>
          </a:xfrm>
          <a:prstGeom prst="rect">
            <a:avLst/>
          </a:prstGeom>
        </p:spPr>
      </p:pic>
      <p:sp>
        <p:nvSpPr>
          <p:cNvPr id="77" name="TextBox 76"/>
          <p:cNvSpPr txBox="1"/>
          <p:nvPr/>
        </p:nvSpPr>
        <p:spPr>
          <a:xfrm>
            <a:off x="4787159" y="5884163"/>
            <a:ext cx="1158168" cy="194310"/>
          </a:xfrm>
          <a:prstGeom prst="rect">
            <a:avLst/>
          </a:prstGeom>
          <a:noFill/>
        </p:spPr>
        <p:txBody>
          <a:bodyPr wrap="none" lIns="0" rIns="0" tIns="0" bIns="0">
            <a:spAutoFit/>
          </a:bodyPr>
          <a:lstStyle/>
          <a:p>
            <a:r>
              <a:rPr sz="1150" b="0">
                <a:solidFill>
                  <a:srgbClr val="2E2E2E"/>
                </a:solidFill>
                <a:latin typeface="Calibri"/>
              </a:rPr>
              <a:t>across 2026-2036.</a:t>
            </a:r>
          </a:p>
        </p:txBody>
      </p:sp>
      <p:sp>
        <p:nvSpPr>
          <p:cNvPr id="78" name="TextBox 77"/>
          <p:cNvSpPr txBox="1"/>
          <p:nvPr/>
        </p:nvSpPr>
        <p:spPr>
          <a:xfrm>
            <a:off x="276225" y="6112001"/>
            <a:ext cx="3829856" cy="194310"/>
          </a:xfrm>
          <a:prstGeom prst="rect">
            <a:avLst/>
          </a:prstGeom>
          <a:noFill/>
        </p:spPr>
        <p:txBody>
          <a:bodyPr wrap="none" lIns="0" rIns="0" tIns="0" bIns="0">
            <a:spAutoFit/>
          </a:bodyPr>
          <a:lstStyle/>
          <a:p>
            <a:r>
              <a:rPr sz="1150" b="0">
                <a:solidFill>
                  <a:srgbClr val="2E2E2E"/>
                </a:solidFill>
                <a:latin typeface="Calibri"/>
              </a:rPr>
              <a:t>▪ The gap between the optimistic and conservative outcomes is</a:t>
            </a:r>
          </a:p>
        </p:txBody>
      </p:sp>
      <p:pic>
        <p:nvPicPr>
          <p:cNvPr id="79" name="Picture 78" descr="lock.png"/>
          <p:cNvPicPr>
            <a:picLocks noChangeAspect="1"/>
          </p:cNvPicPr>
          <p:nvPr/>
        </p:nvPicPr>
        <p:blipFill>
          <a:blip r:embed="rId5"/>
          <a:stretch>
            <a:fillRect/>
          </a:stretch>
        </p:blipFill>
        <p:spPr>
          <a:xfrm>
            <a:off x="4055235" y="6101778"/>
            <a:ext cx="134549" cy="195707"/>
          </a:xfrm>
          <a:prstGeom prst="rect">
            <a:avLst/>
          </a:prstGeom>
        </p:spPr>
      </p:pic>
      <p:sp>
        <p:nvSpPr>
          <p:cNvPr id="80" name="TextBox 79"/>
          <p:cNvSpPr txBox="1"/>
          <p:nvPr/>
        </p:nvSpPr>
        <p:spPr>
          <a:xfrm>
            <a:off x="4230344" y="6112001"/>
            <a:ext cx="5341416" cy="194310"/>
          </a:xfrm>
          <a:prstGeom prst="rect">
            <a:avLst/>
          </a:prstGeom>
          <a:noFill/>
        </p:spPr>
        <p:txBody>
          <a:bodyPr wrap="none" lIns="0" rIns="0" tIns="0" bIns="0">
            <a:spAutoFit/>
          </a:bodyPr>
          <a:lstStyle/>
          <a:p>
            <a:r>
              <a:rPr sz="1150" b="0">
                <a:solidFill>
                  <a:srgbClr val="2E2E2E"/>
                </a:solidFill>
                <a:latin typeface="Calibri"/>
              </a:rPr>
              <a:t>US$ Mn in 2036, which frames the planning range for capacity and investment decisions.</a:t>
            </a:r>
          </a:p>
        </p:txBody>
      </p:sp>
      <p:sp>
        <p:nvSpPr>
          <p:cNvPr id="81" name="lockshield_36"/>
          <p:cNvSpPr/>
          <p:nvPr/>
        </p:nvSpPr>
        <p:spPr>
          <a:xfrm>
            <a:off x="6267450" y="21812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55587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898775"/>
            <a:ext cx="8572500" cy="514350"/>
          </a:xfrm>
          <a:prstGeom prst="rect">
            <a:avLst/>
          </a:prstGeom>
          <a:noFill/>
        </p:spPr>
        <p:txBody>
          <a:bodyPr wrap="square" lIns="0" rIns="0" tIns="0">
            <a:spAutoFit/>
          </a:bodyPr>
          <a:lstStyle/>
          <a:p>
            <a:r>
              <a:rPr sz="3000" b="1">
                <a:solidFill>
                  <a:srgbClr val="0B3C8C"/>
                </a:solidFill>
                <a:latin typeface="Calibri"/>
              </a:rPr>
              <a:t>Global Market Analysis By Region</a:t>
            </a:r>
          </a:p>
        </p:txBody>
      </p:sp>
      <p:sp>
        <p:nvSpPr>
          <p:cNvPr id="11" name="TextBox 10"/>
          <p:cNvSpPr txBox="1"/>
          <p:nvPr/>
        </p:nvSpPr>
        <p:spPr>
          <a:xfrm>
            <a:off x="914400" y="3584575"/>
            <a:ext cx="8458200" cy="16700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Global Removable Partial Dentures – Regional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Analysis By Region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Share Analysis By Region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Share Analysis By Region</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 Regional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analysis of size, growth and share across 6 regions, highlighting where value concentrates,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By Region view breaks the Global market down geographically. Each region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Region</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57162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57162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North America</a:t>
            </a:r>
          </a:p>
        </p:txBody>
      </p:sp>
      <p:sp>
        <p:nvSpPr>
          <p:cNvPr id="23" name="Rectangle 22"/>
          <p:cNvSpPr/>
          <p:nvPr/>
        </p:nvSpPr>
        <p:spPr>
          <a:xfrm>
            <a:off x="186690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490788"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552825" y="1773916"/>
            <a:ext cx="157162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552825" y="1992961"/>
            <a:ext cx="157162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59092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Europe</a:t>
            </a:r>
          </a:p>
        </p:txBody>
      </p:sp>
      <p:sp>
        <p:nvSpPr>
          <p:cNvPr id="30" name="Rectangle 29"/>
          <p:cNvSpPr/>
          <p:nvPr/>
        </p:nvSpPr>
        <p:spPr>
          <a:xfrm>
            <a:off x="355282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355282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355282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4176712"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5238750" y="1773916"/>
            <a:ext cx="1571625"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5238750" y="1992961"/>
            <a:ext cx="1571625"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527685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East Asia</a:t>
            </a:r>
          </a:p>
        </p:txBody>
      </p:sp>
      <p:sp>
        <p:nvSpPr>
          <p:cNvPr id="37" name="Rectangle 36"/>
          <p:cNvSpPr/>
          <p:nvPr/>
        </p:nvSpPr>
        <p:spPr>
          <a:xfrm>
            <a:off x="523875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523875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523875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5862638"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6924675" y="1773916"/>
            <a:ext cx="1571625"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6924675" y="1992961"/>
            <a:ext cx="1571625"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696277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South Asia &amp; Pacific</a:t>
            </a:r>
          </a:p>
        </p:txBody>
      </p:sp>
      <p:sp>
        <p:nvSpPr>
          <p:cNvPr id="44" name="Rectangle 43"/>
          <p:cNvSpPr/>
          <p:nvPr/>
        </p:nvSpPr>
        <p:spPr>
          <a:xfrm>
            <a:off x="692467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692467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692467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7548562"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8610600" y="1773916"/>
            <a:ext cx="1571625"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8610600" y="1992961"/>
            <a:ext cx="1571625"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64870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Latin America</a:t>
            </a:r>
          </a:p>
        </p:txBody>
      </p:sp>
      <p:sp>
        <p:nvSpPr>
          <p:cNvPr id="51" name="Rectangle 50"/>
          <p:cNvSpPr/>
          <p:nvPr/>
        </p:nvSpPr>
        <p:spPr>
          <a:xfrm>
            <a:off x="861060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2" name="Rectangle 51"/>
          <p:cNvSpPr/>
          <p:nvPr/>
        </p:nvSpPr>
        <p:spPr>
          <a:xfrm>
            <a:off x="861060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3" name="Rectangle 52"/>
          <p:cNvSpPr/>
          <p:nvPr/>
        </p:nvSpPr>
        <p:spPr>
          <a:xfrm>
            <a:off x="861060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4" name="Oval 53"/>
          <p:cNvSpPr/>
          <p:nvPr/>
        </p:nvSpPr>
        <p:spPr>
          <a:xfrm>
            <a:off x="9234488"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10296525" y="1773916"/>
            <a:ext cx="1571625"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10296525" y="1992961"/>
            <a:ext cx="1571625"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1033462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Middle East &amp; Africa</a:t>
            </a:r>
          </a:p>
        </p:txBody>
      </p:sp>
      <p:sp>
        <p:nvSpPr>
          <p:cNvPr id="58" name="Rectangle 57"/>
          <p:cNvSpPr/>
          <p:nvPr/>
        </p:nvSpPr>
        <p:spPr>
          <a:xfrm>
            <a:off x="1029652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59" name="Rectangle 58"/>
          <p:cNvSpPr/>
          <p:nvPr/>
        </p:nvSpPr>
        <p:spPr>
          <a:xfrm>
            <a:off x="1029652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60" name="Rectangle 59"/>
          <p:cNvSpPr/>
          <p:nvPr/>
        </p:nvSpPr>
        <p:spPr>
          <a:xfrm>
            <a:off x="1029652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61" name="Oval 60"/>
          <p:cNvSpPr/>
          <p:nvPr/>
        </p:nvSpPr>
        <p:spPr>
          <a:xfrm>
            <a:off x="10920412"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62" name="Rounded Rectangle 61"/>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64" name="Rectangle 63"/>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66" name="Rounded Rectangle 65"/>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68" name="Rectangle 67"/>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A86F00"/>
                </a:solidFill>
                <a:latin typeface="Calibri"/>
              </a:rPr>
              <a:t/>
            </a:r>
            <a:r>
              <a:rPr sz="1100" b="1">
                <a:solidFill>
                  <a:srgbClr val="A86F00"/>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A35313"/>
                </a:solidFill>
                <a:latin typeface="Calibri"/>
              </a:rPr>
              <a:t/>
            </a:r>
            <a:r>
              <a:rPr sz="1100" b="1">
                <a:solidFill>
                  <a:srgbClr val="A35313"/>
                </a:solidFill>
                <a:latin typeface="Calibri"/>
              </a:rPr>
              <a:t/>
            </a:r>
            <a:r>
              <a:rPr sz="1100" b="0">
                <a:solidFill>
                  <a:srgbClr val="2E2E2E"/>
                </a:solidFill>
                <a:latin typeface="Calibri"/>
              </a:rPr>
              <a:t/>
            </a:r>
          </a:p>
        </p:txBody>
      </p:sp>
      <p:sp>
        <p:nvSpPr>
          <p:cNvPr id="70" name="Rounded Rectangle 69"/>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72" name="Rectangle 71"/>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By Region split shows where market value concentrates and where growth is fastest.</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demand and access dynamics are rebalancing the geographic mix through 2036.</a:t>
            </a:r>
          </a:p>
        </p:txBody>
      </p:sp>
      <p:sp>
        <p:nvSpPr>
          <p:cNvPr id="74" name="Rectangle 73"/>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Global market is projected to grow at a CAGR of 4.4% from 2026 to 2036.</a:t>
            </a:r>
          </a:p>
        </p:txBody>
      </p:sp>
      <p:sp>
        <p:nvSpPr>
          <p:cNvPr id="76" name="TextBox 75"/>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7" name="TextBox 7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78" name="Picture 77" descr="371_3_605E5C.png"/>
          <p:cNvPicPr>
            <a:picLocks noChangeAspect="1"/>
          </p:cNvPicPr>
          <p:nvPr/>
        </p:nvPicPr>
        <p:blipFill>
          <a:blip r:embed="rId4"/>
          <a:stretch>
            <a:fillRect/>
          </a:stretch>
        </p:blipFill>
        <p:spPr>
          <a:xfrm>
            <a:off x="2054848" y="2286582"/>
            <a:ext cx="1195728" cy="361950"/>
          </a:xfrm>
          <a:prstGeom prst="rect">
            <a:avLst/>
          </a:prstGeom>
        </p:spPr>
      </p:pic>
      <p:pic>
        <p:nvPicPr>
          <p:cNvPr id="79" name="Picture 78" descr="523_9_605E5C.png"/>
          <p:cNvPicPr>
            <a:picLocks noChangeAspect="1"/>
          </p:cNvPicPr>
          <p:nvPr/>
        </p:nvPicPr>
        <p:blipFill>
          <a:blip r:embed="rId5"/>
          <a:stretch>
            <a:fillRect/>
          </a:stretch>
        </p:blipFill>
        <p:spPr>
          <a:xfrm>
            <a:off x="2054848" y="2779432"/>
            <a:ext cx="1195728" cy="361950"/>
          </a:xfrm>
          <a:prstGeom prst="rect">
            <a:avLst/>
          </a:prstGeom>
        </p:spPr>
      </p:pic>
      <p:pic>
        <p:nvPicPr>
          <p:cNvPr id="80" name="Picture 79" descr="3_5__605E5C.png"/>
          <p:cNvPicPr>
            <a:picLocks noChangeAspect="1"/>
          </p:cNvPicPr>
          <p:nvPr/>
        </p:nvPicPr>
        <p:blipFill>
          <a:blip r:embed="rId6"/>
          <a:stretch>
            <a:fillRect/>
          </a:stretch>
        </p:blipFill>
        <p:spPr>
          <a:xfrm>
            <a:off x="2161494" y="3272281"/>
            <a:ext cx="982436" cy="361950"/>
          </a:xfrm>
          <a:prstGeom prst="rect">
            <a:avLst/>
          </a:prstGeom>
        </p:spPr>
      </p:pic>
      <p:pic>
        <p:nvPicPr>
          <p:cNvPr id="81" name="Picture 80" descr="303_8_605E5C.png"/>
          <p:cNvPicPr>
            <a:picLocks noChangeAspect="1"/>
          </p:cNvPicPr>
          <p:nvPr/>
        </p:nvPicPr>
        <p:blipFill>
          <a:blip r:embed="rId7"/>
          <a:stretch>
            <a:fillRect/>
          </a:stretch>
        </p:blipFill>
        <p:spPr>
          <a:xfrm>
            <a:off x="3740773" y="2286582"/>
            <a:ext cx="1195728" cy="361950"/>
          </a:xfrm>
          <a:prstGeom prst="rect">
            <a:avLst/>
          </a:prstGeom>
        </p:spPr>
      </p:pic>
      <p:pic>
        <p:nvPicPr>
          <p:cNvPr id="82" name="Picture 81" descr="495_5_605E5C.png"/>
          <p:cNvPicPr>
            <a:picLocks noChangeAspect="1"/>
          </p:cNvPicPr>
          <p:nvPr/>
        </p:nvPicPr>
        <p:blipFill>
          <a:blip r:embed="rId8"/>
          <a:stretch>
            <a:fillRect/>
          </a:stretch>
        </p:blipFill>
        <p:spPr>
          <a:xfrm>
            <a:off x="3740773" y="2779432"/>
            <a:ext cx="1195728" cy="361950"/>
          </a:xfrm>
          <a:prstGeom prst="rect">
            <a:avLst/>
          </a:prstGeom>
        </p:spPr>
      </p:pic>
      <p:pic>
        <p:nvPicPr>
          <p:cNvPr id="83" name="Picture 82" descr="5_0__605E5C.png"/>
          <p:cNvPicPr>
            <a:picLocks noChangeAspect="1"/>
          </p:cNvPicPr>
          <p:nvPr/>
        </p:nvPicPr>
        <p:blipFill>
          <a:blip r:embed="rId9"/>
          <a:stretch>
            <a:fillRect/>
          </a:stretch>
        </p:blipFill>
        <p:spPr>
          <a:xfrm>
            <a:off x="3847419" y="3272281"/>
            <a:ext cx="982436" cy="361950"/>
          </a:xfrm>
          <a:prstGeom prst="rect">
            <a:avLst/>
          </a:prstGeom>
        </p:spPr>
      </p:pic>
      <p:pic>
        <p:nvPicPr>
          <p:cNvPr id="84" name="Picture 83" descr="146_3_605E5C.png"/>
          <p:cNvPicPr>
            <a:picLocks noChangeAspect="1"/>
          </p:cNvPicPr>
          <p:nvPr/>
        </p:nvPicPr>
        <p:blipFill>
          <a:blip r:embed="rId10"/>
          <a:stretch>
            <a:fillRect/>
          </a:stretch>
        </p:blipFill>
        <p:spPr>
          <a:xfrm>
            <a:off x="5426698" y="2286582"/>
            <a:ext cx="1195728" cy="361950"/>
          </a:xfrm>
          <a:prstGeom prst="rect">
            <a:avLst/>
          </a:prstGeom>
        </p:spPr>
      </p:pic>
      <p:pic>
        <p:nvPicPr>
          <p:cNvPr id="85" name="Picture 84" descr="221_5_605E5C.png"/>
          <p:cNvPicPr>
            <a:picLocks noChangeAspect="1"/>
          </p:cNvPicPr>
          <p:nvPr/>
        </p:nvPicPr>
        <p:blipFill>
          <a:blip r:embed="rId11"/>
          <a:stretch>
            <a:fillRect/>
          </a:stretch>
        </p:blipFill>
        <p:spPr>
          <a:xfrm>
            <a:off x="5426698" y="2779432"/>
            <a:ext cx="1195728" cy="361950"/>
          </a:xfrm>
          <a:prstGeom prst="rect">
            <a:avLst/>
          </a:prstGeom>
        </p:spPr>
      </p:pic>
      <p:pic>
        <p:nvPicPr>
          <p:cNvPr id="86" name="Picture 85" descr="4_2__605E5C.png"/>
          <p:cNvPicPr>
            <a:picLocks noChangeAspect="1"/>
          </p:cNvPicPr>
          <p:nvPr/>
        </p:nvPicPr>
        <p:blipFill>
          <a:blip r:embed="rId12"/>
          <a:stretch>
            <a:fillRect/>
          </a:stretch>
        </p:blipFill>
        <p:spPr>
          <a:xfrm>
            <a:off x="5533344" y="3272281"/>
            <a:ext cx="982436" cy="361950"/>
          </a:xfrm>
          <a:prstGeom prst="rect">
            <a:avLst/>
          </a:prstGeom>
        </p:spPr>
      </p:pic>
      <p:pic>
        <p:nvPicPr>
          <p:cNvPr id="87" name="Picture 86" descr="135_0_605E5C.png"/>
          <p:cNvPicPr>
            <a:picLocks noChangeAspect="1"/>
          </p:cNvPicPr>
          <p:nvPr/>
        </p:nvPicPr>
        <p:blipFill>
          <a:blip r:embed="rId13"/>
          <a:stretch>
            <a:fillRect/>
          </a:stretch>
        </p:blipFill>
        <p:spPr>
          <a:xfrm>
            <a:off x="7112623" y="2286582"/>
            <a:ext cx="1195728" cy="361950"/>
          </a:xfrm>
          <a:prstGeom prst="rect">
            <a:avLst/>
          </a:prstGeom>
        </p:spPr>
      </p:pic>
      <p:pic>
        <p:nvPicPr>
          <p:cNvPr id="88" name="Picture 87" descr="226_0_605E5C.png"/>
          <p:cNvPicPr>
            <a:picLocks noChangeAspect="1"/>
          </p:cNvPicPr>
          <p:nvPr/>
        </p:nvPicPr>
        <p:blipFill>
          <a:blip r:embed="rId14"/>
          <a:stretch>
            <a:fillRect/>
          </a:stretch>
        </p:blipFill>
        <p:spPr>
          <a:xfrm>
            <a:off x="7112623" y="2779432"/>
            <a:ext cx="1195728" cy="361950"/>
          </a:xfrm>
          <a:prstGeom prst="rect">
            <a:avLst/>
          </a:prstGeom>
        </p:spPr>
      </p:pic>
      <p:pic>
        <p:nvPicPr>
          <p:cNvPr id="89" name="Picture 88" descr="5_3__605E5C.png"/>
          <p:cNvPicPr>
            <a:picLocks noChangeAspect="1"/>
          </p:cNvPicPr>
          <p:nvPr/>
        </p:nvPicPr>
        <p:blipFill>
          <a:blip r:embed="rId15"/>
          <a:stretch>
            <a:fillRect/>
          </a:stretch>
        </p:blipFill>
        <p:spPr>
          <a:xfrm>
            <a:off x="7219269" y="3272281"/>
            <a:ext cx="982436" cy="361950"/>
          </a:xfrm>
          <a:prstGeom prst="rect">
            <a:avLst/>
          </a:prstGeom>
        </p:spPr>
      </p:pic>
      <p:pic>
        <p:nvPicPr>
          <p:cNvPr id="90" name="Picture 89" descr="90_0_605E5C.png"/>
          <p:cNvPicPr>
            <a:picLocks noChangeAspect="1"/>
          </p:cNvPicPr>
          <p:nvPr/>
        </p:nvPicPr>
        <p:blipFill>
          <a:blip r:embed="rId16"/>
          <a:stretch>
            <a:fillRect/>
          </a:stretch>
        </p:blipFill>
        <p:spPr>
          <a:xfrm>
            <a:off x="8905194" y="2286582"/>
            <a:ext cx="982436" cy="361950"/>
          </a:xfrm>
          <a:prstGeom prst="rect">
            <a:avLst/>
          </a:prstGeom>
        </p:spPr>
      </p:pic>
      <p:pic>
        <p:nvPicPr>
          <p:cNvPr id="91" name="Picture 90" descr="143_9_605E5C.png"/>
          <p:cNvPicPr>
            <a:picLocks noChangeAspect="1"/>
          </p:cNvPicPr>
          <p:nvPr/>
        </p:nvPicPr>
        <p:blipFill>
          <a:blip r:embed="rId17"/>
          <a:stretch>
            <a:fillRect/>
          </a:stretch>
        </p:blipFill>
        <p:spPr>
          <a:xfrm>
            <a:off x="8798548" y="2779432"/>
            <a:ext cx="1195728" cy="361950"/>
          </a:xfrm>
          <a:prstGeom prst="rect">
            <a:avLst/>
          </a:prstGeom>
        </p:spPr>
      </p:pic>
      <p:pic>
        <p:nvPicPr>
          <p:cNvPr id="92" name="Picture 91" descr="4_8__605E5C.png"/>
          <p:cNvPicPr>
            <a:picLocks noChangeAspect="1"/>
          </p:cNvPicPr>
          <p:nvPr/>
        </p:nvPicPr>
        <p:blipFill>
          <a:blip r:embed="rId18"/>
          <a:stretch>
            <a:fillRect/>
          </a:stretch>
        </p:blipFill>
        <p:spPr>
          <a:xfrm>
            <a:off x="8905194" y="3272281"/>
            <a:ext cx="982436" cy="361950"/>
          </a:xfrm>
          <a:prstGeom prst="rect">
            <a:avLst/>
          </a:prstGeom>
        </p:spPr>
      </p:pic>
      <p:pic>
        <p:nvPicPr>
          <p:cNvPr id="93" name="Picture 92" descr="78_8_605E5C.png"/>
          <p:cNvPicPr>
            <a:picLocks noChangeAspect="1"/>
          </p:cNvPicPr>
          <p:nvPr/>
        </p:nvPicPr>
        <p:blipFill>
          <a:blip r:embed="rId19"/>
          <a:stretch>
            <a:fillRect/>
          </a:stretch>
        </p:blipFill>
        <p:spPr>
          <a:xfrm>
            <a:off x="10591119" y="2286582"/>
            <a:ext cx="982436" cy="361950"/>
          </a:xfrm>
          <a:prstGeom prst="rect">
            <a:avLst/>
          </a:prstGeom>
        </p:spPr>
      </p:pic>
      <p:pic>
        <p:nvPicPr>
          <p:cNvPr id="94" name="Picture 93" descr="119_9_605E5C.png"/>
          <p:cNvPicPr>
            <a:picLocks noChangeAspect="1"/>
          </p:cNvPicPr>
          <p:nvPr/>
        </p:nvPicPr>
        <p:blipFill>
          <a:blip r:embed="rId20"/>
          <a:stretch>
            <a:fillRect/>
          </a:stretch>
        </p:blipFill>
        <p:spPr>
          <a:xfrm>
            <a:off x="10484473" y="2779432"/>
            <a:ext cx="1195728" cy="361950"/>
          </a:xfrm>
          <a:prstGeom prst="rect">
            <a:avLst/>
          </a:prstGeom>
        </p:spPr>
      </p:pic>
      <p:pic>
        <p:nvPicPr>
          <p:cNvPr id="95" name="Picture 94" descr="4_3__605E5C.png"/>
          <p:cNvPicPr>
            <a:picLocks noChangeAspect="1"/>
          </p:cNvPicPr>
          <p:nvPr/>
        </p:nvPicPr>
        <p:blipFill>
          <a:blip r:embed="rId21"/>
          <a:stretch>
            <a:fillRect/>
          </a:stretch>
        </p:blipFill>
        <p:spPr>
          <a:xfrm>
            <a:off x="10591119" y="3272281"/>
            <a:ext cx="982436" cy="361950"/>
          </a:xfrm>
          <a:prstGeom prst="rect">
            <a:avLst/>
          </a:prstGeom>
        </p:spPr>
      </p:pic>
      <p:pic>
        <p:nvPicPr>
          <p:cNvPr id="96" name="Picture 95" descr="lock.png"/>
          <p:cNvPicPr>
            <a:picLocks noChangeAspect="1"/>
          </p:cNvPicPr>
          <p:nvPr/>
        </p:nvPicPr>
        <p:blipFill>
          <a:blip r:embed="rId22"/>
          <a:stretch>
            <a:fillRect/>
          </a:stretch>
        </p:blipFill>
        <p:spPr>
          <a:xfrm>
            <a:off x="2559367" y="2827057"/>
            <a:ext cx="183356" cy="266700"/>
          </a:xfrm>
          <a:prstGeom prst="rect">
            <a:avLst/>
          </a:prstGeom>
        </p:spPr>
      </p:pic>
      <p:pic>
        <p:nvPicPr>
          <p:cNvPr id="97" name="Picture 96" descr="lock.png"/>
          <p:cNvPicPr>
            <a:picLocks noChangeAspect="1"/>
          </p:cNvPicPr>
          <p:nvPr/>
        </p:nvPicPr>
        <p:blipFill>
          <a:blip r:embed="rId22"/>
          <a:stretch>
            <a:fillRect/>
          </a:stretch>
        </p:blipFill>
        <p:spPr>
          <a:xfrm>
            <a:off x="4245292" y="2827057"/>
            <a:ext cx="183356" cy="266700"/>
          </a:xfrm>
          <a:prstGeom prst="rect">
            <a:avLst/>
          </a:prstGeom>
        </p:spPr>
      </p:pic>
      <p:pic>
        <p:nvPicPr>
          <p:cNvPr id="98" name="Picture 97" descr="lock.png"/>
          <p:cNvPicPr>
            <a:picLocks noChangeAspect="1"/>
          </p:cNvPicPr>
          <p:nvPr/>
        </p:nvPicPr>
        <p:blipFill>
          <a:blip r:embed="rId22"/>
          <a:stretch>
            <a:fillRect/>
          </a:stretch>
        </p:blipFill>
        <p:spPr>
          <a:xfrm>
            <a:off x="5931217" y="2827057"/>
            <a:ext cx="183356" cy="266700"/>
          </a:xfrm>
          <a:prstGeom prst="rect">
            <a:avLst/>
          </a:prstGeom>
        </p:spPr>
      </p:pic>
      <p:pic>
        <p:nvPicPr>
          <p:cNvPr id="99" name="Picture 98" descr="lock.png"/>
          <p:cNvPicPr>
            <a:picLocks noChangeAspect="1"/>
          </p:cNvPicPr>
          <p:nvPr/>
        </p:nvPicPr>
        <p:blipFill>
          <a:blip r:embed="rId22"/>
          <a:stretch>
            <a:fillRect/>
          </a:stretch>
        </p:blipFill>
        <p:spPr>
          <a:xfrm>
            <a:off x="7617142" y="2827057"/>
            <a:ext cx="183356" cy="266700"/>
          </a:xfrm>
          <a:prstGeom prst="rect">
            <a:avLst/>
          </a:prstGeom>
        </p:spPr>
      </p:pic>
      <p:pic>
        <p:nvPicPr>
          <p:cNvPr id="100" name="Picture 99" descr="lock.png"/>
          <p:cNvPicPr>
            <a:picLocks noChangeAspect="1"/>
          </p:cNvPicPr>
          <p:nvPr/>
        </p:nvPicPr>
        <p:blipFill>
          <a:blip r:embed="rId22"/>
          <a:stretch>
            <a:fillRect/>
          </a:stretch>
        </p:blipFill>
        <p:spPr>
          <a:xfrm>
            <a:off x="9303067" y="2827057"/>
            <a:ext cx="183356" cy="266700"/>
          </a:xfrm>
          <a:prstGeom prst="rect">
            <a:avLst/>
          </a:prstGeom>
        </p:spPr>
      </p:pic>
      <p:pic>
        <p:nvPicPr>
          <p:cNvPr id="101" name="Picture 100" descr="lock.png"/>
          <p:cNvPicPr>
            <a:picLocks noChangeAspect="1"/>
          </p:cNvPicPr>
          <p:nvPr/>
        </p:nvPicPr>
        <p:blipFill>
          <a:blip r:embed="rId22"/>
          <a:stretch>
            <a:fillRect/>
          </a:stretch>
        </p:blipFill>
        <p:spPr>
          <a:xfrm>
            <a:off x="10988992" y="2827057"/>
            <a:ext cx="183356" cy="266700"/>
          </a:xfrm>
          <a:prstGeom prst="rect">
            <a:avLst/>
          </a:prstGeom>
        </p:spPr>
      </p:pic>
      <p:sp>
        <p:nvSpPr>
          <p:cNvPr id="102" name="TextBox 101"/>
          <p:cNvSpPr txBox="1"/>
          <p:nvPr/>
        </p:nvSpPr>
        <p:spPr>
          <a:xfrm>
            <a:off x="485775" y="4229437"/>
            <a:ext cx="2685206" cy="186689"/>
          </a:xfrm>
          <a:prstGeom prst="rect">
            <a:avLst/>
          </a:prstGeom>
          <a:noFill/>
        </p:spPr>
        <p:txBody>
          <a:bodyPr wrap="none" lIns="0" rIns="0" tIns="0" bIns="0">
            <a:spAutoFit/>
          </a:bodyPr>
          <a:lstStyle/>
          <a:p>
            <a:r>
              <a:rPr sz="1100" b="0">
                <a:solidFill>
                  <a:srgbClr val="2E2E2E"/>
                </a:solidFill>
                <a:latin typeface="Calibri"/>
              </a:rPr>
              <a:t>▪ ¶ North America removable partial dentures</a:t>
            </a:r>
          </a:p>
        </p:txBody>
      </p:sp>
      <p:sp>
        <p:nvSpPr>
          <p:cNvPr id="103" name="TextBox 102"/>
          <p:cNvSpPr txBox="1"/>
          <p:nvPr/>
        </p:nvSpPr>
        <p:spPr>
          <a:xfrm>
            <a:off x="485775" y="4397077"/>
            <a:ext cx="1801986" cy="186689"/>
          </a:xfrm>
          <a:prstGeom prst="rect">
            <a:avLst/>
          </a:prstGeom>
          <a:noFill/>
        </p:spPr>
        <p:txBody>
          <a:bodyPr wrap="none" lIns="0" rIns="0" tIns="0" bIns="0">
            <a:spAutoFit/>
          </a:bodyPr>
          <a:lstStyle/>
          <a:p>
            <a:r>
              <a:rPr sz="1100" b="0">
                <a:solidFill>
                  <a:srgbClr val="2E2E2E"/>
                </a:solidFill>
                <a:latin typeface="Calibri"/>
              </a:rPr>
              <a:t>market is projected to register</a:t>
            </a:r>
          </a:p>
        </p:txBody>
      </p:sp>
      <p:pic>
        <p:nvPicPr>
          <p:cNvPr id="104" name="Picture 103" descr="lock.png"/>
          <p:cNvPicPr>
            <a:picLocks noChangeAspect="1"/>
          </p:cNvPicPr>
          <p:nvPr/>
        </p:nvPicPr>
        <p:blipFill>
          <a:blip r:embed="rId22"/>
          <a:stretch>
            <a:fillRect/>
          </a:stretch>
        </p:blipFill>
        <p:spPr>
          <a:xfrm>
            <a:off x="2235812" y="4387298"/>
            <a:ext cx="128699" cy="187198"/>
          </a:xfrm>
          <a:prstGeom prst="rect">
            <a:avLst/>
          </a:prstGeom>
        </p:spPr>
      </p:pic>
      <p:sp>
        <p:nvSpPr>
          <p:cNvPr id="105" name="TextBox 104"/>
          <p:cNvSpPr txBox="1"/>
          <p:nvPr/>
        </p:nvSpPr>
        <p:spPr>
          <a:xfrm>
            <a:off x="2403308" y="4397077"/>
            <a:ext cx="880293" cy="186689"/>
          </a:xfrm>
          <a:prstGeom prst="rect">
            <a:avLst/>
          </a:prstGeom>
          <a:noFill/>
        </p:spPr>
        <p:txBody>
          <a:bodyPr wrap="none" lIns="0" rIns="0" tIns="0" bIns="0">
            <a:spAutoFit/>
          </a:bodyPr>
          <a:lstStyle/>
          <a:p>
            <a:r>
              <a:rPr sz="1100" b="0">
                <a:solidFill>
                  <a:srgbClr val="2E2E2E"/>
                </a:solidFill>
                <a:latin typeface="Calibri"/>
              </a:rPr>
              <a:t>X higher value</a:t>
            </a:r>
          </a:p>
        </p:txBody>
      </p:sp>
      <p:sp>
        <p:nvSpPr>
          <p:cNvPr id="106" name="TextBox 105"/>
          <p:cNvSpPr txBox="1"/>
          <p:nvPr/>
        </p:nvSpPr>
        <p:spPr>
          <a:xfrm>
            <a:off x="485775" y="4564717"/>
            <a:ext cx="2739504" cy="186689"/>
          </a:xfrm>
          <a:prstGeom prst="rect">
            <a:avLst/>
          </a:prstGeom>
          <a:noFill/>
        </p:spPr>
        <p:txBody>
          <a:bodyPr wrap="none" lIns="0" rIns="0" tIns="0" bIns="0">
            <a:spAutoFit/>
          </a:bodyPr>
          <a:lstStyle/>
          <a:p>
            <a:r>
              <a:rPr sz="1100" b="0">
                <a:solidFill>
                  <a:srgbClr val="2E2E2E"/>
                </a:solidFill>
                <a:latin typeface="Calibri"/>
              </a:rPr>
              <a:t>than Europe in 2036. Among removable partial</a:t>
            </a:r>
          </a:p>
        </p:txBody>
      </p:sp>
      <p:sp>
        <p:nvSpPr>
          <p:cNvPr id="107" name="TextBox 106"/>
          <p:cNvSpPr txBox="1"/>
          <p:nvPr/>
        </p:nvSpPr>
        <p:spPr>
          <a:xfrm>
            <a:off x="485775" y="4732357"/>
            <a:ext cx="2454919" cy="186689"/>
          </a:xfrm>
          <a:prstGeom prst="rect">
            <a:avLst/>
          </a:prstGeom>
          <a:noFill/>
        </p:spPr>
        <p:txBody>
          <a:bodyPr wrap="none" lIns="0" rIns="0" tIns="0" bIns="0">
            <a:spAutoFit/>
          </a:bodyPr>
          <a:lstStyle/>
          <a:p>
            <a:r>
              <a:rPr sz="1100" b="0">
                <a:solidFill>
                  <a:srgbClr val="2E2E2E"/>
                </a:solidFill>
                <a:latin typeface="Calibri"/>
              </a:rPr>
              <a:t>dentures by region, South Asia &amp; Pacific is</a:t>
            </a:r>
          </a:p>
        </p:txBody>
      </p:sp>
      <p:sp>
        <p:nvSpPr>
          <p:cNvPr id="108" name="TextBox 107"/>
          <p:cNvSpPr txBox="1"/>
          <p:nvPr/>
        </p:nvSpPr>
        <p:spPr>
          <a:xfrm>
            <a:off x="485775" y="4899997"/>
            <a:ext cx="2381232" cy="186689"/>
          </a:xfrm>
          <a:prstGeom prst="rect">
            <a:avLst/>
          </a:prstGeom>
          <a:noFill/>
        </p:spPr>
        <p:txBody>
          <a:bodyPr wrap="none" lIns="0" rIns="0" tIns="0" bIns="0">
            <a:spAutoFit/>
          </a:bodyPr>
          <a:lstStyle/>
          <a:p>
            <a:r>
              <a:rPr sz="1100" b="0">
                <a:solidFill>
                  <a:srgbClr val="2E2E2E"/>
                </a:solidFill>
                <a:latin typeface="Calibri"/>
              </a:rPr>
              <a:t>expected to witness the highest CAGR of</a:t>
            </a:r>
          </a:p>
        </p:txBody>
      </p:sp>
      <p:pic>
        <p:nvPicPr>
          <p:cNvPr id="109" name="Picture 108" descr="lock.png"/>
          <p:cNvPicPr>
            <a:picLocks noChangeAspect="1"/>
          </p:cNvPicPr>
          <p:nvPr/>
        </p:nvPicPr>
        <p:blipFill>
          <a:blip r:embed="rId22"/>
          <a:stretch>
            <a:fillRect/>
          </a:stretch>
        </p:blipFill>
        <p:spPr>
          <a:xfrm>
            <a:off x="2815059" y="4890217"/>
            <a:ext cx="128699" cy="187198"/>
          </a:xfrm>
          <a:prstGeom prst="rect">
            <a:avLst/>
          </a:prstGeom>
        </p:spPr>
      </p:pic>
      <p:sp>
        <p:nvSpPr>
          <p:cNvPr id="110" name="TextBox 109"/>
          <p:cNvSpPr txBox="1"/>
          <p:nvPr/>
        </p:nvSpPr>
        <p:spPr>
          <a:xfrm>
            <a:off x="2982555" y="4899997"/>
            <a:ext cx="331316" cy="186689"/>
          </a:xfrm>
          <a:prstGeom prst="rect">
            <a:avLst/>
          </a:prstGeom>
          <a:noFill/>
        </p:spPr>
        <p:txBody>
          <a:bodyPr wrap="none" lIns="0" rIns="0" tIns="0" bIns="0">
            <a:spAutoFit/>
          </a:bodyPr>
          <a:lstStyle/>
          <a:p>
            <a:r>
              <a:rPr sz="1100" b="0">
                <a:solidFill>
                  <a:srgbClr val="2E2E2E"/>
                </a:solidFill>
                <a:latin typeface="Calibri"/>
              </a:rPr>
              <a:t>over</a:t>
            </a:r>
          </a:p>
        </p:txBody>
      </p:sp>
      <p:sp>
        <p:nvSpPr>
          <p:cNvPr id="111" name="TextBox 110"/>
          <p:cNvSpPr txBox="1"/>
          <p:nvPr/>
        </p:nvSpPr>
        <p:spPr>
          <a:xfrm>
            <a:off x="485775" y="5067637"/>
            <a:ext cx="1197892" cy="186689"/>
          </a:xfrm>
          <a:prstGeom prst="rect">
            <a:avLst/>
          </a:prstGeom>
          <a:noFill/>
        </p:spPr>
        <p:txBody>
          <a:bodyPr wrap="none" lIns="0" rIns="0" tIns="0" bIns="0">
            <a:spAutoFit/>
          </a:bodyPr>
          <a:lstStyle/>
          <a:p>
            <a:r>
              <a:rPr sz="1100" b="0">
                <a:solidFill>
                  <a:srgbClr val="2E2E2E"/>
                </a:solidFill>
                <a:latin typeface="Calibri"/>
              </a:rPr>
              <a:t>the forecast period.</a:t>
            </a:r>
          </a:p>
        </p:txBody>
      </p:sp>
      <p:sp>
        <p:nvSpPr>
          <p:cNvPr id="112" name="TextBox 111"/>
          <p:cNvSpPr txBox="1"/>
          <p:nvPr/>
        </p:nvSpPr>
        <p:spPr>
          <a:xfrm>
            <a:off x="485775" y="5285569"/>
            <a:ext cx="2535138" cy="186689"/>
          </a:xfrm>
          <a:prstGeom prst="rect">
            <a:avLst/>
          </a:prstGeom>
          <a:noFill/>
        </p:spPr>
        <p:txBody>
          <a:bodyPr wrap="none" lIns="0" rIns="0" tIns="0" bIns="0">
            <a:spAutoFit/>
          </a:bodyPr>
          <a:lstStyle/>
          <a:p>
            <a:r>
              <a:rPr sz="1100" b="0">
                <a:solidFill>
                  <a:srgbClr val="2E2E2E"/>
                </a:solidFill>
                <a:latin typeface="Calibri"/>
              </a:rPr>
              <a:t>▪ ¶ In terms of value share by region, North</a:t>
            </a:r>
          </a:p>
        </p:txBody>
      </p:sp>
      <p:sp>
        <p:nvSpPr>
          <p:cNvPr id="113" name="TextBox 112"/>
          <p:cNvSpPr txBox="1"/>
          <p:nvPr/>
        </p:nvSpPr>
        <p:spPr>
          <a:xfrm>
            <a:off x="485775" y="5453209"/>
            <a:ext cx="2644551" cy="186689"/>
          </a:xfrm>
          <a:prstGeom prst="rect">
            <a:avLst/>
          </a:prstGeom>
          <a:noFill/>
        </p:spPr>
        <p:txBody>
          <a:bodyPr wrap="none" lIns="0" rIns="0" tIns="0" bIns="0">
            <a:spAutoFit/>
          </a:bodyPr>
          <a:lstStyle/>
          <a:p>
            <a:r>
              <a:rPr sz="1100" b="0">
                <a:solidFill>
                  <a:srgbClr val="2E2E2E"/>
                </a:solidFill>
                <a:latin typeface="Calibri"/>
              </a:rPr>
              <a:t>America is expected to dominate the market,</a:t>
            </a:r>
          </a:p>
        </p:txBody>
      </p:sp>
      <p:sp>
        <p:nvSpPr>
          <p:cNvPr id="114" name="TextBox 113"/>
          <p:cNvSpPr txBox="1"/>
          <p:nvPr/>
        </p:nvSpPr>
        <p:spPr>
          <a:xfrm>
            <a:off x="485775" y="5620849"/>
            <a:ext cx="407987" cy="186689"/>
          </a:xfrm>
          <a:prstGeom prst="rect">
            <a:avLst/>
          </a:prstGeom>
          <a:noFill/>
        </p:spPr>
        <p:txBody>
          <a:bodyPr wrap="none" lIns="0" rIns="0" tIns="0" bIns="0">
            <a:spAutoFit/>
          </a:bodyPr>
          <a:lstStyle/>
          <a:p>
            <a:r>
              <a:rPr sz="1100" b="0">
                <a:solidFill>
                  <a:srgbClr val="2E2E2E"/>
                </a:solidFill>
                <a:latin typeface="Calibri"/>
              </a:rPr>
              <a:t>losing</a:t>
            </a:r>
          </a:p>
        </p:txBody>
      </p:sp>
      <p:pic>
        <p:nvPicPr>
          <p:cNvPr id="115" name="Picture 114" descr="lock.png"/>
          <p:cNvPicPr>
            <a:picLocks noChangeAspect="1"/>
          </p:cNvPicPr>
          <p:nvPr/>
        </p:nvPicPr>
        <p:blipFill>
          <a:blip r:embed="rId22"/>
          <a:stretch>
            <a:fillRect/>
          </a:stretch>
        </p:blipFill>
        <p:spPr>
          <a:xfrm>
            <a:off x="841814" y="5611070"/>
            <a:ext cx="128699" cy="187198"/>
          </a:xfrm>
          <a:prstGeom prst="rect">
            <a:avLst/>
          </a:prstGeom>
        </p:spPr>
      </p:pic>
      <p:sp>
        <p:nvSpPr>
          <p:cNvPr id="116" name="TextBox 115"/>
          <p:cNvSpPr txBox="1"/>
          <p:nvPr/>
        </p:nvSpPr>
        <p:spPr>
          <a:xfrm>
            <a:off x="1009309" y="5620849"/>
            <a:ext cx="1386433" cy="186689"/>
          </a:xfrm>
          <a:prstGeom prst="rect">
            <a:avLst/>
          </a:prstGeom>
          <a:noFill/>
        </p:spPr>
        <p:txBody>
          <a:bodyPr wrap="none" lIns="0" rIns="0" tIns="0" bIns="0">
            <a:spAutoFit/>
          </a:bodyPr>
          <a:lstStyle/>
          <a:p>
            <a:r>
              <a:rPr sz="1100" b="0">
                <a:solidFill>
                  <a:srgbClr val="2E2E2E"/>
                </a:solidFill>
                <a:latin typeface="Calibri"/>
              </a:rPr>
              <a:t>BPS and accounting for</a:t>
            </a:r>
          </a:p>
        </p:txBody>
      </p:sp>
      <p:pic>
        <p:nvPicPr>
          <p:cNvPr id="117" name="Picture 116" descr="lock.png"/>
          <p:cNvPicPr>
            <a:picLocks noChangeAspect="1"/>
          </p:cNvPicPr>
          <p:nvPr/>
        </p:nvPicPr>
        <p:blipFill>
          <a:blip r:embed="rId22"/>
          <a:stretch>
            <a:fillRect/>
          </a:stretch>
        </p:blipFill>
        <p:spPr>
          <a:xfrm>
            <a:off x="2343794" y="5611070"/>
            <a:ext cx="128699" cy="187198"/>
          </a:xfrm>
          <a:prstGeom prst="rect">
            <a:avLst/>
          </a:prstGeom>
        </p:spPr>
      </p:pic>
      <p:sp>
        <p:nvSpPr>
          <p:cNvPr id="118" name="TextBox 117"/>
          <p:cNvSpPr txBox="1"/>
          <p:nvPr/>
        </p:nvSpPr>
        <p:spPr>
          <a:xfrm>
            <a:off x="2511290" y="5620849"/>
            <a:ext cx="557783" cy="186689"/>
          </a:xfrm>
          <a:prstGeom prst="rect">
            <a:avLst/>
          </a:prstGeom>
          <a:noFill/>
        </p:spPr>
        <p:txBody>
          <a:bodyPr wrap="none" lIns="0" rIns="0" tIns="0" bIns="0">
            <a:spAutoFit/>
          </a:bodyPr>
          <a:lstStyle/>
          <a:p>
            <a:r>
              <a:rPr sz="1100" b="0">
                <a:solidFill>
                  <a:srgbClr val="2E2E2E"/>
                </a:solidFill>
                <a:latin typeface="Calibri"/>
              </a:rPr>
              <a:t>share by</a:t>
            </a:r>
          </a:p>
        </p:txBody>
      </p:sp>
      <p:sp>
        <p:nvSpPr>
          <p:cNvPr id="119" name="TextBox 118"/>
          <p:cNvSpPr txBox="1"/>
          <p:nvPr/>
        </p:nvSpPr>
        <p:spPr>
          <a:xfrm>
            <a:off x="485775" y="5788489"/>
            <a:ext cx="395163" cy="186689"/>
          </a:xfrm>
          <a:prstGeom prst="rect">
            <a:avLst/>
          </a:prstGeom>
          <a:noFill/>
        </p:spPr>
        <p:txBody>
          <a:bodyPr wrap="none" lIns="0" rIns="0" tIns="0" bIns="0">
            <a:spAutoFit/>
          </a:bodyPr>
          <a:lstStyle/>
          <a:p>
            <a:r>
              <a:rPr sz="1100" b="0">
                <a:solidFill>
                  <a:srgbClr val="2E2E2E"/>
                </a:solidFill>
                <a:latin typeface="Calibri"/>
              </a:rPr>
              <a:t>2036.</a:t>
            </a:r>
          </a:p>
        </p:txBody>
      </p:sp>
      <p:sp>
        <p:nvSpPr>
          <p:cNvPr id="120" name="TextBox 119"/>
          <p:cNvSpPr txBox="1"/>
          <p:nvPr/>
        </p:nvSpPr>
        <p:spPr>
          <a:xfrm>
            <a:off x="3838575" y="4229437"/>
            <a:ext cx="1063376" cy="186689"/>
          </a:xfrm>
          <a:prstGeom prst="rect">
            <a:avLst/>
          </a:prstGeom>
          <a:noFill/>
        </p:spPr>
        <p:txBody>
          <a:bodyPr wrap="none" lIns="0" rIns="0" tIns="0" bIns="0">
            <a:spAutoFit/>
          </a:bodyPr>
          <a:lstStyle/>
          <a:p>
            <a:r>
              <a:rPr sz="1100" b="0">
                <a:solidFill>
                  <a:srgbClr val="2E2E2E"/>
                </a:solidFill>
                <a:latin typeface="Calibri"/>
              </a:rPr>
              <a:t>● North America:</a:t>
            </a:r>
          </a:p>
        </p:txBody>
      </p:sp>
      <p:pic>
        <p:nvPicPr>
          <p:cNvPr id="121" name="Picture 120" descr="lock.png"/>
          <p:cNvPicPr>
            <a:picLocks noChangeAspect="1"/>
          </p:cNvPicPr>
          <p:nvPr/>
        </p:nvPicPr>
        <p:blipFill>
          <a:blip r:embed="rId22"/>
          <a:stretch>
            <a:fillRect/>
          </a:stretch>
        </p:blipFill>
        <p:spPr>
          <a:xfrm>
            <a:off x="4850003" y="4219658"/>
            <a:ext cx="128699" cy="187198"/>
          </a:xfrm>
          <a:prstGeom prst="rect">
            <a:avLst/>
          </a:prstGeom>
        </p:spPr>
      </p:pic>
      <p:sp>
        <p:nvSpPr>
          <p:cNvPr id="122" name="TextBox 121"/>
          <p:cNvSpPr txBox="1"/>
          <p:nvPr/>
        </p:nvSpPr>
        <p:spPr>
          <a:xfrm>
            <a:off x="5017499"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23" name="Picture 122" descr="lock.png"/>
          <p:cNvPicPr>
            <a:picLocks noChangeAspect="1"/>
          </p:cNvPicPr>
          <p:nvPr/>
        </p:nvPicPr>
        <p:blipFill>
          <a:blip r:embed="rId22"/>
          <a:stretch>
            <a:fillRect/>
          </a:stretch>
        </p:blipFill>
        <p:spPr>
          <a:xfrm>
            <a:off x="5876949" y="4219658"/>
            <a:ext cx="128699" cy="187198"/>
          </a:xfrm>
          <a:prstGeom prst="rect">
            <a:avLst/>
          </a:prstGeom>
        </p:spPr>
      </p:pic>
      <p:sp>
        <p:nvSpPr>
          <p:cNvPr id="124" name="TextBox 123"/>
          <p:cNvSpPr txBox="1"/>
          <p:nvPr/>
        </p:nvSpPr>
        <p:spPr>
          <a:xfrm>
            <a:off x="6044445" y="4229437"/>
            <a:ext cx="1419431" cy="186689"/>
          </a:xfrm>
          <a:prstGeom prst="rect">
            <a:avLst/>
          </a:prstGeom>
          <a:noFill/>
        </p:spPr>
        <p:txBody>
          <a:bodyPr wrap="none" lIns="0" rIns="0" tIns="0" bIns="0">
            <a:spAutoFit/>
          </a:bodyPr>
          <a:lstStyle/>
          <a:p>
            <a:r>
              <a:rPr sz="1100" b="0">
                <a:solidFill>
                  <a:srgbClr val="2E2E2E"/>
                </a:solidFill>
                <a:latin typeface="Calibri"/>
              </a:rPr>
              <a:t>CAGR leads the market.</a:t>
            </a:r>
          </a:p>
        </p:txBody>
      </p:sp>
      <p:sp>
        <p:nvSpPr>
          <p:cNvPr id="125" name="TextBox 124"/>
          <p:cNvSpPr txBox="1"/>
          <p:nvPr/>
        </p:nvSpPr>
        <p:spPr>
          <a:xfrm>
            <a:off x="3838575" y="4447369"/>
            <a:ext cx="636637" cy="186689"/>
          </a:xfrm>
          <a:prstGeom prst="rect">
            <a:avLst/>
          </a:prstGeom>
          <a:noFill/>
        </p:spPr>
        <p:txBody>
          <a:bodyPr wrap="none" lIns="0" rIns="0" tIns="0" bIns="0">
            <a:spAutoFit/>
          </a:bodyPr>
          <a:lstStyle/>
          <a:p>
            <a:r>
              <a:rPr sz="1100" b="0">
                <a:solidFill>
                  <a:srgbClr val="2E2E2E"/>
                </a:solidFill>
                <a:latin typeface="Calibri"/>
              </a:rPr>
              <a:t>● Europe:</a:t>
            </a:r>
          </a:p>
        </p:txBody>
      </p:sp>
      <p:pic>
        <p:nvPicPr>
          <p:cNvPr id="126" name="Picture 125" descr="lock.png"/>
          <p:cNvPicPr>
            <a:picLocks noChangeAspect="1"/>
          </p:cNvPicPr>
          <p:nvPr/>
        </p:nvPicPr>
        <p:blipFill>
          <a:blip r:embed="rId22"/>
          <a:stretch>
            <a:fillRect/>
          </a:stretch>
        </p:blipFill>
        <p:spPr>
          <a:xfrm>
            <a:off x="4423263" y="4437590"/>
            <a:ext cx="128699" cy="187198"/>
          </a:xfrm>
          <a:prstGeom prst="rect">
            <a:avLst/>
          </a:prstGeom>
        </p:spPr>
      </p:pic>
      <p:sp>
        <p:nvSpPr>
          <p:cNvPr id="127" name="TextBox 126"/>
          <p:cNvSpPr txBox="1"/>
          <p:nvPr/>
        </p:nvSpPr>
        <p:spPr>
          <a:xfrm>
            <a:off x="4590759"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28" name="Picture 127" descr="lock.png"/>
          <p:cNvPicPr>
            <a:picLocks noChangeAspect="1"/>
          </p:cNvPicPr>
          <p:nvPr/>
        </p:nvPicPr>
        <p:blipFill>
          <a:blip r:embed="rId22"/>
          <a:stretch>
            <a:fillRect/>
          </a:stretch>
        </p:blipFill>
        <p:spPr>
          <a:xfrm>
            <a:off x="5450209" y="4437590"/>
            <a:ext cx="128699" cy="187198"/>
          </a:xfrm>
          <a:prstGeom prst="rect">
            <a:avLst/>
          </a:prstGeom>
        </p:spPr>
      </p:pic>
      <p:sp>
        <p:nvSpPr>
          <p:cNvPr id="129" name="TextBox 128"/>
          <p:cNvSpPr txBox="1"/>
          <p:nvPr/>
        </p:nvSpPr>
        <p:spPr>
          <a:xfrm>
            <a:off x="5617705" y="4447369"/>
            <a:ext cx="1415611" cy="186689"/>
          </a:xfrm>
          <a:prstGeom prst="rect">
            <a:avLst/>
          </a:prstGeom>
          <a:noFill/>
        </p:spPr>
        <p:txBody>
          <a:bodyPr wrap="none" lIns="0" rIns="0" tIns="0" bIns="0">
            <a:spAutoFit/>
          </a:bodyPr>
          <a:lstStyle/>
          <a:p>
            <a:r>
              <a:rPr sz="1100" b="0">
                <a:solidFill>
                  <a:srgbClr val="2E2E2E"/>
                </a:solidFill>
                <a:latin typeface="Calibri"/>
              </a:rPr>
              <a:t>CAGR a smaller market.</a:t>
            </a:r>
          </a:p>
        </p:txBody>
      </p:sp>
      <p:sp>
        <p:nvSpPr>
          <p:cNvPr id="130" name="TextBox 129"/>
          <p:cNvSpPr txBox="1"/>
          <p:nvPr/>
        </p:nvSpPr>
        <p:spPr>
          <a:xfrm>
            <a:off x="3838575" y="4665301"/>
            <a:ext cx="732101" cy="186689"/>
          </a:xfrm>
          <a:prstGeom prst="rect">
            <a:avLst/>
          </a:prstGeom>
          <a:noFill/>
        </p:spPr>
        <p:txBody>
          <a:bodyPr wrap="none" lIns="0" rIns="0" tIns="0" bIns="0">
            <a:spAutoFit/>
          </a:bodyPr>
          <a:lstStyle/>
          <a:p>
            <a:r>
              <a:rPr sz="1100" b="0">
                <a:solidFill>
                  <a:srgbClr val="2E2E2E"/>
                </a:solidFill>
                <a:latin typeface="Calibri"/>
              </a:rPr>
              <a:t>● East Asia:</a:t>
            </a:r>
          </a:p>
        </p:txBody>
      </p:sp>
      <p:pic>
        <p:nvPicPr>
          <p:cNvPr id="131" name="Picture 130" descr="lock.png"/>
          <p:cNvPicPr>
            <a:picLocks noChangeAspect="1"/>
          </p:cNvPicPr>
          <p:nvPr/>
        </p:nvPicPr>
        <p:blipFill>
          <a:blip r:embed="rId22"/>
          <a:stretch>
            <a:fillRect/>
          </a:stretch>
        </p:blipFill>
        <p:spPr>
          <a:xfrm>
            <a:off x="4518727" y="4655522"/>
            <a:ext cx="128699" cy="187198"/>
          </a:xfrm>
          <a:prstGeom prst="rect">
            <a:avLst/>
          </a:prstGeom>
        </p:spPr>
      </p:pic>
      <p:sp>
        <p:nvSpPr>
          <p:cNvPr id="132" name="TextBox 131"/>
          <p:cNvSpPr txBox="1"/>
          <p:nvPr/>
        </p:nvSpPr>
        <p:spPr>
          <a:xfrm>
            <a:off x="4686223"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33" name="Picture 132" descr="lock.png"/>
          <p:cNvPicPr>
            <a:picLocks noChangeAspect="1"/>
          </p:cNvPicPr>
          <p:nvPr/>
        </p:nvPicPr>
        <p:blipFill>
          <a:blip r:embed="rId22"/>
          <a:stretch>
            <a:fillRect/>
          </a:stretch>
        </p:blipFill>
        <p:spPr>
          <a:xfrm>
            <a:off x="5545673" y="4655522"/>
            <a:ext cx="128699" cy="187198"/>
          </a:xfrm>
          <a:prstGeom prst="rect">
            <a:avLst/>
          </a:prstGeom>
        </p:spPr>
      </p:pic>
      <p:sp>
        <p:nvSpPr>
          <p:cNvPr id="134" name="TextBox 133"/>
          <p:cNvSpPr txBox="1"/>
          <p:nvPr/>
        </p:nvSpPr>
        <p:spPr>
          <a:xfrm>
            <a:off x="5713169" y="4665301"/>
            <a:ext cx="1415611" cy="186689"/>
          </a:xfrm>
          <a:prstGeom prst="rect">
            <a:avLst/>
          </a:prstGeom>
          <a:noFill/>
        </p:spPr>
        <p:txBody>
          <a:bodyPr wrap="none" lIns="0" rIns="0" tIns="0" bIns="0">
            <a:spAutoFit/>
          </a:bodyPr>
          <a:lstStyle/>
          <a:p>
            <a:r>
              <a:rPr sz="1100" b="0">
                <a:solidFill>
                  <a:srgbClr val="2E2E2E"/>
                </a:solidFill>
                <a:latin typeface="Calibri"/>
              </a:rPr>
              <a:t>CAGR a smaller market.</a:t>
            </a:r>
          </a:p>
        </p:txBody>
      </p:sp>
      <p:sp>
        <p:nvSpPr>
          <p:cNvPr id="135" name="TextBox 134"/>
          <p:cNvSpPr txBox="1"/>
          <p:nvPr/>
        </p:nvSpPr>
        <p:spPr>
          <a:xfrm>
            <a:off x="3838575" y="4883233"/>
            <a:ext cx="1350143" cy="186689"/>
          </a:xfrm>
          <a:prstGeom prst="rect">
            <a:avLst/>
          </a:prstGeom>
          <a:noFill/>
        </p:spPr>
        <p:txBody>
          <a:bodyPr wrap="none" lIns="0" rIns="0" tIns="0" bIns="0">
            <a:spAutoFit/>
          </a:bodyPr>
          <a:lstStyle/>
          <a:p>
            <a:r>
              <a:rPr sz="1100" b="0">
                <a:solidFill>
                  <a:srgbClr val="2E2E2E"/>
                </a:solidFill>
                <a:latin typeface="Calibri"/>
              </a:rPr>
              <a:t>● South Asia &amp; Pacific:</a:t>
            </a:r>
          </a:p>
        </p:txBody>
      </p:sp>
      <p:pic>
        <p:nvPicPr>
          <p:cNvPr id="136" name="Picture 135" descr="lock.png"/>
          <p:cNvPicPr>
            <a:picLocks noChangeAspect="1"/>
          </p:cNvPicPr>
          <p:nvPr/>
        </p:nvPicPr>
        <p:blipFill>
          <a:blip r:embed="rId22"/>
          <a:stretch>
            <a:fillRect/>
          </a:stretch>
        </p:blipFill>
        <p:spPr>
          <a:xfrm>
            <a:off x="5136770" y="4873454"/>
            <a:ext cx="128699" cy="187198"/>
          </a:xfrm>
          <a:prstGeom prst="rect">
            <a:avLst/>
          </a:prstGeom>
        </p:spPr>
      </p:pic>
      <p:sp>
        <p:nvSpPr>
          <p:cNvPr id="137" name="TextBox 136"/>
          <p:cNvSpPr txBox="1"/>
          <p:nvPr/>
        </p:nvSpPr>
        <p:spPr>
          <a:xfrm>
            <a:off x="5304266" y="488323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38" name="Picture 137" descr="lock.png"/>
          <p:cNvPicPr>
            <a:picLocks noChangeAspect="1"/>
          </p:cNvPicPr>
          <p:nvPr/>
        </p:nvPicPr>
        <p:blipFill>
          <a:blip r:embed="rId22"/>
          <a:stretch>
            <a:fillRect/>
          </a:stretch>
        </p:blipFill>
        <p:spPr>
          <a:xfrm>
            <a:off x="6163716" y="4873454"/>
            <a:ext cx="128699" cy="187198"/>
          </a:xfrm>
          <a:prstGeom prst="rect">
            <a:avLst/>
          </a:prstGeom>
        </p:spPr>
      </p:pic>
      <p:sp>
        <p:nvSpPr>
          <p:cNvPr id="139" name="TextBox 138"/>
          <p:cNvSpPr txBox="1"/>
          <p:nvPr/>
        </p:nvSpPr>
        <p:spPr>
          <a:xfrm>
            <a:off x="6331212" y="4883233"/>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140" name="TextBox 139"/>
          <p:cNvSpPr txBox="1"/>
          <p:nvPr/>
        </p:nvSpPr>
        <p:spPr>
          <a:xfrm>
            <a:off x="3838575" y="5101165"/>
            <a:ext cx="1008260" cy="186689"/>
          </a:xfrm>
          <a:prstGeom prst="rect">
            <a:avLst/>
          </a:prstGeom>
          <a:noFill/>
        </p:spPr>
        <p:txBody>
          <a:bodyPr wrap="none" lIns="0" rIns="0" tIns="0" bIns="0">
            <a:spAutoFit/>
          </a:bodyPr>
          <a:lstStyle/>
          <a:p>
            <a:r>
              <a:rPr sz="1100" b="0">
                <a:solidFill>
                  <a:srgbClr val="2E2E2E"/>
                </a:solidFill>
                <a:latin typeface="Calibri"/>
              </a:rPr>
              <a:t>● Latin America:</a:t>
            </a:r>
          </a:p>
        </p:txBody>
      </p:sp>
      <p:pic>
        <p:nvPicPr>
          <p:cNvPr id="141" name="Picture 140" descr="lock.png"/>
          <p:cNvPicPr>
            <a:picLocks noChangeAspect="1"/>
          </p:cNvPicPr>
          <p:nvPr/>
        </p:nvPicPr>
        <p:blipFill>
          <a:blip r:embed="rId22"/>
          <a:stretch>
            <a:fillRect/>
          </a:stretch>
        </p:blipFill>
        <p:spPr>
          <a:xfrm>
            <a:off x="4794887" y="5091385"/>
            <a:ext cx="128699" cy="187198"/>
          </a:xfrm>
          <a:prstGeom prst="rect">
            <a:avLst/>
          </a:prstGeom>
        </p:spPr>
      </p:pic>
      <p:sp>
        <p:nvSpPr>
          <p:cNvPr id="142" name="TextBox 141"/>
          <p:cNvSpPr txBox="1"/>
          <p:nvPr/>
        </p:nvSpPr>
        <p:spPr>
          <a:xfrm>
            <a:off x="4962383" y="5101165"/>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43" name="Picture 142" descr="lock.png"/>
          <p:cNvPicPr>
            <a:picLocks noChangeAspect="1"/>
          </p:cNvPicPr>
          <p:nvPr/>
        </p:nvPicPr>
        <p:blipFill>
          <a:blip r:embed="rId22"/>
          <a:stretch>
            <a:fillRect/>
          </a:stretch>
        </p:blipFill>
        <p:spPr>
          <a:xfrm>
            <a:off x="5821833" y="5091385"/>
            <a:ext cx="128699" cy="187198"/>
          </a:xfrm>
          <a:prstGeom prst="rect">
            <a:avLst/>
          </a:prstGeom>
        </p:spPr>
      </p:pic>
      <p:sp>
        <p:nvSpPr>
          <p:cNvPr id="144" name="TextBox 143"/>
          <p:cNvSpPr txBox="1"/>
          <p:nvPr/>
        </p:nvSpPr>
        <p:spPr>
          <a:xfrm>
            <a:off x="5989329" y="5101165"/>
            <a:ext cx="1415611" cy="186689"/>
          </a:xfrm>
          <a:prstGeom prst="rect">
            <a:avLst/>
          </a:prstGeom>
          <a:noFill/>
        </p:spPr>
        <p:txBody>
          <a:bodyPr wrap="none" lIns="0" rIns="0" tIns="0" bIns="0">
            <a:spAutoFit/>
          </a:bodyPr>
          <a:lstStyle/>
          <a:p>
            <a:r>
              <a:rPr sz="1100" b="0">
                <a:solidFill>
                  <a:srgbClr val="2E2E2E"/>
                </a:solidFill>
                <a:latin typeface="Calibri"/>
              </a:rPr>
              <a:t>CAGR a smaller market.</a:t>
            </a:r>
          </a:p>
        </p:txBody>
      </p:sp>
      <p:sp>
        <p:nvSpPr>
          <p:cNvPr id="145" name="TextBox 144"/>
          <p:cNvSpPr txBox="1"/>
          <p:nvPr/>
        </p:nvSpPr>
        <p:spPr>
          <a:xfrm>
            <a:off x="3838575" y="5319097"/>
            <a:ext cx="1386944" cy="186689"/>
          </a:xfrm>
          <a:prstGeom prst="rect">
            <a:avLst/>
          </a:prstGeom>
          <a:noFill/>
        </p:spPr>
        <p:txBody>
          <a:bodyPr wrap="none" lIns="0" rIns="0" tIns="0" bIns="0">
            <a:spAutoFit/>
          </a:bodyPr>
          <a:lstStyle/>
          <a:p>
            <a:r>
              <a:rPr sz="1100" b="0">
                <a:solidFill>
                  <a:srgbClr val="2E2E2E"/>
                </a:solidFill>
                <a:latin typeface="Calibri"/>
              </a:rPr>
              <a:t>● Middle East &amp; Africa:</a:t>
            </a:r>
          </a:p>
        </p:txBody>
      </p:sp>
      <p:pic>
        <p:nvPicPr>
          <p:cNvPr id="146" name="Picture 145" descr="lock.png"/>
          <p:cNvPicPr>
            <a:picLocks noChangeAspect="1"/>
          </p:cNvPicPr>
          <p:nvPr/>
        </p:nvPicPr>
        <p:blipFill>
          <a:blip r:embed="rId22"/>
          <a:stretch>
            <a:fillRect/>
          </a:stretch>
        </p:blipFill>
        <p:spPr>
          <a:xfrm>
            <a:off x="5173571" y="5309317"/>
            <a:ext cx="128699" cy="187198"/>
          </a:xfrm>
          <a:prstGeom prst="rect">
            <a:avLst/>
          </a:prstGeom>
        </p:spPr>
      </p:pic>
      <p:sp>
        <p:nvSpPr>
          <p:cNvPr id="147" name="TextBox 146"/>
          <p:cNvSpPr txBox="1"/>
          <p:nvPr/>
        </p:nvSpPr>
        <p:spPr>
          <a:xfrm>
            <a:off x="5341067" y="531909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48" name="Picture 147" descr="lock.png"/>
          <p:cNvPicPr>
            <a:picLocks noChangeAspect="1"/>
          </p:cNvPicPr>
          <p:nvPr/>
        </p:nvPicPr>
        <p:blipFill>
          <a:blip r:embed="rId22"/>
          <a:stretch>
            <a:fillRect/>
          </a:stretch>
        </p:blipFill>
        <p:spPr>
          <a:xfrm>
            <a:off x="6200517" y="5309317"/>
            <a:ext cx="128699" cy="187198"/>
          </a:xfrm>
          <a:prstGeom prst="rect">
            <a:avLst/>
          </a:prstGeom>
        </p:spPr>
      </p:pic>
      <p:sp>
        <p:nvSpPr>
          <p:cNvPr id="149" name="TextBox 148"/>
          <p:cNvSpPr txBox="1"/>
          <p:nvPr/>
        </p:nvSpPr>
        <p:spPr>
          <a:xfrm>
            <a:off x="6368013" y="5319097"/>
            <a:ext cx="1415611" cy="186689"/>
          </a:xfrm>
          <a:prstGeom prst="rect">
            <a:avLst/>
          </a:prstGeom>
          <a:noFill/>
        </p:spPr>
        <p:txBody>
          <a:bodyPr wrap="none" lIns="0" rIns="0" tIns="0" bIns="0">
            <a:spAutoFit/>
          </a:bodyPr>
          <a:lstStyle/>
          <a:p>
            <a:r>
              <a:rPr sz="1100" b="0">
                <a:solidFill>
                  <a:srgbClr val="2E2E2E"/>
                </a:solidFill>
                <a:latin typeface="Calibri"/>
              </a:rPr>
              <a:t>CAGR a smaller market.</a:t>
            </a:r>
          </a:p>
        </p:txBody>
      </p:sp>
    </p:spTree>
  </p:cSld>
  <p:clrMapOvr>
    <a:masterClrMapping/>
  </p:clrMapOvr>
</p:sld>
</file>

<file path=ppt/slides/slide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Analysis, By Region Volume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share by region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Region,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598348"/>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4712970" y="159358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517385"/>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Middle East &amp; Africa</a:t>
            </a:r>
          </a:p>
        </p:txBody>
      </p:sp>
      <p:sp>
        <p:nvSpPr>
          <p:cNvPr id="19" name="BPS Value 1"/>
          <p:cNvSpPr txBox="1"/>
          <p:nvPr/>
        </p:nvSpPr>
        <p:spPr>
          <a:xfrm>
            <a:off x="6305550" y="1579298"/>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551045" y="1892578"/>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4712970" y="188781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1811615"/>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Latin America</a:t>
            </a:r>
          </a:p>
        </p:txBody>
      </p:sp>
      <p:sp>
        <p:nvSpPr>
          <p:cNvPr id="23" name="BPS Value 2"/>
          <p:cNvSpPr txBox="1"/>
          <p:nvPr/>
        </p:nvSpPr>
        <p:spPr>
          <a:xfrm>
            <a:off x="6305550" y="1873528"/>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551045" y="2378244"/>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4712970" y="237348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4855845" y="2297281"/>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East Asia</a:t>
            </a:r>
          </a:p>
        </p:txBody>
      </p:sp>
      <p:sp>
        <p:nvSpPr>
          <p:cNvPr id="27" name="BPS Value 3"/>
          <p:cNvSpPr txBox="1"/>
          <p:nvPr/>
        </p:nvSpPr>
        <p:spPr>
          <a:xfrm>
            <a:off x="6305550" y="2359194"/>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FMI Legend Chip"/>
          <p:cNvSpPr/>
          <p:nvPr/>
        </p:nvSpPr>
        <p:spPr>
          <a:xfrm>
            <a:off x="4551045" y="3089180"/>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4712970" y="308441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4855845" y="3008217"/>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South Asia &amp; Pacific</a:t>
            </a:r>
          </a:p>
        </p:txBody>
      </p:sp>
      <p:sp>
        <p:nvSpPr>
          <p:cNvPr id="31" name="BPS Value 4"/>
          <p:cNvSpPr txBox="1"/>
          <p:nvPr/>
        </p:nvSpPr>
        <p:spPr>
          <a:xfrm>
            <a:off x="6305550" y="3070130"/>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2" name="FMI Legend Chip"/>
          <p:cNvSpPr/>
          <p:nvPr/>
        </p:nvSpPr>
        <p:spPr>
          <a:xfrm>
            <a:off x="4551045" y="387383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rot="10800000">
            <a:off x="4712970" y="386907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4855845" y="3792870"/>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North America</a:t>
            </a:r>
          </a:p>
        </p:txBody>
      </p:sp>
      <p:sp>
        <p:nvSpPr>
          <p:cNvPr id="35" name="BPS Value 5"/>
          <p:cNvSpPr txBox="1"/>
          <p:nvPr/>
        </p:nvSpPr>
        <p:spPr>
          <a:xfrm>
            <a:off x="6305550" y="3854782"/>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6" name="FMI Legend Chip"/>
          <p:cNvSpPr/>
          <p:nvPr/>
        </p:nvSpPr>
        <p:spPr>
          <a:xfrm>
            <a:off x="4551045" y="4702229"/>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4712970" y="469746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4855845" y="4621266"/>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Europe</a:t>
            </a:r>
          </a:p>
        </p:txBody>
      </p:sp>
      <p:sp>
        <p:nvSpPr>
          <p:cNvPr id="39" name="BPS Value 6"/>
          <p:cNvSpPr txBox="1"/>
          <p:nvPr/>
        </p:nvSpPr>
        <p:spPr>
          <a:xfrm>
            <a:off x="6305550" y="4683179"/>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40" name="Rounded Rectangle 39"/>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42" name="Rectangle 41"/>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44" name="Rounded Rectangle 43"/>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(UNITS)</a:t>
            </a:r>
          </a:p>
          <a:p>
            <a:pPr algn="ctr">
              <a:lnSpc>
                <a:spcPct val="95000"/>
              </a:lnSpc>
            </a:pPr>
            <a:r>
              <a:rPr sz="2000" b="1">
                <a:solidFill>
                  <a:srgbClr val="0E72AE"/>
                </a:solidFill>
                <a:latin typeface="Calibri"/>
              </a:rPr>
              <a:t/>
            </a:r>
          </a:p>
        </p:txBody>
      </p:sp>
      <p:sp>
        <p:nvSpPr>
          <p:cNvPr id="45" name="Rounded Rectangle 44"/>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(UNITS)</a:t>
            </a:r>
          </a:p>
          <a:p>
            <a:pPr algn="ctr">
              <a:lnSpc>
                <a:spcPct val="95000"/>
              </a:lnSpc>
            </a:pPr>
            <a:r>
              <a:rPr sz="2000" b="1">
                <a:solidFill>
                  <a:srgbClr val="0E72AE"/>
                </a:solidFill>
                <a:latin typeface="Calibri"/>
              </a:rPr>
              <a:t/>
            </a:r>
          </a:p>
        </p:txBody>
      </p:sp>
      <p:sp>
        <p:nvSpPr>
          <p:cNvPr id="46" name="Rounded Rectangle 45"/>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
            </a:r>
          </a:p>
        </p:txBody>
      </p:sp>
      <p:sp>
        <p:nvSpPr>
          <p:cNvPr id="47" name="TextBox 4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8" name="Picture 47" descr="lock.png"/>
          <p:cNvPicPr>
            <a:picLocks noChangeAspect="1"/>
          </p:cNvPicPr>
          <p:nvPr/>
        </p:nvPicPr>
        <p:blipFill>
          <a:blip r:embed="rId5"/>
          <a:stretch>
            <a:fillRect/>
          </a:stretch>
        </p:blipFill>
        <p:spPr>
          <a:xfrm>
            <a:off x="2333863" y="3121818"/>
            <a:ext cx="343793" cy="500062"/>
          </a:xfrm>
          <a:prstGeom prst="rect">
            <a:avLst/>
          </a:prstGeom>
        </p:spPr>
      </p:pic>
      <p:pic>
        <p:nvPicPr>
          <p:cNvPr id="49" name="Picture 48" descr="3_516_250_605E5C.png"/>
          <p:cNvPicPr>
            <a:picLocks noChangeAspect="1"/>
          </p:cNvPicPr>
          <p:nvPr/>
        </p:nvPicPr>
        <p:blipFill>
          <a:blip r:embed="rId6"/>
          <a:stretch>
            <a:fillRect/>
          </a:stretch>
        </p:blipFill>
        <p:spPr>
          <a:xfrm>
            <a:off x="744310" y="5897562"/>
            <a:ext cx="2740473" cy="482599"/>
          </a:xfrm>
          <a:prstGeom prst="rect">
            <a:avLst/>
          </a:prstGeom>
        </p:spPr>
      </p:pic>
      <p:pic>
        <p:nvPicPr>
          <p:cNvPr id="50" name="Picture 49" descr="5_094_359_605E5C.png"/>
          <p:cNvPicPr>
            <a:picLocks noChangeAspect="1"/>
          </p:cNvPicPr>
          <p:nvPr/>
        </p:nvPicPr>
        <p:blipFill>
          <a:blip r:embed="rId7"/>
          <a:stretch>
            <a:fillRect/>
          </a:stretch>
        </p:blipFill>
        <p:spPr>
          <a:xfrm>
            <a:off x="4778148" y="5897562"/>
            <a:ext cx="2740473" cy="482599"/>
          </a:xfrm>
          <a:prstGeom prst="rect">
            <a:avLst/>
          </a:prstGeom>
        </p:spPr>
      </p:pic>
      <p:pic>
        <p:nvPicPr>
          <p:cNvPr id="51" name="Picture 50" descr="3_8__605E5C.png"/>
          <p:cNvPicPr>
            <a:picLocks noChangeAspect="1"/>
          </p:cNvPicPr>
          <p:nvPr/>
        </p:nvPicPr>
        <p:blipFill>
          <a:blip r:embed="rId8"/>
          <a:stretch>
            <a:fillRect/>
          </a:stretch>
        </p:blipFill>
        <p:spPr>
          <a:xfrm>
            <a:off x="9465355" y="5897562"/>
            <a:ext cx="1309912" cy="482599"/>
          </a:xfrm>
          <a:prstGeom prst="rect">
            <a:avLst/>
          </a:prstGeom>
        </p:spPr>
      </p:pic>
      <p:pic>
        <p:nvPicPr>
          <p:cNvPr id="52" name="Picture 51" descr="lock.png"/>
          <p:cNvPicPr>
            <a:picLocks noChangeAspect="1"/>
          </p:cNvPicPr>
          <p:nvPr/>
        </p:nvPicPr>
        <p:blipFill>
          <a:blip r:embed="rId5"/>
          <a:stretch>
            <a:fillRect/>
          </a:stretch>
        </p:blipFill>
        <p:spPr>
          <a:xfrm>
            <a:off x="5914657" y="5893409"/>
            <a:ext cx="337498" cy="490906"/>
          </a:xfrm>
          <a:prstGeom prst="rect">
            <a:avLst/>
          </a:prstGeom>
        </p:spPr>
      </p:pic>
      <p:sp>
        <p:nvSpPr>
          <p:cNvPr id="53" name="TextBox 52"/>
          <p:cNvSpPr txBox="1"/>
          <p:nvPr/>
        </p:nvSpPr>
        <p:spPr>
          <a:xfrm>
            <a:off x="7239000" y="1400175"/>
            <a:ext cx="3991595" cy="194310"/>
          </a:xfrm>
          <a:prstGeom prst="rect">
            <a:avLst/>
          </a:prstGeom>
          <a:noFill/>
        </p:spPr>
        <p:txBody>
          <a:bodyPr wrap="none" lIns="0" rIns="0" tIns="0" bIns="0">
            <a:spAutoFit/>
          </a:bodyPr>
          <a:lstStyle/>
          <a:p>
            <a:r>
              <a:rPr sz="1150" b="0">
                <a:solidFill>
                  <a:srgbClr val="2E2E2E"/>
                </a:solidFill>
                <a:latin typeface="Calibri"/>
              </a:rPr>
              <a:t>Europe removable partial dentures market is projected to register</a:t>
            </a:r>
          </a:p>
        </p:txBody>
      </p:sp>
      <p:pic>
        <p:nvPicPr>
          <p:cNvPr id="54" name="Picture 53" descr="lock.png"/>
          <p:cNvPicPr>
            <a:picLocks noChangeAspect="1"/>
          </p:cNvPicPr>
          <p:nvPr/>
        </p:nvPicPr>
        <p:blipFill>
          <a:blip r:embed="rId5"/>
          <a:stretch>
            <a:fillRect/>
          </a:stretch>
        </p:blipFill>
        <p:spPr>
          <a:xfrm>
            <a:off x="11179749" y="1389951"/>
            <a:ext cx="134549" cy="195707"/>
          </a:xfrm>
          <a:prstGeom prst="rect">
            <a:avLst/>
          </a:prstGeom>
        </p:spPr>
      </p:pic>
      <p:sp>
        <p:nvSpPr>
          <p:cNvPr id="55" name="TextBox 54"/>
          <p:cNvSpPr txBox="1"/>
          <p:nvPr/>
        </p:nvSpPr>
        <p:spPr>
          <a:xfrm>
            <a:off x="11354858" y="1400175"/>
            <a:ext cx="152077" cy="194310"/>
          </a:xfrm>
          <a:prstGeom prst="rect">
            <a:avLst/>
          </a:prstGeom>
          <a:noFill/>
        </p:spPr>
        <p:txBody>
          <a:bodyPr wrap="none" lIns="0" rIns="0" tIns="0" bIns="0">
            <a:spAutoFit/>
          </a:bodyPr>
          <a:lstStyle/>
          <a:p>
            <a:r>
              <a:rPr sz="1150" b="0">
                <a:solidFill>
                  <a:srgbClr val="2E2E2E"/>
                </a:solidFill>
                <a:latin typeface="Calibri"/>
              </a:rPr>
              <a:t>X</a:t>
            </a:r>
          </a:p>
        </p:txBody>
      </p:sp>
      <p:sp>
        <p:nvSpPr>
          <p:cNvPr id="56" name="TextBox 55"/>
          <p:cNvSpPr txBox="1"/>
          <p:nvPr/>
        </p:nvSpPr>
        <p:spPr>
          <a:xfrm>
            <a:off x="7239000" y="1575435"/>
            <a:ext cx="4195266" cy="194310"/>
          </a:xfrm>
          <a:prstGeom prst="rect">
            <a:avLst/>
          </a:prstGeom>
          <a:noFill/>
        </p:spPr>
        <p:txBody>
          <a:bodyPr wrap="none" lIns="0" rIns="0" tIns="0" bIns="0">
            <a:spAutoFit/>
          </a:bodyPr>
          <a:lstStyle/>
          <a:p>
            <a:r>
              <a:rPr sz="1150" b="0">
                <a:solidFill>
                  <a:srgbClr val="2E2E2E"/>
                </a:solidFill>
                <a:latin typeface="Calibri"/>
              </a:rPr>
              <a:t>higher volume than North America in 2036. Among removable partial</a:t>
            </a:r>
          </a:p>
        </p:txBody>
      </p:sp>
      <p:sp>
        <p:nvSpPr>
          <p:cNvPr id="57" name="TextBox 56"/>
          <p:cNvSpPr txBox="1"/>
          <p:nvPr/>
        </p:nvSpPr>
        <p:spPr>
          <a:xfrm>
            <a:off x="7239000" y="1750695"/>
            <a:ext cx="4484513" cy="194310"/>
          </a:xfrm>
          <a:prstGeom prst="rect">
            <a:avLst/>
          </a:prstGeom>
          <a:noFill/>
        </p:spPr>
        <p:txBody>
          <a:bodyPr wrap="none" lIns="0" rIns="0" tIns="0" bIns="0">
            <a:spAutoFit/>
          </a:bodyPr>
          <a:lstStyle/>
          <a:p>
            <a:r>
              <a:rPr sz="1150" b="0">
                <a:solidFill>
                  <a:srgbClr val="2E2E2E"/>
                </a:solidFill>
                <a:latin typeface="Calibri"/>
              </a:rPr>
              <a:t>dentures by region, South Asia &amp; Pacific is expected to witness the highest</a:t>
            </a:r>
          </a:p>
        </p:txBody>
      </p:sp>
      <p:sp>
        <p:nvSpPr>
          <p:cNvPr id="58" name="TextBox 57"/>
          <p:cNvSpPr txBox="1"/>
          <p:nvPr/>
        </p:nvSpPr>
        <p:spPr>
          <a:xfrm>
            <a:off x="7239000" y="1925955"/>
            <a:ext cx="564536" cy="194310"/>
          </a:xfrm>
          <a:prstGeom prst="rect">
            <a:avLst/>
          </a:prstGeom>
          <a:noFill/>
        </p:spPr>
        <p:txBody>
          <a:bodyPr wrap="none" lIns="0" rIns="0" tIns="0" bIns="0">
            <a:spAutoFit/>
          </a:bodyPr>
          <a:lstStyle/>
          <a:p>
            <a:r>
              <a:rPr sz="1150" b="0">
                <a:solidFill>
                  <a:srgbClr val="2E2E2E"/>
                </a:solidFill>
                <a:latin typeface="Calibri"/>
              </a:rPr>
              <a:t>CAGR of</a:t>
            </a:r>
          </a:p>
        </p:txBody>
      </p:sp>
      <p:pic>
        <p:nvPicPr>
          <p:cNvPr id="59" name="Picture 58" descr="lock.png"/>
          <p:cNvPicPr>
            <a:picLocks noChangeAspect="1"/>
          </p:cNvPicPr>
          <p:nvPr/>
        </p:nvPicPr>
        <p:blipFill>
          <a:blip r:embed="rId5"/>
          <a:stretch>
            <a:fillRect/>
          </a:stretch>
        </p:blipFill>
        <p:spPr>
          <a:xfrm>
            <a:off x="7752690" y="1915731"/>
            <a:ext cx="134549" cy="195707"/>
          </a:xfrm>
          <a:prstGeom prst="rect">
            <a:avLst/>
          </a:prstGeom>
        </p:spPr>
      </p:pic>
      <p:sp>
        <p:nvSpPr>
          <p:cNvPr id="60" name="TextBox 59"/>
          <p:cNvSpPr txBox="1"/>
          <p:nvPr/>
        </p:nvSpPr>
        <p:spPr>
          <a:xfrm>
            <a:off x="7927800" y="192595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61" name="TextBox 60"/>
          <p:cNvSpPr txBox="1"/>
          <p:nvPr/>
        </p:nvSpPr>
        <p:spPr>
          <a:xfrm>
            <a:off x="7239000" y="2153793"/>
            <a:ext cx="4343883" cy="194310"/>
          </a:xfrm>
          <a:prstGeom prst="rect">
            <a:avLst/>
          </a:prstGeom>
          <a:noFill/>
        </p:spPr>
        <p:txBody>
          <a:bodyPr wrap="none" lIns="0" rIns="0" tIns="0" bIns="0">
            <a:spAutoFit/>
          </a:bodyPr>
          <a:lstStyle/>
          <a:p>
            <a:r>
              <a:rPr sz="1150" b="0">
                <a:solidFill>
                  <a:srgbClr val="2E2E2E"/>
                </a:solidFill>
                <a:latin typeface="Calibri"/>
              </a:rPr>
              <a:t>In terms of volume share by region, Europe is expected to dominate the</a:t>
            </a:r>
          </a:p>
        </p:txBody>
      </p:sp>
      <p:sp>
        <p:nvSpPr>
          <p:cNvPr id="62" name="TextBox 61"/>
          <p:cNvSpPr txBox="1"/>
          <p:nvPr/>
        </p:nvSpPr>
        <p:spPr>
          <a:xfrm>
            <a:off x="7239000" y="2329053"/>
            <a:ext cx="999852" cy="194310"/>
          </a:xfrm>
          <a:prstGeom prst="rect">
            <a:avLst/>
          </a:prstGeom>
          <a:noFill/>
        </p:spPr>
        <p:txBody>
          <a:bodyPr wrap="none" lIns="0" rIns="0" tIns="0" bIns="0">
            <a:spAutoFit/>
          </a:bodyPr>
          <a:lstStyle/>
          <a:p>
            <a:r>
              <a:rPr sz="1150" b="0">
                <a:solidFill>
                  <a:srgbClr val="2E2E2E"/>
                </a:solidFill>
                <a:latin typeface="Calibri"/>
              </a:rPr>
              <a:t>market, gaining</a:t>
            </a:r>
          </a:p>
        </p:txBody>
      </p:sp>
      <p:pic>
        <p:nvPicPr>
          <p:cNvPr id="63" name="Picture 62" descr="lock.png"/>
          <p:cNvPicPr>
            <a:picLocks noChangeAspect="1"/>
          </p:cNvPicPr>
          <p:nvPr/>
        </p:nvPicPr>
        <p:blipFill>
          <a:blip r:embed="rId5"/>
          <a:stretch>
            <a:fillRect/>
          </a:stretch>
        </p:blipFill>
        <p:spPr>
          <a:xfrm>
            <a:off x="8188006" y="2318829"/>
            <a:ext cx="134549" cy="195707"/>
          </a:xfrm>
          <a:prstGeom prst="rect">
            <a:avLst/>
          </a:prstGeom>
        </p:spPr>
      </p:pic>
      <p:sp>
        <p:nvSpPr>
          <p:cNvPr id="64" name="TextBox 63"/>
          <p:cNvSpPr txBox="1"/>
          <p:nvPr/>
        </p:nvSpPr>
        <p:spPr>
          <a:xfrm>
            <a:off x="8363115" y="2329053"/>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65" name="Picture 64" descr="lock.png"/>
          <p:cNvPicPr>
            <a:picLocks noChangeAspect="1"/>
          </p:cNvPicPr>
          <p:nvPr/>
        </p:nvPicPr>
        <p:blipFill>
          <a:blip r:embed="rId5"/>
          <a:stretch>
            <a:fillRect/>
          </a:stretch>
        </p:blipFill>
        <p:spPr>
          <a:xfrm>
            <a:off x="9758258" y="2318829"/>
            <a:ext cx="134549" cy="195707"/>
          </a:xfrm>
          <a:prstGeom prst="rect">
            <a:avLst/>
          </a:prstGeom>
        </p:spPr>
      </p:pic>
      <p:sp>
        <p:nvSpPr>
          <p:cNvPr id="66" name="TextBox 65"/>
          <p:cNvSpPr txBox="1"/>
          <p:nvPr/>
        </p:nvSpPr>
        <p:spPr>
          <a:xfrm>
            <a:off x="9933367" y="2329053"/>
            <a:ext cx="1327608" cy="194310"/>
          </a:xfrm>
          <a:prstGeom prst="rect">
            <a:avLst/>
          </a:prstGeom>
          <a:noFill/>
        </p:spPr>
        <p:txBody>
          <a:bodyPr wrap="none" lIns="0" rIns="0" tIns="0" bIns="0">
            <a:spAutoFit/>
          </a:bodyPr>
          <a:lstStyle/>
          <a:p>
            <a:r>
              <a:rPr sz="1150" b="0">
                <a:solidFill>
                  <a:srgbClr val="2E2E2E"/>
                </a:solidFill>
                <a:latin typeface="Calibri"/>
              </a:rPr>
              <a:t>share by 2036. North</a:t>
            </a:r>
          </a:p>
        </p:txBody>
      </p:sp>
      <p:sp>
        <p:nvSpPr>
          <p:cNvPr id="67" name="TextBox 66"/>
          <p:cNvSpPr txBox="1"/>
          <p:nvPr/>
        </p:nvSpPr>
        <p:spPr>
          <a:xfrm>
            <a:off x="7239000" y="2504313"/>
            <a:ext cx="1702147" cy="194310"/>
          </a:xfrm>
          <a:prstGeom prst="rect">
            <a:avLst/>
          </a:prstGeom>
          <a:noFill/>
        </p:spPr>
        <p:txBody>
          <a:bodyPr wrap="none" lIns="0" rIns="0" tIns="0" bIns="0">
            <a:spAutoFit/>
          </a:bodyPr>
          <a:lstStyle/>
          <a:p>
            <a:r>
              <a:rPr sz="1150" b="0">
                <a:solidFill>
                  <a:srgbClr val="2E2E2E"/>
                </a:solidFill>
                <a:latin typeface="Calibri"/>
              </a:rPr>
              <a:t>America is expected to lose</a:t>
            </a:r>
          </a:p>
        </p:txBody>
      </p:sp>
      <p:pic>
        <p:nvPicPr>
          <p:cNvPr id="68" name="Picture 67" descr="lock.png"/>
          <p:cNvPicPr>
            <a:picLocks noChangeAspect="1"/>
          </p:cNvPicPr>
          <p:nvPr/>
        </p:nvPicPr>
        <p:blipFill>
          <a:blip r:embed="rId5"/>
          <a:stretch>
            <a:fillRect/>
          </a:stretch>
        </p:blipFill>
        <p:spPr>
          <a:xfrm>
            <a:off x="8890301" y="2494089"/>
            <a:ext cx="134549" cy="195707"/>
          </a:xfrm>
          <a:prstGeom prst="rect">
            <a:avLst/>
          </a:prstGeom>
        </p:spPr>
      </p:pic>
      <p:sp>
        <p:nvSpPr>
          <p:cNvPr id="69" name="TextBox 68"/>
          <p:cNvSpPr txBox="1"/>
          <p:nvPr/>
        </p:nvSpPr>
        <p:spPr>
          <a:xfrm>
            <a:off x="9065410" y="2504313"/>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70" name="Picture 69" descr="lock.png"/>
          <p:cNvPicPr>
            <a:picLocks noChangeAspect="1"/>
          </p:cNvPicPr>
          <p:nvPr/>
        </p:nvPicPr>
        <p:blipFill>
          <a:blip r:embed="rId5"/>
          <a:stretch>
            <a:fillRect/>
          </a:stretch>
        </p:blipFill>
        <p:spPr>
          <a:xfrm>
            <a:off x="7224920" y="2669349"/>
            <a:ext cx="134549" cy="195707"/>
          </a:xfrm>
          <a:prstGeom prst="rect">
            <a:avLst/>
          </a:prstGeom>
        </p:spPr>
      </p:pic>
      <p:sp>
        <p:nvSpPr>
          <p:cNvPr id="71" name="TextBox 70"/>
          <p:cNvSpPr txBox="1"/>
          <p:nvPr/>
        </p:nvSpPr>
        <p:spPr>
          <a:xfrm>
            <a:off x="7400029" y="267957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72" name="lockshield_13"/>
          <p:cNvSpPr/>
          <p:nvPr/>
        </p:nvSpPr>
        <p:spPr>
          <a:xfrm>
            <a:off x="238125" y="1409700"/>
            <a:ext cx="4236720" cy="40481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Analysis, By Region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value share by region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Region,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589119"/>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4712970" y="158435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508157"/>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Middle East &amp; Africa</a:t>
            </a:r>
          </a:p>
        </p:txBody>
      </p:sp>
      <p:sp>
        <p:nvSpPr>
          <p:cNvPr id="19" name="BPS Value 1"/>
          <p:cNvSpPr txBox="1"/>
          <p:nvPr/>
        </p:nvSpPr>
        <p:spPr>
          <a:xfrm>
            <a:off x="6305550" y="1570069"/>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551045" y="1868603"/>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4712970" y="186384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1787640"/>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Latin America</a:t>
            </a:r>
          </a:p>
        </p:txBody>
      </p:sp>
      <p:sp>
        <p:nvSpPr>
          <p:cNvPr id="23" name="BPS Value 2"/>
          <p:cNvSpPr txBox="1"/>
          <p:nvPr/>
        </p:nvSpPr>
        <p:spPr>
          <a:xfrm>
            <a:off x="6305550" y="1849553"/>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551045" y="2255733"/>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4712970" y="225097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4855845" y="2174770"/>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East Asia</a:t>
            </a:r>
          </a:p>
        </p:txBody>
      </p:sp>
      <p:sp>
        <p:nvSpPr>
          <p:cNvPr id="27" name="BPS Value 3"/>
          <p:cNvSpPr txBox="1"/>
          <p:nvPr/>
        </p:nvSpPr>
        <p:spPr>
          <a:xfrm>
            <a:off x="6305550" y="2236683"/>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FMI Legend Chip"/>
          <p:cNvSpPr/>
          <p:nvPr/>
        </p:nvSpPr>
        <p:spPr>
          <a:xfrm>
            <a:off x="4551045" y="2729878"/>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4712970" y="272511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4855845" y="2648916"/>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South Asia &amp; Pacific</a:t>
            </a:r>
          </a:p>
        </p:txBody>
      </p:sp>
      <p:sp>
        <p:nvSpPr>
          <p:cNvPr id="31" name="BPS Value 4"/>
          <p:cNvSpPr txBox="1"/>
          <p:nvPr/>
        </p:nvSpPr>
        <p:spPr>
          <a:xfrm>
            <a:off x="6305550" y="2710828"/>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2" name="FMI Legend Chip"/>
          <p:cNvSpPr/>
          <p:nvPr/>
        </p:nvSpPr>
        <p:spPr>
          <a:xfrm>
            <a:off x="4551045" y="3494269"/>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4712970" y="348950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4855845" y="3413306"/>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Europe</a:t>
            </a:r>
          </a:p>
        </p:txBody>
      </p:sp>
      <p:sp>
        <p:nvSpPr>
          <p:cNvPr id="35" name="BPS Value 5"/>
          <p:cNvSpPr txBox="1"/>
          <p:nvPr/>
        </p:nvSpPr>
        <p:spPr>
          <a:xfrm>
            <a:off x="6305550" y="3475219"/>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6" name="FMI Legend Chip"/>
          <p:cNvSpPr/>
          <p:nvPr/>
        </p:nvSpPr>
        <p:spPr>
          <a:xfrm>
            <a:off x="4551045" y="457420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rot="10800000">
            <a:off x="4712970" y="456943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4855845" y="4493239"/>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North America</a:t>
            </a:r>
          </a:p>
        </p:txBody>
      </p:sp>
      <p:sp>
        <p:nvSpPr>
          <p:cNvPr id="39" name="BPS Value 6"/>
          <p:cNvSpPr txBox="1"/>
          <p:nvPr/>
        </p:nvSpPr>
        <p:spPr>
          <a:xfrm>
            <a:off x="6305550" y="4555152"/>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40" name="Rounded Rectangle 39"/>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42" name="Rectangle 41"/>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44" name="Rounded Rectangle 43"/>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(US$ MN)</a:t>
            </a:r>
          </a:p>
          <a:p>
            <a:pPr algn="ctr">
              <a:lnSpc>
                <a:spcPct val="95000"/>
              </a:lnSpc>
            </a:pPr>
            <a:r>
              <a:rPr sz="2000" b="1">
                <a:solidFill>
                  <a:srgbClr val="0E72AE"/>
                </a:solidFill>
                <a:latin typeface="Calibri"/>
              </a:rPr>
              <a:t>1,125</a:t>
            </a:r>
          </a:p>
        </p:txBody>
      </p:sp>
      <p:sp>
        <p:nvSpPr>
          <p:cNvPr id="45" name="Rounded Rectangle 44"/>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(US$ MN)</a:t>
            </a:r>
          </a:p>
          <a:p>
            <a:pPr algn="ctr">
              <a:lnSpc>
                <a:spcPct val="95000"/>
              </a:lnSpc>
            </a:pPr>
            <a:r>
              <a:rPr sz="2000" b="1">
                <a:solidFill>
                  <a:srgbClr val="0E72AE"/>
                </a:solidFill>
                <a:latin typeface="Calibri"/>
              </a:rPr>
              <a:t>1,731</a:t>
            </a:r>
          </a:p>
        </p:txBody>
      </p:sp>
      <p:sp>
        <p:nvSpPr>
          <p:cNvPr id="46" name="Rounded Rectangle 45"/>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4.4%</a:t>
            </a:r>
          </a:p>
        </p:txBody>
      </p:sp>
      <p:sp>
        <p:nvSpPr>
          <p:cNvPr id="47" name="TextBox 4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8" name="Picture 47" descr="lock.png"/>
          <p:cNvPicPr>
            <a:picLocks noChangeAspect="1"/>
          </p:cNvPicPr>
          <p:nvPr/>
        </p:nvPicPr>
        <p:blipFill>
          <a:blip r:embed="rId5"/>
          <a:stretch>
            <a:fillRect/>
          </a:stretch>
        </p:blipFill>
        <p:spPr>
          <a:xfrm>
            <a:off x="2333863" y="3121818"/>
            <a:ext cx="343793" cy="500062"/>
          </a:xfrm>
          <a:prstGeom prst="rect">
            <a:avLst/>
          </a:prstGeom>
        </p:spPr>
      </p:pic>
      <p:sp>
        <p:nvSpPr>
          <p:cNvPr id="49" name="TextBox 48"/>
          <p:cNvSpPr txBox="1"/>
          <p:nvPr/>
        </p:nvSpPr>
        <p:spPr>
          <a:xfrm>
            <a:off x="7239000" y="1400175"/>
            <a:ext cx="4437732" cy="194310"/>
          </a:xfrm>
          <a:prstGeom prst="rect">
            <a:avLst/>
          </a:prstGeom>
          <a:noFill/>
        </p:spPr>
        <p:txBody>
          <a:bodyPr wrap="none" lIns="0" rIns="0" tIns="0" bIns="0">
            <a:spAutoFit/>
          </a:bodyPr>
          <a:lstStyle/>
          <a:p>
            <a:r>
              <a:rPr sz="1150" b="0">
                <a:solidFill>
                  <a:srgbClr val="2E2E2E"/>
                </a:solidFill>
                <a:latin typeface="Calibri"/>
              </a:rPr>
              <a:t>North America removable partial dentures market is projected to register</a:t>
            </a:r>
          </a:p>
        </p:txBody>
      </p:sp>
      <p:pic>
        <p:nvPicPr>
          <p:cNvPr id="50" name="Picture 49" descr="lock.png"/>
          <p:cNvPicPr>
            <a:picLocks noChangeAspect="1"/>
          </p:cNvPicPr>
          <p:nvPr/>
        </p:nvPicPr>
        <p:blipFill>
          <a:blip r:embed="rId5"/>
          <a:stretch>
            <a:fillRect/>
          </a:stretch>
        </p:blipFill>
        <p:spPr>
          <a:xfrm>
            <a:off x="7224920" y="1565211"/>
            <a:ext cx="134549" cy="195707"/>
          </a:xfrm>
          <a:prstGeom prst="rect">
            <a:avLst/>
          </a:prstGeom>
        </p:spPr>
      </p:pic>
      <p:sp>
        <p:nvSpPr>
          <p:cNvPr id="51" name="TextBox 50"/>
          <p:cNvSpPr txBox="1"/>
          <p:nvPr/>
        </p:nvSpPr>
        <p:spPr>
          <a:xfrm>
            <a:off x="7400029" y="1575435"/>
            <a:ext cx="4300239" cy="194310"/>
          </a:xfrm>
          <a:prstGeom prst="rect">
            <a:avLst/>
          </a:prstGeom>
          <a:noFill/>
        </p:spPr>
        <p:txBody>
          <a:bodyPr wrap="none" lIns="0" rIns="0" tIns="0" bIns="0">
            <a:spAutoFit/>
          </a:bodyPr>
          <a:lstStyle/>
          <a:p>
            <a:r>
              <a:rPr sz="1150" b="0">
                <a:solidFill>
                  <a:srgbClr val="2E2E2E"/>
                </a:solidFill>
                <a:latin typeface="Calibri"/>
              </a:rPr>
              <a:t>X higher value than Europe in 2036. Among removable partial dentures</a:t>
            </a:r>
          </a:p>
        </p:txBody>
      </p:sp>
      <p:sp>
        <p:nvSpPr>
          <p:cNvPr id="52" name="TextBox 51"/>
          <p:cNvSpPr txBox="1"/>
          <p:nvPr/>
        </p:nvSpPr>
        <p:spPr>
          <a:xfrm>
            <a:off x="7239000" y="1750695"/>
            <a:ext cx="4439996" cy="194310"/>
          </a:xfrm>
          <a:prstGeom prst="rect">
            <a:avLst/>
          </a:prstGeom>
          <a:noFill/>
        </p:spPr>
        <p:txBody>
          <a:bodyPr wrap="none" lIns="0" rIns="0" tIns="0" bIns="0">
            <a:spAutoFit/>
          </a:bodyPr>
          <a:lstStyle/>
          <a:p>
            <a:r>
              <a:rPr sz="1150" b="0">
                <a:solidFill>
                  <a:srgbClr val="2E2E2E"/>
                </a:solidFill>
                <a:latin typeface="Calibri"/>
              </a:rPr>
              <a:t>by region, South Asia &amp; Pacific is expected to witness the highest CAGR of</a:t>
            </a:r>
          </a:p>
        </p:txBody>
      </p:sp>
      <p:pic>
        <p:nvPicPr>
          <p:cNvPr id="53" name="Picture 52" descr="lock.png"/>
          <p:cNvPicPr>
            <a:picLocks noChangeAspect="1"/>
          </p:cNvPicPr>
          <p:nvPr/>
        </p:nvPicPr>
        <p:blipFill>
          <a:blip r:embed="rId5"/>
          <a:stretch>
            <a:fillRect/>
          </a:stretch>
        </p:blipFill>
        <p:spPr>
          <a:xfrm>
            <a:off x="11628150" y="1740471"/>
            <a:ext cx="134549" cy="195707"/>
          </a:xfrm>
          <a:prstGeom prst="rect">
            <a:avLst/>
          </a:prstGeom>
        </p:spPr>
      </p:pic>
      <p:sp>
        <p:nvSpPr>
          <p:cNvPr id="54" name="TextBox 53"/>
          <p:cNvSpPr txBox="1"/>
          <p:nvPr/>
        </p:nvSpPr>
        <p:spPr>
          <a:xfrm>
            <a:off x="7239000" y="192595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55" name="TextBox 54"/>
          <p:cNvSpPr txBox="1"/>
          <p:nvPr/>
        </p:nvSpPr>
        <p:spPr>
          <a:xfrm>
            <a:off x="7239000" y="2153793"/>
            <a:ext cx="4648200" cy="194310"/>
          </a:xfrm>
          <a:prstGeom prst="rect">
            <a:avLst/>
          </a:prstGeom>
          <a:noFill/>
        </p:spPr>
        <p:txBody>
          <a:bodyPr wrap="none" lIns="0" rIns="0" tIns="0" bIns="0">
            <a:spAutoFit/>
          </a:bodyPr>
          <a:lstStyle/>
          <a:p>
            <a:r>
              <a:rPr sz="1150" b="0">
                <a:solidFill>
                  <a:srgbClr val="2E2E2E"/>
                </a:solidFill>
                <a:latin typeface="Calibri"/>
              </a:rPr>
              <a:t>In terms of value share by region, North America is expected to dominate the</a:t>
            </a:r>
          </a:p>
        </p:txBody>
      </p:sp>
      <p:sp>
        <p:nvSpPr>
          <p:cNvPr id="56" name="TextBox 55"/>
          <p:cNvSpPr txBox="1"/>
          <p:nvPr/>
        </p:nvSpPr>
        <p:spPr>
          <a:xfrm>
            <a:off x="7239000" y="2329053"/>
            <a:ext cx="918554" cy="194310"/>
          </a:xfrm>
          <a:prstGeom prst="rect">
            <a:avLst/>
          </a:prstGeom>
          <a:noFill/>
        </p:spPr>
        <p:txBody>
          <a:bodyPr wrap="none" lIns="0" rIns="0" tIns="0" bIns="0">
            <a:spAutoFit/>
          </a:bodyPr>
          <a:lstStyle/>
          <a:p>
            <a:r>
              <a:rPr sz="1150" b="0">
                <a:solidFill>
                  <a:srgbClr val="2E2E2E"/>
                </a:solidFill>
                <a:latin typeface="Calibri"/>
              </a:rPr>
              <a:t>market, losing</a:t>
            </a:r>
          </a:p>
        </p:txBody>
      </p:sp>
      <p:pic>
        <p:nvPicPr>
          <p:cNvPr id="57" name="Picture 56" descr="lock.png"/>
          <p:cNvPicPr>
            <a:picLocks noChangeAspect="1"/>
          </p:cNvPicPr>
          <p:nvPr/>
        </p:nvPicPr>
        <p:blipFill>
          <a:blip r:embed="rId5"/>
          <a:stretch>
            <a:fillRect/>
          </a:stretch>
        </p:blipFill>
        <p:spPr>
          <a:xfrm>
            <a:off x="8106708" y="2318829"/>
            <a:ext cx="134549" cy="195707"/>
          </a:xfrm>
          <a:prstGeom prst="rect">
            <a:avLst/>
          </a:prstGeom>
        </p:spPr>
      </p:pic>
      <p:sp>
        <p:nvSpPr>
          <p:cNvPr id="58" name="TextBox 57"/>
          <p:cNvSpPr txBox="1"/>
          <p:nvPr/>
        </p:nvSpPr>
        <p:spPr>
          <a:xfrm>
            <a:off x="8281817" y="2329053"/>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59" name="Picture 58" descr="lock.png"/>
          <p:cNvPicPr>
            <a:picLocks noChangeAspect="1"/>
          </p:cNvPicPr>
          <p:nvPr/>
        </p:nvPicPr>
        <p:blipFill>
          <a:blip r:embed="rId5"/>
          <a:stretch>
            <a:fillRect/>
          </a:stretch>
        </p:blipFill>
        <p:spPr>
          <a:xfrm>
            <a:off x="9676961" y="2318829"/>
            <a:ext cx="134549" cy="195707"/>
          </a:xfrm>
          <a:prstGeom prst="rect">
            <a:avLst/>
          </a:prstGeom>
        </p:spPr>
      </p:pic>
      <p:sp>
        <p:nvSpPr>
          <p:cNvPr id="60" name="TextBox 59"/>
          <p:cNvSpPr txBox="1"/>
          <p:nvPr/>
        </p:nvSpPr>
        <p:spPr>
          <a:xfrm>
            <a:off x="9852070" y="232905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61" name="lockshield_13"/>
          <p:cNvSpPr/>
          <p:nvPr/>
        </p:nvSpPr>
        <p:spPr>
          <a:xfrm>
            <a:off x="238125" y="1409700"/>
            <a:ext cx="4236720" cy="40481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Share Analysis, By Region Volume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share by region,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3019425"/>
          </a:xfrm>
          <a:prstGeom prst="roundRect">
            <a:avLst>
              <a:gd name="adj" fmla="val 25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Size, By Region (Units)</a:t>
            </a:r>
          </a:p>
        </p:txBody>
      </p:sp>
      <p:graphicFrame>
        <p:nvGraphicFramePr>
          <p:cNvPr id="13" name="Table 12"/>
          <p:cNvGraphicFramePr>
            <a:graphicFrameLocks noGrp="1"/>
          </p:cNvGraphicFramePr>
          <p:nvPr/>
        </p:nvGraphicFramePr>
        <p:xfrm>
          <a:off x="152400" y="1238250"/>
          <a:ext cx="11887208" cy="2552698"/>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Region</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6888">
                <a:tc>
                  <a:txBody>
                    <a:bodyPr wrap="none"/>
                    <a:lstStyle/>
                    <a:p>
                      <a:pPr algn="l"/>
                      <a:r>
                        <a:rPr sz="1100" b="1">
                          <a:solidFill>
                            <a:srgbClr val="2E2E2E"/>
                          </a:solidFill>
                          <a:latin typeface="Calibri"/>
                        </a:rPr>
                        <a:t>North America</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888">
                <a:tc>
                  <a:txBody>
                    <a:bodyPr wrap="none"/>
                    <a:lstStyle/>
                    <a:p>
                      <a:pPr algn="l"/>
                      <a:r>
                        <a:rPr sz="1100" b="1">
                          <a:solidFill>
                            <a:srgbClr val="2E2E2E"/>
                          </a:solidFill>
                          <a:latin typeface="Calibri"/>
                        </a:rPr>
                        <a:t>Latin America</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888">
                <a:tc>
                  <a:txBody>
                    <a:bodyPr wrap="none"/>
                    <a:lstStyle/>
                    <a:p>
                      <a:pPr algn="l"/>
                      <a:r>
                        <a:rPr sz="1100" b="1">
                          <a:solidFill>
                            <a:srgbClr val="2E2E2E"/>
                          </a:solidFill>
                          <a:latin typeface="Calibri"/>
                        </a:rPr>
                        <a:t>Europe</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888">
                <a:tc>
                  <a:txBody>
                    <a:bodyPr wrap="none"/>
                    <a:lstStyle/>
                    <a:p>
                      <a:pPr algn="l"/>
                      <a:r>
                        <a:rPr sz="1100" b="1">
                          <a:solidFill>
                            <a:srgbClr val="2E2E2E"/>
                          </a:solidFill>
                          <a:latin typeface="Calibri"/>
                        </a:rPr>
                        <a:t>East Asia</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439673">
                <a:tc>
                  <a:txBody>
                    <a:bodyPr wrap="none"/>
                    <a:lstStyle/>
                    <a:p>
                      <a:pPr algn="l"/>
                      <a:r>
                        <a:rPr sz="1100" b="1">
                          <a:solidFill>
                            <a:srgbClr val="2E2E2E"/>
                          </a:solidFill>
                          <a:latin typeface="Calibri"/>
                        </a:rPr>
                        <a:t>South Asia &amp;</a:t>
                      </a:r>
                      <a:endParaRPr sz="1100"/>
                    </a:p>
                    <a:p>
                      <a:pPr algn="l"/>
                      <a:r>
                        <a:rPr sz="1100" b="1">
                          <a:solidFill>
                            <a:srgbClr val="2E2E2E"/>
                          </a:solidFill>
                          <a:latin typeface="Calibri"/>
                        </a:rPr>
                        <a:t>Pacific</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673">
                <a:tc>
                  <a:txBody>
                    <a:bodyPr wrap="none"/>
                    <a:lstStyle/>
                    <a:p>
                      <a:pPr algn="l"/>
                      <a:r>
                        <a:rPr sz="1100" b="1">
                          <a:solidFill>
                            <a:srgbClr val="2E2E2E"/>
                          </a:solidFill>
                          <a:latin typeface="Calibri"/>
                        </a:rPr>
                        <a:t>Middle East &amp;</a:t>
                      </a:r>
                      <a:endParaRPr sz="1100"/>
                    </a:p>
                    <a:p>
                      <a:pPr algn="l"/>
                      <a:r>
                        <a:rPr sz="1100" b="1">
                          <a:solidFill>
                            <a:srgbClr val="2E2E2E"/>
                          </a:solidFill>
                          <a:latin typeface="Calibri"/>
                        </a:rPr>
                        <a:t>Africa</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888">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38004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33850"/>
            <a:ext cx="11906250" cy="2495550"/>
          </a:xfrm>
          <a:prstGeom prst="roundRect">
            <a:avLst>
              <a:gd name="adj" fmla="val 305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2195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Share Read-out, By Region</a:t>
            </a:r>
          </a:p>
        </p:txBody>
      </p:sp>
      <p:sp>
        <p:nvSpPr>
          <p:cNvPr id="17" name="Rectangle 16"/>
          <p:cNvSpPr/>
          <p:nvPr/>
        </p:nvSpPr>
        <p:spPr>
          <a:xfrm>
            <a:off x="276225" y="44577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543425"/>
            <a:ext cx="11639550" cy="20097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2467355"/>
            <a:ext cx="366712" cy="533400"/>
          </a:xfrm>
          <a:prstGeom prst="rect">
            <a:avLst/>
          </a:prstGeom>
        </p:spPr>
      </p:pic>
      <p:sp>
        <p:nvSpPr>
          <p:cNvPr id="21" name="TextBox 20"/>
          <p:cNvSpPr txBox="1"/>
          <p:nvPr/>
        </p:nvSpPr>
        <p:spPr>
          <a:xfrm>
            <a:off x="276225" y="4552950"/>
            <a:ext cx="3991595" cy="194310"/>
          </a:xfrm>
          <a:prstGeom prst="rect">
            <a:avLst/>
          </a:prstGeom>
          <a:noFill/>
        </p:spPr>
        <p:txBody>
          <a:bodyPr wrap="none" lIns="0" rIns="0" tIns="0" bIns="0">
            <a:spAutoFit/>
          </a:bodyPr>
          <a:lstStyle/>
          <a:p>
            <a:r>
              <a:rPr sz="1150" b="0">
                <a:solidFill>
                  <a:srgbClr val="2E2E2E"/>
                </a:solidFill>
                <a:latin typeface="Calibri"/>
              </a:rPr>
              <a:t>Europe removable partial dentures market is projected to register</a:t>
            </a:r>
          </a:p>
        </p:txBody>
      </p:sp>
      <p:pic>
        <p:nvPicPr>
          <p:cNvPr id="22" name="Picture 21" descr="lock.png"/>
          <p:cNvPicPr>
            <a:picLocks noChangeAspect="1"/>
          </p:cNvPicPr>
          <p:nvPr/>
        </p:nvPicPr>
        <p:blipFill>
          <a:blip r:embed="rId4"/>
          <a:stretch>
            <a:fillRect/>
          </a:stretch>
        </p:blipFill>
        <p:spPr>
          <a:xfrm>
            <a:off x="4216974" y="4542726"/>
            <a:ext cx="134549" cy="195707"/>
          </a:xfrm>
          <a:prstGeom prst="rect">
            <a:avLst/>
          </a:prstGeom>
        </p:spPr>
      </p:pic>
      <p:sp>
        <p:nvSpPr>
          <p:cNvPr id="23" name="TextBox 22"/>
          <p:cNvSpPr txBox="1"/>
          <p:nvPr/>
        </p:nvSpPr>
        <p:spPr>
          <a:xfrm>
            <a:off x="4392083" y="4552950"/>
            <a:ext cx="7403231" cy="194310"/>
          </a:xfrm>
          <a:prstGeom prst="rect">
            <a:avLst/>
          </a:prstGeom>
          <a:noFill/>
        </p:spPr>
        <p:txBody>
          <a:bodyPr wrap="none" lIns="0" rIns="0" tIns="0" bIns="0">
            <a:spAutoFit/>
          </a:bodyPr>
          <a:lstStyle/>
          <a:p>
            <a:r>
              <a:rPr sz="1150" b="0">
                <a:solidFill>
                  <a:srgbClr val="2E2E2E"/>
                </a:solidFill>
                <a:latin typeface="Calibri"/>
              </a:rPr>
              <a:t>X higher volume than North America in 2036. Among removable partial dentures by region, South Asia &amp; Pacific is expected</a:t>
            </a:r>
          </a:p>
        </p:txBody>
      </p:sp>
      <p:sp>
        <p:nvSpPr>
          <p:cNvPr id="24" name="TextBox 23"/>
          <p:cNvSpPr txBox="1"/>
          <p:nvPr/>
        </p:nvSpPr>
        <p:spPr>
          <a:xfrm>
            <a:off x="276225" y="4728210"/>
            <a:ext cx="1906941" cy="194310"/>
          </a:xfrm>
          <a:prstGeom prst="rect">
            <a:avLst/>
          </a:prstGeom>
          <a:noFill/>
        </p:spPr>
        <p:txBody>
          <a:bodyPr wrap="none" lIns="0" rIns="0" tIns="0" bIns="0">
            <a:spAutoFit/>
          </a:bodyPr>
          <a:lstStyle/>
          <a:p>
            <a:r>
              <a:rPr sz="1150" b="0">
                <a:solidFill>
                  <a:srgbClr val="2E2E2E"/>
                </a:solidFill>
                <a:latin typeface="Calibri"/>
              </a:rPr>
              <a:t>to witness the highest CAGR of</a:t>
            </a:r>
          </a:p>
        </p:txBody>
      </p:sp>
      <p:pic>
        <p:nvPicPr>
          <p:cNvPr id="25" name="Picture 24" descr="lock.png"/>
          <p:cNvPicPr>
            <a:picLocks noChangeAspect="1"/>
          </p:cNvPicPr>
          <p:nvPr/>
        </p:nvPicPr>
        <p:blipFill>
          <a:blip r:embed="rId4"/>
          <a:stretch>
            <a:fillRect/>
          </a:stretch>
        </p:blipFill>
        <p:spPr>
          <a:xfrm>
            <a:off x="2132320" y="4717986"/>
            <a:ext cx="134549" cy="195707"/>
          </a:xfrm>
          <a:prstGeom prst="rect">
            <a:avLst/>
          </a:prstGeom>
        </p:spPr>
      </p:pic>
      <p:sp>
        <p:nvSpPr>
          <p:cNvPr id="26" name="TextBox 25"/>
          <p:cNvSpPr txBox="1"/>
          <p:nvPr/>
        </p:nvSpPr>
        <p:spPr>
          <a:xfrm>
            <a:off x="2307429" y="47282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4956047"/>
            <a:ext cx="5300625" cy="194310"/>
          </a:xfrm>
          <a:prstGeom prst="rect">
            <a:avLst/>
          </a:prstGeom>
          <a:noFill/>
        </p:spPr>
        <p:txBody>
          <a:bodyPr wrap="none" lIns="0" rIns="0" tIns="0" bIns="0">
            <a:spAutoFit/>
          </a:bodyPr>
          <a:lstStyle/>
          <a:p>
            <a:r>
              <a:rPr sz="1150" b="0">
                <a:solidFill>
                  <a:srgbClr val="2E2E2E"/>
                </a:solidFill>
                <a:latin typeface="Calibri"/>
              </a:rPr>
              <a:t>In terms of volume share by region, Europe is expected to dominate the market, gaining</a:t>
            </a:r>
          </a:p>
        </p:txBody>
      </p:sp>
      <p:pic>
        <p:nvPicPr>
          <p:cNvPr id="28" name="Picture 27" descr="lock.png"/>
          <p:cNvPicPr>
            <a:picLocks noChangeAspect="1"/>
          </p:cNvPicPr>
          <p:nvPr/>
        </p:nvPicPr>
        <p:blipFill>
          <a:blip r:embed="rId4"/>
          <a:stretch>
            <a:fillRect/>
          </a:stretch>
        </p:blipFill>
        <p:spPr>
          <a:xfrm>
            <a:off x="5526004" y="4945824"/>
            <a:ext cx="134549" cy="195707"/>
          </a:xfrm>
          <a:prstGeom prst="rect">
            <a:avLst/>
          </a:prstGeom>
        </p:spPr>
      </p:pic>
      <p:sp>
        <p:nvSpPr>
          <p:cNvPr id="29" name="TextBox 28"/>
          <p:cNvSpPr txBox="1"/>
          <p:nvPr/>
        </p:nvSpPr>
        <p:spPr>
          <a:xfrm>
            <a:off x="5701113" y="49560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7096256" y="4945824"/>
            <a:ext cx="134549" cy="195707"/>
          </a:xfrm>
          <a:prstGeom prst="rect">
            <a:avLst/>
          </a:prstGeom>
        </p:spPr>
      </p:pic>
      <p:sp>
        <p:nvSpPr>
          <p:cNvPr id="31" name="TextBox 30"/>
          <p:cNvSpPr txBox="1"/>
          <p:nvPr/>
        </p:nvSpPr>
        <p:spPr>
          <a:xfrm>
            <a:off x="7271365" y="4956047"/>
            <a:ext cx="2986645" cy="194310"/>
          </a:xfrm>
          <a:prstGeom prst="rect">
            <a:avLst/>
          </a:prstGeom>
          <a:noFill/>
        </p:spPr>
        <p:txBody>
          <a:bodyPr wrap="none" lIns="0" rIns="0" tIns="0" bIns="0">
            <a:spAutoFit/>
          </a:bodyPr>
          <a:lstStyle/>
          <a:p>
            <a:r>
              <a:rPr sz="1150" b="0">
                <a:solidFill>
                  <a:srgbClr val="2E2E2E"/>
                </a:solidFill>
                <a:latin typeface="Calibri"/>
              </a:rPr>
              <a:t>share by 2036. North America is expected to lose</a:t>
            </a:r>
          </a:p>
        </p:txBody>
      </p:sp>
      <p:pic>
        <p:nvPicPr>
          <p:cNvPr id="32" name="Picture 31" descr="lock.png"/>
          <p:cNvPicPr>
            <a:picLocks noChangeAspect="1"/>
          </p:cNvPicPr>
          <p:nvPr/>
        </p:nvPicPr>
        <p:blipFill>
          <a:blip r:embed="rId4"/>
          <a:stretch>
            <a:fillRect/>
          </a:stretch>
        </p:blipFill>
        <p:spPr>
          <a:xfrm>
            <a:off x="10207165" y="4945824"/>
            <a:ext cx="134549" cy="195707"/>
          </a:xfrm>
          <a:prstGeom prst="rect">
            <a:avLst/>
          </a:prstGeom>
        </p:spPr>
      </p:pic>
      <p:sp>
        <p:nvSpPr>
          <p:cNvPr id="33" name="TextBox 32"/>
          <p:cNvSpPr txBox="1"/>
          <p:nvPr/>
        </p:nvSpPr>
        <p:spPr>
          <a:xfrm>
            <a:off x="10382274" y="4956047"/>
            <a:ext cx="829840" cy="194310"/>
          </a:xfrm>
          <a:prstGeom prst="rect">
            <a:avLst/>
          </a:prstGeom>
          <a:noFill/>
        </p:spPr>
        <p:txBody>
          <a:bodyPr wrap="none" lIns="0" rIns="0" tIns="0" bIns="0">
            <a:spAutoFit/>
          </a:bodyPr>
          <a:lstStyle/>
          <a:p>
            <a:r>
              <a:rPr sz="1150" b="0">
                <a:solidFill>
                  <a:srgbClr val="2E2E2E"/>
                </a:solidFill>
                <a:latin typeface="Calibri"/>
              </a:rPr>
              <a:t>BPS over the</a:t>
            </a:r>
          </a:p>
        </p:txBody>
      </p:sp>
      <p:sp>
        <p:nvSpPr>
          <p:cNvPr id="34" name="TextBox 33"/>
          <p:cNvSpPr txBox="1"/>
          <p:nvPr/>
        </p:nvSpPr>
        <p:spPr>
          <a:xfrm>
            <a:off x="276225" y="5131307"/>
            <a:ext cx="1851620" cy="194310"/>
          </a:xfrm>
          <a:prstGeom prst="rect">
            <a:avLst/>
          </a:prstGeom>
          <a:noFill/>
        </p:spPr>
        <p:txBody>
          <a:bodyPr wrap="none" lIns="0" rIns="0" tIns="0" bIns="0">
            <a:spAutoFit/>
          </a:bodyPr>
          <a:lstStyle/>
          <a:p>
            <a:r>
              <a:rPr sz="1150" b="0">
                <a:solidFill>
                  <a:srgbClr val="2E2E2E"/>
                </a:solidFill>
                <a:latin typeface="Calibri"/>
              </a:rPr>
              <a:t>forecast period to account for</a:t>
            </a:r>
          </a:p>
        </p:txBody>
      </p:sp>
      <p:pic>
        <p:nvPicPr>
          <p:cNvPr id="35" name="Picture 34" descr="lock.png"/>
          <p:cNvPicPr>
            <a:picLocks noChangeAspect="1"/>
          </p:cNvPicPr>
          <p:nvPr/>
        </p:nvPicPr>
        <p:blipFill>
          <a:blip r:embed="rId4"/>
          <a:stretch>
            <a:fillRect/>
          </a:stretch>
        </p:blipFill>
        <p:spPr>
          <a:xfrm>
            <a:off x="2076999" y="5121084"/>
            <a:ext cx="134549" cy="195707"/>
          </a:xfrm>
          <a:prstGeom prst="rect">
            <a:avLst/>
          </a:prstGeom>
        </p:spPr>
      </p:pic>
      <p:sp>
        <p:nvSpPr>
          <p:cNvPr id="36" name="TextBox 35"/>
          <p:cNvSpPr txBox="1"/>
          <p:nvPr/>
        </p:nvSpPr>
        <p:spPr>
          <a:xfrm>
            <a:off x="2252108" y="513130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Share Analysis, By Region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and share by region,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Size, By Region (US$ Mn)</a:t>
            </a:r>
          </a:p>
        </p:txBody>
      </p:sp>
      <p:graphicFrame>
        <p:nvGraphicFramePr>
          <p:cNvPr id="13" name="Table 12"/>
          <p:cNvGraphicFramePr>
            <a:graphicFrameLocks noGrp="1"/>
          </p:cNvGraphicFramePr>
          <p:nvPr/>
        </p:nvGraphicFramePr>
        <p:xfrm>
          <a:off x="152400" y="1238250"/>
          <a:ext cx="11887195" cy="1971675"/>
        </p:xfrm>
        <a:graphic>
          <a:graphicData uri="http://schemas.openxmlformats.org/drawingml/2006/table">
            <a:tbl>
              <a:tblPr>
                <a:tableStyleId>{5C22544A-7EE6-4342-B048-85BDC9FD1C3A}</a:tableStyleId>
              </a:tblPr>
              <a:tblGrid>
                <a:gridCol w="1475375"/>
                <a:gridCol w="612460"/>
                <a:gridCol w="612460"/>
                <a:gridCol w="612460"/>
                <a:gridCol w="612460"/>
                <a:gridCol w="612460"/>
                <a:gridCol w="612460"/>
                <a:gridCol w="612460"/>
                <a:gridCol w="612460"/>
                <a:gridCol w="612460"/>
                <a:gridCol w="612460"/>
                <a:gridCol w="612460"/>
                <a:gridCol w="612460"/>
                <a:gridCol w="612460"/>
                <a:gridCol w="612460"/>
                <a:gridCol w="612460"/>
                <a:gridCol w="612460"/>
                <a:gridCol w="612460"/>
              </a:tblGrid>
              <a:tr h="246126">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507">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Latin America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East Asia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South Asia &amp; Pacific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Middle East &amp; Africa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1,078</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1,125</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1,731</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4.4%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219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52825"/>
            <a:ext cx="11906250" cy="3076575"/>
          </a:xfrm>
          <a:prstGeom prst="roundRect">
            <a:avLst>
              <a:gd name="adj" fmla="val 247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63855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Share Read-out, By Region</a:t>
            </a:r>
          </a:p>
        </p:txBody>
      </p:sp>
      <p:sp>
        <p:nvSpPr>
          <p:cNvPr id="17" name="Rectangle 16"/>
          <p:cNvSpPr/>
          <p:nvPr/>
        </p:nvSpPr>
        <p:spPr>
          <a:xfrm>
            <a:off x="276225" y="38766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62400"/>
            <a:ext cx="11639550" cy="25908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646995" y="2080450"/>
            <a:ext cx="366712" cy="533400"/>
          </a:xfrm>
          <a:prstGeom prst="rect">
            <a:avLst/>
          </a:prstGeom>
        </p:spPr>
      </p:pic>
      <p:sp>
        <p:nvSpPr>
          <p:cNvPr id="21" name="TextBox 20"/>
          <p:cNvSpPr txBox="1"/>
          <p:nvPr/>
        </p:nvSpPr>
        <p:spPr>
          <a:xfrm>
            <a:off x="276225" y="3971925"/>
            <a:ext cx="4437732" cy="194310"/>
          </a:xfrm>
          <a:prstGeom prst="rect">
            <a:avLst/>
          </a:prstGeom>
          <a:noFill/>
        </p:spPr>
        <p:txBody>
          <a:bodyPr wrap="none" lIns="0" rIns="0" tIns="0" bIns="0">
            <a:spAutoFit/>
          </a:bodyPr>
          <a:lstStyle/>
          <a:p>
            <a:r>
              <a:rPr sz="1150" b="0">
                <a:solidFill>
                  <a:srgbClr val="2E2E2E"/>
                </a:solidFill>
                <a:latin typeface="Calibri"/>
              </a:rPr>
              <a:t>North America removable partial dentures market is projected to register</a:t>
            </a:r>
          </a:p>
        </p:txBody>
      </p:sp>
      <p:pic>
        <p:nvPicPr>
          <p:cNvPr id="22" name="Picture 21" descr="lock.png"/>
          <p:cNvPicPr>
            <a:picLocks noChangeAspect="1"/>
          </p:cNvPicPr>
          <p:nvPr/>
        </p:nvPicPr>
        <p:blipFill>
          <a:blip r:embed="rId4"/>
          <a:stretch>
            <a:fillRect/>
          </a:stretch>
        </p:blipFill>
        <p:spPr>
          <a:xfrm>
            <a:off x="4663111" y="3961701"/>
            <a:ext cx="134549" cy="195707"/>
          </a:xfrm>
          <a:prstGeom prst="rect">
            <a:avLst/>
          </a:prstGeom>
        </p:spPr>
      </p:pic>
      <p:sp>
        <p:nvSpPr>
          <p:cNvPr id="23" name="TextBox 22"/>
          <p:cNvSpPr txBox="1"/>
          <p:nvPr/>
        </p:nvSpPr>
        <p:spPr>
          <a:xfrm>
            <a:off x="4838220" y="3971925"/>
            <a:ext cx="6992466" cy="194310"/>
          </a:xfrm>
          <a:prstGeom prst="rect">
            <a:avLst/>
          </a:prstGeom>
          <a:noFill/>
        </p:spPr>
        <p:txBody>
          <a:bodyPr wrap="none" lIns="0" rIns="0" tIns="0" bIns="0">
            <a:spAutoFit/>
          </a:bodyPr>
          <a:lstStyle/>
          <a:p>
            <a:r>
              <a:rPr sz="1150" b="0">
                <a:solidFill>
                  <a:srgbClr val="2E2E2E"/>
                </a:solidFill>
                <a:latin typeface="Calibri"/>
              </a:rPr>
              <a:t>X higher value than Europe in 2036. Among removable partial dentures by region, South Asia &amp; Pacific is expected to</a:t>
            </a:r>
          </a:p>
        </p:txBody>
      </p:sp>
      <p:sp>
        <p:nvSpPr>
          <p:cNvPr id="24" name="TextBox 23"/>
          <p:cNvSpPr txBox="1"/>
          <p:nvPr/>
        </p:nvSpPr>
        <p:spPr>
          <a:xfrm>
            <a:off x="276225" y="4147185"/>
            <a:ext cx="1747770" cy="194310"/>
          </a:xfrm>
          <a:prstGeom prst="rect">
            <a:avLst/>
          </a:prstGeom>
          <a:noFill/>
        </p:spPr>
        <p:txBody>
          <a:bodyPr wrap="none" lIns="0" rIns="0" tIns="0" bIns="0">
            <a:spAutoFit/>
          </a:bodyPr>
          <a:lstStyle/>
          <a:p>
            <a:r>
              <a:rPr sz="1150" b="0">
                <a:solidFill>
                  <a:srgbClr val="2E2E2E"/>
                </a:solidFill>
                <a:latin typeface="Calibri"/>
              </a:rPr>
              <a:t>witness the highest CAGR of</a:t>
            </a:r>
          </a:p>
        </p:txBody>
      </p:sp>
      <p:pic>
        <p:nvPicPr>
          <p:cNvPr id="25" name="Picture 24" descr="lock.png"/>
          <p:cNvPicPr>
            <a:picLocks noChangeAspect="1"/>
          </p:cNvPicPr>
          <p:nvPr/>
        </p:nvPicPr>
        <p:blipFill>
          <a:blip r:embed="rId4"/>
          <a:stretch>
            <a:fillRect/>
          </a:stretch>
        </p:blipFill>
        <p:spPr>
          <a:xfrm>
            <a:off x="1973149" y="4136961"/>
            <a:ext cx="134549" cy="195707"/>
          </a:xfrm>
          <a:prstGeom prst="rect">
            <a:avLst/>
          </a:prstGeom>
        </p:spPr>
      </p:pic>
      <p:sp>
        <p:nvSpPr>
          <p:cNvPr id="26" name="TextBox 25"/>
          <p:cNvSpPr txBox="1"/>
          <p:nvPr/>
        </p:nvSpPr>
        <p:spPr>
          <a:xfrm>
            <a:off x="2148258" y="414718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4375022"/>
            <a:ext cx="5541664" cy="194310"/>
          </a:xfrm>
          <a:prstGeom prst="rect">
            <a:avLst/>
          </a:prstGeom>
          <a:noFill/>
        </p:spPr>
        <p:txBody>
          <a:bodyPr wrap="none" lIns="0" rIns="0" tIns="0" bIns="0">
            <a:spAutoFit/>
          </a:bodyPr>
          <a:lstStyle/>
          <a:p>
            <a:r>
              <a:rPr sz="1150" b="0">
                <a:solidFill>
                  <a:srgbClr val="2E2E2E"/>
                </a:solidFill>
                <a:latin typeface="Calibri"/>
              </a:rPr>
              <a:t>In terms of value share by region, North America is expected to dominate the market, losing</a:t>
            </a:r>
          </a:p>
        </p:txBody>
      </p:sp>
      <p:pic>
        <p:nvPicPr>
          <p:cNvPr id="28" name="Picture 27" descr="lock.png"/>
          <p:cNvPicPr>
            <a:picLocks noChangeAspect="1"/>
          </p:cNvPicPr>
          <p:nvPr/>
        </p:nvPicPr>
        <p:blipFill>
          <a:blip r:embed="rId4"/>
          <a:stretch>
            <a:fillRect/>
          </a:stretch>
        </p:blipFill>
        <p:spPr>
          <a:xfrm>
            <a:off x="5767043" y="4364799"/>
            <a:ext cx="134549" cy="195707"/>
          </a:xfrm>
          <a:prstGeom prst="rect">
            <a:avLst/>
          </a:prstGeom>
        </p:spPr>
      </p:pic>
      <p:sp>
        <p:nvSpPr>
          <p:cNvPr id="29" name="TextBox 28"/>
          <p:cNvSpPr txBox="1"/>
          <p:nvPr/>
        </p:nvSpPr>
        <p:spPr>
          <a:xfrm>
            <a:off x="5942153" y="437502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7337296" y="4364799"/>
            <a:ext cx="134549" cy="195707"/>
          </a:xfrm>
          <a:prstGeom prst="rect">
            <a:avLst/>
          </a:prstGeom>
        </p:spPr>
      </p:pic>
      <p:sp>
        <p:nvSpPr>
          <p:cNvPr id="31" name="TextBox 30"/>
          <p:cNvSpPr txBox="1"/>
          <p:nvPr/>
        </p:nvSpPr>
        <p:spPr>
          <a:xfrm>
            <a:off x="7512405" y="437502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Trends, By Region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how regional volume and value shares shift over 2021–2036, highlighting who gains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Region (Units)</a:t>
            </a:r>
          </a:p>
        </p:txBody>
      </p:sp>
      <p:graphicFrame>
        <p:nvGraphicFramePr>
          <p:cNvPr id="13" name="Chart 12"/>
          <p:cNvGraphicFramePr>
            <a:graphicFrameLocks noGrp="1"/>
          </p:cNvGraphicFramePr>
          <p:nvPr/>
        </p:nvGraphicFramePr>
        <p:xfrm>
          <a:off x="238125" y="1266825"/>
          <a:ext cx="9448800"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9763125" y="1304925"/>
            <a:ext cx="2190750" cy="2333625"/>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FMI Dense Legend"/>
          <p:cNvSpPr txBox="1"/>
          <p:nvPr/>
        </p:nvSpPr>
        <p:spPr>
          <a:xfrm>
            <a:off x="9839325" y="1362075"/>
            <a:ext cx="2057400" cy="171450"/>
          </a:xfrm>
          <a:prstGeom prst="rect">
            <a:avLst/>
          </a:prstGeom>
          <a:noFill/>
        </p:spPr>
        <p:txBody>
          <a:bodyPr wrap="none">
            <a:spAutoFit/>
          </a:bodyPr>
          <a:lstStyle/>
          <a:p>
            <a:pPr/>
            <a:r>
              <a:rPr sz="850" b="1">
                <a:solidFill>
                  <a:srgbClr val="6C7A89"/>
                </a:solidFill>
                <a:latin typeface="Calibri"/>
              </a:rPr>
              <a:t/>
            </a:r>
          </a:p>
        </p:txBody>
      </p:sp>
      <p:sp>
        <p:nvSpPr>
          <p:cNvPr id="16" name="FMI Dense Legend"/>
          <p:cNvSpPr txBox="1"/>
          <p:nvPr/>
        </p:nvSpPr>
        <p:spPr>
          <a:xfrm>
            <a:off x="9839325" y="1533525"/>
            <a:ext cx="2057400" cy="2047875"/>
          </a:xfrm>
          <a:prstGeom prst="rect">
            <a:avLst/>
          </a:prstGeom>
          <a:noFill/>
        </p:spPr>
        <p:txBody>
          <a:bodyPr wrap="square">
            <a:spAutoFit/>
          </a:bodyPr>
          <a:lstStyle/>
          <a:p>
            <a:pPr>
              <a:spcBef>
                <a:spcPts val="500"/>
              </a:spcBef>
            </a:pPr>
            <a:r>
              <a:rPr sz="900">
                <a:solidFill>
                  <a:srgbClr val="9E7E0A"/>
                </a:solidFill>
                <a:latin typeface="Calibri"/>
              </a:rPr>
              <a:t>■  </a:t>
            </a:r>
            <a:r>
              <a:rPr sz="750">
                <a:solidFill>
                  <a:srgbClr val="2E2E2E"/>
                </a:solidFill>
                <a:latin typeface="Calibri"/>
              </a:rPr>
              <a:t>   Europe</a:t>
            </a:r>
          </a:p>
          <a:p>
            <a:pPr>
              <a:spcBef>
                <a:spcPts val="500"/>
              </a:spcBef>
            </a:pPr>
            <a:r>
              <a:rPr sz="900">
                <a:solidFill>
                  <a:srgbClr val="3D85C6"/>
                </a:solidFill>
                <a:latin typeface="Calibri"/>
              </a:rPr>
              <a:t>■  </a:t>
            </a:r>
            <a:r>
              <a:rPr sz="750">
                <a:solidFill>
                  <a:srgbClr val="2E2E2E"/>
                </a:solidFill>
                <a:latin typeface="Calibri"/>
              </a:rPr>
              <a:t>   North America</a:t>
            </a:r>
          </a:p>
          <a:p>
            <a:pPr>
              <a:spcBef>
                <a:spcPts val="500"/>
              </a:spcBef>
            </a:pPr>
            <a:r>
              <a:rPr sz="900">
                <a:solidFill>
                  <a:srgbClr val="008189"/>
                </a:solidFill>
                <a:latin typeface="Calibri"/>
              </a:rPr>
              <a:t>■  </a:t>
            </a:r>
            <a:r>
              <a:rPr sz="750">
                <a:solidFill>
                  <a:srgbClr val="2E2E2E"/>
                </a:solidFill>
                <a:latin typeface="Calibri"/>
              </a:rPr>
              <a:t>   South Asia &amp; Pacific</a:t>
            </a:r>
          </a:p>
          <a:p>
            <a:pPr>
              <a:spcBef>
                <a:spcPts val="500"/>
              </a:spcBef>
            </a:pPr>
            <a:r>
              <a:rPr sz="900">
                <a:solidFill>
                  <a:srgbClr val="40315E"/>
                </a:solidFill>
                <a:latin typeface="Calibri"/>
              </a:rPr>
              <a:t>■  </a:t>
            </a:r>
            <a:r>
              <a:rPr sz="750">
                <a:solidFill>
                  <a:srgbClr val="2E2E2E"/>
                </a:solidFill>
                <a:latin typeface="Calibri"/>
              </a:rPr>
              <a:t>   East Asia</a:t>
            </a:r>
          </a:p>
          <a:p>
            <a:pPr>
              <a:spcBef>
                <a:spcPts val="500"/>
              </a:spcBef>
            </a:pPr>
            <a:r>
              <a:rPr sz="900">
                <a:solidFill>
                  <a:srgbClr val="A35313"/>
                </a:solidFill>
                <a:latin typeface="Calibri"/>
              </a:rPr>
              <a:t>■  </a:t>
            </a:r>
            <a:r>
              <a:rPr sz="750">
                <a:solidFill>
                  <a:srgbClr val="2E2E2E"/>
                </a:solidFill>
                <a:latin typeface="Calibri"/>
              </a:rPr>
              <a:t>   Latin America</a:t>
            </a:r>
          </a:p>
          <a:p>
            <a:pPr>
              <a:spcBef>
                <a:spcPts val="500"/>
              </a:spcBef>
            </a:pPr>
            <a:r>
              <a:rPr sz="900">
                <a:solidFill>
                  <a:srgbClr val="808080"/>
                </a:solidFill>
                <a:latin typeface="Calibri"/>
              </a:rPr>
              <a:t>■  </a:t>
            </a:r>
            <a:r>
              <a:rPr sz="750">
                <a:solidFill>
                  <a:srgbClr val="2E2E2E"/>
                </a:solidFill>
                <a:latin typeface="Calibri"/>
              </a:rPr>
              <a:t>   Middle East &amp; Africa</a:t>
            </a:r>
          </a:p>
        </p:txBody>
      </p:sp>
      <p:sp>
        <p:nvSpPr>
          <p:cNvPr id="17" name="Rounded Rectangle 16"/>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Region (US$ Mn)</a:t>
            </a:r>
          </a:p>
        </p:txBody>
      </p:sp>
      <p:graphicFrame>
        <p:nvGraphicFramePr>
          <p:cNvPr id="19" name="Chart 18"/>
          <p:cNvGraphicFramePr>
            <a:graphicFrameLocks noGrp="1"/>
          </p:cNvGraphicFramePr>
          <p:nvPr/>
        </p:nvGraphicFramePr>
        <p:xfrm>
          <a:off x="238125" y="4152900"/>
          <a:ext cx="9448800" cy="2409825"/>
        </p:xfrm>
        <a:graphic>
          <a:graphicData uri="http://schemas.openxmlformats.org/drawingml/2006/chart">
            <c:chart xmlns:c="http://schemas.openxmlformats.org/drawingml/2006/chart" r:id="rId4"/>
          </a:graphicData>
        </a:graphic>
      </p:graphicFrame>
      <p:sp>
        <p:nvSpPr>
          <p:cNvPr id="20" name="Rounded Rectangle 19"/>
          <p:cNvSpPr/>
          <p:nvPr/>
        </p:nvSpPr>
        <p:spPr>
          <a:xfrm>
            <a:off x="9763125" y="4191000"/>
            <a:ext cx="2190750" cy="2333625"/>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MI Dense Legend"/>
          <p:cNvSpPr txBox="1"/>
          <p:nvPr/>
        </p:nvSpPr>
        <p:spPr>
          <a:xfrm>
            <a:off x="9839325" y="4248150"/>
            <a:ext cx="2057400" cy="171450"/>
          </a:xfrm>
          <a:prstGeom prst="rect">
            <a:avLst/>
          </a:prstGeom>
          <a:noFill/>
        </p:spPr>
        <p:txBody>
          <a:bodyPr wrap="none">
            <a:spAutoFit/>
          </a:bodyPr>
          <a:lstStyle/>
          <a:p>
            <a:pPr/>
            <a:r>
              <a:rPr sz="850" b="1">
                <a:solidFill>
                  <a:srgbClr val="6C7A89"/>
                </a:solidFill>
                <a:latin typeface="Calibri"/>
              </a:rPr>
              <a:t/>
            </a:r>
          </a:p>
        </p:txBody>
      </p:sp>
      <p:sp>
        <p:nvSpPr>
          <p:cNvPr id="22" name="FMI Dense Legend"/>
          <p:cNvSpPr txBox="1"/>
          <p:nvPr/>
        </p:nvSpPr>
        <p:spPr>
          <a:xfrm>
            <a:off x="9839325" y="4419600"/>
            <a:ext cx="2057400" cy="2047875"/>
          </a:xfrm>
          <a:prstGeom prst="rect">
            <a:avLst/>
          </a:prstGeom>
          <a:noFill/>
        </p:spPr>
        <p:txBody>
          <a:bodyPr wrap="square">
            <a:spAutoFit/>
          </a:bodyPr>
          <a:lstStyle/>
          <a:p>
            <a:pPr>
              <a:spcBef>
                <a:spcPts val="500"/>
              </a:spcBef>
            </a:pPr>
            <a:r>
              <a:rPr sz="900">
                <a:solidFill>
                  <a:srgbClr val="3D85C6"/>
                </a:solidFill>
                <a:latin typeface="Calibri"/>
              </a:rPr>
              <a:t>■  </a:t>
            </a:r>
            <a:r>
              <a:rPr sz="750">
                <a:solidFill>
                  <a:srgbClr val="2E2E2E"/>
                </a:solidFill>
                <a:latin typeface="Calibri"/>
              </a:rPr>
              <a:t>   North America</a:t>
            </a:r>
          </a:p>
          <a:p>
            <a:pPr>
              <a:spcBef>
                <a:spcPts val="500"/>
              </a:spcBef>
            </a:pPr>
            <a:r>
              <a:rPr sz="900">
                <a:solidFill>
                  <a:srgbClr val="9E7E0A"/>
                </a:solidFill>
                <a:latin typeface="Calibri"/>
              </a:rPr>
              <a:t>■  </a:t>
            </a:r>
            <a:r>
              <a:rPr sz="750">
                <a:solidFill>
                  <a:srgbClr val="2E2E2E"/>
                </a:solidFill>
                <a:latin typeface="Calibri"/>
              </a:rPr>
              <a:t>   Europe</a:t>
            </a:r>
          </a:p>
          <a:p>
            <a:pPr>
              <a:spcBef>
                <a:spcPts val="500"/>
              </a:spcBef>
            </a:pPr>
            <a:r>
              <a:rPr sz="900">
                <a:solidFill>
                  <a:srgbClr val="40315E"/>
                </a:solidFill>
                <a:latin typeface="Calibri"/>
              </a:rPr>
              <a:t>■  </a:t>
            </a:r>
            <a:r>
              <a:rPr sz="750">
                <a:solidFill>
                  <a:srgbClr val="2E2E2E"/>
                </a:solidFill>
                <a:latin typeface="Calibri"/>
              </a:rPr>
              <a:t>   South Asia &amp; Pacific</a:t>
            </a:r>
          </a:p>
          <a:p>
            <a:pPr>
              <a:spcBef>
                <a:spcPts val="500"/>
              </a:spcBef>
            </a:pPr>
            <a:r>
              <a:rPr sz="900">
                <a:solidFill>
                  <a:srgbClr val="008189"/>
                </a:solidFill>
                <a:latin typeface="Calibri"/>
              </a:rPr>
              <a:t>■  </a:t>
            </a:r>
            <a:r>
              <a:rPr sz="750">
                <a:solidFill>
                  <a:srgbClr val="2E2E2E"/>
                </a:solidFill>
                <a:latin typeface="Calibri"/>
              </a:rPr>
              <a:t>   East Asia</a:t>
            </a:r>
          </a:p>
          <a:p>
            <a:pPr>
              <a:spcBef>
                <a:spcPts val="500"/>
              </a:spcBef>
            </a:pPr>
            <a:r>
              <a:rPr sz="900">
                <a:solidFill>
                  <a:srgbClr val="A35313"/>
                </a:solidFill>
                <a:latin typeface="Calibri"/>
              </a:rPr>
              <a:t>■  </a:t>
            </a:r>
            <a:r>
              <a:rPr sz="750">
                <a:solidFill>
                  <a:srgbClr val="2E2E2E"/>
                </a:solidFill>
                <a:latin typeface="Calibri"/>
              </a:rPr>
              <a:t>   Latin America</a:t>
            </a:r>
          </a:p>
          <a:p>
            <a:pPr>
              <a:spcBef>
                <a:spcPts val="500"/>
              </a:spcBef>
            </a:pPr>
            <a:r>
              <a:rPr sz="900">
                <a:solidFill>
                  <a:srgbClr val="808080"/>
                </a:solidFill>
                <a:latin typeface="Calibri"/>
              </a:rPr>
              <a:t>■  </a:t>
            </a:r>
            <a:r>
              <a:rPr sz="750">
                <a:solidFill>
                  <a:srgbClr val="2E2E2E"/>
                </a:solidFill>
                <a:latin typeface="Calibri"/>
              </a:rPr>
              <a:t>   Middle East &amp; Africa</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24" name="TextBox 23"/>
          <p:cNvSpPr txBox="1"/>
          <p:nvPr/>
        </p:nvSpPr>
        <p:spPr>
          <a:xfrm>
            <a:off x="9930765" y="1407795"/>
            <a:ext cx="452511" cy="112318"/>
          </a:xfrm>
          <a:prstGeom prst="rect">
            <a:avLst/>
          </a:prstGeom>
          <a:noFill/>
        </p:spPr>
        <p:txBody>
          <a:bodyPr wrap="none" lIns="0" rIns="0" tIns="0" bIns="0">
            <a:spAutoFit/>
          </a:bodyPr>
          <a:lstStyle/>
          <a:p>
            <a:r>
              <a:rPr sz="611" b="1">
                <a:solidFill>
                  <a:srgbClr val="6C7A89"/>
                </a:solidFill>
                <a:latin typeface="Calibri"/>
              </a:rPr>
              <a:t>By segment</a:t>
            </a:r>
          </a:p>
        </p:txBody>
      </p:sp>
      <p:sp>
        <p:nvSpPr>
          <p:cNvPr id="25" name="TextBox 24"/>
          <p:cNvSpPr txBox="1"/>
          <p:nvPr/>
        </p:nvSpPr>
        <p:spPr>
          <a:xfrm>
            <a:off x="9930765" y="4293870"/>
            <a:ext cx="452511" cy="112318"/>
          </a:xfrm>
          <a:prstGeom prst="rect">
            <a:avLst/>
          </a:prstGeom>
          <a:noFill/>
        </p:spPr>
        <p:txBody>
          <a:bodyPr wrap="none" lIns="0" rIns="0" tIns="0" bIns="0">
            <a:spAutoFit/>
          </a:bodyPr>
          <a:lstStyle/>
          <a:p>
            <a:r>
              <a:rPr sz="611" b="1">
                <a:solidFill>
                  <a:srgbClr val="6C7A89"/>
                </a:solidFill>
                <a:latin typeface="Calibri"/>
              </a:rPr>
              <a:t>By segment</a:t>
            </a:r>
          </a:p>
        </p:txBody>
      </p:sp>
      <p:sp>
        <p:nvSpPr>
          <p:cNvPr id="26" name="lockshield_13"/>
          <p:cNvSpPr/>
          <p:nvPr/>
        </p:nvSpPr>
        <p:spPr>
          <a:xfrm>
            <a:off x="238125" y="1266825"/>
            <a:ext cx="9448800"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lockshield_19"/>
          <p:cNvSpPr/>
          <p:nvPr/>
        </p:nvSpPr>
        <p:spPr>
          <a:xfrm>
            <a:off x="238125" y="4152900"/>
            <a:ext cx="9448800"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Top 10 Countries (2036)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hierarchy of the global market in 2036, highlighting the leading countries within each region by value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by country  ·  2036 (US$ Mn)  ·  tile size = market value</a:t>
            </a:r>
          </a:p>
        </p:txBody>
      </p:sp>
      <p:sp>
        <p:nvSpPr>
          <p:cNvPr id="13" name="Rectangle 12"/>
          <p:cNvSpPr/>
          <p:nvPr/>
        </p:nvSpPr>
        <p:spPr>
          <a:xfrm>
            <a:off x="238125" y="1266825"/>
            <a:ext cx="3246532" cy="5305425"/>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U.S.</a:t>
            </a:r>
          </a:p>
          <a:p>
            <a:pPr algn="ctr"/>
            <a:r>
              <a:rPr sz="1100" b="0">
                <a:solidFill>
                  <a:srgbClr val="FFFFFF"/>
                </a:solidFill>
                <a:latin typeface="Calibri"/>
              </a:rPr>
              <a:t> </a:t>
            </a:r>
          </a:p>
        </p:txBody>
      </p:sp>
      <p:sp>
        <p:nvSpPr>
          <p:cNvPr id="14" name="Rectangle 13"/>
          <p:cNvSpPr/>
          <p:nvPr/>
        </p:nvSpPr>
        <p:spPr>
          <a:xfrm>
            <a:off x="3484657" y="1266825"/>
            <a:ext cx="3441005" cy="2887124"/>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Germany</a:t>
            </a:r>
          </a:p>
          <a:p>
            <a:pPr algn="ctr"/>
            <a:r>
              <a:rPr sz="1100" b="0">
                <a:solidFill>
                  <a:srgbClr val="FFFFFF"/>
                </a:solidFill>
                <a:latin typeface="Calibri"/>
              </a:rPr>
              <a:t> </a:t>
            </a:r>
          </a:p>
        </p:txBody>
      </p:sp>
      <p:sp>
        <p:nvSpPr>
          <p:cNvPr id="15" name="Rectangle 14"/>
          <p:cNvSpPr/>
          <p:nvPr/>
        </p:nvSpPr>
        <p:spPr>
          <a:xfrm>
            <a:off x="3484657" y="4153949"/>
            <a:ext cx="3441005" cy="2418301"/>
          </a:xfrm>
          <a:prstGeom prst="rect">
            <a:avLst/>
          </a:prstGeom>
          <a:solidFill>
            <a:srgbClr val="0081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Canada</a:t>
            </a:r>
          </a:p>
          <a:p>
            <a:pPr algn="ctr"/>
            <a:r>
              <a:rPr sz="1100" b="0">
                <a:solidFill>
                  <a:srgbClr val="FFFFFF"/>
                </a:solidFill>
                <a:latin typeface="Calibri"/>
              </a:rPr>
              <a:t> </a:t>
            </a:r>
          </a:p>
        </p:txBody>
      </p:sp>
      <p:sp>
        <p:nvSpPr>
          <p:cNvPr id="16" name="Rectangle 15"/>
          <p:cNvSpPr/>
          <p:nvPr/>
        </p:nvSpPr>
        <p:spPr>
          <a:xfrm>
            <a:off x="6925663" y="1266825"/>
            <a:ext cx="2853844" cy="2242469"/>
          </a:xfrm>
          <a:prstGeom prst="rect">
            <a:avLst/>
          </a:prstGeom>
          <a:solidFill>
            <a:srgbClr val="40315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China</a:t>
            </a:r>
          </a:p>
          <a:p>
            <a:pPr algn="ctr"/>
            <a:r>
              <a:rPr sz="1100" b="0">
                <a:solidFill>
                  <a:srgbClr val="FFFFFF"/>
                </a:solidFill>
                <a:latin typeface="Calibri"/>
              </a:rPr>
              <a:t> </a:t>
            </a:r>
          </a:p>
        </p:txBody>
      </p:sp>
      <p:sp>
        <p:nvSpPr>
          <p:cNvPr id="17" name="Rectangle 16"/>
          <p:cNvSpPr/>
          <p:nvPr/>
        </p:nvSpPr>
        <p:spPr>
          <a:xfrm>
            <a:off x="9779506" y="1266825"/>
            <a:ext cx="2174369" cy="2242469"/>
          </a:xfrm>
          <a:prstGeom prst="rect">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India</a:t>
            </a:r>
          </a:p>
          <a:p>
            <a:pPr algn="ctr"/>
            <a:r>
              <a:rPr sz="1100" b="0">
                <a:solidFill>
                  <a:srgbClr val="FFFFFF"/>
                </a:solidFill>
                <a:latin typeface="Calibri"/>
              </a:rPr>
              <a:t> </a:t>
            </a:r>
          </a:p>
        </p:txBody>
      </p:sp>
      <p:sp>
        <p:nvSpPr>
          <p:cNvPr id="18" name="Rectangle 17"/>
          <p:cNvSpPr/>
          <p:nvPr/>
        </p:nvSpPr>
        <p:spPr>
          <a:xfrm>
            <a:off x="6925663" y="3509294"/>
            <a:ext cx="2443098" cy="1641049"/>
          </a:xfrm>
          <a:prstGeom prst="rect">
            <a:avLst/>
          </a:prstGeom>
          <a:solidFill>
            <a:srgbClr val="80808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Brazil</a:t>
            </a:r>
          </a:p>
          <a:p>
            <a:pPr algn="ctr"/>
            <a:r>
              <a:rPr sz="1100" b="0">
                <a:solidFill>
                  <a:srgbClr val="FFFFFF"/>
                </a:solidFill>
                <a:latin typeface="Calibri"/>
              </a:rPr>
              <a:t> </a:t>
            </a:r>
          </a:p>
        </p:txBody>
      </p:sp>
      <p:sp>
        <p:nvSpPr>
          <p:cNvPr id="19" name="Rectangle 18"/>
          <p:cNvSpPr/>
          <p:nvPr/>
        </p:nvSpPr>
        <p:spPr>
          <a:xfrm>
            <a:off x="6925663" y="5150343"/>
            <a:ext cx="2443098" cy="1421907"/>
          </a:xfrm>
          <a:prstGeom prst="rect">
            <a:avLst/>
          </a:prstGeom>
          <a:solidFill>
            <a:srgbClr val="0E72A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U.K.</a:t>
            </a:r>
          </a:p>
          <a:p>
            <a:pPr algn="ctr"/>
            <a:r>
              <a:rPr sz="1100" b="0">
                <a:solidFill>
                  <a:srgbClr val="FFFFFF"/>
                </a:solidFill>
                <a:latin typeface="Calibri"/>
              </a:rPr>
              <a:t> </a:t>
            </a:r>
          </a:p>
        </p:txBody>
      </p:sp>
      <p:sp>
        <p:nvSpPr>
          <p:cNvPr id="20" name="Rectangle 19"/>
          <p:cNvSpPr/>
          <p:nvPr/>
        </p:nvSpPr>
        <p:spPr>
          <a:xfrm>
            <a:off x="9368761" y="3509294"/>
            <a:ext cx="1303924" cy="2110527"/>
          </a:xfrm>
          <a:prstGeom prst="rect">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Japan</a:t>
            </a:r>
          </a:p>
          <a:p>
            <a:pPr algn="ctr"/>
            <a:r>
              <a:rPr sz="1100" b="0">
                <a:solidFill>
                  <a:srgbClr val="FFFFFF"/>
                </a:solidFill>
                <a:latin typeface="Calibri"/>
              </a:rPr>
              <a:t> </a:t>
            </a:r>
          </a:p>
        </p:txBody>
      </p:sp>
      <p:sp>
        <p:nvSpPr>
          <p:cNvPr id="21" name="Rectangle 20"/>
          <p:cNvSpPr/>
          <p:nvPr/>
        </p:nvSpPr>
        <p:spPr>
          <a:xfrm>
            <a:off x="10672685" y="3509294"/>
            <a:ext cx="1281190" cy="2110527"/>
          </a:xfrm>
          <a:prstGeom prst="rect">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France</a:t>
            </a:r>
          </a:p>
          <a:p>
            <a:pPr algn="ctr"/>
            <a:r>
              <a:rPr sz="1100" b="0">
                <a:solidFill>
                  <a:srgbClr val="FFFFFF"/>
                </a:solidFill>
                <a:latin typeface="Calibri"/>
              </a:rPr>
              <a:t> </a:t>
            </a:r>
          </a:p>
        </p:txBody>
      </p:sp>
      <p:sp>
        <p:nvSpPr>
          <p:cNvPr id="22" name="Rectangle 21"/>
          <p:cNvSpPr/>
          <p:nvPr/>
        </p:nvSpPr>
        <p:spPr>
          <a:xfrm>
            <a:off x="9368761" y="5619821"/>
            <a:ext cx="2585114" cy="952429"/>
          </a:xfrm>
          <a:prstGeom prst="rect">
            <a:avLst/>
          </a:prstGeom>
          <a:solidFill>
            <a:srgbClr val="6C7A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Turkey</a:t>
            </a:r>
          </a:p>
          <a:p>
            <a:pPr algn="ctr"/>
            <a:r>
              <a:rPr sz="1100" b="0">
                <a:solidFill>
                  <a:srgbClr val="FFFFFF"/>
                </a:solidFill>
                <a:latin typeface="Calibri"/>
              </a:rPr>
              <a:t> </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1706952" y="3919537"/>
            <a:ext cx="308877" cy="449275"/>
          </a:xfrm>
          <a:prstGeom prst="rect">
            <a:avLst/>
          </a:prstGeom>
        </p:spPr>
      </p:pic>
      <p:pic>
        <p:nvPicPr>
          <p:cNvPr id="25" name="Picture 24" descr="lock.png"/>
          <p:cNvPicPr>
            <a:picLocks noChangeAspect="1"/>
          </p:cNvPicPr>
          <p:nvPr/>
        </p:nvPicPr>
        <p:blipFill>
          <a:blip r:embed="rId4"/>
          <a:stretch>
            <a:fillRect/>
          </a:stretch>
        </p:blipFill>
        <p:spPr>
          <a:xfrm>
            <a:off x="5050721" y="2710387"/>
            <a:ext cx="308877" cy="449275"/>
          </a:xfrm>
          <a:prstGeom prst="rect">
            <a:avLst/>
          </a:prstGeom>
        </p:spPr>
      </p:pic>
      <p:pic>
        <p:nvPicPr>
          <p:cNvPr id="26" name="Picture 25" descr="lock.png"/>
          <p:cNvPicPr>
            <a:picLocks noChangeAspect="1"/>
          </p:cNvPicPr>
          <p:nvPr/>
        </p:nvPicPr>
        <p:blipFill>
          <a:blip r:embed="rId4"/>
          <a:stretch>
            <a:fillRect/>
          </a:stretch>
        </p:blipFill>
        <p:spPr>
          <a:xfrm>
            <a:off x="5050721" y="5363099"/>
            <a:ext cx="308877" cy="449275"/>
          </a:xfrm>
          <a:prstGeom prst="rect">
            <a:avLst/>
          </a:prstGeom>
        </p:spPr>
      </p:pic>
      <p:pic>
        <p:nvPicPr>
          <p:cNvPr id="27" name="Picture 26" descr="lock.png"/>
          <p:cNvPicPr>
            <a:picLocks noChangeAspect="1"/>
          </p:cNvPicPr>
          <p:nvPr/>
        </p:nvPicPr>
        <p:blipFill>
          <a:blip r:embed="rId4"/>
          <a:stretch>
            <a:fillRect/>
          </a:stretch>
        </p:blipFill>
        <p:spPr>
          <a:xfrm>
            <a:off x="8198146" y="2388059"/>
            <a:ext cx="308877" cy="449275"/>
          </a:xfrm>
          <a:prstGeom prst="rect">
            <a:avLst/>
          </a:prstGeom>
        </p:spPr>
      </p:pic>
      <p:pic>
        <p:nvPicPr>
          <p:cNvPr id="28" name="Picture 27" descr="lock.png"/>
          <p:cNvPicPr>
            <a:picLocks noChangeAspect="1"/>
          </p:cNvPicPr>
          <p:nvPr/>
        </p:nvPicPr>
        <p:blipFill>
          <a:blip r:embed="rId4"/>
          <a:stretch>
            <a:fillRect/>
          </a:stretch>
        </p:blipFill>
        <p:spPr>
          <a:xfrm>
            <a:off x="10712252" y="2388059"/>
            <a:ext cx="308877" cy="449275"/>
          </a:xfrm>
          <a:prstGeom prst="rect">
            <a:avLst/>
          </a:prstGeom>
        </p:spPr>
      </p:pic>
      <p:pic>
        <p:nvPicPr>
          <p:cNvPr id="29" name="Picture 28" descr="lock.png"/>
          <p:cNvPicPr>
            <a:picLocks noChangeAspect="1"/>
          </p:cNvPicPr>
          <p:nvPr/>
        </p:nvPicPr>
        <p:blipFill>
          <a:blip r:embed="rId4"/>
          <a:stretch>
            <a:fillRect/>
          </a:stretch>
        </p:blipFill>
        <p:spPr>
          <a:xfrm>
            <a:off x="7992773" y="4329818"/>
            <a:ext cx="308877" cy="449275"/>
          </a:xfrm>
          <a:prstGeom prst="rect">
            <a:avLst/>
          </a:prstGeom>
        </p:spPr>
      </p:pic>
      <p:pic>
        <p:nvPicPr>
          <p:cNvPr id="30" name="Picture 29" descr="lock.png"/>
          <p:cNvPicPr>
            <a:picLocks noChangeAspect="1"/>
          </p:cNvPicPr>
          <p:nvPr/>
        </p:nvPicPr>
        <p:blipFill>
          <a:blip r:embed="rId4"/>
          <a:stretch>
            <a:fillRect/>
          </a:stretch>
        </p:blipFill>
        <p:spPr>
          <a:xfrm>
            <a:off x="7992773" y="5861296"/>
            <a:ext cx="308877" cy="449275"/>
          </a:xfrm>
          <a:prstGeom prst="rect">
            <a:avLst/>
          </a:prstGeom>
        </p:spPr>
      </p:pic>
      <p:pic>
        <p:nvPicPr>
          <p:cNvPr id="31" name="Picture 30" descr="lock.png"/>
          <p:cNvPicPr>
            <a:picLocks noChangeAspect="1"/>
          </p:cNvPicPr>
          <p:nvPr/>
        </p:nvPicPr>
        <p:blipFill>
          <a:blip r:embed="rId4"/>
          <a:stretch>
            <a:fillRect/>
          </a:stretch>
        </p:blipFill>
        <p:spPr>
          <a:xfrm>
            <a:off x="9866284" y="4564557"/>
            <a:ext cx="308877" cy="449275"/>
          </a:xfrm>
          <a:prstGeom prst="rect">
            <a:avLst/>
          </a:prstGeom>
        </p:spPr>
      </p:pic>
      <p:pic>
        <p:nvPicPr>
          <p:cNvPr id="32" name="Picture 31" descr="lock.png"/>
          <p:cNvPicPr>
            <a:picLocks noChangeAspect="1"/>
          </p:cNvPicPr>
          <p:nvPr/>
        </p:nvPicPr>
        <p:blipFill>
          <a:blip r:embed="rId4"/>
          <a:stretch>
            <a:fillRect/>
          </a:stretch>
        </p:blipFill>
        <p:spPr>
          <a:xfrm>
            <a:off x="11158841" y="4564557"/>
            <a:ext cx="308877" cy="449275"/>
          </a:xfrm>
          <a:prstGeom prst="rect">
            <a:avLst/>
          </a:prstGeom>
        </p:spPr>
      </p:pic>
      <p:pic>
        <p:nvPicPr>
          <p:cNvPr id="33" name="Picture 32" descr="lock.png"/>
          <p:cNvPicPr>
            <a:picLocks noChangeAspect="1"/>
          </p:cNvPicPr>
          <p:nvPr/>
        </p:nvPicPr>
        <p:blipFill>
          <a:blip r:embed="rId4"/>
          <a:stretch>
            <a:fillRect/>
          </a:stretch>
        </p:blipFill>
        <p:spPr>
          <a:xfrm>
            <a:off x="10506879" y="6096035"/>
            <a:ext cx="308877" cy="449275"/>
          </a:xfrm>
          <a:prstGeom prst="rect">
            <a:avLst/>
          </a:prstGeom>
        </p:spPr>
      </p:pic>
    </p:spTree>
  </p:cSld>
  <p:clrMapOvr>
    <a:masterClrMapping/>
  </p:clrMapOvr>
</p:sld>
</file>

<file path=ppt/slides/slide4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16217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505075"/>
            <a:ext cx="8572500" cy="514350"/>
          </a:xfrm>
          <a:prstGeom prst="rect">
            <a:avLst/>
          </a:prstGeom>
          <a:noFill/>
        </p:spPr>
        <p:txBody>
          <a:bodyPr wrap="square" lIns="0" rIns="0" tIns="0">
            <a:spAutoFit/>
          </a:bodyPr>
          <a:lstStyle/>
          <a:p>
            <a:r>
              <a:rPr sz="3000" b="1">
                <a:solidFill>
                  <a:srgbClr val="0B3C8C"/>
                </a:solidFill>
                <a:latin typeface="Calibri"/>
              </a:rPr>
              <a:t>Global Market Analysis By Segments</a:t>
            </a:r>
          </a:p>
        </p:txBody>
      </p:sp>
      <p:sp>
        <p:nvSpPr>
          <p:cNvPr id="11" name="TextBox 10"/>
          <p:cNvSpPr txBox="1"/>
          <p:nvPr/>
        </p:nvSpPr>
        <p:spPr>
          <a:xfrm>
            <a:off x="914400" y="3190875"/>
            <a:ext cx="8458200" cy="24574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Material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Technology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End User</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Distribution Channel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Patient Age Group</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Product Type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Type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Product Type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Product Type,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Product Type segment categorizes the market by product type.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Flexible Partial Dentures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Combination Framework Partial Den…</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Cast Metal Partial Dentures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Acrylic Partial Dentures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05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5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Product Type split shows how demand is distributed across product type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Product Type segment is projected to grow at a CAGR of 4.4%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4" name="Picture 63" descr="392_7_605E5C.png"/>
          <p:cNvPicPr>
            <a:picLocks noChangeAspect="1"/>
          </p:cNvPicPr>
          <p:nvPr/>
        </p:nvPicPr>
        <p:blipFill>
          <a:blip r:embed="rId4"/>
          <a:stretch>
            <a:fillRect/>
          </a:stretch>
        </p:blipFill>
        <p:spPr>
          <a:xfrm>
            <a:off x="2476330" y="2286582"/>
            <a:ext cx="1195728" cy="361950"/>
          </a:xfrm>
          <a:prstGeom prst="rect">
            <a:avLst/>
          </a:prstGeom>
        </p:spPr>
      </p:pic>
      <p:pic>
        <p:nvPicPr>
          <p:cNvPr id="65" name="Picture 64" descr="529_8_605E5C.png"/>
          <p:cNvPicPr>
            <a:picLocks noChangeAspect="1"/>
          </p:cNvPicPr>
          <p:nvPr/>
        </p:nvPicPr>
        <p:blipFill>
          <a:blip r:embed="rId5"/>
          <a:stretch>
            <a:fillRect/>
          </a:stretch>
        </p:blipFill>
        <p:spPr>
          <a:xfrm>
            <a:off x="2476330" y="2779432"/>
            <a:ext cx="1195728" cy="361950"/>
          </a:xfrm>
          <a:prstGeom prst="rect">
            <a:avLst/>
          </a:prstGeom>
        </p:spPr>
      </p:pic>
      <p:pic>
        <p:nvPicPr>
          <p:cNvPr id="66" name="Picture 65" descr="3_0__605E5C.png"/>
          <p:cNvPicPr>
            <a:picLocks noChangeAspect="1"/>
          </p:cNvPicPr>
          <p:nvPr/>
        </p:nvPicPr>
        <p:blipFill>
          <a:blip r:embed="rId6"/>
          <a:stretch>
            <a:fillRect/>
          </a:stretch>
        </p:blipFill>
        <p:spPr>
          <a:xfrm>
            <a:off x="2582976" y="3272281"/>
            <a:ext cx="982436" cy="361950"/>
          </a:xfrm>
          <a:prstGeom prst="rect">
            <a:avLst/>
          </a:prstGeom>
        </p:spPr>
      </p:pic>
      <p:pic>
        <p:nvPicPr>
          <p:cNvPr id="67" name="Picture 66" descr="280_6_605E5C.png"/>
          <p:cNvPicPr>
            <a:picLocks noChangeAspect="1"/>
          </p:cNvPicPr>
          <p:nvPr/>
        </p:nvPicPr>
        <p:blipFill>
          <a:blip r:embed="rId7"/>
          <a:stretch>
            <a:fillRect/>
          </a:stretch>
        </p:blipFill>
        <p:spPr>
          <a:xfrm>
            <a:off x="5005218" y="2286582"/>
            <a:ext cx="1195728" cy="361950"/>
          </a:xfrm>
          <a:prstGeom prst="rect">
            <a:avLst/>
          </a:prstGeom>
        </p:spPr>
      </p:pic>
      <p:pic>
        <p:nvPicPr>
          <p:cNvPr id="68" name="Picture 67" descr="467_2_605E5C.png"/>
          <p:cNvPicPr>
            <a:picLocks noChangeAspect="1"/>
          </p:cNvPicPr>
          <p:nvPr/>
        </p:nvPicPr>
        <p:blipFill>
          <a:blip r:embed="rId8"/>
          <a:stretch>
            <a:fillRect/>
          </a:stretch>
        </p:blipFill>
        <p:spPr>
          <a:xfrm>
            <a:off x="5005218" y="2779432"/>
            <a:ext cx="1195728" cy="361950"/>
          </a:xfrm>
          <a:prstGeom prst="rect">
            <a:avLst/>
          </a:prstGeom>
        </p:spPr>
      </p:pic>
      <p:pic>
        <p:nvPicPr>
          <p:cNvPr id="69" name="Picture 68" descr="5_2__605E5C.png"/>
          <p:cNvPicPr>
            <a:picLocks noChangeAspect="1"/>
          </p:cNvPicPr>
          <p:nvPr/>
        </p:nvPicPr>
        <p:blipFill>
          <a:blip r:embed="rId9"/>
          <a:stretch>
            <a:fillRect/>
          </a:stretch>
        </p:blipFill>
        <p:spPr>
          <a:xfrm>
            <a:off x="5111864" y="3272281"/>
            <a:ext cx="982436" cy="361950"/>
          </a:xfrm>
          <a:prstGeom prst="rect">
            <a:avLst/>
          </a:prstGeom>
        </p:spPr>
      </p:pic>
      <p:pic>
        <p:nvPicPr>
          <p:cNvPr id="70" name="Picture 69" descr="232_5_605E5C.png"/>
          <p:cNvPicPr>
            <a:picLocks noChangeAspect="1"/>
          </p:cNvPicPr>
          <p:nvPr/>
        </p:nvPicPr>
        <p:blipFill>
          <a:blip r:embed="rId10"/>
          <a:stretch>
            <a:fillRect/>
          </a:stretch>
        </p:blipFill>
        <p:spPr>
          <a:xfrm>
            <a:off x="7534105" y="2286582"/>
            <a:ext cx="1195728" cy="361950"/>
          </a:xfrm>
          <a:prstGeom prst="rect">
            <a:avLst/>
          </a:prstGeom>
        </p:spPr>
      </p:pic>
      <p:pic>
        <p:nvPicPr>
          <p:cNvPr id="71" name="Picture 70" descr="431_1_605E5C.png"/>
          <p:cNvPicPr>
            <a:picLocks noChangeAspect="1"/>
          </p:cNvPicPr>
          <p:nvPr/>
        </p:nvPicPr>
        <p:blipFill>
          <a:blip r:embed="rId11"/>
          <a:stretch>
            <a:fillRect/>
          </a:stretch>
        </p:blipFill>
        <p:spPr>
          <a:xfrm>
            <a:off x="7534105" y="2779432"/>
            <a:ext cx="1195728" cy="361950"/>
          </a:xfrm>
          <a:prstGeom prst="rect">
            <a:avLst/>
          </a:prstGeom>
        </p:spPr>
      </p:pic>
      <p:pic>
        <p:nvPicPr>
          <p:cNvPr id="72" name="Picture 71" descr="6_4__605E5C.png"/>
          <p:cNvPicPr>
            <a:picLocks noChangeAspect="1"/>
          </p:cNvPicPr>
          <p:nvPr/>
        </p:nvPicPr>
        <p:blipFill>
          <a:blip r:embed="rId12"/>
          <a:stretch>
            <a:fillRect/>
          </a:stretch>
        </p:blipFill>
        <p:spPr>
          <a:xfrm>
            <a:off x="7640751" y="3272281"/>
            <a:ext cx="982436" cy="361950"/>
          </a:xfrm>
          <a:prstGeom prst="rect">
            <a:avLst/>
          </a:prstGeom>
        </p:spPr>
      </p:pic>
      <p:pic>
        <p:nvPicPr>
          <p:cNvPr id="73" name="Picture 72" descr="219_3_605E5C.png"/>
          <p:cNvPicPr>
            <a:picLocks noChangeAspect="1"/>
          </p:cNvPicPr>
          <p:nvPr/>
        </p:nvPicPr>
        <p:blipFill>
          <a:blip r:embed="rId13"/>
          <a:stretch>
            <a:fillRect/>
          </a:stretch>
        </p:blipFill>
        <p:spPr>
          <a:xfrm>
            <a:off x="10062992" y="2286582"/>
            <a:ext cx="1195728" cy="361950"/>
          </a:xfrm>
          <a:prstGeom prst="rect">
            <a:avLst/>
          </a:prstGeom>
        </p:spPr>
      </p:pic>
      <p:pic>
        <p:nvPicPr>
          <p:cNvPr id="74" name="Picture 73" descr="302_7_605E5C.png"/>
          <p:cNvPicPr>
            <a:picLocks noChangeAspect="1"/>
          </p:cNvPicPr>
          <p:nvPr/>
        </p:nvPicPr>
        <p:blipFill>
          <a:blip r:embed="rId14"/>
          <a:stretch>
            <a:fillRect/>
          </a:stretch>
        </p:blipFill>
        <p:spPr>
          <a:xfrm>
            <a:off x="10062992" y="2779432"/>
            <a:ext cx="1195728" cy="361950"/>
          </a:xfrm>
          <a:prstGeom prst="rect">
            <a:avLst/>
          </a:prstGeom>
        </p:spPr>
      </p:pic>
      <p:pic>
        <p:nvPicPr>
          <p:cNvPr id="75" name="Picture 74" descr="3_3__605E5C.png"/>
          <p:cNvPicPr>
            <a:picLocks noChangeAspect="1"/>
          </p:cNvPicPr>
          <p:nvPr/>
        </p:nvPicPr>
        <p:blipFill>
          <a:blip r:embed="rId15"/>
          <a:stretch>
            <a:fillRect/>
          </a:stretch>
        </p:blipFill>
        <p:spPr>
          <a:xfrm>
            <a:off x="10169638" y="3272281"/>
            <a:ext cx="982436" cy="361950"/>
          </a:xfrm>
          <a:prstGeom prst="rect">
            <a:avLst/>
          </a:prstGeom>
        </p:spPr>
      </p:pic>
      <p:pic>
        <p:nvPicPr>
          <p:cNvPr id="76" name="Picture 75" descr="lock.png"/>
          <p:cNvPicPr>
            <a:picLocks noChangeAspect="1"/>
          </p:cNvPicPr>
          <p:nvPr/>
        </p:nvPicPr>
        <p:blipFill>
          <a:blip r:embed="rId16"/>
          <a:stretch>
            <a:fillRect/>
          </a:stretch>
        </p:blipFill>
        <p:spPr>
          <a:xfrm>
            <a:off x="2980848" y="2827057"/>
            <a:ext cx="183356" cy="266700"/>
          </a:xfrm>
          <a:prstGeom prst="rect">
            <a:avLst/>
          </a:prstGeom>
        </p:spPr>
      </p:pic>
      <p:pic>
        <p:nvPicPr>
          <p:cNvPr id="77" name="Picture 76" descr="lock.png"/>
          <p:cNvPicPr>
            <a:picLocks noChangeAspect="1"/>
          </p:cNvPicPr>
          <p:nvPr/>
        </p:nvPicPr>
        <p:blipFill>
          <a:blip r:embed="rId16"/>
          <a:stretch>
            <a:fillRect/>
          </a:stretch>
        </p:blipFill>
        <p:spPr>
          <a:xfrm>
            <a:off x="5509737" y="2827057"/>
            <a:ext cx="183356" cy="266700"/>
          </a:xfrm>
          <a:prstGeom prst="rect">
            <a:avLst/>
          </a:prstGeom>
        </p:spPr>
      </p:pic>
      <p:pic>
        <p:nvPicPr>
          <p:cNvPr id="78" name="Picture 77" descr="lock.png"/>
          <p:cNvPicPr>
            <a:picLocks noChangeAspect="1"/>
          </p:cNvPicPr>
          <p:nvPr/>
        </p:nvPicPr>
        <p:blipFill>
          <a:blip r:embed="rId16"/>
          <a:stretch>
            <a:fillRect/>
          </a:stretch>
        </p:blipFill>
        <p:spPr>
          <a:xfrm>
            <a:off x="8038624" y="2827057"/>
            <a:ext cx="183356" cy="266700"/>
          </a:xfrm>
          <a:prstGeom prst="rect">
            <a:avLst/>
          </a:prstGeom>
        </p:spPr>
      </p:pic>
      <p:pic>
        <p:nvPicPr>
          <p:cNvPr id="79" name="Picture 78" descr="lock.png"/>
          <p:cNvPicPr>
            <a:picLocks noChangeAspect="1"/>
          </p:cNvPicPr>
          <p:nvPr/>
        </p:nvPicPr>
        <p:blipFill>
          <a:blip r:embed="rId16"/>
          <a:stretch>
            <a:fillRect/>
          </a:stretch>
        </p:blipFill>
        <p:spPr>
          <a:xfrm>
            <a:off x="10567511" y="2827057"/>
            <a:ext cx="183356" cy="266700"/>
          </a:xfrm>
          <a:prstGeom prst="rect">
            <a:avLst/>
          </a:prstGeom>
        </p:spPr>
      </p:pic>
      <p:sp>
        <p:nvSpPr>
          <p:cNvPr id="80" name="TextBox 79"/>
          <p:cNvSpPr txBox="1"/>
          <p:nvPr/>
        </p:nvSpPr>
        <p:spPr>
          <a:xfrm>
            <a:off x="485775" y="4229437"/>
            <a:ext cx="2905397" cy="186689"/>
          </a:xfrm>
          <a:prstGeom prst="rect">
            <a:avLst/>
          </a:prstGeom>
          <a:noFill/>
        </p:spPr>
        <p:txBody>
          <a:bodyPr wrap="none" lIns="0" rIns="0" tIns="0" bIns="0">
            <a:spAutoFit/>
          </a:bodyPr>
          <a:lstStyle/>
          <a:p>
            <a:r>
              <a:rPr sz="1100" b="0">
                <a:solidFill>
                  <a:srgbClr val="2E2E2E"/>
                </a:solidFill>
                <a:latin typeface="Calibri"/>
              </a:rPr>
              <a:t>▪ ¶ Among removable partial dentures by product</a:t>
            </a:r>
          </a:p>
        </p:txBody>
      </p:sp>
      <p:sp>
        <p:nvSpPr>
          <p:cNvPr id="81" name="TextBox 80"/>
          <p:cNvSpPr txBox="1"/>
          <p:nvPr/>
        </p:nvSpPr>
        <p:spPr>
          <a:xfrm>
            <a:off x="485775" y="4397077"/>
            <a:ext cx="2564060" cy="186689"/>
          </a:xfrm>
          <a:prstGeom prst="rect">
            <a:avLst/>
          </a:prstGeom>
          <a:noFill/>
        </p:spPr>
        <p:txBody>
          <a:bodyPr wrap="none" lIns="0" rIns="0" tIns="0" bIns="0">
            <a:spAutoFit/>
          </a:bodyPr>
          <a:lstStyle/>
          <a:p>
            <a:r>
              <a:rPr sz="1100" b="0">
                <a:solidFill>
                  <a:srgbClr val="2E2E2E"/>
                </a:solidFill>
                <a:latin typeface="Calibri"/>
              </a:rPr>
              <a:t>type, cast metal partial dentures segment is</a:t>
            </a:r>
          </a:p>
        </p:txBody>
      </p:sp>
      <p:sp>
        <p:nvSpPr>
          <p:cNvPr id="82" name="TextBox 81"/>
          <p:cNvSpPr txBox="1"/>
          <p:nvPr/>
        </p:nvSpPr>
        <p:spPr>
          <a:xfrm>
            <a:off x="485775" y="4564717"/>
            <a:ext cx="2381232" cy="186689"/>
          </a:xfrm>
          <a:prstGeom prst="rect">
            <a:avLst/>
          </a:prstGeom>
          <a:noFill/>
        </p:spPr>
        <p:txBody>
          <a:bodyPr wrap="none" lIns="0" rIns="0" tIns="0" bIns="0">
            <a:spAutoFit/>
          </a:bodyPr>
          <a:lstStyle/>
          <a:p>
            <a:r>
              <a:rPr sz="1100" b="0">
                <a:solidFill>
                  <a:srgbClr val="2E2E2E"/>
                </a:solidFill>
                <a:latin typeface="Calibri"/>
              </a:rPr>
              <a:t>expected to witness the highest CAGR of</a:t>
            </a:r>
          </a:p>
        </p:txBody>
      </p:sp>
      <p:pic>
        <p:nvPicPr>
          <p:cNvPr id="83" name="Picture 82" descr="lock.png"/>
          <p:cNvPicPr>
            <a:picLocks noChangeAspect="1"/>
          </p:cNvPicPr>
          <p:nvPr/>
        </p:nvPicPr>
        <p:blipFill>
          <a:blip r:embed="rId16"/>
          <a:stretch>
            <a:fillRect/>
          </a:stretch>
        </p:blipFill>
        <p:spPr>
          <a:xfrm>
            <a:off x="2815059" y="4554938"/>
            <a:ext cx="128699" cy="187198"/>
          </a:xfrm>
          <a:prstGeom prst="rect">
            <a:avLst/>
          </a:prstGeom>
        </p:spPr>
      </p:pic>
      <p:sp>
        <p:nvSpPr>
          <p:cNvPr id="84" name="TextBox 83"/>
          <p:cNvSpPr txBox="1"/>
          <p:nvPr/>
        </p:nvSpPr>
        <p:spPr>
          <a:xfrm>
            <a:off x="2982555" y="4564717"/>
            <a:ext cx="331316" cy="186689"/>
          </a:xfrm>
          <a:prstGeom prst="rect">
            <a:avLst/>
          </a:prstGeom>
          <a:noFill/>
        </p:spPr>
        <p:txBody>
          <a:bodyPr wrap="none" lIns="0" rIns="0" tIns="0" bIns="0">
            <a:spAutoFit/>
          </a:bodyPr>
          <a:lstStyle/>
          <a:p>
            <a:r>
              <a:rPr sz="1100" b="0">
                <a:solidFill>
                  <a:srgbClr val="2E2E2E"/>
                </a:solidFill>
                <a:latin typeface="Calibri"/>
              </a:rPr>
              <a:t>over</a:t>
            </a:r>
          </a:p>
        </p:txBody>
      </p:sp>
      <p:sp>
        <p:nvSpPr>
          <p:cNvPr id="85" name="TextBox 84"/>
          <p:cNvSpPr txBox="1"/>
          <p:nvPr/>
        </p:nvSpPr>
        <p:spPr>
          <a:xfrm>
            <a:off x="485775" y="4732357"/>
            <a:ext cx="2699122" cy="186689"/>
          </a:xfrm>
          <a:prstGeom prst="rect">
            <a:avLst/>
          </a:prstGeom>
          <a:noFill/>
        </p:spPr>
        <p:txBody>
          <a:bodyPr wrap="none" lIns="0" rIns="0" tIns="0" bIns="0">
            <a:spAutoFit/>
          </a:bodyPr>
          <a:lstStyle/>
          <a:p>
            <a:r>
              <a:rPr sz="1100" b="0">
                <a:solidFill>
                  <a:srgbClr val="2E2E2E"/>
                </a:solidFill>
                <a:latin typeface="Calibri"/>
              </a:rPr>
              <a:t>the forecast period. In terms of value share by</a:t>
            </a:r>
          </a:p>
        </p:txBody>
      </p:sp>
      <p:sp>
        <p:nvSpPr>
          <p:cNvPr id="86" name="TextBox 85"/>
          <p:cNvSpPr txBox="1"/>
          <p:nvPr/>
        </p:nvSpPr>
        <p:spPr>
          <a:xfrm>
            <a:off x="485775" y="4899997"/>
            <a:ext cx="2914650" cy="186689"/>
          </a:xfrm>
          <a:prstGeom prst="rect">
            <a:avLst/>
          </a:prstGeom>
          <a:noFill/>
        </p:spPr>
        <p:txBody>
          <a:bodyPr wrap="none" lIns="0" rIns="0" tIns="0" bIns="0">
            <a:spAutoFit/>
          </a:bodyPr>
          <a:lstStyle/>
          <a:p>
            <a:r>
              <a:rPr sz="1100" b="0">
                <a:solidFill>
                  <a:srgbClr val="2E2E2E"/>
                </a:solidFill>
                <a:latin typeface="Calibri"/>
              </a:rPr>
              <a:t>product type, the flexible partial dentures segment</a:t>
            </a:r>
          </a:p>
        </p:txBody>
      </p:sp>
      <p:sp>
        <p:nvSpPr>
          <p:cNvPr id="87" name="TextBox 86"/>
          <p:cNvSpPr txBox="1"/>
          <p:nvPr/>
        </p:nvSpPr>
        <p:spPr>
          <a:xfrm>
            <a:off x="485775" y="5067637"/>
            <a:ext cx="2507307" cy="186689"/>
          </a:xfrm>
          <a:prstGeom prst="rect">
            <a:avLst/>
          </a:prstGeom>
          <a:noFill/>
        </p:spPr>
        <p:txBody>
          <a:bodyPr wrap="none" lIns="0" rIns="0" tIns="0" bIns="0">
            <a:spAutoFit/>
          </a:bodyPr>
          <a:lstStyle/>
          <a:p>
            <a:r>
              <a:rPr sz="1100" b="0">
                <a:solidFill>
                  <a:srgbClr val="2E2E2E"/>
                </a:solidFill>
                <a:latin typeface="Calibri"/>
              </a:rPr>
              <a:t>is expected to dominate the market, losing</a:t>
            </a:r>
          </a:p>
        </p:txBody>
      </p:sp>
      <p:pic>
        <p:nvPicPr>
          <p:cNvPr id="88" name="Picture 87" descr="lock.png"/>
          <p:cNvPicPr>
            <a:picLocks noChangeAspect="1"/>
          </p:cNvPicPr>
          <p:nvPr/>
        </p:nvPicPr>
        <p:blipFill>
          <a:blip r:embed="rId16"/>
          <a:stretch>
            <a:fillRect/>
          </a:stretch>
        </p:blipFill>
        <p:spPr>
          <a:xfrm>
            <a:off x="2941134" y="5057858"/>
            <a:ext cx="128699" cy="187198"/>
          </a:xfrm>
          <a:prstGeom prst="rect">
            <a:avLst/>
          </a:prstGeom>
        </p:spPr>
      </p:pic>
      <p:sp>
        <p:nvSpPr>
          <p:cNvPr id="89" name="TextBox 88"/>
          <p:cNvSpPr txBox="1"/>
          <p:nvPr/>
        </p:nvSpPr>
        <p:spPr>
          <a:xfrm>
            <a:off x="485775" y="5235277"/>
            <a:ext cx="1386433" cy="186689"/>
          </a:xfrm>
          <a:prstGeom prst="rect">
            <a:avLst/>
          </a:prstGeom>
          <a:noFill/>
        </p:spPr>
        <p:txBody>
          <a:bodyPr wrap="none" lIns="0" rIns="0" tIns="0" bIns="0">
            <a:spAutoFit/>
          </a:bodyPr>
          <a:lstStyle/>
          <a:p>
            <a:r>
              <a:rPr sz="1100" b="0">
                <a:solidFill>
                  <a:srgbClr val="2E2E2E"/>
                </a:solidFill>
                <a:latin typeface="Calibri"/>
              </a:rPr>
              <a:t>BPS and accounting for</a:t>
            </a:r>
          </a:p>
        </p:txBody>
      </p:sp>
      <p:pic>
        <p:nvPicPr>
          <p:cNvPr id="90" name="Picture 89" descr="lock.png"/>
          <p:cNvPicPr>
            <a:picLocks noChangeAspect="1"/>
          </p:cNvPicPr>
          <p:nvPr/>
        </p:nvPicPr>
        <p:blipFill>
          <a:blip r:embed="rId16"/>
          <a:stretch>
            <a:fillRect/>
          </a:stretch>
        </p:blipFill>
        <p:spPr>
          <a:xfrm>
            <a:off x="1820259" y="5225498"/>
            <a:ext cx="128699" cy="187198"/>
          </a:xfrm>
          <a:prstGeom prst="rect">
            <a:avLst/>
          </a:prstGeom>
        </p:spPr>
      </p:pic>
      <p:sp>
        <p:nvSpPr>
          <p:cNvPr id="91" name="TextBox 90"/>
          <p:cNvSpPr txBox="1"/>
          <p:nvPr/>
        </p:nvSpPr>
        <p:spPr>
          <a:xfrm>
            <a:off x="1987755" y="523527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92" name="TextBox 91"/>
          <p:cNvSpPr txBox="1"/>
          <p:nvPr/>
        </p:nvSpPr>
        <p:spPr>
          <a:xfrm>
            <a:off x="485775" y="5453209"/>
            <a:ext cx="2866107" cy="186689"/>
          </a:xfrm>
          <a:prstGeom prst="rect">
            <a:avLst/>
          </a:prstGeom>
          <a:noFill/>
        </p:spPr>
        <p:txBody>
          <a:bodyPr wrap="none" lIns="0" rIns="0" tIns="0" bIns="0">
            <a:spAutoFit/>
          </a:bodyPr>
          <a:lstStyle/>
          <a:p>
            <a:r>
              <a:rPr sz="1100" b="0">
                <a:solidFill>
                  <a:srgbClr val="2E2E2E"/>
                </a:solidFill>
                <a:latin typeface="Calibri"/>
              </a:rPr>
              <a:t>▪ ¶ Flexible partial dentures segment is projected</a:t>
            </a:r>
          </a:p>
        </p:txBody>
      </p:sp>
      <p:sp>
        <p:nvSpPr>
          <p:cNvPr id="93" name="TextBox 92"/>
          <p:cNvSpPr txBox="1"/>
          <p:nvPr/>
        </p:nvSpPr>
        <p:spPr>
          <a:xfrm>
            <a:off x="485775" y="5620849"/>
            <a:ext cx="664740" cy="186689"/>
          </a:xfrm>
          <a:prstGeom prst="rect">
            <a:avLst/>
          </a:prstGeom>
          <a:noFill/>
        </p:spPr>
        <p:txBody>
          <a:bodyPr wrap="none" lIns="0" rIns="0" tIns="0" bIns="0">
            <a:spAutoFit/>
          </a:bodyPr>
          <a:lstStyle/>
          <a:p>
            <a:r>
              <a:rPr sz="1100" b="0">
                <a:solidFill>
                  <a:srgbClr val="2E2E2E"/>
                </a:solidFill>
                <a:latin typeface="Calibri"/>
              </a:rPr>
              <a:t>to register</a:t>
            </a:r>
          </a:p>
        </p:txBody>
      </p:sp>
      <p:pic>
        <p:nvPicPr>
          <p:cNvPr id="94" name="Picture 93" descr="lock.png"/>
          <p:cNvPicPr>
            <a:picLocks noChangeAspect="1"/>
          </p:cNvPicPr>
          <p:nvPr/>
        </p:nvPicPr>
        <p:blipFill>
          <a:blip r:embed="rId16"/>
          <a:stretch>
            <a:fillRect/>
          </a:stretch>
        </p:blipFill>
        <p:spPr>
          <a:xfrm>
            <a:off x="1098567" y="5611070"/>
            <a:ext cx="128699" cy="187198"/>
          </a:xfrm>
          <a:prstGeom prst="rect">
            <a:avLst/>
          </a:prstGeom>
        </p:spPr>
      </p:pic>
      <p:sp>
        <p:nvSpPr>
          <p:cNvPr id="95" name="TextBox 94"/>
          <p:cNvSpPr txBox="1"/>
          <p:nvPr/>
        </p:nvSpPr>
        <p:spPr>
          <a:xfrm>
            <a:off x="1266063" y="5620849"/>
            <a:ext cx="1920676" cy="186689"/>
          </a:xfrm>
          <a:prstGeom prst="rect">
            <a:avLst/>
          </a:prstGeom>
          <a:noFill/>
        </p:spPr>
        <p:txBody>
          <a:bodyPr wrap="none" lIns="0" rIns="0" tIns="0" bIns="0">
            <a:spAutoFit/>
          </a:bodyPr>
          <a:lstStyle/>
          <a:p>
            <a:r>
              <a:rPr sz="1100" b="0">
                <a:solidFill>
                  <a:srgbClr val="2E2E2E"/>
                </a:solidFill>
                <a:latin typeface="Calibri"/>
              </a:rPr>
              <a:t>X higher value than combination</a:t>
            </a:r>
          </a:p>
        </p:txBody>
      </p:sp>
      <p:sp>
        <p:nvSpPr>
          <p:cNvPr id="96" name="TextBox 95"/>
          <p:cNvSpPr txBox="1"/>
          <p:nvPr/>
        </p:nvSpPr>
        <p:spPr>
          <a:xfrm>
            <a:off x="485775" y="5788489"/>
            <a:ext cx="2652737" cy="186689"/>
          </a:xfrm>
          <a:prstGeom prst="rect">
            <a:avLst/>
          </a:prstGeom>
          <a:noFill/>
        </p:spPr>
        <p:txBody>
          <a:bodyPr wrap="none" lIns="0" rIns="0" tIns="0" bIns="0">
            <a:spAutoFit/>
          </a:bodyPr>
          <a:lstStyle/>
          <a:p>
            <a:r>
              <a:rPr sz="1100" b="0">
                <a:solidFill>
                  <a:srgbClr val="2E2E2E"/>
                </a:solidFill>
                <a:latin typeface="Calibri"/>
              </a:rPr>
              <a:t>framework partial dentures segment in 2036.</a:t>
            </a:r>
          </a:p>
        </p:txBody>
      </p:sp>
      <p:sp>
        <p:nvSpPr>
          <p:cNvPr id="97" name="TextBox 96"/>
          <p:cNvSpPr txBox="1"/>
          <p:nvPr/>
        </p:nvSpPr>
        <p:spPr>
          <a:xfrm>
            <a:off x="3838575" y="4229437"/>
            <a:ext cx="1615082" cy="186689"/>
          </a:xfrm>
          <a:prstGeom prst="rect">
            <a:avLst/>
          </a:prstGeom>
          <a:noFill/>
        </p:spPr>
        <p:txBody>
          <a:bodyPr wrap="none" lIns="0" rIns="0" tIns="0" bIns="0">
            <a:spAutoFit/>
          </a:bodyPr>
          <a:lstStyle/>
          <a:p>
            <a:r>
              <a:rPr sz="1100" b="0">
                <a:solidFill>
                  <a:srgbClr val="2E2E2E"/>
                </a:solidFill>
                <a:latin typeface="Calibri"/>
              </a:rPr>
              <a:t>● Flexible Partial Dentures:</a:t>
            </a:r>
          </a:p>
        </p:txBody>
      </p:sp>
      <p:pic>
        <p:nvPicPr>
          <p:cNvPr id="98" name="Picture 97" descr="lock.png"/>
          <p:cNvPicPr>
            <a:picLocks noChangeAspect="1"/>
          </p:cNvPicPr>
          <p:nvPr/>
        </p:nvPicPr>
        <p:blipFill>
          <a:blip r:embed="rId16"/>
          <a:stretch>
            <a:fillRect/>
          </a:stretch>
        </p:blipFill>
        <p:spPr>
          <a:xfrm>
            <a:off x="5401709" y="4219658"/>
            <a:ext cx="128699" cy="187198"/>
          </a:xfrm>
          <a:prstGeom prst="rect">
            <a:avLst/>
          </a:prstGeom>
        </p:spPr>
      </p:pic>
      <p:sp>
        <p:nvSpPr>
          <p:cNvPr id="99" name="TextBox 98"/>
          <p:cNvSpPr txBox="1"/>
          <p:nvPr/>
        </p:nvSpPr>
        <p:spPr>
          <a:xfrm>
            <a:off x="5569205"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0" name="Picture 99" descr="lock.png"/>
          <p:cNvPicPr>
            <a:picLocks noChangeAspect="1"/>
          </p:cNvPicPr>
          <p:nvPr/>
        </p:nvPicPr>
        <p:blipFill>
          <a:blip r:embed="rId16"/>
          <a:stretch>
            <a:fillRect/>
          </a:stretch>
        </p:blipFill>
        <p:spPr>
          <a:xfrm>
            <a:off x="6428655" y="4219658"/>
            <a:ext cx="128699" cy="187198"/>
          </a:xfrm>
          <a:prstGeom prst="rect">
            <a:avLst/>
          </a:prstGeom>
        </p:spPr>
      </p:pic>
      <p:sp>
        <p:nvSpPr>
          <p:cNvPr id="101" name="TextBox 100"/>
          <p:cNvSpPr txBox="1"/>
          <p:nvPr/>
        </p:nvSpPr>
        <p:spPr>
          <a:xfrm>
            <a:off x="6596151" y="4229437"/>
            <a:ext cx="945215" cy="186689"/>
          </a:xfrm>
          <a:prstGeom prst="rect">
            <a:avLst/>
          </a:prstGeom>
          <a:noFill/>
        </p:spPr>
        <p:txBody>
          <a:bodyPr wrap="none" lIns="0" rIns="0" tIns="0" bIns="0">
            <a:spAutoFit/>
          </a:bodyPr>
          <a:lstStyle/>
          <a:p>
            <a:r>
              <a:rPr sz="1100" b="0">
                <a:solidFill>
                  <a:srgbClr val="2E2E2E"/>
                </a:solidFill>
                <a:latin typeface="Calibri"/>
              </a:rPr>
              <a:t>CAGR leads the</a:t>
            </a:r>
          </a:p>
        </p:txBody>
      </p:sp>
      <p:sp>
        <p:nvSpPr>
          <p:cNvPr id="102" name="TextBox 101"/>
          <p:cNvSpPr txBox="1"/>
          <p:nvPr/>
        </p:nvSpPr>
        <p:spPr>
          <a:xfrm>
            <a:off x="3838575" y="4397077"/>
            <a:ext cx="602803" cy="186689"/>
          </a:xfrm>
          <a:prstGeom prst="rect">
            <a:avLst/>
          </a:prstGeom>
          <a:noFill/>
        </p:spPr>
        <p:txBody>
          <a:bodyPr wrap="none" lIns="0" rIns="0" tIns="0" bIns="0">
            <a:spAutoFit/>
          </a:bodyPr>
          <a:lstStyle/>
          <a:p>
            <a:r>
              <a:rPr sz="1100" b="0">
                <a:solidFill>
                  <a:srgbClr val="2E2E2E"/>
                </a:solidFill>
                <a:latin typeface="Calibri"/>
              </a:rPr>
              <a:t>segment.</a:t>
            </a:r>
          </a:p>
        </p:txBody>
      </p:sp>
      <p:sp>
        <p:nvSpPr>
          <p:cNvPr id="103" name="TextBox 102"/>
          <p:cNvSpPr txBox="1"/>
          <p:nvPr/>
        </p:nvSpPr>
        <p:spPr>
          <a:xfrm>
            <a:off x="3838575" y="4615009"/>
            <a:ext cx="2591618" cy="186689"/>
          </a:xfrm>
          <a:prstGeom prst="rect">
            <a:avLst/>
          </a:prstGeom>
          <a:noFill/>
        </p:spPr>
        <p:txBody>
          <a:bodyPr wrap="none" lIns="0" rIns="0" tIns="0" bIns="0">
            <a:spAutoFit/>
          </a:bodyPr>
          <a:lstStyle/>
          <a:p>
            <a:r>
              <a:rPr sz="1100" b="0">
                <a:solidFill>
                  <a:srgbClr val="2E2E2E"/>
                </a:solidFill>
                <a:latin typeface="Calibri"/>
              </a:rPr>
              <a:t>● Combination Framework Partial Dentures:</a:t>
            </a:r>
          </a:p>
        </p:txBody>
      </p:sp>
      <p:pic>
        <p:nvPicPr>
          <p:cNvPr id="104" name="Picture 103" descr="lock.png"/>
          <p:cNvPicPr>
            <a:picLocks noChangeAspect="1"/>
          </p:cNvPicPr>
          <p:nvPr/>
        </p:nvPicPr>
        <p:blipFill>
          <a:blip r:embed="rId16"/>
          <a:stretch>
            <a:fillRect/>
          </a:stretch>
        </p:blipFill>
        <p:spPr>
          <a:xfrm>
            <a:off x="6378245" y="4605230"/>
            <a:ext cx="128699" cy="187198"/>
          </a:xfrm>
          <a:prstGeom prst="rect">
            <a:avLst/>
          </a:prstGeom>
        </p:spPr>
      </p:pic>
      <p:sp>
        <p:nvSpPr>
          <p:cNvPr id="105" name="TextBox 104"/>
          <p:cNvSpPr txBox="1"/>
          <p:nvPr/>
        </p:nvSpPr>
        <p:spPr>
          <a:xfrm>
            <a:off x="6545740" y="461500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6" name="Picture 105" descr="lock.png"/>
          <p:cNvPicPr>
            <a:picLocks noChangeAspect="1"/>
          </p:cNvPicPr>
          <p:nvPr/>
        </p:nvPicPr>
        <p:blipFill>
          <a:blip r:embed="rId16"/>
          <a:stretch>
            <a:fillRect/>
          </a:stretch>
        </p:blipFill>
        <p:spPr>
          <a:xfrm>
            <a:off x="7405191" y="4605230"/>
            <a:ext cx="128699" cy="187198"/>
          </a:xfrm>
          <a:prstGeom prst="rect">
            <a:avLst/>
          </a:prstGeom>
        </p:spPr>
      </p:pic>
      <p:sp>
        <p:nvSpPr>
          <p:cNvPr id="107" name="TextBox 106"/>
          <p:cNvSpPr txBox="1"/>
          <p:nvPr/>
        </p:nvSpPr>
        <p:spPr>
          <a:xfrm>
            <a:off x="3838575" y="478264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08" name="TextBox 107"/>
          <p:cNvSpPr txBox="1"/>
          <p:nvPr/>
        </p:nvSpPr>
        <p:spPr>
          <a:xfrm>
            <a:off x="3838575" y="5000581"/>
            <a:ext cx="1790799" cy="186689"/>
          </a:xfrm>
          <a:prstGeom prst="rect">
            <a:avLst/>
          </a:prstGeom>
          <a:noFill/>
        </p:spPr>
        <p:txBody>
          <a:bodyPr wrap="none" lIns="0" rIns="0" tIns="0" bIns="0">
            <a:spAutoFit/>
          </a:bodyPr>
          <a:lstStyle/>
          <a:p>
            <a:r>
              <a:rPr sz="1100" b="0">
                <a:solidFill>
                  <a:srgbClr val="2E2E2E"/>
                </a:solidFill>
                <a:latin typeface="Calibri"/>
              </a:rPr>
              <a:t>● Cast Metal Partial Dentures:</a:t>
            </a:r>
          </a:p>
        </p:txBody>
      </p:sp>
      <p:pic>
        <p:nvPicPr>
          <p:cNvPr id="109" name="Picture 108" descr="lock.png"/>
          <p:cNvPicPr>
            <a:picLocks noChangeAspect="1"/>
          </p:cNvPicPr>
          <p:nvPr/>
        </p:nvPicPr>
        <p:blipFill>
          <a:blip r:embed="rId16"/>
          <a:stretch>
            <a:fillRect/>
          </a:stretch>
        </p:blipFill>
        <p:spPr>
          <a:xfrm>
            <a:off x="5577425" y="4990801"/>
            <a:ext cx="128699" cy="187198"/>
          </a:xfrm>
          <a:prstGeom prst="rect">
            <a:avLst/>
          </a:prstGeom>
        </p:spPr>
      </p:pic>
      <p:sp>
        <p:nvSpPr>
          <p:cNvPr id="110" name="TextBox 109"/>
          <p:cNvSpPr txBox="1"/>
          <p:nvPr/>
        </p:nvSpPr>
        <p:spPr>
          <a:xfrm>
            <a:off x="5744921" y="500058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1" name="Picture 110" descr="lock.png"/>
          <p:cNvPicPr>
            <a:picLocks noChangeAspect="1"/>
          </p:cNvPicPr>
          <p:nvPr/>
        </p:nvPicPr>
        <p:blipFill>
          <a:blip r:embed="rId16"/>
          <a:stretch>
            <a:fillRect/>
          </a:stretch>
        </p:blipFill>
        <p:spPr>
          <a:xfrm>
            <a:off x="6604371" y="4990801"/>
            <a:ext cx="128699" cy="187198"/>
          </a:xfrm>
          <a:prstGeom prst="rect">
            <a:avLst/>
          </a:prstGeom>
        </p:spPr>
      </p:pic>
      <p:sp>
        <p:nvSpPr>
          <p:cNvPr id="112" name="TextBox 111"/>
          <p:cNvSpPr txBox="1"/>
          <p:nvPr/>
        </p:nvSpPr>
        <p:spPr>
          <a:xfrm>
            <a:off x="6771867" y="5000581"/>
            <a:ext cx="769771" cy="186689"/>
          </a:xfrm>
          <a:prstGeom prst="rect">
            <a:avLst/>
          </a:prstGeom>
          <a:noFill/>
        </p:spPr>
        <p:txBody>
          <a:bodyPr wrap="none" lIns="0" rIns="0" tIns="0" bIns="0">
            <a:spAutoFit/>
          </a:bodyPr>
          <a:lstStyle/>
          <a:p>
            <a:r>
              <a:rPr sz="1100" b="0">
                <a:solidFill>
                  <a:srgbClr val="2E2E2E"/>
                </a:solidFill>
                <a:latin typeface="Calibri"/>
              </a:rPr>
              <a:t>CAGR grows</a:t>
            </a:r>
          </a:p>
        </p:txBody>
      </p:sp>
      <p:sp>
        <p:nvSpPr>
          <p:cNvPr id="113" name="TextBox 112"/>
          <p:cNvSpPr txBox="1"/>
          <p:nvPr/>
        </p:nvSpPr>
        <p:spPr>
          <a:xfrm>
            <a:off x="3838575" y="5168221"/>
            <a:ext cx="493390" cy="186689"/>
          </a:xfrm>
          <a:prstGeom prst="rect">
            <a:avLst/>
          </a:prstGeom>
          <a:noFill/>
        </p:spPr>
        <p:txBody>
          <a:bodyPr wrap="none" lIns="0" rIns="0" tIns="0" bIns="0">
            <a:spAutoFit/>
          </a:bodyPr>
          <a:lstStyle/>
          <a:p>
            <a:r>
              <a:rPr sz="1100" b="0">
                <a:solidFill>
                  <a:srgbClr val="2E2E2E"/>
                </a:solidFill>
                <a:latin typeface="Calibri"/>
              </a:rPr>
              <a:t>fastest.</a:t>
            </a:r>
          </a:p>
        </p:txBody>
      </p:sp>
      <p:sp>
        <p:nvSpPr>
          <p:cNvPr id="114" name="TextBox 113"/>
          <p:cNvSpPr txBox="1"/>
          <p:nvPr/>
        </p:nvSpPr>
        <p:spPr>
          <a:xfrm>
            <a:off x="3838575" y="5386153"/>
            <a:ext cx="1556965" cy="186689"/>
          </a:xfrm>
          <a:prstGeom prst="rect">
            <a:avLst/>
          </a:prstGeom>
          <a:noFill/>
        </p:spPr>
        <p:txBody>
          <a:bodyPr wrap="none" lIns="0" rIns="0" tIns="0" bIns="0">
            <a:spAutoFit/>
          </a:bodyPr>
          <a:lstStyle/>
          <a:p>
            <a:r>
              <a:rPr sz="1100" b="0">
                <a:solidFill>
                  <a:srgbClr val="2E2E2E"/>
                </a:solidFill>
                <a:latin typeface="Calibri"/>
              </a:rPr>
              <a:t>● Acrylic Partial Dentures:</a:t>
            </a:r>
          </a:p>
        </p:txBody>
      </p:sp>
      <p:pic>
        <p:nvPicPr>
          <p:cNvPr id="115" name="Picture 114" descr="lock.png"/>
          <p:cNvPicPr>
            <a:picLocks noChangeAspect="1"/>
          </p:cNvPicPr>
          <p:nvPr/>
        </p:nvPicPr>
        <p:blipFill>
          <a:blip r:embed="rId16"/>
          <a:stretch>
            <a:fillRect/>
          </a:stretch>
        </p:blipFill>
        <p:spPr>
          <a:xfrm>
            <a:off x="5343592" y="5376373"/>
            <a:ext cx="128699" cy="187198"/>
          </a:xfrm>
          <a:prstGeom prst="rect">
            <a:avLst/>
          </a:prstGeom>
        </p:spPr>
      </p:pic>
      <p:sp>
        <p:nvSpPr>
          <p:cNvPr id="116" name="TextBox 115"/>
          <p:cNvSpPr txBox="1"/>
          <p:nvPr/>
        </p:nvSpPr>
        <p:spPr>
          <a:xfrm>
            <a:off x="5511087" y="538615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7" name="Picture 116" descr="lock.png"/>
          <p:cNvPicPr>
            <a:picLocks noChangeAspect="1"/>
          </p:cNvPicPr>
          <p:nvPr/>
        </p:nvPicPr>
        <p:blipFill>
          <a:blip r:embed="rId16"/>
          <a:stretch>
            <a:fillRect/>
          </a:stretch>
        </p:blipFill>
        <p:spPr>
          <a:xfrm>
            <a:off x="6370538" y="5376373"/>
            <a:ext cx="128699" cy="187198"/>
          </a:xfrm>
          <a:prstGeom prst="rect">
            <a:avLst/>
          </a:prstGeom>
        </p:spPr>
      </p:pic>
      <p:sp>
        <p:nvSpPr>
          <p:cNvPr id="118" name="TextBox 117"/>
          <p:cNvSpPr txBox="1"/>
          <p:nvPr/>
        </p:nvSpPr>
        <p:spPr>
          <a:xfrm>
            <a:off x="6538033" y="5386153"/>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Tree>
  </p:cSld>
  <p:clrMapOvr>
    <a:masterClrMapping/>
  </p:clrMapOvr>
</p:sld>
</file>

<file path=ppt/slides/slide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Product Type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Product Type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Product Type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694045"/>
            <a:ext cx="11677650" cy="186689"/>
          </a:xfrm>
          <a:prstGeom prst="rect">
            <a:avLst/>
          </a:prstGeom>
          <a:noFill/>
        </p:spPr>
        <p:txBody>
          <a:bodyPr wrap="none" lIns="0" rIns="0" tIns="0" bIns="0">
            <a:spAutoFit/>
          </a:bodyPr>
          <a:lstStyle/>
          <a:p>
            <a:r>
              <a:rPr sz="1100" b="0">
                <a:solidFill>
                  <a:srgbClr val="2E2E2E"/>
                </a:solidFill>
                <a:latin typeface="Calibri"/>
              </a:rPr>
              <a:t>Cast metal partial dentures followed by combination framework partial dentures are expected to be the two most attractive product type segments in the global removable partial dentures market in terms</a:t>
            </a:r>
          </a:p>
        </p:txBody>
      </p:sp>
      <p:sp>
        <p:nvSpPr>
          <p:cNvPr id="21" name="TextBox 20"/>
          <p:cNvSpPr txBox="1"/>
          <p:nvPr/>
        </p:nvSpPr>
        <p:spPr>
          <a:xfrm>
            <a:off x="257175" y="5861685"/>
            <a:ext cx="7491469" cy="186689"/>
          </a:xfrm>
          <a:prstGeom prst="rect">
            <a:avLst/>
          </a:prstGeom>
          <a:noFill/>
        </p:spPr>
        <p:txBody>
          <a:bodyPr wrap="none" lIns="0" rIns="0" tIns="0" bIns="0">
            <a:spAutoFit/>
          </a:bodyPr>
          <a:lstStyle/>
          <a:p>
            <a:r>
              <a:rPr sz="1100" b="0">
                <a:solidFill>
                  <a:srgbClr val="2E2E2E"/>
                </a:solidFill>
                <a:latin typeface="Calibri"/>
              </a:rPr>
              <a:t>of value over the forecast period. Cast metal partial dentures and combination framework partial dentures exhibit a CAGR index of</a:t>
            </a:r>
          </a:p>
        </p:txBody>
      </p:sp>
      <p:pic>
        <p:nvPicPr>
          <p:cNvPr id="22" name="Picture 21" descr="lock.png"/>
          <p:cNvPicPr>
            <a:picLocks noChangeAspect="1"/>
          </p:cNvPicPr>
          <p:nvPr/>
        </p:nvPicPr>
        <p:blipFill>
          <a:blip r:embed="rId6"/>
          <a:stretch>
            <a:fillRect/>
          </a:stretch>
        </p:blipFill>
        <p:spPr>
          <a:xfrm>
            <a:off x="7696696" y="5851905"/>
            <a:ext cx="128699" cy="187198"/>
          </a:xfrm>
          <a:prstGeom prst="rect">
            <a:avLst/>
          </a:prstGeom>
        </p:spPr>
      </p:pic>
      <p:sp>
        <p:nvSpPr>
          <p:cNvPr id="23" name="TextBox 22"/>
          <p:cNvSpPr txBox="1"/>
          <p:nvPr/>
        </p:nvSpPr>
        <p:spPr>
          <a:xfrm>
            <a:off x="7864192"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8102086" y="5851905"/>
            <a:ext cx="128699" cy="187198"/>
          </a:xfrm>
          <a:prstGeom prst="rect">
            <a:avLst/>
          </a:prstGeom>
        </p:spPr>
      </p:pic>
      <p:sp>
        <p:nvSpPr>
          <p:cNvPr id="25" name="TextBox 24"/>
          <p:cNvSpPr txBox="1"/>
          <p:nvPr/>
        </p:nvSpPr>
        <p:spPr>
          <a:xfrm>
            <a:off x="8269582" y="586168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9878555" y="5851905"/>
            <a:ext cx="128699" cy="187198"/>
          </a:xfrm>
          <a:prstGeom prst="rect">
            <a:avLst/>
          </a:prstGeom>
        </p:spPr>
      </p:pic>
      <p:sp>
        <p:nvSpPr>
          <p:cNvPr id="27" name="TextBox 26"/>
          <p:cNvSpPr txBox="1"/>
          <p:nvPr/>
        </p:nvSpPr>
        <p:spPr>
          <a:xfrm>
            <a:off x="10046051"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10283946" y="5851905"/>
            <a:ext cx="128699" cy="187198"/>
          </a:xfrm>
          <a:prstGeom prst="rect">
            <a:avLst/>
          </a:prstGeom>
        </p:spPr>
      </p:pic>
      <p:sp>
        <p:nvSpPr>
          <p:cNvPr id="29" name="TextBox 28"/>
          <p:cNvSpPr txBox="1"/>
          <p:nvPr/>
        </p:nvSpPr>
        <p:spPr>
          <a:xfrm>
            <a:off x="10451441" y="5861685"/>
            <a:ext cx="793526" cy="186689"/>
          </a:xfrm>
          <a:prstGeom prst="rect">
            <a:avLst/>
          </a:prstGeom>
          <a:noFill/>
        </p:spPr>
        <p:txBody>
          <a:bodyPr wrap="none" lIns="0" rIns="0" tIns="0" bIns="0">
            <a:spAutoFit/>
          </a:bodyPr>
          <a:lstStyle/>
          <a:p>
            <a:r>
              <a:rPr sz="1100" b="0">
                <a:solidFill>
                  <a:srgbClr val="2E2E2E"/>
                </a:solidFill>
                <a:latin typeface="Calibri"/>
              </a:rPr>
              <a:t>respectively,</a:t>
            </a:r>
          </a:p>
        </p:txBody>
      </p:sp>
      <p:sp>
        <p:nvSpPr>
          <p:cNvPr id="30" name="TextBox 29"/>
          <p:cNvSpPr txBox="1"/>
          <p:nvPr/>
        </p:nvSpPr>
        <p:spPr>
          <a:xfrm>
            <a:off x="257175" y="6029325"/>
            <a:ext cx="1857375" cy="186689"/>
          </a:xfrm>
          <a:prstGeom prst="rect">
            <a:avLst/>
          </a:prstGeom>
          <a:noFill/>
        </p:spPr>
        <p:txBody>
          <a:bodyPr wrap="none" lIns="0" rIns="0" tIns="0" bIns="0">
            <a:spAutoFit/>
          </a:bodyPr>
          <a:lstStyle/>
          <a:p>
            <a:r>
              <a:rPr sz="1100" b="0">
                <a:solidFill>
                  <a:srgbClr val="2E2E2E"/>
                </a:solidFill>
                <a:latin typeface="Calibri"/>
              </a:rPr>
              <a:t>against the segment average of</a:t>
            </a:r>
          </a:p>
        </p:txBody>
      </p:sp>
      <p:pic>
        <p:nvPicPr>
          <p:cNvPr id="31" name="Picture 30" descr="lock.png"/>
          <p:cNvPicPr>
            <a:picLocks noChangeAspect="1"/>
          </p:cNvPicPr>
          <p:nvPr/>
        </p:nvPicPr>
        <p:blipFill>
          <a:blip r:embed="rId6"/>
          <a:stretch>
            <a:fillRect/>
          </a:stretch>
        </p:blipFill>
        <p:spPr>
          <a:xfrm>
            <a:off x="2062601" y="6019545"/>
            <a:ext cx="128699" cy="187198"/>
          </a:xfrm>
          <a:prstGeom prst="rect">
            <a:avLst/>
          </a:prstGeom>
        </p:spPr>
      </p:pic>
      <p:sp>
        <p:nvSpPr>
          <p:cNvPr id="32" name="TextBox 31"/>
          <p:cNvSpPr txBox="1"/>
          <p:nvPr/>
        </p:nvSpPr>
        <p:spPr>
          <a:xfrm>
            <a:off x="2230097" y="6029325"/>
            <a:ext cx="9668279" cy="186689"/>
          </a:xfrm>
          <a:prstGeom prst="rect">
            <a:avLst/>
          </a:prstGeom>
          <a:noFill/>
        </p:spPr>
        <p:txBody>
          <a:bodyPr wrap="none" lIns="0" rIns="0" tIns="0" bIns="0">
            <a:spAutoFit/>
          </a:bodyPr>
          <a:lstStyle/>
          <a:p>
            <a:r>
              <a:rPr sz="1100" b="0">
                <a:solidFill>
                  <a:srgbClr val="2E2E2E"/>
                </a:solidFill>
                <a:latin typeface="Calibri"/>
              </a:rPr>
              <a:t>. The acrylic partial dentures segment is expected to be less attractive as compared to other segments over the forecast period, owing to its lower CAGR and incremental</a:t>
            </a:r>
          </a:p>
        </p:txBody>
      </p:sp>
      <p:sp>
        <p:nvSpPr>
          <p:cNvPr id="33" name="TextBox 32"/>
          <p:cNvSpPr txBox="1"/>
          <p:nvPr/>
        </p:nvSpPr>
        <p:spPr>
          <a:xfrm>
            <a:off x="257175" y="6196965"/>
            <a:ext cx="5122845" cy="186689"/>
          </a:xfrm>
          <a:prstGeom prst="rect">
            <a:avLst/>
          </a:prstGeom>
          <a:noFill/>
        </p:spPr>
        <p:txBody>
          <a:bodyPr wrap="none" lIns="0" rIns="0" tIns="0" bIns="0">
            <a:spAutoFit/>
          </a:bodyPr>
          <a:lstStyle/>
          <a:p>
            <a:r>
              <a:rPr sz="1100" b="0">
                <a:solidFill>
                  <a:srgbClr val="2E2E2E"/>
                </a:solidFill>
                <a:latin typeface="Calibri"/>
              </a:rPr>
              <a:t>opportunity. Bubbles right of the CAGR-Index line grow faster than the segment average.</a:t>
            </a:r>
          </a:p>
        </p:txBody>
      </p:sp>
      <p:sp>
        <p:nvSpPr>
          <p:cNvPr id="34"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Product Type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Cast Metal Partial Dentures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Acrylic Partial Dentures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Flexible Partial Dentures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Combination Framework Partial Dentures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100230" y="2330679"/>
            <a:ext cx="252890" cy="367840"/>
          </a:xfrm>
          <a:prstGeom prst="rect">
            <a:avLst/>
          </a:prstGeom>
        </p:spPr>
      </p:pic>
      <p:pic>
        <p:nvPicPr>
          <p:cNvPr id="25" name="Picture 24" descr="lock.png"/>
          <p:cNvPicPr>
            <a:picLocks noChangeAspect="1"/>
          </p:cNvPicPr>
          <p:nvPr/>
        </p:nvPicPr>
        <p:blipFill>
          <a:blip r:embed="rId8"/>
          <a:stretch>
            <a:fillRect/>
          </a:stretch>
        </p:blipFill>
        <p:spPr>
          <a:xfrm>
            <a:off x="9129555" y="2330679"/>
            <a:ext cx="252890" cy="367840"/>
          </a:xfrm>
          <a:prstGeom prst="rect">
            <a:avLst/>
          </a:prstGeom>
        </p:spPr>
      </p:pic>
      <p:pic>
        <p:nvPicPr>
          <p:cNvPr id="26" name="Picture 25" descr="lock.png"/>
          <p:cNvPicPr>
            <a:picLocks noChangeAspect="1"/>
          </p:cNvPicPr>
          <p:nvPr/>
        </p:nvPicPr>
        <p:blipFill>
          <a:blip r:embed="rId8"/>
          <a:stretch>
            <a:fillRect/>
          </a:stretch>
        </p:blipFill>
        <p:spPr>
          <a:xfrm>
            <a:off x="3100230" y="5216754"/>
            <a:ext cx="252890" cy="367840"/>
          </a:xfrm>
          <a:prstGeom prst="rect">
            <a:avLst/>
          </a:prstGeom>
        </p:spPr>
      </p:pic>
      <p:pic>
        <p:nvPicPr>
          <p:cNvPr id="27" name="Picture 26" descr="lock.png"/>
          <p:cNvPicPr>
            <a:picLocks noChangeAspect="1"/>
          </p:cNvPicPr>
          <p:nvPr/>
        </p:nvPicPr>
        <p:blipFill>
          <a:blip r:embed="rId8"/>
          <a:stretch>
            <a:fillRect/>
          </a:stretch>
        </p:blipFill>
        <p:spPr>
          <a:xfrm>
            <a:off x="9129555" y="5216754"/>
            <a:ext cx="252890" cy="367840"/>
          </a:xfrm>
          <a:prstGeom prst="rect">
            <a:avLst/>
          </a:prstGeom>
        </p:spPr>
      </p:pic>
      <p:sp>
        <p:nvSpPr>
          <p:cNvPr id="28" name="lockshield_13"/>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Product Type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Product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3105150"/>
          </a:xfrm>
          <a:prstGeom prst="roundRect">
            <a:avLst>
              <a:gd name="adj" fmla="val 245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Product Type (Units)</a:t>
            </a:r>
          </a:p>
        </p:txBody>
      </p:sp>
      <p:graphicFrame>
        <p:nvGraphicFramePr>
          <p:cNvPr id="13" name="Table 12"/>
          <p:cNvGraphicFramePr>
            <a:graphicFrameLocks noGrp="1"/>
          </p:cNvGraphicFramePr>
          <p:nvPr/>
        </p:nvGraphicFramePr>
        <p:xfrm>
          <a:off x="152400" y="1238250"/>
          <a:ext cx="11887208" cy="2638427"/>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Product Type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439903">
                <a:tc>
                  <a:txBody>
                    <a:bodyPr wrap="none"/>
                    <a:lstStyle/>
                    <a:p>
                      <a:pPr algn="l"/>
                      <a:r>
                        <a:rPr sz="1100" b="1">
                          <a:solidFill>
                            <a:srgbClr val="2E2E2E"/>
                          </a:solidFill>
                          <a:latin typeface="Calibri"/>
                        </a:rPr>
                        <a:t>Cast Metal Partial</a:t>
                      </a:r>
                      <a:endParaRPr sz="1100"/>
                    </a:p>
                    <a:p>
                      <a:pPr algn="l"/>
                      <a:r>
                        <a:rPr sz="1100" b="1">
                          <a:solidFill>
                            <a:srgbClr val="2E2E2E"/>
                          </a:solidFill>
                          <a:latin typeface="Calibri"/>
                        </a:rPr>
                        <a:t>Dentures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903">
                <a:tc>
                  <a:txBody>
                    <a:bodyPr wrap="none"/>
                    <a:lstStyle/>
                    <a:p>
                      <a:pPr algn="l"/>
                      <a:r>
                        <a:rPr sz="1100" b="1">
                          <a:solidFill>
                            <a:srgbClr val="2E2E2E"/>
                          </a:solidFill>
                          <a:latin typeface="Calibri"/>
                        </a:rPr>
                        <a:t>Acrylic Partial</a:t>
                      </a:r>
                      <a:endParaRPr sz="1100"/>
                    </a:p>
                    <a:p>
                      <a:pPr algn="l"/>
                      <a:r>
                        <a:rPr sz="1100" b="1">
                          <a:solidFill>
                            <a:srgbClr val="2E2E2E"/>
                          </a:solidFill>
                          <a:latin typeface="Calibri"/>
                        </a:rPr>
                        <a:t>Dentures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439903">
                <a:tc>
                  <a:txBody>
                    <a:bodyPr wrap="none"/>
                    <a:lstStyle/>
                    <a:p>
                      <a:pPr algn="l"/>
                      <a:r>
                        <a:rPr sz="1100" b="1">
                          <a:solidFill>
                            <a:srgbClr val="2E2E2E"/>
                          </a:solidFill>
                          <a:latin typeface="Calibri"/>
                        </a:rPr>
                        <a:t>Flexible Partial</a:t>
                      </a:r>
                      <a:endParaRPr sz="1100"/>
                    </a:p>
                    <a:p>
                      <a:pPr algn="l"/>
                      <a:r>
                        <a:rPr sz="1100" b="1">
                          <a:solidFill>
                            <a:srgbClr val="2E2E2E"/>
                          </a:solidFill>
                          <a:latin typeface="Calibri"/>
                        </a:rPr>
                        <a:t>Dentures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632689">
                <a:tc>
                  <a:txBody>
                    <a:bodyPr wrap="none"/>
                    <a:lstStyle/>
                    <a:p>
                      <a:pPr algn="l"/>
                      <a:r>
                        <a:rPr sz="1100" b="1">
                          <a:solidFill>
                            <a:srgbClr val="2E2E2E"/>
                          </a:solidFill>
                          <a:latin typeface="Calibri"/>
                        </a:rPr>
                        <a:t>Combination</a:t>
                      </a:r>
                      <a:endParaRPr sz="1100"/>
                    </a:p>
                    <a:p>
                      <a:pPr algn="l"/>
                      <a:r>
                        <a:rPr sz="1100" b="1">
                          <a:solidFill>
                            <a:srgbClr val="2E2E2E"/>
                          </a:solidFill>
                          <a:latin typeface="Calibri"/>
                        </a:rPr>
                        <a:t>Framework Partial</a:t>
                      </a:r>
                      <a:endParaRPr sz="1100"/>
                    </a:p>
                    <a:p>
                      <a:pPr algn="l"/>
                      <a:r>
                        <a:rPr sz="1100" b="1">
                          <a:solidFill>
                            <a:srgbClr val="2E2E2E"/>
                          </a:solidFill>
                          <a:latin typeface="Calibri"/>
                        </a:rPr>
                        <a:t>Dentures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117">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3886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219575"/>
            <a:ext cx="11906250" cy="2409825"/>
          </a:xfrm>
          <a:prstGeom prst="roundRect">
            <a:avLst>
              <a:gd name="adj" fmla="val 31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30530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Product Type</a:t>
            </a:r>
          </a:p>
        </p:txBody>
      </p:sp>
      <p:sp>
        <p:nvSpPr>
          <p:cNvPr id="17" name="Rectangle 16"/>
          <p:cNvSpPr/>
          <p:nvPr/>
        </p:nvSpPr>
        <p:spPr>
          <a:xfrm>
            <a:off x="276225" y="45434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629150"/>
            <a:ext cx="11639550" cy="19240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2510219"/>
            <a:ext cx="366712" cy="533400"/>
          </a:xfrm>
          <a:prstGeom prst="rect">
            <a:avLst/>
          </a:prstGeom>
        </p:spPr>
      </p:pic>
      <p:sp>
        <p:nvSpPr>
          <p:cNvPr id="21" name="TextBox 20"/>
          <p:cNvSpPr txBox="1"/>
          <p:nvPr/>
        </p:nvSpPr>
        <p:spPr>
          <a:xfrm>
            <a:off x="276225" y="4638675"/>
            <a:ext cx="4436305" cy="194310"/>
          </a:xfrm>
          <a:prstGeom prst="rect">
            <a:avLst/>
          </a:prstGeom>
          <a:noFill/>
        </p:spPr>
        <p:txBody>
          <a:bodyPr wrap="none" lIns="0" rIns="0" tIns="0" bIns="0">
            <a:spAutoFit/>
          </a:bodyPr>
          <a:lstStyle/>
          <a:p>
            <a:r>
              <a:rPr sz="1150" b="0">
                <a:solidFill>
                  <a:srgbClr val="2E2E2E"/>
                </a:solidFill>
                <a:latin typeface="Calibri"/>
              </a:rPr>
              <a:t>Combination framework partial dentures segment is projected to register</a:t>
            </a:r>
          </a:p>
        </p:txBody>
      </p:sp>
      <p:pic>
        <p:nvPicPr>
          <p:cNvPr id="22" name="Picture 21" descr="lock.png"/>
          <p:cNvPicPr>
            <a:picLocks noChangeAspect="1"/>
          </p:cNvPicPr>
          <p:nvPr/>
        </p:nvPicPr>
        <p:blipFill>
          <a:blip r:embed="rId4"/>
          <a:stretch>
            <a:fillRect/>
          </a:stretch>
        </p:blipFill>
        <p:spPr>
          <a:xfrm>
            <a:off x="4661684" y="4628451"/>
            <a:ext cx="134549" cy="195707"/>
          </a:xfrm>
          <a:prstGeom prst="rect">
            <a:avLst/>
          </a:prstGeom>
        </p:spPr>
      </p:pic>
      <p:sp>
        <p:nvSpPr>
          <p:cNvPr id="23" name="TextBox 22"/>
          <p:cNvSpPr txBox="1"/>
          <p:nvPr/>
        </p:nvSpPr>
        <p:spPr>
          <a:xfrm>
            <a:off x="4836794" y="4638675"/>
            <a:ext cx="6819602" cy="194310"/>
          </a:xfrm>
          <a:prstGeom prst="rect">
            <a:avLst/>
          </a:prstGeom>
          <a:noFill/>
        </p:spPr>
        <p:txBody>
          <a:bodyPr wrap="none" lIns="0" rIns="0" tIns="0" bIns="0">
            <a:spAutoFit/>
          </a:bodyPr>
          <a:lstStyle/>
          <a:p>
            <a:r>
              <a:rPr sz="1150" b="0">
                <a:solidFill>
                  <a:srgbClr val="2E2E2E"/>
                </a:solidFill>
                <a:latin typeface="Calibri"/>
              </a:rPr>
              <a:t>X higher volume than cast metal partial dentures segment in 2036. Among removable partial dentures by product</a:t>
            </a:r>
          </a:p>
        </p:txBody>
      </p:sp>
      <p:sp>
        <p:nvSpPr>
          <p:cNvPr id="24" name="TextBox 23"/>
          <p:cNvSpPr txBox="1"/>
          <p:nvPr/>
        </p:nvSpPr>
        <p:spPr>
          <a:xfrm>
            <a:off x="276225" y="4813935"/>
            <a:ext cx="5120041" cy="194310"/>
          </a:xfrm>
          <a:prstGeom prst="rect">
            <a:avLst/>
          </a:prstGeom>
          <a:noFill/>
        </p:spPr>
        <p:txBody>
          <a:bodyPr wrap="none" lIns="0" rIns="0" tIns="0" bIns="0">
            <a:spAutoFit/>
          </a:bodyPr>
          <a:lstStyle/>
          <a:p>
            <a:r>
              <a:rPr sz="1150" b="0">
                <a:solidFill>
                  <a:srgbClr val="2E2E2E"/>
                </a:solidFill>
                <a:latin typeface="Calibri"/>
              </a:rPr>
              <a:t>type, cast metal partial dentures segment is expected to witness the highest CAGR of</a:t>
            </a:r>
          </a:p>
        </p:txBody>
      </p:sp>
      <p:pic>
        <p:nvPicPr>
          <p:cNvPr id="25" name="Picture 24" descr="lock.png"/>
          <p:cNvPicPr>
            <a:picLocks noChangeAspect="1"/>
          </p:cNvPicPr>
          <p:nvPr/>
        </p:nvPicPr>
        <p:blipFill>
          <a:blip r:embed="rId4"/>
          <a:stretch>
            <a:fillRect/>
          </a:stretch>
        </p:blipFill>
        <p:spPr>
          <a:xfrm>
            <a:off x="5345420" y="4803711"/>
            <a:ext cx="134549" cy="195707"/>
          </a:xfrm>
          <a:prstGeom prst="rect">
            <a:avLst/>
          </a:prstGeom>
        </p:spPr>
      </p:pic>
      <p:sp>
        <p:nvSpPr>
          <p:cNvPr id="26" name="TextBox 25"/>
          <p:cNvSpPr txBox="1"/>
          <p:nvPr/>
        </p:nvSpPr>
        <p:spPr>
          <a:xfrm>
            <a:off x="5520529" y="481393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5041772"/>
            <a:ext cx="8459527" cy="194310"/>
          </a:xfrm>
          <a:prstGeom prst="rect">
            <a:avLst/>
          </a:prstGeom>
          <a:noFill/>
        </p:spPr>
        <p:txBody>
          <a:bodyPr wrap="none" lIns="0" rIns="0" tIns="0" bIns="0">
            <a:spAutoFit/>
          </a:bodyPr>
          <a:lstStyle/>
          <a:p>
            <a:r>
              <a:rPr sz="1150" b="0">
                <a:solidFill>
                  <a:srgbClr val="2E2E2E"/>
                </a:solidFill>
                <a:latin typeface="Calibri"/>
              </a:rPr>
              <a:t>In terms of volume share by product type, the combination framework partial dentures segment is expected to dominate the market, gaining</a:t>
            </a:r>
          </a:p>
        </p:txBody>
      </p:sp>
      <p:pic>
        <p:nvPicPr>
          <p:cNvPr id="28" name="Picture 27" descr="lock.png"/>
          <p:cNvPicPr>
            <a:picLocks noChangeAspect="1"/>
          </p:cNvPicPr>
          <p:nvPr/>
        </p:nvPicPr>
        <p:blipFill>
          <a:blip r:embed="rId4"/>
          <a:stretch>
            <a:fillRect/>
          </a:stretch>
        </p:blipFill>
        <p:spPr>
          <a:xfrm>
            <a:off x="8684905" y="5031549"/>
            <a:ext cx="134549" cy="195707"/>
          </a:xfrm>
          <a:prstGeom prst="rect">
            <a:avLst/>
          </a:prstGeom>
        </p:spPr>
      </p:pic>
      <p:sp>
        <p:nvSpPr>
          <p:cNvPr id="29" name="TextBox 28"/>
          <p:cNvSpPr txBox="1"/>
          <p:nvPr/>
        </p:nvSpPr>
        <p:spPr>
          <a:xfrm>
            <a:off x="8860015" y="504177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10255158" y="5031549"/>
            <a:ext cx="134549" cy="195707"/>
          </a:xfrm>
          <a:prstGeom prst="rect">
            <a:avLst/>
          </a:prstGeom>
        </p:spPr>
      </p:pic>
      <p:sp>
        <p:nvSpPr>
          <p:cNvPr id="31" name="TextBox 30"/>
          <p:cNvSpPr txBox="1"/>
          <p:nvPr/>
        </p:nvSpPr>
        <p:spPr>
          <a:xfrm>
            <a:off x="10430267" y="5041772"/>
            <a:ext cx="1200100" cy="194310"/>
          </a:xfrm>
          <a:prstGeom prst="rect">
            <a:avLst/>
          </a:prstGeom>
          <a:noFill/>
        </p:spPr>
        <p:txBody>
          <a:bodyPr wrap="none" lIns="0" rIns="0" tIns="0" bIns="0">
            <a:spAutoFit/>
          </a:bodyPr>
          <a:lstStyle/>
          <a:p>
            <a:r>
              <a:rPr sz="1150" b="0">
                <a:solidFill>
                  <a:srgbClr val="2E2E2E"/>
                </a:solidFill>
                <a:latin typeface="Calibri"/>
              </a:rPr>
              <a:t>share by 2036. The</a:t>
            </a:r>
          </a:p>
        </p:txBody>
      </p:sp>
      <p:sp>
        <p:nvSpPr>
          <p:cNvPr id="32" name="TextBox 31"/>
          <p:cNvSpPr txBox="1"/>
          <p:nvPr/>
        </p:nvSpPr>
        <p:spPr>
          <a:xfrm>
            <a:off x="276225" y="5217032"/>
            <a:ext cx="3172631" cy="194310"/>
          </a:xfrm>
          <a:prstGeom prst="rect">
            <a:avLst/>
          </a:prstGeom>
          <a:noFill/>
        </p:spPr>
        <p:txBody>
          <a:bodyPr wrap="none" lIns="0" rIns="0" tIns="0" bIns="0">
            <a:spAutoFit/>
          </a:bodyPr>
          <a:lstStyle/>
          <a:p>
            <a:r>
              <a:rPr sz="1150" b="0">
                <a:solidFill>
                  <a:srgbClr val="2E2E2E"/>
                </a:solidFill>
                <a:latin typeface="Calibri"/>
              </a:rPr>
              <a:t>flexible partial dentures segment is expected to lose</a:t>
            </a:r>
          </a:p>
        </p:txBody>
      </p:sp>
      <p:pic>
        <p:nvPicPr>
          <p:cNvPr id="33" name="Picture 32" descr="lock.png"/>
          <p:cNvPicPr>
            <a:picLocks noChangeAspect="1"/>
          </p:cNvPicPr>
          <p:nvPr/>
        </p:nvPicPr>
        <p:blipFill>
          <a:blip r:embed="rId4"/>
          <a:stretch>
            <a:fillRect/>
          </a:stretch>
        </p:blipFill>
        <p:spPr>
          <a:xfrm>
            <a:off x="3398010" y="5206809"/>
            <a:ext cx="134549" cy="195707"/>
          </a:xfrm>
          <a:prstGeom prst="rect">
            <a:avLst/>
          </a:prstGeom>
        </p:spPr>
      </p:pic>
      <p:sp>
        <p:nvSpPr>
          <p:cNvPr id="34" name="TextBox 33"/>
          <p:cNvSpPr txBox="1"/>
          <p:nvPr/>
        </p:nvSpPr>
        <p:spPr>
          <a:xfrm>
            <a:off x="3573119" y="5217032"/>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6160623" y="5206809"/>
            <a:ext cx="134549" cy="195707"/>
          </a:xfrm>
          <a:prstGeom prst="rect">
            <a:avLst/>
          </a:prstGeom>
        </p:spPr>
      </p:pic>
      <p:sp>
        <p:nvSpPr>
          <p:cNvPr id="36" name="TextBox 35"/>
          <p:cNvSpPr txBox="1"/>
          <p:nvPr/>
        </p:nvSpPr>
        <p:spPr>
          <a:xfrm>
            <a:off x="6335733" y="521703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Product Type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Product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Product Type (US$ Mn)</a:t>
            </a:r>
          </a:p>
        </p:txBody>
      </p:sp>
      <p:graphicFrame>
        <p:nvGraphicFramePr>
          <p:cNvPr id="13" name="Table 12"/>
          <p:cNvGraphicFramePr>
            <a:graphicFrameLocks noGrp="1"/>
          </p:cNvGraphicFramePr>
          <p:nvPr/>
        </p:nvGraphicFramePr>
        <p:xfrm>
          <a:off x="152400" y="1238250"/>
          <a:ext cx="11887203" cy="1485896"/>
        </p:xfrm>
        <a:graphic>
          <a:graphicData uri="http://schemas.openxmlformats.org/drawingml/2006/table">
            <a:tbl>
              <a:tblPr>
                <a:tableStyleId>{5C22544A-7EE6-4342-B048-85BDC9FD1C3A}</a:tableStyleId>
              </a:tblPr>
              <a:tblGrid>
                <a:gridCol w="2888124"/>
                <a:gridCol w="540561"/>
                <a:gridCol w="540561"/>
                <a:gridCol w="540561"/>
                <a:gridCol w="540561"/>
                <a:gridCol w="540561"/>
                <a:gridCol w="521519"/>
                <a:gridCol w="516079"/>
                <a:gridCol w="516079"/>
                <a:gridCol w="516079"/>
                <a:gridCol w="516079"/>
                <a:gridCol w="516079"/>
                <a:gridCol w="516079"/>
                <a:gridCol w="516079"/>
                <a:gridCol w="516079"/>
                <a:gridCol w="516079"/>
                <a:gridCol w="516079"/>
                <a:gridCol w="613965"/>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1,078</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1,125</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1,731</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4.4%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33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3562350"/>
          </a:xfrm>
          <a:prstGeom prst="roundRect">
            <a:avLst>
              <a:gd name="adj" fmla="val 21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527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Product Type</a:t>
            </a:r>
          </a:p>
        </p:txBody>
      </p:sp>
      <p:sp>
        <p:nvSpPr>
          <p:cNvPr id="17" name="Rectangle 16"/>
          <p:cNvSpPr/>
          <p:nvPr/>
        </p:nvSpPr>
        <p:spPr>
          <a:xfrm>
            <a:off x="276225" y="3390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476625"/>
            <a:ext cx="11639550" cy="30765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353373" y="1837563"/>
            <a:ext cx="366712" cy="533400"/>
          </a:xfrm>
          <a:prstGeom prst="rect">
            <a:avLst/>
          </a:prstGeom>
        </p:spPr>
      </p:pic>
      <p:sp>
        <p:nvSpPr>
          <p:cNvPr id="21" name="TextBox 20"/>
          <p:cNvSpPr txBox="1"/>
          <p:nvPr/>
        </p:nvSpPr>
        <p:spPr>
          <a:xfrm>
            <a:off x="276225" y="3486150"/>
            <a:ext cx="3437917" cy="194310"/>
          </a:xfrm>
          <a:prstGeom prst="rect">
            <a:avLst/>
          </a:prstGeom>
          <a:noFill/>
        </p:spPr>
        <p:txBody>
          <a:bodyPr wrap="none" lIns="0" rIns="0" tIns="0" bIns="0">
            <a:spAutoFit/>
          </a:bodyPr>
          <a:lstStyle/>
          <a:p>
            <a:r>
              <a:rPr sz="1150" b="0">
                <a:solidFill>
                  <a:srgbClr val="2E2E2E"/>
                </a:solidFill>
                <a:latin typeface="Calibri"/>
              </a:rPr>
              <a:t>Flexible partial dentures segment is projected to register</a:t>
            </a:r>
          </a:p>
        </p:txBody>
      </p:sp>
      <p:pic>
        <p:nvPicPr>
          <p:cNvPr id="22" name="Picture 21" descr="lock.png"/>
          <p:cNvPicPr>
            <a:picLocks noChangeAspect="1"/>
          </p:cNvPicPr>
          <p:nvPr/>
        </p:nvPicPr>
        <p:blipFill>
          <a:blip r:embed="rId4"/>
          <a:stretch>
            <a:fillRect/>
          </a:stretch>
        </p:blipFill>
        <p:spPr>
          <a:xfrm>
            <a:off x="3663296" y="3475926"/>
            <a:ext cx="134549" cy="195707"/>
          </a:xfrm>
          <a:prstGeom prst="rect">
            <a:avLst/>
          </a:prstGeom>
        </p:spPr>
      </p:pic>
      <p:sp>
        <p:nvSpPr>
          <p:cNvPr id="23" name="TextBox 22"/>
          <p:cNvSpPr txBox="1"/>
          <p:nvPr/>
        </p:nvSpPr>
        <p:spPr>
          <a:xfrm>
            <a:off x="3838405" y="3486150"/>
            <a:ext cx="7853077" cy="194310"/>
          </a:xfrm>
          <a:prstGeom prst="rect">
            <a:avLst/>
          </a:prstGeom>
          <a:noFill/>
        </p:spPr>
        <p:txBody>
          <a:bodyPr wrap="none" lIns="0" rIns="0" tIns="0" bIns="0">
            <a:spAutoFit/>
          </a:bodyPr>
          <a:lstStyle/>
          <a:p>
            <a:r>
              <a:rPr sz="1150" b="0">
                <a:solidFill>
                  <a:srgbClr val="2E2E2E"/>
                </a:solidFill>
                <a:latin typeface="Calibri"/>
              </a:rPr>
              <a:t>X higher value than combination framework partial dentures segment in 2036. Among removable partial dentures by product type,</a:t>
            </a:r>
          </a:p>
        </p:txBody>
      </p:sp>
      <p:sp>
        <p:nvSpPr>
          <p:cNvPr id="24" name="TextBox 23"/>
          <p:cNvSpPr txBox="1"/>
          <p:nvPr/>
        </p:nvSpPr>
        <p:spPr>
          <a:xfrm>
            <a:off x="276225" y="3661410"/>
            <a:ext cx="4785724" cy="194310"/>
          </a:xfrm>
          <a:prstGeom prst="rect">
            <a:avLst/>
          </a:prstGeom>
          <a:noFill/>
        </p:spPr>
        <p:txBody>
          <a:bodyPr wrap="none" lIns="0" rIns="0" tIns="0" bIns="0">
            <a:spAutoFit/>
          </a:bodyPr>
          <a:lstStyle/>
          <a:p>
            <a:r>
              <a:rPr sz="1150" b="0">
                <a:solidFill>
                  <a:srgbClr val="2E2E2E"/>
                </a:solidFill>
                <a:latin typeface="Calibri"/>
              </a:rPr>
              <a:t>cast metal partial dentures segment is expected to witness the highest CAGR of</a:t>
            </a:r>
          </a:p>
        </p:txBody>
      </p:sp>
      <p:pic>
        <p:nvPicPr>
          <p:cNvPr id="25" name="Picture 24" descr="lock.png"/>
          <p:cNvPicPr>
            <a:picLocks noChangeAspect="1"/>
          </p:cNvPicPr>
          <p:nvPr/>
        </p:nvPicPr>
        <p:blipFill>
          <a:blip r:embed="rId4"/>
          <a:stretch>
            <a:fillRect/>
          </a:stretch>
        </p:blipFill>
        <p:spPr>
          <a:xfrm>
            <a:off x="5011103" y="3651186"/>
            <a:ext cx="134549" cy="195707"/>
          </a:xfrm>
          <a:prstGeom prst="rect">
            <a:avLst/>
          </a:prstGeom>
        </p:spPr>
      </p:pic>
      <p:sp>
        <p:nvSpPr>
          <p:cNvPr id="26" name="TextBox 25"/>
          <p:cNvSpPr txBox="1"/>
          <p:nvPr/>
        </p:nvSpPr>
        <p:spPr>
          <a:xfrm>
            <a:off x="5186212" y="36614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889247"/>
            <a:ext cx="7249479" cy="194310"/>
          </a:xfrm>
          <a:prstGeom prst="rect">
            <a:avLst/>
          </a:prstGeom>
          <a:noFill/>
        </p:spPr>
        <p:txBody>
          <a:bodyPr wrap="none" lIns="0" rIns="0" tIns="0" bIns="0">
            <a:spAutoFit/>
          </a:bodyPr>
          <a:lstStyle/>
          <a:p>
            <a:r>
              <a:rPr sz="1150" b="0">
                <a:solidFill>
                  <a:srgbClr val="2E2E2E"/>
                </a:solidFill>
                <a:latin typeface="Calibri"/>
              </a:rPr>
              <a:t>In terms of value share by product type, the flexible partial dentures segment is expected to dominate the market, losing</a:t>
            </a:r>
          </a:p>
        </p:txBody>
      </p:sp>
      <p:pic>
        <p:nvPicPr>
          <p:cNvPr id="28" name="Picture 27" descr="lock.png"/>
          <p:cNvPicPr>
            <a:picLocks noChangeAspect="1"/>
          </p:cNvPicPr>
          <p:nvPr/>
        </p:nvPicPr>
        <p:blipFill>
          <a:blip r:embed="rId4"/>
          <a:stretch>
            <a:fillRect/>
          </a:stretch>
        </p:blipFill>
        <p:spPr>
          <a:xfrm>
            <a:off x="7474858" y="3879024"/>
            <a:ext cx="134549" cy="195707"/>
          </a:xfrm>
          <a:prstGeom prst="rect">
            <a:avLst/>
          </a:prstGeom>
        </p:spPr>
      </p:pic>
      <p:sp>
        <p:nvSpPr>
          <p:cNvPr id="29" name="TextBox 28"/>
          <p:cNvSpPr txBox="1"/>
          <p:nvPr/>
        </p:nvSpPr>
        <p:spPr>
          <a:xfrm>
            <a:off x="7649968" y="38892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045111" y="3879024"/>
            <a:ext cx="134549" cy="195707"/>
          </a:xfrm>
          <a:prstGeom prst="rect">
            <a:avLst/>
          </a:prstGeom>
        </p:spPr>
      </p:pic>
      <p:sp>
        <p:nvSpPr>
          <p:cNvPr id="31" name="TextBox 30"/>
          <p:cNvSpPr txBox="1"/>
          <p:nvPr/>
        </p:nvSpPr>
        <p:spPr>
          <a:xfrm>
            <a:off x="9220220" y="388924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Product Type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Product Type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071032"/>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06627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99007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Acrylic Partial Dentures</a:t>
            </a:r>
          </a:p>
        </p:txBody>
      </p:sp>
      <p:sp>
        <p:nvSpPr>
          <p:cNvPr id="19" name="BPS Value 1"/>
          <p:cNvSpPr txBox="1"/>
          <p:nvPr/>
        </p:nvSpPr>
        <p:spPr>
          <a:xfrm>
            <a:off x="6896100" y="2051982"/>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3040251"/>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303548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95928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Cast Metal Partial Dentures</a:t>
            </a:r>
          </a:p>
        </p:txBody>
      </p:sp>
      <p:sp>
        <p:nvSpPr>
          <p:cNvPr id="23" name="BPS Value 2"/>
          <p:cNvSpPr txBox="1"/>
          <p:nvPr/>
        </p:nvSpPr>
        <p:spPr>
          <a:xfrm>
            <a:off x="6896100" y="3021201"/>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928997" y="4226859"/>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422209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414589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Combination Framework Partial Dentures</a:t>
            </a:r>
          </a:p>
        </p:txBody>
      </p:sp>
      <p:sp>
        <p:nvSpPr>
          <p:cNvPr id="27" name="BPS Value 3"/>
          <p:cNvSpPr txBox="1"/>
          <p:nvPr/>
        </p:nvSpPr>
        <p:spPr>
          <a:xfrm>
            <a:off x="6896100" y="4207809"/>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8" name="FMI Legend Chip"/>
          <p:cNvSpPr/>
          <p:nvPr/>
        </p:nvSpPr>
        <p:spPr>
          <a:xfrm>
            <a:off x="4928997" y="5543830"/>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553906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46286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Flexible Partial Dentures</a:t>
            </a:r>
          </a:p>
        </p:txBody>
      </p:sp>
      <p:sp>
        <p:nvSpPr>
          <p:cNvPr id="31" name="BPS Value 4"/>
          <p:cNvSpPr txBox="1"/>
          <p:nvPr/>
        </p:nvSpPr>
        <p:spPr>
          <a:xfrm>
            <a:off x="6896100" y="5524780"/>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Product Type</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7" name="Picture 36" descr="lock.png"/>
          <p:cNvPicPr>
            <a:picLocks noChangeAspect="1"/>
          </p:cNvPicPr>
          <p:nvPr/>
        </p:nvPicPr>
        <p:blipFill>
          <a:blip r:embed="rId5"/>
          <a:stretch>
            <a:fillRect/>
          </a:stretch>
        </p:blipFill>
        <p:spPr>
          <a:xfrm>
            <a:off x="2557843" y="3833622"/>
            <a:ext cx="275034" cy="400050"/>
          </a:xfrm>
          <a:prstGeom prst="rect">
            <a:avLst/>
          </a:prstGeom>
        </p:spPr>
      </p:pic>
      <p:sp>
        <p:nvSpPr>
          <p:cNvPr id="38" name="TextBox 37"/>
          <p:cNvSpPr txBox="1"/>
          <p:nvPr/>
        </p:nvSpPr>
        <p:spPr>
          <a:xfrm>
            <a:off x="7829550" y="1400175"/>
            <a:ext cx="3811029" cy="194310"/>
          </a:xfrm>
          <a:prstGeom prst="rect">
            <a:avLst/>
          </a:prstGeom>
          <a:noFill/>
        </p:spPr>
        <p:txBody>
          <a:bodyPr wrap="none" lIns="0" rIns="0" tIns="0" bIns="0">
            <a:spAutoFit/>
          </a:bodyPr>
          <a:lstStyle/>
          <a:p>
            <a:r>
              <a:rPr sz="1150" b="0">
                <a:solidFill>
                  <a:srgbClr val="2E2E2E"/>
                </a:solidFill>
                <a:latin typeface="Calibri"/>
              </a:rPr>
              <a:t>Among removable partial dentures by product type, cast metal</a:t>
            </a:r>
          </a:p>
        </p:txBody>
      </p:sp>
      <p:sp>
        <p:nvSpPr>
          <p:cNvPr id="39" name="TextBox 38"/>
          <p:cNvSpPr txBox="1"/>
          <p:nvPr/>
        </p:nvSpPr>
        <p:spPr>
          <a:xfrm>
            <a:off x="7829550" y="1575435"/>
            <a:ext cx="3985016" cy="194310"/>
          </a:xfrm>
          <a:prstGeom prst="rect">
            <a:avLst/>
          </a:prstGeom>
          <a:noFill/>
        </p:spPr>
        <p:txBody>
          <a:bodyPr wrap="none" lIns="0" rIns="0" tIns="0" bIns="0">
            <a:spAutoFit/>
          </a:bodyPr>
          <a:lstStyle/>
          <a:p>
            <a:r>
              <a:rPr sz="1150" b="0">
                <a:solidFill>
                  <a:srgbClr val="2E2E2E"/>
                </a:solidFill>
                <a:latin typeface="Calibri"/>
              </a:rPr>
              <a:t>partial dentures segment is expected to witness the highest CAGR</a:t>
            </a:r>
          </a:p>
        </p:txBody>
      </p:sp>
      <p:sp>
        <p:nvSpPr>
          <p:cNvPr id="40" name="TextBox 39"/>
          <p:cNvSpPr txBox="1"/>
          <p:nvPr/>
        </p:nvSpPr>
        <p:spPr>
          <a:xfrm>
            <a:off x="7829550" y="1750695"/>
            <a:ext cx="197718" cy="194310"/>
          </a:xfrm>
          <a:prstGeom prst="rect">
            <a:avLst/>
          </a:prstGeom>
          <a:noFill/>
        </p:spPr>
        <p:txBody>
          <a:bodyPr wrap="none" lIns="0" rIns="0" tIns="0" bIns="0">
            <a:spAutoFit/>
          </a:bodyPr>
          <a:lstStyle/>
          <a:p>
            <a:r>
              <a:rPr sz="1150" b="0">
                <a:solidFill>
                  <a:srgbClr val="2E2E2E"/>
                </a:solidFill>
                <a:latin typeface="Calibri"/>
              </a:rPr>
              <a:t>of</a:t>
            </a:r>
          </a:p>
        </p:txBody>
      </p:sp>
      <p:pic>
        <p:nvPicPr>
          <p:cNvPr id="41" name="Picture 40" descr="lock.png"/>
          <p:cNvPicPr>
            <a:picLocks noChangeAspect="1"/>
          </p:cNvPicPr>
          <p:nvPr/>
        </p:nvPicPr>
        <p:blipFill>
          <a:blip r:embed="rId5"/>
          <a:stretch>
            <a:fillRect/>
          </a:stretch>
        </p:blipFill>
        <p:spPr>
          <a:xfrm>
            <a:off x="7976422" y="1740471"/>
            <a:ext cx="134549" cy="195707"/>
          </a:xfrm>
          <a:prstGeom prst="rect">
            <a:avLst/>
          </a:prstGeom>
        </p:spPr>
      </p:pic>
      <p:sp>
        <p:nvSpPr>
          <p:cNvPr id="42" name="TextBox 41"/>
          <p:cNvSpPr txBox="1"/>
          <p:nvPr/>
        </p:nvSpPr>
        <p:spPr>
          <a:xfrm>
            <a:off x="8151531" y="175069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43" name="TextBox 42"/>
          <p:cNvSpPr txBox="1"/>
          <p:nvPr/>
        </p:nvSpPr>
        <p:spPr>
          <a:xfrm>
            <a:off x="7829550" y="1978533"/>
            <a:ext cx="4057650" cy="194310"/>
          </a:xfrm>
          <a:prstGeom prst="rect">
            <a:avLst/>
          </a:prstGeom>
          <a:noFill/>
        </p:spPr>
        <p:txBody>
          <a:bodyPr wrap="none" lIns="0" rIns="0" tIns="0" bIns="0">
            <a:spAutoFit/>
          </a:bodyPr>
          <a:lstStyle/>
          <a:p>
            <a:r>
              <a:rPr sz="1150" b="0">
                <a:solidFill>
                  <a:srgbClr val="2E2E2E"/>
                </a:solidFill>
                <a:latin typeface="Calibri"/>
              </a:rPr>
              <a:t>In terms of value share by product type, the flexible partial dentures</a:t>
            </a:r>
          </a:p>
        </p:txBody>
      </p:sp>
      <p:sp>
        <p:nvSpPr>
          <p:cNvPr id="44" name="TextBox 43"/>
          <p:cNvSpPr txBox="1"/>
          <p:nvPr/>
        </p:nvSpPr>
        <p:spPr>
          <a:xfrm>
            <a:off x="7829550" y="2153793"/>
            <a:ext cx="3164644" cy="194310"/>
          </a:xfrm>
          <a:prstGeom prst="rect">
            <a:avLst/>
          </a:prstGeom>
          <a:noFill/>
        </p:spPr>
        <p:txBody>
          <a:bodyPr wrap="none" lIns="0" rIns="0" tIns="0" bIns="0">
            <a:spAutoFit/>
          </a:bodyPr>
          <a:lstStyle/>
          <a:p>
            <a:r>
              <a:rPr sz="1150" b="0">
                <a:solidFill>
                  <a:srgbClr val="2E2E2E"/>
                </a:solidFill>
                <a:latin typeface="Calibri"/>
              </a:rPr>
              <a:t>segment is expected to dominate the market, losing</a:t>
            </a:r>
          </a:p>
        </p:txBody>
      </p:sp>
      <p:pic>
        <p:nvPicPr>
          <p:cNvPr id="45" name="Picture 44" descr="lock.png"/>
          <p:cNvPicPr>
            <a:picLocks noChangeAspect="1"/>
          </p:cNvPicPr>
          <p:nvPr/>
        </p:nvPicPr>
        <p:blipFill>
          <a:blip r:embed="rId5"/>
          <a:stretch>
            <a:fillRect/>
          </a:stretch>
        </p:blipFill>
        <p:spPr>
          <a:xfrm>
            <a:off x="10943347" y="2143569"/>
            <a:ext cx="134549" cy="195707"/>
          </a:xfrm>
          <a:prstGeom prst="rect">
            <a:avLst/>
          </a:prstGeom>
        </p:spPr>
      </p:pic>
      <p:sp>
        <p:nvSpPr>
          <p:cNvPr id="46" name="TextBox 45"/>
          <p:cNvSpPr txBox="1"/>
          <p:nvPr/>
        </p:nvSpPr>
        <p:spPr>
          <a:xfrm>
            <a:off x="11118457" y="2153793"/>
            <a:ext cx="554856" cy="194310"/>
          </a:xfrm>
          <a:prstGeom prst="rect">
            <a:avLst/>
          </a:prstGeom>
          <a:noFill/>
        </p:spPr>
        <p:txBody>
          <a:bodyPr wrap="none" lIns="0" rIns="0" tIns="0" bIns="0">
            <a:spAutoFit/>
          </a:bodyPr>
          <a:lstStyle/>
          <a:p>
            <a:r>
              <a:rPr sz="1150" b="0">
                <a:solidFill>
                  <a:srgbClr val="2E2E2E"/>
                </a:solidFill>
                <a:latin typeface="Calibri"/>
              </a:rPr>
              <a:t>BPS and</a:t>
            </a:r>
          </a:p>
        </p:txBody>
      </p:sp>
      <p:sp>
        <p:nvSpPr>
          <p:cNvPr id="47" name="TextBox 46"/>
          <p:cNvSpPr txBox="1"/>
          <p:nvPr/>
        </p:nvSpPr>
        <p:spPr>
          <a:xfrm>
            <a:off x="7829550" y="2329053"/>
            <a:ext cx="934243" cy="194310"/>
          </a:xfrm>
          <a:prstGeom prst="rect">
            <a:avLst/>
          </a:prstGeom>
          <a:noFill/>
        </p:spPr>
        <p:txBody>
          <a:bodyPr wrap="none" lIns="0" rIns="0" tIns="0" bIns="0">
            <a:spAutoFit/>
          </a:bodyPr>
          <a:lstStyle/>
          <a:p>
            <a:r>
              <a:rPr sz="1150" b="0">
                <a:solidFill>
                  <a:srgbClr val="2E2E2E"/>
                </a:solidFill>
                <a:latin typeface="Calibri"/>
              </a:rPr>
              <a:t>accounting for</a:t>
            </a:r>
          </a:p>
        </p:txBody>
      </p:sp>
      <p:pic>
        <p:nvPicPr>
          <p:cNvPr id="48" name="Picture 47" descr="lock.png"/>
          <p:cNvPicPr>
            <a:picLocks noChangeAspect="1"/>
          </p:cNvPicPr>
          <p:nvPr/>
        </p:nvPicPr>
        <p:blipFill>
          <a:blip r:embed="rId5"/>
          <a:stretch>
            <a:fillRect/>
          </a:stretch>
        </p:blipFill>
        <p:spPr>
          <a:xfrm>
            <a:off x="8712947" y="2318829"/>
            <a:ext cx="134549" cy="195707"/>
          </a:xfrm>
          <a:prstGeom prst="rect">
            <a:avLst/>
          </a:prstGeom>
        </p:spPr>
      </p:pic>
      <p:sp>
        <p:nvSpPr>
          <p:cNvPr id="49" name="TextBox 48"/>
          <p:cNvSpPr txBox="1"/>
          <p:nvPr/>
        </p:nvSpPr>
        <p:spPr>
          <a:xfrm>
            <a:off x="8888056" y="232905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50"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Product Type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Product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1238250"/>
        </p:xfrm>
        <a:graphic>
          <a:graphicData uri="http://schemas.openxmlformats.org/drawingml/2006/table">
            <a:tbl>
              <a:tblPr>
                <a:tableStyleId>{5C22544A-7EE6-4342-B048-85BDC9FD1C3A}</a:tableStyleId>
              </a:tblPr>
              <a:tblGrid>
                <a:gridCol w="2793155"/>
                <a:gridCol w="606270"/>
                <a:gridCol w="606270"/>
                <a:gridCol w="606270"/>
                <a:gridCol w="606270"/>
                <a:gridCol w="606270"/>
                <a:gridCol w="606270"/>
                <a:gridCol w="606270"/>
                <a:gridCol w="606270"/>
                <a:gridCol w="606270"/>
                <a:gridCol w="606270"/>
                <a:gridCol w="606270"/>
                <a:gridCol w="606270"/>
                <a:gridCol w="606270"/>
                <a:gridCol w="606270"/>
                <a:gridCol w="606270"/>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Product Type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Cast Metal Partial Dentures</a:t>
            </a:r>
          </a:p>
        </p:txBody>
      </p:sp>
      <p:sp>
        <p:nvSpPr>
          <p:cNvPr id="33" name="Rectangle 32"/>
          <p:cNvSpPr/>
          <p:nvPr/>
        </p:nvSpPr>
        <p:spPr>
          <a:xfrm>
            <a:off x="1857375" y="3248025"/>
            <a:ext cx="643890" cy="831056"/>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0F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0D5D8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0B32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0C3F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Acrylic Partial Dentures</a:t>
            </a:r>
          </a:p>
        </p:txBody>
      </p:sp>
      <p:sp>
        <p:nvSpPr>
          <p:cNvPr id="49" name="Rectangle 48"/>
          <p:cNvSpPr/>
          <p:nvPr/>
        </p:nvSpPr>
        <p:spPr>
          <a:xfrm>
            <a:off x="1857375" y="4079081"/>
            <a:ext cx="643890" cy="831056"/>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Flexible Partial Dentures</a:t>
            </a:r>
          </a:p>
        </p:txBody>
      </p:sp>
      <p:sp>
        <p:nvSpPr>
          <p:cNvPr id="65" name="Rectangle 64"/>
          <p:cNvSpPr/>
          <p:nvPr/>
        </p:nvSpPr>
        <p:spPr>
          <a:xfrm>
            <a:off x="185737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Combination Framework Partial Dentures</a:t>
            </a:r>
          </a:p>
        </p:txBody>
      </p:sp>
      <p:sp>
        <p:nvSpPr>
          <p:cNvPr id="81" name="Rectangle 80"/>
          <p:cNvSpPr/>
          <p:nvPr/>
        </p:nvSpPr>
        <p:spPr>
          <a:xfrm>
            <a:off x="1857375" y="5741194"/>
            <a:ext cx="643890" cy="831056"/>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41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40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7305889" y="1713738"/>
            <a:ext cx="366712" cy="533400"/>
          </a:xfrm>
          <a:prstGeom prst="rect">
            <a:avLst/>
          </a:prstGeom>
        </p:spPr>
      </p:pic>
    </p:spTree>
  </p:cSld>
  <p:clrMapOvr>
    <a:masterClrMapping/>
  </p:clrMapOvr>
</p:sld>
</file>

<file path=ppt/slides/slide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Product Type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1238250"/>
        </p:xfrm>
        <a:graphic>
          <a:graphicData uri="http://schemas.openxmlformats.org/drawingml/2006/table">
            <a:tbl>
              <a:tblPr>
                <a:tableStyleId>{5C22544A-7EE6-4342-B048-85BDC9FD1C3A}</a:tableStyleId>
              </a:tblPr>
              <a:tblGrid>
                <a:gridCol w="2793155"/>
                <a:gridCol w="606270"/>
                <a:gridCol w="606270"/>
                <a:gridCol w="606270"/>
                <a:gridCol w="606270"/>
                <a:gridCol w="606270"/>
                <a:gridCol w="606270"/>
                <a:gridCol w="606270"/>
                <a:gridCol w="606270"/>
                <a:gridCol w="606270"/>
                <a:gridCol w="606270"/>
                <a:gridCol w="606270"/>
                <a:gridCol w="606270"/>
                <a:gridCol w="606270"/>
                <a:gridCol w="606270"/>
                <a:gridCol w="606270"/>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Product Type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Cast Metal Partial Dentures</a:t>
            </a:r>
          </a:p>
        </p:txBody>
      </p:sp>
      <p:sp>
        <p:nvSpPr>
          <p:cNvPr id="33" name="Rectangle 32"/>
          <p:cNvSpPr/>
          <p:nvPr/>
        </p:nvSpPr>
        <p:spPr>
          <a:xfrm>
            <a:off x="1857375" y="3248025"/>
            <a:ext cx="643890" cy="831056"/>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0D5D8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0C39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Acrylic Partial Dentures</a:t>
            </a:r>
          </a:p>
        </p:txBody>
      </p:sp>
      <p:sp>
        <p:nvSpPr>
          <p:cNvPr id="49" name="Rectangle 48"/>
          <p:cNvSpPr/>
          <p:nvPr/>
        </p:nvSpPr>
        <p:spPr>
          <a:xfrm>
            <a:off x="1857375" y="4079081"/>
            <a:ext cx="643890" cy="831056"/>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DFED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E6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Flexible Partial Dentures</a:t>
            </a:r>
          </a:p>
        </p:txBody>
      </p:sp>
      <p:sp>
        <p:nvSpPr>
          <p:cNvPr id="65" name="Rectangle 64"/>
          <p:cNvSpPr/>
          <p:nvPr/>
        </p:nvSpPr>
        <p:spPr>
          <a:xfrm>
            <a:off x="185737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Combination Framework Partial Dentures</a:t>
            </a:r>
          </a:p>
        </p:txBody>
      </p:sp>
      <p:sp>
        <p:nvSpPr>
          <p:cNvPr id="81" name="Rectangle 80"/>
          <p:cNvSpPr/>
          <p:nvPr/>
        </p:nvSpPr>
        <p:spPr>
          <a:xfrm>
            <a:off x="1857375" y="5741194"/>
            <a:ext cx="643890" cy="831056"/>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43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41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40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7305889" y="1713738"/>
            <a:ext cx="366712" cy="533400"/>
          </a:xfrm>
          <a:prstGeom prst="rect">
            <a:avLst/>
          </a:prstGeom>
        </p:spPr>
      </p:pic>
      <p:pic>
        <p:nvPicPr>
          <p:cNvPr id="142" name="Picture 141" descr="lock.png"/>
          <p:cNvPicPr>
            <a:picLocks noChangeAspect="1"/>
          </p:cNvPicPr>
          <p:nvPr/>
        </p:nvPicPr>
        <p:blipFill>
          <a:blip r:embed="rId4"/>
          <a:stretch>
            <a:fillRect/>
          </a:stretch>
        </p:blipFill>
        <p:spPr>
          <a:xfrm>
            <a:off x="11760938" y="3192526"/>
            <a:ext cx="128699" cy="187198"/>
          </a:xfrm>
          <a:prstGeom prst="rect">
            <a:avLst/>
          </a:prstGeom>
        </p:spPr>
      </p:pic>
      <p:pic>
        <p:nvPicPr>
          <p:cNvPr id="143" name="Picture 142" descr="lock.png"/>
          <p:cNvPicPr>
            <a:picLocks noChangeAspect="1"/>
          </p:cNvPicPr>
          <p:nvPr/>
        </p:nvPicPr>
        <p:blipFill>
          <a:blip r:embed="rId4"/>
          <a:stretch>
            <a:fillRect/>
          </a:stretch>
        </p:blipFill>
        <p:spPr>
          <a:xfrm>
            <a:off x="11760938" y="4816538"/>
            <a:ext cx="128699" cy="187198"/>
          </a:xfrm>
          <a:prstGeom prst="rect">
            <a:avLst/>
          </a:prstGeom>
        </p:spPr>
      </p:pic>
      <p:pic>
        <p:nvPicPr>
          <p:cNvPr id="144" name="Picture 143"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5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Material Type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Material Type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Material Type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Material Type,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Material Type segment categorizes the market by material type.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Acrylic / Resin</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Metal Alloys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Flexible Thermoplastics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High-performance Polymers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Material Type split shows how demand is distributed across material type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Material Type segment is projected to grow at a CAGR of 4.4%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4" name="Picture 63" descr="489_2_605E5C.png"/>
          <p:cNvPicPr>
            <a:picLocks noChangeAspect="1"/>
          </p:cNvPicPr>
          <p:nvPr/>
        </p:nvPicPr>
        <p:blipFill>
          <a:blip r:embed="rId4"/>
          <a:stretch>
            <a:fillRect/>
          </a:stretch>
        </p:blipFill>
        <p:spPr>
          <a:xfrm>
            <a:off x="2476330" y="2286582"/>
            <a:ext cx="1195728" cy="361950"/>
          </a:xfrm>
          <a:prstGeom prst="rect">
            <a:avLst/>
          </a:prstGeom>
        </p:spPr>
      </p:pic>
      <p:pic>
        <p:nvPicPr>
          <p:cNvPr id="65" name="Picture 64" descr="761_2_605E5C.png"/>
          <p:cNvPicPr>
            <a:picLocks noChangeAspect="1"/>
          </p:cNvPicPr>
          <p:nvPr/>
        </p:nvPicPr>
        <p:blipFill>
          <a:blip r:embed="rId5"/>
          <a:stretch>
            <a:fillRect/>
          </a:stretch>
        </p:blipFill>
        <p:spPr>
          <a:xfrm>
            <a:off x="2476330" y="2779432"/>
            <a:ext cx="1195728" cy="361950"/>
          </a:xfrm>
          <a:prstGeom prst="rect">
            <a:avLst/>
          </a:prstGeom>
        </p:spPr>
      </p:pic>
      <p:pic>
        <p:nvPicPr>
          <p:cNvPr id="66" name="Picture 65" descr="4_5__605E5C.png"/>
          <p:cNvPicPr>
            <a:picLocks noChangeAspect="1"/>
          </p:cNvPicPr>
          <p:nvPr/>
        </p:nvPicPr>
        <p:blipFill>
          <a:blip r:embed="rId6"/>
          <a:stretch>
            <a:fillRect/>
          </a:stretch>
        </p:blipFill>
        <p:spPr>
          <a:xfrm>
            <a:off x="2582976" y="3272281"/>
            <a:ext cx="982436" cy="361950"/>
          </a:xfrm>
          <a:prstGeom prst="rect">
            <a:avLst/>
          </a:prstGeom>
        </p:spPr>
      </p:pic>
      <p:pic>
        <p:nvPicPr>
          <p:cNvPr id="67" name="Picture 66" descr="324_7_605E5C.png"/>
          <p:cNvPicPr>
            <a:picLocks noChangeAspect="1"/>
          </p:cNvPicPr>
          <p:nvPr/>
        </p:nvPicPr>
        <p:blipFill>
          <a:blip r:embed="rId7"/>
          <a:stretch>
            <a:fillRect/>
          </a:stretch>
        </p:blipFill>
        <p:spPr>
          <a:xfrm>
            <a:off x="5005218" y="2286582"/>
            <a:ext cx="1195728" cy="361950"/>
          </a:xfrm>
          <a:prstGeom prst="rect">
            <a:avLst/>
          </a:prstGeom>
        </p:spPr>
      </p:pic>
      <p:pic>
        <p:nvPicPr>
          <p:cNvPr id="68" name="Picture 67" descr="496_4_605E5C.png"/>
          <p:cNvPicPr>
            <a:picLocks noChangeAspect="1"/>
          </p:cNvPicPr>
          <p:nvPr/>
        </p:nvPicPr>
        <p:blipFill>
          <a:blip r:embed="rId8"/>
          <a:stretch>
            <a:fillRect/>
          </a:stretch>
        </p:blipFill>
        <p:spPr>
          <a:xfrm>
            <a:off x="5005218" y="2779432"/>
            <a:ext cx="1195728" cy="361950"/>
          </a:xfrm>
          <a:prstGeom prst="rect">
            <a:avLst/>
          </a:prstGeom>
        </p:spPr>
      </p:pic>
      <p:pic>
        <p:nvPicPr>
          <p:cNvPr id="69" name="Picture 68" descr="4_3__605E5C.png"/>
          <p:cNvPicPr>
            <a:picLocks noChangeAspect="1"/>
          </p:cNvPicPr>
          <p:nvPr/>
        </p:nvPicPr>
        <p:blipFill>
          <a:blip r:embed="rId9"/>
          <a:stretch>
            <a:fillRect/>
          </a:stretch>
        </p:blipFill>
        <p:spPr>
          <a:xfrm>
            <a:off x="5111864" y="3272281"/>
            <a:ext cx="982436" cy="361950"/>
          </a:xfrm>
          <a:prstGeom prst="rect">
            <a:avLst/>
          </a:prstGeom>
        </p:spPr>
      </p:pic>
      <p:pic>
        <p:nvPicPr>
          <p:cNvPr id="70" name="Picture 69" descr="208_9_605E5C.png"/>
          <p:cNvPicPr>
            <a:picLocks noChangeAspect="1"/>
          </p:cNvPicPr>
          <p:nvPr/>
        </p:nvPicPr>
        <p:blipFill>
          <a:blip r:embed="rId10"/>
          <a:stretch>
            <a:fillRect/>
          </a:stretch>
        </p:blipFill>
        <p:spPr>
          <a:xfrm>
            <a:off x="7534105" y="2286582"/>
            <a:ext cx="1195728" cy="361950"/>
          </a:xfrm>
          <a:prstGeom prst="rect">
            <a:avLst/>
          </a:prstGeom>
        </p:spPr>
      </p:pic>
      <p:pic>
        <p:nvPicPr>
          <p:cNvPr id="71" name="Picture 70" descr="311_1_605E5C.png"/>
          <p:cNvPicPr>
            <a:picLocks noChangeAspect="1"/>
          </p:cNvPicPr>
          <p:nvPr/>
        </p:nvPicPr>
        <p:blipFill>
          <a:blip r:embed="rId11"/>
          <a:stretch>
            <a:fillRect/>
          </a:stretch>
        </p:blipFill>
        <p:spPr>
          <a:xfrm>
            <a:off x="7534105" y="2779432"/>
            <a:ext cx="1195728" cy="361950"/>
          </a:xfrm>
          <a:prstGeom prst="rect">
            <a:avLst/>
          </a:prstGeom>
        </p:spPr>
      </p:pic>
      <p:pic>
        <p:nvPicPr>
          <p:cNvPr id="72" name="Picture 71" descr="4_1__605E5C.png"/>
          <p:cNvPicPr>
            <a:picLocks noChangeAspect="1"/>
          </p:cNvPicPr>
          <p:nvPr/>
        </p:nvPicPr>
        <p:blipFill>
          <a:blip r:embed="rId12"/>
          <a:stretch>
            <a:fillRect/>
          </a:stretch>
        </p:blipFill>
        <p:spPr>
          <a:xfrm>
            <a:off x="7640751" y="3272281"/>
            <a:ext cx="982436" cy="361950"/>
          </a:xfrm>
          <a:prstGeom prst="rect">
            <a:avLst/>
          </a:prstGeom>
        </p:spPr>
      </p:pic>
      <p:pic>
        <p:nvPicPr>
          <p:cNvPr id="73" name="Picture 72" descr="102_4_605E5C.png"/>
          <p:cNvPicPr>
            <a:picLocks noChangeAspect="1"/>
          </p:cNvPicPr>
          <p:nvPr/>
        </p:nvPicPr>
        <p:blipFill>
          <a:blip r:embed="rId13"/>
          <a:stretch>
            <a:fillRect/>
          </a:stretch>
        </p:blipFill>
        <p:spPr>
          <a:xfrm>
            <a:off x="10062992" y="2286582"/>
            <a:ext cx="1195728" cy="361950"/>
          </a:xfrm>
          <a:prstGeom prst="rect">
            <a:avLst/>
          </a:prstGeom>
        </p:spPr>
      </p:pic>
      <p:pic>
        <p:nvPicPr>
          <p:cNvPr id="74" name="Picture 73" descr="162_1_605E5C.png"/>
          <p:cNvPicPr>
            <a:picLocks noChangeAspect="1"/>
          </p:cNvPicPr>
          <p:nvPr/>
        </p:nvPicPr>
        <p:blipFill>
          <a:blip r:embed="rId14"/>
          <a:stretch>
            <a:fillRect/>
          </a:stretch>
        </p:blipFill>
        <p:spPr>
          <a:xfrm>
            <a:off x="10062992" y="2779432"/>
            <a:ext cx="1195728" cy="361950"/>
          </a:xfrm>
          <a:prstGeom prst="rect">
            <a:avLst/>
          </a:prstGeom>
        </p:spPr>
      </p:pic>
      <p:pic>
        <p:nvPicPr>
          <p:cNvPr id="75" name="Picture 74" descr="4_7__605E5C.png"/>
          <p:cNvPicPr>
            <a:picLocks noChangeAspect="1"/>
          </p:cNvPicPr>
          <p:nvPr/>
        </p:nvPicPr>
        <p:blipFill>
          <a:blip r:embed="rId15"/>
          <a:stretch>
            <a:fillRect/>
          </a:stretch>
        </p:blipFill>
        <p:spPr>
          <a:xfrm>
            <a:off x="10169638" y="3272281"/>
            <a:ext cx="982436" cy="361950"/>
          </a:xfrm>
          <a:prstGeom prst="rect">
            <a:avLst/>
          </a:prstGeom>
        </p:spPr>
      </p:pic>
      <p:pic>
        <p:nvPicPr>
          <p:cNvPr id="76" name="Picture 75" descr="lock.png"/>
          <p:cNvPicPr>
            <a:picLocks noChangeAspect="1"/>
          </p:cNvPicPr>
          <p:nvPr/>
        </p:nvPicPr>
        <p:blipFill>
          <a:blip r:embed="rId16"/>
          <a:stretch>
            <a:fillRect/>
          </a:stretch>
        </p:blipFill>
        <p:spPr>
          <a:xfrm>
            <a:off x="2980848" y="2827057"/>
            <a:ext cx="183356" cy="266700"/>
          </a:xfrm>
          <a:prstGeom prst="rect">
            <a:avLst/>
          </a:prstGeom>
        </p:spPr>
      </p:pic>
      <p:pic>
        <p:nvPicPr>
          <p:cNvPr id="77" name="Picture 76" descr="lock.png"/>
          <p:cNvPicPr>
            <a:picLocks noChangeAspect="1"/>
          </p:cNvPicPr>
          <p:nvPr/>
        </p:nvPicPr>
        <p:blipFill>
          <a:blip r:embed="rId16"/>
          <a:stretch>
            <a:fillRect/>
          </a:stretch>
        </p:blipFill>
        <p:spPr>
          <a:xfrm>
            <a:off x="5509737" y="2827057"/>
            <a:ext cx="183356" cy="266700"/>
          </a:xfrm>
          <a:prstGeom prst="rect">
            <a:avLst/>
          </a:prstGeom>
        </p:spPr>
      </p:pic>
      <p:pic>
        <p:nvPicPr>
          <p:cNvPr id="78" name="Picture 77" descr="lock.png"/>
          <p:cNvPicPr>
            <a:picLocks noChangeAspect="1"/>
          </p:cNvPicPr>
          <p:nvPr/>
        </p:nvPicPr>
        <p:blipFill>
          <a:blip r:embed="rId16"/>
          <a:stretch>
            <a:fillRect/>
          </a:stretch>
        </p:blipFill>
        <p:spPr>
          <a:xfrm>
            <a:off x="8038624" y="2827057"/>
            <a:ext cx="183356" cy="266700"/>
          </a:xfrm>
          <a:prstGeom prst="rect">
            <a:avLst/>
          </a:prstGeom>
        </p:spPr>
      </p:pic>
      <p:pic>
        <p:nvPicPr>
          <p:cNvPr id="79" name="Picture 78" descr="lock.png"/>
          <p:cNvPicPr>
            <a:picLocks noChangeAspect="1"/>
          </p:cNvPicPr>
          <p:nvPr/>
        </p:nvPicPr>
        <p:blipFill>
          <a:blip r:embed="rId16"/>
          <a:stretch>
            <a:fillRect/>
          </a:stretch>
        </p:blipFill>
        <p:spPr>
          <a:xfrm>
            <a:off x="10567511" y="2827057"/>
            <a:ext cx="183356" cy="266700"/>
          </a:xfrm>
          <a:prstGeom prst="rect">
            <a:avLst/>
          </a:prstGeom>
        </p:spPr>
      </p:pic>
      <p:sp>
        <p:nvSpPr>
          <p:cNvPr id="80" name="TextBox 79"/>
          <p:cNvSpPr txBox="1"/>
          <p:nvPr/>
        </p:nvSpPr>
        <p:spPr>
          <a:xfrm>
            <a:off x="485775" y="4229437"/>
            <a:ext cx="2914650" cy="186689"/>
          </a:xfrm>
          <a:prstGeom prst="rect">
            <a:avLst/>
          </a:prstGeom>
          <a:noFill/>
        </p:spPr>
        <p:txBody>
          <a:bodyPr wrap="none" lIns="0" rIns="0" tIns="0" bIns="0">
            <a:spAutoFit/>
          </a:bodyPr>
          <a:lstStyle/>
          <a:p>
            <a:r>
              <a:rPr sz="1100" b="0">
                <a:solidFill>
                  <a:srgbClr val="2E2E2E"/>
                </a:solidFill>
                <a:latin typeface="Calibri"/>
              </a:rPr>
              <a:t>▪ ¶ Among removable partial dentures by material</a:t>
            </a:r>
          </a:p>
        </p:txBody>
      </p:sp>
      <p:sp>
        <p:nvSpPr>
          <p:cNvPr id="81" name="TextBox 80"/>
          <p:cNvSpPr txBox="1"/>
          <p:nvPr/>
        </p:nvSpPr>
        <p:spPr>
          <a:xfrm>
            <a:off x="485775" y="4397077"/>
            <a:ext cx="2621359" cy="186689"/>
          </a:xfrm>
          <a:prstGeom prst="rect">
            <a:avLst/>
          </a:prstGeom>
          <a:noFill/>
        </p:spPr>
        <p:txBody>
          <a:bodyPr wrap="none" lIns="0" rIns="0" tIns="0" bIns="0">
            <a:spAutoFit/>
          </a:bodyPr>
          <a:lstStyle/>
          <a:p>
            <a:r>
              <a:rPr sz="1100" b="0">
                <a:solidFill>
                  <a:srgbClr val="2E2E2E"/>
                </a:solidFill>
                <a:latin typeface="Calibri"/>
              </a:rPr>
              <a:t>type, high-performance polymers segment is</a:t>
            </a:r>
          </a:p>
        </p:txBody>
      </p:sp>
      <p:sp>
        <p:nvSpPr>
          <p:cNvPr id="82" name="TextBox 81"/>
          <p:cNvSpPr txBox="1"/>
          <p:nvPr/>
        </p:nvSpPr>
        <p:spPr>
          <a:xfrm>
            <a:off x="485775" y="4564717"/>
            <a:ext cx="2381232" cy="186689"/>
          </a:xfrm>
          <a:prstGeom prst="rect">
            <a:avLst/>
          </a:prstGeom>
          <a:noFill/>
        </p:spPr>
        <p:txBody>
          <a:bodyPr wrap="none" lIns="0" rIns="0" tIns="0" bIns="0">
            <a:spAutoFit/>
          </a:bodyPr>
          <a:lstStyle/>
          <a:p>
            <a:r>
              <a:rPr sz="1100" b="0">
                <a:solidFill>
                  <a:srgbClr val="2E2E2E"/>
                </a:solidFill>
                <a:latin typeface="Calibri"/>
              </a:rPr>
              <a:t>expected to witness the highest CAGR of</a:t>
            </a:r>
          </a:p>
        </p:txBody>
      </p:sp>
      <p:pic>
        <p:nvPicPr>
          <p:cNvPr id="83" name="Picture 82" descr="lock.png"/>
          <p:cNvPicPr>
            <a:picLocks noChangeAspect="1"/>
          </p:cNvPicPr>
          <p:nvPr/>
        </p:nvPicPr>
        <p:blipFill>
          <a:blip r:embed="rId16"/>
          <a:stretch>
            <a:fillRect/>
          </a:stretch>
        </p:blipFill>
        <p:spPr>
          <a:xfrm>
            <a:off x="2815059" y="4554938"/>
            <a:ext cx="128699" cy="187198"/>
          </a:xfrm>
          <a:prstGeom prst="rect">
            <a:avLst/>
          </a:prstGeom>
        </p:spPr>
      </p:pic>
      <p:sp>
        <p:nvSpPr>
          <p:cNvPr id="84" name="TextBox 83"/>
          <p:cNvSpPr txBox="1"/>
          <p:nvPr/>
        </p:nvSpPr>
        <p:spPr>
          <a:xfrm>
            <a:off x="2982555" y="4564717"/>
            <a:ext cx="331316" cy="186689"/>
          </a:xfrm>
          <a:prstGeom prst="rect">
            <a:avLst/>
          </a:prstGeom>
          <a:noFill/>
        </p:spPr>
        <p:txBody>
          <a:bodyPr wrap="none" lIns="0" rIns="0" tIns="0" bIns="0">
            <a:spAutoFit/>
          </a:bodyPr>
          <a:lstStyle/>
          <a:p>
            <a:r>
              <a:rPr sz="1100" b="0">
                <a:solidFill>
                  <a:srgbClr val="2E2E2E"/>
                </a:solidFill>
                <a:latin typeface="Calibri"/>
              </a:rPr>
              <a:t>over</a:t>
            </a:r>
          </a:p>
        </p:txBody>
      </p:sp>
      <p:sp>
        <p:nvSpPr>
          <p:cNvPr id="85" name="TextBox 84"/>
          <p:cNvSpPr txBox="1"/>
          <p:nvPr/>
        </p:nvSpPr>
        <p:spPr>
          <a:xfrm>
            <a:off x="485775" y="4732357"/>
            <a:ext cx="2699122" cy="186689"/>
          </a:xfrm>
          <a:prstGeom prst="rect">
            <a:avLst/>
          </a:prstGeom>
          <a:noFill/>
        </p:spPr>
        <p:txBody>
          <a:bodyPr wrap="none" lIns="0" rIns="0" tIns="0" bIns="0">
            <a:spAutoFit/>
          </a:bodyPr>
          <a:lstStyle/>
          <a:p>
            <a:r>
              <a:rPr sz="1100" b="0">
                <a:solidFill>
                  <a:srgbClr val="2E2E2E"/>
                </a:solidFill>
                <a:latin typeface="Calibri"/>
              </a:rPr>
              <a:t>the forecast period. In terms of value share by</a:t>
            </a:r>
          </a:p>
        </p:txBody>
      </p:sp>
      <p:sp>
        <p:nvSpPr>
          <p:cNvPr id="86" name="TextBox 85"/>
          <p:cNvSpPr txBox="1"/>
          <p:nvPr/>
        </p:nvSpPr>
        <p:spPr>
          <a:xfrm>
            <a:off x="485775" y="4899997"/>
            <a:ext cx="2523405" cy="186689"/>
          </a:xfrm>
          <a:prstGeom prst="rect">
            <a:avLst/>
          </a:prstGeom>
          <a:noFill/>
        </p:spPr>
        <p:txBody>
          <a:bodyPr wrap="none" lIns="0" rIns="0" tIns="0" bIns="0">
            <a:spAutoFit/>
          </a:bodyPr>
          <a:lstStyle/>
          <a:p>
            <a:r>
              <a:rPr sz="1100" b="0">
                <a:solidFill>
                  <a:srgbClr val="2E2E2E"/>
                </a:solidFill>
                <a:latin typeface="Calibri"/>
              </a:rPr>
              <a:t>material type, the acrylic / resin segment is</a:t>
            </a:r>
          </a:p>
        </p:txBody>
      </p:sp>
      <p:sp>
        <p:nvSpPr>
          <p:cNvPr id="87" name="TextBox 86"/>
          <p:cNvSpPr txBox="1"/>
          <p:nvPr/>
        </p:nvSpPr>
        <p:spPr>
          <a:xfrm>
            <a:off x="485775" y="5067637"/>
            <a:ext cx="2466652" cy="186689"/>
          </a:xfrm>
          <a:prstGeom prst="rect">
            <a:avLst/>
          </a:prstGeom>
          <a:noFill/>
        </p:spPr>
        <p:txBody>
          <a:bodyPr wrap="none" lIns="0" rIns="0" tIns="0" bIns="0">
            <a:spAutoFit/>
          </a:bodyPr>
          <a:lstStyle/>
          <a:p>
            <a:r>
              <a:rPr sz="1100" b="0">
                <a:solidFill>
                  <a:srgbClr val="2E2E2E"/>
                </a:solidFill>
                <a:latin typeface="Calibri"/>
              </a:rPr>
              <a:t>expected to dominate the market, gaining</a:t>
            </a:r>
          </a:p>
        </p:txBody>
      </p:sp>
      <p:pic>
        <p:nvPicPr>
          <p:cNvPr id="88" name="Picture 87" descr="lock.png"/>
          <p:cNvPicPr>
            <a:picLocks noChangeAspect="1"/>
          </p:cNvPicPr>
          <p:nvPr/>
        </p:nvPicPr>
        <p:blipFill>
          <a:blip r:embed="rId16"/>
          <a:stretch>
            <a:fillRect/>
          </a:stretch>
        </p:blipFill>
        <p:spPr>
          <a:xfrm>
            <a:off x="2900479" y="5057858"/>
            <a:ext cx="128699" cy="187198"/>
          </a:xfrm>
          <a:prstGeom prst="rect">
            <a:avLst/>
          </a:prstGeom>
        </p:spPr>
      </p:pic>
      <p:sp>
        <p:nvSpPr>
          <p:cNvPr id="89" name="TextBox 88"/>
          <p:cNvSpPr txBox="1"/>
          <p:nvPr/>
        </p:nvSpPr>
        <p:spPr>
          <a:xfrm>
            <a:off x="3067974" y="5067637"/>
            <a:ext cx="288751" cy="186689"/>
          </a:xfrm>
          <a:prstGeom prst="rect">
            <a:avLst/>
          </a:prstGeom>
          <a:noFill/>
        </p:spPr>
        <p:txBody>
          <a:bodyPr wrap="none" lIns="0" rIns="0" tIns="0" bIns="0">
            <a:spAutoFit/>
          </a:bodyPr>
          <a:lstStyle/>
          <a:p>
            <a:r>
              <a:rPr sz="1100" b="0">
                <a:solidFill>
                  <a:srgbClr val="2E2E2E"/>
                </a:solidFill>
                <a:latin typeface="Calibri"/>
              </a:rPr>
              <a:t>BPS</a:t>
            </a:r>
          </a:p>
        </p:txBody>
      </p:sp>
      <p:sp>
        <p:nvSpPr>
          <p:cNvPr id="90" name="TextBox 89"/>
          <p:cNvSpPr txBox="1"/>
          <p:nvPr/>
        </p:nvSpPr>
        <p:spPr>
          <a:xfrm>
            <a:off x="485775" y="5235277"/>
            <a:ext cx="1142231" cy="186689"/>
          </a:xfrm>
          <a:prstGeom prst="rect">
            <a:avLst/>
          </a:prstGeom>
          <a:noFill/>
        </p:spPr>
        <p:txBody>
          <a:bodyPr wrap="none" lIns="0" rIns="0" tIns="0" bIns="0">
            <a:spAutoFit/>
          </a:bodyPr>
          <a:lstStyle/>
          <a:p>
            <a:r>
              <a:rPr sz="1100" b="0">
                <a:solidFill>
                  <a:srgbClr val="2E2E2E"/>
                </a:solidFill>
                <a:latin typeface="Calibri"/>
              </a:rPr>
              <a:t>and accounting for</a:t>
            </a:r>
          </a:p>
        </p:txBody>
      </p:sp>
      <p:pic>
        <p:nvPicPr>
          <p:cNvPr id="91" name="Picture 90" descr="lock.png"/>
          <p:cNvPicPr>
            <a:picLocks noChangeAspect="1"/>
          </p:cNvPicPr>
          <p:nvPr/>
        </p:nvPicPr>
        <p:blipFill>
          <a:blip r:embed="rId16"/>
          <a:stretch>
            <a:fillRect/>
          </a:stretch>
        </p:blipFill>
        <p:spPr>
          <a:xfrm>
            <a:off x="1576057" y="5225498"/>
            <a:ext cx="128699" cy="187198"/>
          </a:xfrm>
          <a:prstGeom prst="rect">
            <a:avLst/>
          </a:prstGeom>
        </p:spPr>
      </p:pic>
      <p:sp>
        <p:nvSpPr>
          <p:cNvPr id="92" name="TextBox 91"/>
          <p:cNvSpPr txBox="1"/>
          <p:nvPr/>
        </p:nvSpPr>
        <p:spPr>
          <a:xfrm>
            <a:off x="1743553" y="523527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93" name="TextBox 92"/>
          <p:cNvSpPr txBox="1"/>
          <p:nvPr/>
        </p:nvSpPr>
        <p:spPr>
          <a:xfrm>
            <a:off x="485775" y="5453209"/>
            <a:ext cx="2883842" cy="186689"/>
          </a:xfrm>
          <a:prstGeom prst="rect">
            <a:avLst/>
          </a:prstGeom>
          <a:noFill/>
        </p:spPr>
        <p:txBody>
          <a:bodyPr wrap="none" lIns="0" rIns="0" tIns="0" bIns="0">
            <a:spAutoFit/>
          </a:bodyPr>
          <a:lstStyle/>
          <a:p>
            <a:r>
              <a:rPr sz="1100" b="0">
                <a:solidFill>
                  <a:srgbClr val="2E2E2E"/>
                </a:solidFill>
                <a:latin typeface="Calibri"/>
              </a:rPr>
              <a:t>▪ ¶ Acrylic / resin segment is projected to register</a:t>
            </a:r>
          </a:p>
        </p:txBody>
      </p:sp>
      <p:pic>
        <p:nvPicPr>
          <p:cNvPr id="94" name="Picture 93" descr="lock.png"/>
          <p:cNvPicPr>
            <a:picLocks noChangeAspect="1"/>
          </p:cNvPicPr>
          <p:nvPr/>
        </p:nvPicPr>
        <p:blipFill>
          <a:blip r:embed="rId16"/>
          <a:stretch>
            <a:fillRect/>
          </a:stretch>
        </p:blipFill>
        <p:spPr>
          <a:xfrm>
            <a:off x="472307" y="5611070"/>
            <a:ext cx="128699" cy="187198"/>
          </a:xfrm>
          <a:prstGeom prst="rect">
            <a:avLst/>
          </a:prstGeom>
        </p:spPr>
      </p:pic>
      <p:sp>
        <p:nvSpPr>
          <p:cNvPr id="95" name="TextBox 94"/>
          <p:cNvSpPr txBox="1"/>
          <p:nvPr/>
        </p:nvSpPr>
        <p:spPr>
          <a:xfrm>
            <a:off x="639803" y="5620849"/>
            <a:ext cx="2546052" cy="186689"/>
          </a:xfrm>
          <a:prstGeom prst="rect">
            <a:avLst/>
          </a:prstGeom>
          <a:noFill/>
        </p:spPr>
        <p:txBody>
          <a:bodyPr wrap="none" lIns="0" rIns="0" tIns="0" bIns="0">
            <a:spAutoFit/>
          </a:bodyPr>
          <a:lstStyle/>
          <a:p>
            <a:r>
              <a:rPr sz="1100" b="0">
                <a:solidFill>
                  <a:srgbClr val="2E2E2E"/>
                </a:solidFill>
                <a:latin typeface="Calibri"/>
              </a:rPr>
              <a:t>X higher value than metal alloys segment in</a:t>
            </a:r>
          </a:p>
        </p:txBody>
      </p:sp>
      <p:sp>
        <p:nvSpPr>
          <p:cNvPr id="96" name="TextBox 95"/>
          <p:cNvSpPr txBox="1"/>
          <p:nvPr/>
        </p:nvSpPr>
        <p:spPr>
          <a:xfrm>
            <a:off x="485775" y="5788489"/>
            <a:ext cx="395163" cy="186689"/>
          </a:xfrm>
          <a:prstGeom prst="rect">
            <a:avLst/>
          </a:prstGeom>
          <a:noFill/>
        </p:spPr>
        <p:txBody>
          <a:bodyPr wrap="none" lIns="0" rIns="0" tIns="0" bIns="0">
            <a:spAutoFit/>
          </a:bodyPr>
          <a:lstStyle/>
          <a:p>
            <a:r>
              <a:rPr sz="1100" b="0">
                <a:solidFill>
                  <a:srgbClr val="2E2E2E"/>
                </a:solidFill>
                <a:latin typeface="Calibri"/>
              </a:rPr>
              <a:t>2036.</a:t>
            </a:r>
          </a:p>
        </p:txBody>
      </p:sp>
      <p:sp>
        <p:nvSpPr>
          <p:cNvPr id="97" name="TextBox 96"/>
          <p:cNvSpPr txBox="1"/>
          <p:nvPr/>
        </p:nvSpPr>
        <p:spPr>
          <a:xfrm>
            <a:off x="3838575" y="4229437"/>
            <a:ext cx="1028179" cy="186689"/>
          </a:xfrm>
          <a:prstGeom prst="rect">
            <a:avLst/>
          </a:prstGeom>
          <a:noFill/>
        </p:spPr>
        <p:txBody>
          <a:bodyPr wrap="none" lIns="0" rIns="0" tIns="0" bIns="0">
            <a:spAutoFit/>
          </a:bodyPr>
          <a:lstStyle/>
          <a:p>
            <a:r>
              <a:rPr sz="1100" b="0">
                <a:solidFill>
                  <a:srgbClr val="2E2E2E"/>
                </a:solidFill>
                <a:latin typeface="Calibri"/>
              </a:rPr>
              <a:t>● Acrylic / Resin:</a:t>
            </a:r>
          </a:p>
        </p:txBody>
      </p:sp>
      <p:pic>
        <p:nvPicPr>
          <p:cNvPr id="98" name="Picture 97" descr="lock.png"/>
          <p:cNvPicPr>
            <a:picLocks noChangeAspect="1"/>
          </p:cNvPicPr>
          <p:nvPr/>
        </p:nvPicPr>
        <p:blipFill>
          <a:blip r:embed="rId16"/>
          <a:stretch>
            <a:fillRect/>
          </a:stretch>
        </p:blipFill>
        <p:spPr>
          <a:xfrm>
            <a:off x="4814805" y="4219658"/>
            <a:ext cx="128699" cy="187198"/>
          </a:xfrm>
          <a:prstGeom prst="rect">
            <a:avLst/>
          </a:prstGeom>
        </p:spPr>
      </p:pic>
      <p:sp>
        <p:nvSpPr>
          <p:cNvPr id="99" name="TextBox 98"/>
          <p:cNvSpPr txBox="1"/>
          <p:nvPr/>
        </p:nvSpPr>
        <p:spPr>
          <a:xfrm>
            <a:off x="4982301"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0" name="Picture 99" descr="lock.png"/>
          <p:cNvPicPr>
            <a:picLocks noChangeAspect="1"/>
          </p:cNvPicPr>
          <p:nvPr/>
        </p:nvPicPr>
        <p:blipFill>
          <a:blip r:embed="rId16"/>
          <a:stretch>
            <a:fillRect/>
          </a:stretch>
        </p:blipFill>
        <p:spPr>
          <a:xfrm>
            <a:off x="5841751" y="4219658"/>
            <a:ext cx="128699" cy="187198"/>
          </a:xfrm>
          <a:prstGeom prst="rect">
            <a:avLst/>
          </a:prstGeom>
        </p:spPr>
      </p:pic>
      <p:sp>
        <p:nvSpPr>
          <p:cNvPr id="101" name="TextBox 100"/>
          <p:cNvSpPr txBox="1"/>
          <p:nvPr/>
        </p:nvSpPr>
        <p:spPr>
          <a:xfrm>
            <a:off x="6009247"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102" name="TextBox 101"/>
          <p:cNvSpPr txBox="1"/>
          <p:nvPr/>
        </p:nvSpPr>
        <p:spPr>
          <a:xfrm>
            <a:off x="3838575" y="4447369"/>
            <a:ext cx="932953" cy="186689"/>
          </a:xfrm>
          <a:prstGeom prst="rect">
            <a:avLst/>
          </a:prstGeom>
          <a:noFill/>
        </p:spPr>
        <p:txBody>
          <a:bodyPr wrap="none" lIns="0" rIns="0" tIns="0" bIns="0">
            <a:spAutoFit/>
          </a:bodyPr>
          <a:lstStyle/>
          <a:p>
            <a:r>
              <a:rPr sz="1100" b="0">
                <a:solidFill>
                  <a:srgbClr val="2E2E2E"/>
                </a:solidFill>
                <a:latin typeface="Calibri"/>
              </a:rPr>
              <a:t>● Metal Alloys:</a:t>
            </a:r>
          </a:p>
        </p:txBody>
      </p:sp>
      <p:pic>
        <p:nvPicPr>
          <p:cNvPr id="103" name="Picture 102" descr="lock.png"/>
          <p:cNvPicPr>
            <a:picLocks noChangeAspect="1"/>
          </p:cNvPicPr>
          <p:nvPr/>
        </p:nvPicPr>
        <p:blipFill>
          <a:blip r:embed="rId16"/>
          <a:stretch>
            <a:fillRect/>
          </a:stretch>
        </p:blipFill>
        <p:spPr>
          <a:xfrm>
            <a:off x="4719580" y="4437590"/>
            <a:ext cx="128699" cy="187198"/>
          </a:xfrm>
          <a:prstGeom prst="rect">
            <a:avLst/>
          </a:prstGeom>
        </p:spPr>
      </p:pic>
      <p:sp>
        <p:nvSpPr>
          <p:cNvPr id="104" name="TextBox 103"/>
          <p:cNvSpPr txBox="1"/>
          <p:nvPr/>
        </p:nvSpPr>
        <p:spPr>
          <a:xfrm>
            <a:off x="4887076"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5" name="Picture 104" descr="lock.png"/>
          <p:cNvPicPr>
            <a:picLocks noChangeAspect="1"/>
          </p:cNvPicPr>
          <p:nvPr/>
        </p:nvPicPr>
        <p:blipFill>
          <a:blip r:embed="rId16"/>
          <a:stretch>
            <a:fillRect/>
          </a:stretch>
        </p:blipFill>
        <p:spPr>
          <a:xfrm>
            <a:off x="5746526" y="4437590"/>
            <a:ext cx="128699" cy="187198"/>
          </a:xfrm>
          <a:prstGeom prst="rect">
            <a:avLst/>
          </a:prstGeom>
        </p:spPr>
      </p:pic>
      <p:sp>
        <p:nvSpPr>
          <p:cNvPr id="106" name="TextBox 105"/>
          <p:cNvSpPr txBox="1"/>
          <p:nvPr/>
        </p:nvSpPr>
        <p:spPr>
          <a:xfrm>
            <a:off x="5914022"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07" name="TextBox 106"/>
          <p:cNvSpPr txBox="1"/>
          <p:nvPr/>
        </p:nvSpPr>
        <p:spPr>
          <a:xfrm>
            <a:off x="3838575" y="4665301"/>
            <a:ext cx="1560239" cy="186689"/>
          </a:xfrm>
          <a:prstGeom prst="rect">
            <a:avLst/>
          </a:prstGeom>
          <a:noFill/>
        </p:spPr>
        <p:txBody>
          <a:bodyPr wrap="none" lIns="0" rIns="0" tIns="0" bIns="0">
            <a:spAutoFit/>
          </a:bodyPr>
          <a:lstStyle/>
          <a:p>
            <a:r>
              <a:rPr sz="1100" b="0">
                <a:solidFill>
                  <a:srgbClr val="2E2E2E"/>
                </a:solidFill>
                <a:latin typeface="Calibri"/>
              </a:rPr>
              <a:t>● Flexible Thermoplastics:</a:t>
            </a:r>
          </a:p>
        </p:txBody>
      </p:sp>
      <p:pic>
        <p:nvPicPr>
          <p:cNvPr id="108" name="Picture 107" descr="lock.png"/>
          <p:cNvPicPr>
            <a:picLocks noChangeAspect="1"/>
          </p:cNvPicPr>
          <p:nvPr/>
        </p:nvPicPr>
        <p:blipFill>
          <a:blip r:embed="rId16"/>
          <a:stretch>
            <a:fillRect/>
          </a:stretch>
        </p:blipFill>
        <p:spPr>
          <a:xfrm>
            <a:off x="5346866" y="4655522"/>
            <a:ext cx="128699" cy="187198"/>
          </a:xfrm>
          <a:prstGeom prst="rect">
            <a:avLst/>
          </a:prstGeom>
        </p:spPr>
      </p:pic>
      <p:sp>
        <p:nvSpPr>
          <p:cNvPr id="109" name="TextBox 108"/>
          <p:cNvSpPr txBox="1"/>
          <p:nvPr/>
        </p:nvSpPr>
        <p:spPr>
          <a:xfrm>
            <a:off x="5514362"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0" name="Picture 109" descr="lock.png"/>
          <p:cNvPicPr>
            <a:picLocks noChangeAspect="1"/>
          </p:cNvPicPr>
          <p:nvPr/>
        </p:nvPicPr>
        <p:blipFill>
          <a:blip r:embed="rId16"/>
          <a:stretch>
            <a:fillRect/>
          </a:stretch>
        </p:blipFill>
        <p:spPr>
          <a:xfrm>
            <a:off x="6373812" y="4655522"/>
            <a:ext cx="128699" cy="187198"/>
          </a:xfrm>
          <a:prstGeom prst="rect">
            <a:avLst/>
          </a:prstGeom>
        </p:spPr>
      </p:pic>
      <p:sp>
        <p:nvSpPr>
          <p:cNvPr id="111" name="TextBox 110"/>
          <p:cNvSpPr txBox="1"/>
          <p:nvPr/>
        </p:nvSpPr>
        <p:spPr>
          <a:xfrm>
            <a:off x="6541308" y="466530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12" name="TextBox 111"/>
          <p:cNvSpPr txBox="1"/>
          <p:nvPr/>
        </p:nvSpPr>
        <p:spPr>
          <a:xfrm>
            <a:off x="3838575" y="4883233"/>
            <a:ext cx="1825997" cy="186689"/>
          </a:xfrm>
          <a:prstGeom prst="rect">
            <a:avLst/>
          </a:prstGeom>
          <a:noFill/>
        </p:spPr>
        <p:txBody>
          <a:bodyPr wrap="none" lIns="0" rIns="0" tIns="0" bIns="0">
            <a:spAutoFit/>
          </a:bodyPr>
          <a:lstStyle/>
          <a:p>
            <a:r>
              <a:rPr sz="1100" b="0">
                <a:solidFill>
                  <a:srgbClr val="2E2E2E"/>
                </a:solidFill>
                <a:latin typeface="Calibri"/>
              </a:rPr>
              <a:t>● High-performance Polymers:</a:t>
            </a:r>
          </a:p>
        </p:txBody>
      </p:sp>
      <p:pic>
        <p:nvPicPr>
          <p:cNvPr id="113" name="Picture 112" descr="lock.png"/>
          <p:cNvPicPr>
            <a:picLocks noChangeAspect="1"/>
          </p:cNvPicPr>
          <p:nvPr/>
        </p:nvPicPr>
        <p:blipFill>
          <a:blip r:embed="rId16"/>
          <a:stretch>
            <a:fillRect/>
          </a:stretch>
        </p:blipFill>
        <p:spPr>
          <a:xfrm>
            <a:off x="5612623" y="4873454"/>
            <a:ext cx="128699" cy="187198"/>
          </a:xfrm>
          <a:prstGeom prst="rect">
            <a:avLst/>
          </a:prstGeom>
        </p:spPr>
      </p:pic>
      <p:sp>
        <p:nvSpPr>
          <p:cNvPr id="114" name="TextBox 113"/>
          <p:cNvSpPr txBox="1"/>
          <p:nvPr/>
        </p:nvSpPr>
        <p:spPr>
          <a:xfrm>
            <a:off x="5780119" y="488323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5" name="Picture 114" descr="lock.png"/>
          <p:cNvPicPr>
            <a:picLocks noChangeAspect="1"/>
          </p:cNvPicPr>
          <p:nvPr/>
        </p:nvPicPr>
        <p:blipFill>
          <a:blip r:embed="rId16"/>
          <a:stretch>
            <a:fillRect/>
          </a:stretch>
        </p:blipFill>
        <p:spPr>
          <a:xfrm>
            <a:off x="6639569" y="4873454"/>
            <a:ext cx="128699" cy="187198"/>
          </a:xfrm>
          <a:prstGeom prst="rect">
            <a:avLst/>
          </a:prstGeom>
        </p:spPr>
      </p:pic>
      <p:sp>
        <p:nvSpPr>
          <p:cNvPr id="116" name="TextBox 115"/>
          <p:cNvSpPr txBox="1"/>
          <p:nvPr/>
        </p:nvSpPr>
        <p:spPr>
          <a:xfrm>
            <a:off x="6807065" y="4883233"/>
            <a:ext cx="769771" cy="186689"/>
          </a:xfrm>
          <a:prstGeom prst="rect">
            <a:avLst/>
          </a:prstGeom>
          <a:noFill/>
        </p:spPr>
        <p:txBody>
          <a:bodyPr wrap="none" lIns="0" rIns="0" tIns="0" bIns="0">
            <a:spAutoFit/>
          </a:bodyPr>
          <a:lstStyle/>
          <a:p>
            <a:r>
              <a:rPr sz="1100" b="0">
                <a:solidFill>
                  <a:srgbClr val="2E2E2E"/>
                </a:solidFill>
                <a:latin typeface="Calibri"/>
              </a:rPr>
              <a:t>CAGR grows</a:t>
            </a:r>
          </a:p>
        </p:txBody>
      </p:sp>
      <p:sp>
        <p:nvSpPr>
          <p:cNvPr id="117" name="TextBox 116"/>
          <p:cNvSpPr txBox="1"/>
          <p:nvPr/>
        </p:nvSpPr>
        <p:spPr>
          <a:xfrm>
            <a:off x="3838575" y="5050873"/>
            <a:ext cx="493390" cy="186689"/>
          </a:xfrm>
          <a:prstGeom prst="rect">
            <a:avLst/>
          </a:prstGeom>
          <a:noFill/>
        </p:spPr>
        <p:txBody>
          <a:bodyPr wrap="none" lIns="0" rIns="0" tIns="0" bIns="0">
            <a:spAutoFit/>
          </a:bodyPr>
          <a:lstStyle/>
          <a:p>
            <a:r>
              <a:rPr sz="1100" b="0">
                <a:solidFill>
                  <a:srgbClr val="2E2E2E"/>
                </a:solidFill>
                <a:latin typeface="Calibri"/>
              </a:rPr>
              <a:t>fastest.</a:t>
            </a:r>
          </a:p>
        </p:txBody>
      </p:sp>
    </p:spTree>
  </p:cSld>
  <p:clrMapOvr>
    <a:masterClrMapping/>
  </p:clrMapOvr>
</p:sld>
</file>

<file path=ppt/slides/slide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Material Type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Material Type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Type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Material Type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694045"/>
            <a:ext cx="11677650" cy="186689"/>
          </a:xfrm>
          <a:prstGeom prst="rect">
            <a:avLst/>
          </a:prstGeom>
          <a:noFill/>
        </p:spPr>
        <p:txBody>
          <a:bodyPr wrap="none" lIns="0" rIns="0" tIns="0" bIns="0">
            <a:spAutoFit/>
          </a:bodyPr>
          <a:lstStyle/>
          <a:p>
            <a:r>
              <a:rPr sz="1100" b="0">
                <a:solidFill>
                  <a:srgbClr val="2E2E2E"/>
                </a:solidFill>
                <a:latin typeface="Calibri"/>
              </a:rPr>
              <a:t>Acrylic / resin followed by metal alloys are expected to be the two most attractive material type segments in the global removable partial dentures market in terms of value over the forecast period. Acrylic</a:t>
            </a:r>
          </a:p>
        </p:txBody>
      </p:sp>
      <p:sp>
        <p:nvSpPr>
          <p:cNvPr id="21" name="TextBox 20"/>
          <p:cNvSpPr txBox="1"/>
          <p:nvPr/>
        </p:nvSpPr>
        <p:spPr>
          <a:xfrm>
            <a:off x="257175" y="5861685"/>
            <a:ext cx="2756949" cy="186689"/>
          </a:xfrm>
          <a:prstGeom prst="rect">
            <a:avLst/>
          </a:prstGeom>
          <a:noFill/>
        </p:spPr>
        <p:txBody>
          <a:bodyPr wrap="none" lIns="0" rIns="0" tIns="0" bIns="0">
            <a:spAutoFit/>
          </a:bodyPr>
          <a:lstStyle/>
          <a:p>
            <a:r>
              <a:rPr sz="1100" b="0">
                <a:solidFill>
                  <a:srgbClr val="2E2E2E"/>
                </a:solidFill>
                <a:latin typeface="Calibri"/>
              </a:rPr>
              <a:t>/ resin and metal alloys exhibit a CAGR index of</a:t>
            </a:r>
          </a:p>
        </p:txBody>
      </p:sp>
      <p:pic>
        <p:nvPicPr>
          <p:cNvPr id="22" name="Picture 21" descr="lock.png"/>
          <p:cNvPicPr>
            <a:picLocks noChangeAspect="1"/>
          </p:cNvPicPr>
          <p:nvPr/>
        </p:nvPicPr>
        <p:blipFill>
          <a:blip r:embed="rId6"/>
          <a:stretch>
            <a:fillRect/>
          </a:stretch>
        </p:blipFill>
        <p:spPr>
          <a:xfrm>
            <a:off x="2962176" y="5851905"/>
            <a:ext cx="128699" cy="187198"/>
          </a:xfrm>
          <a:prstGeom prst="rect">
            <a:avLst/>
          </a:prstGeom>
        </p:spPr>
      </p:pic>
      <p:sp>
        <p:nvSpPr>
          <p:cNvPr id="23" name="TextBox 22"/>
          <p:cNvSpPr txBox="1"/>
          <p:nvPr/>
        </p:nvSpPr>
        <p:spPr>
          <a:xfrm>
            <a:off x="3129671"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3367566" y="5851905"/>
            <a:ext cx="128699" cy="187198"/>
          </a:xfrm>
          <a:prstGeom prst="rect">
            <a:avLst/>
          </a:prstGeom>
        </p:spPr>
      </p:pic>
      <p:sp>
        <p:nvSpPr>
          <p:cNvPr id="25" name="TextBox 24"/>
          <p:cNvSpPr txBox="1"/>
          <p:nvPr/>
        </p:nvSpPr>
        <p:spPr>
          <a:xfrm>
            <a:off x="3535062" y="586168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5144035" y="5851905"/>
            <a:ext cx="128699" cy="187198"/>
          </a:xfrm>
          <a:prstGeom prst="rect">
            <a:avLst/>
          </a:prstGeom>
        </p:spPr>
      </p:pic>
      <p:sp>
        <p:nvSpPr>
          <p:cNvPr id="27" name="TextBox 26"/>
          <p:cNvSpPr txBox="1"/>
          <p:nvPr/>
        </p:nvSpPr>
        <p:spPr>
          <a:xfrm>
            <a:off x="5311531"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5549425" y="5851905"/>
            <a:ext cx="128699" cy="187198"/>
          </a:xfrm>
          <a:prstGeom prst="rect">
            <a:avLst/>
          </a:prstGeom>
        </p:spPr>
      </p:pic>
      <p:sp>
        <p:nvSpPr>
          <p:cNvPr id="29" name="TextBox 28"/>
          <p:cNvSpPr txBox="1"/>
          <p:nvPr/>
        </p:nvSpPr>
        <p:spPr>
          <a:xfrm>
            <a:off x="5716921" y="586168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30" name="Picture 29" descr="lock.png"/>
          <p:cNvPicPr>
            <a:picLocks noChangeAspect="1"/>
          </p:cNvPicPr>
          <p:nvPr/>
        </p:nvPicPr>
        <p:blipFill>
          <a:blip r:embed="rId6"/>
          <a:stretch>
            <a:fillRect/>
          </a:stretch>
        </p:blipFill>
        <p:spPr>
          <a:xfrm>
            <a:off x="8271325" y="5851905"/>
            <a:ext cx="128699" cy="187198"/>
          </a:xfrm>
          <a:prstGeom prst="rect">
            <a:avLst/>
          </a:prstGeom>
        </p:spPr>
      </p:pic>
      <p:sp>
        <p:nvSpPr>
          <p:cNvPr id="31" name="TextBox 30"/>
          <p:cNvSpPr txBox="1"/>
          <p:nvPr/>
        </p:nvSpPr>
        <p:spPr>
          <a:xfrm>
            <a:off x="8438821" y="5861685"/>
            <a:ext cx="2611263" cy="186689"/>
          </a:xfrm>
          <a:prstGeom prst="rect">
            <a:avLst/>
          </a:prstGeom>
          <a:noFill/>
        </p:spPr>
        <p:txBody>
          <a:bodyPr wrap="none" lIns="0" rIns="0" tIns="0" bIns="0">
            <a:spAutoFit/>
          </a:bodyPr>
          <a:lstStyle/>
          <a:p>
            <a:r>
              <a:rPr sz="1100" b="0">
                <a:solidFill>
                  <a:srgbClr val="2E2E2E"/>
                </a:solidFill>
                <a:latin typeface="Calibri"/>
              </a:rPr>
              <a:t>. The high-performance polymers segment is</a:t>
            </a:r>
          </a:p>
        </p:txBody>
      </p:sp>
      <p:sp>
        <p:nvSpPr>
          <p:cNvPr id="32" name="TextBox 31"/>
          <p:cNvSpPr txBox="1"/>
          <p:nvPr/>
        </p:nvSpPr>
        <p:spPr>
          <a:xfrm>
            <a:off x="257175" y="6029325"/>
            <a:ext cx="11421333" cy="186689"/>
          </a:xfrm>
          <a:prstGeom prst="rect">
            <a:avLst/>
          </a:prstGeom>
          <a:noFill/>
        </p:spPr>
        <p:txBody>
          <a:bodyPr wrap="none" lIns="0" rIns="0" tIns="0" bIns="0">
            <a:spAutoFit/>
          </a:bodyPr>
          <a:lstStyle/>
          <a:p>
            <a:r>
              <a:rPr sz="1100" b="0">
                <a:solidFill>
                  <a:srgbClr val="2E2E2E"/>
                </a:solidFill>
                <a:latin typeface="Calibri"/>
              </a:rPr>
              <a:t>expected to be less attractive as compared to other segments over the forecast period, owing to its lower CAGR and incremental opportunity. Bubbles right of the CAGR-Index line grow faster than the</a:t>
            </a:r>
          </a:p>
        </p:txBody>
      </p:sp>
      <p:sp>
        <p:nvSpPr>
          <p:cNvPr id="33" name="TextBox 32"/>
          <p:cNvSpPr txBox="1"/>
          <p:nvPr/>
        </p:nvSpPr>
        <p:spPr>
          <a:xfrm>
            <a:off x="257175" y="6196965"/>
            <a:ext cx="1084932" cy="186689"/>
          </a:xfrm>
          <a:prstGeom prst="rect">
            <a:avLst/>
          </a:prstGeom>
          <a:noFill/>
        </p:spPr>
        <p:txBody>
          <a:bodyPr wrap="none" lIns="0" rIns="0" tIns="0" bIns="0">
            <a:spAutoFit/>
          </a:bodyPr>
          <a:lstStyle/>
          <a:p>
            <a:r>
              <a:rPr sz="1100" b="0">
                <a:solidFill>
                  <a:srgbClr val="2E2E2E"/>
                </a:solidFill>
                <a:latin typeface="Calibri"/>
              </a:rPr>
              <a:t>segment average.</a:t>
            </a:r>
          </a:p>
        </p:txBody>
      </p:sp>
      <p:sp>
        <p:nvSpPr>
          <p:cNvPr id="34"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Material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Material Type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Metal Alloys</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Acrylic / Resin</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Flexible Thermoplastics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High-performance Polymers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094826" y="2237234"/>
            <a:ext cx="263506" cy="383281"/>
          </a:xfrm>
          <a:prstGeom prst="rect">
            <a:avLst/>
          </a:prstGeom>
        </p:spPr>
      </p:pic>
      <p:pic>
        <p:nvPicPr>
          <p:cNvPr id="25" name="Picture 24" descr="lock.png"/>
          <p:cNvPicPr>
            <a:picLocks noChangeAspect="1"/>
          </p:cNvPicPr>
          <p:nvPr/>
        </p:nvPicPr>
        <p:blipFill>
          <a:blip r:embed="rId8"/>
          <a:stretch>
            <a:fillRect/>
          </a:stretch>
        </p:blipFill>
        <p:spPr>
          <a:xfrm>
            <a:off x="9124151" y="2237234"/>
            <a:ext cx="263506" cy="383281"/>
          </a:xfrm>
          <a:prstGeom prst="rect">
            <a:avLst/>
          </a:prstGeom>
        </p:spPr>
      </p:pic>
      <p:pic>
        <p:nvPicPr>
          <p:cNvPr id="26" name="Picture 25" descr="lock.png"/>
          <p:cNvPicPr>
            <a:picLocks noChangeAspect="1"/>
          </p:cNvPicPr>
          <p:nvPr/>
        </p:nvPicPr>
        <p:blipFill>
          <a:blip r:embed="rId8"/>
          <a:stretch>
            <a:fillRect/>
          </a:stretch>
        </p:blipFill>
        <p:spPr>
          <a:xfrm>
            <a:off x="3100230" y="5216754"/>
            <a:ext cx="252890" cy="367840"/>
          </a:xfrm>
          <a:prstGeom prst="rect">
            <a:avLst/>
          </a:prstGeom>
        </p:spPr>
      </p:pic>
      <p:pic>
        <p:nvPicPr>
          <p:cNvPr id="27" name="Picture 26" descr="lock.png"/>
          <p:cNvPicPr>
            <a:picLocks noChangeAspect="1"/>
          </p:cNvPicPr>
          <p:nvPr/>
        </p:nvPicPr>
        <p:blipFill>
          <a:blip r:embed="rId8"/>
          <a:stretch>
            <a:fillRect/>
          </a:stretch>
        </p:blipFill>
        <p:spPr>
          <a:xfrm>
            <a:off x="9129555" y="5216754"/>
            <a:ext cx="252890" cy="367840"/>
          </a:xfrm>
          <a:prstGeom prst="rect">
            <a:avLst/>
          </a:prstGeom>
        </p:spPr>
      </p:pic>
      <p:sp>
        <p:nvSpPr>
          <p:cNvPr id="28"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Material Type (Units)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Material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3209925"/>
          </a:xfrm>
          <a:prstGeom prst="roundRect">
            <a:avLst>
              <a:gd name="adj" fmla="val 237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Material Type (Units)</a:t>
            </a:r>
          </a:p>
        </p:txBody>
      </p:sp>
      <p:graphicFrame>
        <p:nvGraphicFramePr>
          <p:cNvPr id="13" name="Table 12"/>
          <p:cNvGraphicFramePr>
            <a:graphicFrameLocks noGrp="1"/>
          </p:cNvGraphicFramePr>
          <p:nvPr/>
        </p:nvGraphicFramePr>
        <p:xfrm>
          <a:off x="152400" y="1238250"/>
          <a:ext cx="11887208" cy="2743197"/>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Material Type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6561">
                <a:tc>
                  <a:txBody>
                    <a:bodyPr wrap="none"/>
                    <a:lstStyle/>
                    <a:p>
                      <a:pPr algn="l"/>
                      <a:r>
                        <a:rPr sz="1100" b="1">
                          <a:solidFill>
                            <a:srgbClr val="2E2E2E"/>
                          </a:solidFill>
                          <a:latin typeface="Calibri"/>
                        </a:rPr>
                        <a:t>Metal Alloys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347">
                <a:tc>
                  <a:txBody>
                    <a:bodyPr wrap="none"/>
                    <a:lstStyle/>
                    <a:p>
                      <a:pPr algn="l"/>
                      <a:r>
                        <a:rPr sz="1100" b="1">
                          <a:solidFill>
                            <a:srgbClr val="2E2E2E"/>
                          </a:solidFill>
                          <a:latin typeface="Calibri"/>
                        </a:rPr>
                        <a:t>– Cobalt-Chromium</a:t>
                      </a:r>
                      <a:endParaRPr sz="1100"/>
                    </a:p>
                    <a:p>
                      <a:pPr algn="l"/>
                      <a:r>
                        <a:rPr sz="1100" b="1">
                          <a:solidFill>
                            <a:srgbClr val="2E2E2E"/>
                          </a:solidFill>
                          <a:latin typeface="Calibri"/>
                        </a:rPr>
                        <a:t>Alloys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561">
                <a:tc>
                  <a:txBody>
                    <a:bodyPr wrap="none"/>
                    <a:lstStyle/>
                    <a:p>
                      <a:pPr algn="l"/>
                      <a:r>
                        <a:rPr sz="1100" b="1">
                          <a:solidFill>
                            <a:srgbClr val="2E2E2E"/>
                          </a:solidFill>
                          <a:latin typeface="Calibri"/>
                        </a:rPr>
                        <a:t>– Titanium Alloys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561">
                <a:tc>
                  <a:txBody>
                    <a:bodyPr wrap="none"/>
                    <a:lstStyle/>
                    <a:p>
                      <a:pPr algn="l"/>
                      <a:r>
                        <a:rPr sz="1100" b="1">
                          <a:solidFill>
                            <a:srgbClr val="2E2E2E"/>
                          </a:solidFill>
                          <a:latin typeface="Calibri"/>
                        </a:rPr>
                        <a:t>Acrylic / Resin</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561">
                <a:tc>
                  <a:txBody>
                    <a:bodyPr wrap="none"/>
                    <a:lstStyle/>
                    <a:p>
                      <a:pPr algn="l"/>
                      <a:r>
                        <a:rPr sz="1100" b="1">
                          <a:solidFill>
                            <a:srgbClr val="2E2E2E"/>
                          </a:solidFill>
                          <a:latin typeface="Calibri"/>
                        </a:rPr>
                        <a:t>– PMMA</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347">
                <a:tc>
                  <a:txBody>
                    <a:bodyPr wrap="none"/>
                    <a:lstStyle/>
                    <a:p>
                      <a:pPr algn="l"/>
                      <a:r>
                        <a:rPr sz="1100" b="1">
                          <a:solidFill>
                            <a:srgbClr val="2E2E2E"/>
                          </a:solidFill>
                          <a:latin typeface="Calibri"/>
                        </a:rPr>
                        <a:t>– Printable Denture</a:t>
                      </a:r>
                      <a:endParaRPr sz="1100"/>
                    </a:p>
                    <a:p>
                      <a:pPr algn="l"/>
                      <a:r>
                        <a:rPr sz="1100" b="1">
                          <a:solidFill>
                            <a:srgbClr val="2E2E2E"/>
                          </a:solidFill>
                          <a:latin typeface="Calibri"/>
                        </a:rPr>
                        <a:t>Resins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439347">
                <a:tc>
                  <a:txBody>
                    <a:bodyPr wrap="none"/>
                    <a:lstStyle/>
                    <a:p>
                      <a:pPr algn="l"/>
                      <a:r>
                        <a:rPr sz="1100" b="1">
                          <a:solidFill>
                            <a:srgbClr val="2E2E2E"/>
                          </a:solidFill>
                          <a:latin typeface="Calibri"/>
                        </a:rPr>
                        <a:t>Flexible</a:t>
                      </a:r>
                      <a:endParaRPr sz="1100"/>
                    </a:p>
                    <a:p>
                      <a:pPr algn="l"/>
                      <a:r>
                        <a:rPr sz="1100" b="1">
                          <a:solidFill>
                            <a:srgbClr val="2E2E2E"/>
                          </a:solidFill>
                          <a:latin typeface="Calibri"/>
                        </a:rPr>
                        <a:t>Thermoplastics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bl>
          </a:graphicData>
        </a:graphic>
      </p:graphicFrame>
      <p:sp>
        <p:nvSpPr>
          <p:cNvPr id="14" name="TextBox 13"/>
          <p:cNvSpPr txBox="1"/>
          <p:nvPr/>
        </p:nvSpPr>
        <p:spPr>
          <a:xfrm>
            <a:off x="219075" y="39909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6529244" y="2562604"/>
            <a:ext cx="366712" cy="533400"/>
          </a:xfrm>
          <a:prstGeom prst="rect">
            <a:avLst/>
          </a:prstGeom>
        </p:spPr>
      </p:pic>
    </p:spTree>
  </p:cSld>
  <p:clrMapOvr>
    <a:masterClrMapping/>
  </p:clrMapOvr>
</p:sld>
</file>

<file path=ppt/slides/slide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Material Type (Units)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Material Type, 2021–2036, highlighting the sub-segments driving growth</a:t>
            </a:r>
          </a:p>
        </p:txBody>
      </p:sp>
      <p:sp>
        <p:nvSpPr>
          <p:cNvPr id="10" name="Rounded Rectangle 9"/>
          <p:cNvSpPr/>
          <p:nvPr/>
        </p:nvSpPr>
        <p:spPr>
          <a:xfrm>
            <a:off x="142875" y="981075"/>
            <a:ext cx="11906250" cy="3733800"/>
          </a:xfrm>
          <a:prstGeom prst="roundRect">
            <a:avLst>
              <a:gd name="adj" fmla="val 204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Material Type (Units)</a:t>
            </a:r>
          </a:p>
        </p:txBody>
      </p:sp>
      <p:graphicFrame>
        <p:nvGraphicFramePr>
          <p:cNvPr id="12" name="Table 11"/>
          <p:cNvGraphicFramePr>
            <a:graphicFrameLocks noGrp="1"/>
          </p:cNvGraphicFramePr>
          <p:nvPr/>
        </p:nvGraphicFramePr>
        <p:xfrm>
          <a:off x="152400" y="1238250"/>
          <a:ext cx="11887208" cy="3267075"/>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Material Type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439229">
                <a:tc>
                  <a:txBody>
                    <a:bodyPr wrap="none"/>
                    <a:lstStyle/>
                    <a:p>
                      <a:pPr algn="l"/>
                      <a:r>
                        <a:rPr sz="1100" b="1">
                          <a:solidFill>
                            <a:srgbClr val="2E2E2E"/>
                          </a:solidFill>
                          <a:latin typeface="Calibri"/>
                        </a:rPr>
                        <a:t>– Polyamide /</a:t>
                      </a:r>
                      <a:endParaRPr sz="1100"/>
                    </a:p>
                    <a:p>
                      <a:pPr algn="l"/>
                      <a:r>
                        <a:rPr sz="1100" b="1">
                          <a:solidFill>
                            <a:srgbClr val="2E2E2E"/>
                          </a:solidFill>
                          <a:latin typeface="Calibri"/>
                        </a:rPr>
                        <a:t>Nylon</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632016">
                <a:tc>
                  <a:txBody>
                    <a:bodyPr wrap="none"/>
                    <a:lstStyle/>
                    <a:p>
                      <a:pPr algn="l"/>
                      <a:r>
                        <a:rPr sz="1100" b="1">
                          <a:solidFill>
                            <a:srgbClr val="2E2E2E"/>
                          </a:solidFill>
                          <a:latin typeface="Calibri"/>
                        </a:rPr>
                        <a:t>– Other</a:t>
                      </a:r>
                      <a:endParaRPr sz="1100"/>
                    </a:p>
                    <a:p>
                      <a:pPr algn="l"/>
                      <a:r>
                        <a:rPr sz="1100" b="1">
                          <a:solidFill>
                            <a:srgbClr val="2E2E2E"/>
                          </a:solidFill>
                          <a:latin typeface="Calibri"/>
                        </a:rPr>
                        <a:t>Thermoplastic</a:t>
                      </a:r>
                      <a:endParaRPr sz="1100"/>
                    </a:p>
                    <a:p>
                      <a:pPr algn="l"/>
                      <a:r>
                        <a:rPr sz="1100" b="1">
                          <a:solidFill>
                            <a:srgbClr val="2E2E2E"/>
                          </a:solidFill>
                          <a:latin typeface="Calibri"/>
                        </a:rPr>
                        <a:t>Resins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439229">
                <a:tc>
                  <a:txBody>
                    <a:bodyPr wrap="none"/>
                    <a:lstStyle/>
                    <a:p>
                      <a:pPr algn="l"/>
                      <a:r>
                        <a:rPr sz="1100" b="1">
                          <a:solidFill>
                            <a:srgbClr val="2E2E2E"/>
                          </a:solidFill>
                          <a:latin typeface="Calibri"/>
                        </a:rPr>
                        <a:t>High-performance</a:t>
                      </a:r>
                      <a:endParaRPr sz="1100"/>
                    </a:p>
                    <a:p>
                      <a:pPr algn="l"/>
                      <a:r>
                        <a:rPr sz="1100" b="1">
                          <a:solidFill>
                            <a:srgbClr val="2E2E2E"/>
                          </a:solidFill>
                          <a:latin typeface="Calibri"/>
                        </a:rPr>
                        <a:t>Polymers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229">
                <a:tc>
                  <a:txBody>
                    <a:bodyPr wrap="none"/>
                    <a:lstStyle/>
                    <a:p>
                      <a:pPr algn="l"/>
                      <a:r>
                        <a:rPr sz="1100" b="1">
                          <a:solidFill>
                            <a:srgbClr val="2E2E2E"/>
                          </a:solidFill>
                          <a:latin typeface="Calibri"/>
                        </a:rPr>
                        <a:t>– PEEK-based</a:t>
                      </a:r>
                      <a:endParaRPr sz="1100"/>
                    </a:p>
                    <a:p>
                      <a:pPr algn="l"/>
                      <a:r>
                        <a:rPr sz="1100" b="1">
                          <a:solidFill>
                            <a:srgbClr val="2E2E2E"/>
                          </a:solidFill>
                          <a:latin typeface="Calibri"/>
                        </a:rPr>
                        <a:t>Materials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632016">
                <a:tc>
                  <a:txBody>
                    <a:bodyPr wrap="none"/>
                    <a:lstStyle/>
                    <a:p>
                      <a:pPr algn="l"/>
                      <a:r>
                        <a:rPr sz="1100" b="1">
                          <a:solidFill>
                            <a:srgbClr val="2E2E2E"/>
                          </a:solidFill>
                          <a:latin typeface="Calibri"/>
                        </a:rPr>
                        <a:t>– Other High-</a:t>
                      </a:r>
                      <a:endParaRPr sz="1100"/>
                    </a:p>
                    <a:p>
                      <a:pPr algn="l"/>
                      <a:r>
                        <a:rPr sz="1100" b="1">
                          <a:solidFill>
                            <a:srgbClr val="2E2E2E"/>
                          </a:solidFill>
                          <a:latin typeface="Calibri"/>
                        </a:rPr>
                        <a:t>performance</a:t>
                      </a:r>
                      <a:endParaRPr sz="1100"/>
                    </a:p>
                    <a:p>
                      <a:pPr algn="l"/>
                      <a:r>
                        <a:rPr sz="1100" b="1">
                          <a:solidFill>
                            <a:srgbClr val="2E2E2E"/>
                          </a:solidFill>
                          <a:latin typeface="Calibri"/>
                        </a:rPr>
                        <a:t>Dental Polymers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444">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3" name="TextBox 12"/>
          <p:cNvSpPr txBox="1"/>
          <p:nvPr/>
        </p:nvSpPr>
        <p:spPr>
          <a:xfrm>
            <a:off x="219075" y="45148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848225"/>
            <a:ext cx="1190625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93395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Material Type</a:t>
            </a:r>
          </a:p>
        </p:txBody>
      </p:sp>
      <p:sp>
        <p:nvSpPr>
          <p:cNvPr id="16" name="Rectangle 15"/>
          <p:cNvSpPr/>
          <p:nvPr/>
        </p:nvSpPr>
        <p:spPr>
          <a:xfrm>
            <a:off x="276225" y="51720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5257800"/>
            <a:ext cx="11639550" cy="12954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6529244" y="2824543"/>
            <a:ext cx="366712" cy="533400"/>
          </a:xfrm>
          <a:prstGeom prst="rect">
            <a:avLst/>
          </a:prstGeom>
        </p:spPr>
      </p:pic>
      <p:sp>
        <p:nvSpPr>
          <p:cNvPr id="20" name="TextBox 19"/>
          <p:cNvSpPr txBox="1"/>
          <p:nvPr/>
        </p:nvSpPr>
        <p:spPr>
          <a:xfrm>
            <a:off x="276225" y="5267325"/>
            <a:ext cx="2808076" cy="194310"/>
          </a:xfrm>
          <a:prstGeom prst="rect">
            <a:avLst/>
          </a:prstGeom>
          <a:noFill/>
        </p:spPr>
        <p:txBody>
          <a:bodyPr wrap="none" lIns="0" rIns="0" tIns="0" bIns="0">
            <a:spAutoFit/>
          </a:bodyPr>
          <a:lstStyle/>
          <a:p>
            <a:r>
              <a:rPr sz="1150" b="0">
                <a:solidFill>
                  <a:srgbClr val="2E2E2E"/>
                </a:solidFill>
                <a:latin typeface="Calibri"/>
              </a:rPr>
              <a:t>Acrylic / resin segment is projected to register</a:t>
            </a:r>
          </a:p>
        </p:txBody>
      </p:sp>
      <p:pic>
        <p:nvPicPr>
          <p:cNvPr id="21" name="Picture 20" descr="lock.png"/>
          <p:cNvPicPr>
            <a:picLocks noChangeAspect="1"/>
          </p:cNvPicPr>
          <p:nvPr/>
        </p:nvPicPr>
        <p:blipFill>
          <a:blip r:embed="rId4"/>
          <a:stretch>
            <a:fillRect/>
          </a:stretch>
        </p:blipFill>
        <p:spPr>
          <a:xfrm>
            <a:off x="3033455" y="5257101"/>
            <a:ext cx="134549" cy="195707"/>
          </a:xfrm>
          <a:prstGeom prst="rect">
            <a:avLst/>
          </a:prstGeom>
        </p:spPr>
      </p:pic>
      <p:sp>
        <p:nvSpPr>
          <p:cNvPr id="22" name="TextBox 21"/>
          <p:cNvSpPr txBox="1"/>
          <p:nvPr/>
        </p:nvSpPr>
        <p:spPr>
          <a:xfrm>
            <a:off x="3208564" y="5267325"/>
            <a:ext cx="8657493" cy="194310"/>
          </a:xfrm>
          <a:prstGeom prst="rect">
            <a:avLst/>
          </a:prstGeom>
          <a:noFill/>
        </p:spPr>
        <p:txBody>
          <a:bodyPr wrap="none" lIns="0" rIns="0" tIns="0" bIns="0">
            <a:spAutoFit/>
          </a:bodyPr>
          <a:lstStyle/>
          <a:p>
            <a:r>
              <a:rPr sz="1150" b="0">
                <a:solidFill>
                  <a:srgbClr val="2E2E2E"/>
                </a:solidFill>
                <a:latin typeface="Calibri"/>
              </a:rPr>
              <a:t>X higher volume than metal alloys segment in 2036. Among removable partial dentures by material type, high-performance polymers segment is</a:t>
            </a:r>
          </a:p>
        </p:txBody>
      </p:sp>
      <p:sp>
        <p:nvSpPr>
          <p:cNvPr id="23" name="TextBox 22"/>
          <p:cNvSpPr txBox="1"/>
          <p:nvPr/>
        </p:nvSpPr>
        <p:spPr>
          <a:xfrm>
            <a:off x="276225" y="5442585"/>
            <a:ext cx="2486007" cy="194310"/>
          </a:xfrm>
          <a:prstGeom prst="rect">
            <a:avLst/>
          </a:prstGeom>
          <a:noFill/>
        </p:spPr>
        <p:txBody>
          <a:bodyPr wrap="none" lIns="0" rIns="0" tIns="0" bIns="0">
            <a:spAutoFit/>
          </a:bodyPr>
          <a:lstStyle/>
          <a:p>
            <a:r>
              <a:rPr sz="1150" b="0">
                <a:solidFill>
                  <a:srgbClr val="2E2E2E"/>
                </a:solidFill>
                <a:latin typeface="Calibri"/>
              </a:rPr>
              <a:t>expected to witness the highest CAGR of</a:t>
            </a:r>
          </a:p>
        </p:txBody>
      </p:sp>
      <p:pic>
        <p:nvPicPr>
          <p:cNvPr id="24" name="Picture 23" descr="lock.png"/>
          <p:cNvPicPr>
            <a:picLocks noChangeAspect="1"/>
          </p:cNvPicPr>
          <p:nvPr/>
        </p:nvPicPr>
        <p:blipFill>
          <a:blip r:embed="rId4"/>
          <a:stretch>
            <a:fillRect/>
          </a:stretch>
        </p:blipFill>
        <p:spPr>
          <a:xfrm>
            <a:off x="2711386" y="5432361"/>
            <a:ext cx="134549" cy="195707"/>
          </a:xfrm>
          <a:prstGeom prst="rect">
            <a:avLst/>
          </a:prstGeom>
        </p:spPr>
      </p:pic>
      <p:sp>
        <p:nvSpPr>
          <p:cNvPr id="25" name="TextBox 24"/>
          <p:cNvSpPr txBox="1"/>
          <p:nvPr/>
        </p:nvSpPr>
        <p:spPr>
          <a:xfrm>
            <a:off x="2886495" y="544258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6" name="TextBox 25"/>
          <p:cNvSpPr txBox="1"/>
          <p:nvPr/>
        </p:nvSpPr>
        <p:spPr>
          <a:xfrm>
            <a:off x="276225" y="5670422"/>
            <a:ext cx="6860108" cy="194310"/>
          </a:xfrm>
          <a:prstGeom prst="rect">
            <a:avLst/>
          </a:prstGeom>
          <a:noFill/>
        </p:spPr>
        <p:txBody>
          <a:bodyPr wrap="none" lIns="0" rIns="0" tIns="0" bIns="0">
            <a:spAutoFit/>
          </a:bodyPr>
          <a:lstStyle/>
          <a:p>
            <a:r>
              <a:rPr sz="1150" b="0">
                <a:solidFill>
                  <a:srgbClr val="2E2E2E"/>
                </a:solidFill>
                <a:latin typeface="Calibri"/>
              </a:rPr>
              <a:t>In terms of volume share by material type, the acrylic / resin segment is expected to dominate the market, gaining</a:t>
            </a:r>
          </a:p>
        </p:txBody>
      </p:sp>
      <p:pic>
        <p:nvPicPr>
          <p:cNvPr id="27" name="Picture 26" descr="lock.png"/>
          <p:cNvPicPr>
            <a:picLocks noChangeAspect="1"/>
          </p:cNvPicPr>
          <p:nvPr/>
        </p:nvPicPr>
        <p:blipFill>
          <a:blip r:embed="rId4"/>
          <a:stretch>
            <a:fillRect/>
          </a:stretch>
        </p:blipFill>
        <p:spPr>
          <a:xfrm>
            <a:off x="7085487" y="5660199"/>
            <a:ext cx="134549" cy="195707"/>
          </a:xfrm>
          <a:prstGeom prst="rect">
            <a:avLst/>
          </a:prstGeom>
        </p:spPr>
      </p:pic>
      <p:sp>
        <p:nvSpPr>
          <p:cNvPr id="28" name="TextBox 27"/>
          <p:cNvSpPr txBox="1"/>
          <p:nvPr/>
        </p:nvSpPr>
        <p:spPr>
          <a:xfrm>
            <a:off x="7260596" y="567042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29" name="Picture 28" descr="lock.png"/>
          <p:cNvPicPr>
            <a:picLocks noChangeAspect="1"/>
          </p:cNvPicPr>
          <p:nvPr/>
        </p:nvPicPr>
        <p:blipFill>
          <a:blip r:embed="rId4"/>
          <a:stretch>
            <a:fillRect/>
          </a:stretch>
        </p:blipFill>
        <p:spPr>
          <a:xfrm>
            <a:off x="8655739" y="5660199"/>
            <a:ext cx="134549" cy="195707"/>
          </a:xfrm>
          <a:prstGeom prst="rect">
            <a:avLst/>
          </a:prstGeom>
        </p:spPr>
      </p:pic>
      <p:sp>
        <p:nvSpPr>
          <p:cNvPr id="30" name="TextBox 29"/>
          <p:cNvSpPr txBox="1"/>
          <p:nvPr/>
        </p:nvSpPr>
        <p:spPr>
          <a:xfrm>
            <a:off x="8830849" y="5670422"/>
            <a:ext cx="2616386" cy="194310"/>
          </a:xfrm>
          <a:prstGeom prst="rect">
            <a:avLst/>
          </a:prstGeom>
          <a:noFill/>
        </p:spPr>
        <p:txBody>
          <a:bodyPr wrap="none" lIns="0" rIns="0" tIns="0" bIns="0">
            <a:spAutoFit/>
          </a:bodyPr>
          <a:lstStyle/>
          <a:p>
            <a:r>
              <a:rPr sz="1150" b="0">
                <a:solidFill>
                  <a:srgbClr val="2E2E2E"/>
                </a:solidFill>
                <a:latin typeface="Calibri"/>
              </a:rPr>
              <a:t>share by 2036. The metal alloys segment is</a:t>
            </a:r>
          </a:p>
        </p:txBody>
      </p:sp>
      <p:sp>
        <p:nvSpPr>
          <p:cNvPr id="31" name="TextBox 30"/>
          <p:cNvSpPr txBox="1"/>
          <p:nvPr/>
        </p:nvSpPr>
        <p:spPr>
          <a:xfrm>
            <a:off x="276225" y="5845682"/>
            <a:ext cx="1054906" cy="194310"/>
          </a:xfrm>
          <a:prstGeom prst="rect">
            <a:avLst/>
          </a:prstGeom>
          <a:noFill/>
        </p:spPr>
        <p:txBody>
          <a:bodyPr wrap="none" lIns="0" rIns="0" tIns="0" bIns="0">
            <a:spAutoFit/>
          </a:bodyPr>
          <a:lstStyle/>
          <a:p>
            <a:r>
              <a:rPr sz="1150" b="0">
                <a:solidFill>
                  <a:srgbClr val="2E2E2E"/>
                </a:solidFill>
                <a:latin typeface="Calibri"/>
              </a:rPr>
              <a:t>expected to lose</a:t>
            </a:r>
          </a:p>
        </p:txBody>
      </p:sp>
      <p:pic>
        <p:nvPicPr>
          <p:cNvPr id="32" name="Picture 31" descr="lock.png"/>
          <p:cNvPicPr>
            <a:picLocks noChangeAspect="1"/>
          </p:cNvPicPr>
          <p:nvPr/>
        </p:nvPicPr>
        <p:blipFill>
          <a:blip r:embed="rId4"/>
          <a:stretch>
            <a:fillRect/>
          </a:stretch>
        </p:blipFill>
        <p:spPr>
          <a:xfrm>
            <a:off x="1280285" y="5835459"/>
            <a:ext cx="134549" cy="195707"/>
          </a:xfrm>
          <a:prstGeom prst="rect">
            <a:avLst/>
          </a:prstGeom>
        </p:spPr>
      </p:pic>
      <p:sp>
        <p:nvSpPr>
          <p:cNvPr id="33" name="TextBox 32"/>
          <p:cNvSpPr txBox="1"/>
          <p:nvPr/>
        </p:nvSpPr>
        <p:spPr>
          <a:xfrm>
            <a:off x="1455394" y="5845682"/>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4" name="Picture 33" descr="lock.png"/>
          <p:cNvPicPr>
            <a:picLocks noChangeAspect="1"/>
          </p:cNvPicPr>
          <p:nvPr/>
        </p:nvPicPr>
        <p:blipFill>
          <a:blip r:embed="rId4"/>
          <a:stretch>
            <a:fillRect/>
          </a:stretch>
        </p:blipFill>
        <p:spPr>
          <a:xfrm>
            <a:off x="4042898" y="5835459"/>
            <a:ext cx="134549" cy="195707"/>
          </a:xfrm>
          <a:prstGeom prst="rect">
            <a:avLst/>
          </a:prstGeom>
        </p:spPr>
      </p:pic>
      <p:sp>
        <p:nvSpPr>
          <p:cNvPr id="35" name="TextBox 34"/>
          <p:cNvSpPr txBox="1"/>
          <p:nvPr/>
        </p:nvSpPr>
        <p:spPr>
          <a:xfrm>
            <a:off x="4218008" y="584568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Material Type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Material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Material Type (US$ Mn)</a:t>
            </a:r>
          </a:p>
        </p:txBody>
      </p:sp>
      <p:graphicFrame>
        <p:nvGraphicFramePr>
          <p:cNvPr id="13" name="Table 12"/>
          <p:cNvGraphicFramePr>
            <a:graphicFrameLocks noGrp="1"/>
          </p:cNvGraphicFramePr>
          <p:nvPr/>
        </p:nvGraphicFramePr>
        <p:xfrm>
          <a:off x="152400" y="1238250"/>
          <a:ext cx="11887201" cy="3448052"/>
        </p:xfrm>
        <a:graphic>
          <a:graphicData uri="http://schemas.openxmlformats.org/drawingml/2006/table">
            <a:tbl>
              <a:tblPr>
                <a:tableStyleId>{5C22544A-7EE6-4342-B048-85BDC9FD1C3A}</a:tableStyleId>
              </a:tblPr>
              <a:tblGrid>
                <a:gridCol w="2975812"/>
                <a:gridCol w="535294"/>
                <a:gridCol w="535294"/>
                <a:gridCol w="535294"/>
                <a:gridCol w="535294"/>
                <a:gridCol w="535294"/>
                <a:gridCol w="516437"/>
                <a:gridCol w="511050"/>
                <a:gridCol w="511050"/>
                <a:gridCol w="511050"/>
                <a:gridCol w="511050"/>
                <a:gridCol w="511050"/>
                <a:gridCol w="511050"/>
                <a:gridCol w="511050"/>
                <a:gridCol w="511050"/>
                <a:gridCol w="511050"/>
                <a:gridCol w="511050"/>
                <a:gridCol w="607982"/>
              </a:tblGrid>
              <a:tr h="246126">
                <a:tc>
                  <a:txBody>
                    <a:bodyPr wrap="none"/>
                    <a:lstStyle/>
                    <a:p>
                      <a:pPr algn="l"/>
                      <a:r>
                        <a:rPr sz="1100" b="1">
                          <a:solidFill>
                            <a:srgbClr val="0B2E4A"/>
                          </a:solidFill>
                          <a:latin typeface="Calibri"/>
                        </a:rPr>
                        <a:t>Material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302">
                <a:tc>
                  <a:txBody>
                    <a:bodyPr wrap="none"/>
                    <a:lstStyle/>
                    <a:p>
                      <a:pPr algn="l"/>
                      <a:r>
                        <a:rPr sz="1100" b="1">
                          <a:solidFill>
                            <a:srgbClr val="2E2E2E"/>
                          </a:solidFill>
                          <a:latin typeface="Calibri"/>
                        </a:rPr>
                        <a:t>Metal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02">
                <a:tc>
                  <a:txBody>
                    <a:bodyPr wrap="none"/>
                    <a:lstStyle/>
                    <a:p>
                      <a:pPr algn="l"/>
                      <a:r>
                        <a:rPr sz="1100" b="1">
                          <a:solidFill>
                            <a:srgbClr val="2E2E2E"/>
                          </a:solidFill>
                          <a:latin typeface="Calibri"/>
                        </a:rPr>
                        <a:t>– Cobalt-Chromium Alloys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02">
                <a:tc>
                  <a:txBody>
                    <a:bodyPr wrap="none"/>
                    <a:lstStyle/>
                    <a:p>
                      <a:pPr algn="l"/>
                      <a:r>
                        <a:rPr sz="1100" b="1">
                          <a:solidFill>
                            <a:srgbClr val="2E2E2E"/>
                          </a:solidFill>
                          <a:latin typeface="Calibri"/>
                        </a:rPr>
                        <a:t>– Titanium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02">
                <a:tc>
                  <a:txBody>
                    <a:bodyPr wrap="none"/>
                    <a:lstStyle/>
                    <a:p>
                      <a:pPr algn="l"/>
                      <a:r>
                        <a:rPr sz="1100" b="1">
                          <a:solidFill>
                            <a:srgbClr val="2E2E2E"/>
                          </a:solidFill>
                          <a:latin typeface="Calibri"/>
                        </a:rPr>
                        <a:t>Acrylic / Resin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02">
                <a:tc>
                  <a:txBody>
                    <a:bodyPr wrap="none"/>
                    <a:lstStyle/>
                    <a:p>
                      <a:pPr algn="l"/>
                      <a:r>
                        <a:rPr sz="1100" b="1">
                          <a:solidFill>
                            <a:srgbClr val="2E2E2E"/>
                          </a:solidFill>
                          <a:latin typeface="Calibri"/>
                        </a:rPr>
                        <a:t>– PMMA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02">
                <a:tc>
                  <a:txBody>
                    <a:bodyPr wrap="none"/>
                    <a:lstStyle/>
                    <a:p>
                      <a:pPr algn="l"/>
                      <a:r>
                        <a:rPr sz="1100" b="1">
                          <a:solidFill>
                            <a:srgbClr val="2E2E2E"/>
                          </a:solidFill>
                          <a:latin typeface="Calibri"/>
                        </a:rPr>
                        <a:t>– Printable Denture Resins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02">
                <a:tc>
                  <a:txBody>
                    <a:bodyPr wrap="none"/>
                    <a:lstStyle/>
                    <a:p>
                      <a:pPr algn="l"/>
                      <a:r>
                        <a:rPr sz="1100" b="1">
                          <a:solidFill>
                            <a:srgbClr val="2E2E2E"/>
                          </a:solidFill>
                          <a:latin typeface="Calibri"/>
                        </a:rPr>
                        <a:t>Flexible Thermoplastics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02">
                <a:tc>
                  <a:txBody>
                    <a:bodyPr wrap="none"/>
                    <a:lstStyle/>
                    <a:p>
                      <a:pPr algn="l"/>
                      <a:r>
                        <a:rPr sz="1100" b="1">
                          <a:solidFill>
                            <a:srgbClr val="2E2E2E"/>
                          </a:solidFill>
                          <a:latin typeface="Calibri"/>
                        </a:rPr>
                        <a:t>– Polyamide / Nylon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02">
                <a:tc>
                  <a:txBody>
                    <a:bodyPr wrap="none"/>
                    <a:lstStyle/>
                    <a:p>
                      <a:pPr algn="l"/>
                      <a:r>
                        <a:rPr sz="1100" b="1">
                          <a:solidFill>
                            <a:srgbClr val="2E2E2E"/>
                          </a:solidFill>
                          <a:latin typeface="Calibri"/>
                        </a:rPr>
                        <a:t>– Other Thermoplastic Resins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02">
                <a:tc>
                  <a:txBody>
                    <a:bodyPr wrap="none"/>
                    <a:lstStyle/>
                    <a:p>
                      <a:pPr algn="l"/>
                      <a:r>
                        <a:rPr sz="1100" b="1">
                          <a:solidFill>
                            <a:srgbClr val="2E2E2E"/>
                          </a:solidFill>
                          <a:latin typeface="Calibri"/>
                        </a:rPr>
                        <a:t>High-performance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02">
                <a:tc>
                  <a:txBody>
                    <a:bodyPr wrap="none"/>
                    <a:lstStyle/>
                    <a:p>
                      <a:pPr algn="l"/>
                      <a:r>
                        <a:rPr sz="1100" b="1">
                          <a:solidFill>
                            <a:srgbClr val="2E2E2E"/>
                          </a:solidFill>
                          <a:latin typeface="Calibri"/>
                        </a:rPr>
                        <a:t>– PEEK-based Materials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02">
                <a:tc>
                  <a:txBody>
                    <a:bodyPr wrap="none"/>
                    <a:lstStyle/>
                    <a:p>
                      <a:pPr algn="l"/>
                      <a:r>
                        <a:rPr sz="1100" b="1">
                          <a:solidFill>
                            <a:srgbClr val="2E2E2E"/>
                          </a:solidFill>
                          <a:latin typeface="Calibri"/>
                        </a:rPr>
                        <a:t>– Other High-performance Dental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02">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1,078</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1,125</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1,731</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4.4%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5029200"/>
            <a:ext cx="11906250"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511492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Material Type</a:t>
            </a:r>
          </a:p>
        </p:txBody>
      </p:sp>
      <p:sp>
        <p:nvSpPr>
          <p:cNvPr id="17" name="Rectangle 16"/>
          <p:cNvSpPr/>
          <p:nvPr/>
        </p:nvSpPr>
        <p:spPr>
          <a:xfrm>
            <a:off x="276225" y="53530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438775"/>
            <a:ext cx="11639550"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397216" y="2818639"/>
            <a:ext cx="366712" cy="533400"/>
          </a:xfrm>
          <a:prstGeom prst="rect">
            <a:avLst/>
          </a:prstGeom>
        </p:spPr>
      </p:pic>
      <p:sp>
        <p:nvSpPr>
          <p:cNvPr id="21" name="TextBox 20"/>
          <p:cNvSpPr txBox="1"/>
          <p:nvPr/>
        </p:nvSpPr>
        <p:spPr>
          <a:xfrm>
            <a:off x="276225" y="5448300"/>
            <a:ext cx="2808076" cy="194310"/>
          </a:xfrm>
          <a:prstGeom prst="rect">
            <a:avLst/>
          </a:prstGeom>
          <a:noFill/>
        </p:spPr>
        <p:txBody>
          <a:bodyPr wrap="none" lIns="0" rIns="0" tIns="0" bIns="0">
            <a:spAutoFit/>
          </a:bodyPr>
          <a:lstStyle/>
          <a:p>
            <a:r>
              <a:rPr sz="1150" b="0">
                <a:solidFill>
                  <a:srgbClr val="2E2E2E"/>
                </a:solidFill>
                <a:latin typeface="Calibri"/>
              </a:rPr>
              <a:t>Acrylic / resin segment is projected to register</a:t>
            </a:r>
          </a:p>
        </p:txBody>
      </p:sp>
      <p:pic>
        <p:nvPicPr>
          <p:cNvPr id="22" name="Picture 21" descr="lock.png"/>
          <p:cNvPicPr>
            <a:picLocks noChangeAspect="1"/>
          </p:cNvPicPr>
          <p:nvPr/>
        </p:nvPicPr>
        <p:blipFill>
          <a:blip r:embed="rId4"/>
          <a:stretch>
            <a:fillRect/>
          </a:stretch>
        </p:blipFill>
        <p:spPr>
          <a:xfrm>
            <a:off x="3033455" y="5438076"/>
            <a:ext cx="134549" cy="195707"/>
          </a:xfrm>
          <a:prstGeom prst="rect">
            <a:avLst/>
          </a:prstGeom>
        </p:spPr>
      </p:pic>
      <p:sp>
        <p:nvSpPr>
          <p:cNvPr id="23" name="TextBox 22"/>
          <p:cNvSpPr txBox="1"/>
          <p:nvPr/>
        </p:nvSpPr>
        <p:spPr>
          <a:xfrm>
            <a:off x="3208564" y="5448300"/>
            <a:ext cx="8533693" cy="194310"/>
          </a:xfrm>
          <a:prstGeom prst="rect">
            <a:avLst/>
          </a:prstGeom>
          <a:noFill/>
        </p:spPr>
        <p:txBody>
          <a:bodyPr wrap="none" lIns="0" rIns="0" tIns="0" bIns="0">
            <a:spAutoFit/>
          </a:bodyPr>
          <a:lstStyle/>
          <a:p>
            <a:r>
              <a:rPr sz="1150" b="0">
                <a:solidFill>
                  <a:srgbClr val="2E2E2E"/>
                </a:solidFill>
                <a:latin typeface="Calibri"/>
              </a:rPr>
              <a:t>X higher value than metal alloys segment in 2036. Among removable partial dentures by material type, high-performance polymers segment is</a:t>
            </a:r>
          </a:p>
        </p:txBody>
      </p:sp>
      <p:sp>
        <p:nvSpPr>
          <p:cNvPr id="24" name="TextBox 23"/>
          <p:cNvSpPr txBox="1"/>
          <p:nvPr/>
        </p:nvSpPr>
        <p:spPr>
          <a:xfrm>
            <a:off x="276225" y="5623560"/>
            <a:ext cx="2486007" cy="194310"/>
          </a:xfrm>
          <a:prstGeom prst="rect">
            <a:avLst/>
          </a:prstGeom>
          <a:noFill/>
        </p:spPr>
        <p:txBody>
          <a:bodyPr wrap="none" lIns="0" rIns="0" tIns="0" bIns="0">
            <a:spAutoFit/>
          </a:bodyPr>
          <a:lstStyle/>
          <a:p>
            <a:r>
              <a:rPr sz="1150" b="0">
                <a:solidFill>
                  <a:srgbClr val="2E2E2E"/>
                </a:solidFill>
                <a:latin typeface="Calibri"/>
              </a:rPr>
              <a:t>expected to witness the highest CAGR of</a:t>
            </a:r>
          </a:p>
        </p:txBody>
      </p:sp>
      <p:pic>
        <p:nvPicPr>
          <p:cNvPr id="25" name="Picture 24" descr="lock.png"/>
          <p:cNvPicPr>
            <a:picLocks noChangeAspect="1"/>
          </p:cNvPicPr>
          <p:nvPr/>
        </p:nvPicPr>
        <p:blipFill>
          <a:blip r:embed="rId4"/>
          <a:stretch>
            <a:fillRect/>
          </a:stretch>
        </p:blipFill>
        <p:spPr>
          <a:xfrm>
            <a:off x="2711386" y="5613336"/>
            <a:ext cx="134549" cy="195707"/>
          </a:xfrm>
          <a:prstGeom prst="rect">
            <a:avLst/>
          </a:prstGeom>
        </p:spPr>
      </p:pic>
      <p:sp>
        <p:nvSpPr>
          <p:cNvPr id="26" name="TextBox 25"/>
          <p:cNvSpPr txBox="1"/>
          <p:nvPr/>
        </p:nvSpPr>
        <p:spPr>
          <a:xfrm>
            <a:off x="2886495" y="562356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5851397"/>
            <a:ext cx="6736308" cy="194310"/>
          </a:xfrm>
          <a:prstGeom prst="rect">
            <a:avLst/>
          </a:prstGeom>
          <a:noFill/>
        </p:spPr>
        <p:txBody>
          <a:bodyPr wrap="none" lIns="0" rIns="0" tIns="0" bIns="0">
            <a:spAutoFit/>
          </a:bodyPr>
          <a:lstStyle/>
          <a:p>
            <a:r>
              <a:rPr sz="1150" b="0">
                <a:solidFill>
                  <a:srgbClr val="2E2E2E"/>
                </a:solidFill>
                <a:latin typeface="Calibri"/>
              </a:rPr>
              <a:t>In terms of value share by material type, the acrylic / resin segment is expected to dominate the market, gaining</a:t>
            </a:r>
          </a:p>
        </p:txBody>
      </p:sp>
      <p:pic>
        <p:nvPicPr>
          <p:cNvPr id="28" name="Picture 27" descr="lock.png"/>
          <p:cNvPicPr>
            <a:picLocks noChangeAspect="1"/>
          </p:cNvPicPr>
          <p:nvPr/>
        </p:nvPicPr>
        <p:blipFill>
          <a:blip r:embed="rId4"/>
          <a:stretch>
            <a:fillRect/>
          </a:stretch>
        </p:blipFill>
        <p:spPr>
          <a:xfrm>
            <a:off x="6961687" y="5841174"/>
            <a:ext cx="134549" cy="195707"/>
          </a:xfrm>
          <a:prstGeom prst="rect">
            <a:avLst/>
          </a:prstGeom>
        </p:spPr>
      </p:pic>
      <p:sp>
        <p:nvSpPr>
          <p:cNvPr id="29" name="TextBox 28"/>
          <p:cNvSpPr txBox="1"/>
          <p:nvPr/>
        </p:nvSpPr>
        <p:spPr>
          <a:xfrm>
            <a:off x="7136796" y="585139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8531939" y="5841174"/>
            <a:ext cx="134549" cy="195707"/>
          </a:xfrm>
          <a:prstGeom prst="rect">
            <a:avLst/>
          </a:prstGeom>
        </p:spPr>
      </p:pic>
      <p:sp>
        <p:nvSpPr>
          <p:cNvPr id="31" name="TextBox 30"/>
          <p:cNvSpPr txBox="1"/>
          <p:nvPr/>
        </p:nvSpPr>
        <p:spPr>
          <a:xfrm>
            <a:off x="8707048" y="5851397"/>
            <a:ext cx="2579588" cy="194310"/>
          </a:xfrm>
          <a:prstGeom prst="rect">
            <a:avLst/>
          </a:prstGeom>
          <a:noFill/>
        </p:spPr>
        <p:txBody>
          <a:bodyPr wrap="none" lIns="0" rIns="0" tIns="0" bIns="0">
            <a:spAutoFit/>
          </a:bodyPr>
          <a:lstStyle/>
          <a:p>
            <a:r>
              <a:rPr sz="1150" b="0">
                <a:solidFill>
                  <a:srgbClr val="2E2E2E"/>
                </a:solidFill>
                <a:latin typeface="Calibri"/>
              </a:rPr>
              <a:t>share by 2036. The flexible thermoplastics</a:t>
            </a:r>
          </a:p>
        </p:txBody>
      </p:sp>
      <p:sp>
        <p:nvSpPr>
          <p:cNvPr id="32" name="TextBox 31"/>
          <p:cNvSpPr txBox="1"/>
          <p:nvPr/>
        </p:nvSpPr>
        <p:spPr>
          <a:xfrm>
            <a:off x="276225" y="6026657"/>
            <a:ext cx="1725538" cy="194310"/>
          </a:xfrm>
          <a:prstGeom prst="rect">
            <a:avLst/>
          </a:prstGeom>
          <a:noFill/>
        </p:spPr>
        <p:txBody>
          <a:bodyPr wrap="none" lIns="0" rIns="0" tIns="0" bIns="0">
            <a:spAutoFit/>
          </a:bodyPr>
          <a:lstStyle/>
          <a:p>
            <a:r>
              <a:rPr sz="1150" b="0">
                <a:solidFill>
                  <a:srgbClr val="2E2E2E"/>
                </a:solidFill>
                <a:latin typeface="Calibri"/>
              </a:rPr>
              <a:t>segment is expected to lose</a:t>
            </a:r>
          </a:p>
        </p:txBody>
      </p:sp>
      <p:pic>
        <p:nvPicPr>
          <p:cNvPr id="33" name="Picture 32" descr="lock.png"/>
          <p:cNvPicPr>
            <a:picLocks noChangeAspect="1"/>
          </p:cNvPicPr>
          <p:nvPr/>
        </p:nvPicPr>
        <p:blipFill>
          <a:blip r:embed="rId4"/>
          <a:stretch>
            <a:fillRect/>
          </a:stretch>
        </p:blipFill>
        <p:spPr>
          <a:xfrm>
            <a:off x="1950917" y="6016434"/>
            <a:ext cx="134549" cy="195707"/>
          </a:xfrm>
          <a:prstGeom prst="rect">
            <a:avLst/>
          </a:prstGeom>
        </p:spPr>
      </p:pic>
      <p:sp>
        <p:nvSpPr>
          <p:cNvPr id="34" name="TextBox 33"/>
          <p:cNvSpPr txBox="1"/>
          <p:nvPr/>
        </p:nvSpPr>
        <p:spPr>
          <a:xfrm>
            <a:off x="2126026" y="6026657"/>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4713530" y="6016434"/>
            <a:ext cx="134549" cy="195707"/>
          </a:xfrm>
          <a:prstGeom prst="rect">
            <a:avLst/>
          </a:prstGeom>
        </p:spPr>
      </p:pic>
      <p:sp>
        <p:nvSpPr>
          <p:cNvPr id="36" name="TextBox 35"/>
          <p:cNvSpPr txBox="1"/>
          <p:nvPr/>
        </p:nvSpPr>
        <p:spPr>
          <a:xfrm>
            <a:off x="4888640" y="602665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Material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Material Type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Material Type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85315"/>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88055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80435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High-performance Polymers</a:t>
            </a:r>
          </a:p>
        </p:txBody>
      </p:sp>
      <p:sp>
        <p:nvSpPr>
          <p:cNvPr id="19" name="BPS Value 1"/>
          <p:cNvSpPr txBox="1"/>
          <p:nvPr/>
        </p:nvSpPr>
        <p:spPr>
          <a:xfrm>
            <a:off x="6896100" y="1866265"/>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2510293"/>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50553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42933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Flexible Thermoplastics</a:t>
            </a:r>
          </a:p>
        </p:txBody>
      </p:sp>
      <p:sp>
        <p:nvSpPr>
          <p:cNvPr id="23" name="BPS Value 2"/>
          <p:cNvSpPr txBox="1"/>
          <p:nvPr/>
        </p:nvSpPr>
        <p:spPr>
          <a:xfrm>
            <a:off x="6896100" y="2491243"/>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FMI Legend Chip"/>
          <p:cNvSpPr/>
          <p:nvPr/>
        </p:nvSpPr>
        <p:spPr>
          <a:xfrm>
            <a:off x="4928997" y="3576929"/>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57216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49596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Metal Alloys</a:t>
            </a:r>
          </a:p>
        </p:txBody>
      </p:sp>
      <p:sp>
        <p:nvSpPr>
          <p:cNvPr id="27" name="BPS Value 3"/>
          <p:cNvSpPr txBox="1"/>
          <p:nvPr/>
        </p:nvSpPr>
        <p:spPr>
          <a:xfrm>
            <a:off x="6896100" y="3557879"/>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FMI Legend Chip"/>
          <p:cNvSpPr/>
          <p:nvPr/>
        </p:nvSpPr>
        <p:spPr>
          <a:xfrm>
            <a:off x="4928997" y="523814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23337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15717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Acrylic / Resin</a:t>
            </a:r>
          </a:p>
        </p:txBody>
      </p:sp>
      <p:sp>
        <p:nvSpPr>
          <p:cNvPr id="31" name="BPS Value 4"/>
          <p:cNvSpPr txBox="1"/>
          <p:nvPr/>
        </p:nvSpPr>
        <p:spPr>
          <a:xfrm>
            <a:off x="6896100" y="5219092"/>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Material Type</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7" name="Picture 36" descr="lock.png"/>
          <p:cNvPicPr>
            <a:picLocks noChangeAspect="1"/>
          </p:cNvPicPr>
          <p:nvPr/>
        </p:nvPicPr>
        <p:blipFill>
          <a:blip r:embed="rId5"/>
          <a:stretch>
            <a:fillRect/>
          </a:stretch>
        </p:blipFill>
        <p:spPr>
          <a:xfrm>
            <a:off x="2557843" y="3833622"/>
            <a:ext cx="275034" cy="400050"/>
          </a:xfrm>
          <a:prstGeom prst="rect">
            <a:avLst/>
          </a:prstGeom>
        </p:spPr>
      </p:pic>
      <p:sp>
        <p:nvSpPr>
          <p:cNvPr id="38" name="TextBox 37"/>
          <p:cNvSpPr txBox="1"/>
          <p:nvPr/>
        </p:nvSpPr>
        <p:spPr>
          <a:xfrm>
            <a:off x="7829550" y="1400175"/>
            <a:ext cx="3192313" cy="194310"/>
          </a:xfrm>
          <a:prstGeom prst="rect">
            <a:avLst/>
          </a:prstGeom>
          <a:noFill/>
        </p:spPr>
        <p:txBody>
          <a:bodyPr wrap="none" lIns="0" rIns="0" tIns="0" bIns="0">
            <a:spAutoFit/>
          </a:bodyPr>
          <a:lstStyle/>
          <a:p>
            <a:r>
              <a:rPr sz="1150" b="0">
                <a:solidFill>
                  <a:srgbClr val="2E2E2E"/>
                </a:solidFill>
                <a:latin typeface="Calibri"/>
              </a:rPr>
              <a:t>Among removable partial dentures by material type,</a:t>
            </a:r>
          </a:p>
        </p:txBody>
      </p:sp>
      <p:sp>
        <p:nvSpPr>
          <p:cNvPr id="39" name="TextBox 38"/>
          <p:cNvSpPr txBox="1"/>
          <p:nvPr/>
        </p:nvSpPr>
        <p:spPr>
          <a:xfrm>
            <a:off x="7829550" y="1575435"/>
            <a:ext cx="3856384" cy="194310"/>
          </a:xfrm>
          <a:prstGeom prst="rect">
            <a:avLst/>
          </a:prstGeom>
          <a:noFill/>
        </p:spPr>
        <p:txBody>
          <a:bodyPr wrap="none" lIns="0" rIns="0" tIns="0" bIns="0">
            <a:spAutoFit/>
          </a:bodyPr>
          <a:lstStyle/>
          <a:p>
            <a:r>
              <a:rPr sz="1150" b="0">
                <a:solidFill>
                  <a:srgbClr val="2E2E2E"/>
                </a:solidFill>
                <a:latin typeface="Calibri"/>
              </a:rPr>
              <a:t>high-performance polymers segment is expected to witness the</a:t>
            </a:r>
          </a:p>
        </p:txBody>
      </p:sp>
      <p:sp>
        <p:nvSpPr>
          <p:cNvPr id="40" name="TextBox 39"/>
          <p:cNvSpPr txBox="1"/>
          <p:nvPr/>
        </p:nvSpPr>
        <p:spPr>
          <a:xfrm>
            <a:off x="7829550" y="1750695"/>
            <a:ext cx="1032353" cy="194310"/>
          </a:xfrm>
          <a:prstGeom prst="rect">
            <a:avLst/>
          </a:prstGeom>
          <a:noFill/>
        </p:spPr>
        <p:txBody>
          <a:bodyPr wrap="none" lIns="0" rIns="0" tIns="0" bIns="0">
            <a:spAutoFit/>
          </a:bodyPr>
          <a:lstStyle/>
          <a:p>
            <a:r>
              <a:rPr sz="1150" b="0">
                <a:solidFill>
                  <a:srgbClr val="2E2E2E"/>
                </a:solidFill>
                <a:latin typeface="Calibri"/>
              </a:rPr>
              <a:t>highest CAGR of</a:t>
            </a:r>
          </a:p>
        </p:txBody>
      </p:sp>
      <p:pic>
        <p:nvPicPr>
          <p:cNvPr id="41" name="Picture 40" descr="lock.png"/>
          <p:cNvPicPr>
            <a:picLocks noChangeAspect="1"/>
          </p:cNvPicPr>
          <p:nvPr/>
        </p:nvPicPr>
        <p:blipFill>
          <a:blip r:embed="rId5"/>
          <a:stretch>
            <a:fillRect/>
          </a:stretch>
        </p:blipFill>
        <p:spPr>
          <a:xfrm>
            <a:off x="8811057" y="1740471"/>
            <a:ext cx="134549" cy="195707"/>
          </a:xfrm>
          <a:prstGeom prst="rect">
            <a:avLst/>
          </a:prstGeom>
        </p:spPr>
      </p:pic>
      <p:sp>
        <p:nvSpPr>
          <p:cNvPr id="42" name="TextBox 41"/>
          <p:cNvSpPr txBox="1"/>
          <p:nvPr/>
        </p:nvSpPr>
        <p:spPr>
          <a:xfrm>
            <a:off x="8986166" y="1750695"/>
            <a:ext cx="2581585" cy="194310"/>
          </a:xfrm>
          <a:prstGeom prst="rect">
            <a:avLst/>
          </a:prstGeom>
          <a:noFill/>
        </p:spPr>
        <p:txBody>
          <a:bodyPr wrap="none" lIns="0" rIns="0" tIns="0" bIns="0">
            <a:spAutoFit/>
          </a:bodyPr>
          <a:lstStyle/>
          <a:p>
            <a:r>
              <a:rPr sz="1150" b="0">
                <a:solidFill>
                  <a:srgbClr val="2E2E2E"/>
                </a:solidFill>
                <a:latin typeface="Calibri"/>
              </a:rPr>
              <a:t>over the forecast period. In terms of value</a:t>
            </a:r>
          </a:p>
        </p:txBody>
      </p:sp>
      <p:sp>
        <p:nvSpPr>
          <p:cNvPr id="43" name="TextBox 42"/>
          <p:cNvSpPr txBox="1"/>
          <p:nvPr/>
        </p:nvSpPr>
        <p:spPr>
          <a:xfrm>
            <a:off x="7829550" y="1925955"/>
            <a:ext cx="3909441" cy="194310"/>
          </a:xfrm>
          <a:prstGeom prst="rect">
            <a:avLst/>
          </a:prstGeom>
          <a:noFill/>
        </p:spPr>
        <p:txBody>
          <a:bodyPr wrap="none" lIns="0" rIns="0" tIns="0" bIns="0">
            <a:spAutoFit/>
          </a:bodyPr>
          <a:lstStyle/>
          <a:p>
            <a:r>
              <a:rPr sz="1150" b="0">
                <a:solidFill>
                  <a:srgbClr val="2E2E2E"/>
                </a:solidFill>
                <a:latin typeface="Calibri"/>
              </a:rPr>
              <a:t>share by material type, the acrylic / resin segment is expected to</a:t>
            </a:r>
          </a:p>
        </p:txBody>
      </p:sp>
      <p:sp>
        <p:nvSpPr>
          <p:cNvPr id="44" name="TextBox 43"/>
          <p:cNvSpPr txBox="1"/>
          <p:nvPr/>
        </p:nvSpPr>
        <p:spPr>
          <a:xfrm>
            <a:off x="7829550" y="2101215"/>
            <a:ext cx="1837072" cy="194310"/>
          </a:xfrm>
          <a:prstGeom prst="rect">
            <a:avLst/>
          </a:prstGeom>
          <a:noFill/>
        </p:spPr>
        <p:txBody>
          <a:bodyPr wrap="none" lIns="0" rIns="0" tIns="0" bIns="0">
            <a:spAutoFit/>
          </a:bodyPr>
          <a:lstStyle/>
          <a:p>
            <a:r>
              <a:rPr sz="1150" b="0">
                <a:solidFill>
                  <a:srgbClr val="2E2E2E"/>
                </a:solidFill>
                <a:latin typeface="Calibri"/>
              </a:rPr>
              <a:t>dominate the market, gaining</a:t>
            </a:r>
          </a:p>
        </p:txBody>
      </p:sp>
      <p:pic>
        <p:nvPicPr>
          <p:cNvPr id="45" name="Picture 44" descr="lock.png"/>
          <p:cNvPicPr>
            <a:picLocks noChangeAspect="1"/>
          </p:cNvPicPr>
          <p:nvPr/>
        </p:nvPicPr>
        <p:blipFill>
          <a:blip r:embed="rId5"/>
          <a:stretch>
            <a:fillRect/>
          </a:stretch>
        </p:blipFill>
        <p:spPr>
          <a:xfrm>
            <a:off x="9615776" y="2090991"/>
            <a:ext cx="134549" cy="195707"/>
          </a:xfrm>
          <a:prstGeom prst="rect">
            <a:avLst/>
          </a:prstGeom>
        </p:spPr>
      </p:pic>
      <p:sp>
        <p:nvSpPr>
          <p:cNvPr id="46" name="TextBox 45"/>
          <p:cNvSpPr txBox="1"/>
          <p:nvPr/>
        </p:nvSpPr>
        <p:spPr>
          <a:xfrm>
            <a:off x="9790885" y="2101215"/>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47" name="Picture 46" descr="lock.png"/>
          <p:cNvPicPr>
            <a:picLocks noChangeAspect="1"/>
          </p:cNvPicPr>
          <p:nvPr/>
        </p:nvPicPr>
        <p:blipFill>
          <a:blip r:embed="rId5"/>
          <a:stretch>
            <a:fillRect/>
          </a:stretch>
        </p:blipFill>
        <p:spPr>
          <a:xfrm>
            <a:off x="11186028" y="2090991"/>
            <a:ext cx="134549" cy="195707"/>
          </a:xfrm>
          <a:prstGeom prst="rect">
            <a:avLst/>
          </a:prstGeom>
        </p:spPr>
      </p:pic>
      <p:sp>
        <p:nvSpPr>
          <p:cNvPr id="48" name="TextBox 47"/>
          <p:cNvSpPr txBox="1"/>
          <p:nvPr/>
        </p:nvSpPr>
        <p:spPr>
          <a:xfrm>
            <a:off x="7829550" y="2276475"/>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9" name="TextBox 48"/>
          <p:cNvSpPr txBox="1"/>
          <p:nvPr/>
        </p:nvSpPr>
        <p:spPr>
          <a:xfrm>
            <a:off x="7829550" y="2504313"/>
            <a:ext cx="3358901" cy="194310"/>
          </a:xfrm>
          <a:prstGeom prst="rect">
            <a:avLst/>
          </a:prstGeom>
          <a:noFill/>
        </p:spPr>
        <p:txBody>
          <a:bodyPr wrap="none" lIns="0" rIns="0" tIns="0" bIns="0">
            <a:spAutoFit/>
          </a:bodyPr>
          <a:lstStyle/>
          <a:p>
            <a:r>
              <a:rPr sz="1150" b="0">
                <a:solidFill>
                  <a:srgbClr val="2E2E2E"/>
                </a:solidFill>
                <a:latin typeface="Calibri"/>
              </a:rPr>
              <a:t>The flexible thermoplastics segment is expected to lose</a:t>
            </a:r>
          </a:p>
        </p:txBody>
      </p:sp>
      <p:pic>
        <p:nvPicPr>
          <p:cNvPr id="50" name="Picture 49" descr="lock.png"/>
          <p:cNvPicPr>
            <a:picLocks noChangeAspect="1"/>
          </p:cNvPicPr>
          <p:nvPr/>
        </p:nvPicPr>
        <p:blipFill>
          <a:blip r:embed="rId5"/>
          <a:stretch>
            <a:fillRect/>
          </a:stretch>
        </p:blipFill>
        <p:spPr>
          <a:xfrm>
            <a:off x="11137605" y="2494089"/>
            <a:ext cx="134549" cy="195707"/>
          </a:xfrm>
          <a:prstGeom prst="rect">
            <a:avLst/>
          </a:prstGeom>
        </p:spPr>
      </p:pic>
      <p:sp>
        <p:nvSpPr>
          <p:cNvPr id="51" name="TextBox 50"/>
          <p:cNvSpPr txBox="1"/>
          <p:nvPr/>
        </p:nvSpPr>
        <p:spPr>
          <a:xfrm>
            <a:off x="11312715" y="2504313"/>
            <a:ext cx="298412" cy="194310"/>
          </a:xfrm>
          <a:prstGeom prst="rect">
            <a:avLst/>
          </a:prstGeom>
          <a:noFill/>
        </p:spPr>
        <p:txBody>
          <a:bodyPr wrap="none" lIns="0" rIns="0" tIns="0" bIns="0">
            <a:spAutoFit/>
          </a:bodyPr>
          <a:lstStyle/>
          <a:p>
            <a:r>
              <a:rPr sz="1150" b="0">
                <a:solidFill>
                  <a:srgbClr val="2E2E2E"/>
                </a:solidFill>
                <a:latin typeface="Calibri"/>
              </a:rPr>
              <a:t>BPS</a:t>
            </a:r>
          </a:p>
        </p:txBody>
      </p:sp>
      <p:sp>
        <p:nvSpPr>
          <p:cNvPr id="52" name="TextBox 51"/>
          <p:cNvSpPr txBox="1"/>
          <p:nvPr/>
        </p:nvSpPr>
        <p:spPr>
          <a:xfrm>
            <a:off x="7829550" y="2679573"/>
            <a:ext cx="2383048" cy="194310"/>
          </a:xfrm>
          <a:prstGeom prst="rect">
            <a:avLst/>
          </a:prstGeom>
          <a:noFill/>
        </p:spPr>
        <p:txBody>
          <a:bodyPr wrap="none" lIns="0" rIns="0" tIns="0" bIns="0">
            <a:spAutoFit/>
          </a:bodyPr>
          <a:lstStyle/>
          <a:p>
            <a:r>
              <a:rPr sz="1150" b="0">
                <a:solidFill>
                  <a:srgbClr val="2E2E2E"/>
                </a:solidFill>
                <a:latin typeface="Calibri"/>
              </a:rPr>
              <a:t>over the forecast period to account for</a:t>
            </a:r>
          </a:p>
        </p:txBody>
      </p:sp>
      <p:pic>
        <p:nvPicPr>
          <p:cNvPr id="53" name="Picture 52" descr="lock.png"/>
          <p:cNvPicPr>
            <a:picLocks noChangeAspect="1"/>
          </p:cNvPicPr>
          <p:nvPr/>
        </p:nvPicPr>
        <p:blipFill>
          <a:blip r:embed="rId5"/>
          <a:stretch>
            <a:fillRect/>
          </a:stretch>
        </p:blipFill>
        <p:spPr>
          <a:xfrm>
            <a:off x="10161752" y="2669349"/>
            <a:ext cx="134549" cy="195707"/>
          </a:xfrm>
          <a:prstGeom prst="rect">
            <a:avLst/>
          </a:prstGeom>
        </p:spPr>
      </p:pic>
      <p:sp>
        <p:nvSpPr>
          <p:cNvPr id="54" name="TextBox 53"/>
          <p:cNvSpPr txBox="1"/>
          <p:nvPr/>
        </p:nvSpPr>
        <p:spPr>
          <a:xfrm>
            <a:off x="10336861" y="267957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55"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Material Type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Material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3667125"/>
          </a:xfrm>
          <a:prstGeom prst="roundRect">
            <a:avLst>
              <a:gd name="adj" fmla="val 20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Material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3" cy="3200406"/>
        </p:xfrm>
        <a:graphic>
          <a:graphicData uri="http://schemas.openxmlformats.org/drawingml/2006/table">
            <a:tbl>
              <a:tblPr>
                <a:tableStyleId>{5C22544A-7EE6-4342-B048-85BDC9FD1C3A}</a:tableStyleId>
              </a:tblPr>
              <a:tblGrid>
                <a:gridCol w="2878883"/>
                <a:gridCol w="600554"/>
                <a:gridCol w="600554"/>
                <a:gridCol w="600554"/>
                <a:gridCol w="600554"/>
                <a:gridCol w="600554"/>
                <a:gridCol w="600554"/>
                <a:gridCol w="600554"/>
                <a:gridCol w="600554"/>
                <a:gridCol w="600554"/>
                <a:gridCol w="600554"/>
                <a:gridCol w="600554"/>
                <a:gridCol w="600554"/>
                <a:gridCol w="600554"/>
                <a:gridCol w="600554"/>
                <a:gridCol w="600554"/>
              </a:tblGrid>
              <a:tr h="246126">
                <a:tc>
                  <a:txBody>
                    <a:bodyPr wrap="none"/>
                    <a:lstStyle/>
                    <a:p>
                      <a:pPr algn="l"/>
                      <a:r>
                        <a:rPr sz="1100" b="1">
                          <a:solidFill>
                            <a:srgbClr val="0B2E4A"/>
                          </a:solidFill>
                          <a:latin typeface="Calibri"/>
                        </a:rPr>
                        <a:t>Material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190">
                <a:tc>
                  <a:txBody>
                    <a:bodyPr wrap="none"/>
                    <a:lstStyle/>
                    <a:p>
                      <a:pPr algn="l"/>
                      <a:r>
                        <a:rPr sz="1100" b="1">
                          <a:solidFill>
                            <a:srgbClr val="2E2E2E"/>
                          </a:solidFill>
                          <a:latin typeface="Calibri"/>
                        </a:rPr>
                        <a:t>Metal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Cobalt-Chromium Alloys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Titanium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Acrylic / Resin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PMMA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Printable Denture Resins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Flexible Thermoplastics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Polyamide / Nylon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Other Thermoplastic Resins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High-performance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PEEK-based Materials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Other High-performance Dental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448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7348748" y="2694815"/>
            <a:ext cx="366712" cy="533400"/>
          </a:xfrm>
          <a:prstGeom prst="rect">
            <a:avLst/>
          </a:prstGeom>
        </p:spPr>
      </p:pic>
    </p:spTree>
  </p:cSld>
  <p:clrMapOvr>
    <a:masterClrMapping/>
  </p:clrMapOvr>
</p:sld>
</file>

<file path=ppt/slides/slide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Material Type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Material Type,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Material Type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Metal Alloys</a:t>
            </a:r>
          </a:p>
        </p:txBody>
      </p:sp>
      <p:sp>
        <p:nvSpPr>
          <p:cNvPr id="28" name="Rectangle 27"/>
          <p:cNvSpPr/>
          <p:nvPr/>
        </p:nvSpPr>
        <p:spPr>
          <a:xfrm>
            <a:off x="1857375" y="1409700"/>
            <a:ext cx="643890" cy="430212"/>
          </a:xfrm>
          <a:prstGeom prst="rect">
            <a:avLst/>
          </a:prstGeom>
          <a:solidFill>
            <a:srgbClr val="B0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430212"/>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430212"/>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430212"/>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430212"/>
          </a:xfrm>
          <a:prstGeom prst="rect">
            <a:avLst/>
          </a:prstGeom>
          <a:solidFill>
            <a:srgbClr val="7F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430212"/>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430212"/>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430212"/>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430212"/>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430212"/>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430212"/>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430212"/>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430212"/>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430212"/>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430212"/>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8399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Cobalt-Chromium Alloys</a:t>
            </a:r>
          </a:p>
        </p:txBody>
      </p:sp>
      <p:sp>
        <p:nvSpPr>
          <p:cNvPr id="44" name="Rectangle 43"/>
          <p:cNvSpPr/>
          <p:nvPr/>
        </p:nvSpPr>
        <p:spPr>
          <a:xfrm>
            <a:off x="1857375" y="1839912"/>
            <a:ext cx="643890" cy="430212"/>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839912"/>
            <a:ext cx="643890" cy="430212"/>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839912"/>
            <a:ext cx="643890" cy="430212"/>
          </a:xfrm>
          <a:prstGeom prst="rect">
            <a:avLst/>
          </a:prstGeom>
          <a:solidFill>
            <a:srgbClr val="0E6DA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839912"/>
            <a:ext cx="643890" cy="430212"/>
          </a:xfrm>
          <a:prstGeom prst="rect">
            <a:avLst/>
          </a:prstGeom>
          <a:solidFill>
            <a:srgbClr val="0D5D8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839912"/>
            <a:ext cx="643890" cy="430212"/>
          </a:xfrm>
          <a:prstGeom prst="rect">
            <a:avLst/>
          </a:prstGeom>
          <a:solidFill>
            <a:srgbClr val="0C4D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839912"/>
            <a:ext cx="643890" cy="430212"/>
          </a:xfrm>
          <a:prstGeom prst="rect">
            <a:avLst/>
          </a:prstGeom>
          <a:solidFill>
            <a:srgbClr val="0C4E7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839912"/>
            <a:ext cx="643890" cy="430212"/>
          </a:xfrm>
          <a:prstGeom prst="rect">
            <a:avLst/>
          </a:prstGeom>
          <a:solidFill>
            <a:srgbClr val="0C4F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839912"/>
            <a:ext cx="643890" cy="430212"/>
          </a:xfrm>
          <a:prstGeom prst="rect">
            <a:avLst/>
          </a:prstGeom>
          <a:solidFill>
            <a:srgbClr val="0D517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839912"/>
            <a:ext cx="643890" cy="430212"/>
          </a:xfrm>
          <a:prstGeom prst="rect">
            <a:avLst/>
          </a:prstGeom>
          <a:solidFill>
            <a:srgbClr val="0D527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839912"/>
            <a:ext cx="643890" cy="430212"/>
          </a:xfrm>
          <a:prstGeom prst="rect">
            <a:avLst/>
          </a:prstGeom>
          <a:solidFill>
            <a:srgbClr val="0D53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839912"/>
            <a:ext cx="643890" cy="430212"/>
          </a:xfrm>
          <a:prstGeom prst="rect">
            <a:avLst/>
          </a:prstGeom>
          <a:solidFill>
            <a:srgbClr val="0D55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839912"/>
            <a:ext cx="643890" cy="430212"/>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839912"/>
            <a:ext cx="643890" cy="430212"/>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839912"/>
            <a:ext cx="643890" cy="430212"/>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839912"/>
            <a:ext cx="643890" cy="430212"/>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2701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Titanium Alloys</a:t>
            </a:r>
          </a:p>
        </p:txBody>
      </p:sp>
      <p:sp>
        <p:nvSpPr>
          <p:cNvPr id="60" name="Rectangle 59"/>
          <p:cNvSpPr/>
          <p:nvPr/>
        </p:nvSpPr>
        <p:spPr>
          <a:xfrm>
            <a:off x="1857375" y="2270125"/>
            <a:ext cx="643890" cy="430212"/>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2270125"/>
            <a:ext cx="643890" cy="430212"/>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2270125"/>
            <a:ext cx="643890" cy="430212"/>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2270125"/>
            <a:ext cx="643890" cy="430212"/>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2270125"/>
            <a:ext cx="643890" cy="430212"/>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2270125"/>
            <a:ext cx="643890" cy="430212"/>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2270125"/>
            <a:ext cx="643890" cy="430212"/>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2270125"/>
            <a:ext cx="643890" cy="430212"/>
          </a:xfrm>
          <a:prstGeom prst="rect">
            <a:avLst/>
          </a:prstGeom>
          <a:solidFill>
            <a:srgbClr val="D3E4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2270125"/>
            <a:ext cx="643890" cy="430212"/>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2270125"/>
            <a:ext cx="643890" cy="430212"/>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2270125"/>
            <a:ext cx="643890" cy="430212"/>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2270125"/>
            <a:ext cx="643890" cy="430212"/>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2270125"/>
            <a:ext cx="643890" cy="430212"/>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2270125"/>
            <a:ext cx="643890" cy="430212"/>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2270125"/>
            <a:ext cx="643890" cy="430212"/>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70033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Acrylic / Resin</a:t>
            </a:r>
          </a:p>
        </p:txBody>
      </p:sp>
      <p:sp>
        <p:nvSpPr>
          <p:cNvPr id="76" name="Rectangle 75"/>
          <p:cNvSpPr/>
          <p:nvPr/>
        </p:nvSpPr>
        <p:spPr>
          <a:xfrm>
            <a:off x="1857375" y="2700338"/>
            <a:ext cx="643890" cy="430212"/>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700338"/>
            <a:ext cx="643890" cy="43021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700338"/>
            <a:ext cx="643890" cy="430212"/>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700338"/>
            <a:ext cx="643890" cy="430212"/>
          </a:xfrm>
          <a:prstGeom prst="rect">
            <a:avLst/>
          </a:prstGeom>
          <a:solidFill>
            <a:srgbClr val="81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700338"/>
            <a:ext cx="643890" cy="430212"/>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700338"/>
            <a:ext cx="643890" cy="430212"/>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700338"/>
            <a:ext cx="643890" cy="430212"/>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700338"/>
            <a:ext cx="643890" cy="430212"/>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700338"/>
            <a:ext cx="643890" cy="430212"/>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700338"/>
            <a:ext cx="643890" cy="430212"/>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700338"/>
            <a:ext cx="643890" cy="430212"/>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700338"/>
            <a:ext cx="643890" cy="430212"/>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700338"/>
            <a:ext cx="643890" cy="430212"/>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700338"/>
            <a:ext cx="643890" cy="430212"/>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700338"/>
            <a:ext cx="643890" cy="430212"/>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313055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PMMA</a:t>
            </a:r>
          </a:p>
        </p:txBody>
      </p:sp>
      <p:sp>
        <p:nvSpPr>
          <p:cNvPr id="92" name="Rectangle 91"/>
          <p:cNvSpPr/>
          <p:nvPr/>
        </p:nvSpPr>
        <p:spPr>
          <a:xfrm>
            <a:off x="1857375" y="3130550"/>
            <a:ext cx="643890" cy="430212"/>
          </a:xfrm>
          <a:prstGeom prst="rect">
            <a:avLst/>
          </a:prstGeom>
          <a:solidFill>
            <a:srgbClr val="0E69A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3130550"/>
            <a:ext cx="643890" cy="430212"/>
          </a:xfrm>
          <a:prstGeom prst="rect">
            <a:avLst/>
          </a:prstGeom>
          <a:solidFill>
            <a:srgbClr val="0D5B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3130550"/>
            <a:ext cx="643890" cy="430212"/>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3130550"/>
            <a:ext cx="643890" cy="430212"/>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3130550"/>
            <a:ext cx="643890" cy="43021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3130550"/>
            <a:ext cx="643890" cy="430212"/>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3130550"/>
            <a:ext cx="643890" cy="430212"/>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3130550"/>
            <a:ext cx="643890" cy="430212"/>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3130550"/>
            <a:ext cx="643890" cy="430212"/>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3130550"/>
            <a:ext cx="643890" cy="430212"/>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3130550"/>
            <a:ext cx="643890" cy="430212"/>
          </a:xfrm>
          <a:prstGeom prst="rect">
            <a:avLst/>
          </a:prstGeom>
          <a:solidFill>
            <a:srgbClr val="0C3D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3130550"/>
            <a:ext cx="643890" cy="430212"/>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3130550"/>
            <a:ext cx="643890" cy="430212"/>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3130550"/>
            <a:ext cx="643890" cy="430212"/>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3130550"/>
            <a:ext cx="643890" cy="430212"/>
          </a:xfrm>
          <a:prstGeom prst="rect">
            <a:avLst/>
          </a:prstGeom>
          <a:solidFill>
            <a:srgbClr val="0C45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56076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Printable Denture Resins</a:t>
            </a:r>
          </a:p>
        </p:txBody>
      </p:sp>
      <p:sp>
        <p:nvSpPr>
          <p:cNvPr id="108" name="Rectangle 107"/>
          <p:cNvSpPr/>
          <p:nvPr/>
        </p:nvSpPr>
        <p:spPr>
          <a:xfrm>
            <a:off x="1857375" y="3560762"/>
            <a:ext cx="643890" cy="430212"/>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3560762"/>
            <a:ext cx="643890" cy="430212"/>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3560762"/>
            <a:ext cx="643890" cy="430212"/>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3560762"/>
            <a:ext cx="643890" cy="430212"/>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3560762"/>
            <a:ext cx="643890" cy="430212"/>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3560762"/>
            <a:ext cx="643890" cy="430212"/>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3560762"/>
            <a:ext cx="643890" cy="430212"/>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3560762"/>
            <a:ext cx="643890" cy="430212"/>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3560762"/>
            <a:ext cx="643890" cy="430212"/>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3560762"/>
            <a:ext cx="643890" cy="430212"/>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3560762"/>
            <a:ext cx="643890" cy="430212"/>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3560762"/>
            <a:ext cx="643890" cy="430212"/>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3560762"/>
            <a:ext cx="643890" cy="430212"/>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3560762"/>
            <a:ext cx="643890" cy="430212"/>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3560762"/>
            <a:ext cx="643890" cy="43021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99097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Flexible Thermoplastics</a:t>
            </a:r>
          </a:p>
        </p:txBody>
      </p:sp>
      <p:sp>
        <p:nvSpPr>
          <p:cNvPr id="124" name="Rectangle 123"/>
          <p:cNvSpPr/>
          <p:nvPr/>
        </p:nvSpPr>
        <p:spPr>
          <a:xfrm>
            <a:off x="1857375" y="3990975"/>
            <a:ext cx="643890" cy="430212"/>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3990975"/>
            <a:ext cx="643890" cy="430212"/>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3990975"/>
            <a:ext cx="643890" cy="430212"/>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3990975"/>
            <a:ext cx="643890" cy="430212"/>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3990975"/>
            <a:ext cx="643890" cy="430212"/>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3990975"/>
            <a:ext cx="643890" cy="430212"/>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3990975"/>
            <a:ext cx="643890" cy="430212"/>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3990975"/>
            <a:ext cx="643890" cy="430212"/>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3990975"/>
            <a:ext cx="643890" cy="430212"/>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3990975"/>
            <a:ext cx="643890" cy="430212"/>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3990975"/>
            <a:ext cx="643890" cy="430212"/>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3990975"/>
            <a:ext cx="643890" cy="430212"/>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3990975"/>
            <a:ext cx="643890" cy="430212"/>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3990975"/>
            <a:ext cx="643890" cy="430212"/>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3990975"/>
            <a:ext cx="643890" cy="430212"/>
          </a:xfrm>
          <a:prstGeom prst="rect">
            <a:avLst/>
          </a:prstGeom>
          <a:solidFill>
            <a:srgbClr val="86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442118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Polyamide / Nylon</a:t>
            </a:r>
          </a:p>
        </p:txBody>
      </p:sp>
      <p:sp>
        <p:nvSpPr>
          <p:cNvPr id="140" name="Rectangle 139"/>
          <p:cNvSpPr/>
          <p:nvPr/>
        </p:nvSpPr>
        <p:spPr>
          <a:xfrm>
            <a:off x="1857375" y="4421188"/>
            <a:ext cx="643890" cy="430212"/>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4421188"/>
            <a:ext cx="643890" cy="430212"/>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4421188"/>
            <a:ext cx="643890" cy="430212"/>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4421188"/>
            <a:ext cx="643890" cy="430212"/>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4421188"/>
            <a:ext cx="643890" cy="430212"/>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4421188"/>
            <a:ext cx="643890" cy="430212"/>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4421188"/>
            <a:ext cx="643890" cy="430212"/>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4421188"/>
            <a:ext cx="643890" cy="430212"/>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4421188"/>
            <a:ext cx="643890" cy="430212"/>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4421188"/>
            <a:ext cx="643890" cy="430212"/>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4421188"/>
            <a:ext cx="643890" cy="430212"/>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4421188"/>
            <a:ext cx="643890" cy="430212"/>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4421188"/>
            <a:ext cx="643890" cy="430212"/>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4421188"/>
            <a:ext cx="643890" cy="430212"/>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4421188"/>
            <a:ext cx="643890" cy="430212"/>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8514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Other Thermoplastic Resins</a:t>
            </a:r>
          </a:p>
        </p:txBody>
      </p:sp>
      <p:sp>
        <p:nvSpPr>
          <p:cNvPr id="156" name="Rectangle 155"/>
          <p:cNvSpPr/>
          <p:nvPr/>
        </p:nvSpPr>
        <p:spPr>
          <a:xfrm>
            <a:off x="1857375" y="4851400"/>
            <a:ext cx="643890" cy="430212"/>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4851400"/>
            <a:ext cx="643890" cy="430212"/>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4851400"/>
            <a:ext cx="643890" cy="430212"/>
          </a:xfrm>
          <a:prstGeom prst="rect">
            <a:avLst/>
          </a:prstGeom>
          <a:solidFill>
            <a:srgbClr val="1E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4851400"/>
            <a:ext cx="643890" cy="430212"/>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4851400"/>
            <a:ext cx="643890" cy="430212"/>
          </a:xfrm>
          <a:prstGeom prst="rect">
            <a:avLst/>
          </a:prstGeom>
          <a:solidFill>
            <a:srgbClr val="0E6B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4851400"/>
            <a:ext cx="643890" cy="430212"/>
          </a:xfrm>
          <a:prstGeom prst="rect">
            <a:avLst/>
          </a:prstGeom>
          <a:solidFill>
            <a:srgbClr val="0E6CA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4851400"/>
            <a:ext cx="643890" cy="430212"/>
          </a:xfrm>
          <a:prstGeom prst="rect">
            <a:avLst/>
          </a:prstGeom>
          <a:solidFill>
            <a:srgbClr val="0E6DA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4851400"/>
            <a:ext cx="643890" cy="430212"/>
          </a:xfrm>
          <a:prstGeom prst="rect">
            <a:avLst/>
          </a:prstGeom>
          <a:solidFill>
            <a:srgbClr val="0E6EA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4851400"/>
            <a:ext cx="643890" cy="430212"/>
          </a:xfrm>
          <a:prstGeom prst="rect">
            <a:avLst/>
          </a:prstGeom>
          <a:solidFill>
            <a:srgbClr val="0E6FA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4851400"/>
            <a:ext cx="643890" cy="430212"/>
          </a:xfrm>
          <a:prstGeom prst="rect">
            <a:avLst/>
          </a:prstGeom>
          <a:solidFill>
            <a:srgbClr val="0E6F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4851400"/>
            <a:ext cx="643890" cy="430212"/>
          </a:xfrm>
          <a:prstGeom prst="rect">
            <a:avLst/>
          </a:prstGeom>
          <a:solidFill>
            <a:srgbClr val="0E70A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4851400"/>
            <a:ext cx="643890" cy="430212"/>
          </a:xfrm>
          <a:prstGeom prst="rect">
            <a:avLst/>
          </a:prstGeom>
          <a:solidFill>
            <a:srgbClr val="0E71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4851400"/>
            <a:ext cx="643890" cy="430212"/>
          </a:xfrm>
          <a:prstGeom prst="rect">
            <a:avLst/>
          </a:prstGeom>
          <a:solidFill>
            <a:srgbClr val="0E72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4851400"/>
            <a:ext cx="643890" cy="430212"/>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4851400"/>
            <a:ext cx="643890" cy="430212"/>
          </a:xfrm>
          <a:prstGeom prst="rect">
            <a:avLst/>
          </a:prstGeom>
          <a:solidFill>
            <a:srgbClr val="0F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52816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High-performance Polymers</a:t>
            </a:r>
          </a:p>
        </p:txBody>
      </p:sp>
      <p:sp>
        <p:nvSpPr>
          <p:cNvPr id="172" name="Rectangle 171"/>
          <p:cNvSpPr/>
          <p:nvPr/>
        </p:nvSpPr>
        <p:spPr>
          <a:xfrm>
            <a:off x="1857375" y="5281612"/>
            <a:ext cx="643890" cy="430212"/>
          </a:xfrm>
          <a:prstGeom prst="rect">
            <a:avLst/>
          </a:prstGeom>
          <a:solidFill>
            <a:srgbClr val="99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5281612"/>
            <a:ext cx="643890" cy="430212"/>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5281612"/>
            <a:ext cx="643890" cy="430212"/>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5281612"/>
            <a:ext cx="643890" cy="430212"/>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5281612"/>
            <a:ext cx="643890" cy="430212"/>
          </a:xfrm>
          <a:prstGeom prst="rect">
            <a:avLst/>
          </a:prstGeom>
          <a:solidFill>
            <a:srgbClr val="5C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5281612"/>
            <a:ext cx="643890" cy="430212"/>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5281612"/>
            <a:ext cx="643890" cy="430212"/>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5281612"/>
            <a:ext cx="643890" cy="430212"/>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5281612"/>
            <a:ext cx="643890" cy="430212"/>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5281612"/>
            <a:ext cx="643890" cy="430212"/>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5281612"/>
            <a:ext cx="643890" cy="430212"/>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5281612"/>
            <a:ext cx="643890" cy="430212"/>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5281612"/>
            <a:ext cx="643890" cy="430212"/>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5281612"/>
            <a:ext cx="643890" cy="430212"/>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5281612"/>
            <a:ext cx="643890" cy="430212"/>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57118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PEEK-based Materials</a:t>
            </a:r>
          </a:p>
        </p:txBody>
      </p:sp>
      <p:sp>
        <p:nvSpPr>
          <p:cNvPr id="188" name="Rectangle 187"/>
          <p:cNvSpPr/>
          <p:nvPr/>
        </p:nvSpPr>
        <p:spPr>
          <a:xfrm>
            <a:off x="1857375" y="5711825"/>
            <a:ext cx="643890" cy="430212"/>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5711825"/>
            <a:ext cx="643890" cy="430212"/>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5711825"/>
            <a:ext cx="643890" cy="430212"/>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5711825"/>
            <a:ext cx="643890" cy="430212"/>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5711825"/>
            <a:ext cx="643890" cy="430212"/>
          </a:xfrm>
          <a:prstGeom prst="rect">
            <a:avLst/>
          </a:prstGeom>
          <a:solidFill>
            <a:srgbClr val="97BF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5711825"/>
            <a:ext cx="643890" cy="430212"/>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5711825"/>
            <a:ext cx="643890" cy="430212"/>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5711825"/>
            <a:ext cx="643890" cy="430212"/>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5711825"/>
            <a:ext cx="643890" cy="430212"/>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5711825"/>
            <a:ext cx="643890" cy="430212"/>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5711825"/>
            <a:ext cx="643890" cy="430212"/>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5711825"/>
            <a:ext cx="643890" cy="430212"/>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5711825"/>
            <a:ext cx="643890" cy="430212"/>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5711825"/>
            <a:ext cx="643890" cy="43021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5711825"/>
            <a:ext cx="643890" cy="43021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6142037"/>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Other High-performance Dental Polymers</a:t>
            </a:r>
          </a:p>
        </p:txBody>
      </p:sp>
      <p:sp>
        <p:nvSpPr>
          <p:cNvPr id="204" name="Rectangle 203"/>
          <p:cNvSpPr/>
          <p:nvPr/>
        </p:nvSpPr>
        <p:spPr>
          <a:xfrm>
            <a:off x="1857375" y="6142037"/>
            <a:ext cx="643890" cy="430212"/>
          </a:xfrm>
          <a:prstGeom prst="rect">
            <a:avLst/>
          </a:prstGeom>
          <a:solidFill>
            <a:srgbClr val="5D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6142037"/>
            <a:ext cx="643890" cy="430212"/>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6142037"/>
            <a:ext cx="643890" cy="430212"/>
          </a:xfrm>
          <a:prstGeom prst="rect">
            <a:avLst/>
          </a:prstGeom>
          <a:solidFill>
            <a:srgbClr val="3D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6142037"/>
            <a:ext cx="643890" cy="430212"/>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6142037"/>
            <a:ext cx="643890" cy="430212"/>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6142037"/>
            <a:ext cx="643890" cy="430212"/>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6142037"/>
            <a:ext cx="643890" cy="430212"/>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6142037"/>
            <a:ext cx="643890" cy="430212"/>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6142037"/>
            <a:ext cx="643890" cy="430212"/>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6142037"/>
            <a:ext cx="643890" cy="430212"/>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6142037"/>
            <a:ext cx="643890" cy="430212"/>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6142037"/>
            <a:ext cx="643890" cy="430212"/>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6142037"/>
            <a:ext cx="643890" cy="430212"/>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6142037"/>
            <a:ext cx="643890" cy="430212"/>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6142037"/>
            <a:ext cx="643890" cy="430212"/>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Rectangle 218"/>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Rectangle 219"/>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Rectangle 234"/>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Rectangle 235"/>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TextBox 259"/>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261" name="TextBox 260"/>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262" name="TextBox 261"/>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263" name="TextBox 2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4" name="Picture 263" descr="lock.png"/>
          <p:cNvPicPr>
            <a:picLocks noChangeAspect="1"/>
          </p:cNvPicPr>
          <p:nvPr/>
        </p:nvPicPr>
        <p:blipFill>
          <a:blip r:embed="rId4"/>
          <a:stretch>
            <a:fillRect/>
          </a:stretch>
        </p:blipFill>
        <p:spPr>
          <a:xfrm>
            <a:off x="11760938" y="1354201"/>
            <a:ext cx="128699" cy="187198"/>
          </a:xfrm>
          <a:prstGeom prst="rect">
            <a:avLst/>
          </a:prstGeom>
        </p:spPr>
      </p:pic>
      <p:pic>
        <p:nvPicPr>
          <p:cNvPr id="265" name="Picture 264" descr="lock.png"/>
          <p:cNvPicPr>
            <a:picLocks noChangeAspect="1"/>
          </p:cNvPicPr>
          <p:nvPr/>
        </p:nvPicPr>
        <p:blipFill>
          <a:blip r:embed="rId4"/>
          <a:stretch>
            <a:fillRect/>
          </a:stretch>
        </p:blipFill>
        <p:spPr>
          <a:xfrm>
            <a:off x="11760938" y="3897376"/>
            <a:ext cx="128699" cy="187198"/>
          </a:xfrm>
          <a:prstGeom prst="rect">
            <a:avLst/>
          </a:prstGeom>
        </p:spPr>
      </p:pic>
      <p:pic>
        <p:nvPicPr>
          <p:cNvPr id="266" name="Picture 265"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Material Type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Material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3667125"/>
          </a:xfrm>
          <a:prstGeom prst="roundRect">
            <a:avLst>
              <a:gd name="adj" fmla="val 20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Material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3" cy="3200406"/>
        </p:xfrm>
        <a:graphic>
          <a:graphicData uri="http://schemas.openxmlformats.org/drawingml/2006/table">
            <a:tbl>
              <a:tblPr>
                <a:tableStyleId>{5C22544A-7EE6-4342-B048-85BDC9FD1C3A}</a:tableStyleId>
              </a:tblPr>
              <a:tblGrid>
                <a:gridCol w="2878883"/>
                <a:gridCol w="600554"/>
                <a:gridCol w="600554"/>
                <a:gridCol w="600554"/>
                <a:gridCol w="600554"/>
                <a:gridCol w="600554"/>
                <a:gridCol w="600554"/>
                <a:gridCol w="600554"/>
                <a:gridCol w="600554"/>
                <a:gridCol w="600554"/>
                <a:gridCol w="600554"/>
                <a:gridCol w="600554"/>
                <a:gridCol w="600554"/>
                <a:gridCol w="600554"/>
                <a:gridCol w="600554"/>
                <a:gridCol w="600554"/>
              </a:tblGrid>
              <a:tr h="246126">
                <a:tc>
                  <a:txBody>
                    <a:bodyPr wrap="none"/>
                    <a:lstStyle/>
                    <a:p>
                      <a:pPr algn="l"/>
                      <a:r>
                        <a:rPr sz="1100" b="1">
                          <a:solidFill>
                            <a:srgbClr val="0B2E4A"/>
                          </a:solidFill>
                          <a:latin typeface="Calibri"/>
                        </a:rPr>
                        <a:t>Material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190">
                <a:tc>
                  <a:txBody>
                    <a:bodyPr wrap="none"/>
                    <a:lstStyle/>
                    <a:p>
                      <a:pPr algn="l"/>
                      <a:r>
                        <a:rPr sz="1100" b="1">
                          <a:solidFill>
                            <a:srgbClr val="2E2E2E"/>
                          </a:solidFill>
                          <a:latin typeface="Calibri"/>
                        </a:rPr>
                        <a:t>Metal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Cobalt-Chromium Alloys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Titanium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Acrylic / Resin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PMMA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Printable Denture Resins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Flexible Thermoplastics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Polyamide / Nylon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Other Thermoplastic Resins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High-performance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PEEK-based Materials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Other High-performance Dental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448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7348748" y="2694815"/>
            <a:ext cx="366712" cy="533400"/>
          </a:xfrm>
          <a:prstGeom prst="rect">
            <a:avLst/>
          </a:prstGeom>
        </p:spPr>
      </p:pic>
    </p:spTree>
  </p:cSld>
  <p:clrMapOvr>
    <a:masterClrMapping/>
  </p:clrMapOvr>
</p:sld>
</file>

<file path=ppt/slides/slide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Material Type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Material Type,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Material Type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Metal Alloys</a:t>
            </a:r>
          </a:p>
        </p:txBody>
      </p:sp>
      <p:sp>
        <p:nvSpPr>
          <p:cNvPr id="28" name="Rectangle 27"/>
          <p:cNvSpPr/>
          <p:nvPr/>
        </p:nvSpPr>
        <p:spPr>
          <a:xfrm>
            <a:off x="1857375" y="1409700"/>
            <a:ext cx="643890" cy="430212"/>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43021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430212"/>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430212"/>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430212"/>
          </a:xfrm>
          <a:prstGeom prst="rect">
            <a:avLst/>
          </a:prstGeom>
          <a:solidFill>
            <a:srgbClr val="70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430212"/>
          </a:xfrm>
          <a:prstGeom prst="rect">
            <a:avLst/>
          </a:prstGeom>
          <a:solidFill>
            <a:srgbClr val="70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430212"/>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430212"/>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430212"/>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430212"/>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430212"/>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430212"/>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430212"/>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430212"/>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430212"/>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8399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Cobalt-Chromium Alloys</a:t>
            </a:r>
          </a:p>
        </p:txBody>
      </p:sp>
      <p:sp>
        <p:nvSpPr>
          <p:cNvPr id="44" name="Rectangle 43"/>
          <p:cNvSpPr/>
          <p:nvPr/>
        </p:nvSpPr>
        <p:spPr>
          <a:xfrm>
            <a:off x="1857375" y="1839912"/>
            <a:ext cx="643890" cy="430212"/>
          </a:xfrm>
          <a:prstGeom prst="rect">
            <a:avLst/>
          </a:prstGeom>
          <a:solidFill>
            <a:srgbClr val="1F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839912"/>
            <a:ext cx="643890" cy="430212"/>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839912"/>
            <a:ext cx="643890" cy="430212"/>
          </a:xfrm>
          <a:prstGeom prst="rect">
            <a:avLst/>
          </a:prstGeom>
          <a:solidFill>
            <a:srgbClr val="0E6EA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839912"/>
            <a:ext cx="643890" cy="430212"/>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839912"/>
            <a:ext cx="643890" cy="430212"/>
          </a:xfrm>
          <a:prstGeom prst="rect">
            <a:avLst/>
          </a:prstGeom>
          <a:solidFill>
            <a:srgbClr val="0C4E7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839912"/>
            <a:ext cx="643890" cy="430212"/>
          </a:xfrm>
          <a:prstGeom prst="rect">
            <a:avLst/>
          </a:prstGeom>
          <a:solidFill>
            <a:srgbClr val="0C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839912"/>
            <a:ext cx="643890" cy="430212"/>
          </a:xfrm>
          <a:prstGeom prst="rect">
            <a:avLst/>
          </a:prstGeom>
          <a:solidFill>
            <a:srgbClr val="0D517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839912"/>
            <a:ext cx="643890" cy="430212"/>
          </a:xfrm>
          <a:prstGeom prst="rect">
            <a:avLst/>
          </a:prstGeom>
          <a:solidFill>
            <a:srgbClr val="0D53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839912"/>
            <a:ext cx="643890" cy="430212"/>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839912"/>
            <a:ext cx="643890" cy="430212"/>
          </a:xfrm>
          <a:prstGeom prst="rect">
            <a:avLst/>
          </a:prstGeom>
          <a:solidFill>
            <a:srgbClr val="0D56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839912"/>
            <a:ext cx="643890" cy="430212"/>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839912"/>
            <a:ext cx="643890" cy="430212"/>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839912"/>
            <a:ext cx="643890" cy="430212"/>
          </a:xfrm>
          <a:prstGeom prst="rect">
            <a:avLst/>
          </a:prstGeom>
          <a:solidFill>
            <a:srgbClr val="0D59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839912"/>
            <a:ext cx="643890" cy="430212"/>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839912"/>
            <a:ext cx="643890" cy="430212"/>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2701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Titanium Alloys</a:t>
            </a:r>
          </a:p>
        </p:txBody>
      </p:sp>
      <p:sp>
        <p:nvSpPr>
          <p:cNvPr id="60" name="Rectangle 59"/>
          <p:cNvSpPr/>
          <p:nvPr/>
        </p:nvSpPr>
        <p:spPr>
          <a:xfrm>
            <a:off x="1857375" y="2270125"/>
            <a:ext cx="643890" cy="430212"/>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2270125"/>
            <a:ext cx="643890" cy="430212"/>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2270125"/>
            <a:ext cx="643890" cy="430212"/>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2270125"/>
            <a:ext cx="643890" cy="430212"/>
          </a:xfrm>
          <a:prstGeom prst="rect">
            <a:avLst/>
          </a:prstGeom>
          <a:solidFill>
            <a:srgbClr val="D4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2270125"/>
            <a:ext cx="643890" cy="430212"/>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2270125"/>
            <a:ext cx="643890" cy="430212"/>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2270125"/>
            <a:ext cx="643890" cy="430212"/>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2270125"/>
            <a:ext cx="643890" cy="430212"/>
          </a:xfrm>
          <a:prstGeom prst="rect">
            <a:avLst/>
          </a:prstGeom>
          <a:solidFill>
            <a:srgbClr val="D3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2270125"/>
            <a:ext cx="643890" cy="430212"/>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2270125"/>
            <a:ext cx="643890" cy="430212"/>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2270125"/>
            <a:ext cx="643890" cy="430212"/>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2270125"/>
            <a:ext cx="643890" cy="430212"/>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2270125"/>
            <a:ext cx="643890" cy="430212"/>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2270125"/>
            <a:ext cx="643890" cy="430212"/>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2270125"/>
            <a:ext cx="643890" cy="430212"/>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70033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Acrylic / Resin</a:t>
            </a:r>
          </a:p>
        </p:txBody>
      </p:sp>
      <p:sp>
        <p:nvSpPr>
          <p:cNvPr id="76" name="Rectangle 75"/>
          <p:cNvSpPr/>
          <p:nvPr/>
        </p:nvSpPr>
        <p:spPr>
          <a:xfrm>
            <a:off x="1857375" y="2700338"/>
            <a:ext cx="643890" cy="43021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700338"/>
            <a:ext cx="643890" cy="430212"/>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700338"/>
            <a:ext cx="643890" cy="430212"/>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700338"/>
            <a:ext cx="643890" cy="430212"/>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700338"/>
            <a:ext cx="643890" cy="430212"/>
          </a:xfrm>
          <a:prstGeom prst="rect">
            <a:avLst/>
          </a:prstGeom>
          <a:solidFill>
            <a:srgbClr val="61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700338"/>
            <a:ext cx="643890" cy="430212"/>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700338"/>
            <a:ext cx="643890" cy="430212"/>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700338"/>
            <a:ext cx="643890" cy="430212"/>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700338"/>
            <a:ext cx="643890" cy="430212"/>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700338"/>
            <a:ext cx="643890" cy="430212"/>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700338"/>
            <a:ext cx="643890" cy="430212"/>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700338"/>
            <a:ext cx="643890" cy="430212"/>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700338"/>
            <a:ext cx="643890" cy="430212"/>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700338"/>
            <a:ext cx="643890" cy="430212"/>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700338"/>
            <a:ext cx="643890" cy="430212"/>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313055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PMMA</a:t>
            </a:r>
          </a:p>
        </p:txBody>
      </p:sp>
      <p:sp>
        <p:nvSpPr>
          <p:cNvPr id="92" name="Rectangle 91"/>
          <p:cNvSpPr/>
          <p:nvPr/>
        </p:nvSpPr>
        <p:spPr>
          <a:xfrm>
            <a:off x="1857375" y="3130550"/>
            <a:ext cx="643890" cy="430212"/>
          </a:xfrm>
          <a:prstGeom prst="rect">
            <a:avLst/>
          </a:prstGeom>
          <a:solidFill>
            <a:srgbClr val="0E69A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3130550"/>
            <a:ext cx="643890" cy="430212"/>
          </a:xfrm>
          <a:prstGeom prst="rect">
            <a:avLst/>
          </a:prstGeom>
          <a:solidFill>
            <a:srgbClr val="0D59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3130550"/>
            <a:ext cx="643890" cy="430212"/>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3130550"/>
            <a:ext cx="643890" cy="430212"/>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3130550"/>
            <a:ext cx="643890" cy="43021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3130550"/>
            <a:ext cx="643890" cy="430212"/>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3130550"/>
            <a:ext cx="643890" cy="430212"/>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3130550"/>
            <a:ext cx="643890" cy="430212"/>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3130550"/>
            <a:ext cx="643890" cy="430212"/>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3130550"/>
            <a:ext cx="643890" cy="430212"/>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3130550"/>
            <a:ext cx="643890" cy="430212"/>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3130550"/>
            <a:ext cx="643890" cy="430212"/>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3130550"/>
            <a:ext cx="643890" cy="430212"/>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3130550"/>
            <a:ext cx="643890" cy="430212"/>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3130550"/>
            <a:ext cx="643890" cy="430212"/>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56076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Printable Denture Resins</a:t>
            </a:r>
          </a:p>
        </p:txBody>
      </p:sp>
      <p:sp>
        <p:nvSpPr>
          <p:cNvPr id="108" name="Rectangle 107"/>
          <p:cNvSpPr/>
          <p:nvPr/>
        </p:nvSpPr>
        <p:spPr>
          <a:xfrm>
            <a:off x="1857375" y="3560762"/>
            <a:ext cx="643890" cy="430212"/>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3560762"/>
            <a:ext cx="643890" cy="430212"/>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3560762"/>
            <a:ext cx="643890" cy="430212"/>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3560762"/>
            <a:ext cx="643890" cy="430212"/>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3560762"/>
            <a:ext cx="643890" cy="430212"/>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3560762"/>
            <a:ext cx="643890" cy="430212"/>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3560762"/>
            <a:ext cx="643890" cy="430212"/>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3560762"/>
            <a:ext cx="643890" cy="430212"/>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3560762"/>
            <a:ext cx="643890" cy="430212"/>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3560762"/>
            <a:ext cx="643890" cy="430212"/>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3560762"/>
            <a:ext cx="643890" cy="430212"/>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3560762"/>
            <a:ext cx="643890" cy="430212"/>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3560762"/>
            <a:ext cx="643890" cy="430212"/>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3560762"/>
            <a:ext cx="643890" cy="430212"/>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3560762"/>
            <a:ext cx="643890" cy="43021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99097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Flexible Thermoplastics</a:t>
            </a:r>
          </a:p>
        </p:txBody>
      </p:sp>
      <p:sp>
        <p:nvSpPr>
          <p:cNvPr id="124" name="Rectangle 123"/>
          <p:cNvSpPr/>
          <p:nvPr/>
        </p:nvSpPr>
        <p:spPr>
          <a:xfrm>
            <a:off x="1857375" y="3990975"/>
            <a:ext cx="643890" cy="430212"/>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3990975"/>
            <a:ext cx="643890" cy="430212"/>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3990975"/>
            <a:ext cx="643890" cy="430212"/>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3990975"/>
            <a:ext cx="643890" cy="430212"/>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3990975"/>
            <a:ext cx="643890" cy="430212"/>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3990975"/>
            <a:ext cx="643890" cy="430212"/>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3990975"/>
            <a:ext cx="643890" cy="430212"/>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3990975"/>
            <a:ext cx="643890" cy="430212"/>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3990975"/>
            <a:ext cx="643890" cy="430212"/>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3990975"/>
            <a:ext cx="643890" cy="430212"/>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3990975"/>
            <a:ext cx="643890" cy="430212"/>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3990975"/>
            <a:ext cx="643890" cy="430212"/>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3990975"/>
            <a:ext cx="643890" cy="430212"/>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3990975"/>
            <a:ext cx="643890" cy="430212"/>
          </a:xfrm>
          <a:prstGeom prst="rect">
            <a:avLst/>
          </a:prstGeom>
          <a:solidFill>
            <a:srgbClr val="87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3990975"/>
            <a:ext cx="643890" cy="430212"/>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442118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Polyamide / Nylon</a:t>
            </a:r>
          </a:p>
        </p:txBody>
      </p:sp>
      <p:sp>
        <p:nvSpPr>
          <p:cNvPr id="140" name="Rectangle 139"/>
          <p:cNvSpPr/>
          <p:nvPr/>
        </p:nvSpPr>
        <p:spPr>
          <a:xfrm>
            <a:off x="1857375" y="4421188"/>
            <a:ext cx="643890" cy="430212"/>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4421188"/>
            <a:ext cx="643890" cy="430212"/>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4421188"/>
            <a:ext cx="643890" cy="430212"/>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4421188"/>
            <a:ext cx="643890" cy="430212"/>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4421188"/>
            <a:ext cx="643890" cy="430212"/>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4421188"/>
            <a:ext cx="643890" cy="430212"/>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4421188"/>
            <a:ext cx="643890" cy="430212"/>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4421188"/>
            <a:ext cx="643890" cy="430212"/>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4421188"/>
            <a:ext cx="643890" cy="430212"/>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4421188"/>
            <a:ext cx="643890" cy="430212"/>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4421188"/>
            <a:ext cx="643890" cy="430212"/>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4421188"/>
            <a:ext cx="643890" cy="430212"/>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4421188"/>
            <a:ext cx="643890" cy="430212"/>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4421188"/>
            <a:ext cx="643890" cy="430212"/>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4421188"/>
            <a:ext cx="643890" cy="430212"/>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8514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Other Thermoplastic Resins</a:t>
            </a:r>
          </a:p>
        </p:txBody>
      </p:sp>
      <p:sp>
        <p:nvSpPr>
          <p:cNvPr id="156" name="Rectangle 155"/>
          <p:cNvSpPr/>
          <p:nvPr/>
        </p:nvSpPr>
        <p:spPr>
          <a:xfrm>
            <a:off x="1857375" y="4851400"/>
            <a:ext cx="643890" cy="430212"/>
          </a:xfrm>
          <a:prstGeom prst="rect">
            <a:avLst/>
          </a:prstGeom>
          <a:solidFill>
            <a:srgbClr val="33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4851400"/>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4851400"/>
            <a:ext cx="643890" cy="430212"/>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4851400"/>
            <a:ext cx="643890" cy="430212"/>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4851400"/>
            <a:ext cx="643890" cy="430212"/>
          </a:xfrm>
          <a:prstGeom prst="rect">
            <a:avLst/>
          </a:prstGeom>
          <a:solidFill>
            <a:srgbClr val="0E6EA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4851400"/>
            <a:ext cx="643890" cy="430212"/>
          </a:xfrm>
          <a:prstGeom prst="rect">
            <a:avLst/>
          </a:prstGeom>
          <a:solidFill>
            <a:srgbClr val="0E6EA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4851400"/>
            <a:ext cx="643890" cy="430212"/>
          </a:xfrm>
          <a:prstGeom prst="rect">
            <a:avLst/>
          </a:prstGeom>
          <a:solidFill>
            <a:srgbClr val="0E70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4851400"/>
            <a:ext cx="643890" cy="430212"/>
          </a:xfrm>
          <a:prstGeom prst="rect">
            <a:avLst/>
          </a:prstGeom>
          <a:solidFill>
            <a:srgbClr val="0E70A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4851400"/>
            <a:ext cx="643890" cy="430212"/>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4851400"/>
            <a:ext cx="643890" cy="430212"/>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4851400"/>
            <a:ext cx="643890" cy="430212"/>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4851400"/>
            <a:ext cx="643890" cy="430212"/>
          </a:xfrm>
          <a:prstGeom prst="rect">
            <a:avLst/>
          </a:prstGeom>
          <a:solidFill>
            <a:srgbClr val="0F73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4851400"/>
            <a:ext cx="643890" cy="430212"/>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4851400"/>
            <a:ext cx="643890" cy="430212"/>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4851400"/>
            <a:ext cx="643890" cy="430212"/>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52816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High-performance Polymers</a:t>
            </a:r>
          </a:p>
        </p:txBody>
      </p:sp>
      <p:sp>
        <p:nvSpPr>
          <p:cNvPr id="172" name="Rectangle 171"/>
          <p:cNvSpPr/>
          <p:nvPr/>
        </p:nvSpPr>
        <p:spPr>
          <a:xfrm>
            <a:off x="1857375" y="5281612"/>
            <a:ext cx="643890" cy="430212"/>
          </a:xfrm>
          <a:prstGeom prst="rect">
            <a:avLst/>
          </a:prstGeom>
          <a:solidFill>
            <a:srgbClr val="92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5281612"/>
            <a:ext cx="643890" cy="430212"/>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5281612"/>
            <a:ext cx="643890" cy="430212"/>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5281612"/>
            <a:ext cx="643890" cy="430212"/>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5281612"/>
            <a:ext cx="643890" cy="430212"/>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5281612"/>
            <a:ext cx="643890" cy="430212"/>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5281612"/>
            <a:ext cx="643890" cy="430212"/>
          </a:xfrm>
          <a:prstGeom prst="rect">
            <a:avLst/>
          </a:prstGeom>
          <a:solidFill>
            <a:srgbClr val="52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5281612"/>
            <a:ext cx="643890" cy="430212"/>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5281612"/>
            <a:ext cx="643890" cy="430212"/>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5281612"/>
            <a:ext cx="643890" cy="430212"/>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5281612"/>
            <a:ext cx="643890" cy="430212"/>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5281612"/>
            <a:ext cx="643890" cy="430212"/>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5281612"/>
            <a:ext cx="643890" cy="430212"/>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5281612"/>
            <a:ext cx="643890" cy="430212"/>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5281612"/>
            <a:ext cx="643890" cy="430212"/>
          </a:xfrm>
          <a:prstGeom prst="rect">
            <a:avLst/>
          </a:prstGeom>
          <a:solidFill>
            <a:srgbClr val="52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57118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PEEK-based Materials</a:t>
            </a:r>
          </a:p>
        </p:txBody>
      </p:sp>
      <p:sp>
        <p:nvSpPr>
          <p:cNvPr id="188" name="Rectangle 187"/>
          <p:cNvSpPr/>
          <p:nvPr/>
        </p:nvSpPr>
        <p:spPr>
          <a:xfrm>
            <a:off x="1857375" y="5711825"/>
            <a:ext cx="643890" cy="430212"/>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5711825"/>
            <a:ext cx="643890" cy="430212"/>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5711825"/>
            <a:ext cx="643890" cy="430212"/>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5711825"/>
            <a:ext cx="643890" cy="430212"/>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5711825"/>
            <a:ext cx="643890" cy="430212"/>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5711825"/>
            <a:ext cx="643890" cy="430212"/>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5711825"/>
            <a:ext cx="643890" cy="430212"/>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5711825"/>
            <a:ext cx="643890" cy="430212"/>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5711825"/>
            <a:ext cx="643890" cy="430212"/>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5711825"/>
            <a:ext cx="643890" cy="430212"/>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5711825"/>
            <a:ext cx="643890" cy="430212"/>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5711825"/>
            <a:ext cx="643890" cy="430212"/>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5711825"/>
            <a:ext cx="643890" cy="43021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5711825"/>
            <a:ext cx="643890" cy="43021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5711825"/>
            <a:ext cx="643890" cy="430212"/>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6142037"/>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Other High-performance Dental Polymers</a:t>
            </a:r>
          </a:p>
        </p:txBody>
      </p:sp>
      <p:sp>
        <p:nvSpPr>
          <p:cNvPr id="204" name="Rectangle 203"/>
          <p:cNvSpPr/>
          <p:nvPr/>
        </p:nvSpPr>
        <p:spPr>
          <a:xfrm>
            <a:off x="1857375" y="6142037"/>
            <a:ext cx="643890" cy="430212"/>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6142037"/>
            <a:ext cx="643890" cy="430212"/>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6142037"/>
            <a:ext cx="643890" cy="430212"/>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6142037"/>
            <a:ext cx="643890" cy="430212"/>
          </a:xfrm>
          <a:prstGeom prst="rect">
            <a:avLst/>
          </a:prstGeom>
          <a:solidFill>
            <a:srgbClr val="33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6142037"/>
            <a:ext cx="643890" cy="430212"/>
          </a:xfrm>
          <a:prstGeom prst="rect">
            <a:avLst/>
          </a:prstGeom>
          <a:solidFill>
            <a:srgbClr val="29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6142037"/>
            <a:ext cx="643890" cy="430212"/>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6142037"/>
            <a:ext cx="643890" cy="430212"/>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6142037"/>
            <a:ext cx="643890" cy="430212"/>
          </a:xfrm>
          <a:prstGeom prst="rect">
            <a:avLst/>
          </a:prstGeom>
          <a:solidFill>
            <a:srgbClr val="29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6142037"/>
            <a:ext cx="643890" cy="430212"/>
          </a:xfrm>
          <a:prstGeom prst="rect">
            <a:avLst/>
          </a:prstGeom>
          <a:solidFill>
            <a:srgbClr val="29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Rectangle 218"/>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Rectangle 219"/>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Rectangle 234"/>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Rectangle 235"/>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TextBox 259"/>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261" name="TextBox 260"/>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262" name="TextBox 261"/>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1%</a:t>
            </a:r>
          </a:p>
        </p:txBody>
      </p:sp>
      <p:sp>
        <p:nvSpPr>
          <p:cNvPr id="263" name="TextBox 2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Technology</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Technology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Technology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2 sub-segments of Technology,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Technology segment categorizes the market by technology.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Digital Fabrication</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Conventional Fabrication</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Technology split shows how demand is distributed across technology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Technology segment is projected to grow at a CAGR of 4.4% from 2026 to 2036.</a:t>
            </a: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0" name="Picture 49" descr="672_1_605E5C.png"/>
          <p:cNvPicPr>
            <a:picLocks noChangeAspect="1"/>
          </p:cNvPicPr>
          <p:nvPr/>
        </p:nvPicPr>
        <p:blipFill>
          <a:blip r:embed="rId4"/>
          <a:stretch>
            <a:fillRect/>
          </a:stretch>
        </p:blipFill>
        <p:spPr>
          <a:xfrm>
            <a:off x="3740773" y="2286582"/>
            <a:ext cx="1195728" cy="361950"/>
          </a:xfrm>
          <a:prstGeom prst="rect">
            <a:avLst/>
          </a:prstGeom>
        </p:spPr>
      </p:pic>
      <p:pic>
        <p:nvPicPr>
          <p:cNvPr id="51" name="Picture 50" descr="937_6_605E5C.png"/>
          <p:cNvPicPr>
            <a:picLocks noChangeAspect="1"/>
          </p:cNvPicPr>
          <p:nvPr/>
        </p:nvPicPr>
        <p:blipFill>
          <a:blip r:embed="rId5"/>
          <a:stretch>
            <a:fillRect/>
          </a:stretch>
        </p:blipFill>
        <p:spPr>
          <a:xfrm>
            <a:off x="3740773" y="2779432"/>
            <a:ext cx="1195728" cy="361950"/>
          </a:xfrm>
          <a:prstGeom prst="rect">
            <a:avLst/>
          </a:prstGeom>
        </p:spPr>
      </p:pic>
      <p:pic>
        <p:nvPicPr>
          <p:cNvPr id="52" name="Picture 51" descr="3_4__605E5C.png"/>
          <p:cNvPicPr>
            <a:picLocks noChangeAspect="1"/>
          </p:cNvPicPr>
          <p:nvPr/>
        </p:nvPicPr>
        <p:blipFill>
          <a:blip r:embed="rId6"/>
          <a:stretch>
            <a:fillRect/>
          </a:stretch>
        </p:blipFill>
        <p:spPr>
          <a:xfrm>
            <a:off x="3847419" y="3272281"/>
            <a:ext cx="982436" cy="361950"/>
          </a:xfrm>
          <a:prstGeom prst="rect">
            <a:avLst/>
          </a:prstGeom>
        </p:spPr>
      </p:pic>
      <p:pic>
        <p:nvPicPr>
          <p:cNvPr id="53" name="Picture 52" descr="453_1_605E5C.png"/>
          <p:cNvPicPr>
            <a:picLocks noChangeAspect="1"/>
          </p:cNvPicPr>
          <p:nvPr/>
        </p:nvPicPr>
        <p:blipFill>
          <a:blip r:embed="rId7"/>
          <a:stretch>
            <a:fillRect/>
          </a:stretch>
        </p:blipFill>
        <p:spPr>
          <a:xfrm>
            <a:off x="8798548" y="2286582"/>
            <a:ext cx="1195728" cy="361950"/>
          </a:xfrm>
          <a:prstGeom prst="rect">
            <a:avLst/>
          </a:prstGeom>
        </p:spPr>
      </p:pic>
      <p:pic>
        <p:nvPicPr>
          <p:cNvPr id="54" name="Picture 53" descr="793_2_605E5C.png"/>
          <p:cNvPicPr>
            <a:picLocks noChangeAspect="1"/>
          </p:cNvPicPr>
          <p:nvPr/>
        </p:nvPicPr>
        <p:blipFill>
          <a:blip r:embed="rId8"/>
          <a:stretch>
            <a:fillRect/>
          </a:stretch>
        </p:blipFill>
        <p:spPr>
          <a:xfrm>
            <a:off x="8798548" y="2779432"/>
            <a:ext cx="1195728" cy="361950"/>
          </a:xfrm>
          <a:prstGeom prst="rect">
            <a:avLst/>
          </a:prstGeom>
        </p:spPr>
      </p:pic>
      <p:pic>
        <p:nvPicPr>
          <p:cNvPr id="55" name="Picture 54" descr="5_8__605E5C.png"/>
          <p:cNvPicPr>
            <a:picLocks noChangeAspect="1"/>
          </p:cNvPicPr>
          <p:nvPr/>
        </p:nvPicPr>
        <p:blipFill>
          <a:blip r:embed="rId9"/>
          <a:stretch>
            <a:fillRect/>
          </a:stretch>
        </p:blipFill>
        <p:spPr>
          <a:xfrm>
            <a:off x="8905194" y="3272281"/>
            <a:ext cx="982436" cy="361950"/>
          </a:xfrm>
          <a:prstGeom prst="rect">
            <a:avLst/>
          </a:prstGeom>
        </p:spPr>
      </p:pic>
      <p:pic>
        <p:nvPicPr>
          <p:cNvPr id="56" name="Picture 55" descr="lock.png"/>
          <p:cNvPicPr>
            <a:picLocks noChangeAspect="1"/>
          </p:cNvPicPr>
          <p:nvPr/>
        </p:nvPicPr>
        <p:blipFill>
          <a:blip r:embed="rId10"/>
          <a:stretch>
            <a:fillRect/>
          </a:stretch>
        </p:blipFill>
        <p:spPr>
          <a:xfrm>
            <a:off x="4230493" y="2805915"/>
            <a:ext cx="212425" cy="308982"/>
          </a:xfrm>
          <a:prstGeom prst="rect">
            <a:avLst/>
          </a:prstGeom>
        </p:spPr>
      </p:pic>
      <p:pic>
        <p:nvPicPr>
          <p:cNvPr id="57" name="Picture 56" descr="lock.png"/>
          <p:cNvPicPr>
            <a:picLocks noChangeAspect="1"/>
          </p:cNvPicPr>
          <p:nvPr/>
        </p:nvPicPr>
        <p:blipFill>
          <a:blip r:embed="rId10"/>
          <a:stretch>
            <a:fillRect/>
          </a:stretch>
        </p:blipFill>
        <p:spPr>
          <a:xfrm>
            <a:off x="9288268" y="2805915"/>
            <a:ext cx="212425" cy="308982"/>
          </a:xfrm>
          <a:prstGeom prst="rect">
            <a:avLst/>
          </a:prstGeom>
        </p:spPr>
      </p:pic>
      <p:sp>
        <p:nvSpPr>
          <p:cNvPr id="58" name="TextBox 57"/>
          <p:cNvSpPr txBox="1"/>
          <p:nvPr/>
        </p:nvSpPr>
        <p:spPr>
          <a:xfrm>
            <a:off x="485775" y="4229437"/>
            <a:ext cx="2424906" cy="186689"/>
          </a:xfrm>
          <a:prstGeom prst="rect">
            <a:avLst/>
          </a:prstGeom>
          <a:noFill/>
        </p:spPr>
        <p:txBody>
          <a:bodyPr wrap="none" lIns="0" rIns="0" tIns="0" bIns="0">
            <a:spAutoFit/>
          </a:bodyPr>
          <a:lstStyle/>
          <a:p>
            <a:r>
              <a:rPr sz="1100" b="0">
                <a:solidFill>
                  <a:srgbClr val="2E2E2E"/>
                </a:solidFill>
                <a:latin typeface="Calibri"/>
              </a:rPr>
              <a:t>▪ ¶ Among removable partial dentures by</a:t>
            </a:r>
          </a:p>
        </p:txBody>
      </p:sp>
      <p:sp>
        <p:nvSpPr>
          <p:cNvPr id="59" name="TextBox 58"/>
          <p:cNvSpPr txBox="1"/>
          <p:nvPr/>
        </p:nvSpPr>
        <p:spPr>
          <a:xfrm>
            <a:off x="485775" y="4397077"/>
            <a:ext cx="2800622" cy="186689"/>
          </a:xfrm>
          <a:prstGeom prst="rect">
            <a:avLst/>
          </a:prstGeom>
          <a:noFill/>
        </p:spPr>
        <p:txBody>
          <a:bodyPr wrap="none" lIns="0" rIns="0" tIns="0" bIns="0">
            <a:spAutoFit/>
          </a:bodyPr>
          <a:lstStyle/>
          <a:p>
            <a:r>
              <a:rPr sz="1100" b="0">
                <a:solidFill>
                  <a:srgbClr val="2E2E2E"/>
                </a:solidFill>
                <a:latin typeface="Calibri"/>
              </a:rPr>
              <a:t>technology, conventional fabrication segment is</a:t>
            </a:r>
          </a:p>
        </p:txBody>
      </p:sp>
      <p:sp>
        <p:nvSpPr>
          <p:cNvPr id="60" name="TextBox 59"/>
          <p:cNvSpPr txBox="1"/>
          <p:nvPr/>
        </p:nvSpPr>
        <p:spPr>
          <a:xfrm>
            <a:off x="485775" y="4564717"/>
            <a:ext cx="2381232" cy="186689"/>
          </a:xfrm>
          <a:prstGeom prst="rect">
            <a:avLst/>
          </a:prstGeom>
          <a:noFill/>
        </p:spPr>
        <p:txBody>
          <a:bodyPr wrap="none" lIns="0" rIns="0" tIns="0" bIns="0">
            <a:spAutoFit/>
          </a:bodyPr>
          <a:lstStyle/>
          <a:p>
            <a:r>
              <a:rPr sz="1100" b="0">
                <a:solidFill>
                  <a:srgbClr val="2E2E2E"/>
                </a:solidFill>
                <a:latin typeface="Calibri"/>
              </a:rPr>
              <a:t>expected to witness the highest CAGR of</a:t>
            </a:r>
          </a:p>
        </p:txBody>
      </p:sp>
      <p:pic>
        <p:nvPicPr>
          <p:cNvPr id="61" name="Picture 60" descr="lock.png"/>
          <p:cNvPicPr>
            <a:picLocks noChangeAspect="1"/>
          </p:cNvPicPr>
          <p:nvPr/>
        </p:nvPicPr>
        <p:blipFill>
          <a:blip r:embed="rId10"/>
          <a:stretch>
            <a:fillRect/>
          </a:stretch>
        </p:blipFill>
        <p:spPr>
          <a:xfrm>
            <a:off x="2815059" y="4554938"/>
            <a:ext cx="128699" cy="187198"/>
          </a:xfrm>
          <a:prstGeom prst="rect">
            <a:avLst/>
          </a:prstGeom>
        </p:spPr>
      </p:pic>
      <p:sp>
        <p:nvSpPr>
          <p:cNvPr id="62" name="TextBox 61"/>
          <p:cNvSpPr txBox="1"/>
          <p:nvPr/>
        </p:nvSpPr>
        <p:spPr>
          <a:xfrm>
            <a:off x="2982555" y="4564717"/>
            <a:ext cx="331316" cy="186689"/>
          </a:xfrm>
          <a:prstGeom prst="rect">
            <a:avLst/>
          </a:prstGeom>
          <a:noFill/>
        </p:spPr>
        <p:txBody>
          <a:bodyPr wrap="none" lIns="0" rIns="0" tIns="0" bIns="0">
            <a:spAutoFit/>
          </a:bodyPr>
          <a:lstStyle/>
          <a:p>
            <a:r>
              <a:rPr sz="1100" b="0">
                <a:solidFill>
                  <a:srgbClr val="2E2E2E"/>
                </a:solidFill>
                <a:latin typeface="Calibri"/>
              </a:rPr>
              <a:t>over</a:t>
            </a:r>
          </a:p>
        </p:txBody>
      </p:sp>
      <p:sp>
        <p:nvSpPr>
          <p:cNvPr id="63" name="TextBox 62"/>
          <p:cNvSpPr txBox="1"/>
          <p:nvPr/>
        </p:nvSpPr>
        <p:spPr>
          <a:xfrm>
            <a:off x="485775" y="4732357"/>
            <a:ext cx="2699122" cy="186689"/>
          </a:xfrm>
          <a:prstGeom prst="rect">
            <a:avLst/>
          </a:prstGeom>
          <a:noFill/>
        </p:spPr>
        <p:txBody>
          <a:bodyPr wrap="none" lIns="0" rIns="0" tIns="0" bIns="0">
            <a:spAutoFit/>
          </a:bodyPr>
          <a:lstStyle/>
          <a:p>
            <a:r>
              <a:rPr sz="1100" b="0">
                <a:solidFill>
                  <a:srgbClr val="2E2E2E"/>
                </a:solidFill>
                <a:latin typeface="Calibri"/>
              </a:rPr>
              <a:t>the forecast period. In terms of value share by</a:t>
            </a:r>
          </a:p>
        </p:txBody>
      </p:sp>
      <p:sp>
        <p:nvSpPr>
          <p:cNvPr id="64" name="TextBox 63"/>
          <p:cNvSpPr txBox="1"/>
          <p:nvPr/>
        </p:nvSpPr>
        <p:spPr>
          <a:xfrm>
            <a:off x="485775" y="4899997"/>
            <a:ext cx="2634183" cy="186689"/>
          </a:xfrm>
          <a:prstGeom prst="rect">
            <a:avLst/>
          </a:prstGeom>
          <a:noFill/>
        </p:spPr>
        <p:txBody>
          <a:bodyPr wrap="none" lIns="0" rIns="0" tIns="0" bIns="0">
            <a:spAutoFit/>
          </a:bodyPr>
          <a:lstStyle/>
          <a:p>
            <a:r>
              <a:rPr sz="1100" b="0">
                <a:solidFill>
                  <a:srgbClr val="2E2E2E"/>
                </a:solidFill>
                <a:latin typeface="Calibri"/>
              </a:rPr>
              <a:t>technology, the digital fabrication segment is</a:t>
            </a:r>
          </a:p>
        </p:txBody>
      </p:sp>
      <p:sp>
        <p:nvSpPr>
          <p:cNvPr id="65" name="TextBox 64"/>
          <p:cNvSpPr txBox="1"/>
          <p:nvPr/>
        </p:nvSpPr>
        <p:spPr>
          <a:xfrm>
            <a:off x="485775" y="5067637"/>
            <a:ext cx="2388889" cy="186689"/>
          </a:xfrm>
          <a:prstGeom prst="rect">
            <a:avLst/>
          </a:prstGeom>
          <a:noFill/>
        </p:spPr>
        <p:txBody>
          <a:bodyPr wrap="none" lIns="0" rIns="0" tIns="0" bIns="0">
            <a:spAutoFit/>
          </a:bodyPr>
          <a:lstStyle/>
          <a:p>
            <a:r>
              <a:rPr sz="1100" b="0">
                <a:solidFill>
                  <a:srgbClr val="2E2E2E"/>
                </a:solidFill>
                <a:latin typeface="Calibri"/>
              </a:rPr>
              <a:t>expected to dominate the market, losing</a:t>
            </a:r>
          </a:p>
        </p:txBody>
      </p:sp>
      <p:pic>
        <p:nvPicPr>
          <p:cNvPr id="66" name="Picture 65" descr="lock.png"/>
          <p:cNvPicPr>
            <a:picLocks noChangeAspect="1"/>
          </p:cNvPicPr>
          <p:nvPr/>
        </p:nvPicPr>
        <p:blipFill>
          <a:blip r:embed="rId10"/>
          <a:stretch>
            <a:fillRect/>
          </a:stretch>
        </p:blipFill>
        <p:spPr>
          <a:xfrm>
            <a:off x="2822716" y="5057858"/>
            <a:ext cx="128699" cy="187198"/>
          </a:xfrm>
          <a:prstGeom prst="rect">
            <a:avLst/>
          </a:prstGeom>
        </p:spPr>
      </p:pic>
      <p:sp>
        <p:nvSpPr>
          <p:cNvPr id="67" name="TextBox 66"/>
          <p:cNvSpPr txBox="1"/>
          <p:nvPr/>
        </p:nvSpPr>
        <p:spPr>
          <a:xfrm>
            <a:off x="2990212" y="5067637"/>
            <a:ext cx="288751" cy="186689"/>
          </a:xfrm>
          <a:prstGeom prst="rect">
            <a:avLst/>
          </a:prstGeom>
          <a:noFill/>
        </p:spPr>
        <p:txBody>
          <a:bodyPr wrap="none" lIns="0" rIns="0" tIns="0" bIns="0">
            <a:spAutoFit/>
          </a:bodyPr>
          <a:lstStyle/>
          <a:p>
            <a:r>
              <a:rPr sz="1100" b="0">
                <a:solidFill>
                  <a:srgbClr val="2E2E2E"/>
                </a:solidFill>
                <a:latin typeface="Calibri"/>
              </a:rPr>
              <a:t>BPS</a:t>
            </a:r>
          </a:p>
        </p:txBody>
      </p:sp>
      <p:sp>
        <p:nvSpPr>
          <p:cNvPr id="68" name="TextBox 67"/>
          <p:cNvSpPr txBox="1"/>
          <p:nvPr/>
        </p:nvSpPr>
        <p:spPr>
          <a:xfrm>
            <a:off x="485775" y="5235277"/>
            <a:ext cx="1142231" cy="186689"/>
          </a:xfrm>
          <a:prstGeom prst="rect">
            <a:avLst/>
          </a:prstGeom>
          <a:noFill/>
        </p:spPr>
        <p:txBody>
          <a:bodyPr wrap="none" lIns="0" rIns="0" tIns="0" bIns="0">
            <a:spAutoFit/>
          </a:bodyPr>
          <a:lstStyle/>
          <a:p>
            <a:r>
              <a:rPr sz="1100" b="0">
                <a:solidFill>
                  <a:srgbClr val="2E2E2E"/>
                </a:solidFill>
                <a:latin typeface="Calibri"/>
              </a:rPr>
              <a:t>and accounting for</a:t>
            </a:r>
          </a:p>
        </p:txBody>
      </p:sp>
      <p:pic>
        <p:nvPicPr>
          <p:cNvPr id="69" name="Picture 68" descr="lock.png"/>
          <p:cNvPicPr>
            <a:picLocks noChangeAspect="1"/>
          </p:cNvPicPr>
          <p:nvPr/>
        </p:nvPicPr>
        <p:blipFill>
          <a:blip r:embed="rId10"/>
          <a:stretch>
            <a:fillRect/>
          </a:stretch>
        </p:blipFill>
        <p:spPr>
          <a:xfrm>
            <a:off x="1576057" y="5225498"/>
            <a:ext cx="128699" cy="187198"/>
          </a:xfrm>
          <a:prstGeom prst="rect">
            <a:avLst/>
          </a:prstGeom>
        </p:spPr>
      </p:pic>
      <p:sp>
        <p:nvSpPr>
          <p:cNvPr id="70" name="TextBox 69"/>
          <p:cNvSpPr txBox="1"/>
          <p:nvPr/>
        </p:nvSpPr>
        <p:spPr>
          <a:xfrm>
            <a:off x="1743553" y="523527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71" name="TextBox 70"/>
          <p:cNvSpPr txBox="1"/>
          <p:nvPr/>
        </p:nvSpPr>
        <p:spPr>
          <a:xfrm>
            <a:off x="485775" y="5453209"/>
            <a:ext cx="2654101" cy="186689"/>
          </a:xfrm>
          <a:prstGeom prst="rect">
            <a:avLst/>
          </a:prstGeom>
          <a:noFill/>
        </p:spPr>
        <p:txBody>
          <a:bodyPr wrap="none" lIns="0" rIns="0" tIns="0" bIns="0">
            <a:spAutoFit/>
          </a:bodyPr>
          <a:lstStyle/>
          <a:p>
            <a:r>
              <a:rPr sz="1100" b="0">
                <a:solidFill>
                  <a:srgbClr val="2E2E2E"/>
                </a:solidFill>
                <a:latin typeface="Calibri"/>
              </a:rPr>
              <a:t>▪ ¶ Digital fabrication segment is projected to</a:t>
            </a:r>
          </a:p>
        </p:txBody>
      </p:sp>
      <p:sp>
        <p:nvSpPr>
          <p:cNvPr id="72" name="TextBox 71"/>
          <p:cNvSpPr txBox="1"/>
          <p:nvPr/>
        </p:nvSpPr>
        <p:spPr>
          <a:xfrm>
            <a:off x="485775" y="5620849"/>
            <a:ext cx="512489" cy="186689"/>
          </a:xfrm>
          <a:prstGeom prst="rect">
            <a:avLst/>
          </a:prstGeom>
          <a:noFill/>
        </p:spPr>
        <p:txBody>
          <a:bodyPr wrap="none" lIns="0" rIns="0" tIns="0" bIns="0">
            <a:spAutoFit/>
          </a:bodyPr>
          <a:lstStyle/>
          <a:p>
            <a:r>
              <a:rPr sz="1100" b="0">
                <a:solidFill>
                  <a:srgbClr val="2E2E2E"/>
                </a:solidFill>
                <a:latin typeface="Calibri"/>
              </a:rPr>
              <a:t>register</a:t>
            </a:r>
          </a:p>
        </p:txBody>
      </p:sp>
      <p:pic>
        <p:nvPicPr>
          <p:cNvPr id="73" name="Picture 72" descr="lock.png"/>
          <p:cNvPicPr>
            <a:picLocks noChangeAspect="1"/>
          </p:cNvPicPr>
          <p:nvPr/>
        </p:nvPicPr>
        <p:blipFill>
          <a:blip r:embed="rId10"/>
          <a:stretch>
            <a:fillRect/>
          </a:stretch>
        </p:blipFill>
        <p:spPr>
          <a:xfrm>
            <a:off x="946316" y="5611070"/>
            <a:ext cx="128699" cy="187198"/>
          </a:xfrm>
          <a:prstGeom prst="rect">
            <a:avLst/>
          </a:prstGeom>
        </p:spPr>
      </p:pic>
      <p:sp>
        <p:nvSpPr>
          <p:cNvPr id="74" name="TextBox 73"/>
          <p:cNvSpPr txBox="1"/>
          <p:nvPr/>
        </p:nvSpPr>
        <p:spPr>
          <a:xfrm>
            <a:off x="1113812" y="5620849"/>
            <a:ext cx="1941686" cy="186689"/>
          </a:xfrm>
          <a:prstGeom prst="rect">
            <a:avLst/>
          </a:prstGeom>
          <a:noFill/>
        </p:spPr>
        <p:txBody>
          <a:bodyPr wrap="none" lIns="0" rIns="0" tIns="0" bIns="0">
            <a:spAutoFit/>
          </a:bodyPr>
          <a:lstStyle/>
          <a:p>
            <a:r>
              <a:rPr sz="1100" b="0">
                <a:solidFill>
                  <a:srgbClr val="2E2E2E"/>
                </a:solidFill>
                <a:latin typeface="Calibri"/>
              </a:rPr>
              <a:t>X higher value than conventional</a:t>
            </a:r>
          </a:p>
        </p:txBody>
      </p:sp>
      <p:sp>
        <p:nvSpPr>
          <p:cNvPr id="75" name="TextBox 74"/>
          <p:cNvSpPr txBox="1"/>
          <p:nvPr/>
        </p:nvSpPr>
        <p:spPr>
          <a:xfrm>
            <a:off x="485775" y="5788489"/>
            <a:ext cx="1703213" cy="186689"/>
          </a:xfrm>
          <a:prstGeom prst="rect">
            <a:avLst/>
          </a:prstGeom>
          <a:noFill/>
        </p:spPr>
        <p:txBody>
          <a:bodyPr wrap="none" lIns="0" rIns="0" tIns="0" bIns="0">
            <a:spAutoFit/>
          </a:bodyPr>
          <a:lstStyle/>
          <a:p>
            <a:r>
              <a:rPr sz="1100" b="0">
                <a:solidFill>
                  <a:srgbClr val="2E2E2E"/>
                </a:solidFill>
                <a:latin typeface="Calibri"/>
              </a:rPr>
              <a:t>fabrication segment in 2036.</a:t>
            </a:r>
          </a:p>
        </p:txBody>
      </p:sp>
      <p:sp>
        <p:nvSpPr>
          <p:cNvPr id="76" name="TextBox 75"/>
          <p:cNvSpPr txBox="1"/>
          <p:nvPr/>
        </p:nvSpPr>
        <p:spPr>
          <a:xfrm>
            <a:off x="3838575" y="4229437"/>
            <a:ext cx="1260861" cy="186689"/>
          </a:xfrm>
          <a:prstGeom prst="rect">
            <a:avLst/>
          </a:prstGeom>
          <a:noFill/>
        </p:spPr>
        <p:txBody>
          <a:bodyPr wrap="none" lIns="0" rIns="0" tIns="0" bIns="0">
            <a:spAutoFit/>
          </a:bodyPr>
          <a:lstStyle/>
          <a:p>
            <a:r>
              <a:rPr sz="1100" b="0">
                <a:solidFill>
                  <a:srgbClr val="2E2E2E"/>
                </a:solidFill>
                <a:latin typeface="Calibri"/>
              </a:rPr>
              <a:t>● Digital Fabrication:</a:t>
            </a:r>
          </a:p>
        </p:txBody>
      </p:sp>
      <p:pic>
        <p:nvPicPr>
          <p:cNvPr id="77" name="Picture 76" descr="lock.png"/>
          <p:cNvPicPr>
            <a:picLocks noChangeAspect="1"/>
          </p:cNvPicPr>
          <p:nvPr/>
        </p:nvPicPr>
        <p:blipFill>
          <a:blip r:embed="rId10"/>
          <a:stretch>
            <a:fillRect/>
          </a:stretch>
        </p:blipFill>
        <p:spPr>
          <a:xfrm>
            <a:off x="5047488" y="4219658"/>
            <a:ext cx="128699" cy="187198"/>
          </a:xfrm>
          <a:prstGeom prst="rect">
            <a:avLst/>
          </a:prstGeom>
        </p:spPr>
      </p:pic>
      <p:sp>
        <p:nvSpPr>
          <p:cNvPr id="78" name="TextBox 77"/>
          <p:cNvSpPr txBox="1"/>
          <p:nvPr/>
        </p:nvSpPr>
        <p:spPr>
          <a:xfrm>
            <a:off x="5214984"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9" name="Picture 78" descr="lock.png"/>
          <p:cNvPicPr>
            <a:picLocks noChangeAspect="1"/>
          </p:cNvPicPr>
          <p:nvPr/>
        </p:nvPicPr>
        <p:blipFill>
          <a:blip r:embed="rId10"/>
          <a:stretch>
            <a:fillRect/>
          </a:stretch>
        </p:blipFill>
        <p:spPr>
          <a:xfrm>
            <a:off x="6074434" y="4219658"/>
            <a:ext cx="128699" cy="187198"/>
          </a:xfrm>
          <a:prstGeom prst="rect">
            <a:avLst/>
          </a:prstGeom>
        </p:spPr>
      </p:pic>
      <p:sp>
        <p:nvSpPr>
          <p:cNvPr id="80" name="TextBox 79"/>
          <p:cNvSpPr txBox="1"/>
          <p:nvPr/>
        </p:nvSpPr>
        <p:spPr>
          <a:xfrm>
            <a:off x="6241930"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81" name="TextBox 80"/>
          <p:cNvSpPr txBox="1"/>
          <p:nvPr/>
        </p:nvSpPr>
        <p:spPr>
          <a:xfrm>
            <a:off x="3838575" y="4447369"/>
            <a:ext cx="1651585" cy="186689"/>
          </a:xfrm>
          <a:prstGeom prst="rect">
            <a:avLst/>
          </a:prstGeom>
          <a:noFill/>
        </p:spPr>
        <p:txBody>
          <a:bodyPr wrap="none" lIns="0" rIns="0" tIns="0" bIns="0">
            <a:spAutoFit/>
          </a:bodyPr>
          <a:lstStyle/>
          <a:p>
            <a:r>
              <a:rPr sz="1100" b="0">
                <a:solidFill>
                  <a:srgbClr val="2E2E2E"/>
                </a:solidFill>
                <a:latin typeface="Calibri"/>
              </a:rPr>
              <a:t>● Conventional Fabrication:</a:t>
            </a:r>
          </a:p>
        </p:txBody>
      </p:sp>
      <p:pic>
        <p:nvPicPr>
          <p:cNvPr id="82" name="Picture 81" descr="lock.png"/>
          <p:cNvPicPr>
            <a:picLocks noChangeAspect="1"/>
          </p:cNvPicPr>
          <p:nvPr/>
        </p:nvPicPr>
        <p:blipFill>
          <a:blip r:embed="rId10"/>
          <a:stretch>
            <a:fillRect/>
          </a:stretch>
        </p:blipFill>
        <p:spPr>
          <a:xfrm>
            <a:off x="5438211" y="4437590"/>
            <a:ext cx="128699" cy="187198"/>
          </a:xfrm>
          <a:prstGeom prst="rect">
            <a:avLst/>
          </a:prstGeom>
        </p:spPr>
      </p:pic>
      <p:sp>
        <p:nvSpPr>
          <p:cNvPr id="83" name="TextBox 82"/>
          <p:cNvSpPr txBox="1"/>
          <p:nvPr/>
        </p:nvSpPr>
        <p:spPr>
          <a:xfrm>
            <a:off x="5605707"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4" name="Picture 83" descr="lock.png"/>
          <p:cNvPicPr>
            <a:picLocks noChangeAspect="1"/>
          </p:cNvPicPr>
          <p:nvPr/>
        </p:nvPicPr>
        <p:blipFill>
          <a:blip r:embed="rId10"/>
          <a:stretch>
            <a:fillRect/>
          </a:stretch>
        </p:blipFill>
        <p:spPr>
          <a:xfrm>
            <a:off x="6465157" y="4437590"/>
            <a:ext cx="128699" cy="187198"/>
          </a:xfrm>
          <a:prstGeom prst="rect">
            <a:avLst/>
          </a:prstGeom>
        </p:spPr>
      </p:pic>
      <p:sp>
        <p:nvSpPr>
          <p:cNvPr id="85" name="TextBox 84"/>
          <p:cNvSpPr txBox="1"/>
          <p:nvPr/>
        </p:nvSpPr>
        <p:spPr>
          <a:xfrm>
            <a:off x="6632653" y="4447369"/>
            <a:ext cx="769771" cy="186689"/>
          </a:xfrm>
          <a:prstGeom prst="rect">
            <a:avLst/>
          </a:prstGeom>
          <a:noFill/>
        </p:spPr>
        <p:txBody>
          <a:bodyPr wrap="none" lIns="0" rIns="0" tIns="0" bIns="0">
            <a:spAutoFit/>
          </a:bodyPr>
          <a:lstStyle/>
          <a:p>
            <a:r>
              <a:rPr sz="1100" b="0">
                <a:solidFill>
                  <a:srgbClr val="2E2E2E"/>
                </a:solidFill>
                <a:latin typeface="Calibri"/>
              </a:rPr>
              <a:t>CAGR grows</a:t>
            </a:r>
          </a:p>
        </p:txBody>
      </p:sp>
      <p:sp>
        <p:nvSpPr>
          <p:cNvPr id="86" name="TextBox 85"/>
          <p:cNvSpPr txBox="1"/>
          <p:nvPr/>
        </p:nvSpPr>
        <p:spPr>
          <a:xfrm>
            <a:off x="3838575" y="4615009"/>
            <a:ext cx="493390" cy="186689"/>
          </a:xfrm>
          <a:prstGeom prst="rect">
            <a:avLst/>
          </a:prstGeom>
          <a:noFill/>
        </p:spPr>
        <p:txBody>
          <a:bodyPr wrap="none" lIns="0" rIns="0" tIns="0" bIns="0">
            <a:spAutoFit/>
          </a:bodyPr>
          <a:lstStyle/>
          <a:p>
            <a:r>
              <a:rPr sz="1100" b="0">
                <a:solidFill>
                  <a:srgbClr val="2E2E2E"/>
                </a:solidFill>
                <a:latin typeface="Calibri"/>
              </a:rPr>
              <a:t>fastest.</a:t>
            </a:r>
          </a:p>
        </p:txBody>
      </p:sp>
    </p:spTree>
  </p:cSld>
  <p:clrMapOvr>
    <a:masterClrMapping/>
  </p:clrMapOvr>
</p:sld>
</file>

<file path=ppt/slides/slide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Technology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Technology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Technology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Technology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777865"/>
            <a:ext cx="11653291" cy="186689"/>
          </a:xfrm>
          <a:prstGeom prst="rect">
            <a:avLst/>
          </a:prstGeom>
          <a:noFill/>
        </p:spPr>
        <p:txBody>
          <a:bodyPr wrap="none" lIns="0" rIns="0" tIns="0" bIns="0">
            <a:spAutoFit/>
          </a:bodyPr>
          <a:lstStyle/>
          <a:p>
            <a:r>
              <a:rPr sz="1100" b="0">
                <a:solidFill>
                  <a:srgbClr val="2E2E2E"/>
                </a:solidFill>
                <a:latin typeface="Calibri"/>
              </a:rPr>
              <a:t>Conventional fabrication followed by digital fabrication are expected to be the two most attractive technology segments in the global removable partial dentures market in terms of value over the forecast</a:t>
            </a:r>
          </a:p>
        </p:txBody>
      </p:sp>
      <p:sp>
        <p:nvSpPr>
          <p:cNvPr id="21" name="TextBox 20"/>
          <p:cNvSpPr txBox="1"/>
          <p:nvPr/>
        </p:nvSpPr>
        <p:spPr>
          <a:xfrm>
            <a:off x="257175" y="5945505"/>
            <a:ext cx="4546855" cy="186689"/>
          </a:xfrm>
          <a:prstGeom prst="rect">
            <a:avLst/>
          </a:prstGeom>
          <a:noFill/>
        </p:spPr>
        <p:txBody>
          <a:bodyPr wrap="none" lIns="0" rIns="0" tIns="0" bIns="0">
            <a:spAutoFit/>
          </a:bodyPr>
          <a:lstStyle/>
          <a:p>
            <a:r>
              <a:rPr sz="1100" b="0">
                <a:solidFill>
                  <a:srgbClr val="2E2E2E"/>
                </a:solidFill>
                <a:latin typeface="Calibri"/>
              </a:rPr>
              <a:t>period. Conventional fabrication and digital fabrication exhibit a CAGR index of</a:t>
            </a:r>
          </a:p>
        </p:txBody>
      </p:sp>
      <p:pic>
        <p:nvPicPr>
          <p:cNvPr id="22" name="Picture 21" descr="lock.png"/>
          <p:cNvPicPr>
            <a:picLocks noChangeAspect="1"/>
          </p:cNvPicPr>
          <p:nvPr/>
        </p:nvPicPr>
        <p:blipFill>
          <a:blip r:embed="rId6"/>
          <a:stretch>
            <a:fillRect/>
          </a:stretch>
        </p:blipFill>
        <p:spPr>
          <a:xfrm>
            <a:off x="4752082" y="5935726"/>
            <a:ext cx="128699" cy="187198"/>
          </a:xfrm>
          <a:prstGeom prst="rect">
            <a:avLst/>
          </a:prstGeom>
        </p:spPr>
      </p:pic>
      <p:sp>
        <p:nvSpPr>
          <p:cNvPr id="23" name="TextBox 22"/>
          <p:cNvSpPr txBox="1"/>
          <p:nvPr/>
        </p:nvSpPr>
        <p:spPr>
          <a:xfrm>
            <a:off x="4919578" y="594550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5157472" y="5935726"/>
            <a:ext cx="128699" cy="187198"/>
          </a:xfrm>
          <a:prstGeom prst="rect">
            <a:avLst/>
          </a:prstGeom>
        </p:spPr>
      </p:pic>
      <p:sp>
        <p:nvSpPr>
          <p:cNvPr id="25" name="TextBox 24"/>
          <p:cNvSpPr txBox="1"/>
          <p:nvPr/>
        </p:nvSpPr>
        <p:spPr>
          <a:xfrm>
            <a:off x="5324968" y="594550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6933941" y="5935726"/>
            <a:ext cx="128699" cy="187198"/>
          </a:xfrm>
          <a:prstGeom prst="rect">
            <a:avLst/>
          </a:prstGeom>
        </p:spPr>
      </p:pic>
      <p:sp>
        <p:nvSpPr>
          <p:cNvPr id="27" name="TextBox 26"/>
          <p:cNvSpPr txBox="1"/>
          <p:nvPr/>
        </p:nvSpPr>
        <p:spPr>
          <a:xfrm>
            <a:off x="7101437" y="594550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7339332" y="5935726"/>
            <a:ext cx="128699" cy="187198"/>
          </a:xfrm>
          <a:prstGeom prst="rect">
            <a:avLst/>
          </a:prstGeom>
        </p:spPr>
      </p:pic>
      <p:sp>
        <p:nvSpPr>
          <p:cNvPr id="29" name="TextBox 28"/>
          <p:cNvSpPr txBox="1"/>
          <p:nvPr/>
        </p:nvSpPr>
        <p:spPr>
          <a:xfrm>
            <a:off x="7506827" y="594550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30" name="Picture 29" descr="lock.png"/>
          <p:cNvPicPr>
            <a:picLocks noChangeAspect="1"/>
          </p:cNvPicPr>
          <p:nvPr/>
        </p:nvPicPr>
        <p:blipFill>
          <a:blip r:embed="rId6"/>
          <a:stretch>
            <a:fillRect/>
          </a:stretch>
        </p:blipFill>
        <p:spPr>
          <a:xfrm>
            <a:off x="10061232" y="5935726"/>
            <a:ext cx="128699" cy="187198"/>
          </a:xfrm>
          <a:prstGeom prst="rect">
            <a:avLst/>
          </a:prstGeom>
        </p:spPr>
      </p:pic>
      <p:sp>
        <p:nvSpPr>
          <p:cNvPr id="31" name="TextBox 30"/>
          <p:cNvSpPr txBox="1"/>
          <p:nvPr/>
        </p:nvSpPr>
        <p:spPr>
          <a:xfrm>
            <a:off x="10228727" y="5945505"/>
            <a:ext cx="1042367" cy="186689"/>
          </a:xfrm>
          <a:prstGeom prst="rect">
            <a:avLst/>
          </a:prstGeom>
          <a:noFill/>
        </p:spPr>
        <p:txBody>
          <a:bodyPr wrap="none" lIns="0" rIns="0" tIns="0" bIns="0">
            <a:spAutoFit/>
          </a:bodyPr>
          <a:lstStyle/>
          <a:p>
            <a:r>
              <a:rPr sz="1100" b="0">
                <a:solidFill>
                  <a:srgbClr val="2E2E2E"/>
                </a:solidFill>
                <a:latin typeface="Calibri"/>
              </a:rPr>
              <a:t>. Bubbles right of</a:t>
            </a:r>
          </a:p>
        </p:txBody>
      </p:sp>
      <p:sp>
        <p:nvSpPr>
          <p:cNvPr id="32" name="TextBox 31"/>
          <p:cNvSpPr txBox="1"/>
          <p:nvPr/>
        </p:nvSpPr>
        <p:spPr>
          <a:xfrm>
            <a:off x="257175" y="6113145"/>
            <a:ext cx="3445899" cy="186689"/>
          </a:xfrm>
          <a:prstGeom prst="rect">
            <a:avLst/>
          </a:prstGeom>
          <a:noFill/>
        </p:spPr>
        <p:txBody>
          <a:bodyPr wrap="none" lIns="0" rIns="0" tIns="0" bIns="0">
            <a:spAutoFit/>
          </a:bodyPr>
          <a:lstStyle/>
          <a:p>
            <a:r>
              <a:rPr sz="1100" b="0">
                <a:solidFill>
                  <a:srgbClr val="2E2E2E"/>
                </a:solidFill>
                <a:latin typeface="Calibri"/>
              </a:rPr>
              <a:t>the CAGR-Index line grow faster than the segment average.</a:t>
            </a:r>
          </a:p>
        </p:txBody>
      </p:sp>
      <p:sp>
        <p:nvSpPr>
          <p:cNvPr id="33"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Technology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Conventional Fabrication</a:t>
            </a:r>
          </a:p>
        </p:txBody>
      </p:sp>
      <p:graphicFrame>
        <p:nvGraphicFramePr>
          <p:cNvPr id="13" name="Chart 12"/>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Digital Fabrication</a:t>
            </a:r>
          </a:p>
        </p:txBody>
      </p:sp>
      <p:graphicFrame>
        <p:nvGraphicFramePr>
          <p:cNvPr id="16" name="Chart 15"/>
          <p:cNvGraphicFramePr>
            <a:graphicFrameLocks noGrp="1"/>
          </p:cNvGraphicFramePr>
          <p:nvPr/>
        </p:nvGraphicFramePr>
        <p:xfrm>
          <a:off x="6267450" y="1266825"/>
          <a:ext cx="5686425" cy="530542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027556" y="3674659"/>
            <a:ext cx="395643" cy="575481"/>
          </a:xfrm>
          <a:prstGeom prst="rect">
            <a:avLst/>
          </a:prstGeom>
        </p:spPr>
      </p:pic>
      <p:pic>
        <p:nvPicPr>
          <p:cNvPr id="19" name="Picture 18" descr="lock.png"/>
          <p:cNvPicPr>
            <a:picLocks noChangeAspect="1"/>
          </p:cNvPicPr>
          <p:nvPr/>
        </p:nvPicPr>
        <p:blipFill>
          <a:blip r:embed="rId6"/>
          <a:stretch>
            <a:fillRect/>
          </a:stretch>
        </p:blipFill>
        <p:spPr>
          <a:xfrm>
            <a:off x="9053384" y="3583939"/>
            <a:ext cx="402511" cy="585471"/>
          </a:xfrm>
          <a:prstGeom prst="rect">
            <a:avLst/>
          </a:prstGeom>
        </p:spPr>
      </p:pic>
      <p:sp>
        <p:nvSpPr>
          <p:cNvPr id="20" name="lockshield_13"/>
          <p:cNvSpPr/>
          <p:nvPr/>
        </p:nvSpPr>
        <p:spPr>
          <a:xfrm>
            <a:off x="238125"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lockshield_16"/>
          <p:cNvSpPr/>
          <p:nvPr/>
        </p:nvSpPr>
        <p:spPr>
          <a:xfrm>
            <a:off x="6267450" y="1266825"/>
            <a:ext cx="5686425" cy="53054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Technology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Technology,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4286250"/>
          </a:xfrm>
          <a:prstGeom prst="roundRect">
            <a:avLst>
              <a:gd name="adj" fmla="val 17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Technology (Units)</a:t>
            </a:r>
          </a:p>
        </p:txBody>
      </p:sp>
      <p:graphicFrame>
        <p:nvGraphicFramePr>
          <p:cNvPr id="13" name="Table 12"/>
          <p:cNvGraphicFramePr>
            <a:graphicFrameLocks noGrp="1"/>
          </p:cNvGraphicFramePr>
          <p:nvPr/>
        </p:nvGraphicFramePr>
        <p:xfrm>
          <a:off x="152400" y="1238250"/>
          <a:ext cx="11887208" cy="3819528"/>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Technology</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439886">
                <a:tc>
                  <a:txBody>
                    <a:bodyPr wrap="none"/>
                    <a:lstStyle/>
                    <a:p>
                      <a:pPr algn="l"/>
                      <a:r>
                        <a:rPr sz="1100" b="1">
                          <a:solidFill>
                            <a:srgbClr val="2E2E2E"/>
                          </a:solidFill>
                          <a:latin typeface="Calibri"/>
                        </a:rPr>
                        <a:t>Conventional</a:t>
                      </a:r>
                      <a:endParaRPr sz="1100"/>
                    </a:p>
                    <a:p>
                      <a:pPr algn="l"/>
                      <a:r>
                        <a:rPr sz="1100" b="1">
                          <a:solidFill>
                            <a:srgbClr val="2E2E2E"/>
                          </a:solidFill>
                          <a:latin typeface="Calibri"/>
                        </a:rPr>
                        <a:t>Fabrication</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100">
                <a:tc>
                  <a:txBody>
                    <a:bodyPr wrap="none"/>
                    <a:lstStyle/>
                    <a:p>
                      <a:pPr algn="l"/>
                      <a:r>
                        <a:rPr sz="1100" b="1">
                          <a:solidFill>
                            <a:srgbClr val="2E2E2E"/>
                          </a:solidFill>
                          <a:latin typeface="Calibri"/>
                        </a:rPr>
                        <a:t>– Metal Casting</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632672">
                <a:tc>
                  <a:txBody>
                    <a:bodyPr wrap="none"/>
                    <a:lstStyle/>
                    <a:p>
                      <a:pPr algn="l"/>
                      <a:r>
                        <a:rPr sz="1100" b="1">
                          <a:solidFill>
                            <a:srgbClr val="2E2E2E"/>
                          </a:solidFill>
                          <a:latin typeface="Calibri"/>
                        </a:rPr>
                        <a:t>– Heat-cured /</a:t>
                      </a:r>
                      <a:endParaRPr sz="1100"/>
                    </a:p>
                    <a:p>
                      <a:pPr algn="l"/>
                      <a:r>
                        <a:rPr sz="1100" b="1">
                          <a:solidFill>
                            <a:srgbClr val="2E2E2E"/>
                          </a:solidFill>
                          <a:latin typeface="Calibri"/>
                        </a:rPr>
                        <a:t>Compression</a:t>
                      </a:r>
                      <a:endParaRPr sz="1100"/>
                    </a:p>
                    <a:p>
                      <a:pPr algn="l"/>
                      <a:r>
                        <a:rPr sz="1100" b="1">
                          <a:solidFill>
                            <a:srgbClr val="2E2E2E"/>
                          </a:solidFill>
                          <a:latin typeface="Calibri"/>
                        </a:rPr>
                        <a:t>Processing</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100">
                <a:tc>
                  <a:txBody>
                    <a:bodyPr wrap="none"/>
                    <a:lstStyle/>
                    <a:p>
                      <a:pPr algn="l"/>
                      <a:r>
                        <a:rPr sz="1100" b="1">
                          <a:solidFill>
                            <a:srgbClr val="2E2E2E"/>
                          </a:solidFill>
                          <a:latin typeface="Calibri"/>
                        </a:rPr>
                        <a:t>– Injection Molding</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100">
                <a:tc>
                  <a:txBody>
                    <a:bodyPr wrap="none"/>
                    <a:lstStyle/>
                    <a:p>
                      <a:pPr algn="l"/>
                      <a:r>
                        <a:rPr sz="1100" b="1">
                          <a:solidFill>
                            <a:srgbClr val="2E2E2E"/>
                          </a:solidFill>
                          <a:latin typeface="Calibri"/>
                        </a:rPr>
                        <a:t>Digital Fabrication</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100">
                <a:tc>
                  <a:txBody>
                    <a:bodyPr wrap="none"/>
                    <a:lstStyle/>
                    <a:p>
                      <a:pPr algn="l"/>
                      <a:r>
                        <a:rPr sz="1100" b="1">
                          <a:solidFill>
                            <a:srgbClr val="2E2E2E"/>
                          </a:solidFill>
                          <a:latin typeface="Calibri"/>
                        </a:rPr>
                        <a:t>– CAD/CAM Milling</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632672">
                <a:tc>
                  <a:txBody>
                    <a:bodyPr wrap="none"/>
                    <a:lstStyle/>
                    <a:p>
                      <a:pPr algn="l"/>
                      <a:r>
                        <a:rPr sz="1100" b="1">
                          <a:solidFill>
                            <a:srgbClr val="2E2E2E"/>
                          </a:solidFill>
                          <a:latin typeface="Calibri"/>
                        </a:rPr>
                        <a:t>– 3D Printing /</a:t>
                      </a:r>
                      <a:endParaRPr sz="1100"/>
                    </a:p>
                    <a:p>
                      <a:pPr algn="l"/>
                      <a:r>
                        <a:rPr sz="1100" b="1">
                          <a:solidFill>
                            <a:srgbClr val="2E2E2E"/>
                          </a:solidFill>
                          <a:latin typeface="Calibri"/>
                        </a:rPr>
                        <a:t>Additive</a:t>
                      </a:r>
                      <a:endParaRPr sz="1100"/>
                    </a:p>
                    <a:p>
                      <a:pPr algn="l"/>
                      <a:r>
                        <a:rPr sz="1100" b="1">
                          <a:solidFill>
                            <a:srgbClr val="2E2E2E"/>
                          </a:solidFill>
                          <a:latin typeface="Calibri"/>
                        </a:rPr>
                        <a:t>Manufacturing</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886">
                <a:tc>
                  <a:txBody>
                    <a:bodyPr wrap="none"/>
                    <a:lstStyle/>
                    <a:p>
                      <a:pPr algn="l"/>
                      <a:r>
                        <a:rPr sz="1100" b="1">
                          <a:solidFill>
                            <a:srgbClr val="2E2E2E"/>
                          </a:solidFill>
                          <a:latin typeface="Calibri"/>
                        </a:rPr>
                        <a:t>– Hybrid Digital</a:t>
                      </a:r>
                      <a:endParaRPr sz="1100"/>
                    </a:p>
                    <a:p>
                      <a:pPr algn="l"/>
                      <a:r>
                        <a:rPr sz="1100" b="1">
                          <a:solidFill>
                            <a:srgbClr val="2E2E2E"/>
                          </a:solidFill>
                          <a:latin typeface="Calibri"/>
                        </a:rPr>
                        <a:t>Fabrication</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100">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50673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5400675"/>
            <a:ext cx="11906250" cy="1228725"/>
          </a:xfrm>
          <a:prstGeom prst="roundRect">
            <a:avLst>
              <a:gd name="adj" fmla="val 62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548640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Technology</a:t>
            </a:r>
          </a:p>
        </p:txBody>
      </p:sp>
      <p:sp>
        <p:nvSpPr>
          <p:cNvPr id="17" name="Rectangle 16"/>
          <p:cNvSpPr/>
          <p:nvPr/>
        </p:nvSpPr>
        <p:spPr>
          <a:xfrm>
            <a:off x="276225" y="57245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810250"/>
            <a:ext cx="11639550" cy="7429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3100770"/>
            <a:ext cx="366712" cy="533400"/>
          </a:xfrm>
          <a:prstGeom prst="rect">
            <a:avLst/>
          </a:prstGeom>
        </p:spPr>
      </p:pic>
      <p:sp>
        <p:nvSpPr>
          <p:cNvPr id="21" name="TextBox 20"/>
          <p:cNvSpPr txBox="1"/>
          <p:nvPr/>
        </p:nvSpPr>
        <p:spPr>
          <a:xfrm>
            <a:off x="276225" y="5819775"/>
            <a:ext cx="3057103" cy="194310"/>
          </a:xfrm>
          <a:prstGeom prst="rect">
            <a:avLst/>
          </a:prstGeom>
          <a:noFill/>
        </p:spPr>
        <p:txBody>
          <a:bodyPr wrap="none" lIns="0" rIns="0" tIns="0" bIns="0">
            <a:spAutoFit/>
          </a:bodyPr>
          <a:lstStyle/>
          <a:p>
            <a:r>
              <a:rPr sz="1150" b="0">
                <a:solidFill>
                  <a:srgbClr val="2E2E2E"/>
                </a:solidFill>
                <a:latin typeface="Calibri"/>
              </a:rPr>
              <a:t>Digital fabrication segment is projected to register</a:t>
            </a:r>
          </a:p>
        </p:txBody>
      </p:sp>
      <p:pic>
        <p:nvPicPr>
          <p:cNvPr id="22" name="Picture 21" descr="lock.png"/>
          <p:cNvPicPr>
            <a:picLocks noChangeAspect="1"/>
          </p:cNvPicPr>
          <p:nvPr/>
        </p:nvPicPr>
        <p:blipFill>
          <a:blip r:embed="rId4"/>
          <a:stretch>
            <a:fillRect/>
          </a:stretch>
        </p:blipFill>
        <p:spPr>
          <a:xfrm>
            <a:off x="3282482" y="5809551"/>
            <a:ext cx="134549" cy="195707"/>
          </a:xfrm>
          <a:prstGeom prst="rect">
            <a:avLst/>
          </a:prstGeom>
        </p:spPr>
      </p:pic>
      <p:sp>
        <p:nvSpPr>
          <p:cNvPr id="23" name="TextBox 22"/>
          <p:cNvSpPr txBox="1"/>
          <p:nvPr/>
        </p:nvSpPr>
        <p:spPr>
          <a:xfrm>
            <a:off x="3457591" y="5819775"/>
            <a:ext cx="8380226" cy="194310"/>
          </a:xfrm>
          <a:prstGeom prst="rect">
            <a:avLst/>
          </a:prstGeom>
          <a:noFill/>
        </p:spPr>
        <p:txBody>
          <a:bodyPr wrap="none" lIns="0" rIns="0" tIns="0" bIns="0">
            <a:spAutoFit/>
          </a:bodyPr>
          <a:lstStyle/>
          <a:p>
            <a:r>
              <a:rPr sz="1150" b="0">
                <a:solidFill>
                  <a:srgbClr val="2E2E2E"/>
                </a:solidFill>
                <a:latin typeface="Calibri"/>
              </a:rPr>
              <a:t>X higher volume than conventional fabrication segment in 2036. Among removable partial dentures by technology, conventional fabrication</a:t>
            </a:r>
          </a:p>
        </p:txBody>
      </p:sp>
      <p:sp>
        <p:nvSpPr>
          <p:cNvPr id="24" name="TextBox 23"/>
          <p:cNvSpPr txBox="1"/>
          <p:nvPr/>
        </p:nvSpPr>
        <p:spPr>
          <a:xfrm>
            <a:off x="276225" y="5995035"/>
            <a:ext cx="3156639" cy="194310"/>
          </a:xfrm>
          <a:prstGeom prst="rect">
            <a:avLst/>
          </a:prstGeom>
          <a:noFill/>
        </p:spPr>
        <p:txBody>
          <a:bodyPr wrap="none" lIns="0" rIns="0" tIns="0" bIns="0">
            <a:spAutoFit/>
          </a:bodyPr>
          <a:lstStyle/>
          <a:p>
            <a:r>
              <a:rPr sz="1150" b="0">
                <a:solidFill>
                  <a:srgbClr val="2E2E2E"/>
                </a:solidFill>
                <a:latin typeface="Calibri"/>
              </a:rPr>
              <a:t>segment is expected to witness the highest CAGR of</a:t>
            </a:r>
          </a:p>
        </p:txBody>
      </p:sp>
      <p:pic>
        <p:nvPicPr>
          <p:cNvPr id="25" name="Picture 24" descr="lock.png"/>
          <p:cNvPicPr>
            <a:picLocks noChangeAspect="1"/>
          </p:cNvPicPr>
          <p:nvPr/>
        </p:nvPicPr>
        <p:blipFill>
          <a:blip r:embed="rId4"/>
          <a:stretch>
            <a:fillRect/>
          </a:stretch>
        </p:blipFill>
        <p:spPr>
          <a:xfrm>
            <a:off x="3382018" y="5984811"/>
            <a:ext cx="134549" cy="195707"/>
          </a:xfrm>
          <a:prstGeom prst="rect">
            <a:avLst/>
          </a:prstGeom>
        </p:spPr>
      </p:pic>
      <p:sp>
        <p:nvSpPr>
          <p:cNvPr id="26" name="TextBox 25"/>
          <p:cNvSpPr txBox="1"/>
          <p:nvPr/>
        </p:nvSpPr>
        <p:spPr>
          <a:xfrm>
            <a:off x="3557127" y="599503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6222872"/>
            <a:ext cx="6894624" cy="194310"/>
          </a:xfrm>
          <a:prstGeom prst="rect">
            <a:avLst/>
          </a:prstGeom>
          <a:noFill/>
        </p:spPr>
        <p:txBody>
          <a:bodyPr wrap="none" lIns="0" rIns="0" tIns="0" bIns="0">
            <a:spAutoFit/>
          </a:bodyPr>
          <a:lstStyle/>
          <a:p>
            <a:r>
              <a:rPr sz="1150" b="0">
                <a:solidFill>
                  <a:srgbClr val="2E2E2E"/>
                </a:solidFill>
                <a:latin typeface="Calibri"/>
              </a:rPr>
              <a:t>In terms of volume share by technology, the digital fabrication segment is expected to dominate the market, losing</a:t>
            </a:r>
          </a:p>
        </p:txBody>
      </p:sp>
      <p:pic>
        <p:nvPicPr>
          <p:cNvPr id="28" name="Picture 27" descr="lock.png"/>
          <p:cNvPicPr>
            <a:picLocks noChangeAspect="1"/>
          </p:cNvPicPr>
          <p:nvPr/>
        </p:nvPicPr>
        <p:blipFill>
          <a:blip r:embed="rId4"/>
          <a:stretch>
            <a:fillRect/>
          </a:stretch>
        </p:blipFill>
        <p:spPr>
          <a:xfrm>
            <a:off x="7120003" y="6212649"/>
            <a:ext cx="134549" cy="195707"/>
          </a:xfrm>
          <a:prstGeom prst="rect">
            <a:avLst/>
          </a:prstGeom>
        </p:spPr>
      </p:pic>
      <p:sp>
        <p:nvSpPr>
          <p:cNvPr id="29" name="TextBox 28"/>
          <p:cNvSpPr txBox="1"/>
          <p:nvPr/>
        </p:nvSpPr>
        <p:spPr>
          <a:xfrm>
            <a:off x="7295112" y="622287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8690255" y="6212649"/>
            <a:ext cx="134549" cy="195707"/>
          </a:xfrm>
          <a:prstGeom prst="rect">
            <a:avLst/>
          </a:prstGeom>
        </p:spPr>
      </p:pic>
      <p:sp>
        <p:nvSpPr>
          <p:cNvPr id="31" name="TextBox 30"/>
          <p:cNvSpPr txBox="1"/>
          <p:nvPr/>
        </p:nvSpPr>
        <p:spPr>
          <a:xfrm>
            <a:off x="8865364" y="622287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Technology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Technology,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Technology (US$ Mn)</a:t>
            </a:r>
          </a:p>
        </p:txBody>
      </p:sp>
      <p:graphicFrame>
        <p:nvGraphicFramePr>
          <p:cNvPr id="13" name="Table 12"/>
          <p:cNvGraphicFramePr>
            <a:graphicFrameLocks noGrp="1"/>
          </p:cNvGraphicFramePr>
          <p:nvPr/>
        </p:nvGraphicFramePr>
        <p:xfrm>
          <a:off x="152400" y="1238250"/>
          <a:ext cx="11887195" cy="2466975"/>
        </p:xfrm>
        <a:graphic>
          <a:graphicData uri="http://schemas.openxmlformats.org/drawingml/2006/table">
            <a:tbl>
              <a:tblPr>
                <a:tableStyleId>{5C22544A-7EE6-4342-B048-85BDC9FD1C3A}</a:tableStyleId>
              </a:tblPr>
              <a:tblGrid>
                <a:gridCol w="2464826"/>
                <a:gridCol w="554257"/>
                <a:gridCol w="554257"/>
                <a:gridCol w="554257"/>
                <a:gridCol w="554257"/>
                <a:gridCol w="554257"/>
                <a:gridCol w="554257"/>
                <a:gridCol w="554257"/>
                <a:gridCol w="554257"/>
                <a:gridCol w="554257"/>
                <a:gridCol w="554257"/>
                <a:gridCol w="554257"/>
                <a:gridCol w="554257"/>
                <a:gridCol w="554257"/>
                <a:gridCol w="554257"/>
                <a:gridCol w="554257"/>
                <a:gridCol w="554257"/>
                <a:gridCol w="554257"/>
              </a:tblGrid>
              <a:tr h="246126">
                <a:tc>
                  <a:txBody>
                    <a:bodyPr wrap="none"/>
                    <a:lstStyle/>
                    <a:p>
                      <a:pPr algn="l"/>
                      <a:r>
                        <a:rPr sz="1100" b="1">
                          <a:solidFill>
                            <a:srgbClr val="0B2E4A"/>
                          </a:solidFill>
                          <a:latin typeface="Calibri"/>
                        </a:rPr>
                        <a:t>Technology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761">
                <a:tc>
                  <a:txBody>
                    <a:bodyPr wrap="none"/>
                    <a:lstStyle/>
                    <a:p>
                      <a:pPr algn="l"/>
                      <a:r>
                        <a:rPr sz="1100" b="1">
                          <a:solidFill>
                            <a:srgbClr val="2E2E2E"/>
                          </a:solidFill>
                          <a:latin typeface="Calibri"/>
                        </a:rPr>
                        <a:t>Conventional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Metal Casting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 Heat-cured / Compression Processing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Injection Molding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Digital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CAD/CAM Milling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 3D Printing / Additive Manufacturing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Hybrid Digital Fabrication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1,078</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1,125</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1,731</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4.4%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714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048125"/>
            <a:ext cx="11906250" cy="2581275"/>
          </a:xfrm>
          <a:prstGeom prst="roundRect">
            <a:avLst>
              <a:gd name="adj" fmla="val 29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13385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Technology</a:t>
            </a:r>
          </a:p>
        </p:txBody>
      </p:sp>
      <p:sp>
        <p:nvSpPr>
          <p:cNvPr id="17" name="Rectangle 16"/>
          <p:cNvSpPr/>
          <p:nvPr/>
        </p:nvSpPr>
        <p:spPr>
          <a:xfrm>
            <a:off x="276225" y="43719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457700"/>
            <a:ext cx="11639550" cy="20955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141720" y="2328100"/>
            <a:ext cx="366712" cy="533400"/>
          </a:xfrm>
          <a:prstGeom prst="rect">
            <a:avLst/>
          </a:prstGeom>
        </p:spPr>
      </p:pic>
      <p:sp>
        <p:nvSpPr>
          <p:cNvPr id="21" name="TextBox 20"/>
          <p:cNvSpPr txBox="1"/>
          <p:nvPr/>
        </p:nvSpPr>
        <p:spPr>
          <a:xfrm>
            <a:off x="276225" y="4467225"/>
            <a:ext cx="3057103" cy="194310"/>
          </a:xfrm>
          <a:prstGeom prst="rect">
            <a:avLst/>
          </a:prstGeom>
          <a:noFill/>
        </p:spPr>
        <p:txBody>
          <a:bodyPr wrap="none" lIns="0" rIns="0" tIns="0" bIns="0">
            <a:spAutoFit/>
          </a:bodyPr>
          <a:lstStyle/>
          <a:p>
            <a:r>
              <a:rPr sz="1150" b="0">
                <a:solidFill>
                  <a:srgbClr val="2E2E2E"/>
                </a:solidFill>
                <a:latin typeface="Calibri"/>
              </a:rPr>
              <a:t>Digital fabrication segment is projected to register</a:t>
            </a:r>
          </a:p>
        </p:txBody>
      </p:sp>
      <p:pic>
        <p:nvPicPr>
          <p:cNvPr id="22" name="Picture 21" descr="lock.png"/>
          <p:cNvPicPr>
            <a:picLocks noChangeAspect="1"/>
          </p:cNvPicPr>
          <p:nvPr/>
        </p:nvPicPr>
        <p:blipFill>
          <a:blip r:embed="rId4"/>
          <a:stretch>
            <a:fillRect/>
          </a:stretch>
        </p:blipFill>
        <p:spPr>
          <a:xfrm>
            <a:off x="3282482" y="4457001"/>
            <a:ext cx="134549" cy="195707"/>
          </a:xfrm>
          <a:prstGeom prst="rect">
            <a:avLst/>
          </a:prstGeom>
        </p:spPr>
      </p:pic>
      <p:sp>
        <p:nvSpPr>
          <p:cNvPr id="23" name="TextBox 22"/>
          <p:cNvSpPr txBox="1"/>
          <p:nvPr/>
        </p:nvSpPr>
        <p:spPr>
          <a:xfrm>
            <a:off x="3457591" y="4467225"/>
            <a:ext cx="8256426" cy="194310"/>
          </a:xfrm>
          <a:prstGeom prst="rect">
            <a:avLst/>
          </a:prstGeom>
          <a:noFill/>
        </p:spPr>
        <p:txBody>
          <a:bodyPr wrap="none" lIns="0" rIns="0" tIns="0" bIns="0">
            <a:spAutoFit/>
          </a:bodyPr>
          <a:lstStyle/>
          <a:p>
            <a:r>
              <a:rPr sz="1150" b="0">
                <a:solidFill>
                  <a:srgbClr val="2E2E2E"/>
                </a:solidFill>
                <a:latin typeface="Calibri"/>
              </a:rPr>
              <a:t>X higher value than conventional fabrication segment in 2036. Among removable partial dentures by technology, conventional fabrication</a:t>
            </a:r>
          </a:p>
        </p:txBody>
      </p:sp>
      <p:sp>
        <p:nvSpPr>
          <p:cNvPr id="24" name="TextBox 23"/>
          <p:cNvSpPr txBox="1"/>
          <p:nvPr/>
        </p:nvSpPr>
        <p:spPr>
          <a:xfrm>
            <a:off x="276225" y="4642485"/>
            <a:ext cx="3156639" cy="194310"/>
          </a:xfrm>
          <a:prstGeom prst="rect">
            <a:avLst/>
          </a:prstGeom>
          <a:noFill/>
        </p:spPr>
        <p:txBody>
          <a:bodyPr wrap="none" lIns="0" rIns="0" tIns="0" bIns="0">
            <a:spAutoFit/>
          </a:bodyPr>
          <a:lstStyle/>
          <a:p>
            <a:r>
              <a:rPr sz="1150" b="0">
                <a:solidFill>
                  <a:srgbClr val="2E2E2E"/>
                </a:solidFill>
                <a:latin typeface="Calibri"/>
              </a:rPr>
              <a:t>segment is expected to witness the highest CAGR of</a:t>
            </a:r>
          </a:p>
        </p:txBody>
      </p:sp>
      <p:pic>
        <p:nvPicPr>
          <p:cNvPr id="25" name="Picture 24" descr="lock.png"/>
          <p:cNvPicPr>
            <a:picLocks noChangeAspect="1"/>
          </p:cNvPicPr>
          <p:nvPr/>
        </p:nvPicPr>
        <p:blipFill>
          <a:blip r:embed="rId4"/>
          <a:stretch>
            <a:fillRect/>
          </a:stretch>
        </p:blipFill>
        <p:spPr>
          <a:xfrm>
            <a:off x="3382018" y="4632261"/>
            <a:ext cx="134549" cy="195707"/>
          </a:xfrm>
          <a:prstGeom prst="rect">
            <a:avLst/>
          </a:prstGeom>
        </p:spPr>
      </p:pic>
      <p:sp>
        <p:nvSpPr>
          <p:cNvPr id="26" name="TextBox 25"/>
          <p:cNvSpPr txBox="1"/>
          <p:nvPr/>
        </p:nvSpPr>
        <p:spPr>
          <a:xfrm>
            <a:off x="3557127" y="464248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4870322"/>
            <a:ext cx="6770823" cy="194310"/>
          </a:xfrm>
          <a:prstGeom prst="rect">
            <a:avLst/>
          </a:prstGeom>
          <a:noFill/>
        </p:spPr>
        <p:txBody>
          <a:bodyPr wrap="none" lIns="0" rIns="0" tIns="0" bIns="0">
            <a:spAutoFit/>
          </a:bodyPr>
          <a:lstStyle/>
          <a:p>
            <a:r>
              <a:rPr sz="1150" b="0">
                <a:solidFill>
                  <a:srgbClr val="2E2E2E"/>
                </a:solidFill>
                <a:latin typeface="Calibri"/>
              </a:rPr>
              <a:t>In terms of value share by technology, the digital fabrication segment is expected to dominate the market, losing</a:t>
            </a:r>
          </a:p>
        </p:txBody>
      </p:sp>
      <p:pic>
        <p:nvPicPr>
          <p:cNvPr id="28" name="Picture 27" descr="lock.png"/>
          <p:cNvPicPr>
            <a:picLocks noChangeAspect="1"/>
          </p:cNvPicPr>
          <p:nvPr/>
        </p:nvPicPr>
        <p:blipFill>
          <a:blip r:embed="rId4"/>
          <a:stretch>
            <a:fillRect/>
          </a:stretch>
        </p:blipFill>
        <p:spPr>
          <a:xfrm>
            <a:off x="6996202" y="4860099"/>
            <a:ext cx="134549" cy="195707"/>
          </a:xfrm>
          <a:prstGeom prst="rect">
            <a:avLst/>
          </a:prstGeom>
        </p:spPr>
      </p:pic>
      <p:sp>
        <p:nvSpPr>
          <p:cNvPr id="29" name="TextBox 28"/>
          <p:cNvSpPr txBox="1"/>
          <p:nvPr/>
        </p:nvSpPr>
        <p:spPr>
          <a:xfrm>
            <a:off x="7171312" y="487032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8566455" y="4860099"/>
            <a:ext cx="134549" cy="195707"/>
          </a:xfrm>
          <a:prstGeom prst="rect">
            <a:avLst/>
          </a:prstGeom>
        </p:spPr>
      </p:pic>
      <p:sp>
        <p:nvSpPr>
          <p:cNvPr id="31" name="TextBox 30"/>
          <p:cNvSpPr txBox="1"/>
          <p:nvPr/>
        </p:nvSpPr>
        <p:spPr>
          <a:xfrm>
            <a:off x="8741564" y="487032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Technology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Technology ·  2021 / 2026 / 2036 (US$ Mn)  ·  right axis = BPS share shift</a:t>
            </a:r>
          </a:p>
        </p:txBody>
      </p:sp>
      <p:graphicFrame>
        <p:nvGraphicFramePr>
          <p:cNvPr id="13" name="Chart 12"/>
          <p:cNvGraphicFramePr>
            <a:graphicFrameLocks noGrp="1"/>
          </p:cNvGraphicFramePr>
          <p:nvPr/>
        </p:nvGraphicFramePr>
        <p:xfrm>
          <a:off x="238125" y="1409700"/>
          <a:ext cx="4614672" cy="516255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419225"/>
            <a:ext cx="2595753" cy="177927"/>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3932301"/>
            <a:ext cx="38100" cy="38100"/>
          </a:xfrm>
          <a:prstGeom prst="rect">
            <a:avLst/>
          </a:prstGeom>
          <a:noFill/>
        </p:spPr>
        <p:txBody>
          <a:bodyPr wrap="none">
            <a:spAutoFit/>
          </a:bodyPr>
          <a:lstStyle/>
          <a:p/>
        </p:txBody>
      </p:sp>
      <p:sp>
        <p:nvSpPr>
          <p:cNvPr id="16" name="FMI Legend Chip"/>
          <p:cNvSpPr/>
          <p:nvPr/>
        </p:nvSpPr>
        <p:spPr>
          <a:xfrm>
            <a:off x="4928997" y="259204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258728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51108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Conventional Fabrication</a:t>
            </a:r>
          </a:p>
        </p:txBody>
      </p:sp>
      <p:sp>
        <p:nvSpPr>
          <p:cNvPr id="19" name="BPS Value 1"/>
          <p:cNvSpPr txBox="1"/>
          <p:nvPr/>
        </p:nvSpPr>
        <p:spPr>
          <a:xfrm>
            <a:off x="6896100" y="2572992"/>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4960529"/>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495576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487956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Digital Fabrication</a:t>
            </a:r>
          </a:p>
        </p:txBody>
      </p:sp>
      <p:sp>
        <p:nvSpPr>
          <p:cNvPr id="23" name="BPS Value 2"/>
          <p:cNvSpPr txBox="1"/>
          <p:nvPr/>
        </p:nvSpPr>
        <p:spPr>
          <a:xfrm>
            <a:off x="6896100" y="4941479"/>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Rounded Rectangle 2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Technology</a:t>
            </a:r>
          </a:p>
        </p:txBody>
      </p:sp>
      <p:sp>
        <p:nvSpPr>
          <p:cNvPr id="26" name="Rectangle 2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8" name="TextBox 2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9" name="Picture 28" descr="lock.png"/>
          <p:cNvPicPr>
            <a:picLocks noChangeAspect="1"/>
          </p:cNvPicPr>
          <p:nvPr/>
        </p:nvPicPr>
        <p:blipFill>
          <a:blip r:embed="rId5"/>
          <a:stretch>
            <a:fillRect/>
          </a:stretch>
        </p:blipFill>
        <p:spPr>
          <a:xfrm>
            <a:off x="2557843" y="3751325"/>
            <a:ext cx="275034" cy="400050"/>
          </a:xfrm>
          <a:prstGeom prst="rect">
            <a:avLst/>
          </a:prstGeom>
        </p:spPr>
      </p:pic>
      <p:sp>
        <p:nvSpPr>
          <p:cNvPr id="30" name="TextBox 29"/>
          <p:cNvSpPr txBox="1"/>
          <p:nvPr/>
        </p:nvSpPr>
        <p:spPr>
          <a:xfrm>
            <a:off x="7829550" y="1400175"/>
            <a:ext cx="3861804" cy="194310"/>
          </a:xfrm>
          <a:prstGeom prst="rect">
            <a:avLst/>
          </a:prstGeom>
          <a:noFill/>
        </p:spPr>
        <p:txBody>
          <a:bodyPr wrap="none" lIns="0" rIns="0" tIns="0" bIns="0">
            <a:spAutoFit/>
          </a:bodyPr>
          <a:lstStyle/>
          <a:p>
            <a:r>
              <a:rPr sz="1150" b="0">
                <a:solidFill>
                  <a:srgbClr val="2E2E2E"/>
                </a:solidFill>
                <a:latin typeface="Calibri"/>
              </a:rPr>
              <a:t>Among removable partial dentures by technology, conventional</a:t>
            </a:r>
          </a:p>
        </p:txBody>
      </p:sp>
      <p:sp>
        <p:nvSpPr>
          <p:cNvPr id="31" name="TextBox 30"/>
          <p:cNvSpPr txBox="1"/>
          <p:nvPr/>
        </p:nvSpPr>
        <p:spPr>
          <a:xfrm>
            <a:off x="7829550" y="1575435"/>
            <a:ext cx="3833831" cy="194310"/>
          </a:xfrm>
          <a:prstGeom prst="rect">
            <a:avLst/>
          </a:prstGeom>
          <a:noFill/>
        </p:spPr>
        <p:txBody>
          <a:bodyPr wrap="none" lIns="0" rIns="0" tIns="0" bIns="0">
            <a:spAutoFit/>
          </a:bodyPr>
          <a:lstStyle/>
          <a:p>
            <a:r>
              <a:rPr sz="1150" b="0">
                <a:solidFill>
                  <a:srgbClr val="2E2E2E"/>
                </a:solidFill>
                <a:latin typeface="Calibri"/>
              </a:rPr>
              <a:t>fabrication segment is expected to witness the highest CAGR of</a:t>
            </a:r>
          </a:p>
        </p:txBody>
      </p:sp>
      <p:pic>
        <p:nvPicPr>
          <p:cNvPr id="32" name="Picture 31" descr="lock.png"/>
          <p:cNvPicPr>
            <a:picLocks noChangeAspect="1"/>
          </p:cNvPicPr>
          <p:nvPr/>
        </p:nvPicPr>
        <p:blipFill>
          <a:blip r:embed="rId5"/>
          <a:stretch>
            <a:fillRect/>
          </a:stretch>
        </p:blipFill>
        <p:spPr>
          <a:xfrm>
            <a:off x="11612535" y="1565211"/>
            <a:ext cx="134549" cy="195707"/>
          </a:xfrm>
          <a:prstGeom prst="rect">
            <a:avLst/>
          </a:prstGeom>
        </p:spPr>
      </p:pic>
      <p:sp>
        <p:nvSpPr>
          <p:cNvPr id="33" name="TextBox 32"/>
          <p:cNvSpPr txBox="1"/>
          <p:nvPr/>
        </p:nvSpPr>
        <p:spPr>
          <a:xfrm>
            <a:off x="7829550" y="175069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34" name="TextBox 33"/>
          <p:cNvSpPr txBox="1"/>
          <p:nvPr/>
        </p:nvSpPr>
        <p:spPr>
          <a:xfrm>
            <a:off x="7829550" y="1978533"/>
            <a:ext cx="3649290" cy="194310"/>
          </a:xfrm>
          <a:prstGeom prst="rect">
            <a:avLst/>
          </a:prstGeom>
          <a:noFill/>
        </p:spPr>
        <p:txBody>
          <a:bodyPr wrap="none" lIns="0" rIns="0" tIns="0" bIns="0">
            <a:spAutoFit/>
          </a:bodyPr>
          <a:lstStyle/>
          <a:p>
            <a:r>
              <a:rPr sz="1150" b="0">
                <a:solidFill>
                  <a:srgbClr val="2E2E2E"/>
                </a:solidFill>
                <a:latin typeface="Calibri"/>
              </a:rPr>
              <a:t>In terms of value share by technology, the digital fabrication</a:t>
            </a:r>
          </a:p>
        </p:txBody>
      </p:sp>
      <p:sp>
        <p:nvSpPr>
          <p:cNvPr id="35" name="TextBox 34"/>
          <p:cNvSpPr txBox="1"/>
          <p:nvPr/>
        </p:nvSpPr>
        <p:spPr>
          <a:xfrm>
            <a:off x="7829550" y="2153793"/>
            <a:ext cx="3164644" cy="194310"/>
          </a:xfrm>
          <a:prstGeom prst="rect">
            <a:avLst/>
          </a:prstGeom>
          <a:noFill/>
        </p:spPr>
        <p:txBody>
          <a:bodyPr wrap="none" lIns="0" rIns="0" tIns="0" bIns="0">
            <a:spAutoFit/>
          </a:bodyPr>
          <a:lstStyle/>
          <a:p>
            <a:r>
              <a:rPr sz="1150" b="0">
                <a:solidFill>
                  <a:srgbClr val="2E2E2E"/>
                </a:solidFill>
                <a:latin typeface="Calibri"/>
              </a:rPr>
              <a:t>segment is expected to dominate the market, losing</a:t>
            </a:r>
          </a:p>
        </p:txBody>
      </p:sp>
      <p:pic>
        <p:nvPicPr>
          <p:cNvPr id="36" name="Picture 35" descr="lock.png"/>
          <p:cNvPicPr>
            <a:picLocks noChangeAspect="1"/>
          </p:cNvPicPr>
          <p:nvPr/>
        </p:nvPicPr>
        <p:blipFill>
          <a:blip r:embed="rId5"/>
          <a:stretch>
            <a:fillRect/>
          </a:stretch>
        </p:blipFill>
        <p:spPr>
          <a:xfrm>
            <a:off x="10943347" y="2143569"/>
            <a:ext cx="134549" cy="195707"/>
          </a:xfrm>
          <a:prstGeom prst="rect">
            <a:avLst/>
          </a:prstGeom>
        </p:spPr>
      </p:pic>
      <p:sp>
        <p:nvSpPr>
          <p:cNvPr id="37" name="TextBox 36"/>
          <p:cNvSpPr txBox="1"/>
          <p:nvPr/>
        </p:nvSpPr>
        <p:spPr>
          <a:xfrm>
            <a:off x="11118457" y="2153793"/>
            <a:ext cx="554856" cy="194310"/>
          </a:xfrm>
          <a:prstGeom prst="rect">
            <a:avLst/>
          </a:prstGeom>
          <a:noFill/>
        </p:spPr>
        <p:txBody>
          <a:bodyPr wrap="none" lIns="0" rIns="0" tIns="0" bIns="0">
            <a:spAutoFit/>
          </a:bodyPr>
          <a:lstStyle/>
          <a:p>
            <a:r>
              <a:rPr sz="1150" b="0">
                <a:solidFill>
                  <a:srgbClr val="2E2E2E"/>
                </a:solidFill>
                <a:latin typeface="Calibri"/>
              </a:rPr>
              <a:t>BPS and</a:t>
            </a:r>
          </a:p>
        </p:txBody>
      </p:sp>
      <p:sp>
        <p:nvSpPr>
          <p:cNvPr id="38" name="TextBox 37"/>
          <p:cNvSpPr txBox="1"/>
          <p:nvPr/>
        </p:nvSpPr>
        <p:spPr>
          <a:xfrm>
            <a:off x="7829550" y="2329053"/>
            <a:ext cx="934243" cy="194310"/>
          </a:xfrm>
          <a:prstGeom prst="rect">
            <a:avLst/>
          </a:prstGeom>
          <a:noFill/>
        </p:spPr>
        <p:txBody>
          <a:bodyPr wrap="none" lIns="0" rIns="0" tIns="0" bIns="0">
            <a:spAutoFit/>
          </a:bodyPr>
          <a:lstStyle/>
          <a:p>
            <a:r>
              <a:rPr sz="1150" b="0">
                <a:solidFill>
                  <a:srgbClr val="2E2E2E"/>
                </a:solidFill>
                <a:latin typeface="Calibri"/>
              </a:rPr>
              <a:t>accounting for</a:t>
            </a:r>
          </a:p>
        </p:txBody>
      </p:sp>
      <p:pic>
        <p:nvPicPr>
          <p:cNvPr id="39" name="Picture 38" descr="lock.png"/>
          <p:cNvPicPr>
            <a:picLocks noChangeAspect="1"/>
          </p:cNvPicPr>
          <p:nvPr/>
        </p:nvPicPr>
        <p:blipFill>
          <a:blip r:embed="rId5"/>
          <a:stretch>
            <a:fillRect/>
          </a:stretch>
        </p:blipFill>
        <p:spPr>
          <a:xfrm>
            <a:off x="8712947" y="2318829"/>
            <a:ext cx="134549" cy="195707"/>
          </a:xfrm>
          <a:prstGeom prst="rect">
            <a:avLst/>
          </a:prstGeom>
        </p:spPr>
      </p:pic>
      <p:sp>
        <p:nvSpPr>
          <p:cNvPr id="40" name="TextBox 39"/>
          <p:cNvSpPr txBox="1"/>
          <p:nvPr/>
        </p:nvSpPr>
        <p:spPr>
          <a:xfrm>
            <a:off x="8888056" y="232905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1" name="lockshield_13"/>
          <p:cNvSpPr/>
          <p:nvPr/>
        </p:nvSpPr>
        <p:spPr>
          <a:xfrm>
            <a:off x="238125" y="1409700"/>
            <a:ext cx="4614672" cy="51625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Technology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Technology,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2219326"/>
        </p:xfrm>
        <a:graphic>
          <a:graphicData uri="http://schemas.openxmlformats.org/drawingml/2006/table">
            <a:tbl>
              <a:tblPr>
                <a:tableStyleId>{5C22544A-7EE6-4342-B048-85BDC9FD1C3A}</a:tableStyleId>
              </a:tblPr>
              <a:tblGrid>
                <a:gridCol w="2674905"/>
                <a:gridCol w="614153"/>
                <a:gridCol w="614153"/>
                <a:gridCol w="614153"/>
                <a:gridCol w="614153"/>
                <a:gridCol w="614153"/>
                <a:gridCol w="614153"/>
                <a:gridCol w="614153"/>
                <a:gridCol w="614153"/>
                <a:gridCol w="614153"/>
                <a:gridCol w="614153"/>
                <a:gridCol w="614153"/>
                <a:gridCol w="614153"/>
                <a:gridCol w="614153"/>
                <a:gridCol w="614153"/>
                <a:gridCol w="614153"/>
              </a:tblGrid>
              <a:tr h="246126">
                <a:tc>
                  <a:txBody>
                    <a:bodyPr wrap="none"/>
                    <a:lstStyle/>
                    <a:p>
                      <a:pPr algn="l"/>
                      <a:r>
                        <a:rPr sz="1100" b="1">
                          <a:solidFill>
                            <a:srgbClr val="0B2E4A"/>
                          </a:solidFill>
                          <a:latin typeface="Calibri"/>
                        </a:rPr>
                        <a:t>Technology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650">
                <a:tc>
                  <a:txBody>
                    <a:bodyPr wrap="none"/>
                    <a:lstStyle/>
                    <a:p>
                      <a:pPr algn="l"/>
                      <a:r>
                        <a:rPr sz="1100" b="1">
                          <a:solidFill>
                            <a:srgbClr val="2E2E2E"/>
                          </a:solidFill>
                          <a:latin typeface="Calibri"/>
                        </a:rPr>
                        <a:t>Conventional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Metal Casting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Heat-cured / Compression Processing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Injection Molding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Digital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CAD/CAM Milling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3D Printing / Additive Manufacturing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Hybrid Digital Fabrication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467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800475"/>
            <a:ext cx="11906250" cy="2828925"/>
          </a:xfrm>
          <a:prstGeom prst="roundRect">
            <a:avLst>
              <a:gd name="adj" fmla="val 26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857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Technology (%)  ·  light = lower, dark = higher growth</a:t>
            </a:r>
          </a:p>
        </p:txBody>
      </p:sp>
      <p:sp>
        <p:nvSpPr>
          <p:cNvPr id="17" name="TextBox 16"/>
          <p:cNvSpPr txBox="1"/>
          <p:nvPr/>
        </p:nvSpPr>
        <p:spPr>
          <a:xfrm>
            <a:off x="185737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4229100"/>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Conventional Fabrication</a:t>
            </a:r>
          </a:p>
        </p:txBody>
      </p:sp>
      <p:sp>
        <p:nvSpPr>
          <p:cNvPr id="33" name="Rectangle 32"/>
          <p:cNvSpPr/>
          <p:nvPr/>
        </p:nvSpPr>
        <p:spPr>
          <a:xfrm>
            <a:off x="1857375" y="4229100"/>
            <a:ext cx="643890" cy="292894"/>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4229100"/>
            <a:ext cx="643890" cy="292894"/>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4229100"/>
            <a:ext cx="643890" cy="292894"/>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4229100"/>
            <a:ext cx="643890" cy="292894"/>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4229100"/>
            <a:ext cx="643890" cy="292894"/>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4229100"/>
            <a:ext cx="643890" cy="292894"/>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4229100"/>
            <a:ext cx="643890" cy="292894"/>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4229100"/>
            <a:ext cx="643890" cy="292894"/>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4229100"/>
            <a:ext cx="643890" cy="292894"/>
          </a:xfrm>
          <a:prstGeom prst="rect">
            <a:avLst/>
          </a:prstGeom>
          <a:solidFill>
            <a:srgbClr val="388C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4229100"/>
            <a:ext cx="643890" cy="292894"/>
          </a:xfrm>
          <a:prstGeom prst="rect">
            <a:avLst/>
          </a:prstGeom>
          <a:solidFill>
            <a:srgbClr val="398C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4229100"/>
            <a:ext cx="643890" cy="292894"/>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4229100"/>
            <a:ext cx="643890" cy="292894"/>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4229100"/>
            <a:ext cx="643890" cy="292894"/>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4229100"/>
            <a:ext cx="643890" cy="292894"/>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4229100"/>
            <a:ext cx="643890" cy="292894"/>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521994"/>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Metal Casting</a:t>
            </a:r>
          </a:p>
        </p:txBody>
      </p:sp>
      <p:sp>
        <p:nvSpPr>
          <p:cNvPr id="49" name="Rectangle 48"/>
          <p:cNvSpPr/>
          <p:nvPr/>
        </p:nvSpPr>
        <p:spPr>
          <a:xfrm>
            <a:off x="1857375" y="4521994"/>
            <a:ext cx="643890" cy="292894"/>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521994"/>
            <a:ext cx="643890" cy="292894"/>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521994"/>
            <a:ext cx="643890" cy="292894"/>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521994"/>
            <a:ext cx="643890" cy="292894"/>
          </a:xfrm>
          <a:prstGeom prst="rect">
            <a:avLst/>
          </a:prstGeom>
          <a:solidFill>
            <a:srgbClr val="0E6EA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521994"/>
            <a:ext cx="643890" cy="292894"/>
          </a:xfrm>
          <a:prstGeom prst="rect">
            <a:avLst/>
          </a:prstGeom>
          <a:solidFill>
            <a:srgbClr val="0D619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521994"/>
            <a:ext cx="643890" cy="292894"/>
          </a:xfrm>
          <a:prstGeom prst="rect">
            <a:avLst/>
          </a:prstGeom>
          <a:solidFill>
            <a:srgbClr val="0D649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521994"/>
            <a:ext cx="643890" cy="292894"/>
          </a:xfrm>
          <a:prstGeom prst="rect">
            <a:avLst/>
          </a:prstGeom>
          <a:solidFill>
            <a:srgbClr val="0D669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521994"/>
            <a:ext cx="643890" cy="292894"/>
          </a:xfrm>
          <a:prstGeom prst="rect">
            <a:avLst/>
          </a:prstGeom>
          <a:solidFill>
            <a:srgbClr val="0E69A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521994"/>
            <a:ext cx="643890" cy="292894"/>
          </a:xfrm>
          <a:prstGeom prst="rect">
            <a:avLst/>
          </a:prstGeom>
          <a:solidFill>
            <a:srgbClr val="0E6CA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521994"/>
            <a:ext cx="643890" cy="292894"/>
          </a:xfrm>
          <a:prstGeom prst="rect">
            <a:avLst/>
          </a:prstGeom>
          <a:solidFill>
            <a:srgbClr val="0E6EA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521994"/>
            <a:ext cx="643890" cy="292894"/>
          </a:xfrm>
          <a:prstGeom prst="rect">
            <a:avLst/>
          </a:prstGeom>
          <a:solidFill>
            <a:srgbClr val="0E70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521994"/>
            <a:ext cx="643890" cy="292894"/>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521994"/>
            <a:ext cx="643890" cy="292894"/>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521994"/>
            <a:ext cx="643890" cy="292894"/>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521994"/>
            <a:ext cx="643890" cy="292894"/>
          </a:xfrm>
          <a:prstGeom prst="rect">
            <a:avLst/>
          </a:prstGeom>
          <a:solidFill>
            <a:srgbClr val="12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814888"/>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Heat-cured / Compression Processing</a:t>
            </a:r>
          </a:p>
        </p:txBody>
      </p:sp>
      <p:sp>
        <p:nvSpPr>
          <p:cNvPr id="65" name="Rectangle 64"/>
          <p:cNvSpPr/>
          <p:nvPr/>
        </p:nvSpPr>
        <p:spPr>
          <a:xfrm>
            <a:off x="1857375" y="4814888"/>
            <a:ext cx="643890" cy="292894"/>
          </a:xfrm>
          <a:prstGeom prst="rect">
            <a:avLst/>
          </a:prstGeom>
          <a:solidFill>
            <a:srgbClr val="0D59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814888"/>
            <a:ext cx="643890" cy="292894"/>
          </a:xfrm>
          <a:prstGeom prst="rect">
            <a:avLst/>
          </a:prstGeom>
          <a:solidFill>
            <a:srgbClr val="0C4F7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814888"/>
            <a:ext cx="643890" cy="292894"/>
          </a:xfrm>
          <a:prstGeom prst="rect">
            <a:avLst/>
          </a:prstGeom>
          <a:solidFill>
            <a:srgbClr val="0C44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814888"/>
            <a:ext cx="643890" cy="292894"/>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814888"/>
            <a:ext cx="643890" cy="29289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814888"/>
            <a:ext cx="643890" cy="292894"/>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814888"/>
            <a:ext cx="643890" cy="292894"/>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814888"/>
            <a:ext cx="643890" cy="292894"/>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814888"/>
            <a:ext cx="643890" cy="292894"/>
          </a:xfrm>
          <a:prstGeom prst="rect">
            <a:avLst/>
          </a:prstGeom>
          <a:solidFill>
            <a:srgbClr val="0C40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814888"/>
            <a:ext cx="643890" cy="292894"/>
          </a:xfrm>
          <a:prstGeom prst="rect">
            <a:avLst/>
          </a:prstGeom>
          <a:solidFill>
            <a:srgbClr val="0C44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814888"/>
            <a:ext cx="643890" cy="292894"/>
          </a:xfrm>
          <a:prstGeom prst="rect">
            <a:avLst/>
          </a:prstGeom>
          <a:solidFill>
            <a:srgbClr val="0C48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814888"/>
            <a:ext cx="643890" cy="292894"/>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814888"/>
            <a:ext cx="643890" cy="292894"/>
          </a:xfrm>
          <a:prstGeom prst="rect">
            <a:avLst/>
          </a:prstGeom>
          <a:solidFill>
            <a:srgbClr val="0C4F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814888"/>
            <a:ext cx="643890" cy="292894"/>
          </a:xfrm>
          <a:prstGeom prst="rect">
            <a:avLst/>
          </a:prstGeom>
          <a:solidFill>
            <a:srgbClr val="0D53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814888"/>
            <a:ext cx="643890" cy="292894"/>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107781"/>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Injection Molding</a:t>
            </a:r>
          </a:p>
        </p:txBody>
      </p:sp>
      <p:sp>
        <p:nvSpPr>
          <p:cNvPr id="81" name="Rectangle 80"/>
          <p:cNvSpPr/>
          <p:nvPr/>
        </p:nvSpPr>
        <p:spPr>
          <a:xfrm>
            <a:off x="1857375" y="5107781"/>
            <a:ext cx="643890" cy="292894"/>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107781"/>
            <a:ext cx="643890" cy="292894"/>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107781"/>
            <a:ext cx="643890" cy="292894"/>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107781"/>
            <a:ext cx="643890" cy="292894"/>
          </a:xfrm>
          <a:prstGeom prst="rect">
            <a:avLst/>
          </a:prstGeom>
          <a:solidFill>
            <a:srgbClr val="B7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107781"/>
            <a:ext cx="643890" cy="29289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107781"/>
            <a:ext cx="643890" cy="29289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107781"/>
            <a:ext cx="643890" cy="29289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107781"/>
            <a:ext cx="643890" cy="292894"/>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107781"/>
            <a:ext cx="643890" cy="292894"/>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107781"/>
            <a:ext cx="643890" cy="292894"/>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107781"/>
            <a:ext cx="643890" cy="292894"/>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107781"/>
            <a:ext cx="643890" cy="292894"/>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107781"/>
            <a:ext cx="643890" cy="292894"/>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107781"/>
            <a:ext cx="643890" cy="292894"/>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107781"/>
            <a:ext cx="643890" cy="292894"/>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400675"/>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Digital Fabrication</a:t>
            </a:r>
          </a:p>
        </p:txBody>
      </p:sp>
      <p:sp>
        <p:nvSpPr>
          <p:cNvPr id="97" name="Rectangle 96"/>
          <p:cNvSpPr/>
          <p:nvPr/>
        </p:nvSpPr>
        <p:spPr>
          <a:xfrm>
            <a:off x="1857375" y="5400675"/>
            <a:ext cx="643890" cy="292894"/>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400675"/>
            <a:ext cx="643890" cy="292894"/>
          </a:xfrm>
          <a:prstGeom prst="rect">
            <a:avLst/>
          </a:prstGeom>
          <a:solidFill>
            <a:srgbClr val="E1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400675"/>
            <a:ext cx="643890" cy="292894"/>
          </a:xfrm>
          <a:prstGeom prst="rect">
            <a:avLst/>
          </a:prstGeom>
          <a:solidFill>
            <a:srgbClr val="DC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400675"/>
            <a:ext cx="643890" cy="292894"/>
          </a:xfrm>
          <a:prstGeom prst="rect">
            <a:avLst/>
          </a:prstGeom>
          <a:solidFill>
            <a:srgbClr val="D7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400675"/>
            <a:ext cx="643890" cy="292894"/>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400675"/>
            <a:ext cx="643890" cy="292894"/>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400675"/>
            <a:ext cx="643890" cy="292894"/>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400675"/>
            <a:ext cx="643890" cy="292894"/>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400675"/>
            <a:ext cx="643890" cy="292894"/>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400675"/>
            <a:ext cx="643890" cy="292894"/>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400675"/>
            <a:ext cx="643890" cy="292894"/>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400675"/>
            <a:ext cx="643890" cy="292894"/>
          </a:xfrm>
          <a:prstGeom prst="rect">
            <a:avLst/>
          </a:prstGeom>
          <a:solidFill>
            <a:srgbClr val="D7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400675"/>
            <a:ext cx="643890" cy="292894"/>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400675"/>
            <a:ext cx="643890" cy="292894"/>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400675"/>
            <a:ext cx="643890" cy="292894"/>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693569"/>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CAD/CAM Milling</a:t>
            </a:r>
          </a:p>
        </p:txBody>
      </p:sp>
      <p:sp>
        <p:nvSpPr>
          <p:cNvPr id="113" name="Rectangle 112"/>
          <p:cNvSpPr/>
          <p:nvPr/>
        </p:nvSpPr>
        <p:spPr>
          <a:xfrm>
            <a:off x="1857375" y="5693569"/>
            <a:ext cx="643890" cy="29289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5693569"/>
            <a:ext cx="643890" cy="292894"/>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5693569"/>
            <a:ext cx="643890" cy="292894"/>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5693569"/>
            <a:ext cx="643890" cy="292894"/>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5693569"/>
            <a:ext cx="643890" cy="292894"/>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5693569"/>
            <a:ext cx="643890" cy="292894"/>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5693569"/>
            <a:ext cx="643890" cy="292894"/>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5693569"/>
            <a:ext cx="643890" cy="292894"/>
          </a:xfrm>
          <a:prstGeom prst="rect">
            <a:avLst/>
          </a:prstGeom>
          <a:solidFill>
            <a:srgbClr val="C1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5693569"/>
            <a:ext cx="643890" cy="292894"/>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5693569"/>
            <a:ext cx="643890" cy="292894"/>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5693569"/>
            <a:ext cx="643890" cy="292894"/>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5693569"/>
            <a:ext cx="643890" cy="29289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5693569"/>
            <a:ext cx="643890" cy="29289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5693569"/>
            <a:ext cx="643890" cy="292894"/>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5693569"/>
            <a:ext cx="643890" cy="292894"/>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5986462"/>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3D Printing / Additive Manufacturing</a:t>
            </a:r>
          </a:p>
        </p:txBody>
      </p:sp>
      <p:sp>
        <p:nvSpPr>
          <p:cNvPr id="129" name="Rectangle 128"/>
          <p:cNvSpPr/>
          <p:nvPr/>
        </p:nvSpPr>
        <p:spPr>
          <a:xfrm>
            <a:off x="1857375" y="5986462"/>
            <a:ext cx="643890" cy="292894"/>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501265" y="5986462"/>
            <a:ext cx="643890" cy="292894"/>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145155" y="5986462"/>
            <a:ext cx="643890" cy="292894"/>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789045" y="5986462"/>
            <a:ext cx="643890" cy="292894"/>
          </a:xfrm>
          <a:prstGeom prst="rect">
            <a:avLst/>
          </a:prstGeom>
          <a:solidFill>
            <a:srgbClr val="B1CF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432935" y="5986462"/>
            <a:ext cx="643890" cy="29289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076825" y="5986462"/>
            <a:ext cx="643890" cy="29289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720715" y="5986462"/>
            <a:ext cx="643890" cy="29289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364605" y="5986462"/>
            <a:ext cx="643890" cy="29289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008495" y="5986462"/>
            <a:ext cx="643890" cy="29289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652385" y="5986462"/>
            <a:ext cx="643890" cy="29289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96275" y="5986462"/>
            <a:ext cx="643890" cy="29289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40165" y="5986462"/>
            <a:ext cx="643890" cy="29289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84055" y="5986462"/>
            <a:ext cx="643890" cy="29289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27945" y="5986462"/>
            <a:ext cx="643890" cy="29289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71835" y="5986462"/>
            <a:ext cx="643890" cy="29289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238125" y="6279356"/>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Hybrid Digital Fabrication</a:t>
            </a:r>
          </a:p>
        </p:txBody>
      </p:sp>
      <p:sp>
        <p:nvSpPr>
          <p:cNvPr id="145" name="Rectangle 144"/>
          <p:cNvSpPr/>
          <p:nvPr/>
        </p:nvSpPr>
        <p:spPr>
          <a:xfrm>
            <a:off x="1857375" y="6279356"/>
            <a:ext cx="643890" cy="292894"/>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2501265" y="6279356"/>
            <a:ext cx="643890" cy="292894"/>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3145155" y="6279356"/>
            <a:ext cx="643890" cy="292894"/>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3789045" y="6279356"/>
            <a:ext cx="643890" cy="29289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4432935" y="6279356"/>
            <a:ext cx="643890" cy="292894"/>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5076825" y="6279356"/>
            <a:ext cx="643890" cy="29289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5720715" y="6279356"/>
            <a:ext cx="643890" cy="29289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6364605" y="6279356"/>
            <a:ext cx="643890" cy="292894"/>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7008495" y="6279356"/>
            <a:ext cx="643890" cy="292894"/>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7652385" y="6279356"/>
            <a:ext cx="643890" cy="29289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8296275" y="6279356"/>
            <a:ext cx="643890" cy="292894"/>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8940165" y="6279356"/>
            <a:ext cx="643890" cy="292894"/>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9584055" y="6279356"/>
            <a:ext cx="643890" cy="292894"/>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0227945" y="6279356"/>
            <a:ext cx="643890" cy="292894"/>
          </a:xfrm>
          <a:prstGeom prst="rect">
            <a:avLst/>
          </a:prstGeom>
          <a:solidFill>
            <a:srgbClr val="FC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0871835" y="6279356"/>
            <a:ext cx="643890" cy="29289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4267200"/>
            <a:ext cx="104775" cy="6429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4323874"/>
            <a:ext cx="104775" cy="64294"/>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4380548"/>
            <a:ext cx="104775" cy="64294"/>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4437221"/>
            <a:ext cx="104775" cy="64294"/>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4493895"/>
            <a:ext cx="104775" cy="64294"/>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4550569"/>
            <a:ext cx="104775" cy="64294"/>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4607242"/>
            <a:ext cx="104775" cy="64294"/>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4663916"/>
            <a:ext cx="104775" cy="64294"/>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4720590"/>
            <a:ext cx="104775" cy="64294"/>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4777264"/>
            <a:ext cx="104775" cy="64294"/>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4833938"/>
            <a:ext cx="104775" cy="64294"/>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4890611"/>
            <a:ext cx="104775" cy="64294"/>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4947285"/>
            <a:ext cx="104775" cy="64294"/>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5003959"/>
            <a:ext cx="104775" cy="64294"/>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5060632"/>
            <a:ext cx="104775" cy="64294"/>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5117306"/>
            <a:ext cx="104775" cy="64294"/>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5173980"/>
            <a:ext cx="104775" cy="64294"/>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5230654"/>
            <a:ext cx="104775" cy="64294"/>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5287328"/>
            <a:ext cx="104775" cy="64294"/>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5344001"/>
            <a:ext cx="104775" cy="64294"/>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5400675"/>
            <a:ext cx="104775" cy="64294"/>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5457349"/>
            <a:ext cx="104775" cy="64294"/>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5514022"/>
            <a:ext cx="104775" cy="64294"/>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5570696"/>
            <a:ext cx="104775" cy="64294"/>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5627370"/>
            <a:ext cx="104775" cy="64294"/>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1572875" y="5684044"/>
            <a:ext cx="104775" cy="64294"/>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1572875" y="5740718"/>
            <a:ext cx="104775" cy="64294"/>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Rectangle 186"/>
          <p:cNvSpPr/>
          <p:nvPr/>
        </p:nvSpPr>
        <p:spPr>
          <a:xfrm>
            <a:off x="11572875" y="5797391"/>
            <a:ext cx="104775" cy="64294"/>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Rectangle 187"/>
          <p:cNvSpPr/>
          <p:nvPr/>
        </p:nvSpPr>
        <p:spPr>
          <a:xfrm>
            <a:off x="11572875" y="5854065"/>
            <a:ext cx="104775" cy="64294"/>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11572875" y="5910739"/>
            <a:ext cx="104775" cy="64294"/>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11572875" y="5967412"/>
            <a:ext cx="104775" cy="64294"/>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11572875" y="6024086"/>
            <a:ext cx="104775" cy="64294"/>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11572875" y="6080760"/>
            <a:ext cx="104775" cy="64294"/>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11572875" y="6137434"/>
            <a:ext cx="104775" cy="64294"/>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11572875" y="6194108"/>
            <a:ext cx="104775" cy="64294"/>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11572875" y="6250781"/>
            <a:ext cx="104775" cy="64294"/>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11572875" y="6307455"/>
            <a:ext cx="104775" cy="64294"/>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11572875" y="6364129"/>
            <a:ext cx="104775" cy="64294"/>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11572875" y="6420802"/>
            <a:ext cx="104775" cy="64294"/>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11572875" y="6477476"/>
            <a:ext cx="104775" cy="64294"/>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11572875" y="4267200"/>
            <a:ext cx="104775" cy="22669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TextBox 200"/>
          <p:cNvSpPr txBox="1"/>
          <p:nvPr/>
        </p:nvSpPr>
        <p:spPr>
          <a:xfrm>
            <a:off x="11687175" y="4200525"/>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202" name="TextBox 201"/>
          <p:cNvSpPr txBox="1"/>
          <p:nvPr/>
        </p:nvSpPr>
        <p:spPr>
          <a:xfrm>
            <a:off x="11687175" y="533400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203" name="TextBox 20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1%</a:t>
            </a:r>
          </a:p>
        </p:txBody>
      </p:sp>
      <p:sp>
        <p:nvSpPr>
          <p:cNvPr id="204" name="TextBox 20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5" name="Picture 204" descr="lock.png"/>
          <p:cNvPicPr>
            <a:picLocks noChangeAspect="1"/>
          </p:cNvPicPr>
          <p:nvPr/>
        </p:nvPicPr>
        <p:blipFill>
          <a:blip r:embed="rId4"/>
          <a:stretch>
            <a:fillRect/>
          </a:stretch>
        </p:blipFill>
        <p:spPr>
          <a:xfrm>
            <a:off x="7246762" y="2204276"/>
            <a:ext cx="366712" cy="533399"/>
          </a:xfrm>
          <a:prstGeom prst="rect">
            <a:avLst/>
          </a:prstGeom>
        </p:spPr>
      </p:pic>
    </p:spTree>
  </p:cSld>
  <p:clrMapOvr>
    <a:masterClrMapping/>
  </p:clrMapOvr>
</p:sld>
</file>

<file path=ppt/slides/slide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Technology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Technology,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2219326"/>
        </p:xfrm>
        <a:graphic>
          <a:graphicData uri="http://schemas.openxmlformats.org/drawingml/2006/table">
            <a:tbl>
              <a:tblPr>
                <a:tableStyleId>{5C22544A-7EE6-4342-B048-85BDC9FD1C3A}</a:tableStyleId>
              </a:tblPr>
              <a:tblGrid>
                <a:gridCol w="2674905"/>
                <a:gridCol w="614153"/>
                <a:gridCol w="614153"/>
                <a:gridCol w="614153"/>
                <a:gridCol w="614153"/>
                <a:gridCol w="614153"/>
                <a:gridCol w="614153"/>
                <a:gridCol w="614153"/>
                <a:gridCol w="614153"/>
                <a:gridCol w="614153"/>
                <a:gridCol w="614153"/>
                <a:gridCol w="614153"/>
                <a:gridCol w="614153"/>
                <a:gridCol w="614153"/>
                <a:gridCol w="614153"/>
                <a:gridCol w="614153"/>
              </a:tblGrid>
              <a:tr h="246126">
                <a:tc>
                  <a:txBody>
                    <a:bodyPr wrap="none"/>
                    <a:lstStyle/>
                    <a:p>
                      <a:pPr algn="l"/>
                      <a:r>
                        <a:rPr sz="1100" b="1">
                          <a:solidFill>
                            <a:srgbClr val="0B2E4A"/>
                          </a:solidFill>
                          <a:latin typeface="Calibri"/>
                        </a:rPr>
                        <a:t>Technology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650">
                <a:tc>
                  <a:txBody>
                    <a:bodyPr wrap="none"/>
                    <a:lstStyle/>
                    <a:p>
                      <a:pPr algn="l"/>
                      <a:r>
                        <a:rPr sz="1100" b="1">
                          <a:solidFill>
                            <a:srgbClr val="2E2E2E"/>
                          </a:solidFill>
                          <a:latin typeface="Calibri"/>
                        </a:rPr>
                        <a:t>Conventional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Metal Casting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Heat-cured / Compression Processing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Injection Molding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Digital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CAD/CAM Milling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3D Printing / Additive Manufacturing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Hybrid Digital Fabrication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467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800475"/>
            <a:ext cx="11906250" cy="2828925"/>
          </a:xfrm>
          <a:prstGeom prst="roundRect">
            <a:avLst>
              <a:gd name="adj" fmla="val 26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857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Technology (%)  ·  light = lower, dark = higher growth</a:t>
            </a:r>
          </a:p>
        </p:txBody>
      </p:sp>
      <p:sp>
        <p:nvSpPr>
          <p:cNvPr id="17" name="TextBox 16"/>
          <p:cNvSpPr txBox="1"/>
          <p:nvPr/>
        </p:nvSpPr>
        <p:spPr>
          <a:xfrm>
            <a:off x="185737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4229100"/>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Conventional Fabrication</a:t>
            </a:r>
          </a:p>
        </p:txBody>
      </p:sp>
      <p:sp>
        <p:nvSpPr>
          <p:cNvPr id="33" name="Rectangle 32"/>
          <p:cNvSpPr/>
          <p:nvPr/>
        </p:nvSpPr>
        <p:spPr>
          <a:xfrm>
            <a:off x="1857375" y="4229100"/>
            <a:ext cx="643890" cy="292894"/>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4229100"/>
            <a:ext cx="643890" cy="292894"/>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4229100"/>
            <a:ext cx="643890" cy="292894"/>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4229100"/>
            <a:ext cx="643890" cy="292894"/>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4229100"/>
            <a:ext cx="643890" cy="292894"/>
          </a:xfrm>
          <a:prstGeom prst="rect">
            <a:avLst/>
          </a:prstGeom>
          <a:solidFill>
            <a:srgbClr val="46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4229100"/>
            <a:ext cx="643890" cy="292894"/>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4229100"/>
            <a:ext cx="643890" cy="292894"/>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4229100"/>
            <a:ext cx="643890" cy="292894"/>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4229100"/>
            <a:ext cx="643890" cy="292894"/>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4229100"/>
            <a:ext cx="643890" cy="292894"/>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4229100"/>
            <a:ext cx="643890" cy="292894"/>
          </a:xfrm>
          <a:prstGeom prst="rect">
            <a:avLst/>
          </a:prstGeom>
          <a:solidFill>
            <a:srgbClr val="47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4229100"/>
            <a:ext cx="643890" cy="292894"/>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4229100"/>
            <a:ext cx="643890" cy="292894"/>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4229100"/>
            <a:ext cx="643890" cy="292894"/>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4229100"/>
            <a:ext cx="643890" cy="292894"/>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521994"/>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Metal Casting</a:t>
            </a:r>
          </a:p>
        </p:txBody>
      </p:sp>
      <p:sp>
        <p:nvSpPr>
          <p:cNvPr id="49" name="Rectangle 48"/>
          <p:cNvSpPr/>
          <p:nvPr/>
        </p:nvSpPr>
        <p:spPr>
          <a:xfrm>
            <a:off x="1857375" y="4521994"/>
            <a:ext cx="643890" cy="292894"/>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521994"/>
            <a:ext cx="643890" cy="292894"/>
          </a:xfrm>
          <a:prstGeom prst="rect">
            <a:avLst/>
          </a:prstGeom>
          <a:solidFill>
            <a:srgbClr val="1C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521994"/>
            <a:ext cx="643890" cy="292894"/>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521994"/>
            <a:ext cx="643890" cy="292894"/>
          </a:xfrm>
          <a:prstGeom prst="rect">
            <a:avLst/>
          </a:prstGeom>
          <a:solidFill>
            <a:srgbClr val="0E6F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521994"/>
            <a:ext cx="643890" cy="292894"/>
          </a:xfrm>
          <a:prstGeom prst="rect">
            <a:avLst/>
          </a:prstGeom>
          <a:solidFill>
            <a:srgbClr val="0D619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521994"/>
            <a:ext cx="643890" cy="292894"/>
          </a:xfrm>
          <a:prstGeom prst="rect">
            <a:avLst/>
          </a:prstGeom>
          <a:solidFill>
            <a:srgbClr val="0D65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521994"/>
            <a:ext cx="643890" cy="292894"/>
          </a:xfrm>
          <a:prstGeom prst="rect">
            <a:avLst/>
          </a:prstGeom>
          <a:solidFill>
            <a:srgbClr val="0E679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521994"/>
            <a:ext cx="643890" cy="292894"/>
          </a:xfrm>
          <a:prstGeom prst="rect">
            <a:avLst/>
          </a:prstGeom>
          <a:solidFill>
            <a:srgbClr val="0E69A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521994"/>
            <a:ext cx="643890" cy="292894"/>
          </a:xfrm>
          <a:prstGeom prst="rect">
            <a:avLst/>
          </a:prstGeom>
          <a:solidFill>
            <a:srgbClr val="0E6CA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521994"/>
            <a:ext cx="643890" cy="292894"/>
          </a:xfrm>
          <a:prstGeom prst="rect">
            <a:avLst/>
          </a:prstGeom>
          <a:solidFill>
            <a:srgbClr val="0E6F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521994"/>
            <a:ext cx="643890" cy="292894"/>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521994"/>
            <a:ext cx="643890" cy="292894"/>
          </a:xfrm>
          <a:prstGeom prst="rect">
            <a:avLst/>
          </a:prstGeom>
          <a:solidFill>
            <a:srgbClr val="0F73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521994"/>
            <a:ext cx="643890" cy="292894"/>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521994"/>
            <a:ext cx="643890" cy="292894"/>
          </a:xfrm>
          <a:prstGeom prst="rect">
            <a:avLst/>
          </a:prstGeom>
          <a:solidFill>
            <a:srgbClr val="11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521994"/>
            <a:ext cx="643890" cy="292894"/>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814888"/>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Heat-cured / Compression Processing</a:t>
            </a:r>
          </a:p>
        </p:txBody>
      </p:sp>
      <p:sp>
        <p:nvSpPr>
          <p:cNvPr id="65" name="Rectangle 64"/>
          <p:cNvSpPr/>
          <p:nvPr/>
        </p:nvSpPr>
        <p:spPr>
          <a:xfrm>
            <a:off x="1857375" y="4814888"/>
            <a:ext cx="643890" cy="292894"/>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814888"/>
            <a:ext cx="643890" cy="292894"/>
          </a:xfrm>
          <a:prstGeom prst="rect">
            <a:avLst/>
          </a:prstGeom>
          <a:solidFill>
            <a:srgbClr val="0C4E7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814888"/>
            <a:ext cx="643890" cy="292894"/>
          </a:xfrm>
          <a:prstGeom prst="rect">
            <a:avLst/>
          </a:prstGeom>
          <a:solidFill>
            <a:srgbClr val="0C44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814888"/>
            <a:ext cx="643890" cy="292894"/>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814888"/>
            <a:ext cx="643890" cy="29289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814888"/>
            <a:ext cx="643890" cy="292894"/>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814888"/>
            <a:ext cx="643890" cy="292894"/>
          </a:xfrm>
          <a:prstGeom prst="rect">
            <a:avLst/>
          </a:prstGeom>
          <a:solidFill>
            <a:srgbClr val="0B37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814888"/>
            <a:ext cx="643890" cy="292894"/>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814888"/>
            <a:ext cx="643890" cy="292894"/>
          </a:xfrm>
          <a:prstGeom prst="rect">
            <a:avLst/>
          </a:prstGeom>
          <a:solidFill>
            <a:srgbClr val="0C40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814888"/>
            <a:ext cx="643890" cy="292894"/>
          </a:xfrm>
          <a:prstGeom prst="rect">
            <a:avLst/>
          </a:prstGeom>
          <a:solidFill>
            <a:srgbClr val="0C44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814888"/>
            <a:ext cx="643890" cy="292894"/>
          </a:xfrm>
          <a:prstGeom prst="rect">
            <a:avLst/>
          </a:prstGeom>
          <a:solidFill>
            <a:srgbClr val="0C48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814888"/>
            <a:ext cx="643890" cy="292894"/>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814888"/>
            <a:ext cx="643890" cy="292894"/>
          </a:xfrm>
          <a:prstGeom prst="rect">
            <a:avLst/>
          </a:prstGeom>
          <a:solidFill>
            <a:srgbClr val="0C50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814888"/>
            <a:ext cx="643890" cy="292894"/>
          </a:xfrm>
          <a:prstGeom prst="rect">
            <a:avLst/>
          </a:prstGeom>
          <a:solidFill>
            <a:srgbClr val="0D53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814888"/>
            <a:ext cx="643890" cy="292894"/>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107781"/>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Injection Molding</a:t>
            </a:r>
          </a:p>
        </p:txBody>
      </p:sp>
      <p:sp>
        <p:nvSpPr>
          <p:cNvPr id="81" name="Rectangle 80"/>
          <p:cNvSpPr/>
          <p:nvPr/>
        </p:nvSpPr>
        <p:spPr>
          <a:xfrm>
            <a:off x="1857375" y="5107781"/>
            <a:ext cx="643890" cy="292894"/>
          </a:xfrm>
          <a:prstGeom prst="rect">
            <a:avLst/>
          </a:prstGeom>
          <a:solidFill>
            <a:srgbClr val="CF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107781"/>
            <a:ext cx="643890" cy="292894"/>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107781"/>
            <a:ext cx="643890" cy="292894"/>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107781"/>
            <a:ext cx="643890" cy="292894"/>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107781"/>
            <a:ext cx="643890" cy="292894"/>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107781"/>
            <a:ext cx="643890" cy="292894"/>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107781"/>
            <a:ext cx="643890" cy="292894"/>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107781"/>
            <a:ext cx="643890" cy="29289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107781"/>
            <a:ext cx="643890" cy="29289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107781"/>
            <a:ext cx="643890" cy="29289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107781"/>
            <a:ext cx="643890" cy="292894"/>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107781"/>
            <a:ext cx="643890" cy="292894"/>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107781"/>
            <a:ext cx="643890" cy="292894"/>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107781"/>
            <a:ext cx="643890" cy="292894"/>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107781"/>
            <a:ext cx="643890" cy="292894"/>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400675"/>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Digital Fabrication</a:t>
            </a:r>
          </a:p>
        </p:txBody>
      </p:sp>
      <p:sp>
        <p:nvSpPr>
          <p:cNvPr id="97" name="Rectangle 96"/>
          <p:cNvSpPr/>
          <p:nvPr/>
        </p:nvSpPr>
        <p:spPr>
          <a:xfrm>
            <a:off x="1857375" y="5400675"/>
            <a:ext cx="643890" cy="292894"/>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400675"/>
            <a:ext cx="643890" cy="292894"/>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400675"/>
            <a:ext cx="643890" cy="292894"/>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400675"/>
            <a:ext cx="643890" cy="292894"/>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400675"/>
            <a:ext cx="643890" cy="292894"/>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400675"/>
            <a:ext cx="643890" cy="29289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400675"/>
            <a:ext cx="643890" cy="292894"/>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400675"/>
            <a:ext cx="643890" cy="292894"/>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400675"/>
            <a:ext cx="643890" cy="292894"/>
          </a:xfrm>
          <a:prstGeom prst="rect">
            <a:avLst/>
          </a:prstGeom>
          <a:solidFill>
            <a:srgbClr val="CF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400675"/>
            <a:ext cx="643890" cy="292894"/>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400675"/>
            <a:ext cx="643890" cy="292894"/>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400675"/>
            <a:ext cx="643890" cy="292894"/>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400675"/>
            <a:ext cx="643890" cy="292894"/>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400675"/>
            <a:ext cx="643890" cy="292894"/>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400675"/>
            <a:ext cx="643890" cy="292894"/>
          </a:xfrm>
          <a:prstGeom prst="rect">
            <a:avLst/>
          </a:prstGeom>
          <a:solidFill>
            <a:srgbClr val="D3E4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693569"/>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CAD/CAM Milling</a:t>
            </a:r>
          </a:p>
        </p:txBody>
      </p:sp>
      <p:sp>
        <p:nvSpPr>
          <p:cNvPr id="113" name="Rectangle 112"/>
          <p:cNvSpPr/>
          <p:nvPr/>
        </p:nvSpPr>
        <p:spPr>
          <a:xfrm>
            <a:off x="1857375" y="5693569"/>
            <a:ext cx="643890" cy="292894"/>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5693569"/>
            <a:ext cx="643890" cy="292894"/>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5693569"/>
            <a:ext cx="643890" cy="292894"/>
          </a:xfrm>
          <a:prstGeom prst="rect">
            <a:avLst/>
          </a:prstGeom>
          <a:solidFill>
            <a:srgbClr val="CF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5693569"/>
            <a:ext cx="643890" cy="292894"/>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5693569"/>
            <a:ext cx="643890" cy="292894"/>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5693569"/>
            <a:ext cx="643890" cy="292894"/>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5693569"/>
            <a:ext cx="643890" cy="292894"/>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5693569"/>
            <a:ext cx="643890" cy="292894"/>
          </a:xfrm>
          <a:prstGeom prst="rect">
            <a:avLst/>
          </a:prstGeom>
          <a:solidFill>
            <a:srgbClr val="C1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5693569"/>
            <a:ext cx="643890" cy="292894"/>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5693569"/>
            <a:ext cx="643890" cy="292894"/>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5693569"/>
            <a:ext cx="643890" cy="292894"/>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5693569"/>
            <a:ext cx="643890" cy="29289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5693569"/>
            <a:ext cx="643890" cy="29289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5693569"/>
            <a:ext cx="643890" cy="292894"/>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5693569"/>
            <a:ext cx="643890" cy="292894"/>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5986462"/>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3D Printing / Additive Manufacturing</a:t>
            </a:r>
          </a:p>
        </p:txBody>
      </p:sp>
      <p:sp>
        <p:nvSpPr>
          <p:cNvPr id="129" name="Rectangle 128"/>
          <p:cNvSpPr/>
          <p:nvPr/>
        </p:nvSpPr>
        <p:spPr>
          <a:xfrm>
            <a:off x="1857375" y="5986462"/>
            <a:ext cx="643890" cy="29289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501265" y="5986462"/>
            <a:ext cx="643890" cy="292894"/>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145155" y="5986462"/>
            <a:ext cx="643890" cy="292894"/>
          </a:xfrm>
          <a:prstGeom prst="rect">
            <a:avLst/>
          </a:prstGeom>
          <a:solidFill>
            <a:srgbClr val="BC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789045" y="5986462"/>
            <a:ext cx="643890" cy="292894"/>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432935" y="5986462"/>
            <a:ext cx="643890" cy="29289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076825" y="5986462"/>
            <a:ext cx="643890" cy="29289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720715" y="5986462"/>
            <a:ext cx="643890" cy="29289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364605" y="5986462"/>
            <a:ext cx="643890" cy="29289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008495" y="5986462"/>
            <a:ext cx="643890" cy="29289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652385" y="5986462"/>
            <a:ext cx="643890" cy="29289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96275" y="5986462"/>
            <a:ext cx="643890" cy="29289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40165" y="5986462"/>
            <a:ext cx="643890" cy="29289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84055" y="5986462"/>
            <a:ext cx="643890" cy="29289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27945" y="5986462"/>
            <a:ext cx="643890" cy="29289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71835" y="5986462"/>
            <a:ext cx="643890" cy="29289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238125" y="6279356"/>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Hybrid Digital Fabrication</a:t>
            </a:r>
          </a:p>
        </p:txBody>
      </p:sp>
      <p:sp>
        <p:nvSpPr>
          <p:cNvPr id="145" name="Rectangle 144"/>
          <p:cNvSpPr/>
          <p:nvPr/>
        </p:nvSpPr>
        <p:spPr>
          <a:xfrm>
            <a:off x="1857375" y="6279356"/>
            <a:ext cx="643890" cy="292894"/>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2501265" y="6279356"/>
            <a:ext cx="643890" cy="292894"/>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3145155" y="6279356"/>
            <a:ext cx="643890" cy="292894"/>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3789045" y="6279356"/>
            <a:ext cx="643890" cy="29289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4432935" y="6279356"/>
            <a:ext cx="643890" cy="292894"/>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5076825" y="6279356"/>
            <a:ext cx="643890" cy="29289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5720715" y="6279356"/>
            <a:ext cx="643890" cy="292894"/>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6364605" y="6279356"/>
            <a:ext cx="643890" cy="292894"/>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7008495" y="6279356"/>
            <a:ext cx="643890" cy="292894"/>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7652385" y="6279356"/>
            <a:ext cx="643890" cy="29289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8296275" y="6279356"/>
            <a:ext cx="643890" cy="292894"/>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8940165" y="6279356"/>
            <a:ext cx="643890" cy="292894"/>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9584055" y="6279356"/>
            <a:ext cx="643890" cy="292894"/>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0227945" y="6279356"/>
            <a:ext cx="643890" cy="292894"/>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0871835" y="6279356"/>
            <a:ext cx="643890" cy="29289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4267200"/>
            <a:ext cx="104775" cy="6429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4323874"/>
            <a:ext cx="104775" cy="64294"/>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4380548"/>
            <a:ext cx="104775" cy="64294"/>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4437221"/>
            <a:ext cx="104775" cy="64294"/>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4493895"/>
            <a:ext cx="104775" cy="64294"/>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4550569"/>
            <a:ext cx="104775" cy="64294"/>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4607242"/>
            <a:ext cx="104775" cy="64294"/>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4663916"/>
            <a:ext cx="104775" cy="64294"/>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4720590"/>
            <a:ext cx="104775" cy="64294"/>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4777264"/>
            <a:ext cx="104775" cy="64294"/>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4833938"/>
            <a:ext cx="104775" cy="64294"/>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4890611"/>
            <a:ext cx="104775" cy="64294"/>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4947285"/>
            <a:ext cx="104775" cy="64294"/>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5003959"/>
            <a:ext cx="104775" cy="64294"/>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5060632"/>
            <a:ext cx="104775" cy="64294"/>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5117306"/>
            <a:ext cx="104775" cy="64294"/>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5173980"/>
            <a:ext cx="104775" cy="64294"/>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5230654"/>
            <a:ext cx="104775" cy="64294"/>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5287328"/>
            <a:ext cx="104775" cy="64294"/>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5344001"/>
            <a:ext cx="104775" cy="64294"/>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5400675"/>
            <a:ext cx="104775" cy="64294"/>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5457349"/>
            <a:ext cx="104775" cy="64294"/>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5514022"/>
            <a:ext cx="104775" cy="64294"/>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5570696"/>
            <a:ext cx="104775" cy="64294"/>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5627370"/>
            <a:ext cx="104775" cy="64294"/>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1572875" y="5684044"/>
            <a:ext cx="104775" cy="64294"/>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1572875" y="5740718"/>
            <a:ext cx="104775" cy="64294"/>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Rectangle 186"/>
          <p:cNvSpPr/>
          <p:nvPr/>
        </p:nvSpPr>
        <p:spPr>
          <a:xfrm>
            <a:off x="11572875" y="5797391"/>
            <a:ext cx="104775" cy="64294"/>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Rectangle 187"/>
          <p:cNvSpPr/>
          <p:nvPr/>
        </p:nvSpPr>
        <p:spPr>
          <a:xfrm>
            <a:off x="11572875" y="5854065"/>
            <a:ext cx="104775" cy="64294"/>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11572875" y="5910739"/>
            <a:ext cx="104775" cy="64294"/>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11572875" y="5967412"/>
            <a:ext cx="104775" cy="64294"/>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11572875" y="6024086"/>
            <a:ext cx="104775" cy="64294"/>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11572875" y="6080760"/>
            <a:ext cx="104775" cy="64294"/>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11572875" y="6137434"/>
            <a:ext cx="104775" cy="64294"/>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11572875" y="6194108"/>
            <a:ext cx="104775" cy="64294"/>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11572875" y="6250781"/>
            <a:ext cx="104775" cy="64294"/>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11572875" y="6307455"/>
            <a:ext cx="104775" cy="64294"/>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11572875" y="6364129"/>
            <a:ext cx="104775" cy="64294"/>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11572875" y="6420802"/>
            <a:ext cx="104775" cy="64294"/>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11572875" y="6477476"/>
            <a:ext cx="104775" cy="64294"/>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11572875" y="4267200"/>
            <a:ext cx="104775" cy="22669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TextBox 200"/>
          <p:cNvSpPr txBox="1"/>
          <p:nvPr/>
        </p:nvSpPr>
        <p:spPr>
          <a:xfrm>
            <a:off x="11687175" y="4200525"/>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202" name="TextBox 201"/>
          <p:cNvSpPr txBox="1"/>
          <p:nvPr/>
        </p:nvSpPr>
        <p:spPr>
          <a:xfrm>
            <a:off x="11687175" y="533400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203" name="TextBox 20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204" name="TextBox 20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5" name="Picture 204" descr="lock.png"/>
          <p:cNvPicPr>
            <a:picLocks noChangeAspect="1"/>
          </p:cNvPicPr>
          <p:nvPr/>
        </p:nvPicPr>
        <p:blipFill>
          <a:blip r:embed="rId4"/>
          <a:stretch>
            <a:fillRect/>
          </a:stretch>
        </p:blipFill>
        <p:spPr>
          <a:xfrm>
            <a:off x="7246762" y="2204276"/>
            <a:ext cx="366712" cy="533399"/>
          </a:xfrm>
          <a:prstGeom prst="rect">
            <a:avLst/>
          </a:prstGeom>
        </p:spPr>
      </p:pic>
    </p:spTree>
  </p:cSld>
  <p:clrMapOvr>
    <a:masterClrMapping/>
  </p:clrMapOvr>
</p:sld>
</file>

<file path=ppt/slides/slide7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End User</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End User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End User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End User,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End User segment categorizes the market by end user.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Laboratories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Academic &amp; Teaching Dental Instit…</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Clinics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Hospitals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05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5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End User split shows how demand is distributed across end user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End User segment is projected to grow at a CAGR of 4.4%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4" name="Picture 63" descr="490_0_605E5C.png"/>
          <p:cNvPicPr>
            <a:picLocks noChangeAspect="1"/>
          </p:cNvPicPr>
          <p:nvPr/>
        </p:nvPicPr>
        <p:blipFill>
          <a:blip r:embed="rId4"/>
          <a:stretch>
            <a:fillRect/>
          </a:stretch>
        </p:blipFill>
        <p:spPr>
          <a:xfrm>
            <a:off x="2476330" y="2286582"/>
            <a:ext cx="1195728" cy="361950"/>
          </a:xfrm>
          <a:prstGeom prst="rect">
            <a:avLst/>
          </a:prstGeom>
        </p:spPr>
      </p:pic>
      <p:pic>
        <p:nvPicPr>
          <p:cNvPr id="65" name="Picture 64" descr="668_2_605E5C.png"/>
          <p:cNvPicPr>
            <a:picLocks noChangeAspect="1"/>
          </p:cNvPicPr>
          <p:nvPr/>
        </p:nvPicPr>
        <p:blipFill>
          <a:blip r:embed="rId5"/>
          <a:stretch>
            <a:fillRect/>
          </a:stretch>
        </p:blipFill>
        <p:spPr>
          <a:xfrm>
            <a:off x="2476330" y="2779432"/>
            <a:ext cx="1195728" cy="361950"/>
          </a:xfrm>
          <a:prstGeom prst="rect">
            <a:avLst/>
          </a:prstGeom>
        </p:spPr>
      </p:pic>
      <p:pic>
        <p:nvPicPr>
          <p:cNvPr id="66" name="Picture 65" descr="3_1__605E5C.png"/>
          <p:cNvPicPr>
            <a:picLocks noChangeAspect="1"/>
          </p:cNvPicPr>
          <p:nvPr/>
        </p:nvPicPr>
        <p:blipFill>
          <a:blip r:embed="rId6"/>
          <a:stretch>
            <a:fillRect/>
          </a:stretch>
        </p:blipFill>
        <p:spPr>
          <a:xfrm>
            <a:off x="2582976" y="3272281"/>
            <a:ext cx="982436" cy="361950"/>
          </a:xfrm>
          <a:prstGeom prst="rect">
            <a:avLst/>
          </a:prstGeom>
        </p:spPr>
      </p:pic>
      <p:pic>
        <p:nvPicPr>
          <p:cNvPr id="67" name="Picture 66" descr="413_3_605E5C.png"/>
          <p:cNvPicPr>
            <a:picLocks noChangeAspect="1"/>
          </p:cNvPicPr>
          <p:nvPr/>
        </p:nvPicPr>
        <p:blipFill>
          <a:blip r:embed="rId7"/>
          <a:stretch>
            <a:fillRect/>
          </a:stretch>
        </p:blipFill>
        <p:spPr>
          <a:xfrm>
            <a:off x="5005218" y="2286582"/>
            <a:ext cx="1195728" cy="361950"/>
          </a:xfrm>
          <a:prstGeom prst="rect">
            <a:avLst/>
          </a:prstGeom>
        </p:spPr>
      </p:pic>
      <p:pic>
        <p:nvPicPr>
          <p:cNvPr id="68" name="Picture 67" descr="684_8_605E5C.png"/>
          <p:cNvPicPr>
            <a:picLocks noChangeAspect="1"/>
          </p:cNvPicPr>
          <p:nvPr/>
        </p:nvPicPr>
        <p:blipFill>
          <a:blip r:embed="rId8"/>
          <a:stretch>
            <a:fillRect/>
          </a:stretch>
        </p:blipFill>
        <p:spPr>
          <a:xfrm>
            <a:off x="5005218" y="2779432"/>
            <a:ext cx="1195728" cy="361950"/>
          </a:xfrm>
          <a:prstGeom prst="rect">
            <a:avLst/>
          </a:prstGeom>
        </p:spPr>
      </p:pic>
      <p:pic>
        <p:nvPicPr>
          <p:cNvPr id="69" name="Picture 68" descr="5_2__605E5C.png"/>
          <p:cNvPicPr>
            <a:picLocks noChangeAspect="1"/>
          </p:cNvPicPr>
          <p:nvPr/>
        </p:nvPicPr>
        <p:blipFill>
          <a:blip r:embed="rId9"/>
          <a:stretch>
            <a:fillRect/>
          </a:stretch>
        </p:blipFill>
        <p:spPr>
          <a:xfrm>
            <a:off x="5111864" y="3272281"/>
            <a:ext cx="982436" cy="361950"/>
          </a:xfrm>
          <a:prstGeom prst="rect">
            <a:avLst/>
          </a:prstGeom>
        </p:spPr>
      </p:pic>
      <p:pic>
        <p:nvPicPr>
          <p:cNvPr id="70" name="Picture 69" descr="143_9_605E5C.png"/>
          <p:cNvPicPr>
            <a:picLocks noChangeAspect="1"/>
          </p:cNvPicPr>
          <p:nvPr/>
        </p:nvPicPr>
        <p:blipFill>
          <a:blip r:embed="rId10"/>
          <a:stretch>
            <a:fillRect/>
          </a:stretch>
        </p:blipFill>
        <p:spPr>
          <a:xfrm>
            <a:off x="7534105" y="2286582"/>
            <a:ext cx="1195728" cy="361950"/>
          </a:xfrm>
          <a:prstGeom prst="rect">
            <a:avLst/>
          </a:prstGeom>
        </p:spPr>
      </p:pic>
      <p:pic>
        <p:nvPicPr>
          <p:cNvPr id="71" name="Picture 70" descr="231_9_605E5C.png"/>
          <p:cNvPicPr>
            <a:picLocks noChangeAspect="1"/>
          </p:cNvPicPr>
          <p:nvPr/>
        </p:nvPicPr>
        <p:blipFill>
          <a:blip r:embed="rId11"/>
          <a:stretch>
            <a:fillRect/>
          </a:stretch>
        </p:blipFill>
        <p:spPr>
          <a:xfrm>
            <a:off x="7534105" y="2779432"/>
            <a:ext cx="1195728" cy="361950"/>
          </a:xfrm>
          <a:prstGeom prst="rect">
            <a:avLst/>
          </a:prstGeom>
        </p:spPr>
      </p:pic>
      <p:pic>
        <p:nvPicPr>
          <p:cNvPr id="72" name="Picture 71" descr="4_9__605E5C.png"/>
          <p:cNvPicPr>
            <a:picLocks noChangeAspect="1"/>
          </p:cNvPicPr>
          <p:nvPr/>
        </p:nvPicPr>
        <p:blipFill>
          <a:blip r:embed="rId12"/>
          <a:stretch>
            <a:fillRect/>
          </a:stretch>
        </p:blipFill>
        <p:spPr>
          <a:xfrm>
            <a:off x="7640751" y="3272281"/>
            <a:ext cx="982436" cy="361950"/>
          </a:xfrm>
          <a:prstGeom prst="rect">
            <a:avLst/>
          </a:prstGeom>
        </p:spPr>
      </p:pic>
      <p:pic>
        <p:nvPicPr>
          <p:cNvPr id="73" name="Picture 72" descr="77_9_605E5C.png"/>
          <p:cNvPicPr>
            <a:picLocks noChangeAspect="1"/>
          </p:cNvPicPr>
          <p:nvPr/>
        </p:nvPicPr>
        <p:blipFill>
          <a:blip r:embed="rId13"/>
          <a:stretch>
            <a:fillRect/>
          </a:stretch>
        </p:blipFill>
        <p:spPr>
          <a:xfrm>
            <a:off x="10169638" y="2286582"/>
            <a:ext cx="982436" cy="361950"/>
          </a:xfrm>
          <a:prstGeom prst="rect">
            <a:avLst/>
          </a:prstGeom>
        </p:spPr>
      </p:pic>
      <p:pic>
        <p:nvPicPr>
          <p:cNvPr id="74" name="Picture 73" descr="145_9_605E5C.png"/>
          <p:cNvPicPr>
            <a:picLocks noChangeAspect="1"/>
          </p:cNvPicPr>
          <p:nvPr/>
        </p:nvPicPr>
        <p:blipFill>
          <a:blip r:embed="rId14"/>
          <a:stretch>
            <a:fillRect/>
          </a:stretch>
        </p:blipFill>
        <p:spPr>
          <a:xfrm>
            <a:off x="10062992" y="2779432"/>
            <a:ext cx="1195728" cy="361950"/>
          </a:xfrm>
          <a:prstGeom prst="rect">
            <a:avLst/>
          </a:prstGeom>
        </p:spPr>
      </p:pic>
      <p:pic>
        <p:nvPicPr>
          <p:cNvPr id="75" name="Picture 74" descr="6_5__605E5C.png"/>
          <p:cNvPicPr>
            <a:picLocks noChangeAspect="1"/>
          </p:cNvPicPr>
          <p:nvPr/>
        </p:nvPicPr>
        <p:blipFill>
          <a:blip r:embed="rId15"/>
          <a:stretch>
            <a:fillRect/>
          </a:stretch>
        </p:blipFill>
        <p:spPr>
          <a:xfrm>
            <a:off x="10169638" y="3272281"/>
            <a:ext cx="982436" cy="361950"/>
          </a:xfrm>
          <a:prstGeom prst="rect">
            <a:avLst/>
          </a:prstGeom>
        </p:spPr>
      </p:pic>
      <p:pic>
        <p:nvPicPr>
          <p:cNvPr id="76" name="Picture 75" descr="lock.png"/>
          <p:cNvPicPr>
            <a:picLocks noChangeAspect="1"/>
          </p:cNvPicPr>
          <p:nvPr/>
        </p:nvPicPr>
        <p:blipFill>
          <a:blip r:embed="rId16"/>
          <a:stretch>
            <a:fillRect/>
          </a:stretch>
        </p:blipFill>
        <p:spPr>
          <a:xfrm>
            <a:off x="2980848" y="2827057"/>
            <a:ext cx="183356" cy="266700"/>
          </a:xfrm>
          <a:prstGeom prst="rect">
            <a:avLst/>
          </a:prstGeom>
        </p:spPr>
      </p:pic>
      <p:pic>
        <p:nvPicPr>
          <p:cNvPr id="77" name="Picture 76" descr="lock.png"/>
          <p:cNvPicPr>
            <a:picLocks noChangeAspect="1"/>
          </p:cNvPicPr>
          <p:nvPr/>
        </p:nvPicPr>
        <p:blipFill>
          <a:blip r:embed="rId16"/>
          <a:stretch>
            <a:fillRect/>
          </a:stretch>
        </p:blipFill>
        <p:spPr>
          <a:xfrm>
            <a:off x="5509737" y="2827057"/>
            <a:ext cx="183356" cy="266700"/>
          </a:xfrm>
          <a:prstGeom prst="rect">
            <a:avLst/>
          </a:prstGeom>
        </p:spPr>
      </p:pic>
      <p:pic>
        <p:nvPicPr>
          <p:cNvPr id="78" name="Picture 77" descr="lock.png"/>
          <p:cNvPicPr>
            <a:picLocks noChangeAspect="1"/>
          </p:cNvPicPr>
          <p:nvPr/>
        </p:nvPicPr>
        <p:blipFill>
          <a:blip r:embed="rId16"/>
          <a:stretch>
            <a:fillRect/>
          </a:stretch>
        </p:blipFill>
        <p:spPr>
          <a:xfrm>
            <a:off x="8038624" y="2827057"/>
            <a:ext cx="183356" cy="266700"/>
          </a:xfrm>
          <a:prstGeom prst="rect">
            <a:avLst/>
          </a:prstGeom>
        </p:spPr>
      </p:pic>
      <p:pic>
        <p:nvPicPr>
          <p:cNvPr id="79" name="Picture 78" descr="lock.png"/>
          <p:cNvPicPr>
            <a:picLocks noChangeAspect="1"/>
          </p:cNvPicPr>
          <p:nvPr/>
        </p:nvPicPr>
        <p:blipFill>
          <a:blip r:embed="rId16"/>
          <a:stretch>
            <a:fillRect/>
          </a:stretch>
        </p:blipFill>
        <p:spPr>
          <a:xfrm>
            <a:off x="10567511" y="2827057"/>
            <a:ext cx="183356" cy="266700"/>
          </a:xfrm>
          <a:prstGeom prst="rect">
            <a:avLst/>
          </a:prstGeom>
        </p:spPr>
      </p:pic>
      <p:sp>
        <p:nvSpPr>
          <p:cNvPr id="80" name="TextBox 79"/>
          <p:cNvSpPr txBox="1"/>
          <p:nvPr/>
        </p:nvSpPr>
        <p:spPr>
          <a:xfrm>
            <a:off x="485775" y="4229437"/>
            <a:ext cx="2914650" cy="186689"/>
          </a:xfrm>
          <a:prstGeom prst="rect">
            <a:avLst/>
          </a:prstGeom>
          <a:noFill/>
        </p:spPr>
        <p:txBody>
          <a:bodyPr wrap="none" lIns="0" rIns="0" tIns="0" bIns="0">
            <a:spAutoFit/>
          </a:bodyPr>
          <a:lstStyle/>
          <a:p>
            <a:r>
              <a:rPr sz="1100" b="0">
                <a:solidFill>
                  <a:srgbClr val="2E2E2E"/>
                </a:solidFill>
                <a:latin typeface="Calibri"/>
              </a:rPr>
              <a:t>▪ ¶ Among removable partial dentures by end user,</a:t>
            </a:r>
          </a:p>
        </p:txBody>
      </p:sp>
      <p:sp>
        <p:nvSpPr>
          <p:cNvPr id="81" name="TextBox 80"/>
          <p:cNvSpPr txBox="1"/>
          <p:nvPr/>
        </p:nvSpPr>
        <p:spPr>
          <a:xfrm>
            <a:off x="485775" y="4397077"/>
            <a:ext cx="2788344" cy="186689"/>
          </a:xfrm>
          <a:prstGeom prst="rect">
            <a:avLst/>
          </a:prstGeom>
          <a:noFill/>
        </p:spPr>
        <p:txBody>
          <a:bodyPr wrap="none" lIns="0" rIns="0" tIns="0" bIns="0">
            <a:spAutoFit/>
          </a:bodyPr>
          <a:lstStyle/>
          <a:p>
            <a:r>
              <a:rPr sz="1100" b="0">
                <a:solidFill>
                  <a:srgbClr val="2E2E2E"/>
                </a:solidFill>
                <a:latin typeface="Calibri"/>
              </a:rPr>
              <a:t>dental hospitals segment is expected to witness</a:t>
            </a:r>
          </a:p>
        </p:txBody>
      </p:sp>
      <p:sp>
        <p:nvSpPr>
          <p:cNvPr id="82" name="TextBox 81"/>
          <p:cNvSpPr txBox="1"/>
          <p:nvPr/>
        </p:nvSpPr>
        <p:spPr>
          <a:xfrm>
            <a:off x="485775" y="4564717"/>
            <a:ext cx="1212336" cy="186689"/>
          </a:xfrm>
          <a:prstGeom prst="rect">
            <a:avLst/>
          </a:prstGeom>
          <a:noFill/>
        </p:spPr>
        <p:txBody>
          <a:bodyPr wrap="none" lIns="0" rIns="0" tIns="0" bIns="0">
            <a:spAutoFit/>
          </a:bodyPr>
          <a:lstStyle/>
          <a:p>
            <a:r>
              <a:rPr sz="1100" b="0">
                <a:solidFill>
                  <a:srgbClr val="2E2E2E"/>
                </a:solidFill>
                <a:latin typeface="Calibri"/>
              </a:rPr>
              <a:t>the highest CAGR of</a:t>
            </a:r>
          </a:p>
        </p:txBody>
      </p:sp>
      <p:pic>
        <p:nvPicPr>
          <p:cNvPr id="83" name="Picture 82" descr="lock.png"/>
          <p:cNvPicPr>
            <a:picLocks noChangeAspect="1"/>
          </p:cNvPicPr>
          <p:nvPr/>
        </p:nvPicPr>
        <p:blipFill>
          <a:blip r:embed="rId16"/>
          <a:stretch>
            <a:fillRect/>
          </a:stretch>
        </p:blipFill>
        <p:spPr>
          <a:xfrm>
            <a:off x="1646163" y="4554938"/>
            <a:ext cx="128699" cy="187198"/>
          </a:xfrm>
          <a:prstGeom prst="rect">
            <a:avLst/>
          </a:prstGeom>
        </p:spPr>
      </p:pic>
      <p:sp>
        <p:nvSpPr>
          <p:cNvPr id="84" name="TextBox 83"/>
          <p:cNvSpPr txBox="1"/>
          <p:nvPr/>
        </p:nvSpPr>
        <p:spPr>
          <a:xfrm>
            <a:off x="1813659" y="4564717"/>
            <a:ext cx="1484659" cy="186689"/>
          </a:xfrm>
          <a:prstGeom prst="rect">
            <a:avLst/>
          </a:prstGeom>
          <a:noFill/>
        </p:spPr>
        <p:txBody>
          <a:bodyPr wrap="none" lIns="0" rIns="0" tIns="0" bIns="0">
            <a:spAutoFit/>
          </a:bodyPr>
          <a:lstStyle/>
          <a:p>
            <a:r>
              <a:rPr sz="1100" b="0">
                <a:solidFill>
                  <a:srgbClr val="2E2E2E"/>
                </a:solidFill>
                <a:latin typeface="Calibri"/>
              </a:rPr>
              <a:t>over the forecast period.</a:t>
            </a:r>
          </a:p>
        </p:txBody>
      </p:sp>
      <p:sp>
        <p:nvSpPr>
          <p:cNvPr id="85" name="TextBox 84"/>
          <p:cNvSpPr txBox="1"/>
          <p:nvPr/>
        </p:nvSpPr>
        <p:spPr>
          <a:xfrm>
            <a:off x="485775" y="4732357"/>
            <a:ext cx="2898849" cy="186689"/>
          </a:xfrm>
          <a:prstGeom prst="rect">
            <a:avLst/>
          </a:prstGeom>
          <a:noFill/>
        </p:spPr>
        <p:txBody>
          <a:bodyPr wrap="none" lIns="0" rIns="0" tIns="0" bIns="0">
            <a:spAutoFit/>
          </a:bodyPr>
          <a:lstStyle/>
          <a:p>
            <a:r>
              <a:rPr sz="1100" b="0">
                <a:solidFill>
                  <a:srgbClr val="2E2E2E"/>
                </a:solidFill>
                <a:latin typeface="Calibri"/>
              </a:rPr>
              <a:t>In terms of value share by end user, the academic</a:t>
            </a:r>
          </a:p>
        </p:txBody>
      </p:sp>
      <p:sp>
        <p:nvSpPr>
          <p:cNvPr id="86" name="TextBox 85"/>
          <p:cNvSpPr txBox="1"/>
          <p:nvPr/>
        </p:nvSpPr>
        <p:spPr>
          <a:xfrm>
            <a:off x="485775" y="4899997"/>
            <a:ext cx="2914650" cy="186689"/>
          </a:xfrm>
          <a:prstGeom prst="rect">
            <a:avLst/>
          </a:prstGeom>
          <a:noFill/>
        </p:spPr>
        <p:txBody>
          <a:bodyPr wrap="none" lIns="0" rIns="0" tIns="0" bIns="0">
            <a:spAutoFit/>
          </a:bodyPr>
          <a:lstStyle/>
          <a:p>
            <a:r>
              <a:rPr sz="1100" b="0">
                <a:solidFill>
                  <a:srgbClr val="2E2E2E"/>
                </a:solidFill>
                <a:latin typeface="Calibri"/>
              </a:rPr>
              <a:t>&amp; teaching dental institutions segment is expected</a:t>
            </a:r>
          </a:p>
        </p:txBody>
      </p:sp>
      <p:sp>
        <p:nvSpPr>
          <p:cNvPr id="87" name="TextBox 86"/>
          <p:cNvSpPr txBox="1"/>
          <p:nvPr/>
        </p:nvSpPr>
        <p:spPr>
          <a:xfrm>
            <a:off x="485775" y="5067637"/>
            <a:ext cx="1912763" cy="186689"/>
          </a:xfrm>
          <a:prstGeom prst="rect">
            <a:avLst/>
          </a:prstGeom>
          <a:noFill/>
        </p:spPr>
        <p:txBody>
          <a:bodyPr wrap="none" lIns="0" rIns="0" tIns="0" bIns="0">
            <a:spAutoFit/>
          </a:bodyPr>
          <a:lstStyle/>
          <a:p>
            <a:r>
              <a:rPr sz="1100" b="0">
                <a:solidFill>
                  <a:srgbClr val="2E2E2E"/>
                </a:solidFill>
                <a:latin typeface="Calibri"/>
              </a:rPr>
              <a:t>to dominate the market, gaining</a:t>
            </a:r>
          </a:p>
        </p:txBody>
      </p:sp>
      <p:pic>
        <p:nvPicPr>
          <p:cNvPr id="88" name="Picture 87" descr="lock.png"/>
          <p:cNvPicPr>
            <a:picLocks noChangeAspect="1"/>
          </p:cNvPicPr>
          <p:nvPr/>
        </p:nvPicPr>
        <p:blipFill>
          <a:blip r:embed="rId16"/>
          <a:stretch>
            <a:fillRect/>
          </a:stretch>
        </p:blipFill>
        <p:spPr>
          <a:xfrm>
            <a:off x="2346590" y="5057858"/>
            <a:ext cx="128699" cy="187198"/>
          </a:xfrm>
          <a:prstGeom prst="rect">
            <a:avLst/>
          </a:prstGeom>
        </p:spPr>
      </p:pic>
      <p:sp>
        <p:nvSpPr>
          <p:cNvPr id="89" name="TextBox 88"/>
          <p:cNvSpPr txBox="1"/>
          <p:nvPr/>
        </p:nvSpPr>
        <p:spPr>
          <a:xfrm>
            <a:off x="2514086" y="5067637"/>
            <a:ext cx="534044" cy="186689"/>
          </a:xfrm>
          <a:prstGeom prst="rect">
            <a:avLst/>
          </a:prstGeom>
          <a:noFill/>
        </p:spPr>
        <p:txBody>
          <a:bodyPr wrap="none" lIns="0" rIns="0" tIns="0" bIns="0">
            <a:spAutoFit/>
          </a:bodyPr>
          <a:lstStyle/>
          <a:p>
            <a:r>
              <a:rPr sz="1100" b="0">
                <a:solidFill>
                  <a:srgbClr val="2E2E2E"/>
                </a:solidFill>
                <a:latin typeface="Calibri"/>
              </a:rPr>
              <a:t>BPS and</a:t>
            </a:r>
          </a:p>
        </p:txBody>
      </p:sp>
      <p:sp>
        <p:nvSpPr>
          <p:cNvPr id="90" name="TextBox 89"/>
          <p:cNvSpPr txBox="1"/>
          <p:nvPr/>
        </p:nvSpPr>
        <p:spPr>
          <a:xfrm>
            <a:off x="485775" y="5235277"/>
            <a:ext cx="896937" cy="186689"/>
          </a:xfrm>
          <a:prstGeom prst="rect">
            <a:avLst/>
          </a:prstGeom>
          <a:noFill/>
        </p:spPr>
        <p:txBody>
          <a:bodyPr wrap="none" lIns="0" rIns="0" tIns="0" bIns="0">
            <a:spAutoFit/>
          </a:bodyPr>
          <a:lstStyle/>
          <a:p>
            <a:r>
              <a:rPr sz="1100" b="0">
                <a:solidFill>
                  <a:srgbClr val="2E2E2E"/>
                </a:solidFill>
                <a:latin typeface="Calibri"/>
              </a:rPr>
              <a:t>accounting for</a:t>
            </a:r>
          </a:p>
        </p:txBody>
      </p:sp>
      <p:pic>
        <p:nvPicPr>
          <p:cNvPr id="91" name="Picture 90" descr="lock.png"/>
          <p:cNvPicPr>
            <a:picLocks noChangeAspect="1"/>
          </p:cNvPicPr>
          <p:nvPr/>
        </p:nvPicPr>
        <p:blipFill>
          <a:blip r:embed="rId16"/>
          <a:stretch>
            <a:fillRect/>
          </a:stretch>
        </p:blipFill>
        <p:spPr>
          <a:xfrm>
            <a:off x="1330764" y="5225498"/>
            <a:ext cx="128699" cy="187198"/>
          </a:xfrm>
          <a:prstGeom prst="rect">
            <a:avLst/>
          </a:prstGeom>
        </p:spPr>
      </p:pic>
      <p:sp>
        <p:nvSpPr>
          <p:cNvPr id="92" name="TextBox 91"/>
          <p:cNvSpPr txBox="1"/>
          <p:nvPr/>
        </p:nvSpPr>
        <p:spPr>
          <a:xfrm>
            <a:off x="1498259" y="523527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93" name="TextBox 92"/>
          <p:cNvSpPr txBox="1"/>
          <p:nvPr/>
        </p:nvSpPr>
        <p:spPr>
          <a:xfrm>
            <a:off x="485775" y="5453209"/>
            <a:ext cx="2535411" cy="186689"/>
          </a:xfrm>
          <a:prstGeom prst="rect">
            <a:avLst/>
          </a:prstGeom>
          <a:noFill/>
        </p:spPr>
        <p:txBody>
          <a:bodyPr wrap="none" lIns="0" rIns="0" tIns="0" bIns="0">
            <a:spAutoFit/>
          </a:bodyPr>
          <a:lstStyle/>
          <a:p>
            <a:r>
              <a:rPr sz="1100" b="0">
                <a:solidFill>
                  <a:srgbClr val="2E2E2E"/>
                </a:solidFill>
                <a:latin typeface="Calibri"/>
              </a:rPr>
              <a:t>▪ ¶ Academic &amp; teaching dental institutions</a:t>
            </a:r>
          </a:p>
        </p:txBody>
      </p:sp>
      <p:sp>
        <p:nvSpPr>
          <p:cNvPr id="94" name="TextBox 93"/>
          <p:cNvSpPr txBox="1"/>
          <p:nvPr/>
        </p:nvSpPr>
        <p:spPr>
          <a:xfrm>
            <a:off x="485775" y="5620849"/>
            <a:ext cx="1886024" cy="186689"/>
          </a:xfrm>
          <a:prstGeom prst="rect">
            <a:avLst/>
          </a:prstGeom>
          <a:noFill/>
        </p:spPr>
        <p:txBody>
          <a:bodyPr wrap="none" lIns="0" rIns="0" tIns="0" bIns="0">
            <a:spAutoFit/>
          </a:bodyPr>
          <a:lstStyle/>
          <a:p>
            <a:r>
              <a:rPr sz="1100" b="0">
                <a:solidFill>
                  <a:srgbClr val="2E2E2E"/>
                </a:solidFill>
                <a:latin typeface="Calibri"/>
              </a:rPr>
              <a:t>segment is projected to register</a:t>
            </a:r>
          </a:p>
        </p:txBody>
      </p:sp>
      <p:pic>
        <p:nvPicPr>
          <p:cNvPr id="95" name="Picture 94" descr="lock.png"/>
          <p:cNvPicPr>
            <a:picLocks noChangeAspect="1"/>
          </p:cNvPicPr>
          <p:nvPr/>
        </p:nvPicPr>
        <p:blipFill>
          <a:blip r:embed="rId16"/>
          <a:stretch>
            <a:fillRect/>
          </a:stretch>
        </p:blipFill>
        <p:spPr>
          <a:xfrm>
            <a:off x="2319851" y="5611070"/>
            <a:ext cx="128699" cy="187198"/>
          </a:xfrm>
          <a:prstGeom prst="rect">
            <a:avLst/>
          </a:prstGeom>
        </p:spPr>
      </p:pic>
      <p:sp>
        <p:nvSpPr>
          <p:cNvPr id="96" name="TextBox 95"/>
          <p:cNvSpPr txBox="1"/>
          <p:nvPr/>
        </p:nvSpPr>
        <p:spPr>
          <a:xfrm>
            <a:off x="2487346" y="5620849"/>
            <a:ext cx="880293" cy="186689"/>
          </a:xfrm>
          <a:prstGeom prst="rect">
            <a:avLst/>
          </a:prstGeom>
          <a:noFill/>
        </p:spPr>
        <p:txBody>
          <a:bodyPr wrap="none" lIns="0" rIns="0" tIns="0" bIns="0">
            <a:spAutoFit/>
          </a:bodyPr>
          <a:lstStyle/>
          <a:p>
            <a:r>
              <a:rPr sz="1100" b="0">
                <a:solidFill>
                  <a:srgbClr val="2E2E2E"/>
                </a:solidFill>
                <a:latin typeface="Calibri"/>
              </a:rPr>
              <a:t>X higher value</a:t>
            </a:r>
          </a:p>
        </p:txBody>
      </p:sp>
      <p:sp>
        <p:nvSpPr>
          <p:cNvPr id="97" name="TextBox 96"/>
          <p:cNvSpPr txBox="1"/>
          <p:nvPr/>
        </p:nvSpPr>
        <p:spPr>
          <a:xfrm>
            <a:off x="485775" y="5788489"/>
            <a:ext cx="2460922" cy="186689"/>
          </a:xfrm>
          <a:prstGeom prst="rect">
            <a:avLst/>
          </a:prstGeom>
          <a:noFill/>
        </p:spPr>
        <p:txBody>
          <a:bodyPr wrap="none" lIns="0" rIns="0" tIns="0" bIns="0">
            <a:spAutoFit/>
          </a:bodyPr>
          <a:lstStyle/>
          <a:p>
            <a:r>
              <a:rPr sz="1100" b="0">
                <a:solidFill>
                  <a:srgbClr val="2E2E2E"/>
                </a:solidFill>
                <a:latin typeface="Calibri"/>
              </a:rPr>
              <a:t>than dental laboratories segment in 2036.</a:t>
            </a:r>
          </a:p>
        </p:txBody>
      </p:sp>
      <p:sp>
        <p:nvSpPr>
          <p:cNvPr id="98" name="TextBox 97"/>
          <p:cNvSpPr txBox="1"/>
          <p:nvPr/>
        </p:nvSpPr>
        <p:spPr>
          <a:xfrm>
            <a:off x="3838575" y="4229437"/>
            <a:ext cx="1350143" cy="186689"/>
          </a:xfrm>
          <a:prstGeom prst="rect">
            <a:avLst/>
          </a:prstGeom>
          <a:noFill/>
        </p:spPr>
        <p:txBody>
          <a:bodyPr wrap="none" lIns="0" rIns="0" tIns="0" bIns="0">
            <a:spAutoFit/>
          </a:bodyPr>
          <a:lstStyle/>
          <a:p>
            <a:r>
              <a:rPr sz="1100" b="0">
                <a:solidFill>
                  <a:srgbClr val="2E2E2E"/>
                </a:solidFill>
                <a:latin typeface="Calibri"/>
              </a:rPr>
              <a:t>● Dental Laboratories:</a:t>
            </a:r>
          </a:p>
        </p:txBody>
      </p:sp>
      <p:pic>
        <p:nvPicPr>
          <p:cNvPr id="99" name="Picture 98" descr="lock.png"/>
          <p:cNvPicPr>
            <a:picLocks noChangeAspect="1"/>
          </p:cNvPicPr>
          <p:nvPr/>
        </p:nvPicPr>
        <p:blipFill>
          <a:blip r:embed="rId16"/>
          <a:stretch>
            <a:fillRect/>
          </a:stretch>
        </p:blipFill>
        <p:spPr>
          <a:xfrm>
            <a:off x="5136770" y="4219658"/>
            <a:ext cx="128699" cy="187198"/>
          </a:xfrm>
          <a:prstGeom prst="rect">
            <a:avLst/>
          </a:prstGeom>
        </p:spPr>
      </p:pic>
      <p:sp>
        <p:nvSpPr>
          <p:cNvPr id="100" name="TextBox 99"/>
          <p:cNvSpPr txBox="1"/>
          <p:nvPr/>
        </p:nvSpPr>
        <p:spPr>
          <a:xfrm>
            <a:off x="5304266"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1" name="Picture 100" descr="lock.png"/>
          <p:cNvPicPr>
            <a:picLocks noChangeAspect="1"/>
          </p:cNvPicPr>
          <p:nvPr/>
        </p:nvPicPr>
        <p:blipFill>
          <a:blip r:embed="rId16"/>
          <a:stretch>
            <a:fillRect/>
          </a:stretch>
        </p:blipFill>
        <p:spPr>
          <a:xfrm>
            <a:off x="6163716" y="4219658"/>
            <a:ext cx="128699" cy="187198"/>
          </a:xfrm>
          <a:prstGeom prst="rect">
            <a:avLst/>
          </a:prstGeom>
        </p:spPr>
      </p:pic>
      <p:sp>
        <p:nvSpPr>
          <p:cNvPr id="102" name="TextBox 101"/>
          <p:cNvSpPr txBox="1"/>
          <p:nvPr/>
        </p:nvSpPr>
        <p:spPr>
          <a:xfrm>
            <a:off x="6331212"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103" name="TextBox 102"/>
          <p:cNvSpPr txBox="1"/>
          <p:nvPr/>
        </p:nvSpPr>
        <p:spPr>
          <a:xfrm>
            <a:off x="3838575" y="4447369"/>
            <a:ext cx="2531045" cy="186689"/>
          </a:xfrm>
          <a:prstGeom prst="rect">
            <a:avLst/>
          </a:prstGeom>
          <a:noFill/>
        </p:spPr>
        <p:txBody>
          <a:bodyPr wrap="none" lIns="0" rIns="0" tIns="0" bIns="0">
            <a:spAutoFit/>
          </a:bodyPr>
          <a:lstStyle/>
          <a:p>
            <a:r>
              <a:rPr sz="1100" b="0">
                <a:solidFill>
                  <a:srgbClr val="2E2E2E"/>
                </a:solidFill>
                <a:latin typeface="Calibri"/>
              </a:rPr>
              <a:t>● Academic &amp; Teaching Dental Institutions:</a:t>
            </a:r>
          </a:p>
        </p:txBody>
      </p:sp>
      <p:pic>
        <p:nvPicPr>
          <p:cNvPr id="104" name="Picture 103" descr="lock.png"/>
          <p:cNvPicPr>
            <a:picLocks noChangeAspect="1"/>
          </p:cNvPicPr>
          <p:nvPr/>
        </p:nvPicPr>
        <p:blipFill>
          <a:blip r:embed="rId16"/>
          <a:stretch>
            <a:fillRect/>
          </a:stretch>
        </p:blipFill>
        <p:spPr>
          <a:xfrm>
            <a:off x="6317672" y="4437590"/>
            <a:ext cx="128699" cy="187198"/>
          </a:xfrm>
          <a:prstGeom prst="rect">
            <a:avLst/>
          </a:prstGeom>
        </p:spPr>
      </p:pic>
      <p:sp>
        <p:nvSpPr>
          <p:cNvPr id="105" name="TextBox 104"/>
          <p:cNvSpPr txBox="1"/>
          <p:nvPr/>
        </p:nvSpPr>
        <p:spPr>
          <a:xfrm>
            <a:off x="6485167"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6" name="Picture 105" descr="lock.png"/>
          <p:cNvPicPr>
            <a:picLocks noChangeAspect="1"/>
          </p:cNvPicPr>
          <p:nvPr/>
        </p:nvPicPr>
        <p:blipFill>
          <a:blip r:embed="rId16"/>
          <a:stretch>
            <a:fillRect/>
          </a:stretch>
        </p:blipFill>
        <p:spPr>
          <a:xfrm>
            <a:off x="7344618" y="4437590"/>
            <a:ext cx="128699" cy="187198"/>
          </a:xfrm>
          <a:prstGeom prst="rect">
            <a:avLst/>
          </a:prstGeom>
        </p:spPr>
      </p:pic>
      <p:sp>
        <p:nvSpPr>
          <p:cNvPr id="107" name="TextBox 106"/>
          <p:cNvSpPr txBox="1"/>
          <p:nvPr/>
        </p:nvSpPr>
        <p:spPr>
          <a:xfrm>
            <a:off x="3838575" y="461500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08" name="TextBox 107"/>
          <p:cNvSpPr txBox="1"/>
          <p:nvPr/>
        </p:nvSpPr>
        <p:spPr>
          <a:xfrm>
            <a:off x="3838575" y="4832941"/>
            <a:ext cx="994345" cy="186689"/>
          </a:xfrm>
          <a:prstGeom prst="rect">
            <a:avLst/>
          </a:prstGeom>
          <a:noFill/>
        </p:spPr>
        <p:txBody>
          <a:bodyPr wrap="none" lIns="0" rIns="0" tIns="0" bIns="0">
            <a:spAutoFit/>
          </a:bodyPr>
          <a:lstStyle/>
          <a:p>
            <a:r>
              <a:rPr sz="1100" b="0">
                <a:solidFill>
                  <a:srgbClr val="2E2E2E"/>
                </a:solidFill>
                <a:latin typeface="Calibri"/>
              </a:rPr>
              <a:t>● Dental Clinics:</a:t>
            </a:r>
          </a:p>
        </p:txBody>
      </p:sp>
      <p:pic>
        <p:nvPicPr>
          <p:cNvPr id="109" name="Picture 108" descr="lock.png"/>
          <p:cNvPicPr>
            <a:picLocks noChangeAspect="1"/>
          </p:cNvPicPr>
          <p:nvPr/>
        </p:nvPicPr>
        <p:blipFill>
          <a:blip r:embed="rId16"/>
          <a:stretch>
            <a:fillRect/>
          </a:stretch>
        </p:blipFill>
        <p:spPr>
          <a:xfrm>
            <a:off x="4780972" y="4823162"/>
            <a:ext cx="128699" cy="187198"/>
          </a:xfrm>
          <a:prstGeom prst="rect">
            <a:avLst/>
          </a:prstGeom>
        </p:spPr>
      </p:pic>
      <p:sp>
        <p:nvSpPr>
          <p:cNvPr id="110" name="TextBox 109"/>
          <p:cNvSpPr txBox="1"/>
          <p:nvPr/>
        </p:nvSpPr>
        <p:spPr>
          <a:xfrm>
            <a:off x="4948467" y="483294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1" name="Picture 110" descr="lock.png"/>
          <p:cNvPicPr>
            <a:picLocks noChangeAspect="1"/>
          </p:cNvPicPr>
          <p:nvPr/>
        </p:nvPicPr>
        <p:blipFill>
          <a:blip r:embed="rId16"/>
          <a:stretch>
            <a:fillRect/>
          </a:stretch>
        </p:blipFill>
        <p:spPr>
          <a:xfrm>
            <a:off x="5807918" y="4823162"/>
            <a:ext cx="128699" cy="187198"/>
          </a:xfrm>
          <a:prstGeom prst="rect">
            <a:avLst/>
          </a:prstGeom>
        </p:spPr>
      </p:pic>
      <p:sp>
        <p:nvSpPr>
          <p:cNvPr id="112" name="TextBox 111"/>
          <p:cNvSpPr txBox="1"/>
          <p:nvPr/>
        </p:nvSpPr>
        <p:spPr>
          <a:xfrm>
            <a:off x="5975413" y="483294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13" name="TextBox 112"/>
          <p:cNvSpPr txBox="1"/>
          <p:nvPr/>
        </p:nvSpPr>
        <p:spPr>
          <a:xfrm>
            <a:off x="3838575" y="5050872"/>
            <a:ext cx="1157510" cy="186689"/>
          </a:xfrm>
          <a:prstGeom prst="rect">
            <a:avLst/>
          </a:prstGeom>
          <a:noFill/>
        </p:spPr>
        <p:txBody>
          <a:bodyPr wrap="none" lIns="0" rIns="0" tIns="0" bIns="0">
            <a:spAutoFit/>
          </a:bodyPr>
          <a:lstStyle/>
          <a:p>
            <a:r>
              <a:rPr sz="1100" b="0">
                <a:solidFill>
                  <a:srgbClr val="2E2E2E"/>
                </a:solidFill>
                <a:latin typeface="Calibri"/>
              </a:rPr>
              <a:t>● Dental Hospitals:</a:t>
            </a:r>
          </a:p>
        </p:txBody>
      </p:sp>
      <p:pic>
        <p:nvPicPr>
          <p:cNvPr id="114" name="Picture 113" descr="lock.png"/>
          <p:cNvPicPr>
            <a:picLocks noChangeAspect="1"/>
          </p:cNvPicPr>
          <p:nvPr/>
        </p:nvPicPr>
        <p:blipFill>
          <a:blip r:embed="rId16"/>
          <a:stretch>
            <a:fillRect/>
          </a:stretch>
        </p:blipFill>
        <p:spPr>
          <a:xfrm>
            <a:off x="4944137" y="5041093"/>
            <a:ext cx="128699" cy="187198"/>
          </a:xfrm>
          <a:prstGeom prst="rect">
            <a:avLst/>
          </a:prstGeom>
        </p:spPr>
      </p:pic>
      <p:sp>
        <p:nvSpPr>
          <p:cNvPr id="115" name="TextBox 114"/>
          <p:cNvSpPr txBox="1"/>
          <p:nvPr/>
        </p:nvSpPr>
        <p:spPr>
          <a:xfrm>
            <a:off x="5111633" y="5050872"/>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6" name="Picture 115" descr="lock.png"/>
          <p:cNvPicPr>
            <a:picLocks noChangeAspect="1"/>
          </p:cNvPicPr>
          <p:nvPr/>
        </p:nvPicPr>
        <p:blipFill>
          <a:blip r:embed="rId16"/>
          <a:stretch>
            <a:fillRect/>
          </a:stretch>
        </p:blipFill>
        <p:spPr>
          <a:xfrm>
            <a:off x="5971083" y="5041093"/>
            <a:ext cx="128699" cy="187198"/>
          </a:xfrm>
          <a:prstGeom prst="rect">
            <a:avLst/>
          </a:prstGeom>
        </p:spPr>
      </p:pic>
      <p:sp>
        <p:nvSpPr>
          <p:cNvPr id="117" name="TextBox 116"/>
          <p:cNvSpPr txBox="1"/>
          <p:nvPr/>
        </p:nvSpPr>
        <p:spPr>
          <a:xfrm>
            <a:off x="6138579" y="5050872"/>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Tree>
  </p:cSld>
  <p:clrMapOvr>
    <a:masterClrMapping/>
  </p:clrMapOvr>
</p:sld>
</file>

<file path=ppt/slides/slide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End User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End User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End User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End User · Bubble size represents 2036 value</a:t>
            </a:r>
          </a:p>
        </p:txBody>
      </p:sp>
      <p:graphicFrame>
        <p:nvGraphicFramePr>
          <p:cNvPr id="16" name="Chart 15"/>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694045"/>
            <a:ext cx="11677650" cy="186689"/>
          </a:xfrm>
          <a:prstGeom prst="rect">
            <a:avLst/>
          </a:prstGeom>
          <a:noFill/>
        </p:spPr>
        <p:txBody>
          <a:bodyPr wrap="none" lIns="0" rIns="0" tIns="0" bIns="0">
            <a:spAutoFit/>
          </a:bodyPr>
          <a:lstStyle/>
          <a:p>
            <a:r>
              <a:rPr sz="1100" b="0">
                <a:solidFill>
                  <a:srgbClr val="2E2E2E"/>
                </a:solidFill>
                <a:latin typeface="Calibri"/>
              </a:rPr>
              <a:t>Academic &amp; teaching dental institutions followed by dental laboratories are expected to be the two most attractive end user segments in the global removable partial dentures market in terms of value over</a:t>
            </a:r>
          </a:p>
        </p:txBody>
      </p:sp>
      <p:sp>
        <p:nvSpPr>
          <p:cNvPr id="21" name="TextBox 20"/>
          <p:cNvSpPr txBox="1"/>
          <p:nvPr/>
        </p:nvSpPr>
        <p:spPr>
          <a:xfrm>
            <a:off x="257175" y="5861685"/>
            <a:ext cx="6210704" cy="186689"/>
          </a:xfrm>
          <a:prstGeom prst="rect">
            <a:avLst/>
          </a:prstGeom>
          <a:noFill/>
        </p:spPr>
        <p:txBody>
          <a:bodyPr wrap="none" lIns="0" rIns="0" tIns="0" bIns="0">
            <a:spAutoFit/>
          </a:bodyPr>
          <a:lstStyle/>
          <a:p>
            <a:r>
              <a:rPr sz="1100" b="0">
                <a:solidFill>
                  <a:srgbClr val="2E2E2E"/>
                </a:solidFill>
                <a:latin typeface="Calibri"/>
              </a:rPr>
              <a:t>the forecast period. Academic &amp; teaching dental institutions and dental laboratories exhibit a CAGR index of</a:t>
            </a:r>
          </a:p>
        </p:txBody>
      </p:sp>
      <p:pic>
        <p:nvPicPr>
          <p:cNvPr id="22" name="Picture 21" descr="lock.png"/>
          <p:cNvPicPr>
            <a:picLocks noChangeAspect="1"/>
          </p:cNvPicPr>
          <p:nvPr/>
        </p:nvPicPr>
        <p:blipFill>
          <a:blip r:embed="rId6"/>
          <a:stretch>
            <a:fillRect/>
          </a:stretch>
        </p:blipFill>
        <p:spPr>
          <a:xfrm>
            <a:off x="6415931" y="5851905"/>
            <a:ext cx="128699" cy="187198"/>
          </a:xfrm>
          <a:prstGeom prst="rect">
            <a:avLst/>
          </a:prstGeom>
        </p:spPr>
      </p:pic>
      <p:sp>
        <p:nvSpPr>
          <p:cNvPr id="23" name="TextBox 22"/>
          <p:cNvSpPr txBox="1"/>
          <p:nvPr/>
        </p:nvSpPr>
        <p:spPr>
          <a:xfrm>
            <a:off x="6583427"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6821321" y="5851905"/>
            <a:ext cx="128699" cy="187198"/>
          </a:xfrm>
          <a:prstGeom prst="rect">
            <a:avLst/>
          </a:prstGeom>
        </p:spPr>
      </p:pic>
      <p:sp>
        <p:nvSpPr>
          <p:cNvPr id="25" name="TextBox 24"/>
          <p:cNvSpPr txBox="1"/>
          <p:nvPr/>
        </p:nvSpPr>
        <p:spPr>
          <a:xfrm>
            <a:off x="6988817" y="586168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8597790" y="5851905"/>
            <a:ext cx="128699" cy="187198"/>
          </a:xfrm>
          <a:prstGeom prst="rect">
            <a:avLst/>
          </a:prstGeom>
        </p:spPr>
      </p:pic>
      <p:sp>
        <p:nvSpPr>
          <p:cNvPr id="27" name="TextBox 26"/>
          <p:cNvSpPr txBox="1"/>
          <p:nvPr/>
        </p:nvSpPr>
        <p:spPr>
          <a:xfrm>
            <a:off x="8765286"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9003180" y="5851905"/>
            <a:ext cx="128699" cy="187198"/>
          </a:xfrm>
          <a:prstGeom prst="rect">
            <a:avLst/>
          </a:prstGeom>
        </p:spPr>
      </p:pic>
      <p:sp>
        <p:nvSpPr>
          <p:cNvPr id="29" name="TextBox 28"/>
          <p:cNvSpPr txBox="1"/>
          <p:nvPr/>
        </p:nvSpPr>
        <p:spPr>
          <a:xfrm>
            <a:off x="9170676" y="5861685"/>
            <a:ext cx="1976338" cy="186689"/>
          </a:xfrm>
          <a:prstGeom prst="rect">
            <a:avLst/>
          </a:prstGeom>
          <a:noFill/>
        </p:spPr>
        <p:txBody>
          <a:bodyPr wrap="none" lIns="0" rIns="0" tIns="0" bIns="0">
            <a:spAutoFit/>
          </a:bodyPr>
          <a:lstStyle/>
          <a:p>
            <a:r>
              <a:rPr sz="1100" b="0">
                <a:solidFill>
                  <a:srgbClr val="2E2E2E"/>
                </a:solidFill>
                <a:latin typeface="Calibri"/>
              </a:rPr>
              <a:t>respectively, against the segment</a:t>
            </a:r>
          </a:p>
        </p:txBody>
      </p:sp>
      <p:sp>
        <p:nvSpPr>
          <p:cNvPr id="30" name="TextBox 29"/>
          <p:cNvSpPr txBox="1"/>
          <p:nvPr/>
        </p:nvSpPr>
        <p:spPr>
          <a:xfrm>
            <a:off x="257175" y="6029325"/>
            <a:ext cx="674563" cy="186689"/>
          </a:xfrm>
          <a:prstGeom prst="rect">
            <a:avLst/>
          </a:prstGeom>
          <a:noFill/>
        </p:spPr>
        <p:txBody>
          <a:bodyPr wrap="none" lIns="0" rIns="0" tIns="0" bIns="0">
            <a:spAutoFit/>
          </a:bodyPr>
          <a:lstStyle/>
          <a:p>
            <a:r>
              <a:rPr sz="1100" b="0">
                <a:solidFill>
                  <a:srgbClr val="2E2E2E"/>
                </a:solidFill>
                <a:latin typeface="Calibri"/>
              </a:rPr>
              <a:t>average of</a:t>
            </a:r>
          </a:p>
        </p:txBody>
      </p:sp>
      <p:pic>
        <p:nvPicPr>
          <p:cNvPr id="31" name="Picture 30" descr="lock.png"/>
          <p:cNvPicPr>
            <a:picLocks noChangeAspect="1"/>
          </p:cNvPicPr>
          <p:nvPr/>
        </p:nvPicPr>
        <p:blipFill>
          <a:blip r:embed="rId6"/>
          <a:stretch>
            <a:fillRect/>
          </a:stretch>
        </p:blipFill>
        <p:spPr>
          <a:xfrm>
            <a:off x="879790" y="6019545"/>
            <a:ext cx="128699" cy="187198"/>
          </a:xfrm>
          <a:prstGeom prst="rect">
            <a:avLst/>
          </a:prstGeom>
        </p:spPr>
      </p:pic>
      <p:sp>
        <p:nvSpPr>
          <p:cNvPr id="32" name="TextBox 31"/>
          <p:cNvSpPr txBox="1"/>
          <p:nvPr/>
        </p:nvSpPr>
        <p:spPr>
          <a:xfrm>
            <a:off x="1047285" y="6029325"/>
            <a:ext cx="10780149" cy="186689"/>
          </a:xfrm>
          <a:prstGeom prst="rect">
            <a:avLst/>
          </a:prstGeom>
          <a:noFill/>
        </p:spPr>
        <p:txBody>
          <a:bodyPr wrap="none" lIns="0" rIns="0" tIns="0" bIns="0">
            <a:spAutoFit/>
          </a:bodyPr>
          <a:lstStyle/>
          <a:p>
            <a:r>
              <a:rPr sz="1100" b="0">
                <a:solidFill>
                  <a:srgbClr val="2E2E2E"/>
                </a:solidFill>
                <a:latin typeface="Calibri"/>
              </a:rPr>
              <a:t>. The dental clinics segment is expected to be less attractive as compared to other segments over the forecast period, owing to its lower CAGR and incremental opportunity. Bubbles right of</a:t>
            </a:r>
          </a:p>
        </p:txBody>
      </p:sp>
      <p:sp>
        <p:nvSpPr>
          <p:cNvPr id="33" name="TextBox 32"/>
          <p:cNvSpPr txBox="1"/>
          <p:nvPr/>
        </p:nvSpPr>
        <p:spPr>
          <a:xfrm>
            <a:off x="257175" y="6196965"/>
            <a:ext cx="3445899" cy="186689"/>
          </a:xfrm>
          <a:prstGeom prst="rect">
            <a:avLst/>
          </a:prstGeom>
          <a:noFill/>
        </p:spPr>
        <p:txBody>
          <a:bodyPr wrap="none" lIns="0" rIns="0" tIns="0" bIns="0">
            <a:spAutoFit/>
          </a:bodyPr>
          <a:lstStyle/>
          <a:p>
            <a:r>
              <a:rPr sz="1100" b="0">
                <a:solidFill>
                  <a:srgbClr val="2E2E2E"/>
                </a:solidFill>
                <a:latin typeface="Calibri"/>
              </a:rPr>
              <a:t>the CAGR-Index line grow faster than the segment average.</a:t>
            </a:r>
          </a:p>
        </p:txBody>
      </p:sp>
      <p:sp>
        <p:nvSpPr>
          <p:cNvPr id="34"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lockshield_16"/>
          <p:cNvSpPr/>
          <p:nvPr/>
        </p:nvSpPr>
        <p:spPr>
          <a:xfrm>
            <a:off x="6734175" y="1266825"/>
            <a:ext cx="5210175" cy="39814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End User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End User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Dental Clinics</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Dental Hospitals</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Dental Laboratories</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Academic &amp; Teaching Dental Institutions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094826" y="2237234"/>
            <a:ext cx="263506" cy="383281"/>
          </a:xfrm>
          <a:prstGeom prst="rect">
            <a:avLst/>
          </a:prstGeom>
        </p:spPr>
      </p:pic>
      <p:pic>
        <p:nvPicPr>
          <p:cNvPr id="25" name="Picture 24" descr="lock.png"/>
          <p:cNvPicPr>
            <a:picLocks noChangeAspect="1"/>
          </p:cNvPicPr>
          <p:nvPr/>
        </p:nvPicPr>
        <p:blipFill>
          <a:blip r:embed="rId8"/>
          <a:stretch>
            <a:fillRect/>
          </a:stretch>
        </p:blipFill>
        <p:spPr>
          <a:xfrm>
            <a:off x="9124151" y="2237234"/>
            <a:ext cx="263506" cy="383281"/>
          </a:xfrm>
          <a:prstGeom prst="rect">
            <a:avLst/>
          </a:prstGeom>
        </p:spPr>
      </p:pic>
      <p:pic>
        <p:nvPicPr>
          <p:cNvPr id="26" name="Picture 25" descr="lock.png"/>
          <p:cNvPicPr>
            <a:picLocks noChangeAspect="1"/>
          </p:cNvPicPr>
          <p:nvPr/>
        </p:nvPicPr>
        <p:blipFill>
          <a:blip r:embed="rId8"/>
          <a:stretch>
            <a:fillRect/>
          </a:stretch>
        </p:blipFill>
        <p:spPr>
          <a:xfrm>
            <a:off x="3094826" y="5123309"/>
            <a:ext cx="263506" cy="383281"/>
          </a:xfrm>
          <a:prstGeom prst="rect">
            <a:avLst/>
          </a:prstGeom>
        </p:spPr>
      </p:pic>
      <p:pic>
        <p:nvPicPr>
          <p:cNvPr id="27" name="Picture 26" descr="lock.png"/>
          <p:cNvPicPr>
            <a:picLocks noChangeAspect="1"/>
          </p:cNvPicPr>
          <p:nvPr/>
        </p:nvPicPr>
        <p:blipFill>
          <a:blip r:embed="rId8"/>
          <a:stretch>
            <a:fillRect/>
          </a:stretch>
        </p:blipFill>
        <p:spPr>
          <a:xfrm>
            <a:off x="9129555" y="5216754"/>
            <a:ext cx="252890" cy="367840"/>
          </a:xfrm>
          <a:prstGeom prst="rect">
            <a:avLst/>
          </a:prstGeom>
        </p:spPr>
      </p:pic>
      <p:sp>
        <p:nvSpPr>
          <p:cNvPr id="28"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End User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End User,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524125"/>
          </a:xfrm>
          <a:prstGeom prst="roundRect">
            <a:avLst>
              <a:gd name="adj" fmla="val 30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End User (Units)</a:t>
            </a:r>
          </a:p>
        </p:txBody>
      </p:sp>
      <p:graphicFrame>
        <p:nvGraphicFramePr>
          <p:cNvPr id="13" name="Table 12"/>
          <p:cNvGraphicFramePr>
            <a:graphicFrameLocks noGrp="1"/>
          </p:cNvGraphicFramePr>
          <p:nvPr/>
        </p:nvGraphicFramePr>
        <p:xfrm>
          <a:off x="152400" y="1238250"/>
          <a:ext cx="11887208" cy="2057398"/>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End User</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6583">
                <a:tc>
                  <a:txBody>
                    <a:bodyPr wrap="none"/>
                    <a:lstStyle/>
                    <a:p>
                      <a:pPr algn="l"/>
                      <a:r>
                        <a:rPr sz="1100" b="1">
                          <a:solidFill>
                            <a:srgbClr val="2E2E2E"/>
                          </a:solidFill>
                          <a:latin typeface="Calibri"/>
                        </a:rPr>
                        <a:t>Dental Clinics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583">
                <a:tc>
                  <a:txBody>
                    <a:bodyPr wrap="none"/>
                    <a:lstStyle/>
                    <a:p>
                      <a:pPr algn="l"/>
                      <a:r>
                        <a:rPr sz="1100" b="1">
                          <a:solidFill>
                            <a:srgbClr val="2E2E2E"/>
                          </a:solidFill>
                          <a:latin typeface="Calibri"/>
                        </a:rPr>
                        <a:t>Dental Hospitals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583">
                <a:tc>
                  <a:txBody>
                    <a:bodyPr wrap="none"/>
                    <a:lstStyle/>
                    <a:p>
                      <a:pPr algn="l"/>
                      <a:r>
                        <a:rPr sz="1100" b="1">
                          <a:solidFill>
                            <a:srgbClr val="2E2E2E"/>
                          </a:solidFill>
                          <a:latin typeface="Calibri"/>
                        </a:rPr>
                        <a:t>Dental Laboratories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632154">
                <a:tc>
                  <a:txBody>
                    <a:bodyPr wrap="none"/>
                    <a:lstStyle/>
                    <a:p>
                      <a:pPr algn="l"/>
                      <a:r>
                        <a:rPr sz="1100" b="1">
                          <a:solidFill>
                            <a:srgbClr val="2E2E2E"/>
                          </a:solidFill>
                          <a:latin typeface="Calibri"/>
                        </a:rPr>
                        <a:t>Academic &amp;</a:t>
                      </a:r>
                      <a:endParaRPr sz="1100"/>
                    </a:p>
                    <a:p>
                      <a:pPr algn="l"/>
                      <a:r>
                        <a:rPr sz="1100" b="1">
                          <a:solidFill>
                            <a:srgbClr val="2E2E2E"/>
                          </a:solidFill>
                          <a:latin typeface="Calibri"/>
                        </a:rPr>
                        <a:t>Teaching Dental</a:t>
                      </a:r>
                      <a:endParaRPr sz="1100"/>
                    </a:p>
                    <a:p>
                      <a:pPr algn="l"/>
                      <a:r>
                        <a:rPr sz="1100" b="1">
                          <a:solidFill>
                            <a:srgbClr val="2E2E2E"/>
                          </a:solidFill>
                          <a:latin typeface="Calibri"/>
                        </a:rPr>
                        <a:t>Institutions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583">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3305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638550"/>
            <a:ext cx="11906250" cy="2990850"/>
          </a:xfrm>
          <a:prstGeom prst="roundRect">
            <a:avLst>
              <a:gd name="adj" fmla="val 254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7242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End User</a:t>
            </a:r>
          </a:p>
        </p:txBody>
      </p:sp>
      <p:sp>
        <p:nvSpPr>
          <p:cNvPr id="17" name="Rectangle 16"/>
          <p:cNvSpPr/>
          <p:nvPr/>
        </p:nvSpPr>
        <p:spPr>
          <a:xfrm>
            <a:off x="276225" y="3962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048125"/>
            <a:ext cx="11639550" cy="25050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2219705"/>
            <a:ext cx="366712" cy="533400"/>
          </a:xfrm>
          <a:prstGeom prst="rect">
            <a:avLst/>
          </a:prstGeom>
        </p:spPr>
      </p:pic>
      <p:sp>
        <p:nvSpPr>
          <p:cNvPr id="21" name="TextBox 20"/>
          <p:cNvSpPr txBox="1"/>
          <p:nvPr/>
        </p:nvSpPr>
        <p:spPr>
          <a:xfrm>
            <a:off x="276225" y="4057650"/>
            <a:ext cx="3145246" cy="194310"/>
          </a:xfrm>
          <a:prstGeom prst="rect">
            <a:avLst/>
          </a:prstGeom>
          <a:noFill/>
        </p:spPr>
        <p:txBody>
          <a:bodyPr wrap="none" lIns="0" rIns="0" tIns="0" bIns="0">
            <a:spAutoFit/>
          </a:bodyPr>
          <a:lstStyle/>
          <a:p>
            <a:r>
              <a:rPr sz="1150" b="0">
                <a:solidFill>
                  <a:srgbClr val="2E2E2E"/>
                </a:solidFill>
                <a:latin typeface="Calibri"/>
              </a:rPr>
              <a:t>Dental laboratories segment is projected to register</a:t>
            </a:r>
          </a:p>
        </p:txBody>
      </p:sp>
      <p:pic>
        <p:nvPicPr>
          <p:cNvPr id="22" name="Picture 21" descr="lock.png"/>
          <p:cNvPicPr>
            <a:picLocks noChangeAspect="1"/>
          </p:cNvPicPr>
          <p:nvPr/>
        </p:nvPicPr>
        <p:blipFill>
          <a:blip r:embed="rId4"/>
          <a:stretch>
            <a:fillRect/>
          </a:stretch>
        </p:blipFill>
        <p:spPr>
          <a:xfrm>
            <a:off x="3370625" y="4047426"/>
            <a:ext cx="134549" cy="195707"/>
          </a:xfrm>
          <a:prstGeom prst="rect">
            <a:avLst/>
          </a:prstGeom>
        </p:spPr>
      </p:pic>
      <p:sp>
        <p:nvSpPr>
          <p:cNvPr id="23" name="TextBox 22"/>
          <p:cNvSpPr txBox="1"/>
          <p:nvPr/>
        </p:nvSpPr>
        <p:spPr>
          <a:xfrm>
            <a:off x="3545734" y="4057650"/>
            <a:ext cx="8072722" cy="194310"/>
          </a:xfrm>
          <a:prstGeom prst="rect">
            <a:avLst/>
          </a:prstGeom>
          <a:noFill/>
        </p:spPr>
        <p:txBody>
          <a:bodyPr wrap="none" lIns="0" rIns="0" tIns="0" bIns="0">
            <a:spAutoFit/>
          </a:bodyPr>
          <a:lstStyle/>
          <a:p>
            <a:r>
              <a:rPr sz="1150" b="0">
                <a:solidFill>
                  <a:srgbClr val="2E2E2E"/>
                </a:solidFill>
                <a:latin typeface="Calibri"/>
              </a:rPr>
              <a:t>X higher volume than academic &amp; teaching dental institutions segment in 2036. Among removable partial dentures by end user, dental</a:t>
            </a:r>
          </a:p>
        </p:txBody>
      </p:sp>
      <p:sp>
        <p:nvSpPr>
          <p:cNvPr id="24" name="TextBox 23"/>
          <p:cNvSpPr txBox="1"/>
          <p:nvPr/>
        </p:nvSpPr>
        <p:spPr>
          <a:xfrm>
            <a:off x="276225" y="4232910"/>
            <a:ext cx="3720586" cy="194310"/>
          </a:xfrm>
          <a:prstGeom prst="rect">
            <a:avLst/>
          </a:prstGeom>
          <a:noFill/>
        </p:spPr>
        <p:txBody>
          <a:bodyPr wrap="none" lIns="0" rIns="0" tIns="0" bIns="0">
            <a:spAutoFit/>
          </a:bodyPr>
          <a:lstStyle/>
          <a:p>
            <a:r>
              <a:rPr sz="1150" b="0">
                <a:solidFill>
                  <a:srgbClr val="2E2E2E"/>
                </a:solidFill>
                <a:latin typeface="Calibri"/>
              </a:rPr>
              <a:t>hospitals segment is expected to witness the highest CAGR of</a:t>
            </a:r>
          </a:p>
        </p:txBody>
      </p:sp>
      <p:pic>
        <p:nvPicPr>
          <p:cNvPr id="25" name="Picture 24" descr="lock.png"/>
          <p:cNvPicPr>
            <a:picLocks noChangeAspect="1"/>
          </p:cNvPicPr>
          <p:nvPr/>
        </p:nvPicPr>
        <p:blipFill>
          <a:blip r:embed="rId4"/>
          <a:stretch>
            <a:fillRect/>
          </a:stretch>
        </p:blipFill>
        <p:spPr>
          <a:xfrm>
            <a:off x="3945965" y="4222686"/>
            <a:ext cx="134549" cy="195707"/>
          </a:xfrm>
          <a:prstGeom prst="rect">
            <a:avLst/>
          </a:prstGeom>
        </p:spPr>
      </p:pic>
      <p:sp>
        <p:nvSpPr>
          <p:cNvPr id="26" name="TextBox 25"/>
          <p:cNvSpPr txBox="1"/>
          <p:nvPr/>
        </p:nvSpPr>
        <p:spPr>
          <a:xfrm>
            <a:off x="4121074" y="42329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4460747"/>
            <a:ext cx="6839855" cy="194310"/>
          </a:xfrm>
          <a:prstGeom prst="rect">
            <a:avLst/>
          </a:prstGeom>
          <a:noFill/>
        </p:spPr>
        <p:txBody>
          <a:bodyPr wrap="none" lIns="0" rIns="0" tIns="0" bIns="0">
            <a:spAutoFit/>
          </a:bodyPr>
          <a:lstStyle/>
          <a:p>
            <a:r>
              <a:rPr sz="1150" b="0">
                <a:solidFill>
                  <a:srgbClr val="2E2E2E"/>
                </a:solidFill>
                <a:latin typeface="Calibri"/>
              </a:rPr>
              <a:t>In terms of volume share by end user, the dental laboratories segment is expected to dominate the market, losing</a:t>
            </a:r>
          </a:p>
        </p:txBody>
      </p:sp>
      <p:pic>
        <p:nvPicPr>
          <p:cNvPr id="28" name="Picture 27" descr="lock.png"/>
          <p:cNvPicPr>
            <a:picLocks noChangeAspect="1"/>
          </p:cNvPicPr>
          <p:nvPr/>
        </p:nvPicPr>
        <p:blipFill>
          <a:blip r:embed="rId4"/>
          <a:stretch>
            <a:fillRect/>
          </a:stretch>
        </p:blipFill>
        <p:spPr>
          <a:xfrm>
            <a:off x="7065234" y="4450524"/>
            <a:ext cx="134549" cy="195707"/>
          </a:xfrm>
          <a:prstGeom prst="rect">
            <a:avLst/>
          </a:prstGeom>
        </p:spPr>
      </p:pic>
      <p:sp>
        <p:nvSpPr>
          <p:cNvPr id="29" name="TextBox 28"/>
          <p:cNvSpPr txBox="1"/>
          <p:nvPr/>
        </p:nvSpPr>
        <p:spPr>
          <a:xfrm>
            <a:off x="7240343" y="44607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8635486" y="4450524"/>
            <a:ext cx="134549" cy="195707"/>
          </a:xfrm>
          <a:prstGeom prst="rect">
            <a:avLst/>
          </a:prstGeom>
        </p:spPr>
      </p:pic>
      <p:sp>
        <p:nvSpPr>
          <p:cNvPr id="31" name="TextBox 30"/>
          <p:cNvSpPr txBox="1"/>
          <p:nvPr/>
        </p:nvSpPr>
        <p:spPr>
          <a:xfrm>
            <a:off x="8810596" y="446074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End User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End User,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End User (US$ Mn)</a:t>
            </a:r>
          </a:p>
        </p:txBody>
      </p:sp>
      <p:graphicFrame>
        <p:nvGraphicFramePr>
          <p:cNvPr id="13" name="Table 12"/>
          <p:cNvGraphicFramePr>
            <a:graphicFrameLocks noGrp="1"/>
          </p:cNvGraphicFramePr>
          <p:nvPr/>
        </p:nvGraphicFramePr>
        <p:xfrm>
          <a:off x="152400" y="1238250"/>
          <a:ext cx="11887196" cy="1485896"/>
        </p:xfrm>
        <a:graphic>
          <a:graphicData uri="http://schemas.openxmlformats.org/drawingml/2006/table">
            <a:tbl>
              <a:tblPr>
                <a:tableStyleId>{5C22544A-7EE6-4342-B048-85BDC9FD1C3A}</a:tableStyleId>
              </a:tblPr>
              <a:tblGrid>
                <a:gridCol w="2836344"/>
                <a:gridCol w="543671"/>
                <a:gridCol w="543671"/>
                <a:gridCol w="543671"/>
                <a:gridCol w="543671"/>
                <a:gridCol w="543671"/>
                <a:gridCol w="524520"/>
                <a:gridCol w="519048"/>
                <a:gridCol w="519048"/>
                <a:gridCol w="519048"/>
                <a:gridCol w="519048"/>
                <a:gridCol w="519048"/>
                <a:gridCol w="519048"/>
                <a:gridCol w="519048"/>
                <a:gridCol w="519048"/>
                <a:gridCol w="519048"/>
                <a:gridCol w="519048"/>
                <a:gridCol w="617497"/>
              </a:tblGrid>
              <a:tr h="246126">
                <a:tc>
                  <a:txBody>
                    <a:bodyPr wrap="none"/>
                    <a:lstStyle/>
                    <a:p>
                      <a:pPr algn="l"/>
                      <a:r>
                        <a:rPr sz="1100" b="1">
                          <a:solidFill>
                            <a:srgbClr val="0B2E4A"/>
                          </a:solidFill>
                          <a:latin typeface="Calibri"/>
                        </a:rPr>
                        <a:t>End User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Dental Clinics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Dental Hospitals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Dental Laboratories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Academic &amp; Teaching Dental Institutions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1,078</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1,125</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1,731</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4.4%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33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3562350"/>
          </a:xfrm>
          <a:prstGeom prst="roundRect">
            <a:avLst>
              <a:gd name="adj" fmla="val 21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527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End User</a:t>
            </a:r>
          </a:p>
        </p:txBody>
      </p:sp>
      <p:sp>
        <p:nvSpPr>
          <p:cNvPr id="17" name="Rectangle 16"/>
          <p:cNvSpPr/>
          <p:nvPr/>
        </p:nvSpPr>
        <p:spPr>
          <a:xfrm>
            <a:off x="276225" y="3390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476625"/>
            <a:ext cx="11639550" cy="30765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327480" y="1837563"/>
            <a:ext cx="366712" cy="533400"/>
          </a:xfrm>
          <a:prstGeom prst="rect">
            <a:avLst/>
          </a:prstGeom>
        </p:spPr>
      </p:pic>
      <p:sp>
        <p:nvSpPr>
          <p:cNvPr id="21" name="TextBox 20"/>
          <p:cNvSpPr txBox="1"/>
          <p:nvPr/>
        </p:nvSpPr>
        <p:spPr>
          <a:xfrm>
            <a:off x="276225" y="3486150"/>
            <a:ext cx="4368986" cy="194310"/>
          </a:xfrm>
          <a:prstGeom prst="rect">
            <a:avLst/>
          </a:prstGeom>
          <a:noFill/>
        </p:spPr>
        <p:txBody>
          <a:bodyPr wrap="none" lIns="0" rIns="0" tIns="0" bIns="0">
            <a:spAutoFit/>
          </a:bodyPr>
          <a:lstStyle/>
          <a:p>
            <a:r>
              <a:rPr sz="1150" b="0">
                <a:solidFill>
                  <a:srgbClr val="2E2E2E"/>
                </a:solidFill>
                <a:latin typeface="Calibri"/>
              </a:rPr>
              <a:t>Academic &amp; teaching dental institutions segment is projected to register</a:t>
            </a:r>
          </a:p>
        </p:txBody>
      </p:sp>
      <p:pic>
        <p:nvPicPr>
          <p:cNvPr id="22" name="Picture 21" descr="lock.png"/>
          <p:cNvPicPr>
            <a:picLocks noChangeAspect="1"/>
          </p:cNvPicPr>
          <p:nvPr/>
        </p:nvPicPr>
        <p:blipFill>
          <a:blip r:embed="rId4"/>
          <a:stretch>
            <a:fillRect/>
          </a:stretch>
        </p:blipFill>
        <p:spPr>
          <a:xfrm>
            <a:off x="4594364" y="3475926"/>
            <a:ext cx="134549" cy="195707"/>
          </a:xfrm>
          <a:prstGeom prst="rect">
            <a:avLst/>
          </a:prstGeom>
        </p:spPr>
      </p:pic>
      <p:sp>
        <p:nvSpPr>
          <p:cNvPr id="23" name="TextBox 22"/>
          <p:cNvSpPr txBox="1"/>
          <p:nvPr/>
        </p:nvSpPr>
        <p:spPr>
          <a:xfrm>
            <a:off x="4769474" y="3486150"/>
            <a:ext cx="6726609" cy="194310"/>
          </a:xfrm>
          <a:prstGeom prst="rect">
            <a:avLst/>
          </a:prstGeom>
          <a:noFill/>
        </p:spPr>
        <p:txBody>
          <a:bodyPr wrap="none" lIns="0" rIns="0" tIns="0" bIns="0">
            <a:spAutoFit/>
          </a:bodyPr>
          <a:lstStyle/>
          <a:p>
            <a:r>
              <a:rPr sz="1150" b="0">
                <a:solidFill>
                  <a:srgbClr val="2E2E2E"/>
                </a:solidFill>
                <a:latin typeface="Calibri"/>
              </a:rPr>
              <a:t>X higher value than dental laboratories segment in 2036. Among removable partial dentures by end user, dental</a:t>
            </a:r>
          </a:p>
        </p:txBody>
      </p:sp>
      <p:sp>
        <p:nvSpPr>
          <p:cNvPr id="24" name="TextBox 23"/>
          <p:cNvSpPr txBox="1"/>
          <p:nvPr/>
        </p:nvSpPr>
        <p:spPr>
          <a:xfrm>
            <a:off x="276225" y="3661410"/>
            <a:ext cx="3720586" cy="194310"/>
          </a:xfrm>
          <a:prstGeom prst="rect">
            <a:avLst/>
          </a:prstGeom>
          <a:noFill/>
        </p:spPr>
        <p:txBody>
          <a:bodyPr wrap="none" lIns="0" rIns="0" tIns="0" bIns="0">
            <a:spAutoFit/>
          </a:bodyPr>
          <a:lstStyle/>
          <a:p>
            <a:r>
              <a:rPr sz="1150" b="0">
                <a:solidFill>
                  <a:srgbClr val="2E2E2E"/>
                </a:solidFill>
                <a:latin typeface="Calibri"/>
              </a:rPr>
              <a:t>hospitals segment is expected to witness the highest CAGR of</a:t>
            </a:r>
          </a:p>
        </p:txBody>
      </p:sp>
      <p:pic>
        <p:nvPicPr>
          <p:cNvPr id="25" name="Picture 24" descr="lock.png"/>
          <p:cNvPicPr>
            <a:picLocks noChangeAspect="1"/>
          </p:cNvPicPr>
          <p:nvPr/>
        </p:nvPicPr>
        <p:blipFill>
          <a:blip r:embed="rId4"/>
          <a:stretch>
            <a:fillRect/>
          </a:stretch>
        </p:blipFill>
        <p:spPr>
          <a:xfrm>
            <a:off x="3945965" y="3651186"/>
            <a:ext cx="134549" cy="195707"/>
          </a:xfrm>
          <a:prstGeom prst="rect">
            <a:avLst/>
          </a:prstGeom>
        </p:spPr>
      </p:pic>
      <p:sp>
        <p:nvSpPr>
          <p:cNvPr id="26" name="TextBox 25"/>
          <p:cNvSpPr txBox="1"/>
          <p:nvPr/>
        </p:nvSpPr>
        <p:spPr>
          <a:xfrm>
            <a:off x="4121074" y="36614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889247"/>
            <a:ext cx="8019665" cy="194310"/>
          </a:xfrm>
          <a:prstGeom prst="rect">
            <a:avLst/>
          </a:prstGeom>
          <a:noFill/>
        </p:spPr>
        <p:txBody>
          <a:bodyPr wrap="none" lIns="0" rIns="0" tIns="0" bIns="0">
            <a:spAutoFit/>
          </a:bodyPr>
          <a:lstStyle/>
          <a:p>
            <a:r>
              <a:rPr sz="1150" b="0">
                <a:solidFill>
                  <a:srgbClr val="2E2E2E"/>
                </a:solidFill>
                <a:latin typeface="Calibri"/>
              </a:rPr>
              <a:t>In terms of value share by end user, the academic &amp; teaching dental institutions segment is expected to dominate the market, gaining</a:t>
            </a:r>
          </a:p>
        </p:txBody>
      </p:sp>
      <p:pic>
        <p:nvPicPr>
          <p:cNvPr id="28" name="Picture 27" descr="lock.png"/>
          <p:cNvPicPr>
            <a:picLocks noChangeAspect="1"/>
          </p:cNvPicPr>
          <p:nvPr/>
        </p:nvPicPr>
        <p:blipFill>
          <a:blip r:embed="rId4"/>
          <a:stretch>
            <a:fillRect/>
          </a:stretch>
        </p:blipFill>
        <p:spPr>
          <a:xfrm>
            <a:off x="8245044" y="3879024"/>
            <a:ext cx="134549" cy="195707"/>
          </a:xfrm>
          <a:prstGeom prst="rect">
            <a:avLst/>
          </a:prstGeom>
        </p:spPr>
      </p:pic>
      <p:sp>
        <p:nvSpPr>
          <p:cNvPr id="29" name="TextBox 28"/>
          <p:cNvSpPr txBox="1"/>
          <p:nvPr/>
        </p:nvSpPr>
        <p:spPr>
          <a:xfrm>
            <a:off x="8420153" y="38892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815296" y="3879024"/>
            <a:ext cx="134549" cy="195707"/>
          </a:xfrm>
          <a:prstGeom prst="rect">
            <a:avLst/>
          </a:prstGeom>
        </p:spPr>
      </p:pic>
      <p:sp>
        <p:nvSpPr>
          <p:cNvPr id="31" name="TextBox 30"/>
          <p:cNvSpPr txBox="1"/>
          <p:nvPr/>
        </p:nvSpPr>
        <p:spPr>
          <a:xfrm>
            <a:off x="9990406" y="3889247"/>
            <a:ext cx="1612007" cy="194310"/>
          </a:xfrm>
          <a:prstGeom prst="rect">
            <a:avLst/>
          </a:prstGeom>
          <a:noFill/>
        </p:spPr>
        <p:txBody>
          <a:bodyPr wrap="none" lIns="0" rIns="0" tIns="0" bIns="0">
            <a:spAutoFit/>
          </a:bodyPr>
          <a:lstStyle/>
          <a:p>
            <a:r>
              <a:rPr sz="1150" b="0">
                <a:solidFill>
                  <a:srgbClr val="2E2E2E"/>
                </a:solidFill>
                <a:latin typeface="Calibri"/>
              </a:rPr>
              <a:t>share by 2036. The dental</a:t>
            </a:r>
          </a:p>
        </p:txBody>
      </p:sp>
      <p:sp>
        <p:nvSpPr>
          <p:cNvPr id="32" name="TextBox 31"/>
          <p:cNvSpPr txBox="1"/>
          <p:nvPr/>
        </p:nvSpPr>
        <p:spPr>
          <a:xfrm>
            <a:off x="276225" y="4064507"/>
            <a:ext cx="2477467" cy="194310"/>
          </a:xfrm>
          <a:prstGeom prst="rect">
            <a:avLst/>
          </a:prstGeom>
          <a:noFill/>
        </p:spPr>
        <p:txBody>
          <a:bodyPr wrap="none" lIns="0" rIns="0" tIns="0" bIns="0">
            <a:spAutoFit/>
          </a:bodyPr>
          <a:lstStyle/>
          <a:p>
            <a:r>
              <a:rPr sz="1150" b="0">
                <a:solidFill>
                  <a:srgbClr val="2E2E2E"/>
                </a:solidFill>
                <a:latin typeface="Calibri"/>
              </a:rPr>
              <a:t>laboratories segment is expected to lose</a:t>
            </a:r>
          </a:p>
        </p:txBody>
      </p:sp>
      <p:pic>
        <p:nvPicPr>
          <p:cNvPr id="33" name="Picture 32" descr="lock.png"/>
          <p:cNvPicPr>
            <a:picLocks noChangeAspect="1"/>
          </p:cNvPicPr>
          <p:nvPr/>
        </p:nvPicPr>
        <p:blipFill>
          <a:blip r:embed="rId4"/>
          <a:stretch>
            <a:fillRect/>
          </a:stretch>
        </p:blipFill>
        <p:spPr>
          <a:xfrm>
            <a:off x="2702846" y="4054284"/>
            <a:ext cx="134549" cy="195707"/>
          </a:xfrm>
          <a:prstGeom prst="rect">
            <a:avLst/>
          </a:prstGeom>
        </p:spPr>
      </p:pic>
      <p:sp>
        <p:nvSpPr>
          <p:cNvPr id="34" name="TextBox 33"/>
          <p:cNvSpPr txBox="1"/>
          <p:nvPr/>
        </p:nvSpPr>
        <p:spPr>
          <a:xfrm>
            <a:off x="2877955" y="4064507"/>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5465460" y="4054284"/>
            <a:ext cx="134549" cy="195707"/>
          </a:xfrm>
          <a:prstGeom prst="rect">
            <a:avLst/>
          </a:prstGeom>
        </p:spPr>
      </p:pic>
      <p:sp>
        <p:nvSpPr>
          <p:cNvPr id="36" name="TextBox 35"/>
          <p:cNvSpPr txBox="1"/>
          <p:nvPr/>
        </p:nvSpPr>
        <p:spPr>
          <a:xfrm>
            <a:off x="5640569" y="406450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End User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End User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End User ·  2021 / 2026 / 2036 (US$ Mn)  ·  right axis = BPS share shift</a:t>
            </a:r>
          </a:p>
        </p:txBody>
      </p:sp>
      <p:graphicFrame>
        <p:nvGraphicFramePr>
          <p:cNvPr id="13" name="Chart 12"/>
          <p:cNvGraphicFramePr>
            <a:graphicFrameLocks noGrp="1"/>
          </p:cNvGraphicFramePr>
          <p:nvPr/>
        </p:nvGraphicFramePr>
        <p:xfrm>
          <a:off x="238125" y="1409700"/>
          <a:ext cx="4614672" cy="516255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419225"/>
            <a:ext cx="2595753" cy="177927"/>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3932301"/>
            <a:ext cx="38100" cy="38100"/>
          </a:xfrm>
          <a:prstGeom prst="rect">
            <a:avLst/>
          </a:prstGeom>
          <a:noFill/>
        </p:spPr>
        <p:txBody>
          <a:bodyPr wrap="none">
            <a:spAutoFit/>
          </a:bodyPr>
          <a:lstStyle/>
          <a:p/>
        </p:txBody>
      </p:sp>
      <p:sp>
        <p:nvSpPr>
          <p:cNvPr id="16" name="FMI Legend Chip"/>
          <p:cNvSpPr/>
          <p:nvPr/>
        </p:nvSpPr>
        <p:spPr>
          <a:xfrm>
            <a:off x="4928997" y="1706305"/>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70154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62534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Hospitals</a:t>
            </a:r>
          </a:p>
        </p:txBody>
      </p:sp>
      <p:sp>
        <p:nvSpPr>
          <p:cNvPr id="19" name="BPS Value 1"/>
          <p:cNvSpPr txBox="1"/>
          <p:nvPr/>
        </p:nvSpPr>
        <p:spPr>
          <a:xfrm>
            <a:off x="6896100" y="1687255"/>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2223290"/>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21852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14232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Clinics</a:t>
            </a:r>
          </a:p>
        </p:txBody>
      </p:sp>
      <p:sp>
        <p:nvSpPr>
          <p:cNvPr id="23" name="BPS Value 2"/>
          <p:cNvSpPr txBox="1"/>
          <p:nvPr/>
        </p:nvSpPr>
        <p:spPr>
          <a:xfrm>
            <a:off x="6896100" y="2204240"/>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928997" y="3455018"/>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45025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37405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Laboratories</a:t>
            </a:r>
          </a:p>
        </p:txBody>
      </p:sp>
      <p:sp>
        <p:nvSpPr>
          <p:cNvPr id="27" name="BPS Value 3"/>
          <p:cNvSpPr txBox="1"/>
          <p:nvPr/>
        </p:nvSpPr>
        <p:spPr>
          <a:xfrm>
            <a:off x="6896100" y="3435968"/>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FMI Legend Chip"/>
          <p:cNvSpPr/>
          <p:nvPr/>
        </p:nvSpPr>
        <p:spPr>
          <a:xfrm>
            <a:off x="4928997" y="5306520"/>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30175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22555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Academic &amp; Teaching Dental Institutions</a:t>
            </a:r>
          </a:p>
        </p:txBody>
      </p:sp>
      <p:sp>
        <p:nvSpPr>
          <p:cNvPr id="31" name="BPS Value 4"/>
          <p:cNvSpPr txBox="1"/>
          <p:nvPr/>
        </p:nvSpPr>
        <p:spPr>
          <a:xfrm>
            <a:off x="6896100" y="5287470"/>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End User</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7" name="Picture 36" descr="lock.png"/>
          <p:cNvPicPr>
            <a:picLocks noChangeAspect="1"/>
          </p:cNvPicPr>
          <p:nvPr/>
        </p:nvPicPr>
        <p:blipFill>
          <a:blip r:embed="rId5"/>
          <a:stretch>
            <a:fillRect/>
          </a:stretch>
        </p:blipFill>
        <p:spPr>
          <a:xfrm>
            <a:off x="2557843" y="3751325"/>
            <a:ext cx="275034" cy="400050"/>
          </a:xfrm>
          <a:prstGeom prst="rect">
            <a:avLst/>
          </a:prstGeom>
        </p:spPr>
      </p:pic>
      <p:sp>
        <p:nvSpPr>
          <p:cNvPr id="38" name="TextBox 37"/>
          <p:cNvSpPr txBox="1"/>
          <p:nvPr/>
        </p:nvSpPr>
        <p:spPr>
          <a:xfrm>
            <a:off x="7829550" y="1400175"/>
            <a:ext cx="3890615" cy="194310"/>
          </a:xfrm>
          <a:prstGeom prst="rect">
            <a:avLst/>
          </a:prstGeom>
          <a:noFill/>
        </p:spPr>
        <p:txBody>
          <a:bodyPr wrap="none" lIns="0" rIns="0" tIns="0" bIns="0">
            <a:spAutoFit/>
          </a:bodyPr>
          <a:lstStyle/>
          <a:p>
            <a:r>
              <a:rPr sz="1150" b="0">
                <a:solidFill>
                  <a:srgbClr val="2E2E2E"/>
                </a:solidFill>
                <a:latin typeface="Calibri"/>
              </a:rPr>
              <a:t>Among removable partial dentures by end user, dental hospitals</a:t>
            </a:r>
          </a:p>
        </p:txBody>
      </p:sp>
      <p:sp>
        <p:nvSpPr>
          <p:cNvPr id="39" name="TextBox 38"/>
          <p:cNvSpPr txBox="1"/>
          <p:nvPr/>
        </p:nvSpPr>
        <p:spPr>
          <a:xfrm>
            <a:off x="7829550" y="1575435"/>
            <a:ext cx="3156639" cy="194310"/>
          </a:xfrm>
          <a:prstGeom prst="rect">
            <a:avLst/>
          </a:prstGeom>
          <a:noFill/>
        </p:spPr>
        <p:txBody>
          <a:bodyPr wrap="none" lIns="0" rIns="0" tIns="0" bIns="0">
            <a:spAutoFit/>
          </a:bodyPr>
          <a:lstStyle/>
          <a:p>
            <a:r>
              <a:rPr sz="1150" b="0">
                <a:solidFill>
                  <a:srgbClr val="2E2E2E"/>
                </a:solidFill>
                <a:latin typeface="Calibri"/>
              </a:rPr>
              <a:t>segment is expected to witness the highest CAGR of</a:t>
            </a:r>
          </a:p>
        </p:txBody>
      </p:sp>
      <p:pic>
        <p:nvPicPr>
          <p:cNvPr id="40" name="Picture 39" descr="lock.png"/>
          <p:cNvPicPr>
            <a:picLocks noChangeAspect="1"/>
          </p:cNvPicPr>
          <p:nvPr/>
        </p:nvPicPr>
        <p:blipFill>
          <a:blip r:embed="rId5"/>
          <a:stretch>
            <a:fillRect/>
          </a:stretch>
        </p:blipFill>
        <p:spPr>
          <a:xfrm>
            <a:off x="10935343" y="1565211"/>
            <a:ext cx="134549" cy="195707"/>
          </a:xfrm>
          <a:prstGeom prst="rect">
            <a:avLst/>
          </a:prstGeom>
        </p:spPr>
      </p:pic>
      <p:sp>
        <p:nvSpPr>
          <p:cNvPr id="41" name="TextBox 40"/>
          <p:cNvSpPr txBox="1"/>
          <p:nvPr/>
        </p:nvSpPr>
        <p:spPr>
          <a:xfrm>
            <a:off x="11110452" y="1575435"/>
            <a:ext cx="574538" cy="194310"/>
          </a:xfrm>
          <a:prstGeom prst="rect">
            <a:avLst/>
          </a:prstGeom>
          <a:noFill/>
        </p:spPr>
        <p:txBody>
          <a:bodyPr wrap="none" lIns="0" rIns="0" tIns="0" bIns="0">
            <a:spAutoFit/>
          </a:bodyPr>
          <a:lstStyle/>
          <a:p>
            <a:r>
              <a:rPr sz="1150" b="0">
                <a:solidFill>
                  <a:srgbClr val="2E2E2E"/>
                </a:solidFill>
                <a:latin typeface="Calibri"/>
              </a:rPr>
              <a:t>over the</a:t>
            </a:r>
          </a:p>
        </p:txBody>
      </p:sp>
      <p:sp>
        <p:nvSpPr>
          <p:cNvPr id="42" name="TextBox 41"/>
          <p:cNvSpPr txBox="1"/>
          <p:nvPr/>
        </p:nvSpPr>
        <p:spPr>
          <a:xfrm>
            <a:off x="7829550" y="1750695"/>
            <a:ext cx="4001293" cy="194310"/>
          </a:xfrm>
          <a:prstGeom prst="rect">
            <a:avLst/>
          </a:prstGeom>
          <a:noFill/>
        </p:spPr>
        <p:txBody>
          <a:bodyPr wrap="none" lIns="0" rIns="0" tIns="0" bIns="0">
            <a:spAutoFit/>
          </a:bodyPr>
          <a:lstStyle/>
          <a:p>
            <a:r>
              <a:rPr sz="1150" b="0">
                <a:solidFill>
                  <a:srgbClr val="2E2E2E"/>
                </a:solidFill>
                <a:latin typeface="Calibri"/>
              </a:rPr>
              <a:t>forecast period. In terms of value share by end user, the academic</a:t>
            </a:r>
          </a:p>
        </p:txBody>
      </p:sp>
      <p:sp>
        <p:nvSpPr>
          <p:cNvPr id="43" name="TextBox 42"/>
          <p:cNvSpPr txBox="1"/>
          <p:nvPr/>
        </p:nvSpPr>
        <p:spPr>
          <a:xfrm>
            <a:off x="7829550" y="1925955"/>
            <a:ext cx="4057650" cy="194310"/>
          </a:xfrm>
          <a:prstGeom prst="rect">
            <a:avLst/>
          </a:prstGeom>
          <a:noFill/>
        </p:spPr>
        <p:txBody>
          <a:bodyPr wrap="none" lIns="0" rIns="0" tIns="0" bIns="0">
            <a:spAutoFit/>
          </a:bodyPr>
          <a:lstStyle/>
          <a:p>
            <a:r>
              <a:rPr sz="1150" b="0">
                <a:solidFill>
                  <a:srgbClr val="2E2E2E"/>
                </a:solidFill>
                <a:latin typeface="Calibri"/>
              </a:rPr>
              <a:t>&amp; teaching dental institutions segment is expected to dominate the</a:t>
            </a:r>
          </a:p>
        </p:txBody>
      </p:sp>
      <p:sp>
        <p:nvSpPr>
          <p:cNvPr id="44" name="TextBox 43"/>
          <p:cNvSpPr txBox="1"/>
          <p:nvPr/>
        </p:nvSpPr>
        <p:spPr>
          <a:xfrm>
            <a:off x="7829550" y="2101215"/>
            <a:ext cx="999852" cy="194310"/>
          </a:xfrm>
          <a:prstGeom prst="rect">
            <a:avLst/>
          </a:prstGeom>
          <a:noFill/>
        </p:spPr>
        <p:txBody>
          <a:bodyPr wrap="none" lIns="0" rIns="0" tIns="0" bIns="0">
            <a:spAutoFit/>
          </a:bodyPr>
          <a:lstStyle/>
          <a:p>
            <a:r>
              <a:rPr sz="1150" b="0">
                <a:solidFill>
                  <a:srgbClr val="2E2E2E"/>
                </a:solidFill>
                <a:latin typeface="Calibri"/>
              </a:rPr>
              <a:t>market, gaining</a:t>
            </a:r>
          </a:p>
        </p:txBody>
      </p:sp>
      <p:pic>
        <p:nvPicPr>
          <p:cNvPr id="45" name="Picture 44" descr="lock.png"/>
          <p:cNvPicPr>
            <a:picLocks noChangeAspect="1"/>
          </p:cNvPicPr>
          <p:nvPr/>
        </p:nvPicPr>
        <p:blipFill>
          <a:blip r:embed="rId5"/>
          <a:stretch>
            <a:fillRect/>
          </a:stretch>
        </p:blipFill>
        <p:spPr>
          <a:xfrm>
            <a:off x="8778556" y="2090991"/>
            <a:ext cx="134549" cy="195707"/>
          </a:xfrm>
          <a:prstGeom prst="rect">
            <a:avLst/>
          </a:prstGeom>
        </p:spPr>
      </p:pic>
      <p:sp>
        <p:nvSpPr>
          <p:cNvPr id="46" name="TextBox 45"/>
          <p:cNvSpPr txBox="1"/>
          <p:nvPr/>
        </p:nvSpPr>
        <p:spPr>
          <a:xfrm>
            <a:off x="8953665" y="2101215"/>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47" name="Picture 46" descr="lock.png"/>
          <p:cNvPicPr>
            <a:picLocks noChangeAspect="1"/>
          </p:cNvPicPr>
          <p:nvPr/>
        </p:nvPicPr>
        <p:blipFill>
          <a:blip r:embed="rId5"/>
          <a:stretch>
            <a:fillRect/>
          </a:stretch>
        </p:blipFill>
        <p:spPr>
          <a:xfrm>
            <a:off x="10348808" y="2090991"/>
            <a:ext cx="134549" cy="195707"/>
          </a:xfrm>
          <a:prstGeom prst="rect">
            <a:avLst/>
          </a:prstGeom>
        </p:spPr>
      </p:pic>
      <p:sp>
        <p:nvSpPr>
          <p:cNvPr id="48" name="TextBox 47"/>
          <p:cNvSpPr txBox="1"/>
          <p:nvPr/>
        </p:nvSpPr>
        <p:spPr>
          <a:xfrm>
            <a:off x="10523917" y="2101215"/>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9" name="TextBox 48"/>
          <p:cNvSpPr txBox="1"/>
          <p:nvPr/>
        </p:nvSpPr>
        <p:spPr>
          <a:xfrm>
            <a:off x="7829550" y="2329053"/>
            <a:ext cx="3143250" cy="194310"/>
          </a:xfrm>
          <a:prstGeom prst="rect">
            <a:avLst/>
          </a:prstGeom>
          <a:noFill/>
        </p:spPr>
        <p:txBody>
          <a:bodyPr wrap="none" lIns="0" rIns="0" tIns="0" bIns="0">
            <a:spAutoFit/>
          </a:bodyPr>
          <a:lstStyle/>
          <a:p>
            <a:r>
              <a:rPr sz="1150" b="0">
                <a:solidFill>
                  <a:srgbClr val="2E2E2E"/>
                </a:solidFill>
                <a:latin typeface="Calibri"/>
              </a:rPr>
              <a:t>The dental laboratories segment is expected to lose</a:t>
            </a:r>
          </a:p>
        </p:txBody>
      </p:sp>
      <p:pic>
        <p:nvPicPr>
          <p:cNvPr id="50" name="Picture 49" descr="lock.png"/>
          <p:cNvPicPr>
            <a:picLocks noChangeAspect="1"/>
          </p:cNvPicPr>
          <p:nvPr/>
        </p:nvPicPr>
        <p:blipFill>
          <a:blip r:embed="rId5"/>
          <a:stretch>
            <a:fillRect/>
          </a:stretch>
        </p:blipFill>
        <p:spPr>
          <a:xfrm>
            <a:off x="10921953" y="2318829"/>
            <a:ext cx="134549" cy="195707"/>
          </a:xfrm>
          <a:prstGeom prst="rect">
            <a:avLst/>
          </a:prstGeom>
        </p:spPr>
      </p:pic>
      <p:sp>
        <p:nvSpPr>
          <p:cNvPr id="51" name="TextBox 50"/>
          <p:cNvSpPr txBox="1"/>
          <p:nvPr/>
        </p:nvSpPr>
        <p:spPr>
          <a:xfrm>
            <a:off x="11097063" y="2329053"/>
            <a:ext cx="598214" cy="194310"/>
          </a:xfrm>
          <a:prstGeom prst="rect">
            <a:avLst/>
          </a:prstGeom>
          <a:noFill/>
        </p:spPr>
        <p:txBody>
          <a:bodyPr wrap="none" lIns="0" rIns="0" tIns="0" bIns="0">
            <a:spAutoFit/>
          </a:bodyPr>
          <a:lstStyle/>
          <a:p>
            <a:r>
              <a:rPr sz="1150" b="0">
                <a:solidFill>
                  <a:srgbClr val="2E2E2E"/>
                </a:solidFill>
                <a:latin typeface="Calibri"/>
              </a:rPr>
              <a:t>BPS over</a:t>
            </a:r>
          </a:p>
        </p:txBody>
      </p:sp>
      <p:sp>
        <p:nvSpPr>
          <p:cNvPr id="52" name="TextBox 51"/>
          <p:cNvSpPr txBox="1"/>
          <p:nvPr/>
        </p:nvSpPr>
        <p:spPr>
          <a:xfrm>
            <a:off x="7829550" y="2504313"/>
            <a:ext cx="2083246" cy="194310"/>
          </a:xfrm>
          <a:prstGeom prst="rect">
            <a:avLst/>
          </a:prstGeom>
          <a:noFill/>
        </p:spPr>
        <p:txBody>
          <a:bodyPr wrap="none" lIns="0" rIns="0" tIns="0" bIns="0">
            <a:spAutoFit/>
          </a:bodyPr>
          <a:lstStyle/>
          <a:p>
            <a:r>
              <a:rPr sz="1150" b="0">
                <a:solidFill>
                  <a:srgbClr val="2E2E2E"/>
                </a:solidFill>
                <a:latin typeface="Calibri"/>
              </a:rPr>
              <a:t>the forecast period to account for</a:t>
            </a:r>
          </a:p>
        </p:txBody>
      </p:sp>
      <p:pic>
        <p:nvPicPr>
          <p:cNvPr id="53" name="Picture 52" descr="lock.png"/>
          <p:cNvPicPr>
            <a:picLocks noChangeAspect="1"/>
          </p:cNvPicPr>
          <p:nvPr/>
        </p:nvPicPr>
        <p:blipFill>
          <a:blip r:embed="rId5"/>
          <a:stretch>
            <a:fillRect/>
          </a:stretch>
        </p:blipFill>
        <p:spPr>
          <a:xfrm>
            <a:off x="9861950" y="2494089"/>
            <a:ext cx="134549" cy="195707"/>
          </a:xfrm>
          <a:prstGeom prst="rect">
            <a:avLst/>
          </a:prstGeom>
        </p:spPr>
      </p:pic>
      <p:sp>
        <p:nvSpPr>
          <p:cNvPr id="54" name="TextBox 53"/>
          <p:cNvSpPr txBox="1"/>
          <p:nvPr/>
        </p:nvSpPr>
        <p:spPr>
          <a:xfrm>
            <a:off x="10037059" y="250431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55" name="lockshield_13"/>
          <p:cNvSpPr/>
          <p:nvPr/>
        </p:nvSpPr>
        <p:spPr>
          <a:xfrm>
            <a:off x="238125" y="1409700"/>
            <a:ext cx="4614672" cy="51625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End User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End User,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End User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1238250"/>
        </p:xfrm>
        <a:graphic>
          <a:graphicData uri="http://schemas.openxmlformats.org/drawingml/2006/table">
            <a:tbl>
              <a:tblPr>
                <a:tableStyleId>{5C22544A-7EE6-4342-B048-85BDC9FD1C3A}</a:tableStyleId>
              </a:tblPr>
              <a:tblGrid>
                <a:gridCol w="2742560"/>
                <a:gridCol w="609643"/>
                <a:gridCol w="609643"/>
                <a:gridCol w="609643"/>
                <a:gridCol w="609643"/>
                <a:gridCol w="609643"/>
                <a:gridCol w="609643"/>
                <a:gridCol w="609643"/>
                <a:gridCol w="609643"/>
                <a:gridCol w="609643"/>
                <a:gridCol w="609643"/>
                <a:gridCol w="609643"/>
                <a:gridCol w="609643"/>
                <a:gridCol w="609643"/>
                <a:gridCol w="609643"/>
                <a:gridCol w="609643"/>
              </a:tblGrid>
              <a:tr h="246126">
                <a:tc>
                  <a:txBody>
                    <a:bodyPr wrap="none"/>
                    <a:lstStyle/>
                    <a:p>
                      <a:pPr algn="l"/>
                      <a:r>
                        <a:rPr sz="1100" b="1">
                          <a:solidFill>
                            <a:srgbClr val="0B2E4A"/>
                          </a:solidFill>
                          <a:latin typeface="Calibri"/>
                        </a:rPr>
                        <a:t>End User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Dental Clinics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Dental Hospitals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Dental Laboratories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Academic &amp; Teaching Dental Institutions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End User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Dental Clinics</a:t>
            </a:r>
          </a:p>
        </p:txBody>
      </p:sp>
      <p:sp>
        <p:nvSpPr>
          <p:cNvPr id="33" name="Rectangle 32"/>
          <p:cNvSpPr/>
          <p:nvPr/>
        </p:nvSpPr>
        <p:spPr>
          <a:xfrm>
            <a:off x="1857375" y="3248025"/>
            <a:ext cx="643890" cy="831056"/>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B3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8D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Dental Hospitals</a:t>
            </a:r>
          </a:p>
        </p:txBody>
      </p:sp>
      <p:sp>
        <p:nvSpPr>
          <p:cNvPr id="49" name="Rectangle 48"/>
          <p:cNvSpPr/>
          <p:nvPr/>
        </p:nvSpPr>
        <p:spPr>
          <a:xfrm>
            <a:off x="1857375" y="4079081"/>
            <a:ext cx="643890" cy="831056"/>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40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0E69A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0D64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0D54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0C4F7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0C49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0C43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Dental Laboratories</a:t>
            </a:r>
          </a:p>
        </p:txBody>
      </p:sp>
      <p:sp>
        <p:nvSpPr>
          <p:cNvPr id="65" name="Rectangle 64"/>
          <p:cNvSpPr/>
          <p:nvPr/>
        </p:nvSpPr>
        <p:spPr>
          <a:xfrm>
            <a:off x="185737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E6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Academic &amp; Teaching Dental Institutions</a:t>
            </a:r>
          </a:p>
        </p:txBody>
      </p:sp>
      <p:sp>
        <p:nvSpPr>
          <p:cNvPr id="81" name="Rectangle 80"/>
          <p:cNvSpPr/>
          <p:nvPr/>
        </p:nvSpPr>
        <p:spPr>
          <a:xfrm>
            <a:off x="1857375" y="5741194"/>
            <a:ext cx="643890" cy="831056"/>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77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64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7280592" y="1713738"/>
            <a:ext cx="366712" cy="533400"/>
          </a:xfrm>
          <a:prstGeom prst="rect">
            <a:avLst/>
          </a:prstGeom>
        </p:spPr>
      </p:pic>
    </p:spTree>
  </p:cSld>
  <p:clrMapOvr>
    <a:masterClrMapping/>
  </p:clrMapOvr>
</p:sld>
</file>

<file path=ppt/slides/slide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End User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End User,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End User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1238250"/>
        </p:xfrm>
        <a:graphic>
          <a:graphicData uri="http://schemas.openxmlformats.org/drawingml/2006/table">
            <a:tbl>
              <a:tblPr>
                <a:tableStyleId>{5C22544A-7EE6-4342-B048-85BDC9FD1C3A}</a:tableStyleId>
              </a:tblPr>
              <a:tblGrid>
                <a:gridCol w="2742560"/>
                <a:gridCol w="609643"/>
                <a:gridCol w="609643"/>
                <a:gridCol w="609643"/>
                <a:gridCol w="609643"/>
                <a:gridCol w="609643"/>
                <a:gridCol w="609643"/>
                <a:gridCol w="609643"/>
                <a:gridCol w="609643"/>
                <a:gridCol w="609643"/>
                <a:gridCol w="609643"/>
                <a:gridCol w="609643"/>
                <a:gridCol w="609643"/>
                <a:gridCol w="609643"/>
                <a:gridCol w="609643"/>
                <a:gridCol w="609643"/>
              </a:tblGrid>
              <a:tr h="246126">
                <a:tc>
                  <a:txBody>
                    <a:bodyPr wrap="none"/>
                    <a:lstStyle/>
                    <a:p>
                      <a:pPr algn="l"/>
                      <a:r>
                        <a:rPr sz="1100" b="1">
                          <a:solidFill>
                            <a:srgbClr val="0B2E4A"/>
                          </a:solidFill>
                          <a:latin typeface="Calibri"/>
                        </a:rPr>
                        <a:t>End User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Dental Clinics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Dental Hospitals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Dental Laboratories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Academic &amp; Teaching Dental Institutions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End User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Dental Clinics</a:t>
            </a:r>
          </a:p>
        </p:txBody>
      </p:sp>
      <p:sp>
        <p:nvSpPr>
          <p:cNvPr id="33" name="Rectangle 32"/>
          <p:cNvSpPr/>
          <p:nvPr/>
        </p:nvSpPr>
        <p:spPr>
          <a:xfrm>
            <a:off x="1857375" y="3248025"/>
            <a:ext cx="643890" cy="831056"/>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C1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8D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86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Dental Hospitals</a:t>
            </a:r>
          </a:p>
        </p:txBody>
      </p:sp>
      <p:sp>
        <p:nvSpPr>
          <p:cNvPr id="49" name="Rectangle 48"/>
          <p:cNvSpPr/>
          <p:nvPr/>
        </p:nvSpPr>
        <p:spPr>
          <a:xfrm>
            <a:off x="1857375" y="4079081"/>
            <a:ext cx="643890" cy="831056"/>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19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0D659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0D517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0C47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Dental Laboratories</a:t>
            </a:r>
          </a:p>
        </p:txBody>
      </p:sp>
      <p:sp>
        <p:nvSpPr>
          <p:cNvPr id="65" name="Rectangle 64"/>
          <p:cNvSpPr/>
          <p:nvPr/>
        </p:nvSpPr>
        <p:spPr>
          <a:xfrm>
            <a:off x="185737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E6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Academic &amp; Teaching Dental Institutions</a:t>
            </a:r>
          </a:p>
        </p:txBody>
      </p:sp>
      <p:sp>
        <p:nvSpPr>
          <p:cNvPr id="81" name="Rectangle 80"/>
          <p:cNvSpPr/>
          <p:nvPr/>
        </p:nvSpPr>
        <p:spPr>
          <a:xfrm>
            <a:off x="1857375" y="5741194"/>
            <a:ext cx="643890" cy="831056"/>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73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62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5E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7280592" y="1713738"/>
            <a:ext cx="366712" cy="533400"/>
          </a:xfrm>
          <a:prstGeom prst="rect">
            <a:avLst/>
          </a:prstGeom>
        </p:spPr>
      </p:pic>
    </p:spTree>
  </p:cSld>
  <p:clrMapOvr>
    <a:masterClrMapping/>
  </p:clrMapOvr>
</p:sld>
</file>

<file path=ppt/slides/slide8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Distribution Channel</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Distribution Channel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Distribution Channel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Distribution Channel,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Distribution Channel segment categorizes the market by distribution channel.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Dental Dealers &amp; Distributors</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Direct Sales</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Online Dental Supply Channels</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Distribution Channel split shows how demand is distributed across distribution channel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Distribution Channel segment is projected to grow at a CAGR of 4.4% from 2026 to 2036.</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7" name="Picture 56" descr="712_7_605E5C.png"/>
          <p:cNvPicPr>
            <a:picLocks noChangeAspect="1"/>
          </p:cNvPicPr>
          <p:nvPr/>
        </p:nvPicPr>
        <p:blipFill>
          <a:blip r:embed="rId4"/>
          <a:stretch>
            <a:fillRect/>
          </a:stretch>
        </p:blipFill>
        <p:spPr>
          <a:xfrm>
            <a:off x="2897811" y="2286582"/>
            <a:ext cx="1195728" cy="361950"/>
          </a:xfrm>
          <a:prstGeom prst="rect">
            <a:avLst/>
          </a:prstGeom>
        </p:spPr>
      </p:pic>
      <p:pic>
        <p:nvPicPr>
          <p:cNvPr id="58" name="Picture 57" descr="909_9_605E5C.png"/>
          <p:cNvPicPr>
            <a:picLocks noChangeAspect="1"/>
          </p:cNvPicPr>
          <p:nvPr/>
        </p:nvPicPr>
        <p:blipFill>
          <a:blip r:embed="rId5"/>
          <a:stretch>
            <a:fillRect/>
          </a:stretch>
        </p:blipFill>
        <p:spPr>
          <a:xfrm>
            <a:off x="2897811" y="2779432"/>
            <a:ext cx="1195728" cy="361950"/>
          </a:xfrm>
          <a:prstGeom prst="rect">
            <a:avLst/>
          </a:prstGeom>
        </p:spPr>
      </p:pic>
      <p:pic>
        <p:nvPicPr>
          <p:cNvPr id="59" name="Picture 58" descr="2_5__605E5C.png"/>
          <p:cNvPicPr>
            <a:picLocks noChangeAspect="1"/>
          </p:cNvPicPr>
          <p:nvPr/>
        </p:nvPicPr>
        <p:blipFill>
          <a:blip r:embed="rId6"/>
          <a:stretch>
            <a:fillRect/>
          </a:stretch>
        </p:blipFill>
        <p:spPr>
          <a:xfrm>
            <a:off x="3004457" y="3272281"/>
            <a:ext cx="982436" cy="361950"/>
          </a:xfrm>
          <a:prstGeom prst="rect">
            <a:avLst/>
          </a:prstGeom>
        </p:spPr>
      </p:pic>
      <p:pic>
        <p:nvPicPr>
          <p:cNvPr id="60" name="Picture 59" descr="295_2_605E5C.png"/>
          <p:cNvPicPr>
            <a:picLocks noChangeAspect="1"/>
          </p:cNvPicPr>
          <p:nvPr/>
        </p:nvPicPr>
        <p:blipFill>
          <a:blip r:embed="rId7"/>
          <a:stretch>
            <a:fillRect/>
          </a:stretch>
        </p:blipFill>
        <p:spPr>
          <a:xfrm>
            <a:off x="6269661" y="2286582"/>
            <a:ext cx="1195728" cy="361950"/>
          </a:xfrm>
          <a:prstGeom prst="rect">
            <a:avLst/>
          </a:prstGeom>
        </p:spPr>
      </p:pic>
      <p:pic>
        <p:nvPicPr>
          <p:cNvPr id="61" name="Picture 60" descr="671_5_605E5C.png"/>
          <p:cNvPicPr>
            <a:picLocks noChangeAspect="1"/>
          </p:cNvPicPr>
          <p:nvPr/>
        </p:nvPicPr>
        <p:blipFill>
          <a:blip r:embed="rId8"/>
          <a:stretch>
            <a:fillRect/>
          </a:stretch>
        </p:blipFill>
        <p:spPr>
          <a:xfrm>
            <a:off x="6269661" y="2779432"/>
            <a:ext cx="1195728" cy="361950"/>
          </a:xfrm>
          <a:prstGeom prst="rect">
            <a:avLst/>
          </a:prstGeom>
        </p:spPr>
      </p:pic>
      <p:pic>
        <p:nvPicPr>
          <p:cNvPr id="62" name="Picture 61" descr="8_6__605E5C.png"/>
          <p:cNvPicPr>
            <a:picLocks noChangeAspect="1"/>
          </p:cNvPicPr>
          <p:nvPr/>
        </p:nvPicPr>
        <p:blipFill>
          <a:blip r:embed="rId9"/>
          <a:stretch>
            <a:fillRect/>
          </a:stretch>
        </p:blipFill>
        <p:spPr>
          <a:xfrm>
            <a:off x="6376307" y="3272281"/>
            <a:ext cx="982436" cy="361950"/>
          </a:xfrm>
          <a:prstGeom prst="rect">
            <a:avLst/>
          </a:prstGeom>
        </p:spPr>
      </p:pic>
      <p:pic>
        <p:nvPicPr>
          <p:cNvPr id="63" name="Picture 62" descr="117_3_605E5C.png"/>
          <p:cNvPicPr>
            <a:picLocks noChangeAspect="1"/>
          </p:cNvPicPr>
          <p:nvPr/>
        </p:nvPicPr>
        <p:blipFill>
          <a:blip r:embed="rId10"/>
          <a:stretch>
            <a:fillRect/>
          </a:stretch>
        </p:blipFill>
        <p:spPr>
          <a:xfrm>
            <a:off x="9641511" y="2286582"/>
            <a:ext cx="1195728" cy="361950"/>
          </a:xfrm>
          <a:prstGeom prst="rect">
            <a:avLst/>
          </a:prstGeom>
        </p:spPr>
      </p:pic>
      <p:pic>
        <p:nvPicPr>
          <p:cNvPr id="64" name="Picture 63" descr="149_5_605E5C.png"/>
          <p:cNvPicPr>
            <a:picLocks noChangeAspect="1"/>
          </p:cNvPicPr>
          <p:nvPr/>
        </p:nvPicPr>
        <p:blipFill>
          <a:blip r:embed="rId11"/>
          <a:stretch>
            <a:fillRect/>
          </a:stretch>
        </p:blipFill>
        <p:spPr>
          <a:xfrm>
            <a:off x="9641511" y="2779432"/>
            <a:ext cx="1195728" cy="361950"/>
          </a:xfrm>
          <a:prstGeom prst="rect">
            <a:avLst/>
          </a:prstGeom>
        </p:spPr>
      </p:pic>
      <p:pic>
        <p:nvPicPr>
          <p:cNvPr id="65" name="Picture 64" descr="2_4__605E5C.png"/>
          <p:cNvPicPr>
            <a:picLocks noChangeAspect="1"/>
          </p:cNvPicPr>
          <p:nvPr/>
        </p:nvPicPr>
        <p:blipFill>
          <a:blip r:embed="rId12"/>
          <a:stretch>
            <a:fillRect/>
          </a:stretch>
        </p:blipFill>
        <p:spPr>
          <a:xfrm>
            <a:off x="9748157" y="3272281"/>
            <a:ext cx="982436" cy="361950"/>
          </a:xfrm>
          <a:prstGeom prst="rect">
            <a:avLst/>
          </a:prstGeom>
        </p:spPr>
      </p:pic>
      <p:pic>
        <p:nvPicPr>
          <p:cNvPr id="66" name="Picture 65" descr="lock.png"/>
          <p:cNvPicPr>
            <a:picLocks noChangeAspect="1"/>
          </p:cNvPicPr>
          <p:nvPr/>
        </p:nvPicPr>
        <p:blipFill>
          <a:blip r:embed="rId13"/>
          <a:stretch>
            <a:fillRect/>
          </a:stretch>
        </p:blipFill>
        <p:spPr>
          <a:xfrm>
            <a:off x="3402330" y="2827057"/>
            <a:ext cx="183356" cy="266700"/>
          </a:xfrm>
          <a:prstGeom prst="rect">
            <a:avLst/>
          </a:prstGeom>
        </p:spPr>
      </p:pic>
      <p:pic>
        <p:nvPicPr>
          <p:cNvPr id="67" name="Picture 66" descr="lock.png"/>
          <p:cNvPicPr>
            <a:picLocks noChangeAspect="1"/>
          </p:cNvPicPr>
          <p:nvPr/>
        </p:nvPicPr>
        <p:blipFill>
          <a:blip r:embed="rId13"/>
          <a:stretch>
            <a:fillRect/>
          </a:stretch>
        </p:blipFill>
        <p:spPr>
          <a:xfrm>
            <a:off x="6774180" y="2827057"/>
            <a:ext cx="183356" cy="266700"/>
          </a:xfrm>
          <a:prstGeom prst="rect">
            <a:avLst/>
          </a:prstGeom>
        </p:spPr>
      </p:pic>
      <p:pic>
        <p:nvPicPr>
          <p:cNvPr id="68" name="Picture 67" descr="lock.png"/>
          <p:cNvPicPr>
            <a:picLocks noChangeAspect="1"/>
          </p:cNvPicPr>
          <p:nvPr/>
        </p:nvPicPr>
        <p:blipFill>
          <a:blip r:embed="rId13"/>
          <a:stretch>
            <a:fillRect/>
          </a:stretch>
        </p:blipFill>
        <p:spPr>
          <a:xfrm>
            <a:off x="10146030" y="2827057"/>
            <a:ext cx="183356" cy="266700"/>
          </a:xfrm>
          <a:prstGeom prst="rect">
            <a:avLst/>
          </a:prstGeom>
        </p:spPr>
      </p:pic>
      <p:sp>
        <p:nvSpPr>
          <p:cNvPr id="69" name="TextBox 68"/>
          <p:cNvSpPr txBox="1"/>
          <p:nvPr/>
        </p:nvSpPr>
        <p:spPr>
          <a:xfrm>
            <a:off x="485775" y="4229437"/>
            <a:ext cx="2424906" cy="186689"/>
          </a:xfrm>
          <a:prstGeom prst="rect">
            <a:avLst/>
          </a:prstGeom>
          <a:noFill/>
        </p:spPr>
        <p:txBody>
          <a:bodyPr wrap="none" lIns="0" rIns="0" tIns="0" bIns="0">
            <a:spAutoFit/>
          </a:bodyPr>
          <a:lstStyle/>
          <a:p>
            <a:r>
              <a:rPr sz="1100" b="0">
                <a:solidFill>
                  <a:srgbClr val="2E2E2E"/>
                </a:solidFill>
                <a:latin typeface="Calibri"/>
              </a:rPr>
              <a:t>▪ ¶ Among removable partial dentures by</a:t>
            </a:r>
          </a:p>
        </p:txBody>
      </p:sp>
      <p:sp>
        <p:nvSpPr>
          <p:cNvPr id="70" name="TextBox 69"/>
          <p:cNvSpPr txBox="1"/>
          <p:nvPr/>
        </p:nvSpPr>
        <p:spPr>
          <a:xfrm>
            <a:off x="485775" y="4397077"/>
            <a:ext cx="2564606" cy="186689"/>
          </a:xfrm>
          <a:prstGeom prst="rect">
            <a:avLst/>
          </a:prstGeom>
          <a:noFill/>
        </p:spPr>
        <p:txBody>
          <a:bodyPr wrap="none" lIns="0" rIns="0" tIns="0" bIns="0">
            <a:spAutoFit/>
          </a:bodyPr>
          <a:lstStyle/>
          <a:p>
            <a:r>
              <a:rPr sz="1100" b="0">
                <a:solidFill>
                  <a:srgbClr val="2E2E2E"/>
                </a:solidFill>
                <a:latin typeface="Calibri"/>
              </a:rPr>
              <a:t>distribution channel, direct sales segment is</a:t>
            </a:r>
          </a:p>
        </p:txBody>
      </p:sp>
      <p:sp>
        <p:nvSpPr>
          <p:cNvPr id="71" name="TextBox 70"/>
          <p:cNvSpPr txBox="1"/>
          <p:nvPr/>
        </p:nvSpPr>
        <p:spPr>
          <a:xfrm>
            <a:off x="485775" y="4564717"/>
            <a:ext cx="2381232" cy="186689"/>
          </a:xfrm>
          <a:prstGeom prst="rect">
            <a:avLst/>
          </a:prstGeom>
          <a:noFill/>
        </p:spPr>
        <p:txBody>
          <a:bodyPr wrap="none" lIns="0" rIns="0" tIns="0" bIns="0">
            <a:spAutoFit/>
          </a:bodyPr>
          <a:lstStyle/>
          <a:p>
            <a:r>
              <a:rPr sz="1100" b="0">
                <a:solidFill>
                  <a:srgbClr val="2E2E2E"/>
                </a:solidFill>
                <a:latin typeface="Calibri"/>
              </a:rPr>
              <a:t>expected to witness the highest CAGR of</a:t>
            </a:r>
          </a:p>
        </p:txBody>
      </p:sp>
      <p:pic>
        <p:nvPicPr>
          <p:cNvPr id="72" name="Picture 71" descr="lock.png"/>
          <p:cNvPicPr>
            <a:picLocks noChangeAspect="1"/>
          </p:cNvPicPr>
          <p:nvPr/>
        </p:nvPicPr>
        <p:blipFill>
          <a:blip r:embed="rId13"/>
          <a:stretch>
            <a:fillRect/>
          </a:stretch>
        </p:blipFill>
        <p:spPr>
          <a:xfrm>
            <a:off x="2815059" y="4554938"/>
            <a:ext cx="128699" cy="187198"/>
          </a:xfrm>
          <a:prstGeom prst="rect">
            <a:avLst/>
          </a:prstGeom>
        </p:spPr>
      </p:pic>
      <p:sp>
        <p:nvSpPr>
          <p:cNvPr id="73" name="TextBox 72"/>
          <p:cNvSpPr txBox="1"/>
          <p:nvPr/>
        </p:nvSpPr>
        <p:spPr>
          <a:xfrm>
            <a:off x="2982555" y="4564717"/>
            <a:ext cx="331316" cy="186689"/>
          </a:xfrm>
          <a:prstGeom prst="rect">
            <a:avLst/>
          </a:prstGeom>
          <a:noFill/>
        </p:spPr>
        <p:txBody>
          <a:bodyPr wrap="none" lIns="0" rIns="0" tIns="0" bIns="0">
            <a:spAutoFit/>
          </a:bodyPr>
          <a:lstStyle/>
          <a:p>
            <a:r>
              <a:rPr sz="1100" b="0">
                <a:solidFill>
                  <a:srgbClr val="2E2E2E"/>
                </a:solidFill>
                <a:latin typeface="Calibri"/>
              </a:rPr>
              <a:t>over</a:t>
            </a:r>
          </a:p>
        </p:txBody>
      </p:sp>
      <p:sp>
        <p:nvSpPr>
          <p:cNvPr id="74" name="TextBox 73"/>
          <p:cNvSpPr txBox="1"/>
          <p:nvPr/>
        </p:nvSpPr>
        <p:spPr>
          <a:xfrm>
            <a:off x="485775" y="4732357"/>
            <a:ext cx="2699122" cy="186689"/>
          </a:xfrm>
          <a:prstGeom prst="rect">
            <a:avLst/>
          </a:prstGeom>
          <a:noFill/>
        </p:spPr>
        <p:txBody>
          <a:bodyPr wrap="none" lIns="0" rIns="0" tIns="0" bIns="0">
            <a:spAutoFit/>
          </a:bodyPr>
          <a:lstStyle/>
          <a:p>
            <a:r>
              <a:rPr sz="1100" b="0">
                <a:solidFill>
                  <a:srgbClr val="2E2E2E"/>
                </a:solidFill>
                <a:latin typeface="Calibri"/>
              </a:rPr>
              <a:t>the forecast period. In terms of value share by</a:t>
            </a:r>
          </a:p>
        </p:txBody>
      </p:sp>
      <p:sp>
        <p:nvSpPr>
          <p:cNvPr id="75" name="TextBox 74"/>
          <p:cNvSpPr txBox="1"/>
          <p:nvPr/>
        </p:nvSpPr>
        <p:spPr>
          <a:xfrm>
            <a:off x="485775" y="4899997"/>
            <a:ext cx="2441004" cy="186689"/>
          </a:xfrm>
          <a:prstGeom prst="rect">
            <a:avLst/>
          </a:prstGeom>
          <a:noFill/>
        </p:spPr>
        <p:txBody>
          <a:bodyPr wrap="none" lIns="0" rIns="0" tIns="0" bIns="0">
            <a:spAutoFit/>
          </a:bodyPr>
          <a:lstStyle/>
          <a:p>
            <a:r>
              <a:rPr sz="1100" b="0">
                <a:solidFill>
                  <a:srgbClr val="2E2E2E"/>
                </a:solidFill>
                <a:latin typeface="Calibri"/>
              </a:rPr>
              <a:t>distribution channel, the dental dealers &amp;</a:t>
            </a:r>
          </a:p>
        </p:txBody>
      </p:sp>
      <p:sp>
        <p:nvSpPr>
          <p:cNvPr id="76" name="TextBox 75"/>
          <p:cNvSpPr txBox="1"/>
          <p:nvPr/>
        </p:nvSpPr>
        <p:spPr>
          <a:xfrm>
            <a:off x="485775" y="5067637"/>
            <a:ext cx="2883569" cy="186689"/>
          </a:xfrm>
          <a:prstGeom prst="rect">
            <a:avLst/>
          </a:prstGeom>
          <a:noFill/>
        </p:spPr>
        <p:txBody>
          <a:bodyPr wrap="none" lIns="0" rIns="0" tIns="0" bIns="0">
            <a:spAutoFit/>
          </a:bodyPr>
          <a:lstStyle/>
          <a:p>
            <a:r>
              <a:rPr sz="1100" b="0">
                <a:solidFill>
                  <a:srgbClr val="2E2E2E"/>
                </a:solidFill>
                <a:latin typeface="Calibri"/>
              </a:rPr>
              <a:t>distributors segment is expected to dominate the</a:t>
            </a:r>
          </a:p>
        </p:txBody>
      </p:sp>
      <p:sp>
        <p:nvSpPr>
          <p:cNvPr id="77" name="TextBox 76"/>
          <p:cNvSpPr txBox="1"/>
          <p:nvPr/>
        </p:nvSpPr>
        <p:spPr>
          <a:xfrm>
            <a:off x="485775" y="5235277"/>
            <a:ext cx="881930" cy="186689"/>
          </a:xfrm>
          <a:prstGeom prst="rect">
            <a:avLst/>
          </a:prstGeom>
          <a:noFill/>
        </p:spPr>
        <p:txBody>
          <a:bodyPr wrap="none" lIns="0" rIns="0" tIns="0" bIns="0">
            <a:spAutoFit/>
          </a:bodyPr>
          <a:lstStyle/>
          <a:p>
            <a:r>
              <a:rPr sz="1100" b="0">
                <a:solidFill>
                  <a:srgbClr val="2E2E2E"/>
                </a:solidFill>
                <a:latin typeface="Calibri"/>
              </a:rPr>
              <a:t>market, losing</a:t>
            </a:r>
          </a:p>
        </p:txBody>
      </p:sp>
      <p:pic>
        <p:nvPicPr>
          <p:cNvPr id="78" name="Picture 77" descr="lock.png"/>
          <p:cNvPicPr>
            <a:picLocks noChangeAspect="1"/>
          </p:cNvPicPr>
          <p:nvPr/>
        </p:nvPicPr>
        <p:blipFill>
          <a:blip r:embed="rId13"/>
          <a:stretch>
            <a:fillRect/>
          </a:stretch>
        </p:blipFill>
        <p:spPr>
          <a:xfrm>
            <a:off x="1315757" y="5225498"/>
            <a:ext cx="128699" cy="187198"/>
          </a:xfrm>
          <a:prstGeom prst="rect">
            <a:avLst/>
          </a:prstGeom>
        </p:spPr>
      </p:pic>
      <p:sp>
        <p:nvSpPr>
          <p:cNvPr id="79" name="TextBox 78"/>
          <p:cNvSpPr txBox="1"/>
          <p:nvPr/>
        </p:nvSpPr>
        <p:spPr>
          <a:xfrm>
            <a:off x="1483253" y="5235277"/>
            <a:ext cx="1386433" cy="186689"/>
          </a:xfrm>
          <a:prstGeom prst="rect">
            <a:avLst/>
          </a:prstGeom>
          <a:noFill/>
        </p:spPr>
        <p:txBody>
          <a:bodyPr wrap="none" lIns="0" rIns="0" tIns="0" bIns="0">
            <a:spAutoFit/>
          </a:bodyPr>
          <a:lstStyle/>
          <a:p>
            <a:r>
              <a:rPr sz="1100" b="0">
                <a:solidFill>
                  <a:srgbClr val="2E2E2E"/>
                </a:solidFill>
                <a:latin typeface="Calibri"/>
              </a:rPr>
              <a:t>BPS and accounting for</a:t>
            </a:r>
          </a:p>
        </p:txBody>
      </p:sp>
      <p:pic>
        <p:nvPicPr>
          <p:cNvPr id="80" name="Picture 79" descr="lock.png"/>
          <p:cNvPicPr>
            <a:picLocks noChangeAspect="1"/>
          </p:cNvPicPr>
          <p:nvPr/>
        </p:nvPicPr>
        <p:blipFill>
          <a:blip r:embed="rId13"/>
          <a:stretch>
            <a:fillRect/>
          </a:stretch>
        </p:blipFill>
        <p:spPr>
          <a:xfrm>
            <a:off x="2817737" y="5225498"/>
            <a:ext cx="128699" cy="187198"/>
          </a:xfrm>
          <a:prstGeom prst="rect">
            <a:avLst/>
          </a:prstGeom>
        </p:spPr>
      </p:pic>
      <p:sp>
        <p:nvSpPr>
          <p:cNvPr id="81" name="TextBox 80"/>
          <p:cNvSpPr txBox="1"/>
          <p:nvPr/>
        </p:nvSpPr>
        <p:spPr>
          <a:xfrm>
            <a:off x="485775" y="540291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82" name="TextBox 81"/>
          <p:cNvSpPr txBox="1"/>
          <p:nvPr/>
        </p:nvSpPr>
        <p:spPr>
          <a:xfrm>
            <a:off x="485775" y="5620849"/>
            <a:ext cx="2551236" cy="186689"/>
          </a:xfrm>
          <a:prstGeom prst="rect">
            <a:avLst/>
          </a:prstGeom>
          <a:noFill/>
        </p:spPr>
        <p:txBody>
          <a:bodyPr wrap="none" lIns="0" rIns="0" tIns="0" bIns="0">
            <a:spAutoFit/>
          </a:bodyPr>
          <a:lstStyle/>
          <a:p>
            <a:r>
              <a:rPr sz="1100" b="0">
                <a:solidFill>
                  <a:srgbClr val="2E2E2E"/>
                </a:solidFill>
                <a:latin typeface="Calibri"/>
              </a:rPr>
              <a:t>▪ ¶ Dental dealers &amp; distributors segment is</a:t>
            </a:r>
          </a:p>
        </p:txBody>
      </p:sp>
      <p:sp>
        <p:nvSpPr>
          <p:cNvPr id="83" name="TextBox 82"/>
          <p:cNvSpPr txBox="1"/>
          <p:nvPr/>
        </p:nvSpPr>
        <p:spPr>
          <a:xfrm>
            <a:off x="485775" y="5788489"/>
            <a:ext cx="1244550" cy="186689"/>
          </a:xfrm>
          <a:prstGeom prst="rect">
            <a:avLst/>
          </a:prstGeom>
          <a:noFill/>
        </p:spPr>
        <p:txBody>
          <a:bodyPr wrap="none" lIns="0" rIns="0" tIns="0" bIns="0">
            <a:spAutoFit/>
          </a:bodyPr>
          <a:lstStyle/>
          <a:p>
            <a:r>
              <a:rPr sz="1100" b="0">
                <a:solidFill>
                  <a:srgbClr val="2E2E2E"/>
                </a:solidFill>
                <a:latin typeface="Calibri"/>
              </a:rPr>
              <a:t>projected to register</a:t>
            </a:r>
          </a:p>
        </p:txBody>
      </p:sp>
      <p:pic>
        <p:nvPicPr>
          <p:cNvPr id="84" name="Picture 83" descr="lock.png"/>
          <p:cNvPicPr>
            <a:picLocks noChangeAspect="1"/>
          </p:cNvPicPr>
          <p:nvPr/>
        </p:nvPicPr>
        <p:blipFill>
          <a:blip r:embed="rId13"/>
          <a:stretch>
            <a:fillRect/>
          </a:stretch>
        </p:blipFill>
        <p:spPr>
          <a:xfrm>
            <a:off x="1678376" y="5778710"/>
            <a:ext cx="128699" cy="187198"/>
          </a:xfrm>
          <a:prstGeom prst="rect">
            <a:avLst/>
          </a:prstGeom>
        </p:spPr>
      </p:pic>
      <p:sp>
        <p:nvSpPr>
          <p:cNvPr id="85" name="TextBox 84"/>
          <p:cNvSpPr txBox="1"/>
          <p:nvPr/>
        </p:nvSpPr>
        <p:spPr>
          <a:xfrm>
            <a:off x="1845872" y="5788489"/>
            <a:ext cx="1534318" cy="186689"/>
          </a:xfrm>
          <a:prstGeom prst="rect">
            <a:avLst/>
          </a:prstGeom>
          <a:noFill/>
        </p:spPr>
        <p:txBody>
          <a:bodyPr wrap="none" lIns="0" rIns="0" tIns="0" bIns="0">
            <a:spAutoFit/>
          </a:bodyPr>
          <a:lstStyle/>
          <a:p>
            <a:r>
              <a:rPr sz="1100" b="0">
                <a:solidFill>
                  <a:srgbClr val="2E2E2E"/>
                </a:solidFill>
                <a:latin typeface="Calibri"/>
              </a:rPr>
              <a:t>X higher value than direct</a:t>
            </a:r>
          </a:p>
        </p:txBody>
      </p:sp>
      <p:sp>
        <p:nvSpPr>
          <p:cNvPr id="86" name="TextBox 85"/>
          <p:cNvSpPr txBox="1"/>
          <p:nvPr/>
        </p:nvSpPr>
        <p:spPr>
          <a:xfrm>
            <a:off x="485775" y="5956129"/>
            <a:ext cx="1364877" cy="186689"/>
          </a:xfrm>
          <a:prstGeom prst="rect">
            <a:avLst/>
          </a:prstGeom>
          <a:noFill/>
        </p:spPr>
        <p:txBody>
          <a:bodyPr wrap="none" lIns="0" rIns="0" tIns="0" bIns="0">
            <a:spAutoFit/>
          </a:bodyPr>
          <a:lstStyle/>
          <a:p>
            <a:r>
              <a:rPr sz="1100" b="0">
                <a:solidFill>
                  <a:srgbClr val="2E2E2E"/>
                </a:solidFill>
                <a:latin typeface="Calibri"/>
              </a:rPr>
              <a:t>sales segment in 2036.</a:t>
            </a:r>
          </a:p>
        </p:txBody>
      </p:sp>
      <p:sp>
        <p:nvSpPr>
          <p:cNvPr id="87" name="TextBox 86"/>
          <p:cNvSpPr txBox="1"/>
          <p:nvPr/>
        </p:nvSpPr>
        <p:spPr>
          <a:xfrm>
            <a:off x="3838575" y="4229437"/>
            <a:ext cx="1893664" cy="186689"/>
          </a:xfrm>
          <a:prstGeom prst="rect">
            <a:avLst/>
          </a:prstGeom>
          <a:noFill/>
        </p:spPr>
        <p:txBody>
          <a:bodyPr wrap="none" lIns="0" rIns="0" tIns="0" bIns="0">
            <a:spAutoFit/>
          </a:bodyPr>
          <a:lstStyle/>
          <a:p>
            <a:r>
              <a:rPr sz="1100" b="0">
                <a:solidFill>
                  <a:srgbClr val="2E2E2E"/>
                </a:solidFill>
                <a:latin typeface="Calibri"/>
              </a:rPr>
              <a:t>● Dental Dealers &amp; Distributors:</a:t>
            </a:r>
          </a:p>
        </p:txBody>
      </p:sp>
      <p:pic>
        <p:nvPicPr>
          <p:cNvPr id="88" name="Picture 87" descr="lock.png"/>
          <p:cNvPicPr>
            <a:picLocks noChangeAspect="1"/>
          </p:cNvPicPr>
          <p:nvPr/>
        </p:nvPicPr>
        <p:blipFill>
          <a:blip r:embed="rId13"/>
          <a:stretch>
            <a:fillRect/>
          </a:stretch>
        </p:blipFill>
        <p:spPr>
          <a:xfrm>
            <a:off x="5680290" y="4219658"/>
            <a:ext cx="128699" cy="187198"/>
          </a:xfrm>
          <a:prstGeom prst="rect">
            <a:avLst/>
          </a:prstGeom>
        </p:spPr>
      </p:pic>
      <p:sp>
        <p:nvSpPr>
          <p:cNvPr id="89" name="TextBox 88"/>
          <p:cNvSpPr txBox="1"/>
          <p:nvPr/>
        </p:nvSpPr>
        <p:spPr>
          <a:xfrm>
            <a:off x="5847786"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0" name="Picture 89" descr="lock.png"/>
          <p:cNvPicPr>
            <a:picLocks noChangeAspect="1"/>
          </p:cNvPicPr>
          <p:nvPr/>
        </p:nvPicPr>
        <p:blipFill>
          <a:blip r:embed="rId13"/>
          <a:stretch>
            <a:fillRect/>
          </a:stretch>
        </p:blipFill>
        <p:spPr>
          <a:xfrm>
            <a:off x="6707236" y="4219658"/>
            <a:ext cx="128699" cy="187198"/>
          </a:xfrm>
          <a:prstGeom prst="rect">
            <a:avLst/>
          </a:prstGeom>
        </p:spPr>
      </p:pic>
      <p:sp>
        <p:nvSpPr>
          <p:cNvPr id="91" name="TextBox 90"/>
          <p:cNvSpPr txBox="1"/>
          <p:nvPr/>
        </p:nvSpPr>
        <p:spPr>
          <a:xfrm>
            <a:off x="6874732" y="4229437"/>
            <a:ext cx="945215" cy="186689"/>
          </a:xfrm>
          <a:prstGeom prst="rect">
            <a:avLst/>
          </a:prstGeom>
          <a:noFill/>
        </p:spPr>
        <p:txBody>
          <a:bodyPr wrap="none" lIns="0" rIns="0" tIns="0" bIns="0">
            <a:spAutoFit/>
          </a:bodyPr>
          <a:lstStyle/>
          <a:p>
            <a:r>
              <a:rPr sz="1100" b="0">
                <a:solidFill>
                  <a:srgbClr val="2E2E2E"/>
                </a:solidFill>
                <a:latin typeface="Calibri"/>
              </a:rPr>
              <a:t>CAGR leads the</a:t>
            </a:r>
          </a:p>
        </p:txBody>
      </p:sp>
      <p:sp>
        <p:nvSpPr>
          <p:cNvPr id="92" name="TextBox 91"/>
          <p:cNvSpPr txBox="1"/>
          <p:nvPr/>
        </p:nvSpPr>
        <p:spPr>
          <a:xfrm>
            <a:off x="3838575" y="4397077"/>
            <a:ext cx="602803" cy="186689"/>
          </a:xfrm>
          <a:prstGeom prst="rect">
            <a:avLst/>
          </a:prstGeom>
          <a:noFill/>
        </p:spPr>
        <p:txBody>
          <a:bodyPr wrap="none" lIns="0" rIns="0" tIns="0" bIns="0">
            <a:spAutoFit/>
          </a:bodyPr>
          <a:lstStyle/>
          <a:p>
            <a:r>
              <a:rPr sz="1100" b="0">
                <a:solidFill>
                  <a:srgbClr val="2E2E2E"/>
                </a:solidFill>
                <a:latin typeface="Calibri"/>
              </a:rPr>
              <a:t>segment.</a:t>
            </a:r>
          </a:p>
        </p:txBody>
      </p:sp>
      <p:sp>
        <p:nvSpPr>
          <p:cNvPr id="93" name="TextBox 92"/>
          <p:cNvSpPr txBox="1"/>
          <p:nvPr/>
        </p:nvSpPr>
        <p:spPr>
          <a:xfrm>
            <a:off x="3838575" y="4615009"/>
            <a:ext cx="891207" cy="186689"/>
          </a:xfrm>
          <a:prstGeom prst="rect">
            <a:avLst/>
          </a:prstGeom>
          <a:noFill/>
        </p:spPr>
        <p:txBody>
          <a:bodyPr wrap="none" lIns="0" rIns="0" tIns="0" bIns="0">
            <a:spAutoFit/>
          </a:bodyPr>
          <a:lstStyle/>
          <a:p>
            <a:r>
              <a:rPr sz="1100" b="0">
                <a:solidFill>
                  <a:srgbClr val="2E2E2E"/>
                </a:solidFill>
                <a:latin typeface="Calibri"/>
              </a:rPr>
              <a:t>● Direct Sales:</a:t>
            </a:r>
          </a:p>
        </p:txBody>
      </p:sp>
      <p:pic>
        <p:nvPicPr>
          <p:cNvPr id="94" name="Picture 93" descr="lock.png"/>
          <p:cNvPicPr>
            <a:picLocks noChangeAspect="1"/>
          </p:cNvPicPr>
          <p:nvPr/>
        </p:nvPicPr>
        <p:blipFill>
          <a:blip r:embed="rId13"/>
          <a:stretch>
            <a:fillRect/>
          </a:stretch>
        </p:blipFill>
        <p:spPr>
          <a:xfrm>
            <a:off x="4677834" y="4605230"/>
            <a:ext cx="128699" cy="187198"/>
          </a:xfrm>
          <a:prstGeom prst="rect">
            <a:avLst/>
          </a:prstGeom>
        </p:spPr>
      </p:pic>
      <p:sp>
        <p:nvSpPr>
          <p:cNvPr id="95" name="TextBox 94"/>
          <p:cNvSpPr txBox="1"/>
          <p:nvPr/>
        </p:nvSpPr>
        <p:spPr>
          <a:xfrm>
            <a:off x="4845330" y="461500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6" name="Picture 95" descr="lock.png"/>
          <p:cNvPicPr>
            <a:picLocks noChangeAspect="1"/>
          </p:cNvPicPr>
          <p:nvPr/>
        </p:nvPicPr>
        <p:blipFill>
          <a:blip r:embed="rId13"/>
          <a:stretch>
            <a:fillRect/>
          </a:stretch>
        </p:blipFill>
        <p:spPr>
          <a:xfrm>
            <a:off x="5704780" y="4605230"/>
            <a:ext cx="128699" cy="187198"/>
          </a:xfrm>
          <a:prstGeom prst="rect">
            <a:avLst/>
          </a:prstGeom>
        </p:spPr>
      </p:pic>
      <p:sp>
        <p:nvSpPr>
          <p:cNvPr id="97" name="TextBox 96"/>
          <p:cNvSpPr txBox="1"/>
          <p:nvPr/>
        </p:nvSpPr>
        <p:spPr>
          <a:xfrm>
            <a:off x="5872276" y="4615009"/>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98" name="TextBox 97"/>
          <p:cNvSpPr txBox="1"/>
          <p:nvPr/>
        </p:nvSpPr>
        <p:spPr>
          <a:xfrm>
            <a:off x="3838575" y="4832941"/>
            <a:ext cx="1970335" cy="186689"/>
          </a:xfrm>
          <a:prstGeom prst="rect">
            <a:avLst/>
          </a:prstGeom>
          <a:noFill/>
        </p:spPr>
        <p:txBody>
          <a:bodyPr wrap="none" lIns="0" rIns="0" tIns="0" bIns="0">
            <a:spAutoFit/>
          </a:bodyPr>
          <a:lstStyle/>
          <a:p>
            <a:r>
              <a:rPr sz="1100" b="0">
                <a:solidFill>
                  <a:srgbClr val="2E2E2E"/>
                </a:solidFill>
                <a:latin typeface="Calibri"/>
              </a:rPr>
              <a:t>● Online Dental Supply Channels:</a:t>
            </a:r>
          </a:p>
        </p:txBody>
      </p:sp>
      <p:pic>
        <p:nvPicPr>
          <p:cNvPr id="99" name="Picture 98" descr="lock.png"/>
          <p:cNvPicPr>
            <a:picLocks noChangeAspect="1"/>
          </p:cNvPicPr>
          <p:nvPr/>
        </p:nvPicPr>
        <p:blipFill>
          <a:blip r:embed="rId13"/>
          <a:stretch>
            <a:fillRect/>
          </a:stretch>
        </p:blipFill>
        <p:spPr>
          <a:xfrm>
            <a:off x="5756962" y="4823162"/>
            <a:ext cx="128699" cy="187198"/>
          </a:xfrm>
          <a:prstGeom prst="rect">
            <a:avLst/>
          </a:prstGeom>
        </p:spPr>
      </p:pic>
      <p:sp>
        <p:nvSpPr>
          <p:cNvPr id="100" name="TextBox 99"/>
          <p:cNvSpPr txBox="1"/>
          <p:nvPr/>
        </p:nvSpPr>
        <p:spPr>
          <a:xfrm>
            <a:off x="5924457" y="483294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1" name="Picture 100" descr="lock.png"/>
          <p:cNvPicPr>
            <a:picLocks noChangeAspect="1"/>
          </p:cNvPicPr>
          <p:nvPr/>
        </p:nvPicPr>
        <p:blipFill>
          <a:blip r:embed="rId13"/>
          <a:stretch>
            <a:fillRect/>
          </a:stretch>
        </p:blipFill>
        <p:spPr>
          <a:xfrm>
            <a:off x="6783908" y="4823162"/>
            <a:ext cx="128699" cy="187198"/>
          </a:xfrm>
          <a:prstGeom prst="rect">
            <a:avLst/>
          </a:prstGeom>
        </p:spPr>
      </p:pic>
      <p:sp>
        <p:nvSpPr>
          <p:cNvPr id="102" name="TextBox 101"/>
          <p:cNvSpPr txBox="1"/>
          <p:nvPr/>
        </p:nvSpPr>
        <p:spPr>
          <a:xfrm>
            <a:off x="6951404" y="4832941"/>
            <a:ext cx="885733" cy="186689"/>
          </a:xfrm>
          <a:prstGeom prst="rect">
            <a:avLst/>
          </a:prstGeom>
          <a:noFill/>
        </p:spPr>
        <p:txBody>
          <a:bodyPr wrap="none" lIns="0" rIns="0" tIns="0" bIns="0">
            <a:spAutoFit/>
          </a:bodyPr>
          <a:lstStyle/>
          <a:p>
            <a:r>
              <a:rPr sz="1100" b="0">
                <a:solidFill>
                  <a:srgbClr val="2E2E2E"/>
                </a:solidFill>
                <a:latin typeface="Calibri"/>
              </a:rPr>
              <a:t>CAGR serves a</a:t>
            </a:r>
          </a:p>
        </p:txBody>
      </p:sp>
      <p:sp>
        <p:nvSpPr>
          <p:cNvPr id="103" name="TextBox 102"/>
          <p:cNvSpPr txBox="1"/>
          <p:nvPr/>
        </p:nvSpPr>
        <p:spPr>
          <a:xfrm>
            <a:off x="3838575" y="5000581"/>
            <a:ext cx="419174" cy="186689"/>
          </a:xfrm>
          <a:prstGeom prst="rect">
            <a:avLst/>
          </a:prstGeom>
          <a:noFill/>
        </p:spPr>
        <p:txBody>
          <a:bodyPr wrap="none" lIns="0" rIns="0" tIns="0" bIns="0">
            <a:spAutoFit/>
          </a:bodyPr>
          <a:lstStyle/>
          <a:p>
            <a:r>
              <a:rPr sz="1100" b="0">
                <a:solidFill>
                  <a:srgbClr val="2E2E2E"/>
                </a:solidFill>
                <a:latin typeface="Calibri"/>
              </a:rPr>
              <a:t>niche.</a:t>
            </a:r>
          </a:p>
        </p:txBody>
      </p:sp>
    </p:spTree>
  </p:cSld>
  <p:clrMapOvr>
    <a:masterClrMapping/>
  </p:clrMapOvr>
</p:sld>
</file>

<file path=ppt/slides/slide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Distribution Channel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Distribution Channel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Distribution Channel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694045"/>
            <a:ext cx="11549881" cy="186689"/>
          </a:xfrm>
          <a:prstGeom prst="rect">
            <a:avLst/>
          </a:prstGeom>
          <a:noFill/>
        </p:spPr>
        <p:txBody>
          <a:bodyPr wrap="none" lIns="0" rIns="0" tIns="0" bIns="0">
            <a:spAutoFit/>
          </a:bodyPr>
          <a:lstStyle/>
          <a:p>
            <a:r>
              <a:rPr sz="1100" b="0">
                <a:solidFill>
                  <a:srgbClr val="2E2E2E"/>
                </a:solidFill>
                <a:latin typeface="Calibri"/>
              </a:rPr>
              <a:t>Direct sales followed by dental dealers &amp; distributors are expected to be the two most attractive distribution channel segments in the global removable partial dentures market in terms of value over the</a:t>
            </a:r>
          </a:p>
        </p:txBody>
      </p:sp>
      <p:sp>
        <p:nvSpPr>
          <p:cNvPr id="21" name="TextBox 20"/>
          <p:cNvSpPr txBox="1"/>
          <p:nvPr/>
        </p:nvSpPr>
        <p:spPr>
          <a:xfrm>
            <a:off x="257175" y="5861685"/>
            <a:ext cx="4921480" cy="186689"/>
          </a:xfrm>
          <a:prstGeom prst="rect">
            <a:avLst/>
          </a:prstGeom>
          <a:noFill/>
        </p:spPr>
        <p:txBody>
          <a:bodyPr wrap="none" lIns="0" rIns="0" tIns="0" bIns="0">
            <a:spAutoFit/>
          </a:bodyPr>
          <a:lstStyle/>
          <a:p>
            <a:r>
              <a:rPr sz="1100" b="0">
                <a:solidFill>
                  <a:srgbClr val="2E2E2E"/>
                </a:solidFill>
                <a:latin typeface="Calibri"/>
              </a:rPr>
              <a:t>forecast period. Direct sales and dental dealers &amp; distributors exhibit a CAGR index of</a:t>
            </a:r>
          </a:p>
        </p:txBody>
      </p:sp>
      <p:pic>
        <p:nvPicPr>
          <p:cNvPr id="22" name="Picture 21" descr="lock.png"/>
          <p:cNvPicPr>
            <a:picLocks noChangeAspect="1"/>
          </p:cNvPicPr>
          <p:nvPr/>
        </p:nvPicPr>
        <p:blipFill>
          <a:blip r:embed="rId6"/>
          <a:stretch>
            <a:fillRect/>
          </a:stretch>
        </p:blipFill>
        <p:spPr>
          <a:xfrm>
            <a:off x="5126707" y="5851905"/>
            <a:ext cx="128699" cy="187198"/>
          </a:xfrm>
          <a:prstGeom prst="rect">
            <a:avLst/>
          </a:prstGeom>
        </p:spPr>
      </p:pic>
      <p:sp>
        <p:nvSpPr>
          <p:cNvPr id="23" name="TextBox 22"/>
          <p:cNvSpPr txBox="1"/>
          <p:nvPr/>
        </p:nvSpPr>
        <p:spPr>
          <a:xfrm>
            <a:off x="5294203"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5532097" y="5851905"/>
            <a:ext cx="128699" cy="187198"/>
          </a:xfrm>
          <a:prstGeom prst="rect">
            <a:avLst/>
          </a:prstGeom>
        </p:spPr>
      </p:pic>
      <p:sp>
        <p:nvSpPr>
          <p:cNvPr id="25" name="TextBox 24"/>
          <p:cNvSpPr txBox="1"/>
          <p:nvPr/>
        </p:nvSpPr>
        <p:spPr>
          <a:xfrm>
            <a:off x="5699593" y="586168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7308567" y="5851905"/>
            <a:ext cx="128699" cy="187198"/>
          </a:xfrm>
          <a:prstGeom prst="rect">
            <a:avLst/>
          </a:prstGeom>
        </p:spPr>
      </p:pic>
      <p:sp>
        <p:nvSpPr>
          <p:cNvPr id="27" name="TextBox 26"/>
          <p:cNvSpPr txBox="1"/>
          <p:nvPr/>
        </p:nvSpPr>
        <p:spPr>
          <a:xfrm>
            <a:off x="7476062"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7713957" y="5851905"/>
            <a:ext cx="128699" cy="187198"/>
          </a:xfrm>
          <a:prstGeom prst="rect">
            <a:avLst/>
          </a:prstGeom>
        </p:spPr>
      </p:pic>
      <p:sp>
        <p:nvSpPr>
          <p:cNvPr id="29" name="TextBox 28"/>
          <p:cNvSpPr txBox="1"/>
          <p:nvPr/>
        </p:nvSpPr>
        <p:spPr>
          <a:xfrm>
            <a:off x="7881453" y="586168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30" name="Picture 29" descr="lock.png"/>
          <p:cNvPicPr>
            <a:picLocks noChangeAspect="1"/>
          </p:cNvPicPr>
          <p:nvPr/>
        </p:nvPicPr>
        <p:blipFill>
          <a:blip r:embed="rId6"/>
          <a:stretch>
            <a:fillRect/>
          </a:stretch>
        </p:blipFill>
        <p:spPr>
          <a:xfrm>
            <a:off x="10435857" y="5851905"/>
            <a:ext cx="128699" cy="187198"/>
          </a:xfrm>
          <a:prstGeom prst="rect">
            <a:avLst/>
          </a:prstGeom>
        </p:spPr>
      </p:pic>
      <p:sp>
        <p:nvSpPr>
          <p:cNvPr id="31" name="TextBox 30"/>
          <p:cNvSpPr txBox="1"/>
          <p:nvPr/>
        </p:nvSpPr>
        <p:spPr>
          <a:xfrm>
            <a:off x="10603353" y="5861685"/>
            <a:ext cx="740320" cy="186689"/>
          </a:xfrm>
          <a:prstGeom prst="rect">
            <a:avLst/>
          </a:prstGeom>
          <a:noFill/>
        </p:spPr>
        <p:txBody>
          <a:bodyPr wrap="none" lIns="0" rIns="0" tIns="0" bIns="0">
            <a:spAutoFit/>
          </a:bodyPr>
          <a:lstStyle/>
          <a:p>
            <a:r>
              <a:rPr sz="1100" b="0">
                <a:solidFill>
                  <a:srgbClr val="2E2E2E"/>
                </a:solidFill>
                <a:latin typeface="Calibri"/>
              </a:rPr>
              <a:t>. The online</a:t>
            </a:r>
          </a:p>
        </p:txBody>
      </p:sp>
      <p:sp>
        <p:nvSpPr>
          <p:cNvPr id="32" name="TextBox 31"/>
          <p:cNvSpPr txBox="1"/>
          <p:nvPr/>
        </p:nvSpPr>
        <p:spPr>
          <a:xfrm>
            <a:off x="257175" y="6029325"/>
            <a:ext cx="11253547" cy="186689"/>
          </a:xfrm>
          <a:prstGeom prst="rect">
            <a:avLst/>
          </a:prstGeom>
          <a:noFill/>
        </p:spPr>
        <p:txBody>
          <a:bodyPr wrap="none" lIns="0" rIns="0" tIns="0" bIns="0">
            <a:spAutoFit/>
          </a:bodyPr>
          <a:lstStyle/>
          <a:p>
            <a:r>
              <a:rPr sz="1100" b="0">
                <a:solidFill>
                  <a:srgbClr val="2E2E2E"/>
                </a:solidFill>
                <a:latin typeface="Calibri"/>
              </a:rPr>
              <a:t>dental supply channels segment is expected to be less attractive as compared to other segments over the forecast period, owing to its lower CAGR and incremental opportunity. Bubbles right of the</a:t>
            </a:r>
          </a:p>
        </p:txBody>
      </p:sp>
      <p:sp>
        <p:nvSpPr>
          <p:cNvPr id="33" name="TextBox 32"/>
          <p:cNvSpPr txBox="1"/>
          <p:nvPr/>
        </p:nvSpPr>
        <p:spPr>
          <a:xfrm>
            <a:off x="257175" y="6196965"/>
            <a:ext cx="3224344" cy="186689"/>
          </a:xfrm>
          <a:prstGeom prst="rect">
            <a:avLst/>
          </a:prstGeom>
          <a:noFill/>
        </p:spPr>
        <p:txBody>
          <a:bodyPr wrap="none" lIns="0" rIns="0" tIns="0" bIns="0">
            <a:spAutoFit/>
          </a:bodyPr>
          <a:lstStyle/>
          <a:p>
            <a:r>
              <a:rPr sz="1100" b="0">
                <a:solidFill>
                  <a:srgbClr val="2E2E2E"/>
                </a:solidFill>
                <a:latin typeface="Calibri"/>
              </a:rPr>
              <a:t>CAGR-Index line grow faster than the segment average.</a:t>
            </a:r>
          </a:p>
        </p:txBody>
      </p:sp>
      <p:sp>
        <p:nvSpPr>
          <p:cNvPr id="34"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Distribution Channel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Direct Sales</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Dental Dealers &amp; Distributors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Online Dental Supply Channels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Global Absolute $ Opportunity Analysis, By Distribution Channel</a:t>
            </a:r>
          </a:p>
        </p:txBody>
      </p:sp>
      <p:sp>
        <p:nvSpPr>
          <p:cNvPr id="22" name="Rectangle 21"/>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276725"/>
            <a:ext cx="5610225" cy="22669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3094826" y="2237234"/>
            <a:ext cx="263506" cy="383281"/>
          </a:xfrm>
          <a:prstGeom prst="rect">
            <a:avLst/>
          </a:prstGeom>
        </p:spPr>
      </p:pic>
      <p:pic>
        <p:nvPicPr>
          <p:cNvPr id="26" name="Picture 25" descr="lock.png"/>
          <p:cNvPicPr>
            <a:picLocks noChangeAspect="1"/>
          </p:cNvPicPr>
          <p:nvPr/>
        </p:nvPicPr>
        <p:blipFill>
          <a:blip r:embed="rId7"/>
          <a:stretch>
            <a:fillRect/>
          </a:stretch>
        </p:blipFill>
        <p:spPr>
          <a:xfrm>
            <a:off x="9129555" y="2330679"/>
            <a:ext cx="252890" cy="367840"/>
          </a:xfrm>
          <a:prstGeom prst="rect">
            <a:avLst/>
          </a:prstGeom>
        </p:spPr>
      </p:pic>
      <p:pic>
        <p:nvPicPr>
          <p:cNvPr id="27" name="Picture 26" descr="lock.png"/>
          <p:cNvPicPr>
            <a:picLocks noChangeAspect="1"/>
          </p:cNvPicPr>
          <p:nvPr/>
        </p:nvPicPr>
        <p:blipFill>
          <a:blip r:embed="rId7"/>
          <a:stretch>
            <a:fillRect/>
          </a:stretch>
        </p:blipFill>
        <p:spPr>
          <a:xfrm>
            <a:off x="3100230" y="5216754"/>
            <a:ext cx="252890" cy="367840"/>
          </a:xfrm>
          <a:prstGeom prst="rect">
            <a:avLst/>
          </a:prstGeom>
        </p:spPr>
      </p:pic>
      <p:sp>
        <p:nvSpPr>
          <p:cNvPr id="28" name="TextBox 27"/>
          <p:cNvSpPr txBox="1"/>
          <p:nvPr/>
        </p:nvSpPr>
        <p:spPr>
          <a:xfrm>
            <a:off x="6305550" y="4286250"/>
            <a:ext cx="4169856" cy="194310"/>
          </a:xfrm>
          <a:prstGeom prst="rect">
            <a:avLst/>
          </a:prstGeom>
          <a:noFill/>
        </p:spPr>
        <p:txBody>
          <a:bodyPr wrap="none" lIns="0" rIns="0" tIns="0" bIns="0">
            <a:spAutoFit/>
          </a:bodyPr>
          <a:lstStyle/>
          <a:p>
            <a:r>
              <a:rPr sz="1150" b="0">
                <a:solidFill>
                  <a:srgbClr val="2E2E2E"/>
                </a:solidFill>
                <a:latin typeface="Calibri"/>
              </a:rPr>
              <a:t>By 2036, direct sales segment is anticipated to witness an increase of</a:t>
            </a:r>
          </a:p>
        </p:txBody>
      </p:sp>
      <p:pic>
        <p:nvPicPr>
          <p:cNvPr id="29" name="Picture 28" descr="lock.png"/>
          <p:cNvPicPr>
            <a:picLocks noChangeAspect="1"/>
          </p:cNvPicPr>
          <p:nvPr/>
        </p:nvPicPr>
        <p:blipFill>
          <a:blip r:embed="rId7"/>
          <a:stretch>
            <a:fillRect/>
          </a:stretch>
        </p:blipFill>
        <p:spPr>
          <a:xfrm>
            <a:off x="10424560" y="4276026"/>
            <a:ext cx="134549" cy="195707"/>
          </a:xfrm>
          <a:prstGeom prst="rect">
            <a:avLst/>
          </a:prstGeom>
        </p:spPr>
      </p:pic>
      <p:sp>
        <p:nvSpPr>
          <p:cNvPr id="30" name="TextBox 29"/>
          <p:cNvSpPr txBox="1"/>
          <p:nvPr/>
        </p:nvSpPr>
        <p:spPr>
          <a:xfrm>
            <a:off x="10599669" y="4286250"/>
            <a:ext cx="1181844" cy="194310"/>
          </a:xfrm>
          <a:prstGeom prst="rect">
            <a:avLst/>
          </a:prstGeom>
          <a:noFill/>
        </p:spPr>
        <p:txBody>
          <a:bodyPr wrap="none" lIns="0" rIns="0" tIns="0" bIns="0">
            <a:spAutoFit/>
          </a:bodyPr>
          <a:lstStyle/>
          <a:p>
            <a:r>
              <a:rPr sz="1150" b="0">
                <a:solidFill>
                  <a:srgbClr val="2E2E2E"/>
                </a:solidFill>
                <a:latin typeface="Calibri"/>
              </a:rPr>
              <a:t>X in terms of value</a:t>
            </a:r>
          </a:p>
        </p:txBody>
      </p:sp>
      <p:sp>
        <p:nvSpPr>
          <p:cNvPr id="31" name="TextBox 30"/>
          <p:cNvSpPr txBox="1"/>
          <p:nvPr/>
        </p:nvSpPr>
        <p:spPr>
          <a:xfrm>
            <a:off x="6305550" y="4461510"/>
            <a:ext cx="5067287" cy="194310"/>
          </a:xfrm>
          <a:prstGeom prst="rect">
            <a:avLst/>
          </a:prstGeom>
          <a:noFill/>
        </p:spPr>
        <p:txBody>
          <a:bodyPr wrap="none" lIns="0" rIns="0" tIns="0" bIns="0">
            <a:spAutoFit/>
          </a:bodyPr>
          <a:lstStyle/>
          <a:p>
            <a:r>
              <a:rPr sz="1150" b="0">
                <a:solidFill>
                  <a:srgbClr val="2E2E2E"/>
                </a:solidFill>
                <a:latin typeface="Calibri"/>
              </a:rPr>
              <a:t>as compared to 2026. The direct sales segment is expected to create an incremental</a:t>
            </a:r>
          </a:p>
        </p:txBody>
      </p:sp>
      <p:sp>
        <p:nvSpPr>
          <p:cNvPr id="32" name="TextBox 31"/>
          <p:cNvSpPr txBox="1"/>
          <p:nvPr/>
        </p:nvSpPr>
        <p:spPr>
          <a:xfrm>
            <a:off x="6305550" y="4636770"/>
            <a:ext cx="1208943" cy="194310"/>
          </a:xfrm>
          <a:prstGeom prst="rect">
            <a:avLst/>
          </a:prstGeom>
          <a:noFill/>
        </p:spPr>
        <p:txBody>
          <a:bodyPr wrap="none" lIns="0" rIns="0" tIns="0" bIns="0">
            <a:spAutoFit/>
          </a:bodyPr>
          <a:lstStyle/>
          <a:p>
            <a:r>
              <a:rPr sz="1150" b="0">
                <a:solidFill>
                  <a:srgbClr val="2E2E2E"/>
                </a:solidFill>
                <a:latin typeface="Calibri"/>
              </a:rPr>
              <a:t>opportunity of US$</a:t>
            </a:r>
          </a:p>
        </p:txBody>
      </p:sp>
      <p:pic>
        <p:nvPicPr>
          <p:cNvPr id="33" name="Picture 32" descr="lock.png"/>
          <p:cNvPicPr>
            <a:picLocks noChangeAspect="1"/>
          </p:cNvPicPr>
          <p:nvPr/>
        </p:nvPicPr>
        <p:blipFill>
          <a:blip r:embed="rId7"/>
          <a:stretch>
            <a:fillRect/>
          </a:stretch>
        </p:blipFill>
        <p:spPr>
          <a:xfrm>
            <a:off x="7463647" y="4626546"/>
            <a:ext cx="134549" cy="195707"/>
          </a:xfrm>
          <a:prstGeom prst="rect">
            <a:avLst/>
          </a:prstGeom>
        </p:spPr>
      </p:pic>
      <p:sp>
        <p:nvSpPr>
          <p:cNvPr id="34" name="TextBox 33"/>
          <p:cNvSpPr txBox="1"/>
          <p:nvPr/>
        </p:nvSpPr>
        <p:spPr>
          <a:xfrm>
            <a:off x="7638756" y="4636770"/>
            <a:ext cx="4074889" cy="194310"/>
          </a:xfrm>
          <a:prstGeom prst="rect">
            <a:avLst/>
          </a:prstGeom>
          <a:noFill/>
        </p:spPr>
        <p:txBody>
          <a:bodyPr wrap="none" lIns="0" rIns="0" tIns="0" bIns="0">
            <a:spAutoFit/>
          </a:bodyPr>
          <a:lstStyle/>
          <a:p>
            <a:r>
              <a:rPr sz="1150" b="0">
                <a:solidFill>
                  <a:srgbClr val="2E2E2E"/>
                </a:solidFill>
                <a:latin typeface="Calibri"/>
              </a:rPr>
              <a:t>Mn for the overall removable partial dentures market from 2026 to</a:t>
            </a:r>
          </a:p>
        </p:txBody>
      </p:sp>
      <p:sp>
        <p:nvSpPr>
          <p:cNvPr id="35" name="TextBox 34"/>
          <p:cNvSpPr txBox="1"/>
          <p:nvPr/>
        </p:nvSpPr>
        <p:spPr>
          <a:xfrm>
            <a:off x="6305550" y="4812029"/>
            <a:ext cx="409661" cy="194310"/>
          </a:xfrm>
          <a:prstGeom prst="rect">
            <a:avLst/>
          </a:prstGeom>
          <a:noFill/>
        </p:spPr>
        <p:txBody>
          <a:bodyPr wrap="none" lIns="0" rIns="0" tIns="0" bIns="0">
            <a:spAutoFit/>
          </a:bodyPr>
          <a:lstStyle/>
          <a:p>
            <a:r>
              <a:rPr sz="1150" b="0">
                <a:solidFill>
                  <a:srgbClr val="2E2E2E"/>
                </a:solidFill>
                <a:latin typeface="Calibri"/>
              </a:rPr>
              <a:t>2036.</a:t>
            </a:r>
          </a:p>
        </p:txBody>
      </p:sp>
      <p:sp>
        <p:nvSpPr>
          <p:cNvPr id="36" name="TextBox 35"/>
          <p:cNvSpPr txBox="1"/>
          <p:nvPr/>
        </p:nvSpPr>
        <p:spPr>
          <a:xfrm>
            <a:off x="6305550" y="5039867"/>
            <a:ext cx="5520556" cy="194310"/>
          </a:xfrm>
          <a:prstGeom prst="rect">
            <a:avLst/>
          </a:prstGeom>
          <a:noFill/>
        </p:spPr>
        <p:txBody>
          <a:bodyPr wrap="none" lIns="0" rIns="0" tIns="0" bIns="0">
            <a:spAutoFit/>
          </a:bodyPr>
          <a:lstStyle/>
          <a:p>
            <a:r>
              <a:rPr sz="1150" b="0">
                <a:solidFill>
                  <a:srgbClr val="2E2E2E"/>
                </a:solidFill>
                <a:latin typeface="Calibri"/>
              </a:rPr>
              <a:t>The dental dealers &amp; distributors segment is expected to create an incremental opportunity</a:t>
            </a:r>
          </a:p>
        </p:txBody>
      </p:sp>
      <p:sp>
        <p:nvSpPr>
          <p:cNvPr id="37" name="TextBox 36"/>
          <p:cNvSpPr txBox="1"/>
          <p:nvPr/>
        </p:nvSpPr>
        <p:spPr>
          <a:xfrm>
            <a:off x="6305550" y="5215127"/>
            <a:ext cx="465856" cy="194310"/>
          </a:xfrm>
          <a:prstGeom prst="rect">
            <a:avLst/>
          </a:prstGeom>
          <a:noFill/>
        </p:spPr>
        <p:txBody>
          <a:bodyPr wrap="none" lIns="0" rIns="0" tIns="0" bIns="0">
            <a:spAutoFit/>
          </a:bodyPr>
          <a:lstStyle/>
          <a:p>
            <a:r>
              <a:rPr sz="1150" b="0">
                <a:solidFill>
                  <a:srgbClr val="2E2E2E"/>
                </a:solidFill>
                <a:latin typeface="Calibri"/>
              </a:rPr>
              <a:t>of US$</a:t>
            </a:r>
          </a:p>
        </p:txBody>
      </p:sp>
      <p:pic>
        <p:nvPicPr>
          <p:cNvPr id="38" name="Picture 37" descr="lock.png"/>
          <p:cNvPicPr>
            <a:picLocks noChangeAspect="1"/>
          </p:cNvPicPr>
          <p:nvPr/>
        </p:nvPicPr>
        <p:blipFill>
          <a:blip r:embed="rId7"/>
          <a:stretch>
            <a:fillRect/>
          </a:stretch>
        </p:blipFill>
        <p:spPr>
          <a:xfrm>
            <a:off x="6720560" y="5204904"/>
            <a:ext cx="134549" cy="195707"/>
          </a:xfrm>
          <a:prstGeom prst="rect">
            <a:avLst/>
          </a:prstGeom>
        </p:spPr>
      </p:pic>
      <p:sp>
        <p:nvSpPr>
          <p:cNvPr id="39" name="TextBox 38"/>
          <p:cNvSpPr txBox="1"/>
          <p:nvPr/>
        </p:nvSpPr>
        <p:spPr>
          <a:xfrm>
            <a:off x="6895670" y="5215127"/>
            <a:ext cx="4695316" cy="194310"/>
          </a:xfrm>
          <a:prstGeom prst="rect">
            <a:avLst/>
          </a:prstGeom>
          <a:noFill/>
        </p:spPr>
        <p:txBody>
          <a:bodyPr wrap="none" lIns="0" rIns="0" tIns="0" bIns="0">
            <a:spAutoFit/>
          </a:bodyPr>
          <a:lstStyle/>
          <a:p>
            <a:r>
              <a:rPr sz="1150" b="0">
                <a:solidFill>
                  <a:srgbClr val="2E2E2E"/>
                </a:solidFill>
                <a:latin typeface="Calibri"/>
              </a:rPr>
              <a:t>Mn for the overall removable partial dentures market from 2026 to 2036. The</a:t>
            </a:r>
          </a:p>
        </p:txBody>
      </p:sp>
      <p:sp>
        <p:nvSpPr>
          <p:cNvPr id="40" name="TextBox 39"/>
          <p:cNvSpPr txBox="1"/>
          <p:nvPr/>
        </p:nvSpPr>
        <p:spPr>
          <a:xfrm>
            <a:off x="6305550" y="5390387"/>
            <a:ext cx="5482046" cy="194310"/>
          </a:xfrm>
          <a:prstGeom prst="rect">
            <a:avLst/>
          </a:prstGeom>
          <a:noFill/>
        </p:spPr>
        <p:txBody>
          <a:bodyPr wrap="none" lIns="0" rIns="0" tIns="0" bIns="0">
            <a:spAutoFit/>
          </a:bodyPr>
          <a:lstStyle/>
          <a:p>
            <a:r>
              <a:rPr sz="1150" b="0">
                <a:solidFill>
                  <a:srgbClr val="2E2E2E"/>
                </a:solidFill>
                <a:latin typeface="Calibri"/>
              </a:rPr>
              <a:t>online dental supply channels segment is expected to create an incremental opportunity of</a:t>
            </a:r>
          </a:p>
        </p:txBody>
      </p:sp>
      <p:sp>
        <p:nvSpPr>
          <p:cNvPr id="41" name="TextBox 40"/>
          <p:cNvSpPr txBox="1"/>
          <p:nvPr/>
        </p:nvSpPr>
        <p:spPr>
          <a:xfrm>
            <a:off x="6305550" y="5565647"/>
            <a:ext cx="311249" cy="194310"/>
          </a:xfrm>
          <a:prstGeom prst="rect">
            <a:avLst/>
          </a:prstGeom>
          <a:noFill/>
        </p:spPr>
        <p:txBody>
          <a:bodyPr wrap="none" lIns="0" rIns="0" tIns="0" bIns="0">
            <a:spAutoFit/>
          </a:bodyPr>
          <a:lstStyle/>
          <a:p>
            <a:r>
              <a:rPr sz="1150" b="0">
                <a:solidFill>
                  <a:srgbClr val="2E2E2E"/>
                </a:solidFill>
                <a:latin typeface="Calibri"/>
              </a:rPr>
              <a:t>US$</a:t>
            </a:r>
          </a:p>
        </p:txBody>
      </p:sp>
      <p:pic>
        <p:nvPicPr>
          <p:cNvPr id="42" name="Picture 41" descr="lock.png"/>
          <p:cNvPicPr>
            <a:picLocks noChangeAspect="1"/>
          </p:cNvPicPr>
          <p:nvPr/>
        </p:nvPicPr>
        <p:blipFill>
          <a:blip r:embed="rId7"/>
          <a:stretch>
            <a:fillRect/>
          </a:stretch>
        </p:blipFill>
        <p:spPr>
          <a:xfrm>
            <a:off x="6565953" y="5555424"/>
            <a:ext cx="134549" cy="195707"/>
          </a:xfrm>
          <a:prstGeom prst="rect">
            <a:avLst/>
          </a:prstGeom>
        </p:spPr>
      </p:pic>
      <p:sp>
        <p:nvSpPr>
          <p:cNvPr id="43" name="TextBox 42"/>
          <p:cNvSpPr txBox="1"/>
          <p:nvPr/>
        </p:nvSpPr>
        <p:spPr>
          <a:xfrm>
            <a:off x="6741062" y="5565647"/>
            <a:ext cx="4441440" cy="194310"/>
          </a:xfrm>
          <a:prstGeom prst="rect">
            <a:avLst/>
          </a:prstGeom>
          <a:noFill/>
        </p:spPr>
        <p:txBody>
          <a:bodyPr wrap="none" lIns="0" rIns="0" tIns="0" bIns="0">
            <a:spAutoFit/>
          </a:bodyPr>
          <a:lstStyle/>
          <a:p>
            <a:r>
              <a:rPr sz="1150" b="0">
                <a:solidFill>
                  <a:srgbClr val="2E2E2E"/>
                </a:solidFill>
                <a:latin typeface="Calibri"/>
              </a:rPr>
              <a:t>Mn for the overall removable partial dentures market from 2026 to 2036.</a:t>
            </a:r>
          </a:p>
        </p:txBody>
      </p:sp>
      <p:sp>
        <p:nvSpPr>
          <p:cNvPr id="44"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Distribution Channel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Distribution Channel,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276475"/>
          </a:xfrm>
          <a:prstGeom prst="roundRect">
            <a:avLst>
              <a:gd name="adj" fmla="val 334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Distribution Channel (Units)</a:t>
            </a:r>
          </a:p>
        </p:txBody>
      </p:sp>
      <p:graphicFrame>
        <p:nvGraphicFramePr>
          <p:cNvPr id="13" name="Table 12"/>
          <p:cNvGraphicFramePr>
            <a:graphicFrameLocks noGrp="1"/>
          </p:cNvGraphicFramePr>
          <p:nvPr/>
        </p:nvGraphicFramePr>
        <p:xfrm>
          <a:off x="152400" y="1238250"/>
          <a:ext cx="11887208" cy="1809748"/>
        </p:xfrm>
        <a:graphic>
          <a:graphicData uri="http://schemas.openxmlformats.org/drawingml/2006/table">
            <a:tbl>
              <a:tblPr>
                <a:tableStyleId>{5C22544A-7EE6-4342-B048-85BDC9FD1C3A}</a:tableStyleId>
              </a:tblPr>
              <a:tblGrid>
                <a:gridCol w="1239860"/>
                <a:gridCol w="641033"/>
                <a:gridCol w="641033"/>
                <a:gridCol w="641033"/>
                <a:gridCol w="641033"/>
                <a:gridCol w="641033"/>
                <a:gridCol w="641033"/>
                <a:gridCol w="641033"/>
                <a:gridCol w="641033"/>
                <a:gridCol w="641033"/>
                <a:gridCol w="641033"/>
                <a:gridCol w="641033"/>
                <a:gridCol w="641033"/>
                <a:gridCol w="641033"/>
                <a:gridCol w="641033"/>
                <a:gridCol w="641033"/>
                <a:gridCol w="641033"/>
                <a:gridCol w="390820"/>
              </a:tblGrid>
              <a:tr h="438912">
                <a:tc>
                  <a:txBody>
                    <a:bodyPr wrap="none"/>
                    <a:lstStyle/>
                    <a:p>
                      <a:pPr algn="l"/>
                      <a:r>
                        <a:rPr sz="1100" b="1">
                          <a:solidFill>
                            <a:srgbClr val="0B2E4A"/>
                          </a:solidFill>
                          <a:latin typeface="Calibri"/>
                        </a:rPr>
                        <a:t>Distribution</a:t>
                      </a:r>
                      <a:endParaRPr sz="1100"/>
                    </a:p>
                    <a:p>
                      <a:pPr algn="l"/>
                      <a:r>
                        <a:rPr sz="1100" b="1">
                          <a:solidFill>
                            <a:srgbClr val="0B2E4A"/>
                          </a:solidFill>
                          <a:latin typeface="Calibri"/>
                        </a:rPr>
                        <a:t>Channel</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6317">
                <a:tc>
                  <a:txBody>
                    <a:bodyPr wrap="none"/>
                    <a:lstStyle/>
                    <a:p>
                      <a:pPr algn="l"/>
                      <a:r>
                        <a:rPr sz="1100" b="1">
                          <a:solidFill>
                            <a:srgbClr val="2E2E2E"/>
                          </a:solidFill>
                          <a:latin typeface="Calibri"/>
                        </a:rPr>
                        <a:t>Direct Sales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101">
                <a:tc>
                  <a:txBody>
                    <a:bodyPr wrap="none"/>
                    <a:lstStyle/>
                    <a:p>
                      <a:pPr algn="l"/>
                      <a:r>
                        <a:rPr sz="1100" b="1">
                          <a:solidFill>
                            <a:srgbClr val="2E2E2E"/>
                          </a:solidFill>
                          <a:latin typeface="Calibri"/>
                        </a:rPr>
                        <a:t>Dental Dealers &amp;</a:t>
                      </a:r>
                      <a:endParaRPr sz="1100"/>
                    </a:p>
                    <a:p>
                      <a:pPr algn="l"/>
                      <a:r>
                        <a:rPr sz="1100" b="1">
                          <a:solidFill>
                            <a:srgbClr val="2E2E2E"/>
                          </a:solidFill>
                          <a:latin typeface="Calibri"/>
                        </a:rPr>
                        <a:t>Distributors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439101">
                <a:tc>
                  <a:txBody>
                    <a:bodyPr wrap="none"/>
                    <a:lstStyle/>
                    <a:p>
                      <a:pPr algn="l"/>
                      <a:r>
                        <a:rPr sz="1100" b="1">
                          <a:solidFill>
                            <a:srgbClr val="2E2E2E"/>
                          </a:solidFill>
                          <a:latin typeface="Calibri"/>
                        </a:rPr>
                        <a:t>Online Dental</a:t>
                      </a:r>
                      <a:endParaRPr sz="1100"/>
                    </a:p>
                    <a:p>
                      <a:pPr algn="l"/>
                      <a:r>
                        <a:rPr sz="1100" b="1">
                          <a:solidFill>
                            <a:srgbClr val="2E2E2E"/>
                          </a:solidFill>
                          <a:latin typeface="Calibri"/>
                        </a:rPr>
                        <a:t>Supply Channels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317">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30575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0900"/>
            <a:ext cx="11906250" cy="3238500"/>
          </a:xfrm>
          <a:prstGeom prst="roundRect">
            <a:avLst>
              <a:gd name="adj" fmla="val 23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47662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Distribution Channel</a:t>
            </a:r>
          </a:p>
        </p:txBody>
      </p:sp>
      <p:sp>
        <p:nvSpPr>
          <p:cNvPr id="17" name="Rectangle 16"/>
          <p:cNvSpPr/>
          <p:nvPr/>
        </p:nvSpPr>
        <p:spPr>
          <a:xfrm>
            <a:off x="276225" y="37147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800475"/>
            <a:ext cx="11639550" cy="27527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9244" y="2095880"/>
            <a:ext cx="366712" cy="533400"/>
          </a:xfrm>
          <a:prstGeom prst="rect">
            <a:avLst/>
          </a:prstGeom>
        </p:spPr>
      </p:pic>
      <p:sp>
        <p:nvSpPr>
          <p:cNvPr id="21" name="TextBox 20"/>
          <p:cNvSpPr txBox="1"/>
          <p:nvPr/>
        </p:nvSpPr>
        <p:spPr>
          <a:xfrm>
            <a:off x="276225" y="3810000"/>
            <a:ext cx="3714898" cy="194310"/>
          </a:xfrm>
          <a:prstGeom prst="rect">
            <a:avLst/>
          </a:prstGeom>
          <a:noFill/>
        </p:spPr>
        <p:txBody>
          <a:bodyPr wrap="none" lIns="0" rIns="0" tIns="0" bIns="0">
            <a:spAutoFit/>
          </a:bodyPr>
          <a:lstStyle/>
          <a:p>
            <a:r>
              <a:rPr sz="1150" b="0">
                <a:solidFill>
                  <a:srgbClr val="2E2E2E"/>
                </a:solidFill>
                <a:latin typeface="Calibri"/>
              </a:rPr>
              <a:t>Dental dealers &amp; distributors segment is projected to register</a:t>
            </a:r>
          </a:p>
        </p:txBody>
      </p:sp>
      <p:pic>
        <p:nvPicPr>
          <p:cNvPr id="22" name="Picture 21" descr="lock.png"/>
          <p:cNvPicPr>
            <a:picLocks noChangeAspect="1"/>
          </p:cNvPicPr>
          <p:nvPr/>
        </p:nvPicPr>
        <p:blipFill>
          <a:blip r:embed="rId4"/>
          <a:stretch>
            <a:fillRect/>
          </a:stretch>
        </p:blipFill>
        <p:spPr>
          <a:xfrm>
            <a:off x="3940277" y="3799776"/>
            <a:ext cx="134549" cy="195707"/>
          </a:xfrm>
          <a:prstGeom prst="rect">
            <a:avLst/>
          </a:prstGeom>
        </p:spPr>
      </p:pic>
      <p:sp>
        <p:nvSpPr>
          <p:cNvPr id="23" name="TextBox 22"/>
          <p:cNvSpPr txBox="1"/>
          <p:nvPr/>
        </p:nvSpPr>
        <p:spPr>
          <a:xfrm>
            <a:off x="4115387" y="3810000"/>
            <a:ext cx="7353882" cy="194310"/>
          </a:xfrm>
          <a:prstGeom prst="rect">
            <a:avLst/>
          </a:prstGeom>
          <a:noFill/>
        </p:spPr>
        <p:txBody>
          <a:bodyPr wrap="none" lIns="0" rIns="0" tIns="0" bIns="0">
            <a:spAutoFit/>
          </a:bodyPr>
          <a:lstStyle/>
          <a:p>
            <a:r>
              <a:rPr sz="1150" b="0">
                <a:solidFill>
                  <a:srgbClr val="2E2E2E"/>
                </a:solidFill>
                <a:latin typeface="Calibri"/>
              </a:rPr>
              <a:t>X higher volume than direct sales segment in 2036. Among removable partial dentures by distribution channel, direct sales</a:t>
            </a:r>
          </a:p>
        </p:txBody>
      </p:sp>
      <p:sp>
        <p:nvSpPr>
          <p:cNvPr id="24" name="TextBox 23"/>
          <p:cNvSpPr txBox="1"/>
          <p:nvPr/>
        </p:nvSpPr>
        <p:spPr>
          <a:xfrm>
            <a:off x="276225" y="3985260"/>
            <a:ext cx="3156639" cy="194310"/>
          </a:xfrm>
          <a:prstGeom prst="rect">
            <a:avLst/>
          </a:prstGeom>
          <a:noFill/>
        </p:spPr>
        <p:txBody>
          <a:bodyPr wrap="none" lIns="0" rIns="0" tIns="0" bIns="0">
            <a:spAutoFit/>
          </a:bodyPr>
          <a:lstStyle/>
          <a:p>
            <a:r>
              <a:rPr sz="1150" b="0">
                <a:solidFill>
                  <a:srgbClr val="2E2E2E"/>
                </a:solidFill>
                <a:latin typeface="Calibri"/>
              </a:rPr>
              <a:t>segment is expected to witness the highest CAGR of</a:t>
            </a:r>
          </a:p>
        </p:txBody>
      </p:sp>
      <p:pic>
        <p:nvPicPr>
          <p:cNvPr id="25" name="Picture 24" descr="lock.png"/>
          <p:cNvPicPr>
            <a:picLocks noChangeAspect="1"/>
          </p:cNvPicPr>
          <p:nvPr/>
        </p:nvPicPr>
        <p:blipFill>
          <a:blip r:embed="rId4"/>
          <a:stretch>
            <a:fillRect/>
          </a:stretch>
        </p:blipFill>
        <p:spPr>
          <a:xfrm>
            <a:off x="3382018" y="3975036"/>
            <a:ext cx="134549" cy="195707"/>
          </a:xfrm>
          <a:prstGeom prst="rect">
            <a:avLst/>
          </a:prstGeom>
        </p:spPr>
      </p:pic>
      <p:sp>
        <p:nvSpPr>
          <p:cNvPr id="26" name="TextBox 25"/>
          <p:cNvSpPr txBox="1"/>
          <p:nvPr/>
        </p:nvSpPr>
        <p:spPr>
          <a:xfrm>
            <a:off x="3557127" y="398526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4213097"/>
            <a:ext cx="8085273" cy="194310"/>
          </a:xfrm>
          <a:prstGeom prst="rect">
            <a:avLst/>
          </a:prstGeom>
          <a:noFill/>
        </p:spPr>
        <p:txBody>
          <a:bodyPr wrap="none" lIns="0" rIns="0" tIns="0" bIns="0">
            <a:spAutoFit/>
          </a:bodyPr>
          <a:lstStyle/>
          <a:p>
            <a:r>
              <a:rPr sz="1150" b="0">
                <a:solidFill>
                  <a:srgbClr val="2E2E2E"/>
                </a:solidFill>
                <a:latin typeface="Calibri"/>
              </a:rPr>
              <a:t>In terms of volume share by distribution channel, the dental dealers &amp; distributors segment is expected to dominate the market, losing</a:t>
            </a:r>
          </a:p>
        </p:txBody>
      </p:sp>
      <p:pic>
        <p:nvPicPr>
          <p:cNvPr id="28" name="Picture 27" descr="lock.png"/>
          <p:cNvPicPr>
            <a:picLocks noChangeAspect="1"/>
          </p:cNvPicPr>
          <p:nvPr/>
        </p:nvPicPr>
        <p:blipFill>
          <a:blip r:embed="rId4"/>
          <a:stretch>
            <a:fillRect/>
          </a:stretch>
        </p:blipFill>
        <p:spPr>
          <a:xfrm>
            <a:off x="8310652" y="4202874"/>
            <a:ext cx="134549" cy="195707"/>
          </a:xfrm>
          <a:prstGeom prst="rect">
            <a:avLst/>
          </a:prstGeom>
        </p:spPr>
      </p:pic>
      <p:sp>
        <p:nvSpPr>
          <p:cNvPr id="29" name="TextBox 28"/>
          <p:cNvSpPr txBox="1"/>
          <p:nvPr/>
        </p:nvSpPr>
        <p:spPr>
          <a:xfrm>
            <a:off x="8485762" y="421309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880905" y="4202874"/>
            <a:ext cx="134549" cy="195707"/>
          </a:xfrm>
          <a:prstGeom prst="rect">
            <a:avLst/>
          </a:prstGeom>
        </p:spPr>
      </p:pic>
      <p:sp>
        <p:nvSpPr>
          <p:cNvPr id="31" name="TextBox 30"/>
          <p:cNvSpPr txBox="1"/>
          <p:nvPr/>
        </p:nvSpPr>
        <p:spPr>
          <a:xfrm>
            <a:off x="10056014" y="421309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Distribution Channel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Distribution Channel,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Distribution Channel (US$ Mn)</a:t>
            </a:r>
          </a:p>
        </p:txBody>
      </p:sp>
      <p:graphicFrame>
        <p:nvGraphicFramePr>
          <p:cNvPr id="13" name="Table 12"/>
          <p:cNvGraphicFramePr>
            <a:graphicFrameLocks noGrp="1"/>
          </p:cNvGraphicFramePr>
          <p:nvPr/>
        </p:nvGraphicFramePr>
        <p:xfrm>
          <a:off x="152400" y="1238250"/>
          <a:ext cx="11887206" cy="1238250"/>
        </p:xfrm>
        <a:graphic>
          <a:graphicData uri="http://schemas.openxmlformats.org/drawingml/2006/table">
            <a:tbl>
              <a:tblPr>
                <a:tableStyleId>{5C22544A-7EE6-4342-B048-85BDC9FD1C3A}</a:tableStyleId>
              </a:tblPr>
              <a:tblGrid>
                <a:gridCol w="2041775"/>
                <a:gridCol w="579143"/>
                <a:gridCol w="579143"/>
                <a:gridCol w="579143"/>
                <a:gridCol w="579143"/>
                <a:gridCol w="579143"/>
                <a:gridCol w="579143"/>
                <a:gridCol w="579143"/>
                <a:gridCol w="579143"/>
                <a:gridCol w="579143"/>
                <a:gridCol w="579143"/>
                <a:gridCol w="579143"/>
                <a:gridCol w="579143"/>
                <a:gridCol w="579143"/>
                <a:gridCol w="579143"/>
                <a:gridCol w="579143"/>
                <a:gridCol w="579143"/>
                <a:gridCol w="579143"/>
              </a:tblGrid>
              <a:tr h="246126">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Direct Sales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Dental Dealers &amp; Distributors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Online Dental Supply Channels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1,078</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1,125</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1,731</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4.4%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0512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Distribution Channel</a:t>
            </a:r>
          </a:p>
        </p:txBody>
      </p:sp>
      <p:sp>
        <p:nvSpPr>
          <p:cNvPr id="17" name="Rectangle 16"/>
          <p:cNvSpPr/>
          <p:nvPr/>
        </p:nvSpPr>
        <p:spPr>
          <a:xfrm>
            <a:off x="276225" y="31432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28975"/>
            <a:ext cx="1163955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930200" y="1713738"/>
            <a:ext cx="366712" cy="533400"/>
          </a:xfrm>
          <a:prstGeom prst="rect">
            <a:avLst/>
          </a:prstGeom>
        </p:spPr>
      </p:pic>
      <p:sp>
        <p:nvSpPr>
          <p:cNvPr id="21" name="TextBox 20"/>
          <p:cNvSpPr txBox="1"/>
          <p:nvPr/>
        </p:nvSpPr>
        <p:spPr>
          <a:xfrm>
            <a:off x="276225" y="3238500"/>
            <a:ext cx="3714898" cy="194310"/>
          </a:xfrm>
          <a:prstGeom prst="rect">
            <a:avLst/>
          </a:prstGeom>
          <a:noFill/>
        </p:spPr>
        <p:txBody>
          <a:bodyPr wrap="none" lIns="0" rIns="0" tIns="0" bIns="0">
            <a:spAutoFit/>
          </a:bodyPr>
          <a:lstStyle/>
          <a:p>
            <a:r>
              <a:rPr sz="1150" b="0">
                <a:solidFill>
                  <a:srgbClr val="2E2E2E"/>
                </a:solidFill>
                <a:latin typeface="Calibri"/>
              </a:rPr>
              <a:t>Dental dealers &amp; distributors segment is projected to register</a:t>
            </a:r>
          </a:p>
        </p:txBody>
      </p:sp>
      <p:pic>
        <p:nvPicPr>
          <p:cNvPr id="22" name="Picture 21" descr="lock.png"/>
          <p:cNvPicPr>
            <a:picLocks noChangeAspect="1"/>
          </p:cNvPicPr>
          <p:nvPr/>
        </p:nvPicPr>
        <p:blipFill>
          <a:blip r:embed="rId4"/>
          <a:stretch>
            <a:fillRect/>
          </a:stretch>
        </p:blipFill>
        <p:spPr>
          <a:xfrm>
            <a:off x="3940277" y="3228276"/>
            <a:ext cx="134549" cy="195707"/>
          </a:xfrm>
          <a:prstGeom prst="rect">
            <a:avLst/>
          </a:prstGeom>
        </p:spPr>
      </p:pic>
      <p:sp>
        <p:nvSpPr>
          <p:cNvPr id="23" name="TextBox 22"/>
          <p:cNvSpPr txBox="1"/>
          <p:nvPr/>
        </p:nvSpPr>
        <p:spPr>
          <a:xfrm>
            <a:off x="4115387" y="3238500"/>
            <a:ext cx="7230082" cy="194310"/>
          </a:xfrm>
          <a:prstGeom prst="rect">
            <a:avLst/>
          </a:prstGeom>
          <a:noFill/>
        </p:spPr>
        <p:txBody>
          <a:bodyPr wrap="none" lIns="0" rIns="0" tIns="0" bIns="0">
            <a:spAutoFit/>
          </a:bodyPr>
          <a:lstStyle/>
          <a:p>
            <a:r>
              <a:rPr sz="1150" b="0">
                <a:solidFill>
                  <a:srgbClr val="2E2E2E"/>
                </a:solidFill>
                <a:latin typeface="Calibri"/>
              </a:rPr>
              <a:t>X higher value than direct sales segment in 2036. Among removable partial dentures by distribution channel, direct sales</a:t>
            </a:r>
          </a:p>
        </p:txBody>
      </p:sp>
      <p:sp>
        <p:nvSpPr>
          <p:cNvPr id="24" name="TextBox 23"/>
          <p:cNvSpPr txBox="1"/>
          <p:nvPr/>
        </p:nvSpPr>
        <p:spPr>
          <a:xfrm>
            <a:off x="276225" y="3413760"/>
            <a:ext cx="3156639" cy="194310"/>
          </a:xfrm>
          <a:prstGeom prst="rect">
            <a:avLst/>
          </a:prstGeom>
          <a:noFill/>
        </p:spPr>
        <p:txBody>
          <a:bodyPr wrap="none" lIns="0" rIns="0" tIns="0" bIns="0">
            <a:spAutoFit/>
          </a:bodyPr>
          <a:lstStyle/>
          <a:p>
            <a:r>
              <a:rPr sz="1150" b="0">
                <a:solidFill>
                  <a:srgbClr val="2E2E2E"/>
                </a:solidFill>
                <a:latin typeface="Calibri"/>
              </a:rPr>
              <a:t>segment is expected to witness the highest CAGR of</a:t>
            </a:r>
          </a:p>
        </p:txBody>
      </p:sp>
      <p:pic>
        <p:nvPicPr>
          <p:cNvPr id="25" name="Picture 24" descr="lock.png"/>
          <p:cNvPicPr>
            <a:picLocks noChangeAspect="1"/>
          </p:cNvPicPr>
          <p:nvPr/>
        </p:nvPicPr>
        <p:blipFill>
          <a:blip r:embed="rId4"/>
          <a:stretch>
            <a:fillRect/>
          </a:stretch>
        </p:blipFill>
        <p:spPr>
          <a:xfrm>
            <a:off x="3382018" y="3403536"/>
            <a:ext cx="134549" cy="195707"/>
          </a:xfrm>
          <a:prstGeom prst="rect">
            <a:avLst/>
          </a:prstGeom>
        </p:spPr>
      </p:pic>
      <p:sp>
        <p:nvSpPr>
          <p:cNvPr id="26" name="TextBox 25"/>
          <p:cNvSpPr txBox="1"/>
          <p:nvPr/>
        </p:nvSpPr>
        <p:spPr>
          <a:xfrm>
            <a:off x="3557127" y="341376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641597"/>
            <a:ext cx="7961473" cy="194310"/>
          </a:xfrm>
          <a:prstGeom prst="rect">
            <a:avLst/>
          </a:prstGeom>
          <a:noFill/>
        </p:spPr>
        <p:txBody>
          <a:bodyPr wrap="none" lIns="0" rIns="0" tIns="0" bIns="0">
            <a:spAutoFit/>
          </a:bodyPr>
          <a:lstStyle/>
          <a:p>
            <a:r>
              <a:rPr sz="1150" b="0">
                <a:solidFill>
                  <a:srgbClr val="2E2E2E"/>
                </a:solidFill>
                <a:latin typeface="Calibri"/>
              </a:rPr>
              <a:t>In terms of value share by distribution channel, the dental dealers &amp; distributors segment is expected to dominate the market, losing</a:t>
            </a:r>
          </a:p>
        </p:txBody>
      </p:sp>
      <p:pic>
        <p:nvPicPr>
          <p:cNvPr id="28" name="Picture 27" descr="lock.png"/>
          <p:cNvPicPr>
            <a:picLocks noChangeAspect="1"/>
          </p:cNvPicPr>
          <p:nvPr/>
        </p:nvPicPr>
        <p:blipFill>
          <a:blip r:embed="rId4"/>
          <a:stretch>
            <a:fillRect/>
          </a:stretch>
        </p:blipFill>
        <p:spPr>
          <a:xfrm>
            <a:off x="8186852" y="3631374"/>
            <a:ext cx="134549" cy="195707"/>
          </a:xfrm>
          <a:prstGeom prst="rect">
            <a:avLst/>
          </a:prstGeom>
        </p:spPr>
      </p:pic>
      <p:sp>
        <p:nvSpPr>
          <p:cNvPr id="29" name="TextBox 28"/>
          <p:cNvSpPr txBox="1"/>
          <p:nvPr/>
        </p:nvSpPr>
        <p:spPr>
          <a:xfrm>
            <a:off x="8361961" y="364159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757105" y="3631374"/>
            <a:ext cx="134549" cy="195707"/>
          </a:xfrm>
          <a:prstGeom prst="rect">
            <a:avLst/>
          </a:prstGeom>
        </p:spPr>
      </p:pic>
      <p:sp>
        <p:nvSpPr>
          <p:cNvPr id="31" name="TextBox 30"/>
          <p:cNvSpPr txBox="1"/>
          <p:nvPr/>
        </p:nvSpPr>
        <p:spPr>
          <a:xfrm>
            <a:off x="9932214" y="364159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Distribution Channel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Distribution Channel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68670"/>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86390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8770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Online Dental Supply Channels</a:t>
            </a:r>
          </a:p>
        </p:txBody>
      </p:sp>
      <p:sp>
        <p:nvSpPr>
          <p:cNvPr id="19" name="BPS Value 1"/>
          <p:cNvSpPr txBox="1"/>
          <p:nvPr/>
        </p:nvSpPr>
        <p:spPr>
          <a:xfrm>
            <a:off x="6896100" y="1849620"/>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2953018"/>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94825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87205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Direct Sales</a:t>
            </a:r>
          </a:p>
        </p:txBody>
      </p:sp>
      <p:sp>
        <p:nvSpPr>
          <p:cNvPr id="23" name="BPS Value 2"/>
          <p:cNvSpPr txBox="1"/>
          <p:nvPr/>
        </p:nvSpPr>
        <p:spPr>
          <a:xfrm>
            <a:off x="6896100" y="2933968"/>
            <a:ext cx="514350" cy="123825"/>
          </a:xfrm>
          <a:prstGeom prst="rect">
            <a:avLst/>
          </a:prstGeom>
          <a:noFill/>
        </p:spPr>
        <p:txBody>
          <a:bodyPr wrap="none" lIns="19050" rIns="19050" tIns="0" bIns="0" anchor="ctr">
            <a:spAutoFit/>
          </a:bodyPr>
          <a:lstStyle/>
          <a:p>
            <a:pPr algn="r"/>
            <a:r>
              <a:rPr sz="900" b="1">
                <a:solidFill>
                  <a:srgbClr val="2E7D32"/>
                </a:solidFill>
                <a:latin typeface="Calibri"/>
              </a:rPr>
              <a:t>XX</a:t>
            </a:r>
          </a:p>
        </p:txBody>
      </p:sp>
      <p:sp>
        <p:nvSpPr>
          <p:cNvPr id="24" name="FMI Legend Chip"/>
          <p:cNvSpPr/>
          <p:nvPr/>
        </p:nvSpPr>
        <p:spPr>
          <a:xfrm>
            <a:off x="4928997" y="5041796"/>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503703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496083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Dental Dealers &amp; Distributors</a:t>
            </a:r>
          </a:p>
        </p:txBody>
      </p:sp>
      <p:sp>
        <p:nvSpPr>
          <p:cNvPr id="27" name="BPS Value 3"/>
          <p:cNvSpPr txBox="1"/>
          <p:nvPr/>
        </p:nvSpPr>
        <p:spPr>
          <a:xfrm>
            <a:off x="6896100" y="5022746"/>
            <a:ext cx="514350" cy="123825"/>
          </a:xfrm>
          <a:prstGeom prst="rect">
            <a:avLst/>
          </a:prstGeom>
          <a:noFill/>
        </p:spPr>
        <p:txBody>
          <a:bodyPr wrap="none" lIns="19050" rIns="19050" tIns="0" bIns="0" anchor="ctr">
            <a:spAutoFit/>
          </a:bodyPr>
          <a:lstStyle/>
          <a:p>
            <a:pPr algn="r"/>
            <a:r>
              <a:rPr sz="900" b="1">
                <a:solidFill>
                  <a:srgbClr val="E44D3A"/>
                </a:solidFill>
                <a:latin typeface="Calibri"/>
              </a:rPr>
              <a:t>XX</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Distribution Channel</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5"/>
          <a:stretch>
            <a:fillRect/>
          </a:stretch>
        </p:blipFill>
        <p:spPr>
          <a:xfrm>
            <a:off x="2557843" y="3833622"/>
            <a:ext cx="275034" cy="400050"/>
          </a:xfrm>
          <a:prstGeom prst="rect">
            <a:avLst/>
          </a:prstGeom>
        </p:spPr>
      </p:pic>
      <p:sp>
        <p:nvSpPr>
          <p:cNvPr id="34" name="TextBox 33"/>
          <p:cNvSpPr txBox="1"/>
          <p:nvPr/>
        </p:nvSpPr>
        <p:spPr>
          <a:xfrm>
            <a:off x="7829550" y="1400175"/>
            <a:ext cx="3968774" cy="194310"/>
          </a:xfrm>
          <a:prstGeom prst="rect">
            <a:avLst/>
          </a:prstGeom>
          <a:noFill/>
        </p:spPr>
        <p:txBody>
          <a:bodyPr wrap="none" lIns="0" rIns="0" tIns="0" bIns="0">
            <a:spAutoFit/>
          </a:bodyPr>
          <a:lstStyle/>
          <a:p>
            <a:r>
              <a:rPr sz="1150" b="0">
                <a:solidFill>
                  <a:srgbClr val="2E2E2E"/>
                </a:solidFill>
                <a:latin typeface="Calibri"/>
              </a:rPr>
              <a:t>Among removable partial dentures by distribution channel, direct</a:t>
            </a:r>
          </a:p>
        </p:txBody>
      </p:sp>
      <p:sp>
        <p:nvSpPr>
          <p:cNvPr id="35" name="TextBox 34"/>
          <p:cNvSpPr txBox="1"/>
          <p:nvPr/>
        </p:nvSpPr>
        <p:spPr>
          <a:xfrm>
            <a:off x="7829550" y="1575435"/>
            <a:ext cx="3480117" cy="194310"/>
          </a:xfrm>
          <a:prstGeom prst="rect">
            <a:avLst/>
          </a:prstGeom>
          <a:noFill/>
        </p:spPr>
        <p:txBody>
          <a:bodyPr wrap="none" lIns="0" rIns="0" tIns="0" bIns="0">
            <a:spAutoFit/>
          </a:bodyPr>
          <a:lstStyle/>
          <a:p>
            <a:r>
              <a:rPr sz="1150" b="0">
                <a:solidFill>
                  <a:srgbClr val="2E2E2E"/>
                </a:solidFill>
                <a:latin typeface="Calibri"/>
              </a:rPr>
              <a:t>sales segment is expected to witness the highest CAGR of</a:t>
            </a:r>
          </a:p>
        </p:txBody>
      </p:sp>
      <p:pic>
        <p:nvPicPr>
          <p:cNvPr id="36" name="Picture 35" descr="lock.png"/>
          <p:cNvPicPr>
            <a:picLocks noChangeAspect="1"/>
          </p:cNvPicPr>
          <p:nvPr/>
        </p:nvPicPr>
        <p:blipFill>
          <a:blip r:embed="rId5"/>
          <a:stretch>
            <a:fillRect/>
          </a:stretch>
        </p:blipFill>
        <p:spPr>
          <a:xfrm>
            <a:off x="11258820" y="1565211"/>
            <a:ext cx="134549" cy="195707"/>
          </a:xfrm>
          <a:prstGeom prst="rect">
            <a:avLst/>
          </a:prstGeom>
        </p:spPr>
      </p:pic>
      <p:sp>
        <p:nvSpPr>
          <p:cNvPr id="37" name="TextBox 36"/>
          <p:cNvSpPr txBox="1"/>
          <p:nvPr/>
        </p:nvSpPr>
        <p:spPr>
          <a:xfrm>
            <a:off x="11433930" y="1575435"/>
            <a:ext cx="342912" cy="194310"/>
          </a:xfrm>
          <a:prstGeom prst="rect">
            <a:avLst/>
          </a:prstGeom>
          <a:noFill/>
        </p:spPr>
        <p:txBody>
          <a:bodyPr wrap="none" lIns="0" rIns="0" tIns="0" bIns="0">
            <a:spAutoFit/>
          </a:bodyPr>
          <a:lstStyle/>
          <a:p>
            <a:r>
              <a:rPr sz="1150" b="0">
                <a:solidFill>
                  <a:srgbClr val="2E2E2E"/>
                </a:solidFill>
                <a:latin typeface="Calibri"/>
              </a:rPr>
              <a:t>over</a:t>
            </a:r>
          </a:p>
        </p:txBody>
      </p:sp>
      <p:sp>
        <p:nvSpPr>
          <p:cNvPr id="38" name="TextBox 37"/>
          <p:cNvSpPr txBox="1"/>
          <p:nvPr/>
        </p:nvSpPr>
        <p:spPr>
          <a:xfrm>
            <a:off x="7829550" y="1750695"/>
            <a:ext cx="1248878" cy="194310"/>
          </a:xfrm>
          <a:prstGeom prst="rect">
            <a:avLst/>
          </a:prstGeom>
          <a:noFill/>
        </p:spPr>
        <p:txBody>
          <a:bodyPr wrap="none" lIns="0" rIns="0" tIns="0" bIns="0">
            <a:spAutoFit/>
          </a:bodyPr>
          <a:lstStyle/>
          <a:p>
            <a:r>
              <a:rPr sz="1150" b="0">
                <a:solidFill>
                  <a:srgbClr val="2E2E2E"/>
                </a:solidFill>
                <a:latin typeface="Calibri"/>
              </a:rPr>
              <a:t>the forecast period.</a:t>
            </a:r>
          </a:p>
        </p:txBody>
      </p:sp>
      <p:sp>
        <p:nvSpPr>
          <p:cNvPr id="39" name="TextBox 38"/>
          <p:cNvSpPr txBox="1"/>
          <p:nvPr/>
        </p:nvSpPr>
        <p:spPr>
          <a:xfrm>
            <a:off x="7829550" y="1978533"/>
            <a:ext cx="4057650" cy="194310"/>
          </a:xfrm>
          <a:prstGeom prst="rect">
            <a:avLst/>
          </a:prstGeom>
          <a:noFill/>
        </p:spPr>
        <p:txBody>
          <a:bodyPr wrap="none" lIns="0" rIns="0" tIns="0" bIns="0">
            <a:spAutoFit/>
          </a:bodyPr>
          <a:lstStyle/>
          <a:p>
            <a:r>
              <a:rPr sz="1150" b="0">
                <a:solidFill>
                  <a:srgbClr val="2E2E2E"/>
                </a:solidFill>
                <a:latin typeface="Calibri"/>
              </a:rPr>
              <a:t>In terms of value share by distribution channel, the dental dealers &amp;</a:t>
            </a:r>
          </a:p>
        </p:txBody>
      </p:sp>
      <p:sp>
        <p:nvSpPr>
          <p:cNvPr id="40" name="TextBox 39"/>
          <p:cNvSpPr txBox="1"/>
          <p:nvPr/>
        </p:nvSpPr>
        <p:spPr>
          <a:xfrm>
            <a:off x="7829550" y="2153793"/>
            <a:ext cx="3886621" cy="194310"/>
          </a:xfrm>
          <a:prstGeom prst="rect">
            <a:avLst/>
          </a:prstGeom>
          <a:noFill/>
        </p:spPr>
        <p:txBody>
          <a:bodyPr wrap="none" lIns="0" rIns="0" tIns="0" bIns="0">
            <a:spAutoFit/>
          </a:bodyPr>
          <a:lstStyle/>
          <a:p>
            <a:r>
              <a:rPr sz="1150" b="0">
                <a:solidFill>
                  <a:srgbClr val="2E2E2E"/>
                </a:solidFill>
                <a:latin typeface="Calibri"/>
              </a:rPr>
              <a:t>distributors segment is expected to dominate the market, losing</a:t>
            </a:r>
          </a:p>
        </p:txBody>
      </p:sp>
      <p:pic>
        <p:nvPicPr>
          <p:cNvPr id="41" name="Picture 40" descr="lock.png"/>
          <p:cNvPicPr>
            <a:picLocks noChangeAspect="1"/>
          </p:cNvPicPr>
          <p:nvPr/>
        </p:nvPicPr>
        <p:blipFill>
          <a:blip r:embed="rId5"/>
          <a:stretch>
            <a:fillRect/>
          </a:stretch>
        </p:blipFill>
        <p:spPr>
          <a:xfrm>
            <a:off x="7815470" y="2318829"/>
            <a:ext cx="134549" cy="195707"/>
          </a:xfrm>
          <a:prstGeom prst="rect">
            <a:avLst/>
          </a:prstGeom>
        </p:spPr>
      </p:pic>
      <p:sp>
        <p:nvSpPr>
          <p:cNvPr id="42" name="TextBox 41"/>
          <p:cNvSpPr txBox="1"/>
          <p:nvPr/>
        </p:nvSpPr>
        <p:spPr>
          <a:xfrm>
            <a:off x="7990579" y="2329053"/>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43" name="Picture 42" descr="lock.png"/>
          <p:cNvPicPr>
            <a:picLocks noChangeAspect="1"/>
          </p:cNvPicPr>
          <p:nvPr/>
        </p:nvPicPr>
        <p:blipFill>
          <a:blip r:embed="rId5"/>
          <a:stretch>
            <a:fillRect/>
          </a:stretch>
        </p:blipFill>
        <p:spPr>
          <a:xfrm>
            <a:off x="9385722" y="2318829"/>
            <a:ext cx="134549" cy="195707"/>
          </a:xfrm>
          <a:prstGeom prst="rect">
            <a:avLst/>
          </a:prstGeom>
        </p:spPr>
      </p:pic>
      <p:sp>
        <p:nvSpPr>
          <p:cNvPr id="44" name="TextBox 43"/>
          <p:cNvSpPr txBox="1"/>
          <p:nvPr/>
        </p:nvSpPr>
        <p:spPr>
          <a:xfrm>
            <a:off x="9560832" y="232905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5"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Distribution Channel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Distribution Channel,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990600"/>
        </p:xfrm>
        <a:graphic>
          <a:graphicData uri="http://schemas.openxmlformats.org/drawingml/2006/table">
            <a:tbl>
              <a:tblPr>
                <a:tableStyleId>{5C22544A-7EE6-4342-B048-85BDC9FD1C3A}</a:tableStyleId>
              </a:tblPr>
              <a:tblGrid>
                <a:gridCol w="2224309"/>
                <a:gridCol w="644193"/>
                <a:gridCol w="644193"/>
                <a:gridCol w="644193"/>
                <a:gridCol w="644193"/>
                <a:gridCol w="644193"/>
                <a:gridCol w="644193"/>
                <a:gridCol w="644193"/>
                <a:gridCol w="644193"/>
                <a:gridCol w="644193"/>
                <a:gridCol w="644193"/>
                <a:gridCol w="644193"/>
                <a:gridCol w="644193"/>
                <a:gridCol w="644193"/>
                <a:gridCol w="644193"/>
                <a:gridCol w="644193"/>
              </a:tblGrid>
              <a:tr h="246126">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Direct Sales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Dental Dealers &amp; Distributors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Online Dental Supply Channels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Distribution Channel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Direct Sales</a:t>
            </a:r>
          </a:p>
        </p:txBody>
      </p:sp>
      <p:sp>
        <p:nvSpPr>
          <p:cNvPr id="33" name="Rectangle 32"/>
          <p:cNvSpPr/>
          <p:nvPr/>
        </p:nvSpPr>
        <p:spPr>
          <a:xfrm>
            <a:off x="1857375" y="3000375"/>
            <a:ext cx="643890" cy="1190625"/>
          </a:xfrm>
          <a:prstGeom prst="rect">
            <a:avLst/>
          </a:prstGeom>
          <a:solidFill>
            <a:srgbClr val="0D588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0C4E7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0C3E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0C40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Dental Dealers &amp; Distributors</a:t>
            </a:r>
          </a:p>
        </p:txBody>
      </p:sp>
      <p:sp>
        <p:nvSpPr>
          <p:cNvPr id="49" name="Rectangle 48"/>
          <p:cNvSpPr/>
          <p:nvPr/>
        </p:nvSpPr>
        <p:spPr>
          <a:xfrm>
            <a:off x="1857375" y="4191000"/>
            <a:ext cx="643890" cy="1190625"/>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Online Dental Supply Channels</a:t>
            </a:r>
          </a:p>
        </p:txBody>
      </p:sp>
      <p:sp>
        <p:nvSpPr>
          <p:cNvPr id="65" name="Rectangle 64"/>
          <p:cNvSpPr/>
          <p:nvPr/>
        </p:nvSpPr>
        <p:spPr>
          <a:xfrm>
            <a:off x="1857375" y="5381625"/>
            <a:ext cx="643890" cy="1190625"/>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7021466" y="1589913"/>
            <a:ext cx="366712" cy="533400"/>
          </a:xfrm>
          <a:prstGeom prst="rect">
            <a:avLst/>
          </a:prstGeom>
        </p:spPr>
      </p:pic>
    </p:spTree>
  </p:cSld>
  <p:clrMapOvr>
    <a:masterClrMapping/>
  </p:clrMapOvr>
</p:sld>
</file>

<file path=ppt/slides/slide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Distribution Channel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Distribution Channel,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990600"/>
        </p:xfrm>
        <a:graphic>
          <a:graphicData uri="http://schemas.openxmlformats.org/drawingml/2006/table">
            <a:tbl>
              <a:tblPr>
                <a:tableStyleId>{5C22544A-7EE6-4342-B048-85BDC9FD1C3A}</a:tableStyleId>
              </a:tblPr>
              <a:tblGrid>
                <a:gridCol w="2224309"/>
                <a:gridCol w="644193"/>
                <a:gridCol w="644193"/>
                <a:gridCol w="644193"/>
                <a:gridCol w="644193"/>
                <a:gridCol w="644193"/>
                <a:gridCol w="644193"/>
                <a:gridCol w="644193"/>
                <a:gridCol w="644193"/>
                <a:gridCol w="644193"/>
                <a:gridCol w="644193"/>
                <a:gridCol w="644193"/>
                <a:gridCol w="644193"/>
                <a:gridCol w="644193"/>
                <a:gridCol w="644193"/>
                <a:gridCol w="644193"/>
              </a:tblGrid>
              <a:tr h="246126">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Direct Sales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Dental Dealers &amp; Distributors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Online Dental Supply Channels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Distribution Channel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Direct Sales</a:t>
            </a:r>
          </a:p>
        </p:txBody>
      </p:sp>
      <p:sp>
        <p:nvSpPr>
          <p:cNvPr id="33" name="Rectangle 32"/>
          <p:cNvSpPr/>
          <p:nvPr/>
        </p:nvSpPr>
        <p:spPr>
          <a:xfrm>
            <a:off x="1857375" y="3000375"/>
            <a:ext cx="643890" cy="1190625"/>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0C4C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0B35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0C3E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0C49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Dental Dealers &amp; Distributors</a:t>
            </a:r>
          </a:p>
        </p:txBody>
      </p:sp>
      <p:sp>
        <p:nvSpPr>
          <p:cNvPr id="49" name="Rectangle 48"/>
          <p:cNvSpPr/>
          <p:nvPr/>
        </p:nvSpPr>
        <p:spPr>
          <a:xfrm>
            <a:off x="1857375" y="4191000"/>
            <a:ext cx="643890" cy="1190625"/>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ED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FE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Online Dental Supply Channels</a:t>
            </a:r>
          </a:p>
        </p:txBody>
      </p:sp>
      <p:sp>
        <p:nvSpPr>
          <p:cNvPr id="65" name="Rectangle 64"/>
          <p:cNvSpPr/>
          <p:nvPr/>
        </p:nvSpPr>
        <p:spPr>
          <a:xfrm>
            <a:off x="1857375" y="5381625"/>
            <a:ext cx="643890" cy="1190625"/>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7021466" y="1589913"/>
            <a:ext cx="366712" cy="533400"/>
          </a:xfrm>
          <a:prstGeom prst="rect">
            <a:avLst/>
          </a:prstGeom>
        </p:spPr>
      </p:pic>
      <p:pic>
        <p:nvPicPr>
          <p:cNvPr id="126" name="Picture 125" descr="lock.png"/>
          <p:cNvPicPr>
            <a:picLocks noChangeAspect="1"/>
          </p:cNvPicPr>
          <p:nvPr/>
        </p:nvPicPr>
        <p:blipFill>
          <a:blip r:embed="rId4"/>
          <a:stretch>
            <a:fillRect/>
          </a:stretch>
        </p:blipFill>
        <p:spPr>
          <a:xfrm>
            <a:off x="11760938" y="2944876"/>
            <a:ext cx="128699" cy="187198"/>
          </a:xfrm>
          <a:prstGeom prst="rect">
            <a:avLst/>
          </a:prstGeom>
        </p:spPr>
      </p:pic>
      <p:pic>
        <p:nvPicPr>
          <p:cNvPr id="127" name="Picture 126" descr="lock.png"/>
          <p:cNvPicPr>
            <a:picLocks noChangeAspect="1"/>
          </p:cNvPicPr>
          <p:nvPr/>
        </p:nvPicPr>
        <p:blipFill>
          <a:blip r:embed="rId4"/>
          <a:stretch>
            <a:fillRect/>
          </a:stretch>
        </p:blipFill>
        <p:spPr>
          <a:xfrm>
            <a:off x="11760938" y="4692714"/>
            <a:ext cx="128699" cy="187198"/>
          </a:xfrm>
          <a:prstGeom prst="rect">
            <a:avLst/>
          </a:prstGeom>
        </p:spPr>
      </p:pic>
      <p:pic>
        <p:nvPicPr>
          <p:cNvPr id="128" name="Picture 127"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9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Patient Age Group</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Patient Age Group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Patient Age Group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2 sub-segments of Patient Age Group,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Patient Age Group segment categorizes the market by patient age group.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Geriatric Patients</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Adults</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Patient Age Group split shows how demand is distributed across patient age group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Patient Age Group segment is projected to grow at a CAGR of 4.4% from 2026 to 2036.</a:t>
            </a: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0" name="Picture 49" descr="753_1_605E5C.png"/>
          <p:cNvPicPr>
            <a:picLocks noChangeAspect="1"/>
          </p:cNvPicPr>
          <p:nvPr/>
        </p:nvPicPr>
        <p:blipFill>
          <a:blip r:embed="rId4"/>
          <a:stretch>
            <a:fillRect/>
          </a:stretch>
        </p:blipFill>
        <p:spPr>
          <a:xfrm>
            <a:off x="3740773" y="2286582"/>
            <a:ext cx="1195728" cy="361950"/>
          </a:xfrm>
          <a:prstGeom prst="rect">
            <a:avLst/>
          </a:prstGeom>
        </p:spPr>
      </p:pic>
      <p:pic>
        <p:nvPicPr>
          <p:cNvPr id="51" name="Picture 50" descr="1_168_605E5C.png"/>
          <p:cNvPicPr>
            <a:picLocks noChangeAspect="1"/>
          </p:cNvPicPr>
          <p:nvPr/>
        </p:nvPicPr>
        <p:blipFill>
          <a:blip r:embed="rId5"/>
          <a:stretch>
            <a:fillRect/>
          </a:stretch>
        </p:blipFill>
        <p:spPr>
          <a:xfrm>
            <a:off x="3740773" y="2779432"/>
            <a:ext cx="1195728" cy="361950"/>
          </a:xfrm>
          <a:prstGeom prst="rect">
            <a:avLst/>
          </a:prstGeom>
        </p:spPr>
      </p:pic>
      <p:pic>
        <p:nvPicPr>
          <p:cNvPr id="52" name="Picture 51" descr="4_5__605E5C.png"/>
          <p:cNvPicPr>
            <a:picLocks noChangeAspect="1"/>
          </p:cNvPicPr>
          <p:nvPr/>
        </p:nvPicPr>
        <p:blipFill>
          <a:blip r:embed="rId6"/>
          <a:stretch>
            <a:fillRect/>
          </a:stretch>
        </p:blipFill>
        <p:spPr>
          <a:xfrm>
            <a:off x="3847419" y="3272281"/>
            <a:ext cx="982436" cy="361950"/>
          </a:xfrm>
          <a:prstGeom prst="rect">
            <a:avLst/>
          </a:prstGeom>
        </p:spPr>
      </p:pic>
      <p:pic>
        <p:nvPicPr>
          <p:cNvPr id="53" name="Picture 52" descr="372_1_605E5C.png"/>
          <p:cNvPicPr>
            <a:picLocks noChangeAspect="1"/>
          </p:cNvPicPr>
          <p:nvPr/>
        </p:nvPicPr>
        <p:blipFill>
          <a:blip r:embed="rId7"/>
          <a:stretch>
            <a:fillRect/>
          </a:stretch>
        </p:blipFill>
        <p:spPr>
          <a:xfrm>
            <a:off x="8798548" y="2286582"/>
            <a:ext cx="1195728" cy="361950"/>
          </a:xfrm>
          <a:prstGeom prst="rect">
            <a:avLst/>
          </a:prstGeom>
        </p:spPr>
      </p:pic>
      <p:pic>
        <p:nvPicPr>
          <p:cNvPr id="54" name="Picture 53" descr="563_3_605E5C.png"/>
          <p:cNvPicPr>
            <a:picLocks noChangeAspect="1"/>
          </p:cNvPicPr>
          <p:nvPr/>
        </p:nvPicPr>
        <p:blipFill>
          <a:blip r:embed="rId8"/>
          <a:stretch>
            <a:fillRect/>
          </a:stretch>
        </p:blipFill>
        <p:spPr>
          <a:xfrm>
            <a:off x="8798548" y="2779432"/>
            <a:ext cx="1195728" cy="361950"/>
          </a:xfrm>
          <a:prstGeom prst="rect">
            <a:avLst/>
          </a:prstGeom>
        </p:spPr>
      </p:pic>
      <p:pic>
        <p:nvPicPr>
          <p:cNvPr id="55" name="Picture 54" descr="4_2__605E5C.png"/>
          <p:cNvPicPr>
            <a:picLocks noChangeAspect="1"/>
          </p:cNvPicPr>
          <p:nvPr/>
        </p:nvPicPr>
        <p:blipFill>
          <a:blip r:embed="rId9"/>
          <a:stretch>
            <a:fillRect/>
          </a:stretch>
        </p:blipFill>
        <p:spPr>
          <a:xfrm>
            <a:off x="8905194" y="3272281"/>
            <a:ext cx="982436" cy="361950"/>
          </a:xfrm>
          <a:prstGeom prst="rect">
            <a:avLst/>
          </a:prstGeom>
        </p:spPr>
      </p:pic>
      <p:pic>
        <p:nvPicPr>
          <p:cNvPr id="56" name="Picture 55" descr="lock.png"/>
          <p:cNvPicPr>
            <a:picLocks noChangeAspect="1"/>
          </p:cNvPicPr>
          <p:nvPr/>
        </p:nvPicPr>
        <p:blipFill>
          <a:blip r:embed="rId10"/>
          <a:stretch>
            <a:fillRect/>
          </a:stretch>
        </p:blipFill>
        <p:spPr>
          <a:xfrm>
            <a:off x="4230493" y="2805915"/>
            <a:ext cx="212425" cy="308982"/>
          </a:xfrm>
          <a:prstGeom prst="rect">
            <a:avLst/>
          </a:prstGeom>
        </p:spPr>
      </p:pic>
      <p:pic>
        <p:nvPicPr>
          <p:cNvPr id="57" name="Picture 56" descr="lock.png"/>
          <p:cNvPicPr>
            <a:picLocks noChangeAspect="1"/>
          </p:cNvPicPr>
          <p:nvPr/>
        </p:nvPicPr>
        <p:blipFill>
          <a:blip r:embed="rId10"/>
          <a:stretch>
            <a:fillRect/>
          </a:stretch>
        </p:blipFill>
        <p:spPr>
          <a:xfrm>
            <a:off x="9288268" y="2805915"/>
            <a:ext cx="212425" cy="308982"/>
          </a:xfrm>
          <a:prstGeom prst="rect">
            <a:avLst/>
          </a:prstGeom>
        </p:spPr>
      </p:pic>
      <p:sp>
        <p:nvSpPr>
          <p:cNvPr id="58" name="TextBox 57"/>
          <p:cNvSpPr txBox="1"/>
          <p:nvPr/>
        </p:nvSpPr>
        <p:spPr>
          <a:xfrm>
            <a:off x="485775" y="4229437"/>
            <a:ext cx="2865834" cy="186689"/>
          </a:xfrm>
          <a:prstGeom prst="rect">
            <a:avLst/>
          </a:prstGeom>
          <a:noFill/>
        </p:spPr>
        <p:txBody>
          <a:bodyPr wrap="none" lIns="0" rIns="0" tIns="0" bIns="0">
            <a:spAutoFit/>
          </a:bodyPr>
          <a:lstStyle/>
          <a:p>
            <a:r>
              <a:rPr sz="1100" b="0">
                <a:solidFill>
                  <a:srgbClr val="2E2E2E"/>
                </a:solidFill>
                <a:latin typeface="Calibri"/>
              </a:rPr>
              <a:t>▪ ¶ Among removable partial dentures by patient</a:t>
            </a:r>
          </a:p>
        </p:txBody>
      </p:sp>
      <p:sp>
        <p:nvSpPr>
          <p:cNvPr id="59" name="TextBox 58"/>
          <p:cNvSpPr txBox="1"/>
          <p:nvPr/>
        </p:nvSpPr>
        <p:spPr>
          <a:xfrm>
            <a:off x="485775" y="4397077"/>
            <a:ext cx="2872928" cy="186689"/>
          </a:xfrm>
          <a:prstGeom prst="rect">
            <a:avLst/>
          </a:prstGeom>
          <a:noFill/>
        </p:spPr>
        <p:txBody>
          <a:bodyPr wrap="none" lIns="0" rIns="0" tIns="0" bIns="0">
            <a:spAutoFit/>
          </a:bodyPr>
          <a:lstStyle/>
          <a:p>
            <a:r>
              <a:rPr sz="1100" b="0">
                <a:solidFill>
                  <a:srgbClr val="2E2E2E"/>
                </a:solidFill>
                <a:latin typeface="Calibri"/>
              </a:rPr>
              <a:t>age group, geriatric patients segment is expected</a:t>
            </a:r>
          </a:p>
        </p:txBody>
      </p:sp>
      <p:sp>
        <p:nvSpPr>
          <p:cNvPr id="60" name="TextBox 59"/>
          <p:cNvSpPr txBox="1"/>
          <p:nvPr/>
        </p:nvSpPr>
        <p:spPr>
          <a:xfrm>
            <a:off x="485775" y="4564717"/>
            <a:ext cx="1827344" cy="186689"/>
          </a:xfrm>
          <a:prstGeom prst="rect">
            <a:avLst/>
          </a:prstGeom>
          <a:noFill/>
        </p:spPr>
        <p:txBody>
          <a:bodyPr wrap="none" lIns="0" rIns="0" tIns="0" bIns="0">
            <a:spAutoFit/>
          </a:bodyPr>
          <a:lstStyle/>
          <a:p>
            <a:r>
              <a:rPr sz="1100" b="0">
                <a:solidFill>
                  <a:srgbClr val="2E2E2E"/>
                </a:solidFill>
                <a:latin typeface="Calibri"/>
              </a:rPr>
              <a:t>to witness the highest CAGR of</a:t>
            </a:r>
          </a:p>
        </p:txBody>
      </p:sp>
      <p:pic>
        <p:nvPicPr>
          <p:cNvPr id="61" name="Picture 60" descr="lock.png"/>
          <p:cNvPicPr>
            <a:picLocks noChangeAspect="1"/>
          </p:cNvPicPr>
          <p:nvPr/>
        </p:nvPicPr>
        <p:blipFill>
          <a:blip r:embed="rId10"/>
          <a:stretch>
            <a:fillRect/>
          </a:stretch>
        </p:blipFill>
        <p:spPr>
          <a:xfrm>
            <a:off x="2261170" y="4554938"/>
            <a:ext cx="128699" cy="187198"/>
          </a:xfrm>
          <a:prstGeom prst="rect">
            <a:avLst/>
          </a:prstGeom>
        </p:spPr>
      </p:pic>
      <p:sp>
        <p:nvSpPr>
          <p:cNvPr id="62" name="TextBox 61"/>
          <p:cNvSpPr txBox="1"/>
          <p:nvPr/>
        </p:nvSpPr>
        <p:spPr>
          <a:xfrm>
            <a:off x="2428666" y="4564717"/>
            <a:ext cx="552871" cy="186689"/>
          </a:xfrm>
          <a:prstGeom prst="rect">
            <a:avLst/>
          </a:prstGeom>
          <a:noFill/>
        </p:spPr>
        <p:txBody>
          <a:bodyPr wrap="none" lIns="0" rIns="0" tIns="0" bIns="0">
            <a:spAutoFit/>
          </a:bodyPr>
          <a:lstStyle/>
          <a:p>
            <a:r>
              <a:rPr sz="1100" b="0">
                <a:solidFill>
                  <a:srgbClr val="2E2E2E"/>
                </a:solidFill>
                <a:latin typeface="Calibri"/>
              </a:rPr>
              <a:t>over the</a:t>
            </a:r>
          </a:p>
        </p:txBody>
      </p:sp>
      <p:sp>
        <p:nvSpPr>
          <p:cNvPr id="63" name="TextBox 62"/>
          <p:cNvSpPr txBox="1"/>
          <p:nvPr/>
        </p:nvSpPr>
        <p:spPr>
          <a:xfrm>
            <a:off x="485775" y="4732357"/>
            <a:ext cx="2914650" cy="186689"/>
          </a:xfrm>
          <a:prstGeom prst="rect">
            <a:avLst/>
          </a:prstGeom>
          <a:noFill/>
        </p:spPr>
        <p:txBody>
          <a:bodyPr wrap="none" lIns="0" rIns="0" tIns="0" bIns="0">
            <a:spAutoFit/>
          </a:bodyPr>
          <a:lstStyle/>
          <a:p>
            <a:r>
              <a:rPr sz="1100" b="0">
                <a:solidFill>
                  <a:srgbClr val="2E2E2E"/>
                </a:solidFill>
                <a:latin typeface="Calibri"/>
              </a:rPr>
              <a:t>forecast period. In terms of value share by patient</a:t>
            </a:r>
          </a:p>
        </p:txBody>
      </p:sp>
      <p:sp>
        <p:nvSpPr>
          <p:cNvPr id="64" name="TextBox 63"/>
          <p:cNvSpPr txBox="1"/>
          <p:nvPr/>
        </p:nvSpPr>
        <p:spPr>
          <a:xfrm>
            <a:off x="485775" y="4899997"/>
            <a:ext cx="2540595" cy="186689"/>
          </a:xfrm>
          <a:prstGeom prst="rect">
            <a:avLst/>
          </a:prstGeom>
          <a:noFill/>
        </p:spPr>
        <p:txBody>
          <a:bodyPr wrap="none" lIns="0" rIns="0" tIns="0" bIns="0">
            <a:spAutoFit/>
          </a:bodyPr>
          <a:lstStyle/>
          <a:p>
            <a:r>
              <a:rPr sz="1100" b="0">
                <a:solidFill>
                  <a:srgbClr val="2E2E2E"/>
                </a:solidFill>
                <a:latin typeface="Calibri"/>
              </a:rPr>
              <a:t>age group, the geriatric patients segment is</a:t>
            </a:r>
          </a:p>
        </p:txBody>
      </p:sp>
      <p:sp>
        <p:nvSpPr>
          <p:cNvPr id="65" name="TextBox 64"/>
          <p:cNvSpPr txBox="1"/>
          <p:nvPr/>
        </p:nvSpPr>
        <p:spPr>
          <a:xfrm>
            <a:off x="485775" y="5067637"/>
            <a:ext cx="2466652" cy="186689"/>
          </a:xfrm>
          <a:prstGeom prst="rect">
            <a:avLst/>
          </a:prstGeom>
          <a:noFill/>
        </p:spPr>
        <p:txBody>
          <a:bodyPr wrap="none" lIns="0" rIns="0" tIns="0" bIns="0">
            <a:spAutoFit/>
          </a:bodyPr>
          <a:lstStyle/>
          <a:p>
            <a:r>
              <a:rPr sz="1100" b="0">
                <a:solidFill>
                  <a:srgbClr val="2E2E2E"/>
                </a:solidFill>
                <a:latin typeface="Calibri"/>
              </a:rPr>
              <a:t>expected to dominate the market, gaining</a:t>
            </a:r>
          </a:p>
        </p:txBody>
      </p:sp>
      <p:pic>
        <p:nvPicPr>
          <p:cNvPr id="66" name="Picture 65" descr="lock.png"/>
          <p:cNvPicPr>
            <a:picLocks noChangeAspect="1"/>
          </p:cNvPicPr>
          <p:nvPr/>
        </p:nvPicPr>
        <p:blipFill>
          <a:blip r:embed="rId10"/>
          <a:stretch>
            <a:fillRect/>
          </a:stretch>
        </p:blipFill>
        <p:spPr>
          <a:xfrm>
            <a:off x="2900479" y="5057858"/>
            <a:ext cx="128699" cy="187198"/>
          </a:xfrm>
          <a:prstGeom prst="rect">
            <a:avLst/>
          </a:prstGeom>
        </p:spPr>
      </p:pic>
      <p:sp>
        <p:nvSpPr>
          <p:cNvPr id="67" name="TextBox 66"/>
          <p:cNvSpPr txBox="1"/>
          <p:nvPr/>
        </p:nvSpPr>
        <p:spPr>
          <a:xfrm>
            <a:off x="3067974" y="5067637"/>
            <a:ext cx="288751" cy="186689"/>
          </a:xfrm>
          <a:prstGeom prst="rect">
            <a:avLst/>
          </a:prstGeom>
          <a:noFill/>
        </p:spPr>
        <p:txBody>
          <a:bodyPr wrap="none" lIns="0" rIns="0" tIns="0" bIns="0">
            <a:spAutoFit/>
          </a:bodyPr>
          <a:lstStyle/>
          <a:p>
            <a:r>
              <a:rPr sz="1100" b="0">
                <a:solidFill>
                  <a:srgbClr val="2E2E2E"/>
                </a:solidFill>
                <a:latin typeface="Calibri"/>
              </a:rPr>
              <a:t>BPS</a:t>
            </a:r>
          </a:p>
        </p:txBody>
      </p:sp>
      <p:sp>
        <p:nvSpPr>
          <p:cNvPr id="68" name="TextBox 67"/>
          <p:cNvSpPr txBox="1"/>
          <p:nvPr/>
        </p:nvSpPr>
        <p:spPr>
          <a:xfrm>
            <a:off x="485775" y="5235277"/>
            <a:ext cx="1142231" cy="186689"/>
          </a:xfrm>
          <a:prstGeom prst="rect">
            <a:avLst/>
          </a:prstGeom>
          <a:noFill/>
        </p:spPr>
        <p:txBody>
          <a:bodyPr wrap="none" lIns="0" rIns="0" tIns="0" bIns="0">
            <a:spAutoFit/>
          </a:bodyPr>
          <a:lstStyle/>
          <a:p>
            <a:r>
              <a:rPr sz="1100" b="0">
                <a:solidFill>
                  <a:srgbClr val="2E2E2E"/>
                </a:solidFill>
                <a:latin typeface="Calibri"/>
              </a:rPr>
              <a:t>and accounting for</a:t>
            </a:r>
          </a:p>
        </p:txBody>
      </p:sp>
      <p:pic>
        <p:nvPicPr>
          <p:cNvPr id="69" name="Picture 68" descr="lock.png"/>
          <p:cNvPicPr>
            <a:picLocks noChangeAspect="1"/>
          </p:cNvPicPr>
          <p:nvPr/>
        </p:nvPicPr>
        <p:blipFill>
          <a:blip r:embed="rId10"/>
          <a:stretch>
            <a:fillRect/>
          </a:stretch>
        </p:blipFill>
        <p:spPr>
          <a:xfrm>
            <a:off x="1576057" y="5225498"/>
            <a:ext cx="128699" cy="187198"/>
          </a:xfrm>
          <a:prstGeom prst="rect">
            <a:avLst/>
          </a:prstGeom>
        </p:spPr>
      </p:pic>
      <p:sp>
        <p:nvSpPr>
          <p:cNvPr id="70" name="TextBox 69"/>
          <p:cNvSpPr txBox="1"/>
          <p:nvPr/>
        </p:nvSpPr>
        <p:spPr>
          <a:xfrm>
            <a:off x="1743553" y="523527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71" name="TextBox 70"/>
          <p:cNvSpPr txBox="1"/>
          <p:nvPr/>
        </p:nvSpPr>
        <p:spPr>
          <a:xfrm>
            <a:off x="485775" y="5453209"/>
            <a:ext cx="2632546" cy="186689"/>
          </a:xfrm>
          <a:prstGeom prst="rect">
            <a:avLst/>
          </a:prstGeom>
          <a:noFill/>
        </p:spPr>
        <p:txBody>
          <a:bodyPr wrap="none" lIns="0" rIns="0" tIns="0" bIns="0">
            <a:spAutoFit/>
          </a:bodyPr>
          <a:lstStyle/>
          <a:p>
            <a:r>
              <a:rPr sz="1100" b="0">
                <a:solidFill>
                  <a:srgbClr val="2E2E2E"/>
                </a:solidFill>
                <a:latin typeface="Calibri"/>
              </a:rPr>
              <a:t>▪ ¶ Geriatric patients segment is projected to</a:t>
            </a:r>
          </a:p>
        </p:txBody>
      </p:sp>
      <p:sp>
        <p:nvSpPr>
          <p:cNvPr id="72" name="TextBox 71"/>
          <p:cNvSpPr txBox="1"/>
          <p:nvPr/>
        </p:nvSpPr>
        <p:spPr>
          <a:xfrm>
            <a:off x="485775" y="5620849"/>
            <a:ext cx="512489" cy="186689"/>
          </a:xfrm>
          <a:prstGeom prst="rect">
            <a:avLst/>
          </a:prstGeom>
          <a:noFill/>
        </p:spPr>
        <p:txBody>
          <a:bodyPr wrap="none" lIns="0" rIns="0" tIns="0" bIns="0">
            <a:spAutoFit/>
          </a:bodyPr>
          <a:lstStyle/>
          <a:p>
            <a:r>
              <a:rPr sz="1100" b="0">
                <a:solidFill>
                  <a:srgbClr val="2E2E2E"/>
                </a:solidFill>
                <a:latin typeface="Calibri"/>
              </a:rPr>
              <a:t>register</a:t>
            </a:r>
          </a:p>
        </p:txBody>
      </p:sp>
      <p:pic>
        <p:nvPicPr>
          <p:cNvPr id="73" name="Picture 72" descr="lock.png"/>
          <p:cNvPicPr>
            <a:picLocks noChangeAspect="1"/>
          </p:cNvPicPr>
          <p:nvPr/>
        </p:nvPicPr>
        <p:blipFill>
          <a:blip r:embed="rId10"/>
          <a:stretch>
            <a:fillRect/>
          </a:stretch>
        </p:blipFill>
        <p:spPr>
          <a:xfrm>
            <a:off x="946316" y="5611070"/>
            <a:ext cx="128699" cy="187198"/>
          </a:xfrm>
          <a:prstGeom prst="rect">
            <a:avLst/>
          </a:prstGeom>
        </p:spPr>
      </p:pic>
      <p:sp>
        <p:nvSpPr>
          <p:cNvPr id="74" name="TextBox 73"/>
          <p:cNvSpPr txBox="1"/>
          <p:nvPr/>
        </p:nvSpPr>
        <p:spPr>
          <a:xfrm>
            <a:off x="1113812" y="5620849"/>
            <a:ext cx="2211809" cy="186689"/>
          </a:xfrm>
          <a:prstGeom prst="rect">
            <a:avLst/>
          </a:prstGeom>
          <a:noFill/>
        </p:spPr>
        <p:txBody>
          <a:bodyPr wrap="none" lIns="0" rIns="0" tIns="0" bIns="0">
            <a:spAutoFit/>
          </a:bodyPr>
          <a:lstStyle/>
          <a:p>
            <a:r>
              <a:rPr sz="1100" b="0">
                <a:solidFill>
                  <a:srgbClr val="2E2E2E"/>
                </a:solidFill>
                <a:latin typeface="Calibri"/>
              </a:rPr>
              <a:t>X higher value than adults segment in</a:t>
            </a:r>
          </a:p>
        </p:txBody>
      </p:sp>
      <p:sp>
        <p:nvSpPr>
          <p:cNvPr id="75" name="TextBox 74"/>
          <p:cNvSpPr txBox="1"/>
          <p:nvPr/>
        </p:nvSpPr>
        <p:spPr>
          <a:xfrm>
            <a:off x="485775" y="5788489"/>
            <a:ext cx="395163" cy="186689"/>
          </a:xfrm>
          <a:prstGeom prst="rect">
            <a:avLst/>
          </a:prstGeom>
          <a:noFill/>
        </p:spPr>
        <p:txBody>
          <a:bodyPr wrap="none" lIns="0" rIns="0" tIns="0" bIns="0">
            <a:spAutoFit/>
          </a:bodyPr>
          <a:lstStyle/>
          <a:p>
            <a:r>
              <a:rPr sz="1100" b="0">
                <a:solidFill>
                  <a:srgbClr val="2E2E2E"/>
                </a:solidFill>
                <a:latin typeface="Calibri"/>
              </a:rPr>
              <a:t>2036.</a:t>
            </a:r>
          </a:p>
        </p:txBody>
      </p:sp>
      <p:sp>
        <p:nvSpPr>
          <p:cNvPr id="76" name="TextBox 75"/>
          <p:cNvSpPr txBox="1"/>
          <p:nvPr/>
        </p:nvSpPr>
        <p:spPr>
          <a:xfrm>
            <a:off x="3838575" y="4229437"/>
            <a:ext cx="1216719" cy="186689"/>
          </a:xfrm>
          <a:prstGeom prst="rect">
            <a:avLst/>
          </a:prstGeom>
          <a:noFill/>
        </p:spPr>
        <p:txBody>
          <a:bodyPr wrap="none" lIns="0" rIns="0" tIns="0" bIns="0">
            <a:spAutoFit/>
          </a:bodyPr>
          <a:lstStyle/>
          <a:p>
            <a:r>
              <a:rPr sz="1100" b="0">
                <a:solidFill>
                  <a:srgbClr val="2E2E2E"/>
                </a:solidFill>
                <a:latin typeface="Calibri"/>
              </a:rPr>
              <a:t>● Geriatric Patients:</a:t>
            </a:r>
          </a:p>
        </p:txBody>
      </p:sp>
      <p:pic>
        <p:nvPicPr>
          <p:cNvPr id="77" name="Picture 76" descr="lock.png"/>
          <p:cNvPicPr>
            <a:picLocks noChangeAspect="1"/>
          </p:cNvPicPr>
          <p:nvPr/>
        </p:nvPicPr>
        <p:blipFill>
          <a:blip r:embed="rId10"/>
          <a:stretch>
            <a:fillRect/>
          </a:stretch>
        </p:blipFill>
        <p:spPr>
          <a:xfrm>
            <a:off x="5003346" y="4219658"/>
            <a:ext cx="128699" cy="187198"/>
          </a:xfrm>
          <a:prstGeom prst="rect">
            <a:avLst/>
          </a:prstGeom>
        </p:spPr>
      </p:pic>
      <p:sp>
        <p:nvSpPr>
          <p:cNvPr id="78" name="TextBox 77"/>
          <p:cNvSpPr txBox="1"/>
          <p:nvPr/>
        </p:nvSpPr>
        <p:spPr>
          <a:xfrm>
            <a:off x="5170841"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9" name="Picture 78" descr="lock.png"/>
          <p:cNvPicPr>
            <a:picLocks noChangeAspect="1"/>
          </p:cNvPicPr>
          <p:nvPr/>
        </p:nvPicPr>
        <p:blipFill>
          <a:blip r:embed="rId10"/>
          <a:stretch>
            <a:fillRect/>
          </a:stretch>
        </p:blipFill>
        <p:spPr>
          <a:xfrm>
            <a:off x="6030292" y="4219658"/>
            <a:ext cx="128699" cy="187198"/>
          </a:xfrm>
          <a:prstGeom prst="rect">
            <a:avLst/>
          </a:prstGeom>
        </p:spPr>
      </p:pic>
      <p:sp>
        <p:nvSpPr>
          <p:cNvPr id="80" name="TextBox 79"/>
          <p:cNvSpPr txBox="1"/>
          <p:nvPr/>
        </p:nvSpPr>
        <p:spPr>
          <a:xfrm>
            <a:off x="6197787"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81" name="TextBox 80"/>
          <p:cNvSpPr txBox="1"/>
          <p:nvPr/>
        </p:nvSpPr>
        <p:spPr>
          <a:xfrm>
            <a:off x="3838575" y="4447369"/>
            <a:ext cx="590798" cy="186689"/>
          </a:xfrm>
          <a:prstGeom prst="rect">
            <a:avLst/>
          </a:prstGeom>
          <a:noFill/>
        </p:spPr>
        <p:txBody>
          <a:bodyPr wrap="none" lIns="0" rIns="0" tIns="0" bIns="0">
            <a:spAutoFit/>
          </a:bodyPr>
          <a:lstStyle/>
          <a:p>
            <a:r>
              <a:rPr sz="1100" b="0">
                <a:solidFill>
                  <a:srgbClr val="2E2E2E"/>
                </a:solidFill>
                <a:latin typeface="Calibri"/>
              </a:rPr>
              <a:t>● Adults:</a:t>
            </a:r>
          </a:p>
        </p:txBody>
      </p:sp>
      <p:pic>
        <p:nvPicPr>
          <p:cNvPr id="82" name="Picture 81" descr="lock.png"/>
          <p:cNvPicPr>
            <a:picLocks noChangeAspect="1"/>
          </p:cNvPicPr>
          <p:nvPr/>
        </p:nvPicPr>
        <p:blipFill>
          <a:blip r:embed="rId10"/>
          <a:stretch>
            <a:fillRect/>
          </a:stretch>
        </p:blipFill>
        <p:spPr>
          <a:xfrm>
            <a:off x="4377424" y="4437590"/>
            <a:ext cx="128699" cy="187198"/>
          </a:xfrm>
          <a:prstGeom prst="rect">
            <a:avLst/>
          </a:prstGeom>
        </p:spPr>
      </p:pic>
      <p:sp>
        <p:nvSpPr>
          <p:cNvPr id="83" name="TextBox 82"/>
          <p:cNvSpPr txBox="1"/>
          <p:nvPr/>
        </p:nvSpPr>
        <p:spPr>
          <a:xfrm>
            <a:off x="4544920"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4" name="Picture 83" descr="lock.png"/>
          <p:cNvPicPr>
            <a:picLocks noChangeAspect="1"/>
          </p:cNvPicPr>
          <p:nvPr/>
        </p:nvPicPr>
        <p:blipFill>
          <a:blip r:embed="rId10"/>
          <a:stretch>
            <a:fillRect/>
          </a:stretch>
        </p:blipFill>
        <p:spPr>
          <a:xfrm>
            <a:off x="5404370" y="4437590"/>
            <a:ext cx="128699" cy="187198"/>
          </a:xfrm>
          <a:prstGeom prst="rect">
            <a:avLst/>
          </a:prstGeom>
        </p:spPr>
      </p:pic>
      <p:sp>
        <p:nvSpPr>
          <p:cNvPr id="85" name="TextBox 84"/>
          <p:cNvSpPr txBox="1"/>
          <p:nvPr/>
        </p:nvSpPr>
        <p:spPr>
          <a:xfrm>
            <a:off x="5571866"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Tree>
  </p:cSld>
  <p:clrMapOvr>
    <a:masterClrMapping/>
  </p:clrMapOvr>
</p:sld>
</file>

<file path=ppt/slides/slide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Patient Age Group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Patient Age Group mix within each region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Patient Age Group mix within each region (share of 2036 value) · row label = region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Patient Age Group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777865"/>
            <a:ext cx="11407725" cy="186689"/>
          </a:xfrm>
          <a:prstGeom prst="rect">
            <a:avLst/>
          </a:prstGeom>
          <a:noFill/>
        </p:spPr>
        <p:txBody>
          <a:bodyPr wrap="none" lIns="0" rIns="0" tIns="0" bIns="0">
            <a:spAutoFit/>
          </a:bodyPr>
          <a:lstStyle/>
          <a:p>
            <a:r>
              <a:rPr sz="1100" b="0">
                <a:solidFill>
                  <a:srgbClr val="2E2E2E"/>
                </a:solidFill>
                <a:latin typeface="Calibri"/>
              </a:rPr>
              <a:t>Geriatric patients followed by adults are expected to be the two most attractive patient age group segments in the global removable partial dentures market in terms of value over the forecast period.</a:t>
            </a:r>
          </a:p>
        </p:txBody>
      </p:sp>
      <p:sp>
        <p:nvSpPr>
          <p:cNvPr id="21" name="TextBox 20"/>
          <p:cNvSpPr txBox="1"/>
          <p:nvPr/>
        </p:nvSpPr>
        <p:spPr>
          <a:xfrm>
            <a:off x="257175" y="5945505"/>
            <a:ext cx="3046717" cy="186689"/>
          </a:xfrm>
          <a:prstGeom prst="rect">
            <a:avLst/>
          </a:prstGeom>
          <a:noFill/>
        </p:spPr>
        <p:txBody>
          <a:bodyPr wrap="none" lIns="0" rIns="0" tIns="0" bIns="0">
            <a:spAutoFit/>
          </a:bodyPr>
          <a:lstStyle/>
          <a:p>
            <a:r>
              <a:rPr sz="1100" b="0">
                <a:solidFill>
                  <a:srgbClr val="2E2E2E"/>
                </a:solidFill>
                <a:latin typeface="Calibri"/>
              </a:rPr>
              <a:t>Geriatric patients and adults exhibit a CAGR index of</a:t>
            </a:r>
          </a:p>
        </p:txBody>
      </p:sp>
      <p:pic>
        <p:nvPicPr>
          <p:cNvPr id="22" name="Picture 21" descr="lock.png"/>
          <p:cNvPicPr>
            <a:picLocks noChangeAspect="1"/>
          </p:cNvPicPr>
          <p:nvPr/>
        </p:nvPicPr>
        <p:blipFill>
          <a:blip r:embed="rId6"/>
          <a:stretch>
            <a:fillRect/>
          </a:stretch>
        </p:blipFill>
        <p:spPr>
          <a:xfrm>
            <a:off x="3251944" y="5935726"/>
            <a:ext cx="128699" cy="187198"/>
          </a:xfrm>
          <a:prstGeom prst="rect">
            <a:avLst/>
          </a:prstGeom>
        </p:spPr>
      </p:pic>
      <p:sp>
        <p:nvSpPr>
          <p:cNvPr id="23" name="TextBox 22"/>
          <p:cNvSpPr txBox="1"/>
          <p:nvPr/>
        </p:nvSpPr>
        <p:spPr>
          <a:xfrm>
            <a:off x="3419440" y="594550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3657334" y="5935726"/>
            <a:ext cx="128699" cy="187198"/>
          </a:xfrm>
          <a:prstGeom prst="rect">
            <a:avLst/>
          </a:prstGeom>
        </p:spPr>
      </p:pic>
      <p:sp>
        <p:nvSpPr>
          <p:cNvPr id="25" name="TextBox 24"/>
          <p:cNvSpPr txBox="1"/>
          <p:nvPr/>
        </p:nvSpPr>
        <p:spPr>
          <a:xfrm>
            <a:off x="3824830" y="594550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5433803" y="5935726"/>
            <a:ext cx="128699" cy="187198"/>
          </a:xfrm>
          <a:prstGeom prst="rect">
            <a:avLst/>
          </a:prstGeom>
        </p:spPr>
      </p:pic>
      <p:sp>
        <p:nvSpPr>
          <p:cNvPr id="27" name="TextBox 26"/>
          <p:cNvSpPr txBox="1"/>
          <p:nvPr/>
        </p:nvSpPr>
        <p:spPr>
          <a:xfrm>
            <a:off x="5601299" y="594550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5839194" y="5935726"/>
            <a:ext cx="128699" cy="187198"/>
          </a:xfrm>
          <a:prstGeom prst="rect">
            <a:avLst/>
          </a:prstGeom>
        </p:spPr>
      </p:pic>
      <p:sp>
        <p:nvSpPr>
          <p:cNvPr id="29" name="TextBox 28"/>
          <p:cNvSpPr txBox="1"/>
          <p:nvPr/>
        </p:nvSpPr>
        <p:spPr>
          <a:xfrm>
            <a:off x="6006689" y="594550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30" name="Picture 29" descr="lock.png"/>
          <p:cNvPicPr>
            <a:picLocks noChangeAspect="1"/>
          </p:cNvPicPr>
          <p:nvPr/>
        </p:nvPicPr>
        <p:blipFill>
          <a:blip r:embed="rId6"/>
          <a:stretch>
            <a:fillRect/>
          </a:stretch>
        </p:blipFill>
        <p:spPr>
          <a:xfrm>
            <a:off x="8561094" y="5935726"/>
            <a:ext cx="128699" cy="187198"/>
          </a:xfrm>
          <a:prstGeom prst="rect">
            <a:avLst/>
          </a:prstGeom>
        </p:spPr>
      </p:pic>
      <p:sp>
        <p:nvSpPr>
          <p:cNvPr id="31" name="TextBox 30"/>
          <p:cNvSpPr txBox="1"/>
          <p:nvPr/>
        </p:nvSpPr>
        <p:spPr>
          <a:xfrm>
            <a:off x="8728589" y="5945505"/>
            <a:ext cx="2528572" cy="186689"/>
          </a:xfrm>
          <a:prstGeom prst="rect">
            <a:avLst/>
          </a:prstGeom>
          <a:noFill/>
        </p:spPr>
        <p:txBody>
          <a:bodyPr wrap="none" lIns="0" rIns="0" tIns="0" bIns="0">
            <a:spAutoFit/>
          </a:bodyPr>
          <a:lstStyle/>
          <a:p>
            <a:r>
              <a:rPr sz="1100" b="0">
                <a:solidFill>
                  <a:srgbClr val="2E2E2E"/>
                </a:solidFill>
                <a:latin typeface="Calibri"/>
              </a:rPr>
              <a:t>. Bubbles right of the CAGR-Index line grow</a:t>
            </a:r>
          </a:p>
        </p:txBody>
      </p:sp>
      <p:sp>
        <p:nvSpPr>
          <p:cNvPr id="32" name="TextBox 31"/>
          <p:cNvSpPr txBox="1"/>
          <p:nvPr/>
        </p:nvSpPr>
        <p:spPr>
          <a:xfrm>
            <a:off x="257175" y="6113145"/>
            <a:ext cx="1959694" cy="186689"/>
          </a:xfrm>
          <a:prstGeom prst="rect">
            <a:avLst/>
          </a:prstGeom>
          <a:noFill/>
        </p:spPr>
        <p:txBody>
          <a:bodyPr wrap="none" lIns="0" rIns="0" tIns="0" bIns="0">
            <a:spAutoFit/>
          </a:bodyPr>
          <a:lstStyle/>
          <a:p>
            <a:r>
              <a:rPr sz="1100" b="0">
                <a:solidFill>
                  <a:srgbClr val="2E2E2E"/>
                </a:solidFill>
                <a:latin typeface="Calibri"/>
              </a:rPr>
              <a:t>faster than the segment average.</a:t>
            </a:r>
          </a:p>
        </p:txBody>
      </p:sp>
      <p:sp>
        <p:nvSpPr>
          <p:cNvPr id="33"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Patient Age Group</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Patient Age Group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Adults</a:t>
            </a:r>
          </a:p>
        </p:txBody>
      </p:sp>
      <p:graphicFrame>
        <p:nvGraphicFramePr>
          <p:cNvPr id="13" name="Chart 12"/>
          <p:cNvGraphicFramePr>
            <a:graphicFrameLocks noGrp="1"/>
          </p:cNvGraphicFramePr>
          <p:nvPr/>
        </p:nvGraphicFramePr>
        <p:xfrm>
          <a:off x="238125" y="1266825"/>
          <a:ext cx="5686425" cy="53054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Geriatric Patients</a:t>
            </a:r>
          </a:p>
        </p:txBody>
      </p:sp>
      <p:graphicFrame>
        <p:nvGraphicFramePr>
          <p:cNvPr id="16" name="Chart 15"/>
          <p:cNvGraphicFramePr>
            <a:graphicFrameLocks noGrp="1"/>
          </p:cNvGraphicFramePr>
          <p:nvPr/>
        </p:nvGraphicFramePr>
        <p:xfrm>
          <a:off x="6267450" y="1266825"/>
          <a:ext cx="5686425" cy="530542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024059" y="3583939"/>
            <a:ext cx="402511" cy="585471"/>
          </a:xfrm>
          <a:prstGeom prst="rect">
            <a:avLst/>
          </a:prstGeom>
        </p:spPr>
      </p:pic>
      <p:pic>
        <p:nvPicPr>
          <p:cNvPr id="19" name="Picture 18" descr="lock.png"/>
          <p:cNvPicPr>
            <a:picLocks noChangeAspect="1"/>
          </p:cNvPicPr>
          <p:nvPr/>
        </p:nvPicPr>
        <p:blipFill>
          <a:blip r:embed="rId6"/>
          <a:stretch>
            <a:fillRect/>
          </a:stretch>
        </p:blipFill>
        <p:spPr>
          <a:xfrm>
            <a:off x="9053384" y="3583939"/>
            <a:ext cx="402511" cy="585471"/>
          </a:xfrm>
          <a:prstGeom prst="rect">
            <a:avLst/>
          </a:prstGeom>
        </p:spPr>
      </p:pic>
      <p:sp>
        <p:nvSpPr>
          <p:cNvPr id="20" name="lockshield_13"/>
          <p:cNvSpPr/>
          <p:nvPr/>
        </p:nvSpPr>
        <p:spPr>
          <a:xfrm>
            <a:off x="238125" y="1266825"/>
            <a:ext cx="5686425" cy="53054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lockshield_16"/>
          <p:cNvSpPr/>
          <p:nvPr/>
        </p:nvSpPr>
        <p:spPr>
          <a:xfrm>
            <a:off x="6267450" y="1266825"/>
            <a:ext cx="5686425" cy="53054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Volume Analysis, By Patient Age Group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Patient Age Group,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647825"/>
          </a:xfrm>
          <a:prstGeom prst="roundRect">
            <a:avLst>
              <a:gd name="adj" fmla="val 46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Patient Age Group (Units)</a:t>
            </a:r>
          </a:p>
        </p:txBody>
      </p:sp>
      <p:graphicFrame>
        <p:nvGraphicFramePr>
          <p:cNvPr id="13" name="Table 12"/>
          <p:cNvGraphicFramePr>
            <a:graphicFrameLocks noGrp="1"/>
          </p:cNvGraphicFramePr>
          <p:nvPr/>
        </p:nvGraphicFramePr>
        <p:xfrm>
          <a:off x="152400" y="1238250"/>
          <a:ext cx="11887200" cy="1181100"/>
        </p:xfrm>
        <a:graphic>
          <a:graphicData uri="http://schemas.openxmlformats.org/drawingml/2006/table">
            <a:tbl>
              <a:tblPr>
                <a:tableStyleId>{5C22544A-7EE6-4342-B048-85BDC9FD1C3A}</a:tableStyleId>
              </a:tblPr>
              <a:tblGrid>
                <a:gridCol w="1121278"/>
                <a:gridCol w="645795"/>
                <a:gridCol w="645795"/>
                <a:gridCol w="645795"/>
                <a:gridCol w="645795"/>
                <a:gridCol w="645795"/>
                <a:gridCol w="645795"/>
                <a:gridCol w="645795"/>
                <a:gridCol w="645795"/>
                <a:gridCol w="645795"/>
                <a:gridCol w="645795"/>
                <a:gridCol w="645795"/>
                <a:gridCol w="645795"/>
                <a:gridCol w="645795"/>
                <a:gridCol w="645795"/>
                <a:gridCol w="645795"/>
                <a:gridCol w="645795"/>
                <a:gridCol w="433202"/>
              </a:tblGrid>
              <a:tr h="438912">
                <a:tc>
                  <a:txBody>
                    <a:bodyPr wrap="none"/>
                    <a:lstStyle/>
                    <a:p>
                      <a:pPr algn="l"/>
                      <a:r>
                        <a:rPr sz="1100" b="1">
                          <a:solidFill>
                            <a:srgbClr val="0B2E4A"/>
                          </a:solidFill>
                          <a:latin typeface="Calibri"/>
                        </a:rPr>
                        <a:t>Patient Age</a:t>
                      </a:r>
                      <a:endParaRPr sz="1100"/>
                    </a:p>
                    <a:p>
                      <a:pPr algn="l"/>
                      <a:r>
                        <a:rPr sz="1100" b="1">
                          <a:solidFill>
                            <a:srgbClr val="0B2E4A"/>
                          </a:solidFill>
                          <a:latin typeface="Calibri"/>
                        </a:rPr>
                        <a:t>Group</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9050"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9050" marT="19050" marB="19050" anchor="ctr">
                    <a:solidFill>
                      <a:srgbClr val="E0E8EF"/>
                    </a:solidFill>
                  </a:tcPr>
                </a:tc>
              </a:tr>
              <a:tr h="247396">
                <a:tc>
                  <a:txBody>
                    <a:bodyPr wrap="none"/>
                    <a:lstStyle/>
                    <a:p>
                      <a:pPr algn="l"/>
                      <a:r>
                        <a:rPr sz="1100" b="1">
                          <a:solidFill>
                            <a:srgbClr val="2E2E2E"/>
                          </a:solidFill>
                          <a:latin typeface="Calibri"/>
                        </a:rPr>
                        <a:t>Adults</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r>
              <a:tr h="247396">
                <a:tc>
                  <a:txBody>
                    <a:bodyPr wrap="none"/>
                    <a:lstStyle/>
                    <a:p>
                      <a:pPr algn="l"/>
                      <a:r>
                        <a:rPr sz="1100" b="1">
                          <a:solidFill>
                            <a:srgbClr val="2E2E2E"/>
                          </a:solidFill>
                          <a:latin typeface="Calibri"/>
                        </a:rPr>
                        <a:t>Geriatric Patients</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r>
              <a:tr h="247396">
                <a:tc>
                  <a:txBody>
                    <a:bodyPr wrap="none"/>
                    <a:lstStyle/>
                    <a:p>
                      <a:pPr algn="l"/>
                      <a:r>
                        <a:rPr sz="1100" b="1">
                          <a:solidFill>
                            <a:srgbClr val="2E2E2E"/>
                          </a:solidFill>
                          <a:latin typeface="Calibri"/>
                        </a:rPr>
                        <a:t>Total</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r>
            </a:tbl>
          </a:graphicData>
        </a:graphic>
      </p:graphicFrame>
      <p:sp>
        <p:nvSpPr>
          <p:cNvPr id="14" name="TextBox 13"/>
          <p:cNvSpPr txBox="1"/>
          <p:nvPr/>
        </p:nvSpPr>
        <p:spPr>
          <a:xfrm>
            <a:off x="219075" y="24288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762250"/>
            <a:ext cx="11906250" cy="3867150"/>
          </a:xfrm>
          <a:prstGeom prst="roundRect">
            <a:avLst>
              <a:gd name="adj" fmla="val 1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8479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Analysis, By Patient Age Group</a:t>
            </a:r>
          </a:p>
        </p:txBody>
      </p:sp>
      <p:sp>
        <p:nvSpPr>
          <p:cNvPr id="17" name="Rectangle 16"/>
          <p:cNvSpPr/>
          <p:nvPr/>
        </p:nvSpPr>
        <p:spPr>
          <a:xfrm>
            <a:off x="276225" y="30861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171825"/>
            <a:ext cx="11639550" cy="33813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469948" y="1781556"/>
            <a:ext cx="366712" cy="533400"/>
          </a:xfrm>
          <a:prstGeom prst="rect">
            <a:avLst/>
          </a:prstGeom>
        </p:spPr>
      </p:pic>
      <p:sp>
        <p:nvSpPr>
          <p:cNvPr id="21" name="TextBox 20"/>
          <p:cNvSpPr txBox="1"/>
          <p:nvPr/>
        </p:nvSpPr>
        <p:spPr>
          <a:xfrm>
            <a:off x="276225" y="3181350"/>
            <a:ext cx="3034568" cy="194310"/>
          </a:xfrm>
          <a:prstGeom prst="rect">
            <a:avLst/>
          </a:prstGeom>
          <a:noFill/>
        </p:spPr>
        <p:txBody>
          <a:bodyPr wrap="none" lIns="0" rIns="0" tIns="0" bIns="0">
            <a:spAutoFit/>
          </a:bodyPr>
          <a:lstStyle/>
          <a:p>
            <a:r>
              <a:rPr sz="1150" b="0">
                <a:solidFill>
                  <a:srgbClr val="2E2E2E"/>
                </a:solidFill>
                <a:latin typeface="Calibri"/>
              </a:rPr>
              <a:t>Geriatric patients segment is projected to register</a:t>
            </a:r>
          </a:p>
        </p:txBody>
      </p:sp>
      <p:pic>
        <p:nvPicPr>
          <p:cNvPr id="22" name="Picture 21" descr="lock.png"/>
          <p:cNvPicPr>
            <a:picLocks noChangeAspect="1"/>
          </p:cNvPicPr>
          <p:nvPr/>
        </p:nvPicPr>
        <p:blipFill>
          <a:blip r:embed="rId4"/>
          <a:stretch>
            <a:fillRect/>
          </a:stretch>
        </p:blipFill>
        <p:spPr>
          <a:xfrm>
            <a:off x="3259947" y="3171126"/>
            <a:ext cx="134549" cy="195707"/>
          </a:xfrm>
          <a:prstGeom prst="rect">
            <a:avLst/>
          </a:prstGeom>
        </p:spPr>
      </p:pic>
      <p:sp>
        <p:nvSpPr>
          <p:cNvPr id="23" name="TextBox 22"/>
          <p:cNvSpPr txBox="1"/>
          <p:nvPr/>
        </p:nvSpPr>
        <p:spPr>
          <a:xfrm>
            <a:off x="3435056" y="3181350"/>
            <a:ext cx="7923249" cy="194310"/>
          </a:xfrm>
          <a:prstGeom prst="rect">
            <a:avLst/>
          </a:prstGeom>
          <a:noFill/>
        </p:spPr>
        <p:txBody>
          <a:bodyPr wrap="none" lIns="0" rIns="0" tIns="0" bIns="0">
            <a:spAutoFit/>
          </a:bodyPr>
          <a:lstStyle/>
          <a:p>
            <a:r>
              <a:rPr sz="1150" b="0">
                <a:solidFill>
                  <a:srgbClr val="2E2E2E"/>
                </a:solidFill>
                <a:latin typeface="Calibri"/>
              </a:rPr>
              <a:t>X higher volume than adults segment in 2036. Among removable partial dentures by patient age group, geriatric patients segment is</a:t>
            </a:r>
          </a:p>
        </p:txBody>
      </p:sp>
      <p:sp>
        <p:nvSpPr>
          <p:cNvPr id="24" name="TextBox 23"/>
          <p:cNvSpPr txBox="1"/>
          <p:nvPr/>
        </p:nvSpPr>
        <p:spPr>
          <a:xfrm>
            <a:off x="276225" y="3356610"/>
            <a:ext cx="2486007" cy="194310"/>
          </a:xfrm>
          <a:prstGeom prst="rect">
            <a:avLst/>
          </a:prstGeom>
          <a:noFill/>
        </p:spPr>
        <p:txBody>
          <a:bodyPr wrap="none" lIns="0" rIns="0" tIns="0" bIns="0">
            <a:spAutoFit/>
          </a:bodyPr>
          <a:lstStyle/>
          <a:p>
            <a:r>
              <a:rPr sz="1150" b="0">
                <a:solidFill>
                  <a:srgbClr val="2E2E2E"/>
                </a:solidFill>
                <a:latin typeface="Calibri"/>
              </a:rPr>
              <a:t>expected to witness the highest CAGR of</a:t>
            </a:r>
          </a:p>
        </p:txBody>
      </p:sp>
      <p:pic>
        <p:nvPicPr>
          <p:cNvPr id="25" name="Picture 24" descr="lock.png"/>
          <p:cNvPicPr>
            <a:picLocks noChangeAspect="1"/>
          </p:cNvPicPr>
          <p:nvPr/>
        </p:nvPicPr>
        <p:blipFill>
          <a:blip r:embed="rId4"/>
          <a:stretch>
            <a:fillRect/>
          </a:stretch>
        </p:blipFill>
        <p:spPr>
          <a:xfrm>
            <a:off x="2711386" y="3346386"/>
            <a:ext cx="134549" cy="195707"/>
          </a:xfrm>
          <a:prstGeom prst="rect">
            <a:avLst/>
          </a:prstGeom>
        </p:spPr>
      </p:pic>
      <p:sp>
        <p:nvSpPr>
          <p:cNvPr id="26" name="TextBox 25"/>
          <p:cNvSpPr txBox="1"/>
          <p:nvPr/>
        </p:nvSpPr>
        <p:spPr>
          <a:xfrm>
            <a:off x="2886495" y="33566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584447"/>
            <a:ext cx="7339049" cy="194310"/>
          </a:xfrm>
          <a:prstGeom prst="rect">
            <a:avLst/>
          </a:prstGeom>
          <a:noFill/>
        </p:spPr>
        <p:txBody>
          <a:bodyPr wrap="none" lIns="0" rIns="0" tIns="0" bIns="0">
            <a:spAutoFit/>
          </a:bodyPr>
          <a:lstStyle/>
          <a:p>
            <a:r>
              <a:rPr sz="1150" b="0">
                <a:solidFill>
                  <a:srgbClr val="2E2E2E"/>
                </a:solidFill>
                <a:latin typeface="Calibri"/>
              </a:rPr>
              <a:t>In terms of volume share by patient age group, the geriatric patients segment is expected to dominate the market, gaining</a:t>
            </a:r>
          </a:p>
        </p:txBody>
      </p:sp>
      <p:pic>
        <p:nvPicPr>
          <p:cNvPr id="28" name="Picture 27" descr="lock.png"/>
          <p:cNvPicPr>
            <a:picLocks noChangeAspect="1"/>
          </p:cNvPicPr>
          <p:nvPr/>
        </p:nvPicPr>
        <p:blipFill>
          <a:blip r:embed="rId4"/>
          <a:stretch>
            <a:fillRect/>
          </a:stretch>
        </p:blipFill>
        <p:spPr>
          <a:xfrm>
            <a:off x="7564428" y="3574224"/>
            <a:ext cx="134549" cy="195707"/>
          </a:xfrm>
          <a:prstGeom prst="rect">
            <a:avLst/>
          </a:prstGeom>
        </p:spPr>
      </p:pic>
      <p:sp>
        <p:nvSpPr>
          <p:cNvPr id="29" name="TextBox 28"/>
          <p:cNvSpPr txBox="1"/>
          <p:nvPr/>
        </p:nvSpPr>
        <p:spPr>
          <a:xfrm>
            <a:off x="7739537" y="35844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134681" y="3574224"/>
            <a:ext cx="134549" cy="195707"/>
          </a:xfrm>
          <a:prstGeom prst="rect">
            <a:avLst/>
          </a:prstGeom>
        </p:spPr>
      </p:pic>
      <p:sp>
        <p:nvSpPr>
          <p:cNvPr id="31" name="TextBox 30"/>
          <p:cNvSpPr txBox="1"/>
          <p:nvPr/>
        </p:nvSpPr>
        <p:spPr>
          <a:xfrm>
            <a:off x="9309790" y="3584447"/>
            <a:ext cx="2266949" cy="194310"/>
          </a:xfrm>
          <a:prstGeom prst="rect">
            <a:avLst/>
          </a:prstGeom>
          <a:noFill/>
        </p:spPr>
        <p:txBody>
          <a:bodyPr wrap="none" lIns="0" rIns="0" tIns="0" bIns="0">
            <a:spAutoFit/>
          </a:bodyPr>
          <a:lstStyle/>
          <a:p>
            <a:r>
              <a:rPr sz="1150" b="0">
                <a:solidFill>
                  <a:srgbClr val="2E2E2E"/>
                </a:solidFill>
                <a:latin typeface="Calibri"/>
              </a:rPr>
              <a:t>share by 2036. The adults segment is</a:t>
            </a:r>
          </a:p>
        </p:txBody>
      </p:sp>
      <p:sp>
        <p:nvSpPr>
          <p:cNvPr id="32" name="TextBox 31"/>
          <p:cNvSpPr txBox="1"/>
          <p:nvPr/>
        </p:nvSpPr>
        <p:spPr>
          <a:xfrm>
            <a:off x="276225" y="3759707"/>
            <a:ext cx="1054906" cy="194310"/>
          </a:xfrm>
          <a:prstGeom prst="rect">
            <a:avLst/>
          </a:prstGeom>
          <a:noFill/>
        </p:spPr>
        <p:txBody>
          <a:bodyPr wrap="none" lIns="0" rIns="0" tIns="0" bIns="0">
            <a:spAutoFit/>
          </a:bodyPr>
          <a:lstStyle/>
          <a:p>
            <a:r>
              <a:rPr sz="1150" b="0">
                <a:solidFill>
                  <a:srgbClr val="2E2E2E"/>
                </a:solidFill>
                <a:latin typeface="Calibri"/>
              </a:rPr>
              <a:t>expected to lose</a:t>
            </a:r>
          </a:p>
        </p:txBody>
      </p:sp>
      <p:pic>
        <p:nvPicPr>
          <p:cNvPr id="33" name="Picture 32" descr="lock.png"/>
          <p:cNvPicPr>
            <a:picLocks noChangeAspect="1"/>
          </p:cNvPicPr>
          <p:nvPr/>
        </p:nvPicPr>
        <p:blipFill>
          <a:blip r:embed="rId4"/>
          <a:stretch>
            <a:fillRect/>
          </a:stretch>
        </p:blipFill>
        <p:spPr>
          <a:xfrm>
            <a:off x="1280285" y="3749484"/>
            <a:ext cx="134549" cy="195707"/>
          </a:xfrm>
          <a:prstGeom prst="rect">
            <a:avLst/>
          </a:prstGeom>
        </p:spPr>
      </p:pic>
      <p:sp>
        <p:nvSpPr>
          <p:cNvPr id="34" name="TextBox 33"/>
          <p:cNvSpPr txBox="1"/>
          <p:nvPr/>
        </p:nvSpPr>
        <p:spPr>
          <a:xfrm>
            <a:off x="1455394" y="3759707"/>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4042898" y="3749484"/>
            <a:ext cx="134549" cy="195707"/>
          </a:xfrm>
          <a:prstGeom prst="rect">
            <a:avLst/>
          </a:prstGeom>
        </p:spPr>
      </p:pic>
      <p:sp>
        <p:nvSpPr>
          <p:cNvPr id="36" name="TextBox 35"/>
          <p:cNvSpPr txBox="1"/>
          <p:nvPr/>
        </p:nvSpPr>
        <p:spPr>
          <a:xfrm>
            <a:off x="4218008" y="375970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Patient Age Group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Patient Age Group,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Patient Age Group (US$ Mn)</a:t>
            </a:r>
          </a:p>
        </p:txBody>
      </p:sp>
      <p:graphicFrame>
        <p:nvGraphicFramePr>
          <p:cNvPr id="13" name="Table 12"/>
          <p:cNvGraphicFramePr>
            <a:graphicFrameLocks noGrp="1"/>
          </p:cNvGraphicFramePr>
          <p:nvPr/>
        </p:nvGraphicFramePr>
        <p:xfrm>
          <a:off x="152400" y="1238250"/>
          <a:ext cx="11887195" cy="990600"/>
        </p:xfrm>
        <a:graphic>
          <a:graphicData uri="http://schemas.openxmlformats.org/drawingml/2006/table">
            <a:tbl>
              <a:tblPr>
                <a:tableStyleId>{5C22544A-7EE6-4342-B048-85BDC9FD1C3A}</a:tableStyleId>
              </a:tblPr>
              <a:tblGrid>
                <a:gridCol w="1355202"/>
                <a:gridCol w="619529"/>
                <a:gridCol w="619529"/>
                <a:gridCol w="619529"/>
                <a:gridCol w="619529"/>
                <a:gridCol w="619529"/>
                <a:gridCol w="619529"/>
                <a:gridCol w="619529"/>
                <a:gridCol w="619529"/>
                <a:gridCol w="619529"/>
                <a:gridCol w="619529"/>
                <a:gridCol w="619529"/>
                <a:gridCol w="619529"/>
                <a:gridCol w="619529"/>
                <a:gridCol w="619529"/>
                <a:gridCol w="619529"/>
                <a:gridCol w="619529"/>
                <a:gridCol w="619529"/>
              </a:tblGrid>
              <a:tr h="246126">
                <a:tc>
                  <a:txBody>
                    <a:bodyPr wrap="none"/>
                    <a:lstStyle/>
                    <a:p>
                      <a:pPr algn="l"/>
                      <a:r>
                        <a:rPr sz="1100" b="1">
                          <a:solidFill>
                            <a:srgbClr val="0B2E4A"/>
                          </a:solidFill>
                          <a:latin typeface="Calibri"/>
                        </a:rPr>
                        <a:t>Patient Age Group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Adults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Geriatric Patients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1,078</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1,125</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1,731</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4.4%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6574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Patient Age Group</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981325"/>
            <a:ext cx="1163955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86908" y="1589913"/>
            <a:ext cx="366712" cy="533400"/>
          </a:xfrm>
          <a:prstGeom prst="rect">
            <a:avLst/>
          </a:prstGeom>
        </p:spPr>
      </p:pic>
      <p:sp>
        <p:nvSpPr>
          <p:cNvPr id="21" name="TextBox 20"/>
          <p:cNvSpPr txBox="1"/>
          <p:nvPr/>
        </p:nvSpPr>
        <p:spPr>
          <a:xfrm>
            <a:off x="276225" y="2990850"/>
            <a:ext cx="3034568" cy="194310"/>
          </a:xfrm>
          <a:prstGeom prst="rect">
            <a:avLst/>
          </a:prstGeom>
          <a:noFill/>
        </p:spPr>
        <p:txBody>
          <a:bodyPr wrap="none" lIns="0" rIns="0" tIns="0" bIns="0">
            <a:spAutoFit/>
          </a:bodyPr>
          <a:lstStyle/>
          <a:p>
            <a:r>
              <a:rPr sz="1150" b="0">
                <a:solidFill>
                  <a:srgbClr val="2E2E2E"/>
                </a:solidFill>
                <a:latin typeface="Calibri"/>
              </a:rPr>
              <a:t>Geriatric patients segment is projected to register</a:t>
            </a:r>
          </a:p>
        </p:txBody>
      </p:sp>
      <p:pic>
        <p:nvPicPr>
          <p:cNvPr id="22" name="Picture 21" descr="lock.png"/>
          <p:cNvPicPr>
            <a:picLocks noChangeAspect="1"/>
          </p:cNvPicPr>
          <p:nvPr/>
        </p:nvPicPr>
        <p:blipFill>
          <a:blip r:embed="rId4"/>
          <a:stretch>
            <a:fillRect/>
          </a:stretch>
        </p:blipFill>
        <p:spPr>
          <a:xfrm>
            <a:off x="3259947" y="2980626"/>
            <a:ext cx="134549" cy="195707"/>
          </a:xfrm>
          <a:prstGeom prst="rect">
            <a:avLst/>
          </a:prstGeom>
        </p:spPr>
      </p:pic>
      <p:sp>
        <p:nvSpPr>
          <p:cNvPr id="23" name="TextBox 22"/>
          <p:cNvSpPr txBox="1"/>
          <p:nvPr/>
        </p:nvSpPr>
        <p:spPr>
          <a:xfrm>
            <a:off x="3435056" y="2990850"/>
            <a:ext cx="8378514" cy="194310"/>
          </a:xfrm>
          <a:prstGeom prst="rect">
            <a:avLst/>
          </a:prstGeom>
          <a:noFill/>
        </p:spPr>
        <p:txBody>
          <a:bodyPr wrap="none" lIns="0" rIns="0" tIns="0" bIns="0">
            <a:spAutoFit/>
          </a:bodyPr>
          <a:lstStyle/>
          <a:p>
            <a:r>
              <a:rPr sz="1150" b="0">
                <a:solidFill>
                  <a:srgbClr val="2E2E2E"/>
                </a:solidFill>
                <a:latin typeface="Calibri"/>
              </a:rPr>
              <a:t>X higher value than adults segment in 2036. Among removable partial dentures by patient age group, geriatric patients segment is expected</a:t>
            </a:r>
          </a:p>
        </p:txBody>
      </p:sp>
      <p:sp>
        <p:nvSpPr>
          <p:cNvPr id="24" name="TextBox 23"/>
          <p:cNvSpPr txBox="1"/>
          <p:nvPr/>
        </p:nvSpPr>
        <p:spPr>
          <a:xfrm>
            <a:off x="276225" y="3166110"/>
            <a:ext cx="1906941" cy="194310"/>
          </a:xfrm>
          <a:prstGeom prst="rect">
            <a:avLst/>
          </a:prstGeom>
          <a:noFill/>
        </p:spPr>
        <p:txBody>
          <a:bodyPr wrap="none" lIns="0" rIns="0" tIns="0" bIns="0">
            <a:spAutoFit/>
          </a:bodyPr>
          <a:lstStyle/>
          <a:p>
            <a:r>
              <a:rPr sz="1150" b="0">
                <a:solidFill>
                  <a:srgbClr val="2E2E2E"/>
                </a:solidFill>
                <a:latin typeface="Calibri"/>
              </a:rPr>
              <a:t>to witness the highest CAGR of</a:t>
            </a:r>
          </a:p>
        </p:txBody>
      </p:sp>
      <p:pic>
        <p:nvPicPr>
          <p:cNvPr id="25" name="Picture 24" descr="lock.png"/>
          <p:cNvPicPr>
            <a:picLocks noChangeAspect="1"/>
          </p:cNvPicPr>
          <p:nvPr/>
        </p:nvPicPr>
        <p:blipFill>
          <a:blip r:embed="rId4"/>
          <a:stretch>
            <a:fillRect/>
          </a:stretch>
        </p:blipFill>
        <p:spPr>
          <a:xfrm>
            <a:off x="2132320" y="3155886"/>
            <a:ext cx="134549" cy="195707"/>
          </a:xfrm>
          <a:prstGeom prst="rect">
            <a:avLst/>
          </a:prstGeom>
        </p:spPr>
      </p:pic>
      <p:sp>
        <p:nvSpPr>
          <p:cNvPr id="26" name="TextBox 25"/>
          <p:cNvSpPr txBox="1"/>
          <p:nvPr/>
        </p:nvSpPr>
        <p:spPr>
          <a:xfrm>
            <a:off x="2307429" y="31661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393947"/>
            <a:ext cx="7215249" cy="194310"/>
          </a:xfrm>
          <a:prstGeom prst="rect">
            <a:avLst/>
          </a:prstGeom>
          <a:noFill/>
        </p:spPr>
        <p:txBody>
          <a:bodyPr wrap="none" lIns="0" rIns="0" tIns="0" bIns="0">
            <a:spAutoFit/>
          </a:bodyPr>
          <a:lstStyle/>
          <a:p>
            <a:r>
              <a:rPr sz="1150" b="0">
                <a:solidFill>
                  <a:srgbClr val="2E2E2E"/>
                </a:solidFill>
                <a:latin typeface="Calibri"/>
              </a:rPr>
              <a:t>In terms of value share by patient age group, the geriatric patients segment is expected to dominate the market, gaining</a:t>
            </a:r>
          </a:p>
        </p:txBody>
      </p:sp>
      <p:pic>
        <p:nvPicPr>
          <p:cNvPr id="28" name="Picture 27" descr="lock.png"/>
          <p:cNvPicPr>
            <a:picLocks noChangeAspect="1"/>
          </p:cNvPicPr>
          <p:nvPr/>
        </p:nvPicPr>
        <p:blipFill>
          <a:blip r:embed="rId4"/>
          <a:stretch>
            <a:fillRect/>
          </a:stretch>
        </p:blipFill>
        <p:spPr>
          <a:xfrm>
            <a:off x="7440628" y="3383724"/>
            <a:ext cx="134549" cy="195707"/>
          </a:xfrm>
          <a:prstGeom prst="rect">
            <a:avLst/>
          </a:prstGeom>
        </p:spPr>
      </p:pic>
      <p:sp>
        <p:nvSpPr>
          <p:cNvPr id="29" name="TextBox 28"/>
          <p:cNvSpPr txBox="1"/>
          <p:nvPr/>
        </p:nvSpPr>
        <p:spPr>
          <a:xfrm>
            <a:off x="7615737" y="33939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010880" y="3383724"/>
            <a:ext cx="134549" cy="195707"/>
          </a:xfrm>
          <a:prstGeom prst="rect">
            <a:avLst/>
          </a:prstGeom>
        </p:spPr>
      </p:pic>
      <p:sp>
        <p:nvSpPr>
          <p:cNvPr id="31" name="TextBox 30"/>
          <p:cNvSpPr txBox="1"/>
          <p:nvPr/>
        </p:nvSpPr>
        <p:spPr>
          <a:xfrm>
            <a:off x="9185990" y="3393947"/>
            <a:ext cx="2266949" cy="194310"/>
          </a:xfrm>
          <a:prstGeom prst="rect">
            <a:avLst/>
          </a:prstGeom>
          <a:noFill/>
        </p:spPr>
        <p:txBody>
          <a:bodyPr wrap="none" lIns="0" rIns="0" tIns="0" bIns="0">
            <a:spAutoFit/>
          </a:bodyPr>
          <a:lstStyle/>
          <a:p>
            <a:r>
              <a:rPr sz="1150" b="0">
                <a:solidFill>
                  <a:srgbClr val="2E2E2E"/>
                </a:solidFill>
                <a:latin typeface="Calibri"/>
              </a:rPr>
              <a:t>share by 2036. The adults segment is</a:t>
            </a:r>
          </a:p>
        </p:txBody>
      </p:sp>
      <p:sp>
        <p:nvSpPr>
          <p:cNvPr id="32" name="TextBox 31"/>
          <p:cNvSpPr txBox="1"/>
          <p:nvPr/>
        </p:nvSpPr>
        <p:spPr>
          <a:xfrm>
            <a:off x="276225" y="3569207"/>
            <a:ext cx="1054906" cy="194310"/>
          </a:xfrm>
          <a:prstGeom prst="rect">
            <a:avLst/>
          </a:prstGeom>
          <a:noFill/>
        </p:spPr>
        <p:txBody>
          <a:bodyPr wrap="none" lIns="0" rIns="0" tIns="0" bIns="0">
            <a:spAutoFit/>
          </a:bodyPr>
          <a:lstStyle/>
          <a:p>
            <a:r>
              <a:rPr sz="1150" b="0">
                <a:solidFill>
                  <a:srgbClr val="2E2E2E"/>
                </a:solidFill>
                <a:latin typeface="Calibri"/>
              </a:rPr>
              <a:t>expected to lose</a:t>
            </a:r>
          </a:p>
        </p:txBody>
      </p:sp>
      <p:pic>
        <p:nvPicPr>
          <p:cNvPr id="33" name="Picture 32" descr="lock.png"/>
          <p:cNvPicPr>
            <a:picLocks noChangeAspect="1"/>
          </p:cNvPicPr>
          <p:nvPr/>
        </p:nvPicPr>
        <p:blipFill>
          <a:blip r:embed="rId4"/>
          <a:stretch>
            <a:fillRect/>
          </a:stretch>
        </p:blipFill>
        <p:spPr>
          <a:xfrm>
            <a:off x="1280285" y="3558984"/>
            <a:ext cx="134549" cy="195707"/>
          </a:xfrm>
          <a:prstGeom prst="rect">
            <a:avLst/>
          </a:prstGeom>
        </p:spPr>
      </p:pic>
      <p:sp>
        <p:nvSpPr>
          <p:cNvPr id="34" name="TextBox 33"/>
          <p:cNvSpPr txBox="1"/>
          <p:nvPr/>
        </p:nvSpPr>
        <p:spPr>
          <a:xfrm>
            <a:off x="1455394" y="3569207"/>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4042898" y="3558984"/>
            <a:ext cx="134549" cy="195707"/>
          </a:xfrm>
          <a:prstGeom prst="rect">
            <a:avLst/>
          </a:prstGeom>
        </p:spPr>
      </p:pic>
      <p:sp>
        <p:nvSpPr>
          <p:cNvPr id="36" name="TextBox 35"/>
          <p:cNvSpPr txBox="1"/>
          <p:nvPr/>
        </p:nvSpPr>
        <p:spPr>
          <a:xfrm>
            <a:off x="4218008" y="356920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Patient Age Group</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Patient Age Group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Patient Age Group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415308"/>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41054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33434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Adults</a:t>
            </a:r>
          </a:p>
        </p:txBody>
      </p:sp>
      <p:sp>
        <p:nvSpPr>
          <p:cNvPr id="19" name="BPS Value 1"/>
          <p:cNvSpPr txBox="1"/>
          <p:nvPr/>
        </p:nvSpPr>
        <p:spPr>
          <a:xfrm>
            <a:off x="6896100" y="2396258"/>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4701498"/>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469673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462053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Geriatric Patients</a:t>
            </a:r>
          </a:p>
        </p:txBody>
      </p:sp>
      <p:sp>
        <p:nvSpPr>
          <p:cNvPr id="23" name="BPS Value 2"/>
          <p:cNvSpPr txBox="1"/>
          <p:nvPr/>
        </p:nvSpPr>
        <p:spPr>
          <a:xfrm>
            <a:off x="6896100" y="4682448"/>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Rounded Rectangle 2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Patient Age Group</a:t>
            </a:r>
          </a:p>
        </p:txBody>
      </p:sp>
      <p:sp>
        <p:nvSpPr>
          <p:cNvPr id="26" name="Rectangle 2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8" name="TextBox 2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9" name="Picture 28" descr="lock.png"/>
          <p:cNvPicPr>
            <a:picLocks noChangeAspect="1"/>
          </p:cNvPicPr>
          <p:nvPr/>
        </p:nvPicPr>
        <p:blipFill>
          <a:blip r:embed="rId5"/>
          <a:stretch>
            <a:fillRect/>
          </a:stretch>
        </p:blipFill>
        <p:spPr>
          <a:xfrm>
            <a:off x="2557843" y="3833622"/>
            <a:ext cx="275034" cy="400050"/>
          </a:xfrm>
          <a:prstGeom prst="rect">
            <a:avLst/>
          </a:prstGeom>
        </p:spPr>
      </p:pic>
      <p:sp>
        <p:nvSpPr>
          <p:cNvPr id="30" name="TextBox 29"/>
          <p:cNvSpPr txBox="1"/>
          <p:nvPr/>
        </p:nvSpPr>
        <p:spPr>
          <a:xfrm>
            <a:off x="7829550" y="1400175"/>
            <a:ext cx="3978473" cy="194310"/>
          </a:xfrm>
          <a:prstGeom prst="rect">
            <a:avLst/>
          </a:prstGeom>
          <a:noFill/>
        </p:spPr>
        <p:txBody>
          <a:bodyPr wrap="none" lIns="0" rIns="0" tIns="0" bIns="0">
            <a:spAutoFit/>
          </a:bodyPr>
          <a:lstStyle/>
          <a:p>
            <a:r>
              <a:rPr sz="1150" b="0">
                <a:solidFill>
                  <a:srgbClr val="2E2E2E"/>
                </a:solidFill>
                <a:latin typeface="Calibri"/>
              </a:rPr>
              <a:t>Among removable partial dentures by patient age group, geriatric</a:t>
            </a:r>
          </a:p>
        </p:txBody>
      </p:sp>
      <p:sp>
        <p:nvSpPr>
          <p:cNvPr id="31" name="TextBox 30"/>
          <p:cNvSpPr txBox="1"/>
          <p:nvPr/>
        </p:nvSpPr>
        <p:spPr>
          <a:xfrm>
            <a:off x="7829550" y="1575435"/>
            <a:ext cx="3674660" cy="194310"/>
          </a:xfrm>
          <a:prstGeom prst="rect">
            <a:avLst/>
          </a:prstGeom>
          <a:noFill/>
        </p:spPr>
        <p:txBody>
          <a:bodyPr wrap="none" lIns="0" rIns="0" tIns="0" bIns="0">
            <a:spAutoFit/>
          </a:bodyPr>
          <a:lstStyle/>
          <a:p>
            <a:r>
              <a:rPr sz="1150" b="0">
                <a:solidFill>
                  <a:srgbClr val="2E2E2E"/>
                </a:solidFill>
                <a:latin typeface="Calibri"/>
              </a:rPr>
              <a:t>patients segment is expected to witness the highest CAGR of</a:t>
            </a:r>
          </a:p>
        </p:txBody>
      </p:sp>
      <p:pic>
        <p:nvPicPr>
          <p:cNvPr id="32" name="Picture 31" descr="lock.png"/>
          <p:cNvPicPr>
            <a:picLocks noChangeAspect="1"/>
          </p:cNvPicPr>
          <p:nvPr/>
        </p:nvPicPr>
        <p:blipFill>
          <a:blip r:embed="rId5"/>
          <a:stretch>
            <a:fillRect/>
          </a:stretch>
        </p:blipFill>
        <p:spPr>
          <a:xfrm>
            <a:off x="11453364" y="1565211"/>
            <a:ext cx="134549" cy="195707"/>
          </a:xfrm>
          <a:prstGeom prst="rect">
            <a:avLst/>
          </a:prstGeom>
        </p:spPr>
      </p:pic>
      <p:sp>
        <p:nvSpPr>
          <p:cNvPr id="33" name="TextBox 32"/>
          <p:cNvSpPr txBox="1"/>
          <p:nvPr/>
        </p:nvSpPr>
        <p:spPr>
          <a:xfrm>
            <a:off x="7829550" y="1750695"/>
            <a:ext cx="3823580" cy="194310"/>
          </a:xfrm>
          <a:prstGeom prst="rect">
            <a:avLst/>
          </a:prstGeom>
          <a:noFill/>
        </p:spPr>
        <p:txBody>
          <a:bodyPr wrap="none" lIns="0" rIns="0" tIns="0" bIns="0">
            <a:spAutoFit/>
          </a:bodyPr>
          <a:lstStyle/>
          <a:p>
            <a:r>
              <a:rPr sz="1150" b="0">
                <a:solidFill>
                  <a:srgbClr val="2E2E2E"/>
                </a:solidFill>
                <a:latin typeface="Calibri"/>
              </a:rPr>
              <a:t>over the forecast period. In terms of value share by patient age</a:t>
            </a:r>
          </a:p>
        </p:txBody>
      </p:sp>
      <p:sp>
        <p:nvSpPr>
          <p:cNvPr id="34" name="TextBox 33"/>
          <p:cNvSpPr txBox="1"/>
          <p:nvPr/>
        </p:nvSpPr>
        <p:spPr>
          <a:xfrm>
            <a:off x="7829550" y="1925955"/>
            <a:ext cx="3983608" cy="194310"/>
          </a:xfrm>
          <a:prstGeom prst="rect">
            <a:avLst/>
          </a:prstGeom>
          <a:noFill/>
        </p:spPr>
        <p:txBody>
          <a:bodyPr wrap="none" lIns="0" rIns="0" tIns="0" bIns="0">
            <a:spAutoFit/>
          </a:bodyPr>
          <a:lstStyle/>
          <a:p>
            <a:r>
              <a:rPr sz="1150" b="0">
                <a:solidFill>
                  <a:srgbClr val="2E2E2E"/>
                </a:solidFill>
                <a:latin typeface="Calibri"/>
              </a:rPr>
              <a:t>group, the geriatric patients segment is expected to dominate the</a:t>
            </a:r>
          </a:p>
        </p:txBody>
      </p:sp>
      <p:sp>
        <p:nvSpPr>
          <p:cNvPr id="35" name="TextBox 34"/>
          <p:cNvSpPr txBox="1"/>
          <p:nvPr/>
        </p:nvSpPr>
        <p:spPr>
          <a:xfrm>
            <a:off x="7829550" y="2101215"/>
            <a:ext cx="999852" cy="194310"/>
          </a:xfrm>
          <a:prstGeom prst="rect">
            <a:avLst/>
          </a:prstGeom>
          <a:noFill/>
        </p:spPr>
        <p:txBody>
          <a:bodyPr wrap="none" lIns="0" rIns="0" tIns="0" bIns="0">
            <a:spAutoFit/>
          </a:bodyPr>
          <a:lstStyle/>
          <a:p>
            <a:r>
              <a:rPr sz="1150" b="0">
                <a:solidFill>
                  <a:srgbClr val="2E2E2E"/>
                </a:solidFill>
                <a:latin typeface="Calibri"/>
              </a:rPr>
              <a:t>market, gaining</a:t>
            </a:r>
          </a:p>
        </p:txBody>
      </p:sp>
      <p:pic>
        <p:nvPicPr>
          <p:cNvPr id="36" name="Picture 35" descr="lock.png"/>
          <p:cNvPicPr>
            <a:picLocks noChangeAspect="1"/>
          </p:cNvPicPr>
          <p:nvPr/>
        </p:nvPicPr>
        <p:blipFill>
          <a:blip r:embed="rId5"/>
          <a:stretch>
            <a:fillRect/>
          </a:stretch>
        </p:blipFill>
        <p:spPr>
          <a:xfrm>
            <a:off x="8778556" y="2090991"/>
            <a:ext cx="134549" cy="195707"/>
          </a:xfrm>
          <a:prstGeom prst="rect">
            <a:avLst/>
          </a:prstGeom>
        </p:spPr>
      </p:pic>
      <p:sp>
        <p:nvSpPr>
          <p:cNvPr id="37" name="TextBox 36"/>
          <p:cNvSpPr txBox="1"/>
          <p:nvPr/>
        </p:nvSpPr>
        <p:spPr>
          <a:xfrm>
            <a:off x="8953665" y="2101215"/>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8" name="Picture 37" descr="lock.png"/>
          <p:cNvPicPr>
            <a:picLocks noChangeAspect="1"/>
          </p:cNvPicPr>
          <p:nvPr/>
        </p:nvPicPr>
        <p:blipFill>
          <a:blip r:embed="rId5"/>
          <a:stretch>
            <a:fillRect/>
          </a:stretch>
        </p:blipFill>
        <p:spPr>
          <a:xfrm>
            <a:off x="10348808" y="2090991"/>
            <a:ext cx="134549" cy="195707"/>
          </a:xfrm>
          <a:prstGeom prst="rect">
            <a:avLst/>
          </a:prstGeom>
        </p:spPr>
      </p:pic>
      <p:sp>
        <p:nvSpPr>
          <p:cNvPr id="39" name="TextBox 38"/>
          <p:cNvSpPr txBox="1"/>
          <p:nvPr/>
        </p:nvSpPr>
        <p:spPr>
          <a:xfrm>
            <a:off x="10523917" y="2101215"/>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0" name="TextBox 39"/>
          <p:cNvSpPr txBox="1"/>
          <p:nvPr/>
        </p:nvSpPr>
        <p:spPr>
          <a:xfrm>
            <a:off x="7829550" y="2329053"/>
            <a:ext cx="2375631" cy="194310"/>
          </a:xfrm>
          <a:prstGeom prst="rect">
            <a:avLst/>
          </a:prstGeom>
          <a:noFill/>
        </p:spPr>
        <p:txBody>
          <a:bodyPr wrap="none" lIns="0" rIns="0" tIns="0" bIns="0">
            <a:spAutoFit/>
          </a:bodyPr>
          <a:lstStyle/>
          <a:p>
            <a:r>
              <a:rPr sz="1150" b="0">
                <a:solidFill>
                  <a:srgbClr val="2E2E2E"/>
                </a:solidFill>
                <a:latin typeface="Calibri"/>
              </a:rPr>
              <a:t>The adults segment is expected to lose</a:t>
            </a:r>
          </a:p>
        </p:txBody>
      </p:sp>
      <p:pic>
        <p:nvPicPr>
          <p:cNvPr id="41" name="Picture 40" descr="lock.png"/>
          <p:cNvPicPr>
            <a:picLocks noChangeAspect="1"/>
          </p:cNvPicPr>
          <p:nvPr/>
        </p:nvPicPr>
        <p:blipFill>
          <a:blip r:embed="rId5"/>
          <a:stretch>
            <a:fillRect/>
          </a:stretch>
        </p:blipFill>
        <p:spPr>
          <a:xfrm>
            <a:off x="10154335" y="2318829"/>
            <a:ext cx="134549" cy="195707"/>
          </a:xfrm>
          <a:prstGeom prst="rect">
            <a:avLst/>
          </a:prstGeom>
        </p:spPr>
      </p:pic>
      <p:sp>
        <p:nvSpPr>
          <p:cNvPr id="42" name="TextBox 41"/>
          <p:cNvSpPr txBox="1"/>
          <p:nvPr/>
        </p:nvSpPr>
        <p:spPr>
          <a:xfrm>
            <a:off x="10329444" y="2329053"/>
            <a:ext cx="1346150" cy="194310"/>
          </a:xfrm>
          <a:prstGeom prst="rect">
            <a:avLst/>
          </a:prstGeom>
          <a:noFill/>
        </p:spPr>
        <p:txBody>
          <a:bodyPr wrap="none" lIns="0" rIns="0" tIns="0" bIns="0">
            <a:spAutoFit/>
          </a:bodyPr>
          <a:lstStyle/>
          <a:p>
            <a:r>
              <a:rPr sz="1150" b="0">
                <a:solidFill>
                  <a:srgbClr val="2E2E2E"/>
                </a:solidFill>
                <a:latin typeface="Calibri"/>
              </a:rPr>
              <a:t>BPS over the forecast</a:t>
            </a:r>
          </a:p>
        </p:txBody>
      </p:sp>
      <p:sp>
        <p:nvSpPr>
          <p:cNvPr id="43" name="TextBox 42"/>
          <p:cNvSpPr txBox="1"/>
          <p:nvPr/>
        </p:nvSpPr>
        <p:spPr>
          <a:xfrm>
            <a:off x="7829550" y="2504313"/>
            <a:ext cx="1335310" cy="194310"/>
          </a:xfrm>
          <a:prstGeom prst="rect">
            <a:avLst/>
          </a:prstGeom>
          <a:noFill/>
        </p:spPr>
        <p:txBody>
          <a:bodyPr wrap="none" lIns="0" rIns="0" tIns="0" bIns="0">
            <a:spAutoFit/>
          </a:bodyPr>
          <a:lstStyle/>
          <a:p>
            <a:r>
              <a:rPr sz="1150" b="0">
                <a:solidFill>
                  <a:srgbClr val="2E2E2E"/>
                </a:solidFill>
                <a:latin typeface="Calibri"/>
              </a:rPr>
              <a:t>period to account for</a:t>
            </a:r>
          </a:p>
        </p:txBody>
      </p:sp>
      <p:pic>
        <p:nvPicPr>
          <p:cNvPr id="44" name="Picture 43" descr="lock.png"/>
          <p:cNvPicPr>
            <a:picLocks noChangeAspect="1"/>
          </p:cNvPicPr>
          <p:nvPr/>
        </p:nvPicPr>
        <p:blipFill>
          <a:blip r:embed="rId5"/>
          <a:stretch>
            <a:fillRect/>
          </a:stretch>
        </p:blipFill>
        <p:spPr>
          <a:xfrm>
            <a:off x="9114014" y="2494089"/>
            <a:ext cx="134549" cy="195707"/>
          </a:xfrm>
          <a:prstGeom prst="rect">
            <a:avLst/>
          </a:prstGeom>
        </p:spPr>
      </p:pic>
      <p:sp>
        <p:nvSpPr>
          <p:cNvPr id="45" name="TextBox 44"/>
          <p:cNvSpPr txBox="1"/>
          <p:nvPr/>
        </p:nvSpPr>
        <p:spPr>
          <a:xfrm>
            <a:off x="9289123" y="250431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6"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Volume, By Patient Age Group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Patient Age Group,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Growth, By Patient Age Group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742948"/>
        </p:xfrm>
        <a:graphic>
          <a:graphicData uri="http://schemas.openxmlformats.org/drawingml/2006/table">
            <a:tbl>
              <a:tblPr>
                <a:tableStyleId>{5C22544A-7EE6-4342-B048-85BDC9FD1C3A}</a:tableStyleId>
              </a:tblPr>
              <a:tblGrid>
                <a:gridCol w="1485619"/>
                <a:gridCol w="693439"/>
                <a:gridCol w="693439"/>
                <a:gridCol w="693439"/>
                <a:gridCol w="693439"/>
                <a:gridCol w="693439"/>
                <a:gridCol w="693439"/>
                <a:gridCol w="693439"/>
                <a:gridCol w="693439"/>
                <a:gridCol w="693439"/>
                <a:gridCol w="693439"/>
                <a:gridCol w="693439"/>
                <a:gridCol w="693439"/>
                <a:gridCol w="693439"/>
                <a:gridCol w="693439"/>
                <a:gridCol w="693439"/>
              </a:tblGrid>
              <a:tr h="246126">
                <a:tc>
                  <a:txBody>
                    <a:bodyPr wrap="none"/>
                    <a:lstStyle/>
                    <a:p>
                      <a:pPr algn="l"/>
                      <a:r>
                        <a:rPr sz="1100" b="1">
                          <a:solidFill>
                            <a:srgbClr val="0B2E4A"/>
                          </a:solidFill>
                          <a:latin typeface="Calibri"/>
                        </a:rPr>
                        <a:t>Patient Age Group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Adults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Geriatric Patients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YoY Heatmap, By Patient Age Group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Adults</a:t>
            </a:r>
          </a:p>
        </p:txBody>
      </p:sp>
      <p:sp>
        <p:nvSpPr>
          <p:cNvPr id="33" name="Rectangle 32"/>
          <p:cNvSpPr/>
          <p:nvPr/>
        </p:nvSpPr>
        <p:spPr>
          <a:xfrm>
            <a:off x="185737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78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3086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34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Geriatric Patients</a:t>
            </a:r>
          </a:p>
        </p:txBody>
      </p:sp>
      <p:sp>
        <p:nvSpPr>
          <p:cNvPr id="49" name="Rectangle 48"/>
          <p:cNvSpPr/>
          <p:nvPr/>
        </p:nvSpPr>
        <p:spPr>
          <a:xfrm>
            <a:off x="1857375" y="4662488"/>
            <a:ext cx="643890" cy="1909762"/>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0C46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670790" y="1482090"/>
            <a:ext cx="330041" cy="480060"/>
          </a:xfrm>
          <a:prstGeom prst="rect">
            <a:avLst/>
          </a:prstGeom>
        </p:spPr>
      </p:pic>
    </p:spTree>
  </p:cSld>
  <p:clrMapOvr>
    <a:masterClrMapping/>
  </p:clrMapOvr>
</p:sld>
</file>

<file path=ppt/slides/slide1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Global Market Value, By Patient Age Group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Patient Age Group,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Growth, By Patient Age Group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742948"/>
        </p:xfrm>
        <a:graphic>
          <a:graphicData uri="http://schemas.openxmlformats.org/drawingml/2006/table">
            <a:tbl>
              <a:tblPr>
                <a:tableStyleId>{5C22544A-7EE6-4342-B048-85BDC9FD1C3A}</a:tableStyleId>
              </a:tblPr>
              <a:tblGrid>
                <a:gridCol w="1485619"/>
                <a:gridCol w="693439"/>
                <a:gridCol w="693439"/>
                <a:gridCol w="693439"/>
                <a:gridCol w="693439"/>
                <a:gridCol w="693439"/>
                <a:gridCol w="693439"/>
                <a:gridCol w="693439"/>
                <a:gridCol w="693439"/>
                <a:gridCol w="693439"/>
                <a:gridCol w="693439"/>
                <a:gridCol w="693439"/>
                <a:gridCol w="693439"/>
                <a:gridCol w="693439"/>
                <a:gridCol w="693439"/>
                <a:gridCol w="693439"/>
              </a:tblGrid>
              <a:tr h="246126">
                <a:tc>
                  <a:txBody>
                    <a:bodyPr wrap="none"/>
                    <a:lstStyle/>
                    <a:p>
                      <a:pPr algn="l"/>
                      <a:r>
                        <a:rPr sz="1100" b="1">
                          <a:solidFill>
                            <a:srgbClr val="0B2E4A"/>
                          </a:solidFill>
                          <a:latin typeface="Calibri"/>
                        </a:rPr>
                        <a:t>Patient Age Group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Adults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Geriatric Patients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YoY Heatmap, By Patient Age Group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Adults</a:t>
            </a:r>
          </a:p>
        </p:txBody>
      </p:sp>
      <p:sp>
        <p:nvSpPr>
          <p:cNvPr id="33" name="Rectangle 32"/>
          <p:cNvSpPr/>
          <p:nvPr/>
        </p:nvSpPr>
        <p:spPr>
          <a:xfrm>
            <a:off x="185737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41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Geriatric Patients</a:t>
            </a:r>
          </a:p>
        </p:txBody>
      </p:sp>
      <p:sp>
        <p:nvSpPr>
          <p:cNvPr id="49" name="Rectangle 48"/>
          <p:cNvSpPr/>
          <p:nvPr/>
        </p:nvSpPr>
        <p:spPr>
          <a:xfrm>
            <a:off x="1857375" y="4662488"/>
            <a:ext cx="643890" cy="1909762"/>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0C42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0C40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0C3F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0C3D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0B34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670790" y="1482090"/>
            <a:ext cx="330041" cy="480060"/>
          </a:xfrm>
          <a:prstGeom prst="rect">
            <a:avLst/>
          </a:prstGeom>
        </p:spPr>
      </p:pic>
    </p:spTree>
  </p:cSld>
  <p:clrMapOvr>
    <a:masterClrMapping/>
  </p:clrMapOvr>
</p:sld>
</file>

<file path=ppt/slides/slide10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8</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94957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292475"/>
            <a:ext cx="8572500" cy="514350"/>
          </a:xfrm>
          <a:prstGeom prst="rect">
            <a:avLst/>
          </a:prstGeom>
          <a:noFill/>
        </p:spPr>
        <p:txBody>
          <a:bodyPr wrap="square" lIns="0" rIns="0" tIns="0">
            <a:spAutoFit/>
          </a:bodyPr>
          <a:lstStyle/>
          <a:p>
            <a:r>
              <a:rPr sz="3000" b="1">
                <a:solidFill>
                  <a:srgbClr val="0B3C8C"/>
                </a:solidFill>
                <a:latin typeface="Calibri"/>
              </a:rPr>
              <a:t>Cross-sectional Assessment</a:t>
            </a:r>
          </a:p>
        </p:txBody>
      </p:sp>
      <p:sp>
        <p:nvSpPr>
          <p:cNvPr id="11" name="TextBox 10"/>
          <p:cNvSpPr txBox="1"/>
          <p:nvPr/>
        </p:nvSpPr>
        <p:spPr>
          <a:xfrm>
            <a:off x="914400" y="3978275"/>
            <a:ext cx="8458200" cy="8826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Type x Material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Type x Technology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8.1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Product Type × Material Type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Snapshot: Product Type × Material Type, 2026E vs 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Global market value (US$ Mn) for each product type sub-segment across material type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390775"/>
          </a:xfrm>
          <a:prstGeom prst="roundRect">
            <a:avLst>
              <a:gd name="adj" fmla="val 31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Value, Product Type × Material Type, 2026E and 2036F (US$ Mn)</a:t>
            </a:r>
          </a:p>
        </p:txBody>
      </p:sp>
      <p:graphicFrame>
        <p:nvGraphicFramePr>
          <p:cNvPr id="13" name="Table 12"/>
          <p:cNvGraphicFramePr>
            <a:graphicFrameLocks noGrp="1"/>
          </p:cNvGraphicFramePr>
          <p:nvPr/>
        </p:nvGraphicFramePr>
        <p:xfrm>
          <a:off x="152400" y="1238250"/>
          <a:ext cx="11887198" cy="1924050"/>
        </p:xfrm>
        <a:graphic>
          <a:graphicData uri="http://schemas.openxmlformats.org/drawingml/2006/table">
            <a:tbl>
              <a:tblPr>
                <a:tableStyleId>{5C22544A-7EE6-4342-B048-85BDC9FD1C3A}</a:tableStyleId>
              </a:tblPr>
              <a:tblGrid>
                <a:gridCol w="4236748"/>
                <a:gridCol w="765045"/>
                <a:gridCol w="765045"/>
                <a:gridCol w="765045"/>
                <a:gridCol w="765045"/>
                <a:gridCol w="765045"/>
                <a:gridCol w="765045"/>
                <a:gridCol w="765045"/>
                <a:gridCol w="765045"/>
                <a:gridCol w="765045"/>
                <a:gridCol w="765045"/>
              </a:tblGrid>
              <a:tr h="438912">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Metal Alloys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Acrylic / Resin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Flexible Thermoplastics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High-performance</a:t>
                      </a:r>
                      <a:endParaRPr sz="1100"/>
                    </a:p>
                    <a:p>
                      <a:pPr algn="ctr"/>
                      <a:r>
                        <a:rPr sz="1100" b="1">
                          <a:solidFill>
                            <a:srgbClr val="0B2E4A"/>
                          </a:solidFill>
                          <a:latin typeface="Calibri"/>
                        </a:rPr>
                        <a:t>Polymers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7523">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7523">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23">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23">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23">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23">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1,125</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1,731</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71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05200"/>
            <a:ext cx="11906250" cy="3124200"/>
          </a:xfrm>
          <a:prstGeom prst="roundRect">
            <a:avLst>
              <a:gd name="adj" fmla="val 24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590925"/>
            <a:ext cx="116395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17" name="Rectangle 16"/>
          <p:cNvSpPr/>
          <p:nvPr/>
        </p:nvSpPr>
        <p:spPr>
          <a:xfrm>
            <a:off x="276225" y="38290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14775"/>
            <a:ext cx="11639550" cy="26384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8027682" y="2276792"/>
            <a:ext cx="366712" cy="533400"/>
          </a:xfrm>
          <a:prstGeom prst="rect">
            <a:avLst/>
          </a:prstGeom>
        </p:spPr>
      </p:pic>
      <p:sp>
        <p:nvSpPr>
          <p:cNvPr id="21" name="TextBox 20"/>
          <p:cNvSpPr txBox="1"/>
          <p:nvPr/>
        </p:nvSpPr>
        <p:spPr>
          <a:xfrm>
            <a:off x="276225" y="3924300"/>
            <a:ext cx="10055807" cy="194310"/>
          </a:xfrm>
          <a:prstGeom prst="rect">
            <a:avLst/>
          </a:prstGeom>
          <a:noFill/>
        </p:spPr>
        <p:txBody>
          <a:bodyPr wrap="none" lIns="0" rIns="0" tIns="0" bIns="0">
            <a:spAutoFit/>
          </a:bodyPr>
          <a:lstStyle/>
          <a:p>
            <a:r>
              <a:rPr sz="1150" b="0">
                <a:solidFill>
                  <a:srgbClr val="2E2E2E"/>
                </a:solidFill>
                <a:latin typeface="Calibri"/>
              </a:rPr>
              <a:t>Acrylic partial dentures segment is projected to account for the largest share of the global removable partial dentures market, led by high-performance polymers at US$</a:t>
            </a:r>
          </a:p>
        </p:txBody>
      </p:sp>
      <p:pic>
        <p:nvPicPr>
          <p:cNvPr id="22" name="Picture 21" descr="lock.png"/>
          <p:cNvPicPr>
            <a:picLocks noChangeAspect="1"/>
          </p:cNvPicPr>
          <p:nvPr/>
        </p:nvPicPr>
        <p:blipFill>
          <a:blip r:embed="rId4"/>
          <a:stretch>
            <a:fillRect/>
          </a:stretch>
        </p:blipFill>
        <p:spPr>
          <a:xfrm>
            <a:off x="10281186" y="3914076"/>
            <a:ext cx="134549" cy="195707"/>
          </a:xfrm>
          <a:prstGeom prst="rect">
            <a:avLst/>
          </a:prstGeom>
        </p:spPr>
      </p:pic>
      <p:sp>
        <p:nvSpPr>
          <p:cNvPr id="23" name="TextBox 22"/>
          <p:cNvSpPr txBox="1"/>
          <p:nvPr/>
        </p:nvSpPr>
        <p:spPr>
          <a:xfrm>
            <a:off x="10456296" y="3924300"/>
            <a:ext cx="1246026" cy="194310"/>
          </a:xfrm>
          <a:prstGeom prst="rect">
            <a:avLst/>
          </a:prstGeom>
          <a:noFill/>
        </p:spPr>
        <p:txBody>
          <a:bodyPr wrap="none" lIns="0" rIns="0" tIns="0" bIns="0">
            <a:spAutoFit/>
          </a:bodyPr>
          <a:lstStyle/>
          <a:p>
            <a:r>
              <a:rPr sz="1150" b="0">
                <a:solidFill>
                  <a:srgbClr val="2E2E2E"/>
                </a:solidFill>
                <a:latin typeface="Calibri"/>
              </a:rPr>
              <a:t>Mn in 2036. 'Acrylic</a:t>
            </a:r>
          </a:p>
        </p:txBody>
      </p:sp>
      <p:sp>
        <p:nvSpPr>
          <p:cNvPr id="24" name="TextBox 23"/>
          <p:cNvSpPr txBox="1"/>
          <p:nvPr/>
        </p:nvSpPr>
        <p:spPr>
          <a:xfrm>
            <a:off x="276225" y="4099560"/>
            <a:ext cx="4436591" cy="194310"/>
          </a:xfrm>
          <a:prstGeom prst="rect">
            <a:avLst/>
          </a:prstGeom>
          <a:noFill/>
        </p:spPr>
        <p:txBody>
          <a:bodyPr wrap="none" lIns="0" rIns="0" tIns="0" bIns="0">
            <a:spAutoFit/>
          </a:bodyPr>
          <a:lstStyle/>
          <a:p>
            <a:r>
              <a:rPr sz="1150" b="0">
                <a:solidFill>
                  <a:srgbClr val="2E2E2E"/>
                </a:solidFill>
                <a:latin typeface="Calibri"/>
              </a:rPr>
              <a:t>Partial Dentures × Acrylic / Resin' is the single largest cross-sectional cell (</a:t>
            </a:r>
          </a:p>
        </p:txBody>
      </p:sp>
      <p:pic>
        <p:nvPicPr>
          <p:cNvPr id="25" name="Picture 24" descr="lock.png"/>
          <p:cNvPicPr>
            <a:picLocks noChangeAspect="1"/>
          </p:cNvPicPr>
          <p:nvPr/>
        </p:nvPicPr>
        <p:blipFill>
          <a:blip r:embed="rId4"/>
          <a:stretch>
            <a:fillRect/>
          </a:stretch>
        </p:blipFill>
        <p:spPr>
          <a:xfrm>
            <a:off x="4661970" y="4089336"/>
            <a:ext cx="134549" cy="195707"/>
          </a:xfrm>
          <a:prstGeom prst="rect">
            <a:avLst/>
          </a:prstGeom>
        </p:spPr>
      </p:pic>
      <p:sp>
        <p:nvSpPr>
          <p:cNvPr id="26" name="TextBox 25"/>
          <p:cNvSpPr txBox="1"/>
          <p:nvPr/>
        </p:nvSpPr>
        <p:spPr>
          <a:xfrm>
            <a:off x="4837079" y="4099560"/>
            <a:ext cx="6815305" cy="194310"/>
          </a:xfrm>
          <a:prstGeom prst="rect">
            <a:avLst/>
          </a:prstGeom>
          <a:noFill/>
        </p:spPr>
        <p:txBody>
          <a:bodyPr wrap="none" lIns="0" rIns="0" tIns="0" bIns="0">
            <a:spAutoFit/>
          </a:bodyPr>
          <a:lstStyle/>
          <a:p>
            <a:r>
              <a:rPr sz="1150" b="0">
                <a:solidFill>
                  <a:srgbClr val="2E2E2E"/>
                </a:solidFill>
                <a:latin typeface="Calibri"/>
              </a:rPr>
              <a:t>US$ Mn, 2026E), while 'Acrylic Partial Dentures × Flexible Thermoplastics' records the fastest growth at a CAGR of</a:t>
            </a:r>
          </a:p>
        </p:txBody>
      </p:sp>
      <p:pic>
        <p:nvPicPr>
          <p:cNvPr id="27" name="Picture 26" descr="lock.png"/>
          <p:cNvPicPr>
            <a:picLocks noChangeAspect="1"/>
          </p:cNvPicPr>
          <p:nvPr/>
        </p:nvPicPr>
        <p:blipFill>
          <a:blip r:embed="rId4"/>
          <a:stretch>
            <a:fillRect/>
          </a:stretch>
        </p:blipFill>
        <p:spPr>
          <a:xfrm>
            <a:off x="262145" y="4264596"/>
            <a:ext cx="134549" cy="195707"/>
          </a:xfrm>
          <a:prstGeom prst="rect">
            <a:avLst/>
          </a:prstGeom>
        </p:spPr>
      </p:pic>
      <p:sp>
        <p:nvSpPr>
          <p:cNvPr id="28" name="TextBox 27"/>
          <p:cNvSpPr txBox="1"/>
          <p:nvPr/>
        </p:nvSpPr>
        <p:spPr>
          <a:xfrm>
            <a:off x="437254" y="4274820"/>
            <a:ext cx="1217001" cy="194310"/>
          </a:xfrm>
          <a:prstGeom prst="rect">
            <a:avLst/>
          </a:prstGeom>
          <a:noFill/>
        </p:spPr>
        <p:txBody>
          <a:bodyPr wrap="none" lIns="0" rIns="0" tIns="0" bIns="0">
            <a:spAutoFit/>
          </a:bodyPr>
          <a:lstStyle/>
          <a:p>
            <a:r>
              <a:rPr sz="1150" b="0">
                <a:solidFill>
                  <a:srgbClr val="2E2E2E"/>
                </a:solidFill>
                <a:latin typeface="Calibri"/>
              </a:rPr>
              <a:t>over 2026E–2036F.</a:t>
            </a:r>
          </a:p>
        </p:txBody>
      </p:sp>
      <p:sp>
        <p:nvSpPr>
          <p:cNvPr id="29" name="TextBox 28"/>
          <p:cNvSpPr txBox="1"/>
          <p:nvPr/>
        </p:nvSpPr>
        <p:spPr>
          <a:xfrm>
            <a:off x="276225" y="4502657"/>
            <a:ext cx="5866854" cy="194310"/>
          </a:xfrm>
          <a:prstGeom prst="rect">
            <a:avLst/>
          </a:prstGeom>
          <a:noFill/>
        </p:spPr>
        <p:txBody>
          <a:bodyPr wrap="none" lIns="0" rIns="0" tIns="0" bIns="0">
            <a:spAutoFit/>
          </a:bodyPr>
          <a:lstStyle/>
          <a:p>
            <a:r>
              <a:rPr sz="1150" b="0">
                <a:solidFill>
                  <a:srgbClr val="2E2E2E"/>
                </a:solidFill>
                <a:latin typeface="Calibri"/>
              </a:rPr>
              <a:t>Combined, the top three product type × material type cells generate an absolute $ opportunity of</a:t>
            </a:r>
          </a:p>
        </p:txBody>
      </p:sp>
      <p:pic>
        <p:nvPicPr>
          <p:cNvPr id="30" name="Picture 29" descr="lock.png"/>
          <p:cNvPicPr>
            <a:picLocks noChangeAspect="1"/>
          </p:cNvPicPr>
          <p:nvPr/>
        </p:nvPicPr>
        <p:blipFill>
          <a:blip r:embed="rId4"/>
          <a:stretch>
            <a:fillRect/>
          </a:stretch>
        </p:blipFill>
        <p:spPr>
          <a:xfrm>
            <a:off x="6092233" y="4492434"/>
            <a:ext cx="134549" cy="195707"/>
          </a:xfrm>
          <a:prstGeom prst="rect">
            <a:avLst/>
          </a:prstGeom>
        </p:spPr>
      </p:pic>
      <p:sp>
        <p:nvSpPr>
          <p:cNvPr id="31" name="TextBox 30"/>
          <p:cNvSpPr txBox="1"/>
          <p:nvPr/>
        </p:nvSpPr>
        <p:spPr>
          <a:xfrm>
            <a:off x="6267342" y="4502657"/>
            <a:ext cx="1155386" cy="194310"/>
          </a:xfrm>
          <a:prstGeom prst="rect">
            <a:avLst/>
          </a:prstGeom>
          <a:noFill/>
        </p:spPr>
        <p:txBody>
          <a:bodyPr wrap="none" lIns="0" rIns="0" tIns="0" bIns="0">
            <a:spAutoFit/>
          </a:bodyPr>
          <a:lstStyle/>
          <a:p>
            <a:r>
              <a:rPr sz="1150" b="0">
                <a:solidFill>
                  <a:srgbClr val="2E2E2E"/>
                </a:solidFill>
                <a:latin typeface="Calibri"/>
              </a:rPr>
              <a:t>US$ Mn by 2036F.</a:t>
            </a:r>
          </a:p>
        </p:txBody>
      </p:sp>
    </p:spTree>
  </p:cSld>
  <p:clrMapOvr>
    <a:masterClrMapping/>
  </p:clrMapOvr>
</p:sld>
</file>

<file path=ppt/slides/slide1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Share Analysis: Product Type × Material Type, 2026E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global market value, each row split across all material type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581275"/>
          </a:xfrm>
          <a:prstGeom prst="roundRect">
            <a:avLst>
              <a:gd name="adj" fmla="val 29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Share, Product Type × Material Type, 2026E (% of each row)</a:t>
            </a:r>
          </a:p>
        </p:txBody>
      </p:sp>
      <p:graphicFrame>
        <p:nvGraphicFramePr>
          <p:cNvPr id="13" name="Table 12"/>
          <p:cNvGraphicFramePr>
            <a:graphicFrameLocks noGrp="1"/>
          </p:cNvGraphicFramePr>
          <p:nvPr/>
        </p:nvGraphicFramePr>
        <p:xfrm>
          <a:off x="152400" y="1238250"/>
          <a:ext cx="11887201" cy="2114550"/>
        </p:xfrm>
        <a:graphic>
          <a:graphicData uri="http://schemas.openxmlformats.org/drawingml/2006/table">
            <a:tbl>
              <a:tblPr>
                <a:tableStyleId>{5C22544A-7EE6-4342-B048-85BDC9FD1C3A}</a:tableStyleId>
              </a:tblPr>
              <a:tblGrid>
                <a:gridCol w="2604064"/>
                <a:gridCol w="1147040"/>
                <a:gridCol w="835084"/>
                <a:gridCol w="524185"/>
                <a:gridCol w="1119518"/>
                <a:gridCol w="975718"/>
                <a:gridCol w="1359322"/>
                <a:gridCol w="1039532"/>
                <a:gridCol w="1738932"/>
                <a:gridCol w="543806"/>
              </a:tblGrid>
              <a:tr h="246126">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Metal Alloys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Acrylic / Resin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Flexible Thermoplastics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High-performance Polymers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632714">
                <a:tc vMerge="1">
                  <a:txBody>
                    <a:bodyPr wrap="none"/>
                    <a:lstStyle/>
                    <a:p>
                      <a:pPr algn="l"/>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Cobalt-Chromium Alloys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Titanium Alloys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PMMA</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Printable Denture Resins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Polyamide / Nylon</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Other Thermoplastic Resins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PEEK-based Materials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Other High-performance Dental Polymers</a:t>
                      </a:r>
                      <a:endParaRPr sz="1100"/>
                    </a:p>
                  </a:txBody>
                  <a:tcPr marL="47625" marR="38100" marT="19050" marB="19050" anchor="ctr">
                    <a:solidFill>
                      <a:srgbClr val="E0E8EF"/>
                    </a:solidFill>
                  </a:tcPr>
                </a:tc>
                <a:tc>
                  <a:txBody>
                    <a:bodyPr wrap="none"/>
                    <a:lstStyle/>
                    <a:p>
                      <a:pPr algn="ctr"/>
                      <a:endParaRPr sz="1100"/>
                    </a:p>
                  </a:txBody>
                  <a:tcPr marL="47625" marR="38100" marT="19050" marB="19050" anchor="ctr">
                    <a:solidFill>
                      <a:srgbClr val="E0E8EF"/>
                    </a:solidFill>
                  </a:tcPr>
                </a:tc>
              </a:tr>
              <a:tr h="247142">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142">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142">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142">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142">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3623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695700"/>
            <a:ext cx="7286625"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752850"/>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Material Type Mix by Product Type, 2026E (% share)</a:t>
            </a:r>
          </a:p>
        </p:txBody>
      </p:sp>
      <p:graphicFrame>
        <p:nvGraphicFramePr>
          <p:cNvPr id="17" name="Chart 16"/>
          <p:cNvGraphicFramePr>
            <a:graphicFrameLocks noGrp="1"/>
          </p:cNvGraphicFramePr>
          <p:nvPr/>
        </p:nvGraphicFramePr>
        <p:xfrm>
          <a:off x="238125" y="3981450"/>
          <a:ext cx="7096125" cy="2590800"/>
        </p:xfrm>
        <a:graphic>
          <a:graphicData uri="http://schemas.openxmlformats.org/drawingml/2006/chart">
            <c:chart xmlns:c="http://schemas.openxmlformats.org/drawingml/2006/chart" r:id="rId3"/>
          </a:graphicData>
        </a:graphic>
      </p:graphicFrame>
      <p:sp>
        <p:nvSpPr>
          <p:cNvPr id="18" name="Rounded Rectangle 17"/>
          <p:cNvSpPr/>
          <p:nvPr/>
        </p:nvSpPr>
        <p:spPr>
          <a:xfrm>
            <a:off x="7581900" y="3695700"/>
            <a:ext cx="445770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7715250" y="3781425"/>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20" name="Rectangle 19"/>
          <p:cNvSpPr/>
          <p:nvPr/>
        </p:nvSpPr>
        <p:spPr>
          <a:xfrm>
            <a:off x="7715250" y="4019550"/>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7715250" y="4105275"/>
            <a:ext cx="4191000" cy="24479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5"/>
          <a:stretch>
            <a:fillRect/>
          </a:stretch>
        </p:blipFill>
        <p:spPr>
          <a:xfrm>
            <a:off x="7211342" y="2468245"/>
            <a:ext cx="366712" cy="533400"/>
          </a:xfrm>
          <a:prstGeom prst="rect">
            <a:avLst/>
          </a:prstGeom>
        </p:spPr>
      </p:pic>
      <p:pic>
        <p:nvPicPr>
          <p:cNvPr id="24" name="Picture 23" descr="lock.png"/>
          <p:cNvPicPr>
            <a:picLocks noChangeAspect="1"/>
          </p:cNvPicPr>
          <p:nvPr/>
        </p:nvPicPr>
        <p:blipFill>
          <a:blip r:embed="rId5"/>
          <a:stretch>
            <a:fillRect/>
          </a:stretch>
        </p:blipFill>
        <p:spPr>
          <a:xfrm>
            <a:off x="3755735" y="4509229"/>
            <a:ext cx="349819" cy="508827"/>
          </a:xfrm>
          <a:prstGeom prst="rect">
            <a:avLst/>
          </a:prstGeom>
        </p:spPr>
      </p:pic>
      <p:sp>
        <p:nvSpPr>
          <p:cNvPr id="25" name="TextBox 24"/>
          <p:cNvSpPr txBox="1"/>
          <p:nvPr/>
        </p:nvSpPr>
        <p:spPr>
          <a:xfrm>
            <a:off x="7715250" y="4114800"/>
            <a:ext cx="4139071" cy="194310"/>
          </a:xfrm>
          <a:prstGeom prst="rect">
            <a:avLst/>
          </a:prstGeom>
          <a:noFill/>
        </p:spPr>
        <p:txBody>
          <a:bodyPr wrap="none" lIns="0" rIns="0" tIns="0" bIns="0">
            <a:spAutoFit/>
          </a:bodyPr>
          <a:lstStyle/>
          <a:p>
            <a:r>
              <a:rPr sz="1150" b="0">
                <a:solidFill>
                  <a:srgbClr val="2E2E2E"/>
                </a:solidFill>
                <a:latin typeface="Calibri"/>
              </a:rPr>
              <a:t>▪ 'Printable Denture Resins' holds the highest share of 'Acrylic Partial</a:t>
            </a:r>
          </a:p>
        </p:txBody>
      </p:sp>
      <p:sp>
        <p:nvSpPr>
          <p:cNvPr id="26" name="TextBox 25"/>
          <p:cNvSpPr txBox="1"/>
          <p:nvPr/>
        </p:nvSpPr>
        <p:spPr>
          <a:xfrm>
            <a:off x="7715250" y="4290060"/>
            <a:ext cx="806449" cy="194310"/>
          </a:xfrm>
          <a:prstGeom prst="rect">
            <a:avLst/>
          </a:prstGeom>
          <a:noFill/>
        </p:spPr>
        <p:txBody>
          <a:bodyPr wrap="none" lIns="0" rIns="0" tIns="0" bIns="0">
            <a:spAutoFit/>
          </a:bodyPr>
          <a:lstStyle/>
          <a:p>
            <a:r>
              <a:rPr sz="1150" b="0">
                <a:solidFill>
                  <a:srgbClr val="2E2E2E"/>
                </a:solidFill>
                <a:latin typeface="Calibri"/>
              </a:rPr>
              <a:t>Dentures' at</a:t>
            </a:r>
          </a:p>
        </p:txBody>
      </p:sp>
      <p:pic>
        <p:nvPicPr>
          <p:cNvPr id="27" name="Picture 26" descr="lock.png"/>
          <p:cNvPicPr>
            <a:picLocks noChangeAspect="1"/>
          </p:cNvPicPr>
          <p:nvPr/>
        </p:nvPicPr>
        <p:blipFill>
          <a:blip r:embed="rId5"/>
          <a:stretch>
            <a:fillRect/>
          </a:stretch>
        </p:blipFill>
        <p:spPr>
          <a:xfrm>
            <a:off x="8470853" y="4279836"/>
            <a:ext cx="134549" cy="195707"/>
          </a:xfrm>
          <a:prstGeom prst="rect">
            <a:avLst/>
          </a:prstGeom>
        </p:spPr>
      </p:pic>
      <p:sp>
        <p:nvSpPr>
          <p:cNvPr id="28" name="TextBox 27"/>
          <p:cNvSpPr txBox="1"/>
          <p:nvPr/>
        </p:nvSpPr>
        <p:spPr>
          <a:xfrm>
            <a:off x="8645963" y="4290060"/>
            <a:ext cx="569404" cy="194310"/>
          </a:xfrm>
          <a:prstGeom prst="rect">
            <a:avLst/>
          </a:prstGeom>
          <a:noFill/>
        </p:spPr>
        <p:txBody>
          <a:bodyPr wrap="none" lIns="0" rIns="0" tIns="0" bIns="0">
            <a:spAutoFit/>
          </a:bodyPr>
          <a:lstStyle/>
          <a:p>
            <a:r>
              <a:rPr sz="1150" b="0">
                <a:solidFill>
                  <a:srgbClr val="2E2E2E"/>
                </a:solidFill>
                <a:latin typeface="Calibri"/>
              </a:rPr>
              <a:t>(2026E).</a:t>
            </a:r>
          </a:p>
        </p:txBody>
      </p:sp>
      <p:sp>
        <p:nvSpPr>
          <p:cNvPr id="29" name="TextBox 28"/>
          <p:cNvSpPr txBox="1"/>
          <p:nvPr/>
        </p:nvSpPr>
        <p:spPr>
          <a:xfrm>
            <a:off x="7715250" y="4517897"/>
            <a:ext cx="3930265" cy="194310"/>
          </a:xfrm>
          <a:prstGeom prst="rect">
            <a:avLst/>
          </a:prstGeom>
          <a:noFill/>
        </p:spPr>
        <p:txBody>
          <a:bodyPr wrap="none" lIns="0" rIns="0" tIns="0" bIns="0">
            <a:spAutoFit/>
          </a:bodyPr>
          <a:lstStyle/>
          <a:p>
            <a:r>
              <a:rPr sz="1150" b="0">
                <a:solidFill>
                  <a:srgbClr val="2E2E2E"/>
                </a:solidFill>
                <a:latin typeface="Calibri"/>
              </a:rPr>
              <a:t>▪ 'Acrylic Partial Dentures' is the most concentrated product type</a:t>
            </a:r>
          </a:p>
        </p:txBody>
      </p:sp>
      <p:sp>
        <p:nvSpPr>
          <p:cNvPr id="30" name="TextBox 29"/>
          <p:cNvSpPr txBox="1"/>
          <p:nvPr/>
        </p:nvSpPr>
        <p:spPr>
          <a:xfrm>
            <a:off x="7715250" y="4693157"/>
            <a:ext cx="1178706" cy="194310"/>
          </a:xfrm>
          <a:prstGeom prst="rect">
            <a:avLst/>
          </a:prstGeom>
          <a:noFill/>
        </p:spPr>
        <p:txBody>
          <a:bodyPr wrap="none" lIns="0" rIns="0" tIns="0" bIns="0">
            <a:spAutoFit/>
          </a:bodyPr>
          <a:lstStyle/>
          <a:p>
            <a:r>
              <a:rPr sz="1150" b="0">
                <a:solidFill>
                  <a:srgbClr val="2E2E2E"/>
                </a:solidFill>
                <a:latin typeface="Calibri"/>
              </a:rPr>
              <a:t>sub-segment, with</a:t>
            </a:r>
          </a:p>
        </p:txBody>
      </p:sp>
      <p:pic>
        <p:nvPicPr>
          <p:cNvPr id="31" name="Picture 30" descr="lock.png"/>
          <p:cNvPicPr>
            <a:picLocks noChangeAspect="1"/>
          </p:cNvPicPr>
          <p:nvPr/>
        </p:nvPicPr>
        <p:blipFill>
          <a:blip r:embed="rId5"/>
          <a:stretch>
            <a:fillRect/>
          </a:stretch>
        </p:blipFill>
        <p:spPr>
          <a:xfrm>
            <a:off x="8843110" y="4682934"/>
            <a:ext cx="134549" cy="195707"/>
          </a:xfrm>
          <a:prstGeom prst="rect">
            <a:avLst/>
          </a:prstGeom>
        </p:spPr>
      </p:pic>
      <p:sp>
        <p:nvSpPr>
          <p:cNvPr id="32" name="TextBox 31"/>
          <p:cNvSpPr txBox="1"/>
          <p:nvPr/>
        </p:nvSpPr>
        <p:spPr>
          <a:xfrm>
            <a:off x="9018219" y="4693157"/>
            <a:ext cx="2530239" cy="194310"/>
          </a:xfrm>
          <a:prstGeom prst="rect">
            <a:avLst/>
          </a:prstGeom>
          <a:noFill/>
        </p:spPr>
        <p:txBody>
          <a:bodyPr wrap="none" lIns="0" rIns="0" tIns="0" bIns="0">
            <a:spAutoFit/>
          </a:bodyPr>
          <a:lstStyle/>
          <a:p>
            <a:r>
              <a:rPr sz="1150" b="0">
                <a:solidFill>
                  <a:srgbClr val="2E2E2E"/>
                </a:solidFill>
                <a:latin typeface="Calibri"/>
              </a:rPr>
              <a:t>of its value via 'Printable Denture Resins'.</a:t>
            </a:r>
          </a:p>
        </p:txBody>
      </p:sp>
      <p:sp>
        <p:nvSpPr>
          <p:cNvPr id="33" name="TextBox 32"/>
          <p:cNvSpPr txBox="1"/>
          <p:nvPr/>
        </p:nvSpPr>
        <p:spPr>
          <a:xfrm>
            <a:off x="7715250" y="4920995"/>
            <a:ext cx="2306885" cy="194310"/>
          </a:xfrm>
          <a:prstGeom prst="rect">
            <a:avLst/>
          </a:prstGeom>
          <a:noFill/>
        </p:spPr>
        <p:txBody>
          <a:bodyPr wrap="none" lIns="0" rIns="0" tIns="0" bIns="0">
            <a:spAutoFit/>
          </a:bodyPr>
          <a:lstStyle/>
          <a:p>
            <a:r>
              <a:rPr sz="1150" b="0">
                <a:solidFill>
                  <a:srgbClr val="2E2E2E"/>
                </a:solidFill>
                <a:latin typeface="Calibri"/>
              </a:rPr>
              <a:t>▪ 'Other Thermoplastic Resins' gains +</a:t>
            </a:r>
          </a:p>
        </p:txBody>
      </p:sp>
      <p:pic>
        <p:nvPicPr>
          <p:cNvPr id="34" name="Picture 33" descr="lock.png"/>
          <p:cNvPicPr>
            <a:picLocks noChangeAspect="1"/>
          </p:cNvPicPr>
          <p:nvPr/>
        </p:nvPicPr>
        <p:blipFill>
          <a:blip r:embed="rId5"/>
          <a:stretch>
            <a:fillRect/>
          </a:stretch>
        </p:blipFill>
        <p:spPr>
          <a:xfrm>
            <a:off x="9971289" y="4910772"/>
            <a:ext cx="134549" cy="195707"/>
          </a:xfrm>
          <a:prstGeom prst="rect">
            <a:avLst/>
          </a:prstGeom>
        </p:spPr>
      </p:pic>
      <p:sp>
        <p:nvSpPr>
          <p:cNvPr id="35" name="TextBox 34"/>
          <p:cNvSpPr txBox="1"/>
          <p:nvPr/>
        </p:nvSpPr>
        <p:spPr>
          <a:xfrm>
            <a:off x="10146398" y="4920995"/>
            <a:ext cx="1616000" cy="194310"/>
          </a:xfrm>
          <a:prstGeom prst="rect">
            <a:avLst/>
          </a:prstGeom>
          <a:noFill/>
        </p:spPr>
        <p:txBody>
          <a:bodyPr wrap="none" lIns="0" rIns="0" tIns="0" bIns="0">
            <a:spAutoFit/>
          </a:bodyPr>
          <a:lstStyle/>
          <a:p>
            <a:r>
              <a:rPr sz="1150" b="0">
                <a:solidFill>
                  <a:srgbClr val="2E2E2E"/>
                </a:solidFill>
                <a:latin typeface="Calibri"/>
              </a:rPr>
              <a:t>BPS of share of the Global</a:t>
            </a:r>
          </a:p>
        </p:txBody>
      </p:sp>
      <p:sp>
        <p:nvSpPr>
          <p:cNvPr id="36" name="TextBox 35"/>
          <p:cNvSpPr txBox="1"/>
          <p:nvPr/>
        </p:nvSpPr>
        <p:spPr>
          <a:xfrm>
            <a:off x="7715250" y="5096255"/>
            <a:ext cx="1462605" cy="194310"/>
          </a:xfrm>
          <a:prstGeom prst="rect">
            <a:avLst/>
          </a:prstGeom>
          <a:noFill/>
        </p:spPr>
        <p:txBody>
          <a:bodyPr wrap="none" lIns="0" rIns="0" tIns="0" bIns="0">
            <a:spAutoFit/>
          </a:bodyPr>
          <a:lstStyle/>
          <a:p>
            <a:r>
              <a:rPr sz="1150" b="0">
                <a:solidFill>
                  <a:srgbClr val="2E2E2E"/>
                </a:solidFill>
                <a:latin typeface="Calibri"/>
              </a:rPr>
              <a:t>cross-section by 2036F.</a:t>
            </a:r>
          </a:p>
        </p:txBody>
      </p:sp>
      <p:sp>
        <p:nvSpPr>
          <p:cNvPr id="37" name="lockshield_17"/>
          <p:cNvSpPr/>
          <p:nvPr/>
        </p:nvSpPr>
        <p:spPr>
          <a:xfrm>
            <a:off x="238125" y="3981450"/>
            <a:ext cx="7096125" cy="25908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&amp; Attractiveness: Product Type × Material Type, 2026E–2036F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390775"/>
          </a:xfrm>
          <a:prstGeom prst="roundRect">
            <a:avLst>
              <a:gd name="adj" fmla="val 31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Product Type × Material Type, 2026E–2036F</a:t>
            </a:r>
          </a:p>
        </p:txBody>
      </p:sp>
      <p:graphicFrame>
        <p:nvGraphicFramePr>
          <p:cNvPr id="13" name="Table 12"/>
          <p:cNvGraphicFramePr>
            <a:graphicFrameLocks noGrp="1"/>
          </p:cNvGraphicFramePr>
          <p:nvPr/>
        </p:nvGraphicFramePr>
        <p:xfrm>
          <a:off x="152400" y="1238250"/>
          <a:ext cx="11887198" cy="1924050"/>
        </p:xfrm>
        <a:graphic>
          <a:graphicData uri="http://schemas.openxmlformats.org/drawingml/2006/table">
            <a:tbl>
              <a:tblPr>
                <a:tableStyleId>{5C22544A-7EE6-4342-B048-85BDC9FD1C3A}</a:tableStyleId>
              </a:tblPr>
              <a:tblGrid>
                <a:gridCol w="3680728"/>
                <a:gridCol w="820647"/>
                <a:gridCol w="820647"/>
                <a:gridCol w="820647"/>
                <a:gridCol w="820647"/>
                <a:gridCol w="820647"/>
                <a:gridCol w="820647"/>
                <a:gridCol w="820647"/>
                <a:gridCol w="820647"/>
                <a:gridCol w="820647"/>
                <a:gridCol w="820647"/>
              </a:tblGrid>
              <a:tr h="438912">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Metal Alloys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Acrylic / Resin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Flexible Thermoplastics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High-performance</a:t>
                      </a:r>
                      <a:endParaRPr sz="1100"/>
                    </a:p>
                    <a:p>
                      <a:pPr algn="ctr"/>
                      <a:r>
                        <a:rPr sz="1100" b="1">
                          <a:solidFill>
                            <a:srgbClr val="0B2E4A"/>
                          </a:solidFill>
                          <a:latin typeface="Calibri"/>
                        </a:rPr>
                        <a:t>Polymers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7523">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47523">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23">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23">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23">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23">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4.4%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71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05200"/>
            <a:ext cx="5600700" cy="3124200"/>
          </a:xfrm>
          <a:prstGeom prst="roundRect">
            <a:avLst>
              <a:gd name="adj" fmla="val 24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590925"/>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7" name="Rectangle 16"/>
          <p:cNvSpPr/>
          <p:nvPr/>
        </p:nvSpPr>
        <p:spPr>
          <a:xfrm>
            <a:off x="276225" y="3829050"/>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14775"/>
            <a:ext cx="5334000" cy="2638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Rounded Rectangle 18"/>
          <p:cNvSpPr/>
          <p:nvPr/>
        </p:nvSpPr>
        <p:spPr>
          <a:xfrm>
            <a:off x="5895975" y="3505200"/>
            <a:ext cx="1943100" cy="31242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029325" y="3590925"/>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21" name="Rectangle 20"/>
          <p:cNvSpPr/>
          <p:nvPr/>
        </p:nvSpPr>
        <p:spPr>
          <a:xfrm>
            <a:off x="6029325" y="38290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029325" y="3914775"/>
            <a:ext cx="1676400" cy="2638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3" name="Rounded Rectangle 22"/>
          <p:cNvSpPr/>
          <p:nvPr/>
        </p:nvSpPr>
        <p:spPr>
          <a:xfrm>
            <a:off x="7991475" y="3505200"/>
            <a:ext cx="1943100" cy="31242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124825" y="3590925"/>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5" name="Rectangle 24"/>
          <p:cNvSpPr/>
          <p:nvPr/>
        </p:nvSpPr>
        <p:spPr>
          <a:xfrm>
            <a:off x="8124825" y="38290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124825" y="3914775"/>
            <a:ext cx="1676400" cy="2638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7" name="Rounded Rectangle 26"/>
          <p:cNvSpPr/>
          <p:nvPr/>
        </p:nvSpPr>
        <p:spPr>
          <a:xfrm>
            <a:off x="10086975" y="3505200"/>
            <a:ext cx="1943100" cy="31242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220325" y="3590925"/>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9" name="Rectangle 28"/>
          <p:cNvSpPr/>
          <p:nvPr/>
        </p:nvSpPr>
        <p:spPr>
          <a:xfrm>
            <a:off x="10220325" y="38290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10220325" y="3914775"/>
            <a:ext cx="1676400" cy="2638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'Acrylic Partial Dentures × Flexible Thermoplastics' ranks highest (5/5); 'Cast Metal Partial Dentures × Metal Alloys' lowest (1/5), a deprioritised cell.</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4"/>
          <a:stretch>
            <a:fillRect/>
          </a:stretch>
        </p:blipFill>
        <p:spPr>
          <a:xfrm>
            <a:off x="7749672" y="2276792"/>
            <a:ext cx="366712" cy="533400"/>
          </a:xfrm>
          <a:prstGeom prst="rect">
            <a:avLst/>
          </a:prstGeom>
        </p:spPr>
      </p:pic>
      <p:sp>
        <p:nvSpPr>
          <p:cNvPr id="33" name="TextBox 32"/>
          <p:cNvSpPr txBox="1"/>
          <p:nvPr/>
        </p:nvSpPr>
        <p:spPr>
          <a:xfrm>
            <a:off x="276225" y="3924300"/>
            <a:ext cx="3328665" cy="194310"/>
          </a:xfrm>
          <a:prstGeom prst="rect">
            <a:avLst/>
          </a:prstGeom>
          <a:noFill/>
        </p:spPr>
        <p:txBody>
          <a:bodyPr wrap="none" lIns="0" rIns="0" tIns="0" bIns="0">
            <a:spAutoFit/>
          </a:bodyPr>
          <a:lstStyle/>
          <a:p>
            <a:r>
              <a:rPr sz="1150" b="0">
                <a:solidFill>
                  <a:srgbClr val="2E2E2E"/>
                </a:solidFill>
                <a:latin typeface="Calibri"/>
              </a:rPr>
              <a:t>▪ 1. Acrylic Partial Dentures × Flexible Thermoplastics –</a:t>
            </a:r>
          </a:p>
        </p:txBody>
      </p:sp>
      <p:pic>
        <p:nvPicPr>
          <p:cNvPr id="34" name="Picture 33" descr="lock.png"/>
          <p:cNvPicPr>
            <a:picLocks noChangeAspect="1"/>
          </p:cNvPicPr>
          <p:nvPr/>
        </p:nvPicPr>
        <p:blipFill>
          <a:blip r:embed="rId4"/>
          <a:stretch>
            <a:fillRect/>
          </a:stretch>
        </p:blipFill>
        <p:spPr>
          <a:xfrm>
            <a:off x="3554043" y="3914076"/>
            <a:ext cx="134549" cy="195707"/>
          </a:xfrm>
          <a:prstGeom prst="rect">
            <a:avLst/>
          </a:prstGeom>
        </p:spPr>
      </p:pic>
      <p:sp>
        <p:nvSpPr>
          <p:cNvPr id="35" name="TextBox 34"/>
          <p:cNvSpPr txBox="1"/>
          <p:nvPr/>
        </p:nvSpPr>
        <p:spPr>
          <a:xfrm>
            <a:off x="3729153" y="3924300"/>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6" name="Picture 35" descr="lock.png"/>
          <p:cNvPicPr>
            <a:picLocks noChangeAspect="1"/>
          </p:cNvPicPr>
          <p:nvPr/>
        </p:nvPicPr>
        <p:blipFill>
          <a:blip r:embed="rId4"/>
          <a:stretch>
            <a:fillRect/>
          </a:stretch>
        </p:blipFill>
        <p:spPr>
          <a:xfrm>
            <a:off x="3791304" y="3914076"/>
            <a:ext cx="134549" cy="195707"/>
          </a:xfrm>
          <a:prstGeom prst="rect">
            <a:avLst/>
          </a:prstGeom>
        </p:spPr>
      </p:pic>
      <p:sp>
        <p:nvSpPr>
          <p:cNvPr id="37" name="TextBox 36"/>
          <p:cNvSpPr txBox="1"/>
          <p:nvPr/>
        </p:nvSpPr>
        <p:spPr>
          <a:xfrm>
            <a:off x="3966414" y="3924300"/>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38" name="TextBox 37"/>
          <p:cNvSpPr txBox="1"/>
          <p:nvPr/>
        </p:nvSpPr>
        <p:spPr>
          <a:xfrm>
            <a:off x="276225" y="4152137"/>
            <a:ext cx="3389424" cy="194310"/>
          </a:xfrm>
          <a:prstGeom prst="rect">
            <a:avLst/>
          </a:prstGeom>
          <a:noFill/>
        </p:spPr>
        <p:txBody>
          <a:bodyPr wrap="none" lIns="0" rIns="0" tIns="0" bIns="0">
            <a:spAutoFit/>
          </a:bodyPr>
          <a:lstStyle/>
          <a:p>
            <a:r>
              <a:rPr sz="1150" b="0">
                <a:solidFill>
                  <a:srgbClr val="2E2E2E"/>
                </a:solidFill>
                <a:latin typeface="Calibri"/>
              </a:rPr>
              <a:t>▪ 2. Flexible Partial Dentures × Flexible Thermoplastics –</a:t>
            </a:r>
          </a:p>
        </p:txBody>
      </p:sp>
      <p:pic>
        <p:nvPicPr>
          <p:cNvPr id="39" name="Picture 38" descr="lock.png"/>
          <p:cNvPicPr>
            <a:picLocks noChangeAspect="1"/>
          </p:cNvPicPr>
          <p:nvPr/>
        </p:nvPicPr>
        <p:blipFill>
          <a:blip r:embed="rId4"/>
          <a:stretch>
            <a:fillRect/>
          </a:stretch>
        </p:blipFill>
        <p:spPr>
          <a:xfrm>
            <a:off x="3614803" y="4141914"/>
            <a:ext cx="134549" cy="195707"/>
          </a:xfrm>
          <a:prstGeom prst="rect">
            <a:avLst/>
          </a:prstGeom>
        </p:spPr>
      </p:pic>
      <p:sp>
        <p:nvSpPr>
          <p:cNvPr id="40" name="TextBox 39"/>
          <p:cNvSpPr txBox="1"/>
          <p:nvPr/>
        </p:nvSpPr>
        <p:spPr>
          <a:xfrm>
            <a:off x="3789912" y="4152137"/>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1" name="Picture 40" descr="lock.png"/>
          <p:cNvPicPr>
            <a:picLocks noChangeAspect="1"/>
          </p:cNvPicPr>
          <p:nvPr/>
        </p:nvPicPr>
        <p:blipFill>
          <a:blip r:embed="rId4"/>
          <a:stretch>
            <a:fillRect/>
          </a:stretch>
        </p:blipFill>
        <p:spPr>
          <a:xfrm>
            <a:off x="3852064" y="4141914"/>
            <a:ext cx="134549" cy="195707"/>
          </a:xfrm>
          <a:prstGeom prst="rect">
            <a:avLst/>
          </a:prstGeom>
        </p:spPr>
      </p:pic>
      <p:sp>
        <p:nvSpPr>
          <p:cNvPr id="42" name="TextBox 41"/>
          <p:cNvSpPr txBox="1"/>
          <p:nvPr/>
        </p:nvSpPr>
        <p:spPr>
          <a:xfrm>
            <a:off x="4027173" y="4152137"/>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3" name="TextBox 42"/>
          <p:cNvSpPr txBox="1"/>
          <p:nvPr/>
        </p:nvSpPr>
        <p:spPr>
          <a:xfrm>
            <a:off x="276225" y="4379975"/>
            <a:ext cx="4410347" cy="194310"/>
          </a:xfrm>
          <a:prstGeom prst="rect">
            <a:avLst/>
          </a:prstGeom>
          <a:noFill/>
        </p:spPr>
        <p:txBody>
          <a:bodyPr wrap="none" lIns="0" rIns="0" tIns="0" bIns="0">
            <a:spAutoFit/>
          </a:bodyPr>
          <a:lstStyle/>
          <a:p>
            <a:r>
              <a:rPr sz="1150" b="0">
                <a:solidFill>
                  <a:srgbClr val="2E2E2E"/>
                </a:solidFill>
                <a:latin typeface="Calibri"/>
              </a:rPr>
              <a:t>▪ 3. Combination Framework Partial Dentures × Flexible Thermoplastics –</a:t>
            </a:r>
          </a:p>
        </p:txBody>
      </p:sp>
      <p:pic>
        <p:nvPicPr>
          <p:cNvPr id="44" name="Picture 43" descr="lock.png"/>
          <p:cNvPicPr>
            <a:picLocks noChangeAspect="1"/>
          </p:cNvPicPr>
          <p:nvPr/>
        </p:nvPicPr>
        <p:blipFill>
          <a:blip r:embed="rId4"/>
          <a:stretch>
            <a:fillRect/>
          </a:stretch>
        </p:blipFill>
        <p:spPr>
          <a:xfrm>
            <a:off x="4635726" y="4369752"/>
            <a:ext cx="134549" cy="195707"/>
          </a:xfrm>
          <a:prstGeom prst="rect">
            <a:avLst/>
          </a:prstGeom>
        </p:spPr>
      </p:pic>
      <p:sp>
        <p:nvSpPr>
          <p:cNvPr id="45" name="TextBox 44"/>
          <p:cNvSpPr txBox="1"/>
          <p:nvPr/>
        </p:nvSpPr>
        <p:spPr>
          <a:xfrm>
            <a:off x="4810836" y="4379975"/>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6" name="Picture 45" descr="lock.png"/>
          <p:cNvPicPr>
            <a:picLocks noChangeAspect="1"/>
          </p:cNvPicPr>
          <p:nvPr/>
        </p:nvPicPr>
        <p:blipFill>
          <a:blip r:embed="rId4"/>
          <a:stretch>
            <a:fillRect/>
          </a:stretch>
        </p:blipFill>
        <p:spPr>
          <a:xfrm>
            <a:off x="4872987" y="4369752"/>
            <a:ext cx="134549" cy="195707"/>
          </a:xfrm>
          <a:prstGeom prst="rect">
            <a:avLst/>
          </a:prstGeom>
        </p:spPr>
      </p:pic>
      <p:sp>
        <p:nvSpPr>
          <p:cNvPr id="47" name="TextBox 46"/>
          <p:cNvSpPr txBox="1"/>
          <p:nvPr/>
        </p:nvSpPr>
        <p:spPr>
          <a:xfrm>
            <a:off x="5048097" y="4379975"/>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8" name="TextBox 47"/>
          <p:cNvSpPr txBox="1"/>
          <p:nvPr/>
        </p:nvSpPr>
        <p:spPr>
          <a:xfrm>
            <a:off x="276225" y="4607813"/>
            <a:ext cx="3573127" cy="194310"/>
          </a:xfrm>
          <a:prstGeom prst="rect">
            <a:avLst/>
          </a:prstGeom>
          <a:noFill/>
        </p:spPr>
        <p:txBody>
          <a:bodyPr wrap="none" lIns="0" rIns="0" tIns="0" bIns="0">
            <a:spAutoFit/>
          </a:bodyPr>
          <a:lstStyle/>
          <a:p>
            <a:r>
              <a:rPr sz="1150" b="0">
                <a:solidFill>
                  <a:srgbClr val="2E2E2E"/>
                </a:solidFill>
                <a:latin typeface="Calibri"/>
              </a:rPr>
              <a:t>▪ 4. Cast Metal Partial Dentures × Flexible Thermoplastics –</a:t>
            </a:r>
          </a:p>
        </p:txBody>
      </p:sp>
      <p:pic>
        <p:nvPicPr>
          <p:cNvPr id="49" name="Picture 48" descr="lock.png"/>
          <p:cNvPicPr>
            <a:picLocks noChangeAspect="1"/>
          </p:cNvPicPr>
          <p:nvPr/>
        </p:nvPicPr>
        <p:blipFill>
          <a:blip r:embed="rId4"/>
          <a:stretch>
            <a:fillRect/>
          </a:stretch>
        </p:blipFill>
        <p:spPr>
          <a:xfrm>
            <a:off x="3798506" y="4597590"/>
            <a:ext cx="134549" cy="195707"/>
          </a:xfrm>
          <a:prstGeom prst="rect">
            <a:avLst/>
          </a:prstGeom>
        </p:spPr>
      </p:pic>
      <p:sp>
        <p:nvSpPr>
          <p:cNvPr id="50" name="TextBox 49"/>
          <p:cNvSpPr txBox="1"/>
          <p:nvPr/>
        </p:nvSpPr>
        <p:spPr>
          <a:xfrm>
            <a:off x="3973615" y="4607813"/>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1" name="Picture 50" descr="lock.png"/>
          <p:cNvPicPr>
            <a:picLocks noChangeAspect="1"/>
          </p:cNvPicPr>
          <p:nvPr/>
        </p:nvPicPr>
        <p:blipFill>
          <a:blip r:embed="rId4"/>
          <a:stretch>
            <a:fillRect/>
          </a:stretch>
        </p:blipFill>
        <p:spPr>
          <a:xfrm>
            <a:off x="4035767" y="4597590"/>
            <a:ext cx="134549" cy="195707"/>
          </a:xfrm>
          <a:prstGeom prst="rect">
            <a:avLst/>
          </a:prstGeom>
        </p:spPr>
      </p:pic>
      <p:sp>
        <p:nvSpPr>
          <p:cNvPr id="52" name="TextBox 51"/>
          <p:cNvSpPr txBox="1"/>
          <p:nvPr/>
        </p:nvSpPr>
        <p:spPr>
          <a:xfrm>
            <a:off x="4210876" y="4607813"/>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53" name="TextBox 52"/>
          <p:cNvSpPr txBox="1"/>
          <p:nvPr/>
        </p:nvSpPr>
        <p:spPr>
          <a:xfrm>
            <a:off x="276225" y="4835651"/>
            <a:ext cx="3850964" cy="194310"/>
          </a:xfrm>
          <a:prstGeom prst="rect">
            <a:avLst/>
          </a:prstGeom>
          <a:noFill/>
        </p:spPr>
        <p:txBody>
          <a:bodyPr wrap="none" lIns="0" rIns="0" tIns="0" bIns="0">
            <a:spAutoFit/>
          </a:bodyPr>
          <a:lstStyle/>
          <a:p>
            <a:r>
              <a:rPr sz="1150" b="0">
                <a:solidFill>
                  <a:srgbClr val="2E2E2E"/>
                </a:solidFill>
                <a:latin typeface="Calibri"/>
              </a:rPr>
              <a:t>▪ 5. Cast Metal Partial Dentures × High-performance Polymers –</a:t>
            </a:r>
          </a:p>
        </p:txBody>
      </p:sp>
      <p:pic>
        <p:nvPicPr>
          <p:cNvPr id="54" name="Picture 53" descr="lock.png"/>
          <p:cNvPicPr>
            <a:picLocks noChangeAspect="1"/>
          </p:cNvPicPr>
          <p:nvPr/>
        </p:nvPicPr>
        <p:blipFill>
          <a:blip r:embed="rId4"/>
          <a:stretch>
            <a:fillRect/>
          </a:stretch>
        </p:blipFill>
        <p:spPr>
          <a:xfrm>
            <a:off x="4076343" y="4825428"/>
            <a:ext cx="134549" cy="195707"/>
          </a:xfrm>
          <a:prstGeom prst="rect">
            <a:avLst/>
          </a:prstGeom>
        </p:spPr>
      </p:pic>
      <p:sp>
        <p:nvSpPr>
          <p:cNvPr id="55" name="TextBox 54"/>
          <p:cNvSpPr txBox="1"/>
          <p:nvPr/>
        </p:nvSpPr>
        <p:spPr>
          <a:xfrm>
            <a:off x="4251453" y="4835651"/>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6" name="Picture 55" descr="lock.png"/>
          <p:cNvPicPr>
            <a:picLocks noChangeAspect="1"/>
          </p:cNvPicPr>
          <p:nvPr/>
        </p:nvPicPr>
        <p:blipFill>
          <a:blip r:embed="rId4"/>
          <a:stretch>
            <a:fillRect/>
          </a:stretch>
        </p:blipFill>
        <p:spPr>
          <a:xfrm>
            <a:off x="4313604" y="4825428"/>
            <a:ext cx="134549" cy="195707"/>
          </a:xfrm>
          <a:prstGeom prst="rect">
            <a:avLst/>
          </a:prstGeom>
        </p:spPr>
      </p:pic>
      <p:sp>
        <p:nvSpPr>
          <p:cNvPr id="57" name="TextBox 56"/>
          <p:cNvSpPr txBox="1"/>
          <p:nvPr/>
        </p:nvSpPr>
        <p:spPr>
          <a:xfrm>
            <a:off x="4488714" y="4835651"/>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58" name="TextBox 57"/>
          <p:cNvSpPr txBox="1"/>
          <p:nvPr/>
        </p:nvSpPr>
        <p:spPr>
          <a:xfrm>
            <a:off x="6029325" y="3924300"/>
            <a:ext cx="1657350" cy="194310"/>
          </a:xfrm>
          <a:prstGeom prst="rect">
            <a:avLst/>
          </a:prstGeom>
          <a:noFill/>
        </p:spPr>
        <p:txBody>
          <a:bodyPr wrap="none" lIns="0" rIns="0" tIns="0" bIns="0">
            <a:spAutoFit/>
          </a:bodyPr>
          <a:lstStyle/>
          <a:p>
            <a:r>
              <a:rPr sz="1150" b="0">
                <a:solidFill>
                  <a:srgbClr val="2E2E2E"/>
                </a:solidFill>
                <a:latin typeface="Calibri"/>
              </a:rPr>
              <a:t>▪ 'Acrylic Partial Dentures ×</a:t>
            </a:r>
          </a:p>
        </p:txBody>
      </p:sp>
      <p:sp>
        <p:nvSpPr>
          <p:cNvPr id="59" name="TextBox 58"/>
          <p:cNvSpPr txBox="1"/>
          <p:nvPr/>
        </p:nvSpPr>
        <p:spPr>
          <a:xfrm>
            <a:off x="6029325" y="4099560"/>
            <a:ext cx="1499616" cy="194310"/>
          </a:xfrm>
          <a:prstGeom prst="rect">
            <a:avLst/>
          </a:prstGeom>
          <a:noFill/>
        </p:spPr>
        <p:txBody>
          <a:bodyPr wrap="none" lIns="0" rIns="0" tIns="0" bIns="0">
            <a:spAutoFit/>
          </a:bodyPr>
          <a:lstStyle/>
          <a:p>
            <a:r>
              <a:rPr sz="1150" b="0">
                <a:solidFill>
                  <a:srgbClr val="2E2E2E"/>
                </a:solidFill>
                <a:latin typeface="Calibri"/>
              </a:rPr>
              <a:t>Flexible Thermoplastics'</a:t>
            </a:r>
          </a:p>
        </p:txBody>
      </p:sp>
      <p:sp>
        <p:nvSpPr>
          <p:cNvPr id="60" name="TextBox 59"/>
          <p:cNvSpPr txBox="1"/>
          <p:nvPr/>
        </p:nvSpPr>
        <p:spPr>
          <a:xfrm>
            <a:off x="6029325" y="4274820"/>
            <a:ext cx="356604" cy="194310"/>
          </a:xfrm>
          <a:prstGeom prst="rect">
            <a:avLst/>
          </a:prstGeom>
          <a:noFill/>
        </p:spPr>
        <p:txBody>
          <a:bodyPr wrap="none" lIns="0" rIns="0" tIns="0" bIns="0">
            <a:spAutoFit/>
          </a:bodyPr>
          <a:lstStyle/>
          <a:p>
            <a:r>
              <a:rPr sz="1150" b="0">
                <a:solidFill>
                  <a:srgbClr val="2E2E2E"/>
                </a:solidFill>
                <a:latin typeface="Calibri"/>
              </a:rPr>
              <a:t>adds</a:t>
            </a:r>
          </a:p>
        </p:txBody>
      </p:sp>
      <p:pic>
        <p:nvPicPr>
          <p:cNvPr id="61" name="Picture 60" descr="lock.png"/>
          <p:cNvPicPr>
            <a:picLocks noChangeAspect="1"/>
          </p:cNvPicPr>
          <p:nvPr/>
        </p:nvPicPr>
        <p:blipFill>
          <a:blip r:embed="rId4"/>
          <a:stretch>
            <a:fillRect/>
          </a:stretch>
        </p:blipFill>
        <p:spPr>
          <a:xfrm>
            <a:off x="6335083" y="4264596"/>
            <a:ext cx="134549" cy="195707"/>
          </a:xfrm>
          <a:prstGeom prst="rect">
            <a:avLst/>
          </a:prstGeom>
        </p:spPr>
      </p:pic>
      <p:sp>
        <p:nvSpPr>
          <p:cNvPr id="62" name="TextBox 61"/>
          <p:cNvSpPr txBox="1"/>
          <p:nvPr/>
        </p:nvSpPr>
        <p:spPr>
          <a:xfrm>
            <a:off x="6510192" y="4274820"/>
            <a:ext cx="1118803" cy="194310"/>
          </a:xfrm>
          <a:prstGeom prst="rect">
            <a:avLst/>
          </a:prstGeom>
          <a:noFill/>
        </p:spPr>
        <p:txBody>
          <a:bodyPr wrap="none" lIns="0" rIns="0" tIns="0" bIns="0">
            <a:spAutoFit/>
          </a:bodyPr>
          <a:lstStyle/>
          <a:p>
            <a:r>
              <a:rPr sz="1150" b="0">
                <a:solidFill>
                  <a:srgbClr val="2E2E2E"/>
                </a:solidFill>
                <a:latin typeface="Calibri"/>
              </a:rPr>
              <a:t>US$ Mn by 2036F</a:t>
            </a:r>
          </a:p>
        </p:txBody>
      </p:sp>
      <p:sp>
        <p:nvSpPr>
          <p:cNvPr id="63" name="TextBox 62"/>
          <p:cNvSpPr txBox="1"/>
          <p:nvPr/>
        </p:nvSpPr>
        <p:spPr>
          <a:xfrm>
            <a:off x="6029325" y="4450079"/>
            <a:ext cx="148939"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64" name="Picture 63" descr="lock.png"/>
          <p:cNvPicPr>
            <a:picLocks noChangeAspect="1"/>
          </p:cNvPicPr>
          <p:nvPr/>
        </p:nvPicPr>
        <p:blipFill>
          <a:blip r:embed="rId4"/>
          <a:stretch>
            <a:fillRect/>
          </a:stretch>
        </p:blipFill>
        <p:spPr>
          <a:xfrm>
            <a:off x="6127418" y="4439856"/>
            <a:ext cx="134549" cy="195707"/>
          </a:xfrm>
          <a:prstGeom prst="rect">
            <a:avLst/>
          </a:prstGeom>
        </p:spPr>
      </p:pic>
      <p:sp>
        <p:nvSpPr>
          <p:cNvPr id="65" name="TextBox 64"/>
          <p:cNvSpPr txBox="1"/>
          <p:nvPr/>
        </p:nvSpPr>
        <p:spPr>
          <a:xfrm>
            <a:off x="6302527" y="4450079"/>
            <a:ext cx="741126" cy="194310"/>
          </a:xfrm>
          <a:prstGeom prst="rect">
            <a:avLst/>
          </a:prstGeom>
          <a:noFill/>
        </p:spPr>
        <p:txBody>
          <a:bodyPr wrap="none" lIns="0" rIns="0" tIns="0" bIns="0">
            <a:spAutoFit/>
          </a:bodyPr>
          <a:lstStyle/>
          <a:p>
            <a:r>
              <a:rPr sz="1150" b="0">
                <a:solidFill>
                  <a:srgbClr val="2E2E2E"/>
                </a:solidFill>
                <a:latin typeface="Calibri"/>
              </a:rPr>
              <a:t>of the total</a:t>
            </a:r>
          </a:p>
        </p:txBody>
      </p:sp>
      <p:sp>
        <p:nvSpPr>
          <p:cNvPr id="66" name="TextBox 65"/>
          <p:cNvSpPr txBox="1"/>
          <p:nvPr/>
        </p:nvSpPr>
        <p:spPr>
          <a:xfrm>
            <a:off x="6029325" y="4625339"/>
            <a:ext cx="822994" cy="194310"/>
          </a:xfrm>
          <a:prstGeom prst="rect">
            <a:avLst/>
          </a:prstGeom>
          <a:noFill/>
        </p:spPr>
        <p:txBody>
          <a:bodyPr wrap="none" lIns="0" rIns="0" tIns="0" bIns="0">
            <a:spAutoFit/>
          </a:bodyPr>
          <a:lstStyle/>
          <a:p>
            <a:r>
              <a:rPr sz="1150" b="0">
                <a:solidFill>
                  <a:srgbClr val="2E2E2E"/>
                </a:solidFill>
                <a:latin typeface="Calibri"/>
              </a:rPr>
              <a:t>opportunity.</a:t>
            </a:r>
          </a:p>
        </p:txBody>
      </p:sp>
      <p:sp>
        <p:nvSpPr>
          <p:cNvPr id="67" name="TextBox 66"/>
          <p:cNvSpPr txBox="1"/>
          <p:nvPr/>
        </p:nvSpPr>
        <p:spPr>
          <a:xfrm>
            <a:off x="8124825" y="3924300"/>
            <a:ext cx="1657350" cy="194310"/>
          </a:xfrm>
          <a:prstGeom prst="rect">
            <a:avLst/>
          </a:prstGeom>
          <a:noFill/>
        </p:spPr>
        <p:txBody>
          <a:bodyPr wrap="none" lIns="0" rIns="0" tIns="0" bIns="0">
            <a:spAutoFit/>
          </a:bodyPr>
          <a:lstStyle/>
          <a:p>
            <a:r>
              <a:rPr sz="1150" b="0">
                <a:solidFill>
                  <a:srgbClr val="2E2E2E"/>
                </a:solidFill>
                <a:latin typeface="Calibri"/>
              </a:rPr>
              <a:t>▪ 'Acrylic Partial Dentures ×</a:t>
            </a:r>
          </a:p>
        </p:txBody>
      </p:sp>
      <p:sp>
        <p:nvSpPr>
          <p:cNvPr id="68" name="TextBox 67"/>
          <p:cNvSpPr txBox="1"/>
          <p:nvPr/>
        </p:nvSpPr>
        <p:spPr>
          <a:xfrm>
            <a:off x="8124825" y="4099560"/>
            <a:ext cx="1499616" cy="194310"/>
          </a:xfrm>
          <a:prstGeom prst="rect">
            <a:avLst/>
          </a:prstGeom>
          <a:noFill/>
        </p:spPr>
        <p:txBody>
          <a:bodyPr wrap="none" lIns="0" rIns="0" tIns="0" bIns="0">
            <a:spAutoFit/>
          </a:bodyPr>
          <a:lstStyle/>
          <a:p>
            <a:r>
              <a:rPr sz="1150" b="0">
                <a:solidFill>
                  <a:srgbClr val="2E2E2E"/>
                </a:solidFill>
                <a:latin typeface="Calibri"/>
              </a:rPr>
              <a:t>Flexible Thermoplastics'</a:t>
            </a:r>
          </a:p>
        </p:txBody>
      </p:sp>
      <p:sp>
        <p:nvSpPr>
          <p:cNvPr id="69" name="TextBox 68"/>
          <p:cNvSpPr txBox="1"/>
          <p:nvPr/>
        </p:nvSpPr>
        <p:spPr>
          <a:xfrm>
            <a:off x="8124825" y="4274820"/>
            <a:ext cx="689495" cy="194310"/>
          </a:xfrm>
          <a:prstGeom prst="rect">
            <a:avLst/>
          </a:prstGeom>
          <a:noFill/>
        </p:spPr>
        <p:txBody>
          <a:bodyPr wrap="none" lIns="0" rIns="0" tIns="0" bIns="0">
            <a:spAutoFit/>
          </a:bodyPr>
          <a:lstStyle/>
          <a:p>
            <a:r>
              <a:rPr sz="1150" b="0">
                <a:solidFill>
                  <a:srgbClr val="2E2E2E"/>
                </a:solidFill>
                <a:latin typeface="Calibri"/>
              </a:rPr>
              <a:t>grows at a</a:t>
            </a:r>
          </a:p>
        </p:txBody>
      </p:sp>
      <p:pic>
        <p:nvPicPr>
          <p:cNvPr id="70" name="Picture 69" descr="lock.png"/>
          <p:cNvPicPr>
            <a:picLocks noChangeAspect="1"/>
          </p:cNvPicPr>
          <p:nvPr/>
        </p:nvPicPr>
        <p:blipFill>
          <a:blip r:embed="rId4"/>
          <a:stretch>
            <a:fillRect/>
          </a:stretch>
        </p:blipFill>
        <p:spPr>
          <a:xfrm>
            <a:off x="8763474" y="4264596"/>
            <a:ext cx="134549" cy="195707"/>
          </a:xfrm>
          <a:prstGeom prst="rect">
            <a:avLst/>
          </a:prstGeom>
        </p:spPr>
      </p:pic>
      <p:sp>
        <p:nvSpPr>
          <p:cNvPr id="71" name="TextBox 70"/>
          <p:cNvSpPr txBox="1"/>
          <p:nvPr/>
        </p:nvSpPr>
        <p:spPr>
          <a:xfrm>
            <a:off x="8938584" y="4274820"/>
            <a:ext cx="446441" cy="194310"/>
          </a:xfrm>
          <a:prstGeom prst="rect">
            <a:avLst/>
          </a:prstGeom>
          <a:noFill/>
        </p:spPr>
        <p:txBody>
          <a:bodyPr wrap="none" lIns="0" rIns="0" tIns="0" bIns="0">
            <a:spAutoFit/>
          </a:bodyPr>
          <a:lstStyle/>
          <a:p>
            <a:r>
              <a:rPr sz="1150" b="0">
                <a:solidFill>
                  <a:srgbClr val="2E2E2E"/>
                </a:solidFill>
                <a:latin typeface="Calibri"/>
              </a:rPr>
              <a:t>CAGR,</a:t>
            </a:r>
          </a:p>
        </p:txBody>
      </p:sp>
      <p:pic>
        <p:nvPicPr>
          <p:cNvPr id="72" name="Picture 71" descr="lock.png"/>
          <p:cNvPicPr>
            <a:picLocks noChangeAspect="1"/>
          </p:cNvPicPr>
          <p:nvPr/>
        </p:nvPicPr>
        <p:blipFill>
          <a:blip r:embed="rId4"/>
          <a:stretch>
            <a:fillRect/>
          </a:stretch>
        </p:blipFill>
        <p:spPr>
          <a:xfrm>
            <a:off x="9334179" y="4264596"/>
            <a:ext cx="134549" cy="195707"/>
          </a:xfrm>
          <a:prstGeom prst="rect">
            <a:avLst/>
          </a:prstGeom>
        </p:spPr>
      </p:pic>
      <p:sp>
        <p:nvSpPr>
          <p:cNvPr id="73" name="TextBox 72"/>
          <p:cNvSpPr txBox="1"/>
          <p:nvPr/>
        </p:nvSpPr>
        <p:spPr>
          <a:xfrm>
            <a:off x="8124825" y="4450079"/>
            <a:ext cx="925400" cy="194310"/>
          </a:xfrm>
          <a:prstGeom prst="rect">
            <a:avLst/>
          </a:prstGeom>
          <a:noFill/>
        </p:spPr>
        <p:txBody>
          <a:bodyPr wrap="none" lIns="0" rIns="0" tIns="0" bIns="0">
            <a:spAutoFit/>
          </a:bodyPr>
          <a:lstStyle/>
          <a:p>
            <a:r>
              <a:rPr sz="1150" b="0">
                <a:solidFill>
                  <a:srgbClr val="2E2E2E"/>
                </a:solidFill>
                <a:latin typeface="Calibri"/>
              </a:rPr>
              <a:t>BPS above the</a:t>
            </a:r>
          </a:p>
        </p:txBody>
      </p:sp>
      <p:sp>
        <p:nvSpPr>
          <p:cNvPr id="74" name="TextBox 73"/>
          <p:cNvSpPr txBox="1"/>
          <p:nvPr/>
        </p:nvSpPr>
        <p:spPr>
          <a:xfrm>
            <a:off x="8124825" y="4625339"/>
            <a:ext cx="890029" cy="194310"/>
          </a:xfrm>
          <a:prstGeom prst="rect">
            <a:avLst/>
          </a:prstGeom>
          <a:noFill/>
        </p:spPr>
        <p:txBody>
          <a:bodyPr wrap="none" lIns="0" rIns="0" tIns="0" bIns="0">
            <a:spAutoFit/>
          </a:bodyPr>
          <a:lstStyle/>
          <a:p>
            <a:r>
              <a:rPr sz="1150" b="0">
                <a:solidFill>
                  <a:srgbClr val="2E2E2E"/>
                </a:solidFill>
                <a:latin typeface="Calibri"/>
              </a:rPr>
              <a:t>cross-section.</a:t>
            </a:r>
          </a:p>
        </p:txBody>
      </p:sp>
    </p:spTree>
  </p:cSld>
  <p:clrMapOvr>
    <a:masterClrMapping/>
  </p:clrMapOvr>
</p:sld>
</file>

<file path=ppt/slides/slide10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8.2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Product Type × Technology</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Snapshot: Product Type × Technology, 2026E vs 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Global market value (US$ Mn) for each product type sub-segment across technology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Value, Product Type × Technology, 2026E and 2036F (US$ Mn)</a:t>
            </a:r>
          </a:p>
        </p:txBody>
      </p:sp>
      <p:graphicFrame>
        <p:nvGraphicFramePr>
          <p:cNvPr id="13" name="Table 12"/>
          <p:cNvGraphicFramePr>
            <a:graphicFrameLocks noGrp="1"/>
          </p:cNvGraphicFramePr>
          <p:nvPr/>
        </p:nvGraphicFramePr>
        <p:xfrm>
          <a:off x="152400" y="1238250"/>
          <a:ext cx="11887202" cy="1724028"/>
        </p:xfrm>
        <a:graphic>
          <a:graphicData uri="http://schemas.openxmlformats.org/drawingml/2006/table">
            <a:tbl>
              <a:tblPr>
                <a:tableStyleId>{5C22544A-7EE6-4342-B048-85BDC9FD1C3A}</a:tableStyleId>
              </a:tblPr>
              <a:tblGrid>
                <a:gridCol w="5705558"/>
                <a:gridCol w="1030274"/>
                <a:gridCol w="1030274"/>
                <a:gridCol w="1030274"/>
                <a:gridCol w="1030274"/>
                <a:gridCol w="1030274"/>
                <a:gridCol w="1030274"/>
              </a:tblGrid>
              <a:tr h="246126">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Conventional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Digital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6317">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317">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1,125</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1,731</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909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17" name="Rectangle 16"/>
          <p:cNvSpPr/>
          <p:nvPr/>
        </p:nvSpPr>
        <p:spPr>
          <a:xfrm>
            <a:off x="276225" y="36290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714750"/>
            <a:ext cx="1163955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8762089" y="2079785"/>
            <a:ext cx="366712" cy="533400"/>
          </a:xfrm>
          <a:prstGeom prst="rect">
            <a:avLst/>
          </a:prstGeom>
        </p:spPr>
      </p:pic>
      <p:sp>
        <p:nvSpPr>
          <p:cNvPr id="21" name="TextBox 20"/>
          <p:cNvSpPr txBox="1"/>
          <p:nvPr/>
        </p:nvSpPr>
        <p:spPr>
          <a:xfrm>
            <a:off x="276225" y="3724275"/>
            <a:ext cx="9848143" cy="194310"/>
          </a:xfrm>
          <a:prstGeom prst="rect">
            <a:avLst/>
          </a:prstGeom>
          <a:noFill/>
        </p:spPr>
        <p:txBody>
          <a:bodyPr wrap="none" lIns="0" rIns="0" tIns="0" bIns="0">
            <a:spAutoFit/>
          </a:bodyPr>
          <a:lstStyle/>
          <a:p>
            <a:r>
              <a:rPr sz="1150" b="0">
                <a:solidFill>
                  <a:srgbClr val="2E2E2E"/>
                </a:solidFill>
                <a:latin typeface="Calibri"/>
              </a:rPr>
              <a:t>Acrylic partial dentures segment is projected to account for the largest share of the global removable partial dentures market, led by conventional fabrication at US$</a:t>
            </a:r>
          </a:p>
        </p:txBody>
      </p:sp>
      <p:pic>
        <p:nvPicPr>
          <p:cNvPr id="22" name="Picture 21" descr="lock.png"/>
          <p:cNvPicPr>
            <a:picLocks noChangeAspect="1"/>
          </p:cNvPicPr>
          <p:nvPr/>
        </p:nvPicPr>
        <p:blipFill>
          <a:blip r:embed="rId4"/>
          <a:stretch>
            <a:fillRect/>
          </a:stretch>
        </p:blipFill>
        <p:spPr>
          <a:xfrm>
            <a:off x="10073522" y="3714051"/>
            <a:ext cx="134549" cy="195707"/>
          </a:xfrm>
          <a:prstGeom prst="rect">
            <a:avLst/>
          </a:prstGeom>
        </p:spPr>
      </p:pic>
      <p:sp>
        <p:nvSpPr>
          <p:cNvPr id="23" name="TextBox 22"/>
          <p:cNvSpPr txBox="1"/>
          <p:nvPr/>
        </p:nvSpPr>
        <p:spPr>
          <a:xfrm>
            <a:off x="10248631" y="3724275"/>
            <a:ext cx="1490488" cy="194310"/>
          </a:xfrm>
          <a:prstGeom prst="rect">
            <a:avLst/>
          </a:prstGeom>
          <a:noFill/>
        </p:spPr>
        <p:txBody>
          <a:bodyPr wrap="none" lIns="0" rIns="0" tIns="0" bIns="0">
            <a:spAutoFit/>
          </a:bodyPr>
          <a:lstStyle/>
          <a:p>
            <a:r>
              <a:rPr sz="1150" b="0">
                <a:solidFill>
                  <a:srgbClr val="2E2E2E"/>
                </a:solidFill>
                <a:latin typeface="Calibri"/>
              </a:rPr>
              <a:t>Mn in 2036. 'Cast Metal</a:t>
            </a:r>
          </a:p>
        </p:txBody>
      </p:sp>
      <p:sp>
        <p:nvSpPr>
          <p:cNvPr id="24" name="TextBox 23"/>
          <p:cNvSpPr txBox="1"/>
          <p:nvPr/>
        </p:nvSpPr>
        <p:spPr>
          <a:xfrm>
            <a:off x="276225" y="3899535"/>
            <a:ext cx="5088333" cy="194310"/>
          </a:xfrm>
          <a:prstGeom prst="rect">
            <a:avLst/>
          </a:prstGeom>
          <a:noFill/>
        </p:spPr>
        <p:txBody>
          <a:bodyPr wrap="none" lIns="0" rIns="0" tIns="0" bIns="0">
            <a:spAutoFit/>
          </a:bodyPr>
          <a:lstStyle/>
          <a:p>
            <a:r>
              <a:rPr sz="1150" b="0">
                <a:solidFill>
                  <a:srgbClr val="2E2E2E"/>
                </a:solidFill>
                <a:latin typeface="Calibri"/>
              </a:rPr>
              <a:t>Partial Dentures × Conventional Fabrication' is the single largest cross-sectional cell (</a:t>
            </a:r>
          </a:p>
        </p:txBody>
      </p:sp>
      <p:pic>
        <p:nvPicPr>
          <p:cNvPr id="25" name="Picture 24" descr="lock.png"/>
          <p:cNvPicPr>
            <a:picLocks noChangeAspect="1"/>
          </p:cNvPicPr>
          <p:nvPr/>
        </p:nvPicPr>
        <p:blipFill>
          <a:blip r:embed="rId4"/>
          <a:stretch>
            <a:fillRect/>
          </a:stretch>
        </p:blipFill>
        <p:spPr>
          <a:xfrm>
            <a:off x="5313712" y="3889311"/>
            <a:ext cx="134549" cy="195707"/>
          </a:xfrm>
          <a:prstGeom prst="rect">
            <a:avLst/>
          </a:prstGeom>
        </p:spPr>
      </p:pic>
      <p:sp>
        <p:nvSpPr>
          <p:cNvPr id="26" name="TextBox 25"/>
          <p:cNvSpPr txBox="1"/>
          <p:nvPr/>
        </p:nvSpPr>
        <p:spPr>
          <a:xfrm>
            <a:off x="5488822" y="3899535"/>
            <a:ext cx="6389377" cy="194310"/>
          </a:xfrm>
          <a:prstGeom prst="rect">
            <a:avLst/>
          </a:prstGeom>
          <a:noFill/>
        </p:spPr>
        <p:txBody>
          <a:bodyPr wrap="none" lIns="0" rIns="0" tIns="0" bIns="0">
            <a:spAutoFit/>
          </a:bodyPr>
          <a:lstStyle/>
          <a:p>
            <a:r>
              <a:rPr sz="1150" b="0">
                <a:solidFill>
                  <a:srgbClr val="2E2E2E"/>
                </a:solidFill>
                <a:latin typeface="Calibri"/>
              </a:rPr>
              <a:t>US$ Mn, 2026E), while 'Acrylic Partial Dentures × Conventional Fabrication' records the fastest growth at a</a:t>
            </a:r>
          </a:p>
        </p:txBody>
      </p:sp>
      <p:sp>
        <p:nvSpPr>
          <p:cNvPr id="27" name="TextBox 26"/>
          <p:cNvSpPr txBox="1"/>
          <p:nvPr/>
        </p:nvSpPr>
        <p:spPr>
          <a:xfrm>
            <a:off x="276225" y="4074794"/>
            <a:ext cx="2061050" cy="194310"/>
          </a:xfrm>
          <a:prstGeom prst="rect">
            <a:avLst/>
          </a:prstGeom>
          <a:noFill/>
        </p:spPr>
        <p:txBody>
          <a:bodyPr wrap="none" lIns="0" rIns="0" tIns="0" bIns="0">
            <a:spAutoFit/>
          </a:bodyPr>
          <a:lstStyle/>
          <a:p>
            <a:r>
              <a:rPr sz="1150" b="0">
                <a:solidFill>
                  <a:srgbClr val="2E2E2E"/>
                </a:solidFill>
                <a:latin typeface="Calibri"/>
              </a:rPr>
              <a:t>CAGR of 4.4% over 2026E–2036F.</a:t>
            </a:r>
          </a:p>
        </p:txBody>
      </p:sp>
      <p:sp>
        <p:nvSpPr>
          <p:cNvPr id="28" name="TextBox 27"/>
          <p:cNvSpPr txBox="1"/>
          <p:nvPr/>
        </p:nvSpPr>
        <p:spPr>
          <a:xfrm>
            <a:off x="276225" y="4302632"/>
            <a:ext cx="5732214" cy="194310"/>
          </a:xfrm>
          <a:prstGeom prst="rect">
            <a:avLst/>
          </a:prstGeom>
          <a:noFill/>
        </p:spPr>
        <p:txBody>
          <a:bodyPr wrap="none" lIns="0" rIns="0" tIns="0" bIns="0">
            <a:spAutoFit/>
          </a:bodyPr>
          <a:lstStyle/>
          <a:p>
            <a:r>
              <a:rPr sz="1150" b="0">
                <a:solidFill>
                  <a:srgbClr val="2E2E2E"/>
                </a:solidFill>
                <a:latin typeface="Calibri"/>
              </a:rPr>
              <a:t>Combined, the top three product type × technology cells generate an absolute $ opportunity of</a:t>
            </a:r>
          </a:p>
        </p:txBody>
      </p:sp>
      <p:pic>
        <p:nvPicPr>
          <p:cNvPr id="29" name="Picture 28" descr="lock.png"/>
          <p:cNvPicPr>
            <a:picLocks noChangeAspect="1"/>
          </p:cNvPicPr>
          <p:nvPr/>
        </p:nvPicPr>
        <p:blipFill>
          <a:blip r:embed="rId4"/>
          <a:stretch>
            <a:fillRect/>
          </a:stretch>
        </p:blipFill>
        <p:spPr>
          <a:xfrm>
            <a:off x="5957593" y="4292409"/>
            <a:ext cx="134549" cy="195707"/>
          </a:xfrm>
          <a:prstGeom prst="rect">
            <a:avLst/>
          </a:prstGeom>
        </p:spPr>
      </p:pic>
      <p:sp>
        <p:nvSpPr>
          <p:cNvPr id="30" name="TextBox 29"/>
          <p:cNvSpPr txBox="1"/>
          <p:nvPr/>
        </p:nvSpPr>
        <p:spPr>
          <a:xfrm>
            <a:off x="6132702" y="4302632"/>
            <a:ext cx="1155386" cy="194310"/>
          </a:xfrm>
          <a:prstGeom prst="rect">
            <a:avLst/>
          </a:prstGeom>
          <a:noFill/>
        </p:spPr>
        <p:txBody>
          <a:bodyPr wrap="none" lIns="0" rIns="0" tIns="0" bIns="0">
            <a:spAutoFit/>
          </a:bodyPr>
          <a:lstStyle/>
          <a:p>
            <a:r>
              <a:rPr sz="1150" b="0">
                <a:solidFill>
                  <a:srgbClr val="2E2E2E"/>
                </a:solidFill>
                <a:latin typeface="Calibri"/>
              </a:rPr>
              <a:t>US$ Mn by 2036F.</a:t>
            </a:r>
          </a:p>
        </p:txBody>
      </p:sp>
    </p:spTree>
  </p:cSld>
  <p:clrMapOvr>
    <a:masterClrMapping/>
  </p:clrMapOvr>
</p:sld>
</file>

<file path=ppt/slides/slide1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Share Analysis: Product Type × Technology, 2026E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global market value, each row split across all technology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390775"/>
          </a:xfrm>
          <a:prstGeom prst="roundRect">
            <a:avLst>
              <a:gd name="adj" fmla="val 31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Share, Product Type × Technology, 2026E (% of each row)</a:t>
            </a:r>
          </a:p>
        </p:txBody>
      </p:sp>
      <p:graphicFrame>
        <p:nvGraphicFramePr>
          <p:cNvPr id="13" name="Table 12"/>
          <p:cNvGraphicFramePr>
            <a:graphicFrameLocks noGrp="1"/>
          </p:cNvGraphicFramePr>
          <p:nvPr/>
        </p:nvGraphicFramePr>
        <p:xfrm>
          <a:off x="152400" y="1238250"/>
          <a:ext cx="11887200" cy="1924050"/>
        </p:xfrm>
        <a:graphic>
          <a:graphicData uri="http://schemas.openxmlformats.org/drawingml/2006/table">
            <a:tbl>
              <a:tblPr>
                <a:tableStyleId>{5C22544A-7EE6-4342-B048-85BDC9FD1C3A}</a:tableStyleId>
              </a:tblPr>
              <a:tblGrid>
                <a:gridCol w="2604064"/>
                <a:gridCol w="864743"/>
                <a:gridCol w="2115650"/>
                <a:gridCol w="1078705"/>
                <a:gridCol w="1083507"/>
                <a:gridCol w="2109355"/>
                <a:gridCol w="1487370"/>
                <a:gridCol w="543806"/>
              </a:tblGrid>
              <a:tr h="246126">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3">
                  <a:txBody>
                    <a:bodyPr wrap="none"/>
                    <a:lstStyle/>
                    <a:p>
                      <a:pPr algn="ctr"/>
                      <a:r>
                        <a:rPr sz="1100" b="1">
                          <a:solidFill>
                            <a:srgbClr val="0B2E4A"/>
                          </a:solidFill>
                          <a:latin typeface="Calibri"/>
                        </a:rPr>
                        <a:t>Conventional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3">
                  <a:txBody>
                    <a:bodyPr wrap="none"/>
                    <a:lstStyle/>
                    <a:p>
                      <a:pPr algn="ctr"/>
                      <a:r>
                        <a:rPr sz="1100" b="1">
                          <a:solidFill>
                            <a:srgbClr val="0B2E4A"/>
                          </a:solidFill>
                          <a:latin typeface="Calibri"/>
                        </a:rPr>
                        <a:t>Digital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440309">
                <a:tc vMerge="1">
                  <a:txBody>
                    <a:bodyPr wrap="none"/>
                    <a:lstStyle/>
                    <a:p>
                      <a:pPr algn="l"/>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Metal Casting</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Heat-cured / Compression Processing</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Injection Molding</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CAD/CAM Milling</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3D Printing / Additive Manufacturing</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Hybrid Digital Fabrication</a:t>
                      </a:r>
                      <a:endParaRPr sz="1100"/>
                    </a:p>
                  </a:txBody>
                  <a:tcPr marL="47625" marR="38100" marT="19050" marB="19050" anchor="ctr">
                    <a:solidFill>
                      <a:srgbClr val="E0E8EF"/>
                    </a:solidFill>
                  </a:tcPr>
                </a:tc>
                <a:tc>
                  <a:txBody>
                    <a:bodyPr wrap="none"/>
                    <a:lstStyle/>
                    <a:p>
                      <a:pPr algn="ctr"/>
                      <a:endParaRPr sz="1100"/>
                    </a:p>
                  </a:txBody>
                  <a:tcPr marL="47625" marR="38100" marT="19050" marB="19050" anchor="ctr">
                    <a:solidFill>
                      <a:srgbClr val="E0E8EF"/>
                    </a:solidFill>
                  </a:tcPr>
                </a:tc>
              </a:tr>
              <a:tr h="247523">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23">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23">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23">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23">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71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05200"/>
            <a:ext cx="7286625" cy="3124200"/>
          </a:xfrm>
          <a:prstGeom prst="roundRect">
            <a:avLst>
              <a:gd name="adj" fmla="val 24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562350"/>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Technology Mix by Product Type, 2026E (% share)</a:t>
            </a:r>
          </a:p>
        </p:txBody>
      </p:sp>
      <p:graphicFrame>
        <p:nvGraphicFramePr>
          <p:cNvPr id="17" name="Chart 16"/>
          <p:cNvGraphicFramePr>
            <a:graphicFrameLocks noGrp="1"/>
          </p:cNvGraphicFramePr>
          <p:nvPr/>
        </p:nvGraphicFramePr>
        <p:xfrm>
          <a:off x="238125" y="3790950"/>
          <a:ext cx="7096125" cy="2781300"/>
        </p:xfrm>
        <a:graphic>
          <a:graphicData uri="http://schemas.openxmlformats.org/drawingml/2006/chart">
            <c:chart xmlns:c="http://schemas.openxmlformats.org/drawingml/2006/chart" r:id="rId3"/>
          </a:graphicData>
        </a:graphic>
      </p:graphicFrame>
      <p:sp>
        <p:nvSpPr>
          <p:cNvPr id="18" name="Rounded Rectangle 17"/>
          <p:cNvSpPr/>
          <p:nvPr/>
        </p:nvSpPr>
        <p:spPr>
          <a:xfrm>
            <a:off x="7581900" y="3505200"/>
            <a:ext cx="4457700" cy="3124200"/>
          </a:xfrm>
          <a:prstGeom prst="roundRect">
            <a:avLst>
              <a:gd name="adj" fmla="val 24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7715250" y="3590925"/>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20" name="Rectangle 19"/>
          <p:cNvSpPr/>
          <p:nvPr/>
        </p:nvSpPr>
        <p:spPr>
          <a:xfrm>
            <a:off x="7715250" y="3829050"/>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7715250" y="3914775"/>
            <a:ext cx="4191000" cy="2638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5"/>
          <a:stretch>
            <a:fillRect/>
          </a:stretch>
        </p:blipFill>
        <p:spPr>
          <a:xfrm>
            <a:off x="7211341" y="2276792"/>
            <a:ext cx="366712" cy="533400"/>
          </a:xfrm>
          <a:prstGeom prst="rect">
            <a:avLst/>
          </a:prstGeom>
        </p:spPr>
      </p:pic>
      <p:pic>
        <p:nvPicPr>
          <p:cNvPr id="24" name="Picture 23" descr="lock.png"/>
          <p:cNvPicPr>
            <a:picLocks noChangeAspect="1"/>
          </p:cNvPicPr>
          <p:nvPr/>
        </p:nvPicPr>
        <p:blipFill>
          <a:blip r:embed="rId5"/>
          <a:stretch>
            <a:fillRect/>
          </a:stretch>
        </p:blipFill>
        <p:spPr>
          <a:xfrm>
            <a:off x="3747745" y="4372085"/>
            <a:ext cx="365513" cy="531655"/>
          </a:xfrm>
          <a:prstGeom prst="rect">
            <a:avLst/>
          </a:prstGeom>
        </p:spPr>
      </p:pic>
      <p:sp>
        <p:nvSpPr>
          <p:cNvPr id="25" name="TextBox 24"/>
          <p:cNvSpPr txBox="1"/>
          <p:nvPr/>
        </p:nvSpPr>
        <p:spPr>
          <a:xfrm>
            <a:off x="7715250" y="3924300"/>
            <a:ext cx="4003513" cy="194310"/>
          </a:xfrm>
          <a:prstGeom prst="rect">
            <a:avLst/>
          </a:prstGeom>
          <a:noFill/>
        </p:spPr>
        <p:txBody>
          <a:bodyPr wrap="none" lIns="0" rIns="0" tIns="0" bIns="0">
            <a:spAutoFit/>
          </a:bodyPr>
          <a:lstStyle/>
          <a:p>
            <a:r>
              <a:rPr sz="1150" b="0">
                <a:solidFill>
                  <a:srgbClr val="2E2E2E"/>
                </a:solidFill>
                <a:latin typeface="Calibri"/>
              </a:rPr>
              <a:t>▪ 'Hybrid Digital Fabrication' holds the highest share of 'Cast Metal</a:t>
            </a:r>
          </a:p>
        </p:txBody>
      </p:sp>
      <p:sp>
        <p:nvSpPr>
          <p:cNvPr id="26" name="TextBox 25"/>
          <p:cNvSpPr txBox="1"/>
          <p:nvPr/>
        </p:nvSpPr>
        <p:spPr>
          <a:xfrm>
            <a:off x="7715250" y="4099560"/>
            <a:ext cx="1222350" cy="194310"/>
          </a:xfrm>
          <a:prstGeom prst="rect">
            <a:avLst/>
          </a:prstGeom>
          <a:noFill/>
        </p:spPr>
        <p:txBody>
          <a:bodyPr wrap="none" lIns="0" rIns="0" tIns="0" bIns="0">
            <a:spAutoFit/>
          </a:bodyPr>
          <a:lstStyle/>
          <a:p>
            <a:r>
              <a:rPr sz="1150" b="0">
                <a:solidFill>
                  <a:srgbClr val="2E2E2E"/>
                </a:solidFill>
                <a:latin typeface="Calibri"/>
              </a:rPr>
              <a:t>Partial Dentures' at</a:t>
            </a:r>
          </a:p>
        </p:txBody>
      </p:sp>
      <p:pic>
        <p:nvPicPr>
          <p:cNvPr id="27" name="Picture 26" descr="lock.png"/>
          <p:cNvPicPr>
            <a:picLocks noChangeAspect="1"/>
          </p:cNvPicPr>
          <p:nvPr/>
        </p:nvPicPr>
        <p:blipFill>
          <a:blip r:embed="rId5"/>
          <a:stretch>
            <a:fillRect/>
          </a:stretch>
        </p:blipFill>
        <p:spPr>
          <a:xfrm>
            <a:off x="8886754" y="4089336"/>
            <a:ext cx="134549" cy="195707"/>
          </a:xfrm>
          <a:prstGeom prst="rect">
            <a:avLst/>
          </a:prstGeom>
        </p:spPr>
      </p:pic>
      <p:sp>
        <p:nvSpPr>
          <p:cNvPr id="28" name="TextBox 27"/>
          <p:cNvSpPr txBox="1"/>
          <p:nvPr/>
        </p:nvSpPr>
        <p:spPr>
          <a:xfrm>
            <a:off x="9061863" y="4099560"/>
            <a:ext cx="569404" cy="194310"/>
          </a:xfrm>
          <a:prstGeom prst="rect">
            <a:avLst/>
          </a:prstGeom>
          <a:noFill/>
        </p:spPr>
        <p:txBody>
          <a:bodyPr wrap="none" lIns="0" rIns="0" tIns="0" bIns="0">
            <a:spAutoFit/>
          </a:bodyPr>
          <a:lstStyle/>
          <a:p>
            <a:r>
              <a:rPr sz="1150" b="0">
                <a:solidFill>
                  <a:srgbClr val="2E2E2E"/>
                </a:solidFill>
                <a:latin typeface="Calibri"/>
              </a:rPr>
              <a:t>(2026E).</a:t>
            </a:r>
          </a:p>
        </p:txBody>
      </p:sp>
      <p:sp>
        <p:nvSpPr>
          <p:cNvPr id="29" name="TextBox 28"/>
          <p:cNvSpPr txBox="1"/>
          <p:nvPr/>
        </p:nvSpPr>
        <p:spPr>
          <a:xfrm>
            <a:off x="7715250" y="4327397"/>
            <a:ext cx="4171950" cy="194310"/>
          </a:xfrm>
          <a:prstGeom prst="rect">
            <a:avLst/>
          </a:prstGeom>
          <a:noFill/>
        </p:spPr>
        <p:txBody>
          <a:bodyPr wrap="none" lIns="0" rIns="0" tIns="0" bIns="0">
            <a:spAutoFit/>
          </a:bodyPr>
          <a:lstStyle/>
          <a:p>
            <a:r>
              <a:rPr sz="1150" b="0">
                <a:solidFill>
                  <a:srgbClr val="2E2E2E"/>
                </a:solidFill>
                <a:latin typeface="Calibri"/>
              </a:rPr>
              <a:t>▪ 'Cast Metal Partial Dentures' is the most concentrated product type</a:t>
            </a:r>
          </a:p>
        </p:txBody>
      </p:sp>
      <p:sp>
        <p:nvSpPr>
          <p:cNvPr id="30" name="TextBox 29"/>
          <p:cNvSpPr txBox="1"/>
          <p:nvPr/>
        </p:nvSpPr>
        <p:spPr>
          <a:xfrm>
            <a:off x="7715250" y="4502657"/>
            <a:ext cx="1178706" cy="194310"/>
          </a:xfrm>
          <a:prstGeom prst="rect">
            <a:avLst/>
          </a:prstGeom>
          <a:noFill/>
        </p:spPr>
        <p:txBody>
          <a:bodyPr wrap="none" lIns="0" rIns="0" tIns="0" bIns="0">
            <a:spAutoFit/>
          </a:bodyPr>
          <a:lstStyle/>
          <a:p>
            <a:r>
              <a:rPr sz="1150" b="0">
                <a:solidFill>
                  <a:srgbClr val="2E2E2E"/>
                </a:solidFill>
                <a:latin typeface="Calibri"/>
              </a:rPr>
              <a:t>sub-segment, with</a:t>
            </a:r>
          </a:p>
        </p:txBody>
      </p:sp>
      <p:pic>
        <p:nvPicPr>
          <p:cNvPr id="31" name="Picture 30" descr="lock.png"/>
          <p:cNvPicPr>
            <a:picLocks noChangeAspect="1"/>
          </p:cNvPicPr>
          <p:nvPr/>
        </p:nvPicPr>
        <p:blipFill>
          <a:blip r:embed="rId5"/>
          <a:stretch>
            <a:fillRect/>
          </a:stretch>
        </p:blipFill>
        <p:spPr>
          <a:xfrm>
            <a:off x="8843110" y="4492434"/>
            <a:ext cx="134549" cy="195707"/>
          </a:xfrm>
          <a:prstGeom prst="rect">
            <a:avLst/>
          </a:prstGeom>
        </p:spPr>
      </p:pic>
      <p:sp>
        <p:nvSpPr>
          <p:cNvPr id="32" name="TextBox 31"/>
          <p:cNvSpPr txBox="1"/>
          <p:nvPr/>
        </p:nvSpPr>
        <p:spPr>
          <a:xfrm>
            <a:off x="9018219" y="4502657"/>
            <a:ext cx="2566118" cy="194310"/>
          </a:xfrm>
          <a:prstGeom prst="rect">
            <a:avLst/>
          </a:prstGeom>
          <a:noFill/>
        </p:spPr>
        <p:txBody>
          <a:bodyPr wrap="none" lIns="0" rIns="0" tIns="0" bIns="0">
            <a:spAutoFit/>
          </a:bodyPr>
          <a:lstStyle/>
          <a:p>
            <a:r>
              <a:rPr sz="1150" b="0">
                <a:solidFill>
                  <a:srgbClr val="2E2E2E"/>
                </a:solidFill>
                <a:latin typeface="Calibri"/>
              </a:rPr>
              <a:t>of its value via 'Hybrid Digital Fabrication'.</a:t>
            </a:r>
          </a:p>
        </p:txBody>
      </p:sp>
      <p:sp>
        <p:nvSpPr>
          <p:cNvPr id="33" name="TextBox 32"/>
          <p:cNvSpPr txBox="1"/>
          <p:nvPr/>
        </p:nvSpPr>
        <p:spPr>
          <a:xfrm>
            <a:off x="7715250" y="4730495"/>
            <a:ext cx="1486780" cy="194310"/>
          </a:xfrm>
          <a:prstGeom prst="rect">
            <a:avLst/>
          </a:prstGeom>
          <a:noFill/>
        </p:spPr>
        <p:txBody>
          <a:bodyPr wrap="none" lIns="0" rIns="0" tIns="0" bIns="0">
            <a:spAutoFit/>
          </a:bodyPr>
          <a:lstStyle/>
          <a:p>
            <a:r>
              <a:rPr sz="1150" b="0">
                <a:solidFill>
                  <a:srgbClr val="2E2E2E"/>
                </a:solidFill>
                <a:latin typeface="Calibri"/>
              </a:rPr>
              <a:t>▪ 'Metal Casting' gains +</a:t>
            </a:r>
          </a:p>
        </p:txBody>
      </p:sp>
      <p:pic>
        <p:nvPicPr>
          <p:cNvPr id="34" name="Picture 33" descr="lock.png"/>
          <p:cNvPicPr>
            <a:picLocks noChangeAspect="1"/>
          </p:cNvPicPr>
          <p:nvPr/>
        </p:nvPicPr>
        <p:blipFill>
          <a:blip r:embed="rId5"/>
          <a:stretch>
            <a:fillRect/>
          </a:stretch>
        </p:blipFill>
        <p:spPr>
          <a:xfrm>
            <a:off x="9151184" y="4720272"/>
            <a:ext cx="134549" cy="195707"/>
          </a:xfrm>
          <a:prstGeom prst="rect">
            <a:avLst/>
          </a:prstGeom>
        </p:spPr>
      </p:pic>
      <p:sp>
        <p:nvSpPr>
          <p:cNvPr id="35" name="TextBox 34"/>
          <p:cNvSpPr txBox="1"/>
          <p:nvPr/>
        </p:nvSpPr>
        <p:spPr>
          <a:xfrm>
            <a:off x="9326293" y="4730495"/>
            <a:ext cx="2426121" cy="194310"/>
          </a:xfrm>
          <a:prstGeom prst="rect">
            <a:avLst/>
          </a:prstGeom>
          <a:noFill/>
        </p:spPr>
        <p:txBody>
          <a:bodyPr wrap="none" lIns="0" rIns="0" tIns="0" bIns="0">
            <a:spAutoFit/>
          </a:bodyPr>
          <a:lstStyle/>
          <a:p>
            <a:r>
              <a:rPr sz="1150" b="0">
                <a:solidFill>
                  <a:srgbClr val="2E2E2E"/>
                </a:solidFill>
                <a:latin typeface="Calibri"/>
              </a:rPr>
              <a:t>BPS of share of the Global cross-section</a:t>
            </a:r>
          </a:p>
        </p:txBody>
      </p:sp>
      <p:sp>
        <p:nvSpPr>
          <p:cNvPr id="36" name="TextBox 35"/>
          <p:cNvSpPr txBox="1"/>
          <p:nvPr/>
        </p:nvSpPr>
        <p:spPr>
          <a:xfrm>
            <a:off x="7715250" y="4905755"/>
            <a:ext cx="652484" cy="194310"/>
          </a:xfrm>
          <a:prstGeom prst="rect">
            <a:avLst/>
          </a:prstGeom>
          <a:noFill/>
        </p:spPr>
        <p:txBody>
          <a:bodyPr wrap="none" lIns="0" rIns="0" tIns="0" bIns="0">
            <a:spAutoFit/>
          </a:bodyPr>
          <a:lstStyle/>
          <a:p>
            <a:r>
              <a:rPr sz="1150" b="0">
                <a:solidFill>
                  <a:srgbClr val="2E2E2E"/>
                </a:solidFill>
                <a:latin typeface="Calibri"/>
              </a:rPr>
              <a:t>by 2036F.</a:t>
            </a:r>
          </a:p>
        </p:txBody>
      </p:sp>
      <p:sp>
        <p:nvSpPr>
          <p:cNvPr id="37" name="lockshield_17"/>
          <p:cNvSpPr/>
          <p:nvPr/>
        </p:nvSpPr>
        <p:spPr>
          <a:xfrm>
            <a:off x="238125" y="3790950"/>
            <a:ext cx="7096125" cy="27813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&amp; Attractiveness: Product Type × Technology, 2026E–2036F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Product Type × Technology, 2026E–2036F</a:t>
            </a:r>
          </a:p>
        </p:txBody>
      </p:sp>
      <p:graphicFrame>
        <p:nvGraphicFramePr>
          <p:cNvPr id="13" name="Table 12"/>
          <p:cNvGraphicFramePr>
            <a:graphicFrameLocks noGrp="1"/>
          </p:cNvGraphicFramePr>
          <p:nvPr/>
        </p:nvGraphicFramePr>
        <p:xfrm>
          <a:off x="152400" y="1238250"/>
          <a:ext cx="11887198" cy="1724028"/>
        </p:xfrm>
        <a:graphic>
          <a:graphicData uri="http://schemas.openxmlformats.org/drawingml/2006/table">
            <a:tbl>
              <a:tblPr>
                <a:tableStyleId>{5C22544A-7EE6-4342-B048-85BDC9FD1C3A}</a:tableStyleId>
              </a:tblPr>
              <a:tblGrid>
                <a:gridCol w="5084896"/>
                <a:gridCol w="1133717"/>
                <a:gridCol w="1133717"/>
                <a:gridCol w="1133717"/>
                <a:gridCol w="1133717"/>
                <a:gridCol w="1133717"/>
                <a:gridCol w="1133717"/>
              </a:tblGrid>
              <a:tr h="246126">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Conventional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Digital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6317">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46317">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4.4%</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4.4%</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4.4%</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560070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90900"/>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7" name="Rectangle 16"/>
          <p:cNvSpPr/>
          <p:nvPr/>
        </p:nvSpPr>
        <p:spPr>
          <a:xfrm>
            <a:off x="276225" y="3629025"/>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714750"/>
            <a:ext cx="533400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Rounded Rectangle 18"/>
          <p:cNvSpPr/>
          <p:nvPr/>
        </p:nvSpPr>
        <p:spPr>
          <a:xfrm>
            <a:off x="5895975" y="3305175"/>
            <a:ext cx="1943100" cy="33242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029325" y="3390900"/>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21" name="Rectangle 20"/>
          <p:cNvSpPr/>
          <p:nvPr/>
        </p:nvSpPr>
        <p:spPr>
          <a:xfrm>
            <a:off x="6029325" y="36290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029325" y="3714750"/>
            <a:ext cx="167640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3" name="Rounded Rectangle 22"/>
          <p:cNvSpPr/>
          <p:nvPr/>
        </p:nvSpPr>
        <p:spPr>
          <a:xfrm>
            <a:off x="7991475" y="3305175"/>
            <a:ext cx="1943100" cy="33242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124825" y="3390900"/>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5" name="Rectangle 24"/>
          <p:cNvSpPr/>
          <p:nvPr/>
        </p:nvSpPr>
        <p:spPr>
          <a:xfrm>
            <a:off x="8124825" y="36290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124825" y="3714750"/>
            <a:ext cx="167640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7" name="Rounded Rectangle 26"/>
          <p:cNvSpPr/>
          <p:nvPr/>
        </p:nvSpPr>
        <p:spPr>
          <a:xfrm>
            <a:off x="10086975" y="3305175"/>
            <a:ext cx="1943100" cy="33242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220325" y="3390900"/>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9" name="Rectangle 28"/>
          <p:cNvSpPr/>
          <p:nvPr/>
        </p:nvSpPr>
        <p:spPr>
          <a:xfrm>
            <a:off x="10220325" y="36290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10220325" y="3714750"/>
            <a:ext cx="167640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'Acrylic Partial Dentures × Conventional Fabrication' ranks highest (5/5); 'Cast Metal Partial Dentures × Digital Fabrication' lowest (1/5), a deprioritised cell.</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4"/>
          <a:stretch>
            <a:fillRect/>
          </a:stretch>
        </p:blipFill>
        <p:spPr>
          <a:xfrm>
            <a:off x="8451757" y="2079785"/>
            <a:ext cx="366712" cy="533400"/>
          </a:xfrm>
          <a:prstGeom prst="rect">
            <a:avLst/>
          </a:prstGeom>
        </p:spPr>
      </p:pic>
      <p:sp>
        <p:nvSpPr>
          <p:cNvPr id="33" name="TextBox 32"/>
          <p:cNvSpPr txBox="1"/>
          <p:nvPr/>
        </p:nvSpPr>
        <p:spPr>
          <a:xfrm>
            <a:off x="276225" y="3724275"/>
            <a:ext cx="3424162" cy="194310"/>
          </a:xfrm>
          <a:prstGeom prst="rect">
            <a:avLst/>
          </a:prstGeom>
          <a:noFill/>
        </p:spPr>
        <p:txBody>
          <a:bodyPr wrap="none" lIns="0" rIns="0" tIns="0" bIns="0">
            <a:spAutoFit/>
          </a:bodyPr>
          <a:lstStyle/>
          <a:p>
            <a:r>
              <a:rPr sz="1150" b="0">
                <a:solidFill>
                  <a:srgbClr val="2E2E2E"/>
                </a:solidFill>
                <a:latin typeface="Calibri"/>
              </a:rPr>
              <a:t>▪ 1. Acrylic Partial Dentures × Conventional Fabrication –</a:t>
            </a:r>
          </a:p>
        </p:txBody>
      </p:sp>
      <p:pic>
        <p:nvPicPr>
          <p:cNvPr id="34" name="Picture 33" descr="lock.png"/>
          <p:cNvPicPr>
            <a:picLocks noChangeAspect="1"/>
          </p:cNvPicPr>
          <p:nvPr/>
        </p:nvPicPr>
        <p:blipFill>
          <a:blip r:embed="rId4"/>
          <a:stretch>
            <a:fillRect/>
          </a:stretch>
        </p:blipFill>
        <p:spPr>
          <a:xfrm>
            <a:off x="3649541" y="3714051"/>
            <a:ext cx="134549" cy="195707"/>
          </a:xfrm>
          <a:prstGeom prst="rect">
            <a:avLst/>
          </a:prstGeom>
        </p:spPr>
      </p:pic>
      <p:sp>
        <p:nvSpPr>
          <p:cNvPr id="35" name="TextBox 34"/>
          <p:cNvSpPr txBox="1"/>
          <p:nvPr/>
        </p:nvSpPr>
        <p:spPr>
          <a:xfrm>
            <a:off x="3824650" y="3724275"/>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6" name="Picture 35" descr="lock.png"/>
          <p:cNvPicPr>
            <a:picLocks noChangeAspect="1"/>
          </p:cNvPicPr>
          <p:nvPr/>
        </p:nvPicPr>
        <p:blipFill>
          <a:blip r:embed="rId4"/>
          <a:stretch>
            <a:fillRect/>
          </a:stretch>
        </p:blipFill>
        <p:spPr>
          <a:xfrm>
            <a:off x="3886802" y="3714051"/>
            <a:ext cx="134549" cy="195707"/>
          </a:xfrm>
          <a:prstGeom prst="rect">
            <a:avLst/>
          </a:prstGeom>
        </p:spPr>
      </p:pic>
      <p:sp>
        <p:nvSpPr>
          <p:cNvPr id="37" name="TextBox 36"/>
          <p:cNvSpPr txBox="1"/>
          <p:nvPr/>
        </p:nvSpPr>
        <p:spPr>
          <a:xfrm>
            <a:off x="4061911" y="3724275"/>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38" name="TextBox 37"/>
          <p:cNvSpPr txBox="1"/>
          <p:nvPr/>
        </p:nvSpPr>
        <p:spPr>
          <a:xfrm>
            <a:off x="276225" y="3952112"/>
            <a:ext cx="3484921" cy="194310"/>
          </a:xfrm>
          <a:prstGeom prst="rect">
            <a:avLst/>
          </a:prstGeom>
          <a:noFill/>
        </p:spPr>
        <p:txBody>
          <a:bodyPr wrap="none" lIns="0" rIns="0" tIns="0" bIns="0">
            <a:spAutoFit/>
          </a:bodyPr>
          <a:lstStyle/>
          <a:p>
            <a:r>
              <a:rPr sz="1150" b="0">
                <a:solidFill>
                  <a:srgbClr val="2E2E2E"/>
                </a:solidFill>
                <a:latin typeface="Calibri"/>
              </a:rPr>
              <a:t>▪ 2. Flexible Partial Dentures × Conventional Fabrication –</a:t>
            </a:r>
          </a:p>
        </p:txBody>
      </p:sp>
      <p:pic>
        <p:nvPicPr>
          <p:cNvPr id="39" name="Picture 38" descr="lock.png"/>
          <p:cNvPicPr>
            <a:picLocks noChangeAspect="1"/>
          </p:cNvPicPr>
          <p:nvPr/>
        </p:nvPicPr>
        <p:blipFill>
          <a:blip r:embed="rId4"/>
          <a:stretch>
            <a:fillRect/>
          </a:stretch>
        </p:blipFill>
        <p:spPr>
          <a:xfrm>
            <a:off x="3710300" y="3941889"/>
            <a:ext cx="134549" cy="195707"/>
          </a:xfrm>
          <a:prstGeom prst="rect">
            <a:avLst/>
          </a:prstGeom>
        </p:spPr>
      </p:pic>
      <p:sp>
        <p:nvSpPr>
          <p:cNvPr id="40" name="TextBox 39"/>
          <p:cNvSpPr txBox="1"/>
          <p:nvPr/>
        </p:nvSpPr>
        <p:spPr>
          <a:xfrm>
            <a:off x="3885409" y="3952112"/>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1" name="Picture 40" descr="lock.png"/>
          <p:cNvPicPr>
            <a:picLocks noChangeAspect="1"/>
          </p:cNvPicPr>
          <p:nvPr/>
        </p:nvPicPr>
        <p:blipFill>
          <a:blip r:embed="rId4"/>
          <a:stretch>
            <a:fillRect/>
          </a:stretch>
        </p:blipFill>
        <p:spPr>
          <a:xfrm>
            <a:off x="3947561" y="3941889"/>
            <a:ext cx="134549" cy="195707"/>
          </a:xfrm>
          <a:prstGeom prst="rect">
            <a:avLst/>
          </a:prstGeom>
        </p:spPr>
      </p:pic>
      <p:sp>
        <p:nvSpPr>
          <p:cNvPr id="42" name="TextBox 41"/>
          <p:cNvSpPr txBox="1"/>
          <p:nvPr/>
        </p:nvSpPr>
        <p:spPr>
          <a:xfrm>
            <a:off x="4122670" y="3952112"/>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3" name="TextBox 42"/>
          <p:cNvSpPr txBox="1"/>
          <p:nvPr/>
        </p:nvSpPr>
        <p:spPr>
          <a:xfrm>
            <a:off x="276225" y="4179950"/>
            <a:ext cx="4505845" cy="194310"/>
          </a:xfrm>
          <a:prstGeom prst="rect">
            <a:avLst/>
          </a:prstGeom>
          <a:noFill/>
        </p:spPr>
        <p:txBody>
          <a:bodyPr wrap="none" lIns="0" rIns="0" tIns="0" bIns="0">
            <a:spAutoFit/>
          </a:bodyPr>
          <a:lstStyle/>
          <a:p>
            <a:r>
              <a:rPr sz="1150" b="0">
                <a:solidFill>
                  <a:srgbClr val="2E2E2E"/>
                </a:solidFill>
                <a:latin typeface="Calibri"/>
              </a:rPr>
              <a:t>▪ 3. Combination Framework Partial Dentures × Conventional Fabrication –</a:t>
            </a:r>
          </a:p>
        </p:txBody>
      </p:sp>
      <p:pic>
        <p:nvPicPr>
          <p:cNvPr id="44" name="Picture 43" descr="lock.png"/>
          <p:cNvPicPr>
            <a:picLocks noChangeAspect="1"/>
          </p:cNvPicPr>
          <p:nvPr/>
        </p:nvPicPr>
        <p:blipFill>
          <a:blip r:embed="rId4"/>
          <a:stretch>
            <a:fillRect/>
          </a:stretch>
        </p:blipFill>
        <p:spPr>
          <a:xfrm>
            <a:off x="4731224" y="4169727"/>
            <a:ext cx="134549" cy="195707"/>
          </a:xfrm>
          <a:prstGeom prst="rect">
            <a:avLst/>
          </a:prstGeom>
        </p:spPr>
      </p:pic>
      <p:sp>
        <p:nvSpPr>
          <p:cNvPr id="45" name="TextBox 44"/>
          <p:cNvSpPr txBox="1"/>
          <p:nvPr/>
        </p:nvSpPr>
        <p:spPr>
          <a:xfrm>
            <a:off x="4906333" y="4179950"/>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6" name="Picture 45" descr="lock.png"/>
          <p:cNvPicPr>
            <a:picLocks noChangeAspect="1"/>
          </p:cNvPicPr>
          <p:nvPr/>
        </p:nvPicPr>
        <p:blipFill>
          <a:blip r:embed="rId4"/>
          <a:stretch>
            <a:fillRect/>
          </a:stretch>
        </p:blipFill>
        <p:spPr>
          <a:xfrm>
            <a:off x="4968485" y="4169727"/>
            <a:ext cx="134549" cy="195707"/>
          </a:xfrm>
          <a:prstGeom prst="rect">
            <a:avLst/>
          </a:prstGeom>
        </p:spPr>
      </p:pic>
      <p:sp>
        <p:nvSpPr>
          <p:cNvPr id="47" name="TextBox 46"/>
          <p:cNvSpPr txBox="1"/>
          <p:nvPr/>
        </p:nvSpPr>
        <p:spPr>
          <a:xfrm>
            <a:off x="5143594" y="4179950"/>
            <a:ext cx="112997" cy="194310"/>
          </a:xfrm>
          <a:prstGeom prst="rect">
            <a:avLst/>
          </a:prstGeom>
          <a:noFill/>
        </p:spPr>
        <p:txBody>
          <a:bodyPr wrap="none" lIns="0" rIns="0" tIns="0" bIns="0">
            <a:spAutoFit/>
          </a:bodyPr>
          <a:lstStyle/>
          <a:p>
            <a:r>
              <a:rPr sz="1150" b="0">
                <a:solidFill>
                  <a:srgbClr val="2E2E2E"/>
                </a:solidFill>
                <a:latin typeface="Calibri"/>
              </a:rPr>
              <a:t>·</a:t>
            </a:r>
          </a:p>
        </p:txBody>
      </p:sp>
      <p:sp>
        <p:nvSpPr>
          <p:cNvPr id="48" name="TextBox 47"/>
          <p:cNvSpPr txBox="1"/>
          <p:nvPr/>
        </p:nvSpPr>
        <p:spPr>
          <a:xfrm>
            <a:off x="276225" y="4355210"/>
            <a:ext cx="281012" cy="194310"/>
          </a:xfrm>
          <a:prstGeom prst="rect">
            <a:avLst/>
          </a:prstGeom>
          <a:noFill/>
        </p:spPr>
        <p:txBody>
          <a:bodyPr wrap="none" lIns="0" rIns="0" tIns="0" bIns="0">
            <a:spAutoFit/>
          </a:bodyPr>
          <a:lstStyle/>
          <a:p>
            <a:r>
              <a:rPr sz="1150" b="0">
                <a:solidFill>
                  <a:srgbClr val="2E2E2E"/>
                </a:solidFill>
                <a:latin typeface="Calibri"/>
              </a:rPr>
              <a:t>5/5</a:t>
            </a:r>
          </a:p>
        </p:txBody>
      </p:sp>
      <p:sp>
        <p:nvSpPr>
          <p:cNvPr id="49" name="TextBox 48"/>
          <p:cNvSpPr txBox="1"/>
          <p:nvPr/>
        </p:nvSpPr>
        <p:spPr>
          <a:xfrm>
            <a:off x="276225" y="4583048"/>
            <a:ext cx="3668625" cy="194310"/>
          </a:xfrm>
          <a:prstGeom prst="rect">
            <a:avLst/>
          </a:prstGeom>
          <a:noFill/>
        </p:spPr>
        <p:txBody>
          <a:bodyPr wrap="none" lIns="0" rIns="0" tIns="0" bIns="0">
            <a:spAutoFit/>
          </a:bodyPr>
          <a:lstStyle/>
          <a:p>
            <a:r>
              <a:rPr sz="1150" b="0">
                <a:solidFill>
                  <a:srgbClr val="2E2E2E"/>
                </a:solidFill>
                <a:latin typeface="Calibri"/>
              </a:rPr>
              <a:t>▪ 4. Cast Metal Partial Dentures × Conventional Fabrication –</a:t>
            </a:r>
          </a:p>
        </p:txBody>
      </p:sp>
      <p:pic>
        <p:nvPicPr>
          <p:cNvPr id="50" name="Picture 49" descr="lock.png"/>
          <p:cNvPicPr>
            <a:picLocks noChangeAspect="1"/>
          </p:cNvPicPr>
          <p:nvPr/>
        </p:nvPicPr>
        <p:blipFill>
          <a:blip r:embed="rId4"/>
          <a:stretch>
            <a:fillRect/>
          </a:stretch>
        </p:blipFill>
        <p:spPr>
          <a:xfrm>
            <a:off x="3894004" y="4572825"/>
            <a:ext cx="134549" cy="195707"/>
          </a:xfrm>
          <a:prstGeom prst="rect">
            <a:avLst/>
          </a:prstGeom>
        </p:spPr>
      </p:pic>
      <p:sp>
        <p:nvSpPr>
          <p:cNvPr id="51" name="TextBox 50"/>
          <p:cNvSpPr txBox="1"/>
          <p:nvPr/>
        </p:nvSpPr>
        <p:spPr>
          <a:xfrm>
            <a:off x="4069113" y="4583048"/>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2" name="Picture 51" descr="lock.png"/>
          <p:cNvPicPr>
            <a:picLocks noChangeAspect="1"/>
          </p:cNvPicPr>
          <p:nvPr/>
        </p:nvPicPr>
        <p:blipFill>
          <a:blip r:embed="rId4"/>
          <a:stretch>
            <a:fillRect/>
          </a:stretch>
        </p:blipFill>
        <p:spPr>
          <a:xfrm>
            <a:off x="4131265" y="4572825"/>
            <a:ext cx="134549" cy="195707"/>
          </a:xfrm>
          <a:prstGeom prst="rect">
            <a:avLst/>
          </a:prstGeom>
        </p:spPr>
      </p:pic>
      <p:sp>
        <p:nvSpPr>
          <p:cNvPr id="53" name="TextBox 52"/>
          <p:cNvSpPr txBox="1"/>
          <p:nvPr/>
        </p:nvSpPr>
        <p:spPr>
          <a:xfrm>
            <a:off x="4306374" y="4583048"/>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54" name="TextBox 53"/>
          <p:cNvSpPr txBox="1"/>
          <p:nvPr/>
        </p:nvSpPr>
        <p:spPr>
          <a:xfrm>
            <a:off x="276225" y="4810886"/>
            <a:ext cx="3076438" cy="194310"/>
          </a:xfrm>
          <a:prstGeom prst="rect">
            <a:avLst/>
          </a:prstGeom>
          <a:noFill/>
        </p:spPr>
        <p:txBody>
          <a:bodyPr wrap="none" lIns="0" rIns="0" tIns="0" bIns="0">
            <a:spAutoFit/>
          </a:bodyPr>
          <a:lstStyle/>
          <a:p>
            <a:r>
              <a:rPr sz="1150" b="0">
                <a:solidFill>
                  <a:srgbClr val="2E2E2E"/>
                </a:solidFill>
                <a:latin typeface="Calibri"/>
              </a:rPr>
              <a:t>▪ 5. Flexible Partial Dentures × Digital Fabrication –</a:t>
            </a:r>
          </a:p>
        </p:txBody>
      </p:sp>
      <p:pic>
        <p:nvPicPr>
          <p:cNvPr id="55" name="Picture 54" descr="lock.png"/>
          <p:cNvPicPr>
            <a:picLocks noChangeAspect="1"/>
          </p:cNvPicPr>
          <p:nvPr/>
        </p:nvPicPr>
        <p:blipFill>
          <a:blip r:embed="rId4"/>
          <a:stretch>
            <a:fillRect/>
          </a:stretch>
        </p:blipFill>
        <p:spPr>
          <a:xfrm>
            <a:off x="3301817" y="4800663"/>
            <a:ext cx="134549" cy="195707"/>
          </a:xfrm>
          <a:prstGeom prst="rect">
            <a:avLst/>
          </a:prstGeom>
        </p:spPr>
      </p:pic>
      <p:sp>
        <p:nvSpPr>
          <p:cNvPr id="56" name="TextBox 55"/>
          <p:cNvSpPr txBox="1"/>
          <p:nvPr/>
        </p:nvSpPr>
        <p:spPr>
          <a:xfrm>
            <a:off x="3476926" y="4810886"/>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7" name="Picture 56" descr="lock.png"/>
          <p:cNvPicPr>
            <a:picLocks noChangeAspect="1"/>
          </p:cNvPicPr>
          <p:nvPr/>
        </p:nvPicPr>
        <p:blipFill>
          <a:blip r:embed="rId4"/>
          <a:stretch>
            <a:fillRect/>
          </a:stretch>
        </p:blipFill>
        <p:spPr>
          <a:xfrm>
            <a:off x="3539078" y="4800663"/>
            <a:ext cx="134549" cy="195707"/>
          </a:xfrm>
          <a:prstGeom prst="rect">
            <a:avLst/>
          </a:prstGeom>
        </p:spPr>
      </p:pic>
      <p:sp>
        <p:nvSpPr>
          <p:cNvPr id="58" name="TextBox 57"/>
          <p:cNvSpPr txBox="1"/>
          <p:nvPr/>
        </p:nvSpPr>
        <p:spPr>
          <a:xfrm>
            <a:off x="3714187" y="4810886"/>
            <a:ext cx="350899" cy="194310"/>
          </a:xfrm>
          <a:prstGeom prst="rect">
            <a:avLst/>
          </a:prstGeom>
          <a:noFill/>
        </p:spPr>
        <p:txBody>
          <a:bodyPr wrap="none" lIns="0" rIns="0" tIns="0" bIns="0">
            <a:spAutoFit/>
          </a:bodyPr>
          <a:lstStyle/>
          <a:p>
            <a:r>
              <a:rPr sz="1150" b="0">
                <a:solidFill>
                  <a:srgbClr val="2E2E2E"/>
                </a:solidFill>
                <a:latin typeface="Calibri"/>
              </a:rPr>
              <a:t>· 2/5</a:t>
            </a:r>
          </a:p>
        </p:txBody>
      </p:sp>
      <p:sp>
        <p:nvSpPr>
          <p:cNvPr id="59" name="TextBox 58"/>
          <p:cNvSpPr txBox="1"/>
          <p:nvPr/>
        </p:nvSpPr>
        <p:spPr>
          <a:xfrm>
            <a:off x="6029325" y="3724275"/>
            <a:ext cx="1657350" cy="194310"/>
          </a:xfrm>
          <a:prstGeom prst="rect">
            <a:avLst/>
          </a:prstGeom>
          <a:noFill/>
        </p:spPr>
        <p:txBody>
          <a:bodyPr wrap="none" lIns="0" rIns="0" tIns="0" bIns="0">
            <a:spAutoFit/>
          </a:bodyPr>
          <a:lstStyle/>
          <a:p>
            <a:r>
              <a:rPr sz="1150" b="0">
                <a:solidFill>
                  <a:srgbClr val="2E2E2E"/>
                </a:solidFill>
                <a:latin typeface="Calibri"/>
              </a:rPr>
              <a:t>▪ 'Acrylic Partial Dentures ×</a:t>
            </a:r>
          </a:p>
        </p:txBody>
      </p:sp>
      <p:sp>
        <p:nvSpPr>
          <p:cNvPr id="60" name="TextBox 59"/>
          <p:cNvSpPr txBox="1"/>
          <p:nvPr/>
        </p:nvSpPr>
        <p:spPr>
          <a:xfrm>
            <a:off x="6029325" y="3899535"/>
            <a:ext cx="1595114" cy="194310"/>
          </a:xfrm>
          <a:prstGeom prst="rect">
            <a:avLst/>
          </a:prstGeom>
          <a:noFill/>
        </p:spPr>
        <p:txBody>
          <a:bodyPr wrap="none" lIns="0" rIns="0" tIns="0" bIns="0">
            <a:spAutoFit/>
          </a:bodyPr>
          <a:lstStyle/>
          <a:p>
            <a:r>
              <a:rPr sz="1150" b="0">
                <a:solidFill>
                  <a:srgbClr val="2E2E2E"/>
                </a:solidFill>
                <a:latin typeface="Calibri"/>
              </a:rPr>
              <a:t>Conventional Fabrication'</a:t>
            </a:r>
          </a:p>
        </p:txBody>
      </p:sp>
      <p:sp>
        <p:nvSpPr>
          <p:cNvPr id="61" name="TextBox 60"/>
          <p:cNvSpPr txBox="1"/>
          <p:nvPr/>
        </p:nvSpPr>
        <p:spPr>
          <a:xfrm>
            <a:off x="6029325" y="4074794"/>
            <a:ext cx="356604" cy="194310"/>
          </a:xfrm>
          <a:prstGeom prst="rect">
            <a:avLst/>
          </a:prstGeom>
          <a:noFill/>
        </p:spPr>
        <p:txBody>
          <a:bodyPr wrap="none" lIns="0" rIns="0" tIns="0" bIns="0">
            <a:spAutoFit/>
          </a:bodyPr>
          <a:lstStyle/>
          <a:p>
            <a:r>
              <a:rPr sz="1150" b="0">
                <a:solidFill>
                  <a:srgbClr val="2E2E2E"/>
                </a:solidFill>
                <a:latin typeface="Calibri"/>
              </a:rPr>
              <a:t>adds</a:t>
            </a:r>
          </a:p>
        </p:txBody>
      </p:sp>
      <p:pic>
        <p:nvPicPr>
          <p:cNvPr id="62" name="Picture 61" descr="lock.png"/>
          <p:cNvPicPr>
            <a:picLocks noChangeAspect="1"/>
          </p:cNvPicPr>
          <p:nvPr/>
        </p:nvPicPr>
        <p:blipFill>
          <a:blip r:embed="rId4"/>
          <a:stretch>
            <a:fillRect/>
          </a:stretch>
        </p:blipFill>
        <p:spPr>
          <a:xfrm>
            <a:off x="6335083" y="4064571"/>
            <a:ext cx="134549" cy="195707"/>
          </a:xfrm>
          <a:prstGeom prst="rect">
            <a:avLst/>
          </a:prstGeom>
        </p:spPr>
      </p:pic>
      <p:sp>
        <p:nvSpPr>
          <p:cNvPr id="63" name="TextBox 62"/>
          <p:cNvSpPr txBox="1"/>
          <p:nvPr/>
        </p:nvSpPr>
        <p:spPr>
          <a:xfrm>
            <a:off x="6510192" y="4074794"/>
            <a:ext cx="1118803" cy="194310"/>
          </a:xfrm>
          <a:prstGeom prst="rect">
            <a:avLst/>
          </a:prstGeom>
          <a:noFill/>
        </p:spPr>
        <p:txBody>
          <a:bodyPr wrap="none" lIns="0" rIns="0" tIns="0" bIns="0">
            <a:spAutoFit/>
          </a:bodyPr>
          <a:lstStyle/>
          <a:p>
            <a:r>
              <a:rPr sz="1150" b="0">
                <a:solidFill>
                  <a:srgbClr val="2E2E2E"/>
                </a:solidFill>
                <a:latin typeface="Calibri"/>
              </a:rPr>
              <a:t>US$ Mn by 2036F</a:t>
            </a:r>
          </a:p>
        </p:txBody>
      </p:sp>
      <p:sp>
        <p:nvSpPr>
          <p:cNvPr id="64" name="TextBox 63"/>
          <p:cNvSpPr txBox="1"/>
          <p:nvPr/>
        </p:nvSpPr>
        <p:spPr>
          <a:xfrm>
            <a:off x="6029325" y="4250054"/>
            <a:ext cx="148939"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65" name="Picture 64" descr="lock.png"/>
          <p:cNvPicPr>
            <a:picLocks noChangeAspect="1"/>
          </p:cNvPicPr>
          <p:nvPr/>
        </p:nvPicPr>
        <p:blipFill>
          <a:blip r:embed="rId4"/>
          <a:stretch>
            <a:fillRect/>
          </a:stretch>
        </p:blipFill>
        <p:spPr>
          <a:xfrm>
            <a:off x="6127418" y="4239831"/>
            <a:ext cx="134549" cy="195707"/>
          </a:xfrm>
          <a:prstGeom prst="rect">
            <a:avLst/>
          </a:prstGeom>
        </p:spPr>
      </p:pic>
      <p:sp>
        <p:nvSpPr>
          <p:cNvPr id="66" name="TextBox 65"/>
          <p:cNvSpPr txBox="1"/>
          <p:nvPr/>
        </p:nvSpPr>
        <p:spPr>
          <a:xfrm>
            <a:off x="6302527" y="4250054"/>
            <a:ext cx="741126" cy="194310"/>
          </a:xfrm>
          <a:prstGeom prst="rect">
            <a:avLst/>
          </a:prstGeom>
          <a:noFill/>
        </p:spPr>
        <p:txBody>
          <a:bodyPr wrap="none" lIns="0" rIns="0" tIns="0" bIns="0">
            <a:spAutoFit/>
          </a:bodyPr>
          <a:lstStyle/>
          <a:p>
            <a:r>
              <a:rPr sz="1150" b="0">
                <a:solidFill>
                  <a:srgbClr val="2E2E2E"/>
                </a:solidFill>
                <a:latin typeface="Calibri"/>
              </a:rPr>
              <a:t>of the total</a:t>
            </a:r>
          </a:p>
        </p:txBody>
      </p:sp>
      <p:sp>
        <p:nvSpPr>
          <p:cNvPr id="67" name="TextBox 66"/>
          <p:cNvSpPr txBox="1"/>
          <p:nvPr/>
        </p:nvSpPr>
        <p:spPr>
          <a:xfrm>
            <a:off x="6029325" y="4425314"/>
            <a:ext cx="822994" cy="194310"/>
          </a:xfrm>
          <a:prstGeom prst="rect">
            <a:avLst/>
          </a:prstGeom>
          <a:noFill/>
        </p:spPr>
        <p:txBody>
          <a:bodyPr wrap="none" lIns="0" rIns="0" tIns="0" bIns="0">
            <a:spAutoFit/>
          </a:bodyPr>
          <a:lstStyle/>
          <a:p>
            <a:r>
              <a:rPr sz="1150" b="0">
                <a:solidFill>
                  <a:srgbClr val="2E2E2E"/>
                </a:solidFill>
                <a:latin typeface="Calibri"/>
              </a:rPr>
              <a:t>opportunity.</a:t>
            </a:r>
          </a:p>
        </p:txBody>
      </p:sp>
      <p:sp>
        <p:nvSpPr>
          <p:cNvPr id="68" name="TextBox 67"/>
          <p:cNvSpPr txBox="1"/>
          <p:nvPr/>
        </p:nvSpPr>
        <p:spPr>
          <a:xfrm>
            <a:off x="8124825" y="3724275"/>
            <a:ext cx="1657350" cy="194310"/>
          </a:xfrm>
          <a:prstGeom prst="rect">
            <a:avLst/>
          </a:prstGeom>
          <a:noFill/>
        </p:spPr>
        <p:txBody>
          <a:bodyPr wrap="none" lIns="0" rIns="0" tIns="0" bIns="0">
            <a:spAutoFit/>
          </a:bodyPr>
          <a:lstStyle/>
          <a:p>
            <a:r>
              <a:rPr sz="1150" b="0">
                <a:solidFill>
                  <a:srgbClr val="2E2E2E"/>
                </a:solidFill>
                <a:latin typeface="Calibri"/>
              </a:rPr>
              <a:t>▪ 'Acrylic Partial Dentures ×</a:t>
            </a:r>
          </a:p>
        </p:txBody>
      </p:sp>
      <p:sp>
        <p:nvSpPr>
          <p:cNvPr id="69" name="TextBox 68"/>
          <p:cNvSpPr txBox="1"/>
          <p:nvPr/>
        </p:nvSpPr>
        <p:spPr>
          <a:xfrm>
            <a:off x="8124825" y="3899535"/>
            <a:ext cx="1595114" cy="194310"/>
          </a:xfrm>
          <a:prstGeom prst="rect">
            <a:avLst/>
          </a:prstGeom>
          <a:noFill/>
        </p:spPr>
        <p:txBody>
          <a:bodyPr wrap="none" lIns="0" rIns="0" tIns="0" bIns="0">
            <a:spAutoFit/>
          </a:bodyPr>
          <a:lstStyle/>
          <a:p>
            <a:r>
              <a:rPr sz="1150" b="0">
                <a:solidFill>
                  <a:srgbClr val="2E2E2E"/>
                </a:solidFill>
                <a:latin typeface="Calibri"/>
              </a:rPr>
              <a:t>Conventional Fabrication'</a:t>
            </a:r>
          </a:p>
        </p:txBody>
      </p:sp>
      <p:sp>
        <p:nvSpPr>
          <p:cNvPr id="70" name="TextBox 69"/>
          <p:cNvSpPr txBox="1"/>
          <p:nvPr/>
        </p:nvSpPr>
        <p:spPr>
          <a:xfrm>
            <a:off x="8124825" y="4074794"/>
            <a:ext cx="689495" cy="194310"/>
          </a:xfrm>
          <a:prstGeom prst="rect">
            <a:avLst/>
          </a:prstGeom>
          <a:noFill/>
        </p:spPr>
        <p:txBody>
          <a:bodyPr wrap="none" lIns="0" rIns="0" tIns="0" bIns="0">
            <a:spAutoFit/>
          </a:bodyPr>
          <a:lstStyle/>
          <a:p>
            <a:r>
              <a:rPr sz="1150" b="0">
                <a:solidFill>
                  <a:srgbClr val="2E2E2E"/>
                </a:solidFill>
                <a:latin typeface="Calibri"/>
              </a:rPr>
              <a:t>grows at a</a:t>
            </a:r>
          </a:p>
        </p:txBody>
      </p:sp>
      <p:pic>
        <p:nvPicPr>
          <p:cNvPr id="71" name="Picture 70" descr="lock.png"/>
          <p:cNvPicPr>
            <a:picLocks noChangeAspect="1"/>
          </p:cNvPicPr>
          <p:nvPr/>
        </p:nvPicPr>
        <p:blipFill>
          <a:blip r:embed="rId4"/>
          <a:stretch>
            <a:fillRect/>
          </a:stretch>
        </p:blipFill>
        <p:spPr>
          <a:xfrm>
            <a:off x="8763474" y="4064571"/>
            <a:ext cx="134549" cy="195707"/>
          </a:xfrm>
          <a:prstGeom prst="rect">
            <a:avLst/>
          </a:prstGeom>
        </p:spPr>
      </p:pic>
      <p:sp>
        <p:nvSpPr>
          <p:cNvPr id="72" name="TextBox 71"/>
          <p:cNvSpPr txBox="1"/>
          <p:nvPr/>
        </p:nvSpPr>
        <p:spPr>
          <a:xfrm>
            <a:off x="8938584" y="4074794"/>
            <a:ext cx="446441" cy="194310"/>
          </a:xfrm>
          <a:prstGeom prst="rect">
            <a:avLst/>
          </a:prstGeom>
          <a:noFill/>
        </p:spPr>
        <p:txBody>
          <a:bodyPr wrap="none" lIns="0" rIns="0" tIns="0" bIns="0">
            <a:spAutoFit/>
          </a:bodyPr>
          <a:lstStyle/>
          <a:p>
            <a:r>
              <a:rPr sz="1150" b="0">
                <a:solidFill>
                  <a:srgbClr val="2E2E2E"/>
                </a:solidFill>
                <a:latin typeface="Calibri"/>
              </a:rPr>
              <a:t>CAGR,</a:t>
            </a:r>
          </a:p>
        </p:txBody>
      </p:sp>
      <p:pic>
        <p:nvPicPr>
          <p:cNvPr id="73" name="Picture 72" descr="lock.png"/>
          <p:cNvPicPr>
            <a:picLocks noChangeAspect="1"/>
          </p:cNvPicPr>
          <p:nvPr/>
        </p:nvPicPr>
        <p:blipFill>
          <a:blip r:embed="rId4"/>
          <a:stretch>
            <a:fillRect/>
          </a:stretch>
        </p:blipFill>
        <p:spPr>
          <a:xfrm>
            <a:off x="9334179" y="4064571"/>
            <a:ext cx="134549" cy="195707"/>
          </a:xfrm>
          <a:prstGeom prst="rect">
            <a:avLst/>
          </a:prstGeom>
        </p:spPr>
      </p:pic>
      <p:sp>
        <p:nvSpPr>
          <p:cNvPr id="74" name="TextBox 73"/>
          <p:cNvSpPr txBox="1"/>
          <p:nvPr/>
        </p:nvSpPr>
        <p:spPr>
          <a:xfrm>
            <a:off x="8124825" y="4250054"/>
            <a:ext cx="925400" cy="194310"/>
          </a:xfrm>
          <a:prstGeom prst="rect">
            <a:avLst/>
          </a:prstGeom>
          <a:noFill/>
        </p:spPr>
        <p:txBody>
          <a:bodyPr wrap="none" lIns="0" rIns="0" tIns="0" bIns="0">
            <a:spAutoFit/>
          </a:bodyPr>
          <a:lstStyle/>
          <a:p>
            <a:r>
              <a:rPr sz="1150" b="0">
                <a:solidFill>
                  <a:srgbClr val="2E2E2E"/>
                </a:solidFill>
                <a:latin typeface="Calibri"/>
              </a:rPr>
              <a:t>BPS above the</a:t>
            </a:r>
          </a:p>
        </p:txBody>
      </p:sp>
      <p:sp>
        <p:nvSpPr>
          <p:cNvPr id="75" name="TextBox 74"/>
          <p:cNvSpPr txBox="1"/>
          <p:nvPr/>
        </p:nvSpPr>
        <p:spPr>
          <a:xfrm>
            <a:off x="8124825" y="4425314"/>
            <a:ext cx="890029" cy="194310"/>
          </a:xfrm>
          <a:prstGeom prst="rect">
            <a:avLst/>
          </a:prstGeom>
          <a:noFill/>
        </p:spPr>
        <p:txBody>
          <a:bodyPr wrap="none" lIns="0" rIns="0" tIns="0" bIns="0">
            <a:spAutoFit/>
          </a:bodyPr>
          <a:lstStyle/>
          <a:p>
            <a:r>
              <a:rPr sz="1150" b="0">
                <a:solidFill>
                  <a:srgbClr val="2E2E2E"/>
                </a:solidFill>
                <a:latin typeface="Calibri"/>
              </a:rPr>
              <a:t>cross-section.</a:t>
            </a:r>
          </a:p>
        </p:txBody>
      </p:sp>
    </p:spTree>
  </p:cSld>
  <p:clrMapOvr>
    <a:masterClrMapping/>
  </p:clrMapOvr>
</p:sld>
</file>

<file path=ppt/slides/slide113.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2358390"/>
            <a:ext cx="7239000" cy="247650"/>
          </a:xfrm>
          <a:prstGeom prst="rect">
            <a:avLst/>
          </a:prstGeom>
          <a:noFill/>
        </p:spPr>
        <p:txBody>
          <a:bodyPr wrap="none" lIns="0" tIns="0">
            <a:spAutoFit/>
          </a:bodyPr>
          <a:lstStyle/>
          <a:p>
            <a:r>
              <a:rPr sz="1400" b="0">
                <a:solidFill>
                  <a:srgbClr val="8FC8F2"/>
                </a:solidFill>
                <a:latin typeface="Calibri"/>
              </a:rPr>
              <a:t>Removable Partial Dentures Market</a:t>
            </a:r>
          </a:p>
        </p:txBody>
      </p:sp>
      <p:sp>
        <p:nvSpPr>
          <p:cNvPr id="6" name="FMI Breaker Title"/>
          <p:cNvSpPr txBox="1"/>
          <p:nvPr/>
        </p:nvSpPr>
        <p:spPr>
          <a:xfrm>
            <a:off x="914400" y="2663190"/>
            <a:ext cx="7239000" cy="971550"/>
          </a:xfrm>
          <a:prstGeom prst="rect">
            <a:avLst/>
          </a:prstGeom>
          <a:noFill/>
        </p:spPr>
        <p:txBody>
          <a:bodyPr wrap="square" lIns="0" rIns="0" tIns="0">
            <a:spAutoFit/>
          </a:bodyPr>
          <a:lstStyle/>
          <a:p>
            <a:r>
              <a:rPr sz="3000" b="1" cap="all" spc="400">
                <a:solidFill>
                  <a:srgbClr val="FFFFFF"/>
                </a:solidFill>
                <a:latin typeface="Calibri"/>
              </a:rPr>
              <a:t>North America Market Outlook</a:t>
            </a:r>
          </a:p>
        </p:txBody>
      </p:sp>
      <p:sp>
        <p:nvSpPr>
          <p:cNvPr id="7" name="TextBox 6"/>
          <p:cNvSpPr txBox="1"/>
          <p:nvPr/>
        </p:nvSpPr>
        <p:spPr>
          <a:xfrm>
            <a:off x="914400" y="3825240"/>
            <a:ext cx="5067300" cy="210312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North America Overview</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North America Market Analysis By Country</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North America Market Analysis By Segments</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Product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Material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Technology</a:t>
            </a:r>
          </a:p>
        </p:txBody>
      </p:sp>
      <p:sp>
        <p:nvSpPr>
          <p:cNvPr id="8" name="TextBox 7"/>
          <p:cNvSpPr txBox="1"/>
          <p:nvPr/>
        </p:nvSpPr>
        <p:spPr>
          <a:xfrm>
            <a:off x="6096000" y="3825240"/>
            <a:ext cx="5067300" cy="1866900"/>
          </a:xfrm>
          <a:prstGeom prst="rect">
            <a:avLst/>
          </a:prstGeom>
          <a:noFill/>
        </p:spPr>
        <p:txBody>
          <a:bodyPr wrap="square" lIns="0" rIns="0" tIns="0" bIns="0">
            <a:spAutoFit/>
          </a:bodyPr>
          <a:lstStyle/>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End User</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Distribution Channel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Patient Age Group</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Cross-sectional Assessment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Product Type x Material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Product Type x Technology</a:t>
            </a:r>
          </a:p>
        </p:txBody>
      </p:sp>
      <p:sp>
        <p:nvSpPr>
          <p:cNvPr id="9" name="TextBox 8"/>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1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North America Overview</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Pricing &amp; Price Index</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&amp; Value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Country Outlook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Removable Partial Dentures Market Summary, By Volume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North America market volume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(UNITS)</a:t>
            </a:r>
          </a:p>
          <a:p>
            <a:pPr algn="ctr">
              <a:lnSpc>
                <a:spcPct val="95000"/>
              </a:lnSpc>
            </a:pPr>
            <a:r>
              <a:rPr sz="1500" b="1">
                <a:solidFill>
                  <a:srgbClr val="0E72AE"/>
                </a:solidFill>
                <a:latin typeface="Calibri"/>
              </a:rPr>
              <a:t> </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(UNITS)</a:t>
            </a:r>
          </a:p>
          <a:p>
            <a:pPr algn="ctr">
              <a:lnSpc>
                <a:spcPct val="95000"/>
              </a:lnSpc>
            </a:pPr>
            <a:r>
              <a:rPr sz="1500" b="1">
                <a:solidFill>
                  <a:srgbClr val="0E72AE"/>
                </a:solidFill>
                <a:latin typeface="Calibri"/>
              </a:rPr>
              <a:t> </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 </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 </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(Units)</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
            </a:r>
          </a:p>
          <a:p>
            <a:pPr algn="l">
              <a:lnSpc>
                <a:spcPct val="110000"/>
              </a:lnSpc>
              <a:spcBef>
                <a:spcPts val="0"/>
              </a:spcBef>
              <a:spcAft>
                <a:spcPts val="500"/>
              </a:spcAft>
            </a:pPr>
            <a:r>
              <a:rPr sz="1100" b="0">
                <a:solidFill>
                  <a:srgbClr val="2E2E2E"/>
                </a:solidFill>
                <a:latin typeface="Calibri"/>
              </a:rPr>
              <a:t/>
            </a:r>
          </a:p>
        </p:txBody>
      </p:sp>
      <p:sp>
        <p:nvSpPr>
          <p:cNvPr id="25" name="Rounded Rectangle 24"/>
          <p:cNvSpPr/>
          <p:nvPr/>
        </p:nvSpPr>
        <p:spPr>
          <a:xfrm>
            <a:off x="7915275" y="4037375"/>
            <a:ext cx="413385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123100"/>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36122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4446950"/>
            <a:ext cx="3867150" cy="20332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6"/>
          <a:stretch>
            <a:fillRect/>
          </a:stretch>
        </p:blipFill>
        <p:spPr>
          <a:xfrm>
            <a:off x="1502569" y="1250587"/>
            <a:ext cx="157162" cy="228600"/>
          </a:xfrm>
          <a:prstGeom prst="rect">
            <a:avLst/>
          </a:prstGeom>
        </p:spPr>
      </p:pic>
      <p:pic>
        <p:nvPicPr>
          <p:cNvPr id="31" name="Picture 30" descr="lock.png"/>
          <p:cNvPicPr>
            <a:picLocks noChangeAspect="1"/>
          </p:cNvPicPr>
          <p:nvPr/>
        </p:nvPicPr>
        <p:blipFill>
          <a:blip r:embed="rId6"/>
          <a:stretch>
            <a:fillRect/>
          </a:stretch>
        </p:blipFill>
        <p:spPr>
          <a:xfrm>
            <a:off x="4502944" y="1250587"/>
            <a:ext cx="157162" cy="228600"/>
          </a:xfrm>
          <a:prstGeom prst="rect">
            <a:avLst/>
          </a:prstGeom>
        </p:spPr>
      </p:pic>
      <p:pic>
        <p:nvPicPr>
          <p:cNvPr id="32" name="Picture 31" descr="lock.png"/>
          <p:cNvPicPr>
            <a:picLocks noChangeAspect="1"/>
          </p:cNvPicPr>
          <p:nvPr/>
        </p:nvPicPr>
        <p:blipFill>
          <a:blip r:embed="rId6"/>
          <a:stretch>
            <a:fillRect/>
          </a:stretch>
        </p:blipFill>
        <p:spPr>
          <a:xfrm>
            <a:off x="7512844" y="1250587"/>
            <a:ext cx="157162" cy="228600"/>
          </a:xfrm>
          <a:prstGeom prst="rect">
            <a:avLst/>
          </a:prstGeom>
        </p:spPr>
      </p:pic>
      <p:pic>
        <p:nvPicPr>
          <p:cNvPr id="33" name="Picture 32" descr="lock.png"/>
          <p:cNvPicPr>
            <a:picLocks noChangeAspect="1"/>
          </p:cNvPicPr>
          <p:nvPr/>
        </p:nvPicPr>
        <p:blipFill>
          <a:blip r:embed="rId6"/>
          <a:stretch>
            <a:fillRect/>
          </a:stretch>
        </p:blipFill>
        <p:spPr>
          <a:xfrm>
            <a:off x="10522744" y="1250587"/>
            <a:ext cx="157162" cy="228600"/>
          </a:xfrm>
          <a:prstGeom prst="rect">
            <a:avLst/>
          </a:prstGeom>
        </p:spPr>
      </p:pic>
      <p:pic>
        <p:nvPicPr>
          <p:cNvPr id="34" name="Picture 33" descr="lock.png"/>
          <p:cNvPicPr>
            <a:picLocks noChangeAspect="1"/>
          </p:cNvPicPr>
          <p:nvPr/>
        </p:nvPicPr>
        <p:blipFill>
          <a:blip r:embed="rId6"/>
          <a:stretch>
            <a:fillRect/>
          </a:stretch>
        </p:blipFill>
        <p:spPr>
          <a:xfrm>
            <a:off x="3991062" y="5157531"/>
            <a:ext cx="289830" cy="421571"/>
          </a:xfrm>
          <a:prstGeom prst="rect">
            <a:avLst/>
          </a:prstGeom>
        </p:spPr>
      </p:pic>
      <p:sp>
        <p:nvSpPr>
          <p:cNvPr id="35" name="TextBox 34"/>
          <p:cNvSpPr txBox="1"/>
          <p:nvPr/>
        </p:nvSpPr>
        <p:spPr>
          <a:xfrm>
            <a:off x="8048625" y="2046987"/>
            <a:ext cx="3780159" cy="186689"/>
          </a:xfrm>
          <a:prstGeom prst="rect">
            <a:avLst/>
          </a:prstGeom>
          <a:noFill/>
        </p:spPr>
        <p:txBody>
          <a:bodyPr wrap="none" lIns="0" rIns="0" tIns="0" bIns="0">
            <a:spAutoFit/>
          </a:bodyPr>
          <a:lstStyle/>
          <a:p>
            <a:r>
              <a:rPr sz="1100" b="0">
                <a:solidFill>
                  <a:srgbClr val="2E2E2E"/>
                </a:solidFill>
                <a:latin typeface="Calibri"/>
              </a:rPr>
              <a:t>North America removable partial dentures market is projected to</a:t>
            </a:r>
          </a:p>
        </p:txBody>
      </p:sp>
      <p:sp>
        <p:nvSpPr>
          <p:cNvPr id="36" name="TextBox 35"/>
          <p:cNvSpPr txBox="1"/>
          <p:nvPr/>
        </p:nvSpPr>
        <p:spPr>
          <a:xfrm>
            <a:off x="8048625" y="2214627"/>
            <a:ext cx="512489" cy="186689"/>
          </a:xfrm>
          <a:prstGeom prst="rect">
            <a:avLst/>
          </a:prstGeom>
          <a:noFill/>
        </p:spPr>
        <p:txBody>
          <a:bodyPr wrap="none" lIns="0" rIns="0" tIns="0" bIns="0">
            <a:spAutoFit/>
          </a:bodyPr>
          <a:lstStyle/>
          <a:p>
            <a:r>
              <a:rPr sz="1100" b="0">
                <a:solidFill>
                  <a:srgbClr val="2E2E2E"/>
                </a:solidFill>
                <a:latin typeface="Calibri"/>
              </a:rPr>
              <a:t>register</a:t>
            </a:r>
          </a:p>
        </p:txBody>
      </p:sp>
      <p:pic>
        <p:nvPicPr>
          <p:cNvPr id="37" name="Picture 36" descr="lock.png"/>
          <p:cNvPicPr>
            <a:picLocks noChangeAspect="1"/>
          </p:cNvPicPr>
          <p:nvPr/>
        </p:nvPicPr>
        <p:blipFill>
          <a:blip r:embed="rId6"/>
          <a:stretch>
            <a:fillRect/>
          </a:stretch>
        </p:blipFill>
        <p:spPr>
          <a:xfrm>
            <a:off x="8509166" y="2204848"/>
            <a:ext cx="128699" cy="187198"/>
          </a:xfrm>
          <a:prstGeom prst="rect">
            <a:avLst/>
          </a:prstGeom>
        </p:spPr>
      </p:pic>
      <p:sp>
        <p:nvSpPr>
          <p:cNvPr id="38" name="TextBox 37"/>
          <p:cNvSpPr txBox="1"/>
          <p:nvPr/>
        </p:nvSpPr>
        <p:spPr>
          <a:xfrm>
            <a:off x="8676662" y="2214627"/>
            <a:ext cx="2964333" cy="186689"/>
          </a:xfrm>
          <a:prstGeom prst="rect">
            <a:avLst/>
          </a:prstGeom>
          <a:noFill/>
        </p:spPr>
        <p:txBody>
          <a:bodyPr wrap="none" lIns="0" rIns="0" tIns="0" bIns="0">
            <a:spAutoFit/>
          </a:bodyPr>
          <a:lstStyle/>
          <a:p>
            <a:r>
              <a:rPr sz="1100" b="0">
                <a:solidFill>
                  <a:srgbClr val="2E2E2E"/>
                </a:solidFill>
                <a:latin typeface="Calibri"/>
              </a:rPr>
              <a:t>X increase in volume by the end of forecast period,</a:t>
            </a:r>
          </a:p>
        </p:txBody>
      </p:sp>
      <p:sp>
        <p:nvSpPr>
          <p:cNvPr id="39" name="TextBox 38"/>
          <p:cNvSpPr txBox="1"/>
          <p:nvPr/>
        </p:nvSpPr>
        <p:spPr>
          <a:xfrm>
            <a:off x="8048625" y="2382267"/>
            <a:ext cx="3735412" cy="186689"/>
          </a:xfrm>
          <a:prstGeom prst="rect">
            <a:avLst/>
          </a:prstGeom>
          <a:noFill/>
        </p:spPr>
        <p:txBody>
          <a:bodyPr wrap="none" lIns="0" rIns="0" tIns="0" bIns="0">
            <a:spAutoFit/>
          </a:bodyPr>
          <a:lstStyle/>
          <a:p>
            <a:r>
              <a:rPr sz="1100" b="0">
                <a:solidFill>
                  <a:srgbClr val="2E2E2E"/>
                </a:solidFill>
                <a:latin typeface="Calibri"/>
              </a:rPr>
              <a:t>2036. North America removable partial dentures market volume</a:t>
            </a:r>
          </a:p>
        </p:txBody>
      </p:sp>
      <p:sp>
        <p:nvSpPr>
          <p:cNvPr id="40" name="TextBox 39"/>
          <p:cNvSpPr txBox="1"/>
          <p:nvPr/>
        </p:nvSpPr>
        <p:spPr>
          <a:xfrm>
            <a:off x="8048625" y="2549907"/>
            <a:ext cx="543867" cy="186689"/>
          </a:xfrm>
          <a:prstGeom prst="rect">
            <a:avLst/>
          </a:prstGeom>
          <a:noFill/>
        </p:spPr>
        <p:txBody>
          <a:bodyPr wrap="none" lIns="0" rIns="0" tIns="0" bIns="0">
            <a:spAutoFit/>
          </a:bodyPr>
          <a:lstStyle/>
          <a:p>
            <a:r>
              <a:rPr sz="1100" b="0">
                <a:solidFill>
                  <a:srgbClr val="2E2E2E"/>
                </a:solidFill>
                <a:latin typeface="Calibri"/>
              </a:rPr>
              <a:t>stood at</a:t>
            </a:r>
          </a:p>
        </p:txBody>
      </p:sp>
      <p:pic>
        <p:nvPicPr>
          <p:cNvPr id="41" name="Picture 40" descr="lock.png"/>
          <p:cNvPicPr>
            <a:picLocks noChangeAspect="1"/>
          </p:cNvPicPr>
          <p:nvPr/>
        </p:nvPicPr>
        <p:blipFill>
          <a:blip r:embed="rId6"/>
          <a:stretch>
            <a:fillRect/>
          </a:stretch>
        </p:blipFill>
        <p:spPr>
          <a:xfrm>
            <a:off x="8540544" y="2540128"/>
            <a:ext cx="128699" cy="187198"/>
          </a:xfrm>
          <a:prstGeom prst="rect">
            <a:avLst/>
          </a:prstGeom>
        </p:spPr>
      </p:pic>
      <p:sp>
        <p:nvSpPr>
          <p:cNvPr id="42" name="TextBox 41"/>
          <p:cNvSpPr txBox="1"/>
          <p:nvPr/>
        </p:nvSpPr>
        <p:spPr>
          <a:xfrm>
            <a:off x="8708039" y="2549907"/>
            <a:ext cx="2245097" cy="186689"/>
          </a:xfrm>
          <a:prstGeom prst="rect">
            <a:avLst/>
          </a:prstGeom>
          <a:noFill/>
        </p:spPr>
        <p:txBody>
          <a:bodyPr wrap="none" lIns="0" rIns="0" tIns="0" bIns="0">
            <a:spAutoFit/>
          </a:bodyPr>
          <a:lstStyle/>
          <a:p>
            <a:r>
              <a:rPr sz="1100" b="0">
                <a:solidFill>
                  <a:srgbClr val="2E2E2E"/>
                </a:solidFill>
                <a:latin typeface="Calibri"/>
              </a:rPr>
              <a:t>Units in 2025 and is expected to reach</a:t>
            </a:r>
          </a:p>
        </p:txBody>
      </p:sp>
      <p:pic>
        <p:nvPicPr>
          <p:cNvPr id="43" name="Picture 42" descr="lock.png"/>
          <p:cNvPicPr>
            <a:picLocks noChangeAspect="1"/>
          </p:cNvPicPr>
          <p:nvPr/>
        </p:nvPicPr>
        <p:blipFill>
          <a:blip r:embed="rId6"/>
          <a:stretch>
            <a:fillRect/>
          </a:stretch>
        </p:blipFill>
        <p:spPr>
          <a:xfrm>
            <a:off x="10901188" y="2540128"/>
            <a:ext cx="128699" cy="187198"/>
          </a:xfrm>
          <a:prstGeom prst="rect">
            <a:avLst/>
          </a:prstGeom>
        </p:spPr>
      </p:pic>
      <p:sp>
        <p:nvSpPr>
          <p:cNvPr id="44" name="TextBox 43"/>
          <p:cNvSpPr txBox="1"/>
          <p:nvPr/>
        </p:nvSpPr>
        <p:spPr>
          <a:xfrm>
            <a:off x="11068684" y="2549907"/>
            <a:ext cx="541411" cy="186689"/>
          </a:xfrm>
          <a:prstGeom prst="rect">
            <a:avLst/>
          </a:prstGeom>
          <a:noFill/>
        </p:spPr>
        <p:txBody>
          <a:bodyPr wrap="none" lIns="0" rIns="0" tIns="0" bIns="0">
            <a:spAutoFit/>
          </a:bodyPr>
          <a:lstStyle/>
          <a:p>
            <a:r>
              <a:rPr sz="1100" b="0">
                <a:solidFill>
                  <a:srgbClr val="2E2E2E"/>
                </a:solidFill>
                <a:latin typeface="Calibri"/>
              </a:rPr>
              <a:t>Units by</a:t>
            </a:r>
          </a:p>
        </p:txBody>
      </p:sp>
      <p:sp>
        <p:nvSpPr>
          <p:cNvPr id="45" name="TextBox 44"/>
          <p:cNvSpPr txBox="1"/>
          <p:nvPr/>
        </p:nvSpPr>
        <p:spPr>
          <a:xfrm>
            <a:off x="8048625" y="2717547"/>
            <a:ext cx="1385597" cy="186689"/>
          </a:xfrm>
          <a:prstGeom prst="rect">
            <a:avLst/>
          </a:prstGeom>
          <a:noFill/>
        </p:spPr>
        <p:txBody>
          <a:bodyPr wrap="none" lIns="0" rIns="0" tIns="0" bIns="0">
            <a:spAutoFit/>
          </a:bodyPr>
          <a:lstStyle/>
          <a:p>
            <a:r>
              <a:rPr sz="1100" b="0">
                <a:solidFill>
                  <a:srgbClr val="2E2E2E"/>
                </a:solidFill>
                <a:latin typeface="Calibri"/>
              </a:rPr>
              <a:t>2036 end, at a CAGR of</a:t>
            </a:r>
          </a:p>
        </p:txBody>
      </p:sp>
      <p:pic>
        <p:nvPicPr>
          <p:cNvPr id="46" name="Picture 45" descr="lock.png"/>
          <p:cNvPicPr>
            <a:picLocks noChangeAspect="1"/>
          </p:cNvPicPr>
          <p:nvPr/>
        </p:nvPicPr>
        <p:blipFill>
          <a:blip r:embed="rId6"/>
          <a:stretch>
            <a:fillRect/>
          </a:stretch>
        </p:blipFill>
        <p:spPr>
          <a:xfrm>
            <a:off x="9382274" y="2707768"/>
            <a:ext cx="128699" cy="187198"/>
          </a:xfrm>
          <a:prstGeom prst="rect">
            <a:avLst/>
          </a:prstGeom>
        </p:spPr>
      </p:pic>
      <p:sp>
        <p:nvSpPr>
          <p:cNvPr id="47" name="TextBox 46"/>
          <p:cNvSpPr txBox="1"/>
          <p:nvPr/>
        </p:nvSpPr>
        <p:spPr>
          <a:xfrm>
            <a:off x="9549770" y="2717547"/>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48" name="TextBox 47"/>
          <p:cNvSpPr txBox="1"/>
          <p:nvPr/>
        </p:nvSpPr>
        <p:spPr>
          <a:xfrm>
            <a:off x="8048625" y="2935479"/>
            <a:ext cx="3678386" cy="186689"/>
          </a:xfrm>
          <a:prstGeom prst="rect">
            <a:avLst/>
          </a:prstGeom>
          <a:noFill/>
        </p:spPr>
        <p:txBody>
          <a:bodyPr wrap="none" lIns="0" rIns="0" tIns="0" bIns="0">
            <a:spAutoFit/>
          </a:bodyPr>
          <a:lstStyle/>
          <a:p>
            <a:r>
              <a:rPr sz="1100" b="0">
                <a:solidFill>
                  <a:srgbClr val="2E2E2E"/>
                </a:solidFill>
                <a:latin typeface="Calibri"/>
              </a:rPr>
              <a:t>Value is projected to grow faster than volume over the forecast</a:t>
            </a:r>
          </a:p>
        </p:txBody>
      </p:sp>
      <p:sp>
        <p:nvSpPr>
          <p:cNvPr id="49" name="TextBox 48"/>
          <p:cNvSpPr txBox="1"/>
          <p:nvPr/>
        </p:nvSpPr>
        <p:spPr>
          <a:xfrm>
            <a:off x="8048625" y="3103119"/>
            <a:ext cx="3049736" cy="186689"/>
          </a:xfrm>
          <a:prstGeom prst="rect">
            <a:avLst/>
          </a:prstGeom>
          <a:noFill/>
        </p:spPr>
        <p:txBody>
          <a:bodyPr wrap="none" lIns="0" rIns="0" tIns="0" bIns="0">
            <a:spAutoFit/>
          </a:bodyPr>
          <a:lstStyle/>
          <a:p>
            <a:r>
              <a:rPr sz="1100" b="0">
                <a:solidFill>
                  <a:srgbClr val="2E2E2E"/>
                </a:solidFill>
                <a:latin typeface="Calibri"/>
              </a:rPr>
              <a:t>period, owing to an increase in average selling price.</a:t>
            </a:r>
          </a:p>
        </p:txBody>
      </p:sp>
      <p:sp>
        <p:nvSpPr>
          <p:cNvPr id="50" name="TextBox 49"/>
          <p:cNvSpPr txBox="1"/>
          <p:nvPr/>
        </p:nvSpPr>
        <p:spPr>
          <a:xfrm>
            <a:off x="8048625" y="4456475"/>
            <a:ext cx="2138300" cy="194310"/>
          </a:xfrm>
          <a:prstGeom prst="rect">
            <a:avLst/>
          </a:prstGeom>
          <a:noFill/>
        </p:spPr>
        <p:txBody>
          <a:bodyPr wrap="none" lIns="0" rIns="0" tIns="0" bIns="0">
            <a:spAutoFit/>
          </a:bodyPr>
          <a:lstStyle/>
          <a:p>
            <a:r>
              <a:rPr sz="1150" b="0">
                <a:solidFill>
                  <a:srgbClr val="2E2E2E"/>
                </a:solidFill>
                <a:latin typeface="Calibri"/>
              </a:rPr>
              <a:t>▪ 'Canada' leads regional growth at</a:t>
            </a:r>
          </a:p>
        </p:txBody>
      </p:sp>
      <p:pic>
        <p:nvPicPr>
          <p:cNvPr id="51" name="Picture 50" descr="lock.png"/>
          <p:cNvPicPr>
            <a:picLocks noChangeAspect="1"/>
          </p:cNvPicPr>
          <p:nvPr/>
        </p:nvPicPr>
        <p:blipFill>
          <a:blip r:embed="rId6"/>
          <a:stretch>
            <a:fillRect/>
          </a:stretch>
        </p:blipFill>
        <p:spPr>
          <a:xfrm>
            <a:off x="10136079" y="4446251"/>
            <a:ext cx="134549" cy="195707"/>
          </a:xfrm>
          <a:prstGeom prst="rect">
            <a:avLst/>
          </a:prstGeom>
        </p:spPr>
      </p:pic>
      <p:sp>
        <p:nvSpPr>
          <p:cNvPr id="52" name="TextBox 51"/>
          <p:cNvSpPr txBox="1"/>
          <p:nvPr/>
        </p:nvSpPr>
        <p:spPr>
          <a:xfrm>
            <a:off x="10311188" y="4456475"/>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53" name="TextBox 52"/>
          <p:cNvSpPr txBox="1"/>
          <p:nvPr/>
        </p:nvSpPr>
        <p:spPr>
          <a:xfrm>
            <a:off x="8048625" y="4684312"/>
            <a:ext cx="3571701" cy="194310"/>
          </a:xfrm>
          <a:prstGeom prst="rect">
            <a:avLst/>
          </a:prstGeom>
          <a:noFill/>
        </p:spPr>
        <p:txBody>
          <a:bodyPr wrap="none" lIns="0" rIns="0" tIns="0" bIns="0">
            <a:spAutoFit/>
          </a:bodyPr>
          <a:lstStyle/>
          <a:p>
            <a:r>
              <a:rPr sz="1150" b="0">
                <a:solidFill>
                  <a:srgbClr val="2E2E2E"/>
                </a:solidFill>
                <a:latin typeface="Calibri"/>
              </a:rPr>
              <a:t>▪ Demand concentrates in 'Combination Framework Partial</a:t>
            </a:r>
          </a:p>
        </p:txBody>
      </p:sp>
      <p:sp>
        <p:nvSpPr>
          <p:cNvPr id="54" name="TextBox 53"/>
          <p:cNvSpPr txBox="1"/>
          <p:nvPr/>
        </p:nvSpPr>
        <p:spPr>
          <a:xfrm>
            <a:off x="8048625" y="4859572"/>
            <a:ext cx="1919795" cy="194310"/>
          </a:xfrm>
          <a:prstGeom prst="rect">
            <a:avLst/>
          </a:prstGeom>
          <a:noFill/>
        </p:spPr>
        <p:txBody>
          <a:bodyPr wrap="none" lIns="0" rIns="0" tIns="0" bIns="0">
            <a:spAutoFit/>
          </a:bodyPr>
          <a:lstStyle/>
          <a:p>
            <a:r>
              <a:rPr sz="1150" b="0">
                <a:solidFill>
                  <a:srgbClr val="2E2E2E"/>
                </a:solidFill>
                <a:latin typeface="Calibri"/>
              </a:rPr>
              <a:t>Dentures' within Product Type.</a:t>
            </a:r>
          </a:p>
        </p:txBody>
      </p:sp>
      <p:sp>
        <p:nvSpPr>
          <p:cNvPr id="55" name="TextBox 54"/>
          <p:cNvSpPr txBox="1"/>
          <p:nvPr/>
        </p:nvSpPr>
        <p:spPr>
          <a:xfrm>
            <a:off x="8048625" y="5087410"/>
            <a:ext cx="3291296" cy="194310"/>
          </a:xfrm>
          <a:prstGeom prst="rect">
            <a:avLst/>
          </a:prstGeom>
          <a:noFill/>
        </p:spPr>
        <p:txBody>
          <a:bodyPr wrap="none" lIns="0" rIns="0" tIns="0" bIns="0">
            <a:spAutoFit/>
          </a:bodyPr>
          <a:lstStyle/>
          <a:p>
            <a:r>
              <a:rPr sz="1150" b="0">
                <a:solidFill>
                  <a:srgbClr val="2E2E2E"/>
                </a:solidFill>
                <a:latin typeface="Calibri"/>
              </a:rPr>
              <a:t>▪ Product innovation and premiumisation lifting value.</a:t>
            </a:r>
          </a:p>
        </p:txBody>
      </p:sp>
      <p:sp>
        <p:nvSpPr>
          <p:cNvPr id="56" name="TextBox 55"/>
          <p:cNvSpPr txBox="1"/>
          <p:nvPr/>
        </p:nvSpPr>
        <p:spPr>
          <a:xfrm>
            <a:off x="8048625" y="5315248"/>
            <a:ext cx="2741327" cy="194310"/>
          </a:xfrm>
          <a:prstGeom prst="rect">
            <a:avLst/>
          </a:prstGeom>
          <a:noFill/>
        </p:spPr>
        <p:txBody>
          <a:bodyPr wrap="none" lIns="0" rIns="0" tIns="0" bIns="0">
            <a:spAutoFit/>
          </a:bodyPr>
          <a:lstStyle/>
          <a:p>
            <a:r>
              <a:rPr sz="1150" b="0">
                <a:solidFill>
                  <a:srgbClr val="2E2E2E"/>
                </a:solidFill>
                <a:latin typeface="Calibri"/>
              </a:rPr>
              <a:t>▪ Expanding end-use applications and access.</a:t>
            </a:r>
          </a:p>
        </p:txBody>
      </p:sp>
      <p:sp>
        <p:nvSpPr>
          <p:cNvPr id="57" name="lockshield_17"/>
          <p:cNvSpPr/>
          <p:nvPr/>
        </p:nvSpPr>
        <p:spPr>
          <a:xfrm>
            <a:off x="238125" y="1913637"/>
            <a:ext cx="7505700" cy="2011827"/>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lockshield_20"/>
          <p:cNvSpPr/>
          <p:nvPr/>
        </p:nvSpPr>
        <p:spPr>
          <a:xfrm>
            <a:off x="238125" y="4323125"/>
            <a:ext cx="7505700" cy="217611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Removable Partial Dentures Market Pricing &amp; Regional Price Index</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average price by sub-segment and price variation by country, highlighting where pricing power sits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1052895"/>
            <a:ext cx="7696200" cy="2665040"/>
          </a:xfrm>
          <a:prstGeom prst="roundRect">
            <a:avLst>
              <a:gd name="adj" fmla="val 28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11004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by Product Type  ·  range across 2021–2036 (US$/Units)</a:t>
            </a:r>
          </a:p>
        </p:txBody>
      </p:sp>
      <p:cxnSp>
        <p:nvCxnSpPr>
          <p:cNvPr id="13" name="Connector 12"/>
          <p:cNvCxnSpPr/>
          <p:nvPr/>
        </p:nvCxnSpPr>
        <p:spPr>
          <a:xfrm>
            <a:off x="657225" y="333693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657225" y="2865938"/>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657225" y="2394940"/>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657225" y="1923943"/>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7225" y="145294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657225" y="1452945"/>
            <a:ext cx="0" cy="188399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628650" y="333693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628650" y="286593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628650" y="239494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628650" y="192394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628650" y="145294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24" name="FMI Scale tick"/>
          <p:cNvSpPr txBox="1"/>
          <p:nvPr/>
        </p:nvSpPr>
        <p:spPr>
          <a:xfrm>
            <a:off x="219075" y="3270260"/>
            <a:ext cx="381000" cy="133350"/>
          </a:xfrm>
          <a:prstGeom prst="rect">
            <a:avLst/>
          </a:prstGeom>
          <a:noFill/>
        </p:spPr>
        <p:txBody>
          <a:bodyPr wrap="none" lIns="0" rIns="0" tIns="0" bIns="0" anchor="ctr">
            <a:spAutoFit/>
          </a:bodyPr>
          <a:lstStyle/>
          <a:p>
            <a:pPr algn="r"/>
            <a:r>
              <a:rPr sz="1100" b="0">
                <a:solidFill>
                  <a:srgbClr val="6C7A89"/>
                </a:solidFill>
                <a:latin typeface="Calibri"/>
              </a:rPr>
              <a:t/>
            </a:r>
          </a:p>
        </p:txBody>
      </p:sp>
      <p:sp>
        <p:nvSpPr>
          <p:cNvPr id="25" name="FMI Scale tick"/>
          <p:cNvSpPr txBox="1"/>
          <p:nvPr/>
        </p:nvSpPr>
        <p:spPr>
          <a:xfrm>
            <a:off x="219075" y="2328265"/>
            <a:ext cx="381000" cy="133350"/>
          </a:xfrm>
          <a:prstGeom prst="rect">
            <a:avLst/>
          </a:prstGeom>
          <a:noFill/>
        </p:spPr>
        <p:txBody>
          <a:bodyPr wrap="none" lIns="0" rIns="0" tIns="0" bIns="0" anchor="ctr">
            <a:spAutoFit/>
          </a:bodyPr>
          <a:lstStyle/>
          <a:p>
            <a:pPr algn="r"/>
            <a:r>
              <a:rPr sz="1100" b="0">
                <a:solidFill>
                  <a:srgbClr val="6C7A89"/>
                </a:solidFill>
                <a:latin typeface="Calibri"/>
              </a:rPr>
              <a:t/>
            </a:r>
          </a:p>
        </p:txBody>
      </p:sp>
      <p:sp>
        <p:nvSpPr>
          <p:cNvPr id="26" name="FMI Scale tick"/>
          <p:cNvSpPr txBox="1"/>
          <p:nvPr/>
        </p:nvSpPr>
        <p:spPr>
          <a:xfrm>
            <a:off x="219075" y="1386270"/>
            <a:ext cx="381000" cy="133350"/>
          </a:xfrm>
          <a:prstGeom prst="rect">
            <a:avLst/>
          </a:prstGeom>
          <a:noFill/>
        </p:spPr>
        <p:txBody>
          <a:bodyPr wrap="none" lIns="0" rIns="0" tIns="0" bIns="0" anchor="ctr">
            <a:spAutoFit/>
          </a:bodyPr>
          <a:lstStyle/>
          <a:p>
            <a:pPr algn="r"/>
            <a:r>
              <a:rPr sz="1100" b="0">
                <a:solidFill>
                  <a:srgbClr val="6C7A89"/>
                </a:solidFill>
                <a:latin typeface="Calibri"/>
              </a:rPr>
              <a:t/>
            </a:r>
          </a:p>
        </p:txBody>
      </p:sp>
      <p:cxnSp>
        <p:nvCxnSpPr>
          <p:cNvPr id="27" name="Connector 26"/>
          <p:cNvCxnSpPr/>
          <p:nvPr/>
        </p:nvCxnSpPr>
        <p:spPr>
          <a:xfrm flipV="1">
            <a:off x="1533525" y="2396602"/>
            <a:ext cx="0" cy="29241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1402080" y="2689012"/>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1402080" y="2396602"/>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314450" y="2474204"/>
            <a:ext cx="438150" cy="146011"/>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1" name="Connector 30"/>
          <p:cNvCxnSpPr/>
          <p:nvPr/>
        </p:nvCxnSpPr>
        <p:spPr>
          <a:xfrm>
            <a:off x="1314450" y="2548701"/>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657225" y="2244202"/>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cxnSp>
        <p:nvCxnSpPr>
          <p:cNvPr id="33" name="Connector 32"/>
          <p:cNvCxnSpPr/>
          <p:nvPr/>
        </p:nvCxnSpPr>
        <p:spPr>
          <a:xfrm flipV="1">
            <a:off x="3286125" y="2248795"/>
            <a:ext cx="0" cy="310509"/>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3154680" y="2559304"/>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3154680" y="2248795"/>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6" name="Rectangle 35"/>
          <p:cNvSpPr/>
          <p:nvPr/>
        </p:nvSpPr>
        <p:spPr>
          <a:xfrm>
            <a:off x="3067050" y="2331220"/>
            <a:ext cx="438150" cy="155028"/>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7" name="Connector 36"/>
          <p:cNvCxnSpPr/>
          <p:nvPr/>
        </p:nvCxnSpPr>
        <p:spPr>
          <a:xfrm>
            <a:off x="3067050" y="2410299"/>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8" name="TextBox 37"/>
          <p:cNvSpPr txBox="1"/>
          <p:nvPr/>
        </p:nvSpPr>
        <p:spPr>
          <a:xfrm>
            <a:off x="2409825" y="2096395"/>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cxnSp>
        <p:nvCxnSpPr>
          <p:cNvPr id="39" name="Connector 38"/>
          <p:cNvCxnSpPr/>
          <p:nvPr/>
        </p:nvCxnSpPr>
        <p:spPr>
          <a:xfrm flipV="1">
            <a:off x="5038725" y="1670329"/>
            <a:ext cx="0" cy="381284"/>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4907280" y="2051613"/>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4907280" y="167032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2" name="Rectangle 41"/>
          <p:cNvSpPr/>
          <p:nvPr/>
        </p:nvSpPr>
        <p:spPr>
          <a:xfrm>
            <a:off x="4819650" y="1771527"/>
            <a:ext cx="438150" cy="190403"/>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3" name="Connector 42"/>
          <p:cNvCxnSpPr/>
          <p:nvPr/>
        </p:nvCxnSpPr>
        <p:spPr>
          <a:xfrm>
            <a:off x="4819650" y="1868664"/>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4162425" y="1517929"/>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cxnSp>
        <p:nvCxnSpPr>
          <p:cNvPr id="45" name="Connector 44"/>
          <p:cNvCxnSpPr/>
          <p:nvPr/>
        </p:nvCxnSpPr>
        <p:spPr>
          <a:xfrm flipV="1">
            <a:off x="6791325" y="2887129"/>
            <a:ext cx="0" cy="232423"/>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6659880" y="3119552"/>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6659880" y="288712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8" name="Rectangle 47"/>
          <p:cNvSpPr/>
          <p:nvPr/>
        </p:nvSpPr>
        <p:spPr>
          <a:xfrm>
            <a:off x="6572250" y="2948828"/>
            <a:ext cx="438150" cy="116060"/>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9" name="Connector 48"/>
          <p:cNvCxnSpPr/>
          <p:nvPr/>
        </p:nvCxnSpPr>
        <p:spPr>
          <a:xfrm>
            <a:off x="6572250" y="3008027"/>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50" name="TextBox 49"/>
          <p:cNvSpPr txBox="1"/>
          <p:nvPr/>
        </p:nvSpPr>
        <p:spPr>
          <a:xfrm>
            <a:off x="5915025" y="2734729"/>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sp>
        <p:nvSpPr>
          <p:cNvPr id="51" name="TextBox 50"/>
          <p:cNvSpPr txBox="1"/>
          <p:nvPr/>
        </p:nvSpPr>
        <p:spPr>
          <a:xfrm>
            <a:off x="6572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Cast Metal Partial De…</a:t>
            </a:r>
          </a:p>
        </p:txBody>
      </p:sp>
      <p:sp>
        <p:nvSpPr>
          <p:cNvPr id="52" name="TextBox 51"/>
          <p:cNvSpPr txBox="1"/>
          <p:nvPr/>
        </p:nvSpPr>
        <p:spPr>
          <a:xfrm>
            <a:off x="24098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Acrylic Partial Dentu…</a:t>
            </a:r>
          </a:p>
        </p:txBody>
      </p:sp>
      <p:sp>
        <p:nvSpPr>
          <p:cNvPr id="53" name="TextBox 52"/>
          <p:cNvSpPr txBox="1"/>
          <p:nvPr/>
        </p:nvSpPr>
        <p:spPr>
          <a:xfrm>
            <a:off x="41624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Flexible Partial Dent…</a:t>
            </a:r>
          </a:p>
        </p:txBody>
      </p:sp>
      <p:sp>
        <p:nvSpPr>
          <p:cNvPr id="54" name="TextBox 53"/>
          <p:cNvSpPr txBox="1"/>
          <p:nvPr/>
        </p:nvSpPr>
        <p:spPr>
          <a:xfrm>
            <a:off x="59150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Combination Framework…</a:t>
            </a:r>
          </a:p>
        </p:txBody>
      </p:sp>
      <p:sp>
        <p:nvSpPr>
          <p:cNvPr id="55" name="Rounded Rectangle 54"/>
          <p:cNvSpPr/>
          <p:nvPr/>
        </p:nvSpPr>
        <p:spPr>
          <a:xfrm>
            <a:off x="142875" y="3772696"/>
            <a:ext cx="7696200" cy="2783689"/>
          </a:xfrm>
          <a:prstGeom prst="roundRect">
            <a:avLst>
              <a:gd name="adj" fmla="val 27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238125" y="3829846"/>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Country vs North America  ·  2026–2036</a:t>
            </a:r>
          </a:p>
        </p:txBody>
      </p:sp>
      <p:cxnSp>
        <p:nvCxnSpPr>
          <p:cNvPr id="57" name="Connector 56"/>
          <p:cNvCxnSpPr/>
          <p:nvPr/>
        </p:nvCxnSpPr>
        <p:spPr>
          <a:xfrm>
            <a:off x="619125" y="4316035"/>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8" name="Connector 57"/>
          <p:cNvCxnSpPr/>
          <p:nvPr/>
        </p:nvCxnSpPr>
        <p:spPr>
          <a:xfrm>
            <a:off x="619125" y="475457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9" name="Connector 58"/>
          <p:cNvCxnSpPr/>
          <p:nvPr/>
        </p:nvCxnSpPr>
        <p:spPr>
          <a:xfrm>
            <a:off x="619125" y="519311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60" name="Connector 59"/>
          <p:cNvCxnSpPr/>
          <p:nvPr/>
        </p:nvCxnSpPr>
        <p:spPr>
          <a:xfrm>
            <a:off x="619125" y="563165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61" name="Connector 60"/>
          <p:cNvCxnSpPr/>
          <p:nvPr/>
        </p:nvCxnSpPr>
        <p:spPr>
          <a:xfrm>
            <a:off x="619125" y="607019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62" name="Connector 61"/>
          <p:cNvCxnSpPr/>
          <p:nvPr/>
        </p:nvCxnSpPr>
        <p:spPr>
          <a:xfrm>
            <a:off x="619125" y="4316035"/>
            <a:ext cx="0" cy="1754161"/>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3" name="Connector 62"/>
          <p:cNvCxnSpPr/>
          <p:nvPr/>
        </p:nvCxnSpPr>
        <p:spPr>
          <a:xfrm>
            <a:off x="590550" y="431603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4" name="Connector 63"/>
          <p:cNvCxnSpPr/>
          <p:nvPr/>
        </p:nvCxnSpPr>
        <p:spPr>
          <a:xfrm>
            <a:off x="590550" y="475457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5" name="Connector 64"/>
          <p:cNvCxnSpPr/>
          <p:nvPr/>
        </p:nvCxnSpPr>
        <p:spPr>
          <a:xfrm>
            <a:off x="590550" y="519311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6" name="Connector 65"/>
          <p:cNvCxnSpPr/>
          <p:nvPr/>
        </p:nvCxnSpPr>
        <p:spPr>
          <a:xfrm>
            <a:off x="590550" y="563165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7" name="Connector 66"/>
          <p:cNvCxnSpPr/>
          <p:nvPr/>
        </p:nvCxnSpPr>
        <p:spPr>
          <a:xfrm>
            <a:off x="590550" y="607019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68" name="FMI Scale tick"/>
          <p:cNvSpPr txBox="1"/>
          <p:nvPr/>
        </p:nvSpPr>
        <p:spPr>
          <a:xfrm>
            <a:off x="138112" y="4249360"/>
            <a:ext cx="442912" cy="133350"/>
          </a:xfrm>
          <a:prstGeom prst="rect">
            <a:avLst/>
          </a:prstGeom>
          <a:noFill/>
        </p:spPr>
        <p:txBody>
          <a:bodyPr wrap="square" lIns="28575" rIns="28575" tIns="9525" bIns="9525" anchor="ctr">
            <a:spAutoFit/>
          </a:bodyPr>
          <a:lstStyle/>
          <a:p>
            <a:pPr algn="r"/>
            <a:r>
              <a:rPr sz="1100" b="0">
                <a:solidFill>
                  <a:srgbClr val="6C7A89"/>
                </a:solidFill>
                <a:latin typeface="Calibri"/>
              </a:rPr>
              <a:t>+4.2%</a:t>
            </a:r>
          </a:p>
        </p:txBody>
      </p:sp>
      <p:sp>
        <p:nvSpPr>
          <p:cNvPr id="69" name="FMI Scale tick"/>
          <p:cNvSpPr txBox="1"/>
          <p:nvPr/>
        </p:nvSpPr>
        <p:spPr>
          <a:xfrm>
            <a:off x="138112" y="4687901"/>
            <a:ext cx="442912" cy="133350"/>
          </a:xfrm>
          <a:prstGeom prst="rect">
            <a:avLst/>
          </a:prstGeom>
          <a:noFill/>
        </p:spPr>
        <p:txBody>
          <a:bodyPr wrap="square" lIns="28575" rIns="28575" tIns="9525" bIns="9525" anchor="ctr">
            <a:spAutoFit/>
          </a:bodyPr>
          <a:lstStyle/>
          <a:p>
            <a:pPr algn="r"/>
            <a:r>
              <a:rPr sz="1100" b="0">
                <a:solidFill>
                  <a:srgbClr val="6C7A89"/>
                </a:solidFill>
                <a:latin typeface="Calibri"/>
              </a:rPr>
              <a:t>+2.1%</a:t>
            </a:r>
          </a:p>
        </p:txBody>
      </p:sp>
      <p:sp>
        <p:nvSpPr>
          <p:cNvPr id="70" name="FMI Scale tick"/>
          <p:cNvSpPr txBox="1"/>
          <p:nvPr/>
        </p:nvSpPr>
        <p:spPr>
          <a:xfrm>
            <a:off x="219075" y="5126441"/>
            <a:ext cx="361950" cy="133350"/>
          </a:xfrm>
          <a:prstGeom prst="rect">
            <a:avLst/>
          </a:prstGeom>
          <a:noFill/>
        </p:spPr>
        <p:txBody>
          <a:bodyPr wrap="square" lIns="28575" rIns="28575" tIns="9525" bIns="9525" anchor="ctr">
            <a:spAutoFit/>
          </a:bodyPr>
          <a:lstStyle/>
          <a:p>
            <a:pPr algn="r"/>
            <a:r>
              <a:rPr sz="1100" b="1">
                <a:solidFill>
                  <a:srgbClr val="6C7A89"/>
                </a:solidFill>
                <a:latin typeface="Calibri"/>
              </a:rPr>
              <a:t>North America</a:t>
            </a:r>
          </a:p>
        </p:txBody>
      </p:sp>
      <p:sp>
        <p:nvSpPr>
          <p:cNvPr id="71" name="FMI Scale tick"/>
          <p:cNvSpPr txBox="1"/>
          <p:nvPr/>
        </p:nvSpPr>
        <p:spPr>
          <a:xfrm>
            <a:off x="164306" y="5564981"/>
            <a:ext cx="416719" cy="133350"/>
          </a:xfrm>
          <a:prstGeom prst="rect">
            <a:avLst/>
          </a:prstGeom>
          <a:noFill/>
        </p:spPr>
        <p:txBody>
          <a:bodyPr wrap="square" lIns="28575" rIns="28575" tIns="9525" bIns="9525" anchor="ctr">
            <a:spAutoFit/>
          </a:bodyPr>
          <a:lstStyle/>
          <a:p>
            <a:pPr algn="r"/>
            <a:r>
              <a:rPr sz="1100" b="0">
                <a:solidFill>
                  <a:srgbClr val="6C7A89"/>
                </a:solidFill>
                <a:latin typeface="Calibri"/>
              </a:rPr>
              <a:t>-2.1%</a:t>
            </a:r>
          </a:p>
        </p:txBody>
      </p:sp>
      <p:sp>
        <p:nvSpPr>
          <p:cNvPr id="72" name="FMI Scale tick"/>
          <p:cNvSpPr txBox="1"/>
          <p:nvPr/>
        </p:nvSpPr>
        <p:spPr>
          <a:xfrm>
            <a:off x="164306" y="6003521"/>
            <a:ext cx="416719" cy="133350"/>
          </a:xfrm>
          <a:prstGeom prst="rect">
            <a:avLst/>
          </a:prstGeom>
          <a:noFill/>
        </p:spPr>
        <p:txBody>
          <a:bodyPr wrap="square" lIns="28575" rIns="28575" tIns="9525" bIns="9525" anchor="ctr">
            <a:spAutoFit/>
          </a:bodyPr>
          <a:lstStyle/>
          <a:p>
            <a:pPr algn="r"/>
            <a:r>
              <a:rPr sz="1100" b="0">
                <a:solidFill>
                  <a:srgbClr val="6C7A89"/>
                </a:solidFill>
                <a:latin typeface="Calibri"/>
              </a:rPr>
              <a:t>-4.2%</a:t>
            </a:r>
          </a:p>
        </p:txBody>
      </p:sp>
      <p:cxnSp>
        <p:nvCxnSpPr>
          <p:cNvPr id="73" name="Connector 72"/>
          <p:cNvCxnSpPr/>
          <p:nvPr/>
        </p:nvCxnSpPr>
        <p:spPr>
          <a:xfrm>
            <a:off x="619125" y="5193116"/>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74" name="Rectangle 73"/>
          <p:cNvSpPr/>
          <p:nvPr/>
        </p:nvSpPr>
        <p:spPr>
          <a:xfrm>
            <a:off x="2152650" y="5193116"/>
            <a:ext cx="457200" cy="335704"/>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FMI Data Label"/>
          <p:cNvSpPr txBox="1"/>
          <p:nvPr/>
        </p:nvSpPr>
        <p:spPr>
          <a:xfrm>
            <a:off x="619125" y="5538345"/>
            <a:ext cx="35242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76" name="Rectangle 75"/>
          <p:cNvSpPr/>
          <p:nvPr/>
        </p:nvSpPr>
        <p:spPr>
          <a:xfrm>
            <a:off x="5676900" y="4437287"/>
            <a:ext cx="457200" cy="755829"/>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FMI Data Label"/>
          <p:cNvSpPr txBox="1"/>
          <p:nvPr/>
        </p:nvSpPr>
        <p:spPr>
          <a:xfrm>
            <a:off x="4143375" y="4294412"/>
            <a:ext cx="35242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78" name="TextBox 77"/>
          <p:cNvSpPr txBox="1"/>
          <p:nvPr/>
        </p:nvSpPr>
        <p:spPr>
          <a:xfrm>
            <a:off x="619125" y="6242060"/>
            <a:ext cx="3524250" cy="247650"/>
          </a:xfrm>
          <a:prstGeom prst="rect">
            <a:avLst/>
          </a:prstGeom>
          <a:noFill/>
        </p:spPr>
        <p:txBody>
          <a:bodyPr wrap="square" lIns="28575" rIns="28575" tIns="9525" bIns="9525">
            <a:spAutoFit/>
          </a:bodyPr>
          <a:lstStyle/>
          <a:p>
            <a:pPr algn="ctr"/>
            <a:r>
              <a:rPr sz="1100" b="0">
                <a:solidFill>
                  <a:srgbClr val="2E2E2E"/>
                </a:solidFill>
                <a:latin typeface="Calibri"/>
              </a:rPr>
              <a:t>U.S.</a:t>
            </a:r>
          </a:p>
        </p:txBody>
      </p:sp>
      <p:sp>
        <p:nvSpPr>
          <p:cNvPr id="79" name="TextBox 78"/>
          <p:cNvSpPr txBox="1"/>
          <p:nvPr/>
        </p:nvSpPr>
        <p:spPr>
          <a:xfrm>
            <a:off x="4143375" y="6242060"/>
            <a:ext cx="3524250" cy="247650"/>
          </a:xfrm>
          <a:prstGeom prst="rect">
            <a:avLst/>
          </a:prstGeom>
          <a:noFill/>
        </p:spPr>
        <p:txBody>
          <a:bodyPr wrap="square" lIns="28575" rIns="28575" tIns="9525" bIns="9525">
            <a:spAutoFit/>
          </a:bodyPr>
          <a:lstStyle/>
          <a:p>
            <a:pPr algn="ctr"/>
            <a:r>
              <a:rPr sz="1100" b="0">
                <a:solidFill>
                  <a:srgbClr val="2E2E2E"/>
                </a:solidFill>
                <a:latin typeface="Calibri"/>
              </a:rPr>
              <a:t>Canada</a:t>
            </a:r>
          </a:p>
        </p:txBody>
      </p:sp>
      <p:sp>
        <p:nvSpPr>
          <p:cNvPr id="80" name="Rounded Rectangle 79"/>
          <p:cNvSpPr/>
          <p:nvPr/>
        </p:nvSpPr>
        <p:spPr>
          <a:xfrm>
            <a:off x="7915275" y="1052895"/>
            <a:ext cx="4133850" cy="550349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TextBox 80"/>
          <p:cNvSpPr txBox="1"/>
          <p:nvPr/>
        </p:nvSpPr>
        <p:spPr>
          <a:xfrm>
            <a:off x="8048625" y="1138620"/>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82" name="Rectangle 81"/>
          <p:cNvSpPr/>
          <p:nvPr/>
        </p:nvSpPr>
        <p:spPr>
          <a:xfrm>
            <a:off x="8048625" y="137674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TextBox 82"/>
          <p:cNvSpPr txBox="1"/>
          <p:nvPr/>
        </p:nvSpPr>
        <p:spPr>
          <a:xfrm>
            <a:off x="8048625" y="1462470"/>
            <a:ext cx="3867150" cy="501771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84" name="TextBox 8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85" name="Picture 84" descr="lock.png"/>
          <p:cNvPicPr>
            <a:picLocks noChangeAspect="1"/>
          </p:cNvPicPr>
          <p:nvPr/>
        </p:nvPicPr>
        <p:blipFill>
          <a:blip r:embed="rId4"/>
          <a:stretch>
            <a:fillRect/>
          </a:stretch>
        </p:blipFill>
        <p:spPr>
          <a:xfrm>
            <a:off x="1469175" y="2217278"/>
            <a:ext cx="128699" cy="187198"/>
          </a:xfrm>
          <a:prstGeom prst="rect">
            <a:avLst/>
          </a:prstGeom>
        </p:spPr>
      </p:pic>
      <p:pic>
        <p:nvPicPr>
          <p:cNvPr id="86" name="Picture 85" descr="lock.png"/>
          <p:cNvPicPr>
            <a:picLocks noChangeAspect="1"/>
          </p:cNvPicPr>
          <p:nvPr/>
        </p:nvPicPr>
        <p:blipFill>
          <a:blip r:embed="rId4"/>
          <a:stretch>
            <a:fillRect/>
          </a:stretch>
        </p:blipFill>
        <p:spPr>
          <a:xfrm>
            <a:off x="3221775" y="2069471"/>
            <a:ext cx="128699" cy="187198"/>
          </a:xfrm>
          <a:prstGeom prst="rect">
            <a:avLst/>
          </a:prstGeom>
        </p:spPr>
      </p:pic>
      <p:pic>
        <p:nvPicPr>
          <p:cNvPr id="87" name="Picture 86" descr="lock.png"/>
          <p:cNvPicPr>
            <a:picLocks noChangeAspect="1"/>
          </p:cNvPicPr>
          <p:nvPr/>
        </p:nvPicPr>
        <p:blipFill>
          <a:blip r:embed="rId4"/>
          <a:stretch>
            <a:fillRect/>
          </a:stretch>
        </p:blipFill>
        <p:spPr>
          <a:xfrm>
            <a:off x="4974375" y="1491005"/>
            <a:ext cx="128699" cy="187198"/>
          </a:xfrm>
          <a:prstGeom prst="rect">
            <a:avLst/>
          </a:prstGeom>
        </p:spPr>
      </p:pic>
      <p:pic>
        <p:nvPicPr>
          <p:cNvPr id="88" name="Picture 87" descr="lock.png"/>
          <p:cNvPicPr>
            <a:picLocks noChangeAspect="1"/>
          </p:cNvPicPr>
          <p:nvPr/>
        </p:nvPicPr>
        <p:blipFill>
          <a:blip r:embed="rId4"/>
          <a:stretch>
            <a:fillRect/>
          </a:stretch>
        </p:blipFill>
        <p:spPr>
          <a:xfrm>
            <a:off x="6726975" y="2707805"/>
            <a:ext cx="128699" cy="187198"/>
          </a:xfrm>
          <a:prstGeom prst="rect">
            <a:avLst/>
          </a:prstGeom>
        </p:spPr>
      </p:pic>
      <p:pic>
        <p:nvPicPr>
          <p:cNvPr id="89" name="Picture 88" descr="lock.png"/>
          <p:cNvPicPr>
            <a:picLocks noChangeAspect="1"/>
          </p:cNvPicPr>
          <p:nvPr/>
        </p:nvPicPr>
        <p:blipFill>
          <a:blip r:embed="rId4"/>
          <a:stretch>
            <a:fillRect/>
          </a:stretch>
        </p:blipFill>
        <p:spPr>
          <a:xfrm>
            <a:off x="2316900" y="5511421"/>
            <a:ext cx="128699" cy="187198"/>
          </a:xfrm>
          <a:prstGeom prst="rect">
            <a:avLst/>
          </a:prstGeom>
        </p:spPr>
      </p:pic>
      <p:pic>
        <p:nvPicPr>
          <p:cNvPr id="90" name="Picture 89" descr="lock.png"/>
          <p:cNvPicPr>
            <a:picLocks noChangeAspect="1"/>
          </p:cNvPicPr>
          <p:nvPr/>
        </p:nvPicPr>
        <p:blipFill>
          <a:blip r:embed="rId4"/>
          <a:stretch>
            <a:fillRect/>
          </a:stretch>
        </p:blipFill>
        <p:spPr>
          <a:xfrm>
            <a:off x="5841150" y="4267488"/>
            <a:ext cx="128699" cy="187198"/>
          </a:xfrm>
          <a:prstGeom prst="rect">
            <a:avLst/>
          </a:prstGeom>
        </p:spPr>
      </p:pic>
      <p:sp>
        <p:nvSpPr>
          <p:cNvPr id="91" name="TextBox 90"/>
          <p:cNvSpPr txBox="1"/>
          <p:nvPr/>
        </p:nvSpPr>
        <p:spPr>
          <a:xfrm>
            <a:off x="8048625" y="1471995"/>
            <a:ext cx="3781933" cy="194310"/>
          </a:xfrm>
          <a:prstGeom prst="rect">
            <a:avLst/>
          </a:prstGeom>
          <a:noFill/>
        </p:spPr>
        <p:txBody>
          <a:bodyPr wrap="none" lIns="0" rIns="0" tIns="0" bIns="0">
            <a:spAutoFit/>
          </a:bodyPr>
          <a:lstStyle/>
          <a:p>
            <a:r>
              <a:rPr sz="1150" b="0">
                <a:solidFill>
                  <a:srgbClr val="2E2E2E"/>
                </a:solidFill>
                <a:latin typeface="Calibri"/>
              </a:rPr>
              <a:t>Flexible partial dentures segment is expected to command the</a:t>
            </a:r>
          </a:p>
        </p:txBody>
      </p:sp>
      <p:sp>
        <p:nvSpPr>
          <p:cNvPr id="92" name="TextBox 91"/>
          <p:cNvSpPr txBox="1"/>
          <p:nvPr/>
        </p:nvSpPr>
        <p:spPr>
          <a:xfrm>
            <a:off x="8048625" y="1647255"/>
            <a:ext cx="1766899" cy="194310"/>
          </a:xfrm>
          <a:prstGeom prst="rect">
            <a:avLst/>
          </a:prstGeom>
          <a:noFill/>
        </p:spPr>
        <p:txBody>
          <a:bodyPr wrap="none" lIns="0" rIns="0" tIns="0" bIns="0">
            <a:spAutoFit/>
          </a:bodyPr>
          <a:lstStyle/>
          <a:p>
            <a:r>
              <a:rPr sz="1150" b="0">
                <a:solidFill>
                  <a:srgbClr val="2E2E2E"/>
                </a:solidFill>
                <a:latin typeface="Calibri"/>
              </a:rPr>
              <a:t>highest average price of US$</a:t>
            </a:r>
          </a:p>
        </p:txBody>
      </p:sp>
      <p:pic>
        <p:nvPicPr>
          <p:cNvPr id="93" name="Picture 92" descr="lock.png"/>
          <p:cNvPicPr>
            <a:picLocks noChangeAspect="1"/>
          </p:cNvPicPr>
          <p:nvPr/>
        </p:nvPicPr>
        <p:blipFill>
          <a:blip r:embed="rId4"/>
          <a:stretch>
            <a:fillRect/>
          </a:stretch>
        </p:blipFill>
        <p:spPr>
          <a:xfrm>
            <a:off x="9764678" y="1637031"/>
            <a:ext cx="134549" cy="195707"/>
          </a:xfrm>
          <a:prstGeom prst="rect">
            <a:avLst/>
          </a:prstGeom>
        </p:spPr>
      </p:pic>
      <p:sp>
        <p:nvSpPr>
          <p:cNvPr id="94" name="TextBox 93"/>
          <p:cNvSpPr txBox="1"/>
          <p:nvPr/>
        </p:nvSpPr>
        <p:spPr>
          <a:xfrm>
            <a:off x="9939788" y="1647255"/>
            <a:ext cx="1591713" cy="194310"/>
          </a:xfrm>
          <a:prstGeom prst="rect">
            <a:avLst/>
          </a:prstGeom>
          <a:noFill/>
        </p:spPr>
        <p:txBody>
          <a:bodyPr wrap="none" lIns="0" rIns="0" tIns="0" bIns="0">
            <a:spAutoFit/>
          </a:bodyPr>
          <a:lstStyle/>
          <a:p>
            <a:r>
              <a:rPr sz="1150" b="0">
                <a:solidFill>
                  <a:srgbClr val="2E2E2E"/>
                </a:solidFill>
                <a:latin typeface="Calibri"/>
              </a:rPr>
              <a:t>per Unit in 2036. Average</a:t>
            </a:r>
          </a:p>
        </p:txBody>
      </p:sp>
      <p:sp>
        <p:nvSpPr>
          <p:cNvPr id="95" name="TextBox 94"/>
          <p:cNvSpPr txBox="1"/>
          <p:nvPr/>
        </p:nvSpPr>
        <p:spPr>
          <a:xfrm>
            <a:off x="8048625" y="1822515"/>
            <a:ext cx="3763391" cy="194310"/>
          </a:xfrm>
          <a:prstGeom prst="rect">
            <a:avLst/>
          </a:prstGeom>
          <a:noFill/>
        </p:spPr>
        <p:txBody>
          <a:bodyPr wrap="none" lIns="0" rIns="0" tIns="0" bIns="0">
            <a:spAutoFit/>
          </a:bodyPr>
          <a:lstStyle/>
          <a:p>
            <a:r>
              <a:rPr sz="1150" b="0">
                <a:solidFill>
                  <a:srgbClr val="2E2E2E"/>
                </a:solidFill>
                <a:latin typeface="Calibri"/>
              </a:rPr>
              <a:t>selling price of removable partial dentures is estimated at US$</a:t>
            </a:r>
          </a:p>
        </p:txBody>
      </p:sp>
      <p:pic>
        <p:nvPicPr>
          <p:cNvPr id="96" name="Picture 95" descr="lock.png"/>
          <p:cNvPicPr>
            <a:picLocks noChangeAspect="1"/>
          </p:cNvPicPr>
          <p:nvPr/>
        </p:nvPicPr>
        <p:blipFill>
          <a:blip r:embed="rId4"/>
          <a:stretch>
            <a:fillRect/>
          </a:stretch>
        </p:blipFill>
        <p:spPr>
          <a:xfrm>
            <a:off x="8034545" y="1987551"/>
            <a:ext cx="134549" cy="195707"/>
          </a:xfrm>
          <a:prstGeom prst="rect">
            <a:avLst/>
          </a:prstGeom>
        </p:spPr>
      </p:pic>
      <p:sp>
        <p:nvSpPr>
          <p:cNvPr id="97" name="TextBox 96"/>
          <p:cNvSpPr txBox="1"/>
          <p:nvPr/>
        </p:nvSpPr>
        <p:spPr>
          <a:xfrm>
            <a:off x="8209654" y="1997775"/>
            <a:ext cx="3138115" cy="194310"/>
          </a:xfrm>
          <a:prstGeom prst="rect">
            <a:avLst/>
          </a:prstGeom>
          <a:noFill/>
        </p:spPr>
        <p:txBody>
          <a:bodyPr wrap="none" lIns="0" rIns="0" tIns="0" bIns="0">
            <a:spAutoFit/>
          </a:bodyPr>
          <a:lstStyle/>
          <a:p>
            <a:r>
              <a:rPr sz="1150" b="0">
                <a:solidFill>
                  <a:srgbClr val="2E2E2E"/>
                </a:solidFill>
                <a:latin typeface="Calibri"/>
              </a:rPr>
              <a:t>per Unit in 2025 and is projected to increase to US$</a:t>
            </a:r>
          </a:p>
        </p:txBody>
      </p:sp>
      <p:pic>
        <p:nvPicPr>
          <p:cNvPr id="98" name="Picture 97" descr="lock.png"/>
          <p:cNvPicPr>
            <a:picLocks noChangeAspect="1"/>
          </p:cNvPicPr>
          <p:nvPr/>
        </p:nvPicPr>
        <p:blipFill>
          <a:blip r:embed="rId4"/>
          <a:stretch>
            <a:fillRect/>
          </a:stretch>
        </p:blipFill>
        <p:spPr>
          <a:xfrm>
            <a:off x="11296924" y="1987551"/>
            <a:ext cx="134549" cy="195707"/>
          </a:xfrm>
          <a:prstGeom prst="rect">
            <a:avLst/>
          </a:prstGeom>
        </p:spPr>
      </p:pic>
      <p:sp>
        <p:nvSpPr>
          <p:cNvPr id="99" name="TextBox 98"/>
          <p:cNvSpPr txBox="1"/>
          <p:nvPr/>
        </p:nvSpPr>
        <p:spPr>
          <a:xfrm>
            <a:off x="8048625" y="2173035"/>
            <a:ext cx="1105681" cy="194310"/>
          </a:xfrm>
          <a:prstGeom prst="rect">
            <a:avLst/>
          </a:prstGeom>
          <a:noFill/>
        </p:spPr>
        <p:txBody>
          <a:bodyPr wrap="none" lIns="0" rIns="0" tIns="0" bIns="0">
            <a:spAutoFit/>
          </a:bodyPr>
          <a:lstStyle/>
          <a:p>
            <a:r>
              <a:rPr sz="1150" b="0">
                <a:solidFill>
                  <a:srgbClr val="2E2E2E"/>
                </a:solidFill>
                <a:latin typeface="Calibri"/>
              </a:rPr>
              <a:t>per Unit by 2036.</a:t>
            </a:r>
          </a:p>
        </p:txBody>
      </p:sp>
      <p:sp>
        <p:nvSpPr>
          <p:cNvPr id="100" name="TextBox 99"/>
          <p:cNvSpPr txBox="1"/>
          <p:nvPr/>
        </p:nvSpPr>
        <p:spPr>
          <a:xfrm>
            <a:off x="8048625" y="2400873"/>
            <a:ext cx="3596518" cy="194310"/>
          </a:xfrm>
          <a:prstGeom prst="rect">
            <a:avLst/>
          </a:prstGeom>
          <a:noFill/>
        </p:spPr>
        <p:txBody>
          <a:bodyPr wrap="none" lIns="0" rIns="0" tIns="0" bIns="0">
            <a:spAutoFit/>
          </a:bodyPr>
          <a:lstStyle/>
          <a:p>
            <a:r>
              <a:rPr sz="1150" b="0">
                <a:solidFill>
                  <a:srgbClr val="2E2E2E"/>
                </a:solidFill>
                <a:latin typeface="Calibri"/>
              </a:rPr>
              <a:t>Canada is the highest-priced country, while U.S. is the most</a:t>
            </a:r>
          </a:p>
        </p:txBody>
      </p:sp>
      <p:sp>
        <p:nvSpPr>
          <p:cNvPr id="101" name="TextBox 100"/>
          <p:cNvSpPr txBox="1"/>
          <p:nvPr/>
        </p:nvSpPr>
        <p:spPr>
          <a:xfrm>
            <a:off x="8048625" y="2576133"/>
            <a:ext cx="3714898" cy="194310"/>
          </a:xfrm>
          <a:prstGeom prst="rect">
            <a:avLst/>
          </a:prstGeom>
          <a:noFill/>
        </p:spPr>
        <p:txBody>
          <a:bodyPr wrap="none" lIns="0" rIns="0" tIns="0" bIns="0">
            <a:spAutoFit/>
          </a:bodyPr>
          <a:lstStyle/>
          <a:p>
            <a:r>
              <a:rPr sz="1150" b="0">
                <a:solidFill>
                  <a:srgbClr val="2E2E2E"/>
                </a:solidFill>
                <a:latin typeface="Calibri"/>
              </a:rPr>
              <a:t>price-competitive market. Against the North America price of</a:t>
            </a:r>
          </a:p>
        </p:txBody>
      </p:sp>
      <p:pic>
        <p:nvPicPr>
          <p:cNvPr id="102" name="Picture 101" descr="lock.png"/>
          <p:cNvPicPr>
            <a:picLocks noChangeAspect="1"/>
          </p:cNvPicPr>
          <p:nvPr/>
        </p:nvPicPr>
        <p:blipFill>
          <a:blip r:embed="rId4"/>
          <a:stretch>
            <a:fillRect/>
          </a:stretch>
        </p:blipFill>
        <p:spPr>
          <a:xfrm>
            <a:off x="8034545" y="2741169"/>
            <a:ext cx="134549" cy="195707"/>
          </a:xfrm>
          <a:prstGeom prst="rect">
            <a:avLst/>
          </a:prstGeom>
        </p:spPr>
      </p:pic>
      <p:sp>
        <p:nvSpPr>
          <p:cNvPr id="103" name="TextBox 102"/>
          <p:cNvSpPr txBox="1"/>
          <p:nvPr/>
        </p:nvSpPr>
        <p:spPr>
          <a:xfrm>
            <a:off x="8209654" y="2751393"/>
            <a:ext cx="3195451" cy="194310"/>
          </a:xfrm>
          <a:prstGeom prst="rect">
            <a:avLst/>
          </a:prstGeom>
          <a:noFill/>
        </p:spPr>
        <p:txBody>
          <a:bodyPr wrap="none" lIns="0" rIns="0" tIns="0" bIns="0">
            <a:spAutoFit/>
          </a:bodyPr>
          <a:lstStyle/>
          <a:p>
            <a:r>
              <a:rPr sz="1150" b="0">
                <a:solidFill>
                  <a:srgbClr val="2E2E2E"/>
                </a:solidFill>
                <a:latin typeface="Calibri"/>
              </a:rPr>
              <a:t>US$/Units, 1 of 2 countries price above and 1 below.</a:t>
            </a:r>
          </a:p>
        </p:txBody>
      </p:sp>
      <p:sp>
        <p:nvSpPr>
          <p:cNvPr id="104" name="TextBox 103"/>
          <p:cNvSpPr txBox="1"/>
          <p:nvPr/>
        </p:nvSpPr>
        <p:spPr>
          <a:xfrm>
            <a:off x="8048625" y="2979230"/>
            <a:ext cx="1677330" cy="194310"/>
          </a:xfrm>
          <a:prstGeom prst="rect">
            <a:avLst/>
          </a:prstGeom>
          <a:noFill/>
        </p:spPr>
        <p:txBody>
          <a:bodyPr wrap="none" lIns="0" rIns="0" tIns="0" bIns="0">
            <a:spAutoFit/>
          </a:bodyPr>
          <a:lstStyle/>
          <a:p>
            <a:r>
              <a:rPr sz="1150" b="0">
                <a:solidFill>
                  <a:srgbClr val="2E2E2E"/>
                </a:solidFill>
                <a:latin typeface="Calibri"/>
              </a:rPr>
              <a:t>'Canada' is the dearest at +</a:t>
            </a:r>
          </a:p>
        </p:txBody>
      </p:sp>
      <p:pic>
        <p:nvPicPr>
          <p:cNvPr id="105" name="Picture 104" descr="lock.png"/>
          <p:cNvPicPr>
            <a:picLocks noChangeAspect="1"/>
          </p:cNvPicPr>
          <p:nvPr/>
        </p:nvPicPr>
        <p:blipFill>
          <a:blip r:embed="rId4"/>
          <a:stretch>
            <a:fillRect/>
          </a:stretch>
        </p:blipFill>
        <p:spPr>
          <a:xfrm>
            <a:off x="9675109" y="2969007"/>
            <a:ext cx="134549" cy="195707"/>
          </a:xfrm>
          <a:prstGeom prst="rect">
            <a:avLst/>
          </a:prstGeom>
        </p:spPr>
      </p:pic>
      <p:sp>
        <p:nvSpPr>
          <p:cNvPr id="106" name="TextBox 105"/>
          <p:cNvSpPr txBox="1"/>
          <p:nvPr/>
        </p:nvSpPr>
        <p:spPr>
          <a:xfrm>
            <a:off x="9850218" y="2979230"/>
            <a:ext cx="1961728" cy="194310"/>
          </a:xfrm>
          <a:prstGeom prst="rect">
            <a:avLst/>
          </a:prstGeom>
          <a:noFill/>
        </p:spPr>
        <p:txBody>
          <a:bodyPr wrap="none" lIns="0" rIns="0" tIns="0" bIns="0">
            <a:spAutoFit/>
          </a:bodyPr>
          <a:lstStyle/>
          <a:p>
            <a:r>
              <a:rPr sz="1150" b="0">
                <a:solidFill>
                  <a:srgbClr val="2E2E2E"/>
                </a:solidFill>
                <a:latin typeface="Calibri"/>
              </a:rPr>
              <a:t>versus North America, 'U.S.' the</a:t>
            </a:r>
          </a:p>
        </p:txBody>
      </p:sp>
      <p:sp>
        <p:nvSpPr>
          <p:cNvPr id="107" name="TextBox 106"/>
          <p:cNvSpPr txBox="1"/>
          <p:nvPr/>
        </p:nvSpPr>
        <p:spPr>
          <a:xfrm>
            <a:off x="8048625" y="3154490"/>
            <a:ext cx="842962" cy="194310"/>
          </a:xfrm>
          <a:prstGeom prst="rect">
            <a:avLst/>
          </a:prstGeom>
          <a:noFill/>
        </p:spPr>
        <p:txBody>
          <a:bodyPr wrap="none" lIns="0" rIns="0" tIns="0" bIns="0">
            <a:spAutoFit/>
          </a:bodyPr>
          <a:lstStyle/>
          <a:p>
            <a:r>
              <a:rPr sz="1150" b="0">
                <a:solidFill>
                  <a:srgbClr val="2E2E2E"/>
                </a:solidFill>
                <a:latin typeface="Calibri"/>
              </a:rPr>
              <a:t>cheapest at -</a:t>
            </a:r>
          </a:p>
        </p:txBody>
      </p:sp>
      <p:pic>
        <p:nvPicPr>
          <p:cNvPr id="108" name="Picture 107" descr="lock.png"/>
          <p:cNvPicPr>
            <a:picLocks noChangeAspect="1"/>
          </p:cNvPicPr>
          <p:nvPr/>
        </p:nvPicPr>
        <p:blipFill>
          <a:blip r:embed="rId4"/>
          <a:stretch>
            <a:fillRect/>
          </a:stretch>
        </p:blipFill>
        <p:spPr>
          <a:xfrm>
            <a:off x="8840741" y="3144267"/>
            <a:ext cx="134549" cy="195707"/>
          </a:xfrm>
          <a:prstGeom prst="rect">
            <a:avLst/>
          </a:prstGeom>
        </p:spPr>
      </p:pic>
      <p:sp>
        <p:nvSpPr>
          <p:cNvPr id="109" name="TextBox 108"/>
          <p:cNvSpPr txBox="1"/>
          <p:nvPr/>
        </p:nvSpPr>
        <p:spPr>
          <a:xfrm>
            <a:off x="9015850" y="3154490"/>
            <a:ext cx="2728205" cy="194310"/>
          </a:xfrm>
          <a:prstGeom prst="rect">
            <a:avLst/>
          </a:prstGeom>
          <a:noFill/>
        </p:spPr>
        <p:txBody>
          <a:bodyPr wrap="none" lIns="0" rIns="0" tIns="0" bIns="0">
            <a:spAutoFit/>
          </a:bodyPr>
          <a:lstStyle/>
          <a:p>
            <a:r>
              <a:rPr sz="1150" b="0">
                <a:solidFill>
                  <a:srgbClr val="2E2E2E"/>
                </a:solidFill>
                <a:latin typeface="Calibri"/>
              </a:rPr>
              <a:t>pointing to premiumisation headroom in the</a:t>
            </a:r>
          </a:p>
        </p:txBody>
      </p:sp>
      <p:sp>
        <p:nvSpPr>
          <p:cNvPr id="110" name="TextBox 109"/>
          <p:cNvSpPr txBox="1"/>
          <p:nvPr/>
        </p:nvSpPr>
        <p:spPr>
          <a:xfrm>
            <a:off x="8048625" y="3329750"/>
            <a:ext cx="1458540" cy="194310"/>
          </a:xfrm>
          <a:prstGeom prst="rect">
            <a:avLst/>
          </a:prstGeom>
          <a:noFill/>
        </p:spPr>
        <p:txBody>
          <a:bodyPr wrap="none" lIns="0" rIns="0" tIns="0" bIns="0">
            <a:spAutoFit/>
          </a:bodyPr>
          <a:lstStyle/>
          <a:p>
            <a:r>
              <a:rPr sz="1150" b="0">
                <a:solidFill>
                  <a:srgbClr val="2E2E2E"/>
                </a:solidFill>
                <a:latin typeface="Calibri"/>
              </a:rPr>
              <a:t>lower-priced countries.</a:t>
            </a:r>
          </a:p>
        </p:txBody>
      </p:sp>
    </p:spTree>
  </p:cSld>
  <p:clrMapOvr>
    <a:masterClrMapping/>
  </p:clrMapOvr>
</p:sld>
</file>

<file path=ppt/slides/slide1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Removable Partial Dentures Market Summary, By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North America market value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(US$ MN)</a:t>
            </a:r>
          </a:p>
          <a:p>
            <a:pPr algn="ctr">
              <a:lnSpc>
                <a:spcPct val="95000"/>
              </a:lnSpc>
            </a:pPr>
            <a:r>
              <a:rPr sz="1500" b="1">
                <a:solidFill>
                  <a:srgbClr val="0E72AE"/>
                </a:solidFill>
                <a:latin typeface="Calibri"/>
              </a:rPr>
              <a:t> </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 </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 </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 </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(US$ Mn)</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3051231"/>
          </a:xfrm>
          <a:prstGeom prst="roundRect">
            <a:avLst>
              <a:gd name="adj" fmla="val 24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2565456"/>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
            </a:r>
          </a:p>
          <a:p>
            <a:pPr algn="l">
              <a:lnSpc>
                <a:spcPct val="110000"/>
              </a:lnSpc>
              <a:spcBef>
                <a:spcPts val="0"/>
              </a:spcBef>
              <a:spcAft>
                <a:spcPts val="500"/>
              </a:spcAft>
            </a:pPr>
            <a:r>
              <a:rPr sz="1100" b="0">
                <a:solidFill>
                  <a:srgbClr val="2E2E2E"/>
                </a:solidFill>
                <a:latin typeface="Calibri"/>
              </a:rPr>
              <a:t/>
            </a:r>
          </a:p>
          <a:p>
            <a:pPr algn="l">
              <a:lnSpc>
                <a:spcPct val="110000"/>
              </a:lnSpc>
              <a:spcBef>
                <a:spcPts val="0"/>
              </a:spcBef>
              <a:spcAft>
                <a:spcPts val="500"/>
              </a:spcAft>
            </a:pPr>
            <a:r>
              <a:rPr sz="1100" b="0">
                <a:solidFill>
                  <a:srgbClr val="2E2E2E"/>
                </a:solidFill>
                <a:latin typeface="Calibri"/>
              </a:rPr>
              <a:t/>
            </a:r>
          </a:p>
        </p:txBody>
      </p:sp>
      <p:sp>
        <p:nvSpPr>
          <p:cNvPr id="25" name="Rounded Rectangle 24"/>
          <p:cNvSpPr/>
          <p:nvPr/>
        </p:nvSpPr>
        <p:spPr>
          <a:xfrm>
            <a:off x="7915275" y="4733879"/>
            <a:ext cx="4133850" cy="1822506"/>
          </a:xfrm>
          <a:prstGeom prst="roundRect">
            <a:avLst>
              <a:gd name="adj" fmla="val 418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819604"/>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5057729"/>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5143454"/>
            <a:ext cx="3867150" cy="1336731"/>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6"/>
          <a:stretch>
            <a:fillRect/>
          </a:stretch>
        </p:blipFill>
        <p:spPr>
          <a:xfrm>
            <a:off x="1502569" y="1250587"/>
            <a:ext cx="157162" cy="228600"/>
          </a:xfrm>
          <a:prstGeom prst="rect">
            <a:avLst/>
          </a:prstGeom>
        </p:spPr>
      </p:pic>
      <p:pic>
        <p:nvPicPr>
          <p:cNvPr id="31" name="Picture 30" descr="lock.png"/>
          <p:cNvPicPr>
            <a:picLocks noChangeAspect="1"/>
          </p:cNvPicPr>
          <p:nvPr/>
        </p:nvPicPr>
        <p:blipFill>
          <a:blip r:embed="rId6"/>
          <a:stretch>
            <a:fillRect/>
          </a:stretch>
        </p:blipFill>
        <p:spPr>
          <a:xfrm>
            <a:off x="4502944" y="1250587"/>
            <a:ext cx="157162" cy="228600"/>
          </a:xfrm>
          <a:prstGeom prst="rect">
            <a:avLst/>
          </a:prstGeom>
        </p:spPr>
      </p:pic>
      <p:pic>
        <p:nvPicPr>
          <p:cNvPr id="32" name="Picture 31" descr="lock.png"/>
          <p:cNvPicPr>
            <a:picLocks noChangeAspect="1"/>
          </p:cNvPicPr>
          <p:nvPr/>
        </p:nvPicPr>
        <p:blipFill>
          <a:blip r:embed="rId6"/>
          <a:stretch>
            <a:fillRect/>
          </a:stretch>
        </p:blipFill>
        <p:spPr>
          <a:xfrm>
            <a:off x="7512844" y="1250587"/>
            <a:ext cx="157162" cy="228600"/>
          </a:xfrm>
          <a:prstGeom prst="rect">
            <a:avLst/>
          </a:prstGeom>
        </p:spPr>
      </p:pic>
      <p:pic>
        <p:nvPicPr>
          <p:cNvPr id="33" name="Picture 32" descr="lock.png"/>
          <p:cNvPicPr>
            <a:picLocks noChangeAspect="1"/>
          </p:cNvPicPr>
          <p:nvPr/>
        </p:nvPicPr>
        <p:blipFill>
          <a:blip r:embed="rId6"/>
          <a:stretch>
            <a:fillRect/>
          </a:stretch>
        </p:blipFill>
        <p:spPr>
          <a:xfrm>
            <a:off x="10522744" y="1250587"/>
            <a:ext cx="157162" cy="228600"/>
          </a:xfrm>
          <a:prstGeom prst="rect">
            <a:avLst/>
          </a:prstGeom>
        </p:spPr>
      </p:pic>
      <p:pic>
        <p:nvPicPr>
          <p:cNvPr id="34" name="Picture 33" descr="lock.png"/>
          <p:cNvPicPr>
            <a:picLocks noChangeAspect="1"/>
          </p:cNvPicPr>
          <p:nvPr/>
        </p:nvPicPr>
        <p:blipFill>
          <a:blip r:embed="rId6"/>
          <a:stretch>
            <a:fillRect/>
          </a:stretch>
        </p:blipFill>
        <p:spPr>
          <a:xfrm>
            <a:off x="3991062" y="5157531"/>
            <a:ext cx="289830" cy="421571"/>
          </a:xfrm>
          <a:prstGeom prst="rect">
            <a:avLst/>
          </a:prstGeom>
        </p:spPr>
      </p:pic>
      <p:sp>
        <p:nvSpPr>
          <p:cNvPr id="35" name="TextBox 34"/>
          <p:cNvSpPr txBox="1"/>
          <p:nvPr/>
        </p:nvSpPr>
        <p:spPr>
          <a:xfrm>
            <a:off x="8048625" y="2046987"/>
            <a:ext cx="3549054" cy="186689"/>
          </a:xfrm>
          <a:prstGeom prst="rect">
            <a:avLst/>
          </a:prstGeom>
          <a:noFill/>
        </p:spPr>
        <p:txBody>
          <a:bodyPr wrap="none" lIns="0" rIns="0" tIns="0" bIns="0">
            <a:spAutoFit/>
          </a:bodyPr>
          <a:lstStyle/>
          <a:p>
            <a:r>
              <a:rPr sz="1100" b="0">
                <a:solidFill>
                  <a:srgbClr val="2E2E2E"/>
                </a:solidFill>
                <a:latin typeface="Calibri"/>
              </a:rPr>
              <a:t>Removable partial dentures market value in North America is</a:t>
            </a:r>
          </a:p>
        </p:txBody>
      </p:sp>
      <p:sp>
        <p:nvSpPr>
          <p:cNvPr id="36" name="TextBox 35"/>
          <p:cNvSpPr txBox="1"/>
          <p:nvPr/>
        </p:nvSpPr>
        <p:spPr>
          <a:xfrm>
            <a:off x="8048625" y="2214627"/>
            <a:ext cx="1256555" cy="186689"/>
          </a:xfrm>
          <a:prstGeom prst="rect">
            <a:avLst/>
          </a:prstGeom>
          <a:noFill/>
        </p:spPr>
        <p:txBody>
          <a:bodyPr wrap="none" lIns="0" rIns="0" tIns="0" bIns="0">
            <a:spAutoFit/>
          </a:bodyPr>
          <a:lstStyle/>
          <a:p>
            <a:r>
              <a:rPr sz="1100" b="0">
                <a:solidFill>
                  <a:srgbClr val="2E2E2E"/>
                </a:solidFill>
                <a:latin typeface="Calibri"/>
              </a:rPr>
              <a:t>expected to increase</a:t>
            </a:r>
          </a:p>
        </p:txBody>
      </p:sp>
      <p:pic>
        <p:nvPicPr>
          <p:cNvPr id="37" name="Picture 36" descr="lock.png"/>
          <p:cNvPicPr>
            <a:picLocks noChangeAspect="1"/>
          </p:cNvPicPr>
          <p:nvPr/>
        </p:nvPicPr>
        <p:blipFill>
          <a:blip r:embed="rId6"/>
          <a:stretch>
            <a:fillRect/>
          </a:stretch>
        </p:blipFill>
        <p:spPr>
          <a:xfrm>
            <a:off x="9253232" y="2204848"/>
            <a:ext cx="128699" cy="187198"/>
          </a:xfrm>
          <a:prstGeom prst="rect">
            <a:avLst/>
          </a:prstGeom>
        </p:spPr>
      </p:pic>
      <p:sp>
        <p:nvSpPr>
          <p:cNvPr id="38" name="TextBox 37"/>
          <p:cNvSpPr txBox="1"/>
          <p:nvPr/>
        </p:nvSpPr>
        <p:spPr>
          <a:xfrm>
            <a:off x="9420728" y="2214627"/>
            <a:ext cx="2306215" cy="186689"/>
          </a:xfrm>
          <a:prstGeom prst="rect">
            <a:avLst/>
          </a:prstGeom>
          <a:noFill/>
        </p:spPr>
        <p:txBody>
          <a:bodyPr wrap="none" lIns="0" rIns="0" tIns="0" bIns="0">
            <a:spAutoFit/>
          </a:bodyPr>
          <a:lstStyle/>
          <a:p>
            <a:r>
              <a:rPr sz="1100" b="0">
                <a:solidFill>
                  <a:srgbClr val="2E2E2E"/>
                </a:solidFill>
                <a:latin typeface="Calibri"/>
              </a:rPr>
              <a:t>X between 2025 and 2036. In 2025, the</a:t>
            </a:r>
          </a:p>
        </p:txBody>
      </p:sp>
      <p:sp>
        <p:nvSpPr>
          <p:cNvPr id="39" name="TextBox 38"/>
          <p:cNvSpPr txBox="1"/>
          <p:nvPr/>
        </p:nvSpPr>
        <p:spPr>
          <a:xfrm>
            <a:off x="8048625" y="2382267"/>
            <a:ext cx="3848100" cy="186689"/>
          </a:xfrm>
          <a:prstGeom prst="rect">
            <a:avLst/>
          </a:prstGeom>
          <a:noFill/>
        </p:spPr>
        <p:txBody>
          <a:bodyPr wrap="none" lIns="0" rIns="0" tIns="0" bIns="0">
            <a:spAutoFit/>
          </a:bodyPr>
          <a:lstStyle/>
          <a:p>
            <a:r>
              <a:rPr sz="1100" b="0">
                <a:solidFill>
                  <a:srgbClr val="2E2E2E"/>
                </a:solidFill>
                <a:latin typeface="Calibri"/>
              </a:rPr>
              <a:t>removable partial dentures market in North America was valued at</a:t>
            </a:r>
          </a:p>
        </p:txBody>
      </p:sp>
      <p:sp>
        <p:nvSpPr>
          <p:cNvPr id="40" name="TextBox 39"/>
          <p:cNvSpPr txBox="1"/>
          <p:nvPr/>
        </p:nvSpPr>
        <p:spPr>
          <a:xfrm>
            <a:off x="8048625" y="2549907"/>
            <a:ext cx="301029" cy="186689"/>
          </a:xfrm>
          <a:prstGeom prst="rect">
            <a:avLst/>
          </a:prstGeom>
          <a:noFill/>
        </p:spPr>
        <p:txBody>
          <a:bodyPr wrap="none" lIns="0" rIns="0" tIns="0" bIns="0">
            <a:spAutoFit/>
          </a:bodyPr>
          <a:lstStyle/>
          <a:p>
            <a:r>
              <a:rPr sz="1100" b="0">
                <a:solidFill>
                  <a:srgbClr val="2E2E2E"/>
                </a:solidFill>
                <a:latin typeface="Calibri"/>
              </a:rPr>
              <a:t>US$</a:t>
            </a:r>
          </a:p>
        </p:txBody>
      </p:sp>
      <p:pic>
        <p:nvPicPr>
          <p:cNvPr id="41" name="Picture 40" descr="lock.png"/>
          <p:cNvPicPr>
            <a:picLocks noChangeAspect="1"/>
          </p:cNvPicPr>
          <p:nvPr/>
        </p:nvPicPr>
        <p:blipFill>
          <a:blip r:embed="rId6"/>
          <a:stretch>
            <a:fillRect/>
          </a:stretch>
        </p:blipFill>
        <p:spPr>
          <a:xfrm>
            <a:off x="8297706" y="2540128"/>
            <a:ext cx="128699" cy="187198"/>
          </a:xfrm>
          <a:prstGeom prst="rect">
            <a:avLst/>
          </a:prstGeom>
        </p:spPr>
      </p:pic>
      <p:sp>
        <p:nvSpPr>
          <p:cNvPr id="42" name="TextBox 41"/>
          <p:cNvSpPr txBox="1"/>
          <p:nvPr/>
        </p:nvSpPr>
        <p:spPr>
          <a:xfrm>
            <a:off x="8465202" y="2549907"/>
            <a:ext cx="2325861" cy="186689"/>
          </a:xfrm>
          <a:prstGeom prst="rect">
            <a:avLst/>
          </a:prstGeom>
          <a:noFill/>
        </p:spPr>
        <p:txBody>
          <a:bodyPr wrap="none" lIns="0" rIns="0" tIns="0" bIns="0">
            <a:spAutoFit/>
          </a:bodyPr>
          <a:lstStyle/>
          <a:p>
            <a:r>
              <a:rPr sz="1100" b="0">
                <a:solidFill>
                  <a:srgbClr val="2E2E2E"/>
                </a:solidFill>
                <a:latin typeface="Calibri"/>
              </a:rPr>
              <a:t>Mn and is estimated to account for US$</a:t>
            </a:r>
          </a:p>
        </p:txBody>
      </p:sp>
      <p:pic>
        <p:nvPicPr>
          <p:cNvPr id="43" name="Picture 42" descr="lock.png"/>
          <p:cNvPicPr>
            <a:picLocks noChangeAspect="1"/>
          </p:cNvPicPr>
          <p:nvPr/>
        </p:nvPicPr>
        <p:blipFill>
          <a:blip r:embed="rId6"/>
          <a:stretch>
            <a:fillRect/>
          </a:stretch>
        </p:blipFill>
        <p:spPr>
          <a:xfrm>
            <a:off x="10739114" y="2540128"/>
            <a:ext cx="128699" cy="187198"/>
          </a:xfrm>
          <a:prstGeom prst="rect">
            <a:avLst/>
          </a:prstGeom>
        </p:spPr>
      </p:pic>
      <p:sp>
        <p:nvSpPr>
          <p:cNvPr id="44" name="TextBox 43"/>
          <p:cNvSpPr txBox="1"/>
          <p:nvPr/>
        </p:nvSpPr>
        <p:spPr>
          <a:xfrm>
            <a:off x="10906610" y="2549907"/>
            <a:ext cx="907033" cy="186689"/>
          </a:xfrm>
          <a:prstGeom prst="rect">
            <a:avLst/>
          </a:prstGeom>
          <a:noFill/>
        </p:spPr>
        <p:txBody>
          <a:bodyPr wrap="none" lIns="0" rIns="0" tIns="0" bIns="0">
            <a:spAutoFit/>
          </a:bodyPr>
          <a:lstStyle/>
          <a:p>
            <a:r>
              <a:rPr sz="1100" b="0">
                <a:solidFill>
                  <a:srgbClr val="2E2E2E"/>
                </a:solidFill>
                <a:latin typeface="Calibri"/>
              </a:rPr>
              <a:t>Mn by the end</a:t>
            </a:r>
          </a:p>
        </p:txBody>
      </p:sp>
      <p:sp>
        <p:nvSpPr>
          <p:cNvPr id="45" name="TextBox 44"/>
          <p:cNvSpPr txBox="1"/>
          <p:nvPr/>
        </p:nvSpPr>
        <p:spPr>
          <a:xfrm>
            <a:off x="8048625" y="2717547"/>
            <a:ext cx="2392436" cy="186689"/>
          </a:xfrm>
          <a:prstGeom prst="rect">
            <a:avLst/>
          </a:prstGeom>
          <a:noFill/>
        </p:spPr>
        <p:txBody>
          <a:bodyPr wrap="none" lIns="0" rIns="0" tIns="0" bIns="0">
            <a:spAutoFit/>
          </a:bodyPr>
          <a:lstStyle/>
          <a:p>
            <a:r>
              <a:rPr sz="1100" b="0">
                <a:solidFill>
                  <a:srgbClr val="2E2E2E"/>
                </a:solidFill>
                <a:latin typeface="Calibri"/>
              </a:rPr>
              <a:t>of 2026, reflecting a Y-o-Y growth rate of</a:t>
            </a:r>
          </a:p>
        </p:txBody>
      </p:sp>
      <p:pic>
        <p:nvPicPr>
          <p:cNvPr id="46" name="Picture 45" descr="lock.png"/>
          <p:cNvPicPr>
            <a:picLocks noChangeAspect="1"/>
          </p:cNvPicPr>
          <p:nvPr/>
        </p:nvPicPr>
        <p:blipFill>
          <a:blip r:embed="rId6"/>
          <a:stretch>
            <a:fillRect/>
          </a:stretch>
        </p:blipFill>
        <p:spPr>
          <a:xfrm>
            <a:off x="10389113" y="2707768"/>
            <a:ext cx="128699" cy="187198"/>
          </a:xfrm>
          <a:prstGeom prst="rect">
            <a:avLst/>
          </a:prstGeom>
        </p:spPr>
      </p:pic>
      <p:sp>
        <p:nvSpPr>
          <p:cNvPr id="47" name="TextBox 46"/>
          <p:cNvSpPr txBox="1"/>
          <p:nvPr/>
        </p:nvSpPr>
        <p:spPr>
          <a:xfrm>
            <a:off x="10556609" y="2717547"/>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48" name="TextBox 47"/>
          <p:cNvSpPr txBox="1"/>
          <p:nvPr/>
        </p:nvSpPr>
        <p:spPr>
          <a:xfrm>
            <a:off x="8048625" y="2935479"/>
            <a:ext cx="3491210" cy="186689"/>
          </a:xfrm>
          <a:prstGeom prst="rect">
            <a:avLst/>
          </a:prstGeom>
          <a:noFill/>
        </p:spPr>
        <p:txBody>
          <a:bodyPr wrap="none" lIns="0" rIns="0" tIns="0" bIns="0">
            <a:spAutoFit/>
          </a:bodyPr>
          <a:lstStyle/>
          <a:p>
            <a:r>
              <a:rPr sz="1100" b="0">
                <a:solidFill>
                  <a:srgbClr val="2E2E2E"/>
                </a:solidFill>
                <a:latin typeface="Calibri"/>
              </a:rPr>
              <a:t>The market in North America is expected to account for US$</a:t>
            </a:r>
          </a:p>
        </p:txBody>
      </p:sp>
      <p:pic>
        <p:nvPicPr>
          <p:cNvPr id="49" name="Picture 48" descr="lock.png"/>
          <p:cNvPicPr>
            <a:picLocks noChangeAspect="1"/>
          </p:cNvPicPr>
          <p:nvPr/>
        </p:nvPicPr>
        <p:blipFill>
          <a:blip r:embed="rId6"/>
          <a:stretch>
            <a:fillRect/>
          </a:stretch>
        </p:blipFill>
        <p:spPr>
          <a:xfrm>
            <a:off x="8035157" y="3093340"/>
            <a:ext cx="128699" cy="187198"/>
          </a:xfrm>
          <a:prstGeom prst="rect">
            <a:avLst/>
          </a:prstGeom>
        </p:spPr>
      </p:pic>
      <p:sp>
        <p:nvSpPr>
          <p:cNvPr id="50" name="TextBox 49"/>
          <p:cNvSpPr txBox="1"/>
          <p:nvPr/>
        </p:nvSpPr>
        <p:spPr>
          <a:xfrm>
            <a:off x="8202653" y="3103119"/>
            <a:ext cx="1495556" cy="186689"/>
          </a:xfrm>
          <a:prstGeom prst="rect">
            <a:avLst/>
          </a:prstGeom>
          <a:noFill/>
        </p:spPr>
        <p:txBody>
          <a:bodyPr wrap="none" lIns="0" rIns="0" tIns="0" bIns="0">
            <a:spAutoFit/>
          </a:bodyPr>
          <a:lstStyle/>
          <a:p>
            <a:r>
              <a:rPr sz="1100" b="0">
                <a:solidFill>
                  <a:srgbClr val="2E2E2E"/>
                </a:solidFill>
                <a:latin typeface="Calibri"/>
              </a:rPr>
              <a:t>Mn by 2036 at a CAGR of</a:t>
            </a:r>
          </a:p>
        </p:txBody>
      </p:sp>
      <p:pic>
        <p:nvPicPr>
          <p:cNvPr id="51" name="Picture 50" descr="lock.png"/>
          <p:cNvPicPr>
            <a:picLocks noChangeAspect="1"/>
          </p:cNvPicPr>
          <p:nvPr/>
        </p:nvPicPr>
        <p:blipFill>
          <a:blip r:embed="rId6"/>
          <a:stretch>
            <a:fillRect/>
          </a:stretch>
        </p:blipFill>
        <p:spPr>
          <a:xfrm>
            <a:off x="9646261" y="3093340"/>
            <a:ext cx="128699" cy="187198"/>
          </a:xfrm>
          <a:prstGeom prst="rect">
            <a:avLst/>
          </a:prstGeom>
        </p:spPr>
      </p:pic>
      <p:sp>
        <p:nvSpPr>
          <p:cNvPr id="52" name="TextBox 51"/>
          <p:cNvSpPr txBox="1"/>
          <p:nvPr/>
        </p:nvSpPr>
        <p:spPr>
          <a:xfrm>
            <a:off x="9813757" y="3103119"/>
            <a:ext cx="1849462" cy="186689"/>
          </a:xfrm>
          <a:prstGeom prst="rect">
            <a:avLst/>
          </a:prstGeom>
          <a:noFill/>
        </p:spPr>
        <p:txBody>
          <a:bodyPr wrap="none" lIns="0" rIns="0" tIns="0" bIns="0">
            <a:spAutoFit/>
          </a:bodyPr>
          <a:lstStyle/>
          <a:p>
            <a:r>
              <a:rPr sz="1100" b="0">
                <a:solidFill>
                  <a:srgbClr val="2E2E2E"/>
                </a:solidFill>
                <a:latin typeface="Calibri"/>
              </a:rPr>
              <a:t>over the forecast period. North</a:t>
            </a:r>
          </a:p>
        </p:txBody>
      </p:sp>
      <p:sp>
        <p:nvSpPr>
          <p:cNvPr id="53" name="TextBox 52"/>
          <p:cNvSpPr txBox="1"/>
          <p:nvPr/>
        </p:nvSpPr>
        <p:spPr>
          <a:xfrm>
            <a:off x="8048625" y="3270759"/>
            <a:ext cx="3764880" cy="186689"/>
          </a:xfrm>
          <a:prstGeom prst="rect">
            <a:avLst/>
          </a:prstGeom>
          <a:noFill/>
        </p:spPr>
        <p:txBody>
          <a:bodyPr wrap="none" lIns="0" rIns="0" tIns="0" bIns="0">
            <a:spAutoFit/>
          </a:bodyPr>
          <a:lstStyle/>
          <a:p>
            <a:r>
              <a:rPr sz="1100" b="0">
                <a:solidFill>
                  <a:srgbClr val="2E2E2E"/>
                </a:solidFill>
                <a:latin typeface="Calibri"/>
              </a:rPr>
              <a:t>America is expected to create an incremental opportunity of US$</a:t>
            </a:r>
          </a:p>
        </p:txBody>
      </p:sp>
      <p:pic>
        <p:nvPicPr>
          <p:cNvPr id="54" name="Picture 53" descr="lock.png"/>
          <p:cNvPicPr>
            <a:picLocks noChangeAspect="1"/>
          </p:cNvPicPr>
          <p:nvPr/>
        </p:nvPicPr>
        <p:blipFill>
          <a:blip r:embed="rId6"/>
          <a:stretch>
            <a:fillRect/>
          </a:stretch>
        </p:blipFill>
        <p:spPr>
          <a:xfrm>
            <a:off x="8035157" y="3428620"/>
            <a:ext cx="128699" cy="187198"/>
          </a:xfrm>
          <a:prstGeom prst="rect">
            <a:avLst/>
          </a:prstGeom>
        </p:spPr>
      </p:pic>
      <p:sp>
        <p:nvSpPr>
          <p:cNvPr id="55" name="TextBox 54"/>
          <p:cNvSpPr txBox="1"/>
          <p:nvPr/>
        </p:nvSpPr>
        <p:spPr>
          <a:xfrm>
            <a:off x="8202653" y="3438399"/>
            <a:ext cx="3433365" cy="186689"/>
          </a:xfrm>
          <a:prstGeom prst="rect">
            <a:avLst/>
          </a:prstGeom>
          <a:noFill/>
        </p:spPr>
        <p:txBody>
          <a:bodyPr wrap="none" lIns="0" rIns="0" tIns="0" bIns="0">
            <a:spAutoFit/>
          </a:bodyPr>
          <a:lstStyle/>
          <a:p>
            <a:r>
              <a:rPr sz="1100" b="0">
                <a:solidFill>
                  <a:srgbClr val="2E2E2E"/>
                </a:solidFill>
                <a:latin typeface="Calibri"/>
              </a:rPr>
              <a:t>Mn for the overall removable partial dentures market from</a:t>
            </a:r>
          </a:p>
        </p:txBody>
      </p:sp>
      <p:sp>
        <p:nvSpPr>
          <p:cNvPr id="56" name="TextBox 55"/>
          <p:cNvSpPr txBox="1"/>
          <p:nvPr/>
        </p:nvSpPr>
        <p:spPr>
          <a:xfrm>
            <a:off x="8048625" y="3606039"/>
            <a:ext cx="862831" cy="186689"/>
          </a:xfrm>
          <a:prstGeom prst="rect">
            <a:avLst/>
          </a:prstGeom>
          <a:noFill/>
        </p:spPr>
        <p:txBody>
          <a:bodyPr wrap="none" lIns="0" rIns="0" tIns="0" bIns="0">
            <a:spAutoFit/>
          </a:bodyPr>
          <a:lstStyle/>
          <a:p>
            <a:r>
              <a:rPr sz="1100" b="0">
                <a:solidFill>
                  <a:srgbClr val="2E2E2E"/>
                </a:solidFill>
                <a:latin typeface="Calibri"/>
              </a:rPr>
              <a:t>2025 to 2036.</a:t>
            </a:r>
          </a:p>
        </p:txBody>
      </p:sp>
      <p:sp>
        <p:nvSpPr>
          <p:cNvPr id="57" name="TextBox 56"/>
          <p:cNvSpPr txBox="1"/>
          <p:nvPr/>
        </p:nvSpPr>
        <p:spPr>
          <a:xfrm>
            <a:off x="8048625" y="3823971"/>
            <a:ext cx="2837184" cy="186689"/>
          </a:xfrm>
          <a:prstGeom prst="rect">
            <a:avLst/>
          </a:prstGeom>
          <a:noFill/>
        </p:spPr>
        <p:txBody>
          <a:bodyPr wrap="none" lIns="0" rIns="0" tIns="0" bIns="0">
            <a:spAutoFit/>
          </a:bodyPr>
          <a:lstStyle/>
          <a:p>
            <a:r>
              <a:rPr sz="1100" b="0">
                <a:solidFill>
                  <a:srgbClr val="2E2E2E"/>
                </a:solidFill>
                <a:latin typeface="Calibri"/>
              </a:rPr>
              <a:t>Absolute $ value for 2026 is estimated to be US$</a:t>
            </a:r>
          </a:p>
        </p:txBody>
      </p:sp>
      <p:pic>
        <p:nvPicPr>
          <p:cNvPr id="58" name="Picture 57" descr="lock.png"/>
          <p:cNvPicPr>
            <a:picLocks noChangeAspect="1"/>
          </p:cNvPicPr>
          <p:nvPr/>
        </p:nvPicPr>
        <p:blipFill>
          <a:blip r:embed="rId6"/>
          <a:stretch>
            <a:fillRect/>
          </a:stretch>
        </p:blipFill>
        <p:spPr>
          <a:xfrm>
            <a:off x="10833861" y="3814192"/>
            <a:ext cx="128699" cy="187198"/>
          </a:xfrm>
          <a:prstGeom prst="rect">
            <a:avLst/>
          </a:prstGeom>
        </p:spPr>
      </p:pic>
      <p:sp>
        <p:nvSpPr>
          <p:cNvPr id="59" name="TextBox 58"/>
          <p:cNvSpPr txBox="1"/>
          <p:nvPr/>
        </p:nvSpPr>
        <p:spPr>
          <a:xfrm>
            <a:off x="11001357" y="3823971"/>
            <a:ext cx="304303" cy="186689"/>
          </a:xfrm>
          <a:prstGeom prst="rect">
            <a:avLst/>
          </a:prstGeom>
          <a:noFill/>
        </p:spPr>
        <p:txBody>
          <a:bodyPr wrap="none" lIns="0" rIns="0" tIns="0" bIns="0">
            <a:spAutoFit/>
          </a:bodyPr>
          <a:lstStyle/>
          <a:p>
            <a:r>
              <a:rPr sz="1100" b="0">
                <a:solidFill>
                  <a:srgbClr val="2E2E2E"/>
                </a:solidFill>
                <a:latin typeface="Calibri"/>
              </a:rPr>
              <a:t>Mn.</a:t>
            </a:r>
          </a:p>
        </p:txBody>
      </p:sp>
      <p:sp>
        <p:nvSpPr>
          <p:cNvPr id="60" name="TextBox 59"/>
          <p:cNvSpPr txBox="1"/>
          <p:nvPr/>
        </p:nvSpPr>
        <p:spPr>
          <a:xfrm>
            <a:off x="8048625" y="5152979"/>
            <a:ext cx="2138300" cy="194310"/>
          </a:xfrm>
          <a:prstGeom prst="rect">
            <a:avLst/>
          </a:prstGeom>
          <a:noFill/>
        </p:spPr>
        <p:txBody>
          <a:bodyPr wrap="none" lIns="0" rIns="0" tIns="0" bIns="0">
            <a:spAutoFit/>
          </a:bodyPr>
          <a:lstStyle/>
          <a:p>
            <a:r>
              <a:rPr sz="1150" b="0">
                <a:solidFill>
                  <a:srgbClr val="2E2E2E"/>
                </a:solidFill>
                <a:latin typeface="Calibri"/>
              </a:rPr>
              <a:t>▪ 'Canada' leads regional growth at</a:t>
            </a:r>
          </a:p>
        </p:txBody>
      </p:sp>
      <p:pic>
        <p:nvPicPr>
          <p:cNvPr id="61" name="Picture 60" descr="lock.png"/>
          <p:cNvPicPr>
            <a:picLocks noChangeAspect="1"/>
          </p:cNvPicPr>
          <p:nvPr/>
        </p:nvPicPr>
        <p:blipFill>
          <a:blip r:embed="rId6"/>
          <a:stretch>
            <a:fillRect/>
          </a:stretch>
        </p:blipFill>
        <p:spPr>
          <a:xfrm>
            <a:off x="10136079" y="5142755"/>
            <a:ext cx="134549" cy="195707"/>
          </a:xfrm>
          <a:prstGeom prst="rect">
            <a:avLst/>
          </a:prstGeom>
        </p:spPr>
      </p:pic>
      <p:sp>
        <p:nvSpPr>
          <p:cNvPr id="62" name="TextBox 61"/>
          <p:cNvSpPr txBox="1"/>
          <p:nvPr/>
        </p:nvSpPr>
        <p:spPr>
          <a:xfrm>
            <a:off x="10311188" y="5152979"/>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63" name="TextBox 62"/>
          <p:cNvSpPr txBox="1"/>
          <p:nvPr/>
        </p:nvSpPr>
        <p:spPr>
          <a:xfrm>
            <a:off x="8048625" y="5380816"/>
            <a:ext cx="3569419" cy="194310"/>
          </a:xfrm>
          <a:prstGeom prst="rect">
            <a:avLst/>
          </a:prstGeom>
          <a:noFill/>
        </p:spPr>
        <p:txBody>
          <a:bodyPr wrap="none" lIns="0" rIns="0" tIns="0" bIns="0">
            <a:spAutoFit/>
          </a:bodyPr>
          <a:lstStyle/>
          <a:p>
            <a:r>
              <a:rPr sz="1150" b="0">
                <a:solidFill>
                  <a:srgbClr val="2E2E2E"/>
                </a:solidFill>
                <a:latin typeface="Calibri"/>
              </a:rPr>
              <a:t>▪ Demand concentrates in 'Flexible Partial Dentures' within</a:t>
            </a:r>
          </a:p>
        </p:txBody>
      </p:sp>
      <p:sp>
        <p:nvSpPr>
          <p:cNvPr id="64" name="TextBox 63"/>
          <p:cNvSpPr txBox="1"/>
          <p:nvPr/>
        </p:nvSpPr>
        <p:spPr>
          <a:xfrm>
            <a:off x="8048625" y="5556076"/>
            <a:ext cx="901154" cy="194310"/>
          </a:xfrm>
          <a:prstGeom prst="rect">
            <a:avLst/>
          </a:prstGeom>
          <a:noFill/>
        </p:spPr>
        <p:txBody>
          <a:bodyPr wrap="none" lIns="0" rIns="0" tIns="0" bIns="0">
            <a:spAutoFit/>
          </a:bodyPr>
          <a:lstStyle/>
          <a:p>
            <a:r>
              <a:rPr sz="1150" b="0">
                <a:solidFill>
                  <a:srgbClr val="2E2E2E"/>
                </a:solidFill>
                <a:latin typeface="Calibri"/>
              </a:rPr>
              <a:t>Product Type.</a:t>
            </a:r>
          </a:p>
        </p:txBody>
      </p:sp>
      <p:sp>
        <p:nvSpPr>
          <p:cNvPr id="65" name="TextBox 64"/>
          <p:cNvSpPr txBox="1"/>
          <p:nvPr/>
        </p:nvSpPr>
        <p:spPr>
          <a:xfrm>
            <a:off x="8048625" y="5783914"/>
            <a:ext cx="3291296" cy="194310"/>
          </a:xfrm>
          <a:prstGeom prst="rect">
            <a:avLst/>
          </a:prstGeom>
          <a:noFill/>
        </p:spPr>
        <p:txBody>
          <a:bodyPr wrap="none" lIns="0" rIns="0" tIns="0" bIns="0">
            <a:spAutoFit/>
          </a:bodyPr>
          <a:lstStyle/>
          <a:p>
            <a:r>
              <a:rPr sz="1150" b="0">
                <a:solidFill>
                  <a:srgbClr val="2E2E2E"/>
                </a:solidFill>
                <a:latin typeface="Calibri"/>
              </a:rPr>
              <a:t>▪ Product innovation and premiumisation lifting value.</a:t>
            </a:r>
          </a:p>
        </p:txBody>
      </p:sp>
      <p:sp>
        <p:nvSpPr>
          <p:cNvPr id="66" name="TextBox 65"/>
          <p:cNvSpPr txBox="1"/>
          <p:nvPr/>
        </p:nvSpPr>
        <p:spPr>
          <a:xfrm>
            <a:off x="8048625" y="6011752"/>
            <a:ext cx="2741327" cy="194310"/>
          </a:xfrm>
          <a:prstGeom prst="rect">
            <a:avLst/>
          </a:prstGeom>
          <a:noFill/>
        </p:spPr>
        <p:txBody>
          <a:bodyPr wrap="none" lIns="0" rIns="0" tIns="0" bIns="0">
            <a:spAutoFit/>
          </a:bodyPr>
          <a:lstStyle/>
          <a:p>
            <a:r>
              <a:rPr sz="1150" b="0">
                <a:solidFill>
                  <a:srgbClr val="2E2E2E"/>
                </a:solidFill>
                <a:latin typeface="Calibri"/>
              </a:rPr>
              <a:t>▪ Expanding end-use applications and access.</a:t>
            </a:r>
          </a:p>
        </p:txBody>
      </p:sp>
      <p:sp>
        <p:nvSpPr>
          <p:cNvPr id="67" name="lockshield_17"/>
          <p:cNvSpPr/>
          <p:nvPr/>
        </p:nvSpPr>
        <p:spPr>
          <a:xfrm>
            <a:off x="238125" y="1913637"/>
            <a:ext cx="7505700" cy="2011827"/>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lockshield_20"/>
          <p:cNvSpPr/>
          <p:nvPr/>
        </p:nvSpPr>
        <p:spPr>
          <a:xfrm>
            <a:off x="238125" y="4323125"/>
            <a:ext cx="7505700" cy="217611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Removable Partial Dentures Market Volume &amp; Value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and value growth of the North America market and the incremental $ opportunity it creates,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4695825" cy="2524125"/>
          </a:xfrm>
          <a:prstGeom prst="roundRect">
            <a:avLst>
              <a:gd name="adj" fmla="val 30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2021–2025 (Historical)</a:t>
            </a:r>
          </a:p>
        </p:txBody>
      </p:sp>
      <p:graphicFrame>
        <p:nvGraphicFramePr>
          <p:cNvPr id="13" name="Chart 12"/>
          <p:cNvGraphicFramePr>
            <a:graphicFrameLocks noGrp="1"/>
          </p:cNvGraphicFramePr>
          <p:nvPr/>
        </p:nvGraphicFramePr>
        <p:xfrm>
          <a:off x="238125" y="1266825"/>
          <a:ext cx="4505325" cy="2181225"/>
        </p:xfrm>
        <a:graphic>
          <a:graphicData uri="http://schemas.openxmlformats.org/drawingml/2006/chart">
            <c:chart xmlns:c="http://schemas.openxmlformats.org/drawingml/2006/chart" r:id="rId3"/>
          </a:graphicData>
        </a:graphic>
      </p:graphicFrame>
      <p:sp>
        <p:nvSpPr>
          <p:cNvPr id="14" name="Rounded Rectangle 13"/>
          <p:cNvSpPr/>
          <p:nvPr/>
        </p:nvSpPr>
        <p:spPr>
          <a:xfrm>
            <a:off x="4991100" y="981075"/>
            <a:ext cx="7048500" cy="2524125"/>
          </a:xfrm>
          <a:prstGeom prst="roundRect">
            <a:avLst>
              <a:gd name="adj" fmla="val 30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5086350" y="10382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2026–2036 (Forecast)</a:t>
            </a:r>
          </a:p>
        </p:txBody>
      </p:sp>
      <p:graphicFrame>
        <p:nvGraphicFramePr>
          <p:cNvPr id="16" name="Chart 15"/>
          <p:cNvGraphicFramePr>
            <a:graphicFrameLocks noGrp="1"/>
          </p:cNvGraphicFramePr>
          <p:nvPr/>
        </p:nvGraphicFramePr>
        <p:xfrm>
          <a:off x="5086350" y="1266825"/>
          <a:ext cx="6858000" cy="21812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638550"/>
            <a:ext cx="25146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2021–2025</a:t>
            </a:r>
          </a:p>
          <a:p>
            <a:pPr algn="ctr">
              <a:lnSpc>
                <a:spcPct val="95000"/>
              </a:lnSpc>
            </a:pPr>
            <a:r>
              <a:rPr sz="1500" b="1">
                <a:solidFill>
                  <a:srgbClr val="0E72AE"/>
                </a:solidFill>
                <a:latin typeface="Calibri"/>
              </a:rPr>
              <a:t> </a:t>
            </a:r>
          </a:p>
        </p:txBody>
      </p:sp>
      <p:sp>
        <p:nvSpPr>
          <p:cNvPr id="18" name="Rounded Rectangle 17"/>
          <p:cNvSpPr/>
          <p:nvPr/>
        </p:nvSpPr>
        <p:spPr>
          <a:xfrm>
            <a:off x="2809875" y="3638550"/>
            <a:ext cx="25146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2026–2036</a:t>
            </a:r>
          </a:p>
          <a:p>
            <a:pPr algn="ctr">
              <a:lnSpc>
                <a:spcPct val="95000"/>
              </a:lnSpc>
            </a:pPr>
            <a:r>
              <a:rPr sz="1500" b="1">
                <a:solidFill>
                  <a:srgbClr val="0E72AE"/>
                </a:solidFill>
                <a:latin typeface="Calibri"/>
              </a:rPr>
              <a:t> </a:t>
            </a:r>
          </a:p>
        </p:txBody>
      </p:sp>
      <p:sp>
        <p:nvSpPr>
          <p:cNvPr id="19" name="Rounded Rectangle 18"/>
          <p:cNvSpPr/>
          <p:nvPr/>
        </p:nvSpPr>
        <p:spPr>
          <a:xfrm>
            <a:off x="5476875" y="3638550"/>
            <a:ext cx="32004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2026–2031</a:t>
            </a:r>
          </a:p>
          <a:p>
            <a:pPr algn="ctr">
              <a:lnSpc>
                <a:spcPct val="95000"/>
              </a:lnSpc>
            </a:pPr>
            <a:r>
              <a:rPr sz="1500" b="1">
                <a:solidFill>
                  <a:srgbClr val="0E72AE"/>
                </a:solidFill>
                <a:latin typeface="Calibri"/>
              </a:rPr>
              <a:t> </a:t>
            </a:r>
          </a:p>
        </p:txBody>
      </p:sp>
      <p:sp>
        <p:nvSpPr>
          <p:cNvPr id="20" name="Rounded Rectangle 19"/>
          <p:cNvSpPr/>
          <p:nvPr/>
        </p:nvSpPr>
        <p:spPr>
          <a:xfrm>
            <a:off x="8829675" y="3638550"/>
            <a:ext cx="32004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2026–2036</a:t>
            </a:r>
          </a:p>
          <a:p>
            <a:pPr algn="ctr">
              <a:lnSpc>
                <a:spcPct val="95000"/>
              </a:lnSpc>
            </a:pPr>
            <a:r>
              <a:rPr sz="1500" b="1">
                <a:solidFill>
                  <a:srgbClr val="0E72AE"/>
                </a:solidFill>
                <a:latin typeface="Calibri"/>
              </a:rPr>
              <a:t> </a:t>
            </a:r>
          </a:p>
        </p:txBody>
      </p:sp>
      <p:sp>
        <p:nvSpPr>
          <p:cNvPr id="21" name="Rounded Rectangle 20"/>
          <p:cNvSpPr/>
          <p:nvPr/>
        </p:nvSpPr>
        <p:spPr>
          <a:xfrm>
            <a:off x="142875" y="4457700"/>
            <a:ext cx="11906250" cy="2152650"/>
          </a:xfrm>
          <a:prstGeom prst="roundRect">
            <a:avLst>
              <a:gd name="adj" fmla="val 35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54342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&amp; Value Analysis</a:t>
            </a:r>
          </a:p>
        </p:txBody>
      </p:sp>
      <p:sp>
        <p:nvSpPr>
          <p:cNvPr id="23" name="Rectangle 22"/>
          <p:cNvSpPr/>
          <p:nvPr/>
        </p:nvSpPr>
        <p:spPr>
          <a:xfrm>
            <a:off x="276225" y="47815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76225" y="4867275"/>
            <a:ext cx="11639550" cy="1666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
            </a:r>
          </a:p>
          <a:p>
            <a:pPr algn="l">
              <a:lnSpc>
                <a:spcPct val="110000"/>
              </a:lnSpc>
              <a:spcBef>
                <a:spcPts val="0"/>
              </a:spcBef>
              <a:spcAft>
                <a:spcPts val="500"/>
              </a:spcAft>
            </a:pPr>
            <a:r>
              <a:rPr sz="1100" b="0">
                <a:solidFill>
                  <a:srgbClr val="2E2E2E"/>
                </a:solidFill>
                <a:latin typeface="Calibri"/>
              </a:rPr>
              <a:t/>
            </a:r>
          </a:p>
          <a:p>
            <a:pPr algn="l">
              <a:lnSpc>
                <a:spcPct val="110000"/>
              </a:lnSpc>
              <a:spcBef>
                <a:spcPts val="0"/>
              </a:spcBef>
              <a:spcAft>
                <a:spcPts val="500"/>
              </a:spcAft>
            </a:pPr>
            <a:r>
              <a:rPr sz="1100" b="0">
                <a:solidFill>
                  <a:srgbClr val="2E2E2E"/>
                </a:solidFill>
                <a:latin typeface="Calibri"/>
              </a:rPr>
              <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2535356" y="2029222"/>
            <a:ext cx="202455" cy="294480"/>
          </a:xfrm>
          <a:prstGeom prst="rect">
            <a:avLst/>
          </a:prstGeom>
        </p:spPr>
      </p:pic>
      <p:pic>
        <p:nvPicPr>
          <p:cNvPr id="27" name="Picture 26" descr="lock.png"/>
          <p:cNvPicPr>
            <a:picLocks noChangeAspect="1"/>
          </p:cNvPicPr>
          <p:nvPr/>
        </p:nvPicPr>
        <p:blipFill>
          <a:blip r:embed="rId6"/>
          <a:stretch>
            <a:fillRect/>
          </a:stretch>
        </p:blipFill>
        <p:spPr>
          <a:xfrm>
            <a:off x="8532694" y="1990329"/>
            <a:ext cx="255933" cy="372266"/>
          </a:xfrm>
          <a:prstGeom prst="rect">
            <a:avLst/>
          </a:prstGeom>
        </p:spPr>
      </p:pic>
      <p:pic>
        <p:nvPicPr>
          <p:cNvPr id="28" name="Picture 27" descr="lock.png"/>
          <p:cNvPicPr>
            <a:picLocks noChangeAspect="1"/>
          </p:cNvPicPr>
          <p:nvPr/>
        </p:nvPicPr>
        <p:blipFill>
          <a:blip r:embed="rId6"/>
          <a:stretch>
            <a:fillRect/>
          </a:stretch>
        </p:blipFill>
        <p:spPr>
          <a:xfrm>
            <a:off x="1321594" y="3950970"/>
            <a:ext cx="157162" cy="228600"/>
          </a:xfrm>
          <a:prstGeom prst="rect">
            <a:avLst/>
          </a:prstGeom>
        </p:spPr>
      </p:pic>
      <p:pic>
        <p:nvPicPr>
          <p:cNvPr id="29" name="Picture 28" descr="lock.png"/>
          <p:cNvPicPr>
            <a:picLocks noChangeAspect="1"/>
          </p:cNvPicPr>
          <p:nvPr/>
        </p:nvPicPr>
        <p:blipFill>
          <a:blip r:embed="rId6"/>
          <a:stretch>
            <a:fillRect/>
          </a:stretch>
        </p:blipFill>
        <p:spPr>
          <a:xfrm>
            <a:off x="3988594" y="3950970"/>
            <a:ext cx="157162" cy="228600"/>
          </a:xfrm>
          <a:prstGeom prst="rect">
            <a:avLst/>
          </a:prstGeom>
        </p:spPr>
      </p:pic>
      <p:pic>
        <p:nvPicPr>
          <p:cNvPr id="30" name="Picture 29" descr="lock.png"/>
          <p:cNvPicPr>
            <a:picLocks noChangeAspect="1"/>
          </p:cNvPicPr>
          <p:nvPr/>
        </p:nvPicPr>
        <p:blipFill>
          <a:blip r:embed="rId6"/>
          <a:stretch>
            <a:fillRect/>
          </a:stretch>
        </p:blipFill>
        <p:spPr>
          <a:xfrm>
            <a:off x="6998494" y="3950970"/>
            <a:ext cx="157162" cy="228600"/>
          </a:xfrm>
          <a:prstGeom prst="rect">
            <a:avLst/>
          </a:prstGeom>
        </p:spPr>
      </p:pic>
      <p:pic>
        <p:nvPicPr>
          <p:cNvPr id="31" name="Picture 30" descr="lock.png"/>
          <p:cNvPicPr>
            <a:picLocks noChangeAspect="1"/>
          </p:cNvPicPr>
          <p:nvPr/>
        </p:nvPicPr>
        <p:blipFill>
          <a:blip r:embed="rId6"/>
          <a:stretch>
            <a:fillRect/>
          </a:stretch>
        </p:blipFill>
        <p:spPr>
          <a:xfrm>
            <a:off x="10351294" y="3950970"/>
            <a:ext cx="157162" cy="228600"/>
          </a:xfrm>
          <a:prstGeom prst="rect">
            <a:avLst/>
          </a:prstGeom>
        </p:spPr>
      </p:pic>
      <p:sp>
        <p:nvSpPr>
          <p:cNvPr id="32" name="TextBox 31"/>
          <p:cNvSpPr txBox="1"/>
          <p:nvPr/>
        </p:nvSpPr>
        <p:spPr>
          <a:xfrm>
            <a:off x="276225" y="4876800"/>
            <a:ext cx="4761061" cy="186689"/>
          </a:xfrm>
          <a:prstGeom prst="rect">
            <a:avLst/>
          </a:prstGeom>
          <a:noFill/>
        </p:spPr>
        <p:txBody>
          <a:bodyPr wrap="none" lIns="0" rIns="0" tIns="0" bIns="0">
            <a:spAutoFit/>
          </a:bodyPr>
          <a:lstStyle/>
          <a:p>
            <a:r>
              <a:rPr sz="1100" b="0">
                <a:solidFill>
                  <a:srgbClr val="2E2E2E"/>
                </a:solidFill>
                <a:latin typeface="Calibri"/>
              </a:rPr>
              <a:t>Removable partial dentures market value in North America is expected to increase</a:t>
            </a:r>
          </a:p>
        </p:txBody>
      </p:sp>
      <p:pic>
        <p:nvPicPr>
          <p:cNvPr id="33" name="Picture 32" descr="lock.png"/>
          <p:cNvPicPr>
            <a:picLocks noChangeAspect="1"/>
          </p:cNvPicPr>
          <p:nvPr/>
        </p:nvPicPr>
        <p:blipFill>
          <a:blip r:embed="rId6"/>
          <a:stretch>
            <a:fillRect/>
          </a:stretch>
        </p:blipFill>
        <p:spPr>
          <a:xfrm>
            <a:off x="4985337" y="4867021"/>
            <a:ext cx="128699" cy="187198"/>
          </a:xfrm>
          <a:prstGeom prst="rect">
            <a:avLst/>
          </a:prstGeom>
        </p:spPr>
      </p:pic>
      <p:sp>
        <p:nvSpPr>
          <p:cNvPr id="34" name="TextBox 33"/>
          <p:cNvSpPr txBox="1"/>
          <p:nvPr/>
        </p:nvSpPr>
        <p:spPr>
          <a:xfrm>
            <a:off x="5152833" y="4876800"/>
            <a:ext cx="6393532" cy="186689"/>
          </a:xfrm>
          <a:prstGeom prst="rect">
            <a:avLst/>
          </a:prstGeom>
          <a:noFill/>
        </p:spPr>
        <p:txBody>
          <a:bodyPr wrap="none" lIns="0" rIns="0" tIns="0" bIns="0">
            <a:spAutoFit/>
          </a:bodyPr>
          <a:lstStyle/>
          <a:p>
            <a:r>
              <a:rPr sz="1100" b="0">
                <a:solidFill>
                  <a:srgbClr val="2E2E2E"/>
                </a:solidFill>
                <a:latin typeface="Calibri"/>
              </a:rPr>
              <a:t>X between 2025 and 2036. In 2025, the removable partial dentures market in North America was valued at US$</a:t>
            </a:r>
          </a:p>
        </p:txBody>
      </p:sp>
      <p:pic>
        <p:nvPicPr>
          <p:cNvPr id="35" name="Picture 34" descr="lock.png"/>
          <p:cNvPicPr>
            <a:picLocks noChangeAspect="1"/>
          </p:cNvPicPr>
          <p:nvPr/>
        </p:nvPicPr>
        <p:blipFill>
          <a:blip r:embed="rId6"/>
          <a:stretch>
            <a:fillRect/>
          </a:stretch>
        </p:blipFill>
        <p:spPr>
          <a:xfrm>
            <a:off x="262757" y="5034660"/>
            <a:ext cx="128699" cy="187198"/>
          </a:xfrm>
          <a:prstGeom prst="rect">
            <a:avLst/>
          </a:prstGeom>
        </p:spPr>
      </p:pic>
      <p:sp>
        <p:nvSpPr>
          <p:cNvPr id="36" name="TextBox 35"/>
          <p:cNvSpPr txBox="1"/>
          <p:nvPr/>
        </p:nvSpPr>
        <p:spPr>
          <a:xfrm>
            <a:off x="430253" y="5044440"/>
            <a:ext cx="2325861" cy="186689"/>
          </a:xfrm>
          <a:prstGeom prst="rect">
            <a:avLst/>
          </a:prstGeom>
          <a:noFill/>
        </p:spPr>
        <p:txBody>
          <a:bodyPr wrap="none" lIns="0" rIns="0" tIns="0" bIns="0">
            <a:spAutoFit/>
          </a:bodyPr>
          <a:lstStyle/>
          <a:p>
            <a:r>
              <a:rPr sz="1100" b="0">
                <a:solidFill>
                  <a:srgbClr val="2E2E2E"/>
                </a:solidFill>
                <a:latin typeface="Calibri"/>
              </a:rPr>
              <a:t>Mn and is estimated to account for US$</a:t>
            </a:r>
          </a:p>
        </p:txBody>
      </p:sp>
      <p:pic>
        <p:nvPicPr>
          <p:cNvPr id="37" name="Picture 36" descr="lock.png"/>
          <p:cNvPicPr>
            <a:picLocks noChangeAspect="1"/>
          </p:cNvPicPr>
          <p:nvPr/>
        </p:nvPicPr>
        <p:blipFill>
          <a:blip r:embed="rId6"/>
          <a:stretch>
            <a:fillRect/>
          </a:stretch>
        </p:blipFill>
        <p:spPr>
          <a:xfrm>
            <a:off x="2704166" y="5034660"/>
            <a:ext cx="128699" cy="187198"/>
          </a:xfrm>
          <a:prstGeom prst="rect">
            <a:avLst/>
          </a:prstGeom>
        </p:spPr>
      </p:pic>
      <p:sp>
        <p:nvSpPr>
          <p:cNvPr id="38" name="TextBox 37"/>
          <p:cNvSpPr txBox="1"/>
          <p:nvPr/>
        </p:nvSpPr>
        <p:spPr>
          <a:xfrm>
            <a:off x="2871661" y="5044440"/>
            <a:ext cx="3254920" cy="186689"/>
          </a:xfrm>
          <a:prstGeom prst="rect">
            <a:avLst/>
          </a:prstGeom>
          <a:noFill/>
        </p:spPr>
        <p:txBody>
          <a:bodyPr wrap="none" lIns="0" rIns="0" tIns="0" bIns="0">
            <a:spAutoFit/>
          </a:bodyPr>
          <a:lstStyle/>
          <a:p>
            <a:r>
              <a:rPr sz="1100" b="0">
                <a:solidFill>
                  <a:srgbClr val="2E2E2E"/>
                </a:solidFill>
                <a:latin typeface="Calibri"/>
              </a:rPr>
              <a:t>Mn by the end of 2026, reflecting a Y-o-Y growth rate of</a:t>
            </a:r>
          </a:p>
        </p:txBody>
      </p:sp>
      <p:pic>
        <p:nvPicPr>
          <p:cNvPr id="39" name="Picture 38" descr="lock.png"/>
          <p:cNvPicPr>
            <a:picLocks noChangeAspect="1"/>
          </p:cNvPicPr>
          <p:nvPr/>
        </p:nvPicPr>
        <p:blipFill>
          <a:blip r:embed="rId6"/>
          <a:stretch>
            <a:fillRect/>
          </a:stretch>
        </p:blipFill>
        <p:spPr>
          <a:xfrm>
            <a:off x="6074634" y="5034660"/>
            <a:ext cx="128699" cy="187198"/>
          </a:xfrm>
          <a:prstGeom prst="rect">
            <a:avLst/>
          </a:prstGeom>
        </p:spPr>
      </p:pic>
      <p:sp>
        <p:nvSpPr>
          <p:cNvPr id="40" name="TextBox 39"/>
          <p:cNvSpPr txBox="1"/>
          <p:nvPr/>
        </p:nvSpPr>
        <p:spPr>
          <a:xfrm>
            <a:off x="6242130" y="5044440"/>
            <a:ext cx="3558058" cy="186689"/>
          </a:xfrm>
          <a:prstGeom prst="rect">
            <a:avLst/>
          </a:prstGeom>
          <a:noFill/>
        </p:spPr>
        <p:txBody>
          <a:bodyPr wrap="none" lIns="0" rIns="0" tIns="0" bIns="0">
            <a:spAutoFit/>
          </a:bodyPr>
          <a:lstStyle/>
          <a:p>
            <a:r>
              <a:rPr sz="1100" b="0">
                <a:solidFill>
                  <a:srgbClr val="2E2E2E"/>
                </a:solidFill>
                <a:latin typeface="Calibri"/>
              </a:rPr>
              <a:t>. The market in North America is expected to account for US$</a:t>
            </a:r>
          </a:p>
        </p:txBody>
      </p:sp>
      <p:pic>
        <p:nvPicPr>
          <p:cNvPr id="41" name="Picture 40" descr="lock.png"/>
          <p:cNvPicPr>
            <a:picLocks noChangeAspect="1"/>
          </p:cNvPicPr>
          <p:nvPr/>
        </p:nvPicPr>
        <p:blipFill>
          <a:blip r:embed="rId6"/>
          <a:stretch>
            <a:fillRect/>
          </a:stretch>
        </p:blipFill>
        <p:spPr>
          <a:xfrm>
            <a:off x="9748240" y="5034660"/>
            <a:ext cx="128699" cy="187198"/>
          </a:xfrm>
          <a:prstGeom prst="rect">
            <a:avLst/>
          </a:prstGeom>
        </p:spPr>
      </p:pic>
      <p:sp>
        <p:nvSpPr>
          <p:cNvPr id="42" name="TextBox 41"/>
          <p:cNvSpPr txBox="1"/>
          <p:nvPr/>
        </p:nvSpPr>
        <p:spPr>
          <a:xfrm>
            <a:off x="9915736" y="5044440"/>
            <a:ext cx="1495556" cy="186689"/>
          </a:xfrm>
          <a:prstGeom prst="rect">
            <a:avLst/>
          </a:prstGeom>
          <a:noFill/>
        </p:spPr>
        <p:txBody>
          <a:bodyPr wrap="none" lIns="0" rIns="0" tIns="0" bIns="0">
            <a:spAutoFit/>
          </a:bodyPr>
          <a:lstStyle/>
          <a:p>
            <a:r>
              <a:rPr sz="1100" b="0">
                <a:solidFill>
                  <a:srgbClr val="2E2E2E"/>
                </a:solidFill>
                <a:latin typeface="Calibri"/>
              </a:rPr>
              <a:t>Mn by 2036 at a CAGR of</a:t>
            </a:r>
          </a:p>
        </p:txBody>
      </p:sp>
      <p:pic>
        <p:nvPicPr>
          <p:cNvPr id="43" name="Picture 42" descr="lock.png"/>
          <p:cNvPicPr>
            <a:picLocks noChangeAspect="1"/>
          </p:cNvPicPr>
          <p:nvPr/>
        </p:nvPicPr>
        <p:blipFill>
          <a:blip r:embed="rId6"/>
          <a:stretch>
            <a:fillRect/>
          </a:stretch>
        </p:blipFill>
        <p:spPr>
          <a:xfrm>
            <a:off x="262757" y="5202301"/>
            <a:ext cx="128699" cy="187198"/>
          </a:xfrm>
          <a:prstGeom prst="rect">
            <a:avLst/>
          </a:prstGeom>
        </p:spPr>
      </p:pic>
      <p:sp>
        <p:nvSpPr>
          <p:cNvPr id="44" name="TextBox 43"/>
          <p:cNvSpPr txBox="1"/>
          <p:nvPr/>
        </p:nvSpPr>
        <p:spPr>
          <a:xfrm>
            <a:off x="430253" y="5212080"/>
            <a:ext cx="1484659" cy="186689"/>
          </a:xfrm>
          <a:prstGeom prst="rect">
            <a:avLst/>
          </a:prstGeom>
          <a:noFill/>
        </p:spPr>
        <p:txBody>
          <a:bodyPr wrap="none" lIns="0" rIns="0" tIns="0" bIns="0">
            <a:spAutoFit/>
          </a:bodyPr>
          <a:lstStyle/>
          <a:p>
            <a:r>
              <a:rPr sz="1100" b="0">
                <a:solidFill>
                  <a:srgbClr val="2E2E2E"/>
                </a:solidFill>
                <a:latin typeface="Calibri"/>
              </a:rPr>
              <a:t>over the forecast period.</a:t>
            </a:r>
          </a:p>
        </p:txBody>
      </p:sp>
      <p:sp>
        <p:nvSpPr>
          <p:cNvPr id="45" name="TextBox 44"/>
          <p:cNvSpPr txBox="1"/>
          <p:nvPr/>
        </p:nvSpPr>
        <p:spPr>
          <a:xfrm>
            <a:off x="276225" y="5430012"/>
            <a:ext cx="4129682" cy="186689"/>
          </a:xfrm>
          <a:prstGeom prst="rect">
            <a:avLst/>
          </a:prstGeom>
          <a:noFill/>
        </p:spPr>
        <p:txBody>
          <a:bodyPr wrap="none" lIns="0" rIns="0" tIns="0" bIns="0">
            <a:spAutoFit/>
          </a:bodyPr>
          <a:lstStyle/>
          <a:p>
            <a:r>
              <a:rPr sz="1100" b="0">
                <a:solidFill>
                  <a:srgbClr val="2E2E2E"/>
                </a:solidFill>
                <a:latin typeface="Calibri"/>
              </a:rPr>
              <a:t>North America is expected to create an incremental opportunity of US$</a:t>
            </a:r>
          </a:p>
        </p:txBody>
      </p:sp>
      <p:pic>
        <p:nvPicPr>
          <p:cNvPr id="46" name="Picture 45" descr="lock.png"/>
          <p:cNvPicPr>
            <a:picLocks noChangeAspect="1"/>
          </p:cNvPicPr>
          <p:nvPr/>
        </p:nvPicPr>
        <p:blipFill>
          <a:blip r:embed="rId6"/>
          <a:stretch>
            <a:fillRect/>
          </a:stretch>
        </p:blipFill>
        <p:spPr>
          <a:xfrm>
            <a:off x="4353959" y="5420233"/>
            <a:ext cx="128699" cy="187198"/>
          </a:xfrm>
          <a:prstGeom prst="rect">
            <a:avLst/>
          </a:prstGeom>
        </p:spPr>
      </p:pic>
      <p:sp>
        <p:nvSpPr>
          <p:cNvPr id="47" name="TextBox 46"/>
          <p:cNvSpPr txBox="1"/>
          <p:nvPr/>
        </p:nvSpPr>
        <p:spPr>
          <a:xfrm>
            <a:off x="4521455" y="5430012"/>
            <a:ext cx="7044283" cy="186689"/>
          </a:xfrm>
          <a:prstGeom prst="rect">
            <a:avLst/>
          </a:prstGeom>
          <a:noFill/>
        </p:spPr>
        <p:txBody>
          <a:bodyPr wrap="none" lIns="0" rIns="0" tIns="0" bIns="0">
            <a:spAutoFit/>
          </a:bodyPr>
          <a:lstStyle/>
          <a:p>
            <a:r>
              <a:rPr sz="1100" b="0">
                <a:solidFill>
                  <a:srgbClr val="2E2E2E"/>
                </a:solidFill>
                <a:latin typeface="Calibri"/>
              </a:rPr>
              <a:t>Mn for the overall removable partial dentures market from 2025 to 2036. Absolute $ value for 2026 is estimated to be US$</a:t>
            </a:r>
          </a:p>
        </p:txBody>
      </p:sp>
      <p:pic>
        <p:nvPicPr>
          <p:cNvPr id="48" name="Picture 47" descr="lock.png"/>
          <p:cNvPicPr>
            <a:picLocks noChangeAspect="1"/>
          </p:cNvPicPr>
          <p:nvPr/>
        </p:nvPicPr>
        <p:blipFill>
          <a:blip r:embed="rId6"/>
          <a:stretch>
            <a:fillRect/>
          </a:stretch>
        </p:blipFill>
        <p:spPr>
          <a:xfrm>
            <a:off x="262757" y="5587873"/>
            <a:ext cx="128699" cy="187198"/>
          </a:xfrm>
          <a:prstGeom prst="rect">
            <a:avLst/>
          </a:prstGeom>
        </p:spPr>
      </p:pic>
      <p:sp>
        <p:nvSpPr>
          <p:cNvPr id="49" name="TextBox 48"/>
          <p:cNvSpPr txBox="1"/>
          <p:nvPr/>
        </p:nvSpPr>
        <p:spPr>
          <a:xfrm>
            <a:off x="430253" y="5597652"/>
            <a:ext cx="4507855" cy="186689"/>
          </a:xfrm>
          <a:prstGeom prst="rect">
            <a:avLst/>
          </a:prstGeom>
          <a:noFill/>
        </p:spPr>
        <p:txBody>
          <a:bodyPr wrap="none" lIns="0" rIns="0" tIns="0" bIns="0">
            <a:spAutoFit/>
          </a:bodyPr>
          <a:lstStyle/>
          <a:p>
            <a:r>
              <a:rPr sz="1100" b="0">
                <a:solidFill>
                  <a:srgbClr val="2E2E2E"/>
                </a:solidFill>
                <a:latin typeface="Calibri"/>
              </a:rPr>
              <a:t>Mn. North America removable partial dentures market is projected to register</a:t>
            </a:r>
          </a:p>
        </p:txBody>
      </p:sp>
      <p:pic>
        <p:nvPicPr>
          <p:cNvPr id="50" name="Picture 49" descr="lock.png"/>
          <p:cNvPicPr>
            <a:picLocks noChangeAspect="1"/>
          </p:cNvPicPr>
          <p:nvPr/>
        </p:nvPicPr>
        <p:blipFill>
          <a:blip r:embed="rId6"/>
          <a:stretch>
            <a:fillRect/>
          </a:stretch>
        </p:blipFill>
        <p:spPr>
          <a:xfrm>
            <a:off x="4886160" y="5587873"/>
            <a:ext cx="128699" cy="187198"/>
          </a:xfrm>
          <a:prstGeom prst="rect">
            <a:avLst/>
          </a:prstGeom>
        </p:spPr>
      </p:pic>
      <p:sp>
        <p:nvSpPr>
          <p:cNvPr id="51" name="TextBox 50"/>
          <p:cNvSpPr txBox="1"/>
          <p:nvPr/>
        </p:nvSpPr>
        <p:spPr>
          <a:xfrm>
            <a:off x="5053655" y="5597652"/>
            <a:ext cx="3314948" cy="186689"/>
          </a:xfrm>
          <a:prstGeom prst="rect">
            <a:avLst/>
          </a:prstGeom>
          <a:noFill/>
        </p:spPr>
        <p:txBody>
          <a:bodyPr wrap="none" lIns="0" rIns="0" tIns="0" bIns="0">
            <a:spAutoFit/>
          </a:bodyPr>
          <a:lstStyle/>
          <a:p>
            <a:r>
              <a:rPr sz="1100" b="0">
                <a:solidFill>
                  <a:srgbClr val="2E2E2E"/>
                </a:solidFill>
                <a:latin typeface="Calibri"/>
              </a:rPr>
              <a:t>X increase in volume by the end of forecast period, 2036.</a:t>
            </a:r>
          </a:p>
        </p:txBody>
      </p:sp>
      <p:sp>
        <p:nvSpPr>
          <p:cNvPr id="52" name="TextBox 51"/>
          <p:cNvSpPr txBox="1"/>
          <p:nvPr/>
        </p:nvSpPr>
        <p:spPr>
          <a:xfrm>
            <a:off x="276225" y="5815584"/>
            <a:ext cx="3884116" cy="186689"/>
          </a:xfrm>
          <a:prstGeom prst="rect">
            <a:avLst/>
          </a:prstGeom>
          <a:noFill/>
        </p:spPr>
        <p:txBody>
          <a:bodyPr wrap="none" lIns="0" rIns="0" tIns="0" bIns="0">
            <a:spAutoFit/>
          </a:bodyPr>
          <a:lstStyle/>
          <a:p>
            <a:r>
              <a:rPr sz="1100" b="0">
                <a:solidFill>
                  <a:srgbClr val="2E2E2E"/>
                </a:solidFill>
                <a:latin typeface="Calibri"/>
              </a:rPr>
              <a:t>North America removable partial dentures market volume stood at</a:t>
            </a:r>
          </a:p>
        </p:txBody>
      </p:sp>
      <p:pic>
        <p:nvPicPr>
          <p:cNvPr id="53" name="Picture 52" descr="lock.png"/>
          <p:cNvPicPr>
            <a:picLocks noChangeAspect="1"/>
          </p:cNvPicPr>
          <p:nvPr/>
        </p:nvPicPr>
        <p:blipFill>
          <a:blip r:embed="rId6"/>
          <a:stretch>
            <a:fillRect/>
          </a:stretch>
        </p:blipFill>
        <p:spPr>
          <a:xfrm>
            <a:off x="4108393" y="5805805"/>
            <a:ext cx="128699" cy="187198"/>
          </a:xfrm>
          <a:prstGeom prst="rect">
            <a:avLst/>
          </a:prstGeom>
        </p:spPr>
      </p:pic>
      <p:sp>
        <p:nvSpPr>
          <p:cNvPr id="54" name="TextBox 53"/>
          <p:cNvSpPr txBox="1"/>
          <p:nvPr/>
        </p:nvSpPr>
        <p:spPr>
          <a:xfrm>
            <a:off x="4275888" y="5815584"/>
            <a:ext cx="2245097" cy="186689"/>
          </a:xfrm>
          <a:prstGeom prst="rect">
            <a:avLst/>
          </a:prstGeom>
          <a:noFill/>
        </p:spPr>
        <p:txBody>
          <a:bodyPr wrap="none" lIns="0" rIns="0" tIns="0" bIns="0">
            <a:spAutoFit/>
          </a:bodyPr>
          <a:lstStyle/>
          <a:p>
            <a:r>
              <a:rPr sz="1100" b="0">
                <a:solidFill>
                  <a:srgbClr val="2E2E2E"/>
                </a:solidFill>
                <a:latin typeface="Calibri"/>
              </a:rPr>
              <a:t>Units in 2025 and is expected to reach</a:t>
            </a:r>
          </a:p>
        </p:txBody>
      </p:sp>
      <p:pic>
        <p:nvPicPr>
          <p:cNvPr id="55" name="Picture 54" descr="lock.png"/>
          <p:cNvPicPr>
            <a:picLocks noChangeAspect="1"/>
          </p:cNvPicPr>
          <p:nvPr/>
        </p:nvPicPr>
        <p:blipFill>
          <a:blip r:embed="rId6"/>
          <a:stretch>
            <a:fillRect/>
          </a:stretch>
        </p:blipFill>
        <p:spPr>
          <a:xfrm>
            <a:off x="6469037" y="5805805"/>
            <a:ext cx="128699" cy="187198"/>
          </a:xfrm>
          <a:prstGeom prst="rect">
            <a:avLst/>
          </a:prstGeom>
        </p:spPr>
      </p:pic>
      <p:sp>
        <p:nvSpPr>
          <p:cNvPr id="56" name="TextBox 55"/>
          <p:cNvSpPr txBox="1"/>
          <p:nvPr/>
        </p:nvSpPr>
        <p:spPr>
          <a:xfrm>
            <a:off x="6636533" y="5815584"/>
            <a:ext cx="1882460" cy="186689"/>
          </a:xfrm>
          <a:prstGeom prst="rect">
            <a:avLst/>
          </a:prstGeom>
          <a:noFill/>
        </p:spPr>
        <p:txBody>
          <a:bodyPr wrap="none" lIns="0" rIns="0" tIns="0" bIns="0">
            <a:spAutoFit/>
          </a:bodyPr>
          <a:lstStyle/>
          <a:p>
            <a:r>
              <a:rPr sz="1100" b="0">
                <a:solidFill>
                  <a:srgbClr val="2E2E2E"/>
                </a:solidFill>
                <a:latin typeface="Calibri"/>
              </a:rPr>
              <a:t>Units by 2036 end, at a CAGR of</a:t>
            </a:r>
          </a:p>
        </p:txBody>
      </p:sp>
      <p:pic>
        <p:nvPicPr>
          <p:cNvPr id="57" name="Picture 56" descr="lock.png"/>
          <p:cNvPicPr>
            <a:picLocks noChangeAspect="1"/>
          </p:cNvPicPr>
          <p:nvPr/>
        </p:nvPicPr>
        <p:blipFill>
          <a:blip r:embed="rId6"/>
          <a:stretch>
            <a:fillRect/>
          </a:stretch>
        </p:blipFill>
        <p:spPr>
          <a:xfrm>
            <a:off x="8467045" y="5805805"/>
            <a:ext cx="128699" cy="187198"/>
          </a:xfrm>
          <a:prstGeom prst="rect">
            <a:avLst/>
          </a:prstGeom>
        </p:spPr>
      </p:pic>
      <p:sp>
        <p:nvSpPr>
          <p:cNvPr id="58" name="TextBox 57"/>
          <p:cNvSpPr txBox="1"/>
          <p:nvPr/>
        </p:nvSpPr>
        <p:spPr>
          <a:xfrm>
            <a:off x="8634541" y="5815584"/>
            <a:ext cx="3029818" cy="186689"/>
          </a:xfrm>
          <a:prstGeom prst="rect">
            <a:avLst/>
          </a:prstGeom>
          <a:noFill/>
        </p:spPr>
        <p:txBody>
          <a:bodyPr wrap="none" lIns="0" rIns="0" tIns="0" bIns="0">
            <a:spAutoFit/>
          </a:bodyPr>
          <a:lstStyle/>
          <a:p>
            <a:r>
              <a:rPr sz="1100" b="0">
                <a:solidFill>
                  <a:srgbClr val="2E2E2E"/>
                </a:solidFill>
                <a:latin typeface="Calibri"/>
              </a:rPr>
              <a:t>. Value is projected to grow faster than volume over</a:t>
            </a:r>
          </a:p>
        </p:txBody>
      </p:sp>
      <p:sp>
        <p:nvSpPr>
          <p:cNvPr id="59" name="TextBox 58"/>
          <p:cNvSpPr txBox="1"/>
          <p:nvPr/>
        </p:nvSpPr>
        <p:spPr>
          <a:xfrm>
            <a:off x="276225" y="5983224"/>
            <a:ext cx="3765153" cy="186689"/>
          </a:xfrm>
          <a:prstGeom prst="rect">
            <a:avLst/>
          </a:prstGeom>
          <a:noFill/>
        </p:spPr>
        <p:txBody>
          <a:bodyPr wrap="none" lIns="0" rIns="0" tIns="0" bIns="0">
            <a:spAutoFit/>
          </a:bodyPr>
          <a:lstStyle/>
          <a:p>
            <a:r>
              <a:rPr sz="1100" b="0">
                <a:solidFill>
                  <a:srgbClr val="2E2E2E"/>
                </a:solidFill>
                <a:latin typeface="Calibri"/>
              </a:rPr>
              <a:t>the forecast period, owing to an increase in average selling price.</a:t>
            </a:r>
          </a:p>
        </p:txBody>
      </p:sp>
      <p:sp>
        <p:nvSpPr>
          <p:cNvPr id="60" name="lockshield_13"/>
          <p:cNvSpPr/>
          <p:nvPr/>
        </p:nvSpPr>
        <p:spPr>
          <a:xfrm>
            <a:off x="238125" y="1266825"/>
            <a:ext cx="4505325" cy="21812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lockshield_16"/>
          <p:cNvSpPr/>
          <p:nvPr/>
        </p:nvSpPr>
        <p:spPr>
          <a:xfrm>
            <a:off x="5086350" y="1266825"/>
            <a:ext cx="6858000" cy="21812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Removable Partial Dentures Market Summary Country Indices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outlook ranking 2036 market size, growth and absolute-growth indices to highlight the strongest markets</a:t>
            </a:r>
          </a:p>
        </p:txBody>
      </p:sp>
      <p:sp>
        <p:nvSpPr>
          <p:cNvPr id="10" name="Rounded Rectangle 9"/>
          <p:cNvSpPr/>
          <p:nvPr/>
        </p:nvSpPr>
        <p:spPr>
          <a:xfrm>
            <a:off x="142875" y="1007261"/>
            <a:ext cx="3933825" cy="2445995"/>
          </a:xfrm>
          <a:prstGeom prst="roundRect">
            <a:avLst>
              <a:gd name="adj" fmla="val 311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CAGR Index</a:t>
            </a:r>
          </a:p>
        </p:txBody>
      </p:sp>
      <p:graphicFrame>
        <p:nvGraphicFramePr>
          <p:cNvPr id="12" name="Chart 11"/>
          <p:cNvGraphicFramePr>
            <a:graphicFrameLocks noGrp="1"/>
          </p:cNvGraphicFramePr>
          <p:nvPr/>
        </p:nvGraphicFramePr>
        <p:xfrm>
          <a:off x="238125" y="1293011"/>
          <a:ext cx="3743325" cy="210309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489764"/>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4" name="Table 13"/>
          <p:cNvGraphicFramePr>
            <a:graphicFrameLocks noGrp="1"/>
          </p:cNvGraphicFramePr>
          <p:nvPr/>
        </p:nvGraphicFramePr>
        <p:xfrm>
          <a:off x="152400" y="3565964"/>
          <a:ext cx="3914776" cy="2132068"/>
        </p:xfrm>
        <a:graphic>
          <a:graphicData uri="http://schemas.openxmlformats.org/drawingml/2006/table">
            <a:tbl>
              <a:tblPr>
                <a:tableStyleId>{5C22544A-7EE6-4342-B048-85BDC9FD1C3A}</a:tableStyleId>
              </a:tblPr>
              <a:tblGrid>
                <a:gridCol w="608071"/>
                <a:gridCol w="1102235"/>
                <a:gridCol w="1102235"/>
                <a:gridCol w="1102235"/>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 Index</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 Opp (US$ Mn)</a:t>
                      </a:r>
                      <a:endParaRPr sz="1100"/>
                    </a:p>
                  </a:txBody>
                  <a:tcPr marL="47625" marR="38100" marT="19050" marB="19050" anchor="ctr">
                    <a:solidFill>
                      <a:srgbClr val="E0E8EF"/>
                    </a:solidFill>
                  </a:tcPr>
                </a:tc>
              </a:tr>
              <a:tr h="942971">
                <a:tc>
                  <a:txBody>
                    <a:bodyPr wrap="none"/>
                    <a:lstStyle/>
                    <a:p>
                      <a:pPr algn="l"/>
                      <a:r>
                        <a:rPr sz="1100" b="1">
                          <a:solidFill>
                            <a:srgbClr val="2E2E2E"/>
                          </a:solidFill>
                          <a:latin typeface="Calibri"/>
                        </a:rPr>
                        <a:t>Canada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942971">
                <a:tc>
                  <a:txBody>
                    <a:bodyPr wrap="none"/>
                    <a:lstStyle/>
                    <a:p>
                      <a:pPr algn="l"/>
                      <a:r>
                        <a:rPr sz="1100" b="1">
                          <a:solidFill>
                            <a:srgbClr val="2E2E2E"/>
                          </a:solidFill>
                          <a:latin typeface="Calibri"/>
                        </a:rPr>
                        <a:t>U.S.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5" name="TextBox 14"/>
          <p:cNvSpPr txBox="1"/>
          <p:nvPr/>
        </p:nvSpPr>
        <p:spPr>
          <a:xfrm>
            <a:off x="219075" y="5707558"/>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6" name="Rounded Rectangle 15"/>
          <p:cNvSpPr/>
          <p:nvPr/>
        </p:nvSpPr>
        <p:spPr>
          <a:xfrm>
            <a:off x="4114800" y="1007261"/>
            <a:ext cx="3933825" cy="4928498"/>
          </a:xfrm>
          <a:prstGeom prst="roundRect">
            <a:avLst>
              <a:gd name="adj" fmla="val 19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210050"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2036 Market By Country (US$ Mn)  ·  Top 10</a:t>
            </a:r>
          </a:p>
        </p:txBody>
      </p:sp>
      <p:sp>
        <p:nvSpPr>
          <p:cNvPr id="18" name="Rectangle 17"/>
          <p:cNvSpPr/>
          <p:nvPr/>
        </p:nvSpPr>
        <p:spPr>
          <a:xfrm>
            <a:off x="4210050" y="1293011"/>
            <a:ext cx="3743325" cy="3091858"/>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U.S.</a:t>
            </a:r>
          </a:p>
          <a:p>
            <a:pPr algn="ctr"/>
            <a:r>
              <a:rPr sz="1100" b="0">
                <a:solidFill>
                  <a:srgbClr val="FFFFFF"/>
                </a:solidFill>
                <a:latin typeface="Calibri"/>
              </a:rPr>
              <a:t> </a:t>
            </a:r>
          </a:p>
        </p:txBody>
      </p:sp>
      <p:sp>
        <p:nvSpPr>
          <p:cNvPr id="19" name="Rectangle 18"/>
          <p:cNvSpPr/>
          <p:nvPr/>
        </p:nvSpPr>
        <p:spPr>
          <a:xfrm>
            <a:off x="4210050" y="4384869"/>
            <a:ext cx="3743325" cy="1493741"/>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Canada</a:t>
            </a:r>
          </a:p>
          <a:p>
            <a:pPr algn="ctr"/>
            <a:r>
              <a:rPr sz="1100" b="0">
                <a:solidFill>
                  <a:srgbClr val="FFFFFF"/>
                </a:solidFill>
                <a:latin typeface="Calibri"/>
              </a:rPr>
              <a:t> </a:t>
            </a:r>
          </a:p>
        </p:txBody>
      </p:sp>
      <p:sp>
        <p:nvSpPr>
          <p:cNvPr id="20" name="Rounded Rectangle 19"/>
          <p:cNvSpPr/>
          <p:nvPr/>
        </p:nvSpPr>
        <p:spPr>
          <a:xfrm>
            <a:off x="8086725" y="1007261"/>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818197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Absolute Index</a:t>
            </a:r>
          </a:p>
        </p:txBody>
      </p:sp>
      <p:graphicFrame>
        <p:nvGraphicFramePr>
          <p:cNvPr id="22" name="Chart 21"/>
          <p:cNvGraphicFramePr>
            <a:graphicFrameLocks noGrp="1"/>
          </p:cNvGraphicFramePr>
          <p:nvPr/>
        </p:nvGraphicFramePr>
        <p:xfrm>
          <a:off x="8181975" y="1293011"/>
          <a:ext cx="3743325" cy="2093969"/>
        </p:xfrm>
        <a:graphic>
          <a:graphicData uri="http://schemas.openxmlformats.org/drawingml/2006/chart">
            <c:chart xmlns:c="http://schemas.openxmlformats.org/drawingml/2006/chart" r:id="rId4"/>
          </a:graphicData>
        </a:graphic>
      </p:graphicFrame>
      <p:sp>
        <p:nvSpPr>
          <p:cNvPr id="23" name="Rounded Rectangle 22"/>
          <p:cNvSpPr/>
          <p:nvPr/>
        </p:nvSpPr>
        <p:spPr>
          <a:xfrm>
            <a:off x="8086725" y="3471510"/>
            <a:ext cx="3933825" cy="2464249"/>
          </a:xfrm>
          <a:prstGeom prst="roundRect">
            <a:avLst>
              <a:gd name="adj" fmla="val 30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24" name="Table 23"/>
          <p:cNvGraphicFramePr>
            <a:graphicFrameLocks noGrp="1"/>
          </p:cNvGraphicFramePr>
          <p:nvPr/>
        </p:nvGraphicFramePr>
        <p:xfrm>
          <a:off x="8096250" y="3547710"/>
          <a:ext cx="3914776" cy="2159450"/>
        </p:xfrm>
        <a:graphic>
          <a:graphicData uri="http://schemas.openxmlformats.org/drawingml/2006/table">
            <a:tbl>
              <a:tblPr>
                <a:tableStyleId>{5C22544A-7EE6-4342-B048-85BDC9FD1C3A}</a:tableStyleId>
              </a:tblPr>
              <a:tblGrid>
                <a:gridCol w="608071"/>
                <a:gridCol w="1102235"/>
                <a:gridCol w="1102235"/>
                <a:gridCol w="1102235"/>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Absolute Index</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 Opp (US$ Mn)</a:t>
                      </a:r>
                      <a:endParaRPr sz="1100"/>
                    </a:p>
                  </a:txBody>
                  <a:tcPr marL="47625" marR="38100" marT="19050" marB="19050" anchor="ctr">
                    <a:solidFill>
                      <a:srgbClr val="E0E8EF"/>
                    </a:solidFill>
                  </a:tcPr>
                </a:tc>
              </a:tr>
              <a:tr h="956662">
                <a:tc>
                  <a:txBody>
                    <a:bodyPr wrap="none"/>
                    <a:lstStyle/>
                    <a:p>
                      <a:pPr algn="l"/>
                      <a:r>
                        <a:rPr sz="1100" b="1">
                          <a:solidFill>
                            <a:srgbClr val="2E2E2E"/>
                          </a:solidFill>
                          <a:latin typeface="Calibri"/>
                        </a:rPr>
                        <a:t>U.S.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956662">
                <a:tc>
                  <a:txBody>
                    <a:bodyPr wrap="none"/>
                    <a:lstStyle/>
                    <a:p>
                      <a:pPr algn="l"/>
                      <a:r>
                        <a:rPr sz="1100" b="1">
                          <a:solidFill>
                            <a:srgbClr val="2E2E2E"/>
                          </a:solidFill>
                          <a:latin typeface="Calibri"/>
                        </a:rPr>
                        <a:t>Canada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5" name="TextBox 24"/>
          <p:cNvSpPr txBox="1"/>
          <p:nvPr/>
        </p:nvSpPr>
        <p:spPr>
          <a:xfrm>
            <a:off x="8162925" y="5716684"/>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6" name="Rounded Rectangle 25"/>
          <p:cNvSpPr/>
          <p:nvPr/>
        </p:nvSpPr>
        <p:spPr>
          <a:xfrm>
            <a:off x="142875" y="6027028"/>
            <a:ext cx="10858500" cy="602372"/>
          </a:xfrm>
          <a:prstGeom prst="roundRect">
            <a:avLst>
              <a:gd name="adj" fmla="val 126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27" name="TextBox 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8" name="Picture 27" descr="lock.png"/>
          <p:cNvPicPr>
            <a:picLocks noChangeAspect="1"/>
          </p:cNvPicPr>
          <p:nvPr/>
        </p:nvPicPr>
        <p:blipFill>
          <a:blip r:embed="rId6"/>
          <a:stretch>
            <a:fillRect/>
          </a:stretch>
        </p:blipFill>
        <p:spPr>
          <a:xfrm>
            <a:off x="3188017" y="2125483"/>
            <a:ext cx="183356" cy="266700"/>
          </a:xfrm>
          <a:prstGeom prst="rect">
            <a:avLst/>
          </a:prstGeom>
        </p:spPr>
      </p:pic>
      <p:pic>
        <p:nvPicPr>
          <p:cNvPr id="29" name="Picture 28" descr="lock.png"/>
          <p:cNvPicPr>
            <a:picLocks noChangeAspect="1"/>
          </p:cNvPicPr>
          <p:nvPr/>
        </p:nvPicPr>
        <p:blipFill>
          <a:blip r:embed="rId6"/>
          <a:stretch>
            <a:fillRect/>
          </a:stretch>
        </p:blipFill>
        <p:spPr>
          <a:xfrm>
            <a:off x="2232897" y="4496595"/>
            <a:ext cx="355389" cy="516930"/>
          </a:xfrm>
          <a:prstGeom prst="rect">
            <a:avLst/>
          </a:prstGeom>
        </p:spPr>
      </p:pic>
      <p:pic>
        <p:nvPicPr>
          <p:cNvPr id="30" name="Picture 29" descr="lock.png"/>
          <p:cNvPicPr>
            <a:picLocks noChangeAspect="1"/>
          </p:cNvPicPr>
          <p:nvPr/>
        </p:nvPicPr>
        <p:blipFill>
          <a:blip r:embed="rId6"/>
          <a:stretch>
            <a:fillRect/>
          </a:stretch>
        </p:blipFill>
        <p:spPr>
          <a:xfrm>
            <a:off x="6024086" y="2838940"/>
            <a:ext cx="115252" cy="167639"/>
          </a:xfrm>
          <a:prstGeom prst="rect">
            <a:avLst/>
          </a:prstGeom>
        </p:spPr>
      </p:pic>
      <p:pic>
        <p:nvPicPr>
          <p:cNvPr id="31" name="Picture 30" descr="lock.png"/>
          <p:cNvPicPr>
            <a:picLocks noChangeAspect="1"/>
          </p:cNvPicPr>
          <p:nvPr/>
        </p:nvPicPr>
        <p:blipFill>
          <a:blip r:embed="rId6"/>
          <a:stretch>
            <a:fillRect/>
          </a:stretch>
        </p:blipFill>
        <p:spPr>
          <a:xfrm>
            <a:off x="6024086" y="5131739"/>
            <a:ext cx="115252" cy="167639"/>
          </a:xfrm>
          <a:prstGeom prst="rect">
            <a:avLst/>
          </a:prstGeom>
        </p:spPr>
      </p:pic>
      <p:pic>
        <p:nvPicPr>
          <p:cNvPr id="32" name="Picture 31" descr="lock.png"/>
          <p:cNvPicPr>
            <a:picLocks noChangeAspect="1"/>
          </p:cNvPicPr>
          <p:nvPr/>
        </p:nvPicPr>
        <p:blipFill>
          <a:blip r:embed="rId6"/>
          <a:stretch>
            <a:fillRect/>
          </a:stretch>
        </p:blipFill>
        <p:spPr>
          <a:xfrm>
            <a:off x="11131867" y="2120920"/>
            <a:ext cx="183356" cy="266700"/>
          </a:xfrm>
          <a:prstGeom prst="rect">
            <a:avLst/>
          </a:prstGeom>
        </p:spPr>
      </p:pic>
      <p:pic>
        <p:nvPicPr>
          <p:cNvPr id="33" name="Picture 32" descr="lock.png"/>
          <p:cNvPicPr>
            <a:picLocks noChangeAspect="1"/>
          </p:cNvPicPr>
          <p:nvPr/>
        </p:nvPicPr>
        <p:blipFill>
          <a:blip r:embed="rId6"/>
          <a:stretch>
            <a:fillRect/>
          </a:stretch>
        </p:blipFill>
        <p:spPr>
          <a:xfrm>
            <a:off x="10175439" y="4490163"/>
            <a:ext cx="357960" cy="520669"/>
          </a:xfrm>
          <a:prstGeom prst="rect">
            <a:avLst/>
          </a:prstGeom>
        </p:spPr>
      </p:pic>
      <p:sp>
        <p:nvSpPr>
          <p:cNvPr id="34" name="TextBox 33"/>
          <p:cNvSpPr txBox="1"/>
          <p:nvPr/>
        </p:nvSpPr>
        <p:spPr>
          <a:xfrm>
            <a:off x="257175" y="6160574"/>
            <a:ext cx="3881387" cy="186689"/>
          </a:xfrm>
          <a:prstGeom prst="rect">
            <a:avLst/>
          </a:prstGeom>
          <a:noFill/>
        </p:spPr>
        <p:txBody>
          <a:bodyPr wrap="none" lIns="0" rIns="0" tIns="0" bIns="0">
            <a:spAutoFit/>
          </a:bodyPr>
          <a:lstStyle/>
          <a:p>
            <a:r>
              <a:rPr sz="1100" b="0">
                <a:solidFill>
                  <a:srgbClr val="2E2E2E"/>
                </a:solidFill>
                <a:latin typeface="Calibri"/>
              </a:rPr>
              <a:t>The U.S. removable partial dentures market is projected to register</a:t>
            </a:r>
          </a:p>
        </p:txBody>
      </p:sp>
      <p:pic>
        <p:nvPicPr>
          <p:cNvPr id="35" name="Picture 34" descr="lock.png"/>
          <p:cNvPicPr>
            <a:picLocks noChangeAspect="1"/>
          </p:cNvPicPr>
          <p:nvPr/>
        </p:nvPicPr>
        <p:blipFill>
          <a:blip r:embed="rId6"/>
          <a:stretch>
            <a:fillRect/>
          </a:stretch>
        </p:blipFill>
        <p:spPr>
          <a:xfrm>
            <a:off x="4086614" y="6150795"/>
            <a:ext cx="128699" cy="187198"/>
          </a:xfrm>
          <a:prstGeom prst="rect">
            <a:avLst/>
          </a:prstGeom>
        </p:spPr>
      </p:pic>
      <p:sp>
        <p:nvSpPr>
          <p:cNvPr id="36" name="TextBox 35"/>
          <p:cNvSpPr txBox="1"/>
          <p:nvPr/>
        </p:nvSpPr>
        <p:spPr>
          <a:xfrm>
            <a:off x="4254110" y="6160574"/>
            <a:ext cx="4339761" cy="186689"/>
          </a:xfrm>
          <a:prstGeom prst="rect">
            <a:avLst/>
          </a:prstGeom>
          <a:noFill/>
        </p:spPr>
        <p:txBody>
          <a:bodyPr wrap="none" lIns="0" rIns="0" tIns="0" bIns="0">
            <a:spAutoFit/>
          </a:bodyPr>
          <a:lstStyle/>
          <a:p>
            <a:r>
              <a:rPr sz="1100" b="0">
                <a:solidFill>
                  <a:srgbClr val="2E2E2E"/>
                </a:solidFill>
                <a:latin typeface="Calibri"/>
              </a:rPr>
              <a:t>X higher value than Canada in 2036. Canada posts the highest CAGR Index (</a:t>
            </a:r>
          </a:p>
        </p:txBody>
      </p:sp>
      <p:pic>
        <p:nvPicPr>
          <p:cNvPr id="37" name="Picture 36" descr="lock.png"/>
          <p:cNvPicPr>
            <a:picLocks noChangeAspect="1"/>
          </p:cNvPicPr>
          <p:nvPr/>
        </p:nvPicPr>
        <p:blipFill>
          <a:blip r:embed="rId6"/>
          <a:stretch>
            <a:fillRect/>
          </a:stretch>
        </p:blipFill>
        <p:spPr>
          <a:xfrm>
            <a:off x="8541923" y="6150795"/>
            <a:ext cx="128699" cy="187198"/>
          </a:xfrm>
          <a:prstGeom prst="rect">
            <a:avLst/>
          </a:prstGeom>
        </p:spPr>
      </p:pic>
      <p:sp>
        <p:nvSpPr>
          <p:cNvPr id="38" name="TextBox 37"/>
          <p:cNvSpPr txBox="1"/>
          <p:nvPr/>
        </p:nvSpPr>
        <p:spPr>
          <a:xfrm>
            <a:off x="8709419" y="6160574"/>
            <a:ext cx="789979" cy="186689"/>
          </a:xfrm>
          <a:prstGeom prst="rect">
            <a:avLst/>
          </a:prstGeom>
          <a:noFill/>
        </p:spPr>
        <p:txBody>
          <a:bodyPr wrap="none" lIns="0" rIns="0" tIns="0" bIns="0">
            <a:spAutoFit/>
          </a:bodyPr>
          <a:lstStyle/>
          <a:p>
            <a:r>
              <a:rPr sz="1100" b="0">
                <a:solidFill>
                  <a:srgbClr val="2E2E2E"/>
                </a:solidFill>
                <a:latin typeface="Calibri"/>
              </a:rPr>
              <a:t>), growing at</a:t>
            </a:r>
          </a:p>
        </p:txBody>
      </p:sp>
      <p:pic>
        <p:nvPicPr>
          <p:cNvPr id="39" name="Picture 38" descr="lock.png"/>
          <p:cNvPicPr>
            <a:picLocks noChangeAspect="1"/>
          </p:cNvPicPr>
          <p:nvPr/>
        </p:nvPicPr>
        <p:blipFill>
          <a:blip r:embed="rId6"/>
          <a:stretch>
            <a:fillRect/>
          </a:stretch>
        </p:blipFill>
        <p:spPr>
          <a:xfrm>
            <a:off x="9447450" y="6150795"/>
            <a:ext cx="128699" cy="187198"/>
          </a:xfrm>
          <a:prstGeom prst="rect">
            <a:avLst/>
          </a:prstGeom>
        </p:spPr>
      </p:pic>
      <p:sp>
        <p:nvSpPr>
          <p:cNvPr id="40" name="TextBox 39"/>
          <p:cNvSpPr txBox="1"/>
          <p:nvPr/>
        </p:nvSpPr>
        <p:spPr>
          <a:xfrm>
            <a:off x="9614946" y="6160574"/>
            <a:ext cx="1069106" cy="186689"/>
          </a:xfrm>
          <a:prstGeom prst="rect">
            <a:avLst/>
          </a:prstGeom>
          <a:noFill/>
        </p:spPr>
        <p:txBody>
          <a:bodyPr wrap="none" lIns="0" rIns="0" tIns="0" bIns="0">
            <a:spAutoFit/>
          </a:bodyPr>
          <a:lstStyle/>
          <a:p>
            <a:r>
              <a:rPr sz="1100" b="0">
                <a:solidFill>
                  <a:srgbClr val="2E2E2E"/>
                </a:solidFill>
                <a:latin typeface="Calibri"/>
              </a:rPr>
              <a:t>against the North</a:t>
            </a:r>
          </a:p>
        </p:txBody>
      </p:sp>
      <p:sp>
        <p:nvSpPr>
          <p:cNvPr id="41" name="TextBox 40"/>
          <p:cNvSpPr txBox="1"/>
          <p:nvPr/>
        </p:nvSpPr>
        <p:spPr>
          <a:xfrm>
            <a:off x="257175" y="6328214"/>
            <a:ext cx="4080842" cy="186689"/>
          </a:xfrm>
          <a:prstGeom prst="rect">
            <a:avLst/>
          </a:prstGeom>
          <a:noFill/>
        </p:spPr>
        <p:txBody>
          <a:bodyPr wrap="none" lIns="0" rIns="0" tIns="0" bIns="0">
            <a:spAutoFit/>
          </a:bodyPr>
          <a:lstStyle/>
          <a:p>
            <a:r>
              <a:rPr sz="1100" b="0">
                <a:solidFill>
                  <a:srgbClr val="2E2E2E"/>
                </a:solidFill>
                <a:latin typeface="Calibri"/>
              </a:rPr>
              <a:t>America benchmark, while U.S. offers the largest absolute opportunity</a:t>
            </a:r>
          </a:p>
        </p:txBody>
      </p:sp>
      <p:pic>
        <p:nvPicPr>
          <p:cNvPr id="42" name="Picture 41" descr="lock.png"/>
          <p:cNvPicPr>
            <a:picLocks noChangeAspect="1"/>
          </p:cNvPicPr>
          <p:nvPr/>
        </p:nvPicPr>
        <p:blipFill>
          <a:blip r:embed="rId6"/>
          <a:stretch>
            <a:fillRect/>
          </a:stretch>
        </p:blipFill>
        <p:spPr>
          <a:xfrm>
            <a:off x="4286068" y="6318435"/>
            <a:ext cx="128699" cy="187198"/>
          </a:xfrm>
          <a:prstGeom prst="rect">
            <a:avLst/>
          </a:prstGeom>
        </p:spPr>
      </p:pic>
      <p:sp>
        <p:nvSpPr>
          <p:cNvPr id="43" name="TextBox 42"/>
          <p:cNvSpPr txBox="1"/>
          <p:nvPr/>
        </p:nvSpPr>
        <p:spPr>
          <a:xfrm>
            <a:off x="4453564" y="6328214"/>
            <a:ext cx="3311946" cy="186689"/>
          </a:xfrm>
          <a:prstGeom prst="rect">
            <a:avLst/>
          </a:prstGeom>
          <a:noFill/>
        </p:spPr>
        <p:txBody>
          <a:bodyPr wrap="none" lIns="0" rIns="0" tIns="0" bIns="0">
            <a:spAutoFit/>
          </a:bodyPr>
          <a:lstStyle/>
          <a:p>
            <a:r>
              <a:rPr sz="1100" b="0">
                <a:solidFill>
                  <a:srgbClr val="2E2E2E"/>
                </a:solidFill>
                <a:latin typeface="Calibri"/>
              </a:rPr>
              <a:t>US$ Mn of incremental market between 2026 and 2036 (</a:t>
            </a:r>
          </a:p>
        </p:txBody>
      </p:sp>
      <p:pic>
        <p:nvPicPr>
          <p:cNvPr id="44" name="Picture 43" descr="lock.png"/>
          <p:cNvPicPr>
            <a:picLocks noChangeAspect="1"/>
          </p:cNvPicPr>
          <p:nvPr/>
        </p:nvPicPr>
        <p:blipFill>
          <a:blip r:embed="rId6"/>
          <a:stretch>
            <a:fillRect/>
          </a:stretch>
        </p:blipFill>
        <p:spPr>
          <a:xfrm>
            <a:off x="7713563" y="6318435"/>
            <a:ext cx="128699" cy="187198"/>
          </a:xfrm>
          <a:prstGeom prst="rect">
            <a:avLst/>
          </a:prstGeom>
        </p:spPr>
      </p:pic>
      <p:sp>
        <p:nvSpPr>
          <p:cNvPr id="45" name="TextBox 44"/>
          <p:cNvSpPr txBox="1"/>
          <p:nvPr/>
        </p:nvSpPr>
        <p:spPr>
          <a:xfrm>
            <a:off x="7881058" y="6328214"/>
            <a:ext cx="1973336" cy="186689"/>
          </a:xfrm>
          <a:prstGeom prst="rect">
            <a:avLst/>
          </a:prstGeom>
          <a:noFill/>
        </p:spPr>
        <p:txBody>
          <a:bodyPr wrap="none" lIns="0" rIns="0" tIns="0" bIns="0">
            <a:spAutoFit/>
          </a:bodyPr>
          <a:lstStyle/>
          <a:p>
            <a:r>
              <a:rPr sz="1100" b="0">
                <a:solidFill>
                  <a:srgbClr val="2E2E2E"/>
                </a:solidFill>
                <a:latin typeface="Calibri"/>
              </a:rPr>
              <a:t>of the North America increment).</a:t>
            </a:r>
          </a:p>
        </p:txBody>
      </p:sp>
      <p:sp>
        <p:nvSpPr>
          <p:cNvPr id="46" name="lockshield_12"/>
          <p:cNvSpPr/>
          <p:nvPr/>
        </p:nvSpPr>
        <p:spPr>
          <a:xfrm>
            <a:off x="238125" y="1293011"/>
            <a:ext cx="3743325" cy="210309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lockshield_22"/>
          <p:cNvSpPr/>
          <p:nvPr/>
        </p:nvSpPr>
        <p:spPr>
          <a:xfrm>
            <a:off x="8181975" y="1293011"/>
            <a:ext cx="3743325" cy="209396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Overview (1/4)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market size, competitive landscape and the drivers, restraints and trends shaping demand</a:t>
            </a:r>
          </a:p>
        </p:txBody>
      </p:sp>
      <p:sp>
        <p:nvSpPr>
          <p:cNvPr id="10" name="Rounded Rectangle 9"/>
          <p:cNvSpPr/>
          <p:nvPr/>
        </p:nvSpPr>
        <p:spPr>
          <a:xfrm>
            <a:off x="142875" y="981075"/>
            <a:ext cx="11906250" cy="1743075"/>
          </a:xfrm>
          <a:prstGeom prst="roundRect">
            <a:avLst>
              <a:gd name="adj" fmla="val 4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Market Overview</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573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4" name="Rounded Rectangle 13"/>
          <p:cNvSpPr/>
          <p:nvPr/>
        </p:nvSpPr>
        <p:spPr>
          <a:xfrm>
            <a:off x="142875" y="2857500"/>
            <a:ext cx="11906250" cy="1628775"/>
          </a:xfrm>
          <a:prstGeom prst="roundRect">
            <a:avLst>
              <a:gd name="adj" fmla="val 46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294322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Competitive Landscape</a:t>
            </a:r>
          </a:p>
        </p:txBody>
      </p:sp>
      <p:sp>
        <p:nvSpPr>
          <p:cNvPr id="16" name="Rectangle 15"/>
          <p:cNvSpPr/>
          <p:nvPr/>
        </p:nvSpPr>
        <p:spPr>
          <a:xfrm>
            <a:off x="276225" y="31813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267075"/>
            <a:ext cx="11639550" cy="11430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8" name="Rounded Rectangle 17"/>
          <p:cNvSpPr/>
          <p:nvPr/>
        </p:nvSpPr>
        <p:spPr>
          <a:xfrm>
            <a:off x="142875" y="4619625"/>
            <a:ext cx="3943350"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4705350"/>
            <a:ext cx="3676650" cy="209550"/>
          </a:xfrm>
          <a:prstGeom prst="rect">
            <a:avLst/>
          </a:prstGeom>
          <a:noFill/>
        </p:spPr>
        <p:txBody>
          <a:bodyPr wrap="square" lIns="0" rIns="19050" tIns="9525" bIns="9525">
            <a:spAutoFit/>
          </a:bodyPr>
          <a:lstStyle/>
          <a:p>
            <a:pPr algn="l"/>
            <a:r>
              <a:rPr sz="1300" b="1">
                <a:solidFill>
                  <a:srgbClr val="0B2E4A"/>
                </a:solidFill>
                <a:latin typeface="Calibri"/>
              </a:rPr>
              <a:t>Drivers</a:t>
            </a:r>
          </a:p>
        </p:txBody>
      </p:sp>
      <p:sp>
        <p:nvSpPr>
          <p:cNvPr id="20" name="Rectangle 19"/>
          <p:cNvSpPr/>
          <p:nvPr/>
        </p:nvSpPr>
        <p:spPr>
          <a:xfrm>
            <a:off x="276225" y="4943475"/>
            <a:ext cx="3676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5029200"/>
            <a:ext cx="3676650"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Rounded Rectangle 21"/>
          <p:cNvSpPr/>
          <p:nvPr/>
        </p:nvSpPr>
        <p:spPr>
          <a:xfrm>
            <a:off x="4238625"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4371975"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Restraints</a:t>
            </a:r>
          </a:p>
        </p:txBody>
      </p:sp>
      <p:sp>
        <p:nvSpPr>
          <p:cNvPr id="24" name="Rectangle 23"/>
          <p:cNvSpPr/>
          <p:nvPr/>
        </p:nvSpPr>
        <p:spPr>
          <a:xfrm>
            <a:off x="4371975"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4371975"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6" name="Rounded Rectangle 25"/>
          <p:cNvSpPr/>
          <p:nvPr/>
        </p:nvSpPr>
        <p:spPr>
          <a:xfrm>
            <a:off x="8210550"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8343900"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Trends</a:t>
            </a:r>
          </a:p>
        </p:txBody>
      </p:sp>
      <p:sp>
        <p:nvSpPr>
          <p:cNvPr id="28" name="Rectangle 27"/>
          <p:cNvSpPr/>
          <p:nvPr/>
        </p:nvSpPr>
        <p:spPr>
          <a:xfrm>
            <a:off x="8343900"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8343900"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Mix shifting toward 'Cast Metal Partial Dentures' and higher-growth tiers.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Canada outpacing the North America average.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broadening across 4 product type categories.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31" name="TextBox 30"/>
          <p:cNvSpPr txBox="1"/>
          <p:nvPr/>
        </p:nvSpPr>
        <p:spPr>
          <a:xfrm>
            <a:off x="276225" y="1400175"/>
            <a:ext cx="3916573" cy="194310"/>
          </a:xfrm>
          <a:prstGeom prst="rect">
            <a:avLst/>
          </a:prstGeom>
          <a:noFill/>
        </p:spPr>
        <p:txBody>
          <a:bodyPr wrap="none" lIns="0" rIns="0" tIns="0" bIns="0">
            <a:spAutoFit/>
          </a:bodyPr>
          <a:lstStyle/>
          <a:p>
            <a:r>
              <a:rPr sz="1150" b="0">
                <a:solidFill>
                  <a:srgbClr val="2E2E2E"/>
                </a:solidFill>
                <a:latin typeface="Calibri"/>
              </a:rPr>
              <a:t>Global removable partial dentures market is expected to witness</a:t>
            </a:r>
          </a:p>
        </p:txBody>
      </p:sp>
      <p:pic>
        <p:nvPicPr>
          <p:cNvPr id="32" name="Picture 31" descr="lock.png"/>
          <p:cNvPicPr>
            <a:picLocks noChangeAspect="1"/>
          </p:cNvPicPr>
          <p:nvPr/>
        </p:nvPicPr>
        <p:blipFill>
          <a:blip r:embed="rId4"/>
          <a:stretch>
            <a:fillRect/>
          </a:stretch>
        </p:blipFill>
        <p:spPr>
          <a:xfrm>
            <a:off x="4141952" y="1389951"/>
            <a:ext cx="134549" cy="195707"/>
          </a:xfrm>
          <a:prstGeom prst="rect">
            <a:avLst/>
          </a:prstGeom>
        </p:spPr>
      </p:pic>
      <p:sp>
        <p:nvSpPr>
          <p:cNvPr id="33" name="TextBox 32"/>
          <p:cNvSpPr txBox="1"/>
          <p:nvPr/>
        </p:nvSpPr>
        <p:spPr>
          <a:xfrm>
            <a:off x="4317061" y="1400175"/>
            <a:ext cx="5805239" cy="194310"/>
          </a:xfrm>
          <a:prstGeom prst="rect">
            <a:avLst/>
          </a:prstGeom>
          <a:noFill/>
        </p:spPr>
        <p:txBody>
          <a:bodyPr wrap="none" lIns="0" rIns="0" tIns="0" bIns="0">
            <a:spAutoFit/>
          </a:bodyPr>
          <a:lstStyle/>
          <a:p>
            <a:r>
              <a:rPr sz="1150" b="0">
                <a:solidFill>
                  <a:srgbClr val="2E2E2E"/>
                </a:solidFill>
                <a:latin typeface="Calibri"/>
              </a:rPr>
              <a:t>X increase in revenue by 2036 end. Global removable partial dentures market accounted for US$</a:t>
            </a:r>
          </a:p>
        </p:txBody>
      </p:sp>
      <p:pic>
        <p:nvPicPr>
          <p:cNvPr id="34" name="Picture 33" descr="lock.png"/>
          <p:cNvPicPr>
            <a:picLocks noChangeAspect="1"/>
          </p:cNvPicPr>
          <p:nvPr/>
        </p:nvPicPr>
        <p:blipFill>
          <a:blip r:embed="rId4"/>
          <a:stretch>
            <a:fillRect/>
          </a:stretch>
        </p:blipFill>
        <p:spPr>
          <a:xfrm>
            <a:off x="10071454" y="1389951"/>
            <a:ext cx="134549" cy="195707"/>
          </a:xfrm>
          <a:prstGeom prst="rect">
            <a:avLst/>
          </a:prstGeom>
        </p:spPr>
      </p:pic>
      <p:sp>
        <p:nvSpPr>
          <p:cNvPr id="35" name="TextBox 34"/>
          <p:cNvSpPr txBox="1"/>
          <p:nvPr/>
        </p:nvSpPr>
        <p:spPr>
          <a:xfrm>
            <a:off x="10246564" y="1400175"/>
            <a:ext cx="1297942" cy="194310"/>
          </a:xfrm>
          <a:prstGeom prst="rect">
            <a:avLst/>
          </a:prstGeom>
          <a:noFill/>
        </p:spPr>
        <p:txBody>
          <a:bodyPr wrap="none" lIns="0" rIns="0" tIns="0" bIns="0">
            <a:spAutoFit/>
          </a:bodyPr>
          <a:lstStyle/>
          <a:p>
            <a:r>
              <a:rPr sz="1150" b="0">
                <a:solidFill>
                  <a:srgbClr val="2E2E2E"/>
                </a:solidFill>
                <a:latin typeface="Calibri"/>
              </a:rPr>
              <a:t>Mn in 2025, which is</a:t>
            </a:r>
          </a:p>
        </p:txBody>
      </p:sp>
      <p:sp>
        <p:nvSpPr>
          <p:cNvPr id="36" name="TextBox 35"/>
          <p:cNvSpPr txBox="1"/>
          <p:nvPr/>
        </p:nvSpPr>
        <p:spPr>
          <a:xfrm>
            <a:off x="276225" y="1575435"/>
            <a:ext cx="1737518" cy="194310"/>
          </a:xfrm>
          <a:prstGeom prst="rect">
            <a:avLst/>
          </a:prstGeom>
          <a:noFill/>
        </p:spPr>
        <p:txBody>
          <a:bodyPr wrap="none" lIns="0" rIns="0" tIns="0" bIns="0">
            <a:spAutoFit/>
          </a:bodyPr>
          <a:lstStyle/>
          <a:p>
            <a:r>
              <a:rPr sz="1150" b="0">
                <a:solidFill>
                  <a:srgbClr val="2E2E2E"/>
                </a:solidFill>
                <a:latin typeface="Calibri"/>
              </a:rPr>
              <a:t>expected to increase to US$</a:t>
            </a:r>
          </a:p>
        </p:txBody>
      </p:sp>
      <p:pic>
        <p:nvPicPr>
          <p:cNvPr id="37" name="Picture 36" descr="lock.png"/>
          <p:cNvPicPr>
            <a:picLocks noChangeAspect="1"/>
          </p:cNvPicPr>
          <p:nvPr/>
        </p:nvPicPr>
        <p:blipFill>
          <a:blip r:embed="rId4"/>
          <a:stretch>
            <a:fillRect/>
          </a:stretch>
        </p:blipFill>
        <p:spPr>
          <a:xfrm>
            <a:off x="1962897" y="1565211"/>
            <a:ext cx="134549" cy="195707"/>
          </a:xfrm>
          <a:prstGeom prst="rect">
            <a:avLst/>
          </a:prstGeom>
        </p:spPr>
      </p:pic>
      <p:sp>
        <p:nvSpPr>
          <p:cNvPr id="38" name="TextBox 37"/>
          <p:cNvSpPr txBox="1"/>
          <p:nvPr/>
        </p:nvSpPr>
        <p:spPr>
          <a:xfrm>
            <a:off x="2138006" y="1575435"/>
            <a:ext cx="1527554" cy="194310"/>
          </a:xfrm>
          <a:prstGeom prst="rect">
            <a:avLst/>
          </a:prstGeom>
          <a:noFill/>
        </p:spPr>
        <p:txBody>
          <a:bodyPr wrap="none" lIns="0" rIns="0" tIns="0" bIns="0">
            <a:spAutoFit/>
          </a:bodyPr>
          <a:lstStyle/>
          <a:p>
            <a:r>
              <a:rPr sz="1150" b="0">
                <a:solidFill>
                  <a:srgbClr val="2E2E2E"/>
                </a:solidFill>
                <a:latin typeface="Calibri"/>
              </a:rPr>
              <a:t>Mn in 2036 at a CAGR of</a:t>
            </a:r>
          </a:p>
        </p:txBody>
      </p:sp>
      <p:pic>
        <p:nvPicPr>
          <p:cNvPr id="39" name="Picture 38" descr="lock.png"/>
          <p:cNvPicPr>
            <a:picLocks noChangeAspect="1"/>
          </p:cNvPicPr>
          <p:nvPr/>
        </p:nvPicPr>
        <p:blipFill>
          <a:blip r:embed="rId4"/>
          <a:stretch>
            <a:fillRect/>
          </a:stretch>
        </p:blipFill>
        <p:spPr>
          <a:xfrm>
            <a:off x="3614714" y="1565211"/>
            <a:ext cx="134549" cy="195707"/>
          </a:xfrm>
          <a:prstGeom prst="rect">
            <a:avLst/>
          </a:prstGeom>
        </p:spPr>
      </p:pic>
      <p:sp>
        <p:nvSpPr>
          <p:cNvPr id="40" name="TextBox 39"/>
          <p:cNvSpPr txBox="1"/>
          <p:nvPr/>
        </p:nvSpPr>
        <p:spPr>
          <a:xfrm>
            <a:off x="3789824" y="1575435"/>
            <a:ext cx="112997" cy="194310"/>
          </a:xfrm>
          <a:prstGeom prst="rect">
            <a:avLst/>
          </a:prstGeom>
          <a:noFill/>
        </p:spPr>
        <p:txBody>
          <a:bodyPr wrap="none" lIns="0" rIns="0" tIns="0" bIns="0">
            <a:spAutoFit/>
          </a:bodyPr>
          <a:lstStyle/>
          <a:p>
            <a:r>
              <a:rPr sz="1150" b="0">
                <a:solidFill>
                  <a:srgbClr val="2E2E2E"/>
                </a:solidFill>
                <a:latin typeface="Calibri"/>
              </a:rPr>
              <a:t>.</a:t>
            </a:r>
          </a:p>
        </p:txBody>
      </p:sp>
      <p:sp>
        <p:nvSpPr>
          <p:cNvPr id="41" name="TextBox 40"/>
          <p:cNvSpPr txBox="1"/>
          <p:nvPr/>
        </p:nvSpPr>
        <p:spPr>
          <a:xfrm>
            <a:off x="276225" y="1803273"/>
            <a:ext cx="11314348" cy="194310"/>
          </a:xfrm>
          <a:prstGeom prst="rect">
            <a:avLst/>
          </a:prstGeom>
          <a:noFill/>
        </p:spPr>
        <p:txBody>
          <a:bodyPr wrap="none" lIns="0" rIns="0" tIns="0" bIns="0">
            <a:spAutoFit/>
          </a:bodyPr>
          <a:lstStyle/>
          <a:p>
            <a:r>
              <a:rPr sz="1150" b="0">
                <a:solidFill>
                  <a:srgbClr val="2E2E2E"/>
                </a:solidFill>
                <a:latin typeface="Calibri"/>
              </a:rPr>
              <a:t>The global removable partial dentures market has been analysed on the basis of product type, material type, technology and end user across the globe. U.S. is expected to remain the largest</a:t>
            </a:r>
          </a:p>
        </p:txBody>
      </p:sp>
      <p:sp>
        <p:nvSpPr>
          <p:cNvPr id="42" name="TextBox 41"/>
          <p:cNvSpPr txBox="1"/>
          <p:nvPr/>
        </p:nvSpPr>
        <p:spPr>
          <a:xfrm>
            <a:off x="276225" y="1978533"/>
            <a:ext cx="6682092" cy="194310"/>
          </a:xfrm>
          <a:prstGeom prst="rect">
            <a:avLst/>
          </a:prstGeom>
          <a:noFill/>
        </p:spPr>
        <p:txBody>
          <a:bodyPr wrap="none" lIns="0" rIns="0" tIns="0" bIns="0">
            <a:spAutoFit/>
          </a:bodyPr>
          <a:lstStyle/>
          <a:p>
            <a:r>
              <a:rPr sz="1150" b="0">
                <a:solidFill>
                  <a:srgbClr val="2E2E2E"/>
                </a:solidFill>
                <a:latin typeface="Calibri"/>
              </a:rPr>
              <a:t>market for removable partial dentures, while demand in Canada is projected to increase at the highest CAGR of</a:t>
            </a:r>
          </a:p>
        </p:txBody>
      </p:sp>
      <p:pic>
        <p:nvPicPr>
          <p:cNvPr id="43" name="Picture 42" descr="lock.png"/>
          <p:cNvPicPr>
            <a:picLocks noChangeAspect="1"/>
          </p:cNvPicPr>
          <p:nvPr/>
        </p:nvPicPr>
        <p:blipFill>
          <a:blip r:embed="rId4"/>
          <a:stretch>
            <a:fillRect/>
          </a:stretch>
        </p:blipFill>
        <p:spPr>
          <a:xfrm>
            <a:off x="6907471" y="1968309"/>
            <a:ext cx="134549" cy="195707"/>
          </a:xfrm>
          <a:prstGeom prst="rect">
            <a:avLst/>
          </a:prstGeom>
        </p:spPr>
      </p:pic>
      <p:sp>
        <p:nvSpPr>
          <p:cNvPr id="44" name="TextBox 43"/>
          <p:cNvSpPr txBox="1"/>
          <p:nvPr/>
        </p:nvSpPr>
        <p:spPr>
          <a:xfrm>
            <a:off x="7082580" y="1978533"/>
            <a:ext cx="1960872" cy="194310"/>
          </a:xfrm>
          <a:prstGeom prst="rect">
            <a:avLst/>
          </a:prstGeom>
          <a:noFill/>
        </p:spPr>
        <p:txBody>
          <a:bodyPr wrap="none" lIns="0" rIns="0" tIns="0" bIns="0">
            <a:spAutoFit/>
          </a:bodyPr>
          <a:lstStyle/>
          <a:p>
            <a:r>
              <a:rPr sz="1150" b="0">
                <a:solidFill>
                  <a:srgbClr val="2E2E2E"/>
                </a:solidFill>
                <a:latin typeface="Calibri"/>
              </a:rPr>
              <a:t>throughout the forecast period.</a:t>
            </a:r>
          </a:p>
        </p:txBody>
      </p:sp>
      <p:sp>
        <p:nvSpPr>
          <p:cNvPr id="45" name="TextBox 44"/>
          <p:cNvSpPr txBox="1"/>
          <p:nvPr/>
        </p:nvSpPr>
        <p:spPr>
          <a:xfrm>
            <a:off x="276225" y="3276600"/>
            <a:ext cx="6401420" cy="194310"/>
          </a:xfrm>
          <a:prstGeom prst="rect">
            <a:avLst/>
          </a:prstGeom>
          <a:noFill/>
        </p:spPr>
        <p:txBody>
          <a:bodyPr wrap="none" lIns="0" rIns="0" tIns="0" bIns="0">
            <a:spAutoFit/>
          </a:bodyPr>
          <a:lstStyle/>
          <a:p>
            <a:r>
              <a:rPr sz="1150" b="0">
                <a:solidFill>
                  <a:srgbClr val="2E2E2E"/>
                </a:solidFill>
                <a:latin typeface="Calibri"/>
              </a:rPr>
              <a:t>▪ The market is moderately fragmented: the leading product type category 'Flexible Partial Dentures' holds</a:t>
            </a:r>
          </a:p>
        </p:txBody>
      </p:sp>
      <p:pic>
        <p:nvPicPr>
          <p:cNvPr id="46" name="Picture 45" descr="lock.png"/>
          <p:cNvPicPr>
            <a:picLocks noChangeAspect="1"/>
          </p:cNvPicPr>
          <p:nvPr/>
        </p:nvPicPr>
        <p:blipFill>
          <a:blip r:embed="rId4"/>
          <a:stretch>
            <a:fillRect/>
          </a:stretch>
        </p:blipFill>
        <p:spPr>
          <a:xfrm>
            <a:off x="6626799" y="3266376"/>
            <a:ext cx="134549" cy="195707"/>
          </a:xfrm>
          <a:prstGeom prst="rect">
            <a:avLst/>
          </a:prstGeom>
        </p:spPr>
      </p:pic>
      <p:sp>
        <p:nvSpPr>
          <p:cNvPr id="47" name="TextBox 46"/>
          <p:cNvSpPr txBox="1"/>
          <p:nvPr/>
        </p:nvSpPr>
        <p:spPr>
          <a:xfrm>
            <a:off x="6801908" y="3276600"/>
            <a:ext cx="916272" cy="194310"/>
          </a:xfrm>
          <a:prstGeom prst="rect">
            <a:avLst/>
          </a:prstGeom>
          <a:noFill/>
        </p:spPr>
        <p:txBody>
          <a:bodyPr wrap="none" lIns="0" rIns="0" tIns="0" bIns="0">
            <a:spAutoFit/>
          </a:bodyPr>
          <a:lstStyle/>
          <a:p>
            <a:r>
              <a:rPr sz="1150" b="0">
                <a:solidFill>
                  <a:srgbClr val="2E2E2E"/>
                </a:solidFill>
                <a:latin typeface="Calibri"/>
              </a:rPr>
              <a:t>of 2036 value.</a:t>
            </a:r>
          </a:p>
        </p:txBody>
      </p:sp>
      <p:sp>
        <p:nvSpPr>
          <p:cNvPr id="48" name="TextBox 47"/>
          <p:cNvSpPr txBox="1"/>
          <p:nvPr/>
        </p:nvSpPr>
        <p:spPr>
          <a:xfrm>
            <a:off x="276225" y="3504437"/>
            <a:ext cx="5029919" cy="194310"/>
          </a:xfrm>
          <a:prstGeom prst="rect">
            <a:avLst/>
          </a:prstGeom>
          <a:noFill/>
        </p:spPr>
        <p:txBody>
          <a:bodyPr wrap="none" lIns="0" rIns="0" tIns="0" bIns="0">
            <a:spAutoFit/>
          </a:bodyPr>
          <a:lstStyle/>
          <a:p>
            <a:r>
              <a:rPr sz="1150" b="0">
                <a:solidFill>
                  <a:srgbClr val="2E2E2E"/>
                </a:solidFill>
                <a:latin typeface="Calibri"/>
              </a:rPr>
              <a:t>▪ Demand spans 2 countries and 8 segmentation lenses (4 product type categories).</a:t>
            </a:r>
          </a:p>
        </p:txBody>
      </p:sp>
      <p:sp>
        <p:nvSpPr>
          <p:cNvPr id="49" name="TextBox 48"/>
          <p:cNvSpPr txBox="1"/>
          <p:nvPr/>
        </p:nvSpPr>
        <p:spPr>
          <a:xfrm>
            <a:off x="276225" y="3732275"/>
            <a:ext cx="2288914" cy="194310"/>
          </a:xfrm>
          <a:prstGeom prst="rect">
            <a:avLst/>
          </a:prstGeom>
          <a:noFill/>
        </p:spPr>
        <p:txBody>
          <a:bodyPr wrap="none" lIns="0" rIns="0" tIns="0" bIns="0">
            <a:spAutoFit/>
          </a:bodyPr>
          <a:lstStyle/>
          <a:p>
            <a:r>
              <a:rPr sz="1150" b="0">
                <a:solidFill>
                  <a:srgbClr val="2E2E2E"/>
                </a:solidFill>
                <a:latin typeface="Calibri"/>
              </a:rPr>
              <a:t>▪ U.S. is the largest country market at</a:t>
            </a:r>
          </a:p>
        </p:txBody>
      </p:sp>
      <p:pic>
        <p:nvPicPr>
          <p:cNvPr id="50" name="Picture 49" descr="lock.png"/>
          <p:cNvPicPr>
            <a:picLocks noChangeAspect="1"/>
          </p:cNvPicPr>
          <p:nvPr/>
        </p:nvPicPr>
        <p:blipFill>
          <a:blip r:embed="rId4"/>
          <a:stretch>
            <a:fillRect/>
          </a:stretch>
        </p:blipFill>
        <p:spPr>
          <a:xfrm>
            <a:off x="2514293" y="3722052"/>
            <a:ext cx="134549" cy="195707"/>
          </a:xfrm>
          <a:prstGeom prst="rect">
            <a:avLst/>
          </a:prstGeom>
        </p:spPr>
      </p:pic>
      <p:sp>
        <p:nvSpPr>
          <p:cNvPr id="51" name="TextBox 50"/>
          <p:cNvSpPr txBox="1"/>
          <p:nvPr/>
        </p:nvSpPr>
        <p:spPr>
          <a:xfrm>
            <a:off x="2689402" y="3732275"/>
            <a:ext cx="916272" cy="194310"/>
          </a:xfrm>
          <a:prstGeom prst="rect">
            <a:avLst/>
          </a:prstGeom>
          <a:noFill/>
        </p:spPr>
        <p:txBody>
          <a:bodyPr wrap="none" lIns="0" rIns="0" tIns="0" bIns="0">
            <a:spAutoFit/>
          </a:bodyPr>
          <a:lstStyle/>
          <a:p>
            <a:r>
              <a:rPr sz="1150" b="0">
                <a:solidFill>
                  <a:srgbClr val="2E2E2E"/>
                </a:solidFill>
                <a:latin typeface="Calibri"/>
              </a:rPr>
              <a:t>of 2036 value.</a:t>
            </a:r>
          </a:p>
        </p:txBody>
      </p:sp>
      <p:sp>
        <p:nvSpPr>
          <p:cNvPr id="52" name="TextBox 51"/>
          <p:cNvSpPr txBox="1"/>
          <p:nvPr/>
        </p:nvSpPr>
        <p:spPr>
          <a:xfrm>
            <a:off x="276225" y="5038725"/>
            <a:ext cx="3303847" cy="194310"/>
          </a:xfrm>
          <a:prstGeom prst="rect">
            <a:avLst/>
          </a:prstGeom>
          <a:noFill/>
        </p:spPr>
        <p:txBody>
          <a:bodyPr wrap="none" lIns="0" rIns="0" tIns="0" bIns="0">
            <a:spAutoFit/>
          </a:bodyPr>
          <a:lstStyle/>
          <a:p>
            <a:r>
              <a:rPr sz="1150" b="0">
                <a:solidFill>
                  <a:srgbClr val="2E2E2E"/>
                </a:solidFill>
                <a:latin typeface="Calibri"/>
              </a:rPr>
              <a:t>▪ Accelerating uptake of 'Cast Metal Partial Dentures' (</a:t>
            </a:r>
          </a:p>
        </p:txBody>
      </p:sp>
      <p:pic>
        <p:nvPicPr>
          <p:cNvPr id="53" name="Picture 52" descr="lock.png"/>
          <p:cNvPicPr>
            <a:picLocks noChangeAspect="1"/>
          </p:cNvPicPr>
          <p:nvPr/>
        </p:nvPicPr>
        <p:blipFill>
          <a:blip r:embed="rId4"/>
          <a:stretch>
            <a:fillRect/>
          </a:stretch>
        </p:blipFill>
        <p:spPr>
          <a:xfrm>
            <a:off x="3529226" y="5028501"/>
            <a:ext cx="134549" cy="195707"/>
          </a:xfrm>
          <a:prstGeom prst="rect">
            <a:avLst/>
          </a:prstGeom>
        </p:spPr>
      </p:pic>
      <p:sp>
        <p:nvSpPr>
          <p:cNvPr id="54" name="TextBox 53"/>
          <p:cNvSpPr txBox="1"/>
          <p:nvPr/>
        </p:nvSpPr>
        <p:spPr>
          <a:xfrm>
            <a:off x="276225" y="5213985"/>
            <a:ext cx="490941"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55" name="TextBox 54"/>
          <p:cNvSpPr txBox="1"/>
          <p:nvPr/>
        </p:nvSpPr>
        <p:spPr>
          <a:xfrm>
            <a:off x="276225" y="5441822"/>
            <a:ext cx="2146510" cy="194310"/>
          </a:xfrm>
          <a:prstGeom prst="rect">
            <a:avLst/>
          </a:prstGeom>
          <a:noFill/>
        </p:spPr>
        <p:txBody>
          <a:bodyPr wrap="none" lIns="0" rIns="0" tIns="0" bIns="0">
            <a:spAutoFit/>
          </a:bodyPr>
          <a:lstStyle/>
          <a:p>
            <a:r>
              <a:rPr sz="1150" b="0">
                <a:solidFill>
                  <a:srgbClr val="2E2E2E"/>
                </a:solidFill>
                <a:latin typeface="Calibri"/>
              </a:rPr>
              <a:t>▪ Fast-growing demand in Canada (</a:t>
            </a:r>
          </a:p>
        </p:txBody>
      </p:sp>
      <p:pic>
        <p:nvPicPr>
          <p:cNvPr id="56" name="Picture 55" descr="lock.png"/>
          <p:cNvPicPr>
            <a:picLocks noChangeAspect="1"/>
          </p:cNvPicPr>
          <p:nvPr/>
        </p:nvPicPr>
        <p:blipFill>
          <a:blip r:embed="rId4"/>
          <a:stretch>
            <a:fillRect/>
          </a:stretch>
        </p:blipFill>
        <p:spPr>
          <a:xfrm>
            <a:off x="2371889" y="5431599"/>
            <a:ext cx="134549" cy="195707"/>
          </a:xfrm>
          <a:prstGeom prst="rect">
            <a:avLst/>
          </a:prstGeom>
        </p:spPr>
      </p:pic>
      <p:sp>
        <p:nvSpPr>
          <p:cNvPr id="57" name="TextBox 56"/>
          <p:cNvSpPr txBox="1"/>
          <p:nvPr/>
        </p:nvSpPr>
        <p:spPr>
          <a:xfrm>
            <a:off x="2546998" y="5441822"/>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58" name="TextBox 57"/>
          <p:cNvSpPr txBox="1"/>
          <p:nvPr/>
        </p:nvSpPr>
        <p:spPr>
          <a:xfrm>
            <a:off x="276225" y="5669660"/>
            <a:ext cx="3052824" cy="194310"/>
          </a:xfrm>
          <a:prstGeom prst="rect">
            <a:avLst/>
          </a:prstGeom>
          <a:noFill/>
        </p:spPr>
        <p:txBody>
          <a:bodyPr wrap="none" lIns="0" rIns="0" tIns="0" bIns="0">
            <a:spAutoFit/>
          </a:bodyPr>
          <a:lstStyle/>
          <a:p>
            <a:r>
              <a:rPr sz="1150" b="0">
                <a:solidFill>
                  <a:srgbClr val="2E2E2E"/>
                </a:solidFill>
                <a:latin typeface="Calibri"/>
              </a:rPr>
              <a:t>▪ Momentum in Dental Hospitals within end user (</a:t>
            </a:r>
          </a:p>
        </p:txBody>
      </p:sp>
      <p:pic>
        <p:nvPicPr>
          <p:cNvPr id="59" name="Picture 58" descr="lock.png"/>
          <p:cNvPicPr>
            <a:picLocks noChangeAspect="1"/>
          </p:cNvPicPr>
          <p:nvPr/>
        </p:nvPicPr>
        <p:blipFill>
          <a:blip r:embed="rId4"/>
          <a:stretch>
            <a:fillRect/>
          </a:stretch>
        </p:blipFill>
        <p:spPr>
          <a:xfrm>
            <a:off x="3278203" y="5659437"/>
            <a:ext cx="134549" cy="195707"/>
          </a:xfrm>
          <a:prstGeom prst="rect">
            <a:avLst/>
          </a:prstGeom>
        </p:spPr>
      </p:pic>
      <p:sp>
        <p:nvSpPr>
          <p:cNvPr id="60" name="TextBox 59"/>
          <p:cNvSpPr txBox="1"/>
          <p:nvPr/>
        </p:nvSpPr>
        <p:spPr>
          <a:xfrm>
            <a:off x="3453312" y="5669660"/>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61" name="TextBox 60"/>
          <p:cNvSpPr txBox="1"/>
          <p:nvPr/>
        </p:nvSpPr>
        <p:spPr>
          <a:xfrm>
            <a:off x="4371975" y="5038725"/>
            <a:ext cx="3069083" cy="194310"/>
          </a:xfrm>
          <a:prstGeom prst="rect">
            <a:avLst/>
          </a:prstGeom>
          <a:noFill/>
        </p:spPr>
        <p:txBody>
          <a:bodyPr wrap="none" lIns="0" rIns="0" tIns="0" bIns="0">
            <a:spAutoFit/>
          </a:bodyPr>
          <a:lstStyle/>
          <a:p>
            <a:r>
              <a:rPr sz="1150" b="0">
                <a:solidFill>
                  <a:srgbClr val="2E2E2E"/>
                </a:solidFill>
                <a:latin typeface="Calibri"/>
              </a:rPr>
              <a:t>▪ Slower momentum in 'Flexible Partial Dentures' (</a:t>
            </a:r>
          </a:p>
        </p:txBody>
      </p:sp>
      <p:pic>
        <p:nvPicPr>
          <p:cNvPr id="62" name="Picture 61" descr="lock.png"/>
          <p:cNvPicPr>
            <a:picLocks noChangeAspect="1"/>
          </p:cNvPicPr>
          <p:nvPr/>
        </p:nvPicPr>
        <p:blipFill>
          <a:blip r:embed="rId4"/>
          <a:stretch>
            <a:fillRect/>
          </a:stretch>
        </p:blipFill>
        <p:spPr>
          <a:xfrm>
            <a:off x="7390212" y="5028501"/>
            <a:ext cx="134549" cy="195707"/>
          </a:xfrm>
          <a:prstGeom prst="rect">
            <a:avLst/>
          </a:prstGeom>
        </p:spPr>
      </p:pic>
      <p:sp>
        <p:nvSpPr>
          <p:cNvPr id="63" name="TextBox 62"/>
          <p:cNvSpPr txBox="1"/>
          <p:nvPr/>
        </p:nvSpPr>
        <p:spPr>
          <a:xfrm>
            <a:off x="7565322" y="5038725"/>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64" name="TextBox 63"/>
          <p:cNvSpPr txBox="1"/>
          <p:nvPr/>
        </p:nvSpPr>
        <p:spPr>
          <a:xfrm>
            <a:off x="4371975" y="5266563"/>
            <a:ext cx="3264197" cy="194310"/>
          </a:xfrm>
          <a:prstGeom prst="rect">
            <a:avLst/>
          </a:prstGeom>
          <a:noFill/>
        </p:spPr>
        <p:txBody>
          <a:bodyPr wrap="none" lIns="0" rIns="0" tIns="0" bIns="0">
            <a:spAutoFit/>
          </a:bodyPr>
          <a:lstStyle/>
          <a:p>
            <a:r>
              <a:rPr sz="1150" b="0">
                <a:solidFill>
                  <a:srgbClr val="2E2E2E"/>
                </a:solidFill>
                <a:latin typeface="Calibri"/>
              </a:rPr>
              <a:t>▪ Maturing demand in established categories caps the</a:t>
            </a:r>
          </a:p>
        </p:txBody>
      </p:sp>
      <p:sp>
        <p:nvSpPr>
          <p:cNvPr id="65" name="TextBox 64"/>
          <p:cNvSpPr txBox="1"/>
          <p:nvPr/>
        </p:nvSpPr>
        <p:spPr>
          <a:xfrm>
            <a:off x="4371975" y="5441822"/>
            <a:ext cx="562272" cy="194310"/>
          </a:xfrm>
          <a:prstGeom prst="rect">
            <a:avLst/>
          </a:prstGeom>
          <a:noFill/>
        </p:spPr>
        <p:txBody>
          <a:bodyPr wrap="none" lIns="0" rIns="0" tIns="0" bIns="0">
            <a:spAutoFit/>
          </a:bodyPr>
          <a:lstStyle/>
          <a:p>
            <a:r>
              <a:rPr sz="1150" b="0">
                <a:solidFill>
                  <a:srgbClr val="2E2E2E"/>
                </a:solidFill>
                <a:latin typeface="Calibri"/>
              </a:rPr>
              <a:t>blended</a:t>
            </a:r>
          </a:p>
        </p:txBody>
      </p:sp>
      <p:pic>
        <p:nvPicPr>
          <p:cNvPr id="66" name="Picture 65" descr="lock.png"/>
          <p:cNvPicPr>
            <a:picLocks noChangeAspect="1"/>
          </p:cNvPicPr>
          <p:nvPr/>
        </p:nvPicPr>
        <p:blipFill>
          <a:blip r:embed="rId4"/>
          <a:stretch>
            <a:fillRect/>
          </a:stretch>
        </p:blipFill>
        <p:spPr>
          <a:xfrm>
            <a:off x="4883401" y="5431599"/>
            <a:ext cx="134549" cy="195707"/>
          </a:xfrm>
          <a:prstGeom prst="rect">
            <a:avLst/>
          </a:prstGeom>
        </p:spPr>
      </p:pic>
      <p:sp>
        <p:nvSpPr>
          <p:cNvPr id="67" name="TextBox 66"/>
          <p:cNvSpPr txBox="1"/>
          <p:nvPr/>
        </p:nvSpPr>
        <p:spPr>
          <a:xfrm>
            <a:off x="5058510" y="5441822"/>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68" name="TextBox 67"/>
          <p:cNvSpPr txBox="1"/>
          <p:nvPr/>
        </p:nvSpPr>
        <p:spPr>
          <a:xfrm>
            <a:off x="4371975" y="5669660"/>
            <a:ext cx="3427648" cy="194310"/>
          </a:xfrm>
          <a:prstGeom prst="rect">
            <a:avLst/>
          </a:prstGeom>
          <a:noFill/>
        </p:spPr>
        <p:txBody>
          <a:bodyPr wrap="none" lIns="0" rIns="0" tIns="0" bIns="0">
            <a:spAutoFit/>
          </a:bodyPr>
          <a:lstStyle/>
          <a:p>
            <a:r>
              <a:rPr sz="1150" b="0">
                <a:solidFill>
                  <a:srgbClr val="2E2E2E"/>
                </a:solidFill>
                <a:latin typeface="Calibri"/>
              </a:rPr>
              <a:t>▪ Value concentration in 'Flexible Partial Dentures' raises</a:t>
            </a:r>
          </a:p>
        </p:txBody>
      </p:sp>
      <p:sp>
        <p:nvSpPr>
          <p:cNvPr id="69" name="TextBox 68"/>
          <p:cNvSpPr txBox="1"/>
          <p:nvPr/>
        </p:nvSpPr>
        <p:spPr>
          <a:xfrm>
            <a:off x="4371975" y="5844920"/>
            <a:ext cx="1604305" cy="194310"/>
          </a:xfrm>
          <a:prstGeom prst="rect">
            <a:avLst/>
          </a:prstGeom>
          <a:noFill/>
        </p:spPr>
        <p:txBody>
          <a:bodyPr wrap="none" lIns="0" rIns="0" tIns="0" bIns="0">
            <a:spAutoFit/>
          </a:bodyPr>
          <a:lstStyle/>
          <a:p>
            <a:r>
              <a:rPr sz="1150" b="0">
                <a:solidFill>
                  <a:srgbClr val="2E2E2E"/>
                </a:solidFill>
                <a:latin typeface="Calibri"/>
              </a:rPr>
              <a:t>barriers for new entrants.</a:t>
            </a:r>
          </a:p>
        </p:txBody>
      </p:sp>
    </p:spTree>
  </p:cSld>
  <p:clrMapOvr>
    <a:masterClrMapping/>
  </p:clrMapOvr>
</p:sld>
</file>

<file path=ppt/slides/slide1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Supply Side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recent developments, investments and R&amp;D activity shaping the supply side of the market</a:t>
            </a:r>
          </a:p>
        </p:txBody>
      </p:sp>
      <p:sp>
        <p:nvSpPr>
          <p:cNvPr id="10" name="Rounded Rectangle 9"/>
          <p:cNvSpPr/>
          <p:nvPr/>
        </p:nvSpPr>
        <p:spPr>
          <a:xfrm>
            <a:off x="142875" y="981075"/>
            <a:ext cx="5876925" cy="1676400"/>
          </a:xfrm>
          <a:prstGeom prst="roundRect">
            <a:avLst>
              <a:gd name="adj" fmla="val 45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Recent Developments &amp; Key Industry Activities</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1906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Capacity and product development are concentrating in 'Cast Metal Partial Dentures' and in Canada, the fastest-growing country.</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Portfolio expansion is tracking the shift toward higher-growth product type categories.</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Commercial focus is intensifying in U.S. and Canada, the two countries that make up the North America market.</a:t>
            </a:r>
          </a:p>
        </p:txBody>
      </p:sp>
      <p:sp>
        <p:nvSpPr>
          <p:cNvPr id="14" name="Rounded Rectangle 13"/>
          <p:cNvSpPr/>
          <p:nvPr/>
        </p:nvSpPr>
        <p:spPr>
          <a:xfrm>
            <a:off x="6172200" y="981075"/>
            <a:ext cx="5876925" cy="1676400"/>
          </a:xfrm>
          <a:prstGeom prst="roundRect">
            <a:avLst>
              <a:gd name="adj" fmla="val 45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1906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18" name="Rounded Rectangle 17"/>
          <p:cNvSpPr/>
          <p:nvPr/>
        </p:nvSpPr>
        <p:spPr>
          <a:xfrm>
            <a:off x="142875" y="2790825"/>
            <a:ext cx="5876925" cy="1571625"/>
          </a:xfrm>
          <a:prstGeom prst="roundRect">
            <a:avLst>
              <a:gd name="adj" fmla="val 484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876550"/>
            <a:ext cx="5610225" cy="209550"/>
          </a:xfrm>
          <a:prstGeom prst="rect">
            <a:avLst/>
          </a:prstGeom>
          <a:noFill/>
        </p:spPr>
        <p:txBody>
          <a:bodyPr wrap="square" lIns="0" rIns="19050" tIns="9525" bIns="9525">
            <a:spAutoFit/>
          </a:bodyPr>
          <a:lstStyle/>
          <a:p>
            <a:pPr algn="l"/>
            <a:r>
              <a:rPr sz="1300" b="1">
                <a:solidFill>
                  <a:srgbClr val="0B2E4A"/>
                </a:solidFill>
                <a:latin typeface="Calibri"/>
              </a:rPr>
              <a:t>Strategic Acquisitions &amp; New Investments</a:t>
            </a:r>
          </a:p>
        </p:txBody>
      </p:sp>
      <p:sp>
        <p:nvSpPr>
          <p:cNvPr id="20" name="Rectangle 19"/>
          <p:cNvSpPr/>
          <p:nvPr/>
        </p:nvSpPr>
        <p:spPr>
          <a:xfrm>
            <a:off x="276225" y="311467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200400"/>
            <a:ext cx="5610225" cy="108585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22" name="Rounded Rectangle 21"/>
          <p:cNvSpPr/>
          <p:nvPr/>
        </p:nvSpPr>
        <p:spPr>
          <a:xfrm>
            <a:off x="6172200" y="2790825"/>
            <a:ext cx="5876925" cy="1571625"/>
          </a:xfrm>
          <a:prstGeom prst="roundRect">
            <a:avLst>
              <a:gd name="adj" fmla="val 484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876550"/>
            <a:ext cx="5610225" cy="209550"/>
          </a:xfrm>
          <a:prstGeom prst="rect">
            <a:avLst/>
          </a:prstGeom>
          <a:noFill/>
        </p:spPr>
        <p:txBody>
          <a:bodyPr wrap="square" lIns="0" rIns="19050" tIns="9525" bIns="9525">
            <a:spAutoFit/>
          </a:bodyPr>
          <a:lstStyle/>
          <a:p>
            <a:pPr algn="l"/>
            <a:r>
              <a:rPr sz="1300" b="1">
                <a:solidFill>
                  <a:srgbClr val="0B2E4A"/>
                </a:solidFill>
                <a:latin typeface="Calibri"/>
              </a:rPr>
              <a:t>Substantial Investment in R&amp;D</a:t>
            </a:r>
          </a:p>
        </p:txBody>
      </p:sp>
      <p:sp>
        <p:nvSpPr>
          <p:cNvPr id="24" name="Rectangle 23"/>
          <p:cNvSpPr/>
          <p:nvPr/>
        </p:nvSpPr>
        <p:spPr>
          <a:xfrm>
            <a:off x="6305550" y="311467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200400"/>
            <a:ext cx="5610225" cy="108585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26" name="Rounded Rectangle 25"/>
          <p:cNvSpPr/>
          <p:nvPr/>
        </p:nvSpPr>
        <p:spPr>
          <a:xfrm>
            <a:off x="142875" y="4495800"/>
            <a:ext cx="11906250" cy="2114550"/>
          </a:xfrm>
          <a:prstGeom prst="roundRect">
            <a:avLst>
              <a:gd name="adj" fmla="val 360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38125" y="45529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Structure: Product Type Share (2036)</a:t>
            </a:r>
          </a:p>
        </p:txBody>
      </p:sp>
      <p:graphicFrame>
        <p:nvGraphicFramePr>
          <p:cNvPr id="28" name="Chart 27"/>
          <p:cNvGraphicFramePr>
            <a:graphicFrameLocks noGrp="1"/>
          </p:cNvGraphicFramePr>
          <p:nvPr/>
        </p:nvGraphicFramePr>
        <p:xfrm>
          <a:off x="238125" y="4781550"/>
          <a:ext cx="11715750" cy="1771650"/>
        </p:xfrm>
        <a:graphic>
          <a:graphicData uri="http://schemas.openxmlformats.org/drawingml/2006/chart">
            <c:chart xmlns:c="http://schemas.openxmlformats.org/drawingml/2006/chart" r:id="rId3"/>
          </a:graphicData>
        </a:graphic>
      </p:graphicFrame>
      <p:sp>
        <p:nvSpPr>
          <p:cNvPr id="29" name="TextBox 28"/>
          <p:cNvSpPr txBox="1"/>
          <p:nvPr/>
        </p:nvSpPr>
        <p:spPr>
          <a:xfrm>
            <a:off x="3914859" y="5553075"/>
            <a:ext cx="847557" cy="228600"/>
          </a:xfrm>
          <a:prstGeom prst="rect">
            <a:avLst/>
          </a:prstGeom>
          <a:noFill/>
        </p:spPr>
        <p:txBody>
          <a:bodyPr wrap="square" lIns="28575" rIns="28575" tIns="9525" bIns="9525" anchor="ctr">
            <a:spAutoFit/>
          </a:bodyPr>
          <a:lstStyle/>
          <a:p>
            <a:pPr algn="ctr"/>
            <a:r>
              <a:rPr sz="1300" b="1">
                <a:solidFill>
                  <a:srgbClr val="2E2E2E"/>
                </a:solidFill>
                <a:latin typeface="Calibri"/>
              </a:rPr>
              <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1" name="Picture 30" descr="lock.png"/>
          <p:cNvPicPr>
            <a:picLocks noChangeAspect="1"/>
          </p:cNvPicPr>
          <p:nvPr/>
        </p:nvPicPr>
        <p:blipFill>
          <a:blip r:embed="rId5"/>
          <a:stretch>
            <a:fillRect/>
          </a:stretch>
        </p:blipFill>
        <p:spPr>
          <a:xfrm>
            <a:off x="4153896" y="5402105"/>
            <a:ext cx="347376" cy="505274"/>
          </a:xfrm>
          <a:prstGeom prst="rect">
            <a:avLst/>
          </a:prstGeom>
        </p:spPr>
      </p:pic>
      <p:sp>
        <p:nvSpPr>
          <p:cNvPr id="32" name="TextBox 31"/>
          <p:cNvSpPr txBox="1"/>
          <p:nvPr/>
        </p:nvSpPr>
        <p:spPr>
          <a:xfrm>
            <a:off x="6305550" y="1400175"/>
            <a:ext cx="1508943" cy="186689"/>
          </a:xfrm>
          <a:prstGeom prst="rect">
            <a:avLst/>
          </a:prstGeom>
          <a:noFill/>
        </p:spPr>
        <p:txBody>
          <a:bodyPr wrap="none" lIns="0" rIns="0" tIns="0" bIns="0">
            <a:spAutoFit/>
          </a:bodyPr>
          <a:lstStyle/>
          <a:p>
            <a:r>
              <a:rPr sz="1100" b="0">
                <a:solidFill>
                  <a:srgbClr val="2E2E2E"/>
                </a:solidFill>
                <a:latin typeface="Calibri"/>
              </a:rPr>
              <a:t>▪ Market value rises from</a:t>
            </a:r>
          </a:p>
        </p:txBody>
      </p:sp>
      <p:pic>
        <p:nvPicPr>
          <p:cNvPr id="33" name="Picture 32" descr="lock.png"/>
          <p:cNvPicPr>
            <a:picLocks noChangeAspect="1"/>
          </p:cNvPicPr>
          <p:nvPr/>
        </p:nvPicPr>
        <p:blipFill>
          <a:blip r:embed="rId5"/>
          <a:stretch>
            <a:fillRect/>
          </a:stretch>
        </p:blipFill>
        <p:spPr>
          <a:xfrm>
            <a:off x="7762545" y="1390396"/>
            <a:ext cx="128699" cy="187198"/>
          </a:xfrm>
          <a:prstGeom prst="rect">
            <a:avLst/>
          </a:prstGeom>
        </p:spPr>
      </p:pic>
      <p:sp>
        <p:nvSpPr>
          <p:cNvPr id="34" name="TextBox 33"/>
          <p:cNvSpPr txBox="1"/>
          <p:nvPr/>
        </p:nvSpPr>
        <p:spPr>
          <a:xfrm>
            <a:off x="7930040" y="1400175"/>
            <a:ext cx="1130498" cy="186689"/>
          </a:xfrm>
          <a:prstGeom prst="rect">
            <a:avLst/>
          </a:prstGeom>
          <a:noFill/>
        </p:spPr>
        <p:txBody>
          <a:bodyPr wrap="none" lIns="0" rIns="0" tIns="0" bIns="0">
            <a:spAutoFit/>
          </a:bodyPr>
          <a:lstStyle/>
          <a:p>
            <a:r>
              <a:rPr sz="1100" b="0">
                <a:solidFill>
                  <a:srgbClr val="2E2E2E"/>
                </a:solidFill>
                <a:latin typeface="Calibri"/>
              </a:rPr>
              <a:t>US$ Mn in 2026 to</a:t>
            </a:r>
          </a:p>
        </p:txBody>
      </p:sp>
      <p:pic>
        <p:nvPicPr>
          <p:cNvPr id="35" name="Picture 34" descr="lock.png"/>
          <p:cNvPicPr>
            <a:picLocks noChangeAspect="1"/>
          </p:cNvPicPr>
          <p:nvPr/>
        </p:nvPicPr>
        <p:blipFill>
          <a:blip r:embed="rId5"/>
          <a:stretch>
            <a:fillRect/>
          </a:stretch>
        </p:blipFill>
        <p:spPr>
          <a:xfrm>
            <a:off x="9008591" y="1390396"/>
            <a:ext cx="128699" cy="187198"/>
          </a:xfrm>
          <a:prstGeom prst="rect">
            <a:avLst/>
          </a:prstGeom>
        </p:spPr>
      </p:pic>
      <p:sp>
        <p:nvSpPr>
          <p:cNvPr id="36" name="TextBox 35"/>
          <p:cNvSpPr txBox="1"/>
          <p:nvPr/>
        </p:nvSpPr>
        <p:spPr>
          <a:xfrm>
            <a:off x="9176086" y="1400175"/>
            <a:ext cx="1013445" cy="186689"/>
          </a:xfrm>
          <a:prstGeom prst="rect">
            <a:avLst/>
          </a:prstGeom>
          <a:noFill/>
        </p:spPr>
        <p:txBody>
          <a:bodyPr wrap="none" lIns="0" rIns="0" tIns="0" bIns="0">
            <a:spAutoFit/>
          </a:bodyPr>
          <a:lstStyle/>
          <a:p>
            <a:r>
              <a:rPr sz="1100" b="0">
                <a:solidFill>
                  <a:srgbClr val="2E2E2E"/>
                </a:solidFill>
                <a:latin typeface="Calibri"/>
              </a:rPr>
              <a:t>US$ Mn in 2036.</a:t>
            </a:r>
          </a:p>
        </p:txBody>
      </p:sp>
      <p:sp>
        <p:nvSpPr>
          <p:cNvPr id="37" name="TextBox 36"/>
          <p:cNvSpPr txBox="1"/>
          <p:nvPr/>
        </p:nvSpPr>
        <p:spPr>
          <a:xfrm>
            <a:off x="6305550" y="1618107"/>
            <a:ext cx="1331572" cy="186689"/>
          </a:xfrm>
          <a:prstGeom prst="rect">
            <a:avLst/>
          </a:prstGeom>
          <a:noFill/>
        </p:spPr>
        <p:txBody>
          <a:bodyPr wrap="none" lIns="0" rIns="0" tIns="0" bIns="0">
            <a:spAutoFit/>
          </a:bodyPr>
          <a:lstStyle/>
          <a:p>
            <a:r>
              <a:rPr sz="1100" b="0">
                <a:solidFill>
                  <a:srgbClr val="2E2E2E"/>
                </a:solidFill>
                <a:latin typeface="Calibri"/>
              </a:rPr>
              <a:t>▪ The forecast CAGR is</a:t>
            </a:r>
          </a:p>
        </p:txBody>
      </p:sp>
      <p:pic>
        <p:nvPicPr>
          <p:cNvPr id="38" name="Picture 37" descr="lock.png"/>
          <p:cNvPicPr>
            <a:picLocks noChangeAspect="1"/>
          </p:cNvPicPr>
          <p:nvPr/>
        </p:nvPicPr>
        <p:blipFill>
          <a:blip r:embed="rId5"/>
          <a:stretch>
            <a:fillRect/>
          </a:stretch>
        </p:blipFill>
        <p:spPr>
          <a:xfrm>
            <a:off x="7585174" y="1608328"/>
            <a:ext cx="128699" cy="187198"/>
          </a:xfrm>
          <a:prstGeom prst="rect">
            <a:avLst/>
          </a:prstGeom>
        </p:spPr>
      </p:pic>
      <p:sp>
        <p:nvSpPr>
          <p:cNvPr id="39" name="TextBox 38"/>
          <p:cNvSpPr txBox="1"/>
          <p:nvPr/>
        </p:nvSpPr>
        <p:spPr>
          <a:xfrm>
            <a:off x="7752670" y="1618107"/>
            <a:ext cx="1008533" cy="186689"/>
          </a:xfrm>
          <a:prstGeom prst="rect">
            <a:avLst/>
          </a:prstGeom>
          <a:noFill/>
        </p:spPr>
        <p:txBody>
          <a:bodyPr wrap="none" lIns="0" rIns="0" tIns="0" bIns="0">
            <a:spAutoFit/>
          </a:bodyPr>
          <a:lstStyle/>
          <a:p>
            <a:r>
              <a:rPr sz="1100" b="0">
                <a:solidFill>
                  <a:srgbClr val="2E2E2E"/>
                </a:solidFill>
                <a:latin typeface="Calibri"/>
              </a:rPr>
              <a:t>over 2026-2036.</a:t>
            </a:r>
          </a:p>
        </p:txBody>
      </p:sp>
      <p:sp>
        <p:nvSpPr>
          <p:cNvPr id="40" name="TextBox 39"/>
          <p:cNvSpPr txBox="1"/>
          <p:nvPr/>
        </p:nvSpPr>
        <p:spPr>
          <a:xfrm>
            <a:off x="6305550" y="1836039"/>
            <a:ext cx="3793256" cy="186689"/>
          </a:xfrm>
          <a:prstGeom prst="rect">
            <a:avLst/>
          </a:prstGeom>
          <a:noFill/>
        </p:spPr>
        <p:txBody>
          <a:bodyPr wrap="none" lIns="0" rIns="0" tIns="0" bIns="0">
            <a:spAutoFit/>
          </a:bodyPr>
          <a:lstStyle/>
          <a:p>
            <a:r>
              <a:rPr sz="1100" b="0">
                <a:solidFill>
                  <a:srgbClr val="2E2E2E"/>
                </a:solidFill>
                <a:latin typeface="Calibri"/>
              </a:rPr>
              <a:t>▪ 'Flexible Partial Dentures' is the lead product type category with</a:t>
            </a:r>
          </a:p>
        </p:txBody>
      </p:sp>
      <p:pic>
        <p:nvPicPr>
          <p:cNvPr id="41" name="Picture 40" descr="lock.png"/>
          <p:cNvPicPr>
            <a:picLocks noChangeAspect="1"/>
          </p:cNvPicPr>
          <p:nvPr/>
        </p:nvPicPr>
        <p:blipFill>
          <a:blip r:embed="rId5"/>
          <a:stretch>
            <a:fillRect/>
          </a:stretch>
        </p:blipFill>
        <p:spPr>
          <a:xfrm>
            <a:off x="10046858" y="1826260"/>
            <a:ext cx="128699" cy="187198"/>
          </a:xfrm>
          <a:prstGeom prst="rect">
            <a:avLst/>
          </a:prstGeom>
        </p:spPr>
      </p:pic>
      <p:sp>
        <p:nvSpPr>
          <p:cNvPr id="42" name="TextBox 41"/>
          <p:cNvSpPr txBox="1"/>
          <p:nvPr/>
        </p:nvSpPr>
        <p:spPr>
          <a:xfrm>
            <a:off x="10214354" y="1836039"/>
            <a:ext cx="879747" cy="186689"/>
          </a:xfrm>
          <a:prstGeom prst="rect">
            <a:avLst/>
          </a:prstGeom>
          <a:noFill/>
        </p:spPr>
        <p:txBody>
          <a:bodyPr wrap="none" lIns="0" rIns="0" tIns="0" bIns="0">
            <a:spAutoFit/>
          </a:bodyPr>
          <a:lstStyle/>
          <a:p>
            <a:r>
              <a:rPr sz="1100" b="0">
                <a:solidFill>
                  <a:srgbClr val="2E2E2E"/>
                </a:solidFill>
                <a:latin typeface="Calibri"/>
              </a:rPr>
              <a:t>of 2036 value.</a:t>
            </a:r>
          </a:p>
        </p:txBody>
      </p:sp>
      <p:sp>
        <p:nvSpPr>
          <p:cNvPr id="43" name="TextBox 42"/>
          <p:cNvSpPr txBox="1"/>
          <p:nvPr/>
        </p:nvSpPr>
        <p:spPr>
          <a:xfrm>
            <a:off x="6305550" y="2053970"/>
            <a:ext cx="1749598" cy="186689"/>
          </a:xfrm>
          <a:prstGeom prst="rect">
            <a:avLst/>
          </a:prstGeom>
          <a:noFill/>
        </p:spPr>
        <p:txBody>
          <a:bodyPr wrap="none" lIns="0" rIns="0" tIns="0" bIns="0">
            <a:spAutoFit/>
          </a:bodyPr>
          <a:lstStyle/>
          <a:p>
            <a:r>
              <a:rPr sz="1100" b="0">
                <a:solidFill>
                  <a:srgbClr val="2E2E2E"/>
                </a:solidFill>
                <a:latin typeface="Calibri"/>
              </a:rPr>
              <a:t>▪ U.S. is the lead country with</a:t>
            </a:r>
          </a:p>
        </p:txBody>
      </p:sp>
      <p:pic>
        <p:nvPicPr>
          <p:cNvPr id="44" name="Picture 43" descr="lock.png"/>
          <p:cNvPicPr>
            <a:picLocks noChangeAspect="1"/>
          </p:cNvPicPr>
          <p:nvPr/>
        </p:nvPicPr>
        <p:blipFill>
          <a:blip r:embed="rId5"/>
          <a:stretch>
            <a:fillRect/>
          </a:stretch>
        </p:blipFill>
        <p:spPr>
          <a:xfrm>
            <a:off x="8003200" y="2044192"/>
            <a:ext cx="128699" cy="187198"/>
          </a:xfrm>
          <a:prstGeom prst="rect">
            <a:avLst/>
          </a:prstGeom>
        </p:spPr>
      </p:pic>
      <p:sp>
        <p:nvSpPr>
          <p:cNvPr id="45" name="TextBox 44"/>
          <p:cNvSpPr txBox="1"/>
          <p:nvPr/>
        </p:nvSpPr>
        <p:spPr>
          <a:xfrm>
            <a:off x="8170696" y="2053970"/>
            <a:ext cx="879747" cy="186689"/>
          </a:xfrm>
          <a:prstGeom prst="rect">
            <a:avLst/>
          </a:prstGeom>
          <a:noFill/>
        </p:spPr>
        <p:txBody>
          <a:bodyPr wrap="none" lIns="0" rIns="0" tIns="0" bIns="0">
            <a:spAutoFit/>
          </a:bodyPr>
          <a:lstStyle/>
          <a:p>
            <a:r>
              <a:rPr sz="1100" b="0">
                <a:solidFill>
                  <a:srgbClr val="2E2E2E"/>
                </a:solidFill>
                <a:latin typeface="Calibri"/>
              </a:rPr>
              <a:t>of 2036 value.</a:t>
            </a:r>
          </a:p>
        </p:txBody>
      </p:sp>
      <p:sp>
        <p:nvSpPr>
          <p:cNvPr id="46" name="TextBox 45"/>
          <p:cNvSpPr txBox="1"/>
          <p:nvPr/>
        </p:nvSpPr>
        <p:spPr>
          <a:xfrm>
            <a:off x="6305550" y="2271903"/>
            <a:ext cx="2841823" cy="186689"/>
          </a:xfrm>
          <a:prstGeom prst="rect">
            <a:avLst/>
          </a:prstGeom>
          <a:noFill/>
        </p:spPr>
        <p:txBody>
          <a:bodyPr wrap="none" lIns="0" rIns="0" tIns="0" bIns="0">
            <a:spAutoFit/>
          </a:bodyPr>
          <a:lstStyle/>
          <a:p>
            <a:r>
              <a:rPr sz="1100" b="0">
                <a:solidFill>
                  <a:srgbClr val="2E2E2E"/>
                </a:solidFill>
                <a:latin typeface="Calibri"/>
              </a:rPr>
              <a:t>▪ The incremental opportunity over 2026-2036 is</a:t>
            </a:r>
          </a:p>
        </p:txBody>
      </p:sp>
      <p:pic>
        <p:nvPicPr>
          <p:cNvPr id="47" name="Picture 46" descr="lock.png"/>
          <p:cNvPicPr>
            <a:picLocks noChangeAspect="1"/>
          </p:cNvPicPr>
          <p:nvPr/>
        </p:nvPicPr>
        <p:blipFill>
          <a:blip r:embed="rId5"/>
          <a:stretch>
            <a:fillRect/>
          </a:stretch>
        </p:blipFill>
        <p:spPr>
          <a:xfrm>
            <a:off x="9095425" y="2262124"/>
            <a:ext cx="128699" cy="187198"/>
          </a:xfrm>
          <a:prstGeom prst="rect">
            <a:avLst/>
          </a:prstGeom>
        </p:spPr>
      </p:pic>
      <p:sp>
        <p:nvSpPr>
          <p:cNvPr id="48" name="TextBox 47"/>
          <p:cNvSpPr txBox="1"/>
          <p:nvPr/>
        </p:nvSpPr>
        <p:spPr>
          <a:xfrm>
            <a:off x="9262920" y="2271903"/>
            <a:ext cx="560784"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49" name="TextBox 48"/>
          <p:cNvSpPr txBox="1"/>
          <p:nvPr/>
        </p:nvSpPr>
        <p:spPr>
          <a:xfrm>
            <a:off x="276225" y="3209925"/>
            <a:ext cx="5404718" cy="186689"/>
          </a:xfrm>
          <a:prstGeom prst="rect">
            <a:avLst/>
          </a:prstGeom>
          <a:noFill/>
        </p:spPr>
        <p:txBody>
          <a:bodyPr wrap="none" lIns="0" rIns="0" tIns="0" bIns="0">
            <a:spAutoFit/>
          </a:bodyPr>
          <a:lstStyle/>
          <a:p>
            <a:r>
              <a:rPr sz="1100" b="0">
                <a:solidFill>
                  <a:srgbClr val="2E2E2E"/>
                </a:solidFill>
                <a:latin typeface="Calibri"/>
              </a:rPr>
              <a:t>▪ Investment is flowing toward 'Cast Metal Partial Dentures', the fastest-growing product type</a:t>
            </a:r>
          </a:p>
        </p:txBody>
      </p:sp>
      <p:sp>
        <p:nvSpPr>
          <p:cNvPr id="50" name="TextBox 49"/>
          <p:cNvSpPr txBox="1"/>
          <p:nvPr/>
        </p:nvSpPr>
        <p:spPr>
          <a:xfrm>
            <a:off x="276225" y="3377565"/>
            <a:ext cx="715764" cy="186689"/>
          </a:xfrm>
          <a:prstGeom prst="rect">
            <a:avLst/>
          </a:prstGeom>
          <a:noFill/>
        </p:spPr>
        <p:txBody>
          <a:bodyPr wrap="none" lIns="0" rIns="0" tIns="0" bIns="0">
            <a:spAutoFit/>
          </a:bodyPr>
          <a:lstStyle/>
          <a:p>
            <a:r>
              <a:rPr sz="1100" b="0">
                <a:solidFill>
                  <a:srgbClr val="2E2E2E"/>
                </a:solidFill>
                <a:latin typeface="Calibri"/>
              </a:rPr>
              <a:t>category at</a:t>
            </a:r>
          </a:p>
        </p:txBody>
      </p:sp>
      <p:pic>
        <p:nvPicPr>
          <p:cNvPr id="51" name="Picture 50" descr="lock.png"/>
          <p:cNvPicPr>
            <a:picLocks noChangeAspect="1"/>
          </p:cNvPicPr>
          <p:nvPr/>
        </p:nvPicPr>
        <p:blipFill>
          <a:blip r:embed="rId5"/>
          <a:stretch>
            <a:fillRect/>
          </a:stretch>
        </p:blipFill>
        <p:spPr>
          <a:xfrm>
            <a:off x="940040" y="3367786"/>
            <a:ext cx="128699" cy="187198"/>
          </a:xfrm>
          <a:prstGeom prst="rect">
            <a:avLst/>
          </a:prstGeom>
        </p:spPr>
      </p:pic>
      <p:sp>
        <p:nvSpPr>
          <p:cNvPr id="52" name="TextBox 51"/>
          <p:cNvSpPr txBox="1"/>
          <p:nvPr/>
        </p:nvSpPr>
        <p:spPr>
          <a:xfrm>
            <a:off x="1107536" y="3377565"/>
            <a:ext cx="430617" cy="186689"/>
          </a:xfrm>
          <a:prstGeom prst="rect">
            <a:avLst/>
          </a:prstGeom>
          <a:noFill/>
        </p:spPr>
        <p:txBody>
          <a:bodyPr wrap="none" lIns="0" rIns="0" tIns="0" bIns="0">
            <a:spAutoFit/>
          </a:bodyPr>
          <a:lstStyle/>
          <a:p>
            <a:r>
              <a:rPr sz="1100" b="0">
                <a:solidFill>
                  <a:srgbClr val="2E2E2E"/>
                </a:solidFill>
                <a:latin typeface="Calibri"/>
              </a:rPr>
              <a:t>CAGR.</a:t>
            </a:r>
          </a:p>
        </p:txBody>
      </p:sp>
      <p:sp>
        <p:nvSpPr>
          <p:cNvPr id="53" name="TextBox 52"/>
          <p:cNvSpPr txBox="1"/>
          <p:nvPr/>
        </p:nvSpPr>
        <p:spPr>
          <a:xfrm>
            <a:off x="276225" y="3595497"/>
            <a:ext cx="653008" cy="186689"/>
          </a:xfrm>
          <a:prstGeom prst="rect">
            <a:avLst/>
          </a:prstGeom>
          <a:noFill/>
        </p:spPr>
        <p:txBody>
          <a:bodyPr wrap="none" lIns="0" rIns="0" tIns="0" bIns="0">
            <a:spAutoFit/>
          </a:bodyPr>
          <a:lstStyle/>
          <a:p>
            <a:r>
              <a:rPr sz="1100" b="0">
                <a:solidFill>
                  <a:srgbClr val="2E2E2E"/>
                </a:solidFill>
                <a:latin typeface="Calibri"/>
              </a:rPr>
              <a:t>▪ Canada (</a:t>
            </a:r>
          </a:p>
        </p:txBody>
      </p:sp>
      <p:pic>
        <p:nvPicPr>
          <p:cNvPr id="54" name="Picture 53" descr="lock.png"/>
          <p:cNvPicPr>
            <a:picLocks noChangeAspect="1"/>
          </p:cNvPicPr>
          <p:nvPr/>
        </p:nvPicPr>
        <p:blipFill>
          <a:blip r:embed="rId5"/>
          <a:stretch>
            <a:fillRect/>
          </a:stretch>
        </p:blipFill>
        <p:spPr>
          <a:xfrm>
            <a:off x="877284" y="3585718"/>
            <a:ext cx="128699" cy="187198"/>
          </a:xfrm>
          <a:prstGeom prst="rect">
            <a:avLst/>
          </a:prstGeom>
        </p:spPr>
      </p:pic>
      <p:sp>
        <p:nvSpPr>
          <p:cNvPr id="55" name="TextBox 54"/>
          <p:cNvSpPr txBox="1"/>
          <p:nvPr/>
        </p:nvSpPr>
        <p:spPr>
          <a:xfrm>
            <a:off x="1044780" y="3595497"/>
            <a:ext cx="3520115" cy="186689"/>
          </a:xfrm>
          <a:prstGeom prst="rect">
            <a:avLst/>
          </a:prstGeom>
          <a:noFill/>
        </p:spPr>
        <p:txBody>
          <a:bodyPr wrap="none" lIns="0" rIns="0" tIns="0" bIns="0">
            <a:spAutoFit/>
          </a:bodyPr>
          <a:lstStyle/>
          <a:p>
            <a:r>
              <a:rPr sz="1100" b="0">
                <a:solidFill>
                  <a:srgbClr val="2E2E2E"/>
                </a:solidFill>
                <a:latin typeface="Calibri"/>
              </a:rPr>
              <a:t>CAGR) is a priority country for new capacity and distribution.</a:t>
            </a:r>
          </a:p>
        </p:txBody>
      </p:sp>
      <p:sp>
        <p:nvSpPr>
          <p:cNvPr id="56" name="TextBox 55"/>
          <p:cNvSpPr txBox="1"/>
          <p:nvPr/>
        </p:nvSpPr>
        <p:spPr>
          <a:xfrm>
            <a:off x="276225" y="3813429"/>
            <a:ext cx="5254376" cy="186689"/>
          </a:xfrm>
          <a:prstGeom prst="rect">
            <a:avLst/>
          </a:prstGeom>
          <a:noFill/>
        </p:spPr>
        <p:txBody>
          <a:bodyPr wrap="none" lIns="0" rIns="0" tIns="0" bIns="0">
            <a:spAutoFit/>
          </a:bodyPr>
          <a:lstStyle/>
          <a:p>
            <a:r>
              <a:rPr sz="1100" b="0">
                <a:solidFill>
                  <a:srgbClr val="2E2E2E"/>
                </a:solidFill>
                <a:latin typeface="Calibri"/>
              </a:rPr>
              <a:t>▪ Scale players are anchoring their portfolios around 'Flexible Partial Dentures', which holds</a:t>
            </a:r>
          </a:p>
        </p:txBody>
      </p:sp>
      <p:pic>
        <p:nvPicPr>
          <p:cNvPr id="57" name="Picture 56" descr="lock.png"/>
          <p:cNvPicPr>
            <a:picLocks noChangeAspect="1"/>
          </p:cNvPicPr>
          <p:nvPr/>
        </p:nvPicPr>
        <p:blipFill>
          <a:blip r:embed="rId5"/>
          <a:stretch>
            <a:fillRect/>
          </a:stretch>
        </p:blipFill>
        <p:spPr>
          <a:xfrm>
            <a:off x="5478653" y="3803650"/>
            <a:ext cx="128699" cy="187198"/>
          </a:xfrm>
          <a:prstGeom prst="rect">
            <a:avLst/>
          </a:prstGeom>
        </p:spPr>
      </p:pic>
      <p:sp>
        <p:nvSpPr>
          <p:cNvPr id="58" name="TextBox 57"/>
          <p:cNvSpPr txBox="1"/>
          <p:nvPr/>
        </p:nvSpPr>
        <p:spPr>
          <a:xfrm>
            <a:off x="276225" y="3981069"/>
            <a:ext cx="424631" cy="186689"/>
          </a:xfrm>
          <a:prstGeom prst="rect">
            <a:avLst/>
          </a:prstGeom>
          <a:noFill/>
        </p:spPr>
        <p:txBody>
          <a:bodyPr wrap="none" lIns="0" rIns="0" tIns="0" bIns="0">
            <a:spAutoFit/>
          </a:bodyPr>
          <a:lstStyle/>
          <a:p>
            <a:r>
              <a:rPr sz="1100" b="0">
                <a:solidFill>
                  <a:srgbClr val="2E2E2E"/>
                </a:solidFill>
                <a:latin typeface="Calibri"/>
              </a:rPr>
              <a:t>share.</a:t>
            </a:r>
          </a:p>
        </p:txBody>
      </p:sp>
      <p:sp>
        <p:nvSpPr>
          <p:cNvPr id="59" name="TextBox 58"/>
          <p:cNvSpPr txBox="1"/>
          <p:nvPr/>
        </p:nvSpPr>
        <p:spPr>
          <a:xfrm>
            <a:off x="6305550" y="3209925"/>
            <a:ext cx="5569520" cy="186689"/>
          </a:xfrm>
          <a:prstGeom prst="rect">
            <a:avLst/>
          </a:prstGeom>
          <a:noFill/>
        </p:spPr>
        <p:txBody>
          <a:bodyPr wrap="none" lIns="0" rIns="0" tIns="0" bIns="0">
            <a:spAutoFit/>
          </a:bodyPr>
          <a:lstStyle/>
          <a:p>
            <a:r>
              <a:rPr sz="1100" b="0">
                <a:solidFill>
                  <a:srgbClr val="2E2E2E"/>
                </a:solidFill>
                <a:latin typeface="Calibri"/>
              </a:rPr>
              <a:t>▪ R&amp;D programmes are focused on next-generation product design and digital integration, in line</a:t>
            </a:r>
          </a:p>
        </p:txBody>
      </p:sp>
      <p:sp>
        <p:nvSpPr>
          <p:cNvPr id="60" name="TextBox 59"/>
          <p:cNvSpPr txBox="1"/>
          <p:nvPr/>
        </p:nvSpPr>
        <p:spPr>
          <a:xfrm>
            <a:off x="6305550" y="3377565"/>
            <a:ext cx="3264197" cy="186689"/>
          </a:xfrm>
          <a:prstGeom prst="rect">
            <a:avLst/>
          </a:prstGeom>
          <a:noFill/>
        </p:spPr>
        <p:txBody>
          <a:bodyPr wrap="none" lIns="0" rIns="0" tIns="0" bIns="0">
            <a:spAutoFit/>
          </a:bodyPr>
          <a:lstStyle/>
          <a:p>
            <a:r>
              <a:rPr sz="1100" b="0">
                <a:solidFill>
                  <a:srgbClr val="2E2E2E"/>
                </a:solidFill>
                <a:latin typeface="Calibri"/>
              </a:rPr>
              <a:t>with the migration toward 'Cast Metal Partial Dentures'.</a:t>
            </a:r>
          </a:p>
        </p:txBody>
      </p:sp>
      <p:sp>
        <p:nvSpPr>
          <p:cNvPr id="61" name="TextBox 60"/>
          <p:cNvSpPr txBox="1"/>
          <p:nvPr/>
        </p:nvSpPr>
        <p:spPr>
          <a:xfrm>
            <a:off x="6305550" y="3595497"/>
            <a:ext cx="5292303" cy="186689"/>
          </a:xfrm>
          <a:prstGeom prst="rect">
            <a:avLst/>
          </a:prstGeom>
          <a:noFill/>
        </p:spPr>
        <p:txBody>
          <a:bodyPr wrap="none" lIns="0" rIns="0" tIns="0" bIns="0">
            <a:spAutoFit/>
          </a:bodyPr>
          <a:lstStyle/>
          <a:p>
            <a:r>
              <a:rPr sz="1100" b="0">
                <a:solidFill>
                  <a:srgbClr val="2E2E2E"/>
                </a:solidFill>
                <a:latin typeface="Calibri"/>
              </a:rPr>
              <a:t>▪ Development spend is targeting the product type categories that gain share through 2036.</a:t>
            </a:r>
          </a:p>
        </p:txBody>
      </p:sp>
      <p:sp>
        <p:nvSpPr>
          <p:cNvPr id="62" name="TextBox 61"/>
          <p:cNvSpPr txBox="1"/>
          <p:nvPr/>
        </p:nvSpPr>
        <p:spPr>
          <a:xfrm>
            <a:off x="6305550" y="3813429"/>
            <a:ext cx="1594346" cy="186689"/>
          </a:xfrm>
          <a:prstGeom prst="rect">
            <a:avLst/>
          </a:prstGeom>
          <a:noFill/>
        </p:spPr>
        <p:txBody>
          <a:bodyPr wrap="none" lIns="0" rIns="0" tIns="0" bIns="0">
            <a:spAutoFit/>
          </a:bodyPr>
          <a:lstStyle/>
          <a:p>
            <a:r>
              <a:rPr sz="1100" b="0">
                <a:solidFill>
                  <a:srgbClr val="2E2E2E"/>
                </a:solidFill>
                <a:latin typeface="Calibri"/>
              </a:rPr>
              <a:t>▪ Innovation underpins the</a:t>
            </a:r>
          </a:p>
        </p:txBody>
      </p:sp>
      <p:pic>
        <p:nvPicPr>
          <p:cNvPr id="63" name="Picture 62" descr="lock.png"/>
          <p:cNvPicPr>
            <a:picLocks noChangeAspect="1"/>
          </p:cNvPicPr>
          <p:nvPr/>
        </p:nvPicPr>
        <p:blipFill>
          <a:blip r:embed="rId5"/>
          <a:stretch>
            <a:fillRect/>
          </a:stretch>
        </p:blipFill>
        <p:spPr>
          <a:xfrm>
            <a:off x="7847947" y="3803650"/>
            <a:ext cx="128699" cy="187198"/>
          </a:xfrm>
          <a:prstGeom prst="rect">
            <a:avLst/>
          </a:prstGeom>
        </p:spPr>
      </p:pic>
      <p:sp>
        <p:nvSpPr>
          <p:cNvPr id="64" name="TextBox 63"/>
          <p:cNvSpPr txBox="1"/>
          <p:nvPr/>
        </p:nvSpPr>
        <p:spPr>
          <a:xfrm>
            <a:off x="8015443" y="3813429"/>
            <a:ext cx="3416977" cy="186689"/>
          </a:xfrm>
          <a:prstGeom prst="rect">
            <a:avLst/>
          </a:prstGeom>
          <a:noFill/>
        </p:spPr>
        <p:txBody>
          <a:bodyPr wrap="none" lIns="0" rIns="0" tIns="0" bIns="0">
            <a:spAutoFit/>
          </a:bodyPr>
          <a:lstStyle/>
          <a:p>
            <a:r>
              <a:rPr sz="1100" b="0">
                <a:solidFill>
                  <a:srgbClr val="2E2E2E"/>
                </a:solidFill>
                <a:latin typeface="Calibri"/>
              </a:rPr>
              <a:t>forecast CAGR by sustaining both volume growth and price</a:t>
            </a:r>
          </a:p>
        </p:txBody>
      </p:sp>
      <p:sp>
        <p:nvSpPr>
          <p:cNvPr id="65" name="TextBox 64"/>
          <p:cNvSpPr txBox="1"/>
          <p:nvPr/>
        </p:nvSpPr>
        <p:spPr>
          <a:xfrm>
            <a:off x="6305550" y="3981069"/>
            <a:ext cx="708669" cy="186689"/>
          </a:xfrm>
          <a:prstGeom prst="rect">
            <a:avLst/>
          </a:prstGeom>
          <a:noFill/>
        </p:spPr>
        <p:txBody>
          <a:bodyPr wrap="none" lIns="0" rIns="0" tIns="0" bIns="0">
            <a:spAutoFit/>
          </a:bodyPr>
          <a:lstStyle/>
          <a:p>
            <a:r>
              <a:rPr sz="1100" b="0">
                <a:solidFill>
                  <a:srgbClr val="2E2E2E"/>
                </a:solidFill>
                <a:latin typeface="Calibri"/>
              </a:rPr>
              <a:t>realisation.</a:t>
            </a:r>
          </a:p>
        </p:txBody>
      </p:sp>
      <p:sp>
        <p:nvSpPr>
          <p:cNvPr id="66" name="lockshield_28"/>
          <p:cNvSpPr/>
          <p:nvPr/>
        </p:nvSpPr>
        <p:spPr>
          <a:xfrm>
            <a:off x="238125" y="4781550"/>
            <a:ext cx="11715750" cy="17716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Analysis and Recommendation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the market approach, differentiating strategy and FMI's analysis and recommendation</a:t>
            </a:r>
          </a:p>
        </p:txBody>
      </p:sp>
      <p:sp>
        <p:nvSpPr>
          <p:cNvPr id="10" name="Rounded Rectangle 9"/>
          <p:cNvSpPr/>
          <p:nvPr/>
        </p:nvSpPr>
        <p:spPr>
          <a:xfrm>
            <a:off x="142875" y="981075"/>
            <a:ext cx="5876925"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Overall Market Approach</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362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4" name="Rounded Rectangle 13"/>
          <p:cNvSpPr/>
          <p:nvPr/>
        </p:nvSpPr>
        <p:spPr>
          <a:xfrm>
            <a:off x="6172200" y="981075"/>
            <a:ext cx="5876925"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Differentiating Strategy</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362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Differentiate through the high-growth 'Cast Metal Partial Dentures' category and the 'Dental Hospitals' end user route, where growth outpaces the market.</a:t>
            </a:r>
          </a:p>
        </p:txBody>
      </p:sp>
      <p:sp>
        <p:nvSpPr>
          <p:cNvPr id="18" name="Rounded Rectangle 17"/>
          <p:cNvSpPr/>
          <p:nvPr/>
        </p:nvSpPr>
        <p:spPr>
          <a:xfrm>
            <a:off x="142875" y="2962275"/>
            <a:ext cx="5876925"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3048000"/>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Segment</a:t>
            </a:r>
          </a:p>
        </p:txBody>
      </p:sp>
      <p:sp>
        <p:nvSpPr>
          <p:cNvPr id="20" name="Rectangle 19"/>
          <p:cNvSpPr/>
          <p:nvPr/>
        </p:nvSpPr>
        <p:spPr>
          <a:xfrm>
            <a:off x="276225" y="32861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371850"/>
            <a:ext cx="5610225"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Rounded Rectangle 21"/>
          <p:cNvSpPr/>
          <p:nvPr/>
        </p:nvSpPr>
        <p:spPr>
          <a:xfrm>
            <a:off x="6172200" y="2962275"/>
            <a:ext cx="5876925"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3048000"/>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Country</a:t>
            </a:r>
          </a:p>
        </p:txBody>
      </p:sp>
      <p:sp>
        <p:nvSpPr>
          <p:cNvPr id="24" name="Rectangle 23"/>
          <p:cNvSpPr/>
          <p:nvPr/>
        </p:nvSpPr>
        <p:spPr>
          <a:xfrm>
            <a:off x="6305550" y="32861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371850"/>
            <a:ext cx="5610225"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6" name="Rounded Rectangle 25"/>
          <p:cNvSpPr/>
          <p:nvPr/>
        </p:nvSpPr>
        <p:spPr>
          <a:xfrm>
            <a:off x="142875" y="4695825"/>
            <a:ext cx="11906250" cy="1914525"/>
          </a:xfrm>
          <a:prstGeom prst="roundRect">
            <a:avLst>
              <a:gd name="adj" fmla="val 39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76225" y="4781550"/>
            <a:ext cx="11639550" cy="209550"/>
          </a:xfrm>
          <a:prstGeom prst="rect">
            <a:avLst/>
          </a:prstGeom>
          <a:noFill/>
        </p:spPr>
        <p:txBody>
          <a:bodyPr wrap="square" lIns="0" rIns="19050" tIns="9525" bIns="9525">
            <a:spAutoFit/>
          </a:bodyPr>
          <a:lstStyle/>
          <a:p>
            <a:pPr algn="l"/>
            <a:r>
              <a:rPr sz="1300" b="1">
                <a:solidFill>
                  <a:srgbClr val="0B2E4A"/>
                </a:solidFill>
                <a:latin typeface="Calibri"/>
              </a:rPr>
              <a:t>FMI Analysis and Recommendation</a:t>
            </a:r>
          </a:p>
        </p:txBody>
      </p:sp>
      <p:sp>
        <p:nvSpPr>
          <p:cNvPr id="28" name="Rectangle 27"/>
          <p:cNvSpPr/>
          <p:nvPr/>
        </p:nvSpPr>
        <p:spPr>
          <a:xfrm>
            <a:off x="276225" y="50196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76225" y="5105400"/>
            <a:ext cx="11639550" cy="14287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Concentrate resources on the leading segment and country while seeding the fastest-growing pockets early.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Defend share in 'Flexible Partial Dentures' as the value anchor of the portfolio.</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Build regulatory clearance and clinical evidence into the offer to protect pricing as competition intensifies.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31" name="TextBox 30"/>
          <p:cNvSpPr txBox="1"/>
          <p:nvPr/>
        </p:nvSpPr>
        <p:spPr>
          <a:xfrm>
            <a:off x="276225" y="1400175"/>
            <a:ext cx="5205350" cy="194310"/>
          </a:xfrm>
          <a:prstGeom prst="rect">
            <a:avLst/>
          </a:prstGeom>
          <a:noFill/>
        </p:spPr>
        <p:txBody>
          <a:bodyPr wrap="none" lIns="0" rIns="0" tIns="0" bIns="0">
            <a:spAutoFit/>
          </a:bodyPr>
          <a:lstStyle/>
          <a:p>
            <a:r>
              <a:rPr sz="1150" b="0">
                <a:solidFill>
                  <a:srgbClr val="2E2E2E"/>
                </a:solidFill>
                <a:latin typeface="Calibri"/>
              </a:rPr>
              <a:t>▪ Balance scale in 'Flexible Partial Dentures' with targeted growth in 'Cast Metal Partial</a:t>
            </a:r>
          </a:p>
        </p:txBody>
      </p:sp>
      <p:sp>
        <p:nvSpPr>
          <p:cNvPr id="32" name="TextBox 31"/>
          <p:cNvSpPr txBox="1"/>
          <p:nvPr/>
        </p:nvSpPr>
        <p:spPr>
          <a:xfrm>
            <a:off x="276225" y="1575435"/>
            <a:ext cx="1536414" cy="194310"/>
          </a:xfrm>
          <a:prstGeom prst="rect">
            <a:avLst/>
          </a:prstGeom>
          <a:noFill/>
        </p:spPr>
        <p:txBody>
          <a:bodyPr wrap="none" lIns="0" rIns="0" tIns="0" bIns="0">
            <a:spAutoFit/>
          </a:bodyPr>
          <a:lstStyle/>
          <a:p>
            <a:r>
              <a:rPr sz="1150" b="0">
                <a:solidFill>
                  <a:srgbClr val="2E2E2E"/>
                </a:solidFill>
                <a:latin typeface="Calibri"/>
              </a:rPr>
              <a:t>Dentures' to capture the</a:t>
            </a:r>
          </a:p>
        </p:txBody>
      </p:sp>
      <p:pic>
        <p:nvPicPr>
          <p:cNvPr id="33" name="Picture 32" descr="lock.png"/>
          <p:cNvPicPr>
            <a:picLocks noChangeAspect="1"/>
          </p:cNvPicPr>
          <p:nvPr/>
        </p:nvPicPr>
        <p:blipFill>
          <a:blip r:embed="rId4"/>
          <a:stretch>
            <a:fillRect/>
          </a:stretch>
        </p:blipFill>
        <p:spPr>
          <a:xfrm>
            <a:off x="1761793" y="1565211"/>
            <a:ext cx="134549" cy="195707"/>
          </a:xfrm>
          <a:prstGeom prst="rect">
            <a:avLst/>
          </a:prstGeom>
        </p:spPr>
      </p:pic>
      <p:sp>
        <p:nvSpPr>
          <p:cNvPr id="34" name="TextBox 33"/>
          <p:cNvSpPr txBox="1"/>
          <p:nvPr/>
        </p:nvSpPr>
        <p:spPr>
          <a:xfrm>
            <a:off x="1936902" y="1575435"/>
            <a:ext cx="1551800" cy="194310"/>
          </a:xfrm>
          <a:prstGeom prst="rect">
            <a:avLst/>
          </a:prstGeom>
          <a:noFill/>
        </p:spPr>
        <p:txBody>
          <a:bodyPr wrap="none" lIns="0" rIns="0" tIns="0" bIns="0">
            <a:spAutoFit/>
          </a:bodyPr>
          <a:lstStyle/>
          <a:p>
            <a:r>
              <a:rPr sz="1150" b="0">
                <a:solidFill>
                  <a:srgbClr val="2E2E2E"/>
                </a:solidFill>
                <a:latin typeface="Calibri"/>
              </a:rPr>
              <a:t>CAGR trajectory to 2036.</a:t>
            </a:r>
          </a:p>
        </p:txBody>
      </p:sp>
      <p:sp>
        <p:nvSpPr>
          <p:cNvPr id="35" name="TextBox 34"/>
          <p:cNvSpPr txBox="1"/>
          <p:nvPr/>
        </p:nvSpPr>
        <p:spPr>
          <a:xfrm>
            <a:off x="276225" y="1803273"/>
            <a:ext cx="1154174" cy="194310"/>
          </a:xfrm>
          <a:prstGeom prst="rect">
            <a:avLst/>
          </a:prstGeom>
          <a:noFill/>
        </p:spPr>
        <p:txBody>
          <a:bodyPr wrap="none" lIns="0" rIns="0" tIns="0" bIns="0">
            <a:spAutoFit/>
          </a:bodyPr>
          <a:lstStyle/>
          <a:p>
            <a:r>
              <a:rPr sz="1150" b="0">
                <a:solidFill>
                  <a:srgbClr val="2E2E2E"/>
                </a:solidFill>
                <a:latin typeface="Calibri"/>
              </a:rPr>
              <a:t>▪ The market adds</a:t>
            </a:r>
          </a:p>
        </p:txBody>
      </p:sp>
      <p:pic>
        <p:nvPicPr>
          <p:cNvPr id="36" name="Picture 35" descr="lock.png"/>
          <p:cNvPicPr>
            <a:picLocks noChangeAspect="1"/>
          </p:cNvPicPr>
          <p:nvPr/>
        </p:nvPicPr>
        <p:blipFill>
          <a:blip r:embed="rId4"/>
          <a:stretch>
            <a:fillRect/>
          </a:stretch>
        </p:blipFill>
        <p:spPr>
          <a:xfrm>
            <a:off x="1379553" y="1793049"/>
            <a:ext cx="134549" cy="195707"/>
          </a:xfrm>
          <a:prstGeom prst="rect">
            <a:avLst/>
          </a:prstGeom>
        </p:spPr>
      </p:pic>
      <p:sp>
        <p:nvSpPr>
          <p:cNvPr id="37" name="TextBox 36"/>
          <p:cNvSpPr txBox="1"/>
          <p:nvPr/>
        </p:nvSpPr>
        <p:spPr>
          <a:xfrm>
            <a:off x="1554662" y="1803273"/>
            <a:ext cx="1851620" cy="194310"/>
          </a:xfrm>
          <a:prstGeom prst="rect">
            <a:avLst/>
          </a:prstGeom>
          <a:noFill/>
        </p:spPr>
        <p:txBody>
          <a:bodyPr wrap="none" lIns="0" rIns="0" tIns="0" bIns="0">
            <a:spAutoFit/>
          </a:bodyPr>
          <a:lstStyle/>
          <a:p>
            <a:r>
              <a:rPr sz="1150" b="0">
                <a:solidFill>
                  <a:srgbClr val="2E2E2E"/>
                </a:solidFill>
                <a:latin typeface="Calibri"/>
              </a:rPr>
              <a:t>US$ Mn of demand to 2036, a</a:t>
            </a:r>
          </a:p>
        </p:txBody>
      </p:sp>
      <p:pic>
        <p:nvPicPr>
          <p:cNvPr id="38" name="Picture 37" descr="lock.png"/>
          <p:cNvPicPr>
            <a:picLocks noChangeAspect="1"/>
          </p:cNvPicPr>
          <p:nvPr/>
        </p:nvPicPr>
        <p:blipFill>
          <a:blip r:embed="rId4"/>
          <a:stretch>
            <a:fillRect/>
          </a:stretch>
        </p:blipFill>
        <p:spPr>
          <a:xfrm>
            <a:off x="3355436" y="1793049"/>
            <a:ext cx="134549" cy="195707"/>
          </a:xfrm>
          <a:prstGeom prst="rect">
            <a:avLst/>
          </a:prstGeom>
        </p:spPr>
      </p:pic>
      <p:sp>
        <p:nvSpPr>
          <p:cNvPr id="39" name="TextBox 38"/>
          <p:cNvSpPr txBox="1"/>
          <p:nvPr/>
        </p:nvSpPr>
        <p:spPr>
          <a:xfrm>
            <a:off x="3530546" y="1803273"/>
            <a:ext cx="1871017" cy="194310"/>
          </a:xfrm>
          <a:prstGeom prst="rect">
            <a:avLst/>
          </a:prstGeom>
          <a:noFill/>
        </p:spPr>
        <p:txBody>
          <a:bodyPr wrap="none" lIns="0" rIns="0" tIns="0" bIns="0">
            <a:spAutoFit/>
          </a:bodyPr>
          <a:lstStyle/>
          <a:p>
            <a:r>
              <a:rPr sz="1150" b="0">
                <a:solidFill>
                  <a:srgbClr val="2E2E2E"/>
                </a:solidFill>
                <a:latin typeface="Calibri"/>
              </a:rPr>
              <a:t>x expansion on the 2026 base.</a:t>
            </a:r>
          </a:p>
        </p:txBody>
      </p:sp>
      <p:sp>
        <p:nvSpPr>
          <p:cNvPr id="40" name="TextBox 39"/>
          <p:cNvSpPr txBox="1"/>
          <p:nvPr/>
        </p:nvSpPr>
        <p:spPr>
          <a:xfrm>
            <a:off x="276225" y="3381375"/>
            <a:ext cx="2502569" cy="194310"/>
          </a:xfrm>
          <a:prstGeom prst="rect">
            <a:avLst/>
          </a:prstGeom>
          <a:noFill/>
        </p:spPr>
        <p:txBody>
          <a:bodyPr wrap="none" lIns="0" rIns="0" tIns="0" bIns="0">
            <a:spAutoFit/>
          </a:bodyPr>
          <a:lstStyle/>
          <a:p>
            <a:r>
              <a:rPr sz="1150" b="0">
                <a:solidFill>
                  <a:srgbClr val="2E2E2E"/>
                </a:solidFill>
                <a:latin typeface="Calibri"/>
              </a:rPr>
              <a:t>▪ Prioritise 'Cast Metal Partial Dentures' (</a:t>
            </a:r>
          </a:p>
        </p:txBody>
      </p:sp>
      <p:pic>
        <p:nvPicPr>
          <p:cNvPr id="41" name="Picture 40" descr="lock.png"/>
          <p:cNvPicPr>
            <a:picLocks noChangeAspect="1"/>
          </p:cNvPicPr>
          <p:nvPr/>
        </p:nvPicPr>
        <p:blipFill>
          <a:blip r:embed="rId4"/>
          <a:stretch>
            <a:fillRect/>
          </a:stretch>
        </p:blipFill>
        <p:spPr>
          <a:xfrm>
            <a:off x="2727948" y="3371151"/>
            <a:ext cx="134549" cy="195707"/>
          </a:xfrm>
          <a:prstGeom prst="rect">
            <a:avLst/>
          </a:prstGeom>
        </p:spPr>
      </p:pic>
      <p:sp>
        <p:nvSpPr>
          <p:cNvPr id="42" name="TextBox 41"/>
          <p:cNvSpPr txBox="1"/>
          <p:nvPr/>
        </p:nvSpPr>
        <p:spPr>
          <a:xfrm>
            <a:off x="2903057" y="3381375"/>
            <a:ext cx="2445501" cy="194310"/>
          </a:xfrm>
          <a:prstGeom prst="rect">
            <a:avLst/>
          </a:prstGeom>
          <a:noFill/>
        </p:spPr>
        <p:txBody>
          <a:bodyPr wrap="none" lIns="0" rIns="0" tIns="0" bIns="0">
            <a:spAutoFit/>
          </a:bodyPr>
          <a:lstStyle/>
          <a:p>
            <a:r>
              <a:rPr sz="1150" b="0">
                <a:solidFill>
                  <a:srgbClr val="2E2E2E"/>
                </a:solidFill>
                <a:latin typeface="Calibri"/>
              </a:rPr>
              <a:t>CAGR) for growth, while 'Flexible Partial</a:t>
            </a:r>
          </a:p>
        </p:txBody>
      </p:sp>
      <p:sp>
        <p:nvSpPr>
          <p:cNvPr id="43" name="TextBox 42"/>
          <p:cNvSpPr txBox="1"/>
          <p:nvPr/>
        </p:nvSpPr>
        <p:spPr>
          <a:xfrm>
            <a:off x="276225" y="3556635"/>
            <a:ext cx="1157882" cy="194310"/>
          </a:xfrm>
          <a:prstGeom prst="rect">
            <a:avLst/>
          </a:prstGeom>
          <a:noFill/>
        </p:spPr>
        <p:txBody>
          <a:bodyPr wrap="none" lIns="0" rIns="0" tIns="0" bIns="0">
            <a:spAutoFit/>
          </a:bodyPr>
          <a:lstStyle/>
          <a:p>
            <a:r>
              <a:rPr sz="1150" b="0">
                <a:solidFill>
                  <a:srgbClr val="2E2E2E"/>
                </a:solidFill>
                <a:latin typeface="Calibri"/>
              </a:rPr>
              <a:t>Dentures' anchors</a:t>
            </a:r>
          </a:p>
        </p:txBody>
      </p:sp>
      <p:pic>
        <p:nvPicPr>
          <p:cNvPr id="44" name="Picture 43" descr="lock.png"/>
          <p:cNvPicPr>
            <a:picLocks noChangeAspect="1"/>
          </p:cNvPicPr>
          <p:nvPr/>
        </p:nvPicPr>
        <p:blipFill>
          <a:blip r:embed="rId4"/>
          <a:stretch>
            <a:fillRect/>
          </a:stretch>
        </p:blipFill>
        <p:spPr>
          <a:xfrm>
            <a:off x="1383261" y="3546411"/>
            <a:ext cx="134549" cy="195707"/>
          </a:xfrm>
          <a:prstGeom prst="rect">
            <a:avLst/>
          </a:prstGeom>
        </p:spPr>
      </p:pic>
      <p:sp>
        <p:nvSpPr>
          <p:cNvPr id="45" name="TextBox 44"/>
          <p:cNvSpPr txBox="1"/>
          <p:nvPr/>
        </p:nvSpPr>
        <p:spPr>
          <a:xfrm>
            <a:off x="1558371" y="3556635"/>
            <a:ext cx="1992250" cy="194310"/>
          </a:xfrm>
          <a:prstGeom prst="rect">
            <a:avLst/>
          </a:prstGeom>
          <a:noFill/>
        </p:spPr>
        <p:txBody>
          <a:bodyPr wrap="none" lIns="0" rIns="0" tIns="0" bIns="0">
            <a:spAutoFit/>
          </a:bodyPr>
          <a:lstStyle/>
          <a:p>
            <a:r>
              <a:rPr sz="1150" b="0">
                <a:solidFill>
                  <a:srgbClr val="2E2E2E"/>
                </a:solidFill>
                <a:latin typeface="Calibri"/>
              </a:rPr>
              <a:t>of value and funds the portfolio.</a:t>
            </a:r>
          </a:p>
        </p:txBody>
      </p:sp>
      <p:sp>
        <p:nvSpPr>
          <p:cNvPr id="46" name="TextBox 45"/>
          <p:cNvSpPr txBox="1"/>
          <p:nvPr/>
        </p:nvSpPr>
        <p:spPr>
          <a:xfrm>
            <a:off x="6305550" y="3381375"/>
            <a:ext cx="1083431" cy="194310"/>
          </a:xfrm>
          <a:prstGeom prst="rect">
            <a:avLst/>
          </a:prstGeom>
          <a:noFill/>
        </p:spPr>
        <p:txBody>
          <a:bodyPr wrap="none" lIns="0" rIns="0" tIns="0" bIns="0">
            <a:spAutoFit/>
          </a:bodyPr>
          <a:lstStyle/>
          <a:p>
            <a:r>
              <a:rPr sz="1150" b="0">
                <a:solidFill>
                  <a:srgbClr val="2E2E2E"/>
                </a:solidFill>
                <a:latin typeface="Calibri"/>
              </a:rPr>
              <a:t>▪ Lead with U.S. (</a:t>
            </a:r>
          </a:p>
        </p:txBody>
      </p:sp>
      <p:pic>
        <p:nvPicPr>
          <p:cNvPr id="47" name="Picture 46" descr="lock.png"/>
          <p:cNvPicPr>
            <a:picLocks noChangeAspect="1"/>
          </p:cNvPicPr>
          <p:nvPr/>
        </p:nvPicPr>
        <p:blipFill>
          <a:blip r:embed="rId4"/>
          <a:stretch>
            <a:fillRect/>
          </a:stretch>
        </p:blipFill>
        <p:spPr>
          <a:xfrm>
            <a:off x="7338135" y="3371151"/>
            <a:ext cx="134549" cy="195707"/>
          </a:xfrm>
          <a:prstGeom prst="rect">
            <a:avLst/>
          </a:prstGeom>
        </p:spPr>
      </p:pic>
      <p:sp>
        <p:nvSpPr>
          <p:cNvPr id="48" name="TextBox 47"/>
          <p:cNvSpPr txBox="1"/>
          <p:nvPr/>
        </p:nvSpPr>
        <p:spPr>
          <a:xfrm>
            <a:off x="7513244" y="3381375"/>
            <a:ext cx="2463204" cy="194310"/>
          </a:xfrm>
          <a:prstGeom prst="rect">
            <a:avLst/>
          </a:prstGeom>
          <a:noFill/>
        </p:spPr>
        <p:txBody>
          <a:bodyPr wrap="none" lIns="0" rIns="0" tIns="0" bIns="0">
            <a:spAutoFit/>
          </a:bodyPr>
          <a:lstStyle/>
          <a:p>
            <a:r>
              <a:rPr sz="1150" b="0">
                <a:solidFill>
                  <a:srgbClr val="2E2E2E"/>
                </a:solidFill>
                <a:latin typeface="Calibri"/>
              </a:rPr>
              <a:t>of value) and capture upside in Canada (</a:t>
            </a:r>
          </a:p>
        </p:txBody>
      </p:sp>
      <p:pic>
        <p:nvPicPr>
          <p:cNvPr id="49" name="Picture 48" descr="lock.png"/>
          <p:cNvPicPr>
            <a:picLocks noChangeAspect="1"/>
          </p:cNvPicPr>
          <p:nvPr/>
        </p:nvPicPr>
        <p:blipFill>
          <a:blip r:embed="rId4"/>
          <a:stretch>
            <a:fillRect/>
          </a:stretch>
        </p:blipFill>
        <p:spPr>
          <a:xfrm>
            <a:off x="9925603" y="3371151"/>
            <a:ext cx="134549" cy="195707"/>
          </a:xfrm>
          <a:prstGeom prst="rect">
            <a:avLst/>
          </a:prstGeom>
        </p:spPr>
      </p:pic>
      <p:sp>
        <p:nvSpPr>
          <p:cNvPr id="50" name="TextBox 49"/>
          <p:cNvSpPr txBox="1"/>
          <p:nvPr/>
        </p:nvSpPr>
        <p:spPr>
          <a:xfrm>
            <a:off x="10100712" y="3381375"/>
            <a:ext cx="490941" cy="194310"/>
          </a:xfrm>
          <a:prstGeom prst="rect">
            <a:avLst/>
          </a:prstGeom>
          <a:noFill/>
        </p:spPr>
        <p:txBody>
          <a:bodyPr wrap="none" lIns="0" rIns="0" tIns="0" bIns="0">
            <a:spAutoFit/>
          </a:bodyPr>
          <a:lstStyle/>
          <a:p>
            <a:r>
              <a:rPr sz="1150" b="0">
                <a:solidFill>
                  <a:srgbClr val="2E2E2E"/>
                </a:solidFill>
                <a:latin typeface="Calibri"/>
              </a:rPr>
              <a:t>CAGR).</a:t>
            </a:r>
          </a:p>
        </p:txBody>
      </p:sp>
    </p:spTree>
  </p:cSld>
  <p:clrMapOvr>
    <a:masterClrMapping/>
  </p:clrMapOvr>
</p:sld>
</file>

<file path=ppt/slides/slide1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Scenario Outlook (4/4)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Scenario outlook comparing optimistic, likely and conservative outcomes for 2036 and the CAGR behind each</a:t>
            </a:r>
          </a:p>
        </p:txBody>
      </p:sp>
      <p:sp>
        <p:nvSpPr>
          <p:cNvPr id="10" name="Rounded Rectangle 9"/>
          <p:cNvSpPr/>
          <p:nvPr/>
        </p:nvSpPr>
        <p:spPr>
          <a:xfrm>
            <a:off x="142875" y="981075"/>
            <a:ext cx="3943350" cy="6096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1" name="Rounded Rectangle 10"/>
          <p:cNvSpPr/>
          <p:nvPr/>
        </p:nvSpPr>
        <p:spPr>
          <a:xfrm>
            <a:off x="4238625" y="981075"/>
            <a:ext cx="3819525" cy="6096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2" name="Rounded Rectangle 11"/>
          <p:cNvSpPr/>
          <p:nvPr/>
        </p:nvSpPr>
        <p:spPr>
          <a:xfrm>
            <a:off x="8210550" y="981075"/>
            <a:ext cx="3819525" cy="6096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3" name="Rounded Rectangle 12"/>
          <p:cNvSpPr/>
          <p:nvPr/>
        </p:nvSpPr>
        <p:spPr>
          <a:xfrm>
            <a:off x="142875" y="1724025"/>
            <a:ext cx="5876925" cy="2924175"/>
          </a:xfrm>
          <a:prstGeom prst="roundRect">
            <a:avLst>
              <a:gd name="adj" fmla="val 26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178117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Removable Partial Dentures Market Value (US$ Mn): Scenario Forecast, 2025 and 2036</a:t>
            </a:r>
          </a:p>
        </p:txBody>
      </p:sp>
      <p:cxnSp>
        <p:nvCxnSpPr>
          <p:cNvPr id="15" name="Connector 14"/>
          <p:cNvCxnSpPr/>
          <p:nvPr/>
        </p:nvCxnSpPr>
        <p:spPr>
          <a:xfrm>
            <a:off x="238125" y="4133850"/>
            <a:ext cx="5686425" cy="0"/>
          </a:xfrm>
          <a:prstGeom prst="line">
            <a:avLst/>
          </a:prstGeom>
          <a:ln w="9525">
            <a:solidFill>
              <a:srgbClr val="BFBFBF"/>
            </a:solidFill>
          </a:ln>
        </p:spPr>
        <p:style>
          <a:lnRef idx="2">
            <a:schemeClr val="accent1"/>
          </a:lnRef>
          <a:fillRef idx="0">
            <a:schemeClr val="accent1"/>
          </a:fillRef>
          <a:effectRef idx="1">
            <a:schemeClr val="accent1"/>
          </a:effectRef>
          <a:fontRef idx="minor">
            <a:schemeClr val="tx1"/>
          </a:fontRef>
        </p:style>
      </p:cxnSp>
      <p:sp>
        <p:nvSpPr>
          <p:cNvPr id="16" name="Rectangle 15"/>
          <p:cNvSpPr/>
          <p:nvPr/>
        </p:nvSpPr>
        <p:spPr>
          <a:xfrm>
            <a:off x="706342" y="3297782"/>
            <a:ext cx="635826" cy="836068"/>
          </a:xfrm>
          <a:prstGeom prst="rect">
            <a:avLst/>
          </a:prstGeom>
          <a:solidFill>
            <a:srgbClr val="4031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ectangle 16"/>
          <p:cNvSpPr/>
          <p:nvPr/>
        </p:nvSpPr>
        <p:spPr>
          <a:xfrm>
            <a:off x="3043936" y="3021494"/>
            <a:ext cx="635826" cy="1112356"/>
          </a:xfrm>
          <a:prstGeom prst="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4025725" y="2912408"/>
            <a:ext cx="635826" cy="1221442"/>
          </a:xfrm>
          <a:prstGeom prst="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ectangle 18"/>
          <p:cNvSpPr/>
          <p:nvPr/>
        </p:nvSpPr>
        <p:spPr>
          <a:xfrm>
            <a:off x="5007515" y="2793683"/>
            <a:ext cx="635826" cy="1340167"/>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0" name="Connector 19"/>
          <p:cNvCxnSpPr/>
          <p:nvPr/>
        </p:nvCxnSpPr>
        <p:spPr>
          <a:xfrm>
            <a:off x="1456468" y="2888144"/>
            <a:ext cx="1568418" cy="0"/>
          </a:xfrm>
          <a:prstGeom prst="line">
            <a:avLst/>
          </a:prstGeom>
          <a:ln w="15875">
            <a:solidFill>
              <a:srgbClr val="92D05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1" name="Rounded Rectangle 20"/>
          <p:cNvSpPr/>
          <p:nvPr/>
        </p:nvSpPr>
        <p:spPr>
          <a:xfrm>
            <a:off x="1570768" y="2783369"/>
            <a:ext cx="1358868" cy="209550"/>
          </a:xfrm>
          <a:prstGeom prst="round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
            </a:r>
          </a:p>
        </p:txBody>
      </p:sp>
      <p:cxnSp>
        <p:nvCxnSpPr>
          <p:cNvPr id="22" name="Connector 21"/>
          <p:cNvCxnSpPr/>
          <p:nvPr/>
        </p:nvCxnSpPr>
        <p:spPr>
          <a:xfrm>
            <a:off x="1456468" y="2630969"/>
            <a:ext cx="2550207" cy="0"/>
          </a:xfrm>
          <a:prstGeom prst="line">
            <a:avLst/>
          </a:prstGeom>
          <a:ln w="15875">
            <a:solidFill>
              <a:srgbClr val="0078D4"/>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3" name="Rounded Rectangle 22"/>
          <p:cNvSpPr/>
          <p:nvPr/>
        </p:nvSpPr>
        <p:spPr>
          <a:xfrm>
            <a:off x="1570768" y="2526194"/>
            <a:ext cx="1358868" cy="209550"/>
          </a:xfrm>
          <a:prstGeom prst="round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
            </a:r>
          </a:p>
        </p:txBody>
      </p:sp>
      <p:cxnSp>
        <p:nvCxnSpPr>
          <p:cNvPr id="24" name="Connector 23"/>
          <p:cNvCxnSpPr/>
          <p:nvPr/>
        </p:nvCxnSpPr>
        <p:spPr>
          <a:xfrm>
            <a:off x="1456468" y="2373794"/>
            <a:ext cx="3531997" cy="0"/>
          </a:xfrm>
          <a:prstGeom prst="line">
            <a:avLst/>
          </a:prstGeom>
          <a:ln w="15875">
            <a:solidFill>
              <a:srgbClr val="80808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5" name="Rounded Rectangle 24"/>
          <p:cNvSpPr/>
          <p:nvPr/>
        </p:nvSpPr>
        <p:spPr>
          <a:xfrm>
            <a:off x="1570768" y="2269019"/>
            <a:ext cx="1358868" cy="209550"/>
          </a:xfrm>
          <a:prstGeom prst="round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
            </a:r>
          </a:p>
        </p:txBody>
      </p:sp>
      <p:sp>
        <p:nvSpPr>
          <p:cNvPr id="26" name="TextBox 25"/>
          <p:cNvSpPr txBox="1"/>
          <p:nvPr/>
        </p:nvSpPr>
        <p:spPr>
          <a:xfrm>
            <a:off x="643255" y="416242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2025</a:t>
            </a:r>
          </a:p>
        </p:txBody>
      </p:sp>
      <p:sp>
        <p:nvSpPr>
          <p:cNvPr id="27" name="TextBox 26"/>
          <p:cNvSpPr txBox="1"/>
          <p:nvPr/>
        </p:nvSpPr>
        <p:spPr>
          <a:xfrm>
            <a:off x="3962638" y="416242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2036</a:t>
            </a:r>
          </a:p>
        </p:txBody>
      </p:sp>
      <p:sp>
        <p:nvSpPr>
          <p:cNvPr id="28" name="Oval 27"/>
          <p:cNvSpPr/>
          <p:nvPr/>
        </p:nvSpPr>
        <p:spPr>
          <a:xfrm>
            <a:off x="304800" y="4400550"/>
            <a:ext cx="133350" cy="133350"/>
          </a:xfrm>
          <a:prstGeom prst="ellipse">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85775" y="437197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Conservative Scenario</a:t>
            </a:r>
          </a:p>
        </p:txBody>
      </p:sp>
      <p:sp>
        <p:nvSpPr>
          <p:cNvPr id="30" name="Oval 29"/>
          <p:cNvSpPr/>
          <p:nvPr/>
        </p:nvSpPr>
        <p:spPr>
          <a:xfrm>
            <a:off x="2200275" y="4400550"/>
            <a:ext cx="133350" cy="133350"/>
          </a:xfrm>
          <a:prstGeom prst="ellipse">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0" y="437197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Likely Scenario</a:t>
            </a:r>
          </a:p>
        </p:txBody>
      </p:sp>
      <p:sp>
        <p:nvSpPr>
          <p:cNvPr id="32" name="Oval 31"/>
          <p:cNvSpPr/>
          <p:nvPr/>
        </p:nvSpPr>
        <p:spPr>
          <a:xfrm>
            <a:off x="4095750" y="4400550"/>
            <a:ext cx="133350" cy="133350"/>
          </a:xfrm>
          <a:prstGeom prst="ellipse">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4276725" y="437197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Optimistic Scenario</a:t>
            </a:r>
          </a:p>
        </p:txBody>
      </p:sp>
      <p:sp>
        <p:nvSpPr>
          <p:cNvPr id="34" name="Rounded Rectangle 33"/>
          <p:cNvSpPr/>
          <p:nvPr/>
        </p:nvSpPr>
        <p:spPr>
          <a:xfrm>
            <a:off x="6172200" y="1724025"/>
            <a:ext cx="5876925" cy="2924175"/>
          </a:xfrm>
          <a:prstGeom prst="roundRect">
            <a:avLst>
              <a:gd name="adj" fmla="val 260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267450" y="178117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Removable Partial Dentures Market Attractiveness Analysis By Region, 2026–2036</a:t>
            </a:r>
          </a:p>
        </p:txBody>
      </p:sp>
      <p:graphicFrame>
        <p:nvGraphicFramePr>
          <p:cNvPr id="36" name="Chart 35"/>
          <p:cNvGraphicFramePr>
            <a:graphicFrameLocks noGrp="1"/>
          </p:cNvGraphicFramePr>
          <p:nvPr/>
        </p:nvGraphicFramePr>
        <p:xfrm>
          <a:off x="6267450" y="2181225"/>
          <a:ext cx="5686425" cy="2409825"/>
        </p:xfrm>
        <a:graphic>
          <a:graphicData uri="http://schemas.openxmlformats.org/drawingml/2006/chart">
            <c:chart xmlns:c="http://schemas.openxmlformats.org/drawingml/2006/chart" r:id="rId3"/>
          </a:graphicData>
        </a:graphic>
      </p:graphicFrame>
      <p:sp>
        <p:nvSpPr>
          <p:cNvPr id="37" name="Rounded Rectangle 36"/>
          <p:cNvSpPr/>
          <p:nvPr/>
        </p:nvSpPr>
        <p:spPr>
          <a:xfrm>
            <a:off x="142875" y="4781550"/>
            <a:ext cx="11906250" cy="1838325"/>
          </a:xfrm>
          <a:prstGeom prst="roundRect">
            <a:avLst>
              <a:gd name="adj" fmla="val 41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76225" y="4867275"/>
            <a:ext cx="11639550" cy="209550"/>
          </a:xfrm>
          <a:prstGeom prst="rect">
            <a:avLst/>
          </a:prstGeom>
          <a:noFill/>
        </p:spPr>
        <p:txBody>
          <a:bodyPr wrap="square" lIns="0" rIns="19050" tIns="9525" bIns="9525">
            <a:spAutoFit/>
          </a:bodyPr>
          <a:lstStyle/>
          <a:p>
            <a:pPr algn="l"/>
            <a:r>
              <a:rPr sz="1300" b="1">
                <a:solidFill>
                  <a:srgbClr val="0B2E4A"/>
                </a:solidFill>
                <a:latin typeface="Calibri"/>
              </a:rPr>
              <a:t>Scenario Assumptions &amp; Outlook</a:t>
            </a:r>
          </a:p>
        </p:txBody>
      </p:sp>
      <p:sp>
        <p:nvSpPr>
          <p:cNvPr id="39" name="Rectangle 38"/>
          <p:cNvSpPr/>
          <p:nvPr/>
        </p:nvSpPr>
        <p:spPr>
          <a:xfrm>
            <a:off x="276225" y="5105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76225" y="5191125"/>
            <a:ext cx="11639550" cy="135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41" name="TextBox 4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2" name="Picture 41" descr="lock.png"/>
          <p:cNvPicPr>
            <a:picLocks noChangeAspect="1"/>
          </p:cNvPicPr>
          <p:nvPr/>
        </p:nvPicPr>
        <p:blipFill>
          <a:blip r:embed="rId5"/>
          <a:stretch>
            <a:fillRect/>
          </a:stretch>
        </p:blipFill>
        <p:spPr>
          <a:xfrm>
            <a:off x="2035969" y="1171575"/>
            <a:ext cx="157162" cy="228600"/>
          </a:xfrm>
          <a:prstGeom prst="rect">
            <a:avLst/>
          </a:prstGeom>
        </p:spPr>
      </p:pic>
      <p:pic>
        <p:nvPicPr>
          <p:cNvPr id="43" name="Picture 42" descr="lock.png"/>
          <p:cNvPicPr>
            <a:picLocks noChangeAspect="1"/>
          </p:cNvPicPr>
          <p:nvPr/>
        </p:nvPicPr>
        <p:blipFill>
          <a:blip r:embed="rId5"/>
          <a:stretch>
            <a:fillRect/>
          </a:stretch>
        </p:blipFill>
        <p:spPr>
          <a:xfrm>
            <a:off x="6069806" y="1171575"/>
            <a:ext cx="157162" cy="228600"/>
          </a:xfrm>
          <a:prstGeom prst="rect">
            <a:avLst/>
          </a:prstGeom>
        </p:spPr>
      </p:pic>
      <p:pic>
        <p:nvPicPr>
          <p:cNvPr id="44" name="Picture 43" descr="lock.png"/>
          <p:cNvPicPr>
            <a:picLocks noChangeAspect="1"/>
          </p:cNvPicPr>
          <p:nvPr/>
        </p:nvPicPr>
        <p:blipFill>
          <a:blip r:embed="rId5"/>
          <a:stretch>
            <a:fillRect/>
          </a:stretch>
        </p:blipFill>
        <p:spPr>
          <a:xfrm>
            <a:off x="10041731" y="1171575"/>
            <a:ext cx="157162" cy="228600"/>
          </a:xfrm>
          <a:prstGeom prst="rect">
            <a:avLst/>
          </a:prstGeom>
        </p:spPr>
      </p:pic>
      <p:sp>
        <p:nvSpPr>
          <p:cNvPr id="45" name="TextBox 44"/>
          <p:cNvSpPr txBox="1"/>
          <p:nvPr/>
        </p:nvSpPr>
        <p:spPr>
          <a:xfrm>
            <a:off x="1702407" y="1026429"/>
            <a:ext cx="900484" cy="146456"/>
          </a:xfrm>
          <a:prstGeom prst="rect">
            <a:avLst/>
          </a:prstGeom>
          <a:noFill/>
        </p:spPr>
        <p:txBody>
          <a:bodyPr wrap="none" lIns="0" rIns="0" tIns="0" bIns="0">
            <a:spAutoFit/>
          </a:bodyPr>
          <a:lstStyle/>
          <a:p>
            <a:r>
              <a:rPr sz="835" b="1">
                <a:solidFill>
                  <a:srgbClr val="6C7A89"/>
                </a:solidFill>
                <a:latin typeface="Calibri"/>
              </a:rPr>
              <a:t>OPTIMISTIC (2036)</a:t>
            </a:r>
          </a:p>
        </p:txBody>
      </p:sp>
      <p:sp>
        <p:nvSpPr>
          <p:cNvPr id="46" name="TextBox 45"/>
          <p:cNvSpPr txBox="1"/>
          <p:nvPr/>
        </p:nvSpPr>
        <p:spPr>
          <a:xfrm>
            <a:off x="1934715" y="1417914"/>
            <a:ext cx="318806" cy="146456"/>
          </a:xfrm>
          <a:prstGeom prst="rect">
            <a:avLst/>
          </a:prstGeom>
          <a:noFill/>
        </p:spPr>
        <p:txBody>
          <a:bodyPr wrap="none" lIns="0" rIns="0" tIns="0" bIns="0">
            <a:spAutoFit/>
          </a:bodyPr>
          <a:lstStyle/>
          <a:p>
            <a:r>
              <a:rPr sz="835" b="0">
                <a:solidFill>
                  <a:srgbClr val="6C7A89"/>
                </a:solidFill>
                <a:latin typeface="Calibri"/>
              </a:rPr>
              <a:t>CAGR</a:t>
            </a:r>
          </a:p>
        </p:txBody>
      </p:sp>
      <p:pic>
        <p:nvPicPr>
          <p:cNvPr id="47" name="Picture 46" descr="lock.png"/>
          <p:cNvPicPr>
            <a:picLocks noChangeAspect="1"/>
          </p:cNvPicPr>
          <p:nvPr/>
        </p:nvPicPr>
        <p:blipFill>
          <a:blip r:embed="rId5"/>
          <a:stretch>
            <a:fillRect/>
          </a:stretch>
        </p:blipFill>
        <p:spPr>
          <a:xfrm>
            <a:off x="2195753" y="1410482"/>
            <a:ext cx="97811" cy="142270"/>
          </a:xfrm>
          <a:prstGeom prst="rect">
            <a:avLst/>
          </a:prstGeom>
        </p:spPr>
      </p:pic>
      <p:sp>
        <p:nvSpPr>
          <p:cNvPr id="48" name="TextBox 47"/>
          <p:cNvSpPr txBox="1"/>
          <p:nvPr/>
        </p:nvSpPr>
        <p:spPr>
          <a:xfrm>
            <a:off x="5853687" y="1026429"/>
            <a:ext cx="665599" cy="146456"/>
          </a:xfrm>
          <a:prstGeom prst="rect">
            <a:avLst/>
          </a:prstGeom>
          <a:noFill/>
        </p:spPr>
        <p:txBody>
          <a:bodyPr wrap="none" lIns="0" rIns="0" tIns="0" bIns="0">
            <a:spAutoFit/>
          </a:bodyPr>
          <a:lstStyle/>
          <a:p>
            <a:r>
              <a:rPr sz="835" b="1">
                <a:solidFill>
                  <a:srgbClr val="6C7A89"/>
                </a:solidFill>
                <a:latin typeface="Calibri"/>
              </a:rPr>
              <a:t>LIKELY (2036)</a:t>
            </a:r>
          </a:p>
        </p:txBody>
      </p:sp>
      <p:sp>
        <p:nvSpPr>
          <p:cNvPr id="49" name="TextBox 48"/>
          <p:cNvSpPr txBox="1"/>
          <p:nvPr/>
        </p:nvSpPr>
        <p:spPr>
          <a:xfrm>
            <a:off x="5968553" y="1417914"/>
            <a:ext cx="318806" cy="146456"/>
          </a:xfrm>
          <a:prstGeom prst="rect">
            <a:avLst/>
          </a:prstGeom>
          <a:noFill/>
        </p:spPr>
        <p:txBody>
          <a:bodyPr wrap="none" lIns="0" rIns="0" tIns="0" bIns="0">
            <a:spAutoFit/>
          </a:bodyPr>
          <a:lstStyle/>
          <a:p>
            <a:r>
              <a:rPr sz="835" b="0">
                <a:solidFill>
                  <a:srgbClr val="6C7A89"/>
                </a:solidFill>
                <a:latin typeface="Calibri"/>
              </a:rPr>
              <a:t>CAGR</a:t>
            </a:r>
          </a:p>
        </p:txBody>
      </p:sp>
      <p:pic>
        <p:nvPicPr>
          <p:cNvPr id="50" name="Picture 49" descr="lock.png"/>
          <p:cNvPicPr>
            <a:picLocks noChangeAspect="1"/>
          </p:cNvPicPr>
          <p:nvPr/>
        </p:nvPicPr>
        <p:blipFill>
          <a:blip r:embed="rId5"/>
          <a:stretch>
            <a:fillRect/>
          </a:stretch>
        </p:blipFill>
        <p:spPr>
          <a:xfrm>
            <a:off x="6229591" y="1410482"/>
            <a:ext cx="97811" cy="142270"/>
          </a:xfrm>
          <a:prstGeom prst="rect">
            <a:avLst/>
          </a:prstGeom>
        </p:spPr>
      </p:pic>
      <p:sp>
        <p:nvSpPr>
          <p:cNvPr id="51" name="TextBox 50"/>
          <p:cNvSpPr txBox="1"/>
          <p:nvPr/>
        </p:nvSpPr>
        <p:spPr>
          <a:xfrm>
            <a:off x="9626124" y="1026429"/>
            <a:ext cx="1064576" cy="146456"/>
          </a:xfrm>
          <a:prstGeom prst="rect">
            <a:avLst/>
          </a:prstGeom>
          <a:noFill/>
        </p:spPr>
        <p:txBody>
          <a:bodyPr wrap="none" lIns="0" rIns="0" tIns="0" bIns="0">
            <a:spAutoFit/>
          </a:bodyPr>
          <a:lstStyle/>
          <a:p>
            <a:r>
              <a:rPr sz="835" b="1">
                <a:solidFill>
                  <a:srgbClr val="6C7A89"/>
                </a:solidFill>
                <a:latin typeface="Calibri"/>
              </a:rPr>
              <a:t>CONSERVATIVE (2036)</a:t>
            </a:r>
          </a:p>
        </p:txBody>
      </p:sp>
      <p:sp>
        <p:nvSpPr>
          <p:cNvPr id="52" name="TextBox 51"/>
          <p:cNvSpPr txBox="1"/>
          <p:nvPr/>
        </p:nvSpPr>
        <p:spPr>
          <a:xfrm>
            <a:off x="9940478" y="1417914"/>
            <a:ext cx="318806" cy="146456"/>
          </a:xfrm>
          <a:prstGeom prst="rect">
            <a:avLst/>
          </a:prstGeom>
          <a:noFill/>
        </p:spPr>
        <p:txBody>
          <a:bodyPr wrap="none" lIns="0" rIns="0" tIns="0" bIns="0">
            <a:spAutoFit/>
          </a:bodyPr>
          <a:lstStyle/>
          <a:p>
            <a:r>
              <a:rPr sz="835" b="0">
                <a:solidFill>
                  <a:srgbClr val="6C7A89"/>
                </a:solidFill>
                <a:latin typeface="Calibri"/>
              </a:rPr>
              <a:t>CAGR</a:t>
            </a:r>
          </a:p>
        </p:txBody>
      </p:sp>
      <p:pic>
        <p:nvPicPr>
          <p:cNvPr id="53" name="Picture 52" descr="lock.png"/>
          <p:cNvPicPr>
            <a:picLocks noChangeAspect="1"/>
          </p:cNvPicPr>
          <p:nvPr/>
        </p:nvPicPr>
        <p:blipFill>
          <a:blip r:embed="rId5"/>
          <a:stretch>
            <a:fillRect/>
          </a:stretch>
        </p:blipFill>
        <p:spPr>
          <a:xfrm>
            <a:off x="10201516" y="1410482"/>
            <a:ext cx="97811" cy="142270"/>
          </a:xfrm>
          <a:prstGeom prst="rect">
            <a:avLst/>
          </a:prstGeom>
        </p:spPr>
      </p:pic>
      <p:sp>
        <p:nvSpPr>
          <p:cNvPr id="54" name="TextBox 53"/>
          <p:cNvSpPr txBox="1"/>
          <p:nvPr/>
        </p:nvSpPr>
        <p:spPr>
          <a:xfrm>
            <a:off x="2032418" y="2817735"/>
            <a:ext cx="382383" cy="159867"/>
          </a:xfrm>
          <a:prstGeom prst="rect">
            <a:avLst/>
          </a:prstGeom>
          <a:noFill/>
        </p:spPr>
        <p:txBody>
          <a:bodyPr wrap="none" lIns="0" rIns="0" tIns="0" bIns="0">
            <a:spAutoFit/>
          </a:bodyPr>
          <a:lstStyle/>
          <a:p>
            <a:r>
              <a:rPr sz="923" b="1">
                <a:solidFill>
                  <a:srgbClr val="FFFFFF"/>
                </a:solidFill>
                <a:latin typeface="Calibri"/>
              </a:rPr>
              <a:t>CAGR:</a:t>
            </a:r>
          </a:p>
        </p:txBody>
      </p:sp>
      <p:pic>
        <p:nvPicPr>
          <p:cNvPr id="55" name="Picture 54" descr="lock.png"/>
          <p:cNvPicPr>
            <a:picLocks noChangeAspect="1"/>
          </p:cNvPicPr>
          <p:nvPr/>
        </p:nvPicPr>
        <p:blipFill>
          <a:blip r:embed="rId5"/>
          <a:stretch>
            <a:fillRect/>
          </a:stretch>
        </p:blipFill>
        <p:spPr>
          <a:xfrm>
            <a:off x="2358973" y="2809520"/>
            <a:ext cx="108107" cy="157246"/>
          </a:xfrm>
          <a:prstGeom prst="rect">
            <a:avLst/>
          </a:prstGeom>
        </p:spPr>
      </p:pic>
      <p:sp>
        <p:nvSpPr>
          <p:cNvPr id="56" name="TextBox 55"/>
          <p:cNvSpPr txBox="1"/>
          <p:nvPr/>
        </p:nvSpPr>
        <p:spPr>
          <a:xfrm>
            <a:off x="2032418" y="2560560"/>
            <a:ext cx="382383" cy="159867"/>
          </a:xfrm>
          <a:prstGeom prst="rect">
            <a:avLst/>
          </a:prstGeom>
          <a:noFill/>
        </p:spPr>
        <p:txBody>
          <a:bodyPr wrap="none" lIns="0" rIns="0" tIns="0" bIns="0">
            <a:spAutoFit/>
          </a:bodyPr>
          <a:lstStyle/>
          <a:p>
            <a:r>
              <a:rPr sz="923" b="1">
                <a:solidFill>
                  <a:srgbClr val="FFFFFF"/>
                </a:solidFill>
                <a:latin typeface="Calibri"/>
              </a:rPr>
              <a:t>CAGR:</a:t>
            </a:r>
          </a:p>
        </p:txBody>
      </p:sp>
      <p:pic>
        <p:nvPicPr>
          <p:cNvPr id="57" name="Picture 56" descr="lock.png"/>
          <p:cNvPicPr>
            <a:picLocks noChangeAspect="1"/>
          </p:cNvPicPr>
          <p:nvPr/>
        </p:nvPicPr>
        <p:blipFill>
          <a:blip r:embed="rId5"/>
          <a:stretch>
            <a:fillRect/>
          </a:stretch>
        </p:blipFill>
        <p:spPr>
          <a:xfrm>
            <a:off x="2358973" y="2552345"/>
            <a:ext cx="108107" cy="157246"/>
          </a:xfrm>
          <a:prstGeom prst="rect">
            <a:avLst/>
          </a:prstGeom>
        </p:spPr>
      </p:pic>
      <p:sp>
        <p:nvSpPr>
          <p:cNvPr id="58" name="TextBox 57"/>
          <p:cNvSpPr txBox="1"/>
          <p:nvPr/>
        </p:nvSpPr>
        <p:spPr>
          <a:xfrm>
            <a:off x="2032418" y="2303385"/>
            <a:ext cx="382383" cy="159867"/>
          </a:xfrm>
          <a:prstGeom prst="rect">
            <a:avLst/>
          </a:prstGeom>
          <a:noFill/>
        </p:spPr>
        <p:txBody>
          <a:bodyPr wrap="none" lIns="0" rIns="0" tIns="0" bIns="0">
            <a:spAutoFit/>
          </a:bodyPr>
          <a:lstStyle/>
          <a:p>
            <a:r>
              <a:rPr sz="923" b="1">
                <a:solidFill>
                  <a:srgbClr val="FFFFFF"/>
                </a:solidFill>
                <a:latin typeface="Calibri"/>
              </a:rPr>
              <a:t>CAGR:</a:t>
            </a:r>
          </a:p>
        </p:txBody>
      </p:sp>
      <p:pic>
        <p:nvPicPr>
          <p:cNvPr id="59" name="Picture 58" descr="lock.png"/>
          <p:cNvPicPr>
            <a:picLocks noChangeAspect="1"/>
          </p:cNvPicPr>
          <p:nvPr/>
        </p:nvPicPr>
        <p:blipFill>
          <a:blip r:embed="rId5"/>
          <a:stretch>
            <a:fillRect/>
          </a:stretch>
        </p:blipFill>
        <p:spPr>
          <a:xfrm>
            <a:off x="2358973" y="2295170"/>
            <a:ext cx="108107" cy="157246"/>
          </a:xfrm>
          <a:prstGeom prst="rect">
            <a:avLst/>
          </a:prstGeom>
        </p:spPr>
      </p:pic>
      <p:sp>
        <p:nvSpPr>
          <p:cNvPr id="60" name="TextBox 59"/>
          <p:cNvSpPr txBox="1"/>
          <p:nvPr/>
        </p:nvSpPr>
        <p:spPr>
          <a:xfrm>
            <a:off x="276225" y="5200650"/>
            <a:ext cx="1993962" cy="194310"/>
          </a:xfrm>
          <a:prstGeom prst="rect">
            <a:avLst/>
          </a:prstGeom>
          <a:noFill/>
        </p:spPr>
        <p:txBody>
          <a:bodyPr wrap="none" lIns="0" rIns="0" tIns="0" bIns="0">
            <a:spAutoFit/>
          </a:bodyPr>
          <a:lstStyle/>
          <a:p>
            <a:r>
              <a:rPr sz="1150" b="0">
                <a:solidFill>
                  <a:srgbClr val="2E2E2E"/>
                </a:solidFill>
                <a:latin typeface="Calibri"/>
              </a:rPr>
              <a:t>▪ Optimistic: the market reaches</a:t>
            </a:r>
          </a:p>
        </p:txBody>
      </p:sp>
      <p:pic>
        <p:nvPicPr>
          <p:cNvPr id="61" name="Picture 60" descr="lock.png"/>
          <p:cNvPicPr>
            <a:picLocks noChangeAspect="1"/>
          </p:cNvPicPr>
          <p:nvPr/>
        </p:nvPicPr>
        <p:blipFill>
          <a:blip r:embed="rId5"/>
          <a:stretch>
            <a:fillRect/>
          </a:stretch>
        </p:blipFill>
        <p:spPr>
          <a:xfrm>
            <a:off x="2219340" y="5190426"/>
            <a:ext cx="134549" cy="195707"/>
          </a:xfrm>
          <a:prstGeom prst="rect">
            <a:avLst/>
          </a:prstGeom>
        </p:spPr>
      </p:pic>
      <p:sp>
        <p:nvSpPr>
          <p:cNvPr id="62" name="TextBox 61"/>
          <p:cNvSpPr txBox="1"/>
          <p:nvPr/>
        </p:nvSpPr>
        <p:spPr>
          <a:xfrm>
            <a:off x="2394450" y="5200650"/>
            <a:ext cx="1203808" cy="194310"/>
          </a:xfrm>
          <a:prstGeom prst="rect">
            <a:avLst/>
          </a:prstGeom>
          <a:noFill/>
        </p:spPr>
        <p:txBody>
          <a:bodyPr wrap="none" lIns="0" rIns="0" tIns="0" bIns="0">
            <a:spAutoFit/>
          </a:bodyPr>
          <a:lstStyle/>
          <a:p>
            <a:r>
              <a:rPr sz="1150" b="0">
                <a:solidFill>
                  <a:srgbClr val="2E2E2E"/>
                </a:solidFill>
                <a:latin typeface="Calibri"/>
              </a:rPr>
              <a:t>US$ Mn by 2036 at</a:t>
            </a:r>
          </a:p>
        </p:txBody>
      </p:sp>
      <p:pic>
        <p:nvPicPr>
          <p:cNvPr id="63" name="Picture 62" descr="lock.png"/>
          <p:cNvPicPr>
            <a:picLocks noChangeAspect="1"/>
          </p:cNvPicPr>
          <p:nvPr/>
        </p:nvPicPr>
        <p:blipFill>
          <a:blip r:embed="rId5"/>
          <a:stretch>
            <a:fillRect/>
          </a:stretch>
        </p:blipFill>
        <p:spPr>
          <a:xfrm>
            <a:off x="3547412" y="5190426"/>
            <a:ext cx="134549" cy="195707"/>
          </a:xfrm>
          <a:prstGeom prst="rect">
            <a:avLst/>
          </a:prstGeom>
        </p:spPr>
      </p:pic>
      <p:sp>
        <p:nvSpPr>
          <p:cNvPr id="64" name="TextBox 63"/>
          <p:cNvSpPr txBox="1"/>
          <p:nvPr/>
        </p:nvSpPr>
        <p:spPr>
          <a:xfrm>
            <a:off x="3722522" y="5200650"/>
            <a:ext cx="3799886" cy="194310"/>
          </a:xfrm>
          <a:prstGeom prst="rect">
            <a:avLst/>
          </a:prstGeom>
          <a:noFill/>
        </p:spPr>
        <p:txBody>
          <a:bodyPr wrap="none" lIns="0" rIns="0" tIns="0" bIns="0">
            <a:spAutoFit/>
          </a:bodyPr>
          <a:lstStyle/>
          <a:p>
            <a:r>
              <a:rPr sz="1150" b="0">
                <a:solidFill>
                  <a:srgbClr val="2E2E2E"/>
                </a:solidFill>
                <a:latin typeface="Calibri"/>
              </a:rPr>
              <a:t>CAGR, assuming faster adoption and stronger price realisation.</a:t>
            </a:r>
          </a:p>
        </p:txBody>
      </p:sp>
      <p:sp>
        <p:nvSpPr>
          <p:cNvPr id="65" name="TextBox 64"/>
          <p:cNvSpPr txBox="1"/>
          <p:nvPr/>
        </p:nvSpPr>
        <p:spPr>
          <a:xfrm>
            <a:off x="276225" y="5428488"/>
            <a:ext cx="2634071" cy="194310"/>
          </a:xfrm>
          <a:prstGeom prst="rect">
            <a:avLst/>
          </a:prstGeom>
          <a:noFill/>
        </p:spPr>
        <p:txBody>
          <a:bodyPr wrap="none" lIns="0" rIns="0" tIns="0" bIns="0">
            <a:spAutoFit/>
          </a:bodyPr>
          <a:lstStyle/>
          <a:p>
            <a:r>
              <a:rPr sz="1150" b="0">
                <a:solidFill>
                  <a:srgbClr val="2E2E2E"/>
                </a:solidFill>
                <a:latin typeface="Calibri"/>
              </a:rPr>
              <a:t>▪ Likely (base forecast): the market reaches</a:t>
            </a:r>
          </a:p>
        </p:txBody>
      </p:sp>
      <p:pic>
        <p:nvPicPr>
          <p:cNvPr id="66" name="Picture 65" descr="lock.png"/>
          <p:cNvPicPr>
            <a:picLocks noChangeAspect="1"/>
          </p:cNvPicPr>
          <p:nvPr/>
        </p:nvPicPr>
        <p:blipFill>
          <a:blip r:embed="rId5"/>
          <a:stretch>
            <a:fillRect/>
          </a:stretch>
        </p:blipFill>
        <p:spPr>
          <a:xfrm>
            <a:off x="2859450" y="5418264"/>
            <a:ext cx="134549" cy="195707"/>
          </a:xfrm>
          <a:prstGeom prst="rect">
            <a:avLst/>
          </a:prstGeom>
        </p:spPr>
      </p:pic>
      <p:sp>
        <p:nvSpPr>
          <p:cNvPr id="67" name="TextBox 66"/>
          <p:cNvSpPr txBox="1"/>
          <p:nvPr/>
        </p:nvSpPr>
        <p:spPr>
          <a:xfrm>
            <a:off x="3034559" y="5428488"/>
            <a:ext cx="1203808" cy="194310"/>
          </a:xfrm>
          <a:prstGeom prst="rect">
            <a:avLst/>
          </a:prstGeom>
          <a:noFill/>
        </p:spPr>
        <p:txBody>
          <a:bodyPr wrap="none" lIns="0" rIns="0" tIns="0" bIns="0">
            <a:spAutoFit/>
          </a:bodyPr>
          <a:lstStyle/>
          <a:p>
            <a:r>
              <a:rPr sz="1150" b="0">
                <a:solidFill>
                  <a:srgbClr val="2E2E2E"/>
                </a:solidFill>
                <a:latin typeface="Calibri"/>
              </a:rPr>
              <a:t>US$ Mn by 2036 at</a:t>
            </a:r>
          </a:p>
        </p:txBody>
      </p:sp>
      <p:pic>
        <p:nvPicPr>
          <p:cNvPr id="68" name="Picture 67" descr="lock.png"/>
          <p:cNvPicPr>
            <a:picLocks noChangeAspect="1"/>
          </p:cNvPicPr>
          <p:nvPr/>
        </p:nvPicPr>
        <p:blipFill>
          <a:blip r:embed="rId5"/>
          <a:stretch>
            <a:fillRect/>
          </a:stretch>
        </p:blipFill>
        <p:spPr>
          <a:xfrm>
            <a:off x="4187522" y="5418264"/>
            <a:ext cx="134549" cy="195707"/>
          </a:xfrm>
          <a:prstGeom prst="rect">
            <a:avLst/>
          </a:prstGeom>
        </p:spPr>
      </p:pic>
      <p:sp>
        <p:nvSpPr>
          <p:cNvPr id="69" name="TextBox 68"/>
          <p:cNvSpPr txBox="1"/>
          <p:nvPr/>
        </p:nvSpPr>
        <p:spPr>
          <a:xfrm>
            <a:off x="4362631" y="5428488"/>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70" name="TextBox 69"/>
          <p:cNvSpPr txBox="1"/>
          <p:nvPr/>
        </p:nvSpPr>
        <p:spPr>
          <a:xfrm>
            <a:off x="276225" y="5656325"/>
            <a:ext cx="2155415" cy="194310"/>
          </a:xfrm>
          <a:prstGeom prst="rect">
            <a:avLst/>
          </a:prstGeom>
          <a:noFill/>
        </p:spPr>
        <p:txBody>
          <a:bodyPr wrap="none" lIns="0" rIns="0" tIns="0" bIns="0">
            <a:spAutoFit/>
          </a:bodyPr>
          <a:lstStyle/>
          <a:p>
            <a:r>
              <a:rPr sz="1150" b="0">
                <a:solidFill>
                  <a:srgbClr val="2E2E2E"/>
                </a:solidFill>
                <a:latin typeface="Calibri"/>
              </a:rPr>
              <a:t>▪ Conservative: the market reaches</a:t>
            </a:r>
          </a:p>
        </p:txBody>
      </p:sp>
      <p:pic>
        <p:nvPicPr>
          <p:cNvPr id="71" name="Picture 70" descr="lock.png"/>
          <p:cNvPicPr>
            <a:picLocks noChangeAspect="1"/>
          </p:cNvPicPr>
          <p:nvPr/>
        </p:nvPicPr>
        <p:blipFill>
          <a:blip r:embed="rId5"/>
          <a:stretch>
            <a:fillRect/>
          </a:stretch>
        </p:blipFill>
        <p:spPr>
          <a:xfrm>
            <a:off x="2380794" y="5646102"/>
            <a:ext cx="134549" cy="195707"/>
          </a:xfrm>
          <a:prstGeom prst="rect">
            <a:avLst/>
          </a:prstGeom>
        </p:spPr>
      </p:pic>
      <p:sp>
        <p:nvSpPr>
          <p:cNvPr id="72" name="TextBox 71"/>
          <p:cNvSpPr txBox="1"/>
          <p:nvPr/>
        </p:nvSpPr>
        <p:spPr>
          <a:xfrm>
            <a:off x="2555903" y="5656325"/>
            <a:ext cx="1203808" cy="194310"/>
          </a:xfrm>
          <a:prstGeom prst="rect">
            <a:avLst/>
          </a:prstGeom>
          <a:noFill/>
        </p:spPr>
        <p:txBody>
          <a:bodyPr wrap="none" lIns="0" rIns="0" tIns="0" bIns="0">
            <a:spAutoFit/>
          </a:bodyPr>
          <a:lstStyle/>
          <a:p>
            <a:r>
              <a:rPr sz="1150" b="0">
                <a:solidFill>
                  <a:srgbClr val="2E2E2E"/>
                </a:solidFill>
                <a:latin typeface="Calibri"/>
              </a:rPr>
              <a:t>US$ Mn by 2036 at</a:t>
            </a:r>
          </a:p>
        </p:txBody>
      </p:sp>
      <p:pic>
        <p:nvPicPr>
          <p:cNvPr id="73" name="Picture 72" descr="lock.png"/>
          <p:cNvPicPr>
            <a:picLocks noChangeAspect="1"/>
          </p:cNvPicPr>
          <p:nvPr/>
        </p:nvPicPr>
        <p:blipFill>
          <a:blip r:embed="rId5"/>
          <a:stretch>
            <a:fillRect/>
          </a:stretch>
        </p:blipFill>
        <p:spPr>
          <a:xfrm>
            <a:off x="3708866" y="5646102"/>
            <a:ext cx="134549" cy="195707"/>
          </a:xfrm>
          <a:prstGeom prst="rect">
            <a:avLst/>
          </a:prstGeom>
        </p:spPr>
      </p:pic>
      <p:sp>
        <p:nvSpPr>
          <p:cNvPr id="74" name="TextBox 73"/>
          <p:cNvSpPr txBox="1"/>
          <p:nvPr/>
        </p:nvSpPr>
        <p:spPr>
          <a:xfrm>
            <a:off x="3883975" y="5656325"/>
            <a:ext cx="3198000" cy="194310"/>
          </a:xfrm>
          <a:prstGeom prst="rect">
            <a:avLst/>
          </a:prstGeom>
          <a:noFill/>
        </p:spPr>
        <p:txBody>
          <a:bodyPr wrap="none" lIns="0" rIns="0" tIns="0" bIns="0">
            <a:spAutoFit/>
          </a:bodyPr>
          <a:lstStyle/>
          <a:p>
            <a:r>
              <a:rPr sz="1150" b="0">
                <a:solidFill>
                  <a:srgbClr val="2E2E2E"/>
                </a:solidFill>
                <a:latin typeface="Calibri"/>
              </a:rPr>
              <a:t>CAGR, assuming slower adoption and tighter pricing.</a:t>
            </a:r>
          </a:p>
        </p:txBody>
      </p:sp>
      <p:sp>
        <p:nvSpPr>
          <p:cNvPr id="75" name="TextBox 74"/>
          <p:cNvSpPr txBox="1"/>
          <p:nvPr/>
        </p:nvSpPr>
        <p:spPr>
          <a:xfrm>
            <a:off x="276225" y="5884163"/>
            <a:ext cx="4386671" cy="194310"/>
          </a:xfrm>
          <a:prstGeom prst="rect">
            <a:avLst/>
          </a:prstGeom>
          <a:noFill/>
        </p:spPr>
        <p:txBody>
          <a:bodyPr wrap="none" lIns="0" rIns="0" tIns="0" bIns="0">
            <a:spAutoFit/>
          </a:bodyPr>
          <a:lstStyle/>
          <a:p>
            <a:r>
              <a:rPr sz="1150" b="0">
                <a:solidFill>
                  <a:srgbClr val="2E2E2E"/>
                </a:solidFill>
                <a:latin typeface="Calibri"/>
              </a:rPr>
              <a:t>▪ Scenarios flex the base forecast's year-on-year growth by plus or minus</a:t>
            </a:r>
          </a:p>
        </p:txBody>
      </p:sp>
      <p:pic>
        <p:nvPicPr>
          <p:cNvPr id="76" name="Picture 75" descr="lock.png"/>
          <p:cNvPicPr>
            <a:picLocks noChangeAspect="1"/>
          </p:cNvPicPr>
          <p:nvPr/>
        </p:nvPicPr>
        <p:blipFill>
          <a:blip r:embed="rId5"/>
          <a:stretch>
            <a:fillRect/>
          </a:stretch>
        </p:blipFill>
        <p:spPr>
          <a:xfrm>
            <a:off x="4612050" y="5873940"/>
            <a:ext cx="134549" cy="195707"/>
          </a:xfrm>
          <a:prstGeom prst="rect">
            <a:avLst/>
          </a:prstGeom>
        </p:spPr>
      </p:pic>
      <p:sp>
        <p:nvSpPr>
          <p:cNvPr id="77" name="TextBox 76"/>
          <p:cNvSpPr txBox="1"/>
          <p:nvPr/>
        </p:nvSpPr>
        <p:spPr>
          <a:xfrm>
            <a:off x="4787159" y="5884163"/>
            <a:ext cx="1158168" cy="194310"/>
          </a:xfrm>
          <a:prstGeom prst="rect">
            <a:avLst/>
          </a:prstGeom>
          <a:noFill/>
        </p:spPr>
        <p:txBody>
          <a:bodyPr wrap="none" lIns="0" rIns="0" tIns="0" bIns="0">
            <a:spAutoFit/>
          </a:bodyPr>
          <a:lstStyle/>
          <a:p>
            <a:r>
              <a:rPr sz="1150" b="0">
                <a:solidFill>
                  <a:srgbClr val="2E2E2E"/>
                </a:solidFill>
                <a:latin typeface="Calibri"/>
              </a:rPr>
              <a:t>across 2026-2036.</a:t>
            </a:r>
          </a:p>
        </p:txBody>
      </p:sp>
      <p:sp>
        <p:nvSpPr>
          <p:cNvPr id="78" name="TextBox 77"/>
          <p:cNvSpPr txBox="1"/>
          <p:nvPr/>
        </p:nvSpPr>
        <p:spPr>
          <a:xfrm>
            <a:off x="276225" y="6112001"/>
            <a:ext cx="3829856" cy="194310"/>
          </a:xfrm>
          <a:prstGeom prst="rect">
            <a:avLst/>
          </a:prstGeom>
          <a:noFill/>
        </p:spPr>
        <p:txBody>
          <a:bodyPr wrap="none" lIns="0" rIns="0" tIns="0" bIns="0">
            <a:spAutoFit/>
          </a:bodyPr>
          <a:lstStyle/>
          <a:p>
            <a:r>
              <a:rPr sz="1150" b="0">
                <a:solidFill>
                  <a:srgbClr val="2E2E2E"/>
                </a:solidFill>
                <a:latin typeface="Calibri"/>
              </a:rPr>
              <a:t>▪ The gap between the optimistic and conservative outcomes is</a:t>
            </a:r>
          </a:p>
        </p:txBody>
      </p:sp>
      <p:pic>
        <p:nvPicPr>
          <p:cNvPr id="79" name="Picture 78" descr="lock.png"/>
          <p:cNvPicPr>
            <a:picLocks noChangeAspect="1"/>
          </p:cNvPicPr>
          <p:nvPr/>
        </p:nvPicPr>
        <p:blipFill>
          <a:blip r:embed="rId5"/>
          <a:stretch>
            <a:fillRect/>
          </a:stretch>
        </p:blipFill>
        <p:spPr>
          <a:xfrm>
            <a:off x="4055235" y="6101778"/>
            <a:ext cx="134549" cy="195707"/>
          </a:xfrm>
          <a:prstGeom prst="rect">
            <a:avLst/>
          </a:prstGeom>
        </p:spPr>
      </p:pic>
      <p:sp>
        <p:nvSpPr>
          <p:cNvPr id="80" name="TextBox 79"/>
          <p:cNvSpPr txBox="1"/>
          <p:nvPr/>
        </p:nvSpPr>
        <p:spPr>
          <a:xfrm>
            <a:off x="4230344" y="6112001"/>
            <a:ext cx="5341416" cy="194310"/>
          </a:xfrm>
          <a:prstGeom prst="rect">
            <a:avLst/>
          </a:prstGeom>
          <a:noFill/>
        </p:spPr>
        <p:txBody>
          <a:bodyPr wrap="none" lIns="0" rIns="0" tIns="0" bIns="0">
            <a:spAutoFit/>
          </a:bodyPr>
          <a:lstStyle/>
          <a:p>
            <a:r>
              <a:rPr sz="1150" b="0">
                <a:solidFill>
                  <a:srgbClr val="2E2E2E"/>
                </a:solidFill>
                <a:latin typeface="Calibri"/>
              </a:rPr>
              <a:t>US$ Mn in 2036, which frames the planning range for capacity and investment decisions.</a:t>
            </a:r>
          </a:p>
        </p:txBody>
      </p:sp>
      <p:sp>
        <p:nvSpPr>
          <p:cNvPr id="81" name="lockshield_36"/>
          <p:cNvSpPr/>
          <p:nvPr/>
        </p:nvSpPr>
        <p:spPr>
          <a:xfrm>
            <a:off x="6267450" y="21812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2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10</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55587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898775"/>
            <a:ext cx="8572500" cy="514350"/>
          </a:xfrm>
          <a:prstGeom prst="rect">
            <a:avLst/>
          </a:prstGeom>
          <a:noFill/>
        </p:spPr>
        <p:txBody>
          <a:bodyPr wrap="square" lIns="0" rIns="0" tIns="0">
            <a:spAutoFit/>
          </a:bodyPr>
          <a:lstStyle/>
          <a:p>
            <a:r>
              <a:rPr sz="3000" b="1">
                <a:solidFill>
                  <a:srgbClr val="0B3C8C"/>
                </a:solidFill>
                <a:latin typeface="Calibri"/>
              </a:rPr>
              <a:t>North America Market Analysis By Country</a:t>
            </a:r>
          </a:p>
        </p:txBody>
      </p:sp>
      <p:sp>
        <p:nvSpPr>
          <p:cNvPr id="11" name="TextBox 10"/>
          <p:cNvSpPr txBox="1"/>
          <p:nvPr/>
        </p:nvSpPr>
        <p:spPr>
          <a:xfrm>
            <a:off x="914400" y="3584575"/>
            <a:ext cx="8458200" cy="16700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North America Removable Partial Dentures – Country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Analysis By Country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Share Analysis By Country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Share Analysis By Country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Removable Partial Dentures – Country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analysis of size, growth and share across 2 countries, highlighting where value concentrates,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By Country view breaks the North America market down geographically. Each country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Country</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U.S.</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Canada</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By Country split shows where market value concentrates and where growth is fastest.</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demand and access dynamics are rebalancing the geographic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0" name="Picture 49" descr="lock.png"/>
          <p:cNvPicPr>
            <a:picLocks noChangeAspect="1"/>
          </p:cNvPicPr>
          <p:nvPr/>
        </p:nvPicPr>
        <p:blipFill>
          <a:blip r:embed="rId4"/>
          <a:stretch>
            <a:fillRect/>
          </a:stretch>
        </p:blipFill>
        <p:spPr>
          <a:xfrm>
            <a:off x="4250888" y="2339922"/>
            <a:ext cx="175498" cy="255270"/>
          </a:xfrm>
          <a:prstGeom prst="rect">
            <a:avLst/>
          </a:prstGeom>
        </p:spPr>
      </p:pic>
      <p:pic>
        <p:nvPicPr>
          <p:cNvPr id="51" name="Picture 50" descr="lock.png"/>
          <p:cNvPicPr>
            <a:picLocks noChangeAspect="1"/>
          </p:cNvPicPr>
          <p:nvPr/>
        </p:nvPicPr>
        <p:blipFill>
          <a:blip r:embed="rId4"/>
          <a:stretch>
            <a:fillRect/>
          </a:stretch>
        </p:blipFill>
        <p:spPr>
          <a:xfrm>
            <a:off x="4250888" y="2832772"/>
            <a:ext cx="175498" cy="255270"/>
          </a:xfrm>
          <a:prstGeom prst="rect">
            <a:avLst/>
          </a:prstGeom>
        </p:spPr>
      </p:pic>
      <p:pic>
        <p:nvPicPr>
          <p:cNvPr id="52" name="Picture 51" descr="lock.png"/>
          <p:cNvPicPr>
            <a:picLocks noChangeAspect="1"/>
          </p:cNvPicPr>
          <p:nvPr/>
        </p:nvPicPr>
        <p:blipFill>
          <a:blip r:embed="rId4"/>
          <a:stretch>
            <a:fillRect/>
          </a:stretch>
        </p:blipFill>
        <p:spPr>
          <a:xfrm>
            <a:off x="4250888" y="3325622"/>
            <a:ext cx="175498" cy="255270"/>
          </a:xfrm>
          <a:prstGeom prst="rect">
            <a:avLst/>
          </a:prstGeom>
        </p:spPr>
      </p:pic>
      <p:pic>
        <p:nvPicPr>
          <p:cNvPr id="53" name="Picture 52" descr="lock.png"/>
          <p:cNvPicPr>
            <a:picLocks noChangeAspect="1"/>
          </p:cNvPicPr>
          <p:nvPr/>
        </p:nvPicPr>
        <p:blipFill>
          <a:blip r:embed="rId4"/>
          <a:stretch>
            <a:fillRect/>
          </a:stretch>
        </p:blipFill>
        <p:spPr>
          <a:xfrm>
            <a:off x="9308663" y="2339922"/>
            <a:ext cx="175498" cy="255270"/>
          </a:xfrm>
          <a:prstGeom prst="rect">
            <a:avLst/>
          </a:prstGeom>
        </p:spPr>
      </p:pic>
      <p:pic>
        <p:nvPicPr>
          <p:cNvPr id="54" name="Picture 53" descr="lock.png"/>
          <p:cNvPicPr>
            <a:picLocks noChangeAspect="1"/>
          </p:cNvPicPr>
          <p:nvPr/>
        </p:nvPicPr>
        <p:blipFill>
          <a:blip r:embed="rId4"/>
          <a:stretch>
            <a:fillRect/>
          </a:stretch>
        </p:blipFill>
        <p:spPr>
          <a:xfrm>
            <a:off x="9308663" y="2832772"/>
            <a:ext cx="175498" cy="255270"/>
          </a:xfrm>
          <a:prstGeom prst="rect">
            <a:avLst/>
          </a:prstGeom>
        </p:spPr>
      </p:pic>
      <p:pic>
        <p:nvPicPr>
          <p:cNvPr id="55" name="Picture 54" descr="lock.png"/>
          <p:cNvPicPr>
            <a:picLocks noChangeAspect="1"/>
          </p:cNvPicPr>
          <p:nvPr/>
        </p:nvPicPr>
        <p:blipFill>
          <a:blip r:embed="rId4"/>
          <a:stretch>
            <a:fillRect/>
          </a:stretch>
        </p:blipFill>
        <p:spPr>
          <a:xfrm>
            <a:off x="9308663" y="3325622"/>
            <a:ext cx="175498" cy="255270"/>
          </a:xfrm>
          <a:prstGeom prst="rect">
            <a:avLst/>
          </a:prstGeom>
        </p:spPr>
      </p:pic>
      <p:sp>
        <p:nvSpPr>
          <p:cNvPr id="56" name="TextBox 55"/>
          <p:cNvSpPr txBox="1"/>
          <p:nvPr/>
        </p:nvSpPr>
        <p:spPr>
          <a:xfrm>
            <a:off x="485775" y="4229437"/>
            <a:ext cx="2875929" cy="186689"/>
          </a:xfrm>
          <a:prstGeom prst="rect">
            <a:avLst/>
          </a:prstGeom>
          <a:noFill/>
        </p:spPr>
        <p:txBody>
          <a:bodyPr wrap="none" lIns="0" rIns="0" tIns="0" bIns="0">
            <a:spAutoFit/>
          </a:bodyPr>
          <a:lstStyle/>
          <a:p>
            <a:r>
              <a:rPr sz="1100" b="0">
                <a:solidFill>
                  <a:srgbClr val="2E2E2E"/>
                </a:solidFill>
                <a:latin typeface="Calibri"/>
              </a:rPr>
              <a:t>▪ ¶ The U.S. removable partial dentures market is</a:t>
            </a:r>
          </a:p>
        </p:txBody>
      </p:sp>
      <p:sp>
        <p:nvSpPr>
          <p:cNvPr id="57" name="TextBox 56"/>
          <p:cNvSpPr txBox="1"/>
          <p:nvPr/>
        </p:nvSpPr>
        <p:spPr>
          <a:xfrm>
            <a:off x="485775" y="4397077"/>
            <a:ext cx="1244550" cy="186689"/>
          </a:xfrm>
          <a:prstGeom prst="rect">
            <a:avLst/>
          </a:prstGeom>
          <a:noFill/>
        </p:spPr>
        <p:txBody>
          <a:bodyPr wrap="none" lIns="0" rIns="0" tIns="0" bIns="0">
            <a:spAutoFit/>
          </a:bodyPr>
          <a:lstStyle/>
          <a:p>
            <a:r>
              <a:rPr sz="1100" b="0">
                <a:solidFill>
                  <a:srgbClr val="2E2E2E"/>
                </a:solidFill>
                <a:latin typeface="Calibri"/>
              </a:rPr>
              <a:t>projected to register</a:t>
            </a:r>
          </a:p>
        </p:txBody>
      </p:sp>
      <p:pic>
        <p:nvPicPr>
          <p:cNvPr id="58" name="Picture 57" descr="lock.png"/>
          <p:cNvPicPr>
            <a:picLocks noChangeAspect="1"/>
          </p:cNvPicPr>
          <p:nvPr/>
        </p:nvPicPr>
        <p:blipFill>
          <a:blip r:embed="rId4"/>
          <a:stretch>
            <a:fillRect/>
          </a:stretch>
        </p:blipFill>
        <p:spPr>
          <a:xfrm>
            <a:off x="1678376" y="4387298"/>
            <a:ext cx="128699" cy="187198"/>
          </a:xfrm>
          <a:prstGeom prst="rect">
            <a:avLst/>
          </a:prstGeom>
        </p:spPr>
      </p:pic>
      <p:sp>
        <p:nvSpPr>
          <p:cNvPr id="59" name="TextBox 58"/>
          <p:cNvSpPr txBox="1"/>
          <p:nvPr/>
        </p:nvSpPr>
        <p:spPr>
          <a:xfrm>
            <a:off x="1845872" y="4397077"/>
            <a:ext cx="1172517" cy="186689"/>
          </a:xfrm>
          <a:prstGeom prst="rect">
            <a:avLst/>
          </a:prstGeom>
          <a:noFill/>
        </p:spPr>
        <p:txBody>
          <a:bodyPr wrap="none" lIns="0" rIns="0" tIns="0" bIns="0">
            <a:spAutoFit/>
          </a:bodyPr>
          <a:lstStyle/>
          <a:p>
            <a:r>
              <a:rPr sz="1100" b="0">
                <a:solidFill>
                  <a:srgbClr val="2E2E2E"/>
                </a:solidFill>
                <a:latin typeface="Calibri"/>
              </a:rPr>
              <a:t>X higher value than</a:t>
            </a:r>
          </a:p>
        </p:txBody>
      </p:sp>
      <p:sp>
        <p:nvSpPr>
          <p:cNvPr id="60" name="TextBox 59"/>
          <p:cNvSpPr txBox="1"/>
          <p:nvPr/>
        </p:nvSpPr>
        <p:spPr>
          <a:xfrm>
            <a:off x="485775" y="4564717"/>
            <a:ext cx="2462014" cy="186689"/>
          </a:xfrm>
          <a:prstGeom prst="rect">
            <a:avLst/>
          </a:prstGeom>
          <a:noFill/>
        </p:spPr>
        <p:txBody>
          <a:bodyPr wrap="none" lIns="0" rIns="0" tIns="0" bIns="0">
            <a:spAutoFit/>
          </a:bodyPr>
          <a:lstStyle/>
          <a:p>
            <a:r>
              <a:rPr sz="1100" b="0">
                <a:solidFill>
                  <a:srgbClr val="2E2E2E"/>
                </a:solidFill>
                <a:latin typeface="Calibri"/>
              </a:rPr>
              <a:t>Canada in 2036. Among removable partial</a:t>
            </a:r>
          </a:p>
        </p:txBody>
      </p:sp>
      <p:sp>
        <p:nvSpPr>
          <p:cNvPr id="61" name="TextBox 60"/>
          <p:cNvSpPr txBox="1"/>
          <p:nvPr/>
        </p:nvSpPr>
        <p:spPr>
          <a:xfrm>
            <a:off x="485775" y="4732357"/>
            <a:ext cx="2537593" cy="186689"/>
          </a:xfrm>
          <a:prstGeom prst="rect">
            <a:avLst/>
          </a:prstGeom>
          <a:noFill/>
        </p:spPr>
        <p:txBody>
          <a:bodyPr wrap="none" lIns="0" rIns="0" tIns="0" bIns="0">
            <a:spAutoFit/>
          </a:bodyPr>
          <a:lstStyle/>
          <a:p>
            <a:r>
              <a:rPr sz="1100" b="0">
                <a:solidFill>
                  <a:srgbClr val="2E2E2E"/>
                </a:solidFill>
                <a:latin typeface="Calibri"/>
              </a:rPr>
              <a:t>dentures by country, Canada is expected to</a:t>
            </a:r>
          </a:p>
        </p:txBody>
      </p:sp>
      <p:sp>
        <p:nvSpPr>
          <p:cNvPr id="62" name="TextBox 61"/>
          <p:cNvSpPr txBox="1"/>
          <p:nvPr/>
        </p:nvSpPr>
        <p:spPr>
          <a:xfrm>
            <a:off x="485775" y="4899997"/>
            <a:ext cx="1675093" cy="186689"/>
          </a:xfrm>
          <a:prstGeom prst="rect">
            <a:avLst/>
          </a:prstGeom>
          <a:noFill/>
        </p:spPr>
        <p:txBody>
          <a:bodyPr wrap="none" lIns="0" rIns="0" tIns="0" bIns="0">
            <a:spAutoFit/>
          </a:bodyPr>
          <a:lstStyle/>
          <a:p>
            <a:r>
              <a:rPr sz="1100" b="0">
                <a:solidFill>
                  <a:srgbClr val="2E2E2E"/>
                </a:solidFill>
                <a:latin typeface="Calibri"/>
              </a:rPr>
              <a:t>witness the highest CAGR of</a:t>
            </a:r>
          </a:p>
        </p:txBody>
      </p:sp>
      <p:pic>
        <p:nvPicPr>
          <p:cNvPr id="63" name="Picture 62" descr="lock.png"/>
          <p:cNvPicPr>
            <a:picLocks noChangeAspect="1"/>
          </p:cNvPicPr>
          <p:nvPr/>
        </p:nvPicPr>
        <p:blipFill>
          <a:blip r:embed="rId4"/>
          <a:stretch>
            <a:fillRect/>
          </a:stretch>
        </p:blipFill>
        <p:spPr>
          <a:xfrm>
            <a:off x="2108919" y="4890217"/>
            <a:ext cx="128699" cy="187198"/>
          </a:xfrm>
          <a:prstGeom prst="rect">
            <a:avLst/>
          </a:prstGeom>
        </p:spPr>
      </p:pic>
      <p:sp>
        <p:nvSpPr>
          <p:cNvPr id="64" name="TextBox 63"/>
          <p:cNvSpPr txBox="1"/>
          <p:nvPr/>
        </p:nvSpPr>
        <p:spPr>
          <a:xfrm>
            <a:off x="2276415" y="4899997"/>
            <a:ext cx="1046733" cy="186689"/>
          </a:xfrm>
          <a:prstGeom prst="rect">
            <a:avLst/>
          </a:prstGeom>
          <a:noFill/>
        </p:spPr>
        <p:txBody>
          <a:bodyPr wrap="none" lIns="0" rIns="0" tIns="0" bIns="0">
            <a:spAutoFit/>
          </a:bodyPr>
          <a:lstStyle/>
          <a:p>
            <a:r>
              <a:rPr sz="1100" b="0">
                <a:solidFill>
                  <a:srgbClr val="2E2E2E"/>
                </a:solidFill>
                <a:latin typeface="Calibri"/>
              </a:rPr>
              <a:t>over the forecast</a:t>
            </a:r>
          </a:p>
        </p:txBody>
      </p:sp>
      <p:sp>
        <p:nvSpPr>
          <p:cNvPr id="65" name="TextBox 64"/>
          <p:cNvSpPr txBox="1"/>
          <p:nvPr/>
        </p:nvSpPr>
        <p:spPr>
          <a:xfrm>
            <a:off x="485775" y="5067637"/>
            <a:ext cx="482475" cy="186689"/>
          </a:xfrm>
          <a:prstGeom prst="rect">
            <a:avLst/>
          </a:prstGeom>
          <a:noFill/>
        </p:spPr>
        <p:txBody>
          <a:bodyPr wrap="none" lIns="0" rIns="0" tIns="0" bIns="0">
            <a:spAutoFit/>
          </a:bodyPr>
          <a:lstStyle/>
          <a:p>
            <a:r>
              <a:rPr sz="1100" b="0">
                <a:solidFill>
                  <a:srgbClr val="2E2E2E"/>
                </a:solidFill>
                <a:latin typeface="Calibri"/>
              </a:rPr>
              <a:t>period.</a:t>
            </a:r>
          </a:p>
        </p:txBody>
      </p:sp>
      <p:sp>
        <p:nvSpPr>
          <p:cNvPr id="66" name="TextBox 65"/>
          <p:cNvSpPr txBox="1"/>
          <p:nvPr/>
        </p:nvSpPr>
        <p:spPr>
          <a:xfrm>
            <a:off x="485775" y="5285569"/>
            <a:ext cx="2619995" cy="186689"/>
          </a:xfrm>
          <a:prstGeom prst="rect">
            <a:avLst/>
          </a:prstGeom>
          <a:noFill/>
        </p:spPr>
        <p:txBody>
          <a:bodyPr wrap="none" lIns="0" rIns="0" tIns="0" bIns="0">
            <a:spAutoFit/>
          </a:bodyPr>
          <a:lstStyle/>
          <a:p>
            <a:r>
              <a:rPr sz="1100" b="0">
                <a:solidFill>
                  <a:srgbClr val="2E2E2E"/>
                </a:solidFill>
                <a:latin typeface="Calibri"/>
              </a:rPr>
              <a:t>▪ ¶ In terms of value share by country, U.S. is</a:t>
            </a:r>
          </a:p>
        </p:txBody>
      </p:sp>
      <p:sp>
        <p:nvSpPr>
          <p:cNvPr id="67" name="TextBox 66"/>
          <p:cNvSpPr txBox="1"/>
          <p:nvPr/>
        </p:nvSpPr>
        <p:spPr>
          <a:xfrm>
            <a:off x="485775" y="5453209"/>
            <a:ext cx="2388889" cy="186689"/>
          </a:xfrm>
          <a:prstGeom prst="rect">
            <a:avLst/>
          </a:prstGeom>
          <a:noFill/>
        </p:spPr>
        <p:txBody>
          <a:bodyPr wrap="none" lIns="0" rIns="0" tIns="0" bIns="0">
            <a:spAutoFit/>
          </a:bodyPr>
          <a:lstStyle/>
          <a:p>
            <a:r>
              <a:rPr sz="1100" b="0">
                <a:solidFill>
                  <a:srgbClr val="2E2E2E"/>
                </a:solidFill>
                <a:latin typeface="Calibri"/>
              </a:rPr>
              <a:t>expected to dominate the market, losing</a:t>
            </a:r>
          </a:p>
        </p:txBody>
      </p:sp>
      <p:pic>
        <p:nvPicPr>
          <p:cNvPr id="68" name="Picture 67" descr="lock.png"/>
          <p:cNvPicPr>
            <a:picLocks noChangeAspect="1"/>
          </p:cNvPicPr>
          <p:nvPr/>
        </p:nvPicPr>
        <p:blipFill>
          <a:blip r:embed="rId4"/>
          <a:stretch>
            <a:fillRect/>
          </a:stretch>
        </p:blipFill>
        <p:spPr>
          <a:xfrm>
            <a:off x="2822716" y="5443430"/>
            <a:ext cx="128699" cy="187198"/>
          </a:xfrm>
          <a:prstGeom prst="rect">
            <a:avLst/>
          </a:prstGeom>
        </p:spPr>
      </p:pic>
      <p:sp>
        <p:nvSpPr>
          <p:cNvPr id="69" name="TextBox 68"/>
          <p:cNvSpPr txBox="1"/>
          <p:nvPr/>
        </p:nvSpPr>
        <p:spPr>
          <a:xfrm>
            <a:off x="2990212" y="5453209"/>
            <a:ext cx="288751" cy="186689"/>
          </a:xfrm>
          <a:prstGeom prst="rect">
            <a:avLst/>
          </a:prstGeom>
          <a:noFill/>
        </p:spPr>
        <p:txBody>
          <a:bodyPr wrap="none" lIns="0" rIns="0" tIns="0" bIns="0">
            <a:spAutoFit/>
          </a:bodyPr>
          <a:lstStyle/>
          <a:p>
            <a:r>
              <a:rPr sz="1100" b="0">
                <a:solidFill>
                  <a:srgbClr val="2E2E2E"/>
                </a:solidFill>
                <a:latin typeface="Calibri"/>
              </a:rPr>
              <a:t>BPS</a:t>
            </a:r>
          </a:p>
        </p:txBody>
      </p:sp>
      <p:sp>
        <p:nvSpPr>
          <p:cNvPr id="70" name="TextBox 69"/>
          <p:cNvSpPr txBox="1"/>
          <p:nvPr/>
        </p:nvSpPr>
        <p:spPr>
          <a:xfrm>
            <a:off x="485775" y="5620849"/>
            <a:ext cx="1142231" cy="186689"/>
          </a:xfrm>
          <a:prstGeom prst="rect">
            <a:avLst/>
          </a:prstGeom>
          <a:noFill/>
        </p:spPr>
        <p:txBody>
          <a:bodyPr wrap="none" lIns="0" rIns="0" tIns="0" bIns="0">
            <a:spAutoFit/>
          </a:bodyPr>
          <a:lstStyle/>
          <a:p>
            <a:r>
              <a:rPr sz="1100" b="0">
                <a:solidFill>
                  <a:srgbClr val="2E2E2E"/>
                </a:solidFill>
                <a:latin typeface="Calibri"/>
              </a:rPr>
              <a:t>and accounting for</a:t>
            </a:r>
          </a:p>
        </p:txBody>
      </p:sp>
      <p:pic>
        <p:nvPicPr>
          <p:cNvPr id="71" name="Picture 70" descr="lock.png"/>
          <p:cNvPicPr>
            <a:picLocks noChangeAspect="1"/>
          </p:cNvPicPr>
          <p:nvPr/>
        </p:nvPicPr>
        <p:blipFill>
          <a:blip r:embed="rId4"/>
          <a:stretch>
            <a:fillRect/>
          </a:stretch>
        </p:blipFill>
        <p:spPr>
          <a:xfrm>
            <a:off x="1576057" y="5611070"/>
            <a:ext cx="128699" cy="187198"/>
          </a:xfrm>
          <a:prstGeom prst="rect">
            <a:avLst/>
          </a:prstGeom>
        </p:spPr>
      </p:pic>
      <p:sp>
        <p:nvSpPr>
          <p:cNvPr id="72" name="TextBox 71"/>
          <p:cNvSpPr txBox="1"/>
          <p:nvPr/>
        </p:nvSpPr>
        <p:spPr>
          <a:xfrm>
            <a:off x="1743553" y="5620849"/>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73" name="TextBox 72"/>
          <p:cNvSpPr txBox="1"/>
          <p:nvPr/>
        </p:nvSpPr>
        <p:spPr>
          <a:xfrm>
            <a:off x="3838575" y="4229437"/>
            <a:ext cx="453826" cy="186689"/>
          </a:xfrm>
          <a:prstGeom prst="rect">
            <a:avLst/>
          </a:prstGeom>
          <a:noFill/>
        </p:spPr>
        <p:txBody>
          <a:bodyPr wrap="none" lIns="0" rIns="0" tIns="0" bIns="0">
            <a:spAutoFit/>
          </a:bodyPr>
          <a:lstStyle/>
          <a:p>
            <a:r>
              <a:rPr sz="1100" b="0">
                <a:solidFill>
                  <a:srgbClr val="2E2E2E"/>
                </a:solidFill>
                <a:latin typeface="Calibri"/>
              </a:rPr>
              <a:t>● U.S.:</a:t>
            </a:r>
          </a:p>
        </p:txBody>
      </p:sp>
      <p:pic>
        <p:nvPicPr>
          <p:cNvPr id="74" name="Picture 73" descr="lock.png"/>
          <p:cNvPicPr>
            <a:picLocks noChangeAspect="1"/>
          </p:cNvPicPr>
          <p:nvPr/>
        </p:nvPicPr>
        <p:blipFill>
          <a:blip r:embed="rId4"/>
          <a:stretch>
            <a:fillRect/>
          </a:stretch>
        </p:blipFill>
        <p:spPr>
          <a:xfrm>
            <a:off x="4240453" y="4219658"/>
            <a:ext cx="128699" cy="187198"/>
          </a:xfrm>
          <a:prstGeom prst="rect">
            <a:avLst/>
          </a:prstGeom>
        </p:spPr>
      </p:pic>
      <p:sp>
        <p:nvSpPr>
          <p:cNvPr id="75" name="TextBox 74"/>
          <p:cNvSpPr txBox="1"/>
          <p:nvPr/>
        </p:nvSpPr>
        <p:spPr>
          <a:xfrm>
            <a:off x="4407948"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6" name="Picture 75" descr="lock.png"/>
          <p:cNvPicPr>
            <a:picLocks noChangeAspect="1"/>
          </p:cNvPicPr>
          <p:nvPr/>
        </p:nvPicPr>
        <p:blipFill>
          <a:blip r:embed="rId4"/>
          <a:stretch>
            <a:fillRect/>
          </a:stretch>
        </p:blipFill>
        <p:spPr>
          <a:xfrm>
            <a:off x="5267399" y="4219658"/>
            <a:ext cx="128699" cy="187198"/>
          </a:xfrm>
          <a:prstGeom prst="rect">
            <a:avLst/>
          </a:prstGeom>
        </p:spPr>
      </p:pic>
      <p:sp>
        <p:nvSpPr>
          <p:cNvPr id="77" name="TextBox 76"/>
          <p:cNvSpPr txBox="1"/>
          <p:nvPr/>
        </p:nvSpPr>
        <p:spPr>
          <a:xfrm>
            <a:off x="5434895" y="4229437"/>
            <a:ext cx="1419431" cy="186689"/>
          </a:xfrm>
          <a:prstGeom prst="rect">
            <a:avLst/>
          </a:prstGeom>
          <a:noFill/>
        </p:spPr>
        <p:txBody>
          <a:bodyPr wrap="none" lIns="0" rIns="0" tIns="0" bIns="0">
            <a:spAutoFit/>
          </a:bodyPr>
          <a:lstStyle/>
          <a:p>
            <a:r>
              <a:rPr sz="1100" b="0">
                <a:solidFill>
                  <a:srgbClr val="2E2E2E"/>
                </a:solidFill>
                <a:latin typeface="Calibri"/>
              </a:rPr>
              <a:t>CAGR leads the market.</a:t>
            </a:r>
          </a:p>
        </p:txBody>
      </p:sp>
      <p:sp>
        <p:nvSpPr>
          <p:cNvPr id="78" name="TextBox 77"/>
          <p:cNvSpPr txBox="1"/>
          <p:nvPr/>
        </p:nvSpPr>
        <p:spPr>
          <a:xfrm>
            <a:off x="3838575" y="4447369"/>
            <a:ext cx="651371" cy="186689"/>
          </a:xfrm>
          <a:prstGeom prst="rect">
            <a:avLst/>
          </a:prstGeom>
          <a:noFill/>
        </p:spPr>
        <p:txBody>
          <a:bodyPr wrap="none" lIns="0" rIns="0" tIns="0" bIns="0">
            <a:spAutoFit/>
          </a:bodyPr>
          <a:lstStyle/>
          <a:p>
            <a:r>
              <a:rPr sz="1100" b="0">
                <a:solidFill>
                  <a:srgbClr val="2E2E2E"/>
                </a:solidFill>
                <a:latin typeface="Calibri"/>
              </a:rPr>
              <a:t>● Canada:</a:t>
            </a:r>
          </a:p>
        </p:txBody>
      </p:sp>
      <p:pic>
        <p:nvPicPr>
          <p:cNvPr id="79" name="Picture 78" descr="lock.png"/>
          <p:cNvPicPr>
            <a:picLocks noChangeAspect="1"/>
          </p:cNvPicPr>
          <p:nvPr/>
        </p:nvPicPr>
        <p:blipFill>
          <a:blip r:embed="rId4"/>
          <a:stretch>
            <a:fillRect/>
          </a:stretch>
        </p:blipFill>
        <p:spPr>
          <a:xfrm>
            <a:off x="4437997" y="4437590"/>
            <a:ext cx="128699" cy="187198"/>
          </a:xfrm>
          <a:prstGeom prst="rect">
            <a:avLst/>
          </a:prstGeom>
        </p:spPr>
      </p:pic>
      <p:sp>
        <p:nvSpPr>
          <p:cNvPr id="80" name="TextBox 79"/>
          <p:cNvSpPr txBox="1"/>
          <p:nvPr/>
        </p:nvSpPr>
        <p:spPr>
          <a:xfrm>
            <a:off x="4605493"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1" name="Picture 80" descr="lock.png"/>
          <p:cNvPicPr>
            <a:picLocks noChangeAspect="1"/>
          </p:cNvPicPr>
          <p:nvPr/>
        </p:nvPicPr>
        <p:blipFill>
          <a:blip r:embed="rId4"/>
          <a:stretch>
            <a:fillRect/>
          </a:stretch>
        </p:blipFill>
        <p:spPr>
          <a:xfrm>
            <a:off x="5464943" y="4437590"/>
            <a:ext cx="128699" cy="187198"/>
          </a:xfrm>
          <a:prstGeom prst="rect">
            <a:avLst/>
          </a:prstGeom>
        </p:spPr>
      </p:pic>
      <p:sp>
        <p:nvSpPr>
          <p:cNvPr id="82" name="TextBox 81"/>
          <p:cNvSpPr txBox="1"/>
          <p:nvPr/>
        </p:nvSpPr>
        <p:spPr>
          <a:xfrm>
            <a:off x="5632439" y="4447369"/>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83" name="TextBox 82"/>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North America market is projected to grow at a</a:t>
            </a:r>
          </a:p>
        </p:txBody>
      </p:sp>
      <p:sp>
        <p:nvSpPr>
          <p:cNvPr id="84" name="TextBox 83"/>
          <p:cNvSpPr txBox="1"/>
          <p:nvPr/>
        </p:nvSpPr>
        <p:spPr>
          <a:xfrm>
            <a:off x="8524875" y="6017901"/>
            <a:ext cx="574797" cy="194310"/>
          </a:xfrm>
          <a:prstGeom prst="rect">
            <a:avLst/>
          </a:prstGeom>
          <a:noFill/>
        </p:spPr>
        <p:txBody>
          <a:bodyPr wrap="none" lIns="0" rIns="0" tIns="0" bIns="0">
            <a:spAutoFit/>
          </a:bodyPr>
          <a:lstStyle/>
          <a:p>
            <a:r>
              <a:rPr sz="1150" b="1">
                <a:solidFill>
                  <a:srgbClr val="0B2E4A"/>
                </a:solidFill>
                <a:latin typeface="Calibri"/>
              </a:rPr>
              <a:t>CAGR of</a:t>
            </a:r>
          </a:p>
        </p:txBody>
      </p:sp>
      <p:pic>
        <p:nvPicPr>
          <p:cNvPr id="85" name="Picture 84" descr="lock.png"/>
          <p:cNvPicPr>
            <a:picLocks noChangeAspect="1"/>
          </p:cNvPicPr>
          <p:nvPr/>
        </p:nvPicPr>
        <p:blipFill>
          <a:blip r:embed="rId4"/>
          <a:stretch>
            <a:fillRect/>
          </a:stretch>
        </p:blipFill>
        <p:spPr>
          <a:xfrm>
            <a:off x="9048826" y="6007677"/>
            <a:ext cx="134549" cy="195707"/>
          </a:xfrm>
          <a:prstGeom prst="rect">
            <a:avLst/>
          </a:prstGeom>
        </p:spPr>
      </p:pic>
      <p:sp>
        <p:nvSpPr>
          <p:cNvPr id="86" name="TextBox 85"/>
          <p:cNvSpPr txBox="1"/>
          <p:nvPr/>
        </p:nvSpPr>
        <p:spPr>
          <a:xfrm>
            <a:off x="9223935"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Removable Partial Dentures Market Analysis, By Country Volume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share by country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2038901"/>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4712970" y="203413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957939"/>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Canada</a:t>
            </a:r>
          </a:p>
        </p:txBody>
      </p:sp>
      <p:sp>
        <p:nvSpPr>
          <p:cNvPr id="19" name="BPS Value 1"/>
          <p:cNvSpPr txBox="1"/>
          <p:nvPr/>
        </p:nvSpPr>
        <p:spPr>
          <a:xfrm>
            <a:off x="6305550" y="2019851"/>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551045" y="3872464"/>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4712970" y="386770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3791501"/>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U.S.</a:t>
            </a:r>
          </a:p>
        </p:txBody>
      </p:sp>
      <p:sp>
        <p:nvSpPr>
          <p:cNvPr id="23" name="BPS Value 2"/>
          <p:cNvSpPr txBox="1"/>
          <p:nvPr/>
        </p:nvSpPr>
        <p:spPr>
          <a:xfrm>
            <a:off x="6305550" y="3853414"/>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Rounded Rectangle 23"/>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26" name="Rectangle 25"/>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8" name="Rounded Rectangle 27"/>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(UNITS)</a:t>
            </a:r>
          </a:p>
          <a:p>
            <a:pPr algn="ctr">
              <a:lnSpc>
                <a:spcPct val="95000"/>
              </a:lnSpc>
            </a:pPr>
            <a:r>
              <a:rPr sz="2000" b="1">
                <a:solidFill>
                  <a:srgbClr val="0E72AE"/>
                </a:solidFill>
                <a:latin typeface="Calibri"/>
              </a:rPr>
              <a:t> </a:t>
            </a:r>
          </a:p>
        </p:txBody>
      </p:sp>
      <p:sp>
        <p:nvSpPr>
          <p:cNvPr id="29" name="Rounded Rectangle 28"/>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(UNITS)</a:t>
            </a:r>
          </a:p>
          <a:p>
            <a:pPr algn="ctr">
              <a:lnSpc>
                <a:spcPct val="95000"/>
              </a:lnSpc>
            </a:pPr>
            <a:r>
              <a:rPr sz="2000" b="1">
                <a:solidFill>
                  <a:srgbClr val="0E72AE"/>
                </a:solidFill>
                <a:latin typeface="Calibri"/>
              </a:rPr>
              <a:t> </a:t>
            </a:r>
          </a:p>
        </p:txBody>
      </p:sp>
      <p:sp>
        <p:nvSpPr>
          <p:cNvPr id="30" name="Rounded Rectangle 29"/>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 </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5"/>
          <a:stretch>
            <a:fillRect/>
          </a:stretch>
        </p:blipFill>
        <p:spPr>
          <a:xfrm>
            <a:off x="2368867" y="3171825"/>
            <a:ext cx="275034" cy="400050"/>
          </a:xfrm>
          <a:prstGeom prst="rect">
            <a:avLst/>
          </a:prstGeom>
        </p:spPr>
      </p:pic>
      <p:pic>
        <p:nvPicPr>
          <p:cNvPr id="33" name="Picture 32" descr="lock.png"/>
          <p:cNvPicPr>
            <a:picLocks noChangeAspect="1"/>
          </p:cNvPicPr>
          <p:nvPr/>
        </p:nvPicPr>
        <p:blipFill>
          <a:blip r:embed="rId5"/>
          <a:stretch>
            <a:fillRect/>
          </a:stretch>
        </p:blipFill>
        <p:spPr>
          <a:xfrm>
            <a:off x="2009775" y="6070282"/>
            <a:ext cx="209550" cy="304800"/>
          </a:xfrm>
          <a:prstGeom prst="rect">
            <a:avLst/>
          </a:prstGeom>
        </p:spPr>
      </p:pic>
      <p:pic>
        <p:nvPicPr>
          <p:cNvPr id="34" name="Picture 33" descr="lock.png"/>
          <p:cNvPicPr>
            <a:picLocks noChangeAspect="1"/>
          </p:cNvPicPr>
          <p:nvPr/>
        </p:nvPicPr>
        <p:blipFill>
          <a:blip r:embed="rId5"/>
          <a:stretch>
            <a:fillRect/>
          </a:stretch>
        </p:blipFill>
        <p:spPr>
          <a:xfrm>
            <a:off x="6043612" y="6070282"/>
            <a:ext cx="209550" cy="304800"/>
          </a:xfrm>
          <a:prstGeom prst="rect">
            <a:avLst/>
          </a:prstGeom>
        </p:spPr>
      </p:pic>
      <p:pic>
        <p:nvPicPr>
          <p:cNvPr id="35" name="Picture 34" descr="lock.png"/>
          <p:cNvPicPr>
            <a:picLocks noChangeAspect="1"/>
          </p:cNvPicPr>
          <p:nvPr/>
        </p:nvPicPr>
        <p:blipFill>
          <a:blip r:embed="rId5"/>
          <a:stretch>
            <a:fillRect/>
          </a:stretch>
        </p:blipFill>
        <p:spPr>
          <a:xfrm>
            <a:off x="10015537" y="6070282"/>
            <a:ext cx="209550" cy="304800"/>
          </a:xfrm>
          <a:prstGeom prst="rect">
            <a:avLst/>
          </a:prstGeom>
        </p:spPr>
      </p:pic>
      <p:sp>
        <p:nvSpPr>
          <p:cNvPr id="36" name="TextBox 35"/>
          <p:cNvSpPr txBox="1"/>
          <p:nvPr/>
        </p:nvSpPr>
        <p:spPr>
          <a:xfrm>
            <a:off x="7239000" y="1400175"/>
            <a:ext cx="4054350" cy="194310"/>
          </a:xfrm>
          <a:prstGeom prst="rect">
            <a:avLst/>
          </a:prstGeom>
          <a:noFill/>
        </p:spPr>
        <p:txBody>
          <a:bodyPr wrap="none" lIns="0" rIns="0" tIns="0" bIns="0">
            <a:spAutoFit/>
          </a:bodyPr>
          <a:lstStyle/>
          <a:p>
            <a:r>
              <a:rPr sz="1150" b="0">
                <a:solidFill>
                  <a:srgbClr val="2E2E2E"/>
                </a:solidFill>
                <a:latin typeface="Calibri"/>
              </a:rPr>
              <a:t>The U.S. removable partial dentures market is projected to register</a:t>
            </a:r>
          </a:p>
        </p:txBody>
      </p:sp>
      <p:pic>
        <p:nvPicPr>
          <p:cNvPr id="37" name="Picture 36" descr="lock.png"/>
          <p:cNvPicPr>
            <a:picLocks noChangeAspect="1"/>
          </p:cNvPicPr>
          <p:nvPr/>
        </p:nvPicPr>
        <p:blipFill>
          <a:blip r:embed="rId5"/>
          <a:stretch>
            <a:fillRect/>
          </a:stretch>
        </p:blipFill>
        <p:spPr>
          <a:xfrm>
            <a:off x="11242504" y="1389951"/>
            <a:ext cx="134549" cy="195707"/>
          </a:xfrm>
          <a:prstGeom prst="rect">
            <a:avLst/>
          </a:prstGeom>
        </p:spPr>
      </p:pic>
      <p:sp>
        <p:nvSpPr>
          <p:cNvPr id="38" name="TextBox 37"/>
          <p:cNvSpPr txBox="1"/>
          <p:nvPr/>
        </p:nvSpPr>
        <p:spPr>
          <a:xfrm>
            <a:off x="11417614" y="1400175"/>
            <a:ext cx="152077" cy="194310"/>
          </a:xfrm>
          <a:prstGeom prst="rect">
            <a:avLst/>
          </a:prstGeom>
          <a:noFill/>
        </p:spPr>
        <p:txBody>
          <a:bodyPr wrap="none" lIns="0" rIns="0" tIns="0" bIns="0">
            <a:spAutoFit/>
          </a:bodyPr>
          <a:lstStyle/>
          <a:p>
            <a:r>
              <a:rPr sz="1150" b="0">
                <a:solidFill>
                  <a:srgbClr val="2E2E2E"/>
                </a:solidFill>
                <a:latin typeface="Calibri"/>
              </a:rPr>
              <a:t>X</a:t>
            </a:r>
          </a:p>
        </p:txBody>
      </p:sp>
      <p:sp>
        <p:nvSpPr>
          <p:cNvPr id="39" name="TextBox 38"/>
          <p:cNvSpPr txBox="1"/>
          <p:nvPr/>
        </p:nvSpPr>
        <p:spPr>
          <a:xfrm>
            <a:off x="7239000" y="1575435"/>
            <a:ext cx="4506478" cy="194310"/>
          </a:xfrm>
          <a:prstGeom prst="rect">
            <a:avLst/>
          </a:prstGeom>
          <a:noFill/>
        </p:spPr>
        <p:txBody>
          <a:bodyPr wrap="none" lIns="0" rIns="0" tIns="0" bIns="0">
            <a:spAutoFit/>
          </a:bodyPr>
          <a:lstStyle/>
          <a:p>
            <a:r>
              <a:rPr sz="1150" b="0">
                <a:solidFill>
                  <a:srgbClr val="2E2E2E"/>
                </a:solidFill>
                <a:latin typeface="Calibri"/>
              </a:rPr>
              <a:t>higher volume than Canada in 2036. Among removable partial dentures by</a:t>
            </a:r>
          </a:p>
        </p:txBody>
      </p:sp>
      <p:sp>
        <p:nvSpPr>
          <p:cNvPr id="40" name="TextBox 39"/>
          <p:cNvSpPr txBox="1"/>
          <p:nvPr/>
        </p:nvSpPr>
        <p:spPr>
          <a:xfrm>
            <a:off x="7239000" y="1750695"/>
            <a:ext cx="3612189" cy="194310"/>
          </a:xfrm>
          <a:prstGeom prst="rect">
            <a:avLst/>
          </a:prstGeom>
          <a:noFill/>
        </p:spPr>
        <p:txBody>
          <a:bodyPr wrap="none" lIns="0" rIns="0" tIns="0" bIns="0">
            <a:spAutoFit/>
          </a:bodyPr>
          <a:lstStyle/>
          <a:p>
            <a:r>
              <a:rPr sz="1150" b="0">
                <a:solidFill>
                  <a:srgbClr val="2E2E2E"/>
                </a:solidFill>
                <a:latin typeface="Calibri"/>
              </a:rPr>
              <a:t>country, Canada is expected to witness the highest CAGR of</a:t>
            </a:r>
          </a:p>
        </p:txBody>
      </p:sp>
      <p:pic>
        <p:nvPicPr>
          <p:cNvPr id="41" name="Picture 40" descr="lock.png"/>
          <p:cNvPicPr>
            <a:picLocks noChangeAspect="1"/>
          </p:cNvPicPr>
          <p:nvPr/>
        </p:nvPicPr>
        <p:blipFill>
          <a:blip r:embed="rId5"/>
          <a:stretch>
            <a:fillRect/>
          </a:stretch>
        </p:blipFill>
        <p:spPr>
          <a:xfrm>
            <a:off x="10800343" y="1740471"/>
            <a:ext cx="134549" cy="195707"/>
          </a:xfrm>
          <a:prstGeom prst="rect">
            <a:avLst/>
          </a:prstGeom>
        </p:spPr>
      </p:pic>
      <p:sp>
        <p:nvSpPr>
          <p:cNvPr id="42" name="TextBox 41"/>
          <p:cNvSpPr txBox="1"/>
          <p:nvPr/>
        </p:nvSpPr>
        <p:spPr>
          <a:xfrm>
            <a:off x="10975452" y="1750695"/>
            <a:ext cx="574538" cy="194310"/>
          </a:xfrm>
          <a:prstGeom prst="rect">
            <a:avLst/>
          </a:prstGeom>
          <a:noFill/>
        </p:spPr>
        <p:txBody>
          <a:bodyPr wrap="none" lIns="0" rIns="0" tIns="0" bIns="0">
            <a:spAutoFit/>
          </a:bodyPr>
          <a:lstStyle/>
          <a:p>
            <a:r>
              <a:rPr sz="1150" b="0">
                <a:solidFill>
                  <a:srgbClr val="2E2E2E"/>
                </a:solidFill>
                <a:latin typeface="Calibri"/>
              </a:rPr>
              <a:t>over the</a:t>
            </a:r>
          </a:p>
        </p:txBody>
      </p:sp>
      <p:sp>
        <p:nvSpPr>
          <p:cNvPr id="43" name="TextBox 42"/>
          <p:cNvSpPr txBox="1"/>
          <p:nvPr/>
        </p:nvSpPr>
        <p:spPr>
          <a:xfrm>
            <a:off x="7239000" y="1925955"/>
            <a:ext cx="1017252" cy="194310"/>
          </a:xfrm>
          <a:prstGeom prst="rect">
            <a:avLst/>
          </a:prstGeom>
          <a:noFill/>
        </p:spPr>
        <p:txBody>
          <a:bodyPr wrap="none" lIns="0" rIns="0" tIns="0" bIns="0">
            <a:spAutoFit/>
          </a:bodyPr>
          <a:lstStyle/>
          <a:p>
            <a:r>
              <a:rPr sz="1150" b="0">
                <a:solidFill>
                  <a:srgbClr val="2E2E2E"/>
                </a:solidFill>
                <a:latin typeface="Calibri"/>
              </a:rPr>
              <a:t>forecast period.</a:t>
            </a:r>
          </a:p>
        </p:txBody>
      </p:sp>
      <p:sp>
        <p:nvSpPr>
          <p:cNvPr id="44" name="TextBox 43"/>
          <p:cNvSpPr txBox="1"/>
          <p:nvPr/>
        </p:nvSpPr>
        <p:spPr>
          <a:xfrm>
            <a:off x="7239000" y="2153793"/>
            <a:ext cx="4231493" cy="194310"/>
          </a:xfrm>
          <a:prstGeom prst="rect">
            <a:avLst/>
          </a:prstGeom>
          <a:noFill/>
        </p:spPr>
        <p:txBody>
          <a:bodyPr wrap="none" lIns="0" rIns="0" tIns="0" bIns="0">
            <a:spAutoFit/>
          </a:bodyPr>
          <a:lstStyle/>
          <a:p>
            <a:r>
              <a:rPr sz="1150" b="0">
                <a:solidFill>
                  <a:srgbClr val="2E2E2E"/>
                </a:solidFill>
                <a:latin typeface="Calibri"/>
              </a:rPr>
              <a:t>In terms of volume share by country, U.S. is expected to dominate the</a:t>
            </a:r>
          </a:p>
        </p:txBody>
      </p:sp>
      <p:sp>
        <p:nvSpPr>
          <p:cNvPr id="45" name="TextBox 44"/>
          <p:cNvSpPr txBox="1"/>
          <p:nvPr/>
        </p:nvSpPr>
        <p:spPr>
          <a:xfrm>
            <a:off x="7239000" y="2329053"/>
            <a:ext cx="918554" cy="194310"/>
          </a:xfrm>
          <a:prstGeom prst="rect">
            <a:avLst/>
          </a:prstGeom>
          <a:noFill/>
        </p:spPr>
        <p:txBody>
          <a:bodyPr wrap="none" lIns="0" rIns="0" tIns="0" bIns="0">
            <a:spAutoFit/>
          </a:bodyPr>
          <a:lstStyle/>
          <a:p>
            <a:r>
              <a:rPr sz="1150" b="0">
                <a:solidFill>
                  <a:srgbClr val="2E2E2E"/>
                </a:solidFill>
                <a:latin typeface="Calibri"/>
              </a:rPr>
              <a:t>market, losing</a:t>
            </a:r>
          </a:p>
        </p:txBody>
      </p:sp>
      <p:pic>
        <p:nvPicPr>
          <p:cNvPr id="46" name="Picture 45" descr="lock.png"/>
          <p:cNvPicPr>
            <a:picLocks noChangeAspect="1"/>
          </p:cNvPicPr>
          <p:nvPr/>
        </p:nvPicPr>
        <p:blipFill>
          <a:blip r:embed="rId5"/>
          <a:stretch>
            <a:fillRect/>
          </a:stretch>
        </p:blipFill>
        <p:spPr>
          <a:xfrm>
            <a:off x="8106708" y="2318829"/>
            <a:ext cx="134549" cy="195707"/>
          </a:xfrm>
          <a:prstGeom prst="rect">
            <a:avLst/>
          </a:prstGeom>
        </p:spPr>
      </p:pic>
      <p:sp>
        <p:nvSpPr>
          <p:cNvPr id="47" name="TextBox 46"/>
          <p:cNvSpPr txBox="1"/>
          <p:nvPr/>
        </p:nvSpPr>
        <p:spPr>
          <a:xfrm>
            <a:off x="8281817" y="2329053"/>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48" name="Picture 47" descr="lock.png"/>
          <p:cNvPicPr>
            <a:picLocks noChangeAspect="1"/>
          </p:cNvPicPr>
          <p:nvPr/>
        </p:nvPicPr>
        <p:blipFill>
          <a:blip r:embed="rId5"/>
          <a:stretch>
            <a:fillRect/>
          </a:stretch>
        </p:blipFill>
        <p:spPr>
          <a:xfrm>
            <a:off x="9676961" y="2318829"/>
            <a:ext cx="134549" cy="195707"/>
          </a:xfrm>
          <a:prstGeom prst="rect">
            <a:avLst/>
          </a:prstGeom>
        </p:spPr>
      </p:pic>
      <p:sp>
        <p:nvSpPr>
          <p:cNvPr id="49" name="TextBox 48"/>
          <p:cNvSpPr txBox="1"/>
          <p:nvPr/>
        </p:nvSpPr>
        <p:spPr>
          <a:xfrm>
            <a:off x="9852070" y="232905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50" name="lockshield_13"/>
          <p:cNvSpPr/>
          <p:nvPr/>
        </p:nvSpPr>
        <p:spPr>
          <a:xfrm>
            <a:off x="238125" y="1409700"/>
            <a:ext cx="4236720" cy="40481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Removable Partial Dentures Market Analysis, By Country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value share by country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2059363"/>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4712970" y="205460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978401"/>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Canada</a:t>
            </a:r>
          </a:p>
        </p:txBody>
      </p:sp>
      <p:sp>
        <p:nvSpPr>
          <p:cNvPr id="19" name="BPS Value 1"/>
          <p:cNvSpPr txBox="1"/>
          <p:nvPr/>
        </p:nvSpPr>
        <p:spPr>
          <a:xfrm>
            <a:off x="6305550" y="2040313"/>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551045" y="3892926"/>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4712970" y="388816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3811963"/>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U.S.</a:t>
            </a:r>
          </a:p>
        </p:txBody>
      </p:sp>
      <p:sp>
        <p:nvSpPr>
          <p:cNvPr id="23" name="BPS Value 2"/>
          <p:cNvSpPr txBox="1"/>
          <p:nvPr/>
        </p:nvSpPr>
        <p:spPr>
          <a:xfrm>
            <a:off x="6305550" y="3873876"/>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Rounded Rectangle 23"/>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26" name="Rectangle 25"/>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8" name="Rounded Rectangle 27"/>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(US$ MN)</a:t>
            </a:r>
          </a:p>
          <a:p>
            <a:pPr algn="ctr">
              <a:lnSpc>
                <a:spcPct val="95000"/>
              </a:lnSpc>
            </a:pPr>
            <a:r>
              <a:rPr sz="2000" b="1">
                <a:solidFill>
                  <a:srgbClr val="0E72AE"/>
                </a:solidFill>
                <a:latin typeface="Calibri"/>
              </a:rPr>
              <a:t> </a:t>
            </a:r>
          </a:p>
        </p:txBody>
      </p:sp>
      <p:sp>
        <p:nvSpPr>
          <p:cNvPr id="29" name="Rounded Rectangle 28"/>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(US$ MN)</a:t>
            </a:r>
          </a:p>
          <a:p>
            <a:pPr algn="ctr">
              <a:lnSpc>
                <a:spcPct val="95000"/>
              </a:lnSpc>
            </a:pPr>
            <a:r>
              <a:rPr sz="2000" b="1">
                <a:solidFill>
                  <a:srgbClr val="0E72AE"/>
                </a:solidFill>
                <a:latin typeface="Calibri"/>
              </a:rPr>
              <a:t> </a:t>
            </a:r>
          </a:p>
        </p:txBody>
      </p:sp>
      <p:sp>
        <p:nvSpPr>
          <p:cNvPr id="30" name="Rounded Rectangle 29"/>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 </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5"/>
          <a:stretch>
            <a:fillRect/>
          </a:stretch>
        </p:blipFill>
        <p:spPr>
          <a:xfrm>
            <a:off x="2368867" y="3171825"/>
            <a:ext cx="275034" cy="400050"/>
          </a:xfrm>
          <a:prstGeom prst="rect">
            <a:avLst/>
          </a:prstGeom>
        </p:spPr>
      </p:pic>
      <p:pic>
        <p:nvPicPr>
          <p:cNvPr id="33" name="Picture 32" descr="lock.png"/>
          <p:cNvPicPr>
            <a:picLocks noChangeAspect="1"/>
          </p:cNvPicPr>
          <p:nvPr/>
        </p:nvPicPr>
        <p:blipFill>
          <a:blip r:embed="rId5"/>
          <a:stretch>
            <a:fillRect/>
          </a:stretch>
        </p:blipFill>
        <p:spPr>
          <a:xfrm>
            <a:off x="2009775" y="6070282"/>
            <a:ext cx="209550" cy="304800"/>
          </a:xfrm>
          <a:prstGeom prst="rect">
            <a:avLst/>
          </a:prstGeom>
        </p:spPr>
      </p:pic>
      <p:pic>
        <p:nvPicPr>
          <p:cNvPr id="34" name="Picture 33" descr="lock.png"/>
          <p:cNvPicPr>
            <a:picLocks noChangeAspect="1"/>
          </p:cNvPicPr>
          <p:nvPr/>
        </p:nvPicPr>
        <p:blipFill>
          <a:blip r:embed="rId5"/>
          <a:stretch>
            <a:fillRect/>
          </a:stretch>
        </p:blipFill>
        <p:spPr>
          <a:xfrm>
            <a:off x="6043612" y="6070282"/>
            <a:ext cx="209550" cy="304800"/>
          </a:xfrm>
          <a:prstGeom prst="rect">
            <a:avLst/>
          </a:prstGeom>
        </p:spPr>
      </p:pic>
      <p:pic>
        <p:nvPicPr>
          <p:cNvPr id="35" name="Picture 34" descr="lock.png"/>
          <p:cNvPicPr>
            <a:picLocks noChangeAspect="1"/>
          </p:cNvPicPr>
          <p:nvPr/>
        </p:nvPicPr>
        <p:blipFill>
          <a:blip r:embed="rId5"/>
          <a:stretch>
            <a:fillRect/>
          </a:stretch>
        </p:blipFill>
        <p:spPr>
          <a:xfrm>
            <a:off x="10015537" y="6070282"/>
            <a:ext cx="209550" cy="304800"/>
          </a:xfrm>
          <a:prstGeom prst="rect">
            <a:avLst/>
          </a:prstGeom>
        </p:spPr>
      </p:pic>
      <p:sp>
        <p:nvSpPr>
          <p:cNvPr id="36" name="TextBox 35"/>
          <p:cNvSpPr txBox="1"/>
          <p:nvPr/>
        </p:nvSpPr>
        <p:spPr>
          <a:xfrm>
            <a:off x="7239000" y="1400175"/>
            <a:ext cx="4054350" cy="194310"/>
          </a:xfrm>
          <a:prstGeom prst="rect">
            <a:avLst/>
          </a:prstGeom>
          <a:noFill/>
        </p:spPr>
        <p:txBody>
          <a:bodyPr wrap="none" lIns="0" rIns="0" tIns="0" bIns="0">
            <a:spAutoFit/>
          </a:bodyPr>
          <a:lstStyle/>
          <a:p>
            <a:r>
              <a:rPr sz="1150" b="0">
                <a:solidFill>
                  <a:srgbClr val="2E2E2E"/>
                </a:solidFill>
                <a:latin typeface="Calibri"/>
              </a:rPr>
              <a:t>The U.S. removable partial dentures market is projected to register</a:t>
            </a:r>
          </a:p>
        </p:txBody>
      </p:sp>
      <p:pic>
        <p:nvPicPr>
          <p:cNvPr id="37" name="Picture 36" descr="lock.png"/>
          <p:cNvPicPr>
            <a:picLocks noChangeAspect="1"/>
          </p:cNvPicPr>
          <p:nvPr/>
        </p:nvPicPr>
        <p:blipFill>
          <a:blip r:embed="rId5"/>
          <a:stretch>
            <a:fillRect/>
          </a:stretch>
        </p:blipFill>
        <p:spPr>
          <a:xfrm>
            <a:off x="11242504" y="1389951"/>
            <a:ext cx="134549" cy="195707"/>
          </a:xfrm>
          <a:prstGeom prst="rect">
            <a:avLst/>
          </a:prstGeom>
        </p:spPr>
      </p:pic>
      <p:sp>
        <p:nvSpPr>
          <p:cNvPr id="38" name="TextBox 37"/>
          <p:cNvSpPr txBox="1"/>
          <p:nvPr/>
        </p:nvSpPr>
        <p:spPr>
          <a:xfrm>
            <a:off x="11417614" y="1400175"/>
            <a:ext cx="152077" cy="194310"/>
          </a:xfrm>
          <a:prstGeom prst="rect">
            <a:avLst/>
          </a:prstGeom>
          <a:noFill/>
        </p:spPr>
        <p:txBody>
          <a:bodyPr wrap="none" lIns="0" rIns="0" tIns="0" bIns="0">
            <a:spAutoFit/>
          </a:bodyPr>
          <a:lstStyle/>
          <a:p>
            <a:r>
              <a:rPr sz="1150" b="0">
                <a:solidFill>
                  <a:srgbClr val="2E2E2E"/>
                </a:solidFill>
                <a:latin typeface="Calibri"/>
              </a:rPr>
              <a:t>X</a:t>
            </a:r>
          </a:p>
        </p:txBody>
      </p:sp>
      <p:sp>
        <p:nvSpPr>
          <p:cNvPr id="39" name="TextBox 38"/>
          <p:cNvSpPr txBox="1"/>
          <p:nvPr/>
        </p:nvSpPr>
        <p:spPr>
          <a:xfrm>
            <a:off x="7239000" y="1575435"/>
            <a:ext cx="4382678" cy="194310"/>
          </a:xfrm>
          <a:prstGeom prst="rect">
            <a:avLst/>
          </a:prstGeom>
          <a:noFill/>
        </p:spPr>
        <p:txBody>
          <a:bodyPr wrap="none" lIns="0" rIns="0" tIns="0" bIns="0">
            <a:spAutoFit/>
          </a:bodyPr>
          <a:lstStyle/>
          <a:p>
            <a:r>
              <a:rPr sz="1150" b="0">
                <a:solidFill>
                  <a:srgbClr val="2E2E2E"/>
                </a:solidFill>
                <a:latin typeface="Calibri"/>
              </a:rPr>
              <a:t>higher value than Canada in 2036. Among removable partial dentures by</a:t>
            </a:r>
          </a:p>
        </p:txBody>
      </p:sp>
      <p:sp>
        <p:nvSpPr>
          <p:cNvPr id="40" name="TextBox 39"/>
          <p:cNvSpPr txBox="1"/>
          <p:nvPr/>
        </p:nvSpPr>
        <p:spPr>
          <a:xfrm>
            <a:off x="7239000" y="1750695"/>
            <a:ext cx="3612189" cy="194310"/>
          </a:xfrm>
          <a:prstGeom prst="rect">
            <a:avLst/>
          </a:prstGeom>
          <a:noFill/>
        </p:spPr>
        <p:txBody>
          <a:bodyPr wrap="none" lIns="0" rIns="0" tIns="0" bIns="0">
            <a:spAutoFit/>
          </a:bodyPr>
          <a:lstStyle/>
          <a:p>
            <a:r>
              <a:rPr sz="1150" b="0">
                <a:solidFill>
                  <a:srgbClr val="2E2E2E"/>
                </a:solidFill>
                <a:latin typeface="Calibri"/>
              </a:rPr>
              <a:t>country, Canada is expected to witness the highest CAGR of</a:t>
            </a:r>
          </a:p>
        </p:txBody>
      </p:sp>
      <p:pic>
        <p:nvPicPr>
          <p:cNvPr id="41" name="Picture 40" descr="lock.png"/>
          <p:cNvPicPr>
            <a:picLocks noChangeAspect="1"/>
          </p:cNvPicPr>
          <p:nvPr/>
        </p:nvPicPr>
        <p:blipFill>
          <a:blip r:embed="rId5"/>
          <a:stretch>
            <a:fillRect/>
          </a:stretch>
        </p:blipFill>
        <p:spPr>
          <a:xfrm>
            <a:off x="10800343" y="1740471"/>
            <a:ext cx="134549" cy="195707"/>
          </a:xfrm>
          <a:prstGeom prst="rect">
            <a:avLst/>
          </a:prstGeom>
        </p:spPr>
      </p:pic>
      <p:sp>
        <p:nvSpPr>
          <p:cNvPr id="42" name="TextBox 41"/>
          <p:cNvSpPr txBox="1"/>
          <p:nvPr/>
        </p:nvSpPr>
        <p:spPr>
          <a:xfrm>
            <a:off x="10975452" y="1750695"/>
            <a:ext cx="574538" cy="194310"/>
          </a:xfrm>
          <a:prstGeom prst="rect">
            <a:avLst/>
          </a:prstGeom>
          <a:noFill/>
        </p:spPr>
        <p:txBody>
          <a:bodyPr wrap="none" lIns="0" rIns="0" tIns="0" bIns="0">
            <a:spAutoFit/>
          </a:bodyPr>
          <a:lstStyle/>
          <a:p>
            <a:r>
              <a:rPr sz="1150" b="0">
                <a:solidFill>
                  <a:srgbClr val="2E2E2E"/>
                </a:solidFill>
                <a:latin typeface="Calibri"/>
              </a:rPr>
              <a:t>over the</a:t>
            </a:r>
          </a:p>
        </p:txBody>
      </p:sp>
      <p:sp>
        <p:nvSpPr>
          <p:cNvPr id="43" name="TextBox 42"/>
          <p:cNvSpPr txBox="1"/>
          <p:nvPr/>
        </p:nvSpPr>
        <p:spPr>
          <a:xfrm>
            <a:off x="7239000" y="1925955"/>
            <a:ext cx="1017252" cy="194310"/>
          </a:xfrm>
          <a:prstGeom prst="rect">
            <a:avLst/>
          </a:prstGeom>
          <a:noFill/>
        </p:spPr>
        <p:txBody>
          <a:bodyPr wrap="none" lIns="0" rIns="0" tIns="0" bIns="0">
            <a:spAutoFit/>
          </a:bodyPr>
          <a:lstStyle/>
          <a:p>
            <a:r>
              <a:rPr sz="1150" b="0">
                <a:solidFill>
                  <a:srgbClr val="2E2E2E"/>
                </a:solidFill>
                <a:latin typeface="Calibri"/>
              </a:rPr>
              <a:t>forecast period.</a:t>
            </a:r>
          </a:p>
        </p:txBody>
      </p:sp>
      <p:sp>
        <p:nvSpPr>
          <p:cNvPr id="44" name="TextBox 43"/>
          <p:cNvSpPr txBox="1"/>
          <p:nvPr/>
        </p:nvSpPr>
        <p:spPr>
          <a:xfrm>
            <a:off x="7239000" y="2153793"/>
            <a:ext cx="4603179" cy="194310"/>
          </a:xfrm>
          <a:prstGeom prst="rect">
            <a:avLst/>
          </a:prstGeom>
          <a:noFill/>
        </p:spPr>
        <p:txBody>
          <a:bodyPr wrap="none" lIns="0" rIns="0" tIns="0" bIns="0">
            <a:spAutoFit/>
          </a:bodyPr>
          <a:lstStyle/>
          <a:p>
            <a:r>
              <a:rPr sz="1150" b="0">
                <a:solidFill>
                  <a:srgbClr val="2E2E2E"/>
                </a:solidFill>
                <a:latin typeface="Calibri"/>
              </a:rPr>
              <a:t>In terms of value share by country, U.S. is expected to dominate the market,</a:t>
            </a:r>
          </a:p>
        </p:txBody>
      </p:sp>
      <p:sp>
        <p:nvSpPr>
          <p:cNvPr id="45" name="TextBox 44"/>
          <p:cNvSpPr txBox="1"/>
          <p:nvPr/>
        </p:nvSpPr>
        <p:spPr>
          <a:xfrm>
            <a:off x="7239000" y="2329053"/>
            <a:ext cx="423068" cy="194310"/>
          </a:xfrm>
          <a:prstGeom prst="rect">
            <a:avLst/>
          </a:prstGeom>
          <a:noFill/>
        </p:spPr>
        <p:txBody>
          <a:bodyPr wrap="none" lIns="0" rIns="0" tIns="0" bIns="0">
            <a:spAutoFit/>
          </a:bodyPr>
          <a:lstStyle/>
          <a:p>
            <a:r>
              <a:rPr sz="1150" b="0">
                <a:solidFill>
                  <a:srgbClr val="2E2E2E"/>
                </a:solidFill>
                <a:latin typeface="Calibri"/>
              </a:rPr>
              <a:t>losing</a:t>
            </a:r>
          </a:p>
        </p:txBody>
      </p:sp>
      <p:pic>
        <p:nvPicPr>
          <p:cNvPr id="46" name="Picture 45" descr="lock.png"/>
          <p:cNvPicPr>
            <a:picLocks noChangeAspect="1"/>
          </p:cNvPicPr>
          <p:nvPr/>
        </p:nvPicPr>
        <p:blipFill>
          <a:blip r:embed="rId5"/>
          <a:stretch>
            <a:fillRect/>
          </a:stretch>
        </p:blipFill>
        <p:spPr>
          <a:xfrm>
            <a:off x="7611222" y="2318829"/>
            <a:ext cx="134549" cy="195707"/>
          </a:xfrm>
          <a:prstGeom prst="rect">
            <a:avLst/>
          </a:prstGeom>
        </p:spPr>
      </p:pic>
      <p:sp>
        <p:nvSpPr>
          <p:cNvPr id="47" name="TextBox 46"/>
          <p:cNvSpPr txBox="1"/>
          <p:nvPr/>
        </p:nvSpPr>
        <p:spPr>
          <a:xfrm>
            <a:off x="7786331" y="2329053"/>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48" name="Picture 47" descr="lock.png"/>
          <p:cNvPicPr>
            <a:picLocks noChangeAspect="1"/>
          </p:cNvPicPr>
          <p:nvPr/>
        </p:nvPicPr>
        <p:blipFill>
          <a:blip r:embed="rId5"/>
          <a:stretch>
            <a:fillRect/>
          </a:stretch>
        </p:blipFill>
        <p:spPr>
          <a:xfrm>
            <a:off x="9181475" y="2318829"/>
            <a:ext cx="134549" cy="195707"/>
          </a:xfrm>
          <a:prstGeom prst="rect">
            <a:avLst/>
          </a:prstGeom>
        </p:spPr>
      </p:pic>
      <p:sp>
        <p:nvSpPr>
          <p:cNvPr id="49" name="TextBox 48"/>
          <p:cNvSpPr txBox="1"/>
          <p:nvPr/>
        </p:nvSpPr>
        <p:spPr>
          <a:xfrm>
            <a:off x="9356584" y="232905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50" name="lockshield_13"/>
          <p:cNvSpPr/>
          <p:nvPr/>
        </p:nvSpPr>
        <p:spPr>
          <a:xfrm>
            <a:off x="238125" y="1409700"/>
            <a:ext cx="4236720" cy="40481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Removable Partial Dentures Market Share Analysis, By Country Volume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share by country,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Size, By Country (Units)</a:t>
            </a:r>
          </a:p>
        </p:txBody>
      </p:sp>
      <p:graphicFrame>
        <p:nvGraphicFramePr>
          <p:cNvPr id="13" name="Table 12"/>
          <p:cNvGraphicFramePr>
            <a:graphicFrameLocks noGrp="1"/>
          </p:cNvGraphicFramePr>
          <p:nvPr/>
        </p:nvGraphicFramePr>
        <p:xfrm>
          <a:off x="152400" y="1238250"/>
          <a:ext cx="11887202" cy="990600"/>
        </p:xfrm>
        <a:graphic>
          <a:graphicData uri="http://schemas.openxmlformats.org/drawingml/2006/table">
            <a:tbl>
              <a:tblPr>
                <a:tableStyleId>{5C22544A-7EE6-4342-B048-85BDC9FD1C3A}</a:tableStyleId>
              </a:tblPr>
              <a:tblGrid>
                <a:gridCol w="631593"/>
                <a:gridCol w="628947"/>
                <a:gridCol w="628947"/>
                <a:gridCol w="628947"/>
                <a:gridCol w="628947"/>
                <a:gridCol w="628947"/>
                <a:gridCol w="628947"/>
                <a:gridCol w="628947"/>
                <a:gridCol w="628947"/>
                <a:gridCol w="628947"/>
                <a:gridCol w="628947"/>
                <a:gridCol w="628947"/>
                <a:gridCol w="748007"/>
                <a:gridCol w="748007"/>
                <a:gridCol w="748007"/>
                <a:gridCol w="748007"/>
                <a:gridCol w="748007"/>
                <a:gridCol w="597157"/>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U.S.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Canada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6574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Share Read-out, By Country</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981325"/>
            <a:ext cx="1163955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225107" y="1589913"/>
            <a:ext cx="366712" cy="533400"/>
          </a:xfrm>
          <a:prstGeom prst="rect">
            <a:avLst/>
          </a:prstGeom>
        </p:spPr>
      </p:pic>
      <p:sp>
        <p:nvSpPr>
          <p:cNvPr id="21" name="TextBox 20"/>
          <p:cNvSpPr txBox="1"/>
          <p:nvPr/>
        </p:nvSpPr>
        <p:spPr>
          <a:xfrm>
            <a:off x="276225" y="2990850"/>
            <a:ext cx="4054350" cy="194310"/>
          </a:xfrm>
          <a:prstGeom prst="rect">
            <a:avLst/>
          </a:prstGeom>
          <a:noFill/>
        </p:spPr>
        <p:txBody>
          <a:bodyPr wrap="none" lIns="0" rIns="0" tIns="0" bIns="0">
            <a:spAutoFit/>
          </a:bodyPr>
          <a:lstStyle/>
          <a:p>
            <a:r>
              <a:rPr sz="1150" b="0">
                <a:solidFill>
                  <a:srgbClr val="2E2E2E"/>
                </a:solidFill>
                <a:latin typeface="Calibri"/>
              </a:rPr>
              <a:t>The U.S. removable partial dentures market is projected to register</a:t>
            </a:r>
          </a:p>
        </p:txBody>
      </p:sp>
      <p:pic>
        <p:nvPicPr>
          <p:cNvPr id="22" name="Picture 21" descr="lock.png"/>
          <p:cNvPicPr>
            <a:picLocks noChangeAspect="1"/>
          </p:cNvPicPr>
          <p:nvPr/>
        </p:nvPicPr>
        <p:blipFill>
          <a:blip r:embed="rId4"/>
          <a:stretch>
            <a:fillRect/>
          </a:stretch>
        </p:blipFill>
        <p:spPr>
          <a:xfrm>
            <a:off x="4279729" y="2980626"/>
            <a:ext cx="134549" cy="195707"/>
          </a:xfrm>
          <a:prstGeom prst="rect">
            <a:avLst/>
          </a:prstGeom>
        </p:spPr>
      </p:pic>
      <p:sp>
        <p:nvSpPr>
          <p:cNvPr id="23" name="TextBox 22"/>
          <p:cNvSpPr txBox="1"/>
          <p:nvPr/>
        </p:nvSpPr>
        <p:spPr>
          <a:xfrm>
            <a:off x="4454839" y="2990850"/>
            <a:ext cx="7195281" cy="194310"/>
          </a:xfrm>
          <a:prstGeom prst="rect">
            <a:avLst/>
          </a:prstGeom>
          <a:noFill/>
        </p:spPr>
        <p:txBody>
          <a:bodyPr wrap="none" lIns="0" rIns="0" tIns="0" bIns="0">
            <a:spAutoFit/>
          </a:bodyPr>
          <a:lstStyle/>
          <a:p>
            <a:r>
              <a:rPr sz="1150" b="0">
                <a:solidFill>
                  <a:srgbClr val="2E2E2E"/>
                </a:solidFill>
                <a:latin typeface="Calibri"/>
              </a:rPr>
              <a:t>X higher volume than Canada in 2036. Among removable partial dentures by country, Canada is expected to witness the</a:t>
            </a:r>
          </a:p>
        </p:txBody>
      </p:sp>
      <p:sp>
        <p:nvSpPr>
          <p:cNvPr id="24" name="TextBox 23"/>
          <p:cNvSpPr txBox="1"/>
          <p:nvPr/>
        </p:nvSpPr>
        <p:spPr>
          <a:xfrm>
            <a:off x="276225" y="3166110"/>
            <a:ext cx="1032353" cy="194310"/>
          </a:xfrm>
          <a:prstGeom prst="rect">
            <a:avLst/>
          </a:prstGeom>
          <a:noFill/>
        </p:spPr>
        <p:txBody>
          <a:bodyPr wrap="none" lIns="0" rIns="0" tIns="0" bIns="0">
            <a:spAutoFit/>
          </a:bodyPr>
          <a:lstStyle/>
          <a:p>
            <a:r>
              <a:rPr sz="1150" b="0">
                <a:solidFill>
                  <a:srgbClr val="2E2E2E"/>
                </a:solidFill>
                <a:latin typeface="Calibri"/>
              </a:rPr>
              <a:t>highest CAGR of</a:t>
            </a:r>
          </a:p>
        </p:txBody>
      </p:sp>
      <p:pic>
        <p:nvPicPr>
          <p:cNvPr id="25" name="Picture 24" descr="lock.png"/>
          <p:cNvPicPr>
            <a:picLocks noChangeAspect="1"/>
          </p:cNvPicPr>
          <p:nvPr/>
        </p:nvPicPr>
        <p:blipFill>
          <a:blip r:embed="rId4"/>
          <a:stretch>
            <a:fillRect/>
          </a:stretch>
        </p:blipFill>
        <p:spPr>
          <a:xfrm>
            <a:off x="1257732" y="3155886"/>
            <a:ext cx="134549" cy="195707"/>
          </a:xfrm>
          <a:prstGeom prst="rect">
            <a:avLst/>
          </a:prstGeom>
        </p:spPr>
      </p:pic>
      <p:sp>
        <p:nvSpPr>
          <p:cNvPr id="26" name="TextBox 25"/>
          <p:cNvSpPr txBox="1"/>
          <p:nvPr/>
        </p:nvSpPr>
        <p:spPr>
          <a:xfrm>
            <a:off x="1432841" y="31661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393947"/>
            <a:ext cx="5106937" cy="194310"/>
          </a:xfrm>
          <a:prstGeom prst="rect">
            <a:avLst/>
          </a:prstGeom>
          <a:noFill/>
        </p:spPr>
        <p:txBody>
          <a:bodyPr wrap="none" lIns="0" rIns="0" tIns="0" bIns="0">
            <a:spAutoFit/>
          </a:bodyPr>
          <a:lstStyle/>
          <a:p>
            <a:r>
              <a:rPr sz="1150" b="0">
                <a:solidFill>
                  <a:srgbClr val="2E2E2E"/>
                </a:solidFill>
                <a:latin typeface="Calibri"/>
              </a:rPr>
              <a:t>In terms of volume share by country, U.S. is expected to dominate the market, losing</a:t>
            </a:r>
          </a:p>
        </p:txBody>
      </p:sp>
      <p:pic>
        <p:nvPicPr>
          <p:cNvPr id="28" name="Picture 27" descr="lock.png"/>
          <p:cNvPicPr>
            <a:picLocks noChangeAspect="1"/>
          </p:cNvPicPr>
          <p:nvPr/>
        </p:nvPicPr>
        <p:blipFill>
          <a:blip r:embed="rId4"/>
          <a:stretch>
            <a:fillRect/>
          </a:stretch>
        </p:blipFill>
        <p:spPr>
          <a:xfrm>
            <a:off x="5332316" y="3383724"/>
            <a:ext cx="134549" cy="195707"/>
          </a:xfrm>
          <a:prstGeom prst="rect">
            <a:avLst/>
          </a:prstGeom>
        </p:spPr>
      </p:pic>
      <p:sp>
        <p:nvSpPr>
          <p:cNvPr id="29" name="TextBox 28"/>
          <p:cNvSpPr txBox="1"/>
          <p:nvPr/>
        </p:nvSpPr>
        <p:spPr>
          <a:xfrm>
            <a:off x="5507426" y="33939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6902569" y="3383724"/>
            <a:ext cx="134549" cy="195707"/>
          </a:xfrm>
          <a:prstGeom prst="rect">
            <a:avLst/>
          </a:prstGeom>
        </p:spPr>
      </p:pic>
      <p:sp>
        <p:nvSpPr>
          <p:cNvPr id="31" name="TextBox 30"/>
          <p:cNvSpPr txBox="1"/>
          <p:nvPr/>
        </p:nvSpPr>
        <p:spPr>
          <a:xfrm>
            <a:off x="7077678" y="339394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Removable Partial Dentures Market Share Analysis, By Country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and share by country,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Size, By Country (US$ Mn)</a:t>
            </a:r>
          </a:p>
        </p:txBody>
      </p:sp>
      <p:graphicFrame>
        <p:nvGraphicFramePr>
          <p:cNvPr id="13" name="Table 12"/>
          <p:cNvGraphicFramePr>
            <a:graphicFrameLocks noGrp="1"/>
          </p:cNvGraphicFramePr>
          <p:nvPr/>
        </p:nvGraphicFramePr>
        <p:xfrm>
          <a:off x="152400" y="1238250"/>
          <a:ext cx="11887200" cy="990600"/>
        </p:xfrm>
        <a:graphic>
          <a:graphicData uri="http://schemas.openxmlformats.org/drawingml/2006/table">
            <a:tbl>
              <a:tblPr>
                <a:tableStyleId>{5C22544A-7EE6-4342-B048-85BDC9FD1C3A}</a:tableStyleId>
              </a:tblPr>
              <a:tblGrid>
                <a:gridCol w="696253"/>
                <a:gridCol w="658291"/>
                <a:gridCol w="658291"/>
                <a:gridCol w="658291"/>
                <a:gridCol w="658291"/>
                <a:gridCol w="658291"/>
                <a:gridCol w="658291"/>
                <a:gridCol w="658291"/>
                <a:gridCol w="658291"/>
                <a:gridCol w="658291"/>
                <a:gridCol w="658291"/>
                <a:gridCol w="658291"/>
                <a:gridCol w="658291"/>
                <a:gridCol w="658291"/>
                <a:gridCol w="658291"/>
                <a:gridCol w="658291"/>
                <a:gridCol w="658291"/>
                <a:gridCol w="658291"/>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U.S.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Canada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6574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Share Read-out, By Country</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981325"/>
            <a:ext cx="1163955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257436" y="1589913"/>
            <a:ext cx="366712" cy="533400"/>
          </a:xfrm>
          <a:prstGeom prst="rect">
            <a:avLst/>
          </a:prstGeom>
        </p:spPr>
      </p:pic>
      <p:sp>
        <p:nvSpPr>
          <p:cNvPr id="21" name="TextBox 20"/>
          <p:cNvSpPr txBox="1"/>
          <p:nvPr/>
        </p:nvSpPr>
        <p:spPr>
          <a:xfrm>
            <a:off x="276225" y="2990850"/>
            <a:ext cx="4054350" cy="194310"/>
          </a:xfrm>
          <a:prstGeom prst="rect">
            <a:avLst/>
          </a:prstGeom>
          <a:noFill/>
        </p:spPr>
        <p:txBody>
          <a:bodyPr wrap="none" lIns="0" rIns="0" tIns="0" bIns="0">
            <a:spAutoFit/>
          </a:bodyPr>
          <a:lstStyle/>
          <a:p>
            <a:r>
              <a:rPr sz="1150" b="0">
                <a:solidFill>
                  <a:srgbClr val="2E2E2E"/>
                </a:solidFill>
                <a:latin typeface="Calibri"/>
              </a:rPr>
              <a:t>The U.S. removable partial dentures market is projected to register</a:t>
            </a:r>
          </a:p>
        </p:txBody>
      </p:sp>
      <p:pic>
        <p:nvPicPr>
          <p:cNvPr id="22" name="Picture 21" descr="lock.png"/>
          <p:cNvPicPr>
            <a:picLocks noChangeAspect="1"/>
          </p:cNvPicPr>
          <p:nvPr/>
        </p:nvPicPr>
        <p:blipFill>
          <a:blip r:embed="rId4"/>
          <a:stretch>
            <a:fillRect/>
          </a:stretch>
        </p:blipFill>
        <p:spPr>
          <a:xfrm>
            <a:off x="4279729" y="2980626"/>
            <a:ext cx="134549" cy="195707"/>
          </a:xfrm>
          <a:prstGeom prst="rect">
            <a:avLst/>
          </a:prstGeom>
        </p:spPr>
      </p:pic>
      <p:sp>
        <p:nvSpPr>
          <p:cNvPr id="23" name="TextBox 22"/>
          <p:cNvSpPr txBox="1"/>
          <p:nvPr/>
        </p:nvSpPr>
        <p:spPr>
          <a:xfrm>
            <a:off x="4454839" y="2990850"/>
            <a:ext cx="7071481" cy="194310"/>
          </a:xfrm>
          <a:prstGeom prst="rect">
            <a:avLst/>
          </a:prstGeom>
          <a:noFill/>
        </p:spPr>
        <p:txBody>
          <a:bodyPr wrap="none" lIns="0" rIns="0" tIns="0" bIns="0">
            <a:spAutoFit/>
          </a:bodyPr>
          <a:lstStyle/>
          <a:p>
            <a:r>
              <a:rPr sz="1150" b="0">
                <a:solidFill>
                  <a:srgbClr val="2E2E2E"/>
                </a:solidFill>
                <a:latin typeface="Calibri"/>
              </a:rPr>
              <a:t>X higher value than Canada in 2036. Among removable partial dentures by country, Canada is expected to witness the</a:t>
            </a:r>
          </a:p>
        </p:txBody>
      </p:sp>
      <p:sp>
        <p:nvSpPr>
          <p:cNvPr id="24" name="TextBox 23"/>
          <p:cNvSpPr txBox="1"/>
          <p:nvPr/>
        </p:nvSpPr>
        <p:spPr>
          <a:xfrm>
            <a:off x="276225" y="3166110"/>
            <a:ext cx="1032353" cy="194310"/>
          </a:xfrm>
          <a:prstGeom prst="rect">
            <a:avLst/>
          </a:prstGeom>
          <a:noFill/>
        </p:spPr>
        <p:txBody>
          <a:bodyPr wrap="none" lIns="0" rIns="0" tIns="0" bIns="0">
            <a:spAutoFit/>
          </a:bodyPr>
          <a:lstStyle/>
          <a:p>
            <a:r>
              <a:rPr sz="1150" b="0">
                <a:solidFill>
                  <a:srgbClr val="2E2E2E"/>
                </a:solidFill>
                <a:latin typeface="Calibri"/>
              </a:rPr>
              <a:t>highest CAGR of</a:t>
            </a:r>
          </a:p>
        </p:txBody>
      </p:sp>
      <p:pic>
        <p:nvPicPr>
          <p:cNvPr id="25" name="Picture 24" descr="lock.png"/>
          <p:cNvPicPr>
            <a:picLocks noChangeAspect="1"/>
          </p:cNvPicPr>
          <p:nvPr/>
        </p:nvPicPr>
        <p:blipFill>
          <a:blip r:embed="rId4"/>
          <a:stretch>
            <a:fillRect/>
          </a:stretch>
        </p:blipFill>
        <p:spPr>
          <a:xfrm>
            <a:off x="1257732" y="3155886"/>
            <a:ext cx="134549" cy="195707"/>
          </a:xfrm>
          <a:prstGeom prst="rect">
            <a:avLst/>
          </a:prstGeom>
        </p:spPr>
      </p:pic>
      <p:sp>
        <p:nvSpPr>
          <p:cNvPr id="26" name="TextBox 25"/>
          <p:cNvSpPr txBox="1"/>
          <p:nvPr/>
        </p:nvSpPr>
        <p:spPr>
          <a:xfrm>
            <a:off x="1432841" y="31661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393947"/>
            <a:ext cx="4983137" cy="194310"/>
          </a:xfrm>
          <a:prstGeom prst="rect">
            <a:avLst/>
          </a:prstGeom>
          <a:noFill/>
        </p:spPr>
        <p:txBody>
          <a:bodyPr wrap="none" lIns="0" rIns="0" tIns="0" bIns="0">
            <a:spAutoFit/>
          </a:bodyPr>
          <a:lstStyle/>
          <a:p>
            <a:r>
              <a:rPr sz="1150" b="0">
                <a:solidFill>
                  <a:srgbClr val="2E2E2E"/>
                </a:solidFill>
                <a:latin typeface="Calibri"/>
              </a:rPr>
              <a:t>In terms of value share by country, U.S. is expected to dominate the market, losing</a:t>
            </a:r>
          </a:p>
        </p:txBody>
      </p:sp>
      <p:pic>
        <p:nvPicPr>
          <p:cNvPr id="28" name="Picture 27" descr="lock.png"/>
          <p:cNvPicPr>
            <a:picLocks noChangeAspect="1"/>
          </p:cNvPicPr>
          <p:nvPr/>
        </p:nvPicPr>
        <p:blipFill>
          <a:blip r:embed="rId4"/>
          <a:stretch>
            <a:fillRect/>
          </a:stretch>
        </p:blipFill>
        <p:spPr>
          <a:xfrm>
            <a:off x="5208516" y="3383724"/>
            <a:ext cx="134549" cy="195707"/>
          </a:xfrm>
          <a:prstGeom prst="rect">
            <a:avLst/>
          </a:prstGeom>
        </p:spPr>
      </p:pic>
      <p:sp>
        <p:nvSpPr>
          <p:cNvPr id="29" name="TextBox 28"/>
          <p:cNvSpPr txBox="1"/>
          <p:nvPr/>
        </p:nvSpPr>
        <p:spPr>
          <a:xfrm>
            <a:off x="5383625" y="33939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6778769" y="3383724"/>
            <a:ext cx="134549" cy="195707"/>
          </a:xfrm>
          <a:prstGeom prst="rect">
            <a:avLst/>
          </a:prstGeom>
        </p:spPr>
      </p:pic>
      <p:sp>
        <p:nvSpPr>
          <p:cNvPr id="31" name="TextBox 30"/>
          <p:cNvSpPr txBox="1"/>
          <p:nvPr/>
        </p:nvSpPr>
        <p:spPr>
          <a:xfrm>
            <a:off x="6953878" y="339394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Removable Partial Dentures Market Trends, By Country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how country volume and value shares shift over 2021–2036, highlighting who gains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Country (Units)</a:t>
            </a:r>
          </a:p>
        </p:txBody>
      </p:sp>
      <p:graphicFrame>
        <p:nvGraphicFramePr>
          <p:cNvPr id="13" name="Chart 12"/>
          <p:cNvGraphicFramePr>
            <a:graphicFrameLocks noGrp="1"/>
          </p:cNvGraphicFramePr>
          <p:nvPr/>
        </p:nvGraphicFramePr>
        <p:xfrm>
          <a:off x="238125" y="1266825"/>
          <a:ext cx="11715750"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38125" y="39243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Country (US$ Mn)</a:t>
            </a:r>
          </a:p>
        </p:txBody>
      </p:sp>
      <p:graphicFrame>
        <p:nvGraphicFramePr>
          <p:cNvPr id="16" name="Chart 15"/>
          <p:cNvGraphicFramePr>
            <a:graphicFrameLocks noGrp="1"/>
          </p:cNvGraphicFramePr>
          <p:nvPr/>
        </p:nvGraphicFramePr>
        <p:xfrm>
          <a:off x="238125" y="4152900"/>
          <a:ext cx="11715750" cy="240982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6058646" y="2026489"/>
            <a:ext cx="363375" cy="528545"/>
          </a:xfrm>
          <a:prstGeom prst="rect">
            <a:avLst/>
          </a:prstGeom>
        </p:spPr>
      </p:pic>
      <p:pic>
        <p:nvPicPr>
          <p:cNvPr id="19" name="Picture 18" descr="lock.png"/>
          <p:cNvPicPr>
            <a:picLocks noChangeAspect="1"/>
          </p:cNvPicPr>
          <p:nvPr/>
        </p:nvPicPr>
        <p:blipFill>
          <a:blip r:embed="rId6"/>
          <a:stretch>
            <a:fillRect/>
          </a:stretch>
        </p:blipFill>
        <p:spPr>
          <a:xfrm>
            <a:off x="6058646" y="4912564"/>
            <a:ext cx="363375" cy="528545"/>
          </a:xfrm>
          <a:prstGeom prst="rect">
            <a:avLst/>
          </a:prstGeom>
        </p:spPr>
      </p:pic>
      <p:sp>
        <p:nvSpPr>
          <p:cNvPr id="20" name="lockshield_13"/>
          <p:cNvSpPr/>
          <p:nvPr/>
        </p:nvSpPr>
        <p:spPr>
          <a:xfrm>
            <a:off x="238125" y="1266825"/>
            <a:ext cx="11715750"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lockshield_16"/>
          <p:cNvSpPr/>
          <p:nvPr/>
        </p:nvSpPr>
        <p:spPr>
          <a:xfrm>
            <a:off x="238125" y="4152900"/>
            <a:ext cx="11715750"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Removable Partial Dentures Market Top 2 Countries (2036)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hierarchy of the North America market in 2036, highlighting the leading countries within each region by value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by country  ·  2036 (US$ Mn)  ·  tile size = market value</a:t>
            </a:r>
          </a:p>
        </p:txBody>
      </p:sp>
      <p:sp>
        <p:nvSpPr>
          <p:cNvPr id="13" name="Rectangle 12"/>
          <p:cNvSpPr/>
          <p:nvPr/>
        </p:nvSpPr>
        <p:spPr>
          <a:xfrm>
            <a:off x="238125" y="1266825"/>
            <a:ext cx="7899390" cy="5305425"/>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U.S.</a:t>
            </a:r>
          </a:p>
          <a:p>
            <a:pPr algn="ctr"/>
            <a:r>
              <a:rPr sz="1100" b="0">
                <a:solidFill>
                  <a:srgbClr val="FFFFFF"/>
                </a:solidFill>
                <a:latin typeface="Calibri"/>
              </a:rPr>
              <a:t> </a:t>
            </a:r>
          </a:p>
        </p:txBody>
      </p:sp>
      <p:sp>
        <p:nvSpPr>
          <p:cNvPr id="14" name="Rectangle 13"/>
          <p:cNvSpPr/>
          <p:nvPr/>
        </p:nvSpPr>
        <p:spPr>
          <a:xfrm>
            <a:off x="8137515" y="1266825"/>
            <a:ext cx="3816360" cy="5305425"/>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Canada</a:t>
            </a:r>
          </a:p>
          <a:p>
            <a:pPr algn="ctr"/>
            <a:r>
              <a:rPr sz="1100" b="0">
                <a:solidFill>
                  <a:srgbClr val="FFFFFF"/>
                </a:solidFill>
                <a:latin typeface="Calibri"/>
              </a:rPr>
              <a:t> </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4130194" y="3919537"/>
            <a:ext cx="115252" cy="167639"/>
          </a:xfrm>
          <a:prstGeom prst="rect">
            <a:avLst/>
          </a:prstGeom>
        </p:spPr>
      </p:pic>
      <p:pic>
        <p:nvPicPr>
          <p:cNvPr id="17" name="Picture 16" descr="lock.png"/>
          <p:cNvPicPr>
            <a:picLocks noChangeAspect="1"/>
          </p:cNvPicPr>
          <p:nvPr/>
        </p:nvPicPr>
        <p:blipFill>
          <a:blip r:embed="rId4"/>
          <a:stretch>
            <a:fillRect/>
          </a:stretch>
        </p:blipFill>
        <p:spPr>
          <a:xfrm>
            <a:off x="9988068" y="3919537"/>
            <a:ext cx="115252" cy="167639"/>
          </a:xfrm>
          <a:prstGeom prst="rect">
            <a:avLst/>
          </a:prstGeom>
        </p:spPr>
      </p:pic>
    </p:spTree>
  </p:cSld>
  <p:clrMapOvr>
    <a:masterClrMapping/>
  </p:clrMapOvr>
</p:sld>
</file>

<file path=ppt/slides/slide13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16217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505075"/>
            <a:ext cx="8572500" cy="514350"/>
          </a:xfrm>
          <a:prstGeom prst="rect">
            <a:avLst/>
          </a:prstGeom>
          <a:noFill/>
        </p:spPr>
        <p:txBody>
          <a:bodyPr wrap="square" lIns="0" rIns="0" tIns="0">
            <a:spAutoFit/>
          </a:bodyPr>
          <a:lstStyle/>
          <a:p>
            <a:r>
              <a:rPr sz="3000" b="1">
                <a:solidFill>
                  <a:srgbClr val="0B3C8C"/>
                </a:solidFill>
                <a:latin typeface="Calibri"/>
              </a:rPr>
              <a:t>North America Market Analysis By Segments</a:t>
            </a:r>
          </a:p>
        </p:txBody>
      </p:sp>
      <p:sp>
        <p:nvSpPr>
          <p:cNvPr id="11" name="TextBox 10"/>
          <p:cNvSpPr txBox="1"/>
          <p:nvPr/>
        </p:nvSpPr>
        <p:spPr>
          <a:xfrm>
            <a:off x="914400" y="3190875"/>
            <a:ext cx="8458200" cy="24574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Material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Technology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End User</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Distribution Channel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Patient Age Group</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Product Type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Type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Product Type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Product Type,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Product Type segment categorizes the market by product type.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Flexible Partial Dentures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Combination Framework Partial Den…</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Cast Metal Partial Dentures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Acrylic Partial Dentures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05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5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Product Type split shows how demand is distributed across product type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4" name="Picture 63" descr="132_6_605E5C.png"/>
          <p:cNvPicPr>
            <a:picLocks noChangeAspect="1"/>
          </p:cNvPicPr>
          <p:nvPr/>
        </p:nvPicPr>
        <p:blipFill>
          <a:blip r:embed="rId4"/>
          <a:stretch>
            <a:fillRect/>
          </a:stretch>
        </p:blipFill>
        <p:spPr>
          <a:xfrm>
            <a:off x="2476330" y="2286582"/>
            <a:ext cx="1195728" cy="361950"/>
          </a:xfrm>
          <a:prstGeom prst="rect">
            <a:avLst/>
          </a:prstGeom>
        </p:spPr>
      </p:pic>
      <p:pic>
        <p:nvPicPr>
          <p:cNvPr id="65" name="Picture 64" descr="164_2_605E5C.png"/>
          <p:cNvPicPr>
            <a:picLocks noChangeAspect="1"/>
          </p:cNvPicPr>
          <p:nvPr/>
        </p:nvPicPr>
        <p:blipFill>
          <a:blip r:embed="rId5"/>
          <a:stretch>
            <a:fillRect/>
          </a:stretch>
        </p:blipFill>
        <p:spPr>
          <a:xfrm>
            <a:off x="2476330" y="2779432"/>
            <a:ext cx="1195728" cy="361950"/>
          </a:xfrm>
          <a:prstGeom prst="rect">
            <a:avLst/>
          </a:prstGeom>
        </p:spPr>
      </p:pic>
      <p:pic>
        <p:nvPicPr>
          <p:cNvPr id="66" name="Picture 65" descr="2_2__605E5C.png"/>
          <p:cNvPicPr>
            <a:picLocks noChangeAspect="1"/>
          </p:cNvPicPr>
          <p:nvPr/>
        </p:nvPicPr>
        <p:blipFill>
          <a:blip r:embed="rId6"/>
          <a:stretch>
            <a:fillRect/>
          </a:stretch>
        </p:blipFill>
        <p:spPr>
          <a:xfrm>
            <a:off x="2582976" y="3272281"/>
            <a:ext cx="982436" cy="361950"/>
          </a:xfrm>
          <a:prstGeom prst="rect">
            <a:avLst/>
          </a:prstGeom>
        </p:spPr>
      </p:pic>
      <p:pic>
        <p:nvPicPr>
          <p:cNvPr id="67" name="Picture 66" descr="94_4_605E5C.png"/>
          <p:cNvPicPr>
            <a:picLocks noChangeAspect="1"/>
          </p:cNvPicPr>
          <p:nvPr/>
        </p:nvPicPr>
        <p:blipFill>
          <a:blip r:embed="rId7"/>
          <a:stretch>
            <a:fillRect/>
          </a:stretch>
        </p:blipFill>
        <p:spPr>
          <a:xfrm>
            <a:off x="5111864" y="2286582"/>
            <a:ext cx="982436" cy="361950"/>
          </a:xfrm>
          <a:prstGeom prst="rect">
            <a:avLst/>
          </a:prstGeom>
        </p:spPr>
      </p:pic>
      <p:pic>
        <p:nvPicPr>
          <p:cNvPr id="68" name="Picture 67" descr="143_8_605E5C.png"/>
          <p:cNvPicPr>
            <a:picLocks noChangeAspect="1"/>
          </p:cNvPicPr>
          <p:nvPr/>
        </p:nvPicPr>
        <p:blipFill>
          <a:blip r:embed="rId8"/>
          <a:stretch>
            <a:fillRect/>
          </a:stretch>
        </p:blipFill>
        <p:spPr>
          <a:xfrm>
            <a:off x="5005218" y="2779432"/>
            <a:ext cx="1195728" cy="361950"/>
          </a:xfrm>
          <a:prstGeom prst="rect">
            <a:avLst/>
          </a:prstGeom>
        </p:spPr>
      </p:pic>
      <p:pic>
        <p:nvPicPr>
          <p:cNvPr id="69" name="Picture 68" descr="4_3__605E5C.png"/>
          <p:cNvPicPr>
            <a:picLocks noChangeAspect="1"/>
          </p:cNvPicPr>
          <p:nvPr/>
        </p:nvPicPr>
        <p:blipFill>
          <a:blip r:embed="rId9"/>
          <a:stretch>
            <a:fillRect/>
          </a:stretch>
        </p:blipFill>
        <p:spPr>
          <a:xfrm>
            <a:off x="5111864" y="3272281"/>
            <a:ext cx="982436" cy="361950"/>
          </a:xfrm>
          <a:prstGeom prst="rect">
            <a:avLst/>
          </a:prstGeom>
        </p:spPr>
      </p:pic>
      <p:pic>
        <p:nvPicPr>
          <p:cNvPr id="70" name="Picture 69" descr="75_8_605E5C.png"/>
          <p:cNvPicPr>
            <a:picLocks noChangeAspect="1"/>
          </p:cNvPicPr>
          <p:nvPr/>
        </p:nvPicPr>
        <p:blipFill>
          <a:blip r:embed="rId10"/>
          <a:stretch>
            <a:fillRect/>
          </a:stretch>
        </p:blipFill>
        <p:spPr>
          <a:xfrm>
            <a:off x="7640751" y="2286582"/>
            <a:ext cx="982436" cy="361950"/>
          </a:xfrm>
          <a:prstGeom prst="rect">
            <a:avLst/>
          </a:prstGeom>
        </p:spPr>
      </p:pic>
      <p:pic>
        <p:nvPicPr>
          <p:cNvPr id="71" name="Picture 70" descr="129_4_605E5C.png"/>
          <p:cNvPicPr>
            <a:picLocks noChangeAspect="1"/>
          </p:cNvPicPr>
          <p:nvPr/>
        </p:nvPicPr>
        <p:blipFill>
          <a:blip r:embed="rId11"/>
          <a:stretch>
            <a:fillRect/>
          </a:stretch>
        </p:blipFill>
        <p:spPr>
          <a:xfrm>
            <a:off x="7534105" y="2779432"/>
            <a:ext cx="1195728" cy="361950"/>
          </a:xfrm>
          <a:prstGeom prst="rect">
            <a:avLst/>
          </a:prstGeom>
        </p:spPr>
      </p:pic>
      <p:pic>
        <p:nvPicPr>
          <p:cNvPr id="72" name="Picture 71" descr="5_5__605E5C.png"/>
          <p:cNvPicPr>
            <a:picLocks noChangeAspect="1"/>
          </p:cNvPicPr>
          <p:nvPr/>
        </p:nvPicPr>
        <p:blipFill>
          <a:blip r:embed="rId12"/>
          <a:stretch>
            <a:fillRect/>
          </a:stretch>
        </p:blipFill>
        <p:spPr>
          <a:xfrm>
            <a:off x="7640751" y="3272281"/>
            <a:ext cx="982436" cy="361950"/>
          </a:xfrm>
          <a:prstGeom prst="rect">
            <a:avLst/>
          </a:prstGeom>
        </p:spPr>
      </p:pic>
      <p:pic>
        <p:nvPicPr>
          <p:cNvPr id="73" name="Picture 72" descr="68_5_605E5C.png"/>
          <p:cNvPicPr>
            <a:picLocks noChangeAspect="1"/>
          </p:cNvPicPr>
          <p:nvPr/>
        </p:nvPicPr>
        <p:blipFill>
          <a:blip r:embed="rId13"/>
          <a:stretch>
            <a:fillRect/>
          </a:stretch>
        </p:blipFill>
        <p:spPr>
          <a:xfrm>
            <a:off x="10169638" y="2286582"/>
            <a:ext cx="982436" cy="361950"/>
          </a:xfrm>
          <a:prstGeom prst="rect">
            <a:avLst/>
          </a:prstGeom>
        </p:spPr>
      </p:pic>
      <p:pic>
        <p:nvPicPr>
          <p:cNvPr id="74" name="Picture 73" descr="86_5_605E5C.png"/>
          <p:cNvPicPr>
            <a:picLocks noChangeAspect="1"/>
          </p:cNvPicPr>
          <p:nvPr/>
        </p:nvPicPr>
        <p:blipFill>
          <a:blip r:embed="rId14"/>
          <a:stretch>
            <a:fillRect/>
          </a:stretch>
        </p:blipFill>
        <p:spPr>
          <a:xfrm>
            <a:off x="10169638" y="2779432"/>
            <a:ext cx="982436" cy="361950"/>
          </a:xfrm>
          <a:prstGeom prst="rect">
            <a:avLst/>
          </a:prstGeom>
        </p:spPr>
      </p:pic>
      <p:pic>
        <p:nvPicPr>
          <p:cNvPr id="75" name="Picture 74" descr="2_4__605E5C.png"/>
          <p:cNvPicPr>
            <a:picLocks noChangeAspect="1"/>
          </p:cNvPicPr>
          <p:nvPr/>
        </p:nvPicPr>
        <p:blipFill>
          <a:blip r:embed="rId15"/>
          <a:stretch>
            <a:fillRect/>
          </a:stretch>
        </p:blipFill>
        <p:spPr>
          <a:xfrm>
            <a:off x="10169638" y="3272281"/>
            <a:ext cx="982436" cy="361950"/>
          </a:xfrm>
          <a:prstGeom prst="rect">
            <a:avLst/>
          </a:prstGeom>
        </p:spPr>
      </p:pic>
      <p:pic>
        <p:nvPicPr>
          <p:cNvPr id="76" name="Picture 75" descr="lock.png"/>
          <p:cNvPicPr>
            <a:picLocks noChangeAspect="1"/>
          </p:cNvPicPr>
          <p:nvPr/>
        </p:nvPicPr>
        <p:blipFill>
          <a:blip r:embed="rId16"/>
          <a:stretch>
            <a:fillRect/>
          </a:stretch>
        </p:blipFill>
        <p:spPr>
          <a:xfrm>
            <a:off x="2980848" y="2827057"/>
            <a:ext cx="183356" cy="266700"/>
          </a:xfrm>
          <a:prstGeom prst="rect">
            <a:avLst/>
          </a:prstGeom>
        </p:spPr>
      </p:pic>
      <p:pic>
        <p:nvPicPr>
          <p:cNvPr id="77" name="Picture 76" descr="lock.png"/>
          <p:cNvPicPr>
            <a:picLocks noChangeAspect="1"/>
          </p:cNvPicPr>
          <p:nvPr/>
        </p:nvPicPr>
        <p:blipFill>
          <a:blip r:embed="rId16"/>
          <a:stretch>
            <a:fillRect/>
          </a:stretch>
        </p:blipFill>
        <p:spPr>
          <a:xfrm>
            <a:off x="5509737" y="2827057"/>
            <a:ext cx="183356" cy="266700"/>
          </a:xfrm>
          <a:prstGeom prst="rect">
            <a:avLst/>
          </a:prstGeom>
        </p:spPr>
      </p:pic>
      <p:pic>
        <p:nvPicPr>
          <p:cNvPr id="78" name="Picture 77" descr="lock.png"/>
          <p:cNvPicPr>
            <a:picLocks noChangeAspect="1"/>
          </p:cNvPicPr>
          <p:nvPr/>
        </p:nvPicPr>
        <p:blipFill>
          <a:blip r:embed="rId16"/>
          <a:stretch>
            <a:fillRect/>
          </a:stretch>
        </p:blipFill>
        <p:spPr>
          <a:xfrm>
            <a:off x="8038624" y="2827057"/>
            <a:ext cx="183356" cy="266700"/>
          </a:xfrm>
          <a:prstGeom prst="rect">
            <a:avLst/>
          </a:prstGeom>
        </p:spPr>
      </p:pic>
      <p:pic>
        <p:nvPicPr>
          <p:cNvPr id="79" name="Picture 78" descr="lock.png"/>
          <p:cNvPicPr>
            <a:picLocks noChangeAspect="1"/>
          </p:cNvPicPr>
          <p:nvPr/>
        </p:nvPicPr>
        <p:blipFill>
          <a:blip r:embed="rId16"/>
          <a:stretch>
            <a:fillRect/>
          </a:stretch>
        </p:blipFill>
        <p:spPr>
          <a:xfrm>
            <a:off x="10567511" y="2827057"/>
            <a:ext cx="183356" cy="266700"/>
          </a:xfrm>
          <a:prstGeom prst="rect">
            <a:avLst/>
          </a:prstGeom>
        </p:spPr>
      </p:pic>
      <p:sp>
        <p:nvSpPr>
          <p:cNvPr id="80" name="TextBox 79"/>
          <p:cNvSpPr txBox="1"/>
          <p:nvPr/>
        </p:nvSpPr>
        <p:spPr>
          <a:xfrm>
            <a:off x="485775" y="4229437"/>
            <a:ext cx="2905397" cy="186689"/>
          </a:xfrm>
          <a:prstGeom prst="rect">
            <a:avLst/>
          </a:prstGeom>
          <a:noFill/>
        </p:spPr>
        <p:txBody>
          <a:bodyPr wrap="none" lIns="0" rIns="0" tIns="0" bIns="0">
            <a:spAutoFit/>
          </a:bodyPr>
          <a:lstStyle/>
          <a:p>
            <a:r>
              <a:rPr sz="1100" b="0">
                <a:solidFill>
                  <a:srgbClr val="2E2E2E"/>
                </a:solidFill>
                <a:latin typeface="Calibri"/>
              </a:rPr>
              <a:t>▪ ¶ Among removable partial dentures by product</a:t>
            </a:r>
          </a:p>
        </p:txBody>
      </p:sp>
      <p:sp>
        <p:nvSpPr>
          <p:cNvPr id="81" name="TextBox 80"/>
          <p:cNvSpPr txBox="1"/>
          <p:nvPr/>
        </p:nvSpPr>
        <p:spPr>
          <a:xfrm>
            <a:off x="485775" y="4397077"/>
            <a:ext cx="2564060" cy="186689"/>
          </a:xfrm>
          <a:prstGeom prst="rect">
            <a:avLst/>
          </a:prstGeom>
          <a:noFill/>
        </p:spPr>
        <p:txBody>
          <a:bodyPr wrap="none" lIns="0" rIns="0" tIns="0" bIns="0">
            <a:spAutoFit/>
          </a:bodyPr>
          <a:lstStyle/>
          <a:p>
            <a:r>
              <a:rPr sz="1100" b="0">
                <a:solidFill>
                  <a:srgbClr val="2E2E2E"/>
                </a:solidFill>
                <a:latin typeface="Calibri"/>
              </a:rPr>
              <a:t>type, cast metal partial dentures segment is</a:t>
            </a:r>
          </a:p>
        </p:txBody>
      </p:sp>
      <p:sp>
        <p:nvSpPr>
          <p:cNvPr id="82" name="TextBox 81"/>
          <p:cNvSpPr txBox="1"/>
          <p:nvPr/>
        </p:nvSpPr>
        <p:spPr>
          <a:xfrm>
            <a:off x="485775" y="4564717"/>
            <a:ext cx="2381232" cy="186689"/>
          </a:xfrm>
          <a:prstGeom prst="rect">
            <a:avLst/>
          </a:prstGeom>
          <a:noFill/>
        </p:spPr>
        <p:txBody>
          <a:bodyPr wrap="none" lIns="0" rIns="0" tIns="0" bIns="0">
            <a:spAutoFit/>
          </a:bodyPr>
          <a:lstStyle/>
          <a:p>
            <a:r>
              <a:rPr sz="1100" b="0">
                <a:solidFill>
                  <a:srgbClr val="2E2E2E"/>
                </a:solidFill>
                <a:latin typeface="Calibri"/>
              </a:rPr>
              <a:t>expected to witness the highest CAGR of</a:t>
            </a:r>
          </a:p>
        </p:txBody>
      </p:sp>
      <p:pic>
        <p:nvPicPr>
          <p:cNvPr id="83" name="Picture 82" descr="lock.png"/>
          <p:cNvPicPr>
            <a:picLocks noChangeAspect="1"/>
          </p:cNvPicPr>
          <p:nvPr/>
        </p:nvPicPr>
        <p:blipFill>
          <a:blip r:embed="rId16"/>
          <a:stretch>
            <a:fillRect/>
          </a:stretch>
        </p:blipFill>
        <p:spPr>
          <a:xfrm>
            <a:off x="2815059" y="4554938"/>
            <a:ext cx="128699" cy="187198"/>
          </a:xfrm>
          <a:prstGeom prst="rect">
            <a:avLst/>
          </a:prstGeom>
        </p:spPr>
      </p:pic>
      <p:sp>
        <p:nvSpPr>
          <p:cNvPr id="84" name="TextBox 83"/>
          <p:cNvSpPr txBox="1"/>
          <p:nvPr/>
        </p:nvSpPr>
        <p:spPr>
          <a:xfrm>
            <a:off x="2982555" y="4564717"/>
            <a:ext cx="331316" cy="186689"/>
          </a:xfrm>
          <a:prstGeom prst="rect">
            <a:avLst/>
          </a:prstGeom>
          <a:noFill/>
        </p:spPr>
        <p:txBody>
          <a:bodyPr wrap="none" lIns="0" rIns="0" tIns="0" bIns="0">
            <a:spAutoFit/>
          </a:bodyPr>
          <a:lstStyle/>
          <a:p>
            <a:r>
              <a:rPr sz="1100" b="0">
                <a:solidFill>
                  <a:srgbClr val="2E2E2E"/>
                </a:solidFill>
                <a:latin typeface="Calibri"/>
              </a:rPr>
              <a:t>over</a:t>
            </a:r>
          </a:p>
        </p:txBody>
      </p:sp>
      <p:sp>
        <p:nvSpPr>
          <p:cNvPr id="85" name="TextBox 84"/>
          <p:cNvSpPr txBox="1"/>
          <p:nvPr/>
        </p:nvSpPr>
        <p:spPr>
          <a:xfrm>
            <a:off x="485775" y="4732357"/>
            <a:ext cx="2699122" cy="186689"/>
          </a:xfrm>
          <a:prstGeom prst="rect">
            <a:avLst/>
          </a:prstGeom>
          <a:noFill/>
        </p:spPr>
        <p:txBody>
          <a:bodyPr wrap="none" lIns="0" rIns="0" tIns="0" bIns="0">
            <a:spAutoFit/>
          </a:bodyPr>
          <a:lstStyle/>
          <a:p>
            <a:r>
              <a:rPr sz="1100" b="0">
                <a:solidFill>
                  <a:srgbClr val="2E2E2E"/>
                </a:solidFill>
                <a:latin typeface="Calibri"/>
              </a:rPr>
              <a:t>the forecast period. In terms of value share by</a:t>
            </a:r>
          </a:p>
        </p:txBody>
      </p:sp>
      <p:sp>
        <p:nvSpPr>
          <p:cNvPr id="86" name="TextBox 85"/>
          <p:cNvSpPr txBox="1"/>
          <p:nvPr/>
        </p:nvSpPr>
        <p:spPr>
          <a:xfrm>
            <a:off x="485775" y="4899997"/>
            <a:ext cx="2914650" cy="186689"/>
          </a:xfrm>
          <a:prstGeom prst="rect">
            <a:avLst/>
          </a:prstGeom>
          <a:noFill/>
        </p:spPr>
        <p:txBody>
          <a:bodyPr wrap="none" lIns="0" rIns="0" tIns="0" bIns="0">
            <a:spAutoFit/>
          </a:bodyPr>
          <a:lstStyle/>
          <a:p>
            <a:r>
              <a:rPr sz="1100" b="0">
                <a:solidFill>
                  <a:srgbClr val="2E2E2E"/>
                </a:solidFill>
                <a:latin typeface="Calibri"/>
              </a:rPr>
              <a:t>product type, the flexible partial dentures segment</a:t>
            </a:r>
          </a:p>
        </p:txBody>
      </p:sp>
      <p:sp>
        <p:nvSpPr>
          <p:cNvPr id="87" name="TextBox 86"/>
          <p:cNvSpPr txBox="1"/>
          <p:nvPr/>
        </p:nvSpPr>
        <p:spPr>
          <a:xfrm>
            <a:off x="485775" y="5067637"/>
            <a:ext cx="2507307" cy="186689"/>
          </a:xfrm>
          <a:prstGeom prst="rect">
            <a:avLst/>
          </a:prstGeom>
          <a:noFill/>
        </p:spPr>
        <p:txBody>
          <a:bodyPr wrap="none" lIns="0" rIns="0" tIns="0" bIns="0">
            <a:spAutoFit/>
          </a:bodyPr>
          <a:lstStyle/>
          <a:p>
            <a:r>
              <a:rPr sz="1100" b="0">
                <a:solidFill>
                  <a:srgbClr val="2E2E2E"/>
                </a:solidFill>
                <a:latin typeface="Calibri"/>
              </a:rPr>
              <a:t>is expected to dominate the market, losing</a:t>
            </a:r>
          </a:p>
        </p:txBody>
      </p:sp>
      <p:pic>
        <p:nvPicPr>
          <p:cNvPr id="88" name="Picture 87" descr="lock.png"/>
          <p:cNvPicPr>
            <a:picLocks noChangeAspect="1"/>
          </p:cNvPicPr>
          <p:nvPr/>
        </p:nvPicPr>
        <p:blipFill>
          <a:blip r:embed="rId16"/>
          <a:stretch>
            <a:fillRect/>
          </a:stretch>
        </p:blipFill>
        <p:spPr>
          <a:xfrm>
            <a:off x="2941134" y="5057858"/>
            <a:ext cx="128699" cy="187198"/>
          </a:xfrm>
          <a:prstGeom prst="rect">
            <a:avLst/>
          </a:prstGeom>
        </p:spPr>
      </p:pic>
      <p:sp>
        <p:nvSpPr>
          <p:cNvPr id="89" name="TextBox 88"/>
          <p:cNvSpPr txBox="1"/>
          <p:nvPr/>
        </p:nvSpPr>
        <p:spPr>
          <a:xfrm>
            <a:off x="485775" y="5235277"/>
            <a:ext cx="1386433" cy="186689"/>
          </a:xfrm>
          <a:prstGeom prst="rect">
            <a:avLst/>
          </a:prstGeom>
          <a:noFill/>
        </p:spPr>
        <p:txBody>
          <a:bodyPr wrap="none" lIns="0" rIns="0" tIns="0" bIns="0">
            <a:spAutoFit/>
          </a:bodyPr>
          <a:lstStyle/>
          <a:p>
            <a:r>
              <a:rPr sz="1100" b="0">
                <a:solidFill>
                  <a:srgbClr val="2E2E2E"/>
                </a:solidFill>
                <a:latin typeface="Calibri"/>
              </a:rPr>
              <a:t>BPS and accounting for</a:t>
            </a:r>
          </a:p>
        </p:txBody>
      </p:sp>
      <p:pic>
        <p:nvPicPr>
          <p:cNvPr id="90" name="Picture 89" descr="lock.png"/>
          <p:cNvPicPr>
            <a:picLocks noChangeAspect="1"/>
          </p:cNvPicPr>
          <p:nvPr/>
        </p:nvPicPr>
        <p:blipFill>
          <a:blip r:embed="rId16"/>
          <a:stretch>
            <a:fillRect/>
          </a:stretch>
        </p:blipFill>
        <p:spPr>
          <a:xfrm>
            <a:off x="1820259" y="5225498"/>
            <a:ext cx="128699" cy="187198"/>
          </a:xfrm>
          <a:prstGeom prst="rect">
            <a:avLst/>
          </a:prstGeom>
        </p:spPr>
      </p:pic>
      <p:sp>
        <p:nvSpPr>
          <p:cNvPr id="91" name="TextBox 90"/>
          <p:cNvSpPr txBox="1"/>
          <p:nvPr/>
        </p:nvSpPr>
        <p:spPr>
          <a:xfrm>
            <a:off x="1987755" y="523527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92" name="TextBox 91"/>
          <p:cNvSpPr txBox="1"/>
          <p:nvPr/>
        </p:nvSpPr>
        <p:spPr>
          <a:xfrm>
            <a:off x="485775" y="5453209"/>
            <a:ext cx="2866107" cy="186689"/>
          </a:xfrm>
          <a:prstGeom prst="rect">
            <a:avLst/>
          </a:prstGeom>
          <a:noFill/>
        </p:spPr>
        <p:txBody>
          <a:bodyPr wrap="none" lIns="0" rIns="0" tIns="0" bIns="0">
            <a:spAutoFit/>
          </a:bodyPr>
          <a:lstStyle/>
          <a:p>
            <a:r>
              <a:rPr sz="1100" b="0">
                <a:solidFill>
                  <a:srgbClr val="2E2E2E"/>
                </a:solidFill>
                <a:latin typeface="Calibri"/>
              </a:rPr>
              <a:t>▪ ¶ Flexible partial dentures segment is projected</a:t>
            </a:r>
          </a:p>
        </p:txBody>
      </p:sp>
      <p:sp>
        <p:nvSpPr>
          <p:cNvPr id="93" name="TextBox 92"/>
          <p:cNvSpPr txBox="1"/>
          <p:nvPr/>
        </p:nvSpPr>
        <p:spPr>
          <a:xfrm>
            <a:off x="485775" y="5620849"/>
            <a:ext cx="664740" cy="186689"/>
          </a:xfrm>
          <a:prstGeom prst="rect">
            <a:avLst/>
          </a:prstGeom>
          <a:noFill/>
        </p:spPr>
        <p:txBody>
          <a:bodyPr wrap="none" lIns="0" rIns="0" tIns="0" bIns="0">
            <a:spAutoFit/>
          </a:bodyPr>
          <a:lstStyle/>
          <a:p>
            <a:r>
              <a:rPr sz="1100" b="0">
                <a:solidFill>
                  <a:srgbClr val="2E2E2E"/>
                </a:solidFill>
                <a:latin typeface="Calibri"/>
              </a:rPr>
              <a:t>to register</a:t>
            </a:r>
          </a:p>
        </p:txBody>
      </p:sp>
      <p:pic>
        <p:nvPicPr>
          <p:cNvPr id="94" name="Picture 93" descr="lock.png"/>
          <p:cNvPicPr>
            <a:picLocks noChangeAspect="1"/>
          </p:cNvPicPr>
          <p:nvPr/>
        </p:nvPicPr>
        <p:blipFill>
          <a:blip r:embed="rId16"/>
          <a:stretch>
            <a:fillRect/>
          </a:stretch>
        </p:blipFill>
        <p:spPr>
          <a:xfrm>
            <a:off x="1098567" y="5611070"/>
            <a:ext cx="128699" cy="187198"/>
          </a:xfrm>
          <a:prstGeom prst="rect">
            <a:avLst/>
          </a:prstGeom>
        </p:spPr>
      </p:pic>
      <p:sp>
        <p:nvSpPr>
          <p:cNvPr id="95" name="TextBox 94"/>
          <p:cNvSpPr txBox="1"/>
          <p:nvPr/>
        </p:nvSpPr>
        <p:spPr>
          <a:xfrm>
            <a:off x="1266063" y="5620849"/>
            <a:ext cx="1920676" cy="186689"/>
          </a:xfrm>
          <a:prstGeom prst="rect">
            <a:avLst/>
          </a:prstGeom>
          <a:noFill/>
        </p:spPr>
        <p:txBody>
          <a:bodyPr wrap="none" lIns="0" rIns="0" tIns="0" bIns="0">
            <a:spAutoFit/>
          </a:bodyPr>
          <a:lstStyle/>
          <a:p>
            <a:r>
              <a:rPr sz="1100" b="0">
                <a:solidFill>
                  <a:srgbClr val="2E2E2E"/>
                </a:solidFill>
                <a:latin typeface="Calibri"/>
              </a:rPr>
              <a:t>X higher value than combination</a:t>
            </a:r>
          </a:p>
        </p:txBody>
      </p:sp>
      <p:sp>
        <p:nvSpPr>
          <p:cNvPr id="96" name="TextBox 95"/>
          <p:cNvSpPr txBox="1"/>
          <p:nvPr/>
        </p:nvSpPr>
        <p:spPr>
          <a:xfrm>
            <a:off x="485775" y="5788489"/>
            <a:ext cx="2652737" cy="186689"/>
          </a:xfrm>
          <a:prstGeom prst="rect">
            <a:avLst/>
          </a:prstGeom>
          <a:noFill/>
        </p:spPr>
        <p:txBody>
          <a:bodyPr wrap="none" lIns="0" rIns="0" tIns="0" bIns="0">
            <a:spAutoFit/>
          </a:bodyPr>
          <a:lstStyle/>
          <a:p>
            <a:r>
              <a:rPr sz="1100" b="0">
                <a:solidFill>
                  <a:srgbClr val="2E2E2E"/>
                </a:solidFill>
                <a:latin typeface="Calibri"/>
              </a:rPr>
              <a:t>framework partial dentures segment in 2036.</a:t>
            </a:r>
          </a:p>
        </p:txBody>
      </p:sp>
      <p:sp>
        <p:nvSpPr>
          <p:cNvPr id="97" name="TextBox 96"/>
          <p:cNvSpPr txBox="1"/>
          <p:nvPr/>
        </p:nvSpPr>
        <p:spPr>
          <a:xfrm>
            <a:off x="3838575" y="4229437"/>
            <a:ext cx="1615082" cy="186689"/>
          </a:xfrm>
          <a:prstGeom prst="rect">
            <a:avLst/>
          </a:prstGeom>
          <a:noFill/>
        </p:spPr>
        <p:txBody>
          <a:bodyPr wrap="none" lIns="0" rIns="0" tIns="0" bIns="0">
            <a:spAutoFit/>
          </a:bodyPr>
          <a:lstStyle/>
          <a:p>
            <a:r>
              <a:rPr sz="1100" b="0">
                <a:solidFill>
                  <a:srgbClr val="2E2E2E"/>
                </a:solidFill>
                <a:latin typeface="Calibri"/>
              </a:rPr>
              <a:t>● Flexible Partial Dentures:</a:t>
            </a:r>
          </a:p>
        </p:txBody>
      </p:sp>
      <p:pic>
        <p:nvPicPr>
          <p:cNvPr id="98" name="Picture 97" descr="lock.png"/>
          <p:cNvPicPr>
            <a:picLocks noChangeAspect="1"/>
          </p:cNvPicPr>
          <p:nvPr/>
        </p:nvPicPr>
        <p:blipFill>
          <a:blip r:embed="rId16"/>
          <a:stretch>
            <a:fillRect/>
          </a:stretch>
        </p:blipFill>
        <p:spPr>
          <a:xfrm>
            <a:off x="5401709" y="4219658"/>
            <a:ext cx="128699" cy="187198"/>
          </a:xfrm>
          <a:prstGeom prst="rect">
            <a:avLst/>
          </a:prstGeom>
        </p:spPr>
      </p:pic>
      <p:sp>
        <p:nvSpPr>
          <p:cNvPr id="99" name="TextBox 98"/>
          <p:cNvSpPr txBox="1"/>
          <p:nvPr/>
        </p:nvSpPr>
        <p:spPr>
          <a:xfrm>
            <a:off x="5569205"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0" name="Picture 99" descr="lock.png"/>
          <p:cNvPicPr>
            <a:picLocks noChangeAspect="1"/>
          </p:cNvPicPr>
          <p:nvPr/>
        </p:nvPicPr>
        <p:blipFill>
          <a:blip r:embed="rId16"/>
          <a:stretch>
            <a:fillRect/>
          </a:stretch>
        </p:blipFill>
        <p:spPr>
          <a:xfrm>
            <a:off x="6428655" y="4219658"/>
            <a:ext cx="128699" cy="187198"/>
          </a:xfrm>
          <a:prstGeom prst="rect">
            <a:avLst/>
          </a:prstGeom>
        </p:spPr>
      </p:pic>
      <p:sp>
        <p:nvSpPr>
          <p:cNvPr id="101" name="TextBox 100"/>
          <p:cNvSpPr txBox="1"/>
          <p:nvPr/>
        </p:nvSpPr>
        <p:spPr>
          <a:xfrm>
            <a:off x="6596151" y="4229437"/>
            <a:ext cx="945215" cy="186689"/>
          </a:xfrm>
          <a:prstGeom prst="rect">
            <a:avLst/>
          </a:prstGeom>
          <a:noFill/>
        </p:spPr>
        <p:txBody>
          <a:bodyPr wrap="none" lIns="0" rIns="0" tIns="0" bIns="0">
            <a:spAutoFit/>
          </a:bodyPr>
          <a:lstStyle/>
          <a:p>
            <a:r>
              <a:rPr sz="1100" b="0">
                <a:solidFill>
                  <a:srgbClr val="2E2E2E"/>
                </a:solidFill>
                <a:latin typeface="Calibri"/>
              </a:rPr>
              <a:t>CAGR leads the</a:t>
            </a:r>
          </a:p>
        </p:txBody>
      </p:sp>
      <p:sp>
        <p:nvSpPr>
          <p:cNvPr id="102" name="TextBox 101"/>
          <p:cNvSpPr txBox="1"/>
          <p:nvPr/>
        </p:nvSpPr>
        <p:spPr>
          <a:xfrm>
            <a:off x="3838575" y="4397077"/>
            <a:ext cx="602803" cy="186689"/>
          </a:xfrm>
          <a:prstGeom prst="rect">
            <a:avLst/>
          </a:prstGeom>
          <a:noFill/>
        </p:spPr>
        <p:txBody>
          <a:bodyPr wrap="none" lIns="0" rIns="0" tIns="0" bIns="0">
            <a:spAutoFit/>
          </a:bodyPr>
          <a:lstStyle/>
          <a:p>
            <a:r>
              <a:rPr sz="1100" b="0">
                <a:solidFill>
                  <a:srgbClr val="2E2E2E"/>
                </a:solidFill>
                <a:latin typeface="Calibri"/>
              </a:rPr>
              <a:t>segment.</a:t>
            </a:r>
          </a:p>
        </p:txBody>
      </p:sp>
      <p:sp>
        <p:nvSpPr>
          <p:cNvPr id="103" name="TextBox 102"/>
          <p:cNvSpPr txBox="1"/>
          <p:nvPr/>
        </p:nvSpPr>
        <p:spPr>
          <a:xfrm>
            <a:off x="3838575" y="4615009"/>
            <a:ext cx="2591618" cy="186689"/>
          </a:xfrm>
          <a:prstGeom prst="rect">
            <a:avLst/>
          </a:prstGeom>
          <a:noFill/>
        </p:spPr>
        <p:txBody>
          <a:bodyPr wrap="none" lIns="0" rIns="0" tIns="0" bIns="0">
            <a:spAutoFit/>
          </a:bodyPr>
          <a:lstStyle/>
          <a:p>
            <a:r>
              <a:rPr sz="1100" b="0">
                <a:solidFill>
                  <a:srgbClr val="2E2E2E"/>
                </a:solidFill>
                <a:latin typeface="Calibri"/>
              </a:rPr>
              <a:t>● Combination Framework Partial Dentures:</a:t>
            </a:r>
          </a:p>
        </p:txBody>
      </p:sp>
      <p:pic>
        <p:nvPicPr>
          <p:cNvPr id="104" name="Picture 103" descr="lock.png"/>
          <p:cNvPicPr>
            <a:picLocks noChangeAspect="1"/>
          </p:cNvPicPr>
          <p:nvPr/>
        </p:nvPicPr>
        <p:blipFill>
          <a:blip r:embed="rId16"/>
          <a:stretch>
            <a:fillRect/>
          </a:stretch>
        </p:blipFill>
        <p:spPr>
          <a:xfrm>
            <a:off x="6378245" y="4605230"/>
            <a:ext cx="128699" cy="187198"/>
          </a:xfrm>
          <a:prstGeom prst="rect">
            <a:avLst/>
          </a:prstGeom>
        </p:spPr>
      </p:pic>
      <p:sp>
        <p:nvSpPr>
          <p:cNvPr id="105" name="TextBox 104"/>
          <p:cNvSpPr txBox="1"/>
          <p:nvPr/>
        </p:nvSpPr>
        <p:spPr>
          <a:xfrm>
            <a:off x="6545740" y="461500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6" name="Picture 105" descr="lock.png"/>
          <p:cNvPicPr>
            <a:picLocks noChangeAspect="1"/>
          </p:cNvPicPr>
          <p:nvPr/>
        </p:nvPicPr>
        <p:blipFill>
          <a:blip r:embed="rId16"/>
          <a:stretch>
            <a:fillRect/>
          </a:stretch>
        </p:blipFill>
        <p:spPr>
          <a:xfrm>
            <a:off x="7405191" y="4605230"/>
            <a:ext cx="128699" cy="187198"/>
          </a:xfrm>
          <a:prstGeom prst="rect">
            <a:avLst/>
          </a:prstGeom>
        </p:spPr>
      </p:pic>
      <p:sp>
        <p:nvSpPr>
          <p:cNvPr id="107" name="TextBox 106"/>
          <p:cNvSpPr txBox="1"/>
          <p:nvPr/>
        </p:nvSpPr>
        <p:spPr>
          <a:xfrm>
            <a:off x="3838575" y="478264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08" name="TextBox 107"/>
          <p:cNvSpPr txBox="1"/>
          <p:nvPr/>
        </p:nvSpPr>
        <p:spPr>
          <a:xfrm>
            <a:off x="3838575" y="5000581"/>
            <a:ext cx="1790799" cy="186689"/>
          </a:xfrm>
          <a:prstGeom prst="rect">
            <a:avLst/>
          </a:prstGeom>
          <a:noFill/>
        </p:spPr>
        <p:txBody>
          <a:bodyPr wrap="none" lIns="0" rIns="0" tIns="0" bIns="0">
            <a:spAutoFit/>
          </a:bodyPr>
          <a:lstStyle/>
          <a:p>
            <a:r>
              <a:rPr sz="1100" b="0">
                <a:solidFill>
                  <a:srgbClr val="2E2E2E"/>
                </a:solidFill>
                <a:latin typeface="Calibri"/>
              </a:rPr>
              <a:t>● Cast Metal Partial Dentures:</a:t>
            </a:r>
          </a:p>
        </p:txBody>
      </p:sp>
      <p:pic>
        <p:nvPicPr>
          <p:cNvPr id="109" name="Picture 108" descr="lock.png"/>
          <p:cNvPicPr>
            <a:picLocks noChangeAspect="1"/>
          </p:cNvPicPr>
          <p:nvPr/>
        </p:nvPicPr>
        <p:blipFill>
          <a:blip r:embed="rId16"/>
          <a:stretch>
            <a:fillRect/>
          </a:stretch>
        </p:blipFill>
        <p:spPr>
          <a:xfrm>
            <a:off x="5577425" y="4990801"/>
            <a:ext cx="128699" cy="187198"/>
          </a:xfrm>
          <a:prstGeom prst="rect">
            <a:avLst/>
          </a:prstGeom>
        </p:spPr>
      </p:pic>
      <p:sp>
        <p:nvSpPr>
          <p:cNvPr id="110" name="TextBox 109"/>
          <p:cNvSpPr txBox="1"/>
          <p:nvPr/>
        </p:nvSpPr>
        <p:spPr>
          <a:xfrm>
            <a:off x="5744921" y="500058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1" name="Picture 110" descr="lock.png"/>
          <p:cNvPicPr>
            <a:picLocks noChangeAspect="1"/>
          </p:cNvPicPr>
          <p:nvPr/>
        </p:nvPicPr>
        <p:blipFill>
          <a:blip r:embed="rId16"/>
          <a:stretch>
            <a:fillRect/>
          </a:stretch>
        </p:blipFill>
        <p:spPr>
          <a:xfrm>
            <a:off x="6604371" y="4990801"/>
            <a:ext cx="128699" cy="187198"/>
          </a:xfrm>
          <a:prstGeom prst="rect">
            <a:avLst/>
          </a:prstGeom>
        </p:spPr>
      </p:pic>
      <p:sp>
        <p:nvSpPr>
          <p:cNvPr id="112" name="TextBox 111"/>
          <p:cNvSpPr txBox="1"/>
          <p:nvPr/>
        </p:nvSpPr>
        <p:spPr>
          <a:xfrm>
            <a:off x="6771867" y="5000581"/>
            <a:ext cx="769771" cy="186689"/>
          </a:xfrm>
          <a:prstGeom prst="rect">
            <a:avLst/>
          </a:prstGeom>
          <a:noFill/>
        </p:spPr>
        <p:txBody>
          <a:bodyPr wrap="none" lIns="0" rIns="0" tIns="0" bIns="0">
            <a:spAutoFit/>
          </a:bodyPr>
          <a:lstStyle/>
          <a:p>
            <a:r>
              <a:rPr sz="1100" b="0">
                <a:solidFill>
                  <a:srgbClr val="2E2E2E"/>
                </a:solidFill>
                <a:latin typeface="Calibri"/>
              </a:rPr>
              <a:t>CAGR grows</a:t>
            </a:r>
          </a:p>
        </p:txBody>
      </p:sp>
      <p:sp>
        <p:nvSpPr>
          <p:cNvPr id="113" name="TextBox 112"/>
          <p:cNvSpPr txBox="1"/>
          <p:nvPr/>
        </p:nvSpPr>
        <p:spPr>
          <a:xfrm>
            <a:off x="3838575" y="5168221"/>
            <a:ext cx="493390" cy="186689"/>
          </a:xfrm>
          <a:prstGeom prst="rect">
            <a:avLst/>
          </a:prstGeom>
          <a:noFill/>
        </p:spPr>
        <p:txBody>
          <a:bodyPr wrap="none" lIns="0" rIns="0" tIns="0" bIns="0">
            <a:spAutoFit/>
          </a:bodyPr>
          <a:lstStyle/>
          <a:p>
            <a:r>
              <a:rPr sz="1100" b="0">
                <a:solidFill>
                  <a:srgbClr val="2E2E2E"/>
                </a:solidFill>
                <a:latin typeface="Calibri"/>
              </a:rPr>
              <a:t>fastest.</a:t>
            </a:r>
          </a:p>
        </p:txBody>
      </p:sp>
      <p:sp>
        <p:nvSpPr>
          <p:cNvPr id="114" name="TextBox 113"/>
          <p:cNvSpPr txBox="1"/>
          <p:nvPr/>
        </p:nvSpPr>
        <p:spPr>
          <a:xfrm>
            <a:off x="3838575" y="5386153"/>
            <a:ext cx="1556965" cy="186689"/>
          </a:xfrm>
          <a:prstGeom prst="rect">
            <a:avLst/>
          </a:prstGeom>
          <a:noFill/>
        </p:spPr>
        <p:txBody>
          <a:bodyPr wrap="none" lIns="0" rIns="0" tIns="0" bIns="0">
            <a:spAutoFit/>
          </a:bodyPr>
          <a:lstStyle/>
          <a:p>
            <a:r>
              <a:rPr sz="1100" b="0">
                <a:solidFill>
                  <a:srgbClr val="2E2E2E"/>
                </a:solidFill>
                <a:latin typeface="Calibri"/>
              </a:rPr>
              <a:t>● Acrylic Partial Dentures:</a:t>
            </a:r>
          </a:p>
        </p:txBody>
      </p:sp>
      <p:pic>
        <p:nvPicPr>
          <p:cNvPr id="115" name="Picture 114" descr="lock.png"/>
          <p:cNvPicPr>
            <a:picLocks noChangeAspect="1"/>
          </p:cNvPicPr>
          <p:nvPr/>
        </p:nvPicPr>
        <p:blipFill>
          <a:blip r:embed="rId16"/>
          <a:stretch>
            <a:fillRect/>
          </a:stretch>
        </p:blipFill>
        <p:spPr>
          <a:xfrm>
            <a:off x="5343592" y="5376373"/>
            <a:ext cx="128699" cy="187198"/>
          </a:xfrm>
          <a:prstGeom prst="rect">
            <a:avLst/>
          </a:prstGeom>
        </p:spPr>
      </p:pic>
      <p:sp>
        <p:nvSpPr>
          <p:cNvPr id="116" name="TextBox 115"/>
          <p:cNvSpPr txBox="1"/>
          <p:nvPr/>
        </p:nvSpPr>
        <p:spPr>
          <a:xfrm>
            <a:off x="5511087" y="538615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7" name="Picture 116" descr="lock.png"/>
          <p:cNvPicPr>
            <a:picLocks noChangeAspect="1"/>
          </p:cNvPicPr>
          <p:nvPr/>
        </p:nvPicPr>
        <p:blipFill>
          <a:blip r:embed="rId16"/>
          <a:stretch>
            <a:fillRect/>
          </a:stretch>
        </p:blipFill>
        <p:spPr>
          <a:xfrm>
            <a:off x="6370538" y="5376373"/>
            <a:ext cx="128699" cy="187198"/>
          </a:xfrm>
          <a:prstGeom prst="rect">
            <a:avLst/>
          </a:prstGeom>
        </p:spPr>
      </p:pic>
      <p:sp>
        <p:nvSpPr>
          <p:cNvPr id="118" name="TextBox 117"/>
          <p:cNvSpPr txBox="1"/>
          <p:nvPr/>
        </p:nvSpPr>
        <p:spPr>
          <a:xfrm>
            <a:off x="6538033" y="5386153"/>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19" name="TextBox 118"/>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Product Type segment is projected to grow at a</a:t>
            </a:r>
          </a:p>
        </p:txBody>
      </p:sp>
      <p:sp>
        <p:nvSpPr>
          <p:cNvPr id="120" name="TextBox 119"/>
          <p:cNvSpPr txBox="1"/>
          <p:nvPr/>
        </p:nvSpPr>
        <p:spPr>
          <a:xfrm>
            <a:off x="8524875" y="6017901"/>
            <a:ext cx="574797" cy="194310"/>
          </a:xfrm>
          <a:prstGeom prst="rect">
            <a:avLst/>
          </a:prstGeom>
          <a:noFill/>
        </p:spPr>
        <p:txBody>
          <a:bodyPr wrap="none" lIns="0" rIns="0" tIns="0" bIns="0">
            <a:spAutoFit/>
          </a:bodyPr>
          <a:lstStyle/>
          <a:p>
            <a:r>
              <a:rPr sz="1150" b="1">
                <a:solidFill>
                  <a:srgbClr val="0B2E4A"/>
                </a:solidFill>
                <a:latin typeface="Calibri"/>
              </a:rPr>
              <a:t>CAGR of</a:t>
            </a:r>
          </a:p>
        </p:txBody>
      </p:sp>
      <p:pic>
        <p:nvPicPr>
          <p:cNvPr id="121" name="Picture 120" descr="lock.png"/>
          <p:cNvPicPr>
            <a:picLocks noChangeAspect="1"/>
          </p:cNvPicPr>
          <p:nvPr/>
        </p:nvPicPr>
        <p:blipFill>
          <a:blip r:embed="rId16"/>
          <a:stretch>
            <a:fillRect/>
          </a:stretch>
        </p:blipFill>
        <p:spPr>
          <a:xfrm>
            <a:off x="9048826" y="6007677"/>
            <a:ext cx="134549" cy="195707"/>
          </a:xfrm>
          <a:prstGeom prst="rect">
            <a:avLst/>
          </a:prstGeom>
        </p:spPr>
      </p:pic>
      <p:sp>
        <p:nvSpPr>
          <p:cNvPr id="122" name="TextBox 121"/>
          <p:cNvSpPr txBox="1"/>
          <p:nvPr/>
        </p:nvSpPr>
        <p:spPr>
          <a:xfrm>
            <a:off x="9223935"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Product Type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Product Type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Product Type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694045"/>
            <a:ext cx="11677650" cy="186689"/>
          </a:xfrm>
          <a:prstGeom prst="rect">
            <a:avLst/>
          </a:prstGeom>
          <a:noFill/>
        </p:spPr>
        <p:txBody>
          <a:bodyPr wrap="none" lIns="0" rIns="0" tIns="0" bIns="0">
            <a:spAutoFit/>
          </a:bodyPr>
          <a:lstStyle/>
          <a:p>
            <a:r>
              <a:rPr sz="1100" b="0">
                <a:solidFill>
                  <a:srgbClr val="2E2E2E"/>
                </a:solidFill>
                <a:latin typeface="Calibri"/>
              </a:rPr>
              <a:t>Cast metal partial dentures followed by combination framework partial dentures are expected to be the two most attractive product type segments in the North America removable partial dentures market</a:t>
            </a:r>
          </a:p>
        </p:txBody>
      </p:sp>
      <p:sp>
        <p:nvSpPr>
          <p:cNvPr id="21" name="TextBox 20"/>
          <p:cNvSpPr txBox="1"/>
          <p:nvPr/>
        </p:nvSpPr>
        <p:spPr>
          <a:xfrm>
            <a:off x="257175" y="5861685"/>
            <a:ext cx="7991879" cy="186689"/>
          </a:xfrm>
          <a:prstGeom prst="rect">
            <a:avLst/>
          </a:prstGeom>
          <a:noFill/>
        </p:spPr>
        <p:txBody>
          <a:bodyPr wrap="none" lIns="0" rIns="0" tIns="0" bIns="0">
            <a:spAutoFit/>
          </a:bodyPr>
          <a:lstStyle/>
          <a:p>
            <a:r>
              <a:rPr sz="1100" b="0">
                <a:solidFill>
                  <a:srgbClr val="2E2E2E"/>
                </a:solidFill>
                <a:latin typeface="Calibri"/>
              </a:rPr>
              <a:t>in terms of value over the forecast period. Cast metal partial dentures and combination framework partial dentures exhibit a CAGR index of</a:t>
            </a:r>
          </a:p>
        </p:txBody>
      </p:sp>
      <p:pic>
        <p:nvPicPr>
          <p:cNvPr id="22" name="Picture 21" descr="lock.png"/>
          <p:cNvPicPr>
            <a:picLocks noChangeAspect="1"/>
          </p:cNvPicPr>
          <p:nvPr/>
        </p:nvPicPr>
        <p:blipFill>
          <a:blip r:embed="rId6"/>
          <a:stretch>
            <a:fillRect/>
          </a:stretch>
        </p:blipFill>
        <p:spPr>
          <a:xfrm>
            <a:off x="8197106" y="5851905"/>
            <a:ext cx="128699" cy="187198"/>
          </a:xfrm>
          <a:prstGeom prst="rect">
            <a:avLst/>
          </a:prstGeom>
        </p:spPr>
      </p:pic>
      <p:sp>
        <p:nvSpPr>
          <p:cNvPr id="23" name="TextBox 22"/>
          <p:cNvSpPr txBox="1"/>
          <p:nvPr/>
        </p:nvSpPr>
        <p:spPr>
          <a:xfrm>
            <a:off x="8364602"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8602496" y="5851905"/>
            <a:ext cx="128699" cy="187198"/>
          </a:xfrm>
          <a:prstGeom prst="rect">
            <a:avLst/>
          </a:prstGeom>
        </p:spPr>
      </p:pic>
      <p:sp>
        <p:nvSpPr>
          <p:cNvPr id="25" name="TextBox 24"/>
          <p:cNvSpPr txBox="1"/>
          <p:nvPr/>
        </p:nvSpPr>
        <p:spPr>
          <a:xfrm>
            <a:off x="8769992" y="586168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10378965" y="5851905"/>
            <a:ext cx="128699" cy="187198"/>
          </a:xfrm>
          <a:prstGeom prst="rect">
            <a:avLst/>
          </a:prstGeom>
        </p:spPr>
      </p:pic>
      <p:sp>
        <p:nvSpPr>
          <p:cNvPr id="27" name="TextBox 26"/>
          <p:cNvSpPr txBox="1"/>
          <p:nvPr/>
        </p:nvSpPr>
        <p:spPr>
          <a:xfrm>
            <a:off x="10546461"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10784355" y="5851905"/>
            <a:ext cx="128699" cy="187198"/>
          </a:xfrm>
          <a:prstGeom prst="rect">
            <a:avLst/>
          </a:prstGeom>
        </p:spPr>
      </p:pic>
      <p:sp>
        <p:nvSpPr>
          <p:cNvPr id="29" name="TextBox 28"/>
          <p:cNvSpPr txBox="1"/>
          <p:nvPr/>
        </p:nvSpPr>
        <p:spPr>
          <a:xfrm>
            <a:off x="257175" y="602932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30" name="Picture 29" descr="lock.png"/>
          <p:cNvPicPr>
            <a:picLocks noChangeAspect="1"/>
          </p:cNvPicPr>
          <p:nvPr/>
        </p:nvPicPr>
        <p:blipFill>
          <a:blip r:embed="rId6"/>
          <a:stretch>
            <a:fillRect/>
          </a:stretch>
        </p:blipFill>
        <p:spPr>
          <a:xfrm>
            <a:off x="2811579" y="6019545"/>
            <a:ext cx="128699" cy="187198"/>
          </a:xfrm>
          <a:prstGeom prst="rect">
            <a:avLst/>
          </a:prstGeom>
        </p:spPr>
      </p:pic>
      <p:sp>
        <p:nvSpPr>
          <p:cNvPr id="31" name="TextBox 30"/>
          <p:cNvSpPr txBox="1"/>
          <p:nvPr/>
        </p:nvSpPr>
        <p:spPr>
          <a:xfrm>
            <a:off x="2979074" y="6029325"/>
            <a:ext cx="8952862" cy="186689"/>
          </a:xfrm>
          <a:prstGeom prst="rect">
            <a:avLst/>
          </a:prstGeom>
          <a:noFill/>
        </p:spPr>
        <p:txBody>
          <a:bodyPr wrap="none" lIns="0" rIns="0" tIns="0" bIns="0">
            <a:spAutoFit/>
          </a:bodyPr>
          <a:lstStyle/>
          <a:p>
            <a:r>
              <a:rPr sz="1100" b="0">
                <a:solidFill>
                  <a:srgbClr val="2E2E2E"/>
                </a:solidFill>
                <a:latin typeface="Calibri"/>
              </a:rPr>
              <a:t>. The acrylic partial dentures segment is expected to be less attractive as compared to other segments over the forecast period, owing to its lower CAGR and</a:t>
            </a:r>
          </a:p>
        </p:txBody>
      </p:sp>
      <p:sp>
        <p:nvSpPr>
          <p:cNvPr id="32" name="TextBox 31"/>
          <p:cNvSpPr txBox="1"/>
          <p:nvPr/>
        </p:nvSpPr>
        <p:spPr>
          <a:xfrm>
            <a:off x="257175" y="6196965"/>
            <a:ext cx="5838262" cy="186689"/>
          </a:xfrm>
          <a:prstGeom prst="rect">
            <a:avLst/>
          </a:prstGeom>
          <a:noFill/>
        </p:spPr>
        <p:txBody>
          <a:bodyPr wrap="none" lIns="0" rIns="0" tIns="0" bIns="0">
            <a:spAutoFit/>
          </a:bodyPr>
          <a:lstStyle/>
          <a:p>
            <a:r>
              <a:rPr sz="1100" b="0">
                <a:solidFill>
                  <a:srgbClr val="2E2E2E"/>
                </a:solidFill>
                <a:latin typeface="Calibri"/>
              </a:rPr>
              <a:t>incremental opportunity. Bubbles right of the CAGR-Index line grow faster than the segment average.</a:t>
            </a:r>
          </a:p>
        </p:txBody>
      </p:sp>
      <p:sp>
        <p:nvSpPr>
          <p:cNvPr id="33"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Product Type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Cast Metal Partial Dentures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Acrylic Partial Dentures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Flexible Partial Dentures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Combination Framework Partial Dentures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100230" y="2330679"/>
            <a:ext cx="252890" cy="367840"/>
          </a:xfrm>
          <a:prstGeom prst="rect">
            <a:avLst/>
          </a:prstGeom>
        </p:spPr>
      </p:pic>
      <p:pic>
        <p:nvPicPr>
          <p:cNvPr id="25" name="Picture 24" descr="lock.png"/>
          <p:cNvPicPr>
            <a:picLocks noChangeAspect="1"/>
          </p:cNvPicPr>
          <p:nvPr/>
        </p:nvPicPr>
        <p:blipFill>
          <a:blip r:embed="rId8"/>
          <a:stretch>
            <a:fillRect/>
          </a:stretch>
        </p:blipFill>
        <p:spPr>
          <a:xfrm>
            <a:off x="9129555" y="2330679"/>
            <a:ext cx="252890" cy="367840"/>
          </a:xfrm>
          <a:prstGeom prst="rect">
            <a:avLst/>
          </a:prstGeom>
        </p:spPr>
      </p:pic>
      <p:pic>
        <p:nvPicPr>
          <p:cNvPr id="26" name="Picture 25" descr="lock.png"/>
          <p:cNvPicPr>
            <a:picLocks noChangeAspect="1"/>
          </p:cNvPicPr>
          <p:nvPr/>
        </p:nvPicPr>
        <p:blipFill>
          <a:blip r:embed="rId8"/>
          <a:stretch>
            <a:fillRect/>
          </a:stretch>
        </p:blipFill>
        <p:spPr>
          <a:xfrm>
            <a:off x="3100230" y="5216754"/>
            <a:ext cx="252890" cy="367840"/>
          </a:xfrm>
          <a:prstGeom prst="rect">
            <a:avLst/>
          </a:prstGeom>
        </p:spPr>
      </p:pic>
      <p:pic>
        <p:nvPicPr>
          <p:cNvPr id="27" name="Picture 26" descr="lock.png"/>
          <p:cNvPicPr>
            <a:picLocks noChangeAspect="1"/>
          </p:cNvPicPr>
          <p:nvPr/>
        </p:nvPicPr>
        <p:blipFill>
          <a:blip r:embed="rId8"/>
          <a:stretch>
            <a:fillRect/>
          </a:stretch>
        </p:blipFill>
        <p:spPr>
          <a:xfrm>
            <a:off x="9129555" y="5216754"/>
            <a:ext cx="252890" cy="367840"/>
          </a:xfrm>
          <a:prstGeom prst="rect">
            <a:avLst/>
          </a:prstGeom>
        </p:spPr>
      </p:pic>
      <p:sp>
        <p:nvSpPr>
          <p:cNvPr id="28" name="lockshield_13"/>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Product Type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Product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333625"/>
          </a:xfrm>
          <a:prstGeom prst="roundRect">
            <a:avLst>
              <a:gd name="adj" fmla="val 32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Product Type (Units)</a:t>
            </a:r>
          </a:p>
        </p:txBody>
      </p:sp>
      <p:graphicFrame>
        <p:nvGraphicFramePr>
          <p:cNvPr id="13" name="Table 12"/>
          <p:cNvGraphicFramePr>
            <a:graphicFrameLocks noGrp="1"/>
          </p:cNvGraphicFramePr>
          <p:nvPr/>
        </p:nvGraphicFramePr>
        <p:xfrm>
          <a:off x="152400" y="1238250"/>
          <a:ext cx="11887207" cy="1866898"/>
        </p:xfrm>
        <a:graphic>
          <a:graphicData uri="http://schemas.openxmlformats.org/drawingml/2006/table">
            <a:tbl>
              <a:tblPr>
                <a:tableStyleId>{5C22544A-7EE6-4342-B048-85BDC9FD1C3A}</a:tableStyleId>
              </a:tblPr>
              <a:tblGrid>
                <a:gridCol w="2453940"/>
                <a:gridCol w="530662"/>
                <a:gridCol w="530662"/>
                <a:gridCol w="530662"/>
                <a:gridCol w="530662"/>
                <a:gridCol w="530662"/>
                <a:gridCol w="530662"/>
                <a:gridCol w="530662"/>
                <a:gridCol w="530662"/>
                <a:gridCol w="530662"/>
                <a:gridCol w="530662"/>
                <a:gridCol w="530662"/>
                <a:gridCol w="641033"/>
                <a:gridCol w="641033"/>
                <a:gridCol w="641033"/>
                <a:gridCol w="641033"/>
                <a:gridCol w="641033"/>
                <a:gridCol w="390820"/>
              </a:tblGrid>
              <a:tr h="438912">
                <a:tc>
                  <a:txBody>
                    <a:bodyPr wrap="none"/>
                    <a:lstStyle/>
                    <a:p>
                      <a:pPr algn="l"/>
                      <a:r>
                        <a:rPr sz="1100" b="1">
                          <a:solidFill>
                            <a:srgbClr val="0B2E4A"/>
                          </a:solidFill>
                          <a:latin typeface="Calibri"/>
                        </a:rPr>
                        <a:t>Product Type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7040">
                <a:tc>
                  <a:txBody>
                    <a:bodyPr wrap="none"/>
                    <a:lstStyle/>
                    <a:p>
                      <a:pPr algn="l"/>
                      <a:r>
                        <a:rPr sz="1100" b="1">
                          <a:solidFill>
                            <a:srgbClr val="2E2E2E"/>
                          </a:solidFill>
                          <a:latin typeface="Calibri"/>
                        </a:rPr>
                        <a:t>Cast Metal Partial Dentures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040">
                <a:tc>
                  <a:txBody>
                    <a:bodyPr wrap="none"/>
                    <a:lstStyle/>
                    <a:p>
                      <a:pPr algn="l"/>
                      <a:r>
                        <a:rPr sz="1100" b="1">
                          <a:solidFill>
                            <a:srgbClr val="2E2E2E"/>
                          </a:solidFill>
                          <a:latin typeface="Calibri"/>
                        </a:rPr>
                        <a:t>Acrylic Partial Dentures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040">
                <a:tc>
                  <a:txBody>
                    <a:bodyPr wrap="none"/>
                    <a:lstStyle/>
                    <a:p>
                      <a:pPr algn="l"/>
                      <a:r>
                        <a:rPr sz="1100" b="1">
                          <a:solidFill>
                            <a:srgbClr val="2E2E2E"/>
                          </a:solidFill>
                          <a:latin typeface="Calibri"/>
                        </a:rPr>
                        <a:t>Flexible Partial Dentures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826">
                <a:tc>
                  <a:txBody>
                    <a:bodyPr wrap="none"/>
                    <a:lstStyle/>
                    <a:p>
                      <a:pPr algn="l"/>
                      <a:r>
                        <a:rPr sz="1100" b="1">
                          <a:solidFill>
                            <a:srgbClr val="2E2E2E"/>
                          </a:solidFill>
                          <a:latin typeface="Calibri"/>
                        </a:rPr>
                        <a:t>Combination Framework Partial</a:t>
                      </a:r>
                      <a:endParaRPr sz="1100"/>
                    </a:p>
                    <a:p>
                      <a:pPr algn="l"/>
                      <a:r>
                        <a:rPr sz="1100" b="1">
                          <a:solidFill>
                            <a:srgbClr val="2E2E2E"/>
                          </a:solidFill>
                          <a:latin typeface="Calibri"/>
                        </a:rPr>
                        <a:t>Dentures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040">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3114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448050"/>
            <a:ext cx="1190625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5337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Product Type</a:t>
            </a:r>
          </a:p>
        </p:txBody>
      </p:sp>
      <p:sp>
        <p:nvSpPr>
          <p:cNvPr id="17" name="Rectangle 16"/>
          <p:cNvSpPr/>
          <p:nvPr/>
        </p:nvSpPr>
        <p:spPr>
          <a:xfrm>
            <a:off x="276225" y="3771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857625"/>
            <a:ext cx="11639550" cy="26955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136283" y="2124454"/>
            <a:ext cx="366712" cy="533400"/>
          </a:xfrm>
          <a:prstGeom prst="rect">
            <a:avLst/>
          </a:prstGeom>
        </p:spPr>
      </p:pic>
      <p:sp>
        <p:nvSpPr>
          <p:cNvPr id="21" name="TextBox 20"/>
          <p:cNvSpPr txBox="1"/>
          <p:nvPr/>
        </p:nvSpPr>
        <p:spPr>
          <a:xfrm>
            <a:off x="276225" y="3867150"/>
            <a:ext cx="4436305" cy="194310"/>
          </a:xfrm>
          <a:prstGeom prst="rect">
            <a:avLst/>
          </a:prstGeom>
          <a:noFill/>
        </p:spPr>
        <p:txBody>
          <a:bodyPr wrap="none" lIns="0" rIns="0" tIns="0" bIns="0">
            <a:spAutoFit/>
          </a:bodyPr>
          <a:lstStyle/>
          <a:p>
            <a:r>
              <a:rPr sz="1150" b="0">
                <a:solidFill>
                  <a:srgbClr val="2E2E2E"/>
                </a:solidFill>
                <a:latin typeface="Calibri"/>
              </a:rPr>
              <a:t>Combination framework partial dentures segment is projected to register</a:t>
            </a:r>
          </a:p>
        </p:txBody>
      </p:sp>
      <p:pic>
        <p:nvPicPr>
          <p:cNvPr id="22" name="Picture 21" descr="lock.png"/>
          <p:cNvPicPr>
            <a:picLocks noChangeAspect="1"/>
          </p:cNvPicPr>
          <p:nvPr/>
        </p:nvPicPr>
        <p:blipFill>
          <a:blip r:embed="rId4"/>
          <a:stretch>
            <a:fillRect/>
          </a:stretch>
        </p:blipFill>
        <p:spPr>
          <a:xfrm>
            <a:off x="4661684" y="3856926"/>
            <a:ext cx="134549" cy="195707"/>
          </a:xfrm>
          <a:prstGeom prst="rect">
            <a:avLst/>
          </a:prstGeom>
        </p:spPr>
      </p:pic>
      <p:sp>
        <p:nvSpPr>
          <p:cNvPr id="23" name="TextBox 22"/>
          <p:cNvSpPr txBox="1"/>
          <p:nvPr/>
        </p:nvSpPr>
        <p:spPr>
          <a:xfrm>
            <a:off x="4836794" y="3867150"/>
            <a:ext cx="6819602" cy="194310"/>
          </a:xfrm>
          <a:prstGeom prst="rect">
            <a:avLst/>
          </a:prstGeom>
          <a:noFill/>
        </p:spPr>
        <p:txBody>
          <a:bodyPr wrap="none" lIns="0" rIns="0" tIns="0" bIns="0">
            <a:spAutoFit/>
          </a:bodyPr>
          <a:lstStyle/>
          <a:p>
            <a:r>
              <a:rPr sz="1150" b="0">
                <a:solidFill>
                  <a:srgbClr val="2E2E2E"/>
                </a:solidFill>
                <a:latin typeface="Calibri"/>
              </a:rPr>
              <a:t>X higher volume than cast metal partial dentures segment in 2036. Among removable partial dentures by product</a:t>
            </a:r>
          </a:p>
        </p:txBody>
      </p:sp>
      <p:sp>
        <p:nvSpPr>
          <p:cNvPr id="24" name="TextBox 23"/>
          <p:cNvSpPr txBox="1"/>
          <p:nvPr/>
        </p:nvSpPr>
        <p:spPr>
          <a:xfrm>
            <a:off x="276225" y="4042410"/>
            <a:ext cx="5120041" cy="194310"/>
          </a:xfrm>
          <a:prstGeom prst="rect">
            <a:avLst/>
          </a:prstGeom>
          <a:noFill/>
        </p:spPr>
        <p:txBody>
          <a:bodyPr wrap="none" lIns="0" rIns="0" tIns="0" bIns="0">
            <a:spAutoFit/>
          </a:bodyPr>
          <a:lstStyle/>
          <a:p>
            <a:r>
              <a:rPr sz="1150" b="0">
                <a:solidFill>
                  <a:srgbClr val="2E2E2E"/>
                </a:solidFill>
                <a:latin typeface="Calibri"/>
              </a:rPr>
              <a:t>type, cast metal partial dentures segment is expected to witness the highest CAGR of</a:t>
            </a:r>
          </a:p>
        </p:txBody>
      </p:sp>
      <p:pic>
        <p:nvPicPr>
          <p:cNvPr id="25" name="Picture 24" descr="lock.png"/>
          <p:cNvPicPr>
            <a:picLocks noChangeAspect="1"/>
          </p:cNvPicPr>
          <p:nvPr/>
        </p:nvPicPr>
        <p:blipFill>
          <a:blip r:embed="rId4"/>
          <a:stretch>
            <a:fillRect/>
          </a:stretch>
        </p:blipFill>
        <p:spPr>
          <a:xfrm>
            <a:off x="5345420" y="4032186"/>
            <a:ext cx="134549" cy="195707"/>
          </a:xfrm>
          <a:prstGeom prst="rect">
            <a:avLst/>
          </a:prstGeom>
        </p:spPr>
      </p:pic>
      <p:sp>
        <p:nvSpPr>
          <p:cNvPr id="26" name="TextBox 25"/>
          <p:cNvSpPr txBox="1"/>
          <p:nvPr/>
        </p:nvSpPr>
        <p:spPr>
          <a:xfrm>
            <a:off x="5520529" y="40424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4270247"/>
            <a:ext cx="8459527" cy="194310"/>
          </a:xfrm>
          <a:prstGeom prst="rect">
            <a:avLst/>
          </a:prstGeom>
          <a:noFill/>
        </p:spPr>
        <p:txBody>
          <a:bodyPr wrap="none" lIns="0" rIns="0" tIns="0" bIns="0">
            <a:spAutoFit/>
          </a:bodyPr>
          <a:lstStyle/>
          <a:p>
            <a:r>
              <a:rPr sz="1150" b="0">
                <a:solidFill>
                  <a:srgbClr val="2E2E2E"/>
                </a:solidFill>
                <a:latin typeface="Calibri"/>
              </a:rPr>
              <a:t>In terms of volume share by product type, the combination framework partial dentures segment is expected to dominate the market, gaining</a:t>
            </a:r>
          </a:p>
        </p:txBody>
      </p:sp>
      <p:pic>
        <p:nvPicPr>
          <p:cNvPr id="28" name="Picture 27" descr="lock.png"/>
          <p:cNvPicPr>
            <a:picLocks noChangeAspect="1"/>
          </p:cNvPicPr>
          <p:nvPr/>
        </p:nvPicPr>
        <p:blipFill>
          <a:blip r:embed="rId4"/>
          <a:stretch>
            <a:fillRect/>
          </a:stretch>
        </p:blipFill>
        <p:spPr>
          <a:xfrm>
            <a:off x="8684905" y="4260024"/>
            <a:ext cx="134549" cy="195707"/>
          </a:xfrm>
          <a:prstGeom prst="rect">
            <a:avLst/>
          </a:prstGeom>
        </p:spPr>
      </p:pic>
      <p:sp>
        <p:nvSpPr>
          <p:cNvPr id="29" name="TextBox 28"/>
          <p:cNvSpPr txBox="1"/>
          <p:nvPr/>
        </p:nvSpPr>
        <p:spPr>
          <a:xfrm>
            <a:off x="8860015" y="42702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10255158" y="4260024"/>
            <a:ext cx="134549" cy="195707"/>
          </a:xfrm>
          <a:prstGeom prst="rect">
            <a:avLst/>
          </a:prstGeom>
        </p:spPr>
      </p:pic>
      <p:sp>
        <p:nvSpPr>
          <p:cNvPr id="31" name="TextBox 30"/>
          <p:cNvSpPr txBox="1"/>
          <p:nvPr/>
        </p:nvSpPr>
        <p:spPr>
          <a:xfrm>
            <a:off x="10430267" y="4270247"/>
            <a:ext cx="1200100" cy="194310"/>
          </a:xfrm>
          <a:prstGeom prst="rect">
            <a:avLst/>
          </a:prstGeom>
          <a:noFill/>
        </p:spPr>
        <p:txBody>
          <a:bodyPr wrap="none" lIns="0" rIns="0" tIns="0" bIns="0">
            <a:spAutoFit/>
          </a:bodyPr>
          <a:lstStyle/>
          <a:p>
            <a:r>
              <a:rPr sz="1150" b="0">
                <a:solidFill>
                  <a:srgbClr val="2E2E2E"/>
                </a:solidFill>
                <a:latin typeface="Calibri"/>
              </a:rPr>
              <a:t>share by 2036. The</a:t>
            </a:r>
          </a:p>
        </p:txBody>
      </p:sp>
      <p:sp>
        <p:nvSpPr>
          <p:cNvPr id="32" name="TextBox 31"/>
          <p:cNvSpPr txBox="1"/>
          <p:nvPr/>
        </p:nvSpPr>
        <p:spPr>
          <a:xfrm>
            <a:off x="276225" y="4445507"/>
            <a:ext cx="3172631" cy="194310"/>
          </a:xfrm>
          <a:prstGeom prst="rect">
            <a:avLst/>
          </a:prstGeom>
          <a:noFill/>
        </p:spPr>
        <p:txBody>
          <a:bodyPr wrap="none" lIns="0" rIns="0" tIns="0" bIns="0">
            <a:spAutoFit/>
          </a:bodyPr>
          <a:lstStyle/>
          <a:p>
            <a:r>
              <a:rPr sz="1150" b="0">
                <a:solidFill>
                  <a:srgbClr val="2E2E2E"/>
                </a:solidFill>
                <a:latin typeface="Calibri"/>
              </a:rPr>
              <a:t>flexible partial dentures segment is expected to lose</a:t>
            </a:r>
          </a:p>
        </p:txBody>
      </p:sp>
      <p:pic>
        <p:nvPicPr>
          <p:cNvPr id="33" name="Picture 32" descr="lock.png"/>
          <p:cNvPicPr>
            <a:picLocks noChangeAspect="1"/>
          </p:cNvPicPr>
          <p:nvPr/>
        </p:nvPicPr>
        <p:blipFill>
          <a:blip r:embed="rId4"/>
          <a:stretch>
            <a:fillRect/>
          </a:stretch>
        </p:blipFill>
        <p:spPr>
          <a:xfrm>
            <a:off x="3398010" y="4435284"/>
            <a:ext cx="134549" cy="195707"/>
          </a:xfrm>
          <a:prstGeom prst="rect">
            <a:avLst/>
          </a:prstGeom>
        </p:spPr>
      </p:pic>
      <p:sp>
        <p:nvSpPr>
          <p:cNvPr id="34" name="TextBox 33"/>
          <p:cNvSpPr txBox="1"/>
          <p:nvPr/>
        </p:nvSpPr>
        <p:spPr>
          <a:xfrm>
            <a:off x="3573119" y="4445507"/>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6160623" y="4435284"/>
            <a:ext cx="134549" cy="195707"/>
          </a:xfrm>
          <a:prstGeom prst="rect">
            <a:avLst/>
          </a:prstGeom>
        </p:spPr>
      </p:pic>
      <p:sp>
        <p:nvSpPr>
          <p:cNvPr id="36" name="TextBox 35"/>
          <p:cNvSpPr txBox="1"/>
          <p:nvPr/>
        </p:nvSpPr>
        <p:spPr>
          <a:xfrm>
            <a:off x="6335733" y="444550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Product Type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Product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Product Type (US$ Mn)</a:t>
            </a:r>
          </a:p>
        </p:txBody>
      </p:sp>
      <p:graphicFrame>
        <p:nvGraphicFramePr>
          <p:cNvPr id="13" name="Table 12"/>
          <p:cNvGraphicFramePr>
            <a:graphicFrameLocks noGrp="1"/>
          </p:cNvGraphicFramePr>
          <p:nvPr/>
        </p:nvGraphicFramePr>
        <p:xfrm>
          <a:off x="152400" y="1238250"/>
          <a:ext cx="11887203" cy="1485896"/>
        </p:xfrm>
        <a:graphic>
          <a:graphicData uri="http://schemas.openxmlformats.org/drawingml/2006/table">
            <a:tbl>
              <a:tblPr>
                <a:tableStyleId>{5C22544A-7EE6-4342-B048-85BDC9FD1C3A}</a:tableStyleId>
              </a:tblPr>
              <a:tblGrid>
                <a:gridCol w="2888124"/>
                <a:gridCol w="540561"/>
                <a:gridCol w="540561"/>
                <a:gridCol w="540561"/>
                <a:gridCol w="540561"/>
                <a:gridCol w="540561"/>
                <a:gridCol w="521519"/>
                <a:gridCol w="516079"/>
                <a:gridCol w="516079"/>
                <a:gridCol w="516079"/>
                <a:gridCol w="516079"/>
                <a:gridCol w="516079"/>
                <a:gridCol w="516079"/>
                <a:gridCol w="516079"/>
                <a:gridCol w="516079"/>
                <a:gridCol w="516079"/>
                <a:gridCol w="516079"/>
                <a:gridCol w="613965"/>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33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3562350"/>
          </a:xfrm>
          <a:prstGeom prst="roundRect">
            <a:avLst>
              <a:gd name="adj" fmla="val 21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527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Product Type</a:t>
            </a:r>
          </a:p>
        </p:txBody>
      </p:sp>
      <p:sp>
        <p:nvSpPr>
          <p:cNvPr id="17" name="Rectangle 16"/>
          <p:cNvSpPr/>
          <p:nvPr/>
        </p:nvSpPr>
        <p:spPr>
          <a:xfrm>
            <a:off x="276225" y="3390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476625"/>
            <a:ext cx="11639550" cy="30765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353373" y="1837563"/>
            <a:ext cx="366712" cy="533400"/>
          </a:xfrm>
          <a:prstGeom prst="rect">
            <a:avLst/>
          </a:prstGeom>
        </p:spPr>
      </p:pic>
      <p:sp>
        <p:nvSpPr>
          <p:cNvPr id="21" name="TextBox 20"/>
          <p:cNvSpPr txBox="1"/>
          <p:nvPr/>
        </p:nvSpPr>
        <p:spPr>
          <a:xfrm>
            <a:off x="276225" y="3486150"/>
            <a:ext cx="3437917" cy="194310"/>
          </a:xfrm>
          <a:prstGeom prst="rect">
            <a:avLst/>
          </a:prstGeom>
          <a:noFill/>
        </p:spPr>
        <p:txBody>
          <a:bodyPr wrap="none" lIns="0" rIns="0" tIns="0" bIns="0">
            <a:spAutoFit/>
          </a:bodyPr>
          <a:lstStyle/>
          <a:p>
            <a:r>
              <a:rPr sz="1150" b="0">
                <a:solidFill>
                  <a:srgbClr val="2E2E2E"/>
                </a:solidFill>
                <a:latin typeface="Calibri"/>
              </a:rPr>
              <a:t>Flexible partial dentures segment is projected to register</a:t>
            </a:r>
          </a:p>
        </p:txBody>
      </p:sp>
      <p:pic>
        <p:nvPicPr>
          <p:cNvPr id="22" name="Picture 21" descr="lock.png"/>
          <p:cNvPicPr>
            <a:picLocks noChangeAspect="1"/>
          </p:cNvPicPr>
          <p:nvPr/>
        </p:nvPicPr>
        <p:blipFill>
          <a:blip r:embed="rId4"/>
          <a:stretch>
            <a:fillRect/>
          </a:stretch>
        </p:blipFill>
        <p:spPr>
          <a:xfrm>
            <a:off x="3663296" y="3475926"/>
            <a:ext cx="134549" cy="195707"/>
          </a:xfrm>
          <a:prstGeom prst="rect">
            <a:avLst/>
          </a:prstGeom>
        </p:spPr>
      </p:pic>
      <p:sp>
        <p:nvSpPr>
          <p:cNvPr id="23" name="TextBox 22"/>
          <p:cNvSpPr txBox="1"/>
          <p:nvPr/>
        </p:nvSpPr>
        <p:spPr>
          <a:xfrm>
            <a:off x="3838405" y="3486150"/>
            <a:ext cx="7853077" cy="194310"/>
          </a:xfrm>
          <a:prstGeom prst="rect">
            <a:avLst/>
          </a:prstGeom>
          <a:noFill/>
        </p:spPr>
        <p:txBody>
          <a:bodyPr wrap="none" lIns="0" rIns="0" tIns="0" bIns="0">
            <a:spAutoFit/>
          </a:bodyPr>
          <a:lstStyle/>
          <a:p>
            <a:r>
              <a:rPr sz="1150" b="0">
                <a:solidFill>
                  <a:srgbClr val="2E2E2E"/>
                </a:solidFill>
                <a:latin typeface="Calibri"/>
              </a:rPr>
              <a:t>X higher value than combination framework partial dentures segment in 2036. Among removable partial dentures by product type,</a:t>
            </a:r>
          </a:p>
        </p:txBody>
      </p:sp>
      <p:sp>
        <p:nvSpPr>
          <p:cNvPr id="24" name="TextBox 23"/>
          <p:cNvSpPr txBox="1"/>
          <p:nvPr/>
        </p:nvSpPr>
        <p:spPr>
          <a:xfrm>
            <a:off x="276225" y="3661410"/>
            <a:ext cx="4785724" cy="194310"/>
          </a:xfrm>
          <a:prstGeom prst="rect">
            <a:avLst/>
          </a:prstGeom>
          <a:noFill/>
        </p:spPr>
        <p:txBody>
          <a:bodyPr wrap="none" lIns="0" rIns="0" tIns="0" bIns="0">
            <a:spAutoFit/>
          </a:bodyPr>
          <a:lstStyle/>
          <a:p>
            <a:r>
              <a:rPr sz="1150" b="0">
                <a:solidFill>
                  <a:srgbClr val="2E2E2E"/>
                </a:solidFill>
                <a:latin typeface="Calibri"/>
              </a:rPr>
              <a:t>cast metal partial dentures segment is expected to witness the highest CAGR of</a:t>
            </a:r>
          </a:p>
        </p:txBody>
      </p:sp>
      <p:pic>
        <p:nvPicPr>
          <p:cNvPr id="25" name="Picture 24" descr="lock.png"/>
          <p:cNvPicPr>
            <a:picLocks noChangeAspect="1"/>
          </p:cNvPicPr>
          <p:nvPr/>
        </p:nvPicPr>
        <p:blipFill>
          <a:blip r:embed="rId4"/>
          <a:stretch>
            <a:fillRect/>
          </a:stretch>
        </p:blipFill>
        <p:spPr>
          <a:xfrm>
            <a:off x="5011103" y="3651186"/>
            <a:ext cx="134549" cy="195707"/>
          </a:xfrm>
          <a:prstGeom prst="rect">
            <a:avLst/>
          </a:prstGeom>
        </p:spPr>
      </p:pic>
      <p:sp>
        <p:nvSpPr>
          <p:cNvPr id="26" name="TextBox 25"/>
          <p:cNvSpPr txBox="1"/>
          <p:nvPr/>
        </p:nvSpPr>
        <p:spPr>
          <a:xfrm>
            <a:off x="5186212" y="36614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889247"/>
            <a:ext cx="7249479" cy="194310"/>
          </a:xfrm>
          <a:prstGeom prst="rect">
            <a:avLst/>
          </a:prstGeom>
          <a:noFill/>
        </p:spPr>
        <p:txBody>
          <a:bodyPr wrap="none" lIns="0" rIns="0" tIns="0" bIns="0">
            <a:spAutoFit/>
          </a:bodyPr>
          <a:lstStyle/>
          <a:p>
            <a:r>
              <a:rPr sz="1150" b="0">
                <a:solidFill>
                  <a:srgbClr val="2E2E2E"/>
                </a:solidFill>
                <a:latin typeface="Calibri"/>
              </a:rPr>
              <a:t>In terms of value share by product type, the flexible partial dentures segment is expected to dominate the market, losing</a:t>
            </a:r>
          </a:p>
        </p:txBody>
      </p:sp>
      <p:pic>
        <p:nvPicPr>
          <p:cNvPr id="28" name="Picture 27" descr="lock.png"/>
          <p:cNvPicPr>
            <a:picLocks noChangeAspect="1"/>
          </p:cNvPicPr>
          <p:nvPr/>
        </p:nvPicPr>
        <p:blipFill>
          <a:blip r:embed="rId4"/>
          <a:stretch>
            <a:fillRect/>
          </a:stretch>
        </p:blipFill>
        <p:spPr>
          <a:xfrm>
            <a:off x="7474858" y="3879024"/>
            <a:ext cx="134549" cy="195707"/>
          </a:xfrm>
          <a:prstGeom prst="rect">
            <a:avLst/>
          </a:prstGeom>
        </p:spPr>
      </p:pic>
      <p:sp>
        <p:nvSpPr>
          <p:cNvPr id="29" name="TextBox 28"/>
          <p:cNvSpPr txBox="1"/>
          <p:nvPr/>
        </p:nvSpPr>
        <p:spPr>
          <a:xfrm>
            <a:off x="7649968" y="38892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045111" y="3879024"/>
            <a:ext cx="134549" cy="195707"/>
          </a:xfrm>
          <a:prstGeom prst="rect">
            <a:avLst/>
          </a:prstGeom>
        </p:spPr>
      </p:pic>
      <p:sp>
        <p:nvSpPr>
          <p:cNvPr id="31" name="TextBox 30"/>
          <p:cNvSpPr txBox="1"/>
          <p:nvPr/>
        </p:nvSpPr>
        <p:spPr>
          <a:xfrm>
            <a:off x="9220220" y="388924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Product Type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Product Type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048891"/>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04412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96792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Acrylic Partial Dentures</a:t>
            </a:r>
          </a:p>
        </p:txBody>
      </p:sp>
      <p:sp>
        <p:nvSpPr>
          <p:cNvPr id="19" name="BPS Value 1"/>
          <p:cNvSpPr txBox="1"/>
          <p:nvPr/>
        </p:nvSpPr>
        <p:spPr>
          <a:xfrm>
            <a:off x="6896100" y="2029841"/>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2990981"/>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98621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91001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Cast Metal Partial Dentures</a:t>
            </a:r>
          </a:p>
        </p:txBody>
      </p:sp>
      <p:sp>
        <p:nvSpPr>
          <p:cNvPr id="23" name="BPS Value 2"/>
          <p:cNvSpPr txBox="1"/>
          <p:nvPr/>
        </p:nvSpPr>
        <p:spPr>
          <a:xfrm>
            <a:off x="6896100" y="2971931"/>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928997" y="4183009"/>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417824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410204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Combination Framework Partial Dentures</a:t>
            </a:r>
          </a:p>
        </p:txBody>
      </p:sp>
      <p:sp>
        <p:nvSpPr>
          <p:cNvPr id="27" name="BPS Value 3"/>
          <p:cNvSpPr txBox="1"/>
          <p:nvPr/>
        </p:nvSpPr>
        <p:spPr>
          <a:xfrm>
            <a:off x="6896100" y="4163959"/>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8" name="FMI Legend Chip"/>
          <p:cNvSpPr/>
          <p:nvPr/>
        </p:nvSpPr>
        <p:spPr>
          <a:xfrm>
            <a:off x="4928997" y="5527110"/>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rot="10800000">
            <a:off x="5090922" y="552234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44614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Flexible Partial Dentures</a:t>
            </a:r>
          </a:p>
        </p:txBody>
      </p:sp>
      <p:sp>
        <p:nvSpPr>
          <p:cNvPr id="31" name="BPS Value 4"/>
          <p:cNvSpPr txBox="1"/>
          <p:nvPr/>
        </p:nvSpPr>
        <p:spPr>
          <a:xfrm>
            <a:off x="6896100" y="5508060"/>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Product Type</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7" name="Picture 36" descr="lock.png"/>
          <p:cNvPicPr>
            <a:picLocks noChangeAspect="1"/>
          </p:cNvPicPr>
          <p:nvPr/>
        </p:nvPicPr>
        <p:blipFill>
          <a:blip r:embed="rId5"/>
          <a:stretch>
            <a:fillRect/>
          </a:stretch>
        </p:blipFill>
        <p:spPr>
          <a:xfrm>
            <a:off x="2557843" y="3833622"/>
            <a:ext cx="275034" cy="400050"/>
          </a:xfrm>
          <a:prstGeom prst="rect">
            <a:avLst/>
          </a:prstGeom>
        </p:spPr>
      </p:pic>
      <p:sp>
        <p:nvSpPr>
          <p:cNvPr id="38" name="TextBox 37"/>
          <p:cNvSpPr txBox="1"/>
          <p:nvPr/>
        </p:nvSpPr>
        <p:spPr>
          <a:xfrm>
            <a:off x="7829550" y="1400175"/>
            <a:ext cx="3811029" cy="194310"/>
          </a:xfrm>
          <a:prstGeom prst="rect">
            <a:avLst/>
          </a:prstGeom>
          <a:noFill/>
        </p:spPr>
        <p:txBody>
          <a:bodyPr wrap="none" lIns="0" rIns="0" tIns="0" bIns="0">
            <a:spAutoFit/>
          </a:bodyPr>
          <a:lstStyle/>
          <a:p>
            <a:r>
              <a:rPr sz="1150" b="0">
                <a:solidFill>
                  <a:srgbClr val="2E2E2E"/>
                </a:solidFill>
                <a:latin typeface="Calibri"/>
              </a:rPr>
              <a:t>Among removable partial dentures by product type, cast metal</a:t>
            </a:r>
          </a:p>
        </p:txBody>
      </p:sp>
      <p:sp>
        <p:nvSpPr>
          <p:cNvPr id="39" name="TextBox 38"/>
          <p:cNvSpPr txBox="1"/>
          <p:nvPr/>
        </p:nvSpPr>
        <p:spPr>
          <a:xfrm>
            <a:off x="7829550" y="1575435"/>
            <a:ext cx="3985016" cy="194310"/>
          </a:xfrm>
          <a:prstGeom prst="rect">
            <a:avLst/>
          </a:prstGeom>
          <a:noFill/>
        </p:spPr>
        <p:txBody>
          <a:bodyPr wrap="none" lIns="0" rIns="0" tIns="0" bIns="0">
            <a:spAutoFit/>
          </a:bodyPr>
          <a:lstStyle/>
          <a:p>
            <a:r>
              <a:rPr sz="1150" b="0">
                <a:solidFill>
                  <a:srgbClr val="2E2E2E"/>
                </a:solidFill>
                <a:latin typeface="Calibri"/>
              </a:rPr>
              <a:t>partial dentures segment is expected to witness the highest CAGR</a:t>
            </a:r>
          </a:p>
        </p:txBody>
      </p:sp>
      <p:sp>
        <p:nvSpPr>
          <p:cNvPr id="40" name="TextBox 39"/>
          <p:cNvSpPr txBox="1"/>
          <p:nvPr/>
        </p:nvSpPr>
        <p:spPr>
          <a:xfrm>
            <a:off x="7829550" y="1750695"/>
            <a:ext cx="197718" cy="194310"/>
          </a:xfrm>
          <a:prstGeom prst="rect">
            <a:avLst/>
          </a:prstGeom>
          <a:noFill/>
        </p:spPr>
        <p:txBody>
          <a:bodyPr wrap="none" lIns="0" rIns="0" tIns="0" bIns="0">
            <a:spAutoFit/>
          </a:bodyPr>
          <a:lstStyle/>
          <a:p>
            <a:r>
              <a:rPr sz="1150" b="0">
                <a:solidFill>
                  <a:srgbClr val="2E2E2E"/>
                </a:solidFill>
                <a:latin typeface="Calibri"/>
              </a:rPr>
              <a:t>of</a:t>
            </a:r>
          </a:p>
        </p:txBody>
      </p:sp>
      <p:pic>
        <p:nvPicPr>
          <p:cNvPr id="41" name="Picture 40" descr="lock.png"/>
          <p:cNvPicPr>
            <a:picLocks noChangeAspect="1"/>
          </p:cNvPicPr>
          <p:nvPr/>
        </p:nvPicPr>
        <p:blipFill>
          <a:blip r:embed="rId5"/>
          <a:stretch>
            <a:fillRect/>
          </a:stretch>
        </p:blipFill>
        <p:spPr>
          <a:xfrm>
            <a:off x="7976422" y="1740471"/>
            <a:ext cx="134549" cy="195707"/>
          </a:xfrm>
          <a:prstGeom prst="rect">
            <a:avLst/>
          </a:prstGeom>
        </p:spPr>
      </p:pic>
      <p:sp>
        <p:nvSpPr>
          <p:cNvPr id="42" name="TextBox 41"/>
          <p:cNvSpPr txBox="1"/>
          <p:nvPr/>
        </p:nvSpPr>
        <p:spPr>
          <a:xfrm>
            <a:off x="8151531" y="175069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43" name="TextBox 42"/>
          <p:cNvSpPr txBox="1"/>
          <p:nvPr/>
        </p:nvSpPr>
        <p:spPr>
          <a:xfrm>
            <a:off x="7829550" y="1978533"/>
            <a:ext cx="4057650" cy="194310"/>
          </a:xfrm>
          <a:prstGeom prst="rect">
            <a:avLst/>
          </a:prstGeom>
          <a:noFill/>
        </p:spPr>
        <p:txBody>
          <a:bodyPr wrap="none" lIns="0" rIns="0" tIns="0" bIns="0">
            <a:spAutoFit/>
          </a:bodyPr>
          <a:lstStyle/>
          <a:p>
            <a:r>
              <a:rPr sz="1150" b="0">
                <a:solidFill>
                  <a:srgbClr val="2E2E2E"/>
                </a:solidFill>
                <a:latin typeface="Calibri"/>
              </a:rPr>
              <a:t>In terms of value share by product type, the flexible partial dentures</a:t>
            </a:r>
          </a:p>
        </p:txBody>
      </p:sp>
      <p:sp>
        <p:nvSpPr>
          <p:cNvPr id="44" name="TextBox 43"/>
          <p:cNvSpPr txBox="1"/>
          <p:nvPr/>
        </p:nvSpPr>
        <p:spPr>
          <a:xfrm>
            <a:off x="7829550" y="2153793"/>
            <a:ext cx="3164644" cy="194310"/>
          </a:xfrm>
          <a:prstGeom prst="rect">
            <a:avLst/>
          </a:prstGeom>
          <a:noFill/>
        </p:spPr>
        <p:txBody>
          <a:bodyPr wrap="none" lIns="0" rIns="0" tIns="0" bIns="0">
            <a:spAutoFit/>
          </a:bodyPr>
          <a:lstStyle/>
          <a:p>
            <a:r>
              <a:rPr sz="1150" b="0">
                <a:solidFill>
                  <a:srgbClr val="2E2E2E"/>
                </a:solidFill>
                <a:latin typeface="Calibri"/>
              </a:rPr>
              <a:t>segment is expected to dominate the market, losing</a:t>
            </a:r>
          </a:p>
        </p:txBody>
      </p:sp>
      <p:pic>
        <p:nvPicPr>
          <p:cNvPr id="45" name="Picture 44" descr="lock.png"/>
          <p:cNvPicPr>
            <a:picLocks noChangeAspect="1"/>
          </p:cNvPicPr>
          <p:nvPr/>
        </p:nvPicPr>
        <p:blipFill>
          <a:blip r:embed="rId5"/>
          <a:stretch>
            <a:fillRect/>
          </a:stretch>
        </p:blipFill>
        <p:spPr>
          <a:xfrm>
            <a:off x="10943347" y="2143569"/>
            <a:ext cx="134549" cy="195707"/>
          </a:xfrm>
          <a:prstGeom prst="rect">
            <a:avLst/>
          </a:prstGeom>
        </p:spPr>
      </p:pic>
      <p:sp>
        <p:nvSpPr>
          <p:cNvPr id="46" name="TextBox 45"/>
          <p:cNvSpPr txBox="1"/>
          <p:nvPr/>
        </p:nvSpPr>
        <p:spPr>
          <a:xfrm>
            <a:off x="11118457" y="2153793"/>
            <a:ext cx="554856" cy="194310"/>
          </a:xfrm>
          <a:prstGeom prst="rect">
            <a:avLst/>
          </a:prstGeom>
          <a:noFill/>
        </p:spPr>
        <p:txBody>
          <a:bodyPr wrap="none" lIns="0" rIns="0" tIns="0" bIns="0">
            <a:spAutoFit/>
          </a:bodyPr>
          <a:lstStyle/>
          <a:p>
            <a:r>
              <a:rPr sz="1150" b="0">
                <a:solidFill>
                  <a:srgbClr val="2E2E2E"/>
                </a:solidFill>
                <a:latin typeface="Calibri"/>
              </a:rPr>
              <a:t>BPS and</a:t>
            </a:r>
          </a:p>
        </p:txBody>
      </p:sp>
      <p:sp>
        <p:nvSpPr>
          <p:cNvPr id="47" name="TextBox 46"/>
          <p:cNvSpPr txBox="1"/>
          <p:nvPr/>
        </p:nvSpPr>
        <p:spPr>
          <a:xfrm>
            <a:off x="7829550" y="2329053"/>
            <a:ext cx="934243" cy="194310"/>
          </a:xfrm>
          <a:prstGeom prst="rect">
            <a:avLst/>
          </a:prstGeom>
          <a:noFill/>
        </p:spPr>
        <p:txBody>
          <a:bodyPr wrap="none" lIns="0" rIns="0" tIns="0" bIns="0">
            <a:spAutoFit/>
          </a:bodyPr>
          <a:lstStyle/>
          <a:p>
            <a:r>
              <a:rPr sz="1150" b="0">
                <a:solidFill>
                  <a:srgbClr val="2E2E2E"/>
                </a:solidFill>
                <a:latin typeface="Calibri"/>
              </a:rPr>
              <a:t>accounting for</a:t>
            </a:r>
          </a:p>
        </p:txBody>
      </p:sp>
      <p:pic>
        <p:nvPicPr>
          <p:cNvPr id="48" name="Picture 47" descr="lock.png"/>
          <p:cNvPicPr>
            <a:picLocks noChangeAspect="1"/>
          </p:cNvPicPr>
          <p:nvPr/>
        </p:nvPicPr>
        <p:blipFill>
          <a:blip r:embed="rId5"/>
          <a:stretch>
            <a:fillRect/>
          </a:stretch>
        </p:blipFill>
        <p:spPr>
          <a:xfrm>
            <a:off x="8712947" y="2318829"/>
            <a:ext cx="134549" cy="195707"/>
          </a:xfrm>
          <a:prstGeom prst="rect">
            <a:avLst/>
          </a:prstGeom>
        </p:spPr>
      </p:pic>
      <p:sp>
        <p:nvSpPr>
          <p:cNvPr id="49" name="TextBox 48"/>
          <p:cNvSpPr txBox="1"/>
          <p:nvPr/>
        </p:nvSpPr>
        <p:spPr>
          <a:xfrm>
            <a:off x="8888056" y="232905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50"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Product Type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Product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1238250"/>
        </p:xfrm>
        <a:graphic>
          <a:graphicData uri="http://schemas.openxmlformats.org/drawingml/2006/table">
            <a:tbl>
              <a:tblPr>
                <a:tableStyleId>{5C22544A-7EE6-4342-B048-85BDC9FD1C3A}</a:tableStyleId>
              </a:tblPr>
              <a:tblGrid>
                <a:gridCol w="2793155"/>
                <a:gridCol w="606270"/>
                <a:gridCol w="606270"/>
                <a:gridCol w="606270"/>
                <a:gridCol w="606270"/>
                <a:gridCol w="606270"/>
                <a:gridCol w="606270"/>
                <a:gridCol w="606270"/>
                <a:gridCol w="606270"/>
                <a:gridCol w="606270"/>
                <a:gridCol w="606270"/>
                <a:gridCol w="606270"/>
                <a:gridCol w="606270"/>
                <a:gridCol w="606270"/>
                <a:gridCol w="606270"/>
                <a:gridCol w="606270"/>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Product Type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Cast Metal Partial Dentures</a:t>
            </a:r>
          </a:p>
        </p:txBody>
      </p:sp>
      <p:sp>
        <p:nvSpPr>
          <p:cNvPr id="33" name="Rectangle 32"/>
          <p:cNvSpPr/>
          <p:nvPr/>
        </p:nvSpPr>
        <p:spPr>
          <a:xfrm>
            <a:off x="1857375" y="3248025"/>
            <a:ext cx="643890" cy="831056"/>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0E70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0C44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Acrylic Partial Dentures</a:t>
            </a:r>
          </a:p>
        </p:txBody>
      </p:sp>
      <p:sp>
        <p:nvSpPr>
          <p:cNvPr id="49" name="Rectangle 48"/>
          <p:cNvSpPr/>
          <p:nvPr/>
        </p:nvSpPr>
        <p:spPr>
          <a:xfrm>
            <a:off x="1857375" y="4079081"/>
            <a:ext cx="643890" cy="831056"/>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Flexible Partial Dentures</a:t>
            </a:r>
          </a:p>
        </p:txBody>
      </p:sp>
      <p:sp>
        <p:nvSpPr>
          <p:cNvPr id="65" name="Rectangle 64"/>
          <p:cNvSpPr/>
          <p:nvPr/>
        </p:nvSpPr>
        <p:spPr>
          <a:xfrm>
            <a:off x="185737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E6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Combination Framework Partial Dentures</a:t>
            </a:r>
          </a:p>
        </p:txBody>
      </p:sp>
      <p:sp>
        <p:nvSpPr>
          <p:cNvPr id="81" name="Rectangle 80"/>
          <p:cNvSpPr/>
          <p:nvPr/>
        </p:nvSpPr>
        <p:spPr>
          <a:xfrm>
            <a:off x="1857375" y="5741194"/>
            <a:ext cx="643890" cy="831056"/>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62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4C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51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52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1%</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7305889" y="1713738"/>
            <a:ext cx="366712" cy="533400"/>
          </a:xfrm>
          <a:prstGeom prst="rect">
            <a:avLst/>
          </a:prstGeom>
        </p:spPr>
      </p:pic>
    </p:spTree>
  </p:cSld>
  <p:clrMapOvr>
    <a:masterClrMapping/>
  </p:clrMapOvr>
</p:sld>
</file>

<file path=ppt/slides/slide1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Product Type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1238250"/>
        </p:xfrm>
        <a:graphic>
          <a:graphicData uri="http://schemas.openxmlformats.org/drawingml/2006/table">
            <a:tbl>
              <a:tblPr>
                <a:tableStyleId>{5C22544A-7EE6-4342-B048-85BDC9FD1C3A}</a:tableStyleId>
              </a:tblPr>
              <a:tblGrid>
                <a:gridCol w="2793155"/>
                <a:gridCol w="606270"/>
                <a:gridCol w="606270"/>
                <a:gridCol w="606270"/>
                <a:gridCol w="606270"/>
                <a:gridCol w="606270"/>
                <a:gridCol w="606270"/>
                <a:gridCol w="606270"/>
                <a:gridCol w="606270"/>
                <a:gridCol w="606270"/>
                <a:gridCol w="606270"/>
                <a:gridCol w="606270"/>
                <a:gridCol w="606270"/>
                <a:gridCol w="606270"/>
                <a:gridCol w="606270"/>
                <a:gridCol w="606270"/>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Product Type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Cast Metal Partial Dentures</a:t>
            </a:r>
          </a:p>
        </p:txBody>
      </p:sp>
      <p:sp>
        <p:nvSpPr>
          <p:cNvPr id="33" name="Rectangle 32"/>
          <p:cNvSpPr/>
          <p:nvPr/>
        </p:nvSpPr>
        <p:spPr>
          <a:xfrm>
            <a:off x="1857375" y="3248025"/>
            <a:ext cx="643890" cy="831056"/>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0B30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0B35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0C42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0C45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Acrylic Partial Dentures</a:t>
            </a:r>
          </a:p>
        </p:txBody>
      </p:sp>
      <p:sp>
        <p:nvSpPr>
          <p:cNvPr id="49" name="Rectangle 48"/>
          <p:cNvSpPr/>
          <p:nvPr/>
        </p:nvSpPr>
        <p:spPr>
          <a:xfrm>
            <a:off x="1857375" y="4079081"/>
            <a:ext cx="643890" cy="831056"/>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Flexible Partial Dentures</a:t>
            </a:r>
          </a:p>
        </p:txBody>
      </p:sp>
      <p:sp>
        <p:nvSpPr>
          <p:cNvPr id="65" name="Rectangle 64"/>
          <p:cNvSpPr/>
          <p:nvPr/>
        </p:nvSpPr>
        <p:spPr>
          <a:xfrm>
            <a:off x="185737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Combination Framework Partial Dentures</a:t>
            </a:r>
          </a:p>
        </p:txBody>
      </p:sp>
      <p:sp>
        <p:nvSpPr>
          <p:cNvPr id="81" name="Rectangle 80"/>
          <p:cNvSpPr/>
          <p:nvPr/>
        </p:nvSpPr>
        <p:spPr>
          <a:xfrm>
            <a:off x="1857375" y="5741194"/>
            <a:ext cx="643890" cy="831056"/>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62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4C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7305889" y="1713738"/>
            <a:ext cx="366712" cy="533400"/>
          </a:xfrm>
          <a:prstGeom prst="rect">
            <a:avLst/>
          </a:prstGeom>
        </p:spPr>
      </p:pic>
    </p:spTree>
  </p:cSld>
  <p:clrMapOvr>
    <a:masterClrMapping/>
  </p:clrMapOvr>
</p:sld>
</file>

<file path=ppt/slides/slide14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Material Type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Material Type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Material Type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Material Type,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Material Type segment categorizes the market by material type.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Acrylic / Resin</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Metal Alloys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Flexible Thermoplastics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High-performance Polymers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Material Type split shows how demand is distributed across material type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4" name="Picture 63" descr="163_9_605E5C.png"/>
          <p:cNvPicPr>
            <a:picLocks noChangeAspect="1"/>
          </p:cNvPicPr>
          <p:nvPr/>
        </p:nvPicPr>
        <p:blipFill>
          <a:blip r:embed="rId4"/>
          <a:stretch>
            <a:fillRect/>
          </a:stretch>
        </p:blipFill>
        <p:spPr>
          <a:xfrm>
            <a:off x="2476330" y="2286582"/>
            <a:ext cx="1195728" cy="361950"/>
          </a:xfrm>
          <a:prstGeom prst="rect">
            <a:avLst/>
          </a:prstGeom>
        </p:spPr>
      </p:pic>
      <p:pic>
        <p:nvPicPr>
          <p:cNvPr id="65" name="Picture 64" descr="235_6_605E5C.png"/>
          <p:cNvPicPr>
            <a:picLocks noChangeAspect="1"/>
          </p:cNvPicPr>
          <p:nvPr/>
        </p:nvPicPr>
        <p:blipFill>
          <a:blip r:embed="rId5"/>
          <a:stretch>
            <a:fillRect/>
          </a:stretch>
        </p:blipFill>
        <p:spPr>
          <a:xfrm>
            <a:off x="2476330" y="2779432"/>
            <a:ext cx="1195728" cy="361950"/>
          </a:xfrm>
          <a:prstGeom prst="rect">
            <a:avLst/>
          </a:prstGeom>
        </p:spPr>
      </p:pic>
      <p:pic>
        <p:nvPicPr>
          <p:cNvPr id="66" name="Picture 65" descr="3_7__605E5C.png"/>
          <p:cNvPicPr>
            <a:picLocks noChangeAspect="1"/>
          </p:cNvPicPr>
          <p:nvPr/>
        </p:nvPicPr>
        <p:blipFill>
          <a:blip r:embed="rId6"/>
          <a:stretch>
            <a:fillRect/>
          </a:stretch>
        </p:blipFill>
        <p:spPr>
          <a:xfrm>
            <a:off x="2582976" y="3272281"/>
            <a:ext cx="982436" cy="361950"/>
          </a:xfrm>
          <a:prstGeom prst="rect">
            <a:avLst/>
          </a:prstGeom>
        </p:spPr>
      </p:pic>
      <p:pic>
        <p:nvPicPr>
          <p:cNvPr id="67" name="Picture 66" descr="108_0_605E5C.png"/>
          <p:cNvPicPr>
            <a:picLocks noChangeAspect="1"/>
          </p:cNvPicPr>
          <p:nvPr/>
        </p:nvPicPr>
        <p:blipFill>
          <a:blip r:embed="rId7"/>
          <a:stretch>
            <a:fillRect/>
          </a:stretch>
        </p:blipFill>
        <p:spPr>
          <a:xfrm>
            <a:off x="5005218" y="2286582"/>
            <a:ext cx="1195728" cy="361950"/>
          </a:xfrm>
          <a:prstGeom prst="rect">
            <a:avLst/>
          </a:prstGeom>
        </p:spPr>
      </p:pic>
      <p:pic>
        <p:nvPicPr>
          <p:cNvPr id="68" name="Picture 67" descr="149_6_605E5C.png"/>
          <p:cNvPicPr>
            <a:picLocks noChangeAspect="1"/>
          </p:cNvPicPr>
          <p:nvPr/>
        </p:nvPicPr>
        <p:blipFill>
          <a:blip r:embed="rId8"/>
          <a:stretch>
            <a:fillRect/>
          </a:stretch>
        </p:blipFill>
        <p:spPr>
          <a:xfrm>
            <a:off x="5005218" y="2779432"/>
            <a:ext cx="1195728" cy="361950"/>
          </a:xfrm>
          <a:prstGeom prst="rect">
            <a:avLst/>
          </a:prstGeom>
        </p:spPr>
      </p:pic>
      <p:pic>
        <p:nvPicPr>
          <p:cNvPr id="69" name="Picture 68" descr="3_3__605E5C.png"/>
          <p:cNvPicPr>
            <a:picLocks noChangeAspect="1"/>
          </p:cNvPicPr>
          <p:nvPr/>
        </p:nvPicPr>
        <p:blipFill>
          <a:blip r:embed="rId9"/>
          <a:stretch>
            <a:fillRect/>
          </a:stretch>
        </p:blipFill>
        <p:spPr>
          <a:xfrm>
            <a:off x="5111864" y="3272281"/>
            <a:ext cx="982436" cy="361950"/>
          </a:xfrm>
          <a:prstGeom prst="rect">
            <a:avLst/>
          </a:prstGeom>
        </p:spPr>
      </p:pic>
      <p:pic>
        <p:nvPicPr>
          <p:cNvPr id="70" name="Picture 69" descr="65_5_605E5C.png"/>
          <p:cNvPicPr>
            <a:picLocks noChangeAspect="1"/>
          </p:cNvPicPr>
          <p:nvPr/>
        </p:nvPicPr>
        <p:blipFill>
          <a:blip r:embed="rId10"/>
          <a:stretch>
            <a:fillRect/>
          </a:stretch>
        </p:blipFill>
        <p:spPr>
          <a:xfrm>
            <a:off x="7640751" y="2286582"/>
            <a:ext cx="982436" cy="361950"/>
          </a:xfrm>
          <a:prstGeom prst="rect">
            <a:avLst/>
          </a:prstGeom>
        </p:spPr>
      </p:pic>
      <p:pic>
        <p:nvPicPr>
          <p:cNvPr id="71" name="Picture 70" descr="89_3_605E5C.png"/>
          <p:cNvPicPr>
            <a:picLocks noChangeAspect="1"/>
          </p:cNvPicPr>
          <p:nvPr/>
        </p:nvPicPr>
        <p:blipFill>
          <a:blip r:embed="rId11"/>
          <a:stretch>
            <a:fillRect/>
          </a:stretch>
        </p:blipFill>
        <p:spPr>
          <a:xfrm>
            <a:off x="7640751" y="2779432"/>
            <a:ext cx="982436" cy="361950"/>
          </a:xfrm>
          <a:prstGeom prst="rect">
            <a:avLst/>
          </a:prstGeom>
        </p:spPr>
      </p:pic>
      <p:pic>
        <p:nvPicPr>
          <p:cNvPr id="72" name="Picture 71" descr="3_2__605E5C.png"/>
          <p:cNvPicPr>
            <a:picLocks noChangeAspect="1"/>
          </p:cNvPicPr>
          <p:nvPr/>
        </p:nvPicPr>
        <p:blipFill>
          <a:blip r:embed="rId12"/>
          <a:stretch>
            <a:fillRect/>
          </a:stretch>
        </p:blipFill>
        <p:spPr>
          <a:xfrm>
            <a:off x="7640751" y="3272281"/>
            <a:ext cx="982436" cy="361950"/>
          </a:xfrm>
          <a:prstGeom prst="rect">
            <a:avLst/>
          </a:prstGeom>
        </p:spPr>
      </p:pic>
      <p:pic>
        <p:nvPicPr>
          <p:cNvPr id="73" name="Picture 72" descr="33_9_605E5C.png"/>
          <p:cNvPicPr>
            <a:picLocks noChangeAspect="1"/>
          </p:cNvPicPr>
          <p:nvPr/>
        </p:nvPicPr>
        <p:blipFill>
          <a:blip r:embed="rId13"/>
          <a:stretch>
            <a:fillRect/>
          </a:stretch>
        </p:blipFill>
        <p:spPr>
          <a:xfrm>
            <a:off x="10169638" y="2286582"/>
            <a:ext cx="982436" cy="361950"/>
          </a:xfrm>
          <a:prstGeom prst="rect">
            <a:avLst/>
          </a:prstGeom>
        </p:spPr>
      </p:pic>
      <p:pic>
        <p:nvPicPr>
          <p:cNvPr id="74" name="Picture 73" descr="49_4_605E5C.png"/>
          <p:cNvPicPr>
            <a:picLocks noChangeAspect="1"/>
          </p:cNvPicPr>
          <p:nvPr/>
        </p:nvPicPr>
        <p:blipFill>
          <a:blip r:embed="rId14"/>
          <a:stretch>
            <a:fillRect/>
          </a:stretch>
        </p:blipFill>
        <p:spPr>
          <a:xfrm>
            <a:off x="10169638" y="2779432"/>
            <a:ext cx="982436" cy="361950"/>
          </a:xfrm>
          <a:prstGeom prst="rect">
            <a:avLst/>
          </a:prstGeom>
        </p:spPr>
      </p:pic>
      <p:pic>
        <p:nvPicPr>
          <p:cNvPr id="75" name="Picture 74" descr="3_8__605E5C.png"/>
          <p:cNvPicPr>
            <a:picLocks noChangeAspect="1"/>
          </p:cNvPicPr>
          <p:nvPr/>
        </p:nvPicPr>
        <p:blipFill>
          <a:blip r:embed="rId15"/>
          <a:stretch>
            <a:fillRect/>
          </a:stretch>
        </p:blipFill>
        <p:spPr>
          <a:xfrm>
            <a:off x="10169638" y="3272281"/>
            <a:ext cx="982436" cy="361950"/>
          </a:xfrm>
          <a:prstGeom prst="rect">
            <a:avLst/>
          </a:prstGeom>
        </p:spPr>
      </p:pic>
      <p:pic>
        <p:nvPicPr>
          <p:cNvPr id="76" name="Picture 75" descr="lock.png"/>
          <p:cNvPicPr>
            <a:picLocks noChangeAspect="1"/>
          </p:cNvPicPr>
          <p:nvPr/>
        </p:nvPicPr>
        <p:blipFill>
          <a:blip r:embed="rId16"/>
          <a:stretch>
            <a:fillRect/>
          </a:stretch>
        </p:blipFill>
        <p:spPr>
          <a:xfrm>
            <a:off x="2980848" y="2827057"/>
            <a:ext cx="183356" cy="266700"/>
          </a:xfrm>
          <a:prstGeom prst="rect">
            <a:avLst/>
          </a:prstGeom>
        </p:spPr>
      </p:pic>
      <p:pic>
        <p:nvPicPr>
          <p:cNvPr id="77" name="Picture 76" descr="lock.png"/>
          <p:cNvPicPr>
            <a:picLocks noChangeAspect="1"/>
          </p:cNvPicPr>
          <p:nvPr/>
        </p:nvPicPr>
        <p:blipFill>
          <a:blip r:embed="rId16"/>
          <a:stretch>
            <a:fillRect/>
          </a:stretch>
        </p:blipFill>
        <p:spPr>
          <a:xfrm>
            <a:off x="5509737" y="2827057"/>
            <a:ext cx="183356" cy="266700"/>
          </a:xfrm>
          <a:prstGeom prst="rect">
            <a:avLst/>
          </a:prstGeom>
        </p:spPr>
      </p:pic>
      <p:pic>
        <p:nvPicPr>
          <p:cNvPr id="78" name="Picture 77" descr="lock.png"/>
          <p:cNvPicPr>
            <a:picLocks noChangeAspect="1"/>
          </p:cNvPicPr>
          <p:nvPr/>
        </p:nvPicPr>
        <p:blipFill>
          <a:blip r:embed="rId16"/>
          <a:stretch>
            <a:fillRect/>
          </a:stretch>
        </p:blipFill>
        <p:spPr>
          <a:xfrm>
            <a:off x="8038624" y="2827057"/>
            <a:ext cx="183356" cy="266700"/>
          </a:xfrm>
          <a:prstGeom prst="rect">
            <a:avLst/>
          </a:prstGeom>
        </p:spPr>
      </p:pic>
      <p:pic>
        <p:nvPicPr>
          <p:cNvPr id="79" name="Picture 78" descr="lock.png"/>
          <p:cNvPicPr>
            <a:picLocks noChangeAspect="1"/>
          </p:cNvPicPr>
          <p:nvPr/>
        </p:nvPicPr>
        <p:blipFill>
          <a:blip r:embed="rId16"/>
          <a:stretch>
            <a:fillRect/>
          </a:stretch>
        </p:blipFill>
        <p:spPr>
          <a:xfrm>
            <a:off x="10567511" y="2827057"/>
            <a:ext cx="183356" cy="266700"/>
          </a:xfrm>
          <a:prstGeom prst="rect">
            <a:avLst/>
          </a:prstGeom>
        </p:spPr>
      </p:pic>
      <p:sp>
        <p:nvSpPr>
          <p:cNvPr id="80" name="TextBox 79"/>
          <p:cNvSpPr txBox="1"/>
          <p:nvPr/>
        </p:nvSpPr>
        <p:spPr>
          <a:xfrm>
            <a:off x="485775" y="4229437"/>
            <a:ext cx="2914650" cy="186689"/>
          </a:xfrm>
          <a:prstGeom prst="rect">
            <a:avLst/>
          </a:prstGeom>
          <a:noFill/>
        </p:spPr>
        <p:txBody>
          <a:bodyPr wrap="none" lIns="0" rIns="0" tIns="0" bIns="0">
            <a:spAutoFit/>
          </a:bodyPr>
          <a:lstStyle/>
          <a:p>
            <a:r>
              <a:rPr sz="1100" b="0">
                <a:solidFill>
                  <a:srgbClr val="2E2E2E"/>
                </a:solidFill>
                <a:latin typeface="Calibri"/>
              </a:rPr>
              <a:t>▪ ¶ Among removable partial dentures by material</a:t>
            </a:r>
          </a:p>
        </p:txBody>
      </p:sp>
      <p:sp>
        <p:nvSpPr>
          <p:cNvPr id="81" name="TextBox 80"/>
          <p:cNvSpPr txBox="1"/>
          <p:nvPr/>
        </p:nvSpPr>
        <p:spPr>
          <a:xfrm>
            <a:off x="485775" y="4397077"/>
            <a:ext cx="2621359" cy="186689"/>
          </a:xfrm>
          <a:prstGeom prst="rect">
            <a:avLst/>
          </a:prstGeom>
          <a:noFill/>
        </p:spPr>
        <p:txBody>
          <a:bodyPr wrap="none" lIns="0" rIns="0" tIns="0" bIns="0">
            <a:spAutoFit/>
          </a:bodyPr>
          <a:lstStyle/>
          <a:p>
            <a:r>
              <a:rPr sz="1100" b="0">
                <a:solidFill>
                  <a:srgbClr val="2E2E2E"/>
                </a:solidFill>
                <a:latin typeface="Calibri"/>
              </a:rPr>
              <a:t>type, high-performance polymers segment is</a:t>
            </a:r>
          </a:p>
        </p:txBody>
      </p:sp>
      <p:sp>
        <p:nvSpPr>
          <p:cNvPr id="82" name="TextBox 81"/>
          <p:cNvSpPr txBox="1"/>
          <p:nvPr/>
        </p:nvSpPr>
        <p:spPr>
          <a:xfrm>
            <a:off x="485775" y="4564717"/>
            <a:ext cx="2381232" cy="186689"/>
          </a:xfrm>
          <a:prstGeom prst="rect">
            <a:avLst/>
          </a:prstGeom>
          <a:noFill/>
        </p:spPr>
        <p:txBody>
          <a:bodyPr wrap="none" lIns="0" rIns="0" tIns="0" bIns="0">
            <a:spAutoFit/>
          </a:bodyPr>
          <a:lstStyle/>
          <a:p>
            <a:r>
              <a:rPr sz="1100" b="0">
                <a:solidFill>
                  <a:srgbClr val="2E2E2E"/>
                </a:solidFill>
                <a:latin typeface="Calibri"/>
              </a:rPr>
              <a:t>expected to witness the highest CAGR of</a:t>
            </a:r>
          </a:p>
        </p:txBody>
      </p:sp>
      <p:pic>
        <p:nvPicPr>
          <p:cNvPr id="83" name="Picture 82" descr="lock.png"/>
          <p:cNvPicPr>
            <a:picLocks noChangeAspect="1"/>
          </p:cNvPicPr>
          <p:nvPr/>
        </p:nvPicPr>
        <p:blipFill>
          <a:blip r:embed="rId16"/>
          <a:stretch>
            <a:fillRect/>
          </a:stretch>
        </p:blipFill>
        <p:spPr>
          <a:xfrm>
            <a:off x="2815059" y="4554938"/>
            <a:ext cx="128699" cy="187198"/>
          </a:xfrm>
          <a:prstGeom prst="rect">
            <a:avLst/>
          </a:prstGeom>
        </p:spPr>
      </p:pic>
      <p:sp>
        <p:nvSpPr>
          <p:cNvPr id="84" name="TextBox 83"/>
          <p:cNvSpPr txBox="1"/>
          <p:nvPr/>
        </p:nvSpPr>
        <p:spPr>
          <a:xfrm>
            <a:off x="2982555" y="4564717"/>
            <a:ext cx="331316" cy="186689"/>
          </a:xfrm>
          <a:prstGeom prst="rect">
            <a:avLst/>
          </a:prstGeom>
          <a:noFill/>
        </p:spPr>
        <p:txBody>
          <a:bodyPr wrap="none" lIns="0" rIns="0" tIns="0" bIns="0">
            <a:spAutoFit/>
          </a:bodyPr>
          <a:lstStyle/>
          <a:p>
            <a:r>
              <a:rPr sz="1100" b="0">
                <a:solidFill>
                  <a:srgbClr val="2E2E2E"/>
                </a:solidFill>
                <a:latin typeface="Calibri"/>
              </a:rPr>
              <a:t>over</a:t>
            </a:r>
          </a:p>
        </p:txBody>
      </p:sp>
      <p:sp>
        <p:nvSpPr>
          <p:cNvPr id="85" name="TextBox 84"/>
          <p:cNvSpPr txBox="1"/>
          <p:nvPr/>
        </p:nvSpPr>
        <p:spPr>
          <a:xfrm>
            <a:off x="485775" y="4732357"/>
            <a:ext cx="2699122" cy="186689"/>
          </a:xfrm>
          <a:prstGeom prst="rect">
            <a:avLst/>
          </a:prstGeom>
          <a:noFill/>
        </p:spPr>
        <p:txBody>
          <a:bodyPr wrap="none" lIns="0" rIns="0" tIns="0" bIns="0">
            <a:spAutoFit/>
          </a:bodyPr>
          <a:lstStyle/>
          <a:p>
            <a:r>
              <a:rPr sz="1100" b="0">
                <a:solidFill>
                  <a:srgbClr val="2E2E2E"/>
                </a:solidFill>
                <a:latin typeface="Calibri"/>
              </a:rPr>
              <a:t>the forecast period. In terms of value share by</a:t>
            </a:r>
          </a:p>
        </p:txBody>
      </p:sp>
      <p:sp>
        <p:nvSpPr>
          <p:cNvPr id="86" name="TextBox 85"/>
          <p:cNvSpPr txBox="1"/>
          <p:nvPr/>
        </p:nvSpPr>
        <p:spPr>
          <a:xfrm>
            <a:off x="485775" y="4899997"/>
            <a:ext cx="2523405" cy="186689"/>
          </a:xfrm>
          <a:prstGeom prst="rect">
            <a:avLst/>
          </a:prstGeom>
          <a:noFill/>
        </p:spPr>
        <p:txBody>
          <a:bodyPr wrap="none" lIns="0" rIns="0" tIns="0" bIns="0">
            <a:spAutoFit/>
          </a:bodyPr>
          <a:lstStyle/>
          <a:p>
            <a:r>
              <a:rPr sz="1100" b="0">
                <a:solidFill>
                  <a:srgbClr val="2E2E2E"/>
                </a:solidFill>
                <a:latin typeface="Calibri"/>
              </a:rPr>
              <a:t>material type, the acrylic / resin segment is</a:t>
            </a:r>
          </a:p>
        </p:txBody>
      </p:sp>
      <p:sp>
        <p:nvSpPr>
          <p:cNvPr id="87" name="TextBox 86"/>
          <p:cNvSpPr txBox="1"/>
          <p:nvPr/>
        </p:nvSpPr>
        <p:spPr>
          <a:xfrm>
            <a:off x="485775" y="5067637"/>
            <a:ext cx="2466652" cy="186689"/>
          </a:xfrm>
          <a:prstGeom prst="rect">
            <a:avLst/>
          </a:prstGeom>
          <a:noFill/>
        </p:spPr>
        <p:txBody>
          <a:bodyPr wrap="none" lIns="0" rIns="0" tIns="0" bIns="0">
            <a:spAutoFit/>
          </a:bodyPr>
          <a:lstStyle/>
          <a:p>
            <a:r>
              <a:rPr sz="1100" b="0">
                <a:solidFill>
                  <a:srgbClr val="2E2E2E"/>
                </a:solidFill>
                <a:latin typeface="Calibri"/>
              </a:rPr>
              <a:t>expected to dominate the market, gaining</a:t>
            </a:r>
          </a:p>
        </p:txBody>
      </p:sp>
      <p:pic>
        <p:nvPicPr>
          <p:cNvPr id="88" name="Picture 87" descr="lock.png"/>
          <p:cNvPicPr>
            <a:picLocks noChangeAspect="1"/>
          </p:cNvPicPr>
          <p:nvPr/>
        </p:nvPicPr>
        <p:blipFill>
          <a:blip r:embed="rId16"/>
          <a:stretch>
            <a:fillRect/>
          </a:stretch>
        </p:blipFill>
        <p:spPr>
          <a:xfrm>
            <a:off x="2900479" y="5057858"/>
            <a:ext cx="128699" cy="187198"/>
          </a:xfrm>
          <a:prstGeom prst="rect">
            <a:avLst/>
          </a:prstGeom>
        </p:spPr>
      </p:pic>
      <p:sp>
        <p:nvSpPr>
          <p:cNvPr id="89" name="TextBox 88"/>
          <p:cNvSpPr txBox="1"/>
          <p:nvPr/>
        </p:nvSpPr>
        <p:spPr>
          <a:xfrm>
            <a:off x="3067974" y="5067637"/>
            <a:ext cx="288751" cy="186689"/>
          </a:xfrm>
          <a:prstGeom prst="rect">
            <a:avLst/>
          </a:prstGeom>
          <a:noFill/>
        </p:spPr>
        <p:txBody>
          <a:bodyPr wrap="none" lIns="0" rIns="0" tIns="0" bIns="0">
            <a:spAutoFit/>
          </a:bodyPr>
          <a:lstStyle/>
          <a:p>
            <a:r>
              <a:rPr sz="1100" b="0">
                <a:solidFill>
                  <a:srgbClr val="2E2E2E"/>
                </a:solidFill>
                <a:latin typeface="Calibri"/>
              </a:rPr>
              <a:t>BPS</a:t>
            </a:r>
          </a:p>
        </p:txBody>
      </p:sp>
      <p:sp>
        <p:nvSpPr>
          <p:cNvPr id="90" name="TextBox 89"/>
          <p:cNvSpPr txBox="1"/>
          <p:nvPr/>
        </p:nvSpPr>
        <p:spPr>
          <a:xfrm>
            <a:off x="485775" y="5235277"/>
            <a:ext cx="1142231" cy="186689"/>
          </a:xfrm>
          <a:prstGeom prst="rect">
            <a:avLst/>
          </a:prstGeom>
          <a:noFill/>
        </p:spPr>
        <p:txBody>
          <a:bodyPr wrap="none" lIns="0" rIns="0" tIns="0" bIns="0">
            <a:spAutoFit/>
          </a:bodyPr>
          <a:lstStyle/>
          <a:p>
            <a:r>
              <a:rPr sz="1100" b="0">
                <a:solidFill>
                  <a:srgbClr val="2E2E2E"/>
                </a:solidFill>
                <a:latin typeface="Calibri"/>
              </a:rPr>
              <a:t>and accounting for</a:t>
            </a:r>
          </a:p>
        </p:txBody>
      </p:sp>
      <p:pic>
        <p:nvPicPr>
          <p:cNvPr id="91" name="Picture 90" descr="lock.png"/>
          <p:cNvPicPr>
            <a:picLocks noChangeAspect="1"/>
          </p:cNvPicPr>
          <p:nvPr/>
        </p:nvPicPr>
        <p:blipFill>
          <a:blip r:embed="rId16"/>
          <a:stretch>
            <a:fillRect/>
          </a:stretch>
        </p:blipFill>
        <p:spPr>
          <a:xfrm>
            <a:off x="1576057" y="5225498"/>
            <a:ext cx="128699" cy="187198"/>
          </a:xfrm>
          <a:prstGeom prst="rect">
            <a:avLst/>
          </a:prstGeom>
        </p:spPr>
      </p:pic>
      <p:sp>
        <p:nvSpPr>
          <p:cNvPr id="92" name="TextBox 91"/>
          <p:cNvSpPr txBox="1"/>
          <p:nvPr/>
        </p:nvSpPr>
        <p:spPr>
          <a:xfrm>
            <a:off x="1743553" y="523527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93" name="TextBox 92"/>
          <p:cNvSpPr txBox="1"/>
          <p:nvPr/>
        </p:nvSpPr>
        <p:spPr>
          <a:xfrm>
            <a:off x="485775" y="5453209"/>
            <a:ext cx="2883842" cy="186689"/>
          </a:xfrm>
          <a:prstGeom prst="rect">
            <a:avLst/>
          </a:prstGeom>
          <a:noFill/>
        </p:spPr>
        <p:txBody>
          <a:bodyPr wrap="none" lIns="0" rIns="0" tIns="0" bIns="0">
            <a:spAutoFit/>
          </a:bodyPr>
          <a:lstStyle/>
          <a:p>
            <a:r>
              <a:rPr sz="1100" b="0">
                <a:solidFill>
                  <a:srgbClr val="2E2E2E"/>
                </a:solidFill>
                <a:latin typeface="Calibri"/>
              </a:rPr>
              <a:t>▪ ¶ Acrylic / resin segment is projected to register</a:t>
            </a:r>
          </a:p>
        </p:txBody>
      </p:sp>
      <p:pic>
        <p:nvPicPr>
          <p:cNvPr id="94" name="Picture 93" descr="lock.png"/>
          <p:cNvPicPr>
            <a:picLocks noChangeAspect="1"/>
          </p:cNvPicPr>
          <p:nvPr/>
        </p:nvPicPr>
        <p:blipFill>
          <a:blip r:embed="rId16"/>
          <a:stretch>
            <a:fillRect/>
          </a:stretch>
        </p:blipFill>
        <p:spPr>
          <a:xfrm>
            <a:off x="472307" y="5611070"/>
            <a:ext cx="128699" cy="187198"/>
          </a:xfrm>
          <a:prstGeom prst="rect">
            <a:avLst/>
          </a:prstGeom>
        </p:spPr>
      </p:pic>
      <p:sp>
        <p:nvSpPr>
          <p:cNvPr id="95" name="TextBox 94"/>
          <p:cNvSpPr txBox="1"/>
          <p:nvPr/>
        </p:nvSpPr>
        <p:spPr>
          <a:xfrm>
            <a:off x="639803" y="5620849"/>
            <a:ext cx="2546052" cy="186689"/>
          </a:xfrm>
          <a:prstGeom prst="rect">
            <a:avLst/>
          </a:prstGeom>
          <a:noFill/>
        </p:spPr>
        <p:txBody>
          <a:bodyPr wrap="none" lIns="0" rIns="0" tIns="0" bIns="0">
            <a:spAutoFit/>
          </a:bodyPr>
          <a:lstStyle/>
          <a:p>
            <a:r>
              <a:rPr sz="1100" b="0">
                <a:solidFill>
                  <a:srgbClr val="2E2E2E"/>
                </a:solidFill>
                <a:latin typeface="Calibri"/>
              </a:rPr>
              <a:t>X higher value than metal alloys segment in</a:t>
            </a:r>
          </a:p>
        </p:txBody>
      </p:sp>
      <p:sp>
        <p:nvSpPr>
          <p:cNvPr id="96" name="TextBox 95"/>
          <p:cNvSpPr txBox="1"/>
          <p:nvPr/>
        </p:nvSpPr>
        <p:spPr>
          <a:xfrm>
            <a:off x="485775" y="5788489"/>
            <a:ext cx="395163" cy="186689"/>
          </a:xfrm>
          <a:prstGeom prst="rect">
            <a:avLst/>
          </a:prstGeom>
          <a:noFill/>
        </p:spPr>
        <p:txBody>
          <a:bodyPr wrap="none" lIns="0" rIns="0" tIns="0" bIns="0">
            <a:spAutoFit/>
          </a:bodyPr>
          <a:lstStyle/>
          <a:p>
            <a:r>
              <a:rPr sz="1100" b="0">
                <a:solidFill>
                  <a:srgbClr val="2E2E2E"/>
                </a:solidFill>
                <a:latin typeface="Calibri"/>
              </a:rPr>
              <a:t>2036.</a:t>
            </a:r>
          </a:p>
        </p:txBody>
      </p:sp>
      <p:sp>
        <p:nvSpPr>
          <p:cNvPr id="97" name="TextBox 96"/>
          <p:cNvSpPr txBox="1"/>
          <p:nvPr/>
        </p:nvSpPr>
        <p:spPr>
          <a:xfrm>
            <a:off x="3838575" y="4229437"/>
            <a:ext cx="1028179" cy="186689"/>
          </a:xfrm>
          <a:prstGeom prst="rect">
            <a:avLst/>
          </a:prstGeom>
          <a:noFill/>
        </p:spPr>
        <p:txBody>
          <a:bodyPr wrap="none" lIns="0" rIns="0" tIns="0" bIns="0">
            <a:spAutoFit/>
          </a:bodyPr>
          <a:lstStyle/>
          <a:p>
            <a:r>
              <a:rPr sz="1100" b="0">
                <a:solidFill>
                  <a:srgbClr val="2E2E2E"/>
                </a:solidFill>
                <a:latin typeface="Calibri"/>
              </a:rPr>
              <a:t>● Acrylic / Resin:</a:t>
            </a:r>
          </a:p>
        </p:txBody>
      </p:sp>
      <p:pic>
        <p:nvPicPr>
          <p:cNvPr id="98" name="Picture 97" descr="lock.png"/>
          <p:cNvPicPr>
            <a:picLocks noChangeAspect="1"/>
          </p:cNvPicPr>
          <p:nvPr/>
        </p:nvPicPr>
        <p:blipFill>
          <a:blip r:embed="rId16"/>
          <a:stretch>
            <a:fillRect/>
          </a:stretch>
        </p:blipFill>
        <p:spPr>
          <a:xfrm>
            <a:off x="4814805" y="4219658"/>
            <a:ext cx="128699" cy="187198"/>
          </a:xfrm>
          <a:prstGeom prst="rect">
            <a:avLst/>
          </a:prstGeom>
        </p:spPr>
      </p:pic>
      <p:sp>
        <p:nvSpPr>
          <p:cNvPr id="99" name="TextBox 98"/>
          <p:cNvSpPr txBox="1"/>
          <p:nvPr/>
        </p:nvSpPr>
        <p:spPr>
          <a:xfrm>
            <a:off x="4982301"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0" name="Picture 99" descr="lock.png"/>
          <p:cNvPicPr>
            <a:picLocks noChangeAspect="1"/>
          </p:cNvPicPr>
          <p:nvPr/>
        </p:nvPicPr>
        <p:blipFill>
          <a:blip r:embed="rId16"/>
          <a:stretch>
            <a:fillRect/>
          </a:stretch>
        </p:blipFill>
        <p:spPr>
          <a:xfrm>
            <a:off x="5841751" y="4219658"/>
            <a:ext cx="128699" cy="187198"/>
          </a:xfrm>
          <a:prstGeom prst="rect">
            <a:avLst/>
          </a:prstGeom>
        </p:spPr>
      </p:pic>
      <p:sp>
        <p:nvSpPr>
          <p:cNvPr id="101" name="TextBox 100"/>
          <p:cNvSpPr txBox="1"/>
          <p:nvPr/>
        </p:nvSpPr>
        <p:spPr>
          <a:xfrm>
            <a:off x="6009247"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102" name="TextBox 101"/>
          <p:cNvSpPr txBox="1"/>
          <p:nvPr/>
        </p:nvSpPr>
        <p:spPr>
          <a:xfrm>
            <a:off x="3838575" y="4447369"/>
            <a:ext cx="932953" cy="186689"/>
          </a:xfrm>
          <a:prstGeom prst="rect">
            <a:avLst/>
          </a:prstGeom>
          <a:noFill/>
        </p:spPr>
        <p:txBody>
          <a:bodyPr wrap="none" lIns="0" rIns="0" tIns="0" bIns="0">
            <a:spAutoFit/>
          </a:bodyPr>
          <a:lstStyle/>
          <a:p>
            <a:r>
              <a:rPr sz="1100" b="0">
                <a:solidFill>
                  <a:srgbClr val="2E2E2E"/>
                </a:solidFill>
                <a:latin typeface="Calibri"/>
              </a:rPr>
              <a:t>● Metal Alloys:</a:t>
            </a:r>
          </a:p>
        </p:txBody>
      </p:sp>
      <p:pic>
        <p:nvPicPr>
          <p:cNvPr id="103" name="Picture 102" descr="lock.png"/>
          <p:cNvPicPr>
            <a:picLocks noChangeAspect="1"/>
          </p:cNvPicPr>
          <p:nvPr/>
        </p:nvPicPr>
        <p:blipFill>
          <a:blip r:embed="rId16"/>
          <a:stretch>
            <a:fillRect/>
          </a:stretch>
        </p:blipFill>
        <p:spPr>
          <a:xfrm>
            <a:off x="4719580" y="4437590"/>
            <a:ext cx="128699" cy="187198"/>
          </a:xfrm>
          <a:prstGeom prst="rect">
            <a:avLst/>
          </a:prstGeom>
        </p:spPr>
      </p:pic>
      <p:sp>
        <p:nvSpPr>
          <p:cNvPr id="104" name="TextBox 103"/>
          <p:cNvSpPr txBox="1"/>
          <p:nvPr/>
        </p:nvSpPr>
        <p:spPr>
          <a:xfrm>
            <a:off x="4887076"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5" name="Picture 104" descr="lock.png"/>
          <p:cNvPicPr>
            <a:picLocks noChangeAspect="1"/>
          </p:cNvPicPr>
          <p:nvPr/>
        </p:nvPicPr>
        <p:blipFill>
          <a:blip r:embed="rId16"/>
          <a:stretch>
            <a:fillRect/>
          </a:stretch>
        </p:blipFill>
        <p:spPr>
          <a:xfrm>
            <a:off x="5746526" y="4437590"/>
            <a:ext cx="128699" cy="187198"/>
          </a:xfrm>
          <a:prstGeom prst="rect">
            <a:avLst/>
          </a:prstGeom>
        </p:spPr>
      </p:pic>
      <p:sp>
        <p:nvSpPr>
          <p:cNvPr id="106" name="TextBox 105"/>
          <p:cNvSpPr txBox="1"/>
          <p:nvPr/>
        </p:nvSpPr>
        <p:spPr>
          <a:xfrm>
            <a:off x="5914022"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07" name="TextBox 106"/>
          <p:cNvSpPr txBox="1"/>
          <p:nvPr/>
        </p:nvSpPr>
        <p:spPr>
          <a:xfrm>
            <a:off x="3838575" y="4665301"/>
            <a:ext cx="1560239" cy="186689"/>
          </a:xfrm>
          <a:prstGeom prst="rect">
            <a:avLst/>
          </a:prstGeom>
          <a:noFill/>
        </p:spPr>
        <p:txBody>
          <a:bodyPr wrap="none" lIns="0" rIns="0" tIns="0" bIns="0">
            <a:spAutoFit/>
          </a:bodyPr>
          <a:lstStyle/>
          <a:p>
            <a:r>
              <a:rPr sz="1100" b="0">
                <a:solidFill>
                  <a:srgbClr val="2E2E2E"/>
                </a:solidFill>
                <a:latin typeface="Calibri"/>
              </a:rPr>
              <a:t>● Flexible Thermoplastics:</a:t>
            </a:r>
          </a:p>
        </p:txBody>
      </p:sp>
      <p:pic>
        <p:nvPicPr>
          <p:cNvPr id="108" name="Picture 107" descr="lock.png"/>
          <p:cNvPicPr>
            <a:picLocks noChangeAspect="1"/>
          </p:cNvPicPr>
          <p:nvPr/>
        </p:nvPicPr>
        <p:blipFill>
          <a:blip r:embed="rId16"/>
          <a:stretch>
            <a:fillRect/>
          </a:stretch>
        </p:blipFill>
        <p:spPr>
          <a:xfrm>
            <a:off x="5346866" y="4655522"/>
            <a:ext cx="128699" cy="187198"/>
          </a:xfrm>
          <a:prstGeom prst="rect">
            <a:avLst/>
          </a:prstGeom>
        </p:spPr>
      </p:pic>
      <p:sp>
        <p:nvSpPr>
          <p:cNvPr id="109" name="TextBox 108"/>
          <p:cNvSpPr txBox="1"/>
          <p:nvPr/>
        </p:nvSpPr>
        <p:spPr>
          <a:xfrm>
            <a:off x="5514362"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0" name="Picture 109" descr="lock.png"/>
          <p:cNvPicPr>
            <a:picLocks noChangeAspect="1"/>
          </p:cNvPicPr>
          <p:nvPr/>
        </p:nvPicPr>
        <p:blipFill>
          <a:blip r:embed="rId16"/>
          <a:stretch>
            <a:fillRect/>
          </a:stretch>
        </p:blipFill>
        <p:spPr>
          <a:xfrm>
            <a:off x="6373812" y="4655522"/>
            <a:ext cx="128699" cy="187198"/>
          </a:xfrm>
          <a:prstGeom prst="rect">
            <a:avLst/>
          </a:prstGeom>
        </p:spPr>
      </p:pic>
      <p:sp>
        <p:nvSpPr>
          <p:cNvPr id="111" name="TextBox 110"/>
          <p:cNvSpPr txBox="1"/>
          <p:nvPr/>
        </p:nvSpPr>
        <p:spPr>
          <a:xfrm>
            <a:off x="6541308" y="466530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12" name="TextBox 111"/>
          <p:cNvSpPr txBox="1"/>
          <p:nvPr/>
        </p:nvSpPr>
        <p:spPr>
          <a:xfrm>
            <a:off x="3838575" y="4883233"/>
            <a:ext cx="1825997" cy="186689"/>
          </a:xfrm>
          <a:prstGeom prst="rect">
            <a:avLst/>
          </a:prstGeom>
          <a:noFill/>
        </p:spPr>
        <p:txBody>
          <a:bodyPr wrap="none" lIns="0" rIns="0" tIns="0" bIns="0">
            <a:spAutoFit/>
          </a:bodyPr>
          <a:lstStyle/>
          <a:p>
            <a:r>
              <a:rPr sz="1100" b="0">
                <a:solidFill>
                  <a:srgbClr val="2E2E2E"/>
                </a:solidFill>
                <a:latin typeface="Calibri"/>
              </a:rPr>
              <a:t>● High-performance Polymers:</a:t>
            </a:r>
          </a:p>
        </p:txBody>
      </p:sp>
      <p:pic>
        <p:nvPicPr>
          <p:cNvPr id="113" name="Picture 112" descr="lock.png"/>
          <p:cNvPicPr>
            <a:picLocks noChangeAspect="1"/>
          </p:cNvPicPr>
          <p:nvPr/>
        </p:nvPicPr>
        <p:blipFill>
          <a:blip r:embed="rId16"/>
          <a:stretch>
            <a:fillRect/>
          </a:stretch>
        </p:blipFill>
        <p:spPr>
          <a:xfrm>
            <a:off x="5612623" y="4873454"/>
            <a:ext cx="128699" cy="187198"/>
          </a:xfrm>
          <a:prstGeom prst="rect">
            <a:avLst/>
          </a:prstGeom>
        </p:spPr>
      </p:pic>
      <p:sp>
        <p:nvSpPr>
          <p:cNvPr id="114" name="TextBox 113"/>
          <p:cNvSpPr txBox="1"/>
          <p:nvPr/>
        </p:nvSpPr>
        <p:spPr>
          <a:xfrm>
            <a:off x="5780119" y="488323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5" name="Picture 114" descr="lock.png"/>
          <p:cNvPicPr>
            <a:picLocks noChangeAspect="1"/>
          </p:cNvPicPr>
          <p:nvPr/>
        </p:nvPicPr>
        <p:blipFill>
          <a:blip r:embed="rId16"/>
          <a:stretch>
            <a:fillRect/>
          </a:stretch>
        </p:blipFill>
        <p:spPr>
          <a:xfrm>
            <a:off x="6639569" y="4873454"/>
            <a:ext cx="128699" cy="187198"/>
          </a:xfrm>
          <a:prstGeom prst="rect">
            <a:avLst/>
          </a:prstGeom>
        </p:spPr>
      </p:pic>
      <p:sp>
        <p:nvSpPr>
          <p:cNvPr id="116" name="TextBox 115"/>
          <p:cNvSpPr txBox="1"/>
          <p:nvPr/>
        </p:nvSpPr>
        <p:spPr>
          <a:xfrm>
            <a:off x="6807065" y="4883233"/>
            <a:ext cx="769771" cy="186689"/>
          </a:xfrm>
          <a:prstGeom prst="rect">
            <a:avLst/>
          </a:prstGeom>
          <a:noFill/>
        </p:spPr>
        <p:txBody>
          <a:bodyPr wrap="none" lIns="0" rIns="0" tIns="0" bIns="0">
            <a:spAutoFit/>
          </a:bodyPr>
          <a:lstStyle/>
          <a:p>
            <a:r>
              <a:rPr sz="1100" b="0">
                <a:solidFill>
                  <a:srgbClr val="2E2E2E"/>
                </a:solidFill>
                <a:latin typeface="Calibri"/>
              </a:rPr>
              <a:t>CAGR grows</a:t>
            </a:r>
          </a:p>
        </p:txBody>
      </p:sp>
      <p:sp>
        <p:nvSpPr>
          <p:cNvPr id="117" name="TextBox 116"/>
          <p:cNvSpPr txBox="1"/>
          <p:nvPr/>
        </p:nvSpPr>
        <p:spPr>
          <a:xfrm>
            <a:off x="3838575" y="5050873"/>
            <a:ext cx="493390" cy="186689"/>
          </a:xfrm>
          <a:prstGeom prst="rect">
            <a:avLst/>
          </a:prstGeom>
          <a:noFill/>
        </p:spPr>
        <p:txBody>
          <a:bodyPr wrap="none" lIns="0" rIns="0" tIns="0" bIns="0">
            <a:spAutoFit/>
          </a:bodyPr>
          <a:lstStyle/>
          <a:p>
            <a:r>
              <a:rPr sz="1100" b="0">
                <a:solidFill>
                  <a:srgbClr val="2E2E2E"/>
                </a:solidFill>
                <a:latin typeface="Calibri"/>
              </a:rPr>
              <a:t>fastest.</a:t>
            </a:r>
          </a:p>
        </p:txBody>
      </p:sp>
      <p:sp>
        <p:nvSpPr>
          <p:cNvPr id="118" name="TextBox 117"/>
          <p:cNvSpPr txBox="1"/>
          <p:nvPr/>
        </p:nvSpPr>
        <p:spPr>
          <a:xfrm>
            <a:off x="8524875" y="5842641"/>
            <a:ext cx="3140967" cy="194310"/>
          </a:xfrm>
          <a:prstGeom prst="rect">
            <a:avLst/>
          </a:prstGeom>
          <a:noFill/>
        </p:spPr>
        <p:txBody>
          <a:bodyPr wrap="none" lIns="0" rIns="0" tIns="0" bIns="0">
            <a:spAutoFit/>
          </a:bodyPr>
          <a:lstStyle/>
          <a:p>
            <a:r>
              <a:rPr sz="1150" b="1">
                <a:solidFill>
                  <a:srgbClr val="0B2E4A"/>
                </a:solidFill>
                <a:latin typeface="Calibri"/>
              </a:rPr>
              <a:t>The Material Type segment is projected to grow at</a:t>
            </a:r>
          </a:p>
        </p:txBody>
      </p:sp>
      <p:sp>
        <p:nvSpPr>
          <p:cNvPr id="119" name="TextBox 118"/>
          <p:cNvSpPr txBox="1"/>
          <p:nvPr/>
        </p:nvSpPr>
        <p:spPr>
          <a:xfrm>
            <a:off x="8524875" y="6017901"/>
            <a:ext cx="680055" cy="194310"/>
          </a:xfrm>
          <a:prstGeom prst="rect">
            <a:avLst/>
          </a:prstGeom>
          <a:noFill/>
        </p:spPr>
        <p:txBody>
          <a:bodyPr wrap="none" lIns="0" rIns="0" tIns="0" bIns="0">
            <a:spAutoFit/>
          </a:bodyPr>
          <a:lstStyle/>
          <a:p>
            <a:r>
              <a:rPr sz="1150" b="1">
                <a:solidFill>
                  <a:srgbClr val="0B2E4A"/>
                </a:solidFill>
                <a:latin typeface="Calibri"/>
              </a:rPr>
              <a:t>a CAGR of</a:t>
            </a:r>
          </a:p>
        </p:txBody>
      </p:sp>
      <p:pic>
        <p:nvPicPr>
          <p:cNvPr id="120" name="Picture 119" descr="lock.png"/>
          <p:cNvPicPr>
            <a:picLocks noChangeAspect="1"/>
          </p:cNvPicPr>
          <p:nvPr/>
        </p:nvPicPr>
        <p:blipFill>
          <a:blip r:embed="rId16"/>
          <a:stretch>
            <a:fillRect/>
          </a:stretch>
        </p:blipFill>
        <p:spPr>
          <a:xfrm>
            <a:off x="9154084" y="6007677"/>
            <a:ext cx="134549" cy="195707"/>
          </a:xfrm>
          <a:prstGeom prst="rect">
            <a:avLst/>
          </a:prstGeom>
        </p:spPr>
      </p:pic>
      <p:sp>
        <p:nvSpPr>
          <p:cNvPr id="121" name="TextBox 120"/>
          <p:cNvSpPr txBox="1"/>
          <p:nvPr/>
        </p:nvSpPr>
        <p:spPr>
          <a:xfrm>
            <a:off x="9329193"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Material Type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Material Type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Type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Material Type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694045"/>
            <a:ext cx="11327234" cy="186689"/>
          </a:xfrm>
          <a:prstGeom prst="rect">
            <a:avLst/>
          </a:prstGeom>
          <a:noFill/>
        </p:spPr>
        <p:txBody>
          <a:bodyPr wrap="none" lIns="0" rIns="0" tIns="0" bIns="0">
            <a:spAutoFit/>
          </a:bodyPr>
          <a:lstStyle/>
          <a:p>
            <a:r>
              <a:rPr sz="1100" b="0">
                <a:solidFill>
                  <a:srgbClr val="2E2E2E"/>
                </a:solidFill>
                <a:latin typeface="Calibri"/>
              </a:rPr>
              <a:t>Acrylic / resin followed by metal alloys are expected to be the two most attractive material type segments in the North America removable partial dentures market in terms of value over the forecast</a:t>
            </a:r>
          </a:p>
        </p:txBody>
      </p:sp>
      <p:sp>
        <p:nvSpPr>
          <p:cNvPr id="21" name="TextBox 20"/>
          <p:cNvSpPr txBox="1"/>
          <p:nvPr/>
        </p:nvSpPr>
        <p:spPr>
          <a:xfrm>
            <a:off x="257175" y="5861685"/>
            <a:ext cx="3602243" cy="186689"/>
          </a:xfrm>
          <a:prstGeom prst="rect">
            <a:avLst/>
          </a:prstGeom>
          <a:noFill/>
        </p:spPr>
        <p:txBody>
          <a:bodyPr wrap="none" lIns="0" rIns="0" tIns="0" bIns="0">
            <a:spAutoFit/>
          </a:bodyPr>
          <a:lstStyle/>
          <a:p>
            <a:r>
              <a:rPr sz="1100" b="0">
                <a:solidFill>
                  <a:srgbClr val="2E2E2E"/>
                </a:solidFill>
                <a:latin typeface="Calibri"/>
              </a:rPr>
              <a:t>period. Acrylic / resin and metal alloys exhibit a CAGR index of</a:t>
            </a:r>
          </a:p>
        </p:txBody>
      </p:sp>
      <p:pic>
        <p:nvPicPr>
          <p:cNvPr id="22" name="Picture 21" descr="lock.png"/>
          <p:cNvPicPr>
            <a:picLocks noChangeAspect="1"/>
          </p:cNvPicPr>
          <p:nvPr/>
        </p:nvPicPr>
        <p:blipFill>
          <a:blip r:embed="rId6"/>
          <a:stretch>
            <a:fillRect/>
          </a:stretch>
        </p:blipFill>
        <p:spPr>
          <a:xfrm>
            <a:off x="3807470" y="5851905"/>
            <a:ext cx="128699" cy="187198"/>
          </a:xfrm>
          <a:prstGeom prst="rect">
            <a:avLst/>
          </a:prstGeom>
        </p:spPr>
      </p:pic>
      <p:sp>
        <p:nvSpPr>
          <p:cNvPr id="23" name="TextBox 22"/>
          <p:cNvSpPr txBox="1"/>
          <p:nvPr/>
        </p:nvSpPr>
        <p:spPr>
          <a:xfrm>
            <a:off x="3974966"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4212860" y="5851905"/>
            <a:ext cx="128699" cy="187198"/>
          </a:xfrm>
          <a:prstGeom prst="rect">
            <a:avLst/>
          </a:prstGeom>
        </p:spPr>
      </p:pic>
      <p:sp>
        <p:nvSpPr>
          <p:cNvPr id="25" name="TextBox 24"/>
          <p:cNvSpPr txBox="1"/>
          <p:nvPr/>
        </p:nvSpPr>
        <p:spPr>
          <a:xfrm>
            <a:off x="4380356" y="586168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5989329" y="5851905"/>
            <a:ext cx="128699" cy="187198"/>
          </a:xfrm>
          <a:prstGeom prst="rect">
            <a:avLst/>
          </a:prstGeom>
        </p:spPr>
      </p:pic>
      <p:sp>
        <p:nvSpPr>
          <p:cNvPr id="27" name="TextBox 26"/>
          <p:cNvSpPr txBox="1"/>
          <p:nvPr/>
        </p:nvSpPr>
        <p:spPr>
          <a:xfrm>
            <a:off x="6156825"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6394719" y="5851905"/>
            <a:ext cx="128699" cy="187198"/>
          </a:xfrm>
          <a:prstGeom prst="rect">
            <a:avLst/>
          </a:prstGeom>
        </p:spPr>
      </p:pic>
      <p:sp>
        <p:nvSpPr>
          <p:cNvPr id="29" name="TextBox 28"/>
          <p:cNvSpPr txBox="1"/>
          <p:nvPr/>
        </p:nvSpPr>
        <p:spPr>
          <a:xfrm>
            <a:off x="6562215" y="586168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30" name="Picture 29" descr="lock.png"/>
          <p:cNvPicPr>
            <a:picLocks noChangeAspect="1"/>
          </p:cNvPicPr>
          <p:nvPr/>
        </p:nvPicPr>
        <p:blipFill>
          <a:blip r:embed="rId6"/>
          <a:stretch>
            <a:fillRect/>
          </a:stretch>
        </p:blipFill>
        <p:spPr>
          <a:xfrm>
            <a:off x="9116619" y="5851905"/>
            <a:ext cx="128699" cy="187198"/>
          </a:xfrm>
          <a:prstGeom prst="rect">
            <a:avLst/>
          </a:prstGeom>
        </p:spPr>
      </p:pic>
      <p:sp>
        <p:nvSpPr>
          <p:cNvPr id="31" name="TextBox 30"/>
          <p:cNvSpPr txBox="1"/>
          <p:nvPr/>
        </p:nvSpPr>
        <p:spPr>
          <a:xfrm>
            <a:off x="9284115" y="5861685"/>
            <a:ext cx="1969789" cy="186689"/>
          </a:xfrm>
          <a:prstGeom prst="rect">
            <a:avLst/>
          </a:prstGeom>
          <a:noFill/>
        </p:spPr>
        <p:txBody>
          <a:bodyPr wrap="none" lIns="0" rIns="0" tIns="0" bIns="0">
            <a:spAutoFit/>
          </a:bodyPr>
          <a:lstStyle/>
          <a:p>
            <a:r>
              <a:rPr sz="1100" b="0">
                <a:solidFill>
                  <a:srgbClr val="2E2E2E"/>
                </a:solidFill>
                <a:latin typeface="Calibri"/>
              </a:rPr>
              <a:t>. The high-performance polymers</a:t>
            </a:r>
          </a:p>
        </p:txBody>
      </p:sp>
      <p:sp>
        <p:nvSpPr>
          <p:cNvPr id="32" name="TextBox 31"/>
          <p:cNvSpPr txBox="1"/>
          <p:nvPr/>
        </p:nvSpPr>
        <p:spPr>
          <a:xfrm>
            <a:off x="257175" y="6029325"/>
            <a:ext cx="11549028" cy="186689"/>
          </a:xfrm>
          <a:prstGeom prst="rect">
            <a:avLst/>
          </a:prstGeom>
          <a:noFill/>
        </p:spPr>
        <p:txBody>
          <a:bodyPr wrap="none" lIns="0" rIns="0" tIns="0" bIns="0">
            <a:spAutoFit/>
          </a:bodyPr>
          <a:lstStyle/>
          <a:p>
            <a:r>
              <a:rPr sz="1100" b="0">
                <a:solidFill>
                  <a:srgbClr val="2E2E2E"/>
                </a:solidFill>
                <a:latin typeface="Calibri"/>
              </a:rPr>
              <a:t>segment is expected to be less attractive as compared to other segments over the forecast period, owing to its lower CAGR and incremental opportunity. Bubbles right of the CAGR-Index line grow faster</a:t>
            </a:r>
          </a:p>
        </p:txBody>
      </p:sp>
      <p:sp>
        <p:nvSpPr>
          <p:cNvPr id="33" name="TextBox 32"/>
          <p:cNvSpPr txBox="1"/>
          <p:nvPr/>
        </p:nvSpPr>
        <p:spPr>
          <a:xfrm>
            <a:off x="257175" y="6196965"/>
            <a:ext cx="1598711" cy="186689"/>
          </a:xfrm>
          <a:prstGeom prst="rect">
            <a:avLst/>
          </a:prstGeom>
          <a:noFill/>
        </p:spPr>
        <p:txBody>
          <a:bodyPr wrap="none" lIns="0" rIns="0" tIns="0" bIns="0">
            <a:spAutoFit/>
          </a:bodyPr>
          <a:lstStyle/>
          <a:p>
            <a:r>
              <a:rPr sz="1100" b="0">
                <a:solidFill>
                  <a:srgbClr val="2E2E2E"/>
                </a:solidFill>
                <a:latin typeface="Calibri"/>
              </a:rPr>
              <a:t>than the segment average.</a:t>
            </a:r>
          </a:p>
        </p:txBody>
      </p:sp>
      <p:sp>
        <p:nvSpPr>
          <p:cNvPr id="34"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Material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Material Type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Metal Alloys</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Acrylic / Resin</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Flexible Thermoplastics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High-performance Polymers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094826" y="2237234"/>
            <a:ext cx="263506" cy="383281"/>
          </a:xfrm>
          <a:prstGeom prst="rect">
            <a:avLst/>
          </a:prstGeom>
        </p:spPr>
      </p:pic>
      <p:pic>
        <p:nvPicPr>
          <p:cNvPr id="25" name="Picture 24" descr="lock.png"/>
          <p:cNvPicPr>
            <a:picLocks noChangeAspect="1"/>
          </p:cNvPicPr>
          <p:nvPr/>
        </p:nvPicPr>
        <p:blipFill>
          <a:blip r:embed="rId8"/>
          <a:stretch>
            <a:fillRect/>
          </a:stretch>
        </p:blipFill>
        <p:spPr>
          <a:xfrm>
            <a:off x="9129555" y="2330679"/>
            <a:ext cx="252890" cy="367840"/>
          </a:xfrm>
          <a:prstGeom prst="rect">
            <a:avLst/>
          </a:prstGeom>
        </p:spPr>
      </p:pic>
      <p:pic>
        <p:nvPicPr>
          <p:cNvPr id="26" name="Picture 25" descr="lock.png"/>
          <p:cNvPicPr>
            <a:picLocks noChangeAspect="1"/>
          </p:cNvPicPr>
          <p:nvPr/>
        </p:nvPicPr>
        <p:blipFill>
          <a:blip r:embed="rId8"/>
          <a:stretch>
            <a:fillRect/>
          </a:stretch>
        </p:blipFill>
        <p:spPr>
          <a:xfrm>
            <a:off x="3100230" y="5216754"/>
            <a:ext cx="252890" cy="367840"/>
          </a:xfrm>
          <a:prstGeom prst="rect">
            <a:avLst/>
          </a:prstGeom>
        </p:spPr>
      </p:pic>
      <p:pic>
        <p:nvPicPr>
          <p:cNvPr id="27" name="Picture 26" descr="lock.png"/>
          <p:cNvPicPr>
            <a:picLocks noChangeAspect="1"/>
          </p:cNvPicPr>
          <p:nvPr/>
        </p:nvPicPr>
        <p:blipFill>
          <a:blip r:embed="rId8"/>
          <a:stretch>
            <a:fillRect/>
          </a:stretch>
        </p:blipFill>
        <p:spPr>
          <a:xfrm>
            <a:off x="9129555" y="5216754"/>
            <a:ext cx="252890" cy="367840"/>
          </a:xfrm>
          <a:prstGeom prst="rect">
            <a:avLst/>
          </a:prstGeom>
        </p:spPr>
      </p:pic>
      <p:sp>
        <p:nvSpPr>
          <p:cNvPr id="28"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Material Type (Units)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Material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628900"/>
          </a:xfrm>
          <a:prstGeom prst="roundRect">
            <a:avLst>
              <a:gd name="adj" fmla="val 289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Material Type (Units)</a:t>
            </a:r>
          </a:p>
        </p:txBody>
      </p:sp>
      <p:graphicFrame>
        <p:nvGraphicFramePr>
          <p:cNvPr id="13" name="Table 12"/>
          <p:cNvGraphicFramePr>
            <a:graphicFrameLocks noGrp="1"/>
          </p:cNvGraphicFramePr>
          <p:nvPr/>
        </p:nvGraphicFramePr>
        <p:xfrm>
          <a:off x="152400" y="1238250"/>
          <a:ext cx="11887201" cy="2162173"/>
        </p:xfrm>
        <a:graphic>
          <a:graphicData uri="http://schemas.openxmlformats.org/drawingml/2006/table">
            <a:tbl>
              <a:tblPr>
                <a:tableStyleId>{5C22544A-7EE6-4342-B048-85BDC9FD1C3A}</a:tableStyleId>
              </a:tblPr>
              <a:tblGrid>
                <a:gridCol w="1739459"/>
                <a:gridCol w="596926"/>
                <a:gridCol w="596926"/>
                <a:gridCol w="596926"/>
                <a:gridCol w="596926"/>
                <a:gridCol w="596926"/>
                <a:gridCol w="596926"/>
                <a:gridCol w="596926"/>
                <a:gridCol w="596926"/>
                <a:gridCol w="596926"/>
                <a:gridCol w="596926"/>
                <a:gridCol w="596926"/>
                <a:gridCol w="596926"/>
                <a:gridCol w="596926"/>
                <a:gridCol w="596926"/>
                <a:gridCol w="596926"/>
                <a:gridCol w="596926"/>
                <a:gridCol w="596926"/>
              </a:tblGrid>
              <a:tr h="246126">
                <a:tc>
                  <a:txBody>
                    <a:bodyPr wrap="none"/>
                    <a:lstStyle/>
                    <a:p>
                      <a:pPr algn="l"/>
                      <a:r>
                        <a:rPr sz="1100" b="1">
                          <a:solidFill>
                            <a:srgbClr val="0B2E4A"/>
                          </a:solidFill>
                          <a:latin typeface="Calibri"/>
                        </a:rPr>
                        <a:t>Material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73721">
                <a:tc>
                  <a:txBody>
                    <a:bodyPr wrap="none"/>
                    <a:lstStyle/>
                    <a:p>
                      <a:pPr algn="l"/>
                      <a:r>
                        <a:rPr sz="1100" b="1">
                          <a:solidFill>
                            <a:srgbClr val="2E2E2E"/>
                          </a:solidFill>
                          <a:latin typeface="Calibri"/>
                        </a:rPr>
                        <a:t>Metal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73721">
                <a:tc>
                  <a:txBody>
                    <a:bodyPr wrap="none"/>
                    <a:lstStyle/>
                    <a:p>
                      <a:pPr algn="l"/>
                      <a:r>
                        <a:rPr sz="1100" b="1">
                          <a:solidFill>
                            <a:srgbClr val="2E2E2E"/>
                          </a:solidFill>
                          <a:latin typeface="Calibri"/>
                        </a:rPr>
                        <a:t>– Cobalt-Chromium Alloys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73721">
                <a:tc>
                  <a:txBody>
                    <a:bodyPr wrap="none"/>
                    <a:lstStyle/>
                    <a:p>
                      <a:pPr algn="l"/>
                      <a:r>
                        <a:rPr sz="1100" b="1">
                          <a:solidFill>
                            <a:srgbClr val="2E2E2E"/>
                          </a:solidFill>
                          <a:latin typeface="Calibri"/>
                        </a:rPr>
                        <a:t>– Titanium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73721">
                <a:tc>
                  <a:txBody>
                    <a:bodyPr wrap="none"/>
                    <a:lstStyle/>
                    <a:p>
                      <a:pPr algn="l"/>
                      <a:r>
                        <a:rPr sz="1100" b="1">
                          <a:solidFill>
                            <a:srgbClr val="2E2E2E"/>
                          </a:solidFill>
                          <a:latin typeface="Calibri"/>
                        </a:rPr>
                        <a:t>Acrylic / Resin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73721">
                <a:tc>
                  <a:txBody>
                    <a:bodyPr wrap="none"/>
                    <a:lstStyle/>
                    <a:p>
                      <a:pPr algn="l"/>
                      <a:r>
                        <a:rPr sz="1100" b="1">
                          <a:solidFill>
                            <a:srgbClr val="2E2E2E"/>
                          </a:solidFill>
                          <a:latin typeface="Calibri"/>
                        </a:rPr>
                        <a:t>– PMMA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73721">
                <a:tc>
                  <a:txBody>
                    <a:bodyPr wrap="none"/>
                    <a:lstStyle/>
                    <a:p>
                      <a:pPr algn="l"/>
                      <a:r>
                        <a:rPr sz="1100" b="1">
                          <a:solidFill>
                            <a:srgbClr val="2E2E2E"/>
                          </a:solidFill>
                          <a:latin typeface="Calibri"/>
                        </a:rPr>
                        <a:t>– Printable Denture Resins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73721">
                <a:tc>
                  <a:txBody>
                    <a:bodyPr wrap="none"/>
                    <a:lstStyle/>
                    <a:p>
                      <a:pPr algn="l"/>
                      <a:r>
                        <a:rPr sz="1100" b="1">
                          <a:solidFill>
                            <a:srgbClr val="2E2E2E"/>
                          </a:solidFill>
                          <a:latin typeface="Calibri"/>
                        </a:rPr>
                        <a:t>Flexible Thermoplastics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4099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6779040" y="2175699"/>
            <a:ext cx="366712" cy="533400"/>
          </a:xfrm>
          <a:prstGeom prst="rect">
            <a:avLst/>
          </a:prstGeom>
        </p:spPr>
      </p:pic>
    </p:spTree>
  </p:cSld>
  <p:clrMapOvr>
    <a:masterClrMapping/>
  </p:clrMapOvr>
</p:sld>
</file>

<file path=ppt/slides/slide1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Material Type (Units)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Material Type, 2021–2036, highlighting the sub-segments driving growth</a:t>
            </a:r>
          </a:p>
        </p:txBody>
      </p:sp>
      <p:sp>
        <p:nvSpPr>
          <p:cNvPr id="10" name="Rounded Rectangle 9"/>
          <p:cNvSpPr/>
          <p:nvPr/>
        </p:nvSpPr>
        <p:spPr>
          <a:xfrm>
            <a:off x="142875" y="981075"/>
            <a:ext cx="11906250" cy="2581275"/>
          </a:xfrm>
          <a:prstGeom prst="roundRect">
            <a:avLst>
              <a:gd name="adj" fmla="val 29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Material Type (Units)</a:t>
            </a:r>
          </a:p>
        </p:txBody>
      </p:sp>
      <p:graphicFrame>
        <p:nvGraphicFramePr>
          <p:cNvPr id="12" name="Table 11"/>
          <p:cNvGraphicFramePr>
            <a:graphicFrameLocks noGrp="1"/>
          </p:cNvGraphicFramePr>
          <p:nvPr/>
        </p:nvGraphicFramePr>
        <p:xfrm>
          <a:off x="152400" y="1238250"/>
          <a:ext cx="11887207" cy="2114550"/>
        </p:xfrm>
        <a:graphic>
          <a:graphicData uri="http://schemas.openxmlformats.org/drawingml/2006/table">
            <a:tbl>
              <a:tblPr>
                <a:tableStyleId>{5C22544A-7EE6-4342-B048-85BDC9FD1C3A}</a:tableStyleId>
              </a:tblPr>
              <a:tblGrid>
                <a:gridCol w="2453940"/>
                <a:gridCol w="530662"/>
                <a:gridCol w="530662"/>
                <a:gridCol w="530662"/>
                <a:gridCol w="530662"/>
                <a:gridCol w="530662"/>
                <a:gridCol w="530662"/>
                <a:gridCol w="530662"/>
                <a:gridCol w="530662"/>
                <a:gridCol w="530662"/>
                <a:gridCol w="530662"/>
                <a:gridCol w="530662"/>
                <a:gridCol w="641033"/>
                <a:gridCol w="641033"/>
                <a:gridCol w="641033"/>
                <a:gridCol w="641033"/>
                <a:gridCol w="641033"/>
                <a:gridCol w="390820"/>
              </a:tblGrid>
              <a:tr h="438912">
                <a:tc>
                  <a:txBody>
                    <a:bodyPr wrap="none"/>
                    <a:lstStyle/>
                    <a:p>
                      <a:pPr algn="l"/>
                      <a:r>
                        <a:rPr sz="1100" b="1">
                          <a:solidFill>
                            <a:srgbClr val="0B2E4A"/>
                          </a:solidFill>
                          <a:latin typeface="Calibri"/>
                        </a:rPr>
                        <a:t>Material Type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7142">
                <a:tc>
                  <a:txBody>
                    <a:bodyPr wrap="none"/>
                    <a:lstStyle/>
                    <a:p>
                      <a:pPr algn="l"/>
                      <a:r>
                        <a:rPr sz="1100" b="1">
                          <a:solidFill>
                            <a:srgbClr val="2E2E2E"/>
                          </a:solidFill>
                          <a:latin typeface="Calibri"/>
                        </a:rPr>
                        <a:t>– Polyamide / Nylon</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142">
                <a:tc>
                  <a:txBody>
                    <a:bodyPr wrap="none"/>
                    <a:lstStyle/>
                    <a:p>
                      <a:pPr algn="l"/>
                      <a:r>
                        <a:rPr sz="1100" b="1">
                          <a:solidFill>
                            <a:srgbClr val="2E2E2E"/>
                          </a:solidFill>
                          <a:latin typeface="Calibri"/>
                        </a:rPr>
                        <a:t>– Other Thermoplastic Resins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142">
                <a:tc>
                  <a:txBody>
                    <a:bodyPr wrap="none"/>
                    <a:lstStyle/>
                    <a:p>
                      <a:pPr algn="l"/>
                      <a:r>
                        <a:rPr sz="1100" b="1">
                          <a:solidFill>
                            <a:srgbClr val="2E2E2E"/>
                          </a:solidFill>
                          <a:latin typeface="Calibri"/>
                        </a:rPr>
                        <a:t>High-performance Polymers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142">
                <a:tc>
                  <a:txBody>
                    <a:bodyPr wrap="none"/>
                    <a:lstStyle/>
                    <a:p>
                      <a:pPr algn="l"/>
                      <a:r>
                        <a:rPr sz="1100" b="1">
                          <a:solidFill>
                            <a:srgbClr val="2E2E2E"/>
                          </a:solidFill>
                          <a:latin typeface="Calibri"/>
                        </a:rPr>
                        <a:t>– PEEK-based Materials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439928">
                <a:tc>
                  <a:txBody>
                    <a:bodyPr wrap="none"/>
                    <a:lstStyle/>
                    <a:p>
                      <a:pPr algn="l"/>
                      <a:r>
                        <a:rPr sz="1100" b="1">
                          <a:solidFill>
                            <a:srgbClr val="2E2E2E"/>
                          </a:solidFill>
                          <a:latin typeface="Calibri"/>
                        </a:rPr>
                        <a:t>– Other High-performance Dental</a:t>
                      </a:r>
                      <a:endParaRPr sz="1100"/>
                    </a:p>
                    <a:p>
                      <a:pPr algn="l"/>
                      <a:r>
                        <a:rPr sz="1100" b="1">
                          <a:solidFill>
                            <a:srgbClr val="2E2E2E"/>
                          </a:solidFill>
                          <a:latin typeface="Calibri"/>
                        </a:rPr>
                        <a:t>Polymers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142">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3" name="TextBox 12"/>
          <p:cNvSpPr txBox="1"/>
          <p:nvPr/>
        </p:nvSpPr>
        <p:spPr>
          <a:xfrm>
            <a:off x="219075" y="33623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695700"/>
            <a:ext cx="1190625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378142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Material Type</a:t>
            </a:r>
          </a:p>
        </p:txBody>
      </p:sp>
      <p:sp>
        <p:nvSpPr>
          <p:cNvPr id="16" name="Rectangle 15"/>
          <p:cNvSpPr/>
          <p:nvPr/>
        </p:nvSpPr>
        <p:spPr>
          <a:xfrm>
            <a:off x="276225" y="40195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4105275"/>
            <a:ext cx="11639550" cy="24479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7136283" y="2248281"/>
            <a:ext cx="366712" cy="533400"/>
          </a:xfrm>
          <a:prstGeom prst="rect">
            <a:avLst/>
          </a:prstGeom>
        </p:spPr>
      </p:pic>
      <p:sp>
        <p:nvSpPr>
          <p:cNvPr id="20" name="TextBox 19"/>
          <p:cNvSpPr txBox="1"/>
          <p:nvPr/>
        </p:nvSpPr>
        <p:spPr>
          <a:xfrm>
            <a:off x="276225" y="4114800"/>
            <a:ext cx="2808076" cy="194310"/>
          </a:xfrm>
          <a:prstGeom prst="rect">
            <a:avLst/>
          </a:prstGeom>
          <a:noFill/>
        </p:spPr>
        <p:txBody>
          <a:bodyPr wrap="none" lIns="0" rIns="0" tIns="0" bIns="0">
            <a:spAutoFit/>
          </a:bodyPr>
          <a:lstStyle/>
          <a:p>
            <a:r>
              <a:rPr sz="1150" b="0">
                <a:solidFill>
                  <a:srgbClr val="2E2E2E"/>
                </a:solidFill>
                <a:latin typeface="Calibri"/>
              </a:rPr>
              <a:t>Acrylic / resin segment is projected to register</a:t>
            </a:r>
          </a:p>
        </p:txBody>
      </p:sp>
      <p:pic>
        <p:nvPicPr>
          <p:cNvPr id="21" name="Picture 20" descr="lock.png"/>
          <p:cNvPicPr>
            <a:picLocks noChangeAspect="1"/>
          </p:cNvPicPr>
          <p:nvPr/>
        </p:nvPicPr>
        <p:blipFill>
          <a:blip r:embed="rId4"/>
          <a:stretch>
            <a:fillRect/>
          </a:stretch>
        </p:blipFill>
        <p:spPr>
          <a:xfrm>
            <a:off x="3033455" y="4104576"/>
            <a:ext cx="134549" cy="195707"/>
          </a:xfrm>
          <a:prstGeom prst="rect">
            <a:avLst/>
          </a:prstGeom>
        </p:spPr>
      </p:pic>
      <p:sp>
        <p:nvSpPr>
          <p:cNvPr id="22" name="TextBox 21"/>
          <p:cNvSpPr txBox="1"/>
          <p:nvPr/>
        </p:nvSpPr>
        <p:spPr>
          <a:xfrm>
            <a:off x="3208564" y="4114800"/>
            <a:ext cx="8657493" cy="194310"/>
          </a:xfrm>
          <a:prstGeom prst="rect">
            <a:avLst/>
          </a:prstGeom>
          <a:noFill/>
        </p:spPr>
        <p:txBody>
          <a:bodyPr wrap="none" lIns="0" rIns="0" tIns="0" bIns="0">
            <a:spAutoFit/>
          </a:bodyPr>
          <a:lstStyle/>
          <a:p>
            <a:r>
              <a:rPr sz="1150" b="0">
                <a:solidFill>
                  <a:srgbClr val="2E2E2E"/>
                </a:solidFill>
                <a:latin typeface="Calibri"/>
              </a:rPr>
              <a:t>X higher volume than metal alloys segment in 2036. Among removable partial dentures by material type, high-performance polymers segment is</a:t>
            </a:r>
          </a:p>
        </p:txBody>
      </p:sp>
      <p:sp>
        <p:nvSpPr>
          <p:cNvPr id="23" name="TextBox 22"/>
          <p:cNvSpPr txBox="1"/>
          <p:nvPr/>
        </p:nvSpPr>
        <p:spPr>
          <a:xfrm>
            <a:off x="276225" y="4290060"/>
            <a:ext cx="2486007" cy="194310"/>
          </a:xfrm>
          <a:prstGeom prst="rect">
            <a:avLst/>
          </a:prstGeom>
          <a:noFill/>
        </p:spPr>
        <p:txBody>
          <a:bodyPr wrap="none" lIns="0" rIns="0" tIns="0" bIns="0">
            <a:spAutoFit/>
          </a:bodyPr>
          <a:lstStyle/>
          <a:p>
            <a:r>
              <a:rPr sz="1150" b="0">
                <a:solidFill>
                  <a:srgbClr val="2E2E2E"/>
                </a:solidFill>
                <a:latin typeface="Calibri"/>
              </a:rPr>
              <a:t>expected to witness the highest CAGR of</a:t>
            </a:r>
          </a:p>
        </p:txBody>
      </p:sp>
      <p:pic>
        <p:nvPicPr>
          <p:cNvPr id="24" name="Picture 23" descr="lock.png"/>
          <p:cNvPicPr>
            <a:picLocks noChangeAspect="1"/>
          </p:cNvPicPr>
          <p:nvPr/>
        </p:nvPicPr>
        <p:blipFill>
          <a:blip r:embed="rId4"/>
          <a:stretch>
            <a:fillRect/>
          </a:stretch>
        </p:blipFill>
        <p:spPr>
          <a:xfrm>
            <a:off x="2711386" y="4279836"/>
            <a:ext cx="134549" cy="195707"/>
          </a:xfrm>
          <a:prstGeom prst="rect">
            <a:avLst/>
          </a:prstGeom>
        </p:spPr>
      </p:pic>
      <p:sp>
        <p:nvSpPr>
          <p:cNvPr id="25" name="TextBox 24"/>
          <p:cNvSpPr txBox="1"/>
          <p:nvPr/>
        </p:nvSpPr>
        <p:spPr>
          <a:xfrm>
            <a:off x="2886495" y="429006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6" name="TextBox 25"/>
          <p:cNvSpPr txBox="1"/>
          <p:nvPr/>
        </p:nvSpPr>
        <p:spPr>
          <a:xfrm>
            <a:off x="276225" y="4517897"/>
            <a:ext cx="6860108" cy="194310"/>
          </a:xfrm>
          <a:prstGeom prst="rect">
            <a:avLst/>
          </a:prstGeom>
          <a:noFill/>
        </p:spPr>
        <p:txBody>
          <a:bodyPr wrap="none" lIns="0" rIns="0" tIns="0" bIns="0">
            <a:spAutoFit/>
          </a:bodyPr>
          <a:lstStyle/>
          <a:p>
            <a:r>
              <a:rPr sz="1150" b="0">
                <a:solidFill>
                  <a:srgbClr val="2E2E2E"/>
                </a:solidFill>
                <a:latin typeface="Calibri"/>
              </a:rPr>
              <a:t>In terms of volume share by material type, the acrylic / resin segment is expected to dominate the market, gaining</a:t>
            </a:r>
          </a:p>
        </p:txBody>
      </p:sp>
      <p:pic>
        <p:nvPicPr>
          <p:cNvPr id="27" name="Picture 26" descr="lock.png"/>
          <p:cNvPicPr>
            <a:picLocks noChangeAspect="1"/>
          </p:cNvPicPr>
          <p:nvPr/>
        </p:nvPicPr>
        <p:blipFill>
          <a:blip r:embed="rId4"/>
          <a:stretch>
            <a:fillRect/>
          </a:stretch>
        </p:blipFill>
        <p:spPr>
          <a:xfrm>
            <a:off x="7085487" y="4507674"/>
            <a:ext cx="134549" cy="195707"/>
          </a:xfrm>
          <a:prstGeom prst="rect">
            <a:avLst/>
          </a:prstGeom>
        </p:spPr>
      </p:pic>
      <p:sp>
        <p:nvSpPr>
          <p:cNvPr id="28" name="TextBox 27"/>
          <p:cNvSpPr txBox="1"/>
          <p:nvPr/>
        </p:nvSpPr>
        <p:spPr>
          <a:xfrm>
            <a:off x="7260596" y="451789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29" name="Picture 28" descr="lock.png"/>
          <p:cNvPicPr>
            <a:picLocks noChangeAspect="1"/>
          </p:cNvPicPr>
          <p:nvPr/>
        </p:nvPicPr>
        <p:blipFill>
          <a:blip r:embed="rId4"/>
          <a:stretch>
            <a:fillRect/>
          </a:stretch>
        </p:blipFill>
        <p:spPr>
          <a:xfrm>
            <a:off x="8655739" y="4507674"/>
            <a:ext cx="134549" cy="195707"/>
          </a:xfrm>
          <a:prstGeom prst="rect">
            <a:avLst/>
          </a:prstGeom>
        </p:spPr>
      </p:pic>
      <p:sp>
        <p:nvSpPr>
          <p:cNvPr id="30" name="TextBox 29"/>
          <p:cNvSpPr txBox="1"/>
          <p:nvPr/>
        </p:nvSpPr>
        <p:spPr>
          <a:xfrm>
            <a:off x="8830849" y="4517897"/>
            <a:ext cx="2616386" cy="194310"/>
          </a:xfrm>
          <a:prstGeom prst="rect">
            <a:avLst/>
          </a:prstGeom>
          <a:noFill/>
        </p:spPr>
        <p:txBody>
          <a:bodyPr wrap="none" lIns="0" rIns="0" tIns="0" bIns="0">
            <a:spAutoFit/>
          </a:bodyPr>
          <a:lstStyle/>
          <a:p>
            <a:r>
              <a:rPr sz="1150" b="0">
                <a:solidFill>
                  <a:srgbClr val="2E2E2E"/>
                </a:solidFill>
                <a:latin typeface="Calibri"/>
              </a:rPr>
              <a:t>share by 2036. The metal alloys segment is</a:t>
            </a:r>
          </a:p>
        </p:txBody>
      </p:sp>
      <p:sp>
        <p:nvSpPr>
          <p:cNvPr id="31" name="TextBox 30"/>
          <p:cNvSpPr txBox="1"/>
          <p:nvPr/>
        </p:nvSpPr>
        <p:spPr>
          <a:xfrm>
            <a:off x="276225" y="4693157"/>
            <a:ext cx="1054906" cy="194310"/>
          </a:xfrm>
          <a:prstGeom prst="rect">
            <a:avLst/>
          </a:prstGeom>
          <a:noFill/>
        </p:spPr>
        <p:txBody>
          <a:bodyPr wrap="none" lIns="0" rIns="0" tIns="0" bIns="0">
            <a:spAutoFit/>
          </a:bodyPr>
          <a:lstStyle/>
          <a:p>
            <a:r>
              <a:rPr sz="1150" b="0">
                <a:solidFill>
                  <a:srgbClr val="2E2E2E"/>
                </a:solidFill>
                <a:latin typeface="Calibri"/>
              </a:rPr>
              <a:t>expected to lose</a:t>
            </a:r>
          </a:p>
        </p:txBody>
      </p:sp>
      <p:pic>
        <p:nvPicPr>
          <p:cNvPr id="32" name="Picture 31" descr="lock.png"/>
          <p:cNvPicPr>
            <a:picLocks noChangeAspect="1"/>
          </p:cNvPicPr>
          <p:nvPr/>
        </p:nvPicPr>
        <p:blipFill>
          <a:blip r:embed="rId4"/>
          <a:stretch>
            <a:fillRect/>
          </a:stretch>
        </p:blipFill>
        <p:spPr>
          <a:xfrm>
            <a:off x="1280285" y="4682934"/>
            <a:ext cx="134549" cy="195707"/>
          </a:xfrm>
          <a:prstGeom prst="rect">
            <a:avLst/>
          </a:prstGeom>
        </p:spPr>
      </p:pic>
      <p:sp>
        <p:nvSpPr>
          <p:cNvPr id="33" name="TextBox 32"/>
          <p:cNvSpPr txBox="1"/>
          <p:nvPr/>
        </p:nvSpPr>
        <p:spPr>
          <a:xfrm>
            <a:off x="1455394" y="4693157"/>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4" name="Picture 33" descr="lock.png"/>
          <p:cNvPicPr>
            <a:picLocks noChangeAspect="1"/>
          </p:cNvPicPr>
          <p:nvPr/>
        </p:nvPicPr>
        <p:blipFill>
          <a:blip r:embed="rId4"/>
          <a:stretch>
            <a:fillRect/>
          </a:stretch>
        </p:blipFill>
        <p:spPr>
          <a:xfrm>
            <a:off x="4042898" y="4682934"/>
            <a:ext cx="134549" cy="195707"/>
          </a:xfrm>
          <a:prstGeom prst="rect">
            <a:avLst/>
          </a:prstGeom>
        </p:spPr>
      </p:pic>
      <p:sp>
        <p:nvSpPr>
          <p:cNvPr id="35" name="TextBox 34"/>
          <p:cNvSpPr txBox="1"/>
          <p:nvPr/>
        </p:nvSpPr>
        <p:spPr>
          <a:xfrm>
            <a:off x="4218008" y="469315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Material Type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Material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Material Type (US$ Mn)</a:t>
            </a:r>
          </a:p>
        </p:txBody>
      </p:sp>
      <p:graphicFrame>
        <p:nvGraphicFramePr>
          <p:cNvPr id="13" name="Table 12"/>
          <p:cNvGraphicFramePr>
            <a:graphicFrameLocks noGrp="1"/>
          </p:cNvGraphicFramePr>
          <p:nvPr/>
        </p:nvGraphicFramePr>
        <p:xfrm>
          <a:off x="152400" y="1238250"/>
          <a:ext cx="11887201" cy="3448052"/>
        </p:xfrm>
        <a:graphic>
          <a:graphicData uri="http://schemas.openxmlformats.org/drawingml/2006/table">
            <a:tbl>
              <a:tblPr>
                <a:tableStyleId>{5C22544A-7EE6-4342-B048-85BDC9FD1C3A}</a:tableStyleId>
              </a:tblPr>
              <a:tblGrid>
                <a:gridCol w="2975812"/>
                <a:gridCol w="535294"/>
                <a:gridCol w="535294"/>
                <a:gridCol w="535294"/>
                <a:gridCol w="535294"/>
                <a:gridCol w="535294"/>
                <a:gridCol w="516437"/>
                <a:gridCol w="511050"/>
                <a:gridCol w="511050"/>
                <a:gridCol w="511050"/>
                <a:gridCol w="511050"/>
                <a:gridCol w="511050"/>
                <a:gridCol w="511050"/>
                <a:gridCol w="511050"/>
                <a:gridCol w="511050"/>
                <a:gridCol w="511050"/>
                <a:gridCol w="511050"/>
                <a:gridCol w="607982"/>
              </a:tblGrid>
              <a:tr h="246126">
                <a:tc>
                  <a:txBody>
                    <a:bodyPr wrap="none"/>
                    <a:lstStyle/>
                    <a:p>
                      <a:pPr algn="l"/>
                      <a:r>
                        <a:rPr sz="1100" b="1">
                          <a:solidFill>
                            <a:srgbClr val="0B2E4A"/>
                          </a:solidFill>
                          <a:latin typeface="Calibri"/>
                        </a:rPr>
                        <a:t>Material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302">
                <a:tc>
                  <a:txBody>
                    <a:bodyPr wrap="none"/>
                    <a:lstStyle/>
                    <a:p>
                      <a:pPr algn="l"/>
                      <a:r>
                        <a:rPr sz="1100" b="1">
                          <a:solidFill>
                            <a:srgbClr val="2E2E2E"/>
                          </a:solidFill>
                          <a:latin typeface="Calibri"/>
                        </a:rPr>
                        <a:t>Metal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02">
                <a:tc>
                  <a:txBody>
                    <a:bodyPr wrap="none"/>
                    <a:lstStyle/>
                    <a:p>
                      <a:pPr algn="l"/>
                      <a:r>
                        <a:rPr sz="1100" b="1">
                          <a:solidFill>
                            <a:srgbClr val="2E2E2E"/>
                          </a:solidFill>
                          <a:latin typeface="Calibri"/>
                        </a:rPr>
                        <a:t>– Cobalt-Chromium Alloys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02">
                <a:tc>
                  <a:txBody>
                    <a:bodyPr wrap="none"/>
                    <a:lstStyle/>
                    <a:p>
                      <a:pPr algn="l"/>
                      <a:r>
                        <a:rPr sz="1100" b="1">
                          <a:solidFill>
                            <a:srgbClr val="2E2E2E"/>
                          </a:solidFill>
                          <a:latin typeface="Calibri"/>
                        </a:rPr>
                        <a:t>– Titanium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02">
                <a:tc>
                  <a:txBody>
                    <a:bodyPr wrap="none"/>
                    <a:lstStyle/>
                    <a:p>
                      <a:pPr algn="l"/>
                      <a:r>
                        <a:rPr sz="1100" b="1">
                          <a:solidFill>
                            <a:srgbClr val="2E2E2E"/>
                          </a:solidFill>
                          <a:latin typeface="Calibri"/>
                        </a:rPr>
                        <a:t>Acrylic / Resin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02">
                <a:tc>
                  <a:txBody>
                    <a:bodyPr wrap="none"/>
                    <a:lstStyle/>
                    <a:p>
                      <a:pPr algn="l"/>
                      <a:r>
                        <a:rPr sz="1100" b="1">
                          <a:solidFill>
                            <a:srgbClr val="2E2E2E"/>
                          </a:solidFill>
                          <a:latin typeface="Calibri"/>
                        </a:rPr>
                        <a:t>– PMMA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02">
                <a:tc>
                  <a:txBody>
                    <a:bodyPr wrap="none"/>
                    <a:lstStyle/>
                    <a:p>
                      <a:pPr algn="l"/>
                      <a:r>
                        <a:rPr sz="1100" b="1">
                          <a:solidFill>
                            <a:srgbClr val="2E2E2E"/>
                          </a:solidFill>
                          <a:latin typeface="Calibri"/>
                        </a:rPr>
                        <a:t>– Printable Denture Resins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02">
                <a:tc>
                  <a:txBody>
                    <a:bodyPr wrap="none"/>
                    <a:lstStyle/>
                    <a:p>
                      <a:pPr algn="l"/>
                      <a:r>
                        <a:rPr sz="1100" b="1">
                          <a:solidFill>
                            <a:srgbClr val="2E2E2E"/>
                          </a:solidFill>
                          <a:latin typeface="Calibri"/>
                        </a:rPr>
                        <a:t>Flexible Thermoplastics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02">
                <a:tc>
                  <a:txBody>
                    <a:bodyPr wrap="none"/>
                    <a:lstStyle/>
                    <a:p>
                      <a:pPr algn="l"/>
                      <a:r>
                        <a:rPr sz="1100" b="1">
                          <a:solidFill>
                            <a:srgbClr val="2E2E2E"/>
                          </a:solidFill>
                          <a:latin typeface="Calibri"/>
                        </a:rPr>
                        <a:t>– Polyamide / Nylon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02">
                <a:tc>
                  <a:txBody>
                    <a:bodyPr wrap="none"/>
                    <a:lstStyle/>
                    <a:p>
                      <a:pPr algn="l"/>
                      <a:r>
                        <a:rPr sz="1100" b="1">
                          <a:solidFill>
                            <a:srgbClr val="2E2E2E"/>
                          </a:solidFill>
                          <a:latin typeface="Calibri"/>
                        </a:rPr>
                        <a:t>– Other Thermoplastic Resins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02">
                <a:tc>
                  <a:txBody>
                    <a:bodyPr wrap="none"/>
                    <a:lstStyle/>
                    <a:p>
                      <a:pPr algn="l"/>
                      <a:r>
                        <a:rPr sz="1100" b="1">
                          <a:solidFill>
                            <a:srgbClr val="2E2E2E"/>
                          </a:solidFill>
                          <a:latin typeface="Calibri"/>
                        </a:rPr>
                        <a:t>High-performance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02">
                <a:tc>
                  <a:txBody>
                    <a:bodyPr wrap="none"/>
                    <a:lstStyle/>
                    <a:p>
                      <a:pPr algn="l"/>
                      <a:r>
                        <a:rPr sz="1100" b="1">
                          <a:solidFill>
                            <a:srgbClr val="2E2E2E"/>
                          </a:solidFill>
                          <a:latin typeface="Calibri"/>
                        </a:rPr>
                        <a:t>– PEEK-based Materials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02">
                <a:tc>
                  <a:txBody>
                    <a:bodyPr wrap="none"/>
                    <a:lstStyle/>
                    <a:p>
                      <a:pPr algn="l"/>
                      <a:r>
                        <a:rPr sz="1100" b="1">
                          <a:solidFill>
                            <a:srgbClr val="2E2E2E"/>
                          </a:solidFill>
                          <a:latin typeface="Calibri"/>
                        </a:rPr>
                        <a:t>– Other High-performance Dental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02">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5029200"/>
            <a:ext cx="11906250"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511492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Material Type</a:t>
            </a:r>
          </a:p>
        </p:txBody>
      </p:sp>
      <p:sp>
        <p:nvSpPr>
          <p:cNvPr id="17" name="Rectangle 16"/>
          <p:cNvSpPr/>
          <p:nvPr/>
        </p:nvSpPr>
        <p:spPr>
          <a:xfrm>
            <a:off x="276225" y="53530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438775"/>
            <a:ext cx="11639550" cy="11144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397216" y="2818639"/>
            <a:ext cx="366712" cy="533400"/>
          </a:xfrm>
          <a:prstGeom prst="rect">
            <a:avLst/>
          </a:prstGeom>
        </p:spPr>
      </p:pic>
      <p:sp>
        <p:nvSpPr>
          <p:cNvPr id="21" name="TextBox 20"/>
          <p:cNvSpPr txBox="1"/>
          <p:nvPr/>
        </p:nvSpPr>
        <p:spPr>
          <a:xfrm>
            <a:off x="276225" y="5448300"/>
            <a:ext cx="2808076" cy="194310"/>
          </a:xfrm>
          <a:prstGeom prst="rect">
            <a:avLst/>
          </a:prstGeom>
          <a:noFill/>
        </p:spPr>
        <p:txBody>
          <a:bodyPr wrap="none" lIns="0" rIns="0" tIns="0" bIns="0">
            <a:spAutoFit/>
          </a:bodyPr>
          <a:lstStyle/>
          <a:p>
            <a:r>
              <a:rPr sz="1150" b="0">
                <a:solidFill>
                  <a:srgbClr val="2E2E2E"/>
                </a:solidFill>
                <a:latin typeface="Calibri"/>
              </a:rPr>
              <a:t>Acrylic / resin segment is projected to register</a:t>
            </a:r>
          </a:p>
        </p:txBody>
      </p:sp>
      <p:pic>
        <p:nvPicPr>
          <p:cNvPr id="22" name="Picture 21" descr="lock.png"/>
          <p:cNvPicPr>
            <a:picLocks noChangeAspect="1"/>
          </p:cNvPicPr>
          <p:nvPr/>
        </p:nvPicPr>
        <p:blipFill>
          <a:blip r:embed="rId4"/>
          <a:stretch>
            <a:fillRect/>
          </a:stretch>
        </p:blipFill>
        <p:spPr>
          <a:xfrm>
            <a:off x="3033455" y="5438076"/>
            <a:ext cx="134549" cy="195707"/>
          </a:xfrm>
          <a:prstGeom prst="rect">
            <a:avLst/>
          </a:prstGeom>
        </p:spPr>
      </p:pic>
      <p:sp>
        <p:nvSpPr>
          <p:cNvPr id="23" name="TextBox 22"/>
          <p:cNvSpPr txBox="1"/>
          <p:nvPr/>
        </p:nvSpPr>
        <p:spPr>
          <a:xfrm>
            <a:off x="3208564" y="5448300"/>
            <a:ext cx="8533693" cy="194310"/>
          </a:xfrm>
          <a:prstGeom prst="rect">
            <a:avLst/>
          </a:prstGeom>
          <a:noFill/>
        </p:spPr>
        <p:txBody>
          <a:bodyPr wrap="none" lIns="0" rIns="0" tIns="0" bIns="0">
            <a:spAutoFit/>
          </a:bodyPr>
          <a:lstStyle/>
          <a:p>
            <a:r>
              <a:rPr sz="1150" b="0">
                <a:solidFill>
                  <a:srgbClr val="2E2E2E"/>
                </a:solidFill>
                <a:latin typeface="Calibri"/>
              </a:rPr>
              <a:t>X higher value than metal alloys segment in 2036. Among removable partial dentures by material type, high-performance polymers segment is</a:t>
            </a:r>
          </a:p>
        </p:txBody>
      </p:sp>
      <p:sp>
        <p:nvSpPr>
          <p:cNvPr id="24" name="TextBox 23"/>
          <p:cNvSpPr txBox="1"/>
          <p:nvPr/>
        </p:nvSpPr>
        <p:spPr>
          <a:xfrm>
            <a:off x="276225" y="5623560"/>
            <a:ext cx="2486007" cy="194310"/>
          </a:xfrm>
          <a:prstGeom prst="rect">
            <a:avLst/>
          </a:prstGeom>
          <a:noFill/>
        </p:spPr>
        <p:txBody>
          <a:bodyPr wrap="none" lIns="0" rIns="0" tIns="0" bIns="0">
            <a:spAutoFit/>
          </a:bodyPr>
          <a:lstStyle/>
          <a:p>
            <a:r>
              <a:rPr sz="1150" b="0">
                <a:solidFill>
                  <a:srgbClr val="2E2E2E"/>
                </a:solidFill>
                <a:latin typeface="Calibri"/>
              </a:rPr>
              <a:t>expected to witness the highest CAGR of</a:t>
            </a:r>
          </a:p>
        </p:txBody>
      </p:sp>
      <p:pic>
        <p:nvPicPr>
          <p:cNvPr id="25" name="Picture 24" descr="lock.png"/>
          <p:cNvPicPr>
            <a:picLocks noChangeAspect="1"/>
          </p:cNvPicPr>
          <p:nvPr/>
        </p:nvPicPr>
        <p:blipFill>
          <a:blip r:embed="rId4"/>
          <a:stretch>
            <a:fillRect/>
          </a:stretch>
        </p:blipFill>
        <p:spPr>
          <a:xfrm>
            <a:off x="2711386" y="5613336"/>
            <a:ext cx="134549" cy="195707"/>
          </a:xfrm>
          <a:prstGeom prst="rect">
            <a:avLst/>
          </a:prstGeom>
        </p:spPr>
      </p:pic>
      <p:sp>
        <p:nvSpPr>
          <p:cNvPr id="26" name="TextBox 25"/>
          <p:cNvSpPr txBox="1"/>
          <p:nvPr/>
        </p:nvSpPr>
        <p:spPr>
          <a:xfrm>
            <a:off x="2886495" y="562356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5851397"/>
            <a:ext cx="6736308" cy="194310"/>
          </a:xfrm>
          <a:prstGeom prst="rect">
            <a:avLst/>
          </a:prstGeom>
          <a:noFill/>
        </p:spPr>
        <p:txBody>
          <a:bodyPr wrap="none" lIns="0" rIns="0" tIns="0" bIns="0">
            <a:spAutoFit/>
          </a:bodyPr>
          <a:lstStyle/>
          <a:p>
            <a:r>
              <a:rPr sz="1150" b="0">
                <a:solidFill>
                  <a:srgbClr val="2E2E2E"/>
                </a:solidFill>
                <a:latin typeface="Calibri"/>
              </a:rPr>
              <a:t>In terms of value share by material type, the acrylic / resin segment is expected to dominate the market, gaining</a:t>
            </a:r>
          </a:p>
        </p:txBody>
      </p:sp>
      <p:pic>
        <p:nvPicPr>
          <p:cNvPr id="28" name="Picture 27" descr="lock.png"/>
          <p:cNvPicPr>
            <a:picLocks noChangeAspect="1"/>
          </p:cNvPicPr>
          <p:nvPr/>
        </p:nvPicPr>
        <p:blipFill>
          <a:blip r:embed="rId4"/>
          <a:stretch>
            <a:fillRect/>
          </a:stretch>
        </p:blipFill>
        <p:spPr>
          <a:xfrm>
            <a:off x="6961687" y="5841174"/>
            <a:ext cx="134549" cy="195707"/>
          </a:xfrm>
          <a:prstGeom prst="rect">
            <a:avLst/>
          </a:prstGeom>
        </p:spPr>
      </p:pic>
      <p:sp>
        <p:nvSpPr>
          <p:cNvPr id="29" name="TextBox 28"/>
          <p:cNvSpPr txBox="1"/>
          <p:nvPr/>
        </p:nvSpPr>
        <p:spPr>
          <a:xfrm>
            <a:off x="7136796" y="585139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8531939" y="5841174"/>
            <a:ext cx="134549" cy="195707"/>
          </a:xfrm>
          <a:prstGeom prst="rect">
            <a:avLst/>
          </a:prstGeom>
        </p:spPr>
      </p:pic>
      <p:sp>
        <p:nvSpPr>
          <p:cNvPr id="31" name="TextBox 30"/>
          <p:cNvSpPr txBox="1"/>
          <p:nvPr/>
        </p:nvSpPr>
        <p:spPr>
          <a:xfrm>
            <a:off x="8707048" y="5851397"/>
            <a:ext cx="2579588" cy="194310"/>
          </a:xfrm>
          <a:prstGeom prst="rect">
            <a:avLst/>
          </a:prstGeom>
          <a:noFill/>
        </p:spPr>
        <p:txBody>
          <a:bodyPr wrap="none" lIns="0" rIns="0" tIns="0" bIns="0">
            <a:spAutoFit/>
          </a:bodyPr>
          <a:lstStyle/>
          <a:p>
            <a:r>
              <a:rPr sz="1150" b="0">
                <a:solidFill>
                  <a:srgbClr val="2E2E2E"/>
                </a:solidFill>
                <a:latin typeface="Calibri"/>
              </a:rPr>
              <a:t>share by 2036. The flexible thermoplastics</a:t>
            </a:r>
          </a:p>
        </p:txBody>
      </p:sp>
      <p:sp>
        <p:nvSpPr>
          <p:cNvPr id="32" name="TextBox 31"/>
          <p:cNvSpPr txBox="1"/>
          <p:nvPr/>
        </p:nvSpPr>
        <p:spPr>
          <a:xfrm>
            <a:off x="276225" y="6026657"/>
            <a:ext cx="1725538" cy="194310"/>
          </a:xfrm>
          <a:prstGeom prst="rect">
            <a:avLst/>
          </a:prstGeom>
          <a:noFill/>
        </p:spPr>
        <p:txBody>
          <a:bodyPr wrap="none" lIns="0" rIns="0" tIns="0" bIns="0">
            <a:spAutoFit/>
          </a:bodyPr>
          <a:lstStyle/>
          <a:p>
            <a:r>
              <a:rPr sz="1150" b="0">
                <a:solidFill>
                  <a:srgbClr val="2E2E2E"/>
                </a:solidFill>
                <a:latin typeface="Calibri"/>
              </a:rPr>
              <a:t>segment is expected to lose</a:t>
            </a:r>
          </a:p>
        </p:txBody>
      </p:sp>
      <p:pic>
        <p:nvPicPr>
          <p:cNvPr id="33" name="Picture 32" descr="lock.png"/>
          <p:cNvPicPr>
            <a:picLocks noChangeAspect="1"/>
          </p:cNvPicPr>
          <p:nvPr/>
        </p:nvPicPr>
        <p:blipFill>
          <a:blip r:embed="rId4"/>
          <a:stretch>
            <a:fillRect/>
          </a:stretch>
        </p:blipFill>
        <p:spPr>
          <a:xfrm>
            <a:off x="1950917" y="6016434"/>
            <a:ext cx="134549" cy="195707"/>
          </a:xfrm>
          <a:prstGeom prst="rect">
            <a:avLst/>
          </a:prstGeom>
        </p:spPr>
      </p:pic>
      <p:sp>
        <p:nvSpPr>
          <p:cNvPr id="34" name="TextBox 33"/>
          <p:cNvSpPr txBox="1"/>
          <p:nvPr/>
        </p:nvSpPr>
        <p:spPr>
          <a:xfrm>
            <a:off x="2126026" y="6026657"/>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4713530" y="6016434"/>
            <a:ext cx="134549" cy="195707"/>
          </a:xfrm>
          <a:prstGeom prst="rect">
            <a:avLst/>
          </a:prstGeom>
        </p:spPr>
      </p:pic>
      <p:sp>
        <p:nvSpPr>
          <p:cNvPr id="36" name="TextBox 35"/>
          <p:cNvSpPr txBox="1"/>
          <p:nvPr/>
        </p:nvSpPr>
        <p:spPr>
          <a:xfrm>
            <a:off x="4888640" y="602665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Material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Material Type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Material Type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86843"/>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88208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80588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High-performance Polymers</a:t>
            </a:r>
          </a:p>
        </p:txBody>
      </p:sp>
      <p:sp>
        <p:nvSpPr>
          <p:cNvPr id="19" name="BPS Value 1"/>
          <p:cNvSpPr txBox="1"/>
          <p:nvPr/>
        </p:nvSpPr>
        <p:spPr>
          <a:xfrm>
            <a:off x="6896100" y="1867793"/>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2492069"/>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48730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41110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Flexible Thermoplastics</a:t>
            </a:r>
          </a:p>
        </p:txBody>
      </p:sp>
      <p:sp>
        <p:nvSpPr>
          <p:cNvPr id="23" name="BPS Value 2"/>
          <p:cNvSpPr txBox="1"/>
          <p:nvPr/>
        </p:nvSpPr>
        <p:spPr>
          <a:xfrm>
            <a:off x="6896100" y="2473019"/>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FMI Legend Chip"/>
          <p:cNvSpPr/>
          <p:nvPr/>
        </p:nvSpPr>
        <p:spPr>
          <a:xfrm>
            <a:off x="4928997" y="3534373"/>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52961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45341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Metal Alloys</a:t>
            </a:r>
          </a:p>
        </p:txBody>
      </p:sp>
      <p:sp>
        <p:nvSpPr>
          <p:cNvPr id="27" name="BPS Value 3"/>
          <p:cNvSpPr txBox="1"/>
          <p:nvPr/>
        </p:nvSpPr>
        <p:spPr>
          <a:xfrm>
            <a:off x="6896100" y="3515323"/>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FMI Legend Chip"/>
          <p:cNvSpPr/>
          <p:nvPr/>
        </p:nvSpPr>
        <p:spPr>
          <a:xfrm>
            <a:off x="4928997" y="5215337"/>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21057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13437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Acrylic / Resin</a:t>
            </a:r>
          </a:p>
        </p:txBody>
      </p:sp>
      <p:sp>
        <p:nvSpPr>
          <p:cNvPr id="31" name="BPS Value 4"/>
          <p:cNvSpPr txBox="1"/>
          <p:nvPr/>
        </p:nvSpPr>
        <p:spPr>
          <a:xfrm>
            <a:off x="6896100" y="5196287"/>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Material Type</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7" name="Picture 36" descr="lock.png"/>
          <p:cNvPicPr>
            <a:picLocks noChangeAspect="1"/>
          </p:cNvPicPr>
          <p:nvPr/>
        </p:nvPicPr>
        <p:blipFill>
          <a:blip r:embed="rId5"/>
          <a:stretch>
            <a:fillRect/>
          </a:stretch>
        </p:blipFill>
        <p:spPr>
          <a:xfrm>
            <a:off x="2557843" y="3833622"/>
            <a:ext cx="275034" cy="400050"/>
          </a:xfrm>
          <a:prstGeom prst="rect">
            <a:avLst/>
          </a:prstGeom>
        </p:spPr>
      </p:pic>
      <p:sp>
        <p:nvSpPr>
          <p:cNvPr id="38" name="TextBox 37"/>
          <p:cNvSpPr txBox="1"/>
          <p:nvPr/>
        </p:nvSpPr>
        <p:spPr>
          <a:xfrm>
            <a:off x="7829550" y="1400175"/>
            <a:ext cx="3192313" cy="194310"/>
          </a:xfrm>
          <a:prstGeom prst="rect">
            <a:avLst/>
          </a:prstGeom>
          <a:noFill/>
        </p:spPr>
        <p:txBody>
          <a:bodyPr wrap="none" lIns="0" rIns="0" tIns="0" bIns="0">
            <a:spAutoFit/>
          </a:bodyPr>
          <a:lstStyle/>
          <a:p>
            <a:r>
              <a:rPr sz="1150" b="0">
                <a:solidFill>
                  <a:srgbClr val="2E2E2E"/>
                </a:solidFill>
                <a:latin typeface="Calibri"/>
              </a:rPr>
              <a:t>Among removable partial dentures by material type,</a:t>
            </a:r>
          </a:p>
        </p:txBody>
      </p:sp>
      <p:sp>
        <p:nvSpPr>
          <p:cNvPr id="39" name="TextBox 38"/>
          <p:cNvSpPr txBox="1"/>
          <p:nvPr/>
        </p:nvSpPr>
        <p:spPr>
          <a:xfrm>
            <a:off x="7829550" y="1575435"/>
            <a:ext cx="3856384" cy="194310"/>
          </a:xfrm>
          <a:prstGeom prst="rect">
            <a:avLst/>
          </a:prstGeom>
          <a:noFill/>
        </p:spPr>
        <p:txBody>
          <a:bodyPr wrap="none" lIns="0" rIns="0" tIns="0" bIns="0">
            <a:spAutoFit/>
          </a:bodyPr>
          <a:lstStyle/>
          <a:p>
            <a:r>
              <a:rPr sz="1150" b="0">
                <a:solidFill>
                  <a:srgbClr val="2E2E2E"/>
                </a:solidFill>
                <a:latin typeface="Calibri"/>
              </a:rPr>
              <a:t>high-performance polymers segment is expected to witness the</a:t>
            </a:r>
          </a:p>
        </p:txBody>
      </p:sp>
      <p:sp>
        <p:nvSpPr>
          <p:cNvPr id="40" name="TextBox 39"/>
          <p:cNvSpPr txBox="1"/>
          <p:nvPr/>
        </p:nvSpPr>
        <p:spPr>
          <a:xfrm>
            <a:off x="7829550" y="1750695"/>
            <a:ext cx="1032353" cy="194310"/>
          </a:xfrm>
          <a:prstGeom prst="rect">
            <a:avLst/>
          </a:prstGeom>
          <a:noFill/>
        </p:spPr>
        <p:txBody>
          <a:bodyPr wrap="none" lIns="0" rIns="0" tIns="0" bIns="0">
            <a:spAutoFit/>
          </a:bodyPr>
          <a:lstStyle/>
          <a:p>
            <a:r>
              <a:rPr sz="1150" b="0">
                <a:solidFill>
                  <a:srgbClr val="2E2E2E"/>
                </a:solidFill>
                <a:latin typeface="Calibri"/>
              </a:rPr>
              <a:t>highest CAGR of</a:t>
            </a:r>
          </a:p>
        </p:txBody>
      </p:sp>
      <p:pic>
        <p:nvPicPr>
          <p:cNvPr id="41" name="Picture 40" descr="lock.png"/>
          <p:cNvPicPr>
            <a:picLocks noChangeAspect="1"/>
          </p:cNvPicPr>
          <p:nvPr/>
        </p:nvPicPr>
        <p:blipFill>
          <a:blip r:embed="rId5"/>
          <a:stretch>
            <a:fillRect/>
          </a:stretch>
        </p:blipFill>
        <p:spPr>
          <a:xfrm>
            <a:off x="8811057" y="1740471"/>
            <a:ext cx="134549" cy="195707"/>
          </a:xfrm>
          <a:prstGeom prst="rect">
            <a:avLst/>
          </a:prstGeom>
        </p:spPr>
      </p:pic>
      <p:sp>
        <p:nvSpPr>
          <p:cNvPr id="42" name="TextBox 41"/>
          <p:cNvSpPr txBox="1"/>
          <p:nvPr/>
        </p:nvSpPr>
        <p:spPr>
          <a:xfrm>
            <a:off x="8986166" y="1750695"/>
            <a:ext cx="2581585" cy="194310"/>
          </a:xfrm>
          <a:prstGeom prst="rect">
            <a:avLst/>
          </a:prstGeom>
          <a:noFill/>
        </p:spPr>
        <p:txBody>
          <a:bodyPr wrap="none" lIns="0" rIns="0" tIns="0" bIns="0">
            <a:spAutoFit/>
          </a:bodyPr>
          <a:lstStyle/>
          <a:p>
            <a:r>
              <a:rPr sz="1150" b="0">
                <a:solidFill>
                  <a:srgbClr val="2E2E2E"/>
                </a:solidFill>
                <a:latin typeface="Calibri"/>
              </a:rPr>
              <a:t>over the forecast period. In terms of value</a:t>
            </a:r>
          </a:p>
        </p:txBody>
      </p:sp>
      <p:sp>
        <p:nvSpPr>
          <p:cNvPr id="43" name="TextBox 42"/>
          <p:cNvSpPr txBox="1"/>
          <p:nvPr/>
        </p:nvSpPr>
        <p:spPr>
          <a:xfrm>
            <a:off x="7829550" y="1925955"/>
            <a:ext cx="3909441" cy="194310"/>
          </a:xfrm>
          <a:prstGeom prst="rect">
            <a:avLst/>
          </a:prstGeom>
          <a:noFill/>
        </p:spPr>
        <p:txBody>
          <a:bodyPr wrap="none" lIns="0" rIns="0" tIns="0" bIns="0">
            <a:spAutoFit/>
          </a:bodyPr>
          <a:lstStyle/>
          <a:p>
            <a:r>
              <a:rPr sz="1150" b="0">
                <a:solidFill>
                  <a:srgbClr val="2E2E2E"/>
                </a:solidFill>
                <a:latin typeface="Calibri"/>
              </a:rPr>
              <a:t>share by material type, the acrylic / resin segment is expected to</a:t>
            </a:r>
          </a:p>
        </p:txBody>
      </p:sp>
      <p:sp>
        <p:nvSpPr>
          <p:cNvPr id="44" name="TextBox 43"/>
          <p:cNvSpPr txBox="1"/>
          <p:nvPr/>
        </p:nvSpPr>
        <p:spPr>
          <a:xfrm>
            <a:off x="7829550" y="2101215"/>
            <a:ext cx="1837072" cy="194310"/>
          </a:xfrm>
          <a:prstGeom prst="rect">
            <a:avLst/>
          </a:prstGeom>
          <a:noFill/>
        </p:spPr>
        <p:txBody>
          <a:bodyPr wrap="none" lIns="0" rIns="0" tIns="0" bIns="0">
            <a:spAutoFit/>
          </a:bodyPr>
          <a:lstStyle/>
          <a:p>
            <a:r>
              <a:rPr sz="1150" b="0">
                <a:solidFill>
                  <a:srgbClr val="2E2E2E"/>
                </a:solidFill>
                <a:latin typeface="Calibri"/>
              </a:rPr>
              <a:t>dominate the market, gaining</a:t>
            </a:r>
          </a:p>
        </p:txBody>
      </p:sp>
      <p:pic>
        <p:nvPicPr>
          <p:cNvPr id="45" name="Picture 44" descr="lock.png"/>
          <p:cNvPicPr>
            <a:picLocks noChangeAspect="1"/>
          </p:cNvPicPr>
          <p:nvPr/>
        </p:nvPicPr>
        <p:blipFill>
          <a:blip r:embed="rId5"/>
          <a:stretch>
            <a:fillRect/>
          </a:stretch>
        </p:blipFill>
        <p:spPr>
          <a:xfrm>
            <a:off x="9615776" y="2090991"/>
            <a:ext cx="134549" cy="195707"/>
          </a:xfrm>
          <a:prstGeom prst="rect">
            <a:avLst/>
          </a:prstGeom>
        </p:spPr>
      </p:pic>
      <p:sp>
        <p:nvSpPr>
          <p:cNvPr id="46" name="TextBox 45"/>
          <p:cNvSpPr txBox="1"/>
          <p:nvPr/>
        </p:nvSpPr>
        <p:spPr>
          <a:xfrm>
            <a:off x="9790885" y="2101215"/>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47" name="Picture 46" descr="lock.png"/>
          <p:cNvPicPr>
            <a:picLocks noChangeAspect="1"/>
          </p:cNvPicPr>
          <p:nvPr/>
        </p:nvPicPr>
        <p:blipFill>
          <a:blip r:embed="rId5"/>
          <a:stretch>
            <a:fillRect/>
          </a:stretch>
        </p:blipFill>
        <p:spPr>
          <a:xfrm>
            <a:off x="11186028" y="2090991"/>
            <a:ext cx="134549" cy="195707"/>
          </a:xfrm>
          <a:prstGeom prst="rect">
            <a:avLst/>
          </a:prstGeom>
        </p:spPr>
      </p:pic>
      <p:sp>
        <p:nvSpPr>
          <p:cNvPr id="48" name="TextBox 47"/>
          <p:cNvSpPr txBox="1"/>
          <p:nvPr/>
        </p:nvSpPr>
        <p:spPr>
          <a:xfrm>
            <a:off x="7829550" y="2276475"/>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9" name="TextBox 48"/>
          <p:cNvSpPr txBox="1"/>
          <p:nvPr/>
        </p:nvSpPr>
        <p:spPr>
          <a:xfrm>
            <a:off x="7829550" y="2504313"/>
            <a:ext cx="3358901" cy="194310"/>
          </a:xfrm>
          <a:prstGeom prst="rect">
            <a:avLst/>
          </a:prstGeom>
          <a:noFill/>
        </p:spPr>
        <p:txBody>
          <a:bodyPr wrap="none" lIns="0" rIns="0" tIns="0" bIns="0">
            <a:spAutoFit/>
          </a:bodyPr>
          <a:lstStyle/>
          <a:p>
            <a:r>
              <a:rPr sz="1150" b="0">
                <a:solidFill>
                  <a:srgbClr val="2E2E2E"/>
                </a:solidFill>
                <a:latin typeface="Calibri"/>
              </a:rPr>
              <a:t>The flexible thermoplastics segment is expected to lose</a:t>
            </a:r>
          </a:p>
        </p:txBody>
      </p:sp>
      <p:pic>
        <p:nvPicPr>
          <p:cNvPr id="50" name="Picture 49" descr="lock.png"/>
          <p:cNvPicPr>
            <a:picLocks noChangeAspect="1"/>
          </p:cNvPicPr>
          <p:nvPr/>
        </p:nvPicPr>
        <p:blipFill>
          <a:blip r:embed="rId5"/>
          <a:stretch>
            <a:fillRect/>
          </a:stretch>
        </p:blipFill>
        <p:spPr>
          <a:xfrm>
            <a:off x="11137605" y="2494089"/>
            <a:ext cx="134549" cy="195707"/>
          </a:xfrm>
          <a:prstGeom prst="rect">
            <a:avLst/>
          </a:prstGeom>
        </p:spPr>
      </p:pic>
      <p:sp>
        <p:nvSpPr>
          <p:cNvPr id="51" name="TextBox 50"/>
          <p:cNvSpPr txBox="1"/>
          <p:nvPr/>
        </p:nvSpPr>
        <p:spPr>
          <a:xfrm>
            <a:off x="11312715" y="2504313"/>
            <a:ext cx="298412" cy="194310"/>
          </a:xfrm>
          <a:prstGeom prst="rect">
            <a:avLst/>
          </a:prstGeom>
          <a:noFill/>
        </p:spPr>
        <p:txBody>
          <a:bodyPr wrap="none" lIns="0" rIns="0" tIns="0" bIns="0">
            <a:spAutoFit/>
          </a:bodyPr>
          <a:lstStyle/>
          <a:p>
            <a:r>
              <a:rPr sz="1150" b="0">
                <a:solidFill>
                  <a:srgbClr val="2E2E2E"/>
                </a:solidFill>
                <a:latin typeface="Calibri"/>
              </a:rPr>
              <a:t>BPS</a:t>
            </a:r>
          </a:p>
        </p:txBody>
      </p:sp>
      <p:sp>
        <p:nvSpPr>
          <p:cNvPr id="52" name="TextBox 51"/>
          <p:cNvSpPr txBox="1"/>
          <p:nvPr/>
        </p:nvSpPr>
        <p:spPr>
          <a:xfrm>
            <a:off x="7829550" y="2679573"/>
            <a:ext cx="2383048" cy="194310"/>
          </a:xfrm>
          <a:prstGeom prst="rect">
            <a:avLst/>
          </a:prstGeom>
          <a:noFill/>
        </p:spPr>
        <p:txBody>
          <a:bodyPr wrap="none" lIns="0" rIns="0" tIns="0" bIns="0">
            <a:spAutoFit/>
          </a:bodyPr>
          <a:lstStyle/>
          <a:p>
            <a:r>
              <a:rPr sz="1150" b="0">
                <a:solidFill>
                  <a:srgbClr val="2E2E2E"/>
                </a:solidFill>
                <a:latin typeface="Calibri"/>
              </a:rPr>
              <a:t>over the forecast period to account for</a:t>
            </a:r>
          </a:p>
        </p:txBody>
      </p:sp>
      <p:pic>
        <p:nvPicPr>
          <p:cNvPr id="53" name="Picture 52" descr="lock.png"/>
          <p:cNvPicPr>
            <a:picLocks noChangeAspect="1"/>
          </p:cNvPicPr>
          <p:nvPr/>
        </p:nvPicPr>
        <p:blipFill>
          <a:blip r:embed="rId5"/>
          <a:stretch>
            <a:fillRect/>
          </a:stretch>
        </p:blipFill>
        <p:spPr>
          <a:xfrm>
            <a:off x="10161752" y="2669349"/>
            <a:ext cx="134549" cy="195707"/>
          </a:xfrm>
          <a:prstGeom prst="rect">
            <a:avLst/>
          </a:prstGeom>
        </p:spPr>
      </p:pic>
      <p:sp>
        <p:nvSpPr>
          <p:cNvPr id="54" name="TextBox 53"/>
          <p:cNvSpPr txBox="1"/>
          <p:nvPr/>
        </p:nvSpPr>
        <p:spPr>
          <a:xfrm>
            <a:off x="10336861" y="267957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55"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Material Type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Material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3667125"/>
          </a:xfrm>
          <a:prstGeom prst="roundRect">
            <a:avLst>
              <a:gd name="adj" fmla="val 20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Material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1" cy="3200406"/>
        </p:xfrm>
        <a:graphic>
          <a:graphicData uri="http://schemas.openxmlformats.org/drawingml/2006/table">
            <a:tbl>
              <a:tblPr>
                <a:tableStyleId>{5C22544A-7EE6-4342-B048-85BDC9FD1C3A}</a:tableStyleId>
              </a:tblPr>
              <a:tblGrid>
                <a:gridCol w="2718001"/>
                <a:gridCol w="611280"/>
                <a:gridCol w="611280"/>
                <a:gridCol w="611280"/>
                <a:gridCol w="611280"/>
                <a:gridCol w="611280"/>
                <a:gridCol w="611280"/>
                <a:gridCol w="611280"/>
                <a:gridCol w="611280"/>
                <a:gridCol w="611280"/>
                <a:gridCol w="611280"/>
                <a:gridCol w="611280"/>
                <a:gridCol w="611280"/>
                <a:gridCol w="611280"/>
                <a:gridCol w="611280"/>
                <a:gridCol w="611280"/>
              </a:tblGrid>
              <a:tr h="246126">
                <a:tc>
                  <a:txBody>
                    <a:bodyPr wrap="none"/>
                    <a:lstStyle/>
                    <a:p>
                      <a:pPr algn="l"/>
                      <a:r>
                        <a:rPr sz="1100" b="1">
                          <a:solidFill>
                            <a:srgbClr val="0B2E4A"/>
                          </a:solidFill>
                          <a:latin typeface="Calibri"/>
                        </a:rPr>
                        <a:t>Material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190">
                <a:tc>
                  <a:txBody>
                    <a:bodyPr wrap="none"/>
                    <a:lstStyle/>
                    <a:p>
                      <a:pPr algn="l"/>
                      <a:r>
                        <a:rPr sz="1100" b="1">
                          <a:solidFill>
                            <a:srgbClr val="2E2E2E"/>
                          </a:solidFill>
                          <a:latin typeface="Calibri"/>
                        </a:rPr>
                        <a:t>Metal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Cobalt-Chromium Alloys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Titanium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Acrylic / Resin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PMMA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Printable Denture Resins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Flexible Thermoplastics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Polyamide / Nylon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Other Thermoplastic Resins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High-performance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PEEK-based Materials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Other High-performance Dental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448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7268310" y="2694815"/>
            <a:ext cx="366712" cy="533400"/>
          </a:xfrm>
          <a:prstGeom prst="rect">
            <a:avLst/>
          </a:prstGeom>
        </p:spPr>
      </p:pic>
    </p:spTree>
  </p:cSld>
  <p:clrMapOvr>
    <a:masterClrMapping/>
  </p:clrMapOvr>
</p:sld>
</file>

<file path=ppt/slides/slide1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Material Type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Material Type,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Material Type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Metal Alloys</a:t>
            </a:r>
          </a:p>
        </p:txBody>
      </p:sp>
      <p:sp>
        <p:nvSpPr>
          <p:cNvPr id="28" name="Rectangle 27"/>
          <p:cNvSpPr/>
          <p:nvPr/>
        </p:nvSpPr>
        <p:spPr>
          <a:xfrm>
            <a:off x="1857375" y="1409700"/>
            <a:ext cx="643890" cy="430212"/>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430212"/>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430212"/>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430212"/>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430212"/>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430212"/>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430212"/>
          </a:xfrm>
          <a:prstGeom prst="rect">
            <a:avLst/>
          </a:prstGeom>
          <a:solidFill>
            <a:srgbClr val="8C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430212"/>
          </a:xfrm>
          <a:prstGeom prst="rect">
            <a:avLst/>
          </a:prstGeom>
          <a:solidFill>
            <a:srgbClr val="8D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430212"/>
          </a:xfrm>
          <a:prstGeom prst="rect">
            <a:avLst/>
          </a:prstGeom>
          <a:solidFill>
            <a:srgbClr val="8E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430212"/>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430212"/>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430212"/>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430212"/>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430212"/>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430212"/>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8399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Cobalt-Chromium Alloys</a:t>
            </a:r>
          </a:p>
        </p:txBody>
      </p:sp>
      <p:sp>
        <p:nvSpPr>
          <p:cNvPr id="44" name="Rectangle 43"/>
          <p:cNvSpPr/>
          <p:nvPr/>
        </p:nvSpPr>
        <p:spPr>
          <a:xfrm>
            <a:off x="1857375" y="1839912"/>
            <a:ext cx="643890" cy="430212"/>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839912"/>
            <a:ext cx="643890" cy="430212"/>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839912"/>
            <a:ext cx="643890" cy="430212"/>
          </a:xfrm>
          <a:prstGeom prst="rect">
            <a:avLst/>
          </a:prstGeom>
          <a:solidFill>
            <a:srgbClr val="0E71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839912"/>
            <a:ext cx="643890" cy="430212"/>
          </a:xfrm>
          <a:prstGeom prst="rect">
            <a:avLst/>
          </a:prstGeom>
          <a:solidFill>
            <a:srgbClr val="0D629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839912"/>
            <a:ext cx="643890" cy="430212"/>
          </a:xfrm>
          <a:prstGeom prst="rect">
            <a:avLst/>
          </a:prstGeom>
          <a:solidFill>
            <a:srgbClr val="0D53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839912"/>
            <a:ext cx="643890" cy="430212"/>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839912"/>
            <a:ext cx="643890" cy="430212"/>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839912"/>
            <a:ext cx="643890" cy="430212"/>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839912"/>
            <a:ext cx="643890" cy="430212"/>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839912"/>
            <a:ext cx="643890" cy="430212"/>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839912"/>
            <a:ext cx="643890" cy="430212"/>
          </a:xfrm>
          <a:prstGeom prst="rect">
            <a:avLst/>
          </a:prstGeom>
          <a:solidFill>
            <a:srgbClr val="0D5E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839912"/>
            <a:ext cx="643890" cy="430212"/>
          </a:xfrm>
          <a:prstGeom prst="rect">
            <a:avLst/>
          </a:prstGeom>
          <a:solidFill>
            <a:srgbClr val="0D609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839912"/>
            <a:ext cx="643890" cy="430212"/>
          </a:xfrm>
          <a:prstGeom prst="rect">
            <a:avLst/>
          </a:prstGeom>
          <a:solidFill>
            <a:srgbClr val="0D629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839912"/>
            <a:ext cx="643890" cy="430212"/>
          </a:xfrm>
          <a:prstGeom prst="rect">
            <a:avLst/>
          </a:prstGeom>
          <a:solidFill>
            <a:srgbClr val="0D649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839912"/>
            <a:ext cx="643890" cy="430212"/>
          </a:xfrm>
          <a:prstGeom prst="rect">
            <a:avLst/>
          </a:prstGeom>
          <a:solidFill>
            <a:srgbClr val="0D669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2701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Titanium Alloys</a:t>
            </a:r>
          </a:p>
        </p:txBody>
      </p:sp>
      <p:sp>
        <p:nvSpPr>
          <p:cNvPr id="60" name="Rectangle 59"/>
          <p:cNvSpPr/>
          <p:nvPr/>
        </p:nvSpPr>
        <p:spPr>
          <a:xfrm>
            <a:off x="1857375" y="2270125"/>
            <a:ext cx="643890" cy="430212"/>
          </a:xfrm>
          <a:prstGeom prst="rect">
            <a:avLst/>
          </a:prstGeom>
          <a:solidFill>
            <a:srgbClr val="DFED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2270125"/>
            <a:ext cx="643890" cy="430212"/>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2270125"/>
            <a:ext cx="643890" cy="430212"/>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2270125"/>
            <a:ext cx="643890" cy="430212"/>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2270125"/>
            <a:ext cx="643890" cy="430212"/>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2270125"/>
            <a:ext cx="643890" cy="430212"/>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2270125"/>
            <a:ext cx="643890" cy="430212"/>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2270125"/>
            <a:ext cx="643890" cy="430212"/>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2270125"/>
            <a:ext cx="643890" cy="430212"/>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2270125"/>
            <a:ext cx="643890" cy="430212"/>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2270125"/>
            <a:ext cx="643890" cy="430212"/>
          </a:xfrm>
          <a:prstGeom prst="rect">
            <a:avLst/>
          </a:prstGeom>
          <a:solidFill>
            <a:srgbClr val="D6E6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2270125"/>
            <a:ext cx="643890" cy="430212"/>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2270125"/>
            <a:ext cx="643890" cy="430212"/>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2270125"/>
            <a:ext cx="643890" cy="430212"/>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2270125"/>
            <a:ext cx="643890" cy="430212"/>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70033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Acrylic / Resin</a:t>
            </a:r>
          </a:p>
        </p:txBody>
      </p:sp>
      <p:sp>
        <p:nvSpPr>
          <p:cNvPr id="76" name="Rectangle 75"/>
          <p:cNvSpPr/>
          <p:nvPr/>
        </p:nvSpPr>
        <p:spPr>
          <a:xfrm>
            <a:off x="1857375" y="2700338"/>
            <a:ext cx="643890" cy="430212"/>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700338"/>
            <a:ext cx="643890" cy="430212"/>
          </a:xfrm>
          <a:prstGeom prst="rect">
            <a:avLst/>
          </a:prstGeom>
          <a:solidFill>
            <a:srgbClr val="95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700338"/>
            <a:ext cx="643890" cy="430212"/>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700338"/>
            <a:ext cx="643890" cy="430212"/>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700338"/>
            <a:ext cx="643890" cy="430212"/>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700338"/>
            <a:ext cx="643890" cy="430212"/>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700338"/>
            <a:ext cx="643890" cy="430212"/>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700338"/>
            <a:ext cx="643890" cy="430212"/>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700338"/>
            <a:ext cx="643890" cy="430212"/>
          </a:xfrm>
          <a:prstGeom prst="rect">
            <a:avLst/>
          </a:prstGeom>
          <a:solidFill>
            <a:srgbClr val="6D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700338"/>
            <a:ext cx="643890" cy="430212"/>
          </a:xfrm>
          <a:prstGeom prst="rect">
            <a:avLst/>
          </a:prstGeom>
          <a:solidFill>
            <a:srgbClr val="6D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700338"/>
            <a:ext cx="643890" cy="430212"/>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700338"/>
            <a:ext cx="643890" cy="430212"/>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700338"/>
            <a:ext cx="643890" cy="430212"/>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700338"/>
            <a:ext cx="643890" cy="430212"/>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700338"/>
            <a:ext cx="643890" cy="430212"/>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313055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PMMA</a:t>
            </a:r>
          </a:p>
        </p:txBody>
      </p:sp>
      <p:sp>
        <p:nvSpPr>
          <p:cNvPr id="92" name="Rectangle 91"/>
          <p:cNvSpPr/>
          <p:nvPr/>
        </p:nvSpPr>
        <p:spPr>
          <a:xfrm>
            <a:off x="1857375" y="3130550"/>
            <a:ext cx="643890" cy="430212"/>
          </a:xfrm>
          <a:prstGeom prst="rect">
            <a:avLst/>
          </a:prstGeom>
          <a:solidFill>
            <a:srgbClr val="0D669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3130550"/>
            <a:ext cx="643890" cy="430212"/>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3130550"/>
            <a:ext cx="643890" cy="430212"/>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3130550"/>
            <a:ext cx="643890" cy="430212"/>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3130550"/>
            <a:ext cx="643890" cy="43021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3130550"/>
            <a:ext cx="643890" cy="430212"/>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3130550"/>
            <a:ext cx="643890" cy="430212"/>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3130550"/>
            <a:ext cx="643890" cy="430212"/>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3130550"/>
            <a:ext cx="643890" cy="430212"/>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3130550"/>
            <a:ext cx="643890" cy="430212"/>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3130550"/>
            <a:ext cx="643890" cy="430212"/>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3130550"/>
            <a:ext cx="643890" cy="430212"/>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3130550"/>
            <a:ext cx="643890" cy="430212"/>
          </a:xfrm>
          <a:prstGeom prst="rect">
            <a:avLst/>
          </a:prstGeom>
          <a:solidFill>
            <a:srgbClr val="0C466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3130550"/>
            <a:ext cx="643890" cy="430212"/>
          </a:xfrm>
          <a:prstGeom prst="rect">
            <a:avLst/>
          </a:prstGeom>
          <a:solidFill>
            <a:srgbClr val="0C48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3130550"/>
            <a:ext cx="643890" cy="430212"/>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56076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Printable Denture Resins</a:t>
            </a:r>
          </a:p>
        </p:txBody>
      </p:sp>
      <p:sp>
        <p:nvSpPr>
          <p:cNvPr id="108" name="Rectangle 107"/>
          <p:cNvSpPr/>
          <p:nvPr/>
        </p:nvSpPr>
        <p:spPr>
          <a:xfrm>
            <a:off x="1857375" y="3560762"/>
            <a:ext cx="643890" cy="430212"/>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3560762"/>
            <a:ext cx="643890" cy="430212"/>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3560762"/>
            <a:ext cx="643890" cy="430212"/>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3560762"/>
            <a:ext cx="643890" cy="430212"/>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3560762"/>
            <a:ext cx="643890" cy="430212"/>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3560762"/>
            <a:ext cx="643890" cy="430212"/>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3560762"/>
            <a:ext cx="643890" cy="430212"/>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3560762"/>
            <a:ext cx="643890" cy="430212"/>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3560762"/>
            <a:ext cx="643890" cy="430212"/>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3560762"/>
            <a:ext cx="643890" cy="430212"/>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3560762"/>
            <a:ext cx="643890" cy="430212"/>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3560762"/>
            <a:ext cx="643890" cy="430212"/>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3560762"/>
            <a:ext cx="643890" cy="430212"/>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3560762"/>
            <a:ext cx="643890" cy="430212"/>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3560762"/>
            <a:ext cx="643890" cy="43021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99097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Flexible Thermoplastics</a:t>
            </a:r>
          </a:p>
        </p:txBody>
      </p:sp>
      <p:sp>
        <p:nvSpPr>
          <p:cNvPr id="124" name="Rectangle 123"/>
          <p:cNvSpPr/>
          <p:nvPr/>
        </p:nvSpPr>
        <p:spPr>
          <a:xfrm>
            <a:off x="1857375" y="3990975"/>
            <a:ext cx="643890" cy="430212"/>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3990975"/>
            <a:ext cx="643890" cy="430212"/>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3990975"/>
            <a:ext cx="643890" cy="430212"/>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3990975"/>
            <a:ext cx="643890" cy="430212"/>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3990975"/>
            <a:ext cx="643890" cy="430212"/>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3990975"/>
            <a:ext cx="643890" cy="430212"/>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3990975"/>
            <a:ext cx="643890" cy="430212"/>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3990975"/>
            <a:ext cx="643890" cy="430212"/>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3990975"/>
            <a:ext cx="643890" cy="430212"/>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3990975"/>
            <a:ext cx="643890" cy="430212"/>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3990975"/>
            <a:ext cx="643890" cy="430212"/>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3990975"/>
            <a:ext cx="643890" cy="430212"/>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3990975"/>
            <a:ext cx="643890" cy="430212"/>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3990975"/>
            <a:ext cx="643890" cy="430212"/>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3990975"/>
            <a:ext cx="643890" cy="430212"/>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442118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Polyamide / Nylon</a:t>
            </a:r>
          </a:p>
        </p:txBody>
      </p:sp>
      <p:sp>
        <p:nvSpPr>
          <p:cNvPr id="140" name="Rectangle 139"/>
          <p:cNvSpPr/>
          <p:nvPr/>
        </p:nvSpPr>
        <p:spPr>
          <a:xfrm>
            <a:off x="1857375" y="4421188"/>
            <a:ext cx="643890" cy="430212"/>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4421188"/>
            <a:ext cx="643890" cy="430212"/>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4421188"/>
            <a:ext cx="643890" cy="430212"/>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4421188"/>
            <a:ext cx="643890" cy="430212"/>
          </a:xfrm>
          <a:prstGeom prst="rect">
            <a:avLst/>
          </a:prstGeom>
          <a:solidFill>
            <a:srgbClr val="B3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4421188"/>
            <a:ext cx="643890" cy="430212"/>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4421188"/>
            <a:ext cx="643890" cy="430212"/>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4421188"/>
            <a:ext cx="643890" cy="430212"/>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4421188"/>
            <a:ext cx="643890" cy="430212"/>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4421188"/>
            <a:ext cx="643890" cy="430212"/>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4421188"/>
            <a:ext cx="643890" cy="430212"/>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4421188"/>
            <a:ext cx="643890" cy="430212"/>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4421188"/>
            <a:ext cx="643890" cy="430212"/>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4421188"/>
            <a:ext cx="643890" cy="430212"/>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4421188"/>
            <a:ext cx="643890" cy="430212"/>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4421188"/>
            <a:ext cx="643890" cy="430212"/>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8514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Other Thermoplastic Resins</a:t>
            </a:r>
          </a:p>
        </p:txBody>
      </p:sp>
      <p:sp>
        <p:nvSpPr>
          <p:cNvPr id="156" name="Rectangle 155"/>
          <p:cNvSpPr/>
          <p:nvPr/>
        </p:nvSpPr>
        <p:spPr>
          <a:xfrm>
            <a:off x="1857375" y="4851400"/>
            <a:ext cx="643890" cy="430212"/>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4851400"/>
            <a:ext cx="643890" cy="430212"/>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4851400"/>
            <a:ext cx="643890" cy="430212"/>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4851400"/>
            <a:ext cx="643890" cy="430212"/>
          </a:xfrm>
          <a:prstGeom prst="rect">
            <a:avLst/>
          </a:prstGeom>
          <a:solidFill>
            <a:srgbClr val="1577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4851400"/>
            <a:ext cx="643890" cy="430212"/>
          </a:xfrm>
          <a:prstGeom prst="rect">
            <a:avLst/>
          </a:prstGeom>
          <a:solidFill>
            <a:srgbClr val="0E6FA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4851400"/>
            <a:ext cx="643890" cy="430212"/>
          </a:xfrm>
          <a:prstGeom prst="rect">
            <a:avLst/>
          </a:prstGeom>
          <a:solidFill>
            <a:srgbClr val="0E6F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4851400"/>
            <a:ext cx="643890" cy="430212"/>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4851400"/>
            <a:ext cx="643890" cy="430212"/>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4851400"/>
            <a:ext cx="643890" cy="430212"/>
          </a:xfrm>
          <a:prstGeom prst="rect">
            <a:avLst/>
          </a:prstGeom>
          <a:solidFill>
            <a:srgbClr val="0F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4851400"/>
            <a:ext cx="643890" cy="430212"/>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4851400"/>
            <a:ext cx="643890" cy="430212"/>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4851400"/>
            <a:ext cx="643890" cy="430212"/>
          </a:xfrm>
          <a:prstGeom prst="rect">
            <a:avLst/>
          </a:prstGeom>
          <a:solidFill>
            <a:srgbClr val="12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4851400"/>
            <a:ext cx="643890" cy="430212"/>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4851400"/>
            <a:ext cx="643890" cy="430212"/>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4851400"/>
            <a:ext cx="643890" cy="430212"/>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52816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High-performance Polymers</a:t>
            </a:r>
          </a:p>
        </p:txBody>
      </p:sp>
      <p:sp>
        <p:nvSpPr>
          <p:cNvPr id="172" name="Rectangle 171"/>
          <p:cNvSpPr/>
          <p:nvPr/>
        </p:nvSpPr>
        <p:spPr>
          <a:xfrm>
            <a:off x="1857375" y="5281612"/>
            <a:ext cx="643890" cy="430212"/>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5281612"/>
            <a:ext cx="643890" cy="430212"/>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5281612"/>
            <a:ext cx="643890" cy="430212"/>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5281612"/>
            <a:ext cx="643890" cy="430212"/>
          </a:xfrm>
          <a:prstGeom prst="rect">
            <a:avLst/>
          </a:prstGeom>
          <a:solidFill>
            <a:srgbClr val="69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5281612"/>
            <a:ext cx="643890" cy="430212"/>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5281612"/>
            <a:ext cx="643890" cy="430212"/>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5281612"/>
            <a:ext cx="643890" cy="430212"/>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5281612"/>
            <a:ext cx="643890" cy="430212"/>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5281612"/>
            <a:ext cx="643890" cy="430212"/>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5281612"/>
            <a:ext cx="643890" cy="430212"/>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5281612"/>
            <a:ext cx="643890" cy="430212"/>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5281612"/>
            <a:ext cx="643890" cy="430212"/>
          </a:xfrm>
          <a:prstGeom prst="rect">
            <a:avLst/>
          </a:prstGeom>
          <a:solidFill>
            <a:srgbClr val="5D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5281612"/>
            <a:ext cx="643890" cy="430212"/>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5281612"/>
            <a:ext cx="643890" cy="430212"/>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5281612"/>
            <a:ext cx="643890" cy="430212"/>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57118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PEEK-based Materials</a:t>
            </a:r>
          </a:p>
        </p:txBody>
      </p:sp>
      <p:sp>
        <p:nvSpPr>
          <p:cNvPr id="188" name="Rectangle 187"/>
          <p:cNvSpPr/>
          <p:nvPr/>
        </p:nvSpPr>
        <p:spPr>
          <a:xfrm>
            <a:off x="1857375" y="5711825"/>
            <a:ext cx="643890" cy="430212"/>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5711825"/>
            <a:ext cx="643890" cy="430212"/>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5711825"/>
            <a:ext cx="643890" cy="430212"/>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5711825"/>
            <a:ext cx="643890" cy="430212"/>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5711825"/>
            <a:ext cx="643890" cy="430212"/>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5711825"/>
            <a:ext cx="643890" cy="430212"/>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5711825"/>
            <a:ext cx="643890" cy="430212"/>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5711825"/>
            <a:ext cx="643890" cy="43021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5711825"/>
            <a:ext cx="643890" cy="430212"/>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5711825"/>
            <a:ext cx="643890" cy="430212"/>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5711825"/>
            <a:ext cx="643890" cy="430212"/>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5711825"/>
            <a:ext cx="643890" cy="430212"/>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5711825"/>
            <a:ext cx="643890" cy="430212"/>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5711825"/>
            <a:ext cx="643890" cy="430212"/>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5711825"/>
            <a:ext cx="643890" cy="430212"/>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6142037"/>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Other High-performance Dental Polymers</a:t>
            </a:r>
          </a:p>
        </p:txBody>
      </p:sp>
      <p:sp>
        <p:nvSpPr>
          <p:cNvPr id="204" name="Rectangle 203"/>
          <p:cNvSpPr/>
          <p:nvPr/>
        </p:nvSpPr>
        <p:spPr>
          <a:xfrm>
            <a:off x="1857375" y="6142037"/>
            <a:ext cx="643890" cy="430212"/>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6142037"/>
            <a:ext cx="643890" cy="430212"/>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6142037"/>
            <a:ext cx="643890" cy="430212"/>
          </a:xfrm>
          <a:prstGeom prst="rect">
            <a:avLst/>
          </a:prstGeom>
          <a:solidFill>
            <a:srgbClr val="3F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6142037"/>
            <a:ext cx="643890" cy="430212"/>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6142037"/>
            <a:ext cx="643890" cy="430212"/>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6142037"/>
            <a:ext cx="643890" cy="430212"/>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6142037"/>
            <a:ext cx="643890" cy="430212"/>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6142037"/>
            <a:ext cx="643890" cy="430212"/>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6142037"/>
            <a:ext cx="643890" cy="430212"/>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6142037"/>
            <a:ext cx="643890" cy="430212"/>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6142037"/>
            <a:ext cx="643890" cy="430212"/>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6142037"/>
            <a:ext cx="643890" cy="430212"/>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6142037"/>
            <a:ext cx="643890" cy="430212"/>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Rectangle 218"/>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Rectangle 219"/>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Rectangle 234"/>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Rectangle 235"/>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TextBox 259"/>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261" name="TextBox 260"/>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262" name="TextBox 261"/>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263" name="TextBox 2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4" name="Picture 263" descr="lock.png"/>
          <p:cNvPicPr>
            <a:picLocks noChangeAspect="1"/>
          </p:cNvPicPr>
          <p:nvPr/>
        </p:nvPicPr>
        <p:blipFill>
          <a:blip r:embed="rId4"/>
          <a:stretch>
            <a:fillRect/>
          </a:stretch>
        </p:blipFill>
        <p:spPr>
          <a:xfrm>
            <a:off x="11760938" y="1354201"/>
            <a:ext cx="128699" cy="187198"/>
          </a:xfrm>
          <a:prstGeom prst="rect">
            <a:avLst/>
          </a:prstGeom>
        </p:spPr>
      </p:pic>
      <p:pic>
        <p:nvPicPr>
          <p:cNvPr id="265" name="Picture 264" descr="lock.png"/>
          <p:cNvPicPr>
            <a:picLocks noChangeAspect="1"/>
          </p:cNvPicPr>
          <p:nvPr/>
        </p:nvPicPr>
        <p:blipFill>
          <a:blip r:embed="rId4"/>
          <a:stretch>
            <a:fillRect/>
          </a:stretch>
        </p:blipFill>
        <p:spPr>
          <a:xfrm>
            <a:off x="11760938" y="3897376"/>
            <a:ext cx="128699" cy="187198"/>
          </a:xfrm>
          <a:prstGeom prst="rect">
            <a:avLst/>
          </a:prstGeom>
        </p:spPr>
      </p:pic>
      <p:pic>
        <p:nvPicPr>
          <p:cNvPr id="266" name="Picture 265"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1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Material Type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Material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3667125"/>
          </a:xfrm>
          <a:prstGeom prst="roundRect">
            <a:avLst>
              <a:gd name="adj" fmla="val 20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Material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3" cy="3200406"/>
        </p:xfrm>
        <a:graphic>
          <a:graphicData uri="http://schemas.openxmlformats.org/drawingml/2006/table">
            <a:tbl>
              <a:tblPr>
                <a:tableStyleId>{5C22544A-7EE6-4342-B048-85BDC9FD1C3A}</a:tableStyleId>
              </a:tblPr>
              <a:tblGrid>
                <a:gridCol w="2878883"/>
                <a:gridCol w="600554"/>
                <a:gridCol w="600554"/>
                <a:gridCol w="600554"/>
                <a:gridCol w="600554"/>
                <a:gridCol w="600554"/>
                <a:gridCol w="600554"/>
                <a:gridCol w="600554"/>
                <a:gridCol w="600554"/>
                <a:gridCol w="600554"/>
                <a:gridCol w="600554"/>
                <a:gridCol w="600554"/>
                <a:gridCol w="600554"/>
                <a:gridCol w="600554"/>
                <a:gridCol w="600554"/>
                <a:gridCol w="600554"/>
              </a:tblGrid>
              <a:tr h="246126">
                <a:tc>
                  <a:txBody>
                    <a:bodyPr wrap="none"/>
                    <a:lstStyle/>
                    <a:p>
                      <a:pPr algn="l"/>
                      <a:r>
                        <a:rPr sz="1100" b="1">
                          <a:solidFill>
                            <a:srgbClr val="0B2E4A"/>
                          </a:solidFill>
                          <a:latin typeface="Calibri"/>
                        </a:rPr>
                        <a:t>Material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190">
                <a:tc>
                  <a:txBody>
                    <a:bodyPr wrap="none"/>
                    <a:lstStyle/>
                    <a:p>
                      <a:pPr algn="l"/>
                      <a:r>
                        <a:rPr sz="1100" b="1">
                          <a:solidFill>
                            <a:srgbClr val="2E2E2E"/>
                          </a:solidFill>
                          <a:latin typeface="Calibri"/>
                        </a:rPr>
                        <a:t>Metal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Cobalt-Chromium Alloys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Titanium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Acrylic / Resin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PMMA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Printable Denture Resins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Flexible Thermoplastics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Polyamide / Nylon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Other Thermoplastic Resins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High-performance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PEEK-based Materials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Other High-performance Dental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448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7348748" y="2694815"/>
            <a:ext cx="366712" cy="533400"/>
          </a:xfrm>
          <a:prstGeom prst="rect">
            <a:avLst/>
          </a:prstGeom>
        </p:spPr>
      </p:pic>
    </p:spTree>
  </p:cSld>
  <p:clrMapOvr>
    <a:masterClrMapping/>
  </p:clrMapOvr>
</p:sld>
</file>

<file path=ppt/slides/slide1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Material Type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Material Type,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Material Type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Metal Alloys</a:t>
            </a:r>
          </a:p>
        </p:txBody>
      </p:sp>
      <p:sp>
        <p:nvSpPr>
          <p:cNvPr id="28" name="Rectangle 27"/>
          <p:cNvSpPr/>
          <p:nvPr/>
        </p:nvSpPr>
        <p:spPr>
          <a:xfrm>
            <a:off x="1857375" y="1409700"/>
            <a:ext cx="643890" cy="430212"/>
          </a:xfrm>
          <a:prstGeom prst="rect">
            <a:avLst/>
          </a:prstGeom>
          <a:solidFill>
            <a:srgbClr val="A9C9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430212"/>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430212"/>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430212"/>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430212"/>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430212"/>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430212"/>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430212"/>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430212"/>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430212"/>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430212"/>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430212"/>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430212"/>
          </a:xfrm>
          <a:prstGeom prst="rect">
            <a:avLst/>
          </a:prstGeom>
          <a:solidFill>
            <a:srgbClr val="7F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430212"/>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430212"/>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8399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Cobalt-Chromium Alloys</a:t>
            </a:r>
          </a:p>
        </p:txBody>
      </p:sp>
      <p:sp>
        <p:nvSpPr>
          <p:cNvPr id="44" name="Rectangle 43"/>
          <p:cNvSpPr/>
          <p:nvPr/>
        </p:nvSpPr>
        <p:spPr>
          <a:xfrm>
            <a:off x="1857375" y="1839912"/>
            <a:ext cx="643890" cy="430212"/>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839912"/>
            <a:ext cx="643890" cy="430212"/>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839912"/>
            <a:ext cx="643890" cy="430212"/>
          </a:xfrm>
          <a:prstGeom prst="rect">
            <a:avLst/>
          </a:prstGeom>
          <a:solidFill>
            <a:srgbClr val="0E70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839912"/>
            <a:ext cx="643890" cy="430212"/>
          </a:xfrm>
          <a:prstGeom prst="rect">
            <a:avLst/>
          </a:prstGeom>
          <a:solidFill>
            <a:srgbClr val="0D629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839912"/>
            <a:ext cx="643890" cy="430212"/>
          </a:xfrm>
          <a:prstGeom prst="rect">
            <a:avLst/>
          </a:prstGeom>
          <a:solidFill>
            <a:srgbClr val="0D52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839912"/>
            <a:ext cx="643890" cy="430212"/>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839912"/>
            <a:ext cx="643890" cy="430212"/>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839912"/>
            <a:ext cx="643890" cy="430212"/>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839912"/>
            <a:ext cx="643890" cy="430212"/>
          </a:xfrm>
          <a:prstGeom prst="rect">
            <a:avLst/>
          </a:prstGeom>
          <a:solidFill>
            <a:srgbClr val="0D5B8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839912"/>
            <a:ext cx="643890" cy="430212"/>
          </a:xfrm>
          <a:prstGeom prst="rect">
            <a:avLst/>
          </a:prstGeom>
          <a:solidFill>
            <a:srgbClr val="0D5D8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839912"/>
            <a:ext cx="643890" cy="430212"/>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839912"/>
            <a:ext cx="643890" cy="430212"/>
          </a:xfrm>
          <a:prstGeom prst="rect">
            <a:avLst/>
          </a:prstGeom>
          <a:solidFill>
            <a:srgbClr val="0D619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839912"/>
            <a:ext cx="643890" cy="430212"/>
          </a:xfrm>
          <a:prstGeom prst="rect">
            <a:avLst/>
          </a:prstGeom>
          <a:solidFill>
            <a:srgbClr val="0D639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839912"/>
            <a:ext cx="643890" cy="430212"/>
          </a:xfrm>
          <a:prstGeom prst="rect">
            <a:avLst/>
          </a:prstGeom>
          <a:solidFill>
            <a:srgbClr val="0D659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839912"/>
            <a:ext cx="643890" cy="430212"/>
          </a:xfrm>
          <a:prstGeom prst="rect">
            <a:avLst/>
          </a:prstGeom>
          <a:solidFill>
            <a:srgbClr val="0E679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2701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Titanium Alloys</a:t>
            </a:r>
          </a:p>
        </p:txBody>
      </p:sp>
      <p:sp>
        <p:nvSpPr>
          <p:cNvPr id="60" name="Rectangle 59"/>
          <p:cNvSpPr/>
          <p:nvPr/>
        </p:nvSpPr>
        <p:spPr>
          <a:xfrm>
            <a:off x="1857375" y="2270125"/>
            <a:ext cx="643890" cy="430212"/>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2270125"/>
            <a:ext cx="643890" cy="430212"/>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2270125"/>
            <a:ext cx="643890" cy="430212"/>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2270125"/>
            <a:ext cx="643890" cy="430212"/>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2270125"/>
            <a:ext cx="643890" cy="430212"/>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2270125"/>
            <a:ext cx="643890" cy="430212"/>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2270125"/>
            <a:ext cx="643890" cy="430212"/>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2270125"/>
            <a:ext cx="643890" cy="430212"/>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2270125"/>
            <a:ext cx="643890" cy="430212"/>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2270125"/>
            <a:ext cx="643890" cy="430212"/>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2270125"/>
            <a:ext cx="643890" cy="430212"/>
          </a:xfrm>
          <a:prstGeom prst="rect">
            <a:avLst/>
          </a:prstGeom>
          <a:solidFill>
            <a:srgbClr val="D6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2270125"/>
            <a:ext cx="643890" cy="430212"/>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2270125"/>
            <a:ext cx="643890" cy="430212"/>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2270125"/>
            <a:ext cx="643890" cy="430212"/>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2270125"/>
            <a:ext cx="643890" cy="430212"/>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70033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Acrylic / Resin</a:t>
            </a:r>
          </a:p>
        </p:txBody>
      </p:sp>
      <p:sp>
        <p:nvSpPr>
          <p:cNvPr id="76" name="Rectangle 75"/>
          <p:cNvSpPr/>
          <p:nvPr/>
        </p:nvSpPr>
        <p:spPr>
          <a:xfrm>
            <a:off x="1857375" y="2700338"/>
            <a:ext cx="643890" cy="430212"/>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700338"/>
            <a:ext cx="643890" cy="430212"/>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700338"/>
            <a:ext cx="643890" cy="430212"/>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700338"/>
            <a:ext cx="643890" cy="430212"/>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700338"/>
            <a:ext cx="643890" cy="430212"/>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700338"/>
            <a:ext cx="643890" cy="430212"/>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700338"/>
            <a:ext cx="643890" cy="430212"/>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700338"/>
            <a:ext cx="643890" cy="430212"/>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700338"/>
            <a:ext cx="643890" cy="430212"/>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700338"/>
            <a:ext cx="643890" cy="430212"/>
          </a:xfrm>
          <a:prstGeom prst="rect">
            <a:avLst/>
          </a:prstGeom>
          <a:solidFill>
            <a:srgbClr val="5D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700338"/>
            <a:ext cx="643890" cy="430212"/>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700338"/>
            <a:ext cx="643890" cy="430212"/>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700338"/>
            <a:ext cx="643890" cy="430212"/>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700338"/>
            <a:ext cx="643890" cy="430212"/>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700338"/>
            <a:ext cx="643890" cy="430212"/>
          </a:xfrm>
          <a:prstGeom prst="rect">
            <a:avLst/>
          </a:prstGeom>
          <a:solidFill>
            <a:srgbClr val="61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313055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PMMA</a:t>
            </a:r>
          </a:p>
        </p:txBody>
      </p:sp>
      <p:sp>
        <p:nvSpPr>
          <p:cNvPr id="92" name="Rectangle 91"/>
          <p:cNvSpPr/>
          <p:nvPr/>
        </p:nvSpPr>
        <p:spPr>
          <a:xfrm>
            <a:off x="1857375" y="3130550"/>
            <a:ext cx="643890" cy="430212"/>
          </a:xfrm>
          <a:prstGeom prst="rect">
            <a:avLst/>
          </a:prstGeom>
          <a:solidFill>
            <a:srgbClr val="0D659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3130550"/>
            <a:ext cx="643890" cy="430212"/>
          </a:xfrm>
          <a:prstGeom prst="rect">
            <a:avLst/>
          </a:prstGeom>
          <a:solidFill>
            <a:srgbClr val="0D578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3130550"/>
            <a:ext cx="643890" cy="430212"/>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3130550"/>
            <a:ext cx="643890" cy="430212"/>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3130550"/>
            <a:ext cx="643890" cy="43021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3130550"/>
            <a:ext cx="643890" cy="430212"/>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3130550"/>
            <a:ext cx="643890" cy="430212"/>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3130550"/>
            <a:ext cx="643890" cy="430212"/>
          </a:xfrm>
          <a:prstGeom prst="rect">
            <a:avLst/>
          </a:prstGeom>
          <a:solidFill>
            <a:srgbClr val="0B37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3130550"/>
            <a:ext cx="643890" cy="430212"/>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3130550"/>
            <a:ext cx="643890" cy="430212"/>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3130550"/>
            <a:ext cx="643890" cy="430212"/>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3130550"/>
            <a:ext cx="643890" cy="430212"/>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3130550"/>
            <a:ext cx="643890" cy="430212"/>
          </a:xfrm>
          <a:prstGeom prst="rect">
            <a:avLst/>
          </a:prstGeom>
          <a:solidFill>
            <a:srgbClr val="0C47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3130550"/>
            <a:ext cx="643890" cy="430212"/>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3130550"/>
            <a:ext cx="643890" cy="430212"/>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56076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Printable Denture Resins</a:t>
            </a:r>
          </a:p>
        </p:txBody>
      </p:sp>
      <p:sp>
        <p:nvSpPr>
          <p:cNvPr id="108" name="Rectangle 107"/>
          <p:cNvSpPr/>
          <p:nvPr/>
        </p:nvSpPr>
        <p:spPr>
          <a:xfrm>
            <a:off x="1857375" y="3560762"/>
            <a:ext cx="643890" cy="430212"/>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3560762"/>
            <a:ext cx="643890" cy="430212"/>
          </a:xfrm>
          <a:prstGeom prst="rect">
            <a:avLst/>
          </a:prstGeom>
          <a:solidFill>
            <a:srgbClr val="ED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3560762"/>
            <a:ext cx="643890" cy="430212"/>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3560762"/>
            <a:ext cx="643890" cy="430212"/>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3560762"/>
            <a:ext cx="643890" cy="430212"/>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3560762"/>
            <a:ext cx="643890" cy="430212"/>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3560762"/>
            <a:ext cx="643890" cy="430212"/>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3560762"/>
            <a:ext cx="643890" cy="430212"/>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3560762"/>
            <a:ext cx="643890" cy="430212"/>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3560762"/>
            <a:ext cx="643890" cy="430212"/>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3560762"/>
            <a:ext cx="643890" cy="430212"/>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3560762"/>
            <a:ext cx="643890" cy="430212"/>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3560762"/>
            <a:ext cx="643890" cy="430212"/>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3560762"/>
            <a:ext cx="643890" cy="430212"/>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3560762"/>
            <a:ext cx="643890" cy="43021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99097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Flexible Thermoplastics</a:t>
            </a:r>
          </a:p>
        </p:txBody>
      </p:sp>
      <p:sp>
        <p:nvSpPr>
          <p:cNvPr id="124" name="Rectangle 123"/>
          <p:cNvSpPr/>
          <p:nvPr/>
        </p:nvSpPr>
        <p:spPr>
          <a:xfrm>
            <a:off x="1857375" y="3990975"/>
            <a:ext cx="643890" cy="430212"/>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3990975"/>
            <a:ext cx="643890" cy="430212"/>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3990975"/>
            <a:ext cx="643890" cy="430212"/>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3990975"/>
            <a:ext cx="643890" cy="430212"/>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3990975"/>
            <a:ext cx="643890" cy="430212"/>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3990975"/>
            <a:ext cx="643890" cy="430212"/>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3990975"/>
            <a:ext cx="643890" cy="430212"/>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3990975"/>
            <a:ext cx="643890" cy="430212"/>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3990975"/>
            <a:ext cx="643890" cy="430212"/>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3990975"/>
            <a:ext cx="643890" cy="430212"/>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3990975"/>
            <a:ext cx="643890" cy="430212"/>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3990975"/>
            <a:ext cx="643890" cy="430212"/>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3990975"/>
            <a:ext cx="643890" cy="430212"/>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3990975"/>
            <a:ext cx="643890" cy="430212"/>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3990975"/>
            <a:ext cx="643890" cy="430212"/>
          </a:xfrm>
          <a:prstGeom prst="rect">
            <a:avLst/>
          </a:prstGeom>
          <a:solidFill>
            <a:srgbClr val="8E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442118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Polyamide / Nylon</a:t>
            </a:r>
          </a:p>
        </p:txBody>
      </p:sp>
      <p:sp>
        <p:nvSpPr>
          <p:cNvPr id="140" name="Rectangle 139"/>
          <p:cNvSpPr/>
          <p:nvPr/>
        </p:nvSpPr>
        <p:spPr>
          <a:xfrm>
            <a:off x="1857375" y="4421188"/>
            <a:ext cx="643890" cy="430212"/>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4421188"/>
            <a:ext cx="643890" cy="430212"/>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4421188"/>
            <a:ext cx="643890" cy="430212"/>
          </a:xfrm>
          <a:prstGeom prst="rect">
            <a:avLst/>
          </a:prstGeom>
          <a:solidFill>
            <a:srgbClr val="BC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4421188"/>
            <a:ext cx="643890" cy="430212"/>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4421188"/>
            <a:ext cx="643890" cy="430212"/>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4421188"/>
            <a:ext cx="643890" cy="430212"/>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4421188"/>
            <a:ext cx="643890" cy="430212"/>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4421188"/>
            <a:ext cx="643890" cy="430212"/>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4421188"/>
            <a:ext cx="643890" cy="430212"/>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4421188"/>
            <a:ext cx="643890" cy="430212"/>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4421188"/>
            <a:ext cx="643890" cy="430212"/>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4421188"/>
            <a:ext cx="643890" cy="430212"/>
          </a:xfrm>
          <a:prstGeom prst="rect">
            <a:avLst/>
          </a:prstGeom>
          <a:solidFill>
            <a:srgbClr val="B3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4421188"/>
            <a:ext cx="643890" cy="430212"/>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4421188"/>
            <a:ext cx="643890" cy="430212"/>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4421188"/>
            <a:ext cx="643890" cy="430212"/>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8514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Other Thermoplastic Resins</a:t>
            </a:r>
          </a:p>
        </p:txBody>
      </p:sp>
      <p:sp>
        <p:nvSpPr>
          <p:cNvPr id="156" name="Rectangle 155"/>
          <p:cNvSpPr/>
          <p:nvPr/>
        </p:nvSpPr>
        <p:spPr>
          <a:xfrm>
            <a:off x="1857375" y="4851400"/>
            <a:ext cx="643890" cy="430212"/>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4851400"/>
            <a:ext cx="643890" cy="430212"/>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4851400"/>
            <a:ext cx="643890" cy="430212"/>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4851400"/>
            <a:ext cx="643890" cy="430212"/>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4851400"/>
            <a:ext cx="643890" cy="430212"/>
          </a:xfrm>
          <a:prstGeom prst="rect">
            <a:avLst/>
          </a:prstGeom>
          <a:solidFill>
            <a:srgbClr val="0E6F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4851400"/>
            <a:ext cx="643890" cy="430212"/>
          </a:xfrm>
          <a:prstGeom prst="rect">
            <a:avLst/>
          </a:prstGeom>
          <a:solidFill>
            <a:srgbClr val="0E6F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4851400"/>
            <a:ext cx="643890" cy="430212"/>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4851400"/>
            <a:ext cx="643890" cy="430212"/>
          </a:xfrm>
          <a:prstGeom prst="rect">
            <a:avLst/>
          </a:prstGeom>
          <a:solidFill>
            <a:srgbClr val="0F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4851400"/>
            <a:ext cx="643890" cy="430212"/>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4851400"/>
            <a:ext cx="643890" cy="430212"/>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4851400"/>
            <a:ext cx="643890" cy="430212"/>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4851400"/>
            <a:ext cx="643890" cy="430212"/>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4851400"/>
            <a:ext cx="643890" cy="430212"/>
          </a:xfrm>
          <a:prstGeom prst="rect">
            <a:avLst/>
          </a:prstGeom>
          <a:solidFill>
            <a:srgbClr val="1475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4851400"/>
            <a:ext cx="643890" cy="430212"/>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4851400"/>
            <a:ext cx="643890" cy="430212"/>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52816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High-performance Polymers</a:t>
            </a:r>
          </a:p>
        </p:txBody>
      </p:sp>
      <p:sp>
        <p:nvSpPr>
          <p:cNvPr id="172" name="Rectangle 171"/>
          <p:cNvSpPr/>
          <p:nvPr/>
        </p:nvSpPr>
        <p:spPr>
          <a:xfrm>
            <a:off x="1857375" y="5281612"/>
            <a:ext cx="643890" cy="430212"/>
          </a:xfrm>
          <a:prstGeom prst="rect">
            <a:avLst/>
          </a:prstGeom>
          <a:solidFill>
            <a:srgbClr val="8C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5281612"/>
            <a:ext cx="643890" cy="430212"/>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5281612"/>
            <a:ext cx="643890" cy="430212"/>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5281612"/>
            <a:ext cx="643890" cy="430212"/>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5281612"/>
            <a:ext cx="643890" cy="430212"/>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5281612"/>
            <a:ext cx="643890" cy="430212"/>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5281612"/>
            <a:ext cx="643890" cy="430212"/>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5281612"/>
            <a:ext cx="643890" cy="430212"/>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5281612"/>
            <a:ext cx="643890" cy="430212"/>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5281612"/>
            <a:ext cx="643890" cy="430212"/>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5281612"/>
            <a:ext cx="643890" cy="430212"/>
          </a:xfrm>
          <a:prstGeom prst="rect">
            <a:avLst/>
          </a:prstGeom>
          <a:solidFill>
            <a:srgbClr val="53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5281612"/>
            <a:ext cx="643890" cy="430212"/>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5281612"/>
            <a:ext cx="643890" cy="430212"/>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5281612"/>
            <a:ext cx="643890" cy="430212"/>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5281612"/>
            <a:ext cx="643890" cy="430212"/>
          </a:xfrm>
          <a:prstGeom prst="rect">
            <a:avLst/>
          </a:prstGeom>
          <a:solidFill>
            <a:srgbClr val="56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57118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PEEK-based Materials</a:t>
            </a:r>
          </a:p>
        </p:txBody>
      </p:sp>
      <p:sp>
        <p:nvSpPr>
          <p:cNvPr id="188" name="Rectangle 187"/>
          <p:cNvSpPr/>
          <p:nvPr/>
        </p:nvSpPr>
        <p:spPr>
          <a:xfrm>
            <a:off x="1857375" y="5711825"/>
            <a:ext cx="643890" cy="430212"/>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5711825"/>
            <a:ext cx="643890" cy="430212"/>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5711825"/>
            <a:ext cx="643890" cy="430212"/>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5711825"/>
            <a:ext cx="643890" cy="430212"/>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5711825"/>
            <a:ext cx="643890" cy="430212"/>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5711825"/>
            <a:ext cx="643890" cy="430212"/>
          </a:xfrm>
          <a:prstGeom prst="rect">
            <a:avLst/>
          </a:prstGeom>
          <a:solidFill>
            <a:srgbClr val="99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5711825"/>
            <a:ext cx="643890" cy="430212"/>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5711825"/>
            <a:ext cx="643890" cy="43021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5711825"/>
            <a:ext cx="643890" cy="43021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5711825"/>
            <a:ext cx="643890" cy="430212"/>
          </a:xfrm>
          <a:prstGeom prst="rect">
            <a:avLst/>
          </a:prstGeom>
          <a:solidFill>
            <a:srgbClr val="9CC3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5711825"/>
            <a:ext cx="643890" cy="430212"/>
          </a:xfrm>
          <a:prstGeom prst="rect">
            <a:avLst/>
          </a:prstGeom>
          <a:solidFill>
            <a:srgbClr val="9E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5711825"/>
            <a:ext cx="643890" cy="430212"/>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5711825"/>
            <a:ext cx="643890" cy="430212"/>
          </a:xfrm>
          <a:prstGeom prst="rect">
            <a:avLst/>
          </a:prstGeom>
          <a:solidFill>
            <a:srgbClr val="A0C4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5711825"/>
            <a:ext cx="643890" cy="430212"/>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5711825"/>
            <a:ext cx="643890" cy="430212"/>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6142037"/>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Other High-performance Dental Polymers</a:t>
            </a:r>
          </a:p>
        </p:txBody>
      </p:sp>
      <p:sp>
        <p:nvSpPr>
          <p:cNvPr id="204" name="Rectangle 203"/>
          <p:cNvSpPr/>
          <p:nvPr/>
        </p:nvSpPr>
        <p:spPr>
          <a:xfrm>
            <a:off x="1857375" y="6142037"/>
            <a:ext cx="643890" cy="430212"/>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6142037"/>
            <a:ext cx="643890" cy="430212"/>
          </a:xfrm>
          <a:prstGeom prst="rect">
            <a:avLst/>
          </a:prstGeom>
          <a:solidFill>
            <a:srgbClr val="4E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6142037"/>
            <a:ext cx="643890" cy="430212"/>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6142037"/>
            <a:ext cx="643890" cy="430212"/>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6142037"/>
            <a:ext cx="643890" cy="43021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6142037"/>
            <a:ext cx="643890" cy="430212"/>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6142037"/>
            <a:ext cx="643890" cy="430212"/>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6142037"/>
            <a:ext cx="643890" cy="430212"/>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6142037"/>
            <a:ext cx="643890" cy="430212"/>
          </a:xfrm>
          <a:prstGeom prst="rect">
            <a:avLst/>
          </a:prstGeom>
          <a:solidFill>
            <a:srgbClr val="2D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6142037"/>
            <a:ext cx="643890" cy="430212"/>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6142037"/>
            <a:ext cx="643890" cy="430212"/>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6142037"/>
            <a:ext cx="643890" cy="430212"/>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6142037"/>
            <a:ext cx="643890" cy="430212"/>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6142037"/>
            <a:ext cx="643890" cy="430212"/>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Rectangle 218"/>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Rectangle 219"/>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Rectangle 234"/>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Rectangle 235"/>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TextBox 259"/>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261" name="TextBox 260"/>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262" name="TextBox 261"/>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0%</a:t>
            </a:r>
          </a:p>
        </p:txBody>
      </p:sp>
      <p:sp>
        <p:nvSpPr>
          <p:cNvPr id="263" name="TextBox 2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Technology</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Technology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Technology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2 sub-segments of Technology,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Technology segment categorizes the market by technology.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Digital Fabrication</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Conventional Fabrication</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Technology split shows how demand is distributed across technology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0" name="Picture 49" descr="239_2_605E5C.png"/>
          <p:cNvPicPr>
            <a:picLocks noChangeAspect="1"/>
          </p:cNvPicPr>
          <p:nvPr/>
        </p:nvPicPr>
        <p:blipFill>
          <a:blip r:embed="rId4"/>
          <a:stretch>
            <a:fillRect/>
          </a:stretch>
        </p:blipFill>
        <p:spPr>
          <a:xfrm>
            <a:off x="3740773" y="2286582"/>
            <a:ext cx="1195728" cy="361950"/>
          </a:xfrm>
          <a:prstGeom prst="rect">
            <a:avLst/>
          </a:prstGeom>
        </p:spPr>
      </p:pic>
      <p:pic>
        <p:nvPicPr>
          <p:cNvPr id="51" name="Picture 50" descr="310_9_605E5C.png"/>
          <p:cNvPicPr>
            <a:picLocks noChangeAspect="1"/>
          </p:cNvPicPr>
          <p:nvPr/>
        </p:nvPicPr>
        <p:blipFill>
          <a:blip r:embed="rId5"/>
          <a:stretch>
            <a:fillRect/>
          </a:stretch>
        </p:blipFill>
        <p:spPr>
          <a:xfrm>
            <a:off x="3740773" y="2779432"/>
            <a:ext cx="1195728" cy="361950"/>
          </a:xfrm>
          <a:prstGeom prst="rect">
            <a:avLst/>
          </a:prstGeom>
        </p:spPr>
      </p:pic>
      <p:pic>
        <p:nvPicPr>
          <p:cNvPr id="52" name="Picture 51" descr="2_7__605E5C.png"/>
          <p:cNvPicPr>
            <a:picLocks noChangeAspect="1"/>
          </p:cNvPicPr>
          <p:nvPr/>
        </p:nvPicPr>
        <p:blipFill>
          <a:blip r:embed="rId6"/>
          <a:stretch>
            <a:fillRect/>
          </a:stretch>
        </p:blipFill>
        <p:spPr>
          <a:xfrm>
            <a:off x="3847419" y="3272281"/>
            <a:ext cx="982436" cy="361950"/>
          </a:xfrm>
          <a:prstGeom prst="rect">
            <a:avLst/>
          </a:prstGeom>
        </p:spPr>
      </p:pic>
      <p:pic>
        <p:nvPicPr>
          <p:cNvPr id="53" name="Picture 52" descr="132_1_605E5C.png"/>
          <p:cNvPicPr>
            <a:picLocks noChangeAspect="1"/>
          </p:cNvPicPr>
          <p:nvPr/>
        </p:nvPicPr>
        <p:blipFill>
          <a:blip r:embed="rId7"/>
          <a:stretch>
            <a:fillRect/>
          </a:stretch>
        </p:blipFill>
        <p:spPr>
          <a:xfrm>
            <a:off x="8798548" y="2286582"/>
            <a:ext cx="1195728" cy="361950"/>
          </a:xfrm>
          <a:prstGeom prst="rect">
            <a:avLst/>
          </a:prstGeom>
        </p:spPr>
      </p:pic>
      <p:pic>
        <p:nvPicPr>
          <p:cNvPr id="54" name="Picture 53" descr="213_0_605E5C.png"/>
          <p:cNvPicPr>
            <a:picLocks noChangeAspect="1"/>
          </p:cNvPicPr>
          <p:nvPr/>
        </p:nvPicPr>
        <p:blipFill>
          <a:blip r:embed="rId8"/>
          <a:stretch>
            <a:fillRect/>
          </a:stretch>
        </p:blipFill>
        <p:spPr>
          <a:xfrm>
            <a:off x="8798548" y="2779432"/>
            <a:ext cx="1195728" cy="361950"/>
          </a:xfrm>
          <a:prstGeom prst="rect">
            <a:avLst/>
          </a:prstGeom>
        </p:spPr>
      </p:pic>
      <p:pic>
        <p:nvPicPr>
          <p:cNvPr id="55" name="Picture 54" descr="4_9__605E5C.png"/>
          <p:cNvPicPr>
            <a:picLocks noChangeAspect="1"/>
          </p:cNvPicPr>
          <p:nvPr/>
        </p:nvPicPr>
        <p:blipFill>
          <a:blip r:embed="rId9"/>
          <a:stretch>
            <a:fillRect/>
          </a:stretch>
        </p:blipFill>
        <p:spPr>
          <a:xfrm>
            <a:off x="8905194" y="3272281"/>
            <a:ext cx="982436" cy="361950"/>
          </a:xfrm>
          <a:prstGeom prst="rect">
            <a:avLst/>
          </a:prstGeom>
        </p:spPr>
      </p:pic>
      <p:pic>
        <p:nvPicPr>
          <p:cNvPr id="56" name="Picture 55" descr="lock.png"/>
          <p:cNvPicPr>
            <a:picLocks noChangeAspect="1"/>
          </p:cNvPicPr>
          <p:nvPr/>
        </p:nvPicPr>
        <p:blipFill>
          <a:blip r:embed="rId10"/>
          <a:stretch>
            <a:fillRect/>
          </a:stretch>
        </p:blipFill>
        <p:spPr>
          <a:xfrm>
            <a:off x="4230493" y="2805915"/>
            <a:ext cx="212425" cy="308982"/>
          </a:xfrm>
          <a:prstGeom prst="rect">
            <a:avLst/>
          </a:prstGeom>
        </p:spPr>
      </p:pic>
      <p:pic>
        <p:nvPicPr>
          <p:cNvPr id="57" name="Picture 56" descr="lock.png"/>
          <p:cNvPicPr>
            <a:picLocks noChangeAspect="1"/>
          </p:cNvPicPr>
          <p:nvPr/>
        </p:nvPicPr>
        <p:blipFill>
          <a:blip r:embed="rId10"/>
          <a:stretch>
            <a:fillRect/>
          </a:stretch>
        </p:blipFill>
        <p:spPr>
          <a:xfrm>
            <a:off x="9288268" y="2805915"/>
            <a:ext cx="212425" cy="308982"/>
          </a:xfrm>
          <a:prstGeom prst="rect">
            <a:avLst/>
          </a:prstGeom>
        </p:spPr>
      </p:pic>
      <p:sp>
        <p:nvSpPr>
          <p:cNvPr id="58" name="TextBox 57"/>
          <p:cNvSpPr txBox="1"/>
          <p:nvPr/>
        </p:nvSpPr>
        <p:spPr>
          <a:xfrm>
            <a:off x="485775" y="4229437"/>
            <a:ext cx="2424906" cy="186689"/>
          </a:xfrm>
          <a:prstGeom prst="rect">
            <a:avLst/>
          </a:prstGeom>
          <a:noFill/>
        </p:spPr>
        <p:txBody>
          <a:bodyPr wrap="none" lIns="0" rIns="0" tIns="0" bIns="0">
            <a:spAutoFit/>
          </a:bodyPr>
          <a:lstStyle/>
          <a:p>
            <a:r>
              <a:rPr sz="1100" b="0">
                <a:solidFill>
                  <a:srgbClr val="2E2E2E"/>
                </a:solidFill>
                <a:latin typeface="Calibri"/>
              </a:rPr>
              <a:t>▪ ¶ Among removable partial dentures by</a:t>
            </a:r>
          </a:p>
        </p:txBody>
      </p:sp>
      <p:sp>
        <p:nvSpPr>
          <p:cNvPr id="59" name="TextBox 58"/>
          <p:cNvSpPr txBox="1"/>
          <p:nvPr/>
        </p:nvSpPr>
        <p:spPr>
          <a:xfrm>
            <a:off x="485775" y="4397077"/>
            <a:ext cx="2800622" cy="186689"/>
          </a:xfrm>
          <a:prstGeom prst="rect">
            <a:avLst/>
          </a:prstGeom>
          <a:noFill/>
        </p:spPr>
        <p:txBody>
          <a:bodyPr wrap="none" lIns="0" rIns="0" tIns="0" bIns="0">
            <a:spAutoFit/>
          </a:bodyPr>
          <a:lstStyle/>
          <a:p>
            <a:r>
              <a:rPr sz="1100" b="0">
                <a:solidFill>
                  <a:srgbClr val="2E2E2E"/>
                </a:solidFill>
                <a:latin typeface="Calibri"/>
              </a:rPr>
              <a:t>technology, conventional fabrication segment is</a:t>
            </a:r>
          </a:p>
        </p:txBody>
      </p:sp>
      <p:sp>
        <p:nvSpPr>
          <p:cNvPr id="60" name="TextBox 59"/>
          <p:cNvSpPr txBox="1"/>
          <p:nvPr/>
        </p:nvSpPr>
        <p:spPr>
          <a:xfrm>
            <a:off x="485775" y="4564717"/>
            <a:ext cx="2381232" cy="186689"/>
          </a:xfrm>
          <a:prstGeom prst="rect">
            <a:avLst/>
          </a:prstGeom>
          <a:noFill/>
        </p:spPr>
        <p:txBody>
          <a:bodyPr wrap="none" lIns="0" rIns="0" tIns="0" bIns="0">
            <a:spAutoFit/>
          </a:bodyPr>
          <a:lstStyle/>
          <a:p>
            <a:r>
              <a:rPr sz="1100" b="0">
                <a:solidFill>
                  <a:srgbClr val="2E2E2E"/>
                </a:solidFill>
                <a:latin typeface="Calibri"/>
              </a:rPr>
              <a:t>expected to witness the highest CAGR of</a:t>
            </a:r>
          </a:p>
        </p:txBody>
      </p:sp>
      <p:pic>
        <p:nvPicPr>
          <p:cNvPr id="61" name="Picture 60" descr="lock.png"/>
          <p:cNvPicPr>
            <a:picLocks noChangeAspect="1"/>
          </p:cNvPicPr>
          <p:nvPr/>
        </p:nvPicPr>
        <p:blipFill>
          <a:blip r:embed="rId10"/>
          <a:stretch>
            <a:fillRect/>
          </a:stretch>
        </p:blipFill>
        <p:spPr>
          <a:xfrm>
            <a:off x="2815059" y="4554938"/>
            <a:ext cx="128699" cy="187198"/>
          </a:xfrm>
          <a:prstGeom prst="rect">
            <a:avLst/>
          </a:prstGeom>
        </p:spPr>
      </p:pic>
      <p:sp>
        <p:nvSpPr>
          <p:cNvPr id="62" name="TextBox 61"/>
          <p:cNvSpPr txBox="1"/>
          <p:nvPr/>
        </p:nvSpPr>
        <p:spPr>
          <a:xfrm>
            <a:off x="2982555" y="4564717"/>
            <a:ext cx="331316" cy="186689"/>
          </a:xfrm>
          <a:prstGeom prst="rect">
            <a:avLst/>
          </a:prstGeom>
          <a:noFill/>
        </p:spPr>
        <p:txBody>
          <a:bodyPr wrap="none" lIns="0" rIns="0" tIns="0" bIns="0">
            <a:spAutoFit/>
          </a:bodyPr>
          <a:lstStyle/>
          <a:p>
            <a:r>
              <a:rPr sz="1100" b="0">
                <a:solidFill>
                  <a:srgbClr val="2E2E2E"/>
                </a:solidFill>
                <a:latin typeface="Calibri"/>
              </a:rPr>
              <a:t>over</a:t>
            </a:r>
          </a:p>
        </p:txBody>
      </p:sp>
      <p:sp>
        <p:nvSpPr>
          <p:cNvPr id="63" name="TextBox 62"/>
          <p:cNvSpPr txBox="1"/>
          <p:nvPr/>
        </p:nvSpPr>
        <p:spPr>
          <a:xfrm>
            <a:off x="485775" y="4732357"/>
            <a:ext cx="2699122" cy="186689"/>
          </a:xfrm>
          <a:prstGeom prst="rect">
            <a:avLst/>
          </a:prstGeom>
          <a:noFill/>
        </p:spPr>
        <p:txBody>
          <a:bodyPr wrap="none" lIns="0" rIns="0" tIns="0" bIns="0">
            <a:spAutoFit/>
          </a:bodyPr>
          <a:lstStyle/>
          <a:p>
            <a:r>
              <a:rPr sz="1100" b="0">
                <a:solidFill>
                  <a:srgbClr val="2E2E2E"/>
                </a:solidFill>
                <a:latin typeface="Calibri"/>
              </a:rPr>
              <a:t>the forecast period. In terms of value share by</a:t>
            </a:r>
          </a:p>
        </p:txBody>
      </p:sp>
      <p:sp>
        <p:nvSpPr>
          <p:cNvPr id="64" name="TextBox 63"/>
          <p:cNvSpPr txBox="1"/>
          <p:nvPr/>
        </p:nvSpPr>
        <p:spPr>
          <a:xfrm>
            <a:off x="485775" y="4899997"/>
            <a:ext cx="2634183" cy="186689"/>
          </a:xfrm>
          <a:prstGeom prst="rect">
            <a:avLst/>
          </a:prstGeom>
          <a:noFill/>
        </p:spPr>
        <p:txBody>
          <a:bodyPr wrap="none" lIns="0" rIns="0" tIns="0" bIns="0">
            <a:spAutoFit/>
          </a:bodyPr>
          <a:lstStyle/>
          <a:p>
            <a:r>
              <a:rPr sz="1100" b="0">
                <a:solidFill>
                  <a:srgbClr val="2E2E2E"/>
                </a:solidFill>
                <a:latin typeface="Calibri"/>
              </a:rPr>
              <a:t>technology, the digital fabrication segment is</a:t>
            </a:r>
          </a:p>
        </p:txBody>
      </p:sp>
      <p:sp>
        <p:nvSpPr>
          <p:cNvPr id="65" name="TextBox 64"/>
          <p:cNvSpPr txBox="1"/>
          <p:nvPr/>
        </p:nvSpPr>
        <p:spPr>
          <a:xfrm>
            <a:off x="485775" y="5067637"/>
            <a:ext cx="2388889" cy="186689"/>
          </a:xfrm>
          <a:prstGeom prst="rect">
            <a:avLst/>
          </a:prstGeom>
          <a:noFill/>
        </p:spPr>
        <p:txBody>
          <a:bodyPr wrap="none" lIns="0" rIns="0" tIns="0" bIns="0">
            <a:spAutoFit/>
          </a:bodyPr>
          <a:lstStyle/>
          <a:p>
            <a:r>
              <a:rPr sz="1100" b="0">
                <a:solidFill>
                  <a:srgbClr val="2E2E2E"/>
                </a:solidFill>
                <a:latin typeface="Calibri"/>
              </a:rPr>
              <a:t>expected to dominate the market, losing</a:t>
            </a:r>
          </a:p>
        </p:txBody>
      </p:sp>
      <p:pic>
        <p:nvPicPr>
          <p:cNvPr id="66" name="Picture 65" descr="lock.png"/>
          <p:cNvPicPr>
            <a:picLocks noChangeAspect="1"/>
          </p:cNvPicPr>
          <p:nvPr/>
        </p:nvPicPr>
        <p:blipFill>
          <a:blip r:embed="rId10"/>
          <a:stretch>
            <a:fillRect/>
          </a:stretch>
        </p:blipFill>
        <p:spPr>
          <a:xfrm>
            <a:off x="2822716" y="5057858"/>
            <a:ext cx="128699" cy="187198"/>
          </a:xfrm>
          <a:prstGeom prst="rect">
            <a:avLst/>
          </a:prstGeom>
        </p:spPr>
      </p:pic>
      <p:sp>
        <p:nvSpPr>
          <p:cNvPr id="67" name="TextBox 66"/>
          <p:cNvSpPr txBox="1"/>
          <p:nvPr/>
        </p:nvSpPr>
        <p:spPr>
          <a:xfrm>
            <a:off x="2990212" y="5067637"/>
            <a:ext cx="288751" cy="186689"/>
          </a:xfrm>
          <a:prstGeom prst="rect">
            <a:avLst/>
          </a:prstGeom>
          <a:noFill/>
        </p:spPr>
        <p:txBody>
          <a:bodyPr wrap="none" lIns="0" rIns="0" tIns="0" bIns="0">
            <a:spAutoFit/>
          </a:bodyPr>
          <a:lstStyle/>
          <a:p>
            <a:r>
              <a:rPr sz="1100" b="0">
                <a:solidFill>
                  <a:srgbClr val="2E2E2E"/>
                </a:solidFill>
                <a:latin typeface="Calibri"/>
              </a:rPr>
              <a:t>BPS</a:t>
            </a:r>
          </a:p>
        </p:txBody>
      </p:sp>
      <p:sp>
        <p:nvSpPr>
          <p:cNvPr id="68" name="TextBox 67"/>
          <p:cNvSpPr txBox="1"/>
          <p:nvPr/>
        </p:nvSpPr>
        <p:spPr>
          <a:xfrm>
            <a:off x="485775" y="5235277"/>
            <a:ext cx="1142231" cy="186689"/>
          </a:xfrm>
          <a:prstGeom prst="rect">
            <a:avLst/>
          </a:prstGeom>
          <a:noFill/>
        </p:spPr>
        <p:txBody>
          <a:bodyPr wrap="none" lIns="0" rIns="0" tIns="0" bIns="0">
            <a:spAutoFit/>
          </a:bodyPr>
          <a:lstStyle/>
          <a:p>
            <a:r>
              <a:rPr sz="1100" b="0">
                <a:solidFill>
                  <a:srgbClr val="2E2E2E"/>
                </a:solidFill>
                <a:latin typeface="Calibri"/>
              </a:rPr>
              <a:t>and accounting for</a:t>
            </a:r>
          </a:p>
        </p:txBody>
      </p:sp>
      <p:pic>
        <p:nvPicPr>
          <p:cNvPr id="69" name="Picture 68" descr="lock.png"/>
          <p:cNvPicPr>
            <a:picLocks noChangeAspect="1"/>
          </p:cNvPicPr>
          <p:nvPr/>
        </p:nvPicPr>
        <p:blipFill>
          <a:blip r:embed="rId10"/>
          <a:stretch>
            <a:fillRect/>
          </a:stretch>
        </p:blipFill>
        <p:spPr>
          <a:xfrm>
            <a:off x="1576057" y="5225498"/>
            <a:ext cx="128699" cy="187198"/>
          </a:xfrm>
          <a:prstGeom prst="rect">
            <a:avLst/>
          </a:prstGeom>
        </p:spPr>
      </p:pic>
      <p:sp>
        <p:nvSpPr>
          <p:cNvPr id="70" name="TextBox 69"/>
          <p:cNvSpPr txBox="1"/>
          <p:nvPr/>
        </p:nvSpPr>
        <p:spPr>
          <a:xfrm>
            <a:off x="1743553" y="523527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71" name="TextBox 70"/>
          <p:cNvSpPr txBox="1"/>
          <p:nvPr/>
        </p:nvSpPr>
        <p:spPr>
          <a:xfrm>
            <a:off x="485775" y="5453209"/>
            <a:ext cx="2654101" cy="186689"/>
          </a:xfrm>
          <a:prstGeom prst="rect">
            <a:avLst/>
          </a:prstGeom>
          <a:noFill/>
        </p:spPr>
        <p:txBody>
          <a:bodyPr wrap="none" lIns="0" rIns="0" tIns="0" bIns="0">
            <a:spAutoFit/>
          </a:bodyPr>
          <a:lstStyle/>
          <a:p>
            <a:r>
              <a:rPr sz="1100" b="0">
                <a:solidFill>
                  <a:srgbClr val="2E2E2E"/>
                </a:solidFill>
                <a:latin typeface="Calibri"/>
              </a:rPr>
              <a:t>▪ ¶ Digital fabrication segment is projected to</a:t>
            </a:r>
          </a:p>
        </p:txBody>
      </p:sp>
      <p:sp>
        <p:nvSpPr>
          <p:cNvPr id="72" name="TextBox 71"/>
          <p:cNvSpPr txBox="1"/>
          <p:nvPr/>
        </p:nvSpPr>
        <p:spPr>
          <a:xfrm>
            <a:off x="485775" y="5620849"/>
            <a:ext cx="512489" cy="186689"/>
          </a:xfrm>
          <a:prstGeom prst="rect">
            <a:avLst/>
          </a:prstGeom>
          <a:noFill/>
        </p:spPr>
        <p:txBody>
          <a:bodyPr wrap="none" lIns="0" rIns="0" tIns="0" bIns="0">
            <a:spAutoFit/>
          </a:bodyPr>
          <a:lstStyle/>
          <a:p>
            <a:r>
              <a:rPr sz="1100" b="0">
                <a:solidFill>
                  <a:srgbClr val="2E2E2E"/>
                </a:solidFill>
                <a:latin typeface="Calibri"/>
              </a:rPr>
              <a:t>register</a:t>
            </a:r>
          </a:p>
        </p:txBody>
      </p:sp>
      <p:pic>
        <p:nvPicPr>
          <p:cNvPr id="73" name="Picture 72" descr="lock.png"/>
          <p:cNvPicPr>
            <a:picLocks noChangeAspect="1"/>
          </p:cNvPicPr>
          <p:nvPr/>
        </p:nvPicPr>
        <p:blipFill>
          <a:blip r:embed="rId10"/>
          <a:stretch>
            <a:fillRect/>
          </a:stretch>
        </p:blipFill>
        <p:spPr>
          <a:xfrm>
            <a:off x="946316" y="5611070"/>
            <a:ext cx="128699" cy="187198"/>
          </a:xfrm>
          <a:prstGeom prst="rect">
            <a:avLst/>
          </a:prstGeom>
        </p:spPr>
      </p:pic>
      <p:sp>
        <p:nvSpPr>
          <p:cNvPr id="74" name="TextBox 73"/>
          <p:cNvSpPr txBox="1"/>
          <p:nvPr/>
        </p:nvSpPr>
        <p:spPr>
          <a:xfrm>
            <a:off x="1113812" y="5620849"/>
            <a:ext cx="1941686" cy="186689"/>
          </a:xfrm>
          <a:prstGeom prst="rect">
            <a:avLst/>
          </a:prstGeom>
          <a:noFill/>
        </p:spPr>
        <p:txBody>
          <a:bodyPr wrap="none" lIns="0" rIns="0" tIns="0" bIns="0">
            <a:spAutoFit/>
          </a:bodyPr>
          <a:lstStyle/>
          <a:p>
            <a:r>
              <a:rPr sz="1100" b="0">
                <a:solidFill>
                  <a:srgbClr val="2E2E2E"/>
                </a:solidFill>
                <a:latin typeface="Calibri"/>
              </a:rPr>
              <a:t>X higher value than conventional</a:t>
            </a:r>
          </a:p>
        </p:txBody>
      </p:sp>
      <p:sp>
        <p:nvSpPr>
          <p:cNvPr id="75" name="TextBox 74"/>
          <p:cNvSpPr txBox="1"/>
          <p:nvPr/>
        </p:nvSpPr>
        <p:spPr>
          <a:xfrm>
            <a:off x="485775" y="5788489"/>
            <a:ext cx="1703213" cy="186689"/>
          </a:xfrm>
          <a:prstGeom prst="rect">
            <a:avLst/>
          </a:prstGeom>
          <a:noFill/>
        </p:spPr>
        <p:txBody>
          <a:bodyPr wrap="none" lIns="0" rIns="0" tIns="0" bIns="0">
            <a:spAutoFit/>
          </a:bodyPr>
          <a:lstStyle/>
          <a:p>
            <a:r>
              <a:rPr sz="1100" b="0">
                <a:solidFill>
                  <a:srgbClr val="2E2E2E"/>
                </a:solidFill>
                <a:latin typeface="Calibri"/>
              </a:rPr>
              <a:t>fabrication segment in 2036.</a:t>
            </a:r>
          </a:p>
        </p:txBody>
      </p:sp>
      <p:sp>
        <p:nvSpPr>
          <p:cNvPr id="76" name="TextBox 75"/>
          <p:cNvSpPr txBox="1"/>
          <p:nvPr/>
        </p:nvSpPr>
        <p:spPr>
          <a:xfrm>
            <a:off x="3838575" y="4229437"/>
            <a:ext cx="1260861" cy="186689"/>
          </a:xfrm>
          <a:prstGeom prst="rect">
            <a:avLst/>
          </a:prstGeom>
          <a:noFill/>
        </p:spPr>
        <p:txBody>
          <a:bodyPr wrap="none" lIns="0" rIns="0" tIns="0" bIns="0">
            <a:spAutoFit/>
          </a:bodyPr>
          <a:lstStyle/>
          <a:p>
            <a:r>
              <a:rPr sz="1100" b="0">
                <a:solidFill>
                  <a:srgbClr val="2E2E2E"/>
                </a:solidFill>
                <a:latin typeface="Calibri"/>
              </a:rPr>
              <a:t>● Digital Fabrication:</a:t>
            </a:r>
          </a:p>
        </p:txBody>
      </p:sp>
      <p:pic>
        <p:nvPicPr>
          <p:cNvPr id="77" name="Picture 76" descr="lock.png"/>
          <p:cNvPicPr>
            <a:picLocks noChangeAspect="1"/>
          </p:cNvPicPr>
          <p:nvPr/>
        </p:nvPicPr>
        <p:blipFill>
          <a:blip r:embed="rId10"/>
          <a:stretch>
            <a:fillRect/>
          </a:stretch>
        </p:blipFill>
        <p:spPr>
          <a:xfrm>
            <a:off x="5047488" y="4219658"/>
            <a:ext cx="128699" cy="187198"/>
          </a:xfrm>
          <a:prstGeom prst="rect">
            <a:avLst/>
          </a:prstGeom>
        </p:spPr>
      </p:pic>
      <p:sp>
        <p:nvSpPr>
          <p:cNvPr id="78" name="TextBox 77"/>
          <p:cNvSpPr txBox="1"/>
          <p:nvPr/>
        </p:nvSpPr>
        <p:spPr>
          <a:xfrm>
            <a:off x="5214984"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9" name="Picture 78" descr="lock.png"/>
          <p:cNvPicPr>
            <a:picLocks noChangeAspect="1"/>
          </p:cNvPicPr>
          <p:nvPr/>
        </p:nvPicPr>
        <p:blipFill>
          <a:blip r:embed="rId10"/>
          <a:stretch>
            <a:fillRect/>
          </a:stretch>
        </p:blipFill>
        <p:spPr>
          <a:xfrm>
            <a:off x="6074434" y="4219658"/>
            <a:ext cx="128699" cy="187198"/>
          </a:xfrm>
          <a:prstGeom prst="rect">
            <a:avLst/>
          </a:prstGeom>
        </p:spPr>
      </p:pic>
      <p:sp>
        <p:nvSpPr>
          <p:cNvPr id="80" name="TextBox 79"/>
          <p:cNvSpPr txBox="1"/>
          <p:nvPr/>
        </p:nvSpPr>
        <p:spPr>
          <a:xfrm>
            <a:off x="6241930"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81" name="TextBox 80"/>
          <p:cNvSpPr txBox="1"/>
          <p:nvPr/>
        </p:nvSpPr>
        <p:spPr>
          <a:xfrm>
            <a:off x="3838575" y="4447369"/>
            <a:ext cx="1651585" cy="186689"/>
          </a:xfrm>
          <a:prstGeom prst="rect">
            <a:avLst/>
          </a:prstGeom>
          <a:noFill/>
        </p:spPr>
        <p:txBody>
          <a:bodyPr wrap="none" lIns="0" rIns="0" tIns="0" bIns="0">
            <a:spAutoFit/>
          </a:bodyPr>
          <a:lstStyle/>
          <a:p>
            <a:r>
              <a:rPr sz="1100" b="0">
                <a:solidFill>
                  <a:srgbClr val="2E2E2E"/>
                </a:solidFill>
                <a:latin typeface="Calibri"/>
              </a:rPr>
              <a:t>● Conventional Fabrication:</a:t>
            </a:r>
          </a:p>
        </p:txBody>
      </p:sp>
      <p:pic>
        <p:nvPicPr>
          <p:cNvPr id="82" name="Picture 81" descr="lock.png"/>
          <p:cNvPicPr>
            <a:picLocks noChangeAspect="1"/>
          </p:cNvPicPr>
          <p:nvPr/>
        </p:nvPicPr>
        <p:blipFill>
          <a:blip r:embed="rId10"/>
          <a:stretch>
            <a:fillRect/>
          </a:stretch>
        </p:blipFill>
        <p:spPr>
          <a:xfrm>
            <a:off x="5438211" y="4437590"/>
            <a:ext cx="128699" cy="187198"/>
          </a:xfrm>
          <a:prstGeom prst="rect">
            <a:avLst/>
          </a:prstGeom>
        </p:spPr>
      </p:pic>
      <p:sp>
        <p:nvSpPr>
          <p:cNvPr id="83" name="TextBox 82"/>
          <p:cNvSpPr txBox="1"/>
          <p:nvPr/>
        </p:nvSpPr>
        <p:spPr>
          <a:xfrm>
            <a:off x="5605707"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4" name="Picture 83" descr="lock.png"/>
          <p:cNvPicPr>
            <a:picLocks noChangeAspect="1"/>
          </p:cNvPicPr>
          <p:nvPr/>
        </p:nvPicPr>
        <p:blipFill>
          <a:blip r:embed="rId10"/>
          <a:stretch>
            <a:fillRect/>
          </a:stretch>
        </p:blipFill>
        <p:spPr>
          <a:xfrm>
            <a:off x="6465157" y="4437590"/>
            <a:ext cx="128699" cy="187198"/>
          </a:xfrm>
          <a:prstGeom prst="rect">
            <a:avLst/>
          </a:prstGeom>
        </p:spPr>
      </p:pic>
      <p:sp>
        <p:nvSpPr>
          <p:cNvPr id="85" name="TextBox 84"/>
          <p:cNvSpPr txBox="1"/>
          <p:nvPr/>
        </p:nvSpPr>
        <p:spPr>
          <a:xfrm>
            <a:off x="6632653" y="4447369"/>
            <a:ext cx="769771" cy="186689"/>
          </a:xfrm>
          <a:prstGeom prst="rect">
            <a:avLst/>
          </a:prstGeom>
          <a:noFill/>
        </p:spPr>
        <p:txBody>
          <a:bodyPr wrap="none" lIns="0" rIns="0" tIns="0" bIns="0">
            <a:spAutoFit/>
          </a:bodyPr>
          <a:lstStyle/>
          <a:p>
            <a:r>
              <a:rPr sz="1100" b="0">
                <a:solidFill>
                  <a:srgbClr val="2E2E2E"/>
                </a:solidFill>
                <a:latin typeface="Calibri"/>
              </a:rPr>
              <a:t>CAGR grows</a:t>
            </a:r>
          </a:p>
        </p:txBody>
      </p:sp>
      <p:sp>
        <p:nvSpPr>
          <p:cNvPr id="86" name="TextBox 85"/>
          <p:cNvSpPr txBox="1"/>
          <p:nvPr/>
        </p:nvSpPr>
        <p:spPr>
          <a:xfrm>
            <a:off x="3838575" y="4615009"/>
            <a:ext cx="493390" cy="186689"/>
          </a:xfrm>
          <a:prstGeom prst="rect">
            <a:avLst/>
          </a:prstGeom>
          <a:noFill/>
        </p:spPr>
        <p:txBody>
          <a:bodyPr wrap="none" lIns="0" rIns="0" tIns="0" bIns="0">
            <a:spAutoFit/>
          </a:bodyPr>
          <a:lstStyle/>
          <a:p>
            <a:r>
              <a:rPr sz="1100" b="0">
                <a:solidFill>
                  <a:srgbClr val="2E2E2E"/>
                </a:solidFill>
                <a:latin typeface="Calibri"/>
              </a:rPr>
              <a:t>fastest.</a:t>
            </a:r>
          </a:p>
        </p:txBody>
      </p:sp>
      <p:sp>
        <p:nvSpPr>
          <p:cNvPr id="87" name="TextBox 86"/>
          <p:cNvSpPr txBox="1"/>
          <p:nvPr/>
        </p:nvSpPr>
        <p:spPr>
          <a:xfrm>
            <a:off x="8524875" y="5842641"/>
            <a:ext cx="3094471" cy="194310"/>
          </a:xfrm>
          <a:prstGeom prst="rect">
            <a:avLst/>
          </a:prstGeom>
          <a:noFill/>
        </p:spPr>
        <p:txBody>
          <a:bodyPr wrap="none" lIns="0" rIns="0" tIns="0" bIns="0">
            <a:spAutoFit/>
          </a:bodyPr>
          <a:lstStyle/>
          <a:p>
            <a:r>
              <a:rPr sz="1150" b="1">
                <a:solidFill>
                  <a:srgbClr val="0B2E4A"/>
                </a:solidFill>
                <a:latin typeface="Calibri"/>
              </a:rPr>
              <a:t>The Technology segment is projected to grow at a</a:t>
            </a:r>
          </a:p>
        </p:txBody>
      </p:sp>
      <p:sp>
        <p:nvSpPr>
          <p:cNvPr id="88" name="TextBox 87"/>
          <p:cNvSpPr txBox="1"/>
          <p:nvPr/>
        </p:nvSpPr>
        <p:spPr>
          <a:xfrm>
            <a:off x="8524875" y="6017901"/>
            <a:ext cx="574797" cy="194310"/>
          </a:xfrm>
          <a:prstGeom prst="rect">
            <a:avLst/>
          </a:prstGeom>
          <a:noFill/>
        </p:spPr>
        <p:txBody>
          <a:bodyPr wrap="none" lIns="0" rIns="0" tIns="0" bIns="0">
            <a:spAutoFit/>
          </a:bodyPr>
          <a:lstStyle/>
          <a:p>
            <a:r>
              <a:rPr sz="1150" b="1">
                <a:solidFill>
                  <a:srgbClr val="0B2E4A"/>
                </a:solidFill>
                <a:latin typeface="Calibri"/>
              </a:rPr>
              <a:t>CAGR of</a:t>
            </a:r>
          </a:p>
        </p:txBody>
      </p:sp>
      <p:pic>
        <p:nvPicPr>
          <p:cNvPr id="89" name="Picture 88" descr="lock.png"/>
          <p:cNvPicPr>
            <a:picLocks noChangeAspect="1"/>
          </p:cNvPicPr>
          <p:nvPr/>
        </p:nvPicPr>
        <p:blipFill>
          <a:blip r:embed="rId10"/>
          <a:stretch>
            <a:fillRect/>
          </a:stretch>
        </p:blipFill>
        <p:spPr>
          <a:xfrm>
            <a:off x="9048826" y="6007677"/>
            <a:ext cx="134549" cy="195707"/>
          </a:xfrm>
          <a:prstGeom prst="rect">
            <a:avLst/>
          </a:prstGeom>
        </p:spPr>
      </p:pic>
      <p:sp>
        <p:nvSpPr>
          <p:cNvPr id="90" name="TextBox 89"/>
          <p:cNvSpPr txBox="1"/>
          <p:nvPr/>
        </p:nvSpPr>
        <p:spPr>
          <a:xfrm>
            <a:off x="9223935"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Technology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Technology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Technology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Technology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777865"/>
            <a:ext cx="11649199" cy="186689"/>
          </a:xfrm>
          <a:prstGeom prst="rect">
            <a:avLst/>
          </a:prstGeom>
          <a:noFill/>
        </p:spPr>
        <p:txBody>
          <a:bodyPr wrap="none" lIns="0" rIns="0" tIns="0" bIns="0">
            <a:spAutoFit/>
          </a:bodyPr>
          <a:lstStyle/>
          <a:p>
            <a:r>
              <a:rPr sz="1100" b="0">
                <a:solidFill>
                  <a:srgbClr val="2E2E2E"/>
                </a:solidFill>
                <a:latin typeface="Calibri"/>
              </a:rPr>
              <a:t>Conventional fabrication followed by digital fabrication are expected to be the two most attractive technology segments in the North America removable partial dentures market in terms of value over the</a:t>
            </a:r>
          </a:p>
        </p:txBody>
      </p:sp>
      <p:sp>
        <p:nvSpPr>
          <p:cNvPr id="21" name="TextBox 20"/>
          <p:cNvSpPr txBox="1"/>
          <p:nvPr/>
        </p:nvSpPr>
        <p:spPr>
          <a:xfrm>
            <a:off x="257175" y="5945505"/>
            <a:ext cx="5040717" cy="186689"/>
          </a:xfrm>
          <a:prstGeom prst="rect">
            <a:avLst/>
          </a:prstGeom>
          <a:noFill/>
        </p:spPr>
        <p:txBody>
          <a:bodyPr wrap="none" lIns="0" rIns="0" tIns="0" bIns="0">
            <a:spAutoFit/>
          </a:bodyPr>
          <a:lstStyle/>
          <a:p>
            <a:r>
              <a:rPr sz="1100" b="0">
                <a:solidFill>
                  <a:srgbClr val="2E2E2E"/>
                </a:solidFill>
                <a:latin typeface="Calibri"/>
              </a:rPr>
              <a:t>forecast period. Conventional fabrication and digital fabrication exhibit a CAGR index of</a:t>
            </a:r>
          </a:p>
        </p:txBody>
      </p:sp>
      <p:pic>
        <p:nvPicPr>
          <p:cNvPr id="22" name="Picture 21" descr="lock.png"/>
          <p:cNvPicPr>
            <a:picLocks noChangeAspect="1"/>
          </p:cNvPicPr>
          <p:nvPr/>
        </p:nvPicPr>
        <p:blipFill>
          <a:blip r:embed="rId6"/>
          <a:stretch>
            <a:fillRect/>
          </a:stretch>
        </p:blipFill>
        <p:spPr>
          <a:xfrm>
            <a:off x="5245943" y="5935726"/>
            <a:ext cx="128699" cy="187198"/>
          </a:xfrm>
          <a:prstGeom prst="rect">
            <a:avLst/>
          </a:prstGeom>
        </p:spPr>
      </p:pic>
      <p:sp>
        <p:nvSpPr>
          <p:cNvPr id="23" name="TextBox 22"/>
          <p:cNvSpPr txBox="1"/>
          <p:nvPr/>
        </p:nvSpPr>
        <p:spPr>
          <a:xfrm>
            <a:off x="5413439" y="594550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5651333" y="5935726"/>
            <a:ext cx="128699" cy="187198"/>
          </a:xfrm>
          <a:prstGeom prst="rect">
            <a:avLst/>
          </a:prstGeom>
        </p:spPr>
      </p:pic>
      <p:sp>
        <p:nvSpPr>
          <p:cNvPr id="25" name="TextBox 24"/>
          <p:cNvSpPr txBox="1"/>
          <p:nvPr/>
        </p:nvSpPr>
        <p:spPr>
          <a:xfrm>
            <a:off x="5818829" y="594550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7427803" y="5935726"/>
            <a:ext cx="128699" cy="187198"/>
          </a:xfrm>
          <a:prstGeom prst="rect">
            <a:avLst/>
          </a:prstGeom>
        </p:spPr>
      </p:pic>
      <p:sp>
        <p:nvSpPr>
          <p:cNvPr id="27" name="TextBox 26"/>
          <p:cNvSpPr txBox="1"/>
          <p:nvPr/>
        </p:nvSpPr>
        <p:spPr>
          <a:xfrm>
            <a:off x="7595299" y="594550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7833193" y="5935726"/>
            <a:ext cx="128699" cy="187198"/>
          </a:xfrm>
          <a:prstGeom prst="rect">
            <a:avLst/>
          </a:prstGeom>
        </p:spPr>
      </p:pic>
      <p:sp>
        <p:nvSpPr>
          <p:cNvPr id="29" name="TextBox 28"/>
          <p:cNvSpPr txBox="1"/>
          <p:nvPr/>
        </p:nvSpPr>
        <p:spPr>
          <a:xfrm>
            <a:off x="8000689" y="594550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30" name="Picture 29" descr="lock.png"/>
          <p:cNvPicPr>
            <a:picLocks noChangeAspect="1"/>
          </p:cNvPicPr>
          <p:nvPr/>
        </p:nvPicPr>
        <p:blipFill>
          <a:blip r:embed="rId6"/>
          <a:stretch>
            <a:fillRect/>
          </a:stretch>
        </p:blipFill>
        <p:spPr>
          <a:xfrm>
            <a:off x="10555093" y="5935726"/>
            <a:ext cx="128699" cy="187198"/>
          </a:xfrm>
          <a:prstGeom prst="rect">
            <a:avLst/>
          </a:prstGeom>
        </p:spPr>
      </p:pic>
      <p:sp>
        <p:nvSpPr>
          <p:cNvPr id="31" name="TextBox 30"/>
          <p:cNvSpPr txBox="1"/>
          <p:nvPr/>
        </p:nvSpPr>
        <p:spPr>
          <a:xfrm>
            <a:off x="10722589" y="5945505"/>
            <a:ext cx="595709" cy="186689"/>
          </a:xfrm>
          <a:prstGeom prst="rect">
            <a:avLst/>
          </a:prstGeom>
          <a:noFill/>
        </p:spPr>
        <p:txBody>
          <a:bodyPr wrap="none" lIns="0" rIns="0" tIns="0" bIns="0">
            <a:spAutoFit/>
          </a:bodyPr>
          <a:lstStyle/>
          <a:p>
            <a:r>
              <a:rPr sz="1100" b="0">
                <a:solidFill>
                  <a:srgbClr val="2E2E2E"/>
                </a:solidFill>
                <a:latin typeface="Calibri"/>
              </a:rPr>
              <a:t>. Bubbles</a:t>
            </a:r>
          </a:p>
        </p:txBody>
      </p:sp>
      <p:sp>
        <p:nvSpPr>
          <p:cNvPr id="32" name="TextBox 31"/>
          <p:cNvSpPr txBox="1"/>
          <p:nvPr/>
        </p:nvSpPr>
        <p:spPr>
          <a:xfrm>
            <a:off x="257175" y="6113145"/>
            <a:ext cx="3892557" cy="186689"/>
          </a:xfrm>
          <a:prstGeom prst="rect">
            <a:avLst/>
          </a:prstGeom>
          <a:noFill/>
        </p:spPr>
        <p:txBody>
          <a:bodyPr wrap="none" lIns="0" rIns="0" tIns="0" bIns="0">
            <a:spAutoFit/>
          </a:bodyPr>
          <a:lstStyle/>
          <a:p>
            <a:r>
              <a:rPr sz="1100" b="0">
                <a:solidFill>
                  <a:srgbClr val="2E2E2E"/>
                </a:solidFill>
                <a:latin typeface="Calibri"/>
              </a:rPr>
              <a:t>right of the CAGR-Index line grow faster than the segment average.</a:t>
            </a:r>
          </a:p>
        </p:txBody>
      </p:sp>
      <p:sp>
        <p:nvSpPr>
          <p:cNvPr id="33"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Technology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Conventional Fabrication</a:t>
            </a:r>
          </a:p>
        </p:txBody>
      </p:sp>
      <p:graphicFrame>
        <p:nvGraphicFramePr>
          <p:cNvPr id="13" name="Chart 12"/>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Digital Fabrication</a:t>
            </a:r>
          </a:p>
        </p:txBody>
      </p:sp>
      <p:graphicFrame>
        <p:nvGraphicFramePr>
          <p:cNvPr id="16" name="Chart 15"/>
          <p:cNvGraphicFramePr>
            <a:graphicFrameLocks noGrp="1"/>
          </p:cNvGraphicFramePr>
          <p:nvPr/>
        </p:nvGraphicFramePr>
        <p:xfrm>
          <a:off x="6267450" y="1438275"/>
          <a:ext cx="5686425" cy="513397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027556" y="3674659"/>
            <a:ext cx="395643" cy="575481"/>
          </a:xfrm>
          <a:prstGeom prst="rect">
            <a:avLst/>
          </a:prstGeom>
        </p:spPr>
      </p:pic>
      <p:pic>
        <p:nvPicPr>
          <p:cNvPr id="19" name="Picture 18" descr="lock.png"/>
          <p:cNvPicPr>
            <a:picLocks noChangeAspect="1"/>
          </p:cNvPicPr>
          <p:nvPr/>
        </p:nvPicPr>
        <p:blipFill>
          <a:blip r:embed="rId6"/>
          <a:stretch>
            <a:fillRect/>
          </a:stretch>
        </p:blipFill>
        <p:spPr>
          <a:xfrm>
            <a:off x="9056881" y="3674659"/>
            <a:ext cx="395643" cy="575481"/>
          </a:xfrm>
          <a:prstGeom prst="rect">
            <a:avLst/>
          </a:prstGeom>
        </p:spPr>
      </p:pic>
      <p:sp>
        <p:nvSpPr>
          <p:cNvPr id="20" name="lockshield_13"/>
          <p:cNvSpPr/>
          <p:nvPr/>
        </p:nvSpPr>
        <p:spPr>
          <a:xfrm>
            <a:off x="238125"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lockshield_16"/>
          <p:cNvSpPr/>
          <p:nvPr/>
        </p:nvSpPr>
        <p:spPr>
          <a:xfrm>
            <a:off x="6267450"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Technology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Technology,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3124200"/>
          </a:xfrm>
          <a:prstGeom prst="roundRect">
            <a:avLst>
              <a:gd name="adj" fmla="val 24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Technology (Units)</a:t>
            </a:r>
          </a:p>
        </p:txBody>
      </p:sp>
      <p:graphicFrame>
        <p:nvGraphicFramePr>
          <p:cNvPr id="13" name="Table 12"/>
          <p:cNvGraphicFramePr>
            <a:graphicFrameLocks noGrp="1"/>
          </p:cNvGraphicFramePr>
          <p:nvPr/>
        </p:nvGraphicFramePr>
        <p:xfrm>
          <a:off x="152400" y="1238250"/>
          <a:ext cx="11887207" cy="2657475"/>
        </p:xfrm>
        <a:graphic>
          <a:graphicData uri="http://schemas.openxmlformats.org/drawingml/2006/table">
            <a:tbl>
              <a:tblPr>
                <a:tableStyleId>{5C22544A-7EE6-4342-B048-85BDC9FD1C3A}</a:tableStyleId>
              </a:tblPr>
              <a:tblGrid>
                <a:gridCol w="2409420"/>
                <a:gridCol w="530662"/>
                <a:gridCol w="530662"/>
                <a:gridCol w="530662"/>
                <a:gridCol w="530662"/>
                <a:gridCol w="530662"/>
                <a:gridCol w="530662"/>
                <a:gridCol w="530662"/>
                <a:gridCol w="530662"/>
                <a:gridCol w="530662"/>
                <a:gridCol w="530662"/>
                <a:gridCol w="530662"/>
                <a:gridCol w="641033"/>
                <a:gridCol w="641033"/>
                <a:gridCol w="641033"/>
                <a:gridCol w="641033"/>
                <a:gridCol w="641033"/>
                <a:gridCol w="435340"/>
              </a:tblGrid>
              <a:tr h="438912">
                <a:tc>
                  <a:txBody>
                    <a:bodyPr wrap="none"/>
                    <a:lstStyle/>
                    <a:p>
                      <a:pPr algn="l"/>
                      <a:r>
                        <a:rPr sz="1100" b="1">
                          <a:solidFill>
                            <a:srgbClr val="0B2E4A"/>
                          </a:solidFill>
                          <a:latin typeface="Calibri"/>
                        </a:rPr>
                        <a:t>Technology</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6507">
                <a:tc>
                  <a:txBody>
                    <a:bodyPr wrap="none"/>
                    <a:lstStyle/>
                    <a:p>
                      <a:pPr algn="l"/>
                      <a:r>
                        <a:rPr sz="1100" b="1">
                          <a:solidFill>
                            <a:srgbClr val="2E2E2E"/>
                          </a:solidFill>
                          <a:latin typeface="Calibri"/>
                        </a:rPr>
                        <a:t>Conventional Fabrication</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507">
                <a:tc>
                  <a:txBody>
                    <a:bodyPr wrap="none"/>
                    <a:lstStyle/>
                    <a:p>
                      <a:pPr algn="l"/>
                      <a:r>
                        <a:rPr sz="1100" b="1">
                          <a:solidFill>
                            <a:srgbClr val="2E2E2E"/>
                          </a:solidFill>
                          <a:latin typeface="Calibri"/>
                        </a:rPr>
                        <a:t>– Metal Casting</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507">
                <a:tc>
                  <a:txBody>
                    <a:bodyPr wrap="none"/>
                    <a:lstStyle/>
                    <a:p>
                      <a:pPr algn="l"/>
                      <a:r>
                        <a:rPr sz="1100" b="1">
                          <a:solidFill>
                            <a:srgbClr val="2E2E2E"/>
                          </a:solidFill>
                          <a:latin typeface="Calibri"/>
                        </a:rPr>
                        <a:t>– Heat-cured / Compression Processing</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507">
                <a:tc>
                  <a:txBody>
                    <a:bodyPr wrap="none"/>
                    <a:lstStyle/>
                    <a:p>
                      <a:pPr algn="l"/>
                      <a:r>
                        <a:rPr sz="1100" b="1">
                          <a:solidFill>
                            <a:srgbClr val="2E2E2E"/>
                          </a:solidFill>
                          <a:latin typeface="Calibri"/>
                        </a:rPr>
                        <a:t>– Injection Molding</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507">
                <a:tc>
                  <a:txBody>
                    <a:bodyPr wrap="none"/>
                    <a:lstStyle/>
                    <a:p>
                      <a:pPr algn="l"/>
                      <a:r>
                        <a:rPr sz="1100" b="1">
                          <a:solidFill>
                            <a:srgbClr val="2E2E2E"/>
                          </a:solidFill>
                          <a:latin typeface="Calibri"/>
                        </a:rPr>
                        <a:t>Digital Fabrication</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507">
                <a:tc>
                  <a:txBody>
                    <a:bodyPr wrap="none"/>
                    <a:lstStyle/>
                    <a:p>
                      <a:pPr algn="l"/>
                      <a:r>
                        <a:rPr sz="1100" b="1">
                          <a:solidFill>
                            <a:srgbClr val="2E2E2E"/>
                          </a:solidFill>
                          <a:latin typeface="Calibri"/>
                        </a:rPr>
                        <a:t>– CAD/CAM Milling</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507">
                <a:tc>
                  <a:txBody>
                    <a:bodyPr wrap="none"/>
                    <a:lstStyle/>
                    <a:p>
                      <a:pPr algn="l"/>
                      <a:r>
                        <a:rPr sz="1100" b="1">
                          <a:solidFill>
                            <a:srgbClr val="2E2E2E"/>
                          </a:solidFill>
                          <a:latin typeface="Calibri"/>
                        </a:rPr>
                        <a:t>– 3D Printing / Additive Manufacturing</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6507">
                <a:tc>
                  <a:txBody>
                    <a:bodyPr wrap="none"/>
                    <a:lstStyle/>
                    <a:p>
                      <a:pPr algn="l"/>
                      <a:r>
                        <a:rPr sz="1100" b="1">
                          <a:solidFill>
                            <a:srgbClr val="2E2E2E"/>
                          </a:solidFill>
                          <a:latin typeface="Calibri"/>
                        </a:rPr>
                        <a:t>– Hybrid Digital Fabrication</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6507">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3905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238625"/>
            <a:ext cx="11906250" cy="2390775"/>
          </a:xfrm>
          <a:prstGeom prst="roundRect">
            <a:avLst>
              <a:gd name="adj" fmla="val 31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32435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Technology</a:t>
            </a:r>
          </a:p>
        </p:txBody>
      </p:sp>
      <p:sp>
        <p:nvSpPr>
          <p:cNvPr id="17" name="Rectangle 16"/>
          <p:cNvSpPr/>
          <p:nvPr/>
        </p:nvSpPr>
        <p:spPr>
          <a:xfrm>
            <a:off x="276225" y="4562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648200"/>
            <a:ext cx="11639550" cy="1905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114023" y="2519743"/>
            <a:ext cx="366712" cy="533399"/>
          </a:xfrm>
          <a:prstGeom prst="rect">
            <a:avLst/>
          </a:prstGeom>
        </p:spPr>
      </p:pic>
      <p:sp>
        <p:nvSpPr>
          <p:cNvPr id="21" name="TextBox 20"/>
          <p:cNvSpPr txBox="1"/>
          <p:nvPr/>
        </p:nvSpPr>
        <p:spPr>
          <a:xfrm>
            <a:off x="276225" y="4657725"/>
            <a:ext cx="3057103" cy="194310"/>
          </a:xfrm>
          <a:prstGeom prst="rect">
            <a:avLst/>
          </a:prstGeom>
          <a:noFill/>
        </p:spPr>
        <p:txBody>
          <a:bodyPr wrap="none" lIns="0" rIns="0" tIns="0" bIns="0">
            <a:spAutoFit/>
          </a:bodyPr>
          <a:lstStyle/>
          <a:p>
            <a:r>
              <a:rPr sz="1150" b="0">
                <a:solidFill>
                  <a:srgbClr val="2E2E2E"/>
                </a:solidFill>
                <a:latin typeface="Calibri"/>
              </a:rPr>
              <a:t>Digital fabrication segment is projected to register</a:t>
            </a:r>
          </a:p>
        </p:txBody>
      </p:sp>
      <p:pic>
        <p:nvPicPr>
          <p:cNvPr id="22" name="Picture 21" descr="lock.png"/>
          <p:cNvPicPr>
            <a:picLocks noChangeAspect="1"/>
          </p:cNvPicPr>
          <p:nvPr/>
        </p:nvPicPr>
        <p:blipFill>
          <a:blip r:embed="rId4"/>
          <a:stretch>
            <a:fillRect/>
          </a:stretch>
        </p:blipFill>
        <p:spPr>
          <a:xfrm>
            <a:off x="3282482" y="4647501"/>
            <a:ext cx="134549" cy="195707"/>
          </a:xfrm>
          <a:prstGeom prst="rect">
            <a:avLst/>
          </a:prstGeom>
        </p:spPr>
      </p:pic>
      <p:sp>
        <p:nvSpPr>
          <p:cNvPr id="23" name="TextBox 22"/>
          <p:cNvSpPr txBox="1"/>
          <p:nvPr/>
        </p:nvSpPr>
        <p:spPr>
          <a:xfrm>
            <a:off x="3457591" y="4657725"/>
            <a:ext cx="8380226" cy="194310"/>
          </a:xfrm>
          <a:prstGeom prst="rect">
            <a:avLst/>
          </a:prstGeom>
          <a:noFill/>
        </p:spPr>
        <p:txBody>
          <a:bodyPr wrap="none" lIns="0" rIns="0" tIns="0" bIns="0">
            <a:spAutoFit/>
          </a:bodyPr>
          <a:lstStyle/>
          <a:p>
            <a:r>
              <a:rPr sz="1150" b="0">
                <a:solidFill>
                  <a:srgbClr val="2E2E2E"/>
                </a:solidFill>
                <a:latin typeface="Calibri"/>
              </a:rPr>
              <a:t>X higher volume than conventional fabrication segment in 2036. Among removable partial dentures by technology, conventional fabrication</a:t>
            </a:r>
          </a:p>
        </p:txBody>
      </p:sp>
      <p:sp>
        <p:nvSpPr>
          <p:cNvPr id="24" name="TextBox 23"/>
          <p:cNvSpPr txBox="1"/>
          <p:nvPr/>
        </p:nvSpPr>
        <p:spPr>
          <a:xfrm>
            <a:off x="276225" y="4832985"/>
            <a:ext cx="3156639" cy="194310"/>
          </a:xfrm>
          <a:prstGeom prst="rect">
            <a:avLst/>
          </a:prstGeom>
          <a:noFill/>
        </p:spPr>
        <p:txBody>
          <a:bodyPr wrap="none" lIns="0" rIns="0" tIns="0" bIns="0">
            <a:spAutoFit/>
          </a:bodyPr>
          <a:lstStyle/>
          <a:p>
            <a:r>
              <a:rPr sz="1150" b="0">
                <a:solidFill>
                  <a:srgbClr val="2E2E2E"/>
                </a:solidFill>
                <a:latin typeface="Calibri"/>
              </a:rPr>
              <a:t>segment is expected to witness the highest CAGR of</a:t>
            </a:r>
          </a:p>
        </p:txBody>
      </p:sp>
      <p:pic>
        <p:nvPicPr>
          <p:cNvPr id="25" name="Picture 24" descr="lock.png"/>
          <p:cNvPicPr>
            <a:picLocks noChangeAspect="1"/>
          </p:cNvPicPr>
          <p:nvPr/>
        </p:nvPicPr>
        <p:blipFill>
          <a:blip r:embed="rId4"/>
          <a:stretch>
            <a:fillRect/>
          </a:stretch>
        </p:blipFill>
        <p:spPr>
          <a:xfrm>
            <a:off x="3382018" y="4822761"/>
            <a:ext cx="134549" cy="195707"/>
          </a:xfrm>
          <a:prstGeom prst="rect">
            <a:avLst/>
          </a:prstGeom>
        </p:spPr>
      </p:pic>
      <p:sp>
        <p:nvSpPr>
          <p:cNvPr id="26" name="TextBox 25"/>
          <p:cNvSpPr txBox="1"/>
          <p:nvPr/>
        </p:nvSpPr>
        <p:spPr>
          <a:xfrm>
            <a:off x="3557127" y="483298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5060822"/>
            <a:ext cx="6894624" cy="194310"/>
          </a:xfrm>
          <a:prstGeom prst="rect">
            <a:avLst/>
          </a:prstGeom>
          <a:noFill/>
        </p:spPr>
        <p:txBody>
          <a:bodyPr wrap="none" lIns="0" rIns="0" tIns="0" bIns="0">
            <a:spAutoFit/>
          </a:bodyPr>
          <a:lstStyle/>
          <a:p>
            <a:r>
              <a:rPr sz="1150" b="0">
                <a:solidFill>
                  <a:srgbClr val="2E2E2E"/>
                </a:solidFill>
                <a:latin typeface="Calibri"/>
              </a:rPr>
              <a:t>In terms of volume share by technology, the digital fabrication segment is expected to dominate the market, losing</a:t>
            </a:r>
          </a:p>
        </p:txBody>
      </p:sp>
      <p:pic>
        <p:nvPicPr>
          <p:cNvPr id="28" name="Picture 27" descr="lock.png"/>
          <p:cNvPicPr>
            <a:picLocks noChangeAspect="1"/>
          </p:cNvPicPr>
          <p:nvPr/>
        </p:nvPicPr>
        <p:blipFill>
          <a:blip r:embed="rId4"/>
          <a:stretch>
            <a:fillRect/>
          </a:stretch>
        </p:blipFill>
        <p:spPr>
          <a:xfrm>
            <a:off x="7120003" y="5050599"/>
            <a:ext cx="134549" cy="195707"/>
          </a:xfrm>
          <a:prstGeom prst="rect">
            <a:avLst/>
          </a:prstGeom>
        </p:spPr>
      </p:pic>
      <p:sp>
        <p:nvSpPr>
          <p:cNvPr id="29" name="TextBox 28"/>
          <p:cNvSpPr txBox="1"/>
          <p:nvPr/>
        </p:nvSpPr>
        <p:spPr>
          <a:xfrm>
            <a:off x="7295112" y="506082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8690255" y="5050599"/>
            <a:ext cx="134549" cy="195707"/>
          </a:xfrm>
          <a:prstGeom prst="rect">
            <a:avLst/>
          </a:prstGeom>
        </p:spPr>
      </p:pic>
      <p:sp>
        <p:nvSpPr>
          <p:cNvPr id="31" name="TextBox 30"/>
          <p:cNvSpPr txBox="1"/>
          <p:nvPr/>
        </p:nvSpPr>
        <p:spPr>
          <a:xfrm>
            <a:off x="8865364" y="506082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Technology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Technology,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Technology (US$ Mn)</a:t>
            </a:r>
          </a:p>
        </p:txBody>
      </p:sp>
      <p:graphicFrame>
        <p:nvGraphicFramePr>
          <p:cNvPr id="13" name="Table 12"/>
          <p:cNvGraphicFramePr>
            <a:graphicFrameLocks noGrp="1"/>
          </p:cNvGraphicFramePr>
          <p:nvPr/>
        </p:nvGraphicFramePr>
        <p:xfrm>
          <a:off x="152400" y="1238250"/>
          <a:ext cx="11887195" cy="2466975"/>
        </p:xfrm>
        <a:graphic>
          <a:graphicData uri="http://schemas.openxmlformats.org/drawingml/2006/table">
            <a:tbl>
              <a:tblPr>
                <a:tableStyleId>{5C22544A-7EE6-4342-B048-85BDC9FD1C3A}</a:tableStyleId>
              </a:tblPr>
              <a:tblGrid>
                <a:gridCol w="2464826"/>
                <a:gridCol w="554257"/>
                <a:gridCol w="554257"/>
                <a:gridCol w="554257"/>
                <a:gridCol w="554257"/>
                <a:gridCol w="554257"/>
                <a:gridCol w="554257"/>
                <a:gridCol w="554257"/>
                <a:gridCol w="554257"/>
                <a:gridCol w="554257"/>
                <a:gridCol w="554257"/>
                <a:gridCol w="554257"/>
                <a:gridCol w="554257"/>
                <a:gridCol w="554257"/>
                <a:gridCol w="554257"/>
                <a:gridCol w="554257"/>
                <a:gridCol w="554257"/>
                <a:gridCol w="554257"/>
              </a:tblGrid>
              <a:tr h="246126">
                <a:tc>
                  <a:txBody>
                    <a:bodyPr wrap="none"/>
                    <a:lstStyle/>
                    <a:p>
                      <a:pPr algn="l"/>
                      <a:r>
                        <a:rPr sz="1100" b="1">
                          <a:solidFill>
                            <a:srgbClr val="0B2E4A"/>
                          </a:solidFill>
                          <a:latin typeface="Calibri"/>
                        </a:rPr>
                        <a:t>Technology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761">
                <a:tc>
                  <a:txBody>
                    <a:bodyPr wrap="none"/>
                    <a:lstStyle/>
                    <a:p>
                      <a:pPr algn="l"/>
                      <a:r>
                        <a:rPr sz="1100" b="1">
                          <a:solidFill>
                            <a:srgbClr val="2E2E2E"/>
                          </a:solidFill>
                          <a:latin typeface="Calibri"/>
                        </a:rPr>
                        <a:t>Conventional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Metal Casting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 Heat-cured / Compression Processing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Injection Molding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Digital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CAD/CAM Milling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 3D Printing / Additive Manufacturing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Hybrid Digital Fabrication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714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048125"/>
            <a:ext cx="11906250" cy="2581275"/>
          </a:xfrm>
          <a:prstGeom prst="roundRect">
            <a:avLst>
              <a:gd name="adj" fmla="val 29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13385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Technology</a:t>
            </a:r>
          </a:p>
        </p:txBody>
      </p:sp>
      <p:sp>
        <p:nvSpPr>
          <p:cNvPr id="17" name="Rectangle 16"/>
          <p:cNvSpPr/>
          <p:nvPr/>
        </p:nvSpPr>
        <p:spPr>
          <a:xfrm>
            <a:off x="276225" y="43719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457700"/>
            <a:ext cx="11639550" cy="20955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141720" y="2328100"/>
            <a:ext cx="366712" cy="533400"/>
          </a:xfrm>
          <a:prstGeom prst="rect">
            <a:avLst/>
          </a:prstGeom>
        </p:spPr>
      </p:pic>
      <p:sp>
        <p:nvSpPr>
          <p:cNvPr id="21" name="TextBox 20"/>
          <p:cNvSpPr txBox="1"/>
          <p:nvPr/>
        </p:nvSpPr>
        <p:spPr>
          <a:xfrm>
            <a:off x="276225" y="4467225"/>
            <a:ext cx="3057103" cy="194310"/>
          </a:xfrm>
          <a:prstGeom prst="rect">
            <a:avLst/>
          </a:prstGeom>
          <a:noFill/>
        </p:spPr>
        <p:txBody>
          <a:bodyPr wrap="none" lIns="0" rIns="0" tIns="0" bIns="0">
            <a:spAutoFit/>
          </a:bodyPr>
          <a:lstStyle/>
          <a:p>
            <a:r>
              <a:rPr sz="1150" b="0">
                <a:solidFill>
                  <a:srgbClr val="2E2E2E"/>
                </a:solidFill>
                <a:latin typeface="Calibri"/>
              </a:rPr>
              <a:t>Digital fabrication segment is projected to register</a:t>
            </a:r>
          </a:p>
        </p:txBody>
      </p:sp>
      <p:pic>
        <p:nvPicPr>
          <p:cNvPr id="22" name="Picture 21" descr="lock.png"/>
          <p:cNvPicPr>
            <a:picLocks noChangeAspect="1"/>
          </p:cNvPicPr>
          <p:nvPr/>
        </p:nvPicPr>
        <p:blipFill>
          <a:blip r:embed="rId4"/>
          <a:stretch>
            <a:fillRect/>
          </a:stretch>
        </p:blipFill>
        <p:spPr>
          <a:xfrm>
            <a:off x="3282482" y="4457001"/>
            <a:ext cx="134549" cy="195707"/>
          </a:xfrm>
          <a:prstGeom prst="rect">
            <a:avLst/>
          </a:prstGeom>
        </p:spPr>
      </p:pic>
      <p:sp>
        <p:nvSpPr>
          <p:cNvPr id="23" name="TextBox 22"/>
          <p:cNvSpPr txBox="1"/>
          <p:nvPr/>
        </p:nvSpPr>
        <p:spPr>
          <a:xfrm>
            <a:off x="3457591" y="4467225"/>
            <a:ext cx="8256426" cy="194310"/>
          </a:xfrm>
          <a:prstGeom prst="rect">
            <a:avLst/>
          </a:prstGeom>
          <a:noFill/>
        </p:spPr>
        <p:txBody>
          <a:bodyPr wrap="none" lIns="0" rIns="0" tIns="0" bIns="0">
            <a:spAutoFit/>
          </a:bodyPr>
          <a:lstStyle/>
          <a:p>
            <a:r>
              <a:rPr sz="1150" b="0">
                <a:solidFill>
                  <a:srgbClr val="2E2E2E"/>
                </a:solidFill>
                <a:latin typeface="Calibri"/>
              </a:rPr>
              <a:t>X higher value than conventional fabrication segment in 2036. Among removable partial dentures by technology, conventional fabrication</a:t>
            </a:r>
          </a:p>
        </p:txBody>
      </p:sp>
      <p:sp>
        <p:nvSpPr>
          <p:cNvPr id="24" name="TextBox 23"/>
          <p:cNvSpPr txBox="1"/>
          <p:nvPr/>
        </p:nvSpPr>
        <p:spPr>
          <a:xfrm>
            <a:off x="276225" y="4642485"/>
            <a:ext cx="3156639" cy="194310"/>
          </a:xfrm>
          <a:prstGeom prst="rect">
            <a:avLst/>
          </a:prstGeom>
          <a:noFill/>
        </p:spPr>
        <p:txBody>
          <a:bodyPr wrap="none" lIns="0" rIns="0" tIns="0" bIns="0">
            <a:spAutoFit/>
          </a:bodyPr>
          <a:lstStyle/>
          <a:p>
            <a:r>
              <a:rPr sz="1150" b="0">
                <a:solidFill>
                  <a:srgbClr val="2E2E2E"/>
                </a:solidFill>
                <a:latin typeface="Calibri"/>
              </a:rPr>
              <a:t>segment is expected to witness the highest CAGR of</a:t>
            </a:r>
          </a:p>
        </p:txBody>
      </p:sp>
      <p:pic>
        <p:nvPicPr>
          <p:cNvPr id="25" name="Picture 24" descr="lock.png"/>
          <p:cNvPicPr>
            <a:picLocks noChangeAspect="1"/>
          </p:cNvPicPr>
          <p:nvPr/>
        </p:nvPicPr>
        <p:blipFill>
          <a:blip r:embed="rId4"/>
          <a:stretch>
            <a:fillRect/>
          </a:stretch>
        </p:blipFill>
        <p:spPr>
          <a:xfrm>
            <a:off x="3382018" y="4632261"/>
            <a:ext cx="134549" cy="195707"/>
          </a:xfrm>
          <a:prstGeom prst="rect">
            <a:avLst/>
          </a:prstGeom>
        </p:spPr>
      </p:pic>
      <p:sp>
        <p:nvSpPr>
          <p:cNvPr id="26" name="TextBox 25"/>
          <p:cNvSpPr txBox="1"/>
          <p:nvPr/>
        </p:nvSpPr>
        <p:spPr>
          <a:xfrm>
            <a:off x="3557127" y="464248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4870322"/>
            <a:ext cx="6770823" cy="194310"/>
          </a:xfrm>
          <a:prstGeom prst="rect">
            <a:avLst/>
          </a:prstGeom>
          <a:noFill/>
        </p:spPr>
        <p:txBody>
          <a:bodyPr wrap="none" lIns="0" rIns="0" tIns="0" bIns="0">
            <a:spAutoFit/>
          </a:bodyPr>
          <a:lstStyle/>
          <a:p>
            <a:r>
              <a:rPr sz="1150" b="0">
                <a:solidFill>
                  <a:srgbClr val="2E2E2E"/>
                </a:solidFill>
                <a:latin typeface="Calibri"/>
              </a:rPr>
              <a:t>In terms of value share by technology, the digital fabrication segment is expected to dominate the market, losing</a:t>
            </a:r>
          </a:p>
        </p:txBody>
      </p:sp>
      <p:pic>
        <p:nvPicPr>
          <p:cNvPr id="28" name="Picture 27" descr="lock.png"/>
          <p:cNvPicPr>
            <a:picLocks noChangeAspect="1"/>
          </p:cNvPicPr>
          <p:nvPr/>
        </p:nvPicPr>
        <p:blipFill>
          <a:blip r:embed="rId4"/>
          <a:stretch>
            <a:fillRect/>
          </a:stretch>
        </p:blipFill>
        <p:spPr>
          <a:xfrm>
            <a:off x="6996202" y="4860099"/>
            <a:ext cx="134549" cy="195707"/>
          </a:xfrm>
          <a:prstGeom prst="rect">
            <a:avLst/>
          </a:prstGeom>
        </p:spPr>
      </p:pic>
      <p:sp>
        <p:nvSpPr>
          <p:cNvPr id="29" name="TextBox 28"/>
          <p:cNvSpPr txBox="1"/>
          <p:nvPr/>
        </p:nvSpPr>
        <p:spPr>
          <a:xfrm>
            <a:off x="7171312" y="487032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8566455" y="4860099"/>
            <a:ext cx="134549" cy="195707"/>
          </a:xfrm>
          <a:prstGeom prst="rect">
            <a:avLst/>
          </a:prstGeom>
        </p:spPr>
      </p:pic>
      <p:sp>
        <p:nvSpPr>
          <p:cNvPr id="31" name="TextBox 30"/>
          <p:cNvSpPr txBox="1"/>
          <p:nvPr/>
        </p:nvSpPr>
        <p:spPr>
          <a:xfrm>
            <a:off x="8741564" y="487032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Technology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Technology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600905"/>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259614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51994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Conventional Fabrication</a:t>
            </a:r>
          </a:p>
        </p:txBody>
      </p:sp>
      <p:sp>
        <p:nvSpPr>
          <p:cNvPr id="19" name="BPS Value 1"/>
          <p:cNvSpPr txBox="1"/>
          <p:nvPr/>
        </p:nvSpPr>
        <p:spPr>
          <a:xfrm>
            <a:off x="6896100" y="2581855"/>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4887096"/>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488233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480613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Digital Fabrication</a:t>
            </a:r>
          </a:p>
        </p:txBody>
      </p:sp>
      <p:sp>
        <p:nvSpPr>
          <p:cNvPr id="23" name="BPS Value 2"/>
          <p:cNvSpPr txBox="1"/>
          <p:nvPr/>
        </p:nvSpPr>
        <p:spPr>
          <a:xfrm>
            <a:off x="6896100" y="4868046"/>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4" name="Rounded Rectangle 2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Technology</a:t>
            </a:r>
          </a:p>
        </p:txBody>
      </p:sp>
      <p:sp>
        <p:nvSpPr>
          <p:cNvPr id="26" name="Rectangle 2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8" name="TextBox 2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9" name="Picture 28" descr="lock.png"/>
          <p:cNvPicPr>
            <a:picLocks noChangeAspect="1"/>
          </p:cNvPicPr>
          <p:nvPr/>
        </p:nvPicPr>
        <p:blipFill>
          <a:blip r:embed="rId5"/>
          <a:stretch>
            <a:fillRect/>
          </a:stretch>
        </p:blipFill>
        <p:spPr>
          <a:xfrm>
            <a:off x="2557843" y="3833622"/>
            <a:ext cx="275034" cy="400050"/>
          </a:xfrm>
          <a:prstGeom prst="rect">
            <a:avLst/>
          </a:prstGeom>
        </p:spPr>
      </p:pic>
      <p:sp>
        <p:nvSpPr>
          <p:cNvPr id="30" name="TextBox 29"/>
          <p:cNvSpPr txBox="1"/>
          <p:nvPr/>
        </p:nvSpPr>
        <p:spPr>
          <a:xfrm>
            <a:off x="7829550" y="1400175"/>
            <a:ext cx="3861804" cy="194310"/>
          </a:xfrm>
          <a:prstGeom prst="rect">
            <a:avLst/>
          </a:prstGeom>
          <a:noFill/>
        </p:spPr>
        <p:txBody>
          <a:bodyPr wrap="none" lIns="0" rIns="0" tIns="0" bIns="0">
            <a:spAutoFit/>
          </a:bodyPr>
          <a:lstStyle/>
          <a:p>
            <a:r>
              <a:rPr sz="1150" b="0">
                <a:solidFill>
                  <a:srgbClr val="2E2E2E"/>
                </a:solidFill>
                <a:latin typeface="Calibri"/>
              </a:rPr>
              <a:t>Among removable partial dentures by technology, conventional</a:t>
            </a:r>
          </a:p>
        </p:txBody>
      </p:sp>
      <p:sp>
        <p:nvSpPr>
          <p:cNvPr id="31" name="TextBox 30"/>
          <p:cNvSpPr txBox="1"/>
          <p:nvPr/>
        </p:nvSpPr>
        <p:spPr>
          <a:xfrm>
            <a:off x="7829550" y="1575435"/>
            <a:ext cx="3833831" cy="194310"/>
          </a:xfrm>
          <a:prstGeom prst="rect">
            <a:avLst/>
          </a:prstGeom>
          <a:noFill/>
        </p:spPr>
        <p:txBody>
          <a:bodyPr wrap="none" lIns="0" rIns="0" tIns="0" bIns="0">
            <a:spAutoFit/>
          </a:bodyPr>
          <a:lstStyle/>
          <a:p>
            <a:r>
              <a:rPr sz="1150" b="0">
                <a:solidFill>
                  <a:srgbClr val="2E2E2E"/>
                </a:solidFill>
                <a:latin typeface="Calibri"/>
              </a:rPr>
              <a:t>fabrication segment is expected to witness the highest CAGR of</a:t>
            </a:r>
          </a:p>
        </p:txBody>
      </p:sp>
      <p:pic>
        <p:nvPicPr>
          <p:cNvPr id="32" name="Picture 31" descr="lock.png"/>
          <p:cNvPicPr>
            <a:picLocks noChangeAspect="1"/>
          </p:cNvPicPr>
          <p:nvPr/>
        </p:nvPicPr>
        <p:blipFill>
          <a:blip r:embed="rId5"/>
          <a:stretch>
            <a:fillRect/>
          </a:stretch>
        </p:blipFill>
        <p:spPr>
          <a:xfrm>
            <a:off x="11612535" y="1565211"/>
            <a:ext cx="134549" cy="195707"/>
          </a:xfrm>
          <a:prstGeom prst="rect">
            <a:avLst/>
          </a:prstGeom>
        </p:spPr>
      </p:pic>
      <p:sp>
        <p:nvSpPr>
          <p:cNvPr id="33" name="TextBox 32"/>
          <p:cNvSpPr txBox="1"/>
          <p:nvPr/>
        </p:nvSpPr>
        <p:spPr>
          <a:xfrm>
            <a:off x="7829550" y="175069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34" name="TextBox 33"/>
          <p:cNvSpPr txBox="1"/>
          <p:nvPr/>
        </p:nvSpPr>
        <p:spPr>
          <a:xfrm>
            <a:off x="7829550" y="1978533"/>
            <a:ext cx="3649290" cy="194310"/>
          </a:xfrm>
          <a:prstGeom prst="rect">
            <a:avLst/>
          </a:prstGeom>
          <a:noFill/>
        </p:spPr>
        <p:txBody>
          <a:bodyPr wrap="none" lIns="0" rIns="0" tIns="0" bIns="0">
            <a:spAutoFit/>
          </a:bodyPr>
          <a:lstStyle/>
          <a:p>
            <a:r>
              <a:rPr sz="1150" b="0">
                <a:solidFill>
                  <a:srgbClr val="2E2E2E"/>
                </a:solidFill>
                <a:latin typeface="Calibri"/>
              </a:rPr>
              <a:t>In terms of value share by technology, the digital fabrication</a:t>
            </a:r>
          </a:p>
        </p:txBody>
      </p:sp>
      <p:sp>
        <p:nvSpPr>
          <p:cNvPr id="35" name="TextBox 34"/>
          <p:cNvSpPr txBox="1"/>
          <p:nvPr/>
        </p:nvSpPr>
        <p:spPr>
          <a:xfrm>
            <a:off x="7829550" y="2153793"/>
            <a:ext cx="3164644" cy="194310"/>
          </a:xfrm>
          <a:prstGeom prst="rect">
            <a:avLst/>
          </a:prstGeom>
          <a:noFill/>
        </p:spPr>
        <p:txBody>
          <a:bodyPr wrap="none" lIns="0" rIns="0" tIns="0" bIns="0">
            <a:spAutoFit/>
          </a:bodyPr>
          <a:lstStyle/>
          <a:p>
            <a:r>
              <a:rPr sz="1150" b="0">
                <a:solidFill>
                  <a:srgbClr val="2E2E2E"/>
                </a:solidFill>
                <a:latin typeface="Calibri"/>
              </a:rPr>
              <a:t>segment is expected to dominate the market, losing</a:t>
            </a:r>
          </a:p>
        </p:txBody>
      </p:sp>
      <p:pic>
        <p:nvPicPr>
          <p:cNvPr id="36" name="Picture 35" descr="lock.png"/>
          <p:cNvPicPr>
            <a:picLocks noChangeAspect="1"/>
          </p:cNvPicPr>
          <p:nvPr/>
        </p:nvPicPr>
        <p:blipFill>
          <a:blip r:embed="rId5"/>
          <a:stretch>
            <a:fillRect/>
          </a:stretch>
        </p:blipFill>
        <p:spPr>
          <a:xfrm>
            <a:off x="10943347" y="2143569"/>
            <a:ext cx="134549" cy="195707"/>
          </a:xfrm>
          <a:prstGeom prst="rect">
            <a:avLst/>
          </a:prstGeom>
        </p:spPr>
      </p:pic>
      <p:sp>
        <p:nvSpPr>
          <p:cNvPr id="37" name="TextBox 36"/>
          <p:cNvSpPr txBox="1"/>
          <p:nvPr/>
        </p:nvSpPr>
        <p:spPr>
          <a:xfrm>
            <a:off x="11118457" y="2153793"/>
            <a:ext cx="554856" cy="194310"/>
          </a:xfrm>
          <a:prstGeom prst="rect">
            <a:avLst/>
          </a:prstGeom>
          <a:noFill/>
        </p:spPr>
        <p:txBody>
          <a:bodyPr wrap="none" lIns="0" rIns="0" tIns="0" bIns="0">
            <a:spAutoFit/>
          </a:bodyPr>
          <a:lstStyle/>
          <a:p>
            <a:r>
              <a:rPr sz="1150" b="0">
                <a:solidFill>
                  <a:srgbClr val="2E2E2E"/>
                </a:solidFill>
                <a:latin typeface="Calibri"/>
              </a:rPr>
              <a:t>BPS and</a:t>
            </a:r>
          </a:p>
        </p:txBody>
      </p:sp>
      <p:sp>
        <p:nvSpPr>
          <p:cNvPr id="38" name="TextBox 37"/>
          <p:cNvSpPr txBox="1"/>
          <p:nvPr/>
        </p:nvSpPr>
        <p:spPr>
          <a:xfrm>
            <a:off x="7829550" y="2329053"/>
            <a:ext cx="934243" cy="194310"/>
          </a:xfrm>
          <a:prstGeom prst="rect">
            <a:avLst/>
          </a:prstGeom>
          <a:noFill/>
        </p:spPr>
        <p:txBody>
          <a:bodyPr wrap="none" lIns="0" rIns="0" tIns="0" bIns="0">
            <a:spAutoFit/>
          </a:bodyPr>
          <a:lstStyle/>
          <a:p>
            <a:r>
              <a:rPr sz="1150" b="0">
                <a:solidFill>
                  <a:srgbClr val="2E2E2E"/>
                </a:solidFill>
                <a:latin typeface="Calibri"/>
              </a:rPr>
              <a:t>accounting for</a:t>
            </a:r>
          </a:p>
        </p:txBody>
      </p:sp>
      <p:pic>
        <p:nvPicPr>
          <p:cNvPr id="39" name="Picture 38" descr="lock.png"/>
          <p:cNvPicPr>
            <a:picLocks noChangeAspect="1"/>
          </p:cNvPicPr>
          <p:nvPr/>
        </p:nvPicPr>
        <p:blipFill>
          <a:blip r:embed="rId5"/>
          <a:stretch>
            <a:fillRect/>
          </a:stretch>
        </p:blipFill>
        <p:spPr>
          <a:xfrm>
            <a:off x="8712947" y="2318829"/>
            <a:ext cx="134549" cy="195707"/>
          </a:xfrm>
          <a:prstGeom prst="rect">
            <a:avLst/>
          </a:prstGeom>
        </p:spPr>
      </p:pic>
      <p:sp>
        <p:nvSpPr>
          <p:cNvPr id="40" name="TextBox 39"/>
          <p:cNvSpPr txBox="1"/>
          <p:nvPr/>
        </p:nvSpPr>
        <p:spPr>
          <a:xfrm>
            <a:off x="8888056" y="232905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1"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Technology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Technology,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2219326"/>
        </p:xfrm>
        <a:graphic>
          <a:graphicData uri="http://schemas.openxmlformats.org/drawingml/2006/table">
            <a:tbl>
              <a:tblPr>
                <a:tableStyleId>{5C22544A-7EE6-4342-B048-85BDC9FD1C3A}</a:tableStyleId>
              </a:tblPr>
              <a:tblGrid>
                <a:gridCol w="2674905"/>
                <a:gridCol w="614153"/>
                <a:gridCol w="614153"/>
                <a:gridCol w="614153"/>
                <a:gridCol w="614153"/>
                <a:gridCol w="614153"/>
                <a:gridCol w="614153"/>
                <a:gridCol w="614153"/>
                <a:gridCol w="614153"/>
                <a:gridCol w="614153"/>
                <a:gridCol w="614153"/>
                <a:gridCol w="614153"/>
                <a:gridCol w="614153"/>
                <a:gridCol w="614153"/>
                <a:gridCol w="614153"/>
                <a:gridCol w="614153"/>
              </a:tblGrid>
              <a:tr h="246126">
                <a:tc>
                  <a:txBody>
                    <a:bodyPr wrap="none"/>
                    <a:lstStyle/>
                    <a:p>
                      <a:pPr algn="l"/>
                      <a:r>
                        <a:rPr sz="1100" b="1">
                          <a:solidFill>
                            <a:srgbClr val="0B2E4A"/>
                          </a:solidFill>
                          <a:latin typeface="Calibri"/>
                        </a:rPr>
                        <a:t>Technology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650">
                <a:tc>
                  <a:txBody>
                    <a:bodyPr wrap="none"/>
                    <a:lstStyle/>
                    <a:p>
                      <a:pPr algn="l"/>
                      <a:r>
                        <a:rPr sz="1100" b="1">
                          <a:solidFill>
                            <a:srgbClr val="2E2E2E"/>
                          </a:solidFill>
                          <a:latin typeface="Calibri"/>
                        </a:rPr>
                        <a:t>Conventional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Metal Casting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Heat-cured / Compression Processing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Injection Molding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Digital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CAD/CAM Milling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3D Printing / Additive Manufacturing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Hybrid Digital Fabrication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467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800475"/>
            <a:ext cx="11906250" cy="2828925"/>
          </a:xfrm>
          <a:prstGeom prst="roundRect">
            <a:avLst>
              <a:gd name="adj" fmla="val 26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857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Technology (%)  ·  light = lower, dark = higher growth</a:t>
            </a:r>
          </a:p>
        </p:txBody>
      </p:sp>
      <p:sp>
        <p:nvSpPr>
          <p:cNvPr id="17" name="TextBox 16"/>
          <p:cNvSpPr txBox="1"/>
          <p:nvPr/>
        </p:nvSpPr>
        <p:spPr>
          <a:xfrm>
            <a:off x="185737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4229100"/>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Conventional Fabrication</a:t>
            </a:r>
          </a:p>
        </p:txBody>
      </p:sp>
      <p:sp>
        <p:nvSpPr>
          <p:cNvPr id="33" name="Rectangle 32"/>
          <p:cNvSpPr/>
          <p:nvPr/>
        </p:nvSpPr>
        <p:spPr>
          <a:xfrm>
            <a:off x="1857375" y="4229100"/>
            <a:ext cx="643890" cy="292894"/>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4229100"/>
            <a:ext cx="643890" cy="292894"/>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4229100"/>
            <a:ext cx="643890" cy="292894"/>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4229100"/>
            <a:ext cx="643890" cy="292894"/>
          </a:xfrm>
          <a:prstGeom prst="rect">
            <a:avLst/>
          </a:prstGeom>
          <a:solidFill>
            <a:srgbClr val="3F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4229100"/>
            <a:ext cx="643890" cy="292894"/>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4229100"/>
            <a:ext cx="643890" cy="292894"/>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4229100"/>
            <a:ext cx="643890" cy="292894"/>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4229100"/>
            <a:ext cx="643890" cy="292894"/>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4229100"/>
            <a:ext cx="643890" cy="292894"/>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4229100"/>
            <a:ext cx="643890" cy="292894"/>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4229100"/>
            <a:ext cx="643890" cy="292894"/>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4229100"/>
            <a:ext cx="643890" cy="292894"/>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4229100"/>
            <a:ext cx="643890" cy="292894"/>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4229100"/>
            <a:ext cx="643890" cy="292894"/>
          </a:xfrm>
          <a:prstGeom prst="rect">
            <a:avLst/>
          </a:prstGeom>
          <a:solidFill>
            <a:srgbClr val="3B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4229100"/>
            <a:ext cx="643890" cy="292894"/>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521994"/>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Metal Casting</a:t>
            </a:r>
          </a:p>
        </p:txBody>
      </p:sp>
      <p:sp>
        <p:nvSpPr>
          <p:cNvPr id="49" name="Rectangle 48"/>
          <p:cNvSpPr/>
          <p:nvPr/>
        </p:nvSpPr>
        <p:spPr>
          <a:xfrm>
            <a:off x="1857375" y="4521994"/>
            <a:ext cx="643890" cy="292894"/>
          </a:xfrm>
          <a:prstGeom prst="rect">
            <a:avLst/>
          </a:prstGeom>
          <a:solidFill>
            <a:srgbClr val="21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521994"/>
            <a:ext cx="643890" cy="292894"/>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521994"/>
            <a:ext cx="643890" cy="292894"/>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521994"/>
            <a:ext cx="643890" cy="292894"/>
          </a:xfrm>
          <a:prstGeom prst="rect">
            <a:avLst/>
          </a:prstGeom>
          <a:solidFill>
            <a:srgbClr val="0E6B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521994"/>
            <a:ext cx="643890" cy="292894"/>
          </a:xfrm>
          <a:prstGeom prst="rect">
            <a:avLst/>
          </a:prstGeom>
          <a:solidFill>
            <a:srgbClr val="0D5F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521994"/>
            <a:ext cx="643890" cy="292894"/>
          </a:xfrm>
          <a:prstGeom prst="rect">
            <a:avLst/>
          </a:prstGeom>
          <a:solidFill>
            <a:srgbClr val="0D619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521994"/>
            <a:ext cx="643890" cy="292894"/>
          </a:xfrm>
          <a:prstGeom prst="rect">
            <a:avLst/>
          </a:prstGeom>
          <a:solidFill>
            <a:srgbClr val="0D659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521994"/>
            <a:ext cx="643890" cy="292894"/>
          </a:xfrm>
          <a:prstGeom prst="rect">
            <a:avLst/>
          </a:prstGeom>
          <a:solidFill>
            <a:srgbClr val="0E689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521994"/>
            <a:ext cx="643890" cy="292894"/>
          </a:xfrm>
          <a:prstGeom prst="rect">
            <a:avLst/>
          </a:prstGeom>
          <a:solidFill>
            <a:srgbClr val="0E6B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521994"/>
            <a:ext cx="643890" cy="292894"/>
          </a:xfrm>
          <a:prstGeom prst="rect">
            <a:avLst/>
          </a:prstGeom>
          <a:solidFill>
            <a:srgbClr val="0E6EA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521994"/>
            <a:ext cx="643890" cy="292894"/>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521994"/>
            <a:ext cx="643890" cy="292894"/>
          </a:xfrm>
          <a:prstGeom prst="rect">
            <a:avLst/>
          </a:prstGeom>
          <a:solidFill>
            <a:srgbClr val="0F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521994"/>
            <a:ext cx="643890" cy="292894"/>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521994"/>
            <a:ext cx="643890" cy="292894"/>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521994"/>
            <a:ext cx="643890" cy="292894"/>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814888"/>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Heat-cured / Compression Processing</a:t>
            </a:r>
          </a:p>
        </p:txBody>
      </p:sp>
      <p:sp>
        <p:nvSpPr>
          <p:cNvPr id="65" name="Rectangle 64"/>
          <p:cNvSpPr/>
          <p:nvPr/>
        </p:nvSpPr>
        <p:spPr>
          <a:xfrm>
            <a:off x="1857375" y="4814888"/>
            <a:ext cx="643890" cy="292894"/>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814888"/>
            <a:ext cx="643890" cy="292894"/>
          </a:xfrm>
          <a:prstGeom prst="rect">
            <a:avLst/>
          </a:prstGeom>
          <a:solidFill>
            <a:srgbClr val="0C4D7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814888"/>
            <a:ext cx="643890" cy="292894"/>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814888"/>
            <a:ext cx="643890" cy="292894"/>
          </a:xfrm>
          <a:prstGeom prst="rect">
            <a:avLst/>
          </a:prstGeom>
          <a:solidFill>
            <a:srgbClr val="0B39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814888"/>
            <a:ext cx="643890" cy="29289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814888"/>
            <a:ext cx="643890" cy="292894"/>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814888"/>
            <a:ext cx="643890" cy="292894"/>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814888"/>
            <a:ext cx="643890" cy="292894"/>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814888"/>
            <a:ext cx="643890" cy="292894"/>
          </a:xfrm>
          <a:prstGeom prst="rect">
            <a:avLst/>
          </a:prstGeom>
          <a:solidFill>
            <a:srgbClr val="0C42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814888"/>
            <a:ext cx="643890" cy="292894"/>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814888"/>
            <a:ext cx="643890" cy="292894"/>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814888"/>
            <a:ext cx="643890" cy="292894"/>
          </a:xfrm>
          <a:prstGeom prst="rect">
            <a:avLst/>
          </a:prstGeom>
          <a:solidFill>
            <a:srgbClr val="0C50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814888"/>
            <a:ext cx="643890" cy="292894"/>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814888"/>
            <a:ext cx="643890" cy="292894"/>
          </a:xfrm>
          <a:prstGeom prst="rect">
            <a:avLst/>
          </a:prstGeom>
          <a:solidFill>
            <a:srgbClr val="0D588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814888"/>
            <a:ext cx="643890" cy="292894"/>
          </a:xfrm>
          <a:prstGeom prst="rect">
            <a:avLst/>
          </a:prstGeom>
          <a:solidFill>
            <a:srgbClr val="0D5C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107781"/>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Injection Molding</a:t>
            </a:r>
          </a:p>
        </p:txBody>
      </p:sp>
      <p:sp>
        <p:nvSpPr>
          <p:cNvPr id="81" name="Rectangle 80"/>
          <p:cNvSpPr/>
          <p:nvPr/>
        </p:nvSpPr>
        <p:spPr>
          <a:xfrm>
            <a:off x="1857375" y="5107781"/>
            <a:ext cx="643890" cy="292894"/>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107781"/>
            <a:ext cx="643890" cy="29289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107781"/>
            <a:ext cx="643890" cy="292894"/>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107781"/>
            <a:ext cx="643890" cy="292894"/>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107781"/>
            <a:ext cx="643890" cy="292894"/>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107781"/>
            <a:ext cx="643890" cy="292894"/>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107781"/>
            <a:ext cx="643890" cy="292894"/>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107781"/>
            <a:ext cx="643890" cy="292894"/>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107781"/>
            <a:ext cx="643890" cy="292894"/>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107781"/>
            <a:ext cx="643890" cy="292894"/>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107781"/>
            <a:ext cx="643890" cy="292894"/>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107781"/>
            <a:ext cx="643890" cy="292894"/>
          </a:xfrm>
          <a:prstGeom prst="rect">
            <a:avLst/>
          </a:prstGeom>
          <a:solidFill>
            <a:srgbClr val="B3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107781"/>
            <a:ext cx="643890" cy="292894"/>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107781"/>
            <a:ext cx="643890" cy="292894"/>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107781"/>
            <a:ext cx="643890" cy="292894"/>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400675"/>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Digital Fabrication</a:t>
            </a:r>
          </a:p>
        </p:txBody>
      </p:sp>
      <p:sp>
        <p:nvSpPr>
          <p:cNvPr id="97" name="Rectangle 96"/>
          <p:cNvSpPr/>
          <p:nvPr/>
        </p:nvSpPr>
        <p:spPr>
          <a:xfrm>
            <a:off x="1857375" y="5400675"/>
            <a:ext cx="643890" cy="292894"/>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400675"/>
            <a:ext cx="643890" cy="292894"/>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400675"/>
            <a:ext cx="643890" cy="292894"/>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400675"/>
            <a:ext cx="643890" cy="292894"/>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400675"/>
            <a:ext cx="643890" cy="292894"/>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400675"/>
            <a:ext cx="643890" cy="292894"/>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400675"/>
            <a:ext cx="643890" cy="292894"/>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400675"/>
            <a:ext cx="643890" cy="292894"/>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400675"/>
            <a:ext cx="643890" cy="292894"/>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400675"/>
            <a:ext cx="643890" cy="292894"/>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400675"/>
            <a:ext cx="643890" cy="292894"/>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400675"/>
            <a:ext cx="643890" cy="292894"/>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400675"/>
            <a:ext cx="643890" cy="292894"/>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400675"/>
            <a:ext cx="643890" cy="292894"/>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400675"/>
            <a:ext cx="643890" cy="292894"/>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693569"/>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CAD/CAM Milling</a:t>
            </a:r>
          </a:p>
        </p:txBody>
      </p:sp>
      <p:sp>
        <p:nvSpPr>
          <p:cNvPr id="113" name="Rectangle 112"/>
          <p:cNvSpPr/>
          <p:nvPr/>
        </p:nvSpPr>
        <p:spPr>
          <a:xfrm>
            <a:off x="1857375" y="5693569"/>
            <a:ext cx="643890" cy="292894"/>
          </a:xfrm>
          <a:prstGeom prst="rect">
            <a:avLst/>
          </a:prstGeom>
          <a:solidFill>
            <a:srgbClr val="D8E8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5693569"/>
            <a:ext cx="643890" cy="292894"/>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5693569"/>
            <a:ext cx="643890" cy="29289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5693569"/>
            <a:ext cx="643890" cy="292894"/>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5693569"/>
            <a:ext cx="643890" cy="292894"/>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5693569"/>
            <a:ext cx="643890" cy="292894"/>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5693569"/>
            <a:ext cx="643890" cy="292894"/>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5693569"/>
            <a:ext cx="643890" cy="292894"/>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5693569"/>
            <a:ext cx="643890" cy="292894"/>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5693569"/>
            <a:ext cx="643890" cy="292894"/>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5693569"/>
            <a:ext cx="643890" cy="292894"/>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5693569"/>
            <a:ext cx="643890" cy="292894"/>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5693569"/>
            <a:ext cx="643890" cy="29289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5693569"/>
            <a:ext cx="643890" cy="292894"/>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5693569"/>
            <a:ext cx="643890" cy="292894"/>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5986462"/>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3D Printing / Additive Manufacturing</a:t>
            </a:r>
          </a:p>
        </p:txBody>
      </p:sp>
      <p:sp>
        <p:nvSpPr>
          <p:cNvPr id="129" name="Rectangle 128"/>
          <p:cNvSpPr/>
          <p:nvPr/>
        </p:nvSpPr>
        <p:spPr>
          <a:xfrm>
            <a:off x="1857375" y="5986462"/>
            <a:ext cx="643890" cy="29289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501265" y="5986462"/>
            <a:ext cx="643890" cy="292894"/>
          </a:xfrm>
          <a:prstGeom prst="rect">
            <a:avLst/>
          </a:prstGeom>
          <a:solidFill>
            <a:srgbClr val="C1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145155" y="5986462"/>
            <a:ext cx="643890" cy="292894"/>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789045" y="5986462"/>
            <a:ext cx="643890" cy="292894"/>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432935" y="5986462"/>
            <a:ext cx="643890" cy="292894"/>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076825" y="5986462"/>
            <a:ext cx="643890" cy="292894"/>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720715" y="5986462"/>
            <a:ext cx="643890" cy="292894"/>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364605" y="5986462"/>
            <a:ext cx="643890" cy="292894"/>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008495" y="5986462"/>
            <a:ext cx="643890" cy="292894"/>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652385" y="5986462"/>
            <a:ext cx="643890" cy="292894"/>
          </a:xfrm>
          <a:prstGeom prst="rect">
            <a:avLst/>
          </a:prstGeom>
          <a:solidFill>
            <a:srgbClr val="A7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96275" y="5986462"/>
            <a:ext cx="643890" cy="292894"/>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40165" y="5986462"/>
            <a:ext cx="643890" cy="292894"/>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84055" y="5986462"/>
            <a:ext cx="643890" cy="29289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27945" y="5986462"/>
            <a:ext cx="643890" cy="29289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71835" y="5986462"/>
            <a:ext cx="643890" cy="292894"/>
          </a:xfrm>
          <a:prstGeom prst="rect">
            <a:avLst/>
          </a:prstGeom>
          <a:solidFill>
            <a:srgbClr val="A9C9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238125" y="6279356"/>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Hybrid Digital Fabrication</a:t>
            </a:r>
          </a:p>
        </p:txBody>
      </p:sp>
      <p:sp>
        <p:nvSpPr>
          <p:cNvPr id="145" name="Rectangle 144"/>
          <p:cNvSpPr/>
          <p:nvPr/>
        </p:nvSpPr>
        <p:spPr>
          <a:xfrm>
            <a:off x="1857375" y="6279356"/>
            <a:ext cx="643890" cy="292894"/>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2501265" y="6279356"/>
            <a:ext cx="643890" cy="292894"/>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3145155" y="6279356"/>
            <a:ext cx="643890" cy="292894"/>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3789045" y="6279356"/>
            <a:ext cx="643890" cy="29289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4432935" y="6279356"/>
            <a:ext cx="643890" cy="292894"/>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5076825" y="6279356"/>
            <a:ext cx="643890" cy="292894"/>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5720715" y="6279356"/>
            <a:ext cx="643890" cy="29289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6364605" y="6279356"/>
            <a:ext cx="643890" cy="29289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7008495" y="6279356"/>
            <a:ext cx="643890" cy="292894"/>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7652385" y="6279356"/>
            <a:ext cx="643890" cy="292894"/>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8296275" y="6279356"/>
            <a:ext cx="643890" cy="292894"/>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8940165" y="6279356"/>
            <a:ext cx="643890" cy="292894"/>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9584055" y="6279356"/>
            <a:ext cx="643890" cy="292894"/>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0227945" y="6279356"/>
            <a:ext cx="643890" cy="292894"/>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0871835" y="6279356"/>
            <a:ext cx="643890" cy="29289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4267200"/>
            <a:ext cx="104775" cy="6429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4323874"/>
            <a:ext cx="104775" cy="64294"/>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4380548"/>
            <a:ext cx="104775" cy="64294"/>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4437221"/>
            <a:ext cx="104775" cy="64294"/>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4493895"/>
            <a:ext cx="104775" cy="64294"/>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4550569"/>
            <a:ext cx="104775" cy="64294"/>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4607242"/>
            <a:ext cx="104775" cy="64294"/>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4663916"/>
            <a:ext cx="104775" cy="64294"/>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4720590"/>
            <a:ext cx="104775" cy="64294"/>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4777264"/>
            <a:ext cx="104775" cy="64294"/>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4833938"/>
            <a:ext cx="104775" cy="64294"/>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4890611"/>
            <a:ext cx="104775" cy="64294"/>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4947285"/>
            <a:ext cx="104775" cy="64294"/>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5003959"/>
            <a:ext cx="104775" cy="64294"/>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5060632"/>
            <a:ext cx="104775" cy="64294"/>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5117306"/>
            <a:ext cx="104775" cy="64294"/>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5173980"/>
            <a:ext cx="104775" cy="64294"/>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5230654"/>
            <a:ext cx="104775" cy="64294"/>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5287328"/>
            <a:ext cx="104775" cy="64294"/>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5344001"/>
            <a:ext cx="104775" cy="64294"/>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5400675"/>
            <a:ext cx="104775" cy="64294"/>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5457349"/>
            <a:ext cx="104775" cy="64294"/>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5514022"/>
            <a:ext cx="104775" cy="64294"/>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5570696"/>
            <a:ext cx="104775" cy="64294"/>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5627370"/>
            <a:ext cx="104775" cy="64294"/>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1572875" y="5684044"/>
            <a:ext cx="104775" cy="64294"/>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1572875" y="5740718"/>
            <a:ext cx="104775" cy="64294"/>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Rectangle 186"/>
          <p:cNvSpPr/>
          <p:nvPr/>
        </p:nvSpPr>
        <p:spPr>
          <a:xfrm>
            <a:off x="11572875" y="5797391"/>
            <a:ext cx="104775" cy="64294"/>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Rectangle 187"/>
          <p:cNvSpPr/>
          <p:nvPr/>
        </p:nvSpPr>
        <p:spPr>
          <a:xfrm>
            <a:off x="11572875" y="5854065"/>
            <a:ext cx="104775" cy="64294"/>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11572875" y="5910739"/>
            <a:ext cx="104775" cy="64294"/>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11572875" y="5967412"/>
            <a:ext cx="104775" cy="64294"/>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11572875" y="6024086"/>
            <a:ext cx="104775" cy="64294"/>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11572875" y="6080760"/>
            <a:ext cx="104775" cy="64294"/>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11572875" y="6137434"/>
            <a:ext cx="104775" cy="64294"/>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11572875" y="6194108"/>
            <a:ext cx="104775" cy="64294"/>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11572875" y="6250781"/>
            <a:ext cx="104775" cy="64294"/>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11572875" y="6307455"/>
            <a:ext cx="104775" cy="64294"/>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11572875" y="6364129"/>
            <a:ext cx="104775" cy="64294"/>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11572875" y="6420802"/>
            <a:ext cx="104775" cy="64294"/>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11572875" y="6477476"/>
            <a:ext cx="104775" cy="64294"/>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11572875" y="4267200"/>
            <a:ext cx="104775" cy="22669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TextBox 200"/>
          <p:cNvSpPr txBox="1"/>
          <p:nvPr/>
        </p:nvSpPr>
        <p:spPr>
          <a:xfrm>
            <a:off x="11687175" y="4200525"/>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202" name="TextBox 201"/>
          <p:cNvSpPr txBox="1"/>
          <p:nvPr/>
        </p:nvSpPr>
        <p:spPr>
          <a:xfrm>
            <a:off x="11687175" y="5334000"/>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203" name="TextBox 20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0%</a:t>
            </a:r>
          </a:p>
        </p:txBody>
      </p:sp>
      <p:sp>
        <p:nvSpPr>
          <p:cNvPr id="204" name="TextBox 20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5" name="Picture 204" descr="lock.png"/>
          <p:cNvPicPr>
            <a:picLocks noChangeAspect="1"/>
          </p:cNvPicPr>
          <p:nvPr/>
        </p:nvPicPr>
        <p:blipFill>
          <a:blip r:embed="rId4"/>
          <a:stretch>
            <a:fillRect/>
          </a:stretch>
        </p:blipFill>
        <p:spPr>
          <a:xfrm>
            <a:off x="7246762" y="2204276"/>
            <a:ext cx="366712" cy="533399"/>
          </a:xfrm>
          <a:prstGeom prst="rect">
            <a:avLst/>
          </a:prstGeom>
        </p:spPr>
      </p:pic>
    </p:spTree>
  </p:cSld>
  <p:clrMapOvr>
    <a:masterClrMapping/>
  </p:clrMapOvr>
</p:sld>
</file>

<file path=ppt/slides/slide1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Technology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Technology,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0" cy="2219326"/>
        </p:xfrm>
        <a:graphic>
          <a:graphicData uri="http://schemas.openxmlformats.org/drawingml/2006/table">
            <a:tbl>
              <a:tblPr>
                <a:tableStyleId>{5C22544A-7EE6-4342-B048-85BDC9FD1C3A}</a:tableStyleId>
              </a:tblPr>
              <a:tblGrid>
                <a:gridCol w="2674905"/>
                <a:gridCol w="614153"/>
                <a:gridCol w="614153"/>
                <a:gridCol w="614153"/>
                <a:gridCol w="614153"/>
                <a:gridCol w="614153"/>
                <a:gridCol w="614153"/>
                <a:gridCol w="614153"/>
                <a:gridCol w="614153"/>
                <a:gridCol w="614153"/>
                <a:gridCol w="614153"/>
                <a:gridCol w="614153"/>
                <a:gridCol w="614153"/>
                <a:gridCol w="614153"/>
                <a:gridCol w="614153"/>
                <a:gridCol w="614153"/>
              </a:tblGrid>
              <a:tr h="246126">
                <a:tc>
                  <a:txBody>
                    <a:bodyPr wrap="none"/>
                    <a:lstStyle/>
                    <a:p>
                      <a:pPr algn="l"/>
                      <a:r>
                        <a:rPr sz="1100" b="1">
                          <a:solidFill>
                            <a:srgbClr val="0B2E4A"/>
                          </a:solidFill>
                          <a:latin typeface="Calibri"/>
                        </a:rPr>
                        <a:t>Technology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650">
                <a:tc>
                  <a:txBody>
                    <a:bodyPr wrap="none"/>
                    <a:lstStyle/>
                    <a:p>
                      <a:pPr algn="l"/>
                      <a:r>
                        <a:rPr sz="1100" b="1">
                          <a:solidFill>
                            <a:srgbClr val="2E2E2E"/>
                          </a:solidFill>
                          <a:latin typeface="Calibri"/>
                        </a:rPr>
                        <a:t>Conventional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Metal Casting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Heat-cured / Compression Processing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Injection Molding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Digital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CAD/CAM Milling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3D Printing / Additive Manufacturing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Hybrid Digital Fabrication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467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800475"/>
            <a:ext cx="11906250" cy="2828925"/>
          </a:xfrm>
          <a:prstGeom prst="roundRect">
            <a:avLst>
              <a:gd name="adj" fmla="val 26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857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Technology (%)  ·  light = lower, dark = higher growth</a:t>
            </a:r>
          </a:p>
        </p:txBody>
      </p:sp>
      <p:sp>
        <p:nvSpPr>
          <p:cNvPr id="17" name="TextBox 16"/>
          <p:cNvSpPr txBox="1"/>
          <p:nvPr/>
        </p:nvSpPr>
        <p:spPr>
          <a:xfrm>
            <a:off x="185737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40862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4229100"/>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Conventional Fabrication</a:t>
            </a:r>
          </a:p>
        </p:txBody>
      </p:sp>
      <p:sp>
        <p:nvSpPr>
          <p:cNvPr id="33" name="Rectangle 32"/>
          <p:cNvSpPr/>
          <p:nvPr/>
        </p:nvSpPr>
        <p:spPr>
          <a:xfrm>
            <a:off x="1857375" y="4229100"/>
            <a:ext cx="643890" cy="292894"/>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4229100"/>
            <a:ext cx="643890" cy="292894"/>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4229100"/>
            <a:ext cx="643890" cy="292894"/>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4229100"/>
            <a:ext cx="643890" cy="292894"/>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4229100"/>
            <a:ext cx="643890" cy="292894"/>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4229100"/>
            <a:ext cx="643890" cy="292894"/>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4229100"/>
            <a:ext cx="643890" cy="292894"/>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4229100"/>
            <a:ext cx="643890" cy="292894"/>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4229100"/>
            <a:ext cx="643890" cy="292894"/>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4229100"/>
            <a:ext cx="643890" cy="292894"/>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4229100"/>
            <a:ext cx="643890" cy="292894"/>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4229100"/>
            <a:ext cx="643890" cy="292894"/>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4229100"/>
            <a:ext cx="643890" cy="292894"/>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4229100"/>
            <a:ext cx="643890" cy="292894"/>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4229100"/>
            <a:ext cx="643890" cy="292894"/>
          </a:xfrm>
          <a:prstGeom prst="rect">
            <a:avLst/>
          </a:prstGeom>
          <a:solidFill>
            <a:srgbClr val="4B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521994"/>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Metal Casting</a:t>
            </a:r>
          </a:p>
        </p:txBody>
      </p:sp>
      <p:sp>
        <p:nvSpPr>
          <p:cNvPr id="49" name="Rectangle 48"/>
          <p:cNvSpPr/>
          <p:nvPr/>
        </p:nvSpPr>
        <p:spPr>
          <a:xfrm>
            <a:off x="1857375" y="4521994"/>
            <a:ext cx="643890" cy="292894"/>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521994"/>
            <a:ext cx="643890" cy="292894"/>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521994"/>
            <a:ext cx="643890" cy="292894"/>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521994"/>
            <a:ext cx="643890" cy="292894"/>
          </a:xfrm>
          <a:prstGeom prst="rect">
            <a:avLst/>
          </a:prstGeom>
          <a:solidFill>
            <a:srgbClr val="0E6B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521994"/>
            <a:ext cx="643890" cy="292894"/>
          </a:xfrm>
          <a:prstGeom prst="rect">
            <a:avLst/>
          </a:prstGeom>
          <a:solidFill>
            <a:srgbClr val="0D5E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521994"/>
            <a:ext cx="643890" cy="292894"/>
          </a:xfrm>
          <a:prstGeom prst="rect">
            <a:avLst/>
          </a:prstGeom>
          <a:solidFill>
            <a:srgbClr val="0D619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521994"/>
            <a:ext cx="643890" cy="292894"/>
          </a:xfrm>
          <a:prstGeom prst="rect">
            <a:avLst/>
          </a:prstGeom>
          <a:solidFill>
            <a:srgbClr val="0D659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521994"/>
            <a:ext cx="643890" cy="292894"/>
          </a:xfrm>
          <a:prstGeom prst="rect">
            <a:avLst/>
          </a:prstGeom>
          <a:solidFill>
            <a:srgbClr val="0E689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521994"/>
            <a:ext cx="643890" cy="292894"/>
          </a:xfrm>
          <a:prstGeom prst="rect">
            <a:avLst/>
          </a:prstGeom>
          <a:solidFill>
            <a:srgbClr val="0E6B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521994"/>
            <a:ext cx="643890" cy="292894"/>
          </a:xfrm>
          <a:prstGeom prst="rect">
            <a:avLst/>
          </a:prstGeom>
          <a:solidFill>
            <a:srgbClr val="0E6FA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521994"/>
            <a:ext cx="643890" cy="292894"/>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521994"/>
            <a:ext cx="643890" cy="292894"/>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521994"/>
            <a:ext cx="643890" cy="292894"/>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521994"/>
            <a:ext cx="643890" cy="292894"/>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521994"/>
            <a:ext cx="643890" cy="292894"/>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814888"/>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Heat-cured / Compression Processing</a:t>
            </a:r>
          </a:p>
        </p:txBody>
      </p:sp>
      <p:sp>
        <p:nvSpPr>
          <p:cNvPr id="65" name="Rectangle 64"/>
          <p:cNvSpPr/>
          <p:nvPr/>
        </p:nvSpPr>
        <p:spPr>
          <a:xfrm>
            <a:off x="1857375" y="4814888"/>
            <a:ext cx="643890" cy="292894"/>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814888"/>
            <a:ext cx="643890" cy="292894"/>
          </a:xfrm>
          <a:prstGeom prst="rect">
            <a:avLst/>
          </a:prstGeom>
          <a:solidFill>
            <a:srgbClr val="0C4D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814888"/>
            <a:ext cx="643890" cy="292894"/>
          </a:xfrm>
          <a:prstGeom prst="rect">
            <a:avLst/>
          </a:prstGeom>
          <a:solidFill>
            <a:srgbClr val="0C43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814888"/>
            <a:ext cx="643890" cy="292894"/>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814888"/>
            <a:ext cx="643890" cy="292894"/>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814888"/>
            <a:ext cx="643890" cy="292894"/>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814888"/>
            <a:ext cx="643890" cy="292894"/>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814888"/>
            <a:ext cx="643890" cy="292894"/>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814888"/>
            <a:ext cx="643890" cy="292894"/>
          </a:xfrm>
          <a:prstGeom prst="rect">
            <a:avLst/>
          </a:prstGeom>
          <a:solidFill>
            <a:srgbClr val="0C42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814888"/>
            <a:ext cx="643890" cy="292894"/>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814888"/>
            <a:ext cx="643890" cy="292894"/>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814888"/>
            <a:ext cx="643890" cy="292894"/>
          </a:xfrm>
          <a:prstGeom prst="rect">
            <a:avLst/>
          </a:prstGeom>
          <a:solidFill>
            <a:srgbClr val="0D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814888"/>
            <a:ext cx="643890" cy="292894"/>
          </a:xfrm>
          <a:prstGeom prst="rect">
            <a:avLst/>
          </a:prstGeom>
          <a:solidFill>
            <a:srgbClr val="0D54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814888"/>
            <a:ext cx="643890" cy="292894"/>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814888"/>
            <a:ext cx="643890" cy="292894"/>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107781"/>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Injection Molding</a:t>
            </a:r>
          </a:p>
        </p:txBody>
      </p:sp>
      <p:sp>
        <p:nvSpPr>
          <p:cNvPr id="81" name="Rectangle 80"/>
          <p:cNvSpPr/>
          <p:nvPr/>
        </p:nvSpPr>
        <p:spPr>
          <a:xfrm>
            <a:off x="1857375" y="5107781"/>
            <a:ext cx="643890" cy="292894"/>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107781"/>
            <a:ext cx="643890" cy="29289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107781"/>
            <a:ext cx="643890" cy="292894"/>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107781"/>
            <a:ext cx="643890" cy="292894"/>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107781"/>
            <a:ext cx="643890" cy="292894"/>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107781"/>
            <a:ext cx="643890" cy="292894"/>
          </a:xfrm>
          <a:prstGeom prst="rect">
            <a:avLst/>
          </a:prstGeom>
          <a:solidFill>
            <a:srgbClr val="B0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107781"/>
            <a:ext cx="643890" cy="292894"/>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107781"/>
            <a:ext cx="643890" cy="292894"/>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107781"/>
            <a:ext cx="643890" cy="292894"/>
          </a:xfrm>
          <a:prstGeom prst="rect">
            <a:avLst/>
          </a:prstGeom>
          <a:solidFill>
            <a:srgbClr val="B1CF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107781"/>
            <a:ext cx="643890" cy="292894"/>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107781"/>
            <a:ext cx="643890" cy="292894"/>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107781"/>
            <a:ext cx="643890" cy="292894"/>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107781"/>
            <a:ext cx="643890" cy="292894"/>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107781"/>
            <a:ext cx="643890" cy="292894"/>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107781"/>
            <a:ext cx="643890" cy="292894"/>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400675"/>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Digital Fabrication</a:t>
            </a:r>
          </a:p>
        </p:txBody>
      </p:sp>
      <p:sp>
        <p:nvSpPr>
          <p:cNvPr id="97" name="Rectangle 96"/>
          <p:cNvSpPr/>
          <p:nvPr/>
        </p:nvSpPr>
        <p:spPr>
          <a:xfrm>
            <a:off x="1857375" y="5400675"/>
            <a:ext cx="643890" cy="292894"/>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400675"/>
            <a:ext cx="643890" cy="292894"/>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400675"/>
            <a:ext cx="643890" cy="292894"/>
          </a:xfrm>
          <a:prstGeom prst="rect">
            <a:avLst/>
          </a:prstGeom>
          <a:solidFill>
            <a:srgbClr val="D3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400675"/>
            <a:ext cx="643890" cy="292894"/>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400675"/>
            <a:ext cx="643890" cy="292894"/>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400675"/>
            <a:ext cx="643890" cy="292894"/>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400675"/>
            <a:ext cx="643890" cy="29289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400675"/>
            <a:ext cx="643890" cy="292894"/>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400675"/>
            <a:ext cx="643890" cy="292894"/>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400675"/>
            <a:ext cx="643890" cy="292894"/>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400675"/>
            <a:ext cx="643890" cy="292894"/>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400675"/>
            <a:ext cx="643890" cy="292894"/>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400675"/>
            <a:ext cx="643890" cy="292894"/>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400675"/>
            <a:ext cx="643890" cy="292894"/>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400675"/>
            <a:ext cx="643890" cy="292894"/>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693569"/>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CAD/CAM Milling</a:t>
            </a:r>
          </a:p>
        </p:txBody>
      </p:sp>
      <p:sp>
        <p:nvSpPr>
          <p:cNvPr id="113" name="Rectangle 112"/>
          <p:cNvSpPr/>
          <p:nvPr/>
        </p:nvSpPr>
        <p:spPr>
          <a:xfrm>
            <a:off x="1857375" y="5693569"/>
            <a:ext cx="643890" cy="292894"/>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5693569"/>
            <a:ext cx="643890" cy="292894"/>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5693569"/>
            <a:ext cx="643890" cy="292894"/>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5693569"/>
            <a:ext cx="643890" cy="292894"/>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5693569"/>
            <a:ext cx="643890" cy="292894"/>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5693569"/>
            <a:ext cx="643890" cy="292894"/>
          </a:xfrm>
          <a:prstGeom prst="rect">
            <a:avLst/>
          </a:prstGeom>
          <a:solidFill>
            <a:srgbClr val="BED5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5693569"/>
            <a:ext cx="643890" cy="292894"/>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5693569"/>
            <a:ext cx="643890" cy="292894"/>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5693569"/>
            <a:ext cx="643890" cy="292894"/>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5693569"/>
            <a:ext cx="643890" cy="292894"/>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5693569"/>
            <a:ext cx="643890" cy="292894"/>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5693569"/>
            <a:ext cx="643890" cy="292894"/>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5693569"/>
            <a:ext cx="643890" cy="292894"/>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5693569"/>
            <a:ext cx="643890" cy="292894"/>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5693569"/>
            <a:ext cx="643890" cy="292894"/>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5986462"/>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3D Printing / Additive Manufacturing</a:t>
            </a:r>
          </a:p>
        </p:txBody>
      </p:sp>
      <p:sp>
        <p:nvSpPr>
          <p:cNvPr id="129" name="Rectangle 128"/>
          <p:cNvSpPr/>
          <p:nvPr/>
        </p:nvSpPr>
        <p:spPr>
          <a:xfrm>
            <a:off x="1857375" y="5986462"/>
            <a:ext cx="643890" cy="292894"/>
          </a:xfrm>
          <a:prstGeom prst="rect">
            <a:avLst/>
          </a:prstGeom>
          <a:solidFill>
            <a:srgbClr val="CA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501265" y="5986462"/>
            <a:ext cx="643890" cy="292894"/>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145155" y="5986462"/>
            <a:ext cx="643890" cy="292894"/>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789045" y="5986462"/>
            <a:ext cx="643890" cy="292894"/>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432935" y="5986462"/>
            <a:ext cx="643890" cy="292894"/>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076825" y="5986462"/>
            <a:ext cx="643890" cy="292894"/>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720715" y="5986462"/>
            <a:ext cx="643890" cy="292894"/>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364605" y="5986462"/>
            <a:ext cx="643890" cy="292894"/>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008495" y="5986462"/>
            <a:ext cx="643890" cy="292894"/>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652385" y="5986462"/>
            <a:ext cx="643890" cy="292894"/>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96275" y="5986462"/>
            <a:ext cx="643890" cy="292894"/>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40165" y="5986462"/>
            <a:ext cx="643890" cy="292894"/>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84055" y="5986462"/>
            <a:ext cx="643890" cy="29289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27945" y="5986462"/>
            <a:ext cx="643890" cy="292894"/>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71835" y="5986462"/>
            <a:ext cx="643890" cy="292894"/>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238125" y="6279356"/>
            <a:ext cx="1590675" cy="292894"/>
          </a:xfrm>
          <a:prstGeom prst="rect">
            <a:avLst/>
          </a:prstGeom>
          <a:noFill/>
        </p:spPr>
        <p:txBody>
          <a:bodyPr wrap="square" lIns="28575" rIns="28575" tIns="9525" bIns="9525" anchor="ctr">
            <a:spAutoFit/>
          </a:bodyPr>
          <a:lstStyle/>
          <a:p>
            <a:pPr algn="l"/>
            <a:r>
              <a:rPr sz="1100" b="0">
                <a:solidFill>
                  <a:srgbClr val="2E2E2E"/>
                </a:solidFill>
                <a:latin typeface="Calibri"/>
              </a:rPr>
              <a:t>– Hybrid Digital Fabrication</a:t>
            </a:r>
          </a:p>
        </p:txBody>
      </p:sp>
      <p:sp>
        <p:nvSpPr>
          <p:cNvPr id="145" name="Rectangle 144"/>
          <p:cNvSpPr/>
          <p:nvPr/>
        </p:nvSpPr>
        <p:spPr>
          <a:xfrm>
            <a:off x="1857375" y="6279356"/>
            <a:ext cx="643890" cy="292894"/>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2501265" y="6279356"/>
            <a:ext cx="643890" cy="292894"/>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3145155" y="6279356"/>
            <a:ext cx="643890" cy="292894"/>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3789045" y="6279356"/>
            <a:ext cx="643890" cy="29289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4432935" y="6279356"/>
            <a:ext cx="643890" cy="292894"/>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5076825" y="6279356"/>
            <a:ext cx="643890" cy="292894"/>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5720715" y="6279356"/>
            <a:ext cx="643890" cy="292894"/>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6364605" y="6279356"/>
            <a:ext cx="643890" cy="292894"/>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7008495" y="6279356"/>
            <a:ext cx="643890" cy="292894"/>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7652385" y="6279356"/>
            <a:ext cx="643890" cy="292894"/>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8296275" y="6279356"/>
            <a:ext cx="643890" cy="292894"/>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8940165" y="6279356"/>
            <a:ext cx="643890" cy="292894"/>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9584055" y="6279356"/>
            <a:ext cx="643890" cy="292894"/>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0227945" y="6279356"/>
            <a:ext cx="643890" cy="292894"/>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0871835" y="6279356"/>
            <a:ext cx="643890" cy="292894"/>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11572875" y="4267200"/>
            <a:ext cx="104775" cy="6429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11572875" y="4323874"/>
            <a:ext cx="104775" cy="64294"/>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11572875" y="4380548"/>
            <a:ext cx="104775" cy="64294"/>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11572875" y="4437221"/>
            <a:ext cx="104775" cy="64294"/>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11572875" y="4493895"/>
            <a:ext cx="104775" cy="64294"/>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11572875" y="4550569"/>
            <a:ext cx="104775" cy="64294"/>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11572875" y="4607242"/>
            <a:ext cx="104775" cy="64294"/>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11572875" y="4663916"/>
            <a:ext cx="104775" cy="64294"/>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11572875" y="4720590"/>
            <a:ext cx="104775" cy="64294"/>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1572875" y="4777264"/>
            <a:ext cx="104775" cy="64294"/>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1572875" y="4833938"/>
            <a:ext cx="104775" cy="64294"/>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11572875" y="4890611"/>
            <a:ext cx="104775" cy="64294"/>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11572875" y="4947285"/>
            <a:ext cx="104775" cy="64294"/>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11572875" y="5003959"/>
            <a:ext cx="104775" cy="64294"/>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1572875" y="5060632"/>
            <a:ext cx="104775" cy="64294"/>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1572875" y="5117306"/>
            <a:ext cx="104775" cy="64294"/>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11572875" y="5173980"/>
            <a:ext cx="104775" cy="64294"/>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11572875" y="5230654"/>
            <a:ext cx="104775" cy="64294"/>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11572875" y="5287328"/>
            <a:ext cx="104775" cy="64294"/>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11572875" y="5344001"/>
            <a:ext cx="104775" cy="64294"/>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11572875" y="5400675"/>
            <a:ext cx="104775" cy="64294"/>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11572875" y="5457349"/>
            <a:ext cx="104775" cy="64294"/>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11572875" y="5514022"/>
            <a:ext cx="104775" cy="64294"/>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11572875" y="5570696"/>
            <a:ext cx="104775" cy="64294"/>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11572875" y="5627370"/>
            <a:ext cx="104775" cy="64294"/>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1572875" y="5684044"/>
            <a:ext cx="104775" cy="64294"/>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1572875" y="5740718"/>
            <a:ext cx="104775" cy="64294"/>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Rectangle 186"/>
          <p:cNvSpPr/>
          <p:nvPr/>
        </p:nvSpPr>
        <p:spPr>
          <a:xfrm>
            <a:off x="11572875" y="5797391"/>
            <a:ext cx="104775" cy="64294"/>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Rectangle 187"/>
          <p:cNvSpPr/>
          <p:nvPr/>
        </p:nvSpPr>
        <p:spPr>
          <a:xfrm>
            <a:off x="11572875" y="5854065"/>
            <a:ext cx="104775" cy="64294"/>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11572875" y="5910739"/>
            <a:ext cx="104775" cy="64294"/>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11572875" y="5967412"/>
            <a:ext cx="104775" cy="64294"/>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11572875" y="6024086"/>
            <a:ext cx="104775" cy="64294"/>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11572875" y="6080760"/>
            <a:ext cx="104775" cy="64294"/>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11572875" y="6137434"/>
            <a:ext cx="104775" cy="64294"/>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11572875" y="6194108"/>
            <a:ext cx="104775" cy="64294"/>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11572875" y="6250781"/>
            <a:ext cx="104775" cy="64294"/>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11572875" y="6307455"/>
            <a:ext cx="104775" cy="64294"/>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11572875" y="6364129"/>
            <a:ext cx="104775" cy="64294"/>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11572875" y="6420802"/>
            <a:ext cx="104775" cy="64294"/>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11572875" y="6477476"/>
            <a:ext cx="104775" cy="64294"/>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11572875" y="4267200"/>
            <a:ext cx="104775" cy="22669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TextBox 200"/>
          <p:cNvSpPr txBox="1"/>
          <p:nvPr/>
        </p:nvSpPr>
        <p:spPr>
          <a:xfrm>
            <a:off x="11687175" y="4200525"/>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202" name="TextBox 201"/>
          <p:cNvSpPr txBox="1"/>
          <p:nvPr/>
        </p:nvSpPr>
        <p:spPr>
          <a:xfrm>
            <a:off x="11687175" y="533400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203" name="TextBox 20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1%</a:t>
            </a:r>
          </a:p>
        </p:txBody>
      </p:sp>
      <p:sp>
        <p:nvSpPr>
          <p:cNvPr id="204" name="TextBox 20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5" name="Picture 204" descr="lock.png"/>
          <p:cNvPicPr>
            <a:picLocks noChangeAspect="1"/>
          </p:cNvPicPr>
          <p:nvPr/>
        </p:nvPicPr>
        <p:blipFill>
          <a:blip r:embed="rId4"/>
          <a:stretch>
            <a:fillRect/>
          </a:stretch>
        </p:blipFill>
        <p:spPr>
          <a:xfrm>
            <a:off x="7246762" y="2204276"/>
            <a:ext cx="366712" cy="533399"/>
          </a:xfrm>
          <a:prstGeom prst="rect">
            <a:avLst/>
          </a:prstGeom>
        </p:spPr>
      </p:pic>
    </p:spTree>
  </p:cSld>
  <p:clrMapOvr>
    <a:masterClrMapping/>
  </p:clrMapOvr>
</p:sld>
</file>

<file path=ppt/slides/slide16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End User</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End User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End User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End User,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End User segment categorizes the market by end user.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Academic &amp; Teaching Dental Instit…</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Laboratories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Clinics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Hospitals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05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5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End User split shows how demand is distributed across end user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4" name="Picture 63" descr="156_5_605E5C.png"/>
          <p:cNvPicPr>
            <a:picLocks noChangeAspect="1"/>
          </p:cNvPicPr>
          <p:nvPr/>
        </p:nvPicPr>
        <p:blipFill>
          <a:blip r:embed="rId4"/>
          <a:stretch>
            <a:fillRect/>
          </a:stretch>
        </p:blipFill>
        <p:spPr>
          <a:xfrm>
            <a:off x="2476330" y="2286582"/>
            <a:ext cx="1195728" cy="361950"/>
          </a:xfrm>
          <a:prstGeom prst="rect">
            <a:avLst/>
          </a:prstGeom>
        </p:spPr>
      </p:pic>
      <p:pic>
        <p:nvPicPr>
          <p:cNvPr id="65" name="Picture 64" descr="237_3_605E5C.png"/>
          <p:cNvPicPr>
            <a:picLocks noChangeAspect="1"/>
          </p:cNvPicPr>
          <p:nvPr/>
        </p:nvPicPr>
        <p:blipFill>
          <a:blip r:embed="rId5"/>
          <a:stretch>
            <a:fillRect/>
          </a:stretch>
        </p:blipFill>
        <p:spPr>
          <a:xfrm>
            <a:off x="2476330" y="2779432"/>
            <a:ext cx="1195728" cy="361950"/>
          </a:xfrm>
          <a:prstGeom prst="rect">
            <a:avLst/>
          </a:prstGeom>
        </p:spPr>
      </p:pic>
      <p:pic>
        <p:nvPicPr>
          <p:cNvPr id="66" name="Picture 65" descr="4_2__605E5C.png"/>
          <p:cNvPicPr>
            <a:picLocks noChangeAspect="1"/>
          </p:cNvPicPr>
          <p:nvPr/>
        </p:nvPicPr>
        <p:blipFill>
          <a:blip r:embed="rId6"/>
          <a:stretch>
            <a:fillRect/>
          </a:stretch>
        </p:blipFill>
        <p:spPr>
          <a:xfrm>
            <a:off x="2582976" y="3272281"/>
            <a:ext cx="982436" cy="361950"/>
          </a:xfrm>
          <a:prstGeom prst="rect">
            <a:avLst/>
          </a:prstGeom>
        </p:spPr>
      </p:pic>
      <p:pic>
        <p:nvPicPr>
          <p:cNvPr id="67" name="Picture 66" descr="150_1_605E5C.png"/>
          <p:cNvPicPr>
            <a:picLocks noChangeAspect="1"/>
          </p:cNvPicPr>
          <p:nvPr/>
        </p:nvPicPr>
        <p:blipFill>
          <a:blip r:embed="rId7"/>
          <a:stretch>
            <a:fillRect/>
          </a:stretch>
        </p:blipFill>
        <p:spPr>
          <a:xfrm>
            <a:off x="5005218" y="2286582"/>
            <a:ext cx="1195728" cy="361950"/>
          </a:xfrm>
          <a:prstGeom prst="rect">
            <a:avLst/>
          </a:prstGeom>
        </p:spPr>
      </p:pic>
      <p:pic>
        <p:nvPicPr>
          <p:cNvPr id="68" name="Picture 67" descr="185_9_605E5C.png"/>
          <p:cNvPicPr>
            <a:picLocks noChangeAspect="1"/>
          </p:cNvPicPr>
          <p:nvPr/>
        </p:nvPicPr>
        <p:blipFill>
          <a:blip r:embed="rId8"/>
          <a:stretch>
            <a:fillRect/>
          </a:stretch>
        </p:blipFill>
        <p:spPr>
          <a:xfrm>
            <a:off x="5005218" y="2779432"/>
            <a:ext cx="1195728" cy="361950"/>
          </a:xfrm>
          <a:prstGeom prst="rect">
            <a:avLst/>
          </a:prstGeom>
        </p:spPr>
      </p:pic>
      <p:pic>
        <p:nvPicPr>
          <p:cNvPr id="69" name="Picture 68" descr="2_2__605E5C.png"/>
          <p:cNvPicPr>
            <a:picLocks noChangeAspect="1"/>
          </p:cNvPicPr>
          <p:nvPr/>
        </p:nvPicPr>
        <p:blipFill>
          <a:blip r:embed="rId9"/>
          <a:stretch>
            <a:fillRect/>
          </a:stretch>
        </p:blipFill>
        <p:spPr>
          <a:xfrm>
            <a:off x="5111864" y="3272281"/>
            <a:ext cx="982436" cy="361950"/>
          </a:xfrm>
          <a:prstGeom prst="rect">
            <a:avLst/>
          </a:prstGeom>
        </p:spPr>
      </p:pic>
      <p:pic>
        <p:nvPicPr>
          <p:cNvPr id="70" name="Picture 69" descr="39_2_605E5C.png"/>
          <p:cNvPicPr>
            <a:picLocks noChangeAspect="1"/>
          </p:cNvPicPr>
          <p:nvPr/>
        </p:nvPicPr>
        <p:blipFill>
          <a:blip r:embed="rId10"/>
          <a:stretch>
            <a:fillRect/>
          </a:stretch>
        </p:blipFill>
        <p:spPr>
          <a:xfrm>
            <a:off x="7640751" y="2286582"/>
            <a:ext cx="982436" cy="361950"/>
          </a:xfrm>
          <a:prstGeom prst="rect">
            <a:avLst/>
          </a:prstGeom>
        </p:spPr>
      </p:pic>
      <p:pic>
        <p:nvPicPr>
          <p:cNvPr id="71" name="Picture 70" descr="57_0_605E5C.png"/>
          <p:cNvPicPr>
            <a:picLocks noChangeAspect="1"/>
          </p:cNvPicPr>
          <p:nvPr/>
        </p:nvPicPr>
        <p:blipFill>
          <a:blip r:embed="rId11"/>
          <a:stretch>
            <a:fillRect/>
          </a:stretch>
        </p:blipFill>
        <p:spPr>
          <a:xfrm>
            <a:off x="7640751" y="2779432"/>
            <a:ext cx="982436" cy="361950"/>
          </a:xfrm>
          <a:prstGeom prst="rect">
            <a:avLst/>
          </a:prstGeom>
        </p:spPr>
      </p:pic>
      <p:pic>
        <p:nvPicPr>
          <p:cNvPr id="72" name="Picture 71" descr="3_8__605E5C.png"/>
          <p:cNvPicPr>
            <a:picLocks noChangeAspect="1"/>
          </p:cNvPicPr>
          <p:nvPr/>
        </p:nvPicPr>
        <p:blipFill>
          <a:blip r:embed="rId12"/>
          <a:stretch>
            <a:fillRect/>
          </a:stretch>
        </p:blipFill>
        <p:spPr>
          <a:xfrm>
            <a:off x="7640751" y="3272281"/>
            <a:ext cx="982436" cy="361950"/>
          </a:xfrm>
          <a:prstGeom prst="rect">
            <a:avLst/>
          </a:prstGeom>
        </p:spPr>
      </p:pic>
      <p:pic>
        <p:nvPicPr>
          <p:cNvPr id="73" name="Picture 72" descr="25_5_605E5C.png"/>
          <p:cNvPicPr>
            <a:picLocks noChangeAspect="1"/>
          </p:cNvPicPr>
          <p:nvPr/>
        </p:nvPicPr>
        <p:blipFill>
          <a:blip r:embed="rId13"/>
          <a:stretch>
            <a:fillRect/>
          </a:stretch>
        </p:blipFill>
        <p:spPr>
          <a:xfrm>
            <a:off x="10169638" y="2286582"/>
            <a:ext cx="982436" cy="361950"/>
          </a:xfrm>
          <a:prstGeom prst="rect">
            <a:avLst/>
          </a:prstGeom>
        </p:spPr>
      </p:pic>
      <p:pic>
        <p:nvPicPr>
          <p:cNvPr id="74" name="Picture 73" descr="43_7_605E5C.png"/>
          <p:cNvPicPr>
            <a:picLocks noChangeAspect="1"/>
          </p:cNvPicPr>
          <p:nvPr/>
        </p:nvPicPr>
        <p:blipFill>
          <a:blip r:embed="rId14"/>
          <a:stretch>
            <a:fillRect/>
          </a:stretch>
        </p:blipFill>
        <p:spPr>
          <a:xfrm>
            <a:off x="10169638" y="2779432"/>
            <a:ext cx="982436" cy="361950"/>
          </a:xfrm>
          <a:prstGeom prst="rect">
            <a:avLst/>
          </a:prstGeom>
        </p:spPr>
      </p:pic>
      <p:pic>
        <p:nvPicPr>
          <p:cNvPr id="75" name="Picture 74" descr="5_5__605E5C.png"/>
          <p:cNvPicPr>
            <a:picLocks noChangeAspect="1"/>
          </p:cNvPicPr>
          <p:nvPr/>
        </p:nvPicPr>
        <p:blipFill>
          <a:blip r:embed="rId15"/>
          <a:stretch>
            <a:fillRect/>
          </a:stretch>
        </p:blipFill>
        <p:spPr>
          <a:xfrm>
            <a:off x="10169638" y="3272281"/>
            <a:ext cx="982436" cy="361950"/>
          </a:xfrm>
          <a:prstGeom prst="rect">
            <a:avLst/>
          </a:prstGeom>
        </p:spPr>
      </p:pic>
      <p:pic>
        <p:nvPicPr>
          <p:cNvPr id="76" name="Picture 75" descr="lock.png"/>
          <p:cNvPicPr>
            <a:picLocks noChangeAspect="1"/>
          </p:cNvPicPr>
          <p:nvPr/>
        </p:nvPicPr>
        <p:blipFill>
          <a:blip r:embed="rId16"/>
          <a:stretch>
            <a:fillRect/>
          </a:stretch>
        </p:blipFill>
        <p:spPr>
          <a:xfrm>
            <a:off x="2980848" y="2827057"/>
            <a:ext cx="183356" cy="266700"/>
          </a:xfrm>
          <a:prstGeom prst="rect">
            <a:avLst/>
          </a:prstGeom>
        </p:spPr>
      </p:pic>
      <p:pic>
        <p:nvPicPr>
          <p:cNvPr id="77" name="Picture 76" descr="lock.png"/>
          <p:cNvPicPr>
            <a:picLocks noChangeAspect="1"/>
          </p:cNvPicPr>
          <p:nvPr/>
        </p:nvPicPr>
        <p:blipFill>
          <a:blip r:embed="rId16"/>
          <a:stretch>
            <a:fillRect/>
          </a:stretch>
        </p:blipFill>
        <p:spPr>
          <a:xfrm>
            <a:off x="5509737" y="2827057"/>
            <a:ext cx="183356" cy="266700"/>
          </a:xfrm>
          <a:prstGeom prst="rect">
            <a:avLst/>
          </a:prstGeom>
        </p:spPr>
      </p:pic>
      <p:pic>
        <p:nvPicPr>
          <p:cNvPr id="78" name="Picture 77" descr="lock.png"/>
          <p:cNvPicPr>
            <a:picLocks noChangeAspect="1"/>
          </p:cNvPicPr>
          <p:nvPr/>
        </p:nvPicPr>
        <p:blipFill>
          <a:blip r:embed="rId16"/>
          <a:stretch>
            <a:fillRect/>
          </a:stretch>
        </p:blipFill>
        <p:spPr>
          <a:xfrm>
            <a:off x="8038624" y="2827057"/>
            <a:ext cx="183356" cy="266700"/>
          </a:xfrm>
          <a:prstGeom prst="rect">
            <a:avLst/>
          </a:prstGeom>
        </p:spPr>
      </p:pic>
      <p:pic>
        <p:nvPicPr>
          <p:cNvPr id="79" name="Picture 78" descr="lock.png"/>
          <p:cNvPicPr>
            <a:picLocks noChangeAspect="1"/>
          </p:cNvPicPr>
          <p:nvPr/>
        </p:nvPicPr>
        <p:blipFill>
          <a:blip r:embed="rId16"/>
          <a:stretch>
            <a:fillRect/>
          </a:stretch>
        </p:blipFill>
        <p:spPr>
          <a:xfrm>
            <a:off x="10567511" y="2827057"/>
            <a:ext cx="183356" cy="266700"/>
          </a:xfrm>
          <a:prstGeom prst="rect">
            <a:avLst/>
          </a:prstGeom>
        </p:spPr>
      </p:pic>
      <p:sp>
        <p:nvSpPr>
          <p:cNvPr id="80" name="TextBox 79"/>
          <p:cNvSpPr txBox="1"/>
          <p:nvPr/>
        </p:nvSpPr>
        <p:spPr>
          <a:xfrm>
            <a:off x="485775" y="4229437"/>
            <a:ext cx="2914650" cy="186689"/>
          </a:xfrm>
          <a:prstGeom prst="rect">
            <a:avLst/>
          </a:prstGeom>
          <a:noFill/>
        </p:spPr>
        <p:txBody>
          <a:bodyPr wrap="none" lIns="0" rIns="0" tIns="0" bIns="0">
            <a:spAutoFit/>
          </a:bodyPr>
          <a:lstStyle/>
          <a:p>
            <a:r>
              <a:rPr sz="1100" b="0">
                <a:solidFill>
                  <a:srgbClr val="2E2E2E"/>
                </a:solidFill>
                <a:latin typeface="Calibri"/>
              </a:rPr>
              <a:t>▪ ¶ Among removable partial dentures by end user,</a:t>
            </a:r>
          </a:p>
        </p:txBody>
      </p:sp>
      <p:sp>
        <p:nvSpPr>
          <p:cNvPr id="81" name="TextBox 80"/>
          <p:cNvSpPr txBox="1"/>
          <p:nvPr/>
        </p:nvSpPr>
        <p:spPr>
          <a:xfrm>
            <a:off x="485775" y="4397077"/>
            <a:ext cx="2788344" cy="186689"/>
          </a:xfrm>
          <a:prstGeom prst="rect">
            <a:avLst/>
          </a:prstGeom>
          <a:noFill/>
        </p:spPr>
        <p:txBody>
          <a:bodyPr wrap="none" lIns="0" rIns="0" tIns="0" bIns="0">
            <a:spAutoFit/>
          </a:bodyPr>
          <a:lstStyle/>
          <a:p>
            <a:r>
              <a:rPr sz="1100" b="0">
                <a:solidFill>
                  <a:srgbClr val="2E2E2E"/>
                </a:solidFill>
                <a:latin typeface="Calibri"/>
              </a:rPr>
              <a:t>dental hospitals segment is expected to witness</a:t>
            </a:r>
          </a:p>
        </p:txBody>
      </p:sp>
      <p:sp>
        <p:nvSpPr>
          <p:cNvPr id="82" name="TextBox 81"/>
          <p:cNvSpPr txBox="1"/>
          <p:nvPr/>
        </p:nvSpPr>
        <p:spPr>
          <a:xfrm>
            <a:off x="485775" y="4564717"/>
            <a:ext cx="1212336" cy="186689"/>
          </a:xfrm>
          <a:prstGeom prst="rect">
            <a:avLst/>
          </a:prstGeom>
          <a:noFill/>
        </p:spPr>
        <p:txBody>
          <a:bodyPr wrap="none" lIns="0" rIns="0" tIns="0" bIns="0">
            <a:spAutoFit/>
          </a:bodyPr>
          <a:lstStyle/>
          <a:p>
            <a:r>
              <a:rPr sz="1100" b="0">
                <a:solidFill>
                  <a:srgbClr val="2E2E2E"/>
                </a:solidFill>
                <a:latin typeface="Calibri"/>
              </a:rPr>
              <a:t>the highest CAGR of</a:t>
            </a:r>
          </a:p>
        </p:txBody>
      </p:sp>
      <p:pic>
        <p:nvPicPr>
          <p:cNvPr id="83" name="Picture 82" descr="lock.png"/>
          <p:cNvPicPr>
            <a:picLocks noChangeAspect="1"/>
          </p:cNvPicPr>
          <p:nvPr/>
        </p:nvPicPr>
        <p:blipFill>
          <a:blip r:embed="rId16"/>
          <a:stretch>
            <a:fillRect/>
          </a:stretch>
        </p:blipFill>
        <p:spPr>
          <a:xfrm>
            <a:off x="1646163" y="4554938"/>
            <a:ext cx="128699" cy="187198"/>
          </a:xfrm>
          <a:prstGeom prst="rect">
            <a:avLst/>
          </a:prstGeom>
        </p:spPr>
      </p:pic>
      <p:sp>
        <p:nvSpPr>
          <p:cNvPr id="84" name="TextBox 83"/>
          <p:cNvSpPr txBox="1"/>
          <p:nvPr/>
        </p:nvSpPr>
        <p:spPr>
          <a:xfrm>
            <a:off x="1813659" y="4564717"/>
            <a:ext cx="1484659" cy="186689"/>
          </a:xfrm>
          <a:prstGeom prst="rect">
            <a:avLst/>
          </a:prstGeom>
          <a:noFill/>
        </p:spPr>
        <p:txBody>
          <a:bodyPr wrap="none" lIns="0" rIns="0" tIns="0" bIns="0">
            <a:spAutoFit/>
          </a:bodyPr>
          <a:lstStyle/>
          <a:p>
            <a:r>
              <a:rPr sz="1100" b="0">
                <a:solidFill>
                  <a:srgbClr val="2E2E2E"/>
                </a:solidFill>
                <a:latin typeface="Calibri"/>
              </a:rPr>
              <a:t>over the forecast period.</a:t>
            </a:r>
          </a:p>
        </p:txBody>
      </p:sp>
      <p:sp>
        <p:nvSpPr>
          <p:cNvPr id="85" name="TextBox 84"/>
          <p:cNvSpPr txBox="1"/>
          <p:nvPr/>
        </p:nvSpPr>
        <p:spPr>
          <a:xfrm>
            <a:off x="485775" y="4732357"/>
            <a:ext cx="2898849" cy="186689"/>
          </a:xfrm>
          <a:prstGeom prst="rect">
            <a:avLst/>
          </a:prstGeom>
          <a:noFill/>
        </p:spPr>
        <p:txBody>
          <a:bodyPr wrap="none" lIns="0" rIns="0" tIns="0" bIns="0">
            <a:spAutoFit/>
          </a:bodyPr>
          <a:lstStyle/>
          <a:p>
            <a:r>
              <a:rPr sz="1100" b="0">
                <a:solidFill>
                  <a:srgbClr val="2E2E2E"/>
                </a:solidFill>
                <a:latin typeface="Calibri"/>
              </a:rPr>
              <a:t>In terms of value share by end user, the academic</a:t>
            </a:r>
          </a:p>
        </p:txBody>
      </p:sp>
      <p:sp>
        <p:nvSpPr>
          <p:cNvPr id="86" name="TextBox 85"/>
          <p:cNvSpPr txBox="1"/>
          <p:nvPr/>
        </p:nvSpPr>
        <p:spPr>
          <a:xfrm>
            <a:off x="485775" y="4899997"/>
            <a:ext cx="2914650" cy="186689"/>
          </a:xfrm>
          <a:prstGeom prst="rect">
            <a:avLst/>
          </a:prstGeom>
          <a:noFill/>
        </p:spPr>
        <p:txBody>
          <a:bodyPr wrap="none" lIns="0" rIns="0" tIns="0" bIns="0">
            <a:spAutoFit/>
          </a:bodyPr>
          <a:lstStyle/>
          <a:p>
            <a:r>
              <a:rPr sz="1100" b="0">
                <a:solidFill>
                  <a:srgbClr val="2E2E2E"/>
                </a:solidFill>
                <a:latin typeface="Calibri"/>
              </a:rPr>
              <a:t>&amp; teaching dental institutions segment is expected</a:t>
            </a:r>
          </a:p>
        </p:txBody>
      </p:sp>
      <p:sp>
        <p:nvSpPr>
          <p:cNvPr id="87" name="TextBox 86"/>
          <p:cNvSpPr txBox="1"/>
          <p:nvPr/>
        </p:nvSpPr>
        <p:spPr>
          <a:xfrm>
            <a:off x="485775" y="5067637"/>
            <a:ext cx="1912763" cy="186689"/>
          </a:xfrm>
          <a:prstGeom prst="rect">
            <a:avLst/>
          </a:prstGeom>
          <a:noFill/>
        </p:spPr>
        <p:txBody>
          <a:bodyPr wrap="none" lIns="0" rIns="0" tIns="0" bIns="0">
            <a:spAutoFit/>
          </a:bodyPr>
          <a:lstStyle/>
          <a:p>
            <a:r>
              <a:rPr sz="1100" b="0">
                <a:solidFill>
                  <a:srgbClr val="2E2E2E"/>
                </a:solidFill>
                <a:latin typeface="Calibri"/>
              </a:rPr>
              <a:t>to dominate the market, gaining</a:t>
            </a:r>
          </a:p>
        </p:txBody>
      </p:sp>
      <p:pic>
        <p:nvPicPr>
          <p:cNvPr id="88" name="Picture 87" descr="lock.png"/>
          <p:cNvPicPr>
            <a:picLocks noChangeAspect="1"/>
          </p:cNvPicPr>
          <p:nvPr/>
        </p:nvPicPr>
        <p:blipFill>
          <a:blip r:embed="rId16"/>
          <a:stretch>
            <a:fillRect/>
          </a:stretch>
        </p:blipFill>
        <p:spPr>
          <a:xfrm>
            <a:off x="2346590" y="5057858"/>
            <a:ext cx="128699" cy="187198"/>
          </a:xfrm>
          <a:prstGeom prst="rect">
            <a:avLst/>
          </a:prstGeom>
        </p:spPr>
      </p:pic>
      <p:sp>
        <p:nvSpPr>
          <p:cNvPr id="89" name="TextBox 88"/>
          <p:cNvSpPr txBox="1"/>
          <p:nvPr/>
        </p:nvSpPr>
        <p:spPr>
          <a:xfrm>
            <a:off x="2514086" y="5067637"/>
            <a:ext cx="534044" cy="186689"/>
          </a:xfrm>
          <a:prstGeom prst="rect">
            <a:avLst/>
          </a:prstGeom>
          <a:noFill/>
        </p:spPr>
        <p:txBody>
          <a:bodyPr wrap="none" lIns="0" rIns="0" tIns="0" bIns="0">
            <a:spAutoFit/>
          </a:bodyPr>
          <a:lstStyle/>
          <a:p>
            <a:r>
              <a:rPr sz="1100" b="0">
                <a:solidFill>
                  <a:srgbClr val="2E2E2E"/>
                </a:solidFill>
                <a:latin typeface="Calibri"/>
              </a:rPr>
              <a:t>BPS and</a:t>
            </a:r>
          </a:p>
        </p:txBody>
      </p:sp>
      <p:sp>
        <p:nvSpPr>
          <p:cNvPr id="90" name="TextBox 89"/>
          <p:cNvSpPr txBox="1"/>
          <p:nvPr/>
        </p:nvSpPr>
        <p:spPr>
          <a:xfrm>
            <a:off x="485775" y="5235277"/>
            <a:ext cx="896937" cy="186689"/>
          </a:xfrm>
          <a:prstGeom prst="rect">
            <a:avLst/>
          </a:prstGeom>
          <a:noFill/>
        </p:spPr>
        <p:txBody>
          <a:bodyPr wrap="none" lIns="0" rIns="0" tIns="0" bIns="0">
            <a:spAutoFit/>
          </a:bodyPr>
          <a:lstStyle/>
          <a:p>
            <a:r>
              <a:rPr sz="1100" b="0">
                <a:solidFill>
                  <a:srgbClr val="2E2E2E"/>
                </a:solidFill>
                <a:latin typeface="Calibri"/>
              </a:rPr>
              <a:t>accounting for</a:t>
            </a:r>
          </a:p>
        </p:txBody>
      </p:sp>
      <p:pic>
        <p:nvPicPr>
          <p:cNvPr id="91" name="Picture 90" descr="lock.png"/>
          <p:cNvPicPr>
            <a:picLocks noChangeAspect="1"/>
          </p:cNvPicPr>
          <p:nvPr/>
        </p:nvPicPr>
        <p:blipFill>
          <a:blip r:embed="rId16"/>
          <a:stretch>
            <a:fillRect/>
          </a:stretch>
        </p:blipFill>
        <p:spPr>
          <a:xfrm>
            <a:off x="1330764" y="5225498"/>
            <a:ext cx="128699" cy="187198"/>
          </a:xfrm>
          <a:prstGeom prst="rect">
            <a:avLst/>
          </a:prstGeom>
        </p:spPr>
      </p:pic>
      <p:sp>
        <p:nvSpPr>
          <p:cNvPr id="92" name="TextBox 91"/>
          <p:cNvSpPr txBox="1"/>
          <p:nvPr/>
        </p:nvSpPr>
        <p:spPr>
          <a:xfrm>
            <a:off x="1498259" y="523527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93" name="TextBox 92"/>
          <p:cNvSpPr txBox="1"/>
          <p:nvPr/>
        </p:nvSpPr>
        <p:spPr>
          <a:xfrm>
            <a:off x="485775" y="5453209"/>
            <a:ext cx="2535411" cy="186689"/>
          </a:xfrm>
          <a:prstGeom prst="rect">
            <a:avLst/>
          </a:prstGeom>
          <a:noFill/>
        </p:spPr>
        <p:txBody>
          <a:bodyPr wrap="none" lIns="0" rIns="0" tIns="0" bIns="0">
            <a:spAutoFit/>
          </a:bodyPr>
          <a:lstStyle/>
          <a:p>
            <a:r>
              <a:rPr sz="1100" b="0">
                <a:solidFill>
                  <a:srgbClr val="2E2E2E"/>
                </a:solidFill>
                <a:latin typeface="Calibri"/>
              </a:rPr>
              <a:t>▪ ¶ Academic &amp; teaching dental institutions</a:t>
            </a:r>
          </a:p>
        </p:txBody>
      </p:sp>
      <p:sp>
        <p:nvSpPr>
          <p:cNvPr id="94" name="TextBox 93"/>
          <p:cNvSpPr txBox="1"/>
          <p:nvPr/>
        </p:nvSpPr>
        <p:spPr>
          <a:xfrm>
            <a:off x="485775" y="5620849"/>
            <a:ext cx="1886024" cy="186689"/>
          </a:xfrm>
          <a:prstGeom prst="rect">
            <a:avLst/>
          </a:prstGeom>
          <a:noFill/>
        </p:spPr>
        <p:txBody>
          <a:bodyPr wrap="none" lIns="0" rIns="0" tIns="0" bIns="0">
            <a:spAutoFit/>
          </a:bodyPr>
          <a:lstStyle/>
          <a:p>
            <a:r>
              <a:rPr sz="1100" b="0">
                <a:solidFill>
                  <a:srgbClr val="2E2E2E"/>
                </a:solidFill>
                <a:latin typeface="Calibri"/>
              </a:rPr>
              <a:t>segment is projected to register</a:t>
            </a:r>
          </a:p>
        </p:txBody>
      </p:sp>
      <p:pic>
        <p:nvPicPr>
          <p:cNvPr id="95" name="Picture 94" descr="lock.png"/>
          <p:cNvPicPr>
            <a:picLocks noChangeAspect="1"/>
          </p:cNvPicPr>
          <p:nvPr/>
        </p:nvPicPr>
        <p:blipFill>
          <a:blip r:embed="rId16"/>
          <a:stretch>
            <a:fillRect/>
          </a:stretch>
        </p:blipFill>
        <p:spPr>
          <a:xfrm>
            <a:off x="2319851" y="5611070"/>
            <a:ext cx="128699" cy="187198"/>
          </a:xfrm>
          <a:prstGeom prst="rect">
            <a:avLst/>
          </a:prstGeom>
        </p:spPr>
      </p:pic>
      <p:sp>
        <p:nvSpPr>
          <p:cNvPr id="96" name="TextBox 95"/>
          <p:cNvSpPr txBox="1"/>
          <p:nvPr/>
        </p:nvSpPr>
        <p:spPr>
          <a:xfrm>
            <a:off x="2487346" y="5620849"/>
            <a:ext cx="880293" cy="186689"/>
          </a:xfrm>
          <a:prstGeom prst="rect">
            <a:avLst/>
          </a:prstGeom>
          <a:noFill/>
        </p:spPr>
        <p:txBody>
          <a:bodyPr wrap="none" lIns="0" rIns="0" tIns="0" bIns="0">
            <a:spAutoFit/>
          </a:bodyPr>
          <a:lstStyle/>
          <a:p>
            <a:r>
              <a:rPr sz="1100" b="0">
                <a:solidFill>
                  <a:srgbClr val="2E2E2E"/>
                </a:solidFill>
                <a:latin typeface="Calibri"/>
              </a:rPr>
              <a:t>X higher value</a:t>
            </a:r>
          </a:p>
        </p:txBody>
      </p:sp>
      <p:sp>
        <p:nvSpPr>
          <p:cNvPr id="97" name="TextBox 96"/>
          <p:cNvSpPr txBox="1"/>
          <p:nvPr/>
        </p:nvSpPr>
        <p:spPr>
          <a:xfrm>
            <a:off x="485775" y="5788489"/>
            <a:ext cx="2460922" cy="186689"/>
          </a:xfrm>
          <a:prstGeom prst="rect">
            <a:avLst/>
          </a:prstGeom>
          <a:noFill/>
        </p:spPr>
        <p:txBody>
          <a:bodyPr wrap="none" lIns="0" rIns="0" tIns="0" bIns="0">
            <a:spAutoFit/>
          </a:bodyPr>
          <a:lstStyle/>
          <a:p>
            <a:r>
              <a:rPr sz="1100" b="0">
                <a:solidFill>
                  <a:srgbClr val="2E2E2E"/>
                </a:solidFill>
                <a:latin typeface="Calibri"/>
              </a:rPr>
              <a:t>than dental laboratories segment in 2036.</a:t>
            </a:r>
          </a:p>
        </p:txBody>
      </p:sp>
      <p:sp>
        <p:nvSpPr>
          <p:cNvPr id="98" name="TextBox 97"/>
          <p:cNvSpPr txBox="1"/>
          <p:nvPr/>
        </p:nvSpPr>
        <p:spPr>
          <a:xfrm>
            <a:off x="3838575" y="4229437"/>
            <a:ext cx="2531045" cy="186689"/>
          </a:xfrm>
          <a:prstGeom prst="rect">
            <a:avLst/>
          </a:prstGeom>
          <a:noFill/>
        </p:spPr>
        <p:txBody>
          <a:bodyPr wrap="none" lIns="0" rIns="0" tIns="0" bIns="0">
            <a:spAutoFit/>
          </a:bodyPr>
          <a:lstStyle/>
          <a:p>
            <a:r>
              <a:rPr sz="1100" b="0">
                <a:solidFill>
                  <a:srgbClr val="2E2E2E"/>
                </a:solidFill>
                <a:latin typeface="Calibri"/>
              </a:rPr>
              <a:t>● Academic &amp; Teaching Dental Institutions:</a:t>
            </a:r>
          </a:p>
        </p:txBody>
      </p:sp>
      <p:pic>
        <p:nvPicPr>
          <p:cNvPr id="99" name="Picture 98" descr="lock.png"/>
          <p:cNvPicPr>
            <a:picLocks noChangeAspect="1"/>
          </p:cNvPicPr>
          <p:nvPr/>
        </p:nvPicPr>
        <p:blipFill>
          <a:blip r:embed="rId16"/>
          <a:stretch>
            <a:fillRect/>
          </a:stretch>
        </p:blipFill>
        <p:spPr>
          <a:xfrm>
            <a:off x="6317672" y="4219658"/>
            <a:ext cx="128699" cy="187198"/>
          </a:xfrm>
          <a:prstGeom prst="rect">
            <a:avLst/>
          </a:prstGeom>
        </p:spPr>
      </p:pic>
      <p:sp>
        <p:nvSpPr>
          <p:cNvPr id="100" name="TextBox 99"/>
          <p:cNvSpPr txBox="1"/>
          <p:nvPr/>
        </p:nvSpPr>
        <p:spPr>
          <a:xfrm>
            <a:off x="6485167"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1" name="Picture 100" descr="lock.png"/>
          <p:cNvPicPr>
            <a:picLocks noChangeAspect="1"/>
          </p:cNvPicPr>
          <p:nvPr/>
        </p:nvPicPr>
        <p:blipFill>
          <a:blip r:embed="rId16"/>
          <a:stretch>
            <a:fillRect/>
          </a:stretch>
        </p:blipFill>
        <p:spPr>
          <a:xfrm>
            <a:off x="7344618" y="4219658"/>
            <a:ext cx="128699" cy="187198"/>
          </a:xfrm>
          <a:prstGeom prst="rect">
            <a:avLst/>
          </a:prstGeom>
        </p:spPr>
      </p:pic>
      <p:sp>
        <p:nvSpPr>
          <p:cNvPr id="102" name="TextBox 101"/>
          <p:cNvSpPr txBox="1"/>
          <p:nvPr/>
        </p:nvSpPr>
        <p:spPr>
          <a:xfrm>
            <a:off x="3838575" y="439707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103" name="TextBox 102"/>
          <p:cNvSpPr txBox="1"/>
          <p:nvPr/>
        </p:nvSpPr>
        <p:spPr>
          <a:xfrm>
            <a:off x="3838575" y="4615009"/>
            <a:ext cx="1350143" cy="186689"/>
          </a:xfrm>
          <a:prstGeom prst="rect">
            <a:avLst/>
          </a:prstGeom>
          <a:noFill/>
        </p:spPr>
        <p:txBody>
          <a:bodyPr wrap="none" lIns="0" rIns="0" tIns="0" bIns="0">
            <a:spAutoFit/>
          </a:bodyPr>
          <a:lstStyle/>
          <a:p>
            <a:r>
              <a:rPr sz="1100" b="0">
                <a:solidFill>
                  <a:srgbClr val="2E2E2E"/>
                </a:solidFill>
                <a:latin typeface="Calibri"/>
              </a:rPr>
              <a:t>● Dental Laboratories:</a:t>
            </a:r>
          </a:p>
        </p:txBody>
      </p:sp>
      <p:pic>
        <p:nvPicPr>
          <p:cNvPr id="104" name="Picture 103" descr="lock.png"/>
          <p:cNvPicPr>
            <a:picLocks noChangeAspect="1"/>
          </p:cNvPicPr>
          <p:nvPr/>
        </p:nvPicPr>
        <p:blipFill>
          <a:blip r:embed="rId16"/>
          <a:stretch>
            <a:fillRect/>
          </a:stretch>
        </p:blipFill>
        <p:spPr>
          <a:xfrm>
            <a:off x="5136770" y="4605230"/>
            <a:ext cx="128699" cy="187198"/>
          </a:xfrm>
          <a:prstGeom prst="rect">
            <a:avLst/>
          </a:prstGeom>
        </p:spPr>
      </p:pic>
      <p:sp>
        <p:nvSpPr>
          <p:cNvPr id="105" name="TextBox 104"/>
          <p:cNvSpPr txBox="1"/>
          <p:nvPr/>
        </p:nvSpPr>
        <p:spPr>
          <a:xfrm>
            <a:off x="5304266" y="461500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6" name="Picture 105" descr="lock.png"/>
          <p:cNvPicPr>
            <a:picLocks noChangeAspect="1"/>
          </p:cNvPicPr>
          <p:nvPr/>
        </p:nvPicPr>
        <p:blipFill>
          <a:blip r:embed="rId16"/>
          <a:stretch>
            <a:fillRect/>
          </a:stretch>
        </p:blipFill>
        <p:spPr>
          <a:xfrm>
            <a:off x="6163716" y="4605230"/>
            <a:ext cx="128699" cy="187198"/>
          </a:xfrm>
          <a:prstGeom prst="rect">
            <a:avLst/>
          </a:prstGeom>
        </p:spPr>
      </p:pic>
      <p:sp>
        <p:nvSpPr>
          <p:cNvPr id="107" name="TextBox 106"/>
          <p:cNvSpPr txBox="1"/>
          <p:nvPr/>
        </p:nvSpPr>
        <p:spPr>
          <a:xfrm>
            <a:off x="6331212" y="461500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08" name="TextBox 107"/>
          <p:cNvSpPr txBox="1"/>
          <p:nvPr/>
        </p:nvSpPr>
        <p:spPr>
          <a:xfrm>
            <a:off x="3838575" y="4832941"/>
            <a:ext cx="994345" cy="186689"/>
          </a:xfrm>
          <a:prstGeom prst="rect">
            <a:avLst/>
          </a:prstGeom>
          <a:noFill/>
        </p:spPr>
        <p:txBody>
          <a:bodyPr wrap="none" lIns="0" rIns="0" tIns="0" bIns="0">
            <a:spAutoFit/>
          </a:bodyPr>
          <a:lstStyle/>
          <a:p>
            <a:r>
              <a:rPr sz="1100" b="0">
                <a:solidFill>
                  <a:srgbClr val="2E2E2E"/>
                </a:solidFill>
                <a:latin typeface="Calibri"/>
              </a:rPr>
              <a:t>● Dental Clinics:</a:t>
            </a:r>
          </a:p>
        </p:txBody>
      </p:sp>
      <p:pic>
        <p:nvPicPr>
          <p:cNvPr id="109" name="Picture 108" descr="lock.png"/>
          <p:cNvPicPr>
            <a:picLocks noChangeAspect="1"/>
          </p:cNvPicPr>
          <p:nvPr/>
        </p:nvPicPr>
        <p:blipFill>
          <a:blip r:embed="rId16"/>
          <a:stretch>
            <a:fillRect/>
          </a:stretch>
        </p:blipFill>
        <p:spPr>
          <a:xfrm>
            <a:off x="4780972" y="4823162"/>
            <a:ext cx="128699" cy="187198"/>
          </a:xfrm>
          <a:prstGeom prst="rect">
            <a:avLst/>
          </a:prstGeom>
        </p:spPr>
      </p:pic>
      <p:sp>
        <p:nvSpPr>
          <p:cNvPr id="110" name="TextBox 109"/>
          <p:cNvSpPr txBox="1"/>
          <p:nvPr/>
        </p:nvSpPr>
        <p:spPr>
          <a:xfrm>
            <a:off x="4948467" y="483294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1" name="Picture 110" descr="lock.png"/>
          <p:cNvPicPr>
            <a:picLocks noChangeAspect="1"/>
          </p:cNvPicPr>
          <p:nvPr/>
        </p:nvPicPr>
        <p:blipFill>
          <a:blip r:embed="rId16"/>
          <a:stretch>
            <a:fillRect/>
          </a:stretch>
        </p:blipFill>
        <p:spPr>
          <a:xfrm>
            <a:off x="5807918" y="4823162"/>
            <a:ext cx="128699" cy="187198"/>
          </a:xfrm>
          <a:prstGeom prst="rect">
            <a:avLst/>
          </a:prstGeom>
        </p:spPr>
      </p:pic>
      <p:sp>
        <p:nvSpPr>
          <p:cNvPr id="112" name="TextBox 111"/>
          <p:cNvSpPr txBox="1"/>
          <p:nvPr/>
        </p:nvSpPr>
        <p:spPr>
          <a:xfrm>
            <a:off x="5975413" y="483294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13" name="TextBox 112"/>
          <p:cNvSpPr txBox="1"/>
          <p:nvPr/>
        </p:nvSpPr>
        <p:spPr>
          <a:xfrm>
            <a:off x="3838575" y="5050872"/>
            <a:ext cx="1157510" cy="186689"/>
          </a:xfrm>
          <a:prstGeom prst="rect">
            <a:avLst/>
          </a:prstGeom>
          <a:noFill/>
        </p:spPr>
        <p:txBody>
          <a:bodyPr wrap="none" lIns="0" rIns="0" tIns="0" bIns="0">
            <a:spAutoFit/>
          </a:bodyPr>
          <a:lstStyle/>
          <a:p>
            <a:r>
              <a:rPr sz="1100" b="0">
                <a:solidFill>
                  <a:srgbClr val="2E2E2E"/>
                </a:solidFill>
                <a:latin typeface="Calibri"/>
              </a:rPr>
              <a:t>● Dental Hospitals:</a:t>
            </a:r>
          </a:p>
        </p:txBody>
      </p:sp>
      <p:pic>
        <p:nvPicPr>
          <p:cNvPr id="114" name="Picture 113" descr="lock.png"/>
          <p:cNvPicPr>
            <a:picLocks noChangeAspect="1"/>
          </p:cNvPicPr>
          <p:nvPr/>
        </p:nvPicPr>
        <p:blipFill>
          <a:blip r:embed="rId16"/>
          <a:stretch>
            <a:fillRect/>
          </a:stretch>
        </p:blipFill>
        <p:spPr>
          <a:xfrm>
            <a:off x="4944137" y="5041093"/>
            <a:ext cx="128699" cy="187198"/>
          </a:xfrm>
          <a:prstGeom prst="rect">
            <a:avLst/>
          </a:prstGeom>
        </p:spPr>
      </p:pic>
      <p:sp>
        <p:nvSpPr>
          <p:cNvPr id="115" name="TextBox 114"/>
          <p:cNvSpPr txBox="1"/>
          <p:nvPr/>
        </p:nvSpPr>
        <p:spPr>
          <a:xfrm>
            <a:off x="5111633" y="5050872"/>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6" name="Picture 115" descr="lock.png"/>
          <p:cNvPicPr>
            <a:picLocks noChangeAspect="1"/>
          </p:cNvPicPr>
          <p:nvPr/>
        </p:nvPicPr>
        <p:blipFill>
          <a:blip r:embed="rId16"/>
          <a:stretch>
            <a:fillRect/>
          </a:stretch>
        </p:blipFill>
        <p:spPr>
          <a:xfrm>
            <a:off x="5971083" y="5041093"/>
            <a:ext cx="128699" cy="187198"/>
          </a:xfrm>
          <a:prstGeom prst="rect">
            <a:avLst/>
          </a:prstGeom>
        </p:spPr>
      </p:pic>
      <p:sp>
        <p:nvSpPr>
          <p:cNvPr id="117" name="TextBox 116"/>
          <p:cNvSpPr txBox="1"/>
          <p:nvPr/>
        </p:nvSpPr>
        <p:spPr>
          <a:xfrm>
            <a:off x="6138579" y="5050872"/>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118" name="TextBox 117"/>
          <p:cNvSpPr txBox="1"/>
          <p:nvPr/>
        </p:nvSpPr>
        <p:spPr>
          <a:xfrm>
            <a:off x="8524875" y="5842641"/>
            <a:ext cx="2939293" cy="194310"/>
          </a:xfrm>
          <a:prstGeom prst="rect">
            <a:avLst/>
          </a:prstGeom>
          <a:noFill/>
        </p:spPr>
        <p:txBody>
          <a:bodyPr wrap="none" lIns="0" rIns="0" tIns="0" bIns="0">
            <a:spAutoFit/>
          </a:bodyPr>
          <a:lstStyle/>
          <a:p>
            <a:r>
              <a:rPr sz="1150" b="1">
                <a:solidFill>
                  <a:srgbClr val="0B2E4A"/>
                </a:solidFill>
                <a:latin typeface="Calibri"/>
              </a:rPr>
              <a:t>The End User segment is projected to grow at a</a:t>
            </a:r>
          </a:p>
        </p:txBody>
      </p:sp>
      <p:sp>
        <p:nvSpPr>
          <p:cNvPr id="119" name="TextBox 118"/>
          <p:cNvSpPr txBox="1"/>
          <p:nvPr/>
        </p:nvSpPr>
        <p:spPr>
          <a:xfrm>
            <a:off x="8524875" y="6017901"/>
            <a:ext cx="574797" cy="194310"/>
          </a:xfrm>
          <a:prstGeom prst="rect">
            <a:avLst/>
          </a:prstGeom>
          <a:noFill/>
        </p:spPr>
        <p:txBody>
          <a:bodyPr wrap="none" lIns="0" rIns="0" tIns="0" bIns="0">
            <a:spAutoFit/>
          </a:bodyPr>
          <a:lstStyle/>
          <a:p>
            <a:r>
              <a:rPr sz="1150" b="1">
                <a:solidFill>
                  <a:srgbClr val="0B2E4A"/>
                </a:solidFill>
                <a:latin typeface="Calibri"/>
              </a:rPr>
              <a:t>CAGR of</a:t>
            </a:r>
          </a:p>
        </p:txBody>
      </p:sp>
      <p:pic>
        <p:nvPicPr>
          <p:cNvPr id="120" name="Picture 119" descr="lock.png"/>
          <p:cNvPicPr>
            <a:picLocks noChangeAspect="1"/>
          </p:cNvPicPr>
          <p:nvPr/>
        </p:nvPicPr>
        <p:blipFill>
          <a:blip r:embed="rId16"/>
          <a:stretch>
            <a:fillRect/>
          </a:stretch>
        </p:blipFill>
        <p:spPr>
          <a:xfrm>
            <a:off x="9048826" y="6007677"/>
            <a:ext cx="134549" cy="195707"/>
          </a:xfrm>
          <a:prstGeom prst="rect">
            <a:avLst/>
          </a:prstGeom>
        </p:spPr>
      </p:pic>
      <p:sp>
        <p:nvSpPr>
          <p:cNvPr id="121" name="TextBox 120"/>
          <p:cNvSpPr txBox="1"/>
          <p:nvPr/>
        </p:nvSpPr>
        <p:spPr>
          <a:xfrm>
            <a:off x="9223935"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End User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End User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End User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End User · Bubble size represents 2036 value</a:t>
            </a:r>
          </a:p>
        </p:txBody>
      </p:sp>
      <p:graphicFrame>
        <p:nvGraphicFramePr>
          <p:cNvPr id="16" name="Chart 15"/>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694045"/>
            <a:ext cx="11615911" cy="186689"/>
          </a:xfrm>
          <a:prstGeom prst="rect">
            <a:avLst/>
          </a:prstGeom>
          <a:noFill/>
        </p:spPr>
        <p:txBody>
          <a:bodyPr wrap="none" lIns="0" rIns="0" tIns="0" bIns="0">
            <a:spAutoFit/>
          </a:bodyPr>
          <a:lstStyle/>
          <a:p>
            <a:r>
              <a:rPr sz="1100" b="0">
                <a:solidFill>
                  <a:srgbClr val="2E2E2E"/>
                </a:solidFill>
                <a:latin typeface="Calibri"/>
              </a:rPr>
              <a:t>Academic &amp; teaching dental institutions followed by dental laboratories are expected to be the two most attractive end user segments in the North America removable partial dentures market in terms of</a:t>
            </a:r>
          </a:p>
        </p:txBody>
      </p:sp>
      <p:sp>
        <p:nvSpPr>
          <p:cNvPr id="21" name="TextBox 20"/>
          <p:cNvSpPr txBox="1"/>
          <p:nvPr/>
        </p:nvSpPr>
        <p:spPr>
          <a:xfrm>
            <a:off x="257175" y="5861685"/>
            <a:ext cx="6834170" cy="186689"/>
          </a:xfrm>
          <a:prstGeom prst="rect">
            <a:avLst/>
          </a:prstGeom>
          <a:noFill/>
        </p:spPr>
        <p:txBody>
          <a:bodyPr wrap="none" lIns="0" rIns="0" tIns="0" bIns="0">
            <a:spAutoFit/>
          </a:bodyPr>
          <a:lstStyle/>
          <a:p>
            <a:r>
              <a:rPr sz="1100" b="0">
                <a:solidFill>
                  <a:srgbClr val="2E2E2E"/>
                </a:solidFill>
                <a:latin typeface="Calibri"/>
              </a:rPr>
              <a:t>value over the forecast period. Academic &amp; teaching dental institutions and dental laboratories exhibit a CAGR index of</a:t>
            </a:r>
          </a:p>
        </p:txBody>
      </p:sp>
      <p:pic>
        <p:nvPicPr>
          <p:cNvPr id="22" name="Picture 21" descr="lock.png"/>
          <p:cNvPicPr>
            <a:picLocks noChangeAspect="1"/>
          </p:cNvPicPr>
          <p:nvPr/>
        </p:nvPicPr>
        <p:blipFill>
          <a:blip r:embed="rId6"/>
          <a:stretch>
            <a:fillRect/>
          </a:stretch>
        </p:blipFill>
        <p:spPr>
          <a:xfrm>
            <a:off x="7039397" y="5851905"/>
            <a:ext cx="128699" cy="187198"/>
          </a:xfrm>
          <a:prstGeom prst="rect">
            <a:avLst/>
          </a:prstGeom>
        </p:spPr>
      </p:pic>
      <p:sp>
        <p:nvSpPr>
          <p:cNvPr id="23" name="TextBox 22"/>
          <p:cNvSpPr txBox="1"/>
          <p:nvPr/>
        </p:nvSpPr>
        <p:spPr>
          <a:xfrm>
            <a:off x="7206892"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7444787" y="5851905"/>
            <a:ext cx="128699" cy="187198"/>
          </a:xfrm>
          <a:prstGeom prst="rect">
            <a:avLst/>
          </a:prstGeom>
        </p:spPr>
      </p:pic>
      <p:sp>
        <p:nvSpPr>
          <p:cNvPr id="25" name="TextBox 24"/>
          <p:cNvSpPr txBox="1"/>
          <p:nvPr/>
        </p:nvSpPr>
        <p:spPr>
          <a:xfrm>
            <a:off x="7612283" y="586168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9221256" y="5851905"/>
            <a:ext cx="128699" cy="187198"/>
          </a:xfrm>
          <a:prstGeom prst="rect">
            <a:avLst/>
          </a:prstGeom>
        </p:spPr>
      </p:pic>
      <p:sp>
        <p:nvSpPr>
          <p:cNvPr id="27" name="TextBox 26"/>
          <p:cNvSpPr txBox="1"/>
          <p:nvPr/>
        </p:nvSpPr>
        <p:spPr>
          <a:xfrm>
            <a:off x="9388752"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9626646" y="5851905"/>
            <a:ext cx="128699" cy="187198"/>
          </a:xfrm>
          <a:prstGeom prst="rect">
            <a:avLst/>
          </a:prstGeom>
        </p:spPr>
      </p:pic>
      <p:sp>
        <p:nvSpPr>
          <p:cNvPr id="29" name="TextBox 28"/>
          <p:cNvSpPr txBox="1"/>
          <p:nvPr/>
        </p:nvSpPr>
        <p:spPr>
          <a:xfrm>
            <a:off x="9794142" y="5861685"/>
            <a:ext cx="1453281" cy="186689"/>
          </a:xfrm>
          <a:prstGeom prst="rect">
            <a:avLst/>
          </a:prstGeom>
          <a:noFill/>
        </p:spPr>
        <p:txBody>
          <a:bodyPr wrap="none" lIns="0" rIns="0" tIns="0" bIns="0">
            <a:spAutoFit/>
          </a:bodyPr>
          <a:lstStyle/>
          <a:p>
            <a:r>
              <a:rPr sz="1100" b="0">
                <a:solidFill>
                  <a:srgbClr val="2E2E2E"/>
                </a:solidFill>
                <a:latin typeface="Calibri"/>
              </a:rPr>
              <a:t>respectively, against the</a:t>
            </a:r>
          </a:p>
        </p:txBody>
      </p:sp>
      <p:sp>
        <p:nvSpPr>
          <p:cNvPr id="30" name="TextBox 29"/>
          <p:cNvSpPr txBox="1"/>
          <p:nvPr/>
        </p:nvSpPr>
        <p:spPr>
          <a:xfrm>
            <a:off x="257175" y="6029325"/>
            <a:ext cx="1197619" cy="186689"/>
          </a:xfrm>
          <a:prstGeom prst="rect">
            <a:avLst/>
          </a:prstGeom>
          <a:noFill/>
        </p:spPr>
        <p:txBody>
          <a:bodyPr wrap="none" lIns="0" rIns="0" tIns="0" bIns="0">
            <a:spAutoFit/>
          </a:bodyPr>
          <a:lstStyle/>
          <a:p>
            <a:r>
              <a:rPr sz="1100" b="0">
                <a:solidFill>
                  <a:srgbClr val="2E2E2E"/>
                </a:solidFill>
                <a:latin typeface="Calibri"/>
              </a:rPr>
              <a:t>segment average of</a:t>
            </a:r>
          </a:p>
        </p:txBody>
      </p:sp>
      <p:pic>
        <p:nvPicPr>
          <p:cNvPr id="31" name="Picture 30" descr="lock.png"/>
          <p:cNvPicPr>
            <a:picLocks noChangeAspect="1"/>
          </p:cNvPicPr>
          <p:nvPr/>
        </p:nvPicPr>
        <p:blipFill>
          <a:blip r:embed="rId6"/>
          <a:stretch>
            <a:fillRect/>
          </a:stretch>
        </p:blipFill>
        <p:spPr>
          <a:xfrm>
            <a:off x="1402846" y="6019545"/>
            <a:ext cx="128699" cy="187198"/>
          </a:xfrm>
          <a:prstGeom prst="rect">
            <a:avLst/>
          </a:prstGeom>
        </p:spPr>
      </p:pic>
      <p:sp>
        <p:nvSpPr>
          <p:cNvPr id="32" name="TextBox 31"/>
          <p:cNvSpPr txBox="1"/>
          <p:nvPr/>
        </p:nvSpPr>
        <p:spPr>
          <a:xfrm>
            <a:off x="1570342" y="6029325"/>
            <a:ext cx="10333491" cy="186689"/>
          </a:xfrm>
          <a:prstGeom prst="rect">
            <a:avLst/>
          </a:prstGeom>
          <a:noFill/>
        </p:spPr>
        <p:txBody>
          <a:bodyPr wrap="none" lIns="0" rIns="0" tIns="0" bIns="0">
            <a:spAutoFit/>
          </a:bodyPr>
          <a:lstStyle/>
          <a:p>
            <a:r>
              <a:rPr sz="1100" b="0">
                <a:solidFill>
                  <a:srgbClr val="2E2E2E"/>
                </a:solidFill>
                <a:latin typeface="Calibri"/>
              </a:rPr>
              <a:t>. The dental clinics segment is expected to be less attractive as compared to other segments over the forecast period, owing to its lower CAGR and incremental opportunity. Bubbles</a:t>
            </a:r>
          </a:p>
        </p:txBody>
      </p:sp>
      <p:sp>
        <p:nvSpPr>
          <p:cNvPr id="33" name="TextBox 32"/>
          <p:cNvSpPr txBox="1"/>
          <p:nvPr/>
        </p:nvSpPr>
        <p:spPr>
          <a:xfrm>
            <a:off x="257175" y="6196965"/>
            <a:ext cx="3892557" cy="186689"/>
          </a:xfrm>
          <a:prstGeom prst="rect">
            <a:avLst/>
          </a:prstGeom>
          <a:noFill/>
        </p:spPr>
        <p:txBody>
          <a:bodyPr wrap="none" lIns="0" rIns="0" tIns="0" bIns="0">
            <a:spAutoFit/>
          </a:bodyPr>
          <a:lstStyle/>
          <a:p>
            <a:r>
              <a:rPr sz="1100" b="0">
                <a:solidFill>
                  <a:srgbClr val="2E2E2E"/>
                </a:solidFill>
                <a:latin typeface="Calibri"/>
              </a:rPr>
              <a:t>right of the CAGR-Index line grow faster than the segment average.</a:t>
            </a:r>
          </a:p>
        </p:txBody>
      </p:sp>
      <p:sp>
        <p:nvSpPr>
          <p:cNvPr id="34"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lockshield_16"/>
          <p:cNvSpPr/>
          <p:nvPr/>
        </p:nvSpPr>
        <p:spPr>
          <a:xfrm>
            <a:off x="6734175" y="1266825"/>
            <a:ext cx="5210175" cy="39814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End User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End User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Dental Clinics</a:t>
            </a:r>
          </a:p>
        </p:txBody>
      </p:sp>
      <p:graphicFrame>
        <p:nvGraphicFramePr>
          <p:cNvPr id="13" name="Chart 12"/>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Dental Hospitals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Dental Laboratories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Academic &amp; Teaching Dental Institutions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8"/>
          <a:stretch>
            <a:fillRect/>
          </a:stretch>
        </p:blipFill>
        <p:spPr>
          <a:xfrm>
            <a:off x="3100230" y="2330679"/>
            <a:ext cx="252890" cy="367840"/>
          </a:xfrm>
          <a:prstGeom prst="rect">
            <a:avLst/>
          </a:prstGeom>
        </p:spPr>
      </p:pic>
      <p:pic>
        <p:nvPicPr>
          <p:cNvPr id="25" name="Picture 24" descr="lock.png"/>
          <p:cNvPicPr>
            <a:picLocks noChangeAspect="1"/>
          </p:cNvPicPr>
          <p:nvPr/>
        </p:nvPicPr>
        <p:blipFill>
          <a:blip r:embed="rId8"/>
          <a:stretch>
            <a:fillRect/>
          </a:stretch>
        </p:blipFill>
        <p:spPr>
          <a:xfrm>
            <a:off x="9129555" y="2330679"/>
            <a:ext cx="252890" cy="367840"/>
          </a:xfrm>
          <a:prstGeom prst="rect">
            <a:avLst/>
          </a:prstGeom>
        </p:spPr>
      </p:pic>
      <p:pic>
        <p:nvPicPr>
          <p:cNvPr id="26" name="Picture 25" descr="lock.png"/>
          <p:cNvPicPr>
            <a:picLocks noChangeAspect="1"/>
          </p:cNvPicPr>
          <p:nvPr/>
        </p:nvPicPr>
        <p:blipFill>
          <a:blip r:embed="rId8"/>
          <a:stretch>
            <a:fillRect/>
          </a:stretch>
        </p:blipFill>
        <p:spPr>
          <a:xfrm>
            <a:off x="3100230" y="5216754"/>
            <a:ext cx="252890" cy="367840"/>
          </a:xfrm>
          <a:prstGeom prst="rect">
            <a:avLst/>
          </a:prstGeom>
        </p:spPr>
      </p:pic>
      <p:pic>
        <p:nvPicPr>
          <p:cNvPr id="27" name="Picture 26" descr="lock.png"/>
          <p:cNvPicPr>
            <a:picLocks noChangeAspect="1"/>
          </p:cNvPicPr>
          <p:nvPr/>
        </p:nvPicPr>
        <p:blipFill>
          <a:blip r:embed="rId8"/>
          <a:stretch>
            <a:fillRect/>
          </a:stretch>
        </p:blipFill>
        <p:spPr>
          <a:xfrm>
            <a:off x="9129555" y="5216754"/>
            <a:ext cx="252890" cy="367840"/>
          </a:xfrm>
          <a:prstGeom prst="rect">
            <a:avLst/>
          </a:prstGeom>
        </p:spPr>
      </p:pic>
      <p:sp>
        <p:nvSpPr>
          <p:cNvPr id="28" name="lockshield_13"/>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2"/>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End User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End User,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333625"/>
          </a:xfrm>
          <a:prstGeom prst="roundRect">
            <a:avLst>
              <a:gd name="adj" fmla="val 32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End User (Units)</a:t>
            </a:r>
          </a:p>
        </p:txBody>
      </p:sp>
      <p:graphicFrame>
        <p:nvGraphicFramePr>
          <p:cNvPr id="13" name="Table 12"/>
          <p:cNvGraphicFramePr>
            <a:graphicFrameLocks noGrp="1"/>
          </p:cNvGraphicFramePr>
          <p:nvPr/>
        </p:nvGraphicFramePr>
        <p:xfrm>
          <a:off x="152400" y="1238250"/>
          <a:ext cx="11887207" cy="1866898"/>
        </p:xfrm>
        <a:graphic>
          <a:graphicData uri="http://schemas.openxmlformats.org/drawingml/2006/table">
            <a:tbl>
              <a:tblPr>
                <a:tableStyleId>{5C22544A-7EE6-4342-B048-85BDC9FD1C3A}</a:tableStyleId>
              </a:tblPr>
              <a:tblGrid>
                <a:gridCol w="2453940"/>
                <a:gridCol w="530662"/>
                <a:gridCol w="530662"/>
                <a:gridCol w="530662"/>
                <a:gridCol w="530662"/>
                <a:gridCol w="530662"/>
                <a:gridCol w="530662"/>
                <a:gridCol w="530662"/>
                <a:gridCol w="530662"/>
                <a:gridCol w="530662"/>
                <a:gridCol w="530662"/>
                <a:gridCol w="530662"/>
                <a:gridCol w="641033"/>
                <a:gridCol w="641033"/>
                <a:gridCol w="641033"/>
                <a:gridCol w="641033"/>
                <a:gridCol w="641033"/>
                <a:gridCol w="390820"/>
              </a:tblGrid>
              <a:tr h="438912">
                <a:tc>
                  <a:txBody>
                    <a:bodyPr wrap="none"/>
                    <a:lstStyle/>
                    <a:p>
                      <a:pPr algn="l"/>
                      <a:r>
                        <a:rPr sz="1100" b="1">
                          <a:solidFill>
                            <a:srgbClr val="0B2E4A"/>
                          </a:solidFill>
                          <a:latin typeface="Calibri"/>
                        </a:rPr>
                        <a:t>End User</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4288"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4288"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4288" marT="19050" marB="19050" anchor="ctr">
                    <a:solidFill>
                      <a:srgbClr val="E0E8EF"/>
                    </a:solidFill>
                  </a:tcPr>
                </a:tc>
              </a:tr>
              <a:tr h="247040">
                <a:tc>
                  <a:txBody>
                    <a:bodyPr wrap="none"/>
                    <a:lstStyle/>
                    <a:p>
                      <a:pPr algn="l"/>
                      <a:r>
                        <a:rPr sz="1100" b="1">
                          <a:solidFill>
                            <a:srgbClr val="2E2E2E"/>
                          </a:solidFill>
                          <a:latin typeface="Calibri"/>
                        </a:rPr>
                        <a:t>Dental Clinics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247040">
                <a:tc>
                  <a:txBody>
                    <a:bodyPr wrap="none"/>
                    <a:lstStyle/>
                    <a:p>
                      <a:pPr algn="l"/>
                      <a:r>
                        <a:rPr sz="1100" b="1">
                          <a:solidFill>
                            <a:srgbClr val="2E2E2E"/>
                          </a:solidFill>
                          <a:latin typeface="Calibri"/>
                        </a:rPr>
                        <a:t>Dental Hospitals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040">
                <a:tc>
                  <a:txBody>
                    <a:bodyPr wrap="none"/>
                    <a:lstStyle/>
                    <a:p>
                      <a:pPr algn="l"/>
                      <a:r>
                        <a:rPr sz="1100" b="1">
                          <a:solidFill>
                            <a:srgbClr val="2E2E2E"/>
                          </a:solidFill>
                          <a:latin typeface="Calibri"/>
                        </a:rPr>
                        <a:t>Dental Laboratories</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c>
                  <a:txBody>
                    <a:bodyPr wrap="none"/>
                    <a:lstStyle/>
                    <a:p>
                      <a:pPr algn="ctr"/>
                      <a:r>
                        <a:rPr sz="1100"/>
                        <a:t> </a:t>
                      </a:r>
                      <a:endParaRPr sz="1100"/>
                    </a:p>
                  </a:txBody>
                  <a:tcPr marL="19050" marR="14288" marT="19050" marB="19050" anchor="ctr">
                    <a:solidFill>
                      <a:srgbClr val="FFFFFF"/>
                    </a:solidFill>
                  </a:tcPr>
                </a:tc>
              </a:tr>
              <a:tr h="439826">
                <a:tc>
                  <a:txBody>
                    <a:bodyPr wrap="none"/>
                    <a:lstStyle/>
                    <a:p>
                      <a:pPr algn="l"/>
                      <a:r>
                        <a:rPr sz="1100" b="1">
                          <a:solidFill>
                            <a:srgbClr val="2E2E2E"/>
                          </a:solidFill>
                          <a:latin typeface="Calibri"/>
                        </a:rPr>
                        <a:t>Academic &amp; Teaching Dental</a:t>
                      </a:r>
                      <a:endParaRPr sz="1100"/>
                    </a:p>
                    <a:p>
                      <a:pPr algn="l"/>
                      <a:r>
                        <a:rPr sz="1100" b="1">
                          <a:solidFill>
                            <a:srgbClr val="2E2E2E"/>
                          </a:solidFill>
                          <a:latin typeface="Calibri"/>
                        </a:rPr>
                        <a:t>Institutions</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c>
                  <a:txBody>
                    <a:bodyPr wrap="none"/>
                    <a:lstStyle/>
                    <a:p>
                      <a:pPr algn="ctr"/>
                      <a:r>
                        <a:rPr sz="1100"/>
                        <a:t> </a:t>
                      </a:r>
                      <a:endParaRPr sz="1100"/>
                    </a:p>
                  </a:txBody>
                  <a:tcPr marL="19050" marR="14288" marT="19050" marB="19050" anchor="ctr">
                    <a:solidFill>
                      <a:srgbClr val="F5F8FA"/>
                    </a:solidFill>
                  </a:tcPr>
                </a:tc>
              </a:tr>
              <a:tr h="247040">
                <a:tc>
                  <a:txBody>
                    <a:bodyPr wrap="none"/>
                    <a:lstStyle/>
                    <a:p>
                      <a:pPr algn="l"/>
                      <a:r>
                        <a:rPr sz="1100" b="1">
                          <a:solidFill>
                            <a:srgbClr val="2E2E2E"/>
                          </a:solidFill>
                          <a:latin typeface="Calibri"/>
                        </a:rPr>
                        <a:t>Total</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c>
                  <a:txBody>
                    <a:bodyPr wrap="none"/>
                    <a:lstStyle/>
                    <a:p>
                      <a:pPr algn="ctr"/>
                      <a:r>
                        <a:rPr sz="1100"/>
                        <a:t> </a:t>
                      </a:r>
                      <a:endParaRPr sz="1100"/>
                    </a:p>
                  </a:txBody>
                  <a:tcPr marL="19050" marR="14288" marT="19050" marB="19050" anchor="ctr">
                    <a:solidFill>
                      <a:srgbClr val="E0E8EF"/>
                    </a:solidFill>
                  </a:tcPr>
                </a:tc>
              </a:tr>
            </a:tbl>
          </a:graphicData>
        </a:graphic>
      </p:graphicFrame>
      <p:sp>
        <p:nvSpPr>
          <p:cNvPr id="14" name="TextBox 13"/>
          <p:cNvSpPr txBox="1"/>
          <p:nvPr/>
        </p:nvSpPr>
        <p:spPr>
          <a:xfrm>
            <a:off x="219075" y="3114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448050"/>
            <a:ext cx="1190625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5337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End User</a:t>
            </a:r>
          </a:p>
        </p:txBody>
      </p:sp>
      <p:sp>
        <p:nvSpPr>
          <p:cNvPr id="17" name="Rectangle 16"/>
          <p:cNvSpPr/>
          <p:nvPr/>
        </p:nvSpPr>
        <p:spPr>
          <a:xfrm>
            <a:off x="276225" y="3771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857625"/>
            <a:ext cx="11639550" cy="26955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136283" y="2124454"/>
            <a:ext cx="366712" cy="533400"/>
          </a:xfrm>
          <a:prstGeom prst="rect">
            <a:avLst/>
          </a:prstGeom>
        </p:spPr>
      </p:pic>
      <p:sp>
        <p:nvSpPr>
          <p:cNvPr id="21" name="TextBox 20"/>
          <p:cNvSpPr txBox="1"/>
          <p:nvPr/>
        </p:nvSpPr>
        <p:spPr>
          <a:xfrm>
            <a:off x="276225" y="3867150"/>
            <a:ext cx="3145246" cy="194310"/>
          </a:xfrm>
          <a:prstGeom prst="rect">
            <a:avLst/>
          </a:prstGeom>
          <a:noFill/>
        </p:spPr>
        <p:txBody>
          <a:bodyPr wrap="none" lIns="0" rIns="0" tIns="0" bIns="0">
            <a:spAutoFit/>
          </a:bodyPr>
          <a:lstStyle/>
          <a:p>
            <a:r>
              <a:rPr sz="1150" b="0">
                <a:solidFill>
                  <a:srgbClr val="2E2E2E"/>
                </a:solidFill>
                <a:latin typeface="Calibri"/>
              </a:rPr>
              <a:t>Dental laboratories segment is projected to register</a:t>
            </a:r>
          </a:p>
        </p:txBody>
      </p:sp>
      <p:pic>
        <p:nvPicPr>
          <p:cNvPr id="22" name="Picture 21" descr="lock.png"/>
          <p:cNvPicPr>
            <a:picLocks noChangeAspect="1"/>
          </p:cNvPicPr>
          <p:nvPr/>
        </p:nvPicPr>
        <p:blipFill>
          <a:blip r:embed="rId4"/>
          <a:stretch>
            <a:fillRect/>
          </a:stretch>
        </p:blipFill>
        <p:spPr>
          <a:xfrm>
            <a:off x="3370625" y="3856926"/>
            <a:ext cx="134549" cy="195707"/>
          </a:xfrm>
          <a:prstGeom prst="rect">
            <a:avLst/>
          </a:prstGeom>
        </p:spPr>
      </p:pic>
      <p:sp>
        <p:nvSpPr>
          <p:cNvPr id="23" name="TextBox 22"/>
          <p:cNvSpPr txBox="1"/>
          <p:nvPr/>
        </p:nvSpPr>
        <p:spPr>
          <a:xfrm>
            <a:off x="3545734" y="3867150"/>
            <a:ext cx="8072722" cy="194310"/>
          </a:xfrm>
          <a:prstGeom prst="rect">
            <a:avLst/>
          </a:prstGeom>
          <a:noFill/>
        </p:spPr>
        <p:txBody>
          <a:bodyPr wrap="none" lIns="0" rIns="0" tIns="0" bIns="0">
            <a:spAutoFit/>
          </a:bodyPr>
          <a:lstStyle/>
          <a:p>
            <a:r>
              <a:rPr sz="1150" b="0">
                <a:solidFill>
                  <a:srgbClr val="2E2E2E"/>
                </a:solidFill>
                <a:latin typeface="Calibri"/>
              </a:rPr>
              <a:t>X higher volume than academic &amp; teaching dental institutions segment in 2036. Among removable partial dentures by end user, dental</a:t>
            </a:r>
          </a:p>
        </p:txBody>
      </p:sp>
      <p:sp>
        <p:nvSpPr>
          <p:cNvPr id="24" name="TextBox 23"/>
          <p:cNvSpPr txBox="1"/>
          <p:nvPr/>
        </p:nvSpPr>
        <p:spPr>
          <a:xfrm>
            <a:off x="276225" y="4042410"/>
            <a:ext cx="3720586" cy="194310"/>
          </a:xfrm>
          <a:prstGeom prst="rect">
            <a:avLst/>
          </a:prstGeom>
          <a:noFill/>
        </p:spPr>
        <p:txBody>
          <a:bodyPr wrap="none" lIns="0" rIns="0" tIns="0" bIns="0">
            <a:spAutoFit/>
          </a:bodyPr>
          <a:lstStyle/>
          <a:p>
            <a:r>
              <a:rPr sz="1150" b="0">
                <a:solidFill>
                  <a:srgbClr val="2E2E2E"/>
                </a:solidFill>
                <a:latin typeface="Calibri"/>
              </a:rPr>
              <a:t>hospitals segment is expected to witness the highest CAGR of</a:t>
            </a:r>
          </a:p>
        </p:txBody>
      </p:sp>
      <p:pic>
        <p:nvPicPr>
          <p:cNvPr id="25" name="Picture 24" descr="lock.png"/>
          <p:cNvPicPr>
            <a:picLocks noChangeAspect="1"/>
          </p:cNvPicPr>
          <p:nvPr/>
        </p:nvPicPr>
        <p:blipFill>
          <a:blip r:embed="rId4"/>
          <a:stretch>
            <a:fillRect/>
          </a:stretch>
        </p:blipFill>
        <p:spPr>
          <a:xfrm>
            <a:off x="3945965" y="4032186"/>
            <a:ext cx="134549" cy="195707"/>
          </a:xfrm>
          <a:prstGeom prst="rect">
            <a:avLst/>
          </a:prstGeom>
        </p:spPr>
      </p:pic>
      <p:sp>
        <p:nvSpPr>
          <p:cNvPr id="26" name="TextBox 25"/>
          <p:cNvSpPr txBox="1"/>
          <p:nvPr/>
        </p:nvSpPr>
        <p:spPr>
          <a:xfrm>
            <a:off x="4121074" y="40424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4270247"/>
            <a:ext cx="6839855" cy="194310"/>
          </a:xfrm>
          <a:prstGeom prst="rect">
            <a:avLst/>
          </a:prstGeom>
          <a:noFill/>
        </p:spPr>
        <p:txBody>
          <a:bodyPr wrap="none" lIns="0" rIns="0" tIns="0" bIns="0">
            <a:spAutoFit/>
          </a:bodyPr>
          <a:lstStyle/>
          <a:p>
            <a:r>
              <a:rPr sz="1150" b="0">
                <a:solidFill>
                  <a:srgbClr val="2E2E2E"/>
                </a:solidFill>
                <a:latin typeface="Calibri"/>
              </a:rPr>
              <a:t>In terms of volume share by end user, the dental laboratories segment is expected to dominate the market, losing</a:t>
            </a:r>
          </a:p>
        </p:txBody>
      </p:sp>
      <p:pic>
        <p:nvPicPr>
          <p:cNvPr id="28" name="Picture 27" descr="lock.png"/>
          <p:cNvPicPr>
            <a:picLocks noChangeAspect="1"/>
          </p:cNvPicPr>
          <p:nvPr/>
        </p:nvPicPr>
        <p:blipFill>
          <a:blip r:embed="rId4"/>
          <a:stretch>
            <a:fillRect/>
          </a:stretch>
        </p:blipFill>
        <p:spPr>
          <a:xfrm>
            <a:off x="7065234" y="4260024"/>
            <a:ext cx="134549" cy="195707"/>
          </a:xfrm>
          <a:prstGeom prst="rect">
            <a:avLst/>
          </a:prstGeom>
        </p:spPr>
      </p:pic>
      <p:sp>
        <p:nvSpPr>
          <p:cNvPr id="29" name="TextBox 28"/>
          <p:cNvSpPr txBox="1"/>
          <p:nvPr/>
        </p:nvSpPr>
        <p:spPr>
          <a:xfrm>
            <a:off x="7240343" y="42702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8635486" y="4260024"/>
            <a:ext cx="134549" cy="195707"/>
          </a:xfrm>
          <a:prstGeom prst="rect">
            <a:avLst/>
          </a:prstGeom>
        </p:spPr>
      </p:pic>
      <p:sp>
        <p:nvSpPr>
          <p:cNvPr id="31" name="TextBox 30"/>
          <p:cNvSpPr txBox="1"/>
          <p:nvPr/>
        </p:nvSpPr>
        <p:spPr>
          <a:xfrm>
            <a:off x="8810596" y="427024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End User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End User,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End User (US$ Mn)</a:t>
            </a:r>
          </a:p>
        </p:txBody>
      </p:sp>
      <p:graphicFrame>
        <p:nvGraphicFramePr>
          <p:cNvPr id="13" name="Table 12"/>
          <p:cNvGraphicFramePr>
            <a:graphicFrameLocks noGrp="1"/>
          </p:cNvGraphicFramePr>
          <p:nvPr/>
        </p:nvGraphicFramePr>
        <p:xfrm>
          <a:off x="152400" y="1238250"/>
          <a:ext cx="11887196" cy="1485896"/>
        </p:xfrm>
        <a:graphic>
          <a:graphicData uri="http://schemas.openxmlformats.org/drawingml/2006/table">
            <a:tbl>
              <a:tblPr>
                <a:tableStyleId>{5C22544A-7EE6-4342-B048-85BDC9FD1C3A}</a:tableStyleId>
              </a:tblPr>
              <a:tblGrid>
                <a:gridCol w="2836344"/>
                <a:gridCol w="543671"/>
                <a:gridCol w="543671"/>
                <a:gridCol w="543671"/>
                <a:gridCol w="543671"/>
                <a:gridCol w="543671"/>
                <a:gridCol w="524520"/>
                <a:gridCol w="519048"/>
                <a:gridCol w="519048"/>
                <a:gridCol w="519048"/>
                <a:gridCol w="519048"/>
                <a:gridCol w="519048"/>
                <a:gridCol w="519048"/>
                <a:gridCol w="519048"/>
                <a:gridCol w="519048"/>
                <a:gridCol w="519048"/>
                <a:gridCol w="519048"/>
                <a:gridCol w="617497"/>
              </a:tblGrid>
              <a:tr h="246126">
                <a:tc>
                  <a:txBody>
                    <a:bodyPr wrap="none"/>
                    <a:lstStyle/>
                    <a:p>
                      <a:pPr algn="l"/>
                      <a:r>
                        <a:rPr sz="1100" b="1">
                          <a:solidFill>
                            <a:srgbClr val="0B2E4A"/>
                          </a:solidFill>
                          <a:latin typeface="Calibri"/>
                        </a:rPr>
                        <a:t>End User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Dental Clinics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Dental Hospitals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Dental Laboratories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Academic &amp; Teaching Dental Institutions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733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3562350"/>
          </a:xfrm>
          <a:prstGeom prst="roundRect">
            <a:avLst>
              <a:gd name="adj" fmla="val 21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1527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End User</a:t>
            </a:r>
          </a:p>
        </p:txBody>
      </p:sp>
      <p:sp>
        <p:nvSpPr>
          <p:cNvPr id="17" name="Rectangle 16"/>
          <p:cNvSpPr/>
          <p:nvPr/>
        </p:nvSpPr>
        <p:spPr>
          <a:xfrm>
            <a:off x="276225" y="3390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476625"/>
            <a:ext cx="11639550" cy="30765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327480" y="1837563"/>
            <a:ext cx="366712" cy="533400"/>
          </a:xfrm>
          <a:prstGeom prst="rect">
            <a:avLst/>
          </a:prstGeom>
        </p:spPr>
      </p:pic>
      <p:sp>
        <p:nvSpPr>
          <p:cNvPr id="21" name="TextBox 20"/>
          <p:cNvSpPr txBox="1"/>
          <p:nvPr/>
        </p:nvSpPr>
        <p:spPr>
          <a:xfrm>
            <a:off x="276225" y="3486150"/>
            <a:ext cx="4368986" cy="194310"/>
          </a:xfrm>
          <a:prstGeom prst="rect">
            <a:avLst/>
          </a:prstGeom>
          <a:noFill/>
        </p:spPr>
        <p:txBody>
          <a:bodyPr wrap="none" lIns="0" rIns="0" tIns="0" bIns="0">
            <a:spAutoFit/>
          </a:bodyPr>
          <a:lstStyle/>
          <a:p>
            <a:r>
              <a:rPr sz="1150" b="0">
                <a:solidFill>
                  <a:srgbClr val="2E2E2E"/>
                </a:solidFill>
                <a:latin typeface="Calibri"/>
              </a:rPr>
              <a:t>Academic &amp; teaching dental institutions segment is projected to register</a:t>
            </a:r>
          </a:p>
        </p:txBody>
      </p:sp>
      <p:pic>
        <p:nvPicPr>
          <p:cNvPr id="22" name="Picture 21" descr="lock.png"/>
          <p:cNvPicPr>
            <a:picLocks noChangeAspect="1"/>
          </p:cNvPicPr>
          <p:nvPr/>
        </p:nvPicPr>
        <p:blipFill>
          <a:blip r:embed="rId4"/>
          <a:stretch>
            <a:fillRect/>
          </a:stretch>
        </p:blipFill>
        <p:spPr>
          <a:xfrm>
            <a:off x="4594364" y="3475926"/>
            <a:ext cx="134549" cy="195707"/>
          </a:xfrm>
          <a:prstGeom prst="rect">
            <a:avLst/>
          </a:prstGeom>
        </p:spPr>
      </p:pic>
      <p:sp>
        <p:nvSpPr>
          <p:cNvPr id="23" name="TextBox 22"/>
          <p:cNvSpPr txBox="1"/>
          <p:nvPr/>
        </p:nvSpPr>
        <p:spPr>
          <a:xfrm>
            <a:off x="4769474" y="3486150"/>
            <a:ext cx="6726609" cy="194310"/>
          </a:xfrm>
          <a:prstGeom prst="rect">
            <a:avLst/>
          </a:prstGeom>
          <a:noFill/>
        </p:spPr>
        <p:txBody>
          <a:bodyPr wrap="none" lIns="0" rIns="0" tIns="0" bIns="0">
            <a:spAutoFit/>
          </a:bodyPr>
          <a:lstStyle/>
          <a:p>
            <a:r>
              <a:rPr sz="1150" b="0">
                <a:solidFill>
                  <a:srgbClr val="2E2E2E"/>
                </a:solidFill>
                <a:latin typeface="Calibri"/>
              </a:rPr>
              <a:t>X higher value than dental laboratories segment in 2036. Among removable partial dentures by end user, dental</a:t>
            </a:r>
          </a:p>
        </p:txBody>
      </p:sp>
      <p:sp>
        <p:nvSpPr>
          <p:cNvPr id="24" name="TextBox 23"/>
          <p:cNvSpPr txBox="1"/>
          <p:nvPr/>
        </p:nvSpPr>
        <p:spPr>
          <a:xfrm>
            <a:off x="276225" y="3661410"/>
            <a:ext cx="3720586" cy="194310"/>
          </a:xfrm>
          <a:prstGeom prst="rect">
            <a:avLst/>
          </a:prstGeom>
          <a:noFill/>
        </p:spPr>
        <p:txBody>
          <a:bodyPr wrap="none" lIns="0" rIns="0" tIns="0" bIns="0">
            <a:spAutoFit/>
          </a:bodyPr>
          <a:lstStyle/>
          <a:p>
            <a:r>
              <a:rPr sz="1150" b="0">
                <a:solidFill>
                  <a:srgbClr val="2E2E2E"/>
                </a:solidFill>
                <a:latin typeface="Calibri"/>
              </a:rPr>
              <a:t>hospitals segment is expected to witness the highest CAGR of</a:t>
            </a:r>
          </a:p>
        </p:txBody>
      </p:sp>
      <p:pic>
        <p:nvPicPr>
          <p:cNvPr id="25" name="Picture 24" descr="lock.png"/>
          <p:cNvPicPr>
            <a:picLocks noChangeAspect="1"/>
          </p:cNvPicPr>
          <p:nvPr/>
        </p:nvPicPr>
        <p:blipFill>
          <a:blip r:embed="rId4"/>
          <a:stretch>
            <a:fillRect/>
          </a:stretch>
        </p:blipFill>
        <p:spPr>
          <a:xfrm>
            <a:off x="3945965" y="3651186"/>
            <a:ext cx="134549" cy="195707"/>
          </a:xfrm>
          <a:prstGeom prst="rect">
            <a:avLst/>
          </a:prstGeom>
        </p:spPr>
      </p:pic>
      <p:sp>
        <p:nvSpPr>
          <p:cNvPr id="26" name="TextBox 25"/>
          <p:cNvSpPr txBox="1"/>
          <p:nvPr/>
        </p:nvSpPr>
        <p:spPr>
          <a:xfrm>
            <a:off x="4121074" y="36614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889247"/>
            <a:ext cx="8019665" cy="194310"/>
          </a:xfrm>
          <a:prstGeom prst="rect">
            <a:avLst/>
          </a:prstGeom>
          <a:noFill/>
        </p:spPr>
        <p:txBody>
          <a:bodyPr wrap="none" lIns="0" rIns="0" tIns="0" bIns="0">
            <a:spAutoFit/>
          </a:bodyPr>
          <a:lstStyle/>
          <a:p>
            <a:r>
              <a:rPr sz="1150" b="0">
                <a:solidFill>
                  <a:srgbClr val="2E2E2E"/>
                </a:solidFill>
                <a:latin typeface="Calibri"/>
              </a:rPr>
              <a:t>In terms of value share by end user, the academic &amp; teaching dental institutions segment is expected to dominate the market, gaining</a:t>
            </a:r>
          </a:p>
        </p:txBody>
      </p:sp>
      <p:pic>
        <p:nvPicPr>
          <p:cNvPr id="28" name="Picture 27" descr="lock.png"/>
          <p:cNvPicPr>
            <a:picLocks noChangeAspect="1"/>
          </p:cNvPicPr>
          <p:nvPr/>
        </p:nvPicPr>
        <p:blipFill>
          <a:blip r:embed="rId4"/>
          <a:stretch>
            <a:fillRect/>
          </a:stretch>
        </p:blipFill>
        <p:spPr>
          <a:xfrm>
            <a:off x="8245044" y="3879024"/>
            <a:ext cx="134549" cy="195707"/>
          </a:xfrm>
          <a:prstGeom prst="rect">
            <a:avLst/>
          </a:prstGeom>
        </p:spPr>
      </p:pic>
      <p:sp>
        <p:nvSpPr>
          <p:cNvPr id="29" name="TextBox 28"/>
          <p:cNvSpPr txBox="1"/>
          <p:nvPr/>
        </p:nvSpPr>
        <p:spPr>
          <a:xfrm>
            <a:off x="8420153" y="38892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815296" y="3879024"/>
            <a:ext cx="134549" cy="195707"/>
          </a:xfrm>
          <a:prstGeom prst="rect">
            <a:avLst/>
          </a:prstGeom>
        </p:spPr>
      </p:pic>
      <p:sp>
        <p:nvSpPr>
          <p:cNvPr id="31" name="TextBox 30"/>
          <p:cNvSpPr txBox="1"/>
          <p:nvPr/>
        </p:nvSpPr>
        <p:spPr>
          <a:xfrm>
            <a:off x="9990406" y="3889247"/>
            <a:ext cx="1612007" cy="194310"/>
          </a:xfrm>
          <a:prstGeom prst="rect">
            <a:avLst/>
          </a:prstGeom>
          <a:noFill/>
        </p:spPr>
        <p:txBody>
          <a:bodyPr wrap="none" lIns="0" rIns="0" tIns="0" bIns="0">
            <a:spAutoFit/>
          </a:bodyPr>
          <a:lstStyle/>
          <a:p>
            <a:r>
              <a:rPr sz="1150" b="0">
                <a:solidFill>
                  <a:srgbClr val="2E2E2E"/>
                </a:solidFill>
                <a:latin typeface="Calibri"/>
              </a:rPr>
              <a:t>share by 2036. The dental</a:t>
            </a:r>
          </a:p>
        </p:txBody>
      </p:sp>
      <p:sp>
        <p:nvSpPr>
          <p:cNvPr id="32" name="TextBox 31"/>
          <p:cNvSpPr txBox="1"/>
          <p:nvPr/>
        </p:nvSpPr>
        <p:spPr>
          <a:xfrm>
            <a:off x="276225" y="4064507"/>
            <a:ext cx="2477467" cy="194310"/>
          </a:xfrm>
          <a:prstGeom prst="rect">
            <a:avLst/>
          </a:prstGeom>
          <a:noFill/>
        </p:spPr>
        <p:txBody>
          <a:bodyPr wrap="none" lIns="0" rIns="0" tIns="0" bIns="0">
            <a:spAutoFit/>
          </a:bodyPr>
          <a:lstStyle/>
          <a:p>
            <a:r>
              <a:rPr sz="1150" b="0">
                <a:solidFill>
                  <a:srgbClr val="2E2E2E"/>
                </a:solidFill>
                <a:latin typeface="Calibri"/>
              </a:rPr>
              <a:t>laboratories segment is expected to lose</a:t>
            </a:r>
          </a:p>
        </p:txBody>
      </p:sp>
      <p:pic>
        <p:nvPicPr>
          <p:cNvPr id="33" name="Picture 32" descr="lock.png"/>
          <p:cNvPicPr>
            <a:picLocks noChangeAspect="1"/>
          </p:cNvPicPr>
          <p:nvPr/>
        </p:nvPicPr>
        <p:blipFill>
          <a:blip r:embed="rId4"/>
          <a:stretch>
            <a:fillRect/>
          </a:stretch>
        </p:blipFill>
        <p:spPr>
          <a:xfrm>
            <a:off x="2702846" y="4054284"/>
            <a:ext cx="134549" cy="195707"/>
          </a:xfrm>
          <a:prstGeom prst="rect">
            <a:avLst/>
          </a:prstGeom>
        </p:spPr>
      </p:pic>
      <p:sp>
        <p:nvSpPr>
          <p:cNvPr id="34" name="TextBox 33"/>
          <p:cNvSpPr txBox="1"/>
          <p:nvPr/>
        </p:nvSpPr>
        <p:spPr>
          <a:xfrm>
            <a:off x="2877955" y="4064507"/>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5465460" y="4054284"/>
            <a:ext cx="134549" cy="195707"/>
          </a:xfrm>
          <a:prstGeom prst="rect">
            <a:avLst/>
          </a:prstGeom>
        </p:spPr>
      </p:pic>
      <p:sp>
        <p:nvSpPr>
          <p:cNvPr id="36" name="TextBox 35"/>
          <p:cNvSpPr txBox="1"/>
          <p:nvPr/>
        </p:nvSpPr>
        <p:spPr>
          <a:xfrm>
            <a:off x="5640569" y="406450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End User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End User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End User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61826"/>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85706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8086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Hospitals</a:t>
            </a:r>
          </a:p>
        </p:txBody>
      </p:sp>
      <p:sp>
        <p:nvSpPr>
          <p:cNvPr id="19" name="BPS Value 1"/>
          <p:cNvSpPr txBox="1"/>
          <p:nvPr/>
        </p:nvSpPr>
        <p:spPr>
          <a:xfrm>
            <a:off x="6896100" y="1842776"/>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0" name="FMI Legend Chip"/>
          <p:cNvSpPr/>
          <p:nvPr/>
        </p:nvSpPr>
        <p:spPr>
          <a:xfrm>
            <a:off x="4928997" y="2301290"/>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29652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22032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Clinics</a:t>
            </a:r>
          </a:p>
        </p:txBody>
      </p:sp>
      <p:sp>
        <p:nvSpPr>
          <p:cNvPr id="23" name="BPS Value 2"/>
          <p:cNvSpPr txBox="1"/>
          <p:nvPr/>
        </p:nvSpPr>
        <p:spPr>
          <a:xfrm>
            <a:off x="6896100" y="2282240"/>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FMI Legend Chip"/>
          <p:cNvSpPr/>
          <p:nvPr/>
        </p:nvSpPr>
        <p:spPr>
          <a:xfrm>
            <a:off x="4928997" y="3361551"/>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35678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28058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Laboratories</a:t>
            </a:r>
          </a:p>
        </p:txBody>
      </p:sp>
      <p:sp>
        <p:nvSpPr>
          <p:cNvPr id="27" name="BPS Value 3"/>
          <p:cNvSpPr txBox="1"/>
          <p:nvPr/>
        </p:nvSpPr>
        <p:spPr>
          <a:xfrm>
            <a:off x="6896100" y="3342501"/>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8" name="FMI Legend Chip"/>
          <p:cNvSpPr/>
          <p:nvPr/>
        </p:nvSpPr>
        <p:spPr>
          <a:xfrm>
            <a:off x="4928997" y="5208277"/>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203514"/>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12731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Academic &amp; Teaching Dental Institutions</a:t>
            </a:r>
          </a:p>
        </p:txBody>
      </p:sp>
      <p:sp>
        <p:nvSpPr>
          <p:cNvPr id="31" name="BPS Value 4"/>
          <p:cNvSpPr txBox="1"/>
          <p:nvPr/>
        </p:nvSpPr>
        <p:spPr>
          <a:xfrm>
            <a:off x="6896100" y="5189227"/>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End User</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7" name="Picture 36" descr="lock.png"/>
          <p:cNvPicPr>
            <a:picLocks noChangeAspect="1"/>
          </p:cNvPicPr>
          <p:nvPr/>
        </p:nvPicPr>
        <p:blipFill>
          <a:blip r:embed="rId5"/>
          <a:stretch>
            <a:fillRect/>
          </a:stretch>
        </p:blipFill>
        <p:spPr>
          <a:xfrm>
            <a:off x="2557843" y="3833622"/>
            <a:ext cx="275034" cy="400050"/>
          </a:xfrm>
          <a:prstGeom prst="rect">
            <a:avLst/>
          </a:prstGeom>
        </p:spPr>
      </p:pic>
      <p:sp>
        <p:nvSpPr>
          <p:cNvPr id="38" name="TextBox 37"/>
          <p:cNvSpPr txBox="1"/>
          <p:nvPr/>
        </p:nvSpPr>
        <p:spPr>
          <a:xfrm>
            <a:off x="7829550" y="1400175"/>
            <a:ext cx="3890615" cy="194310"/>
          </a:xfrm>
          <a:prstGeom prst="rect">
            <a:avLst/>
          </a:prstGeom>
          <a:noFill/>
        </p:spPr>
        <p:txBody>
          <a:bodyPr wrap="none" lIns="0" rIns="0" tIns="0" bIns="0">
            <a:spAutoFit/>
          </a:bodyPr>
          <a:lstStyle/>
          <a:p>
            <a:r>
              <a:rPr sz="1150" b="0">
                <a:solidFill>
                  <a:srgbClr val="2E2E2E"/>
                </a:solidFill>
                <a:latin typeface="Calibri"/>
              </a:rPr>
              <a:t>Among removable partial dentures by end user, dental hospitals</a:t>
            </a:r>
          </a:p>
        </p:txBody>
      </p:sp>
      <p:sp>
        <p:nvSpPr>
          <p:cNvPr id="39" name="TextBox 38"/>
          <p:cNvSpPr txBox="1"/>
          <p:nvPr/>
        </p:nvSpPr>
        <p:spPr>
          <a:xfrm>
            <a:off x="7829550" y="1575435"/>
            <a:ext cx="3156639" cy="194310"/>
          </a:xfrm>
          <a:prstGeom prst="rect">
            <a:avLst/>
          </a:prstGeom>
          <a:noFill/>
        </p:spPr>
        <p:txBody>
          <a:bodyPr wrap="none" lIns="0" rIns="0" tIns="0" bIns="0">
            <a:spAutoFit/>
          </a:bodyPr>
          <a:lstStyle/>
          <a:p>
            <a:r>
              <a:rPr sz="1150" b="0">
                <a:solidFill>
                  <a:srgbClr val="2E2E2E"/>
                </a:solidFill>
                <a:latin typeface="Calibri"/>
              </a:rPr>
              <a:t>segment is expected to witness the highest CAGR of</a:t>
            </a:r>
          </a:p>
        </p:txBody>
      </p:sp>
      <p:pic>
        <p:nvPicPr>
          <p:cNvPr id="40" name="Picture 39" descr="lock.png"/>
          <p:cNvPicPr>
            <a:picLocks noChangeAspect="1"/>
          </p:cNvPicPr>
          <p:nvPr/>
        </p:nvPicPr>
        <p:blipFill>
          <a:blip r:embed="rId5"/>
          <a:stretch>
            <a:fillRect/>
          </a:stretch>
        </p:blipFill>
        <p:spPr>
          <a:xfrm>
            <a:off x="10935343" y="1565211"/>
            <a:ext cx="134549" cy="195707"/>
          </a:xfrm>
          <a:prstGeom prst="rect">
            <a:avLst/>
          </a:prstGeom>
        </p:spPr>
      </p:pic>
      <p:sp>
        <p:nvSpPr>
          <p:cNvPr id="41" name="TextBox 40"/>
          <p:cNvSpPr txBox="1"/>
          <p:nvPr/>
        </p:nvSpPr>
        <p:spPr>
          <a:xfrm>
            <a:off x="11110452" y="1575435"/>
            <a:ext cx="574538" cy="194310"/>
          </a:xfrm>
          <a:prstGeom prst="rect">
            <a:avLst/>
          </a:prstGeom>
          <a:noFill/>
        </p:spPr>
        <p:txBody>
          <a:bodyPr wrap="none" lIns="0" rIns="0" tIns="0" bIns="0">
            <a:spAutoFit/>
          </a:bodyPr>
          <a:lstStyle/>
          <a:p>
            <a:r>
              <a:rPr sz="1150" b="0">
                <a:solidFill>
                  <a:srgbClr val="2E2E2E"/>
                </a:solidFill>
                <a:latin typeface="Calibri"/>
              </a:rPr>
              <a:t>over the</a:t>
            </a:r>
          </a:p>
        </p:txBody>
      </p:sp>
      <p:sp>
        <p:nvSpPr>
          <p:cNvPr id="42" name="TextBox 41"/>
          <p:cNvSpPr txBox="1"/>
          <p:nvPr/>
        </p:nvSpPr>
        <p:spPr>
          <a:xfrm>
            <a:off x="7829550" y="1750695"/>
            <a:ext cx="4001293" cy="194310"/>
          </a:xfrm>
          <a:prstGeom prst="rect">
            <a:avLst/>
          </a:prstGeom>
          <a:noFill/>
        </p:spPr>
        <p:txBody>
          <a:bodyPr wrap="none" lIns="0" rIns="0" tIns="0" bIns="0">
            <a:spAutoFit/>
          </a:bodyPr>
          <a:lstStyle/>
          <a:p>
            <a:r>
              <a:rPr sz="1150" b="0">
                <a:solidFill>
                  <a:srgbClr val="2E2E2E"/>
                </a:solidFill>
                <a:latin typeface="Calibri"/>
              </a:rPr>
              <a:t>forecast period. In terms of value share by end user, the academic</a:t>
            </a:r>
          </a:p>
        </p:txBody>
      </p:sp>
      <p:sp>
        <p:nvSpPr>
          <p:cNvPr id="43" name="TextBox 42"/>
          <p:cNvSpPr txBox="1"/>
          <p:nvPr/>
        </p:nvSpPr>
        <p:spPr>
          <a:xfrm>
            <a:off x="7829550" y="1925955"/>
            <a:ext cx="4057650" cy="194310"/>
          </a:xfrm>
          <a:prstGeom prst="rect">
            <a:avLst/>
          </a:prstGeom>
          <a:noFill/>
        </p:spPr>
        <p:txBody>
          <a:bodyPr wrap="none" lIns="0" rIns="0" tIns="0" bIns="0">
            <a:spAutoFit/>
          </a:bodyPr>
          <a:lstStyle/>
          <a:p>
            <a:r>
              <a:rPr sz="1150" b="0">
                <a:solidFill>
                  <a:srgbClr val="2E2E2E"/>
                </a:solidFill>
                <a:latin typeface="Calibri"/>
              </a:rPr>
              <a:t>&amp; teaching dental institutions segment is expected to dominate the</a:t>
            </a:r>
          </a:p>
        </p:txBody>
      </p:sp>
      <p:sp>
        <p:nvSpPr>
          <p:cNvPr id="44" name="TextBox 43"/>
          <p:cNvSpPr txBox="1"/>
          <p:nvPr/>
        </p:nvSpPr>
        <p:spPr>
          <a:xfrm>
            <a:off x="7829550" y="2101215"/>
            <a:ext cx="999852" cy="194310"/>
          </a:xfrm>
          <a:prstGeom prst="rect">
            <a:avLst/>
          </a:prstGeom>
          <a:noFill/>
        </p:spPr>
        <p:txBody>
          <a:bodyPr wrap="none" lIns="0" rIns="0" tIns="0" bIns="0">
            <a:spAutoFit/>
          </a:bodyPr>
          <a:lstStyle/>
          <a:p>
            <a:r>
              <a:rPr sz="1150" b="0">
                <a:solidFill>
                  <a:srgbClr val="2E2E2E"/>
                </a:solidFill>
                <a:latin typeface="Calibri"/>
              </a:rPr>
              <a:t>market, gaining</a:t>
            </a:r>
          </a:p>
        </p:txBody>
      </p:sp>
      <p:pic>
        <p:nvPicPr>
          <p:cNvPr id="45" name="Picture 44" descr="lock.png"/>
          <p:cNvPicPr>
            <a:picLocks noChangeAspect="1"/>
          </p:cNvPicPr>
          <p:nvPr/>
        </p:nvPicPr>
        <p:blipFill>
          <a:blip r:embed="rId5"/>
          <a:stretch>
            <a:fillRect/>
          </a:stretch>
        </p:blipFill>
        <p:spPr>
          <a:xfrm>
            <a:off x="8778556" y="2090991"/>
            <a:ext cx="134549" cy="195707"/>
          </a:xfrm>
          <a:prstGeom prst="rect">
            <a:avLst/>
          </a:prstGeom>
        </p:spPr>
      </p:pic>
      <p:sp>
        <p:nvSpPr>
          <p:cNvPr id="46" name="TextBox 45"/>
          <p:cNvSpPr txBox="1"/>
          <p:nvPr/>
        </p:nvSpPr>
        <p:spPr>
          <a:xfrm>
            <a:off x="8953665" y="2101215"/>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47" name="Picture 46" descr="lock.png"/>
          <p:cNvPicPr>
            <a:picLocks noChangeAspect="1"/>
          </p:cNvPicPr>
          <p:nvPr/>
        </p:nvPicPr>
        <p:blipFill>
          <a:blip r:embed="rId5"/>
          <a:stretch>
            <a:fillRect/>
          </a:stretch>
        </p:blipFill>
        <p:spPr>
          <a:xfrm>
            <a:off x="10348808" y="2090991"/>
            <a:ext cx="134549" cy="195707"/>
          </a:xfrm>
          <a:prstGeom prst="rect">
            <a:avLst/>
          </a:prstGeom>
        </p:spPr>
      </p:pic>
      <p:sp>
        <p:nvSpPr>
          <p:cNvPr id="48" name="TextBox 47"/>
          <p:cNvSpPr txBox="1"/>
          <p:nvPr/>
        </p:nvSpPr>
        <p:spPr>
          <a:xfrm>
            <a:off x="10523917" y="2101215"/>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9" name="TextBox 48"/>
          <p:cNvSpPr txBox="1"/>
          <p:nvPr/>
        </p:nvSpPr>
        <p:spPr>
          <a:xfrm>
            <a:off x="7829550" y="2329053"/>
            <a:ext cx="3143250" cy="194310"/>
          </a:xfrm>
          <a:prstGeom prst="rect">
            <a:avLst/>
          </a:prstGeom>
          <a:noFill/>
        </p:spPr>
        <p:txBody>
          <a:bodyPr wrap="none" lIns="0" rIns="0" tIns="0" bIns="0">
            <a:spAutoFit/>
          </a:bodyPr>
          <a:lstStyle/>
          <a:p>
            <a:r>
              <a:rPr sz="1150" b="0">
                <a:solidFill>
                  <a:srgbClr val="2E2E2E"/>
                </a:solidFill>
                <a:latin typeface="Calibri"/>
              </a:rPr>
              <a:t>The dental laboratories segment is expected to lose</a:t>
            </a:r>
          </a:p>
        </p:txBody>
      </p:sp>
      <p:pic>
        <p:nvPicPr>
          <p:cNvPr id="50" name="Picture 49" descr="lock.png"/>
          <p:cNvPicPr>
            <a:picLocks noChangeAspect="1"/>
          </p:cNvPicPr>
          <p:nvPr/>
        </p:nvPicPr>
        <p:blipFill>
          <a:blip r:embed="rId5"/>
          <a:stretch>
            <a:fillRect/>
          </a:stretch>
        </p:blipFill>
        <p:spPr>
          <a:xfrm>
            <a:off x="10921953" y="2318829"/>
            <a:ext cx="134549" cy="195707"/>
          </a:xfrm>
          <a:prstGeom prst="rect">
            <a:avLst/>
          </a:prstGeom>
        </p:spPr>
      </p:pic>
      <p:sp>
        <p:nvSpPr>
          <p:cNvPr id="51" name="TextBox 50"/>
          <p:cNvSpPr txBox="1"/>
          <p:nvPr/>
        </p:nvSpPr>
        <p:spPr>
          <a:xfrm>
            <a:off x="11097063" y="2329053"/>
            <a:ext cx="598214" cy="194310"/>
          </a:xfrm>
          <a:prstGeom prst="rect">
            <a:avLst/>
          </a:prstGeom>
          <a:noFill/>
        </p:spPr>
        <p:txBody>
          <a:bodyPr wrap="none" lIns="0" rIns="0" tIns="0" bIns="0">
            <a:spAutoFit/>
          </a:bodyPr>
          <a:lstStyle/>
          <a:p>
            <a:r>
              <a:rPr sz="1150" b="0">
                <a:solidFill>
                  <a:srgbClr val="2E2E2E"/>
                </a:solidFill>
                <a:latin typeface="Calibri"/>
              </a:rPr>
              <a:t>BPS over</a:t>
            </a:r>
          </a:p>
        </p:txBody>
      </p:sp>
      <p:sp>
        <p:nvSpPr>
          <p:cNvPr id="52" name="TextBox 51"/>
          <p:cNvSpPr txBox="1"/>
          <p:nvPr/>
        </p:nvSpPr>
        <p:spPr>
          <a:xfrm>
            <a:off x="7829550" y="2504313"/>
            <a:ext cx="2083246" cy="194310"/>
          </a:xfrm>
          <a:prstGeom prst="rect">
            <a:avLst/>
          </a:prstGeom>
          <a:noFill/>
        </p:spPr>
        <p:txBody>
          <a:bodyPr wrap="none" lIns="0" rIns="0" tIns="0" bIns="0">
            <a:spAutoFit/>
          </a:bodyPr>
          <a:lstStyle/>
          <a:p>
            <a:r>
              <a:rPr sz="1150" b="0">
                <a:solidFill>
                  <a:srgbClr val="2E2E2E"/>
                </a:solidFill>
                <a:latin typeface="Calibri"/>
              </a:rPr>
              <a:t>the forecast period to account for</a:t>
            </a:r>
          </a:p>
        </p:txBody>
      </p:sp>
      <p:pic>
        <p:nvPicPr>
          <p:cNvPr id="53" name="Picture 52" descr="lock.png"/>
          <p:cNvPicPr>
            <a:picLocks noChangeAspect="1"/>
          </p:cNvPicPr>
          <p:nvPr/>
        </p:nvPicPr>
        <p:blipFill>
          <a:blip r:embed="rId5"/>
          <a:stretch>
            <a:fillRect/>
          </a:stretch>
        </p:blipFill>
        <p:spPr>
          <a:xfrm>
            <a:off x="9861950" y="2494089"/>
            <a:ext cx="134549" cy="195707"/>
          </a:xfrm>
          <a:prstGeom prst="rect">
            <a:avLst/>
          </a:prstGeom>
        </p:spPr>
      </p:pic>
      <p:sp>
        <p:nvSpPr>
          <p:cNvPr id="54" name="TextBox 53"/>
          <p:cNvSpPr txBox="1"/>
          <p:nvPr/>
        </p:nvSpPr>
        <p:spPr>
          <a:xfrm>
            <a:off x="10037059" y="250431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55"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End User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End User,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End User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1238250"/>
        </p:xfrm>
        <a:graphic>
          <a:graphicData uri="http://schemas.openxmlformats.org/drawingml/2006/table">
            <a:tbl>
              <a:tblPr>
                <a:tableStyleId>{5C22544A-7EE6-4342-B048-85BDC9FD1C3A}</a:tableStyleId>
              </a:tblPr>
              <a:tblGrid>
                <a:gridCol w="2742560"/>
                <a:gridCol w="609643"/>
                <a:gridCol w="609643"/>
                <a:gridCol w="609643"/>
                <a:gridCol w="609643"/>
                <a:gridCol w="609643"/>
                <a:gridCol w="609643"/>
                <a:gridCol w="609643"/>
                <a:gridCol w="609643"/>
                <a:gridCol w="609643"/>
                <a:gridCol w="609643"/>
                <a:gridCol w="609643"/>
                <a:gridCol w="609643"/>
                <a:gridCol w="609643"/>
                <a:gridCol w="609643"/>
                <a:gridCol w="609643"/>
              </a:tblGrid>
              <a:tr h="246126">
                <a:tc>
                  <a:txBody>
                    <a:bodyPr wrap="none"/>
                    <a:lstStyle/>
                    <a:p>
                      <a:pPr algn="l"/>
                      <a:r>
                        <a:rPr sz="1100" b="1">
                          <a:solidFill>
                            <a:srgbClr val="0B2E4A"/>
                          </a:solidFill>
                          <a:latin typeface="Calibri"/>
                        </a:rPr>
                        <a:t>End User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Dental Clinics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Dental Hospitals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Dental Laboratories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Academic &amp; Teaching Dental Institutions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End User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Dental Clinics</a:t>
            </a:r>
          </a:p>
        </p:txBody>
      </p:sp>
      <p:sp>
        <p:nvSpPr>
          <p:cNvPr id="33" name="Rectangle 32"/>
          <p:cNvSpPr/>
          <p:nvPr/>
        </p:nvSpPr>
        <p:spPr>
          <a:xfrm>
            <a:off x="1857375" y="3248025"/>
            <a:ext cx="643890" cy="831056"/>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8E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8D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Dental Hospitals</a:t>
            </a:r>
          </a:p>
        </p:txBody>
      </p:sp>
      <p:sp>
        <p:nvSpPr>
          <p:cNvPr id="49" name="Rectangle 48"/>
          <p:cNvSpPr/>
          <p:nvPr/>
        </p:nvSpPr>
        <p:spPr>
          <a:xfrm>
            <a:off x="1857375" y="4079081"/>
            <a:ext cx="643890" cy="831056"/>
          </a:xfrm>
          <a:prstGeom prst="rect">
            <a:avLst/>
          </a:prstGeom>
          <a:solidFill>
            <a:srgbClr val="4A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34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11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0D5B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0D53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0C4F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0C42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0C3E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0B34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Dental Laboratories</a:t>
            </a:r>
          </a:p>
        </p:txBody>
      </p:sp>
      <p:sp>
        <p:nvSpPr>
          <p:cNvPr id="65" name="Rectangle 64"/>
          <p:cNvSpPr/>
          <p:nvPr/>
        </p:nvSpPr>
        <p:spPr>
          <a:xfrm>
            <a:off x="1857375" y="4910138"/>
            <a:ext cx="643890" cy="831056"/>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Academic &amp; Teaching Dental Institutions</a:t>
            </a:r>
          </a:p>
        </p:txBody>
      </p:sp>
      <p:sp>
        <p:nvSpPr>
          <p:cNvPr id="81" name="Rectangle 80"/>
          <p:cNvSpPr/>
          <p:nvPr/>
        </p:nvSpPr>
        <p:spPr>
          <a:xfrm>
            <a:off x="1857375" y="5741194"/>
            <a:ext cx="643890" cy="831056"/>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A7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69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62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56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1%</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7280592" y="1713738"/>
            <a:ext cx="366712" cy="533400"/>
          </a:xfrm>
          <a:prstGeom prst="rect">
            <a:avLst/>
          </a:prstGeom>
        </p:spPr>
      </p:pic>
    </p:spTree>
  </p:cSld>
  <p:clrMapOvr>
    <a:masterClrMapping/>
  </p:clrMapOvr>
</p:sld>
</file>

<file path=ppt/slides/slide1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End User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End User,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End User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1238250"/>
        </p:xfrm>
        <a:graphic>
          <a:graphicData uri="http://schemas.openxmlformats.org/drawingml/2006/table">
            <a:tbl>
              <a:tblPr>
                <a:tableStyleId>{5C22544A-7EE6-4342-B048-85BDC9FD1C3A}</a:tableStyleId>
              </a:tblPr>
              <a:tblGrid>
                <a:gridCol w="2742560"/>
                <a:gridCol w="609643"/>
                <a:gridCol w="609643"/>
                <a:gridCol w="609643"/>
                <a:gridCol w="609643"/>
                <a:gridCol w="609643"/>
                <a:gridCol w="609643"/>
                <a:gridCol w="609643"/>
                <a:gridCol w="609643"/>
                <a:gridCol w="609643"/>
                <a:gridCol w="609643"/>
                <a:gridCol w="609643"/>
                <a:gridCol w="609643"/>
                <a:gridCol w="609643"/>
                <a:gridCol w="609643"/>
                <a:gridCol w="609643"/>
              </a:tblGrid>
              <a:tr h="246126">
                <a:tc>
                  <a:txBody>
                    <a:bodyPr wrap="none"/>
                    <a:lstStyle/>
                    <a:p>
                      <a:pPr algn="l"/>
                      <a:r>
                        <a:rPr sz="1100" b="1">
                          <a:solidFill>
                            <a:srgbClr val="0B2E4A"/>
                          </a:solidFill>
                          <a:latin typeface="Calibri"/>
                        </a:rPr>
                        <a:t>End User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Dental Clinics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Dental Hospitals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Dental Laboratories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Academic &amp; Teaching Dental Institutions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End User (%)  ·  light = lower, dark = higher growth</a:t>
            </a:r>
          </a:p>
        </p:txBody>
      </p:sp>
      <p:sp>
        <p:nvSpPr>
          <p:cNvPr id="17" name="TextBox 16"/>
          <p:cNvSpPr txBox="1"/>
          <p:nvPr/>
        </p:nvSpPr>
        <p:spPr>
          <a:xfrm>
            <a:off x="18573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31051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248025"/>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Dental Clinics</a:t>
            </a:r>
          </a:p>
        </p:txBody>
      </p:sp>
      <p:sp>
        <p:nvSpPr>
          <p:cNvPr id="33" name="Rectangle 32"/>
          <p:cNvSpPr/>
          <p:nvPr/>
        </p:nvSpPr>
        <p:spPr>
          <a:xfrm>
            <a:off x="1857375" y="3248025"/>
            <a:ext cx="643890" cy="831056"/>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248025"/>
            <a:ext cx="643890" cy="831056"/>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248025"/>
            <a:ext cx="643890" cy="831056"/>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248025"/>
            <a:ext cx="643890" cy="831056"/>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248025"/>
            <a:ext cx="643890" cy="831056"/>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248025"/>
            <a:ext cx="643890" cy="831056"/>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248025"/>
            <a:ext cx="643890" cy="831056"/>
          </a:xfrm>
          <a:prstGeom prst="rect">
            <a:avLst/>
          </a:prstGeom>
          <a:solidFill>
            <a:srgbClr val="8C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248025"/>
            <a:ext cx="643890" cy="831056"/>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248025"/>
            <a:ext cx="643890" cy="831056"/>
          </a:xfrm>
          <a:prstGeom prst="rect">
            <a:avLst/>
          </a:prstGeom>
          <a:solidFill>
            <a:srgbClr val="8C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248025"/>
            <a:ext cx="643890" cy="831056"/>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248025"/>
            <a:ext cx="643890" cy="831056"/>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248025"/>
            <a:ext cx="643890" cy="831056"/>
          </a:xfrm>
          <a:prstGeom prst="rect">
            <a:avLst/>
          </a:prstGeom>
          <a:solidFill>
            <a:srgbClr val="8C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248025"/>
            <a:ext cx="643890" cy="831056"/>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248025"/>
            <a:ext cx="643890" cy="831056"/>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248025"/>
            <a:ext cx="643890" cy="831056"/>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079081"/>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Dental Hospitals</a:t>
            </a:r>
          </a:p>
        </p:txBody>
      </p:sp>
      <p:sp>
        <p:nvSpPr>
          <p:cNvPr id="49" name="Rectangle 48"/>
          <p:cNvSpPr/>
          <p:nvPr/>
        </p:nvSpPr>
        <p:spPr>
          <a:xfrm>
            <a:off x="1857375" y="4079081"/>
            <a:ext cx="643890" cy="831056"/>
          </a:xfrm>
          <a:prstGeom prst="rect">
            <a:avLst/>
          </a:prstGeom>
          <a:solidFill>
            <a:srgbClr val="43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079081"/>
            <a:ext cx="643890" cy="831056"/>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079081"/>
            <a:ext cx="643890" cy="831056"/>
          </a:xfrm>
          <a:prstGeom prst="rect">
            <a:avLst/>
          </a:prstGeom>
          <a:solidFill>
            <a:srgbClr val="1E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079081"/>
            <a:ext cx="643890" cy="831056"/>
          </a:xfrm>
          <a:prstGeom prst="rect">
            <a:avLst/>
          </a:prstGeom>
          <a:solidFill>
            <a:srgbClr val="0E71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079081"/>
            <a:ext cx="643890" cy="831056"/>
          </a:xfrm>
          <a:prstGeom prst="rect">
            <a:avLst/>
          </a:prstGeom>
          <a:solidFill>
            <a:srgbClr val="0D55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079081"/>
            <a:ext cx="643890" cy="831056"/>
          </a:xfrm>
          <a:prstGeom prst="rect">
            <a:avLst/>
          </a:prstGeom>
          <a:solidFill>
            <a:srgbClr val="0D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079081"/>
            <a:ext cx="643890" cy="831056"/>
          </a:xfrm>
          <a:prstGeom prst="rect">
            <a:avLst/>
          </a:prstGeom>
          <a:solidFill>
            <a:srgbClr val="0C4E7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079081"/>
            <a:ext cx="643890" cy="831056"/>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079081"/>
            <a:ext cx="643890" cy="831056"/>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079081"/>
            <a:ext cx="643890" cy="831056"/>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079081"/>
            <a:ext cx="643890" cy="831056"/>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079081"/>
            <a:ext cx="643890" cy="831056"/>
          </a:xfrm>
          <a:prstGeom prst="rect">
            <a:avLst/>
          </a:prstGeom>
          <a:solidFill>
            <a:srgbClr val="0C3B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079081"/>
            <a:ext cx="643890" cy="831056"/>
          </a:xfrm>
          <a:prstGeom prst="rect">
            <a:avLst/>
          </a:prstGeom>
          <a:solidFill>
            <a:srgbClr val="0B375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079081"/>
            <a:ext cx="643890" cy="831056"/>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079081"/>
            <a:ext cx="643890" cy="831056"/>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10138"/>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Dental Laboratories</a:t>
            </a:r>
          </a:p>
        </p:txBody>
      </p:sp>
      <p:sp>
        <p:nvSpPr>
          <p:cNvPr id="65" name="Rectangle 64"/>
          <p:cNvSpPr/>
          <p:nvPr/>
        </p:nvSpPr>
        <p:spPr>
          <a:xfrm>
            <a:off x="1857375" y="4910138"/>
            <a:ext cx="643890" cy="831056"/>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10138"/>
            <a:ext cx="643890" cy="831056"/>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10138"/>
            <a:ext cx="643890" cy="831056"/>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10138"/>
            <a:ext cx="643890" cy="831056"/>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10138"/>
            <a:ext cx="643890" cy="831056"/>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10138"/>
            <a:ext cx="643890" cy="831056"/>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10138"/>
            <a:ext cx="643890" cy="831056"/>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10138"/>
            <a:ext cx="643890" cy="831056"/>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10138"/>
            <a:ext cx="643890" cy="831056"/>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10138"/>
            <a:ext cx="643890" cy="831056"/>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10138"/>
            <a:ext cx="643890" cy="831056"/>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10138"/>
            <a:ext cx="643890" cy="831056"/>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10138"/>
            <a:ext cx="643890" cy="831056"/>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10138"/>
            <a:ext cx="643890" cy="831056"/>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10138"/>
            <a:ext cx="643890" cy="831056"/>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41194"/>
            <a:ext cx="1590675" cy="831056"/>
          </a:xfrm>
          <a:prstGeom prst="rect">
            <a:avLst/>
          </a:prstGeom>
          <a:noFill/>
        </p:spPr>
        <p:txBody>
          <a:bodyPr wrap="square" lIns="28575" rIns="28575" tIns="9525" bIns="9525" anchor="ctr">
            <a:spAutoFit/>
          </a:bodyPr>
          <a:lstStyle/>
          <a:p>
            <a:pPr algn="l"/>
            <a:r>
              <a:rPr sz="1100" b="0">
                <a:solidFill>
                  <a:srgbClr val="2E2E2E"/>
                </a:solidFill>
                <a:latin typeface="Calibri"/>
              </a:rPr>
              <a:t>Academic &amp; Teaching Dental Institutions</a:t>
            </a:r>
          </a:p>
        </p:txBody>
      </p:sp>
      <p:sp>
        <p:nvSpPr>
          <p:cNvPr id="81" name="Rectangle 80"/>
          <p:cNvSpPr/>
          <p:nvPr/>
        </p:nvSpPr>
        <p:spPr>
          <a:xfrm>
            <a:off x="1857375" y="5741194"/>
            <a:ext cx="643890" cy="831056"/>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41194"/>
            <a:ext cx="643890" cy="831056"/>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41194"/>
            <a:ext cx="643890" cy="831056"/>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41194"/>
            <a:ext cx="643890" cy="831056"/>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41194"/>
            <a:ext cx="643890" cy="831056"/>
          </a:xfrm>
          <a:prstGeom prst="rect">
            <a:avLst/>
          </a:prstGeom>
          <a:solidFill>
            <a:srgbClr val="64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41194"/>
            <a:ext cx="643890" cy="831056"/>
          </a:xfrm>
          <a:prstGeom prst="rect">
            <a:avLst/>
          </a:prstGeom>
          <a:solidFill>
            <a:srgbClr val="62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41194"/>
            <a:ext cx="643890" cy="831056"/>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41194"/>
            <a:ext cx="643890" cy="831056"/>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41194"/>
            <a:ext cx="643890" cy="831056"/>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41194"/>
            <a:ext cx="643890" cy="831056"/>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41194"/>
            <a:ext cx="643890" cy="831056"/>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41194"/>
            <a:ext cx="643890" cy="831056"/>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41194"/>
            <a:ext cx="643890" cy="831056"/>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41194"/>
            <a:ext cx="643890" cy="831056"/>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41194"/>
            <a:ext cx="643890" cy="831056"/>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286125"/>
            <a:ext cx="104775" cy="88821"/>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367326"/>
            <a:ext cx="104775" cy="88821"/>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448526"/>
            <a:ext cx="104775" cy="88821"/>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529727"/>
            <a:ext cx="104775" cy="88821"/>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610928"/>
            <a:ext cx="104775" cy="88821"/>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692128"/>
            <a:ext cx="104775" cy="88821"/>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773329"/>
            <a:ext cx="104775" cy="88821"/>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854529"/>
            <a:ext cx="104775" cy="88821"/>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935730"/>
            <a:ext cx="104775" cy="88821"/>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4016931"/>
            <a:ext cx="104775" cy="88821"/>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4098131"/>
            <a:ext cx="104775" cy="88821"/>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179332"/>
            <a:ext cx="104775" cy="88821"/>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260532"/>
            <a:ext cx="104775" cy="88821"/>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341733"/>
            <a:ext cx="104775" cy="88821"/>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422934"/>
            <a:ext cx="104775" cy="88821"/>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504134"/>
            <a:ext cx="104775" cy="88821"/>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585335"/>
            <a:ext cx="104775" cy="88821"/>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666536"/>
            <a:ext cx="104775" cy="88821"/>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747736"/>
            <a:ext cx="104775" cy="88821"/>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828937"/>
            <a:ext cx="104775" cy="88821"/>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910138"/>
            <a:ext cx="104775" cy="88821"/>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91338"/>
            <a:ext cx="104775" cy="88821"/>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5072539"/>
            <a:ext cx="104775" cy="88821"/>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153739"/>
            <a:ext cx="104775" cy="88821"/>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234940"/>
            <a:ext cx="104775" cy="88821"/>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316141"/>
            <a:ext cx="104775" cy="88821"/>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97341"/>
            <a:ext cx="104775" cy="88821"/>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78542"/>
            <a:ext cx="104775" cy="88821"/>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59742"/>
            <a:ext cx="104775" cy="88821"/>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640943"/>
            <a:ext cx="104775" cy="88821"/>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722144"/>
            <a:ext cx="104775" cy="88821"/>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803344"/>
            <a:ext cx="104775" cy="88821"/>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84545"/>
            <a:ext cx="104775" cy="88821"/>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65746"/>
            <a:ext cx="104775" cy="88821"/>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46946"/>
            <a:ext cx="104775" cy="88821"/>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28147"/>
            <a:ext cx="104775" cy="88821"/>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209348"/>
            <a:ext cx="104775" cy="88821"/>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90548"/>
            <a:ext cx="104775" cy="88821"/>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71749"/>
            <a:ext cx="104775" cy="88821"/>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52949"/>
            <a:ext cx="104775" cy="88821"/>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286125"/>
            <a:ext cx="104775" cy="32480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21945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38" name="TextBox 137"/>
          <p:cNvSpPr txBox="1"/>
          <p:nvPr/>
        </p:nvSpPr>
        <p:spPr>
          <a:xfrm>
            <a:off x="11687175" y="4843462"/>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1" name="Picture 140" descr="lock.png"/>
          <p:cNvPicPr>
            <a:picLocks noChangeAspect="1"/>
          </p:cNvPicPr>
          <p:nvPr/>
        </p:nvPicPr>
        <p:blipFill>
          <a:blip r:embed="rId4"/>
          <a:stretch>
            <a:fillRect/>
          </a:stretch>
        </p:blipFill>
        <p:spPr>
          <a:xfrm>
            <a:off x="7280592" y="1713738"/>
            <a:ext cx="366712" cy="533400"/>
          </a:xfrm>
          <a:prstGeom prst="rect">
            <a:avLst/>
          </a:prstGeom>
        </p:spPr>
      </p:pic>
    </p:spTree>
  </p:cSld>
  <p:clrMapOvr>
    <a:masterClrMapping/>
  </p:clrMapOvr>
</p:sld>
</file>

<file path=ppt/slides/slide17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Distribution Channel</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Distribution Channel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Distribution Channel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3 sub-segments of Distribution Channel,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Distribution Channel segment categorizes the market by distribution channel.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325755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325755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Dental Dealers &amp; Distributors</a:t>
            </a:r>
          </a:p>
        </p:txBody>
      </p:sp>
      <p:sp>
        <p:nvSpPr>
          <p:cNvPr id="23" name="Rectangle 22"/>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333375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5238750" y="1773916"/>
            <a:ext cx="325755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5238750" y="1992961"/>
            <a:ext cx="325755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Direct Sales</a:t>
            </a:r>
          </a:p>
        </p:txBody>
      </p:sp>
      <p:sp>
        <p:nvSpPr>
          <p:cNvPr id="30" name="Rectangle 29"/>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8610600" y="1773916"/>
            <a:ext cx="325755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8610600" y="1992961"/>
            <a:ext cx="325755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Online Dental Supply Channels</a:t>
            </a:r>
          </a:p>
        </p:txBody>
      </p:sp>
      <p:sp>
        <p:nvSpPr>
          <p:cNvPr id="37" name="Rectangle 36"/>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Rectangle 38"/>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40" name="Oval 39"/>
          <p:cNvSpPr/>
          <p:nvPr/>
        </p:nvSpPr>
        <p:spPr>
          <a:xfrm>
            <a:off x="1007745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43" name="Rectangle 4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45" name="Rounded Rectangle 4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7" name="Rectangle 4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p:txBody>
      </p:sp>
      <p:sp>
        <p:nvSpPr>
          <p:cNvPr id="49" name="Rounded Rectangle 4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1" name="Rectangle 5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Distribution Channel split shows how demand is distributed across distribution channel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53" name="Rectangle 5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55" name="TextBox 5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7" name="Picture 56" descr="246_6_605E5C.png"/>
          <p:cNvPicPr>
            <a:picLocks noChangeAspect="1"/>
          </p:cNvPicPr>
          <p:nvPr/>
        </p:nvPicPr>
        <p:blipFill>
          <a:blip r:embed="rId4"/>
          <a:stretch>
            <a:fillRect/>
          </a:stretch>
        </p:blipFill>
        <p:spPr>
          <a:xfrm>
            <a:off x="2897811" y="2286582"/>
            <a:ext cx="1195728" cy="361950"/>
          </a:xfrm>
          <a:prstGeom prst="rect">
            <a:avLst/>
          </a:prstGeom>
        </p:spPr>
      </p:pic>
      <p:pic>
        <p:nvPicPr>
          <p:cNvPr id="58" name="Picture 57" descr="293_6_605E5C.png"/>
          <p:cNvPicPr>
            <a:picLocks noChangeAspect="1"/>
          </p:cNvPicPr>
          <p:nvPr/>
        </p:nvPicPr>
        <p:blipFill>
          <a:blip r:embed="rId5"/>
          <a:stretch>
            <a:fillRect/>
          </a:stretch>
        </p:blipFill>
        <p:spPr>
          <a:xfrm>
            <a:off x="2897811" y="2779432"/>
            <a:ext cx="1195728" cy="361950"/>
          </a:xfrm>
          <a:prstGeom prst="rect">
            <a:avLst/>
          </a:prstGeom>
        </p:spPr>
      </p:pic>
      <p:pic>
        <p:nvPicPr>
          <p:cNvPr id="59" name="Picture 58" descr="1_8__605E5C.png"/>
          <p:cNvPicPr>
            <a:picLocks noChangeAspect="1"/>
          </p:cNvPicPr>
          <p:nvPr/>
        </p:nvPicPr>
        <p:blipFill>
          <a:blip r:embed="rId6"/>
          <a:stretch>
            <a:fillRect/>
          </a:stretch>
        </p:blipFill>
        <p:spPr>
          <a:xfrm>
            <a:off x="3004457" y="3272281"/>
            <a:ext cx="982436" cy="361950"/>
          </a:xfrm>
          <a:prstGeom prst="rect">
            <a:avLst/>
          </a:prstGeom>
        </p:spPr>
      </p:pic>
      <p:pic>
        <p:nvPicPr>
          <p:cNvPr id="60" name="Picture 59" descr="89_2_605E5C.png"/>
          <p:cNvPicPr>
            <a:picLocks noChangeAspect="1"/>
          </p:cNvPicPr>
          <p:nvPr/>
        </p:nvPicPr>
        <p:blipFill>
          <a:blip r:embed="rId7"/>
          <a:stretch>
            <a:fillRect/>
          </a:stretch>
        </p:blipFill>
        <p:spPr>
          <a:xfrm>
            <a:off x="6376307" y="2286582"/>
            <a:ext cx="982436" cy="361950"/>
          </a:xfrm>
          <a:prstGeom prst="rect">
            <a:avLst/>
          </a:prstGeom>
        </p:spPr>
      </p:pic>
      <p:pic>
        <p:nvPicPr>
          <p:cNvPr id="61" name="Picture 60" descr="188_3_605E5C.png"/>
          <p:cNvPicPr>
            <a:picLocks noChangeAspect="1"/>
          </p:cNvPicPr>
          <p:nvPr/>
        </p:nvPicPr>
        <p:blipFill>
          <a:blip r:embed="rId8"/>
          <a:stretch>
            <a:fillRect/>
          </a:stretch>
        </p:blipFill>
        <p:spPr>
          <a:xfrm>
            <a:off x="6269661" y="2779432"/>
            <a:ext cx="1195728" cy="361950"/>
          </a:xfrm>
          <a:prstGeom prst="rect">
            <a:avLst/>
          </a:prstGeom>
        </p:spPr>
      </p:pic>
      <p:pic>
        <p:nvPicPr>
          <p:cNvPr id="62" name="Picture 61" descr="7_8__605E5C.png"/>
          <p:cNvPicPr>
            <a:picLocks noChangeAspect="1"/>
          </p:cNvPicPr>
          <p:nvPr/>
        </p:nvPicPr>
        <p:blipFill>
          <a:blip r:embed="rId9"/>
          <a:stretch>
            <a:fillRect/>
          </a:stretch>
        </p:blipFill>
        <p:spPr>
          <a:xfrm>
            <a:off x="6376307" y="3272281"/>
            <a:ext cx="982436" cy="361950"/>
          </a:xfrm>
          <a:prstGeom prst="rect">
            <a:avLst/>
          </a:prstGeom>
        </p:spPr>
      </p:pic>
      <p:pic>
        <p:nvPicPr>
          <p:cNvPr id="63" name="Picture 62" descr="35_5_605E5C.png"/>
          <p:cNvPicPr>
            <a:picLocks noChangeAspect="1"/>
          </p:cNvPicPr>
          <p:nvPr/>
        </p:nvPicPr>
        <p:blipFill>
          <a:blip r:embed="rId10"/>
          <a:stretch>
            <a:fillRect/>
          </a:stretch>
        </p:blipFill>
        <p:spPr>
          <a:xfrm>
            <a:off x="9748157" y="2286582"/>
            <a:ext cx="982436" cy="361950"/>
          </a:xfrm>
          <a:prstGeom prst="rect">
            <a:avLst/>
          </a:prstGeom>
        </p:spPr>
      </p:pic>
      <p:pic>
        <p:nvPicPr>
          <p:cNvPr id="64" name="Picture 63" descr="42_0_605E5C.png"/>
          <p:cNvPicPr>
            <a:picLocks noChangeAspect="1"/>
          </p:cNvPicPr>
          <p:nvPr/>
        </p:nvPicPr>
        <p:blipFill>
          <a:blip r:embed="rId11"/>
          <a:stretch>
            <a:fillRect/>
          </a:stretch>
        </p:blipFill>
        <p:spPr>
          <a:xfrm>
            <a:off x="9748157" y="2779432"/>
            <a:ext cx="982436" cy="361950"/>
          </a:xfrm>
          <a:prstGeom prst="rect">
            <a:avLst/>
          </a:prstGeom>
        </p:spPr>
      </p:pic>
      <p:pic>
        <p:nvPicPr>
          <p:cNvPr id="65" name="Picture 64" descr="1_7__605E5C.png"/>
          <p:cNvPicPr>
            <a:picLocks noChangeAspect="1"/>
          </p:cNvPicPr>
          <p:nvPr/>
        </p:nvPicPr>
        <p:blipFill>
          <a:blip r:embed="rId12"/>
          <a:stretch>
            <a:fillRect/>
          </a:stretch>
        </p:blipFill>
        <p:spPr>
          <a:xfrm>
            <a:off x="9748157" y="3272281"/>
            <a:ext cx="982436" cy="361950"/>
          </a:xfrm>
          <a:prstGeom prst="rect">
            <a:avLst/>
          </a:prstGeom>
        </p:spPr>
      </p:pic>
      <p:pic>
        <p:nvPicPr>
          <p:cNvPr id="66" name="Picture 65" descr="lock.png"/>
          <p:cNvPicPr>
            <a:picLocks noChangeAspect="1"/>
          </p:cNvPicPr>
          <p:nvPr/>
        </p:nvPicPr>
        <p:blipFill>
          <a:blip r:embed="rId13"/>
          <a:stretch>
            <a:fillRect/>
          </a:stretch>
        </p:blipFill>
        <p:spPr>
          <a:xfrm>
            <a:off x="3402330" y="2827057"/>
            <a:ext cx="183356" cy="266700"/>
          </a:xfrm>
          <a:prstGeom prst="rect">
            <a:avLst/>
          </a:prstGeom>
        </p:spPr>
      </p:pic>
      <p:pic>
        <p:nvPicPr>
          <p:cNvPr id="67" name="Picture 66" descr="lock.png"/>
          <p:cNvPicPr>
            <a:picLocks noChangeAspect="1"/>
          </p:cNvPicPr>
          <p:nvPr/>
        </p:nvPicPr>
        <p:blipFill>
          <a:blip r:embed="rId13"/>
          <a:stretch>
            <a:fillRect/>
          </a:stretch>
        </p:blipFill>
        <p:spPr>
          <a:xfrm>
            <a:off x="6774180" y="2827057"/>
            <a:ext cx="183356" cy="266700"/>
          </a:xfrm>
          <a:prstGeom prst="rect">
            <a:avLst/>
          </a:prstGeom>
        </p:spPr>
      </p:pic>
      <p:pic>
        <p:nvPicPr>
          <p:cNvPr id="68" name="Picture 67" descr="lock.png"/>
          <p:cNvPicPr>
            <a:picLocks noChangeAspect="1"/>
          </p:cNvPicPr>
          <p:nvPr/>
        </p:nvPicPr>
        <p:blipFill>
          <a:blip r:embed="rId13"/>
          <a:stretch>
            <a:fillRect/>
          </a:stretch>
        </p:blipFill>
        <p:spPr>
          <a:xfrm>
            <a:off x="10146030" y="2827057"/>
            <a:ext cx="183356" cy="266700"/>
          </a:xfrm>
          <a:prstGeom prst="rect">
            <a:avLst/>
          </a:prstGeom>
        </p:spPr>
      </p:pic>
      <p:sp>
        <p:nvSpPr>
          <p:cNvPr id="69" name="TextBox 68"/>
          <p:cNvSpPr txBox="1"/>
          <p:nvPr/>
        </p:nvSpPr>
        <p:spPr>
          <a:xfrm>
            <a:off x="485775" y="4229437"/>
            <a:ext cx="2424906" cy="186689"/>
          </a:xfrm>
          <a:prstGeom prst="rect">
            <a:avLst/>
          </a:prstGeom>
          <a:noFill/>
        </p:spPr>
        <p:txBody>
          <a:bodyPr wrap="none" lIns="0" rIns="0" tIns="0" bIns="0">
            <a:spAutoFit/>
          </a:bodyPr>
          <a:lstStyle/>
          <a:p>
            <a:r>
              <a:rPr sz="1100" b="0">
                <a:solidFill>
                  <a:srgbClr val="2E2E2E"/>
                </a:solidFill>
                <a:latin typeface="Calibri"/>
              </a:rPr>
              <a:t>▪ ¶ Among removable partial dentures by</a:t>
            </a:r>
          </a:p>
        </p:txBody>
      </p:sp>
      <p:sp>
        <p:nvSpPr>
          <p:cNvPr id="70" name="TextBox 69"/>
          <p:cNvSpPr txBox="1"/>
          <p:nvPr/>
        </p:nvSpPr>
        <p:spPr>
          <a:xfrm>
            <a:off x="485775" y="4397077"/>
            <a:ext cx="2564606" cy="186689"/>
          </a:xfrm>
          <a:prstGeom prst="rect">
            <a:avLst/>
          </a:prstGeom>
          <a:noFill/>
        </p:spPr>
        <p:txBody>
          <a:bodyPr wrap="none" lIns="0" rIns="0" tIns="0" bIns="0">
            <a:spAutoFit/>
          </a:bodyPr>
          <a:lstStyle/>
          <a:p>
            <a:r>
              <a:rPr sz="1100" b="0">
                <a:solidFill>
                  <a:srgbClr val="2E2E2E"/>
                </a:solidFill>
                <a:latin typeface="Calibri"/>
              </a:rPr>
              <a:t>distribution channel, direct sales segment is</a:t>
            </a:r>
          </a:p>
        </p:txBody>
      </p:sp>
      <p:sp>
        <p:nvSpPr>
          <p:cNvPr id="71" name="TextBox 70"/>
          <p:cNvSpPr txBox="1"/>
          <p:nvPr/>
        </p:nvSpPr>
        <p:spPr>
          <a:xfrm>
            <a:off x="485775" y="4564717"/>
            <a:ext cx="2381232" cy="186689"/>
          </a:xfrm>
          <a:prstGeom prst="rect">
            <a:avLst/>
          </a:prstGeom>
          <a:noFill/>
        </p:spPr>
        <p:txBody>
          <a:bodyPr wrap="none" lIns="0" rIns="0" tIns="0" bIns="0">
            <a:spAutoFit/>
          </a:bodyPr>
          <a:lstStyle/>
          <a:p>
            <a:r>
              <a:rPr sz="1100" b="0">
                <a:solidFill>
                  <a:srgbClr val="2E2E2E"/>
                </a:solidFill>
                <a:latin typeface="Calibri"/>
              </a:rPr>
              <a:t>expected to witness the highest CAGR of</a:t>
            </a:r>
          </a:p>
        </p:txBody>
      </p:sp>
      <p:pic>
        <p:nvPicPr>
          <p:cNvPr id="72" name="Picture 71" descr="lock.png"/>
          <p:cNvPicPr>
            <a:picLocks noChangeAspect="1"/>
          </p:cNvPicPr>
          <p:nvPr/>
        </p:nvPicPr>
        <p:blipFill>
          <a:blip r:embed="rId13"/>
          <a:stretch>
            <a:fillRect/>
          </a:stretch>
        </p:blipFill>
        <p:spPr>
          <a:xfrm>
            <a:off x="2815059" y="4554938"/>
            <a:ext cx="128699" cy="187198"/>
          </a:xfrm>
          <a:prstGeom prst="rect">
            <a:avLst/>
          </a:prstGeom>
        </p:spPr>
      </p:pic>
      <p:sp>
        <p:nvSpPr>
          <p:cNvPr id="73" name="TextBox 72"/>
          <p:cNvSpPr txBox="1"/>
          <p:nvPr/>
        </p:nvSpPr>
        <p:spPr>
          <a:xfrm>
            <a:off x="2982555" y="4564717"/>
            <a:ext cx="331316" cy="186689"/>
          </a:xfrm>
          <a:prstGeom prst="rect">
            <a:avLst/>
          </a:prstGeom>
          <a:noFill/>
        </p:spPr>
        <p:txBody>
          <a:bodyPr wrap="none" lIns="0" rIns="0" tIns="0" bIns="0">
            <a:spAutoFit/>
          </a:bodyPr>
          <a:lstStyle/>
          <a:p>
            <a:r>
              <a:rPr sz="1100" b="0">
                <a:solidFill>
                  <a:srgbClr val="2E2E2E"/>
                </a:solidFill>
                <a:latin typeface="Calibri"/>
              </a:rPr>
              <a:t>over</a:t>
            </a:r>
          </a:p>
        </p:txBody>
      </p:sp>
      <p:sp>
        <p:nvSpPr>
          <p:cNvPr id="74" name="TextBox 73"/>
          <p:cNvSpPr txBox="1"/>
          <p:nvPr/>
        </p:nvSpPr>
        <p:spPr>
          <a:xfrm>
            <a:off x="485775" y="4732357"/>
            <a:ext cx="2699122" cy="186689"/>
          </a:xfrm>
          <a:prstGeom prst="rect">
            <a:avLst/>
          </a:prstGeom>
          <a:noFill/>
        </p:spPr>
        <p:txBody>
          <a:bodyPr wrap="none" lIns="0" rIns="0" tIns="0" bIns="0">
            <a:spAutoFit/>
          </a:bodyPr>
          <a:lstStyle/>
          <a:p>
            <a:r>
              <a:rPr sz="1100" b="0">
                <a:solidFill>
                  <a:srgbClr val="2E2E2E"/>
                </a:solidFill>
                <a:latin typeface="Calibri"/>
              </a:rPr>
              <a:t>the forecast period. In terms of value share by</a:t>
            </a:r>
          </a:p>
        </p:txBody>
      </p:sp>
      <p:sp>
        <p:nvSpPr>
          <p:cNvPr id="75" name="TextBox 74"/>
          <p:cNvSpPr txBox="1"/>
          <p:nvPr/>
        </p:nvSpPr>
        <p:spPr>
          <a:xfrm>
            <a:off x="485775" y="4899997"/>
            <a:ext cx="2441004" cy="186689"/>
          </a:xfrm>
          <a:prstGeom prst="rect">
            <a:avLst/>
          </a:prstGeom>
          <a:noFill/>
        </p:spPr>
        <p:txBody>
          <a:bodyPr wrap="none" lIns="0" rIns="0" tIns="0" bIns="0">
            <a:spAutoFit/>
          </a:bodyPr>
          <a:lstStyle/>
          <a:p>
            <a:r>
              <a:rPr sz="1100" b="0">
                <a:solidFill>
                  <a:srgbClr val="2E2E2E"/>
                </a:solidFill>
                <a:latin typeface="Calibri"/>
              </a:rPr>
              <a:t>distribution channel, the dental dealers &amp;</a:t>
            </a:r>
          </a:p>
        </p:txBody>
      </p:sp>
      <p:sp>
        <p:nvSpPr>
          <p:cNvPr id="76" name="TextBox 75"/>
          <p:cNvSpPr txBox="1"/>
          <p:nvPr/>
        </p:nvSpPr>
        <p:spPr>
          <a:xfrm>
            <a:off x="485775" y="5067637"/>
            <a:ext cx="2883569" cy="186689"/>
          </a:xfrm>
          <a:prstGeom prst="rect">
            <a:avLst/>
          </a:prstGeom>
          <a:noFill/>
        </p:spPr>
        <p:txBody>
          <a:bodyPr wrap="none" lIns="0" rIns="0" tIns="0" bIns="0">
            <a:spAutoFit/>
          </a:bodyPr>
          <a:lstStyle/>
          <a:p>
            <a:r>
              <a:rPr sz="1100" b="0">
                <a:solidFill>
                  <a:srgbClr val="2E2E2E"/>
                </a:solidFill>
                <a:latin typeface="Calibri"/>
              </a:rPr>
              <a:t>distributors segment is expected to dominate the</a:t>
            </a:r>
          </a:p>
        </p:txBody>
      </p:sp>
      <p:sp>
        <p:nvSpPr>
          <p:cNvPr id="77" name="TextBox 76"/>
          <p:cNvSpPr txBox="1"/>
          <p:nvPr/>
        </p:nvSpPr>
        <p:spPr>
          <a:xfrm>
            <a:off x="485775" y="5235277"/>
            <a:ext cx="881930" cy="186689"/>
          </a:xfrm>
          <a:prstGeom prst="rect">
            <a:avLst/>
          </a:prstGeom>
          <a:noFill/>
        </p:spPr>
        <p:txBody>
          <a:bodyPr wrap="none" lIns="0" rIns="0" tIns="0" bIns="0">
            <a:spAutoFit/>
          </a:bodyPr>
          <a:lstStyle/>
          <a:p>
            <a:r>
              <a:rPr sz="1100" b="0">
                <a:solidFill>
                  <a:srgbClr val="2E2E2E"/>
                </a:solidFill>
                <a:latin typeface="Calibri"/>
              </a:rPr>
              <a:t>market, losing</a:t>
            </a:r>
          </a:p>
        </p:txBody>
      </p:sp>
      <p:pic>
        <p:nvPicPr>
          <p:cNvPr id="78" name="Picture 77" descr="lock.png"/>
          <p:cNvPicPr>
            <a:picLocks noChangeAspect="1"/>
          </p:cNvPicPr>
          <p:nvPr/>
        </p:nvPicPr>
        <p:blipFill>
          <a:blip r:embed="rId13"/>
          <a:stretch>
            <a:fillRect/>
          </a:stretch>
        </p:blipFill>
        <p:spPr>
          <a:xfrm>
            <a:off x="1315757" y="5225498"/>
            <a:ext cx="128699" cy="187198"/>
          </a:xfrm>
          <a:prstGeom prst="rect">
            <a:avLst/>
          </a:prstGeom>
        </p:spPr>
      </p:pic>
      <p:sp>
        <p:nvSpPr>
          <p:cNvPr id="79" name="TextBox 78"/>
          <p:cNvSpPr txBox="1"/>
          <p:nvPr/>
        </p:nvSpPr>
        <p:spPr>
          <a:xfrm>
            <a:off x="1483253" y="5235277"/>
            <a:ext cx="1386433" cy="186689"/>
          </a:xfrm>
          <a:prstGeom prst="rect">
            <a:avLst/>
          </a:prstGeom>
          <a:noFill/>
        </p:spPr>
        <p:txBody>
          <a:bodyPr wrap="none" lIns="0" rIns="0" tIns="0" bIns="0">
            <a:spAutoFit/>
          </a:bodyPr>
          <a:lstStyle/>
          <a:p>
            <a:r>
              <a:rPr sz="1100" b="0">
                <a:solidFill>
                  <a:srgbClr val="2E2E2E"/>
                </a:solidFill>
                <a:latin typeface="Calibri"/>
              </a:rPr>
              <a:t>BPS and accounting for</a:t>
            </a:r>
          </a:p>
        </p:txBody>
      </p:sp>
      <p:pic>
        <p:nvPicPr>
          <p:cNvPr id="80" name="Picture 79" descr="lock.png"/>
          <p:cNvPicPr>
            <a:picLocks noChangeAspect="1"/>
          </p:cNvPicPr>
          <p:nvPr/>
        </p:nvPicPr>
        <p:blipFill>
          <a:blip r:embed="rId13"/>
          <a:stretch>
            <a:fillRect/>
          </a:stretch>
        </p:blipFill>
        <p:spPr>
          <a:xfrm>
            <a:off x="2817737" y="5225498"/>
            <a:ext cx="128699" cy="187198"/>
          </a:xfrm>
          <a:prstGeom prst="rect">
            <a:avLst/>
          </a:prstGeom>
        </p:spPr>
      </p:pic>
      <p:sp>
        <p:nvSpPr>
          <p:cNvPr id="81" name="TextBox 80"/>
          <p:cNvSpPr txBox="1"/>
          <p:nvPr/>
        </p:nvSpPr>
        <p:spPr>
          <a:xfrm>
            <a:off x="485775" y="540291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82" name="TextBox 81"/>
          <p:cNvSpPr txBox="1"/>
          <p:nvPr/>
        </p:nvSpPr>
        <p:spPr>
          <a:xfrm>
            <a:off x="485775" y="5620849"/>
            <a:ext cx="2551236" cy="186689"/>
          </a:xfrm>
          <a:prstGeom prst="rect">
            <a:avLst/>
          </a:prstGeom>
          <a:noFill/>
        </p:spPr>
        <p:txBody>
          <a:bodyPr wrap="none" lIns="0" rIns="0" tIns="0" bIns="0">
            <a:spAutoFit/>
          </a:bodyPr>
          <a:lstStyle/>
          <a:p>
            <a:r>
              <a:rPr sz="1100" b="0">
                <a:solidFill>
                  <a:srgbClr val="2E2E2E"/>
                </a:solidFill>
                <a:latin typeface="Calibri"/>
              </a:rPr>
              <a:t>▪ ¶ Dental dealers &amp; distributors segment is</a:t>
            </a:r>
          </a:p>
        </p:txBody>
      </p:sp>
      <p:sp>
        <p:nvSpPr>
          <p:cNvPr id="83" name="TextBox 82"/>
          <p:cNvSpPr txBox="1"/>
          <p:nvPr/>
        </p:nvSpPr>
        <p:spPr>
          <a:xfrm>
            <a:off x="485775" y="5788489"/>
            <a:ext cx="1244550" cy="186689"/>
          </a:xfrm>
          <a:prstGeom prst="rect">
            <a:avLst/>
          </a:prstGeom>
          <a:noFill/>
        </p:spPr>
        <p:txBody>
          <a:bodyPr wrap="none" lIns="0" rIns="0" tIns="0" bIns="0">
            <a:spAutoFit/>
          </a:bodyPr>
          <a:lstStyle/>
          <a:p>
            <a:r>
              <a:rPr sz="1100" b="0">
                <a:solidFill>
                  <a:srgbClr val="2E2E2E"/>
                </a:solidFill>
                <a:latin typeface="Calibri"/>
              </a:rPr>
              <a:t>projected to register</a:t>
            </a:r>
          </a:p>
        </p:txBody>
      </p:sp>
      <p:pic>
        <p:nvPicPr>
          <p:cNvPr id="84" name="Picture 83" descr="lock.png"/>
          <p:cNvPicPr>
            <a:picLocks noChangeAspect="1"/>
          </p:cNvPicPr>
          <p:nvPr/>
        </p:nvPicPr>
        <p:blipFill>
          <a:blip r:embed="rId13"/>
          <a:stretch>
            <a:fillRect/>
          </a:stretch>
        </p:blipFill>
        <p:spPr>
          <a:xfrm>
            <a:off x="1678376" y="5778710"/>
            <a:ext cx="128699" cy="187198"/>
          </a:xfrm>
          <a:prstGeom prst="rect">
            <a:avLst/>
          </a:prstGeom>
        </p:spPr>
      </p:pic>
      <p:sp>
        <p:nvSpPr>
          <p:cNvPr id="85" name="TextBox 84"/>
          <p:cNvSpPr txBox="1"/>
          <p:nvPr/>
        </p:nvSpPr>
        <p:spPr>
          <a:xfrm>
            <a:off x="1845872" y="5788489"/>
            <a:ext cx="1534318" cy="186689"/>
          </a:xfrm>
          <a:prstGeom prst="rect">
            <a:avLst/>
          </a:prstGeom>
          <a:noFill/>
        </p:spPr>
        <p:txBody>
          <a:bodyPr wrap="none" lIns="0" rIns="0" tIns="0" bIns="0">
            <a:spAutoFit/>
          </a:bodyPr>
          <a:lstStyle/>
          <a:p>
            <a:r>
              <a:rPr sz="1100" b="0">
                <a:solidFill>
                  <a:srgbClr val="2E2E2E"/>
                </a:solidFill>
                <a:latin typeface="Calibri"/>
              </a:rPr>
              <a:t>X higher value than direct</a:t>
            </a:r>
          </a:p>
        </p:txBody>
      </p:sp>
      <p:sp>
        <p:nvSpPr>
          <p:cNvPr id="86" name="TextBox 85"/>
          <p:cNvSpPr txBox="1"/>
          <p:nvPr/>
        </p:nvSpPr>
        <p:spPr>
          <a:xfrm>
            <a:off x="485775" y="5956129"/>
            <a:ext cx="1364877" cy="186689"/>
          </a:xfrm>
          <a:prstGeom prst="rect">
            <a:avLst/>
          </a:prstGeom>
          <a:noFill/>
        </p:spPr>
        <p:txBody>
          <a:bodyPr wrap="none" lIns="0" rIns="0" tIns="0" bIns="0">
            <a:spAutoFit/>
          </a:bodyPr>
          <a:lstStyle/>
          <a:p>
            <a:r>
              <a:rPr sz="1100" b="0">
                <a:solidFill>
                  <a:srgbClr val="2E2E2E"/>
                </a:solidFill>
                <a:latin typeface="Calibri"/>
              </a:rPr>
              <a:t>sales segment in 2036.</a:t>
            </a:r>
          </a:p>
        </p:txBody>
      </p:sp>
      <p:sp>
        <p:nvSpPr>
          <p:cNvPr id="87" name="TextBox 86"/>
          <p:cNvSpPr txBox="1"/>
          <p:nvPr/>
        </p:nvSpPr>
        <p:spPr>
          <a:xfrm>
            <a:off x="3838575" y="4229437"/>
            <a:ext cx="1893664" cy="186689"/>
          </a:xfrm>
          <a:prstGeom prst="rect">
            <a:avLst/>
          </a:prstGeom>
          <a:noFill/>
        </p:spPr>
        <p:txBody>
          <a:bodyPr wrap="none" lIns="0" rIns="0" tIns="0" bIns="0">
            <a:spAutoFit/>
          </a:bodyPr>
          <a:lstStyle/>
          <a:p>
            <a:r>
              <a:rPr sz="1100" b="0">
                <a:solidFill>
                  <a:srgbClr val="2E2E2E"/>
                </a:solidFill>
                <a:latin typeface="Calibri"/>
              </a:rPr>
              <a:t>● Dental Dealers &amp; Distributors:</a:t>
            </a:r>
          </a:p>
        </p:txBody>
      </p:sp>
      <p:pic>
        <p:nvPicPr>
          <p:cNvPr id="88" name="Picture 87" descr="lock.png"/>
          <p:cNvPicPr>
            <a:picLocks noChangeAspect="1"/>
          </p:cNvPicPr>
          <p:nvPr/>
        </p:nvPicPr>
        <p:blipFill>
          <a:blip r:embed="rId13"/>
          <a:stretch>
            <a:fillRect/>
          </a:stretch>
        </p:blipFill>
        <p:spPr>
          <a:xfrm>
            <a:off x="5680290" y="4219658"/>
            <a:ext cx="128699" cy="187198"/>
          </a:xfrm>
          <a:prstGeom prst="rect">
            <a:avLst/>
          </a:prstGeom>
        </p:spPr>
      </p:pic>
      <p:sp>
        <p:nvSpPr>
          <p:cNvPr id="89" name="TextBox 88"/>
          <p:cNvSpPr txBox="1"/>
          <p:nvPr/>
        </p:nvSpPr>
        <p:spPr>
          <a:xfrm>
            <a:off x="5847786"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0" name="Picture 89" descr="lock.png"/>
          <p:cNvPicPr>
            <a:picLocks noChangeAspect="1"/>
          </p:cNvPicPr>
          <p:nvPr/>
        </p:nvPicPr>
        <p:blipFill>
          <a:blip r:embed="rId13"/>
          <a:stretch>
            <a:fillRect/>
          </a:stretch>
        </p:blipFill>
        <p:spPr>
          <a:xfrm>
            <a:off x="6707236" y="4219658"/>
            <a:ext cx="128699" cy="187198"/>
          </a:xfrm>
          <a:prstGeom prst="rect">
            <a:avLst/>
          </a:prstGeom>
        </p:spPr>
      </p:pic>
      <p:sp>
        <p:nvSpPr>
          <p:cNvPr id="91" name="TextBox 90"/>
          <p:cNvSpPr txBox="1"/>
          <p:nvPr/>
        </p:nvSpPr>
        <p:spPr>
          <a:xfrm>
            <a:off x="6874732" y="4229437"/>
            <a:ext cx="945215" cy="186689"/>
          </a:xfrm>
          <a:prstGeom prst="rect">
            <a:avLst/>
          </a:prstGeom>
          <a:noFill/>
        </p:spPr>
        <p:txBody>
          <a:bodyPr wrap="none" lIns="0" rIns="0" tIns="0" bIns="0">
            <a:spAutoFit/>
          </a:bodyPr>
          <a:lstStyle/>
          <a:p>
            <a:r>
              <a:rPr sz="1100" b="0">
                <a:solidFill>
                  <a:srgbClr val="2E2E2E"/>
                </a:solidFill>
                <a:latin typeface="Calibri"/>
              </a:rPr>
              <a:t>CAGR leads the</a:t>
            </a:r>
          </a:p>
        </p:txBody>
      </p:sp>
      <p:sp>
        <p:nvSpPr>
          <p:cNvPr id="92" name="TextBox 91"/>
          <p:cNvSpPr txBox="1"/>
          <p:nvPr/>
        </p:nvSpPr>
        <p:spPr>
          <a:xfrm>
            <a:off x="3838575" y="4397077"/>
            <a:ext cx="602803" cy="186689"/>
          </a:xfrm>
          <a:prstGeom prst="rect">
            <a:avLst/>
          </a:prstGeom>
          <a:noFill/>
        </p:spPr>
        <p:txBody>
          <a:bodyPr wrap="none" lIns="0" rIns="0" tIns="0" bIns="0">
            <a:spAutoFit/>
          </a:bodyPr>
          <a:lstStyle/>
          <a:p>
            <a:r>
              <a:rPr sz="1100" b="0">
                <a:solidFill>
                  <a:srgbClr val="2E2E2E"/>
                </a:solidFill>
                <a:latin typeface="Calibri"/>
              </a:rPr>
              <a:t>segment.</a:t>
            </a:r>
          </a:p>
        </p:txBody>
      </p:sp>
      <p:sp>
        <p:nvSpPr>
          <p:cNvPr id="93" name="TextBox 92"/>
          <p:cNvSpPr txBox="1"/>
          <p:nvPr/>
        </p:nvSpPr>
        <p:spPr>
          <a:xfrm>
            <a:off x="3838575" y="4615009"/>
            <a:ext cx="891207" cy="186689"/>
          </a:xfrm>
          <a:prstGeom prst="rect">
            <a:avLst/>
          </a:prstGeom>
          <a:noFill/>
        </p:spPr>
        <p:txBody>
          <a:bodyPr wrap="none" lIns="0" rIns="0" tIns="0" bIns="0">
            <a:spAutoFit/>
          </a:bodyPr>
          <a:lstStyle/>
          <a:p>
            <a:r>
              <a:rPr sz="1100" b="0">
                <a:solidFill>
                  <a:srgbClr val="2E2E2E"/>
                </a:solidFill>
                <a:latin typeface="Calibri"/>
              </a:rPr>
              <a:t>● Direct Sales:</a:t>
            </a:r>
          </a:p>
        </p:txBody>
      </p:sp>
      <p:pic>
        <p:nvPicPr>
          <p:cNvPr id="94" name="Picture 93" descr="lock.png"/>
          <p:cNvPicPr>
            <a:picLocks noChangeAspect="1"/>
          </p:cNvPicPr>
          <p:nvPr/>
        </p:nvPicPr>
        <p:blipFill>
          <a:blip r:embed="rId13"/>
          <a:stretch>
            <a:fillRect/>
          </a:stretch>
        </p:blipFill>
        <p:spPr>
          <a:xfrm>
            <a:off x="4677834" y="4605230"/>
            <a:ext cx="128699" cy="187198"/>
          </a:xfrm>
          <a:prstGeom prst="rect">
            <a:avLst/>
          </a:prstGeom>
        </p:spPr>
      </p:pic>
      <p:sp>
        <p:nvSpPr>
          <p:cNvPr id="95" name="TextBox 94"/>
          <p:cNvSpPr txBox="1"/>
          <p:nvPr/>
        </p:nvSpPr>
        <p:spPr>
          <a:xfrm>
            <a:off x="4845330" y="461500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96" name="Picture 95" descr="lock.png"/>
          <p:cNvPicPr>
            <a:picLocks noChangeAspect="1"/>
          </p:cNvPicPr>
          <p:nvPr/>
        </p:nvPicPr>
        <p:blipFill>
          <a:blip r:embed="rId13"/>
          <a:stretch>
            <a:fillRect/>
          </a:stretch>
        </p:blipFill>
        <p:spPr>
          <a:xfrm>
            <a:off x="5704780" y="4605230"/>
            <a:ext cx="128699" cy="187198"/>
          </a:xfrm>
          <a:prstGeom prst="rect">
            <a:avLst/>
          </a:prstGeom>
        </p:spPr>
      </p:pic>
      <p:sp>
        <p:nvSpPr>
          <p:cNvPr id="97" name="TextBox 96"/>
          <p:cNvSpPr txBox="1"/>
          <p:nvPr/>
        </p:nvSpPr>
        <p:spPr>
          <a:xfrm>
            <a:off x="5872276" y="4615009"/>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98" name="TextBox 97"/>
          <p:cNvSpPr txBox="1"/>
          <p:nvPr/>
        </p:nvSpPr>
        <p:spPr>
          <a:xfrm>
            <a:off x="3838575" y="4832941"/>
            <a:ext cx="1970335" cy="186689"/>
          </a:xfrm>
          <a:prstGeom prst="rect">
            <a:avLst/>
          </a:prstGeom>
          <a:noFill/>
        </p:spPr>
        <p:txBody>
          <a:bodyPr wrap="none" lIns="0" rIns="0" tIns="0" bIns="0">
            <a:spAutoFit/>
          </a:bodyPr>
          <a:lstStyle/>
          <a:p>
            <a:r>
              <a:rPr sz="1100" b="0">
                <a:solidFill>
                  <a:srgbClr val="2E2E2E"/>
                </a:solidFill>
                <a:latin typeface="Calibri"/>
              </a:rPr>
              <a:t>● Online Dental Supply Channels:</a:t>
            </a:r>
          </a:p>
        </p:txBody>
      </p:sp>
      <p:pic>
        <p:nvPicPr>
          <p:cNvPr id="99" name="Picture 98" descr="lock.png"/>
          <p:cNvPicPr>
            <a:picLocks noChangeAspect="1"/>
          </p:cNvPicPr>
          <p:nvPr/>
        </p:nvPicPr>
        <p:blipFill>
          <a:blip r:embed="rId13"/>
          <a:stretch>
            <a:fillRect/>
          </a:stretch>
        </p:blipFill>
        <p:spPr>
          <a:xfrm>
            <a:off x="5756962" y="4823162"/>
            <a:ext cx="128699" cy="187198"/>
          </a:xfrm>
          <a:prstGeom prst="rect">
            <a:avLst/>
          </a:prstGeom>
        </p:spPr>
      </p:pic>
      <p:sp>
        <p:nvSpPr>
          <p:cNvPr id="100" name="TextBox 99"/>
          <p:cNvSpPr txBox="1"/>
          <p:nvPr/>
        </p:nvSpPr>
        <p:spPr>
          <a:xfrm>
            <a:off x="5924457" y="483294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1" name="Picture 100" descr="lock.png"/>
          <p:cNvPicPr>
            <a:picLocks noChangeAspect="1"/>
          </p:cNvPicPr>
          <p:nvPr/>
        </p:nvPicPr>
        <p:blipFill>
          <a:blip r:embed="rId13"/>
          <a:stretch>
            <a:fillRect/>
          </a:stretch>
        </p:blipFill>
        <p:spPr>
          <a:xfrm>
            <a:off x="6783908" y="4823162"/>
            <a:ext cx="128699" cy="187198"/>
          </a:xfrm>
          <a:prstGeom prst="rect">
            <a:avLst/>
          </a:prstGeom>
        </p:spPr>
      </p:pic>
      <p:sp>
        <p:nvSpPr>
          <p:cNvPr id="102" name="TextBox 101"/>
          <p:cNvSpPr txBox="1"/>
          <p:nvPr/>
        </p:nvSpPr>
        <p:spPr>
          <a:xfrm>
            <a:off x="6951404" y="4832941"/>
            <a:ext cx="885733" cy="186689"/>
          </a:xfrm>
          <a:prstGeom prst="rect">
            <a:avLst/>
          </a:prstGeom>
          <a:noFill/>
        </p:spPr>
        <p:txBody>
          <a:bodyPr wrap="none" lIns="0" rIns="0" tIns="0" bIns="0">
            <a:spAutoFit/>
          </a:bodyPr>
          <a:lstStyle/>
          <a:p>
            <a:r>
              <a:rPr sz="1100" b="0">
                <a:solidFill>
                  <a:srgbClr val="2E2E2E"/>
                </a:solidFill>
                <a:latin typeface="Calibri"/>
              </a:rPr>
              <a:t>CAGR serves a</a:t>
            </a:r>
          </a:p>
        </p:txBody>
      </p:sp>
      <p:sp>
        <p:nvSpPr>
          <p:cNvPr id="103" name="TextBox 102"/>
          <p:cNvSpPr txBox="1"/>
          <p:nvPr/>
        </p:nvSpPr>
        <p:spPr>
          <a:xfrm>
            <a:off x="3838575" y="5000581"/>
            <a:ext cx="419174" cy="186689"/>
          </a:xfrm>
          <a:prstGeom prst="rect">
            <a:avLst/>
          </a:prstGeom>
          <a:noFill/>
        </p:spPr>
        <p:txBody>
          <a:bodyPr wrap="none" lIns="0" rIns="0" tIns="0" bIns="0">
            <a:spAutoFit/>
          </a:bodyPr>
          <a:lstStyle/>
          <a:p>
            <a:r>
              <a:rPr sz="1100" b="0">
                <a:solidFill>
                  <a:srgbClr val="2E2E2E"/>
                </a:solidFill>
                <a:latin typeface="Calibri"/>
              </a:rPr>
              <a:t>niche.</a:t>
            </a:r>
          </a:p>
        </p:txBody>
      </p:sp>
      <p:sp>
        <p:nvSpPr>
          <p:cNvPr id="104" name="TextBox 103"/>
          <p:cNvSpPr txBox="1"/>
          <p:nvPr/>
        </p:nvSpPr>
        <p:spPr>
          <a:xfrm>
            <a:off x="8524875" y="5842641"/>
            <a:ext cx="3048830" cy="194310"/>
          </a:xfrm>
          <a:prstGeom prst="rect">
            <a:avLst/>
          </a:prstGeom>
          <a:noFill/>
        </p:spPr>
        <p:txBody>
          <a:bodyPr wrap="none" lIns="0" rIns="0" tIns="0" bIns="0">
            <a:spAutoFit/>
          </a:bodyPr>
          <a:lstStyle/>
          <a:p>
            <a:r>
              <a:rPr sz="1150" b="1">
                <a:solidFill>
                  <a:srgbClr val="0B2E4A"/>
                </a:solidFill>
                <a:latin typeface="Calibri"/>
              </a:rPr>
              <a:t>The Distribution Channel segment is projected to</a:t>
            </a:r>
          </a:p>
        </p:txBody>
      </p:sp>
      <p:sp>
        <p:nvSpPr>
          <p:cNvPr id="105" name="TextBox 104"/>
          <p:cNvSpPr txBox="1"/>
          <p:nvPr/>
        </p:nvSpPr>
        <p:spPr>
          <a:xfrm>
            <a:off x="8524875" y="6017901"/>
            <a:ext cx="1177823" cy="194310"/>
          </a:xfrm>
          <a:prstGeom prst="rect">
            <a:avLst/>
          </a:prstGeom>
          <a:noFill/>
        </p:spPr>
        <p:txBody>
          <a:bodyPr wrap="none" lIns="0" rIns="0" tIns="0" bIns="0">
            <a:spAutoFit/>
          </a:bodyPr>
          <a:lstStyle/>
          <a:p>
            <a:r>
              <a:rPr sz="1150" b="1">
                <a:solidFill>
                  <a:srgbClr val="0B2E4A"/>
                </a:solidFill>
                <a:latin typeface="Calibri"/>
              </a:rPr>
              <a:t>grow at a CAGR of</a:t>
            </a:r>
          </a:p>
        </p:txBody>
      </p:sp>
      <p:pic>
        <p:nvPicPr>
          <p:cNvPr id="106" name="Picture 105" descr="lock.png"/>
          <p:cNvPicPr>
            <a:picLocks noChangeAspect="1"/>
          </p:cNvPicPr>
          <p:nvPr/>
        </p:nvPicPr>
        <p:blipFill>
          <a:blip r:embed="rId13"/>
          <a:stretch>
            <a:fillRect/>
          </a:stretch>
        </p:blipFill>
        <p:spPr>
          <a:xfrm>
            <a:off x="9651852" y="6007677"/>
            <a:ext cx="134549" cy="195707"/>
          </a:xfrm>
          <a:prstGeom prst="rect">
            <a:avLst/>
          </a:prstGeom>
        </p:spPr>
      </p:pic>
      <p:sp>
        <p:nvSpPr>
          <p:cNvPr id="107" name="TextBox 106"/>
          <p:cNvSpPr txBox="1"/>
          <p:nvPr/>
        </p:nvSpPr>
        <p:spPr>
          <a:xfrm>
            <a:off x="9826962"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Distribution Channel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Distribution Channel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Distribution Channel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694045"/>
            <a:ext cx="11531327" cy="186689"/>
          </a:xfrm>
          <a:prstGeom prst="rect">
            <a:avLst/>
          </a:prstGeom>
          <a:noFill/>
        </p:spPr>
        <p:txBody>
          <a:bodyPr wrap="none" lIns="0" rIns="0" tIns="0" bIns="0">
            <a:spAutoFit/>
          </a:bodyPr>
          <a:lstStyle/>
          <a:p>
            <a:r>
              <a:rPr sz="1100" b="0">
                <a:solidFill>
                  <a:srgbClr val="2E2E2E"/>
                </a:solidFill>
                <a:latin typeface="Calibri"/>
              </a:rPr>
              <a:t>Direct sales followed by dental dealers &amp; distributors are expected to be the two most attractive distribution channel segments in the North America removable partial dentures market in terms of value</a:t>
            </a:r>
          </a:p>
        </p:txBody>
      </p:sp>
      <p:sp>
        <p:nvSpPr>
          <p:cNvPr id="21" name="TextBox 20"/>
          <p:cNvSpPr txBox="1"/>
          <p:nvPr/>
        </p:nvSpPr>
        <p:spPr>
          <a:xfrm>
            <a:off x="257175" y="5861685"/>
            <a:ext cx="5429803" cy="186689"/>
          </a:xfrm>
          <a:prstGeom prst="rect">
            <a:avLst/>
          </a:prstGeom>
          <a:noFill/>
        </p:spPr>
        <p:txBody>
          <a:bodyPr wrap="none" lIns="0" rIns="0" tIns="0" bIns="0">
            <a:spAutoFit/>
          </a:bodyPr>
          <a:lstStyle/>
          <a:p>
            <a:r>
              <a:rPr sz="1100" b="0">
                <a:solidFill>
                  <a:srgbClr val="2E2E2E"/>
                </a:solidFill>
                <a:latin typeface="Calibri"/>
              </a:rPr>
              <a:t>over the forecast period. Direct sales and dental dealers &amp; distributors exhibit a CAGR index of</a:t>
            </a:r>
          </a:p>
        </p:txBody>
      </p:sp>
      <p:pic>
        <p:nvPicPr>
          <p:cNvPr id="22" name="Picture 21" descr="lock.png"/>
          <p:cNvPicPr>
            <a:picLocks noChangeAspect="1"/>
          </p:cNvPicPr>
          <p:nvPr/>
        </p:nvPicPr>
        <p:blipFill>
          <a:blip r:embed="rId6"/>
          <a:stretch>
            <a:fillRect/>
          </a:stretch>
        </p:blipFill>
        <p:spPr>
          <a:xfrm>
            <a:off x="5635030" y="5851905"/>
            <a:ext cx="128699" cy="187198"/>
          </a:xfrm>
          <a:prstGeom prst="rect">
            <a:avLst/>
          </a:prstGeom>
        </p:spPr>
      </p:pic>
      <p:sp>
        <p:nvSpPr>
          <p:cNvPr id="23" name="TextBox 22"/>
          <p:cNvSpPr txBox="1"/>
          <p:nvPr/>
        </p:nvSpPr>
        <p:spPr>
          <a:xfrm>
            <a:off x="5802525"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6040420" y="5851905"/>
            <a:ext cx="128699" cy="187198"/>
          </a:xfrm>
          <a:prstGeom prst="rect">
            <a:avLst/>
          </a:prstGeom>
        </p:spPr>
      </p:pic>
      <p:sp>
        <p:nvSpPr>
          <p:cNvPr id="25" name="TextBox 24"/>
          <p:cNvSpPr txBox="1"/>
          <p:nvPr/>
        </p:nvSpPr>
        <p:spPr>
          <a:xfrm>
            <a:off x="6207916" y="586168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7816889" y="5851905"/>
            <a:ext cx="128699" cy="187198"/>
          </a:xfrm>
          <a:prstGeom prst="rect">
            <a:avLst/>
          </a:prstGeom>
        </p:spPr>
      </p:pic>
      <p:sp>
        <p:nvSpPr>
          <p:cNvPr id="27" name="TextBox 26"/>
          <p:cNvSpPr txBox="1"/>
          <p:nvPr/>
        </p:nvSpPr>
        <p:spPr>
          <a:xfrm>
            <a:off x="7984385"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8222279" y="5851905"/>
            <a:ext cx="128699" cy="187198"/>
          </a:xfrm>
          <a:prstGeom prst="rect">
            <a:avLst/>
          </a:prstGeom>
        </p:spPr>
      </p:pic>
      <p:sp>
        <p:nvSpPr>
          <p:cNvPr id="29" name="TextBox 28"/>
          <p:cNvSpPr txBox="1"/>
          <p:nvPr/>
        </p:nvSpPr>
        <p:spPr>
          <a:xfrm>
            <a:off x="8389775" y="586168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30" name="Picture 29" descr="lock.png"/>
          <p:cNvPicPr>
            <a:picLocks noChangeAspect="1"/>
          </p:cNvPicPr>
          <p:nvPr/>
        </p:nvPicPr>
        <p:blipFill>
          <a:blip r:embed="rId6"/>
          <a:stretch>
            <a:fillRect/>
          </a:stretch>
        </p:blipFill>
        <p:spPr>
          <a:xfrm>
            <a:off x="10944179" y="5851905"/>
            <a:ext cx="128699" cy="187198"/>
          </a:xfrm>
          <a:prstGeom prst="rect">
            <a:avLst/>
          </a:prstGeom>
        </p:spPr>
      </p:pic>
      <p:sp>
        <p:nvSpPr>
          <p:cNvPr id="31" name="TextBox 30"/>
          <p:cNvSpPr txBox="1"/>
          <p:nvPr/>
        </p:nvSpPr>
        <p:spPr>
          <a:xfrm>
            <a:off x="11111675" y="5861685"/>
            <a:ext cx="354235" cy="186689"/>
          </a:xfrm>
          <a:prstGeom prst="rect">
            <a:avLst/>
          </a:prstGeom>
          <a:noFill/>
        </p:spPr>
        <p:txBody>
          <a:bodyPr wrap="none" lIns="0" rIns="0" tIns="0" bIns="0">
            <a:spAutoFit/>
          </a:bodyPr>
          <a:lstStyle/>
          <a:p>
            <a:r>
              <a:rPr sz="1100" b="0">
                <a:solidFill>
                  <a:srgbClr val="2E2E2E"/>
                </a:solidFill>
                <a:latin typeface="Calibri"/>
              </a:rPr>
              <a:t>. The</a:t>
            </a:r>
          </a:p>
        </p:txBody>
      </p:sp>
      <p:sp>
        <p:nvSpPr>
          <p:cNvPr id="32" name="TextBox 31"/>
          <p:cNvSpPr txBox="1"/>
          <p:nvPr/>
        </p:nvSpPr>
        <p:spPr>
          <a:xfrm>
            <a:off x="257175" y="6029325"/>
            <a:ext cx="11639632" cy="186689"/>
          </a:xfrm>
          <a:prstGeom prst="rect">
            <a:avLst/>
          </a:prstGeom>
          <a:noFill/>
        </p:spPr>
        <p:txBody>
          <a:bodyPr wrap="none" lIns="0" rIns="0" tIns="0" bIns="0">
            <a:spAutoFit/>
          </a:bodyPr>
          <a:lstStyle/>
          <a:p>
            <a:r>
              <a:rPr sz="1100" b="0">
                <a:solidFill>
                  <a:srgbClr val="2E2E2E"/>
                </a:solidFill>
                <a:latin typeface="Calibri"/>
              </a:rPr>
              <a:t>online dental supply channels segment is expected to be less attractive as compared to other segments over the forecast period, owing to its lower CAGR and incremental opportunity. Bubbles right of the</a:t>
            </a:r>
          </a:p>
        </p:txBody>
      </p:sp>
      <p:sp>
        <p:nvSpPr>
          <p:cNvPr id="33" name="TextBox 32"/>
          <p:cNvSpPr txBox="1"/>
          <p:nvPr/>
        </p:nvSpPr>
        <p:spPr>
          <a:xfrm>
            <a:off x="257175" y="6196965"/>
            <a:ext cx="3224344" cy="186689"/>
          </a:xfrm>
          <a:prstGeom prst="rect">
            <a:avLst/>
          </a:prstGeom>
          <a:noFill/>
        </p:spPr>
        <p:txBody>
          <a:bodyPr wrap="none" lIns="0" rIns="0" tIns="0" bIns="0">
            <a:spAutoFit/>
          </a:bodyPr>
          <a:lstStyle/>
          <a:p>
            <a:r>
              <a:rPr sz="1100" b="0">
                <a:solidFill>
                  <a:srgbClr val="2E2E2E"/>
                </a:solidFill>
                <a:latin typeface="Calibri"/>
              </a:rPr>
              <a:t>CAGR-Index line grow faster than the segment average.</a:t>
            </a:r>
          </a:p>
        </p:txBody>
      </p:sp>
      <p:sp>
        <p:nvSpPr>
          <p:cNvPr id="34"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Distribution Channel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Direct Sales</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Dental Dealers &amp; Distributors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Online Dental Supply Channels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North America Absolute $ Opportunity Analysis, By Distribution Channel</a:t>
            </a:r>
          </a:p>
        </p:txBody>
      </p:sp>
      <p:sp>
        <p:nvSpPr>
          <p:cNvPr id="22" name="Rectangle 21"/>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4276725"/>
            <a:ext cx="5610225" cy="22669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3094826" y="2237234"/>
            <a:ext cx="263506" cy="383281"/>
          </a:xfrm>
          <a:prstGeom prst="rect">
            <a:avLst/>
          </a:prstGeom>
        </p:spPr>
      </p:pic>
      <p:pic>
        <p:nvPicPr>
          <p:cNvPr id="26" name="Picture 25" descr="lock.png"/>
          <p:cNvPicPr>
            <a:picLocks noChangeAspect="1"/>
          </p:cNvPicPr>
          <p:nvPr/>
        </p:nvPicPr>
        <p:blipFill>
          <a:blip r:embed="rId7"/>
          <a:stretch>
            <a:fillRect/>
          </a:stretch>
        </p:blipFill>
        <p:spPr>
          <a:xfrm>
            <a:off x="9129555" y="2330679"/>
            <a:ext cx="252890" cy="367840"/>
          </a:xfrm>
          <a:prstGeom prst="rect">
            <a:avLst/>
          </a:prstGeom>
        </p:spPr>
      </p:pic>
      <p:pic>
        <p:nvPicPr>
          <p:cNvPr id="27" name="Picture 26" descr="lock.png"/>
          <p:cNvPicPr>
            <a:picLocks noChangeAspect="1"/>
          </p:cNvPicPr>
          <p:nvPr/>
        </p:nvPicPr>
        <p:blipFill>
          <a:blip r:embed="rId7"/>
          <a:stretch>
            <a:fillRect/>
          </a:stretch>
        </p:blipFill>
        <p:spPr>
          <a:xfrm>
            <a:off x="3100230" y="5216754"/>
            <a:ext cx="252890" cy="367840"/>
          </a:xfrm>
          <a:prstGeom prst="rect">
            <a:avLst/>
          </a:prstGeom>
        </p:spPr>
      </p:pic>
      <p:sp>
        <p:nvSpPr>
          <p:cNvPr id="28" name="TextBox 27"/>
          <p:cNvSpPr txBox="1"/>
          <p:nvPr/>
        </p:nvSpPr>
        <p:spPr>
          <a:xfrm>
            <a:off x="6305550" y="4286250"/>
            <a:ext cx="4169856" cy="194310"/>
          </a:xfrm>
          <a:prstGeom prst="rect">
            <a:avLst/>
          </a:prstGeom>
          <a:noFill/>
        </p:spPr>
        <p:txBody>
          <a:bodyPr wrap="none" lIns="0" rIns="0" tIns="0" bIns="0">
            <a:spAutoFit/>
          </a:bodyPr>
          <a:lstStyle/>
          <a:p>
            <a:r>
              <a:rPr sz="1150" b="0">
                <a:solidFill>
                  <a:srgbClr val="2E2E2E"/>
                </a:solidFill>
                <a:latin typeface="Calibri"/>
              </a:rPr>
              <a:t>By 2036, direct sales segment is anticipated to witness an increase of</a:t>
            </a:r>
          </a:p>
        </p:txBody>
      </p:sp>
      <p:pic>
        <p:nvPicPr>
          <p:cNvPr id="29" name="Picture 28" descr="lock.png"/>
          <p:cNvPicPr>
            <a:picLocks noChangeAspect="1"/>
          </p:cNvPicPr>
          <p:nvPr/>
        </p:nvPicPr>
        <p:blipFill>
          <a:blip r:embed="rId7"/>
          <a:stretch>
            <a:fillRect/>
          </a:stretch>
        </p:blipFill>
        <p:spPr>
          <a:xfrm>
            <a:off x="10424560" y="4276026"/>
            <a:ext cx="134549" cy="195707"/>
          </a:xfrm>
          <a:prstGeom prst="rect">
            <a:avLst/>
          </a:prstGeom>
        </p:spPr>
      </p:pic>
      <p:sp>
        <p:nvSpPr>
          <p:cNvPr id="30" name="TextBox 29"/>
          <p:cNvSpPr txBox="1"/>
          <p:nvPr/>
        </p:nvSpPr>
        <p:spPr>
          <a:xfrm>
            <a:off x="10599669" y="4286250"/>
            <a:ext cx="1181844" cy="194310"/>
          </a:xfrm>
          <a:prstGeom prst="rect">
            <a:avLst/>
          </a:prstGeom>
          <a:noFill/>
        </p:spPr>
        <p:txBody>
          <a:bodyPr wrap="none" lIns="0" rIns="0" tIns="0" bIns="0">
            <a:spAutoFit/>
          </a:bodyPr>
          <a:lstStyle/>
          <a:p>
            <a:r>
              <a:rPr sz="1150" b="0">
                <a:solidFill>
                  <a:srgbClr val="2E2E2E"/>
                </a:solidFill>
                <a:latin typeface="Calibri"/>
              </a:rPr>
              <a:t>X in terms of value</a:t>
            </a:r>
          </a:p>
        </p:txBody>
      </p:sp>
      <p:sp>
        <p:nvSpPr>
          <p:cNvPr id="31" name="TextBox 30"/>
          <p:cNvSpPr txBox="1"/>
          <p:nvPr/>
        </p:nvSpPr>
        <p:spPr>
          <a:xfrm>
            <a:off x="6305550" y="4461510"/>
            <a:ext cx="5067287" cy="194310"/>
          </a:xfrm>
          <a:prstGeom prst="rect">
            <a:avLst/>
          </a:prstGeom>
          <a:noFill/>
        </p:spPr>
        <p:txBody>
          <a:bodyPr wrap="none" lIns="0" rIns="0" tIns="0" bIns="0">
            <a:spAutoFit/>
          </a:bodyPr>
          <a:lstStyle/>
          <a:p>
            <a:r>
              <a:rPr sz="1150" b="0">
                <a:solidFill>
                  <a:srgbClr val="2E2E2E"/>
                </a:solidFill>
                <a:latin typeface="Calibri"/>
              </a:rPr>
              <a:t>as compared to 2026. The direct sales segment is expected to create an incremental</a:t>
            </a:r>
          </a:p>
        </p:txBody>
      </p:sp>
      <p:sp>
        <p:nvSpPr>
          <p:cNvPr id="32" name="TextBox 31"/>
          <p:cNvSpPr txBox="1"/>
          <p:nvPr/>
        </p:nvSpPr>
        <p:spPr>
          <a:xfrm>
            <a:off x="6305550" y="4636770"/>
            <a:ext cx="1208943" cy="194310"/>
          </a:xfrm>
          <a:prstGeom prst="rect">
            <a:avLst/>
          </a:prstGeom>
          <a:noFill/>
        </p:spPr>
        <p:txBody>
          <a:bodyPr wrap="none" lIns="0" rIns="0" tIns="0" bIns="0">
            <a:spAutoFit/>
          </a:bodyPr>
          <a:lstStyle/>
          <a:p>
            <a:r>
              <a:rPr sz="1150" b="0">
                <a:solidFill>
                  <a:srgbClr val="2E2E2E"/>
                </a:solidFill>
                <a:latin typeface="Calibri"/>
              </a:rPr>
              <a:t>opportunity of US$</a:t>
            </a:r>
          </a:p>
        </p:txBody>
      </p:sp>
      <p:pic>
        <p:nvPicPr>
          <p:cNvPr id="33" name="Picture 32" descr="lock.png"/>
          <p:cNvPicPr>
            <a:picLocks noChangeAspect="1"/>
          </p:cNvPicPr>
          <p:nvPr/>
        </p:nvPicPr>
        <p:blipFill>
          <a:blip r:embed="rId7"/>
          <a:stretch>
            <a:fillRect/>
          </a:stretch>
        </p:blipFill>
        <p:spPr>
          <a:xfrm>
            <a:off x="7463647" y="4626546"/>
            <a:ext cx="134549" cy="195707"/>
          </a:xfrm>
          <a:prstGeom prst="rect">
            <a:avLst/>
          </a:prstGeom>
        </p:spPr>
      </p:pic>
      <p:sp>
        <p:nvSpPr>
          <p:cNvPr id="34" name="TextBox 33"/>
          <p:cNvSpPr txBox="1"/>
          <p:nvPr/>
        </p:nvSpPr>
        <p:spPr>
          <a:xfrm>
            <a:off x="7638756" y="4636770"/>
            <a:ext cx="4074889" cy="194310"/>
          </a:xfrm>
          <a:prstGeom prst="rect">
            <a:avLst/>
          </a:prstGeom>
          <a:noFill/>
        </p:spPr>
        <p:txBody>
          <a:bodyPr wrap="none" lIns="0" rIns="0" tIns="0" bIns="0">
            <a:spAutoFit/>
          </a:bodyPr>
          <a:lstStyle/>
          <a:p>
            <a:r>
              <a:rPr sz="1150" b="0">
                <a:solidFill>
                  <a:srgbClr val="2E2E2E"/>
                </a:solidFill>
                <a:latin typeface="Calibri"/>
              </a:rPr>
              <a:t>Mn for the overall removable partial dentures market from 2026 to</a:t>
            </a:r>
          </a:p>
        </p:txBody>
      </p:sp>
      <p:sp>
        <p:nvSpPr>
          <p:cNvPr id="35" name="TextBox 34"/>
          <p:cNvSpPr txBox="1"/>
          <p:nvPr/>
        </p:nvSpPr>
        <p:spPr>
          <a:xfrm>
            <a:off x="6305550" y="4812029"/>
            <a:ext cx="409661" cy="194310"/>
          </a:xfrm>
          <a:prstGeom prst="rect">
            <a:avLst/>
          </a:prstGeom>
          <a:noFill/>
        </p:spPr>
        <p:txBody>
          <a:bodyPr wrap="none" lIns="0" rIns="0" tIns="0" bIns="0">
            <a:spAutoFit/>
          </a:bodyPr>
          <a:lstStyle/>
          <a:p>
            <a:r>
              <a:rPr sz="1150" b="0">
                <a:solidFill>
                  <a:srgbClr val="2E2E2E"/>
                </a:solidFill>
                <a:latin typeface="Calibri"/>
              </a:rPr>
              <a:t>2036.</a:t>
            </a:r>
          </a:p>
        </p:txBody>
      </p:sp>
      <p:sp>
        <p:nvSpPr>
          <p:cNvPr id="36" name="TextBox 35"/>
          <p:cNvSpPr txBox="1"/>
          <p:nvPr/>
        </p:nvSpPr>
        <p:spPr>
          <a:xfrm>
            <a:off x="6305550" y="5039867"/>
            <a:ext cx="5520556" cy="194310"/>
          </a:xfrm>
          <a:prstGeom prst="rect">
            <a:avLst/>
          </a:prstGeom>
          <a:noFill/>
        </p:spPr>
        <p:txBody>
          <a:bodyPr wrap="none" lIns="0" rIns="0" tIns="0" bIns="0">
            <a:spAutoFit/>
          </a:bodyPr>
          <a:lstStyle/>
          <a:p>
            <a:r>
              <a:rPr sz="1150" b="0">
                <a:solidFill>
                  <a:srgbClr val="2E2E2E"/>
                </a:solidFill>
                <a:latin typeface="Calibri"/>
              </a:rPr>
              <a:t>The dental dealers &amp; distributors segment is expected to create an incremental opportunity</a:t>
            </a:r>
          </a:p>
        </p:txBody>
      </p:sp>
      <p:sp>
        <p:nvSpPr>
          <p:cNvPr id="37" name="TextBox 36"/>
          <p:cNvSpPr txBox="1"/>
          <p:nvPr/>
        </p:nvSpPr>
        <p:spPr>
          <a:xfrm>
            <a:off x="6305550" y="5215127"/>
            <a:ext cx="465856" cy="194310"/>
          </a:xfrm>
          <a:prstGeom prst="rect">
            <a:avLst/>
          </a:prstGeom>
          <a:noFill/>
        </p:spPr>
        <p:txBody>
          <a:bodyPr wrap="none" lIns="0" rIns="0" tIns="0" bIns="0">
            <a:spAutoFit/>
          </a:bodyPr>
          <a:lstStyle/>
          <a:p>
            <a:r>
              <a:rPr sz="1150" b="0">
                <a:solidFill>
                  <a:srgbClr val="2E2E2E"/>
                </a:solidFill>
                <a:latin typeface="Calibri"/>
              </a:rPr>
              <a:t>of US$</a:t>
            </a:r>
          </a:p>
        </p:txBody>
      </p:sp>
      <p:pic>
        <p:nvPicPr>
          <p:cNvPr id="38" name="Picture 37" descr="lock.png"/>
          <p:cNvPicPr>
            <a:picLocks noChangeAspect="1"/>
          </p:cNvPicPr>
          <p:nvPr/>
        </p:nvPicPr>
        <p:blipFill>
          <a:blip r:embed="rId7"/>
          <a:stretch>
            <a:fillRect/>
          </a:stretch>
        </p:blipFill>
        <p:spPr>
          <a:xfrm>
            <a:off x="6720560" y="5204904"/>
            <a:ext cx="134549" cy="195707"/>
          </a:xfrm>
          <a:prstGeom prst="rect">
            <a:avLst/>
          </a:prstGeom>
        </p:spPr>
      </p:pic>
      <p:sp>
        <p:nvSpPr>
          <p:cNvPr id="39" name="TextBox 38"/>
          <p:cNvSpPr txBox="1"/>
          <p:nvPr/>
        </p:nvSpPr>
        <p:spPr>
          <a:xfrm>
            <a:off x="6895670" y="5215127"/>
            <a:ext cx="4695316" cy="194310"/>
          </a:xfrm>
          <a:prstGeom prst="rect">
            <a:avLst/>
          </a:prstGeom>
          <a:noFill/>
        </p:spPr>
        <p:txBody>
          <a:bodyPr wrap="none" lIns="0" rIns="0" tIns="0" bIns="0">
            <a:spAutoFit/>
          </a:bodyPr>
          <a:lstStyle/>
          <a:p>
            <a:r>
              <a:rPr sz="1150" b="0">
                <a:solidFill>
                  <a:srgbClr val="2E2E2E"/>
                </a:solidFill>
                <a:latin typeface="Calibri"/>
              </a:rPr>
              <a:t>Mn for the overall removable partial dentures market from 2026 to 2036. The</a:t>
            </a:r>
          </a:p>
        </p:txBody>
      </p:sp>
      <p:sp>
        <p:nvSpPr>
          <p:cNvPr id="40" name="TextBox 39"/>
          <p:cNvSpPr txBox="1"/>
          <p:nvPr/>
        </p:nvSpPr>
        <p:spPr>
          <a:xfrm>
            <a:off x="6305550" y="5390387"/>
            <a:ext cx="5482046" cy="194310"/>
          </a:xfrm>
          <a:prstGeom prst="rect">
            <a:avLst/>
          </a:prstGeom>
          <a:noFill/>
        </p:spPr>
        <p:txBody>
          <a:bodyPr wrap="none" lIns="0" rIns="0" tIns="0" bIns="0">
            <a:spAutoFit/>
          </a:bodyPr>
          <a:lstStyle/>
          <a:p>
            <a:r>
              <a:rPr sz="1150" b="0">
                <a:solidFill>
                  <a:srgbClr val="2E2E2E"/>
                </a:solidFill>
                <a:latin typeface="Calibri"/>
              </a:rPr>
              <a:t>online dental supply channels segment is expected to create an incremental opportunity of</a:t>
            </a:r>
          </a:p>
        </p:txBody>
      </p:sp>
      <p:sp>
        <p:nvSpPr>
          <p:cNvPr id="41" name="TextBox 40"/>
          <p:cNvSpPr txBox="1"/>
          <p:nvPr/>
        </p:nvSpPr>
        <p:spPr>
          <a:xfrm>
            <a:off x="6305550" y="5565647"/>
            <a:ext cx="311249" cy="194310"/>
          </a:xfrm>
          <a:prstGeom prst="rect">
            <a:avLst/>
          </a:prstGeom>
          <a:noFill/>
        </p:spPr>
        <p:txBody>
          <a:bodyPr wrap="none" lIns="0" rIns="0" tIns="0" bIns="0">
            <a:spAutoFit/>
          </a:bodyPr>
          <a:lstStyle/>
          <a:p>
            <a:r>
              <a:rPr sz="1150" b="0">
                <a:solidFill>
                  <a:srgbClr val="2E2E2E"/>
                </a:solidFill>
                <a:latin typeface="Calibri"/>
              </a:rPr>
              <a:t>US$</a:t>
            </a:r>
          </a:p>
        </p:txBody>
      </p:sp>
      <p:pic>
        <p:nvPicPr>
          <p:cNvPr id="42" name="Picture 41" descr="lock.png"/>
          <p:cNvPicPr>
            <a:picLocks noChangeAspect="1"/>
          </p:cNvPicPr>
          <p:nvPr/>
        </p:nvPicPr>
        <p:blipFill>
          <a:blip r:embed="rId7"/>
          <a:stretch>
            <a:fillRect/>
          </a:stretch>
        </p:blipFill>
        <p:spPr>
          <a:xfrm>
            <a:off x="6565953" y="5555424"/>
            <a:ext cx="134549" cy="195707"/>
          </a:xfrm>
          <a:prstGeom prst="rect">
            <a:avLst/>
          </a:prstGeom>
        </p:spPr>
      </p:pic>
      <p:sp>
        <p:nvSpPr>
          <p:cNvPr id="43" name="TextBox 42"/>
          <p:cNvSpPr txBox="1"/>
          <p:nvPr/>
        </p:nvSpPr>
        <p:spPr>
          <a:xfrm>
            <a:off x="6741062" y="5565647"/>
            <a:ext cx="4441440" cy="194310"/>
          </a:xfrm>
          <a:prstGeom prst="rect">
            <a:avLst/>
          </a:prstGeom>
          <a:noFill/>
        </p:spPr>
        <p:txBody>
          <a:bodyPr wrap="none" lIns="0" rIns="0" tIns="0" bIns="0">
            <a:spAutoFit/>
          </a:bodyPr>
          <a:lstStyle/>
          <a:p>
            <a:r>
              <a:rPr sz="1150" b="0">
                <a:solidFill>
                  <a:srgbClr val="2E2E2E"/>
                </a:solidFill>
                <a:latin typeface="Calibri"/>
              </a:rPr>
              <a:t>Mn for the overall removable partial dentures market from 2026 to 2036.</a:t>
            </a:r>
          </a:p>
        </p:txBody>
      </p:sp>
      <p:sp>
        <p:nvSpPr>
          <p:cNvPr id="44"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lockshield_16"/>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lockshield_19"/>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Distribution Channel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Distribution Channel,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Distribution Channel (Units)</a:t>
            </a:r>
          </a:p>
        </p:txBody>
      </p:sp>
      <p:graphicFrame>
        <p:nvGraphicFramePr>
          <p:cNvPr id="13" name="Table 12"/>
          <p:cNvGraphicFramePr>
            <a:graphicFrameLocks noGrp="1"/>
          </p:cNvGraphicFramePr>
          <p:nvPr/>
        </p:nvGraphicFramePr>
        <p:xfrm>
          <a:off x="152400" y="1238250"/>
          <a:ext cx="11887197" cy="1238250"/>
        </p:xfrm>
        <a:graphic>
          <a:graphicData uri="http://schemas.openxmlformats.org/drawingml/2006/table">
            <a:tbl>
              <a:tblPr>
                <a:tableStyleId>{5C22544A-7EE6-4342-B048-85BDC9FD1C3A}</a:tableStyleId>
              </a:tblPr>
              <a:tblGrid>
                <a:gridCol w="1944154"/>
                <a:gridCol w="553665"/>
                <a:gridCol w="553665"/>
                <a:gridCol w="553665"/>
                <a:gridCol w="553665"/>
                <a:gridCol w="553665"/>
                <a:gridCol w="553665"/>
                <a:gridCol w="553665"/>
                <a:gridCol w="553665"/>
                <a:gridCol w="553665"/>
                <a:gridCol w="553665"/>
                <a:gridCol w="553665"/>
                <a:gridCol w="665801"/>
                <a:gridCol w="665801"/>
                <a:gridCol w="665801"/>
                <a:gridCol w="665801"/>
                <a:gridCol w="665801"/>
                <a:gridCol w="523723"/>
              </a:tblGrid>
              <a:tr h="246126">
                <a:tc>
                  <a:txBody>
                    <a:bodyPr wrap="none"/>
                    <a:lstStyle/>
                    <a:p>
                      <a:pPr algn="l"/>
                      <a:r>
                        <a:rPr sz="1100" b="1">
                          <a:solidFill>
                            <a:srgbClr val="0B2E4A"/>
                          </a:solidFill>
                          <a:latin typeface="Calibri"/>
                        </a:rPr>
                        <a:t>Distribution Channel</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2021A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2022A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2023A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2024A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2025A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2026E</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2027F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2028F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2029F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2030F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2031F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2032F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2033F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2034F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2035F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2036F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F-CAGR</a:t>
                      </a:r>
                      <a:endParaRPr sz="1100"/>
                    </a:p>
                  </a:txBody>
                  <a:tcPr marL="28575" marR="19050" marT="19050" marB="19050" anchor="ctr">
                    <a:solidFill>
                      <a:srgbClr val="E0E8EF"/>
                    </a:solidFill>
                  </a:tcPr>
                </a:tc>
              </a:tr>
              <a:tr h="248031">
                <a:tc>
                  <a:txBody>
                    <a:bodyPr wrap="none"/>
                    <a:lstStyle/>
                    <a:p>
                      <a:pPr algn="l"/>
                      <a:r>
                        <a:rPr sz="1100" b="1">
                          <a:solidFill>
                            <a:srgbClr val="2E2E2E"/>
                          </a:solidFill>
                          <a:latin typeface="Calibri"/>
                        </a:rPr>
                        <a:t>Direct Sales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8031">
                <a:tc>
                  <a:txBody>
                    <a:bodyPr wrap="none"/>
                    <a:lstStyle/>
                    <a:p>
                      <a:pPr algn="l"/>
                      <a:r>
                        <a:rPr sz="1100" b="1">
                          <a:solidFill>
                            <a:srgbClr val="2E2E2E"/>
                          </a:solidFill>
                          <a:latin typeface="Calibri"/>
                        </a:rPr>
                        <a:t>Dental Dealers &amp; Distributors</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8031">
                <a:tc>
                  <a:txBody>
                    <a:bodyPr wrap="none"/>
                    <a:lstStyle/>
                    <a:p>
                      <a:pPr algn="l"/>
                      <a:r>
                        <a:rPr sz="1100" b="1">
                          <a:solidFill>
                            <a:srgbClr val="2E2E2E"/>
                          </a:solidFill>
                          <a:latin typeface="Calibri"/>
                        </a:rPr>
                        <a:t>Online Dental Supply Channels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8031">
                <a:tc>
                  <a:txBody>
                    <a:bodyPr wrap="none"/>
                    <a:lstStyle/>
                    <a:p>
                      <a:pPr algn="l"/>
                      <a:r>
                        <a:rPr sz="1100" b="1">
                          <a:solidFill>
                            <a:srgbClr val="2E2E2E"/>
                          </a:solidFill>
                          <a:latin typeface="Calibri"/>
                        </a:rPr>
                        <a:t>Total</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0512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Distribution Channel</a:t>
            </a:r>
          </a:p>
        </p:txBody>
      </p:sp>
      <p:sp>
        <p:nvSpPr>
          <p:cNvPr id="17" name="Rectangle 16"/>
          <p:cNvSpPr/>
          <p:nvPr/>
        </p:nvSpPr>
        <p:spPr>
          <a:xfrm>
            <a:off x="276225" y="31432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28975"/>
            <a:ext cx="1163955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881385" y="1713738"/>
            <a:ext cx="366712" cy="533399"/>
          </a:xfrm>
          <a:prstGeom prst="rect">
            <a:avLst/>
          </a:prstGeom>
        </p:spPr>
      </p:pic>
      <p:sp>
        <p:nvSpPr>
          <p:cNvPr id="21" name="TextBox 20"/>
          <p:cNvSpPr txBox="1"/>
          <p:nvPr/>
        </p:nvSpPr>
        <p:spPr>
          <a:xfrm>
            <a:off x="276225" y="3238500"/>
            <a:ext cx="3714898" cy="194310"/>
          </a:xfrm>
          <a:prstGeom prst="rect">
            <a:avLst/>
          </a:prstGeom>
          <a:noFill/>
        </p:spPr>
        <p:txBody>
          <a:bodyPr wrap="none" lIns="0" rIns="0" tIns="0" bIns="0">
            <a:spAutoFit/>
          </a:bodyPr>
          <a:lstStyle/>
          <a:p>
            <a:r>
              <a:rPr sz="1150" b="0">
                <a:solidFill>
                  <a:srgbClr val="2E2E2E"/>
                </a:solidFill>
                <a:latin typeface="Calibri"/>
              </a:rPr>
              <a:t>Dental dealers &amp; distributors segment is projected to register</a:t>
            </a:r>
          </a:p>
        </p:txBody>
      </p:sp>
      <p:pic>
        <p:nvPicPr>
          <p:cNvPr id="22" name="Picture 21" descr="lock.png"/>
          <p:cNvPicPr>
            <a:picLocks noChangeAspect="1"/>
          </p:cNvPicPr>
          <p:nvPr/>
        </p:nvPicPr>
        <p:blipFill>
          <a:blip r:embed="rId4"/>
          <a:stretch>
            <a:fillRect/>
          </a:stretch>
        </p:blipFill>
        <p:spPr>
          <a:xfrm>
            <a:off x="3940277" y="3228276"/>
            <a:ext cx="134549" cy="195707"/>
          </a:xfrm>
          <a:prstGeom prst="rect">
            <a:avLst/>
          </a:prstGeom>
        </p:spPr>
      </p:pic>
      <p:sp>
        <p:nvSpPr>
          <p:cNvPr id="23" name="TextBox 22"/>
          <p:cNvSpPr txBox="1"/>
          <p:nvPr/>
        </p:nvSpPr>
        <p:spPr>
          <a:xfrm>
            <a:off x="4115387" y="3238500"/>
            <a:ext cx="7353882" cy="194310"/>
          </a:xfrm>
          <a:prstGeom prst="rect">
            <a:avLst/>
          </a:prstGeom>
          <a:noFill/>
        </p:spPr>
        <p:txBody>
          <a:bodyPr wrap="none" lIns="0" rIns="0" tIns="0" bIns="0">
            <a:spAutoFit/>
          </a:bodyPr>
          <a:lstStyle/>
          <a:p>
            <a:r>
              <a:rPr sz="1150" b="0">
                <a:solidFill>
                  <a:srgbClr val="2E2E2E"/>
                </a:solidFill>
                <a:latin typeface="Calibri"/>
              </a:rPr>
              <a:t>X higher volume than direct sales segment in 2036. Among removable partial dentures by distribution channel, direct sales</a:t>
            </a:r>
          </a:p>
        </p:txBody>
      </p:sp>
      <p:sp>
        <p:nvSpPr>
          <p:cNvPr id="24" name="TextBox 23"/>
          <p:cNvSpPr txBox="1"/>
          <p:nvPr/>
        </p:nvSpPr>
        <p:spPr>
          <a:xfrm>
            <a:off x="276225" y="3413760"/>
            <a:ext cx="3156639" cy="194310"/>
          </a:xfrm>
          <a:prstGeom prst="rect">
            <a:avLst/>
          </a:prstGeom>
          <a:noFill/>
        </p:spPr>
        <p:txBody>
          <a:bodyPr wrap="none" lIns="0" rIns="0" tIns="0" bIns="0">
            <a:spAutoFit/>
          </a:bodyPr>
          <a:lstStyle/>
          <a:p>
            <a:r>
              <a:rPr sz="1150" b="0">
                <a:solidFill>
                  <a:srgbClr val="2E2E2E"/>
                </a:solidFill>
                <a:latin typeface="Calibri"/>
              </a:rPr>
              <a:t>segment is expected to witness the highest CAGR of</a:t>
            </a:r>
          </a:p>
        </p:txBody>
      </p:sp>
      <p:pic>
        <p:nvPicPr>
          <p:cNvPr id="25" name="Picture 24" descr="lock.png"/>
          <p:cNvPicPr>
            <a:picLocks noChangeAspect="1"/>
          </p:cNvPicPr>
          <p:nvPr/>
        </p:nvPicPr>
        <p:blipFill>
          <a:blip r:embed="rId4"/>
          <a:stretch>
            <a:fillRect/>
          </a:stretch>
        </p:blipFill>
        <p:spPr>
          <a:xfrm>
            <a:off x="3382018" y="3403536"/>
            <a:ext cx="134549" cy="195707"/>
          </a:xfrm>
          <a:prstGeom prst="rect">
            <a:avLst/>
          </a:prstGeom>
        </p:spPr>
      </p:pic>
      <p:sp>
        <p:nvSpPr>
          <p:cNvPr id="26" name="TextBox 25"/>
          <p:cNvSpPr txBox="1"/>
          <p:nvPr/>
        </p:nvSpPr>
        <p:spPr>
          <a:xfrm>
            <a:off x="3557127" y="341376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641597"/>
            <a:ext cx="8085273" cy="194310"/>
          </a:xfrm>
          <a:prstGeom prst="rect">
            <a:avLst/>
          </a:prstGeom>
          <a:noFill/>
        </p:spPr>
        <p:txBody>
          <a:bodyPr wrap="none" lIns="0" rIns="0" tIns="0" bIns="0">
            <a:spAutoFit/>
          </a:bodyPr>
          <a:lstStyle/>
          <a:p>
            <a:r>
              <a:rPr sz="1150" b="0">
                <a:solidFill>
                  <a:srgbClr val="2E2E2E"/>
                </a:solidFill>
                <a:latin typeface="Calibri"/>
              </a:rPr>
              <a:t>In terms of volume share by distribution channel, the dental dealers &amp; distributors segment is expected to dominate the market, losing</a:t>
            </a:r>
          </a:p>
        </p:txBody>
      </p:sp>
      <p:pic>
        <p:nvPicPr>
          <p:cNvPr id="28" name="Picture 27" descr="lock.png"/>
          <p:cNvPicPr>
            <a:picLocks noChangeAspect="1"/>
          </p:cNvPicPr>
          <p:nvPr/>
        </p:nvPicPr>
        <p:blipFill>
          <a:blip r:embed="rId4"/>
          <a:stretch>
            <a:fillRect/>
          </a:stretch>
        </p:blipFill>
        <p:spPr>
          <a:xfrm>
            <a:off x="8310652" y="3631374"/>
            <a:ext cx="134549" cy="195707"/>
          </a:xfrm>
          <a:prstGeom prst="rect">
            <a:avLst/>
          </a:prstGeom>
        </p:spPr>
      </p:pic>
      <p:sp>
        <p:nvSpPr>
          <p:cNvPr id="29" name="TextBox 28"/>
          <p:cNvSpPr txBox="1"/>
          <p:nvPr/>
        </p:nvSpPr>
        <p:spPr>
          <a:xfrm>
            <a:off x="8485762" y="364159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880905" y="3631374"/>
            <a:ext cx="134549" cy="195707"/>
          </a:xfrm>
          <a:prstGeom prst="rect">
            <a:avLst/>
          </a:prstGeom>
        </p:spPr>
      </p:pic>
      <p:sp>
        <p:nvSpPr>
          <p:cNvPr id="31" name="TextBox 30"/>
          <p:cNvSpPr txBox="1"/>
          <p:nvPr/>
        </p:nvSpPr>
        <p:spPr>
          <a:xfrm>
            <a:off x="10056014" y="364159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Distribution Channel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Distribution Channel,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Distribution Channel (US$ Mn)</a:t>
            </a:r>
          </a:p>
        </p:txBody>
      </p:sp>
      <p:graphicFrame>
        <p:nvGraphicFramePr>
          <p:cNvPr id="13" name="Table 12"/>
          <p:cNvGraphicFramePr>
            <a:graphicFrameLocks noGrp="1"/>
          </p:cNvGraphicFramePr>
          <p:nvPr/>
        </p:nvGraphicFramePr>
        <p:xfrm>
          <a:off x="152400" y="1238250"/>
          <a:ext cx="11887206" cy="1238250"/>
        </p:xfrm>
        <a:graphic>
          <a:graphicData uri="http://schemas.openxmlformats.org/drawingml/2006/table">
            <a:tbl>
              <a:tblPr>
                <a:tableStyleId>{5C22544A-7EE6-4342-B048-85BDC9FD1C3A}</a:tableStyleId>
              </a:tblPr>
              <a:tblGrid>
                <a:gridCol w="2041775"/>
                <a:gridCol w="579143"/>
                <a:gridCol w="579143"/>
                <a:gridCol w="579143"/>
                <a:gridCol w="579143"/>
                <a:gridCol w="579143"/>
                <a:gridCol w="579143"/>
                <a:gridCol w="579143"/>
                <a:gridCol w="579143"/>
                <a:gridCol w="579143"/>
                <a:gridCol w="579143"/>
                <a:gridCol w="579143"/>
                <a:gridCol w="579143"/>
                <a:gridCol w="579143"/>
                <a:gridCol w="579143"/>
                <a:gridCol w="579143"/>
                <a:gridCol w="579143"/>
                <a:gridCol w="579143"/>
              </a:tblGrid>
              <a:tr h="246126">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Direct Sales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Dental Dealers &amp; Distributors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Online Dental Supply Channels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0512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Distribution Channel</a:t>
            </a:r>
          </a:p>
        </p:txBody>
      </p:sp>
      <p:sp>
        <p:nvSpPr>
          <p:cNvPr id="17" name="Rectangle 16"/>
          <p:cNvSpPr/>
          <p:nvPr/>
        </p:nvSpPr>
        <p:spPr>
          <a:xfrm>
            <a:off x="276225" y="31432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28975"/>
            <a:ext cx="1163955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930200" y="1713738"/>
            <a:ext cx="366712" cy="533400"/>
          </a:xfrm>
          <a:prstGeom prst="rect">
            <a:avLst/>
          </a:prstGeom>
        </p:spPr>
      </p:pic>
      <p:sp>
        <p:nvSpPr>
          <p:cNvPr id="21" name="TextBox 20"/>
          <p:cNvSpPr txBox="1"/>
          <p:nvPr/>
        </p:nvSpPr>
        <p:spPr>
          <a:xfrm>
            <a:off x="276225" y="3238500"/>
            <a:ext cx="3714898" cy="194310"/>
          </a:xfrm>
          <a:prstGeom prst="rect">
            <a:avLst/>
          </a:prstGeom>
          <a:noFill/>
        </p:spPr>
        <p:txBody>
          <a:bodyPr wrap="none" lIns="0" rIns="0" tIns="0" bIns="0">
            <a:spAutoFit/>
          </a:bodyPr>
          <a:lstStyle/>
          <a:p>
            <a:r>
              <a:rPr sz="1150" b="0">
                <a:solidFill>
                  <a:srgbClr val="2E2E2E"/>
                </a:solidFill>
                <a:latin typeface="Calibri"/>
              </a:rPr>
              <a:t>Dental dealers &amp; distributors segment is projected to register</a:t>
            </a:r>
          </a:p>
        </p:txBody>
      </p:sp>
      <p:pic>
        <p:nvPicPr>
          <p:cNvPr id="22" name="Picture 21" descr="lock.png"/>
          <p:cNvPicPr>
            <a:picLocks noChangeAspect="1"/>
          </p:cNvPicPr>
          <p:nvPr/>
        </p:nvPicPr>
        <p:blipFill>
          <a:blip r:embed="rId4"/>
          <a:stretch>
            <a:fillRect/>
          </a:stretch>
        </p:blipFill>
        <p:spPr>
          <a:xfrm>
            <a:off x="3940277" y="3228276"/>
            <a:ext cx="134549" cy="195707"/>
          </a:xfrm>
          <a:prstGeom prst="rect">
            <a:avLst/>
          </a:prstGeom>
        </p:spPr>
      </p:pic>
      <p:sp>
        <p:nvSpPr>
          <p:cNvPr id="23" name="TextBox 22"/>
          <p:cNvSpPr txBox="1"/>
          <p:nvPr/>
        </p:nvSpPr>
        <p:spPr>
          <a:xfrm>
            <a:off x="4115387" y="3238500"/>
            <a:ext cx="7230082" cy="194310"/>
          </a:xfrm>
          <a:prstGeom prst="rect">
            <a:avLst/>
          </a:prstGeom>
          <a:noFill/>
        </p:spPr>
        <p:txBody>
          <a:bodyPr wrap="none" lIns="0" rIns="0" tIns="0" bIns="0">
            <a:spAutoFit/>
          </a:bodyPr>
          <a:lstStyle/>
          <a:p>
            <a:r>
              <a:rPr sz="1150" b="0">
                <a:solidFill>
                  <a:srgbClr val="2E2E2E"/>
                </a:solidFill>
                <a:latin typeface="Calibri"/>
              </a:rPr>
              <a:t>X higher value than direct sales segment in 2036. Among removable partial dentures by distribution channel, direct sales</a:t>
            </a:r>
          </a:p>
        </p:txBody>
      </p:sp>
      <p:sp>
        <p:nvSpPr>
          <p:cNvPr id="24" name="TextBox 23"/>
          <p:cNvSpPr txBox="1"/>
          <p:nvPr/>
        </p:nvSpPr>
        <p:spPr>
          <a:xfrm>
            <a:off x="276225" y="3413760"/>
            <a:ext cx="3156639" cy="194310"/>
          </a:xfrm>
          <a:prstGeom prst="rect">
            <a:avLst/>
          </a:prstGeom>
          <a:noFill/>
        </p:spPr>
        <p:txBody>
          <a:bodyPr wrap="none" lIns="0" rIns="0" tIns="0" bIns="0">
            <a:spAutoFit/>
          </a:bodyPr>
          <a:lstStyle/>
          <a:p>
            <a:r>
              <a:rPr sz="1150" b="0">
                <a:solidFill>
                  <a:srgbClr val="2E2E2E"/>
                </a:solidFill>
                <a:latin typeface="Calibri"/>
              </a:rPr>
              <a:t>segment is expected to witness the highest CAGR of</a:t>
            </a:r>
          </a:p>
        </p:txBody>
      </p:sp>
      <p:pic>
        <p:nvPicPr>
          <p:cNvPr id="25" name="Picture 24" descr="lock.png"/>
          <p:cNvPicPr>
            <a:picLocks noChangeAspect="1"/>
          </p:cNvPicPr>
          <p:nvPr/>
        </p:nvPicPr>
        <p:blipFill>
          <a:blip r:embed="rId4"/>
          <a:stretch>
            <a:fillRect/>
          </a:stretch>
        </p:blipFill>
        <p:spPr>
          <a:xfrm>
            <a:off x="3382018" y="3403536"/>
            <a:ext cx="134549" cy="195707"/>
          </a:xfrm>
          <a:prstGeom prst="rect">
            <a:avLst/>
          </a:prstGeom>
        </p:spPr>
      </p:pic>
      <p:sp>
        <p:nvSpPr>
          <p:cNvPr id="26" name="TextBox 25"/>
          <p:cNvSpPr txBox="1"/>
          <p:nvPr/>
        </p:nvSpPr>
        <p:spPr>
          <a:xfrm>
            <a:off x="3557127" y="341376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641597"/>
            <a:ext cx="7961473" cy="194310"/>
          </a:xfrm>
          <a:prstGeom prst="rect">
            <a:avLst/>
          </a:prstGeom>
          <a:noFill/>
        </p:spPr>
        <p:txBody>
          <a:bodyPr wrap="none" lIns="0" rIns="0" tIns="0" bIns="0">
            <a:spAutoFit/>
          </a:bodyPr>
          <a:lstStyle/>
          <a:p>
            <a:r>
              <a:rPr sz="1150" b="0">
                <a:solidFill>
                  <a:srgbClr val="2E2E2E"/>
                </a:solidFill>
                <a:latin typeface="Calibri"/>
              </a:rPr>
              <a:t>In terms of value share by distribution channel, the dental dealers &amp; distributors segment is expected to dominate the market, losing</a:t>
            </a:r>
          </a:p>
        </p:txBody>
      </p:sp>
      <p:pic>
        <p:nvPicPr>
          <p:cNvPr id="28" name="Picture 27" descr="lock.png"/>
          <p:cNvPicPr>
            <a:picLocks noChangeAspect="1"/>
          </p:cNvPicPr>
          <p:nvPr/>
        </p:nvPicPr>
        <p:blipFill>
          <a:blip r:embed="rId4"/>
          <a:stretch>
            <a:fillRect/>
          </a:stretch>
        </p:blipFill>
        <p:spPr>
          <a:xfrm>
            <a:off x="8186852" y="3631374"/>
            <a:ext cx="134549" cy="195707"/>
          </a:xfrm>
          <a:prstGeom prst="rect">
            <a:avLst/>
          </a:prstGeom>
        </p:spPr>
      </p:pic>
      <p:sp>
        <p:nvSpPr>
          <p:cNvPr id="29" name="TextBox 28"/>
          <p:cNvSpPr txBox="1"/>
          <p:nvPr/>
        </p:nvSpPr>
        <p:spPr>
          <a:xfrm>
            <a:off x="8361961" y="364159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757105" y="3631374"/>
            <a:ext cx="134549" cy="195707"/>
          </a:xfrm>
          <a:prstGeom prst="rect">
            <a:avLst/>
          </a:prstGeom>
        </p:spPr>
      </p:pic>
      <p:sp>
        <p:nvSpPr>
          <p:cNvPr id="31" name="TextBox 30"/>
          <p:cNvSpPr txBox="1"/>
          <p:nvPr/>
        </p:nvSpPr>
        <p:spPr>
          <a:xfrm>
            <a:off x="9932214" y="364159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Distribution Channel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Distribution Channel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54451"/>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84968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7348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Online Dental Supply Channels</a:t>
            </a:r>
          </a:p>
        </p:txBody>
      </p:sp>
      <p:sp>
        <p:nvSpPr>
          <p:cNvPr id="19" name="BPS Value 1"/>
          <p:cNvSpPr txBox="1"/>
          <p:nvPr/>
        </p:nvSpPr>
        <p:spPr>
          <a:xfrm>
            <a:off x="6896100" y="1835401"/>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285932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285456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77836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Direct Sales</a:t>
            </a:r>
          </a:p>
        </p:txBody>
      </p:sp>
      <p:sp>
        <p:nvSpPr>
          <p:cNvPr id="23" name="BPS Value 2"/>
          <p:cNvSpPr txBox="1"/>
          <p:nvPr/>
        </p:nvSpPr>
        <p:spPr>
          <a:xfrm>
            <a:off x="6896100" y="2840272"/>
            <a:ext cx="514350" cy="123825"/>
          </a:xfrm>
          <a:prstGeom prst="rect">
            <a:avLst/>
          </a:prstGeom>
          <a:noFill/>
        </p:spPr>
        <p:txBody>
          <a:bodyPr wrap="none" lIns="19050" rIns="19050" tIns="0" bIns="0" anchor="ctr">
            <a:spAutoFit/>
          </a:bodyPr>
          <a:lstStyle/>
          <a:p>
            <a:pPr algn="r"/>
            <a:r>
              <a:rPr sz="900" b="1">
                <a:solidFill>
                  <a:srgbClr val="2E7D32"/>
                </a:solidFill>
                <a:latin typeface="Calibri"/>
              </a:rPr>
              <a:t>XX</a:t>
            </a:r>
          </a:p>
        </p:txBody>
      </p:sp>
      <p:sp>
        <p:nvSpPr>
          <p:cNvPr id="24" name="FMI Legend Chip"/>
          <p:cNvSpPr/>
          <p:nvPr/>
        </p:nvSpPr>
        <p:spPr>
          <a:xfrm>
            <a:off x="4928997" y="4962318"/>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495755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488135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Dental Dealers &amp; Distributors</a:t>
            </a:r>
          </a:p>
        </p:txBody>
      </p:sp>
      <p:sp>
        <p:nvSpPr>
          <p:cNvPr id="27" name="BPS Value 3"/>
          <p:cNvSpPr txBox="1"/>
          <p:nvPr/>
        </p:nvSpPr>
        <p:spPr>
          <a:xfrm>
            <a:off x="6896100" y="4943268"/>
            <a:ext cx="514350" cy="123825"/>
          </a:xfrm>
          <a:prstGeom prst="rect">
            <a:avLst/>
          </a:prstGeom>
          <a:noFill/>
        </p:spPr>
        <p:txBody>
          <a:bodyPr wrap="none" lIns="19050" rIns="19050" tIns="0" bIns="0" anchor="ctr">
            <a:spAutoFit/>
          </a:bodyPr>
          <a:lstStyle/>
          <a:p>
            <a:pPr algn="r"/>
            <a:r>
              <a:rPr sz="900" b="1">
                <a:solidFill>
                  <a:srgbClr val="E44D3A"/>
                </a:solidFill>
                <a:latin typeface="Calibri"/>
              </a:rPr>
              <a:t>XX</a:t>
            </a:r>
          </a:p>
        </p:txBody>
      </p:sp>
      <p:sp>
        <p:nvSpPr>
          <p:cNvPr id="28" name="Rounded Rectangle 27"/>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Distribution Channel</a:t>
            </a:r>
          </a:p>
        </p:txBody>
      </p:sp>
      <p:sp>
        <p:nvSpPr>
          <p:cNvPr id="30" name="Rectangle 29"/>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5"/>
          <a:stretch>
            <a:fillRect/>
          </a:stretch>
        </p:blipFill>
        <p:spPr>
          <a:xfrm>
            <a:off x="2557843" y="3833622"/>
            <a:ext cx="275034" cy="400050"/>
          </a:xfrm>
          <a:prstGeom prst="rect">
            <a:avLst/>
          </a:prstGeom>
        </p:spPr>
      </p:pic>
      <p:sp>
        <p:nvSpPr>
          <p:cNvPr id="34" name="TextBox 33"/>
          <p:cNvSpPr txBox="1"/>
          <p:nvPr/>
        </p:nvSpPr>
        <p:spPr>
          <a:xfrm>
            <a:off x="7829550" y="1400175"/>
            <a:ext cx="3968774" cy="194310"/>
          </a:xfrm>
          <a:prstGeom prst="rect">
            <a:avLst/>
          </a:prstGeom>
          <a:noFill/>
        </p:spPr>
        <p:txBody>
          <a:bodyPr wrap="none" lIns="0" rIns="0" tIns="0" bIns="0">
            <a:spAutoFit/>
          </a:bodyPr>
          <a:lstStyle/>
          <a:p>
            <a:r>
              <a:rPr sz="1150" b="0">
                <a:solidFill>
                  <a:srgbClr val="2E2E2E"/>
                </a:solidFill>
                <a:latin typeface="Calibri"/>
              </a:rPr>
              <a:t>Among removable partial dentures by distribution channel, direct</a:t>
            </a:r>
          </a:p>
        </p:txBody>
      </p:sp>
      <p:sp>
        <p:nvSpPr>
          <p:cNvPr id="35" name="TextBox 34"/>
          <p:cNvSpPr txBox="1"/>
          <p:nvPr/>
        </p:nvSpPr>
        <p:spPr>
          <a:xfrm>
            <a:off x="7829550" y="1575435"/>
            <a:ext cx="3480117" cy="194310"/>
          </a:xfrm>
          <a:prstGeom prst="rect">
            <a:avLst/>
          </a:prstGeom>
          <a:noFill/>
        </p:spPr>
        <p:txBody>
          <a:bodyPr wrap="none" lIns="0" rIns="0" tIns="0" bIns="0">
            <a:spAutoFit/>
          </a:bodyPr>
          <a:lstStyle/>
          <a:p>
            <a:r>
              <a:rPr sz="1150" b="0">
                <a:solidFill>
                  <a:srgbClr val="2E2E2E"/>
                </a:solidFill>
                <a:latin typeface="Calibri"/>
              </a:rPr>
              <a:t>sales segment is expected to witness the highest CAGR of</a:t>
            </a:r>
          </a:p>
        </p:txBody>
      </p:sp>
      <p:pic>
        <p:nvPicPr>
          <p:cNvPr id="36" name="Picture 35" descr="lock.png"/>
          <p:cNvPicPr>
            <a:picLocks noChangeAspect="1"/>
          </p:cNvPicPr>
          <p:nvPr/>
        </p:nvPicPr>
        <p:blipFill>
          <a:blip r:embed="rId5"/>
          <a:stretch>
            <a:fillRect/>
          </a:stretch>
        </p:blipFill>
        <p:spPr>
          <a:xfrm>
            <a:off x="11258820" y="1565211"/>
            <a:ext cx="134549" cy="195707"/>
          </a:xfrm>
          <a:prstGeom prst="rect">
            <a:avLst/>
          </a:prstGeom>
        </p:spPr>
      </p:pic>
      <p:sp>
        <p:nvSpPr>
          <p:cNvPr id="37" name="TextBox 36"/>
          <p:cNvSpPr txBox="1"/>
          <p:nvPr/>
        </p:nvSpPr>
        <p:spPr>
          <a:xfrm>
            <a:off x="11433930" y="1575435"/>
            <a:ext cx="342912" cy="194310"/>
          </a:xfrm>
          <a:prstGeom prst="rect">
            <a:avLst/>
          </a:prstGeom>
          <a:noFill/>
        </p:spPr>
        <p:txBody>
          <a:bodyPr wrap="none" lIns="0" rIns="0" tIns="0" bIns="0">
            <a:spAutoFit/>
          </a:bodyPr>
          <a:lstStyle/>
          <a:p>
            <a:r>
              <a:rPr sz="1150" b="0">
                <a:solidFill>
                  <a:srgbClr val="2E2E2E"/>
                </a:solidFill>
                <a:latin typeface="Calibri"/>
              </a:rPr>
              <a:t>over</a:t>
            </a:r>
          </a:p>
        </p:txBody>
      </p:sp>
      <p:sp>
        <p:nvSpPr>
          <p:cNvPr id="38" name="TextBox 37"/>
          <p:cNvSpPr txBox="1"/>
          <p:nvPr/>
        </p:nvSpPr>
        <p:spPr>
          <a:xfrm>
            <a:off x="7829550" y="1750695"/>
            <a:ext cx="1248878" cy="194310"/>
          </a:xfrm>
          <a:prstGeom prst="rect">
            <a:avLst/>
          </a:prstGeom>
          <a:noFill/>
        </p:spPr>
        <p:txBody>
          <a:bodyPr wrap="none" lIns="0" rIns="0" tIns="0" bIns="0">
            <a:spAutoFit/>
          </a:bodyPr>
          <a:lstStyle/>
          <a:p>
            <a:r>
              <a:rPr sz="1150" b="0">
                <a:solidFill>
                  <a:srgbClr val="2E2E2E"/>
                </a:solidFill>
                <a:latin typeface="Calibri"/>
              </a:rPr>
              <a:t>the forecast period.</a:t>
            </a:r>
          </a:p>
        </p:txBody>
      </p:sp>
      <p:sp>
        <p:nvSpPr>
          <p:cNvPr id="39" name="TextBox 38"/>
          <p:cNvSpPr txBox="1"/>
          <p:nvPr/>
        </p:nvSpPr>
        <p:spPr>
          <a:xfrm>
            <a:off x="7829550" y="1978533"/>
            <a:ext cx="4057650" cy="194310"/>
          </a:xfrm>
          <a:prstGeom prst="rect">
            <a:avLst/>
          </a:prstGeom>
          <a:noFill/>
        </p:spPr>
        <p:txBody>
          <a:bodyPr wrap="none" lIns="0" rIns="0" tIns="0" bIns="0">
            <a:spAutoFit/>
          </a:bodyPr>
          <a:lstStyle/>
          <a:p>
            <a:r>
              <a:rPr sz="1150" b="0">
                <a:solidFill>
                  <a:srgbClr val="2E2E2E"/>
                </a:solidFill>
                <a:latin typeface="Calibri"/>
              </a:rPr>
              <a:t>In terms of value share by distribution channel, the dental dealers &amp;</a:t>
            </a:r>
          </a:p>
        </p:txBody>
      </p:sp>
      <p:sp>
        <p:nvSpPr>
          <p:cNvPr id="40" name="TextBox 39"/>
          <p:cNvSpPr txBox="1"/>
          <p:nvPr/>
        </p:nvSpPr>
        <p:spPr>
          <a:xfrm>
            <a:off x="7829550" y="2153793"/>
            <a:ext cx="3886621" cy="194310"/>
          </a:xfrm>
          <a:prstGeom prst="rect">
            <a:avLst/>
          </a:prstGeom>
          <a:noFill/>
        </p:spPr>
        <p:txBody>
          <a:bodyPr wrap="none" lIns="0" rIns="0" tIns="0" bIns="0">
            <a:spAutoFit/>
          </a:bodyPr>
          <a:lstStyle/>
          <a:p>
            <a:r>
              <a:rPr sz="1150" b="0">
                <a:solidFill>
                  <a:srgbClr val="2E2E2E"/>
                </a:solidFill>
                <a:latin typeface="Calibri"/>
              </a:rPr>
              <a:t>distributors segment is expected to dominate the market, losing</a:t>
            </a:r>
          </a:p>
        </p:txBody>
      </p:sp>
      <p:pic>
        <p:nvPicPr>
          <p:cNvPr id="41" name="Picture 40" descr="lock.png"/>
          <p:cNvPicPr>
            <a:picLocks noChangeAspect="1"/>
          </p:cNvPicPr>
          <p:nvPr/>
        </p:nvPicPr>
        <p:blipFill>
          <a:blip r:embed="rId5"/>
          <a:stretch>
            <a:fillRect/>
          </a:stretch>
        </p:blipFill>
        <p:spPr>
          <a:xfrm>
            <a:off x="7815470" y="2318829"/>
            <a:ext cx="134549" cy="195707"/>
          </a:xfrm>
          <a:prstGeom prst="rect">
            <a:avLst/>
          </a:prstGeom>
        </p:spPr>
      </p:pic>
      <p:sp>
        <p:nvSpPr>
          <p:cNvPr id="42" name="TextBox 41"/>
          <p:cNvSpPr txBox="1"/>
          <p:nvPr/>
        </p:nvSpPr>
        <p:spPr>
          <a:xfrm>
            <a:off x="7990579" y="2329053"/>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43" name="Picture 42" descr="lock.png"/>
          <p:cNvPicPr>
            <a:picLocks noChangeAspect="1"/>
          </p:cNvPicPr>
          <p:nvPr/>
        </p:nvPicPr>
        <p:blipFill>
          <a:blip r:embed="rId5"/>
          <a:stretch>
            <a:fillRect/>
          </a:stretch>
        </p:blipFill>
        <p:spPr>
          <a:xfrm>
            <a:off x="9385722" y="2318829"/>
            <a:ext cx="134549" cy="195707"/>
          </a:xfrm>
          <a:prstGeom prst="rect">
            <a:avLst/>
          </a:prstGeom>
        </p:spPr>
      </p:pic>
      <p:sp>
        <p:nvSpPr>
          <p:cNvPr id="44" name="TextBox 43"/>
          <p:cNvSpPr txBox="1"/>
          <p:nvPr/>
        </p:nvSpPr>
        <p:spPr>
          <a:xfrm>
            <a:off x="9560832" y="232905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5"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Distribution Channel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Distribution Channel,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990600"/>
        </p:xfrm>
        <a:graphic>
          <a:graphicData uri="http://schemas.openxmlformats.org/drawingml/2006/table">
            <a:tbl>
              <a:tblPr>
                <a:tableStyleId>{5C22544A-7EE6-4342-B048-85BDC9FD1C3A}</a:tableStyleId>
              </a:tblPr>
              <a:tblGrid>
                <a:gridCol w="2224309"/>
                <a:gridCol w="644193"/>
                <a:gridCol w="644193"/>
                <a:gridCol w="644193"/>
                <a:gridCol w="644193"/>
                <a:gridCol w="644193"/>
                <a:gridCol w="644193"/>
                <a:gridCol w="644193"/>
                <a:gridCol w="644193"/>
                <a:gridCol w="644193"/>
                <a:gridCol w="644193"/>
                <a:gridCol w="644193"/>
                <a:gridCol w="644193"/>
                <a:gridCol w="644193"/>
                <a:gridCol w="644193"/>
                <a:gridCol w="644193"/>
              </a:tblGrid>
              <a:tr h="246126">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Direct Sales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Dental Dealers &amp; Distributors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Online Dental Supply Channels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Distribution Channel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Direct Sales</a:t>
            </a:r>
          </a:p>
        </p:txBody>
      </p:sp>
      <p:sp>
        <p:nvSpPr>
          <p:cNvPr id="33" name="Rectangle 32"/>
          <p:cNvSpPr/>
          <p:nvPr/>
        </p:nvSpPr>
        <p:spPr>
          <a:xfrm>
            <a:off x="1857375" y="3000375"/>
            <a:ext cx="643890" cy="1190625"/>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0C4D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0B39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0B355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0C43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Dental Dealers &amp; Distributors</a:t>
            </a:r>
          </a:p>
        </p:txBody>
      </p:sp>
      <p:sp>
        <p:nvSpPr>
          <p:cNvPr id="49" name="Rectangle 48"/>
          <p:cNvSpPr/>
          <p:nvPr/>
        </p:nvSpPr>
        <p:spPr>
          <a:xfrm>
            <a:off x="1857375" y="4191000"/>
            <a:ext cx="643890" cy="1190625"/>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ED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E9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Online Dental Supply Channels</a:t>
            </a:r>
          </a:p>
        </p:txBody>
      </p:sp>
      <p:sp>
        <p:nvSpPr>
          <p:cNvPr id="65" name="Rectangle 64"/>
          <p:cNvSpPr/>
          <p:nvPr/>
        </p:nvSpPr>
        <p:spPr>
          <a:xfrm>
            <a:off x="1857375" y="5381625"/>
            <a:ext cx="643890" cy="1190625"/>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1%</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7021466" y="1589913"/>
            <a:ext cx="366712" cy="533400"/>
          </a:xfrm>
          <a:prstGeom prst="rect">
            <a:avLst/>
          </a:prstGeom>
        </p:spPr>
      </p:pic>
    </p:spTree>
  </p:cSld>
  <p:clrMapOvr>
    <a:masterClrMapping/>
  </p:clrMapOvr>
</p:sld>
</file>

<file path=ppt/slides/slide1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Distribution Channel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Distribution Channel,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990600"/>
        </p:xfrm>
        <a:graphic>
          <a:graphicData uri="http://schemas.openxmlformats.org/drawingml/2006/table">
            <a:tbl>
              <a:tblPr>
                <a:tableStyleId>{5C22544A-7EE6-4342-B048-85BDC9FD1C3A}</a:tableStyleId>
              </a:tblPr>
              <a:tblGrid>
                <a:gridCol w="2224309"/>
                <a:gridCol w="644193"/>
                <a:gridCol w="644193"/>
                <a:gridCol w="644193"/>
                <a:gridCol w="644193"/>
                <a:gridCol w="644193"/>
                <a:gridCol w="644193"/>
                <a:gridCol w="644193"/>
                <a:gridCol w="644193"/>
                <a:gridCol w="644193"/>
                <a:gridCol w="644193"/>
                <a:gridCol w="644193"/>
                <a:gridCol w="644193"/>
                <a:gridCol w="644193"/>
                <a:gridCol w="644193"/>
                <a:gridCol w="644193"/>
              </a:tblGrid>
              <a:tr h="246126">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Direct Sales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Dental Dealers &amp; Distributors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Online Dental Supply Channels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Distribution Channel (%)  ·  light = lower, dark = higher growth</a:t>
            </a:r>
          </a:p>
        </p:txBody>
      </p:sp>
      <p:sp>
        <p:nvSpPr>
          <p:cNvPr id="17" name="TextBox 16"/>
          <p:cNvSpPr txBox="1"/>
          <p:nvPr/>
        </p:nvSpPr>
        <p:spPr>
          <a:xfrm>
            <a:off x="18573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8575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0037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Direct Sales</a:t>
            </a:r>
          </a:p>
        </p:txBody>
      </p:sp>
      <p:sp>
        <p:nvSpPr>
          <p:cNvPr id="33" name="Rectangle 32"/>
          <p:cNvSpPr/>
          <p:nvPr/>
        </p:nvSpPr>
        <p:spPr>
          <a:xfrm>
            <a:off x="1857375" y="3000375"/>
            <a:ext cx="643890" cy="1190625"/>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00375"/>
            <a:ext cx="643890" cy="1190625"/>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00375"/>
            <a:ext cx="643890" cy="1190625"/>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00375"/>
            <a:ext cx="643890" cy="1190625"/>
          </a:xfrm>
          <a:prstGeom prst="rect">
            <a:avLst/>
          </a:prstGeom>
          <a:solidFill>
            <a:srgbClr val="0B38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00375"/>
            <a:ext cx="643890" cy="1190625"/>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00375"/>
            <a:ext cx="643890" cy="1190625"/>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00375"/>
            <a:ext cx="643890" cy="1190625"/>
          </a:xfrm>
          <a:prstGeom prst="rect">
            <a:avLst/>
          </a:prstGeom>
          <a:solidFill>
            <a:srgbClr val="0B35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00375"/>
            <a:ext cx="643890" cy="1190625"/>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00375"/>
            <a:ext cx="643890" cy="1190625"/>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00375"/>
            <a:ext cx="643890" cy="1190625"/>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00375"/>
            <a:ext cx="643890" cy="1190625"/>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00375"/>
            <a:ext cx="643890" cy="1190625"/>
          </a:xfrm>
          <a:prstGeom prst="rect">
            <a:avLst/>
          </a:prstGeom>
          <a:solidFill>
            <a:srgbClr val="0C45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00375"/>
            <a:ext cx="643890" cy="1190625"/>
          </a:xfrm>
          <a:prstGeom prst="rect">
            <a:avLst/>
          </a:prstGeom>
          <a:solidFill>
            <a:srgbClr val="0C47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00375"/>
            <a:ext cx="643890" cy="1190625"/>
          </a:xfrm>
          <a:prstGeom prst="rect">
            <a:avLst/>
          </a:prstGeom>
          <a:solidFill>
            <a:srgbClr val="0C497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00375"/>
            <a:ext cx="643890" cy="1190625"/>
          </a:xfrm>
          <a:prstGeom prst="rect">
            <a:avLst/>
          </a:prstGeom>
          <a:solidFill>
            <a:srgbClr val="0C4B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191000"/>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Dental Dealers &amp; Distributors</a:t>
            </a:r>
          </a:p>
        </p:txBody>
      </p:sp>
      <p:sp>
        <p:nvSpPr>
          <p:cNvPr id="49" name="Rectangle 48"/>
          <p:cNvSpPr/>
          <p:nvPr/>
        </p:nvSpPr>
        <p:spPr>
          <a:xfrm>
            <a:off x="1857375" y="4191000"/>
            <a:ext cx="643890" cy="119062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191000"/>
            <a:ext cx="643890" cy="1190625"/>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191000"/>
            <a:ext cx="643890" cy="119062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191000"/>
            <a:ext cx="643890" cy="1190625"/>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191000"/>
            <a:ext cx="643890" cy="1190625"/>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191000"/>
            <a:ext cx="643890" cy="1190625"/>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191000"/>
            <a:ext cx="643890" cy="1190625"/>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191000"/>
            <a:ext cx="643890" cy="1190625"/>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191000"/>
            <a:ext cx="643890" cy="119062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191000"/>
            <a:ext cx="643890" cy="1190625"/>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191000"/>
            <a:ext cx="643890" cy="1190625"/>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191000"/>
            <a:ext cx="643890" cy="1190625"/>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191000"/>
            <a:ext cx="643890" cy="1190625"/>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191000"/>
            <a:ext cx="643890" cy="1190625"/>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191000"/>
            <a:ext cx="643890" cy="119062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5381625"/>
            <a:ext cx="1590675" cy="1190625"/>
          </a:xfrm>
          <a:prstGeom prst="rect">
            <a:avLst/>
          </a:prstGeom>
          <a:noFill/>
        </p:spPr>
        <p:txBody>
          <a:bodyPr wrap="square" lIns="28575" rIns="28575" tIns="9525" bIns="9525" anchor="ctr">
            <a:spAutoFit/>
          </a:bodyPr>
          <a:lstStyle/>
          <a:p>
            <a:pPr algn="l"/>
            <a:r>
              <a:rPr sz="1100" b="0">
                <a:solidFill>
                  <a:srgbClr val="2E2E2E"/>
                </a:solidFill>
                <a:latin typeface="Calibri"/>
              </a:rPr>
              <a:t>Online Dental Supply Channels</a:t>
            </a:r>
          </a:p>
        </p:txBody>
      </p:sp>
      <p:sp>
        <p:nvSpPr>
          <p:cNvPr id="65" name="Rectangle 64"/>
          <p:cNvSpPr/>
          <p:nvPr/>
        </p:nvSpPr>
        <p:spPr>
          <a:xfrm>
            <a:off x="1857375" y="5381625"/>
            <a:ext cx="643890" cy="119062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5381625"/>
            <a:ext cx="643890" cy="1190625"/>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5381625"/>
            <a:ext cx="643890" cy="119062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5381625"/>
            <a:ext cx="643890" cy="1190625"/>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5381625"/>
            <a:ext cx="643890" cy="1190625"/>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5381625"/>
            <a:ext cx="643890" cy="1190625"/>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5381625"/>
            <a:ext cx="643890" cy="1190625"/>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5381625"/>
            <a:ext cx="643890" cy="1190625"/>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5381625"/>
            <a:ext cx="643890" cy="1190625"/>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5381625"/>
            <a:ext cx="643890" cy="1190625"/>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5381625"/>
            <a:ext cx="643890" cy="1190625"/>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5381625"/>
            <a:ext cx="643890" cy="1190625"/>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5381625"/>
            <a:ext cx="643890" cy="1190625"/>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5381625"/>
            <a:ext cx="643890" cy="1190625"/>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5381625"/>
            <a:ext cx="643890" cy="1190625"/>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3038475"/>
            <a:ext cx="104775" cy="9501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3125867"/>
            <a:ext cx="104775" cy="95012"/>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3213259"/>
            <a:ext cx="104775" cy="95012"/>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3300651"/>
            <a:ext cx="104775" cy="95012"/>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3388042"/>
            <a:ext cx="104775" cy="95012"/>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3475434"/>
            <a:ext cx="104775" cy="95012"/>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3562826"/>
            <a:ext cx="104775" cy="95012"/>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3650218"/>
            <a:ext cx="104775" cy="95012"/>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3737610"/>
            <a:ext cx="104775" cy="95012"/>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3825002"/>
            <a:ext cx="104775" cy="95012"/>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3912394"/>
            <a:ext cx="104775" cy="95012"/>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3999786"/>
            <a:ext cx="104775" cy="95012"/>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4087178"/>
            <a:ext cx="104775" cy="95012"/>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4174569"/>
            <a:ext cx="104775" cy="95012"/>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4261961"/>
            <a:ext cx="104775" cy="95012"/>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4349353"/>
            <a:ext cx="104775" cy="95012"/>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4436745"/>
            <a:ext cx="104775" cy="95012"/>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4524137"/>
            <a:ext cx="104775" cy="95012"/>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4611529"/>
            <a:ext cx="104775" cy="95012"/>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4698921"/>
            <a:ext cx="104775" cy="95012"/>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4786312"/>
            <a:ext cx="104775" cy="95012"/>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4873704"/>
            <a:ext cx="104775" cy="95012"/>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4961096"/>
            <a:ext cx="104775" cy="95012"/>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5048488"/>
            <a:ext cx="104775" cy="95012"/>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5135880"/>
            <a:ext cx="104775" cy="95012"/>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5223272"/>
            <a:ext cx="104775" cy="95012"/>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5310664"/>
            <a:ext cx="104775" cy="95012"/>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5398056"/>
            <a:ext cx="104775" cy="95012"/>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5485448"/>
            <a:ext cx="104775" cy="95012"/>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5572839"/>
            <a:ext cx="104775" cy="95012"/>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5660231"/>
            <a:ext cx="104775" cy="95012"/>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5747623"/>
            <a:ext cx="104775" cy="95012"/>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5835015"/>
            <a:ext cx="104775" cy="95012"/>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5922407"/>
            <a:ext cx="104775" cy="95012"/>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6009799"/>
            <a:ext cx="104775" cy="95012"/>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6097191"/>
            <a:ext cx="104775" cy="95012"/>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6184582"/>
            <a:ext cx="104775" cy="95012"/>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6271974"/>
            <a:ext cx="104775" cy="95012"/>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6359366"/>
            <a:ext cx="104775" cy="95012"/>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6446758"/>
            <a:ext cx="104775" cy="95012"/>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3038475"/>
            <a:ext cx="104775" cy="34956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11687175" y="2971800"/>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2" name="TextBox 121"/>
          <p:cNvSpPr txBox="1"/>
          <p:nvPr/>
        </p:nvSpPr>
        <p:spPr>
          <a:xfrm>
            <a:off x="11687175" y="4719638"/>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3" name="TextBox 122"/>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 </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25" name="Picture 124" descr="lock.png"/>
          <p:cNvPicPr>
            <a:picLocks noChangeAspect="1"/>
          </p:cNvPicPr>
          <p:nvPr/>
        </p:nvPicPr>
        <p:blipFill>
          <a:blip r:embed="rId4"/>
          <a:stretch>
            <a:fillRect/>
          </a:stretch>
        </p:blipFill>
        <p:spPr>
          <a:xfrm>
            <a:off x="7021466" y="1589913"/>
            <a:ext cx="366712" cy="533400"/>
          </a:xfrm>
          <a:prstGeom prst="rect">
            <a:avLst/>
          </a:prstGeom>
        </p:spPr>
      </p:pic>
      <p:pic>
        <p:nvPicPr>
          <p:cNvPr id="126" name="Picture 125" descr="lock.png"/>
          <p:cNvPicPr>
            <a:picLocks noChangeAspect="1"/>
          </p:cNvPicPr>
          <p:nvPr/>
        </p:nvPicPr>
        <p:blipFill>
          <a:blip r:embed="rId4"/>
          <a:stretch>
            <a:fillRect/>
          </a:stretch>
        </p:blipFill>
        <p:spPr>
          <a:xfrm>
            <a:off x="11760938" y="2944876"/>
            <a:ext cx="128699" cy="187198"/>
          </a:xfrm>
          <a:prstGeom prst="rect">
            <a:avLst/>
          </a:prstGeom>
        </p:spPr>
      </p:pic>
      <p:pic>
        <p:nvPicPr>
          <p:cNvPr id="127" name="Picture 126" descr="lock.png"/>
          <p:cNvPicPr>
            <a:picLocks noChangeAspect="1"/>
          </p:cNvPicPr>
          <p:nvPr/>
        </p:nvPicPr>
        <p:blipFill>
          <a:blip r:embed="rId4"/>
          <a:stretch>
            <a:fillRect/>
          </a:stretch>
        </p:blipFill>
        <p:spPr>
          <a:xfrm>
            <a:off x="11760938" y="4692714"/>
            <a:ext cx="128699" cy="187198"/>
          </a:xfrm>
          <a:prstGeom prst="rect">
            <a:avLst/>
          </a:prstGeom>
        </p:spPr>
      </p:pic>
      <p:pic>
        <p:nvPicPr>
          <p:cNvPr id="128" name="Picture 127" descr="lock.png"/>
          <p:cNvPicPr>
            <a:picLocks noChangeAspect="1"/>
          </p:cNvPicPr>
          <p:nvPr/>
        </p:nvPicPr>
        <p:blipFill>
          <a:blip r:embed="rId4"/>
          <a:stretch>
            <a:fillRect/>
          </a:stretch>
        </p:blipFill>
        <p:spPr>
          <a:xfrm>
            <a:off x="11760938" y="6440551"/>
            <a:ext cx="128699" cy="187198"/>
          </a:xfrm>
          <a:prstGeom prst="rect">
            <a:avLst/>
          </a:prstGeom>
        </p:spPr>
      </p:pic>
    </p:spTree>
  </p:cSld>
  <p:clrMapOvr>
    <a:masterClrMapping/>
  </p:clrMapOvr>
</p:sld>
</file>

<file path=ppt/slides/slide18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Patient Age Group</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Patient Age Group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Patient Age Group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2 sub-segments of Patient Age Group,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Patient Age Group segment categorizes the market by patient age group.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Geriatric Patients</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Adults</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Patient Age Group split shows how demand is distributed across patient age group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0" name="Picture 49" descr="253_5_605E5C.png"/>
          <p:cNvPicPr>
            <a:picLocks noChangeAspect="1"/>
          </p:cNvPicPr>
          <p:nvPr/>
        </p:nvPicPr>
        <p:blipFill>
          <a:blip r:embed="rId4"/>
          <a:stretch>
            <a:fillRect/>
          </a:stretch>
        </p:blipFill>
        <p:spPr>
          <a:xfrm>
            <a:off x="3740773" y="2286582"/>
            <a:ext cx="1195728" cy="361950"/>
          </a:xfrm>
          <a:prstGeom prst="rect">
            <a:avLst/>
          </a:prstGeom>
        </p:spPr>
      </p:pic>
      <p:pic>
        <p:nvPicPr>
          <p:cNvPr id="51" name="Picture 50" descr="360_8_605E5C.png"/>
          <p:cNvPicPr>
            <a:picLocks noChangeAspect="1"/>
          </p:cNvPicPr>
          <p:nvPr/>
        </p:nvPicPr>
        <p:blipFill>
          <a:blip r:embed="rId5"/>
          <a:stretch>
            <a:fillRect/>
          </a:stretch>
        </p:blipFill>
        <p:spPr>
          <a:xfrm>
            <a:off x="3740773" y="2779432"/>
            <a:ext cx="1195728" cy="361950"/>
          </a:xfrm>
          <a:prstGeom prst="rect">
            <a:avLst/>
          </a:prstGeom>
        </p:spPr>
      </p:pic>
      <p:pic>
        <p:nvPicPr>
          <p:cNvPr id="52" name="Picture 51" descr="3_6__605E5C.png"/>
          <p:cNvPicPr>
            <a:picLocks noChangeAspect="1"/>
          </p:cNvPicPr>
          <p:nvPr/>
        </p:nvPicPr>
        <p:blipFill>
          <a:blip r:embed="rId6"/>
          <a:stretch>
            <a:fillRect/>
          </a:stretch>
        </p:blipFill>
        <p:spPr>
          <a:xfrm>
            <a:off x="3847419" y="3272281"/>
            <a:ext cx="982436" cy="361950"/>
          </a:xfrm>
          <a:prstGeom prst="rect">
            <a:avLst/>
          </a:prstGeom>
        </p:spPr>
      </p:pic>
      <p:pic>
        <p:nvPicPr>
          <p:cNvPr id="53" name="Picture 52" descr="117_8_605E5C.png"/>
          <p:cNvPicPr>
            <a:picLocks noChangeAspect="1"/>
          </p:cNvPicPr>
          <p:nvPr/>
        </p:nvPicPr>
        <p:blipFill>
          <a:blip r:embed="rId7"/>
          <a:stretch>
            <a:fillRect/>
          </a:stretch>
        </p:blipFill>
        <p:spPr>
          <a:xfrm>
            <a:off x="8798548" y="2286582"/>
            <a:ext cx="1195728" cy="361950"/>
          </a:xfrm>
          <a:prstGeom prst="rect">
            <a:avLst/>
          </a:prstGeom>
        </p:spPr>
      </p:pic>
      <p:pic>
        <p:nvPicPr>
          <p:cNvPr id="54" name="Picture 53" descr="163_1_605E5C.png"/>
          <p:cNvPicPr>
            <a:picLocks noChangeAspect="1"/>
          </p:cNvPicPr>
          <p:nvPr/>
        </p:nvPicPr>
        <p:blipFill>
          <a:blip r:embed="rId8"/>
          <a:stretch>
            <a:fillRect/>
          </a:stretch>
        </p:blipFill>
        <p:spPr>
          <a:xfrm>
            <a:off x="8798548" y="2779432"/>
            <a:ext cx="1195728" cy="361950"/>
          </a:xfrm>
          <a:prstGeom prst="rect">
            <a:avLst/>
          </a:prstGeom>
        </p:spPr>
      </p:pic>
      <p:pic>
        <p:nvPicPr>
          <p:cNvPr id="55" name="Picture 54" descr="3_3__605E5C.png"/>
          <p:cNvPicPr>
            <a:picLocks noChangeAspect="1"/>
          </p:cNvPicPr>
          <p:nvPr/>
        </p:nvPicPr>
        <p:blipFill>
          <a:blip r:embed="rId9"/>
          <a:stretch>
            <a:fillRect/>
          </a:stretch>
        </p:blipFill>
        <p:spPr>
          <a:xfrm>
            <a:off x="8905194" y="3272281"/>
            <a:ext cx="982436" cy="361950"/>
          </a:xfrm>
          <a:prstGeom prst="rect">
            <a:avLst/>
          </a:prstGeom>
        </p:spPr>
      </p:pic>
      <p:pic>
        <p:nvPicPr>
          <p:cNvPr id="56" name="Picture 55" descr="lock.png"/>
          <p:cNvPicPr>
            <a:picLocks noChangeAspect="1"/>
          </p:cNvPicPr>
          <p:nvPr/>
        </p:nvPicPr>
        <p:blipFill>
          <a:blip r:embed="rId10"/>
          <a:stretch>
            <a:fillRect/>
          </a:stretch>
        </p:blipFill>
        <p:spPr>
          <a:xfrm>
            <a:off x="4230493" y="2805915"/>
            <a:ext cx="212425" cy="308982"/>
          </a:xfrm>
          <a:prstGeom prst="rect">
            <a:avLst/>
          </a:prstGeom>
        </p:spPr>
      </p:pic>
      <p:pic>
        <p:nvPicPr>
          <p:cNvPr id="57" name="Picture 56" descr="lock.png"/>
          <p:cNvPicPr>
            <a:picLocks noChangeAspect="1"/>
          </p:cNvPicPr>
          <p:nvPr/>
        </p:nvPicPr>
        <p:blipFill>
          <a:blip r:embed="rId10"/>
          <a:stretch>
            <a:fillRect/>
          </a:stretch>
        </p:blipFill>
        <p:spPr>
          <a:xfrm>
            <a:off x="9288268" y="2805915"/>
            <a:ext cx="212425" cy="308982"/>
          </a:xfrm>
          <a:prstGeom prst="rect">
            <a:avLst/>
          </a:prstGeom>
        </p:spPr>
      </p:pic>
      <p:sp>
        <p:nvSpPr>
          <p:cNvPr id="58" name="TextBox 57"/>
          <p:cNvSpPr txBox="1"/>
          <p:nvPr/>
        </p:nvSpPr>
        <p:spPr>
          <a:xfrm>
            <a:off x="485775" y="4229437"/>
            <a:ext cx="2865834" cy="186689"/>
          </a:xfrm>
          <a:prstGeom prst="rect">
            <a:avLst/>
          </a:prstGeom>
          <a:noFill/>
        </p:spPr>
        <p:txBody>
          <a:bodyPr wrap="none" lIns="0" rIns="0" tIns="0" bIns="0">
            <a:spAutoFit/>
          </a:bodyPr>
          <a:lstStyle/>
          <a:p>
            <a:r>
              <a:rPr sz="1100" b="0">
                <a:solidFill>
                  <a:srgbClr val="2E2E2E"/>
                </a:solidFill>
                <a:latin typeface="Calibri"/>
              </a:rPr>
              <a:t>▪ ¶ Among removable partial dentures by patient</a:t>
            </a:r>
          </a:p>
        </p:txBody>
      </p:sp>
      <p:sp>
        <p:nvSpPr>
          <p:cNvPr id="59" name="TextBox 58"/>
          <p:cNvSpPr txBox="1"/>
          <p:nvPr/>
        </p:nvSpPr>
        <p:spPr>
          <a:xfrm>
            <a:off x="485775" y="4397077"/>
            <a:ext cx="2872928" cy="186689"/>
          </a:xfrm>
          <a:prstGeom prst="rect">
            <a:avLst/>
          </a:prstGeom>
          <a:noFill/>
        </p:spPr>
        <p:txBody>
          <a:bodyPr wrap="none" lIns="0" rIns="0" tIns="0" bIns="0">
            <a:spAutoFit/>
          </a:bodyPr>
          <a:lstStyle/>
          <a:p>
            <a:r>
              <a:rPr sz="1100" b="0">
                <a:solidFill>
                  <a:srgbClr val="2E2E2E"/>
                </a:solidFill>
                <a:latin typeface="Calibri"/>
              </a:rPr>
              <a:t>age group, geriatric patients segment is expected</a:t>
            </a:r>
          </a:p>
        </p:txBody>
      </p:sp>
      <p:sp>
        <p:nvSpPr>
          <p:cNvPr id="60" name="TextBox 59"/>
          <p:cNvSpPr txBox="1"/>
          <p:nvPr/>
        </p:nvSpPr>
        <p:spPr>
          <a:xfrm>
            <a:off x="485775" y="4564717"/>
            <a:ext cx="1827344" cy="186689"/>
          </a:xfrm>
          <a:prstGeom prst="rect">
            <a:avLst/>
          </a:prstGeom>
          <a:noFill/>
        </p:spPr>
        <p:txBody>
          <a:bodyPr wrap="none" lIns="0" rIns="0" tIns="0" bIns="0">
            <a:spAutoFit/>
          </a:bodyPr>
          <a:lstStyle/>
          <a:p>
            <a:r>
              <a:rPr sz="1100" b="0">
                <a:solidFill>
                  <a:srgbClr val="2E2E2E"/>
                </a:solidFill>
                <a:latin typeface="Calibri"/>
              </a:rPr>
              <a:t>to witness the highest CAGR of</a:t>
            </a:r>
          </a:p>
        </p:txBody>
      </p:sp>
      <p:pic>
        <p:nvPicPr>
          <p:cNvPr id="61" name="Picture 60" descr="lock.png"/>
          <p:cNvPicPr>
            <a:picLocks noChangeAspect="1"/>
          </p:cNvPicPr>
          <p:nvPr/>
        </p:nvPicPr>
        <p:blipFill>
          <a:blip r:embed="rId10"/>
          <a:stretch>
            <a:fillRect/>
          </a:stretch>
        </p:blipFill>
        <p:spPr>
          <a:xfrm>
            <a:off x="2261170" y="4554938"/>
            <a:ext cx="128699" cy="187198"/>
          </a:xfrm>
          <a:prstGeom prst="rect">
            <a:avLst/>
          </a:prstGeom>
        </p:spPr>
      </p:pic>
      <p:sp>
        <p:nvSpPr>
          <p:cNvPr id="62" name="TextBox 61"/>
          <p:cNvSpPr txBox="1"/>
          <p:nvPr/>
        </p:nvSpPr>
        <p:spPr>
          <a:xfrm>
            <a:off x="2428666" y="4564717"/>
            <a:ext cx="552871" cy="186689"/>
          </a:xfrm>
          <a:prstGeom prst="rect">
            <a:avLst/>
          </a:prstGeom>
          <a:noFill/>
        </p:spPr>
        <p:txBody>
          <a:bodyPr wrap="none" lIns="0" rIns="0" tIns="0" bIns="0">
            <a:spAutoFit/>
          </a:bodyPr>
          <a:lstStyle/>
          <a:p>
            <a:r>
              <a:rPr sz="1100" b="0">
                <a:solidFill>
                  <a:srgbClr val="2E2E2E"/>
                </a:solidFill>
                <a:latin typeface="Calibri"/>
              </a:rPr>
              <a:t>over the</a:t>
            </a:r>
          </a:p>
        </p:txBody>
      </p:sp>
      <p:sp>
        <p:nvSpPr>
          <p:cNvPr id="63" name="TextBox 62"/>
          <p:cNvSpPr txBox="1"/>
          <p:nvPr/>
        </p:nvSpPr>
        <p:spPr>
          <a:xfrm>
            <a:off x="485775" y="4732357"/>
            <a:ext cx="2914650" cy="186689"/>
          </a:xfrm>
          <a:prstGeom prst="rect">
            <a:avLst/>
          </a:prstGeom>
          <a:noFill/>
        </p:spPr>
        <p:txBody>
          <a:bodyPr wrap="none" lIns="0" rIns="0" tIns="0" bIns="0">
            <a:spAutoFit/>
          </a:bodyPr>
          <a:lstStyle/>
          <a:p>
            <a:r>
              <a:rPr sz="1100" b="0">
                <a:solidFill>
                  <a:srgbClr val="2E2E2E"/>
                </a:solidFill>
                <a:latin typeface="Calibri"/>
              </a:rPr>
              <a:t>forecast period. In terms of value share by patient</a:t>
            </a:r>
          </a:p>
        </p:txBody>
      </p:sp>
      <p:sp>
        <p:nvSpPr>
          <p:cNvPr id="64" name="TextBox 63"/>
          <p:cNvSpPr txBox="1"/>
          <p:nvPr/>
        </p:nvSpPr>
        <p:spPr>
          <a:xfrm>
            <a:off x="485775" y="4899997"/>
            <a:ext cx="2540595" cy="186689"/>
          </a:xfrm>
          <a:prstGeom prst="rect">
            <a:avLst/>
          </a:prstGeom>
          <a:noFill/>
        </p:spPr>
        <p:txBody>
          <a:bodyPr wrap="none" lIns="0" rIns="0" tIns="0" bIns="0">
            <a:spAutoFit/>
          </a:bodyPr>
          <a:lstStyle/>
          <a:p>
            <a:r>
              <a:rPr sz="1100" b="0">
                <a:solidFill>
                  <a:srgbClr val="2E2E2E"/>
                </a:solidFill>
                <a:latin typeface="Calibri"/>
              </a:rPr>
              <a:t>age group, the geriatric patients segment is</a:t>
            </a:r>
          </a:p>
        </p:txBody>
      </p:sp>
      <p:sp>
        <p:nvSpPr>
          <p:cNvPr id="65" name="TextBox 64"/>
          <p:cNvSpPr txBox="1"/>
          <p:nvPr/>
        </p:nvSpPr>
        <p:spPr>
          <a:xfrm>
            <a:off x="485775" y="5067637"/>
            <a:ext cx="2466652" cy="186689"/>
          </a:xfrm>
          <a:prstGeom prst="rect">
            <a:avLst/>
          </a:prstGeom>
          <a:noFill/>
        </p:spPr>
        <p:txBody>
          <a:bodyPr wrap="none" lIns="0" rIns="0" tIns="0" bIns="0">
            <a:spAutoFit/>
          </a:bodyPr>
          <a:lstStyle/>
          <a:p>
            <a:r>
              <a:rPr sz="1100" b="0">
                <a:solidFill>
                  <a:srgbClr val="2E2E2E"/>
                </a:solidFill>
                <a:latin typeface="Calibri"/>
              </a:rPr>
              <a:t>expected to dominate the market, gaining</a:t>
            </a:r>
          </a:p>
        </p:txBody>
      </p:sp>
      <p:pic>
        <p:nvPicPr>
          <p:cNvPr id="66" name="Picture 65" descr="lock.png"/>
          <p:cNvPicPr>
            <a:picLocks noChangeAspect="1"/>
          </p:cNvPicPr>
          <p:nvPr/>
        </p:nvPicPr>
        <p:blipFill>
          <a:blip r:embed="rId10"/>
          <a:stretch>
            <a:fillRect/>
          </a:stretch>
        </p:blipFill>
        <p:spPr>
          <a:xfrm>
            <a:off x="2900479" y="5057858"/>
            <a:ext cx="128699" cy="187198"/>
          </a:xfrm>
          <a:prstGeom prst="rect">
            <a:avLst/>
          </a:prstGeom>
        </p:spPr>
      </p:pic>
      <p:sp>
        <p:nvSpPr>
          <p:cNvPr id="67" name="TextBox 66"/>
          <p:cNvSpPr txBox="1"/>
          <p:nvPr/>
        </p:nvSpPr>
        <p:spPr>
          <a:xfrm>
            <a:off x="3067974" y="5067637"/>
            <a:ext cx="288751" cy="186689"/>
          </a:xfrm>
          <a:prstGeom prst="rect">
            <a:avLst/>
          </a:prstGeom>
          <a:noFill/>
        </p:spPr>
        <p:txBody>
          <a:bodyPr wrap="none" lIns="0" rIns="0" tIns="0" bIns="0">
            <a:spAutoFit/>
          </a:bodyPr>
          <a:lstStyle/>
          <a:p>
            <a:r>
              <a:rPr sz="1100" b="0">
                <a:solidFill>
                  <a:srgbClr val="2E2E2E"/>
                </a:solidFill>
                <a:latin typeface="Calibri"/>
              </a:rPr>
              <a:t>BPS</a:t>
            </a:r>
          </a:p>
        </p:txBody>
      </p:sp>
      <p:sp>
        <p:nvSpPr>
          <p:cNvPr id="68" name="TextBox 67"/>
          <p:cNvSpPr txBox="1"/>
          <p:nvPr/>
        </p:nvSpPr>
        <p:spPr>
          <a:xfrm>
            <a:off x="485775" y="5235277"/>
            <a:ext cx="1142231" cy="186689"/>
          </a:xfrm>
          <a:prstGeom prst="rect">
            <a:avLst/>
          </a:prstGeom>
          <a:noFill/>
        </p:spPr>
        <p:txBody>
          <a:bodyPr wrap="none" lIns="0" rIns="0" tIns="0" bIns="0">
            <a:spAutoFit/>
          </a:bodyPr>
          <a:lstStyle/>
          <a:p>
            <a:r>
              <a:rPr sz="1100" b="0">
                <a:solidFill>
                  <a:srgbClr val="2E2E2E"/>
                </a:solidFill>
                <a:latin typeface="Calibri"/>
              </a:rPr>
              <a:t>and accounting for</a:t>
            </a:r>
          </a:p>
        </p:txBody>
      </p:sp>
      <p:pic>
        <p:nvPicPr>
          <p:cNvPr id="69" name="Picture 68" descr="lock.png"/>
          <p:cNvPicPr>
            <a:picLocks noChangeAspect="1"/>
          </p:cNvPicPr>
          <p:nvPr/>
        </p:nvPicPr>
        <p:blipFill>
          <a:blip r:embed="rId10"/>
          <a:stretch>
            <a:fillRect/>
          </a:stretch>
        </p:blipFill>
        <p:spPr>
          <a:xfrm>
            <a:off x="1576057" y="5225498"/>
            <a:ext cx="128699" cy="187198"/>
          </a:xfrm>
          <a:prstGeom prst="rect">
            <a:avLst/>
          </a:prstGeom>
        </p:spPr>
      </p:pic>
      <p:sp>
        <p:nvSpPr>
          <p:cNvPr id="70" name="TextBox 69"/>
          <p:cNvSpPr txBox="1"/>
          <p:nvPr/>
        </p:nvSpPr>
        <p:spPr>
          <a:xfrm>
            <a:off x="1743553" y="523527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71" name="TextBox 70"/>
          <p:cNvSpPr txBox="1"/>
          <p:nvPr/>
        </p:nvSpPr>
        <p:spPr>
          <a:xfrm>
            <a:off x="485775" y="5453209"/>
            <a:ext cx="2632546" cy="186689"/>
          </a:xfrm>
          <a:prstGeom prst="rect">
            <a:avLst/>
          </a:prstGeom>
          <a:noFill/>
        </p:spPr>
        <p:txBody>
          <a:bodyPr wrap="none" lIns="0" rIns="0" tIns="0" bIns="0">
            <a:spAutoFit/>
          </a:bodyPr>
          <a:lstStyle/>
          <a:p>
            <a:r>
              <a:rPr sz="1100" b="0">
                <a:solidFill>
                  <a:srgbClr val="2E2E2E"/>
                </a:solidFill>
                <a:latin typeface="Calibri"/>
              </a:rPr>
              <a:t>▪ ¶ Geriatric patients segment is projected to</a:t>
            </a:r>
          </a:p>
        </p:txBody>
      </p:sp>
      <p:sp>
        <p:nvSpPr>
          <p:cNvPr id="72" name="TextBox 71"/>
          <p:cNvSpPr txBox="1"/>
          <p:nvPr/>
        </p:nvSpPr>
        <p:spPr>
          <a:xfrm>
            <a:off x="485775" y="5620849"/>
            <a:ext cx="512489" cy="186689"/>
          </a:xfrm>
          <a:prstGeom prst="rect">
            <a:avLst/>
          </a:prstGeom>
          <a:noFill/>
        </p:spPr>
        <p:txBody>
          <a:bodyPr wrap="none" lIns="0" rIns="0" tIns="0" bIns="0">
            <a:spAutoFit/>
          </a:bodyPr>
          <a:lstStyle/>
          <a:p>
            <a:r>
              <a:rPr sz="1100" b="0">
                <a:solidFill>
                  <a:srgbClr val="2E2E2E"/>
                </a:solidFill>
                <a:latin typeface="Calibri"/>
              </a:rPr>
              <a:t>register</a:t>
            </a:r>
          </a:p>
        </p:txBody>
      </p:sp>
      <p:pic>
        <p:nvPicPr>
          <p:cNvPr id="73" name="Picture 72" descr="lock.png"/>
          <p:cNvPicPr>
            <a:picLocks noChangeAspect="1"/>
          </p:cNvPicPr>
          <p:nvPr/>
        </p:nvPicPr>
        <p:blipFill>
          <a:blip r:embed="rId10"/>
          <a:stretch>
            <a:fillRect/>
          </a:stretch>
        </p:blipFill>
        <p:spPr>
          <a:xfrm>
            <a:off x="946316" y="5611070"/>
            <a:ext cx="128699" cy="187198"/>
          </a:xfrm>
          <a:prstGeom prst="rect">
            <a:avLst/>
          </a:prstGeom>
        </p:spPr>
      </p:pic>
      <p:sp>
        <p:nvSpPr>
          <p:cNvPr id="74" name="TextBox 73"/>
          <p:cNvSpPr txBox="1"/>
          <p:nvPr/>
        </p:nvSpPr>
        <p:spPr>
          <a:xfrm>
            <a:off x="1113812" y="5620849"/>
            <a:ext cx="2211809" cy="186689"/>
          </a:xfrm>
          <a:prstGeom prst="rect">
            <a:avLst/>
          </a:prstGeom>
          <a:noFill/>
        </p:spPr>
        <p:txBody>
          <a:bodyPr wrap="none" lIns="0" rIns="0" tIns="0" bIns="0">
            <a:spAutoFit/>
          </a:bodyPr>
          <a:lstStyle/>
          <a:p>
            <a:r>
              <a:rPr sz="1100" b="0">
                <a:solidFill>
                  <a:srgbClr val="2E2E2E"/>
                </a:solidFill>
                <a:latin typeface="Calibri"/>
              </a:rPr>
              <a:t>X higher value than adults segment in</a:t>
            </a:r>
          </a:p>
        </p:txBody>
      </p:sp>
      <p:sp>
        <p:nvSpPr>
          <p:cNvPr id="75" name="TextBox 74"/>
          <p:cNvSpPr txBox="1"/>
          <p:nvPr/>
        </p:nvSpPr>
        <p:spPr>
          <a:xfrm>
            <a:off x="485775" y="5788489"/>
            <a:ext cx="395163" cy="186689"/>
          </a:xfrm>
          <a:prstGeom prst="rect">
            <a:avLst/>
          </a:prstGeom>
          <a:noFill/>
        </p:spPr>
        <p:txBody>
          <a:bodyPr wrap="none" lIns="0" rIns="0" tIns="0" bIns="0">
            <a:spAutoFit/>
          </a:bodyPr>
          <a:lstStyle/>
          <a:p>
            <a:r>
              <a:rPr sz="1100" b="0">
                <a:solidFill>
                  <a:srgbClr val="2E2E2E"/>
                </a:solidFill>
                <a:latin typeface="Calibri"/>
              </a:rPr>
              <a:t>2036.</a:t>
            </a:r>
          </a:p>
        </p:txBody>
      </p:sp>
      <p:sp>
        <p:nvSpPr>
          <p:cNvPr id="76" name="TextBox 75"/>
          <p:cNvSpPr txBox="1"/>
          <p:nvPr/>
        </p:nvSpPr>
        <p:spPr>
          <a:xfrm>
            <a:off x="3838575" y="4229437"/>
            <a:ext cx="1216719" cy="186689"/>
          </a:xfrm>
          <a:prstGeom prst="rect">
            <a:avLst/>
          </a:prstGeom>
          <a:noFill/>
        </p:spPr>
        <p:txBody>
          <a:bodyPr wrap="none" lIns="0" rIns="0" tIns="0" bIns="0">
            <a:spAutoFit/>
          </a:bodyPr>
          <a:lstStyle/>
          <a:p>
            <a:r>
              <a:rPr sz="1100" b="0">
                <a:solidFill>
                  <a:srgbClr val="2E2E2E"/>
                </a:solidFill>
                <a:latin typeface="Calibri"/>
              </a:rPr>
              <a:t>● Geriatric Patients:</a:t>
            </a:r>
          </a:p>
        </p:txBody>
      </p:sp>
      <p:pic>
        <p:nvPicPr>
          <p:cNvPr id="77" name="Picture 76" descr="lock.png"/>
          <p:cNvPicPr>
            <a:picLocks noChangeAspect="1"/>
          </p:cNvPicPr>
          <p:nvPr/>
        </p:nvPicPr>
        <p:blipFill>
          <a:blip r:embed="rId10"/>
          <a:stretch>
            <a:fillRect/>
          </a:stretch>
        </p:blipFill>
        <p:spPr>
          <a:xfrm>
            <a:off x="5003346" y="4219658"/>
            <a:ext cx="128699" cy="187198"/>
          </a:xfrm>
          <a:prstGeom prst="rect">
            <a:avLst/>
          </a:prstGeom>
        </p:spPr>
      </p:pic>
      <p:sp>
        <p:nvSpPr>
          <p:cNvPr id="78" name="TextBox 77"/>
          <p:cNvSpPr txBox="1"/>
          <p:nvPr/>
        </p:nvSpPr>
        <p:spPr>
          <a:xfrm>
            <a:off x="5170841"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9" name="Picture 78" descr="lock.png"/>
          <p:cNvPicPr>
            <a:picLocks noChangeAspect="1"/>
          </p:cNvPicPr>
          <p:nvPr/>
        </p:nvPicPr>
        <p:blipFill>
          <a:blip r:embed="rId10"/>
          <a:stretch>
            <a:fillRect/>
          </a:stretch>
        </p:blipFill>
        <p:spPr>
          <a:xfrm>
            <a:off x="6030292" y="4219658"/>
            <a:ext cx="128699" cy="187198"/>
          </a:xfrm>
          <a:prstGeom prst="rect">
            <a:avLst/>
          </a:prstGeom>
        </p:spPr>
      </p:pic>
      <p:sp>
        <p:nvSpPr>
          <p:cNvPr id="80" name="TextBox 79"/>
          <p:cNvSpPr txBox="1"/>
          <p:nvPr/>
        </p:nvSpPr>
        <p:spPr>
          <a:xfrm>
            <a:off x="6197787"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81" name="TextBox 80"/>
          <p:cNvSpPr txBox="1"/>
          <p:nvPr/>
        </p:nvSpPr>
        <p:spPr>
          <a:xfrm>
            <a:off x="3838575" y="4447369"/>
            <a:ext cx="590798" cy="186689"/>
          </a:xfrm>
          <a:prstGeom prst="rect">
            <a:avLst/>
          </a:prstGeom>
          <a:noFill/>
        </p:spPr>
        <p:txBody>
          <a:bodyPr wrap="none" lIns="0" rIns="0" tIns="0" bIns="0">
            <a:spAutoFit/>
          </a:bodyPr>
          <a:lstStyle/>
          <a:p>
            <a:r>
              <a:rPr sz="1100" b="0">
                <a:solidFill>
                  <a:srgbClr val="2E2E2E"/>
                </a:solidFill>
                <a:latin typeface="Calibri"/>
              </a:rPr>
              <a:t>● Adults:</a:t>
            </a:r>
          </a:p>
        </p:txBody>
      </p:sp>
      <p:pic>
        <p:nvPicPr>
          <p:cNvPr id="82" name="Picture 81" descr="lock.png"/>
          <p:cNvPicPr>
            <a:picLocks noChangeAspect="1"/>
          </p:cNvPicPr>
          <p:nvPr/>
        </p:nvPicPr>
        <p:blipFill>
          <a:blip r:embed="rId10"/>
          <a:stretch>
            <a:fillRect/>
          </a:stretch>
        </p:blipFill>
        <p:spPr>
          <a:xfrm>
            <a:off x="4377424" y="4437590"/>
            <a:ext cx="128699" cy="187198"/>
          </a:xfrm>
          <a:prstGeom prst="rect">
            <a:avLst/>
          </a:prstGeom>
        </p:spPr>
      </p:pic>
      <p:sp>
        <p:nvSpPr>
          <p:cNvPr id="83" name="TextBox 82"/>
          <p:cNvSpPr txBox="1"/>
          <p:nvPr/>
        </p:nvSpPr>
        <p:spPr>
          <a:xfrm>
            <a:off x="4544920"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4" name="Picture 83" descr="lock.png"/>
          <p:cNvPicPr>
            <a:picLocks noChangeAspect="1"/>
          </p:cNvPicPr>
          <p:nvPr/>
        </p:nvPicPr>
        <p:blipFill>
          <a:blip r:embed="rId10"/>
          <a:stretch>
            <a:fillRect/>
          </a:stretch>
        </p:blipFill>
        <p:spPr>
          <a:xfrm>
            <a:off x="5404370" y="4437590"/>
            <a:ext cx="128699" cy="187198"/>
          </a:xfrm>
          <a:prstGeom prst="rect">
            <a:avLst/>
          </a:prstGeom>
        </p:spPr>
      </p:pic>
      <p:sp>
        <p:nvSpPr>
          <p:cNvPr id="85" name="TextBox 84"/>
          <p:cNvSpPr txBox="1"/>
          <p:nvPr/>
        </p:nvSpPr>
        <p:spPr>
          <a:xfrm>
            <a:off x="5571866"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86" name="TextBox 85"/>
          <p:cNvSpPr txBox="1"/>
          <p:nvPr/>
        </p:nvSpPr>
        <p:spPr>
          <a:xfrm>
            <a:off x="8524875" y="5842641"/>
            <a:ext cx="2913335" cy="194310"/>
          </a:xfrm>
          <a:prstGeom prst="rect">
            <a:avLst/>
          </a:prstGeom>
          <a:noFill/>
        </p:spPr>
        <p:txBody>
          <a:bodyPr wrap="none" lIns="0" rIns="0" tIns="0" bIns="0">
            <a:spAutoFit/>
          </a:bodyPr>
          <a:lstStyle/>
          <a:p>
            <a:r>
              <a:rPr sz="1150" b="1">
                <a:solidFill>
                  <a:srgbClr val="0B2E4A"/>
                </a:solidFill>
                <a:latin typeface="Calibri"/>
              </a:rPr>
              <a:t>The Patient Age Group segment is projected to</a:t>
            </a:r>
          </a:p>
        </p:txBody>
      </p:sp>
      <p:sp>
        <p:nvSpPr>
          <p:cNvPr id="87" name="TextBox 86"/>
          <p:cNvSpPr txBox="1"/>
          <p:nvPr/>
        </p:nvSpPr>
        <p:spPr>
          <a:xfrm>
            <a:off x="8524875" y="6017901"/>
            <a:ext cx="1177823" cy="194310"/>
          </a:xfrm>
          <a:prstGeom prst="rect">
            <a:avLst/>
          </a:prstGeom>
          <a:noFill/>
        </p:spPr>
        <p:txBody>
          <a:bodyPr wrap="none" lIns="0" rIns="0" tIns="0" bIns="0">
            <a:spAutoFit/>
          </a:bodyPr>
          <a:lstStyle/>
          <a:p>
            <a:r>
              <a:rPr sz="1150" b="1">
                <a:solidFill>
                  <a:srgbClr val="0B2E4A"/>
                </a:solidFill>
                <a:latin typeface="Calibri"/>
              </a:rPr>
              <a:t>grow at a CAGR of</a:t>
            </a:r>
          </a:p>
        </p:txBody>
      </p:sp>
      <p:pic>
        <p:nvPicPr>
          <p:cNvPr id="88" name="Picture 87" descr="lock.png"/>
          <p:cNvPicPr>
            <a:picLocks noChangeAspect="1"/>
          </p:cNvPicPr>
          <p:nvPr/>
        </p:nvPicPr>
        <p:blipFill>
          <a:blip r:embed="rId10"/>
          <a:stretch>
            <a:fillRect/>
          </a:stretch>
        </p:blipFill>
        <p:spPr>
          <a:xfrm>
            <a:off x="9651852" y="6007677"/>
            <a:ext cx="134549" cy="195707"/>
          </a:xfrm>
          <a:prstGeom prst="rect">
            <a:avLst/>
          </a:prstGeom>
        </p:spPr>
      </p:pic>
      <p:sp>
        <p:nvSpPr>
          <p:cNvPr id="89" name="TextBox 88"/>
          <p:cNvSpPr txBox="1"/>
          <p:nvPr/>
        </p:nvSpPr>
        <p:spPr>
          <a:xfrm>
            <a:off x="9826962"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Patient Age Group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Patient Age Group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Patient Age Group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Patient Age Group · Bubble size represents 2036 value</a:t>
            </a:r>
          </a:p>
        </p:txBody>
      </p:sp>
      <p:graphicFrame>
        <p:nvGraphicFramePr>
          <p:cNvPr id="16" name="Chart 15"/>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6"/>
          <a:stretch>
            <a:fillRect/>
          </a:stretch>
        </p:blipFill>
        <p:spPr>
          <a:xfrm>
            <a:off x="3484684" y="3024134"/>
            <a:ext cx="320946" cy="466830"/>
          </a:xfrm>
          <a:prstGeom prst="rect">
            <a:avLst/>
          </a:prstGeom>
        </p:spPr>
      </p:pic>
      <p:sp>
        <p:nvSpPr>
          <p:cNvPr id="20" name="TextBox 19"/>
          <p:cNvSpPr txBox="1"/>
          <p:nvPr/>
        </p:nvSpPr>
        <p:spPr>
          <a:xfrm>
            <a:off x="257175" y="5777865"/>
            <a:ext cx="11459567" cy="186689"/>
          </a:xfrm>
          <a:prstGeom prst="rect">
            <a:avLst/>
          </a:prstGeom>
          <a:noFill/>
        </p:spPr>
        <p:txBody>
          <a:bodyPr wrap="none" lIns="0" rIns="0" tIns="0" bIns="0">
            <a:spAutoFit/>
          </a:bodyPr>
          <a:lstStyle/>
          <a:p>
            <a:r>
              <a:rPr sz="1100" b="0">
                <a:solidFill>
                  <a:srgbClr val="2E2E2E"/>
                </a:solidFill>
                <a:latin typeface="Calibri"/>
              </a:rPr>
              <a:t>Geriatric patients followed by adults are expected to be the two most attractive patient age group segments in the North America removable partial dentures market in terms of value over the forecast</a:t>
            </a:r>
          </a:p>
        </p:txBody>
      </p:sp>
      <p:sp>
        <p:nvSpPr>
          <p:cNvPr id="21" name="TextBox 20"/>
          <p:cNvSpPr txBox="1"/>
          <p:nvPr/>
        </p:nvSpPr>
        <p:spPr>
          <a:xfrm>
            <a:off x="257175" y="5945505"/>
            <a:ext cx="3484644" cy="186689"/>
          </a:xfrm>
          <a:prstGeom prst="rect">
            <a:avLst/>
          </a:prstGeom>
          <a:noFill/>
        </p:spPr>
        <p:txBody>
          <a:bodyPr wrap="none" lIns="0" rIns="0" tIns="0" bIns="0">
            <a:spAutoFit/>
          </a:bodyPr>
          <a:lstStyle/>
          <a:p>
            <a:r>
              <a:rPr sz="1100" b="0">
                <a:solidFill>
                  <a:srgbClr val="2E2E2E"/>
                </a:solidFill>
                <a:latin typeface="Calibri"/>
              </a:rPr>
              <a:t>period. Geriatric patients and adults exhibit a CAGR index of</a:t>
            </a:r>
          </a:p>
        </p:txBody>
      </p:sp>
      <p:pic>
        <p:nvPicPr>
          <p:cNvPr id="22" name="Picture 21" descr="lock.png"/>
          <p:cNvPicPr>
            <a:picLocks noChangeAspect="1"/>
          </p:cNvPicPr>
          <p:nvPr/>
        </p:nvPicPr>
        <p:blipFill>
          <a:blip r:embed="rId6"/>
          <a:stretch>
            <a:fillRect/>
          </a:stretch>
        </p:blipFill>
        <p:spPr>
          <a:xfrm>
            <a:off x="3689871" y="5935726"/>
            <a:ext cx="128699" cy="187198"/>
          </a:xfrm>
          <a:prstGeom prst="rect">
            <a:avLst/>
          </a:prstGeom>
        </p:spPr>
      </p:pic>
      <p:sp>
        <p:nvSpPr>
          <p:cNvPr id="23" name="TextBox 22"/>
          <p:cNvSpPr txBox="1"/>
          <p:nvPr/>
        </p:nvSpPr>
        <p:spPr>
          <a:xfrm>
            <a:off x="3857367" y="594550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4" name="Picture 23" descr="lock.png"/>
          <p:cNvPicPr>
            <a:picLocks noChangeAspect="1"/>
          </p:cNvPicPr>
          <p:nvPr/>
        </p:nvPicPr>
        <p:blipFill>
          <a:blip r:embed="rId6"/>
          <a:stretch>
            <a:fillRect/>
          </a:stretch>
        </p:blipFill>
        <p:spPr>
          <a:xfrm>
            <a:off x="4095261" y="5935726"/>
            <a:ext cx="128699" cy="187198"/>
          </a:xfrm>
          <a:prstGeom prst="rect">
            <a:avLst/>
          </a:prstGeom>
        </p:spPr>
      </p:pic>
      <p:sp>
        <p:nvSpPr>
          <p:cNvPr id="25" name="TextBox 24"/>
          <p:cNvSpPr txBox="1"/>
          <p:nvPr/>
        </p:nvSpPr>
        <p:spPr>
          <a:xfrm>
            <a:off x="4262757" y="594550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6" name="Picture 25" descr="lock.png"/>
          <p:cNvPicPr>
            <a:picLocks noChangeAspect="1"/>
          </p:cNvPicPr>
          <p:nvPr/>
        </p:nvPicPr>
        <p:blipFill>
          <a:blip r:embed="rId6"/>
          <a:stretch>
            <a:fillRect/>
          </a:stretch>
        </p:blipFill>
        <p:spPr>
          <a:xfrm>
            <a:off x="5871730" y="5935726"/>
            <a:ext cx="128699" cy="187198"/>
          </a:xfrm>
          <a:prstGeom prst="rect">
            <a:avLst/>
          </a:prstGeom>
        </p:spPr>
      </p:pic>
      <p:sp>
        <p:nvSpPr>
          <p:cNvPr id="27" name="TextBox 26"/>
          <p:cNvSpPr txBox="1"/>
          <p:nvPr/>
        </p:nvSpPr>
        <p:spPr>
          <a:xfrm>
            <a:off x="6039226" y="594550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8" name="Picture 27" descr="lock.png"/>
          <p:cNvPicPr>
            <a:picLocks noChangeAspect="1"/>
          </p:cNvPicPr>
          <p:nvPr/>
        </p:nvPicPr>
        <p:blipFill>
          <a:blip r:embed="rId6"/>
          <a:stretch>
            <a:fillRect/>
          </a:stretch>
        </p:blipFill>
        <p:spPr>
          <a:xfrm>
            <a:off x="6277120" y="5935726"/>
            <a:ext cx="128699" cy="187198"/>
          </a:xfrm>
          <a:prstGeom prst="rect">
            <a:avLst/>
          </a:prstGeom>
        </p:spPr>
      </p:pic>
      <p:sp>
        <p:nvSpPr>
          <p:cNvPr id="29" name="TextBox 28"/>
          <p:cNvSpPr txBox="1"/>
          <p:nvPr/>
        </p:nvSpPr>
        <p:spPr>
          <a:xfrm>
            <a:off x="6444616" y="594550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30" name="Picture 29" descr="lock.png"/>
          <p:cNvPicPr>
            <a:picLocks noChangeAspect="1"/>
          </p:cNvPicPr>
          <p:nvPr/>
        </p:nvPicPr>
        <p:blipFill>
          <a:blip r:embed="rId6"/>
          <a:stretch>
            <a:fillRect/>
          </a:stretch>
        </p:blipFill>
        <p:spPr>
          <a:xfrm>
            <a:off x="8999020" y="5935726"/>
            <a:ext cx="128699" cy="187198"/>
          </a:xfrm>
          <a:prstGeom prst="rect">
            <a:avLst/>
          </a:prstGeom>
        </p:spPr>
      </p:pic>
      <p:sp>
        <p:nvSpPr>
          <p:cNvPr id="31" name="TextBox 30"/>
          <p:cNvSpPr txBox="1"/>
          <p:nvPr/>
        </p:nvSpPr>
        <p:spPr>
          <a:xfrm>
            <a:off x="9166516" y="5945505"/>
            <a:ext cx="2208790" cy="186689"/>
          </a:xfrm>
          <a:prstGeom prst="rect">
            <a:avLst/>
          </a:prstGeom>
          <a:noFill/>
        </p:spPr>
        <p:txBody>
          <a:bodyPr wrap="none" lIns="0" rIns="0" tIns="0" bIns="0">
            <a:spAutoFit/>
          </a:bodyPr>
          <a:lstStyle/>
          <a:p>
            <a:r>
              <a:rPr sz="1100" b="0">
                <a:solidFill>
                  <a:srgbClr val="2E2E2E"/>
                </a:solidFill>
                <a:latin typeface="Calibri"/>
              </a:rPr>
              <a:t>. Bubbles right of the CAGR-Index line</a:t>
            </a:r>
          </a:p>
        </p:txBody>
      </p:sp>
      <p:sp>
        <p:nvSpPr>
          <p:cNvPr id="32" name="TextBox 31"/>
          <p:cNvSpPr txBox="1"/>
          <p:nvPr/>
        </p:nvSpPr>
        <p:spPr>
          <a:xfrm>
            <a:off x="257175" y="6113145"/>
            <a:ext cx="2279476" cy="186689"/>
          </a:xfrm>
          <a:prstGeom prst="rect">
            <a:avLst/>
          </a:prstGeom>
          <a:noFill/>
        </p:spPr>
        <p:txBody>
          <a:bodyPr wrap="none" lIns="0" rIns="0" tIns="0" bIns="0">
            <a:spAutoFit/>
          </a:bodyPr>
          <a:lstStyle/>
          <a:p>
            <a:r>
              <a:rPr sz="1100" b="0">
                <a:solidFill>
                  <a:srgbClr val="2E2E2E"/>
                </a:solidFill>
                <a:latin typeface="Calibri"/>
              </a:rPr>
              <a:t>grow faster than the segment average.</a:t>
            </a:r>
          </a:p>
        </p:txBody>
      </p:sp>
      <p:sp>
        <p:nvSpPr>
          <p:cNvPr id="33" name="lockshield_13"/>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lockshield_16"/>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Patient Age Group</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Patient Age Group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Adults</a:t>
            </a:r>
          </a:p>
        </p:txBody>
      </p:sp>
      <p:graphicFrame>
        <p:nvGraphicFramePr>
          <p:cNvPr id="13" name="Chart 12"/>
          <p:cNvGraphicFramePr>
            <a:graphicFrameLocks noGrp="1"/>
          </p:cNvGraphicFramePr>
          <p:nvPr/>
        </p:nvGraphicFramePr>
        <p:xfrm>
          <a:off x="238125" y="1266825"/>
          <a:ext cx="5686425" cy="53054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Geriatric Patients</a:t>
            </a:r>
          </a:p>
        </p:txBody>
      </p:sp>
      <p:graphicFrame>
        <p:nvGraphicFramePr>
          <p:cNvPr id="16" name="Chart 15"/>
          <p:cNvGraphicFramePr>
            <a:graphicFrameLocks noGrp="1"/>
          </p:cNvGraphicFramePr>
          <p:nvPr/>
        </p:nvGraphicFramePr>
        <p:xfrm>
          <a:off x="6267450" y="1438275"/>
          <a:ext cx="5686425" cy="513397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024059" y="3583939"/>
            <a:ext cx="402511" cy="585471"/>
          </a:xfrm>
          <a:prstGeom prst="rect">
            <a:avLst/>
          </a:prstGeom>
        </p:spPr>
      </p:pic>
      <p:pic>
        <p:nvPicPr>
          <p:cNvPr id="19" name="Picture 18" descr="lock.png"/>
          <p:cNvPicPr>
            <a:picLocks noChangeAspect="1"/>
          </p:cNvPicPr>
          <p:nvPr/>
        </p:nvPicPr>
        <p:blipFill>
          <a:blip r:embed="rId6"/>
          <a:stretch>
            <a:fillRect/>
          </a:stretch>
        </p:blipFill>
        <p:spPr>
          <a:xfrm>
            <a:off x="9056881" y="3674659"/>
            <a:ext cx="395643" cy="575481"/>
          </a:xfrm>
          <a:prstGeom prst="rect">
            <a:avLst/>
          </a:prstGeom>
        </p:spPr>
      </p:pic>
      <p:sp>
        <p:nvSpPr>
          <p:cNvPr id="20" name="lockshield_13"/>
          <p:cNvSpPr/>
          <p:nvPr/>
        </p:nvSpPr>
        <p:spPr>
          <a:xfrm>
            <a:off x="238125" y="1266825"/>
            <a:ext cx="5686425" cy="53054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lockshield_16"/>
          <p:cNvSpPr/>
          <p:nvPr/>
        </p:nvSpPr>
        <p:spPr>
          <a:xfrm>
            <a:off x="6267450"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Volume Analysis, By Patient Age Group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Patient Age Group,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Patient Age Group (Units)</a:t>
            </a:r>
          </a:p>
        </p:txBody>
      </p:sp>
      <p:graphicFrame>
        <p:nvGraphicFramePr>
          <p:cNvPr id="13" name="Table 12"/>
          <p:cNvGraphicFramePr>
            <a:graphicFrameLocks noGrp="1"/>
          </p:cNvGraphicFramePr>
          <p:nvPr/>
        </p:nvGraphicFramePr>
        <p:xfrm>
          <a:off x="152400" y="1238250"/>
          <a:ext cx="11887204" cy="990600"/>
        </p:xfrm>
        <a:graphic>
          <a:graphicData uri="http://schemas.openxmlformats.org/drawingml/2006/table">
            <a:tbl>
              <a:tblPr>
                <a:tableStyleId>{5C22544A-7EE6-4342-B048-85BDC9FD1C3A}</a:tableStyleId>
              </a:tblPr>
              <a:tblGrid>
                <a:gridCol w="1236106"/>
                <a:gridCol w="595168"/>
                <a:gridCol w="595168"/>
                <a:gridCol w="595168"/>
                <a:gridCol w="595168"/>
                <a:gridCol w="595168"/>
                <a:gridCol w="595168"/>
                <a:gridCol w="595168"/>
                <a:gridCol w="595168"/>
                <a:gridCol w="595168"/>
                <a:gridCol w="595168"/>
                <a:gridCol w="595168"/>
                <a:gridCol w="707833"/>
                <a:gridCol w="707833"/>
                <a:gridCol w="707833"/>
                <a:gridCol w="707833"/>
                <a:gridCol w="707833"/>
                <a:gridCol w="565085"/>
              </a:tblGrid>
              <a:tr h="246126">
                <a:tc>
                  <a:txBody>
                    <a:bodyPr wrap="none"/>
                    <a:lstStyle/>
                    <a:p>
                      <a:pPr algn="l"/>
                      <a:r>
                        <a:rPr sz="1100" b="1">
                          <a:solidFill>
                            <a:srgbClr val="0B2E4A"/>
                          </a:solidFill>
                          <a:latin typeface="Calibri"/>
                        </a:rPr>
                        <a:t>Patient Age Group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Adults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Geriatric Patients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6574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Analysis, By Patient Age Group</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981325"/>
            <a:ext cx="1163955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27365" y="1589913"/>
            <a:ext cx="366712" cy="533400"/>
          </a:xfrm>
          <a:prstGeom prst="rect">
            <a:avLst/>
          </a:prstGeom>
        </p:spPr>
      </p:pic>
      <p:sp>
        <p:nvSpPr>
          <p:cNvPr id="21" name="TextBox 20"/>
          <p:cNvSpPr txBox="1"/>
          <p:nvPr/>
        </p:nvSpPr>
        <p:spPr>
          <a:xfrm>
            <a:off x="276225" y="2990850"/>
            <a:ext cx="3034568" cy="194310"/>
          </a:xfrm>
          <a:prstGeom prst="rect">
            <a:avLst/>
          </a:prstGeom>
          <a:noFill/>
        </p:spPr>
        <p:txBody>
          <a:bodyPr wrap="none" lIns="0" rIns="0" tIns="0" bIns="0">
            <a:spAutoFit/>
          </a:bodyPr>
          <a:lstStyle/>
          <a:p>
            <a:r>
              <a:rPr sz="1150" b="0">
                <a:solidFill>
                  <a:srgbClr val="2E2E2E"/>
                </a:solidFill>
                <a:latin typeface="Calibri"/>
              </a:rPr>
              <a:t>Geriatric patients segment is projected to register</a:t>
            </a:r>
          </a:p>
        </p:txBody>
      </p:sp>
      <p:pic>
        <p:nvPicPr>
          <p:cNvPr id="22" name="Picture 21" descr="lock.png"/>
          <p:cNvPicPr>
            <a:picLocks noChangeAspect="1"/>
          </p:cNvPicPr>
          <p:nvPr/>
        </p:nvPicPr>
        <p:blipFill>
          <a:blip r:embed="rId4"/>
          <a:stretch>
            <a:fillRect/>
          </a:stretch>
        </p:blipFill>
        <p:spPr>
          <a:xfrm>
            <a:off x="3259947" y="2980626"/>
            <a:ext cx="134549" cy="195707"/>
          </a:xfrm>
          <a:prstGeom prst="rect">
            <a:avLst/>
          </a:prstGeom>
        </p:spPr>
      </p:pic>
      <p:sp>
        <p:nvSpPr>
          <p:cNvPr id="23" name="TextBox 22"/>
          <p:cNvSpPr txBox="1"/>
          <p:nvPr/>
        </p:nvSpPr>
        <p:spPr>
          <a:xfrm>
            <a:off x="3435056" y="2990850"/>
            <a:ext cx="7923249" cy="194310"/>
          </a:xfrm>
          <a:prstGeom prst="rect">
            <a:avLst/>
          </a:prstGeom>
          <a:noFill/>
        </p:spPr>
        <p:txBody>
          <a:bodyPr wrap="none" lIns="0" rIns="0" tIns="0" bIns="0">
            <a:spAutoFit/>
          </a:bodyPr>
          <a:lstStyle/>
          <a:p>
            <a:r>
              <a:rPr sz="1150" b="0">
                <a:solidFill>
                  <a:srgbClr val="2E2E2E"/>
                </a:solidFill>
                <a:latin typeface="Calibri"/>
              </a:rPr>
              <a:t>X higher volume than adults segment in 2036. Among removable partial dentures by patient age group, geriatric patients segment is</a:t>
            </a:r>
          </a:p>
        </p:txBody>
      </p:sp>
      <p:sp>
        <p:nvSpPr>
          <p:cNvPr id="24" name="TextBox 23"/>
          <p:cNvSpPr txBox="1"/>
          <p:nvPr/>
        </p:nvSpPr>
        <p:spPr>
          <a:xfrm>
            <a:off x="276225" y="3166110"/>
            <a:ext cx="2486007" cy="194310"/>
          </a:xfrm>
          <a:prstGeom prst="rect">
            <a:avLst/>
          </a:prstGeom>
          <a:noFill/>
        </p:spPr>
        <p:txBody>
          <a:bodyPr wrap="none" lIns="0" rIns="0" tIns="0" bIns="0">
            <a:spAutoFit/>
          </a:bodyPr>
          <a:lstStyle/>
          <a:p>
            <a:r>
              <a:rPr sz="1150" b="0">
                <a:solidFill>
                  <a:srgbClr val="2E2E2E"/>
                </a:solidFill>
                <a:latin typeface="Calibri"/>
              </a:rPr>
              <a:t>expected to witness the highest CAGR of</a:t>
            </a:r>
          </a:p>
        </p:txBody>
      </p:sp>
      <p:pic>
        <p:nvPicPr>
          <p:cNvPr id="25" name="Picture 24" descr="lock.png"/>
          <p:cNvPicPr>
            <a:picLocks noChangeAspect="1"/>
          </p:cNvPicPr>
          <p:nvPr/>
        </p:nvPicPr>
        <p:blipFill>
          <a:blip r:embed="rId4"/>
          <a:stretch>
            <a:fillRect/>
          </a:stretch>
        </p:blipFill>
        <p:spPr>
          <a:xfrm>
            <a:off x="2711386" y="3155886"/>
            <a:ext cx="134549" cy="195707"/>
          </a:xfrm>
          <a:prstGeom prst="rect">
            <a:avLst/>
          </a:prstGeom>
        </p:spPr>
      </p:pic>
      <p:sp>
        <p:nvSpPr>
          <p:cNvPr id="26" name="TextBox 25"/>
          <p:cNvSpPr txBox="1"/>
          <p:nvPr/>
        </p:nvSpPr>
        <p:spPr>
          <a:xfrm>
            <a:off x="2886495" y="31661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393947"/>
            <a:ext cx="7339049" cy="194310"/>
          </a:xfrm>
          <a:prstGeom prst="rect">
            <a:avLst/>
          </a:prstGeom>
          <a:noFill/>
        </p:spPr>
        <p:txBody>
          <a:bodyPr wrap="none" lIns="0" rIns="0" tIns="0" bIns="0">
            <a:spAutoFit/>
          </a:bodyPr>
          <a:lstStyle/>
          <a:p>
            <a:r>
              <a:rPr sz="1150" b="0">
                <a:solidFill>
                  <a:srgbClr val="2E2E2E"/>
                </a:solidFill>
                <a:latin typeface="Calibri"/>
              </a:rPr>
              <a:t>In terms of volume share by patient age group, the geriatric patients segment is expected to dominate the market, gaining</a:t>
            </a:r>
          </a:p>
        </p:txBody>
      </p:sp>
      <p:pic>
        <p:nvPicPr>
          <p:cNvPr id="28" name="Picture 27" descr="lock.png"/>
          <p:cNvPicPr>
            <a:picLocks noChangeAspect="1"/>
          </p:cNvPicPr>
          <p:nvPr/>
        </p:nvPicPr>
        <p:blipFill>
          <a:blip r:embed="rId4"/>
          <a:stretch>
            <a:fillRect/>
          </a:stretch>
        </p:blipFill>
        <p:spPr>
          <a:xfrm>
            <a:off x="7564428" y="3383724"/>
            <a:ext cx="134549" cy="195707"/>
          </a:xfrm>
          <a:prstGeom prst="rect">
            <a:avLst/>
          </a:prstGeom>
        </p:spPr>
      </p:pic>
      <p:sp>
        <p:nvSpPr>
          <p:cNvPr id="29" name="TextBox 28"/>
          <p:cNvSpPr txBox="1"/>
          <p:nvPr/>
        </p:nvSpPr>
        <p:spPr>
          <a:xfrm>
            <a:off x="7739537" y="33939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134681" y="3383724"/>
            <a:ext cx="134549" cy="195707"/>
          </a:xfrm>
          <a:prstGeom prst="rect">
            <a:avLst/>
          </a:prstGeom>
        </p:spPr>
      </p:pic>
      <p:sp>
        <p:nvSpPr>
          <p:cNvPr id="31" name="TextBox 30"/>
          <p:cNvSpPr txBox="1"/>
          <p:nvPr/>
        </p:nvSpPr>
        <p:spPr>
          <a:xfrm>
            <a:off x="9309790" y="3393947"/>
            <a:ext cx="2266949" cy="194310"/>
          </a:xfrm>
          <a:prstGeom prst="rect">
            <a:avLst/>
          </a:prstGeom>
          <a:noFill/>
        </p:spPr>
        <p:txBody>
          <a:bodyPr wrap="none" lIns="0" rIns="0" tIns="0" bIns="0">
            <a:spAutoFit/>
          </a:bodyPr>
          <a:lstStyle/>
          <a:p>
            <a:r>
              <a:rPr sz="1150" b="0">
                <a:solidFill>
                  <a:srgbClr val="2E2E2E"/>
                </a:solidFill>
                <a:latin typeface="Calibri"/>
              </a:rPr>
              <a:t>share by 2036. The adults segment is</a:t>
            </a:r>
          </a:p>
        </p:txBody>
      </p:sp>
      <p:sp>
        <p:nvSpPr>
          <p:cNvPr id="32" name="TextBox 31"/>
          <p:cNvSpPr txBox="1"/>
          <p:nvPr/>
        </p:nvSpPr>
        <p:spPr>
          <a:xfrm>
            <a:off x="276225" y="3569207"/>
            <a:ext cx="1054906" cy="194310"/>
          </a:xfrm>
          <a:prstGeom prst="rect">
            <a:avLst/>
          </a:prstGeom>
          <a:noFill/>
        </p:spPr>
        <p:txBody>
          <a:bodyPr wrap="none" lIns="0" rIns="0" tIns="0" bIns="0">
            <a:spAutoFit/>
          </a:bodyPr>
          <a:lstStyle/>
          <a:p>
            <a:r>
              <a:rPr sz="1150" b="0">
                <a:solidFill>
                  <a:srgbClr val="2E2E2E"/>
                </a:solidFill>
                <a:latin typeface="Calibri"/>
              </a:rPr>
              <a:t>expected to lose</a:t>
            </a:r>
          </a:p>
        </p:txBody>
      </p:sp>
      <p:pic>
        <p:nvPicPr>
          <p:cNvPr id="33" name="Picture 32" descr="lock.png"/>
          <p:cNvPicPr>
            <a:picLocks noChangeAspect="1"/>
          </p:cNvPicPr>
          <p:nvPr/>
        </p:nvPicPr>
        <p:blipFill>
          <a:blip r:embed="rId4"/>
          <a:stretch>
            <a:fillRect/>
          </a:stretch>
        </p:blipFill>
        <p:spPr>
          <a:xfrm>
            <a:off x="1280285" y="3558984"/>
            <a:ext cx="134549" cy="195707"/>
          </a:xfrm>
          <a:prstGeom prst="rect">
            <a:avLst/>
          </a:prstGeom>
        </p:spPr>
      </p:pic>
      <p:sp>
        <p:nvSpPr>
          <p:cNvPr id="34" name="TextBox 33"/>
          <p:cNvSpPr txBox="1"/>
          <p:nvPr/>
        </p:nvSpPr>
        <p:spPr>
          <a:xfrm>
            <a:off x="1455394" y="3569207"/>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4042898" y="3558984"/>
            <a:ext cx="134549" cy="195707"/>
          </a:xfrm>
          <a:prstGeom prst="rect">
            <a:avLst/>
          </a:prstGeom>
        </p:spPr>
      </p:pic>
      <p:sp>
        <p:nvSpPr>
          <p:cNvPr id="36" name="TextBox 35"/>
          <p:cNvSpPr txBox="1"/>
          <p:nvPr/>
        </p:nvSpPr>
        <p:spPr>
          <a:xfrm>
            <a:off x="4218008" y="356920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Patient Age Group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Patient Age Group,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Patient Age Group (US$ Mn)</a:t>
            </a:r>
          </a:p>
        </p:txBody>
      </p:sp>
      <p:graphicFrame>
        <p:nvGraphicFramePr>
          <p:cNvPr id="13" name="Table 12"/>
          <p:cNvGraphicFramePr>
            <a:graphicFrameLocks noGrp="1"/>
          </p:cNvGraphicFramePr>
          <p:nvPr/>
        </p:nvGraphicFramePr>
        <p:xfrm>
          <a:off x="152400" y="1238250"/>
          <a:ext cx="11887195" cy="990600"/>
        </p:xfrm>
        <a:graphic>
          <a:graphicData uri="http://schemas.openxmlformats.org/drawingml/2006/table">
            <a:tbl>
              <a:tblPr>
                <a:tableStyleId>{5C22544A-7EE6-4342-B048-85BDC9FD1C3A}</a:tableStyleId>
              </a:tblPr>
              <a:tblGrid>
                <a:gridCol w="1355202"/>
                <a:gridCol w="619529"/>
                <a:gridCol w="619529"/>
                <a:gridCol w="619529"/>
                <a:gridCol w="619529"/>
                <a:gridCol w="619529"/>
                <a:gridCol w="619529"/>
                <a:gridCol w="619529"/>
                <a:gridCol w="619529"/>
                <a:gridCol w="619529"/>
                <a:gridCol w="619529"/>
                <a:gridCol w="619529"/>
                <a:gridCol w="619529"/>
                <a:gridCol w="619529"/>
                <a:gridCol w="619529"/>
                <a:gridCol w="619529"/>
                <a:gridCol w="619529"/>
                <a:gridCol w="619529"/>
              </a:tblGrid>
              <a:tr h="246126">
                <a:tc>
                  <a:txBody>
                    <a:bodyPr wrap="none"/>
                    <a:lstStyle/>
                    <a:p>
                      <a:pPr algn="l"/>
                      <a:r>
                        <a:rPr sz="1100" b="1">
                          <a:solidFill>
                            <a:srgbClr val="0B2E4A"/>
                          </a:solidFill>
                          <a:latin typeface="Calibri"/>
                        </a:rPr>
                        <a:t>Patient Age Group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Adults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Geriatric Patients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6574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Patient Age Group</a:t>
            </a:r>
          </a:p>
        </p:txBody>
      </p:sp>
      <p:sp>
        <p:nvSpPr>
          <p:cNvPr id="17" name="Rectangle 16"/>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2981325"/>
            <a:ext cx="1163955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86908" y="1589913"/>
            <a:ext cx="366712" cy="533400"/>
          </a:xfrm>
          <a:prstGeom prst="rect">
            <a:avLst/>
          </a:prstGeom>
        </p:spPr>
      </p:pic>
      <p:sp>
        <p:nvSpPr>
          <p:cNvPr id="21" name="TextBox 20"/>
          <p:cNvSpPr txBox="1"/>
          <p:nvPr/>
        </p:nvSpPr>
        <p:spPr>
          <a:xfrm>
            <a:off x="276225" y="2990850"/>
            <a:ext cx="3034568" cy="194310"/>
          </a:xfrm>
          <a:prstGeom prst="rect">
            <a:avLst/>
          </a:prstGeom>
          <a:noFill/>
        </p:spPr>
        <p:txBody>
          <a:bodyPr wrap="none" lIns="0" rIns="0" tIns="0" bIns="0">
            <a:spAutoFit/>
          </a:bodyPr>
          <a:lstStyle/>
          <a:p>
            <a:r>
              <a:rPr sz="1150" b="0">
                <a:solidFill>
                  <a:srgbClr val="2E2E2E"/>
                </a:solidFill>
                <a:latin typeface="Calibri"/>
              </a:rPr>
              <a:t>Geriatric patients segment is projected to register</a:t>
            </a:r>
          </a:p>
        </p:txBody>
      </p:sp>
      <p:pic>
        <p:nvPicPr>
          <p:cNvPr id="22" name="Picture 21" descr="lock.png"/>
          <p:cNvPicPr>
            <a:picLocks noChangeAspect="1"/>
          </p:cNvPicPr>
          <p:nvPr/>
        </p:nvPicPr>
        <p:blipFill>
          <a:blip r:embed="rId4"/>
          <a:stretch>
            <a:fillRect/>
          </a:stretch>
        </p:blipFill>
        <p:spPr>
          <a:xfrm>
            <a:off x="3259947" y="2980626"/>
            <a:ext cx="134549" cy="195707"/>
          </a:xfrm>
          <a:prstGeom prst="rect">
            <a:avLst/>
          </a:prstGeom>
        </p:spPr>
      </p:pic>
      <p:sp>
        <p:nvSpPr>
          <p:cNvPr id="23" name="TextBox 22"/>
          <p:cNvSpPr txBox="1"/>
          <p:nvPr/>
        </p:nvSpPr>
        <p:spPr>
          <a:xfrm>
            <a:off x="3435056" y="2990850"/>
            <a:ext cx="8378514" cy="194310"/>
          </a:xfrm>
          <a:prstGeom prst="rect">
            <a:avLst/>
          </a:prstGeom>
          <a:noFill/>
        </p:spPr>
        <p:txBody>
          <a:bodyPr wrap="none" lIns="0" rIns="0" tIns="0" bIns="0">
            <a:spAutoFit/>
          </a:bodyPr>
          <a:lstStyle/>
          <a:p>
            <a:r>
              <a:rPr sz="1150" b="0">
                <a:solidFill>
                  <a:srgbClr val="2E2E2E"/>
                </a:solidFill>
                <a:latin typeface="Calibri"/>
              </a:rPr>
              <a:t>X higher value than adults segment in 2036. Among removable partial dentures by patient age group, geriatric patients segment is expected</a:t>
            </a:r>
          </a:p>
        </p:txBody>
      </p:sp>
      <p:sp>
        <p:nvSpPr>
          <p:cNvPr id="24" name="TextBox 23"/>
          <p:cNvSpPr txBox="1"/>
          <p:nvPr/>
        </p:nvSpPr>
        <p:spPr>
          <a:xfrm>
            <a:off x="276225" y="3166110"/>
            <a:ext cx="1906941" cy="194310"/>
          </a:xfrm>
          <a:prstGeom prst="rect">
            <a:avLst/>
          </a:prstGeom>
          <a:noFill/>
        </p:spPr>
        <p:txBody>
          <a:bodyPr wrap="none" lIns="0" rIns="0" tIns="0" bIns="0">
            <a:spAutoFit/>
          </a:bodyPr>
          <a:lstStyle/>
          <a:p>
            <a:r>
              <a:rPr sz="1150" b="0">
                <a:solidFill>
                  <a:srgbClr val="2E2E2E"/>
                </a:solidFill>
                <a:latin typeface="Calibri"/>
              </a:rPr>
              <a:t>to witness the highest CAGR of</a:t>
            </a:r>
          </a:p>
        </p:txBody>
      </p:sp>
      <p:pic>
        <p:nvPicPr>
          <p:cNvPr id="25" name="Picture 24" descr="lock.png"/>
          <p:cNvPicPr>
            <a:picLocks noChangeAspect="1"/>
          </p:cNvPicPr>
          <p:nvPr/>
        </p:nvPicPr>
        <p:blipFill>
          <a:blip r:embed="rId4"/>
          <a:stretch>
            <a:fillRect/>
          </a:stretch>
        </p:blipFill>
        <p:spPr>
          <a:xfrm>
            <a:off x="2132320" y="3155886"/>
            <a:ext cx="134549" cy="195707"/>
          </a:xfrm>
          <a:prstGeom prst="rect">
            <a:avLst/>
          </a:prstGeom>
        </p:spPr>
      </p:pic>
      <p:sp>
        <p:nvSpPr>
          <p:cNvPr id="26" name="TextBox 25"/>
          <p:cNvSpPr txBox="1"/>
          <p:nvPr/>
        </p:nvSpPr>
        <p:spPr>
          <a:xfrm>
            <a:off x="2307429" y="31661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7" name="TextBox 26"/>
          <p:cNvSpPr txBox="1"/>
          <p:nvPr/>
        </p:nvSpPr>
        <p:spPr>
          <a:xfrm>
            <a:off x="276225" y="3393947"/>
            <a:ext cx="7215249" cy="194310"/>
          </a:xfrm>
          <a:prstGeom prst="rect">
            <a:avLst/>
          </a:prstGeom>
          <a:noFill/>
        </p:spPr>
        <p:txBody>
          <a:bodyPr wrap="none" lIns="0" rIns="0" tIns="0" bIns="0">
            <a:spAutoFit/>
          </a:bodyPr>
          <a:lstStyle/>
          <a:p>
            <a:r>
              <a:rPr sz="1150" b="0">
                <a:solidFill>
                  <a:srgbClr val="2E2E2E"/>
                </a:solidFill>
                <a:latin typeface="Calibri"/>
              </a:rPr>
              <a:t>In terms of value share by patient age group, the geriatric patients segment is expected to dominate the market, gaining</a:t>
            </a:r>
          </a:p>
        </p:txBody>
      </p:sp>
      <p:pic>
        <p:nvPicPr>
          <p:cNvPr id="28" name="Picture 27" descr="lock.png"/>
          <p:cNvPicPr>
            <a:picLocks noChangeAspect="1"/>
          </p:cNvPicPr>
          <p:nvPr/>
        </p:nvPicPr>
        <p:blipFill>
          <a:blip r:embed="rId4"/>
          <a:stretch>
            <a:fillRect/>
          </a:stretch>
        </p:blipFill>
        <p:spPr>
          <a:xfrm>
            <a:off x="7440628" y="3383724"/>
            <a:ext cx="134549" cy="195707"/>
          </a:xfrm>
          <a:prstGeom prst="rect">
            <a:avLst/>
          </a:prstGeom>
        </p:spPr>
      </p:pic>
      <p:sp>
        <p:nvSpPr>
          <p:cNvPr id="29" name="TextBox 28"/>
          <p:cNvSpPr txBox="1"/>
          <p:nvPr/>
        </p:nvSpPr>
        <p:spPr>
          <a:xfrm>
            <a:off x="7615737" y="33939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0" name="Picture 29" descr="lock.png"/>
          <p:cNvPicPr>
            <a:picLocks noChangeAspect="1"/>
          </p:cNvPicPr>
          <p:nvPr/>
        </p:nvPicPr>
        <p:blipFill>
          <a:blip r:embed="rId4"/>
          <a:stretch>
            <a:fillRect/>
          </a:stretch>
        </p:blipFill>
        <p:spPr>
          <a:xfrm>
            <a:off x="9010880" y="3383724"/>
            <a:ext cx="134549" cy="195707"/>
          </a:xfrm>
          <a:prstGeom prst="rect">
            <a:avLst/>
          </a:prstGeom>
        </p:spPr>
      </p:pic>
      <p:sp>
        <p:nvSpPr>
          <p:cNvPr id="31" name="TextBox 30"/>
          <p:cNvSpPr txBox="1"/>
          <p:nvPr/>
        </p:nvSpPr>
        <p:spPr>
          <a:xfrm>
            <a:off x="9185990" y="3393947"/>
            <a:ext cx="2266949" cy="194310"/>
          </a:xfrm>
          <a:prstGeom prst="rect">
            <a:avLst/>
          </a:prstGeom>
          <a:noFill/>
        </p:spPr>
        <p:txBody>
          <a:bodyPr wrap="none" lIns="0" rIns="0" tIns="0" bIns="0">
            <a:spAutoFit/>
          </a:bodyPr>
          <a:lstStyle/>
          <a:p>
            <a:r>
              <a:rPr sz="1150" b="0">
                <a:solidFill>
                  <a:srgbClr val="2E2E2E"/>
                </a:solidFill>
                <a:latin typeface="Calibri"/>
              </a:rPr>
              <a:t>share by 2036. The adults segment is</a:t>
            </a:r>
          </a:p>
        </p:txBody>
      </p:sp>
      <p:sp>
        <p:nvSpPr>
          <p:cNvPr id="32" name="TextBox 31"/>
          <p:cNvSpPr txBox="1"/>
          <p:nvPr/>
        </p:nvSpPr>
        <p:spPr>
          <a:xfrm>
            <a:off x="276225" y="3569207"/>
            <a:ext cx="1054906" cy="194310"/>
          </a:xfrm>
          <a:prstGeom prst="rect">
            <a:avLst/>
          </a:prstGeom>
          <a:noFill/>
        </p:spPr>
        <p:txBody>
          <a:bodyPr wrap="none" lIns="0" rIns="0" tIns="0" bIns="0">
            <a:spAutoFit/>
          </a:bodyPr>
          <a:lstStyle/>
          <a:p>
            <a:r>
              <a:rPr sz="1150" b="0">
                <a:solidFill>
                  <a:srgbClr val="2E2E2E"/>
                </a:solidFill>
                <a:latin typeface="Calibri"/>
              </a:rPr>
              <a:t>expected to lose</a:t>
            </a:r>
          </a:p>
        </p:txBody>
      </p:sp>
      <p:pic>
        <p:nvPicPr>
          <p:cNvPr id="33" name="Picture 32" descr="lock.png"/>
          <p:cNvPicPr>
            <a:picLocks noChangeAspect="1"/>
          </p:cNvPicPr>
          <p:nvPr/>
        </p:nvPicPr>
        <p:blipFill>
          <a:blip r:embed="rId4"/>
          <a:stretch>
            <a:fillRect/>
          </a:stretch>
        </p:blipFill>
        <p:spPr>
          <a:xfrm>
            <a:off x="1280285" y="3558984"/>
            <a:ext cx="134549" cy="195707"/>
          </a:xfrm>
          <a:prstGeom prst="rect">
            <a:avLst/>
          </a:prstGeom>
        </p:spPr>
      </p:pic>
      <p:sp>
        <p:nvSpPr>
          <p:cNvPr id="34" name="TextBox 33"/>
          <p:cNvSpPr txBox="1"/>
          <p:nvPr/>
        </p:nvSpPr>
        <p:spPr>
          <a:xfrm>
            <a:off x="1455394" y="3569207"/>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5" name="Picture 34" descr="lock.png"/>
          <p:cNvPicPr>
            <a:picLocks noChangeAspect="1"/>
          </p:cNvPicPr>
          <p:nvPr/>
        </p:nvPicPr>
        <p:blipFill>
          <a:blip r:embed="rId4"/>
          <a:stretch>
            <a:fillRect/>
          </a:stretch>
        </p:blipFill>
        <p:spPr>
          <a:xfrm>
            <a:off x="4042898" y="3558984"/>
            <a:ext cx="134549" cy="195707"/>
          </a:xfrm>
          <a:prstGeom prst="rect">
            <a:avLst/>
          </a:prstGeom>
        </p:spPr>
      </p:pic>
      <p:sp>
        <p:nvSpPr>
          <p:cNvPr id="36" name="TextBox 35"/>
          <p:cNvSpPr txBox="1"/>
          <p:nvPr/>
        </p:nvSpPr>
        <p:spPr>
          <a:xfrm>
            <a:off x="4218008" y="356920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Patient Age Group</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Patient Age Group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Patient Age Group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382993"/>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37823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230203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Adults</a:t>
            </a:r>
          </a:p>
        </p:txBody>
      </p:sp>
      <p:sp>
        <p:nvSpPr>
          <p:cNvPr id="19" name="BPS Value 1"/>
          <p:cNvSpPr txBox="1"/>
          <p:nvPr/>
        </p:nvSpPr>
        <p:spPr>
          <a:xfrm>
            <a:off x="6896100" y="2363943"/>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0" name="FMI Legend Chip"/>
          <p:cNvSpPr/>
          <p:nvPr/>
        </p:nvSpPr>
        <p:spPr>
          <a:xfrm>
            <a:off x="4928997" y="4669183"/>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466442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458822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Geriatric Patients</a:t>
            </a:r>
          </a:p>
        </p:txBody>
      </p:sp>
      <p:sp>
        <p:nvSpPr>
          <p:cNvPr id="23" name="BPS Value 2"/>
          <p:cNvSpPr txBox="1"/>
          <p:nvPr/>
        </p:nvSpPr>
        <p:spPr>
          <a:xfrm>
            <a:off x="6896100" y="4650133"/>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4" name="Rounded Rectangle 2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Patient Age Group</a:t>
            </a:r>
          </a:p>
        </p:txBody>
      </p:sp>
      <p:sp>
        <p:nvSpPr>
          <p:cNvPr id="26" name="Rectangle 2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8" name="TextBox 2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9" name="Picture 28" descr="lock.png"/>
          <p:cNvPicPr>
            <a:picLocks noChangeAspect="1"/>
          </p:cNvPicPr>
          <p:nvPr/>
        </p:nvPicPr>
        <p:blipFill>
          <a:blip r:embed="rId5"/>
          <a:stretch>
            <a:fillRect/>
          </a:stretch>
        </p:blipFill>
        <p:spPr>
          <a:xfrm>
            <a:off x="2557843" y="3833622"/>
            <a:ext cx="275034" cy="400050"/>
          </a:xfrm>
          <a:prstGeom prst="rect">
            <a:avLst/>
          </a:prstGeom>
        </p:spPr>
      </p:pic>
      <p:sp>
        <p:nvSpPr>
          <p:cNvPr id="30" name="TextBox 29"/>
          <p:cNvSpPr txBox="1"/>
          <p:nvPr/>
        </p:nvSpPr>
        <p:spPr>
          <a:xfrm>
            <a:off x="7829550" y="1400175"/>
            <a:ext cx="3978473" cy="194310"/>
          </a:xfrm>
          <a:prstGeom prst="rect">
            <a:avLst/>
          </a:prstGeom>
          <a:noFill/>
        </p:spPr>
        <p:txBody>
          <a:bodyPr wrap="none" lIns="0" rIns="0" tIns="0" bIns="0">
            <a:spAutoFit/>
          </a:bodyPr>
          <a:lstStyle/>
          <a:p>
            <a:r>
              <a:rPr sz="1150" b="0">
                <a:solidFill>
                  <a:srgbClr val="2E2E2E"/>
                </a:solidFill>
                <a:latin typeface="Calibri"/>
              </a:rPr>
              <a:t>Among removable partial dentures by patient age group, geriatric</a:t>
            </a:r>
          </a:p>
        </p:txBody>
      </p:sp>
      <p:sp>
        <p:nvSpPr>
          <p:cNvPr id="31" name="TextBox 30"/>
          <p:cNvSpPr txBox="1"/>
          <p:nvPr/>
        </p:nvSpPr>
        <p:spPr>
          <a:xfrm>
            <a:off x="7829550" y="1575435"/>
            <a:ext cx="3674660" cy="194310"/>
          </a:xfrm>
          <a:prstGeom prst="rect">
            <a:avLst/>
          </a:prstGeom>
          <a:noFill/>
        </p:spPr>
        <p:txBody>
          <a:bodyPr wrap="none" lIns="0" rIns="0" tIns="0" bIns="0">
            <a:spAutoFit/>
          </a:bodyPr>
          <a:lstStyle/>
          <a:p>
            <a:r>
              <a:rPr sz="1150" b="0">
                <a:solidFill>
                  <a:srgbClr val="2E2E2E"/>
                </a:solidFill>
                <a:latin typeface="Calibri"/>
              </a:rPr>
              <a:t>patients segment is expected to witness the highest CAGR of</a:t>
            </a:r>
          </a:p>
        </p:txBody>
      </p:sp>
      <p:pic>
        <p:nvPicPr>
          <p:cNvPr id="32" name="Picture 31" descr="lock.png"/>
          <p:cNvPicPr>
            <a:picLocks noChangeAspect="1"/>
          </p:cNvPicPr>
          <p:nvPr/>
        </p:nvPicPr>
        <p:blipFill>
          <a:blip r:embed="rId5"/>
          <a:stretch>
            <a:fillRect/>
          </a:stretch>
        </p:blipFill>
        <p:spPr>
          <a:xfrm>
            <a:off x="11453364" y="1565211"/>
            <a:ext cx="134549" cy="195707"/>
          </a:xfrm>
          <a:prstGeom prst="rect">
            <a:avLst/>
          </a:prstGeom>
        </p:spPr>
      </p:pic>
      <p:sp>
        <p:nvSpPr>
          <p:cNvPr id="33" name="TextBox 32"/>
          <p:cNvSpPr txBox="1"/>
          <p:nvPr/>
        </p:nvSpPr>
        <p:spPr>
          <a:xfrm>
            <a:off x="7829550" y="1750695"/>
            <a:ext cx="3823580" cy="194310"/>
          </a:xfrm>
          <a:prstGeom prst="rect">
            <a:avLst/>
          </a:prstGeom>
          <a:noFill/>
        </p:spPr>
        <p:txBody>
          <a:bodyPr wrap="none" lIns="0" rIns="0" tIns="0" bIns="0">
            <a:spAutoFit/>
          </a:bodyPr>
          <a:lstStyle/>
          <a:p>
            <a:r>
              <a:rPr sz="1150" b="0">
                <a:solidFill>
                  <a:srgbClr val="2E2E2E"/>
                </a:solidFill>
                <a:latin typeface="Calibri"/>
              </a:rPr>
              <a:t>over the forecast period. In terms of value share by patient age</a:t>
            </a:r>
          </a:p>
        </p:txBody>
      </p:sp>
      <p:sp>
        <p:nvSpPr>
          <p:cNvPr id="34" name="TextBox 33"/>
          <p:cNvSpPr txBox="1"/>
          <p:nvPr/>
        </p:nvSpPr>
        <p:spPr>
          <a:xfrm>
            <a:off x="7829550" y="1925955"/>
            <a:ext cx="3983608" cy="194310"/>
          </a:xfrm>
          <a:prstGeom prst="rect">
            <a:avLst/>
          </a:prstGeom>
          <a:noFill/>
        </p:spPr>
        <p:txBody>
          <a:bodyPr wrap="none" lIns="0" rIns="0" tIns="0" bIns="0">
            <a:spAutoFit/>
          </a:bodyPr>
          <a:lstStyle/>
          <a:p>
            <a:r>
              <a:rPr sz="1150" b="0">
                <a:solidFill>
                  <a:srgbClr val="2E2E2E"/>
                </a:solidFill>
                <a:latin typeface="Calibri"/>
              </a:rPr>
              <a:t>group, the geriatric patients segment is expected to dominate the</a:t>
            </a:r>
          </a:p>
        </p:txBody>
      </p:sp>
      <p:sp>
        <p:nvSpPr>
          <p:cNvPr id="35" name="TextBox 34"/>
          <p:cNvSpPr txBox="1"/>
          <p:nvPr/>
        </p:nvSpPr>
        <p:spPr>
          <a:xfrm>
            <a:off x="7829550" y="2101215"/>
            <a:ext cx="999852" cy="194310"/>
          </a:xfrm>
          <a:prstGeom prst="rect">
            <a:avLst/>
          </a:prstGeom>
          <a:noFill/>
        </p:spPr>
        <p:txBody>
          <a:bodyPr wrap="none" lIns="0" rIns="0" tIns="0" bIns="0">
            <a:spAutoFit/>
          </a:bodyPr>
          <a:lstStyle/>
          <a:p>
            <a:r>
              <a:rPr sz="1150" b="0">
                <a:solidFill>
                  <a:srgbClr val="2E2E2E"/>
                </a:solidFill>
                <a:latin typeface="Calibri"/>
              </a:rPr>
              <a:t>market, gaining</a:t>
            </a:r>
          </a:p>
        </p:txBody>
      </p:sp>
      <p:pic>
        <p:nvPicPr>
          <p:cNvPr id="36" name="Picture 35" descr="lock.png"/>
          <p:cNvPicPr>
            <a:picLocks noChangeAspect="1"/>
          </p:cNvPicPr>
          <p:nvPr/>
        </p:nvPicPr>
        <p:blipFill>
          <a:blip r:embed="rId5"/>
          <a:stretch>
            <a:fillRect/>
          </a:stretch>
        </p:blipFill>
        <p:spPr>
          <a:xfrm>
            <a:off x="8778556" y="2090991"/>
            <a:ext cx="134549" cy="195707"/>
          </a:xfrm>
          <a:prstGeom prst="rect">
            <a:avLst/>
          </a:prstGeom>
        </p:spPr>
      </p:pic>
      <p:sp>
        <p:nvSpPr>
          <p:cNvPr id="37" name="TextBox 36"/>
          <p:cNvSpPr txBox="1"/>
          <p:nvPr/>
        </p:nvSpPr>
        <p:spPr>
          <a:xfrm>
            <a:off x="8953665" y="2101215"/>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8" name="Picture 37" descr="lock.png"/>
          <p:cNvPicPr>
            <a:picLocks noChangeAspect="1"/>
          </p:cNvPicPr>
          <p:nvPr/>
        </p:nvPicPr>
        <p:blipFill>
          <a:blip r:embed="rId5"/>
          <a:stretch>
            <a:fillRect/>
          </a:stretch>
        </p:blipFill>
        <p:spPr>
          <a:xfrm>
            <a:off x="10348808" y="2090991"/>
            <a:ext cx="134549" cy="195707"/>
          </a:xfrm>
          <a:prstGeom prst="rect">
            <a:avLst/>
          </a:prstGeom>
        </p:spPr>
      </p:pic>
      <p:sp>
        <p:nvSpPr>
          <p:cNvPr id="39" name="TextBox 38"/>
          <p:cNvSpPr txBox="1"/>
          <p:nvPr/>
        </p:nvSpPr>
        <p:spPr>
          <a:xfrm>
            <a:off x="10523917" y="2101215"/>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0" name="TextBox 39"/>
          <p:cNvSpPr txBox="1"/>
          <p:nvPr/>
        </p:nvSpPr>
        <p:spPr>
          <a:xfrm>
            <a:off x="7829550" y="2329053"/>
            <a:ext cx="2375631" cy="194310"/>
          </a:xfrm>
          <a:prstGeom prst="rect">
            <a:avLst/>
          </a:prstGeom>
          <a:noFill/>
        </p:spPr>
        <p:txBody>
          <a:bodyPr wrap="none" lIns="0" rIns="0" tIns="0" bIns="0">
            <a:spAutoFit/>
          </a:bodyPr>
          <a:lstStyle/>
          <a:p>
            <a:r>
              <a:rPr sz="1150" b="0">
                <a:solidFill>
                  <a:srgbClr val="2E2E2E"/>
                </a:solidFill>
                <a:latin typeface="Calibri"/>
              </a:rPr>
              <a:t>The adults segment is expected to lose</a:t>
            </a:r>
          </a:p>
        </p:txBody>
      </p:sp>
      <p:pic>
        <p:nvPicPr>
          <p:cNvPr id="41" name="Picture 40" descr="lock.png"/>
          <p:cNvPicPr>
            <a:picLocks noChangeAspect="1"/>
          </p:cNvPicPr>
          <p:nvPr/>
        </p:nvPicPr>
        <p:blipFill>
          <a:blip r:embed="rId5"/>
          <a:stretch>
            <a:fillRect/>
          </a:stretch>
        </p:blipFill>
        <p:spPr>
          <a:xfrm>
            <a:off x="10154335" y="2318829"/>
            <a:ext cx="134549" cy="195707"/>
          </a:xfrm>
          <a:prstGeom prst="rect">
            <a:avLst/>
          </a:prstGeom>
        </p:spPr>
      </p:pic>
      <p:sp>
        <p:nvSpPr>
          <p:cNvPr id="42" name="TextBox 41"/>
          <p:cNvSpPr txBox="1"/>
          <p:nvPr/>
        </p:nvSpPr>
        <p:spPr>
          <a:xfrm>
            <a:off x="10329444" y="2329053"/>
            <a:ext cx="1346150" cy="194310"/>
          </a:xfrm>
          <a:prstGeom prst="rect">
            <a:avLst/>
          </a:prstGeom>
          <a:noFill/>
        </p:spPr>
        <p:txBody>
          <a:bodyPr wrap="none" lIns="0" rIns="0" tIns="0" bIns="0">
            <a:spAutoFit/>
          </a:bodyPr>
          <a:lstStyle/>
          <a:p>
            <a:r>
              <a:rPr sz="1150" b="0">
                <a:solidFill>
                  <a:srgbClr val="2E2E2E"/>
                </a:solidFill>
                <a:latin typeface="Calibri"/>
              </a:rPr>
              <a:t>BPS over the forecast</a:t>
            </a:r>
          </a:p>
        </p:txBody>
      </p:sp>
      <p:sp>
        <p:nvSpPr>
          <p:cNvPr id="43" name="TextBox 42"/>
          <p:cNvSpPr txBox="1"/>
          <p:nvPr/>
        </p:nvSpPr>
        <p:spPr>
          <a:xfrm>
            <a:off x="7829550" y="2504313"/>
            <a:ext cx="1335310" cy="194310"/>
          </a:xfrm>
          <a:prstGeom prst="rect">
            <a:avLst/>
          </a:prstGeom>
          <a:noFill/>
        </p:spPr>
        <p:txBody>
          <a:bodyPr wrap="none" lIns="0" rIns="0" tIns="0" bIns="0">
            <a:spAutoFit/>
          </a:bodyPr>
          <a:lstStyle/>
          <a:p>
            <a:r>
              <a:rPr sz="1150" b="0">
                <a:solidFill>
                  <a:srgbClr val="2E2E2E"/>
                </a:solidFill>
                <a:latin typeface="Calibri"/>
              </a:rPr>
              <a:t>period to account for</a:t>
            </a:r>
          </a:p>
        </p:txBody>
      </p:sp>
      <p:pic>
        <p:nvPicPr>
          <p:cNvPr id="44" name="Picture 43" descr="lock.png"/>
          <p:cNvPicPr>
            <a:picLocks noChangeAspect="1"/>
          </p:cNvPicPr>
          <p:nvPr/>
        </p:nvPicPr>
        <p:blipFill>
          <a:blip r:embed="rId5"/>
          <a:stretch>
            <a:fillRect/>
          </a:stretch>
        </p:blipFill>
        <p:spPr>
          <a:xfrm>
            <a:off x="9114014" y="2494089"/>
            <a:ext cx="134549" cy="195707"/>
          </a:xfrm>
          <a:prstGeom prst="rect">
            <a:avLst/>
          </a:prstGeom>
        </p:spPr>
      </p:pic>
      <p:sp>
        <p:nvSpPr>
          <p:cNvPr id="45" name="TextBox 44"/>
          <p:cNvSpPr txBox="1"/>
          <p:nvPr/>
        </p:nvSpPr>
        <p:spPr>
          <a:xfrm>
            <a:off x="9289123" y="250431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6" name="lockshield_13"/>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Volume, By Patient Age Group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Patient Age Group,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Growth, By Patient Age Group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742948"/>
        </p:xfrm>
        <a:graphic>
          <a:graphicData uri="http://schemas.openxmlformats.org/drawingml/2006/table">
            <a:tbl>
              <a:tblPr>
                <a:tableStyleId>{5C22544A-7EE6-4342-B048-85BDC9FD1C3A}</a:tableStyleId>
              </a:tblPr>
              <a:tblGrid>
                <a:gridCol w="1485619"/>
                <a:gridCol w="693439"/>
                <a:gridCol w="693439"/>
                <a:gridCol w="693439"/>
                <a:gridCol w="693439"/>
                <a:gridCol w="693439"/>
                <a:gridCol w="693439"/>
                <a:gridCol w="693439"/>
                <a:gridCol w="693439"/>
                <a:gridCol w="693439"/>
                <a:gridCol w="693439"/>
                <a:gridCol w="693439"/>
                <a:gridCol w="693439"/>
                <a:gridCol w="693439"/>
                <a:gridCol w="693439"/>
                <a:gridCol w="693439"/>
              </a:tblGrid>
              <a:tr h="246126">
                <a:tc>
                  <a:txBody>
                    <a:bodyPr wrap="none"/>
                    <a:lstStyle/>
                    <a:p>
                      <a:pPr algn="l"/>
                      <a:r>
                        <a:rPr sz="1100" b="1">
                          <a:solidFill>
                            <a:srgbClr val="0B2E4A"/>
                          </a:solidFill>
                          <a:latin typeface="Calibri"/>
                        </a:rPr>
                        <a:t>Patient Age Group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Adults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Geriatric Patients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YoY Heatmap, By Patient Age Group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Adults</a:t>
            </a:r>
          </a:p>
        </p:txBody>
      </p:sp>
      <p:sp>
        <p:nvSpPr>
          <p:cNvPr id="33" name="Rectangle 32"/>
          <p:cNvSpPr/>
          <p:nvPr/>
        </p:nvSpPr>
        <p:spPr>
          <a:xfrm>
            <a:off x="185737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56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Geriatric Patients</a:t>
            </a:r>
          </a:p>
        </p:txBody>
      </p:sp>
      <p:sp>
        <p:nvSpPr>
          <p:cNvPr id="49" name="Rectangle 48"/>
          <p:cNvSpPr/>
          <p:nvPr/>
        </p:nvSpPr>
        <p:spPr>
          <a:xfrm>
            <a:off x="1857375" y="4662488"/>
            <a:ext cx="643890" cy="1909762"/>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0B365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0C3E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670790" y="1482090"/>
            <a:ext cx="330041" cy="480060"/>
          </a:xfrm>
          <a:prstGeom prst="rect">
            <a:avLst/>
          </a:prstGeom>
        </p:spPr>
      </p:pic>
    </p:spTree>
  </p:cSld>
  <p:clrMapOvr>
    <a:masterClrMapping/>
  </p:clrMapOvr>
</p:sld>
</file>

<file path=ppt/slides/slide1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North America Market Value, By Patient Age Group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Patient Age Group,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Growth, By Patient Age Group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742948"/>
        </p:xfrm>
        <a:graphic>
          <a:graphicData uri="http://schemas.openxmlformats.org/drawingml/2006/table">
            <a:tbl>
              <a:tblPr>
                <a:tableStyleId>{5C22544A-7EE6-4342-B048-85BDC9FD1C3A}</a:tableStyleId>
              </a:tblPr>
              <a:tblGrid>
                <a:gridCol w="1485619"/>
                <a:gridCol w="693439"/>
                <a:gridCol w="693439"/>
                <a:gridCol w="693439"/>
                <a:gridCol w="693439"/>
                <a:gridCol w="693439"/>
                <a:gridCol w="693439"/>
                <a:gridCol w="693439"/>
                <a:gridCol w="693439"/>
                <a:gridCol w="693439"/>
                <a:gridCol w="693439"/>
                <a:gridCol w="693439"/>
                <a:gridCol w="693439"/>
                <a:gridCol w="693439"/>
                <a:gridCol w="693439"/>
                <a:gridCol w="693439"/>
              </a:tblGrid>
              <a:tr h="246126">
                <a:tc>
                  <a:txBody>
                    <a:bodyPr wrap="none"/>
                    <a:lstStyle/>
                    <a:p>
                      <a:pPr algn="l"/>
                      <a:r>
                        <a:rPr sz="1100" b="1">
                          <a:solidFill>
                            <a:srgbClr val="0B2E4A"/>
                          </a:solidFill>
                          <a:latin typeface="Calibri"/>
                        </a:rPr>
                        <a:t>Patient Age Group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Adults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Geriatric Patients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4305300"/>
          </a:xfrm>
          <a:prstGeom prst="roundRect">
            <a:avLst>
              <a:gd name="adj" fmla="val 17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YoY Heatmap, By Patient Age Group (%)  ·  light = lower, dark = higher growth</a:t>
            </a:r>
          </a:p>
        </p:txBody>
      </p:sp>
      <p:sp>
        <p:nvSpPr>
          <p:cNvPr id="17" name="TextBox 16"/>
          <p:cNvSpPr txBox="1"/>
          <p:nvPr/>
        </p:nvSpPr>
        <p:spPr>
          <a:xfrm>
            <a:off x="18573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60985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2752725"/>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Adults</a:t>
            </a:r>
          </a:p>
        </p:txBody>
      </p:sp>
      <p:sp>
        <p:nvSpPr>
          <p:cNvPr id="33" name="Rectangle 32"/>
          <p:cNvSpPr/>
          <p:nvPr/>
        </p:nvSpPr>
        <p:spPr>
          <a:xfrm>
            <a:off x="1857375" y="2752725"/>
            <a:ext cx="643890" cy="190976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2752725"/>
            <a:ext cx="643890" cy="1909762"/>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2752725"/>
            <a:ext cx="643890" cy="1909762"/>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2752725"/>
            <a:ext cx="643890" cy="1909762"/>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2752725"/>
            <a:ext cx="643890" cy="1909762"/>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2752725"/>
            <a:ext cx="643890" cy="1909762"/>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2752725"/>
            <a:ext cx="643890" cy="1909762"/>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2752725"/>
            <a:ext cx="643890" cy="1909762"/>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2752725"/>
            <a:ext cx="643890" cy="1909762"/>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2752725"/>
            <a:ext cx="643890" cy="1909762"/>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2752725"/>
            <a:ext cx="643890" cy="1909762"/>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2752725"/>
            <a:ext cx="643890" cy="1909762"/>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2752725"/>
            <a:ext cx="643890" cy="1909762"/>
          </a:xfrm>
          <a:prstGeom prst="rect">
            <a:avLst/>
          </a:prstGeom>
          <a:solidFill>
            <a:srgbClr val="61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2752725"/>
            <a:ext cx="643890" cy="1909762"/>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2752725"/>
            <a:ext cx="643890" cy="1909762"/>
          </a:xfrm>
          <a:prstGeom prst="rect">
            <a:avLst/>
          </a:prstGeom>
          <a:solidFill>
            <a:srgbClr val="76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662488"/>
            <a:ext cx="1590675" cy="1909762"/>
          </a:xfrm>
          <a:prstGeom prst="rect">
            <a:avLst/>
          </a:prstGeom>
          <a:noFill/>
        </p:spPr>
        <p:txBody>
          <a:bodyPr wrap="square" lIns="28575" rIns="28575" tIns="9525" bIns="9525" anchor="ctr">
            <a:spAutoFit/>
          </a:bodyPr>
          <a:lstStyle/>
          <a:p>
            <a:pPr algn="l"/>
            <a:r>
              <a:rPr sz="1100" b="0">
                <a:solidFill>
                  <a:srgbClr val="2E2E2E"/>
                </a:solidFill>
                <a:latin typeface="Calibri"/>
              </a:rPr>
              <a:t>Geriatric Patients</a:t>
            </a:r>
          </a:p>
        </p:txBody>
      </p:sp>
      <p:sp>
        <p:nvSpPr>
          <p:cNvPr id="49" name="Rectangle 48"/>
          <p:cNvSpPr/>
          <p:nvPr/>
        </p:nvSpPr>
        <p:spPr>
          <a:xfrm>
            <a:off x="1857375" y="4662488"/>
            <a:ext cx="643890" cy="1909762"/>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662488"/>
            <a:ext cx="643890" cy="1909762"/>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662488"/>
            <a:ext cx="643890" cy="1909762"/>
          </a:xfrm>
          <a:prstGeom prst="rect">
            <a:avLst/>
          </a:prstGeom>
          <a:solidFill>
            <a:srgbClr val="6D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662488"/>
            <a:ext cx="643890" cy="1909762"/>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662488"/>
            <a:ext cx="643890" cy="1909762"/>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662488"/>
            <a:ext cx="643890" cy="190976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662488"/>
            <a:ext cx="643890" cy="1909762"/>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662488"/>
            <a:ext cx="643890" cy="1909762"/>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662488"/>
            <a:ext cx="643890" cy="1909762"/>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662488"/>
            <a:ext cx="643890" cy="1909762"/>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662488"/>
            <a:ext cx="643890" cy="1909762"/>
          </a:xfrm>
          <a:prstGeom prst="rect">
            <a:avLst/>
          </a:prstGeom>
          <a:solidFill>
            <a:srgbClr val="0C3C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662488"/>
            <a:ext cx="643890" cy="1909762"/>
          </a:xfrm>
          <a:prstGeom prst="rect">
            <a:avLst/>
          </a:prstGeom>
          <a:solidFill>
            <a:srgbClr val="0C3E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662488"/>
            <a:ext cx="643890" cy="1909762"/>
          </a:xfrm>
          <a:prstGeom prst="rect">
            <a:avLst/>
          </a:prstGeom>
          <a:solidFill>
            <a:srgbClr val="0C40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662488"/>
            <a:ext cx="643890" cy="1909762"/>
          </a:xfrm>
          <a:prstGeom prst="rect">
            <a:avLst/>
          </a:prstGeom>
          <a:solidFill>
            <a:srgbClr val="0C43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662488"/>
            <a:ext cx="643890" cy="1909762"/>
          </a:xfrm>
          <a:prstGeom prst="rect">
            <a:avLst/>
          </a:prstGeom>
          <a:solidFill>
            <a:srgbClr val="0C44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1572875" y="2790825"/>
            <a:ext cx="104775" cy="101203"/>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1572875" y="2884408"/>
            <a:ext cx="104775" cy="101203"/>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1572875" y="2977991"/>
            <a:ext cx="104775" cy="101203"/>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1572875" y="3071574"/>
            <a:ext cx="104775" cy="101203"/>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1572875" y="3165158"/>
            <a:ext cx="104775" cy="101203"/>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1572875" y="3258741"/>
            <a:ext cx="104775" cy="101203"/>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11572875" y="3352324"/>
            <a:ext cx="104775" cy="101203"/>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1572875" y="3445907"/>
            <a:ext cx="104775" cy="101203"/>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11572875" y="3539490"/>
            <a:ext cx="104775" cy="101203"/>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1572875" y="3633073"/>
            <a:ext cx="104775" cy="101203"/>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1572875" y="3726656"/>
            <a:ext cx="104775" cy="101203"/>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1572875" y="3820239"/>
            <a:ext cx="104775" cy="101203"/>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1572875" y="3913822"/>
            <a:ext cx="104775" cy="101203"/>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1572875" y="4007406"/>
            <a:ext cx="104775" cy="101203"/>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1572875" y="4100989"/>
            <a:ext cx="104775" cy="101203"/>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1572875" y="4194572"/>
            <a:ext cx="104775" cy="101203"/>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1572875" y="4288155"/>
            <a:ext cx="104775" cy="101203"/>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1572875" y="4381738"/>
            <a:ext cx="104775" cy="101203"/>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1572875" y="4475321"/>
            <a:ext cx="104775" cy="101203"/>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1572875" y="4568904"/>
            <a:ext cx="104775" cy="101203"/>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1572875" y="4662488"/>
            <a:ext cx="104775" cy="101203"/>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11572875" y="4756071"/>
            <a:ext cx="104775" cy="101203"/>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11572875" y="4849654"/>
            <a:ext cx="104775" cy="101203"/>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11572875" y="4943237"/>
            <a:ext cx="104775" cy="101203"/>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11572875" y="5036820"/>
            <a:ext cx="104775" cy="101203"/>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1572875" y="5130403"/>
            <a:ext cx="104775" cy="101203"/>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1572875" y="5223986"/>
            <a:ext cx="104775" cy="101203"/>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1572875" y="5317569"/>
            <a:ext cx="104775" cy="101203"/>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11572875" y="5411152"/>
            <a:ext cx="104775" cy="101203"/>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11572875" y="5504736"/>
            <a:ext cx="104775" cy="101203"/>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1572875" y="5598319"/>
            <a:ext cx="104775" cy="101203"/>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1572875" y="5691902"/>
            <a:ext cx="104775" cy="101203"/>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5785485"/>
            <a:ext cx="104775" cy="101203"/>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5879068"/>
            <a:ext cx="104775" cy="101203"/>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5972651"/>
            <a:ext cx="104775" cy="101203"/>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6066234"/>
            <a:ext cx="104775" cy="101203"/>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6159818"/>
            <a:ext cx="104775" cy="101203"/>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6253401"/>
            <a:ext cx="104775" cy="101203"/>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6346984"/>
            <a:ext cx="104775" cy="101203"/>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6440567"/>
            <a:ext cx="104775" cy="101203"/>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2790825"/>
            <a:ext cx="104775" cy="374332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11687175" y="2724150"/>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06" name="TextBox 105"/>
          <p:cNvSpPr txBox="1"/>
          <p:nvPr/>
        </p:nvSpPr>
        <p:spPr>
          <a:xfrm>
            <a:off x="11687175" y="4595812"/>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07" name="TextBox 106"/>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108" name="TextBox 10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09" name="Picture 108" descr="lock.png"/>
          <p:cNvPicPr>
            <a:picLocks noChangeAspect="1"/>
          </p:cNvPicPr>
          <p:nvPr/>
        </p:nvPicPr>
        <p:blipFill>
          <a:blip r:embed="rId4"/>
          <a:stretch>
            <a:fillRect/>
          </a:stretch>
        </p:blipFill>
        <p:spPr>
          <a:xfrm>
            <a:off x="6670790" y="1482090"/>
            <a:ext cx="330041" cy="480060"/>
          </a:xfrm>
          <a:prstGeom prst="rect">
            <a:avLst/>
          </a:prstGeom>
        </p:spPr>
      </p:pic>
    </p:spTree>
  </p:cSld>
  <p:clrMapOvr>
    <a:masterClrMapping/>
  </p:clrMapOvr>
</p:sld>
</file>

<file path=ppt/slides/slide19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94957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292475"/>
            <a:ext cx="8572500" cy="514350"/>
          </a:xfrm>
          <a:prstGeom prst="rect">
            <a:avLst/>
          </a:prstGeom>
          <a:noFill/>
        </p:spPr>
        <p:txBody>
          <a:bodyPr wrap="square" lIns="0" rIns="0" tIns="0">
            <a:spAutoFit/>
          </a:bodyPr>
          <a:lstStyle/>
          <a:p>
            <a:r>
              <a:rPr sz="3000" b="1">
                <a:solidFill>
                  <a:srgbClr val="0B3C8C"/>
                </a:solidFill>
                <a:latin typeface="Calibri"/>
              </a:rPr>
              <a:t>Cross-sectional Assessment</a:t>
            </a:r>
          </a:p>
        </p:txBody>
      </p:sp>
      <p:sp>
        <p:nvSpPr>
          <p:cNvPr id="11" name="TextBox 10"/>
          <p:cNvSpPr txBox="1"/>
          <p:nvPr/>
        </p:nvSpPr>
        <p:spPr>
          <a:xfrm>
            <a:off x="914400" y="3978275"/>
            <a:ext cx="8458200" cy="8826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Type x Material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Type x Technology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12.1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Product Type × Material Type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Snapshot: Product Type × Material Type, 2026E vs 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North America market value (US$ Mn) for each product type sub-segment across material type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390775"/>
          </a:xfrm>
          <a:prstGeom prst="roundRect">
            <a:avLst>
              <a:gd name="adj" fmla="val 31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Value, Product Type × Material Type, 2026E and 2036F (US$ Mn)</a:t>
            </a:r>
          </a:p>
        </p:txBody>
      </p:sp>
      <p:graphicFrame>
        <p:nvGraphicFramePr>
          <p:cNvPr id="13" name="Table 12"/>
          <p:cNvGraphicFramePr>
            <a:graphicFrameLocks noGrp="1"/>
          </p:cNvGraphicFramePr>
          <p:nvPr/>
        </p:nvGraphicFramePr>
        <p:xfrm>
          <a:off x="152400" y="1238250"/>
          <a:ext cx="11887198" cy="1924050"/>
        </p:xfrm>
        <a:graphic>
          <a:graphicData uri="http://schemas.openxmlformats.org/drawingml/2006/table">
            <a:tbl>
              <a:tblPr>
                <a:tableStyleId>{5C22544A-7EE6-4342-B048-85BDC9FD1C3A}</a:tableStyleId>
              </a:tblPr>
              <a:tblGrid>
                <a:gridCol w="4236748"/>
                <a:gridCol w="765045"/>
                <a:gridCol w="765045"/>
                <a:gridCol w="765045"/>
                <a:gridCol w="765045"/>
                <a:gridCol w="765045"/>
                <a:gridCol w="765045"/>
                <a:gridCol w="765045"/>
                <a:gridCol w="765045"/>
                <a:gridCol w="765045"/>
                <a:gridCol w="765045"/>
              </a:tblGrid>
              <a:tr h="438912">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Metal Alloys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Acrylic / Resin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Flexible Thermoplastics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High-performance</a:t>
                      </a:r>
                      <a:endParaRPr sz="1100"/>
                    </a:p>
                    <a:p>
                      <a:pPr algn="ctr"/>
                      <a:r>
                        <a:rPr sz="1100" b="1">
                          <a:solidFill>
                            <a:srgbClr val="0B2E4A"/>
                          </a:solidFill>
                          <a:latin typeface="Calibri"/>
                        </a:rPr>
                        <a:t>Polymers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7523">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7523">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23">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23">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23">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23">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71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05200"/>
            <a:ext cx="11906250" cy="3124200"/>
          </a:xfrm>
          <a:prstGeom prst="roundRect">
            <a:avLst>
              <a:gd name="adj" fmla="val 24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590925"/>
            <a:ext cx="116395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17" name="Rectangle 16"/>
          <p:cNvSpPr/>
          <p:nvPr/>
        </p:nvSpPr>
        <p:spPr>
          <a:xfrm>
            <a:off x="276225" y="38290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14775"/>
            <a:ext cx="11639550" cy="26384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8027682" y="2276792"/>
            <a:ext cx="366712" cy="533400"/>
          </a:xfrm>
          <a:prstGeom prst="rect">
            <a:avLst/>
          </a:prstGeom>
        </p:spPr>
      </p:pic>
      <p:sp>
        <p:nvSpPr>
          <p:cNvPr id="21" name="TextBox 20"/>
          <p:cNvSpPr txBox="1"/>
          <p:nvPr/>
        </p:nvSpPr>
        <p:spPr>
          <a:xfrm>
            <a:off x="276225" y="3924300"/>
            <a:ext cx="10567838" cy="194310"/>
          </a:xfrm>
          <a:prstGeom prst="rect">
            <a:avLst/>
          </a:prstGeom>
          <a:noFill/>
        </p:spPr>
        <p:txBody>
          <a:bodyPr wrap="none" lIns="0" rIns="0" tIns="0" bIns="0">
            <a:spAutoFit/>
          </a:bodyPr>
          <a:lstStyle/>
          <a:p>
            <a:r>
              <a:rPr sz="1150" b="0">
                <a:solidFill>
                  <a:srgbClr val="2E2E2E"/>
                </a:solidFill>
                <a:latin typeface="Calibri"/>
              </a:rPr>
              <a:t>Acrylic partial dentures segment is projected to account for the largest share of the North America removable partial dentures market, led by high-performance polymers at US$</a:t>
            </a:r>
          </a:p>
        </p:txBody>
      </p:sp>
      <p:pic>
        <p:nvPicPr>
          <p:cNvPr id="22" name="Picture 21" descr="lock.png"/>
          <p:cNvPicPr>
            <a:picLocks noChangeAspect="1"/>
          </p:cNvPicPr>
          <p:nvPr/>
        </p:nvPicPr>
        <p:blipFill>
          <a:blip r:embed="rId4"/>
          <a:stretch>
            <a:fillRect/>
          </a:stretch>
        </p:blipFill>
        <p:spPr>
          <a:xfrm>
            <a:off x="10793217" y="3914076"/>
            <a:ext cx="134549" cy="195707"/>
          </a:xfrm>
          <a:prstGeom prst="rect">
            <a:avLst/>
          </a:prstGeom>
        </p:spPr>
      </p:pic>
      <p:sp>
        <p:nvSpPr>
          <p:cNvPr id="23" name="TextBox 22"/>
          <p:cNvSpPr txBox="1"/>
          <p:nvPr/>
        </p:nvSpPr>
        <p:spPr>
          <a:xfrm>
            <a:off x="10968326" y="3924300"/>
            <a:ext cx="787908" cy="194310"/>
          </a:xfrm>
          <a:prstGeom prst="rect">
            <a:avLst/>
          </a:prstGeom>
          <a:noFill/>
        </p:spPr>
        <p:txBody>
          <a:bodyPr wrap="none" lIns="0" rIns="0" tIns="0" bIns="0">
            <a:spAutoFit/>
          </a:bodyPr>
          <a:lstStyle/>
          <a:p>
            <a:r>
              <a:rPr sz="1150" b="0">
                <a:solidFill>
                  <a:srgbClr val="2E2E2E"/>
                </a:solidFill>
                <a:latin typeface="Calibri"/>
              </a:rPr>
              <a:t>Mn in 2036.</a:t>
            </a:r>
          </a:p>
        </p:txBody>
      </p:sp>
      <p:sp>
        <p:nvSpPr>
          <p:cNvPr id="24" name="TextBox 23"/>
          <p:cNvSpPr txBox="1"/>
          <p:nvPr/>
        </p:nvSpPr>
        <p:spPr>
          <a:xfrm>
            <a:off x="276225" y="4099560"/>
            <a:ext cx="5728791" cy="194310"/>
          </a:xfrm>
          <a:prstGeom prst="rect">
            <a:avLst/>
          </a:prstGeom>
          <a:noFill/>
        </p:spPr>
        <p:txBody>
          <a:bodyPr wrap="none" lIns="0" rIns="0" tIns="0" bIns="0">
            <a:spAutoFit/>
          </a:bodyPr>
          <a:lstStyle/>
          <a:p>
            <a:r>
              <a:rPr sz="1150" b="0">
                <a:solidFill>
                  <a:srgbClr val="2E2E2E"/>
                </a:solidFill>
                <a:latin typeface="Calibri"/>
              </a:rPr>
              <a:t>'Acrylic Partial Dentures × High-performance Polymers' is the single largest cross-sectional cell (</a:t>
            </a:r>
          </a:p>
        </p:txBody>
      </p:sp>
      <p:pic>
        <p:nvPicPr>
          <p:cNvPr id="25" name="Picture 24" descr="lock.png"/>
          <p:cNvPicPr>
            <a:picLocks noChangeAspect="1"/>
          </p:cNvPicPr>
          <p:nvPr/>
        </p:nvPicPr>
        <p:blipFill>
          <a:blip r:embed="rId4"/>
          <a:stretch>
            <a:fillRect/>
          </a:stretch>
        </p:blipFill>
        <p:spPr>
          <a:xfrm>
            <a:off x="5954170" y="4089336"/>
            <a:ext cx="134549" cy="195707"/>
          </a:xfrm>
          <a:prstGeom prst="rect">
            <a:avLst/>
          </a:prstGeom>
        </p:spPr>
      </p:pic>
      <p:sp>
        <p:nvSpPr>
          <p:cNvPr id="26" name="TextBox 25"/>
          <p:cNvSpPr txBox="1"/>
          <p:nvPr/>
        </p:nvSpPr>
        <p:spPr>
          <a:xfrm>
            <a:off x="6129279" y="4099560"/>
            <a:ext cx="5578747" cy="194310"/>
          </a:xfrm>
          <a:prstGeom prst="rect">
            <a:avLst/>
          </a:prstGeom>
          <a:noFill/>
        </p:spPr>
        <p:txBody>
          <a:bodyPr wrap="none" lIns="0" rIns="0" tIns="0" bIns="0">
            <a:spAutoFit/>
          </a:bodyPr>
          <a:lstStyle/>
          <a:p>
            <a:r>
              <a:rPr sz="1150" b="0">
                <a:solidFill>
                  <a:srgbClr val="2E2E2E"/>
                </a:solidFill>
                <a:latin typeface="Calibri"/>
              </a:rPr>
              <a:t>US$ Mn, 2026E), while 'Acrylic Partial Dentures × Flexible Thermoplastics' records the fastest</a:t>
            </a:r>
          </a:p>
        </p:txBody>
      </p:sp>
      <p:sp>
        <p:nvSpPr>
          <p:cNvPr id="27" name="TextBox 26"/>
          <p:cNvSpPr txBox="1"/>
          <p:nvPr/>
        </p:nvSpPr>
        <p:spPr>
          <a:xfrm>
            <a:off x="276225" y="4274820"/>
            <a:ext cx="1279668" cy="194310"/>
          </a:xfrm>
          <a:prstGeom prst="rect">
            <a:avLst/>
          </a:prstGeom>
          <a:noFill/>
        </p:spPr>
        <p:txBody>
          <a:bodyPr wrap="none" lIns="0" rIns="0" tIns="0" bIns="0">
            <a:spAutoFit/>
          </a:bodyPr>
          <a:lstStyle/>
          <a:p>
            <a:r>
              <a:rPr sz="1150" b="0">
                <a:solidFill>
                  <a:srgbClr val="2E2E2E"/>
                </a:solidFill>
                <a:latin typeface="Calibri"/>
              </a:rPr>
              <a:t>growth at a CAGR of</a:t>
            </a:r>
          </a:p>
        </p:txBody>
      </p:sp>
      <p:pic>
        <p:nvPicPr>
          <p:cNvPr id="28" name="Picture 27" descr="lock.png"/>
          <p:cNvPicPr>
            <a:picLocks noChangeAspect="1"/>
          </p:cNvPicPr>
          <p:nvPr/>
        </p:nvPicPr>
        <p:blipFill>
          <a:blip r:embed="rId4"/>
          <a:stretch>
            <a:fillRect/>
          </a:stretch>
        </p:blipFill>
        <p:spPr>
          <a:xfrm>
            <a:off x="1505047" y="4264596"/>
            <a:ext cx="134549" cy="195707"/>
          </a:xfrm>
          <a:prstGeom prst="rect">
            <a:avLst/>
          </a:prstGeom>
        </p:spPr>
      </p:pic>
      <p:sp>
        <p:nvSpPr>
          <p:cNvPr id="29" name="TextBox 28"/>
          <p:cNvSpPr txBox="1"/>
          <p:nvPr/>
        </p:nvSpPr>
        <p:spPr>
          <a:xfrm>
            <a:off x="1680156" y="4274820"/>
            <a:ext cx="1217001" cy="194310"/>
          </a:xfrm>
          <a:prstGeom prst="rect">
            <a:avLst/>
          </a:prstGeom>
          <a:noFill/>
        </p:spPr>
        <p:txBody>
          <a:bodyPr wrap="none" lIns="0" rIns="0" tIns="0" bIns="0">
            <a:spAutoFit/>
          </a:bodyPr>
          <a:lstStyle/>
          <a:p>
            <a:r>
              <a:rPr sz="1150" b="0">
                <a:solidFill>
                  <a:srgbClr val="2E2E2E"/>
                </a:solidFill>
                <a:latin typeface="Calibri"/>
              </a:rPr>
              <a:t>over 2026E–2036F.</a:t>
            </a:r>
          </a:p>
        </p:txBody>
      </p:sp>
      <p:sp>
        <p:nvSpPr>
          <p:cNvPr id="30" name="TextBox 29"/>
          <p:cNvSpPr txBox="1"/>
          <p:nvPr/>
        </p:nvSpPr>
        <p:spPr>
          <a:xfrm>
            <a:off x="276225" y="4502657"/>
            <a:ext cx="5866854" cy="194310"/>
          </a:xfrm>
          <a:prstGeom prst="rect">
            <a:avLst/>
          </a:prstGeom>
          <a:noFill/>
        </p:spPr>
        <p:txBody>
          <a:bodyPr wrap="none" lIns="0" rIns="0" tIns="0" bIns="0">
            <a:spAutoFit/>
          </a:bodyPr>
          <a:lstStyle/>
          <a:p>
            <a:r>
              <a:rPr sz="1150" b="0">
                <a:solidFill>
                  <a:srgbClr val="2E2E2E"/>
                </a:solidFill>
                <a:latin typeface="Calibri"/>
              </a:rPr>
              <a:t>Combined, the top three product type × material type cells generate an absolute $ opportunity of</a:t>
            </a:r>
          </a:p>
        </p:txBody>
      </p:sp>
      <p:pic>
        <p:nvPicPr>
          <p:cNvPr id="31" name="Picture 30" descr="lock.png"/>
          <p:cNvPicPr>
            <a:picLocks noChangeAspect="1"/>
          </p:cNvPicPr>
          <p:nvPr/>
        </p:nvPicPr>
        <p:blipFill>
          <a:blip r:embed="rId4"/>
          <a:stretch>
            <a:fillRect/>
          </a:stretch>
        </p:blipFill>
        <p:spPr>
          <a:xfrm>
            <a:off x="6092233" y="4492434"/>
            <a:ext cx="134549" cy="195707"/>
          </a:xfrm>
          <a:prstGeom prst="rect">
            <a:avLst/>
          </a:prstGeom>
        </p:spPr>
      </p:pic>
      <p:sp>
        <p:nvSpPr>
          <p:cNvPr id="32" name="TextBox 31"/>
          <p:cNvSpPr txBox="1"/>
          <p:nvPr/>
        </p:nvSpPr>
        <p:spPr>
          <a:xfrm>
            <a:off x="6267342" y="4502657"/>
            <a:ext cx="1155386" cy="194310"/>
          </a:xfrm>
          <a:prstGeom prst="rect">
            <a:avLst/>
          </a:prstGeom>
          <a:noFill/>
        </p:spPr>
        <p:txBody>
          <a:bodyPr wrap="none" lIns="0" rIns="0" tIns="0" bIns="0">
            <a:spAutoFit/>
          </a:bodyPr>
          <a:lstStyle/>
          <a:p>
            <a:r>
              <a:rPr sz="1150" b="0">
                <a:solidFill>
                  <a:srgbClr val="2E2E2E"/>
                </a:solidFill>
                <a:latin typeface="Calibri"/>
              </a:rPr>
              <a:t>US$ Mn by 2036F.</a:t>
            </a:r>
          </a:p>
        </p:txBody>
      </p:sp>
    </p:spTree>
  </p:cSld>
  <p:clrMapOvr>
    <a:masterClrMapping/>
  </p:clrMapOvr>
</p:sld>
</file>

<file path=ppt/slides/slide1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Share Analysis: Product Type × Material Type, 2026E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North America market value, each row split across all material type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581275"/>
          </a:xfrm>
          <a:prstGeom prst="roundRect">
            <a:avLst>
              <a:gd name="adj" fmla="val 29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Share, Product Type × Material Type, 2026E (% of each row)</a:t>
            </a:r>
          </a:p>
        </p:txBody>
      </p:sp>
      <p:graphicFrame>
        <p:nvGraphicFramePr>
          <p:cNvPr id="13" name="Table 12"/>
          <p:cNvGraphicFramePr>
            <a:graphicFrameLocks noGrp="1"/>
          </p:cNvGraphicFramePr>
          <p:nvPr/>
        </p:nvGraphicFramePr>
        <p:xfrm>
          <a:off x="152400" y="1238250"/>
          <a:ext cx="11887201" cy="2114550"/>
        </p:xfrm>
        <a:graphic>
          <a:graphicData uri="http://schemas.openxmlformats.org/drawingml/2006/table">
            <a:tbl>
              <a:tblPr>
                <a:tableStyleId>{5C22544A-7EE6-4342-B048-85BDC9FD1C3A}</a:tableStyleId>
              </a:tblPr>
              <a:tblGrid>
                <a:gridCol w="2604064"/>
                <a:gridCol w="1147040"/>
                <a:gridCol w="835084"/>
                <a:gridCol w="524185"/>
                <a:gridCol w="1119518"/>
                <a:gridCol w="975718"/>
                <a:gridCol w="1359322"/>
                <a:gridCol w="1039532"/>
                <a:gridCol w="1738932"/>
                <a:gridCol w="543806"/>
              </a:tblGrid>
              <a:tr h="246126">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Metal Alloys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Acrylic / Resin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Flexible Thermoplastics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High-performance Polymers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632714">
                <a:tc vMerge="1">
                  <a:txBody>
                    <a:bodyPr wrap="none"/>
                    <a:lstStyle/>
                    <a:p>
                      <a:pPr algn="l"/>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Cobalt-Chromium Alloys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Titanium Alloys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PMMA</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Printable Denture Resins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Polyamide / Nylon</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Other Thermoplastic Resins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PEEK-based Materials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Other High-performance Dental Polymers</a:t>
                      </a:r>
                      <a:endParaRPr sz="1100"/>
                    </a:p>
                  </a:txBody>
                  <a:tcPr marL="47625" marR="38100" marT="19050" marB="19050" anchor="ctr">
                    <a:solidFill>
                      <a:srgbClr val="E0E8EF"/>
                    </a:solidFill>
                  </a:tcPr>
                </a:tc>
                <a:tc>
                  <a:txBody>
                    <a:bodyPr wrap="none"/>
                    <a:lstStyle/>
                    <a:p>
                      <a:pPr algn="ctr"/>
                      <a:endParaRPr sz="1100"/>
                    </a:p>
                  </a:txBody>
                  <a:tcPr marL="47625" marR="38100" marT="19050" marB="19050" anchor="ctr">
                    <a:solidFill>
                      <a:srgbClr val="E0E8EF"/>
                    </a:solidFill>
                  </a:tcPr>
                </a:tc>
              </a:tr>
              <a:tr h="247142">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142">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142">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142">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142">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3623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695700"/>
            <a:ext cx="7286625"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752850"/>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Material Type Mix by Product Type, 2026E (% share)</a:t>
            </a:r>
          </a:p>
        </p:txBody>
      </p:sp>
      <p:graphicFrame>
        <p:nvGraphicFramePr>
          <p:cNvPr id="17" name="Chart 16"/>
          <p:cNvGraphicFramePr>
            <a:graphicFrameLocks noGrp="1"/>
          </p:cNvGraphicFramePr>
          <p:nvPr/>
        </p:nvGraphicFramePr>
        <p:xfrm>
          <a:off x="238125" y="3981450"/>
          <a:ext cx="7096125" cy="2590800"/>
        </p:xfrm>
        <a:graphic>
          <a:graphicData uri="http://schemas.openxmlformats.org/drawingml/2006/chart">
            <c:chart xmlns:c="http://schemas.openxmlformats.org/drawingml/2006/chart" r:id="rId3"/>
          </a:graphicData>
        </a:graphic>
      </p:graphicFrame>
      <p:sp>
        <p:nvSpPr>
          <p:cNvPr id="18" name="Rounded Rectangle 17"/>
          <p:cNvSpPr/>
          <p:nvPr/>
        </p:nvSpPr>
        <p:spPr>
          <a:xfrm>
            <a:off x="7581900" y="3695700"/>
            <a:ext cx="445770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7715250" y="3781425"/>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20" name="Rectangle 19"/>
          <p:cNvSpPr/>
          <p:nvPr/>
        </p:nvSpPr>
        <p:spPr>
          <a:xfrm>
            <a:off x="7715250" y="4019550"/>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7715250" y="4105275"/>
            <a:ext cx="4191000" cy="24479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5"/>
          <a:stretch>
            <a:fillRect/>
          </a:stretch>
        </p:blipFill>
        <p:spPr>
          <a:xfrm>
            <a:off x="7211342" y="2468245"/>
            <a:ext cx="366712" cy="533400"/>
          </a:xfrm>
          <a:prstGeom prst="rect">
            <a:avLst/>
          </a:prstGeom>
        </p:spPr>
      </p:pic>
      <p:pic>
        <p:nvPicPr>
          <p:cNvPr id="24" name="Picture 23" descr="lock.png"/>
          <p:cNvPicPr>
            <a:picLocks noChangeAspect="1"/>
          </p:cNvPicPr>
          <p:nvPr/>
        </p:nvPicPr>
        <p:blipFill>
          <a:blip r:embed="rId5"/>
          <a:stretch>
            <a:fillRect/>
          </a:stretch>
        </p:blipFill>
        <p:spPr>
          <a:xfrm>
            <a:off x="3755735" y="4509229"/>
            <a:ext cx="349819" cy="508827"/>
          </a:xfrm>
          <a:prstGeom prst="rect">
            <a:avLst/>
          </a:prstGeom>
        </p:spPr>
      </p:pic>
      <p:sp>
        <p:nvSpPr>
          <p:cNvPr id="25" name="TextBox 24"/>
          <p:cNvSpPr txBox="1"/>
          <p:nvPr/>
        </p:nvSpPr>
        <p:spPr>
          <a:xfrm>
            <a:off x="7715250" y="4114800"/>
            <a:ext cx="3955332" cy="194310"/>
          </a:xfrm>
          <a:prstGeom prst="rect">
            <a:avLst/>
          </a:prstGeom>
          <a:noFill/>
        </p:spPr>
        <p:txBody>
          <a:bodyPr wrap="none" lIns="0" rIns="0" tIns="0" bIns="0">
            <a:spAutoFit/>
          </a:bodyPr>
          <a:lstStyle/>
          <a:p>
            <a:r>
              <a:rPr sz="1150" b="0">
                <a:solidFill>
                  <a:srgbClr val="2E2E2E"/>
                </a:solidFill>
                <a:latin typeface="Calibri"/>
              </a:rPr>
              <a:t>▪ 'PEEK-based Materials' holds the highest share of 'Acrylic Partial</a:t>
            </a:r>
          </a:p>
        </p:txBody>
      </p:sp>
      <p:sp>
        <p:nvSpPr>
          <p:cNvPr id="26" name="TextBox 25"/>
          <p:cNvSpPr txBox="1"/>
          <p:nvPr/>
        </p:nvSpPr>
        <p:spPr>
          <a:xfrm>
            <a:off x="7715250" y="4290060"/>
            <a:ext cx="806449" cy="194310"/>
          </a:xfrm>
          <a:prstGeom prst="rect">
            <a:avLst/>
          </a:prstGeom>
          <a:noFill/>
        </p:spPr>
        <p:txBody>
          <a:bodyPr wrap="none" lIns="0" rIns="0" tIns="0" bIns="0">
            <a:spAutoFit/>
          </a:bodyPr>
          <a:lstStyle/>
          <a:p>
            <a:r>
              <a:rPr sz="1150" b="0">
                <a:solidFill>
                  <a:srgbClr val="2E2E2E"/>
                </a:solidFill>
                <a:latin typeface="Calibri"/>
              </a:rPr>
              <a:t>Dentures' at</a:t>
            </a:r>
          </a:p>
        </p:txBody>
      </p:sp>
      <p:pic>
        <p:nvPicPr>
          <p:cNvPr id="27" name="Picture 26" descr="lock.png"/>
          <p:cNvPicPr>
            <a:picLocks noChangeAspect="1"/>
          </p:cNvPicPr>
          <p:nvPr/>
        </p:nvPicPr>
        <p:blipFill>
          <a:blip r:embed="rId5"/>
          <a:stretch>
            <a:fillRect/>
          </a:stretch>
        </p:blipFill>
        <p:spPr>
          <a:xfrm>
            <a:off x="8470853" y="4279836"/>
            <a:ext cx="134549" cy="195707"/>
          </a:xfrm>
          <a:prstGeom prst="rect">
            <a:avLst/>
          </a:prstGeom>
        </p:spPr>
      </p:pic>
      <p:sp>
        <p:nvSpPr>
          <p:cNvPr id="28" name="TextBox 27"/>
          <p:cNvSpPr txBox="1"/>
          <p:nvPr/>
        </p:nvSpPr>
        <p:spPr>
          <a:xfrm>
            <a:off x="8645963" y="4290060"/>
            <a:ext cx="569404" cy="194310"/>
          </a:xfrm>
          <a:prstGeom prst="rect">
            <a:avLst/>
          </a:prstGeom>
          <a:noFill/>
        </p:spPr>
        <p:txBody>
          <a:bodyPr wrap="none" lIns="0" rIns="0" tIns="0" bIns="0">
            <a:spAutoFit/>
          </a:bodyPr>
          <a:lstStyle/>
          <a:p>
            <a:r>
              <a:rPr sz="1150" b="0">
                <a:solidFill>
                  <a:srgbClr val="2E2E2E"/>
                </a:solidFill>
                <a:latin typeface="Calibri"/>
              </a:rPr>
              <a:t>(2026E).</a:t>
            </a:r>
          </a:p>
        </p:txBody>
      </p:sp>
      <p:sp>
        <p:nvSpPr>
          <p:cNvPr id="29" name="TextBox 28"/>
          <p:cNvSpPr txBox="1"/>
          <p:nvPr/>
        </p:nvSpPr>
        <p:spPr>
          <a:xfrm>
            <a:off x="7715250" y="4517897"/>
            <a:ext cx="3930265" cy="194310"/>
          </a:xfrm>
          <a:prstGeom prst="rect">
            <a:avLst/>
          </a:prstGeom>
          <a:noFill/>
        </p:spPr>
        <p:txBody>
          <a:bodyPr wrap="none" lIns="0" rIns="0" tIns="0" bIns="0">
            <a:spAutoFit/>
          </a:bodyPr>
          <a:lstStyle/>
          <a:p>
            <a:r>
              <a:rPr sz="1150" b="0">
                <a:solidFill>
                  <a:srgbClr val="2E2E2E"/>
                </a:solidFill>
                <a:latin typeface="Calibri"/>
              </a:rPr>
              <a:t>▪ 'Acrylic Partial Dentures' is the most concentrated product type</a:t>
            </a:r>
          </a:p>
        </p:txBody>
      </p:sp>
      <p:sp>
        <p:nvSpPr>
          <p:cNvPr id="30" name="TextBox 29"/>
          <p:cNvSpPr txBox="1"/>
          <p:nvPr/>
        </p:nvSpPr>
        <p:spPr>
          <a:xfrm>
            <a:off x="7715250" y="4693157"/>
            <a:ext cx="1178706" cy="194310"/>
          </a:xfrm>
          <a:prstGeom prst="rect">
            <a:avLst/>
          </a:prstGeom>
          <a:noFill/>
        </p:spPr>
        <p:txBody>
          <a:bodyPr wrap="none" lIns="0" rIns="0" tIns="0" bIns="0">
            <a:spAutoFit/>
          </a:bodyPr>
          <a:lstStyle/>
          <a:p>
            <a:r>
              <a:rPr sz="1150" b="0">
                <a:solidFill>
                  <a:srgbClr val="2E2E2E"/>
                </a:solidFill>
                <a:latin typeface="Calibri"/>
              </a:rPr>
              <a:t>sub-segment, with</a:t>
            </a:r>
          </a:p>
        </p:txBody>
      </p:sp>
      <p:pic>
        <p:nvPicPr>
          <p:cNvPr id="31" name="Picture 30" descr="lock.png"/>
          <p:cNvPicPr>
            <a:picLocks noChangeAspect="1"/>
          </p:cNvPicPr>
          <p:nvPr/>
        </p:nvPicPr>
        <p:blipFill>
          <a:blip r:embed="rId5"/>
          <a:stretch>
            <a:fillRect/>
          </a:stretch>
        </p:blipFill>
        <p:spPr>
          <a:xfrm>
            <a:off x="8843110" y="4682934"/>
            <a:ext cx="134549" cy="195707"/>
          </a:xfrm>
          <a:prstGeom prst="rect">
            <a:avLst/>
          </a:prstGeom>
        </p:spPr>
      </p:pic>
      <p:sp>
        <p:nvSpPr>
          <p:cNvPr id="32" name="TextBox 31"/>
          <p:cNvSpPr txBox="1"/>
          <p:nvPr/>
        </p:nvSpPr>
        <p:spPr>
          <a:xfrm>
            <a:off x="9018219" y="4693157"/>
            <a:ext cx="2346500" cy="194310"/>
          </a:xfrm>
          <a:prstGeom prst="rect">
            <a:avLst/>
          </a:prstGeom>
          <a:noFill/>
        </p:spPr>
        <p:txBody>
          <a:bodyPr wrap="none" lIns="0" rIns="0" tIns="0" bIns="0">
            <a:spAutoFit/>
          </a:bodyPr>
          <a:lstStyle/>
          <a:p>
            <a:r>
              <a:rPr sz="1150" b="0">
                <a:solidFill>
                  <a:srgbClr val="2E2E2E"/>
                </a:solidFill>
                <a:latin typeface="Calibri"/>
              </a:rPr>
              <a:t>of its value via 'PEEK-based Materials'.</a:t>
            </a:r>
          </a:p>
        </p:txBody>
      </p:sp>
      <p:sp>
        <p:nvSpPr>
          <p:cNvPr id="33" name="TextBox 32"/>
          <p:cNvSpPr txBox="1"/>
          <p:nvPr/>
        </p:nvSpPr>
        <p:spPr>
          <a:xfrm>
            <a:off x="7715250" y="4920995"/>
            <a:ext cx="2306885" cy="194310"/>
          </a:xfrm>
          <a:prstGeom prst="rect">
            <a:avLst/>
          </a:prstGeom>
          <a:noFill/>
        </p:spPr>
        <p:txBody>
          <a:bodyPr wrap="none" lIns="0" rIns="0" tIns="0" bIns="0">
            <a:spAutoFit/>
          </a:bodyPr>
          <a:lstStyle/>
          <a:p>
            <a:r>
              <a:rPr sz="1150" b="0">
                <a:solidFill>
                  <a:srgbClr val="2E2E2E"/>
                </a:solidFill>
                <a:latin typeface="Calibri"/>
              </a:rPr>
              <a:t>▪ 'Other Thermoplastic Resins' gains +</a:t>
            </a:r>
          </a:p>
        </p:txBody>
      </p:sp>
      <p:pic>
        <p:nvPicPr>
          <p:cNvPr id="34" name="Picture 33" descr="lock.png"/>
          <p:cNvPicPr>
            <a:picLocks noChangeAspect="1"/>
          </p:cNvPicPr>
          <p:nvPr/>
        </p:nvPicPr>
        <p:blipFill>
          <a:blip r:embed="rId5"/>
          <a:stretch>
            <a:fillRect/>
          </a:stretch>
        </p:blipFill>
        <p:spPr>
          <a:xfrm>
            <a:off x="9971289" y="4910772"/>
            <a:ext cx="134549" cy="195707"/>
          </a:xfrm>
          <a:prstGeom prst="rect">
            <a:avLst/>
          </a:prstGeom>
        </p:spPr>
      </p:pic>
      <p:sp>
        <p:nvSpPr>
          <p:cNvPr id="35" name="TextBox 34"/>
          <p:cNvSpPr txBox="1"/>
          <p:nvPr/>
        </p:nvSpPr>
        <p:spPr>
          <a:xfrm>
            <a:off x="10146398" y="4920995"/>
            <a:ext cx="1581199" cy="194310"/>
          </a:xfrm>
          <a:prstGeom prst="rect">
            <a:avLst/>
          </a:prstGeom>
          <a:noFill/>
        </p:spPr>
        <p:txBody>
          <a:bodyPr wrap="none" lIns="0" rIns="0" tIns="0" bIns="0">
            <a:spAutoFit/>
          </a:bodyPr>
          <a:lstStyle/>
          <a:p>
            <a:r>
              <a:rPr sz="1150" b="0">
                <a:solidFill>
                  <a:srgbClr val="2E2E2E"/>
                </a:solidFill>
                <a:latin typeface="Calibri"/>
              </a:rPr>
              <a:t>BPS of share of the North</a:t>
            </a:r>
          </a:p>
        </p:txBody>
      </p:sp>
      <p:sp>
        <p:nvSpPr>
          <p:cNvPr id="36" name="TextBox 35"/>
          <p:cNvSpPr txBox="1"/>
          <p:nvPr/>
        </p:nvSpPr>
        <p:spPr>
          <a:xfrm>
            <a:off x="7715250" y="5096255"/>
            <a:ext cx="1986046" cy="194310"/>
          </a:xfrm>
          <a:prstGeom prst="rect">
            <a:avLst/>
          </a:prstGeom>
          <a:noFill/>
        </p:spPr>
        <p:txBody>
          <a:bodyPr wrap="none" lIns="0" rIns="0" tIns="0" bIns="0">
            <a:spAutoFit/>
          </a:bodyPr>
          <a:lstStyle/>
          <a:p>
            <a:r>
              <a:rPr sz="1150" b="0">
                <a:solidFill>
                  <a:srgbClr val="2E2E2E"/>
                </a:solidFill>
                <a:latin typeface="Calibri"/>
              </a:rPr>
              <a:t>America cross-section by 2036F.</a:t>
            </a:r>
          </a:p>
        </p:txBody>
      </p:sp>
      <p:sp>
        <p:nvSpPr>
          <p:cNvPr id="37" name="lockshield_17"/>
          <p:cNvSpPr/>
          <p:nvPr/>
        </p:nvSpPr>
        <p:spPr>
          <a:xfrm>
            <a:off x="238125" y="3981450"/>
            <a:ext cx="7096125" cy="25908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&amp; Attractiveness: Product Type × Material Type, 2026E–2036F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390775"/>
          </a:xfrm>
          <a:prstGeom prst="roundRect">
            <a:avLst>
              <a:gd name="adj" fmla="val 31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Product Type × Material Type, 2026E–2036F</a:t>
            </a:r>
          </a:p>
        </p:txBody>
      </p:sp>
      <p:graphicFrame>
        <p:nvGraphicFramePr>
          <p:cNvPr id="13" name="Table 12"/>
          <p:cNvGraphicFramePr>
            <a:graphicFrameLocks noGrp="1"/>
          </p:cNvGraphicFramePr>
          <p:nvPr/>
        </p:nvGraphicFramePr>
        <p:xfrm>
          <a:off x="152400" y="1238250"/>
          <a:ext cx="11887198" cy="1924050"/>
        </p:xfrm>
        <a:graphic>
          <a:graphicData uri="http://schemas.openxmlformats.org/drawingml/2006/table">
            <a:tbl>
              <a:tblPr>
                <a:tableStyleId>{5C22544A-7EE6-4342-B048-85BDC9FD1C3A}</a:tableStyleId>
              </a:tblPr>
              <a:tblGrid>
                <a:gridCol w="3680728"/>
                <a:gridCol w="820647"/>
                <a:gridCol w="820647"/>
                <a:gridCol w="820647"/>
                <a:gridCol w="820647"/>
                <a:gridCol w="820647"/>
                <a:gridCol w="820647"/>
                <a:gridCol w="820647"/>
                <a:gridCol w="820647"/>
                <a:gridCol w="820647"/>
                <a:gridCol w="820647"/>
              </a:tblGrid>
              <a:tr h="438912">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Metal Alloys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Acrylic / Resin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Flexible Thermoplastics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High-performance</a:t>
                      </a:r>
                      <a:endParaRPr sz="1100"/>
                    </a:p>
                    <a:p>
                      <a:pPr algn="ctr"/>
                      <a:r>
                        <a:rPr sz="1100" b="1">
                          <a:solidFill>
                            <a:srgbClr val="0B2E4A"/>
                          </a:solidFill>
                          <a:latin typeface="Calibri"/>
                        </a:rPr>
                        <a:t>Polymers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7523">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47523">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23">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23">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23">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23">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71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05200"/>
            <a:ext cx="5600700" cy="3124200"/>
          </a:xfrm>
          <a:prstGeom prst="roundRect">
            <a:avLst>
              <a:gd name="adj" fmla="val 24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590925"/>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7" name="Rectangle 16"/>
          <p:cNvSpPr/>
          <p:nvPr/>
        </p:nvSpPr>
        <p:spPr>
          <a:xfrm>
            <a:off x="276225" y="3829050"/>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14775"/>
            <a:ext cx="5334000" cy="2638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Rounded Rectangle 18"/>
          <p:cNvSpPr/>
          <p:nvPr/>
        </p:nvSpPr>
        <p:spPr>
          <a:xfrm>
            <a:off x="5895975" y="3505200"/>
            <a:ext cx="1943100" cy="31242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029325" y="3590925"/>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21" name="Rectangle 20"/>
          <p:cNvSpPr/>
          <p:nvPr/>
        </p:nvSpPr>
        <p:spPr>
          <a:xfrm>
            <a:off x="6029325" y="38290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029325" y="3914775"/>
            <a:ext cx="1676400" cy="2638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3" name="Rounded Rectangle 22"/>
          <p:cNvSpPr/>
          <p:nvPr/>
        </p:nvSpPr>
        <p:spPr>
          <a:xfrm>
            <a:off x="7991475" y="3505200"/>
            <a:ext cx="1943100" cy="31242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124825" y="3590925"/>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5" name="Rectangle 24"/>
          <p:cNvSpPr/>
          <p:nvPr/>
        </p:nvSpPr>
        <p:spPr>
          <a:xfrm>
            <a:off x="8124825" y="38290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124825" y="3914775"/>
            <a:ext cx="1676400" cy="2638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7" name="Rounded Rectangle 26"/>
          <p:cNvSpPr/>
          <p:nvPr/>
        </p:nvSpPr>
        <p:spPr>
          <a:xfrm>
            <a:off x="10086975" y="3505200"/>
            <a:ext cx="1943100" cy="31242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220325" y="3590925"/>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9" name="Rectangle 28"/>
          <p:cNvSpPr/>
          <p:nvPr/>
        </p:nvSpPr>
        <p:spPr>
          <a:xfrm>
            <a:off x="10220325" y="38290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10220325" y="3914775"/>
            <a:ext cx="1676400" cy="2638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'Acrylic Partial Dentures × Flexible Thermoplastics' ranks highest (5/5); 'Cast Metal Partial Dentures × Metal Alloys' lowest (1/5), a deprioritised cell.</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4"/>
          <a:stretch>
            <a:fillRect/>
          </a:stretch>
        </p:blipFill>
        <p:spPr>
          <a:xfrm>
            <a:off x="7749672" y="2276792"/>
            <a:ext cx="366712" cy="533400"/>
          </a:xfrm>
          <a:prstGeom prst="rect">
            <a:avLst/>
          </a:prstGeom>
        </p:spPr>
      </p:pic>
      <p:sp>
        <p:nvSpPr>
          <p:cNvPr id="33" name="TextBox 32"/>
          <p:cNvSpPr txBox="1"/>
          <p:nvPr/>
        </p:nvSpPr>
        <p:spPr>
          <a:xfrm>
            <a:off x="276225" y="3924300"/>
            <a:ext cx="3328665" cy="194310"/>
          </a:xfrm>
          <a:prstGeom prst="rect">
            <a:avLst/>
          </a:prstGeom>
          <a:noFill/>
        </p:spPr>
        <p:txBody>
          <a:bodyPr wrap="none" lIns="0" rIns="0" tIns="0" bIns="0">
            <a:spAutoFit/>
          </a:bodyPr>
          <a:lstStyle/>
          <a:p>
            <a:r>
              <a:rPr sz="1150" b="0">
                <a:solidFill>
                  <a:srgbClr val="2E2E2E"/>
                </a:solidFill>
                <a:latin typeface="Calibri"/>
              </a:rPr>
              <a:t>▪ 1. Acrylic Partial Dentures × Flexible Thermoplastics –</a:t>
            </a:r>
          </a:p>
        </p:txBody>
      </p:sp>
      <p:pic>
        <p:nvPicPr>
          <p:cNvPr id="34" name="Picture 33" descr="lock.png"/>
          <p:cNvPicPr>
            <a:picLocks noChangeAspect="1"/>
          </p:cNvPicPr>
          <p:nvPr/>
        </p:nvPicPr>
        <p:blipFill>
          <a:blip r:embed="rId4"/>
          <a:stretch>
            <a:fillRect/>
          </a:stretch>
        </p:blipFill>
        <p:spPr>
          <a:xfrm>
            <a:off x="3554043" y="3914076"/>
            <a:ext cx="134549" cy="195707"/>
          </a:xfrm>
          <a:prstGeom prst="rect">
            <a:avLst/>
          </a:prstGeom>
        </p:spPr>
      </p:pic>
      <p:sp>
        <p:nvSpPr>
          <p:cNvPr id="35" name="TextBox 34"/>
          <p:cNvSpPr txBox="1"/>
          <p:nvPr/>
        </p:nvSpPr>
        <p:spPr>
          <a:xfrm>
            <a:off x="3729153" y="3924300"/>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6" name="Picture 35" descr="lock.png"/>
          <p:cNvPicPr>
            <a:picLocks noChangeAspect="1"/>
          </p:cNvPicPr>
          <p:nvPr/>
        </p:nvPicPr>
        <p:blipFill>
          <a:blip r:embed="rId4"/>
          <a:stretch>
            <a:fillRect/>
          </a:stretch>
        </p:blipFill>
        <p:spPr>
          <a:xfrm>
            <a:off x="3791304" y="3914076"/>
            <a:ext cx="134549" cy="195707"/>
          </a:xfrm>
          <a:prstGeom prst="rect">
            <a:avLst/>
          </a:prstGeom>
        </p:spPr>
      </p:pic>
      <p:sp>
        <p:nvSpPr>
          <p:cNvPr id="37" name="TextBox 36"/>
          <p:cNvSpPr txBox="1"/>
          <p:nvPr/>
        </p:nvSpPr>
        <p:spPr>
          <a:xfrm>
            <a:off x="3966414" y="3924300"/>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38" name="TextBox 37"/>
          <p:cNvSpPr txBox="1"/>
          <p:nvPr/>
        </p:nvSpPr>
        <p:spPr>
          <a:xfrm>
            <a:off x="276225" y="4152137"/>
            <a:ext cx="3389424" cy="194310"/>
          </a:xfrm>
          <a:prstGeom prst="rect">
            <a:avLst/>
          </a:prstGeom>
          <a:noFill/>
        </p:spPr>
        <p:txBody>
          <a:bodyPr wrap="none" lIns="0" rIns="0" tIns="0" bIns="0">
            <a:spAutoFit/>
          </a:bodyPr>
          <a:lstStyle/>
          <a:p>
            <a:r>
              <a:rPr sz="1150" b="0">
                <a:solidFill>
                  <a:srgbClr val="2E2E2E"/>
                </a:solidFill>
                <a:latin typeface="Calibri"/>
              </a:rPr>
              <a:t>▪ 2. Flexible Partial Dentures × Flexible Thermoplastics –</a:t>
            </a:r>
          </a:p>
        </p:txBody>
      </p:sp>
      <p:pic>
        <p:nvPicPr>
          <p:cNvPr id="39" name="Picture 38" descr="lock.png"/>
          <p:cNvPicPr>
            <a:picLocks noChangeAspect="1"/>
          </p:cNvPicPr>
          <p:nvPr/>
        </p:nvPicPr>
        <p:blipFill>
          <a:blip r:embed="rId4"/>
          <a:stretch>
            <a:fillRect/>
          </a:stretch>
        </p:blipFill>
        <p:spPr>
          <a:xfrm>
            <a:off x="3614803" y="4141914"/>
            <a:ext cx="134549" cy="195707"/>
          </a:xfrm>
          <a:prstGeom prst="rect">
            <a:avLst/>
          </a:prstGeom>
        </p:spPr>
      </p:pic>
      <p:sp>
        <p:nvSpPr>
          <p:cNvPr id="40" name="TextBox 39"/>
          <p:cNvSpPr txBox="1"/>
          <p:nvPr/>
        </p:nvSpPr>
        <p:spPr>
          <a:xfrm>
            <a:off x="3789912" y="4152137"/>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1" name="Picture 40" descr="lock.png"/>
          <p:cNvPicPr>
            <a:picLocks noChangeAspect="1"/>
          </p:cNvPicPr>
          <p:nvPr/>
        </p:nvPicPr>
        <p:blipFill>
          <a:blip r:embed="rId4"/>
          <a:stretch>
            <a:fillRect/>
          </a:stretch>
        </p:blipFill>
        <p:spPr>
          <a:xfrm>
            <a:off x="3852064" y="4141914"/>
            <a:ext cx="134549" cy="195707"/>
          </a:xfrm>
          <a:prstGeom prst="rect">
            <a:avLst/>
          </a:prstGeom>
        </p:spPr>
      </p:pic>
      <p:sp>
        <p:nvSpPr>
          <p:cNvPr id="42" name="TextBox 41"/>
          <p:cNvSpPr txBox="1"/>
          <p:nvPr/>
        </p:nvSpPr>
        <p:spPr>
          <a:xfrm>
            <a:off x="4027173" y="4152137"/>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3" name="TextBox 42"/>
          <p:cNvSpPr txBox="1"/>
          <p:nvPr/>
        </p:nvSpPr>
        <p:spPr>
          <a:xfrm>
            <a:off x="276225" y="4379975"/>
            <a:ext cx="4410347" cy="194310"/>
          </a:xfrm>
          <a:prstGeom prst="rect">
            <a:avLst/>
          </a:prstGeom>
          <a:noFill/>
        </p:spPr>
        <p:txBody>
          <a:bodyPr wrap="none" lIns="0" rIns="0" tIns="0" bIns="0">
            <a:spAutoFit/>
          </a:bodyPr>
          <a:lstStyle/>
          <a:p>
            <a:r>
              <a:rPr sz="1150" b="0">
                <a:solidFill>
                  <a:srgbClr val="2E2E2E"/>
                </a:solidFill>
                <a:latin typeface="Calibri"/>
              </a:rPr>
              <a:t>▪ 3. Combination Framework Partial Dentures × Flexible Thermoplastics –</a:t>
            </a:r>
          </a:p>
        </p:txBody>
      </p:sp>
      <p:pic>
        <p:nvPicPr>
          <p:cNvPr id="44" name="Picture 43" descr="lock.png"/>
          <p:cNvPicPr>
            <a:picLocks noChangeAspect="1"/>
          </p:cNvPicPr>
          <p:nvPr/>
        </p:nvPicPr>
        <p:blipFill>
          <a:blip r:embed="rId4"/>
          <a:stretch>
            <a:fillRect/>
          </a:stretch>
        </p:blipFill>
        <p:spPr>
          <a:xfrm>
            <a:off x="4635726" y="4369752"/>
            <a:ext cx="134549" cy="195707"/>
          </a:xfrm>
          <a:prstGeom prst="rect">
            <a:avLst/>
          </a:prstGeom>
        </p:spPr>
      </p:pic>
      <p:sp>
        <p:nvSpPr>
          <p:cNvPr id="45" name="TextBox 44"/>
          <p:cNvSpPr txBox="1"/>
          <p:nvPr/>
        </p:nvSpPr>
        <p:spPr>
          <a:xfrm>
            <a:off x="4810836" y="4379975"/>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6" name="Picture 45" descr="lock.png"/>
          <p:cNvPicPr>
            <a:picLocks noChangeAspect="1"/>
          </p:cNvPicPr>
          <p:nvPr/>
        </p:nvPicPr>
        <p:blipFill>
          <a:blip r:embed="rId4"/>
          <a:stretch>
            <a:fillRect/>
          </a:stretch>
        </p:blipFill>
        <p:spPr>
          <a:xfrm>
            <a:off x="4872987" y="4369752"/>
            <a:ext cx="134549" cy="195707"/>
          </a:xfrm>
          <a:prstGeom prst="rect">
            <a:avLst/>
          </a:prstGeom>
        </p:spPr>
      </p:pic>
      <p:sp>
        <p:nvSpPr>
          <p:cNvPr id="47" name="TextBox 46"/>
          <p:cNvSpPr txBox="1"/>
          <p:nvPr/>
        </p:nvSpPr>
        <p:spPr>
          <a:xfrm>
            <a:off x="5048097" y="4379975"/>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8" name="TextBox 47"/>
          <p:cNvSpPr txBox="1"/>
          <p:nvPr/>
        </p:nvSpPr>
        <p:spPr>
          <a:xfrm>
            <a:off x="276225" y="4607813"/>
            <a:ext cx="3573127" cy="194310"/>
          </a:xfrm>
          <a:prstGeom prst="rect">
            <a:avLst/>
          </a:prstGeom>
          <a:noFill/>
        </p:spPr>
        <p:txBody>
          <a:bodyPr wrap="none" lIns="0" rIns="0" tIns="0" bIns="0">
            <a:spAutoFit/>
          </a:bodyPr>
          <a:lstStyle/>
          <a:p>
            <a:r>
              <a:rPr sz="1150" b="0">
                <a:solidFill>
                  <a:srgbClr val="2E2E2E"/>
                </a:solidFill>
                <a:latin typeface="Calibri"/>
              </a:rPr>
              <a:t>▪ 4. Cast Metal Partial Dentures × Flexible Thermoplastics –</a:t>
            </a:r>
          </a:p>
        </p:txBody>
      </p:sp>
      <p:pic>
        <p:nvPicPr>
          <p:cNvPr id="49" name="Picture 48" descr="lock.png"/>
          <p:cNvPicPr>
            <a:picLocks noChangeAspect="1"/>
          </p:cNvPicPr>
          <p:nvPr/>
        </p:nvPicPr>
        <p:blipFill>
          <a:blip r:embed="rId4"/>
          <a:stretch>
            <a:fillRect/>
          </a:stretch>
        </p:blipFill>
        <p:spPr>
          <a:xfrm>
            <a:off x="3798506" y="4597590"/>
            <a:ext cx="134549" cy="195707"/>
          </a:xfrm>
          <a:prstGeom prst="rect">
            <a:avLst/>
          </a:prstGeom>
        </p:spPr>
      </p:pic>
      <p:sp>
        <p:nvSpPr>
          <p:cNvPr id="50" name="TextBox 49"/>
          <p:cNvSpPr txBox="1"/>
          <p:nvPr/>
        </p:nvSpPr>
        <p:spPr>
          <a:xfrm>
            <a:off x="3973615" y="4607813"/>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1" name="Picture 50" descr="lock.png"/>
          <p:cNvPicPr>
            <a:picLocks noChangeAspect="1"/>
          </p:cNvPicPr>
          <p:nvPr/>
        </p:nvPicPr>
        <p:blipFill>
          <a:blip r:embed="rId4"/>
          <a:stretch>
            <a:fillRect/>
          </a:stretch>
        </p:blipFill>
        <p:spPr>
          <a:xfrm>
            <a:off x="4035767" y="4597590"/>
            <a:ext cx="134549" cy="195707"/>
          </a:xfrm>
          <a:prstGeom prst="rect">
            <a:avLst/>
          </a:prstGeom>
        </p:spPr>
      </p:pic>
      <p:sp>
        <p:nvSpPr>
          <p:cNvPr id="52" name="TextBox 51"/>
          <p:cNvSpPr txBox="1"/>
          <p:nvPr/>
        </p:nvSpPr>
        <p:spPr>
          <a:xfrm>
            <a:off x="4210876" y="4607813"/>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53" name="TextBox 52"/>
          <p:cNvSpPr txBox="1"/>
          <p:nvPr/>
        </p:nvSpPr>
        <p:spPr>
          <a:xfrm>
            <a:off x="276225" y="4835651"/>
            <a:ext cx="3850964" cy="194310"/>
          </a:xfrm>
          <a:prstGeom prst="rect">
            <a:avLst/>
          </a:prstGeom>
          <a:noFill/>
        </p:spPr>
        <p:txBody>
          <a:bodyPr wrap="none" lIns="0" rIns="0" tIns="0" bIns="0">
            <a:spAutoFit/>
          </a:bodyPr>
          <a:lstStyle/>
          <a:p>
            <a:r>
              <a:rPr sz="1150" b="0">
                <a:solidFill>
                  <a:srgbClr val="2E2E2E"/>
                </a:solidFill>
                <a:latin typeface="Calibri"/>
              </a:rPr>
              <a:t>▪ 5. Cast Metal Partial Dentures × High-performance Polymers –</a:t>
            </a:r>
          </a:p>
        </p:txBody>
      </p:sp>
      <p:pic>
        <p:nvPicPr>
          <p:cNvPr id="54" name="Picture 53" descr="lock.png"/>
          <p:cNvPicPr>
            <a:picLocks noChangeAspect="1"/>
          </p:cNvPicPr>
          <p:nvPr/>
        </p:nvPicPr>
        <p:blipFill>
          <a:blip r:embed="rId4"/>
          <a:stretch>
            <a:fillRect/>
          </a:stretch>
        </p:blipFill>
        <p:spPr>
          <a:xfrm>
            <a:off x="4076343" y="4825428"/>
            <a:ext cx="134549" cy="195707"/>
          </a:xfrm>
          <a:prstGeom prst="rect">
            <a:avLst/>
          </a:prstGeom>
        </p:spPr>
      </p:pic>
      <p:sp>
        <p:nvSpPr>
          <p:cNvPr id="55" name="TextBox 54"/>
          <p:cNvSpPr txBox="1"/>
          <p:nvPr/>
        </p:nvSpPr>
        <p:spPr>
          <a:xfrm>
            <a:off x="4251453" y="4835651"/>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6" name="Picture 55" descr="lock.png"/>
          <p:cNvPicPr>
            <a:picLocks noChangeAspect="1"/>
          </p:cNvPicPr>
          <p:nvPr/>
        </p:nvPicPr>
        <p:blipFill>
          <a:blip r:embed="rId4"/>
          <a:stretch>
            <a:fillRect/>
          </a:stretch>
        </p:blipFill>
        <p:spPr>
          <a:xfrm>
            <a:off x="4313604" y="4825428"/>
            <a:ext cx="134549" cy="195707"/>
          </a:xfrm>
          <a:prstGeom prst="rect">
            <a:avLst/>
          </a:prstGeom>
        </p:spPr>
      </p:pic>
      <p:sp>
        <p:nvSpPr>
          <p:cNvPr id="57" name="TextBox 56"/>
          <p:cNvSpPr txBox="1"/>
          <p:nvPr/>
        </p:nvSpPr>
        <p:spPr>
          <a:xfrm>
            <a:off x="4488714" y="4835651"/>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58" name="TextBox 57"/>
          <p:cNvSpPr txBox="1"/>
          <p:nvPr/>
        </p:nvSpPr>
        <p:spPr>
          <a:xfrm>
            <a:off x="6029325" y="3924300"/>
            <a:ext cx="1657350" cy="194310"/>
          </a:xfrm>
          <a:prstGeom prst="rect">
            <a:avLst/>
          </a:prstGeom>
          <a:noFill/>
        </p:spPr>
        <p:txBody>
          <a:bodyPr wrap="none" lIns="0" rIns="0" tIns="0" bIns="0">
            <a:spAutoFit/>
          </a:bodyPr>
          <a:lstStyle/>
          <a:p>
            <a:r>
              <a:rPr sz="1150" b="0">
                <a:solidFill>
                  <a:srgbClr val="2E2E2E"/>
                </a:solidFill>
                <a:latin typeface="Calibri"/>
              </a:rPr>
              <a:t>▪ 'Acrylic Partial Dentures ×</a:t>
            </a:r>
          </a:p>
        </p:txBody>
      </p:sp>
      <p:sp>
        <p:nvSpPr>
          <p:cNvPr id="59" name="TextBox 58"/>
          <p:cNvSpPr txBox="1"/>
          <p:nvPr/>
        </p:nvSpPr>
        <p:spPr>
          <a:xfrm>
            <a:off x="6029325" y="4099560"/>
            <a:ext cx="1499616" cy="194310"/>
          </a:xfrm>
          <a:prstGeom prst="rect">
            <a:avLst/>
          </a:prstGeom>
          <a:noFill/>
        </p:spPr>
        <p:txBody>
          <a:bodyPr wrap="none" lIns="0" rIns="0" tIns="0" bIns="0">
            <a:spAutoFit/>
          </a:bodyPr>
          <a:lstStyle/>
          <a:p>
            <a:r>
              <a:rPr sz="1150" b="0">
                <a:solidFill>
                  <a:srgbClr val="2E2E2E"/>
                </a:solidFill>
                <a:latin typeface="Calibri"/>
              </a:rPr>
              <a:t>Flexible Thermoplastics'</a:t>
            </a:r>
          </a:p>
        </p:txBody>
      </p:sp>
      <p:sp>
        <p:nvSpPr>
          <p:cNvPr id="60" name="TextBox 59"/>
          <p:cNvSpPr txBox="1"/>
          <p:nvPr/>
        </p:nvSpPr>
        <p:spPr>
          <a:xfrm>
            <a:off x="6029325" y="4274820"/>
            <a:ext cx="356604" cy="194310"/>
          </a:xfrm>
          <a:prstGeom prst="rect">
            <a:avLst/>
          </a:prstGeom>
          <a:noFill/>
        </p:spPr>
        <p:txBody>
          <a:bodyPr wrap="none" lIns="0" rIns="0" tIns="0" bIns="0">
            <a:spAutoFit/>
          </a:bodyPr>
          <a:lstStyle/>
          <a:p>
            <a:r>
              <a:rPr sz="1150" b="0">
                <a:solidFill>
                  <a:srgbClr val="2E2E2E"/>
                </a:solidFill>
                <a:latin typeface="Calibri"/>
              </a:rPr>
              <a:t>adds</a:t>
            </a:r>
          </a:p>
        </p:txBody>
      </p:sp>
      <p:pic>
        <p:nvPicPr>
          <p:cNvPr id="61" name="Picture 60" descr="lock.png"/>
          <p:cNvPicPr>
            <a:picLocks noChangeAspect="1"/>
          </p:cNvPicPr>
          <p:nvPr/>
        </p:nvPicPr>
        <p:blipFill>
          <a:blip r:embed="rId4"/>
          <a:stretch>
            <a:fillRect/>
          </a:stretch>
        </p:blipFill>
        <p:spPr>
          <a:xfrm>
            <a:off x="6335083" y="4264596"/>
            <a:ext cx="134549" cy="195707"/>
          </a:xfrm>
          <a:prstGeom prst="rect">
            <a:avLst/>
          </a:prstGeom>
        </p:spPr>
      </p:pic>
      <p:sp>
        <p:nvSpPr>
          <p:cNvPr id="62" name="TextBox 61"/>
          <p:cNvSpPr txBox="1"/>
          <p:nvPr/>
        </p:nvSpPr>
        <p:spPr>
          <a:xfrm>
            <a:off x="6510192" y="4274820"/>
            <a:ext cx="1118803" cy="194310"/>
          </a:xfrm>
          <a:prstGeom prst="rect">
            <a:avLst/>
          </a:prstGeom>
          <a:noFill/>
        </p:spPr>
        <p:txBody>
          <a:bodyPr wrap="none" lIns="0" rIns="0" tIns="0" bIns="0">
            <a:spAutoFit/>
          </a:bodyPr>
          <a:lstStyle/>
          <a:p>
            <a:r>
              <a:rPr sz="1150" b="0">
                <a:solidFill>
                  <a:srgbClr val="2E2E2E"/>
                </a:solidFill>
                <a:latin typeface="Calibri"/>
              </a:rPr>
              <a:t>US$ Mn by 2036F</a:t>
            </a:r>
          </a:p>
        </p:txBody>
      </p:sp>
      <p:sp>
        <p:nvSpPr>
          <p:cNvPr id="63" name="TextBox 62"/>
          <p:cNvSpPr txBox="1"/>
          <p:nvPr/>
        </p:nvSpPr>
        <p:spPr>
          <a:xfrm>
            <a:off x="6029325" y="4450079"/>
            <a:ext cx="148939"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64" name="Picture 63" descr="lock.png"/>
          <p:cNvPicPr>
            <a:picLocks noChangeAspect="1"/>
          </p:cNvPicPr>
          <p:nvPr/>
        </p:nvPicPr>
        <p:blipFill>
          <a:blip r:embed="rId4"/>
          <a:stretch>
            <a:fillRect/>
          </a:stretch>
        </p:blipFill>
        <p:spPr>
          <a:xfrm>
            <a:off x="6127418" y="4439856"/>
            <a:ext cx="134549" cy="195707"/>
          </a:xfrm>
          <a:prstGeom prst="rect">
            <a:avLst/>
          </a:prstGeom>
        </p:spPr>
      </p:pic>
      <p:sp>
        <p:nvSpPr>
          <p:cNvPr id="65" name="TextBox 64"/>
          <p:cNvSpPr txBox="1"/>
          <p:nvPr/>
        </p:nvSpPr>
        <p:spPr>
          <a:xfrm>
            <a:off x="6302527" y="4450079"/>
            <a:ext cx="741126" cy="194310"/>
          </a:xfrm>
          <a:prstGeom prst="rect">
            <a:avLst/>
          </a:prstGeom>
          <a:noFill/>
        </p:spPr>
        <p:txBody>
          <a:bodyPr wrap="none" lIns="0" rIns="0" tIns="0" bIns="0">
            <a:spAutoFit/>
          </a:bodyPr>
          <a:lstStyle/>
          <a:p>
            <a:r>
              <a:rPr sz="1150" b="0">
                <a:solidFill>
                  <a:srgbClr val="2E2E2E"/>
                </a:solidFill>
                <a:latin typeface="Calibri"/>
              </a:rPr>
              <a:t>of the total</a:t>
            </a:r>
          </a:p>
        </p:txBody>
      </p:sp>
      <p:sp>
        <p:nvSpPr>
          <p:cNvPr id="66" name="TextBox 65"/>
          <p:cNvSpPr txBox="1"/>
          <p:nvPr/>
        </p:nvSpPr>
        <p:spPr>
          <a:xfrm>
            <a:off x="6029325" y="4625339"/>
            <a:ext cx="822994" cy="194310"/>
          </a:xfrm>
          <a:prstGeom prst="rect">
            <a:avLst/>
          </a:prstGeom>
          <a:noFill/>
        </p:spPr>
        <p:txBody>
          <a:bodyPr wrap="none" lIns="0" rIns="0" tIns="0" bIns="0">
            <a:spAutoFit/>
          </a:bodyPr>
          <a:lstStyle/>
          <a:p>
            <a:r>
              <a:rPr sz="1150" b="0">
                <a:solidFill>
                  <a:srgbClr val="2E2E2E"/>
                </a:solidFill>
                <a:latin typeface="Calibri"/>
              </a:rPr>
              <a:t>opportunity.</a:t>
            </a:r>
          </a:p>
        </p:txBody>
      </p:sp>
      <p:sp>
        <p:nvSpPr>
          <p:cNvPr id="67" name="TextBox 66"/>
          <p:cNvSpPr txBox="1"/>
          <p:nvPr/>
        </p:nvSpPr>
        <p:spPr>
          <a:xfrm>
            <a:off x="8124825" y="3924300"/>
            <a:ext cx="1657350" cy="194310"/>
          </a:xfrm>
          <a:prstGeom prst="rect">
            <a:avLst/>
          </a:prstGeom>
          <a:noFill/>
        </p:spPr>
        <p:txBody>
          <a:bodyPr wrap="none" lIns="0" rIns="0" tIns="0" bIns="0">
            <a:spAutoFit/>
          </a:bodyPr>
          <a:lstStyle/>
          <a:p>
            <a:r>
              <a:rPr sz="1150" b="0">
                <a:solidFill>
                  <a:srgbClr val="2E2E2E"/>
                </a:solidFill>
                <a:latin typeface="Calibri"/>
              </a:rPr>
              <a:t>▪ 'Acrylic Partial Dentures ×</a:t>
            </a:r>
          </a:p>
        </p:txBody>
      </p:sp>
      <p:sp>
        <p:nvSpPr>
          <p:cNvPr id="68" name="TextBox 67"/>
          <p:cNvSpPr txBox="1"/>
          <p:nvPr/>
        </p:nvSpPr>
        <p:spPr>
          <a:xfrm>
            <a:off x="8124825" y="4099560"/>
            <a:ext cx="1499616" cy="194310"/>
          </a:xfrm>
          <a:prstGeom prst="rect">
            <a:avLst/>
          </a:prstGeom>
          <a:noFill/>
        </p:spPr>
        <p:txBody>
          <a:bodyPr wrap="none" lIns="0" rIns="0" tIns="0" bIns="0">
            <a:spAutoFit/>
          </a:bodyPr>
          <a:lstStyle/>
          <a:p>
            <a:r>
              <a:rPr sz="1150" b="0">
                <a:solidFill>
                  <a:srgbClr val="2E2E2E"/>
                </a:solidFill>
                <a:latin typeface="Calibri"/>
              </a:rPr>
              <a:t>Flexible Thermoplastics'</a:t>
            </a:r>
          </a:p>
        </p:txBody>
      </p:sp>
      <p:sp>
        <p:nvSpPr>
          <p:cNvPr id="69" name="TextBox 68"/>
          <p:cNvSpPr txBox="1"/>
          <p:nvPr/>
        </p:nvSpPr>
        <p:spPr>
          <a:xfrm>
            <a:off x="8124825" y="4274820"/>
            <a:ext cx="689495" cy="194310"/>
          </a:xfrm>
          <a:prstGeom prst="rect">
            <a:avLst/>
          </a:prstGeom>
          <a:noFill/>
        </p:spPr>
        <p:txBody>
          <a:bodyPr wrap="none" lIns="0" rIns="0" tIns="0" bIns="0">
            <a:spAutoFit/>
          </a:bodyPr>
          <a:lstStyle/>
          <a:p>
            <a:r>
              <a:rPr sz="1150" b="0">
                <a:solidFill>
                  <a:srgbClr val="2E2E2E"/>
                </a:solidFill>
                <a:latin typeface="Calibri"/>
              </a:rPr>
              <a:t>grows at a</a:t>
            </a:r>
          </a:p>
        </p:txBody>
      </p:sp>
      <p:pic>
        <p:nvPicPr>
          <p:cNvPr id="70" name="Picture 69" descr="lock.png"/>
          <p:cNvPicPr>
            <a:picLocks noChangeAspect="1"/>
          </p:cNvPicPr>
          <p:nvPr/>
        </p:nvPicPr>
        <p:blipFill>
          <a:blip r:embed="rId4"/>
          <a:stretch>
            <a:fillRect/>
          </a:stretch>
        </p:blipFill>
        <p:spPr>
          <a:xfrm>
            <a:off x="8763474" y="4264596"/>
            <a:ext cx="134549" cy="195707"/>
          </a:xfrm>
          <a:prstGeom prst="rect">
            <a:avLst/>
          </a:prstGeom>
        </p:spPr>
      </p:pic>
      <p:sp>
        <p:nvSpPr>
          <p:cNvPr id="71" name="TextBox 70"/>
          <p:cNvSpPr txBox="1"/>
          <p:nvPr/>
        </p:nvSpPr>
        <p:spPr>
          <a:xfrm>
            <a:off x="8938584" y="4274820"/>
            <a:ext cx="446441" cy="194310"/>
          </a:xfrm>
          <a:prstGeom prst="rect">
            <a:avLst/>
          </a:prstGeom>
          <a:noFill/>
        </p:spPr>
        <p:txBody>
          <a:bodyPr wrap="none" lIns="0" rIns="0" tIns="0" bIns="0">
            <a:spAutoFit/>
          </a:bodyPr>
          <a:lstStyle/>
          <a:p>
            <a:r>
              <a:rPr sz="1150" b="0">
                <a:solidFill>
                  <a:srgbClr val="2E2E2E"/>
                </a:solidFill>
                <a:latin typeface="Calibri"/>
              </a:rPr>
              <a:t>CAGR,</a:t>
            </a:r>
          </a:p>
        </p:txBody>
      </p:sp>
      <p:pic>
        <p:nvPicPr>
          <p:cNvPr id="72" name="Picture 71" descr="lock.png"/>
          <p:cNvPicPr>
            <a:picLocks noChangeAspect="1"/>
          </p:cNvPicPr>
          <p:nvPr/>
        </p:nvPicPr>
        <p:blipFill>
          <a:blip r:embed="rId4"/>
          <a:stretch>
            <a:fillRect/>
          </a:stretch>
        </p:blipFill>
        <p:spPr>
          <a:xfrm>
            <a:off x="9334179" y="4264596"/>
            <a:ext cx="134549" cy="195707"/>
          </a:xfrm>
          <a:prstGeom prst="rect">
            <a:avLst/>
          </a:prstGeom>
        </p:spPr>
      </p:pic>
      <p:sp>
        <p:nvSpPr>
          <p:cNvPr id="73" name="TextBox 72"/>
          <p:cNvSpPr txBox="1"/>
          <p:nvPr/>
        </p:nvSpPr>
        <p:spPr>
          <a:xfrm>
            <a:off x="8124825" y="4450079"/>
            <a:ext cx="925400" cy="194310"/>
          </a:xfrm>
          <a:prstGeom prst="rect">
            <a:avLst/>
          </a:prstGeom>
          <a:noFill/>
        </p:spPr>
        <p:txBody>
          <a:bodyPr wrap="none" lIns="0" rIns="0" tIns="0" bIns="0">
            <a:spAutoFit/>
          </a:bodyPr>
          <a:lstStyle/>
          <a:p>
            <a:r>
              <a:rPr sz="1150" b="0">
                <a:solidFill>
                  <a:srgbClr val="2E2E2E"/>
                </a:solidFill>
                <a:latin typeface="Calibri"/>
              </a:rPr>
              <a:t>BPS above the</a:t>
            </a:r>
          </a:p>
        </p:txBody>
      </p:sp>
      <p:sp>
        <p:nvSpPr>
          <p:cNvPr id="74" name="TextBox 73"/>
          <p:cNvSpPr txBox="1"/>
          <p:nvPr/>
        </p:nvSpPr>
        <p:spPr>
          <a:xfrm>
            <a:off x="8124825" y="4625339"/>
            <a:ext cx="890029" cy="194310"/>
          </a:xfrm>
          <a:prstGeom prst="rect">
            <a:avLst/>
          </a:prstGeom>
          <a:noFill/>
        </p:spPr>
        <p:txBody>
          <a:bodyPr wrap="none" lIns="0" rIns="0" tIns="0" bIns="0">
            <a:spAutoFit/>
          </a:bodyPr>
          <a:lstStyle/>
          <a:p>
            <a:r>
              <a:rPr sz="1150" b="0">
                <a:solidFill>
                  <a:srgbClr val="2E2E2E"/>
                </a:solidFill>
                <a:latin typeface="Calibri"/>
              </a:rPr>
              <a:t>cross-section.</a:t>
            </a:r>
          </a:p>
        </p:txBody>
      </p:sp>
    </p:spTree>
  </p:cSld>
  <p:clrMapOvr>
    <a:masterClrMapping/>
  </p:clrMapOvr>
</p:sld>
</file>

<file path=ppt/slides/slide19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12.2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Product Type × Technology</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Snapshot: Product Type × Technology, 2026E vs 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North America market value (US$ Mn) for each product type sub-segment across technology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Value, Product Type × Technology, 2026E and 2036F (US$ Mn)</a:t>
            </a:r>
          </a:p>
        </p:txBody>
      </p:sp>
      <p:graphicFrame>
        <p:nvGraphicFramePr>
          <p:cNvPr id="13" name="Table 12"/>
          <p:cNvGraphicFramePr>
            <a:graphicFrameLocks noGrp="1"/>
          </p:cNvGraphicFramePr>
          <p:nvPr/>
        </p:nvGraphicFramePr>
        <p:xfrm>
          <a:off x="152400" y="1238250"/>
          <a:ext cx="11887202" cy="1724028"/>
        </p:xfrm>
        <a:graphic>
          <a:graphicData uri="http://schemas.openxmlformats.org/drawingml/2006/table">
            <a:tbl>
              <a:tblPr>
                <a:tableStyleId>{5C22544A-7EE6-4342-B048-85BDC9FD1C3A}</a:tableStyleId>
              </a:tblPr>
              <a:tblGrid>
                <a:gridCol w="5705558"/>
                <a:gridCol w="1030274"/>
                <a:gridCol w="1030274"/>
                <a:gridCol w="1030274"/>
                <a:gridCol w="1030274"/>
                <a:gridCol w="1030274"/>
                <a:gridCol w="1030274"/>
              </a:tblGrid>
              <a:tr h="246126">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Conventional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Digital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6317">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317">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909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17" name="Rectangle 16"/>
          <p:cNvSpPr/>
          <p:nvPr/>
        </p:nvSpPr>
        <p:spPr>
          <a:xfrm>
            <a:off x="276225" y="36290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714750"/>
            <a:ext cx="1163955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8762089" y="2079785"/>
            <a:ext cx="366712" cy="533400"/>
          </a:xfrm>
          <a:prstGeom prst="rect">
            <a:avLst/>
          </a:prstGeom>
        </p:spPr>
      </p:pic>
      <p:sp>
        <p:nvSpPr>
          <p:cNvPr id="21" name="TextBox 20"/>
          <p:cNvSpPr txBox="1"/>
          <p:nvPr/>
        </p:nvSpPr>
        <p:spPr>
          <a:xfrm>
            <a:off x="276225" y="3724275"/>
            <a:ext cx="10360173" cy="194310"/>
          </a:xfrm>
          <a:prstGeom prst="rect">
            <a:avLst/>
          </a:prstGeom>
          <a:noFill/>
        </p:spPr>
        <p:txBody>
          <a:bodyPr wrap="none" lIns="0" rIns="0" tIns="0" bIns="0">
            <a:spAutoFit/>
          </a:bodyPr>
          <a:lstStyle/>
          <a:p>
            <a:r>
              <a:rPr sz="1150" b="0">
                <a:solidFill>
                  <a:srgbClr val="2E2E2E"/>
                </a:solidFill>
                <a:latin typeface="Calibri"/>
              </a:rPr>
              <a:t>Acrylic partial dentures segment is projected to account for the largest share of the North America removable partial dentures market, led by conventional fabrication at US$</a:t>
            </a:r>
          </a:p>
        </p:txBody>
      </p:sp>
      <p:pic>
        <p:nvPicPr>
          <p:cNvPr id="22" name="Picture 21" descr="lock.png"/>
          <p:cNvPicPr>
            <a:picLocks noChangeAspect="1"/>
          </p:cNvPicPr>
          <p:nvPr/>
        </p:nvPicPr>
        <p:blipFill>
          <a:blip r:embed="rId4"/>
          <a:stretch>
            <a:fillRect/>
          </a:stretch>
        </p:blipFill>
        <p:spPr>
          <a:xfrm>
            <a:off x="10585552" y="3714051"/>
            <a:ext cx="134549" cy="195707"/>
          </a:xfrm>
          <a:prstGeom prst="rect">
            <a:avLst/>
          </a:prstGeom>
        </p:spPr>
      </p:pic>
      <p:sp>
        <p:nvSpPr>
          <p:cNvPr id="23" name="TextBox 22"/>
          <p:cNvSpPr txBox="1"/>
          <p:nvPr/>
        </p:nvSpPr>
        <p:spPr>
          <a:xfrm>
            <a:off x="10760662" y="3724275"/>
            <a:ext cx="1107107" cy="194310"/>
          </a:xfrm>
          <a:prstGeom prst="rect">
            <a:avLst/>
          </a:prstGeom>
          <a:noFill/>
        </p:spPr>
        <p:txBody>
          <a:bodyPr wrap="none" lIns="0" rIns="0" tIns="0" bIns="0">
            <a:spAutoFit/>
          </a:bodyPr>
          <a:lstStyle/>
          <a:p>
            <a:r>
              <a:rPr sz="1150" b="0">
                <a:solidFill>
                  <a:srgbClr val="2E2E2E"/>
                </a:solidFill>
                <a:latin typeface="Calibri"/>
              </a:rPr>
              <a:t>Mn in 2036. 'Cast</a:t>
            </a:r>
          </a:p>
        </p:txBody>
      </p:sp>
      <p:sp>
        <p:nvSpPr>
          <p:cNvPr id="24" name="TextBox 23"/>
          <p:cNvSpPr txBox="1"/>
          <p:nvPr/>
        </p:nvSpPr>
        <p:spPr>
          <a:xfrm>
            <a:off x="276225" y="3899535"/>
            <a:ext cx="5471715" cy="194310"/>
          </a:xfrm>
          <a:prstGeom prst="rect">
            <a:avLst/>
          </a:prstGeom>
          <a:noFill/>
        </p:spPr>
        <p:txBody>
          <a:bodyPr wrap="none" lIns="0" rIns="0" tIns="0" bIns="0">
            <a:spAutoFit/>
          </a:bodyPr>
          <a:lstStyle/>
          <a:p>
            <a:r>
              <a:rPr sz="1150" b="0">
                <a:solidFill>
                  <a:srgbClr val="2E2E2E"/>
                </a:solidFill>
                <a:latin typeface="Calibri"/>
              </a:rPr>
              <a:t>Metal Partial Dentures × Conventional Fabrication' is the single largest cross-sectional cell (</a:t>
            </a:r>
          </a:p>
        </p:txBody>
      </p:sp>
      <p:pic>
        <p:nvPicPr>
          <p:cNvPr id="25" name="Picture 24" descr="lock.png"/>
          <p:cNvPicPr>
            <a:picLocks noChangeAspect="1"/>
          </p:cNvPicPr>
          <p:nvPr/>
        </p:nvPicPr>
        <p:blipFill>
          <a:blip r:embed="rId4"/>
          <a:stretch>
            <a:fillRect/>
          </a:stretch>
        </p:blipFill>
        <p:spPr>
          <a:xfrm>
            <a:off x="5697094" y="3889311"/>
            <a:ext cx="134549" cy="195707"/>
          </a:xfrm>
          <a:prstGeom prst="rect">
            <a:avLst/>
          </a:prstGeom>
        </p:spPr>
      </p:pic>
      <p:sp>
        <p:nvSpPr>
          <p:cNvPr id="26" name="TextBox 25"/>
          <p:cNvSpPr txBox="1"/>
          <p:nvPr/>
        </p:nvSpPr>
        <p:spPr>
          <a:xfrm>
            <a:off x="5872203" y="3899535"/>
            <a:ext cx="5674245" cy="194310"/>
          </a:xfrm>
          <a:prstGeom prst="rect">
            <a:avLst/>
          </a:prstGeom>
          <a:noFill/>
        </p:spPr>
        <p:txBody>
          <a:bodyPr wrap="none" lIns="0" rIns="0" tIns="0" bIns="0">
            <a:spAutoFit/>
          </a:bodyPr>
          <a:lstStyle/>
          <a:p>
            <a:r>
              <a:rPr sz="1150" b="0">
                <a:solidFill>
                  <a:srgbClr val="2E2E2E"/>
                </a:solidFill>
                <a:latin typeface="Calibri"/>
              </a:rPr>
              <a:t>US$ Mn, 2026E), while 'Acrylic Partial Dentures × Conventional Fabrication' records the fastest</a:t>
            </a:r>
          </a:p>
        </p:txBody>
      </p:sp>
      <p:sp>
        <p:nvSpPr>
          <p:cNvPr id="27" name="TextBox 26"/>
          <p:cNvSpPr txBox="1"/>
          <p:nvPr/>
        </p:nvSpPr>
        <p:spPr>
          <a:xfrm>
            <a:off x="276225" y="4074794"/>
            <a:ext cx="1279668" cy="194310"/>
          </a:xfrm>
          <a:prstGeom prst="rect">
            <a:avLst/>
          </a:prstGeom>
          <a:noFill/>
        </p:spPr>
        <p:txBody>
          <a:bodyPr wrap="none" lIns="0" rIns="0" tIns="0" bIns="0">
            <a:spAutoFit/>
          </a:bodyPr>
          <a:lstStyle/>
          <a:p>
            <a:r>
              <a:rPr sz="1150" b="0">
                <a:solidFill>
                  <a:srgbClr val="2E2E2E"/>
                </a:solidFill>
                <a:latin typeface="Calibri"/>
              </a:rPr>
              <a:t>growth at a CAGR of</a:t>
            </a:r>
          </a:p>
        </p:txBody>
      </p:sp>
      <p:pic>
        <p:nvPicPr>
          <p:cNvPr id="28" name="Picture 27" descr="lock.png"/>
          <p:cNvPicPr>
            <a:picLocks noChangeAspect="1"/>
          </p:cNvPicPr>
          <p:nvPr/>
        </p:nvPicPr>
        <p:blipFill>
          <a:blip r:embed="rId4"/>
          <a:stretch>
            <a:fillRect/>
          </a:stretch>
        </p:blipFill>
        <p:spPr>
          <a:xfrm>
            <a:off x="1505047" y="4064571"/>
            <a:ext cx="134549" cy="195707"/>
          </a:xfrm>
          <a:prstGeom prst="rect">
            <a:avLst/>
          </a:prstGeom>
        </p:spPr>
      </p:pic>
      <p:sp>
        <p:nvSpPr>
          <p:cNvPr id="29" name="TextBox 28"/>
          <p:cNvSpPr txBox="1"/>
          <p:nvPr/>
        </p:nvSpPr>
        <p:spPr>
          <a:xfrm>
            <a:off x="1680156" y="4074794"/>
            <a:ext cx="1217001" cy="194310"/>
          </a:xfrm>
          <a:prstGeom prst="rect">
            <a:avLst/>
          </a:prstGeom>
          <a:noFill/>
        </p:spPr>
        <p:txBody>
          <a:bodyPr wrap="none" lIns="0" rIns="0" tIns="0" bIns="0">
            <a:spAutoFit/>
          </a:bodyPr>
          <a:lstStyle/>
          <a:p>
            <a:r>
              <a:rPr sz="1150" b="0">
                <a:solidFill>
                  <a:srgbClr val="2E2E2E"/>
                </a:solidFill>
                <a:latin typeface="Calibri"/>
              </a:rPr>
              <a:t>over 2026E–2036F.</a:t>
            </a:r>
          </a:p>
        </p:txBody>
      </p:sp>
      <p:sp>
        <p:nvSpPr>
          <p:cNvPr id="30" name="TextBox 29"/>
          <p:cNvSpPr txBox="1"/>
          <p:nvPr/>
        </p:nvSpPr>
        <p:spPr>
          <a:xfrm>
            <a:off x="276225" y="4302632"/>
            <a:ext cx="5732214" cy="194310"/>
          </a:xfrm>
          <a:prstGeom prst="rect">
            <a:avLst/>
          </a:prstGeom>
          <a:noFill/>
        </p:spPr>
        <p:txBody>
          <a:bodyPr wrap="none" lIns="0" rIns="0" tIns="0" bIns="0">
            <a:spAutoFit/>
          </a:bodyPr>
          <a:lstStyle/>
          <a:p>
            <a:r>
              <a:rPr sz="1150" b="0">
                <a:solidFill>
                  <a:srgbClr val="2E2E2E"/>
                </a:solidFill>
                <a:latin typeface="Calibri"/>
              </a:rPr>
              <a:t>Combined, the top three product type × technology cells generate an absolute $ opportunity of</a:t>
            </a:r>
          </a:p>
        </p:txBody>
      </p:sp>
      <p:pic>
        <p:nvPicPr>
          <p:cNvPr id="31" name="Picture 30" descr="lock.png"/>
          <p:cNvPicPr>
            <a:picLocks noChangeAspect="1"/>
          </p:cNvPicPr>
          <p:nvPr/>
        </p:nvPicPr>
        <p:blipFill>
          <a:blip r:embed="rId4"/>
          <a:stretch>
            <a:fillRect/>
          </a:stretch>
        </p:blipFill>
        <p:spPr>
          <a:xfrm>
            <a:off x="5957593" y="4292409"/>
            <a:ext cx="134549" cy="195707"/>
          </a:xfrm>
          <a:prstGeom prst="rect">
            <a:avLst/>
          </a:prstGeom>
        </p:spPr>
      </p:pic>
      <p:sp>
        <p:nvSpPr>
          <p:cNvPr id="32" name="TextBox 31"/>
          <p:cNvSpPr txBox="1"/>
          <p:nvPr/>
        </p:nvSpPr>
        <p:spPr>
          <a:xfrm>
            <a:off x="6132702" y="4302632"/>
            <a:ext cx="1155386" cy="194310"/>
          </a:xfrm>
          <a:prstGeom prst="rect">
            <a:avLst/>
          </a:prstGeom>
          <a:noFill/>
        </p:spPr>
        <p:txBody>
          <a:bodyPr wrap="none" lIns="0" rIns="0" tIns="0" bIns="0">
            <a:spAutoFit/>
          </a:bodyPr>
          <a:lstStyle/>
          <a:p>
            <a:r>
              <a:rPr sz="1150" b="0">
                <a:solidFill>
                  <a:srgbClr val="2E2E2E"/>
                </a:solidFill>
                <a:latin typeface="Calibri"/>
              </a:rPr>
              <a:t>US$ Mn by 2036F.</a:t>
            </a:r>
          </a:p>
        </p:txBody>
      </p:sp>
    </p:spTree>
  </p:cSld>
  <p:clrMapOvr>
    <a:masterClrMapping/>
  </p:clrMapOvr>
</p:sld>
</file>

<file path=ppt/slides/slide1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Share Analysis: Product Type × Technology, 2026E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North America market value, each row split across all technology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390775"/>
          </a:xfrm>
          <a:prstGeom prst="roundRect">
            <a:avLst>
              <a:gd name="adj" fmla="val 31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Share, Product Type × Technology, 2026E (% of each row)</a:t>
            </a:r>
          </a:p>
        </p:txBody>
      </p:sp>
      <p:graphicFrame>
        <p:nvGraphicFramePr>
          <p:cNvPr id="13" name="Table 12"/>
          <p:cNvGraphicFramePr>
            <a:graphicFrameLocks noGrp="1"/>
          </p:cNvGraphicFramePr>
          <p:nvPr/>
        </p:nvGraphicFramePr>
        <p:xfrm>
          <a:off x="152400" y="1238250"/>
          <a:ext cx="11887200" cy="1924050"/>
        </p:xfrm>
        <a:graphic>
          <a:graphicData uri="http://schemas.openxmlformats.org/drawingml/2006/table">
            <a:tbl>
              <a:tblPr>
                <a:tableStyleId>{5C22544A-7EE6-4342-B048-85BDC9FD1C3A}</a:tableStyleId>
              </a:tblPr>
              <a:tblGrid>
                <a:gridCol w="2604064"/>
                <a:gridCol w="864743"/>
                <a:gridCol w="2115650"/>
                <a:gridCol w="1078705"/>
                <a:gridCol w="1083507"/>
                <a:gridCol w="2109355"/>
                <a:gridCol w="1487370"/>
                <a:gridCol w="543806"/>
              </a:tblGrid>
              <a:tr h="246126">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3">
                  <a:txBody>
                    <a:bodyPr wrap="none"/>
                    <a:lstStyle/>
                    <a:p>
                      <a:pPr algn="ctr"/>
                      <a:r>
                        <a:rPr sz="1100" b="1">
                          <a:solidFill>
                            <a:srgbClr val="0B2E4A"/>
                          </a:solidFill>
                          <a:latin typeface="Calibri"/>
                        </a:rPr>
                        <a:t>Conventional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3">
                  <a:txBody>
                    <a:bodyPr wrap="none"/>
                    <a:lstStyle/>
                    <a:p>
                      <a:pPr algn="ctr"/>
                      <a:r>
                        <a:rPr sz="1100" b="1">
                          <a:solidFill>
                            <a:srgbClr val="0B2E4A"/>
                          </a:solidFill>
                          <a:latin typeface="Calibri"/>
                        </a:rPr>
                        <a:t>Digital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440309">
                <a:tc vMerge="1">
                  <a:txBody>
                    <a:bodyPr wrap="none"/>
                    <a:lstStyle/>
                    <a:p>
                      <a:pPr algn="l"/>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Metal Casting</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Heat-cured / Compression Processing</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Injection Molding</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CAD/CAM Milling</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3D Printing / Additive Manufacturing</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Hybrid Digital Fabrication</a:t>
                      </a:r>
                      <a:endParaRPr sz="1100"/>
                    </a:p>
                  </a:txBody>
                  <a:tcPr marL="47625" marR="38100" marT="19050" marB="19050" anchor="ctr">
                    <a:solidFill>
                      <a:srgbClr val="E0E8EF"/>
                    </a:solidFill>
                  </a:tcPr>
                </a:tc>
                <a:tc>
                  <a:txBody>
                    <a:bodyPr wrap="none"/>
                    <a:lstStyle/>
                    <a:p>
                      <a:pPr algn="ctr"/>
                      <a:endParaRPr sz="1100"/>
                    </a:p>
                  </a:txBody>
                  <a:tcPr marL="47625" marR="38100" marT="19050" marB="19050" anchor="ctr">
                    <a:solidFill>
                      <a:srgbClr val="E0E8EF"/>
                    </a:solidFill>
                  </a:tcPr>
                </a:tc>
              </a:tr>
              <a:tr h="247523">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23">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23">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23">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23">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71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05200"/>
            <a:ext cx="7286625" cy="3124200"/>
          </a:xfrm>
          <a:prstGeom prst="roundRect">
            <a:avLst>
              <a:gd name="adj" fmla="val 24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562350"/>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Technology Mix by Product Type, 2026E (% share)</a:t>
            </a:r>
          </a:p>
        </p:txBody>
      </p:sp>
      <p:graphicFrame>
        <p:nvGraphicFramePr>
          <p:cNvPr id="17" name="Chart 16"/>
          <p:cNvGraphicFramePr>
            <a:graphicFrameLocks noGrp="1"/>
          </p:cNvGraphicFramePr>
          <p:nvPr/>
        </p:nvGraphicFramePr>
        <p:xfrm>
          <a:off x="238125" y="3790950"/>
          <a:ext cx="7096125" cy="2781300"/>
        </p:xfrm>
        <a:graphic>
          <a:graphicData uri="http://schemas.openxmlformats.org/drawingml/2006/chart">
            <c:chart xmlns:c="http://schemas.openxmlformats.org/drawingml/2006/chart" r:id="rId3"/>
          </a:graphicData>
        </a:graphic>
      </p:graphicFrame>
      <p:sp>
        <p:nvSpPr>
          <p:cNvPr id="18" name="Rounded Rectangle 17"/>
          <p:cNvSpPr/>
          <p:nvPr/>
        </p:nvSpPr>
        <p:spPr>
          <a:xfrm>
            <a:off x="7581900" y="3505200"/>
            <a:ext cx="4457700" cy="3124200"/>
          </a:xfrm>
          <a:prstGeom prst="roundRect">
            <a:avLst>
              <a:gd name="adj" fmla="val 24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7715250" y="3590925"/>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20" name="Rectangle 19"/>
          <p:cNvSpPr/>
          <p:nvPr/>
        </p:nvSpPr>
        <p:spPr>
          <a:xfrm>
            <a:off x="7715250" y="3829050"/>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7715250" y="3914775"/>
            <a:ext cx="4191000" cy="2638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5"/>
          <a:stretch>
            <a:fillRect/>
          </a:stretch>
        </p:blipFill>
        <p:spPr>
          <a:xfrm>
            <a:off x="7211341" y="2276792"/>
            <a:ext cx="366712" cy="533400"/>
          </a:xfrm>
          <a:prstGeom prst="rect">
            <a:avLst/>
          </a:prstGeom>
        </p:spPr>
      </p:pic>
      <p:pic>
        <p:nvPicPr>
          <p:cNvPr id="24" name="Picture 23" descr="lock.png"/>
          <p:cNvPicPr>
            <a:picLocks noChangeAspect="1"/>
          </p:cNvPicPr>
          <p:nvPr/>
        </p:nvPicPr>
        <p:blipFill>
          <a:blip r:embed="rId5"/>
          <a:stretch>
            <a:fillRect/>
          </a:stretch>
        </p:blipFill>
        <p:spPr>
          <a:xfrm>
            <a:off x="3747745" y="4372085"/>
            <a:ext cx="365513" cy="531655"/>
          </a:xfrm>
          <a:prstGeom prst="rect">
            <a:avLst/>
          </a:prstGeom>
        </p:spPr>
      </p:pic>
      <p:sp>
        <p:nvSpPr>
          <p:cNvPr id="25" name="TextBox 24"/>
          <p:cNvSpPr txBox="1"/>
          <p:nvPr/>
        </p:nvSpPr>
        <p:spPr>
          <a:xfrm>
            <a:off x="7715250" y="3924300"/>
            <a:ext cx="4021832" cy="194310"/>
          </a:xfrm>
          <a:prstGeom prst="rect">
            <a:avLst/>
          </a:prstGeom>
          <a:noFill/>
        </p:spPr>
        <p:txBody>
          <a:bodyPr wrap="none" lIns="0" rIns="0" tIns="0" bIns="0">
            <a:spAutoFit/>
          </a:bodyPr>
          <a:lstStyle/>
          <a:p>
            <a:r>
              <a:rPr sz="1150" b="0">
                <a:solidFill>
                  <a:srgbClr val="2E2E2E"/>
                </a:solidFill>
                <a:latin typeface="Calibri"/>
              </a:rPr>
              <a:t>▪ 'Heat-cured / Compression Processing' holds the highest share of</a:t>
            </a:r>
          </a:p>
        </p:txBody>
      </p:sp>
      <p:sp>
        <p:nvSpPr>
          <p:cNvPr id="26" name="TextBox 25"/>
          <p:cNvSpPr txBox="1"/>
          <p:nvPr/>
        </p:nvSpPr>
        <p:spPr>
          <a:xfrm>
            <a:off x="7715250" y="4099560"/>
            <a:ext cx="1924930" cy="194310"/>
          </a:xfrm>
          <a:prstGeom prst="rect">
            <a:avLst/>
          </a:prstGeom>
          <a:noFill/>
        </p:spPr>
        <p:txBody>
          <a:bodyPr wrap="none" lIns="0" rIns="0" tIns="0" bIns="0">
            <a:spAutoFit/>
          </a:bodyPr>
          <a:lstStyle/>
          <a:p>
            <a:r>
              <a:rPr sz="1150" b="0">
                <a:solidFill>
                  <a:srgbClr val="2E2E2E"/>
                </a:solidFill>
                <a:latin typeface="Calibri"/>
              </a:rPr>
              <a:t>'Cast Metal Partial Dentures' at</a:t>
            </a:r>
          </a:p>
        </p:txBody>
      </p:sp>
      <p:pic>
        <p:nvPicPr>
          <p:cNvPr id="27" name="Picture 26" descr="lock.png"/>
          <p:cNvPicPr>
            <a:picLocks noChangeAspect="1"/>
          </p:cNvPicPr>
          <p:nvPr/>
        </p:nvPicPr>
        <p:blipFill>
          <a:blip r:embed="rId5"/>
          <a:stretch>
            <a:fillRect/>
          </a:stretch>
        </p:blipFill>
        <p:spPr>
          <a:xfrm>
            <a:off x="9589334" y="4089336"/>
            <a:ext cx="134549" cy="195707"/>
          </a:xfrm>
          <a:prstGeom prst="rect">
            <a:avLst/>
          </a:prstGeom>
        </p:spPr>
      </p:pic>
      <p:sp>
        <p:nvSpPr>
          <p:cNvPr id="28" name="TextBox 27"/>
          <p:cNvSpPr txBox="1"/>
          <p:nvPr/>
        </p:nvSpPr>
        <p:spPr>
          <a:xfrm>
            <a:off x="9764443" y="4099560"/>
            <a:ext cx="569404" cy="194310"/>
          </a:xfrm>
          <a:prstGeom prst="rect">
            <a:avLst/>
          </a:prstGeom>
          <a:noFill/>
        </p:spPr>
        <p:txBody>
          <a:bodyPr wrap="none" lIns="0" rIns="0" tIns="0" bIns="0">
            <a:spAutoFit/>
          </a:bodyPr>
          <a:lstStyle/>
          <a:p>
            <a:r>
              <a:rPr sz="1150" b="0">
                <a:solidFill>
                  <a:srgbClr val="2E2E2E"/>
                </a:solidFill>
                <a:latin typeface="Calibri"/>
              </a:rPr>
              <a:t>(2026E).</a:t>
            </a:r>
          </a:p>
        </p:txBody>
      </p:sp>
      <p:sp>
        <p:nvSpPr>
          <p:cNvPr id="29" name="TextBox 28"/>
          <p:cNvSpPr txBox="1"/>
          <p:nvPr/>
        </p:nvSpPr>
        <p:spPr>
          <a:xfrm>
            <a:off x="7715250" y="4327397"/>
            <a:ext cx="4171950" cy="194310"/>
          </a:xfrm>
          <a:prstGeom prst="rect">
            <a:avLst/>
          </a:prstGeom>
          <a:noFill/>
        </p:spPr>
        <p:txBody>
          <a:bodyPr wrap="none" lIns="0" rIns="0" tIns="0" bIns="0">
            <a:spAutoFit/>
          </a:bodyPr>
          <a:lstStyle/>
          <a:p>
            <a:r>
              <a:rPr sz="1150" b="0">
                <a:solidFill>
                  <a:srgbClr val="2E2E2E"/>
                </a:solidFill>
                <a:latin typeface="Calibri"/>
              </a:rPr>
              <a:t>▪ 'Cast Metal Partial Dentures' is the most concentrated product type</a:t>
            </a:r>
          </a:p>
        </p:txBody>
      </p:sp>
      <p:sp>
        <p:nvSpPr>
          <p:cNvPr id="30" name="TextBox 29"/>
          <p:cNvSpPr txBox="1"/>
          <p:nvPr/>
        </p:nvSpPr>
        <p:spPr>
          <a:xfrm>
            <a:off x="7715250" y="4502657"/>
            <a:ext cx="1178706" cy="194310"/>
          </a:xfrm>
          <a:prstGeom prst="rect">
            <a:avLst/>
          </a:prstGeom>
          <a:noFill/>
        </p:spPr>
        <p:txBody>
          <a:bodyPr wrap="none" lIns="0" rIns="0" tIns="0" bIns="0">
            <a:spAutoFit/>
          </a:bodyPr>
          <a:lstStyle/>
          <a:p>
            <a:r>
              <a:rPr sz="1150" b="0">
                <a:solidFill>
                  <a:srgbClr val="2E2E2E"/>
                </a:solidFill>
                <a:latin typeface="Calibri"/>
              </a:rPr>
              <a:t>sub-segment, with</a:t>
            </a:r>
          </a:p>
        </p:txBody>
      </p:sp>
      <p:pic>
        <p:nvPicPr>
          <p:cNvPr id="31" name="Picture 30" descr="lock.png"/>
          <p:cNvPicPr>
            <a:picLocks noChangeAspect="1"/>
          </p:cNvPicPr>
          <p:nvPr/>
        </p:nvPicPr>
        <p:blipFill>
          <a:blip r:embed="rId5"/>
          <a:stretch>
            <a:fillRect/>
          </a:stretch>
        </p:blipFill>
        <p:spPr>
          <a:xfrm>
            <a:off x="8843110" y="4492434"/>
            <a:ext cx="134549" cy="195707"/>
          </a:xfrm>
          <a:prstGeom prst="rect">
            <a:avLst/>
          </a:prstGeom>
        </p:spPr>
      </p:pic>
      <p:sp>
        <p:nvSpPr>
          <p:cNvPr id="32" name="TextBox 31"/>
          <p:cNvSpPr txBox="1"/>
          <p:nvPr/>
        </p:nvSpPr>
        <p:spPr>
          <a:xfrm>
            <a:off x="9018219" y="4502657"/>
            <a:ext cx="2553344" cy="194310"/>
          </a:xfrm>
          <a:prstGeom prst="rect">
            <a:avLst/>
          </a:prstGeom>
          <a:noFill/>
        </p:spPr>
        <p:txBody>
          <a:bodyPr wrap="none" lIns="0" rIns="0" tIns="0" bIns="0">
            <a:spAutoFit/>
          </a:bodyPr>
          <a:lstStyle/>
          <a:p>
            <a:r>
              <a:rPr sz="1150" b="0">
                <a:solidFill>
                  <a:srgbClr val="2E2E2E"/>
                </a:solidFill>
                <a:latin typeface="Calibri"/>
              </a:rPr>
              <a:t>of its value via 'Heat-cured / Compression</a:t>
            </a:r>
          </a:p>
        </p:txBody>
      </p:sp>
      <p:sp>
        <p:nvSpPr>
          <p:cNvPr id="33" name="TextBox 32"/>
          <p:cNvSpPr txBox="1"/>
          <p:nvPr/>
        </p:nvSpPr>
        <p:spPr>
          <a:xfrm>
            <a:off x="7715250" y="4677917"/>
            <a:ext cx="776783" cy="194310"/>
          </a:xfrm>
          <a:prstGeom prst="rect">
            <a:avLst/>
          </a:prstGeom>
          <a:noFill/>
        </p:spPr>
        <p:txBody>
          <a:bodyPr wrap="none" lIns="0" rIns="0" tIns="0" bIns="0">
            <a:spAutoFit/>
          </a:bodyPr>
          <a:lstStyle/>
          <a:p>
            <a:r>
              <a:rPr sz="1150" b="0">
                <a:solidFill>
                  <a:srgbClr val="2E2E2E"/>
                </a:solidFill>
                <a:latin typeface="Calibri"/>
              </a:rPr>
              <a:t>Processing'.</a:t>
            </a:r>
          </a:p>
        </p:txBody>
      </p:sp>
      <p:sp>
        <p:nvSpPr>
          <p:cNvPr id="34" name="TextBox 33"/>
          <p:cNvSpPr txBox="1"/>
          <p:nvPr/>
        </p:nvSpPr>
        <p:spPr>
          <a:xfrm>
            <a:off x="7715250" y="4905755"/>
            <a:ext cx="1486780" cy="194310"/>
          </a:xfrm>
          <a:prstGeom prst="rect">
            <a:avLst/>
          </a:prstGeom>
          <a:noFill/>
        </p:spPr>
        <p:txBody>
          <a:bodyPr wrap="none" lIns="0" rIns="0" tIns="0" bIns="0">
            <a:spAutoFit/>
          </a:bodyPr>
          <a:lstStyle/>
          <a:p>
            <a:r>
              <a:rPr sz="1150" b="0">
                <a:solidFill>
                  <a:srgbClr val="2E2E2E"/>
                </a:solidFill>
                <a:latin typeface="Calibri"/>
              </a:rPr>
              <a:t>▪ 'Metal Casting' gains +</a:t>
            </a:r>
          </a:p>
        </p:txBody>
      </p:sp>
      <p:pic>
        <p:nvPicPr>
          <p:cNvPr id="35" name="Picture 34" descr="lock.png"/>
          <p:cNvPicPr>
            <a:picLocks noChangeAspect="1"/>
          </p:cNvPicPr>
          <p:nvPr/>
        </p:nvPicPr>
        <p:blipFill>
          <a:blip r:embed="rId5"/>
          <a:stretch>
            <a:fillRect/>
          </a:stretch>
        </p:blipFill>
        <p:spPr>
          <a:xfrm>
            <a:off x="9151184" y="4895532"/>
            <a:ext cx="134549" cy="195707"/>
          </a:xfrm>
          <a:prstGeom prst="rect">
            <a:avLst/>
          </a:prstGeom>
        </p:spPr>
      </p:pic>
      <p:sp>
        <p:nvSpPr>
          <p:cNvPr id="36" name="TextBox 35"/>
          <p:cNvSpPr txBox="1"/>
          <p:nvPr/>
        </p:nvSpPr>
        <p:spPr>
          <a:xfrm>
            <a:off x="9326293" y="4905755"/>
            <a:ext cx="2104640" cy="194310"/>
          </a:xfrm>
          <a:prstGeom prst="rect">
            <a:avLst/>
          </a:prstGeom>
          <a:noFill/>
        </p:spPr>
        <p:txBody>
          <a:bodyPr wrap="none" lIns="0" rIns="0" tIns="0" bIns="0">
            <a:spAutoFit/>
          </a:bodyPr>
          <a:lstStyle/>
          <a:p>
            <a:r>
              <a:rPr sz="1150" b="0">
                <a:solidFill>
                  <a:srgbClr val="2E2E2E"/>
                </a:solidFill>
                <a:latin typeface="Calibri"/>
              </a:rPr>
              <a:t>BPS of share of the North America</a:t>
            </a:r>
          </a:p>
        </p:txBody>
      </p:sp>
      <p:sp>
        <p:nvSpPr>
          <p:cNvPr id="37" name="TextBox 36"/>
          <p:cNvSpPr txBox="1"/>
          <p:nvPr/>
        </p:nvSpPr>
        <p:spPr>
          <a:xfrm>
            <a:off x="7715250" y="5081015"/>
            <a:ext cx="1462605" cy="194310"/>
          </a:xfrm>
          <a:prstGeom prst="rect">
            <a:avLst/>
          </a:prstGeom>
          <a:noFill/>
        </p:spPr>
        <p:txBody>
          <a:bodyPr wrap="none" lIns="0" rIns="0" tIns="0" bIns="0">
            <a:spAutoFit/>
          </a:bodyPr>
          <a:lstStyle/>
          <a:p>
            <a:r>
              <a:rPr sz="1150" b="0">
                <a:solidFill>
                  <a:srgbClr val="2E2E2E"/>
                </a:solidFill>
                <a:latin typeface="Calibri"/>
              </a:rPr>
              <a:t>cross-section by 2036F.</a:t>
            </a:r>
          </a:p>
        </p:txBody>
      </p:sp>
      <p:sp>
        <p:nvSpPr>
          <p:cNvPr id="38" name="lockshield_17"/>
          <p:cNvSpPr/>
          <p:nvPr/>
        </p:nvSpPr>
        <p:spPr>
          <a:xfrm>
            <a:off x="238125" y="3790950"/>
            <a:ext cx="7096125" cy="27813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&amp; Attractiveness: Product Type × Technology, 2026E–2036F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North America</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Product Type × Technology, 2026E–2036F</a:t>
            </a:r>
          </a:p>
        </p:txBody>
      </p:sp>
      <p:graphicFrame>
        <p:nvGraphicFramePr>
          <p:cNvPr id="13" name="Table 12"/>
          <p:cNvGraphicFramePr>
            <a:graphicFrameLocks noGrp="1"/>
          </p:cNvGraphicFramePr>
          <p:nvPr/>
        </p:nvGraphicFramePr>
        <p:xfrm>
          <a:off x="152400" y="1238250"/>
          <a:ext cx="11887198" cy="1724028"/>
        </p:xfrm>
        <a:graphic>
          <a:graphicData uri="http://schemas.openxmlformats.org/drawingml/2006/table">
            <a:tbl>
              <a:tblPr>
                <a:tableStyleId>{5C22544A-7EE6-4342-B048-85BDC9FD1C3A}</a:tableStyleId>
              </a:tblPr>
              <a:tblGrid>
                <a:gridCol w="5084896"/>
                <a:gridCol w="1133717"/>
                <a:gridCol w="1133717"/>
                <a:gridCol w="1133717"/>
                <a:gridCol w="1133717"/>
                <a:gridCol w="1133717"/>
                <a:gridCol w="1133717"/>
              </a:tblGrid>
              <a:tr h="246126">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Conventional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Digital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6317">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46317">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560070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90900"/>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7" name="Rectangle 16"/>
          <p:cNvSpPr/>
          <p:nvPr/>
        </p:nvSpPr>
        <p:spPr>
          <a:xfrm>
            <a:off x="276225" y="3629025"/>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714750"/>
            <a:ext cx="533400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Rounded Rectangle 18"/>
          <p:cNvSpPr/>
          <p:nvPr/>
        </p:nvSpPr>
        <p:spPr>
          <a:xfrm>
            <a:off x="5895975" y="3305175"/>
            <a:ext cx="1943100" cy="33242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029325" y="3390900"/>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21" name="Rectangle 20"/>
          <p:cNvSpPr/>
          <p:nvPr/>
        </p:nvSpPr>
        <p:spPr>
          <a:xfrm>
            <a:off x="6029325" y="36290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029325" y="3714750"/>
            <a:ext cx="167640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3" name="Rounded Rectangle 22"/>
          <p:cNvSpPr/>
          <p:nvPr/>
        </p:nvSpPr>
        <p:spPr>
          <a:xfrm>
            <a:off x="7991475" y="3305175"/>
            <a:ext cx="1943100" cy="33242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124825" y="3390900"/>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5" name="Rectangle 24"/>
          <p:cNvSpPr/>
          <p:nvPr/>
        </p:nvSpPr>
        <p:spPr>
          <a:xfrm>
            <a:off x="8124825" y="36290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124825" y="3714750"/>
            <a:ext cx="167640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7" name="Rounded Rectangle 26"/>
          <p:cNvSpPr/>
          <p:nvPr/>
        </p:nvSpPr>
        <p:spPr>
          <a:xfrm>
            <a:off x="10086975" y="3305175"/>
            <a:ext cx="1943100" cy="33242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220325" y="3390900"/>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9" name="Rectangle 28"/>
          <p:cNvSpPr/>
          <p:nvPr/>
        </p:nvSpPr>
        <p:spPr>
          <a:xfrm>
            <a:off x="10220325" y="36290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10220325" y="3714750"/>
            <a:ext cx="167640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'Acrylic Partial Dentures × Conventional Fabrication' ranks highest (5/5); 'Cast Metal Partial Dentures × Digital Fabrication' lowest (1/5), a deprioritised cell.</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4"/>
          <a:stretch>
            <a:fillRect/>
          </a:stretch>
        </p:blipFill>
        <p:spPr>
          <a:xfrm>
            <a:off x="8451757" y="2079785"/>
            <a:ext cx="366712" cy="533400"/>
          </a:xfrm>
          <a:prstGeom prst="rect">
            <a:avLst/>
          </a:prstGeom>
        </p:spPr>
      </p:pic>
      <p:sp>
        <p:nvSpPr>
          <p:cNvPr id="33" name="TextBox 32"/>
          <p:cNvSpPr txBox="1"/>
          <p:nvPr/>
        </p:nvSpPr>
        <p:spPr>
          <a:xfrm>
            <a:off x="276225" y="3724275"/>
            <a:ext cx="3424162" cy="194310"/>
          </a:xfrm>
          <a:prstGeom prst="rect">
            <a:avLst/>
          </a:prstGeom>
          <a:noFill/>
        </p:spPr>
        <p:txBody>
          <a:bodyPr wrap="none" lIns="0" rIns="0" tIns="0" bIns="0">
            <a:spAutoFit/>
          </a:bodyPr>
          <a:lstStyle/>
          <a:p>
            <a:r>
              <a:rPr sz="1150" b="0">
                <a:solidFill>
                  <a:srgbClr val="2E2E2E"/>
                </a:solidFill>
                <a:latin typeface="Calibri"/>
              </a:rPr>
              <a:t>▪ 1. Acrylic Partial Dentures × Conventional Fabrication –</a:t>
            </a:r>
          </a:p>
        </p:txBody>
      </p:sp>
      <p:pic>
        <p:nvPicPr>
          <p:cNvPr id="34" name="Picture 33" descr="lock.png"/>
          <p:cNvPicPr>
            <a:picLocks noChangeAspect="1"/>
          </p:cNvPicPr>
          <p:nvPr/>
        </p:nvPicPr>
        <p:blipFill>
          <a:blip r:embed="rId4"/>
          <a:stretch>
            <a:fillRect/>
          </a:stretch>
        </p:blipFill>
        <p:spPr>
          <a:xfrm>
            <a:off x="3649541" y="3714051"/>
            <a:ext cx="134549" cy="195707"/>
          </a:xfrm>
          <a:prstGeom prst="rect">
            <a:avLst/>
          </a:prstGeom>
        </p:spPr>
      </p:pic>
      <p:sp>
        <p:nvSpPr>
          <p:cNvPr id="35" name="TextBox 34"/>
          <p:cNvSpPr txBox="1"/>
          <p:nvPr/>
        </p:nvSpPr>
        <p:spPr>
          <a:xfrm>
            <a:off x="3824650" y="3724275"/>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6" name="Picture 35" descr="lock.png"/>
          <p:cNvPicPr>
            <a:picLocks noChangeAspect="1"/>
          </p:cNvPicPr>
          <p:nvPr/>
        </p:nvPicPr>
        <p:blipFill>
          <a:blip r:embed="rId4"/>
          <a:stretch>
            <a:fillRect/>
          </a:stretch>
        </p:blipFill>
        <p:spPr>
          <a:xfrm>
            <a:off x="3886802" y="3714051"/>
            <a:ext cx="134549" cy="195707"/>
          </a:xfrm>
          <a:prstGeom prst="rect">
            <a:avLst/>
          </a:prstGeom>
        </p:spPr>
      </p:pic>
      <p:sp>
        <p:nvSpPr>
          <p:cNvPr id="37" name="TextBox 36"/>
          <p:cNvSpPr txBox="1"/>
          <p:nvPr/>
        </p:nvSpPr>
        <p:spPr>
          <a:xfrm>
            <a:off x="4061911" y="3724275"/>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38" name="TextBox 37"/>
          <p:cNvSpPr txBox="1"/>
          <p:nvPr/>
        </p:nvSpPr>
        <p:spPr>
          <a:xfrm>
            <a:off x="276225" y="3952112"/>
            <a:ext cx="3484921" cy="194310"/>
          </a:xfrm>
          <a:prstGeom prst="rect">
            <a:avLst/>
          </a:prstGeom>
          <a:noFill/>
        </p:spPr>
        <p:txBody>
          <a:bodyPr wrap="none" lIns="0" rIns="0" tIns="0" bIns="0">
            <a:spAutoFit/>
          </a:bodyPr>
          <a:lstStyle/>
          <a:p>
            <a:r>
              <a:rPr sz="1150" b="0">
                <a:solidFill>
                  <a:srgbClr val="2E2E2E"/>
                </a:solidFill>
                <a:latin typeface="Calibri"/>
              </a:rPr>
              <a:t>▪ 2. Flexible Partial Dentures × Conventional Fabrication –</a:t>
            </a:r>
          </a:p>
        </p:txBody>
      </p:sp>
      <p:pic>
        <p:nvPicPr>
          <p:cNvPr id="39" name="Picture 38" descr="lock.png"/>
          <p:cNvPicPr>
            <a:picLocks noChangeAspect="1"/>
          </p:cNvPicPr>
          <p:nvPr/>
        </p:nvPicPr>
        <p:blipFill>
          <a:blip r:embed="rId4"/>
          <a:stretch>
            <a:fillRect/>
          </a:stretch>
        </p:blipFill>
        <p:spPr>
          <a:xfrm>
            <a:off x="3710300" y="3941889"/>
            <a:ext cx="134549" cy="195707"/>
          </a:xfrm>
          <a:prstGeom prst="rect">
            <a:avLst/>
          </a:prstGeom>
        </p:spPr>
      </p:pic>
      <p:sp>
        <p:nvSpPr>
          <p:cNvPr id="40" name="TextBox 39"/>
          <p:cNvSpPr txBox="1"/>
          <p:nvPr/>
        </p:nvSpPr>
        <p:spPr>
          <a:xfrm>
            <a:off x="3885409" y="3952112"/>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1" name="Picture 40" descr="lock.png"/>
          <p:cNvPicPr>
            <a:picLocks noChangeAspect="1"/>
          </p:cNvPicPr>
          <p:nvPr/>
        </p:nvPicPr>
        <p:blipFill>
          <a:blip r:embed="rId4"/>
          <a:stretch>
            <a:fillRect/>
          </a:stretch>
        </p:blipFill>
        <p:spPr>
          <a:xfrm>
            <a:off x="3947561" y="3941889"/>
            <a:ext cx="134549" cy="195707"/>
          </a:xfrm>
          <a:prstGeom prst="rect">
            <a:avLst/>
          </a:prstGeom>
        </p:spPr>
      </p:pic>
      <p:sp>
        <p:nvSpPr>
          <p:cNvPr id="42" name="TextBox 41"/>
          <p:cNvSpPr txBox="1"/>
          <p:nvPr/>
        </p:nvSpPr>
        <p:spPr>
          <a:xfrm>
            <a:off x="4122670" y="3952112"/>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3" name="TextBox 42"/>
          <p:cNvSpPr txBox="1"/>
          <p:nvPr/>
        </p:nvSpPr>
        <p:spPr>
          <a:xfrm>
            <a:off x="276225" y="4179950"/>
            <a:ext cx="4505845" cy="194310"/>
          </a:xfrm>
          <a:prstGeom prst="rect">
            <a:avLst/>
          </a:prstGeom>
          <a:noFill/>
        </p:spPr>
        <p:txBody>
          <a:bodyPr wrap="none" lIns="0" rIns="0" tIns="0" bIns="0">
            <a:spAutoFit/>
          </a:bodyPr>
          <a:lstStyle/>
          <a:p>
            <a:r>
              <a:rPr sz="1150" b="0">
                <a:solidFill>
                  <a:srgbClr val="2E2E2E"/>
                </a:solidFill>
                <a:latin typeface="Calibri"/>
              </a:rPr>
              <a:t>▪ 3. Combination Framework Partial Dentures × Conventional Fabrication –</a:t>
            </a:r>
          </a:p>
        </p:txBody>
      </p:sp>
      <p:pic>
        <p:nvPicPr>
          <p:cNvPr id="44" name="Picture 43" descr="lock.png"/>
          <p:cNvPicPr>
            <a:picLocks noChangeAspect="1"/>
          </p:cNvPicPr>
          <p:nvPr/>
        </p:nvPicPr>
        <p:blipFill>
          <a:blip r:embed="rId4"/>
          <a:stretch>
            <a:fillRect/>
          </a:stretch>
        </p:blipFill>
        <p:spPr>
          <a:xfrm>
            <a:off x="4731224" y="4169727"/>
            <a:ext cx="134549" cy="195707"/>
          </a:xfrm>
          <a:prstGeom prst="rect">
            <a:avLst/>
          </a:prstGeom>
        </p:spPr>
      </p:pic>
      <p:sp>
        <p:nvSpPr>
          <p:cNvPr id="45" name="TextBox 44"/>
          <p:cNvSpPr txBox="1"/>
          <p:nvPr/>
        </p:nvSpPr>
        <p:spPr>
          <a:xfrm>
            <a:off x="4906333" y="4179950"/>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6" name="Picture 45" descr="lock.png"/>
          <p:cNvPicPr>
            <a:picLocks noChangeAspect="1"/>
          </p:cNvPicPr>
          <p:nvPr/>
        </p:nvPicPr>
        <p:blipFill>
          <a:blip r:embed="rId4"/>
          <a:stretch>
            <a:fillRect/>
          </a:stretch>
        </p:blipFill>
        <p:spPr>
          <a:xfrm>
            <a:off x="4968485" y="4169727"/>
            <a:ext cx="134549" cy="195707"/>
          </a:xfrm>
          <a:prstGeom prst="rect">
            <a:avLst/>
          </a:prstGeom>
        </p:spPr>
      </p:pic>
      <p:sp>
        <p:nvSpPr>
          <p:cNvPr id="47" name="TextBox 46"/>
          <p:cNvSpPr txBox="1"/>
          <p:nvPr/>
        </p:nvSpPr>
        <p:spPr>
          <a:xfrm>
            <a:off x="5143594" y="4179950"/>
            <a:ext cx="112997" cy="194310"/>
          </a:xfrm>
          <a:prstGeom prst="rect">
            <a:avLst/>
          </a:prstGeom>
          <a:noFill/>
        </p:spPr>
        <p:txBody>
          <a:bodyPr wrap="none" lIns="0" rIns="0" tIns="0" bIns="0">
            <a:spAutoFit/>
          </a:bodyPr>
          <a:lstStyle/>
          <a:p>
            <a:r>
              <a:rPr sz="1150" b="0">
                <a:solidFill>
                  <a:srgbClr val="2E2E2E"/>
                </a:solidFill>
                <a:latin typeface="Calibri"/>
              </a:rPr>
              <a:t>·</a:t>
            </a:r>
          </a:p>
        </p:txBody>
      </p:sp>
      <p:sp>
        <p:nvSpPr>
          <p:cNvPr id="48" name="TextBox 47"/>
          <p:cNvSpPr txBox="1"/>
          <p:nvPr/>
        </p:nvSpPr>
        <p:spPr>
          <a:xfrm>
            <a:off x="276225" y="4355210"/>
            <a:ext cx="281012" cy="194310"/>
          </a:xfrm>
          <a:prstGeom prst="rect">
            <a:avLst/>
          </a:prstGeom>
          <a:noFill/>
        </p:spPr>
        <p:txBody>
          <a:bodyPr wrap="none" lIns="0" rIns="0" tIns="0" bIns="0">
            <a:spAutoFit/>
          </a:bodyPr>
          <a:lstStyle/>
          <a:p>
            <a:r>
              <a:rPr sz="1150" b="0">
                <a:solidFill>
                  <a:srgbClr val="2E2E2E"/>
                </a:solidFill>
                <a:latin typeface="Calibri"/>
              </a:rPr>
              <a:t>5/5</a:t>
            </a:r>
          </a:p>
        </p:txBody>
      </p:sp>
      <p:sp>
        <p:nvSpPr>
          <p:cNvPr id="49" name="TextBox 48"/>
          <p:cNvSpPr txBox="1"/>
          <p:nvPr/>
        </p:nvSpPr>
        <p:spPr>
          <a:xfrm>
            <a:off x="276225" y="4583048"/>
            <a:ext cx="3668625" cy="194310"/>
          </a:xfrm>
          <a:prstGeom prst="rect">
            <a:avLst/>
          </a:prstGeom>
          <a:noFill/>
        </p:spPr>
        <p:txBody>
          <a:bodyPr wrap="none" lIns="0" rIns="0" tIns="0" bIns="0">
            <a:spAutoFit/>
          </a:bodyPr>
          <a:lstStyle/>
          <a:p>
            <a:r>
              <a:rPr sz="1150" b="0">
                <a:solidFill>
                  <a:srgbClr val="2E2E2E"/>
                </a:solidFill>
                <a:latin typeface="Calibri"/>
              </a:rPr>
              <a:t>▪ 4. Cast Metal Partial Dentures × Conventional Fabrication –</a:t>
            </a:r>
          </a:p>
        </p:txBody>
      </p:sp>
      <p:pic>
        <p:nvPicPr>
          <p:cNvPr id="50" name="Picture 49" descr="lock.png"/>
          <p:cNvPicPr>
            <a:picLocks noChangeAspect="1"/>
          </p:cNvPicPr>
          <p:nvPr/>
        </p:nvPicPr>
        <p:blipFill>
          <a:blip r:embed="rId4"/>
          <a:stretch>
            <a:fillRect/>
          </a:stretch>
        </p:blipFill>
        <p:spPr>
          <a:xfrm>
            <a:off x="3894004" y="4572825"/>
            <a:ext cx="134549" cy="195707"/>
          </a:xfrm>
          <a:prstGeom prst="rect">
            <a:avLst/>
          </a:prstGeom>
        </p:spPr>
      </p:pic>
      <p:sp>
        <p:nvSpPr>
          <p:cNvPr id="51" name="TextBox 50"/>
          <p:cNvSpPr txBox="1"/>
          <p:nvPr/>
        </p:nvSpPr>
        <p:spPr>
          <a:xfrm>
            <a:off x="4069113" y="4583048"/>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2" name="Picture 51" descr="lock.png"/>
          <p:cNvPicPr>
            <a:picLocks noChangeAspect="1"/>
          </p:cNvPicPr>
          <p:nvPr/>
        </p:nvPicPr>
        <p:blipFill>
          <a:blip r:embed="rId4"/>
          <a:stretch>
            <a:fillRect/>
          </a:stretch>
        </p:blipFill>
        <p:spPr>
          <a:xfrm>
            <a:off x="4131265" y="4572825"/>
            <a:ext cx="134549" cy="195707"/>
          </a:xfrm>
          <a:prstGeom prst="rect">
            <a:avLst/>
          </a:prstGeom>
        </p:spPr>
      </p:pic>
      <p:sp>
        <p:nvSpPr>
          <p:cNvPr id="53" name="TextBox 52"/>
          <p:cNvSpPr txBox="1"/>
          <p:nvPr/>
        </p:nvSpPr>
        <p:spPr>
          <a:xfrm>
            <a:off x="4306374" y="4583048"/>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54" name="TextBox 53"/>
          <p:cNvSpPr txBox="1"/>
          <p:nvPr/>
        </p:nvSpPr>
        <p:spPr>
          <a:xfrm>
            <a:off x="276225" y="4810886"/>
            <a:ext cx="3076438" cy="194310"/>
          </a:xfrm>
          <a:prstGeom prst="rect">
            <a:avLst/>
          </a:prstGeom>
          <a:noFill/>
        </p:spPr>
        <p:txBody>
          <a:bodyPr wrap="none" lIns="0" rIns="0" tIns="0" bIns="0">
            <a:spAutoFit/>
          </a:bodyPr>
          <a:lstStyle/>
          <a:p>
            <a:r>
              <a:rPr sz="1150" b="0">
                <a:solidFill>
                  <a:srgbClr val="2E2E2E"/>
                </a:solidFill>
                <a:latin typeface="Calibri"/>
              </a:rPr>
              <a:t>▪ 5. Flexible Partial Dentures × Digital Fabrication –</a:t>
            </a:r>
          </a:p>
        </p:txBody>
      </p:sp>
      <p:pic>
        <p:nvPicPr>
          <p:cNvPr id="55" name="Picture 54" descr="lock.png"/>
          <p:cNvPicPr>
            <a:picLocks noChangeAspect="1"/>
          </p:cNvPicPr>
          <p:nvPr/>
        </p:nvPicPr>
        <p:blipFill>
          <a:blip r:embed="rId4"/>
          <a:stretch>
            <a:fillRect/>
          </a:stretch>
        </p:blipFill>
        <p:spPr>
          <a:xfrm>
            <a:off x="3301817" y="4800663"/>
            <a:ext cx="134549" cy="195707"/>
          </a:xfrm>
          <a:prstGeom prst="rect">
            <a:avLst/>
          </a:prstGeom>
        </p:spPr>
      </p:pic>
      <p:sp>
        <p:nvSpPr>
          <p:cNvPr id="56" name="TextBox 55"/>
          <p:cNvSpPr txBox="1"/>
          <p:nvPr/>
        </p:nvSpPr>
        <p:spPr>
          <a:xfrm>
            <a:off x="3476926" y="4810886"/>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7" name="Picture 56" descr="lock.png"/>
          <p:cNvPicPr>
            <a:picLocks noChangeAspect="1"/>
          </p:cNvPicPr>
          <p:nvPr/>
        </p:nvPicPr>
        <p:blipFill>
          <a:blip r:embed="rId4"/>
          <a:stretch>
            <a:fillRect/>
          </a:stretch>
        </p:blipFill>
        <p:spPr>
          <a:xfrm>
            <a:off x="3539078" y="4800663"/>
            <a:ext cx="134549" cy="195707"/>
          </a:xfrm>
          <a:prstGeom prst="rect">
            <a:avLst/>
          </a:prstGeom>
        </p:spPr>
      </p:pic>
      <p:sp>
        <p:nvSpPr>
          <p:cNvPr id="58" name="TextBox 57"/>
          <p:cNvSpPr txBox="1"/>
          <p:nvPr/>
        </p:nvSpPr>
        <p:spPr>
          <a:xfrm>
            <a:off x="3714187" y="4810886"/>
            <a:ext cx="350899" cy="194310"/>
          </a:xfrm>
          <a:prstGeom prst="rect">
            <a:avLst/>
          </a:prstGeom>
          <a:noFill/>
        </p:spPr>
        <p:txBody>
          <a:bodyPr wrap="none" lIns="0" rIns="0" tIns="0" bIns="0">
            <a:spAutoFit/>
          </a:bodyPr>
          <a:lstStyle/>
          <a:p>
            <a:r>
              <a:rPr sz="1150" b="0">
                <a:solidFill>
                  <a:srgbClr val="2E2E2E"/>
                </a:solidFill>
                <a:latin typeface="Calibri"/>
              </a:rPr>
              <a:t>· 2/5</a:t>
            </a:r>
          </a:p>
        </p:txBody>
      </p:sp>
      <p:sp>
        <p:nvSpPr>
          <p:cNvPr id="59" name="TextBox 58"/>
          <p:cNvSpPr txBox="1"/>
          <p:nvPr/>
        </p:nvSpPr>
        <p:spPr>
          <a:xfrm>
            <a:off x="6029325" y="3724275"/>
            <a:ext cx="1657350" cy="194310"/>
          </a:xfrm>
          <a:prstGeom prst="rect">
            <a:avLst/>
          </a:prstGeom>
          <a:noFill/>
        </p:spPr>
        <p:txBody>
          <a:bodyPr wrap="none" lIns="0" rIns="0" tIns="0" bIns="0">
            <a:spAutoFit/>
          </a:bodyPr>
          <a:lstStyle/>
          <a:p>
            <a:r>
              <a:rPr sz="1150" b="0">
                <a:solidFill>
                  <a:srgbClr val="2E2E2E"/>
                </a:solidFill>
                <a:latin typeface="Calibri"/>
              </a:rPr>
              <a:t>▪ 'Acrylic Partial Dentures ×</a:t>
            </a:r>
          </a:p>
        </p:txBody>
      </p:sp>
      <p:sp>
        <p:nvSpPr>
          <p:cNvPr id="60" name="TextBox 59"/>
          <p:cNvSpPr txBox="1"/>
          <p:nvPr/>
        </p:nvSpPr>
        <p:spPr>
          <a:xfrm>
            <a:off x="6029325" y="3899535"/>
            <a:ext cx="1595114" cy="194310"/>
          </a:xfrm>
          <a:prstGeom prst="rect">
            <a:avLst/>
          </a:prstGeom>
          <a:noFill/>
        </p:spPr>
        <p:txBody>
          <a:bodyPr wrap="none" lIns="0" rIns="0" tIns="0" bIns="0">
            <a:spAutoFit/>
          </a:bodyPr>
          <a:lstStyle/>
          <a:p>
            <a:r>
              <a:rPr sz="1150" b="0">
                <a:solidFill>
                  <a:srgbClr val="2E2E2E"/>
                </a:solidFill>
                <a:latin typeface="Calibri"/>
              </a:rPr>
              <a:t>Conventional Fabrication'</a:t>
            </a:r>
          </a:p>
        </p:txBody>
      </p:sp>
      <p:sp>
        <p:nvSpPr>
          <p:cNvPr id="61" name="TextBox 60"/>
          <p:cNvSpPr txBox="1"/>
          <p:nvPr/>
        </p:nvSpPr>
        <p:spPr>
          <a:xfrm>
            <a:off x="6029325" y="4074794"/>
            <a:ext cx="356604" cy="194310"/>
          </a:xfrm>
          <a:prstGeom prst="rect">
            <a:avLst/>
          </a:prstGeom>
          <a:noFill/>
        </p:spPr>
        <p:txBody>
          <a:bodyPr wrap="none" lIns="0" rIns="0" tIns="0" bIns="0">
            <a:spAutoFit/>
          </a:bodyPr>
          <a:lstStyle/>
          <a:p>
            <a:r>
              <a:rPr sz="1150" b="0">
                <a:solidFill>
                  <a:srgbClr val="2E2E2E"/>
                </a:solidFill>
                <a:latin typeface="Calibri"/>
              </a:rPr>
              <a:t>adds</a:t>
            </a:r>
          </a:p>
        </p:txBody>
      </p:sp>
      <p:pic>
        <p:nvPicPr>
          <p:cNvPr id="62" name="Picture 61" descr="lock.png"/>
          <p:cNvPicPr>
            <a:picLocks noChangeAspect="1"/>
          </p:cNvPicPr>
          <p:nvPr/>
        </p:nvPicPr>
        <p:blipFill>
          <a:blip r:embed="rId4"/>
          <a:stretch>
            <a:fillRect/>
          </a:stretch>
        </p:blipFill>
        <p:spPr>
          <a:xfrm>
            <a:off x="6335083" y="4064571"/>
            <a:ext cx="134549" cy="195707"/>
          </a:xfrm>
          <a:prstGeom prst="rect">
            <a:avLst/>
          </a:prstGeom>
        </p:spPr>
      </p:pic>
      <p:sp>
        <p:nvSpPr>
          <p:cNvPr id="63" name="TextBox 62"/>
          <p:cNvSpPr txBox="1"/>
          <p:nvPr/>
        </p:nvSpPr>
        <p:spPr>
          <a:xfrm>
            <a:off x="6510192" y="4074794"/>
            <a:ext cx="1118803" cy="194310"/>
          </a:xfrm>
          <a:prstGeom prst="rect">
            <a:avLst/>
          </a:prstGeom>
          <a:noFill/>
        </p:spPr>
        <p:txBody>
          <a:bodyPr wrap="none" lIns="0" rIns="0" tIns="0" bIns="0">
            <a:spAutoFit/>
          </a:bodyPr>
          <a:lstStyle/>
          <a:p>
            <a:r>
              <a:rPr sz="1150" b="0">
                <a:solidFill>
                  <a:srgbClr val="2E2E2E"/>
                </a:solidFill>
                <a:latin typeface="Calibri"/>
              </a:rPr>
              <a:t>US$ Mn by 2036F</a:t>
            </a:r>
          </a:p>
        </p:txBody>
      </p:sp>
      <p:sp>
        <p:nvSpPr>
          <p:cNvPr id="64" name="TextBox 63"/>
          <p:cNvSpPr txBox="1"/>
          <p:nvPr/>
        </p:nvSpPr>
        <p:spPr>
          <a:xfrm>
            <a:off x="6029325" y="4250054"/>
            <a:ext cx="148939"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65" name="Picture 64" descr="lock.png"/>
          <p:cNvPicPr>
            <a:picLocks noChangeAspect="1"/>
          </p:cNvPicPr>
          <p:nvPr/>
        </p:nvPicPr>
        <p:blipFill>
          <a:blip r:embed="rId4"/>
          <a:stretch>
            <a:fillRect/>
          </a:stretch>
        </p:blipFill>
        <p:spPr>
          <a:xfrm>
            <a:off x="6127418" y="4239831"/>
            <a:ext cx="134549" cy="195707"/>
          </a:xfrm>
          <a:prstGeom prst="rect">
            <a:avLst/>
          </a:prstGeom>
        </p:spPr>
      </p:pic>
      <p:sp>
        <p:nvSpPr>
          <p:cNvPr id="66" name="TextBox 65"/>
          <p:cNvSpPr txBox="1"/>
          <p:nvPr/>
        </p:nvSpPr>
        <p:spPr>
          <a:xfrm>
            <a:off x="6302527" y="4250054"/>
            <a:ext cx="741126" cy="194310"/>
          </a:xfrm>
          <a:prstGeom prst="rect">
            <a:avLst/>
          </a:prstGeom>
          <a:noFill/>
        </p:spPr>
        <p:txBody>
          <a:bodyPr wrap="none" lIns="0" rIns="0" tIns="0" bIns="0">
            <a:spAutoFit/>
          </a:bodyPr>
          <a:lstStyle/>
          <a:p>
            <a:r>
              <a:rPr sz="1150" b="0">
                <a:solidFill>
                  <a:srgbClr val="2E2E2E"/>
                </a:solidFill>
                <a:latin typeface="Calibri"/>
              </a:rPr>
              <a:t>of the total</a:t>
            </a:r>
          </a:p>
        </p:txBody>
      </p:sp>
      <p:sp>
        <p:nvSpPr>
          <p:cNvPr id="67" name="TextBox 66"/>
          <p:cNvSpPr txBox="1"/>
          <p:nvPr/>
        </p:nvSpPr>
        <p:spPr>
          <a:xfrm>
            <a:off x="6029325" y="4425314"/>
            <a:ext cx="822994" cy="194310"/>
          </a:xfrm>
          <a:prstGeom prst="rect">
            <a:avLst/>
          </a:prstGeom>
          <a:noFill/>
        </p:spPr>
        <p:txBody>
          <a:bodyPr wrap="none" lIns="0" rIns="0" tIns="0" bIns="0">
            <a:spAutoFit/>
          </a:bodyPr>
          <a:lstStyle/>
          <a:p>
            <a:r>
              <a:rPr sz="1150" b="0">
                <a:solidFill>
                  <a:srgbClr val="2E2E2E"/>
                </a:solidFill>
                <a:latin typeface="Calibri"/>
              </a:rPr>
              <a:t>opportunity.</a:t>
            </a:r>
          </a:p>
        </p:txBody>
      </p:sp>
      <p:sp>
        <p:nvSpPr>
          <p:cNvPr id="68" name="TextBox 67"/>
          <p:cNvSpPr txBox="1"/>
          <p:nvPr/>
        </p:nvSpPr>
        <p:spPr>
          <a:xfrm>
            <a:off x="8124825" y="3724275"/>
            <a:ext cx="1657350" cy="194310"/>
          </a:xfrm>
          <a:prstGeom prst="rect">
            <a:avLst/>
          </a:prstGeom>
          <a:noFill/>
        </p:spPr>
        <p:txBody>
          <a:bodyPr wrap="none" lIns="0" rIns="0" tIns="0" bIns="0">
            <a:spAutoFit/>
          </a:bodyPr>
          <a:lstStyle/>
          <a:p>
            <a:r>
              <a:rPr sz="1150" b="0">
                <a:solidFill>
                  <a:srgbClr val="2E2E2E"/>
                </a:solidFill>
                <a:latin typeface="Calibri"/>
              </a:rPr>
              <a:t>▪ 'Acrylic Partial Dentures ×</a:t>
            </a:r>
          </a:p>
        </p:txBody>
      </p:sp>
      <p:sp>
        <p:nvSpPr>
          <p:cNvPr id="69" name="TextBox 68"/>
          <p:cNvSpPr txBox="1"/>
          <p:nvPr/>
        </p:nvSpPr>
        <p:spPr>
          <a:xfrm>
            <a:off x="8124825" y="3899535"/>
            <a:ext cx="1595114" cy="194310"/>
          </a:xfrm>
          <a:prstGeom prst="rect">
            <a:avLst/>
          </a:prstGeom>
          <a:noFill/>
        </p:spPr>
        <p:txBody>
          <a:bodyPr wrap="none" lIns="0" rIns="0" tIns="0" bIns="0">
            <a:spAutoFit/>
          </a:bodyPr>
          <a:lstStyle/>
          <a:p>
            <a:r>
              <a:rPr sz="1150" b="0">
                <a:solidFill>
                  <a:srgbClr val="2E2E2E"/>
                </a:solidFill>
                <a:latin typeface="Calibri"/>
              </a:rPr>
              <a:t>Conventional Fabrication'</a:t>
            </a:r>
          </a:p>
        </p:txBody>
      </p:sp>
      <p:sp>
        <p:nvSpPr>
          <p:cNvPr id="70" name="TextBox 69"/>
          <p:cNvSpPr txBox="1"/>
          <p:nvPr/>
        </p:nvSpPr>
        <p:spPr>
          <a:xfrm>
            <a:off x="8124825" y="4074794"/>
            <a:ext cx="689495" cy="194310"/>
          </a:xfrm>
          <a:prstGeom prst="rect">
            <a:avLst/>
          </a:prstGeom>
          <a:noFill/>
        </p:spPr>
        <p:txBody>
          <a:bodyPr wrap="none" lIns="0" rIns="0" tIns="0" bIns="0">
            <a:spAutoFit/>
          </a:bodyPr>
          <a:lstStyle/>
          <a:p>
            <a:r>
              <a:rPr sz="1150" b="0">
                <a:solidFill>
                  <a:srgbClr val="2E2E2E"/>
                </a:solidFill>
                <a:latin typeface="Calibri"/>
              </a:rPr>
              <a:t>grows at a</a:t>
            </a:r>
          </a:p>
        </p:txBody>
      </p:sp>
      <p:pic>
        <p:nvPicPr>
          <p:cNvPr id="71" name="Picture 70" descr="lock.png"/>
          <p:cNvPicPr>
            <a:picLocks noChangeAspect="1"/>
          </p:cNvPicPr>
          <p:nvPr/>
        </p:nvPicPr>
        <p:blipFill>
          <a:blip r:embed="rId4"/>
          <a:stretch>
            <a:fillRect/>
          </a:stretch>
        </p:blipFill>
        <p:spPr>
          <a:xfrm>
            <a:off x="8763474" y="4064571"/>
            <a:ext cx="134549" cy="195707"/>
          </a:xfrm>
          <a:prstGeom prst="rect">
            <a:avLst/>
          </a:prstGeom>
        </p:spPr>
      </p:pic>
      <p:sp>
        <p:nvSpPr>
          <p:cNvPr id="72" name="TextBox 71"/>
          <p:cNvSpPr txBox="1"/>
          <p:nvPr/>
        </p:nvSpPr>
        <p:spPr>
          <a:xfrm>
            <a:off x="8938584" y="4074794"/>
            <a:ext cx="446441" cy="194310"/>
          </a:xfrm>
          <a:prstGeom prst="rect">
            <a:avLst/>
          </a:prstGeom>
          <a:noFill/>
        </p:spPr>
        <p:txBody>
          <a:bodyPr wrap="none" lIns="0" rIns="0" tIns="0" bIns="0">
            <a:spAutoFit/>
          </a:bodyPr>
          <a:lstStyle/>
          <a:p>
            <a:r>
              <a:rPr sz="1150" b="0">
                <a:solidFill>
                  <a:srgbClr val="2E2E2E"/>
                </a:solidFill>
                <a:latin typeface="Calibri"/>
              </a:rPr>
              <a:t>CAGR,</a:t>
            </a:r>
          </a:p>
        </p:txBody>
      </p:sp>
      <p:pic>
        <p:nvPicPr>
          <p:cNvPr id="73" name="Picture 72" descr="lock.png"/>
          <p:cNvPicPr>
            <a:picLocks noChangeAspect="1"/>
          </p:cNvPicPr>
          <p:nvPr/>
        </p:nvPicPr>
        <p:blipFill>
          <a:blip r:embed="rId4"/>
          <a:stretch>
            <a:fillRect/>
          </a:stretch>
        </p:blipFill>
        <p:spPr>
          <a:xfrm>
            <a:off x="9334179" y="4064571"/>
            <a:ext cx="134549" cy="195707"/>
          </a:xfrm>
          <a:prstGeom prst="rect">
            <a:avLst/>
          </a:prstGeom>
        </p:spPr>
      </p:pic>
      <p:sp>
        <p:nvSpPr>
          <p:cNvPr id="74" name="TextBox 73"/>
          <p:cNvSpPr txBox="1"/>
          <p:nvPr/>
        </p:nvSpPr>
        <p:spPr>
          <a:xfrm>
            <a:off x="8124825" y="4250054"/>
            <a:ext cx="925400" cy="194310"/>
          </a:xfrm>
          <a:prstGeom prst="rect">
            <a:avLst/>
          </a:prstGeom>
          <a:noFill/>
        </p:spPr>
        <p:txBody>
          <a:bodyPr wrap="none" lIns="0" rIns="0" tIns="0" bIns="0">
            <a:spAutoFit/>
          </a:bodyPr>
          <a:lstStyle/>
          <a:p>
            <a:r>
              <a:rPr sz="1150" b="0">
                <a:solidFill>
                  <a:srgbClr val="2E2E2E"/>
                </a:solidFill>
                <a:latin typeface="Calibri"/>
              </a:rPr>
              <a:t>BPS above the</a:t>
            </a:r>
          </a:p>
        </p:txBody>
      </p:sp>
      <p:sp>
        <p:nvSpPr>
          <p:cNvPr id="75" name="TextBox 74"/>
          <p:cNvSpPr txBox="1"/>
          <p:nvPr/>
        </p:nvSpPr>
        <p:spPr>
          <a:xfrm>
            <a:off x="8124825" y="4425314"/>
            <a:ext cx="890029" cy="194310"/>
          </a:xfrm>
          <a:prstGeom prst="rect">
            <a:avLst/>
          </a:prstGeom>
          <a:noFill/>
        </p:spPr>
        <p:txBody>
          <a:bodyPr wrap="none" lIns="0" rIns="0" tIns="0" bIns="0">
            <a:spAutoFit/>
          </a:bodyPr>
          <a:lstStyle/>
          <a:p>
            <a:r>
              <a:rPr sz="1150" b="0">
                <a:solidFill>
                  <a:srgbClr val="2E2E2E"/>
                </a:solidFill>
                <a:latin typeface="Calibri"/>
              </a:rPr>
              <a:t>cross-section.</a:t>
            </a:r>
          </a:p>
        </p:txBody>
      </p:sp>
    </p:spTree>
  </p:cSld>
  <p:clrMapOvr>
    <a:masterClrMapping/>
  </p:clrMapOvr>
</p:sld>
</file>

<file path=ppt/slides/slide199.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2370455"/>
            <a:ext cx="7239000" cy="247650"/>
          </a:xfrm>
          <a:prstGeom prst="rect">
            <a:avLst/>
          </a:prstGeom>
          <a:noFill/>
        </p:spPr>
        <p:txBody>
          <a:bodyPr wrap="none" lIns="0" tIns="0">
            <a:spAutoFit/>
          </a:bodyPr>
          <a:lstStyle/>
          <a:p>
            <a:r>
              <a:rPr sz="1400" b="0">
                <a:solidFill>
                  <a:srgbClr val="8FC8F2"/>
                </a:solidFill>
                <a:latin typeface="Calibri"/>
              </a:rPr>
              <a:t>Removable Partial Dentures Market</a:t>
            </a:r>
          </a:p>
        </p:txBody>
      </p:sp>
      <p:sp>
        <p:nvSpPr>
          <p:cNvPr id="6" name="FMI Breaker Title"/>
          <p:cNvSpPr txBox="1"/>
          <p:nvPr/>
        </p:nvSpPr>
        <p:spPr>
          <a:xfrm>
            <a:off x="914400" y="2675255"/>
            <a:ext cx="7239000" cy="514350"/>
          </a:xfrm>
          <a:prstGeom prst="rect">
            <a:avLst/>
          </a:prstGeom>
          <a:noFill/>
        </p:spPr>
        <p:txBody>
          <a:bodyPr wrap="square" lIns="0" rIns="0" tIns="0">
            <a:spAutoFit/>
          </a:bodyPr>
          <a:lstStyle/>
          <a:p>
            <a:r>
              <a:rPr sz="3000" b="1" cap="all" spc="400">
                <a:solidFill>
                  <a:srgbClr val="FFFFFF"/>
                </a:solidFill>
                <a:latin typeface="Calibri"/>
              </a:rPr>
              <a:t>Country Market Outlook</a:t>
            </a:r>
          </a:p>
        </p:txBody>
      </p:sp>
      <p:sp>
        <p:nvSpPr>
          <p:cNvPr id="7" name="TextBox 6"/>
          <p:cNvSpPr txBox="1"/>
          <p:nvPr/>
        </p:nvSpPr>
        <p:spPr>
          <a:xfrm>
            <a:off x="914400" y="3380105"/>
            <a:ext cx="7124700" cy="253619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Overview (Volume &amp; Value)</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Segment Overview (Volume &amp; Value)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Product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Material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Technology</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End User</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Distribution Channel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Patient Age Group</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0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Overview (Volume &amp; Value)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Overview</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Overview</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Key Segments (Value)</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Volume Overview (Units)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U.S. market in volume: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(UNITS)</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(UNITS)</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 </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 </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(Units),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 </a:t>
            </a:r>
          </a:p>
          <a:p>
            <a:pPr algn="ctr"/>
            <a:r>
              <a:rPr sz="1100" b="0">
                <a:solidFill>
                  <a:srgbClr val="6C7A89"/>
                </a:solidFill>
                <a:latin typeface="Calibri"/>
              </a:rPr>
              <a:t>vs North America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(Units)</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8"/>
          <a:stretch>
            <a:fillRect/>
          </a:stretch>
        </p:blipFill>
        <p:spPr>
          <a:xfrm>
            <a:off x="1493044" y="1219200"/>
            <a:ext cx="157162" cy="228600"/>
          </a:xfrm>
          <a:prstGeom prst="rect">
            <a:avLst/>
          </a:prstGeom>
        </p:spPr>
      </p:pic>
      <p:pic>
        <p:nvPicPr>
          <p:cNvPr id="33" name="Picture 32" descr="lock.png"/>
          <p:cNvPicPr>
            <a:picLocks noChangeAspect="1"/>
          </p:cNvPicPr>
          <p:nvPr/>
        </p:nvPicPr>
        <p:blipFill>
          <a:blip r:embed="rId8"/>
          <a:stretch>
            <a:fillRect/>
          </a:stretch>
        </p:blipFill>
        <p:spPr>
          <a:xfrm>
            <a:off x="4502944" y="1219200"/>
            <a:ext cx="157162" cy="228600"/>
          </a:xfrm>
          <a:prstGeom prst="rect">
            <a:avLst/>
          </a:prstGeom>
        </p:spPr>
      </p:pic>
      <p:pic>
        <p:nvPicPr>
          <p:cNvPr id="34" name="Picture 33" descr="lock.png"/>
          <p:cNvPicPr>
            <a:picLocks noChangeAspect="1"/>
          </p:cNvPicPr>
          <p:nvPr/>
        </p:nvPicPr>
        <p:blipFill>
          <a:blip r:embed="rId8"/>
          <a:stretch>
            <a:fillRect/>
          </a:stretch>
        </p:blipFill>
        <p:spPr>
          <a:xfrm>
            <a:off x="7512844" y="1303020"/>
            <a:ext cx="157162" cy="228600"/>
          </a:xfrm>
          <a:prstGeom prst="rect">
            <a:avLst/>
          </a:prstGeom>
        </p:spPr>
      </p:pic>
      <p:pic>
        <p:nvPicPr>
          <p:cNvPr id="35" name="Picture 34" descr="lock.png"/>
          <p:cNvPicPr>
            <a:picLocks noChangeAspect="1"/>
          </p:cNvPicPr>
          <p:nvPr/>
        </p:nvPicPr>
        <p:blipFill>
          <a:blip r:embed="rId8"/>
          <a:stretch>
            <a:fillRect/>
          </a:stretch>
        </p:blipFill>
        <p:spPr>
          <a:xfrm>
            <a:off x="10522744" y="1303020"/>
            <a:ext cx="157162" cy="228600"/>
          </a:xfrm>
          <a:prstGeom prst="rect">
            <a:avLst/>
          </a:prstGeom>
        </p:spPr>
      </p:pic>
      <p:pic>
        <p:nvPicPr>
          <p:cNvPr id="36" name="Picture 35" descr="lock.png"/>
          <p:cNvPicPr>
            <a:picLocks noChangeAspect="1"/>
          </p:cNvPicPr>
          <p:nvPr/>
        </p:nvPicPr>
        <p:blipFill>
          <a:blip r:embed="rId8"/>
          <a:stretch>
            <a:fillRect/>
          </a:stretch>
        </p:blipFill>
        <p:spPr>
          <a:xfrm>
            <a:off x="2554414" y="2661285"/>
            <a:ext cx="165021" cy="240030"/>
          </a:xfrm>
          <a:prstGeom prst="rect">
            <a:avLst/>
          </a:prstGeom>
        </p:spPr>
      </p:pic>
      <p:pic>
        <p:nvPicPr>
          <p:cNvPr id="37" name="Picture 36" descr="lock.png"/>
          <p:cNvPicPr>
            <a:picLocks noChangeAspect="1"/>
          </p:cNvPicPr>
          <p:nvPr/>
        </p:nvPicPr>
        <p:blipFill>
          <a:blip r:embed="rId8"/>
          <a:stretch>
            <a:fillRect/>
          </a:stretch>
        </p:blipFill>
        <p:spPr>
          <a:xfrm>
            <a:off x="6762365" y="2599095"/>
            <a:ext cx="191595" cy="278683"/>
          </a:xfrm>
          <a:prstGeom prst="rect">
            <a:avLst/>
          </a:prstGeom>
        </p:spPr>
      </p:pic>
      <p:pic>
        <p:nvPicPr>
          <p:cNvPr id="38" name="Picture 37" descr="lock.png"/>
          <p:cNvPicPr>
            <a:picLocks noChangeAspect="1"/>
          </p:cNvPicPr>
          <p:nvPr/>
        </p:nvPicPr>
        <p:blipFill>
          <a:blip r:embed="rId8"/>
          <a:stretch>
            <a:fillRect/>
          </a:stretch>
        </p:blipFill>
        <p:spPr>
          <a:xfrm>
            <a:off x="9878378" y="2141220"/>
            <a:ext cx="230504" cy="335279"/>
          </a:xfrm>
          <a:prstGeom prst="rect">
            <a:avLst/>
          </a:prstGeom>
        </p:spPr>
      </p:pic>
      <p:pic>
        <p:nvPicPr>
          <p:cNvPr id="39" name="Picture 38" descr="lock.png"/>
          <p:cNvPicPr>
            <a:picLocks noChangeAspect="1"/>
          </p:cNvPicPr>
          <p:nvPr/>
        </p:nvPicPr>
        <p:blipFill>
          <a:blip r:embed="rId8"/>
          <a:stretch>
            <a:fillRect/>
          </a:stretch>
        </p:blipFill>
        <p:spPr>
          <a:xfrm>
            <a:off x="2554414" y="4575810"/>
            <a:ext cx="165021" cy="240030"/>
          </a:xfrm>
          <a:prstGeom prst="rect">
            <a:avLst/>
          </a:prstGeom>
        </p:spPr>
      </p:pic>
      <p:pic>
        <p:nvPicPr>
          <p:cNvPr id="40" name="Picture 39" descr="lock.png"/>
          <p:cNvPicPr>
            <a:picLocks noChangeAspect="1"/>
          </p:cNvPicPr>
          <p:nvPr/>
        </p:nvPicPr>
        <p:blipFill>
          <a:blip r:embed="rId8"/>
          <a:stretch>
            <a:fillRect/>
          </a:stretch>
        </p:blipFill>
        <p:spPr>
          <a:xfrm>
            <a:off x="8715708" y="4462938"/>
            <a:ext cx="261282" cy="380047"/>
          </a:xfrm>
          <a:prstGeom prst="rect">
            <a:avLst/>
          </a:prstGeom>
        </p:spPr>
      </p:pic>
      <p:sp>
        <p:nvSpPr>
          <p:cNvPr id="41" name="TextBox 40"/>
          <p:cNvSpPr txBox="1"/>
          <p:nvPr/>
        </p:nvSpPr>
        <p:spPr>
          <a:xfrm>
            <a:off x="8071485" y="2876550"/>
            <a:ext cx="3054374" cy="186689"/>
          </a:xfrm>
          <a:prstGeom prst="rect">
            <a:avLst/>
          </a:prstGeom>
          <a:noFill/>
        </p:spPr>
        <p:txBody>
          <a:bodyPr wrap="none" lIns="0" rIns="0" tIns="0" bIns="0">
            <a:spAutoFit/>
          </a:bodyPr>
          <a:lstStyle/>
          <a:p>
            <a:r>
              <a:rPr sz="1100" b="0">
                <a:solidFill>
                  <a:srgbClr val="2E2E2E"/>
                </a:solidFill>
                <a:latin typeface="Calibri"/>
              </a:rPr>
              <a:t>U.S.'s removable partial dentures market expands at</a:t>
            </a:r>
          </a:p>
        </p:txBody>
      </p:sp>
      <p:pic>
        <p:nvPicPr>
          <p:cNvPr id="42" name="Picture 41" descr="lock.png"/>
          <p:cNvPicPr>
            <a:picLocks noChangeAspect="1"/>
          </p:cNvPicPr>
          <p:nvPr/>
        </p:nvPicPr>
        <p:blipFill>
          <a:blip r:embed="rId8"/>
          <a:stretch>
            <a:fillRect/>
          </a:stretch>
        </p:blipFill>
        <p:spPr>
          <a:xfrm>
            <a:off x="11073911" y="2866771"/>
            <a:ext cx="128699" cy="187198"/>
          </a:xfrm>
          <a:prstGeom prst="rect">
            <a:avLst/>
          </a:prstGeom>
        </p:spPr>
      </p:pic>
      <p:sp>
        <p:nvSpPr>
          <p:cNvPr id="43" name="TextBox 42"/>
          <p:cNvSpPr txBox="1"/>
          <p:nvPr/>
        </p:nvSpPr>
        <p:spPr>
          <a:xfrm>
            <a:off x="11241407" y="2876550"/>
            <a:ext cx="395419" cy="186689"/>
          </a:xfrm>
          <a:prstGeom prst="rect">
            <a:avLst/>
          </a:prstGeom>
          <a:noFill/>
        </p:spPr>
        <p:txBody>
          <a:bodyPr wrap="none" lIns="0" rIns="0" tIns="0" bIns="0">
            <a:spAutoFit/>
          </a:bodyPr>
          <a:lstStyle/>
          <a:p>
            <a:r>
              <a:rPr sz="1100" b="0">
                <a:solidFill>
                  <a:srgbClr val="2E2E2E"/>
                </a:solidFill>
                <a:latin typeface="Calibri"/>
              </a:rPr>
              <a:t>CAGR</a:t>
            </a:r>
          </a:p>
        </p:txBody>
      </p:sp>
      <p:sp>
        <p:nvSpPr>
          <p:cNvPr id="44" name="TextBox 43"/>
          <p:cNvSpPr txBox="1"/>
          <p:nvPr/>
        </p:nvSpPr>
        <p:spPr>
          <a:xfrm>
            <a:off x="8071485" y="3044190"/>
            <a:ext cx="3218358" cy="186689"/>
          </a:xfrm>
          <a:prstGeom prst="rect">
            <a:avLst/>
          </a:prstGeom>
          <a:noFill/>
        </p:spPr>
        <p:txBody>
          <a:bodyPr wrap="none" lIns="0" rIns="0" tIns="0" bIns="0">
            <a:spAutoFit/>
          </a:bodyPr>
          <a:lstStyle/>
          <a:p>
            <a:r>
              <a:rPr sz="1100" b="0">
                <a:solidFill>
                  <a:srgbClr val="2E2E2E"/>
                </a:solidFill>
                <a:latin typeface="Calibri"/>
              </a:rPr>
              <a:t>through 2036, trailing the North America benchmark of</a:t>
            </a:r>
          </a:p>
        </p:txBody>
      </p:sp>
      <p:pic>
        <p:nvPicPr>
          <p:cNvPr id="45" name="Picture 44" descr="lock.png"/>
          <p:cNvPicPr>
            <a:picLocks noChangeAspect="1"/>
          </p:cNvPicPr>
          <p:nvPr/>
        </p:nvPicPr>
        <p:blipFill>
          <a:blip r:embed="rId8"/>
          <a:stretch>
            <a:fillRect/>
          </a:stretch>
        </p:blipFill>
        <p:spPr>
          <a:xfrm>
            <a:off x="11237895" y="3034411"/>
            <a:ext cx="128699" cy="187198"/>
          </a:xfrm>
          <a:prstGeom prst="rect">
            <a:avLst/>
          </a:prstGeom>
        </p:spPr>
      </p:pic>
      <p:sp>
        <p:nvSpPr>
          <p:cNvPr id="46" name="TextBox 45"/>
          <p:cNvSpPr txBox="1"/>
          <p:nvPr/>
        </p:nvSpPr>
        <p:spPr>
          <a:xfrm>
            <a:off x="11405391" y="3044190"/>
            <a:ext cx="212898" cy="186689"/>
          </a:xfrm>
          <a:prstGeom prst="rect">
            <a:avLst/>
          </a:prstGeom>
          <a:noFill/>
        </p:spPr>
        <p:txBody>
          <a:bodyPr wrap="none" lIns="0" rIns="0" tIns="0" bIns="0">
            <a:spAutoFit/>
          </a:bodyPr>
          <a:lstStyle/>
          <a:p>
            <a:r>
              <a:rPr sz="1100" b="0">
                <a:solidFill>
                  <a:srgbClr val="2E2E2E"/>
                </a:solidFill>
                <a:latin typeface="Calibri"/>
              </a:rPr>
              <a:t>by</a:t>
            </a:r>
          </a:p>
        </p:txBody>
      </p:sp>
      <p:pic>
        <p:nvPicPr>
          <p:cNvPr id="47" name="Picture 46" descr="lock.png"/>
          <p:cNvPicPr>
            <a:picLocks noChangeAspect="1"/>
          </p:cNvPicPr>
          <p:nvPr/>
        </p:nvPicPr>
        <p:blipFill>
          <a:blip r:embed="rId8"/>
          <a:stretch>
            <a:fillRect/>
          </a:stretch>
        </p:blipFill>
        <p:spPr>
          <a:xfrm>
            <a:off x="8058017" y="3202051"/>
            <a:ext cx="128699" cy="187198"/>
          </a:xfrm>
          <a:prstGeom prst="rect">
            <a:avLst/>
          </a:prstGeom>
        </p:spPr>
      </p:pic>
      <p:sp>
        <p:nvSpPr>
          <p:cNvPr id="48" name="TextBox 47"/>
          <p:cNvSpPr txBox="1"/>
          <p:nvPr/>
        </p:nvSpPr>
        <p:spPr>
          <a:xfrm>
            <a:off x="8225513" y="3211830"/>
            <a:ext cx="323949" cy="186689"/>
          </a:xfrm>
          <a:prstGeom prst="rect">
            <a:avLst/>
          </a:prstGeom>
          <a:noFill/>
        </p:spPr>
        <p:txBody>
          <a:bodyPr wrap="none" lIns="0" rIns="0" tIns="0" bIns="0">
            <a:spAutoFit/>
          </a:bodyPr>
          <a:lstStyle/>
          <a:p>
            <a:r>
              <a:rPr sz="1100" b="0">
                <a:solidFill>
                  <a:srgbClr val="2E2E2E"/>
                </a:solidFill>
                <a:latin typeface="Calibri"/>
              </a:rPr>
              <a:t>BPS.</a:t>
            </a:r>
          </a:p>
        </p:txBody>
      </p:sp>
      <p:sp>
        <p:nvSpPr>
          <p:cNvPr id="49" name="TextBox 48"/>
          <p:cNvSpPr txBox="1"/>
          <p:nvPr/>
        </p:nvSpPr>
        <p:spPr>
          <a:xfrm>
            <a:off x="257175" y="5966460"/>
            <a:ext cx="639365" cy="186689"/>
          </a:xfrm>
          <a:prstGeom prst="rect">
            <a:avLst/>
          </a:prstGeom>
          <a:noFill/>
        </p:spPr>
        <p:txBody>
          <a:bodyPr wrap="none" lIns="0" rIns="0" tIns="0" bIns="0">
            <a:spAutoFit/>
          </a:bodyPr>
          <a:lstStyle/>
          <a:p>
            <a:r>
              <a:rPr sz="1100" b="0">
                <a:solidFill>
                  <a:srgbClr val="2E2E2E"/>
                </a:solidFill>
                <a:latin typeface="Calibri"/>
              </a:rPr>
              <a:t>U.S. holds</a:t>
            </a:r>
          </a:p>
        </p:txBody>
      </p:sp>
      <p:pic>
        <p:nvPicPr>
          <p:cNvPr id="50" name="Picture 49" descr="lock.png"/>
          <p:cNvPicPr>
            <a:picLocks noChangeAspect="1"/>
          </p:cNvPicPr>
          <p:nvPr/>
        </p:nvPicPr>
        <p:blipFill>
          <a:blip r:embed="rId8"/>
          <a:stretch>
            <a:fillRect/>
          </a:stretch>
        </p:blipFill>
        <p:spPr>
          <a:xfrm>
            <a:off x="844592" y="5956680"/>
            <a:ext cx="128699" cy="187198"/>
          </a:xfrm>
          <a:prstGeom prst="rect">
            <a:avLst/>
          </a:prstGeom>
        </p:spPr>
      </p:pic>
      <p:sp>
        <p:nvSpPr>
          <p:cNvPr id="51" name="TextBox 50"/>
          <p:cNvSpPr txBox="1"/>
          <p:nvPr/>
        </p:nvSpPr>
        <p:spPr>
          <a:xfrm>
            <a:off x="1012088" y="5966460"/>
            <a:ext cx="1035000" cy="186689"/>
          </a:xfrm>
          <a:prstGeom prst="rect">
            <a:avLst/>
          </a:prstGeom>
          <a:noFill/>
        </p:spPr>
        <p:txBody>
          <a:bodyPr wrap="none" lIns="0" rIns="0" tIns="0" bIns="0">
            <a:spAutoFit/>
          </a:bodyPr>
          <a:lstStyle/>
          <a:p>
            <a:r>
              <a:rPr sz="1100" b="0">
                <a:solidFill>
                  <a:srgbClr val="2E2E2E"/>
                </a:solidFill>
                <a:latin typeface="Calibri"/>
              </a:rPr>
              <a:t>of the global and</a:t>
            </a:r>
          </a:p>
        </p:txBody>
      </p:sp>
      <p:pic>
        <p:nvPicPr>
          <p:cNvPr id="52" name="Picture 51" descr="lock.png"/>
          <p:cNvPicPr>
            <a:picLocks noChangeAspect="1"/>
          </p:cNvPicPr>
          <p:nvPr/>
        </p:nvPicPr>
        <p:blipFill>
          <a:blip r:embed="rId8"/>
          <a:stretch>
            <a:fillRect/>
          </a:stretch>
        </p:blipFill>
        <p:spPr>
          <a:xfrm>
            <a:off x="1995140" y="5956680"/>
            <a:ext cx="128699" cy="187198"/>
          </a:xfrm>
          <a:prstGeom prst="rect">
            <a:avLst/>
          </a:prstGeom>
        </p:spPr>
      </p:pic>
      <p:sp>
        <p:nvSpPr>
          <p:cNvPr id="53" name="TextBox 52"/>
          <p:cNvSpPr txBox="1"/>
          <p:nvPr/>
        </p:nvSpPr>
        <p:spPr>
          <a:xfrm>
            <a:off x="2162635" y="5966460"/>
            <a:ext cx="3436366" cy="186689"/>
          </a:xfrm>
          <a:prstGeom prst="rect">
            <a:avLst/>
          </a:prstGeom>
          <a:noFill/>
        </p:spPr>
        <p:txBody>
          <a:bodyPr wrap="none" lIns="0" rIns="0" tIns="0" bIns="0">
            <a:spAutoFit/>
          </a:bodyPr>
          <a:lstStyle/>
          <a:p>
            <a:r>
              <a:rPr sz="1100" b="0">
                <a:solidFill>
                  <a:srgbClr val="2E2E2E"/>
                </a:solidFill>
                <a:latin typeface="Calibri"/>
              </a:rPr>
              <a:t>of the North America removable partial dentures market in</a:t>
            </a:r>
          </a:p>
        </p:txBody>
      </p:sp>
      <p:sp>
        <p:nvSpPr>
          <p:cNvPr id="54" name="TextBox 53"/>
          <p:cNvSpPr txBox="1"/>
          <p:nvPr/>
        </p:nvSpPr>
        <p:spPr>
          <a:xfrm>
            <a:off x="257175" y="6134100"/>
            <a:ext cx="2132136" cy="186689"/>
          </a:xfrm>
          <a:prstGeom prst="rect">
            <a:avLst/>
          </a:prstGeom>
          <a:noFill/>
        </p:spPr>
        <p:txBody>
          <a:bodyPr wrap="none" lIns="0" rIns="0" tIns="0" bIns="0">
            <a:spAutoFit/>
          </a:bodyPr>
          <a:lstStyle/>
          <a:p>
            <a:r>
              <a:rPr sz="1100" b="0">
                <a:solidFill>
                  <a:srgbClr val="2E2E2E"/>
                </a:solidFill>
                <a:latin typeface="Calibri"/>
              </a:rPr>
              <a:t>2026; by 2036 those shares move to</a:t>
            </a:r>
          </a:p>
        </p:txBody>
      </p:sp>
      <p:pic>
        <p:nvPicPr>
          <p:cNvPr id="55" name="Picture 54" descr="lock.png"/>
          <p:cNvPicPr>
            <a:picLocks noChangeAspect="1"/>
          </p:cNvPicPr>
          <p:nvPr/>
        </p:nvPicPr>
        <p:blipFill>
          <a:blip r:embed="rId8"/>
          <a:stretch>
            <a:fillRect/>
          </a:stretch>
        </p:blipFill>
        <p:spPr>
          <a:xfrm>
            <a:off x="2337363" y="6124320"/>
            <a:ext cx="128699" cy="187198"/>
          </a:xfrm>
          <a:prstGeom prst="rect">
            <a:avLst/>
          </a:prstGeom>
        </p:spPr>
      </p:pic>
      <p:sp>
        <p:nvSpPr>
          <p:cNvPr id="56" name="TextBox 55"/>
          <p:cNvSpPr txBox="1"/>
          <p:nvPr/>
        </p:nvSpPr>
        <p:spPr>
          <a:xfrm>
            <a:off x="2504858" y="6134100"/>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57" name="Picture 56" descr="lock.png"/>
          <p:cNvPicPr>
            <a:picLocks noChangeAspect="1"/>
          </p:cNvPicPr>
          <p:nvPr/>
        </p:nvPicPr>
        <p:blipFill>
          <a:blip r:embed="rId8"/>
          <a:stretch>
            <a:fillRect/>
          </a:stretch>
        </p:blipFill>
        <p:spPr>
          <a:xfrm>
            <a:off x="2742753" y="6124320"/>
            <a:ext cx="128699" cy="187198"/>
          </a:xfrm>
          <a:prstGeom prst="rect">
            <a:avLst/>
          </a:prstGeom>
        </p:spPr>
      </p:pic>
      <p:sp>
        <p:nvSpPr>
          <p:cNvPr id="58" name="TextBox 57"/>
          <p:cNvSpPr txBox="1"/>
          <p:nvPr/>
        </p:nvSpPr>
        <p:spPr>
          <a:xfrm>
            <a:off x="2910249" y="6134100"/>
            <a:ext cx="793799" cy="186689"/>
          </a:xfrm>
          <a:prstGeom prst="rect">
            <a:avLst/>
          </a:prstGeom>
          <a:noFill/>
        </p:spPr>
        <p:txBody>
          <a:bodyPr wrap="none" lIns="0" rIns="0" tIns="0" bIns="0">
            <a:spAutoFit/>
          </a:bodyPr>
          <a:lstStyle/>
          <a:p>
            <a:r>
              <a:rPr sz="1100" b="0">
                <a:solidFill>
                  <a:srgbClr val="2E2E2E"/>
                </a:solidFill>
                <a:latin typeface="Calibri"/>
              </a:rPr>
              <a:t>respectively.</a:t>
            </a:r>
          </a:p>
        </p:txBody>
      </p:sp>
      <p:sp>
        <p:nvSpPr>
          <p:cNvPr id="59" name="TextBox 58"/>
          <p:cNvSpPr txBox="1"/>
          <p:nvPr/>
        </p:nvSpPr>
        <p:spPr>
          <a:xfrm>
            <a:off x="6286500" y="5966460"/>
            <a:ext cx="1586979" cy="186689"/>
          </a:xfrm>
          <a:prstGeom prst="rect">
            <a:avLst/>
          </a:prstGeom>
          <a:noFill/>
        </p:spPr>
        <p:txBody>
          <a:bodyPr wrap="none" lIns="0" rIns="0" tIns="0" bIns="0">
            <a:spAutoFit/>
          </a:bodyPr>
          <a:lstStyle/>
          <a:p>
            <a:r>
              <a:rPr sz="1100" b="0">
                <a:solidFill>
                  <a:srgbClr val="2E2E2E"/>
                </a:solidFill>
                <a:latin typeface="Calibri"/>
              </a:rPr>
              <a:t>The forecast build-up adds</a:t>
            </a:r>
          </a:p>
        </p:txBody>
      </p:sp>
      <p:pic>
        <p:nvPicPr>
          <p:cNvPr id="60" name="Picture 59" descr="lock.png"/>
          <p:cNvPicPr>
            <a:picLocks noChangeAspect="1"/>
          </p:cNvPicPr>
          <p:nvPr/>
        </p:nvPicPr>
        <p:blipFill>
          <a:blip r:embed="rId8"/>
          <a:stretch>
            <a:fillRect/>
          </a:stretch>
        </p:blipFill>
        <p:spPr>
          <a:xfrm>
            <a:off x="7821530" y="5956680"/>
            <a:ext cx="128699" cy="187198"/>
          </a:xfrm>
          <a:prstGeom prst="rect">
            <a:avLst/>
          </a:prstGeom>
        </p:spPr>
      </p:pic>
      <p:sp>
        <p:nvSpPr>
          <p:cNvPr id="61" name="TextBox 60"/>
          <p:cNvSpPr txBox="1"/>
          <p:nvPr/>
        </p:nvSpPr>
        <p:spPr>
          <a:xfrm>
            <a:off x="7989026" y="5966460"/>
            <a:ext cx="3226271" cy="186689"/>
          </a:xfrm>
          <a:prstGeom prst="rect">
            <a:avLst/>
          </a:prstGeom>
          <a:noFill/>
        </p:spPr>
        <p:txBody>
          <a:bodyPr wrap="none" lIns="0" rIns="0" tIns="0" bIns="0">
            <a:spAutoFit/>
          </a:bodyPr>
          <a:lstStyle/>
          <a:p>
            <a:r>
              <a:rPr sz="1100" b="0">
                <a:solidFill>
                  <a:srgbClr val="2E2E2E"/>
                </a:solidFill>
                <a:latin typeface="Calibri"/>
              </a:rPr>
              <a:t>Units between 2026 and 2036 the U.S. market grows to</a:t>
            </a:r>
          </a:p>
        </p:txBody>
      </p:sp>
      <p:pic>
        <p:nvPicPr>
          <p:cNvPr id="62" name="Picture 61" descr="lock.png"/>
          <p:cNvPicPr>
            <a:picLocks noChangeAspect="1"/>
          </p:cNvPicPr>
          <p:nvPr/>
        </p:nvPicPr>
        <p:blipFill>
          <a:blip r:embed="rId8"/>
          <a:stretch>
            <a:fillRect/>
          </a:stretch>
        </p:blipFill>
        <p:spPr>
          <a:xfrm>
            <a:off x="11163349" y="5956680"/>
            <a:ext cx="128699" cy="187198"/>
          </a:xfrm>
          <a:prstGeom prst="rect">
            <a:avLst/>
          </a:prstGeom>
        </p:spPr>
      </p:pic>
      <p:sp>
        <p:nvSpPr>
          <p:cNvPr id="63" name="TextBox 62"/>
          <p:cNvSpPr txBox="1"/>
          <p:nvPr/>
        </p:nvSpPr>
        <p:spPr>
          <a:xfrm>
            <a:off x="11330845" y="5966460"/>
            <a:ext cx="311125" cy="186689"/>
          </a:xfrm>
          <a:prstGeom prst="rect">
            <a:avLst/>
          </a:prstGeom>
          <a:noFill/>
        </p:spPr>
        <p:txBody>
          <a:bodyPr wrap="none" lIns="0" rIns="0" tIns="0" bIns="0">
            <a:spAutoFit/>
          </a:bodyPr>
          <a:lstStyle/>
          <a:p>
            <a:r>
              <a:rPr sz="1100" b="0">
                <a:solidFill>
                  <a:srgbClr val="2E2E2E"/>
                </a:solidFill>
                <a:latin typeface="Calibri"/>
              </a:rPr>
              <a:t>× its</a:t>
            </a:r>
          </a:p>
        </p:txBody>
      </p:sp>
      <p:sp>
        <p:nvSpPr>
          <p:cNvPr id="64" name="TextBox 63"/>
          <p:cNvSpPr txBox="1"/>
          <p:nvPr/>
        </p:nvSpPr>
        <p:spPr>
          <a:xfrm>
            <a:off x="6286500" y="6134100"/>
            <a:ext cx="1590253" cy="186689"/>
          </a:xfrm>
          <a:prstGeom prst="rect">
            <a:avLst/>
          </a:prstGeom>
          <a:noFill/>
        </p:spPr>
        <p:txBody>
          <a:bodyPr wrap="none" lIns="0" rIns="0" tIns="0" bIns="0">
            <a:spAutoFit/>
          </a:bodyPr>
          <a:lstStyle/>
          <a:p>
            <a:r>
              <a:rPr sz="1100" b="0">
                <a:solidFill>
                  <a:srgbClr val="2E2E2E"/>
                </a:solidFill>
                <a:latin typeface="Calibri"/>
              </a:rPr>
              <a:t>2026 size over the decade.</a:t>
            </a:r>
          </a:p>
        </p:txBody>
      </p:sp>
      <p:sp>
        <p:nvSpPr>
          <p:cNvPr id="65" name="lockshield_17"/>
          <p:cNvSpPr/>
          <p:nvPr/>
        </p:nvSpPr>
        <p:spPr>
          <a:xfrm>
            <a:off x="238125" y="2105025"/>
            <a:ext cx="4505325"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lockshield_20"/>
          <p:cNvSpPr/>
          <p:nvPr/>
        </p:nvSpPr>
        <p:spPr>
          <a:xfrm>
            <a:off x="5086350" y="2105025"/>
            <a:ext cx="2880360"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lockshield_25"/>
          <p:cNvSpPr/>
          <p:nvPr/>
        </p:nvSpPr>
        <p:spPr>
          <a:xfrm>
            <a:off x="238125" y="4019550"/>
            <a:ext cx="4505325"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lockshield_28"/>
          <p:cNvSpPr/>
          <p:nvPr/>
        </p:nvSpPr>
        <p:spPr>
          <a:xfrm>
            <a:off x="5086350" y="4019550"/>
            <a:ext cx="6858000"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U.S. market in value: size, growth, YoY momentum and gap to the Global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 </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 </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(US$ Mn),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 </a:t>
            </a:r>
          </a:p>
          <a:p>
            <a:pPr algn="ctr"/>
            <a:r>
              <a:rPr sz="1100" b="0">
                <a:solidFill>
                  <a:srgbClr val="6C7A89"/>
                </a:solidFill>
                <a:latin typeface="Calibri"/>
              </a:rPr>
              <a:t>vs North America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8"/>
          <a:stretch>
            <a:fillRect/>
          </a:stretch>
        </p:blipFill>
        <p:spPr>
          <a:xfrm>
            <a:off x="1493044" y="1219200"/>
            <a:ext cx="157162" cy="228600"/>
          </a:xfrm>
          <a:prstGeom prst="rect">
            <a:avLst/>
          </a:prstGeom>
        </p:spPr>
      </p:pic>
      <p:pic>
        <p:nvPicPr>
          <p:cNvPr id="33" name="Picture 32" descr="lock.png"/>
          <p:cNvPicPr>
            <a:picLocks noChangeAspect="1"/>
          </p:cNvPicPr>
          <p:nvPr/>
        </p:nvPicPr>
        <p:blipFill>
          <a:blip r:embed="rId8"/>
          <a:stretch>
            <a:fillRect/>
          </a:stretch>
        </p:blipFill>
        <p:spPr>
          <a:xfrm>
            <a:off x="4502944" y="1219200"/>
            <a:ext cx="157162" cy="228600"/>
          </a:xfrm>
          <a:prstGeom prst="rect">
            <a:avLst/>
          </a:prstGeom>
        </p:spPr>
      </p:pic>
      <p:pic>
        <p:nvPicPr>
          <p:cNvPr id="34" name="Picture 33" descr="lock.png"/>
          <p:cNvPicPr>
            <a:picLocks noChangeAspect="1"/>
          </p:cNvPicPr>
          <p:nvPr/>
        </p:nvPicPr>
        <p:blipFill>
          <a:blip r:embed="rId8"/>
          <a:stretch>
            <a:fillRect/>
          </a:stretch>
        </p:blipFill>
        <p:spPr>
          <a:xfrm>
            <a:off x="7512844" y="1303020"/>
            <a:ext cx="157162" cy="228600"/>
          </a:xfrm>
          <a:prstGeom prst="rect">
            <a:avLst/>
          </a:prstGeom>
        </p:spPr>
      </p:pic>
      <p:pic>
        <p:nvPicPr>
          <p:cNvPr id="35" name="Picture 34" descr="lock.png"/>
          <p:cNvPicPr>
            <a:picLocks noChangeAspect="1"/>
          </p:cNvPicPr>
          <p:nvPr/>
        </p:nvPicPr>
        <p:blipFill>
          <a:blip r:embed="rId8"/>
          <a:stretch>
            <a:fillRect/>
          </a:stretch>
        </p:blipFill>
        <p:spPr>
          <a:xfrm>
            <a:off x="10522744" y="1303020"/>
            <a:ext cx="157162" cy="228600"/>
          </a:xfrm>
          <a:prstGeom prst="rect">
            <a:avLst/>
          </a:prstGeom>
        </p:spPr>
      </p:pic>
      <p:pic>
        <p:nvPicPr>
          <p:cNvPr id="36" name="Picture 35" descr="lock.png"/>
          <p:cNvPicPr>
            <a:picLocks noChangeAspect="1"/>
          </p:cNvPicPr>
          <p:nvPr/>
        </p:nvPicPr>
        <p:blipFill>
          <a:blip r:embed="rId8"/>
          <a:stretch>
            <a:fillRect/>
          </a:stretch>
        </p:blipFill>
        <p:spPr>
          <a:xfrm>
            <a:off x="2554414" y="2661285"/>
            <a:ext cx="165021" cy="240030"/>
          </a:xfrm>
          <a:prstGeom prst="rect">
            <a:avLst/>
          </a:prstGeom>
        </p:spPr>
      </p:pic>
      <p:pic>
        <p:nvPicPr>
          <p:cNvPr id="37" name="Picture 36" descr="lock.png"/>
          <p:cNvPicPr>
            <a:picLocks noChangeAspect="1"/>
          </p:cNvPicPr>
          <p:nvPr/>
        </p:nvPicPr>
        <p:blipFill>
          <a:blip r:embed="rId8"/>
          <a:stretch>
            <a:fillRect/>
          </a:stretch>
        </p:blipFill>
        <p:spPr>
          <a:xfrm>
            <a:off x="6762365" y="2599095"/>
            <a:ext cx="191595" cy="278683"/>
          </a:xfrm>
          <a:prstGeom prst="rect">
            <a:avLst/>
          </a:prstGeom>
        </p:spPr>
      </p:pic>
      <p:pic>
        <p:nvPicPr>
          <p:cNvPr id="38" name="Picture 37" descr="lock.png"/>
          <p:cNvPicPr>
            <a:picLocks noChangeAspect="1"/>
          </p:cNvPicPr>
          <p:nvPr/>
        </p:nvPicPr>
        <p:blipFill>
          <a:blip r:embed="rId8"/>
          <a:stretch>
            <a:fillRect/>
          </a:stretch>
        </p:blipFill>
        <p:spPr>
          <a:xfrm>
            <a:off x="9878378" y="2141220"/>
            <a:ext cx="230504" cy="335279"/>
          </a:xfrm>
          <a:prstGeom prst="rect">
            <a:avLst/>
          </a:prstGeom>
        </p:spPr>
      </p:pic>
      <p:pic>
        <p:nvPicPr>
          <p:cNvPr id="39" name="Picture 38" descr="lock.png"/>
          <p:cNvPicPr>
            <a:picLocks noChangeAspect="1"/>
          </p:cNvPicPr>
          <p:nvPr/>
        </p:nvPicPr>
        <p:blipFill>
          <a:blip r:embed="rId8"/>
          <a:stretch>
            <a:fillRect/>
          </a:stretch>
        </p:blipFill>
        <p:spPr>
          <a:xfrm>
            <a:off x="2554414" y="4575810"/>
            <a:ext cx="165021" cy="240030"/>
          </a:xfrm>
          <a:prstGeom prst="rect">
            <a:avLst/>
          </a:prstGeom>
        </p:spPr>
      </p:pic>
      <p:pic>
        <p:nvPicPr>
          <p:cNvPr id="40" name="Picture 39" descr="lock.png"/>
          <p:cNvPicPr>
            <a:picLocks noChangeAspect="1"/>
          </p:cNvPicPr>
          <p:nvPr/>
        </p:nvPicPr>
        <p:blipFill>
          <a:blip r:embed="rId8"/>
          <a:stretch>
            <a:fillRect/>
          </a:stretch>
        </p:blipFill>
        <p:spPr>
          <a:xfrm>
            <a:off x="8715708" y="4462938"/>
            <a:ext cx="261282" cy="380047"/>
          </a:xfrm>
          <a:prstGeom prst="rect">
            <a:avLst/>
          </a:prstGeom>
        </p:spPr>
      </p:pic>
      <p:sp>
        <p:nvSpPr>
          <p:cNvPr id="41" name="TextBox 40"/>
          <p:cNvSpPr txBox="1"/>
          <p:nvPr/>
        </p:nvSpPr>
        <p:spPr>
          <a:xfrm>
            <a:off x="8071485" y="2876550"/>
            <a:ext cx="3054374" cy="186689"/>
          </a:xfrm>
          <a:prstGeom prst="rect">
            <a:avLst/>
          </a:prstGeom>
          <a:noFill/>
        </p:spPr>
        <p:txBody>
          <a:bodyPr wrap="none" lIns="0" rIns="0" tIns="0" bIns="0">
            <a:spAutoFit/>
          </a:bodyPr>
          <a:lstStyle/>
          <a:p>
            <a:r>
              <a:rPr sz="1100" b="0">
                <a:solidFill>
                  <a:srgbClr val="2E2E2E"/>
                </a:solidFill>
                <a:latin typeface="Calibri"/>
              </a:rPr>
              <a:t>U.S.'s removable partial dentures market expands at</a:t>
            </a:r>
          </a:p>
        </p:txBody>
      </p:sp>
      <p:pic>
        <p:nvPicPr>
          <p:cNvPr id="42" name="Picture 41" descr="lock.png"/>
          <p:cNvPicPr>
            <a:picLocks noChangeAspect="1"/>
          </p:cNvPicPr>
          <p:nvPr/>
        </p:nvPicPr>
        <p:blipFill>
          <a:blip r:embed="rId8"/>
          <a:stretch>
            <a:fillRect/>
          </a:stretch>
        </p:blipFill>
        <p:spPr>
          <a:xfrm>
            <a:off x="11073911" y="2866771"/>
            <a:ext cx="128699" cy="187198"/>
          </a:xfrm>
          <a:prstGeom prst="rect">
            <a:avLst/>
          </a:prstGeom>
        </p:spPr>
      </p:pic>
      <p:sp>
        <p:nvSpPr>
          <p:cNvPr id="43" name="TextBox 42"/>
          <p:cNvSpPr txBox="1"/>
          <p:nvPr/>
        </p:nvSpPr>
        <p:spPr>
          <a:xfrm>
            <a:off x="11241407" y="2876550"/>
            <a:ext cx="395419" cy="186689"/>
          </a:xfrm>
          <a:prstGeom prst="rect">
            <a:avLst/>
          </a:prstGeom>
          <a:noFill/>
        </p:spPr>
        <p:txBody>
          <a:bodyPr wrap="none" lIns="0" rIns="0" tIns="0" bIns="0">
            <a:spAutoFit/>
          </a:bodyPr>
          <a:lstStyle/>
          <a:p>
            <a:r>
              <a:rPr sz="1100" b="0">
                <a:solidFill>
                  <a:srgbClr val="2E2E2E"/>
                </a:solidFill>
                <a:latin typeface="Calibri"/>
              </a:rPr>
              <a:t>CAGR</a:t>
            </a:r>
          </a:p>
        </p:txBody>
      </p:sp>
      <p:sp>
        <p:nvSpPr>
          <p:cNvPr id="44" name="TextBox 43"/>
          <p:cNvSpPr txBox="1"/>
          <p:nvPr/>
        </p:nvSpPr>
        <p:spPr>
          <a:xfrm>
            <a:off x="8071485" y="3044190"/>
            <a:ext cx="3218358" cy="186689"/>
          </a:xfrm>
          <a:prstGeom prst="rect">
            <a:avLst/>
          </a:prstGeom>
          <a:noFill/>
        </p:spPr>
        <p:txBody>
          <a:bodyPr wrap="none" lIns="0" rIns="0" tIns="0" bIns="0">
            <a:spAutoFit/>
          </a:bodyPr>
          <a:lstStyle/>
          <a:p>
            <a:r>
              <a:rPr sz="1100" b="0">
                <a:solidFill>
                  <a:srgbClr val="2E2E2E"/>
                </a:solidFill>
                <a:latin typeface="Calibri"/>
              </a:rPr>
              <a:t>through 2036, trailing the North America benchmark of</a:t>
            </a:r>
          </a:p>
        </p:txBody>
      </p:sp>
      <p:pic>
        <p:nvPicPr>
          <p:cNvPr id="45" name="Picture 44" descr="lock.png"/>
          <p:cNvPicPr>
            <a:picLocks noChangeAspect="1"/>
          </p:cNvPicPr>
          <p:nvPr/>
        </p:nvPicPr>
        <p:blipFill>
          <a:blip r:embed="rId8"/>
          <a:stretch>
            <a:fillRect/>
          </a:stretch>
        </p:blipFill>
        <p:spPr>
          <a:xfrm>
            <a:off x="11237895" y="3034411"/>
            <a:ext cx="128699" cy="187198"/>
          </a:xfrm>
          <a:prstGeom prst="rect">
            <a:avLst/>
          </a:prstGeom>
        </p:spPr>
      </p:pic>
      <p:sp>
        <p:nvSpPr>
          <p:cNvPr id="46" name="TextBox 45"/>
          <p:cNvSpPr txBox="1"/>
          <p:nvPr/>
        </p:nvSpPr>
        <p:spPr>
          <a:xfrm>
            <a:off x="11405391" y="3044190"/>
            <a:ext cx="212898" cy="186689"/>
          </a:xfrm>
          <a:prstGeom prst="rect">
            <a:avLst/>
          </a:prstGeom>
          <a:noFill/>
        </p:spPr>
        <p:txBody>
          <a:bodyPr wrap="none" lIns="0" rIns="0" tIns="0" bIns="0">
            <a:spAutoFit/>
          </a:bodyPr>
          <a:lstStyle/>
          <a:p>
            <a:r>
              <a:rPr sz="1100" b="0">
                <a:solidFill>
                  <a:srgbClr val="2E2E2E"/>
                </a:solidFill>
                <a:latin typeface="Calibri"/>
              </a:rPr>
              <a:t>by</a:t>
            </a:r>
          </a:p>
        </p:txBody>
      </p:sp>
      <p:pic>
        <p:nvPicPr>
          <p:cNvPr id="47" name="Picture 46" descr="lock.png"/>
          <p:cNvPicPr>
            <a:picLocks noChangeAspect="1"/>
          </p:cNvPicPr>
          <p:nvPr/>
        </p:nvPicPr>
        <p:blipFill>
          <a:blip r:embed="rId8"/>
          <a:stretch>
            <a:fillRect/>
          </a:stretch>
        </p:blipFill>
        <p:spPr>
          <a:xfrm>
            <a:off x="8058017" y="3202051"/>
            <a:ext cx="128699" cy="187198"/>
          </a:xfrm>
          <a:prstGeom prst="rect">
            <a:avLst/>
          </a:prstGeom>
        </p:spPr>
      </p:pic>
      <p:sp>
        <p:nvSpPr>
          <p:cNvPr id="48" name="TextBox 47"/>
          <p:cNvSpPr txBox="1"/>
          <p:nvPr/>
        </p:nvSpPr>
        <p:spPr>
          <a:xfrm>
            <a:off x="8225513" y="3211830"/>
            <a:ext cx="323949" cy="186689"/>
          </a:xfrm>
          <a:prstGeom prst="rect">
            <a:avLst/>
          </a:prstGeom>
          <a:noFill/>
        </p:spPr>
        <p:txBody>
          <a:bodyPr wrap="none" lIns="0" rIns="0" tIns="0" bIns="0">
            <a:spAutoFit/>
          </a:bodyPr>
          <a:lstStyle/>
          <a:p>
            <a:r>
              <a:rPr sz="1100" b="0">
                <a:solidFill>
                  <a:srgbClr val="2E2E2E"/>
                </a:solidFill>
                <a:latin typeface="Calibri"/>
              </a:rPr>
              <a:t>BPS.</a:t>
            </a:r>
          </a:p>
        </p:txBody>
      </p:sp>
      <p:sp>
        <p:nvSpPr>
          <p:cNvPr id="49" name="TextBox 48"/>
          <p:cNvSpPr txBox="1"/>
          <p:nvPr/>
        </p:nvSpPr>
        <p:spPr>
          <a:xfrm>
            <a:off x="257175" y="5966460"/>
            <a:ext cx="639365" cy="186689"/>
          </a:xfrm>
          <a:prstGeom prst="rect">
            <a:avLst/>
          </a:prstGeom>
          <a:noFill/>
        </p:spPr>
        <p:txBody>
          <a:bodyPr wrap="none" lIns="0" rIns="0" tIns="0" bIns="0">
            <a:spAutoFit/>
          </a:bodyPr>
          <a:lstStyle/>
          <a:p>
            <a:r>
              <a:rPr sz="1100" b="0">
                <a:solidFill>
                  <a:srgbClr val="2E2E2E"/>
                </a:solidFill>
                <a:latin typeface="Calibri"/>
              </a:rPr>
              <a:t>U.S. holds</a:t>
            </a:r>
          </a:p>
        </p:txBody>
      </p:sp>
      <p:pic>
        <p:nvPicPr>
          <p:cNvPr id="50" name="Picture 49" descr="lock.png"/>
          <p:cNvPicPr>
            <a:picLocks noChangeAspect="1"/>
          </p:cNvPicPr>
          <p:nvPr/>
        </p:nvPicPr>
        <p:blipFill>
          <a:blip r:embed="rId8"/>
          <a:stretch>
            <a:fillRect/>
          </a:stretch>
        </p:blipFill>
        <p:spPr>
          <a:xfrm>
            <a:off x="844592" y="5956680"/>
            <a:ext cx="128699" cy="187198"/>
          </a:xfrm>
          <a:prstGeom prst="rect">
            <a:avLst/>
          </a:prstGeom>
        </p:spPr>
      </p:pic>
      <p:sp>
        <p:nvSpPr>
          <p:cNvPr id="51" name="TextBox 50"/>
          <p:cNvSpPr txBox="1"/>
          <p:nvPr/>
        </p:nvSpPr>
        <p:spPr>
          <a:xfrm>
            <a:off x="1012088" y="5966460"/>
            <a:ext cx="1035000" cy="186689"/>
          </a:xfrm>
          <a:prstGeom prst="rect">
            <a:avLst/>
          </a:prstGeom>
          <a:noFill/>
        </p:spPr>
        <p:txBody>
          <a:bodyPr wrap="none" lIns="0" rIns="0" tIns="0" bIns="0">
            <a:spAutoFit/>
          </a:bodyPr>
          <a:lstStyle/>
          <a:p>
            <a:r>
              <a:rPr sz="1100" b="0">
                <a:solidFill>
                  <a:srgbClr val="2E2E2E"/>
                </a:solidFill>
                <a:latin typeface="Calibri"/>
              </a:rPr>
              <a:t>of the global and</a:t>
            </a:r>
          </a:p>
        </p:txBody>
      </p:sp>
      <p:pic>
        <p:nvPicPr>
          <p:cNvPr id="52" name="Picture 51" descr="lock.png"/>
          <p:cNvPicPr>
            <a:picLocks noChangeAspect="1"/>
          </p:cNvPicPr>
          <p:nvPr/>
        </p:nvPicPr>
        <p:blipFill>
          <a:blip r:embed="rId8"/>
          <a:stretch>
            <a:fillRect/>
          </a:stretch>
        </p:blipFill>
        <p:spPr>
          <a:xfrm>
            <a:off x="1995140" y="5956680"/>
            <a:ext cx="128699" cy="187198"/>
          </a:xfrm>
          <a:prstGeom prst="rect">
            <a:avLst/>
          </a:prstGeom>
        </p:spPr>
      </p:pic>
      <p:sp>
        <p:nvSpPr>
          <p:cNvPr id="53" name="TextBox 52"/>
          <p:cNvSpPr txBox="1"/>
          <p:nvPr/>
        </p:nvSpPr>
        <p:spPr>
          <a:xfrm>
            <a:off x="2162635" y="5966460"/>
            <a:ext cx="3436366" cy="186689"/>
          </a:xfrm>
          <a:prstGeom prst="rect">
            <a:avLst/>
          </a:prstGeom>
          <a:noFill/>
        </p:spPr>
        <p:txBody>
          <a:bodyPr wrap="none" lIns="0" rIns="0" tIns="0" bIns="0">
            <a:spAutoFit/>
          </a:bodyPr>
          <a:lstStyle/>
          <a:p>
            <a:r>
              <a:rPr sz="1100" b="0">
                <a:solidFill>
                  <a:srgbClr val="2E2E2E"/>
                </a:solidFill>
                <a:latin typeface="Calibri"/>
              </a:rPr>
              <a:t>of the North America removable partial dentures market in</a:t>
            </a:r>
          </a:p>
        </p:txBody>
      </p:sp>
      <p:sp>
        <p:nvSpPr>
          <p:cNvPr id="54" name="TextBox 53"/>
          <p:cNvSpPr txBox="1"/>
          <p:nvPr/>
        </p:nvSpPr>
        <p:spPr>
          <a:xfrm>
            <a:off x="257175" y="6134100"/>
            <a:ext cx="2132136" cy="186689"/>
          </a:xfrm>
          <a:prstGeom prst="rect">
            <a:avLst/>
          </a:prstGeom>
          <a:noFill/>
        </p:spPr>
        <p:txBody>
          <a:bodyPr wrap="none" lIns="0" rIns="0" tIns="0" bIns="0">
            <a:spAutoFit/>
          </a:bodyPr>
          <a:lstStyle/>
          <a:p>
            <a:r>
              <a:rPr sz="1100" b="0">
                <a:solidFill>
                  <a:srgbClr val="2E2E2E"/>
                </a:solidFill>
                <a:latin typeface="Calibri"/>
              </a:rPr>
              <a:t>2026; by 2036 those shares move to</a:t>
            </a:r>
          </a:p>
        </p:txBody>
      </p:sp>
      <p:pic>
        <p:nvPicPr>
          <p:cNvPr id="55" name="Picture 54" descr="lock.png"/>
          <p:cNvPicPr>
            <a:picLocks noChangeAspect="1"/>
          </p:cNvPicPr>
          <p:nvPr/>
        </p:nvPicPr>
        <p:blipFill>
          <a:blip r:embed="rId8"/>
          <a:stretch>
            <a:fillRect/>
          </a:stretch>
        </p:blipFill>
        <p:spPr>
          <a:xfrm>
            <a:off x="2337363" y="6124320"/>
            <a:ext cx="128699" cy="187198"/>
          </a:xfrm>
          <a:prstGeom prst="rect">
            <a:avLst/>
          </a:prstGeom>
        </p:spPr>
      </p:pic>
      <p:sp>
        <p:nvSpPr>
          <p:cNvPr id="56" name="TextBox 55"/>
          <p:cNvSpPr txBox="1"/>
          <p:nvPr/>
        </p:nvSpPr>
        <p:spPr>
          <a:xfrm>
            <a:off x="2504858" y="6134100"/>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57" name="Picture 56" descr="lock.png"/>
          <p:cNvPicPr>
            <a:picLocks noChangeAspect="1"/>
          </p:cNvPicPr>
          <p:nvPr/>
        </p:nvPicPr>
        <p:blipFill>
          <a:blip r:embed="rId8"/>
          <a:stretch>
            <a:fillRect/>
          </a:stretch>
        </p:blipFill>
        <p:spPr>
          <a:xfrm>
            <a:off x="2742753" y="6124320"/>
            <a:ext cx="128699" cy="187198"/>
          </a:xfrm>
          <a:prstGeom prst="rect">
            <a:avLst/>
          </a:prstGeom>
        </p:spPr>
      </p:pic>
      <p:sp>
        <p:nvSpPr>
          <p:cNvPr id="58" name="TextBox 57"/>
          <p:cNvSpPr txBox="1"/>
          <p:nvPr/>
        </p:nvSpPr>
        <p:spPr>
          <a:xfrm>
            <a:off x="2910249" y="6134100"/>
            <a:ext cx="793799" cy="186689"/>
          </a:xfrm>
          <a:prstGeom prst="rect">
            <a:avLst/>
          </a:prstGeom>
          <a:noFill/>
        </p:spPr>
        <p:txBody>
          <a:bodyPr wrap="none" lIns="0" rIns="0" tIns="0" bIns="0">
            <a:spAutoFit/>
          </a:bodyPr>
          <a:lstStyle/>
          <a:p>
            <a:r>
              <a:rPr sz="1100" b="0">
                <a:solidFill>
                  <a:srgbClr val="2E2E2E"/>
                </a:solidFill>
                <a:latin typeface="Calibri"/>
              </a:rPr>
              <a:t>respectively.</a:t>
            </a:r>
          </a:p>
        </p:txBody>
      </p:sp>
      <p:sp>
        <p:nvSpPr>
          <p:cNvPr id="59" name="TextBox 58"/>
          <p:cNvSpPr txBox="1"/>
          <p:nvPr/>
        </p:nvSpPr>
        <p:spPr>
          <a:xfrm>
            <a:off x="6286500" y="5882640"/>
            <a:ext cx="3103215" cy="186689"/>
          </a:xfrm>
          <a:prstGeom prst="rect">
            <a:avLst/>
          </a:prstGeom>
          <a:noFill/>
        </p:spPr>
        <p:txBody>
          <a:bodyPr wrap="none" lIns="0" rIns="0" tIns="0" bIns="0">
            <a:spAutoFit/>
          </a:bodyPr>
          <a:lstStyle/>
          <a:p>
            <a:r>
              <a:rPr sz="1100" b="0">
                <a:solidFill>
                  <a:srgbClr val="2E2E2E"/>
                </a:solidFill>
                <a:latin typeface="Calibri"/>
              </a:rPr>
              <a:t>The market in the U.S. is expected to account for US$</a:t>
            </a:r>
          </a:p>
        </p:txBody>
      </p:sp>
      <p:pic>
        <p:nvPicPr>
          <p:cNvPr id="60" name="Picture 59" descr="lock.png"/>
          <p:cNvPicPr>
            <a:picLocks noChangeAspect="1"/>
          </p:cNvPicPr>
          <p:nvPr/>
        </p:nvPicPr>
        <p:blipFill>
          <a:blip r:embed="rId8"/>
          <a:stretch>
            <a:fillRect/>
          </a:stretch>
        </p:blipFill>
        <p:spPr>
          <a:xfrm>
            <a:off x="9337766" y="5872860"/>
            <a:ext cx="128699" cy="187198"/>
          </a:xfrm>
          <a:prstGeom prst="rect">
            <a:avLst/>
          </a:prstGeom>
        </p:spPr>
      </p:pic>
      <p:sp>
        <p:nvSpPr>
          <p:cNvPr id="61" name="TextBox 60"/>
          <p:cNvSpPr txBox="1"/>
          <p:nvPr/>
        </p:nvSpPr>
        <p:spPr>
          <a:xfrm>
            <a:off x="9505262" y="5882640"/>
            <a:ext cx="1495556" cy="186689"/>
          </a:xfrm>
          <a:prstGeom prst="rect">
            <a:avLst/>
          </a:prstGeom>
          <a:noFill/>
        </p:spPr>
        <p:txBody>
          <a:bodyPr wrap="none" lIns="0" rIns="0" tIns="0" bIns="0">
            <a:spAutoFit/>
          </a:bodyPr>
          <a:lstStyle/>
          <a:p>
            <a:r>
              <a:rPr sz="1100" b="0">
                <a:solidFill>
                  <a:srgbClr val="2E2E2E"/>
                </a:solidFill>
                <a:latin typeface="Calibri"/>
              </a:rPr>
              <a:t>Mn by 2036 at a CAGR of</a:t>
            </a:r>
          </a:p>
        </p:txBody>
      </p:sp>
      <p:pic>
        <p:nvPicPr>
          <p:cNvPr id="62" name="Picture 61" descr="lock.png"/>
          <p:cNvPicPr>
            <a:picLocks noChangeAspect="1"/>
          </p:cNvPicPr>
          <p:nvPr/>
        </p:nvPicPr>
        <p:blipFill>
          <a:blip r:embed="rId8"/>
          <a:stretch>
            <a:fillRect/>
          </a:stretch>
        </p:blipFill>
        <p:spPr>
          <a:xfrm>
            <a:off x="10948871" y="5872860"/>
            <a:ext cx="128699" cy="187198"/>
          </a:xfrm>
          <a:prstGeom prst="rect">
            <a:avLst/>
          </a:prstGeom>
        </p:spPr>
      </p:pic>
      <p:sp>
        <p:nvSpPr>
          <p:cNvPr id="63" name="TextBox 62"/>
          <p:cNvSpPr txBox="1"/>
          <p:nvPr/>
        </p:nvSpPr>
        <p:spPr>
          <a:xfrm>
            <a:off x="11116366" y="5882640"/>
            <a:ext cx="552871" cy="186689"/>
          </a:xfrm>
          <a:prstGeom prst="rect">
            <a:avLst/>
          </a:prstGeom>
          <a:noFill/>
        </p:spPr>
        <p:txBody>
          <a:bodyPr wrap="none" lIns="0" rIns="0" tIns="0" bIns="0">
            <a:spAutoFit/>
          </a:bodyPr>
          <a:lstStyle/>
          <a:p>
            <a:r>
              <a:rPr sz="1100" b="0">
                <a:solidFill>
                  <a:srgbClr val="2E2E2E"/>
                </a:solidFill>
                <a:latin typeface="Calibri"/>
              </a:rPr>
              <a:t>over the</a:t>
            </a:r>
          </a:p>
        </p:txBody>
      </p:sp>
      <p:sp>
        <p:nvSpPr>
          <p:cNvPr id="64" name="TextBox 63"/>
          <p:cNvSpPr txBox="1"/>
          <p:nvPr/>
        </p:nvSpPr>
        <p:spPr>
          <a:xfrm>
            <a:off x="6286500" y="6050280"/>
            <a:ext cx="4694758" cy="186689"/>
          </a:xfrm>
          <a:prstGeom prst="rect">
            <a:avLst/>
          </a:prstGeom>
          <a:noFill/>
        </p:spPr>
        <p:txBody>
          <a:bodyPr wrap="none" lIns="0" rIns="0" tIns="0" bIns="0">
            <a:spAutoFit/>
          </a:bodyPr>
          <a:lstStyle/>
          <a:p>
            <a:r>
              <a:rPr sz="1100" b="0">
                <a:solidFill>
                  <a:srgbClr val="2E2E2E"/>
                </a:solidFill>
                <a:latin typeface="Calibri"/>
              </a:rPr>
              <a:t>forecast period. The U.S. is expected to create an incremental opportunity of US$</a:t>
            </a:r>
          </a:p>
        </p:txBody>
      </p:sp>
      <p:pic>
        <p:nvPicPr>
          <p:cNvPr id="65" name="Picture 64" descr="lock.png"/>
          <p:cNvPicPr>
            <a:picLocks noChangeAspect="1"/>
          </p:cNvPicPr>
          <p:nvPr/>
        </p:nvPicPr>
        <p:blipFill>
          <a:blip r:embed="rId8"/>
          <a:stretch>
            <a:fillRect/>
          </a:stretch>
        </p:blipFill>
        <p:spPr>
          <a:xfrm>
            <a:off x="10929309" y="6040501"/>
            <a:ext cx="128699" cy="187198"/>
          </a:xfrm>
          <a:prstGeom prst="rect">
            <a:avLst/>
          </a:prstGeom>
        </p:spPr>
      </p:pic>
      <p:sp>
        <p:nvSpPr>
          <p:cNvPr id="66" name="TextBox 65"/>
          <p:cNvSpPr txBox="1"/>
          <p:nvPr/>
        </p:nvSpPr>
        <p:spPr>
          <a:xfrm>
            <a:off x="11096805" y="6050280"/>
            <a:ext cx="687387" cy="186689"/>
          </a:xfrm>
          <a:prstGeom prst="rect">
            <a:avLst/>
          </a:prstGeom>
          <a:noFill/>
        </p:spPr>
        <p:txBody>
          <a:bodyPr wrap="none" lIns="0" rIns="0" tIns="0" bIns="0">
            <a:spAutoFit/>
          </a:bodyPr>
          <a:lstStyle/>
          <a:p>
            <a:r>
              <a:rPr sz="1100" b="0">
                <a:solidFill>
                  <a:srgbClr val="2E2E2E"/>
                </a:solidFill>
                <a:latin typeface="Calibri"/>
              </a:rPr>
              <a:t>Mn for the</a:t>
            </a:r>
          </a:p>
        </p:txBody>
      </p:sp>
      <p:sp>
        <p:nvSpPr>
          <p:cNvPr id="67" name="TextBox 66"/>
          <p:cNvSpPr txBox="1"/>
          <p:nvPr/>
        </p:nvSpPr>
        <p:spPr>
          <a:xfrm>
            <a:off x="6286500" y="6217920"/>
            <a:ext cx="3608809" cy="186689"/>
          </a:xfrm>
          <a:prstGeom prst="rect">
            <a:avLst/>
          </a:prstGeom>
          <a:noFill/>
        </p:spPr>
        <p:txBody>
          <a:bodyPr wrap="none" lIns="0" rIns="0" tIns="0" bIns="0">
            <a:spAutoFit/>
          </a:bodyPr>
          <a:lstStyle/>
          <a:p>
            <a:r>
              <a:rPr sz="1100" b="0">
                <a:solidFill>
                  <a:srgbClr val="2E2E2E"/>
                </a:solidFill>
                <a:latin typeface="Calibri"/>
              </a:rPr>
              <a:t>overall removable partial dentures market from 2025 to 2036.</a:t>
            </a:r>
          </a:p>
        </p:txBody>
      </p:sp>
      <p:sp>
        <p:nvSpPr>
          <p:cNvPr id="68" name="lockshield_17"/>
          <p:cNvSpPr/>
          <p:nvPr/>
        </p:nvSpPr>
        <p:spPr>
          <a:xfrm>
            <a:off x="238125" y="2105025"/>
            <a:ext cx="4505325"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lockshield_20"/>
          <p:cNvSpPr/>
          <p:nvPr/>
        </p:nvSpPr>
        <p:spPr>
          <a:xfrm>
            <a:off x="5086350" y="2105025"/>
            <a:ext cx="2880360"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lockshield_25"/>
          <p:cNvSpPr/>
          <p:nvPr/>
        </p:nvSpPr>
        <p:spPr>
          <a:xfrm>
            <a:off x="238125" y="4019550"/>
            <a:ext cx="4505325"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lockshield_28"/>
          <p:cNvSpPr/>
          <p:nvPr/>
        </p:nvSpPr>
        <p:spPr>
          <a:xfrm>
            <a:off x="5086350" y="4019550"/>
            <a:ext cx="6858000"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Key Segments Overview, By Value (2026)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U.S.'s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(US$ Mn)</a:t>
            </a:r>
          </a:p>
        </p:txBody>
      </p:sp>
      <p:graphicFrame>
        <p:nvGraphicFramePr>
          <p:cNvPr id="13" name="Chart 12"/>
          <p:cNvGraphicFramePr>
            <a:graphicFrameLocks noGrp="1"/>
          </p:cNvGraphicFramePr>
          <p:nvPr/>
        </p:nvGraphicFramePr>
        <p:xfrm>
          <a:off x="238125" y="1266825"/>
          <a:ext cx="2667000" cy="1352550"/>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Type  (US$ Mn)</a:t>
            </a:r>
          </a:p>
        </p:txBody>
      </p:sp>
      <p:graphicFrame>
        <p:nvGraphicFramePr>
          <p:cNvPr id="16" name="Chart 15"/>
          <p:cNvGraphicFramePr>
            <a:graphicFrameLocks noGrp="1"/>
          </p:cNvGraphicFramePr>
          <p:nvPr/>
        </p:nvGraphicFramePr>
        <p:xfrm>
          <a:off x="3248025" y="1266825"/>
          <a:ext cx="2667000" cy="1352550"/>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Technology  (US$ Mn)</a:t>
            </a:r>
          </a:p>
        </p:txBody>
      </p:sp>
      <p:graphicFrame>
        <p:nvGraphicFramePr>
          <p:cNvPr id="19" name="Chart 18"/>
          <p:cNvGraphicFramePr>
            <a:graphicFrameLocks noGrp="1"/>
          </p:cNvGraphicFramePr>
          <p:nvPr/>
        </p:nvGraphicFramePr>
        <p:xfrm>
          <a:off x="6257925" y="1266825"/>
          <a:ext cx="2667000" cy="1352550"/>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End User  (US$ Mn)</a:t>
            </a:r>
          </a:p>
        </p:txBody>
      </p:sp>
      <p:graphicFrame>
        <p:nvGraphicFramePr>
          <p:cNvPr id="22" name="Chart 21"/>
          <p:cNvGraphicFramePr>
            <a:graphicFrameLocks noGrp="1"/>
          </p:cNvGraphicFramePr>
          <p:nvPr/>
        </p:nvGraphicFramePr>
        <p:xfrm>
          <a:off x="9267825" y="1266825"/>
          <a:ext cx="2667000" cy="1352550"/>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2867025"/>
            <a:ext cx="27432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25" name="Chart 24"/>
          <p:cNvGraphicFramePr>
            <a:graphicFrameLocks noGrp="1"/>
          </p:cNvGraphicFramePr>
          <p:nvPr/>
        </p:nvGraphicFramePr>
        <p:xfrm>
          <a:off x="238125" y="3095625"/>
          <a:ext cx="2743200" cy="1352550"/>
        </p:xfrm>
        <a:graphic>
          <a:graphicData uri="http://schemas.openxmlformats.org/drawingml/2006/chart">
            <c:chart xmlns:c="http://schemas.openxmlformats.org/drawingml/2006/chart" r:id="rId7"/>
          </a:graphicData>
        </a:graphic>
      </p:graphicFrame>
      <p:sp>
        <p:nvSpPr>
          <p:cNvPr id="26" name="Rounded Rectangle 25"/>
          <p:cNvSpPr/>
          <p:nvPr/>
        </p:nvSpPr>
        <p:spPr>
          <a:xfrm>
            <a:off x="32289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324225" y="2867025"/>
            <a:ext cx="27432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Patient Age Group  (US$ Mn)</a:t>
            </a:r>
          </a:p>
        </p:txBody>
      </p:sp>
      <p:graphicFrame>
        <p:nvGraphicFramePr>
          <p:cNvPr id="28" name="Chart 27"/>
          <p:cNvGraphicFramePr>
            <a:graphicFrameLocks noGrp="1"/>
          </p:cNvGraphicFramePr>
          <p:nvPr/>
        </p:nvGraphicFramePr>
        <p:xfrm>
          <a:off x="3324225" y="3095625"/>
          <a:ext cx="2743200" cy="1352550"/>
        </p:xfrm>
        <a:graphic>
          <a:graphicData uri="http://schemas.openxmlformats.org/drawingml/2006/chart">
            <c:chart xmlns:c="http://schemas.openxmlformats.org/drawingml/2006/chart" r:id="rId8"/>
          </a:graphicData>
        </a:graphic>
      </p:graphicFrame>
      <p:sp>
        <p:nvSpPr>
          <p:cNvPr id="29" name="Rounded Rectangle 28"/>
          <p:cNvSpPr/>
          <p:nvPr/>
        </p:nvSpPr>
        <p:spPr>
          <a:xfrm>
            <a:off x="142875" y="46386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76225" y="4724400"/>
            <a:ext cx="11639550" cy="209550"/>
          </a:xfrm>
          <a:prstGeom prst="rect">
            <a:avLst/>
          </a:prstGeom>
          <a:noFill/>
        </p:spPr>
        <p:txBody>
          <a:bodyPr wrap="square" lIns="0" rIns="19050" tIns="9525" bIns="9525">
            <a:spAutoFit/>
          </a:bodyPr>
          <a:lstStyle/>
          <a:p>
            <a:pPr algn="l"/>
            <a:r>
              <a:rPr sz="1300" b="1">
                <a:solidFill>
                  <a:srgbClr val="0B2E4A"/>
                </a:solidFill>
                <a:latin typeface="Calibri"/>
              </a:rPr>
              <a:t/>
            </a:r>
          </a:p>
        </p:txBody>
      </p:sp>
      <p:sp>
        <p:nvSpPr>
          <p:cNvPr id="31" name="Rectangle 30"/>
          <p:cNvSpPr/>
          <p:nvPr/>
        </p:nvSpPr>
        <p:spPr>
          <a:xfrm>
            <a:off x="276225" y="49625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276225" y="5048250"/>
            <a:ext cx="11639550" cy="14954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33" name="TextBox 3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4" name="Picture 33" descr="lock.png"/>
          <p:cNvPicPr>
            <a:picLocks noChangeAspect="1"/>
          </p:cNvPicPr>
          <p:nvPr/>
        </p:nvPicPr>
        <p:blipFill>
          <a:blip r:embed="rId10"/>
          <a:stretch>
            <a:fillRect/>
          </a:stretch>
        </p:blipFill>
        <p:spPr>
          <a:xfrm>
            <a:off x="1811655" y="1724025"/>
            <a:ext cx="183356" cy="266700"/>
          </a:xfrm>
          <a:prstGeom prst="rect">
            <a:avLst/>
          </a:prstGeom>
        </p:spPr>
      </p:pic>
      <p:pic>
        <p:nvPicPr>
          <p:cNvPr id="35" name="Picture 34" descr="lock.png"/>
          <p:cNvPicPr>
            <a:picLocks noChangeAspect="1"/>
          </p:cNvPicPr>
          <p:nvPr/>
        </p:nvPicPr>
        <p:blipFill>
          <a:blip r:embed="rId10"/>
          <a:stretch>
            <a:fillRect/>
          </a:stretch>
        </p:blipFill>
        <p:spPr>
          <a:xfrm>
            <a:off x="4821555" y="1724025"/>
            <a:ext cx="183356" cy="266700"/>
          </a:xfrm>
          <a:prstGeom prst="rect">
            <a:avLst/>
          </a:prstGeom>
        </p:spPr>
      </p:pic>
      <p:pic>
        <p:nvPicPr>
          <p:cNvPr id="36" name="Picture 35" descr="lock.png"/>
          <p:cNvPicPr>
            <a:picLocks noChangeAspect="1"/>
          </p:cNvPicPr>
          <p:nvPr/>
        </p:nvPicPr>
        <p:blipFill>
          <a:blip r:embed="rId10"/>
          <a:stretch>
            <a:fillRect/>
          </a:stretch>
        </p:blipFill>
        <p:spPr>
          <a:xfrm>
            <a:off x="7831455" y="1724025"/>
            <a:ext cx="183356" cy="266700"/>
          </a:xfrm>
          <a:prstGeom prst="rect">
            <a:avLst/>
          </a:prstGeom>
        </p:spPr>
      </p:pic>
      <p:pic>
        <p:nvPicPr>
          <p:cNvPr id="37" name="Picture 36" descr="lock.png"/>
          <p:cNvPicPr>
            <a:picLocks noChangeAspect="1"/>
          </p:cNvPicPr>
          <p:nvPr/>
        </p:nvPicPr>
        <p:blipFill>
          <a:blip r:embed="rId10"/>
          <a:stretch>
            <a:fillRect/>
          </a:stretch>
        </p:blipFill>
        <p:spPr>
          <a:xfrm>
            <a:off x="10841355" y="1724025"/>
            <a:ext cx="183356" cy="266700"/>
          </a:xfrm>
          <a:prstGeom prst="rect">
            <a:avLst/>
          </a:prstGeom>
        </p:spPr>
      </p:pic>
      <p:pic>
        <p:nvPicPr>
          <p:cNvPr id="38" name="Picture 37" descr="lock.png"/>
          <p:cNvPicPr>
            <a:picLocks noChangeAspect="1"/>
          </p:cNvPicPr>
          <p:nvPr/>
        </p:nvPicPr>
        <p:blipFill>
          <a:blip r:embed="rId10"/>
          <a:stretch>
            <a:fillRect/>
          </a:stretch>
        </p:blipFill>
        <p:spPr>
          <a:xfrm>
            <a:off x="1849755" y="3552825"/>
            <a:ext cx="183356" cy="266700"/>
          </a:xfrm>
          <a:prstGeom prst="rect">
            <a:avLst/>
          </a:prstGeom>
        </p:spPr>
      </p:pic>
      <p:pic>
        <p:nvPicPr>
          <p:cNvPr id="39" name="Picture 38" descr="lock.png"/>
          <p:cNvPicPr>
            <a:picLocks noChangeAspect="1"/>
          </p:cNvPicPr>
          <p:nvPr/>
        </p:nvPicPr>
        <p:blipFill>
          <a:blip r:embed="rId10"/>
          <a:stretch>
            <a:fillRect/>
          </a:stretch>
        </p:blipFill>
        <p:spPr>
          <a:xfrm>
            <a:off x="4935855" y="3552825"/>
            <a:ext cx="183356" cy="266700"/>
          </a:xfrm>
          <a:prstGeom prst="rect">
            <a:avLst/>
          </a:prstGeom>
        </p:spPr>
      </p:pic>
      <p:sp>
        <p:nvSpPr>
          <p:cNvPr id="40" name="TextBox 39"/>
          <p:cNvSpPr txBox="1"/>
          <p:nvPr/>
        </p:nvSpPr>
        <p:spPr>
          <a:xfrm>
            <a:off x="276225" y="4733925"/>
            <a:ext cx="1468037" cy="161696"/>
          </a:xfrm>
          <a:prstGeom prst="rect">
            <a:avLst/>
          </a:prstGeom>
          <a:noFill/>
        </p:spPr>
        <p:txBody>
          <a:bodyPr wrap="none" lIns="0" rIns="0" tIns="0" bIns="0">
            <a:spAutoFit/>
          </a:bodyPr>
          <a:lstStyle/>
          <a:p>
            <a:r>
              <a:rPr sz="935" b="1">
                <a:solidFill>
                  <a:srgbClr val="0B2E4A"/>
                </a:solidFill>
                <a:latin typeface="Calibri"/>
              </a:rPr>
              <a:t>Key Takeaways · 2026 Total:</a:t>
            </a:r>
          </a:p>
        </p:txBody>
      </p:sp>
      <p:pic>
        <p:nvPicPr>
          <p:cNvPr id="41" name="Picture 40" descr="lock.png"/>
          <p:cNvPicPr>
            <a:picLocks noChangeAspect="1"/>
          </p:cNvPicPr>
          <p:nvPr/>
        </p:nvPicPr>
        <p:blipFill>
          <a:blip r:embed="rId10"/>
          <a:stretch>
            <a:fillRect/>
          </a:stretch>
        </p:blipFill>
        <p:spPr>
          <a:xfrm>
            <a:off x="1688698" y="4725603"/>
            <a:ext cx="109510" cy="159288"/>
          </a:xfrm>
          <a:prstGeom prst="rect">
            <a:avLst/>
          </a:prstGeom>
        </p:spPr>
      </p:pic>
      <p:sp>
        <p:nvSpPr>
          <p:cNvPr id="42" name="TextBox 41"/>
          <p:cNvSpPr txBox="1"/>
          <p:nvPr/>
        </p:nvSpPr>
        <p:spPr>
          <a:xfrm>
            <a:off x="1831222" y="4733925"/>
            <a:ext cx="465087" cy="161696"/>
          </a:xfrm>
          <a:prstGeom prst="rect">
            <a:avLst/>
          </a:prstGeom>
          <a:noFill/>
        </p:spPr>
        <p:txBody>
          <a:bodyPr wrap="none" lIns="0" rIns="0" tIns="0" bIns="0">
            <a:spAutoFit/>
          </a:bodyPr>
          <a:lstStyle/>
          <a:p>
            <a:r>
              <a:rPr sz="935" b="1">
                <a:solidFill>
                  <a:srgbClr val="0B2E4A"/>
                </a:solidFill>
                <a:latin typeface="Calibri"/>
              </a:rPr>
              <a:t>US$ Mn</a:t>
            </a:r>
          </a:p>
        </p:txBody>
      </p:sp>
      <p:sp>
        <p:nvSpPr>
          <p:cNvPr id="43" name="TextBox 42"/>
          <p:cNvSpPr txBox="1"/>
          <p:nvPr/>
        </p:nvSpPr>
        <p:spPr>
          <a:xfrm>
            <a:off x="276225" y="5057775"/>
            <a:ext cx="2949895" cy="179984"/>
          </a:xfrm>
          <a:prstGeom prst="rect">
            <a:avLst/>
          </a:prstGeom>
          <a:noFill/>
        </p:spPr>
        <p:txBody>
          <a:bodyPr wrap="none" lIns="0" rIns="0" tIns="0" bIns="0">
            <a:spAutoFit/>
          </a:bodyPr>
          <a:lstStyle/>
          <a:p>
            <a:r>
              <a:rPr sz="1055" b="0">
                <a:solidFill>
                  <a:srgbClr val="2E2E2E"/>
                </a:solidFill>
                <a:latin typeface="Calibri"/>
              </a:rPr>
              <a:t>▪ By Product Type, 'Flexible Partial Dentures' leads at</a:t>
            </a:r>
          </a:p>
        </p:txBody>
      </p:sp>
      <p:pic>
        <p:nvPicPr>
          <p:cNvPr id="44" name="Picture 43" descr="lock.png"/>
          <p:cNvPicPr>
            <a:picLocks noChangeAspect="1"/>
          </p:cNvPicPr>
          <p:nvPr/>
        </p:nvPicPr>
        <p:blipFill>
          <a:blip r:embed="rId10"/>
          <a:stretch>
            <a:fillRect/>
          </a:stretch>
        </p:blipFill>
        <p:spPr>
          <a:xfrm>
            <a:off x="3173202" y="5048387"/>
            <a:ext cx="123551" cy="179710"/>
          </a:xfrm>
          <a:prstGeom prst="rect">
            <a:avLst/>
          </a:prstGeom>
        </p:spPr>
      </p:pic>
      <p:sp>
        <p:nvSpPr>
          <p:cNvPr id="45" name="TextBox 44"/>
          <p:cNvSpPr txBox="1"/>
          <p:nvPr/>
        </p:nvSpPr>
        <p:spPr>
          <a:xfrm>
            <a:off x="3333998" y="5057775"/>
            <a:ext cx="578596" cy="179984"/>
          </a:xfrm>
          <a:prstGeom prst="rect">
            <a:avLst/>
          </a:prstGeom>
          <a:noFill/>
        </p:spPr>
        <p:txBody>
          <a:bodyPr wrap="none" lIns="0" rIns="0" tIns="0" bIns="0">
            <a:spAutoFit/>
          </a:bodyPr>
          <a:lstStyle/>
          <a:p>
            <a:r>
              <a:rPr sz="1055" b="0">
                <a:solidFill>
                  <a:srgbClr val="2E2E2E"/>
                </a:solidFill>
                <a:latin typeface="Calibri"/>
              </a:rPr>
              <a:t>US$ Mn (</a:t>
            </a:r>
          </a:p>
        </p:txBody>
      </p:sp>
      <p:pic>
        <p:nvPicPr>
          <p:cNvPr id="46" name="Picture 45" descr="lock.png"/>
          <p:cNvPicPr>
            <a:picLocks noChangeAspect="1"/>
          </p:cNvPicPr>
          <p:nvPr/>
        </p:nvPicPr>
        <p:blipFill>
          <a:blip r:embed="rId10"/>
          <a:stretch>
            <a:fillRect/>
          </a:stretch>
        </p:blipFill>
        <p:spPr>
          <a:xfrm>
            <a:off x="3859676" y="5048387"/>
            <a:ext cx="123551" cy="179710"/>
          </a:xfrm>
          <a:prstGeom prst="rect">
            <a:avLst/>
          </a:prstGeom>
        </p:spPr>
      </p:pic>
      <p:sp>
        <p:nvSpPr>
          <p:cNvPr id="47" name="TextBox 46"/>
          <p:cNvSpPr txBox="1"/>
          <p:nvPr/>
        </p:nvSpPr>
        <p:spPr>
          <a:xfrm>
            <a:off x="4020472" y="5057775"/>
            <a:ext cx="3387613" cy="179984"/>
          </a:xfrm>
          <a:prstGeom prst="rect">
            <a:avLst/>
          </a:prstGeom>
          <a:noFill/>
        </p:spPr>
        <p:txBody>
          <a:bodyPr wrap="none" lIns="0" rIns="0" tIns="0" bIns="0">
            <a:spAutoFit/>
          </a:bodyPr>
          <a:lstStyle/>
          <a:p>
            <a:r>
              <a:rPr sz="1055" b="0">
                <a:solidFill>
                  <a:srgbClr val="2E2E2E"/>
                </a:solidFill>
                <a:latin typeface="Calibri"/>
              </a:rPr>
              <a:t>share), ahead of 'Combination Framework Partial Dentures' (</a:t>
            </a:r>
          </a:p>
        </p:txBody>
      </p:sp>
      <p:pic>
        <p:nvPicPr>
          <p:cNvPr id="48" name="Picture 47" descr="lock.png"/>
          <p:cNvPicPr>
            <a:picLocks noChangeAspect="1"/>
          </p:cNvPicPr>
          <p:nvPr/>
        </p:nvPicPr>
        <p:blipFill>
          <a:blip r:embed="rId10"/>
          <a:stretch>
            <a:fillRect/>
          </a:stretch>
        </p:blipFill>
        <p:spPr>
          <a:xfrm>
            <a:off x="7355167" y="5048387"/>
            <a:ext cx="123551" cy="179710"/>
          </a:xfrm>
          <a:prstGeom prst="rect">
            <a:avLst/>
          </a:prstGeom>
        </p:spPr>
      </p:pic>
      <p:sp>
        <p:nvSpPr>
          <p:cNvPr id="49" name="TextBox 48"/>
          <p:cNvSpPr txBox="1"/>
          <p:nvPr/>
        </p:nvSpPr>
        <p:spPr>
          <a:xfrm>
            <a:off x="7515963" y="5057775"/>
            <a:ext cx="582001" cy="179984"/>
          </a:xfrm>
          <a:prstGeom prst="rect">
            <a:avLst/>
          </a:prstGeom>
          <a:noFill/>
        </p:spPr>
        <p:txBody>
          <a:bodyPr wrap="none" lIns="0" rIns="0" tIns="0" bIns="0">
            <a:spAutoFit/>
          </a:bodyPr>
          <a:lstStyle/>
          <a:p>
            <a:r>
              <a:rPr sz="1055" b="0">
                <a:solidFill>
                  <a:srgbClr val="2E2E2E"/>
                </a:solidFill>
                <a:latin typeface="Calibri"/>
              </a:rPr>
              <a:t>US$ Mn).</a:t>
            </a:r>
          </a:p>
        </p:txBody>
      </p:sp>
      <p:sp>
        <p:nvSpPr>
          <p:cNvPr id="50" name="TextBox 49"/>
          <p:cNvSpPr txBox="1"/>
          <p:nvPr/>
        </p:nvSpPr>
        <p:spPr>
          <a:xfrm>
            <a:off x="276225" y="5266989"/>
            <a:ext cx="2420258" cy="179984"/>
          </a:xfrm>
          <a:prstGeom prst="rect">
            <a:avLst/>
          </a:prstGeom>
          <a:noFill/>
        </p:spPr>
        <p:txBody>
          <a:bodyPr wrap="none" lIns="0" rIns="0" tIns="0" bIns="0">
            <a:spAutoFit/>
          </a:bodyPr>
          <a:lstStyle/>
          <a:p>
            <a:r>
              <a:rPr sz="1055" b="0">
                <a:solidFill>
                  <a:srgbClr val="2E2E2E"/>
                </a:solidFill>
                <a:latin typeface="Calibri"/>
              </a:rPr>
              <a:t>▪ By Material Type, 'Acrylic / Resin' leads at</a:t>
            </a:r>
          </a:p>
        </p:txBody>
      </p:sp>
      <p:pic>
        <p:nvPicPr>
          <p:cNvPr id="51" name="Picture 50" descr="lock.png"/>
          <p:cNvPicPr>
            <a:picLocks noChangeAspect="1"/>
          </p:cNvPicPr>
          <p:nvPr/>
        </p:nvPicPr>
        <p:blipFill>
          <a:blip r:embed="rId10"/>
          <a:stretch>
            <a:fillRect/>
          </a:stretch>
        </p:blipFill>
        <p:spPr>
          <a:xfrm>
            <a:off x="2643564" y="5257601"/>
            <a:ext cx="123551" cy="179710"/>
          </a:xfrm>
          <a:prstGeom prst="rect">
            <a:avLst/>
          </a:prstGeom>
        </p:spPr>
      </p:pic>
      <p:sp>
        <p:nvSpPr>
          <p:cNvPr id="52" name="TextBox 51"/>
          <p:cNvSpPr txBox="1"/>
          <p:nvPr/>
        </p:nvSpPr>
        <p:spPr>
          <a:xfrm>
            <a:off x="2804360" y="5266989"/>
            <a:ext cx="578596" cy="179984"/>
          </a:xfrm>
          <a:prstGeom prst="rect">
            <a:avLst/>
          </a:prstGeom>
          <a:noFill/>
        </p:spPr>
        <p:txBody>
          <a:bodyPr wrap="none" lIns="0" rIns="0" tIns="0" bIns="0">
            <a:spAutoFit/>
          </a:bodyPr>
          <a:lstStyle/>
          <a:p>
            <a:r>
              <a:rPr sz="1055" b="0">
                <a:solidFill>
                  <a:srgbClr val="2E2E2E"/>
                </a:solidFill>
                <a:latin typeface="Calibri"/>
              </a:rPr>
              <a:t>US$ Mn (</a:t>
            </a:r>
          </a:p>
        </p:txBody>
      </p:sp>
      <p:pic>
        <p:nvPicPr>
          <p:cNvPr id="53" name="Picture 52" descr="lock.png"/>
          <p:cNvPicPr>
            <a:picLocks noChangeAspect="1"/>
          </p:cNvPicPr>
          <p:nvPr/>
        </p:nvPicPr>
        <p:blipFill>
          <a:blip r:embed="rId10"/>
          <a:stretch>
            <a:fillRect/>
          </a:stretch>
        </p:blipFill>
        <p:spPr>
          <a:xfrm>
            <a:off x="3330038" y="5257601"/>
            <a:ext cx="123551" cy="179710"/>
          </a:xfrm>
          <a:prstGeom prst="rect">
            <a:avLst/>
          </a:prstGeom>
        </p:spPr>
      </p:pic>
      <p:sp>
        <p:nvSpPr>
          <p:cNvPr id="54" name="TextBox 53"/>
          <p:cNvSpPr txBox="1"/>
          <p:nvPr/>
        </p:nvSpPr>
        <p:spPr>
          <a:xfrm>
            <a:off x="3490834" y="5266989"/>
            <a:ext cx="1795295" cy="179984"/>
          </a:xfrm>
          <a:prstGeom prst="rect">
            <a:avLst/>
          </a:prstGeom>
          <a:noFill/>
        </p:spPr>
        <p:txBody>
          <a:bodyPr wrap="none" lIns="0" rIns="0" tIns="0" bIns="0">
            <a:spAutoFit/>
          </a:bodyPr>
          <a:lstStyle/>
          <a:p>
            <a:r>
              <a:rPr sz="1055" b="0">
                <a:solidFill>
                  <a:srgbClr val="2E2E2E"/>
                </a:solidFill>
                <a:latin typeface="Calibri"/>
              </a:rPr>
              <a:t>share), ahead of 'Metal Alloys' (</a:t>
            </a:r>
          </a:p>
        </p:txBody>
      </p:sp>
      <p:pic>
        <p:nvPicPr>
          <p:cNvPr id="55" name="Picture 54" descr="lock.png"/>
          <p:cNvPicPr>
            <a:picLocks noChangeAspect="1"/>
          </p:cNvPicPr>
          <p:nvPr/>
        </p:nvPicPr>
        <p:blipFill>
          <a:blip r:embed="rId10"/>
          <a:stretch>
            <a:fillRect/>
          </a:stretch>
        </p:blipFill>
        <p:spPr>
          <a:xfrm>
            <a:off x="5233211" y="5257601"/>
            <a:ext cx="123551" cy="179710"/>
          </a:xfrm>
          <a:prstGeom prst="rect">
            <a:avLst/>
          </a:prstGeom>
        </p:spPr>
      </p:pic>
      <p:sp>
        <p:nvSpPr>
          <p:cNvPr id="56" name="TextBox 55"/>
          <p:cNvSpPr txBox="1"/>
          <p:nvPr/>
        </p:nvSpPr>
        <p:spPr>
          <a:xfrm>
            <a:off x="5394007" y="5266989"/>
            <a:ext cx="582001" cy="179984"/>
          </a:xfrm>
          <a:prstGeom prst="rect">
            <a:avLst/>
          </a:prstGeom>
          <a:noFill/>
        </p:spPr>
        <p:txBody>
          <a:bodyPr wrap="none" lIns="0" rIns="0" tIns="0" bIns="0">
            <a:spAutoFit/>
          </a:bodyPr>
          <a:lstStyle/>
          <a:p>
            <a:r>
              <a:rPr sz="1055" b="0">
                <a:solidFill>
                  <a:srgbClr val="2E2E2E"/>
                </a:solidFill>
                <a:latin typeface="Calibri"/>
              </a:rPr>
              <a:t>US$ Mn).</a:t>
            </a:r>
          </a:p>
        </p:txBody>
      </p:sp>
      <p:sp>
        <p:nvSpPr>
          <p:cNvPr id="57" name="TextBox 56"/>
          <p:cNvSpPr txBox="1"/>
          <p:nvPr/>
        </p:nvSpPr>
        <p:spPr>
          <a:xfrm>
            <a:off x="276225" y="5476204"/>
            <a:ext cx="2512402" cy="179984"/>
          </a:xfrm>
          <a:prstGeom prst="rect">
            <a:avLst/>
          </a:prstGeom>
          <a:noFill/>
        </p:spPr>
        <p:txBody>
          <a:bodyPr wrap="none" lIns="0" rIns="0" tIns="0" bIns="0">
            <a:spAutoFit/>
          </a:bodyPr>
          <a:lstStyle/>
          <a:p>
            <a:r>
              <a:rPr sz="1055" b="0">
                <a:solidFill>
                  <a:srgbClr val="2E2E2E"/>
                </a:solidFill>
                <a:latin typeface="Calibri"/>
              </a:rPr>
              <a:t>▪ By Technology, 'Digital Fabrication' leads at</a:t>
            </a:r>
          </a:p>
        </p:txBody>
      </p:sp>
      <p:pic>
        <p:nvPicPr>
          <p:cNvPr id="58" name="Picture 57" descr="lock.png"/>
          <p:cNvPicPr>
            <a:picLocks noChangeAspect="1"/>
          </p:cNvPicPr>
          <p:nvPr/>
        </p:nvPicPr>
        <p:blipFill>
          <a:blip r:embed="rId10"/>
          <a:stretch>
            <a:fillRect/>
          </a:stretch>
        </p:blipFill>
        <p:spPr>
          <a:xfrm>
            <a:off x="2735709" y="5466816"/>
            <a:ext cx="123551" cy="179710"/>
          </a:xfrm>
          <a:prstGeom prst="rect">
            <a:avLst/>
          </a:prstGeom>
        </p:spPr>
      </p:pic>
      <p:sp>
        <p:nvSpPr>
          <p:cNvPr id="59" name="TextBox 58"/>
          <p:cNvSpPr txBox="1"/>
          <p:nvPr/>
        </p:nvSpPr>
        <p:spPr>
          <a:xfrm>
            <a:off x="2896505" y="5476204"/>
            <a:ext cx="578596" cy="179984"/>
          </a:xfrm>
          <a:prstGeom prst="rect">
            <a:avLst/>
          </a:prstGeom>
          <a:noFill/>
        </p:spPr>
        <p:txBody>
          <a:bodyPr wrap="none" lIns="0" rIns="0" tIns="0" bIns="0">
            <a:spAutoFit/>
          </a:bodyPr>
          <a:lstStyle/>
          <a:p>
            <a:r>
              <a:rPr sz="1055" b="0">
                <a:solidFill>
                  <a:srgbClr val="2E2E2E"/>
                </a:solidFill>
                <a:latin typeface="Calibri"/>
              </a:rPr>
              <a:t>US$ Mn (</a:t>
            </a:r>
          </a:p>
        </p:txBody>
      </p:sp>
      <p:pic>
        <p:nvPicPr>
          <p:cNvPr id="60" name="Picture 59" descr="lock.png"/>
          <p:cNvPicPr>
            <a:picLocks noChangeAspect="1"/>
          </p:cNvPicPr>
          <p:nvPr/>
        </p:nvPicPr>
        <p:blipFill>
          <a:blip r:embed="rId10"/>
          <a:stretch>
            <a:fillRect/>
          </a:stretch>
        </p:blipFill>
        <p:spPr>
          <a:xfrm>
            <a:off x="3422183" y="5466816"/>
            <a:ext cx="123551" cy="179710"/>
          </a:xfrm>
          <a:prstGeom prst="rect">
            <a:avLst/>
          </a:prstGeom>
        </p:spPr>
      </p:pic>
      <p:sp>
        <p:nvSpPr>
          <p:cNvPr id="61" name="TextBox 60"/>
          <p:cNvSpPr txBox="1"/>
          <p:nvPr/>
        </p:nvSpPr>
        <p:spPr>
          <a:xfrm>
            <a:off x="3582979" y="5476204"/>
            <a:ext cx="2485181" cy="179984"/>
          </a:xfrm>
          <a:prstGeom prst="rect">
            <a:avLst/>
          </a:prstGeom>
          <a:noFill/>
        </p:spPr>
        <p:txBody>
          <a:bodyPr wrap="none" lIns="0" rIns="0" tIns="0" bIns="0">
            <a:spAutoFit/>
          </a:bodyPr>
          <a:lstStyle/>
          <a:p>
            <a:r>
              <a:rPr sz="1055" b="0">
                <a:solidFill>
                  <a:srgbClr val="2E2E2E"/>
                </a:solidFill>
                <a:latin typeface="Calibri"/>
              </a:rPr>
              <a:t>share), ahead of 'Conventional Fabrication' (</a:t>
            </a:r>
          </a:p>
        </p:txBody>
      </p:sp>
      <p:pic>
        <p:nvPicPr>
          <p:cNvPr id="62" name="Picture 61" descr="lock.png"/>
          <p:cNvPicPr>
            <a:picLocks noChangeAspect="1"/>
          </p:cNvPicPr>
          <p:nvPr/>
        </p:nvPicPr>
        <p:blipFill>
          <a:blip r:embed="rId10"/>
          <a:stretch>
            <a:fillRect/>
          </a:stretch>
        </p:blipFill>
        <p:spPr>
          <a:xfrm>
            <a:off x="6015242" y="5466816"/>
            <a:ext cx="123551" cy="179710"/>
          </a:xfrm>
          <a:prstGeom prst="rect">
            <a:avLst/>
          </a:prstGeom>
        </p:spPr>
      </p:pic>
      <p:sp>
        <p:nvSpPr>
          <p:cNvPr id="63" name="TextBox 62"/>
          <p:cNvSpPr txBox="1"/>
          <p:nvPr/>
        </p:nvSpPr>
        <p:spPr>
          <a:xfrm>
            <a:off x="6176038" y="5476204"/>
            <a:ext cx="582001" cy="179984"/>
          </a:xfrm>
          <a:prstGeom prst="rect">
            <a:avLst/>
          </a:prstGeom>
          <a:noFill/>
        </p:spPr>
        <p:txBody>
          <a:bodyPr wrap="none" lIns="0" rIns="0" tIns="0" bIns="0">
            <a:spAutoFit/>
          </a:bodyPr>
          <a:lstStyle/>
          <a:p>
            <a:r>
              <a:rPr sz="1055" b="0">
                <a:solidFill>
                  <a:srgbClr val="2E2E2E"/>
                </a:solidFill>
                <a:latin typeface="Calibri"/>
              </a:rPr>
              <a:t>US$ Mn).</a:t>
            </a:r>
          </a:p>
        </p:txBody>
      </p:sp>
      <p:sp>
        <p:nvSpPr>
          <p:cNvPr id="64" name="TextBox 63"/>
          <p:cNvSpPr txBox="1"/>
          <p:nvPr/>
        </p:nvSpPr>
        <p:spPr>
          <a:xfrm>
            <a:off x="276225" y="5685419"/>
            <a:ext cx="2460858" cy="179984"/>
          </a:xfrm>
          <a:prstGeom prst="rect">
            <a:avLst/>
          </a:prstGeom>
          <a:noFill/>
        </p:spPr>
        <p:txBody>
          <a:bodyPr wrap="none" lIns="0" rIns="0" tIns="0" bIns="0">
            <a:spAutoFit/>
          </a:bodyPr>
          <a:lstStyle/>
          <a:p>
            <a:r>
              <a:rPr sz="1055" b="0">
                <a:solidFill>
                  <a:srgbClr val="2E2E2E"/>
                </a:solidFill>
                <a:latin typeface="Calibri"/>
              </a:rPr>
              <a:t>▪ By End User, 'Dental Laboratories' leads at</a:t>
            </a:r>
          </a:p>
        </p:txBody>
      </p:sp>
      <p:pic>
        <p:nvPicPr>
          <p:cNvPr id="65" name="Picture 64" descr="lock.png"/>
          <p:cNvPicPr>
            <a:picLocks noChangeAspect="1"/>
          </p:cNvPicPr>
          <p:nvPr/>
        </p:nvPicPr>
        <p:blipFill>
          <a:blip r:embed="rId10"/>
          <a:stretch>
            <a:fillRect/>
          </a:stretch>
        </p:blipFill>
        <p:spPr>
          <a:xfrm>
            <a:off x="2684165" y="5676031"/>
            <a:ext cx="123551" cy="179710"/>
          </a:xfrm>
          <a:prstGeom prst="rect">
            <a:avLst/>
          </a:prstGeom>
        </p:spPr>
      </p:pic>
      <p:sp>
        <p:nvSpPr>
          <p:cNvPr id="66" name="TextBox 65"/>
          <p:cNvSpPr txBox="1"/>
          <p:nvPr/>
        </p:nvSpPr>
        <p:spPr>
          <a:xfrm>
            <a:off x="2844961" y="5685419"/>
            <a:ext cx="578596" cy="179984"/>
          </a:xfrm>
          <a:prstGeom prst="rect">
            <a:avLst/>
          </a:prstGeom>
          <a:noFill/>
        </p:spPr>
        <p:txBody>
          <a:bodyPr wrap="none" lIns="0" rIns="0" tIns="0" bIns="0">
            <a:spAutoFit/>
          </a:bodyPr>
          <a:lstStyle/>
          <a:p>
            <a:r>
              <a:rPr sz="1055" b="0">
                <a:solidFill>
                  <a:srgbClr val="2E2E2E"/>
                </a:solidFill>
                <a:latin typeface="Calibri"/>
              </a:rPr>
              <a:t>US$ Mn (</a:t>
            </a:r>
          </a:p>
        </p:txBody>
      </p:sp>
      <p:pic>
        <p:nvPicPr>
          <p:cNvPr id="67" name="Picture 66" descr="lock.png"/>
          <p:cNvPicPr>
            <a:picLocks noChangeAspect="1"/>
          </p:cNvPicPr>
          <p:nvPr/>
        </p:nvPicPr>
        <p:blipFill>
          <a:blip r:embed="rId10"/>
          <a:stretch>
            <a:fillRect/>
          </a:stretch>
        </p:blipFill>
        <p:spPr>
          <a:xfrm>
            <a:off x="3370638" y="5676031"/>
            <a:ext cx="123551" cy="179710"/>
          </a:xfrm>
          <a:prstGeom prst="rect">
            <a:avLst/>
          </a:prstGeom>
        </p:spPr>
      </p:pic>
      <p:sp>
        <p:nvSpPr>
          <p:cNvPr id="68" name="TextBox 67"/>
          <p:cNvSpPr txBox="1"/>
          <p:nvPr/>
        </p:nvSpPr>
        <p:spPr>
          <a:xfrm>
            <a:off x="3531434" y="5685419"/>
            <a:ext cx="3329463" cy="179984"/>
          </a:xfrm>
          <a:prstGeom prst="rect">
            <a:avLst/>
          </a:prstGeom>
          <a:noFill/>
        </p:spPr>
        <p:txBody>
          <a:bodyPr wrap="none" lIns="0" rIns="0" tIns="0" bIns="0">
            <a:spAutoFit/>
          </a:bodyPr>
          <a:lstStyle/>
          <a:p>
            <a:r>
              <a:rPr sz="1055" b="0">
                <a:solidFill>
                  <a:srgbClr val="2E2E2E"/>
                </a:solidFill>
                <a:latin typeface="Calibri"/>
              </a:rPr>
              <a:t>share), ahead of 'Academic &amp; Teaching Dental Institutions' (</a:t>
            </a:r>
          </a:p>
        </p:txBody>
      </p:sp>
      <p:pic>
        <p:nvPicPr>
          <p:cNvPr id="69" name="Picture 68" descr="lock.png"/>
          <p:cNvPicPr>
            <a:picLocks noChangeAspect="1"/>
          </p:cNvPicPr>
          <p:nvPr/>
        </p:nvPicPr>
        <p:blipFill>
          <a:blip r:embed="rId10"/>
          <a:stretch>
            <a:fillRect/>
          </a:stretch>
        </p:blipFill>
        <p:spPr>
          <a:xfrm>
            <a:off x="6807979" y="5676031"/>
            <a:ext cx="123551" cy="179710"/>
          </a:xfrm>
          <a:prstGeom prst="rect">
            <a:avLst/>
          </a:prstGeom>
        </p:spPr>
      </p:pic>
      <p:sp>
        <p:nvSpPr>
          <p:cNvPr id="70" name="TextBox 69"/>
          <p:cNvSpPr txBox="1"/>
          <p:nvPr/>
        </p:nvSpPr>
        <p:spPr>
          <a:xfrm>
            <a:off x="6968775" y="5685419"/>
            <a:ext cx="582001" cy="179984"/>
          </a:xfrm>
          <a:prstGeom prst="rect">
            <a:avLst/>
          </a:prstGeom>
          <a:noFill/>
        </p:spPr>
        <p:txBody>
          <a:bodyPr wrap="none" lIns="0" rIns="0" tIns="0" bIns="0">
            <a:spAutoFit/>
          </a:bodyPr>
          <a:lstStyle/>
          <a:p>
            <a:r>
              <a:rPr sz="1055" b="0">
                <a:solidFill>
                  <a:srgbClr val="2E2E2E"/>
                </a:solidFill>
                <a:latin typeface="Calibri"/>
              </a:rPr>
              <a:t>US$ Mn).</a:t>
            </a:r>
          </a:p>
        </p:txBody>
      </p:sp>
      <p:sp>
        <p:nvSpPr>
          <p:cNvPr id="71" name="TextBox 70"/>
          <p:cNvSpPr txBox="1"/>
          <p:nvPr/>
        </p:nvSpPr>
        <p:spPr>
          <a:xfrm>
            <a:off x="276225" y="5894633"/>
            <a:ext cx="3615479" cy="179984"/>
          </a:xfrm>
          <a:prstGeom prst="rect">
            <a:avLst/>
          </a:prstGeom>
          <a:noFill/>
        </p:spPr>
        <p:txBody>
          <a:bodyPr wrap="none" lIns="0" rIns="0" tIns="0" bIns="0">
            <a:spAutoFit/>
          </a:bodyPr>
          <a:lstStyle/>
          <a:p>
            <a:r>
              <a:rPr sz="1055" b="0">
                <a:solidFill>
                  <a:srgbClr val="2E2E2E"/>
                </a:solidFill>
                <a:latin typeface="Calibri"/>
              </a:rPr>
              <a:t>▪ By Distribution Channel, 'Dental Dealers &amp; Distributors' leads at</a:t>
            </a:r>
          </a:p>
        </p:txBody>
      </p:sp>
      <p:pic>
        <p:nvPicPr>
          <p:cNvPr id="72" name="Picture 71" descr="lock.png"/>
          <p:cNvPicPr>
            <a:picLocks noChangeAspect="1"/>
          </p:cNvPicPr>
          <p:nvPr/>
        </p:nvPicPr>
        <p:blipFill>
          <a:blip r:embed="rId10"/>
          <a:stretch>
            <a:fillRect/>
          </a:stretch>
        </p:blipFill>
        <p:spPr>
          <a:xfrm>
            <a:off x="3838785" y="5885246"/>
            <a:ext cx="123551" cy="179710"/>
          </a:xfrm>
          <a:prstGeom prst="rect">
            <a:avLst/>
          </a:prstGeom>
        </p:spPr>
      </p:pic>
      <p:sp>
        <p:nvSpPr>
          <p:cNvPr id="73" name="TextBox 72"/>
          <p:cNvSpPr txBox="1"/>
          <p:nvPr/>
        </p:nvSpPr>
        <p:spPr>
          <a:xfrm>
            <a:off x="3999581" y="5894633"/>
            <a:ext cx="578596" cy="179984"/>
          </a:xfrm>
          <a:prstGeom prst="rect">
            <a:avLst/>
          </a:prstGeom>
          <a:noFill/>
        </p:spPr>
        <p:txBody>
          <a:bodyPr wrap="none" lIns="0" rIns="0" tIns="0" bIns="0">
            <a:spAutoFit/>
          </a:bodyPr>
          <a:lstStyle/>
          <a:p>
            <a:r>
              <a:rPr sz="1055" b="0">
                <a:solidFill>
                  <a:srgbClr val="2E2E2E"/>
                </a:solidFill>
                <a:latin typeface="Calibri"/>
              </a:rPr>
              <a:t>US$ Mn (</a:t>
            </a:r>
          </a:p>
        </p:txBody>
      </p:sp>
      <p:pic>
        <p:nvPicPr>
          <p:cNvPr id="74" name="Picture 73" descr="lock.png"/>
          <p:cNvPicPr>
            <a:picLocks noChangeAspect="1"/>
          </p:cNvPicPr>
          <p:nvPr/>
        </p:nvPicPr>
        <p:blipFill>
          <a:blip r:embed="rId10"/>
          <a:stretch>
            <a:fillRect/>
          </a:stretch>
        </p:blipFill>
        <p:spPr>
          <a:xfrm>
            <a:off x="4525259" y="5885246"/>
            <a:ext cx="123551" cy="179710"/>
          </a:xfrm>
          <a:prstGeom prst="rect">
            <a:avLst/>
          </a:prstGeom>
        </p:spPr>
      </p:pic>
      <p:sp>
        <p:nvSpPr>
          <p:cNvPr id="75" name="TextBox 74"/>
          <p:cNvSpPr txBox="1"/>
          <p:nvPr/>
        </p:nvSpPr>
        <p:spPr>
          <a:xfrm>
            <a:off x="4686055" y="5894633"/>
            <a:ext cx="1755219" cy="179984"/>
          </a:xfrm>
          <a:prstGeom prst="rect">
            <a:avLst/>
          </a:prstGeom>
          <a:noFill/>
        </p:spPr>
        <p:txBody>
          <a:bodyPr wrap="none" lIns="0" rIns="0" tIns="0" bIns="0">
            <a:spAutoFit/>
          </a:bodyPr>
          <a:lstStyle/>
          <a:p>
            <a:r>
              <a:rPr sz="1055" b="0">
                <a:solidFill>
                  <a:srgbClr val="2E2E2E"/>
                </a:solidFill>
                <a:latin typeface="Calibri"/>
              </a:rPr>
              <a:t>share), ahead of 'Direct Sales' (</a:t>
            </a:r>
          </a:p>
        </p:txBody>
      </p:sp>
      <p:pic>
        <p:nvPicPr>
          <p:cNvPr id="76" name="Picture 75" descr="lock.png"/>
          <p:cNvPicPr>
            <a:picLocks noChangeAspect="1"/>
          </p:cNvPicPr>
          <p:nvPr/>
        </p:nvPicPr>
        <p:blipFill>
          <a:blip r:embed="rId10"/>
          <a:stretch>
            <a:fillRect/>
          </a:stretch>
        </p:blipFill>
        <p:spPr>
          <a:xfrm>
            <a:off x="6388356" y="5885246"/>
            <a:ext cx="123551" cy="179710"/>
          </a:xfrm>
          <a:prstGeom prst="rect">
            <a:avLst/>
          </a:prstGeom>
        </p:spPr>
      </p:pic>
      <p:sp>
        <p:nvSpPr>
          <p:cNvPr id="77" name="TextBox 76"/>
          <p:cNvSpPr txBox="1"/>
          <p:nvPr/>
        </p:nvSpPr>
        <p:spPr>
          <a:xfrm>
            <a:off x="6549152" y="5894633"/>
            <a:ext cx="582001" cy="179984"/>
          </a:xfrm>
          <a:prstGeom prst="rect">
            <a:avLst/>
          </a:prstGeom>
          <a:noFill/>
        </p:spPr>
        <p:txBody>
          <a:bodyPr wrap="none" lIns="0" rIns="0" tIns="0" bIns="0">
            <a:spAutoFit/>
          </a:bodyPr>
          <a:lstStyle/>
          <a:p>
            <a:r>
              <a:rPr sz="1055" b="0">
                <a:solidFill>
                  <a:srgbClr val="2E2E2E"/>
                </a:solidFill>
                <a:latin typeface="Calibri"/>
              </a:rPr>
              <a:t>US$ Mn).</a:t>
            </a:r>
          </a:p>
        </p:txBody>
      </p:sp>
      <p:sp>
        <p:nvSpPr>
          <p:cNvPr id="78" name="TextBox 77"/>
          <p:cNvSpPr txBox="1"/>
          <p:nvPr/>
        </p:nvSpPr>
        <p:spPr>
          <a:xfrm>
            <a:off x="276225" y="6103848"/>
            <a:ext cx="2846954" cy="179984"/>
          </a:xfrm>
          <a:prstGeom prst="rect">
            <a:avLst/>
          </a:prstGeom>
          <a:noFill/>
        </p:spPr>
        <p:txBody>
          <a:bodyPr wrap="none" lIns="0" rIns="0" tIns="0" bIns="0">
            <a:spAutoFit/>
          </a:bodyPr>
          <a:lstStyle/>
          <a:p>
            <a:r>
              <a:rPr sz="1055" b="0">
                <a:solidFill>
                  <a:srgbClr val="2E2E2E"/>
                </a:solidFill>
                <a:latin typeface="Calibri"/>
              </a:rPr>
              <a:t>▪ By Patient Age Group, 'Geriatric Patients' leads at</a:t>
            </a:r>
          </a:p>
        </p:txBody>
      </p:sp>
      <p:pic>
        <p:nvPicPr>
          <p:cNvPr id="79" name="Picture 78" descr="lock.png"/>
          <p:cNvPicPr>
            <a:picLocks noChangeAspect="1"/>
          </p:cNvPicPr>
          <p:nvPr/>
        </p:nvPicPr>
        <p:blipFill>
          <a:blip r:embed="rId10"/>
          <a:stretch>
            <a:fillRect/>
          </a:stretch>
        </p:blipFill>
        <p:spPr>
          <a:xfrm>
            <a:off x="3070260" y="6094460"/>
            <a:ext cx="123551" cy="179710"/>
          </a:xfrm>
          <a:prstGeom prst="rect">
            <a:avLst/>
          </a:prstGeom>
        </p:spPr>
      </p:pic>
      <p:sp>
        <p:nvSpPr>
          <p:cNvPr id="80" name="TextBox 79"/>
          <p:cNvSpPr txBox="1"/>
          <p:nvPr/>
        </p:nvSpPr>
        <p:spPr>
          <a:xfrm>
            <a:off x="3231056" y="6103848"/>
            <a:ext cx="578596" cy="179984"/>
          </a:xfrm>
          <a:prstGeom prst="rect">
            <a:avLst/>
          </a:prstGeom>
          <a:noFill/>
        </p:spPr>
        <p:txBody>
          <a:bodyPr wrap="none" lIns="0" rIns="0" tIns="0" bIns="0">
            <a:spAutoFit/>
          </a:bodyPr>
          <a:lstStyle/>
          <a:p>
            <a:r>
              <a:rPr sz="1055" b="0">
                <a:solidFill>
                  <a:srgbClr val="2E2E2E"/>
                </a:solidFill>
                <a:latin typeface="Calibri"/>
              </a:rPr>
              <a:t>US$ Mn (</a:t>
            </a:r>
          </a:p>
        </p:txBody>
      </p:sp>
      <p:pic>
        <p:nvPicPr>
          <p:cNvPr id="81" name="Picture 80" descr="lock.png"/>
          <p:cNvPicPr>
            <a:picLocks noChangeAspect="1"/>
          </p:cNvPicPr>
          <p:nvPr/>
        </p:nvPicPr>
        <p:blipFill>
          <a:blip r:embed="rId10"/>
          <a:stretch>
            <a:fillRect/>
          </a:stretch>
        </p:blipFill>
        <p:spPr>
          <a:xfrm>
            <a:off x="3756734" y="6094460"/>
            <a:ext cx="123551" cy="179710"/>
          </a:xfrm>
          <a:prstGeom prst="rect">
            <a:avLst/>
          </a:prstGeom>
        </p:spPr>
      </p:pic>
      <p:sp>
        <p:nvSpPr>
          <p:cNvPr id="82" name="TextBox 81"/>
          <p:cNvSpPr txBox="1"/>
          <p:nvPr/>
        </p:nvSpPr>
        <p:spPr>
          <a:xfrm>
            <a:off x="3917530" y="6103848"/>
            <a:ext cx="1466826" cy="179984"/>
          </a:xfrm>
          <a:prstGeom prst="rect">
            <a:avLst/>
          </a:prstGeom>
          <a:noFill/>
        </p:spPr>
        <p:txBody>
          <a:bodyPr wrap="none" lIns="0" rIns="0" tIns="0" bIns="0">
            <a:spAutoFit/>
          </a:bodyPr>
          <a:lstStyle/>
          <a:p>
            <a:r>
              <a:rPr sz="1055" b="0">
                <a:solidFill>
                  <a:srgbClr val="2E2E2E"/>
                </a:solidFill>
                <a:latin typeface="Calibri"/>
              </a:rPr>
              <a:t>share), ahead of 'Adults' (</a:t>
            </a:r>
          </a:p>
        </p:txBody>
      </p:sp>
      <p:pic>
        <p:nvPicPr>
          <p:cNvPr id="83" name="Picture 82" descr="lock.png"/>
          <p:cNvPicPr>
            <a:picLocks noChangeAspect="1"/>
          </p:cNvPicPr>
          <p:nvPr/>
        </p:nvPicPr>
        <p:blipFill>
          <a:blip r:embed="rId10"/>
          <a:stretch>
            <a:fillRect/>
          </a:stretch>
        </p:blipFill>
        <p:spPr>
          <a:xfrm>
            <a:off x="5331438" y="6094460"/>
            <a:ext cx="123551" cy="179710"/>
          </a:xfrm>
          <a:prstGeom prst="rect">
            <a:avLst/>
          </a:prstGeom>
        </p:spPr>
      </p:pic>
      <p:sp>
        <p:nvSpPr>
          <p:cNvPr id="84" name="TextBox 83"/>
          <p:cNvSpPr txBox="1"/>
          <p:nvPr/>
        </p:nvSpPr>
        <p:spPr>
          <a:xfrm>
            <a:off x="5492234" y="6103848"/>
            <a:ext cx="582001" cy="179984"/>
          </a:xfrm>
          <a:prstGeom prst="rect">
            <a:avLst/>
          </a:prstGeom>
          <a:noFill/>
        </p:spPr>
        <p:txBody>
          <a:bodyPr wrap="none" lIns="0" rIns="0" tIns="0" bIns="0">
            <a:spAutoFit/>
          </a:bodyPr>
          <a:lstStyle/>
          <a:p>
            <a:r>
              <a:rPr sz="1055" b="0">
                <a:solidFill>
                  <a:srgbClr val="2E2E2E"/>
                </a:solidFill>
                <a:latin typeface="Calibri"/>
              </a:rPr>
              <a:t>US$ Mn).</a:t>
            </a:r>
          </a:p>
        </p:txBody>
      </p:sp>
      <p:sp>
        <p:nvSpPr>
          <p:cNvPr id="85" name="TextBox 84"/>
          <p:cNvSpPr txBox="1"/>
          <p:nvPr/>
        </p:nvSpPr>
        <p:spPr>
          <a:xfrm>
            <a:off x="276225" y="6313063"/>
            <a:ext cx="6413777" cy="179984"/>
          </a:xfrm>
          <a:prstGeom prst="rect">
            <a:avLst/>
          </a:prstGeom>
          <a:noFill/>
        </p:spPr>
        <p:txBody>
          <a:bodyPr wrap="none" lIns="0" rIns="0" tIns="0" bIns="0">
            <a:spAutoFit/>
          </a:bodyPr>
          <a:lstStyle/>
          <a:p>
            <a:r>
              <a:rPr sz="1055" b="0">
                <a:solidFill>
                  <a:srgbClr val="2E2E2E"/>
                </a:solidFill>
                <a:latin typeface="Calibri"/>
              </a:rPr>
              <a:t>▪ Use the Country slicer in the top band to switch country the selection stays synced across every page of the report.</a:t>
            </a:r>
          </a:p>
        </p:txBody>
      </p:sp>
      <p:sp>
        <p:nvSpPr>
          <p:cNvPr id="86" name="lockshield_13"/>
          <p:cNvSpPr/>
          <p:nvPr/>
        </p:nvSpPr>
        <p:spPr>
          <a:xfrm>
            <a:off x="238125" y="1266825"/>
            <a:ext cx="2667000" cy="13525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lockshield_16"/>
          <p:cNvSpPr/>
          <p:nvPr/>
        </p:nvSpPr>
        <p:spPr>
          <a:xfrm>
            <a:off x="3248025" y="1266825"/>
            <a:ext cx="2667000" cy="13525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lockshield_19"/>
          <p:cNvSpPr/>
          <p:nvPr/>
        </p:nvSpPr>
        <p:spPr>
          <a:xfrm>
            <a:off x="6257925" y="1266825"/>
            <a:ext cx="2667000" cy="13525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lockshield_22"/>
          <p:cNvSpPr/>
          <p:nvPr/>
        </p:nvSpPr>
        <p:spPr>
          <a:xfrm>
            <a:off x="9267825" y="1266825"/>
            <a:ext cx="2667000" cy="13525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lockshield_25"/>
          <p:cNvSpPr/>
          <p:nvPr/>
        </p:nvSpPr>
        <p:spPr>
          <a:xfrm>
            <a:off x="238125" y="3095625"/>
            <a:ext cx="2743200" cy="13525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lockshield_28"/>
          <p:cNvSpPr/>
          <p:nvPr/>
        </p:nvSpPr>
        <p:spPr>
          <a:xfrm>
            <a:off x="3324225" y="3095625"/>
            <a:ext cx="2743200" cy="13525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0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16217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505075"/>
            <a:ext cx="8572500" cy="514350"/>
          </a:xfrm>
          <a:prstGeom prst="rect">
            <a:avLst/>
          </a:prstGeom>
          <a:noFill/>
        </p:spPr>
        <p:txBody>
          <a:bodyPr wrap="square" lIns="0" rIns="0" tIns="0">
            <a:spAutoFit/>
          </a:bodyPr>
          <a:lstStyle/>
          <a:p>
            <a:r>
              <a:rPr sz="3000" b="1">
                <a:solidFill>
                  <a:srgbClr val="0B3C8C"/>
                </a:solidFill>
                <a:latin typeface="Calibri"/>
              </a:rPr>
              <a:t>Segment Overview (Volume &amp; Value)</a:t>
            </a:r>
          </a:p>
        </p:txBody>
      </p:sp>
      <p:sp>
        <p:nvSpPr>
          <p:cNvPr id="11" name="TextBox 10"/>
          <p:cNvSpPr txBox="1"/>
          <p:nvPr/>
        </p:nvSpPr>
        <p:spPr>
          <a:xfrm>
            <a:off x="914400" y="3190875"/>
            <a:ext cx="8458200" cy="24574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Material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Technology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End User</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Distribution Channel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Patient Age Group</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Product Type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Segmental Analysis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Product Type: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Type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Type</a:t>
            </a:r>
          </a:p>
        </p:txBody>
      </p:sp>
      <p:graphicFrame>
        <p:nvGraphicFramePr>
          <p:cNvPr id="16" name="Table 15"/>
          <p:cNvGraphicFramePr>
            <a:graphicFrameLocks noGrp="1"/>
          </p:cNvGraphicFramePr>
          <p:nvPr/>
        </p:nvGraphicFramePr>
        <p:xfrm>
          <a:off x="6181725" y="1238250"/>
          <a:ext cx="5857875" cy="2285998"/>
        </p:xfrm>
        <a:graphic>
          <a:graphicData uri="http://schemas.openxmlformats.org/drawingml/2006/table">
            <a:tbl>
              <a:tblPr>
                <a:tableStyleId>{5C22544A-7EE6-4342-B048-85BDC9FD1C3A}</a:tableStyleId>
              </a:tblPr>
              <a:tblGrid>
                <a:gridCol w="2683585"/>
                <a:gridCol w="798006"/>
                <a:gridCol w="798006"/>
                <a:gridCol w="1007795"/>
                <a:gridCol w="570483"/>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509968">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509968">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Type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Product Type</a:t>
            </a:r>
          </a:p>
        </p:txBody>
      </p:sp>
      <p:graphicFrame>
        <p:nvGraphicFramePr>
          <p:cNvPr id="23" name="Table 22"/>
          <p:cNvGraphicFramePr>
            <a:graphicFrameLocks noGrp="1"/>
          </p:cNvGraphicFramePr>
          <p:nvPr/>
        </p:nvGraphicFramePr>
        <p:xfrm>
          <a:off x="6181725" y="4124325"/>
          <a:ext cx="5857875" cy="2285998"/>
        </p:xfrm>
        <a:graphic>
          <a:graphicData uri="http://schemas.openxmlformats.org/drawingml/2006/table">
            <a:tbl>
              <a:tblPr>
                <a:tableStyleId>{5C22544A-7EE6-4342-B048-85BDC9FD1C3A}</a:tableStyleId>
              </a:tblPr>
              <a:tblGrid>
                <a:gridCol w="2683585"/>
                <a:gridCol w="798006"/>
                <a:gridCol w="798006"/>
                <a:gridCol w="1007795"/>
                <a:gridCol w="570483"/>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509968">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509968">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3094826" y="2237234"/>
            <a:ext cx="263506" cy="383281"/>
          </a:xfrm>
          <a:prstGeom prst="rect">
            <a:avLst/>
          </a:prstGeom>
        </p:spPr>
      </p:pic>
      <p:pic>
        <p:nvPicPr>
          <p:cNvPr id="27" name="Picture 26" descr="lock.png"/>
          <p:cNvPicPr>
            <a:picLocks noChangeAspect="1"/>
          </p:cNvPicPr>
          <p:nvPr/>
        </p:nvPicPr>
        <p:blipFill>
          <a:blip r:embed="rId6"/>
          <a:stretch>
            <a:fillRect/>
          </a:stretch>
        </p:blipFill>
        <p:spPr>
          <a:xfrm>
            <a:off x="10268096" y="2240942"/>
            <a:ext cx="362132" cy="526738"/>
          </a:xfrm>
          <a:prstGeom prst="rect">
            <a:avLst/>
          </a:prstGeom>
        </p:spPr>
      </p:pic>
      <p:pic>
        <p:nvPicPr>
          <p:cNvPr id="28" name="Picture 27" descr="lock.png"/>
          <p:cNvPicPr>
            <a:picLocks noChangeAspect="1"/>
          </p:cNvPicPr>
          <p:nvPr/>
        </p:nvPicPr>
        <p:blipFill>
          <a:blip r:embed="rId6"/>
          <a:stretch>
            <a:fillRect/>
          </a:stretch>
        </p:blipFill>
        <p:spPr>
          <a:xfrm>
            <a:off x="3094826" y="5123309"/>
            <a:ext cx="263506" cy="383281"/>
          </a:xfrm>
          <a:prstGeom prst="rect">
            <a:avLst/>
          </a:prstGeom>
        </p:spPr>
      </p:pic>
      <p:pic>
        <p:nvPicPr>
          <p:cNvPr id="29" name="Picture 28" descr="lock.png"/>
          <p:cNvPicPr>
            <a:picLocks noChangeAspect="1"/>
          </p:cNvPicPr>
          <p:nvPr/>
        </p:nvPicPr>
        <p:blipFill>
          <a:blip r:embed="rId6"/>
          <a:stretch>
            <a:fillRect/>
          </a:stretch>
        </p:blipFill>
        <p:spPr>
          <a:xfrm>
            <a:off x="10268096" y="5127017"/>
            <a:ext cx="362132" cy="526738"/>
          </a:xfrm>
          <a:prstGeom prst="rect">
            <a:avLst/>
          </a:prstGeom>
        </p:spPr>
      </p:pic>
      <p:sp>
        <p:nvSpPr>
          <p:cNvPr id="30"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0"/>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Tables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Product Type,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Product Type (Units)</a:t>
            </a:r>
          </a:p>
        </p:txBody>
      </p:sp>
      <p:graphicFrame>
        <p:nvGraphicFramePr>
          <p:cNvPr id="13" name="Table 12"/>
          <p:cNvGraphicFramePr>
            <a:graphicFrameLocks noGrp="1"/>
          </p:cNvGraphicFramePr>
          <p:nvPr/>
        </p:nvGraphicFramePr>
        <p:xfrm>
          <a:off x="152400" y="1238250"/>
          <a:ext cx="11887192" cy="1485896"/>
        </p:xfrm>
        <a:graphic>
          <a:graphicData uri="http://schemas.openxmlformats.org/drawingml/2006/table">
            <a:tbl>
              <a:tblPr>
                <a:tableStyleId>{5C22544A-7EE6-4342-B048-85BDC9FD1C3A}</a:tableStyleId>
              </a:tblPr>
              <a:tblGrid>
                <a:gridCol w="2578349"/>
                <a:gridCol w="547579"/>
                <a:gridCol w="547579"/>
                <a:gridCol w="547579"/>
                <a:gridCol w="547579"/>
                <a:gridCol w="547579"/>
                <a:gridCol w="547579"/>
                <a:gridCol w="547579"/>
                <a:gridCol w="547579"/>
                <a:gridCol w="547579"/>
                <a:gridCol w="547579"/>
                <a:gridCol w="547579"/>
                <a:gridCol w="547579"/>
                <a:gridCol w="547579"/>
                <a:gridCol w="547579"/>
                <a:gridCol w="547579"/>
                <a:gridCol w="547579"/>
                <a:gridCol w="547579"/>
              </a:tblGrid>
              <a:tr h="246126">
                <a:tc>
                  <a:txBody>
                    <a:bodyPr wrap="none"/>
                    <a:lstStyle/>
                    <a:p>
                      <a:pPr algn="l"/>
                      <a:r>
                        <a:rPr sz="1100" b="1">
                          <a:solidFill>
                            <a:srgbClr val="0B2E4A"/>
                          </a:solidFill>
                          <a:latin typeface="Calibri"/>
                        </a:rPr>
                        <a:t>Product Type</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2021A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2022A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2023A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2024A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2025A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2026E</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2027F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2028F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2029F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2030F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2031F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2032F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2033F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2034F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2035F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2036F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F-CAGR</a:t>
                      </a:r>
                      <a:endParaRPr sz="1100"/>
                    </a:p>
                  </a:txBody>
                  <a:tcPr marL="28575" marR="19050" marT="19050" marB="19050" anchor="ctr">
                    <a:solidFill>
                      <a:srgbClr val="E0E8EF"/>
                    </a:solidFill>
                  </a:tcPr>
                </a:tc>
              </a:tr>
              <a:tr h="247954">
                <a:tc>
                  <a:txBody>
                    <a:bodyPr wrap="none"/>
                    <a:lstStyle/>
                    <a:p>
                      <a:pPr algn="l"/>
                      <a:r>
                        <a:rPr sz="1100" b="1">
                          <a:solidFill>
                            <a:srgbClr val="2E2E2E"/>
                          </a:solidFill>
                          <a:latin typeface="Calibri"/>
                        </a:rPr>
                        <a:t>Cast Metal Partial Dentures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7954">
                <a:tc>
                  <a:txBody>
                    <a:bodyPr wrap="none"/>
                    <a:lstStyle/>
                    <a:p>
                      <a:pPr algn="l"/>
                      <a:r>
                        <a:rPr sz="1100" b="1">
                          <a:solidFill>
                            <a:srgbClr val="2E2E2E"/>
                          </a:solidFill>
                          <a:latin typeface="Calibri"/>
                        </a:rPr>
                        <a:t>Acrylic Partial Dentures</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7954">
                <a:tc>
                  <a:txBody>
                    <a:bodyPr wrap="none"/>
                    <a:lstStyle/>
                    <a:p>
                      <a:pPr algn="l"/>
                      <a:r>
                        <a:rPr sz="1100" b="1">
                          <a:solidFill>
                            <a:srgbClr val="2E2E2E"/>
                          </a:solidFill>
                          <a:latin typeface="Calibri"/>
                        </a:rPr>
                        <a:t>Flexible Partial Dentures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7954">
                <a:tc>
                  <a:txBody>
                    <a:bodyPr wrap="none"/>
                    <a:lstStyle/>
                    <a:p>
                      <a:pPr algn="l"/>
                      <a:r>
                        <a:rPr sz="1100" b="1">
                          <a:solidFill>
                            <a:srgbClr val="2E2E2E"/>
                          </a:solidFill>
                          <a:latin typeface="Calibri"/>
                        </a:rPr>
                        <a:t>Combination Framework Partial Dentures</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r>
            </a:tbl>
          </a:graphicData>
        </a:graphic>
      </p:graphicFrame>
      <p:sp>
        <p:nvSpPr>
          <p:cNvPr id="14" name="TextBox 13"/>
          <p:cNvSpPr txBox="1"/>
          <p:nvPr/>
        </p:nvSpPr>
        <p:spPr>
          <a:xfrm>
            <a:off x="219075" y="2733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1242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Product Type (US$ Mn)</a:t>
            </a:r>
          </a:p>
        </p:txBody>
      </p:sp>
      <p:graphicFrame>
        <p:nvGraphicFramePr>
          <p:cNvPr id="17" name="Table 16"/>
          <p:cNvGraphicFramePr>
            <a:graphicFrameLocks noGrp="1"/>
          </p:cNvGraphicFramePr>
          <p:nvPr/>
        </p:nvGraphicFramePr>
        <p:xfrm>
          <a:off x="152400" y="3324225"/>
          <a:ext cx="11887203" cy="1485896"/>
        </p:xfrm>
        <a:graphic>
          <a:graphicData uri="http://schemas.openxmlformats.org/drawingml/2006/table">
            <a:tbl>
              <a:tblPr>
                <a:tableStyleId>{5C22544A-7EE6-4342-B048-85BDC9FD1C3A}</a:tableStyleId>
              </a:tblPr>
              <a:tblGrid>
                <a:gridCol w="2888124"/>
                <a:gridCol w="540561"/>
                <a:gridCol w="540561"/>
                <a:gridCol w="540561"/>
                <a:gridCol w="540561"/>
                <a:gridCol w="540561"/>
                <a:gridCol w="521519"/>
                <a:gridCol w="516079"/>
                <a:gridCol w="516079"/>
                <a:gridCol w="516079"/>
                <a:gridCol w="516079"/>
                <a:gridCol w="516079"/>
                <a:gridCol w="516079"/>
                <a:gridCol w="516079"/>
                <a:gridCol w="516079"/>
                <a:gridCol w="516079"/>
                <a:gridCol w="516079"/>
                <a:gridCol w="613965"/>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8196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198480" y="1837563"/>
            <a:ext cx="366712" cy="533400"/>
          </a:xfrm>
          <a:prstGeom prst="rect">
            <a:avLst/>
          </a:prstGeom>
        </p:spPr>
      </p:pic>
      <p:pic>
        <p:nvPicPr>
          <p:cNvPr id="21" name="Picture 20" descr="lock.png"/>
          <p:cNvPicPr>
            <a:picLocks noChangeAspect="1"/>
          </p:cNvPicPr>
          <p:nvPr/>
        </p:nvPicPr>
        <p:blipFill>
          <a:blip r:embed="rId4"/>
          <a:stretch>
            <a:fillRect/>
          </a:stretch>
        </p:blipFill>
        <p:spPr>
          <a:xfrm>
            <a:off x="7353373" y="3923538"/>
            <a:ext cx="366712" cy="533400"/>
          </a:xfrm>
          <a:prstGeom prst="rect">
            <a:avLst/>
          </a:prstGeom>
        </p:spPr>
      </p:pic>
    </p:spTree>
  </p:cSld>
  <p:clrMapOvr>
    <a:masterClrMapping/>
  </p:clrMapOvr>
</p:sld>
</file>

<file path=ppt/slides/slide2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Product Type,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1238250"/>
        </p:xfrm>
        <a:graphic>
          <a:graphicData uri="http://schemas.openxmlformats.org/drawingml/2006/table">
            <a:tbl>
              <a:tblPr>
                <a:tableStyleId>{5C22544A-7EE6-4342-B048-85BDC9FD1C3A}</a:tableStyleId>
              </a:tblPr>
              <a:tblGrid>
                <a:gridCol w="2793155"/>
                <a:gridCol w="606270"/>
                <a:gridCol w="606270"/>
                <a:gridCol w="606270"/>
                <a:gridCol w="606270"/>
                <a:gridCol w="606270"/>
                <a:gridCol w="606270"/>
                <a:gridCol w="606270"/>
                <a:gridCol w="606270"/>
                <a:gridCol w="606270"/>
                <a:gridCol w="606270"/>
                <a:gridCol w="606270"/>
                <a:gridCol w="606270"/>
                <a:gridCol w="606270"/>
                <a:gridCol w="606270"/>
                <a:gridCol w="606270"/>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3076575"/>
          <a:ext cx="11887205" cy="1238250"/>
        </p:xfrm>
        <a:graphic>
          <a:graphicData uri="http://schemas.openxmlformats.org/drawingml/2006/table">
            <a:tbl>
              <a:tblPr>
                <a:tableStyleId>{5C22544A-7EE6-4342-B048-85BDC9FD1C3A}</a:tableStyleId>
              </a:tblPr>
              <a:tblGrid>
                <a:gridCol w="2793155"/>
                <a:gridCol w="606270"/>
                <a:gridCol w="606270"/>
                <a:gridCol w="606270"/>
                <a:gridCol w="606270"/>
                <a:gridCol w="606270"/>
                <a:gridCol w="606270"/>
                <a:gridCol w="606270"/>
                <a:gridCol w="606270"/>
                <a:gridCol w="606270"/>
                <a:gridCol w="606270"/>
                <a:gridCol w="606270"/>
                <a:gridCol w="606270"/>
                <a:gridCol w="606270"/>
                <a:gridCol w="606270"/>
                <a:gridCol w="606270"/>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43243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305889" y="1713738"/>
            <a:ext cx="366712" cy="533400"/>
          </a:xfrm>
          <a:prstGeom prst="rect">
            <a:avLst/>
          </a:prstGeom>
        </p:spPr>
      </p:pic>
      <p:pic>
        <p:nvPicPr>
          <p:cNvPr id="21" name="Picture 20" descr="lock.png"/>
          <p:cNvPicPr>
            <a:picLocks noChangeAspect="1"/>
          </p:cNvPicPr>
          <p:nvPr/>
        </p:nvPicPr>
        <p:blipFill>
          <a:blip r:embed="rId4"/>
          <a:stretch>
            <a:fillRect/>
          </a:stretch>
        </p:blipFill>
        <p:spPr>
          <a:xfrm>
            <a:off x="7305889" y="3552062"/>
            <a:ext cx="366712" cy="533400"/>
          </a:xfrm>
          <a:prstGeom prst="rect">
            <a:avLst/>
          </a:prstGeom>
        </p:spPr>
      </p:pic>
    </p:spTree>
  </p:cSld>
  <p:clrMapOvr>
    <a:masterClrMapping/>
  </p:clrMapOvr>
</p:sld>
</file>

<file path=ppt/slides/slide20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Material Type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Segmental Analysis Material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Material Type: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Material Type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Material Type</a:t>
            </a:r>
          </a:p>
        </p:txBody>
      </p:sp>
      <p:graphicFrame>
        <p:nvGraphicFramePr>
          <p:cNvPr id="16" name="Table 15"/>
          <p:cNvGraphicFramePr>
            <a:graphicFrameLocks noGrp="1"/>
          </p:cNvGraphicFramePr>
          <p:nvPr/>
        </p:nvGraphicFramePr>
        <p:xfrm>
          <a:off x="6181725" y="1238250"/>
          <a:ext cx="5857875" cy="2285998"/>
        </p:xfrm>
        <a:graphic>
          <a:graphicData uri="http://schemas.openxmlformats.org/drawingml/2006/table">
            <a:tbl>
              <a:tblPr>
                <a:tableStyleId>{5C22544A-7EE6-4342-B048-85BDC9FD1C3A}</a:tableStyleId>
              </a:tblPr>
              <a:tblGrid>
                <a:gridCol w="1842315"/>
                <a:gridCol w="1003890"/>
                <a:gridCol w="1003890"/>
                <a:gridCol w="1003890"/>
                <a:gridCol w="1003890"/>
              </a:tblGrid>
              <a:tr h="246126">
                <a:tc>
                  <a:txBody>
                    <a:bodyPr wrap="none"/>
                    <a:lstStyle/>
                    <a:p>
                      <a:pPr algn="l"/>
                      <a:r>
                        <a:rPr sz="1100" b="1">
                          <a:solidFill>
                            <a:srgbClr val="0B2E4A"/>
                          </a:solidFill>
                          <a:latin typeface="Calibri"/>
                        </a:rPr>
                        <a:t>Material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509968">
                <a:tc>
                  <a:txBody>
                    <a:bodyPr wrap="none"/>
                    <a:lstStyle/>
                    <a:p>
                      <a:pPr algn="l"/>
                      <a:r>
                        <a:rPr sz="1100" b="1">
                          <a:solidFill>
                            <a:srgbClr val="2E2E2E"/>
                          </a:solidFill>
                          <a:latin typeface="Calibri"/>
                        </a:rPr>
                        <a:t>Metal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Acrylic / Resin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509968">
                <a:tc>
                  <a:txBody>
                    <a:bodyPr wrap="none"/>
                    <a:lstStyle/>
                    <a:p>
                      <a:pPr algn="l"/>
                      <a:r>
                        <a:rPr sz="1100" b="1">
                          <a:solidFill>
                            <a:srgbClr val="2E2E2E"/>
                          </a:solidFill>
                          <a:latin typeface="Calibri"/>
                        </a:rPr>
                        <a:t>Flexible Thermoplastics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High-performance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Material Type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Material Type</a:t>
            </a:r>
          </a:p>
        </p:txBody>
      </p:sp>
      <p:graphicFrame>
        <p:nvGraphicFramePr>
          <p:cNvPr id="23" name="Table 22"/>
          <p:cNvGraphicFramePr>
            <a:graphicFrameLocks noGrp="1"/>
          </p:cNvGraphicFramePr>
          <p:nvPr/>
        </p:nvGraphicFramePr>
        <p:xfrm>
          <a:off x="6181725" y="4124325"/>
          <a:ext cx="5857875" cy="2285998"/>
        </p:xfrm>
        <a:graphic>
          <a:graphicData uri="http://schemas.openxmlformats.org/drawingml/2006/table">
            <a:tbl>
              <a:tblPr>
                <a:tableStyleId>{5C22544A-7EE6-4342-B048-85BDC9FD1C3A}</a:tableStyleId>
              </a:tblPr>
              <a:tblGrid>
                <a:gridCol w="1842315"/>
                <a:gridCol w="1003890"/>
                <a:gridCol w="1003890"/>
                <a:gridCol w="1003890"/>
                <a:gridCol w="1003890"/>
              </a:tblGrid>
              <a:tr h="246126">
                <a:tc>
                  <a:txBody>
                    <a:bodyPr wrap="none"/>
                    <a:lstStyle/>
                    <a:p>
                      <a:pPr algn="l"/>
                      <a:r>
                        <a:rPr sz="1100" b="1">
                          <a:solidFill>
                            <a:srgbClr val="0B2E4A"/>
                          </a:solidFill>
                          <a:latin typeface="Calibri"/>
                        </a:rPr>
                        <a:t>Material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509968">
                <a:tc>
                  <a:txBody>
                    <a:bodyPr wrap="none"/>
                    <a:lstStyle/>
                    <a:p>
                      <a:pPr algn="l"/>
                      <a:r>
                        <a:rPr sz="1100" b="1">
                          <a:solidFill>
                            <a:srgbClr val="2E2E2E"/>
                          </a:solidFill>
                          <a:latin typeface="Calibri"/>
                        </a:rPr>
                        <a:t>Metal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Acrylic / Resin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509968">
                <a:tc>
                  <a:txBody>
                    <a:bodyPr wrap="none"/>
                    <a:lstStyle/>
                    <a:p>
                      <a:pPr algn="l"/>
                      <a:r>
                        <a:rPr sz="1100" b="1">
                          <a:solidFill>
                            <a:srgbClr val="2E2E2E"/>
                          </a:solidFill>
                          <a:latin typeface="Calibri"/>
                        </a:rPr>
                        <a:t>Flexible Thermoplastics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High-performance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3094826" y="2237234"/>
            <a:ext cx="263506" cy="383281"/>
          </a:xfrm>
          <a:prstGeom prst="rect">
            <a:avLst/>
          </a:prstGeom>
        </p:spPr>
      </p:pic>
      <p:pic>
        <p:nvPicPr>
          <p:cNvPr id="27" name="Picture 26" descr="lock.png"/>
          <p:cNvPicPr>
            <a:picLocks noChangeAspect="1"/>
          </p:cNvPicPr>
          <p:nvPr/>
        </p:nvPicPr>
        <p:blipFill>
          <a:blip r:embed="rId6"/>
          <a:stretch>
            <a:fillRect/>
          </a:stretch>
        </p:blipFill>
        <p:spPr>
          <a:xfrm>
            <a:off x="9845130" y="2237612"/>
            <a:ext cx="366712" cy="533400"/>
          </a:xfrm>
          <a:prstGeom prst="rect">
            <a:avLst/>
          </a:prstGeom>
        </p:spPr>
      </p:pic>
      <p:pic>
        <p:nvPicPr>
          <p:cNvPr id="28" name="Picture 27" descr="lock.png"/>
          <p:cNvPicPr>
            <a:picLocks noChangeAspect="1"/>
          </p:cNvPicPr>
          <p:nvPr/>
        </p:nvPicPr>
        <p:blipFill>
          <a:blip r:embed="rId6"/>
          <a:stretch>
            <a:fillRect/>
          </a:stretch>
        </p:blipFill>
        <p:spPr>
          <a:xfrm>
            <a:off x="3094826" y="5123309"/>
            <a:ext cx="263506" cy="383281"/>
          </a:xfrm>
          <a:prstGeom prst="rect">
            <a:avLst/>
          </a:prstGeom>
        </p:spPr>
      </p:pic>
      <p:pic>
        <p:nvPicPr>
          <p:cNvPr id="29" name="Picture 28" descr="lock.png"/>
          <p:cNvPicPr>
            <a:picLocks noChangeAspect="1"/>
          </p:cNvPicPr>
          <p:nvPr/>
        </p:nvPicPr>
        <p:blipFill>
          <a:blip r:embed="rId6"/>
          <a:stretch>
            <a:fillRect/>
          </a:stretch>
        </p:blipFill>
        <p:spPr>
          <a:xfrm>
            <a:off x="9845130" y="5123687"/>
            <a:ext cx="366712" cy="533400"/>
          </a:xfrm>
          <a:prstGeom prst="rect">
            <a:avLst/>
          </a:prstGeom>
        </p:spPr>
      </p:pic>
      <p:sp>
        <p:nvSpPr>
          <p:cNvPr id="30"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0"/>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Tables Material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Material Type,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4105275"/>
          </a:xfrm>
          <a:prstGeom prst="roundRect">
            <a:avLst>
              <a:gd name="adj" fmla="val 18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Material Type (Units)</a:t>
            </a:r>
          </a:p>
        </p:txBody>
      </p:sp>
      <p:graphicFrame>
        <p:nvGraphicFramePr>
          <p:cNvPr id="13" name="Table 12"/>
          <p:cNvGraphicFramePr>
            <a:graphicFrameLocks noGrp="1"/>
          </p:cNvGraphicFramePr>
          <p:nvPr/>
        </p:nvGraphicFramePr>
        <p:xfrm>
          <a:off x="152400" y="1238250"/>
          <a:ext cx="11887199" cy="3638550"/>
        </p:xfrm>
        <a:graphic>
          <a:graphicData uri="http://schemas.openxmlformats.org/drawingml/2006/table">
            <a:tbl>
              <a:tblPr>
                <a:tableStyleId>{5C22544A-7EE6-4342-B048-85BDC9FD1C3A}</a:tableStyleId>
              </a:tblPr>
              <a:tblGrid>
                <a:gridCol w="2671429"/>
                <a:gridCol w="544949"/>
                <a:gridCol w="544949"/>
                <a:gridCol w="544949"/>
                <a:gridCol w="544949"/>
                <a:gridCol w="544949"/>
                <a:gridCol w="544949"/>
                <a:gridCol w="544949"/>
                <a:gridCol w="544949"/>
                <a:gridCol w="544949"/>
                <a:gridCol w="544949"/>
                <a:gridCol w="544949"/>
                <a:gridCol w="544949"/>
                <a:gridCol w="544949"/>
                <a:gridCol w="544949"/>
                <a:gridCol w="544949"/>
                <a:gridCol w="544949"/>
                <a:gridCol w="496586"/>
              </a:tblGrid>
              <a:tr h="438912">
                <a:tc>
                  <a:txBody>
                    <a:bodyPr wrap="none"/>
                    <a:lstStyle/>
                    <a:p>
                      <a:pPr algn="l"/>
                      <a:r>
                        <a:rPr sz="1100" b="1">
                          <a:solidFill>
                            <a:srgbClr val="0B2E4A"/>
                          </a:solidFill>
                          <a:latin typeface="Calibri"/>
                        </a:rPr>
                        <a:t>Material Type</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2021A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2022A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2023A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2024A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2025A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2026E</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2027F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2028F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2029F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2030F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2031F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2032F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2033F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2034F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2035F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2036F</a:t>
                      </a:r>
                      <a:endParaRPr sz="1100"/>
                    </a:p>
                  </a:txBody>
                  <a:tcPr marL="28575" marR="19050" marT="19050" marB="19050" anchor="ctr">
                    <a:solidFill>
                      <a:srgbClr val="E0E8EF"/>
                    </a:solidFill>
                  </a:tcPr>
                </a:tc>
                <a:tc>
                  <a:txBody>
                    <a:bodyPr wrap="square"/>
                    <a:lstStyle/>
                    <a:p>
                      <a:pPr algn="ctr"/>
                      <a:r>
                        <a:rPr sz="1100" b="1">
                          <a:solidFill>
                            <a:srgbClr val="0B2E4A"/>
                          </a:solidFill>
                          <a:latin typeface="Calibri"/>
                        </a:rPr>
                        <a:t>F-CAGR</a:t>
                      </a:r>
                      <a:endParaRPr sz="1100"/>
                    </a:p>
                  </a:txBody>
                  <a:tcPr marL="28575" marR="19050" marT="19050" marB="19050" anchor="ctr">
                    <a:solidFill>
                      <a:srgbClr val="E0E8EF"/>
                    </a:solidFill>
                  </a:tcPr>
                </a:tc>
              </a:tr>
              <a:tr h="246126">
                <a:tc>
                  <a:txBody>
                    <a:bodyPr wrap="none"/>
                    <a:lstStyle/>
                    <a:p>
                      <a:pPr algn="l"/>
                      <a:r>
                        <a:rPr sz="1100" b="1">
                          <a:solidFill>
                            <a:srgbClr val="2E2E2E"/>
                          </a:solidFill>
                          <a:latin typeface="Calibri"/>
                        </a:rPr>
                        <a:t>Metal Alloys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126">
                <a:tc>
                  <a:txBody>
                    <a:bodyPr wrap="none"/>
                    <a:lstStyle/>
                    <a:p>
                      <a:pPr algn="l"/>
                      <a:r>
                        <a:rPr sz="1100" b="1">
                          <a:solidFill>
                            <a:srgbClr val="2E2E2E"/>
                          </a:solidFill>
                          <a:latin typeface="Calibri"/>
                        </a:rPr>
                        <a:t>– Cobalt-Chromium Alloys</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6126">
                <a:tc>
                  <a:txBody>
                    <a:bodyPr wrap="none"/>
                    <a:lstStyle/>
                    <a:p>
                      <a:pPr algn="l"/>
                      <a:r>
                        <a:rPr sz="1100" b="1">
                          <a:solidFill>
                            <a:srgbClr val="2E2E2E"/>
                          </a:solidFill>
                          <a:latin typeface="Calibri"/>
                        </a:rPr>
                        <a:t>– Titanium Alloys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126">
                <a:tc>
                  <a:txBody>
                    <a:bodyPr wrap="none"/>
                    <a:lstStyle/>
                    <a:p>
                      <a:pPr algn="l"/>
                      <a:r>
                        <a:rPr sz="1100" b="1">
                          <a:solidFill>
                            <a:srgbClr val="2E2E2E"/>
                          </a:solidFill>
                          <a:latin typeface="Calibri"/>
                        </a:rPr>
                        <a:t>Acrylic / Resin</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6126">
                <a:tc>
                  <a:txBody>
                    <a:bodyPr wrap="none"/>
                    <a:lstStyle/>
                    <a:p>
                      <a:pPr algn="l"/>
                      <a:r>
                        <a:rPr sz="1100" b="1">
                          <a:solidFill>
                            <a:srgbClr val="2E2E2E"/>
                          </a:solidFill>
                          <a:latin typeface="Calibri"/>
                        </a:rPr>
                        <a:t>– PMMA</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126">
                <a:tc>
                  <a:txBody>
                    <a:bodyPr wrap="none"/>
                    <a:lstStyle/>
                    <a:p>
                      <a:pPr algn="l"/>
                      <a:r>
                        <a:rPr sz="1100" b="1">
                          <a:solidFill>
                            <a:srgbClr val="2E2E2E"/>
                          </a:solidFill>
                          <a:latin typeface="Calibri"/>
                        </a:rPr>
                        <a:t>– Printable Denture Resins</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6126">
                <a:tc>
                  <a:txBody>
                    <a:bodyPr wrap="none"/>
                    <a:lstStyle/>
                    <a:p>
                      <a:pPr algn="l"/>
                      <a:r>
                        <a:rPr sz="1100" b="1">
                          <a:solidFill>
                            <a:srgbClr val="2E2E2E"/>
                          </a:solidFill>
                          <a:latin typeface="Calibri"/>
                        </a:rPr>
                        <a:t>Flexible Thermoplastics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126">
                <a:tc>
                  <a:txBody>
                    <a:bodyPr wrap="none"/>
                    <a:lstStyle/>
                    <a:p>
                      <a:pPr algn="l"/>
                      <a:r>
                        <a:rPr sz="1100" b="1">
                          <a:solidFill>
                            <a:srgbClr val="2E2E2E"/>
                          </a:solidFill>
                          <a:latin typeface="Calibri"/>
                        </a:rPr>
                        <a:t>– Polyamide / Nylon</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6126">
                <a:tc>
                  <a:txBody>
                    <a:bodyPr wrap="none"/>
                    <a:lstStyle/>
                    <a:p>
                      <a:pPr algn="l"/>
                      <a:r>
                        <a:rPr sz="1100" b="1">
                          <a:solidFill>
                            <a:srgbClr val="2E2E2E"/>
                          </a:solidFill>
                          <a:latin typeface="Calibri"/>
                        </a:rPr>
                        <a:t>– Other Thermoplastic Resins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126">
                <a:tc>
                  <a:txBody>
                    <a:bodyPr wrap="none"/>
                    <a:lstStyle/>
                    <a:p>
                      <a:pPr algn="l"/>
                      <a:r>
                        <a:rPr sz="1100" b="1">
                          <a:solidFill>
                            <a:srgbClr val="2E2E2E"/>
                          </a:solidFill>
                          <a:latin typeface="Calibri"/>
                        </a:rPr>
                        <a:t>High-performance Polymers</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6126">
                <a:tc>
                  <a:txBody>
                    <a:bodyPr wrap="none"/>
                    <a:lstStyle/>
                    <a:p>
                      <a:pPr algn="l"/>
                      <a:r>
                        <a:rPr sz="1100" b="1">
                          <a:solidFill>
                            <a:srgbClr val="2E2E2E"/>
                          </a:solidFill>
                          <a:latin typeface="Calibri"/>
                        </a:rPr>
                        <a:t>– PEEK-based Materials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126">
                <a:tc>
                  <a:txBody>
                    <a:bodyPr wrap="none"/>
                    <a:lstStyle/>
                    <a:p>
                      <a:pPr algn="l"/>
                      <a:r>
                        <a:rPr sz="1100" b="1">
                          <a:solidFill>
                            <a:srgbClr val="2E2E2E"/>
                          </a:solidFill>
                          <a:latin typeface="Calibri"/>
                        </a:rPr>
                        <a:t>– Other High-performance Dental Polymers</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6126">
                <a:tc>
                  <a:txBody>
                    <a:bodyPr wrap="none"/>
                    <a:lstStyle/>
                    <a:p>
                      <a:pPr algn="l"/>
                      <a:r>
                        <a:rPr sz="1100" b="1">
                          <a:solidFill>
                            <a:srgbClr val="2E2E2E"/>
                          </a:solidFill>
                          <a:latin typeface="Calibri"/>
                        </a:rPr>
                        <a:t>Total</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r>
            </a:tbl>
          </a:graphicData>
        </a:graphic>
      </p:graphicFrame>
      <p:sp>
        <p:nvSpPr>
          <p:cNvPr id="14" name="TextBox 13"/>
          <p:cNvSpPr txBox="1"/>
          <p:nvPr/>
        </p:nvSpPr>
        <p:spPr>
          <a:xfrm>
            <a:off x="219075" y="48863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7245023" y="3010280"/>
            <a:ext cx="366712" cy="533400"/>
          </a:xfrm>
          <a:prstGeom prst="rect">
            <a:avLst/>
          </a:prstGeom>
        </p:spPr>
      </p:pic>
    </p:spTree>
  </p:cSld>
  <p:clrMapOvr>
    <a:masterClrMapping/>
  </p:clrMapOvr>
</p:sld>
</file>

<file path=ppt/slides/slide2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Tables Material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Material Type, 2021–2036</a:t>
            </a:r>
          </a:p>
        </p:txBody>
      </p:sp>
      <p:sp>
        <p:nvSpPr>
          <p:cNvPr id="10" name="Rounded Rectangle 9"/>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Material Type (US$ Mn)</a:t>
            </a:r>
          </a:p>
        </p:txBody>
      </p:sp>
      <p:graphicFrame>
        <p:nvGraphicFramePr>
          <p:cNvPr id="12" name="Table 11"/>
          <p:cNvGraphicFramePr>
            <a:graphicFrameLocks noGrp="1"/>
          </p:cNvGraphicFramePr>
          <p:nvPr/>
        </p:nvGraphicFramePr>
        <p:xfrm>
          <a:off x="152400" y="1238250"/>
          <a:ext cx="11887201" cy="3448052"/>
        </p:xfrm>
        <a:graphic>
          <a:graphicData uri="http://schemas.openxmlformats.org/drawingml/2006/table">
            <a:tbl>
              <a:tblPr>
                <a:tableStyleId>{5C22544A-7EE6-4342-B048-85BDC9FD1C3A}</a:tableStyleId>
              </a:tblPr>
              <a:tblGrid>
                <a:gridCol w="2975812"/>
                <a:gridCol w="535294"/>
                <a:gridCol w="535294"/>
                <a:gridCol w="535294"/>
                <a:gridCol w="535294"/>
                <a:gridCol w="535294"/>
                <a:gridCol w="516437"/>
                <a:gridCol w="511050"/>
                <a:gridCol w="511050"/>
                <a:gridCol w="511050"/>
                <a:gridCol w="511050"/>
                <a:gridCol w="511050"/>
                <a:gridCol w="511050"/>
                <a:gridCol w="511050"/>
                <a:gridCol w="511050"/>
                <a:gridCol w="511050"/>
                <a:gridCol w="511050"/>
                <a:gridCol w="607982"/>
              </a:tblGrid>
              <a:tr h="246126">
                <a:tc>
                  <a:txBody>
                    <a:bodyPr wrap="none"/>
                    <a:lstStyle/>
                    <a:p>
                      <a:pPr algn="l"/>
                      <a:r>
                        <a:rPr sz="1100" b="1">
                          <a:solidFill>
                            <a:srgbClr val="0B2E4A"/>
                          </a:solidFill>
                          <a:latin typeface="Calibri"/>
                        </a:rPr>
                        <a:t>Material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302">
                <a:tc>
                  <a:txBody>
                    <a:bodyPr wrap="none"/>
                    <a:lstStyle/>
                    <a:p>
                      <a:pPr algn="l"/>
                      <a:r>
                        <a:rPr sz="1100" b="1">
                          <a:solidFill>
                            <a:srgbClr val="2E2E2E"/>
                          </a:solidFill>
                          <a:latin typeface="Calibri"/>
                        </a:rPr>
                        <a:t>Metal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02">
                <a:tc>
                  <a:txBody>
                    <a:bodyPr wrap="none"/>
                    <a:lstStyle/>
                    <a:p>
                      <a:pPr algn="l"/>
                      <a:r>
                        <a:rPr sz="1100" b="1">
                          <a:solidFill>
                            <a:srgbClr val="2E2E2E"/>
                          </a:solidFill>
                          <a:latin typeface="Calibri"/>
                        </a:rPr>
                        <a:t>– Cobalt-Chromium Alloys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02">
                <a:tc>
                  <a:txBody>
                    <a:bodyPr wrap="none"/>
                    <a:lstStyle/>
                    <a:p>
                      <a:pPr algn="l"/>
                      <a:r>
                        <a:rPr sz="1100" b="1">
                          <a:solidFill>
                            <a:srgbClr val="2E2E2E"/>
                          </a:solidFill>
                          <a:latin typeface="Calibri"/>
                        </a:rPr>
                        <a:t>– Titanium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02">
                <a:tc>
                  <a:txBody>
                    <a:bodyPr wrap="none"/>
                    <a:lstStyle/>
                    <a:p>
                      <a:pPr algn="l"/>
                      <a:r>
                        <a:rPr sz="1100" b="1">
                          <a:solidFill>
                            <a:srgbClr val="2E2E2E"/>
                          </a:solidFill>
                          <a:latin typeface="Calibri"/>
                        </a:rPr>
                        <a:t>Acrylic / Resin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02">
                <a:tc>
                  <a:txBody>
                    <a:bodyPr wrap="none"/>
                    <a:lstStyle/>
                    <a:p>
                      <a:pPr algn="l"/>
                      <a:r>
                        <a:rPr sz="1100" b="1">
                          <a:solidFill>
                            <a:srgbClr val="2E2E2E"/>
                          </a:solidFill>
                          <a:latin typeface="Calibri"/>
                        </a:rPr>
                        <a:t>– PMMA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02">
                <a:tc>
                  <a:txBody>
                    <a:bodyPr wrap="none"/>
                    <a:lstStyle/>
                    <a:p>
                      <a:pPr algn="l"/>
                      <a:r>
                        <a:rPr sz="1100" b="1">
                          <a:solidFill>
                            <a:srgbClr val="2E2E2E"/>
                          </a:solidFill>
                          <a:latin typeface="Calibri"/>
                        </a:rPr>
                        <a:t>– Printable Denture Resins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02">
                <a:tc>
                  <a:txBody>
                    <a:bodyPr wrap="none"/>
                    <a:lstStyle/>
                    <a:p>
                      <a:pPr algn="l"/>
                      <a:r>
                        <a:rPr sz="1100" b="1">
                          <a:solidFill>
                            <a:srgbClr val="2E2E2E"/>
                          </a:solidFill>
                          <a:latin typeface="Calibri"/>
                        </a:rPr>
                        <a:t>Flexible Thermoplastics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02">
                <a:tc>
                  <a:txBody>
                    <a:bodyPr wrap="none"/>
                    <a:lstStyle/>
                    <a:p>
                      <a:pPr algn="l"/>
                      <a:r>
                        <a:rPr sz="1100" b="1">
                          <a:solidFill>
                            <a:srgbClr val="2E2E2E"/>
                          </a:solidFill>
                          <a:latin typeface="Calibri"/>
                        </a:rPr>
                        <a:t>– Polyamide / Nylon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02">
                <a:tc>
                  <a:txBody>
                    <a:bodyPr wrap="none"/>
                    <a:lstStyle/>
                    <a:p>
                      <a:pPr algn="l"/>
                      <a:r>
                        <a:rPr sz="1100" b="1">
                          <a:solidFill>
                            <a:srgbClr val="2E2E2E"/>
                          </a:solidFill>
                          <a:latin typeface="Calibri"/>
                        </a:rPr>
                        <a:t>– Other Thermoplastic Resins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02">
                <a:tc>
                  <a:txBody>
                    <a:bodyPr wrap="none"/>
                    <a:lstStyle/>
                    <a:p>
                      <a:pPr algn="l"/>
                      <a:r>
                        <a:rPr sz="1100" b="1">
                          <a:solidFill>
                            <a:srgbClr val="2E2E2E"/>
                          </a:solidFill>
                          <a:latin typeface="Calibri"/>
                        </a:rPr>
                        <a:t>High-performance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02">
                <a:tc>
                  <a:txBody>
                    <a:bodyPr wrap="none"/>
                    <a:lstStyle/>
                    <a:p>
                      <a:pPr algn="l"/>
                      <a:r>
                        <a:rPr sz="1100" b="1">
                          <a:solidFill>
                            <a:srgbClr val="2E2E2E"/>
                          </a:solidFill>
                          <a:latin typeface="Calibri"/>
                        </a:rPr>
                        <a:t>– PEEK-based Materials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02">
                <a:tc>
                  <a:txBody>
                    <a:bodyPr wrap="none"/>
                    <a:lstStyle/>
                    <a:p>
                      <a:pPr algn="l"/>
                      <a:r>
                        <a:rPr sz="1100" b="1">
                          <a:solidFill>
                            <a:srgbClr val="2E2E2E"/>
                          </a:solidFill>
                          <a:latin typeface="Calibri"/>
                        </a:rPr>
                        <a:t>– Other High-performance Dental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02">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5" name="Picture 14" descr="lock.png"/>
          <p:cNvPicPr>
            <a:picLocks noChangeAspect="1"/>
          </p:cNvPicPr>
          <p:nvPr/>
        </p:nvPicPr>
        <p:blipFill>
          <a:blip r:embed="rId4"/>
          <a:stretch>
            <a:fillRect/>
          </a:stretch>
        </p:blipFill>
        <p:spPr>
          <a:xfrm>
            <a:off x="7397216" y="2818639"/>
            <a:ext cx="366712" cy="533400"/>
          </a:xfrm>
          <a:prstGeom prst="rect">
            <a:avLst/>
          </a:prstGeom>
        </p:spPr>
      </p:pic>
    </p:spTree>
  </p:cSld>
  <p:clrMapOvr>
    <a:masterClrMapping/>
  </p:clrMapOvr>
</p:sld>
</file>

<file path=ppt/slides/slide2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Material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Material Type,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3667125"/>
          </a:xfrm>
          <a:prstGeom prst="roundRect">
            <a:avLst>
              <a:gd name="adj" fmla="val 20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Material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1" cy="3200406"/>
        </p:xfrm>
        <a:graphic>
          <a:graphicData uri="http://schemas.openxmlformats.org/drawingml/2006/table">
            <a:tbl>
              <a:tblPr>
                <a:tableStyleId>{5C22544A-7EE6-4342-B048-85BDC9FD1C3A}</a:tableStyleId>
              </a:tblPr>
              <a:tblGrid>
                <a:gridCol w="2718001"/>
                <a:gridCol w="611280"/>
                <a:gridCol w="611280"/>
                <a:gridCol w="611280"/>
                <a:gridCol w="611280"/>
                <a:gridCol w="611280"/>
                <a:gridCol w="611280"/>
                <a:gridCol w="611280"/>
                <a:gridCol w="611280"/>
                <a:gridCol w="611280"/>
                <a:gridCol w="611280"/>
                <a:gridCol w="611280"/>
                <a:gridCol w="611280"/>
                <a:gridCol w="611280"/>
                <a:gridCol w="611280"/>
                <a:gridCol w="611280"/>
              </a:tblGrid>
              <a:tr h="246126">
                <a:tc>
                  <a:txBody>
                    <a:bodyPr wrap="none"/>
                    <a:lstStyle/>
                    <a:p>
                      <a:pPr algn="l"/>
                      <a:r>
                        <a:rPr sz="1100" b="1">
                          <a:solidFill>
                            <a:srgbClr val="0B2E4A"/>
                          </a:solidFill>
                          <a:latin typeface="Calibri"/>
                        </a:rPr>
                        <a:t>Material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190">
                <a:tc>
                  <a:txBody>
                    <a:bodyPr wrap="none"/>
                    <a:lstStyle/>
                    <a:p>
                      <a:pPr algn="l"/>
                      <a:r>
                        <a:rPr sz="1100" b="1">
                          <a:solidFill>
                            <a:srgbClr val="2E2E2E"/>
                          </a:solidFill>
                          <a:latin typeface="Calibri"/>
                        </a:rPr>
                        <a:t>Metal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Cobalt-Chromium Alloys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Titanium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Acrylic / Resin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PMMA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Printable Denture Resins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Flexible Thermoplastics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Polyamide / Nylon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Other Thermoplastic Resins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High-performance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PEEK-based Materials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Other High-performance Dental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448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7268310" y="2694815"/>
            <a:ext cx="366712" cy="533400"/>
          </a:xfrm>
          <a:prstGeom prst="rect">
            <a:avLst/>
          </a:prstGeom>
        </p:spPr>
      </p:pic>
    </p:spTree>
  </p:cSld>
  <p:clrMapOvr>
    <a:masterClrMapping/>
  </p:clrMapOvr>
</p:sld>
</file>

<file path=ppt/slides/slide2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Material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Material Type, highlighting acceleration and slowdown</a:t>
            </a:r>
          </a:p>
        </p:txBody>
      </p:sp>
      <p:sp>
        <p:nvSpPr>
          <p:cNvPr id="10" name="Rounded Rectangle 9"/>
          <p:cNvSpPr/>
          <p:nvPr/>
        </p:nvSpPr>
        <p:spPr>
          <a:xfrm>
            <a:off x="142875" y="981075"/>
            <a:ext cx="11906250" cy="3667125"/>
          </a:xfrm>
          <a:prstGeom prst="roundRect">
            <a:avLst>
              <a:gd name="adj" fmla="val 20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Material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1" cy="3200406"/>
        </p:xfrm>
        <a:graphic>
          <a:graphicData uri="http://schemas.openxmlformats.org/drawingml/2006/table">
            <a:tbl>
              <a:tblPr>
                <a:tableStyleId>{5C22544A-7EE6-4342-B048-85BDC9FD1C3A}</a:tableStyleId>
              </a:tblPr>
              <a:tblGrid>
                <a:gridCol w="2718001"/>
                <a:gridCol w="611280"/>
                <a:gridCol w="611280"/>
                <a:gridCol w="611280"/>
                <a:gridCol w="611280"/>
                <a:gridCol w="611280"/>
                <a:gridCol w="611280"/>
                <a:gridCol w="611280"/>
                <a:gridCol w="611280"/>
                <a:gridCol w="611280"/>
                <a:gridCol w="611280"/>
                <a:gridCol w="611280"/>
                <a:gridCol w="611280"/>
                <a:gridCol w="611280"/>
                <a:gridCol w="611280"/>
                <a:gridCol w="611280"/>
              </a:tblGrid>
              <a:tr h="246126">
                <a:tc>
                  <a:txBody>
                    <a:bodyPr wrap="none"/>
                    <a:lstStyle/>
                    <a:p>
                      <a:pPr algn="l"/>
                      <a:r>
                        <a:rPr sz="1100" b="1">
                          <a:solidFill>
                            <a:srgbClr val="0B2E4A"/>
                          </a:solidFill>
                          <a:latin typeface="Calibri"/>
                        </a:rPr>
                        <a:t>Material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190">
                <a:tc>
                  <a:txBody>
                    <a:bodyPr wrap="none"/>
                    <a:lstStyle/>
                    <a:p>
                      <a:pPr algn="l"/>
                      <a:r>
                        <a:rPr sz="1100" b="1">
                          <a:solidFill>
                            <a:srgbClr val="2E2E2E"/>
                          </a:solidFill>
                          <a:latin typeface="Calibri"/>
                        </a:rPr>
                        <a:t>Metal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Cobalt-Chromium Alloys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Titanium Alloys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Acrylic / Resin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PMMA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Printable Denture Resins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Flexible Thermoplastics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Polyamide / Nylon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Other Thermoplastic Resins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High-performance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 PEEK-based Materials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90">
                <a:tc>
                  <a:txBody>
                    <a:bodyPr wrap="none"/>
                    <a:lstStyle/>
                    <a:p>
                      <a:pPr algn="l"/>
                      <a:r>
                        <a:rPr sz="1100" b="1">
                          <a:solidFill>
                            <a:srgbClr val="2E2E2E"/>
                          </a:solidFill>
                          <a:latin typeface="Calibri"/>
                        </a:rPr>
                        <a:t>– Other High-performance Dental Polymers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448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5" name="Picture 14" descr="lock.png"/>
          <p:cNvPicPr>
            <a:picLocks noChangeAspect="1"/>
          </p:cNvPicPr>
          <p:nvPr/>
        </p:nvPicPr>
        <p:blipFill>
          <a:blip r:embed="rId4"/>
          <a:stretch>
            <a:fillRect/>
          </a:stretch>
        </p:blipFill>
        <p:spPr>
          <a:xfrm>
            <a:off x="7268310" y="2694815"/>
            <a:ext cx="366712" cy="533400"/>
          </a:xfrm>
          <a:prstGeom prst="rect">
            <a:avLst/>
          </a:prstGeom>
        </p:spPr>
      </p:pic>
    </p:spTree>
  </p:cSld>
  <p:clrMapOvr>
    <a:masterClrMapping/>
  </p:clrMapOvr>
</p:sld>
</file>

<file path=ppt/slides/slide21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Technology</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Segmental Analysis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Technology: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Technology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Technology</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708500"/>
                <a:gridCol w="1037344"/>
                <a:gridCol w="1037344"/>
                <a:gridCol w="1037344"/>
                <a:gridCol w="1037344"/>
              </a:tblGrid>
              <a:tr h="246126">
                <a:tc>
                  <a:txBody>
                    <a:bodyPr wrap="none"/>
                    <a:lstStyle/>
                    <a:p>
                      <a:pPr algn="l"/>
                      <a:r>
                        <a:rPr sz="1100" b="1">
                          <a:solidFill>
                            <a:srgbClr val="0B2E4A"/>
                          </a:solidFill>
                          <a:latin typeface="Calibri"/>
                        </a:rPr>
                        <a:t>Technology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1019937">
                <a:tc>
                  <a:txBody>
                    <a:bodyPr wrap="none"/>
                    <a:lstStyle/>
                    <a:p>
                      <a:pPr algn="l"/>
                      <a:r>
                        <a:rPr sz="1100" b="1">
                          <a:solidFill>
                            <a:srgbClr val="2E2E2E"/>
                          </a:solidFill>
                          <a:latin typeface="Calibri"/>
                        </a:rPr>
                        <a:t>Conventional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1019937">
                <a:tc>
                  <a:txBody>
                    <a:bodyPr wrap="none"/>
                    <a:lstStyle/>
                    <a:p>
                      <a:pPr algn="l"/>
                      <a:r>
                        <a:rPr sz="1100" b="1">
                          <a:solidFill>
                            <a:srgbClr val="2E2E2E"/>
                          </a:solidFill>
                          <a:latin typeface="Calibri"/>
                        </a:rPr>
                        <a:t>Digital Fabrication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Technology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Technology</a:t>
            </a:r>
          </a:p>
        </p:txBody>
      </p:sp>
      <p:graphicFrame>
        <p:nvGraphicFramePr>
          <p:cNvPr id="23" name="Table 22"/>
          <p:cNvGraphicFramePr>
            <a:graphicFrameLocks noGrp="1"/>
          </p:cNvGraphicFramePr>
          <p:nvPr/>
        </p:nvGraphicFramePr>
        <p:xfrm>
          <a:off x="6181725" y="4124325"/>
          <a:ext cx="5857876" cy="2286000"/>
        </p:xfrm>
        <a:graphic>
          <a:graphicData uri="http://schemas.openxmlformats.org/drawingml/2006/table">
            <a:tbl>
              <a:tblPr>
                <a:tableStyleId>{5C22544A-7EE6-4342-B048-85BDC9FD1C3A}</a:tableStyleId>
              </a:tblPr>
              <a:tblGrid>
                <a:gridCol w="1708500"/>
                <a:gridCol w="1037344"/>
                <a:gridCol w="1037344"/>
                <a:gridCol w="1037344"/>
                <a:gridCol w="1037344"/>
              </a:tblGrid>
              <a:tr h="246126">
                <a:tc>
                  <a:txBody>
                    <a:bodyPr wrap="none"/>
                    <a:lstStyle/>
                    <a:p>
                      <a:pPr algn="l"/>
                      <a:r>
                        <a:rPr sz="1100" b="1">
                          <a:solidFill>
                            <a:srgbClr val="0B2E4A"/>
                          </a:solidFill>
                          <a:latin typeface="Calibri"/>
                        </a:rPr>
                        <a:t>Technology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1019937">
                <a:tc>
                  <a:txBody>
                    <a:bodyPr wrap="none"/>
                    <a:lstStyle/>
                    <a:p>
                      <a:pPr algn="l"/>
                      <a:r>
                        <a:rPr sz="1100" b="1">
                          <a:solidFill>
                            <a:srgbClr val="2E2E2E"/>
                          </a:solidFill>
                          <a:latin typeface="Calibri"/>
                        </a:rPr>
                        <a:t>Conventional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1019937">
                <a:tc>
                  <a:txBody>
                    <a:bodyPr wrap="none"/>
                    <a:lstStyle/>
                    <a:p>
                      <a:pPr algn="l"/>
                      <a:r>
                        <a:rPr sz="1100" b="1">
                          <a:solidFill>
                            <a:srgbClr val="2E2E2E"/>
                          </a:solidFill>
                          <a:latin typeface="Calibri"/>
                        </a:rPr>
                        <a:t>Digital Fabrication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3094826" y="2237234"/>
            <a:ext cx="263506" cy="383281"/>
          </a:xfrm>
          <a:prstGeom prst="rect">
            <a:avLst/>
          </a:prstGeom>
        </p:spPr>
      </p:pic>
      <p:pic>
        <p:nvPicPr>
          <p:cNvPr id="27" name="Picture 26" descr="lock.png"/>
          <p:cNvPicPr>
            <a:picLocks noChangeAspect="1"/>
          </p:cNvPicPr>
          <p:nvPr/>
        </p:nvPicPr>
        <p:blipFill>
          <a:blip r:embed="rId6"/>
          <a:stretch>
            <a:fillRect/>
          </a:stretch>
        </p:blipFill>
        <p:spPr>
          <a:xfrm>
            <a:off x="9778223" y="2237613"/>
            <a:ext cx="366712" cy="533400"/>
          </a:xfrm>
          <a:prstGeom prst="rect">
            <a:avLst/>
          </a:prstGeom>
        </p:spPr>
      </p:pic>
      <p:pic>
        <p:nvPicPr>
          <p:cNvPr id="28" name="Picture 27" descr="lock.png"/>
          <p:cNvPicPr>
            <a:picLocks noChangeAspect="1"/>
          </p:cNvPicPr>
          <p:nvPr/>
        </p:nvPicPr>
        <p:blipFill>
          <a:blip r:embed="rId6"/>
          <a:stretch>
            <a:fillRect/>
          </a:stretch>
        </p:blipFill>
        <p:spPr>
          <a:xfrm>
            <a:off x="3094826" y="5123309"/>
            <a:ext cx="263506" cy="383281"/>
          </a:xfrm>
          <a:prstGeom prst="rect">
            <a:avLst/>
          </a:prstGeom>
        </p:spPr>
      </p:pic>
      <p:pic>
        <p:nvPicPr>
          <p:cNvPr id="29" name="Picture 28" descr="lock.png"/>
          <p:cNvPicPr>
            <a:picLocks noChangeAspect="1"/>
          </p:cNvPicPr>
          <p:nvPr/>
        </p:nvPicPr>
        <p:blipFill>
          <a:blip r:embed="rId6"/>
          <a:stretch>
            <a:fillRect/>
          </a:stretch>
        </p:blipFill>
        <p:spPr>
          <a:xfrm>
            <a:off x="9778223" y="5123688"/>
            <a:ext cx="366712" cy="533400"/>
          </a:xfrm>
          <a:prstGeom prst="rect">
            <a:avLst/>
          </a:prstGeom>
        </p:spPr>
      </p:pic>
      <p:sp>
        <p:nvSpPr>
          <p:cNvPr id="30"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0"/>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Tables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Technology,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Technology (Units)</a:t>
            </a:r>
          </a:p>
        </p:txBody>
      </p:sp>
      <p:graphicFrame>
        <p:nvGraphicFramePr>
          <p:cNvPr id="13" name="Table 12"/>
          <p:cNvGraphicFramePr>
            <a:graphicFrameLocks noGrp="1"/>
          </p:cNvGraphicFramePr>
          <p:nvPr/>
        </p:nvGraphicFramePr>
        <p:xfrm>
          <a:off x="152400" y="1238250"/>
          <a:ext cx="11887197" cy="2466975"/>
        </p:xfrm>
        <a:graphic>
          <a:graphicData uri="http://schemas.openxmlformats.org/drawingml/2006/table">
            <a:tbl>
              <a:tblPr>
                <a:tableStyleId>{5C22544A-7EE6-4342-B048-85BDC9FD1C3A}</a:tableStyleId>
              </a:tblPr>
              <a:tblGrid>
                <a:gridCol w="2465049"/>
                <a:gridCol w="554244"/>
                <a:gridCol w="554244"/>
                <a:gridCol w="554244"/>
                <a:gridCol w="554244"/>
                <a:gridCol w="554244"/>
                <a:gridCol w="554244"/>
                <a:gridCol w="554244"/>
                <a:gridCol w="554244"/>
                <a:gridCol w="554244"/>
                <a:gridCol w="554244"/>
                <a:gridCol w="554244"/>
                <a:gridCol w="554244"/>
                <a:gridCol w="554244"/>
                <a:gridCol w="554244"/>
                <a:gridCol w="554244"/>
                <a:gridCol w="554244"/>
                <a:gridCol w="554244"/>
              </a:tblGrid>
              <a:tr h="246126">
                <a:tc>
                  <a:txBody>
                    <a:bodyPr wrap="none"/>
                    <a:lstStyle/>
                    <a:p>
                      <a:pPr algn="l"/>
                      <a:r>
                        <a:rPr sz="1100" b="1">
                          <a:solidFill>
                            <a:srgbClr val="0B2E4A"/>
                          </a:solidFill>
                          <a:latin typeface="Calibri"/>
                        </a:rPr>
                        <a:t>Technology</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2021A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2022A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2023A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2024A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2025A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2026E</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2027F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2028F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2029F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2030F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2031F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2032F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2033F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2034F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2035F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2036F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F-CAGR</a:t>
                      </a:r>
                      <a:endParaRPr sz="1100"/>
                    </a:p>
                  </a:txBody>
                  <a:tcPr marL="28575" marR="19050" marT="19050" marB="19050" anchor="ctr">
                    <a:solidFill>
                      <a:srgbClr val="E0E8EF"/>
                    </a:solidFill>
                  </a:tcPr>
                </a:tc>
              </a:tr>
              <a:tr h="246761">
                <a:tc>
                  <a:txBody>
                    <a:bodyPr wrap="none"/>
                    <a:lstStyle/>
                    <a:p>
                      <a:pPr algn="l"/>
                      <a:r>
                        <a:rPr sz="1100" b="1">
                          <a:solidFill>
                            <a:srgbClr val="2E2E2E"/>
                          </a:solidFill>
                          <a:latin typeface="Calibri"/>
                        </a:rPr>
                        <a:t>Conventional Fabrication</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761">
                <a:tc>
                  <a:txBody>
                    <a:bodyPr wrap="none"/>
                    <a:lstStyle/>
                    <a:p>
                      <a:pPr algn="l"/>
                      <a:r>
                        <a:rPr sz="1100" b="1">
                          <a:solidFill>
                            <a:srgbClr val="2E2E2E"/>
                          </a:solidFill>
                          <a:latin typeface="Calibri"/>
                        </a:rPr>
                        <a:t>– Metal Casting</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6761">
                <a:tc>
                  <a:txBody>
                    <a:bodyPr wrap="none"/>
                    <a:lstStyle/>
                    <a:p>
                      <a:pPr algn="l"/>
                      <a:r>
                        <a:rPr sz="1100" b="1">
                          <a:solidFill>
                            <a:srgbClr val="2E2E2E"/>
                          </a:solidFill>
                          <a:latin typeface="Calibri"/>
                        </a:rPr>
                        <a:t>– Heat-cured / Compression Processing</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761">
                <a:tc>
                  <a:txBody>
                    <a:bodyPr wrap="none"/>
                    <a:lstStyle/>
                    <a:p>
                      <a:pPr algn="l"/>
                      <a:r>
                        <a:rPr sz="1100" b="1">
                          <a:solidFill>
                            <a:srgbClr val="2E2E2E"/>
                          </a:solidFill>
                          <a:latin typeface="Calibri"/>
                        </a:rPr>
                        <a:t>– Injection Molding</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6761">
                <a:tc>
                  <a:txBody>
                    <a:bodyPr wrap="none"/>
                    <a:lstStyle/>
                    <a:p>
                      <a:pPr algn="l"/>
                      <a:r>
                        <a:rPr sz="1100" b="1">
                          <a:solidFill>
                            <a:srgbClr val="2E2E2E"/>
                          </a:solidFill>
                          <a:latin typeface="Calibri"/>
                        </a:rPr>
                        <a:t>Digital Fabrication</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761">
                <a:tc>
                  <a:txBody>
                    <a:bodyPr wrap="none"/>
                    <a:lstStyle/>
                    <a:p>
                      <a:pPr algn="l"/>
                      <a:r>
                        <a:rPr sz="1100" b="1">
                          <a:solidFill>
                            <a:srgbClr val="2E2E2E"/>
                          </a:solidFill>
                          <a:latin typeface="Calibri"/>
                        </a:rPr>
                        <a:t>– CAD/CAM Milling</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6761">
                <a:tc>
                  <a:txBody>
                    <a:bodyPr wrap="none"/>
                    <a:lstStyle/>
                    <a:p>
                      <a:pPr algn="l"/>
                      <a:r>
                        <a:rPr sz="1100" b="1">
                          <a:solidFill>
                            <a:srgbClr val="2E2E2E"/>
                          </a:solidFill>
                          <a:latin typeface="Calibri"/>
                        </a:rPr>
                        <a:t>– 3D Printing / Additive Manufacturing</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6761">
                <a:tc>
                  <a:txBody>
                    <a:bodyPr wrap="none"/>
                    <a:lstStyle/>
                    <a:p>
                      <a:pPr algn="l"/>
                      <a:r>
                        <a:rPr sz="1100" b="1">
                          <a:solidFill>
                            <a:srgbClr val="2E2E2E"/>
                          </a:solidFill>
                          <a:latin typeface="Calibri"/>
                        </a:rPr>
                        <a:t>– Hybrid Digital Fabrication</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6761">
                <a:tc>
                  <a:txBody>
                    <a:bodyPr wrap="none"/>
                    <a:lstStyle/>
                    <a:p>
                      <a:pPr algn="l"/>
                      <a:r>
                        <a:rPr sz="1100" b="1">
                          <a:solidFill>
                            <a:srgbClr val="2E2E2E"/>
                          </a:solidFill>
                          <a:latin typeface="Calibri"/>
                        </a:rPr>
                        <a:t>Total</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r>
            </a:tbl>
          </a:graphicData>
        </a:graphic>
      </p:graphicFrame>
      <p:sp>
        <p:nvSpPr>
          <p:cNvPr id="14" name="TextBox 13"/>
          <p:cNvSpPr txBox="1"/>
          <p:nvPr/>
        </p:nvSpPr>
        <p:spPr>
          <a:xfrm>
            <a:off x="219075" y="3714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6" name="Picture 15" descr="lock.png"/>
          <p:cNvPicPr>
            <a:picLocks noChangeAspect="1"/>
          </p:cNvPicPr>
          <p:nvPr/>
        </p:nvPicPr>
        <p:blipFill>
          <a:blip r:embed="rId4"/>
          <a:stretch>
            <a:fillRect/>
          </a:stretch>
        </p:blipFill>
        <p:spPr>
          <a:xfrm>
            <a:off x="7141833" y="2328100"/>
            <a:ext cx="366712" cy="533400"/>
          </a:xfrm>
          <a:prstGeom prst="rect">
            <a:avLst/>
          </a:prstGeom>
        </p:spPr>
      </p:pic>
    </p:spTree>
  </p:cSld>
  <p:clrMapOvr>
    <a:masterClrMapping/>
  </p:clrMapOvr>
</p:sld>
</file>

<file path=ppt/slides/slide2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Tables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Technology, 2021–2036</a:t>
            </a:r>
          </a:p>
        </p:txBody>
      </p:sp>
      <p:sp>
        <p:nvSpPr>
          <p:cNvPr id="10" name="Rounded Rectangle 9"/>
          <p:cNvSpPr/>
          <p:nvPr/>
        </p:nvSpPr>
        <p:spPr>
          <a:xfrm>
            <a:off x="142875" y="981075"/>
            <a:ext cx="1190625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Technology (US$ Mn)</a:t>
            </a:r>
          </a:p>
        </p:txBody>
      </p:sp>
      <p:graphicFrame>
        <p:nvGraphicFramePr>
          <p:cNvPr id="12" name="Table 11"/>
          <p:cNvGraphicFramePr>
            <a:graphicFrameLocks noGrp="1"/>
          </p:cNvGraphicFramePr>
          <p:nvPr/>
        </p:nvGraphicFramePr>
        <p:xfrm>
          <a:off x="152400" y="1238250"/>
          <a:ext cx="11887195" cy="2466975"/>
        </p:xfrm>
        <a:graphic>
          <a:graphicData uri="http://schemas.openxmlformats.org/drawingml/2006/table">
            <a:tbl>
              <a:tblPr>
                <a:tableStyleId>{5C22544A-7EE6-4342-B048-85BDC9FD1C3A}</a:tableStyleId>
              </a:tblPr>
              <a:tblGrid>
                <a:gridCol w="2464826"/>
                <a:gridCol w="554257"/>
                <a:gridCol w="554257"/>
                <a:gridCol w="554257"/>
                <a:gridCol w="554257"/>
                <a:gridCol w="554257"/>
                <a:gridCol w="554257"/>
                <a:gridCol w="554257"/>
                <a:gridCol w="554257"/>
                <a:gridCol w="554257"/>
                <a:gridCol w="554257"/>
                <a:gridCol w="554257"/>
                <a:gridCol w="554257"/>
                <a:gridCol w="554257"/>
                <a:gridCol w="554257"/>
                <a:gridCol w="554257"/>
                <a:gridCol w="554257"/>
                <a:gridCol w="554257"/>
              </a:tblGrid>
              <a:tr h="246126">
                <a:tc>
                  <a:txBody>
                    <a:bodyPr wrap="none"/>
                    <a:lstStyle/>
                    <a:p>
                      <a:pPr algn="l"/>
                      <a:r>
                        <a:rPr sz="1100" b="1">
                          <a:solidFill>
                            <a:srgbClr val="0B2E4A"/>
                          </a:solidFill>
                          <a:latin typeface="Calibri"/>
                        </a:rPr>
                        <a:t>Technology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761">
                <a:tc>
                  <a:txBody>
                    <a:bodyPr wrap="none"/>
                    <a:lstStyle/>
                    <a:p>
                      <a:pPr algn="l"/>
                      <a:r>
                        <a:rPr sz="1100" b="1">
                          <a:solidFill>
                            <a:srgbClr val="2E2E2E"/>
                          </a:solidFill>
                          <a:latin typeface="Calibri"/>
                        </a:rPr>
                        <a:t>Conventional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Metal Casting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 Heat-cured / Compression Processing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Injection Molding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Digital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CAD/CAM Milling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 3D Printing / Additive Manufacturing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 Hybrid Digital Fabrication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3714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5" name="Picture 14" descr="lock.png"/>
          <p:cNvPicPr>
            <a:picLocks noChangeAspect="1"/>
          </p:cNvPicPr>
          <p:nvPr/>
        </p:nvPicPr>
        <p:blipFill>
          <a:blip r:embed="rId4"/>
          <a:stretch>
            <a:fillRect/>
          </a:stretch>
        </p:blipFill>
        <p:spPr>
          <a:xfrm>
            <a:off x="7141720" y="2328100"/>
            <a:ext cx="366712" cy="533400"/>
          </a:xfrm>
          <a:prstGeom prst="rect">
            <a:avLst/>
          </a:prstGeom>
        </p:spPr>
      </p:pic>
    </p:spTree>
  </p:cSld>
  <p:clrMapOvr>
    <a:masterClrMapping/>
  </p:clrMapOvr>
</p:sld>
</file>

<file path=ppt/slides/slide2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Technology,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6" cy="2219326"/>
        </p:xfrm>
        <a:graphic>
          <a:graphicData uri="http://schemas.openxmlformats.org/drawingml/2006/table">
            <a:tbl>
              <a:tblPr>
                <a:tableStyleId>{5C22544A-7EE6-4342-B048-85BDC9FD1C3A}</a:tableStyleId>
              </a:tblPr>
              <a:tblGrid>
                <a:gridCol w="2522231"/>
                <a:gridCol w="624331"/>
                <a:gridCol w="624331"/>
                <a:gridCol w="624331"/>
                <a:gridCol w="624331"/>
                <a:gridCol w="624331"/>
                <a:gridCol w="624331"/>
                <a:gridCol w="624331"/>
                <a:gridCol w="624331"/>
                <a:gridCol w="624331"/>
                <a:gridCol w="624331"/>
                <a:gridCol w="624331"/>
                <a:gridCol w="624331"/>
                <a:gridCol w="624331"/>
                <a:gridCol w="624331"/>
                <a:gridCol w="624331"/>
              </a:tblGrid>
              <a:tr h="246126">
                <a:tc>
                  <a:txBody>
                    <a:bodyPr wrap="none"/>
                    <a:lstStyle/>
                    <a:p>
                      <a:pPr algn="l"/>
                      <a:r>
                        <a:rPr sz="1100" b="1">
                          <a:solidFill>
                            <a:srgbClr val="0B2E4A"/>
                          </a:solidFill>
                          <a:latin typeface="Calibri"/>
                        </a:rPr>
                        <a:t>Technology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650">
                <a:tc>
                  <a:txBody>
                    <a:bodyPr wrap="none"/>
                    <a:lstStyle/>
                    <a:p>
                      <a:pPr algn="l"/>
                      <a:r>
                        <a:rPr sz="1100" b="1">
                          <a:solidFill>
                            <a:srgbClr val="2E2E2E"/>
                          </a:solidFill>
                          <a:latin typeface="Calibri"/>
                        </a:rPr>
                        <a:t>Conventional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Metal Casting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Heat-cured / Compression Processing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Injection Molding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Digital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CAD/CAM Milling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3D Printing / Additive Manufacturing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Hybrid Digital Fabrication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467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8004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857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057650"/>
          <a:ext cx="11887200" cy="2219326"/>
        </p:xfrm>
        <a:graphic>
          <a:graphicData uri="http://schemas.openxmlformats.org/drawingml/2006/table">
            <a:tbl>
              <a:tblPr>
                <a:tableStyleId>{5C22544A-7EE6-4342-B048-85BDC9FD1C3A}</a:tableStyleId>
              </a:tblPr>
              <a:tblGrid>
                <a:gridCol w="2674905"/>
                <a:gridCol w="614153"/>
                <a:gridCol w="614153"/>
                <a:gridCol w="614153"/>
                <a:gridCol w="614153"/>
                <a:gridCol w="614153"/>
                <a:gridCol w="614153"/>
                <a:gridCol w="614153"/>
                <a:gridCol w="614153"/>
                <a:gridCol w="614153"/>
                <a:gridCol w="614153"/>
                <a:gridCol w="614153"/>
                <a:gridCol w="614153"/>
                <a:gridCol w="614153"/>
                <a:gridCol w="614153"/>
                <a:gridCol w="614153"/>
              </a:tblGrid>
              <a:tr h="246126">
                <a:tc>
                  <a:txBody>
                    <a:bodyPr wrap="none"/>
                    <a:lstStyle/>
                    <a:p>
                      <a:pPr algn="l"/>
                      <a:r>
                        <a:rPr sz="1100" b="1">
                          <a:solidFill>
                            <a:srgbClr val="0B2E4A"/>
                          </a:solidFill>
                          <a:latin typeface="Calibri"/>
                        </a:rPr>
                        <a:t>Technology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650">
                <a:tc>
                  <a:txBody>
                    <a:bodyPr wrap="none"/>
                    <a:lstStyle/>
                    <a:p>
                      <a:pPr algn="l"/>
                      <a:r>
                        <a:rPr sz="1100" b="1">
                          <a:solidFill>
                            <a:srgbClr val="2E2E2E"/>
                          </a:solidFill>
                          <a:latin typeface="Calibri"/>
                        </a:rPr>
                        <a:t>Conventional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Metal Casting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Heat-cured / Compression Processing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Injection Molding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Digital Fabrication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CAD/CAM Milling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3D Printing / Additive Manufacturing</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Hybrid Digital Fabrication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286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170423" y="2204276"/>
            <a:ext cx="366712" cy="533400"/>
          </a:xfrm>
          <a:prstGeom prst="rect">
            <a:avLst/>
          </a:prstGeom>
        </p:spPr>
      </p:pic>
      <p:pic>
        <p:nvPicPr>
          <p:cNvPr id="21" name="Picture 20" descr="lock.png"/>
          <p:cNvPicPr>
            <a:picLocks noChangeAspect="1"/>
          </p:cNvPicPr>
          <p:nvPr/>
        </p:nvPicPr>
        <p:blipFill>
          <a:blip r:embed="rId4"/>
          <a:stretch>
            <a:fillRect/>
          </a:stretch>
        </p:blipFill>
        <p:spPr>
          <a:xfrm>
            <a:off x="7246762" y="5023676"/>
            <a:ext cx="366712" cy="533399"/>
          </a:xfrm>
          <a:prstGeom prst="rect">
            <a:avLst/>
          </a:prstGeom>
        </p:spPr>
      </p:pic>
    </p:spTree>
  </p:cSld>
  <p:clrMapOvr>
    <a:masterClrMapping/>
  </p:clrMapOvr>
</p:sld>
</file>

<file path=ppt/slides/slide22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End User</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Segmental Analysis End User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End User: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End User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End User</a:t>
            </a:r>
          </a:p>
        </p:txBody>
      </p:sp>
      <p:graphicFrame>
        <p:nvGraphicFramePr>
          <p:cNvPr id="16" name="Table 15"/>
          <p:cNvGraphicFramePr>
            <a:graphicFrameLocks noGrp="1"/>
          </p:cNvGraphicFramePr>
          <p:nvPr/>
        </p:nvGraphicFramePr>
        <p:xfrm>
          <a:off x="6181725" y="1238250"/>
          <a:ext cx="5857875" cy="2285998"/>
        </p:xfrm>
        <a:graphic>
          <a:graphicData uri="http://schemas.openxmlformats.org/drawingml/2006/table">
            <a:tbl>
              <a:tblPr>
                <a:tableStyleId>{5C22544A-7EE6-4342-B048-85BDC9FD1C3A}</a:tableStyleId>
              </a:tblPr>
              <a:tblGrid>
                <a:gridCol w="2648970"/>
                <a:gridCol w="806708"/>
                <a:gridCol w="806708"/>
                <a:gridCol w="1018785"/>
                <a:gridCol w="576704"/>
              </a:tblGrid>
              <a:tr h="246126">
                <a:tc>
                  <a:txBody>
                    <a:bodyPr wrap="none"/>
                    <a:lstStyle/>
                    <a:p>
                      <a:pPr algn="l"/>
                      <a:r>
                        <a:rPr sz="1100" b="1">
                          <a:solidFill>
                            <a:srgbClr val="0B2E4A"/>
                          </a:solidFill>
                          <a:latin typeface="Calibri"/>
                        </a:rPr>
                        <a:t>End User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509968">
                <a:tc>
                  <a:txBody>
                    <a:bodyPr wrap="none"/>
                    <a:lstStyle/>
                    <a:p>
                      <a:pPr algn="l"/>
                      <a:r>
                        <a:rPr sz="1100" b="1">
                          <a:solidFill>
                            <a:srgbClr val="2E2E2E"/>
                          </a:solidFill>
                          <a:latin typeface="Calibri"/>
                        </a:rPr>
                        <a:t>Dental Clinics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Dental Hospitals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509968">
                <a:tc>
                  <a:txBody>
                    <a:bodyPr wrap="none"/>
                    <a:lstStyle/>
                    <a:p>
                      <a:pPr algn="l"/>
                      <a:r>
                        <a:rPr sz="1100" b="1">
                          <a:solidFill>
                            <a:srgbClr val="2E2E2E"/>
                          </a:solidFill>
                          <a:latin typeface="Calibri"/>
                        </a:rPr>
                        <a:t>Dental Laboratories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Academic &amp; Teaching Dental Institutions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End User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End User</a:t>
            </a:r>
          </a:p>
        </p:txBody>
      </p:sp>
      <p:graphicFrame>
        <p:nvGraphicFramePr>
          <p:cNvPr id="23" name="Table 22"/>
          <p:cNvGraphicFramePr>
            <a:graphicFrameLocks noGrp="1"/>
          </p:cNvGraphicFramePr>
          <p:nvPr/>
        </p:nvGraphicFramePr>
        <p:xfrm>
          <a:off x="6181725" y="4124325"/>
          <a:ext cx="5857875" cy="2285998"/>
        </p:xfrm>
        <a:graphic>
          <a:graphicData uri="http://schemas.openxmlformats.org/drawingml/2006/table">
            <a:tbl>
              <a:tblPr>
                <a:tableStyleId>{5C22544A-7EE6-4342-B048-85BDC9FD1C3A}</a:tableStyleId>
              </a:tblPr>
              <a:tblGrid>
                <a:gridCol w="2648970"/>
                <a:gridCol w="806708"/>
                <a:gridCol w="806708"/>
                <a:gridCol w="1018785"/>
                <a:gridCol w="576704"/>
              </a:tblGrid>
              <a:tr h="246126">
                <a:tc>
                  <a:txBody>
                    <a:bodyPr wrap="none"/>
                    <a:lstStyle/>
                    <a:p>
                      <a:pPr algn="l"/>
                      <a:r>
                        <a:rPr sz="1100" b="1">
                          <a:solidFill>
                            <a:srgbClr val="0B2E4A"/>
                          </a:solidFill>
                          <a:latin typeface="Calibri"/>
                        </a:rPr>
                        <a:t>End User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509968">
                <a:tc>
                  <a:txBody>
                    <a:bodyPr wrap="none"/>
                    <a:lstStyle/>
                    <a:p>
                      <a:pPr algn="l"/>
                      <a:r>
                        <a:rPr sz="1100" b="1">
                          <a:solidFill>
                            <a:srgbClr val="2E2E2E"/>
                          </a:solidFill>
                          <a:latin typeface="Calibri"/>
                        </a:rPr>
                        <a:t>Dental Clinics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Dental Hospitals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509968">
                <a:tc>
                  <a:txBody>
                    <a:bodyPr wrap="none"/>
                    <a:lstStyle/>
                    <a:p>
                      <a:pPr algn="l"/>
                      <a:r>
                        <a:rPr sz="1100" b="1">
                          <a:solidFill>
                            <a:srgbClr val="2E2E2E"/>
                          </a:solidFill>
                          <a:latin typeface="Calibri"/>
                        </a:rPr>
                        <a:t>Dental Laboratories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509968">
                <a:tc>
                  <a:txBody>
                    <a:bodyPr wrap="none"/>
                    <a:lstStyle/>
                    <a:p>
                      <a:pPr algn="l"/>
                      <a:r>
                        <a:rPr sz="1100" b="1">
                          <a:solidFill>
                            <a:srgbClr val="2E2E2E"/>
                          </a:solidFill>
                          <a:latin typeface="Calibri"/>
                        </a:rPr>
                        <a:t>Academic &amp; Teaching Dental Institutions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3094826" y="2237234"/>
            <a:ext cx="263506" cy="383281"/>
          </a:xfrm>
          <a:prstGeom prst="rect">
            <a:avLst/>
          </a:prstGeom>
        </p:spPr>
      </p:pic>
      <p:pic>
        <p:nvPicPr>
          <p:cNvPr id="27" name="Picture 26" descr="lock.png"/>
          <p:cNvPicPr>
            <a:picLocks noChangeAspect="1"/>
          </p:cNvPicPr>
          <p:nvPr/>
        </p:nvPicPr>
        <p:blipFill>
          <a:blip r:embed="rId6"/>
          <a:stretch>
            <a:fillRect/>
          </a:stretch>
        </p:blipFill>
        <p:spPr>
          <a:xfrm>
            <a:off x="10249786" y="2239510"/>
            <a:ext cx="364101" cy="529602"/>
          </a:xfrm>
          <a:prstGeom prst="rect">
            <a:avLst/>
          </a:prstGeom>
        </p:spPr>
      </p:pic>
      <p:pic>
        <p:nvPicPr>
          <p:cNvPr id="28" name="Picture 27" descr="lock.png"/>
          <p:cNvPicPr>
            <a:picLocks noChangeAspect="1"/>
          </p:cNvPicPr>
          <p:nvPr/>
        </p:nvPicPr>
        <p:blipFill>
          <a:blip r:embed="rId6"/>
          <a:stretch>
            <a:fillRect/>
          </a:stretch>
        </p:blipFill>
        <p:spPr>
          <a:xfrm>
            <a:off x="3094826" y="5123309"/>
            <a:ext cx="263506" cy="383281"/>
          </a:xfrm>
          <a:prstGeom prst="rect">
            <a:avLst/>
          </a:prstGeom>
        </p:spPr>
      </p:pic>
      <p:pic>
        <p:nvPicPr>
          <p:cNvPr id="29" name="Picture 28" descr="lock.png"/>
          <p:cNvPicPr>
            <a:picLocks noChangeAspect="1"/>
          </p:cNvPicPr>
          <p:nvPr/>
        </p:nvPicPr>
        <p:blipFill>
          <a:blip r:embed="rId6"/>
          <a:stretch>
            <a:fillRect/>
          </a:stretch>
        </p:blipFill>
        <p:spPr>
          <a:xfrm>
            <a:off x="10249786" y="5125585"/>
            <a:ext cx="364101" cy="529602"/>
          </a:xfrm>
          <a:prstGeom prst="rect">
            <a:avLst/>
          </a:prstGeom>
        </p:spPr>
      </p:pic>
      <p:sp>
        <p:nvSpPr>
          <p:cNvPr id="30"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0"/>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Tables End User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End User,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End User (Units)</a:t>
            </a:r>
          </a:p>
        </p:txBody>
      </p:sp>
      <p:graphicFrame>
        <p:nvGraphicFramePr>
          <p:cNvPr id="13" name="Table 12"/>
          <p:cNvGraphicFramePr>
            <a:graphicFrameLocks noGrp="1"/>
          </p:cNvGraphicFramePr>
          <p:nvPr/>
        </p:nvGraphicFramePr>
        <p:xfrm>
          <a:off x="152400" y="1238250"/>
          <a:ext cx="11887193" cy="1485896"/>
        </p:xfrm>
        <a:graphic>
          <a:graphicData uri="http://schemas.openxmlformats.org/drawingml/2006/table">
            <a:tbl>
              <a:tblPr>
                <a:tableStyleId>{5C22544A-7EE6-4342-B048-85BDC9FD1C3A}</a:tableStyleId>
              </a:tblPr>
              <a:tblGrid>
                <a:gridCol w="2529849"/>
                <a:gridCol w="550432"/>
                <a:gridCol w="550432"/>
                <a:gridCol w="550432"/>
                <a:gridCol w="550432"/>
                <a:gridCol w="550432"/>
                <a:gridCol w="550432"/>
                <a:gridCol w="550432"/>
                <a:gridCol w="550432"/>
                <a:gridCol w="550432"/>
                <a:gridCol w="550432"/>
                <a:gridCol w="550432"/>
                <a:gridCol w="550432"/>
                <a:gridCol w="550432"/>
                <a:gridCol w="550432"/>
                <a:gridCol w="550432"/>
                <a:gridCol w="550432"/>
                <a:gridCol w="550432"/>
              </a:tblGrid>
              <a:tr h="246126">
                <a:tc>
                  <a:txBody>
                    <a:bodyPr wrap="none"/>
                    <a:lstStyle/>
                    <a:p>
                      <a:pPr algn="l"/>
                      <a:r>
                        <a:rPr sz="1100" b="1">
                          <a:solidFill>
                            <a:srgbClr val="0B2E4A"/>
                          </a:solidFill>
                          <a:latin typeface="Calibri"/>
                        </a:rPr>
                        <a:t>End User</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2021A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2022A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2023A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2024A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2025A</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2026E</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2027F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2028F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2029F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2030F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2031F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2032F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2033F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2034F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2035F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2036F</a:t>
                      </a:r>
                      <a:endParaRPr sz="1100"/>
                    </a:p>
                  </a:txBody>
                  <a:tcPr marL="28575" marR="19050" marT="19050" marB="19050" anchor="ctr">
                    <a:solidFill>
                      <a:srgbClr val="E0E8EF"/>
                    </a:solidFill>
                  </a:tcPr>
                </a:tc>
                <a:tc>
                  <a:txBody>
                    <a:bodyPr wrap="none"/>
                    <a:lstStyle/>
                    <a:p>
                      <a:pPr algn="ctr"/>
                      <a:r>
                        <a:rPr sz="1100" b="1">
                          <a:solidFill>
                            <a:srgbClr val="0B2E4A"/>
                          </a:solidFill>
                          <a:latin typeface="Calibri"/>
                        </a:rPr>
                        <a:t>F-CAGR</a:t>
                      </a:r>
                      <a:endParaRPr sz="1100"/>
                    </a:p>
                  </a:txBody>
                  <a:tcPr marL="28575" marR="19050" marT="19050" marB="19050" anchor="ctr">
                    <a:solidFill>
                      <a:srgbClr val="E0E8EF"/>
                    </a:solidFill>
                  </a:tcPr>
                </a:tc>
              </a:tr>
              <a:tr h="247954">
                <a:tc>
                  <a:txBody>
                    <a:bodyPr wrap="none"/>
                    <a:lstStyle/>
                    <a:p>
                      <a:pPr algn="l"/>
                      <a:r>
                        <a:rPr sz="1100" b="1">
                          <a:solidFill>
                            <a:srgbClr val="2E2E2E"/>
                          </a:solidFill>
                          <a:latin typeface="Calibri"/>
                        </a:rPr>
                        <a:t>Dental Clinics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7954">
                <a:tc>
                  <a:txBody>
                    <a:bodyPr wrap="none"/>
                    <a:lstStyle/>
                    <a:p>
                      <a:pPr algn="l"/>
                      <a:r>
                        <a:rPr sz="1100" b="1">
                          <a:solidFill>
                            <a:srgbClr val="2E2E2E"/>
                          </a:solidFill>
                          <a:latin typeface="Calibri"/>
                        </a:rPr>
                        <a:t>Dental Hospitals</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7954">
                <a:tc>
                  <a:txBody>
                    <a:bodyPr wrap="none"/>
                    <a:lstStyle/>
                    <a:p>
                      <a:pPr algn="l"/>
                      <a:r>
                        <a:rPr sz="1100" b="1">
                          <a:solidFill>
                            <a:srgbClr val="2E2E2E"/>
                          </a:solidFill>
                          <a:latin typeface="Calibri"/>
                        </a:rPr>
                        <a:t>Dental Laboratories</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c>
                  <a:txBody>
                    <a:bodyPr wrap="none"/>
                    <a:lstStyle/>
                    <a:p>
                      <a:pPr algn="ctr"/>
                      <a:r>
                        <a:rPr sz="1100"/>
                        <a:t> </a:t>
                      </a:r>
                      <a:endParaRPr sz="1100"/>
                    </a:p>
                  </a:txBody>
                  <a:tcPr marL="28575" marR="19050" marT="19050" marB="19050" anchor="ctr">
                    <a:solidFill>
                      <a:srgbClr val="FFFFFF"/>
                    </a:solidFill>
                  </a:tcPr>
                </a:tc>
              </a:tr>
              <a:tr h="247954">
                <a:tc>
                  <a:txBody>
                    <a:bodyPr wrap="none"/>
                    <a:lstStyle/>
                    <a:p>
                      <a:pPr algn="l"/>
                      <a:r>
                        <a:rPr sz="1100" b="1">
                          <a:solidFill>
                            <a:srgbClr val="2E2E2E"/>
                          </a:solidFill>
                          <a:latin typeface="Calibri"/>
                        </a:rPr>
                        <a:t>Academic &amp; Teaching Dental Institutions</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c>
                  <a:txBody>
                    <a:bodyPr wrap="none"/>
                    <a:lstStyle/>
                    <a:p>
                      <a:pPr algn="ctr"/>
                      <a:r>
                        <a:rPr sz="1100"/>
                        <a:t> </a:t>
                      </a:r>
                      <a:endParaRPr sz="1100"/>
                    </a:p>
                  </a:txBody>
                  <a:tcPr marL="28575" marR="1905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c>
                  <a:txBody>
                    <a:bodyPr wrap="none"/>
                    <a:lstStyle/>
                    <a:p>
                      <a:pPr algn="ctr"/>
                      <a:r>
                        <a:rPr sz="1100"/>
                        <a:t> </a:t>
                      </a:r>
                      <a:endParaRPr sz="1100"/>
                    </a:p>
                  </a:txBody>
                  <a:tcPr marL="28575" marR="19050" marT="19050" marB="19050" anchor="ctr">
                    <a:solidFill>
                      <a:srgbClr val="E0E8EF"/>
                    </a:solidFill>
                  </a:tcPr>
                </a:tc>
              </a:tr>
            </a:tbl>
          </a:graphicData>
        </a:graphic>
      </p:graphicFrame>
      <p:sp>
        <p:nvSpPr>
          <p:cNvPr id="14" name="TextBox 13"/>
          <p:cNvSpPr txBox="1"/>
          <p:nvPr/>
        </p:nvSpPr>
        <p:spPr>
          <a:xfrm>
            <a:off x="219075" y="2733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067050"/>
            <a:ext cx="11906250" cy="1952625"/>
          </a:xfrm>
          <a:prstGeom prst="roundRect">
            <a:avLst>
              <a:gd name="adj" fmla="val 390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1242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End User (US$ Mn)</a:t>
            </a:r>
          </a:p>
        </p:txBody>
      </p:sp>
      <p:graphicFrame>
        <p:nvGraphicFramePr>
          <p:cNvPr id="17" name="Table 16"/>
          <p:cNvGraphicFramePr>
            <a:graphicFrameLocks noGrp="1"/>
          </p:cNvGraphicFramePr>
          <p:nvPr/>
        </p:nvGraphicFramePr>
        <p:xfrm>
          <a:off x="152400" y="3324225"/>
          <a:ext cx="11887196" cy="1485896"/>
        </p:xfrm>
        <a:graphic>
          <a:graphicData uri="http://schemas.openxmlformats.org/drawingml/2006/table">
            <a:tbl>
              <a:tblPr>
                <a:tableStyleId>{5C22544A-7EE6-4342-B048-85BDC9FD1C3A}</a:tableStyleId>
              </a:tblPr>
              <a:tblGrid>
                <a:gridCol w="2836344"/>
                <a:gridCol w="543671"/>
                <a:gridCol w="543671"/>
                <a:gridCol w="543671"/>
                <a:gridCol w="543671"/>
                <a:gridCol w="543671"/>
                <a:gridCol w="524520"/>
                <a:gridCol w="519048"/>
                <a:gridCol w="519048"/>
                <a:gridCol w="519048"/>
                <a:gridCol w="519048"/>
                <a:gridCol w="519048"/>
                <a:gridCol w="519048"/>
                <a:gridCol w="519048"/>
                <a:gridCol w="519048"/>
                <a:gridCol w="519048"/>
                <a:gridCol w="519048"/>
                <a:gridCol w="617497"/>
              </a:tblGrid>
              <a:tr h="246126">
                <a:tc>
                  <a:txBody>
                    <a:bodyPr wrap="none"/>
                    <a:lstStyle/>
                    <a:p>
                      <a:pPr algn="l"/>
                      <a:r>
                        <a:rPr sz="1100" b="1">
                          <a:solidFill>
                            <a:srgbClr val="0B2E4A"/>
                          </a:solidFill>
                          <a:latin typeface="Calibri"/>
                        </a:rPr>
                        <a:t>End User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Dental Clinics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Dental Hospitals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Dental Laboratories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Academic &amp; Teaching Dental Institutions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8196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174230" y="1837563"/>
            <a:ext cx="366712" cy="533400"/>
          </a:xfrm>
          <a:prstGeom prst="rect">
            <a:avLst/>
          </a:prstGeom>
        </p:spPr>
      </p:pic>
      <p:pic>
        <p:nvPicPr>
          <p:cNvPr id="21" name="Picture 20" descr="lock.png"/>
          <p:cNvPicPr>
            <a:picLocks noChangeAspect="1"/>
          </p:cNvPicPr>
          <p:nvPr/>
        </p:nvPicPr>
        <p:blipFill>
          <a:blip r:embed="rId4"/>
          <a:stretch>
            <a:fillRect/>
          </a:stretch>
        </p:blipFill>
        <p:spPr>
          <a:xfrm>
            <a:off x="7327480" y="3923538"/>
            <a:ext cx="366712" cy="533400"/>
          </a:xfrm>
          <a:prstGeom prst="rect">
            <a:avLst/>
          </a:prstGeom>
        </p:spPr>
      </p:pic>
    </p:spTree>
  </p:cSld>
  <p:clrMapOvr>
    <a:masterClrMapping/>
  </p:clrMapOvr>
</p:sld>
</file>

<file path=ppt/slides/slide2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End User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End User,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End User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1238250"/>
        </p:xfrm>
        <a:graphic>
          <a:graphicData uri="http://schemas.openxmlformats.org/drawingml/2006/table">
            <a:tbl>
              <a:tblPr>
                <a:tableStyleId>{5C22544A-7EE6-4342-B048-85BDC9FD1C3A}</a:tableStyleId>
              </a:tblPr>
              <a:tblGrid>
                <a:gridCol w="2742560"/>
                <a:gridCol w="609643"/>
                <a:gridCol w="609643"/>
                <a:gridCol w="609643"/>
                <a:gridCol w="609643"/>
                <a:gridCol w="609643"/>
                <a:gridCol w="609643"/>
                <a:gridCol w="609643"/>
                <a:gridCol w="609643"/>
                <a:gridCol w="609643"/>
                <a:gridCol w="609643"/>
                <a:gridCol w="609643"/>
                <a:gridCol w="609643"/>
                <a:gridCol w="609643"/>
                <a:gridCol w="609643"/>
                <a:gridCol w="609643"/>
              </a:tblGrid>
              <a:tr h="246126">
                <a:tc>
                  <a:txBody>
                    <a:bodyPr wrap="none"/>
                    <a:lstStyle/>
                    <a:p>
                      <a:pPr algn="l"/>
                      <a:r>
                        <a:rPr sz="1100" b="1">
                          <a:solidFill>
                            <a:srgbClr val="0B2E4A"/>
                          </a:solidFill>
                          <a:latin typeface="Calibri"/>
                        </a:rPr>
                        <a:t>End User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Dental Clinics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Dental Hospitals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Dental Laboratories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Academic &amp; Teaching Dental Institutions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End User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3076575"/>
          <a:ext cx="11887205" cy="1238250"/>
        </p:xfrm>
        <a:graphic>
          <a:graphicData uri="http://schemas.openxmlformats.org/drawingml/2006/table">
            <a:tbl>
              <a:tblPr>
                <a:tableStyleId>{5C22544A-7EE6-4342-B048-85BDC9FD1C3A}</a:tableStyleId>
              </a:tblPr>
              <a:tblGrid>
                <a:gridCol w="2742560"/>
                <a:gridCol w="609643"/>
                <a:gridCol w="609643"/>
                <a:gridCol w="609643"/>
                <a:gridCol w="609643"/>
                <a:gridCol w="609643"/>
                <a:gridCol w="609643"/>
                <a:gridCol w="609643"/>
                <a:gridCol w="609643"/>
                <a:gridCol w="609643"/>
                <a:gridCol w="609643"/>
                <a:gridCol w="609643"/>
                <a:gridCol w="609643"/>
                <a:gridCol w="609643"/>
                <a:gridCol w="609643"/>
                <a:gridCol w="609643"/>
              </a:tblGrid>
              <a:tr h="246126">
                <a:tc>
                  <a:txBody>
                    <a:bodyPr wrap="none"/>
                    <a:lstStyle/>
                    <a:p>
                      <a:pPr algn="l"/>
                      <a:r>
                        <a:rPr sz="1100" b="1">
                          <a:solidFill>
                            <a:srgbClr val="0B2E4A"/>
                          </a:solidFill>
                          <a:latin typeface="Calibri"/>
                        </a:rPr>
                        <a:t>End User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Dental Clinics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Dental Hospitals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Dental Laboratories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Academic &amp; Teaching Dental Institutions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43243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280592" y="1713738"/>
            <a:ext cx="366712" cy="533400"/>
          </a:xfrm>
          <a:prstGeom prst="rect">
            <a:avLst/>
          </a:prstGeom>
        </p:spPr>
      </p:pic>
      <p:pic>
        <p:nvPicPr>
          <p:cNvPr id="21" name="Picture 20" descr="lock.png"/>
          <p:cNvPicPr>
            <a:picLocks noChangeAspect="1"/>
          </p:cNvPicPr>
          <p:nvPr/>
        </p:nvPicPr>
        <p:blipFill>
          <a:blip r:embed="rId4"/>
          <a:stretch>
            <a:fillRect/>
          </a:stretch>
        </p:blipFill>
        <p:spPr>
          <a:xfrm>
            <a:off x="7280592" y="3552062"/>
            <a:ext cx="366712" cy="533400"/>
          </a:xfrm>
          <a:prstGeom prst="rect">
            <a:avLst/>
          </a:prstGeom>
        </p:spPr>
      </p:pic>
    </p:spTree>
  </p:cSld>
  <p:clrMapOvr>
    <a:masterClrMapping/>
  </p:clrMapOvr>
</p:sld>
</file>

<file path=ppt/slides/slide22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Distribution Channel</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Distribution Channel: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6" name="Table 15"/>
          <p:cNvGraphicFramePr>
            <a:graphicFrameLocks noGrp="1"/>
          </p:cNvGraphicFramePr>
          <p:nvPr/>
        </p:nvGraphicFramePr>
        <p:xfrm>
          <a:off x="6181725" y="1238250"/>
          <a:ext cx="5857874" cy="2286000"/>
        </p:xfrm>
        <a:graphic>
          <a:graphicData uri="http://schemas.openxmlformats.org/drawingml/2006/table">
            <a:tbl>
              <a:tblPr>
                <a:tableStyleId>{5C22544A-7EE6-4342-B048-85BDC9FD1C3A}</a:tableStyleId>
              </a:tblPr>
              <a:tblGrid>
                <a:gridCol w="2272018"/>
                <a:gridCol w="901472"/>
                <a:gridCol w="901472"/>
                <a:gridCol w="1138462"/>
                <a:gridCol w="644450"/>
              </a:tblGrid>
              <a:tr h="246126">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679958">
                <a:tc>
                  <a:txBody>
                    <a:bodyPr wrap="none"/>
                    <a:lstStyle/>
                    <a:p>
                      <a:pPr algn="l"/>
                      <a:r>
                        <a:rPr sz="1100" b="1">
                          <a:solidFill>
                            <a:srgbClr val="2E2E2E"/>
                          </a:solidFill>
                          <a:latin typeface="Calibri"/>
                        </a:rPr>
                        <a:t>Direct Sales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679958">
                <a:tc>
                  <a:txBody>
                    <a:bodyPr wrap="none"/>
                    <a:lstStyle/>
                    <a:p>
                      <a:pPr algn="l"/>
                      <a:r>
                        <a:rPr sz="1100" b="1">
                          <a:solidFill>
                            <a:srgbClr val="2E2E2E"/>
                          </a:solidFill>
                          <a:latin typeface="Calibri"/>
                        </a:rPr>
                        <a:t>Dental Dealers &amp; Distributors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679958">
                <a:tc>
                  <a:txBody>
                    <a:bodyPr wrap="none"/>
                    <a:lstStyle/>
                    <a:p>
                      <a:pPr algn="l"/>
                      <a:r>
                        <a:rPr sz="1100" b="1">
                          <a:solidFill>
                            <a:srgbClr val="2E2E2E"/>
                          </a:solidFill>
                          <a:latin typeface="Calibri"/>
                        </a:rPr>
                        <a:t>Online Dental Supply Channels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Distribution Channel</a:t>
            </a:r>
          </a:p>
        </p:txBody>
      </p:sp>
      <p:graphicFrame>
        <p:nvGraphicFramePr>
          <p:cNvPr id="23" name="Table 22"/>
          <p:cNvGraphicFramePr>
            <a:graphicFrameLocks noGrp="1"/>
          </p:cNvGraphicFramePr>
          <p:nvPr/>
        </p:nvGraphicFramePr>
        <p:xfrm>
          <a:off x="6181725" y="4124325"/>
          <a:ext cx="5857874" cy="2286000"/>
        </p:xfrm>
        <a:graphic>
          <a:graphicData uri="http://schemas.openxmlformats.org/drawingml/2006/table">
            <a:tbl>
              <a:tblPr>
                <a:tableStyleId>{5C22544A-7EE6-4342-B048-85BDC9FD1C3A}</a:tableStyleId>
              </a:tblPr>
              <a:tblGrid>
                <a:gridCol w="2272018"/>
                <a:gridCol w="901472"/>
                <a:gridCol w="901472"/>
                <a:gridCol w="1138462"/>
                <a:gridCol w="644450"/>
              </a:tblGrid>
              <a:tr h="246126">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679958">
                <a:tc>
                  <a:txBody>
                    <a:bodyPr wrap="none"/>
                    <a:lstStyle/>
                    <a:p>
                      <a:pPr algn="l"/>
                      <a:r>
                        <a:rPr sz="1100" b="1">
                          <a:solidFill>
                            <a:srgbClr val="2E2E2E"/>
                          </a:solidFill>
                          <a:latin typeface="Calibri"/>
                        </a:rPr>
                        <a:t>Direct Sales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679958">
                <a:tc>
                  <a:txBody>
                    <a:bodyPr wrap="none"/>
                    <a:lstStyle/>
                    <a:p>
                      <a:pPr algn="l"/>
                      <a:r>
                        <a:rPr sz="1100" b="1">
                          <a:solidFill>
                            <a:srgbClr val="2E2E2E"/>
                          </a:solidFill>
                          <a:latin typeface="Calibri"/>
                        </a:rPr>
                        <a:t>Dental Dealers &amp; Distributors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679958">
                <a:tc>
                  <a:txBody>
                    <a:bodyPr wrap="none"/>
                    <a:lstStyle/>
                    <a:p>
                      <a:pPr algn="l"/>
                      <a:r>
                        <a:rPr sz="1100" b="1">
                          <a:solidFill>
                            <a:srgbClr val="2E2E2E"/>
                          </a:solidFill>
                          <a:latin typeface="Calibri"/>
                        </a:rPr>
                        <a:t>Online Dental Supply Channels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3094826" y="2237234"/>
            <a:ext cx="263506" cy="383281"/>
          </a:xfrm>
          <a:prstGeom prst="rect">
            <a:avLst/>
          </a:prstGeom>
        </p:spPr>
      </p:pic>
      <p:pic>
        <p:nvPicPr>
          <p:cNvPr id="27" name="Picture 26" descr="lock.png"/>
          <p:cNvPicPr>
            <a:picLocks noChangeAspect="1"/>
          </p:cNvPicPr>
          <p:nvPr/>
        </p:nvPicPr>
        <p:blipFill>
          <a:blip r:embed="rId6"/>
          <a:stretch>
            <a:fillRect/>
          </a:stretch>
        </p:blipFill>
        <p:spPr>
          <a:xfrm>
            <a:off x="10059981" y="2237613"/>
            <a:ext cx="366712" cy="533400"/>
          </a:xfrm>
          <a:prstGeom prst="rect">
            <a:avLst/>
          </a:prstGeom>
        </p:spPr>
      </p:pic>
      <p:pic>
        <p:nvPicPr>
          <p:cNvPr id="28" name="Picture 27" descr="lock.png"/>
          <p:cNvPicPr>
            <a:picLocks noChangeAspect="1"/>
          </p:cNvPicPr>
          <p:nvPr/>
        </p:nvPicPr>
        <p:blipFill>
          <a:blip r:embed="rId6"/>
          <a:stretch>
            <a:fillRect/>
          </a:stretch>
        </p:blipFill>
        <p:spPr>
          <a:xfrm>
            <a:off x="3094826" y="5123309"/>
            <a:ext cx="263506" cy="383281"/>
          </a:xfrm>
          <a:prstGeom prst="rect">
            <a:avLst/>
          </a:prstGeom>
        </p:spPr>
      </p:pic>
      <p:pic>
        <p:nvPicPr>
          <p:cNvPr id="29" name="Picture 28" descr="lock.png"/>
          <p:cNvPicPr>
            <a:picLocks noChangeAspect="1"/>
          </p:cNvPicPr>
          <p:nvPr/>
        </p:nvPicPr>
        <p:blipFill>
          <a:blip r:embed="rId6"/>
          <a:stretch>
            <a:fillRect/>
          </a:stretch>
        </p:blipFill>
        <p:spPr>
          <a:xfrm>
            <a:off x="10059981" y="5123688"/>
            <a:ext cx="366712" cy="533400"/>
          </a:xfrm>
          <a:prstGeom prst="rect">
            <a:avLst/>
          </a:prstGeom>
        </p:spPr>
      </p:pic>
      <p:sp>
        <p:nvSpPr>
          <p:cNvPr id="30"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0"/>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Distribution Channel,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Distribution Channel (Units)</a:t>
            </a:r>
          </a:p>
        </p:txBody>
      </p:sp>
      <p:graphicFrame>
        <p:nvGraphicFramePr>
          <p:cNvPr id="13" name="Table 12"/>
          <p:cNvGraphicFramePr>
            <a:graphicFrameLocks noGrp="1"/>
          </p:cNvGraphicFramePr>
          <p:nvPr/>
        </p:nvGraphicFramePr>
        <p:xfrm>
          <a:off x="152400" y="1238250"/>
          <a:ext cx="11887205" cy="1238250"/>
        </p:xfrm>
        <a:graphic>
          <a:graphicData uri="http://schemas.openxmlformats.org/drawingml/2006/table">
            <a:tbl>
              <a:tblPr>
                <a:tableStyleId>{5C22544A-7EE6-4342-B048-85BDC9FD1C3A}</a:tableStyleId>
              </a:tblPr>
              <a:tblGrid>
                <a:gridCol w="1955550"/>
                <a:gridCol w="584215"/>
                <a:gridCol w="584215"/>
                <a:gridCol w="584215"/>
                <a:gridCol w="584215"/>
                <a:gridCol w="584215"/>
                <a:gridCol w="584215"/>
                <a:gridCol w="584215"/>
                <a:gridCol w="584215"/>
                <a:gridCol w="584215"/>
                <a:gridCol w="584215"/>
                <a:gridCol w="584215"/>
                <a:gridCol w="584215"/>
                <a:gridCol w="584215"/>
                <a:gridCol w="584215"/>
                <a:gridCol w="584215"/>
                <a:gridCol w="584215"/>
                <a:gridCol w="584215"/>
              </a:tblGrid>
              <a:tr h="246126">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Direct Sales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Dental Dealers &amp; Distributors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Online Dental Supply Channels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19400"/>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8765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Distribution Channel (US$ Mn)</a:t>
            </a:r>
          </a:p>
        </p:txBody>
      </p:sp>
      <p:graphicFrame>
        <p:nvGraphicFramePr>
          <p:cNvPr id="17" name="Table 16"/>
          <p:cNvGraphicFramePr>
            <a:graphicFrameLocks noGrp="1"/>
          </p:cNvGraphicFramePr>
          <p:nvPr/>
        </p:nvGraphicFramePr>
        <p:xfrm>
          <a:off x="152400" y="3076575"/>
          <a:ext cx="11887206" cy="1238250"/>
        </p:xfrm>
        <a:graphic>
          <a:graphicData uri="http://schemas.openxmlformats.org/drawingml/2006/table">
            <a:tbl>
              <a:tblPr>
                <a:tableStyleId>{5C22544A-7EE6-4342-B048-85BDC9FD1C3A}</a:tableStyleId>
              </a:tblPr>
              <a:tblGrid>
                <a:gridCol w="2041775"/>
                <a:gridCol w="579143"/>
                <a:gridCol w="579143"/>
                <a:gridCol w="579143"/>
                <a:gridCol w="579143"/>
                <a:gridCol w="579143"/>
                <a:gridCol w="579143"/>
                <a:gridCol w="579143"/>
                <a:gridCol w="579143"/>
                <a:gridCol w="579143"/>
                <a:gridCol w="579143"/>
                <a:gridCol w="579143"/>
                <a:gridCol w="579143"/>
                <a:gridCol w="579143"/>
                <a:gridCol w="579143"/>
                <a:gridCol w="579143"/>
                <a:gridCol w="579143"/>
                <a:gridCol w="579143"/>
              </a:tblGrid>
              <a:tr h="246126">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Direct Sales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Dental Dealers &amp; Distributors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Online Dental Supply Channels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3243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887087" y="1713738"/>
            <a:ext cx="366712" cy="533400"/>
          </a:xfrm>
          <a:prstGeom prst="rect">
            <a:avLst/>
          </a:prstGeom>
        </p:spPr>
      </p:pic>
      <p:pic>
        <p:nvPicPr>
          <p:cNvPr id="21" name="Picture 20" descr="lock.png"/>
          <p:cNvPicPr>
            <a:picLocks noChangeAspect="1"/>
          </p:cNvPicPr>
          <p:nvPr/>
        </p:nvPicPr>
        <p:blipFill>
          <a:blip r:embed="rId4"/>
          <a:stretch>
            <a:fillRect/>
          </a:stretch>
        </p:blipFill>
        <p:spPr>
          <a:xfrm>
            <a:off x="6930200" y="3552062"/>
            <a:ext cx="366712" cy="533400"/>
          </a:xfrm>
          <a:prstGeom prst="rect">
            <a:avLst/>
          </a:prstGeom>
        </p:spPr>
      </p:pic>
    </p:spTree>
  </p:cSld>
  <p:clrMapOvr>
    <a:masterClrMapping/>
  </p:clrMapOvr>
</p:sld>
</file>

<file path=ppt/slides/slide2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Distribution Channel,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990600"/>
        </p:xfrm>
        <a:graphic>
          <a:graphicData uri="http://schemas.openxmlformats.org/drawingml/2006/table">
            <a:tbl>
              <a:tblPr>
                <a:tableStyleId>{5C22544A-7EE6-4342-B048-85BDC9FD1C3A}</a:tableStyleId>
              </a:tblPr>
              <a:tblGrid>
                <a:gridCol w="2224309"/>
                <a:gridCol w="644193"/>
                <a:gridCol w="644193"/>
                <a:gridCol w="644193"/>
                <a:gridCol w="644193"/>
                <a:gridCol w="644193"/>
                <a:gridCol w="644193"/>
                <a:gridCol w="644193"/>
                <a:gridCol w="644193"/>
                <a:gridCol w="644193"/>
                <a:gridCol w="644193"/>
                <a:gridCol w="644193"/>
                <a:gridCol w="644193"/>
                <a:gridCol w="644193"/>
                <a:gridCol w="644193"/>
                <a:gridCol w="644193"/>
              </a:tblGrid>
              <a:tr h="246126">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Direct Sales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Dental Dealers &amp; Distributors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Online Dental Supply Channels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Distribution Channel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828925"/>
          <a:ext cx="11887204" cy="990600"/>
        </p:xfrm>
        <a:graphic>
          <a:graphicData uri="http://schemas.openxmlformats.org/drawingml/2006/table">
            <a:tbl>
              <a:tblPr>
                <a:tableStyleId>{5C22544A-7EE6-4342-B048-85BDC9FD1C3A}</a:tableStyleId>
              </a:tblPr>
              <a:tblGrid>
                <a:gridCol w="2224309"/>
                <a:gridCol w="644193"/>
                <a:gridCol w="644193"/>
                <a:gridCol w="644193"/>
                <a:gridCol w="644193"/>
                <a:gridCol w="644193"/>
                <a:gridCol w="644193"/>
                <a:gridCol w="644193"/>
                <a:gridCol w="644193"/>
                <a:gridCol w="644193"/>
                <a:gridCol w="644193"/>
                <a:gridCol w="644193"/>
                <a:gridCol w="644193"/>
                <a:gridCol w="644193"/>
                <a:gridCol w="644193"/>
                <a:gridCol w="644193"/>
              </a:tblGrid>
              <a:tr h="246126">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Direct Sales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Dental Dealers &amp; Distributors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Online Dental Supply Channels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38290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021466" y="1589913"/>
            <a:ext cx="366712" cy="533400"/>
          </a:xfrm>
          <a:prstGeom prst="rect">
            <a:avLst/>
          </a:prstGeom>
        </p:spPr>
      </p:pic>
      <p:pic>
        <p:nvPicPr>
          <p:cNvPr id="21" name="Picture 20" descr="lock.png"/>
          <p:cNvPicPr>
            <a:picLocks noChangeAspect="1"/>
          </p:cNvPicPr>
          <p:nvPr/>
        </p:nvPicPr>
        <p:blipFill>
          <a:blip r:embed="rId4"/>
          <a:stretch>
            <a:fillRect/>
          </a:stretch>
        </p:blipFill>
        <p:spPr>
          <a:xfrm>
            <a:off x="7021466" y="3180587"/>
            <a:ext cx="366712" cy="533400"/>
          </a:xfrm>
          <a:prstGeom prst="rect">
            <a:avLst/>
          </a:prstGeom>
        </p:spPr>
      </p:pic>
    </p:spTree>
  </p:cSld>
  <p:clrMapOvr>
    <a:masterClrMapping/>
  </p:clrMapOvr>
</p:sld>
</file>

<file path=ppt/slides/slide22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Patient Age Group</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Segmental Analysis Patient Age Group</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Patient Age Group: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Patient Age Group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Patient Age Group</a:t>
            </a:r>
          </a:p>
        </p:txBody>
      </p:sp>
      <p:graphicFrame>
        <p:nvGraphicFramePr>
          <p:cNvPr id="16" name="Table 15"/>
          <p:cNvGraphicFramePr>
            <a:graphicFrameLocks noGrp="1"/>
          </p:cNvGraphicFramePr>
          <p:nvPr/>
        </p:nvGraphicFramePr>
        <p:xfrm>
          <a:off x="6181725" y="1238250"/>
          <a:ext cx="5857876" cy="2286000"/>
        </p:xfrm>
        <a:graphic>
          <a:graphicData uri="http://schemas.openxmlformats.org/drawingml/2006/table">
            <a:tbl>
              <a:tblPr>
                <a:tableStyleId>{5C22544A-7EE6-4342-B048-85BDC9FD1C3A}</a:tableStyleId>
              </a:tblPr>
              <a:tblGrid>
                <a:gridCol w="1384732"/>
                <a:gridCol w="1118286"/>
                <a:gridCol w="1118286"/>
                <a:gridCol w="1118286"/>
                <a:gridCol w="1118286"/>
              </a:tblGrid>
              <a:tr h="246126">
                <a:tc>
                  <a:txBody>
                    <a:bodyPr wrap="none"/>
                    <a:lstStyle/>
                    <a:p>
                      <a:pPr algn="l"/>
                      <a:r>
                        <a:rPr sz="1100" b="1">
                          <a:solidFill>
                            <a:srgbClr val="0B2E4A"/>
                          </a:solidFill>
                          <a:latin typeface="Calibri"/>
                        </a:rPr>
                        <a:t>Patient Age Group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1019937">
                <a:tc>
                  <a:txBody>
                    <a:bodyPr wrap="none"/>
                    <a:lstStyle/>
                    <a:p>
                      <a:pPr algn="l"/>
                      <a:r>
                        <a:rPr sz="1100" b="1">
                          <a:solidFill>
                            <a:srgbClr val="2E2E2E"/>
                          </a:solidFill>
                          <a:latin typeface="Calibri"/>
                        </a:rPr>
                        <a:t>Adults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1019937">
                <a:tc>
                  <a:txBody>
                    <a:bodyPr wrap="none"/>
                    <a:lstStyle/>
                    <a:p>
                      <a:pPr algn="l"/>
                      <a:r>
                        <a:rPr sz="1100" b="1">
                          <a:solidFill>
                            <a:srgbClr val="2E2E2E"/>
                          </a:solidFill>
                          <a:latin typeface="Calibri"/>
                        </a:rPr>
                        <a:t>Geriatric Patients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Patient Age Group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Patient Age Group</a:t>
            </a:r>
          </a:p>
        </p:txBody>
      </p:sp>
      <p:graphicFrame>
        <p:nvGraphicFramePr>
          <p:cNvPr id="23" name="Table 22"/>
          <p:cNvGraphicFramePr>
            <a:graphicFrameLocks noGrp="1"/>
          </p:cNvGraphicFramePr>
          <p:nvPr/>
        </p:nvGraphicFramePr>
        <p:xfrm>
          <a:off x="6181725" y="4124325"/>
          <a:ext cx="5857876" cy="2286000"/>
        </p:xfrm>
        <a:graphic>
          <a:graphicData uri="http://schemas.openxmlformats.org/drawingml/2006/table">
            <a:tbl>
              <a:tblPr>
                <a:tableStyleId>{5C22544A-7EE6-4342-B048-85BDC9FD1C3A}</a:tableStyleId>
              </a:tblPr>
              <a:tblGrid>
                <a:gridCol w="1384732"/>
                <a:gridCol w="1118286"/>
                <a:gridCol w="1118286"/>
                <a:gridCol w="1118286"/>
                <a:gridCol w="1118286"/>
              </a:tblGrid>
              <a:tr h="246126">
                <a:tc>
                  <a:txBody>
                    <a:bodyPr wrap="none"/>
                    <a:lstStyle/>
                    <a:p>
                      <a:pPr algn="l"/>
                      <a:r>
                        <a:rPr sz="1100" b="1">
                          <a:solidFill>
                            <a:srgbClr val="0B2E4A"/>
                          </a:solidFill>
                          <a:latin typeface="Calibri"/>
                        </a:rPr>
                        <a:t>Patient Age Group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1019937">
                <a:tc>
                  <a:txBody>
                    <a:bodyPr wrap="none"/>
                    <a:lstStyle/>
                    <a:p>
                      <a:pPr algn="l"/>
                      <a:r>
                        <a:rPr sz="1100" b="1">
                          <a:solidFill>
                            <a:srgbClr val="2E2E2E"/>
                          </a:solidFill>
                          <a:latin typeface="Calibri"/>
                        </a:rPr>
                        <a:t>Adults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1019937">
                <a:tc>
                  <a:txBody>
                    <a:bodyPr wrap="none"/>
                    <a:lstStyle/>
                    <a:p>
                      <a:pPr algn="l"/>
                      <a:r>
                        <a:rPr sz="1100" b="1">
                          <a:solidFill>
                            <a:srgbClr val="2E2E2E"/>
                          </a:solidFill>
                          <a:latin typeface="Calibri"/>
                        </a:rPr>
                        <a:t>Geriatric Patients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6" name="Picture 25" descr="lock.png"/>
          <p:cNvPicPr>
            <a:picLocks noChangeAspect="1"/>
          </p:cNvPicPr>
          <p:nvPr/>
        </p:nvPicPr>
        <p:blipFill>
          <a:blip r:embed="rId6"/>
          <a:stretch>
            <a:fillRect/>
          </a:stretch>
        </p:blipFill>
        <p:spPr>
          <a:xfrm>
            <a:off x="3094826" y="2237234"/>
            <a:ext cx="263506" cy="383281"/>
          </a:xfrm>
          <a:prstGeom prst="rect">
            <a:avLst/>
          </a:prstGeom>
        </p:spPr>
      </p:pic>
      <p:pic>
        <p:nvPicPr>
          <p:cNvPr id="27" name="Picture 26" descr="lock.png"/>
          <p:cNvPicPr>
            <a:picLocks noChangeAspect="1"/>
          </p:cNvPicPr>
          <p:nvPr/>
        </p:nvPicPr>
        <p:blipFill>
          <a:blip r:embed="rId6"/>
          <a:stretch>
            <a:fillRect/>
          </a:stretch>
        </p:blipFill>
        <p:spPr>
          <a:xfrm>
            <a:off x="9616339" y="2237613"/>
            <a:ext cx="366712" cy="533400"/>
          </a:xfrm>
          <a:prstGeom prst="rect">
            <a:avLst/>
          </a:prstGeom>
        </p:spPr>
      </p:pic>
      <p:pic>
        <p:nvPicPr>
          <p:cNvPr id="28" name="Picture 27" descr="lock.png"/>
          <p:cNvPicPr>
            <a:picLocks noChangeAspect="1"/>
          </p:cNvPicPr>
          <p:nvPr/>
        </p:nvPicPr>
        <p:blipFill>
          <a:blip r:embed="rId6"/>
          <a:stretch>
            <a:fillRect/>
          </a:stretch>
        </p:blipFill>
        <p:spPr>
          <a:xfrm>
            <a:off x="3094826" y="5123309"/>
            <a:ext cx="263506" cy="383281"/>
          </a:xfrm>
          <a:prstGeom prst="rect">
            <a:avLst/>
          </a:prstGeom>
        </p:spPr>
      </p:pic>
      <p:pic>
        <p:nvPicPr>
          <p:cNvPr id="29" name="Picture 28" descr="lock.png"/>
          <p:cNvPicPr>
            <a:picLocks noChangeAspect="1"/>
          </p:cNvPicPr>
          <p:nvPr/>
        </p:nvPicPr>
        <p:blipFill>
          <a:blip r:embed="rId6"/>
          <a:stretch>
            <a:fillRect/>
          </a:stretch>
        </p:blipFill>
        <p:spPr>
          <a:xfrm>
            <a:off x="9616339" y="5123688"/>
            <a:ext cx="366712" cy="533400"/>
          </a:xfrm>
          <a:prstGeom prst="rect">
            <a:avLst/>
          </a:prstGeom>
        </p:spPr>
      </p:pic>
      <p:sp>
        <p:nvSpPr>
          <p:cNvPr id="30" name="lockshield_13"/>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lockshield_20"/>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Removable Partial Dentures Market Tables Patient Age Group</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Patient Age Group,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Patient Age Group (Units)</a:t>
            </a:r>
          </a:p>
        </p:txBody>
      </p:sp>
      <p:graphicFrame>
        <p:nvGraphicFramePr>
          <p:cNvPr id="13" name="Table 12"/>
          <p:cNvGraphicFramePr>
            <a:graphicFrameLocks noGrp="1"/>
          </p:cNvGraphicFramePr>
          <p:nvPr/>
        </p:nvGraphicFramePr>
        <p:xfrm>
          <a:off x="152400" y="1238250"/>
          <a:ext cx="11887201" cy="990600"/>
        </p:xfrm>
        <a:graphic>
          <a:graphicData uri="http://schemas.openxmlformats.org/drawingml/2006/table">
            <a:tbl>
              <a:tblPr>
                <a:tableStyleId>{5C22544A-7EE6-4342-B048-85BDC9FD1C3A}</a:tableStyleId>
              </a:tblPr>
              <a:tblGrid>
                <a:gridCol w="1294161"/>
                <a:gridCol w="623120"/>
                <a:gridCol w="623120"/>
                <a:gridCol w="623120"/>
                <a:gridCol w="623120"/>
                <a:gridCol w="623120"/>
                <a:gridCol w="623120"/>
                <a:gridCol w="623120"/>
                <a:gridCol w="623120"/>
                <a:gridCol w="623120"/>
                <a:gridCol w="623120"/>
                <a:gridCol w="623120"/>
                <a:gridCol w="623120"/>
                <a:gridCol w="623120"/>
                <a:gridCol w="623120"/>
                <a:gridCol w="623120"/>
                <a:gridCol w="623120"/>
                <a:gridCol w="623120"/>
              </a:tblGrid>
              <a:tr h="246126">
                <a:tc>
                  <a:txBody>
                    <a:bodyPr wrap="none"/>
                    <a:lstStyle/>
                    <a:p>
                      <a:pPr algn="l"/>
                      <a:r>
                        <a:rPr sz="1100" b="1">
                          <a:solidFill>
                            <a:srgbClr val="0B2E4A"/>
                          </a:solidFill>
                          <a:latin typeface="Calibri"/>
                        </a:rPr>
                        <a:t>Patient Age Group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Adults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Geriatric Patients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571750"/>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6289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Patient Age Group (US$ Mn)</a:t>
            </a:r>
          </a:p>
        </p:txBody>
      </p:sp>
      <p:graphicFrame>
        <p:nvGraphicFramePr>
          <p:cNvPr id="17" name="Table 16"/>
          <p:cNvGraphicFramePr>
            <a:graphicFrameLocks noGrp="1"/>
          </p:cNvGraphicFramePr>
          <p:nvPr/>
        </p:nvGraphicFramePr>
        <p:xfrm>
          <a:off x="152400" y="2828925"/>
          <a:ext cx="11887195" cy="990600"/>
        </p:xfrm>
        <a:graphic>
          <a:graphicData uri="http://schemas.openxmlformats.org/drawingml/2006/table">
            <a:tbl>
              <a:tblPr>
                <a:tableStyleId>{5C22544A-7EE6-4342-B048-85BDC9FD1C3A}</a:tableStyleId>
              </a:tblPr>
              <a:tblGrid>
                <a:gridCol w="1355202"/>
                <a:gridCol w="619529"/>
                <a:gridCol w="619529"/>
                <a:gridCol w="619529"/>
                <a:gridCol w="619529"/>
                <a:gridCol w="619529"/>
                <a:gridCol w="619529"/>
                <a:gridCol w="619529"/>
                <a:gridCol w="619529"/>
                <a:gridCol w="619529"/>
                <a:gridCol w="619529"/>
                <a:gridCol w="619529"/>
                <a:gridCol w="619529"/>
                <a:gridCol w="619529"/>
                <a:gridCol w="619529"/>
                <a:gridCol w="619529"/>
                <a:gridCol w="619529"/>
                <a:gridCol w="619529"/>
              </a:tblGrid>
              <a:tr h="246126">
                <a:tc>
                  <a:txBody>
                    <a:bodyPr wrap="none"/>
                    <a:lstStyle/>
                    <a:p>
                      <a:pPr algn="l"/>
                      <a:r>
                        <a:rPr sz="1100" b="1">
                          <a:solidFill>
                            <a:srgbClr val="0B2E4A"/>
                          </a:solidFill>
                          <a:latin typeface="Calibri"/>
                        </a:rPr>
                        <a:t>Patient Age Group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Adults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Geriatric Patients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38290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556391" y="1589913"/>
            <a:ext cx="366712" cy="533400"/>
          </a:xfrm>
          <a:prstGeom prst="rect">
            <a:avLst/>
          </a:prstGeom>
        </p:spPr>
      </p:pic>
      <p:pic>
        <p:nvPicPr>
          <p:cNvPr id="21" name="Picture 20" descr="lock.png"/>
          <p:cNvPicPr>
            <a:picLocks noChangeAspect="1"/>
          </p:cNvPicPr>
          <p:nvPr/>
        </p:nvPicPr>
        <p:blipFill>
          <a:blip r:embed="rId4"/>
          <a:stretch>
            <a:fillRect/>
          </a:stretch>
        </p:blipFill>
        <p:spPr>
          <a:xfrm>
            <a:off x="6586908" y="3180587"/>
            <a:ext cx="366712" cy="533400"/>
          </a:xfrm>
          <a:prstGeom prst="rect">
            <a:avLst/>
          </a:prstGeom>
        </p:spPr>
      </p:pic>
    </p:spTree>
  </p:cSld>
  <p:clrMapOvr>
    <a:masterClrMapping/>
  </p:clrMapOvr>
</p:sld>
</file>

<file path=ppt/slides/slide2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YoY Analysis Patient Age Group</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year-on-year volume and value growth by Patient Age Group,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YoY, By Patient Age Group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742948"/>
        </p:xfrm>
        <a:graphic>
          <a:graphicData uri="http://schemas.openxmlformats.org/drawingml/2006/table">
            <a:tbl>
              <a:tblPr>
                <a:tableStyleId>{5C22544A-7EE6-4342-B048-85BDC9FD1C3A}</a:tableStyleId>
              </a:tblPr>
              <a:tblGrid>
                <a:gridCol w="1485619"/>
                <a:gridCol w="693439"/>
                <a:gridCol w="693439"/>
                <a:gridCol w="693439"/>
                <a:gridCol w="693439"/>
                <a:gridCol w="693439"/>
                <a:gridCol w="693439"/>
                <a:gridCol w="693439"/>
                <a:gridCol w="693439"/>
                <a:gridCol w="693439"/>
                <a:gridCol w="693439"/>
                <a:gridCol w="693439"/>
                <a:gridCol w="693439"/>
                <a:gridCol w="693439"/>
                <a:gridCol w="693439"/>
                <a:gridCol w="693439"/>
              </a:tblGrid>
              <a:tr h="246126">
                <a:tc>
                  <a:txBody>
                    <a:bodyPr wrap="none"/>
                    <a:lstStyle/>
                    <a:p>
                      <a:pPr algn="l"/>
                      <a:r>
                        <a:rPr sz="1100" b="1">
                          <a:solidFill>
                            <a:srgbClr val="0B2E4A"/>
                          </a:solidFill>
                          <a:latin typeface="Calibri"/>
                        </a:rPr>
                        <a:t>Patient Age Group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Adults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Geriatric Patients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19907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324100"/>
            <a:ext cx="11906250" cy="1209675"/>
          </a:xfrm>
          <a:prstGeom prst="roundRect">
            <a:avLst>
              <a:gd name="adj" fmla="val 629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3812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YoY, By Patient Age Group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581275"/>
          <a:ext cx="11887204" cy="742948"/>
        </p:xfrm>
        <a:graphic>
          <a:graphicData uri="http://schemas.openxmlformats.org/drawingml/2006/table">
            <a:tbl>
              <a:tblPr>
                <a:tableStyleId>{5C22544A-7EE6-4342-B048-85BDC9FD1C3A}</a:tableStyleId>
              </a:tblPr>
              <a:tblGrid>
                <a:gridCol w="1485619"/>
                <a:gridCol w="693439"/>
                <a:gridCol w="693439"/>
                <a:gridCol w="693439"/>
                <a:gridCol w="693439"/>
                <a:gridCol w="693439"/>
                <a:gridCol w="693439"/>
                <a:gridCol w="693439"/>
                <a:gridCol w="693439"/>
                <a:gridCol w="693439"/>
                <a:gridCol w="693439"/>
                <a:gridCol w="693439"/>
                <a:gridCol w="693439"/>
                <a:gridCol w="693439"/>
                <a:gridCol w="693439"/>
                <a:gridCol w="693439"/>
              </a:tblGrid>
              <a:tr h="246126">
                <a:tc>
                  <a:txBody>
                    <a:bodyPr wrap="none"/>
                    <a:lstStyle/>
                    <a:p>
                      <a:pPr algn="l"/>
                      <a:r>
                        <a:rPr sz="1100" b="1">
                          <a:solidFill>
                            <a:srgbClr val="0B2E4A"/>
                          </a:solidFill>
                          <a:latin typeface="Calibri"/>
                        </a:rPr>
                        <a:t>Patient Age Group</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411">
                <a:tc>
                  <a:txBody>
                    <a:bodyPr wrap="none"/>
                    <a:lstStyle/>
                    <a:p>
                      <a:pPr algn="l"/>
                      <a:r>
                        <a:rPr sz="1100" b="1">
                          <a:solidFill>
                            <a:srgbClr val="2E2E2E"/>
                          </a:solidFill>
                          <a:latin typeface="Calibri"/>
                        </a:rPr>
                        <a:t>Adults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411">
                <a:tc>
                  <a:txBody>
                    <a:bodyPr wrap="none"/>
                    <a:lstStyle/>
                    <a:p>
                      <a:pPr algn="l"/>
                      <a:r>
                        <a:rPr sz="1100" b="1">
                          <a:solidFill>
                            <a:srgbClr val="2E2E2E"/>
                          </a:solidFill>
                          <a:latin typeface="Calibri"/>
                        </a:rPr>
                        <a:t>Geriatric Patients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3333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670790" y="1482090"/>
            <a:ext cx="330041" cy="480060"/>
          </a:xfrm>
          <a:prstGeom prst="rect">
            <a:avLst/>
          </a:prstGeom>
        </p:spPr>
      </p:pic>
      <p:pic>
        <p:nvPicPr>
          <p:cNvPr id="21" name="Picture 20" descr="lock.png"/>
          <p:cNvPicPr>
            <a:picLocks noChangeAspect="1"/>
          </p:cNvPicPr>
          <p:nvPr/>
        </p:nvPicPr>
        <p:blipFill>
          <a:blip r:embed="rId4"/>
          <a:stretch>
            <a:fillRect/>
          </a:stretch>
        </p:blipFill>
        <p:spPr>
          <a:xfrm>
            <a:off x="6670790" y="2825115"/>
            <a:ext cx="330041" cy="480060"/>
          </a:xfrm>
          <a:prstGeom prst="rect">
            <a:avLst/>
          </a:prstGeom>
        </p:spPr>
      </p:pic>
    </p:spTree>
  </p:cSld>
  <p:clrMapOvr>
    <a:masterClrMapping/>
  </p:clrMapOvr>
</p:sld>
</file>

<file path=ppt/slides/slide23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94957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292475"/>
            <a:ext cx="8572500" cy="514350"/>
          </a:xfrm>
          <a:prstGeom prst="rect">
            <a:avLst/>
          </a:prstGeom>
          <a:noFill/>
        </p:spPr>
        <p:txBody>
          <a:bodyPr wrap="square" lIns="0" rIns="0" tIns="0">
            <a:spAutoFit/>
          </a:bodyPr>
          <a:lstStyle/>
          <a:p>
            <a:r>
              <a:rPr sz="3000" b="1">
                <a:solidFill>
                  <a:srgbClr val="0B3C8C"/>
                </a:solidFill>
                <a:latin typeface="Calibri"/>
              </a:rPr>
              <a:t>Cross-sectional Assessment</a:t>
            </a:r>
          </a:p>
        </p:txBody>
      </p:sp>
      <p:sp>
        <p:nvSpPr>
          <p:cNvPr id="11" name="TextBox 10"/>
          <p:cNvSpPr txBox="1"/>
          <p:nvPr/>
        </p:nvSpPr>
        <p:spPr>
          <a:xfrm>
            <a:off x="914400" y="3978275"/>
            <a:ext cx="8458200" cy="8826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Type x Material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Type x Technology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15.1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Product Type x Material Type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Market Snapshot: Product Type × Material Type, 2026E vs 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market value (US$ Mn) for each product type sub-segment across material type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390775"/>
          </a:xfrm>
          <a:prstGeom prst="roundRect">
            <a:avLst>
              <a:gd name="adj" fmla="val 31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Market Value, Product Type × Material Type, 2026E and 2036F (US$ Mn)</a:t>
            </a:r>
          </a:p>
        </p:txBody>
      </p:sp>
      <p:graphicFrame>
        <p:nvGraphicFramePr>
          <p:cNvPr id="13" name="Table 12"/>
          <p:cNvGraphicFramePr>
            <a:graphicFrameLocks noGrp="1"/>
          </p:cNvGraphicFramePr>
          <p:nvPr/>
        </p:nvGraphicFramePr>
        <p:xfrm>
          <a:off x="152400" y="1238250"/>
          <a:ext cx="11887198" cy="1924050"/>
        </p:xfrm>
        <a:graphic>
          <a:graphicData uri="http://schemas.openxmlformats.org/drawingml/2006/table">
            <a:tbl>
              <a:tblPr>
                <a:tableStyleId>{5C22544A-7EE6-4342-B048-85BDC9FD1C3A}</a:tableStyleId>
              </a:tblPr>
              <a:tblGrid>
                <a:gridCol w="4236748"/>
                <a:gridCol w="765045"/>
                <a:gridCol w="765045"/>
                <a:gridCol w="765045"/>
                <a:gridCol w="765045"/>
                <a:gridCol w="765045"/>
                <a:gridCol w="765045"/>
                <a:gridCol w="765045"/>
                <a:gridCol w="765045"/>
                <a:gridCol w="765045"/>
                <a:gridCol w="765045"/>
              </a:tblGrid>
              <a:tr h="438912">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Metal Alloys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Acrylic / Resin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Flexible Thermoplastics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High-performance</a:t>
                      </a:r>
                      <a:endParaRPr sz="1100"/>
                    </a:p>
                    <a:p>
                      <a:pPr algn="ctr"/>
                      <a:r>
                        <a:rPr sz="1100" b="1">
                          <a:solidFill>
                            <a:srgbClr val="0B2E4A"/>
                          </a:solidFill>
                          <a:latin typeface="Calibri"/>
                        </a:rPr>
                        <a:t>Polymers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7523">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7523">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23">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23">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23">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23">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71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05200"/>
            <a:ext cx="11906250" cy="3124200"/>
          </a:xfrm>
          <a:prstGeom prst="roundRect">
            <a:avLst>
              <a:gd name="adj" fmla="val 24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590925"/>
            <a:ext cx="116395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17" name="Rectangle 16"/>
          <p:cNvSpPr/>
          <p:nvPr/>
        </p:nvSpPr>
        <p:spPr>
          <a:xfrm>
            <a:off x="276225" y="38290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14775"/>
            <a:ext cx="11639550" cy="26384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8027682" y="2276792"/>
            <a:ext cx="366712" cy="533400"/>
          </a:xfrm>
          <a:prstGeom prst="rect">
            <a:avLst/>
          </a:prstGeom>
        </p:spPr>
      </p:pic>
      <p:sp>
        <p:nvSpPr>
          <p:cNvPr id="21" name="TextBox 20"/>
          <p:cNvSpPr txBox="1"/>
          <p:nvPr/>
        </p:nvSpPr>
        <p:spPr>
          <a:xfrm>
            <a:off x="276225" y="3924300"/>
            <a:ext cx="10166771" cy="194310"/>
          </a:xfrm>
          <a:prstGeom prst="rect">
            <a:avLst/>
          </a:prstGeom>
          <a:noFill/>
        </p:spPr>
        <p:txBody>
          <a:bodyPr wrap="none" lIns="0" rIns="0" tIns="0" bIns="0">
            <a:spAutoFit/>
          </a:bodyPr>
          <a:lstStyle/>
          <a:p>
            <a:r>
              <a:rPr sz="1150" b="0">
                <a:solidFill>
                  <a:srgbClr val="2E2E2E"/>
                </a:solidFill>
                <a:latin typeface="Calibri"/>
              </a:rPr>
              <a:t>Cast metal partial dentures segment is projected to account for the largest share of the U.S. removable partial dentures market, led by high-performance polymers at US$</a:t>
            </a:r>
          </a:p>
        </p:txBody>
      </p:sp>
      <p:pic>
        <p:nvPicPr>
          <p:cNvPr id="22" name="Picture 21" descr="lock.png"/>
          <p:cNvPicPr>
            <a:picLocks noChangeAspect="1"/>
          </p:cNvPicPr>
          <p:nvPr/>
        </p:nvPicPr>
        <p:blipFill>
          <a:blip r:embed="rId4"/>
          <a:stretch>
            <a:fillRect/>
          </a:stretch>
        </p:blipFill>
        <p:spPr>
          <a:xfrm>
            <a:off x="10392150" y="3914076"/>
            <a:ext cx="134549" cy="195707"/>
          </a:xfrm>
          <a:prstGeom prst="rect">
            <a:avLst/>
          </a:prstGeom>
        </p:spPr>
      </p:pic>
      <p:sp>
        <p:nvSpPr>
          <p:cNvPr id="23" name="TextBox 22"/>
          <p:cNvSpPr txBox="1"/>
          <p:nvPr/>
        </p:nvSpPr>
        <p:spPr>
          <a:xfrm>
            <a:off x="10567259" y="3924300"/>
            <a:ext cx="1246026" cy="194310"/>
          </a:xfrm>
          <a:prstGeom prst="rect">
            <a:avLst/>
          </a:prstGeom>
          <a:noFill/>
        </p:spPr>
        <p:txBody>
          <a:bodyPr wrap="none" lIns="0" rIns="0" tIns="0" bIns="0">
            <a:spAutoFit/>
          </a:bodyPr>
          <a:lstStyle/>
          <a:p>
            <a:r>
              <a:rPr sz="1150" b="0">
                <a:solidFill>
                  <a:srgbClr val="2E2E2E"/>
                </a:solidFill>
                <a:latin typeface="Calibri"/>
              </a:rPr>
              <a:t>Mn in 2036. 'Acrylic</a:t>
            </a:r>
          </a:p>
        </p:txBody>
      </p:sp>
      <p:sp>
        <p:nvSpPr>
          <p:cNvPr id="24" name="TextBox 23"/>
          <p:cNvSpPr txBox="1"/>
          <p:nvPr/>
        </p:nvSpPr>
        <p:spPr>
          <a:xfrm>
            <a:off x="276225" y="4099560"/>
            <a:ext cx="5270673" cy="194310"/>
          </a:xfrm>
          <a:prstGeom prst="rect">
            <a:avLst/>
          </a:prstGeom>
          <a:noFill/>
        </p:spPr>
        <p:txBody>
          <a:bodyPr wrap="none" lIns="0" rIns="0" tIns="0" bIns="0">
            <a:spAutoFit/>
          </a:bodyPr>
          <a:lstStyle/>
          <a:p>
            <a:r>
              <a:rPr sz="1150" b="0">
                <a:solidFill>
                  <a:srgbClr val="2E2E2E"/>
                </a:solidFill>
                <a:latin typeface="Calibri"/>
              </a:rPr>
              <a:t>Partial Dentures × High-performance Polymers' is the single largest cross-sectional cell (</a:t>
            </a:r>
          </a:p>
        </p:txBody>
      </p:sp>
      <p:pic>
        <p:nvPicPr>
          <p:cNvPr id="25" name="Picture 24" descr="lock.png"/>
          <p:cNvPicPr>
            <a:picLocks noChangeAspect="1"/>
          </p:cNvPicPr>
          <p:nvPr/>
        </p:nvPicPr>
        <p:blipFill>
          <a:blip r:embed="rId4"/>
          <a:stretch>
            <a:fillRect/>
          </a:stretch>
        </p:blipFill>
        <p:spPr>
          <a:xfrm>
            <a:off x="5496052" y="4089336"/>
            <a:ext cx="134549" cy="195707"/>
          </a:xfrm>
          <a:prstGeom prst="rect">
            <a:avLst/>
          </a:prstGeom>
        </p:spPr>
      </p:pic>
      <p:sp>
        <p:nvSpPr>
          <p:cNvPr id="26" name="TextBox 25"/>
          <p:cNvSpPr txBox="1"/>
          <p:nvPr/>
        </p:nvSpPr>
        <p:spPr>
          <a:xfrm>
            <a:off x="5671161" y="4099560"/>
            <a:ext cx="5823210" cy="194310"/>
          </a:xfrm>
          <a:prstGeom prst="rect">
            <a:avLst/>
          </a:prstGeom>
          <a:noFill/>
        </p:spPr>
        <p:txBody>
          <a:bodyPr wrap="none" lIns="0" rIns="0" tIns="0" bIns="0">
            <a:spAutoFit/>
          </a:bodyPr>
          <a:lstStyle/>
          <a:p>
            <a:r>
              <a:rPr sz="1150" b="0">
                <a:solidFill>
                  <a:srgbClr val="2E2E2E"/>
                </a:solidFill>
                <a:latin typeface="Calibri"/>
              </a:rPr>
              <a:t>US$ Mn, 2026E), while 'Cast Metal Partial Dentures × Flexible Thermoplastics' records the fastest</a:t>
            </a:r>
          </a:p>
        </p:txBody>
      </p:sp>
      <p:sp>
        <p:nvSpPr>
          <p:cNvPr id="27" name="TextBox 26"/>
          <p:cNvSpPr txBox="1"/>
          <p:nvPr/>
        </p:nvSpPr>
        <p:spPr>
          <a:xfrm>
            <a:off x="276225" y="4274820"/>
            <a:ext cx="1279668" cy="194310"/>
          </a:xfrm>
          <a:prstGeom prst="rect">
            <a:avLst/>
          </a:prstGeom>
          <a:noFill/>
        </p:spPr>
        <p:txBody>
          <a:bodyPr wrap="none" lIns="0" rIns="0" tIns="0" bIns="0">
            <a:spAutoFit/>
          </a:bodyPr>
          <a:lstStyle/>
          <a:p>
            <a:r>
              <a:rPr sz="1150" b="0">
                <a:solidFill>
                  <a:srgbClr val="2E2E2E"/>
                </a:solidFill>
                <a:latin typeface="Calibri"/>
              </a:rPr>
              <a:t>growth at a CAGR of</a:t>
            </a:r>
          </a:p>
        </p:txBody>
      </p:sp>
      <p:pic>
        <p:nvPicPr>
          <p:cNvPr id="28" name="Picture 27" descr="lock.png"/>
          <p:cNvPicPr>
            <a:picLocks noChangeAspect="1"/>
          </p:cNvPicPr>
          <p:nvPr/>
        </p:nvPicPr>
        <p:blipFill>
          <a:blip r:embed="rId4"/>
          <a:stretch>
            <a:fillRect/>
          </a:stretch>
        </p:blipFill>
        <p:spPr>
          <a:xfrm>
            <a:off x="1505047" y="4264596"/>
            <a:ext cx="134549" cy="195707"/>
          </a:xfrm>
          <a:prstGeom prst="rect">
            <a:avLst/>
          </a:prstGeom>
        </p:spPr>
      </p:pic>
      <p:sp>
        <p:nvSpPr>
          <p:cNvPr id="29" name="TextBox 28"/>
          <p:cNvSpPr txBox="1"/>
          <p:nvPr/>
        </p:nvSpPr>
        <p:spPr>
          <a:xfrm>
            <a:off x="1680156" y="4274820"/>
            <a:ext cx="1217001" cy="194310"/>
          </a:xfrm>
          <a:prstGeom prst="rect">
            <a:avLst/>
          </a:prstGeom>
          <a:noFill/>
        </p:spPr>
        <p:txBody>
          <a:bodyPr wrap="none" lIns="0" rIns="0" tIns="0" bIns="0">
            <a:spAutoFit/>
          </a:bodyPr>
          <a:lstStyle/>
          <a:p>
            <a:r>
              <a:rPr sz="1150" b="0">
                <a:solidFill>
                  <a:srgbClr val="2E2E2E"/>
                </a:solidFill>
                <a:latin typeface="Calibri"/>
              </a:rPr>
              <a:t>over 2026E–2036F.</a:t>
            </a:r>
          </a:p>
        </p:txBody>
      </p:sp>
      <p:sp>
        <p:nvSpPr>
          <p:cNvPr id="30" name="TextBox 29"/>
          <p:cNvSpPr txBox="1"/>
          <p:nvPr/>
        </p:nvSpPr>
        <p:spPr>
          <a:xfrm>
            <a:off x="276225" y="4502657"/>
            <a:ext cx="5866854" cy="194310"/>
          </a:xfrm>
          <a:prstGeom prst="rect">
            <a:avLst/>
          </a:prstGeom>
          <a:noFill/>
        </p:spPr>
        <p:txBody>
          <a:bodyPr wrap="none" lIns="0" rIns="0" tIns="0" bIns="0">
            <a:spAutoFit/>
          </a:bodyPr>
          <a:lstStyle/>
          <a:p>
            <a:r>
              <a:rPr sz="1150" b="0">
                <a:solidFill>
                  <a:srgbClr val="2E2E2E"/>
                </a:solidFill>
                <a:latin typeface="Calibri"/>
              </a:rPr>
              <a:t>Combined, the top three product type × material type cells generate an absolute $ opportunity of</a:t>
            </a:r>
          </a:p>
        </p:txBody>
      </p:sp>
      <p:pic>
        <p:nvPicPr>
          <p:cNvPr id="31" name="Picture 30" descr="lock.png"/>
          <p:cNvPicPr>
            <a:picLocks noChangeAspect="1"/>
          </p:cNvPicPr>
          <p:nvPr/>
        </p:nvPicPr>
        <p:blipFill>
          <a:blip r:embed="rId4"/>
          <a:stretch>
            <a:fillRect/>
          </a:stretch>
        </p:blipFill>
        <p:spPr>
          <a:xfrm>
            <a:off x="6092233" y="4492434"/>
            <a:ext cx="134549" cy="195707"/>
          </a:xfrm>
          <a:prstGeom prst="rect">
            <a:avLst/>
          </a:prstGeom>
        </p:spPr>
      </p:pic>
      <p:sp>
        <p:nvSpPr>
          <p:cNvPr id="32" name="TextBox 31"/>
          <p:cNvSpPr txBox="1"/>
          <p:nvPr/>
        </p:nvSpPr>
        <p:spPr>
          <a:xfrm>
            <a:off x="6267342" y="4502657"/>
            <a:ext cx="1155386" cy="194310"/>
          </a:xfrm>
          <a:prstGeom prst="rect">
            <a:avLst/>
          </a:prstGeom>
          <a:noFill/>
        </p:spPr>
        <p:txBody>
          <a:bodyPr wrap="none" lIns="0" rIns="0" tIns="0" bIns="0">
            <a:spAutoFit/>
          </a:bodyPr>
          <a:lstStyle/>
          <a:p>
            <a:r>
              <a:rPr sz="1150" b="0">
                <a:solidFill>
                  <a:srgbClr val="2E2E2E"/>
                </a:solidFill>
                <a:latin typeface="Calibri"/>
              </a:rPr>
              <a:t>US$ Mn by 2036F.</a:t>
            </a:r>
          </a:p>
        </p:txBody>
      </p:sp>
    </p:spTree>
  </p:cSld>
  <p:clrMapOvr>
    <a:masterClrMapping/>
  </p:clrMapOvr>
</p:sld>
</file>

<file path=ppt/slides/slide2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Market Share Analysis: Product Type × Material Type, 2026E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U.S. market value, each row split across all material type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581275"/>
          </a:xfrm>
          <a:prstGeom prst="roundRect">
            <a:avLst>
              <a:gd name="adj" fmla="val 29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Share, Product Type × Material Type, 2026E (% of each row)</a:t>
            </a:r>
          </a:p>
        </p:txBody>
      </p:sp>
      <p:graphicFrame>
        <p:nvGraphicFramePr>
          <p:cNvPr id="13" name="Table 12"/>
          <p:cNvGraphicFramePr>
            <a:graphicFrameLocks noGrp="1"/>
          </p:cNvGraphicFramePr>
          <p:nvPr/>
        </p:nvGraphicFramePr>
        <p:xfrm>
          <a:off x="152400" y="1238250"/>
          <a:ext cx="11887201" cy="2114550"/>
        </p:xfrm>
        <a:graphic>
          <a:graphicData uri="http://schemas.openxmlformats.org/drawingml/2006/table">
            <a:tbl>
              <a:tblPr>
                <a:tableStyleId>{5C22544A-7EE6-4342-B048-85BDC9FD1C3A}</a:tableStyleId>
              </a:tblPr>
              <a:tblGrid>
                <a:gridCol w="2604064"/>
                <a:gridCol w="1147040"/>
                <a:gridCol w="835084"/>
                <a:gridCol w="524185"/>
                <a:gridCol w="1119518"/>
                <a:gridCol w="975718"/>
                <a:gridCol w="1359322"/>
                <a:gridCol w="1039532"/>
                <a:gridCol w="1738932"/>
                <a:gridCol w="543806"/>
              </a:tblGrid>
              <a:tr h="246126">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Metal Alloys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Acrylic / Resin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Flexible Thermoplastics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High-performance Polymers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632714">
                <a:tc vMerge="1">
                  <a:txBody>
                    <a:bodyPr wrap="none"/>
                    <a:lstStyle/>
                    <a:p>
                      <a:pPr algn="l"/>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Cobalt-Chromium Alloys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Titanium Alloys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PMMA</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Printable Denture Resins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Polyamide / Nylon</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Other Thermoplastic Resins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PEEK-based Materials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Other High-performance Dental Polymers</a:t>
                      </a:r>
                      <a:endParaRPr sz="1100"/>
                    </a:p>
                  </a:txBody>
                  <a:tcPr marL="47625" marR="38100" marT="19050" marB="19050" anchor="ctr">
                    <a:solidFill>
                      <a:srgbClr val="E0E8EF"/>
                    </a:solidFill>
                  </a:tcPr>
                </a:tc>
                <a:tc>
                  <a:txBody>
                    <a:bodyPr wrap="none"/>
                    <a:lstStyle/>
                    <a:p>
                      <a:pPr algn="ctr"/>
                      <a:endParaRPr sz="1100"/>
                    </a:p>
                  </a:txBody>
                  <a:tcPr marL="47625" marR="38100" marT="19050" marB="19050" anchor="ctr">
                    <a:solidFill>
                      <a:srgbClr val="E0E8EF"/>
                    </a:solidFill>
                  </a:tcPr>
                </a:tc>
              </a:tr>
              <a:tr h="247142">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142">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142">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142">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142">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3623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695700"/>
            <a:ext cx="7286625"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752850"/>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Material Type Mix by Product Type, 2026E (% share)</a:t>
            </a:r>
          </a:p>
        </p:txBody>
      </p:sp>
      <p:graphicFrame>
        <p:nvGraphicFramePr>
          <p:cNvPr id="17" name="Chart 16"/>
          <p:cNvGraphicFramePr>
            <a:graphicFrameLocks noGrp="1"/>
          </p:cNvGraphicFramePr>
          <p:nvPr/>
        </p:nvGraphicFramePr>
        <p:xfrm>
          <a:off x="238125" y="3981450"/>
          <a:ext cx="7096125" cy="2590800"/>
        </p:xfrm>
        <a:graphic>
          <a:graphicData uri="http://schemas.openxmlformats.org/drawingml/2006/chart">
            <c:chart xmlns:c="http://schemas.openxmlformats.org/drawingml/2006/chart" r:id="rId3"/>
          </a:graphicData>
        </a:graphic>
      </p:graphicFrame>
      <p:sp>
        <p:nvSpPr>
          <p:cNvPr id="18" name="Rounded Rectangle 17"/>
          <p:cNvSpPr/>
          <p:nvPr/>
        </p:nvSpPr>
        <p:spPr>
          <a:xfrm>
            <a:off x="7581900" y="3695700"/>
            <a:ext cx="445770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7715250" y="3781425"/>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20" name="Rectangle 19"/>
          <p:cNvSpPr/>
          <p:nvPr/>
        </p:nvSpPr>
        <p:spPr>
          <a:xfrm>
            <a:off x="7715250" y="4019550"/>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7715250" y="4105275"/>
            <a:ext cx="4191000" cy="24479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5"/>
          <a:stretch>
            <a:fillRect/>
          </a:stretch>
        </p:blipFill>
        <p:spPr>
          <a:xfrm>
            <a:off x="7211342" y="2468245"/>
            <a:ext cx="366712" cy="533400"/>
          </a:xfrm>
          <a:prstGeom prst="rect">
            <a:avLst/>
          </a:prstGeom>
        </p:spPr>
      </p:pic>
      <p:pic>
        <p:nvPicPr>
          <p:cNvPr id="24" name="Picture 23" descr="lock.png"/>
          <p:cNvPicPr>
            <a:picLocks noChangeAspect="1"/>
          </p:cNvPicPr>
          <p:nvPr/>
        </p:nvPicPr>
        <p:blipFill>
          <a:blip r:embed="rId5"/>
          <a:stretch>
            <a:fillRect/>
          </a:stretch>
        </p:blipFill>
        <p:spPr>
          <a:xfrm>
            <a:off x="3755735" y="4509229"/>
            <a:ext cx="349819" cy="508827"/>
          </a:xfrm>
          <a:prstGeom prst="rect">
            <a:avLst/>
          </a:prstGeom>
        </p:spPr>
      </p:pic>
      <p:sp>
        <p:nvSpPr>
          <p:cNvPr id="25" name="TextBox 24"/>
          <p:cNvSpPr txBox="1"/>
          <p:nvPr/>
        </p:nvSpPr>
        <p:spPr>
          <a:xfrm>
            <a:off x="7715250" y="4114800"/>
            <a:ext cx="3955332" cy="194310"/>
          </a:xfrm>
          <a:prstGeom prst="rect">
            <a:avLst/>
          </a:prstGeom>
          <a:noFill/>
        </p:spPr>
        <p:txBody>
          <a:bodyPr wrap="none" lIns="0" rIns="0" tIns="0" bIns="0">
            <a:spAutoFit/>
          </a:bodyPr>
          <a:lstStyle/>
          <a:p>
            <a:r>
              <a:rPr sz="1150" b="0">
                <a:solidFill>
                  <a:srgbClr val="2E2E2E"/>
                </a:solidFill>
                <a:latin typeface="Calibri"/>
              </a:rPr>
              <a:t>▪ 'PEEK-based Materials' holds the highest share of 'Acrylic Partial</a:t>
            </a:r>
          </a:p>
        </p:txBody>
      </p:sp>
      <p:sp>
        <p:nvSpPr>
          <p:cNvPr id="26" name="TextBox 25"/>
          <p:cNvSpPr txBox="1"/>
          <p:nvPr/>
        </p:nvSpPr>
        <p:spPr>
          <a:xfrm>
            <a:off x="7715250" y="4290060"/>
            <a:ext cx="806449" cy="194310"/>
          </a:xfrm>
          <a:prstGeom prst="rect">
            <a:avLst/>
          </a:prstGeom>
          <a:noFill/>
        </p:spPr>
        <p:txBody>
          <a:bodyPr wrap="none" lIns="0" rIns="0" tIns="0" bIns="0">
            <a:spAutoFit/>
          </a:bodyPr>
          <a:lstStyle/>
          <a:p>
            <a:r>
              <a:rPr sz="1150" b="0">
                <a:solidFill>
                  <a:srgbClr val="2E2E2E"/>
                </a:solidFill>
                <a:latin typeface="Calibri"/>
              </a:rPr>
              <a:t>Dentures' at</a:t>
            </a:r>
          </a:p>
        </p:txBody>
      </p:sp>
      <p:pic>
        <p:nvPicPr>
          <p:cNvPr id="27" name="Picture 26" descr="lock.png"/>
          <p:cNvPicPr>
            <a:picLocks noChangeAspect="1"/>
          </p:cNvPicPr>
          <p:nvPr/>
        </p:nvPicPr>
        <p:blipFill>
          <a:blip r:embed="rId5"/>
          <a:stretch>
            <a:fillRect/>
          </a:stretch>
        </p:blipFill>
        <p:spPr>
          <a:xfrm>
            <a:off x="8470853" y="4279836"/>
            <a:ext cx="134549" cy="195707"/>
          </a:xfrm>
          <a:prstGeom prst="rect">
            <a:avLst/>
          </a:prstGeom>
        </p:spPr>
      </p:pic>
      <p:sp>
        <p:nvSpPr>
          <p:cNvPr id="28" name="TextBox 27"/>
          <p:cNvSpPr txBox="1"/>
          <p:nvPr/>
        </p:nvSpPr>
        <p:spPr>
          <a:xfrm>
            <a:off x="8645963" y="4290060"/>
            <a:ext cx="569404" cy="194310"/>
          </a:xfrm>
          <a:prstGeom prst="rect">
            <a:avLst/>
          </a:prstGeom>
          <a:noFill/>
        </p:spPr>
        <p:txBody>
          <a:bodyPr wrap="none" lIns="0" rIns="0" tIns="0" bIns="0">
            <a:spAutoFit/>
          </a:bodyPr>
          <a:lstStyle/>
          <a:p>
            <a:r>
              <a:rPr sz="1150" b="0">
                <a:solidFill>
                  <a:srgbClr val="2E2E2E"/>
                </a:solidFill>
                <a:latin typeface="Calibri"/>
              </a:rPr>
              <a:t>(2026E).</a:t>
            </a:r>
          </a:p>
        </p:txBody>
      </p:sp>
      <p:sp>
        <p:nvSpPr>
          <p:cNvPr id="29" name="TextBox 28"/>
          <p:cNvSpPr txBox="1"/>
          <p:nvPr/>
        </p:nvSpPr>
        <p:spPr>
          <a:xfrm>
            <a:off x="7715250" y="4517897"/>
            <a:ext cx="3930265" cy="194310"/>
          </a:xfrm>
          <a:prstGeom prst="rect">
            <a:avLst/>
          </a:prstGeom>
          <a:noFill/>
        </p:spPr>
        <p:txBody>
          <a:bodyPr wrap="none" lIns="0" rIns="0" tIns="0" bIns="0">
            <a:spAutoFit/>
          </a:bodyPr>
          <a:lstStyle/>
          <a:p>
            <a:r>
              <a:rPr sz="1150" b="0">
                <a:solidFill>
                  <a:srgbClr val="2E2E2E"/>
                </a:solidFill>
                <a:latin typeface="Calibri"/>
              </a:rPr>
              <a:t>▪ 'Acrylic Partial Dentures' is the most concentrated product type</a:t>
            </a:r>
          </a:p>
        </p:txBody>
      </p:sp>
      <p:sp>
        <p:nvSpPr>
          <p:cNvPr id="30" name="TextBox 29"/>
          <p:cNvSpPr txBox="1"/>
          <p:nvPr/>
        </p:nvSpPr>
        <p:spPr>
          <a:xfrm>
            <a:off x="7715250" y="4693157"/>
            <a:ext cx="1178706" cy="194310"/>
          </a:xfrm>
          <a:prstGeom prst="rect">
            <a:avLst/>
          </a:prstGeom>
          <a:noFill/>
        </p:spPr>
        <p:txBody>
          <a:bodyPr wrap="none" lIns="0" rIns="0" tIns="0" bIns="0">
            <a:spAutoFit/>
          </a:bodyPr>
          <a:lstStyle/>
          <a:p>
            <a:r>
              <a:rPr sz="1150" b="0">
                <a:solidFill>
                  <a:srgbClr val="2E2E2E"/>
                </a:solidFill>
                <a:latin typeface="Calibri"/>
              </a:rPr>
              <a:t>sub-segment, with</a:t>
            </a:r>
          </a:p>
        </p:txBody>
      </p:sp>
      <p:pic>
        <p:nvPicPr>
          <p:cNvPr id="31" name="Picture 30" descr="lock.png"/>
          <p:cNvPicPr>
            <a:picLocks noChangeAspect="1"/>
          </p:cNvPicPr>
          <p:nvPr/>
        </p:nvPicPr>
        <p:blipFill>
          <a:blip r:embed="rId5"/>
          <a:stretch>
            <a:fillRect/>
          </a:stretch>
        </p:blipFill>
        <p:spPr>
          <a:xfrm>
            <a:off x="8843110" y="4682934"/>
            <a:ext cx="134549" cy="195707"/>
          </a:xfrm>
          <a:prstGeom prst="rect">
            <a:avLst/>
          </a:prstGeom>
        </p:spPr>
      </p:pic>
      <p:sp>
        <p:nvSpPr>
          <p:cNvPr id="32" name="TextBox 31"/>
          <p:cNvSpPr txBox="1"/>
          <p:nvPr/>
        </p:nvSpPr>
        <p:spPr>
          <a:xfrm>
            <a:off x="9018219" y="4693157"/>
            <a:ext cx="2346500" cy="194310"/>
          </a:xfrm>
          <a:prstGeom prst="rect">
            <a:avLst/>
          </a:prstGeom>
          <a:noFill/>
        </p:spPr>
        <p:txBody>
          <a:bodyPr wrap="none" lIns="0" rIns="0" tIns="0" bIns="0">
            <a:spAutoFit/>
          </a:bodyPr>
          <a:lstStyle/>
          <a:p>
            <a:r>
              <a:rPr sz="1150" b="0">
                <a:solidFill>
                  <a:srgbClr val="2E2E2E"/>
                </a:solidFill>
                <a:latin typeface="Calibri"/>
              </a:rPr>
              <a:t>of its value via 'PEEK-based Materials'.</a:t>
            </a:r>
          </a:p>
        </p:txBody>
      </p:sp>
      <p:sp>
        <p:nvSpPr>
          <p:cNvPr id="33" name="TextBox 32"/>
          <p:cNvSpPr txBox="1"/>
          <p:nvPr/>
        </p:nvSpPr>
        <p:spPr>
          <a:xfrm>
            <a:off x="7715250" y="4920995"/>
            <a:ext cx="2306885" cy="194310"/>
          </a:xfrm>
          <a:prstGeom prst="rect">
            <a:avLst/>
          </a:prstGeom>
          <a:noFill/>
        </p:spPr>
        <p:txBody>
          <a:bodyPr wrap="none" lIns="0" rIns="0" tIns="0" bIns="0">
            <a:spAutoFit/>
          </a:bodyPr>
          <a:lstStyle/>
          <a:p>
            <a:r>
              <a:rPr sz="1150" b="0">
                <a:solidFill>
                  <a:srgbClr val="2E2E2E"/>
                </a:solidFill>
                <a:latin typeface="Calibri"/>
              </a:rPr>
              <a:t>▪ 'Other Thermoplastic Resins' gains +</a:t>
            </a:r>
          </a:p>
        </p:txBody>
      </p:sp>
      <p:pic>
        <p:nvPicPr>
          <p:cNvPr id="34" name="Picture 33" descr="lock.png"/>
          <p:cNvPicPr>
            <a:picLocks noChangeAspect="1"/>
          </p:cNvPicPr>
          <p:nvPr/>
        </p:nvPicPr>
        <p:blipFill>
          <a:blip r:embed="rId5"/>
          <a:stretch>
            <a:fillRect/>
          </a:stretch>
        </p:blipFill>
        <p:spPr>
          <a:xfrm>
            <a:off x="9971289" y="4910772"/>
            <a:ext cx="134549" cy="195707"/>
          </a:xfrm>
          <a:prstGeom prst="rect">
            <a:avLst/>
          </a:prstGeom>
        </p:spPr>
      </p:pic>
      <p:sp>
        <p:nvSpPr>
          <p:cNvPr id="35" name="TextBox 34"/>
          <p:cNvSpPr txBox="1"/>
          <p:nvPr/>
        </p:nvSpPr>
        <p:spPr>
          <a:xfrm>
            <a:off x="10146398" y="4920995"/>
            <a:ext cx="1467383" cy="194310"/>
          </a:xfrm>
          <a:prstGeom prst="rect">
            <a:avLst/>
          </a:prstGeom>
          <a:noFill/>
        </p:spPr>
        <p:txBody>
          <a:bodyPr wrap="none" lIns="0" rIns="0" tIns="0" bIns="0">
            <a:spAutoFit/>
          </a:bodyPr>
          <a:lstStyle/>
          <a:p>
            <a:r>
              <a:rPr sz="1150" b="0">
                <a:solidFill>
                  <a:srgbClr val="2E2E2E"/>
                </a:solidFill>
                <a:latin typeface="Calibri"/>
              </a:rPr>
              <a:t>BPS of share of the U.S.</a:t>
            </a:r>
          </a:p>
        </p:txBody>
      </p:sp>
      <p:sp>
        <p:nvSpPr>
          <p:cNvPr id="36" name="TextBox 35"/>
          <p:cNvSpPr txBox="1"/>
          <p:nvPr/>
        </p:nvSpPr>
        <p:spPr>
          <a:xfrm>
            <a:off x="7715250" y="5096255"/>
            <a:ext cx="1462605" cy="194310"/>
          </a:xfrm>
          <a:prstGeom prst="rect">
            <a:avLst/>
          </a:prstGeom>
          <a:noFill/>
        </p:spPr>
        <p:txBody>
          <a:bodyPr wrap="none" lIns="0" rIns="0" tIns="0" bIns="0">
            <a:spAutoFit/>
          </a:bodyPr>
          <a:lstStyle/>
          <a:p>
            <a:r>
              <a:rPr sz="1150" b="0">
                <a:solidFill>
                  <a:srgbClr val="2E2E2E"/>
                </a:solidFill>
                <a:latin typeface="Calibri"/>
              </a:rPr>
              <a:t>cross-section by 2036F.</a:t>
            </a:r>
          </a:p>
        </p:txBody>
      </p:sp>
      <p:sp>
        <p:nvSpPr>
          <p:cNvPr id="37" name="lockshield_17"/>
          <p:cNvSpPr/>
          <p:nvPr/>
        </p:nvSpPr>
        <p:spPr>
          <a:xfrm>
            <a:off x="238125" y="3981450"/>
            <a:ext cx="7096125" cy="25908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Absolute $ Opportunity &amp; Attractiveness: Product Type × Material Type, 2026E–2036F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390775"/>
          </a:xfrm>
          <a:prstGeom prst="roundRect">
            <a:avLst>
              <a:gd name="adj" fmla="val 31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Product Type × Material Type, 2026E–2036F</a:t>
            </a:r>
          </a:p>
        </p:txBody>
      </p:sp>
      <p:graphicFrame>
        <p:nvGraphicFramePr>
          <p:cNvPr id="13" name="Table 12"/>
          <p:cNvGraphicFramePr>
            <a:graphicFrameLocks noGrp="1"/>
          </p:cNvGraphicFramePr>
          <p:nvPr/>
        </p:nvGraphicFramePr>
        <p:xfrm>
          <a:off x="152400" y="1238250"/>
          <a:ext cx="11887198" cy="1924050"/>
        </p:xfrm>
        <a:graphic>
          <a:graphicData uri="http://schemas.openxmlformats.org/drawingml/2006/table">
            <a:tbl>
              <a:tblPr>
                <a:tableStyleId>{5C22544A-7EE6-4342-B048-85BDC9FD1C3A}</a:tableStyleId>
              </a:tblPr>
              <a:tblGrid>
                <a:gridCol w="3680728"/>
                <a:gridCol w="820647"/>
                <a:gridCol w="820647"/>
                <a:gridCol w="820647"/>
                <a:gridCol w="820647"/>
                <a:gridCol w="820647"/>
                <a:gridCol w="820647"/>
                <a:gridCol w="820647"/>
                <a:gridCol w="820647"/>
                <a:gridCol w="820647"/>
                <a:gridCol w="820647"/>
              </a:tblGrid>
              <a:tr h="438912">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Metal Alloys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Acrylic / Resin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Flexible Thermoplastics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High-performance</a:t>
                      </a:r>
                      <a:endParaRPr sz="1100"/>
                    </a:p>
                    <a:p>
                      <a:pPr algn="ctr"/>
                      <a:r>
                        <a:rPr sz="1100" b="1">
                          <a:solidFill>
                            <a:srgbClr val="0B2E4A"/>
                          </a:solidFill>
                          <a:latin typeface="Calibri"/>
                        </a:rPr>
                        <a:t>Polymers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7523">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47523">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23">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23">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23">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23">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71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05200"/>
            <a:ext cx="5600700" cy="3124200"/>
          </a:xfrm>
          <a:prstGeom prst="roundRect">
            <a:avLst>
              <a:gd name="adj" fmla="val 24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590925"/>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7" name="Rectangle 16"/>
          <p:cNvSpPr/>
          <p:nvPr/>
        </p:nvSpPr>
        <p:spPr>
          <a:xfrm>
            <a:off x="276225" y="3829050"/>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914775"/>
            <a:ext cx="5334000" cy="2638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Rounded Rectangle 18"/>
          <p:cNvSpPr/>
          <p:nvPr/>
        </p:nvSpPr>
        <p:spPr>
          <a:xfrm>
            <a:off x="5895975" y="3505200"/>
            <a:ext cx="1943100" cy="31242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029325" y="3590925"/>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21" name="Rectangle 20"/>
          <p:cNvSpPr/>
          <p:nvPr/>
        </p:nvSpPr>
        <p:spPr>
          <a:xfrm>
            <a:off x="6029325" y="38290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029325" y="3914775"/>
            <a:ext cx="1676400" cy="2638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3" name="Rounded Rectangle 22"/>
          <p:cNvSpPr/>
          <p:nvPr/>
        </p:nvSpPr>
        <p:spPr>
          <a:xfrm>
            <a:off x="7991475" y="3505200"/>
            <a:ext cx="1943100" cy="31242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124825" y="3590925"/>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5" name="Rectangle 24"/>
          <p:cNvSpPr/>
          <p:nvPr/>
        </p:nvSpPr>
        <p:spPr>
          <a:xfrm>
            <a:off x="8124825" y="38290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124825" y="3914775"/>
            <a:ext cx="1676400" cy="2638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7" name="Rounded Rectangle 26"/>
          <p:cNvSpPr/>
          <p:nvPr/>
        </p:nvSpPr>
        <p:spPr>
          <a:xfrm>
            <a:off x="10086975" y="3505200"/>
            <a:ext cx="1943100" cy="31242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220325" y="3590925"/>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9" name="Rectangle 28"/>
          <p:cNvSpPr/>
          <p:nvPr/>
        </p:nvSpPr>
        <p:spPr>
          <a:xfrm>
            <a:off x="10220325" y="38290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10220325" y="3914775"/>
            <a:ext cx="1676400" cy="2638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'Cast Metal Partial Dentures × Flexible Thermoplastics' ranks highest (5/5); 'Cast Metal Partial Dentures × Metal Alloys' lowest (1/5), a deprioritised cell.</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4"/>
          <a:stretch>
            <a:fillRect/>
          </a:stretch>
        </p:blipFill>
        <p:spPr>
          <a:xfrm>
            <a:off x="7749672" y="2276792"/>
            <a:ext cx="366712" cy="533400"/>
          </a:xfrm>
          <a:prstGeom prst="rect">
            <a:avLst/>
          </a:prstGeom>
        </p:spPr>
      </p:pic>
      <p:sp>
        <p:nvSpPr>
          <p:cNvPr id="33" name="TextBox 32"/>
          <p:cNvSpPr txBox="1"/>
          <p:nvPr/>
        </p:nvSpPr>
        <p:spPr>
          <a:xfrm>
            <a:off x="276225" y="3924300"/>
            <a:ext cx="3573127" cy="194310"/>
          </a:xfrm>
          <a:prstGeom prst="rect">
            <a:avLst/>
          </a:prstGeom>
          <a:noFill/>
        </p:spPr>
        <p:txBody>
          <a:bodyPr wrap="none" lIns="0" rIns="0" tIns="0" bIns="0">
            <a:spAutoFit/>
          </a:bodyPr>
          <a:lstStyle/>
          <a:p>
            <a:r>
              <a:rPr sz="1150" b="0">
                <a:solidFill>
                  <a:srgbClr val="2E2E2E"/>
                </a:solidFill>
                <a:latin typeface="Calibri"/>
              </a:rPr>
              <a:t>▪ 1. Cast Metal Partial Dentures × Flexible Thermoplastics –</a:t>
            </a:r>
          </a:p>
        </p:txBody>
      </p:sp>
      <p:pic>
        <p:nvPicPr>
          <p:cNvPr id="34" name="Picture 33" descr="lock.png"/>
          <p:cNvPicPr>
            <a:picLocks noChangeAspect="1"/>
          </p:cNvPicPr>
          <p:nvPr/>
        </p:nvPicPr>
        <p:blipFill>
          <a:blip r:embed="rId4"/>
          <a:stretch>
            <a:fillRect/>
          </a:stretch>
        </p:blipFill>
        <p:spPr>
          <a:xfrm>
            <a:off x="3798506" y="3914076"/>
            <a:ext cx="134549" cy="195707"/>
          </a:xfrm>
          <a:prstGeom prst="rect">
            <a:avLst/>
          </a:prstGeom>
        </p:spPr>
      </p:pic>
      <p:sp>
        <p:nvSpPr>
          <p:cNvPr id="35" name="TextBox 34"/>
          <p:cNvSpPr txBox="1"/>
          <p:nvPr/>
        </p:nvSpPr>
        <p:spPr>
          <a:xfrm>
            <a:off x="3973615" y="3924300"/>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6" name="Picture 35" descr="lock.png"/>
          <p:cNvPicPr>
            <a:picLocks noChangeAspect="1"/>
          </p:cNvPicPr>
          <p:nvPr/>
        </p:nvPicPr>
        <p:blipFill>
          <a:blip r:embed="rId4"/>
          <a:stretch>
            <a:fillRect/>
          </a:stretch>
        </p:blipFill>
        <p:spPr>
          <a:xfrm>
            <a:off x="4035767" y="3914076"/>
            <a:ext cx="134549" cy="195707"/>
          </a:xfrm>
          <a:prstGeom prst="rect">
            <a:avLst/>
          </a:prstGeom>
        </p:spPr>
      </p:pic>
      <p:sp>
        <p:nvSpPr>
          <p:cNvPr id="37" name="TextBox 36"/>
          <p:cNvSpPr txBox="1"/>
          <p:nvPr/>
        </p:nvSpPr>
        <p:spPr>
          <a:xfrm>
            <a:off x="4210876" y="3924300"/>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38" name="TextBox 37"/>
          <p:cNvSpPr txBox="1"/>
          <p:nvPr/>
        </p:nvSpPr>
        <p:spPr>
          <a:xfrm>
            <a:off x="276225" y="4152137"/>
            <a:ext cx="3328665" cy="194310"/>
          </a:xfrm>
          <a:prstGeom prst="rect">
            <a:avLst/>
          </a:prstGeom>
          <a:noFill/>
        </p:spPr>
        <p:txBody>
          <a:bodyPr wrap="none" lIns="0" rIns="0" tIns="0" bIns="0">
            <a:spAutoFit/>
          </a:bodyPr>
          <a:lstStyle/>
          <a:p>
            <a:r>
              <a:rPr sz="1150" b="0">
                <a:solidFill>
                  <a:srgbClr val="2E2E2E"/>
                </a:solidFill>
                <a:latin typeface="Calibri"/>
              </a:rPr>
              <a:t>▪ 2. Acrylic Partial Dentures × Flexible Thermoplastics –</a:t>
            </a:r>
          </a:p>
        </p:txBody>
      </p:sp>
      <p:pic>
        <p:nvPicPr>
          <p:cNvPr id="39" name="Picture 38" descr="lock.png"/>
          <p:cNvPicPr>
            <a:picLocks noChangeAspect="1"/>
          </p:cNvPicPr>
          <p:nvPr/>
        </p:nvPicPr>
        <p:blipFill>
          <a:blip r:embed="rId4"/>
          <a:stretch>
            <a:fillRect/>
          </a:stretch>
        </p:blipFill>
        <p:spPr>
          <a:xfrm>
            <a:off x="3554043" y="4141914"/>
            <a:ext cx="134549" cy="195707"/>
          </a:xfrm>
          <a:prstGeom prst="rect">
            <a:avLst/>
          </a:prstGeom>
        </p:spPr>
      </p:pic>
      <p:sp>
        <p:nvSpPr>
          <p:cNvPr id="40" name="TextBox 39"/>
          <p:cNvSpPr txBox="1"/>
          <p:nvPr/>
        </p:nvSpPr>
        <p:spPr>
          <a:xfrm>
            <a:off x="3729153" y="4152137"/>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1" name="Picture 40" descr="lock.png"/>
          <p:cNvPicPr>
            <a:picLocks noChangeAspect="1"/>
          </p:cNvPicPr>
          <p:nvPr/>
        </p:nvPicPr>
        <p:blipFill>
          <a:blip r:embed="rId4"/>
          <a:stretch>
            <a:fillRect/>
          </a:stretch>
        </p:blipFill>
        <p:spPr>
          <a:xfrm>
            <a:off x="3791304" y="4141914"/>
            <a:ext cx="134549" cy="195707"/>
          </a:xfrm>
          <a:prstGeom prst="rect">
            <a:avLst/>
          </a:prstGeom>
        </p:spPr>
      </p:pic>
      <p:sp>
        <p:nvSpPr>
          <p:cNvPr id="42" name="TextBox 41"/>
          <p:cNvSpPr txBox="1"/>
          <p:nvPr/>
        </p:nvSpPr>
        <p:spPr>
          <a:xfrm>
            <a:off x="3966414" y="4152137"/>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3" name="TextBox 42"/>
          <p:cNvSpPr txBox="1"/>
          <p:nvPr/>
        </p:nvSpPr>
        <p:spPr>
          <a:xfrm>
            <a:off x="276225" y="4379975"/>
            <a:ext cx="4410347" cy="194310"/>
          </a:xfrm>
          <a:prstGeom prst="rect">
            <a:avLst/>
          </a:prstGeom>
          <a:noFill/>
        </p:spPr>
        <p:txBody>
          <a:bodyPr wrap="none" lIns="0" rIns="0" tIns="0" bIns="0">
            <a:spAutoFit/>
          </a:bodyPr>
          <a:lstStyle/>
          <a:p>
            <a:r>
              <a:rPr sz="1150" b="0">
                <a:solidFill>
                  <a:srgbClr val="2E2E2E"/>
                </a:solidFill>
                <a:latin typeface="Calibri"/>
              </a:rPr>
              <a:t>▪ 3. Combination Framework Partial Dentures × Flexible Thermoplastics –</a:t>
            </a:r>
          </a:p>
        </p:txBody>
      </p:sp>
      <p:pic>
        <p:nvPicPr>
          <p:cNvPr id="44" name="Picture 43" descr="lock.png"/>
          <p:cNvPicPr>
            <a:picLocks noChangeAspect="1"/>
          </p:cNvPicPr>
          <p:nvPr/>
        </p:nvPicPr>
        <p:blipFill>
          <a:blip r:embed="rId4"/>
          <a:stretch>
            <a:fillRect/>
          </a:stretch>
        </p:blipFill>
        <p:spPr>
          <a:xfrm>
            <a:off x="4635726" y="4369752"/>
            <a:ext cx="134549" cy="195707"/>
          </a:xfrm>
          <a:prstGeom prst="rect">
            <a:avLst/>
          </a:prstGeom>
        </p:spPr>
      </p:pic>
      <p:sp>
        <p:nvSpPr>
          <p:cNvPr id="45" name="TextBox 44"/>
          <p:cNvSpPr txBox="1"/>
          <p:nvPr/>
        </p:nvSpPr>
        <p:spPr>
          <a:xfrm>
            <a:off x="4810836" y="4379975"/>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6" name="Picture 45" descr="lock.png"/>
          <p:cNvPicPr>
            <a:picLocks noChangeAspect="1"/>
          </p:cNvPicPr>
          <p:nvPr/>
        </p:nvPicPr>
        <p:blipFill>
          <a:blip r:embed="rId4"/>
          <a:stretch>
            <a:fillRect/>
          </a:stretch>
        </p:blipFill>
        <p:spPr>
          <a:xfrm>
            <a:off x="4872987" y="4369752"/>
            <a:ext cx="134549" cy="195707"/>
          </a:xfrm>
          <a:prstGeom prst="rect">
            <a:avLst/>
          </a:prstGeom>
        </p:spPr>
      </p:pic>
      <p:sp>
        <p:nvSpPr>
          <p:cNvPr id="47" name="TextBox 46"/>
          <p:cNvSpPr txBox="1"/>
          <p:nvPr/>
        </p:nvSpPr>
        <p:spPr>
          <a:xfrm>
            <a:off x="5048097" y="4379975"/>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8" name="TextBox 47"/>
          <p:cNvSpPr txBox="1"/>
          <p:nvPr/>
        </p:nvSpPr>
        <p:spPr>
          <a:xfrm>
            <a:off x="276225" y="4607813"/>
            <a:ext cx="3389424" cy="194310"/>
          </a:xfrm>
          <a:prstGeom prst="rect">
            <a:avLst/>
          </a:prstGeom>
          <a:noFill/>
        </p:spPr>
        <p:txBody>
          <a:bodyPr wrap="none" lIns="0" rIns="0" tIns="0" bIns="0">
            <a:spAutoFit/>
          </a:bodyPr>
          <a:lstStyle/>
          <a:p>
            <a:r>
              <a:rPr sz="1150" b="0">
                <a:solidFill>
                  <a:srgbClr val="2E2E2E"/>
                </a:solidFill>
                <a:latin typeface="Calibri"/>
              </a:rPr>
              <a:t>▪ 4. Flexible Partial Dentures × Flexible Thermoplastics –</a:t>
            </a:r>
          </a:p>
        </p:txBody>
      </p:sp>
      <p:pic>
        <p:nvPicPr>
          <p:cNvPr id="49" name="Picture 48" descr="lock.png"/>
          <p:cNvPicPr>
            <a:picLocks noChangeAspect="1"/>
          </p:cNvPicPr>
          <p:nvPr/>
        </p:nvPicPr>
        <p:blipFill>
          <a:blip r:embed="rId4"/>
          <a:stretch>
            <a:fillRect/>
          </a:stretch>
        </p:blipFill>
        <p:spPr>
          <a:xfrm>
            <a:off x="3614803" y="4597590"/>
            <a:ext cx="134549" cy="195707"/>
          </a:xfrm>
          <a:prstGeom prst="rect">
            <a:avLst/>
          </a:prstGeom>
        </p:spPr>
      </p:pic>
      <p:sp>
        <p:nvSpPr>
          <p:cNvPr id="50" name="TextBox 49"/>
          <p:cNvSpPr txBox="1"/>
          <p:nvPr/>
        </p:nvSpPr>
        <p:spPr>
          <a:xfrm>
            <a:off x="3789912" y="4607813"/>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1" name="Picture 50" descr="lock.png"/>
          <p:cNvPicPr>
            <a:picLocks noChangeAspect="1"/>
          </p:cNvPicPr>
          <p:nvPr/>
        </p:nvPicPr>
        <p:blipFill>
          <a:blip r:embed="rId4"/>
          <a:stretch>
            <a:fillRect/>
          </a:stretch>
        </p:blipFill>
        <p:spPr>
          <a:xfrm>
            <a:off x="3852064" y="4597590"/>
            <a:ext cx="134549" cy="195707"/>
          </a:xfrm>
          <a:prstGeom prst="rect">
            <a:avLst/>
          </a:prstGeom>
        </p:spPr>
      </p:pic>
      <p:sp>
        <p:nvSpPr>
          <p:cNvPr id="52" name="TextBox 51"/>
          <p:cNvSpPr txBox="1"/>
          <p:nvPr/>
        </p:nvSpPr>
        <p:spPr>
          <a:xfrm>
            <a:off x="4027173" y="4607813"/>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53" name="TextBox 52"/>
          <p:cNvSpPr txBox="1"/>
          <p:nvPr/>
        </p:nvSpPr>
        <p:spPr>
          <a:xfrm>
            <a:off x="276225" y="4835651"/>
            <a:ext cx="3850964" cy="194310"/>
          </a:xfrm>
          <a:prstGeom prst="rect">
            <a:avLst/>
          </a:prstGeom>
          <a:noFill/>
        </p:spPr>
        <p:txBody>
          <a:bodyPr wrap="none" lIns="0" rIns="0" tIns="0" bIns="0">
            <a:spAutoFit/>
          </a:bodyPr>
          <a:lstStyle/>
          <a:p>
            <a:r>
              <a:rPr sz="1150" b="0">
                <a:solidFill>
                  <a:srgbClr val="2E2E2E"/>
                </a:solidFill>
                <a:latin typeface="Calibri"/>
              </a:rPr>
              <a:t>▪ 5. Cast Metal Partial Dentures × High-performance Polymers –</a:t>
            </a:r>
          </a:p>
        </p:txBody>
      </p:sp>
      <p:pic>
        <p:nvPicPr>
          <p:cNvPr id="54" name="Picture 53" descr="lock.png"/>
          <p:cNvPicPr>
            <a:picLocks noChangeAspect="1"/>
          </p:cNvPicPr>
          <p:nvPr/>
        </p:nvPicPr>
        <p:blipFill>
          <a:blip r:embed="rId4"/>
          <a:stretch>
            <a:fillRect/>
          </a:stretch>
        </p:blipFill>
        <p:spPr>
          <a:xfrm>
            <a:off x="4076343" y="4825428"/>
            <a:ext cx="134549" cy="195707"/>
          </a:xfrm>
          <a:prstGeom prst="rect">
            <a:avLst/>
          </a:prstGeom>
        </p:spPr>
      </p:pic>
      <p:sp>
        <p:nvSpPr>
          <p:cNvPr id="55" name="TextBox 54"/>
          <p:cNvSpPr txBox="1"/>
          <p:nvPr/>
        </p:nvSpPr>
        <p:spPr>
          <a:xfrm>
            <a:off x="4251453" y="4835651"/>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6" name="Picture 55" descr="lock.png"/>
          <p:cNvPicPr>
            <a:picLocks noChangeAspect="1"/>
          </p:cNvPicPr>
          <p:nvPr/>
        </p:nvPicPr>
        <p:blipFill>
          <a:blip r:embed="rId4"/>
          <a:stretch>
            <a:fillRect/>
          </a:stretch>
        </p:blipFill>
        <p:spPr>
          <a:xfrm>
            <a:off x="4313604" y="4825428"/>
            <a:ext cx="134549" cy="195707"/>
          </a:xfrm>
          <a:prstGeom prst="rect">
            <a:avLst/>
          </a:prstGeom>
        </p:spPr>
      </p:pic>
      <p:sp>
        <p:nvSpPr>
          <p:cNvPr id="57" name="TextBox 56"/>
          <p:cNvSpPr txBox="1"/>
          <p:nvPr/>
        </p:nvSpPr>
        <p:spPr>
          <a:xfrm>
            <a:off x="4488714" y="4835651"/>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58" name="TextBox 57"/>
          <p:cNvSpPr txBox="1"/>
          <p:nvPr/>
        </p:nvSpPr>
        <p:spPr>
          <a:xfrm>
            <a:off x="6029325" y="3924300"/>
            <a:ext cx="1246311" cy="194310"/>
          </a:xfrm>
          <a:prstGeom prst="rect">
            <a:avLst/>
          </a:prstGeom>
          <a:noFill/>
        </p:spPr>
        <p:txBody>
          <a:bodyPr wrap="none" lIns="0" rIns="0" tIns="0" bIns="0">
            <a:spAutoFit/>
          </a:bodyPr>
          <a:lstStyle/>
          <a:p>
            <a:r>
              <a:rPr sz="1150" b="0">
                <a:solidFill>
                  <a:srgbClr val="2E2E2E"/>
                </a:solidFill>
                <a:latin typeface="Calibri"/>
              </a:rPr>
              <a:t>▪ 'Cast Metal Partial</a:t>
            </a:r>
          </a:p>
        </p:txBody>
      </p:sp>
      <p:sp>
        <p:nvSpPr>
          <p:cNvPr id="59" name="TextBox 58"/>
          <p:cNvSpPr txBox="1"/>
          <p:nvPr/>
        </p:nvSpPr>
        <p:spPr>
          <a:xfrm>
            <a:off x="6029325" y="4099560"/>
            <a:ext cx="1214648" cy="194310"/>
          </a:xfrm>
          <a:prstGeom prst="rect">
            <a:avLst/>
          </a:prstGeom>
          <a:noFill/>
        </p:spPr>
        <p:txBody>
          <a:bodyPr wrap="none" lIns="0" rIns="0" tIns="0" bIns="0">
            <a:spAutoFit/>
          </a:bodyPr>
          <a:lstStyle/>
          <a:p>
            <a:r>
              <a:rPr sz="1150" b="0">
                <a:solidFill>
                  <a:srgbClr val="2E2E2E"/>
                </a:solidFill>
                <a:latin typeface="Calibri"/>
              </a:rPr>
              <a:t>Dentures × Flexible</a:t>
            </a:r>
          </a:p>
        </p:txBody>
      </p:sp>
      <p:sp>
        <p:nvSpPr>
          <p:cNvPr id="60" name="TextBox 59"/>
          <p:cNvSpPr txBox="1"/>
          <p:nvPr/>
        </p:nvSpPr>
        <p:spPr>
          <a:xfrm>
            <a:off x="6029325" y="4274820"/>
            <a:ext cx="1326467" cy="194310"/>
          </a:xfrm>
          <a:prstGeom prst="rect">
            <a:avLst/>
          </a:prstGeom>
          <a:noFill/>
        </p:spPr>
        <p:txBody>
          <a:bodyPr wrap="none" lIns="0" rIns="0" tIns="0" bIns="0">
            <a:spAutoFit/>
          </a:bodyPr>
          <a:lstStyle/>
          <a:p>
            <a:r>
              <a:rPr sz="1150" b="0">
                <a:solidFill>
                  <a:srgbClr val="2E2E2E"/>
                </a:solidFill>
                <a:latin typeface="Calibri"/>
              </a:rPr>
              <a:t>Thermoplastics' adds</a:t>
            </a:r>
          </a:p>
        </p:txBody>
      </p:sp>
      <p:pic>
        <p:nvPicPr>
          <p:cNvPr id="61" name="Picture 60" descr="lock.png"/>
          <p:cNvPicPr>
            <a:picLocks noChangeAspect="1"/>
          </p:cNvPicPr>
          <p:nvPr/>
        </p:nvPicPr>
        <p:blipFill>
          <a:blip r:embed="rId4"/>
          <a:stretch>
            <a:fillRect/>
          </a:stretch>
        </p:blipFill>
        <p:spPr>
          <a:xfrm>
            <a:off x="7304946" y="4264596"/>
            <a:ext cx="134549" cy="195707"/>
          </a:xfrm>
          <a:prstGeom prst="rect">
            <a:avLst/>
          </a:prstGeom>
        </p:spPr>
      </p:pic>
      <p:sp>
        <p:nvSpPr>
          <p:cNvPr id="62" name="TextBox 61"/>
          <p:cNvSpPr txBox="1"/>
          <p:nvPr/>
        </p:nvSpPr>
        <p:spPr>
          <a:xfrm>
            <a:off x="6029325" y="4450079"/>
            <a:ext cx="1224632" cy="194310"/>
          </a:xfrm>
          <a:prstGeom prst="rect">
            <a:avLst/>
          </a:prstGeom>
          <a:noFill/>
        </p:spPr>
        <p:txBody>
          <a:bodyPr wrap="none" lIns="0" rIns="0" tIns="0" bIns="0">
            <a:spAutoFit/>
          </a:bodyPr>
          <a:lstStyle/>
          <a:p>
            <a:r>
              <a:rPr sz="1150" b="0">
                <a:solidFill>
                  <a:srgbClr val="2E2E2E"/>
                </a:solidFill>
                <a:latin typeface="Calibri"/>
              </a:rPr>
              <a:t>US$ Mn by 2036F –</a:t>
            </a:r>
          </a:p>
        </p:txBody>
      </p:sp>
      <p:pic>
        <p:nvPicPr>
          <p:cNvPr id="63" name="Picture 62" descr="lock.png"/>
          <p:cNvPicPr>
            <a:picLocks noChangeAspect="1"/>
          </p:cNvPicPr>
          <p:nvPr/>
        </p:nvPicPr>
        <p:blipFill>
          <a:blip r:embed="rId4"/>
          <a:stretch>
            <a:fillRect/>
          </a:stretch>
        </p:blipFill>
        <p:spPr>
          <a:xfrm>
            <a:off x="7203111" y="4439856"/>
            <a:ext cx="134549" cy="195707"/>
          </a:xfrm>
          <a:prstGeom prst="rect">
            <a:avLst/>
          </a:prstGeom>
        </p:spPr>
      </p:pic>
      <p:sp>
        <p:nvSpPr>
          <p:cNvPr id="64" name="TextBox 63"/>
          <p:cNvSpPr txBox="1"/>
          <p:nvPr/>
        </p:nvSpPr>
        <p:spPr>
          <a:xfrm>
            <a:off x="7378220" y="4450079"/>
            <a:ext cx="197718" cy="194310"/>
          </a:xfrm>
          <a:prstGeom prst="rect">
            <a:avLst/>
          </a:prstGeom>
          <a:noFill/>
        </p:spPr>
        <p:txBody>
          <a:bodyPr wrap="none" lIns="0" rIns="0" tIns="0" bIns="0">
            <a:spAutoFit/>
          </a:bodyPr>
          <a:lstStyle/>
          <a:p>
            <a:r>
              <a:rPr sz="1150" b="0">
                <a:solidFill>
                  <a:srgbClr val="2E2E2E"/>
                </a:solidFill>
                <a:latin typeface="Calibri"/>
              </a:rPr>
              <a:t>of</a:t>
            </a:r>
          </a:p>
        </p:txBody>
      </p:sp>
      <p:sp>
        <p:nvSpPr>
          <p:cNvPr id="65" name="TextBox 64"/>
          <p:cNvSpPr txBox="1"/>
          <p:nvPr/>
        </p:nvSpPr>
        <p:spPr>
          <a:xfrm>
            <a:off x="6029325" y="4625339"/>
            <a:ext cx="1366403" cy="194310"/>
          </a:xfrm>
          <a:prstGeom prst="rect">
            <a:avLst/>
          </a:prstGeom>
          <a:noFill/>
        </p:spPr>
        <p:txBody>
          <a:bodyPr wrap="none" lIns="0" rIns="0" tIns="0" bIns="0">
            <a:spAutoFit/>
          </a:bodyPr>
          <a:lstStyle/>
          <a:p>
            <a:r>
              <a:rPr sz="1150" b="0">
                <a:solidFill>
                  <a:srgbClr val="2E2E2E"/>
                </a:solidFill>
                <a:latin typeface="Calibri"/>
              </a:rPr>
              <a:t>the total opportunity.</a:t>
            </a:r>
          </a:p>
        </p:txBody>
      </p:sp>
      <p:sp>
        <p:nvSpPr>
          <p:cNvPr id="66" name="TextBox 65"/>
          <p:cNvSpPr txBox="1"/>
          <p:nvPr/>
        </p:nvSpPr>
        <p:spPr>
          <a:xfrm>
            <a:off x="8124825" y="3924300"/>
            <a:ext cx="1246311" cy="194310"/>
          </a:xfrm>
          <a:prstGeom prst="rect">
            <a:avLst/>
          </a:prstGeom>
          <a:noFill/>
        </p:spPr>
        <p:txBody>
          <a:bodyPr wrap="none" lIns="0" rIns="0" tIns="0" bIns="0">
            <a:spAutoFit/>
          </a:bodyPr>
          <a:lstStyle/>
          <a:p>
            <a:r>
              <a:rPr sz="1150" b="0">
                <a:solidFill>
                  <a:srgbClr val="2E2E2E"/>
                </a:solidFill>
                <a:latin typeface="Calibri"/>
              </a:rPr>
              <a:t>▪ 'Cast Metal Partial</a:t>
            </a:r>
          </a:p>
        </p:txBody>
      </p:sp>
      <p:sp>
        <p:nvSpPr>
          <p:cNvPr id="67" name="TextBox 66"/>
          <p:cNvSpPr txBox="1"/>
          <p:nvPr/>
        </p:nvSpPr>
        <p:spPr>
          <a:xfrm>
            <a:off x="8124825" y="4099560"/>
            <a:ext cx="1214648" cy="194310"/>
          </a:xfrm>
          <a:prstGeom prst="rect">
            <a:avLst/>
          </a:prstGeom>
          <a:noFill/>
        </p:spPr>
        <p:txBody>
          <a:bodyPr wrap="none" lIns="0" rIns="0" tIns="0" bIns="0">
            <a:spAutoFit/>
          </a:bodyPr>
          <a:lstStyle/>
          <a:p>
            <a:r>
              <a:rPr sz="1150" b="0">
                <a:solidFill>
                  <a:srgbClr val="2E2E2E"/>
                </a:solidFill>
                <a:latin typeface="Calibri"/>
              </a:rPr>
              <a:t>Dentures × Flexible</a:t>
            </a:r>
          </a:p>
        </p:txBody>
      </p:sp>
      <p:sp>
        <p:nvSpPr>
          <p:cNvPr id="68" name="TextBox 67"/>
          <p:cNvSpPr txBox="1"/>
          <p:nvPr/>
        </p:nvSpPr>
        <p:spPr>
          <a:xfrm>
            <a:off x="8124825" y="4274820"/>
            <a:ext cx="1657350" cy="194310"/>
          </a:xfrm>
          <a:prstGeom prst="rect">
            <a:avLst/>
          </a:prstGeom>
          <a:noFill/>
        </p:spPr>
        <p:txBody>
          <a:bodyPr wrap="none" lIns="0" rIns="0" tIns="0" bIns="0">
            <a:spAutoFit/>
          </a:bodyPr>
          <a:lstStyle/>
          <a:p>
            <a:r>
              <a:rPr sz="1150" b="0">
                <a:solidFill>
                  <a:srgbClr val="2E2E2E"/>
                </a:solidFill>
                <a:latin typeface="Calibri"/>
              </a:rPr>
              <a:t>Thermoplastics' grows at a</a:t>
            </a:r>
          </a:p>
        </p:txBody>
      </p:sp>
      <p:pic>
        <p:nvPicPr>
          <p:cNvPr id="69" name="Picture 68" descr="lock.png"/>
          <p:cNvPicPr>
            <a:picLocks noChangeAspect="1"/>
          </p:cNvPicPr>
          <p:nvPr/>
        </p:nvPicPr>
        <p:blipFill>
          <a:blip r:embed="rId4"/>
          <a:stretch>
            <a:fillRect/>
          </a:stretch>
        </p:blipFill>
        <p:spPr>
          <a:xfrm>
            <a:off x="8110745" y="4439856"/>
            <a:ext cx="134549" cy="195707"/>
          </a:xfrm>
          <a:prstGeom prst="rect">
            <a:avLst/>
          </a:prstGeom>
        </p:spPr>
      </p:pic>
      <p:sp>
        <p:nvSpPr>
          <p:cNvPr id="70" name="TextBox 69"/>
          <p:cNvSpPr txBox="1"/>
          <p:nvPr/>
        </p:nvSpPr>
        <p:spPr>
          <a:xfrm>
            <a:off x="8285854" y="4450079"/>
            <a:ext cx="446441" cy="194310"/>
          </a:xfrm>
          <a:prstGeom prst="rect">
            <a:avLst/>
          </a:prstGeom>
          <a:noFill/>
        </p:spPr>
        <p:txBody>
          <a:bodyPr wrap="none" lIns="0" rIns="0" tIns="0" bIns="0">
            <a:spAutoFit/>
          </a:bodyPr>
          <a:lstStyle/>
          <a:p>
            <a:r>
              <a:rPr sz="1150" b="0">
                <a:solidFill>
                  <a:srgbClr val="2E2E2E"/>
                </a:solidFill>
                <a:latin typeface="Calibri"/>
              </a:rPr>
              <a:t>CAGR,</a:t>
            </a:r>
          </a:p>
        </p:txBody>
      </p:sp>
      <p:pic>
        <p:nvPicPr>
          <p:cNvPr id="71" name="Picture 70" descr="lock.png"/>
          <p:cNvPicPr>
            <a:picLocks noChangeAspect="1"/>
          </p:cNvPicPr>
          <p:nvPr/>
        </p:nvPicPr>
        <p:blipFill>
          <a:blip r:embed="rId4"/>
          <a:stretch>
            <a:fillRect/>
          </a:stretch>
        </p:blipFill>
        <p:spPr>
          <a:xfrm>
            <a:off x="8681450" y="4439856"/>
            <a:ext cx="134549" cy="195707"/>
          </a:xfrm>
          <a:prstGeom prst="rect">
            <a:avLst/>
          </a:prstGeom>
        </p:spPr>
      </p:pic>
      <p:sp>
        <p:nvSpPr>
          <p:cNvPr id="72" name="TextBox 71"/>
          <p:cNvSpPr txBox="1"/>
          <p:nvPr/>
        </p:nvSpPr>
        <p:spPr>
          <a:xfrm>
            <a:off x="8856559" y="4450079"/>
            <a:ext cx="693774" cy="194310"/>
          </a:xfrm>
          <a:prstGeom prst="rect">
            <a:avLst/>
          </a:prstGeom>
          <a:noFill/>
        </p:spPr>
        <p:txBody>
          <a:bodyPr wrap="none" lIns="0" rIns="0" tIns="0" bIns="0">
            <a:spAutoFit/>
          </a:bodyPr>
          <a:lstStyle/>
          <a:p>
            <a:r>
              <a:rPr sz="1150" b="0">
                <a:solidFill>
                  <a:srgbClr val="2E2E2E"/>
                </a:solidFill>
                <a:latin typeface="Calibri"/>
              </a:rPr>
              <a:t>BPS above</a:t>
            </a:r>
          </a:p>
        </p:txBody>
      </p:sp>
      <p:sp>
        <p:nvSpPr>
          <p:cNvPr id="73" name="TextBox 72"/>
          <p:cNvSpPr txBox="1"/>
          <p:nvPr/>
        </p:nvSpPr>
        <p:spPr>
          <a:xfrm>
            <a:off x="8124825" y="4625339"/>
            <a:ext cx="1121655" cy="194310"/>
          </a:xfrm>
          <a:prstGeom prst="rect">
            <a:avLst/>
          </a:prstGeom>
          <a:noFill/>
        </p:spPr>
        <p:txBody>
          <a:bodyPr wrap="none" lIns="0" rIns="0" tIns="0" bIns="0">
            <a:spAutoFit/>
          </a:bodyPr>
          <a:lstStyle/>
          <a:p>
            <a:r>
              <a:rPr sz="1150" b="0">
                <a:solidFill>
                  <a:srgbClr val="2E2E2E"/>
                </a:solidFill>
                <a:latin typeface="Calibri"/>
              </a:rPr>
              <a:t>the cross-section.</a:t>
            </a:r>
          </a:p>
        </p:txBody>
      </p:sp>
    </p:spTree>
  </p:cSld>
  <p:clrMapOvr>
    <a:masterClrMapping/>
  </p:clrMapOvr>
</p:sld>
</file>

<file path=ppt/slides/slide23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15.2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Product Type x Technology</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Market Snapshot: Product Type × Technology, 2026E vs 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market value (US$ Mn) for each product type sub-segment across technology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Market Value, Product Type × Technology, 2026E and 2036F (US$ Mn)</a:t>
            </a:r>
          </a:p>
        </p:txBody>
      </p:sp>
      <p:graphicFrame>
        <p:nvGraphicFramePr>
          <p:cNvPr id="13" name="Table 12"/>
          <p:cNvGraphicFramePr>
            <a:graphicFrameLocks noGrp="1"/>
          </p:cNvGraphicFramePr>
          <p:nvPr/>
        </p:nvGraphicFramePr>
        <p:xfrm>
          <a:off x="152400" y="1238250"/>
          <a:ext cx="11887202" cy="1724028"/>
        </p:xfrm>
        <a:graphic>
          <a:graphicData uri="http://schemas.openxmlformats.org/drawingml/2006/table">
            <a:tbl>
              <a:tblPr>
                <a:tableStyleId>{5C22544A-7EE6-4342-B048-85BDC9FD1C3A}</a:tableStyleId>
              </a:tblPr>
              <a:tblGrid>
                <a:gridCol w="5705558"/>
                <a:gridCol w="1030274"/>
                <a:gridCol w="1030274"/>
                <a:gridCol w="1030274"/>
                <a:gridCol w="1030274"/>
                <a:gridCol w="1030274"/>
                <a:gridCol w="1030274"/>
              </a:tblGrid>
              <a:tr h="246126">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Conventional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Digital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6317">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317">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909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17" name="Rectangle 16"/>
          <p:cNvSpPr/>
          <p:nvPr/>
        </p:nvSpPr>
        <p:spPr>
          <a:xfrm>
            <a:off x="276225" y="36290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714750"/>
            <a:ext cx="1163955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8762089" y="2079785"/>
            <a:ext cx="366712" cy="533400"/>
          </a:xfrm>
          <a:prstGeom prst="rect">
            <a:avLst/>
          </a:prstGeom>
        </p:spPr>
      </p:pic>
      <p:sp>
        <p:nvSpPr>
          <p:cNvPr id="21" name="TextBox 20"/>
          <p:cNvSpPr txBox="1"/>
          <p:nvPr/>
        </p:nvSpPr>
        <p:spPr>
          <a:xfrm>
            <a:off x="276225" y="3724275"/>
            <a:ext cx="9722916" cy="194310"/>
          </a:xfrm>
          <a:prstGeom prst="rect">
            <a:avLst/>
          </a:prstGeom>
          <a:noFill/>
        </p:spPr>
        <p:txBody>
          <a:bodyPr wrap="none" lIns="0" rIns="0" tIns="0" bIns="0">
            <a:spAutoFit/>
          </a:bodyPr>
          <a:lstStyle/>
          <a:p>
            <a:r>
              <a:rPr sz="1150" b="0">
                <a:solidFill>
                  <a:srgbClr val="2E2E2E"/>
                </a:solidFill>
                <a:latin typeface="Calibri"/>
              </a:rPr>
              <a:t>Acrylic partial dentures segment is projected to account for the largest share of the U.S. removable partial dentures market, led by conventional fabrication at US$</a:t>
            </a:r>
          </a:p>
        </p:txBody>
      </p:sp>
      <p:pic>
        <p:nvPicPr>
          <p:cNvPr id="22" name="Picture 21" descr="lock.png"/>
          <p:cNvPicPr>
            <a:picLocks noChangeAspect="1"/>
          </p:cNvPicPr>
          <p:nvPr/>
        </p:nvPicPr>
        <p:blipFill>
          <a:blip r:embed="rId4"/>
          <a:stretch>
            <a:fillRect/>
          </a:stretch>
        </p:blipFill>
        <p:spPr>
          <a:xfrm>
            <a:off x="9948295" y="3714051"/>
            <a:ext cx="134549" cy="195707"/>
          </a:xfrm>
          <a:prstGeom prst="rect">
            <a:avLst/>
          </a:prstGeom>
        </p:spPr>
      </p:pic>
      <p:sp>
        <p:nvSpPr>
          <p:cNvPr id="23" name="TextBox 22"/>
          <p:cNvSpPr txBox="1"/>
          <p:nvPr/>
        </p:nvSpPr>
        <p:spPr>
          <a:xfrm>
            <a:off x="10123404" y="3724275"/>
            <a:ext cx="1490488" cy="194310"/>
          </a:xfrm>
          <a:prstGeom prst="rect">
            <a:avLst/>
          </a:prstGeom>
          <a:noFill/>
        </p:spPr>
        <p:txBody>
          <a:bodyPr wrap="none" lIns="0" rIns="0" tIns="0" bIns="0">
            <a:spAutoFit/>
          </a:bodyPr>
          <a:lstStyle/>
          <a:p>
            <a:r>
              <a:rPr sz="1150" b="0">
                <a:solidFill>
                  <a:srgbClr val="2E2E2E"/>
                </a:solidFill>
                <a:latin typeface="Calibri"/>
              </a:rPr>
              <a:t>Mn in 2036. 'Cast Metal</a:t>
            </a:r>
          </a:p>
        </p:txBody>
      </p:sp>
      <p:sp>
        <p:nvSpPr>
          <p:cNvPr id="24" name="TextBox 23"/>
          <p:cNvSpPr txBox="1"/>
          <p:nvPr/>
        </p:nvSpPr>
        <p:spPr>
          <a:xfrm>
            <a:off x="276225" y="3899535"/>
            <a:ext cx="5088333" cy="194310"/>
          </a:xfrm>
          <a:prstGeom prst="rect">
            <a:avLst/>
          </a:prstGeom>
          <a:noFill/>
        </p:spPr>
        <p:txBody>
          <a:bodyPr wrap="none" lIns="0" rIns="0" tIns="0" bIns="0">
            <a:spAutoFit/>
          </a:bodyPr>
          <a:lstStyle/>
          <a:p>
            <a:r>
              <a:rPr sz="1150" b="0">
                <a:solidFill>
                  <a:srgbClr val="2E2E2E"/>
                </a:solidFill>
                <a:latin typeface="Calibri"/>
              </a:rPr>
              <a:t>Partial Dentures × Conventional Fabrication' is the single largest cross-sectional cell (</a:t>
            </a:r>
          </a:p>
        </p:txBody>
      </p:sp>
      <p:pic>
        <p:nvPicPr>
          <p:cNvPr id="25" name="Picture 24" descr="lock.png"/>
          <p:cNvPicPr>
            <a:picLocks noChangeAspect="1"/>
          </p:cNvPicPr>
          <p:nvPr/>
        </p:nvPicPr>
        <p:blipFill>
          <a:blip r:embed="rId4"/>
          <a:stretch>
            <a:fillRect/>
          </a:stretch>
        </p:blipFill>
        <p:spPr>
          <a:xfrm>
            <a:off x="5313712" y="3889311"/>
            <a:ext cx="134549" cy="195707"/>
          </a:xfrm>
          <a:prstGeom prst="rect">
            <a:avLst/>
          </a:prstGeom>
        </p:spPr>
      </p:pic>
      <p:sp>
        <p:nvSpPr>
          <p:cNvPr id="26" name="TextBox 25"/>
          <p:cNvSpPr txBox="1"/>
          <p:nvPr/>
        </p:nvSpPr>
        <p:spPr>
          <a:xfrm>
            <a:off x="5488822" y="3899535"/>
            <a:ext cx="6389377" cy="194310"/>
          </a:xfrm>
          <a:prstGeom prst="rect">
            <a:avLst/>
          </a:prstGeom>
          <a:noFill/>
        </p:spPr>
        <p:txBody>
          <a:bodyPr wrap="none" lIns="0" rIns="0" tIns="0" bIns="0">
            <a:spAutoFit/>
          </a:bodyPr>
          <a:lstStyle/>
          <a:p>
            <a:r>
              <a:rPr sz="1150" b="0">
                <a:solidFill>
                  <a:srgbClr val="2E2E2E"/>
                </a:solidFill>
                <a:latin typeface="Calibri"/>
              </a:rPr>
              <a:t>US$ Mn, 2026E), while 'Acrylic Partial Dentures × Conventional Fabrication' records the fastest growth at a</a:t>
            </a:r>
          </a:p>
        </p:txBody>
      </p:sp>
      <p:sp>
        <p:nvSpPr>
          <p:cNvPr id="27" name="TextBox 26"/>
          <p:cNvSpPr txBox="1"/>
          <p:nvPr/>
        </p:nvSpPr>
        <p:spPr>
          <a:xfrm>
            <a:off x="276225" y="4074794"/>
            <a:ext cx="564536" cy="194310"/>
          </a:xfrm>
          <a:prstGeom prst="rect">
            <a:avLst/>
          </a:prstGeom>
          <a:noFill/>
        </p:spPr>
        <p:txBody>
          <a:bodyPr wrap="none" lIns="0" rIns="0" tIns="0" bIns="0">
            <a:spAutoFit/>
          </a:bodyPr>
          <a:lstStyle/>
          <a:p>
            <a:r>
              <a:rPr sz="1150" b="0">
                <a:solidFill>
                  <a:srgbClr val="2E2E2E"/>
                </a:solidFill>
                <a:latin typeface="Calibri"/>
              </a:rPr>
              <a:t>CAGR of</a:t>
            </a:r>
          </a:p>
        </p:txBody>
      </p:sp>
      <p:pic>
        <p:nvPicPr>
          <p:cNvPr id="28" name="Picture 27" descr="lock.png"/>
          <p:cNvPicPr>
            <a:picLocks noChangeAspect="1"/>
          </p:cNvPicPr>
          <p:nvPr/>
        </p:nvPicPr>
        <p:blipFill>
          <a:blip r:embed="rId4"/>
          <a:stretch>
            <a:fillRect/>
          </a:stretch>
        </p:blipFill>
        <p:spPr>
          <a:xfrm>
            <a:off x="789915" y="4064571"/>
            <a:ext cx="134549" cy="195707"/>
          </a:xfrm>
          <a:prstGeom prst="rect">
            <a:avLst/>
          </a:prstGeom>
        </p:spPr>
      </p:pic>
      <p:sp>
        <p:nvSpPr>
          <p:cNvPr id="29" name="TextBox 28"/>
          <p:cNvSpPr txBox="1"/>
          <p:nvPr/>
        </p:nvSpPr>
        <p:spPr>
          <a:xfrm>
            <a:off x="965025" y="4074794"/>
            <a:ext cx="1217001" cy="194310"/>
          </a:xfrm>
          <a:prstGeom prst="rect">
            <a:avLst/>
          </a:prstGeom>
          <a:noFill/>
        </p:spPr>
        <p:txBody>
          <a:bodyPr wrap="none" lIns="0" rIns="0" tIns="0" bIns="0">
            <a:spAutoFit/>
          </a:bodyPr>
          <a:lstStyle/>
          <a:p>
            <a:r>
              <a:rPr sz="1150" b="0">
                <a:solidFill>
                  <a:srgbClr val="2E2E2E"/>
                </a:solidFill>
                <a:latin typeface="Calibri"/>
              </a:rPr>
              <a:t>over 2026E–2036F.</a:t>
            </a:r>
          </a:p>
        </p:txBody>
      </p:sp>
      <p:sp>
        <p:nvSpPr>
          <p:cNvPr id="30" name="TextBox 29"/>
          <p:cNvSpPr txBox="1"/>
          <p:nvPr/>
        </p:nvSpPr>
        <p:spPr>
          <a:xfrm>
            <a:off x="276225" y="4302632"/>
            <a:ext cx="5732214" cy="194310"/>
          </a:xfrm>
          <a:prstGeom prst="rect">
            <a:avLst/>
          </a:prstGeom>
          <a:noFill/>
        </p:spPr>
        <p:txBody>
          <a:bodyPr wrap="none" lIns="0" rIns="0" tIns="0" bIns="0">
            <a:spAutoFit/>
          </a:bodyPr>
          <a:lstStyle/>
          <a:p>
            <a:r>
              <a:rPr sz="1150" b="0">
                <a:solidFill>
                  <a:srgbClr val="2E2E2E"/>
                </a:solidFill>
                <a:latin typeface="Calibri"/>
              </a:rPr>
              <a:t>Combined, the top three product type × technology cells generate an absolute $ opportunity of</a:t>
            </a:r>
          </a:p>
        </p:txBody>
      </p:sp>
      <p:pic>
        <p:nvPicPr>
          <p:cNvPr id="31" name="Picture 30" descr="lock.png"/>
          <p:cNvPicPr>
            <a:picLocks noChangeAspect="1"/>
          </p:cNvPicPr>
          <p:nvPr/>
        </p:nvPicPr>
        <p:blipFill>
          <a:blip r:embed="rId4"/>
          <a:stretch>
            <a:fillRect/>
          </a:stretch>
        </p:blipFill>
        <p:spPr>
          <a:xfrm>
            <a:off x="5957593" y="4292409"/>
            <a:ext cx="134549" cy="195707"/>
          </a:xfrm>
          <a:prstGeom prst="rect">
            <a:avLst/>
          </a:prstGeom>
        </p:spPr>
      </p:pic>
      <p:sp>
        <p:nvSpPr>
          <p:cNvPr id="32" name="TextBox 31"/>
          <p:cNvSpPr txBox="1"/>
          <p:nvPr/>
        </p:nvSpPr>
        <p:spPr>
          <a:xfrm>
            <a:off x="6132702" y="4302632"/>
            <a:ext cx="1155386" cy="194310"/>
          </a:xfrm>
          <a:prstGeom prst="rect">
            <a:avLst/>
          </a:prstGeom>
          <a:noFill/>
        </p:spPr>
        <p:txBody>
          <a:bodyPr wrap="none" lIns="0" rIns="0" tIns="0" bIns="0">
            <a:spAutoFit/>
          </a:bodyPr>
          <a:lstStyle/>
          <a:p>
            <a:r>
              <a:rPr sz="1150" b="0">
                <a:solidFill>
                  <a:srgbClr val="2E2E2E"/>
                </a:solidFill>
                <a:latin typeface="Calibri"/>
              </a:rPr>
              <a:t>US$ Mn by 2036F.</a:t>
            </a:r>
          </a:p>
        </p:txBody>
      </p:sp>
    </p:spTree>
  </p:cSld>
  <p:clrMapOvr>
    <a:masterClrMapping/>
  </p:clrMapOvr>
</p:sld>
</file>

<file path=ppt/slides/slide2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Market Share Analysis: Product Type × Technology, 2026E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U.S. market value, each row split across all technology sub-segments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390775"/>
          </a:xfrm>
          <a:prstGeom prst="roundRect">
            <a:avLst>
              <a:gd name="adj" fmla="val 31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Share, Product Type × Technology, 2026E (% of each row)</a:t>
            </a:r>
          </a:p>
        </p:txBody>
      </p:sp>
      <p:graphicFrame>
        <p:nvGraphicFramePr>
          <p:cNvPr id="13" name="Table 12"/>
          <p:cNvGraphicFramePr>
            <a:graphicFrameLocks noGrp="1"/>
          </p:cNvGraphicFramePr>
          <p:nvPr/>
        </p:nvGraphicFramePr>
        <p:xfrm>
          <a:off x="152400" y="1238250"/>
          <a:ext cx="11887200" cy="1924050"/>
        </p:xfrm>
        <a:graphic>
          <a:graphicData uri="http://schemas.openxmlformats.org/drawingml/2006/table">
            <a:tbl>
              <a:tblPr>
                <a:tableStyleId>{5C22544A-7EE6-4342-B048-85BDC9FD1C3A}</a:tableStyleId>
              </a:tblPr>
              <a:tblGrid>
                <a:gridCol w="2604064"/>
                <a:gridCol w="864743"/>
                <a:gridCol w="2115650"/>
                <a:gridCol w="1078705"/>
                <a:gridCol w="1083507"/>
                <a:gridCol w="2109355"/>
                <a:gridCol w="1487370"/>
                <a:gridCol w="543806"/>
              </a:tblGrid>
              <a:tr h="246126">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3">
                  <a:txBody>
                    <a:bodyPr wrap="none"/>
                    <a:lstStyle/>
                    <a:p>
                      <a:pPr algn="ctr"/>
                      <a:r>
                        <a:rPr sz="1100" b="1">
                          <a:solidFill>
                            <a:srgbClr val="0B2E4A"/>
                          </a:solidFill>
                          <a:latin typeface="Calibri"/>
                        </a:rPr>
                        <a:t>Conventional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3">
                  <a:txBody>
                    <a:bodyPr wrap="none"/>
                    <a:lstStyle/>
                    <a:p>
                      <a:pPr algn="ctr"/>
                      <a:r>
                        <a:rPr sz="1100" b="1">
                          <a:solidFill>
                            <a:srgbClr val="0B2E4A"/>
                          </a:solidFill>
                          <a:latin typeface="Calibri"/>
                        </a:rPr>
                        <a:t>Digital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440309">
                <a:tc vMerge="1">
                  <a:txBody>
                    <a:bodyPr wrap="none"/>
                    <a:lstStyle/>
                    <a:p>
                      <a:pPr algn="l"/>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Metal Casting</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Heat-cured / Compression Processing</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Injection Molding</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CAD/CAM Milling</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3D Printing / Additive Manufacturing</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Hybrid Digital Fabrication</a:t>
                      </a:r>
                      <a:endParaRPr sz="1100"/>
                    </a:p>
                  </a:txBody>
                  <a:tcPr marL="47625" marR="38100" marT="19050" marB="19050" anchor="ctr">
                    <a:solidFill>
                      <a:srgbClr val="E0E8EF"/>
                    </a:solidFill>
                  </a:tcPr>
                </a:tc>
                <a:tc>
                  <a:txBody>
                    <a:bodyPr wrap="none"/>
                    <a:lstStyle/>
                    <a:p>
                      <a:pPr algn="ctr"/>
                      <a:endParaRPr sz="1100"/>
                    </a:p>
                  </a:txBody>
                  <a:tcPr marL="47625" marR="38100" marT="19050" marB="19050" anchor="ctr">
                    <a:solidFill>
                      <a:srgbClr val="E0E8EF"/>
                    </a:solidFill>
                  </a:tcPr>
                </a:tc>
              </a:tr>
              <a:tr h="247523">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23">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23">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523">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523">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3171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505200"/>
            <a:ext cx="7286625" cy="3124200"/>
          </a:xfrm>
          <a:prstGeom prst="roundRect">
            <a:avLst>
              <a:gd name="adj" fmla="val 24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562350"/>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Technology Mix by Product Type, 2026E (% share)</a:t>
            </a:r>
          </a:p>
        </p:txBody>
      </p:sp>
      <p:graphicFrame>
        <p:nvGraphicFramePr>
          <p:cNvPr id="17" name="Chart 16"/>
          <p:cNvGraphicFramePr>
            <a:graphicFrameLocks noGrp="1"/>
          </p:cNvGraphicFramePr>
          <p:nvPr/>
        </p:nvGraphicFramePr>
        <p:xfrm>
          <a:off x="238125" y="3790950"/>
          <a:ext cx="7096125" cy="2781300"/>
        </p:xfrm>
        <a:graphic>
          <a:graphicData uri="http://schemas.openxmlformats.org/drawingml/2006/chart">
            <c:chart xmlns:c="http://schemas.openxmlformats.org/drawingml/2006/chart" r:id="rId3"/>
          </a:graphicData>
        </a:graphic>
      </p:graphicFrame>
      <p:sp>
        <p:nvSpPr>
          <p:cNvPr id="18" name="Rounded Rectangle 17"/>
          <p:cNvSpPr/>
          <p:nvPr/>
        </p:nvSpPr>
        <p:spPr>
          <a:xfrm>
            <a:off x="7581900" y="3505200"/>
            <a:ext cx="4457700" cy="3124200"/>
          </a:xfrm>
          <a:prstGeom prst="roundRect">
            <a:avLst>
              <a:gd name="adj" fmla="val 24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7715250" y="3590925"/>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20" name="Rectangle 19"/>
          <p:cNvSpPr/>
          <p:nvPr/>
        </p:nvSpPr>
        <p:spPr>
          <a:xfrm>
            <a:off x="7715250" y="3829050"/>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7715250" y="3914775"/>
            <a:ext cx="4191000" cy="26384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5"/>
          <a:stretch>
            <a:fillRect/>
          </a:stretch>
        </p:blipFill>
        <p:spPr>
          <a:xfrm>
            <a:off x="7211341" y="2276792"/>
            <a:ext cx="366712" cy="533400"/>
          </a:xfrm>
          <a:prstGeom prst="rect">
            <a:avLst/>
          </a:prstGeom>
        </p:spPr>
      </p:pic>
      <p:pic>
        <p:nvPicPr>
          <p:cNvPr id="24" name="Picture 23" descr="lock.png"/>
          <p:cNvPicPr>
            <a:picLocks noChangeAspect="1"/>
          </p:cNvPicPr>
          <p:nvPr/>
        </p:nvPicPr>
        <p:blipFill>
          <a:blip r:embed="rId5"/>
          <a:stretch>
            <a:fillRect/>
          </a:stretch>
        </p:blipFill>
        <p:spPr>
          <a:xfrm>
            <a:off x="3747745" y="4372085"/>
            <a:ext cx="365513" cy="531655"/>
          </a:xfrm>
          <a:prstGeom prst="rect">
            <a:avLst/>
          </a:prstGeom>
        </p:spPr>
      </p:pic>
      <p:sp>
        <p:nvSpPr>
          <p:cNvPr id="25" name="TextBox 24"/>
          <p:cNvSpPr txBox="1"/>
          <p:nvPr/>
        </p:nvSpPr>
        <p:spPr>
          <a:xfrm>
            <a:off x="7715250" y="3924300"/>
            <a:ext cx="4021832" cy="194310"/>
          </a:xfrm>
          <a:prstGeom prst="rect">
            <a:avLst/>
          </a:prstGeom>
          <a:noFill/>
        </p:spPr>
        <p:txBody>
          <a:bodyPr wrap="none" lIns="0" rIns="0" tIns="0" bIns="0">
            <a:spAutoFit/>
          </a:bodyPr>
          <a:lstStyle/>
          <a:p>
            <a:r>
              <a:rPr sz="1150" b="0">
                <a:solidFill>
                  <a:srgbClr val="2E2E2E"/>
                </a:solidFill>
                <a:latin typeface="Calibri"/>
              </a:rPr>
              <a:t>▪ 'Heat-cured / Compression Processing' holds the highest share of</a:t>
            </a:r>
          </a:p>
        </p:txBody>
      </p:sp>
      <p:sp>
        <p:nvSpPr>
          <p:cNvPr id="26" name="TextBox 25"/>
          <p:cNvSpPr txBox="1"/>
          <p:nvPr/>
        </p:nvSpPr>
        <p:spPr>
          <a:xfrm>
            <a:off x="7715250" y="4099560"/>
            <a:ext cx="1924930" cy="194310"/>
          </a:xfrm>
          <a:prstGeom prst="rect">
            <a:avLst/>
          </a:prstGeom>
          <a:noFill/>
        </p:spPr>
        <p:txBody>
          <a:bodyPr wrap="none" lIns="0" rIns="0" tIns="0" bIns="0">
            <a:spAutoFit/>
          </a:bodyPr>
          <a:lstStyle/>
          <a:p>
            <a:r>
              <a:rPr sz="1150" b="0">
                <a:solidFill>
                  <a:srgbClr val="2E2E2E"/>
                </a:solidFill>
                <a:latin typeface="Calibri"/>
              </a:rPr>
              <a:t>'Cast Metal Partial Dentures' at</a:t>
            </a:r>
          </a:p>
        </p:txBody>
      </p:sp>
      <p:pic>
        <p:nvPicPr>
          <p:cNvPr id="27" name="Picture 26" descr="lock.png"/>
          <p:cNvPicPr>
            <a:picLocks noChangeAspect="1"/>
          </p:cNvPicPr>
          <p:nvPr/>
        </p:nvPicPr>
        <p:blipFill>
          <a:blip r:embed="rId5"/>
          <a:stretch>
            <a:fillRect/>
          </a:stretch>
        </p:blipFill>
        <p:spPr>
          <a:xfrm>
            <a:off x="9589334" y="4089336"/>
            <a:ext cx="134549" cy="195707"/>
          </a:xfrm>
          <a:prstGeom prst="rect">
            <a:avLst/>
          </a:prstGeom>
        </p:spPr>
      </p:pic>
      <p:sp>
        <p:nvSpPr>
          <p:cNvPr id="28" name="TextBox 27"/>
          <p:cNvSpPr txBox="1"/>
          <p:nvPr/>
        </p:nvSpPr>
        <p:spPr>
          <a:xfrm>
            <a:off x="9764443" y="4099560"/>
            <a:ext cx="569404" cy="194310"/>
          </a:xfrm>
          <a:prstGeom prst="rect">
            <a:avLst/>
          </a:prstGeom>
          <a:noFill/>
        </p:spPr>
        <p:txBody>
          <a:bodyPr wrap="none" lIns="0" rIns="0" tIns="0" bIns="0">
            <a:spAutoFit/>
          </a:bodyPr>
          <a:lstStyle/>
          <a:p>
            <a:r>
              <a:rPr sz="1150" b="0">
                <a:solidFill>
                  <a:srgbClr val="2E2E2E"/>
                </a:solidFill>
                <a:latin typeface="Calibri"/>
              </a:rPr>
              <a:t>(2026E).</a:t>
            </a:r>
          </a:p>
        </p:txBody>
      </p:sp>
      <p:sp>
        <p:nvSpPr>
          <p:cNvPr id="29" name="TextBox 28"/>
          <p:cNvSpPr txBox="1"/>
          <p:nvPr/>
        </p:nvSpPr>
        <p:spPr>
          <a:xfrm>
            <a:off x="7715250" y="4327397"/>
            <a:ext cx="4171950" cy="194310"/>
          </a:xfrm>
          <a:prstGeom prst="rect">
            <a:avLst/>
          </a:prstGeom>
          <a:noFill/>
        </p:spPr>
        <p:txBody>
          <a:bodyPr wrap="none" lIns="0" rIns="0" tIns="0" bIns="0">
            <a:spAutoFit/>
          </a:bodyPr>
          <a:lstStyle/>
          <a:p>
            <a:r>
              <a:rPr sz="1150" b="0">
                <a:solidFill>
                  <a:srgbClr val="2E2E2E"/>
                </a:solidFill>
                <a:latin typeface="Calibri"/>
              </a:rPr>
              <a:t>▪ 'Cast Metal Partial Dentures' is the most concentrated product type</a:t>
            </a:r>
          </a:p>
        </p:txBody>
      </p:sp>
      <p:sp>
        <p:nvSpPr>
          <p:cNvPr id="30" name="TextBox 29"/>
          <p:cNvSpPr txBox="1"/>
          <p:nvPr/>
        </p:nvSpPr>
        <p:spPr>
          <a:xfrm>
            <a:off x="7715250" y="4502657"/>
            <a:ext cx="1178706" cy="194310"/>
          </a:xfrm>
          <a:prstGeom prst="rect">
            <a:avLst/>
          </a:prstGeom>
          <a:noFill/>
        </p:spPr>
        <p:txBody>
          <a:bodyPr wrap="none" lIns="0" rIns="0" tIns="0" bIns="0">
            <a:spAutoFit/>
          </a:bodyPr>
          <a:lstStyle/>
          <a:p>
            <a:r>
              <a:rPr sz="1150" b="0">
                <a:solidFill>
                  <a:srgbClr val="2E2E2E"/>
                </a:solidFill>
                <a:latin typeface="Calibri"/>
              </a:rPr>
              <a:t>sub-segment, with</a:t>
            </a:r>
          </a:p>
        </p:txBody>
      </p:sp>
      <p:pic>
        <p:nvPicPr>
          <p:cNvPr id="31" name="Picture 30" descr="lock.png"/>
          <p:cNvPicPr>
            <a:picLocks noChangeAspect="1"/>
          </p:cNvPicPr>
          <p:nvPr/>
        </p:nvPicPr>
        <p:blipFill>
          <a:blip r:embed="rId5"/>
          <a:stretch>
            <a:fillRect/>
          </a:stretch>
        </p:blipFill>
        <p:spPr>
          <a:xfrm>
            <a:off x="8843110" y="4492434"/>
            <a:ext cx="134549" cy="195707"/>
          </a:xfrm>
          <a:prstGeom prst="rect">
            <a:avLst/>
          </a:prstGeom>
        </p:spPr>
      </p:pic>
      <p:sp>
        <p:nvSpPr>
          <p:cNvPr id="32" name="TextBox 31"/>
          <p:cNvSpPr txBox="1"/>
          <p:nvPr/>
        </p:nvSpPr>
        <p:spPr>
          <a:xfrm>
            <a:off x="9018219" y="4502657"/>
            <a:ext cx="2553344" cy="194310"/>
          </a:xfrm>
          <a:prstGeom prst="rect">
            <a:avLst/>
          </a:prstGeom>
          <a:noFill/>
        </p:spPr>
        <p:txBody>
          <a:bodyPr wrap="none" lIns="0" rIns="0" tIns="0" bIns="0">
            <a:spAutoFit/>
          </a:bodyPr>
          <a:lstStyle/>
          <a:p>
            <a:r>
              <a:rPr sz="1150" b="0">
                <a:solidFill>
                  <a:srgbClr val="2E2E2E"/>
                </a:solidFill>
                <a:latin typeface="Calibri"/>
              </a:rPr>
              <a:t>of its value via 'Heat-cured / Compression</a:t>
            </a:r>
          </a:p>
        </p:txBody>
      </p:sp>
      <p:sp>
        <p:nvSpPr>
          <p:cNvPr id="33" name="TextBox 32"/>
          <p:cNvSpPr txBox="1"/>
          <p:nvPr/>
        </p:nvSpPr>
        <p:spPr>
          <a:xfrm>
            <a:off x="7715250" y="4677917"/>
            <a:ext cx="776783" cy="194310"/>
          </a:xfrm>
          <a:prstGeom prst="rect">
            <a:avLst/>
          </a:prstGeom>
          <a:noFill/>
        </p:spPr>
        <p:txBody>
          <a:bodyPr wrap="none" lIns="0" rIns="0" tIns="0" bIns="0">
            <a:spAutoFit/>
          </a:bodyPr>
          <a:lstStyle/>
          <a:p>
            <a:r>
              <a:rPr sz="1150" b="0">
                <a:solidFill>
                  <a:srgbClr val="2E2E2E"/>
                </a:solidFill>
                <a:latin typeface="Calibri"/>
              </a:rPr>
              <a:t>Processing'.</a:t>
            </a:r>
          </a:p>
        </p:txBody>
      </p:sp>
      <p:sp>
        <p:nvSpPr>
          <p:cNvPr id="34" name="TextBox 33"/>
          <p:cNvSpPr txBox="1"/>
          <p:nvPr/>
        </p:nvSpPr>
        <p:spPr>
          <a:xfrm>
            <a:off x="7715250" y="4905755"/>
            <a:ext cx="1486780" cy="194310"/>
          </a:xfrm>
          <a:prstGeom prst="rect">
            <a:avLst/>
          </a:prstGeom>
          <a:noFill/>
        </p:spPr>
        <p:txBody>
          <a:bodyPr wrap="none" lIns="0" rIns="0" tIns="0" bIns="0">
            <a:spAutoFit/>
          </a:bodyPr>
          <a:lstStyle/>
          <a:p>
            <a:r>
              <a:rPr sz="1150" b="0">
                <a:solidFill>
                  <a:srgbClr val="2E2E2E"/>
                </a:solidFill>
                <a:latin typeface="Calibri"/>
              </a:rPr>
              <a:t>▪ 'Metal Casting' gains +</a:t>
            </a:r>
          </a:p>
        </p:txBody>
      </p:sp>
      <p:pic>
        <p:nvPicPr>
          <p:cNvPr id="35" name="Picture 34" descr="lock.png"/>
          <p:cNvPicPr>
            <a:picLocks noChangeAspect="1"/>
          </p:cNvPicPr>
          <p:nvPr/>
        </p:nvPicPr>
        <p:blipFill>
          <a:blip r:embed="rId5"/>
          <a:stretch>
            <a:fillRect/>
          </a:stretch>
        </p:blipFill>
        <p:spPr>
          <a:xfrm>
            <a:off x="9151184" y="4895532"/>
            <a:ext cx="134549" cy="195707"/>
          </a:xfrm>
          <a:prstGeom prst="rect">
            <a:avLst/>
          </a:prstGeom>
        </p:spPr>
      </p:pic>
      <p:sp>
        <p:nvSpPr>
          <p:cNvPr id="36" name="TextBox 35"/>
          <p:cNvSpPr txBox="1"/>
          <p:nvPr/>
        </p:nvSpPr>
        <p:spPr>
          <a:xfrm>
            <a:off x="9326293" y="4905755"/>
            <a:ext cx="2453506" cy="194310"/>
          </a:xfrm>
          <a:prstGeom prst="rect">
            <a:avLst/>
          </a:prstGeom>
          <a:noFill/>
        </p:spPr>
        <p:txBody>
          <a:bodyPr wrap="none" lIns="0" rIns="0" tIns="0" bIns="0">
            <a:spAutoFit/>
          </a:bodyPr>
          <a:lstStyle/>
          <a:p>
            <a:r>
              <a:rPr sz="1150" b="0">
                <a:solidFill>
                  <a:srgbClr val="2E2E2E"/>
                </a:solidFill>
                <a:latin typeface="Calibri"/>
              </a:rPr>
              <a:t>BPS of share of the U.S. cross-section by</a:t>
            </a:r>
          </a:p>
        </p:txBody>
      </p:sp>
      <p:sp>
        <p:nvSpPr>
          <p:cNvPr id="37" name="TextBox 36"/>
          <p:cNvSpPr txBox="1"/>
          <p:nvPr/>
        </p:nvSpPr>
        <p:spPr>
          <a:xfrm>
            <a:off x="7715250" y="5081015"/>
            <a:ext cx="476482" cy="194310"/>
          </a:xfrm>
          <a:prstGeom prst="rect">
            <a:avLst/>
          </a:prstGeom>
          <a:noFill/>
        </p:spPr>
        <p:txBody>
          <a:bodyPr wrap="none" lIns="0" rIns="0" tIns="0" bIns="0">
            <a:spAutoFit/>
          </a:bodyPr>
          <a:lstStyle/>
          <a:p>
            <a:r>
              <a:rPr sz="1150" b="0">
                <a:solidFill>
                  <a:srgbClr val="2E2E2E"/>
                </a:solidFill>
                <a:latin typeface="Calibri"/>
              </a:rPr>
              <a:t>2036F.</a:t>
            </a:r>
          </a:p>
        </p:txBody>
      </p:sp>
      <p:sp>
        <p:nvSpPr>
          <p:cNvPr id="38" name="lockshield_17"/>
          <p:cNvSpPr/>
          <p:nvPr/>
        </p:nvSpPr>
        <p:spPr>
          <a:xfrm>
            <a:off x="238125" y="3790950"/>
            <a:ext cx="7096125" cy="27813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Absolute $ Opportunity &amp; Attractiveness: Product Type × Technology, 2026E–2036F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U.S.</a:t>
            </a:r>
          </a:p>
        </p:txBody>
      </p:sp>
      <p:sp>
        <p:nvSpPr>
          <p:cNvPr id="11" name="Rounded Rectangle 10"/>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Product Type × Technology, 2026E–2036F</a:t>
            </a:r>
          </a:p>
        </p:txBody>
      </p:sp>
      <p:graphicFrame>
        <p:nvGraphicFramePr>
          <p:cNvPr id="13" name="Table 12"/>
          <p:cNvGraphicFramePr>
            <a:graphicFrameLocks noGrp="1"/>
          </p:cNvGraphicFramePr>
          <p:nvPr/>
        </p:nvGraphicFramePr>
        <p:xfrm>
          <a:off x="152400" y="1238250"/>
          <a:ext cx="11887198" cy="1724028"/>
        </p:xfrm>
        <a:graphic>
          <a:graphicData uri="http://schemas.openxmlformats.org/drawingml/2006/table">
            <a:tbl>
              <a:tblPr>
                <a:tableStyleId>{5C22544A-7EE6-4342-B048-85BDC9FD1C3A}</a:tableStyleId>
              </a:tblPr>
              <a:tblGrid>
                <a:gridCol w="5084896"/>
                <a:gridCol w="1133717"/>
                <a:gridCol w="1133717"/>
                <a:gridCol w="1133717"/>
                <a:gridCol w="1133717"/>
                <a:gridCol w="1133717"/>
                <a:gridCol w="1133717"/>
              </a:tblGrid>
              <a:tr h="246126">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Conventional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Digital Fabrication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6317">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46317">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7">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05175"/>
            <a:ext cx="560070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3390900"/>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7" name="Rectangle 16"/>
          <p:cNvSpPr/>
          <p:nvPr/>
        </p:nvSpPr>
        <p:spPr>
          <a:xfrm>
            <a:off x="276225" y="3629025"/>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714750"/>
            <a:ext cx="533400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Rounded Rectangle 18"/>
          <p:cNvSpPr/>
          <p:nvPr/>
        </p:nvSpPr>
        <p:spPr>
          <a:xfrm>
            <a:off x="5895975" y="3305175"/>
            <a:ext cx="1943100" cy="33242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029325" y="3390900"/>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21" name="Rectangle 20"/>
          <p:cNvSpPr/>
          <p:nvPr/>
        </p:nvSpPr>
        <p:spPr>
          <a:xfrm>
            <a:off x="6029325" y="36290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029325" y="3714750"/>
            <a:ext cx="167640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3" name="Rounded Rectangle 22"/>
          <p:cNvSpPr/>
          <p:nvPr/>
        </p:nvSpPr>
        <p:spPr>
          <a:xfrm>
            <a:off x="7991475" y="3305175"/>
            <a:ext cx="1943100" cy="33242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124825" y="3390900"/>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5" name="Rectangle 24"/>
          <p:cNvSpPr/>
          <p:nvPr/>
        </p:nvSpPr>
        <p:spPr>
          <a:xfrm>
            <a:off x="8124825" y="36290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124825" y="3714750"/>
            <a:ext cx="167640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7" name="Rounded Rectangle 26"/>
          <p:cNvSpPr/>
          <p:nvPr/>
        </p:nvSpPr>
        <p:spPr>
          <a:xfrm>
            <a:off x="10086975" y="3305175"/>
            <a:ext cx="1943100" cy="33242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220325" y="3390900"/>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9" name="Rectangle 28"/>
          <p:cNvSpPr/>
          <p:nvPr/>
        </p:nvSpPr>
        <p:spPr>
          <a:xfrm>
            <a:off x="10220325" y="36290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10220325" y="3714750"/>
            <a:ext cx="167640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'Acrylic Partial Dentures × Conventional Fabrication' ranks highest (5/5); 'Cast Metal Partial Dentures × Digital Fabrication' lowest (1/5), a deprioritised cell.</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4"/>
          <a:stretch>
            <a:fillRect/>
          </a:stretch>
        </p:blipFill>
        <p:spPr>
          <a:xfrm>
            <a:off x="8451757" y="2079785"/>
            <a:ext cx="366712" cy="533400"/>
          </a:xfrm>
          <a:prstGeom prst="rect">
            <a:avLst/>
          </a:prstGeom>
        </p:spPr>
      </p:pic>
      <p:sp>
        <p:nvSpPr>
          <p:cNvPr id="33" name="TextBox 32"/>
          <p:cNvSpPr txBox="1"/>
          <p:nvPr/>
        </p:nvSpPr>
        <p:spPr>
          <a:xfrm>
            <a:off x="276225" y="3724275"/>
            <a:ext cx="3424162" cy="194310"/>
          </a:xfrm>
          <a:prstGeom prst="rect">
            <a:avLst/>
          </a:prstGeom>
          <a:noFill/>
        </p:spPr>
        <p:txBody>
          <a:bodyPr wrap="none" lIns="0" rIns="0" tIns="0" bIns="0">
            <a:spAutoFit/>
          </a:bodyPr>
          <a:lstStyle/>
          <a:p>
            <a:r>
              <a:rPr sz="1150" b="0">
                <a:solidFill>
                  <a:srgbClr val="2E2E2E"/>
                </a:solidFill>
                <a:latin typeface="Calibri"/>
              </a:rPr>
              <a:t>▪ 1. Acrylic Partial Dentures × Conventional Fabrication –</a:t>
            </a:r>
          </a:p>
        </p:txBody>
      </p:sp>
      <p:pic>
        <p:nvPicPr>
          <p:cNvPr id="34" name="Picture 33" descr="lock.png"/>
          <p:cNvPicPr>
            <a:picLocks noChangeAspect="1"/>
          </p:cNvPicPr>
          <p:nvPr/>
        </p:nvPicPr>
        <p:blipFill>
          <a:blip r:embed="rId4"/>
          <a:stretch>
            <a:fillRect/>
          </a:stretch>
        </p:blipFill>
        <p:spPr>
          <a:xfrm>
            <a:off x="3649541" y="3714051"/>
            <a:ext cx="134549" cy="195707"/>
          </a:xfrm>
          <a:prstGeom prst="rect">
            <a:avLst/>
          </a:prstGeom>
        </p:spPr>
      </p:pic>
      <p:sp>
        <p:nvSpPr>
          <p:cNvPr id="35" name="TextBox 34"/>
          <p:cNvSpPr txBox="1"/>
          <p:nvPr/>
        </p:nvSpPr>
        <p:spPr>
          <a:xfrm>
            <a:off x="3824650" y="3724275"/>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6" name="Picture 35" descr="lock.png"/>
          <p:cNvPicPr>
            <a:picLocks noChangeAspect="1"/>
          </p:cNvPicPr>
          <p:nvPr/>
        </p:nvPicPr>
        <p:blipFill>
          <a:blip r:embed="rId4"/>
          <a:stretch>
            <a:fillRect/>
          </a:stretch>
        </p:blipFill>
        <p:spPr>
          <a:xfrm>
            <a:off x="3886802" y="3714051"/>
            <a:ext cx="134549" cy="195707"/>
          </a:xfrm>
          <a:prstGeom prst="rect">
            <a:avLst/>
          </a:prstGeom>
        </p:spPr>
      </p:pic>
      <p:sp>
        <p:nvSpPr>
          <p:cNvPr id="37" name="TextBox 36"/>
          <p:cNvSpPr txBox="1"/>
          <p:nvPr/>
        </p:nvSpPr>
        <p:spPr>
          <a:xfrm>
            <a:off x="4061911" y="3724275"/>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38" name="TextBox 37"/>
          <p:cNvSpPr txBox="1"/>
          <p:nvPr/>
        </p:nvSpPr>
        <p:spPr>
          <a:xfrm>
            <a:off x="276225" y="3952112"/>
            <a:ext cx="3484921" cy="194310"/>
          </a:xfrm>
          <a:prstGeom prst="rect">
            <a:avLst/>
          </a:prstGeom>
          <a:noFill/>
        </p:spPr>
        <p:txBody>
          <a:bodyPr wrap="none" lIns="0" rIns="0" tIns="0" bIns="0">
            <a:spAutoFit/>
          </a:bodyPr>
          <a:lstStyle/>
          <a:p>
            <a:r>
              <a:rPr sz="1150" b="0">
                <a:solidFill>
                  <a:srgbClr val="2E2E2E"/>
                </a:solidFill>
                <a:latin typeface="Calibri"/>
              </a:rPr>
              <a:t>▪ 2. Flexible Partial Dentures × Conventional Fabrication –</a:t>
            </a:r>
          </a:p>
        </p:txBody>
      </p:sp>
      <p:pic>
        <p:nvPicPr>
          <p:cNvPr id="39" name="Picture 38" descr="lock.png"/>
          <p:cNvPicPr>
            <a:picLocks noChangeAspect="1"/>
          </p:cNvPicPr>
          <p:nvPr/>
        </p:nvPicPr>
        <p:blipFill>
          <a:blip r:embed="rId4"/>
          <a:stretch>
            <a:fillRect/>
          </a:stretch>
        </p:blipFill>
        <p:spPr>
          <a:xfrm>
            <a:off x="3710300" y="3941889"/>
            <a:ext cx="134549" cy="195707"/>
          </a:xfrm>
          <a:prstGeom prst="rect">
            <a:avLst/>
          </a:prstGeom>
        </p:spPr>
      </p:pic>
      <p:sp>
        <p:nvSpPr>
          <p:cNvPr id="40" name="TextBox 39"/>
          <p:cNvSpPr txBox="1"/>
          <p:nvPr/>
        </p:nvSpPr>
        <p:spPr>
          <a:xfrm>
            <a:off x="3885409" y="3952112"/>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1" name="Picture 40" descr="lock.png"/>
          <p:cNvPicPr>
            <a:picLocks noChangeAspect="1"/>
          </p:cNvPicPr>
          <p:nvPr/>
        </p:nvPicPr>
        <p:blipFill>
          <a:blip r:embed="rId4"/>
          <a:stretch>
            <a:fillRect/>
          </a:stretch>
        </p:blipFill>
        <p:spPr>
          <a:xfrm>
            <a:off x="3947561" y="3941889"/>
            <a:ext cx="134549" cy="195707"/>
          </a:xfrm>
          <a:prstGeom prst="rect">
            <a:avLst/>
          </a:prstGeom>
        </p:spPr>
      </p:pic>
      <p:sp>
        <p:nvSpPr>
          <p:cNvPr id="42" name="TextBox 41"/>
          <p:cNvSpPr txBox="1"/>
          <p:nvPr/>
        </p:nvSpPr>
        <p:spPr>
          <a:xfrm>
            <a:off x="4122670" y="3952112"/>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3" name="TextBox 42"/>
          <p:cNvSpPr txBox="1"/>
          <p:nvPr/>
        </p:nvSpPr>
        <p:spPr>
          <a:xfrm>
            <a:off x="276225" y="4179950"/>
            <a:ext cx="4505845" cy="194310"/>
          </a:xfrm>
          <a:prstGeom prst="rect">
            <a:avLst/>
          </a:prstGeom>
          <a:noFill/>
        </p:spPr>
        <p:txBody>
          <a:bodyPr wrap="none" lIns="0" rIns="0" tIns="0" bIns="0">
            <a:spAutoFit/>
          </a:bodyPr>
          <a:lstStyle/>
          <a:p>
            <a:r>
              <a:rPr sz="1150" b="0">
                <a:solidFill>
                  <a:srgbClr val="2E2E2E"/>
                </a:solidFill>
                <a:latin typeface="Calibri"/>
              </a:rPr>
              <a:t>▪ 3. Combination Framework Partial Dentures × Conventional Fabrication –</a:t>
            </a:r>
          </a:p>
        </p:txBody>
      </p:sp>
      <p:pic>
        <p:nvPicPr>
          <p:cNvPr id="44" name="Picture 43" descr="lock.png"/>
          <p:cNvPicPr>
            <a:picLocks noChangeAspect="1"/>
          </p:cNvPicPr>
          <p:nvPr/>
        </p:nvPicPr>
        <p:blipFill>
          <a:blip r:embed="rId4"/>
          <a:stretch>
            <a:fillRect/>
          </a:stretch>
        </p:blipFill>
        <p:spPr>
          <a:xfrm>
            <a:off x="4731224" y="4169727"/>
            <a:ext cx="134549" cy="195707"/>
          </a:xfrm>
          <a:prstGeom prst="rect">
            <a:avLst/>
          </a:prstGeom>
        </p:spPr>
      </p:pic>
      <p:sp>
        <p:nvSpPr>
          <p:cNvPr id="45" name="TextBox 44"/>
          <p:cNvSpPr txBox="1"/>
          <p:nvPr/>
        </p:nvSpPr>
        <p:spPr>
          <a:xfrm>
            <a:off x="4906333" y="4179950"/>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6" name="Picture 45" descr="lock.png"/>
          <p:cNvPicPr>
            <a:picLocks noChangeAspect="1"/>
          </p:cNvPicPr>
          <p:nvPr/>
        </p:nvPicPr>
        <p:blipFill>
          <a:blip r:embed="rId4"/>
          <a:stretch>
            <a:fillRect/>
          </a:stretch>
        </p:blipFill>
        <p:spPr>
          <a:xfrm>
            <a:off x="4968485" y="4169727"/>
            <a:ext cx="134549" cy="195707"/>
          </a:xfrm>
          <a:prstGeom prst="rect">
            <a:avLst/>
          </a:prstGeom>
        </p:spPr>
      </p:pic>
      <p:sp>
        <p:nvSpPr>
          <p:cNvPr id="47" name="TextBox 46"/>
          <p:cNvSpPr txBox="1"/>
          <p:nvPr/>
        </p:nvSpPr>
        <p:spPr>
          <a:xfrm>
            <a:off x="5143594" y="4179950"/>
            <a:ext cx="112997" cy="194310"/>
          </a:xfrm>
          <a:prstGeom prst="rect">
            <a:avLst/>
          </a:prstGeom>
          <a:noFill/>
        </p:spPr>
        <p:txBody>
          <a:bodyPr wrap="none" lIns="0" rIns="0" tIns="0" bIns="0">
            <a:spAutoFit/>
          </a:bodyPr>
          <a:lstStyle/>
          <a:p>
            <a:r>
              <a:rPr sz="1150" b="0">
                <a:solidFill>
                  <a:srgbClr val="2E2E2E"/>
                </a:solidFill>
                <a:latin typeface="Calibri"/>
              </a:rPr>
              <a:t>·</a:t>
            </a:r>
          </a:p>
        </p:txBody>
      </p:sp>
      <p:sp>
        <p:nvSpPr>
          <p:cNvPr id="48" name="TextBox 47"/>
          <p:cNvSpPr txBox="1"/>
          <p:nvPr/>
        </p:nvSpPr>
        <p:spPr>
          <a:xfrm>
            <a:off x="276225" y="4355210"/>
            <a:ext cx="281012" cy="194310"/>
          </a:xfrm>
          <a:prstGeom prst="rect">
            <a:avLst/>
          </a:prstGeom>
          <a:noFill/>
        </p:spPr>
        <p:txBody>
          <a:bodyPr wrap="none" lIns="0" rIns="0" tIns="0" bIns="0">
            <a:spAutoFit/>
          </a:bodyPr>
          <a:lstStyle/>
          <a:p>
            <a:r>
              <a:rPr sz="1150" b="0">
                <a:solidFill>
                  <a:srgbClr val="2E2E2E"/>
                </a:solidFill>
                <a:latin typeface="Calibri"/>
              </a:rPr>
              <a:t>5/5</a:t>
            </a:r>
          </a:p>
        </p:txBody>
      </p:sp>
      <p:sp>
        <p:nvSpPr>
          <p:cNvPr id="49" name="TextBox 48"/>
          <p:cNvSpPr txBox="1"/>
          <p:nvPr/>
        </p:nvSpPr>
        <p:spPr>
          <a:xfrm>
            <a:off x="276225" y="4583048"/>
            <a:ext cx="3668625" cy="194310"/>
          </a:xfrm>
          <a:prstGeom prst="rect">
            <a:avLst/>
          </a:prstGeom>
          <a:noFill/>
        </p:spPr>
        <p:txBody>
          <a:bodyPr wrap="none" lIns="0" rIns="0" tIns="0" bIns="0">
            <a:spAutoFit/>
          </a:bodyPr>
          <a:lstStyle/>
          <a:p>
            <a:r>
              <a:rPr sz="1150" b="0">
                <a:solidFill>
                  <a:srgbClr val="2E2E2E"/>
                </a:solidFill>
                <a:latin typeface="Calibri"/>
              </a:rPr>
              <a:t>▪ 4. Cast Metal Partial Dentures × Conventional Fabrication –</a:t>
            </a:r>
          </a:p>
        </p:txBody>
      </p:sp>
      <p:pic>
        <p:nvPicPr>
          <p:cNvPr id="50" name="Picture 49" descr="lock.png"/>
          <p:cNvPicPr>
            <a:picLocks noChangeAspect="1"/>
          </p:cNvPicPr>
          <p:nvPr/>
        </p:nvPicPr>
        <p:blipFill>
          <a:blip r:embed="rId4"/>
          <a:stretch>
            <a:fillRect/>
          </a:stretch>
        </p:blipFill>
        <p:spPr>
          <a:xfrm>
            <a:off x="3894004" y="4572825"/>
            <a:ext cx="134549" cy="195707"/>
          </a:xfrm>
          <a:prstGeom prst="rect">
            <a:avLst/>
          </a:prstGeom>
        </p:spPr>
      </p:pic>
      <p:sp>
        <p:nvSpPr>
          <p:cNvPr id="51" name="TextBox 50"/>
          <p:cNvSpPr txBox="1"/>
          <p:nvPr/>
        </p:nvSpPr>
        <p:spPr>
          <a:xfrm>
            <a:off x="4069113" y="4583048"/>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2" name="Picture 51" descr="lock.png"/>
          <p:cNvPicPr>
            <a:picLocks noChangeAspect="1"/>
          </p:cNvPicPr>
          <p:nvPr/>
        </p:nvPicPr>
        <p:blipFill>
          <a:blip r:embed="rId4"/>
          <a:stretch>
            <a:fillRect/>
          </a:stretch>
        </p:blipFill>
        <p:spPr>
          <a:xfrm>
            <a:off x="4131265" y="4572825"/>
            <a:ext cx="134549" cy="195707"/>
          </a:xfrm>
          <a:prstGeom prst="rect">
            <a:avLst/>
          </a:prstGeom>
        </p:spPr>
      </p:pic>
      <p:sp>
        <p:nvSpPr>
          <p:cNvPr id="53" name="TextBox 52"/>
          <p:cNvSpPr txBox="1"/>
          <p:nvPr/>
        </p:nvSpPr>
        <p:spPr>
          <a:xfrm>
            <a:off x="4306374" y="4583048"/>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54" name="TextBox 53"/>
          <p:cNvSpPr txBox="1"/>
          <p:nvPr/>
        </p:nvSpPr>
        <p:spPr>
          <a:xfrm>
            <a:off x="276225" y="4810886"/>
            <a:ext cx="3076438" cy="194310"/>
          </a:xfrm>
          <a:prstGeom prst="rect">
            <a:avLst/>
          </a:prstGeom>
          <a:noFill/>
        </p:spPr>
        <p:txBody>
          <a:bodyPr wrap="none" lIns="0" rIns="0" tIns="0" bIns="0">
            <a:spAutoFit/>
          </a:bodyPr>
          <a:lstStyle/>
          <a:p>
            <a:r>
              <a:rPr sz="1150" b="0">
                <a:solidFill>
                  <a:srgbClr val="2E2E2E"/>
                </a:solidFill>
                <a:latin typeface="Calibri"/>
              </a:rPr>
              <a:t>▪ 5. Flexible Partial Dentures × Digital Fabrication –</a:t>
            </a:r>
          </a:p>
        </p:txBody>
      </p:sp>
      <p:pic>
        <p:nvPicPr>
          <p:cNvPr id="55" name="Picture 54" descr="lock.png"/>
          <p:cNvPicPr>
            <a:picLocks noChangeAspect="1"/>
          </p:cNvPicPr>
          <p:nvPr/>
        </p:nvPicPr>
        <p:blipFill>
          <a:blip r:embed="rId4"/>
          <a:stretch>
            <a:fillRect/>
          </a:stretch>
        </p:blipFill>
        <p:spPr>
          <a:xfrm>
            <a:off x="3301817" y="4800663"/>
            <a:ext cx="134549" cy="195707"/>
          </a:xfrm>
          <a:prstGeom prst="rect">
            <a:avLst/>
          </a:prstGeom>
        </p:spPr>
      </p:pic>
      <p:sp>
        <p:nvSpPr>
          <p:cNvPr id="56" name="TextBox 55"/>
          <p:cNvSpPr txBox="1"/>
          <p:nvPr/>
        </p:nvSpPr>
        <p:spPr>
          <a:xfrm>
            <a:off x="3476926" y="4810886"/>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7" name="Picture 56" descr="lock.png"/>
          <p:cNvPicPr>
            <a:picLocks noChangeAspect="1"/>
          </p:cNvPicPr>
          <p:nvPr/>
        </p:nvPicPr>
        <p:blipFill>
          <a:blip r:embed="rId4"/>
          <a:stretch>
            <a:fillRect/>
          </a:stretch>
        </p:blipFill>
        <p:spPr>
          <a:xfrm>
            <a:off x="3539078" y="4800663"/>
            <a:ext cx="134549" cy="195707"/>
          </a:xfrm>
          <a:prstGeom prst="rect">
            <a:avLst/>
          </a:prstGeom>
        </p:spPr>
      </p:pic>
      <p:sp>
        <p:nvSpPr>
          <p:cNvPr id="58" name="TextBox 57"/>
          <p:cNvSpPr txBox="1"/>
          <p:nvPr/>
        </p:nvSpPr>
        <p:spPr>
          <a:xfrm>
            <a:off x="3714187" y="4810886"/>
            <a:ext cx="350899" cy="194310"/>
          </a:xfrm>
          <a:prstGeom prst="rect">
            <a:avLst/>
          </a:prstGeom>
          <a:noFill/>
        </p:spPr>
        <p:txBody>
          <a:bodyPr wrap="none" lIns="0" rIns="0" tIns="0" bIns="0">
            <a:spAutoFit/>
          </a:bodyPr>
          <a:lstStyle/>
          <a:p>
            <a:r>
              <a:rPr sz="1150" b="0">
                <a:solidFill>
                  <a:srgbClr val="2E2E2E"/>
                </a:solidFill>
                <a:latin typeface="Calibri"/>
              </a:rPr>
              <a:t>· 2/5</a:t>
            </a:r>
          </a:p>
        </p:txBody>
      </p:sp>
      <p:sp>
        <p:nvSpPr>
          <p:cNvPr id="59" name="TextBox 58"/>
          <p:cNvSpPr txBox="1"/>
          <p:nvPr/>
        </p:nvSpPr>
        <p:spPr>
          <a:xfrm>
            <a:off x="6029325" y="3724275"/>
            <a:ext cx="1657350" cy="194310"/>
          </a:xfrm>
          <a:prstGeom prst="rect">
            <a:avLst/>
          </a:prstGeom>
          <a:noFill/>
        </p:spPr>
        <p:txBody>
          <a:bodyPr wrap="none" lIns="0" rIns="0" tIns="0" bIns="0">
            <a:spAutoFit/>
          </a:bodyPr>
          <a:lstStyle/>
          <a:p>
            <a:r>
              <a:rPr sz="1150" b="0">
                <a:solidFill>
                  <a:srgbClr val="2E2E2E"/>
                </a:solidFill>
                <a:latin typeface="Calibri"/>
              </a:rPr>
              <a:t>▪ 'Acrylic Partial Dentures ×</a:t>
            </a:r>
          </a:p>
        </p:txBody>
      </p:sp>
      <p:sp>
        <p:nvSpPr>
          <p:cNvPr id="60" name="TextBox 59"/>
          <p:cNvSpPr txBox="1"/>
          <p:nvPr/>
        </p:nvSpPr>
        <p:spPr>
          <a:xfrm>
            <a:off x="6029325" y="3899535"/>
            <a:ext cx="1595114" cy="194310"/>
          </a:xfrm>
          <a:prstGeom prst="rect">
            <a:avLst/>
          </a:prstGeom>
          <a:noFill/>
        </p:spPr>
        <p:txBody>
          <a:bodyPr wrap="none" lIns="0" rIns="0" tIns="0" bIns="0">
            <a:spAutoFit/>
          </a:bodyPr>
          <a:lstStyle/>
          <a:p>
            <a:r>
              <a:rPr sz="1150" b="0">
                <a:solidFill>
                  <a:srgbClr val="2E2E2E"/>
                </a:solidFill>
                <a:latin typeface="Calibri"/>
              </a:rPr>
              <a:t>Conventional Fabrication'</a:t>
            </a:r>
          </a:p>
        </p:txBody>
      </p:sp>
      <p:sp>
        <p:nvSpPr>
          <p:cNvPr id="61" name="TextBox 60"/>
          <p:cNvSpPr txBox="1"/>
          <p:nvPr/>
        </p:nvSpPr>
        <p:spPr>
          <a:xfrm>
            <a:off x="6029325" y="4074794"/>
            <a:ext cx="356604" cy="194310"/>
          </a:xfrm>
          <a:prstGeom prst="rect">
            <a:avLst/>
          </a:prstGeom>
          <a:noFill/>
        </p:spPr>
        <p:txBody>
          <a:bodyPr wrap="none" lIns="0" rIns="0" tIns="0" bIns="0">
            <a:spAutoFit/>
          </a:bodyPr>
          <a:lstStyle/>
          <a:p>
            <a:r>
              <a:rPr sz="1150" b="0">
                <a:solidFill>
                  <a:srgbClr val="2E2E2E"/>
                </a:solidFill>
                <a:latin typeface="Calibri"/>
              </a:rPr>
              <a:t>adds</a:t>
            </a:r>
          </a:p>
        </p:txBody>
      </p:sp>
      <p:pic>
        <p:nvPicPr>
          <p:cNvPr id="62" name="Picture 61" descr="lock.png"/>
          <p:cNvPicPr>
            <a:picLocks noChangeAspect="1"/>
          </p:cNvPicPr>
          <p:nvPr/>
        </p:nvPicPr>
        <p:blipFill>
          <a:blip r:embed="rId4"/>
          <a:stretch>
            <a:fillRect/>
          </a:stretch>
        </p:blipFill>
        <p:spPr>
          <a:xfrm>
            <a:off x="6335083" y="4064571"/>
            <a:ext cx="134549" cy="195707"/>
          </a:xfrm>
          <a:prstGeom prst="rect">
            <a:avLst/>
          </a:prstGeom>
        </p:spPr>
      </p:pic>
      <p:sp>
        <p:nvSpPr>
          <p:cNvPr id="63" name="TextBox 62"/>
          <p:cNvSpPr txBox="1"/>
          <p:nvPr/>
        </p:nvSpPr>
        <p:spPr>
          <a:xfrm>
            <a:off x="6510192" y="4074794"/>
            <a:ext cx="1118803" cy="194310"/>
          </a:xfrm>
          <a:prstGeom prst="rect">
            <a:avLst/>
          </a:prstGeom>
          <a:noFill/>
        </p:spPr>
        <p:txBody>
          <a:bodyPr wrap="none" lIns="0" rIns="0" tIns="0" bIns="0">
            <a:spAutoFit/>
          </a:bodyPr>
          <a:lstStyle/>
          <a:p>
            <a:r>
              <a:rPr sz="1150" b="0">
                <a:solidFill>
                  <a:srgbClr val="2E2E2E"/>
                </a:solidFill>
                <a:latin typeface="Calibri"/>
              </a:rPr>
              <a:t>US$ Mn by 2036F</a:t>
            </a:r>
          </a:p>
        </p:txBody>
      </p:sp>
      <p:sp>
        <p:nvSpPr>
          <p:cNvPr id="64" name="TextBox 63"/>
          <p:cNvSpPr txBox="1"/>
          <p:nvPr/>
        </p:nvSpPr>
        <p:spPr>
          <a:xfrm>
            <a:off x="6029325" y="4250054"/>
            <a:ext cx="148939"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65" name="Picture 64" descr="lock.png"/>
          <p:cNvPicPr>
            <a:picLocks noChangeAspect="1"/>
          </p:cNvPicPr>
          <p:nvPr/>
        </p:nvPicPr>
        <p:blipFill>
          <a:blip r:embed="rId4"/>
          <a:stretch>
            <a:fillRect/>
          </a:stretch>
        </p:blipFill>
        <p:spPr>
          <a:xfrm>
            <a:off x="6127418" y="4239831"/>
            <a:ext cx="134549" cy="195707"/>
          </a:xfrm>
          <a:prstGeom prst="rect">
            <a:avLst/>
          </a:prstGeom>
        </p:spPr>
      </p:pic>
      <p:sp>
        <p:nvSpPr>
          <p:cNvPr id="66" name="TextBox 65"/>
          <p:cNvSpPr txBox="1"/>
          <p:nvPr/>
        </p:nvSpPr>
        <p:spPr>
          <a:xfrm>
            <a:off x="6302527" y="4250054"/>
            <a:ext cx="741126" cy="194310"/>
          </a:xfrm>
          <a:prstGeom prst="rect">
            <a:avLst/>
          </a:prstGeom>
          <a:noFill/>
        </p:spPr>
        <p:txBody>
          <a:bodyPr wrap="none" lIns="0" rIns="0" tIns="0" bIns="0">
            <a:spAutoFit/>
          </a:bodyPr>
          <a:lstStyle/>
          <a:p>
            <a:r>
              <a:rPr sz="1150" b="0">
                <a:solidFill>
                  <a:srgbClr val="2E2E2E"/>
                </a:solidFill>
                <a:latin typeface="Calibri"/>
              </a:rPr>
              <a:t>of the total</a:t>
            </a:r>
          </a:p>
        </p:txBody>
      </p:sp>
      <p:sp>
        <p:nvSpPr>
          <p:cNvPr id="67" name="TextBox 66"/>
          <p:cNvSpPr txBox="1"/>
          <p:nvPr/>
        </p:nvSpPr>
        <p:spPr>
          <a:xfrm>
            <a:off x="6029325" y="4425314"/>
            <a:ext cx="822994" cy="194310"/>
          </a:xfrm>
          <a:prstGeom prst="rect">
            <a:avLst/>
          </a:prstGeom>
          <a:noFill/>
        </p:spPr>
        <p:txBody>
          <a:bodyPr wrap="none" lIns="0" rIns="0" tIns="0" bIns="0">
            <a:spAutoFit/>
          </a:bodyPr>
          <a:lstStyle/>
          <a:p>
            <a:r>
              <a:rPr sz="1150" b="0">
                <a:solidFill>
                  <a:srgbClr val="2E2E2E"/>
                </a:solidFill>
                <a:latin typeface="Calibri"/>
              </a:rPr>
              <a:t>opportunity.</a:t>
            </a:r>
          </a:p>
        </p:txBody>
      </p:sp>
      <p:sp>
        <p:nvSpPr>
          <p:cNvPr id="68" name="TextBox 67"/>
          <p:cNvSpPr txBox="1"/>
          <p:nvPr/>
        </p:nvSpPr>
        <p:spPr>
          <a:xfrm>
            <a:off x="8124825" y="3724275"/>
            <a:ext cx="1657350" cy="194310"/>
          </a:xfrm>
          <a:prstGeom prst="rect">
            <a:avLst/>
          </a:prstGeom>
          <a:noFill/>
        </p:spPr>
        <p:txBody>
          <a:bodyPr wrap="none" lIns="0" rIns="0" tIns="0" bIns="0">
            <a:spAutoFit/>
          </a:bodyPr>
          <a:lstStyle/>
          <a:p>
            <a:r>
              <a:rPr sz="1150" b="0">
                <a:solidFill>
                  <a:srgbClr val="2E2E2E"/>
                </a:solidFill>
                <a:latin typeface="Calibri"/>
              </a:rPr>
              <a:t>▪ 'Acrylic Partial Dentures ×</a:t>
            </a:r>
          </a:p>
        </p:txBody>
      </p:sp>
      <p:sp>
        <p:nvSpPr>
          <p:cNvPr id="69" name="TextBox 68"/>
          <p:cNvSpPr txBox="1"/>
          <p:nvPr/>
        </p:nvSpPr>
        <p:spPr>
          <a:xfrm>
            <a:off x="8124825" y="3899535"/>
            <a:ext cx="1595114" cy="194310"/>
          </a:xfrm>
          <a:prstGeom prst="rect">
            <a:avLst/>
          </a:prstGeom>
          <a:noFill/>
        </p:spPr>
        <p:txBody>
          <a:bodyPr wrap="none" lIns="0" rIns="0" tIns="0" bIns="0">
            <a:spAutoFit/>
          </a:bodyPr>
          <a:lstStyle/>
          <a:p>
            <a:r>
              <a:rPr sz="1150" b="0">
                <a:solidFill>
                  <a:srgbClr val="2E2E2E"/>
                </a:solidFill>
                <a:latin typeface="Calibri"/>
              </a:rPr>
              <a:t>Conventional Fabrication'</a:t>
            </a:r>
          </a:p>
        </p:txBody>
      </p:sp>
      <p:sp>
        <p:nvSpPr>
          <p:cNvPr id="70" name="TextBox 69"/>
          <p:cNvSpPr txBox="1"/>
          <p:nvPr/>
        </p:nvSpPr>
        <p:spPr>
          <a:xfrm>
            <a:off x="8124825" y="4074794"/>
            <a:ext cx="689495" cy="194310"/>
          </a:xfrm>
          <a:prstGeom prst="rect">
            <a:avLst/>
          </a:prstGeom>
          <a:noFill/>
        </p:spPr>
        <p:txBody>
          <a:bodyPr wrap="none" lIns="0" rIns="0" tIns="0" bIns="0">
            <a:spAutoFit/>
          </a:bodyPr>
          <a:lstStyle/>
          <a:p>
            <a:r>
              <a:rPr sz="1150" b="0">
                <a:solidFill>
                  <a:srgbClr val="2E2E2E"/>
                </a:solidFill>
                <a:latin typeface="Calibri"/>
              </a:rPr>
              <a:t>grows at a</a:t>
            </a:r>
          </a:p>
        </p:txBody>
      </p:sp>
      <p:pic>
        <p:nvPicPr>
          <p:cNvPr id="71" name="Picture 70" descr="lock.png"/>
          <p:cNvPicPr>
            <a:picLocks noChangeAspect="1"/>
          </p:cNvPicPr>
          <p:nvPr/>
        </p:nvPicPr>
        <p:blipFill>
          <a:blip r:embed="rId4"/>
          <a:stretch>
            <a:fillRect/>
          </a:stretch>
        </p:blipFill>
        <p:spPr>
          <a:xfrm>
            <a:off x="8763474" y="4064571"/>
            <a:ext cx="134549" cy="195707"/>
          </a:xfrm>
          <a:prstGeom prst="rect">
            <a:avLst/>
          </a:prstGeom>
        </p:spPr>
      </p:pic>
      <p:sp>
        <p:nvSpPr>
          <p:cNvPr id="72" name="TextBox 71"/>
          <p:cNvSpPr txBox="1"/>
          <p:nvPr/>
        </p:nvSpPr>
        <p:spPr>
          <a:xfrm>
            <a:off x="8938584" y="4074794"/>
            <a:ext cx="446441" cy="194310"/>
          </a:xfrm>
          <a:prstGeom prst="rect">
            <a:avLst/>
          </a:prstGeom>
          <a:noFill/>
        </p:spPr>
        <p:txBody>
          <a:bodyPr wrap="none" lIns="0" rIns="0" tIns="0" bIns="0">
            <a:spAutoFit/>
          </a:bodyPr>
          <a:lstStyle/>
          <a:p>
            <a:r>
              <a:rPr sz="1150" b="0">
                <a:solidFill>
                  <a:srgbClr val="2E2E2E"/>
                </a:solidFill>
                <a:latin typeface="Calibri"/>
              </a:rPr>
              <a:t>CAGR,</a:t>
            </a:r>
          </a:p>
        </p:txBody>
      </p:sp>
      <p:pic>
        <p:nvPicPr>
          <p:cNvPr id="73" name="Picture 72" descr="lock.png"/>
          <p:cNvPicPr>
            <a:picLocks noChangeAspect="1"/>
          </p:cNvPicPr>
          <p:nvPr/>
        </p:nvPicPr>
        <p:blipFill>
          <a:blip r:embed="rId4"/>
          <a:stretch>
            <a:fillRect/>
          </a:stretch>
        </p:blipFill>
        <p:spPr>
          <a:xfrm>
            <a:off x="9334179" y="4064571"/>
            <a:ext cx="134549" cy="195707"/>
          </a:xfrm>
          <a:prstGeom prst="rect">
            <a:avLst/>
          </a:prstGeom>
        </p:spPr>
      </p:pic>
      <p:sp>
        <p:nvSpPr>
          <p:cNvPr id="74" name="TextBox 73"/>
          <p:cNvSpPr txBox="1"/>
          <p:nvPr/>
        </p:nvSpPr>
        <p:spPr>
          <a:xfrm>
            <a:off x="8124825" y="4250054"/>
            <a:ext cx="925400" cy="194310"/>
          </a:xfrm>
          <a:prstGeom prst="rect">
            <a:avLst/>
          </a:prstGeom>
          <a:noFill/>
        </p:spPr>
        <p:txBody>
          <a:bodyPr wrap="none" lIns="0" rIns="0" tIns="0" bIns="0">
            <a:spAutoFit/>
          </a:bodyPr>
          <a:lstStyle/>
          <a:p>
            <a:r>
              <a:rPr sz="1150" b="0">
                <a:solidFill>
                  <a:srgbClr val="2E2E2E"/>
                </a:solidFill>
                <a:latin typeface="Calibri"/>
              </a:rPr>
              <a:t>BPS above the</a:t>
            </a:r>
          </a:p>
        </p:txBody>
      </p:sp>
      <p:sp>
        <p:nvSpPr>
          <p:cNvPr id="75" name="TextBox 74"/>
          <p:cNvSpPr txBox="1"/>
          <p:nvPr/>
        </p:nvSpPr>
        <p:spPr>
          <a:xfrm>
            <a:off x="8124825" y="4425314"/>
            <a:ext cx="890029" cy="194310"/>
          </a:xfrm>
          <a:prstGeom prst="rect">
            <a:avLst/>
          </a:prstGeom>
          <a:noFill/>
        </p:spPr>
        <p:txBody>
          <a:bodyPr wrap="none" lIns="0" rIns="0" tIns="0" bIns="0">
            <a:spAutoFit/>
          </a:bodyPr>
          <a:lstStyle/>
          <a:p>
            <a:r>
              <a:rPr sz="1150" b="0">
                <a:solidFill>
                  <a:srgbClr val="2E2E2E"/>
                </a:solidFill>
                <a:latin typeface="Calibri"/>
              </a:rPr>
              <a:t>cross-section.</a:t>
            </a:r>
          </a:p>
        </p:txBody>
      </p:sp>
    </p:spTree>
  </p:cSld>
  <p:clrMapOvr>
    <a:masterClrMapping/>
  </p:clrMapOvr>
</p:sld>
</file>

<file path=ppt/slides/slide241.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Removable Partial Dentures Market</a:t>
            </a:r>
          </a:p>
        </p:txBody>
      </p:sp>
      <p:sp>
        <p:nvSpPr>
          <p:cNvPr id="6" name="FMI Breaker Title"/>
          <p:cNvSpPr txBox="1"/>
          <p:nvPr/>
        </p:nvSpPr>
        <p:spPr>
          <a:xfrm>
            <a:off x="914400" y="3698875"/>
            <a:ext cx="7239000" cy="514350"/>
          </a:xfrm>
          <a:prstGeom prst="rect">
            <a:avLst/>
          </a:prstGeom>
          <a:noFill/>
        </p:spPr>
        <p:txBody>
          <a:bodyPr wrap="square" lIns="0" rIns="0" tIns="0">
            <a:spAutoFit/>
          </a:bodyPr>
          <a:lstStyle/>
          <a:p>
            <a:r>
              <a:rPr sz="3000" b="1" cap="all" spc="400">
                <a:solidFill>
                  <a:srgbClr val="FFFFFF"/>
                </a:solidFill>
                <a:latin typeface="Calibri"/>
              </a:rPr>
              <a:t>Pricing Assessment</a:t>
            </a:r>
          </a:p>
        </p:txBody>
      </p:sp>
      <p:sp>
        <p:nvSpPr>
          <p:cNvPr id="7" name="TextBox 6"/>
          <p:cNvSpPr txBox="1"/>
          <p:nvPr/>
        </p:nvSpPr>
        <p:spPr>
          <a:xfrm>
            <a:off x="914400" y="4403725"/>
            <a:ext cx="71247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Pricing</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4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Pricing</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Pricing &amp; Regional Price Index Trends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Global Pricing Assessment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Price Positioning &amp; Key Findings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Key Pricing Drivers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Factors Impacting Pricing</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Product Pricing &amp; Regional Price Index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range by sub-segment and indexed regional price movement, highlighting dispersion and structural shifts</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Analysis of average USD pricing by product type and indexed regional price movement with base-year inflation adjustments.</a:t>
            </a:r>
          </a:p>
        </p:txBody>
      </p:sp>
      <p:sp>
        <p:nvSpPr>
          <p:cNvPr id="11" name="Rounded Rectangle 10"/>
          <p:cNvSpPr/>
          <p:nvPr/>
        </p:nvSpPr>
        <p:spPr>
          <a:xfrm>
            <a:off x="142875" y="1317574"/>
            <a:ext cx="7696200" cy="2601152"/>
          </a:xfrm>
          <a:prstGeom prst="roundRect">
            <a:avLst>
              <a:gd name="adj" fmla="val 29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Pricing by Product Type</a:t>
            </a:r>
          </a:p>
        </p:txBody>
      </p:sp>
      <p:sp>
        <p:nvSpPr>
          <p:cNvPr id="13" name="TextBox 12"/>
          <p:cNvSpPr txBox="1"/>
          <p:nvPr/>
        </p:nvSpPr>
        <p:spPr>
          <a:xfrm>
            <a:off x="219075" y="3471051"/>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207.2</a:t>
            </a:r>
          </a:p>
        </p:txBody>
      </p:sp>
      <p:sp>
        <p:nvSpPr>
          <p:cNvPr id="14" name="TextBox 13"/>
          <p:cNvSpPr txBox="1"/>
          <p:nvPr/>
        </p:nvSpPr>
        <p:spPr>
          <a:xfrm>
            <a:off x="219075" y="2561000"/>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336.7</a:t>
            </a:r>
          </a:p>
        </p:txBody>
      </p:sp>
      <p:sp>
        <p:nvSpPr>
          <p:cNvPr id="15" name="TextBox 14"/>
          <p:cNvSpPr txBox="1"/>
          <p:nvPr/>
        </p:nvSpPr>
        <p:spPr>
          <a:xfrm>
            <a:off x="219075" y="1650949"/>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466.2</a:t>
            </a:r>
          </a:p>
        </p:txBody>
      </p:sp>
      <p:cxnSp>
        <p:nvCxnSpPr>
          <p:cNvPr id="16" name="Connector 15"/>
          <p:cNvCxnSpPr/>
          <p:nvPr/>
        </p:nvCxnSpPr>
        <p:spPr>
          <a:xfrm>
            <a:off x="1533525" y="2575717"/>
            <a:ext cx="0" cy="264348"/>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17" name="Rectangle 16"/>
          <p:cNvSpPr/>
          <p:nvPr/>
        </p:nvSpPr>
        <p:spPr>
          <a:xfrm>
            <a:off x="1314450" y="2575717"/>
            <a:ext cx="438150" cy="264349"/>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57225" y="2423317"/>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sp>
        <p:nvSpPr>
          <p:cNvPr id="19" name="TextBox 18"/>
          <p:cNvSpPr txBox="1"/>
          <p:nvPr/>
        </p:nvSpPr>
        <p:spPr>
          <a:xfrm>
            <a:off x="657225" y="3566301"/>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Cast Metal Partial De…</a:t>
            </a:r>
          </a:p>
        </p:txBody>
      </p:sp>
      <p:cxnSp>
        <p:nvCxnSpPr>
          <p:cNvPr id="20" name="Connector 19"/>
          <p:cNvCxnSpPr/>
          <p:nvPr/>
        </p:nvCxnSpPr>
        <p:spPr>
          <a:xfrm>
            <a:off x="3286125" y="2536036"/>
            <a:ext cx="0" cy="260724"/>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21" name="Rectangle 20"/>
          <p:cNvSpPr/>
          <p:nvPr/>
        </p:nvSpPr>
        <p:spPr>
          <a:xfrm>
            <a:off x="3067050" y="2536036"/>
            <a:ext cx="438150" cy="260724"/>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409825" y="2383636"/>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sp>
        <p:nvSpPr>
          <p:cNvPr id="23" name="TextBox 22"/>
          <p:cNvSpPr txBox="1"/>
          <p:nvPr/>
        </p:nvSpPr>
        <p:spPr>
          <a:xfrm>
            <a:off x="2409825" y="3566301"/>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Acrylic Partial Dentu…</a:t>
            </a:r>
          </a:p>
        </p:txBody>
      </p:sp>
      <p:cxnSp>
        <p:nvCxnSpPr>
          <p:cNvPr id="24" name="Connector 23"/>
          <p:cNvCxnSpPr/>
          <p:nvPr/>
        </p:nvCxnSpPr>
        <p:spPr>
          <a:xfrm>
            <a:off x="5038725" y="1927636"/>
            <a:ext cx="0" cy="321193"/>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25" name="Rectangle 24"/>
          <p:cNvSpPr/>
          <p:nvPr/>
        </p:nvSpPr>
        <p:spPr>
          <a:xfrm>
            <a:off x="4819650" y="1927636"/>
            <a:ext cx="438150" cy="321193"/>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4162425" y="1775236"/>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sp>
        <p:nvSpPr>
          <p:cNvPr id="27" name="TextBox 26"/>
          <p:cNvSpPr txBox="1"/>
          <p:nvPr/>
        </p:nvSpPr>
        <p:spPr>
          <a:xfrm>
            <a:off x="4162425" y="3566301"/>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Flexible Partial Dent…</a:t>
            </a:r>
          </a:p>
        </p:txBody>
      </p:sp>
      <p:cxnSp>
        <p:nvCxnSpPr>
          <p:cNvPr id="28" name="Connector 27"/>
          <p:cNvCxnSpPr/>
          <p:nvPr/>
        </p:nvCxnSpPr>
        <p:spPr>
          <a:xfrm>
            <a:off x="6791325" y="3130639"/>
            <a:ext cx="0" cy="197075"/>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29" name="Rectangle 28"/>
          <p:cNvSpPr/>
          <p:nvPr/>
        </p:nvSpPr>
        <p:spPr>
          <a:xfrm>
            <a:off x="6572250" y="3130639"/>
            <a:ext cx="438150" cy="197075"/>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5915025" y="2978239"/>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sp>
        <p:nvSpPr>
          <p:cNvPr id="31" name="TextBox 30"/>
          <p:cNvSpPr txBox="1"/>
          <p:nvPr/>
        </p:nvSpPr>
        <p:spPr>
          <a:xfrm>
            <a:off x="5915025" y="3566301"/>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Combination Framework…</a:t>
            </a:r>
          </a:p>
        </p:txBody>
      </p:sp>
      <p:sp>
        <p:nvSpPr>
          <p:cNvPr id="32" name="Rounded Rectangle 31"/>
          <p:cNvSpPr/>
          <p:nvPr/>
        </p:nvSpPr>
        <p:spPr>
          <a:xfrm>
            <a:off x="142875" y="3991741"/>
            <a:ext cx="7696200" cy="2564645"/>
          </a:xfrm>
          <a:prstGeom prst="roundRect">
            <a:avLst>
              <a:gd name="adj" fmla="val 29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38125" y="4048891"/>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Region</a:t>
            </a:r>
          </a:p>
        </p:txBody>
      </p:sp>
      <p:cxnSp>
        <p:nvCxnSpPr>
          <p:cNvPr id="34" name="Connector 33"/>
          <p:cNvCxnSpPr/>
          <p:nvPr/>
        </p:nvCxnSpPr>
        <p:spPr>
          <a:xfrm>
            <a:off x="619125" y="4516633"/>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619125" y="488296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6" name="Connector 35"/>
          <p:cNvCxnSpPr/>
          <p:nvPr/>
        </p:nvCxnSpPr>
        <p:spPr>
          <a:xfrm>
            <a:off x="619125" y="5249298"/>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7" name="Connector 36"/>
          <p:cNvCxnSpPr/>
          <p:nvPr/>
        </p:nvCxnSpPr>
        <p:spPr>
          <a:xfrm>
            <a:off x="619125" y="5615630"/>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8" name="Connector 37"/>
          <p:cNvCxnSpPr/>
          <p:nvPr/>
        </p:nvCxnSpPr>
        <p:spPr>
          <a:xfrm>
            <a:off x="619125" y="5981963"/>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9" name="Connector 38"/>
          <p:cNvCxnSpPr/>
          <p:nvPr/>
        </p:nvCxnSpPr>
        <p:spPr>
          <a:xfrm>
            <a:off x="619125" y="4516633"/>
            <a:ext cx="0" cy="146533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590550" y="451663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590550" y="488296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2" name="Connector 41"/>
          <p:cNvCxnSpPr/>
          <p:nvPr/>
        </p:nvCxnSpPr>
        <p:spPr>
          <a:xfrm>
            <a:off x="590550" y="524929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3" name="Connector 42"/>
          <p:cNvCxnSpPr/>
          <p:nvPr/>
        </p:nvCxnSpPr>
        <p:spPr>
          <a:xfrm>
            <a:off x="590550" y="561563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4" name="Connector 43"/>
          <p:cNvCxnSpPr/>
          <p:nvPr/>
        </p:nvCxnSpPr>
        <p:spPr>
          <a:xfrm>
            <a:off x="590550" y="598196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45" name="FMI Scale tick"/>
          <p:cNvSpPr txBox="1"/>
          <p:nvPr/>
        </p:nvSpPr>
        <p:spPr>
          <a:xfrm>
            <a:off x="138112" y="4449958"/>
            <a:ext cx="442912" cy="133350"/>
          </a:xfrm>
          <a:prstGeom prst="rect">
            <a:avLst/>
          </a:prstGeom>
          <a:noFill/>
        </p:spPr>
        <p:txBody>
          <a:bodyPr wrap="square" lIns="28575" rIns="28575" tIns="9525" bIns="9525" anchor="ctr">
            <a:spAutoFit/>
          </a:bodyPr>
          <a:lstStyle/>
          <a:p>
            <a:pPr algn="r"/>
            <a:r>
              <a:rPr sz="1100" b="0">
                <a:solidFill>
                  <a:srgbClr val="6C7A89"/>
                </a:solidFill>
                <a:latin typeface="Calibri"/>
              </a:rPr>
              <a:t>+8.5%</a:t>
            </a:r>
          </a:p>
        </p:txBody>
      </p:sp>
      <p:sp>
        <p:nvSpPr>
          <p:cNvPr id="46" name="FMI Scale tick"/>
          <p:cNvSpPr txBox="1"/>
          <p:nvPr/>
        </p:nvSpPr>
        <p:spPr>
          <a:xfrm>
            <a:off x="138112" y="4816291"/>
            <a:ext cx="442912" cy="133350"/>
          </a:xfrm>
          <a:prstGeom prst="rect">
            <a:avLst/>
          </a:prstGeom>
          <a:noFill/>
        </p:spPr>
        <p:txBody>
          <a:bodyPr wrap="square" lIns="28575" rIns="28575" tIns="9525" bIns="9525" anchor="ctr">
            <a:spAutoFit/>
          </a:bodyPr>
          <a:lstStyle/>
          <a:p>
            <a:pPr algn="r"/>
            <a:r>
              <a:rPr sz="1100" b="0">
                <a:solidFill>
                  <a:srgbClr val="6C7A89"/>
                </a:solidFill>
                <a:latin typeface="Calibri"/>
              </a:rPr>
              <a:t>+4.2%</a:t>
            </a:r>
          </a:p>
        </p:txBody>
      </p:sp>
      <p:sp>
        <p:nvSpPr>
          <p:cNvPr id="47" name="FMI Scale tick"/>
          <p:cNvSpPr txBox="1"/>
          <p:nvPr/>
        </p:nvSpPr>
        <p:spPr>
          <a:xfrm>
            <a:off x="219075" y="5182623"/>
            <a:ext cx="361950" cy="133350"/>
          </a:xfrm>
          <a:prstGeom prst="rect">
            <a:avLst/>
          </a:prstGeom>
          <a:noFill/>
        </p:spPr>
        <p:txBody>
          <a:bodyPr wrap="none" lIns="0" rIns="0" tIns="0" bIns="0" anchor="ctr">
            <a:spAutoFit/>
          </a:bodyPr>
          <a:lstStyle/>
          <a:p>
            <a:pPr algn="r"/>
            <a:r>
              <a:rPr sz="1100" b="0">
                <a:solidFill>
                  <a:srgbClr val="6C7A89"/>
                </a:solidFill>
                <a:latin typeface="Calibri"/>
              </a:rPr>
              <a:t>0%</a:t>
            </a:r>
          </a:p>
        </p:txBody>
      </p:sp>
      <p:sp>
        <p:nvSpPr>
          <p:cNvPr id="48" name="FMI Scale tick"/>
          <p:cNvSpPr txBox="1"/>
          <p:nvPr/>
        </p:nvSpPr>
        <p:spPr>
          <a:xfrm>
            <a:off x="164306" y="5548955"/>
            <a:ext cx="416719" cy="133350"/>
          </a:xfrm>
          <a:prstGeom prst="rect">
            <a:avLst/>
          </a:prstGeom>
          <a:noFill/>
        </p:spPr>
        <p:txBody>
          <a:bodyPr wrap="square" lIns="28575" rIns="28575" tIns="9525" bIns="9525" anchor="ctr">
            <a:spAutoFit/>
          </a:bodyPr>
          <a:lstStyle/>
          <a:p>
            <a:pPr algn="r"/>
            <a:r>
              <a:rPr sz="1100" b="0">
                <a:solidFill>
                  <a:srgbClr val="6C7A89"/>
                </a:solidFill>
                <a:latin typeface="Calibri"/>
              </a:rPr>
              <a:t>-4.2%</a:t>
            </a:r>
          </a:p>
        </p:txBody>
      </p:sp>
      <p:sp>
        <p:nvSpPr>
          <p:cNvPr id="49" name="FMI Scale tick"/>
          <p:cNvSpPr txBox="1"/>
          <p:nvPr/>
        </p:nvSpPr>
        <p:spPr>
          <a:xfrm>
            <a:off x="164306" y="5915288"/>
            <a:ext cx="416719" cy="133350"/>
          </a:xfrm>
          <a:prstGeom prst="rect">
            <a:avLst/>
          </a:prstGeom>
          <a:noFill/>
        </p:spPr>
        <p:txBody>
          <a:bodyPr wrap="square" lIns="28575" rIns="28575" tIns="9525" bIns="9525" anchor="ctr">
            <a:spAutoFit/>
          </a:bodyPr>
          <a:lstStyle/>
          <a:p>
            <a:pPr algn="r"/>
            <a:r>
              <a:rPr sz="1100" b="0">
                <a:solidFill>
                  <a:srgbClr val="6C7A89"/>
                </a:solidFill>
                <a:latin typeface="Calibri"/>
              </a:rPr>
              <a:t>-8.5%</a:t>
            </a:r>
          </a:p>
        </p:txBody>
      </p:sp>
      <p:cxnSp>
        <p:nvCxnSpPr>
          <p:cNvPr id="50" name="Connector 49"/>
          <p:cNvCxnSpPr/>
          <p:nvPr/>
        </p:nvCxnSpPr>
        <p:spPr>
          <a:xfrm>
            <a:off x="619125" y="5249298"/>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51" name="Rectangle 50"/>
          <p:cNvSpPr/>
          <p:nvPr/>
        </p:nvSpPr>
        <p:spPr>
          <a:xfrm>
            <a:off x="977900" y="4619480"/>
            <a:ext cx="457200" cy="629818"/>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FMI Data Label"/>
          <p:cNvSpPr txBox="1"/>
          <p:nvPr/>
        </p:nvSpPr>
        <p:spPr>
          <a:xfrm>
            <a:off x="619125" y="4476605"/>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53" name="Rectangle 52"/>
          <p:cNvSpPr/>
          <p:nvPr/>
        </p:nvSpPr>
        <p:spPr>
          <a:xfrm>
            <a:off x="2152650" y="4615000"/>
            <a:ext cx="457200" cy="634298"/>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FMI Data Label"/>
          <p:cNvSpPr txBox="1"/>
          <p:nvPr/>
        </p:nvSpPr>
        <p:spPr>
          <a:xfrm>
            <a:off x="1793875" y="4472125"/>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55" name="Rectangle 54"/>
          <p:cNvSpPr/>
          <p:nvPr/>
        </p:nvSpPr>
        <p:spPr>
          <a:xfrm>
            <a:off x="3327400" y="4620782"/>
            <a:ext cx="457200" cy="628516"/>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FMI Data Label"/>
          <p:cNvSpPr txBox="1"/>
          <p:nvPr/>
        </p:nvSpPr>
        <p:spPr>
          <a:xfrm>
            <a:off x="2968625" y="4477907"/>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57" name="Rectangle 56"/>
          <p:cNvSpPr/>
          <p:nvPr/>
        </p:nvSpPr>
        <p:spPr>
          <a:xfrm>
            <a:off x="4502150" y="4646647"/>
            <a:ext cx="457200" cy="602650"/>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FMI Data Label"/>
          <p:cNvSpPr txBox="1"/>
          <p:nvPr/>
        </p:nvSpPr>
        <p:spPr>
          <a:xfrm>
            <a:off x="4143375" y="4503772"/>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59" name="Rectangle 58"/>
          <p:cNvSpPr/>
          <p:nvPr/>
        </p:nvSpPr>
        <p:spPr>
          <a:xfrm>
            <a:off x="5676900" y="4614107"/>
            <a:ext cx="457200" cy="635191"/>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FMI Data Label"/>
          <p:cNvSpPr txBox="1"/>
          <p:nvPr/>
        </p:nvSpPr>
        <p:spPr>
          <a:xfrm>
            <a:off x="5318125" y="4471232"/>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61" name="Rectangle 60"/>
          <p:cNvSpPr/>
          <p:nvPr/>
        </p:nvSpPr>
        <p:spPr>
          <a:xfrm>
            <a:off x="6851650" y="4621923"/>
            <a:ext cx="457200" cy="6273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FMI Data Label"/>
          <p:cNvSpPr txBox="1"/>
          <p:nvPr/>
        </p:nvSpPr>
        <p:spPr>
          <a:xfrm>
            <a:off x="6492875" y="4479048"/>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63" name="TextBox 62"/>
          <p:cNvSpPr txBox="1"/>
          <p:nvPr/>
        </p:nvSpPr>
        <p:spPr>
          <a:xfrm>
            <a:off x="6191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North America</a:t>
            </a:r>
          </a:p>
        </p:txBody>
      </p:sp>
      <p:sp>
        <p:nvSpPr>
          <p:cNvPr id="64" name="TextBox 63"/>
          <p:cNvSpPr txBox="1"/>
          <p:nvPr/>
        </p:nvSpPr>
        <p:spPr>
          <a:xfrm>
            <a:off x="17938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Latin America</a:t>
            </a:r>
          </a:p>
        </p:txBody>
      </p:sp>
      <p:sp>
        <p:nvSpPr>
          <p:cNvPr id="65" name="TextBox 64"/>
          <p:cNvSpPr txBox="1"/>
          <p:nvPr/>
        </p:nvSpPr>
        <p:spPr>
          <a:xfrm>
            <a:off x="29686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Europe</a:t>
            </a:r>
          </a:p>
        </p:txBody>
      </p:sp>
      <p:sp>
        <p:nvSpPr>
          <p:cNvPr id="66" name="TextBox 65"/>
          <p:cNvSpPr txBox="1"/>
          <p:nvPr/>
        </p:nvSpPr>
        <p:spPr>
          <a:xfrm>
            <a:off x="41433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East Asia</a:t>
            </a:r>
          </a:p>
        </p:txBody>
      </p:sp>
      <p:sp>
        <p:nvSpPr>
          <p:cNvPr id="67" name="TextBox 66"/>
          <p:cNvSpPr txBox="1"/>
          <p:nvPr/>
        </p:nvSpPr>
        <p:spPr>
          <a:xfrm>
            <a:off x="53181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South Asia &amp; Pacific</a:t>
            </a:r>
          </a:p>
        </p:txBody>
      </p:sp>
      <p:sp>
        <p:nvSpPr>
          <p:cNvPr id="68" name="TextBox 67"/>
          <p:cNvSpPr txBox="1"/>
          <p:nvPr/>
        </p:nvSpPr>
        <p:spPr>
          <a:xfrm>
            <a:off x="64928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Middle East &amp; Africa</a:t>
            </a:r>
          </a:p>
        </p:txBody>
      </p:sp>
      <p:sp>
        <p:nvSpPr>
          <p:cNvPr id="69" name="Rounded Rectangle 68"/>
          <p:cNvSpPr/>
          <p:nvPr/>
        </p:nvSpPr>
        <p:spPr>
          <a:xfrm>
            <a:off x="7915275" y="1317574"/>
            <a:ext cx="4133850" cy="5238811"/>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TextBox 69"/>
          <p:cNvSpPr txBox="1"/>
          <p:nvPr/>
        </p:nvSpPr>
        <p:spPr>
          <a:xfrm>
            <a:off x="8048625" y="1403299"/>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71" name="Rectangle 70"/>
          <p:cNvSpPr/>
          <p:nvPr/>
        </p:nvSpPr>
        <p:spPr>
          <a:xfrm>
            <a:off x="8048625" y="1641424"/>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TextBox 71"/>
          <p:cNvSpPr txBox="1"/>
          <p:nvPr/>
        </p:nvSpPr>
        <p:spPr>
          <a:xfrm>
            <a:off x="8048625" y="1727149"/>
            <a:ext cx="3867150" cy="4753036"/>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73" name="TextBox 7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74" name="Picture 73" descr="lock.png"/>
          <p:cNvPicPr>
            <a:picLocks noChangeAspect="1"/>
          </p:cNvPicPr>
          <p:nvPr/>
        </p:nvPicPr>
        <p:blipFill>
          <a:blip r:embed="rId4"/>
          <a:stretch>
            <a:fillRect/>
          </a:stretch>
        </p:blipFill>
        <p:spPr>
          <a:xfrm>
            <a:off x="1469175" y="2396393"/>
            <a:ext cx="128699" cy="187198"/>
          </a:xfrm>
          <a:prstGeom prst="rect">
            <a:avLst/>
          </a:prstGeom>
        </p:spPr>
      </p:pic>
      <p:pic>
        <p:nvPicPr>
          <p:cNvPr id="75" name="Picture 74" descr="lock.png"/>
          <p:cNvPicPr>
            <a:picLocks noChangeAspect="1"/>
          </p:cNvPicPr>
          <p:nvPr/>
        </p:nvPicPr>
        <p:blipFill>
          <a:blip r:embed="rId4"/>
          <a:stretch>
            <a:fillRect/>
          </a:stretch>
        </p:blipFill>
        <p:spPr>
          <a:xfrm>
            <a:off x="3221775" y="2356712"/>
            <a:ext cx="128699" cy="187198"/>
          </a:xfrm>
          <a:prstGeom prst="rect">
            <a:avLst/>
          </a:prstGeom>
        </p:spPr>
      </p:pic>
      <p:pic>
        <p:nvPicPr>
          <p:cNvPr id="76" name="Picture 75" descr="lock.png"/>
          <p:cNvPicPr>
            <a:picLocks noChangeAspect="1"/>
          </p:cNvPicPr>
          <p:nvPr/>
        </p:nvPicPr>
        <p:blipFill>
          <a:blip r:embed="rId4"/>
          <a:stretch>
            <a:fillRect/>
          </a:stretch>
        </p:blipFill>
        <p:spPr>
          <a:xfrm>
            <a:off x="4974375" y="1748312"/>
            <a:ext cx="128699" cy="187198"/>
          </a:xfrm>
          <a:prstGeom prst="rect">
            <a:avLst/>
          </a:prstGeom>
        </p:spPr>
      </p:pic>
      <p:pic>
        <p:nvPicPr>
          <p:cNvPr id="77" name="Picture 76" descr="lock.png"/>
          <p:cNvPicPr>
            <a:picLocks noChangeAspect="1"/>
          </p:cNvPicPr>
          <p:nvPr/>
        </p:nvPicPr>
        <p:blipFill>
          <a:blip r:embed="rId4"/>
          <a:stretch>
            <a:fillRect/>
          </a:stretch>
        </p:blipFill>
        <p:spPr>
          <a:xfrm>
            <a:off x="6726975" y="2951315"/>
            <a:ext cx="128699" cy="187198"/>
          </a:xfrm>
          <a:prstGeom prst="rect">
            <a:avLst/>
          </a:prstGeom>
        </p:spPr>
      </p:pic>
      <p:pic>
        <p:nvPicPr>
          <p:cNvPr id="78" name="Picture 77" descr="lock.png"/>
          <p:cNvPicPr>
            <a:picLocks noChangeAspect="1"/>
          </p:cNvPicPr>
          <p:nvPr/>
        </p:nvPicPr>
        <p:blipFill>
          <a:blip r:embed="rId4"/>
          <a:stretch>
            <a:fillRect/>
          </a:stretch>
        </p:blipFill>
        <p:spPr>
          <a:xfrm>
            <a:off x="1142150" y="4449681"/>
            <a:ext cx="128699" cy="187198"/>
          </a:xfrm>
          <a:prstGeom prst="rect">
            <a:avLst/>
          </a:prstGeom>
        </p:spPr>
      </p:pic>
      <p:pic>
        <p:nvPicPr>
          <p:cNvPr id="79" name="Picture 78" descr="lock.png"/>
          <p:cNvPicPr>
            <a:picLocks noChangeAspect="1"/>
          </p:cNvPicPr>
          <p:nvPr/>
        </p:nvPicPr>
        <p:blipFill>
          <a:blip r:embed="rId4"/>
          <a:stretch>
            <a:fillRect/>
          </a:stretch>
        </p:blipFill>
        <p:spPr>
          <a:xfrm>
            <a:off x="2316900" y="4445201"/>
            <a:ext cx="128699" cy="187198"/>
          </a:xfrm>
          <a:prstGeom prst="rect">
            <a:avLst/>
          </a:prstGeom>
        </p:spPr>
      </p:pic>
      <p:pic>
        <p:nvPicPr>
          <p:cNvPr id="80" name="Picture 79" descr="lock.png"/>
          <p:cNvPicPr>
            <a:picLocks noChangeAspect="1"/>
          </p:cNvPicPr>
          <p:nvPr/>
        </p:nvPicPr>
        <p:blipFill>
          <a:blip r:embed="rId4"/>
          <a:stretch>
            <a:fillRect/>
          </a:stretch>
        </p:blipFill>
        <p:spPr>
          <a:xfrm>
            <a:off x="3491650" y="4450983"/>
            <a:ext cx="128699" cy="187198"/>
          </a:xfrm>
          <a:prstGeom prst="rect">
            <a:avLst/>
          </a:prstGeom>
        </p:spPr>
      </p:pic>
      <p:pic>
        <p:nvPicPr>
          <p:cNvPr id="81" name="Picture 80" descr="lock.png"/>
          <p:cNvPicPr>
            <a:picLocks noChangeAspect="1"/>
          </p:cNvPicPr>
          <p:nvPr/>
        </p:nvPicPr>
        <p:blipFill>
          <a:blip r:embed="rId4"/>
          <a:stretch>
            <a:fillRect/>
          </a:stretch>
        </p:blipFill>
        <p:spPr>
          <a:xfrm>
            <a:off x="4666400" y="4476848"/>
            <a:ext cx="128699" cy="187198"/>
          </a:xfrm>
          <a:prstGeom prst="rect">
            <a:avLst/>
          </a:prstGeom>
        </p:spPr>
      </p:pic>
      <p:pic>
        <p:nvPicPr>
          <p:cNvPr id="82" name="Picture 81" descr="lock.png"/>
          <p:cNvPicPr>
            <a:picLocks noChangeAspect="1"/>
          </p:cNvPicPr>
          <p:nvPr/>
        </p:nvPicPr>
        <p:blipFill>
          <a:blip r:embed="rId4"/>
          <a:stretch>
            <a:fillRect/>
          </a:stretch>
        </p:blipFill>
        <p:spPr>
          <a:xfrm>
            <a:off x="5841150" y="4444308"/>
            <a:ext cx="128699" cy="187198"/>
          </a:xfrm>
          <a:prstGeom prst="rect">
            <a:avLst/>
          </a:prstGeom>
        </p:spPr>
      </p:pic>
      <p:pic>
        <p:nvPicPr>
          <p:cNvPr id="83" name="Picture 82" descr="lock.png"/>
          <p:cNvPicPr>
            <a:picLocks noChangeAspect="1"/>
          </p:cNvPicPr>
          <p:nvPr/>
        </p:nvPicPr>
        <p:blipFill>
          <a:blip r:embed="rId4"/>
          <a:stretch>
            <a:fillRect/>
          </a:stretch>
        </p:blipFill>
        <p:spPr>
          <a:xfrm>
            <a:off x="7015900" y="4452124"/>
            <a:ext cx="128699" cy="187198"/>
          </a:xfrm>
          <a:prstGeom prst="rect">
            <a:avLst/>
          </a:prstGeom>
        </p:spPr>
      </p:pic>
      <p:sp>
        <p:nvSpPr>
          <p:cNvPr id="84" name="TextBox 83"/>
          <p:cNvSpPr txBox="1"/>
          <p:nvPr/>
        </p:nvSpPr>
        <p:spPr>
          <a:xfrm>
            <a:off x="8048625" y="1736673"/>
            <a:ext cx="3654424" cy="194310"/>
          </a:xfrm>
          <a:prstGeom prst="rect">
            <a:avLst/>
          </a:prstGeom>
          <a:noFill/>
        </p:spPr>
        <p:txBody>
          <a:bodyPr wrap="none" lIns="0" rIns="0" tIns="0" bIns="0">
            <a:spAutoFit/>
          </a:bodyPr>
          <a:lstStyle/>
          <a:p>
            <a:r>
              <a:rPr sz="1150" b="0">
                <a:solidFill>
                  <a:srgbClr val="2E2E2E"/>
                </a:solidFill>
                <a:latin typeface="Calibri"/>
              </a:rPr>
              <a:t>▪ The chart shows global average pricing of key product type</a:t>
            </a:r>
          </a:p>
        </p:txBody>
      </p:sp>
      <p:sp>
        <p:nvSpPr>
          <p:cNvPr id="85" name="TextBox 84"/>
          <p:cNvSpPr txBox="1"/>
          <p:nvPr/>
        </p:nvSpPr>
        <p:spPr>
          <a:xfrm>
            <a:off x="8048625" y="1911934"/>
            <a:ext cx="3848100" cy="194310"/>
          </a:xfrm>
          <a:prstGeom prst="rect">
            <a:avLst/>
          </a:prstGeom>
          <a:noFill/>
        </p:spPr>
        <p:txBody>
          <a:bodyPr wrap="none" lIns="0" rIns="0" tIns="0" bIns="0">
            <a:spAutoFit/>
          </a:bodyPr>
          <a:lstStyle/>
          <a:p>
            <a:r>
              <a:rPr sz="1150" b="0">
                <a:solidFill>
                  <a:srgbClr val="2E2E2E"/>
                </a:solidFill>
                <a:latin typeface="Calibri"/>
              </a:rPr>
              <a:t>types in USD, harmonised across regions. Each candlestick spans</a:t>
            </a:r>
          </a:p>
        </p:txBody>
      </p:sp>
      <p:sp>
        <p:nvSpPr>
          <p:cNvPr id="86" name="TextBox 85"/>
          <p:cNvSpPr txBox="1"/>
          <p:nvPr/>
        </p:nvSpPr>
        <p:spPr>
          <a:xfrm>
            <a:off x="8048625" y="2087194"/>
            <a:ext cx="3848100" cy="194310"/>
          </a:xfrm>
          <a:prstGeom prst="rect">
            <a:avLst/>
          </a:prstGeom>
          <a:noFill/>
        </p:spPr>
        <p:txBody>
          <a:bodyPr wrap="none" lIns="0" rIns="0" tIns="0" bIns="0">
            <a:spAutoFit/>
          </a:bodyPr>
          <a:lstStyle/>
          <a:p>
            <a:r>
              <a:rPr sz="1150" b="0">
                <a:solidFill>
                  <a:srgbClr val="2E2E2E"/>
                </a:solidFill>
                <a:latin typeface="Calibri"/>
              </a:rPr>
              <a:t>the minimum-to-maximum observed price within the base year,</a:t>
            </a:r>
          </a:p>
        </p:txBody>
      </p:sp>
      <p:sp>
        <p:nvSpPr>
          <p:cNvPr id="87" name="TextBox 86"/>
          <p:cNvSpPr txBox="1"/>
          <p:nvPr/>
        </p:nvSpPr>
        <p:spPr>
          <a:xfrm>
            <a:off x="8048625" y="2262454"/>
            <a:ext cx="3406254" cy="194310"/>
          </a:xfrm>
          <a:prstGeom prst="rect">
            <a:avLst/>
          </a:prstGeom>
          <a:noFill/>
        </p:spPr>
        <p:txBody>
          <a:bodyPr wrap="none" lIns="0" rIns="0" tIns="0" bIns="0">
            <a:spAutoFit/>
          </a:bodyPr>
          <a:lstStyle/>
          <a:p>
            <a:r>
              <a:rPr sz="1150" b="0">
                <a:solidFill>
                  <a:srgbClr val="2E2E2E"/>
                </a:solidFill>
                <a:latin typeface="Calibri"/>
              </a:rPr>
              <a:t>giving a clear read of price range and market dispersion.</a:t>
            </a:r>
          </a:p>
        </p:txBody>
      </p:sp>
      <p:sp>
        <p:nvSpPr>
          <p:cNvPr id="88" name="TextBox 87"/>
          <p:cNvSpPr txBox="1"/>
          <p:nvPr/>
        </p:nvSpPr>
        <p:spPr>
          <a:xfrm>
            <a:off x="8048625" y="2490292"/>
            <a:ext cx="3793058" cy="194310"/>
          </a:xfrm>
          <a:prstGeom prst="rect">
            <a:avLst/>
          </a:prstGeom>
          <a:noFill/>
        </p:spPr>
        <p:txBody>
          <a:bodyPr wrap="none" lIns="0" rIns="0" tIns="0" bIns="0">
            <a:spAutoFit/>
          </a:bodyPr>
          <a:lstStyle/>
          <a:p>
            <a:r>
              <a:rPr sz="1150" b="0">
                <a:solidFill>
                  <a:srgbClr val="2E2E2E"/>
                </a:solidFill>
                <a:latin typeface="Calibri"/>
              </a:rPr>
              <a:t>▪ Wider bodies mark a larger gap between opening and closing</a:t>
            </a:r>
          </a:p>
        </p:txBody>
      </p:sp>
      <p:sp>
        <p:nvSpPr>
          <p:cNvPr id="89" name="TextBox 88"/>
          <p:cNvSpPr txBox="1"/>
          <p:nvPr/>
        </p:nvSpPr>
        <p:spPr>
          <a:xfrm>
            <a:off x="8048625" y="2665551"/>
            <a:ext cx="3440769" cy="194310"/>
          </a:xfrm>
          <a:prstGeom prst="rect">
            <a:avLst/>
          </a:prstGeom>
          <a:noFill/>
        </p:spPr>
        <p:txBody>
          <a:bodyPr wrap="none" lIns="0" rIns="0" tIns="0" bIns="0">
            <a:spAutoFit/>
          </a:bodyPr>
          <a:lstStyle/>
          <a:p>
            <a:r>
              <a:rPr sz="1150" b="0">
                <a:solidFill>
                  <a:srgbClr val="2E2E2E"/>
                </a:solidFill>
                <a:latin typeface="Calibri"/>
              </a:rPr>
              <a:t>price levels 'Cast Metal Partial Dentures' shows the most</a:t>
            </a:r>
          </a:p>
        </p:txBody>
      </p:sp>
      <p:sp>
        <p:nvSpPr>
          <p:cNvPr id="90" name="TextBox 89"/>
          <p:cNvSpPr txBox="1"/>
          <p:nvPr/>
        </p:nvSpPr>
        <p:spPr>
          <a:xfrm>
            <a:off x="8048625" y="2840811"/>
            <a:ext cx="873769" cy="194310"/>
          </a:xfrm>
          <a:prstGeom prst="rect">
            <a:avLst/>
          </a:prstGeom>
          <a:noFill/>
        </p:spPr>
        <p:txBody>
          <a:bodyPr wrap="none" lIns="0" rIns="0" tIns="0" bIns="0">
            <a:spAutoFit/>
          </a:bodyPr>
          <a:lstStyle/>
          <a:p>
            <a:r>
              <a:rPr sz="1150" b="0">
                <a:solidFill>
                  <a:srgbClr val="2E2E2E"/>
                </a:solidFill>
                <a:latin typeface="Calibri"/>
              </a:rPr>
              <a:t>movement (+</a:t>
            </a:r>
          </a:p>
        </p:txBody>
      </p:sp>
      <p:pic>
        <p:nvPicPr>
          <p:cNvPr id="91" name="Picture 90" descr="lock.png"/>
          <p:cNvPicPr>
            <a:picLocks noChangeAspect="1"/>
          </p:cNvPicPr>
          <p:nvPr/>
        </p:nvPicPr>
        <p:blipFill>
          <a:blip r:embed="rId4"/>
          <a:stretch>
            <a:fillRect/>
          </a:stretch>
        </p:blipFill>
        <p:spPr>
          <a:xfrm>
            <a:off x="8871548" y="2830588"/>
            <a:ext cx="134549" cy="195707"/>
          </a:xfrm>
          <a:prstGeom prst="rect">
            <a:avLst/>
          </a:prstGeom>
        </p:spPr>
      </p:pic>
      <p:sp>
        <p:nvSpPr>
          <p:cNvPr id="92" name="TextBox 91"/>
          <p:cNvSpPr txBox="1"/>
          <p:nvPr/>
        </p:nvSpPr>
        <p:spPr>
          <a:xfrm>
            <a:off x="9046658" y="2840811"/>
            <a:ext cx="2470050" cy="194310"/>
          </a:xfrm>
          <a:prstGeom prst="rect">
            <a:avLst/>
          </a:prstGeom>
          <a:noFill/>
        </p:spPr>
        <p:txBody>
          <a:bodyPr wrap="none" lIns="0" rIns="0" tIns="0" bIns="0">
            <a:spAutoFit/>
          </a:bodyPr>
          <a:lstStyle/>
          <a:p>
            <a:r>
              <a:rPr sz="1150" b="0">
                <a:solidFill>
                  <a:srgbClr val="2E2E2E"/>
                </a:solidFill>
                <a:latin typeface="Calibri"/>
              </a:rPr>
              <a:t>) and 'Flexible Partial Dentures' the least</a:t>
            </a:r>
          </a:p>
        </p:txBody>
      </p:sp>
      <p:sp>
        <p:nvSpPr>
          <p:cNvPr id="93" name="TextBox 92"/>
          <p:cNvSpPr txBox="1"/>
          <p:nvPr/>
        </p:nvSpPr>
        <p:spPr>
          <a:xfrm>
            <a:off x="8048625" y="3016071"/>
            <a:ext cx="193154"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94" name="Picture 93" descr="lock.png"/>
          <p:cNvPicPr>
            <a:picLocks noChangeAspect="1"/>
          </p:cNvPicPr>
          <p:nvPr/>
        </p:nvPicPr>
        <p:blipFill>
          <a:blip r:embed="rId4"/>
          <a:stretch>
            <a:fillRect/>
          </a:stretch>
        </p:blipFill>
        <p:spPr>
          <a:xfrm>
            <a:off x="8190933" y="3005848"/>
            <a:ext cx="134549" cy="195707"/>
          </a:xfrm>
          <a:prstGeom prst="rect">
            <a:avLst/>
          </a:prstGeom>
        </p:spPr>
      </p:pic>
      <p:sp>
        <p:nvSpPr>
          <p:cNvPr id="95" name="TextBox 94"/>
          <p:cNvSpPr txBox="1"/>
          <p:nvPr/>
        </p:nvSpPr>
        <p:spPr>
          <a:xfrm>
            <a:off x="8366042" y="3016071"/>
            <a:ext cx="3385145" cy="194310"/>
          </a:xfrm>
          <a:prstGeom prst="rect">
            <a:avLst/>
          </a:prstGeom>
          <a:noFill/>
        </p:spPr>
        <p:txBody>
          <a:bodyPr wrap="none" lIns="0" rIns="0" tIns="0" bIns="0">
            <a:spAutoFit/>
          </a:bodyPr>
          <a:lstStyle/>
          <a:p>
            <a:r>
              <a:rPr sz="1150" b="0">
                <a:solidFill>
                  <a:srgbClr val="2E2E2E"/>
                </a:solidFill>
                <a:latin typeface="Calibri"/>
              </a:rPr>
              <a:t>) variability stakeholders should monitor when planning</a:t>
            </a:r>
          </a:p>
        </p:txBody>
      </p:sp>
      <p:sp>
        <p:nvSpPr>
          <p:cNvPr id="96" name="TextBox 95"/>
          <p:cNvSpPr txBox="1"/>
          <p:nvPr/>
        </p:nvSpPr>
        <p:spPr>
          <a:xfrm>
            <a:off x="8048625" y="3191331"/>
            <a:ext cx="1492200" cy="194310"/>
          </a:xfrm>
          <a:prstGeom prst="rect">
            <a:avLst/>
          </a:prstGeom>
          <a:noFill/>
        </p:spPr>
        <p:txBody>
          <a:bodyPr wrap="none" lIns="0" rIns="0" tIns="0" bIns="0">
            <a:spAutoFit/>
          </a:bodyPr>
          <a:lstStyle/>
          <a:p>
            <a:r>
              <a:rPr sz="1150" b="0">
                <a:solidFill>
                  <a:srgbClr val="2E2E2E"/>
                </a:solidFill>
                <a:latin typeface="Calibri"/>
              </a:rPr>
              <a:t>procurement or pricing.</a:t>
            </a:r>
          </a:p>
        </p:txBody>
      </p:sp>
      <p:sp>
        <p:nvSpPr>
          <p:cNvPr id="97" name="TextBox 96"/>
          <p:cNvSpPr txBox="1"/>
          <p:nvPr/>
        </p:nvSpPr>
        <p:spPr>
          <a:xfrm>
            <a:off x="8048625" y="3419169"/>
            <a:ext cx="3718607" cy="194310"/>
          </a:xfrm>
          <a:prstGeom prst="rect">
            <a:avLst/>
          </a:prstGeom>
          <a:noFill/>
        </p:spPr>
        <p:txBody>
          <a:bodyPr wrap="none" lIns="0" rIns="0" tIns="0" bIns="0">
            <a:spAutoFit/>
          </a:bodyPr>
          <a:lstStyle/>
          <a:p>
            <a:r>
              <a:rPr sz="1150" b="0">
                <a:solidFill>
                  <a:srgbClr val="2E2E2E"/>
                </a:solidFill>
                <a:latin typeface="Calibri"/>
              </a:rPr>
              <a:t>▪ The lower chart indexes region-level price movement to the</a:t>
            </a:r>
          </a:p>
        </p:txBody>
      </p:sp>
      <p:sp>
        <p:nvSpPr>
          <p:cNvPr id="98" name="TextBox 97"/>
          <p:cNvSpPr txBox="1"/>
          <p:nvPr/>
        </p:nvSpPr>
        <p:spPr>
          <a:xfrm>
            <a:off x="8048625" y="3594429"/>
            <a:ext cx="3716610" cy="194310"/>
          </a:xfrm>
          <a:prstGeom prst="rect">
            <a:avLst/>
          </a:prstGeom>
          <a:noFill/>
        </p:spPr>
        <p:txBody>
          <a:bodyPr wrap="none" lIns="0" rIns="0" tIns="0" bIns="0">
            <a:spAutoFit/>
          </a:bodyPr>
          <a:lstStyle/>
          <a:p>
            <a:r>
              <a:rPr sz="1150" b="0">
                <a:solidFill>
                  <a:srgbClr val="2E2E2E"/>
                </a:solidFill>
                <a:latin typeface="Calibri"/>
              </a:rPr>
              <a:t>base year, applied consistently across the horizon to strip out</a:t>
            </a:r>
          </a:p>
        </p:txBody>
      </p:sp>
      <p:sp>
        <p:nvSpPr>
          <p:cNvPr id="99" name="TextBox 98"/>
          <p:cNvSpPr txBox="1"/>
          <p:nvPr/>
        </p:nvSpPr>
        <p:spPr>
          <a:xfrm>
            <a:off x="8048625" y="3769689"/>
            <a:ext cx="3693219" cy="194310"/>
          </a:xfrm>
          <a:prstGeom prst="rect">
            <a:avLst/>
          </a:prstGeom>
          <a:noFill/>
        </p:spPr>
        <p:txBody>
          <a:bodyPr wrap="none" lIns="0" rIns="0" tIns="0" bIns="0">
            <a:spAutoFit/>
          </a:bodyPr>
          <a:lstStyle/>
          <a:p>
            <a:r>
              <a:rPr sz="1150" b="0">
                <a:solidFill>
                  <a:srgbClr val="2E2E2E"/>
                </a:solidFill>
                <a:latin typeface="Calibri"/>
              </a:rPr>
              <a:t>year-on-year inflationary volatility and reveal structural price</a:t>
            </a:r>
          </a:p>
        </p:txBody>
      </p:sp>
      <p:sp>
        <p:nvSpPr>
          <p:cNvPr id="100" name="TextBox 99"/>
          <p:cNvSpPr txBox="1"/>
          <p:nvPr/>
        </p:nvSpPr>
        <p:spPr>
          <a:xfrm>
            <a:off x="8048625" y="3944949"/>
            <a:ext cx="431055" cy="194310"/>
          </a:xfrm>
          <a:prstGeom prst="rect">
            <a:avLst/>
          </a:prstGeom>
          <a:noFill/>
        </p:spPr>
        <p:txBody>
          <a:bodyPr wrap="none" lIns="0" rIns="0" tIns="0" bIns="0">
            <a:spAutoFit/>
          </a:bodyPr>
          <a:lstStyle/>
          <a:p>
            <a:r>
              <a:rPr sz="1150" b="0">
                <a:solidFill>
                  <a:srgbClr val="2E2E2E"/>
                </a:solidFill>
                <a:latin typeface="Calibri"/>
              </a:rPr>
              <a:t>shifts.</a:t>
            </a:r>
          </a:p>
        </p:txBody>
      </p:sp>
      <p:sp>
        <p:nvSpPr>
          <p:cNvPr id="101" name="TextBox 100"/>
          <p:cNvSpPr txBox="1"/>
          <p:nvPr/>
        </p:nvSpPr>
        <p:spPr>
          <a:xfrm>
            <a:off x="8048625" y="4172787"/>
            <a:ext cx="2340260" cy="194310"/>
          </a:xfrm>
          <a:prstGeom prst="rect">
            <a:avLst/>
          </a:prstGeom>
          <a:noFill/>
        </p:spPr>
        <p:txBody>
          <a:bodyPr wrap="none" lIns="0" rIns="0" tIns="0" bIns="0">
            <a:spAutoFit/>
          </a:bodyPr>
          <a:lstStyle/>
          <a:p>
            <a:r>
              <a:rPr sz="1150" b="0">
                <a:solidFill>
                  <a:srgbClr val="2E2E2E"/>
                </a:solidFill>
                <a:latin typeface="Calibri"/>
              </a:rPr>
              <a:t>▪ Region price indices diverge by up to</a:t>
            </a:r>
          </a:p>
        </p:txBody>
      </p:sp>
      <p:pic>
        <p:nvPicPr>
          <p:cNvPr id="102" name="Picture 101" descr="lock.png"/>
          <p:cNvPicPr>
            <a:picLocks noChangeAspect="1"/>
          </p:cNvPicPr>
          <p:nvPr/>
        </p:nvPicPr>
        <p:blipFill>
          <a:blip r:embed="rId4"/>
          <a:stretch>
            <a:fillRect/>
          </a:stretch>
        </p:blipFill>
        <p:spPr>
          <a:xfrm>
            <a:off x="10338039" y="4162564"/>
            <a:ext cx="134549" cy="195707"/>
          </a:xfrm>
          <a:prstGeom prst="rect">
            <a:avLst/>
          </a:prstGeom>
        </p:spPr>
      </p:pic>
      <p:sp>
        <p:nvSpPr>
          <p:cNvPr id="103" name="TextBox 102"/>
          <p:cNvSpPr txBox="1"/>
          <p:nvPr/>
        </p:nvSpPr>
        <p:spPr>
          <a:xfrm>
            <a:off x="10513148" y="4172787"/>
            <a:ext cx="1187549" cy="194310"/>
          </a:xfrm>
          <a:prstGeom prst="rect">
            <a:avLst/>
          </a:prstGeom>
          <a:noFill/>
        </p:spPr>
        <p:txBody>
          <a:bodyPr wrap="none" lIns="0" rIns="0" tIns="0" bIns="0">
            <a:spAutoFit/>
          </a:bodyPr>
          <a:lstStyle/>
          <a:p>
            <a:r>
              <a:rPr sz="1150" b="0">
                <a:solidFill>
                  <a:srgbClr val="2E2E2E"/>
                </a:solidFill>
                <a:latin typeface="Calibri"/>
              </a:rPr>
              <a:t>between 2026 and</a:t>
            </a:r>
          </a:p>
        </p:txBody>
      </p:sp>
      <p:sp>
        <p:nvSpPr>
          <p:cNvPr id="104" name="TextBox 103"/>
          <p:cNvSpPr txBox="1"/>
          <p:nvPr/>
        </p:nvSpPr>
        <p:spPr>
          <a:xfrm>
            <a:off x="8048625" y="4348047"/>
            <a:ext cx="3848100" cy="194310"/>
          </a:xfrm>
          <a:prstGeom prst="rect">
            <a:avLst/>
          </a:prstGeom>
          <a:noFill/>
        </p:spPr>
        <p:txBody>
          <a:bodyPr wrap="none" lIns="0" rIns="0" tIns="0" bIns="0">
            <a:spAutoFit/>
          </a:bodyPr>
          <a:lstStyle/>
          <a:p>
            <a:r>
              <a:rPr sz="1150" b="0">
                <a:solidFill>
                  <a:srgbClr val="2E2E2E"/>
                </a:solidFill>
                <a:latin typeface="Calibri"/>
              </a:rPr>
              <a:t>2036: higher-priced regions start higher and grow steadily, while</a:t>
            </a:r>
          </a:p>
        </p:txBody>
      </p:sp>
      <p:sp>
        <p:nvSpPr>
          <p:cNvPr id="105" name="TextBox 104"/>
          <p:cNvSpPr txBox="1"/>
          <p:nvPr/>
        </p:nvSpPr>
        <p:spPr>
          <a:xfrm>
            <a:off x="8048625" y="4523307"/>
            <a:ext cx="3454747" cy="194310"/>
          </a:xfrm>
          <a:prstGeom prst="rect">
            <a:avLst/>
          </a:prstGeom>
          <a:noFill/>
        </p:spPr>
        <p:txBody>
          <a:bodyPr wrap="none" lIns="0" rIns="0" tIns="0" bIns="0">
            <a:spAutoFit/>
          </a:bodyPr>
          <a:lstStyle/>
          <a:p>
            <a:r>
              <a:rPr sz="1150" b="0">
                <a:solidFill>
                  <a:srgbClr val="2E2E2E"/>
                </a:solidFill>
                <a:latin typeface="Calibri"/>
              </a:rPr>
              <a:t>lower-priced regions start lower and converge, reflecting</a:t>
            </a:r>
          </a:p>
        </p:txBody>
      </p:sp>
      <p:sp>
        <p:nvSpPr>
          <p:cNvPr id="106" name="TextBox 105"/>
          <p:cNvSpPr txBox="1"/>
          <p:nvPr/>
        </p:nvSpPr>
        <p:spPr>
          <a:xfrm>
            <a:off x="8048625" y="4698567"/>
            <a:ext cx="1090848" cy="194310"/>
          </a:xfrm>
          <a:prstGeom prst="rect">
            <a:avLst/>
          </a:prstGeom>
          <a:noFill/>
        </p:spPr>
        <p:txBody>
          <a:bodyPr wrap="none" lIns="0" rIns="0" tIns="0" bIns="0">
            <a:spAutoFit/>
          </a:bodyPr>
          <a:lstStyle/>
          <a:p>
            <a:r>
              <a:rPr sz="1150" b="0">
                <a:solidFill>
                  <a:srgbClr val="2E2E2E"/>
                </a:solidFill>
                <a:latin typeface="Calibri"/>
              </a:rPr>
              <a:t>catch-up growth.</a:t>
            </a:r>
          </a:p>
        </p:txBody>
      </p:sp>
    </p:spTree>
  </p:cSld>
  <p:clrMapOvr>
    <a:masterClrMapping/>
  </p:clrMapOvr>
</p:sld>
</file>

<file path=ppt/slides/slide2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Pricing Assessment: By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Average price (US$/Units) by product type, 2021 to 2036, with 2026 price index and growth outlook</a:t>
            </a:r>
          </a:p>
        </p:txBody>
      </p:sp>
      <p:sp>
        <p:nvSpPr>
          <p:cNvPr id="10" name="Rectangle 9"/>
          <p:cNvSpPr/>
          <p:nvPr/>
        </p:nvSpPr>
        <p:spPr>
          <a:xfrm>
            <a:off x="274320" y="981075"/>
            <a:ext cx="11640312" cy="457200"/>
          </a:xfrm>
          <a:prstGeom prst="rect">
            <a:avLst/>
          </a:prstGeom>
          <a:solidFill>
            <a:srgbClr val="0B2E4A"/>
          </a:solidFill>
          <a:ln>
            <a:noFill/>
          </a:ln>
          <a:effectLst/>
        </p:spPr>
        <p:txBody>
          <a:bodyPr rtlCol="0" anchor="ctr" wrap="square" lIns="137160"/>
          <a:lstStyle/>
          <a:p>
            <a:pPr algn="l"/>
            <a:r>
              <a:rPr sz="1300" b="1">
                <a:solidFill>
                  <a:srgbClr val="FFFFFF"/>
                </a:solidFill>
                <a:latin typeface="Calibri"/>
              </a:rPr>
              <a:t/>
            </a:r>
          </a:p>
        </p:txBody>
      </p:sp>
      <p:sp>
        <p:nvSpPr>
          <p:cNvPr id="11" name="Rectangle 10"/>
          <p:cNvSpPr/>
          <p:nvPr/>
        </p:nvSpPr>
        <p:spPr>
          <a:xfrm>
            <a:off x="274320" y="1529715"/>
            <a:ext cx="6446520" cy="3520440"/>
          </a:xfrm>
          <a:prstGeom prst="rect">
            <a:avLst/>
          </a:prstGeom>
          <a:solidFill>
            <a:srgbClr val="F3F6F9"/>
          </a:solidFill>
          <a:ln>
            <a:noFill/>
          </a:ln>
          <a:effectLst/>
        </p:spPr>
        <p:txBody>
          <a:bodyPr rtlCol="0" anchor="ctr"/>
          <a:lstStyle/>
          <a:p>
            <a:pPr algn="ctr"/>
          </a:p>
        </p:txBody>
      </p:sp>
      <p:sp>
        <p:nvSpPr>
          <p:cNvPr id="12" name="TextBox 11"/>
          <p:cNvSpPr txBox="1"/>
          <p:nvPr/>
        </p:nvSpPr>
        <p:spPr>
          <a:xfrm>
            <a:off x="384048" y="1575435"/>
            <a:ext cx="6217920" cy="257175"/>
          </a:xfrm>
          <a:prstGeom prst="rect">
            <a:avLst/>
          </a:prstGeom>
          <a:noFill/>
        </p:spPr>
        <p:txBody>
          <a:bodyPr wrap="square" anchor="t" lIns="27432" rIns="27432" tIns="27432" bIns="27432">
            <a:spAutoFit/>
          </a:bodyPr>
          <a:lstStyle/>
          <a:p>
            <a:pPr algn="l"/>
            <a:r>
              <a:rPr sz="1150" b="1" i="0">
                <a:solidFill>
                  <a:srgbClr val="0B2E4A"/>
                </a:solidFill>
                <a:latin typeface="Calibri"/>
              </a:rPr>
              <a:t>Price Trend by Product Type, 2021 to 2036 (US$/Units)</a:t>
            </a:r>
          </a:p>
        </p:txBody>
      </p:sp>
      <p:graphicFrame>
        <p:nvGraphicFramePr>
          <p:cNvPr id="13" name="FMI Price Chart"/>
          <p:cNvGraphicFramePr>
            <a:graphicFrameLocks noGrp="1"/>
          </p:cNvGraphicFramePr>
          <p:nvPr/>
        </p:nvGraphicFramePr>
        <p:xfrm>
          <a:off x="347472" y="1831467"/>
          <a:ext cx="6309360" cy="3182112"/>
        </p:xfrm>
        <a:graphic>
          <a:graphicData uri="http://schemas.openxmlformats.org/drawingml/2006/chart">
            <c:chart xmlns:c="http://schemas.openxmlformats.org/drawingml/2006/chart" r:id="rId3"/>
          </a:graphicData>
        </a:graphic>
      </p:graphicFrame>
      <p:sp>
        <p:nvSpPr>
          <p:cNvPr id="14" name="TextBox 13"/>
          <p:cNvSpPr txBox="1"/>
          <p:nvPr/>
        </p:nvSpPr>
        <p:spPr>
          <a:xfrm>
            <a:off x="4572000" y="1593723"/>
            <a:ext cx="2103120" cy="228600"/>
          </a:xfrm>
          <a:prstGeom prst="rect">
            <a:avLst/>
          </a:prstGeom>
          <a:noFill/>
        </p:spPr>
        <p:txBody>
          <a:bodyPr wrap="square" anchor="t" lIns="27432" rIns="27432" tIns="27432" bIns="27432">
            <a:spAutoFit/>
          </a:bodyPr>
          <a:lstStyle/>
          <a:p>
            <a:pPr algn="r"/>
            <a:r>
              <a:rPr sz="850" b="0" i="1">
                <a:solidFill>
                  <a:srgbClr val="59636E"/>
                </a:solidFill>
                <a:latin typeface="Calibri"/>
              </a:rPr>
              <a:t>Forecast period: 2026 to 2036</a:t>
            </a:r>
          </a:p>
        </p:txBody>
      </p:sp>
      <p:sp>
        <p:nvSpPr>
          <p:cNvPr id="15" name="Rectangle 14"/>
          <p:cNvSpPr/>
          <p:nvPr/>
        </p:nvSpPr>
        <p:spPr>
          <a:xfrm>
            <a:off x="6858000" y="1529715"/>
            <a:ext cx="5056632" cy="1600200"/>
          </a:xfrm>
          <a:prstGeom prst="rect">
            <a:avLst/>
          </a:prstGeom>
          <a:solidFill>
            <a:srgbClr val="F3F6F9"/>
          </a:solidFill>
          <a:ln>
            <a:noFill/>
          </a:ln>
          <a:effectLst/>
        </p:spPr>
        <p:txBody>
          <a:bodyPr rtlCol="0" anchor="ctr"/>
          <a:lstStyle/>
          <a:p>
            <a:pPr algn="ctr"/>
          </a:p>
        </p:txBody>
      </p:sp>
      <p:sp>
        <p:nvSpPr>
          <p:cNvPr id="16" name="TextBox 15"/>
          <p:cNvSpPr txBox="1"/>
          <p:nvPr/>
        </p:nvSpPr>
        <p:spPr>
          <a:xfrm>
            <a:off x="6967728" y="1575435"/>
            <a:ext cx="4846320" cy="257175"/>
          </a:xfrm>
          <a:prstGeom prst="rect">
            <a:avLst/>
          </a:prstGeom>
          <a:noFill/>
        </p:spPr>
        <p:txBody>
          <a:bodyPr wrap="square" anchor="t" lIns="27432" rIns="27432" tIns="27432" bIns="27432">
            <a:spAutoFit/>
          </a:bodyPr>
          <a:lstStyle/>
          <a:p>
            <a:pPr algn="l"/>
            <a:r>
              <a:rPr sz="1150" b="1" i="0">
                <a:solidFill>
                  <a:srgbClr val="0B2E4A"/>
                </a:solidFill>
                <a:latin typeface="Calibri"/>
              </a:rPr>
              <a:t/>
            </a:r>
          </a:p>
        </p:txBody>
      </p:sp>
      <p:graphicFrame>
        <p:nvGraphicFramePr>
          <p:cNvPr id="17" name="FMI Open Chart"/>
          <p:cNvGraphicFramePr>
            <a:graphicFrameLocks noGrp="1"/>
          </p:cNvGraphicFramePr>
          <p:nvPr/>
        </p:nvGraphicFramePr>
        <p:xfrm>
          <a:off x="6903720" y="1785747"/>
          <a:ext cx="4965192" cy="1325880"/>
        </p:xfrm>
        <a:graphic>
          <a:graphicData uri="http://schemas.openxmlformats.org/drawingml/2006/chart">
            <c:chart xmlns:c="http://schemas.openxmlformats.org/drawingml/2006/chart" r:id="rId4"/>
          </a:graphicData>
        </a:graphic>
      </p:graphicFrame>
      <p:graphicFrame>
        <p:nvGraphicFramePr>
          <p:cNvPr id="18" name="Table 17"/>
          <p:cNvGraphicFramePr>
            <a:graphicFrameLocks noGrp="1"/>
          </p:cNvGraphicFramePr>
          <p:nvPr/>
        </p:nvGraphicFramePr>
        <p:xfrm>
          <a:off x="6858000" y="3203067"/>
          <a:ext cx="5056632" cy="1847088"/>
        </p:xfrm>
        <a:graphic>
          <a:graphicData uri="http://schemas.openxmlformats.org/drawingml/2006/table">
            <a:tbl>
              <a:tblPr firstRow="1" bandRow="1">
                <a:tableStyleId>{5C22544A-7EE6-4342-B048-85BDC9FD1C3A}</a:tableStyleId>
              </a:tblPr>
              <a:tblGrid>
                <a:gridCol w="2130552"/>
                <a:gridCol w="548640"/>
                <a:gridCol w="548640"/>
                <a:gridCol w="548640"/>
                <a:gridCol w="777240"/>
                <a:gridCol w="502920"/>
              </a:tblGrid>
              <a:tr h="307848">
                <a:tc>
                  <a:txBody>
                    <a:bodyPr wrap="square"/>
                    <a:lstStyle/>
                    <a:p>
                      <a:pPr algn="l"/>
                      <a:r>
                        <a:rPr sz="850" b="1">
                          <a:solidFill>
                            <a:srgbClr val="FFFFFF"/>
                          </a:solidFill>
                          <a:latin typeface="Calibri"/>
                        </a:rPr>
                        <a:t>Product Type</a:t>
                      </a:r>
                    </a:p>
                  </a:txBody>
                  <a:tcPr marL="36576" marR="36576" marT="9144" marB="9144" anchor="ctr">
                    <a:solidFill>
                      <a:srgbClr val="0B2E4A"/>
                    </a:solidFill>
                  </a:tcPr>
                </a:tc>
                <a:tc>
                  <a:txBody>
                    <a:bodyPr wrap="square"/>
                    <a:lstStyle/>
                    <a:p>
                      <a:pPr algn="ctr"/>
                      <a:r>
                        <a:rPr sz="850" b="1">
                          <a:solidFill>
                            <a:srgbClr val="FFFFFF"/>
                          </a:solidFill>
                          <a:latin typeface="Calibri"/>
                        </a:rPr>
                        <a:t>2021</a:t>
                      </a:r>
                    </a:p>
                  </a:txBody>
                  <a:tcPr marL="36576" marR="36576" marT="9144" marB="9144" anchor="ctr">
                    <a:solidFill>
                      <a:srgbClr val="0B2E4A"/>
                    </a:solidFill>
                  </a:tcPr>
                </a:tc>
                <a:tc>
                  <a:txBody>
                    <a:bodyPr wrap="square"/>
                    <a:lstStyle/>
                    <a:p>
                      <a:pPr algn="ctr"/>
                      <a:r>
                        <a:rPr sz="850" b="1">
                          <a:solidFill>
                            <a:srgbClr val="FFFFFF"/>
                          </a:solidFill>
                          <a:latin typeface="Calibri"/>
                        </a:rPr>
                        <a:t>2026</a:t>
                      </a:r>
                    </a:p>
                  </a:txBody>
                  <a:tcPr marL="36576" marR="36576" marT="9144" marB="9144" anchor="ctr">
                    <a:solidFill>
                      <a:srgbClr val="0B2E4A"/>
                    </a:solidFill>
                  </a:tcPr>
                </a:tc>
                <a:tc>
                  <a:txBody>
                    <a:bodyPr wrap="square"/>
                    <a:lstStyle/>
                    <a:p>
                      <a:pPr algn="ctr"/>
                      <a:r>
                        <a:rPr sz="850" b="1">
                          <a:solidFill>
                            <a:srgbClr val="FFFFFF"/>
                          </a:solidFill>
                          <a:latin typeface="Calibri"/>
                        </a:rPr>
                        <a:t>2036</a:t>
                      </a:r>
                    </a:p>
                  </a:txBody>
                  <a:tcPr marL="36576" marR="36576" marT="9144" marB="9144" anchor="ctr">
                    <a:solidFill>
                      <a:srgbClr val="0B2E4A"/>
                    </a:solidFill>
                  </a:tcPr>
                </a:tc>
                <a:tc>
                  <a:txBody>
                    <a:bodyPr wrap="square"/>
                    <a:lstStyle/>
                    <a:p>
                      <a:pPr algn="ctr"/>
                      <a:r>
                        <a:rPr sz="850" b="1">
                          <a:solidFill>
                            <a:srgbClr val="FFFFFF"/>
                          </a:solidFill>
                          <a:latin typeface="Calibri"/>
                        </a:rPr>
                        <a:t>CAGR 2026 to 2036</a:t>
                      </a:r>
                    </a:p>
                  </a:txBody>
                  <a:tcPr marL="36576" marR="36576" marT="9144" marB="9144" anchor="ctr">
                    <a:solidFill>
                      <a:srgbClr val="0B2E4A"/>
                    </a:solidFill>
                  </a:tcPr>
                </a:tc>
                <a:tc>
                  <a:txBody>
                    <a:bodyPr wrap="square"/>
                    <a:lstStyle/>
                    <a:p>
                      <a:pPr algn="ctr"/>
                      <a:r>
                        <a:rPr sz="850" b="1">
                          <a:solidFill>
                            <a:srgbClr val="FFFFFF"/>
                          </a:solidFill>
                          <a:latin typeface="Calibri"/>
                        </a:rPr>
                        <a:t>Index</a:t>
                      </a:r>
                    </a:p>
                  </a:txBody>
                  <a:tcPr marL="36576" marR="36576" marT="9144" marB="9144" anchor="ctr">
                    <a:solidFill>
                      <a:srgbClr val="0B2E4A"/>
                    </a:solidFill>
                  </a:tcPr>
                </a:tc>
              </a:tr>
              <a:tr h="307848">
                <a:tc>
                  <a:txBody>
                    <a:bodyPr wrap="square"/>
                    <a:lstStyle/>
                    <a:p>
                      <a:pPr algn="l"/>
                      <a:r>
                        <a:rPr sz="850" b="1">
                          <a:solidFill>
                            <a:srgbClr val="1F1F1F"/>
                          </a:solidFill>
                          <a:latin typeface="Calibri"/>
                        </a:rPr>
                        <a:t>Flexible Partial Dentures</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4B183"/>
                    </a:solidFill>
                  </a:tcPr>
                </a:tc>
              </a:tr>
              <a:tr h="307848">
                <a:tc>
                  <a:txBody>
                    <a:bodyPr wrap="square"/>
                    <a:lstStyle/>
                    <a:p>
                      <a:pPr algn="l"/>
                      <a:r>
                        <a:rPr sz="850" b="1">
                          <a:solidFill>
                            <a:srgbClr val="1F1F1F"/>
                          </a:solidFill>
                          <a:latin typeface="Calibri"/>
                        </a:rPr>
                        <a:t>Acrylic Partial Dentures</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BE3D3"/>
                    </a:solidFill>
                  </a:tcPr>
                </a:tc>
              </a:tr>
              <a:tr h="307848">
                <a:tc>
                  <a:txBody>
                    <a:bodyPr wrap="square"/>
                    <a:lstStyle/>
                    <a:p>
                      <a:pPr algn="l"/>
                      <a:r>
                        <a:rPr sz="850" b="1">
                          <a:solidFill>
                            <a:srgbClr val="1F1F1F"/>
                          </a:solidFill>
                          <a:latin typeface="Calibri"/>
                        </a:rPr>
                        <a:t>Cast Metal Partial Dentures</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7F7F7"/>
                    </a:solidFill>
                  </a:tcPr>
                </a:tc>
              </a:tr>
              <a:tr h="307848">
                <a:tc>
                  <a:txBody>
                    <a:bodyPr wrap="square"/>
                    <a:lstStyle/>
                    <a:p>
                      <a:pPr algn="l"/>
                      <a:r>
                        <a:rPr sz="850" b="1">
                          <a:solidFill>
                            <a:srgbClr val="1F1F1F"/>
                          </a:solidFill>
                          <a:latin typeface="Calibri"/>
                        </a:rPr>
                        <a:t>Combination Framework Partial Dentures</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9DC0E0"/>
                    </a:solidFill>
                  </a:tcPr>
                </a:tc>
              </a:tr>
              <a:tr h="307848">
                <a:tc>
                  <a:txBody>
                    <a:bodyPr wrap="square"/>
                    <a:lstStyle/>
                    <a:p>
                      <a:pPr algn="l"/>
                      <a:r>
                        <a:rPr sz="850" b="1">
                          <a:solidFill>
                            <a:srgbClr val="1F1F1F"/>
                          </a:solidFill>
                          <a:latin typeface="Calibri"/>
                        </a:rPr>
                        <a:t>Global Average</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r>
            </a:tbl>
          </a:graphicData>
        </a:graphic>
      </p:graphicFrame>
      <p:sp>
        <p:nvSpPr>
          <p:cNvPr id="19" name="Rectangle 18"/>
          <p:cNvSpPr/>
          <p:nvPr/>
        </p:nvSpPr>
        <p:spPr>
          <a:xfrm>
            <a:off x="274320" y="5141595"/>
            <a:ext cx="3788664" cy="1234440"/>
          </a:xfrm>
          <a:prstGeom prst="rect">
            <a:avLst/>
          </a:prstGeom>
          <a:solidFill>
            <a:srgbClr val="F3F6F9"/>
          </a:solidFill>
          <a:ln>
            <a:noFill/>
          </a:ln>
          <a:effectLst/>
        </p:spPr>
        <p:txBody>
          <a:bodyPr rtlCol="0" anchor="ctr"/>
          <a:lstStyle/>
          <a:p>
            <a:pPr algn="ctr"/>
          </a:p>
        </p:txBody>
      </p:sp>
      <p:sp>
        <p:nvSpPr>
          <p:cNvPr id="20" name="Oval 19"/>
          <p:cNvSpPr/>
          <p:nvPr/>
        </p:nvSpPr>
        <p:spPr>
          <a:xfrm>
            <a:off x="388620"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1</a:t>
            </a:r>
          </a:p>
        </p:txBody>
      </p:sp>
      <p:sp>
        <p:nvSpPr>
          <p:cNvPr id="21" name="TextBox 20"/>
          <p:cNvSpPr txBox="1"/>
          <p:nvPr/>
        </p:nvSpPr>
        <p:spPr>
          <a:xfrm>
            <a:off x="779145"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Price Hierarchy</a:t>
            </a:r>
          </a:p>
        </p:txBody>
      </p:sp>
      <p:sp>
        <p:nvSpPr>
          <p:cNvPr id="22" name="TextBox 21"/>
          <p:cNvSpPr txBox="1"/>
          <p:nvPr/>
        </p:nvSpPr>
        <p:spPr>
          <a:xfrm>
            <a:off x="779145"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23" name="Rectangle 22"/>
          <p:cNvSpPr/>
          <p:nvPr/>
        </p:nvSpPr>
        <p:spPr>
          <a:xfrm>
            <a:off x="4200144" y="5141595"/>
            <a:ext cx="3788664" cy="1234440"/>
          </a:xfrm>
          <a:prstGeom prst="rect">
            <a:avLst/>
          </a:prstGeom>
          <a:solidFill>
            <a:srgbClr val="F3F6F9"/>
          </a:solidFill>
          <a:ln>
            <a:noFill/>
          </a:ln>
          <a:effectLst/>
        </p:spPr>
        <p:txBody>
          <a:bodyPr rtlCol="0" anchor="ctr"/>
          <a:lstStyle/>
          <a:p>
            <a:pPr algn="ctr"/>
          </a:p>
        </p:txBody>
      </p:sp>
      <p:sp>
        <p:nvSpPr>
          <p:cNvPr id="24" name="Oval 23"/>
          <p:cNvSpPr/>
          <p:nvPr/>
        </p:nvSpPr>
        <p:spPr>
          <a:xfrm>
            <a:off x="4314444"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2</a:t>
            </a:r>
          </a:p>
        </p:txBody>
      </p:sp>
      <p:sp>
        <p:nvSpPr>
          <p:cNvPr id="25" name="TextBox 24"/>
          <p:cNvSpPr txBox="1"/>
          <p:nvPr/>
        </p:nvSpPr>
        <p:spPr>
          <a:xfrm>
            <a:off x="4704969"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Price Momentum</a:t>
            </a:r>
          </a:p>
        </p:txBody>
      </p:sp>
      <p:sp>
        <p:nvSpPr>
          <p:cNvPr id="26" name="TextBox 25"/>
          <p:cNvSpPr txBox="1"/>
          <p:nvPr/>
        </p:nvSpPr>
        <p:spPr>
          <a:xfrm>
            <a:off x="4704969"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27" name="Rectangle 26"/>
          <p:cNvSpPr/>
          <p:nvPr/>
        </p:nvSpPr>
        <p:spPr>
          <a:xfrm>
            <a:off x="8125968" y="5141595"/>
            <a:ext cx="3788664" cy="1234440"/>
          </a:xfrm>
          <a:prstGeom prst="rect">
            <a:avLst/>
          </a:prstGeom>
          <a:solidFill>
            <a:srgbClr val="F3F6F9"/>
          </a:solidFill>
          <a:ln>
            <a:noFill/>
          </a:ln>
          <a:effectLst/>
        </p:spPr>
        <p:txBody>
          <a:bodyPr rtlCol="0" anchor="ctr"/>
          <a:lstStyle/>
          <a:p>
            <a:pPr algn="ctr"/>
          </a:p>
        </p:txBody>
      </p:sp>
      <p:sp>
        <p:nvSpPr>
          <p:cNvPr id="28" name="Oval 27"/>
          <p:cNvSpPr/>
          <p:nvPr/>
        </p:nvSpPr>
        <p:spPr>
          <a:xfrm>
            <a:off x="8240268"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3</a:t>
            </a:r>
          </a:p>
        </p:txBody>
      </p:sp>
      <p:sp>
        <p:nvSpPr>
          <p:cNvPr id="29" name="TextBox 28"/>
          <p:cNvSpPr txBox="1"/>
          <p:nvPr/>
        </p:nvSpPr>
        <p:spPr>
          <a:xfrm>
            <a:off x="8630793"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Outlook</a:t>
            </a:r>
          </a:p>
        </p:txBody>
      </p:sp>
      <p:sp>
        <p:nvSpPr>
          <p:cNvPr id="30" name="TextBox 29"/>
          <p:cNvSpPr txBox="1"/>
          <p:nvPr/>
        </p:nvSpPr>
        <p:spPr>
          <a:xfrm>
            <a:off x="8630793"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31" name="TextBox 30"/>
          <p:cNvSpPr txBox="1"/>
          <p:nvPr/>
        </p:nvSpPr>
        <p:spPr>
          <a:xfrm>
            <a:off x="274320" y="6363843"/>
            <a:ext cx="11612880" cy="209550"/>
          </a:xfrm>
          <a:prstGeom prst="rect">
            <a:avLst/>
          </a:prstGeom>
          <a:noFill/>
        </p:spPr>
        <p:txBody>
          <a:bodyPr wrap="square" anchor="t" lIns="27432" rIns="27432" tIns="27432" bIns="27432">
            <a:spAutoFit/>
          </a:bodyPr>
          <a:lstStyle/>
          <a:p>
            <a:pPr algn="l"/>
            <a:r>
              <a:rPr sz="850" b="0" i="0">
                <a:solidFill>
                  <a:srgbClr val="59636E"/>
                </a:solidFill>
                <a:latin typeface="Calibri"/>
              </a:rPr>
              <a:t>Source: FMI analysis. Average price = market value (US$) / market volume (Units). 2021 to 2025 historical, 2026 to 2036 forecast.</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6"/>
          <a:stretch>
            <a:fillRect/>
          </a:stretch>
        </p:blipFill>
        <p:spPr>
          <a:xfrm>
            <a:off x="10283571" y="4040505"/>
            <a:ext cx="330041" cy="480060"/>
          </a:xfrm>
          <a:prstGeom prst="rect">
            <a:avLst/>
          </a:prstGeom>
        </p:spPr>
      </p:pic>
      <p:sp>
        <p:nvSpPr>
          <p:cNvPr id="34" name="TextBox 33"/>
          <p:cNvSpPr txBox="1"/>
          <p:nvPr/>
        </p:nvSpPr>
        <p:spPr>
          <a:xfrm>
            <a:off x="411480" y="1110615"/>
            <a:ext cx="4922787" cy="217169"/>
          </a:xfrm>
          <a:prstGeom prst="rect">
            <a:avLst/>
          </a:prstGeom>
          <a:noFill/>
        </p:spPr>
        <p:txBody>
          <a:bodyPr wrap="none" lIns="0" rIns="0" tIns="0" bIns="0">
            <a:spAutoFit/>
          </a:bodyPr>
          <a:lstStyle/>
          <a:p>
            <a:r>
              <a:rPr sz="1300" b="1">
                <a:solidFill>
                  <a:srgbClr val="FFFFFF"/>
                </a:solidFill>
                <a:latin typeface="Calibri"/>
              </a:rPr>
              <a:t>Flexible Partial Dentures command the highest 2026 price point at US$</a:t>
            </a:r>
          </a:p>
        </p:txBody>
      </p:sp>
      <p:pic>
        <p:nvPicPr>
          <p:cNvPr id="35" name="Picture 34" descr="lock.png"/>
          <p:cNvPicPr>
            <a:picLocks noChangeAspect="1"/>
          </p:cNvPicPr>
          <p:nvPr/>
        </p:nvPicPr>
        <p:blipFill>
          <a:blip r:embed="rId6"/>
          <a:stretch>
            <a:fillRect/>
          </a:stretch>
        </p:blipFill>
        <p:spPr>
          <a:xfrm>
            <a:off x="5286728" y="1099058"/>
            <a:ext cx="152098" cy="221234"/>
          </a:xfrm>
          <a:prstGeom prst="rect">
            <a:avLst/>
          </a:prstGeom>
        </p:spPr>
      </p:pic>
      <p:sp>
        <p:nvSpPr>
          <p:cNvPr id="36" name="TextBox 35"/>
          <p:cNvSpPr txBox="1"/>
          <p:nvPr/>
        </p:nvSpPr>
        <p:spPr>
          <a:xfrm>
            <a:off x="5484678" y="1110615"/>
            <a:ext cx="668883" cy="217169"/>
          </a:xfrm>
          <a:prstGeom prst="rect">
            <a:avLst/>
          </a:prstGeom>
          <a:noFill/>
        </p:spPr>
        <p:txBody>
          <a:bodyPr wrap="none" lIns="0" rIns="0" tIns="0" bIns="0">
            <a:spAutoFit/>
          </a:bodyPr>
          <a:lstStyle/>
          <a:p>
            <a:r>
              <a:rPr sz="1300" b="1">
                <a:solidFill>
                  <a:srgbClr val="FFFFFF"/>
                </a:solidFill>
                <a:latin typeface="Calibri"/>
              </a:rPr>
              <a:t>/Units, a</a:t>
            </a:r>
          </a:p>
        </p:txBody>
      </p:sp>
      <p:pic>
        <p:nvPicPr>
          <p:cNvPr id="37" name="Picture 36" descr="lock.png"/>
          <p:cNvPicPr>
            <a:picLocks noChangeAspect="1"/>
          </p:cNvPicPr>
          <p:nvPr/>
        </p:nvPicPr>
        <p:blipFill>
          <a:blip r:embed="rId6"/>
          <a:stretch>
            <a:fillRect/>
          </a:stretch>
        </p:blipFill>
        <p:spPr>
          <a:xfrm>
            <a:off x="6106022" y="1099058"/>
            <a:ext cx="152098" cy="221234"/>
          </a:xfrm>
          <a:prstGeom prst="rect">
            <a:avLst/>
          </a:prstGeom>
        </p:spPr>
      </p:pic>
      <p:sp>
        <p:nvSpPr>
          <p:cNvPr id="38" name="TextBox 37"/>
          <p:cNvSpPr txBox="1"/>
          <p:nvPr/>
        </p:nvSpPr>
        <p:spPr>
          <a:xfrm>
            <a:off x="6303972" y="1110615"/>
            <a:ext cx="3992165" cy="217169"/>
          </a:xfrm>
          <a:prstGeom prst="rect">
            <a:avLst/>
          </a:prstGeom>
          <a:noFill/>
        </p:spPr>
        <p:txBody>
          <a:bodyPr wrap="none" lIns="0" rIns="0" tIns="0" bIns="0">
            <a:spAutoFit/>
          </a:bodyPr>
          <a:lstStyle/>
          <a:p>
            <a:r>
              <a:rPr sz="1300" b="1">
                <a:solidFill>
                  <a:srgbClr val="FFFFFF"/>
                </a:solidFill>
                <a:latin typeface="Calibri"/>
              </a:rPr>
              <a:t>premium over Combination Framework Partial Dentures.</a:t>
            </a:r>
          </a:p>
        </p:txBody>
      </p:sp>
      <p:sp>
        <p:nvSpPr>
          <p:cNvPr id="39" name="TextBox 38"/>
          <p:cNvSpPr txBox="1"/>
          <p:nvPr/>
        </p:nvSpPr>
        <p:spPr>
          <a:xfrm>
            <a:off x="6995160" y="1602867"/>
            <a:ext cx="2164334" cy="180289"/>
          </a:xfrm>
          <a:prstGeom prst="rect">
            <a:avLst/>
          </a:prstGeom>
          <a:noFill/>
        </p:spPr>
        <p:txBody>
          <a:bodyPr wrap="none" lIns="0" rIns="0" tIns="0" bIns="0">
            <a:spAutoFit/>
          </a:bodyPr>
          <a:lstStyle/>
          <a:p>
            <a:r>
              <a:rPr sz="1057" b="1">
                <a:solidFill>
                  <a:srgbClr val="0B2E4A"/>
                </a:solidFill>
                <a:latin typeface="Calibri"/>
              </a:rPr>
              <a:t>2026 Price Index vs Global Average (=</a:t>
            </a:r>
          </a:p>
        </p:txBody>
      </p:sp>
      <p:pic>
        <p:nvPicPr>
          <p:cNvPr id="40" name="Picture 39" descr="lock.png"/>
          <p:cNvPicPr>
            <a:picLocks noChangeAspect="1"/>
          </p:cNvPicPr>
          <p:nvPr/>
        </p:nvPicPr>
        <p:blipFill>
          <a:blip r:embed="rId6"/>
          <a:stretch>
            <a:fillRect/>
          </a:stretch>
        </p:blipFill>
        <p:spPr>
          <a:xfrm>
            <a:off x="9106620" y="1593461"/>
            <a:ext cx="123784" cy="180050"/>
          </a:xfrm>
          <a:prstGeom prst="rect">
            <a:avLst/>
          </a:prstGeom>
        </p:spPr>
      </p:pic>
      <p:sp>
        <p:nvSpPr>
          <p:cNvPr id="41" name="TextBox 40"/>
          <p:cNvSpPr txBox="1"/>
          <p:nvPr/>
        </p:nvSpPr>
        <p:spPr>
          <a:xfrm>
            <a:off x="9267721" y="1602867"/>
            <a:ext cx="118189" cy="180289"/>
          </a:xfrm>
          <a:prstGeom prst="rect">
            <a:avLst/>
          </a:prstGeom>
          <a:noFill/>
        </p:spPr>
        <p:txBody>
          <a:bodyPr wrap="none" lIns="0" rIns="0" tIns="0" bIns="0">
            <a:spAutoFit/>
          </a:bodyPr>
          <a:lstStyle/>
          <a:p>
            <a:r>
              <a:rPr sz="1057" b="1">
                <a:solidFill>
                  <a:srgbClr val="0B2E4A"/>
                </a:solidFill>
                <a:latin typeface="Calibri"/>
              </a:rPr>
              <a:t>)</a:t>
            </a:r>
          </a:p>
        </p:txBody>
      </p:sp>
      <p:sp>
        <p:nvSpPr>
          <p:cNvPr id="42" name="TextBox 41"/>
          <p:cNvSpPr txBox="1"/>
          <p:nvPr/>
        </p:nvSpPr>
        <p:spPr>
          <a:xfrm>
            <a:off x="806576" y="5530976"/>
            <a:ext cx="3076575" cy="179069"/>
          </a:xfrm>
          <a:prstGeom prst="rect">
            <a:avLst/>
          </a:prstGeom>
          <a:noFill/>
        </p:spPr>
        <p:txBody>
          <a:bodyPr wrap="none" lIns="0" rIns="0" tIns="0" bIns="0">
            <a:spAutoFit/>
          </a:bodyPr>
          <a:lstStyle/>
          <a:p>
            <a:r>
              <a:rPr sz="1050" b="0">
                <a:solidFill>
                  <a:srgbClr val="1F1F1F"/>
                </a:solidFill>
                <a:latin typeface="Calibri"/>
              </a:rPr>
              <a:t>Flexible Partial Dentures sit at the top of the 2026 price</a:t>
            </a:r>
          </a:p>
        </p:txBody>
      </p:sp>
      <p:sp>
        <p:nvSpPr>
          <p:cNvPr id="43" name="TextBox 42"/>
          <p:cNvSpPr txBox="1"/>
          <p:nvPr/>
        </p:nvSpPr>
        <p:spPr>
          <a:xfrm>
            <a:off x="806576" y="5690996"/>
            <a:ext cx="1193266" cy="179069"/>
          </a:xfrm>
          <a:prstGeom prst="rect">
            <a:avLst/>
          </a:prstGeom>
          <a:noFill/>
        </p:spPr>
        <p:txBody>
          <a:bodyPr wrap="none" lIns="0" rIns="0" tIns="0" bIns="0">
            <a:spAutoFit/>
          </a:bodyPr>
          <a:lstStyle/>
          <a:p>
            <a:r>
              <a:rPr sz="1050" b="0">
                <a:solidFill>
                  <a:srgbClr val="1F1F1F"/>
                </a:solidFill>
                <a:latin typeface="Calibri"/>
              </a:rPr>
              <a:t>ladder at an index of</a:t>
            </a:r>
          </a:p>
        </p:txBody>
      </p:sp>
      <p:pic>
        <p:nvPicPr>
          <p:cNvPr id="44" name="Picture 43" descr="lock.png"/>
          <p:cNvPicPr>
            <a:picLocks noChangeAspect="1"/>
          </p:cNvPicPr>
          <p:nvPr/>
        </p:nvPicPr>
        <p:blipFill>
          <a:blip r:embed="rId6"/>
          <a:stretch>
            <a:fillRect/>
          </a:stretch>
        </p:blipFill>
        <p:spPr>
          <a:xfrm>
            <a:off x="1946792" y="5681662"/>
            <a:ext cx="122849" cy="178689"/>
          </a:xfrm>
          <a:prstGeom prst="rect">
            <a:avLst/>
          </a:prstGeom>
        </p:spPr>
      </p:pic>
      <p:sp>
        <p:nvSpPr>
          <p:cNvPr id="45" name="TextBox 44"/>
          <p:cNvSpPr txBox="1"/>
          <p:nvPr/>
        </p:nvSpPr>
        <p:spPr>
          <a:xfrm>
            <a:off x="2106675" y="5690996"/>
            <a:ext cx="1809489" cy="179069"/>
          </a:xfrm>
          <a:prstGeom prst="rect">
            <a:avLst/>
          </a:prstGeom>
          <a:noFill/>
        </p:spPr>
        <p:txBody>
          <a:bodyPr wrap="none" lIns="0" rIns="0" tIns="0" bIns="0">
            <a:spAutoFit/>
          </a:bodyPr>
          <a:lstStyle/>
          <a:p>
            <a:r>
              <a:rPr sz="1050" b="0">
                <a:solidFill>
                  <a:srgbClr val="1F1F1F"/>
                </a:solidFill>
                <a:latin typeface="Calibri"/>
              </a:rPr>
              <a:t>, while Combination Framework</a:t>
            </a:r>
          </a:p>
        </p:txBody>
      </p:sp>
      <p:sp>
        <p:nvSpPr>
          <p:cNvPr id="46" name="TextBox 45"/>
          <p:cNvSpPr txBox="1"/>
          <p:nvPr/>
        </p:nvSpPr>
        <p:spPr>
          <a:xfrm>
            <a:off x="806576" y="5851016"/>
            <a:ext cx="1415169" cy="179069"/>
          </a:xfrm>
          <a:prstGeom prst="rect">
            <a:avLst/>
          </a:prstGeom>
          <a:noFill/>
        </p:spPr>
        <p:txBody>
          <a:bodyPr wrap="none" lIns="0" rIns="0" tIns="0" bIns="0">
            <a:spAutoFit/>
          </a:bodyPr>
          <a:lstStyle/>
          <a:p>
            <a:r>
              <a:rPr sz="1050" b="0">
                <a:solidFill>
                  <a:srgbClr val="1F1F1F"/>
                </a:solidFill>
                <a:latin typeface="Calibri"/>
              </a:rPr>
              <a:t>Partial Dentures trade at</a:t>
            </a:r>
          </a:p>
        </p:txBody>
      </p:sp>
      <p:pic>
        <p:nvPicPr>
          <p:cNvPr id="47" name="Picture 46" descr="lock.png"/>
          <p:cNvPicPr>
            <a:picLocks noChangeAspect="1"/>
          </p:cNvPicPr>
          <p:nvPr/>
        </p:nvPicPr>
        <p:blipFill>
          <a:blip r:embed="rId6"/>
          <a:stretch>
            <a:fillRect/>
          </a:stretch>
        </p:blipFill>
        <p:spPr>
          <a:xfrm>
            <a:off x="2168695" y="5841682"/>
            <a:ext cx="122849" cy="178689"/>
          </a:xfrm>
          <a:prstGeom prst="rect">
            <a:avLst/>
          </a:prstGeom>
        </p:spPr>
      </p:pic>
      <p:sp>
        <p:nvSpPr>
          <p:cNvPr id="48" name="TextBox 47"/>
          <p:cNvSpPr txBox="1"/>
          <p:nvPr/>
        </p:nvSpPr>
        <p:spPr>
          <a:xfrm>
            <a:off x="2328578" y="5851016"/>
            <a:ext cx="1222176" cy="179069"/>
          </a:xfrm>
          <a:prstGeom prst="rect">
            <a:avLst/>
          </a:prstGeom>
          <a:noFill/>
        </p:spPr>
        <p:txBody>
          <a:bodyPr wrap="none" lIns="0" rIns="0" tIns="0" bIns="0">
            <a:spAutoFit/>
          </a:bodyPr>
          <a:lstStyle/>
          <a:p>
            <a:r>
              <a:rPr sz="1050" b="0">
                <a:solidFill>
                  <a:srgbClr val="1F1F1F"/>
                </a:solidFill>
                <a:latin typeface="Calibri"/>
              </a:rPr>
              <a:t>, which keeps the full</a:t>
            </a:r>
          </a:p>
        </p:txBody>
      </p:sp>
      <p:sp>
        <p:nvSpPr>
          <p:cNvPr id="49" name="TextBox 48"/>
          <p:cNvSpPr txBox="1"/>
          <p:nvPr/>
        </p:nvSpPr>
        <p:spPr>
          <a:xfrm>
            <a:off x="806576" y="6011036"/>
            <a:ext cx="1547738" cy="179069"/>
          </a:xfrm>
          <a:prstGeom prst="rect">
            <a:avLst/>
          </a:prstGeom>
          <a:noFill/>
        </p:spPr>
        <p:txBody>
          <a:bodyPr wrap="none" lIns="0" rIns="0" tIns="0" bIns="0">
            <a:spAutoFit/>
          </a:bodyPr>
          <a:lstStyle/>
          <a:p>
            <a:r>
              <a:rPr sz="1050" b="0">
                <a:solidFill>
                  <a:srgbClr val="1F1F1F"/>
                </a:solidFill>
                <a:latin typeface="Calibri"/>
              </a:rPr>
              <a:t>product type spread within</a:t>
            </a:r>
          </a:p>
        </p:txBody>
      </p:sp>
      <p:pic>
        <p:nvPicPr>
          <p:cNvPr id="50" name="Picture 49" descr="lock.png"/>
          <p:cNvPicPr>
            <a:picLocks noChangeAspect="1"/>
          </p:cNvPicPr>
          <p:nvPr/>
        </p:nvPicPr>
        <p:blipFill>
          <a:blip r:embed="rId6"/>
          <a:stretch>
            <a:fillRect/>
          </a:stretch>
        </p:blipFill>
        <p:spPr>
          <a:xfrm>
            <a:off x="2301264" y="6001702"/>
            <a:ext cx="122849" cy="178689"/>
          </a:xfrm>
          <a:prstGeom prst="rect">
            <a:avLst/>
          </a:prstGeom>
        </p:spPr>
      </p:pic>
      <p:sp>
        <p:nvSpPr>
          <p:cNvPr id="51" name="TextBox 50"/>
          <p:cNvSpPr txBox="1"/>
          <p:nvPr/>
        </p:nvSpPr>
        <p:spPr>
          <a:xfrm>
            <a:off x="2461146" y="6011036"/>
            <a:ext cx="109797" cy="179069"/>
          </a:xfrm>
          <a:prstGeom prst="rect">
            <a:avLst/>
          </a:prstGeom>
          <a:noFill/>
        </p:spPr>
        <p:txBody>
          <a:bodyPr wrap="none" lIns="0" rIns="0" tIns="0" bIns="0">
            <a:spAutoFit/>
          </a:bodyPr>
          <a:lstStyle/>
          <a:p>
            <a:r>
              <a:rPr sz="1050" b="0">
                <a:solidFill>
                  <a:srgbClr val="1F1F1F"/>
                </a:solidFill>
                <a:latin typeface="Calibri"/>
              </a:rPr>
              <a:t>.</a:t>
            </a:r>
          </a:p>
        </p:txBody>
      </p:sp>
      <p:sp>
        <p:nvSpPr>
          <p:cNvPr id="52" name="TextBox 51"/>
          <p:cNvSpPr txBox="1"/>
          <p:nvPr/>
        </p:nvSpPr>
        <p:spPr>
          <a:xfrm>
            <a:off x="4732401" y="5530976"/>
            <a:ext cx="3143249" cy="179069"/>
          </a:xfrm>
          <a:prstGeom prst="rect">
            <a:avLst/>
          </a:prstGeom>
          <a:noFill/>
        </p:spPr>
        <p:txBody>
          <a:bodyPr wrap="none" lIns="0" rIns="0" tIns="0" bIns="0">
            <a:spAutoFit/>
          </a:bodyPr>
          <a:lstStyle/>
          <a:p>
            <a:r>
              <a:rPr sz="1050" b="0">
                <a:solidFill>
                  <a:srgbClr val="1F1F1F"/>
                </a:solidFill>
                <a:latin typeface="Calibri"/>
              </a:rPr>
              <a:t>Cast Metal Partial Dentures post the fastest price growth</a:t>
            </a:r>
          </a:p>
        </p:txBody>
      </p:sp>
      <p:sp>
        <p:nvSpPr>
          <p:cNvPr id="53" name="TextBox 52"/>
          <p:cNvSpPr txBox="1"/>
          <p:nvPr/>
        </p:nvSpPr>
        <p:spPr>
          <a:xfrm>
            <a:off x="4732401" y="5690996"/>
            <a:ext cx="278829" cy="179069"/>
          </a:xfrm>
          <a:prstGeom prst="rect">
            <a:avLst/>
          </a:prstGeom>
          <a:noFill/>
        </p:spPr>
        <p:txBody>
          <a:bodyPr wrap="none" lIns="0" rIns="0" tIns="0" bIns="0">
            <a:spAutoFit/>
          </a:bodyPr>
          <a:lstStyle/>
          <a:p>
            <a:r>
              <a:rPr sz="1050" b="0">
                <a:solidFill>
                  <a:srgbClr val="1F1F1F"/>
                </a:solidFill>
                <a:latin typeface="Calibri"/>
              </a:rPr>
              <a:t>at a</a:t>
            </a:r>
          </a:p>
        </p:txBody>
      </p:sp>
      <p:pic>
        <p:nvPicPr>
          <p:cNvPr id="54" name="Picture 53" descr="lock.png"/>
          <p:cNvPicPr>
            <a:picLocks noChangeAspect="1"/>
          </p:cNvPicPr>
          <p:nvPr/>
        </p:nvPicPr>
        <p:blipFill>
          <a:blip r:embed="rId6"/>
          <a:stretch>
            <a:fillRect/>
          </a:stretch>
        </p:blipFill>
        <p:spPr>
          <a:xfrm>
            <a:off x="4958179" y="5681662"/>
            <a:ext cx="122849" cy="178689"/>
          </a:xfrm>
          <a:prstGeom prst="rect">
            <a:avLst/>
          </a:prstGeom>
        </p:spPr>
      </p:pic>
      <p:sp>
        <p:nvSpPr>
          <p:cNvPr id="55" name="TextBox 54"/>
          <p:cNvSpPr txBox="1"/>
          <p:nvPr/>
        </p:nvSpPr>
        <p:spPr>
          <a:xfrm>
            <a:off x="5118062" y="5690996"/>
            <a:ext cx="2611917" cy="179069"/>
          </a:xfrm>
          <a:prstGeom prst="rect">
            <a:avLst/>
          </a:prstGeom>
          <a:noFill/>
        </p:spPr>
        <p:txBody>
          <a:bodyPr wrap="none" lIns="0" rIns="0" tIns="0" bIns="0">
            <a:spAutoFit/>
          </a:bodyPr>
          <a:lstStyle/>
          <a:p>
            <a:r>
              <a:rPr sz="1050" b="0">
                <a:solidFill>
                  <a:srgbClr val="1F1F1F"/>
                </a:solidFill>
                <a:latin typeface="Calibri"/>
              </a:rPr>
              <a:t>CAGR between 2026 and 2036, compared with</a:t>
            </a:r>
          </a:p>
        </p:txBody>
      </p:sp>
      <p:pic>
        <p:nvPicPr>
          <p:cNvPr id="56" name="Picture 55" descr="lock.png"/>
          <p:cNvPicPr>
            <a:picLocks noChangeAspect="1"/>
          </p:cNvPicPr>
          <p:nvPr/>
        </p:nvPicPr>
        <p:blipFill>
          <a:blip r:embed="rId6"/>
          <a:stretch>
            <a:fillRect/>
          </a:stretch>
        </p:blipFill>
        <p:spPr>
          <a:xfrm>
            <a:off x="4719545" y="5841682"/>
            <a:ext cx="122849" cy="178689"/>
          </a:xfrm>
          <a:prstGeom prst="rect">
            <a:avLst/>
          </a:prstGeom>
        </p:spPr>
      </p:pic>
      <p:sp>
        <p:nvSpPr>
          <p:cNvPr id="57" name="TextBox 56"/>
          <p:cNvSpPr txBox="1"/>
          <p:nvPr/>
        </p:nvSpPr>
        <p:spPr>
          <a:xfrm>
            <a:off x="4879428" y="5851016"/>
            <a:ext cx="1620142" cy="179069"/>
          </a:xfrm>
          <a:prstGeom prst="rect">
            <a:avLst/>
          </a:prstGeom>
          <a:noFill/>
        </p:spPr>
        <p:txBody>
          <a:bodyPr wrap="none" lIns="0" rIns="0" tIns="0" bIns="0">
            <a:spAutoFit/>
          </a:bodyPr>
          <a:lstStyle/>
          <a:p>
            <a:r>
              <a:rPr sz="1050" b="0">
                <a:solidFill>
                  <a:srgbClr val="1F1F1F"/>
                </a:solidFill>
                <a:latin typeface="Calibri"/>
              </a:rPr>
              <a:t>for Flexible Partial Dentures.</a:t>
            </a:r>
          </a:p>
        </p:txBody>
      </p:sp>
      <p:sp>
        <p:nvSpPr>
          <p:cNvPr id="58" name="TextBox 57"/>
          <p:cNvSpPr txBox="1"/>
          <p:nvPr/>
        </p:nvSpPr>
        <p:spPr>
          <a:xfrm>
            <a:off x="8658225" y="5530976"/>
            <a:ext cx="2235844" cy="179069"/>
          </a:xfrm>
          <a:prstGeom prst="rect">
            <a:avLst/>
          </a:prstGeom>
          <a:noFill/>
        </p:spPr>
        <p:txBody>
          <a:bodyPr wrap="none" lIns="0" rIns="0" tIns="0" bIns="0">
            <a:spAutoFit/>
          </a:bodyPr>
          <a:lstStyle/>
          <a:p>
            <a:r>
              <a:rPr sz="1050" b="0">
                <a:solidFill>
                  <a:srgbClr val="1F1F1F"/>
                </a:solidFill>
                <a:latin typeface="Calibri"/>
              </a:rPr>
              <a:t>The Global average price rises from US$</a:t>
            </a:r>
          </a:p>
        </p:txBody>
      </p:sp>
      <p:pic>
        <p:nvPicPr>
          <p:cNvPr id="59" name="Picture 58" descr="lock.png"/>
          <p:cNvPicPr>
            <a:picLocks noChangeAspect="1"/>
          </p:cNvPicPr>
          <p:nvPr/>
        </p:nvPicPr>
        <p:blipFill>
          <a:blip r:embed="rId6"/>
          <a:stretch>
            <a:fillRect/>
          </a:stretch>
        </p:blipFill>
        <p:spPr>
          <a:xfrm>
            <a:off x="10841019" y="5521642"/>
            <a:ext cx="122849" cy="178689"/>
          </a:xfrm>
          <a:prstGeom prst="rect">
            <a:avLst/>
          </a:prstGeom>
        </p:spPr>
      </p:pic>
      <p:sp>
        <p:nvSpPr>
          <p:cNvPr id="60" name="TextBox 59"/>
          <p:cNvSpPr txBox="1"/>
          <p:nvPr/>
        </p:nvSpPr>
        <p:spPr>
          <a:xfrm>
            <a:off x="11000901" y="5530976"/>
            <a:ext cx="542143" cy="179069"/>
          </a:xfrm>
          <a:prstGeom prst="rect">
            <a:avLst/>
          </a:prstGeom>
          <a:noFill/>
        </p:spPr>
        <p:txBody>
          <a:bodyPr wrap="none" lIns="0" rIns="0" tIns="0" bIns="0">
            <a:spAutoFit/>
          </a:bodyPr>
          <a:lstStyle/>
          <a:p>
            <a:r>
              <a:rPr sz="1050" b="0">
                <a:solidFill>
                  <a:srgbClr val="1F1F1F"/>
                </a:solidFill>
                <a:latin typeface="Calibri"/>
              </a:rPr>
              <a:t>/Units in</a:t>
            </a:r>
          </a:p>
        </p:txBody>
      </p:sp>
      <p:sp>
        <p:nvSpPr>
          <p:cNvPr id="61" name="TextBox 60"/>
          <p:cNvSpPr txBox="1"/>
          <p:nvPr/>
        </p:nvSpPr>
        <p:spPr>
          <a:xfrm>
            <a:off x="8658225" y="5690996"/>
            <a:ext cx="737220" cy="179069"/>
          </a:xfrm>
          <a:prstGeom prst="rect">
            <a:avLst/>
          </a:prstGeom>
          <a:noFill/>
        </p:spPr>
        <p:txBody>
          <a:bodyPr wrap="none" lIns="0" rIns="0" tIns="0" bIns="0">
            <a:spAutoFit/>
          </a:bodyPr>
          <a:lstStyle/>
          <a:p>
            <a:r>
              <a:rPr sz="1050" b="0">
                <a:solidFill>
                  <a:srgbClr val="1F1F1F"/>
                </a:solidFill>
                <a:latin typeface="Calibri"/>
              </a:rPr>
              <a:t>2026 to US$</a:t>
            </a:r>
          </a:p>
        </p:txBody>
      </p:sp>
      <p:pic>
        <p:nvPicPr>
          <p:cNvPr id="62" name="Picture 61" descr="lock.png"/>
          <p:cNvPicPr>
            <a:picLocks noChangeAspect="1"/>
          </p:cNvPicPr>
          <p:nvPr/>
        </p:nvPicPr>
        <p:blipFill>
          <a:blip r:embed="rId6"/>
          <a:stretch>
            <a:fillRect/>
          </a:stretch>
        </p:blipFill>
        <p:spPr>
          <a:xfrm>
            <a:off x="9342394" y="5681662"/>
            <a:ext cx="122849" cy="178689"/>
          </a:xfrm>
          <a:prstGeom prst="rect">
            <a:avLst/>
          </a:prstGeom>
        </p:spPr>
      </p:pic>
      <p:sp>
        <p:nvSpPr>
          <p:cNvPr id="63" name="TextBox 62"/>
          <p:cNvSpPr txBox="1"/>
          <p:nvPr/>
        </p:nvSpPr>
        <p:spPr>
          <a:xfrm>
            <a:off x="9502276" y="5690996"/>
            <a:ext cx="2270224" cy="179069"/>
          </a:xfrm>
          <a:prstGeom prst="rect">
            <a:avLst/>
          </a:prstGeom>
          <a:noFill/>
        </p:spPr>
        <p:txBody>
          <a:bodyPr wrap="none" lIns="0" rIns="0" tIns="0" bIns="0">
            <a:spAutoFit/>
          </a:bodyPr>
          <a:lstStyle/>
          <a:p>
            <a:r>
              <a:rPr sz="1050" b="0">
                <a:solidFill>
                  <a:srgbClr val="1F1F1F"/>
                </a:solidFill>
                <a:latin typeface="Calibri"/>
              </a:rPr>
              <a:t>/Units in 2036, and the gap between the</a:t>
            </a:r>
          </a:p>
        </p:txBody>
      </p:sp>
      <p:sp>
        <p:nvSpPr>
          <p:cNvPr id="64" name="TextBox 63"/>
          <p:cNvSpPr txBox="1"/>
          <p:nvPr/>
        </p:nvSpPr>
        <p:spPr>
          <a:xfrm>
            <a:off x="8658225" y="5851016"/>
            <a:ext cx="2878373" cy="179069"/>
          </a:xfrm>
          <a:prstGeom prst="rect">
            <a:avLst/>
          </a:prstGeom>
          <a:noFill/>
        </p:spPr>
        <p:txBody>
          <a:bodyPr wrap="none" lIns="0" rIns="0" tIns="0" bIns="0">
            <a:spAutoFit/>
          </a:bodyPr>
          <a:lstStyle/>
          <a:p>
            <a:r>
              <a:rPr sz="1050" b="0">
                <a:solidFill>
                  <a:srgbClr val="1F1F1F"/>
                </a:solidFill>
                <a:latin typeface="Calibri"/>
              </a:rPr>
              <a:t>highest and lowest priced product type moves from</a:t>
            </a:r>
          </a:p>
        </p:txBody>
      </p:sp>
      <p:pic>
        <p:nvPicPr>
          <p:cNvPr id="65" name="Picture 64" descr="lock.png"/>
          <p:cNvPicPr>
            <a:picLocks noChangeAspect="1"/>
          </p:cNvPicPr>
          <p:nvPr/>
        </p:nvPicPr>
        <p:blipFill>
          <a:blip r:embed="rId6"/>
          <a:stretch>
            <a:fillRect/>
          </a:stretch>
        </p:blipFill>
        <p:spPr>
          <a:xfrm>
            <a:off x="11483547" y="5841682"/>
            <a:ext cx="122849" cy="178689"/>
          </a:xfrm>
          <a:prstGeom prst="rect">
            <a:avLst/>
          </a:prstGeom>
        </p:spPr>
      </p:pic>
      <p:sp>
        <p:nvSpPr>
          <p:cNvPr id="66" name="TextBox 65"/>
          <p:cNvSpPr txBox="1"/>
          <p:nvPr/>
        </p:nvSpPr>
        <p:spPr>
          <a:xfrm>
            <a:off x="8658225" y="6011036"/>
            <a:ext cx="623403" cy="179069"/>
          </a:xfrm>
          <a:prstGeom prst="rect">
            <a:avLst/>
          </a:prstGeom>
          <a:noFill/>
        </p:spPr>
        <p:txBody>
          <a:bodyPr wrap="none" lIns="0" rIns="0" tIns="0" bIns="0">
            <a:spAutoFit/>
          </a:bodyPr>
          <a:lstStyle/>
          <a:p>
            <a:r>
              <a:rPr sz="1050" b="0">
                <a:solidFill>
                  <a:srgbClr val="1F1F1F"/>
                </a:solidFill>
                <a:latin typeface="Calibri"/>
              </a:rPr>
              <a:t>in 2021 to</a:t>
            </a:r>
          </a:p>
        </p:txBody>
      </p:sp>
      <p:pic>
        <p:nvPicPr>
          <p:cNvPr id="67" name="Picture 66" descr="lock.png"/>
          <p:cNvPicPr>
            <a:picLocks noChangeAspect="1"/>
          </p:cNvPicPr>
          <p:nvPr/>
        </p:nvPicPr>
        <p:blipFill>
          <a:blip r:embed="rId6"/>
          <a:stretch>
            <a:fillRect/>
          </a:stretch>
        </p:blipFill>
        <p:spPr>
          <a:xfrm>
            <a:off x="9228578" y="6001702"/>
            <a:ext cx="122849" cy="178689"/>
          </a:xfrm>
          <a:prstGeom prst="rect">
            <a:avLst/>
          </a:prstGeom>
        </p:spPr>
      </p:pic>
      <p:sp>
        <p:nvSpPr>
          <p:cNvPr id="68" name="TextBox 67"/>
          <p:cNvSpPr txBox="1"/>
          <p:nvPr/>
        </p:nvSpPr>
        <p:spPr>
          <a:xfrm>
            <a:off x="9388460" y="6011036"/>
            <a:ext cx="511671" cy="179069"/>
          </a:xfrm>
          <a:prstGeom prst="rect">
            <a:avLst/>
          </a:prstGeom>
          <a:noFill/>
        </p:spPr>
        <p:txBody>
          <a:bodyPr wrap="none" lIns="0" rIns="0" tIns="0" bIns="0">
            <a:spAutoFit/>
          </a:bodyPr>
          <a:lstStyle/>
          <a:p>
            <a:r>
              <a:rPr sz="1050" b="0">
                <a:solidFill>
                  <a:srgbClr val="1F1F1F"/>
                </a:solidFill>
                <a:latin typeface="Calibri"/>
              </a:rPr>
              <a:t>in 2036.</a:t>
            </a:r>
          </a:p>
        </p:txBody>
      </p:sp>
      <p:pic>
        <p:nvPicPr>
          <p:cNvPr id="69" name="Picture 68" descr="lock.png"/>
          <p:cNvPicPr>
            <a:picLocks noChangeAspect="1"/>
          </p:cNvPicPr>
          <p:nvPr/>
        </p:nvPicPr>
        <p:blipFill>
          <a:blip r:embed="rId6"/>
          <a:stretch>
            <a:fillRect/>
          </a:stretch>
        </p:blipFill>
        <p:spPr>
          <a:xfrm>
            <a:off x="3418190" y="3048804"/>
            <a:ext cx="454926" cy="661711"/>
          </a:xfrm>
          <a:prstGeom prst="rect">
            <a:avLst/>
          </a:prstGeom>
        </p:spPr>
      </p:pic>
      <p:pic>
        <p:nvPicPr>
          <p:cNvPr id="70" name="Picture 69" descr="lock.png"/>
          <p:cNvPicPr>
            <a:picLocks noChangeAspect="1"/>
          </p:cNvPicPr>
          <p:nvPr/>
        </p:nvPicPr>
        <p:blipFill>
          <a:blip r:embed="rId6"/>
          <a:stretch>
            <a:fillRect/>
          </a:stretch>
        </p:blipFill>
        <p:spPr>
          <a:xfrm>
            <a:off x="9403270" y="2219134"/>
            <a:ext cx="256698" cy="373379"/>
          </a:xfrm>
          <a:prstGeom prst="rect">
            <a:avLst/>
          </a:prstGeom>
        </p:spPr>
      </p:pic>
      <p:sp>
        <p:nvSpPr>
          <p:cNvPr id="71" name="lockshield_13"/>
          <p:cNvSpPr/>
          <p:nvPr/>
        </p:nvSpPr>
        <p:spPr>
          <a:xfrm>
            <a:off x="347472" y="1831467"/>
            <a:ext cx="6309360" cy="3182112"/>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lockshield_17"/>
          <p:cNvSpPr/>
          <p:nvPr/>
        </p:nvSpPr>
        <p:spPr>
          <a:xfrm>
            <a:off x="6903720" y="1785747"/>
            <a:ext cx="4965192" cy="132588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Price Matrix: Product Type × Material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Average price (US$/Units) for every product type and material type combination, 2026</a:t>
            </a:r>
          </a:p>
        </p:txBody>
      </p:sp>
      <p:sp>
        <p:nvSpPr>
          <p:cNvPr id="10" name="Rectangle 9"/>
          <p:cNvSpPr/>
          <p:nvPr/>
        </p:nvSpPr>
        <p:spPr>
          <a:xfrm>
            <a:off x="274320" y="981075"/>
            <a:ext cx="11640312" cy="457200"/>
          </a:xfrm>
          <a:prstGeom prst="rect">
            <a:avLst/>
          </a:prstGeom>
          <a:solidFill>
            <a:srgbClr val="0B2E4A"/>
          </a:solidFill>
          <a:ln>
            <a:noFill/>
          </a:ln>
          <a:effectLst/>
        </p:spPr>
        <p:txBody>
          <a:bodyPr rtlCol="0" anchor="ctr" wrap="square" lIns="137160"/>
          <a:lstStyle/>
          <a:p>
            <a:pPr algn="l"/>
            <a:r>
              <a:rPr sz="1300" b="1">
                <a:solidFill>
                  <a:srgbClr val="FFFFFF"/>
                </a:solidFill>
                <a:latin typeface="Calibri"/>
              </a:rPr>
              <a:t/>
            </a:r>
          </a:p>
        </p:txBody>
      </p:sp>
      <p:sp>
        <p:nvSpPr>
          <p:cNvPr id="11" name="Rectangle 10"/>
          <p:cNvSpPr/>
          <p:nvPr/>
        </p:nvSpPr>
        <p:spPr>
          <a:xfrm>
            <a:off x="274320" y="1529715"/>
            <a:ext cx="7543800" cy="3520440"/>
          </a:xfrm>
          <a:prstGeom prst="rect">
            <a:avLst/>
          </a:prstGeom>
          <a:solidFill>
            <a:srgbClr val="F3F6F9"/>
          </a:solidFill>
          <a:ln>
            <a:noFill/>
          </a:ln>
          <a:effectLst/>
        </p:spPr>
        <p:txBody>
          <a:bodyPr rtlCol="0" anchor="ctr"/>
          <a:lstStyle/>
          <a:p>
            <a:pPr algn="ctr"/>
          </a:p>
        </p:txBody>
      </p:sp>
      <p:sp>
        <p:nvSpPr>
          <p:cNvPr id="12" name="TextBox 11"/>
          <p:cNvSpPr txBox="1"/>
          <p:nvPr/>
        </p:nvSpPr>
        <p:spPr>
          <a:xfrm>
            <a:off x="384048" y="1575435"/>
            <a:ext cx="7315200" cy="257175"/>
          </a:xfrm>
          <a:prstGeom prst="rect">
            <a:avLst/>
          </a:prstGeom>
          <a:noFill/>
        </p:spPr>
        <p:txBody>
          <a:bodyPr wrap="square" anchor="t" lIns="27432" rIns="27432" tIns="27432" bIns="27432">
            <a:spAutoFit/>
          </a:bodyPr>
          <a:lstStyle/>
          <a:p>
            <a:pPr algn="l"/>
            <a:r>
              <a:rPr sz="1150" b="1" i="0">
                <a:solidFill>
                  <a:srgbClr val="0B2E4A"/>
                </a:solidFill>
                <a:latin typeface="Calibri"/>
              </a:rPr>
              <a:t>2026 Price Matrix (US$/Units), Shaded by Index vs Global Average</a:t>
            </a:r>
          </a:p>
        </p:txBody>
      </p:sp>
      <p:graphicFrame>
        <p:nvGraphicFramePr>
          <p:cNvPr id="13" name="Table 12"/>
          <p:cNvGraphicFramePr>
            <a:graphicFrameLocks noGrp="1"/>
          </p:cNvGraphicFramePr>
          <p:nvPr/>
        </p:nvGraphicFramePr>
        <p:xfrm>
          <a:off x="365760" y="1868043"/>
          <a:ext cx="7360920" cy="2834640"/>
        </p:xfrm>
        <a:graphic>
          <a:graphicData uri="http://schemas.openxmlformats.org/drawingml/2006/table">
            <a:tbl>
              <a:tblPr firstRow="1" bandRow="1">
                <a:tableStyleId>{5C22544A-7EE6-4342-B048-85BDC9FD1C3A}</a:tableStyleId>
              </a:tblPr>
              <a:tblGrid>
                <a:gridCol w="1554480"/>
                <a:gridCol w="1300734"/>
                <a:gridCol w="1300734"/>
                <a:gridCol w="1300734"/>
                <a:gridCol w="1300734"/>
                <a:gridCol w="603504"/>
              </a:tblGrid>
              <a:tr h="472440">
                <a:tc>
                  <a:txBody>
                    <a:bodyPr wrap="square"/>
                    <a:lstStyle/>
                    <a:p>
                      <a:pPr algn="l"/>
                      <a:r>
                        <a:rPr sz="800" b="1">
                          <a:solidFill>
                            <a:srgbClr val="FFFFFF"/>
                          </a:solidFill>
                          <a:latin typeface="Calibri"/>
                        </a:rPr>
                        <a:t>Product Type</a:t>
                      </a:r>
                    </a:p>
                  </a:txBody>
                  <a:tcPr marL="36576" marR="36576" marT="9144" marB="9144" anchor="ctr">
                    <a:solidFill>
                      <a:srgbClr val="0B2E4A"/>
                    </a:solidFill>
                  </a:tcPr>
                </a:tc>
                <a:tc>
                  <a:txBody>
                    <a:bodyPr wrap="square"/>
                    <a:lstStyle/>
                    <a:p>
                      <a:pPr algn="ctr"/>
                      <a:r>
                        <a:rPr sz="800" b="1">
                          <a:solidFill>
                            <a:srgbClr val="FFFFFF"/>
                          </a:solidFill>
                          <a:latin typeface="Calibri"/>
                        </a:rPr>
                        <a:t>Metal Alloys</a:t>
                      </a:r>
                    </a:p>
                  </a:txBody>
                  <a:tcPr marL="36576" marR="36576" marT="9144" marB="9144" anchor="ctr">
                    <a:solidFill>
                      <a:srgbClr val="0B2E4A"/>
                    </a:solidFill>
                  </a:tcPr>
                </a:tc>
                <a:tc>
                  <a:txBody>
                    <a:bodyPr wrap="square"/>
                    <a:lstStyle/>
                    <a:p>
                      <a:pPr algn="ctr"/>
                      <a:r>
                        <a:rPr sz="800" b="1">
                          <a:solidFill>
                            <a:srgbClr val="FFFFFF"/>
                          </a:solidFill>
                          <a:latin typeface="Calibri"/>
                        </a:rPr>
                        <a:t>Acrylic / Resin</a:t>
                      </a:r>
                    </a:p>
                  </a:txBody>
                  <a:tcPr marL="36576" marR="36576" marT="9144" marB="9144" anchor="ctr">
                    <a:solidFill>
                      <a:srgbClr val="0B2E4A"/>
                    </a:solidFill>
                  </a:tcPr>
                </a:tc>
                <a:tc>
                  <a:txBody>
                    <a:bodyPr wrap="square"/>
                    <a:lstStyle/>
                    <a:p>
                      <a:pPr algn="ctr"/>
                      <a:r>
                        <a:rPr sz="800" b="1">
                          <a:solidFill>
                            <a:srgbClr val="FFFFFF"/>
                          </a:solidFill>
                          <a:latin typeface="Calibri"/>
                        </a:rPr>
                        <a:t>Flexible Thermoplastics</a:t>
                      </a:r>
                    </a:p>
                  </a:txBody>
                  <a:tcPr marL="36576" marR="36576" marT="9144" marB="9144" anchor="ctr">
                    <a:solidFill>
                      <a:srgbClr val="0B2E4A"/>
                    </a:solidFill>
                  </a:tcPr>
                </a:tc>
                <a:tc>
                  <a:txBody>
                    <a:bodyPr wrap="square"/>
                    <a:lstStyle/>
                    <a:p>
                      <a:pPr algn="ctr"/>
                      <a:r>
                        <a:rPr sz="800" b="1">
                          <a:solidFill>
                            <a:srgbClr val="FFFFFF"/>
                          </a:solidFill>
                          <a:latin typeface="Calibri"/>
                        </a:rPr>
                        <a:t>High-performance Polymers</a:t>
                      </a:r>
                    </a:p>
                  </a:txBody>
                  <a:tcPr marL="36576" marR="36576" marT="9144" marB="9144" anchor="ctr">
                    <a:solidFill>
                      <a:srgbClr val="0B2E4A"/>
                    </a:solidFill>
                  </a:tcPr>
                </a:tc>
                <a:tc>
                  <a:txBody>
                    <a:bodyPr wrap="square"/>
                    <a:lstStyle/>
                    <a:p>
                      <a:pPr algn="ctr"/>
                      <a:r>
                        <a:rPr sz="800" b="1">
                          <a:solidFill>
                            <a:srgbClr val="FFFFFF"/>
                          </a:solidFill>
                          <a:latin typeface="Calibri"/>
                        </a:rPr>
                        <a:t>Row Avg.</a:t>
                      </a:r>
                    </a:p>
                  </a:txBody>
                  <a:tcPr marL="36576" marR="36576" marT="9144" marB="9144" anchor="ctr">
                    <a:solidFill>
                      <a:srgbClr val="0B2E4A"/>
                    </a:solidFill>
                  </a:tcPr>
                </a:tc>
              </a:tr>
              <a:tr h="472440">
                <a:tc>
                  <a:txBody>
                    <a:bodyPr wrap="square"/>
                    <a:lstStyle/>
                    <a:p>
                      <a:pPr algn="l"/>
                      <a:r>
                        <a:rPr sz="900" b="1">
                          <a:solidFill>
                            <a:srgbClr val="1F1F1F"/>
                          </a:solidFill>
                          <a:latin typeface="Calibri"/>
                        </a:rPr>
                        <a:t>Acrylic Partial Dentures</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D9E6F2"/>
                    </a:solidFill>
                  </a:tcPr>
                </a:tc>
                <a:tc>
                  <a:txBody>
                    <a:bodyPr wrap="square"/>
                    <a:lstStyle/>
                    <a:p>
                      <a:pPr algn="ctr"/>
                      <a:r>
                        <a:rPr sz="900"/>
                        <a:t> </a:t>
                      </a:r>
                    </a:p>
                  </a:txBody>
                  <a:tcPr marL="36576" marR="36576" marT="9144" marB="9144" anchor="ctr">
                    <a:solidFill>
                      <a:srgbClr val="9DC0E0"/>
                    </a:solidFill>
                  </a:tcPr>
                </a:tc>
                <a:tc>
                  <a:txBody>
                    <a:bodyPr wrap="square"/>
                    <a:lstStyle/>
                    <a:p>
                      <a:pPr algn="ctr"/>
                      <a:r>
                        <a:rPr sz="900"/>
                        <a:t> </a:t>
                      </a:r>
                    </a:p>
                  </a:txBody>
                  <a:tcPr marL="36576" marR="36576" marT="9144" marB="9144" anchor="ctr">
                    <a:solidFill>
                      <a:srgbClr val="F3F6F9"/>
                    </a:solidFill>
                  </a:tcPr>
                </a:tc>
              </a:tr>
              <a:tr h="472440">
                <a:tc>
                  <a:txBody>
                    <a:bodyPr wrap="square"/>
                    <a:lstStyle/>
                    <a:p>
                      <a:pPr algn="l"/>
                      <a:r>
                        <a:rPr sz="900" b="1">
                          <a:solidFill>
                            <a:srgbClr val="1F1F1F"/>
                          </a:solidFill>
                          <a:latin typeface="Calibri"/>
                        </a:rPr>
                        <a:t>Flexible Partial Dentures</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D9E6F2"/>
                    </a:solidFill>
                  </a:tcPr>
                </a:tc>
                <a:tc>
                  <a:txBody>
                    <a:bodyPr wrap="square"/>
                    <a:lstStyle/>
                    <a:p>
                      <a:pPr algn="ctr"/>
                      <a:r>
                        <a:rPr sz="900"/>
                        <a:t> </a:t>
                      </a:r>
                    </a:p>
                  </a:txBody>
                  <a:tcPr marL="36576" marR="36576" marT="9144" marB="9144" anchor="ctr">
                    <a:solidFill>
                      <a:srgbClr val="9DC0E0"/>
                    </a:solidFill>
                  </a:tcPr>
                </a:tc>
                <a:tc>
                  <a:txBody>
                    <a:bodyPr wrap="square"/>
                    <a:lstStyle/>
                    <a:p>
                      <a:pPr algn="ctr"/>
                      <a:r>
                        <a:rPr sz="900"/>
                        <a:t> </a:t>
                      </a:r>
                    </a:p>
                  </a:txBody>
                  <a:tcPr marL="36576" marR="36576" marT="9144" marB="9144" anchor="ctr">
                    <a:solidFill>
                      <a:srgbClr val="F3F6F9"/>
                    </a:solidFill>
                  </a:tcPr>
                </a:tc>
              </a:tr>
              <a:tr h="472440">
                <a:tc>
                  <a:txBody>
                    <a:bodyPr wrap="square"/>
                    <a:lstStyle/>
                    <a:p>
                      <a:pPr algn="l"/>
                      <a:r>
                        <a:rPr sz="900" b="1">
                          <a:solidFill>
                            <a:srgbClr val="1F1F1F"/>
                          </a:solidFill>
                          <a:latin typeface="Calibri"/>
                        </a:rPr>
                        <a:t>Combination Framework Partial Dentures</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D9E6F2"/>
                    </a:solidFill>
                  </a:tcPr>
                </a:tc>
                <a:tc>
                  <a:txBody>
                    <a:bodyPr wrap="square"/>
                    <a:lstStyle/>
                    <a:p>
                      <a:pPr algn="ctr"/>
                      <a:r>
                        <a:rPr sz="900"/>
                        <a:t> </a:t>
                      </a:r>
                    </a:p>
                  </a:txBody>
                  <a:tcPr marL="36576" marR="36576" marT="9144" marB="9144" anchor="ctr">
                    <a:solidFill>
                      <a:srgbClr val="9DC0E0"/>
                    </a:solidFill>
                  </a:tcPr>
                </a:tc>
                <a:tc>
                  <a:txBody>
                    <a:bodyPr wrap="square"/>
                    <a:lstStyle/>
                    <a:p>
                      <a:pPr algn="ctr"/>
                      <a:r>
                        <a:rPr sz="900"/>
                        <a:t> </a:t>
                      </a:r>
                    </a:p>
                  </a:txBody>
                  <a:tcPr marL="36576" marR="36576" marT="9144" marB="9144" anchor="ctr">
                    <a:solidFill>
                      <a:srgbClr val="F3F6F9"/>
                    </a:solidFill>
                  </a:tcPr>
                </a:tc>
              </a:tr>
              <a:tr h="472440">
                <a:tc>
                  <a:txBody>
                    <a:bodyPr wrap="square"/>
                    <a:lstStyle/>
                    <a:p>
                      <a:pPr algn="l"/>
                      <a:r>
                        <a:rPr sz="900" b="1">
                          <a:solidFill>
                            <a:srgbClr val="1F1F1F"/>
                          </a:solidFill>
                          <a:latin typeface="Calibri"/>
                        </a:rPr>
                        <a:t>Cast Metal Partial Dentures</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D9E6F2"/>
                    </a:solidFill>
                  </a:tcPr>
                </a:tc>
                <a:tc>
                  <a:txBody>
                    <a:bodyPr wrap="square"/>
                    <a:lstStyle/>
                    <a:p>
                      <a:pPr algn="ctr"/>
                      <a:r>
                        <a:rPr sz="900"/>
                        <a:t> </a:t>
                      </a:r>
                    </a:p>
                  </a:txBody>
                  <a:tcPr marL="36576" marR="36576" marT="9144" marB="9144" anchor="ctr">
                    <a:solidFill>
                      <a:srgbClr val="9DC0E0"/>
                    </a:solidFill>
                  </a:tcPr>
                </a:tc>
                <a:tc>
                  <a:txBody>
                    <a:bodyPr wrap="square"/>
                    <a:lstStyle/>
                    <a:p>
                      <a:pPr algn="ctr"/>
                      <a:r>
                        <a:rPr sz="900"/>
                        <a:t> </a:t>
                      </a:r>
                    </a:p>
                  </a:txBody>
                  <a:tcPr marL="36576" marR="36576" marT="9144" marB="9144" anchor="ctr">
                    <a:solidFill>
                      <a:srgbClr val="F3F6F9"/>
                    </a:solidFill>
                  </a:tcPr>
                </a:tc>
              </a:tr>
              <a:tr h="472440">
                <a:tc>
                  <a:txBody>
                    <a:bodyPr wrap="square"/>
                    <a:lstStyle/>
                    <a:p>
                      <a:pPr algn="l"/>
                      <a:r>
                        <a:rPr sz="900" b="1">
                          <a:solidFill>
                            <a:srgbClr val="1F1F1F"/>
                          </a:solidFill>
                          <a:latin typeface="Calibri"/>
                        </a:rPr>
                        <a:t>Column Avg.</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r>
            </a:tbl>
          </a:graphicData>
        </a:graphic>
      </p:graphicFrame>
      <p:sp>
        <p:nvSpPr>
          <p:cNvPr id="14" name="Rectangle 13"/>
          <p:cNvSpPr/>
          <p:nvPr/>
        </p:nvSpPr>
        <p:spPr>
          <a:xfrm>
            <a:off x="384048" y="4794123"/>
            <a:ext cx="180975" cy="142875"/>
          </a:xfrm>
          <a:prstGeom prst="rect">
            <a:avLst/>
          </a:prstGeom>
          <a:solidFill>
            <a:srgbClr val="9DC0E0"/>
          </a:solidFill>
          <a:ln w="9525">
            <a:solidFill>
              <a:srgbClr val="D9DEE4"/>
            </a:solidFill>
          </a:ln>
          <a:effectLst/>
        </p:spPr>
        <p:txBody>
          <a:bodyPr rtlCol="0" anchor="ctr"/>
          <a:lstStyle/>
          <a:p>
            <a:pPr algn="ctr"/>
          </a:p>
        </p:txBody>
      </p:sp>
      <p:sp>
        <p:nvSpPr>
          <p:cNvPr id="15" name="FMI Scale legend"/>
          <p:cNvSpPr txBox="1"/>
          <p:nvPr/>
        </p:nvSpPr>
        <p:spPr>
          <a:xfrm>
            <a:off x="593598" y="4739259"/>
            <a:ext cx="1276350" cy="238125"/>
          </a:xfrm>
          <a:prstGeom prst="rect">
            <a:avLst/>
          </a:prstGeom>
          <a:noFill/>
        </p:spPr>
        <p:txBody>
          <a:bodyPr wrap="square" anchor="t" lIns="27432" rIns="27432" tIns="27432" bIns="27432">
            <a:spAutoFit/>
          </a:bodyPr>
          <a:lstStyle/>
          <a:p>
            <a:pPr algn="l"/>
            <a:r>
              <a:rPr sz="850" b="0" i="0">
                <a:solidFill>
                  <a:srgbClr val="59636E"/>
                </a:solidFill>
                <a:latin typeface="Calibri"/>
              </a:rPr>
              <a:t>Index below 97.5</a:t>
            </a:r>
          </a:p>
        </p:txBody>
      </p:sp>
      <p:sp>
        <p:nvSpPr>
          <p:cNvPr id="16" name="Rectangle 15"/>
          <p:cNvSpPr/>
          <p:nvPr/>
        </p:nvSpPr>
        <p:spPr>
          <a:xfrm>
            <a:off x="1850898" y="4794123"/>
            <a:ext cx="180975" cy="142875"/>
          </a:xfrm>
          <a:prstGeom prst="rect">
            <a:avLst/>
          </a:prstGeom>
          <a:solidFill>
            <a:srgbClr val="D9E6F2"/>
          </a:solidFill>
          <a:ln w="9525">
            <a:solidFill>
              <a:srgbClr val="D9DEE4"/>
            </a:solidFill>
          </a:ln>
          <a:effectLst/>
        </p:spPr>
        <p:txBody>
          <a:bodyPr rtlCol="0" anchor="ctr"/>
          <a:lstStyle/>
          <a:p>
            <a:pPr algn="ctr"/>
          </a:p>
        </p:txBody>
      </p:sp>
      <p:sp>
        <p:nvSpPr>
          <p:cNvPr id="17" name="FMI Scale legend"/>
          <p:cNvSpPr txBox="1"/>
          <p:nvPr/>
        </p:nvSpPr>
        <p:spPr>
          <a:xfrm>
            <a:off x="2060448" y="4739259"/>
            <a:ext cx="1276350" cy="238125"/>
          </a:xfrm>
          <a:prstGeom prst="rect">
            <a:avLst/>
          </a:prstGeom>
          <a:noFill/>
        </p:spPr>
        <p:txBody>
          <a:bodyPr wrap="square" anchor="t" lIns="27432" rIns="27432" tIns="27432" bIns="27432">
            <a:spAutoFit/>
          </a:bodyPr>
          <a:lstStyle/>
          <a:p>
            <a:pPr algn="l"/>
            <a:r>
              <a:rPr sz="850" b="0" i="0">
                <a:solidFill>
                  <a:srgbClr val="59636E"/>
                </a:solidFill>
                <a:latin typeface="Calibri"/>
              </a:rPr>
              <a:t>97.5 to 99</a:t>
            </a:r>
          </a:p>
        </p:txBody>
      </p:sp>
      <p:sp>
        <p:nvSpPr>
          <p:cNvPr id="18" name="Rectangle 17"/>
          <p:cNvSpPr/>
          <p:nvPr/>
        </p:nvSpPr>
        <p:spPr>
          <a:xfrm>
            <a:off x="3317748" y="4794123"/>
            <a:ext cx="180975" cy="142875"/>
          </a:xfrm>
          <a:prstGeom prst="rect">
            <a:avLst/>
          </a:prstGeom>
          <a:solidFill>
            <a:srgbClr val="F7F7F7"/>
          </a:solidFill>
          <a:ln w="9525">
            <a:solidFill>
              <a:srgbClr val="D9DEE4"/>
            </a:solidFill>
          </a:ln>
          <a:effectLst/>
        </p:spPr>
        <p:txBody>
          <a:bodyPr rtlCol="0" anchor="ctr"/>
          <a:lstStyle/>
          <a:p>
            <a:pPr algn="ctr"/>
          </a:p>
        </p:txBody>
      </p:sp>
      <p:sp>
        <p:nvSpPr>
          <p:cNvPr id="19" name="FMI Scale legend"/>
          <p:cNvSpPr txBox="1"/>
          <p:nvPr/>
        </p:nvSpPr>
        <p:spPr>
          <a:xfrm>
            <a:off x="3527298" y="4739259"/>
            <a:ext cx="1276350" cy="238125"/>
          </a:xfrm>
          <a:prstGeom prst="rect">
            <a:avLst/>
          </a:prstGeom>
          <a:noFill/>
        </p:spPr>
        <p:txBody>
          <a:bodyPr wrap="square" anchor="t" lIns="27432" rIns="27432" tIns="27432" bIns="27432">
            <a:spAutoFit/>
          </a:bodyPr>
          <a:lstStyle/>
          <a:p>
            <a:pPr algn="l"/>
            <a:r>
              <a:rPr sz="850" b="0" i="0">
                <a:solidFill>
                  <a:srgbClr val="59636E"/>
                </a:solidFill>
                <a:latin typeface="Calibri"/>
              </a:rPr>
              <a:t>Parity: 99 to 101</a:t>
            </a:r>
          </a:p>
        </p:txBody>
      </p:sp>
      <p:sp>
        <p:nvSpPr>
          <p:cNvPr id="20" name="Rectangle 19"/>
          <p:cNvSpPr/>
          <p:nvPr/>
        </p:nvSpPr>
        <p:spPr>
          <a:xfrm>
            <a:off x="4784598" y="4794123"/>
            <a:ext cx="180975" cy="142875"/>
          </a:xfrm>
          <a:prstGeom prst="rect">
            <a:avLst/>
          </a:prstGeom>
          <a:solidFill>
            <a:srgbClr val="FBE3D3"/>
          </a:solidFill>
          <a:ln w="9525">
            <a:solidFill>
              <a:srgbClr val="D9DEE4"/>
            </a:solidFill>
          </a:ln>
          <a:effectLst/>
        </p:spPr>
        <p:txBody>
          <a:bodyPr rtlCol="0" anchor="ctr"/>
          <a:lstStyle/>
          <a:p>
            <a:pPr algn="ctr"/>
          </a:p>
        </p:txBody>
      </p:sp>
      <p:sp>
        <p:nvSpPr>
          <p:cNvPr id="21" name="FMI Scale legend"/>
          <p:cNvSpPr txBox="1"/>
          <p:nvPr/>
        </p:nvSpPr>
        <p:spPr>
          <a:xfrm>
            <a:off x="4994148" y="4739259"/>
            <a:ext cx="1276350" cy="238125"/>
          </a:xfrm>
          <a:prstGeom prst="rect">
            <a:avLst/>
          </a:prstGeom>
          <a:noFill/>
        </p:spPr>
        <p:txBody>
          <a:bodyPr wrap="square" anchor="t" lIns="27432" rIns="27432" tIns="27432" bIns="27432">
            <a:spAutoFit/>
          </a:bodyPr>
          <a:lstStyle/>
          <a:p>
            <a:pPr algn="l"/>
            <a:r>
              <a:rPr sz="850" b="0" i="0">
                <a:solidFill>
                  <a:srgbClr val="59636E"/>
                </a:solidFill>
                <a:latin typeface="Calibri"/>
              </a:rPr>
              <a:t>101 to 102.5</a:t>
            </a:r>
          </a:p>
        </p:txBody>
      </p:sp>
      <p:sp>
        <p:nvSpPr>
          <p:cNvPr id="22" name="Rectangle 21"/>
          <p:cNvSpPr/>
          <p:nvPr/>
        </p:nvSpPr>
        <p:spPr>
          <a:xfrm>
            <a:off x="6251448" y="4794123"/>
            <a:ext cx="180975" cy="142875"/>
          </a:xfrm>
          <a:prstGeom prst="rect">
            <a:avLst/>
          </a:prstGeom>
          <a:solidFill>
            <a:srgbClr val="F4B183"/>
          </a:solidFill>
          <a:ln w="9525">
            <a:solidFill>
              <a:srgbClr val="D9DEE4"/>
            </a:solidFill>
          </a:ln>
          <a:effectLst/>
        </p:spPr>
        <p:txBody>
          <a:bodyPr rtlCol="0" anchor="ctr"/>
          <a:lstStyle/>
          <a:p>
            <a:pPr algn="ctr"/>
          </a:p>
        </p:txBody>
      </p:sp>
      <p:sp>
        <p:nvSpPr>
          <p:cNvPr id="23" name="FMI Scale legend"/>
          <p:cNvSpPr txBox="1"/>
          <p:nvPr/>
        </p:nvSpPr>
        <p:spPr>
          <a:xfrm>
            <a:off x="6460998" y="4739259"/>
            <a:ext cx="1276350" cy="238125"/>
          </a:xfrm>
          <a:prstGeom prst="rect">
            <a:avLst/>
          </a:prstGeom>
          <a:noFill/>
        </p:spPr>
        <p:txBody>
          <a:bodyPr wrap="square" anchor="t" lIns="27432" rIns="27432" tIns="27432" bIns="27432">
            <a:spAutoFit/>
          </a:bodyPr>
          <a:lstStyle/>
          <a:p>
            <a:pPr algn="l"/>
            <a:r>
              <a:rPr sz="850" b="0" i="0">
                <a:solidFill>
                  <a:srgbClr val="59636E"/>
                </a:solidFill>
                <a:latin typeface="Calibri"/>
              </a:rPr>
              <a:t>Index above 102.5</a:t>
            </a:r>
          </a:p>
        </p:txBody>
      </p:sp>
      <p:sp>
        <p:nvSpPr>
          <p:cNvPr id="24" name="Rectangle 23"/>
          <p:cNvSpPr/>
          <p:nvPr/>
        </p:nvSpPr>
        <p:spPr>
          <a:xfrm>
            <a:off x="7955280" y="1529715"/>
            <a:ext cx="3959352" cy="3520440"/>
          </a:xfrm>
          <a:prstGeom prst="rect">
            <a:avLst/>
          </a:prstGeom>
          <a:solidFill>
            <a:srgbClr val="F3F6F9"/>
          </a:solidFill>
          <a:ln>
            <a:noFill/>
          </a:ln>
          <a:effectLst/>
        </p:spPr>
        <p:txBody>
          <a:bodyPr rtlCol="0" anchor="ctr"/>
          <a:lstStyle/>
          <a:p>
            <a:pPr algn="ctr"/>
          </a:p>
        </p:txBody>
      </p:sp>
      <p:sp>
        <p:nvSpPr>
          <p:cNvPr id="25" name="TextBox 24"/>
          <p:cNvSpPr txBox="1"/>
          <p:nvPr/>
        </p:nvSpPr>
        <p:spPr>
          <a:xfrm>
            <a:off x="8065008" y="1575435"/>
            <a:ext cx="3749040" cy="257175"/>
          </a:xfrm>
          <a:prstGeom prst="rect">
            <a:avLst/>
          </a:prstGeom>
          <a:noFill/>
        </p:spPr>
        <p:txBody>
          <a:bodyPr wrap="square" anchor="t" lIns="27432" rIns="27432" tIns="27432" bIns="27432">
            <a:spAutoFit/>
          </a:bodyPr>
          <a:lstStyle/>
          <a:p>
            <a:pPr algn="l"/>
            <a:r>
              <a:rPr sz="1150" b="1" i="0">
                <a:solidFill>
                  <a:srgbClr val="0B2E4A"/>
                </a:solidFill>
                <a:latin typeface="Calibri"/>
              </a:rPr>
              <a:t>Price Range Across All Material Type Sub-Types, 2026</a:t>
            </a:r>
          </a:p>
        </p:txBody>
      </p:sp>
      <p:sp>
        <p:nvSpPr>
          <p:cNvPr id="26" name="TextBox 25"/>
          <p:cNvSpPr txBox="1"/>
          <p:nvPr/>
        </p:nvSpPr>
        <p:spPr>
          <a:xfrm>
            <a:off x="8065008" y="1965579"/>
            <a:ext cx="3749040" cy="219075"/>
          </a:xfrm>
          <a:prstGeom prst="rect">
            <a:avLst/>
          </a:prstGeom>
          <a:noFill/>
        </p:spPr>
        <p:txBody>
          <a:bodyPr wrap="square" anchor="t" lIns="27432" rIns="27432" tIns="27432" bIns="27432">
            <a:spAutoFit/>
          </a:bodyPr>
          <a:lstStyle/>
          <a:p>
            <a:pPr algn="l"/>
            <a:r>
              <a:rPr sz="850" b="0" i="1">
                <a:solidFill>
                  <a:srgbClr val="59636E"/>
                </a:solidFill>
                <a:latin typeface="Calibri"/>
              </a:rPr>
              <a:t>Bar spans lowest to highest price (US$/Units) at the finest data level.</a:t>
            </a:r>
          </a:p>
        </p:txBody>
      </p:sp>
      <p:graphicFrame>
        <p:nvGraphicFramePr>
          <p:cNvPr id="27" name="FMI Price Chart"/>
          <p:cNvGraphicFramePr>
            <a:graphicFrameLocks noGrp="1"/>
          </p:cNvGraphicFramePr>
          <p:nvPr/>
        </p:nvGraphicFramePr>
        <p:xfrm>
          <a:off x="8001000" y="2032635"/>
          <a:ext cx="3867912" cy="2971800"/>
        </p:xfrm>
        <a:graphic>
          <a:graphicData uri="http://schemas.openxmlformats.org/drawingml/2006/chart">
            <c:chart xmlns:c="http://schemas.openxmlformats.org/drawingml/2006/chart" r:id="rId3"/>
          </a:graphicData>
        </a:graphic>
      </p:graphicFrame>
      <p:sp>
        <p:nvSpPr>
          <p:cNvPr id="28" name="Rectangle 27"/>
          <p:cNvSpPr/>
          <p:nvPr/>
        </p:nvSpPr>
        <p:spPr>
          <a:xfrm>
            <a:off x="274320" y="5141595"/>
            <a:ext cx="3788664" cy="1234440"/>
          </a:xfrm>
          <a:prstGeom prst="rect">
            <a:avLst/>
          </a:prstGeom>
          <a:solidFill>
            <a:srgbClr val="F3F6F9"/>
          </a:solidFill>
          <a:ln>
            <a:noFill/>
          </a:ln>
          <a:effectLst/>
        </p:spPr>
        <p:txBody>
          <a:bodyPr rtlCol="0" anchor="ctr"/>
          <a:lstStyle/>
          <a:p>
            <a:pPr algn="ctr"/>
          </a:p>
        </p:txBody>
      </p:sp>
      <p:sp>
        <p:nvSpPr>
          <p:cNvPr id="29" name="Oval 28"/>
          <p:cNvSpPr/>
          <p:nvPr/>
        </p:nvSpPr>
        <p:spPr>
          <a:xfrm>
            <a:off x="388620"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1</a:t>
            </a:r>
          </a:p>
        </p:txBody>
      </p:sp>
      <p:sp>
        <p:nvSpPr>
          <p:cNvPr id="30" name="TextBox 29"/>
          <p:cNvSpPr txBox="1"/>
          <p:nvPr/>
        </p:nvSpPr>
        <p:spPr>
          <a:xfrm>
            <a:off x="779145"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Premium Pockets</a:t>
            </a:r>
          </a:p>
        </p:txBody>
      </p:sp>
      <p:sp>
        <p:nvSpPr>
          <p:cNvPr id="31" name="TextBox 30"/>
          <p:cNvSpPr txBox="1"/>
          <p:nvPr/>
        </p:nvSpPr>
        <p:spPr>
          <a:xfrm>
            <a:off x="779145"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32" name="Rectangle 31"/>
          <p:cNvSpPr/>
          <p:nvPr/>
        </p:nvSpPr>
        <p:spPr>
          <a:xfrm>
            <a:off x="4200144" y="5141595"/>
            <a:ext cx="3788664" cy="1234440"/>
          </a:xfrm>
          <a:prstGeom prst="rect">
            <a:avLst/>
          </a:prstGeom>
          <a:solidFill>
            <a:srgbClr val="F3F6F9"/>
          </a:solidFill>
          <a:ln>
            <a:noFill/>
          </a:ln>
          <a:effectLst/>
        </p:spPr>
        <p:txBody>
          <a:bodyPr rtlCol="0" anchor="ctr"/>
          <a:lstStyle/>
          <a:p>
            <a:pPr algn="ctr"/>
          </a:p>
        </p:txBody>
      </p:sp>
      <p:sp>
        <p:nvSpPr>
          <p:cNvPr id="33" name="Oval 32"/>
          <p:cNvSpPr/>
          <p:nvPr/>
        </p:nvSpPr>
        <p:spPr>
          <a:xfrm>
            <a:off x="4314444"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2</a:t>
            </a:r>
          </a:p>
        </p:txBody>
      </p:sp>
      <p:sp>
        <p:nvSpPr>
          <p:cNvPr id="34" name="TextBox 33"/>
          <p:cNvSpPr txBox="1"/>
          <p:nvPr/>
        </p:nvSpPr>
        <p:spPr>
          <a:xfrm>
            <a:off x="4704969"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Value Pockets</a:t>
            </a:r>
          </a:p>
        </p:txBody>
      </p:sp>
      <p:sp>
        <p:nvSpPr>
          <p:cNvPr id="35" name="TextBox 34"/>
          <p:cNvSpPr txBox="1"/>
          <p:nvPr/>
        </p:nvSpPr>
        <p:spPr>
          <a:xfrm>
            <a:off x="4704969"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36" name="Rectangle 35"/>
          <p:cNvSpPr/>
          <p:nvPr/>
        </p:nvSpPr>
        <p:spPr>
          <a:xfrm>
            <a:off x="8125968" y="5141595"/>
            <a:ext cx="3788664" cy="1234440"/>
          </a:xfrm>
          <a:prstGeom prst="rect">
            <a:avLst/>
          </a:prstGeom>
          <a:solidFill>
            <a:srgbClr val="F3F6F9"/>
          </a:solidFill>
          <a:ln>
            <a:noFill/>
          </a:ln>
          <a:effectLst/>
        </p:spPr>
        <p:txBody>
          <a:bodyPr rtlCol="0" anchor="ctr"/>
          <a:lstStyle/>
          <a:p>
            <a:pPr algn="ctr"/>
          </a:p>
        </p:txBody>
      </p:sp>
      <p:sp>
        <p:nvSpPr>
          <p:cNvPr id="37" name="Oval 36"/>
          <p:cNvSpPr/>
          <p:nvPr/>
        </p:nvSpPr>
        <p:spPr>
          <a:xfrm>
            <a:off x="8240268"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3</a:t>
            </a:r>
          </a:p>
        </p:txBody>
      </p:sp>
      <p:sp>
        <p:nvSpPr>
          <p:cNvPr id="38" name="TextBox 37"/>
          <p:cNvSpPr txBox="1"/>
          <p:nvPr/>
        </p:nvSpPr>
        <p:spPr>
          <a:xfrm>
            <a:off x="8630793"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Within-Type Spread</a:t>
            </a:r>
          </a:p>
        </p:txBody>
      </p:sp>
      <p:sp>
        <p:nvSpPr>
          <p:cNvPr id="39" name="TextBox 38"/>
          <p:cNvSpPr txBox="1"/>
          <p:nvPr/>
        </p:nvSpPr>
        <p:spPr>
          <a:xfrm>
            <a:off x="8630793"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40" name="TextBox 39"/>
          <p:cNvSpPr txBox="1"/>
          <p:nvPr/>
        </p:nvSpPr>
        <p:spPr>
          <a:xfrm>
            <a:off x="274320" y="6363843"/>
            <a:ext cx="11612880" cy="209550"/>
          </a:xfrm>
          <a:prstGeom prst="rect">
            <a:avLst/>
          </a:prstGeom>
          <a:noFill/>
        </p:spPr>
        <p:txBody>
          <a:bodyPr wrap="square" anchor="t" lIns="27432" rIns="27432" tIns="27432" bIns="27432">
            <a:spAutoFit/>
          </a:bodyPr>
          <a:lstStyle/>
          <a:p>
            <a:pPr algn="l"/>
            <a:r>
              <a:rPr sz="850" b="0" i="0">
                <a:solidFill>
                  <a:srgbClr val="59636E"/>
                </a:solidFill>
                <a:latin typeface="Calibri"/>
              </a:rPr>
              <a:t/>
            </a:r>
          </a:p>
        </p:txBody>
      </p:sp>
      <p:sp>
        <p:nvSpPr>
          <p:cNvPr id="41" name="TextBox 4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2" name="Picture 41" descr="lock.png"/>
          <p:cNvPicPr>
            <a:picLocks noChangeAspect="1"/>
          </p:cNvPicPr>
          <p:nvPr/>
        </p:nvPicPr>
        <p:blipFill>
          <a:blip r:embed="rId5"/>
          <a:stretch>
            <a:fillRect/>
          </a:stretch>
        </p:blipFill>
        <p:spPr>
          <a:xfrm>
            <a:off x="4636770" y="3254883"/>
            <a:ext cx="366712" cy="533400"/>
          </a:xfrm>
          <a:prstGeom prst="rect">
            <a:avLst/>
          </a:prstGeom>
        </p:spPr>
      </p:pic>
      <p:sp>
        <p:nvSpPr>
          <p:cNvPr id="43" name="TextBox 42"/>
          <p:cNvSpPr txBox="1"/>
          <p:nvPr/>
        </p:nvSpPr>
        <p:spPr>
          <a:xfrm>
            <a:off x="411480" y="1110615"/>
            <a:ext cx="6162972" cy="217169"/>
          </a:xfrm>
          <a:prstGeom prst="rect">
            <a:avLst/>
          </a:prstGeom>
          <a:noFill/>
        </p:spPr>
        <p:txBody>
          <a:bodyPr wrap="none" lIns="0" rIns="0" tIns="0" bIns="0">
            <a:spAutoFit/>
          </a:bodyPr>
          <a:lstStyle/>
          <a:p>
            <a:r>
              <a:rPr sz="1300" b="1">
                <a:solidFill>
                  <a:srgbClr val="FFFFFF"/>
                </a:solidFill>
                <a:latin typeface="Calibri"/>
              </a:rPr>
              <a:t>Acrylic Partial Dentures for Metal Alloys is the highest priced combination in 2026 at US$</a:t>
            </a:r>
          </a:p>
        </p:txBody>
      </p:sp>
      <p:pic>
        <p:nvPicPr>
          <p:cNvPr id="44" name="Picture 43" descr="lock.png"/>
          <p:cNvPicPr>
            <a:picLocks noChangeAspect="1"/>
          </p:cNvPicPr>
          <p:nvPr/>
        </p:nvPicPr>
        <p:blipFill>
          <a:blip r:embed="rId5"/>
          <a:stretch>
            <a:fillRect/>
          </a:stretch>
        </p:blipFill>
        <p:spPr>
          <a:xfrm>
            <a:off x="6526913" y="1099058"/>
            <a:ext cx="152098" cy="221234"/>
          </a:xfrm>
          <a:prstGeom prst="rect">
            <a:avLst/>
          </a:prstGeom>
        </p:spPr>
      </p:pic>
      <p:sp>
        <p:nvSpPr>
          <p:cNvPr id="45" name="TextBox 44"/>
          <p:cNvSpPr txBox="1"/>
          <p:nvPr/>
        </p:nvSpPr>
        <p:spPr>
          <a:xfrm>
            <a:off x="6724863" y="1110615"/>
            <a:ext cx="669528" cy="217169"/>
          </a:xfrm>
          <a:prstGeom prst="rect">
            <a:avLst/>
          </a:prstGeom>
          <a:noFill/>
        </p:spPr>
        <p:txBody>
          <a:bodyPr wrap="none" lIns="0" rIns="0" tIns="0" bIns="0">
            <a:spAutoFit/>
          </a:bodyPr>
          <a:lstStyle/>
          <a:p>
            <a:r>
              <a:rPr sz="1300" b="1">
                <a:solidFill>
                  <a:srgbClr val="FFFFFF"/>
                </a:solidFill>
                <a:latin typeface="Calibri"/>
              </a:rPr>
              <a:t>/Units, +</a:t>
            </a:r>
          </a:p>
        </p:txBody>
      </p:sp>
      <p:pic>
        <p:nvPicPr>
          <p:cNvPr id="46" name="Picture 45" descr="lock.png"/>
          <p:cNvPicPr>
            <a:picLocks noChangeAspect="1"/>
          </p:cNvPicPr>
          <p:nvPr/>
        </p:nvPicPr>
        <p:blipFill>
          <a:blip r:embed="rId5"/>
          <a:stretch>
            <a:fillRect/>
          </a:stretch>
        </p:blipFill>
        <p:spPr>
          <a:xfrm>
            <a:off x="7346852" y="1099058"/>
            <a:ext cx="152098" cy="221234"/>
          </a:xfrm>
          <a:prstGeom prst="rect">
            <a:avLst/>
          </a:prstGeom>
        </p:spPr>
      </p:pic>
      <p:sp>
        <p:nvSpPr>
          <p:cNvPr id="47" name="TextBox 46"/>
          <p:cNvSpPr txBox="1"/>
          <p:nvPr/>
        </p:nvSpPr>
        <p:spPr>
          <a:xfrm>
            <a:off x="7544801" y="1110615"/>
            <a:ext cx="1871984" cy="217169"/>
          </a:xfrm>
          <a:prstGeom prst="rect">
            <a:avLst/>
          </a:prstGeom>
          <a:noFill/>
        </p:spPr>
        <p:txBody>
          <a:bodyPr wrap="none" lIns="0" rIns="0" tIns="0" bIns="0">
            <a:spAutoFit/>
          </a:bodyPr>
          <a:lstStyle/>
          <a:p>
            <a:r>
              <a:rPr sz="1300" b="1">
                <a:solidFill>
                  <a:srgbClr val="FFFFFF"/>
                </a:solidFill>
                <a:latin typeface="Calibri"/>
              </a:rPr>
              <a:t>above the Global average.</a:t>
            </a:r>
          </a:p>
        </p:txBody>
      </p:sp>
      <p:sp>
        <p:nvSpPr>
          <p:cNvPr id="48" name="TextBox 47"/>
          <p:cNvSpPr txBox="1"/>
          <p:nvPr/>
        </p:nvSpPr>
        <p:spPr>
          <a:xfrm>
            <a:off x="806576" y="5530976"/>
            <a:ext cx="3125539" cy="179069"/>
          </a:xfrm>
          <a:prstGeom prst="rect">
            <a:avLst/>
          </a:prstGeom>
          <a:noFill/>
        </p:spPr>
        <p:txBody>
          <a:bodyPr wrap="none" lIns="0" rIns="0" tIns="0" bIns="0">
            <a:spAutoFit/>
          </a:bodyPr>
          <a:lstStyle/>
          <a:p>
            <a:r>
              <a:rPr sz="1050" b="0">
                <a:solidFill>
                  <a:srgbClr val="1F1F1F"/>
                </a:solidFill>
                <a:latin typeface="Calibri"/>
              </a:rPr>
              <a:t>Acrylic Partial Dentures positioned on Metal Alloys carry</a:t>
            </a:r>
          </a:p>
        </p:txBody>
      </p:sp>
      <p:sp>
        <p:nvSpPr>
          <p:cNvPr id="49" name="TextBox 48"/>
          <p:cNvSpPr txBox="1"/>
          <p:nvPr/>
        </p:nvSpPr>
        <p:spPr>
          <a:xfrm>
            <a:off x="806576" y="5690996"/>
            <a:ext cx="2094160" cy="179069"/>
          </a:xfrm>
          <a:prstGeom prst="rect">
            <a:avLst/>
          </a:prstGeom>
          <a:noFill/>
        </p:spPr>
        <p:txBody>
          <a:bodyPr wrap="none" lIns="0" rIns="0" tIns="0" bIns="0">
            <a:spAutoFit/>
          </a:bodyPr>
          <a:lstStyle/>
          <a:p>
            <a:r>
              <a:rPr sz="1050" b="0">
                <a:solidFill>
                  <a:srgbClr val="1F1F1F"/>
                </a:solidFill>
                <a:latin typeface="Calibri"/>
              </a:rPr>
              <a:t>the strongest premium at an index of</a:t>
            </a:r>
          </a:p>
        </p:txBody>
      </p:sp>
      <p:pic>
        <p:nvPicPr>
          <p:cNvPr id="50" name="Picture 49" descr="lock.png"/>
          <p:cNvPicPr>
            <a:picLocks noChangeAspect="1"/>
          </p:cNvPicPr>
          <p:nvPr/>
        </p:nvPicPr>
        <p:blipFill>
          <a:blip r:embed="rId5"/>
          <a:stretch>
            <a:fillRect/>
          </a:stretch>
        </p:blipFill>
        <p:spPr>
          <a:xfrm>
            <a:off x="2847686" y="5681662"/>
            <a:ext cx="122849" cy="178689"/>
          </a:xfrm>
          <a:prstGeom prst="rect">
            <a:avLst/>
          </a:prstGeom>
        </p:spPr>
      </p:pic>
      <p:sp>
        <p:nvSpPr>
          <p:cNvPr id="51" name="TextBox 50"/>
          <p:cNvSpPr txBox="1"/>
          <p:nvPr/>
        </p:nvSpPr>
        <p:spPr>
          <a:xfrm>
            <a:off x="3007569" y="5690996"/>
            <a:ext cx="854943" cy="179069"/>
          </a:xfrm>
          <a:prstGeom prst="rect">
            <a:avLst/>
          </a:prstGeom>
          <a:noFill/>
        </p:spPr>
        <p:txBody>
          <a:bodyPr wrap="none" lIns="0" rIns="0" tIns="0" bIns="0">
            <a:spAutoFit/>
          </a:bodyPr>
          <a:lstStyle/>
          <a:p>
            <a:r>
              <a:rPr sz="1050" b="0">
                <a:solidFill>
                  <a:srgbClr val="1F1F1F"/>
                </a:solidFill>
                <a:latin typeface="Calibri"/>
              </a:rPr>
              <a:t>, which signals</a:t>
            </a:r>
          </a:p>
        </p:txBody>
      </p:sp>
      <p:sp>
        <p:nvSpPr>
          <p:cNvPr id="52" name="TextBox 51"/>
          <p:cNvSpPr txBox="1"/>
          <p:nvPr/>
        </p:nvSpPr>
        <p:spPr>
          <a:xfrm>
            <a:off x="806576" y="5851016"/>
            <a:ext cx="2737730" cy="179069"/>
          </a:xfrm>
          <a:prstGeom prst="rect">
            <a:avLst/>
          </a:prstGeom>
          <a:noFill/>
        </p:spPr>
        <p:txBody>
          <a:bodyPr wrap="none" lIns="0" rIns="0" tIns="0" bIns="0">
            <a:spAutoFit/>
          </a:bodyPr>
          <a:lstStyle/>
          <a:p>
            <a:r>
              <a:rPr sz="1050" b="0">
                <a:solidFill>
                  <a:srgbClr val="1F1F1F"/>
                </a:solidFill>
                <a:latin typeface="Calibri"/>
              </a:rPr>
              <a:t>room for value-added claims in this combination.</a:t>
            </a:r>
          </a:p>
        </p:txBody>
      </p:sp>
      <p:sp>
        <p:nvSpPr>
          <p:cNvPr id="53" name="TextBox 52"/>
          <p:cNvSpPr txBox="1"/>
          <p:nvPr/>
        </p:nvSpPr>
        <p:spPr>
          <a:xfrm>
            <a:off x="4732401" y="5530976"/>
            <a:ext cx="2776016" cy="179069"/>
          </a:xfrm>
          <a:prstGeom prst="rect">
            <a:avLst/>
          </a:prstGeom>
          <a:noFill/>
        </p:spPr>
        <p:txBody>
          <a:bodyPr wrap="none" lIns="0" rIns="0" tIns="0" bIns="0">
            <a:spAutoFit/>
          </a:bodyPr>
          <a:lstStyle/>
          <a:p>
            <a:r>
              <a:rPr sz="1050" b="0">
                <a:solidFill>
                  <a:srgbClr val="1F1F1F"/>
                </a:solidFill>
                <a:latin typeface="Calibri"/>
              </a:rPr>
              <a:t>Cast Metal Partial Dentures for High-performance</a:t>
            </a:r>
          </a:p>
        </p:txBody>
      </p:sp>
      <p:sp>
        <p:nvSpPr>
          <p:cNvPr id="54" name="TextBox 53"/>
          <p:cNvSpPr txBox="1"/>
          <p:nvPr/>
        </p:nvSpPr>
        <p:spPr>
          <a:xfrm>
            <a:off x="4732401" y="5690996"/>
            <a:ext cx="3143249" cy="179069"/>
          </a:xfrm>
          <a:prstGeom prst="rect">
            <a:avLst/>
          </a:prstGeom>
          <a:noFill/>
        </p:spPr>
        <p:txBody>
          <a:bodyPr wrap="none" lIns="0" rIns="0" tIns="0" bIns="0">
            <a:spAutoFit/>
          </a:bodyPr>
          <a:lstStyle/>
          <a:p>
            <a:r>
              <a:rPr sz="1050" b="0">
                <a:solidFill>
                  <a:srgbClr val="1F1F1F"/>
                </a:solidFill>
                <a:latin typeface="Calibri"/>
              </a:rPr>
              <a:t>Polymers is the lowest priced combination at an index of</a:t>
            </a:r>
          </a:p>
        </p:txBody>
      </p:sp>
      <p:pic>
        <p:nvPicPr>
          <p:cNvPr id="55" name="Picture 54" descr="lock.png"/>
          <p:cNvPicPr>
            <a:picLocks noChangeAspect="1"/>
          </p:cNvPicPr>
          <p:nvPr/>
        </p:nvPicPr>
        <p:blipFill>
          <a:blip r:embed="rId5"/>
          <a:stretch>
            <a:fillRect/>
          </a:stretch>
        </p:blipFill>
        <p:spPr>
          <a:xfrm>
            <a:off x="4719545" y="5841682"/>
            <a:ext cx="122849" cy="178689"/>
          </a:xfrm>
          <a:prstGeom prst="rect">
            <a:avLst/>
          </a:prstGeom>
        </p:spPr>
      </p:pic>
      <p:sp>
        <p:nvSpPr>
          <p:cNvPr id="56" name="TextBox 55"/>
          <p:cNvSpPr txBox="1"/>
          <p:nvPr/>
        </p:nvSpPr>
        <p:spPr>
          <a:xfrm>
            <a:off x="4879428" y="5851016"/>
            <a:ext cx="475729" cy="179069"/>
          </a:xfrm>
          <a:prstGeom prst="rect">
            <a:avLst/>
          </a:prstGeom>
          <a:noFill/>
        </p:spPr>
        <p:txBody>
          <a:bodyPr wrap="none" lIns="0" rIns="0" tIns="0" bIns="0">
            <a:spAutoFit/>
          </a:bodyPr>
          <a:lstStyle/>
          <a:p>
            <a:r>
              <a:rPr sz="1050" b="0">
                <a:solidFill>
                  <a:srgbClr val="1F1F1F"/>
                </a:solidFill>
                <a:latin typeface="Calibri"/>
              </a:rPr>
              <a:t>, sitting</a:t>
            </a:r>
          </a:p>
        </p:txBody>
      </p:sp>
      <p:pic>
        <p:nvPicPr>
          <p:cNvPr id="57" name="Picture 56" descr="lock.png"/>
          <p:cNvPicPr>
            <a:picLocks noChangeAspect="1"/>
          </p:cNvPicPr>
          <p:nvPr/>
        </p:nvPicPr>
        <p:blipFill>
          <a:blip r:embed="rId5"/>
          <a:stretch>
            <a:fillRect/>
          </a:stretch>
        </p:blipFill>
        <p:spPr>
          <a:xfrm>
            <a:off x="5302106" y="5841682"/>
            <a:ext cx="122849" cy="178689"/>
          </a:xfrm>
          <a:prstGeom prst="rect">
            <a:avLst/>
          </a:prstGeom>
        </p:spPr>
      </p:pic>
      <p:sp>
        <p:nvSpPr>
          <p:cNvPr id="58" name="TextBox 57"/>
          <p:cNvSpPr txBox="1"/>
          <p:nvPr/>
        </p:nvSpPr>
        <p:spPr>
          <a:xfrm>
            <a:off x="5461988" y="5851016"/>
            <a:ext cx="1846733" cy="179069"/>
          </a:xfrm>
          <a:prstGeom prst="rect">
            <a:avLst/>
          </a:prstGeom>
          <a:noFill/>
        </p:spPr>
        <p:txBody>
          <a:bodyPr wrap="none" lIns="0" rIns="0" tIns="0" bIns="0">
            <a:spAutoFit/>
          </a:bodyPr>
          <a:lstStyle/>
          <a:p>
            <a:r>
              <a:rPr sz="1050" b="0">
                <a:solidFill>
                  <a:srgbClr val="1F1F1F"/>
                </a:solidFill>
                <a:latin typeface="Calibri"/>
              </a:rPr>
              <a:t>below the Global average of US$</a:t>
            </a:r>
          </a:p>
        </p:txBody>
      </p:sp>
      <p:pic>
        <p:nvPicPr>
          <p:cNvPr id="59" name="Picture 58" descr="lock.png"/>
          <p:cNvPicPr>
            <a:picLocks noChangeAspect="1"/>
          </p:cNvPicPr>
          <p:nvPr/>
        </p:nvPicPr>
        <p:blipFill>
          <a:blip r:embed="rId5"/>
          <a:stretch>
            <a:fillRect/>
          </a:stretch>
        </p:blipFill>
        <p:spPr>
          <a:xfrm>
            <a:off x="4719545" y="6001702"/>
            <a:ext cx="122849" cy="178689"/>
          </a:xfrm>
          <a:prstGeom prst="rect">
            <a:avLst/>
          </a:prstGeom>
        </p:spPr>
      </p:pic>
      <p:sp>
        <p:nvSpPr>
          <p:cNvPr id="60" name="TextBox 59"/>
          <p:cNvSpPr txBox="1"/>
          <p:nvPr/>
        </p:nvSpPr>
        <p:spPr>
          <a:xfrm>
            <a:off x="4879428" y="6011036"/>
            <a:ext cx="444735" cy="179069"/>
          </a:xfrm>
          <a:prstGeom prst="rect">
            <a:avLst/>
          </a:prstGeom>
          <a:noFill/>
        </p:spPr>
        <p:txBody>
          <a:bodyPr wrap="none" lIns="0" rIns="0" tIns="0" bIns="0">
            <a:spAutoFit/>
          </a:bodyPr>
          <a:lstStyle/>
          <a:p>
            <a:r>
              <a:rPr sz="1050" b="0">
                <a:solidFill>
                  <a:srgbClr val="1F1F1F"/>
                </a:solidFill>
                <a:latin typeface="Calibri"/>
              </a:rPr>
              <a:t>/Units.</a:t>
            </a:r>
          </a:p>
        </p:txBody>
      </p:sp>
      <p:sp>
        <p:nvSpPr>
          <p:cNvPr id="61" name="TextBox 60"/>
          <p:cNvSpPr txBox="1"/>
          <p:nvPr/>
        </p:nvSpPr>
        <p:spPr>
          <a:xfrm>
            <a:off x="8658225" y="5530976"/>
            <a:ext cx="2939057" cy="179069"/>
          </a:xfrm>
          <a:prstGeom prst="rect">
            <a:avLst/>
          </a:prstGeom>
          <a:noFill/>
        </p:spPr>
        <p:txBody>
          <a:bodyPr wrap="none" lIns="0" rIns="0" tIns="0" bIns="0">
            <a:spAutoFit/>
          </a:bodyPr>
          <a:lstStyle/>
          <a:p>
            <a:r>
              <a:rPr sz="1050" b="0">
                <a:solidFill>
                  <a:srgbClr val="1F1F1F"/>
                </a:solidFill>
                <a:latin typeface="Calibri"/>
              </a:rPr>
              <a:t>Cast Metal Partial Dentures show the widest internal</a:t>
            </a:r>
          </a:p>
        </p:txBody>
      </p:sp>
      <p:sp>
        <p:nvSpPr>
          <p:cNvPr id="62" name="TextBox 61"/>
          <p:cNvSpPr txBox="1"/>
          <p:nvPr/>
        </p:nvSpPr>
        <p:spPr>
          <a:xfrm>
            <a:off x="8658225" y="5690996"/>
            <a:ext cx="884634" cy="179069"/>
          </a:xfrm>
          <a:prstGeom prst="rect">
            <a:avLst/>
          </a:prstGeom>
          <a:noFill/>
        </p:spPr>
        <p:txBody>
          <a:bodyPr wrap="none" lIns="0" rIns="0" tIns="0" bIns="0">
            <a:spAutoFit/>
          </a:bodyPr>
          <a:lstStyle/>
          <a:p>
            <a:r>
              <a:rPr sz="1050" b="0">
                <a:solidFill>
                  <a:srgbClr val="1F1F1F"/>
                </a:solidFill>
                <a:latin typeface="Calibri"/>
              </a:rPr>
              <a:t>price spread at</a:t>
            </a:r>
          </a:p>
        </p:txBody>
      </p:sp>
      <p:pic>
        <p:nvPicPr>
          <p:cNvPr id="63" name="Picture 62" descr="lock.png"/>
          <p:cNvPicPr>
            <a:picLocks noChangeAspect="1"/>
          </p:cNvPicPr>
          <p:nvPr/>
        </p:nvPicPr>
        <p:blipFill>
          <a:blip r:embed="rId5"/>
          <a:stretch>
            <a:fillRect/>
          </a:stretch>
        </p:blipFill>
        <p:spPr>
          <a:xfrm>
            <a:off x="9489808" y="5681662"/>
            <a:ext cx="122849" cy="178689"/>
          </a:xfrm>
          <a:prstGeom prst="rect">
            <a:avLst/>
          </a:prstGeom>
        </p:spPr>
      </p:pic>
      <p:sp>
        <p:nvSpPr>
          <p:cNvPr id="64" name="TextBox 63"/>
          <p:cNvSpPr txBox="1"/>
          <p:nvPr/>
        </p:nvSpPr>
        <p:spPr>
          <a:xfrm>
            <a:off x="9649690" y="5690996"/>
            <a:ext cx="1085701" cy="179069"/>
          </a:xfrm>
          <a:prstGeom prst="rect">
            <a:avLst/>
          </a:prstGeom>
          <a:noFill/>
        </p:spPr>
        <p:txBody>
          <a:bodyPr wrap="none" lIns="0" rIns="0" tIns="0" bIns="0">
            <a:spAutoFit/>
          </a:bodyPr>
          <a:lstStyle/>
          <a:p>
            <a:r>
              <a:rPr sz="1050" b="0">
                <a:solidFill>
                  <a:srgbClr val="1F1F1F"/>
                </a:solidFill>
                <a:latin typeface="Calibri"/>
              </a:rPr>
              <a:t>, ranging from US$</a:t>
            </a:r>
          </a:p>
        </p:txBody>
      </p:sp>
      <p:pic>
        <p:nvPicPr>
          <p:cNvPr id="65" name="Picture 64" descr="lock.png"/>
          <p:cNvPicPr>
            <a:picLocks noChangeAspect="1"/>
          </p:cNvPicPr>
          <p:nvPr/>
        </p:nvPicPr>
        <p:blipFill>
          <a:blip r:embed="rId5"/>
          <a:stretch>
            <a:fillRect/>
          </a:stretch>
        </p:blipFill>
        <p:spPr>
          <a:xfrm>
            <a:off x="10682341" y="5681662"/>
            <a:ext cx="122849" cy="178689"/>
          </a:xfrm>
          <a:prstGeom prst="rect">
            <a:avLst/>
          </a:prstGeom>
        </p:spPr>
      </p:pic>
      <p:sp>
        <p:nvSpPr>
          <p:cNvPr id="66" name="TextBox 65"/>
          <p:cNvSpPr txBox="1"/>
          <p:nvPr/>
        </p:nvSpPr>
        <p:spPr>
          <a:xfrm>
            <a:off x="10842223" y="5690996"/>
            <a:ext cx="801290" cy="179069"/>
          </a:xfrm>
          <a:prstGeom prst="rect">
            <a:avLst/>
          </a:prstGeom>
          <a:noFill/>
        </p:spPr>
        <p:txBody>
          <a:bodyPr wrap="none" lIns="0" rIns="0" tIns="0" bIns="0">
            <a:spAutoFit/>
          </a:bodyPr>
          <a:lstStyle/>
          <a:p>
            <a:r>
              <a:rPr sz="1050" b="0">
                <a:solidFill>
                  <a:srgbClr val="1F1F1F"/>
                </a:solidFill>
                <a:latin typeface="Calibri"/>
              </a:rPr>
              <a:t>/Units to US$</a:t>
            </a:r>
          </a:p>
        </p:txBody>
      </p:sp>
      <p:pic>
        <p:nvPicPr>
          <p:cNvPr id="67" name="Picture 66" descr="lock.png"/>
          <p:cNvPicPr>
            <a:picLocks noChangeAspect="1"/>
          </p:cNvPicPr>
          <p:nvPr/>
        </p:nvPicPr>
        <p:blipFill>
          <a:blip r:embed="rId5"/>
          <a:stretch>
            <a:fillRect/>
          </a:stretch>
        </p:blipFill>
        <p:spPr>
          <a:xfrm>
            <a:off x="8645369" y="5841682"/>
            <a:ext cx="122849" cy="178689"/>
          </a:xfrm>
          <a:prstGeom prst="rect">
            <a:avLst/>
          </a:prstGeom>
        </p:spPr>
      </p:pic>
      <p:sp>
        <p:nvSpPr>
          <p:cNvPr id="68" name="TextBox 67"/>
          <p:cNvSpPr txBox="1"/>
          <p:nvPr/>
        </p:nvSpPr>
        <p:spPr>
          <a:xfrm>
            <a:off x="8805252" y="5851016"/>
            <a:ext cx="1373497" cy="179069"/>
          </a:xfrm>
          <a:prstGeom prst="rect">
            <a:avLst/>
          </a:prstGeom>
          <a:noFill/>
        </p:spPr>
        <p:txBody>
          <a:bodyPr wrap="none" lIns="0" rIns="0" tIns="0" bIns="0">
            <a:spAutoFit/>
          </a:bodyPr>
          <a:lstStyle/>
          <a:p>
            <a:r>
              <a:rPr sz="1050" b="0">
                <a:solidFill>
                  <a:srgbClr val="1F1F1F"/>
                </a:solidFill>
                <a:latin typeface="Calibri"/>
              </a:rPr>
              <a:t>/Units across sub-types.</a:t>
            </a:r>
          </a:p>
        </p:txBody>
      </p:sp>
      <p:sp>
        <p:nvSpPr>
          <p:cNvPr id="69" name="TextBox 68"/>
          <p:cNvSpPr txBox="1"/>
          <p:nvPr/>
        </p:nvSpPr>
        <p:spPr>
          <a:xfrm>
            <a:off x="301752" y="6391275"/>
            <a:ext cx="5851659" cy="143408"/>
          </a:xfrm>
          <a:prstGeom prst="rect">
            <a:avLst/>
          </a:prstGeom>
          <a:noFill/>
        </p:spPr>
        <p:txBody>
          <a:bodyPr wrap="none" lIns="0" rIns="0" tIns="0" bIns="0">
            <a:spAutoFit/>
          </a:bodyPr>
          <a:lstStyle/>
          <a:p>
            <a:r>
              <a:rPr sz="816" b="0">
                <a:solidFill>
                  <a:srgbClr val="59636E"/>
                </a:solidFill>
                <a:latin typeface="Calibri"/>
              </a:rPr>
              <a:t>Source: FMI analysis. Cell price = combined value (US$) / combined volume (Units); shading shows the index vs the Global average of US$</a:t>
            </a:r>
          </a:p>
        </p:txBody>
      </p:sp>
      <p:pic>
        <p:nvPicPr>
          <p:cNvPr id="70" name="Picture 69" descr="lock.png"/>
          <p:cNvPicPr>
            <a:picLocks noChangeAspect="1"/>
          </p:cNvPicPr>
          <p:nvPr/>
        </p:nvPicPr>
        <p:blipFill>
          <a:blip r:embed="rId5"/>
          <a:stretch>
            <a:fillRect/>
          </a:stretch>
        </p:blipFill>
        <p:spPr>
          <a:xfrm>
            <a:off x="6095202" y="6384020"/>
            <a:ext cx="95470" cy="138866"/>
          </a:xfrm>
          <a:prstGeom prst="rect">
            <a:avLst/>
          </a:prstGeom>
        </p:spPr>
      </p:pic>
      <p:sp>
        <p:nvSpPr>
          <p:cNvPr id="71" name="TextBox 70"/>
          <p:cNvSpPr txBox="1"/>
          <p:nvPr/>
        </p:nvSpPr>
        <p:spPr>
          <a:xfrm>
            <a:off x="6219453" y="6391275"/>
            <a:ext cx="362604" cy="143408"/>
          </a:xfrm>
          <a:prstGeom prst="rect">
            <a:avLst/>
          </a:prstGeom>
          <a:noFill/>
        </p:spPr>
        <p:txBody>
          <a:bodyPr wrap="none" lIns="0" rIns="0" tIns="0" bIns="0">
            <a:spAutoFit/>
          </a:bodyPr>
          <a:lstStyle/>
          <a:p>
            <a:r>
              <a:rPr sz="816" b="0">
                <a:solidFill>
                  <a:srgbClr val="59636E"/>
                </a:solidFill>
                <a:latin typeface="Calibri"/>
              </a:rPr>
              <a:t>/Units.</a:t>
            </a:r>
          </a:p>
        </p:txBody>
      </p:sp>
      <p:pic>
        <p:nvPicPr>
          <p:cNvPr id="72" name="Picture 71" descr="lock.png"/>
          <p:cNvPicPr>
            <a:picLocks noChangeAspect="1"/>
          </p:cNvPicPr>
          <p:nvPr/>
        </p:nvPicPr>
        <p:blipFill>
          <a:blip r:embed="rId5"/>
          <a:stretch>
            <a:fillRect/>
          </a:stretch>
        </p:blipFill>
        <p:spPr>
          <a:xfrm>
            <a:off x="9913437" y="3234020"/>
            <a:ext cx="332271" cy="483303"/>
          </a:xfrm>
          <a:prstGeom prst="rect">
            <a:avLst/>
          </a:prstGeom>
        </p:spPr>
      </p:pic>
      <p:sp>
        <p:nvSpPr>
          <p:cNvPr id="73" name="lockshield_27"/>
          <p:cNvSpPr/>
          <p:nvPr/>
        </p:nvSpPr>
        <p:spPr>
          <a:xfrm>
            <a:off x="8001000" y="2032635"/>
            <a:ext cx="3867912" cy="29718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Pricing Assessment: Region Benchmarking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 average price and price range across product types, 2026 (US$/Units)</a:t>
            </a:r>
          </a:p>
        </p:txBody>
      </p:sp>
      <p:sp>
        <p:nvSpPr>
          <p:cNvPr id="10" name="Rectangle 9"/>
          <p:cNvSpPr/>
          <p:nvPr/>
        </p:nvSpPr>
        <p:spPr>
          <a:xfrm>
            <a:off x="274320" y="981075"/>
            <a:ext cx="11640312" cy="457200"/>
          </a:xfrm>
          <a:prstGeom prst="rect">
            <a:avLst/>
          </a:prstGeom>
          <a:solidFill>
            <a:srgbClr val="0B2E4A"/>
          </a:solidFill>
          <a:ln>
            <a:noFill/>
          </a:ln>
          <a:effectLst/>
        </p:spPr>
        <p:txBody>
          <a:bodyPr rtlCol="0" anchor="ctr" wrap="square" lIns="137160"/>
          <a:lstStyle/>
          <a:p>
            <a:pPr algn="l"/>
            <a:r>
              <a:rPr sz="1300" b="1">
                <a:solidFill>
                  <a:srgbClr val="FFFFFF"/>
                </a:solidFill>
                <a:latin typeface="Calibri"/>
              </a:rPr>
              <a:t/>
            </a:r>
          </a:p>
        </p:txBody>
      </p:sp>
      <p:sp>
        <p:nvSpPr>
          <p:cNvPr id="11" name="Rectangle 10"/>
          <p:cNvSpPr/>
          <p:nvPr/>
        </p:nvSpPr>
        <p:spPr>
          <a:xfrm>
            <a:off x="274320" y="1529715"/>
            <a:ext cx="7543800" cy="3520440"/>
          </a:xfrm>
          <a:prstGeom prst="rect">
            <a:avLst/>
          </a:prstGeom>
          <a:solidFill>
            <a:srgbClr val="F3F6F9"/>
          </a:solidFill>
          <a:ln>
            <a:noFill/>
          </a:ln>
          <a:effectLst/>
        </p:spPr>
        <p:txBody>
          <a:bodyPr rtlCol="0" anchor="ctr"/>
          <a:lstStyle/>
          <a:p>
            <a:pPr algn="ctr"/>
          </a:p>
        </p:txBody>
      </p:sp>
      <p:sp>
        <p:nvSpPr>
          <p:cNvPr id="12" name="TextBox 11"/>
          <p:cNvSpPr txBox="1"/>
          <p:nvPr/>
        </p:nvSpPr>
        <p:spPr>
          <a:xfrm>
            <a:off x="384048" y="1575435"/>
            <a:ext cx="7315200" cy="257175"/>
          </a:xfrm>
          <a:prstGeom prst="rect">
            <a:avLst/>
          </a:prstGeom>
          <a:noFill/>
        </p:spPr>
        <p:txBody>
          <a:bodyPr wrap="square" anchor="t" lIns="27432" rIns="27432" tIns="27432" bIns="27432">
            <a:spAutoFit/>
          </a:bodyPr>
          <a:lstStyle/>
          <a:p>
            <a:pPr algn="l"/>
            <a:r>
              <a:rPr sz="1150" b="1" i="0">
                <a:solidFill>
                  <a:srgbClr val="0B2E4A"/>
                </a:solidFill>
                <a:latin typeface="Calibri"/>
              </a:rPr>
              <a:t>2026 Price Range Across Product Types by Region (US$/Units), Ranked by Average</a:t>
            </a:r>
          </a:p>
        </p:txBody>
      </p:sp>
      <p:graphicFrame>
        <p:nvGraphicFramePr>
          <p:cNvPr id="13" name="FMI Open Chart"/>
          <p:cNvGraphicFramePr>
            <a:graphicFrameLocks noGrp="1"/>
          </p:cNvGraphicFramePr>
          <p:nvPr/>
        </p:nvGraphicFramePr>
        <p:xfrm>
          <a:off x="347472" y="2014347"/>
          <a:ext cx="7406640" cy="3017520"/>
        </p:xfrm>
        <a:graphic>
          <a:graphicData uri="http://schemas.openxmlformats.org/drawingml/2006/chart">
            <c:chart xmlns:c="http://schemas.openxmlformats.org/drawingml/2006/chart" r:id="rId3"/>
          </a:graphicData>
        </a:graphic>
      </p:graphicFrame>
      <p:sp>
        <p:nvSpPr>
          <p:cNvPr id="14" name="TextBox 13"/>
          <p:cNvSpPr txBox="1"/>
          <p:nvPr/>
        </p:nvSpPr>
        <p:spPr>
          <a:xfrm>
            <a:off x="384048" y="1804035"/>
            <a:ext cx="7223760" cy="219075"/>
          </a:xfrm>
          <a:prstGeom prst="rect">
            <a:avLst/>
          </a:prstGeom>
          <a:noFill/>
        </p:spPr>
        <p:txBody>
          <a:bodyPr wrap="square" anchor="t" lIns="27432" rIns="27432" tIns="27432" bIns="27432">
            <a:spAutoFit/>
          </a:bodyPr>
          <a:lstStyle/>
          <a:p>
            <a:pPr algn="l"/>
            <a:r>
              <a:rPr sz="850" b="0" i="1">
                <a:solidFill>
                  <a:srgbClr val="59636E"/>
                </a:solidFill>
                <a:latin typeface="Calibri"/>
              </a:rPr>
              <a:t/>
            </a:r>
          </a:p>
        </p:txBody>
      </p:sp>
      <p:sp>
        <p:nvSpPr>
          <p:cNvPr id="15" name="Rectangle 14"/>
          <p:cNvSpPr/>
          <p:nvPr/>
        </p:nvSpPr>
        <p:spPr>
          <a:xfrm>
            <a:off x="7955280" y="1529715"/>
            <a:ext cx="3959352" cy="3520440"/>
          </a:xfrm>
          <a:prstGeom prst="rect">
            <a:avLst/>
          </a:prstGeom>
          <a:solidFill>
            <a:srgbClr val="F3F6F9"/>
          </a:solidFill>
          <a:ln>
            <a:noFill/>
          </a:ln>
          <a:effectLst/>
        </p:spPr>
        <p:txBody>
          <a:bodyPr rtlCol="0" anchor="ctr"/>
          <a:lstStyle/>
          <a:p>
            <a:pPr algn="ctr"/>
          </a:p>
        </p:txBody>
      </p:sp>
      <p:sp>
        <p:nvSpPr>
          <p:cNvPr id="16" name="TextBox 15"/>
          <p:cNvSpPr txBox="1"/>
          <p:nvPr/>
        </p:nvSpPr>
        <p:spPr>
          <a:xfrm>
            <a:off x="8065008" y="1575435"/>
            <a:ext cx="3749040" cy="257175"/>
          </a:xfrm>
          <a:prstGeom prst="rect">
            <a:avLst/>
          </a:prstGeom>
          <a:noFill/>
        </p:spPr>
        <p:txBody>
          <a:bodyPr wrap="square" anchor="t" lIns="27432" rIns="27432" tIns="27432" bIns="27432">
            <a:spAutoFit/>
          </a:bodyPr>
          <a:lstStyle/>
          <a:p>
            <a:pPr algn="l"/>
            <a:r>
              <a:rPr sz="1150" b="1" i="0">
                <a:solidFill>
                  <a:srgbClr val="0B2E4A"/>
                </a:solidFill>
                <a:latin typeface="Calibri"/>
              </a:rPr>
              <a:t>Premium and Discount Markets</a:t>
            </a:r>
          </a:p>
        </p:txBody>
      </p:sp>
      <p:graphicFrame>
        <p:nvGraphicFramePr>
          <p:cNvPr id="17" name="Table 16"/>
          <p:cNvGraphicFramePr>
            <a:graphicFrameLocks noGrp="1"/>
          </p:cNvGraphicFramePr>
          <p:nvPr/>
        </p:nvGraphicFramePr>
        <p:xfrm>
          <a:off x="8046720" y="1868043"/>
          <a:ext cx="3776472" cy="3090675"/>
        </p:xfrm>
        <a:graphic>
          <a:graphicData uri="http://schemas.openxmlformats.org/drawingml/2006/table">
            <a:tbl>
              <a:tblPr firstRow="1" bandRow="1">
                <a:tableStyleId>{5C22544A-7EE6-4342-B048-85BDC9FD1C3A}</a:tableStyleId>
              </a:tblPr>
              <a:tblGrid>
                <a:gridCol w="1417320"/>
                <a:gridCol w="786384"/>
                <a:gridCol w="658368"/>
                <a:gridCol w="914400"/>
              </a:tblGrid>
              <a:tr h="441525">
                <a:tc>
                  <a:txBody>
                    <a:bodyPr wrap="square"/>
                    <a:lstStyle/>
                    <a:p>
                      <a:pPr algn="l"/>
                      <a:r>
                        <a:rPr sz="900" b="1">
                          <a:solidFill>
                            <a:srgbClr val="FFFFFF"/>
                          </a:solidFill>
                          <a:latin typeface="Calibri"/>
                        </a:rPr>
                        <a:t>Region</a:t>
                      </a:r>
                    </a:p>
                  </a:txBody>
                  <a:tcPr marL="36576" marR="36576" marT="9144" marB="9144" anchor="ctr">
                    <a:solidFill>
                      <a:srgbClr val="0B2E4A"/>
                    </a:solidFill>
                  </a:tcPr>
                </a:tc>
                <a:tc>
                  <a:txBody>
                    <a:bodyPr wrap="square"/>
                    <a:lstStyle/>
                    <a:p>
                      <a:pPr algn="ctr"/>
                      <a:r>
                        <a:rPr sz="900" b="1">
                          <a:solidFill>
                            <a:srgbClr val="FFFFFF"/>
                          </a:solidFill>
                          <a:latin typeface="Calibri"/>
                        </a:rPr>
                        <a:t>Avg. 2026</a:t>
                      </a:r>
                    </a:p>
                  </a:txBody>
                  <a:tcPr marL="36576" marR="36576" marT="9144" marB="9144" anchor="ctr">
                    <a:solidFill>
                      <a:srgbClr val="0B2E4A"/>
                    </a:solidFill>
                  </a:tcPr>
                </a:tc>
                <a:tc>
                  <a:txBody>
                    <a:bodyPr wrap="square"/>
                    <a:lstStyle/>
                    <a:p>
                      <a:pPr algn="ctr"/>
                      <a:r>
                        <a:rPr sz="900" b="1">
                          <a:solidFill>
                            <a:srgbClr val="FFFFFF"/>
                          </a:solidFill>
                          <a:latin typeface="Calibri"/>
                        </a:rPr>
                        <a:t>Index</a:t>
                      </a:r>
                    </a:p>
                  </a:txBody>
                  <a:tcPr marL="36576" marR="36576" marT="9144" marB="9144" anchor="ctr">
                    <a:solidFill>
                      <a:srgbClr val="0B2E4A"/>
                    </a:solidFill>
                  </a:tcPr>
                </a:tc>
                <a:tc>
                  <a:txBody>
                    <a:bodyPr wrap="square"/>
                    <a:lstStyle/>
                    <a:p>
                      <a:pPr algn="ctr"/>
                      <a:r>
                        <a:rPr sz="900" b="1">
                          <a:solidFill>
                            <a:srgbClr val="FFFFFF"/>
                          </a:solidFill>
                          <a:latin typeface="Calibri"/>
                        </a:rPr>
                        <a:t>CAGR 2026 to 2036</a:t>
                      </a:r>
                    </a:p>
                  </a:txBody>
                  <a:tcPr marL="36576" marR="36576" marT="9144" marB="9144" anchor="ctr">
                    <a:solidFill>
                      <a:srgbClr val="0B2E4A"/>
                    </a:solidFill>
                  </a:tcPr>
                </a:tc>
              </a:tr>
              <a:tr h="441525">
                <a:tc>
                  <a:txBody>
                    <a:bodyPr wrap="square"/>
                    <a:lstStyle/>
                    <a:p>
                      <a:pPr algn="l"/>
                      <a:r>
                        <a:rPr sz="900" b="1">
                          <a:solidFill>
                            <a:srgbClr val="1F1F1F"/>
                          </a:solidFill>
                          <a:latin typeface="Calibri"/>
                        </a:rPr>
                        <a:t>North America</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FFFFFF"/>
                    </a:solidFill>
                  </a:tcPr>
                </a:tc>
              </a:tr>
              <a:tr h="441525">
                <a:tc>
                  <a:txBody>
                    <a:bodyPr wrap="square"/>
                    <a:lstStyle/>
                    <a:p>
                      <a:pPr algn="l"/>
                      <a:r>
                        <a:rPr sz="900" b="1">
                          <a:solidFill>
                            <a:srgbClr val="1F1F1F"/>
                          </a:solidFill>
                          <a:latin typeface="Calibri"/>
                        </a:rPr>
                        <a:t>Europe</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F3F6F9"/>
                    </a:solidFill>
                  </a:tcPr>
                </a:tc>
              </a:tr>
              <a:tr h="441525">
                <a:tc>
                  <a:txBody>
                    <a:bodyPr wrap="square"/>
                    <a:lstStyle/>
                    <a:p>
                      <a:pPr algn="l"/>
                      <a:r>
                        <a:rPr sz="900" b="1">
                          <a:solidFill>
                            <a:srgbClr val="1F1F1F"/>
                          </a:solidFill>
                          <a:latin typeface="Calibri"/>
                        </a:rPr>
                        <a:t>Latin America</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9DC0E0"/>
                    </a:solidFill>
                  </a:tcPr>
                </a:tc>
                <a:tc>
                  <a:txBody>
                    <a:bodyPr wrap="square"/>
                    <a:lstStyle/>
                    <a:p>
                      <a:pPr algn="ctr"/>
                      <a:r>
                        <a:rPr sz="900"/>
                        <a:t> </a:t>
                      </a:r>
                    </a:p>
                  </a:txBody>
                  <a:tcPr marL="36576" marR="36576" marT="9144" marB="9144" anchor="ctr">
                    <a:solidFill>
                      <a:srgbClr val="FFFFFF"/>
                    </a:solidFill>
                  </a:tcPr>
                </a:tc>
              </a:tr>
              <a:tr h="441525">
                <a:tc>
                  <a:txBody>
                    <a:bodyPr wrap="square"/>
                    <a:lstStyle/>
                    <a:p>
                      <a:pPr algn="l"/>
                      <a:r>
                        <a:rPr sz="900" b="1">
                          <a:solidFill>
                            <a:srgbClr val="1F1F1F"/>
                          </a:solidFill>
                          <a:latin typeface="Calibri"/>
                        </a:rPr>
                        <a:t>Middle East &amp; Africa</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9DC0E0"/>
                    </a:solidFill>
                  </a:tcPr>
                </a:tc>
                <a:tc>
                  <a:txBody>
                    <a:bodyPr wrap="square"/>
                    <a:lstStyle/>
                    <a:p>
                      <a:pPr algn="ctr"/>
                      <a:r>
                        <a:rPr sz="900"/>
                        <a:t> </a:t>
                      </a:r>
                    </a:p>
                  </a:txBody>
                  <a:tcPr marL="36576" marR="36576" marT="9144" marB="9144" anchor="ctr">
                    <a:solidFill>
                      <a:srgbClr val="F3F6F9"/>
                    </a:solidFill>
                  </a:tcPr>
                </a:tc>
              </a:tr>
              <a:tr h="441525">
                <a:tc>
                  <a:txBody>
                    <a:bodyPr wrap="square"/>
                    <a:lstStyle/>
                    <a:p>
                      <a:pPr algn="l"/>
                      <a:r>
                        <a:rPr sz="900" b="1">
                          <a:solidFill>
                            <a:srgbClr val="1F1F1F"/>
                          </a:solidFill>
                          <a:latin typeface="Calibri"/>
                        </a:rPr>
                        <a:t>East Asia</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9DC0E0"/>
                    </a:solidFill>
                  </a:tcPr>
                </a:tc>
                <a:tc>
                  <a:txBody>
                    <a:bodyPr wrap="square"/>
                    <a:lstStyle/>
                    <a:p>
                      <a:pPr algn="ctr"/>
                      <a:r>
                        <a:rPr sz="900"/>
                        <a:t> </a:t>
                      </a:r>
                    </a:p>
                  </a:txBody>
                  <a:tcPr marL="36576" marR="36576" marT="9144" marB="9144" anchor="ctr">
                    <a:solidFill>
                      <a:srgbClr val="FFFFFF"/>
                    </a:solidFill>
                  </a:tcPr>
                </a:tc>
              </a:tr>
              <a:tr h="441525">
                <a:tc>
                  <a:txBody>
                    <a:bodyPr wrap="square"/>
                    <a:lstStyle/>
                    <a:p>
                      <a:pPr algn="l"/>
                      <a:r>
                        <a:rPr sz="900" b="1">
                          <a:solidFill>
                            <a:srgbClr val="1F1F1F"/>
                          </a:solidFill>
                          <a:latin typeface="Calibri"/>
                        </a:rPr>
                        <a:t>South Asia &amp; Pacific</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9DC0E0"/>
                    </a:solidFill>
                  </a:tcPr>
                </a:tc>
                <a:tc>
                  <a:txBody>
                    <a:bodyPr wrap="square"/>
                    <a:lstStyle/>
                    <a:p>
                      <a:pPr algn="ctr"/>
                      <a:r>
                        <a:rPr sz="900"/>
                        <a:t> </a:t>
                      </a:r>
                    </a:p>
                  </a:txBody>
                  <a:tcPr marL="36576" marR="36576" marT="9144" marB="9144" anchor="ctr">
                    <a:solidFill>
                      <a:srgbClr val="F3F6F9"/>
                    </a:solidFill>
                  </a:tcPr>
                </a:tc>
              </a:tr>
            </a:tbl>
          </a:graphicData>
        </a:graphic>
      </p:graphicFrame>
      <p:sp>
        <p:nvSpPr>
          <p:cNvPr id="18" name="Rectangle 17"/>
          <p:cNvSpPr/>
          <p:nvPr/>
        </p:nvSpPr>
        <p:spPr>
          <a:xfrm>
            <a:off x="274320" y="5141595"/>
            <a:ext cx="3788664" cy="1234440"/>
          </a:xfrm>
          <a:prstGeom prst="rect">
            <a:avLst/>
          </a:prstGeom>
          <a:solidFill>
            <a:srgbClr val="F3F6F9"/>
          </a:solidFill>
          <a:ln>
            <a:noFill/>
          </a:ln>
          <a:effectLst/>
        </p:spPr>
        <p:txBody>
          <a:bodyPr rtlCol="0" anchor="ctr"/>
          <a:lstStyle/>
          <a:p>
            <a:pPr algn="ctr"/>
          </a:p>
        </p:txBody>
      </p:sp>
      <p:sp>
        <p:nvSpPr>
          <p:cNvPr id="19" name="Oval 18"/>
          <p:cNvSpPr/>
          <p:nvPr/>
        </p:nvSpPr>
        <p:spPr>
          <a:xfrm>
            <a:off x="388620"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1</a:t>
            </a:r>
          </a:p>
        </p:txBody>
      </p:sp>
      <p:sp>
        <p:nvSpPr>
          <p:cNvPr id="20" name="TextBox 19"/>
          <p:cNvSpPr txBox="1"/>
          <p:nvPr/>
        </p:nvSpPr>
        <p:spPr>
          <a:xfrm>
            <a:off x="779145"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Region Spread</a:t>
            </a:r>
          </a:p>
        </p:txBody>
      </p:sp>
      <p:sp>
        <p:nvSpPr>
          <p:cNvPr id="21" name="TextBox 20"/>
          <p:cNvSpPr txBox="1"/>
          <p:nvPr/>
        </p:nvSpPr>
        <p:spPr>
          <a:xfrm>
            <a:off x="779145"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22" name="Rectangle 21"/>
          <p:cNvSpPr/>
          <p:nvPr/>
        </p:nvSpPr>
        <p:spPr>
          <a:xfrm>
            <a:off x="4200144" y="5141595"/>
            <a:ext cx="3788664" cy="1234440"/>
          </a:xfrm>
          <a:prstGeom prst="rect">
            <a:avLst/>
          </a:prstGeom>
          <a:solidFill>
            <a:srgbClr val="F3F6F9"/>
          </a:solidFill>
          <a:ln>
            <a:noFill/>
          </a:ln>
          <a:effectLst/>
        </p:spPr>
        <p:txBody>
          <a:bodyPr rtlCol="0" anchor="ctr"/>
          <a:lstStyle/>
          <a:p>
            <a:pPr algn="ctr"/>
          </a:p>
        </p:txBody>
      </p:sp>
      <p:sp>
        <p:nvSpPr>
          <p:cNvPr id="23" name="Oval 22"/>
          <p:cNvSpPr/>
          <p:nvPr/>
        </p:nvSpPr>
        <p:spPr>
          <a:xfrm>
            <a:off x="4314444"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2</a:t>
            </a:r>
          </a:p>
        </p:txBody>
      </p:sp>
      <p:sp>
        <p:nvSpPr>
          <p:cNvPr id="24" name="TextBox 23"/>
          <p:cNvSpPr txBox="1"/>
          <p:nvPr/>
        </p:nvSpPr>
        <p:spPr>
          <a:xfrm>
            <a:off x="4704969"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Growth Leader</a:t>
            </a:r>
          </a:p>
        </p:txBody>
      </p:sp>
      <p:sp>
        <p:nvSpPr>
          <p:cNvPr id="25" name="TextBox 24"/>
          <p:cNvSpPr txBox="1"/>
          <p:nvPr/>
        </p:nvSpPr>
        <p:spPr>
          <a:xfrm>
            <a:off x="4704969"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26" name="Rectangle 25"/>
          <p:cNvSpPr/>
          <p:nvPr/>
        </p:nvSpPr>
        <p:spPr>
          <a:xfrm>
            <a:off x="8125968" y="5141595"/>
            <a:ext cx="3788664" cy="1234440"/>
          </a:xfrm>
          <a:prstGeom prst="rect">
            <a:avLst/>
          </a:prstGeom>
          <a:solidFill>
            <a:srgbClr val="F3F6F9"/>
          </a:solidFill>
          <a:ln>
            <a:noFill/>
          </a:ln>
          <a:effectLst/>
        </p:spPr>
        <p:txBody>
          <a:bodyPr rtlCol="0" anchor="ctr"/>
          <a:lstStyle/>
          <a:p>
            <a:pPr algn="ctr"/>
          </a:p>
        </p:txBody>
      </p:sp>
      <p:sp>
        <p:nvSpPr>
          <p:cNvPr id="27" name="Oval 26"/>
          <p:cNvSpPr/>
          <p:nvPr/>
        </p:nvSpPr>
        <p:spPr>
          <a:xfrm>
            <a:off x="8240268"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3</a:t>
            </a:r>
          </a:p>
        </p:txBody>
      </p:sp>
      <p:sp>
        <p:nvSpPr>
          <p:cNvPr id="28" name="TextBox 27"/>
          <p:cNvSpPr txBox="1"/>
          <p:nvPr/>
        </p:nvSpPr>
        <p:spPr>
          <a:xfrm>
            <a:off x="8630793"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Mix Exposure</a:t>
            </a:r>
          </a:p>
        </p:txBody>
      </p:sp>
      <p:sp>
        <p:nvSpPr>
          <p:cNvPr id="29" name="TextBox 28"/>
          <p:cNvSpPr txBox="1"/>
          <p:nvPr/>
        </p:nvSpPr>
        <p:spPr>
          <a:xfrm>
            <a:off x="8630793"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30" name="TextBox 29"/>
          <p:cNvSpPr txBox="1"/>
          <p:nvPr/>
        </p:nvSpPr>
        <p:spPr>
          <a:xfrm>
            <a:off x="274320" y="6363843"/>
            <a:ext cx="11612880" cy="209550"/>
          </a:xfrm>
          <a:prstGeom prst="rect">
            <a:avLst/>
          </a:prstGeom>
          <a:noFill/>
        </p:spPr>
        <p:txBody>
          <a:bodyPr wrap="square" anchor="t" lIns="27432" rIns="27432" tIns="27432" bIns="27432">
            <a:spAutoFit/>
          </a:bodyPr>
          <a:lstStyle/>
          <a:p>
            <a:pPr algn="l"/>
            <a:r>
              <a:rPr sz="850" b="0" i="0">
                <a:solidFill>
                  <a:srgbClr val="59636E"/>
                </a:solidFill>
                <a:latin typeface="Calibri"/>
              </a:rPr>
              <a:t>Source: FMI analysis. Range = lowest to highest product type price in each region; ranked by average price. Other geographies grouped as 'Other' are excluded from the ranking.</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5"/>
          <a:stretch>
            <a:fillRect/>
          </a:stretch>
        </p:blipFill>
        <p:spPr>
          <a:xfrm>
            <a:off x="10462494" y="3375398"/>
            <a:ext cx="355774" cy="517489"/>
          </a:xfrm>
          <a:prstGeom prst="rect">
            <a:avLst/>
          </a:prstGeom>
        </p:spPr>
      </p:pic>
      <p:sp>
        <p:nvSpPr>
          <p:cNvPr id="33" name="TextBox 32"/>
          <p:cNvSpPr txBox="1"/>
          <p:nvPr/>
        </p:nvSpPr>
        <p:spPr>
          <a:xfrm>
            <a:off x="411480" y="1110615"/>
            <a:ext cx="3985393" cy="217169"/>
          </a:xfrm>
          <a:prstGeom prst="rect">
            <a:avLst/>
          </a:prstGeom>
          <a:noFill/>
        </p:spPr>
        <p:txBody>
          <a:bodyPr wrap="none" lIns="0" rIns="0" tIns="0" bIns="0">
            <a:spAutoFit/>
          </a:bodyPr>
          <a:lstStyle/>
          <a:p>
            <a:r>
              <a:rPr sz="1300" b="1">
                <a:solidFill>
                  <a:srgbClr val="FFFFFF"/>
                </a:solidFill>
                <a:latin typeface="Calibri"/>
              </a:rPr>
              <a:t>North America is the most premium Global region at US$</a:t>
            </a:r>
          </a:p>
        </p:txBody>
      </p:sp>
      <p:pic>
        <p:nvPicPr>
          <p:cNvPr id="34" name="Picture 33" descr="lock.png"/>
          <p:cNvPicPr>
            <a:picLocks noChangeAspect="1"/>
          </p:cNvPicPr>
          <p:nvPr/>
        </p:nvPicPr>
        <p:blipFill>
          <a:blip r:embed="rId5"/>
          <a:stretch>
            <a:fillRect/>
          </a:stretch>
        </p:blipFill>
        <p:spPr>
          <a:xfrm>
            <a:off x="4349334" y="1099058"/>
            <a:ext cx="152098" cy="221234"/>
          </a:xfrm>
          <a:prstGeom prst="rect">
            <a:avLst/>
          </a:prstGeom>
        </p:spPr>
      </p:pic>
      <p:sp>
        <p:nvSpPr>
          <p:cNvPr id="35" name="TextBox 34"/>
          <p:cNvSpPr txBox="1"/>
          <p:nvPr/>
        </p:nvSpPr>
        <p:spPr>
          <a:xfrm>
            <a:off x="4547284" y="1110615"/>
            <a:ext cx="1209005" cy="217169"/>
          </a:xfrm>
          <a:prstGeom prst="rect">
            <a:avLst/>
          </a:prstGeom>
          <a:noFill/>
        </p:spPr>
        <p:txBody>
          <a:bodyPr wrap="none" lIns="0" rIns="0" tIns="0" bIns="0">
            <a:spAutoFit/>
          </a:bodyPr>
          <a:lstStyle/>
          <a:p>
            <a:r>
              <a:rPr sz="1300" b="1">
                <a:solidFill>
                  <a:srgbClr val="FFFFFF"/>
                </a:solidFill>
                <a:latin typeface="Calibri"/>
              </a:rPr>
              <a:t>/Units in 2026, +</a:t>
            </a:r>
          </a:p>
        </p:txBody>
      </p:sp>
      <p:pic>
        <p:nvPicPr>
          <p:cNvPr id="36" name="Picture 35" descr="lock.png"/>
          <p:cNvPicPr>
            <a:picLocks noChangeAspect="1"/>
          </p:cNvPicPr>
          <p:nvPr/>
        </p:nvPicPr>
        <p:blipFill>
          <a:blip r:embed="rId5"/>
          <a:stretch>
            <a:fillRect/>
          </a:stretch>
        </p:blipFill>
        <p:spPr>
          <a:xfrm>
            <a:off x="5708750" y="1099058"/>
            <a:ext cx="152098" cy="221234"/>
          </a:xfrm>
          <a:prstGeom prst="rect">
            <a:avLst/>
          </a:prstGeom>
        </p:spPr>
      </p:pic>
      <p:sp>
        <p:nvSpPr>
          <p:cNvPr id="37" name="TextBox 36"/>
          <p:cNvSpPr txBox="1"/>
          <p:nvPr/>
        </p:nvSpPr>
        <p:spPr>
          <a:xfrm>
            <a:off x="5906700" y="1110615"/>
            <a:ext cx="5071119" cy="217169"/>
          </a:xfrm>
          <a:prstGeom prst="rect">
            <a:avLst/>
          </a:prstGeom>
          <a:noFill/>
        </p:spPr>
        <p:txBody>
          <a:bodyPr wrap="none" lIns="0" rIns="0" tIns="0" bIns="0">
            <a:spAutoFit/>
          </a:bodyPr>
          <a:lstStyle/>
          <a:p>
            <a:r>
              <a:rPr sz="1300" b="1">
                <a:solidFill>
                  <a:srgbClr val="FFFFFF"/>
                </a:solidFill>
                <a:latin typeface="Calibri"/>
              </a:rPr>
              <a:t>above the global average, while South Asia &amp; Pacific is the lowest priced.</a:t>
            </a:r>
          </a:p>
        </p:txBody>
      </p:sp>
      <p:sp>
        <p:nvSpPr>
          <p:cNvPr id="38" name="TextBox 37"/>
          <p:cNvSpPr txBox="1"/>
          <p:nvPr/>
        </p:nvSpPr>
        <p:spPr>
          <a:xfrm>
            <a:off x="411480" y="1831467"/>
            <a:ext cx="4975274" cy="148589"/>
          </a:xfrm>
          <a:prstGeom prst="rect">
            <a:avLst/>
          </a:prstGeom>
          <a:noFill/>
        </p:spPr>
        <p:txBody>
          <a:bodyPr wrap="none" lIns="0" rIns="0" tIns="0" bIns="0">
            <a:spAutoFit/>
          </a:bodyPr>
          <a:lstStyle/>
          <a:p>
            <a:r>
              <a:rPr sz="850" b="0">
                <a:solidFill>
                  <a:srgbClr val="59636E"/>
                </a:solidFill>
                <a:latin typeface="Calibri"/>
              </a:rPr>
              <a:t>Bar spans the lowest to highest product type price in each region, read on the price index axis (Global average =</a:t>
            </a:r>
          </a:p>
        </p:txBody>
      </p:sp>
      <p:pic>
        <p:nvPicPr>
          <p:cNvPr id="39" name="Picture 38" descr="lock.png"/>
          <p:cNvPicPr>
            <a:picLocks noChangeAspect="1"/>
          </p:cNvPicPr>
          <p:nvPr/>
        </p:nvPicPr>
        <p:blipFill>
          <a:blip r:embed="rId5"/>
          <a:stretch>
            <a:fillRect/>
          </a:stretch>
        </p:blipFill>
        <p:spPr>
          <a:xfrm>
            <a:off x="5329294" y="1823910"/>
            <a:ext cx="99449" cy="144653"/>
          </a:xfrm>
          <a:prstGeom prst="rect">
            <a:avLst/>
          </a:prstGeom>
        </p:spPr>
      </p:pic>
      <p:sp>
        <p:nvSpPr>
          <p:cNvPr id="40" name="TextBox 39"/>
          <p:cNvSpPr txBox="1"/>
          <p:nvPr/>
        </p:nvSpPr>
        <p:spPr>
          <a:xfrm>
            <a:off x="5458723" y="1831467"/>
            <a:ext cx="2037010" cy="148589"/>
          </a:xfrm>
          <a:prstGeom prst="rect">
            <a:avLst/>
          </a:prstGeom>
          <a:noFill/>
        </p:spPr>
        <p:txBody>
          <a:bodyPr wrap="none" lIns="0" rIns="0" tIns="0" bIns="0">
            <a:spAutoFit/>
          </a:bodyPr>
          <a:lstStyle/>
          <a:p>
            <a:r>
              <a:rPr sz="850" b="0">
                <a:solidFill>
                  <a:srgbClr val="59636E"/>
                </a:solidFill>
                <a:latin typeface="Calibri"/>
              </a:rPr>
              <a:t>). Teal = above Global average, blue = below.</a:t>
            </a:r>
          </a:p>
        </p:txBody>
      </p:sp>
      <p:sp>
        <p:nvSpPr>
          <p:cNvPr id="41" name="TextBox 40"/>
          <p:cNvSpPr txBox="1"/>
          <p:nvPr/>
        </p:nvSpPr>
        <p:spPr>
          <a:xfrm>
            <a:off x="806576" y="5530976"/>
            <a:ext cx="2778324" cy="179069"/>
          </a:xfrm>
          <a:prstGeom prst="rect">
            <a:avLst/>
          </a:prstGeom>
          <a:noFill/>
        </p:spPr>
        <p:txBody>
          <a:bodyPr wrap="none" lIns="0" rIns="0" tIns="0" bIns="0">
            <a:spAutoFit/>
          </a:bodyPr>
          <a:lstStyle/>
          <a:p>
            <a:r>
              <a:rPr sz="1050" b="0">
                <a:solidFill>
                  <a:srgbClr val="1F1F1F"/>
                </a:solidFill>
                <a:latin typeface="Calibri"/>
              </a:rPr>
              <a:t>Average prices across the ranked regions differ by</a:t>
            </a:r>
          </a:p>
        </p:txBody>
      </p:sp>
      <p:pic>
        <p:nvPicPr>
          <p:cNvPr id="42" name="Picture 41" descr="lock.png"/>
          <p:cNvPicPr>
            <a:picLocks noChangeAspect="1"/>
          </p:cNvPicPr>
          <p:nvPr/>
        </p:nvPicPr>
        <p:blipFill>
          <a:blip r:embed="rId5"/>
          <a:stretch>
            <a:fillRect/>
          </a:stretch>
        </p:blipFill>
        <p:spPr>
          <a:xfrm>
            <a:off x="3531850" y="5521642"/>
            <a:ext cx="122849" cy="178689"/>
          </a:xfrm>
          <a:prstGeom prst="rect">
            <a:avLst/>
          </a:prstGeom>
        </p:spPr>
      </p:pic>
      <p:sp>
        <p:nvSpPr>
          <p:cNvPr id="43" name="TextBox 42"/>
          <p:cNvSpPr txBox="1"/>
          <p:nvPr/>
        </p:nvSpPr>
        <p:spPr>
          <a:xfrm>
            <a:off x="3691732" y="5530976"/>
            <a:ext cx="176993" cy="179069"/>
          </a:xfrm>
          <a:prstGeom prst="rect">
            <a:avLst/>
          </a:prstGeom>
          <a:noFill/>
        </p:spPr>
        <p:txBody>
          <a:bodyPr wrap="none" lIns="0" rIns="0" tIns="0" bIns="0">
            <a:spAutoFit/>
          </a:bodyPr>
          <a:lstStyle/>
          <a:p>
            <a:r>
              <a:rPr sz="1050" b="0">
                <a:solidFill>
                  <a:srgbClr val="1F1F1F"/>
                </a:solidFill>
                <a:latin typeface="Calibri"/>
              </a:rPr>
              <a:t>in</a:t>
            </a:r>
          </a:p>
        </p:txBody>
      </p:sp>
      <p:sp>
        <p:nvSpPr>
          <p:cNvPr id="44" name="TextBox 43"/>
          <p:cNvSpPr txBox="1"/>
          <p:nvPr/>
        </p:nvSpPr>
        <p:spPr>
          <a:xfrm>
            <a:off x="806576" y="5690996"/>
            <a:ext cx="919534" cy="179069"/>
          </a:xfrm>
          <a:prstGeom prst="rect">
            <a:avLst/>
          </a:prstGeom>
          <a:noFill/>
        </p:spPr>
        <p:txBody>
          <a:bodyPr wrap="none" lIns="0" rIns="0" tIns="0" bIns="0">
            <a:spAutoFit/>
          </a:bodyPr>
          <a:lstStyle/>
          <a:p>
            <a:r>
              <a:rPr sz="1050" b="0">
                <a:solidFill>
                  <a:srgbClr val="1F1F1F"/>
                </a:solidFill>
                <a:latin typeface="Calibri"/>
              </a:rPr>
              <a:t>2026, from US$</a:t>
            </a:r>
          </a:p>
        </p:txBody>
      </p:sp>
      <p:pic>
        <p:nvPicPr>
          <p:cNvPr id="45" name="Picture 44" descr="lock.png"/>
          <p:cNvPicPr>
            <a:picLocks noChangeAspect="1"/>
          </p:cNvPicPr>
          <p:nvPr/>
        </p:nvPicPr>
        <p:blipFill>
          <a:blip r:embed="rId5"/>
          <a:stretch>
            <a:fillRect/>
          </a:stretch>
        </p:blipFill>
        <p:spPr>
          <a:xfrm>
            <a:off x="1673060" y="5681662"/>
            <a:ext cx="122849" cy="178689"/>
          </a:xfrm>
          <a:prstGeom prst="rect">
            <a:avLst/>
          </a:prstGeom>
        </p:spPr>
      </p:pic>
      <p:sp>
        <p:nvSpPr>
          <p:cNvPr id="46" name="TextBox 45"/>
          <p:cNvSpPr txBox="1"/>
          <p:nvPr/>
        </p:nvSpPr>
        <p:spPr>
          <a:xfrm>
            <a:off x="1832943" y="5690996"/>
            <a:ext cx="2032173" cy="179069"/>
          </a:xfrm>
          <a:prstGeom prst="rect">
            <a:avLst/>
          </a:prstGeom>
          <a:noFill/>
        </p:spPr>
        <p:txBody>
          <a:bodyPr wrap="none" lIns="0" rIns="0" tIns="0" bIns="0">
            <a:spAutoFit/>
          </a:bodyPr>
          <a:lstStyle/>
          <a:p>
            <a:r>
              <a:rPr sz="1050" b="0">
                <a:solidFill>
                  <a:srgbClr val="1F1F1F"/>
                </a:solidFill>
                <a:latin typeface="Calibri"/>
              </a:rPr>
              <a:t>/Units in South Asia &amp; Pacific to US$</a:t>
            </a:r>
          </a:p>
        </p:txBody>
      </p:sp>
      <p:pic>
        <p:nvPicPr>
          <p:cNvPr id="47" name="Picture 46" descr="lock.png"/>
          <p:cNvPicPr>
            <a:picLocks noChangeAspect="1"/>
          </p:cNvPicPr>
          <p:nvPr/>
        </p:nvPicPr>
        <p:blipFill>
          <a:blip r:embed="rId5"/>
          <a:stretch>
            <a:fillRect/>
          </a:stretch>
        </p:blipFill>
        <p:spPr>
          <a:xfrm>
            <a:off x="793721" y="5841682"/>
            <a:ext cx="122849" cy="178689"/>
          </a:xfrm>
          <a:prstGeom prst="rect">
            <a:avLst/>
          </a:prstGeom>
        </p:spPr>
      </p:pic>
      <p:sp>
        <p:nvSpPr>
          <p:cNvPr id="48" name="TextBox 47"/>
          <p:cNvSpPr txBox="1"/>
          <p:nvPr/>
        </p:nvSpPr>
        <p:spPr>
          <a:xfrm>
            <a:off x="953604" y="5851016"/>
            <a:ext cx="1401886" cy="179069"/>
          </a:xfrm>
          <a:prstGeom prst="rect">
            <a:avLst/>
          </a:prstGeom>
          <a:noFill/>
        </p:spPr>
        <p:txBody>
          <a:bodyPr wrap="none" lIns="0" rIns="0" tIns="0" bIns="0">
            <a:spAutoFit/>
          </a:bodyPr>
          <a:lstStyle/>
          <a:p>
            <a:r>
              <a:rPr sz="1050" b="0">
                <a:solidFill>
                  <a:srgbClr val="1F1F1F"/>
                </a:solidFill>
                <a:latin typeface="Calibri"/>
              </a:rPr>
              <a:t>/Units in North America.</a:t>
            </a:r>
          </a:p>
        </p:txBody>
      </p:sp>
      <p:sp>
        <p:nvSpPr>
          <p:cNvPr id="49" name="TextBox 48"/>
          <p:cNvSpPr txBox="1"/>
          <p:nvPr/>
        </p:nvSpPr>
        <p:spPr>
          <a:xfrm>
            <a:off x="4732401" y="5530976"/>
            <a:ext cx="2951819" cy="179069"/>
          </a:xfrm>
          <a:prstGeom prst="rect">
            <a:avLst/>
          </a:prstGeom>
          <a:noFill/>
        </p:spPr>
        <p:txBody>
          <a:bodyPr wrap="none" lIns="0" rIns="0" tIns="0" bIns="0">
            <a:spAutoFit/>
          </a:bodyPr>
          <a:lstStyle/>
          <a:p>
            <a:r>
              <a:rPr sz="1050" b="0">
                <a:solidFill>
                  <a:srgbClr val="1F1F1F"/>
                </a:solidFill>
                <a:latin typeface="Calibri"/>
              </a:rPr>
              <a:t>South Asia &amp; Pacific records the fastest average price</a:t>
            </a:r>
          </a:p>
        </p:txBody>
      </p:sp>
      <p:sp>
        <p:nvSpPr>
          <p:cNvPr id="50" name="TextBox 49"/>
          <p:cNvSpPr txBox="1"/>
          <p:nvPr/>
        </p:nvSpPr>
        <p:spPr>
          <a:xfrm>
            <a:off x="4732401" y="5690996"/>
            <a:ext cx="698934" cy="179069"/>
          </a:xfrm>
          <a:prstGeom prst="rect">
            <a:avLst/>
          </a:prstGeom>
          <a:noFill/>
        </p:spPr>
        <p:txBody>
          <a:bodyPr wrap="none" lIns="0" rIns="0" tIns="0" bIns="0">
            <a:spAutoFit/>
          </a:bodyPr>
          <a:lstStyle/>
          <a:p>
            <a:r>
              <a:rPr sz="1050" b="0">
                <a:solidFill>
                  <a:srgbClr val="1F1F1F"/>
                </a:solidFill>
                <a:latin typeface="Calibri"/>
              </a:rPr>
              <a:t>growth at a</a:t>
            </a:r>
          </a:p>
        </p:txBody>
      </p:sp>
      <p:pic>
        <p:nvPicPr>
          <p:cNvPr id="51" name="Picture 50" descr="lock.png"/>
          <p:cNvPicPr>
            <a:picLocks noChangeAspect="1"/>
          </p:cNvPicPr>
          <p:nvPr/>
        </p:nvPicPr>
        <p:blipFill>
          <a:blip r:embed="rId5"/>
          <a:stretch>
            <a:fillRect/>
          </a:stretch>
        </p:blipFill>
        <p:spPr>
          <a:xfrm>
            <a:off x="5378284" y="5681662"/>
            <a:ext cx="122849" cy="178689"/>
          </a:xfrm>
          <a:prstGeom prst="rect">
            <a:avLst/>
          </a:prstGeom>
        </p:spPr>
      </p:pic>
      <p:sp>
        <p:nvSpPr>
          <p:cNvPr id="52" name="TextBox 51"/>
          <p:cNvSpPr txBox="1"/>
          <p:nvPr/>
        </p:nvSpPr>
        <p:spPr>
          <a:xfrm>
            <a:off x="5538166" y="5690996"/>
            <a:ext cx="2178529" cy="179069"/>
          </a:xfrm>
          <a:prstGeom prst="rect">
            <a:avLst/>
          </a:prstGeom>
          <a:noFill/>
        </p:spPr>
        <p:txBody>
          <a:bodyPr wrap="none" lIns="0" rIns="0" tIns="0" bIns="0">
            <a:spAutoFit/>
          </a:bodyPr>
          <a:lstStyle/>
          <a:p>
            <a:r>
              <a:rPr sz="1050" b="0">
                <a:solidFill>
                  <a:srgbClr val="1F1F1F"/>
                </a:solidFill>
                <a:latin typeface="Calibri"/>
              </a:rPr>
              <a:t>CAGR between 2026 and 2036, against</a:t>
            </a:r>
          </a:p>
        </p:txBody>
      </p:sp>
      <p:pic>
        <p:nvPicPr>
          <p:cNvPr id="53" name="Picture 52" descr="lock.png"/>
          <p:cNvPicPr>
            <a:picLocks noChangeAspect="1"/>
          </p:cNvPicPr>
          <p:nvPr/>
        </p:nvPicPr>
        <p:blipFill>
          <a:blip r:embed="rId5"/>
          <a:stretch>
            <a:fillRect/>
          </a:stretch>
        </p:blipFill>
        <p:spPr>
          <a:xfrm>
            <a:off x="4719545" y="5841682"/>
            <a:ext cx="122849" cy="178689"/>
          </a:xfrm>
          <a:prstGeom prst="rect">
            <a:avLst/>
          </a:prstGeom>
        </p:spPr>
      </p:pic>
      <p:sp>
        <p:nvSpPr>
          <p:cNvPr id="54" name="TextBox 53"/>
          <p:cNvSpPr txBox="1"/>
          <p:nvPr/>
        </p:nvSpPr>
        <p:spPr>
          <a:xfrm>
            <a:off x="4879428" y="5851016"/>
            <a:ext cx="1250565" cy="179069"/>
          </a:xfrm>
          <a:prstGeom prst="rect">
            <a:avLst/>
          </a:prstGeom>
          <a:noFill/>
        </p:spPr>
        <p:txBody>
          <a:bodyPr wrap="none" lIns="0" rIns="0" tIns="0" bIns="0">
            <a:spAutoFit/>
          </a:bodyPr>
          <a:lstStyle/>
          <a:p>
            <a:r>
              <a:rPr sz="1050" b="0">
                <a:solidFill>
                  <a:srgbClr val="1F1F1F"/>
                </a:solidFill>
                <a:latin typeface="Calibri"/>
              </a:rPr>
              <a:t>for Global as a whole.</a:t>
            </a:r>
          </a:p>
        </p:txBody>
      </p:sp>
      <p:sp>
        <p:nvSpPr>
          <p:cNvPr id="55" name="TextBox 54"/>
          <p:cNvSpPr txBox="1"/>
          <p:nvPr/>
        </p:nvSpPr>
        <p:spPr>
          <a:xfrm>
            <a:off x="8658225" y="5530976"/>
            <a:ext cx="3011462" cy="179069"/>
          </a:xfrm>
          <a:prstGeom prst="rect">
            <a:avLst/>
          </a:prstGeom>
          <a:noFill/>
        </p:spPr>
        <p:txBody>
          <a:bodyPr wrap="none" lIns="0" rIns="0" tIns="0" bIns="0">
            <a:spAutoFit/>
          </a:bodyPr>
          <a:lstStyle/>
          <a:p>
            <a:r>
              <a:rPr sz="1050" b="0">
                <a:solidFill>
                  <a:srgbClr val="1F1F1F"/>
                </a:solidFill>
                <a:latin typeface="Calibri"/>
              </a:rPr>
              <a:t>South Asia &amp; Pacific shows the widest gap between its</a:t>
            </a:r>
          </a:p>
        </p:txBody>
      </p:sp>
      <p:sp>
        <p:nvSpPr>
          <p:cNvPr id="56" name="TextBox 55"/>
          <p:cNvSpPr txBox="1"/>
          <p:nvPr/>
        </p:nvSpPr>
        <p:spPr>
          <a:xfrm>
            <a:off x="8658225" y="5690996"/>
            <a:ext cx="2544216" cy="179069"/>
          </a:xfrm>
          <a:prstGeom prst="rect">
            <a:avLst/>
          </a:prstGeom>
          <a:noFill/>
        </p:spPr>
        <p:txBody>
          <a:bodyPr wrap="none" lIns="0" rIns="0" tIns="0" bIns="0">
            <a:spAutoFit/>
          </a:bodyPr>
          <a:lstStyle/>
          <a:p>
            <a:r>
              <a:rPr sz="1050" b="0">
                <a:solidFill>
                  <a:srgbClr val="1F1F1F"/>
                </a:solidFill>
                <a:latin typeface="Calibri"/>
              </a:rPr>
              <a:t>cheapest and most expensive product type at</a:t>
            </a:r>
          </a:p>
        </p:txBody>
      </p:sp>
      <p:pic>
        <p:nvPicPr>
          <p:cNvPr id="57" name="Picture 56" descr="lock.png"/>
          <p:cNvPicPr>
            <a:picLocks noChangeAspect="1"/>
          </p:cNvPicPr>
          <p:nvPr/>
        </p:nvPicPr>
        <p:blipFill>
          <a:blip r:embed="rId5"/>
          <a:stretch>
            <a:fillRect/>
          </a:stretch>
        </p:blipFill>
        <p:spPr>
          <a:xfrm>
            <a:off x="11149391" y="5681662"/>
            <a:ext cx="122849" cy="178689"/>
          </a:xfrm>
          <a:prstGeom prst="rect">
            <a:avLst/>
          </a:prstGeom>
        </p:spPr>
      </p:pic>
      <p:sp>
        <p:nvSpPr>
          <p:cNvPr id="58" name="TextBox 57"/>
          <p:cNvSpPr txBox="1"/>
          <p:nvPr/>
        </p:nvSpPr>
        <p:spPr>
          <a:xfrm>
            <a:off x="11309273" y="5690996"/>
            <a:ext cx="262160" cy="179069"/>
          </a:xfrm>
          <a:prstGeom prst="rect">
            <a:avLst/>
          </a:prstGeom>
          <a:noFill/>
        </p:spPr>
        <p:txBody>
          <a:bodyPr wrap="none" lIns="0" rIns="0" tIns="0" bIns="0">
            <a:spAutoFit/>
          </a:bodyPr>
          <a:lstStyle/>
          <a:p>
            <a:r>
              <a:rPr sz="1050" b="0">
                <a:solidFill>
                  <a:srgbClr val="1F1F1F"/>
                </a:solidFill>
                <a:latin typeface="Calibri"/>
              </a:rPr>
              <a:t>, so</a:t>
            </a:r>
          </a:p>
        </p:txBody>
      </p:sp>
      <p:sp>
        <p:nvSpPr>
          <p:cNvPr id="59" name="TextBox 58"/>
          <p:cNvSpPr txBox="1"/>
          <p:nvPr/>
        </p:nvSpPr>
        <p:spPr>
          <a:xfrm>
            <a:off x="8658225" y="5851016"/>
            <a:ext cx="2851807" cy="179069"/>
          </a:xfrm>
          <a:prstGeom prst="rect">
            <a:avLst/>
          </a:prstGeom>
          <a:noFill/>
        </p:spPr>
        <p:txBody>
          <a:bodyPr wrap="none" lIns="0" rIns="0" tIns="0" bIns="0">
            <a:spAutoFit/>
          </a:bodyPr>
          <a:lstStyle/>
          <a:p>
            <a:r>
              <a:rPr sz="1050" b="0">
                <a:solidFill>
                  <a:srgbClr val="1F1F1F"/>
                </a:solidFill>
                <a:latin typeface="Calibri"/>
              </a:rPr>
              <a:t>product mix shifts move its average price the most.</a:t>
            </a:r>
          </a:p>
        </p:txBody>
      </p:sp>
      <p:pic>
        <p:nvPicPr>
          <p:cNvPr id="60" name="Picture 59" descr="lock.png"/>
          <p:cNvPicPr>
            <a:picLocks noChangeAspect="1"/>
          </p:cNvPicPr>
          <p:nvPr/>
        </p:nvPicPr>
        <p:blipFill>
          <a:blip r:embed="rId5"/>
          <a:stretch>
            <a:fillRect/>
          </a:stretch>
        </p:blipFill>
        <p:spPr>
          <a:xfrm>
            <a:off x="3952821" y="3129375"/>
            <a:ext cx="482444" cy="701737"/>
          </a:xfrm>
          <a:prstGeom prst="rect">
            <a:avLst/>
          </a:prstGeom>
        </p:spPr>
      </p:pic>
      <p:sp>
        <p:nvSpPr>
          <p:cNvPr id="61" name="lockshield_13"/>
          <p:cNvSpPr/>
          <p:nvPr/>
        </p:nvSpPr>
        <p:spPr>
          <a:xfrm>
            <a:off x="347472" y="2014347"/>
            <a:ext cx="7406640" cy="301752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Price Positioning &amp; Key Findings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positioning of each region on a common axis with FMI's key findings on where premiums and discounts sit</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Average selling price and price range by region on a shared price scale (US$/Units).</a:t>
            </a:r>
          </a:p>
        </p:txBody>
      </p:sp>
      <p:sp>
        <p:nvSpPr>
          <p:cNvPr id="11" name="Rounded Rectangle 10"/>
          <p:cNvSpPr/>
          <p:nvPr/>
        </p:nvSpPr>
        <p:spPr>
          <a:xfrm>
            <a:off x="142875" y="1317574"/>
            <a:ext cx="769620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&amp; Range by Region</a:t>
            </a:r>
          </a:p>
        </p:txBody>
      </p:sp>
      <p:cxnSp>
        <p:nvCxnSpPr>
          <p:cNvPr id="13" name="Connector 12"/>
          <p:cNvCxnSpPr/>
          <p:nvPr/>
        </p:nvCxnSpPr>
        <p:spPr>
          <a:xfrm>
            <a:off x="136207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4" name="TextBox 13"/>
          <p:cNvSpPr txBox="1"/>
          <p:nvPr/>
        </p:nvSpPr>
        <p:spPr>
          <a:xfrm>
            <a:off x="1114425" y="6289685"/>
            <a:ext cx="495300" cy="114300"/>
          </a:xfrm>
          <a:prstGeom prst="rect">
            <a:avLst/>
          </a:prstGeom>
          <a:noFill/>
        </p:spPr>
        <p:txBody>
          <a:bodyPr wrap="none" lIns="0" rIns="0" tIns="0" bIns="0">
            <a:spAutoFit/>
          </a:bodyPr>
          <a:lstStyle/>
          <a:p>
            <a:pPr algn="ctr"/>
            <a:r>
              <a:rPr sz="1100" b="0">
                <a:solidFill>
                  <a:srgbClr val="6C7A89"/>
                </a:solidFill>
                <a:latin typeface="Calibri"/>
              </a:rPr>
              <a:t>98</a:t>
            </a:r>
          </a:p>
        </p:txBody>
      </p:sp>
      <p:cxnSp>
        <p:nvCxnSpPr>
          <p:cNvPr id="15" name="Connector 14"/>
          <p:cNvCxnSpPr/>
          <p:nvPr/>
        </p:nvCxnSpPr>
        <p:spPr>
          <a:xfrm>
            <a:off x="261175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2364105" y="6289685"/>
            <a:ext cx="495300" cy="114300"/>
          </a:xfrm>
          <a:prstGeom prst="rect">
            <a:avLst/>
          </a:prstGeom>
          <a:noFill/>
        </p:spPr>
        <p:txBody>
          <a:bodyPr wrap="none" lIns="0" rIns="0" tIns="0" bIns="0">
            <a:spAutoFit/>
          </a:bodyPr>
          <a:lstStyle/>
          <a:p>
            <a:pPr algn="ctr"/>
            <a:r>
              <a:rPr sz="1100" b="0">
                <a:solidFill>
                  <a:srgbClr val="6C7A89"/>
                </a:solidFill>
                <a:latin typeface="Calibri"/>
              </a:rPr>
              <a:t>200</a:t>
            </a:r>
          </a:p>
        </p:txBody>
      </p:sp>
      <p:cxnSp>
        <p:nvCxnSpPr>
          <p:cNvPr id="17" name="Connector 16"/>
          <p:cNvCxnSpPr/>
          <p:nvPr/>
        </p:nvCxnSpPr>
        <p:spPr>
          <a:xfrm>
            <a:off x="386143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3613785" y="6289685"/>
            <a:ext cx="495300" cy="114300"/>
          </a:xfrm>
          <a:prstGeom prst="rect">
            <a:avLst/>
          </a:prstGeom>
          <a:noFill/>
        </p:spPr>
        <p:txBody>
          <a:bodyPr wrap="none" lIns="0" rIns="0" tIns="0" bIns="0">
            <a:spAutoFit/>
          </a:bodyPr>
          <a:lstStyle/>
          <a:p>
            <a:pPr algn="ctr"/>
            <a:r>
              <a:rPr sz="1100" b="0">
                <a:solidFill>
                  <a:srgbClr val="6C7A89"/>
                </a:solidFill>
                <a:latin typeface="Calibri"/>
              </a:rPr>
              <a:t>303</a:t>
            </a:r>
          </a:p>
        </p:txBody>
      </p:sp>
      <p:cxnSp>
        <p:nvCxnSpPr>
          <p:cNvPr id="19" name="Connector 18"/>
          <p:cNvCxnSpPr/>
          <p:nvPr/>
        </p:nvCxnSpPr>
        <p:spPr>
          <a:xfrm>
            <a:off x="511111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0" name="TextBox 19"/>
          <p:cNvSpPr txBox="1"/>
          <p:nvPr/>
        </p:nvSpPr>
        <p:spPr>
          <a:xfrm>
            <a:off x="4863465" y="6289685"/>
            <a:ext cx="495300" cy="114300"/>
          </a:xfrm>
          <a:prstGeom prst="rect">
            <a:avLst/>
          </a:prstGeom>
          <a:noFill/>
        </p:spPr>
        <p:txBody>
          <a:bodyPr wrap="none" lIns="0" rIns="0" tIns="0" bIns="0">
            <a:spAutoFit/>
          </a:bodyPr>
          <a:lstStyle/>
          <a:p>
            <a:pPr algn="ctr"/>
            <a:r>
              <a:rPr sz="1100" b="0">
                <a:solidFill>
                  <a:srgbClr val="6C7A89"/>
                </a:solidFill>
                <a:latin typeface="Calibri"/>
              </a:rPr>
              <a:t>405</a:t>
            </a:r>
          </a:p>
        </p:txBody>
      </p:sp>
      <p:cxnSp>
        <p:nvCxnSpPr>
          <p:cNvPr id="21" name="Connector 20"/>
          <p:cNvCxnSpPr/>
          <p:nvPr/>
        </p:nvCxnSpPr>
        <p:spPr>
          <a:xfrm>
            <a:off x="636079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2" name="TextBox 21"/>
          <p:cNvSpPr txBox="1"/>
          <p:nvPr/>
        </p:nvSpPr>
        <p:spPr>
          <a:xfrm>
            <a:off x="6113145" y="6289685"/>
            <a:ext cx="495300" cy="114300"/>
          </a:xfrm>
          <a:prstGeom prst="rect">
            <a:avLst/>
          </a:prstGeom>
          <a:noFill/>
        </p:spPr>
        <p:txBody>
          <a:bodyPr wrap="none" lIns="0" rIns="0" tIns="0" bIns="0">
            <a:spAutoFit/>
          </a:bodyPr>
          <a:lstStyle/>
          <a:p>
            <a:pPr algn="ctr"/>
            <a:r>
              <a:rPr sz="1100" b="0">
                <a:solidFill>
                  <a:srgbClr val="6C7A89"/>
                </a:solidFill>
                <a:latin typeface="Calibri"/>
              </a:rPr>
              <a:t>508</a:t>
            </a:r>
          </a:p>
        </p:txBody>
      </p:sp>
      <p:cxnSp>
        <p:nvCxnSpPr>
          <p:cNvPr id="23" name="Connector 22"/>
          <p:cNvCxnSpPr/>
          <p:nvPr/>
        </p:nvCxnSpPr>
        <p:spPr>
          <a:xfrm>
            <a:off x="761047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4" name="TextBox 23"/>
          <p:cNvSpPr txBox="1"/>
          <p:nvPr/>
        </p:nvSpPr>
        <p:spPr>
          <a:xfrm>
            <a:off x="7362825" y="6289685"/>
            <a:ext cx="495300" cy="114300"/>
          </a:xfrm>
          <a:prstGeom prst="rect">
            <a:avLst/>
          </a:prstGeom>
          <a:noFill/>
        </p:spPr>
        <p:txBody>
          <a:bodyPr wrap="none" lIns="0" rIns="0" tIns="0" bIns="0">
            <a:spAutoFit/>
          </a:bodyPr>
          <a:lstStyle/>
          <a:p>
            <a:pPr algn="ctr"/>
            <a:r>
              <a:rPr sz="1100" b="0">
                <a:solidFill>
                  <a:srgbClr val="6C7A89"/>
                </a:solidFill>
                <a:latin typeface="Calibri"/>
              </a:rPr>
              <a:t>611</a:t>
            </a:r>
          </a:p>
        </p:txBody>
      </p:sp>
      <p:sp>
        <p:nvSpPr>
          <p:cNvPr id="25" name="TextBox 24"/>
          <p:cNvSpPr txBox="1"/>
          <p:nvPr/>
        </p:nvSpPr>
        <p:spPr>
          <a:xfrm>
            <a:off x="238125" y="2203404"/>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North America</a:t>
            </a:r>
          </a:p>
        </p:txBody>
      </p:sp>
      <p:sp>
        <p:nvSpPr>
          <p:cNvPr id="26" name="Rectangle 25"/>
          <p:cNvSpPr/>
          <p:nvPr/>
        </p:nvSpPr>
        <p:spPr>
          <a:xfrm>
            <a:off x="4290624" y="2100912"/>
            <a:ext cx="2636432"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Oval 26"/>
          <p:cNvSpPr/>
          <p:nvPr/>
        </p:nvSpPr>
        <p:spPr>
          <a:xfrm>
            <a:off x="5499300" y="222721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38125" y="2927314"/>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Latin America</a:t>
            </a:r>
          </a:p>
        </p:txBody>
      </p:sp>
      <p:sp>
        <p:nvSpPr>
          <p:cNvPr id="29" name="Rectangle 28"/>
          <p:cNvSpPr/>
          <p:nvPr/>
        </p:nvSpPr>
        <p:spPr>
          <a:xfrm>
            <a:off x="3031268" y="2824823"/>
            <a:ext cx="1825798"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3845303" y="295112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 y="3651224"/>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Europe</a:t>
            </a:r>
          </a:p>
        </p:txBody>
      </p:sp>
      <p:sp>
        <p:nvSpPr>
          <p:cNvPr id="32" name="Rectangle 31"/>
          <p:cNvSpPr/>
          <p:nvPr/>
        </p:nvSpPr>
        <p:spPr>
          <a:xfrm>
            <a:off x="3853333" y="3548733"/>
            <a:ext cx="2327569"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Oval 32"/>
          <p:cNvSpPr/>
          <p:nvPr/>
        </p:nvSpPr>
        <p:spPr>
          <a:xfrm>
            <a:off x="4905225" y="367503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238125" y="4375135"/>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East Asia</a:t>
            </a:r>
          </a:p>
        </p:txBody>
      </p:sp>
      <p:sp>
        <p:nvSpPr>
          <p:cNvPr id="35" name="Rectangle 34"/>
          <p:cNvSpPr/>
          <p:nvPr/>
        </p:nvSpPr>
        <p:spPr>
          <a:xfrm>
            <a:off x="2315539" y="4272643"/>
            <a:ext cx="1344562"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Oval 35"/>
          <p:cNvSpPr/>
          <p:nvPr/>
        </p:nvSpPr>
        <p:spPr>
          <a:xfrm>
            <a:off x="2902677" y="439894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38125" y="5099045"/>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South Asia &amp; Pacific</a:t>
            </a:r>
          </a:p>
        </p:txBody>
      </p:sp>
      <p:sp>
        <p:nvSpPr>
          <p:cNvPr id="38" name="Rectangle 37"/>
          <p:cNvSpPr/>
          <p:nvPr/>
        </p:nvSpPr>
        <p:spPr>
          <a:xfrm>
            <a:off x="2045494" y="4996553"/>
            <a:ext cx="1201700"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2561093" y="512285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38125" y="5822955"/>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Middle East &amp; Africa</a:t>
            </a:r>
          </a:p>
        </p:txBody>
      </p:sp>
      <p:sp>
        <p:nvSpPr>
          <p:cNvPr id="41" name="Rectangle 40"/>
          <p:cNvSpPr/>
          <p:nvPr/>
        </p:nvSpPr>
        <p:spPr>
          <a:xfrm>
            <a:off x="2944744" y="5720463"/>
            <a:ext cx="1757200"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Oval 41"/>
          <p:cNvSpPr/>
          <p:nvPr/>
        </p:nvSpPr>
        <p:spPr>
          <a:xfrm>
            <a:off x="3726726" y="5846768"/>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Oval 42"/>
          <p:cNvSpPr/>
          <p:nvPr/>
        </p:nvSpPr>
        <p:spPr>
          <a:xfrm>
            <a:off x="1362075" y="1727149"/>
            <a:ext cx="114300" cy="114300"/>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1495425" y="1717624"/>
            <a:ext cx="838200" cy="133350"/>
          </a:xfrm>
          <a:prstGeom prst="rect">
            <a:avLst/>
          </a:prstGeom>
          <a:noFill/>
        </p:spPr>
        <p:txBody>
          <a:bodyPr wrap="square" lIns="28575" rIns="28575" tIns="9525" bIns="9525">
            <a:spAutoFit/>
          </a:bodyPr>
          <a:lstStyle/>
          <a:p>
            <a:pPr algn="l"/>
            <a:r>
              <a:rPr sz="1100" b="0">
                <a:solidFill>
                  <a:srgbClr val="2E2E2E"/>
                </a:solidFill>
                <a:latin typeface="Calibri"/>
              </a:rPr>
              <a:t>Average Price</a:t>
            </a:r>
          </a:p>
        </p:txBody>
      </p:sp>
      <p:sp>
        <p:nvSpPr>
          <p:cNvPr id="45" name="Rectangle 44"/>
          <p:cNvSpPr/>
          <p:nvPr/>
        </p:nvSpPr>
        <p:spPr>
          <a:xfrm>
            <a:off x="2390775" y="1736674"/>
            <a:ext cx="190500" cy="114300"/>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2619375" y="1717624"/>
            <a:ext cx="800100" cy="133350"/>
          </a:xfrm>
          <a:prstGeom prst="rect">
            <a:avLst/>
          </a:prstGeom>
          <a:noFill/>
        </p:spPr>
        <p:txBody>
          <a:bodyPr wrap="square" lIns="28575" rIns="28575" tIns="9525" bIns="9525">
            <a:spAutoFit/>
          </a:bodyPr>
          <a:lstStyle/>
          <a:p>
            <a:pPr algn="l"/>
            <a:r>
              <a:rPr sz="1100" b="0">
                <a:solidFill>
                  <a:srgbClr val="2E2E2E"/>
                </a:solidFill>
                <a:latin typeface="Calibri"/>
              </a:rPr>
              <a:t>Price Range</a:t>
            </a:r>
          </a:p>
        </p:txBody>
      </p:sp>
      <p:sp>
        <p:nvSpPr>
          <p:cNvPr id="47" name="Rounded Rectangle 46"/>
          <p:cNvSpPr/>
          <p:nvPr/>
        </p:nvSpPr>
        <p:spPr>
          <a:xfrm>
            <a:off x="7915275" y="1317574"/>
            <a:ext cx="4133850" cy="3924545"/>
          </a:xfrm>
          <a:prstGeom prst="roundRect">
            <a:avLst>
              <a:gd name="adj" fmla="val 194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8048625" y="1403299"/>
            <a:ext cx="38671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49" name="Rectangle 48"/>
          <p:cNvSpPr/>
          <p:nvPr/>
        </p:nvSpPr>
        <p:spPr>
          <a:xfrm>
            <a:off x="8048625" y="1641424"/>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048625" y="1727149"/>
            <a:ext cx="3867150" cy="343877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51" name="Rounded Rectangle 50"/>
          <p:cNvSpPr/>
          <p:nvPr/>
        </p:nvSpPr>
        <p:spPr>
          <a:xfrm>
            <a:off x="7915275" y="5351641"/>
            <a:ext cx="4133850" cy="1204744"/>
          </a:xfrm>
          <a:prstGeom prst="roundRect">
            <a:avLst>
              <a:gd name="adj" fmla="val 6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Note: the above information is indicative in nature and does not constitute any form of analysis.</a:t>
            </a:r>
          </a:p>
        </p:txBody>
      </p:sp>
      <p:sp>
        <p:nvSpPr>
          <p:cNvPr id="52" name="TextBox 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53" name="TextBox 52"/>
          <p:cNvSpPr txBox="1"/>
          <p:nvPr/>
        </p:nvSpPr>
        <p:spPr>
          <a:xfrm>
            <a:off x="8048625" y="1736673"/>
            <a:ext cx="3781933" cy="194310"/>
          </a:xfrm>
          <a:prstGeom prst="rect">
            <a:avLst/>
          </a:prstGeom>
          <a:noFill/>
        </p:spPr>
        <p:txBody>
          <a:bodyPr wrap="none" lIns="0" rIns="0" tIns="0" bIns="0">
            <a:spAutoFit/>
          </a:bodyPr>
          <a:lstStyle/>
          <a:p>
            <a:r>
              <a:rPr sz="1150" b="0">
                <a:solidFill>
                  <a:srgbClr val="2E2E2E"/>
                </a:solidFill>
                <a:latin typeface="Calibri"/>
              </a:rPr>
              <a:t>Flexible partial dentures segment is expected to command the</a:t>
            </a:r>
          </a:p>
        </p:txBody>
      </p:sp>
      <p:sp>
        <p:nvSpPr>
          <p:cNvPr id="54" name="TextBox 53"/>
          <p:cNvSpPr txBox="1"/>
          <p:nvPr/>
        </p:nvSpPr>
        <p:spPr>
          <a:xfrm>
            <a:off x="8048625" y="1911934"/>
            <a:ext cx="1766899" cy="194310"/>
          </a:xfrm>
          <a:prstGeom prst="rect">
            <a:avLst/>
          </a:prstGeom>
          <a:noFill/>
        </p:spPr>
        <p:txBody>
          <a:bodyPr wrap="none" lIns="0" rIns="0" tIns="0" bIns="0">
            <a:spAutoFit/>
          </a:bodyPr>
          <a:lstStyle/>
          <a:p>
            <a:r>
              <a:rPr sz="1150" b="0">
                <a:solidFill>
                  <a:srgbClr val="2E2E2E"/>
                </a:solidFill>
                <a:latin typeface="Calibri"/>
              </a:rPr>
              <a:t>highest average price of US$</a:t>
            </a:r>
          </a:p>
        </p:txBody>
      </p:sp>
      <p:pic>
        <p:nvPicPr>
          <p:cNvPr id="55" name="Picture 54" descr="lock.png"/>
          <p:cNvPicPr>
            <a:picLocks noChangeAspect="1"/>
          </p:cNvPicPr>
          <p:nvPr/>
        </p:nvPicPr>
        <p:blipFill>
          <a:blip r:embed="rId4"/>
          <a:stretch>
            <a:fillRect/>
          </a:stretch>
        </p:blipFill>
        <p:spPr>
          <a:xfrm>
            <a:off x="9764678" y="1901710"/>
            <a:ext cx="134549" cy="195707"/>
          </a:xfrm>
          <a:prstGeom prst="rect">
            <a:avLst/>
          </a:prstGeom>
        </p:spPr>
      </p:pic>
      <p:sp>
        <p:nvSpPr>
          <p:cNvPr id="56" name="TextBox 55"/>
          <p:cNvSpPr txBox="1"/>
          <p:nvPr/>
        </p:nvSpPr>
        <p:spPr>
          <a:xfrm>
            <a:off x="9939788" y="1911934"/>
            <a:ext cx="1591713" cy="194310"/>
          </a:xfrm>
          <a:prstGeom prst="rect">
            <a:avLst/>
          </a:prstGeom>
          <a:noFill/>
        </p:spPr>
        <p:txBody>
          <a:bodyPr wrap="none" lIns="0" rIns="0" tIns="0" bIns="0">
            <a:spAutoFit/>
          </a:bodyPr>
          <a:lstStyle/>
          <a:p>
            <a:r>
              <a:rPr sz="1150" b="0">
                <a:solidFill>
                  <a:srgbClr val="2E2E2E"/>
                </a:solidFill>
                <a:latin typeface="Calibri"/>
              </a:rPr>
              <a:t>per Unit in 2036. Average</a:t>
            </a:r>
          </a:p>
        </p:txBody>
      </p:sp>
      <p:sp>
        <p:nvSpPr>
          <p:cNvPr id="57" name="TextBox 56"/>
          <p:cNvSpPr txBox="1"/>
          <p:nvPr/>
        </p:nvSpPr>
        <p:spPr>
          <a:xfrm>
            <a:off x="8048625" y="2087194"/>
            <a:ext cx="3763391" cy="194310"/>
          </a:xfrm>
          <a:prstGeom prst="rect">
            <a:avLst/>
          </a:prstGeom>
          <a:noFill/>
        </p:spPr>
        <p:txBody>
          <a:bodyPr wrap="none" lIns="0" rIns="0" tIns="0" bIns="0">
            <a:spAutoFit/>
          </a:bodyPr>
          <a:lstStyle/>
          <a:p>
            <a:r>
              <a:rPr sz="1150" b="0">
                <a:solidFill>
                  <a:srgbClr val="2E2E2E"/>
                </a:solidFill>
                <a:latin typeface="Calibri"/>
              </a:rPr>
              <a:t>selling price of removable partial dentures is estimated at US$</a:t>
            </a:r>
          </a:p>
        </p:txBody>
      </p:sp>
      <p:pic>
        <p:nvPicPr>
          <p:cNvPr id="58" name="Picture 57" descr="lock.png"/>
          <p:cNvPicPr>
            <a:picLocks noChangeAspect="1"/>
          </p:cNvPicPr>
          <p:nvPr/>
        </p:nvPicPr>
        <p:blipFill>
          <a:blip r:embed="rId4"/>
          <a:stretch>
            <a:fillRect/>
          </a:stretch>
        </p:blipFill>
        <p:spPr>
          <a:xfrm>
            <a:off x="8034545" y="2252230"/>
            <a:ext cx="134549" cy="195707"/>
          </a:xfrm>
          <a:prstGeom prst="rect">
            <a:avLst/>
          </a:prstGeom>
        </p:spPr>
      </p:pic>
      <p:sp>
        <p:nvSpPr>
          <p:cNvPr id="59" name="TextBox 58"/>
          <p:cNvSpPr txBox="1"/>
          <p:nvPr/>
        </p:nvSpPr>
        <p:spPr>
          <a:xfrm>
            <a:off x="8209654" y="2262454"/>
            <a:ext cx="3138115" cy="194310"/>
          </a:xfrm>
          <a:prstGeom prst="rect">
            <a:avLst/>
          </a:prstGeom>
          <a:noFill/>
        </p:spPr>
        <p:txBody>
          <a:bodyPr wrap="none" lIns="0" rIns="0" tIns="0" bIns="0">
            <a:spAutoFit/>
          </a:bodyPr>
          <a:lstStyle/>
          <a:p>
            <a:r>
              <a:rPr sz="1150" b="0">
                <a:solidFill>
                  <a:srgbClr val="2E2E2E"/>
                </a:solidFill>
                <a:latin typeface="Calibri"/>
              </a:rPr>
              <a:t>per Unit in 2025 and is projected to increase to US$</a:t>
            </a:r>
          </a:p>
        </p:txBody>
      </p:sp>
      <p:pic>
        <p:nvPicPr>
          <p:cNvPr id="60" name="Picture 59" descr="lock.png"/>
          <p:cNvPicPr>
            <a:picLocks noChangeAspect="1"/>
          </p:cNvPicPr>
          <p:nvPr/>
        </p:nvPicPr>
        <p:blipFill>
          <a:blip r:embed="rId4"/>
          <a:stretch>
            <a:fillRect/>
          </a:stretch>
        </p:blipFill>
        <p:spPr>
          <a:xfrm>
            <a:off x="11296924" y="2252230"/>
            <a:ext cx="134549" cy="195707"/>
          </a:xfrm>
          <a:prstGeom prst="rect">
            <a:avLst/>
          </a:prstGeom>
        </p:spPr>
      </p:pic>
      <p:sp>
        <p:nvSpPr>
          <p:cNvPr id="61" name="TextBox 60"/>
          <p:cNvSpPr txBox="1"/>
          <p:nvPr/>
        </p:nvSpPr>
        <p:spPr>
          <a:xfrm>
            <a:off x="8048625" y="2437714"/>
            <a:ext cx="1105681" cy="194310"/>
          </a:xfrm>
          <a:prstGeom prst="rect">
            <a:avLst/>
          </a:prstGeom>
          <a:noFill/>
        </p:spPr>
        <p:txBody>
          <a:bodyPr wrap="none" lIns="0" rIns="0" tIns="0" bIns="0">
            <a:spAutoFit/>
          </a:bodyPr>
          <a:lstStyle/>
          <a:p>
            <a:r>
              <a:rPr sz="1150" b="0">
                <a:solidFill>
                  <a:srgbClr val="2E2E2E"/>
                </a:solidFill>
                <a:latin typeface="Calibri"/>
              </a:rPr>
              <a:t>per Unit by 2036.</a:t>
            </a:r>
          </a:p>
        </p:txBody>
      </p:sp>
      <p:sp>
        <p:nvSpPr>
          <p:cNvPr id="62" name="TextBox 61"/>
          <p:cNvSpPr txBox="1"/>
          <p:nvPr/>
        </p:nvSpPr>
        <p:spPr>
          <a:xfrm>
            <a:off x="8048625" y="2665551"/>
            <a:ext cx="3783074" cy="194310"/>
          </a:xfrm>
          <a:prstGeom prst="rect">
            <a:avLst/>
          </a:prstGeom>
          <a:noFill/>
        </p:spPr>
        <p:txBody>
          <a:bodyPr wrap="none" lIns="0" rIns="0" tIns="0" bIns="0">
            <a:spAutoFit/>
          </a:bodyPr>
          <a:lstStyle/>
          <a:p>
            <a:r>
              <a:rPr sz="1150" b="0">
                <a:solidFill>
                  <a:srgbClr val="2E2E2E"/>
                </a:solidFill>
                <a:latin typeface="Calibri"/>
              </a:rPr>
              <a:t>North America is the highest-priced region, while South Asia &amp;</a:t>
            </a:r>
          </a:p>
        </p:txBody>
      </p:sp>
      <p:sp>
        <p:nvSpPr>
          <p:cNvPr id="63" name="TextBox 62"/>
          <p:cNvSpPr txBox="1"/>
          <p:nvPr/>
        </p:nvSpPr>
        <p:spPr>
          <a:xfrm>
            <a:off x="8048625" y="2840811"/>
            <a:ext cx="3787353" cy="194310"/>
          </a:xfrm>
          <a:prstGeom prst="rect">
            <a:avLst/>
          </a:prstGeom>
          <a:noFill/>
        </p:spPr>
        <p:txBody>
          <a:bodyPr wrap="none" lIns="0" rIns="0" tIns="0" bIns="0">
            <a:spAutoFit/>
          </a:bodyPr>
          <a:lstStyle/>
          <a:p>
            <a:r>
              <a:rPr sz="1150" b="0">
                <a:solidFill>
                  <a:srgbClr val="2E2E2E"/>
                </a:solidFill>
                <a:latin typeface="Calibri"/>
              </a:rPr>
              <a:t>Pacific is the most price-competitive market. The orange dot is</a:t>
            </a:r>
          </a:p>
        </p:txBody>
      </p:sp>
      <p:sp>
        <p:nvSpPr>
          <p:cNvPr id="64" name="TextBox 63"/>
          <p:cNvSpPr txBox="1"/>
          <p:nvPr/>
        </p:nvSpPr>
        <p:spPr>
          <a:xfrm>
            <a:off x="8048625" y="3016071"/>
            <a:ext cx="3517503" cy="194310"/>
          </a:xfrm>
          <a:prstGeom prst="rect">
            <a:avLst/>
          </a:prstGeom>
          <a:noFill/>
        </p:spPr>
        <p:txBody>
          <a:bodyPr wrap="none" lIns="0" rIns="0" tIns="0" bIns="0">
            <a:spAutoFit/>
          </a:bodyPr>
          <a:lstStyle/>
          <a:p>
            <a:r>
              <a:rPr sz="1150" b="0">
                <a:solidFill>
                  <a:srgbClr val="2E2E2E"/>
                </a:solidFill>
                <a:latin typeface="Calibri"/>
              </a:rPr>
              <a:t>each region's average selling price; the blue band is its full</a:t>
            </a:r>
          </a:p>
        </p:txBody>
      </p:sp>
      <p:sp>
        <p:nvSpPr>
          <p:cNvPr id="65" name="TextBox 64"/>
          <p:cNvSpPr txBox="1"/>
          <p:nvPr/>
        </p:nvSpPr>
        <p:spPr>
          <a:xfrm>
            <a:off x="8048625" y="3191331"/>
            <a:ext cx="3318395" cy="194310"/>
          </a:xfrm>
          <a:prstGeom prst="rect">
            <a:avLst/>
          </a:prstGeom>
          <a:noFill/>
        </p:spPr>
        <p:txBody>
          <a:bodyPr wrap="none" lIns="0" rIns="0" tIns="0" bIns="0">
            <a:spAutoFit/>
          </a:bodyPr>
          <a:lstStyle/>
          <a:p>
            <a:r>
              <a:rPr sz="1150" b="0">
                <a:solidFill>
                  <a:srgbClr val="2E2E2E"/>
                </a:solidFill>
                <a:latin typeface="Calibri"/>
              </a:rPr>
              <a:t>low-to-high price range, all derived as Value ÷ Volume.</a:t>
            </a:r>
          </a:p>
        </p:txBody>
      </p:sp>
      <p:sp>
        <p:nvSpPr>
          <p:cNvPr id="66" name="TextBox 65"/>
          <p:cNvSpPr txBox="1"/>
          <p:nvPr/>
        </p:nvSpPr>
        <p:spPr>
          <a:xfrm>
            <a:off x="8048625" y="3419169"/>
            <a:ext cx="3691793" cy="194310"/>
          </a:xfrm>
          <a:prstGeom prst="rect">
            <a:avLst/>
          </a:prstGeom>
          <a:noFill/>
        </p:spPr>
        <p:txBody>
          <a:bodyPr wrap="none" lIns="0" rIns="0" tIns="0" bIns="0">
            <a:spAutoFit/>
          </a:bodyPr>
          <a:lstStyle/>
          <a:p>
            <a:r>
              <a:rPr sz="1150" b="0">
                <a:solidFill>
                  <a:srgbClr val="2E2E2E"/>
                </a:solidFill>
                <a:latin typeface="Calibri"/>
              </a:rPr>
              <a:t>Narrow bands point to commoditised, price-led competition;</a:t>
            </a:r>
          </a:p>
        </p:txBody>
      </p:sp>
      <p:sp>
        <p:nvSpPr>
          <p:cNvPr id="67" name="TextBox 66"/>
          <p:cNvSpPr txBox="1"/>
          <p:nvPr/>
        </p:nvSpPr>
        <p:spPr>
          <a:xfrm>
            <a:off x="8048625" y="3594429"/>
            <a:ext cx="3812170" cy="194310"/>
          </a:xfrm>
          <a:prstGeom prst="rect">
            <a:avLst/>
          </a:prstGeom>
          <a:noFill/>
        </p:spPr>
        <p:txBody>
          <a:bodyPr wrap="none" lIns="0" rIns="0" tIns="0" bIns="0">
            <a:spAutoFit/>
          </a:bodyPr>
          <a:lstStyle/>
          <a:p>
            <a:r>
              <a:rPr sz="1150" b="0">
                <a:solidFill>
                  <a:srgbClr val="2E2E2E"/>
                </a:solidFill>
                <a:latin typeface="Calibri"/>
              </a:rPr>
              <a:t>wider bands flag premiumisation headroom to trade buyers up</a:t>
            </a:r>
          </a:p>
        </p:txBody>
      </p:sp>
      <p:sp>
        <p:nvSpPr>
          <p:cNvPr id="68" name="TextBox 67"/>
          <p:cNvSpPr txBox="1"/>
          <p:nvPr/>
        </p:nvSpPr>
        <p:spPr>
          <a:xfrm>
            <a:off x="8048625" y="3769689"/>
            <a:ext cx="558279" cy="194310"/>
          </a:xfrm>
          <a:prstGeom prst="rect">
            <a:avLst/>
          </a:prstGeom>
          <a:noFill/>
        </p:spPr>
        <p:txBody>
          <a:bodyPr wrap="none" lIns="0" rIns="0" tIns="0" bIns="0">
            <a:spAutoFit/>
          </a:bodyPr>
          <a:lstStyle/>
          <a:p>
            <a:r>
              <a:rPr sz="1150" b="0">
                <a:solidFill>
                  <a:srgbClr val="2E2E2E"/>
                </a:solidFill>
                <a:latin typeface="Calibri"/>
              </a:rPr>
              <a:t>the mix.</a:t>
            </a:r>
          </a:p>
        </p:txBody>
      </p:sp>
    </p:spTree>
  </p:cSld>
  <p:clrMapOvr>
    <a:masterClrMapping/>
  </p:clrMapOvr>
</p:sld>
</file>

<file path=ppt/slides/slide2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Key Pricing Drivers Influencing Removable Partial Dentures Market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input costs, market conditions and competitive forces shaping pricing strategies and profitability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Analysis of input costs, market conditions, and competitive forces shaping pricing strategies and profitability across the value chain</a:t>
            </a:r>
          </a:p>
        </p:txBody>
      </p:sp>
      <p:sp>
        <p:nvSpPr>
          <p:cNvPr id="12" name="Rounded Rectangle 11"/>
          <p:cNvSpPr/>
          <p:nvPr/>
        </p:nvSpPr>
        <p:spPr>
          <a:xfrm>
            <a:off x="142875" y="1354081"/>
            <a:ext cx="6934200" cy="5220558"/>
          </a:xfrm>
          <a:prstGeom prst="roundRect">
            <a:avLst>
              <a:gd name="adj" fmla="val 14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38125" y="1411231"/>
            <a:ext cx="6743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Impacting Factors</a:t>
            </a:r>
          </a:p>
        </p:txBody>
      </p:sp>
      <p:sp>
        <p:nvSpPr>
          <p:cNvPr id="14" name="Freeform 13"/>
          <p:cNvSpPr/>
          <p:nvPr/>
        </p:nvSpPr>
        <p:spPr>
          <a:xfrm>
            <a:off x="3248025" y="3705225"/>
            <a:ext cx="723900" cy="752475"/>
          </a:xfrm>
          <a:custGeom>
            <a:avLst/>
            <a:gdLst/>
            <a:ahLst/>
            <a:cxnLst/>
            <a:rect l="l" t="t" r="r" b="b"/>
            <a:pathLst>
              <a:path w="76" h="79">
                <a:moveTo>
                  <a:pt x="38" y="0"/>
                </a:moveTo>
                <a:lnTo>
                  <a:pt x="61" y="7"/>
                </a:lnTo>
                <a:lnTo>
                  <a:pt x="76" y="27"/>
                </a:lnTo>
                <a:lnTo>
                  <a:pt x="76" y="51"/>
                </a:lnTo>
                <a:lnTo>
                  <a:pt x="61" y="71"/>
                </a:lnTo>
                <a:lnTo>
                  <a:pt x="38" y="79"/>
                </a:lnTo>
                <a:lnTo>
                  <a:pt x="15" y="71"/>
                </a:lnTo>
                <a:lnTo>
                  <a:pt x="0" y="51"/>
                </a:lnTo>
                <a:lnTo>
                  <a:pt x="0" y="27"/>
                </a:lnTo>
                <a:lnTo>
                  <a:pt x="15" y="7"/>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Freeform 14"/>
          <p:cNvSpPr/>
          <p:nvPr/>
        </p:nvSpPr>
        <p:spPr>
          <a:xfrm>
            <a:off x="2895600" y="3324225"/>
            <a:ext cx="1428750" cy="1504950"/>
          </a:xfrm>
          <a:custGeom>
            <a:avLst/>
            <a:gdLst/>
            <a:ahLst/>
            <a:cxnLst/>
            <a:rect l="l" t="t" r="r" b="b"/>
            <a:pathLst>
              <a:path w="150" h="158">
                <a:moveTo>
                  <a:pt x="75" y="0"/>
                </a:moveTo>
                <a:lnTo>
                  <a:pt x="122" y="15"/>
                </a:lnTo>
                <a:lnTo>
                  <a:pt x="150" y="55"/>
                </a:lnTo>
                <a:lnTo>
                  <a:pt x="150" y="104"/>
                </a:lnTo>
                <a:lnTo>
                  <a:pt x="122" y="143"/>
                </a:lnTo>
                <a:lnTo>
                  <a:pt x="75" y="158"/>
                </a:lnTo>
                <a:lnTo>
                  <a:pt x="28" y="143"/>
                </a:lnTo>
                <a:lnTo>
                  <a:pt x="0" y="104"/>
                </a:lnTo>
                <a:lnTo>
                  <a:pt x="0" y="55"/>
                </a:lnTo>
                <a:lnTo>
                  <a:pt x="28" y="15"/>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Freeform 15"/>
          <p:cNvSpPr/>
          <p:nvPr/>
        </p:nvSpPr>
        <p:spPr>
          <a:xfrm>
            <a:off x="2533650" y="2943225"/>
            <a:ext cx="2152650" cy="2266950"/>
          </a:xfrm>
          <a:custGeom>
            <a:avLst/>
            <a:gdLst/>
            <a:ahLst/>
            <a:cxnLst/>
            <a:rect l="l" t="t" r="r" b="b"/>
            <a:pathLst>
              <a:path w="226" h="238">
                <a:moveTo>
                  <a:pt x="113" y="0"/>
                </a:moveTo>
                <a:lnTo>
                  <a:pt x="183" y="23"/>
                </a:lnTo>
                <a:lnTo>
                  <a:pt x="226" y="82"/>
                </a:lnTo>
                <a:lnTo>
                  <a:pt x="226" y="156"/>
                </a:lnTo>
                <a:lnTo>
                  <a:pt x="183" y="215"/>
                </a:lnTo>
                <a:lnTo>
                  <a:pt x="113" y="238"/>
                </a:lnTo>
                <a:lnTo>
                  <a:pt x="43" y="215"/>
                </a:lnTo>
                <a:lnTo>
                  <a:pt x="0" y="156"/>
                </a:lnTo>
                <a:lnTo>
                  <a:pt x="0" y="82"/>
                </a:lnTo>
                <a:lnTo>
                  <a:pt x="43" y="23"/>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Freeform 16"/>
          <p:cNvSpPr/>
          <p:nvPr/>
        </p:nvSpPr>
        <p:spPr>
          <a:xfrm>
            <a:off x="2171700" y="2571750"/>
            <a:ext cx="2876550" cy="3019425"/>
          </a:xfrm>
          <a:custGeom>
            <a:avLst/>
            <a:gdLst/>
            <a:ahLst/>
            <a:cxnLst/>
            <a:rect l="l" t="t" r="r" b="b"/>
            <a:pathLst>
              <a:path w="302" h="317">
                <a:moveTo>
                  <a:pt x="151" y="0"/>
                </a:moveTo>
                <a:lnTo>
                  <a:pt x="244" y="30"/>
                </a:lnTo>
                <a:lnTo>
                  <a:pt x="302" y="109"/>
                </a:lnTo>
                <a:lnTo>
                  <a:pt x="302" y="207"/>
                </a:lnTo>
                <a:lnTo>
                  <a:pt x="244" y="286"/>
                </a:lnTo>
                <a:lnTo>
                  <a:pt x="151" y="317"/>
                </a:lnTo>
                <a:lnTo>
                  <a:pt x="58" y="286"/>
                </a:lnTo>
                <a:lnTo>
                  <a:pt x="0" y="207"/>
                </a:lnTo>
                <a:lnTo>
                  <a:pt x="0" y="109"/>
                </a:lnTo>
                <a:lnTo>
                  <a:pt x="58" y="30"/>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Freeform 17"/>
          <p:cNvSpPr/>
          <p:nvPr/>
        </p:nvSpPr>
        <p:spPr>
          <a:xfrm>
            <a:off x="1819275" y="2190750"/>
            <a:ext cx="3581400" cy="3771900"/>
          </a:xfrm>
          <a:custGeom>
            <a:avLst/>
            <a:gdLst/>
            <a:ahLst/>
            <a:cxnLst/>
            <a:rect l="l" t="t" r="r" b="b"/>
            <a:pathLst>
              <a:path w="376" h="396">
                <a:moveTo>
                  <a:pt x="188" y="0"/>
                </a:moveTo>
                <a:lnTo>
                  <a:pt x="304" y="38"/>
                </a:lnTo>
                <a:lnTo>
                  <a:pt x="376" y="137"/>
                </a:lnTo>
                <a:lnTo>
                  <a:pt x="376" y="259"/>
                </a:lnTo>
                <a:lnTo>
                  <a:pt x="304" y="358"/>
                </a:lnTo>
                <a:lnTo>
                  <a:pt x="188" y="396"/>
                </a:lnTo>
                <a:lnTo>
                  <a:pt x="72" y="358"/>
                </a:lnTo>
                <a:lnTo>
                  <a:pt x="0" y="259"/>
                </a:lnTo>
                <a:lnTo>
                  <a:pt x="0" y="137"/>
                </a:lnTo>
                <a:lnTo>
                  <a:pt x="72" y="38"/>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9" name="Connector 18"/>
          <p:cNvCxnSpPr/>
          <p:nvPr/>
        </p:nvCxnSpPr>
        <p:spPr>
          <a:xfrm flipV="1">
            <a:off x="3609975" y="2192281"/>
            <a:ext cx="0" cy="1886379"/>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flipV="1">
            <a:off x="3609975" y="2552548"/>
            <a:ext cx="1108786" cy="1526112"/>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flipV="1">
            <a:off x="3609975" y="3495737"/>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3609975" y="4078660"/>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3609975" y="4078660"/>
            <a:ext cx="1108786" cy="152611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3609975" y="4078660"/>
            <a:ext cx="0" cy="1886379"/>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flipH="1">
            <a:off x="2501189" y="4078660"/>
            <a:ext cx="1108786" cy="152611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flipH="1">
            <a:off x="1815922" y="4078660"/>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flipH="1" flipV="1">
            <a:off x="1815922" y="3495737"/>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flipH="1" flipV="1">
            <a:off x="2501189" y="2552548"/>
            <a:ext cx="1108786" cy="1526112"/>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29" name="Freeform 28"/>
          <p:cNvSpPr/>
          <p:nvPr/>
        </p:nvSpPr>
        <p:spPr>
          <a:xfrm>
            <a:off x="2447925" y="2381250"/>
            <a:ext cx="2505075" cy="3209925"/>
          </a:xfrm>
          <a:custGeom>
            <a:avLst/>
            <a:gdLst/>
            <a:ahLst/>
            <a:cxnLst/>
            <a:rect l="l" t="t" r="r" b="b"/>
            <a:pathLst>
              <a:path w="263" h="337">
                <a:moveTo>
                  <a:pt x="122" y="0"/>
                </a:moveTo>
                <a:lnTo>
                  <a:pt x="203" y="66"/>
                </a:lnTo>
                <a:lnTo>
                  <a:pt x="244" y="138"/>
                </a:lnTo>
                <a:lnTo>
                  <a:pt x="263" y="224"/>
                </a:lnTo>
                <a:lnTo>
                  <a:pt x="221" y="314"/>
                </a:lnTo>
                <a:lnTo>
                  <a:pt x="122" y="337"/>
                </a:lnTo>
                <a:lnTo>
                  <a:pt x="52" y="274"/>
                </a:lnTo>
                <a:lnTo>
                  <a:pt x="18" y="212"/>
                </a:lnTo>
                <a:lnTo>
                  <a:pt x="0" y="138"/>
                </a:lnTo>
                <a:lnTo>
                  <a:pt x="70" y="106"/>
                </a:lnTo>
                <a:close/>
              </a:path>
            </a:pathLst>
          </a:custGeom>
          <a:solidFill>
            <a:srgbClr val="2B5F8E">
              <a:alpha val="62000"/>
            </a:srgbClr>
          </a:solidFill>
          <a:ln w="27940">
            <a:solidFill>
              <a:srgbClr val="2B5F8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3576638" y="2347582"/>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4352787" y="2977044"/>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Oval 31"/>
          <p:cNvSpPr/>
          <p:nvPr/>
        </p:nvSpPr>
        <p:spPr>
          <a:xfrm>
            <a:off x="4742772" y="3666423"/>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Oval 32"/>
          <p:cNvSpPr/>
          <p:nvPr/>
        </p:nvSpPr>
        <p:spPr>
          <a:xfrm>
            <a:off x="4922177" y="4482515"/>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Oval 33"/>
          <p:cNvSpPr/>
          <p:nvPr/>
        </p:nvSpPr>
        <p:spPr>
          <a:xfrm>
            <a:off x="4519105" y="5342518"/>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Oval 34"/>
          <p:cNvSpPr/>
          <p:nvPr/>
        </p:nvSpPr>
        <p:spPr>
          <a:xfrm>
            <a:off x="3576638" y="5554426"/>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Oval 35"/>
          <p:cNvSpPr/>
          <p:nvPr/>
        </p:nvSpPr>
        <p:spPr>
          <a:xfrm>
            <a:off x="2911366" y="4960990"/>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Oval 36"/>
          <p:cNvSpPr/>
          <p:nvPr/>
        </p:nvSpPr>
        <p:spPr>
          <a:xfrm>
            <a:off x="2589908" y="4365930"/>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Oval 37"/>
          <p:cNvSpPr/>
          <p:nvPr/>
        </p:nvSpPr>
        <p:spPr>
          <a:xfrm>
            <a:off x="2410503" y="3666423"/>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3077684" y="3358572"/>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3638550" y="3634709"/>
            <a:ext cx="285750" cy="123825"/>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41" name="TextBox 40"/>
          <p:cNvSpPr txBox="1"/>
          <p:nvPr/>
        </p:nvSpPr>
        <p:spPr>
          <a:xfrm>
            <a:off x="3638550" y="3257434"/>
            <a:ext cx="285750" cy="123825"/>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42" name="TextBox 41"/>
          <p:cNvSpPr txBox="1"/>
          <p:nvPr/>
        </p:nvSpPr>
        <p:spPr>
          <a:xfrm>
            <a:off x="3638550" y="2880158"/>
            <a:ext cx="285750" cy="123825"/>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43" name="TextBox 42"/>
          <p:cNvSpPr txBox="1"/>
          <p:nvPr/>
        </p:nvSpPr>
        <p:spPr>
          <a:xfrm>
            <a:off x="3638550" y="2502882"/>
            <a:ext cx="285750" cy="123825"/>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44" name="TextBox 43"/>
          <p:cNvSpPr txBox="1"/>
          <p:nvPr/>
        </p:nvSpPr>
        <p:spPr>
          <a:xfrm>
            <a:off x="3638550" y="2125606"/>
            <a:ext cx="285750" cy="123825"/>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45" name="TextBox 44"/>
          <p:cNvSpPr txBox="1"/>
          <p:nvPr/>
        </p:nvSpPr>
        <p:spPr>
          <a:xfrm>
            <a:off x="2952750" y="1839856"/>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46" name="TextBox 45"/>
          <p:cNvSpPr txBox="1"/>
          <p:nvPr/>
        </p:nvSpPr>
        <p:spPr>
          <a:xfrm>
            <a:off x="4184706" y="224014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47" name="TextBox 46"/>
          <p:cNvSpPr txBox="1"/>
          <p:nvPr/>
        </p:nvSpPr>
        <p:spPr>
          <a:xfrm>
            <a:off x="4946097" y="3288108"/>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48" name="TextBox 47"/>
          <p:cNvSpPr txBox="1"/>
          <p:nvPr/>
        </p:nvSpPr>
        <p:spPr>
          <a:xfrm>
            <a:off x="4946097" y="458346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49" name="TextBox 48"/>
          <p:cNvSpPr txBox="1"/>
          <p:nvPr/>
        </p:nvSpPr>
        <p:spPr>
          <a:xfrm>
            <a:off x="4184706" y="5631427"/>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50" name="TextBox 49"/>
          <p:cNvSpPr txBox="1"/>
          <p:nvPr/>
        </p:nvSpPr>
        <p:spPr>
          <a:xfrm>
            <a:off x="2952750" y="6031714"/>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51" name="TextBox 50"/>
          <p:cNvSpPr txBox="1"/>
          <p:nvPr/>
        </p:nvSpPr>
        <p:spPr>
          <a:xfrm>
            <a:off x="1720794" y="5631427"/>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52" name="TextBox 51"/>
          <p:cNvSpPr txBox="1"/>
          <p:nvPr/>
        </p:nvSpPr>
        <p:spPr>
          <a:xfrm>
            <a:off x="959403" y="458346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53" name="TextBox 52"/>
          <p:cNvSpPr txBox="1"/>
          <p:nvPr/>
        </p:nvSpPr>
        <p:spPr>
          <a:xfrm>
            <a:off x="959403" y="3288108"/>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54" name="TextBox 53"/>
          <p:cNvSpPr txBox="1"/>
          <p:nvPr/>
        </p:nvSpPr>
        <p:spPr>
          <a:xfrm>
            <a:off x="1720794" y="224014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55" name="Rounded Rectangle 54"/>
          <p:cNvSpPr/>
          <p:nvPr/>
        </p:nvSpPr>
        <p:spPr>
          <a:xfrm>
            <a:off x="7153275" y="1354081"/>
            <a:ext cx="4895850" cy="3393718"/>
          </a:xfrm>
          <a:prstGeom prst="roundRect">
            <a:avLst>
              <a:gd name="adj" fmla="val 22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7286625" y="1439806"/>
            <a:ext cx="4629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57" name="Rectangle 56"/>
          <p:cNvSpPr/>
          <p:nvPr/>
        </p:nvSpPr>
        <p:spPr>
          <a:xfrm>
            <a:off x="7286625" y="1677931"/>
            <a:ext cx="4629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7286625" y="1763656"/>
            <a:ext cx="4629150" cy="2907943"/>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Pricing across the Removable Partial Dentures Market is shaped by a mix of input costs, operational efficiency and market dynamics with raw-material and input costs carrying the single heaviest weight on selling prices today.</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Raw-material and input costs and demand and broader market conditions are the dominant cost pressures; as they fluctuate they feed directly into prices and squeeze margins along the value chain.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Competitive intensity and supply-chain and logistics conditions are the next most influential forces helping offset cost inflation and setting how aggressively players can price without ceding share.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Demand strength, competitive intensity and supply-chain reliability together define the ceiling on pricing power across the Removable Partial Dentures Market.</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Regulatory, currency and brand factors add second-order effects while aftermarket and service costs exert the least pressure collectively creating a pricing balance that must be monitored to stay competitive and profitable.</a:t>
            </a:r>
          </a:p>
        </p:txBody>
      </p:sp>
      <p:sp>
        <p:nvSpPr>
          <p:cNvPr id="59" name="Rounded Rectangle 58"/>
          <p:cNvSpPr/>
          <p:nvPr/>
        </p:nvSpPr>
        <p:spPr>
          <a:xfrm>
            <a:off x="7153275" y="4857321"/>
            <a:ext cx="4895850" cy="1771650"/>
          </a:xfrm>
          <a:prstGeom prst="roundRect">
            <a:avLst>
              <a:gd name="adj" fmla="val 43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7286625" y="4943046"/>
            <a:ext cx="4629150" cy="209550"/>
          </a:xfrm>
          <a:prstGeom prst="rect">
            <a:avLst/>
          </a:prstGeom>
          <a:noFill/>
        </p:spPr>
        <p:txBody>
          <a:bodyPr wrap="square" lIns="0" rIns="19050" tIns="9525" bIns="9525">
            <a:spAutoFit/>
          </a:bodyPr>
          <a:lstStyle/>
          <a:p>
            <a:pPr algn="l"/>
            <a:r>
              <a:rPr sz="1300" b="1">
                <a:solidFill>
                  <a:srgbClr val="0B2E4A"/>
                </a:solidFill>
                <a:latin typeface="Calibri"/>
              </a:rPr>
              <a:t>Highest-Impact Drivers</a:t>
            </a:r>
          </a:p>
        </p:txBody>
      </p:sp>
      <p:sp>
        <p:nvSpPr>
          <p:cNvPr id="61" name="Rectangle 60"/>
          <p:cNvSpPr/>
          <p:nvPr/>
        </p:nvSpPr>
        <p:spPr>
          <a:xfrm>
            <a:off x="7286625" y="5181171"/>
            <a:ext cx="4629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7286625" y="5266896"/>
            <a:ext cx="4629150" cy="1285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4" name="TextBox 63"/>
          <p:cNvSpPr txBox="1"/>
          <p:nvPr/>
        </p:nvSpPr>
        <p:spPr>
          <a:xfrm>
            <a:off x="3241146" y="1898910"/>
            <a:ext cx="659829" cy="186689"/>
          </a:xfrm>
          <a:prstGeom prst="rect">
            <a:avLst/>
          </a:prstGeom>
          <a:noFill/>
        </p:spPr>
        <p:txBody>
          <a:bodyPr wrap="none" lIns="0" rIns="0" tIns="0" bIns="0">
            <a:spAutoFit/>
          </a:bodyPr>
          <a:lstStyle/>
          <a:p>
            <a:r>
              <a:rPr sz="1100" b="0">
                <a:solidFill>
                  <a:srgbClr val="2E2E2E"/>
                </a:solidFill>
                <a:latin typeface="Calibri"/>
              </a:rPr>
              <a:t>Input Cost</a:t>
            </a:r>
          </a:p>
        </p:txBody>
      </p:sp>
      <p:pic>
        <p:nvPicPr>
          <p:cNvPr id="65" name="Picture 64" descr="lock.png"/>
          <p:cNvPicPr>
            <a:picLocks noChangeAspect="1"/>
          </p:cNvPicPr>
          <p:nvPr/>
        </p:nvPicPr>
        <p:blipFill>
          <a:blip r:embed="rId4"/>
          <a:stretch>
            <a:fillRect/>
          </a:stretch>
        </p:blipFill>
        <p:spPr>
          <a:xfrm>
            <a:off x="3849027" y="1889132"/>
            <a:ext cx="128699" cy="187198"/>
          </a:xfrm>
          <a:prstGeom prst="rect">
            <a:avLst/>
          </a:prstGeom>
        </p:spPr>
      </p:pic>
      <p:sp>
        <p:nvSpPr>
          <p:cNvPr id="66" name="TextBox 65"/>
          <p:cNvSpPr txBox="1"/>
          <p:nvPr/>
        </p:nvSpPr>
        <p:spPr>
          <a:xfrm>
            <a:off x="4267058" y="2322667"/>
            <a:ext cx="1115044" cy="139750"/>
          </a:xfrm>
          <a:prstGeom prst="rect">
            <a:avLst/>
          </a:prstGeom>
          <a:noFill/>
        </p:spPr>
        <p:txBody>
          <a:bodyPr wrap="none" lIns="0" rIns="0" tIns="0" bIns="0">
            <a:spAutoFit/>
          </a:bodyPr>
          <a:lstStyle/>
          <a:p>
            <a:r>
              <a:rPr sz="791" b="0">
                <a:solidFill>
                  <a:srgbClr val="2E2E2E"/>
                </a:solidFill>
                <a:latin typeface="Calibri"/>
              </a:rPr>
              <a:t>Labor &amp; Production Costs</a:t>
            </a:r>
          </a:p>
        </p:txBody>
      </p:sp>
      <p:pic>
        <p:nvPicPr>
          <p:cNvPr id="67" name="Picture 66" descr="lock.png"/>
          <p:cNvPicPr>
            <a:picLocks noChangeAspect="1"/>
          </p:cNvPicPr>
          <p:nvPr/>
        </p:nvPicPr>
        <p:blipFill>
          <a:blip r:embed="rId4"/>
          <a:stretch>
            <a:fillRect/>
          </a:stretch>
        </p:blipFill>
        <p:spPr>
          <a:xfrm>
            <a:off x="5323363" y="2315626"/>
            <a:ext cx="92663" cy="134782"/>
          </a:xfrm>
          <a:prstGeom prst="rect">
            <a:avLst/>
          </a:prstGeom>
        </p:spPr>
      </p:pic>
      <p:sp>
        <p:nvSpPr>
          <p:cNvPr id="68" name="TextBox 67"/>
          <p:cNvSpPr txBox="1"/>
          <p:nvPr/>
        </p:nvSpPr>
        <p:spPr>
          <a:xfrm>
            <a:off x="5035718" y="3370632"/>
            <a:ext cx="1100506" cy="139750"/>
          </a:xfrm>
          <a:prstGeom prst="rect">
            <a:avLst/>
          </a:prstGeom>
          <a:noFill/>
        </p:spPr>
        <p:txBody>
          <a:bodyPr wrap="none" lIns="0" rIns="0" tIns="0" bIns="0">
            <a:spAutoFit/>
          </a:bodyPr>
          <a:lstStyle/>
          <a:p>
            <a:r>
              <a:rPr sz="791" b="0">
                <a:solidFill>
                  <a:srgbClr val="2E2E2E"/>
                </a:solidFill>
                <a:latin typeface="Calibri"/>
              </a:rPr>
              <a:t>Technology &amp; Innovation</a:t>
            </a:r>
          </a:p>
        </p:txBody>
      </p:sp>
      <p:pic>
        <p:nvPicPr>
          <p:cNvPr id="69" name="Picture 68" descr="lock.png"/>
          <p:cNvPicPr>
            <a:picLocks noChangeAspect="1"/>
          </p:cNvPicPr>
          <p:nvPr/>
        </p:nvPicPr>
        <p:blipFill>
          <a:blip r:embed="rId4"/>
          <a:stretch>
            <a:fillRect/>
          </a:stretch>
        </p:blipFill>
        <p:spPr>
          <a:xfrm>
            <a:off x="6077486" y="3363591"/>
            <a:ext cx="92663" cy="134782"/>
          </a:xfrm>
          <a:prstGeom prst="rect">
            <a:avLst/>
          </a:prstGeom>
        </p:spPr>
      </p:pic>
      <p:sp>
        <p:nvSpPr>
          <p:cNvPr id="70" name="TextBox 69"/>
          <p:cNvSpPr txBox="1"/>
          <p:nvPr/>
        </p:nvSpPr>
        <p:spPr>
          <a:xfrm>
            <a:off x="5024921" y="4662634"/>
            <a:ext cx="1115939" cy="146456"/>
          </a:xfrm>
          <a:prstGeom prst="rect">
            <a:avLst/>
          </a:prstGeom>
          <a:noFill/>
        </p:spPr>
        <p:txBody>
          <a:bodyPr wrap="none" lIns="0" rIns="0" tIns="0" bIns="0">
            <a:spAutoFit/>
          </a:bodyPr>
          <a:lstStyle/>
          <a:p>
            <a:r>
              <a:rPr sz="835" b="0">
                <a:solidFill>
                  <a:srgbClr val="2E2E2E"/>
                </a:solidFill>
                <a:latin typeface="Calibri"/>
              </a:rPr>
              <a:t>Supply Chain &amp; Logistics</a:t>
            </a:r>
          </a:p>
        </p:txBody>
      </p:sp>
      <p:pic>
        <p:nvPicPr>
          <p:cNvPr id="71" name="Picture 70" descr="lock.png"/>
          <p:cNvPicPr>
            <a:picLocks noChangeAspect="1"/>
          </p:cNvPicPr>
          <p:nvPr/>
        </p:nvPicPr>
        <p:blipFill>
          <a:blip r:embed="rId4"/>
          <a:stretch>
            <a:fillRect/>
          </a:stretch>
        </p:blipFill>
        <p:spPr>
          <a:xfrm>
            <a:off x="6083091" y="4655202"/>
            <a:ext cx="97811" cy="142270"/>
          </a:xfrm>
          <a:prstGeom prst="rect">
            <a:avLst/>
          </a:prstGeom>
        </p:spPr>
      </p:pic>
      <p:sp>
        <p:nvSpPr>
          <p:cNvPr id="72" name="TextBox 71"/>
          <p:cNvSpPr txBox="1"/>
          <p:nvPr/>
        </p:nvSpPr>
        <p:spPr>
          <a:xfrm>
            <a:off x="4232042" y="5653601"/>
            <a:ext cx="1238538" cy="139750"/>
          </a:xfrm>
          <a:prstGeom prst="rect">
            <a:avLst/>
          </a:prstGeom>
          <a:noFill/>
        </p:spPr>
        <p:txBody>
          <a:bodyPr wrap="none" lIns="0" rIns="0" tIns="0" bIns="0">
            <a:spAutoFit/>
          </a:bodyPr>
          <a:lstStyle/>
          <a:p>
            <a:r>
              <a:rPr sz="791" b="0">
                <a:solidFill>
                  <a:srgbClr val="2E2E2E"/>
                </a:solidFill>
                <a:latin typeface="Calibri"/>
              </a:rPr>
              <a:t>Demand &amp; Market Conditions</a:t>
            </a:r>
          </a:p>
        </p:txBody>
      </p:sp>
      <p:pic>
        <p:nvPicPr>
          <p:cNvPr id="73" name="Picture 72" descr="lock.png"/>
          <p:cNvPicPr>
            <a:picLocks noChangeAspect="1"/>
          </p:cNvPicPr>
          <p:nvPr/>
        </p:nvPicPr>
        <p:blipFill>
          <a:blip r:embed="rId4"/>
          <a:stretch>
            <a:fillRect/>
          </a:stretch>
        </p:blipFill>
        <p:spPr>
          <a:xfrm>
            <a:off x="4790363" y="5767261"/>
            <a:ext cx="92663" cy="134782"/>
          </a:xfrm>
          <a:prstGeom prst="rect">
            <a:avLst/>
          </a:prstGeom>
        </p:spPr>
      </p:pic>
      <p:sp>
        <p:nvSpPr>
          <p:cNvPr id="74" name="TextBox 73"/>
          <p:cNvSpPr txBox="1"/>
          <p:nvPr/>
        </p:nvSpPr>
        <p:spPr>
          <a:xfrm>
            <a:off x="3049408" y="6110885"/>
            <a:ext cx="1080271" cy="146456"/>
          </a:xfrm>
          <a:prstGeom prst="rect">
            <a:avLst/>
          </a:prstGeom>
          <a:noFill/>
        </p:spPr>
        <p:txBody>
          <a:bodyPr wrap="none" lIns="0" rIns="0" tIns="0" bIns="0">
            <a:spAutoFit/>
          </a:bodyPr>
          <a:lstStyle/>
          <a:p>
            <a:r>
              <a:rPr sz="835" b="0">
                <a:solidFill>
                  <a:srgbClr val="2E2E2E"/>
                </a:solidFill>
                <a:latin typeface="Calibri"/>
              </a:rPr>
              <a:t>Competitive Landscape</a:t>
            </a:r>
          </a:p>
        </p:txBody>
      </p:sp>
      <p:pic>
        <p:nvPicPr>
          <p:cNvPr id="75" name="Picture 74" descr="lock.png"/>
          <p:cNvPicPr>
            <a:picLocks noChangeAspect="1"/>
          </p:cNvPicPr>
          <p:nvPr/>
        </p:nvPicPr>
        <p:blipFill>
          <a:blip r:embed="rId4"/>
          <a:stretch>
            <a:fillRect/>
          </a:stretch>
        </p:blipFill>
        <p:spPr>
          <a:xfrm>
            <a:off x="4071911" y="6103453"/>
            <a:ext cx="97811" cy="142270"/>
          </a:xfrm>
          <a:prstGeom prst="rect">
            <a:avLst/>
          </a:prstGeom>
        </p:spPr>
      </p:pic>
      <p:sp>
        <p:nvSpPr>
          <p:cNvPr id="76" name="TextBox 75"/>
          <p:cNvSpPr txBox="1"/>
          <p:nvPr/>
        </p:nvSpPr>
        <p:spPr>
          <a:xfrm>
            <a:off x="1859088" y="5653601"/>
            <a:ext cx="1114061" cy="139750"/>
          </a:xfrm>
          <a:prstGeom prst="rect">
            <a:avLst/>
          </a:prstGeom>
          <a:noFill/>
        </p:spPr>
        <p:txBody>
          <a:bodyPr wrap="none" lIns="0" rIns="0" tIns="0" bIns="0">
            <a:spAutoFit/>
          </a:bodyPr>
          <a:lstStyle/>
          <a:p>
            <a:r>
              <a:rPr sz="791" b="0">
                <a:solidFill>
                  <a:srgbClr val="2E2E2E"/>
                </a:solidFill>
                <a:latin typeface="Calibri"/>
              </a:rPr>
              <a:t>Regulatory &amp; Compliance</a:t>
            </a:r>
          </a:p>
        </p:txBody>
      </p:sp>
      <p:sp>
        <p:nvSpPr>
          <p:cNvPr id="77" name="TextBox 76"/>
          <p:cNvSpPr txBox="1"/>
          <p:nvPr/>
        </p:nvSpPr>
        <p:spPr>
          <a:xfrm>
            <a:off x="2213046" y="5774302"/>
            <a:ext cx="295245" cy="139750"/>
          </a:xfrm>
          <a:prstGeom prst="rect">
            <a:avLst/>
          </a:prstGeom>
          <a:noFill/>
        </p:spPr>
        <p:txBody>
          <a:bodyPr wrap="none" lIns="0" rIns="0" tIns="0" bIns="0">
            <a:spAutoFit/>
          </a:bodyPr>
          <a:lstStyle/>
          <a:p>
            <a:r>
              <a:rPr sz="791" b="0">
                <a:solidFill>
                  <a:srgbClr val="2E2E2E"/>
                </a:solidFill>
                <a:latin typeface="Calibri"/>
              </a:rPr>
              <a:t>Costs</a:t>
            </a:r>
          </a:p>
        </p:txBody>
      </p:sp>
      <p:pic>
        <p:nvPicPr>
          <p:cNvPr id="78" name="Picture 77" descr="lock.png"/>
          <p:cNvPicPr>
            <a:picLocks noChangeAspect="1"/>
          </p:cNvPicPr>
          <p:nvPr/>
        </p:nvPicPr>
        <p:blipFill>
          <a:blip r:embed="rId4"/>
          <a:stretch>
            <a:fillRect/>
          </a:stretch>
        </p:blipFill>
        <p:spPr>
          <a:xfrm>
            <a:off x="2449552" y="5767261"/>
            <a:ext cx="92663" cy="134782"/>
          </a:xfrm>
          <a:prstGeom prst="rect">
            <a:avLst/>
          </a:prstGeom>
        </p:spPr>
      </p:pic>
      <p:sp>
        <p:nvSpPr>
          <p:cNvPr id="79" name="TextBox 78"/>
          <p:cNvSpPr txBox="1"/>
          <p:nvPr/>
        </p:nvSpPr>
        <p:spPr>
          <a:xfrm>
            <a:off x="1049566" y="4605637"/>
            <a:ext cx="1195711" cy="139750"/>
          </a:xfrm>
          <a:prstGeom prst="rect">
            <a:avLst/>
          </a:prstGeom>
          <a:noFill/>
        </p:spPr>
        <p:txBody>
          <a:bodyPr wrap="none" lIns="0" rIns="0" tIns="0" bIns="0">
            <a:spAutoFit/>
          </a:bodyPr>
          <a:lstStyle/>
          <a:p>
            <a:r>
              <a:rPr sz="791" b="0">
                <a:solidFill>
                  <a:srgbClr val="2E2E2E"/>
                </a:solidFill>
                <a:latin typeface="Calibri"/>
              </a:rPr>
              <a:t>Currency &amp; Trade Dynamics</a:t>
            </a:r>
          </a:p>
        </p:txBody>
      </p:sp>
      <p:pic>
        <p:nvPicPr>
          <p:cNvPr id="80" name="Picture 79" descr="lock.png"/>
          <p:cNvPicPr>
            <a:picLocks noChangeAspect="1"/>
          </p:cNvPicPr>
          <p:nvPr/>
        </p:nvPicPr>
        <p:blipFill>
          <a:blip r:embed="rId4"/>
          <a:stretch>
            <a:fillRect/>
          </a:stretch>
        </p:blipFill>
        <p:spPr>
          <a:xfrm>
            <a:off x="1565060" y="4719297"/>
            <a:ext cx="92663" cy="134782"/>
          </a:xfrm>
          <a:prstGeom prst="rect">
            <a:avLst/>
          </a:prstGeom>
        </p:spPr>
      </p:pic>
      <p:sp>
        <p:nvSpPr>
          <p:cNvPr id="81" name="TextBox 80"/>
          <p:cNvSpPr txBox="1"/>
          <p:nvPr/>
        </p:nvSpPr>
        <p:spPr>
          <a:xfrm>
            <a:off x="1032227" y="3370632"/>
            <a:ext cx="1134100" cy="139750"/>
          </a:xfrm>
          <a:prstGeom prst="rect">
            <a:avLst/>
          </a:prstGeom>
          <a:noFill/>
        </p:spPr>
        <p:txBody>
          <a:bodyPr wrap="none" lIns="0" rIns="0" tIns="0" bIns="0">
            <a:spAutoFit/>
          </a:bodyPr>
          <a:lstStyle/>
          <a:p>
            <a:r>
              <a:rPr sz="791" b="0">
                <a:solidFill>
                  <a:srgbClr val="2E2E2E"/>
                </a:solidFill>
                <a:latin typeface="Calibri"/>
              </a:rPr>
              <a:t>Brand &amp; Value Perception</a:t>
            </a:r>
          </a:p>
        </p:txBody>
      </p:sp>
      <p:pic>
        <p:nvPicPr>
          <p:cNvPr id="82" name="Picture 81" descr="lock.png"/>
          <p:cNvPicPr>
            <a:picLocks noChangeAspect="1"/>
          </p:cNvPicPr>
          <p:nvPr/>
        </p:nvPicPr>
        <p:blipFill>
          <a:blip r:embed="rId4"/>
          <a:stretch>
            <a:fillRect/>
          </a:stretch>
        </p:blipFill>
        <p:spPr>
          <a:xfrm>
            <a:off x="2107588" y="3363591"/>
            <a:ext cx="92663" cy="134782"/>
          </a:xfrm>
          <a:prstGeom prst="rect">
            <a:avLst/>
          </a:prstGeom>
        </p:spPr>
      </p:pic>
      <p:sp>
        <p:nvSpPr>
          <p:cNvPr id="83" name="TextBox 82"/>
          <p:cNvSpPr txBox="1"/>
          <p:nvPr/>
        </p:nvSpPr>
        <p:spPr>
          <a:xfrm>
            <a:off x="1803098" y="2262317"/>
            <a:ext cx="1203570" cy="139750"/>
          </a:xfrm>
          <a:prstGeom prst="rect">
            <a:avLst/>
          </a:prstGeom>
          <a:noFill/>
        </p:spPr>
        <p:txBody>
          <a:bodyPr wrap="none" lIns="0" rIns="0" tIns="0" bIns="0">
            <a:spAutoFit/>
          </a:bodyPr>
          <a:lstStyle/>
          <a:p>
            <a:r>
              <a:rPr sz="791" b="0">
                <a:solidFill>
                  <a:srgbClr val="2E2E2E"/>
                </a:solidFill>
                <a:latin typeface="Calibri"/>
              </a:rPr>
              <a:t>Aftermarket &amp; Service Costs</a:t>
            </a:r>
          </a:p>
        </p:txBody>
      </p:sp>
      <p:pic>
        <p:nvPicPr>
          <p:cNvPr id="84" name="Picture 83" descr="lock.png"/>
          <p:cNvPicPr>
            <a:picLocks noChangeAspect="1"/>
          </p:cNvPicPr>
          <p:nvPr/>
        </p:nvPicPr>
        <p:blipFill>
          <a:blip r:embed="rId4"/>
          <a:stretch>
            <a:fillRect/>
          </a:stretch>
        </p:blipFill>
        <p:spPr>
          <a:xfrm>
            <a:off x="2326451" y="2375977"/>
            <a:ext cx="92663" cy="134782"/>
          </a:xfrm>
          <a:prstGeom prst="rect">
            <a:avLst/>
          </a:prstGeom>
        </p:spPr>
      </p:pic>
      <p:sp>
        <p:nvSpPr>
          <p:cNvPr id="85" name="TextBox 84"/>
          <p:cNvSpPr txBox="1"/>
          <p:nvPr/>
        </p:nvSpPr>
        <p:spPr>
          <a:xfrm>
            <a:off x="7286625" y="5276421"/>
            <a:ext cx="740866" cy="186689"/>
          </a:xfrm>
          <a:prstGeom prst="rect">
            <a:avLst/>
          </a:prstGeom>
          <a:noFill/>
        </p:spPr>
        <p:txBody>
          <a:bodyPr wrap="none" lIns="0" rIns="0" tIns="0" bIns="0">
            <a:spAutoFit/>
          </a:bodyPr>
          <a:lstStyle/>
          <a:p>
            <a:r>
              <a:rPr sz="1100" b="0">
                <a:solidFill>
                  <a:srgbClr val="2E2E2E"/>
                </a:solidFill>
                <a:latin typeface="Calibri"/>
              </a:rPr>
              <a:t>▪ Input Cost</a:t>
            </a:r>
          </a:p>
        </p:txBody>
      </p:sp>
      <p:pic>
        <p:nvPicPr>
          <p:cNvPr id="86" name="Picture 85" descr="lock.png"/>
          <p:cNvPicPr>
            <a:picLocks noChangeAspect="1"/>
          </p:cNvPicPr>
          <p:nvPr/>
        </p:nvPicPr>
        <p:blipFill>
          <a:blip r:embed="rId4"/>
          <a:stretch>
            <a:fillRect/>
          </a:stretch>
        </p:blipFill>
        <p:spPr>
          <a:xfrm>
            <a:off x="7975543" y="5266641"/>
            <a:ext cx="128699" cy="187198"/>
          </a:xfrm>
          <a:prstGeom prst="rect">
            <a:avLst/>
          </a:prstGeom>
        </p:spPr>
      </p:pic>
      <p:sp>
        <p:nvSpPr>
          <p:cNvPr id="87" name="TextBox 86"/>
          <p:cNvSpPr txBox="1"/>
          <p:nvPr/>
        </p:nvSpPr>
        <p:spPr>
          <a:xfrm>
            <a:off x="8143038" y="5276421"/>
            <a:ext cx="1744141" cy="186689"/>
          </a:xfrm>
          <a:prstGeom prst="rect">
            <a:avLst/>
          </a:prstGeom>
          <a:noFill/>
        </p:spPr>
        <p:txBody>
          <a:bodyPr wrap="none" lIns="0" rIns="0" tIns="0" bIns="0">
            <a:spAutoFit/>
          </a:bodyPr>
          <a:lstStyle/>
          <a:p>
            <a:r>
              <a:rPr sz="1100" b="0">
                <a:solidFill>
                  <a:srgbClr val="2E2E2E"/>
                </a:solidFill>
                <a:latin typeface="Calibri"/>
              </a:rPr>
              <a:t>/ 10 · dominant cost pressure</a:t>
            </a:r>
          </a:p>
        </p:txBody>
      </p:sp>
      <p:sp>
        <p:nvSpPr>
          <p:cNvPr id="88" name="TextBox 87"/>
          <p:cNvSpPr txBox="1"/>
          <p:nvPr/>
        </p:nvSpPr>
        <p:spPr>
          <a:xfrm>
            <a:off x="7286625" y="5494353"/>
            <a:ext cx="1851372" cy="186689"/>
          </a:xfrm>
          <a:prstGeom prst="rect">
            <a:avLst/>
          </a:prstGeom>
          <a:noFill/>
        </p:spPr>
        <p:txBody>
          <a:bodyPr wrap="none" lIns="0" rIns="0" tIns="0" bIns="0">
            <a:spAutoFit/>
          </a:bodyPr>
          <a:lstStyle/>
          <a:p>
            <a:r>
              <a:rPr sz="1100" b="0">
                <a:solidFill>
                  <a:srgbClr val="2E2E2E"/>
                </a:solidFill>
                <a:latin typeface="Calibri"/>
              </a:rPr>
              <a:t>▪ Demand &amp; Market Conditions</a:t>
            </a:r>
          </a:p>
        </p:txBody>
      </p:sp>
      <p:pic>
        <p:nvPicPr>
          <p:cNvPr id="89" name="Picture 88" descr="lock.png"/>
          <p:cNvPicPr>
            <a:picLocks noChangeAspect="1"/>
          </p:cNvPicPr>
          <p:nvPr/>
        </p:nvPicPr>
        <p:blipFill>
          <a:blip r:embed="rId4"/>
          <a:stretch>
            <a:fillRect/>
          </a:stretch>
        </p:blipFill>
        <p:spPr>
          <a:xfrm>
            <a:off x="9086048" y="5484573"/>
            <a:ext cx="128699" cy="187198"/>
          </a:xfrm>
          <a:prstGeom prst="rect">
            <a:avLst/>
          </a:prstGeom>
        </p:spPr>
      </p:pic>
      <p:sp>
        <p:nvSpPr>
          <p:cNvPr id="90" name="TextBox 89"/>
          <p:cNvSpPr txBox="1"/>
          <p:nvPr/>
        </p:nvSpPr>
        <p:spPr>
          <a:xfrm>
            <a:off x="9253544" y="5494353"/>
            <a:ext cx="1527224" cy="186689"/>
          </a:xfrm>
          <a:prstGeom prst="rect">
            <a:avLst/>
          </a:prstGeom>
          <a:noFill/>
        </p:spPr>
        <p:txBody>
          <a:bodyPr wrap="none" lIns="0" rIns="0" tIns="0" bIns="0">
            <a:spAutoFit/>
          </a:bodyPr>
          <a:lstStyle/>
          <a:p>
            <a:r>
              <a:rPr sz="1100" b="0">
                <a:solidFill>
                  <a:srgbClr val="2E2E2E"/>
                </a:solidFill>
                <a:latin typeface="Calibri"/>
              </a:rPr>
              <a:t>/ 10 · major cost pressure</a:t>
            </a:r>
          </a:p>
        </p:txBody>
      </p:sp>
      <p:sp>
        <p:nvSpPr>
          <p:cNvPr id="91" name="TextBox 90"/>
          <p:cNvSpPr txBox="1"/>
          <p:nvPr/>
        </p:nvSpPr>
        <p:spPr>
          <a:xfrm>
            <a:off x="7286625" y="5712285"/>
            <a:ext cx="1478384" cy="186689"/>
          </a:xfrm>
          <a:prstGeom prst="rect">
            <a:avLst/>
          </a:prstGeom>
          <a:noFill/>
        </p:spPr>
        <p:txBody>
          <a:bodyPr wrap="none" lIns="0" rIns="0" tIns="0" bIns="0">
            <a:spAutoFit/>
          </a:bodyPr>
          <a:lstStyle/>
          <a:p>
            <a:r>
              <a:rPr sz="1100" b="0">
                <a:solidFill>
                  <a:srgbClr val="2E2E2E"/>
                </a:solidFill>
                <a:latin typeface="Calibri"/>
              </a:rPr>
              <a:t>▪ Competitive Landscape</a:t>
            </a:r>
          </a:p>
        </p:txBody>
      </p:sp>
      <p:pic>
        <p:nvPicPr>
          <p:cNvPr id="92" name="Picture 91" descr="lock.png"/>
          <p:cNvPicPr>
            <a:picLocks noChangeAspect="1"/>
          </p:cNvPicPr>
          <p:nvPr/>
        </p:nvPicPr>
        <p:blipFill>
          <a:blip r:embed="rId4"/>
          <a:stretch>
            <a:fillRect/>
          </a:stretch>
        </p:blipFill>
        <p:spPr>
          <a:xfrm>
            <a:off x="8713060" y="5702505"/>
            <a:ext cx="128699" cy="187198"/>
          </a:xfrm>
          <a:prstGeom prst="rect">
            <a:avLst/>
          </a:prstGeom>
        </p:spPr>
      </p:pic>
      <p:sp>
        <p:nvSpPr>
          <p:cNvPr id="93" name="TextBox 92"/>
          <p:cNvSpPr txBox="1"/>
          <p:nvPr/>
        </p:nvSpPr>
        <p:spPr>
          <a:xfrm>
            <a:off x="8880556" y="5712285"/>
            <a:ext cx="1330225" cy="186689"/>
          </a:xfrm>
          <a:prstGeom prst="rect">
            <a:avLst/>
          </a:prstGeom>
          <a:noFill/>
        </p:spPr>
        <p:txBody>
          <a:bodyPr wrap="none" lIns="0" rIns="0" tIns="0" bIns="0">
            <a:spAutoFit/>
          </a:bodyPr>
          <a:lstStyle/>
          <a:p>
            <a:r>
              <a:rPr sz="1100" b="0">
                <a:solidFill>
                  <a:srgbClr val="2E2E2E"/>
                </a:solidFill>
                <a:latin typeface="Calibri"/>
              </a:rPr>
              <a:t>/ 10 · key pricing lever</a:t>
            </a:r>
          </a:p>
        </p:txBody>
      </p:sp>
      <p:sp>
        <p:nvSpPr>
          <p:cNvPr id="94" name="TextBox 93"/>
          <p:cNvSpPr txBox="1"/>
          <p:nvPr/>
        </p:nvSpPr>
        <p:spPr>
          <a:xfrm>
            <a:off x="7286625" y="5930217"/>
            <a:ext cx="1525314" cy="186689"/>
          </a:xfrm>
          <a:prstGeom prst="rect">
            <a:avLst/>
          </a:prstGeom>
          <a:noFill/>
        </p:spPr>
        <p:txBody>
          <a:bodyPr wrap="none" lIns="0" rIns="0" tIns="0" bIns="0">
            <a:spAutoFit/>
          </a:bodyPr>
          <a:lstStyle/>
          <a:p>
            <a:r>
              <a:rPr sz="1100" b="0">
                <a:solidFill>
                  <a:srgbClr val="2E2E2E"/>
                </a:solidFill>
                <a:latin typeface="Calibri"/>
              </a:rPr>
              <a:t>▪ Supply Chain &amp; Logistics</a:t>
            </a:r>
          </a:p>
        </p:txBody>
      </p:sp>
      <p:pic>
        <p:nvPicPr>
          <p:cNvPr id="95" name="Picture 94" descr="lock.png"/>
          <p:cNvPicPr>
            <a:picLocks noChangeAspect="1"/>
          </p:cNvPicPr>
          <p:nvPr/>
        </p:nvPicPr>
        <p:blipFill>
          <a:blip r:embed="rId4"/>
          <a:stretch>
            <a:fillRect/>
          </a:stretch>
        </p:blipFill>
        <p:spPr>
          <a:xfrm>
            <a:off x="8759991" y="5920437"/>
            <a:ext cx="128699" cy="187198"/>
          </a:xfrm>
          <a:prstGeom prst="rect">
            <a:avLst/>
          </a:prstGeom>
        </p:spPr>
      </p:pic>
      <p:sp>
        <p:nvSpPr>
          <p:cNvPr id="96" name="TextBox 95"/>
          <p:cNvSpPr txBox="1"/>
          <p:nvPr/>
        </p:nvSpPr>
        <p:spPr>
          <a:xfrm>
            <a:off x="8927487" y="5930217"/>
            <a:ext cx="1330225" cy="186689"/>
          </a:xfrm>
          <a:prstGeom prst="rect">
            <a:avLst/>
          </a:prstGeom>
          <a:noFill/>
        </p:spPr>
        <p:txBody>
          <a:bodyPr wrap="none" lIns="0" rIns="0" tIns="0" bIns="0">
            <a:spAutoFit/>
          </a:bodyPr>
          <a:lstStyle/>
          <a:p>
            <a:r>
              <a:rPr sz="1100" b="0">
                <a:solidFill>
                  <a:srgbClr val="2E2E2E"/>
                </a:solidFill>
                <a:latin typeface="Calibri"/>
              </a:rPr>
              <a:t>/ 10 · key pricing lever</a:t>
            </a:r>
          </a:p>
        </p:txBody>
      </p:sp>
      <p:sp>
        <p:nvSpPr>
          <p:cNvPr id="97" name="TextBox 96"/>
          <p:cNvSpPr txBox="1"/>
          <p:nvPr/>
        </p:nvSpPr>
        <p:spPr>
          <a:xfrm>
            <a:off x="7286625" y="6148149"/>
            <a:ext cx="1600075" cy="186689"/>
          </a:xfrm>
          <a:prstGeom prst="rect">
            <a:avLst/>
          </a:prstGeom>
          <a:noFill/>
        </p:spPr>
        <p:txBody>
          <a:bodyPr wrap="none" lIns="0" rIns="0" tIns="0" bIns="0">
            <a:spAutoFit/>
          </a:bodyPr>
          <a:lstStyle/>
          <a:p>
            <a:r>
              <a:rPr sz="1100" b="0">
                <a:solidFill>
                  <a:srgbClr val="2E2E2E"/>
                </a:solidFill>
                <a:latin typeface="Calibri"/>
              </a:rPr>
              <a:t>▪ Labor &amp; Production Costs</a:t>
            </a:r>
          </a:p>
        </p:txBody>
      </p:sp>
      <p:pic>
        <p:nvPicPr>
          <p:cNvPr id="98" name="Picture 97" descr="lock.png"/>
          <p:cNvPicPr>
            <a:picLocks noChangeAspect="1"/>
          </p:cNvPicPr>
          <p:nvPr/>
        </p:nvPicPr>
        <p:blipFill>
          <a:blip r:embed="rId4"/>
          <a:stretch>
            <a:fillRect/>
          </a:stretch>
        </p:blipFill>
        <p:spPr>
          <a:xfrm>
            <a:off x="8834752" y="6138369"/>
            <a:ext cx="128699" cy="187198"/>
          </a:xfrm>
          <a:prstGeom prst="rect">
            <a:avLst/>
          </a:prstGeom>
        </p:spPr>
      </p:pic>
      <p:sp>
        <p:nvSpPr>
          <p:cNvPr id="99" name="TextBox 98"/>
          <p:cNvSpPr txBox="1"/>
          <p:nvPr/>
        </p:nvSpPr>
        <p:spPr>
          <a:xfrm>
            <a:off x="9002248" y="6148149"/>
            <a:ext cx="1387524" cy="186689"/>
          </a:xfrm>
          <a:prstGeom prst="rect">
            <a:avLst/>
          </a:prstGeom>
          <a:noFill/>
        </p:spPr>
        <p:txBody>
          <a:bodyPr wrap="none" lIns="0" rIns="0" tIns="0" bIns="0">
            <a:spAutoFit/>
          </a:bodyPr>
          <a:lstStyle/>
          <a:p>
            <a:r>
              <a:rPr sz="1100" b="0">
                <a:solidFill>
                  <a:srgbClr val="2E2E2E"/>
                </a:solidFill>
                <a:latin typeface="Calibri"/>
              </a:rPr>
              <a:t>/ 10 · supporting factor</a:t>
            </a:r>
          </a:p>
        </p:txBody>
      </p:sp>
    </p:spTree>
  </p:cSld>
  <p:clrMapOvr>
    <a:masterClrMapping/>
  </p:clrMapOvr>
</p:sld>
</file>

<file path=ppt/slides/slide2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Factors Impacting Pricing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Factors affecting the pricing decision of the product: category, price impact, direction of pressure and rationale</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cost, demand, efficiency and regulatory forces shaping and impacting achievable selling prices grouped by category, with each factor's direction, impact and score.</a:t>
            </a:r>
          </a:p>
        </p:txBody>
      </p:sp>
      <p:sp>
        <p:nvSpPr>
          <p:cNvPr id="11" name="Rounded Rectangle 10"/>
          <p:cNvSpPr/>
          <p:nvPr/>
        </p:nvSpPr>
        <p:spPr>
          <a:xfrm>
            <a:off x="142875" y="1314450"/>
            <a:ext cx="11906250" cy="3286125"/>
          </a:xfrm>
          <a:prstGeom prst="roundRect">
            <a:avLst>
              <a:gd name="adj" fmla="val 23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2" name="Table 11"/>
          <p:cNvGraphicFramePr>
            <a:graphicFrameLocks noGrp="1"/>
          </p:cNvGraphicFramePr>
          <p:nvPr/>
        </p:nvGraphicFramePr>
        <p:xfrm>
          <a:off x="152400" y="1390650"/>
          <a:ext cx="11887199" cy="2981326"/>
        </p:xfrm>
        <a:graphic>
          <a:graphicData uri="http://schemas.openxmlformats.org/drawingml/2006/table">
            <a:tbl>
              <a:tblPr>
                <a:tableStyleId>{5C22544A-7EE6-4342-B048-85BDC9FD1C3A}</a:tableStyleId>
              </a:tblPr>
              <a:tblGrid>
                <a:gridCol w="2561515"/>
                <a:gridCol w="2697613"/>
                <a:gridCol w="1098187"/>
                <a:gridCol w="1211368"/>
                <a:gridCol w="1098187"/>
                <a:gridCol w="3220329"/>
              </a:tblGrid>
              <a:tr h="246126">
                <a:tc>
                  <a:txBody>
                    <a:bodyPr wrap="none"/>
                    <a:lstStyle/>
                    <a:p>
                      <a:pPr algn="l"/>
                      <a:r>
                        <a:rPr sz="1100" b="1">
                          <a:solidFill>
                            <a:srgbClr val="0B2E4A"/>
                          </a:solidFill>
                          <a:latin typeface="Calibri"/>
                        </a:rPr>
                        <a:t>Factor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Category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Price Impact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Direction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Score (0–10)</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How It Shapes Price</a:t>
                      </a:r>
                      <a:endParaRPr sz="1100"/>
                    </a:p>
                  </a:txBody>
                  <a:tcPr marL="47625" marR="38100" marT="19050" marB="19050" anchor="ctr">
                    <a:solidFill>
                      <a:srgbClr val="E0E8EF"/>
                    </a:solidFill>
                  </a:tcPr>
                </a:tc>
              </a:tr>
              <a:tr h="273520">
                <a:tc>
                  <a:txBody>
                    <a:bodyPr wrap="none"/>
                    <a:lstStyle/>
                    <a:p>
                      <a:pPr algn="l"/>
                      <a:r>
                        <a:rPr sz="1100" b="1">
                          <a:solidFill>
                            <a:srgbClr val="2E2E2E"/>
                          </a:solidFill>
                          <a:latin typeface="Calibri"/>
                        </a:rPr>
                        <a:t>Input Cost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Cost &amp; Input Pressures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Raw-material and input costs.</a:t>
                      </a:r>
                      <a:endParaRPr sz="1100"/>
                    </a:p>
                  </a:txBody>
                  <a:tcPr marL="47625" marR="38100" marT="19050" marB="19050" anchor="ctr">
                    <a:solidFill>
                      <a:srgbClr val="FFFFFF"/>
                    </a:solidFill>
                  </a:tcPr>
                </a:tc>
              </a:tr>
              <a:tr h="273520">
                <a:tc>
                  <a:txBody>
                    <a:bodyPr wrap="none"/>
                    <a:lstStyle/>
                    <a:p>
                      <a:pPr algn="l"/>
                      <a:r>
                        <a:rPr sz="1100" b="1">
                          <a:solidFill>
                            <a:srgbClr val="2E2E2E"/>
                          </a:solidFill>
                          <a:latin typeface="Calibri"/>
                        </a:rPr>
                        <a:t>Labor &amp; Production Costs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Cost &amp; Input Pressures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Labour and production expenses.</a:t>
                      </a:r>
                      <a:endParaRPr sz="1100"/>
                    </a:p>
                  </a:txBody>
                  <a:tcPr marL="47625" marR="38100" marT="19050" marB="19050" anchor="ctr">
                    <a:solidFill>
                      <a:srgbClr val="F5F8FA"/>
                    </a:solidFill>
                  </a:tcPr>
                </a:tc>
              </a:tr>
              <a:tr h="273520">
                <a:tc>
                  <a:txBody>
                    <a:bodyPr wrap="none"/>
                    <a:lstStyle/>
                    <a:p>
                      <a:pPr algn="l"/>
                      <a:r>
                        <a:rPr sz="1100" b="1">
                          <a:solidFill>
                            <a:srgbClr val="2E2E2E"/>
                          </a:solidFill>
                          <a:latin typeface="Calibri"/>
                        </a:rPr>
                        <a:t>Supply Chain &amp; Logistics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Cost &amp; Input Pressures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Supply-chain and logistics conditions.</a:t>
                      </a:r>
                      <a:endParaRPr sz="1100"/>
                    </a:p>
                  </a:txBody>
                  <a:tcPr marL="47625" marR="38100" marT="19050" marB="19050" anchor="ctr">
                    <a:solidFill>
                      <a:srgbClr val="FFFFFF"/>
                    </a:solidFill>
                  </a:tcPr>
                </a:tc>
              </a:tr>
              <a:tr h="273520">
                <a:tc>
                  <a:txBody>
                    <a:bodyPr wrap="none"/>
                    <a:lstStyle/>
                    <a:p>
                      <a:pPr algn="l"/>
                      <a:r>
                        <a:rPr sz="1100" b="1">
                          <a:solidFill>
                            <a:srgbClr val="2E2E2E"/>
                          </a:solidFill>
                          <a:latin typeface="Calibri"/>
                        </a:rPr>
                        <a:t>Demand &amp; Market Conditions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Demand &amp; Competitive Forces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Demand and broader market conditions.</a:t>
                      </a:r>
                      <a:endParaRPr sz="1100"/>
                    </a:p>
                  </a:txBody>
                  <a:tcPr marL="47625" marR="38100" marT="19050" marB="19050" anchor="ctr">
                    <a:solidFill>
                      <a:srgbClr val="F5F8FA"/>
                    </a:solidFill>
                  </a:tcPr>
                </a:tc>
              </a:tr>
              <a:tr h="273520">
                <a:tc>
                  <a:txBody>
                    <a:bodyPr wrap="none"/>
                    <a:lstStyle/>
                    <a:p>
                      <a:pPr algn="l"/>
                      <a:r>
                        <a:rPr sz="1100" b="1">
                          <a:solidFill>
                            <a:srgbClr val="2E2E2E"/>
                          </a:solidFill>
                          <a:latin typeface="Calibri"/>
                        </a:rPr>
                        <a:t>Competitive Landscape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Demand &amp; Competitive Forces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Competitive intensity.</a:t>
                      </a:r>
                      <a:endParaRPr sz="1100"/>
                    </a:p>
                  </a:txBody>
                  <a:tcPr marL="47625" marR="38100" marT="19050" marB="19050" anchor="ctr">
                    <a:solidFill>
                      <a:srgbClr val="FFFFFF"/>
                    </a:solidFill>
                  </a:tcPr>
                </a:tc>
              </a:tr>
              <a:tr h="273520">
                <a:tc>
                  <a:txBody>
                    <a:bodyPr wrap="none"/>
                    <a:lstStyle/>
                    <a:p>
                      <a:pPr algn="l"/>
                      <a:r>
                        <a:rPr sz="1100" b="1">
                          <a:solidFill>
                            <a:srgbClr val="2E2E2E"/>
                          </a:solidFill>
                          <a:latin typeface="Calibri"/>
                        </a:rPr>
                        <a:t>Brand &amp; Value Perception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Demand &amp; Competitive Forces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Brand strength and value perception.</a:t>
                      </a:r>
                      <a:endParaRPr sz="1100"/>
                    </a:p>
                  </a:txBody>
                  <a:tcPr marL="47625" marR="38100" marT="19050" marB="19050" anchor="ctr">
                    <a:solidFill>
                      <a:srgbClr val="F5F8FA"/>
                    </a:solidFill>
                  </a:tcPr>
                </a:tc>
              </a:tr>
              <a:tr h="273520">
                <a:tc>
                  <a:txBody>
                    <a:bodyPr wrap="none"/>
                    <a:lstStyle/>
                    <a:p>
                      <a:pPr algn="l"/>
                      <a:r>
                        <a:rPr sz="1100" b="1">
                          <a:solidFill>
                            <a:srgbClr val="2E2E2E"/>
                          </a:solidFill>
                          <a:latin typeface="Calibri"/>
                        </a:rPr>
                        <a:t>Technology &amp; Innovation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Innovation &amp; Operating Efficiency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Technology and process innovation.</a:t>
                      </a:r>
                      <a:endParaRPr sz="1100"/>
                    </a:p>
                  </a:txBody>
                  <a:tcPr marL="47625" marR="38100" marT="19050" marB="19050" anchor="ctr">
                    <a:solidFill>
                      <a:srgbClr val="FFFFFF"/>
                    </a:solidFill>
                  </a:tcPr>
                </a:tc>
              </a:tr>
              <a:tr h="273520">
                <a:tc>
                  <a:txBody>
                    <a:bodyPr wrap="none"/>
                    <a:lstStyle/>
                    <a:p>
                      <a:pPr algn="l"/>
                      <a:r>
                        <a:rPr sz="1100" b="1">
                          <a:solidFill>
                            <a:srgbClr val="2E2E2E"/>
                          </a:solidFill>
                          <a:latin typeface="Calibri"/>
                        </a:rPr>
                        <a:t>Aftermarket &amp; Service Costs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Innovation &amp; Operating Efficiency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Aftermarket and service costs.</a:t>
                      </a:r>
                      <a:endParaRPr sz="1100"/>
                    </a:p>
                  </a:txBody>
                  <a:tcPr marL="47625" marR="38100" marT="19050" marB="19050" anchor="ctr">
                    <a:solidFill>
                      <a:srgbClr val="F5F8FA"/>
                    </a:solidFill>
                  </a:tcPr>
                </a:tc>
              </a:tr>
              <a:tr h="273520">
                <a:tc>
                  <a:txBody>
                    <a:bodyPr wrap="none"/>
                    <a:lstStyle/>
                    <a:p>
                      <a:pPr algn="l"/>
                      <a:r>
                        <a:rPr sz="1100" b="1">
                          <a:solidFill>
                            <a:srgbClr val="2E2E2E"/>
                          </a:solidFill>
                          <a:latin typeface="Calibri"/>
                        </a:rPr>
                        <a:t>Regulatory &amp; Compliance Costs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Regulatory, Currency &amp; Macro</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Regulatory and compliance costs.</a:t>
                      </a:r>
                      <a:endParaRPr sz="1100"/>
                    </a:p>
                  </a:txBody>
                  <a:tcPr marL="47625" marR="38100" marT="19050" marB="19050" anchor="ctr">
                    <a:solidFill>
                      <a:srgbClr val="FFFFFF"/>
                    </a:solidFill>
                  </a:tcPr>
                </a:tc>
              </a:tr>
              <a:tr h="273520">
                <a:tc>
                  <a:txBody>
                    <a:bodyPr wrap="none"/>
                    <a:lstStyle/>
                    <a:p>
                      <a:pPr algn="l"/>
                      <a:r>
                        <a:rPr sz="1100" b="1">
                          <a:solidFill>
                            <a:srgbClr val="2E2E2E"/>
                          </a:solidFill>
                          <a:latin typeface="Calibri"/>
                        </a:rPr>
                        <a:t>Currency &amp; Trade Dynamics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Regulatory, Currency &amp; Macro</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Currency and trade dynamics.</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381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752975"/>
            <a:ext cx="11906250" cy="1790700"/>
          </a:xfrm>
          <a:prstGeom prst="roundRect">
            <a:avLst>
              <a:gd name="adj" fmla="val 42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838700"/>
            <a:ext cx="11639550" cy="209550"/>
          </a:xfrm>
          <a:prstGeom prst="rect">
            <a:avLst/>
          </a:prstGeom>
          <a:noFill/>
        </p:spPr>
        <p:txBody>
          <a:bodyPr wrap="square" lIns="0" rIns="19050" tIns="9525" bIns="9525">
            <a:spAutoFit/>
          </a:bodyPr>
          <a:lstStyle/>
          <a:p>
            <a:pPr algn="l"/>
            <a:r>
              <a:rPr sz="1300" b="1">
                <a:solidFill>
                  <a:srgbClr val="0B2E4A"/>
                </a:solidFill>
                <a:latin typeface="Calibri"/>
              </a:rPr>
              <a:t>What the Factors Imply</a:t>
            </a:r>
          </a:p>
        </p:txBody>
      </p:sp>
      <p:sp>
        <p:nvSpPr>
          <p:cNvPr id="16" name="Rectangle 15"/>
          <p:cNvSpPr/>
          <p:nvPr/>
        </p:nvSpPr>
        <p:spPr>
          <a:xfrm>
            <a:off x="276225" y="50768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5162550"/>
            <a:ext cx="11639550" cy="13049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8102155" y="2764346"/>
            <a:ext cx="330041" cy="480060"/>
          </a:xfrm>
          <a:prstGeom prst="rect">
            <a:avLst/>
          </a:prstGeom>
        </p:spPr>
      </p:pic>
      <p:sp>
        <p:nvSpPr>
          <p:cNvPr id="20" name="TextBox 19"/>
          <p:cNvSpPr txBox="1"/>
          <p:nvPr/>
        </p:nvSpPr>
        <p:spPr>
          <a:xfrm>
            <a:off x="276225" y="5172075"/>
            <a:ext cx="5425566" cy="194310"/>
          </a:xfrm>
          <a:prstGeom prst="rect">
            <a:avLst/>
          </a:prstGeom>
          <a:noFill/>
        </p:spPr>
        <p:txBody>
          <a:bodyPr wrap="none" lIns="0" rIns="0" tIns="0" bIns="0">
            <a:spAutoFit/>
          </a:bodyPr>
          <a:lstStyle/>
          <a:p>
            <a:r>
              <a:rPr sz="1150" b="0">
                <a:solidFill>
                  <a:srgbClr val="2E2E2E"/>
                </a:solidFill>
                <a:latin typeface="Calibri"/>
              </a:rPr>
              <a:t>▪ Input Cost and Demand &amp; Market Conditions carry the heaviest weight on selling prices (</a:t>
            </a:r>
          </a:p>
        </p:txBody>
      </p:sp>
      <p:pic>
        <p:nvPicPr>
          <p:cNvPr id="21" name="Picture 20" descr="lock.png"/>
          <p:cNvPicPr>
            <a:picLocks noChangeAspect="1"/>
          </p:cNvPicPr>
          <p:nvPr/>
        </p:nvPicPr>
        <p:blipFill>
          <a:blip r:embed="rId4"/>
          <a:stretch>
            <a:fillRect/>
          </a:stretch>
        </p:blipFill>
        <p:spPr>
          <a:xfrm>
            <a:off x="5650945" y="5161851"/>
            <a:ext cx="134549" cy="195707"/>
          </a:xfrm>
          <a:prstGeom prst="rect">
            <a:avLst/>
          </a:prstGeom>
        </p:spPr>
      </p:pic>
      <p:sp>
        <p:nvSpPr>
          <p:cNvPr id="22" name="TextBox 21"/>
          <p:cNvSpPr txBox="1"/>
          <p:nvPr/>
        </p:nvSpPr>
        <p:spPr>
          <a:xfrm>
            <a:off x="5826054" y="5172075"/>
            <a:ext cx="299553" cy="194310"/>
          </a:xfrm>
          <a:prstGeom prst="rect">
            <a:avLst/>
          </a:prstGeom>
          <a:noFill/>
        </p:spPr>
        <p:txBody>
          <a:bodyPr wrap="none" lIns="0" rIns="0" tIns="0" bIns="0">
            <a:spAutoFit/>
          </a:bodyPr>
          <a:lstStyle/>
          <a:p>
            <a:r>
              <a:rPr sz="1150" b="0">
                <a:solidFill>
                  <a:srgbClr val="2E2E2E"/>
                </a:solidFill>
                <a:latin typeface="Calibri"/>
              </a:rPr>
              <a:t>and</a:t>
            </a:r>
          </a:p>
        </p:txBody>
      </p:sp>
      <p:pic>
        <p:nvPicPr>
          <p:cNvPr id="23" name="Picture 22" descr="lock.png"/>
          <p:cNvPicPr>
            <a:picLocks noChangeAspect="1"/>
          </p:cNvPicPr>
          <p:nvPr/>
        </p:nvPicPr>
        <p:blipFill>
          <a:blip r:embed="rId4"/>
          <a:stretch>
            <a:fillRect/>
          </a:stretch>
        </p:blipFill>
        <p:spPr>
          <a:xfrm>
            <a:off x="6074762" y="5161851"/>
            <a:ext cx="134549" cy="195707"/>
          </a:xfrm>
          <a:prstGeom prst="rect">
            <a:avLst/>
          </a:prstGeom>
        </p:spPr>
      </p:pic>
      <p:sp>
        <p:nvSpPr>
          <p:cNvPr id="24" name="TextBox 23"/>
          <p:cNvSpPr txBox="1"/>
          <p:nvPr/>
        </p:nvSpPr>
        <p:spPr>
          <a:xfrm>
            <a:off x="6249871" y="5172075"/>
            <a:ext cx="395113" cy="194310"/>
          </a:xfrm>
          <a:prstGeom prst="rect">
            <a:avLst/>
          </a:prstGeom>
          <a:noFill/>
        </p:spPr>
        <p:txBody>
          <a:bodyPr wrap="none" lIns="0" rIns="0" tIns="0" bIns="0">
            <a:spAutoFit/>
          </a:bodyPr>
          <a:lstStyle/>
          <a:p>
            <a:r>
              <a:rPr sz="1150" b="0">
                <a:solidFill>
                  <a:srgbClr val="2E2E2E"/>
                </a:solidFill>
                <a:latin typeface="Calibri"/>
              </a:rPr>
              <a:t>/ 10).</a:t>
            </a:r>
          </a:p>
        </p:txBody>
      </p:sp>
      <p:sp>
        <p:nvSpPr>
          <p:cNvPr id="25" name="TextBox 24"/>
          <p:cNvSpPr txBox="1"/>
          <p:nvPr/>
        </p:nvSpPr>
        <p:spPr>
          <a:xfrm>
            <a:off x="276225" y="5399913"/>
            <a:ext cx="8333444" cy="194310"/>
          </a:xfrm>
          <a:prstGeom prst="rect">
            <a:avLst/>
          </a:prstGeom>
          <a:noFill/>
        </p:spPr>
        <p:txBody>
          <a:bodyPr wrap="none" lIns="0" rIns="0" tIns="0" bIns="0">
            <a:spAutoFit/>
          </a:bodyPr>
          <a:lstStyle/>
          <a:p>
            <a:r>
              <a:rPr sz="1150" b="0">
                <a:solidFill>
                  <a:srgbClr val="2E2E2E"/>
                </a:solidFill>
                <a:latin typeface="Calibri"/>
              </a:rPr>
              <a:t>▪ 8 of 10 factors exert upward pressure on price; the rest pull prices down chiefly Technology &amp; Innovation and the Competitive Landscape.</a:t>
            </a:r>
          </a:p>
        </p:txBody>
      </p:sp>
      <p:sp>
        <p:nvSpPr>
          <p:cNvPr id="26" name="TextBox 25"/>
          <p:cNvSpPr txBox="1"/>
          <p:nvPr/>
        </p:nvSpPr>
        <p:spPr>
          <a:xfrm>
            <a:off x="276225" y="5627750"/>
            <a:ext cx="8053610" cy="194310"/>
          </a:xfrm>
          <a:prstGeom prst="rect">
            <a:avLst/>
          </a:prstGeom>
          <a:noFill/>
        </p:spPr>
        <p:txBody>
          <a:bodyPr wrap="none" lIns="0" rIns="0" tIns="0" bIns="0">
            <a:spAutoFit/>
          </a:bodyPr>
          <a:lstStyle/>
          <a:p>
            <a:r>
              <a:rPr sz="1150" b="0">
                <a:solidFill>
                  <a:srgbClr val="2E2E2E"/>
                </a:solidFill>
                <a:latin typeface="Calibri"/>
              </a:rPr>
              <a:t>▪ Cost-side factors set the price floor; demand, brand and competitive forces determine how much of that cost can be passed through.</a:t>
            </a:r>
          </a:p>
        </p:txBody>
      </p:sp>
      <p:sp>
        <p:nvSpPr>
          <p:cNvPr id="27" name="TextBox 26"/>
          <p:cNvSpPr txBox="1"/>
          <p:nvPr/>
        </p:nvSpPr>
        <p:spPr>
          <a:xfrm>
            <a:off x="276225" y="5855588"/>
            <a:ext cx="7048375" cy="194310"/>
          </a:xfrm>
          <a:prstGeom prst="rect">
            <a:avLst/>
          </a:prstGeom>
          <a:noFill/>
        </p:spPr>
        <p:txBody>
          <a:bodyPr wrap="none" lIns="0" rIns="0" tIns="0" bIns="0">
            <a:spAutoFit/>
          </a:bodyPr>
          <a:lstStyle/>
          <a:p>
            <a:r>
              <a:rPr sz="1150" b="0">
                <a:solidFill>
                  <a:srgbClr val="2E2E2E"/>
                </a:solidFill>
                <a:latin typeface="Calibri"/>
              </a:rPr>
              <a:t>▪ Aftermarket &amp; Service Costs exerts the least pressure a second-order effect to monitor rather than actively manage.</a:t>
            </a:r>
          </a:p>
        </p:txBody>
      </p:sp>
    </p:spTree>
  </p:cSld>
  <p:clrMapOvr>
    <a:masterClrMapping/>
  </p:clrMapOvr>
</p:sld>
</file>

<file path=ppt/slides/slide2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Regional Price Assessment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price assessment across the value chain, from manufacturer to retail, and average price by geography, 2026–2036</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Regional price assessment across the value chain (US$/Units) and price trajectory to 2036.</a:t>
            </a:r>
          </a:p>
        </p:txBody>
      </p:sp>
      <p:sp>
        <p:nvSpPr>
          <p:cNvPr id="11" name="Rounded Rectangle 10"/>
          <p:cNvSpPr/>
          <p:nvPr/>
        </p:nvSpPr>
        <p:spPr>
          <a:xfrm>
            <a:off x="142875" y="1317574"/>
            <a:ext cx="5905500" cy="2738055"/>
          </a:xfrm>
          <a:prstGeom prst="roundRect">
            <a:avLst>
              <a:gd name="adj" fmla="val 278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Regional Price by Value-Chain Level (US$/Units)</a:t>
            </a:r>
          </a:p>
        </p:txBody>
      </p:sp>
      <p:graphicFrame>
        <p:nvGraphicFramePr>
          <p:cNvPr id="13" name="Table 12"/>
          <p:cNvGraphicFramePr>
            <a:graphicFrameLocks noGrp="1"/>
          </p:cNvGraphicFramePr>
          <p:nvPr/>
        </p:nvGraphicFramePr>
        <p:xfrm>
          <a:off x="152400" y="1574749"/>
          <a:ext cx="5886452" cy="2271330"/>
        </p:xfrm>
        <a:graphic>
          <a:graphicData uri="http://schemas.openxmlformats.org/drawingml/2006/table">
            <a:tbl>
              <a:tblPr>
                <a:tableStyleId>{5C22544A-7EE6-4342-B048-85BDC9FD1C3A}</a:tableStyleId>
              </a:tblPr>
              <a:tblGrid>
                <a:gridCol w="1370904"/>
                <a:gridCol w="1128887"/>
                <a:gridCol w="1128887"/>
                <a:gridCol w="1128887"/>
                <a:gridCol w="1128887"/>
              </a:tblGrid>
              <a:tr h="246126">
                <a:tc>
                  <a:txBody>
                    <a:bodyPr wrap="none"/>
                    <a:lstStyle/>
                    <a:p>
                      <a:pPr algn="l"/>
                      <a:r>
                        <a:rPr sz="1100" b="1">
                          <a:solidFill>
                            <a:srgbClr val="0B2E4A"/>
                          </a:solidFill>
                          <a:latin typeface="Calibri"/>
                        </a:rPr>
                        <a:t>Geography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Manufacturer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Distribution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Retail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 Margin (%)</a:t>
                      </a:r>
                      <a:endParaRPr sz="1100"/>
                    </a:p>
                  </a:txBody>
                  <a:tcPr marL="47625" marR="38100" marT="19050" marB="19050" anchor="ctr">
                    <a:solidFill>
                      <a:srgbClr val="E0E8EF"/>
                    </a:solidFill>
                  </a:tcPr>
                </a:tc>
              </a:tr>
              <a:tr h="337534">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7534">
                <a:tc>
                  <a:txBody>
                    <a:bodyPr wrap="none"/>
                    <a:lstStyle/>
                    <a:p>
                      <a:pPr algn="l"/>
                      <a:r>
                        <a:rPr sz="1100" b="1">
                          <a:solidFill>
                            <a:srgbClr val="2E2E2E"/>
                          </a:solidFill>
                          <a:latin typeface="Calibri"/>
                        </a:rPr>
                        <a:t>Latin America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37534">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7534">
                <a:tc>
                  <a:txBody>
                    <a:bodyPr wrap="none"/>
                    <a:lstStyle/>
                    <a:p>
                      <a:pPr algn="l"/>
                      <a:r>
                        <a:rPr sz="1100" b="1">
                          <a:solidFill>
                            <a:srgbClr val="2E2E2E"/>
                          </a:solidFill>
                          <a:latin typeface="Calibri"/>
                        </a:rPr>
                        <a:t>East Asia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37534">
                <a:tc>
                  <a:txBody>
                    <a:bodyPr wrap="none"/>
                    <a:lstStyle/>
                    <a:p>
                      <a:pPr algn="l"/>
                      <a:r>
                        <a:rPr sz="1100" b="1">
                          <a:solidFill>
                            <a:srgbClr val="2E2E2E"/>
                          </a:solidFill>
                          <a:latin typeface="Calibri"/>
                        </a:rPr>
                        <a:t>South Asia &amp; Pacific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7534">
                <a:tc>
                  <a:txBody>
                    <a:bodyPr wrap="none"/>
                    <a:lstStyle/>
                    <a:p>
                      <a:pPr algn="l"/>
                      <a:r>
                        <a:rPr sz="1100" b="1">
                          <a:solidFill>
                            <a:srgbClr val="2E2E2E"/>
                          </a:solidFill>
                          <a:latin typeface="Calibri"/>
                        </a:rPr>
                        <a:t>Middle East &amp; Africa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855604"/>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6200775" y="1317574"/>
            <a:ext cx="5848350" cy="2738055"/>
          </a:xfrm>
          <a:prstGeom prst="roundRect">
            <a:avLst>
              <a:gd name="adj" fmla="val 278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296025" y="1374724"/>
            <a:ext cx="5657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by Geography (US$/Units)</a:t>
            </a:r>
          </a:p>
        </p:txBody>
      </p:sp>
      <p:graphicFrame>
        <p:nvGraphicFramePr>
          <p:cNvPr id="17" name="Table 16"/>
          <p:cNvGraphicFramePr>
            <a:graphicFrameLocks noGrp="1"/>
          </p:cNvGraphicFramePr>
          <p:nvPr/>
        </p:nvGraphicFramePr>
        <p:xfrm>
          <a:off x="6210300" y="1574749"/>
          <a:ext cx="5829301" cy="2271330"/>
        </p:xfrm>
        <a:graphic>
          <a:graphicData uri="http://schemas.openxmlformats.org/drawingml/2006/table">
            <a:tbl>
              <a:tblPr>
                <a:tableStyleId>{5C22544A-7EE6-4342-B048-85BDC9FD1C3A}</a:tableStyleId>
              </a:tblPr>
              <a:tblGrid>
                <a:gridCol w="2305733"/>
                <a:gridCol w="880892"/>
                <a:gridCol w="880892"/>
                <a:gridCol w="880892"/>
                <a:gridCol w="880892"/>
              </a:tblGrid>
              <a:tr h="246126">
                <a:tc>
                  <a:txBody>
                    <a:bodyPr wrap="none"/>
                    <a:lstStyle/>
                    <a:p>
                      <a:pPr algn="l"/>
                      <a:r>
                        <a:rPr sz="1100" b="1">
                          <a:solidFill>
                            <a:srgbClr val="0B2E4A"/>
                          </a:solidFill>
                          <a:latin typeface="Calibri"/>
                        </a:rPr>
                        <a:t>Geography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337534">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7534">
                <a:tc>
                  <a:txBody>
                    <a:bodyPr wrap="none"/>
                    <a:lstStyle/>
                    <a:p>
                      <a:pPr algn="l"/>
                      <a:r>
                        <a:rPr sz="1100" b="1">
                          <a:solidFill>
                            <a:srgbClr val="2E2E2E"/>
                          </a:solidFill>
                          <a:latin typeface="Calibri"/>
                        </a:rPr>
                        <a:t>Latin America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37534">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7534">
                <a:tc>
                  <a:txBody>
                    <a:bodyPr wrap="none"/>
                    <a:lstStyle/>
                    <a:p>
                      <a:pPr algn="l"/>
                      <a:r>
                        <a:rPr sz="1100" b="1">
                          <a:solidFill>
                            <a:srgbClr val="2E2E2E"/>
                          </a:solidFill>
                          <a:latin typeface="Calibri"/>
                        </a:rPr>
                        <a:t>East Asia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37534">
                <a:tc>
                  <a:txBody>
                    <a:bodyPr wrap="none"/>
                    <a:lstStyle/>
                    <a:p>
                      <a:pPr algn="l"/>
                      <a:r>
                        <a:rPr sz="1100" b="1">
                          <a:solidFill>
                            <a:srgbClr val="2E2E2E"/>
                          </a:solidFill>
                          <a:latin typeface="Calibri"/>
                        </a:rPr>
                        <a:t>South Asia &amp; Pacific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7534">
                <a:tc>
                  <a:txBody>
                    <a:bodyPr wrap="none"/>
                    <a:lstStyle/>
                    <a:p>
                      <a:pPr algn="l"/>
                      <a:r>
                        <a:rPr sz="1100" b="1">
                          <a:solidFill>
                            <a:srgbClr val="2E2E2E"/>
                          </a:solidFill>
                          <a:latin typeface="Calibri"/>
                        </a:rPr>
                        <a:t>Middle East &amp; Africa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8" name="TextBox 17"/>
          <p:cNvSpPr txBox="1"/>
          <p:nvPr/>
        </p:nvSpPr>
        <p:spPr>
          <a:xfrm>
            <a:off x="6276975" y="3855604"/>
            <a:ext cx="56959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142875" y="4201658"/>
            <a:ext cx="119062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276225" y="4287383"/>
            <a:ext cx="11639550" cy="209550"/>
          </a:xfrm>
          <a:prstGeom prst="rect">
            <a:avLst/>
          </a:prstGeom>
          <a:noFill/>
        </p:spPr>
        <p:txBody>
          <a:bodyPr wrap="square" lIns="0" rIns="19050" tIns="9525" bIns="9525">
            <a:spAutoFit/>
          </a:bodyPr>
          <a:lstStyle/>
          <a:p>
            <a:pPr algn="l"/>
            <a:r>
              <a:rPr sz="1300" b="1">
                <a:solidFill>
                  <a:srgbClr val="0B2E4A"/>
                </a:solidFill>
                <a:latin typeface="Calibri"/>
              </a:rPr>
              <a:t>What This Section Covers</a:t>
            </a:r>
          </a:p>
        </p:txBody>
      </p:sp>
      <p:sp>
        <p:nvSpPr>
          <p:cNvPr id="21" name="Rectangle 20"/>
          <p:cNvSpPr/>
          <p:nvPr/>
        </p:nvSpPr>
        <p:spPr>
          <a:xfrm>
            <a:off x="276225" y="4525508"/>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611233"/>
            <a:ext cx="116395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Manufacturer-level pricing ex-works / producer price benchmarked for each geography.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Distribution &amp; channel pricing logistics and channel margin layered onto the producer price.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Retail / end-market pricing the average price paid by the end customer across geographies.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Value-chain margin build-up cumulative margin from manufacturer to retail, by geography (prices derived as Value ÷ Volume).</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3594387" y="2566777"/>
            <a:ext cx="366712" cy="533399"/>
          </a:xfrm>
          <a:prstGeom prst="rect">
            <a:avLst/>
          </a:prstGeom>
        </p:spPr>
      </p:pic>
      <p:pic>
        <p:nvPicPr>
          <p:cNvPr id="25" name="Picture 24" descr="lock.png"/>
          <p:cNvPicPr>
            <a:picLocks noChangeAspect="1"/>
          </p:cNvPicPr>
          <p:nvPr/>
        </p:nvPicPr>
        <p:blipFill>
          <a:blip r:embed="rId4"/>
          <a:stretch>
            <a:fillRect/>
          </a:stretch>
        </p:blipFill>
        <p:spPr>
          <a:xfrm>
            <a:off x="10091127" y="2566777"/>
            <a:ext cx="366712" cy="533400"/>
          </a:xfrm>
          <a:prstGeom prst="rect">
            <a:avLst/>
          </a:prstGeom>
        </p:spPr>
      </p:pic>
    </p:spTree>
  </p:cSld>
  <p:clrMapOvr>
    <a:masterClrMapping/>
  </p:clrMapOvr>
</p:sld>
</file>

<file path=ppt/slides/slide2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Global Pricing Benchmarking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Benchmarking of price range by region and sub-segment against the weighted average price of each region</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Development-stage price assumptions and manufacturer benchmarking price range by product type type and region (US$/Units).</a:t>
            </a:r>
          </a:p>
        </p:txBody>
      </p:sp>
      <p:sp>
        <p:nvSpPr>
          <p:cNvPr id="11" name="Rounded Rectangle 10"/>
          <p:cNvSpPr/>
          <p:nvPr/>
        </p:nvSpPr>
        <p:spPr>
          <a:xfrm>
            <a:off x="142875" y="1314450"/>
            <a:ext cx="11906250" cy="2876550"/>
          </a:xfrm>
          <a:prstGeom prst="roundRect">
            <a:avLst>
              <a:gd name="adj" fmla="val 26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16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Benchmarking by Region &amp; Product Type (US$/Units)</a:t>
            </a:r>
          </a:p>
        </p:txBody>
      </p:sp>
      <p:graphicFrame>
        <p:nvGraphicFramePr>
          <p:cNvPr id="13" name="Table 12"/>
          <p:cNvGraphicFramePr>
            <a:graphicFrameLocks noGrp="1"/>
          </p:cNvGraphicFramePr>
          <p:nvPr/>
        </p:nvGraphicFramePr>
        <p:xfrm>
          <a:off x="152400" y="1571625"/>
          <a:ext cx="11887201" cy="2409822"/>
        </p:xfrm>
        <a:graphic>
          <a:graphicData uri="http://schemas.openxmlformats.org/drawingml/2006/table">
            <a:tbl>
              <a:tblPr>
                <a:tableStyleId>{5C22544A-7EE6-4342-B048-85BDC9FD1C3A}</a:tableStyleId>
              </a:tblPr>
              <a:tblGrid>
                <a:gridCol w="1630747"/>
                <a:gridCol w="2143680"/>
                <a:gridCol w="1846745"/>
                <a:gridCol w="1921729"/>
                <a:gridCol w="3184449"/>
                <a:gridCol w="1159851"/>
              </a:tblGrid>
              <a:tr h="246126">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Cast Metal Partial Dentures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Acrylic Partial Dentures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Flexible Partial Dentures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Combination Framework Partial Dentures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Weighted Avg</a:t>
                      </a:r>
                      <a:endParaRPr sz="1100"/>
                    </a:p>
                  </a:txBody>
                  <a:tcPr marL="47625" marR="38100" marT="19050" marB="19050" anchor="ctr">
                    <a:solidFill>
                      <a:srgbClr val="E0E8EF"/>
                    </a:solidFill>
                  </a:tcPr>
                </a:tc>
              </a:tr>
              <a:tr h="360616">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60616">
                <a:tc>
                  <a:txBody>
                    <a:bodyPr wrap="none"/>
                    <a:lstStyle/>
                    <a:p>
                      <a:pPr algn="l"/>
                      <a:r>
                        <a:rPr sz="1100" b="1">
                          <a:solidFill>
                            <a:srgbClr val="2E2E2E"/>
                          </a:solidFill>
                          <a:latin typeface="Calibri"/>
                        </a:rPr>
                        <a:t>Latin America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60616">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60616">
                <a:tc>
                  <a:txBody>
                    <a:bodyPr wrap="none"/>
                    <a:lstStyle/>
                    <a:p>
                      <a:pPr algn="l"/>
                      <a:r>
                        <a:rPr sz="1100" b="1">
                          <a:solidFill>
                            <a:srgbClr val="2E2E2E"/>
                          </a:solidFill>
                          <a:latin typeface="Calibri"/>
                        </a:rPr>
                        <a:t>East Asia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60616">
                <a:tc>
                  <a:txBody>
                    <a:bodyPr wrap="none"/>
                    <a:lstStyle/>
                    <a:p>
                      <a:pPr algn="l"/>
                      <a:r>
                        <a:rPr sz="1100" b="1">
                          <a:solidFill>
                            <a:srgbClr val="2E2E2E"/>
                          </a:solidFill>
                          <a:latin typeface="Calibri"/>
                        </a:rPr>
                        <a:t>South Asia &amp; Pacific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60616">
                <a:tc>
                  <a:txBody>
                    <a:bodyPr wrap="none"/>
                    <a:lstStyle/>
                    <a:p>
                      <a:pPr algn="l"/>
                      <a:r>
                        <a:rPr sz="1100" b="1">
                          <a:solidFill>
                            <a:srgbClr val="2E2E2E"/>
                          </a:solidFill>
                          <a:latin typeface="Calibri"/>
                        </a:rPr>
                        <a:t>Middle East &amp; Africa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9909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33875"/>
            <a:ext cx="11906250" cy="2209800"/>
          </a:xfrm>
          <a:prstGeom prst="roundRect">
            <a:avLst>
              <a:gd name="adj" fmla="val 344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419600"/>
            <a:ext cx="11639550" cy="209550"/>
          </a:xfrm>
          <a:prstGeom prst="rect">
            <a:avLst/>
          </a:prstGeom>
          <a:noFill/>
        </p:spPr>
        <p:txBody>
          <a:bodyPr wrap="square" lIns="0" rIns="19050" tIns="9525" bIns="9525">
            <a:spAutoFit/>
          </a:bodyPr>
          <a:lstStyle/>
          <a:p>
            <a:pPr algn="l"/>
            <a:r>
              <a:rPr sz="1300" b="1">
                <a:solidFill>
                  <a:srgbClr val="0B2E4A"/>
                </a:solidFill>
                <a:latin typeface="Calibri"/>
              </a:rPr>
              <a:t>Benchmarking Insights</a:t>
            </a:r>
          </a:p>
        </p:txBody>
      </p:sp>
      <p:sp>
        <p:nvSpPr>
          <p:cNvPr id="17" name="Rectangle 16"/>
          <p:cNvSpPr/>
          <p:nvPr/>
        </p:nvSpPr>
        <p:spPr>
          <a:xfrm>
            <a:off x="276225" y="46577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743450"/>
            <a:ext cx="11639550" cy="17240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724684" y="2632898"/>
            <a:ext cx="366712" cy="533400"/>
          </a:xfrm>
          <a:prstGeom prst="rect">
            <a:avLst/>
          </a:prstGeom>
        </p:spPr>
      </p:pic>
      <p:sp>
        <p:nvSpPr>
          <p:cNvPr id="21" name="TextBox 20"/>
          <p:cNvSpPr txBox="1"/>
          <p:nvPr/>
        </p:nvSpPr>
        <p:spPr>
          <a:xfrm>
            <a:off x="276225" y="4752975"/>
            <a:ext cx="4641688" cy="194310"/>
          </a:xfrm>
          <a:prstGeom prst="rect">
            <a:avLst/>
          </a:prstGeom>
          <a:noFill/>
        </p:spPr>
        <p:txBody>
          <a:bodyPr wrap="none" lIns="0" rIns="0" tIns="0" bIns="0">
            <a:spAutoFit/>
          </a:bodyPr>
          <a:lstStyle/>
          <a:p>
            <a:r>
              <a:rPr sz="1150" b="0">
                <a:solidFill>
                  <a:srgbClr val="2E2E2E"/>
                </a:solidFill>
                <a:latin typeface="Calibri"/>
              </a:rPr>
              <a:t>▪ On a weighted-average basis 'North America' is the highest-priced region (~</a:t>
            </a:r>
          </a:p>
        </p:txBody>
      </p:sp>
      <p:pic>
        <p:nvPicPr>
          <p:cNvPr id="22" name="Picture 21" descr="lock.png"/>
          <p:cNvPicPr>
            <a:picLocks noChangeAspect="1"/>
          </p:cNvPicPr>
          <p:nvPr/>
        </p:nvPicPr>
        <p:blipFill>
          <a:blip r:embed="rId4"/>
          <a:stretch>
            <a:fillRect/>
          </a:stretch>
        </p:blipFill>
        <p:spPr>
          <a:xfrm>
            <a:off x="4867067" y="4742751"/>
            <a:ext cx="134549" cy="195707"/>
          </a:xfrm>
          <a:prstGeom prst="rect">
            <a:avLst/>
          </a:prstGeom>
        </p:spPr>
      </p:pic>
      <p:sp>
        <p:nvSpPr>
          <p:cNvPr id="23" name="TextBox 22"/>
          <p:cNvSpPr txBox="1"/>
          <p:nvPr/>
        </p:nvSpPr>
        <p:spPr>
          <a:xfrm>
            <a:off x="5042176" y="4752975"/>
            <a:ext cx="3704629" cy="194310"/>
          </a:xfrm>
          <a:prstGeom prst="rect">
            <a:avLst/>
          </a:prstGeom>
          <a:noFill/>
        </p:spPr>
        <p:txBody>
          <a:bodyPr wrap="none" lIns="0" rIns="0" tIns="0" bIns="0">
            <a:spAutoFit/>
          </a:bodyPr>
          <a:lstStyle/>
          <a:p>
            <a:r>
              <a:rPr sz="1150" b="0">
                <a:solidFill>
                  <a:srgbClr val="2E2E2E"/>
                </a:solidFill>
                <a:latin typeface="Calibri"/>
              </a:rPr>
              <a:t>US$/Units) and 'South Asia &amp; Pacific' the most competitive (~</a:t>
            </a:r>
          </a:p>
        </p:txBody>
      </p:sp>
      <p:pic>
        <p:nvPicPr>
          <p:cNvPr id="24" name="Picture 23" descr="lock.png"/>
          <p:cNvPicPr>
            <a:picLocks noChangeAspect="1"/>
          </p:cNvPicPr>
          <p:nvPr/>
        </p:nvPicPr>
        <p:blipFill>
          <a:blip r:embed="rId4"/>
          <a:stretch>
            <a:fillRect/>
          </a:stretch>
        </p:blipFill>
        <p:spPr>
          <a:xfrm>
            <a:off x="8695960" y="4742751"/>
            <a:ext cx="134549" cy="195707"/>
          </a:xfrm>
          <a:prstGeom prst="rect">
            <a:avLst/>
          </a:prstGeom>
        </p:spPr>
      </p:pic>
      <p:sp>
        <p:nvSpPr>
          <p:cNvPr id="25" name="TextBox 24"/>
          <p:cNvSpPr txBox="1"/>
          <p:nvPr/>
        </p:nvSpPr>
        <p:spPr>
          <a:xfrm>
            <a:off x="8871069" y="4752975"/>
            <a:ext cx="759097" cy="194310"/>
          </a:xfrm>
          <a:prstGeom prst="rect">
            <a:avLst/>
          </a:prstGeom>
          <a:noFill/>
        </p:spPr>
        <p:txBody>
          <a:bodyPr wrap="none" lIns="0" rIns="0" tIns="0" bIns="0">
            <a:spAutoFit/>
          </a:bodyPr>
          <a:lstStyle/>
          <a:p>
            <a:r>
              <a:rPr sz="1150" b="0">
                <a:solidFill>
                  <a:srgbClr val="2E2E2E"/>
                </a:solidFill>
                <a:latin typeface="Calibri"/>
              </a:rPr>
              <a:t>US$/Units).</a:t>
            </a:r>
          </a:p>
        </p:txBody>
      </p:sp>
      <p:sp>
        <p:nvSpPr>
          <p:cNvPr id="26" name="TextBox 25"/>
          <p:cNvSpPr txBox="1"/>
          <p:nvPr/>
        </p:nvSpPr>
        <p:spPr>
          <a:xfrm>
            <a:off x="276225" y="4980813"/>
            <a:ext cx="5929610" cy="194310"/>
          </a:xfrm>
          <a:prstGeom prst="rect">
            <a:avLst/>
          </a:prstGeom>
          <a:noFill/>
        </p:spPr>
        <p:txBody>
          <a:bodyPr wrap="none" lIns="0" rIns="0" tIns="0" bIns="0">
            <a:spAutoFit/>
          </a:bodyPr>
          <a:lstStyle/>
          <a:p>
            <a:r>
              <a:rPr sz="1150" b="0">
                <a:solidFill>
                  <a:srgbClr val="2E2E2E"/>
                </a:solidFill>
                <a:latin typeface="Calibri"/>
              </a:rPr>
              <a:t>▪ Price ranges are benchmarked per product type type at 2026, derived as Value ÷ Volume with a ±</a:t>
            </a:r>
          </a:p>
        </p:txBody>
      </p:sp>
      <p:pic>
        <p:nvPicPr>
          <p:cNvPr id="27" name="Picture 26" descr="lock.png"/>
          <p:cNvPicPr>
            <a:picLocks noChangeAspect="1"/>
          </p:cNvPicPr>
          <p:nvPr/>
        </p:nvPicPr>
        <p:blipFill>
          <a:blip r:embed="rId4"/>
          <a:stretch>
            <a:fillRect/>
          </a:stretch>
        </p:blipFill>
        <p:spPr>
          <a:xfrm>
            <a:off x="6154989" y="4970589"/>
            <a:ext cx="134549" cy="195707"/>
          </a:xfrm>
          <a:prstGeom prst="rect">
            <a:avLst/>
          </a:prstGeom>
        </p:spPr>
      </p:pic>
      <p:sp>
        <p:nvSpPr>
          <p:cNvPr id="28" name="TextBox 27"/>
          <p:cNvSpPr txBox="1"/>
          <p:nvPr/>
        </p:nvSpPr>
        <p:spPr>
          <a:xfrm>
            <a:off x="6330098" y="4980813"/>
            <a:ext cx="1455117" cy="194310"/>
          </a:xfrm>
          <a:prstGeom prst="rect">
            <a:avLst/>
          </a:prstGeom>
          <a:noFill/>
        </p:spPr>
        <p:txBody>
          <a:bodyPr wrap="none" lIns="0" rIns="0" tIns="0" bIns="0">
            <a:spAutoFit/>
          </a:bodyPr>
          <a:lstStyle/>
          <a:p>
            <a:r>
              <a:rPr sz="1150" b="0">
                <a:solidFill>
                  <a:srgbClr val="2E2E2E"/>
                </a:solidFill>
                <a:latin typeface="Calibri"/>
              </a:rPr>
              <a:t>observed trading band.</a:t>
            </a:r>
          </a:p>
        </p:txBody>
      </p:sp>
      <p:sp>
        <p:nvSpPr>
          <p:cNvPr id="29" name="TextBox 28"/>
          <p:cNvSpPr txBox="1"/>
          <p:nvPr/>
        </p:nvSpPr>
        <p:spPr>
          <a:xfrm>
            <a:off x="276225" y="5208650"/>
            <a:ext cx="2140867" cy="194310"/>
          </a:xfrm>
          <a:prstGeom prst="rect">
            <a:avLst/>
          </a:prstGeom>
          <a:noFill/>
        </p:spPr>
        <p:txBody>
          <a:bodyPr wrap="none" lIns="0" rIns="0" tIns="0" bIns="0">
            <a:spAutoFit/>
          </a:bodyPr>
          <a:lstStyle/>
          <a:p>
            <a:r>
              <a:rPr sz="1150" b="0">
                <a:solidFill>
                  <a:srgbClr val="2E2E2E"/>
                </a:solidFill>
                <a:latin typeface="Calibri"/>
              </a:rPr>
              <a:t>▪ Cross-region price dispersion of ~</a:t>
            </a:r>
          </a:p>
        </p:txBody>
      </p:sp>
      <p:pic>
        <p:nvPicPr>
          <p:cNvPr id="30" name="Picture 29" descr="lock.png"/>
          <p:cNvPicPr>
            <a:picLocks noChangeAspect="1"/>
          </p:cNvPicPr>
          <p:nvPr/>
        </p:nvPicPr>
        <p:blipFill>
          <a:blip r:embed="rId4"/>
          <a:stretch>
            <a:fillRect/>
          </a:stretch>
        </p:blipFill>
        <p:spPr>
          <a:xfrm>
            <a:off x="2366246" y="5198427"/>
            <a:ext cx="134549" cy="195707"/>
          </a:xfrm>
          <a:prstGeom prst="rect">
            <a:avLst/>
          </a:prstGeom>
        </p:spPr>
      </p:pic>
      <p:sp>
        <p:nvSpPr>
          <p:cNvPr id="31" name="TextBox 30"/>
          <p:cNvSpPr txBox="1"/>
          <p:nvPr/>
        </p:nvSpPr>
        <p:spPr>
          <a:xfrm>
            <a:off x="2541355" y="5208650"/>
            <a:ext cx="3627040" cy="194310"/>
          </a:xfrm>
          <a:prstGeom prst="rect">
            <a:avLst/>
          </a:prstGeom>
          <a:noFill/>
        </p:spPr>
        <p:txBody>
          <a:bodyPr wrap="none" lIns="0" rIns="0" tIns="0" bIns="0">
            <a:spAutoFit/>
          </a:bodyPr>
          <a:lstStyle/>
          <a:p>
            <a:r>
              <a:rPr sz="1150" b="0">
                <a:solidFill>
                  <a:srgbClr val="2E2E2E"/>
                </a:solidFill>
                <a:latin typeface="Calibri"/>
              </a:rPr>
              <a:t>× reflects differences in mix, logistics and channel structure.</a:t>
            </a:r>
          </a:p>
        </p:txBody>
      </p:sp>
      <p:sp>
        <p:nvSpPr>
          <p:cNvPr id="32" name="TextBox 31"/>
          <p:cNvSpPr txBox="1"/>
          <p:nvPr/>
        </p:nvSpPr>
        <p:spPr>
          <a:xfrm>
            <a:off x="276225" y="5436488"/>
            <a:ext cx="5691708" cy="194310"/>
          </a:xfrm>
          <a:prstGeom prst="rect">
            <a:avLst/>
          </a:prstGeom>
          <a:noFill/>
        </p:spPr>
        <p:txBody>
          <a:bodyPr wrap="none" lIns="0" rIns="0" tIns="0" bIns="0">
            <a:spAutoFit/>
          </a:bodyPr>
          <a:lstStyle/>
          <a:p>
            <a:r>
              <a:rPr sz="1150" b="0">
                <a:solidFill>
                  <a:srgbClr val="2E2E2E"/>
                </a:solidFill>
                <a:latin typeface="Calibri"/>
              </a:rPr>
              <a:t>▪ Benchmarks support price-corridor setting and margin-defence decisions across geographies.</a:t>
            </a:r>
          </a:p>
        </p:txBody>
      </p:sp>
    </p:spTree>
  </p:cSld>
  <p:clrMapOvr>
    <a:masterClrMapping/>
  </p:clrMapOvr>
</p:sld>
</file>

<file path=ppt/slides/slide2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Price Forecast &amp; Dynamics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forecast by sub-segment, 2026–2036, with the factors and dynamics shaping the trajectory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Forward price trajectory to 2036 by product type type and the structural factors shaping it (US$/Units).</a:t>
            </a:r>
          </a:p>
        </p:txBody>
      </p:sp>
      <p:sp>
        <p:nvSpPr>
          <p:cNvPr id="11" name="Rounded Rectangle 10"/>
          <p:cNvSpPr/>
          <p:nvPr/>
        </p:nvSpPr>
        <p:spPr>
          <a:xfrm>
            <a:off x="142875" y="1317574"/>
            <a:ext cx="11906250" cy="1971399"/>
          </a:xfrm>
          <a:prstGeom prst="roundRect">
            <a:avLst>
              <a:gd name="adj" fmla="val 38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Forecast to 2036 by Product Type (US$/Units)</a:t>
            </a:r>
          </a:p>
        </p:txBody>
      </p:sp>
      <p:graphicFrame>
        <p:nvGraphicFramePr>
          <p:cNvPr id="13" name="Table 12"/>
          <p:cNvGraphicFramePr>
            <a:graphicFrameLocks noGrp="1"/>
          </p:cNvGraphicFramePr>
          <p:nvPr/>
        </p:nvGraphicFramePr>
        <p:xfrm>
          <a:off x="152400" y="1574749"/>
          <a:ext cx="11887200" cy="1504674"/>
        </p:xfrm>
        <a:graphic>
          <a:graphicData uri="http://schemas.openxmlformats.org/drawingml/2006/table">
            <a:tbl>
              <a:tblPr>
                <a:tableStyleId>{5C22544A-7EE6-4342-B048-85BDC9FD1C3A}</a:tableStyleId>
              </a:tblPr>
              <a:tblGrid>
                <a:gridCol w="4869228"/>
                <a:gridCol w="1169662"/>
                <a:gridCol w="1169662"/>
                <a:gridCol w="1169662"/>
                <a:gridCol w="1169662"/>
                <a:gridCol w="1169662"/>
                <a:gridCol w="1169662"/>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314637">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14637">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14637">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14637">
                <a:tc>
                  <a:txBody>
                    <a:bodyPr wrap="none"/>
                    <a:lstStyle/>
                    <a:p>
                      <a:pPr algn="l"/>
                      <a:r>
                        <a:rPr sz="1100" b="1">
                          <a:solidFill>
                            <a:srgbClr val="2E2E2E"/>
                          </a:solidFill>
                          <a:latin typeface="Calibri"/>
                        </a:rPr>
                        <a:t>Combination Framework Partial…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088948"/>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455645"/>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Factors Impacting Pricing</a:t>
            </a:r>
          </a:p>
        </p:txBody>
      </p:sp>
      <p:graphicFrame>
        <p:nvGraphicFramePr>
          <p:cNvPr id="17" name="Table 16"/>
          <p:cNvGraphicFramePr>
            <a:graphicFrameLocks noGrp="1"/>
          </p:cNvGraphicFramePr>
          <p:nvPr/>
        </p:nvGraphicFramePr>
        <p:xfrm>
          <a:off x="152400" y="3655670"/>
          <a:ext cx="5886449" cy="2714626"/>
        </p:xfrm>
        <a:graphic>
          <a:graphicData uri="http://schemas.openxmlformats.org/drawingml/2006/table">
            <a:tbl>
              <a:tblPr>
                <a:tableStyleId>{5C22544A-7EE6-4342-B048-85BDC9FD1C3A}</a:tableStyleId>
              </a:tblPr>
              <a:tblGrid>
                <a:gridCol w="2867491"/>
                <a:gridCol w="1509479"/>
                <a:gridCol w="1509479"/>
              </a:tblGrid>
              <a:tr h="246126">
                <a:tc>
                  <a:txBody>
                    <a:bodyPr wrap="none"/>
                    <a:lstStyle/>
                    <a:p>
                      <a:pPr algn="l"/>
                      <a:r>
                        <a:rPr sz="1100" b="1">
                          <a:solidFill>
                            <a:srgbClr val="0B2E4A"/>
                          </a:solidFill>
                          <a:latin typeface="Calibri"/>
                        </a:rPr>
                        <a:t>Pricing Factor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Direction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Impact (H/M/L)</a:t>
                      </a:r>
                      <a:endParaRPr sz="1100"/>
                    </a:p>
                  </a:txBody>
                  <a:tcPr marL="47625" marR="38100" marT="19050" marB="19050" anchor="ctr">
                    <a:solidFill>
                      <a:srgbClr val="E0E8EF"/>
                    </a:solidFill>
                  </a:tcPr>
                </a:tc>
              </a:tr>
              <a:tr h="246850">
                <a:tc>
                  <a:txBody>
                    <a:bodyPr wrap="none"/>
                    <a:lstStyle/>
                    <a:p>
                      <a:pPr algn="l"/>
                      <a:r>
                        <a:rPr sz="1100" b="1">
                          <a:solidFill>
                            <a:srgbClr val="2E2E2E"/>
                          </a:solidFill>
                          <a:latin typeface="Calibri"/>
                        </a:rPr>
                        <a:t>Input Cost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Labor &amp; Production Costs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Technology &amp; Innovation</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Supply Chain &amp; Logistics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Demand &amp; Market Conditions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Competitive Landscape</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Regulatory &amp; Compliance Costs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Currency &amp; Trade Dynamics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Brand &amp; Value Perception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Aftermarket &amp; Service Costs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379820"/>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3398495"/>
            <a:ext cx="5848350" cy="3157890"/>
          </a:xfrm>
          <a:prstGeom prst="roundRect">
            <a:avLst>
              <a:gd name="adj" fmla="val 241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334125" y="3484220"/>
            <a:ext cx="5581650" cy="209550"/>
          </a:xfrm>
          <a:prstGeom prst="rect">
            <a:avLst/>
          </a:prstGeom>
          <a:noFill/>
        </p:spPr>
        <p:txBody>
          <a:bodyPr wrap="square" lIns="0" rIns="19050" tIns="9525" bIns="9525">
            <a:spAutoFit/>
          </a:bodyPr>
          <a:lstStyle/>
          <a:p>
            <a:pPr algn="l"/>
            <a:r>
              <a:rPr sz="1300" b="1">
                <a:solidFill>
                  <a:srgbClr val="0B2E4A"/>
                </a:solidFill>
                <a:latin typeface="Calibri"/>
              </a:rPr>
              <a:t>Pricing Dynamics &amp; Outlook</a:t>
            </a:r>
          </a:p>
        </p:txBody>
      </p:sp>
      <p:sp>
        <p:nvSpPr>
          <p:cNvPr id="21" name="Rectangle 20"/>
          <p:cNvSpPr/>
          <p:nvPr/>
        </p:nvSpPr>
        <p:spPr>
          <a:xfrm>
            <a:off x="6334125" y="3722345"/>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334125" y="3808070"/>
            <a:ext cx="5581650" cy="267211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8343924" y="2183449"/>
            <a:ext cx="366712" cy="533400"/>
          </a:xfrm>
          <a:prstGeom prst="rect">
            <a:avLst/>
          </a:prstGeom>
        </p:spPr>
      </p:pic>
      <p:sp>
        <p:nvSpPr>
          <p:cNvPr id="25" name="TextBox 24"/>
          <p:cNvSpPr txBox="1"/>
          <p:nvPr/>
        </p:nvSpPr>
        <p:spPr>
          <a:xfrm>
            <a:off x="6334125" y="3817595"/>
            <a:ext cx="3340605" cy="194310"/>
          </a:xfrm>
          <a:prstGeom prst="rect">
            <a:avLst/>
          </a:prstGeom>
          <a:noFill/>
        </p:spPr>
        <p:txBody>
          <a:bodyPr wrap="none" lIns="0" rIns="0" tIns="0" bIns="0">
            <a:spAutoFit/>
          </a:bodyPr>
          <a:lstStyle/>
          <a:p>
            <a:r>
              <a:rPr sz="1150" b="0">
                <a:solidFill>
                  <a:srgbClr val="2E2E2E"/>
                </a:solidFill>
                <a:latin typeface="Calibri"/>
              </a:rPr>
              <a:t>▪ Average product type price is projected to rise from ~</a:t>
            </a:r>
          </a:p>
        </p:txBody>
      </p:sp>
      <p:pic>
        <p:nvPicPr>
          <p:cNvPr id="26" name="Picture 25" descr="lock.png"/>
          <p:cNvPicPr>
            <a:picLocks noChangeAspect="1"/>
          </p:cNvPicPr>
          <p:nvPr/>
        </p:nvPicPr>
        <p:blipFill>
          <a:blip r:embed="rId4"/>
          <a:stretch>
            <a:fillRect/>
          </a:stretch>
        </p:blipFill>
        <p:spPr>
          <a:xfrm>
            <a:off x="9623884" y="3807371"/>
            <a:ext cx="134549" cy="195707"/>
          </a:xfrm>
          <a:prstGeom prst="rect">
            <a:avLst/>
          </a:prstGeom>
        </p:spPr>
      </p:pic>
      <p:sp>
        <p:nvSpPr>
          <p:cNvPr id="27" name="TextBox 26"/>
          <p:cNvSpPr txBox="1"/>
          <p:nvPr/>
        </p:nvSpPr>
        <p:spPr>
          <a:xfrm>
            <a:off x="9798993" y="3817595"/>
            <a:ext cx="308111" cy="194310"/>
          </a:xfrm>
          <a:prstGeom prst="rect">
            <a:avLst/>
          </a:prstGeom>
          <a:noFill/>
        </p:spPr>
        <p:txBody>
          <a:bodyPr wrap="none" lIns="0" rIns="0" tIns="0" bIns="0">
            <a:spAutoFit/>
          </a:bodyPr>
          <a:lstStyle/>
          <a:p>
            <a:r>
              <a:rPr sz="1150" b="0">
                <a:solidFill>
                  <a:srgbClr val="2E2E2E"/>
                </a:solidFill>
                <a:latin typeface="Calibri"/>
              </a:rPr>
              <a:t>to ~</a:t>
            </a:r>
          </a:p>
        </p:txBody>
      </p:sp>
      <p:pic>
        <p:nvPicPr>
          <p:cNvPr id="28" name="Picture 27" descr="lock.png"/>
          <p:cNvPicPr>
            <a:picLocks noChangeAspect="1"/>
          </p:cNvPicPr>
          <p:nvPr/>
        </p:nvPicPr>
        <p:blipFill>
          <a:blip r:embed="rId4"/>
          <a:stretch>
            <a:fillRect/>
          </a:stretch>
        </p:blipFill>
        <p:spPr>
          <a:xfrm>
            <a:off x="10056259" y="3807371"/>
            <a:ext cx="134549" cy="195707"/>
          </a:xfrm>
          <a:prstGeom prst="rect">
            <a:avLst/>
          </a:prstGeom>
        </p:spPr>
      </p:pic>
      <p:sp>
        <p:nvSpPr>
          <p:cNvPr id="29" name="TextBox 28"/>
          <p:cNvSpPr txBox="1"/>
          <p:nvPr/>
        </p:nvSpPr>
        <p:spPr>
          <a:xfrm>
            <a:off x="10231368" y="3817595"/>
            <a:ext cx="1286817" cy="194310"/>
          </a:xfrm>
          <a:prstGeom prst="rect">
            <a:avLst/>
          </a:prstGeom>
          <a:noFill/>
        </p:spPr>
        <p:txBody>
          <a:bodyPr wrap="none" lIns="0" rIns="0" tIns="0" bIns="0">
            <a:spAutoFit/>
          </a:bodyPr>
          <a:lstStyle/>
          <a:p>
            <a:r>
              <a:rPr sz="1150" b="0">
                <a:solidFill>
                  <a:srgbClr val="2E2E2E"/>
                </a:solidFill>
                <a:latin typeface="Calibri"/>
              </a:rPr>
              <a:t>US$/Units by 2036 a</a:t>
            </a:r>
          </a:p>
        </p:txBody>
      </p:sp>
      <p:sp>
        <p:nvSpPr>
          <p:cNvPr id="30" name="TextBox 29"/>
          <p:cNvSpPr txBox="1"/>
          <p:nvPr/>
        </p:nvSpPr>
        <p:spPr>
          <a:xfrm>
            <a:off x="6334125" y="3992855"/>
            <a:ext cx="148939"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1" name="Picture 30" descr="lock.png"/>
          <p:cNvPicPr>
            <a:picLocks noChangeAspect="1"/>
          </p:cNvPicPr>
          <p:nvPr/>
        </p:nvPicPr>
        <p:blipFill>
          <a:blip r:embed="rId4"/>
          <a:stretch>
            <a:fillRect/>
          </a:stretch>
        </p:blipFill>
        <p:spPr>
          <a:xfrm>
            <a:off x="6432218" y="3982631"/>
            <a:ext cx="134549" cy="195707"/>
          </a:xfrm>
          <a:prstGeom prst="rect">
            <a:avLst/>
          </a:prstGeom>
        </p:spPr>
      </p:pic>
      <p:sp>
        <p:nvSpPr>
          <p:cNvPr id="32" name="TextBox 31"/>
          <p:cNvSpPr txBox="1"/>
          <p:nvPr/>
        </p:nvSpPr>
        <p:spPr>
          <a:xfrm>
            <a:off x="6607327" y="3992855"/>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33" name="TextBox 32"/>
          <p:cNvSpPr txBox="1"/>
          <p:nvPr/>
        </p:nvSpPr>
        <p:spPr>
          <a:xfrm>
            <a:off x="6334125" y="4220692"/>
            <a:ext cx="4863901" cy="194310"/>
          </a:xfrm>
          <a:prstGeom prst="rect">
            <a:avLst/>
          </a:prstGeom>
          <a:noFill/>
        </p:spPr>
        <p:txBody>
          <a:bodyPr wrap="none" lIns="0" rIns="0" tIns="0" bIns="0">
            <a:spAutoFit/>
          </a:bodyPr>
          <a:lstStyle/>
          <a:p>
            <a:r>
              <a:rPr sz="1150" b="0">
                <a:solidFill>
                  <a:srgbClr val="2E2E2E"/>
                </a:solidFill>
                <a:latin typeface="Calibri"/>
              </a:rPr>
              <a:t>▪ 'Cast Metal Partial Dentures' shows the strongest forecast price appreciation (+</a:t>
            </a:r>
          </a:p>
        </p:txBody>
      </p:sp>
      <p:pic>
        <p:nvPicPr>
          <p:cNvPr id="34" name="Picture 33" descr="lock.png"/>
          <p:cNvPicPr>
            <a:picLocks noChangeAspect="1"/>
          </p:cNvPicPr>
          <p:nvPr/>
        </p:nvPicPr>
        <p:blipFill>
          <a:blip r:embed="rId4"/>
          <a:stretch>
            <a:fillRect/>
          </a:stretch>
        </p:blipFill>
        <p:spPr>
          <a:xfrm>
            <a:off x="11147180" y="4210469"/>
            <a:ext cx="134549" cy="195707"/>
          </a:xfrm>
          <a:prstGeom prst="rect">
            <a:avLst/>
          </a:prstGeom>
        </p:spPr>
      </p:pic>
      <p:sp>
        <p:nvSpPr>
          <p:cNvPr id="35" name="TextBox 34"/>
          <p:cNvSpPr txBox="1"/>
          <p:nvPr/>
        </p:nvSpPr>
        <p:spPr>
          <a:xfrm>
            <a:off x="11322289" y="4220692"/>
            <a:ext cx="420216" cy="194310"/>
          </a:xfrm>
          <a:prstGeom prst="rect">
            <a:avLst/>
          </a:prstGeom>
          <a:noFill/>
        </p:spPr>
        <p:txBody>
          <a:bodyPr wrap="none" lIns="0" rIns="0" tIns="0" bIns="0">
            <a:spAutoFit/>
          </a:bodyPr>
          <a:lstStyle/>
          <a:p>
            <a:r>
              <a:rPr sz="1150" b="0">
                <a:solidFill>
                  <a:srgbClr val="2E2E2E"/>
                </a:solidFill>
                <a:latin typeface="Calibri"/>
              </a:rPr>
              <a:t>) over</a:t>
            </a:r>
          </a:p>
        </p:txBody>
      </p:sp>
      <p:sp>
        <p:nvSpPr>
          <p:cNvPr id="36" name="TextBox 35"/>
          <p:cNvSpPr txBox="1"/>
          <p:nvPr/>
        </p:nvSpPr>
        <p:spPr>
          <a:xfrm>
            <a:off x="6334125" y="4395952"/>
            <a:ext cx="794469" cy="194310"/>
          </a:xfrm>
          <a:prstGeom prst="rect">
            <a:avLst/>
          </a:prstGeom>
          <a:noFill/>
        </p:spPr>
        <p:txBody>
          <a:bodyPr wrap="none" lIns="0" rIns="0" tIns="0" bIns="0">
            <a:spAutoFit/>
          </a:bodyPr>
          <a:lstStyle/>
          <a:p>
            <a:r>
              <a:rPr sz="1150" b="0">
                <a:solidFill>
                  <a:srgbClr val="2E2E2E"/>
                </a:solidFill>
                <a:latin typeface="Calibri"/>
              </a:rPr>
              <a:t>the horizon.</a:t>
            </a:r>
          </a:p>
        </p:txBody>
      </p:sp>
      <p:sp>
        <p:nvSpPr>
          <p:cNvPr id="37" name="TextBox 36"/>
          <p:cNvSpPr txBox="1"/>
          <p:nvPr/>
        </p:nvSpPr>
        <p:spPr>
          <a:xfrm>
            <a:off x="6334125" y="4623790"/>
            <a:ext cx="5242433" cy="194310"/>
          </a:xfrm>
          <a:prstGeom prst="rect">
            <a:avLst/>
          </a:prstGeom>
          <a:noFill/>
        </p:spPr>
        <p:txBody>
          <a:bodyPr wrap="none" lIns="0" rIns="0" tIns="0" bIns="0">
            <a:spAutoFit/>
          </a:bodyPr>
          <a:lstStyle/>
          <a:p>
            <a:r>
              <a:rPr sz="1150" b="0">
                <a:solidFill>
                  <a:srgbClr val="2E2E2E"/>
                </a:solidFill>
                <a:latin typeface="Calibri"/>
              </a:rPr>
              <a:t>▪ Upward pressure is led by input cost and demand &amp; market conditions; efficiency and</a:t>
            </a:r>
          </a:p>
        </p:txBody>
      </p:sp>
      <p:sp>
        <p:nvSpPr>
          <p:cNvPr id="38" name="TextBox 37"/>
          <p:cNvSpPr txBox="1"/>
          <p:nvPr/>
        </p:nvSpPr>
        <p:spPr>
          <a:xfrm>
            <a:off x="6334125" y="4799050"/>
            <a:ext cx="2567037" cy="194310"/>
          </a:xfrm>
          <a:prstGeom prst="rect">
            <a:avLst/>
          </a:prstGeom>
          <a:noFill/>
        </p:spPr>
        <p:txBody>
          <a:bodyPr wrap="none" lIns="0" rIns="0" tIns="0" bIns="0">
            <a:spAutoFit/>
          </a:bodyPr>
          <a:lstStyle/>
          <a:p>
            <a:r>
              <a:rPr sz="1150" b="0">
                <a:solidFill>
                  <a:srgbClr val="2E2E2E"/>
                </a:solidFill>
                <a:latin typeface="Calibri"/>
              </a:rPr>
              <a:t>competitive intensity work the other way.</a:t>
            </a:r>
          </a:p>
        </p:txBody>
      </p:sp>
      <p:sp>
        <p:nvSpPr>
          <p:cNvPr id="39" name="TextBox 38"/>
          <p:cNvSpPr txBox="1"/>
          <p:nvPr/>
        </p:nvSpPr>
        <p:spPr>
          <a:xfrm>
            <a:off x="6334125" y="5026888"/>
            <a:ext cx="5203638" cy="194310"/>
          </a:xfrm>
          <a:prstGeom prst="rect">
            <a:avLst/>
          </a:prstGeom>
          <a:noFill/>
        </p:spPr>
        <p:txBody>
          <a:bodyPr wrap="none" lIns="0" rIns="0" tIns="0" bIns="0">
            <a:spAutoFit/>
          </a:bodyPr>
          <a:lstStyle/>
          <a:p>
            <a:r>
              <a:rPr sz="1150" b="0">
                <a:solidFill>
                  <a:srgbClr val="2E2E2E"/>
                </a:solidFill>
                <a:latin typeface="Calibri"/>
              </a:rPr>
              <a:t>▪ Net outlook: modest, structural price appreciation mix and geography will determine</a:t>
            </a:r>
          </a:p>
        </p:txBody>
      </p:sp>
      <p:sp>
        <p:nvSpPr>
          <p:cNvPr id="40" name="TextBox 39"/>
          <p:cNvSpPr txBox="1"/>
          <p:nvPr/>
        </p:nvSpPr>
        <p:spPr>
          <a:xfrm>
            <a:off x="6334125" y="5202148"/>
            <a:ext cx="1016111" cy="194310"/>
          </a:xfrm>
          <a:prstGeom prst="rect">
            <a:avLst/>
          </a:prstGeom>
          <a:noFill/>
        </p:spPr>
        <p:txBody>
          <a:bodyPr wrap="none" lIns="0" rIns="0" tIns="0" bIns="0">
            <a:spAutoFit/>
          </a:bodyPr>
          <a:lstStyle/>
          <a:p>
            <a:r>
              <a:rPr sz="1150" b="0">
                <a:solidFill>
                  <a:srgbClr val="2E2E2E"/>
                </a:solidFill>
                <a:latin typeface="Calibri"/>
              </a:rPr>
              <a:t>realised pricing.</a:t>
            </a:r>
          </a:p>
        </p:txBody>
      </p:sp>
    </p:spTree>
  </p:cSld>
  <p:clrMapOvr>
    <a:masterClrMapping/>
  </p:clrMapOvr>
</p:sld>
</file>

<file path=ppt/slides/slide2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Competitor Pricing Strategies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how leading players position price: tier, price position versus peers and strategy focus</a:t>
            </a:r>
          </a:p>
        </p:txBody>
      </p:sp>
      <p:sp>
        <p:nvSpPr>
          <p:cNvPr id="10" name="Rounded Rectangle 9"/>
          <p:cNvSpPr/>
          <p:nvPr/>
        </p:nvSpPr>
        <p:spPr>
          <a:xfrm>
            <a:off x="142875" y="1007261"/>
            <a:ext cx="769620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Competitor pricing strategies how leading players position price and the levers they use to sustain it.</a:t>
            </a:r>
          </a:p>
        </p:txBody>
      </p:sp>
      <p:sp>
        <p:nvSpPr>
          <p:cNvPr id="11" name="Rounded Rectangle 10"/>
          <p:cNvSpPr/>
          <p:nvPr/>
        </p:nvSpPr>
        <p:spPr>
          <a:xfrm>
            <a:off x="142875" y="1317574"/>
            <a:ext cx="7696200" cy="3924545"/>
          </a:xfrm>
          <a:prstGeom prst="roundRect">
            <a:avLst>
              <a:gd name="adj" fmla="val 194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2" name="Table 11"/>
          <p:cNvGraphicFramePr>
            <a:graphicFrameLocks noGrp="1"/>
          </p:cNvGraphicFramePr>
          <p:nvPr/>
        </p:nvGraphicFramePr>
        <p:xfrm>
          <a:off x="152400" y="1393774"/>
          <a:ext cx="7677149" cy="3619746"/>
        </p:xfrm>
        <a:graphic>
          <a:graphicData uri="http://schemas.openxmlformats.org/drawingml/2006/table">
            <a:tbl>
              <a:tblPr>
                <a:tableStyleId>{5C22544A-7EE6-4342-B048-85BDC9FD1C3A}</a:tableStyleId>
              </a:tblPr>
              <a:tblGrid>
                <a:gridCol w="2909579"/>
                <a:gridCol w="482511"/>
                <a:gridCol w="1014378"/>
                <a:gridCol w="949582"/>
                <a:gridCol w="2321099"/>
              </a:tblGrid>
              <a:tr h="246126">
                <a:tc>
                  <a:txBody>
                    <a:bodyPr wrap="none"/>
                    <a:lstStyle/>
                    <a:p>
                      <a:pPr algn="l"/>
                      <a:r>
                        <a:rPr sz="1100" b="1">
                          <a:solidFill>
                            <a:srgbClr val="0B2E4A"/>
                          </a:solidFill>
                          <a:latin typeface="Calibri"/>
                        </a:rPr>
                        <a:t>Company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Tier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Price Position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ASP vs Peers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Strategy Focus</a:t>
                      </a:r>
                      <a:endParaRPr sz="1100"/>
                    </a:p>
                  </a:txBody>
                  <a:tcPr marL="47625" marR="38100" marT="19050" marB="19050" anchor="ctr">
                    <a:solidFill>
                      <a:srgbClr val="E0E8EF"/>
                    </a:solidFill>
                  </a:tcPr>
                </a:tc>
              </a:tr>
              <a:tr h="562270">
                <a:tc>
                  <a:txBody>
                    <a:bodyPr wrap="none"/>
                    <a:lstStyle/>
                    <a:p>
                      <a:pPr algn="l"/>
                      <a:r>
                        <a:rPr sz="1100" b="1">
                          <a:solidFill>
                            <a:srgbClr val="2E2E2E"/>
                          </a:solidFill>
                          <a:latin typeface="Calibri"/>
                        </a:rPr>
                        <a:t>Dentsply Sirona Inc.</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Tier 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Premium</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Premium, brand-led pricing</a:t>
                      </a:r>
                      <a:endParaRPr sz="1100"/>
                    </a:p>
                  </a:txBody>
                  <a:tcPr marL="47625" marR="38100" marT="19050" marB="19050" anchor="ctr">
                    <a:solidFill>
                      <a:srgbClr val="FFFFFF"/>
                    </a:solidFill>
                  </a:tcPr>
                </a:tc>
              </a:tr>
              <a:tr h="562270">
                <a:tc>
                  <a:txBody>
                    <a:bodyPr wrap="none"/>
                    <a:lstStyle/>
                    <a:p>
                      <a:pPr algn="l"/>
                      <a:r>
                        <a:rPr sz="1100" b="1">
                          <a:solidFill>
                            <a:srgbClr val="2E2E2E"/>
                          </a:solidFill>
                          <a:latin typeface="Calibri"/>
                        </a:rPr>
                        <a:t>Ivoclar Vivadent AG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Tier 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Premium</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Value-based premium pricing</a:t>
                      </a:r>
                      <a:endParaRPr sz="1100"/>
                    </a:p>
                  </a:txBody>
                  <a:tcPr marL="47625" marR="38100" marT="19050" marB="19050" anchor="ctr">
                    <a:solidFill>
                      <a:srgbClr val="F5F8FA"/>
                    </a:solidFill>
                  </a:tcPr>
                </a:tc>
              </a:tr>
              <a:tr h="562270">
                <a:tc>
                  <a:txBody>
                    <a:bodyPr wrap="none"/>
                    <a:lstStyle/>
                    <a:p>
                      <a:pPr algn="l"/>
                      <a:r>
                        <a:rPr sz="1100" b="1">
                          <a:solidFill>
                            <a:srgbClr val="2E2E2E"/>
                          </a:solidFill>
                          <a:latin typeface="Calibri"/>
                        </a:rPr>
                        <a:t>Kulzer GmbH</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Tier 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Premium</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Innovation-led price leadership</a:t>
                      </a:r>
                      <a:endParaRPr sz="1100"/>
                    </a:p>
                  </a:txBody>
                  <a:tcPr marL="47625" marR="38100" marT="19050" marB="19050" anchor="ctr">
                    <a:solidFill>
                      <a:srgbClr val="FFFFFF"/>
                    </a:solidFill>
                  </a:tcPr>
                </a:tc>
              </a:tr>
              <a:tr h="562270">
                <a:tc>
                  <a:txBody>
                    <a:bodyPr wrap="none"/>
                    <a:lstStyle/>
                    <a:p>
                      <a:pPr algn="l"/>
                      <a:r>
                        <a:rPr sz="1100" b="1">
                          <a:solidFill>
                            <a:srgbClr val="2E2E2E"/>
                          </a:solidFill>
                          <a:latin typeface="Calibri"/>
                        </a:rPr>
                        <a:t>GC Corporation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Tier 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Parity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Parity pricing with mix upsell</a:t>
                      </a:r>
                      <a:endParaRPr sz="1100"/>
                    </a:p>
                  </a:txBody>
                  <a:tcPr marL="47625" marR="38100" marT="19050" marB="19050" anchor="ctr">
                    <a:solidFill>
                      <a:srgbClr val="F5F8FA"/>
                    </a:solidFill>
                  </a:tcPr>
                </a:tc>
              </a:tr>
              <a:tr h="562270">
                <a:tc>
                  <a:txBody>
                    <a:bodyPr wrap="none"/>
                    <a:lstStyle/>
                    <a:p>
                      <a:pPr algn="l"/>
                      <a:r>
                        <a:rPr sz="1100" b="1">
                          <a:solidFill>
                            <a:srgbClr val="2E2E2E"/>
                          </a:solidFill>
                          <a:latin typeface="Calibri"/>
                        </a:rPr>
                        <a:t>SHOFU INC.</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Tier 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Parity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Penetration &amp; share-led pricing</a:t>
                      </a:r>
                      <a:endParaRPr sz="1100"/>
                    </a:p>
                  </a:txBody>
                  <a:tcPr marL="47625" marR="38100" marT="19050" marB="19050" anchor="ctr">
                    <a:solidFill>
                      <a:srgbClr val="FFFFFF"/>
                    </a:solidFill>
                  </a:tcPr>
                </a:tc>
              </a:tr>
              <a:tr h="562270">
                <a:tc>
                  <a:txBody>
                    <a:bodyPr wrap="none"/>
                    <a:lstStyle/>
                    <a:p>
                      <a:pPr algn="l"/>
                      <a:r>
                        <a:rPr sz="1100" b="1">
                          <a:solidFill>
                            <a:srgbClr val="2E2E2E"/>
                          </a:solidFill>
                          <a:latin typeface="Calibri"/>
                        </a:rPr>
                        <a:t>VITA Zahnfabrik H. Rauter GmbH &amp; Co. KG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Tier 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Parity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Competitive / discount-led pricing</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023044"/>
            <a:ext cx="75438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5351641"/>
            <a:ext cx="7696200" cy="365074"/>
          </a:xfrm>
          <a:prstGeom prst="roundRect">
            <a:avLst>
              <a:gd name="adj" fmla="val 2087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Note: competitor figures are indicative derived from market modelling and expert validation, not company disclosures.</a:t>
            </a:r>
          </a:p>
        </p:txBody>
      </p:sp>
      <p:sp>
        <p:nvSpPr>
          <p:cNvPr id="15" name="Rounded Rectangle 14"/>
          <p:cNvSpPr/>
          <p:nvPr/>
        </p:nvSpPr>
        <p:spPr>
          <a:xfrm>
            <a:off x="7915275" y="1317574"/>
            <a:ext cx="4133850" cy="5238811"/>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8048625" y="1403299"/>
            <a:ext cx="3867150" cy="209550"/>
          </a:xfrm>
          <a:prstGeom prst="rect">
            <a:avLst/>
          </a:prstGeom>
          <a:noFill/>
        </p:spPr>
        <p:txBody>
          <a:bodyPr wrap="square" lIns="0" rIns="19050" tIns="9525" bIns="9525">
            <a:spAutoFit/>
          </a:bodyPr>
          <a:lstStyle/>
          <a:p>
            <a:pPr algn="l"/>
            <a:r>
              <a:rPr sz="1300" b="1">
                <a:solidFill>
                  <a:srgbClr val="0B2E4A"/>
                </a:solidFill>
                <a:latin typeface="Calibri"/>
              </a:rPr>
              <a:t>Competitive Pricing Themes</a:t>
            </a:r>
          </a:p>
        </p:txBody>
      </p:sp>
      <p:sp>
        <p:nvSpPr>
          <p:cNvPr id="17" name="Rectangle 16"/>
          <p:cNvSpPr/>
          <p:nvPr/>
        </p:nvSpPr>
        <p:spPr>
          <a:xfrm>
            <a:off x="8048625" y="1641424"/>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8048625" y="1727149"/>
            <a:ext cx="3867150" cy="4753036"/>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Tier 1 players anchor premium pricing, defending ASP through brand, product development and certification rather than discounting.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Mid-tier players price at or just below parity, using launches and expansion to win share in fast-growing segments.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Emerging players compete on value pricing, trading margin for access and volume in price-sensitive regions.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Across tiers, R&amp;D investment and selective M&amp;A are the primary levers to move up the price ladder over time.</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4865638" y="3086680"/>
            <a:ext cx="330041" cy="480060"/>
          </a:xfrm>
          <a:prstGeom prst="rect">
            <a:avLst/>
          </a:prstGeom>
        </p:spPr>
      </p:pic>
    </p:spTree>
  </p:cSld>
  <p:clrMapOvr>
    <a:masterClrMapping/>
  </p:clrMapOvr>
</p:sld>
</file>

<file path=ppt/slides/slide254.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Removable Partial Dentures Market</a:t>
            </a:r>
          </a:p>
        </p:txBody>
      </p:sp>
      <p:sp>
        <p:nvSpPr>
          <p:cNvPr id="6" name="FMI Breaker Title"/>
          <p:cNvSpPr txBox="1"/>
          <p:nvPr/>
        </p:nvSpPr>
        <p:spPr>
          <a:xfrm>
            <a:off x="914400" y="3698875"/>
            <a:ext cx="7239000" cy="514350"/>
          </a:xfrm>
          <a:prstGeom prst="rect">
            <a:avLst/>
          </a:prstGeom>
          <a:noFill/>
        </p:spPr>
        <p:txBody>
          <a:bodyPr wrap="square" lIns="0" rIns="0" tIns="0">
            <a:spAutoFit/>
          </a:bodyPr>
          <a:lstStyle/>
          <a:p>
            <a:r>
              <a:rPr sz="3000" b="1" cap="all" spc="400">
                <a:solidFill>
                  <a:srgbClr val="FFFFFF"/>
                </a:solidFill>
                <a:latin typeface="Calibri"/>
              </a:rPr>
              <a:t>Supply Chain Analysis</a:t>
            </a:r>
          </a:p>
        </p:txBody>
      </p:sp>
      <p:sp>
        <p:nvSpPr>
          <p:cNvPr id="7" name="TextBox 6"/>
          <p:cNvSpPr txBox="1"/>
          <p:nvPr/>
        </p:nvSpPr>
        <p:spPr>
          <a:xfrm>
            <a:off x="914400" y="4403725"/>
            <a:ext cx="71247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Supply Chain Analysis</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5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Supply Chain Analysis</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Chain &amp; Stakeholder Mapping</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Operating Margin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Buyers Assessment</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Value Chain &amp; Stakeholder Mapping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Mapping of the value chain stages, the stakeholders at each stage and the value added along the chain</a:t>
            </a:r>
          </a:p>
        </p:txBody>
      </p:sp>
      <p:sp>
        <p:nvSpPr>
          <p:cNvPr id="10" name="TextBox 9"/>
          <p:cNvSpPr txBox="1"/>
          <p:nvPr/>
        </p:nvSpPr>
        <p:spPr>
          <a:xfrm>
            <a:off x="285750" y="970754"/>
            <a:ext cx="10668000" cy="164283"/>
          </a:xfrm>
          <a:prstGeom prst="rect">
            <a:avLst/>
          </a:prstGeom>
          <a:noFill/>
        </p:spPr>
        <p:txBody>
          <a:bodyPr wrap="square" lIns="0" rIns="19050" tIns="0" bIns="0">
            <a:spAutoFit/>
          </a:bodyPr>
          <a:lstStyle/>
          <a:p>
            <a:pPr algn="l"/>
            <a:r>
              <a:rPr sz="1100" b="0">
                <a:solidFill>
                  <a:srgbClr val="6C7A89"/>
                </a:solidFill>
                <a:latin typeface="Calibri"/>
              </a:rPr>
              <a:t>End-to-end value chain with the key stakeholders at each stage and their indicative contribution to value addition.</a:t>
            </a:r>
          </a:p>
        </p:txBody>
      </p:sp>
      <p:sp>
        <p:nvSpPr>
          <p:cNvPr id="11" name="Right Arrow 10"/>
          <p:cNvSpPr/>
          <p:nvPr/>
        </p:nvSpPr>
        <p:spPr>
          <a:xfrm>
            <a:off x="1885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ight Arrow 11"/>
          <p:cNvSpPr/>
          <p:nvPr/>
        </p:nvSpPr>
        <p:spPr>
          <a:xfrm>
            <a:off x="4171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Right Arrow 12"/>
          <p:cNvSpPr/>
          <p:nvPr/>
        </p:nvSpPr>
        <p:spPr>
          <a:xfrm>
            <a:off x="6457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Right Arrow 13"/>
          <p:cNvSpPr/>
          <p:nvPr/>
        </p:nvSpPr>
        <p:spPr>
          <a:xfrm>
            <a:off x="8743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19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Raw Material</a:t>
            </a:r>
          </a:p>
          <a:p>
            <a:pPr algn="ctr">
              <a:lnSpc>
                <a:spcPct val="100000"/>
              </a:lnSpc>
            </a:pPr>
            <a:r>
              <a:rPr sz="1100" b="1">
                <a:solidFill>
                  <a:srgbClr val="0B2E4A"/>
                </a:solidFill>
                <a:latin typeface="Calibri"/>
              </a:rPr>
              <a:t>Suppliers</a:t>
            </a:r>
          </a:p>
        </p:txBody>
      </p:sp>
      <p:sp>
        <p:nvSpPr>
          <p:cNvPr id="16" name="Oval 15"/>
          <p:cNvSpPr/>
          <p:nvPr/>
        </p:nvSpPr>
        <p:spPr>
          <a:xfrm>
            <a:off x="1076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Oval 16"/>
          <p:cNvSpPr/>
          <p:nvPr/>
        </p:nvSpPr>
        <p:spPr>
          <a:xfrm>
            <a:off x="1123950" y="1719155"/>
            <a:ext cx="800100" cy="766655"/>
          </a:xfrm>
          <a:prstGeom prst="ellipse">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1509712" y="2084229"/>
            <a:ext cx="28575" cy="1551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Oval 18"/>
          <p:cNvSpPr/>
          <p:nvPr/>
        </p:nvSpPr>
        <p:spPr>
          <a:xfrm rot="19500000">
            <a:off x="1381125" y="2020341"/>
            <a:ext cx="142875" cy="82142"/>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Oval 19"/>
          <p:cNvSpPr/>
          <p:nvPr/>
        </p:nvSpPr>
        <p:spPr>
          <a:xfrm rot="2100000">
            <a:off x="1524000" y="2020341"/>
            <a:ext cx="142875" cy="82142"/>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ounded Rectangle 20"/>
          <p:cNvSpPr/>
          <p:nvPr/>
        </p:nvSpPr>
        <p:spPr>
          <a:xfrm>
            <a:off x="1000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a:t>
            </a:r>
          </a:p>
        </p:txBody>
      </p:sp>
      <p:sp>
        <p:nvSpPr>
          <p:cNvPr id="22" name="Rounded Rectangle 21"/>
          <p:cNvSpPr/>
          <p:nvPr/>
        </p:nvSpPr>
        <p:spPr>
          <a:xfrm>
            <a:off x="457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Rectangle 22"/>
          <p:cNvSpPr/>
          <p:nvPr/>
        </p:nvSpPr>
        <p:spPr>
          <a:xfrm>
            <a:off x="457200" y="2905646"/>
            <a:ext cx="2133600" cy="4563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542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Raw Material Suppliers</a:t>
            </a:r>
          </a:p>
        </p:txBody>
      </p:sp>
      <p:sp>
        <p:nvSpPr>
          <p:cNvPr id="25" name="TextBox 24"/>
          <p:cNvSpPr txBox="1"/>
          <p:nvPr/>
        </p:nvSpPr>
        <p:spPr>
          <a:xfrm>
            <a:off x="542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26" name="TextBox 25"/>
          <p:cNvSpPr txBox="1"/>
          <p:nvPr/>
        </p:nvSpPr>
        <p:spPr>
          <a:xfrm>
            <a:off x="542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Growers and primary producers supply core inputs; some forward-integrate into small-scale processing.</a:t>
            </a:r>
          </a:p>
        </p:txBody>
      </p:sp>
      <p:sp>
        <p:nvSpPr>
          <p:cNvPr id="27" name="TextBox 26"/>
          <p:cNvSpPr txBox="1"/>
          <p:nvPr/>
        </p:nvSpPr>
        <p:spPr>
          <a:xfrm>
            <a:off x="2705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Manufacturers</a:t>
            </a:r>
          </a:p>
        </p:txBody>
      </p:sp>
      <p:sp>
        <p:nvSpPr>
          <p:cNvPr id="28" name="Oval 27"/>
          <p:cNvSpPr/>
          <p:nvPr/>
        </p:nvSpPr>
        <p:spPr>
          <a:xfrm>
            <a:off x="3362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Oval 28"/>
          <p:cNvSpPr/>
          <p:nvPr/>
        </p:nvSpPr>
        <p:spPr>
          <a:xfrm>
            <a:off x="3409950" y="1719155"/>
            <a:ext cx="800100" cy="766655"/>
          </a:xfrm>
          <a:prstGeom prst="ellipse">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638550" y="2084229"/>
            <a:ext cx="342900" cy="16428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667125" y="1983834"/>
            <a:ext cx="66675" cy="109522"/>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3771900" y="2020341"/>
            <a:ext cx="66675" cy="7301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3876675" y="1992961"/>
            <a:ext cx="66675" cy="10039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ounded Rectangle 33"/>
          <p:cNvSpPr/>
          <p:nvPr/>
        </p:nvSpPr>
        <p:spPr>
          <a:xfrm>
            <a:off x="3286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a:t>
            </a:r>
          </a:p>
        </p:txBody>
      </p:sp>
      <p:sp>
        <p:nvSpPr>
          <p:cNvPr id="35" name="Rounded Rectangle 34"/>
          <p:cNvSpPr/>
          <p:nvPr/>
        </p:nvSpPr>
        <p:spPr>
          <a:xfrm>
            <a:off x="2743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2743200" y="2905646"/>
            <a:ext cx="2133600" cy="4563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828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Manufacturers / Processors</a:t>
            </a:r>
          </a:p>
        </p:txBody>
      </p:sp>
      <p:sp>
        <p:nvSpPr>
          <p:cNvPr id="38" name="TextBox 37"/>
          <p:cNvSpPr txBox="1"/>
          <p:nvPr/>
        </p:nvSpPr>
        <p:spPr>
          <a:xfrm>
            <a:off x="2828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39" name="TextBox 38"/>
          <p:cNvSpPr txBox="1"/>
          <p:nvPr/>
        </p:nvSpPr>
        <p:spPr>
          <a:xfrm>
            <a:off x="2828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Convert inputs into finished and semi-finished product the single largest value-addition stage.</a:t>
            </a:r>
          </a:p>
        </p:txBody>
      </p:sp>
      <p:sp>
        <p:nvSpPr>
          <p:cNvPr id="40" name="TextBox 39"/>
          <p:cNvSpPr txBox="1"/>
          <p:nvPr/>
        </p:nvSpPr>
        <p:spPr>
          <a:xfrm>
            <a:off x="4991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Distributors</a:t>
            </a:r>
          </a:p>
        </p:txBody>
      </p:sp>
      <p:sp>
        <p:nvSpPr>
          <p:cNvPr id="41" name="Oval 40"/>
          <p:cNvSpPr/>
          <p:nvPr/>
        </p:nvSpPr>
        <p:spPr>
          <a:xfrm>
            <a:off x="5648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Oval 41"/>
          <p:cNvSpPr/>
          <p:nvPr/>
        </p:nvSpPr>
        <p:spPr>
          <a:xfrm>
            <a:off x="5695950" y="1719155"/>
            <a:ext cx="800100" cy="766655"/>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5915025" y="2002088"/>
            <a:ext cx="209550" cy="16428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6134100" y="2075102"/>
            <a:ext cx="123825" cy="91268"/>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Oval 44"/>
          <p:cNvSpPr/>
          <p:nvPr/>
        </p:nvSpPr>
        <p:spPr>
          <a:xfrm>
            <a:off x="5972175" y="2148117"/>
            <a:ext cx="85725" cy="82142"/>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Oval 45"/>
          <p:cNvSpPr/>
          <p:nvPr/>
        </p:nvSpPr>
        <p:spPr>
          <a:xfrm>
            <a:off x="6153150" y="2148117"/>
            <a:ext cx="85725" cy="82142"/>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ounded Rectangle 46"/>
          <p:cNvSpPr/>
          <p:nvPr/>
        </p:nvSpPr>
        <p:spPr>
          <a:xfrm>
            <a:off x="5572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a:t>
            </a:r>
          </a:p>
        </p:txBody>
      </p:sp>
      <p:sp>
        <p:nvSpPr>
          <p:cNvPr id="48" name="Rounded Rectangle 47"/>
          <p:cNvSpPr/>
          <p:nvPr/>
        </p:nvSpPr>
        <p:spPr>
          <a:xfrm>
            <a:off x="5029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29200" y="2905646"/>
            <a:ext cx="2133600" cy="4563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5114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Distributors &amp; Wholesalers</a:t>
            </a:r>
          </a:p>
        </p:txBody>
      </p:sp>
      <p:sp>
        <p:nvSpPr>
          <p:cNvPr id="51" name="TextBox 50"/>
          <p:cNvSpPr txBox="1"/>
          <p:nvPr/>
        </p:nvSpPr>
        <p:spPr>
          <a:xfrm>
            <a:off x="5114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52" name="TextBox 51"/>
          <p:cNvSpPr txBox="1"/>
          <p:nvPr/>
        </p:nvSpPr>
        <p:spPr>
          <a:xfrm>
            <a:off x="5114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Move product to market, hold inventory and provide logistics, reach and credit to downstream channels.</a:t>
            </a:r>
          </a:p>
        </p:txBody>
      </p:sp>
      <p:sp>
        <p:nvSpPr>
          <p:cNvPr id="53" name="TextBox 52"/>
          <p:cNvSpPr txBox="1"/>
          <p:nvPr/>
        </p:nvSpPr>
        <p:spPr>
          <a:xfrm>
            <a:off x="7277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Retailers</a:t>
            </a:r>
          </a:p>
        </p:txBody>
      </p:sp>
      <p:sp>
        <p:nvSpPr>
          <p:cNvPr id="54" name="Oval 53"/>
          <p:cNvSpPr/>
          <p:nvPr/>
        </p:nvSpPr>
        <p:spPr>
          <a:xfrm>
            <a:off x="7934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7981950" y="1719155"/>
            <a:ext cx="800100" cy="766655"/>
          </a:xfrm>
          <a:prstGeom prst="ellipse">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Isosceles Triangle 55"/>
          <p:cNvSpPr/>
          <p:nvPr/>
        </p:nvSpPr>
        <p:spPr>
          <a:xfrm>
            <a:off x="8201025" y="1965580"/>
            <a:ext cx="361950" cy="109522"/>
          </a:xfrm>
          <a:prstGeom prst="triangl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8239125" y="2065976"/>
            <a:ext cx="285750" cy="182537"/>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8343900" y="2138990"/>
            <a:ext cx="76200" cy="109522"/>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ounded Rectangle 58"/>
          <p:cNvSpPr/>
          <p:nvPr/>
        </p:nvSpPr>
        <p:spPr>
          <a:xfrm>
            <a:off x="7858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a:t>
            </a:r>
          </a:p>
        </p:txBody>
      </p:sp>
      <p:sp>
        <p:nvSpPr>
          <p:cNvPr id="60" name="Rounded Rectangle 59"/>
          <p:cNvSpPr/>
          <p:nvPr/>
        </p:nvSpPr>
        <p:spPr>
          <a:xfrm>
            <a:off x="7315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7315200" y="2905646"/>
            <a:ext cx="2133600" cy="4563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7400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Retailers &amp; Channels</a:t>
            </a:r>
          </a:p>
        </p:txBody>
      </p:sp>
      <p:sp>
        <p:nvSpPr>
          <p:cNvPr id="63" name="TextBox 62"/>
          <p:cNvSpPr txBox="1"/>
          <p:nvPr/>
        </p:nvSpPr>
        <p:spPr>
          <a:xfrm>
            <a:off x="7400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64" name="TextBox 63"/>
          <p:cNvSpPr txBox="1"/>
          <p:nvPr/>
        </p:nvSpPr>
        <p:spPr>
          <a:xfrm>
            <a:off x="7400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Sell to end customers across offline and online channels, capturing point-of-sale margin and brand visibility.</a:t>
            </a:r>
          </a:p>
        </p:txBody>
      </p:sp>
      <p:sp>
        <p:nvSpPr>
          <p:cNvPr id="65" name="TextBox 64"/>
          <p:cNvSpPr txBox="1"/>
          <p:nvPr/>
        </p:nvSpPr>
        <p:spPr>
          <a:xfrm>
            <a:off x="9563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End Users</a:t>
            </a:r>
          </a:p>
        </p:txBody>
      </p:sp>
      <p:sp>
        <p:nvSpPr>
          <p:cNvPr id="66" name="Oval 65"/>
          <p:cNvSpPr/>
          <p:nvPr/>
        </p:nvSpPr>
        <p:spPr>
          <a:xfrm>
            <a:off x="10220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Oval 66"/>
          <p:cNvSpPr/>
          <p:nvPr/>
        </p:nvSpPr>
        <p:spPr>
          <a:xfrm>
            <a:off x="10267950" y="1719155"/>
            <a:ext cx="800100" cy="766655"/>
          </a:xfrm>
          <a:prstGeom prst="ellipse">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Oval 67"/>
          <p:cNvSpPr/>
          <p:nvPr/>
        </p:nvSpPr>
        <p:spPr>
          <a:xfrm>
            <a:off x="10601325" y="1956453"/>
            <a:ext cx="133350" cy="127776"/>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Freeform 68"/>
          <p:cNvSpPr/>
          <p:nvPr/>
        </p:nvSpPr>
        <p:spPr>
          <a:xfrm>
            <a:off x="10544175" y="2111610"/>
            <a:ext cx="247650" cy="127776"/>
          </a:xfrm>
          <a:custGeom>
            <a:avLst/>
            <a:gdLst/>
            <a:ahLst/>
            <a:cxnLst/>
            <a:rect l="l" t="t" r="r" b="b"/>
            <a:pathLst>
              <a:path w="26" h="14">
                <a:moveTo>
                  <a:pt x="0" y="14"/>
                </a:moveTo>
                <a:lnTo>
                  <a:pt x="4" y="0"/>
                </a:lnTo>
                <a:lnTo>
                  <a:pt x="22" y="0"/>
                </a:lnTo>
                <a:lnTo>
                  <a:pt x="26" y="14"/>
                </a:lnTo>
                <a:close/>
              </a:path>
            </a:pathLst>
          </a:cu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ounded Rectangle 69"/>
          <p:cNvSpPr/>
          <p:nvPr/>
        </p:nvSpPr>
        <p:spPr>
          <a:xfrm>
            <a:off x="10144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a:t>
            </a:r>
          </a:p>
        </p:txBody>
      </p:sp>
      <p:sp>
        <p:nvSpPr>
          <p:cNvPr id="71" name="Rounded Rectangle 70"/>
          <p:cNvSpPr/>
          <p:nvPr/>
        </p:nvSpPr>
        <p:spPr>
          <a:xfrm>
            <a:off x="9601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601200" y="2905646"/>
            <a:ext cx="2133600" cy="4563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9686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End Users</a:t>
            </a:r>
          </a:p>
        </p:txBody>
      </p:sp>
      <p:sp>
        <p:nvSpPr>
          <p:cNvPr id="74" name="TextBox 73"/>
          <p:cNvSpPr txBox="1"/>
          <p:nvPr/>
        </p:nvSpPr>
        <p:spPr>
          <a:xfrm>
            <a:off x="9686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75" name="TextBox 74"/>
          <p:cNvSpPr txBox="1"/>
          <p:nvPr/>
        </p:nvSpPr>
        <p:spPr>
          <a:xfrm>
            <a:off x="9686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Consumers and downstream industries; large end users sometimes backward-integrate to secure supply and cost.</a:t>
            </a:r>
          </a:p>
        </p:txBody>
      </p:sp>
      <p:sp>
        <p:nvSpPr>
          <p:cNvPr id="76" name="Rounded Rectangle 75"/>
          <p:cNvSpPr/>
          <p:nvPr/>
        </p:nvSpPr>
        <p:spPr>
          <a:xfrm>
            <a:off x="381000" y="5315134"/>
            <a:ext cx="11430000" cy="1204744"/>
          </a:xfrm>
          <a:prstGeom prst="roundRect">
            <a:avLst>
              <a:gd name="adj" fmla="val 606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514350" y="5397275"/>
            <a:ext cx="11163300" cy="200791"/>
          </a:xfrm>
          <a:prstGeom prst="rect">
            <a:avLst/>
          </a:prstGeom>
          <a:noFill/>
        </p:spPr>
        <p:txBody>
          <a:bodyPr wrap="square" lIns="0" rIns="19050" tIns="9525" bIns="9525">
            <a:spAutoFit/>
          </a:bodyPr>
          <a:lstStyle/>
          <a:p>
            <a:pPr algn="l"/>
            <a:r>
              <a:rPr sz="1300" b="1">
                <a:solidFill>
                  <a:srgbClr val="0B2E4A"/>
                </a:solidFill>
                <a:latin typeface="Calibri"/>
              </a:rPr>
              <a:t>Value-Added Read-out</a:t>
            </a:r>
          </a:p>
        </p:txBody>
      </p:sp>
      <p:sp>
        <p:nvSpPr>
          <p:cNvPr id="78" name="Rectangle 77"/>
          <p:cNvSpPr/>
          <p:nvPr/>
        </p:nvSpPr>
        <p:spPr>
          <a:xfrm>
            <a:off x="514350" y="5625447"/>
            <a:ext cx="111633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514350" y="5707588"/>
            <a:ext cx="11163300" cy="73927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80" name="TextBox 7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81" name="Picture 80" descr="lock.png"/>
          <p:cNvPicPr>
            <a:picLocks noChangeAspect="1"/>
          </p:cNvPicPr>
          <p:nvPr/>
        </p:nvPicPr>
        <p:blipFill>
          <a:blip r:embed="rId4"/>
          <a:stretch>
            <a:fillRect/>
          </a:stretch>
        </p:blipFill>
        <p:spPr>
          <a:xfrm>
            <a:off x="1459650" y="2611256"/>
            <a:ext cx="128699" cy="187198"/>
          </a:xfrm>
          <a:prstGeom prst="rect">
            <a:avLst/>
          </a:prstGeom>
        </p:spPr>
      </p:pic>
      <p:pic>
        <p:nvPicPr>
          <p:cNvPr id="82" name="Picture 81" descr="lock.png"/>
          <p:cNvPicPr>
            <a:picLocks noChangeAspect="1"/>
          </p:cNvPicPr>
          <p:nvPr/>
        </p:nvPicPr>
        <p:blipFill>
          <a:blip r:embed="rId4"/>
          <a:stretch>
            <a:fillRect/>
          </a:stretch>
        </p:blipFill>
        <p:spPr>
          <a:xfrm>
            <a:off x="3745650" y="2611256"/>
            <a:ext cx="128699" cy="187198"/>
          </a:xfrm>
          <a:prstGeom prst="rect">
            <a:avLst/>
          </a:prstGeom>
        </p:spPr>
      </p:pic>
      <p:pic>
        <p:nvPicPr>
          <p:cNvPr id="83" name="Picture 82" descr="lock.png"/>
          <p:cNvPicPr>
            <a:picLocks noChangeAspect="1"/>
          </p:cNvPicPr>
          <p:nvPr/>
        </p:nvPicPr>
        <p:blipFill>
          <a:blip r:embed="rId4"/>
          <a:stretch>
            <a:fillRect/>
          </a:stretch>
        </p:blipFill>
        <p:spPr>
          <a:xfrm>
            <a:off x="6031650" y="2611256"/>
            <a:ext cx="128699" cy="187198"/>
          </a:xfrm>
          <a:prstGeom prst="rect">
            <a:avLst/>
          </a:prstGeom>
        </p:spPr>
      </p:pic>
      <p:pic>
        <p:nvPicPr>
          <p:cNvPr id="84" name="Picture 83" descr="lock.png"/>
          <p:cNvPicPr>
            <a:picLocks noChangeAspect="1"/>
          </p:cNvPicPr>
          <p:nvPr/>
        </p:nvPicPr>
        <p:blipFill>
          <a:blip r:embed="rId4"/>
          <a:stretch>
            <a:fillRect/>
          </a:stretch>
        </p:blipFill>
        <p:spPr>
          <a:xfrm>
            <a:off x="8317650" y="2611256"/>
            <a:ext cx="128699" cy="187198"/>
          </a:xfrm>
          <a:prstGeom prst="rect">
            <a:avLst/>
          </a:prstGeom>
        </p:spPr>
      </p:pic>
      <p:pic>
        <p:nvPicPr>
          <p:cNvPr id="85" name="Picture 84" descr="lock.png"/>
          <p:cNvPicPr>
            <a:picLocks noChangeAspect="1"/>
          </p:cNvPicPr>
          <p:nvPr/>
        </p:nvPicPr>
        <p:blipFill>
          <a:blip r:embed="rId4"/>
          <a:stretch>
            <a:fillRect/>
          </a:stretch>
        </p:blipFill>
        <p:spPr>
          <a:xfrm>
            <a:off x="10603650" y="2611256"/>
            <a:ext cx="128699" cy="187198"/>
          </a:xfrm>
          <a:prstGeom prst="rect">
            <a:avLst/>
          </a:prstGeom>
        </p:spPr>
      </p:pic>
      <p:sp>
        <p:nvSpPr>
          <p:cNvPr id="86" name="TextBox 85"/>
          <p:cNvSpPr txBox="1"/>
          <p:nvPr/>
        </p:nvSpPr>
        <p:spPr>
          <a:xfrm>
            <a:off x="514350" y="5717113"/>
            <a:ext cx="6896615" cy="153161"/>
          </a:xfrm>
          <a:prstGeom prst="rect">
            <a:avLst/>
          </a:prstGeom>
          <a:noFill/>
        </p:spPr>
        <p:txBody>
          <a:bodyPr wrap="none" lIns="0" rIns="0" tIns="0" bIns="0">
            <a:spAutoFit/>
          </a:bodyPr>
          <a:lstStyle/>
          <a:p>
            <a:r>
              <a:rPr sz="879" b="0">
                <a:solidFill>
                  <a:srgbClr val="2E2E2E"/>
                </a:solidFill>
                <a:latin typeface="Calibri"/>
              </a:rPr>
              <a:t>▪ The Removable Partial Dentures Market value chain runs from raw-material suppliers through manufacturers, distributors and retailers to end users.</a:t>
            </a:r>
          </a:p>
        </p:txBody>
      </p:sp>
      <p:sp>
        <p:nvSpPr>
          <p:cNvPr id="87" name="TextBox 86"/>
          <p:cNvSpPr txBox="1"/>
          <p:nvPr/>
        </p:nvSpPr>
        <p:spPr>
          <a:xfrm>
            <a:off x="514350" y="5891458"/>
            <a:ext cx="3108563" cy="153161"/>
          </a:xfrm>
          <a:prstGeom prst="rect">
            <a:avLst/>
          </a:prstGeom>
          <a:noFill/>
        </p:spPr>
        <p:txBody>
          <a:bodyPr wrap="none" lIns="0" rIns="0" tIns="0" bIns="0">
            <a:spAutoFit/>
          </a:bodyPr>
          <a:lstStyle/>
          <a:p>
            <a:r>
              <a:rPr sz="879" b="0">
                <a:solidFill>
                  <a:srgbClr val="2E2E2E"/>
                </a:solidFill>
                <a:latin typeface="Calibri"/>
              </a:rPr>
              <a:t>▪ 'Manufacturers / Processors' captures the largest value addition (</a:t>
            </a:r>
          </a:p>
        </p:txBody>
      </p:sp>
      <p:pic>
        <p:nvPicPr>
          <p:cNvPr id="88" name="Picture 87" descr="lock.png"/>
          <p:cNvPicPr>
            <a:picLocks noChangeAspect="1"/>
          </p:cNvPicPr>
          <p:nvPr/>
        </p:nvPicPr>
        <p:blipFill>
          <a:blip r:embed="rId4"/>
          <a:stretch>
            <a:fillRect/>
          </a:stretch>
        </p:blipFill>
        <p:spPr>
          <a:xfrm>
            <a:off x="3566114" y="5883635"/>
            <a:ext cx="102959" cy="149758"/>
          </a:xfrm>
          <a:prstGeom prst="rect">
            <a:avLst/>
          </a:prstGeom>
        </p:spPr>
      </p:pic>
      <p:sp>
        <p:nvSpPr>
          <p:cNvPr id="89" name="TextBox 88"/>
          <p:cNvSpPr txBox="1"/>
          <p:nvPr/>
        </p:nvSpPr>
        <p:spPr>
          <a:xfrm>
            <a:off x="3700111" y="5891458"/>
            <a:ext cx="2123678" cy="153161"/>
          </a:xfrm>
          <a:prstGeom prst="rect">
            <a:avLst/>
          </a:prstGeom>
          <a:noFill/>
        </p:spPr>
        <p:txBody>
          <a:bodyPr wrap="none" lIns="0" rIns="0" tIns="0" bIns="0">
            <a:spAutoFit/>
          </a:bodyPr>
          <a:lstStyle/>
          <a:p>
            <a:r>
              <a:rPr sz="879" b="0">
                <a:solidFill>
                  <a:srgbClr val="2E2E2E"/>
                </a:solidFill>
                <a:latin typeface="Calibri"/>
              </a:rPr>
              <a:t>), reflecting processing and scale advantages.</a:t>
            </a:r>
          </a:p>
        </p:txBody>
      </p:sp>
      <p:sp>
        <p:nvSpPr>
          <p:cNvPr id="90" name="TextBox 89"/>
          <p:cNvSpPr txBox="1"/>
          <p:nvPr/>
        </p:nvSpPr>
        <p:spPr>
          <a:xfrm>
            <a:off x="514350" y="6065804"/>
            <a:ext cx="5690369" cy="153161"/>
          </a:xfrm>
          <a:prstGeom prst="rect">
            <a:avLst/>
          </a:prstGeom>
          <a:noFill/>
        </p:spPr>
        <p:txBody>
          <a:bodyPr wrap="none" lIns="0" rIns="0" tIns="0" bIns="0">
            <a:spAutoFit/>
          </a:bodyPr>
          <a:lstStyle/>
          <a:p>
            <a:r>
              <a:rPr sz="879" b="0">
                <a:solidFill>
                  <a:srgbClr val="2E2E2E"/>
                </a:solidFill>
                <a:latin typeface="Calibri"/>
              </a:rPr>
              <a:t>▪ Forward and backward integration is common some suppliers process, and some large end users produce their own input.</a:t>
            </a:r>
          </a:p>
        </p:txBody>
      </p:sp>
      <p:sp>
        <p:nvSpPr>
          <p:cNvPr id="91" name="TextBox 90"/>
          <p:cNvSpPr txBox="1"/>
          <p:nvPr/>
        </p:nvSpPr>
        <p:spPr>
          <a:xfrm>
            <a:off x="514350" y="6240149"/>
            <a:ext cx="3730228" cy="153161"/>
          </a:xfrm>
          <a:prstGeom prst="rect">
            <a:avLst/>
          </a:prstGeom>
          <a:noFill/>
        </p:spPr>
        <p:txBody>
          <a:bodyPr wrap="none" lIns="0" rIns="0" tIns="0" bIns="0">
            <a:spAutoFit/>
          </a:bodyPr>
          <a:lstStyle/>
          <a:p>
            <a:r>
              <a:rPr sz="879" b="0">
                <a:solidFill>
                  <a:srgbClr val="2E2E2E"/>
                </a:solidFill>
                <a:latin typeface="Calibri"/>
              </a:rPr>
              <a:t>▪ Percentages show each stage's indicative share of value added along the chain.</a:t>
            </a:r>
          </a:p>
        </p:txBody>
      </p:sp>
    </p:spTree>
  </p:cSld>
  <p:clrMapOvr>
    <a:masterClrMapping/>
  </p:clrMapOvr>
</p:sld>
</file>

<file path=ppt/slides/slide2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Industry-Wide Operating Margin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Operating margin by region and value chain node, highlighting where value concentrates along the chain</a:t>
            </a:r>
          </a:p>
        </p:txBody>
      </p:sp>
      <p:sp>
        <p:nvSpPr>
          <p:cNvPr id="10" name="Rounded Rectangle 9"/>
          <p:cNvSpPr/>
          <p:nvPr/>
        </p:nvSpPr>
        <p:spPr>
          <a:xfrm>
            <a:off x="142875" y="981075"/>
            <a:ext cx="11906250" cy="3667125"/>
          </a:xfrm>
          <a:prstGeom prst="roundRect">
            <a:avLst>
              <a:gd name="adj" fmla="val 20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Removable Partial Dentures Market Operating Margin by Region &amp; Node</a:t>
            </a:r>
          </a:p>
        </p:txBody>
      </p:sp>
      <p:graphicFrame>
        <p:nvGraphicFramePr>
          <p:cNvPr id="12" name="Table 11"/>
          <p:cNvGraphicFramePr>
            <a:graphicFrameLocks noGrp="1"/>
          </p:cNvGraphicFramePr>
          <p:nvPr/>
        </p:nvGraphicFramePr>
        <p:xfrm>
          <a:off x="152400" y="1238250"/>
          <a:ext cx="11887202" cy="3200406"/>
        </p:xfrm>
        <a:graphic>
          <a:graphicData uri="http://schemas.openxmlformats.org/drawingml/2006/table">
            <a:tbl>
              <a:tblPr>
                <a:tableStyleId>{5C22544A-7EE6-4342-B048-85BDC9FD1C3A}</a:tableStyleId>
              </a:tblPr>
              <a:tblGrid>
                <a:gridCol w="1208402"/>
                <a:gridCol w="2669700"/>
                <a:gridCol w="2669700"/>
                <a:gridCol w="2669700"/>
                <a:gridCol w="2669700"/>
              </a:tblGrid>
              <a:tr h="246126">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Node of Supply Chain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Operating Margin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Comparison to Parent Market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Notes</a:t>
                      </a:r>
                      <a:endParaRPr sz="1100"/>
                    </a:p>
                  </a:txBody>
                  <a:tcPr marL="47625" marR="38100" marT="19050" marB="19050" anchor="ctr">
                    <a:solidFill>
                      <a:srgbClr val="E0E8EF"/>
                    </a:solidFill>
                  </a:tcPr>
                </a:tc>
              </a:tr>
              <a:tr h="246190">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Commodity-linked</a:t>
                      </a:r>
                      <a:endParaRPr sz="1100"/>
                    </a:p>
                  </a:txBody>
                  <a:tcPr marL="47625" marR="38100" marT="19050" marB="19050" anchor="ctr">
                    <a:solidFill>
                      <a:srgbClr val="FFFFFF"/>
                    </a:solidFill>
                  </a:tcPr>
                </a:tc>
              </a:tr>
              <a:tr h="246190">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tr>
              <a:tr h="246190">
                <a:tc>
                  <a:txBody>
                    <a:bodyPr wrap="none"/>
                    <a:lstStyle/>
                    <a:p>
                      <a:pPr algn="l"/>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Volume-led, thin</a:t>
                      </a:r>
                      <a:endParaRPr sz="1100"/>
                    </a:p>
                  </a:txBody>
                  <a:tcPr marL="47625" marR="38100" marT="19050" marB="19050" anchor="ctr">
                    <a:solidFill>
                      <a:srgbClr val="FFFFFF"/>
                    </a:solidFill>
                  </a:tcPr>
                </a:tc>
              </a:tr>
              <a:tr h="246190">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Latin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Commodity-linked</a:t>
                      </a:r>
                      <a:endParaRPr sz="1100"/>
                    </a:p>
                  </a:txBody>
                  <a:tcPr marL="47625" marR="38100" marT="19050" marB="19050" anchor="ctr">
                    <a:solidFill>
                      <a:srgbClr val="FFFFFF"/>
                    </a:solidFill>
                  </a:tcPr>
                </a:tc>
              </a:tr>
              <a:tr h="246190">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tr>
              <a:tr h="246190">
                <a:tc>
                  <a:txBody>
                    <a:bodyPr wrap="none"/>
                    <a:lstStyle/>
                    <a:p>
                      <a:pPr algn="l"/>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Volume-led, thin</a:t>
                      </a:r>
                      <a:endParaRPr sz="1100"/>
                    </a:p>
                  </a:txBody>
                  <a:tcPr marL="47625" marR="38100" marT="19050" marB="19050" anchor="ctr">
                    <a:solidFill>
                      <a:srgbClr val="FFFFFF"/>
                    </a:solidFill>
                  </a:tcPr>
                </a:tc>
              </a:tr>
              <a:tr h="246190">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Commodity-linked</a:t>
                      </a:r>
                      <a:endParaRPr sz="1100"/>
                    </a:p>
                  </a:txBody>
                  <a:tcPr marL="47625" marR="38100" marT="19050" marB="19050" anchor="ctr">
                    <a:solidFill>
                      <a:srgbClr val="FFFFFF"/>
                    </a:solidFill>
                  </a:tcPr>
                </a:tc>
              </a:tr>
              <a:tr h="246190">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tr>
              <a:tr h="246190">
                <a:tc>
                  <a:txBody>
                    <a:bodyPr wrap="none"/>
                    <a:lstStyle/>
                    <a:p>
                      <a:pPr algn="l"/>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Volume-led, thin</a:t>
                      </a:r>
                      <a:endParaRPr sz="1100"/>
                    </a:p>
                  </a:txBody>
                  <a:tcPr marL="47625" marR="38100" marT="19050" marB="19050" anchor="ctr">
                    <a:solidFill>
                      <a:srgbClr val="FFFFFF"/>
                    </a:solidFill>
                  </a:tcPr>
                </a:tc>
              </a:tr>
              <a:tr h="246190">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448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781550"/>
            <a:ext cx="11906250"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867275"/>
            <a:ext cx="11639550" cy="209550"/>
          </a:xfrm>
          <a:prstGeom prst="rect">
            <a:avLst/>
          </a:prstGeom>
          <a:noFill/>
        </p:spPr>
        <p:txBody>
          <a:bodyPr wrap="square" lIns="0" rIns="19050" tIns="9525" bIns="9525">
            <a:spAutoFit/>
          </a:bodyPr>
          <a:lstStyle/>
          <a:p>
            <a:pPr algn="l"/>
            <a:r>
              <a:rPr sz="1300" b="1">
                <a:solidFill>
                  <a:srgbClr val="0B2E4A"/>
                </a:solidFill>
                <a:latin typeface="Calibri"/>
              </a:rPr>
              <a:t>How to Read This</a:t>
            </a:r>
          </a:p>
        </p:txBody>
      </p:sp>
      <p:sp>
        <p:nvSpPr>
          <p:cNvPr id="16" name="Rectangle 15"/>
          <p:cNvSpPr/>
          <p:nvPr/>
        </p:nvSpPr>
        <p:spPr>
          <a:xfrm>
            <a:off x="276225" y="5105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5191125"/>
            <a:ext cx="11639550" cy="1362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Node of Supply Chain: each major stage, from raw-material suppliers through to retailers.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Operating Margin: the indicative margin earned at each node, by region.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Comparison to Parent Market: margin versus the parent / associated market (e.g. the broader food or pharmaceutical value chain).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Margins are broken down by both region and node to surface where value concentrates along the chain.</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6513512" y="2694815"/>
            <a:ext cx="366712" cy="533400"/>
          </a:xfrm>
          <a:prstGeom prst="rect">
            <a:avLst/>
          </a:prstGeom>
        </p:spPr>
      </p:pic>
    </p:spTree>
  </p:cSld>
  <p:clrMapOvr>
    <a:masterClrMapping/>
  </p:clrMapOvr>
</p:sld>
</file>

<file path=ppt/slides/slide2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Buyers Assessment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Assessment of buyers and end users by volume, average price and revenue, highlighting purchasing power</a:t>
            </a:r>
          </a:p>
        </p:txBody>
      </p:sp>
      <p:sp>
        <p:nvSpPr>
          <p:cNvPr id="10" name="Rounded Rectangle 9"/>
          <p:cNvSpPr/>
          <p:nvPr/>
        </p:nvSpPr>
        <p:spPr>
          <a:xfrm>
            <a:off x="142875" y="981075"/>
            <a:ext cx="1190625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Removable Partial Dentures Market Buyers / End-User Assessment</a:t>
            </a:r>
          </a:p>
        </p:txBody>
      </p:sp>
      <p:graphicFrame>
        <p:nvGraphicFramePr>
          <p:cNvPr id="12" name="Table 11"/>
          <p:cNvGraphicFramePr>
            <a:graphicFrameLocks noGrp="1"/>
          </p:cNvGraphicFramePr>
          <p:nvPr/>
        </p:nvGraphicFramePr>
        <p:xfrm>
          <a:off x="152400" y="1238250"/>
          <a:ext cx="11887200" cy="2714626"/>
        </p:xfrm>
        <a:graphic>
          <a:graphicData uri="http://schemas.openxmlformats.org/drawingml/2006/table">
            <a:tbl>
              <a:tblPr>
                <a:tableStyleId>{5C22544A-7EE6-4342-B048-85BDC9FD1C3A}</a:tableStyleId>
              </a:tblPr>
              <a:tblGrid>
                <a:gridCol w="937608"/>
                <a:gridCol w="1484989"/>
                <a:gridCol w="1064342"/>
                <a:gridCol w="1129057"/>
                <a:gridCol w="1603633"/>
                <a:gridCol w="1280058"/>
                <a:gridCol w="1533483"/>
                <a:gridCol w="1350166"/>
                <a:gridCol w="1503864"/>
              </a:tblGrid>
              <a:tr h="246126">
                <a:tc>
                  <a:txBody>
                    <a:bodyPr wrap="none"/>
                    <a:lstStyle/>
                    <a:p>
                      <a:pPr algn="l"/>
                      <a:r>
                        <a:rPr sz="1100" b="1">
                          <a:solidFill>
                            <a:srgbClr val="0B2E4A"/>
                          </a:solidFill>
                          <a:latin typeface="Calibri"/>
                        </a:rPr>
                        <a:t>Company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Buyer Category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Buyer / End-User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Procurement Vol.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Avg Price (US$/Units)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Revenue (US$ Mn)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Key Selection Factor</a:t>
                      </a:r>
                      <a:endParaRPr sz="1100"/>
                    </a:p>
                  </a:txBody>
                  <a:tcPr marL="47625" marR="38100" marT="19050" marB="19050" anchor="ctr">
                    <a:solidFill>
                      <a:srgbClr val="E0E8EF"/>
                    </a:solidFill>
                  </a:tcPr>
                </a:tc>
              </a:tr>
              <a:tr h="246850">
                <a:tc>
                  <a:txBody>
                    <a:bodyPr wrap="none"/>
                    <a:lstStyle/>
                    <a:p>
                      <a:pPr algn="l"/>
                      <a:r>
                        <a:rPr sz="1100" b="1">
                          <a:solidFill>
                            <a:srgbClr val="2E2E2E"/>
                          </a:solidFill>
                          <a:latin typeface="Calibri"/>
                        </a:rPr>
                        <a:t>Company 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U.S.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North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Manufacturer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B2B / Industrial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Price &amp; reliability</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Company 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Canada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North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Distributor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B2B / Institutional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Quality &amp; compliance</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Company 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Brazil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Retailer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B2C / Retail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Lead time &amp; service</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Company 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Mexico</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Others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Contract / OEM</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Capacity &amp; scale</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Company 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Colombia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Manufacturer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B2B / Industrial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Brand &amp; support</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Company 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Rest of 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Distributor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B2B / Institutional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Price &amp; reliability</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Company 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Germany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Retailer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B2C / Retail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Quality &amp; compliance</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Company 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U.K.</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Others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Contract / OEM</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Lead time &amp; service</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Company 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France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Manufacturer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B2B / Industrial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Capacity &amp; scale</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Company 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Italy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Distributor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B2B / Institutional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Brand &amp; support</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39624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295775"/>
            <a:ext cx="11906250" cy="2333625"/>
          </a:xfrm>
          <a:prstGeom prst="roundRect">
            <a:avLst>
              <a:gd name="adj" fmla="val 32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381500"/>
            <a:ext cx="11639550" cy="209550"/>
          </a:xfrm>
          <a:prstGeom prst="rect">
            <a:avLst/>
          </a:prstGeom>
          <a:noFill/>
        </p:spPr>
        <p:txBody>
          <a:bodyPr wrap="square" lIns="0" rIns="19050" tIns="9525" bIns="9525">
            <a:spAutoFit/>
          </a:bodyPr>
          <a:lstStyle/>
          <a:p>
            <a:pPr algn="l"/>
            <a:r>
              <a:rPr sz="1300" b="1">
                <a:solidFill>
                  <a:srgbClr val="0B2E4A"/>
                </a:solidFill>
                <a:latin typeface="Calibri"/>
              </a:rPr>
              <a:t>Notes</a:t>
            </a:r>
          </a:p>
        </p:txBody>
      </p:sp>
      <p:sp>
        <p:nvSpPr>
          <p:cNvPr id="16" name="Rectangle 15"/>
          <p:cNvSpPr/>
          <p:nvPr/>
        </p:nvSpPr>
        <p:spPr>
          <a:xfrm>
            <a:off x="276225" y="46196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4705350"/>
            <a:ext cx="11639550" cy="18478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This is a representative subset the full assessment lists 20–30 active participants (with brands, specifications, procurement strategies and SWOT). Note: value-chain economics are indicative derived from market modelling and expert validation, not company disclosures.</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8267192" y="2451926"/>
            <a:ext cx="366712" cy="533400"/>
          </a:xfrm>
          <a:prstGeom prst="rect">
            <a:avLst/>
          </a:prstGeom>
        </p:spPr>
      </p:pic>
    </p:spTree>
  </p:cSld>
  <p:clrMapOvr>
    <a:masterClrMapping/>
  </p:clrMapOvr>
</p:sld>
</file>

<file path=ppt/slides/slide259.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Removable Partial Dentures Market</a:t>
            </a:r>
          </a:p>
        </p:txBody>
      </p:sp>
      <p:sp>
        <p:nvSpPr>
          <p:cNvPr id="6" name="FMI Breaker Title"/>
          <p:cNvSpPr txBox="1"/>
          <p:nvPr/>
        </p:nvSpPr>
        <p:spPr>
          <a:xfrm>
            <a:off x="914400" y="3698875"/>
            <a:ext cx="7239000" cy="514350"/>
          </a:xfrm>
          <a:prstGeom prst="rect">
            <a:avLst/>
          </a:prstGeom>
          <a:noFill/>
        </p:spPr>
        <p:txBody>
          <a:bodyPr wrap="square" lIns="0" rIns="0" tIns="0">
            <a:spAutoFit/>
          </a:bodyPr>
          <a:lstStyle/>
          <a:p>
            <a:r>
              <a:rPr sz="3000" b="1" cap="all" spc="400">
                <a:solidFill>
                  <a:srgbClr val="FFFFFF"/>
                </a:solidFill>
                <a:latin typeface="Calibri"/>
              </a:rPr>
              <a:t>Market Dynamics</a:t>
            </a:r>
          </a:p>
        </p:txBody>
      </p:sp>
      <p:sp>
        <p:nvSpPr>
          <p:cNvPr id="7" name="TextBox 6"/>
          <p:cNvSpPr txBox="1"/>
          <p:nvPr/>
        </p:nvSpPr>
        <p:spPr>
          <a:xfrm>
            <a:off x="914400" y="4403725"/>
            <a:ext cx="71247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Dynamics &amp; Forces</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6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18</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Market Dynamics &amp; Forces</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Drivers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Restraints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Opportunities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Recent Developments &amp; Milestones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Five Forces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Dynamics by Region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growth driver, restraint and opportunity shaping each region of the global market</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180975" y="1025515"/>
            <a:ext cx="8572500" cy="219044"/>
          </a:xfrm>
          <a:prstGeom prst="rect">
            <a:avLst/>
          </a:prstGeom>
          <a:noFill/>
        </p:spPr>
        <p:txBody>
          <a:bodyPr wrap="square" lIns="28575" rIns="28575" tIns="9525" bIns="9525" anchor="ctr">
            <a:spAutoFit/>
          </a:bodyPr>
          <a:lstStyle/>
          <a:p>
            <a:pPr algn="l"/>
            <a:r>
              <a:rPr sz="1150" b="1">
                <a:solidFill>
                  <a:srgbClr val="2E2E2E"/>
                </a:solidFill>
                <a:latin typeface="Calibri"/>
              </a:rPr>
              <a:t>Demand Dynamics by Region  ·  ranked by 2036 value</a:t>
            </a:r>
          </a:p>
        </p:txBody>
      </p:sp>
      <p:sp>
        <p:nvSpPr>
          <p:cNvPr id="12" name="Rectangle 11"/>
          <p:cNvSpPr/>
          <p:nvPr/>
        </p:nvSpPr>
        <p:spPr>
          <a:xfrm>
            <a:off x="142875" y="1262813"/>
            <a:ext cx="11906250" cy="255552"/>
          </a:xfrm>
          <a:prstGeom prst="rect">
            <a:avLst/>
          </a:prstGeom>
          <a:solidFill>
            <a:srgbClr val="DCE6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00025" y="1262813"/>
            <a:ext cx="1428750" cy="255552"/>
          </a:xfrm>
          <a:prstGeom prst="rect">
            <a:avLst/>
          </a:prstGeom>
          <a:noFill/>
        </p:spPr>
        <p:txBody>
          <a:bodyPr wrap="square" lIns="28575" rIns="28575" tIns="9525" bIns="9525" anchor="ctr">
            <a:spAutoFit/>
          </a:bodyPr>
          <a:lstStyle/>
          <a:p>
            <a:pPr algn="l"/>
            <a:r>
              <a:rPr sz="1100" b="1">
                <a:solidFill>
                  <a:srgbClr val="0B2E4A"/>
                </a:solidFill>
                <a:latin typeface="Calibri"/>
              </a:rPr>
              <a:t>Region</a:t>
            </a:r>
          </a:p>
        </p:txBody>
      </p:sp>
      <p:sp>
        <p:nvSpPr>
          <p:cNvPr id="14" name="TextBox 13"/>
          <p:cNvSpPr txBox="1"/>
          <p:nvPr/>
        </p:nvSpPr>
        <p:spPr>
          <a:xfrm>
            <a:off x="1724025" y="1262813"/>
            <a:ext cx="3714750" cy="255552"/>
          </a:xfrm>
          <a:prstGeom prst="rect">
            <a:avLst/>
          </a:prstGeom>
          <a:noFill/>
        </p:spPr>
        <p:txBody>
          <a:bodyPr wrap="square" lIns="28575" rIns="28575" tIns="9525" bIns="9525" anchor="ctr">
            <a:spAutoFit/>
          </a:bodyPr>
          <a:lstStyle/>
          <a:p>
            <a:pPr algn="l"/>
            <a:r>
              <a:rPr sz="1100" b="1">
                <a:solidFill>
                  <a:srgbClr val="0B2E4A"/>
                </a:solidFill>
                <a:latin typeface="Calibri"/>
              </a:rPr>
              <a:t>Growth Drivers</a:t>
            </a:r>
          </a:p>
        </p:txBody>
      </p:sp>
      <p:sp>
        <p:nvSpPr>
          <p:cNvPr id="15" name="TextBox 14"/>
          <p:cNvSpPr txBox="1"/>
          <p:nvPr/>
        </p:nvSpPr>
        <p:spPr>
          <a:xfrm>
            <a:off x="5534025" y="1262813"/>
            <a:ext cx="2762250" cy="255552"/>
          </a:xfrm>
          <a:prstGeom prst="rect">
            <a:avLst/>
          </a:prstGeom>
          <a:noFill/>
        </p:spPr>
        <p:txBody>
          <a:bodyPr wrap="square" lIns="28575" rIns="28575" tIns="9525" bIns="9525" anchor="ctr">
            <a:spAutoFit/>
          </a:bodyPr>
          <a:lstStyle/>
          <a:p>
            <a:pPr algn="l"/>
            <a:r>
              <a:rPr sz="1100" b="1">
                <a:solidFill>
                  <a:srgbClr val="0B2E4A"/>
                </a:solidFill>
                <a:latin typeface="Calibri"/>
              </a:rPr>
              <a:t>Restraints</a:t>
            </a:r>
          </a:p>
        </p:txBody>
      </p:sp>
      <p:sp>
        <p:nvSpPr>
          <p:cNvPr id="16" name="TextBox 15"/>
          <p:cNvSpPr txBox="1"/>
          <p:nvPr/>
        </p:nvSpPr>
        <p:spPr>
          <a:xfrm>
            <a:off x="8391525" y="1262813"/>
            <a:ext cx="3619500" cy="255552"/>
          </a:xfrm>
          <a:prstGeom prst="rect">
            <a:avLst/>
          </a:prstGeom>
          <a:noFill/>
        </p:spPr>
        <p:txBody>
          <a:bodyPr wrap="square" lIns="28575" rIns="28575" tIns="9525" bIns="9525" anchor="ctr">
            <a:spAutoFit/>
          </a:bodyPr>
          <a:lstStyle/>
          <a:p>
            <a:pPr algn="l"/>
            <a:r>
              <a:rPr sz="1100" b="1">
                <a:solidFill>
                  <a:srgbClr val="0B2E4A"/>
                </a:solidFill>
                <a:latin typeface="Calibri"/>
              </a:rPr>
              <a:t>Priority Opportunities</a:t>
            </a:r>
          </a:p>
        </p:txBody>
      </p:sp>
      <p:sp>
        <p:nvSpPr>
          <p:cNvPr id="17" name="Rectangle 16"/>
          <p:cNvSpPr/>
          <p:nvPr/>
        </p:nvSpPr>
        <p:spPr>
          <a:xfrm>
            <a:off x="142875" y="1518365"/>
            <a:ext cx="11906250" cy="51110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00025" y="1518365"/>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North America</a:t>
            </a:r>
          </a:p>
        </p:txBody>
      </p:sp>
      <p:sp>
        <p:nvSpPr>
          <p:cNvPr id="19" name="TextBox 18"/>
          <p:cNvSpPr txBox="1"/>
          <p:nvPr/>
        </p:nvSpPr>
        <p:spPr>
          <a:xfrm>
            <a:off x="1724025" y="1545745"/>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0" name="TextBox 19"/>
          <p:cNvSpPr txBox="1"/>
          <p:nvPr/>
        </p:nvSpPr>
        <p:spPr>
          <a:xfrm>
            <a:off x="5534025" y="1545745"/>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1" name="TextBox 20"/>
          <p:cNvSpPr txBox="1"/>
          <p:nvPr/>
        </p:nvSpPr>
        <p:spPr>
          <a:xfrm>
            <a:off x="8391525" y="1545745"/>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2" name="Rectangle 21"/>
          <p:cNvSpPr/>
          <p:nvPr/>
        </p:nvSpPr>
        <p:spPr>
          <a:xfrm>
            <a:off x="142875" y="2029468"/>
            <a:ext cx="11906250" cy="511104"/>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00025" y="2029468"/>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Europe</a:t>
            </a:r>
          </a:p>
        </p:txBody>
      </p:sp>
      <p:sp>
        <p:nvSpPr>
          <p:cNvPr id="24" name="TextBox 23"/>
          <p:cNvSpPr txBox="1"/>
          <p:nvPr/>
        </p:nvSpPr>
        <p:spPr>
          <a:xfrm>
            <a:off x="1724025" y="2056849"/>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5" name="TextBox 24"/>
          <p:cNvSpPr txBox="1"/>
          <p:nvPr/>
        </p:nvSpPr>
        <p:spPr>
          <a:xfrm>
            <a:off x="5534025" y="2056849"/>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6" name="TextBox 25"/>
          <p:cNvSpPr txBox="1"/>
          <p:nvPr/>
        </p:nvSpPr>
        <p:spPr>
          <a:xfrm>
            <a:off x="8391525" y="2056849"/>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7" name="Rectangle 26"/>
          <p:cNvSpPr/>
          <p:nvPr/>
        </p:nvSpPr>
        <p:spPr>
          <a:xfrm>
            <a:off x="142875" y="2540572"/>
            <a:ext cx="11906250" cy="51110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00025" y="2540572"/>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South Asia &amp; Pacific</a:t>
            </a:r>
          </a:p>
        </p:txBody>
      </p:sp>
      <p:sp>
        <p:nvSpPr>
          <p:cNvPr id="29" name="TextBox 28"/>
          <p:cNvSpPr txBox="1"/>
          <p:nvPr/>
        </p:nvSpPr>
        <p:spPr>
          <a:xfrm>
            <a:off x="1724025" y="2567952"/>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0" name="TextBox 29"/>
          <p:cNvSpPr txBox="1"/>
          <p:nvPr/>
        </p:nvSpPr>
        <p:spPr>
          <a:xfrm>
            <a:off x="5534025" y="2567952"/>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1" name="TextBox 30"/>
          <p:cNvSpPr txBox="1"/>
          <p:nvPr/>
        </p:nvSpPr>
        <p:spPr>
          <a:xfrm>
            <a:off x="8391525" y="2567952"/>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2" name="Rectangle 31"/>
          <p:cNvSpPr/>
          <p:nvPr/>
        </p:nvSpPr>
        <p:spPr>
          <a:xfrm>
            <a:off x="142875" y="3051675"/>
            <a:ext cx="11906250" cy="511104"/>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00025" y="3051675"/>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East Asia</a:t>
            </a:r>
          </a:p>
        </p:txBody>
      </p:sp>
      <p:sp>
        <p:nvSpPr>
          <p:cNvPr id="34" name="TextBox 33"/>
          <p:cNvSpPr txBox="1"/>
          <p:nvPr/>
        </p:nvSpPr>
        <p:spPr>
          <a:xfrm>
            <a:off x="1724025" y="3079056"/>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5" name="TextBox 34"/>
          <p:cNvSpPr txBox="1"/>
          <p:nvPr/>
        </p:nvSpPr>
        <p:spPr>
          <a:xfrm>
            <a:off x="5534025" y="3079056"/>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6" name="TextBox 35"/>
          <p:cNvSpPr txBox="1"/>
          <p:nvPr/>
        </p:nvSpPr>
        <p:spPr>
          <a:xfrm>
            <a:off x="8391525" y="3079056"/>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7" name="Rectangle 36"/>
          <p:cNvSpPr/>
          <p:nvPr/>
        </p:nvSpPr>
        <p:spPr>
          <a:xfrm>
            <a:off x="142875" y="3562779"/>
            <a:ext cx="11906250" cy="51110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00025" y="3562779"/>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Latin America</a:t>
            </a:r>
          </a:p>
        </p:txBody>
      </p:sp>
      <p:sp>
        <p:nvSpPr>
          <p:cNvPr id="39" name="TextBox 38"/>
          <p:cNvSpPr txBox="1"/>
          <p:nvPr/>
        </p:nvSpPr>
        <p:spPr>
          <a:xfrm>
            <a:off x="1724025" y="3590159"/>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0" name="TextBox 39"/>
          <p:cNvSpPr txBox="1"/>
          <p:nvPr/>
        </p:nvSpPr>
        <p:spPr>
          <a:xfrm>
            <a:off x="5534025" y="3590159"/>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1" name="TextBox 40"/>
          <p:cNvSpPr txBox="1"/>
          <p:nvPr/>
        </p:nvSpPr>
        <p:spPr>
          <a:xfrm>
            <a:off x="8391525" y="3590159"/>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2" name="Rectangle 41"/>
          <p:cNvSpPr/>
          <p:nvPr/>
        </p:nvSpPr>
        <p:spPr>
          <a:xfrm>
            <a:off x="142875" y="4073882"/>
            <a:ext cx="11906250" cy="511104"/>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00025" y="4073882"/>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Middle East &amp; Africa</a:t>
            </a:r>
          </a:p>
        </p:txBody>
      </p:sp>
      <p:sp>
        <p:nvSpPr>
          <p:cNvPr id="44" name="TextBox 43"/>
          <p:cNvSpPr txBox="1"/>
          <p:nvPr/>
        </p:nvSpPr>
        <p:spPr>
          <a:xfrm>
            <a:off x="1724025" y="4101263"/>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5" name="TextBox 44"/>
          <p:cNvSpPr txBox="1"/>
          <p:nvPr/>
        </p:nvSpPr>
        <p:spPr>
          <a:xfrm>
            <a:off x="5534025" y="4101263"/>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6" name="TextBox 45"/>
          <p:cNvSpPr txBox="1"/>
          <p:nvPr/>
        </p:nvSpPr>
        <p:spPr>
          <a:xfrm>
            <a:off x="8391525" y="4101263"/>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cxnSp>
        <p:nvCxnSpPr>
          <p:cNvPr id="47" name="Connector 46"/>
          <p:cNvCxnSpPr/>
          <p:nvPr/>
        </p:nvCxnSpPr>
        <p:spPr>
          <a:xfrm>
            <a:off x="142875" y="4584986"/>
            <a:ext cx="11906250" cy="0"/>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48" name="TextBox 47"/>
          <p:cNvSpPr txBox="1"/>
          <p:nvPr/>
        </p:nvSpPr>
        <p:spPr>
          <a:xfrm>
            <a:off x="200025" y="4603240"/>
            <a:ext cx="3810000" cy="182537"/>
          </a:xfrm>
          <a:prstGeom prst="rect">
            <a:avLst/>
          </a:prstGeom>
          <a:noFill/>
        </p:spPr>
        <p:txBody>
          <a:bodyPr wrap="square" lIns="28575" rIns="28575" tIns="9525" bIns="9525" anchor="ctr">
            <a:spAutoFit/>
          </a:bodyPr>
          <a:lstStyle/>
          <a:p>
            <a:pPr algn="l"/>
            <a:r>
              <a:rPr sz="1100" b="0">
                <a:solidFill>
                  <a:srgbClr val="6C7A89"/>
                </a:solidFill>
                <a:latin typeface="Calibri"/>
              </a:rPr>
              <a:t>Source: FMI Analysis, 2026</a:t>
            </a:r>
          </a:p>
        </p:txBody>
      </p:sp>
      <p:sp>
        <p:nvSpPr>
          <p:cNvPr id="49" name="Rounded Rectangle 48"/>
          <p:cNvSpPr/>
          <p:nvPr/>
        </p:nvSpPr>
        <p:spPr>
          <a:xfrm>
            <a:off x="142875" y="4858791"/>
            <a:ext cx="11906250" cy="994827"/>
          </a:xfrm>
          <a:prstGeom prst="roundRect">
            <a:avLst>
              <a:gd name="adj" fmla="val 479"/>
            </a:avLst>
          </a:prstGeom>
          <a:solidFill>
            <a:srgbClr val="FFFFFF"/>
          </a:solidFill>
          <a:ln w="1270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276225" y="4895299"/>
            <a:ext cx="3810000" cy="219044"/>
          </a:xfrm>
          <a:prstGeom prst="rect">
            <a:avLst/>
          </a:prstGeom>
          <a:noFill/>
        </p:spPr>
        <p:txBody>
          <a:bodyPr wrap="square" lIns="28575" rIns="28575" tIns="9525" bIns="9525" anchor="ctr">
            <a:spAutoFit/>
          </a:bodyPr>
          <a:lstStyle/>
          <a:p>
            <a:pPr algn="l"/>
            <a:r>
              <a:rPr sz="1200" b="1">
                <a:solidFill>
                  <a:srgbClr val="0B2E4A"/>
                </a:solidFill>
                <a:latin typeface="Calibri"/>
              </a:rPr>
              <a:t>KEY TAKEAWAY</a:t>
            </a:r>
          </a:p>
        </p:txBody>
      </p:sp>
      <p:cxnSp>
        <p:nvCxnSpPr>
          <p:cNvPr id="51" name="Connector 50"/>
          <p:cNvCxnSpPr/>
          <p:nvPr/>
        </p:nvCxnSpPr>
        <p:spPr>
          <a:xfrm>
            <a:off x="276225" y="5132597"/>
            <a:ext cx="11639550" cy="0"/>
          </a:xfrm>
          <a:prstGeom prst="line">
            <a:avLst/>
          </a:prstGeom>
          <a:ln w="15875">
            <a:solidFill>
              <a:srgbClr val="0B2E4A"/>
            </a:solidFill>
          </a:ln>
          <a:effectLst/>
        </p:spPr>
        <p:style>
          <a:lnRef idx="2">
            <a:schemeClr val="accent1"/>
          </a:lnRef>
          <a:fillRef idx="0">
            <a:schemeClr val="accent1"/>
          </a:fillRef>
          <a:effectRef idx="1">
            <a:schemeClr val="accent1"/>
          </a:effectRef>
          <a:fontRef idx="minor">
            <a:schemeClr val="tx1"/>
          </a:fontRef>
        </p:style>
      </p:cxnSp>
      <p:sp>
        <p:nvSpPr>
          <p:cNvPr id="52" name="TextBox 51"/>
          <p:cNvSpPr txBox="1"/>
          <p:nvPr/>
        </p:nvSpPr>
        <p:spPr>
          <a:xfrm>
            <a:off x="276225" y="5187358"/>
            <a:ext cx="1152525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53" name="TextBox 5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54" name="TextBox 53"/>
          <p:cNvSpPr txBox="1"/>
          <p:nvPr/>
        </p:nvSpPr>
        <p:spPr>
          <a:xfrm>
            <a:off x="1752600" y="1606276"/>
            <a:ext cx="738137" cy="186689"/>
          </a:xfrm>
          <a:prstGeom prst="rect">
            <a:avLst/>
          </a:prstGeom>
          <a:noFill/>
        </p:spPr>
        <p:txBody>
          <a:bodyPr wrap="none" lIns="0" rIns="0" tIns="0" bIns="0">
            <a:spAutoFit/>
          </a:bodyPr>
          <a:lstStyle/>
          <a:p>
            <a:r>
              <a:rPr sz="1100" b="0">
                <a:solidFill>
                  <a:srgbClr val="2E2E2E"/>
                </a:solidFill>
                <a:latin typeface="Calibri"/>
              </a:rPr>
              <a:t>Scale base (</a:t>
            </a:r>
          </a:p>
        </p:txBody>
      </p:sp>
      <p:pic>
        <p:nvPicPr>
          <p:cNvPr id="55" name="Picture 54" descr="lock.png"/>
          <p:cNvPicPr>
            <a:picLocks noChangeAspect="1"/>
          </p:cNvPicPr>
          <p:nvPr/>
        </p:nvPicPr>
        <p:blipFill>
          <a:blip r:embed="rId4"/>
          <a:stretch>
            <a:fillRect/>
          </a:stretch>
        </p:blipFill>
        <p:spPr>
          <a:xfrm>
            <a:off x="2438789" y="1596497"/>
            <a:ext cx="128699" cy="187198"/>
          </a:xfrm>
          <a:prstGeom prst="rect">
            <a:avLst/>
          </a:prstGeom>
        </p:spPr>
      </p:pic>
      <p:sp>
        <p:nvSpPr>
          <p:cNvPr id="56" name="TextBox 55"/>
          <p:cNvSpPr txBox="1"/>
          <p:nvPr/>
        </p:nvSpPr>
        <p:spPr>
          <a:xfrm>
            <a:off x="2606285" y="1606276"/>
            <a:ext cx="1556419" cy="186689"/>
          </a:xfrm>
          <a:prstGeom prst="rect">
            <a:avLst/>
          </a:prstGeom>
          <a:noFill/>
        </p:spPr>
        <p:txBody>
          <a:bodyPr wrap="none" lIns="0" rIns="0" tIns="0" bIns="0">
            <a:spAutoFit/>
          </a:bodyPr>
          <a:lstStyle/>
          <a:p>
            <a:r>
              <a:rPr sz="1100" b="0">
                <a:solidFill>
                  <a:srgbClr val="2E2E2E"/>
                </a:solidFill>
                <a:latin typeface="Calibri"/>
              </a:rPr>
              <a:t>share), Installed demand (</a:t>
            </a:r>
          </a:p>
        </p:txBody>
      </p:sp>
      <p:pic>
        <p:nvPicPr>
          <p:cNvPr id="57" name="Picture 56" descr="lock.png"/>
          <p:cNvPicPr>
            <a:picLocks noChangeAspect="1"/>
          </p:cNvPicPr>
          <p:nvPr/>
        </p:nvPicPr>
        <p:blipFill>
          <a:blip r:embed="rId4"/>
          <a:stretch>
            <a:fillRect/>
          </a:stretch>
        </p:blipFill>
        <p:spPr>
          <a:xfrm>
            <a:off x="4110756" y="1596497"/>
            <a:ext cx="128699" cy="187198"/>
          </a:xfrm>
          <a:prstGeom prst="rect">
            <a:avLst/>
          </a:prstGeom>
        </p:spPr>
      </p:pic>
      <p:sp>
        <p:nvSpPr>
          <p:cNvPr id="58" name="TextBox 57"/>
          <p:cNvSpPr txBox="1"/>
          <p:nvPr/>
        </p:nvSpPr>
        <p:spPr>
          <a:xfrm>
            <a:off x="4278252" y="1606276"/>
            <a:ext cx="938121" cy="186689"/>
          </a:xfrm>
          <a:prstGeom prst="rect">
            <a:avLst/>
          </a:prstGeom>
          <a:noFill/>
        </p:spPr>
        <p:txBody>
          <a:bodyPr wrap="none" lIns="0" rIns="0" tIns="0" bIns="0">
            <a:spAutoFit/>
          </a:bodyPr>
          <a:lstStyle/>
          <a:p>
            <a:r>
              <a:rPr sz="1100" b="0">
                <a:solidFill>
                  <a:srgbClr val="2E2E2E"/>
                </a:solidFill>
                <a:latin typeface="Calibri"/>
              </a:rPr>
              <a:t>CAGR), Flexible</a:t>
            </a:r>
          </a:p>
        </p:txBody>
      </p:sp>
      <p:sp>
        <p:nvSpPr>
          <p:cNvPr id="59" name="TextBox 58"/>
          <p:cNvSpPr txBox="1"/>
          <p:nvPr/>
        </p:nvSpPr>
        <p:spPr>
          <a:xfrm>
            <a:off x="1752600" y="1773915"/>
            <a:ext cx="2876202" cy="186689"/>
          </a:xfrm>
          <a:prstGeom prst="rect">
            <a:avLst/>
          </a:prstGeom>
          <a:noFill/>
        </p:spPr>
        <p:txBody>
          <a:bodyPr wrap="none" lIns="0" rIns="0" tIns="0" bIns="0">
            <a:spAutoFit/>
          </a:bodyPr>
          <a:lstStyle/>
          <a:p>
            <a:r>
              <a:rPr sz="1100" b="0">
                <a:solidFill>
                  <a:srgbClr val="2E2E2E"/>
                </a:solidFill>
                <a:latin typeface="Calibri"/>
              </a:rPr>
              <a:t>Partial Dentures demand, Accelerating vs history.</a:t>
            </a:r>
          </a:p>
        </p:txBody>
      </p:sp>
      <p:sp>
        <p:nvSpPr>
          <p:cNvPr id="60" name="TextBox 59"/>
          <p:cNvSpPr txBox="1"/>
          <p:nvPr/>
        </p:nvSpPr>
        <p:spPr>
          <a:xfrm>
            <a:off x="5562600" y="1606276"/>
            <a:ext cx="1287115" cy="186689"/>
          </a:xfrm>
          <a:prstGeom prst="rect">
            <a:avLst/>
          </a:prstGeom>
          <a:noFill/>
        </p:spPr>
        <p:txBody>
          <a:bodyPr wrap="none" lIns="0" rIns="0" tIns="0" bIns="0">
            <a:spAutoFit/>
          </a:bodyPr>
          <a:lstStyle/>
          <a:p>
            <a:r>
              <a:rPr sz="1100" b="0">
                <a:solidFill>
                  <a:srgbClr val="2E2E2E"/>
                </a:solidFill>
                <a:latin typeface="Calibri"/>
              </a:rPr>
              <a:t>Trails market pace by</a:t>
            </a:r>
          </a:p>
        </p:txBody>
      </p:sp>
      <p:pic>
        <p:nvPicPr>
          <p:cNvPr id="61" name="Picture 60" descr="lock.png"/>
          <p:cNvPicPr>
            <a:picLocks noChangeAspect="1"/>
          </p:cNvPicPr>
          <p:nvPr/>
        </p:nvPicPr>
        <p:blipFill>
          <a:blip r:embed="rId4"/>
          <a:stretch>
            <a:fillRect/>
          </a:stretch>
        </p:blipFill>
        <p:spPr>
          <a:xfrm>
            <a:off x="6797766" y="1596497"/>
            <a:ext cx="128699" cy="187198"/>
          </a:xfrm>
          <a:prstGeom prst="rect">
            <a:avLst/>
          </a:prstGeom>
        </p:spPr>
      </p:pic>
      <p:sp>
        <p:nvSpPr>
          <p:cNvPr id="62" name="TextBox 61"/>
          <p:cNvSpPr txBox="1"/>
          <p:nvPr/>
        </p:nvSpPr>
        <p:spPr>
          <a:xfrm>
            <a:off x="6965262" y="1606276"/>
            <a:ext cx="689297" cy="186689"/>
          </a:xfrm>
          <a:prstGeom prst="rect">
            <a:avLst/>
          </a:prstGeom>
          <a:noFill/>
        </p:spPr>
        <p:txBody>
          <a:bodyPr wrap="none" lIns="0" rIns="0" tIns="0" bIns="0">
            <a:spAutoFit/>
          </a:bodyPr>
          <a:lstStyle/>
          <a:p>
            <a:r>
              <a:rPr sz="1100" b="0">
                <a:solidFill>
                  <a:srgbClr val="2E2E2E"/>
                </a:solidFill>
                <a:latin typeface="Calibri"/>
              </a:rPr>
              <a:t>BPS, Rising</a:t>
            </a:r>
          </a:p>
        </p:txBody>
      </p:sp>
      <p:sp>
        <p:nvSpPr>
          <p:cNvPr id="63" name="TextBox 62"/>
          <p:cNvSpPr txBox="1"/>
          <p:nvPr/>
        </p:nvSpPr>
        <p:spPr>
          <a:xfrm>
            <a:off x="5562600" y="1773915"/>
            <a:ext cx="747414" cy="186689"/>
          </a:xfrm>
          <a:prstGeom prst="rect">
            <a:avLst/>
          </a:prstGeom>
          <a:noFill/>
        </p:spPr>
        <p:txBody>
          <a:bodyPr wrap="none" lIns="0" rIns="0" tIns="0" bIns="0">
            <a:spAutoFit/>
          </a:bodyPr>
          <a:lstStyle/>
          <a:p>
            <a:r>
              <a:rPr sz="1100" b="0">
                <a:solidFill>
                  <a:srgbClr val="2E2E2E"/>
                </a:solidFill>
                <a:latin typeface="Calibri"/>
              </a:rPr>
              <a:t>realisation (</a:t>
            </a:r>
          </a:p>
        </p:txBody>
      </p:sp>
      <p:pic>
        <p:nvPicPr>
          <p:cNvPr id="64" name="Picture 63" descr="lock.png"/>
          <p:cNvPicPr>
            <a:picLocks noChangeAspect="1"/>
          </p:cNvPicPr>
          <p:nvPr/>
        </p:nvPicPr>
        <p:blipFill>
          <a:blip r:embed="rId4"/>
          <a:stretch>
            <a:fillRect/>
          </a:stretch>
        </p:blipFill>
        <p:spPr>
          <a:xfrm>
            <a:off x="6258066" y="1764137"/>
            <a:ext cx="128699" cy="187198"/>
          </a:xfrm>
          <a:prstGeom prst="rect">
            <a:avLst/>
          </a:prstGeom>
        </p:spPr>
      </p:pic>
      <p:sp>
        <p:nvSpPr>
          <p:cNvPr id="65" name="TextBox 64"/>
          <p:cNvSpPr txBox="1"/>
          <p:nvPr/>
        </p:nvSpPr>
        <p:spPr>
          <a:xfrm>
            <a:off x="6425562" y="1773915"/>
            <a:ext cx="153689" cy="186689"/>
          </a:xfrm>
          <a:prstGeom prst="rect">
            <a:avLst/>
          </a:prstGeom>
          <a:noFill/>
        </p:spPr>
        <p:txBody>
          <a:bodyPr wrap="none" lIns="0" rIns="0" tIns="0" bIns="0">
            <a:spAutoFit/>
          </a:bodyPr>
          <a:lstStyle/>
          <a:p>
            <a:r>
              <a:rPr sz="1100" b="0">
                <a:solidFill>
                  <a:srgbClr val="2E2E2E"/>
                </a:solidFill>
                <a:latin typeface="Calibri"/>
              </a:rPr>
              <a:t>).</a:t>
            </a:r>
          </a:p>
        </p:txBody>
      </p:sp>
      <p:sp>
        <p:nvSpPr>
          <p:cNvPr id="66" name="TextBox 65"/>
          <p:cNvSpPr txBox="1"/>
          <p:nvPr/>
        </p:nvSpPr>
        <p:spPr>
          <a:xfrm>
            <a:off x="8420100" y="1606276"/>
            <a:ext cx="2035001" cy="186689"/>
          </a:xfrm>
          <a:prstGeom prst="rect">
            <a:avLst/>
          </a:prstGeom>
          <a:noFill/>
        </p:spPr>
        <p:txBody>
          <a:bodyPr wrap="none" lIns="0" rIns="0" tIns="0" bIns="0">
            <a:spAutoFit/>
          </a:bodyPr>
          <a:lstStyle/>
          <a:p>
            <a:r>
              <a:rPr sz="1100" b="0">
                <a:solidFill>
                  <a:srgbClr val="2E2E2E"/>
                </a:solidFill>
                <a:latin typeface="Calibri"/>
              </a:rPr>
              <a:t>Scale Cast Metal Partial Dentures (</a:t>
            </a:r>
          </a:p>
        </p:txBody>
      </p:sp>
      <p:pic>
        <p:nvPicPr>
          <p:cNvPr id="67" name="Picture 66" descr="lock.png"/>
          <p:cNvPicPr>
            <a:picLocks noChangeAspect="1"/>
          </p:cNvPicPr>
          <p:nvPr/>
        </p:nvPicPr>
        <p:blipFill>
          <a:blip r:embed="rId4"/>
          <a:stretch>
            <a:fillRect/>
          </a:stretch>
        </p:blipFill>
        <p:spPr>
          <a:xfrm>
            <a:off x="10403152" y="1596497"/>
            <a:ext cx="128699" cy="187198"/>
          </a:xfrm>
          <a:prstGeom prst="rect">
            <a:avLst/>
          </a:prstGeom>
        </p:spPr>
      </p:pic>
      <p:sp>
        <p:nvSpPr>
          <p:cNvPr id="68" name="TextBox 67"/>
          <p:cNvSpPr txBox="1"/>
          <p:nvPr/>
        </p:nvSpPr>
        <p:spPr>
          <a:xfrm>
            <a:off x="10570648" y="1606276"/>
            <a:ext cx="153416"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69" name="Picture 68" descr="lock.png"/>
          <p:cNvPicPr>
            <a:picLocks noChangeAspect="1"/>
          </p:cNvPicPr>
          <p:nvPr/>
        </p:nvPicPr>
        <p:blipFill>
          <a:blip r:embed="rId4"/>
          <a:stretch>
            <a:fillRect/>
          </a:stretch>
        </p:blipFill>
        <p:spPr>
          <a:xfrm>
            <a:off x="10672117" y="1596497"/>
            <a:ext cx="128699" cy="187198"/>
          </a:xfrm>
          <a:prstGeom prst="rect">
            <a:avLst/>
          </a:prstGeom>
        </p:spPr>
      </p:pic>
      <p:sp>
        <p:nvSpPr>
          <p:cNvPr id="70" name="TextBox 69"/>
          <p:cNvSpPr txBox="1"/>
          <p:nvPr/>
        </p:nvSpPr>
        <p:spPr>
          <a:xfrm>
            <a:off x="10839613" y="1606276"/>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71" name="TextBox 70"/>
          <p:cNvSpPr txBox="1"/>
          <p:nvPr/>
        </p:nvSpPr>
        <p:spPr>
          <a:xfrm>
            <a:off x="8420100" y="1773915"/>
            <a:ext cx="702394" cy="186689"/>
          </a:xfrm>
          <a:prstGeom prst="rect">
            <a:avLst/>
          </a:prstGeom>
          <a:noFill/>
        </p:spPr>
        <p:txBody>
          <a:bodyPr wrap="none" lIns="0" rIns="0" tIns="0" bIns="0">
            <a:spAutoFit/>
          </a:bodyPr>
          <a:lstStyle/>
          <a:p>
            <a:r>
              <a:rPr sz="1100" b="0">
                <a:solidFill>
                  <a:srgbClr val="2E2E2E"/>
                </a:solidFill>
                <a:latin typeface="Calibri"/>
              </a:rPr>
              <a:t>headroom.</a:t>
            </a:r>
          </a:p>
        </p:txBody>
      </p:sp>
      <p:sp>
        <p:nvSpPr>
          <p:cNvPr id="72" name="TextBox 71"/>
          <p:cNvSpPr txBox="1"/>
          <p:nvPr/>
        </p:nvSpPr>
        <p:spPr>
          <a:xfrm>
            <a:off x="1752600" y="2117380"/>
            <a:ext cx="738137" cy="186689"/>
          </a:xfrm>
          <a:prstGeom prst="rect">
            <a:avLst/>
          </a:prstGeom>
          <a:noFill/>
        </p:spPr>
        <p:txBody>
          <a:bodyPr wrap="none" lIns="0" rIns="0" tIns="0" bIns="0">
            <a:spAutoFit/>
          </a:bodyPr>
          <a:lstStyle/>
          <a:p>
            <a:r>
              <a:rPr sz="1100" b="0">
                <a:solidFill>
                  <a:srgbClr val="2E2E2E"/>
                </a:solidFill>
                <a:latin typeface="Calibri"/>
              </a:rPr>
              <a:t>Scale base (</a:t>
            </a:r>
          </a:p>
        </p:txBody>
      </p:sp>
      <p:pic>
        <p:nvPicPr>
          <p:cNvPr id="73" name="Picture 72" descr="lock.png"/>
          <p:cNvPicPr>
            <a:picLocks noChangeAspect="1"/>
          </p:cNvPicPr>
          <p:nvPr/>
        </p:nvPicPr>
        <p:blipFill>
          <a:blip r:embed="rId4"/>
          <a:stretch>
            <a:fillRect/>
          </a:stretch>
        </p:blipFill>
        <p:spPr>
          <a:xfrm>
            <a:off x="2438789" y="2107601"/>
            <a:ext cx="128699" cy="187198"/>
          </a:xfrm>
          <a:prstGeom prst="rect">
            <a:avLst/>
          </a:prstGeom>
        </p:spPr>
      </p:pic>
      <p:sp>
        <p:nvSpPr>
          <p:cNvPr id="74" name="TextBox 73"/>
          <p:cNvSpPr txBox="1"/>
          <p:nvPr/>
        </p:nvSpPr>
        <p:spPr>
          <a:xfrm>
            <a:off x="2606285" y="2117380"/>
            <a:ext cx="1683568" cy="186689"/>
          </a:xfrm>
          <a:prstGeom prst="rect">
            <a:avLst/>
          </a:prstGeom>
          <a:noFill/>
        </p:spPr>
        <p:txBody>
          <a:bodyPr wrap="none" lIns="0" rIns="0" tIns="0" bIns="0">
            <a:spAutoFit/>
          </a:bodyPr>
          <a:lstStyle/>
          <a:p>
            <a:r>
              <a:rPr sz="1100" b="0">
                <a:solidFill>
                  <a:srgbClr val="2E2E2E"/>
                </a:solidFill>
                <a:latin typeface="Calibri"/>
              </a:rPr>
              <a:t>share), Above-market pace (</a:t>
            </a:r>
          </a:p>
        </p:txBody>
      </p:sp>
      <p:pic>
        <p:nvPicPr>
          <p:cNvPr id="75" name="Picture 74" descr="lock.png"/>
          <p:cNvPicPr>
            <a:picLocks noChangeAspect="1"/>
          </p:cNvPicPr>
          <p:nvPr/>
        </p:nvPicPr>
        <p:blipFill>
          <a:blip r:embed="rId4"/>
          <a:stretch>
            <a:fillRect/>
          </a:stretch>
        </p:blipFill>
        <p:spPr>
          <a:xfrm>
            <a:off x="4237905" y="2107601"/>
            <a:ext cx="128699" cy="187198"/>
          </a:xfrm>
          <a:prstGeom prst="rect">
            <a:avLst/>
          </a:prstGeom>
        </p:spPr>
      </p:pic>
      <p:sp>
        <p:nvSpPr>
          <p:cNvPr id="76" name="TextBox 75"/>
          <p:cNvSpPr txBox="1"/>
          <p:nvPr/>
        </p:nvSpPr>
        <p:spPr>
          <a:xfrm>
            <a:off x="4405401" y="2117380"/>
            <a:ext cx="618901" cy="186689"/>
          </a:xfrm>
          <a:prstGeom prst="rect">
            <a:avLst/>
          </a:prstGeom>
          <a:noFill/>
        </p:spPr>
        <p:txBody>
          <a:bodyPr wrap="none" lIns="0" rIns="0" tIns="0" bIns="0">
            <a:spAutoFit/>
          </a:bodyPr>
          <a:lstStyle/>
          <a:p>
            <a:r>
              <a:rPr sz="1100" b="0">
                <a:solidFill>
                  <a:srgbClr val="2E2E2E"/>
                </a:solidFill>
                <a:latin typeface="Calibri"/>
              </a:rPr>
              <a:t>), Flexible</a:t>
            </a:r>
          </a:p>
        </p:txBody>
      </p:sp>
      <p:sp>
        <p:nvSpPr>
          <p:cNvPr id="77" name="TextBox 76"/>
          <p:cNvSpPr txBox="1"/>
          <p:nvPr/>
        </p:nvSpPr>
        <p:spPr>
          <a:xfrm>
            <a:off x="1752600" y="2285020"/>
            <a:ext cx="2876202" cy="186689"/>
          </a:xfrm>
          <a:prstGeom prst="rect">
            <a:avLst/>
          </a:prstGeom>
          <a:noFill/>
        </p:spPr>
        <p:txBody>
          <a:bodyPr wrap="none" lIns="0" rIns="0" tIns="0" bIns="0">
            <a:spAutoFit/>
          </a:bodyPr>
          <a:lstStyle/>
          <a:p>
            <a:r>
              <a:rPr sz="1100" b="0">
                <a:solidFill>
                  <a:srgbClr val="2E2E2E"/>
                </a:solidFill>
                <a:latin typeface="Calibri"/>
              </a:rPr>
              <a:t>Partial Dentures demand, Accelerating vs history.</a:t>
            </a:r>
          </a:p>
        </p:txBody>
      </p:sp>
      <p:sp>
        <p:nvSpPr>
          <p:cNvPr id="78" name="TextBox 77"/>
          <p:cNvSpPr txBox="1"/>
          <p:nvPr/>
        </p:nvSpPr>
        <p:spPr>
          <a:xfrm>
            <a:off x="5562600" y="2201200"/>
            <a:ext cx="1113035" cy="186689"/>
          </a:xfrm>
          <a:prstGeom prst="rect">
            <a:avLst/>
          </a:prstGeom>
          <a:noFill/>
        </p:spPr>
        <p:txBody>
          <a:bodyPr wrap="none" lIns="0" rIns="0" tIns="0" bIns="0">
            <a:spAutoFit/>
          </a:bodyPr>
          <a:lstStyle/>
          <a:p>
            <a:r>
              <a:rPr sz="1100" b="0">
                <a:solidFill>
                  <a:srgbClr val="2E2E2E"/>
                </a:solidFill>
                <a:latin typeface="Calibri"/>
              </a:rPr>
              <a:t>Rising realisation (</a:t>
            </a:r>
          </a:p>
        </p:txBody>
      </p:sp>
      <p:pic>
        <p:nvPicPr>
          <p:cNvPr id="79" name="Picture 78" descr="lock.png"/>
          <p:cNvPicPr>
            <a:picLocks noChangeAspect="1"/>
          </p:cNvPicPr>
          <p:nvPr/>
        </p:nvPicPr>
        <p:blipFill>
          <a:blip r:embed="rId4"/>
          <a:stretch>
            <a:fillRect/>
          </a:stretch>
        </p:blipFill>
        <p:spPr>
          <a:xfrm>
            <a:off x="6623687" y="2191421"/>
            <a:ext cx="128699" cy="187198"/>
          </a:xfrm>
          <a:prstGeom prst="rect">
            <a:avLst/>
          </a:prstGeom>
        </p:spPr>
      </p:pic>
      <p:sp>
        <p:nvSpPr>
          <p:cNvPr id="80" name="TextBox 79"/>
          <p:cNvSpPr txBox="1"/>
          <p:nvPr/>
        </p:nvSpPr>
        <p:spPr>
          <a:xfrm>
            <a:off x="6791183" y="2201200"/>
            <a:ext cx="153689" cy="186689"/>
          </a:xfrm>
          <a:prstGeom prst="rect">
            <a:avLst/>
          </a:prstGeom>
          <a:noFill/>
        </p:spPr>
        <p:txBody>
          <a:bodyPr wrap="none" lIns="0" rIns="0" tIns="0" bIns="0">
            <a:spAutoFit/>
          </a:bodyPr>
          <a:lstStyle/>
          <a:p>
            <a:r>
              <a:rPr sz="1100" b="0">
                <a:solidFill>
                  <a:srgbClr val="2E2E2E"/>
                </a:solidFill>
                <a:latin typeface="Calibri"/>
              </a:rPr>
              <a:t>).</a:t>
            </a:r>
          </a:p>
        </p:txBody>
      </p:sp>
      <p:sp>
        <p:nvSpPr>
          <p:cNvPr id="81" name="TextBox 80"/>
          <p:cNvSpPr txBox="1"/>
          <p:nvPr/>
        </p:nvSpPr>
        <p:spPr>
          <a:xfrm>
            <a:off x="8420100" y="2117380"/>
            <a:ext cx="2035001" cy="186689"/>
          </a:xfrm>
          <a:prstGeom prst="rect">
            <a:avLst/>
          </a:prstGeom>
          <a:noFill/>
        </p:spPr>
        <p:txBody>
          <a:bodyPr wrap="none" lIns="0" rIns="0" tIns="0" bIns="0">
            <a:spAutoFit/>
          </a:bodyPr>
          <a:lstStyle/>
          <a:p>
            <a:r>
              <a:rPr sz="1100" b="0">
                <a:solidFill>
                  <a:srgbClr val="2E2E2E"/>
                </a:solidFill>
                <a:latin typeface="Calibri"/>
              </a:rPr>
              <a:t>Scale Cast Metal Partial Dentures (</a:t>
            </a:r>
          </a:p>
        </p:txBody>
      </p:sp>
      <p:pic>
        <p:nvPicPr>
          <p:cNvPr id="82" name="Picture 81" descr="lock.png"/>
          <p:cNvPicPr>
            <a:picLocks noChangeAspect="1"/>
          </p:cNvPicPr>
          <p:nvPr/>
        </p:nvPicPr>
        <p:blipFill>
          <a:blip r:embed="rId4"/>
          <a:stretch>
            <a:fillRect/>
          </a:stretch>
        </p:blipFill>
        <p:spPr>
          <a:xfrm>
            <a:off x="10403152" y="2107601"/>
            <a:ext cx="128699" cy="187198"/>
          </a:xfrm>
          <a:prstGeom prst="rect">
            <a:avLst/>
          </a:prstGeom>
        </p:spPr>
      </p:pic>
      <p:sp>
        <p:nvSpPr>
          <p:cNvPr id="83" name="TextBox 82"/>
          <p:cNvSpPr txBox="1"/>
          <p:nvPr/>
        </p:nvSpPr>
        <p:spPr>
          <a:xfrm>
            <a:off x="10570648" y="2117380"/>
            <a:ext cx="153416"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84" name="Picture 83" descr="lock.png"/>
          <p:cNvPicPr>
            <a:picLocks noChangeAspect="1"/>
          </p:cNvPicPr>
          <p:nvPr/>
        </p:nvPicPr>
        <p:blipFill>
          <a:blip r:embed="rId4"/>
          <a:stretch>
            <a:fillRect/>
          </a:stretch>
        </p:blipFill>
        <p:spPr>
          <a:xfrm>
            <a:off x="10672117" y="2107601"/>
            <a:ext cx="128699" cy="187198"/>
          </a:xfrm>
          <a:prstGeom prst="rect">
            <a:avLst/>
          </a:prstGeom>
        </p:spPr>
      </p:pic>
      <p:sp>
        <p:nvSpPr>
          <p:cNvPr id="85" name="TextBox 84"/>
          <p:cNvSpPr txBox="1"/>
          <p:nvPr/>
        </p:nvSpPr>
        <p:spPr>
          <a:xfrm>
            <a:off x="10839613" y="2117380"/>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86" name="TextBox 85"/>
          <p:cNvSpPr txBox="1"/>
          <p:nvPr/>
        </p:nvSpPr>
        <p:spPr>
          <a:xfrm>
            <a:off x="8420100" y="2285020"/>
            <a:ext cx="702394" cy="186689"/>
          </a:xfrm>
          <a:prstGeom prst="rect">
            <a:avLst/>
          </a:prstGeom>
          <a:noFill/>
        </p:spPr>
        <p:txBody>
          <a:bodyPr wrap="none" lIns="0" rIns="0" tIns="0" bIns="0">
            <a:spAutoFit/>
          </a:bodyPr>
          <a:lstStyle/>
          <a:p>
            <a:r>
              <a:rPr sz="1100" b="0">
                <a:solidFill>
                  <a:srgbClr val="2E2E2E"/>
                </a:solidFill>
                <a:latin typeface="Calibri"/>
              </a:rPr>
              <a:t>headroom.</a:t>
            </a:r>
          </a:p>
        </p:txBody>
      </p:sp>
      <p:sp>
        <p:nvSpPr>
          <p:cNvPr id="87" name="TextBox 86"/>
          <p:cNvSpPr txBox="1"/>
          <p:nvPr/>
        </p:nvSpPr>
        <p:spPr>
          <a:xfrm>
            <a:off x="1752600" y="2628483"/>
            <a:ext cx="738137" cy="186689"/>
          </a:xfrm>
          <a:prstGeom prst="rect">
            <a:avLst/>
          </a:prstGeom>
          <a:noFill/>
        </p:spPr>
        <p:txBody>
          <a:bodyPr wrap="none" lIns="0" rIns="0" tIns="0" bIns="0">
            <a:spAutoFit/>
          </a:bodyPr>
          <a:lstStyle/>
          <a:p>
            <a:r>
              <a:rPr sz="1100" b="0">
                <a:solidFill>
                  <a:srgbClr val="2E2E2E"/>
                </a:solidFill>
                <a:latin typeface="Calibri"/>
              </a:rPr>
              <a:t>Scale base (</a:t>
            </a:r>
          </a:p>
        </p:txBody>
      </p:sp>
      <p:pic>
        <p:nvPicPr>
          <p:cNvPr id="88" name="Picture 87" descr="lock.png"/>
          <p:cNvPicPr>
            <a:picLocks noChangeAspect="1"/>
          </p:cNvPicPr>
          <p:nvPr/>
        </p:nvPicPr>
        <p:blipFill>
          <a:blip r:embed="rId4"/>
          <a:stretch>
            <a:fillRect/>
          </a:stretch>
        </p:blipFill>
        <p:spPr>
          <a:xfrm>
            <a:off x="2438789" y="2618704"/>
            <a:ext cx="128699" cy="187198"/>
          </a:xfrm>
          <a:prstGeom prst="rect">
            <a:avLst/>
          </a:prstGeom>
        </p:spPr>
      </p:pic>
      <p:sp>
        <p:nvSpPr>
          <p:cNvPr id="89" name="TextBox 88"/>
          <p:cNvSpPr txBox="1"/>
          <p:nvPr/>
        </p:nvSpPr>
        <p:spPr>
          <a:xfrm>
            <a:off x="2606285" y="2628483"/>
            <a:ext cx="1683568" cy="186689"/>
          </a:xfrm>
          <a:prstGeom prst="rect">
            <a:avLst/>
          </a:prstGeom>
          <a:noFill/>
        </p:spPr>
        <p:txBody>
          <a:bodyPr wrap="none" lIns="0" rIns="0" tIns="0" bIns="0">
            <a:spAutoFit/>
          </a:bodyPr>
          <a:lstStyle/>
          <a:p>
            <a:r>
              <a:rPr sz="1100" b="0">
                <a:solidFill>
                  <a:srgbClr val="2E2E2E"/>
                </a:solidFill>
                <a:latin typeface="Calibri"/>
              </a:rPr>
              <a:t>share), Above-market pace (</a:t>
            </a:r>
          </a:p>
        </p:txBody>
      </p:sp>
      <p:pic>
        <p:nvPicPr>
          <p:cNvPr id="90" name="Picture 89" descr="lock.png"/>
          <p:cNvPicPr>
            <a:picLocks noChangeAspect="1"/>
          </p:cNvPicPr>
          <p:nvPr/>
        </p:nvPicPr>
        <p:blipFill>
          <a:blip r:embed="rId4"/>
          <a:stretch>
            <a:fillRect/>
          </a:stretch>
        </p:blipFill>
        <p:spPr>
          <a:xfrm>
            <a:off x="4237905" y="2618704"/>
            <a:ext cx="128699" cy="187198"/>
          </a:xfrm>
          <a:prstGeom prst="rect">
            <a:avLst/>
          </a:prstGeom>
        </p:spPr>
      </p:pic>
      <p:sp>
        <p:nvSpPr>
          <p:cNvPr id="91" name="TextBox 90"/>
          <p:cNvSpPr txBox="1"/>
          <p:nvPr/>
        </p:nvSpPr>
        <p:spPr>
          <a:xfrm>
            <a:off x="4405401" y="2628483"/>
            <a:ext cx="618901" cy="186689"/>
          </a:xfrm>
          <a:prstGeom prst="rect">
            <a:avLst/>
          </a:prstGeom>
          <a:noFill/>
        </p:spPr>
        <p:txBody>
          <a:bodyPr wrap="none" lIns="0" rIns="0" tIns="0" bIns="0">
            <a:spAutoFit/>
          </a:bodyPr>
          <a:lstStyle/>
          <a:p>
            <a:r>
              <a:rPr sz="1100" b="0">
                <a:solidFill>
                  <a:srgbClr val="2E2E2E"/>
                </a:solidFill>
                <a:latin typeface="Calibri"/>
              </a:rPr>
              <a:t>), Flexible</a:t>
            </a:r>
          </a:p>
        </p:txBody>
      </p:sp>
      <p:sp>
        <p:nvSpPr>
          <p:cNvPr id="92" name="TextBox 91"/>
          <p:cNvSpPr txBox="1"/>
          <p:nvPr/>
        </p:nvSpPr>
        <p:spPr>
          <a:xfrm>
            <a:off x="1752600" y="2796123"/>
            <a:ext cx="2876202" cy="186689"/>
          </a:xfrm>
          <a:prstGeom prst="rect">
            <a:avLst/>
          </a:prstGeom>
          <a:noFill/>
        </p:spPr>
        <p:txBody>
          <a:bodyPr wrap="none" lIns="0" rIns="0" tIns="0" bIns="0">
            <a:spAutoFit/>
          </a:bodyPr>
          <a:lstStyle/>
          <a:p>
            <a:r>
              <a:rPr sz="1100" b="0">
                <a:solidFill>
                  <a:srgbClr val="2E2E2E"/>
                </a:solidFill>
                <a:latin typeface="Calibri"/>
              </a:rPr>
              <a:t>Partial Dentures demand, Accelerating vs history.</a:t>
            </a:r>
          </a:p>
        </p:txBody>
      </p:sp>
      <p:sp>
        <p:nvSpPr>
          <p:cNvPr id="93" name="TextBox 92"/>
          <p:cNvSpPr txBox="1"/>
          <p:nvPr/>
        </p:nvSpPr>
        <p:spPr>
          <a:xfrm>
            <a:off x="5562600" y="2712303"/>
            <a:ext cx="1113035" cy="186689"/>
          </a:xfrm>
          <a:prstGeom prst="rect">
            <a:avLst/>
          </a:prstGeom>
          <a:noFill/>
        </p:spPr>
        <p:txBody>
          <a:bodyPr wrap="none" lIns="0" rIns="0" tIns="0" bIns="0">
            <a:spAutoFit/>
          </a:bodyPr>
          <a:lstStyle/>
          <a:p>
            <a:r>
              <a:rPr sz="1100" b="0">
                <a:solidFill>
                  <a:srgbClr val="2E2E2E"/>
                </a:solidFill>
                <a:latin typeface="Calibri"/>
              </a:rPr>
              <a:t>Rising realisation (</a:t>
            </a:r>
          </a:p>
        </p:txBody>
      </p:sp>
      <p:pic>
        <p:nvPicPr>
          <p:cNvPr id="94" name="Picture 93" descr="lock.png"/>
          <p:cNvPicPr>
            <a:picLocks noChangeAspect="1"/>
          </p:cNvPicPr>
          <p:nvPr/>
        </p:nvPicPr>
        <p:blipFill>
          <a:blip r:embed="rId4"/>
          <a:stretch>
            <a:fillRect/>
          </a:stretch>
        </p:blipFill>
        <p:spPr>
          <a:xfrm>
            <a:off x="6623687" y="2702524"/>
            <a:ext cx="128699" cy="187198"/>
          </a:xfrm>
          <a:prstGeom prst="rect">
            <a:avLst/>
          </a:prstGeom>
        </p:spPr>
      </p:pic>
      <p:sp>
        <p:nvSpPr>
          <p:cNvPr id="95" name="TextBox 94"/>
          <p:cNvSpPr txBox="1"/>
          <p:nvPr/>
        </p:nvSpPr>
        <p:spPr>
          <a:xfrm>
            <a:off x="6791183" y="2712303"/>
            <a:ext cx="153689" cy="186689"/>
          </a:xfrm>
          <a:prstGeom prst="rect">
            <a:avLst/>
          </a:prstGeom>
          <a:noFill/>
        </p:spPr>
        <p:txBody>
          <a:bodyPr wrap="none" lIns="0" rIns="0" tIns="0" bIns="0">
            <a:spAutoFit/>
          </a:bodyPr>
          <a:lstStyle/>
          <a:p>
            <a:r>
              <a:rPr sz="1100" b="0">
                <a:solidFill>
                  <a:srgbClr val="2E2E2E"/>
                </a:solidFill>
                <a:latin typeface="Calibri"/>
              </a:rPr>
              <a:t>).</a:t>
            </a:r>
          </a:p>
        </p:txBody>
      </p:sp>
      <p:sp>
        <p:nvSpPr>
          <p:cNvPr id="96" name="TextBox 95"/>
          <p:cNvSpPr txBox="1"/>
          <p:nvPr/>
        </p:nvSpPr>
        <p:spPr>
          <a:xfrm>
            <a:off x="8420100" y="2628483"/>
            <a:ext cx="2035001" cy="186689"/>
          </a:xfrm>
          <a:prstGeom prst="rect">
            <a:avLst/>
          </a:prstGeom>
          <a:noFill/>
        </p:spPr>
        <p:txBody>
          <a:bodyPr wrap="none" lIns="0" rIns="0" tIns="0" bIns="0">
            <a:spAutoFit/>
          </a:bodyPr>
          <a:lstStyle/>
          <a:p>
            <a:r>
              <a:rPr sz="1100" b="0">
                <a:solidFill>
                  <a:srgbClr val="2E2E2E"/>
                </a:solidFill>
                <a:latin typeface="Calibri"/>
              </a:rPr>
              <a:t>Scale Cast Metal Partial Dentures (</a:t>
            </a:r>
          </a:p>
        </p:txBody>
      </p:sp>
      <p:pic>
        <p:nvPicPr>
          <p:cNvPr id="97" name="Picture 96" descr="lock.png"/>
          <p:cNvPicPr>
            <a:picLocks noChangeAspect="1"/>
          </p:cNvPicPr>
          <p:nvPr/>
        </p:nvPicPr>
        <p:blipFill>
          <a:blip r:embed="rId4"/>
          <a:stretch>
            <a:fillRect/>
          </a:stretch>
        </p:blipFill>
        <p:spPr>
          <a:xfrm>
            <a:off x="10403152" y="2618704"/>
            <a:ext cx="128699" cy="187198"/>
          </a:xfrm>
          <a:prstGeom prst="rect">
            <a:avLst/>
          </a:prstGeom>
        </p:spPr>
      </p:pic>
      <p:sp>
        <p:nvSpPr>
          <p:cNvPr id="98" name="TextBox 97"/>
          <p:cNvSpPr txBox="1"/>
          <p:nvPr/>
        </p:nvSpPr>
        <p:spPr>
          <a:xfrm>
            <a:off x="10570648" y="2628483"/>
            <a:ext cx="153416"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99" name="Picture 98" descr="lock.png"/>
          <p:cNvPicPr>
            <a:picLocks noChangeAspect="1"/>
          </p:cNvPicPr>
          <p:nvPr/>
        </p:nvPicPr>
        <p:blipFill>
          <a:blip r:embed="rId4"/>
          <a:stretch>
            <a:fillRect/>
          </a:stretch>
        </p:blipFill>
        <p:spPr>
          <a:xfrm>
            <a:off x="10672117" y="2618704"/>
            <a:ext cx="128699" cy="187198"/>
          </a:xfrm>
          <a:prstGeom prst="rect">
            <a:avLst/>
          </a:prstGeom>
        </p:spPr>
      </p:pic>
      <p:sp>
        <p:nvSpPr>
          <p:cNvPr id="100" name="TextBox 99"/>
          <p:cNvSpPr txBox="1"/>
          <p:nvPr/>
        </p:nvSpPr>
        <p:spPr>
          <a:xfrm>
            <a:off x="10839613" y="2628483"/>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101" name="TextBox 100"/>
          <p:cNvSpPr txBox="1"/>
          <p:nvPr/>
        </p:nvSpPr>
        <p:spPr>
          <a:xfrm>
            <a:off x="8420100" y="2796123"/>
            <a:ext cx="702394" cy="186689"/>
          </a:xfrm>
          <a:prstGeom prst="rect">
            <a:avLst/>
          </a:prstGeom>
          <a:noFill/>
        </p:spPr>
        <p:txBody>
          <a:bodyPr wrap="none" lIns="0" rIns="0" tIns="0" bIns="0">
            <a:spAutoFit/>
          </a:bodyPr>
          <a:lstStyle/>
          <a:p>
            <a:r>
              <a:rPr sz="1100" b="0">
                <a:solidFill>
                  <a:srgbClr val="2E2E2E"/>
                </a:solidFill>
                <a:latin typeface="Calibri"/>
              </a:rPr>
              <a:t>headroom.</a:t>
            </a:r>
          </a:p>
        </p:txBody>
      </p:sp>
      <p:sp>
        <p:nvSpPr>
          <p:cNvPr id="102" name="TextBox 101"/>
          <p:cNvSpPr txBox="1"/>
          <p:nvPr/>
        </p:nvSpPr>
        <p:spPr>
          <a:xfrm>
            <a:off x="1752600" y="3139587"/>
            <a:ext cx="1134318" cy="186689"/>
          </a:xfrm>
          <a:prstGeom prst="rect">
            <a:avLst/>
          </a:prstGeom>
          <a:noFill/>
        </p:spPr>
        <p:txBody>
          <a:bodyPr wrap="none" lIns="0" rIns="0" tIns="0" bIns="0">
            <a:spAutoFit/>
          </a:bodyPr>
          <a:lstStyle/>
          <a:p>
            <a:r>
              <a:rPr sz="1100" b="0">
                <a:solidFill>
                  <a:srgbClr val="2E2E2E"/>
                </a:solidFill>
                <a:latin typeface="Calibri"/>
              </a:rPr>
              <a:t>Installed demand (</a:t>
            </a:r>
          </a:p>
        </p:txBody>
      </p:sp>
      <p:pic>
        <p:nvPicPr>
          <p:cNvPr id="103" name="Picture 102" descr="lock.png"/>
          <p:cNvPicPr>
            <a:picLocks noChangeAspect="1"/>
          </p:cNvPicPr>
          <p:nvPr/>
        </p:nvPicPr>
        <p:blipFill>
          <a:blip r:embed="rId4"/>
          <a:stretch>
            <a:fillRect/>
          </a:stretch>
        </p:blipFill>
        <p:spPr>
          <a:xfrm>
            <a:off x="2834969" y="3129808"/>
            <a:ext cx="128699" cy="187198"/>
          </a:xfrm>
          <a:prstGeom prst="rect">
            <a:avLst/>
          </a:prstGeom>
        </p:spPr>
      </p:pic>
      <p:sp>
        <p:nvSpPr>
          <p:cNvPr id="104" name="TextBox 103"/>
          <p:cNvSpPr txBox="1"/>
          <p:nvPr/>
        </p:nvSpPr>
        <p:spPr>
          <a:xfrm>
            <a:off x="3002465" y="3139587"/>
            <a:ext cx="1889827" cy="186689"/>
          </a:xfrm>
          <a:prstGeom prst="rect">
            <a:avLst/>
          </a:prstGeom>
          <a:noFill/>
        </p:spPr>
        <p:txBody>
          <a:bodyPr wrap="none" lIns="0" rIns="0" tIns="0" bIns="0">
            <a:spAutoFit/>
          </a:bodyPr>
          <a:lstStyle/>
          <a:p>
            <a:r>
              <a:rPr sz="1100" b="0">
                <a:solidFill>
                  <a:srgbClr val="2E2E2E"/>
                </a:solidFill>
                <a:latin typeface="Calibri"/>
              </a:rPr>
              <a:t>CAGR), Flexible Partial Dentures</a:t>
            </a:r>
          </a:p>
        </p:txBody>
      </p:sp>
      <p:sp>
        <p:nvSpPr>
          <p:cNvPr id="105" name="TextBox 104"/>
          <p:cNvSpPr txBox="1"/>
          <p:nvPr/>
        </p:nvSpPr>
        <p:spPr>
          <a:xfrm>
            <a:off x="1752600" y="3307227"/>
            <a:ext cx="1924496" cy="186689"/>
          </a:xfrm>
          <a:prstGeom prst="rect">
            <a:avLst/>
          </a:prstGeom>
          <a:noFill/>
        </p:spPr>
        <p:txBody>
          <a:bodyPr wrap="none" lIns="0" rIns="0" tIns="0" bIns="0">
            <a:spAutoFit/>
          </a:bodyPr>
          <a:lstStyle/>
          <a:p>
            <a:r>
              <a:rPr sz="1100" b="0">
                <a:solidFill>
                  <a:srgbClr val="2E2E2E"/>
                </a:solidFill>
                <a:latin typeface="Calibri"/>
              </a:rPr>
              <a:t>demand, Accelerating vs history.</a:t>
            </a:r>
          </a:p>
        </p:txBody>
      </p:sp>
      <p:sp>
        <p:nvSpPr>
          <p:cNvPr id="106" name="TextBox 105"/>
          <p:cNvSpPr txBox="1"/>
          <p:nvPr/>
        </p:nvSpPr>
        <p:spPr>
          <a:xfrm>
            <a:off x="5562600" y="3139587"/>
            <a:ext cx="1287115" cy="186689"/>
          </a:xfrm>
          <a:prstGeom prst="rect">
            <a:avLst/>
          </a:prstGeom>
          <a:noFill/>
        </p:spPr>
        <p:txBody>
          <a:bodyPr wrap="none" lIns="0" rIns="0" tIns="0" bIns="0">
            <a:spAutoFit/>
          </a:bodyPr>
          <a:lstStyle/>
          <a:p>
            <a:r>
              <a:rPr sz="1100" b="0">
                <a:solidFill>
                  <a:srgbClr val="2E2E2E"/>
                </a:solidFill>
                <a:latin typeface="Calibri"/>
              </a:rPr>
              <a:t>Trails market pace by</a:t>
            </a:r>
          </a:p>
        </p:txBody>
      </p:sp>
      <p:pic>
        <p:nvPicPr>
          <p:cNvPr id="107" name="Picture 106" descr="lock.png"/>
          <p:cNvPicPr>
            <a:picLocks noChangeAspect="1"/>
          </p:cNvPicPr>
          <p:nvPr/>
        </p:nvPicPr>
        <p:blipFill>
          <a:blip r:embed="rId4"/>
          <a:stretch>
            <a:fillRect/>
          </a:stretch>
        </p:blipFill>
        <p:spPr>
          <a:xfrm>
            <a:off x="6797766" y="3129808"/>
            <a:ext cx="128699" cy="187198"/>
          </a:xfrm>
          <a:prstGeom prst="rect">
            <a:avLst/>
          </a:prstGeom>
        </p:spPr>
      </p:pic>
      <p:sp>
        <p:nvSpPr>
          <p:cNvPr id="108" name="TextBox 107"/>
          <p:cNvSpPr txBox="1"/>
          <p:nvPr/>
        </p:nvSpPr>
        <p:spPr>
          <a:xfrm>
            <a:off x="6965262" y="3139587"/>
            <a:ext cx="689297" cy="186689"/>
          </a:xfrm>
          <a:prstGeom prst="rect">
            <a:avLst/>
          </a:prstGeom>
          <a:noFill/>
        </p:spPr>
        <p:txBody>
          <a:bodyPr wrap="none" lIns="0" rIns="0" tIns="0" bIns="0">
            <a:spAutoFit/>
          </a:bodyPr>
          <a:lstStyle/>
          <a:p>
            <a:r>
              <a:rPr sz="1100" b="0">
                <a:solidFill>
                  <a:srgbClr val="2E2E2E"/>
                </a:solidFill>
                <a:latin typeface="Calibri"/>
              </a:rPr>
              <a:t>BPS, Rising</a:t>
            </a:r>
          </a:p>
        </p:txBody>
      </p:sp>
      <p:sp>
        <p:nvSpPr>
          <p:cNvPr id="109" name="TextBox 108"/>
          <p:cNvSpPr txBox="1"/>
          <p:nvPr/>
        </p:nvSpPr>
        <p:spPr>
          <a:xfrm>
            <a:off x="5562600" y="3307227"/>
            <a:ext cx="747414" cy="186689"/>
          </a:xfrm>
          <a:prstGeom prst="rect">
            <a:avLst/>
          </a:prstGeom>
          <a:noFill/>
        </p:spPr>
        <p:txBody>
          <a:bodyPr wrap="none" lIns="0" rIns="0" tIns="0" bIns="0">
            <a:spAutoFit/>
          </a:bodyPr>
          <a:lstStyle/>
          <a:p>
            <a:r>
              <a:rPr sz="1100" b="0">
                <a:solidFill>
                  <a:srgbClr val="2E2E2E"/>
                </a:solidFill>
                <a:latin typeface="Calibri"/>
              </a:rPr>
              <a:t>realisation (</a:t>
            </a:r>
          </a:p>
        </p:txBody>
      </p:sp>
      <p:pic>
        <p:nvPicPr>
          <p:cNvPr id="110" name="Picture 109" descr="lock.png"/>
          <p:cNvPicPr>
            <a:picLocks noChangeAspect="1"/>
          </p:cNvPicPr>
          <p:nvPr/>
        </p:nvPicPr>
        <p:blipFill>
          <a:blip r:embed="rId4"/>
          <a:stretch>
            <a:fillRect/>
          </a:stretch>
        </p:blipFill>
        <p:spPr>
          <a:xfrm>
            <a:off x="6258066" y="3297448"/>
            <a:ext cx="128699" cy="187198"/>
          </a:xfrm>
          <a:prstGeom prst="rect">
            <a:avLst/>
          </a:prstGeom>
        </p:spPr>
      </p:pic>
      <p:sp>
        <p:nvSpPr>
          <p:cNvPr id="111" name="TextBox 110"/>
          <p:cNvSpPr txBox="1"/>
          <p:nvPr/>
        </p:nvSpPr>
        <p:spPr>
          <a:xfrm>
            <a:off x="6425562" y="3307227"/>
            <a:ext cx="153689" cy="186689"/>
          </a:xfrm>
          <a:prstGeom prst="rect">
            <a:avLst/>
          </a:prstGeom>
          <a:noFill/>
        </p:spPr>
        <p:txBody>
          <a:bodyPr wrap="none" lIns="0" rIns="0" tIns="0" bIns="0">
            <a:spAutoFit/>
          </a:bodyPr>
          <a:lstStyle/>
          <a:p>
            <a:r>
              <a:rPr sz="1100" b="0">
                <a:solidFill>
                  <a:srgbClr val="2E2E2E"/>
                </a:solidFill>
                <a:latin typeface="Calibri"/>
              </a:rPr>
              <a:t>).</a:t>
            </a:r>
          </a:p>
        </p:txBody>
      </p:sp>
      <p:sp>
        <p:nvSpPr>
          <p:cNvPr id="112" name="TextBox 111"/>
          <p:cNvSpPr txBox="1"/>
          <p:nvPr/>
        </p:nvSpPr>
        <p:spPr>
          <a:xfrm>
            <a:off x="8420100" y="3139587"/>
            <a:ext cx="2035001" cy="186689"/>
          </a:xfrm>
          <a:prstGeom prst="rect">
            <a:avLst/>
          </a:prstGeom>
          <a:noFill/>
        </p:spPr>
        <p:txBody>
          <a:bodyPr wrap="none" lIns="0" rIns="0" tIns="0" bIns="0">
            <a:spAutoFit/>
          </a:bodyPr>
          <a:lstStyle/>
          <a:p>
            <a:r>
              <a:rPr sz="1100" b="0">
                <a:solidFill>
                  <a:srgbClr val="2E2E2E"/>
                </a:solidFill>
                <a:latin typeface="Calibri"/>
              </a:rPr>
              <a:t>Scale Cast Metal Partial Dentures (</a:t>
            </a:r>
          </a:p>
        </p:txBody>
      </p:sp>
      <p:pic>
        <p:nvPicPr>
          <p:cNvPr id="113" name="Picture 112" descr="lock.png"/>
          <p:cNvPicPr>
            <a:picLocks noChangeAspect="1"/>
          </p:cNvPicPr>
          <p:nvPr/>
        </p:nvPicPr>
        <p:blipFill>
          <a:blip r:embed="rId4"/>
          <a:stretch>
            <a:fillRect/>
          </a:stretch>
        </p:blipFill>
        <p:spPr>
          <a:xfrm>
            <a:off x="10403152" y="3129808"/>
            <a:ext cx="128699" cy="187198"/>
          </a:xfrm>
          <a:prstGeom prst="rect">
            <a:avLst/>
          </a:prstGeom>
        </p:spPr>
      </p:pic>
      <p:sp>
        <p:nvSpPr>
          <p:cNvPr id="114" name="TextBox 113"/>
          <p:cNvSpPr txBox="1"/>
          <p:nvPr/>
        </p:nvSpPr>
        <p:spPr>
          <a:xfrm>
            <a:off x="10570648" y="3139587"/>
            <a:ext cx="153416"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115" name="Picture 114" descr="lock.png"/>
          <p:cNvPicPr>
            <a:picLocks noChangeAspect="1"/>
          </p:cNvPicPr>
          <p:nvPr/>
        </p:nvPicPr>
        <p:blipFill>
          <a:blip r:embed="rId4"/>
          <a:stretch>
            <a:fillRect/>
          </a:stretch>
        </p:blipFill>
        <p:spPr>
          <a:xfrm>
            <a:off x="10672117" y="3129808"/>
            <a:ext cx="128699" cy="187198"/>
          </a:xfrm>
          <a:prstGeom prst="rect">
            <a:avLst/>
          </a:prstGeom>
        </p:spPr>
      </p:pic>
      <p:sp>
        <p:nvSpPr>
          <p:cNvPr id="116" name="TextBox 115"/>
          <p:cNvSpPr txBox="1"/>
          <p:nvPr/>
        </p:nvSpPr>
        <p:spPr>
          <a:xfrm>
            <a:off x="10839613" y="3139587"/>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117" name="TextBox 116"/>
          <p:cNvSpPr txBox="1"/>
          <p:nvPr/>
        </p:nvSpPr>
        <p:spPr>
          <a:xfrm>
            <a:off x="8420100" y="3307227"/>
            <a:ext cx="702394" cy="186689"/>
          </a:xfrm>
          <a:prstGeom prst="rect">
            <a:avLst/>
          </a:prstGeom>
          <a:noFill/>
        </p:spPr>
        <p:txBody>
          <a:bodyPr wrap="none" lIns="0" rIns="0" tIns="0" bIns="0">
            <a:spAutoFit/>
          </a:bodyPr>
          <a:lstStyle/>
          <a:p>
            <a:r>
              <a:rPr sz="1100" b="0">
                <a:solidFill>
                  <a:srgbClr val="2E2E2E"/>
                </a:solidFill>
                <a:latin typeface="Calibri"/>
              </a:rPr>
              <a:t>headroom.</a:t>
            </a:r>
          </a:p>
        </p:txBody>
      </p:sp>
      <p:sp>
        <p:nvSpPr>
          <p:cNvPr id="118" name="TextBox 117"/>
          <p:cNvSpPr txBox="1"/>
          <p:nvPr/>
        </p:nvSpPr>
        <p:spPr>
          <a:xfrm>
            <a:off x="1752600" y="3650690"/>
            <a:ext cx="1261467" cy="186689"/>
          </a:xfrm>
          <a:prstGeom prst="rect">
            <a:avLst/>
          </a:prstGeom>
          <a:noFill/>
        </p:spPr>
        <p:txBody>
          <a:bodyPr wrap="none" lIns="0" rIns="0" tIns="0" bIns="0">
            <a:spAutoFit/>
          </a:bodyPr>
          <a:lstStyle/>
          <a:p>
            <a:r>
              <a:rPr sz="1100" b="0">
                <a:solidFill>
                  <a:srgbClr val="2E2E2E"/>
                </a:solidFill>
                <a:latin typeface="Calibri"/>
              </a:rPr>
              <a:t>Above-market pace (</a:t>
            </a:r>
          </a:p>
        </p:txBody>
      </p:sp>
      <p:pic>
        <p:nvPicPr>
          <p:cNvPr id="119" name="Picture 118" descr="lock.png"/>
          <p:cNvPicPr>
            <a:picLocks noChangeAspect="1"/>
          </p:cNvPicPr>
          <p:nvPr/>
        </p:nvPicPr>
        <p:blipFill>
          <a:blip r:embed="rId4"/>
          <a:stretch>
            <a:fillRect/>
          </a:stretch>
        </p:blipFill>
        <p:spPr>
          <a:xfrm>
            <a:off x="2962118" y="3640911"/>
            <a:ext cx="128699" cy="187198"/>
          </a:xfrm>
          <a:prstGeom prst="rect">
            <a:avLst/>
          </a:prstGeom>
        </p:spPr>
      </p:pic>
      <p:sp>
        <p:nvSpPr>
          <p:cNvPr id="120" name="TextBox 119"/>
          <p:cNvSpPr txBox="1"/>
          <p:nvPr/>
        </p:nvSpPr>
        <p:spPr>
          <a:xfrm>
            <a:off x="3129614" y="3650690"/>
            <a:ext cx="2105397" cy="186689"/>
          </a:xfrm>
          <a:prstGeom prst="rect">
            <a:avLst/>
          </a:prstGeom>
          <a:noFill/>
        </p:spPr>
        <p:txBody>
          <a:bodyPr wrap="none" lIns="0" rIns="0" tIns="0" bIns="0">
            <a:spAutoFit/>
          </a:bodyPr>
          <a:lstStyle/>
          <a:p>
            <a:r>
              <a:rPr sz="1100" b="0">
                <a:solidFill>
                  <a:srgbClr val="2E2E2E"/>
                </a:solidFill>
                <a:latin typeface="Calibri"/>
              </a:rPr>
              <a:t>), Flexible Partial Dentures demand,</a:t>
            </a:r>
          </a:p>
        </p:txBody>
      </p:sp>
      <p:sp>
        <p:nvSpPr>
          <p:cNvPr id="121" name="TextBox 120"/>
          <p:cNvSpPr txBox="1"/>
          <p:nvPr/>
        </p:nvSpPr>
        <p:spPr>
          <a:xfrm>
            <a:off x="1752600" y="3818330"/>
            <a:ext cx="1389707" cy="186689"/>
          </a:xfrm>
          <a:prstGeom prst="rect">
            <a:avLst/>
          </a:prstGeom>
          <a:noFill/>
        </p:spPr>
        <p:txBody>
          <a:bodyPr wrap="none" lIns="0" rIns="0" tIns="0" bIns="0">
            <a:spAutoFit/>
          </a:bodyPr>
          <a:lstStyle/>
          <a:p>
            <a:r>
              <a:rPr sz="1100" b="0">
                <a:solidFill>
                  <a:srgbClr val="2E2E2E"/>
                </a:solidFill>
                <a:latin typeface="Calibri"/>
              </a:rPr>
              <a:t>Accelerating vs history.</a:t>
            </a:r>
          </a:p>
        </p:txBody>
      </p:sp>
      <p:sp>
        <p:nvSpPr>
          <p:cNvPr id="122" name="TextBox 121"/>
          <p:cNvSpPr txBox="1"/>
          <p:nvPr/>
        </p:nvSpPr>
        <p:spPr>
          <a:xfrm>
            <a:off x="5562600" y="3734510"/>
            <a:ext cx="1113035" cy="186689"/>
          </a:xfrm>
          <a:prstGeom prst="rect">
            <a:avLst/>
          </a:prstGeom>
          <a:noFill/>
        </p:spPr>
        <p:txBody>
          <a:bodyPr wrap="none" lIns="0" rIns="0" tIns="0" bIns="0">
            <a:spAutoFit/>
          </a:bodyPr>
          <a:lstStyle/>
          <a:p>
            <a:r>
              <a:rPr sz="1100" b="0">
                <a:solidFill>
                  <a:srgbClr val="2E2E2E"/>
                </a:solidFill>
                <a:latin typeface="Calibri"/>
              </a:rPr>
              <a:t>Rising realisation (</a:t>
            </a:r>
          </a:p>
        </p:txBody>
      </p:sp>
      <p:pic>
        <p:nvPicPr>
          <p:cNvPr id="123" name="Picture 122" descr="lock.png"/>
          <p:cNvPicPr>
            <a:picLocks noChangeAspect="1"/>
          </p:cNvPicPr>
          <p:nvPr/>
        </p:nvPicPr>
        <p:blipFill>
          <a:blip r:embed="rId4"/>
          <a:stretch>
            <a:fillRect/>
          </a:stretch>
        </p:blipFill>
        <p:spPr>
          <a:xfrm>
            <a:off x="6623687" y="3724731"/>
            <a:ext cx="128699" cy="187198"/>
          </a:xfrm>
          <a:prstGeom prst="rect">
            <a:avLst/>
          </a:prstGeom>
        </p:spPr>
      </p:pic>
      <p:sp>
        <p:nvSpPr>
          <p:cNvPr id="124" name="TextBox 123"/>
          <p:cNvSpPr txBox="1"/>
          <p:nvPr/>
        </p:nvSpPr>
        <p:spPr>
          <a:xfrm>
            <a:off x="6791183" y="3734510"/>
            <a:ext cx="153689" cy="186689"/>
          </a:xfrm>
          <a:prstGeom prst="rect">
            <a:avLst/>
          </a:prstGeom>
          <a:noFill/>
        </p:spPr>
        <p:txBody>
          <a:bodyPr wrap="none" lIns="0" rIns="0" tIns="0" bIns="0">
            <a:spAutoFit/>
          </a:bodyPr>
          <a:lstStyle/>
          <a:p>
            <a:r>
              <a:rPr sz="1100" b="0">
                <a:solidFill>
                  <a:srgbClr val="2E2E2E"/>
                </a:solidFill>
                <a:latin typeface="Calibri"/>
              </a:rPr>
              <a:t>).</a:t>
            </a:r>
          </a:p>
        </p:txBody>
      </p:sp>
      <p:sp>
        <p:nvSpPr>
          <p:cNvPr id="125" name="TextBox 124"/>
          <p:cNvSpPr txBox="1"/>
          <p:nvPr/>
        </p:nvSpPr>
        <p:spPr>
          <a:xfrm>
            <a:off x="8420100" y="3650690"/>
            <a:ext cx="2035001" cy="186689"/>
          </a:xfrm>
          <a:prstGeom prst="rect">
            <a:avLst/>
          </a:prstGeom>
          <a:noFill/>
        </p:spPr>
        <p:txBody>
          <a:bodyPr wrap="none" lIns="0" rIns="0" tIns="0" bIns="0">
            <a:spAutoFit/>
          </a:bodyPr>
          <a:lstStyle/>
          <a:p>
            <a:r>
              <a:rPr sz="1100" b="0">
                <a:solidFill>
                  <a:srgbClr val="2E2E2E"/>
                </a:solidFill>
                <a:latin typeface="Calibri"/>
              </a:rPr>
              <a:t>Scale Cast Metal Partial Dentures (</a:t>
            </a:r>
          </a:p>
        </p:txBody>
      </p:sp>
      <p:pic>
        <p:nvPicPr>
          <p:cNvPr id="126" name="Picture 125" descr="lock.png"/>
          <p:cNvPicPr>
            <a:picLocks noChangeAspect="1"/>
          </p:cNvPicPr>
          <p:nvPr/>
        </p:nvPicPr>
        <p:blipFill>
          <a:blip r:embed="rId4"/>
          <a:stretch>
            <a:fillRect/>
          </a:stretch>
        </p:blipFill>
        <p:spPr>
          <a:xfrm>
            <a:off x="10403152" y="3640911"/>
            <a:ext cx="128699" cy="187198"/>
          </a:xfrm>
          <a:prstGeom prst="rect">
            <a:avLst/>
          </a:prstGeom>
        </p:spPr>
      </p:pic>
      <p:sp>
        <p:nvSpPr>
          <p:cNvPr id="127" name="TextBox 126"/>
          <p:cNvSpPr txBox="1"/>
          <p:nvPr/>
        </p:nvSpPr>
        <p:spPr>
          <a:xfrm>
            <a:off x="10570648" y="3650690"/>
            <a:ext cx="153416"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128" name="Picture 127" descr="lock.png"/>
          <p:cNvPicPr>
            <a:picLocks noChangeAspect="1"/>
          </p:cNvPicPr>
          <p:nvPr/>
        </p:nvPicPr>
        <p:blipFill>
          <a:blip r:embed="rId4"/>
          <a:stretch>
            <a:fillRect/>
          </a:stretch>
        </p:blipFill>
        <p:spPr>
          <a:xfrm>
            <a:off x="10672117" y="3640911"/>
            <a:ext cx="128699" cy="187198"/>
          </a:xfrm>
          <a:prstGeom prst="rect">
            <a:avLst/>
          </a:prstGeom>
        </p:spPr>
      </p:pic>
      <p:sp>
        <p:nvSpPr>
          <p:cNvPr id="129" name="TextBox 128"/>
          <p:cNvSpPr txBox="1"/>
          <p:nvPr/>
        </p:nvSpPr>
        <p:spPr>
          <a:xfrm>
            <a:off x="10839613" y="3650690"/>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130" name="TextBox 129"/>
          <p:cNvSpPr txBox="1"/>
          <p:nvPr/>
        </p:nvSpPr>
        <p:spPr>
          <a:xfrm>
            <a:off x="8420100" y="3818330"/>
            <a:ext cx="702394" cy="186689"/>
          </a:xfrm>
          <a:prstGeom prst="rect">
            <a:avLst/>
          </a:prstGeom>
          <a:noFill/>
        </p:spPr>
        <p:txBody>
          <a:bodyPr wrap="none" lIns="0" rIns="0" tIns="0" bIns="0">
            <a:spAutoFit/>
          </a:bodyPr>
          <a:lstStyle/>
          <a:p>
            <a:r>
              <a:rPr sz="1100" b="0">
                <a:solidFill>
                  <a:srgbClr val="2E2E2E"/>
                </a:solidFill>
                <a:latin typeface="Calibri"/>
              </a:rPr>
              <a:t>headroom.</a:t>
            </a:r>
          </a:p>
        </p:txBody>
      </p:sp>
      <p:sp>
        <p:nvSpPr>
          <p:cNvPr id="131" name="TextBox 130"/>
          <p:cNvSpPr txBox="1"/>
          <p:nvPr/>
        </p:nvSpPr>
        <p:spPr>
          <a:xfrm>
            <a:off x="1752600" y="4161794"/>
            <a:ext cx="1134318" cy="186689"/>
          </a:xfrm>
          <a:prstGeom prst="rect">
            <a:avLst/>
          </a:prstGeom>
          <a:noFill/>
        </p:spPr>
        <p:txBody>
          <a:bodyPr wrap="none" lIns="0" rIns="0" tIns="0" bIns="0">
            <a:spAutoFit/>
          </a:bodyPr>
          <a:lstStyle/>
          <a:p>
            <a:r>
              <a:rPr sz="1100" b="0">
                <a:solidFill>
                  <a:srgbClr val="2E2E2E"/>
                </a:solidFill>
                <a:latin typeface="Calibri"/>
              </a:rPr>
              <a:t>Installed demand (</a:t>
            </a:r>
          </a:p>
        </p:txBody>
      </p:sp>
      <p:pic>
        <p:nvPicPr>
          <p:cNvPr id="132" name="Picture 131" descr="lock.png"/>
          <p:cNvPicPr>
            <a:picLocks noChangeAspect="1"/>
          </p:cNvPicPr>
          <p:nvPr/>
        </p:nvPicPr>
        <p:blipFill>
          <a:blip r:embed="rId4"/>
          <a:stretch>
            <a:fillRect/>
          </a:stretch>
        </p:blipFill>
        <p:spPr>
          <a:xfrm>
            <a:off x="2834969" y="4152015"/>
            <a:ext cx="128699" cy="187198"/>
          </a:xfrm>
          <a:prstGeom prst="rect">
            <a:avLst/>
          </a:prstGeom>
        </p:spPr>
      </p:pic>
      <p:sp>
        <p:nvSpPr>
          <p:cNvPr id="133" name="TextBox 132"/>
          <p:cNvSpPr txBox="1"/>
          <p:nvPr/>
        </p:nvSpPr>
        <p:spPr>
          <a:xfrm>
            <a:off x="3002465" y="4161794"/>
            <a:ext cx="1889827" cy="186689"/>
          </a:xfrm>
          <a:prstGeom prst="rect">
            <a:avLst/>
          </a:prstGeom>
          <a:noFill/>
        </p:spPr>
        <p:txBody>
          <a:bodyPr wrap="none" lIns="0" rIns="0" tIns="0" bIns="0">
            <a:spAutoFit/>
          </a:bodyPr>
          <a:lstStyle/>
          <a:p>
            <a:r>
              <a:rPr sz="1100" b="0">
                <a:solidFill>
                  <a:srgbClr val="2E2E2E"/>
                </a:solidFill>
                <a:latin typeface="Calibri"/>
              </a:rPr>
              <a:t>CAGR), Flexible Partial Dentures</a:t>
            </a:r>
          </a:p>
        </p:txBody>
      </p:sp>
      <p:sp>
        <p:nvSpPr>
          <p:cNvPr id="134" name="TextBox 133"/>
          <p:cNvSpPr txBox="1"/>
          <p:nvPr/>
        </p:nvSpPr>
        <p:spPr>
          <a:xfrm>
            <a:off x="1752600" y="4329434"/>
            <a:ext cx="1924496" cy="186689"/>
          </a:xfrm>
          <a:prstGeom prst="rect">
            <a:avLst/>
          </a:prstGeom>
          <a:noFill/>
        </p:spPr>
        <p:txBody>
          <a:bodyPr wrap="none" lIns="0" rIns="0" tIns="0" bIns="0">
            <a:spAutoFit/>
          </a:bodyPr>
          <a:lstStyle/>
          <a:p>
            <a:r>
              <a:rPr sz="1100" b="0">
                <a:solidFill>
                  <a:srgbClr val="2E2E2E"/>
                </a:solidFill>
                <a:latin typeface="Calibri"/>
              </a:rPr>
              <a:t>demand, Accelerating vs history.</a:t>
            </a:r>
          </a:p>
        </p:txBody>
      </p:sp>
      <p:sp>
        <p:nvSpPr>
          <p:cNvPr id="135" name="TextBox 134"/>
          <p:cNvSpPr txBox="1"/>
          <p:nvPr/>
        </p:nvSpPr>
        <p:spPr>
          <a:xfrm>
            <a:off x="5562600" y="4161794"/>
            <a:ext cx="1287115" cy="186689"/>
          </a:xfrm>
          <a:prstGeom prst="rect">
            <a:avLst/>
          </a:prstGeom>
          <a:noFill/>
        </p:spPr>
        <p:txBody>
          <a:bodyPr wrap="none" lIns="0" rIns="0" tIns="0" bIns="0">
            <a:spAutoFit/>
          </a:bodyPr>
          <a:lstStyle/>
          <a:p>
            <a:r>
              <a:rPr sz="1100" b="0">
                <a:solidFill>
                  <a:srgbClr val="2E2E2E"/>
                </a:solidFill>
                <a:latin typeface="Calibri"/>
              </a:rPr>
              <a:t>Trails market pace by</a:t>
            </a:r>
          </a:p>
        </p:txBody>
      </p:sp>
      <p:pic>
        <p:nvPicPr>
          <p:cNvPr id="136" name="Picture 135" descr="lock.png"/>
          <p:cNvPicPr>
            <a:picLocks noChangeAspect="1"/>
          </p:cNvPicPr>
          <p:nvPr/>
        </p:nvPicPr>
        <p:blipFill>
          <a:blip r:embed="rId4"/>
          <a:stretch>
            <a:fillRect/>
          </a:stretch>
        </p:blipFill>
        <p:spPr>
          <a:xfrm>
            <a:off x="6797766" y="4152015"/>
            <a:ext cx="128699" cy="187198"/>
          </a:xfrm>
          <a:prstGeom prst="rect">
            <a:avLst/>
          </a:prstGeom>
        </p:spPr>
      </p:pic>
      <p:sp>
        <p:nvSpPr>
          <p:cNvPr id="137" name="TextBox 136"/>
          <p:cNvSpPr txBox="1"/>
          <p:nvPr/>
        </p:nvSpPr>
        <p:spPr>
          <a:xfrm>
            <a:off x="6965262" y="4161794"/>
            <a:ext cx="689297" cy="186689"/>
          </a:xfrm>
          <a:prstGeom prst="rect">
            <a:avLst/>
          </a:prstGeom>
          <a:noFill/>
        </p:spPr>
        <p:txBody>
          <a:bodyPr wrap="none" lIns="0" rIns="0" tIns="0" bIns="0">
            <a:spAutoFit/>
          </a:bodyPr>
          <a:lstStyle/>
          <a:p>
            <a:r>
              <a:rPr sz="1100" b="0">
                <a:solidFill>
                  <a:srgbClr val="2E2E2E"/>
                </a:solidFill>
                <a:latin typeface="Calibri"/>
              </a:rPr>
              <a:t>BPS, Rising</a:t>
            </a:r>
          </a:p>
        </p:txBody>
      </p:sp>
      <p:sp>
        <p:nvSpPr>
          <p:cNvPr id="138" name="TextBox 137"/>
          <p:cNvSpPr txBox="1"/>
          <p:nvPr/>
        </p:nvSpPr>
        <p:spPr>
          <a:xfrm>
            <a:off x="5562600" y="4329434"/>
            <a:ext cx="747414" cy="186689"/>
          </a:xfrm>
          <a:prstGeom prst="rect">
            <a:avLst/>
          </a:prstGeom>
          <a:noFill/>
        </p:spPr>
        <p:txBody>
          <a:bodyPr wrap="none" lIns="0" rIns="0" tIns="0" bIns="0">
            <a:spAutoFit/>
          </a:bodyPr>
          <a:lstStyle/>
          <a:p>
            <a:r>
              <a:rPr sz="1100" b="0">
                <a:solidFill>
                  <a:srgbClr val="2E2E2E"/>
                </a:solidFill>
                <a:latin typeface="Calibri"/>
              </a:rPr>
              <a:t>realisation (</a:t>
            </a:r>
          </a:p>
        </p:txBody>
      </p:sp>
      <p:pic>
        <p:nvPicPr>
          <p:cNvPr id="139" name="Picture 138" descr="lock.png"/>
          <p:cNvPicPr>
            <a:picLocks noChangeAspect="1"/>
          </p:cNvPicPr>
          <p:nvPr/>
        </p:nvPicPr>
        <p:blipFill>
          <a:blip r:embed="rId4"/>
          <a:stretch>
            <a:fillRect/>
          </a:stretch>
        </p:blipFill>
        <p:spPr>
          <a:xfrm>
            <a:off x="6258066" y="4319655"/>
            <a:ext cx="128699" cy="187198"/>
          </a:xfrm>
          <a:prstGeom prst="rect">
            <a:avLst/>
          </a:prstGeom>
        </p:spPr>
      </p:pic>
      <p:sp>
        <p:nvSpPr>
          <p:cNvPr id="140" name="TextBox 139"/>
          <p:cNvSpPr txBox="1"/>
          <p:nvPr/>
        </p:nvSpPr>
        <p:spPr>
          <a:xfrm>
            <a:off x="6425562" y="4329434"/>
            <a:ext cx="153689" cy="186689"/>
          </a:xfrm>
          <a:prstGeom prst="rect">
            <a:avLst/>
          </a:prstGeom>
          <a:noFill/>
        </p:spPr>
        <p:txBody>
          <a:bodyPr wrap="none" lIns="0" rIns="0" tIns="0" bIns="0">
            <a:spAutoFit/>
          </a:bodyPr>
          <a:lstStyle/>
          <a:p>
            <a:r>
              <a:rPr sz="1100" b="0">
                <a:solidFill>
                  <a:srgbClr val="2E2E2E"/>
                </a:solidFill>
                <a:latin typeface="Calibri"/>
              </a:rPr>
              <a:t>).</a:t>
            </a:r>
          </a:p>
        </p:txBody>
      </p:sp>
      <p:sp>
        <p:nvSpPr>
          <p:cNvPr id="141" name="TextBox 140"/>
          <p:cNvSpPr txBox="1"/>
          <p:nvPr/>
        </p:nvSpPr>
        <p:spPr>
          <a:xfrm>
            <a:off x="8420100" y="4161794"/>
            <a:ext cx="2035001" cy="186689"/>
          </a:xfrm>
          <a:prstGeom prst="rect">
            <a:avLst/>
          </a:prstGeom>
          <a:noFill/>
        </p:spPr>
        <p:txBody>
          <a:bodyPr wrap="none" lIns="0" rIns="0" tIns="0" bIns="0">
            <a:spAutoFit/>
          </a:bodyPr>
          <a:lstStyle/>
          <a:p>
            <a:r>
              <a:rPr sz="1100" b="0">
                <a:solidFill>
                  <a:srgbClr val="2E2E2E"/>
                </a:solidFill>
                <a:latin typeface="Calibri"/>
              </a:rPr>
              <a:t>Scale Cast Metal Partial Dentures (</a:t>
            </a:r>
          </a:p>
        </p:txBody>
      </p:sp>
      <p:pic>
        <p:nvPicPr>
          <p:cNvPr id="142" name="Picture 141" descr="lock.png"/>
          <p:cNvPicPr>
            <a:picLocks noChangeAspect="1"/>
          </p:cNvPicPr>
          <p:nvPr/>
        </p:nvPicPr>
        <p:blipFill>
          <a:blip r:embed="rId4"/>
          <a:stretch>
            <a:fillRect/>
          </a:stretch>
        </p:blipFill>
        <p:spPr>
          <a:xfrm>
            <a:off x="10403152" y="4152015"/>
            <a:ext cx="128699" cy="187198"/>
          </a:xfrm>
          <a:prstGeom prst="rect">
            <a:avLst/>
          </a:prstGeom>
        </p:spPr>
      </p:pic>
      <p:sp>
        <p:nvSpPr>
          <p:cNvPr id="143" name="TextBox 142"/>
          <p:cNvSpPr txBox="1"/>
          <p:nvPr/>
        </p:nvSpPr>
        <p:spPr>
          <a:xfrm>
            <a:off x="10570648" y="4161794"/>
            <a:ext cx="153416"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144" name="Picture 143" descr="lock.png"/>
          <p:cNvPicPr>
            <a:picLocks noChangeAspect="1"/>
          </p:cNvPicPr>
          <p:nvPr/>
        </p:nvPicPr>
        <p:blipFill>
          <a:blip r:embed="rId4"/>
          <a:stretch>
            <a:fillRect/>
          </a:stretch>
        </p:blipFill>
        <p:spPr>
          <a:xfrm>
            <a:off x="10672117" y="4152015"/>
            <a:ext cx="128699" cy="187198"/>
          </a:xfrm>
          <a:prstGeom prst="rect">
            <a:avLst/>
          </a:prstGeom>
        </p:spPr>
      </p:pic>
      <p:sp>
        <p:nvSpPr>
          <p:cNvPr id="145" name="TextBox 144"/>
          <p:cNvSpPr txBox="1"/>
          <p:nvPr/>
        </p:nvSpPr>
        <p:spPr>
          <a:xfrm>
            <a:off x="10839613" y="4161794"/>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146" name="TextBox 145"/>
          <p:cNvSpPr txBox="1"/>
          <p:nvPr/>
        </p:nvSpPr>
        <p:spPr>
          <a:xfrm>
            <a:off x="8420100" y="4329434"/>
            <a:ext cx="702394" cy="186689"/>
          </a:xfrm>
          <a:prstGeom prst="rect">
            <a:avLst/>
          </a:prstGeom>
          <a:noFill/>
        </p:spPr>
        <p:txBody>
          <a:bodyPr wrap="none" lIns="0" rIns="0" tIns="0" bIns="0">
            <a:spAutoFit/>
          </a:bodyPr>
          <a:lstStyle/>
          <a:p>
            <a:r>
              <a:rPr sz="1100" b="0">
                <a:solidFill>
                  <a:srgbClr val="2E2E2E"/>
                </a:solidFill>
                <a:latin typeface="Calibri"/>
              </a:rPr>
              <a:t>headroom.</a:t>
            </a:r>
          </a:p>
        </p:txBody>
      </p:sp>
      <p:sp>
        <p:nvSpPr>
          <p:cNvPr id="147" name="TextBox 146"/>
          <p:cNvSpPr txBox="1"/>
          <p:nvPr/>
        </p:nvSpPr>
        <p:spPr>
          <a:xfrm>
            <a:off x="304800" y="5232520"/>
            <a:ext cx="4373612" cy="186689"/>
          </a:xfrm>
          <a:prstGeom prst="rect">
            <a:avLst/>
          </a:prstGeom>
          <a:noFill/>
        </p:spPr>
        <p:txBody>
          <a:bodyPr wrap="none" lIns="0" rIns="0" tIns="0" bIns="0">
            <a:spAutoFit/>
          </a:bodyPr>
          <a:lstStyle/>
          <a:p>
            <a:r>
              <a:rPr sz="1100" b="0">
                <a:solidFill>
                  <a:srgbClr val="2E2E2E"/>
                </a:solidFill>
                <a:latin typeface="Calibri"/>
              </a:rPr>
              <a:t>▪ North America, Europe, South Asia &amp; Pacific anchor scale with a combined</a:t>
            </a:r>
          </a:p>
        </p:txBody>
      </p:sp>
      <p:pic>
        <p:nvPicPr>
          <p:cNvPr id="148" name="Picture 147" descr="lock.png"/>
          <p:cNvPicPr>
            <a:picLocks noChangeAspect="1"/>
          </p:cNvPicPr>
          <p:nvPr/>
        </p:nvPicPr>
        <p:blipFill>
          <a:blip r:embed="rId4"/>
          <a:stretch>
            <a:fillRect/>
          </a:stretch>
        </p:blipFill>
        <p:spPr>
          <a:xfrm>
            <a:off x="4626463" y="5222741"/>
            <a:ext cx="128699" cy="187198"/>
          </a:xfrm>
          <a:prstGeom prst="rect">
            <a:avLst/>
          </a:prstGeom>
        </p:spPr>
      </p:pic>
      <p:sp>
        <p:nvSpPr>
          <p:cNvPr id="149" name="TextBox 148"/>
          <p:cNvSpPr txBox="1"/>
          <p:nvPr/>
        </p:nvSpPr>
        <p:spPr>
          <a:xfrm>
            <a:off x="4793959" y="5232520"/>
            <a:ext cx="4622998" cy="186689"/>
          </a:xfrm>
          <a:prstGeom prst="rect">
            <a:avLst/>
          </a:prstGeom>
          <a:noFill/>
        </p:spPr>
        <p:txBody>
          <a:bodyPr wrap="none" lIns="0" rIns="0" tIns="0" bIns="0">
            <a:spAutoFit/>
          </a:bodyPr>
          <a:lstStyle/>
          <a:p>
            <a:r>
              <a:rPr sz="1100" b="0">
                <a:solidFill>
                  <a:srgbClr val="2E2E2E"/>
                </a:solidFill>
                <a:latin typeface="Calibri"/>
              </a:rPr>
              <a:t>of Global value in 2036, while 'South Asia &amp; Pacific' offers the steepest upside at</a:t>
            </a:r>
          </a:p>
        </p:txBody>
      </p:sp>
      <p:pic>
        <p:nvPicPr>
          <p:cNvPr id="150" name="Picture 149" descr="lock.png"/>
          <p:cNvPicPr>
            <a:picLocks noChangeAspect="1"/>
          </p:cNvPicPr>
          <p:nvPr/>
        </p:nvPicPr>
        <p:blipFill>
          <a:blip r:embed="rId4"/>
          <a:stretch>
            <a:fillRect/>
          </a:stretch>
        </p:blipFill>
        <p:spPr>
          <a:xfrm>
            <a:off x="9365009" y="5222741"/>
            <a:ext cx="128699" cy="187198"/>
          </a:xfrm>
          <a:prstGeom prst="rect">
            <a:avLst/>
          </a:prstGeom>
        </p:spPr>
      </p:pic>
      <p:sp>
        <p:nvSpPr>
          <p:cNvPr id="151" name="TextBox 150"/>
          <p:cNvSpPr txBox="1"/>
          <p:nvPr/>
        </p:nvSpPr>
        <p:spPr>
          <a:xfrm>
            <a:off x="9532505" y="5232520"/>
            <a:ext cx="1819704" cy="186689"/>
          </a:xfrm>
          <a:prstGeom prst="rect">
            <a:avLst/>
          </a:prstGeom>
          <a:noFill/>
        </p:spPr>
        <p:txBody>
          <a:bodyPr wrap="none" lIns="0" rIns="0" tIns="0" bIns="0">
            <a:spAutoFit/>
          </a:bodyPr>
          <a:lstStyle/>
          <a:p>
            <a:r>
              <a:rPr sz="1100" b="0">
                <a:solidFill>
                  <a:srgbClr val="2E2E2E"/>
                </a:solidFill>
                <a:latin typeface="Calibri"/>
              </a:rPr>
              <a:t>CAGR against a market pace of</a:t>
            </a:r>
          </a:p>
        </p:txBody>
      </p:sp>
      <p:pic>
        <p:nvPicPr>
          <p:cNvPr id="152" name="Picture 151" descr="lock.png"/>
          <p:cNvPicPr>
            <a:picLocks noChangeAspect="1"/>
          </p:cNvPicPr>
          <p:nvPr/>
        </p:nvPicPr>
        <p:blipFill>
          <a:blip r:embed="rId4"/>
          <a:stretch>
            <a:fillRect/>
          </a:stretch>
        </p:blipFill>
        <p:spPr>
          <a:xfrm>
            <a:off x="291332" y="5390381"/>
            <a:ext cx="128699" cy="187198"/>
          </a:xfrm>
          <a:prstGeom prst="rect">
            <a:avLst/>
          </a:prstGeom>
        </p:spPr>
      </p:pic>
      <p:sp>
        <p:nvSpPr>
          <p:cNvPr id="153" name="TextBox 152"/>
          <p:cNvSpPr txBox="1"/>
          <p:nvPr/>
        </p:nvSpPr>
        <p:spPr>
          <a:xfrm>
            <a:off x="458828" y="5400160"/>
            <a:ext cx="11008816" cy="186689"/>
          </a:xfrm>
          <a:prstGeom prst="rect">
            <a:avLst/>
          </a:prstGeom>
          <a:noFill/>
        </p:spPr>
        <p:txBody>
          <a:bodyPr wrap="none" lIns="0" rIns="0" tIns="0" bIns="0">
            <a:spAutoFit/>
          </a:bodyPr>
          <a:lstStyle/>
          <a:p>
            <a:r>
              <a:rPr sz="1100" b="0">
                <a:solidFill>
                  <a:srgbClr val="2E2E2E"/>
                </a:solidFill>
                <a:latin typeface="Calibri"/>
              </a:rPr>
              <a:t>. 3 of 6 regions grow at or above that pace, so entry logic has to differ by region scale defence in the leaders, mix and premiumisation in the mid-tier, and availability-led expansion in the fastest</a:t>
            </a:r>
          </a:p>
        </p:txBody>
      </p:sp>
      <p:sp>
        <p:nvSpPr>
          <p:cNvPr id="154" name="TextBox 153"/>
          <p:cNvSpPr txBox="1"/>
          <p:nvPr/>
        </p:nvSpPr>
        <p:spPr>
          <a:xfrm>
            <a:off x="304800" y="5567800"/>
            <a:ext cx="532680" cy="186689"/>
          </a:xfrm>
          <a:prstGeom prst="rect">
            <a:avLst/>
          </a:prstGeom>
          <a:noFill/>
        </p:spPr>
        <p:txBody>
          <a:bodyPr wrap="none" lIns="0" rIns="0" tIns="0" bIns="0">
            <a:spAutoFit/>
          </a:bodyPr>
          <a:lstStyle/>
          <a:p>
            <a:r>
              <a:rPr sz="1100" b="0">
                <a:solidFill>
                  <a:srgbClr val="2E2E2E"/>
                </a:solidFill>
                <a:latin typeface="Calibri"/>
              </a:rPr>
              <a:t>movers.</a:t>
            </a:r>
          </a:p>
        </p:txBody>
      </p:sp>
    </p:spTree>
  </p:cSld>
  <p:clrMapOvr>
    <a:masterClrMapping/>
  </p:clrMapOvr>
</p:sld>
</file>

<file path=ppt/slides/slide2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Global Driving Factors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economic and supply-side factors scored by their impact on the global market</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Oval 10"/>
          <p:cNvSpPr/>
          <p:nvPr/>
        </p:nvSpPr>
        <p:spPr>
          <a:xfrm>
            <a:off x="2381250" y="1609633"/>
            <a:ext cx="4762500" cy="4563424"/>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Oval 11"/>
          <p:cNvSpPr/>
          <p:nvPr/>
        </p:nvSpPr>
        <p:spPr>
          <a:xfrm>
            <a:off x="2619375" y="1837804"/>
            <a:ext cx="4286250" cy="4107082"/>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Oval 12"/>
          <p:cNvSpPr/>
          <p:nvPr/>
        </p:nvSpPr>
        <p:spPr>
          <a:xfrm>
            <a:off x="2857500" y="2065976"/>
            <a:ext cx="3810000" cy="3650740"/>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3095625" y="2294147"/>
            <a:ext cx="3333750" cy="3194397"/>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3333750" y="2522318"/>
            <a:ext cx="2857500" cy="2738055"/>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3571875" y="2750489"/>
            <a:ext cx="2381250" cy="2281712"/>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Oval 16"/>
          <p:cNvSpPr/>
          <p:nvPr/>
        </p:nvSpPr>
        <p:spPr>
          <a:xfrm>
            <a:off x="3810000" y="2978660"/>
            <a:ext cx="1905000" cy="1825370"/>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Oval 17"/>
          <p:cNvSpPr/>
          <p:nvPr/>
        </p:nvSpPr>
        <p:spPr>
          <a:xfrm>
            <a:off x="4048125" y="3206832"/>
            <a:ext cx="1428750" cy="1369027"/>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Oval 18"/>
          <p:cNvSpPr/>
          <p:nvPr/>
        </p:nvSpPr>
        <p:spPr>
          <a:xfrm>
            <a:off x="4286250" y="3435003"/>
            <a:ext cx="952500" cy="912685"/>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Oval 19"/>
          <p:cNvSpPr/>
          <p:nvPr/>
        </p:nvSpPr>
        <p:spPr>
          <a:xfrm>
            <a:off x="4524375" y="3663174"/>
            <a:ext cx="476250" cy="456342"/>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1" name="Connector 20"/>
          <p:cNvCxnSpPr/>
          <p:nvPr/>
        </p:nvCxnSpPr>
        <p:spPr>
          <a:xfrm flipV="1">
            <a:off x="4762500" y="1609633"/>
            <a:ext cx="0" cy="228171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flipH="1" flipV="1">
            <a:off x="3729314" y="1835594"/>
            <a:ext cx="1033186" cy="205575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flipH="1" flipV="1">
            <a:off x="2900764" y="2468721"/>
            <a:ext cx="1861736" cy="1422624"/>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flipH="1" flipV="1">
            <a:off x="2440953" y="3383617"/>
            <a:ext cx="2321547" cy="507729"/>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flipH="1">
            <a:off x="2440953" y="3891345"/>
            <a:ext cx="2321547" cy="507729"/>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flipH="1">
            <a:off x="2900764" y="3891345"/>
            <a:ext cx="1861736" cy="1422624"/>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flipH="1">
            <a:off x="3729314" y="3891345"/>
            <a:ext cx="1033186" cy="205575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4762500" y="3891345"/>
            <a:ext cx="0" cy="228171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sp>
        <p:nvSpPr>
          <p:cNvPr id="29" name="Freeform 28"/>
          <p:cNvSpPr/>
          <p:nvPr/>
        </p:nvSpPr>
        <p:spPr>
          <a:xfrm>
            <a:off x="2438400" y="2659221"/>
            <a:ext cx="2324100" cy="2372981"/>
          </a:xfrm>
          <a:custGeom>
            <a:avLst/>
            <a:gdLst/>
            <a:ahLst/>
            <a:cxnLst/>
            <a:rect l="l" t="t" r="r" b="b"/>
            <a:pathLst>
              <a:path w="244" h="260">
                <a:moveTo>
                  <a:pt x="244" y="17"/>
                </a:moveTo>
                <a:lnTo>
                  <a:pt x="179" y="0"/>
                </a:lnTo>
                <a:lnTo>
                  <a:pt x="134" y="48"/>
                </a:lnTo>
                <a:lnTo>
                  <a:pt x="96" y="101"/>
                </a:lnTo>
                <a:lnTo>
                  <a:pt x="0" y="191"/>
                </a:lnTo>
                <a:lnTo>
                  <a:pt x="87" y="260"/>
                </a:lnTo>
                <a:lnTo>
                  <a:pt x="203" y="219"/>
                </a:lnTo>
                <a:lnTo>
                  <a:pt x="244" y="236"/>
                </a:lnTo>
              </a:path>
            </a:pathLst>
          </a:custGeom>
          <a:noFill/>
          <a:ln w="31750">
            <a:solidFill>
              <a:srgbClr val="0F5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4714875" y="1563999"/>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400300" y="1281067"/>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32" name="Oval 31"/>
          <p:cNvSpPr/>
          <p:nvPr/>
        </p:nvSpPr>
        <p:spPr>
          <a:xfrm>
            <a:off x="3681689" y="1789960"/>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1385456" y="1519681"/>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34" name="Oval 33"/>
          <p:cNvSpPr/>
          <p:nvPr/>
        </p:nvSpPr>
        <p:spPr>
          <a:xfrm>
            <a:off x="2853139" y="2423087"/>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510507" y="2270405"/>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36" name="Oval 35"/>
          <p:cNvSpPr/>
          <p:nvPr/>
        </p:nvSpPr>
        <p:spPr>
          <a:xfrm>
            <a:off x="2393328" y="3337982"/>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4946" y="3236535"/>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38" name="Oval 37"/>
          <p:cNvSpPr/>
          <p:nvPr/>
        </p:nvSpPr>
        <p:spPr>
          <a:xfrm>
            <a:off x="2393328" y="4353440"/>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24946" y="4308858"/>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40" name="Oval 39"/>
          <p:cNvSpPr/>
          <p:nvPr/>
        </p:nvSpPr>
        <p:spPr>
          <a:xfrm>
            <a:off x="2853139" y="5268335"/>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510507" y="5274987"/>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42" name="Oval 41"/>
          <p:cNvSpPr/>
          <p:nvPr/>
        </p:nvSpPr>
        <p:spPr>
          <a:xfrm>
            <a:off x="3681689" y="5901463"/>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1385456" y="6025711"/>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44" name="Oval 43"/>
          <p:cNvSpPr/>
          <p:nvPr/>
        </p:nvSpPr>
        <p:spPr>
          <a:xfrm>
            <a:off x="4714875" y="6127423"/>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2400300" y="6264326"/>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46" name="Rectangle 45"/>
          <p:cNvSpPr/>
          <p:nvPr/>
        </p:nvSpPr>
        <p:spPr>
          <a:xfrm>
            <a:off x="4762500" y="970754"/>
            <a:ext cx="7429500" cy="564039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FMI Scale 0"/>
          <p:cNvSpPr txBox="1"/>
          <p:nvPr/>
        </p:nvSpPr>
        <p:spPr>
          <a:xfrm>
            <a:off x="4286250" y="3818331"/>
            <a:ext cx="419100" cy="146030"/>
          </a:xfrm>
          <a:prstGeom prst="rect">
            <a:avLst/>
          </a:prstGeom>
          <a:noFill/>
        </p:spPr>
        <p:txBody>
          <a:bodyPr wrap="none" lIns="0" rIns="0" tIns="0" bIns="0" anchor="ctr">
            <a:spAutoFit/>
          </a:bodyPr>
          <a:lstStyle/>
          <a:p>
            <a:pPr algn="r"/>
            <a:r>
              <a:rPr sz="1100" b="0">
                <a:solidFill>
                  <a:srgbClr val="6C7A89"/>
                </a:solidFill>
                <a:latin typeface="Calibri"/>
              </a:rPr>
              <a:t>0%</a:t>
            </a:r>
          </a:p>
        </p:txBody>
      </p:sp>
      <p:sp>
        <p:nvSpPr>
          <p:cNvPr id="48" name="FMI Scale 1"/>
          <p:cNvSpPr txBox="1"/>
          <p:nvPr/>
        </p:nvSpPr>
        <p:spPr>
          <a:xfrm>
            <a:off x="4286250" y="3590159"/>
            <a:ext cx="419100" cy="146030"/>
          </a:xfrm>
          <a:prstGeom prst="rect">
            <a:avLst/>
          </a:prstGeom>
          <a:noFill/>
        </p:spPr>
        <p:txBody>
          <a:bodyPr wrap="none" lIns="0" rIns="0" tIns="0" bIns="0" anchor="ctr">
            <a:spAutoFit/>
          </a:bodyPr>
          <a:lstStyle/>
          <a:p>
            <a:pPr algn="r"/>
            <a:r>
              <a:rPr sz="1100" b="0">
                <a:solidFill>
                  <a:srgbClr val="6C7A89"/>
                </a:solidFill>
                <a:latin typeface="Calibri"/>
              </a:rPr>
              <a:t>10%</a:t>
            </a:r>
          </a:p>
        </p:txBody>
      </p:sp>
      <p:sp>
        <p:nvSpPr>
          <p:cNvPr id="49" name="FMI Scale 2"/>
          <p:cNvSpPr txBox="1"/>
          <p:nvPr/>
        </p:nvSpPr>
        <p:spPr>
          <a:xfrm>
            <a:off x="4286250" y="3361988"/>
            <a:ext cx="419100" cy="146030"/>
          </a:xfrm>
          <a:prstGeom prst="rect">
            <a:avLst/>
          </a:prstGeom>
          <a:noFill/>
        </p:spPr>
        <p:txBody>
          <a:bodyPr wrap="none" lIns="0" rIns="0" tIns="0" bIns="0" anchor="ctr">
            <a:spAutoFit/>
          </a:bodyPr>
          <a:lstStyle/>
          <a:p>
            <a:pPr algn="r"/>
            <a:r>
              <a:rPr sz="1100" b="0">
                <a:solidFill>
                  <a:srgbClr val="6C7A89"/>
                </a:solidFill>
                <a:latin typeface="Calibri"/>
              </a:rPr>
              <a:t>20%</a:t>
            </a:r>
          </a:p>
        </p:txBody>
      </p:sp>
      <p:sp>
        <p:nvSpPr>
          <p:cNvPr id="50" name="FMI Scale 3"/>
          <p:cNvSpPr txBox="1"/>
          <p:nvPr/>
        </p:nvSpPr>
        <p:spPr>
          <a:xfrm>
            <a:off x="4286250" y="3133817"/>
            <a:ext cx="419100" cy="146030"/>
          </a:xfrm>
          <a:prstGeom prst="rect">
            <a:avLst/>
          </a:prstGeom>
          <a:noFill/>
        </p:spPr>
        <p:txBody>
          <a:bodyPr wrap="none" lIns="0" rIns="0" tIns="0" bIns="0" anchor="ctr">
            <a:spAutoFit/>
          </a:bodyPr>
          <a:lstStyle/>
          <a:p>
            <a:pPr algn="r"/>
            <a:r>
              <a:rPr sz="1100" b="0">
                <a:solidFill>
                  <a:srgbClr val="6C7A89"/>
                </a:solidFill>
                <a:latin typeface="Calibri"/>
              </a:rPr>
              <a:t>30%</a:t>
            </a:r>
          </a:p>
        </p:txBody>
      </p:sp>
      <p:sp>
        <p:nvSpPr>
          <p:cNvPr id="51" name="FMI Scale 4"/>
          <p:cNvSpPr txBox="1"/>
          <p:nvPr/>
        </p:nvSpPr>
        <p:spPr>
          <a:xfrm>
            <a:off x="4286250" y="2905646"/>
            <a:ext cx="419100" cy="146030"/>
          </a:xfrm>
          <a:prstGeom prst="rect">
            <a:avLst/>
          </a:prstGeom>
          <a:noFill/>
        </p:spPr>
        <p:txBody>
          <a:bodyPr wrap="none" lIns="0" rIns="0" tIns="0" bIns="0" anchor="ctr">
            <a:spAutoFit/>
          </a:bodyPr>
          <a:lstStyle/>
          <a:p>
            <a:pPr algn="r"/>
            <a:r>
              <a:rPr sz="1100" b="0">
                <a:solidFill>
                  <a:srgbClr val="6C7A89"/>
                </a:solidFill>
                <a:latin typeface="Calibri"/>
              </a:rPr>
              <a:t>40%</a:t>
            </a:r>
          </a:p>
        </p:txBody>
      </p:sp>
      <p:sp>
        <p:nvSpPr>
          <p:cNvPr id="52" name="FMI Scale 5"/>
          <p:cNvSpPr txBox="1"/>
          <p:nvPr/>
        </p:nvSpPr>
        <p:spPr>
          <a:xfrm>
            <a:off x="4286250" y="2677474"/>
            <a:ext cx="419100" cy="146030"/>
          </a:xfrm>
          <a:prstGeom prst="rect">
            <a:avLst/>
          </a:prstGeom>
          <a:noFill/>
        </p:spPr>
        <p:txBody>
          <a:bodyPr wrap="none" lIns="0" rIns="0" tIns="0" bIns="0" anchor="ctr">
            <a:spAutoFit/>
          </a:bodyPr>
          <a:lstStyle/>
          <a:p>
            <a:pPr algn="r"/>
            <a:r>
              <a:rPr sz="1100" b="0">
                <a:solidFill>
                  <a:srgbClr val="6C7A89"/>
                </a:solidFill>
                <a:latin typeface="Calibri"/>
              </a:rPr>
              <a:t>50%</a:t>
            </a:r>
          </a:p>
        </p:txBody>
      </p:sp>
      <p:sp>
        <p:nvSpPr>
          <p:cNvPr id="53" name="FMI Scale 6"/>
          <p:cNvSpPr txBox="1"/>
          <p:nvPr/>
        </p:nvSpPr>
        <p:spPr>
          <a:xfrm>
            <a:off x="4286250" y="2449303"/>
            <a:ext cx="419100" cy="146030"/>
          </a:xfrm>
          <a:prstGeom prst="rect">
            <a:avLst/>
          </a:prstGeom>
          <a:noFill/>
        </p:spPr>
        <p:txBody>
          <a:bodyPr wrap="none" lIns="0" rIns="0" tIns="0" bIns="0" anchor="ctr">
            <a:spAutoFit/>
          </a:bodyPr>
          <a:lstStyle/>
          <a:p>
            <a:pPr algn="r"/>
            <a:r>
              <a:rPr sz="1100" b="0">
                <a:solidFill>
                  <a:srgbClr val="6C7A89"/>
                </a:solidFill>
                <a:latin typeface="Calibri"/>
              </a:rPr>
              <a:t>60%</a:t>
            </a:r>
          </a:p>
        </p:txBody>
      </p:sp>
      <p:sp>
        <p:nvSpPr>
          <p:cNvPr id="54" name="FMI Scale 7"/>
          <p:cNvSpPr txBox="1"/>
          <p:nvPr/>
        </p:nvSpPr>
        <p:spPr>
          <a:xfrm>
            <a:off x="4286250" y="2221132"/>
            <a:ext cx="419100" cy="146030"/>
          </a:xfrm>
          <a:prstGeom prst="rect">
            <a:avLst/>
          </a:prstGeom>
          <a:noFill/>
        </p:spPr>
        <p:txBody>
          <a:bodyPr wrap="none" lIns="0" rIns="0" tIns="0" bIns="0" anchor="ctr">
            <a:spAutoFit/>
          </a:bodyPr>
          <a:lstStyle/>
          <a:p>
            <a:pPr algn="r"/>
            <a:r>
              <a:rPr sz="1100" b="0">
                <a:solidFill>
                  <a:srgbClr val="6C7A89"/>
                </a:solidFill>
                <a:latin typeface="Calibri"/>
              </a:rPr>
              <a:t>70%</a:t>
            </a:r>
          </a:p>
        </p:txBody>
      </p:sp>
      <p:sp>
        <p:nvSpPr>
          <p:cNvPr id="55" name="FMI Scale 8"/>
          <p:cNvSpPr txBox="1"/>
          <p:nvPr/>
        </p:nvSpPr>
        <p:spPr>
          <a:xfrm>
            <a:off x="4286250" y="1992961"/>
            <a:ext cx="419100" cy="146030"/>
          </a:xfrm>
          <a:prstGeom prst="rect">
            <a:avLst/>
          </a:prstGeom>
          <a:noFill/>
        </p:spPr>
        <p:txBody>
          <a:bodyPr wrap="none" lIns="0" rIns="0" tIns="0" bIns="0" anchor="ctr">
            <a:spAutoFit/>
          </a:bodyPr>
          <a:lstStyle/>
          <a:p>
            <a:pPr algn="r"/>
            <a:r>
              <a:rPr sz="1100" b="0">
                <a:solidFill>
                  <a:srgbClr val="6C7A89"/>
                </a:solidFill>
                <a:latin typeface="Calibri"/>
              </a:rPr>
              <a:t>80%</a:t>
            </a:r>
          </a:p>
        </p:txBody>
      </p:sp>
      <p:sp>
        <p:nvSpPr>
          <p:cNvPr id="56" name="FMI Scale 9"/>
          <p:cNvSpPr txBox="1"/>
          <p:nvPr/>
        </p:nvSpPr>
        <p:spPr>
          <a:xfrm>
            <a:off x="4286250" y="1764790"/>
            <a:ext cx="419100" cy="146030"/>
          </a:xfrm>
          <a:prstGeom prst="rect">
            <a:avLst/>
          </a:prstGeom>
          <a:noFill/>
        </p:spPr>
        <p:txBody>
          <a:bodyPr wrap="none" lIns="0" rIns="0" tIns="0" bIns="0" anchor="ctr">
            <a:spAutoFit/>
          </a:bodyPr>
          <a:lstStyle/>
          <a:p>
            <a:pPr algn="r"/>
            <a:r>
              <a:rPr sz="1100" b="0">
                <a:solidFill>
                  <a:srgbClr val="6C7A89"/>
                </a:solidFill>
                <a:latin typeface="Calibri"/>
              </a:rPr>
              <a:t>90%</a:t>
            </a:r>
          </a:p>
        </p:txBody>
      </p:sp>
      <p:sp>
        <p:nvSpPr>
          <p:cNvPr id="57" name="FMI Scale 10"/>
          <p:cNvSpPr txBox="1"/>
          <p:nvPr/>
        </p:nvSpPr>
        <p:spPr>
          <a:xfrm>
            <a:off x="4286250" y="1536618"/>
            <a:ext cx="419100" cy="146030"/>
          </a:xfrm>
          <a:prstGeom prst="rect">
            <a:avLst/>
          </a:prstGeom>
          <a:noFill/>
        </p:spPr>
        <p:txBody>
          <a:bodyPr wrap="none" lIns="0" rIns="0" tIns="0" bIns="0" anchor="ctr">
            <a:spAutoFit/>
          </a:bodyPr>
          <a:lstStyle/>
          <a:p>
            <a:pPr algn="r"/>
            <a:r>
              <a:rPr sz="1100" b="0">
                <a:solidFill>
                  <a:srgbClr val="6C7A89"/>
                </a:solidFill>
                <a:latin typeface="Calibri"/>
              </a:rPr>
              <a:t>100%</a:t>
            </a:r>
          </a:p>
        </p:txBody>
      </p:sp>
      <p:cxnSp>
        <p:nvCxnSpPr>
          <p:cNvPr id="58" name="Connector 57"/>
          <p:cNvCxnSpPr/>
          <p:nvPr/>
        </p:nvCxnSpPr>
        <p:spPr>
          <a:xfrm>
            <a:off x="4762500" y="1025515"/>
            <a:ext cx="0" cy="5549124"/>
          </a:xfrm>
          <a:prstGeom prst="line">
            <a:avLst/>
          </a:prstGeom>
          <a:ln w="12700">
            <a:solidFill>
              <a:srgbClr val="D5DBE1"/>
            </a:solidFill>
          </a:ln>
          <a:effectLst/>
        </p:spPr>
        <p:style>
          <a:lnRef idx="2">
            <a:schemeClr val="accent1"/>
          </a:lnRef>
          <a:fillRef idx="0">
            <a:schemeClr val="accent1"/>
          </a:fillRef>
          <a:effectRef idx="1">
            <a:schemeClr val="accent1"/>
          </a:effectRef>
          <a:fontRef idx="minor">
            <a:schemeClr val="tx1"/>
          </a:fontRef>
        </p:style>
      </p:cxnSp>
      <p:sp>
        <p:nvSpPr>
          <p:cNvPr id="59" name="TextBox 58"/>
          <p:cNvSpPr txBox="1"/>
          <p:nvPr/>
        </p:nvSpPr>
        <p:spPr>
          <a:xfrm>
            <a:off x="4972050" y="1080276"/>
            <a:ext cx="7077075" cy="219044"/>
          </a:xfrm>
          <a:prstGeom prst="rect">
            <a:avLst/>
          </a:prstGeom>
          <a:noFill/>
        </p:spPr>
        <p:txBody>
          <a:bodyPr wrap="square" lIns="28575" rIns="28575" tIns="9525" bIns="9525" anchor="ctr">
            <a:spAutoFit/>
          </a:bodyPr>
          <a:lstStyle/>
          <a:p>
            <a:pPr algn="l"/>
            <a:r>
              <a:rPr sz="1200" b="1">
                <a:solidFill>
                  <a:srgbClr val="0B2E4A"/>
                </a:solidFill>
                <a:latin typeface="Calibri"/>
              </a:rPr>
              <a:t>Economic and Supply-side Factors</a:t>
            </a:r>
          </a:p>
        </p:txBody>
      </p:sp>
      <p:cxnSp>
        <p:nvCxnSpPr>
          <p:cNvPr id="60" name="Connector 59"/>
          <p:cNvCxnSpPr/>
          <p:nvPr/>
        </p:nvCxnSpPr>
        <p:spPr>
          <a:xfrm>
            <a:off x="4972050" y="1335828"/>
            <a:ext cx="7077075" cy="0"/>
          </a:xfrm>
          <a:prstGeom prst="line">
            <a:avLst/>
          </a:prstGeom>
          <a:ln w="31750">
            <a:solidFill>
              <a:srgbClr val="1F6FB4"/>
            </a:solidFill>
          </a:ln>
          <a:effectLst/>
        </p:spPr>
        <p:style>
          <a:lnRef idx="2">
            <a:schemeClr val="accent1"/>
          </a:lnRef>
          <a:fillRef idx="0">
            <a:schemeClr val="accent1"/>
          </a:fillRef>
          <a:effectRef idx="1">
            <a:schemeClr val="accent1"/>
          </a:effectRef>
          <a:fontRef idx="minor">
            <a:schemeClr val="tx1"/>
          </a:fontRef>
        </p:style>
      </p:cxnSp>
      <p:sp>
        <p:nvSpPr>
          <p:cNvPr id="61" name="TextBox 60"/>
          <p:cNvSpPr txBox="1"/>
          <p:nvPr/>
        </p:nvSpPr>
        <p:spPr>
          <a:xfrm>
            <a:off x="4972050" y="1427096"/>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2" name="TextBox 61"/>
          <p:cNvSpPr txBox="1"/>
          <p:nvPr/>
        </p:nvSpPr>
        <p:spPr>
          <a:xfrm>
            <a:off x="4972050" y="1883439"/>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3" name="TextBox 62"/>
          <p:cNvSpPr txBox="1"/>
          <p:nvPr/>
        </p:nvSpPr>
        <p:spPr>
          <a:xfrm>
            <a:off x="4972050" y="2339781"/>
            <a:ext cx="70770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4" name="TextBox 63"/>
          <p:cNvSpPr txBox="1"/>
          <p:nvPr/>
        </p:nvSpPr>
        <p:spPr>
          <a:xfrm>
            <a:off x="4972050" y="2613586"/>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Portfolio breadth spans 4 product type lines and 4 end user routes, giving producers wide reformulation and channel latitude.</a:t>
            </a:r>
          </a:p>
        </p:txBody>
      </p:sp>
      <p:sp>
        <p:nvSpPr>
          <p:cNvPr id="65" name="TextBox 64"/>
          <p:cNvSpPr txBox="1"/>
          <p:nvPr/>
        </p:nvSpPr>
        <p:spPr>
          <a:xfrm>
            <a:off x="4972050" y="3069929"/>
            <a:ext cx="70770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6" name="TextBox 65"/>
          <p:cNvSpPr txBox="1"/>
          <p:nvPr/>
        </p:nvSpPr>
        <p:spPr>
          <a:xfrm>
            <a:off x="4972050" y="3343734"/>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Note: the dynamics framing is indicative factors, impact ratings and narrative are generated from the loaded dataset's own values.</a:t>
            </a:r>
          </a:p>
        </p:txBody>
      </p:sp>
      <p:sp>
        <p:nvSpPr>
          <p:cNvPr id="67" name="TextBox 6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8" name="TextBox 67"/>
          <p:cNvSpPr txBox="1"/>
          <p:nvPr/>
        </p:nvSpPr>
        <p:spPr>
          <a:xfrm>
            <a:off x="3466991" y="1322601"/>
            <a:ext cx="1125226" cy="173278"/>
          </a:xfrm>
          <a:prstGeom prst="rect">
            <a:avLst/>
          </a:prstGeom>
          <a:noFill/>
        </p:spPr>
        <p:txBody>
          <a:bodyPr wrap="none" lIns="0" rIns="0" tIns="0" bIns="0">
            <a:spAutoFit/>
          </a:bodyPr>
          <a:lstStyle/>
          <a:p>
            <a:r>
              <a:rPr sz="1011" b="0">
                <a:solidFill>
                  <a:srgbClr val="2E2E2E"/>
                </a:solidFill>
                <a:latin typeface="Calibri"/>
              </a:rPr>
              <a:t>Production Scale-up</a:t>
            </a:r>
          </a:p>
        </p:txBody>
      </p:sp>
      <p:pic>
        <p:nvPicPr>
          <p:cNvPr id="69" name="Picture 68" descr="lock.png"/>
          <p:cNvPicPr>
            <a:picLocks noChangeAspect="1"/>
          </p:cNvPicPr>
          <p:nvPr/>
        </p:nvPicPr>
        <p:blipFill>
          <a:blip r:embed="rId4"/>
          <a:stretch>
            <a:fillRect/>
          </a:stretch>
        </p:blipFill>
        <p:spPr>
          <a:xfrm>
            <a:off x="4538330" y="1313604"/>
            <a:ext cx="118403" cy="172222"/>
          </a:xfrm>
          <a:prstGeom prst="rect">
            <a:avLst/>
          </a:prstGeom>
        </p:spPr>
      </p:pic>
      <p:sp>
        <p:nvSpPr>
          <p:cNvPr id="70" name="TextBox 69"/>
          <p:cNvSpPr txBox="1"/>
          <p:nvPr/>
        </p:nvSpPr>
        <p:spPr>
          <a:xfrm>
            <a:off x="2482772" y="1561215"/>
            <a:ext cx="1094602" cy="173278"/>
          </a:xfrm>
          <a:prstGeom prst="rect">
            <a:avLst/>
          </a:prstGeom>
          <a:noFill/>
        </p:spPr>
        <p:txBody>
          <a:bodyPr wrap="none" lIns="0" rIns="0" tIns="0" bIns="0">
            <a:spAutoFit/>
          </a:bodyPr>
          <a:lstStyle/>
          <a:p>
            <a:r>
              <a:rPr sz="1011" b="0">
                <a:solidFill>
                  <a:srgbClr val="2E2E2E"/>
                </a:solidFill>
                <a:latin typeface="Calibri"/>
              </a:rPr>
              <a:t>Input Cost Pressure</a:t>
            </a:r>
          </a:p>
        </p:txBody>
      </p:sp>
      <p:pic>
        <p:nvPicPr>
          <p:cNvPr id="71" name="Picture 70" descr="lock.png"/>
          <p:cNvPicPr>
            <a:picLocks noChangeAspect="1"/>
          </p:cNvPicPr>
          <p:nvPr/>
        </p:nvPicPr>
        <p:blipFill>
          <a:blip r:embed="rId4"/>
          <a:stretch>
            <a:fillRect/>
          </a:stretch>
        </p:blipFill>
        <p:spPr>
          <a:xfrm>
            <a:off x="3523486" y="1552218"/>
            <a:ext cx="118403" cy="172222"/>
          </a:xfrm>
          <a:prstGeom prst="rect">
            <a:avLst/>
          </a:prstGeom>
        </p:spPr>
      </p:pic>
      <p:sp>
        <p:nvSpPr>
          <p:cNvPr id="72" name="TextBox 71"/>
          <p:cNvSpPr txBox="1"/>
          <p:nvPr/>
        </p:nvSpPr>
        <p:spPr>
          <a:xfrm>
            <a:off x="1943191" y="2311939"/>
            <a:ext cx="759234" cy="173278"/>
          </a:xfrm>
          <a:prstGeom prst="rect">
            <a:avLst/>
          </a:prstGeom>
          <a:noFill/>
        </p:spPr>
        <p:txBody>
          <a:bodyPr wrap="none" lIns="0" rIns="0" tIns="0" bIns="0">
            <a:spAutoFit/>
          </a:bodyPr>
          <a:lstStyle/>
          <a:p>
            <a:r>
              <a:rPr sz="1011" b="0">
                <a:solidFill>
                  <a:srgbClr val="2E2E2E"/>
                </a:solidFill>
                <a:latin typeface="Calibri"/>
              </a:rPr>
              <a:t>Capacity Add</a:t>
            </a:r>
          </a:p>
        </p:txBody>
      </p:sp>
      <p:pic>
        <p:nvPicPr>
          <p:cNvPr id="73" name="Picture 72" descr="lock.png"/>
          <p:cNvPicPr>
            <a:picLocks noChangeAspect="1"/>
          </p:cNvPicPr>
          <p:nvPr/>
        </p:nvPicPr>
        <p:blipFill>
          <a:blip r:embed="rId4"/>
          <a:stretch>
            <a:fillRect/>
          </a:stretch>
        </p:blipFill>
        <p:spPr>
          <a:xfrm>
            <a:off x="2648537" y="2302942"/>
            <a:ext cx="118403" cy="172222"/>
          </a:xfrm>
          <a:prstGeom prst="rect">
            <a:avLst/>
          </a:prstGeom>
        </p:spPr>
      </p:pic>
      <p:sp>
        <p:nvSpPr>
          <p:cNvPr id="74" name="TextBox 73"/>
          <p:cNvSpPr txBox="1"/>
          <p:nvPr/>
        </p:nvSpPr>
        <p:spPr>
          <a:xfrm>
            <a:off x="1014573" y="3278069"/>
            <a:ext cx="1202291" cy="173278"/>
          </a:xfrm>
          <a:prstGeom prst="rect">
            <a:avLst/>
          </a:prstGeom>
          <a:noFill/>
        </p:spPr>
        <p:txBody>
          <a:bodyPr wrap="none" lIns="0" rIns="0" tIns="0" bIns="0">
            <a:spAutoFit/>
          </a:bodyPr>
          <a:lstStyle/>
          <a:p>
            <a:r>
              <a:rPr sz="1011" b="0">
                <a:solidFill>
                  <a:srgbClr val="2E2E2E"/>
                </a:solidFill>
                <a:latin typeface="Calibri"/>
              </a:rPr>
              <a:t>Supply Concentration</a:t>
            </a:r>
          </a:p>
        </p:txBody>
      </p:sp>
      <p:pic>
        <p:nvPicPr>
          <p:cNvPr id="75" name="Picture 74" descr="lock.png"/>
          <p:cNvPicPr>
            <a:picLocks noChangeAspect="1"/>
          </p:cNvPicPr>
          <p:nvPr/>
        </p:nvPicPr>
        <p:blipFill>
          <a:blip r:embed="rId4"/>
          <a:stretch>
            <a:fillRect/>
          </a:stretch>
        </p:blipFill>
        <p:spPr>
          <a:xfrm>
            <a:off x="2162976" y="3269072"/>
            <a:ext cx="118403" cy="172222"/>
          </a:xfrm>
          <a:prstGeom prst="rect">
            <a:avLst/>
          </a:prstGeom>
        </p:spPr>
      </p:pic>
      <p:sp>
        <p:nvSpPr>
          <p:cNvPr id="76" name="TextBox 75"/>
          <p:cNvSpPr txBox="1"/>
          <p:nvPr/>
        </p:nvSpPr>
        <p:spPr>
          <a:xfrm>
            <a:off x="1148118" y="4350392"/>
            <a:ext cx="1068746" cy="173278"/>
          </a:xfrm>
          <a:prstGeom prst="rect">
            <a:avLst/>
          </a:prstGeom>
          <a:noFill/>
        </p:spPr>
        <p:txBody>
          <a:bodyPr wrap="none" lIns="0" rIns="0" tIns="0" bIns="0">
            <a:spAutoFit/>
          </a:bodyPr>
          <a:lstStyle/>
          <a:p>
            <a:r>
              <a:rPr sz="1011" b="0">
                <a:solidFill>
                  <a:srgbClr val="2E2E2E"/>
                </a:solidFill>
                <a:latin typeface="Calibri"/>
              </a:rPr>
              <a:t>Geographic Spread</a:t>
            </a:r>
          </a:p>
        </p:txBody>
      </p:sp>
      <p:pic>
        <p:nvPicPr>
          <p:cNvPr id="77" name="Picture 76" descr="lock.png"/>
          <p:cNvPicPr>
            <a:picLocks noChangeAspect="1"/>
          </p:cNvPicPr>
          <p:nvPr/>
        </p:nvPicPr>
        <p:blipFill>
          <a:blip r:embed="rId4"/>
          <a:stretch>
            <a:fillRect/>
          </a:stretch>
        </p:blipFill>
        <p:spPr>
          <a:xfrm>
            <a:off x="2162976" y="4341395"/>
            <a:ext cx="118403" cy="172222"/>
          </a:xfrm>
          <a:prstGeom prst="rect">
            <a:avLst/>
          </a:prstGeom>
        </p:spPr>
      </p:pic>
      <p:sp>
        <p:nvSpPr>
          <p:cNvPr id="78" name="TextBox 77"/>
          <p:cNvSpPr txBox="1"/>
          <p:nvPr/>
        </p:nvSpPr>
        <p:spPr>
          <a:xfrm>
            <a:off x="1722039" y="5316521"/>
            <a:ext cx="980386" cy="173278"/>
          </a:xfrm>
          <a:prstGeom prst="rect">
            <a:avLst/>
          </a:prstGeom>
          <a:noFill/>
        </p:spPr>
        <p:txBody>
          <a:bodyPr wrap="none" lIns="0" rIns="0" tIns="0" bIns="0">
            <a:spAutoFit/>
          </a:bodyPr>
          <a:lstStyle/>
          <a:p>
            <a:r>
              <a:rPr sz="1011" b="0">
                <a:solidFill>
                  <a:srgbClr val="2E2E2E"/>
                </a:solidFill>
                <a:latin typeface="Calibri"/>
              </a:rPr>
              <a:t>Portfolio Breadth</a:t>
            </a:r>
          </a:p>
        </p:txBody>
      </p:sp>
      <p:pic>
        <p:nvPicPr>
          <p:cNvPr id="79" name="Picture 78" descr="lock.png"/>
          <p:cNvPicPr>
            <a:picLocks noChangeAspect="1"/>
          </p:cNvPicPr>
          <p:nvPr/>
        </p:nvPicPr>
        <p:blipFill>
          <a:blip r:embed="rId4"/>
          <a:stretch>
            <a:fillRect/>
          </a:stretch>
        </p:blipFill>
        <p:spPr>
          <a:xfrm>
            <a:off x="2648537" y="5307524"/>
            <a:ext cx="118403" cy="172222"/>
          </a:xfrm>
          <a:prstGeom prst="rect">
            <a:avLst/>
          </a:prstGeom>
        </p:spPr>
      </p:pic>
      <p:sp>
        <p:nvSpPr>
          <p:cNvPr id="80" name="TextBox 79"/>
          <p:cNvSpPr txBox="1"/>
          <p:nvPr/>
        </p:nvSpPr>
        <p:spPr>
          <a:xfrm>
            <a:off x="2838472" y="6067245"/>
            <a:ext cx="738901" cy="173278"/>
          </a:xfrm>
          <a:prstGeom prst="rect">
            <a:avLst/>
          </a:prstGeom>
          <a:noFill/>
        </p:spPr>
        <p:txBody>
          <a:bodyPr wrap="none" lIns="0" rIns="0" tIns="0" bIns="0">
            <a:spAutoFit/>
          </a:bodyPr>
          <a:lstStyle/>
          <a:p>
            <a:r>
              <a:rPr sz="1011" b="0">
                <a:solidFill>
                  <a:srgbClr val="2E2E2E"/>
                </a:solidFill>
                <a:latin typeface="Calibri"/>
              </a:rPr>
              <a:t>Route Depth</a:t>
            </a:r>
          </a:p>
        </p:txBody>
      </p:sp>
      <p:pic>
        <p:nvPicPr>
          <p:cNvPr id="81" name="Picture 80" descr="lock.png"/>
          <p:cNvPicPr>
            <a:picLocks noChangeAspect="1"/>
          </p:cNvPicPr>
          <p:nvPr/>
        </p:nvPicPr>
        <p:blipFill>
          <a:blip r:embed="rId4"/>
          <a:stretch>
            <a:fillRect/>
          </a:stretch>
        </p:blipFill>
        <p:spPr>
          <a:xfrm>
            <a:off x="3523486" y="6058248"/>
            <a:ext cx="118403" cy="172222"/>
          </a:xfrm>
          <a:prstGeom prst="rect">
            <a:avLst/>
          </a:prstGeom>
        </p:spPr>
      </p:pic>
      <p:sp>
        <p:nvSpPr>
          <p:cNvPr id="82" name="TextBox 81"/>
          <p:cNvSpPr txBox="1"/>
          <p:nvPr/>
        </p:nvSpPr>
        <p:spPr>
          <a:xfrm>
            <a:off x="3616852" y="6305860"/>
            <a:ext cx="975365" cy="173278"/>
          </a:xfrm>
          <a:prstGeom prst="rect">
            <a:avLst/>
          </a:prstGeom>
          <a:noFill/>
        </p:spPr>
        <p:txBody>
          <a:bodyPr wrap="none" lIns="0" rIns="0" tIns="0" bIns="0">
            <a:spAutoFit/>
          </a:bodyPr>
          <a:lstStyle/>
          <a:p>
            <a:r>
              <a:rPr sz="1011" b="0">
                <a:solidFill>
                  <a:srgbClr val="2E2E2E"/>
                </a:solidFill>
                <a:latin typeface="Calibri"/>
              </a:rPr>
              <a:t>Value Realisation</a:t>
            </a:r>
          </a:p>
        </p:txBody>
      </p:sp>
      <p:pic>
        <p:nvPicPr>
          <p:cNvPr id="83" name="Picture 82" descr="lock.png"/>
          <p:cNvPicPr>
            <a:picLocks noChangeAspect="1"/>
          </p:cNvPicPr>
          <p:nvPr/>
        </p:nvPicPr>
        <p:blipFill>
          <a:blip r:embed="rId4"/>
          <a:stretch>
            <a:fillRect/>
          </a:stretch>
        </p:blipFill>
        <p:spPr>
          <a:xfrm>
            <a:off x="4538330" y="6296863"/>
            <a:ext cx="118403" cy="172222"/>
          </a:xfrm>
          <a:prstGeom prst="rect">
            <a:avLst/>
          </a:prstGeom>
        </p:spPr>
      </p:pic>
      <p:sp>
        <p:nvSpPr>
          <p:cNvPr id="84" name="TextBox 83"/>
          <p:cNvSpPr txBox="1"/>
          <p:nvPr/>
        </p:nvSpPr>
        <p:spPr>
          <a:xfrm>
            <a:off x="5000625" y="1496754"/>
            <a:ext cx="3210445" cy="186689"/>
          </a:xfrm>
          <a:prstGeom prst="rect">
            <a:avLst/>
          </a:prstGeom>
          <a:noFill/>
        </p:spPr>
        <p:txBody>
          <a:bodyPr wrap="none" lIns="0" rIns="0" tIns="0" bIns="0">
            <a:spAutoFit/>
          </a:bodyPr>
          <a:lstStyle/>
          <a:p>
            <a:r>
              <a:rPr sz="1100" b="0">
                <a:solidFill>
                  <a:srgbClr val="2E2E2E"/>
                </a:solidFill>
                <a:latin typeface="Calibri"/>
              </a:rPr>
              <a:t>▪ Supply-side conditions are led by Geographic Spread (</a:t>
            </a:r>
          </a:p>
        </p:txBody>
      </p:sp>
      <p:pic>
        <p:nvPicPr>
          <p:cNvPr id="85" name="Picture 84" descr="lock.png"/>
          <p:cNvPicPr>
            <a:picLocks noChangeAspect="1"/>
          </p:cNvPicPr>
          <p:nvPr/>
        </p:nvPicPr>
        <p:blipFill>
          <a:blip r:embed="rId4"/>
          <a:stretch>
            <a:fillRect/>
          </a:stretch>
        </p:blipFill>
        <p:spPr>
          <a:xfrm>
            <a:off x="8159122" y="1486975"/>
            <a:ext cx="128699" cy="187198"/>
          </a:xfrm>
          <a:prstGeom prst="rect">
            <a:avLst/>
          </a:prstGeom>
        </p:spPr>
      </p:pic>
      <p:sp>
        <p:nvSpPr>
          <p:cNvPr id="86" name="TextBox 85"/>
          <p:cNvSpPr txBox="1"/>
          <p:nvPr/>
        </p:nvSpPr>
        <p:spPr>
          <a:xfrm>
            <a:off x="8326618" y="1496754"/>
            <a:ext cx="1437729" cy="186689"/>
          </a:xfrm>
          <a:prstGeom prst="rect">
            <a:avLst/>
          </a:prstGeom>
          <a:noFill/>
        </p:spPr>
        <p:txBody>
          <a:bodyPr wrap="none" lIns="0" rIns="0" tIns="0" bIns="0">
            <a:spAutoFit/>
          </a:bodyPr>
          <a:lstStyle/>
          <a:p>
            <a:r>
              <a:rPr sz="1100" b="0">
                <a:solidFill>
                  <a:srgbClr val="2E2E2E"/>
                </a:solidFill>
                <a:latin typeface="Calibri"/>
              </a:rPr>
              <a:t>/10), Portfolio Breadth (</a:t>
            </a:r>
          </a:p>
        </p:txBody>
      </p:sp>
      <p:pic>
        <p:nvPicPr>
          <p:cNvPr id="87" name="Picture 86" descr="lock.png"/>
          <p:cNvPicPr>
            <a:picLocks noChangeAspect="1"/>
          </p:cNvPicPr>
          <p:nvPr/>
        </p:nvPicPr>
        <p:blipFill>
          <a:blip r:embed="rId4"/>
          <a:stretch>
            <a:fillRect/>
          </a:stretch>
        </p:blipFill>
        <p:spPr>
          <a:xfrm>
            <a:off x="9712399" y="1486975"/>
            <a:ext cx="128699" cy="187198"/>
          </a:xfrm>
          <a:prstGeom prst="rect">
            <a:avLst/>
          </a:prstGeom>
        </p:spPr>
      </p:pic>
      <p:sp>
        <p:nvSpPr>
          <p:cNvPr id="88" name="TextBox 87"/>
          <p:cNvSpPr txBox="1"/>
          <p:nvPr/>
        </p:nvSpPr>
        <p:spPr>
          <a:xfrm>
            <a:off x="9879895" y="1496754"/>
            <a:ext cx="1604987" cy="186689"/>
          </a:xfrm>
          <a:prstGeom prst="rect">
            <a:avLst/>
          </a:prstGeom>
          <a:noFill/>
        </p:spPr>
        <p:txBody>
          <a:bodyPr wrap="none" lIns="0" rIns="0" tIns="0" bIns="0">
            <a:spAutoFit/>
          </a:bodyPr>
          <a:lstStyle/>
          <a:p>
            <a:r>
              <a:rPr sz="1100" b="0">
                <a:solidFill>
                  <a:srgbClr val="2E2E2E"/>
                </a:solidFill>
                <a:latin typeface="Calibri"/>
              </a:rPr>
              <a:t>/10), Supply Concentration</a:t>
            </a:r>
          </a:p>
        </p:txBody>
      </p:sp>
      <p:sp>
        <p:nvSpPr>
          <p:cNvPr id="89" name="TextBox 88"/>
          <p:cNvSpPr txBox="1"/>
          <p:nvPr/>
        </p:nvSpPr>
        <p:spPr>
          <a:xfrm>
            <a:off x="5000625" y="1664394"/>
            <a:ext cx="118491"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90" name="Picture 89" descr="lock.png"/>
          <p:cNvPicPr>
            <a:picLocks noChangeAspect="1"/>
          </p:cNvPicPr>
          <p:nvPr/>
        </p:nvPicPr>
        <p:blipFill>
          <a:blip r:embed="rId4"/>
          <a:stretch>
            <a:fillRect/>
          </a:stretch>
        </p:blipFill>
        <p:spPr>
          <a:xfrm>
            <a:off x="5067168" y="1654615"/>
            <a:ext cx="128699" cy="187198"/>
          </a:xfrm>
          <a:prstGeom prst="rect">
            <a:avLst/>
          </a:prstGeom>
        </p:spPr>
      </p:pic>
      <p:sp>
        <p:nvSpPr>
          <p:cNvPr id="91" name="TextBox 90"/>
          <p:cNvSpPr txBox="1"/>
          <p:nvPr/>
        </p:nvSpPr>
        <p:spPr>
          <a:xfrm>
            <a:off x="5234664" y="1664394"/>
            <a:ext cx="3311128" cy="186689"/>
          </a:xfrm>
          <a:prstGeom prst="rect">
            <a:avLst/>
          </a:prstGeom>
          <a:noFill/>
        </p:spPr>
        <p:txBody>
          <a:bodyPr wrap="none" lIns="0" rIns="0" tIns="0" bIns="0">
            <a:spAutoFit/>
          </a:bodyPr>
          <a:lstStyle/>
          <a:p>
            <a:r>
              <a:rPr sz="1100" b="0">
                <a:solidFill>
                  <a:srgbClr val="2E2E2E"/>
                </a:solidFill>
                <a:latin typeface="Calibri"/>
              </a:rPr>
              <a:t>/10) on a 0-10 scale scored from the global dataset itself.</a:t>
            </a:r>
          </a:p>
        </p:txBody>
      </p:sp>
      <p:sp>
        <p:nvSpPr>
          <p:cNvPr id="92" name="TextBox 91"/>
          <p:cNvSpPr txBox="1"/>
          <p:nvPr/>
        </p:nvSpPr>
        <p:spPr>
          <a:xfrm>
            <a:off x="5000625" y="1953097"/>
            <a:ext cx="1245914" cy="186689"/>
          </a:xfrm>
          <a:prstGeom prst="rect">
            <a:avLst/>
          </a:prstGeom>
          <a:noFill/>
        </p:spPr>
        <p:txBody>
          <a:bodyPr wrap="none" lIns="0" rIns="0" tIns="0" bIns="0">
            <a:spAutoFit/>
          </a:bodyPr>
          <a:lstStyle/>
          <a:p>
            <a:r>
              <a:rPr sz="1100" b="0">
                <a:solidFill>
                  <a:srgbClr val="2E2E2E"/>
                </a:solidFill>
                <a:latin typeface="Calibri"/>
              </a:rPr>
              <a:t>▪ Volume expands at</a:t>
            </a:r>
          </a:p>
        </p:txBody>
      </p:sp>
      <p:pic>
        <p:nvPicPr>
          <p:cNvPr id="93" name="Picture 92" descr="lock.png"/>
          <p:cNvPicPr>
            <a:picLocks noChangeAspect="1"/>
          </p:cNvPicPr>
          <p:nvPr/>
        </p:nvPicPr>
        <p:blipFill>
          <a:blip r:embed="rId4"/>
          <a:stretch>
            <a:fillRect/>
          </a:stretch>
        </p:blipFill>
        <p:spPr>
          <a:xfrm>
            <a:off x="6194591" y="1943318"/>
            <a:ext cx="128699" cy="187198"/>
          </a:xfrm>
          <a:prstGeom prst="rect">
            <a:avLst/>
          </a:prstGeom>
        </p:spPr>
      </p:pic>
      <p:sp>
        <p:nvSpPr>
          <p:cNvPr id="94" name="TextBox 93"/>
          <p:cNvSpPr txBox="1"/>
          <p:nvPr/>
        </p:nvSpPr>
        <p:spPr>
          <a:xfrm>
            <a:off x="6362087" y="1953097"/>
            <a:ext cx="3002788" cy="186689"/>
          </a:xfrm>
          <a:prstGeom prst="rect">
            <a:avLst/>
          </a:prstGeom>
          <a:noFill/>
        </p:spPr>
        <p:txBody>
          <a:bodyPr wrap="none" lIns="0" rIns="0" tIns="0" bIns="0">
            <a:spAutoFit/>
          </a:bodyPr>
          <a:lstStyle/>
          <a:p>
            <a:r>
              <a:rPr sz="1100" b="0">
                <a:solidFill>
                  <a:srgbClr val="2E2E2E"/>
                </a:solidFill>
                <a:latin typeface="Calibri"/>
              </a:rPr>
              <a:t>CAGR (2026–2036) while average realisation moves</a:t>
            </a:r>
          </a:p>
        </p:txBody>
      </p:sp>
      <p:pic>
        <p:nvPicPr>
          <p:cNvPr id="95" name="Picture 94" descr="lock.png"/>
          <p:cNvPicPr>
            <a:picLocks noChangeAspect="1"/>
          </p:cNvPicPr>
          <p:nvPr/>
        </p:nvPicPr>
        <p:blipFill>
          <a:blip r:embed="rId4"/>
          <a:stretch>
            <a:fillRect/>
          </a:stretch>
        </p:blipFill>
        <p:spPr>
          <a:xfrm>
            <a:off x="9312927" y="1943318"/>
            <a:ext cx="128699" cy="187198"/>
          </a:xfrm>
          <a:prstGeom prst="rect">
            <a:avLst/>
          </a:prstGeom>
        </p:spPr>
      </p:pic>
      <p:sp>
        <p:nvSpPr>
          <p:cNvPr id="96" name="TextBox 95"/>
          <p:cNvSpPr txBox="1"/>
          <p:nvPr/>
        </p:nvSpPr>
        <p:spPr>
          <a:xfrm>
            <a:off x="9480423" y="1953097"/>
            <a:ext cx="2346597" cy="186689"/>
          </a:xfrm>
          <a:prstGeom prst="rect">
            <a:avLst/>
          </a:prstGeom>
          <a:noFill/>
        </p:spPr>
        <p:txBody>
          <a:bodyPr wrap="none" lIns="0" rIns="0" tIns="0" bIns="0">
            <a:spAutoFit/>
          </a:bodyPr>
          <a:lstStyle/>
          <a:p>
            <a:r>
              <a:rPr sz="1100" b="0">
                <a:solidFill>
                  <a:srgbClr val="2E2E2E"/>
                </a:solidFill>
                <a:latin typeface="Calibri"/>
              </a:rPr>
              <a:t>a year the balance of those two sets the</a:t>
            </a:r>
          </a:p>
        </p:txBody>
      </p:sp>
      <p:sp>
        <p:nvSpPr>
          <p:cNvPr id="97" name="TextBox 96"/>
          <p:cNvSpPr txBox="1"/>
          <p:nvPr/>
        </p:nvSpPr>
        <p:spPr>
          <a:xfrm>
            <a:off x="5000625" y="2120737"/>
            <a:ext cx="1571426" cy="186689"/>
          </a:xfrm>
          <a:prstGeom prst="rect">
            <a:avLst/>
          </a:prstGeom>
          <a:noFill/>
        </p:spPr>
        <p:txBody>
          <a:bodyPr wrap="none" lIns="0" rIns="0" tIns="0" bIns="0">
            <a:spAutoFit/>
          </a:bodyPr>
          <a:lstStyle/>
          <a:p>
            <a:r>
              <a:rPr sz="1100" b="0">
                <a:solidFill>
                  <a:srgbClr val="2E2E2E"/>
                </a:solidFill>
                <a:latin typeface="Calibri"/>
              </a:rPr>
              <a:t>cost-pass-through picture.</a:t>
            </a:r>
          </a:p>
        </p:txBody>
      </p:sp>
      <p:sp>
        <p:nvSpPr>
          <p:cNvPr id="98" name="TextBox 97"/>
          <p:cNvSpPr txBox="1"/>
          <p:nvPr/>
        </p:nvSpPr>
        <p:spPr>
          <a:xfrm>
            <a:off x="5000625" y="2401990"/>
            <a:ext cx="2540049" cy="186689"/>
          </a:xfrm>
          <a:prstGeom prst="rect">
            <a:avLst/>
          </a:prstGeom>
          <a:noFill/>
        </p:spPr>
        <p:txBody>
          <a:bodyPr wrap="none" lIns="0" rIns="0" tIns="0" bIns="0">
            <a:spAutoFit/>
          </a:bodyPr>
          <a:lstStyle/>
          <a:p>
            <a:r>
              <a:rPr sz="1100" b="0">
                <a:solidFill>
                  <a:srgbClr val="2E2E2E"/>
                </a:solidFill>
                <a:latin typeface="Calibri"/>
              </a:rPr>
              <a:t>▪ Supply is dispersed: 'North America' holds</a:t>
            </a:r>
          </a:p>
        </p:txBody>
      </p:sp>
      <p:pic>
        <p:nvPicPr>
          <p:cNvPr id="99" name="Picture 98" descr="lock.png"/>
          <p:cNvPicPr>
            <a:picLocks noChangeAspect="1"/>
          </p:cNvPicPr>
          <p:nvPr/>
        </p:nvPicPr>
        <p:blipFill>
          <a:blip r:embed="rId4"/>
          <a:stretch>
            <a:fillRect/>
          </a:stretch>
        </p:blipFill>
        <p:spPr>
          <a:xfrm>
            <a:off x="7488726" y="2392211"/>
            <a:ext cx="128699" cy="187198"/>
          </a:xfrm>
          <a:prstGeom prst="rect">
            <a:avLst/>
          </a:prstGeom>
        </p:spPr>
      </p:pic>
      <p:sp>
        <p:nvSpPr>
          <p:cNvPr id="100" name="TextBox 99"/>
          <p:cNvSpPr txBox="1"/>
          <p:nvPr/>
        </p:nvSpPr>
        <p:spPr>
          <a:xfrm>
            <a:off x="7656222" y="2401990"/>
            <a:ext cx="1821358" cy="186689"/>
          </a:xfrm>
          <a:prstGeom prst="rect">
            <a:avLst/>
          </a:prstGeom>
          <a:noFill/>
        </p:spPr>
        <p:txBody>
          <a:bodyPr wrap="none" lIns="0" rIns="0" tIns="0" bIns="0">
            <a:spAutoFit/>
          </a:bodyPr>
          <a:lstStyle/>
          <a:p>
            <a:r>
              <a:rPr sz="1100" b="0">
                <a:solidFill>
                  <a:srgbClr val="2E2E2E"/>
                </a:solidFill>
                <a:latin typeface="Calibri"/>
              </a:rPr>
              <a:t>of 2036 value across 6 regions.</a:t>
            </a:r>
          </a:p>
        </p:txBody>
      </p:sp>
      <p:sp>
        <p:nvSpPr>
          <p:cNvPr id="101" name="TextBox 100"/>
          <p:cNvSpPr txBox="1"/>
          <p:nvPr/>
        </p:nvSpPr>
        <p:spPr>
          <a:xfrm>
            <a:off x="5000625" y="3132138"/>
            <a:ext cx="2931591" cy="186689"/>
          </a:xfrm>
          <a:prstGeom prst="rect">
            <a:avLst/>
          </a:prstGeom>
          <a:noFill/>
        </p:spPr>
        <p:txBody>
          <a:bodyPr wrap="none" lIns="0" rIns="0" tIns="0" bIns="0">
            <a:spAutoFit/>
          </a:bodyPr>
          <a:lstStyle/>
          <a:p>
            <a:r>
              <a:rPr sz="1100" b="0">
                <a:solidFill>
                  <a:srgbClr val="2E2E2E"/>
                </a:solidFill>
                <a:latin typeface="Calibri"/>
              </a:rPr>
              <a:t>▪ Capacity added between 2026 and 2036 is worth</a:t>
            </a:r>
          </a:p>
        </p:txBody>
      </p:sp>
      <p:pic>
        <p:nvPicPr>
          <p:cNvPr id="102" name="Picture 101" descr="lock.png"/>
          <p:cNvPicPr>
            <a:picLocks noChangeAspect="1"/>
          </p:cNvPicPr>
          <p:nvPr/>
        </p:nvPicPr>
        <p:blipFill>
          <a:blip r:embed="rId4"/>
          <a:stretch>
            <a:fillRect/>
          </a:stretch>
        </p:blipFill>
        <p:spPr>
          <a:xfrm>
            <a:off x="7880268" y="3122359"/>
            <a:ext cx="128699" cy="187198"/>
          </a:xfrm>
          <a:prstGeom prst="rect">
            <a:avLst/>
          </a:prstGeom>
        </p:spPr>
      </p:pic>
      <p:sp>
        <p:nvSpPr>
          <p:cNvPr id="103" name="TextBox 102"/>
          <p:cNvSpPr txBox="1"/>
          <p:nvPr/>
        </p:nvSpPr>
        <p:spPr>
          <a:xfrm>
            <a:off x="8047764" y="3132138"/>
            <a:ext cx="659010" cy="186689"/>
          </a:xfrm>
          <a:prstGeom prst="rect">
            <a:avLst/>
          </a:prstGeom>
          <a:noFill/>
        </p:spPr>
        <p:txBody>
          <a:bodyPr wrap="none" lIns="0" rIns="0" tIns="0" bIns="0">
            <a:spAutoFit/>
          </a:bodyPr>
          <a:lstStyle/>
          <a:p>
            <a:r>
              <a:rPr sz="1100" b="0">
                <a:solidFill>
                  <a:srgbClr val="2E2E2E"/>
                </a:solidFill>
                <a:latin typeface="Calibri"/>
              </a:rPr>
              <a:t>US$ Mn, a</a:t>
            </a:r>
          </a:p>
        </p:txBody>
      </p:sp>
      <p:pic>
        <p:nvPicPr>
          <p:cNvPr id="104" name="Picture 103" descr="lock.png"/>
          <p:cNvPicPr>
            <a:picLocks noChangeAspect="1"/>
          </p:cNvPicPr>
          <p:nvPr/>
        </p:nvPicPr>
        <p:blipFill>
          <a:blip r:embed="rId4"/>
          <a:stretch>
            <a:fillRect/>
          </a:stretch>
        </p:blipFill>
        <p:spPr>
          <a:xfrm>
            <a:off x="8654826" y="3122359"/>
            <a:ext cx="128699" cy="187198"/>
          </a:xfrm>
          <a:prstGeom prst="rect">
            <a:avLst/>
          </a:prstGeom>
        </p:spPr>
      </p:pic>
      <p:sp>
        <p:nvSpPr>
          <p:cNvPr id="105" name="TextBox 104"/>
          <p:cNvSpPr txBox="1"/>
          <p:nvPr/>
        </p:nvSpPr>
        <p:spPr>
          <a:xfrm>
            <a:off x="8822322" y="3132138"/>
            <a:ext cx="1801986" cy="186689"/>
          </a:xfrm>
          <a:prstGeom prst="rect">
            <a:avLst/>
          </a:prstGeom>
          <a:noFill/>
        </p:spPr>
        <p:txBody>
          <a:bodyPr wrap="none" lIns="0" rIns="0" tIns="0" bIns="0">
            <a:spAutoFit/>
          </a:bodyPr>
          <a:lstStyle/>
          <a:p>
            <a:r>
              <a:rPr sz="1100" b="0">
                <a:solidFill>
                  <a:srgbClr val="2E2E2E"/>
                </a:solidFill>
                <a:latin typeface="Calibri"/>
              </a:rPr>
              <a:t>× expansion on the 2026 base.</a:t>
            </a:r>
          </a:p>
        </p:txBody>
      </p:sp>
    </p:spTree>
  </p:cSld>
  <p:clrMapOvr>
    <a:masterClrMapping/>
  </p:clrMapOvr>
</p:sld>
</file>

<file path=ppt/slides/slide2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Global Driving Factors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demand-side factors scored by their impact on the global market</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Oval 10"/>
          <p:cNvSpPr/>
          <p:nvPr/>
        </p:nvSpPr>
        <p:spPr>
          <a:xfrm>
            <a:off x="5048250" y="1609633"/>
            <a:ext cx="4762500" cy="4563424"/>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Oval 11"/>
          <p:cNvSpPr/>
          <p:nvPr/>
        </p:nvSpPr>
        <p:spPr>
          <a:xfrm>
            <a:off x="5286375" y="1837804"/>
            <a:ext cx="4286250" cy="4107082"/>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Oval 12"/>
          <p:cNvSpPr/>
          <p:nvPr/>
        </p:nvSpPr>
        <p:spPr>
          <a:xfrm>
            <a:off x="5524500" y="2065976"/>
            <a:ext cx="3810000" cy="3650740"/>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5762625" y="2294147"/>
            <a:ext cx="3333750" cy="3194397"/>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6000750" y="2522318"/>
            <a:ext cx="2857500" cy="2738055"/>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6238875" y="2750489"/>
            <a:ext cx="2381250" cy="2281712"/>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Oval 16"/>
          <p:cNvSpPr/>
          <p:nvPr/>
        </p:nvSpPr>
        <p:spPr>
          <a:xfrm>
            <a:off x="6477000" y="2978660"/>
            <a:ext cx="1905000" cy="1825370"/>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Oval 17"/>
          <p:cNvSpPr/>
          <p:nvPr/>
        </p:nvSpPr>
        <p:spPr>
          <a:xfrm>
            <a:off x="6715125" y="3206832"/>
            <a:ext cx="1428750" cy="1369027"/>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Oval 18"/>
          <p:cNvSpPr/>
          <p:nvPr/>
        </p:nvSpPr>
        <p:spPr>
          <a:xfrm>
            <a:off x="6953250" y="3435003"/>
            <a:ext cx="952500" cy="912685"/>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Oval 19"/>
          <p:cNvSpPr/>
          <p:nvPr/>
        </p:nvSpPr>
        <p:spPr>
          <a:xfrm>
            <a:off x="7191375" y="3663174"/>
            <a:ext cx="476250" cy="456342"/>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1" name="Connector 20"/>
          <p:cNvCxnSpPr/>
          <p:nvPr/>
        </p:nvCxnSpPr>
        <p:spPr>
          <a:xfrm flipV="1">
            <a:off x="7429500" y="1609633"/>
            <a:ext cx="0" cy="228171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flipV="1">
            <a:off x="7429500" y="1835594"/>
            <a:ext cx="1033186" cy="205575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flipV="1">
            <a:off x="7429500" y="2468721"/>
            <a:ext cx="1861736" cy="1422624"/>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flipV="1">
            <a:off x="7429500" y="3383617"/>
            <a:ext cx="2321547" cy="507729"/>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a:off x="7429500" y="3891345"/>
            <a:ext cx="2321547" cy="507729"/>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a:off x="7429500" y="3891345"/>
            <a:ext cx="1861736" cy="1422624"/>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7429500" y="3891345"/>
            <a:ext cx="1033186" cy="205575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7429500" y="3891345"/>
            <a:ext cx="0" cy="228171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sp>
        <p:nvSpPr>
          <p:cNvPr id="29" name="Freeform 28"/>
          <p:cNvSpPr/>
          <p:nvPr/>
        </p:nvSpPr>
        <p:spPr>
          <a:xfrm>
            <a:off x="7429500" y="2650094"/>
            <a:ext cx="1352550" cy="2865831"/>
          </a:xfrm>
          <a:custGeom>
            <a:avLst/>
            <a:gdLst/>
            <a:ahLst/>
            <a:cxnLst/>
            <a:rect l="l" t="t" r="r" b="b"/>
            <a:pathLst>
              <a:path w="142" h="314">
                <a:moveTo>
                  <a:pt x="0" y="26"/>
                </a:moveTo>
                <a:lnTo>
                  <a:pt x="66" y="0"/>
                </a:lnTo>
                <a:lnTo>
                  <a:pt x="73" y="78"/>
                </a:lnTo>
                <a:lnTo>
                  <a:pt x="97" y="114"/>
                </a:lnTo>
                <a:lnTo>
                  <a:pt x="142" y="168"/>
                </a:lnTo>
                <a:lnTo>
                  <a:pt x="95" y="212"/>
                </a:lnTo>
                <a:lnTo>
                  <a:pt x="46" y="232"/>
                </a:lnTo>
                <a:lnTo>
                  <a:pt x="0" y="314"/>
                </a:lnTo>
              </a:path>
            </a:pathLst>
          </a:custGeom>
          <a:noFill/>
          <a:ln w="31750">
            <a:solidFill>
              <a:srgbClr val="0F5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7381875" y="1563999"/>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505700" y="1281067"/>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32" name="Oval 31"/>
          <p:cNvSpPr/>
          <p:nvPr/>
        </p:nvSpPr>
        <p:spPr>
          <a:xfrm>
            <a:off x="8415061" y="1789960"/>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8520544" y="1519681"/>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34" name="Oval 33"/>
          <p:cNvSpPr/>
          <p:nvPr/>
        </p:nvSpPr>
        <p:spPr>
          <a:xfrm>
            <a:off x="9243611" y="2423087"/>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9395493" y="2270405"/>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36" name="Oval 35"/>
          <p:cNvSpPr/>
          <p:nvPr/>
        </p:nvSpPr>
        <p:spPr>
          <a:xfrm>
            <a:off x="9703422" y="3337982"/>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9881054" y="3236535"/>
            <a:ext cx="2168071"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38" name="Oval 37"/>
          <p:cNvSpPr/>
          <p:nvPr/>
        </p:nvSpPr>
        <p:spPr>
          <a:xfrm>
            <a:off x="9703422" y="4353440"/>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9881054" y="4308858"/>
            <a:ext cx="2168071"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40" name="Oval 39"/>
          <p:cNvSpPr/>
          <p:nvPr/>
        </p:nvSpPr>
        <p:spPr>
          <a:xfrm>
            <a:off x="9243611" y="5268335"/>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9395493" y="5274987"/>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42" name="Oval 41"/>
          <p:cNvSpPr/>
          <p:nvPr/>
        </p:nvSpPr>
        <p:spPr>
          <a:xfrm>
            <a:off x="8415061" y="5901463"/>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520544" y="6025711"/>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44" name="Oval 43"/>
          <p:cNvSpPr/>
          <p:nvPr/>
        </p:nvSpPr>
        <p:spPr>
          <a:xfrm>
            <a:off x="7381875" y="6127423"/>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7505700" y="6264326"/>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46" name="Rectangle 45"/>
          <p:cNvSpPr/>
          <p:nvPr/>
        </p:nvSpPr>
        <p:spPr>
          <a:xfrm>
            <a:off x="0" y="970754"/>
            <a:ext cx="7429500" cy="564039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FMI Scale 0"/>
          <p:cNvSpPr txBox="1"/>
          <p:nvPr/>
        </p:nvSpPr>
        <p:spPr>
          <a:xfrm>
            <a:off x="7486650" y="3818331"/>
            <a:ext cx="419100" cy="146030"/>
          </a:xfrm>
          <a:prstGeom prst="rect">
            <a:avLst/>
          </a:prstGeom>
          <a:noFill/>
        </p:spPr>
        <p:txBody>
          <a:bodyPr wrap="none" lIns="0" rIns="0" tIns="0" bIns="0" anchor="ctr">
            <a:spAutoFit/>
          </a:bodyPr>
          <a:lstStyle/>
          <a:p>
            <a:pPr algn="l"/>
            <a:r>
              <a:rPr sz="1100" b="0">
                <a:solidFill>
                  <a:srgbClr val="6C7A89"/>
                </a:solidFill>
                <a:latin typeface="Calibri"/>
              </a:rPr>
              <a:t>0%</a:t>
            </a:r>
          </a:p>
        </p:txBody>
      </p:sp>
      <p:sp>
        <p:nvSpPr>
          <p:cNvPr id="48" name="FMI Scale 1"/>
          <p:cNvSpPr txBox="1"/>
          <p:nvPr/>
        </p:nvSpPr>
        <p:spPr>
          <a:xfrm>
            <a:off x="7486650" y="3590159"/>
            <a:ext cx="419100" cy="14603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49" name="FMI Scale 2"/>
          <p:cNvSpPr txBox="1"/>
          <p:nvPr/>
        </p:nvSpPr>
        <p:spPr>
          <a:xfrm>
            <a:off x="7486650" y="3361988"/>
            <a:ext cx="419100" cy="146030"/>
          </a:xfrm>
          <a:prstGeom prst="rect">
            <a:avLst/>
          </a:prstGeom>
          <a:noFill/>
        </p:spPr>
        <p:txBody>
          <a:bodyPr wrap="none" lIns="0" rIns="0" tIns="0" bIns="0" anchor="ctr">
            <a:spAutoFit/>
          </a:bodyPr>
          <a:lstStyle/>
          <a:p>
            <a:pPr algn="l"/>
            <a:r>
              <a:rPr sz="1100" b="0">
                <a:solidFill>
                  <a:srgbClr val="6C7A89"/>
                </a:solidFill>
                <a:latin typeface="Calibri"/>
              </a:rPr>
              <a:t>20%</a:t>
            </a:r>
          </a:p>
        </p:txBody>
      </p:sp>
      <p:sp>
        <p:nvSpPr>
          <p:cNvPr id="50" name="FMI Scale 3"/>
          <p:cNvSpPr txBox="1"/>
          <p:nvPr/>
        </p:nvSpPr>
        <p:spPr>
          <a:xfrm>
            <a:off x="7486650" y="3133817"/>
            <a:ext cx="419100" cy="146030"/>
          </a:xfrm>
          <a:prstGeom prst="rect">
            <a:avLst/>
          </a:prstGeom>
          <a:noFill/>
        </p:spPr>
        <p:txBody>
          <a:bodyPr wrap="none" lIns="0" rIns="0" tIns="0" bIns="0" anchor="ctr">
            <a:spAutoFit/>
          </a:bodyPr>
          <a:lstStyle/>
          <a:p>
            <a:pPr algn="l"/>
            <a:r>
              <a:rPr sz="1100" b="0">
                <a:solidFill>
                  <a:srgbClr val="6C7A89"/>
                </a:solidFill>
                <a:latin typeface="Calibri"/>
              </a:rPr>
              <a:t>30%</a:t>
            </a:r>
          </a:p>
        </p:txBody>
      </p:sp>
      <p:sp>
        <p:nvSpPr>
          <p:cNvPr id="51" name="FMI Scale 4"/>
          <p:cNvSpPr txBox="1"/>
          <p:nvPr/>
        </p:nvSpPr>
        <p:spPr>
          <a:xfrm>
            <a:off x="7486650" y="2905646"/>
            <a:ext cx="419100" cy="146030"/>
          </a:xfrm>
          <a:prstGeom prst="rect">
            <a:avLst/>
          </a:prstGeom>
          <a:noFill/>
        </p:spPr>
        <p:txBody>
          <a:bodyPr wrap="none" lIns="0" rIns="0" tIns="0" bIns="0" anchor="ctr">
            <a:spAutoFit/>
          </a:bodyPr>
          <a:lstStyle/>
          <a:p>
            <a:pPr algn="l"/>
            <a:r>
              <a:rPr sz="1100" b="0">
                <a:solidFill>
                  <a:srgbClr val="6C7A89"/>
                </a:solidFill>
                <a:latin typeface="Calibri"/>
              </a:rPr>
              <a:t>40%</a:t>
            </a:r>
          </a:p>
        </p:txBody>
      </p:sp>
      <p:sp>
        <p:nvSpPr>
          <p:cNvPr id="52" name="FMI Scale 5"/>
          <p:cNvSpPr txBox="1"/>
          <p:nvPr/>
        </p:nvSpPr>
        <p:spPr>
          <a:xfrm>
            <a:off x="7486650" y="2677474"/>
            <a:ext cx="419100" cy="146030"/>
          </a:xfrm>
          <a:prstGeom prst="rect">
            <a:avLst/>
          </a:prstGeom>
          <a:noFill/>
        </p:spPr>
        <p:txBody>
          <a:bodyPr wrap="none" lIns="0" rIns="0" tIns="0" bIns="0" anchor="ctr">
            <a:spAutoFit/>
          </a:bodyPr>
          <a:lstStyle/>
          <a:p>
            <a:pPr algn="l"/>
            <a:r>
              <a:rPr sz="1100" b="0">
                <a:solidFill>
                  <a:srgbClr val="6C7A89"/>
                </a:solidFill>
                <a:latin typeface="Calibri"/>
              </a:rPr>
              <a:t>50%</a:t>
            </a:r>
          </a:p>
        </p:txBody>
      </p:sp>
      <p:sp>
        <p:nvSpPr>
          <p:cNvPr id="53" name="FMI Scale 6"/>
          <p:cNvSpPr txBox="1"/>
          <p:nvPr/>
        </p:nvSpPr>
        <p:spPr>
          <a:xfrm>
            <a:off x="7486650" y="2449303"/>
            <a:ext cx="419100" cy="146030"/>
          </a:xfrm>
          <a:prstGeom prst="rect">
            <a:avLst/>
          </a:prstGeom>
          <a:noFill/>
        </p:spPr>
        <p:txBody>
          <a:bodyPr wrap="none" lIns="0" rIns="0" tIns="0" bIns="0" anchor="ctr">
            <a:spAutoFit/>
          </a:bodyPr>
          <a:lstStyle/>
          <a:p>
            <a:pPr algn="l"/>
            <a:r>
              <a:rPr sz="1100" b="0">
                <a:solidFill>
                  <a:srgbClr val="6C7A89"/>
                </a:solidFill>
                <a:latin typeface="Calibri"/>
              </a:rPr>
              <a:t>60%</a:t>
            </a:r>
          </a:p>
        </p:txBody>
      </p:sp>
      <p:sp>
        <p:nvSpPr>
          <p:cNvPr id="54" name="FMI Scale 7"/>
          <p:cNvSpPr txBox="1"/>
          <p:nvPr/>
        </p:nvSpPr>
        <p:spPr>
          <a:xfrm>
            <a:off x="7486650" y="2221132"/>
            <a:ext cx="419100" cy="146030"/>
          </a:xfrm>
          <a:prstGeom prst="rect">
            <a:avLst/>
          </a:prstGeom>
          <a:noFill/>
        </p:spPr>
        <p:txBody>
          <a:bodyPr wrap="none" lIns="0" rIns="0" tIns="0" bIns="0" anchor="ctr">
            <a:spAutoFit/>
          </a:bodyPr>
          <a:lstStyle/>
          <a:p>
            <a:pPr algn="l"/>
            <a:r>
              <a:rPr sz="1100" b="0">
                <a:solidFill>
                  <a:srgbClr val="6C7A89"/>
                </a:solidFill>
                <a:latin typeface="Calibri"/>
              </a:rPr>
              <a:t>70%</a:t>
            </a:r>
          </a:p>
        </p:txBody>
      </p:sp>
      <p:sp>
        <p:nvSpPr>
          <p:cNvPr id="55" name="FMI Scale 8"/>
          <p:cNvSpPr txBox="1"/>
          <p:nvPr/>
        </p:nvSpPr>
        <p:spPr>
          <a:xfrm>
            <a:off x="7486650" y="1992961"/>
            <a:ext cx="419100" cy="146030"/>
          </a:xfrm>
          <a:prstGeom prst="rect">
            <a:avLst/>
          </a:prstGeom>
          <a:noFill/>
        </p:spPr>
        <p:txBody>
          <a:bodyPr wrap="none" lIns="0" rIns="0" tIns="0" bIns="0" anchor="ctr">
            <a:spAutoFit/>
          </a:bodyPr>
          <a:lstStyle/>
          <a:p>
            <a:pPr algn="l"/>
            <a:r>
              <a:rPr sz="1100" b="0">
                <a:solidFill>
                  <a:srgbClr val="6C7A89"/>
                </a:solidFill>
                <a:latin typeface="Calibri"/>
              </a:rPr>
              <a:t>80%</a:t>
            </a:r>
          </a:p>
        </p:txBody>
      </p:sp>
      <p:sp>
        <p:nvSpPr>
          <p:cNvPr id="56" name="FMI Scale 9"/>
          <p:cNvSpPr txBox="1"/>
          <p:nvPr/>
        </p:nvSpPr>
        <p:spPr>
          <a:xfrm>
            <a:off x="7486650" y="1764790"/>
            <a:ext cx="419100" cy="146030"/>
          </a:xfrm>
          <a:prstGeom prst="rect">
            <a:avLst/>
          </a:prstGeom>
          <a:noFill/>
        </p:spPr>
        <p:txBody>
          <a:bodyPr wrap="none" lIns="0" rIns="0" tIns="0" bIns="0" anchor="ctr">
            <a:spAutoFit/>
          </a:bodyPr>
          <a:lstStyle/>
          <a:p>
            <a:pPr algn="l"/>
            <a:r>
              <a:rPr sz="1100" b="0">
                <a:solidFill>
                  <a:srgbClr val="6C7A89"/>
                </a:solidFill>
                <a:latin typeface="Calibri"/>
              </a:rPr>
              <a:t>90%</a:t>
            </a:r>
          </a:p>
        </p:txBody>
      </p:sp>
      <p:sp>
        <p:nvSpPr>
          <p:cNvPr id="57" name="FMI Scale 10"/>
          <p:cNvSpPr txBox="1"/>
          <p:nvPr/>
        </p:nvSpPr>
        <p:spPr>
          <a:xfrm>
            <a:off x="7486650" y="1536618"/>
            <a:ext cx="419100" cy="146030"/>
          </a:xfrm>
          <a:prstGeom prst="rect">
            <a:avLst/>
          </a:prstGeom>
          <a:noFill/>
        </p:spPr>
        <p:txBody>
          <a:bodyPr wrap="none" lIns="0" rIns="0" tIns="0" bIns="0" anchor="ctr">
            <a:spAutoFit/>
          </a:bodyPr>
          <a:lstStyle/>
          <a:p>
            <a:pPr algn="l"/>
            <a:r>
              <a:rPr sz="1100" b="0">
                <a:solidFill>
                  <a:srgbClr val="6C7A89"/>
                </a:solidFill>
                <a:latin typeface="Calibri"/>
              </a:rPr>
              <a:t>100%</a:t>
            </a:r>
          </a:p>
        </p:txBody>
      </p:sp>
      <p:cxnSp>
        <p:nvCxnSpPr>
          <p:cNvPr id="58" name="Connector 57"/>
          <p:cNvCxnSpPr/>
          <p:nvPr/>
        </p:nvCxnSpPr>
        <p:spPr>
          <a:xfrm>
            <a:off x="7429500" y="1025515"/>
            <a:ext cx="0" cy="5549124"/>
          </a:xfrm>
          <a:prstGeom prst="line">
            <a:avLst/>
          </a:prstGeom>
          <a:ln w="12700">
            <a:solidFill>
              <a:srgbClr val="D5DBE1"/>
            </a:solidFill>
          </a:ln>
          <a:effectLst/>
        </p:spPr>
        <p:style>
          <a:lnRef idx="2">
            <a:schemeClr val="accent1"/>
          </a:lnRef>
          <a:fillRef idx="0">
            <a:schemeClr val="accent1"/>
          </a:fillRef>
          <a:effectRef idx="1">
            <a:schemeClr val="accent1"/>
          </a:effectRef>
          <a:fontRef idx="minor">
            <a:schemeClr val="tx1"/>
          </a:fontRef>
        </p:style>
      </p:cxnSp>
      <p:sp>
        <p:nvSpPr>
          <p:cNvPr id="59" name="TextBox 58"/>
          <p:cNvSpPr txBox="1"/>
          <p:nvPr/>
        </p:nvSpPr>
        <p:spPr>
          <a:xfrm>
            <a:off x="180975" y="1080276"/>
            <a:ext cx="7038975" cy="219044"/>
          </a:xfrm>
          <a:prstGeom prst="rect">
            <a:avLst/>
          </a:prstGeom>
          <a:noFill/>
        </p:spPr>
        <p:txBody>
          <a:bodyPr wrap="square" lIns="28575" rIns="28575" tIns="9525" bIns="9525" anchor="ctr">
            <a:spAutoFit/>
          </a:bodyPr>
          <a:lstStyle/>
          <a:p>
            <a:pPr algn="l"/>
            <a:r>
              <a:rPr sz="1200" b="1">
                <a:solidFill>
                  <a:srgbClr val="0B2E4A"/>
                </a:solidFill>
                <a:latin typeface="Calibri"/>
              </a:rPr>
              <a:t>Demand-side Factors</a:t>
            </a:r>
          </a:p>
        </p:txBody>
      </p:sp>
      <p:cxnSp>
        <p:nvCxnSpPr>
          <p:cNvPr id="60" name="Connector 59"/>
          <p:cNvCxnSpPr/>
          <p:nvPr/>
        </p:nvCxnSpPr>
        <p:spPr>
          <a:xfrm>
            <a:off x="180975" y="1335828"/>
            <a:ext cx="7038975" cy="0"/>
          </a:xfrm>
          <a:prstGeom prst="line">
            <a:avLst/>
          </a:prstGeom>
          <a:ln w="31750">
            <a:solidFill>
              <a:srgbClr val="1F6FB4"/>
            </a:solidFill>
          </a:ln>
          <a:effectLst/>
        </p:spPr>
        <p:style>
          <a:lnRef idx="2">
            <a:schemeClr val="accent1"/>
          </a:lnRef>
          <a:fillRef idx="0">
            <a:schemeClr val="accent1"/>
          </a:fillRef>
          <a:effectRef idx="1">
            <a:schemeClr val="accent1"/>
          </a:effectRef>
          <a:fontRef idx="minor">
            <a:schemeClr val="tx1"/>
          </a:fontRef>
        </p:style>
      </p:cxnSp>
      <p:sp>
        <p:nvSpPr>
          <p:cNvPr id="61" name="TextBox 60"/>
          <p:cNvSpPr txBox="1"/>
          <p:nvPr/>
        </p:nvSpPr>
        <p:spPr>
          <a:xfrm>
            <a:off x="180975" y="1427096"/>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2" name="TextBox 61"/>
          <p:cNvSpPr txBox="1"/>
          <p:nvPr/>
        </p:nvSpPr>
        <p:spPr>
          <a:xfrm>
            <a:off x="180975" y="1883439"/>
            <a:ext cx="70389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3" name="TextBox 62"/>
          <p:cNvSpPr txBox="1"/>
          <p:nvPr/>
        </p:nvSpPr>
        <p:spPr>
          <a:xfrm>
            <a:off x="180975" y="2157244"/>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4" name="TextBox 63"/>
          <p:cNvSpPr txBox="1"/>
          <p:nvPr/>
        </p:nvSpPr>
        <p:spPr>
          <a:xfrm>
            <a:off x="180975" y="2613586"/>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5" name="TextBox 64"/>
          <p:cNvSpPr txBox="1"/>
          <p:nvPr/>
        </p:nvSpPr>
        <p:spPr>
          <a:xfrm>
            <a:off x="180975" y="3069929"/>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6" name="TextBox 65"/>
          <p:cNvSpPr txBox="1"/>
          <p:nvPr/>
        </p:nvSpPr>
        <p:spPr>
          <a:xfrm>
            <a:off x="180975" y="3526271"/>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Note: the dynamics framing is indicative factors, impact ratings and narrative are generated from the loaded dataset's own values.</a:t>
            </a:r>
          </a:p>
        </p:txBody>
      </p:sp>
      <p:sp>
        <p:nvSpPr>
          <p:cNvPr id="67" name="TextBox 6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8" name="TextBox 67"/>
          <p:cNvSpPr txBox="1"/>
          <p:nvPr/>
        </p:nvSpPr>
        <p:spPr>
          <a:xfrm>
            <a:off x="7534275" y="1322601"/>
            <a:ext cx="943988" cy="173278"/>
          </a:xfrm>
          <a:prstGeom prst="rect">
            <a:avLst/>
          </a:prstGeom>
          <a:noFill/>
        </p:spPr>
        <p:txBody>
          <a:bodyPr wrap="none" lIns="0" rIns="0" tIns="0" bIns="0">
            <a:spAutoFit/>
          </a:bodyPr>
          <a:lstStyle/>
          <a:p>
            <a:r>
              <a:rPr sz="1011" b="0">
                <a:solidFill>
                  <a:srgbClr val="2E2E2E"/>
                </a:solidFill>
                <a:latin typeface="Calibri"/>
              </a:rPr>
              <a:t>Demand Growth</a:t>
            </a:r>
          </a:p>
        </p:txBody>
      </p:sp>
      <p:pic>
        <p:nvPicPr>
          <p:cNvPr id="69" name="Picture 68" descr="lock.png"/>
          <p:cNvPicPr>
            <a:picLocks noChangeAspect="1"/>
          </p:cNvPicPr>
          <p:nvPr/>
        </p:nvPicPr>
        <p:blipFill>
          <a:blip r:embed="rId4"/>
          <a:stretch>
            <a:fillRect/>
          </a:stretch>
        </p:blipFill>
        <p:spPr>
          <a:xfrm>
            <a:off x="8424374" y="1313604"/>
            <a:ext cx="118403" cy="172222"/>
          </a:xfrm>
          <a:prstGeom prst="rect">
            <a:avLst/>
          </a:prstGeom>
        </p:spPr>
      </p:pic>
      <p:sp>
        <p:nvSpPr>
          <p:cNvPr id="70" name="TextBox 69"/>
          <p:cNvSpPr txBox="1"/>
          <p:nvPr/>
        </p:nvSpPr>
        <p:spPr>
          <a:xfrm>
            <a:off x="8549119" y="1561215"/>
            <a:ext cx="903573" cy="173278"/>
          </a:xfrm>
          <a:prstGeom prst="rect">
            <a:avLst/>
          </a:prstGeom>
          <a:noFill/>
        </p:spPr>
        <p:txBody>
          <a:bodyPr wrap="none" lIns="0" rIns="0" tIns="0" bIns="0">
            <a:spAutoFit/>
          </a:bodyPr>
          <a:lstStyle/>
          <a:p>
            <a:r>
              <a:rPr sz="1011" b="0">
                <a:solidFill>
                  <a:srgbClr val="2E2E2E"/>
                </a:solidFill>
                <a:latin typeface="Calibri"/>
              </a:rPr>
              <a:t>Premiumisation</a:t>
            </a:r>
          </a:p>
        </p:txBody>
      </p:sp>
      <p:pic>
        <p:nvPicPr>
          <p:cNvPr id="71" name="Picture 70" descr="lock.png"/>
          <p:cNvPicPr>
            <a:picLocks noChangeAspect="1"/>
          </p:cNvPicPr>
          <p:nvPr/>
        </p:nvPicPr>
        <p:blipFill>
          <a:blip r:embed="rId4"/>
          <a:stretch>
            <a:fillRect/>
          </a:stretch>
        </p:blipFill>
        <p:spPr>
          <a:xfrm>
            <a:off x="9398803" y="1552218"/>
            <a:ext cx="118403" cy="172222"/>
          </a:xfrm>
          <a:prstGeom prst="rect">
            <a:avLst/>
          </a:prstGeom>
        </p:spPr>
      </p:pic>
      <p:sp>
        <p:nvSpPr>
          <p:cNvPr id="72" name="TextBox 71"/>
          <p:cNvSpPr txBox="1"/>
          <p:nvPr/>
        </p:nvSpPr>
        <p:spPr>
          <a:xfrm>
            <a:off x="9424068" y="2311939"/>
            <a:ext cx="765761" cy="173278"/>
          </a:xfrm>
          <a:prstGeom prst="rect">
            <a:avLst/>
          </a:prstGeom>
          <a:noFill/>
        </p:spPr>
        <p:txBody>
          <a:bodyPr wrap="none" lIns="0" rIns="0" tIns="0" bIns="0">
            <a:spAutoFit/>
          </a:bodyPr>
          <a:lstStyle/>
          <a:p>
            <a:r>
              <a:rPr sz="1011" b="0">
                <a:solidFill>
                  <a:srgbClr val="2E2E2E"/>
                </a:solidFill>
                <a:latin typeface="Calibri"/>
              </a:rPr>
              <a:t>App. Breadth</a:t>
            </a:r>
          </a:p>
        </p:txBody>
      </p:sp>
      <p:pic>
        <p:nvPicPr>
          <p:cNvPr id="73" name="Picture 72" descr="lock.png"/>
          <p:cNvPicPr>
            <a:picLocks noChangeAspect="1"/>
          </p:cNvPicPr>
          <p:nvPr/>
        </p:nvPicPr>
        <p:blipFill>
          <a:blip r:embed="rId4"/>
          <a:stretch>
            <a:fillRect/>
          </a:stretch>
        </p:blipFill>
        <p:spPr>
          <a:xfrm>
            <a:off x="10135940" y="2302942"/>
            <a:ext cx="118403" cy="172222"/>
          </a:xfrm>
          <a:prstGeom prst="rect">
            <a:avLst/>
          </a:prstGeom>
        </p:spPr>
      </p:pic>
      <p:sp>
        <p:nvSpPr>
          <p:cNvPr id="74" name="TextBox 73"/>
          <p:cNvSpPr txBox="1"/>
          <p:nvPr/>
        </p:nvSpPr>
        <p:spPr>
          <a:xfrm>
            <a:off x="9909628" y="3278069"/>
            <a:ext cx="791114" cy="173278"/>
          </a:xfrm>
          <a:prstGeom prst="rect">
            <a:avLst/>
          </a:prstGeom>
          <a:noFill/>
        </p:spPr>
        <p:txBody>
          <a:bodyPr wrap="none" lIns="0" rIns="0" tIns="0" bIns="0">
            <a:spAutoFit/>
          </a:bodyPr>
          <a:lstStyle/>
          <a:p>
            <a:r>
              <a:rPr sz="1011" b="0">
                <a:solidFill>
                  <a:srgbClr val="2E2E2E"/>
                </a:solidFill>
                <a:latin typeface="Calibri"/>
              </a:rPr>
              <a:t>Emerging Pull</a:t>
            </a:r>
          </a:p>
        </p:txBody>
      </p:sp>
      <p:pic>
        <p:nvPicPr>
          <p:cNvPr id="75" name="Picture 74" descr="lock.png"/>
          <p:cNvPicPr>
            <a:picLocks noChangeAspect="1"/>
          </p:cNvPicPr>
          <p:nvPr/>
        </p:nvPicPr>
        <p:blipFill>
          <a:blip r:embed="rId4"/>
          <a:stretch>
            <a:fillRect/>
          </a:stretch>
        </p:blipFill>
        <p:spPr>
          <a:xfrm>
            <a:off x="10646855" y="3269072"/>
            <a:ext cx="118403" cy="172222"/>
          </a:xfrm>
          <a:prstGeom prst="rect">
            <a:avLst/>
          </a:prstGeom>
        </p:spPr>
      </p:pic>
      <p:sp>
        <p:nvSpPr>
          <p:cNvPr id="76" name="TextBox 75"/>
          <p:cNvSpPr txBox="1"/>
          <p:nvPr/>
        </p:nvSpPr>
        <p:spPr>
          <a:xfrm>
            <a:off x="9909628" y="4350392"/>
            <a:ext cx="1135267" cy="173278"/>
          </a:xfrm>
          <a:prstGeom prst="rect">
            <a:avLst/>
          </a:prstGeom>
          <a:noFill/>
        </p:spPr>
        <p:txBody>
          <a:bodyPr wrap="none" lIns="0" rIns="0" tIns="0" bIns="0">
            <a:spAutoFit/>
          </a:bodyPr>
          <a:lstStyle/>
          <a:p>
            <a:r>
              <a:rPr sz="1011" b="0">
                <a:solidFill>
                  <a:srgbClr val="2E2E2E"/>
                </a:solidFill>
                <a:latin typeface="Calibri"/>
              </a:rPr>
              <a:t>Volume Momentum</a:t>
            </a:r>
          </a:p>
        </p:txBody>
      </p:sp>
      <p:pic>
        <p:nvPicPr>
          <p:cNvPr id="77" name="Picture 76" descr="lock.png"/>
          <p:cNvPicPr>
            <a:picLocks noChangeAspect="1"/>
          </p:cNvPicPr>
          <p:nvPr/>
        </p:nvPicPr>
        <p:blipFill>
          <a:blip r:embed="rId4"/>
          <a:stretch>
            <a:fillRect/>
          </a:stretch>
        </p:blipFill>
        <p:spPr>
          <a:xfrm>
            <a:off x="10991008" y="4341395"/>
            <a:ext cx="118403" cy="172222"/>
          </a:xfrm>
          <a:prstGeom prst="rect">
            <a:avLst/>
          </a:prstGeom>
        </p:spPr>
      </p:pic>
      <p:sp>
        <p:nvSpPr>
          <p:cNvPr id="78" name="TextBox 77"/>
          <p:cNvSpPr txBox="1"/>
          <p:nvPr/>
        </p:nvSpPr>
        <p:spPr>
          <a:xfrm>
            <a:off x="9424068" y="5316521"/>
            <a:ext cx="1032097" cy="173278"/>
          </a:xfrm>
          <a:prstGeom prst="rect">
            <a:avLst/>
          </a:prstGeom>
          <a:noFill/>
        </p:spPr>
        <p:txBody>
          <a:bodyPr wrap="none" lIns="0" rIns="0" tIns="0" bIns="0">
            <a:spAutoFit/>
          </a:bodyPr>
          <a:lstStyle/>
          <a:p>
            <a:r>
              <a:rPr sz="1011" b="0">
                <a:solidFill>
                  <a:srgbClr val="2E2E2E"/>
                </a:solidFill>
                <a:latin typeface="Calibri"/>
              </a:rPr>
              <a:t>Category Maturity</a:t>
            </a:r>
          </a:p>
        </p:txBody>
      </p:sp>
      <p:pic>
        <p:nvPicPr>
          <p:cNvPr id="79" name="Picture 78" descr="lock.png"/>
          <p:cNvPicPr>
            <a:picLocks noChangeAspect="1"/>
          </p:cNvPicPr>
          <p:nvPr/>
        </p:nvPicPr>
        <p:blipFill>
          <a:blip r:embed="rId4"/>
          <a:stretch>
            <a:fillRect/>
          </a:stretch>
        </p:blipFill>
        <p:spPr>
          <a:xfrm>
            <a:off x="10402276" y="5307524"/>
            <a:ext cx="118403" cy="172222"/>
          </a:xfrm>
          <a:prstGeom prst="rect">
            <a:avLst/>
          </a:prstGeom>
        </p:spPr>
      </p:pic>
      <p:sp>
        <p:nvSpPr>
          <p:cNvPr id="80" name="TextBox 79"/>
          <p:cNvSpPr txBox="1"/>
          <p:nvPr/>
        </p:nvSpPr>
        <p:spPr>
          <a:xfrm>
            <a:off x="8549119" y="6067245"/>
            <a:ext cx="911857" cy="173278"/>
          </a:xfrm>
          <a:prstGeom prst="rect">
            <a:avLst/>
          </a:prstGeom>
          <a:noFill/>
        </p:spPr>
        <p:txBody>
          <a:bodyPr wrap="none" lIns="0" rIns="0" tIns="0" bIns="0">
            <a:spAutoFit/>
          </a:bodyPr>
          <a:lstStyle/>
          <a:p>
            <a:r>
              <a:rPr sz="1011" b="0">
                <a:solidFill>
                  <a:srgbClr val="2E2E2E"/>
                </a:solidFill>
                <a:latin typeface="Calibri"/>
              </a:rPr>
              <a:t>Adoption Depth</a:t>
            </a:r>
          </a:p>
        </p:txBody>
      </p:sp>
      <p:pic>
        <p:nvPicPr>
          <p:cNvPr id="81" name="Picture 80" descr="lock.png"/>
          <p:cNvPicPr>
            <a:picLocks noChangeAspect="1"/>
          </p:cNvPicPr>
          <p:nvPr/>
        </p:nvPicPr>
        <p:blipFill>
          <a:blip r:embed="rId4"/>
          <a:stretch>
            <a:fillRect/>
          </a:stretch>
        </p:blipFill>
        <p:spPr>
          <a:xfrm>
            <a:off x="9407087" y="6058248"/>
            <a:ext cx="118403" cy="172222"/>
          </a:xfrm>
          <a:prstGeom prst="rect">
            <a:avLst/>
          </a:prstGeom>
        </p:spPr>
      </p:pic>
      <p:sp>
        <p:nvSpPr>
          <p:cNvPr id="82" name="TextBox 81"/>
          <p:cNvSpPr txBox="1"/>
          <p:nvPr/>
        </p:nvSpPr>
        <p:spPr>
          <a:xfrm>
            <a:off x="7534275" y="6305860"/>
            <a:ext cx="955786" cy="173278"/>
          </a:xfrm>
          <a:prstGeom prst="rect">
            <a:avLst/>
          </a:prstGeom>
          <a:noFill/>
        </p:spPr>
        <p:txBody>
          <a:bodyPr wrap="none" lIns="0" rIns="0" tIns="0" bIns="0">
            <a:spAutoFit/>
          </a:bodyPr>
          <a:lstStyle/>
          <a:p>
            <a:r>
              <a:rPr sz="1011" b="0">
                <a:solidFill>
                  <a:srgbClr val="2E2E2E"/>
                </a:solidFill>
                <a:latin typeface="Calibri"/>
              </a:rPr>
              <a:t>Consumer Reach</a:t>
            </a:r>
          </a:p>
        </p:txBody>
      </p:sp>
      <p:pic>
        <p:nvPicPr>
          <p:cNvPr id="83" name="Picture 82" descr="lock.png"/>
          <p:cNvPicPr>
            <a:picLocks noChangeAspect="1"/>
          </p:cNvPicPr>
          <p:nvPr/>
        </p:nvPicPr>
        <p:blipFill>
          <a:blip r:embed="rId4"/>
          <a:stretch>
            <a:fillRect/>
          </a:stretch>
        </p:blipFill>
        <p:spPr>
          <a:xfrm>
            <a:off x="8436172" y="6296863"/>
            <a:ext cx="118403" cy="172222"/>
          </a:xfrm>
          <a:prstGeom prst="rect">
            <a:avLst/>
          </a:prstGeom>
        </p:spPr>
      </p:pic>
      <p:sp>
        <p:nvSpPr>
          <p:cNvPr id="84" name="TextBox 83"/>
          <p:cNvSpPr txBox="1"/>
          <p:nvPr/>
        </p:nvSpPr>
        <p:spPr>
          <a:xfrm>
            <a:off x="209550" y="1496754"/>
            <a:ext cx="3188617" cy="186689"/>
          </a:xfrm>
          <a:prstGeom prst="rect">
            <a:avLst/>
          </a:prstGeom>
          <a:noFill/>
        </p:spPr>
        <p:txBody>
          <a:bodyPr wrap="none" lIns="0" rIns="0" tIns="0" bIns="0">
            <a:spAutoFit/>
          </a:bodyPr>
          <a:lstStyle/>
          <a:p>
            <a:r>
              <a:rPr sz="1100" b="0">
                <a:solidFill>
                  <a:srgbClr val="2E2E2E"/>
                </a:solidFill>
                <a:latin typeface="Calibri"/>
              </a:rPr>
              <a:t>▪ Demand-side conditions are led by Consumer Reach (</a:t>
            </a:r>
          </a:p>
        </p:txBody>
      </p:sp>
      <p:pic>
        <p:nvPicPr>
          <p:cNvPr id="85" name="Picture 84" descr="lock.png"/>
          <p:cNvPicPr>
            <a:picLocks noChangeAspect="1"/>
          </p:cNvPicPr>
          <p:nvPr/>
        </p:nvPicPr>
        <p:blipFill>
          <a:blip r:embed="rId4"/>
          <a:stretch>
            <a:fillRect/>
          </a:stretch>
        </p:blipFill>
        <p:spPr>
          <a:xfrm>
            <a:off x="3346219" y="1486975"/>
            <a:ext cx="128699" cy="187198"/>
          </a:xfrm>
          <a:prstGeom prst="rect">
            <a:avLst/>
          </a:prstGeom>
        </p:spPr>
      </p:pic>
      <p:sp>
        <p:nvSpPr>
          <p:cNvPr id="86" name="TextBox 85"/>
          <p:cNvSpPr txBox="1"/>
          <p:nvPr/>
        </p:nvSpPr>
        <p:spPr>
          <a:xfrm>
            <a:off x="3513715" y="1496754"/>
            <a:ext cx="1354236" cy="186689"/>
          </a:xfrm>
          <a:prstGeom prst="rect">
            <a:avLst/>
          </a:prstGeom>
          <a:noFill/>
        </p:spPr>
        <p:txBody>
          <a:bodyPr wrap="none" lIns="0" rIns="0" tIns="0" bIns="0">
            <a:spAutoFit/>
          </a:bodyPr>
          <a:lstStyle/>
          <a:p>
            <a:r>
              <a:rPr sz="1100" b="0">
                <a:solidFill>
                  <a:srgbClr val="2E2E2E"/>
                </a:solidFill>
                <a:latin typeface="Calibri"/>
              </a:rPr>
              <a:t>/10), Premiumisation (</a:t>
            </a:r>
          </a:p>
        </p:txBody>
      </p:sp>
      <p:pic>
        <p:nvPicPr>
          <p:cNvPr id="87" name="Picture 86" descr="lock.png"/>
          <p:cNvPicPr>
            <a:picLocks noChangeAspect="1"/>
          </p:cNvPicPr>
          <p:nvPr/>
        </p:nvPicPr>
        <p:blipFill>
          <a:blip r:embed="rId4"/>
          <a:stretch>
            <a:fillRect/>
          </a:stretch>
        </p:blipFill>
        <p:spPr>
          <a:xfrm>
            <a:off x="4816003" y="1486975"/>
            <a:ext cx="128699" cy="187198"/>
          </a:xfrm>
          <a:prstGeom prst="rect">
            <a:avLst/>
          </a:prstGeom>
        </p:spPr>
      </p:pic>
      <p:sp>
        <p:nvSpPr>
          <p:cNvPr id="88" name="TextBox 87"/>
          <p:cNvSpPr txBox="1"/>
          <p:nvPr/>
        </p:nvSpPr>
        <p:spPr>
          <a:xfrm>
            <a:off x="4983499" y="1496754"/>
            <a:ext cx="1606078" cy="186689"/>
          </a:xfrm>
          <a:prstGeom prst="rect">
            <a:avLst/>
          </a:prstGeom>
          <a:noFill/>
        </p:spPr>
        <p:txBody>
          <a:bodyPr wrap="none" lIns="0" rIns="0" tIns="0" bIns="0">
            <a:spAutoFit/>
          </a:bodyPr>
          <a:lstStyle/>
          <a:p>
            <a:r>
              <a:rPr sz="1100" b="0">
                <a:solidFill>
                  <a:srgbClr val="2E2E2E"/>
                </a:solidFill>
                <a:latin typeface="Calibri"/>
              </a:rPr>
              <a:t>/10), Volume Momentum (</a:t>
            </a:r>
          </a:p>
        </p:txBody>
      </p:sp>
      <p:pic>
        <p:nvPicPr>
          <p:cNvPr id="89" name="Picture 88" descr="lock.png"/>
          <p:cNvPicPr>
            <a:picLocks noChangeAspect="1"/>
          </p:cNvPicPr>
          <p:nvPr/>
        </p:nvPicPr>
        <p:blipFill>
          <a:blip r:embed="rId4"/>
          <a:stretch>
            <a:fillRect/>
          </a:stretch>
        </p:blipFill>
        <p:spPr>
          <a:xfrm>
            <a:off x="6537629" y="1486975"/>
            <a:ext cx="128699" cy="187198"/>
          </a:xfrm>
          <a:prstGeom prst="rect">
            <a:avLst/>
          </a:prstGeom>
        </p:spPr>
      </p:pic>
      <p:sp>
        <p:nvSpPr>
          <p:cNvPr id="90" name="TextBox 89"/>
          <p:cNvSpPr txBox="1"/>
          <p:nvPr/>
        </p:nvSpPr>
        <p:spPr>
          <a:xfrm>
            <a:off x="6705125" y="1496754"/>
            <a:ext cx="314399" cy="186689"/>
          </a:xfrm>
          <a:prstGeom prst="rect">
            <a:avLst/>
          </a:prstGeom>
          <a:noFill/>
        </p:spPr>
        <p:txBody>
          <a:bodyPr wrap="none" lIns="0" rIns="0" tIns="0" bIns="0">
            <a:spAutoFit/>
          </a:bodyPr>
          <a:lstStyle/>
          <a:p>
            <a:r>
              <a:rPr sz="1100" b="0">
                <a:solidFill>
                  <a:srgbClr val="2E2E2E"/>
                </a:solidFill>
                <a:latin typeface="Calibri"/>
              </a:rPr>
              <a:t>/10)</a:t>
            </a:r>
          </a:p>
        </p:txBody>
      </p:sp>
      <p:sp>
        <p:nvSpPr>
          <p:cNvPr id="91" name="TextBox 90"/>
          <p:cNvSpPr txBox="1"/>
          <p:nvPr/>
        </p:nvSpPr>
        <p:spPr>
          <a:xfrm>
            <a:off x="209550" y="1664394"/>
            <a:ext cx="3041277" cy="186689"/>
          </a:xfrm>
          <a:prstGeom prst="rect">
            <a:avLst/>
          </a:prstGeom>
          <a:noFill/>
        </p:spPr>
        <p:txBody>
          <a:bodyPr wrap="none" lIns="0" rIns="0" tIns="0" bIns="0">
            <a:spAutoFit/>
          </a:bodyPr>
          <a:lstStyle/>
          <a:p>
            <a:r>
              <a:rPr sz="1100" b="0">
                <a:solidFill>
                  <a:srgbClr val="2E2E2E"/>
                </a:solidFill>
                <a:latin typeface="Calibri"/>
              </a:rPr>
              <a:t>on a 0-10 scale scored from the global dataset itself.</a:t>
            </a:r>
          </a:p>
        </p:txBody>
      </p:sp>
      <p:sp>
        <p:nvSpPr>
          <p:cNvPr id="92" name="TextBox 91"/>
          <p:cNvSpPr txBox="1"/>
          <p:nvPr/>
        </p:nvSpPr>
        <p:spPr>
          <a:xfrm>
            <a:off x="209550" y="1945648"/>
            <a:ext cx="998438" cy="186689"/>
          </a:xfrm>
          <a:prstGeom prst="rect">
            <a:avLst/>
          </a:prstGeom>
          <a:noFill/>
        </p:spPr>
        <p:txBody>
          <a:bodyPr wrap="none" lIns="0" rIns="0" tIns="0" bIns="0">
            <a:spAutoFit/>
          </a:bodyPr>
          <a:lstStyle/>
          <a:p>
            <a:r>
              <a:rPr sz="1100" b="0">
                <a:solidFill>
                  <a:srgbClr val="2E2E2E"/>
                </a:solidFill>
                <a:latin typeface="Calibri"/>
              </a:rPr>
              <a:t>▪ Value grows at</a:t>
            </a:r>
          </a:p>
        </p:txBody>
      </p:sp>
      <p:pic>
        <p:nvPicPr>
          <p:cNvPr id="93" name="Picture 92" descr="lock.png"/>
          <p:cNvPicPr>
            <a:picLocks noChangeAspect="1"/>
          </p:cNvPicPr>
          <p:nvPr/>
        </p:nvPicPr>
        <p:blipFill>
          <a:blip r:embed="rId4"/>
          <a:stretch>
            <a:fillRect/>
          </a:stretch>
        </p:blipFill>
        <p:spPr>
          <a:xfrm>
            <a:off x="1156039" y="1935869"/>
            <a:ext cx="128699" cy="187198"/>
          </a:xfrm>
          <a:prstGeom prst="rect">
            <a:avLst/>
          </a:prstGeom>
        </p:spPr>
      </p:pic>
      <p:sp>
        <p:nvSpPr>
          <p:cNvPr id="94" name="TextBox 93"/>
          <p:cNvSpPr txBox="1"/>
          <p:nvPr/>
        </p:nvSpPr>
        <p:spPr>
          <a:xfrm>
            <a:off x="1323535" y="1945648"/>
            <a:ext cx="1083295" cy="186689"/>
          </a:xfrm>
          <a:prstGeom prst="rect">
            <a:avLst/>
          </a:prstGeom>
          <a:noFill/>
        </p:spPr>
        <p:txBody>
          <a:bodyPr wrap="none" lIns="0" rIns="0" tIns="0" bIns="0">
            <a:spAutoFit/>
          </a:bodyPr>
          <a:lstStyle/>
          <a:p>
            <a:r>
              <a:rPr sz="1100" b="0">
                <a:solidFill>
                  <a:srgbClr val="2E2E2E"/>
                </a:solidFill>
                <a:latin typeface="Calibri"/>
              </a:rPr>
              <a:t>against volume at</a:t>
            </a:r>
          </a:p>
        </p:txBody>
      </p:sp>
      <p:pic>
        <p:nvPicPr>
          <p:cNvPr id="95" name="Picture 94" descr="lock.png"/>
          <p:cNvPicPr>
            <a:picLocks noChangeAspect="1"/>
          </p:cNvPicPr>
          <p:nvPr/>
        </p:nvPicPr>
        <p:blipFill>
          <a:blip r:embed="rId4"/>
          <a:stretch>
            <a:fillRect/>
          </a:stretch>
        </p:blipFill>
        <p:spPr>
          <a:xfrm>
            <a:off x="2354882" y="1935869"/>
            <a:ext cx="128699" cy="187198"/>
          </a:xfrm>
          <a:prstGeom prst="rect">
            <a:avLst/>
          </a:prstGeom>
        </p:spPr>
      </p:pic>
      <p:sp>
        <p:nvSpPr>
          <p:cNvPr id="96" name="TextBox 95"/>
          <p:cNvSpPr txBox="1"/>
          <p:nvPr/>
        </p:nvSpPr>
        <p:spPr>
          <a:xfrm>
            <a:off x="2522378" y="1945648"/>
            <a:ext cx="2230090" cy="186689"/>
          </a:xfrm>
          <a:prstGeom prst="rect">
            <a:avLst/>
          </a:prstGeom>
          <a:noFill/>
        </p:spPr>
        <p:txBody>
          <a:bodyPr wrap="none" lIns="0" rIns="0" tIns="0" bIns="0">
            <a:spAutoFit/>
          </a:bodyPr>
          <a:lstStyle/>
          <a:p>
            <a:r>
              <a:rPr sz="1100" b="0">
                <a:solidFill>
                  <a:srgbClr val="2E2E2E"/>
                </a:solidFill>
                <a:latin typeface="Calibri"/>
              </a:rPr>
              <a:t>a premiumising market through 2036.</a:t>
            </a:r>
          </a:p>
        </p:txBody>
      </p:sp>
      <p:sp>
        <p:nvSpPr>
          <p:cNvPr id="97" name="TextBox 96"/>
          <p:cNvSpPr txBox="1"/>
          <p:nvPr/>
        </p:nvSpPr>
        <p:spPr>
          <a:xfrm>
            <a:off x="209550" y="2226902"/>
            <a:ext cx="2016174" cy="186689"/>
          </a:xfrm>
          <a:prstGeom prst="rect">
            <a:avLst/>
          </a:prstGeom>
          <a:noFill/>
        </p:spPr>
        <p:txBody>
          <a:bodyPr wrap="none" lIns="0" rIns="0" tIns="0" bIns="0">
            <a:spAutoFit/>
          </a:bodyPr>
          <a:lstStyle/>
          <a:p>
            <a:r>
              <a:rPr sz="1100" b="0">
                <a:solidFill>
                  <a:srgbClr val="2E2E2E"/>
                </a:solidFill>
                <a:latin typeface="Calibri"/>
              </a:rPr>
              <a:t>▪ 'Flexible Partial Dentures' carries</a:t>
            </a:r>
          </a:p>
        </p:txBody>
      </p:sp>
      <p:pic>
        <p:nvPicPr>
          <p:cNvPr id="98" name="Picture 97" descr="lock.png"/>
          <p:cNvPicPr>
            <a:picLocks noChangeAspect="1"/>
          </p:cNvPicPr>
          <p:nvPr/>
        </p:nvPicPr>
        <p:blipFill>
          <a:blip r:embed="rId4"/>
          <a:stretch>
            <a:fillRect/>
          </a:stretch>
        </p:blipFill>
        <p:spPr>
          <a:xfrm>
            <a:off x="2173776" y="2217123"/>
            <a:ext cx="128699" cy="187198"/>
          </a:xfrm>
          <a:prstGeom prst="rect">
            <a:avLst/>
          </a:prstGeom>
        </p:spPr>
      </p:pic>
      <p:sp>
        <p:nvSpPr>
          <p:cNvPr id="99" name="TextBox 98"/>
          <p:cNvSpPr txBox="1"/>
          <p:nvPr/>
        </p:nvSpPr>
        <p:spPr>
          <a:xfrm>
            <a:off x="2341272" y="2226902"/>
            <a:ext cx="4708128" cy="186689"/>
          </a:xfrm>
          <a:prstGeom prst="rect">
            <a:avLst/>
          </a:prstGeom>
          <a:noFill/>
        </p:spPr>
        <p:txBody>
          <a:bodyPr wrap="none" lIns="0" rIns="0" tIns="0" bIns="0">
            <a:spAutoFit/>
          </a:bodyPr>
          <a:lstStyle/>
          <a:p>
            <a:r>
              <a:rPr sz="1100" b="0">
                <a:solidFill>
                  <a:srgbClr val="2E2E2E"/>
                </a:solidFill>
                <a:latin typeface="Calibri"/>
              </a:rPr>
              <a:t>of product type demand while 'Cast Metal Partial Dentures' compounds fastest at</a:t>
            </a:r>
          </a:p>
        </p:txBody>
      </p:sp>
      <p:pic>
        <p:nvPicPr>
          <p:cNvPr id="100" name="Picture 99" descr="lock.png"/>
          <p:cNvPicPr>
            <a:picLocks noChangeAspect="1"/>
          </p:cNvPicPr>
          <p:nvPr/>
        </p:nvPicPr>
        <p:blipFill>
          <a:blip r:embed="rId4"/>
          <a:stretch>
            <a:fillRect/>
          </a:stretch>
        </p:blipFill>
        <p:spPr>
          <a:xfrm>
            <a:off x="196082" y="2384763"/>
            <a:ext cx="128699" cy="187198"/>
          </a:xfrm>
          <a:prstGeom prst="rect">
            <a:avLst/>
          </a:prstGeom>
        </p:spPr>
      </p:pic>
      <p:sp>
        <p:nvSpPr>
          <p:cNvPr id="101" name="TextBox 100"/>
          <p:cNvSpPr txBox="1"/>
          <p:nvPr/>
        </p:nvSpPr>
        <p:spPr>
          <a:xfrm>
            <a:off x="363578" y="2394542"/>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102" name="TextBox 101"/>
          <p:cNvSpPr txBox="1"/>
          <p:nvPr/>
        </p:nvSpPr>
        <p:spPr>
          <a:xfrm>
            <a:off x="209550" y="2767064"/>
            <a:ext cx="2476748" cy="186689"/>
          </a:xfrm>
          <a:prstGeom prst="rect">
            <a:avLst/>
          </a:prstGeom>
          <a:noFill/>
        </p:spPr>
        <p:txBody>
          <a:bodyPr wrap="none" lIns="0" rIns="0" tIns="0" bIns="0">
            <a:spAutoFit/>
          </a:bodyPr>
          <a:lstStyle/>
          <a:p>
            <a:r>
              <a:rPr sz="1100" b="0">
                <a:solidFill>
                  <a:srgbClr val="2E2E2E"/>
                </a:solidFill>
                <a:latin typeface="Calibri"/>
              </a:rPr>
              <a:t>▪ Pull is strongest in 'South Asia &amp; Pacific' (</a:t>
            </a:r>
          </a:p>
        </p:txBody>
      </p:sp>
      <p:pic>
        <p:nvPicPr>
          <p:cNvPr id="103" name="Picture 102" descr="lock.png"/>
          <p:cNvPicPr>
            <a:picLocks noChangeAspect="1"/>
          </p:cNvPicPr>
          <p:nvPr/>
        </p:nvPicPr>
        <p:blipFill>
          <a:blip r:embed="rId4"/>
          <a:stretch>
            <a:fillRect/>
          </a:stretch>
        </p:blipFill>
        <p:spPr>
          <a:xfrm>
            <a:off x="2634349" y="2757285"/>
            <a:ext cx="128699" cy="187198"/>
          </a:xfrm>
          <a:prstGeom prst="rect">
            <a:avLst/>
          </a:prstGeom>
        </p:spPr>
      </p:pic>
      <p:sp>
        <p:nvSpPr>
          <p:cNvPr id="104" name="TextBox 103"/>
          <p:cNvSpPr txBox="1"/>
          <p:nvPr/>
        </p:nvSpPr>
        <p:spPr>
          <a:xfrm>
            <a:off x="2801845" y="2767064"/>
            <a:ext cx="531572" cy="186689"/>
          </a:xfrm>
          <a:prstGeom prst="rect">
            <a:avLst/>
          </a:prstGeom>
          <a:noFill/>
        </p:spPr>
        <p:txBody>
          <a:bodyPr wrap="none" lIns="0" rIns="0" tIns="0" bIns="0">
            <a:spAutoFit/>
          </a:bodyPr>
          <a:lstStyle/>
          <a:p>
            <a:r>
              <a:rPr sz="1100" b="0">
                <a:solidFill>
                  <a:srgbClr val="2E2E2E"/>
                </a:solidFill>
                <a:latin typeface="Calibri"/>
              </a:rPr>
              <a:t>CAGR, +</a:t>
            </a:r>
          </a:p>
        </p:txBody>
      </p:sp>
      <p:pic>
        <p:nvPicPr>
          <p:cNvPr id="105" name="Picture 104" descr="lock.png"/>
          <p:cNvPicPr>
            <a:picLocks noChangeAspect="1"/>
          </p:cNvPicPr>
          <p:nvPr/>
        </p:nvPicPr>
        <p:blipFill>
          <a:blip r:embed="rId4"/>
          <a:stretch>
            <a:fillRect/>
          </a:stretch>
        </p:blipFill>
        <p:spPr>
          <a:xfrm>
            <a:off x="3281469" y="2757285"/>
            <a:ext cx="128699" cy="187198"/>
          </a:xfrm>
          <a:prstGeom prst="rect">
            <a:avLst/>
          </a:prstGeom>
        </p:spPr>
      </p:pic>
      <p:sp>
        <p:nvSpPr>
          <p:cNvPr id="106" name="TextBox 105"/>
          <p:cNvSpPr txBox="1"/>
          <p:nvPr/>
        </p:nvSpPr>
        <p:spPr>
          <a:xfrm>
            <a:off x="3448965" y="2767064"/>
            <a:ext cx="3522588" cy="186689"/>
          </a:xfrm>
          <a:prstGeom prst="rect">
            <a:avLst/>
          </a:prstGeom>
          <a:noFill/>
        </p:spPr>
        <p:txBody>
          <a:bodyPr wrap="none" lIns="0" rIns="0" tIns="0" bIns="0">
            <a:spAutoFit/>
          </a:bodyPr>
          <a:lstStyle/>
          <a:p>
            <a:r>
              <a:rPr sz="1100" b="0">
                <a:solidFill>
                  <a:srgbClr val="2E2E2E"/>
                </a:solidFill>
                <a:latin typeface="Calibri"/>
              </a:rPr>
              <a:t>BPS versus the market), with 3 of 6 regions at or above pace.</a:t>
            </a:r>
          </a:p>
        </p:txBody>
      </p:sp>
      <p:sp>
        <p:nvSpPr>
          <p:cNvPr id="107" name="TextBox 106"/>
          <p:cNvSpPr txBox="1"/>
          <p:nvPr/>
        </p:nvSpPr>
        <p:spPr>
          <a:xfrm>
            <a:off x="209550" y="3139587"/>
            <a:ext cx="5248647" cy="186689"/>
          </a:xfrm>
          <a:prstGeom prst="rect">
            <a:avLst/>
          </a:prstGeom>
          <a:noFill/>
        </p:spPr>
        <p:txBody>
          <a:bodyPr wrap="none" lIns="0" rIns="0" tIns="0" bIns="0">
            <a:spAutoFit/>
          </a:bodyPr>
          <a:lstStyle/>
          <a:p>
            <a:r>
              <a:rPr sz="1100" b="0">
                <a:solidFill>
                  <a:srgbClr val="2E2E2E"/>
                </a:solidFill>
                <a:latin typeface="Calibri"/>
              </a:rPr>
              <a:t>▪ Reach runs through 4 end user routes, led by 'Academic &amp; Teaching Dental Institutions' at</a:t>
            </a:r>
          </a:p>
        </p:txBody>
      </p:sp>
      <p:pic>
        <p:nvPicPr>
          <p:cNvPr id="108" name="Picture 107" descr="lock.png"/>
          <p:cNvPicPr>
            <a:picLocks noChangeAspect="1"/>
          </p:cNvPicPr>
          <p:nvPr/>
        </p:nvPicPr>
        <p:blipFill>
          <a:blip r:embed="rId4"/>
          <a:stretch>
            <a:fillRect/>
          </a:stretch>
        </p:blipFill>
        <p:spPr>
          <a:xfrm>
            <a:off x="5406248" y="3129808"/>
            <a:ext cx="128699" cy="187198"/>
          </a:xfrm>
          <a:prstGeom prst="rect">
            <a:avLst/>
          </a:prstGeom>
        </p:spPr>
      </p:pic>
      <p:sp>
        <p:nvSpPr>
          <p:cNvPr id="109" name="TextBox 108"/>
          <p:cNvSpPr txBox="1"/>
          <p:nvPr/>
        </p:nvSpPr>
        <p:spPr>
          <a:xfrm>
            <a:off x="5573744" y="3139587"/>
            <a:ext cx="1011262" cy="186689"/>
          </a:xfrm>
          <a:prstGeom prst="rect">
            <a:avLst/>
          </a:prstGeom>
          <a:noFill/>
        </p:spPr>
        <p:txBody>
          <a:bodyPr wrap="none" lIns="0" rIns="0" tIns="0" bIns="0">
            <a:spAutoFit/>
          </a:bodyPr>
          <a:lstStyle/>
          <a:p>
            <a:r>
              <a:rPr sz="1100" b="0">
                <a:solidFill>
                  <a:srgbClr val="2E2E2E"/>
                </a:solidFill>
                <a:latin typeface="Calibri"/>
              </a:rPr>
              <a:t>and with 'Dental</a:t>
            </a:r>
          </a:p>
        </p:txBody>
      </p:sp>
      <p:sp>
        <p:nvSpPr>
          <p:cNvPr id="110" name="TextBox 109"/>
          <p:cNvSpPr txBox="1"/>
          <p:nvPr/>
        </p:nvSpPr>
        <p:spPr>
          <a:xfrm>
            <a:off x="209550" y="3307227"/>
            <a:ext cx="1678657" cy="186689"/>
          </a:xfrm>
          <a:prstGeom prst="rect">
            <a:avLst/>
          </a:prstGeom>
          <a:noFill/>
        </p:spPr>
        <p:txBody>
          <a:bodyPr wrap="none" lIns="0" rIns="0" tIns="0" bIns="0">
            <a:spAutoFit/>
          </a:bodyPr>
          <a:lstStyle/>
          <a:p>
            <a:r>
              <a:rPr sz="1100" b="0">
                <a:solidFill>
                  <a:srgbClr val="2E2E2E"/>
                </a:solidFill>
                <a:latin typeface="Calibri"/>
              </a:rPr>
              <a:t>Hospitals' growing fastest at</a:t>
            </a:r>
          </a:p>
        </p:txBody>
      </p:sp>
      <p:pic>
        <p:nvPicPr>
          <p:cNvPr id="111" name="Picture 110" descr="lock.png"/>
          <p:cNvPicPr>
            <a:picLocks noChangeAspect="1"/>
          </p:cNvPicPr>
          <p:nvPr/>
        </p:nvPicPr>
        <p:blipFill>
          <a:blip r:embed="rId4"/>
          <a:stretch>
            <a:fillRect/>
          </a:stretch>
        </p:blipFill>
        <p:spPr>
          <a:xfrm>
            <a:off x="1836258" y="3297448"/>
            <a:ext cx="128699" cy="187198"/>
          </a:xfrm>
          <a:prstGeom prst="rect">
            <a:avLst/>
          </a:prstGeom>
        </p:spPr>
      </p:pic>
      <p:sp>
        <p:nvSpPr>
          <p:cNvPr id="112" name="TextBox 111"/>
          <p:cNvSpPr txBox="1"/>
          <p:nvPr/>
        </p:nvSpPr>
        <p:spPr>
          <a:xfrm>
            <a:off x="2003754" y="3307227"/>
            <a:ext cx="111397" cy="186689"/>
          </a:xfrm>
          <a:prstGeom prst="rect">
            <a:avLst/>
          </a:prstGeom>
          <a:noFill/>
        </p:spPr>
        <p:txBody>
          <a:bodyPr wrap="none" lIns="0" rIns="0" tIns="0" bIns="0">
            <a:spAutoFit/>
          </a:bodyPr>
          <a:lstStyle/>
          <a:p>
            <a:r>
              <a:rPr sz="1100" b="0">
                <a:solidFill>
                  <a:srgbClr val="2E2E2E"/>
                </a:solidFill>
                <a:latin typeface="Calibri"/>
              </a:rPr>
              <a:t>.</a:t>
            </a:r>
          </a:p>
        </p:txBody>
      </p:sp>
    </p:spTree>
  </p:cSld>
  <p:clrMapOvr>
    <a:masterClrMapping/>
  </p:clrMapOvr>
</p:sld>
</file>

<file path=ppt/slides/slide2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Restraints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key restraints on the global market and the likelihood of their impact across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25515"/>
            <a:ext cx="2038350" cy="255552"/>
          </a:xfrm>
          <a:prstGeom prst="roundRect">
            <a:avLst>
              <a:gd name="adj" fmla="val 1869"/>
            </a:avLst>
          </a:prstGeom>
          <a:solidFill>
            <a:srgbClr val="C0603A"/>
          </a:solidFill>
          <a:ln w="12700">
            <a:solidFill>
              <a:srgbClr val="C060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142875" y="1025515"/>
            <a:ext cx="2038350" cy="255552"/>
          </a:xfrm>
          <a:prstGeom prst="rect">
            <a:avLst/>
          </a:prstGeom>
          <a:noFill/>
        </p:spPr>
        <p:txBody>
          <a:bodyPr wrap="square" lIns="28575" rIns="28575" tIns="9525" bIns="9525" anchor="ctr">
            <a:spAutoFit/>
          </a:bodyPr>
          <a:lstStyle/>
          <a:p>
            <a:pPr algn="ctr"/>
            <a:r>
              <a:rPr sz="1100" b="1">
                <a:solidFill>
                  <a:srgbClr val="FFFFFF"/>
                </a:solidFill>
                <a:latin typeface="Calibri"/>
              </a:rPr>
              <a:t>Market Restraints</a:t>
            </a:r>
          </a:p>
        </p:txBody>
      </p:sp>
      <p:sp>
        <p:nvSpPr>
          <p:cNvPr id="13" name="Rectangle 12"/>
          <p:cNvSpPr/>
          <p:nvPr/>
        </p:nvSpPr>
        <p:spPr>
          <a:xfrm>
            <a:off x="142875" y="1390589"/>
            <a:ext cx="9496425" cy="255552"/>
          </a:xfrm>
          <a:prstGeom prst="rect">
            <a:avLst/>
          </a:prstGeom>
          <a:solidFill>
            <a:srgbClr val="F7E3D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76225" y="139058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Flexible Partial Dentures Lags the Category and Dilutes Blended Growth</a:t>
            </a:r>
          </a:p>
        </p:txBody>
      </p:sp>
      <p:sp>
        <p:nvSpPr>
          <p:cNvPr id="15" name="TextBox 14"/>
          <p:cNvSpPr txBox="1"/>
          <p:nvPr/>
        </p:nvSpPr>
        <p:spPr>
          <a:xfrm>
            <a:off x="161925" y="1700902"/>
            <a:ext cx="9439275"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16" name="TextBox 15"/>
          <p:cNvSpPr txBox="1"/>
          <p:nvPr/>
        </p:nvSpPr>
        <p:spPr>
          <a:xfrm>
            <a:off x="9810750" y="139058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17" name="TextBox 16"/>
          <p:cNvSpPr txBox="1"/>
          <p:nvPr/>
        </p:nvSpPr>
        <p:spPr>
          <a:xfrm>
            <a:off x="981075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18" name="Rectangle 17"/>
          <p:cNvSpPr/>
          <p:nvPr/>
        </p:nvSpPr>
        <p:spPr>
          <a:xfrm>
            <a:off x="9810750" y="193820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9810750" y="193820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20" name="TextBox 19"/>
          <p:cNvSpPr txBox="1"/>
          <p:nvPr/>
        </p:nvSpPr>
        <p:spPr>
          <a:xfrm>
            <a:off x="1089660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21" name="Rectangle 20"/>
          <p:cNvSpPr/>
          <p:nvPr/>
        </p:nvSpPr>
        <p:spPr>
          <a:xfrm>
            <a:off x="10896600" y="193820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0896600" y="193820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23" name="TextBox 22"/>
          <p:cNvSpPr txBox="1"/>
          <p:nvPr/>
        </p:nvSpPr>
        <p:spPr>
          <a:xfrm>
            <a:off x="981075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24" name="Rectangle 23"/>
          <p:cNvSpPr/>
          <p:nvPr/>
        </p:nvSpPr>
        <p:spPr>
          <a:xfrm>
            <a:off x="981075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9810750" y="245843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26" name="TextBox 25"/>
          <p:cNvSpPr txBox="1"/>
          <p:nvPr/>
        </p:nvSpPr>
        <p:spPr>
          <a:xfrm>
            <a:off x="1089660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27" name="Rectangle 26"/>
          <p:cNvSpPr/>
          <p:nvPr/>
        </p:nvSpPr>
        <p:spPr>
          <a:xfrm>
            <a:off x="10896600" y="2458430"/>
            <a:ext cx="990600" cy="310313"/>
          </a:xfrm>
          <a:prstGeom prst="rect">
            <a:avLst/>
          </a:prstGeom>
          <a:solidFill>
            <a:srgbClr val="F2C94C"/>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896600" y="245843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cxnSp>
        <p:nvCxnSpPr>
          <p:cNvPr id="29" name="Connector 28"/>
          <p:cNvCxnSpPr/>
          <p:nvPr/>
        </p:nvCxnSpPr>
        <p:spPr>
          <a:xfrm>
            <a:off x="142875" y="3088183"/>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42875" y="3142944"/>
            <a:ext cx="9496425" cy="255552"/>
          </a:xfrm>
          <a:prstGeom prst="rect">
            <a:avLst/>
          </a:prstGeom>
          <a:solidFill>
            <a:srgbClr val="F7E3D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76225" y="3142944"/>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Uneven Region Performance Caps the Blended Rate</a:t>
            </a:r>
          </a:p>
        </p:txBody>
      </p:sp>
      <p:sp>
        <p:nvSpPr>
          <p:cNvPr id="32" name="TextBox 31"/>
          <p:cNvSpPr txBox="1"/>
          <p:nvPr/>
        </p:nvSpPr>
        <p:spPr>
          <a:xfrm>
            <a:off x="161925" y="3453257"/>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3" name="TextBox 32"/>
          <p:cNvSpPr txBox="1"/>
          <p:nvPr/>
        </p:nvSpPr>
        <p:spPr>
          <a:xfrm>
            <a:off x="9810750" y="3142944"/>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34" name="TextBox 33"/>
          <p:cNvSpPr txBox="1"/>
          <p:nvPr/>
        </p:nvSpPr>
        <p:spPr>
          <a:xfrm>
            <a:off x="981075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35" name="Rectangle 34"/>
          <p:cNvSpPr/>
          <p:nvPr/>
        </p:nvSpPr>
        <p:spPr>
          <a:xfrm>
            <a:off x="981075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9810750" y="3690555"/>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37" name="TextBox 36"/>
          <p:cNvSpPr txBox="1"/>
          <p:nvPr/>
        </p:nvSpPr>
        <p:spPr>
          <a:xfrm>
            <a:off x="1089660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38" name="Rectangle 37"/>
          <p:cNvSpPr/>
          <p:nvPr/>
        </p:nvSpPr>
        <p:spPr>
          <a:xfrm>
            <a:off x="1089660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10896600" y="3690555"/>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40" name="TextBox 39"/>
          <p:cNvSpPr txBox="1"/>
          <p:nvPr/>
        </p:nvSpPr>
        <p:spPr>
          <a:xfrm>
            <a:off x="981075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41" name="Rectangle 40"/>
          <p:cNvSpPr/>
          <p:nvPr/>
        </p:nvSpPr>
        <p:spPr>
          <a:xfrm>
            <a:off x="9810750" y="421078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9810750" y="4210785"/>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43" name="TextBox 42"/>
          <p:cNvSpPr txBox="1"/>
          <p:nvPr/>
        </p:nvSpPr>
        <p:spPr>
          <a:xfrm>
            <a:off x="1089660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44" name="Rectangle 43"/>
          <p:cNvSpPr/>
          <p:nvPr/>
        </p:nvSpPr>
        <p:spPr>
          <a:xfrm>
            <a:off x="10896600" y="4210785"/>
            <a:ext cx="990600" cy="310313"/>
          </a:xfrm>
          <a:prstGeom prst="rect">
            <a:avLst/>
          </a:prstGeom>
          <a:solidFill>
            <a:srgbClr val="FBF0C4"/>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10896600" y="4210785"/>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cxnSp>
        <p:nvCxnSpPr>
          <p:cNvPr id="46" name="Connector 45"/>
          <p:cNvCxnSpPr/>
          <p:nvPr/>
        </p:nvCxnSpPr>
        <p:spPr>
          <a:xfrm>
            <a:off x="142875" y="4840538"/>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7" name="Rectangle 46"/>
          <p:cNvSpPr/>
          <p:nvPr/>
        </p:nvSpPr>
        <p:spPr>
          <a:xfrm>
            <a:off x="142875" y="4895299"/>
            <a:ext cx="9496425" cy="255552"/>
          </a:xfrm>
          <a:prstGeom prst="rect">
            <a:avLst/>
          </a:prstGeom>
          <a:solidFill>
            <a:srgbClr val="F7E3D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76225" y="489529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Concentration Risk Limits Pricing and Sourcing Flexibility</a:t>
            </a:r>
          </a:p>
        </p:txBody>
      </p:sp>
      <p:sp>
        <p:nvSpPr>
          <p:cNvPr id="49" name="TextBox 48"/>
          <p:cNvSpPr txBox="1"/>
          <p:nvPr/>
        </p:nvSpPr>
        <p:spPr>
          <a:xfrm>
            <a:off x="161925" y="5205612"/>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50" name="TextBox 49"/>
          <p:cNvSpPr txBox="1"/>
          <p:nvPr/>
        </p:nvSpPr>
        <p:spPr>
          <a:xfrm>
            <a:off x="9810750" y="489529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51" name="TextBox 50"/>
          <p:cNvSpPr txBox="1"/>
          <p:nvPr/>
        </p:nvSpPr>
        <p:spPr>
          <a:xfrm>
            <a:off x="981075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52" name="Rectangle 51"/>
          <p:cNvSpPr/>
          <p:nvPr/>
        </p:nvSpPr>
        <p:spPr>
          <a:xfrm>
            <a:off x="981075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9810750" y="544291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54" name="TextBox 53"/>
          <p:cNvSpPr txBox="1"/>
          <p:nvPr/>
        </p:nvSpPr>
        <p:spPr>
          <a:xfrm>
            <a:off x="1089660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55" name="Rectangle 54"/>
          <p:cNvSpPr/>
          <p:nvPr/>
        </p:nvSpPr>
        <p:spPr>
          <a:xfrm>
            <a:off x="1089660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10896600" y="544291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57" name="TextBox 56"/>
          <p:cNvSpPr txBox="1"/>
          <p:nvPr/>
        </p:nvSpPr>
        <p:spPr>
          <a:xfrm>
            <a:off x="981075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58" name="Rectangle 57"/>
          <p:cNvSpPr/>
          <p:nvPr/>
        </p:nvSpPr>
        <p:spPr>
          <a:xfrm>
            <a:off x="9810750" y="5963140"/>
            <a:ext cx="990600" cy="310313"/>
          </a:xfrm>
          <a:prstGeom prst="rect">
            <a:avLst/>
          </a:prstGeom>
          <a:solidFill>
            <a:srgbClr val="C99A0A"/>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9810750" y="596314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60" name="TextBox 59"/>
          <p:cNvSpPr txBox="1"/>
          <p:nvPr/>
        </p:nvSpPr>
        <p:spPr>
          <a:xfrm>
            <a:off x="1089660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61" name="Rectangle 60"/>
          <p:cNvSpPr/>
          <p:nvPr/>
        </p:nvSpPr>
        <p:spPr>
          <a:xfrm>
            <a:off x="10896600" y="596314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10896600" y="596314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4" name="TextBox 63"/>
          <p:cNvSpPr txBox="1"/>
          <p:nvPr/>
        </p:nvSpPr>
        <p:spPr>
          <a:xfrm>
            <a:off x="190500" y="1837332"/>
            <a:ext cx="2317402" cy="186689"/>
          </a:xfrm>
          <a:prstGeom prst="rect">
            <a:avLst/>
          </a:prstGeom>
          <a:noFill/>
        </p:spPr>
        <p:txBody>
          <a:bodyPr wrap="none" lIns="0" rIns="0" tIns="0" bIns="0">
            <a:spAutoFit/>
          </a:bodyPr>
          <a:lstStyle/>
          <a:p>
            <a:r>
              <a:rPr sz="1100" b="0">
                <a:solidFill>
                  <a:srgbClr val="2E2E2E"/>
                </a:solidFill>
                <a:latin typeface="Calibri"/>
              </a:rPr>
              <a:t>'Flexible Partial Dentures' grows at only</a:t>
            </a:r>
          </a:p>
        </p:txBody>
      </p:sp>
      <p:pic>
        <p:nvPicPr>
          <p:cNvPr id="65" name="Picture 64" descr="lock.png"/>
          <p:cNvPicPr>
            <a:picLocks noChangeAspect="1"/>
          </p:cNvPicPr>
          <p:nvPr/>
        </p:nvPicPr>
        <p:blipFill>
          <a:blip r:embed="rId4"/>
          <a:stretch>
            <a:fillRect/>
          </a:stretch>
        </p:blipFill>
        <p:spPr>
          <a:xfrm>
            <a:off x="2455954" y="1827554"/>
            <a:ext cx="128699" cy="187198"/>
          </a:xfrm>
          <a:prstGeom prst="rect">
            <a:avLst/>
          </a:prstGeom>
        </p:spPr>
      </p:pic>
      <p:sp>
        <p:nvSpPr>
          <p:cNvPr id="66" name="TextBox 65"/>
          <p:cNvSpPr txBox="1"/>
          <p:nvPr/>
        </p:nvSpPr>
        <p:spPr>
          <a:xfrm>
            <a:off x="2623450" y="1837332"/>
            <a:ext cx="1579595" cy="186689"/>
          </a:xfrm>
          <a:prstGeom prst="rect">
            <a:avLst/>
          </a:prstGeom>
          <a:noFill/>
        </p:spPr>
        <p:txBody>
          <a:bodyPr wrap="none" lIns="0" rIns="0" tIns="0" bIns="0">
            <a:spAutoFit/>
          </a:bodyPr>
          <a:lstStyle/>
          <a:p>
            <a:r>
              <a:rPr sz="1100" b="0">
                <a:solidFill>
                  <a:srgbClr val="2E2E2E"/>
                </a:solidFill>
                <a:latin typeface="Calibri"/>
              </a:rPr>
              <a:t>CAGR against the market's</a:t>
            </a:r>
          </a:p>
        </p:txBody>
      </p:sp>
      <p:pic>
        <p:nvPicPr>
          <p:cNvPr id="67" name="Picture 66" descr="lock.png"/>
          <p:cNvPicPr>
            <a:picLocks noChangeAspect="1"/>
          </p:cNvPicPr>
          <p:nvPr/>
        </p:nvPicPr>
        <p:blipFill>
          <a:blip r:embed="rId4"/>
          <a:stretch>
            <a:fillRect/>
          </a:stretch>
        </p:blipFill>
        <p:spPr>
          <a:xfrm>
            <a:off x="4151096" y="1827554"/>
            <a:ext cx="128699" cy="187198"/>
          </a:xfrm>
          <a:prstGeom prst="rect">
            <a:avLst/>
          </a:prstGeom>
        </p:spPr>
      </p:pic>
      <p:sp>
        <p:nvSpPr>
          <p:cNvPr id="68" name="TextBox 67"/>
          <p:cNvSpPr txBox="1"/>
          <p:nvPr/>
        </p:nvSpPr>
        <p:spPr>
          <a:xfrm>
            <a:off x="4318592" y="1837332"/>
            <a:ext cx="284112" cy="186689"/>
          </a:xfrm>
          <a:prstGeom prst="rect">
            <a:avLst/>
          </a:prstGeom>
          <a:noFill/>
        </p:spPr>
        <p:txBody>
          <a:bodyPr wrap="none" lIns="0" rIns="0" tIns="0" bIns="0">
            <a:spAutoFit/>
          </a:bodyPr>
          <a:lstStyle/>
          <a:p>
            <a:r>
              <a:rPr sz="1100" b="0">
                <a:solidFill>
                  <a:srgbClr val="2E2E2E"/>
                </a:solidFill>
                <a:latin typeface="Calibri"/>
              </a:rPr>
              <a:t>, a -</a:t>
            </a:r>
          </a:p>
        </p:txBody>
      </p:sp>
      <p:pic>
        <p:nvPicPr>
          <p:cNvPr id="69" name="Picture 68" descr="lock.png"/>
          <p:cNvPicPr>
            <a:picLocks noChangeAspect="1"/>
          </p:cNvPicPr>
          <p:nvPr/>
        </p:nvPicPr>
        <p:blipFill>
          <a:blip r:embed="rId4"/>
          <a:stretch>
            <a:fillRect/>
          </a:stretch>
        </p:blipFill>
        <p:spPr>
          <a:xfrm>
            <a:off x="4550757" y="1827554"/>
            <a:ext cx="128699" cy="187198"/>
          </a:xfrm>
          <a:prstGeom prst="rect">
            <a:avLst/>
          </a:prstGeom>
        </p:spPr>
      </p:pic>
      <p:sp>
        <p:nvSpPr>
          <p:cNvPr id="70" name="TextBox 69"/>
          <p:cNvSpPr txBox="1"/>
          <p:nvPr/>
        </p:nvSpPr>
        <p:spPr>
          <a:xfrm>
            <a:off x="4718252" y="1837332"/>
            <a:ext cx="2932137" cy="186689"/>
          </a:xfrm>
          <a:prstGeom prst="rect">
            <a:avLst/>
          </a:prstGeom>
          <a:noFill/>
        </p:spPr>
        <p:txBody>
          <a:bodyPr wrap="none" lIns="0" rIns="0" tIns="0" bIns="0">
            <a:spAutoFit/>
          </a:bodyPr>
          <a:lstStyle/>
          <a:p>
            <a:r>
              <a:rPr sz="1100" b="0">
                <a:solidFill>
                  <a:srgbClr val="2E2E2E"/>
                </a:solidFill>
                <a:latin typeface="Calibri"/>
              </a:rPr>
              <a:t>BPS gap, and 'Flexible Partial Dentures' surrenders</a:t>
            </a:r>
          </a:p>
        </p:txBody>
      </p:sp>
      <p:pic>
        <p:nvPicPr>
          <p:cNvPr id="71" name="Picture 70" descr="lock.png"/>
          <p:cNvPicPr>
            <a:picLocks noChangeAspect="1"/>
          </p:cNvPicPr>
          <p:nvPr/>
        </p:nvPicPr>
        <p:blipFill>
          <a:blip r:embed="rId4"/>
          <a:stretch>
            <a:fillRect/>
          </a:stretch>
        </p:blipFill>
        <p:spPr>
          <a:xfrm>
            <a:off x="7598441" y="1827554"/>
            <a:ext cx="128699" cy="187198"/>
          </a:xfrm>
          <a:prstGeom prst="rect">
            <a:avLst/>
          </a:prstGeom>
        </p:spPr>
      </p:pic>
      <p:sp>
        <p:nvSpPr>
          <p:cNvPr id="72" name="TextBox 71"/>
          <p:cNvSpPr txBox="1"/>
          <p:nvPr/>
        </p:nvSpPr>
        <p:spPr>
          <a:xfrm>
            <a:off x="7765937" y="1837332"/>
            <a:ext cx="1201985" cy="186689"/>
          </a:xfrm>
          <a:prstGeom prst="rect">
            <a:avLst/>
          </a:prstGeom>
          <a:noFill/>
        </p:spPr>
        <p:txBody>
          <a:bodyPr wrap="none" lIns="0" rIns="0" tIns="0" bIns="0">
            <a:spAutoFit/>
          </a:bodyPr>
          <a:lstStyle/>
          <a:p>
            <a:r>
              <a:rPr sz="1100" b="0">
                <a:solidFill>
                  <a:srgbClr val="2E2E2E"/>
                </a:solidFill>
                <a:latin typeface="Calibri"/>
              </a:rPr>
              <a:t>BPS of product type</a:t>
            </a:r>
          </a:p>
        </p:txBody>
      </p:sp>
      <p:sp>
        <p:nvSpPr>
          <p:cNvPr id="73" name="TextBox 72"/>
          <p:cNvSpPr txBox="1"/>
          <p:nvPr/>
        </p:nvSpPr>
        <p:spPr>
          <a:xfrm>
            <a:off x="190500" y="2004972"/>
            <a:ext cx="9288487" cy="186689"/>
          </a:xfrm>
          <a:prstGeom prst="rect">
            <a:avLst/>
          </a:prstGeom>
          <a:noFill/>
        </p:spPr>
        <p:txBody>
          <a:bodyPr wrap="none" lIns="0" rIns="0" tIns="0" bIns="0">
            <a:spAutoFit/>
          </a:bodyPr>
          <a:lstStyle/>
          <a:p>
            <a:r>
              <a:rPr sz="1100" b="0">
                <a:solidFill>
                  <a:srgbClr val="2E2E2E"/>
                </a:solidFill>
                <a:latin typeface="Calibri"/>
              </a:rPr>
              <a:t>share between 2026 and 2036. Because these lines still carry meaningful volume, the drag is absorbed by the whole category: blended growth sits below what the</a:t>
            </a:r>
          </a:p>
        </p:txBody>
      </p:sp>
      <p:sp>
        <p:nvSpPr>
          <p:cNvPr id="74" name="TextBox 73"/>
          <p:cNvSpPr txBox="1"/>
          <p:nvPr/>
        </p:nvSpPr>
        <p:spPr>
          <a:xfrm>
            <a:off x="190500" y="2172613"/>
            <a:ext cx="9298037" cy="186689"/>
          </a:xfrm>
          <a:prstGeom prst="rect">
            <a:avLst/>
          </a:prstGeom>
          <a:noFill/>
        </p:spPr>
        <p:txBody>
          <a:bodyPr wrap="none" lIns="0" rIns="0" tIns="0" bIns="0">
            <a:spAutoFit/>
          </a:bodyPr>
          <a:lstStyle/>
          <a:p>
            <a:r>
              <a:rPr sz="1100" b="0">
                <a:solidFill>
                  <a:srgbClr val="2E2E2E"/>
                </a:solidFill>
                <a:latin typeface="Calibri"/>
              </a:rPr>
              <a:t>leading lines achieve on their own. Rationalising or repositioning the lagging end of a 4-line portfolio is therefore a precondition for realising the headline forecast.</a:t>
            </a:r>
          </a:p>
        </p:txBody>
      </p:sp>
      <p:sp>
        <p:nvSpPr>
          <p:cNvPr id="75" name="TextBox 74"/>
          <p:cNvSpPr txBox="1"/>
          <p:nvPr/>
        </p:nvSpPr>
        <p:spPr>
          <a:xfrm>
            <a:off x="190500" y="3498419"/>
            <a:ext cx="1731590" cy="186689"/>
          </a:xfrm>
          <a:prstGeom prst="rect">
            <a:avLst/>
          </a:prstGeom>
          <a:noFill/>
        </p:spPr>
        <p:txBody>
          <a:bodyPr wrap="none" lIns="0" rIns="0" tIns="0" bIns="0">
            <a:spAutoFit/>
          </a:bodyPr>
          <a:lstStyle/>
          <a:p>
            <a:r>
              <a:rPr sz="1100" b="0">
                <a:solidFill>
                  <a:srgbClr val="2E2E2E"/>
                </a:solidFill>
                <a:latin typeface="Calibri"/>
              </a:rPr>
              <a:t>'North America' grows at just</a:t>
            </a:r>
          </a:p>
        </p:txBody>
      </p:sp>
      <p:pic>
        <p:nvPicPr>
          <p:cNvPr id="76" name="Picture 75" descr="lock.png"/>
          <p:cNvPicPr>
            <a:picLocks noChangeAspect="1"/>
          </p:cNvPicPr>
          <p:nvPr/>
        </p:nvPicPr>
        <p:blipFill>
          <a:blip r:embed="rId4"/>
          <a:stretch>
            <a:fillRect/>
          </a:stretch>
        </p:blipFill>
        <p:spPr>
          <a:xfrm>
            <a:off x="1870142" y="3488640"/>
            <a:ext cx="128699" cy="187198"/>
          </a:xfrm>
          <a:prstGeom prst="rect">
            <a:avLst/>
          </a:prstGeom>
        </p:spPr>
      </p:pic>
      <p:sp>
        <p:nvSpPr>
          <p:cNvPr id="77" name="TextBox 76"/>
          <p:cNvSpPr txBox="1"/>
          <p:nvPr/>
        </p:nvSpPr>
        <p:spPr>
          <a:xfrm>
            <a:off x="2037637" y="3498419"/>
            <a:ext cx="469907" cy="186689"/>
          </a:xfrm>
          <a:prstGeom prst="rect">
            <a:avLst/>
          </a:prstGeom>
          <a:noFill/>
        </p:spPr>
        <p:txBody>
          <a:bodyPr wrap="none" lIns="0" rIns="0" tIns="0" bIns="0">
            <a:spAutoFit/>
          </a:bodyPr>
          <a:lstStyle/>
          <a:p>
            <a:r>
              <a:rPr sz="1100" b="0">
                <a:solidFill>
                  <a:srgbClr val="2E2E2E"/>
                </a:solidFill>
                <a:latin typeface="Calibri"/>
              </a:rPr>
              <a:t>CAGR -</a:t>
            </a:r>
          </a:p>
        </p:txBody>
      </p:sp>
      <p:pic>
        <p:nvPicPr>
          <p:cNvPr id="78" name="Picture 77" descr="lock.png"/>
          <p:cNvPicPr>
            <a:picLocks noChangeAspect="1"/>
          </p:cNvPicPr>
          <p:nvPr/>
        </p:nvPicPr>
        <p:blipFill>
          <a:blip r:embed="rId4"/>
          <a:stretch>
            <a:fillRect/>
          </a:stretch>
        </p:blipFill>
        <p:spPr>
          <a:xfrm>
            <a:off x="2455597" y="3488640"/>
            <a:ext cx="128699" cy="187198"/>
          </a:xfrm>
          <a:prstGeom prst="rect">
            <a:avLst/>
          </a:prstGeom>
        </p:spPr>
      </p:pic>
      <p:sp>
        <p:nvSpPr>
          <p:cNvPr id="79" name="TextBox 78"/>
          <p:cNvSpPr txBox="1"/>
          <p:nvPr/>
        </p:nvSpPr>
        <p:spPr>
          <a:xfrm>
            <a:off x="2623093" y="3498419"/>
            <a:ext cx="6616997" cy="186689"/>
          </a:xfrm>
          <a:prstGeom prst="rect">
            <a:avLst/>
          </a:prstGeom>
          <a:noFill/>
        </p:spPr>
        <p:txBody>
          <a:bodyPr wrap="none" lIns="0" rIns="0" tIns="0" bIns="0">
            <a:spAutoFit/>
          </a:bodyPr>
          <a:lstStyle/>
          <a:p>
            <a:r>
              <a:rPr sz="1100" b="0">
                <a:solidFill>
                  <a:srgbClr val="2E2E2E"/>
                </a:solidFill>
                <a:latin typeface="Calibri"/>
              </a:rPr>
              <a:t>BPS against the market and 3 of 6 regions sit below the market pace altogether. Demand is therefore not uniformly</a:t>
            </a:r>
          </a:p>
        </p:txBody>
      </p:sp>
      <p:sp>
        <p:nvSpPr>
          <p:cNvPr id="80" name="TextBox 79"/>
          <p:cNvSpPr txBox="1"/>
          <p:nvPr/>
        </p:nvSpPr>
        <p:spPr>
          <a:xfrm>
            <a:off x="190500" y="3666059"/>
            <a:ext cx="8618091" cy="186689"/>
          </a:xfrm>
          <a:prstGeom prst="rect">
            <a:avLst/>
          </a:prstGeom>
          <a:noFill/>
        </p:spPr>
        <p:txBody>
          <a:bodyPr wrap="none" lIns="0" rIns="0" tIns="0" bIns="0">
            <a:spAutoFit/>
          </a:bodyPr>
          <a:lstStyle/>
          <a:p>
            <a:r>
              <a:rPr sz="1100" b="0">
                <a:solidFill>
                  <a:srgbClr val="2E2E2E"/>
                </a:solidFill>
                <a:latin typeface="Calibri"/>
              </a:rPr>
              <a:t>available: suppliers carrying a broad geographic footprint fund presence in slow regions out of returns earned in the fast ones. With 'North America' at</a:t>
            </a:r>
          </a:p>
        </p:txBody>
      </p:sp>
      <p:pic>
        <p:nvPicPr>
          <p:cNvPr id="81" name="Picture 80" descr="lock.png"/>
          <p:cNvPicPr>
            <a:picLocks noChangeAspect="1"/>
          </p:cNvPicPr>
          <p:nvPr/>
        </p:nvPicPr>
        <p:blipFill>
          <a:blip r:embed="rId4"/>
          <a:stretch>
            <a:fillRect/>
          </a:stretch>
        </p:blipFill>
        <p:spPr>
          <a:xfrm>
            <a:off x="8756642" y="3656280"/>
            <a:ext cx="128699" cy="187198"/>
          </a:xfrm>
          <a:prstGeom prst="rect">
            <a:avLst/>
          </a:prstGeom>
        </p:spPr>
      </p:pic>
      <p:sp>
        <p:nvSpPr>
          <p:cNvPr id="82" name="TextBox 81"/>
          <p:cNvSpPr txBox="1"/>
          <p:nvPr/>
        </p:nvSpPr>
        <p:spPr>
          <a:xfrm>
            <a:off x="8924138" y="3666059"/>
            <a:ext cx="564058" cy="186689"/>
          </a:xfrm>
          <a:prstGeom prst="rect">
            <a:avLst/>
          </a:prstGeom>
          <a:noFill/>
        </p:spPr>
        <p:txBody>
          <a:bodyPr wrap="none" lIns="0" rIns="0" tIns="0" bIns="0">
            <a:spAutoFit/>
          </a:bodyPr>
          <a:lstStyle/>
          <a:p>
            <a:r>
              <a:rPr sz="1100" b="0">
                <a:solidFill>
                  <a:srgbClr val="2E2E2E"/>
                </a:solidFill>
                <a:latin typeface="Calibri"/>
              </a:rPr>
              <a:t>of value,</a:t>
            </a:r>
          </a:p>
        </p:txBody>
      </p:sp>
      <p:sp>
        <p:nvSpPr>
          <p:cNvPr id="83" name="TextBox 82"/>
          <p:cNvSpPr txBox="1"/>
          <p:nvPr/>
        </p:nvSpPr>
        <p:spPr>
          <a:xfrm>
            <a:off x="190500" y="3833699"/>
            <a:ext cx="5170338" cy="186689"/>
          </a:xfrm>
          <a:prstGeom prst="rect">
            <a:avLst/>
          </a:prstGeom>
          <a:noFill/>
        </p:spPr>
        <p:txBody>
          <a:bodyPr wrap="none" lIns="0" rIns="0" tIns="0" bIns="0">
            <a:spAutoFit/>
          </a:bodyPr>
          <a:lstStyle/>
          <a:p>
            <a:r>
              <a:rPr sz="1100" b="0">
                <a:solidFill>
                  <a:srgbClr val="2E2E2E"/>
                </a:solidFill>
                <a:latin typeface="Calibri"/>
              </a:rPr>
              <a:t>a shortfall in a single leading region is difficult to offset elsewhere in the forecast window.</a:t>
            </a:r>
          </a:p>
        </p:txBody>
      </p:sp>
      <p:sp>
        <p:nvSpPr>
          <p:cNvPr id="84" name="TextBox 83"/>
          <p:cNvSpPr txBox="1"/>
          <p:nvPr/>
        </p:nvSpPr>
        <p:spPr>
          <a:xfrm>
            <a:off x="190500" y="5250774"/>
            <a:ext cx="3337594" cy="186689"/>
          </a:xfrm>
          <a:prstGeom prst="rect">
            <a:avLst/>
          </a:prstGeom>
          <a:noFill/>
        </p:spPr>
        <p:txBody>
          <a:bodyPr wrap="none" lIns="0" rIns="0" tIns="0" bIns="0">
            <a:spAutoFit/>
          </a:bodyPr>
          <a:lstStyle/>
          <a:p>
            <a:r>
              <a:rPr sz="1100" b="0">
                <a:solidFill>
                  <a:srgbClr val="2E2E2E"/>
                </a:solidFill>
                <a:latin typeface="Calibri"/>
              </a:rPr>
              <a:t>The market is concentrated: 'North America' accounts for</a:t>
            </a:r>
          </a:p>
        </p:txBody>
      </p:sp>
      <p:pic>
        <p:nvPicPr>
          <p:cNvPr id="85" name="Picture 84" descr="lock.png"/>
          <p:cNvPicPr>
            <a:picLocks noChangeAspect="1"/>
          </p:cNvPicPr>
          <p:nvPr/>
        </p:nvPicPr>
        <p:blipFill>
          <a:blip r:embed="rId4"/>
          <a:stretch>
            <a:fillRect/>
          </a:stretch>
        </p:blipFill>
        <p:spPr>
          <a:xfrm>
            <a:off x="3476146" y="5240995"/>
            <a:ext cx="128699" cy="187198"/>
          </a:xfrm>
          <a:prstGeom prst="rect">
            <a:avLst/>
          </a:prstGeom>
        </p:spPr>
      </p:pic>
      <p:sp>
        <p:nvSpPr>
          <p:cNvPr id="86" name="TextBox 85"/>
          <p:cNvSpPr txBox="1"/>
          <p:nvPr/>
        </p:nvSpPr>
        <p:spPr>
          <a:xfrm>
            <a:off x="3643642" y="5250774"/>
            <a:ext cx="2957512" cy="186689"/>
          </a:xfrm>
          <a:prstGeom prst="rect">
            <a:avLst/>
          </a:prstGeom>
          <a:noFill/>
        </p:spPr>
        <p:txBody>
          <a:bodyPr wrap="none" lIns="0" rIns="0" tIns="0" bIns="0">
            <a:spAutoFit/>
          </a:bodyPr>
          <a:lstStyle/>
          <a:p>
            <a:r>
              <a:rPr sz="1100" b="0">
                <a:solidFill>
                  <a:srgbClr val="2E2E2E"/>
                </a:solidFill>
                <a:latin typeface="Calibri"/>
              </a:rPr>
              <a:t>of 2036 value and the leading product type line for</a:t>
            </a:r>
          </a:p>
        </p:txBody>
      </p:sp>
      <p:pic>
        <p:nvPicPr>
          <p:cNvPr id="87" name="Picture 86" descr="lock.png"/>
          <p:cNvPicPr>
            <a:picLocks noChangeAspect="1"/>
          </p:cNvPicPr>
          <p:nvPr/>
        </p:nvPicPr>
        <p:blipFill>
          <a:blip r:embed="rId4"/>
          <a:stretch>
            <a:fillRect/>
          </a:stretch>
        </p:blipFill>
        <p:spPr>
          <a:xfrm>
            <a:off x="6549206" y="5240995"/>
            <a:ext cx="128699" cy="187198"/>
          </a:xfrm>
          <a:prstGeom prst="rect">
            <a:avLst/>
          </a:prstGeom>
        </p:spPr>
      </p:pic>
      <p:sp>
        <p:nvSpPr>
          <p:cNvPr id="88" name="TextBox 87"/>
          <p:cNvSpPr txBox="1"/>
          <p:nvPr/>
        </p:nvSpPr>
        <p:spPr>
          <a:xfrm>
            <a:off x="6716702" y="5250774"/>
            <a:ext cx="2445058" cy="186689"/>
          </a:xfrm>
          <a:prstGeom prst="rect">
            <a:avLst/>
          </a:prstGeom>
          <a:noFill/>
        </p:spPr>
        <p:txBody>
          <a:bodyPr wrap="none" lIns="0" rIns="0" tIns="0" bIns="0">
            <a:spAutoFit/>
          </a:bodyPr>
          <a:lstStyle/>
          <a:p>
            <a:r>
              <a:rPr sz="1100" b="0">
                <a:solidFill>
                  <a:srgbClr val="2E2E2E"/>
                </a:solidFill>
                <a:latin typeface="Calibri"/>
              </a:rPr>
              <a:t>of its segment. Average realisation moves</a:t>
            </a:r>
          </a:p>
        </p:txBody>
      </p:sp>
      <p:pic>
        <p:nvPicPr>
          <p:cNvPr id="89" name="Picture 88" descr="lock.png"/>
          <p:cNvPicPr>
            <a:picLocks noChangeAspect="1"/>
          </p:cNvPicPr>
          <p:nvPr/>
        </p:nvPicPr>
        <p:blipFill>
          <a:blip r:embed="rId4"/>
          <a:stretch>
            <a:fillRect/>
          </a:stretch>
        </p:blipFill>
        <p:spPr>
          <a:xfrm>
            <a:off x="177032" y="5408635"/>
            <a:ext cx="128699" cy="187198"/>
          </a:xfrm>
          <a:prstGeom prst="rect">
            <a:avLst/>
          </a:prstGeom>
        </p:spPr>
      </p:pic>
      <p:sp>
        <p:nvSpPr>
          <p:cNvPr id="90" name="TextBox 89"/>
          <p:cNvSpPr txBox="1"/>
          <p:nvPr/>
        </p:nvSpPr>
        <p:spPr>
          <a:xfrm>
            <a:off x="344528" y="5418414"/>
            <a:ext cx="9124776" cy="186689"/>
          </a:xfrm>
          <a:prstGeom prst="rect">
            <a:avLst/>
          </a:prstGeom>
          <a:noFill/>
        </p:spPr>
        <p:txBody>
          <a:bodyPr wrap="none" lIns="0" rIns="0" tIns="0" bIns="0">
            <a:spAutoFit/>
          </a:bodyPr>
          <a:lstStyle/>
          <a:p>
            <a:r>
              <a:rPr sz="1100" b="0">
                <a:solidFill>
                  <a:srgbClr val="2E2E2E"/>
                </a:solidFill>
                <a:latin typeface="Calibri"/>
              </a:rPr>
              <a:t>a year, so cost movements cannot be passed on evenly across 6 regions. The practical constraint is the same in either case commercial terms set for the market</a:t>
            </a:r>
          </a:p>
        </p:txBody>
      </p:sp>
      <p:sp>
        <p:nvSpPr>
          <p:cNvPr id="91" name="TextBox 90"/>
          <p:cNvSpPr txBox="1"/>
          <p:nvPr/>
        </p:nvSpPr>
        <p:spPr>
          <a:xfrm>
            <a:off x="190500" y="5586054"/>
            <a:ext cx="6191894" cy="186689"/>
          </a:xfrm>
          <a:prstGeom prst="rect">
            <a:avLst/>
          </a:prstGeom>
          <a:noFill/>
        </p:spPr>
        <p:txBody>
          <a:bodyPr wrap="none" lIns="0" rIns="0" tIns="0" bIns="0">
            <a:spAutoFit/>
          </a:bodyPr>
          <a:lstStyle/>
          <a:p>
            <a:r>
              <a:rPr sz="1100" b="0">
                <a:solidFill>
                  <a:srgbClr val="2E2E2E"/>
                </a:solidFill>
                <a:latin typeface="Calibri"/>
              </a:rPr>
              <a:t>as a whole underserve part of it, and margin is lost in the mismatch rather than in the headline growth rate.</a:t>
            </a:r>
          </a:p>
        </p:txBody>
      </p:sp>
    </p:spTree>
  </p:cSld>
  <p:clrMapOvr>
    <a:masterClrMapping/>
  </p:clrMapOvr>
</p:sld>
</file>

<file path=ppt/slides/slide2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Opportunities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key opportunities in the global market and the likelihood of their impact across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25515"/>
            <a:ext cx="2038350" cy="255552"/>
          </a:xfrm>
          <a:prstGeom prst="roundRect">
            <a:avLst>
              <a:gd name="adj" fmla="val 1869"/>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142875" y="1025515"/>
            <a:ext cx="2038350" cy="255552"/>
          </a:xfrm>
          <a:prstGeom prst="rect">
            <a:avLst/>
          </a:prstGeom>
          <a:noFill/>
        </p:spPr>
        <p:txBody>
          <a:bodyPr wrap="square" lIns="28575" rIns="28575" tIns="9525" bIns="9525" anchor="ctr">
            <a:spAutoFit/>
          </a:bodyPr>
          <a:lstStyle/>
          <a:p>
            <a:pPr algn="ctr"/>
            <a:r>
              <a:rPr sz="1100" b="1">
                <a:solidFill>
                  <a:srgbClr val="FFFFFF"/>
                </a:solidFill>
                <a:latin typeface="Calibri"/>
              </a:rPr>
              <a:t>Market Opportunities</a:t>
            </a:r>
          </a:p>
        </p:txBody>
      </p:sp>
      <p:sp>
        <p:nvSpPr>
          <p:cNvPr id="13" name="Rectangle 12"/>
          <p:cNvSpPr/>
          <p:nvPr/>
        </p:nvSpPr>
        <p:spPr>
          <a:xfrm>
            <a:off x="142875" y="1390589"/>
            <a:ext cx="9496425" cy="255552"/>
          </a:xfrm>
          <a:prstGeom prst="rect">
            <a:avLst/>
          </a:prstGeom>
          <a:solidFill>
            <a:srgbClr val="E8EEF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76225" y="139058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U.S. Carries the Largest Absolute Opportunity</a:t>
            </a:r>
          </a:p>
        </p:txBody>
      </p:sp>
      <p:sp>
        <p:nvSpPr>
          <p:cNvPr id="15" name="TextBox 14"/>
          <p:cNvSpPr txBox="1"/>
          <p:nvPr/>
        </p:nvSpPr>
        <p:spPr>
          <a:xfrm>
            <a:off x="161925" y="1700902"/>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16" name="TextBox 15"/>
          <p:cNvSpPr txBox="1"/>
          <p:nvPr/>
        </p:nvSpPr>
        <p:spPr>
          <a:xfrm>
            <a:off x="9810750" y="139058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17" name="TextBox 16"/>
          <p:cNvSpPr txBox="1"/>
          <p:nvPr/>
        </p:nvSpPr>
        <p:spPr>
          <a:xfrm>
            <a:off x="981075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18" name="Rectangle 17"/>
          <p:cNvSpPr/>
          <p:nvPr/>
        </p:nvSpPr>
        <p:spPr>
          <a:xfrm>
            <a:off x="9810750" y="1938200"/>
            <a:ext cx="990600" cy="310313"/>
          </a:xfrm>
          <a:prstGeom prst="rect">
            <a:avLst/>
          </a:prstGeom>
          <a:solidFill>
            <a:srgbClr val="FBF0C4"/>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9810750" y="193820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20" name="TextBox 19"/>
          <p:cNvSpPr txBox="1"/>
          <p:nvPr/>
        </p:nvSpPr>
        <p:spPr>
          <a:xfrm>
            <a:off x="1089660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21" name="Rectangle 20"/>
          <p:cNvSpPr/>
          <p:nvPr/>
        </p:nvSpPr>
        <p:spPr>
          <a:xfrm>
            <a:off x="10896600" y="193820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0896600" y="193820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23" name="TextBox 22"/>
          <p:cNvSpPr txBox="1"/>
          <p:nvPr/>
        </p:nvSpPr>
        <p:spPr>
          <a:xfrm>
            <a:off x="981075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24" name="Rectangle 23"/>
          <p:cNvSpPr/>
          <p:nvPr/>
        </p:nvSpPr>
        <p:spPr>
          <a:xfrm>
            <a:off x="981075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9810750" y="245843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26" name="TextBox 25"/>
          <p:cNvSpPr txBox="1"/>
          <p:nvPr/>
        </p:nvSpPr>
        <p:spPr>
          <a:xfrm>
            <a:off x="1089660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27" name="Rectangle 26"/>
          <p:cNvSpPr/>
          <p:nvPr/>
        </p:nvSpPr>
        <p:spPr>
          <a:xfrm>
            <a:off x="1089660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896600" y="245843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cxnSp>
        <p:nvCxnSpPr>
          <p:cNvPr id="29" name="Connector 28"/>
          <p:cNvCxnSpPr/>
          <p:nvPr/>
        </p:nvCxnSpPr>
        <p:spPr>
          <a:xfrm>
            <a:off x="142875" y="3088183"/>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42875" y="3142944"/>
            <a:ext cx="9496425" cy="255552"/>
          </a:xfrm>
          <a:prstGeom prst="rect">
            <a:avLst/>
          </a:prstGeom>
          <a:solidFill>
            <a:srgbClr val="E8EEF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76225" y="3142944"/>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Saudi Arabia Offers Under-penetrated, Above-pace Headroom</a:t>
            </a:r>
          </a:p>
        </p:txBody>
      </p:sp>
      <p:sp>
        <p:nvSpPr>
          <p:cNvPr id="32" name="TextBox 31"/>
          <p:cNvSpPr txBox="1"/>
          <p:nvPr/>
        </p:nvSpPr>
        <p:spPr>
          <a:xfrm>
            <a:off x="161925" y="3453257"/>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3" name="TextBox 32"/>
          <p:cNvSpPr txBox="1"/>
          <p:nvPr/>
        </p:nvSpPr>
        <p:spPr>
          <a:xfrm>
            <a:off x="9810750" y="3142944"/>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34" name="TextBox 33"/>
          <p:cNvSpPr txBox="1"/>
          <p:nvPr/>
        </p:nvSpPr>
        <p:spPr>
          <a:xfrm>
            <a:off x="981075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35" name="Rectangle 34"/>
          <p:cNvSpPr/>
          <p:nvPr/>
        </p:nvSpPr>
        <p:spPr>
          <a:xfrm>
            <a:off x="9810750" y="3690555"/>
            <a:ext cx="990600" cy="310313"/>
          </a:xfrm>
          <a:prstGeom prst="rect">
            <a:avLst/>
          </a:prstGeom>
          <a:solidFill>
            <a:srgbClr val="C99A0A"/>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9810750" y="3690555"/>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37" name="TextBox 36"/>
          <p:cNvSpPr txBox="1"/>
          <p:nvPr/>
        </p:nvSpPr>
        <p:spPr>
          <a:xfrm>
            <a:off x="1089660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38" name="Rectangle 37"/>
          <p:cNvSpPr/>
          <p:nvPr/>
        </p:nvSpPr>
        <p:spPr>
          <a:xfrm>
            <a:off x="1089660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10896600" y="369055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40" name="TextBox 39"/>
          <p:cNvSpPr txBox="1"/>
          <p:nvPr/>
        </p:nvSpPr>
        <p:spPr>
          <a:xfrm>
            <a:off x="981075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41" name="Rectangle 40"/>
          <p:cNvSpPr/>
          <p:nvPr/>
        </p:nvSpPr>
        <p:spPr>
          <a:xfrm>
            <a:off x="9810750" y="421078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9810750" y="421078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43" name="TextBox 42"/>
          <p:cNvSpPr txBox="1"/>
          <p:nvPr/>
        </p:nvSpPr>
        <p:spPr>
          <a:xfrm>
            <a:off x="1089660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44" name="Rectangle 43"/>
          <p:cNvSpPr/>
          <p:nvPr/>
        </p:nvSpPr>
        <p:spPr>
          <a:xfrm>
            <a:off x="10896600" y="421078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10896600" y="421078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cxnSp>
        <p:nvCxnSpPr>
          <p:cNvPr id="46" name="Connector 45"/>
          <p:cNvCxnSpPr/>
          <p:nvPr/>
        </p:nvCxnSpPr>
        <p:spPr>
          <a:xfrm>
            <a:off x="142875" y="4840538"/>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7" name="Rectangle 46"/>
          <p:cNvSpPr/>
          <p:nvPr/>
        </p:nvSpPr>
        <p:spPr>
          <a:xfrm>
            <a:off x="142875" y="4895299"/>
            <a:ext cx="9496425" cy="255552"/>
          </a:xfrm>
          <a:prstGeom prst="rect">
            <a:avLst/>
          </a:prstGeom>
          <a:solidFill>
            <a:srgbClr val="E8EEF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76225" y="489529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Dental Hospitals Opens the Fastest Route to Market</a:t>
            </a:r>
          </a:p>
        </p:txBody>
      </p:sp>
      <p:sp>
        <p:nvSpPr>
          <p:cNvPr id="49" name="TextBox 48"/>
          <p:cNvSpPr txBox="1"/>
          <p:nvPr/>
        </p:nvSpPr>
        <p:spPr>
          <a:xfrm>
            <a:off x="161925" y="5205612"/>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50" name="TextBox 49"/>
          <p:cNvSpPr txBox="1"/>
          <p:nvPr/>
        </p:nvSpPr>
        <p:spPr>
          <a:xfrm>
            <a:off x="9810750" y="489529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51" name="TextBox 50"/>
          <p:cNvSpPr txBox="1"/>
          <p:nvPr/>
        </p:nvSpPr>
        <p:spPr>
          <a:xfrm>
            <a:off x="981075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52" name="Rectangle 51"/>
          <p:cNvSpPr/>
          <p:nvPr/>
        </p:nvSpPr>
        <p:spPr>
          <a:xfrm>
            <a:off x="981075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9810750" y="544291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54" name="TextBox 53"/>
          <p:cNvSpPr txBox="1"/>
          <p:nvPr/>
        </p:nvSpPr>
        <p:spPr>
          <a:xfrm>
            <a:off x="1089660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55" name="Rectangle 54"/>
          <p:cNvSpPr/>
          <p:nvPr/>
        </p:nvSpPr>
        <p:spPr>
          <a:xfrm>
            <a:off x="1089660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10896600" y="544291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57" name="TextBox 56"/>
          <p:cNvSpPr txBox="1"/>
          <p:nvPr/>
        </p:nvSpPr>
        <p:spPr>
          <a:xfrm>
            <a:off x="981075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58" name="Rectangle 57"/>
          <p:cNvSpPr/>
          <p:nvPr/>
        </p:nvSpPr>
        <p:spPr>
          <a:xfrm>
            <a:off x="9810750" y="596314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9810750" y="596314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60" name="TextBox 59"/>
          <p:cNvSpPr txBox="1"/>
          <p:nvPr/>
        </p:nvSpPr>
        <p:spPr>
          <a:xfrm>
            <a:off x="1089660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61" name="Rectangle 60"/>
          <p:cNvSpPr/>
          <p:nvPr/>
        </p:nvSpPr>
        <p:spPr>
          <a:xfrm>
            <a:off x="10896600" y="5963140"/>
            <a:ext cx="990600" cy="310313"/>
          </a:xfrm>
          <a:prstGeom prst="rect">
            <a:avLst/>
          </a:prstGeom>
          <a:solidFill>
            <a:srgbClr val="C99A0A"/>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10896600" y="596314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4" name="TextBox 63"/>
          <p:cNvSpPr txBox="1"/>
          <p:nvPr/>
        </p:nvSpPr>
        <p:spPr>
          <a:xfrm>
            <a:off x="190500" y="1746064"/>
            <a:ext cx="662012" cy="186689"/>
          </a:xfrm>
          <a:prstGeom prst="rect">
            <a:avLst/>
          </a:prstGeom>
          <a:noFill/>
        </p:spPr>
        <p:txBody>
          <a:bodyPr wrap="none" lIns="0" rIns="0" tIns="0" bIns="0">
            <a:spAutoFit/>
          </a:bodyPr>
          <a:lstStyle/>
          <a:p>
            <a:r>
              <a:rPr sz="1100" b="0">
                <a:solidFill>
                  <a:srgbClr val="2E2E2E"/>
                </a:solidFill>
                <a:latin typeface="Calibri"/>
              </a:rPr>
              <a:t>'U.S.' adds</a:t>
            </a:r>
          </a:p>
        </p:txBody>
      </p:sp>
      <p:pic>
        <p:nvPicPr>
          <p:cNvPr id="65" name="Picture 64" descr="lock.png"/>
          <p:cNvPicPr>
            <a:picLocks noChangeAspect="1"/>
          </p:cNvPicPr>
          <p:nvPr/>
        </p:nvPicPr>
        <p:blipFill>
          <a:blip r:embed="rId4"/>
          <a:stretch>
            <a:fillRect/>
          </a:stretch>
        </p:blipFill>
        <p:spPr>
          <a:xfrm>
            <a:off x="800563" y="1736285"/>
            <a:ext cx="128699" cy="187198"/>
          </a:xfrm>
          <a:prstGeom prst="rect">
            <a:avLst/>
          </a:prstGeom>
        </p:spPr>
      </p:pic>
      <p:sp>
        <p:nvSpPr>
          <p:cNvPr id="66" name="TextBox 65"/>
          <p:cNvSpPr txBox="1"/>
          <p:nvPr/>
        </p:nvSpPr>
        <p:spPr>
          <a:xfrm>
            <a:off x="968059" y="1746064"/>
            <a:ext cx="8433097" cy="186689"/>
          </a:xfrm>
          <a:prstGeom prst="rect">
            <a:avLst/>
          </a:prstGeom>
          <a:noFill/>
        </p:spPr>
        <p:txBody>
          <a:bodyPr wrap="none" lIns="0" rIns="0" tIns="0" bIns="0">
            <a:spAutoFit/>
          </a:bodyPr>
          <a:lstStyle/>
          <a:p>
            <a:r>
              <a:rPr sz="1100" b="0">
                <a:solidFill>
                  <a:srgbClr val="2E2E2E"/>
                </a:solidFill>
                <a:latin typeface="Calibri"/>
              </a:rPr>
              <a:t>US$ Mn between 2026 and 2036 the single largest absolute increment of any geography in the dataset. Capturing it is a question of scale execution</a:t>
            </a:r>
          </a:p>
        </p:txBody>
      </p:sp>
      <p:sp>
        <p:nvSpPr>
          <p:cNvPr id="67" name="TextBox 66"/>
          <p:cNvSpPr txBox="1"/>
          <p:nvPr/>
        </p:nvSpPr>
        <p:spPr>
          <a:xfrm>
            <a:off x="190500" y="1913704"/>
            <a:ext cx="3769245" cy="186689"/>
          </a:xfrm>
          <a:prstGeom prst="rect">
            <a:avLst/>
          </a:prstGeom>
          <a:noFill/>
        </p:spPr>
        <p:txBody>
          <a:bodyPr wrap="none" lIns="0" rIns="0" tIns="0" bIns="0">
            <a:spAutoFit/>
          </a:bodyPr>
          <a:lstStyle/>
          <a:p>
            <a:r>
              <a:rPr sz="1100" b="0">
                <a:solidFill>
                  <a:srgbClr val="2E2E2E"/>
                </a:solidFill>
                <a:latin typeface="Calibri"/>
              </a:rPr>
              <a:t>rather than market creation: demand already exists and grows at</a:t>
            </a:r>
          </a:p>
        </p:txBody>
      </p:sp>
      <p:pic>
        <p:nvPicPr>
          <p:cNvPr id="68" name="Picture 67" descr="lock.png"/>
          <p:cNvPicPr>
            <a:picLocks noChangeAspect="1"/>
          </p:cNvPicPr>
          <p:nvPr/>
        </p:nvPicPr>
        <p:blipFill>
          <a:blip r:embed="rId4"/>
          <a:stretch>
            <a:fillRect/>
          </a:stretch>
        </p:blipFill>
        <p:spPr>
          <a:xfrm>
            <a:off x="3907797" y="1903925"/>
            <a:ext cx="128699" cy="187198"/>
          </a:xfrm>
          <a:prstGeom prst="rect">
            <a:avLst/>
          </a:prstGeom>
        </p:spPr>
      </p:pic>
      <p:sp>
        <p:nvSpPr>
          <p:cNvPr id="69" name="TextBox 68"/>
          <p:cNvSpPr txBox="1"/>
          <p:nvPr/>
        </p:nvSpPr>
        <p:spPr>
          <a:xfrm>
            <a:off x="4075293" y="1913704"/>
            <a:ext cx="5402535" cy="186689"/>
          </a:xfrm>
          <a:prstGeom prst="rect">
            <a:avLst/>
          </a:prstGeom>
          <a:noFill/>
        </p:spPr>
        <p:txBody>
          <a:bodyPr wrap="none" lIns="0" rIns="0" tIns="0" bIns="0">
            <a:spAutoFit/>
          </a:bodyPr>
          <a:lstStyle/>
          <a:p>
            <a:r>
              <a:rPr sz="1100" b="0">
                <a:solidFill>
                  <a:srgbClr val="2E2E2E"/>
                </a:solidFill>
                <a:latin typeface="Calibri"/>
              </a:rPr>
              <a:t>at the market level. Prioritising supply, channel coverage and service levels there converts the</a:t>
            </a:r>
          </a:p>
        </p:txBody>
      </p:sp>
      <p:sp>
        <p:nvSpPr>
          <p:cNvPr id="70" name="TextBox 69"/>
          <p:cNvSpPr txBox="1"/>
          <p:nvPr/>
        </p:nvSpPr>
        <p:spPr>
          <a:xfrm>
            <a:off x="190500" y="2081344"/>
            <a:ext cx="1175246" cy="186689"/>
          </a:xfrm>
          <a:prstGeom prst="rect">
            <a:avLst/>
          </a:prstGeom>
          <a:noFill/>
        </p:spPr>
        <p:txBody>
          <a:bodyPr wrap="none" lIns="0" rIns="0" tIns="0" bIns="0">
            <a:spAutoFit/>
          </a:bodyPr>
          <a:lstStyle/>
          <a:p>
            <a:r>
              <a:rPr sz="1100" b="0">
                <a:solidFill>
                  <a:srgbClr val="2E2E2E"/>
                </a:solidFill>
                <a:latin typeface="Calibri"/>
              </a:rPr>
              <a:t>largest share of the</a:t>
            </a:r>
          </a:p>
        </p:txBody>
      </p:sp>
      <p:pic>
        <p:nvPicPr>
          <p:cNvPr id="71" name="Picture 70" descr="lock.png"/>
          <p:cNvPicPr>
            <a:picLocks noChangeAspect="1"/>
          </p:cNvPicPr>
          <p:nvPr/>
        </p:nvPicPr>
        <p:blipFill>
          <a:blip r:embed="rId4"/>
          <a:stretch>
            <a:fillRect/>
          </a:stretch>
        </p:blipFill>
        <p:spPr>
          <a:xfrm>
            <a:off x="1313797" y="2071565"/>
            <a:ext cx="128699" cy="187198"/>
          </a:xfrm>
          <a:prstGeom prst="rect">
            <a:avLst/>
          </a:prstGeom>
        </p:spPr>
      </p:pic>
      <p:sp>
        <p:nvSpPr>
          <p:cNvPr id="72" name="TextBox 71"/>
          <p:cNvSpPr txBox="1"/>
          <p:nvPr/>
        </p:nvSpPr>
        <p:spPr>
          <a:xfrm>
            <a:off x="1481293" y="2081344"/>
            <a:ext cx="3306489" cy="186689"/>
          </a:xfrm>
          <a:prstGeom prst="rect">
            <a:avLst/>
          </a:prstGeom>
          <a:noFill/>
        </p:spPr>
        <p:txBody>
          <a:bodyPr wrap="none" lIns="0" rIns="0" tIns="0" bIns="0">
            <a:spAutoFit/>
          </a:bodyPr>
          <a:lstStyle/>
          <a:p>
            <a:r>
              <a:rPr sz="1100" b="0">
                <a:solidFill>
                  <a:srgbClr val="2E2E2E"/>
                </a:solidFill>
                <a:latin typeface="Calibri"/>
              </a:rPr>
              <a:t>US$ Mn the whole market adds over the forecast period.</a:t>
            </a:r>
          </a:p>
        </p:txBody>
      </p:sp>
      <p:sp>
        <p:nvSpPr>
          <p:cNvPr id="73" name="TextBox 72"/>
          <p:cNvSpPr txBox="1"/>
          <p:nvPr/>
        </p:nvSpPr>
        <p:spPr>
          <a:xfrm>
            <a:off x="190500" y="3498419"/>
            <a:ext cx="1691754" cy="186689"/>
          </a:xfrm>
          <a:prstGeom prst="rect">
            <a:avLst/>
          </a:prstGeom>
          <a:noFill/>
        </p:spPr>
        <p:txBody>
          <a:bodyPr wrap="none" lIns="0" rIns="0" tIns="0" bIns="0">
            <a:spAutoFit/>
          </a:bodyPr>
          <a:lstStyle/>
          <a:p>
            <a:r>
              <a:rPr sz="1100" b="0">
                <a:solidFill>
                  <a:srgbClr val="2E2E2E"/>
                </a:solidFill>
                <a:latin typeface="Calibri"/>
              </a:rPr>
              <a:t>'Saudi Arabia' compounds at</a:t>
            </a:r>
          </a:p>
        </p:txBody>
      </p:sp>
      <p:pic>
        <p:nvPicPr>
          <p:cNvPr id="74" name="Picture 73" descr="lock.png"/>
          <p:cNvPicPr>
            <a:picLocks noChangeAspect="1"/>
          </p:cNvPicPr>
          <p:nvPr/>
        </p:nvPicPr>
        <p:blipFill>
          <a:blip r:embed="rId4"/>
          <a:stretch>
            <a:fillRect/>
          </a:stretch>
        </p:blipFill>
        <p:spPr>
          <a:xfrm>
            <a:off x="1830305" y="3488640"/>
            <a:ext cx="128699" cy="187198"/>
          </a:xfrm>
          <a:prstGeom prst="rect">
            <a:avLst/>
          </a:prstGeom>
        </p:spPr>
      </p:pic>
      <p:sp>
        <p:nvSpPr>
          <p:cNvPr id="75" name="TextBox 74"/>
          <p:cNvSpPr txBox="1"/>
          <p:nvPr/>
        </p:nvSpPr>
        <p:spPr>
          <a:xfrm>
            <a:off x="1997801" y="3498419"/>
            <a:ext cx="7315207" cy="186689"/>
          </a:xfrm>
          <a:prstGeom prst="rect">
            <a:avLst/>
          </a:prstGeom>
          <a:noFill/>
        </p:spPr>
        <p:txBody>
          <a:bodyPr wrap="none" lIns="0" rIns="0" tIns="0" bIns="0">
            <a:spAutoFit/>
          </a:bodyPr>
          <a:lstStyle/>
          <a:p>
            <a:r>
              <a:rPr sz="1100" b="0">
                <a:solidFill>
                  <a:srgbClr val="2E2E2E"/>
                </a:solidFill>
                <a:latin typeface="Calibri"/>
              </a:rPr>
              <a:t>CAGR from a below-median base one of 9 geographies in the dataset combining above-median growth with below-median size.</a:t>
            </a:r>
          </a:p>
        </p:txBody>
      </p:sp>
      <p:sp>
        <p:nvSpPr>
          <p:cNvPr id="76" name="TextBox 75"/>
          <p:cNvSpPr txBox="1"/>
          <p:nvPr/>
        </p:nvSpPr>
        <p:spPr>
          <a:xfrm>
            <a:off x="190500" y="3666059"/>
            <a:ext cx="5046191" cy="186689"/>
          </a:xfrm>
          <a:prstGeom prst="rect">
            <a:avLst/>
          </a:prstGeom>
          <a:noFill/>
        </p:spPr>
        <p:txBody>
          <a:bodyPr wrap="none" lIns="0" rIns="0" tIns="0" bIns="0">
            <a:spAutoFit/>
          </a:bodyPr>
          <a:lstStyle/>
          <a:p>
            <a:r>
              <a:rPr sz="1100" b="0">
                <a:solidFill>
                  <a:srgbClr val="2E2E2E"/>
                </a:solidFill>
                <a:latin typeface="Calibri"/>
              </a:rPr>
              <a:t>That profile is where share is cheapest to buy: competitive intensity is lower than in the</a:t>
            </a:r>
          </a:p>
        </p:txBody>
      </p:sp>
      <p:pic>
        <p:nvPicPr>
          <p:cNvPr id="77" name="Picture 76" descr="lock.png"/>
          <p:cNvPicPr>
            <a:picLocks noChangeAspect="1"/>
          </p:cNvPicPr>
          <p:nvPr/>
        </p:nvPicPr>
        <p:blipFill>
          <a:blip r:embed="rId4"/>
          <a:stretch>
            <a:fillRect/>
          </a:stretch>
        </p:blipFill>
        <p:spPr>
          <a:xfrm>
            <a:off x="5184742" y="3656280"/>
            <a:ext cx="128699" cy="187198"/>
          </a:xfrm>
          <a:prstGeom prst="rect">
            <a:avLst/>
          </a:prstGeom>
        </p:spPr>
      </p:pic>
      <p:sp>
        <p:nvSpPr>
          <p:cNvPr id="78" name="TextBox 77"/>
          <p:cNvSpPr txBox="1"/>
          <p:nvPr/>
        </p:nvSpPr>
        <p:spPr>
          <a:xfrm>
            <a:off x="5352238" y="3666059"/>
            <a:ext cx="2075929" cy="186689"/>
          </a:xfrm>
          <a:prstGeom prst="rect">
            <a:avLst/>
          </a:prstGeom>
          <a:noFill/>
        </p:spPr>
        <p:txBody>
          <a:bodyPr wrap="none" lIns="0" rIns="0" tIns="0" bIns="0">
            <a:spAutoFit/>
          </a:bodyPr>
          <a:lstStyle/>
          <a:p>
            <a:r>
              <a:rPr sz="1100" b="0">
                <a:solidFill>
                  <a:srgbClr val="2E2E2E"/>
                </a:solidFill>
                <a:latin typeface="Calibri"/>
              </a:rPr>
              <a:t>-share leaders, while growth runs +</a:t>
            </a:r>
          </a:p>
        </p:txBody>
      </p:sp>
      <p:pic>
        <p:nvPicPr>
          <p:cNvPr id="79" name="Picture 78" descr="lock.png"/>
          <p:cNvPicPr>
            <a:picLocks noChangeAspect="1"/>
          </p:cNvPicPr>
          <p:nvPr/>
        </p:nvPicPr>
        <p:blipFill>
          <a:blip r:embed="rId4"/>
          <a:stretch>
            <a:fillRect/>
          </a:stretch>
        </p:blipFill>
        <p:spPr>
          <a:xfrm>
            <a:off x="7376219" y="3656280"/>
            <a:ext cx="128699" cy="187198"/>
          </a:xfrm>
          <a:prstGeom prst="rect">
            <a:avLst/>
          </a:prstGeom>
        </p:spPr>
      </p:pic>
      <p:sp>
        <p:nvSpPr>
          <p:cNvPr id="80" name="TextBox 79"/>
          <p:cNvSpPr txBox="1"/>
          <p:nvPr/>
        </p:nvSpPr>
        <p:spPr>
          <a:xfrm>
            <a:off x="7543715" y="3666059"/>
            <a:ext cx="1825144" cy="186689"/>
          </a:xfrm>
          <a:prstGeom prst="rect">
            <a:avLst/>
          </a:prstGeom>
          <a:noFill/>
        </p:spPr>
        <p:txBody>
          <a:bodyPr wrap="none" lIns="0" rIns="0" tIns="0" bIns="0">
            <a:spAutoFit/>
          </a:bodyPr>
          <a:lstStyle/>
          <a:p>
            <a:r>
              <a:rPr sz="1100" b="0">
                <a:solidFill>
                  <a:srgbClr val="2E2E2E"/>
                </a:solidFill>
                <a:latin typeface="Calibri"/>
              </a:rPr>
              <a:t>BPS ahead of the market. Early</a:t>
            </a:r>
          </a:p>
        </p:txBody>
      </p:sp>
      <p:sp>
        <p:nvSpPr>
          <p:cNvPr id="81" name="TextBox 80"/>
          <p:cNvSpPr txBox="1"/>
          <p:nvPr/>
        </p:nvSpPr>
        <p:spPr>
          <a:xfrm>
            <a:off x="190500" y="3833699"/>
            <a:ext cx="4556695" cy="186689"/>
          </a:xfrm>
          <a:prstGeom prst="rect">
            <a:avLst/>
          </a:prstGeom>
          <a:noFill/>
        </p:spPr>
        <p:txBody>
          <a:bodyPr wrap="none" lIns="0" rIns="0" tIns="0" bIns="0">
            <a:spAutoFit/>
          </a:bodyPr>
          <a:lstStyle/>
          <a:p>
            <a:r>
              <a:rPr sz="1100" b="0">
                <a:solidFill>
                  <a:srgbClr val="2E2E2E"/>
                </a:solidFill>
                <a:latin typeface="Calibri"/>
              </a:rPr>
              <a:t>distribution and reference accounts established here compound through 2036.</a:t>
            </a:r>
          </a:p>
        </p:txBody>
      </p:sp>
      <p:sp>
        <p:nvSpPr>
          <p:cNvPr id="82" name="TextBox 81"/>
          <p:cNvSpPr txBox="1"/>
          <p:nvPr/>
        </p:nvSpPr>
        <p:spPr>
          <a:xfrm>
            <a:off x="190500" y="5250774"/>
            <a:ext cx="1585614" cy="186689"/>
          </a:xfrm>
          <a:prstGeom prst="rect">
            <a:avLst/>
          </a:prstGeom>
          <a:noFill/>
        </p:spPr>
        <p:txBody>
          <a:bodyPr wrap="none" lIns="0" rIns="0" tIns="0" bIns="0">
            <a:spAutoFit/>
          </a:bodyPr>
          <a:lstStyle/>
          <a:p>
            <a:r>
              <a:rPr sz="1100" b="0">
                <a:solidFill>
                  <a:srgbClr val="2E2E2E"/>
                </a:solidFill>
                <a:latin typeface="Calibri"/>
              </a:rPr>
              <a:t>'Dental Hospitals' grows at</a:t>
            </a:r>
          </a:p>
        </p:txBody>
      </p:sp>
      <p:pic>
        <p:nvPicPr>
          <p:cNvPr id="83" name="Picture 82" descr="lock.png"/>
          <p:cNvPicPr>
            <a:picLocks noChangeAspect="1"/>
          </p:cNvPicPr>
          <p:nvPr/>
        </p:nvPicPr>
        <p:blipFill>
          <a:blip r:embed="rId4"/>
          <a:stretch>
            <a:fillRect/>
          </a:stretch>
        </p:blipFill>
        <p:spPr>
          <a:xfrm>
            <a:off x="1724166" y="5240995"/>
            <a:ext cx="128699" cy="187198"/>
          </a:xfrm>
          <a:prstGeom prst="rect">
            <a:avLst/>
          </a:prstGeom>
        </p:spPr>
      </p:pic>
      <p:sp>
        <p:nvSpPr>
          <p:cNvPr id="84" name="TextBox 83"/>
          <p:cNvSpPr txBox="1"/>
          <p:nvPr/>
        </p:nvSpPr>
        <p:spPr>
          <a:xfrm>
            <a:off x="1891662" y="5250774"/>
            <a:ext cx="2820796" cy="186689"/>
          </a:xfrm>
          <a:prstGeom prst="rect">
            <a:avLst/>
          </a:prstGeom>
          <a:noFill/>
        </p:spPr>
        <p:txBody>
          <a:bodyPr wrap="none" lIns="0" rIns="0" tIns="0" bIns="0">
            <a:spAutoFit/>
          </a:bodyPr>
          <a:lstStyle/>
          <a:p>
            <a:r>
              <a:rPr sz="1100" b="0">
                <a:solidFill>
                  <a:srgbClr val="2E2E2E"/>
                </a:solidFill>
                <a:latin typeface="Calibri"/>
              </a:rPr>
              <a:t>CAGR, the fastest of 4 end user routes, and adds</a:t>
            </a:r>
          </a:p>
        </p:txBody>
      </p:sp>
      <p:pic>
        <p:nvPicPr>
          <p:cNvPr id="85" name="Picture 84" descr="lock.png"/>
          <p:cNvPicPr>
            <a:picLocks noChangeAspect="1"/>
          </p:cNvPicPr>
          <p:nvPr/>
        </p:nvPicPr>
        <p:blipFill>
          <a:blip r:embed="rId4"/>
          <a:stretch>
            <a:fillRect/>
          </a:stretch>
        </p:blipFill>
        <p:spPr>
          <a:xfrm>
            <a:off x="4660510" y="5240995"/>
            <a:ext cx="128699" cy="187198"/>
          </a:xfrm>
          <a:prstGeom prst="rect">
            <a:avLst/>
          </a:prstGeom>
        </p:spPr>
      </p:pic>
      <p:sp>
        <p:nvSpPr>
          <p:cNvPr id="86" name="TextBox 85"/>
          <p:cNvSpPr txBox="1"/>
          <p:nvPr/>
        </p:nvSpPr>
        <p:spPr>
          <a:xfrm>
            <a:off x="4828006" y="5250774"/>
            <a:ext cx="3958332" cy="186689"/>
          </a:xfrm>
          <a:prstGeom prst="rect">
            <a:avLst/>
          </a:prstGeom>
          <a:noFill/>
        </p:spPr>
        <p:txBody>
          <a:bodyPr wrap="none" lIns="0" rIns="0" tIns="0" bIns="0">
            <a:spAutoFit/>
          </a:bodyPr>
          <a:lstStyle/>
          <a:p>
            <a:r>
              <a:rPr sz="1100" b="0">
                <a:solidFill>
                  <a:srgbClr val="2E2E2E"/>
                </a:solidFill>
                <a:latin typeface="Calibri"/>
              </a:rPr>
              <a:t>US$ Mn over the forecast period while 'Academic &amp; Teaching Dental</a:t>
            </a:r>
          </a:p>
        </p:txBody>
      </p:sp>
      <p:sp>
        <p:nvSpPr>
          <p:cNvPr id="87" name="TextBox 86"/>
          <p:cNvSpPr txBox="1"/>
          <p:nvPr/>
        </p:nvSpPr>
        <p:spPr>
          <a:xfrm>
            <a:off x="190500" y="5418414"/>
            <a:ext cx="1391890" cy="186689"/>
          </a:xfrm>
          <a:prstGeom prst="rect">
            <a:avLst/>
          </a:prstGeom>
          <a:noFill/>
        </p:spPr>
        <p:txBody>
          <a:bodyPr wrap="none" lIns="0" rIns="0" tIns="0" bIns="0">
            <a:spAutoFit/>
          </a:bodyPr>
          <a:lstStyle/>
          <a:p>
            <a:r>
              <a:rPr sz="1100" b="0">
                <a:solidFill>
                  <a:srgbClr val="2E2E2E"/>
                </a:solidFill>
                <a:latin typeface="Calibri"/>
              </a:rPr>
              <a:t>Institutions' still carries</a:t>
            </a:r>
          </a:p>
        </p:txBody>
      </p:sp>
      <p:pic>
        <p:nvPicPr>
          <p:cNvPr id="88" name="Picture 87" descr="lock.png"/>
          <p:cNvPicPr>
            <a:picLocks noChangeAspect="1"/>
          </p:cNvPicPr>
          <p:nvPr/>
        </p:nvPicPr>
        <p:blipFill>
          <a:blip r:embed="rId4"/>
          <a:stretch>
            <a:fillRect/>
          </a:stretch>
        </p:blipFill>
        <p:spPr>
          <a:xfrm>
            <a:off x="1530441" y="5408635"/>
            <a:ext cx="128699" cy="187198"/>
          </a:xfrm>
          <a:prstGeom prst="rect">
            <a:avLst/>
          </a:prstGeom>
        </p:spPr>
      </p:pic>
      <p:sp>
        <p:nvSpPr>
          <p:cNvPr id="89" name="TextBox 88"/>
          <p:cNvSpPr txBox="1"/>
          <p:nvPr/>
        </p:nvSpPr>
        <p:spPr>
          <a:xfrm>
            <a:off x="1697937" y="5418414"/>
            <a:ext cx="7313041" cy="186689"/>
          </a:xfrm>
          <a:prstGeom prst="rect">
            <a:avLst/>
          </a:prstGeom>
          <a:noFill/>
        </p:spPr>
        <p:txBody>
          <a:bodyPr wrap="none" lIns="0" rIns="0" tIns="0" bIns="0">
            <a:spAutoFit/>
          </a:bodyPr>
          <a:lstStyle/>
          <a:p>
            <a:r>
              <a:rPr sz="1100" b="0">
                <a:solidFill>
                  <a:srgbClr val="2E2E2E"/>
                </a:solidFill>
                <a:latin typeface="Calibri"/>
              </a:rPr>
              <a:t>of demand today. Pairing the incumbent route for volume with the fastest route for growth and leading with 'Cast Metal Partial</a:t>
            </a:r>
          </a:p>
        </p:txBody>
      </p:sp>
      <p:sp>
        <p:nvSpPr>
          <p:cNvPr id="90" name="TextBox 89"/>
          <p:cNvSpPr txBox="1"/>
          <p:nvPr/>
        </p:nvSpPr>
        <p:spPr>
          <a:xfrm>
            <a:off x="190500" y="5586054"/>
            <a:ext cx="774700" cy="186689"/>
          </a:xfrm>
          <a:prstGeom prst="rect">
            <a:avLst/>
          </a:prstGeom>
          <a:noFill/>
        </p:spPr>
        <p:txBody>
          <a:bodyPr wrap="none" lIns="0" rIns="0" tIns="0" bIns="0">
            <a:spAutoFit/>
          </a:bodyPr>
          <a:lstStyle/>
          <a:p>
            <a:r>
              <a:rPr sz="1100" b="0">
                <a:solidFill>
                  <a:srgbClr val="2E2E2E"/>
                </a:solidFill>
                <a:latin typeface="Calibri"/>
              </a:rPr>
              <a:t>Dentures' at</a:t>
            </a:r>
          </a:p>
        </p:txBody>
      </p:sp>
      <p:pic>
        <p:nvPicPr>
          <p:cNvPr id="91" name="Picture 90" descr="lock.png"/>
          <p:cNvPicPr>
            <a:picLocks noChangeAspect="1"/>
          </p:cNvPicPr>
          <p:nvPr/>
        </p:nvPicPr>
        <p:blipFill>
          <a:blip r:embed="rId4"/>
          <a:stretch>
            <a:fillRect/>
          </a:stretch>
        </p:blipFill>
        <p:spPr>
          <a:xfrm>
            <a:off x="913251" y="5576275"/>
            <a:ext cx="128699" cy="187198"/>
          </a:xfrm>
          <a:prstGeom prst="rect">
            <a:avLst/>
          </a:prstGeom>
        </p:spPr>
      </p:pic>
      <p:sp>
        <p:nvSpPr>
          <p:cNvPr id="92" name="TextBox 91"/>
          <p:cNvSpPr txBox="1"/>
          <p:nvPr/>
        </p:nvSpPr>
        <p:spPr>
          <a:xfrm>
            <a:off x="1080747" y="5586054"/>
            <a:ext cx="3137594" cy="186689"/>
          </a:xfrm>
          <a:prstGeom prst="rect">
            <a:avLst/>
          </a:prstGeom>
          <a:noFill/>
        </p:spPr>
        <p:txBody>
          <a:bodyPr wrap="none" lIns="0" rIns="0" tIns="0" bIns="0">
            <a:spAutoFit/>
          </a:bodyPr>
          <a:lstStyle/>
          <a:p>
            <a:r>
              <a:rPr sz="1100" b="0">
                <a:solidFill>
                  <a:srgbClr val="2E2E2E"/>
                </a:solidFill>
                <a:latin typeface="Calibri"/>
              </a:rPr>
              <a:t>is the highest-yield combination the dataset supports.</a:t>
            </a:r>
          </a:p>
        </p:txBody>
      </p:sp>
    </p:spTree>
  </p:cSld>
  <p:clrMapOvr>
    <a:masterClrMapping/>
  </p:clrMapOvr>
</p:sld>
</file>

<file path=ppt/slides/slide2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Removable Partial Dentures Market Recent Developments &amp; Milestones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Recent developments and milestones shaping the global market, by year</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ectangle 10"/>
          <p:cNvSpPr/>
          <p:nvPr/>
        </p:nvSpPr>
        <p:spPr>
          <a:xfrm>
            <a:off x="142875" y="1025515"/>
            <a:ext cx="11906250" cy="29205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142875" y="1025515"/>
            <a:ext cx="1428750" cy="292059"/>
          </a:xfrm>
          <a:prstGeom prst="rect">
            <a:avLst/>
          </a:prstGeom>
          <a:noFill/>
        </p:spPr>
        <p:txBody>
          <a:bodyPr wrap="square" lIns="28575" rIns="28575" tIns="9525" bIns="9525" anchor="ctr">
            <a:spAutoFit/>
          </a:bodyPr>
          <a:lstStyle/>
          <a:p>
            <a:pPr algn="ctr"/>
            <a:r>
              <a:rPr sz="1150" b="1">
                <a:solidFill>
                  <a:srgbClr val="FFFFFF"/>
                </a:solidFill>
                <a:latin typeface="Calibri"/>
              </a:rPr>
              <a:t>Year</a:t>
            </a:r>
          </a:p>
        </p:txBody>
      </p:sp>
      <p:sp>
        <p:nvSpPr>
          <p:cNvPr id="13" name="TextBox 12"/>
          <p:cNvSpPr txBox="1"/>
          <p:nvPr/>
        </p:nvSpPr>
        <p:spPr>
          <a:xfrm>
            <a:off x="1714500" y="1025515"/>
            <a:ext cx="10239375" cy="292059"/>
          </a:xfrm>
          <a:prstGeom prst="rect">
            <a:avLst/>
          </a:prstGeom>
          <a:noFill/>
        </p:spPr>
        <p:txBody>
          <a:bodyPr wrap="square" lIns="28575" rIns="28575" tIns="9525" bIns="9525" anchor="ctr">
            <a:spAutoFit/>
          </a:bodyPr>
          <a:lstStyle/>
          <a:p>
            <a:pPr algn="ctr"/>
            <a:r>
              <a:rPr sz="1150" b="1">
                <a:solidFill>
                  <a:srgbClr val="FFFFFF"/>
                </a:solidFill>
                <a:latin typeface="Calibri"/>
              </a:rPr>
              <a:t>Recent Development</a:t>
            </a:r>
          </a:p>
        </p:txBody>
      </p:sp>
      <p:sp>
        <p:nvSpPr>
          <p:cNvPr id="14" name="Rectangle 13"/>
          <p:cNvSpPr/>
          <p:nvPr/>
        </p:nvSpPr>
        <p:spPr>
          <a:xfrm>
            <a:off x="142875" y="1317574"/>
            <a:ext cx="11906250" cy="1597199"/>
          </a:xfrm>
          <a:prstGeom prst="rect">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142875" y="1317574"/>
            <a:ext cx="1428750" cy="1597199"/>
          </a:xfrm>
          <a:prstGeom prst="rect">
            <a:avLst/>
          </a:prstGeom>
          <a:noFill/>
        </p:spPr>
        <p:txBody>
          <a:bodyPr wrap="square" lIns="28575" rIns="28575" tIns="9525" bIns="9525" anchor="ctr">
            <a:spAutoFit/>
          </a:bodyPr>
          <a:lstStyle/>
          <a:p>
            <a:pPr algn="ctr"/>
            <a:r>
              <a:rPr sz="1250" b="1">
                <a:solidFill>
                  <a:srgbClr val="0B2E4A"/>
                </a:solidFill>
                <a:latin typeface="Calibri"/>
              </a:rPr>
              <a:t>2025</a:t>
            </a:r>
          </a:p>
        </p:txBody>
      </p:sp>
      <p:cxnSp>
        <p:nvCxnSpPr>
          <p:cNvPr id="16" name="Connector 15"/>
          <p:cNvCxnSpPr/>
          <p:nvPr/>
        </p:nvCxnSpPr>
        <p:spPr>
          <a:xfrm>
            <a:off x="1571625" y="1317574"/>
            <a:ext cx="0" cy="1597199"/>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17" name="TextBox 16"/>
          <p:cNvSpPr txBox="1"/>
          <p:nvPr/>
        </p:nvSpPr>
        <p:spPr>
          <a:xfrm>
            <a:off x="1714500" y="1819551"/>
            <a:ext cx="102108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18" name="Rectangle 17"/>
          <p:cNvSpPr/>
          <p:nvPr/>
        </p:nvSpPr>
        <p:spPr>
          <a:xfrm>
            <a:off x="142875" y="2914773"/>
            <a:ext cx="11906250" cy="1213871"/>
          </a:xfrm>
          <a:prstGeom prst="rect">
            <a:avLst/>
          </a:prstGeom>
          <a:solidFill>
            <a:srgbClr val="F5F8FA"/>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142875" y="2914773"/>
            <a:ext cx="1428750" cy="1213871"/>
          </a:xfrm>
          <a:prstGeom prst="rect">
            <a:avLst/>
          </a:prstGeom>
          <a:noFill/>
        </p:spPr>
        <p:txBody>
          <a:bodyPr wrap="square" lIns="28575" rIns="28575" tIns="9525" bIns="9525" anchor="ctr">
            <a:spAutoFit/>
          </a:bodyPr>
          <a:lstStyle/>
          <a:p>
            <a:pPr algn="ctr"/>
            <a:r>
              <a:rPr sz="1250" b="1">
                <a:solidFill>
                  <a:srgbClr val="0B2E4A"/>
                </a:solidFill>
                <a:latin typeface="Calibri"/>
              </a:rPr>
              <a:t>2026</a:t>
            </a:r>
          </a:p>
        </p:txBody>
      </p:sp>
      <p:cxnSp>
        <p:nvCxnSpPr>
          <p:cNvPr id="20" name="Connector 19"/>
          <p:cNvCxnSpPr/>
          <p:nvPr/>
        </p:nvCxnSpPr>
        <p:spPr>
          <a:xfrm>
            <a:off x="1571625" y="2914773"/>
            <a:ext cx="0" cy="1213871"/>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21" name="TextBox 20"/>
          <p:cNvSpPr txBox="1"/>
          <p:nvPr/>
        </p:nvSpPr>
        <p:spPr>
          <a:xfrm>
            <a:off x="1714500" y="3320918"/>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2" name="Rectangle 21"/>
          <p:cNvSpPr/>
          <p:nvPr/>
        </p:nvSpPr>
        <p:spPr>
          <a:xfrm>
            <a:off x="142875" y="4128643"/>
            <a:ext cx="11906250" cy="1213871"/>
          </a:xfrm>
          <a:prstGeom prst="rect">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142875" y="4128643"/>
            <a:ext cx="1428750" cy="1213871"/>
          </a:xfrm>
          <a:prstGeom prst="rect">
            <a:avLst/>
          </a:prstGeom>
          <a:noFill/>
        </p:spPr>
        <p:txBody>
          <a:bodyPr wrap="square" lIns="28575" rIns="28575" tIns="9525" bIns="9525" anchor="ctr">
            <a:spAutoFit/>
          </a:bodyPr>
          <a:lstStyle/>
          <a:p>
            <a:pPr algn="ctr"/>
            <a:r>
              <a:rPr sz="1250" b="1">
                <a:solidFill>
                  <a:srgbClr val="0B2E4A"/>
                </a:solidFill>
                <a:latin typeface="Calibri"/>
              </a:rPr>
              <a:t>2031</a:t>
            </a:r>
          </a:p>
        </p:txBody>
      </p:sp>
      <p:cxnSp>
        <p:nvCxnSpPr>
          <p:cNvPr id="24" name="Connector 23"/>
          <p:cNvCxnSpPr/>
          <p:nvPr/>
        </p:nvCxnSpPr>
        <p:spPr>
          <a:xfrm>
            <a:off x="1571625" y="4128643"/>
            <a:ext cx="0" cy="1213871"/>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1714500" y="4534788"/>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6" name="Rectangle 25"/>
          <p:cNvSpPr/>
          <p:nvPr/>
        </p:nvSpPr>
        <p:spPr>
          <a:xfrm>
            <a:off x="142875" y="5342514"/>
            <a:ext cx="11906250" cy="1213871"/>
          </a:xfrm>
          <a:prstGeom prst="rect">
            <a:avLst/>
          </a:prstGeom>
          <a:solidFill>
            <a:srgbClr val="F5F8FA"/>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142875" y="5342514"/>
            <a:ext cx="1428750" cy="1213871"/>
          </a:xfrm>
          <a:prstGeom prst="rect">
            <a:avLst/>
          </a:prstGeom>
          <a:noFill/>
        </p:spPr>
        <p:txBody>
          <a:bodyPr wrap="square" lIns="28575" rIns="28575" tIns="9525" bIns="9525" anchor="ctr">
            <a:spAutoFit/>
          </a:bodyPr>
          <a:lstStyle/>
          <a:p>
            <a:pPr algn="ctr"/>
            <a:r>
              <a:rPr sz="1250" b="1">
                <a:solidFill>
                  <a:srgbClr val="0B2E4A"/>
                </a:solidFill>
                <a:latin typeface="Calibri"/>
              </a:rPr>
              <a:t>2036</a:t>
            </a:r>
          </a:p>
        </p:txBody>
      </p:sp>
      <p:cxnSp>
        <p:nvCxnSpPr>
          <p:cNvPr id="28" name="Connector 27"/>
          <p:cNvCxnSpPr/>
          <p:nvPr/>
        </p:nvCxnSpPr>
        <p:spPr>
          <a:xfrm>
            <a:off x="1571625" y="5342514"/>
            <a:ext cx="0" cy="1213871"/>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29" name="TextBox 28"/>
          <p:cNvSpPr txBox="1"/>
          <p:nvPr/>
        </p:nvSpPr>
        <p:spPr>
          <a:xfrm>
            <a:off x="1714500" y="5748660"/>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31" name="TextBox 30"/>
          <p:cNvSpPr txBox="1"/>
          <p:nvPr/>
        </p:nvSpPr>
        <p:spPr>
          <a:xfrm>
            <a:off x="1743075" y="1948533"/>
            <a:ext cx="3516585" cy="186689"/>
          </a:xfrm>
          <a:prstGeom prst="rect">
            <a:avLst/>
          </a:prstGeom>
          <a:noFill/>
        </p:spPr>
        <p:txBody>
          <a:bodyPr wrap="none" lIns="0" rIns="0" tIns="0" bIns="0">
            <a:spAutoFit/>
          </a:bodyPr>
          <a:lstStyle/>
          <a:p>
            <a:r>
              <a:rPr sz="1100" b="0">
                <a:solidFill>
                  <a:srgbClr val="2E2E2E"/>
                </a:solidFill>
                <a:latin typeface="Calibri"/>
              </a:rPr>
              <a:t>Strongest historical expansion on record: Global value rose +</a:t>
            </a:r>
          </a:p>
        </p:txBody>
      </p:sp>
      <p:pic>
        <p:nvPicPr>
          <p:cNvPr id="32" name="Picture 31" descr="lock.png"/>
          <p:cNvPicPr>
            <a:picLocks noChangeAspect="1"/>
          </p:cNvPicPr>
          <p:nvPr/>
        </p:nvPicPr>
        <p:blipFill>
          <a:blip r:embed="rId4"/>
          <a:stretch>
            <a:fillRect/>
          </a:stretch>
        </p:blipFill>
        <p:spPr>
          <a:xfrm>
            <a:off x="5207711" y="1938754"/>
            <a:ext cx="128699" cy="187198"/>
          </a:xfrm>
          <a:prstGeom prst="rect">
            <a:avLst/>
          </a:prstGeom>
        </p:spPr>
      </p:pic>
      <p:sp>
        <p:nvSpPr>
          <p:cNvPr id="33" name="TextBox 32"/>
          <p:cNvSpPr txBox="1"/>
          <p:nvPr/>
        </p:nvSpPr>
        <p:spPr>
          <a:xfrm>
            <a:off x="5375207" y="1948533"/>
            <a:ext cx="935955" cy="186689"/>
          </a:xfrm>
          <a:prstGeom prst="rect">
            <a:avLst/>
          </a:prstGeom>
          <a:noFill/>
        </p:spPr>
        <p:txBody>
          <a:bodyPr wrap="none" lIns="0" rIns="0" tIns="0" bIns="0">
            <a:spAutoFit/>
          </a:bodyPr>
          <a:lstStyle/>
          <a:p>
            <a:r>
              <a:rPr sz="1100" b="0">
                <a:solidFill>
                  <a:srgbClr val="2E2E2E"/>
                </a:solidFill>
                <a:latin typeface="Calibri"/>
              </a:rPr>
              <a:t>year on year to</a:t>
            </a:r>
          </a:p>
        </p:txBody>
      </p:sp>
      <p:pic>
        <p:nvPicPr>
          <p:cNvPr id="34" name="Picture 33" descr="lock.png"/>
          <p:cNvPicPr>
            <a:picLocks noChangeAspect="1"/>
          </p:cNvPicPr>
          <p:nvPr/>
        </p:nvPicPr>
        <p:blipFill>
          <a:blip r:embed="rId4"/>
          <a:stretch>
            <a:fillRect/>
          </a:stretch>
        </p:blipFill>
        <p:spPr>
          <a:xfrm>
            <a:off x="6259214" y="1938754"/>
            <a:ext cx="128699" cy="187198"/>
          </a:xfrm>
          <a:prstGeom prst="rect">
            <a:avLst/>
          </a:prstGeom>
        </p:spPr>
      </p:pic>
      <p:sp>
        <p:nvSpPr>
          <p:cNvPr id="35" name="TextBox 34"/>
          <p:cNvSpPr txBox="1"/>
          <p:nvPr/>
        </p:nvSpPr>
        <p:spPr>
          <a:xfrm>
            <a:off x="6426710" y="1948533"/>
            <a:ext cx="4980706" cy="186689"/>
          </a:xfrm>
          <a:prstGeom prst="rect">
            <a:avLst/>
          </a:prstGeom>
          <a:noFill/>
        </p:spPr>
        <p:txBody>
          <a:bodyPr wrap="none" lIns="0" rIns="0" tIns="0" bIns="0">
            <a:spAutoFit/>
          </a:bodyPr>
          <a:lstStyle/>
          <a:p>
            <a:r>
              <a:rPr sz="1100" b="0">
                <a:solidFill>
                  <a:srgbClr val="2E2E2E"/>
                </a:solidFill>
                <a:latin typeface="Calibri"/>
              </a:rPr>
              <a:t>US$ Mn, the steepest single-year move of the 2021–2025 period. Demand for 'Flexible</a:t>
            </a:r>
          </a:p>
        </p:txBody>
      </p:sp>
      <p:sp>
        <p:nvSpPr>
          <p:cNvPr id="36" name="TextBox 35"/>
          <p:cNvSpPr txBox="1"/>
          <p:nvPr/>
        </p:nvSpPr>
        <p:spPr>
          <a:xfrm>
            <a:off x="1743075" y="2116173"/>
            <a:ext cx="1027087" cy="186689"/>
          </a:xfrm>
          <a:prstGeom prst="rect">
            <a:avLst/>
          </a:prstGeom>
          <a:noFill/>
        </p:spPr>
        <p:txBody>
          <a:bodyPr wrap="none" lIns="0" rIns="0" tIns="0" bIns="0">
            <a:spAutoFit/>
          </a:bodyPr>
          <a:lstStyle/>
          <a:p>
            <a:r>
              <a:rPr sz="1100" b="0">
                <a:solidFill>
                  <a:srgbClr val="2E2E2E"/>
                </a:solidFill>
                <a:latin typeface="Calibri"/>
              </a:rPr>
              <a:t>Partial Dentures'</a:t>
            </a:r>
          </a:p>
        </p:txBody>
      </p:sp>
      <p:pic>
        <p:nvPicPr>
          <p:cNvPr id="37" name="Picture 36" descr="lock.png"/>
          <p:cNvPicPr>
            <a:picLocks noChangeAspect="1"/>
          </p:cNvPicPr>
          <p:nvPr/>
        </p:nvPicPr>
        <p:blipFill>
          <a:blip r:embed="rId4"/>
          <a:stretch>
            <a:fillRect/>
          </a:stretch>
        </p:blipFill>
        <p:spPr>
          <a:xfrm>
            <a:off x="2718214" y="2106394"/>
            <a:ext cx="128699" cy="187198"/>
          </a:xfrm>
          <a:prstGeom prst="rect">
            <a:avLst/>
          </a:prstGeom>
        </p:spPr>
      </p:pic>
      <p:sp>
        <p:nvSpPr>
          <p:cNvPr id="38" name="TextBox 37"/>
          <p:cNvSpPr txBox="1"/>
          <p:nvPr/>
        </p:nvSpPr>
        <p:spPr>
          <a:xfrm>
            <a:off x="2885710" y="2116173"/>
            <a:ext cx="6857925" cy="186689"/>
          </a:xfrm>
          <a:prstGeom prst="rect">
            <a:avLst/>
          </a:prstGeom>
          <a:noFill/>
        </p:spPr>
        <p:txBody>
          <a:bodyPr wrap="none" lIns="0" rIns="0" tIns="0" bIns="0">
            <a:spAutoFit/>
          </a:bodyPr>
          <a:lstStyle/>
          <a:p>
            <a:r>
              <a:rPr sz="1100" b="0">
                <a:solidFill>
                  <a:srgbClr val="2E2E2E"/>
                </a:solidFill>
                <a:latin typeface="Calibri"/>
              </a:rPr>
              <a:t>of product type value by 2036 set the pace, and the 4 end user routes tracked here all carried volume through the year.</a:t>
            </a:r>
          </a:p>
        </p:txBody>
      </p:sp>
      <p:sp>
        <p:nvSpPr>
          <p:cNvPr id="39" name="TextBox 38"/>
          <p:cNvSpPr txBox="1"/>
          <p:nvPr/>
        </p:nvSpPr>
        <p:spPr>
          <a:xfrm>
            <a:off x="1743075" y="3360774"/>
            <a:ext cx="3340465" cy="179984"/>
          </a:xfrm>
          <a:prstGeom prst="rect">
            <a:avLst/>
          </a:prstGeom>
          <a:noFill/>
        </p:spPr>
        <p:txBody>
          <a:bodyPr wrap="none" lIns="0" rIns="0" tIns="0" bIns="0">
            <a:spAutoFit/>
          </a:bodyPr>
          <a:lstStyle/>
          <a:p>
            <a:r>
              <a:rPr sz="1055" b="0">
                <a:solidFill>
                  <a:srgbClr val="2E2E2E"/>
                </a:solidFill>
                <a:latin typeface="Calibri"/>
              </a:rPr>
              <a:t>Base year for the forecast: the global market is estimated at</a:t>
            </a:r>
          </a:p>
        </p:txBody>
      </p:sp>
      <p:pic>
        <p:nvPicPr>
          <p:cNvPr id="40" name="Picture 39" descr="lock.png"/>
          <p:cNvPicPr>
            <a:picLocks noChangeAspect="1"/>
          </p:cNvPicPr>
          <p:nvPr/>
        </p:nvPicPr>
        <p:blipFill>
          <a:blip r:embed="rId4"/>
          <a:stretch>
            <a:fillRect/>
          </a:stretch>
        </p:blipFill>
        <p:spPr>
          <a:xfrm>
            <a:off x="5030621" y="3351386"/>
            <a:ext cx="123551" cy="179710"/>
          </a:xfrm>
          <a:prstGeom prst="rect">
            <a:avLst/>
          </a:prstGeom>
        </p:spPr>
      </p:pic>
      <p:sp>
        <p:nvSpPr>
          <p:cNvPr id="41" name="TextBox 40"/>
          <p:cNvSpPr txBox="1"/>
          <p:nvPr/>
        </p:nvSpPr>
        <p:spPr>
          <a:xfrm>
            <a:off x="5191417" y="3360774"/>
            <a:ext cx="1825680" cy="179984"/>
          </a:xfrm>
          <a:prstGeom prst="rect">
            <a:avLst/>
          </a:prstGeom>
          <a:noFill/>
        </p:spPr>
        <p:txBody>
          <a:bodyPr wrap="none" lIns="0" rIns="0" tIns="0" bIns="0">
            <a:spAutoFit/>
          </a:bodyPr>
          <a:lstStyle/>
          <a:p>
            <a:r>
              <a:rPr sz="1055" b="0">
                <a:solidFill>
                  <a:srgbClr val="2E2E2E"/>
                </a:solidFill>
                <a:latin typeface="Calibri"/>
              </a:rPr>
              <a:t>US$ Mn, having compounded at</a:t>
            </a:r>
          </a:p>
        </p:txBody>
      </p:sp>
      <p:pic>
        <p:nvPicPr>
          <p:cNvPr id="42" name="Picture 41" descr="lock.png"/>
          <p:cNvPicPr>
            <a:picLocks noChangeAspect="1"/>
          </p:cNvPicPr>
          <p:nvPr/>
        </p:nvPicPr>
        <p:blipFill>
          <a:blip r:embed="rId4"/>
          <a:stretch>
            <a:fillRect/>
          </a:stretch>
        </p:blipFill>
        <p:spPr>
          <a:xfrm>
            <a:off x="6964179" y="3351386"/>
            <a:ext cx="123551" cy="179710"/>
          </a:xfrm>
          <a:prstGeom prst="rect">
            <a:avLst/>
          </a:prstGeom>
        </p:spPr>
      </p:pic>
      <p:sp>
        <p:nvSpPr>
          <p:cNvPr id="43" name="TextBox 42"/>
          <p:cNvSpPr txBox="1"/>
          <p:nvPr/>
        </p:nvSpPr>
        <p:spPr>
          <a:xfrm>
            <a:off x="7124975" y="3360774"/>
            <a:ext cx="2310788" cy="179984"/>
          </a:xfrm>
          <a:prstGeom prst="rect">
            <a:avLst/>
          </a:prstGeom>
          <a:noFill/>
        </p:spPr>
        <p:txBody>
          <a:bodyPr wrap="none" lIns="0" rIns="0" tIns="0" bIns="0">
            <a:spAutoFit/>
          </a:bodyPr>
          <a:lstStyle/>
          <a:p>
            <a:r>
              <a:rPr sz="1055" b="0">
                <a:solidFill>
                  <a:srgbClr val="2E2E2E"/>
                </a:solidFill>
                <a:latin typeface="Calibri"/>
              </a:rPr>
              <a:t>across 2021–2025. 'North America' holds</a:t>
            </a:r>
          </a:p>
        </p:txBody>
      </p:sp>
      <p:pic>
        <p:nvPicPr>
          <p:cNvPr id="44" name="Picture 43" descr="lock.png"/>
          <p:cNvPicPr>
            <a:picLocks noChangeAspect="1"/>
          </p:cNvPicPr>
          <p:nvPr/>
        </p:nvPicPr>
        <p:blipFill>
          <a:blip r:embed="rId4"/>
          <a:stretch>
            <a:fillRect/>
          </a:stretch>
        </p:blipFill>
        <p:spPr>
          <a:xfrm>
            <a:off x="9382846" y="3351386"/>
            <a:ext cx="123551" cy="179710"/>
          </a:xfrm>
          <a:prstGeom prst="rect">
            <a:avLst/>
          </a:prstGeom>
        </p:spPr>
      </p:pic>
      <p:sp>
        <p:nvSpPr>
          <p:cNvPr id="45" name="TextBox 44"/>
          <p:cNvSpPr txBox="1"/>
          <p:nvPr/>
        </p:nvSpPr>
        <p:spPr>
          <a:xfrm>
            <a:off x="9543642" y="3360774"/>
            <a:ext cx="1896665" cy="179984"/>
          </a:xfrm>
          <a:prstGeom prst="rect">
            <a:avLst/>
          </a:prstGeom>
          <a:noFill/>
        </p:spPr>
        <p:txBody>
          <a:bodyPr wrap="none" lIns="0" rIns="0" tIns="0" bIns="0">
            <a:spAutoFit/>
          </a:bodyPr>
          <a:lstStyle/>
          <a:p>
            <a:r>
              <a:rPr sz="1055" b="0">
                <a:solidFill>
                  <a:srgbClr val="2E2E2E"/>
                </a:solidFill>
                <a:latin typeface="Calibri"/>
              </a:rPr>
              <a:t>of value across 6 regions, and the</a:t>
            </a:r>
          </a:p>
        </p:txBody>
      </p:sp>
      <p:sp>
        <p:nvSpPr>
          <p:cNvPr id="46" name="TextBox 45"/>
          <p:cNvSpPr txBox="1"/>
          <p:nvPr/>
        </p:nvSpPr>
        <p:spPr>
          <a:xfrm>
            <a:off x="1743075" y="3521708"/>
            <a:ext cx="4153519" cy="179984"/>
          </a:xfrm>
          <a:prstGeom prst="rect">
            <a:avLst/>
          </a:prstGeom>
          <a:noFill/>
        </p:spPr>
        <p:txBody>
          <a:bodyPr wrap="none" lIns="0" rIns="0" tIns="0" bIns="0">
            <a:spAutoFit/>
          </a:bodyPr>
          <a:lstStyle/>
          <a:p>
            <a:r>
              <a:rPr sz="1055" b="0">
                <a:solidFill>
                  <a:srgbClr val="2E2E2E"/>
                </a:solidFill>
                <a:latin typeface="Calibri"/>
              </a:rPr>
              <a:t>forecast is built from 8 segment breakdowns covering 4 product type lines.</a:t>
            </a:r>
          </a:p>
        </p:txBody>
      </p:sp>
      <p:sp>
        <p:nvSpPr>
          <p:cNvPr id="47" name="TextBox 46"/>
          <p:cNvSpPr txBox="1"/>
          <p:nvPr/>
        </p:nvSpPr>
        <p:spPr>
          <a:xfrm>
            <a:off x="1743075" y="4574644"/>
            <a:ext cx="2190297" cy="179984"/>
          </a:xfrm>
          <a:prstGeom prst="rect">
            <a:avLst/>
          </a:prstGeom>
          <a:noFill/>
        </p:spPr>
        <p:txBody>
          <a:bodyPr wrap="none" lIns="0" rIns="0" tIns="0" bIns="0">
            <a:spAutoFit/>
          </a:bodyPr>
          <a:lstStyle/>
          <a:p>
            <a:r>
              <a:rPr sz="1055" b="0">
                <a:solidFill>
                  <a:srgbClr val="2E2E2E"/>
                </a:solidFill>
                <a:latin typeface="Calibri"/>
              </a:rPr>
              <a:t>Mid-horizon checkpoint: value reaches</a:t>
            </a:r>
          </a:p>
        </p:txBody>
      </p:sp>
      <p:pic>
        <p:nvPicPr>
          <p:cNvPr id="48" name="Picture 47" descr="lock.png"/>
          <p:cNvPicPr>
            <a:picLocks noChangeAspect="1"/>
          </p:cNvPicPr>
          <p:nvPr/>
        </p:nvPicPr>
        <p:blipFill>
          <a:blip r:embed="rId4"/>
          <a:stretch>
            <a:fillRect/>
          </a:stretch>
        </p:blipFill>
        <p:spPr>
          <a:xfrm>
            <a:off x="3880454" y="4565256"/>
            <a:ext cx="123551" cy="179710"/>
          </a:xfrm>
          <a:prstGeom prst="rect">
            <a:avLst/>
          </a:prstGeom>
        </p:spPr>
      </p:pic>
      <p:sp>
        <p:nvSpPr>
          <p:cNvPr id="49" name="TextBox 48"/>
          <p:cNvSpPr txBox="1"/>
          <p:nvPr/>
        </p:nvSpPr>
        <p:spPr>
          <a:xfrm>
            <a:off x="4041250" y="4574644"/>
            <a:ext cx="541139" cy="179984"/>
          </a:xfrm>
          <a:prstGeom prst="rect">
            <a:avLst/>
          </a:prstGeom>
          <a:noFill/>
        </p:spPr>
        <p:txBody>
          <a:bodyPr wrap="none" lIns="0" rIns="0" tIns="0" bIns="0">
            <a:spAutoFit/>
          </a:bodyPr>
          <a:lstStyle/>
          <a:p>
            <a:r>
              <a:rPr sz="1055" b="0">
                <a:solidFill>
                  <a:srgbClr val="2E2E2E"/>
                </a:solidFill>
                <a:latin typeface="Calibri"/>
              </a:rPr>
              <a:t>US$ Mn,</a:t>
            </a:r>
          </a:p>
        </p:txBody>
      </p:sp>
      <p:pic>
        <p:nvPicPr>
          <p:cNvPr id="50" name="Picture 49" descr="lock.png"/>
          <p:cNvPicPr>
            <a:picLocks noChangeAspect="1"/>
          </p:cNvPicPr>
          <p:nvPr/>
        </p:nvPicPr>
        <p:blipFill>
          <a:blip r:embed="rId4"/>
          <a:stretch>
            <a:fillRect/>
          </a:stretch>
        </p:blipFill>
        <p:spPr>
          <a:xfrm>
            <a:off x="4529470" y="4565256"/>
            <a:ext cx="123551" cy="179710"/>
          </a:xfrm>
          <a:prstGeom prst="rect">
            <a:avLst/>
          </a:prstGeom>
        </p:spPr>
      </p:pic>
      <p:sp>
        <p:nvSpPr>
          <p:cNvPr id="51" name="TextBox 50"/>
          <p:cNvSpPr txBox="1"/>
          <p:nvPr/>
        </p:nvSpPr>
        <p:spPr>
          <a:xfrm>
            <a:off x="4690266" y="4574644"/>
            <a:ext cx="2581333" cy="179984"/>
          </a:xfrm>
          <a:prstGeom prst="rect">
            <a:avLst/>
          </a:prstGeom>
          <a:noFill/>
        </p:spPr>
        <p:txBody>
          <a:bodyPr wrap="none" lIns="0" rIns="0" tIns="0" bIns="0">
            <a:spAutoFit/>
          </a:bodyPr>
          <a:lstStyle/>
          <a:p>
            <a:r>
              <a:rPr sz="1055" b="0">
                <a:solidFill>
                  <a:srgbClr val="2E2E2E"/>
                </a:solidFill>
                <a:latin typeface="Calibri"/>
              </a:rPr>
              <a:t>× the 2026 base. Average realisation stands at</a:t>
            </a:r>
          </a:p>
        </p:txBody>
      </p:sp>
      <p:pic>
        <p:nvPicPr>
          <p:cNvPr id="52" name="Picture 51" descr="lock.png"/>
          <p:cNvPicPr>
            <a:picLocks noChangeAspect="1"/>
          </p:cNvPicPr>
          <p:nvPr/>
        </p:nvPicPr>
        <p:blipFill>
          <a:blip r:embed="rId4"/>
          <a:stretch>
            <a:fillRect/>
          </a:stretch>
        </p:blipFill>
        <p:spPr>
          <a:xfrm>
            <a:off x="7218681" y="4565256"/>
            <a:ext cx="123551" cy="179710"/>
          </a:xfrm>
          <a:prstGeom prst="rect">
            <a:avLst/>
          </a:prstGeom>
        </p:spPr>
      </p:pic>
      <p:sp>
        <p:nvSpPr>
          <p:cNvPr id="53" name="TextBox 52"/>
          <p:cNvSpPr txBox="1"/>
          <p:nvPr/>
        </p:nvSpPr>
        <p:spPr>
          <a:xfrm>
            <a:off x="7379477" y="4574644"/>
            <a:ext cx="1845063" cy="179984"/>
          </a:xfrm>
          <a:prstGeom prst="rect">
            <a:avLst/>
          </a:prstGeom>
          <a:noFill/>
        </p:spPr>
        <p:txBody>
          <a:bodyPr wrap="none" lIns="0" rIns="0" tIns="0" bIns="0">
            <a:spAutoFit/>
          </a:bodyPr>
          <a:lstStyle/>
          <a:p>
            <a:r>
              <a:rPr sz="1055" b="0">
                <a:solidFill>
                  <a:srgbClr val="2E2E2E"/>
                </a:solidFill>
                <a:latin typeface="Calibri"/>
              </a:rPr>
              <a:t>US$/Units, and mix has moved +</a:t>
            </a:r>
          </a:p>
        </p:txBody>
      </p:sp>
      <p:pic>
        <p:nvPicPr>
          <p:cNvPr id="54" name="Picture 53" descr="lock.png"/>
          <p:cNvPicPr>
            <a:picLocks noChangeAspect="1"/>
          </p:cNvPicPr>
          <p:nvPr/>
        </p:nvPicPr>
        <p:blipFill>
          <a:blip r:embed="rId4"/>
          <a:stretch>
            <a:fillRect/>
          </a:stretch>
        </p:blipFill>
        <p:spPr>
          <a:xfrm>
            <a:off x="9171623" y="4565256"/>
            <a:ext cx="123551" cy="179710"/>
          </a:xfrm>
          <a:prstGeom prst="rect">
            <a:avLst/>
          </a:prstGeom>
        </p:spPr>
      </p:pic>
      <p:sp>
        <p:nvSpPr>
          <p:cNvPr id="55" name="TextBox 54"/>
          <p:cNvSpPr txBox="1"/>
          <p:nvPr/>
        </p:nvSpPr>
        <p:spPr>
          <a:xfrm>
            <a:off x="9332419" y="4574644"/>
            <a:ext cx="1730859" cy="179984"/>
          </a:xfrm>
          <a:prstGeom prst="rect">
            <a:avLst/>
          </a:prstGeom>
          <a:noFill/>
        </p:spPr>
        <p:txBody>
          <a:bodyPr wrap="none" lIns="0" rIns="0" tIns="0" bIns="0">
            <a:spAutoFit/>
          </a:bodyPr>
          <a:lstStyle/>
          <a:p>
            <a:r>
              <a:rPr sz="1055" b="0">
                <a:solidFill>
                  <a:srgbClr val="2E2E2E"/>
                </a:solidFill>
                <a:latin typeface="Calibri"/>
              </a:rPr>
              <a:t>BPS toward 'Cast Metal Partial</a:t>
            </a:r>
          </a:p>
        </p:txBody>
      </p:sp>
      <p:sp>
        <p:nvSpPr>
          <p:cNvPr id="56" name="TextBox 55"/>
          <p:cNvSpPr txBox="1"/>
          <p:nvPr/>
        </p:nvSpPr>
        <p:spPr>
          <a:xfrm>
            <a:off x="1743075" y="4735578"/>
            <a:ext cx="2827591" cy="179984"/>
          </a:xfrm>
          <a:prstGeom prst="rect">
            <a:avLst/>
          </a:prstGeom>
          <a:noFill/>
        </p:spPr>
        <p:txBody>
          <a:bodyPr wrap="none" lIns="0" rIns="0" tIns="0" bIns="0">
            <a:spAutoFit/>
          </a:bodyPr>
          <a:lstStyle/>
          <a:p>
            <a:r>
              <a:rPr sz="1055" b="0">
                <a:solidFill>
                  <a:srgbClr val="2E2E2E"/>
                </a:solidFill>
                <a:latin typeface="Calibri"/>
              </a:rPr>
              <a:t>Dentures' while 'Flexible Partial Dentures' gives up</a:t>
            </a:r>
          </a:p>
        </p:txBody>
      </p:sp>
      <p:pic>
        <p:nvPicPr>
          <p:cNvPr id="57" name="Picture 56" descr="lock.png"/>
          <p:cNvPicPr>
            <a:picLocks noChangeAspect="1"/>
          </p:cNvPicPr>
          <p:nvPr/>
        </p:nvPicPr>
        <p:blipFill>
          <a:blip r:embed="rId4"/>
          <a:stretch>
            <a:fillRect/>
          </a:stretch>
        </p:blipFill>
        <p:spPr>
          <a:xfrm>
            <a:off x="4517748" y="4726190"/>
            <a:ext cx="123551" cy="179710"/>
          </a:xfrm>
          <a:prstGeom prst="rect">
            <a:avLst/>
          </a:prstGeom>
        </p:spPr>
      </p:pic>
      <p:sp>
        <p:nvSpPr>
          <p:cNvPr id="58" name="TextBox 57"/>
          <p:cNvSpPr txBox="1"/>
          <p:nvPr/>
        </p:nvSpPr>
        <p:spPr>
          <a:xfrm>
            <a:off x="4678544" y="4735578"/>
            <a:ext cx="314039" cy="179984"/>
          </a:xfrm>
          <a:prstGeom prst="rect">
            <a:avLst/>
          </a:prstGeom>
          <a:noFill/>
        </p:spPr>
        <p:txBody>
          <a:bodyPr wrap="none" lIns="0" rIns="0" tIns="0" bIns="0">
            <a:spAutoFit/>
          </a:bodyPr>
          <a:lstStyle/>
          <a:p>
            <a:r>
              <a:rPr sz="1055" b="0">
                <a:solidFill>
                  <a:srgbClr val="2E2E2E"/>
                </a:solidFill>
                <a:latin typeface="Calibri"/>
              </a:rPr>
              <a:t>BPS.</a:t>
            </a:r>
          </a:p>
        </p:txBody>
      </p:sp>
      <p:sp>
        <p:nvSpPr>
          <p:cNvPr id="59" name="TextBox 58"/>
          <p:cNvSpPr txBox="1"/>
          <p:nvPr/>
        </p:nvSpPr>
        <p:spPr>
          <a:xfrm>
            <a:off x="1743075" y="5788516"/>
            <a:ext cx="2544146" cy="179984"/>
          </a:xfrm>
          <a:prstGeom prst="rect">
            <a:avLst/>
          </a:prstGeom>
          <a:noFill/>
        </p:spPr>
        <p:txBody>
          <a:bodyPr wrap="none" lIns="0" rIns="0" tIns="0" bIns="0">
            <a:spAutoFit/>
          </a:bodyPr>
          <a:lstStyle/>
          <a:p>
            <a:r>
              <a:rPr sz="1055" b="0">
                <a:solidFill>
                  <a:srgbClr val="2E2E2E"/>
                </a:solidFill>
                <a:latin typeface="Calibri"/>
              </a:rPr>
              <a:t>Forecast outcome: the global market reaches</a:t>
            </a:r>
          </a:p>
        </p:txBody>
      </p:sp>
      <p:pic>
        <p:nvPicPr>
          <p:cNvPr id="60" name="Picture 59" descr="lock.png"/>
          <p:cNvPicPr>
            <a:picLocks noChangeAspect="1"/>
          </p:cNvPicPr>
          <p:nvPr/>
        </p:nvPicPr>
        <p:blipFill>
          <a:blip r:embed="rId4"/>
          <a:stretch>
            <a:fillRect/>
          </a:stretch>
        </p:blipFill>
        <p:spPr>
          <a:xfrm>
            <a:off x="4234303" y="5779128"/>
            <a:ext cx="123551" cy="179710"/>
          </a:xfrm>
          <a:prstGeom prst="rect">
            <a:avLst/>
          </a:prstGeom>
        </p:spPr>
      </p:pic>
      <p:sp>
        <p:nvSpPr>
          <p:cNvPr id="61" name="TextBox 60"/>
          <p:cNvSpPr txBox="1"/>
          <p:nvPr/>
        </p:nvSpPr>
        <p:spPr>
          <a:xfrm>
            <a:off x="4395098" y="5788516"/>
            <a:ext cx="635698" cy="179984"/>
          </a:xfrm>
          <a:prstGeom prst="rect">
            <a:avLst/>
          </a:prstGeom>
          <a:noFill/>
        </p:spPr>
        <p:txBody>
          <a:bodyPr wrap="none" lIns="0" rIns="0" tIns="0" bIns="0">
            <a:spAutoFit/>
          </a:bodyPr>
          <a:lstStyle/>
          <a:p>
            <a:r>
              <a:rPr sz="1055" b="0">
                <a:solidFill>
                  <a:srgbClr val="2E2E2E"/>
                </a:solidFill>
                <a:latin typeface="Calibri"/>
              </a:rPr>
              <a:t>US$ Mn, a</a:t>
            </a:r>
          </a:p>
        </p:txBody>
      </p:sp>
      <p:pic>
        <p:nvPicPr>
          <p:cNvPr id="62" name="Picture 61" descr="lock.png"/>
          <p:cNvPicPr>
            <a:picLocks noChangeAspect="1"/>
          </p:cNvPicPr>
          <p:nvPr/>
        </p:nvPicPr>
        <p:blipFill>
          <a:blip r:embed="rId4"/>
          <a:stretch>
            <a:fillRect/>
          </a:stretch>
        </p:blipFill>
        <p:spPr>
          <a:xfrm>
            <a:off x="4977879" y="5779128"/>
            <a:ext cx="123551" cy="179710"/>
          </a:xfrm>
          <a:prstGeom prst="rect">
            <a:avLst/>
          </a:prstGeom>
        </p:spPr>
      </p:pic>
      <p:sp>
        <p:nvSpPr>
          <p:cNvPr id="63" name="TextBox 62"/>
          <p:cNvSpPr txBox="1"/>
          <p:nvPr/>
        </p:nvSpPr>
        <p:spPr>
          <a:xfrm>
            <a:off x="5138675" y="5788516"/>
            <a:ext cx="1437751" cy="179984"/>
          </a:xfrm>
          <a:prstGeom prst="rect">
            <a:avLst/>
          </a:prstGeom>
          <a:noFill/>
        </p:spPr>
        <p:txBody>
          <a:bodyPr wrap="none" lIns="0" rIns="0" tIns="0" bIns="0">
            <a:spAutoFit/>
          </a:bodyPr>
          <a:lstStyle/>
          <a:p>
            <a:r>
              <a:rPr sz="1055" b="0">
                <a:solidFill>
                  <a:srgbClr val="2E2E2E"/>
                </a:solidFill>
                <a:latin typeface="Calibri"/>
              </a:rPr>
              <a:t>× expansion on 2026 and</a:t>
            </a:r>
          </a:p>
        </p:txBody>
      </p:sp>
      <p:pic>
        <p:nvPicPr>
          <p:cNvPr id="64" name="Picture 63" descr="lock.png"/>
          <p:cNvPicPr>
            <a:picLocks noChangeAspect="1"/>
          </p:cNvPicPr>
          <p:nvPr/>
        </p:nvPicPr>
        <p:blipFill>
          <a:blip r:embed="rId4"/>
          <a:stretch>
            <a:fillRect/>
          </a:stretch>
        </p:blipFill>
        <p:spPr>
          <a:xfrm>
            <a:off x="6523507" y="5779128"/>
            <a:ext cx="123551" cy="179710"/>
          </a:xfrm>
          <a:prstGeom prst="rect">
            <a:avLst/>
          </a:prstGeom>
        </p:spPr>
      </p:pic>
      <p:sp>
        <p:nvSpPr>
          <p:cNvPr id="65" name="TextBox 64"/>
          <p:cNvSpPr txBox="1"/>
          <p:nvPr/>
        </p:nvSpPr>
        <p:spPr>
          <a:xfrm>
            <a:off x="6684303" y="5788516"/>
            <a:ext cx="1799224" cy="179984"/>
          </a:xfrm>
          <a:prstGeom prst="rect">
            <a:avLst/>
          </a:prstGeom>
          <a:noFill/>
        </p:spPr>
        <p:txBody>
          <a:bodyPr wrap="none" lIns="0" rIns="0" tIns="0" bIns="0">
            <a:spAutoFit/>
          </a:bodyPr>
          <a:lstStyle/>
          <a:p>
            <a:r>
              <a:rPr sz="1055" b="0">
                <a:solidFill>
                  <a:srgbClr val="2E2E2E"/>
                </a:solidFill>
                <a:latin typeface="Calibri"/>
              </a:rPr>
              <a:t>US$ Mn of incremental value at</a:t>
            </a:r>
          </a:p>
        </p:txBody>
      </p:sp>
      <p:pic>
        <p:nvPicPr>
          <p:cNvPr id="66" name="Picture 65" descr="lock.png"/>
          <p:cNvPicPr>
            <a:picLocks noChangeAspect="1"/>
          </p:cNvPicPr>
          <p:nvPr/>
        </p:nvPicPr>
        <p:blipFill>
          <a:blip r:embed="rId4"/>
          <a:stretch>
            <a:fillRect/>
          </a:stretch>
        </p:blipFill>
        <p:spPr>
          <a:xfrm>
            <a:off x="8430610" y="5779128"/>
            <a:ext cx="123551" cy="179710"/>
          </a:xfrm>
          <a:prstGeom prst="rect">
            <a:avLst/>
          </a:prstGeom>
        </p:spPr>
      </p:pic>
      <p:sp>
        <p:nvSpPr>
          <p:cNvPr id="67" name="TextBox 66"/>
          <p:cNvSpPr txBox="1"/>
          <p:nvPr/>
        </p:nvSpPr>
        <p:spPr>
          <a:xfrm>
            <a:off x="8591406" y="5788516"/>
            <a:ext cx="1678717" cy="179984"/>
          </a:xfrm>
          <a:prstGeom prst="rect">
            <a:avLst/>
          </a:prstGeom>
          <a:noFill/>
        </p:spPr>
        <p:txBody>
          <a:bodyPr wrap="none" lIns="0" rIns="0" tIns="0" bIns="0">
            <a:spAutoFit/>
          </a:bodyPr>
          <a:lstStyle/>
          <a:p>
            <a:r>
              <a:rPr sz="1055" b="0">
                <a:solidFill>
                  <a:srgbClr val="2E2E2E"/>
                </a:solidFill>
                <a:latin typeface="Calibri"/>
              </a:rPr>
              <a:t>CAGR. Volume compounds at</a:t>
            </a:r>
          </a:p>
        </p:txBody>
      </p:sp>
      <p:pic>
        <p:nvPicPr>
          <p:cNvPr id="68" name="Picture 67" descr="lock.png"/>
          <p:cNvPicPr>
            <a:picLocks noChangeAspect="1"/>
          </p:cNvPicPr>
          <p:nvPr/>
        </p:nvPicPr>
        <p:blipFill>
          <a:blip r:embed="rId4"/>
          <a:stretch>
            <a:fillRect/>
          </a:stretch>
        </p:blipFill>
        <p:spPr>
          <a:xfrm>
            <a:off x="10217204" y="5779128"/>
            <a:ext cx="123551" cy="179710"/>
          </a:xfrm>
          <a:prstGeom prst="rect">
            <a:avLst/>
          </a:prstGeom>
        </p:spPr>
      </p:pic>
      <p:sp>
        <p:nvSpPr>
          <p:cNvPr id="69" name="TextBox 68"/>
          <p:cNvSpPr txBox="1"/>
          <p:nvPr/>
        </p:nvSpPr>
        <p:spPr>
          <a:xfrm>
            <a:off x="10378000" y="5788516"/>
            <a:ext cx="854678" cy="179984"/>
          </a:xfrm>
          <a:prstGeom prst="rect">
            <a:avLst/>
          </a:prstGeom>
          <a:noFill/>
        </p:spPr>
        <p:txBody>
          <a:bodyPr wrap="none" lIns="0" rIns="0" tIns="0" bIns="0">
            <a:spAutoFit/>
          </a:bodyPr>
          <a:lstStyle/>
          <a:p>
            <a:r>
              <a:rPr sz="1055" b="0">
                <a:solidFill>
                  <a:srgbClr val="2E2E2E"/>
                </a:solidFill>
                <a:latin typeface="Calibri"/>
              </a:rPr>
              <a:t>over the same</a:t>
            </a:r>
          </a:p>
        </p:txBody>
      </p:sp>
      <p:sp>
        <p:nvSpPr>
          <p:cNvPr id="70" name="TextBox 69"/>
          <p:cNvSpPr txBox="1"/>
          <p:nvPr/>
        </p:nvSpPr>
        <p:spPr>
          <a:xfrm>
            <a:off x="1743075" y="5949450"/>
            <a:ext cx="1565052" cy="179984"/>
          </a:xfrm>
          <a:prstGeom prst="rect">
            <a:avLst/>
          </a:prstGeom>
          <a:noFill/>
        </p:spPr>
        <p:txBody>
          <a:bodyPr wrap="none" lIns="0" rIns="0" tIns="0" bIns="0">
            <a:spAutoFit/>
          </a:bodyPr>
          <a:lstStyle/>
          <a:p>
            <a:r>
              <a:rPr sz="1055" b="0">
                <a:solidFill>
                  <a:srgbClr val="2E2E2E"/>
                </a:solidFill>
                <a:latin typeface="Calibri"/>
              </a:rPr>
              <a:t>window, leaving realisation</a:t>
            </a:r>
          </a:p>
        </p:txBody>
      </p:sp>
      <p:pic>
        <p:nvPicPr>
          <p:cNvPr id="71" name="Picture 70" descr="lock.png"/>
          <p:cNvPicPr>
            <a:picLocks noChangeAspect="1"/>
          </p:cNvPicPr>
          <p:nvPr/>
        </p:nvPicPr>
        <p:blipFill>
          <a:blip r:embed="rId4"/>
          <a:stretch>
            <a:fillRect/>
          </a:stretch>
        </p:blipFill>
        <p:spPr>
          <a:xfrm>
            <a:off x="3255209" y="5940062"/>
            <a:ext cx="123551" cy="179710"/>
          </a:xfrm>
          <a:prstGeom prst="rect">
            <a:avLst/>
          </a:prstGeom>
        </p:spPr>
      </p:pic>
      <p:sp>
        <p:nvSpPr>
          <p:cNvPr id="72" name="TextBox 71"/>
          <p:cNvSpPr txBox="1"/>
          <p:nvPr/>
        </p:nvSpPr>
        <p:spPr>
          <a:xfrm>
            <a:off x="3416005" y="5949450"/>
            <a:ext cx="4255412" cy="179984"/>
          </a:xfrm>
          <a:prstGeom prst="rect">
            <a:avLst/>
          </a:prstGeom>
          <a:noFill/>
        </p:spPr>
        <p:txBody>
          <a:bodyPr wrap="none" lIns="0" rIns="0" tIns="0" bIns="0">
            <a:spAutoFit/>
          </a:bodyPr>
          <a:lstStyle/>
          <a:p>
            <a:r>
              <a:rPr sz="1055" b="0">
                <a:solidFill>
                  <a:srgbClr val="2E2E2E"/>
                </a:solidFill>
                <a:latin typeface="Calibri"/>
              </a:rPr>
              <a:t>a year the gap between the two is the premiumisation the forecast assumes.</a:t>
            </a:r>
          </a:p>
        </p:txBody>
      </p:sp>
    </p:spTree>
  </p:cSld>
  <p:clrMapOvr>
    <a:masterClrMapping/>
  </p:clrMapOvr>
</p:sld>
</file>

<file path=ppt/slides/slide2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Porter's Five Forces Analysis Global Removable Partial Dentures Market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supplier power, buyer power, competition, substitutes and entry barriers shaping the market's profitability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TextBox 10"/>
          <p:cNvSpPr txBox="1"/>
          <p:nvPr/>
        </p:nvSpPr>
        <p:spPr>
          <a:xfrm>
            <a:off x="142875" y="989007"/>
            <a:ext cx="11906250" cy="328567"/>
          </a:xfrm>
          <a:prstGeom prst="rect">
            <a:avLst/>
          </a:prstGeom>
          <a:noFill/>
        </p:spPr>
        <p:txBody>
          <a:bodyPr wrap="square" lIns="28575" rIns="28575" tIns="9525" bIns="9525" anchor="ctr">
            <a:spAutoFit/>
          </a:bodyPr>
          <a:lstStyle/>
          <a:p>
            <a:pPr algn="l">
              <a:lnSpc>
                <a:spcPct val="115000"/>
              </a:lnSpc>
            </a:pPr>
            <a:r>
              <a:rPr sz="1100" b="0">
                <a:solidFill>
                  <a:srgbClr val="6C7A89"/>
                </a:solidFill>
                <a:latin typeface="Calibri"/>
              </a:rPr>
              <a:t/>
            </a:r>
          </a:p>
        </p:txBody>
      </p:sp>
      <p:sp>
        <p:nvSpPr>
          <p:cNvPr id="12" name="Oval 11"/>
          <p:cNvSpPr/>
          <p:nvPr/>
        </p:nvSpPr>
        <p:spPr>
          <a:xfrm>
            <a:off x="876300" y="1427096"/>
            <a:ext cx="914400" cy="876177"/>
          </a:xfrm>
          <a:prstGeom prst="ellipse">
            <a:avLst/>
          </a:prstGeom>
          <a:solidFill>
            <a:srgbClr val="F2D24B"/>
          </a:solidFill>
          <a:ln w="12700">
            <a:solidFill>
              <a:srgbClr val="F2D24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1047750" y="1664394"/>
            <a:ext cx="571500" cy="401581"/>
          </a:xfrm>
          <a:prstGeom prst="rect">
            <a:avLst/>
          </a:prstGeom>
          <a:noFill/>
        </p:spPr>
        <p:txBody>
          <a:bodyPr wrap="none" lIns="0" rIns="0" tIns="0" bIns="0" anchor="ctr">
            <a:spAutoFit/>
          </a:bodyPr>
          <a:lstStyle/>
          <a:p>
            <a:pPr algn="ctr"/>
            <a:r>
              <a:rPr sz="3400" b="1">
                <a:solidFill>
                  <a:srgbClr val="8A6A00"/>
                </a:solidFill>
                <a:latin typeface="Calibri"/>
              </a:rPr>
              <a:t>$</a:t>
            </a:r>
          </a:p>
        </p:txBody>
      </p:sp>
      <p:sp>
        <p:nvSpPr>
          <p:cNvPr id="14" name="TextBox 13"/>
          <p:cNvSpPr txBox="1"/>
          <p:nvPr/>
        </p:nvSpPr>
        <p:spPr>
          <a:xfrm>
            <a:off x="21907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Bargaining Power of Suppliers</a:t>
            </a:r>
          </a:p>
        </p:txBody>
      </p:sp>
      <p:sp>
        <p:nvSpPr>
          <p:cNvPr id="15" name="TextBox 14"/>
          <p:cNvSpPr txBox="1"/>
          <p:nvPr/>
        </p:nvSpPr>
        <p:spPr>
          <a:xfrm>
            <a:off x="247650" y="2796123"/>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16" name="TextBox 15"/>
          <p:cNvSpPr txBox="1"/>
          <p:nvPr/>
        </p:nvSpPr>
        <p:spPr>
          <a:xfrm>
            <a:off x="247650" y="3663174"/>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17" name="TextBox 16"/>
          <p:cNvSpPr txBox="1"/>
          <p:nvPr/>
        </p:nvSpPr>
        <p:spPr>
          <a:xfrm>
            <a:off x="247650" y="4530225"/>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Buyers can rebalance across 4 product type lines, which caps supplier leverage in commodity grades.</a:t>
            </a:r>
          </a:p>
        </p:txBody>
      </p:sp>
      <p:sp>
        <p:nvSpPr>
          <p:cNvPr id="18" name="Oval 17"/>
          <p:cNvSpPr/>
          <p:nvPr/>
        </p:nvSpPr>
        <p:spPr>
          <a:xfrm>
            <a:off x="3257550" y="1427096"/>
            <a:ext cx="914400" cy="876177"/>
          </a:xfrm>
          <a:prstGeom prst="ellipse">
            <a:avLst/>
          </a:prstGeom>
          <a:solidFill>
            <a:srgbClr val="D9D9D9"/>
          </a:solidFill>
          <a:ln w="12700">
            <a:solidFill>
              <a:srgbClr val="D9D9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Freeform 18"/>
          <p:cNvSpPr/>
          <p:nvPr/>
        </p:nvSpPr>
        <p:spPr>
          <a:xfrm>
            <a:off x="3476625" y="1710028"/>
            <a:ext cx="152400" cy="209918"/>
          </a:xfrm>
          <a:custGeom>
            <a:avLst/>
            <a:gdLst/>
            <a:ahLst/>
            <a:cxnLst/>
            <a:rect l="l" t="t" r="r" b="b"/>
            <a:pathLst>
              <a:path w="16" h="23">
                <a:moveTo>
                  <a:pt x="0" y="0"/>
                </a:moveTo>
                <a:lnTo>
                  <a:pt x="8" y="0"/>
                </a:lnTo>
                <a:lnTo>
                  <a:pt x="16" y="23"/>
                </a:lnTo>
              </a:path>
            </a:pathLst>
          </a:custGeom>
          <a:noFill/>
          <a:ln w="43180">
            <a:solidFill>
              <a:srgbClr val="2B2B2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Freeform 19"/>
          <p:cNvSpPr/>
          <p:nvPr/>
        </p:nvSpPr>
        <p:spPr>
          <a:xfrm>
            <a:off x="3609975" y="1783043"/>
            <a:ext cx="342900" cy="155156"/>
          </a:xfrm>
          <a:custGeom>
            <a:avLst/>
            <a:gdLst/>
            <a:ahLst/>
            <a:cxnLst/>
            <a:rect l="l" t="t" r="r" b="b"/>
            <a:pathLst>
              <a:path w="36" h="17">
                <a:moveTo>
                  <a:pt x="0" y="0"/>
                </a:moveTo>
                <a:lnTo>
                  <a:pt x="36" y="0"/>
                </a:lnTo>
                <a:lnTo>
                  <a:pt x="31" y="17"/>
                </a:lnTo>
                <a:lnTo>
                  <a:pt x="5" y="17"/>
                </a:lnTo>
                <a:close/>
              </a:path>
            </a:pathLst>
          </a:custGeom>
          <a:solidFill>
            <a:srgbClr val="2B2B2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Oval 20"/>
          <p:cNvSpPr/>
          <p:nvPr/>
        </p:nvSpPr>
        <p:spPr>
          <a:xfrm>
            <a:off x="3648075" y="1983834"/>
            <a:ext cx="76200" cy="73015"/>
          </a:xfrm>
          <a:prstGeom prst="ellipse">
            <a:avLst/>
          </a:prstGeom>
          <a:solidFill>
            <a:srgbClr val="2B2B2B"/>
          </a:solidFill>
          <a:ln w="12700">
            <a:solidFill>
              <a:srgbClr val="2B2B2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Oval 21"/>
          <p:cNvSpPr/>
          <p:nvPr/>
        </p:nvSpPr>
        <p:spPr>
          <a:xfrm>
            <a:off x="3829050" y="1983834"/>
            <a:ext cx="76200" cy="73015"/>
          </a:xfrm>
          <a:prstGeom prst="ellipse">
            <a:avLst/>
          </a:prstGeom>
          <a:solidFill>
            <a:srgbClr val="2B2B2B"/>
          </a:solidFill>
          <a:ln w="12700">
            <a:solidFill>
              <a:srgbClr val="2B2B2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60032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Bargaining Power of Buyers</a:t>
            </a:r>
          </a:p>
        </p:txBody>
      </p:sp>
      <p:sp>
        <p:nvSpPr>
          <p:cNvPr id="24" name="TextBox 23"/>
          <p:cNvSpPr txBox="1"/>
          <p:nvPr/>
        </p:nvSpPr>
        <p:spPr>
          <a:xfrm>
            <a:off x="2628900" y="2796123"/>
            <a:ext cx="2171700" cy="96744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5" name="TextBox 24"/>
          <p:cNvSpPr txBox="1"/>
          <p:nvPr/>
        </p:nvSpPr>
        <p:spPr>
          <a:xfrm>
            <a:off x="2628900" y="3854838"/>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6" name="TextBox 25"/>
          <p:cNvSpPr txBox="1"/>
          <p:nvPr/>
        </p:nvSpPr>
        <p:spPr>
          <a:xfrm>
            <a:off x="2628900" y="4539352"/>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Switching is easiest where 4 comparable product type lines compete for the same demand.</a:t>
            </a:r>
          </a:p>
        </p:txBody>
      </p:sp>
      <p:sp>
        <p:nvSpPr>
          <p:cNvPr id="27" name="Oval 26"/>
          <p:cNvSpPr/>
          <p:nvPr/>
        </p:nvSpPr>
        <p:spPr>
          <a:xfrm>
            <a:off x="5638800" y="1427096"/>
            <a:ext cx="914400" cy="876177"/>
          </a:xfrm>
          <a:prstGeom prst="ellipse">
            <a:avLst/>
          </a:prstGeom>
          <a:solidFill>
            <a:srgbClr val="E88A8A"/>
          </a:solidFill>
          <a:ln w="12700">
            <a:solidFill>
              <a:srgbClr val="E88A8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Oval 27"/>
          <p:cNvSpPr/>
          <p:nvPr/>
        </p:nvSpPr>
        <p:spPr>
          <a:xfrm>
            <a:off x="5876925" y="1655267"/>
            <a:ext cx="438150" cy="419835"/>
          </a:xfrm>
          <a:prstGeom prst="ellipse">
            <a:avLst/>
          </a:prstGeom>
          <a:solidFill>
            <a:srgbClr val="B23A3A"/>
          </a:solidFill>
          <a:ln w="12700">
            <a:solidFill>
              <a:srgbClr val="B23A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Oval 28"/>
          <p:cNvSpPr/>
          <p:nvPr/>
        </p:nvSpPr>
        <p:spPr>
          <a:xfrm>
            <a:off x="5943600" y="1719155"/>
            <a:ext cx="304800" cy="292059"/>
          </a:xfrm>
          <a:prstGeom prst="ellipse">
            <a:avLst/>
          </a:prstGeom>
          <a:solidFill>
            <a:srgbClr val="E88A8A"/>
          </a:solidFill>
          <a:ln w="12700">
            <a:solidFill>
              <a:srgbClr val="E88A8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6010275" y="1783043"/>
            <a:ext cx="171450" cy="164283"/>
          </a:xfrm>
          <a:prstGeom prst="ellipse">
            <a:avLst/>
          </a:prstGeom>
          <a:solidFill>
            <a:srgbClr val="B23A3A"/>
          </a:solidFill>
          <a:ln w="12700">
            <a:solidFill>
              <a:srgbClr val="B23A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6062662" y="1833240"/>
            <a:ext cx="66675" cy="63888"/>
          </a:xfrm>
          <a:prstGeom prst="ellipse">
            <a:avLst/>
          </a:prstGeom>
          <a:solidFill>
            <a:srgbClr val="E88A8A"/>
          </a:solidFill>
          <a:ln w="12700">
            <a:solidFill>
              <a:srgbClr val="E88A8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Freeform 31"/>
          <p:cNvSpPr/>
          <p:nvPr/>
        </p:nvSpPr>
        <p:spPr>
          <a:xfrm>
            <a:off x="6134100" y="1627887"/>
            <a:ext cx="209550" cy="200791"/>
          </a:xfrm>
          <a:custGeom>
            <a:avLst/>
            <a:gdLst/>
            <a:ahLst/>
            <a:cxnLst/>
            <a:rect l="l" t="t" r="r" b="b"/>
            <a:pathLst>
              <a:path w="22" h="22">
                <a:moveTo>
                  <a:pt x="0" y="22"/>
                </a:moveTo>
                <a:lnTo>
                  <a:pt x="22" y="0"/>
                </a:lnTo>
              </a:path>
            </a:pathLst>
          </a:custGeom>
          <a:noFill/>
          <a:ln w="38100">
            <a:solidFill>
              <a:srgbClr val="B23A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Freeform 32"/>
          <p:cNvSpPr/>
          <p:nvPr/>
        </p:nvSpPr>
        <p:spPr>
          <a:xfrm>
            <a:off x="6267450" y="1591379"/>
            <a:ext cx="114300" cy="109522"/>
          </a:xfrm>
          <a:custGeom>
            <a:avLst/>
            <a:gdLst/>
            <a:ahLst/>
            <a:cxnLst/>
            <a:rect l="l" t="t" r="r" b="b"/>
            <a:pathLst>
              <a:path w="12" h="12">
                <a:moveTo>
                  <a:pt x="0" y="0"/>
                </a:moveTo>
                <a:lnTo>
                  <a:pt x="12" y="0"/>
                </a:lnTo>
                <a:lnTo>
                  <a:pt x="12" y="12"/>
                </a:lnTo>
                <a:close/>
              </a:path>
            </a:pathLst>
          </a:custGeom>
          <a:solidFill>
            <a:srgbClr val="B23A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498157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Intensity of Competition</a:t>
            </a:r>
          </a:p>
        </p:txBody>
      </p:sp>
      <p:sp>
        <p:nvSpPr>
          <p:cNvPr id="35" name="TextBox 34"/>
          <p:cNvSpPr txBox="1"/>
          <p:nvPr/>
        </p:nvSpPr>
        <p:spPr>
          <a:xfrm>
            <a:off x="5010150" y="2796123"/>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6" name="TextBox 35"/>
          <p:cNvSpPr txBox="1"/>
          <p:nvPr/>
        </p:nvSpPr>
        <p:spPr>
          <a:xfrm>
            <a:off x="5010150" y="3663174"/>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7" name="TextBox 36"/>
          <p:cNvSpPr txBox="1"/>
          <p:nvPr/>
        </p:nvSpPr>
        <p:spPr>
          <a:xfrm>
            <a:off x="5010150" y="4530225"/>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8" name="Oval 37"/>
          <p:cNvSpPr/>
          <p:nvPr/>
        </p:nvSpPr>
        <p:spPr>
          <a:xfrm>
            <a:off x="8020050" y="1427096"/>
            <a:ext cx="914400" cy="876177"/>
          </a:xfrm>
          <a:prstGeom prst="ellipse">
            <a:avLst/>
          </a:prstGeom>
          <a:solidFill>
            <a:srgbClr val="C9C0E0"/>
          </a:solidFill>
          <a:ln w="12700">
            <a:solidFill>
              <a:srgbClr val="C9C0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ounded Rectangle 38"/>
          <p:cNvSpPr/>
          <p:nvPr/>
        </p:nvSpPr>
        <p:spPr>
          <a:xfrm>
            <a:off x="8382000" y="1637014"/>
            <a:ext cx="190500" cy="182537"/>
          </a:xfrm>
          <a:prstGeom prst="roundRect">
            <a:avLst>
              <a:gd name="adj" fmla="val 15000"/>
            </a:avLst>
          </a:prstGeom>
          <a:solidFill>
            <a:srgbClr val="C9C0E0"/>
          </a:solidFill>
          <a:ln w="27940">
            <a:solidFill>
              <a:srgbClr val="4A3F6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ounded Rectangle 39"/>
          <p:cNvSpPr/>
          <p:nvPr/>
        </p:nvSpPr>
        <p:spPr>
          <a:xfrm>
            <a:off x="8248650" y="1874312"/>
            <a:ext cx="190500" cy="182537"/>
          </a:xfrm>
          <a:prstGeom prst="roundRect">
            <a:avLst>
              <a:gd name="adj" fmla="val 15000"/>
            </a:avLst>
          </a:prstGeom>
          <a:solidFill>
            <a:srgbClr val="C9C0E0"/>
          </a:solidFill>
          <a:ln w="27940">
            <a:solidFill>
              <a:srgbClr val="4A3F6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ounded Rectangle 40"/>
          <p:cNvSpPr/>
          <p:nvPr/>
        </p:nvSpPr>
        <p:spPr>
          <a:xfrm>
            <a:off x="8515350" y="1874312"/>
            <a:ext cx="190500" cy="182537"/>
          </a:xfrm>
          <a:prstGeom prst="roundRect">
            <a:avLst>
              <a:gd name="adj" fmla="val 15000"/>
            </a:avLst>
          </a:prstGeom>
          <a:solidFill>
            <a:srgbClr val="C9C0E0"/>
          </a:solidFill>
          <a:ln w="27940">
            <a:solidFill>
              <a:srgbClr val="4A3F6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736282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Threat of Substitutes</a:t>
            </a:r>
          </a:p>
        </p:txBody>
      </p:sp>
      <p:sp>
        <p:nvSpPr>
          <p:cNvPr id="43" name="TextBox 42"/>
          <p:cNvSpPr txBox="1"/>
          <p:nvPr/>
        </p:nvSpPr>
        <p:spPr>
          <a:xfrm>
            <a:off x="7391400" y="2796123"/>
            <a:ext cx="2171700" cy="96744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4" name="TextBox 43"/>
          <p:cNvSpPr txBox="1"/>
          <p:nvPr/>
        </p:nvSpPr>
        <p:spPr>
          <a:xfrm>
            <a:off x="7391400" y="3854838"/>
            <a:ext cx="21717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5" name="TextBox 44"/>
          <p:cNvSpPr txBox="1"/>
          <p:nvPr/>
        </p:nvSpPr>
        <p:spPr>
          <a:xfrm>
            <a:off x="7391400" y="4347688"/>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6" name="Oval 45"/>
          <p:cNvSpPr/>
          <p:nvPr/>
        </p:nvSpPr>
        <p:spPr>
          <a:xfrm>
            <a:off x="10401300" y="1427096"/>
            <a:ext cx="914400" cy="876177"/>
          </a:xfrm>
          <a:prstGeom prst="ellipse">
            <a:avLst/>
          </a:prstGeom>
          <a:solidFill>
            <a:srgbClr val="BFDCEA"/>
          </a:solidFill>
          <a:ln w="12700">
            <a:solidFill>
              <a:srgbClr val="BFDC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10610850" y="1700902"/>
            <a:ext cx="114300" cy="109522"/>
          </a:xfrm>
          <a:prstGeom prst="ellipse">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Freeform 47"/>
          <p:cNvSpPr/>
          <p:nvPr/>
        </p:nvSpPr>
        <p:spPr>
          <a:xfrm>
            <a:off x="10563225" y="1837804"/>
            <a:ext cx="209550" cy="182537"/>
          </a:xfrm>
          <a:custGeom>
            <a:avLst/>
            <a:gdLst/>
            <a:ahLst/>
            <a:cxnLst/>
            <a:rect l="l" t="t" r="r" b="b"/>
            <a:pathLst>
              <a:path w="22" h="20">
                <a:moveTo>
                  <a:pt x="0" y="20"/>
                </a:moveTo>
                <a:lnTo>
                  <a:pt x="3" y="0"/>
                </a:lnTo>
                <a:lnTo>
                  <a:pt x="19" y="0"/>
                </a:lnTo>
                <a:lnTo>
                  <a:pt x="22" y="20"/>
                </a:lnTo>
                <a:close/>
              </a:path>
            </a:pathLst>
          </a:custGeom>
          <a:solidFill>
            <a:srgbClr val="5B7C9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Oval 48"/>
          <p:cNvSpPr/>
          <p:nvPr/>
        </p:nvSpPr>
        <p:spPr>
          <a:xfrm>
            <a:off x="10991850" y="1700902"/>
            <a:ext cx="114300" cy="109522"/>
          </a:xfrm>
          <a:prstGeom prst="ellipse">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Freeform 49"/>
          <p:cNvSpPr/>
          <p:nvPr/>
        </p:nvSpPr>
        <p:spPr>
          <a:xfrm>
            <a:off x="10944225" y="1837804"/>
            <a:ext cx="209550" cy="182537"/>
          </a:xfrm>
          <a:custGeom>
            <a:avLst/>
            <a:gdLst/>
            <a:ahLst/>
            <a:cxnLst/>
            <a:rect l="l" t="t" r="r" b="b"/>
            <a:pathLst>
              <a:path w="22" h="20">
                <a:moveTo>
                  <a:pt x="0" y="20"/>
                </a:moveTo>
                <a:lnTo>
                  <a:pt x="3" y="0"/>
                </a:lnTo>
                <a:lnTo>
                  <a:pt x="19" y="0"/>
                </a:lnTo>
                <a:lnTo>
                  <a:pt x="22" y="20"/>
                </a:lnTo>
                <a:close/>
              </a:path>
            </a:pathLst>
          </a:custGeom>
          <a:solidFill>
            <a:srgbClr val="5B7C9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Oval 50"/>
          <p:cNvSpPr/>
          <p:nvPr/>
        </p:nvSpPr>
        <p:spPr>
          <a:xfrm>
            <a:off x="10782300" y="1609633"/>
            <a:ext cx="152400" cy="146030"/>
          </a:xfrm>
          <a:prstGeom prst="ellipse">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Freeform 51"/>
          <p:cNvSpPr/>
          <p:nvPr/>
        </p:nvSpPr>
        <p:spPr>
          <a:xfrm>
            <a:off x="10715625" y="1783043"/>
            <a:ext cx="285750" cy="255552"/>
          </a:xfrm>
          <a:custGeom>
            <a:avLst/>
            <a:gdLst/>
            <a:ahLst/>
            <a:cxnLst/>
            <a:rect l="l" t="t" r="r" b="b"/>
            <a:pathLst>
              <a:path w="30" h="28">
                <a:moveTo>
                  <a:pt x="0" y="28"/>
                </a:moveTo>
                <a:lnTo>
                  <a:pt x="4" y="0"/>
                </a:lnTo>
                <a:lnTo>
                  <a:pt x="26" y="0"/>
                </a:lnTo>
                <a:lnTo>
                  <a:pt x="30" y="28"/>
                </a:lnTo>
                <a:close/>
              </a:path>
            </a:pathLst>
          </a:custGeom>
          <a:solidFill>
            <a:srgbClr val="5B7C9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974407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Threat of New Entrants</a:t>
            </a:r>
          </a:p>
        </p:txBody>
      </p:sp>
      <p:sp>
        <p:nvSpPr>
          <p:cNvPr id="54" name="TextBox 53"/>
          <p:cNvSpPr txBox="1"/>
          <p:nvPr/>
        </p:nvSpPr>
        <p:spPr>
          <a:xfrm>
            <a:off x="9772650" y="2796123"/>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55" name="TextBox 54"/>
          <p:cNvSpPr txBox="1"/>
          <p:nvPr/>
        </p:nvSpPr>
        <p:spPr>
          <a:xfrm>
            <a:off x="9772650" y="3663174"/>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56" name="TextBox 55"/>
          <p:cNvSpPr txBox="1"/>
          <p:nvPr/>
        </p:nvSpPr>
        <p:spPr>
          <a:xfrm>
            <a:off x="9772650" y="4347688"/>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57" name="TextBox 5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58" name="TextBox 57"/>
          <p:cNvSpPr txBox="1"/>
          <p:nvPr/>
        </p:nvSpPr>
        <p:spPr>
          <a:xfrm>
            <a:off x="171450" y="1069470"/>
            <a:ext cx="9743330" cy="186689"/>
          </a:xfrm>
          <a:prstGeom prst="rect">
            <a:avLst/>
          </a:prstGeom>
          <a:noFill/>
        </p:spPr>
        <p:txBody>
          <a:bodyPr wrap="none" lIns="0" rIns="0" tIns="0" bIns="0">
            <a:spAutoFit/>
          </a:bodyPr>
          <a:lstStyle/>
          <a:p>
            <a:r>
              <a:rPr sz="1100" b="0">
                <a:solidFill>
                  <a:srgbClr val="6C7A89"/>
                </a:solidFill>
                <a:latin typeface="Calibri"/>
              </a:rPr>
              <a:t>Supplier power, buyer power, competitive intensity, substitution and entry barriers scored from the global dataset 4 product type lines, 4 end user routes and 6 regions at</a:t>
            </a:r>
          </a:p>
        </p:txBody>
      </p:sp>
      <p:pic>
        <p:nvPicPr>
          <p:cNvPr id="59" name="Picture 58" descr="lock.png"/>
          <p:cNvPicPr>
            <a:picLocks noChangeAspect="1"/>
          </p:cNvPicPr>
          <p:nvPr/>
        </p:nvPicPr>
        <p:blipFill>
          <a:blip r:embed="rId4"/>
          <a:stretch>
            <a:fillRect/>
          </a:stretch>
        </p:blipFill>
        <p:spPr>
          <a:xfrm>
            <a:off x="9862832" y="1059691"/>
            <a:ext cx="128699" cy="187198"/>
          </a:xfrm>
          <a:prstGeom prst="rect">
            <a:avLst/>
          </a:prstGeom>
        </p:spPr>
      </p:pic>
      <p:sp>
        <p:nvSpPr>
          <p:cNvPr id="60" name="TextBox 59"/>
          <p:cNvSpPr txBox="1"/>
          <p:nvPr/>
        </p:nvSpPr>
        <p:spPr>
          <a:xfrm>
            <a:off x="10030328" y="1069470"/>
            <a:ext cx="430617" cy="186689"/>
          </a:xfrm>
          <a:prstGeom prst="rect">
            <a:avLst/>
          </a:prstGeom>
          <a:noFill/>
        </p:spPr>
        <p:txBody>
          <a:bodyPr wrap="none" lIns="0" rIns="0" tIns="0" bIns="0">
            <a:spAutoFit/>
          </a:bodyPr>
          <a:lstStyle/>
          <a:p>
            <a:r>
              <a:rPr sz="1100" b="0">
                <a:solidFill>
                  <a:srgbClr val="6C7A89"/>
                </a:solidFill>
                <a:latin typeface="Calibri"/>
              </a:rPr>
              <a:t>CAGR.</a:t>
            </a:r>
          </a:p>
        </p:txBody>
      </p:sp>
      <p:sp>
        <p:nvSpPr>
          <p:cNvPr id="61" name="TextBox 60"/>
          <p:cNvSpPr txBox="1"/>
          <p:nvPr/>
        </p:nvSpPr>
        <p:spPr>
          <a:xfrm>
            <a:off x="276225" y="2848734"/>
            <a:ext cx="2114550" cy="186689"/>
          </a:xfrm>
          <a:prstGeom prst="rect">
            <a:avLst/>
          </a:prstGeom>
          <a:noFill/>
        </p:spPr>
        <p:txBody>
          <a:bodyPr wrap="none" lIns="0" rIns="0" tIns="0" bIns="0">
            <a:spAutoFit/>
          </a:bodyPr>
          <a:lstStyle/>
          <a:p>
            <a:r>
              <a:rPr sz="1100" b="0">
                <a:solidFill>
                  <a:srgbClr val="2E2E2E"/>
                </a:solidFill>
                <a:latin typeface="Calibri"/>
              </a:rPr>
              <a:t>▸ Assessed moderate to high. 'North</a:t>
            </a:r>
          </a:p>
        </p:txBody>
      </p:sp>
      <p:sp>
        <p:nvSpPr>
          <p:cNvPr id="62" name="TextBox 61"/>
          <p:cNvSpPr txBox="1"/>
          <p:nvPr/>
        </p:nvSpPr>
        <p:spPr>
          <a:xfrm>
            <a:off x="276225" y="3016374"/>
            <a:ext cx="1071016" cy="186689"/>
          </a:xfrm>
          <a:prstGeom prst="rect">
            <a:avLst/>
          </a:prstGeom>
          <a:noFill/>
        </p:spPr>
        <p:txBody>
          <a:bodyPr wrap="none" lIns="0" rIns="0" tIns="0" bIns="0">
            <a:spAutoFit/>
          </a:bodyPr>
          <a:lstStyle/>
          <a:p>
            <a:r>
              <a:rPr sz="1100" b="0">
                <a:solidFill>
                  <a:srgbClr val="2E2E2E"/>
                </a:solidFill>
                <a:latin typeface="Calibri"/>
              </a:rPr>
              <a:t>America' supplies</a:t>
            </a:r>
          </a:p>
        </p:txBody>
      </p:sp>
      <p:pic>
        <p:nvPicPr>
          <p:cNvPr id="63" name="Picture 62" descr="lock.png"/>
          <p:cNvPicPr>
            <a:picLocks noChangeAspect="1"/>
          </p:cNvPicPr>
          <p:nvPr/>
        </p:nvPicPr>
        <p:blipFill>
          <a:blip r:embed="rId4"/>
          <a:stretch>
            <a:fillRect/>
          </a:stretch>
        </p:blipFill>
        <p:spPr>
          <a:xfrm>
            <a:off x="1295293" y="3006595"/>
            <a:ext cx="128699" cy="187198"/>
          </a:xfrm>
          <a:prstGeom prst="rect">
            <a:avLst/>
          </a:prstGeom>
        </p:spPr>
      </p:pic>
      <p:sp>
        <p:nvSpPr>
          <p:cNvPr id="64" name="TextBox 63"/>
          <p:cNvSpPr txBox="1"/>
          <p:nvPr/>
        </p:nvSpPr>
        <p:spPr>
          <a:xfrm>
            <a:off x="1462789" y="3016374"/>
            <a:ext cx="844549" cy="186689"/>
          </a:xfrm>
          <a:prstGeom prst="rect">
            <a:avLst/>
          </a:prstGeom>
          <a:noFill/>
        </p:spPr>
        <p:txBody>
          <a:bodyPr wrap="none" lIns="0" rIns="0" tIns="0" bIns="0">
            <a:spAutoFit/>
          </a:bodyPr>
          <a:lstStyle/>
          <a:p>
            <a:r>
              <a:rPr sz="1100" b="0">
                <a:solidFill>
                  <a:srgbClr val="2E2E2E"/>
                </a:solidFill>
                <a:latin typeface="Calibri"/>
              </a:rPr>
              <a:t>of 2036 value</a:t>
            </a:r>
          </a:p>
        </p:txBody>
      </p:sp>
      <p:sp>
        <p:nvSpPr>
          <p:cNvPr id="65" name="TextBox 64"/>
          <p:cNvSpPr txBox="1"/>
          <p:nvPr/>
        </p:nvSpPr>
        <p:spPr>
          <a:xfrm>
            <a:off x="276225" y="3184014"/>
            <a:ext cx="1842095" cy="186689"/>
          </a:xfrm>
          <a:prstGeom prst="rect">
            <a:avLst/>
          </a:prstGeom>
          <a:noFill/>
        </p:spPr>
        <p:txBody>
          <a:bodyPr wrap="none" lIns="0" rIns="0" tIns="0" bIns="0">
            <a:spAutoFit/>
          </a:bodyPr>
          <a:lstStyle/>
          <a:p>
            <a:r>
              <a:rPr sz="1100" b="0">
                <a:solidFill>
                  <a:srgbClr val="2E2E2E"/>
                </a:solidFill>
                <a:latin typeface="Calibri"/>
              </a:rPr>
              <a:t>across 6 regions, concentrating</a:t>
            </a:r>
          </a:p>
        </p:txBody>
      </p:sp>
      <p:sp>
        <p:nvSpPr>
          <p:cNvPr id="66" name="TextBox 65"/>
          <p:cNvSpPr txBox="1"/>
          <p:nvPr/>
        </p:nvSpPr>
        <p:spPr>
          <a:xfrm>
            <a:off x="276225" y="3351654"/>
            <a:ext cx="1173608" cy="186689"/>
          </a:xfrm>
          <a:prstGeom prst="rect">
            <a:avLst/>
          </a:prstGeom>
          <a:noFill/>
        </p:spPr>
        <p:txBody>
          <a:bodyPr wrap="none" lIns="0" rIns="0" tIns="0" bIns="0">
            <a:spAutoFit/>
          </a:bodyPr>
          <a:lstStyle/>
          <a:p>
            <a:r>
              <a:rPr sz="1100" b="0">
                <a:solidFill>
                  <a:srgbClr val="2E2E2E"/>
                </a:solidFill>
                <a:latin typeface="Calibri"/>
              </a:rPr>
              <a:t>upstream leverage.</a:t>
            </a:r>
          </a:p>
        </p:txBody>
      </p:sp>
      <p:sp>
        <p:nvSpPr>
          <p:cNvPr id="67" name="TextBox 66"/>
          <p:cNvSpPr txBox="1"/>
          <p:nvPr/>
        </p:nvSpPr>
        <p:spPr>
          <a:xfrm>
            <a:off x="276225" y="3799605"/>
            <a:ext cx="1676163" cy="186689"/>
          </a:xfrm>
          <a:prstGeom prst="rect">
            <a:avLst/>
          </a:prstGeom>
          <a:noFill/>
        </p:spPr>
        <p:txBody>
          <a:bodyPr wrap="none" lIns="0" rIns="0" tIns="0" bIns="0">
            <a:spAutoFit/>
          </a:bodyPr>
          <a:lstStyle/>
          <a:p>
            <a:r>
              <a:rPr sz="1100" b="0">
                <a:solidFill>
                  <a:srgbClr val="2E2E2E"/>
                </a:solidFill>
                <a:latin typeface="Calibri"/>
              </a:rPr>
              <a:t>▸ Average realisation moves</a:t>
            </a:r>
          </a:p>
        </p:txBody>
      </p:sp>
      <p:pic>
        <p:nvPicPr>
          <p:cNvPr id="68" name="Picture 67" descr="lock.png"/>
          <p:cNvPicPr>
            <a:picLocks noChangeAspect="1"/>
          </p:cNvPicPr>
          <p:nvPr/>
        </p:nvPicPr>
        <p:blipFill>
          <a:blip r:embed="rId4"/>
          <a:stretch>
            <a:fillRect/>
          </a:stretch>
        </p:blipFill>
        <p:spPr>
          <a:xfrm>
            <a:off x="1900439" y="3789826"/>
            <a:ext cx="128699" cy="187198"/>
          </a:xfrm>
          <a:prstGeom prst="rect">
            <a:avLst/>
          </a:prstGeom>
        </p:spPr>
      </p:pic>
      <p:sp>
        <p:nvSpPr>
          <p:cNvPr id="69" name="TextBox 68"/>
          <p:cNvSpPr txBox="1"/>
          <p:nvPr/>
        </p:nvSpPr>
        <p:spPr>
          <a:xfrm>
            <a:off x="2067935" y="3799605"/>
            <a:ext cx="143048" cy="186689"/>
          </a:xfrm>
          <a:prstGeom prst="rect">
            <a:avLst/>
          </a:prstGeom>
          <a:noFill/>
        </p:spPr>
        <p:txBody>
          <a:bodyPr wrap="none" lIns="0" rIns="0" tIns="0" bIns="0">
            <a:spAutoFit/>
          </a:bodyPr>
          <a:lstStyle/>
          <a:p>
            <a:r>
              <a:rPr sz="1100" b="0">
                <a:solidFill>
                  <a:srgbClr val="2E2E2E"/>
                </a:solidFill>
                <a:latin typeface="Calibri"/>
              </a:rPr>
              <a:t>a</a:t>
            </a:r>
          </a:p>
        </p:txBody>
      </p:sp>
      <p:sp>
        <p:nvSpPr>
          <p:cNvPr id="70" name="TextBox 69"/>
          <p:cNvSpPr txBox="1"/>
          <p:nvPr/>
        </p:nvSpPr>
        <p:spPr>
          <a:xfrm>
            <a:off x="276225" y="3967245"/>
            <a:ext cx="2031181" cy="186689"/>
          </a:xfrm>
          <a:prstGeom prst="rect">
            <a:avLst/>
          </a:prstGeom>
          <a:noFill/>
        </p:spPr>
        <p:txBody>
          <a:bodyPr wrap="none" lIns="0" rIns="0" tIns="0" bIns="0">
            <a:spAutoFit/>
          </a:bodyPr>
          <a:lstStyle/>
          <a:p>
            <a:r>
              <a:rPr sz="1100" b="0">
                <a:solidFill>
                  <a:srgbClr val="2E2E2E"/>
                </a:solidFill>
                <a:latin typeface="Calibri"/>
              </a:rPr>
              <a:t>year (2026–2036), indicating input</a:t>
            </a:r>
          </a:p>
        </p:txBody>
      </p:sp>
      <p:sp>
        <p:nvSpPr>
          <p:cNvPr id="71" name="TextBox 70"/>
          <p:cNvSpPr txBox="1"/>
          <p:nvPr/>
        </p:nvSpPr>
        <p:spPr>
          <a:xfrm>
            <a:off x="276225" y="4134885"/>
            <a:ext cx="1874291" cy="186689"/>
          </a:xfrm>
          <a:prstGeom prst="rect">
            <a:avLst/>
          </a:prstGeom>
          <a:noFill/>
        </p:spPr>
        <p:txBody>
          <a:bodyPr wrap="none" lIns="0" rIns="0" tIns="0" bIns="0">
            <a:spAutoFit/>
          </a:bodyPr>
          <a:lstStyle/>
          <a:p>
            <a:r>
              <a:rPr sz="1100" b="0">
                <a:solidFill>
                  <a:srgbClr val="2E2E2E"/>
                </a:solidFill>
                <a:latin typeface="Calibri"/>
              </a:rPr>
              <a:t>costs are being passed through.</a:t>
            </a:r>
          </a:p>
        </p:txBody>
      </p:sp>
      <p:sp>
        <p:nvSpPr>
          <p:cNvPr id="72" name="TextBox 71"/>
          <p:cNvSpPr txBox="1"/>
          <p:nvPr/>
        </p:nvSpPr>
        <p:spPr>
          <a:xfrm>
            <a:off x="2657475" y="2860746"/>
            <a:ext cx="1746324" cy="186689"/>
          </a:xfrm>
          <a:prstGeom prst="rect">
            <a:avLst/>
          </a:prstGeom>
          <a:noFill/>
        </p:spPr>
        <p:txBody>
          <a:bodyPr wrap="none" lIns="0" rIns="0" tIns="0" bIns="0">
            <a:spAutoFit/>
          </a:bodyPr>
          <a:lstStyle/>
          <a:p>
            <a:r>
              <a:rPr sz="1100" b="0">
                <a:solidFill>
                  <a:srgbClr val="2E2E2E"/>
                </a:solidFill>
                <a:latin typeface="Calibri"/>
              </a:rPr>
              <a:t>▸ Assessed moderate to high.</a:t>
            </a:r>
          </a:p>
        </p:txBody>
      </p:sp>
      <p:sp>
        <p:nvSpPr>
          <p:cNvPr id="73" name="TextBox 72"/>
          <p:cNvSpPr txBox="1"/>
          <p:nvPr/>
        </p:nvSpPr>
        <p:spPr>
          <a:xfrm>
            <a:off x="2657475" y="3028386"/>
            <a:ext cx="2071290" cy="186689"/>
          </a:xfrm>
          <a:prstGeom prst="rect">
            <a:avLst/>
          </a:prstGeom>
          <a:noFill/>
        </p:spPr>
        <p:txBody>
          <a:bodyPr wrap="none" lIns="0" rIns="0" tIns="0" bIns="0">
            <a:spAutoFit/>
          </a:bodyPr>
          <a:lstStyle/>
          <a:p>
            <a:r>
              <a:rPr sz="1100" b="0">
                <a:solidFill>
                  <a:srgbClr val="2E2E2E"/>
                </a:solidFill>
                <a:latin typeface="Calibri"/>
              </a:rPr>
              <a:t>Demand routes through 4 end user</a:t>
            </a:r>
          </a:p>
        </p:txBody>
      </p:sp>
      <p:sp>
        <p:nvSpPr>
          <p:cNvPr id="74" name="TextBox 73"/>
          <p:cNvSpPr txBox="1"/>
          <p:nvPr/>
        </p:nvSpPr>
        <p:spPr>
          <a:xfrm>
            <a:off x="2657475" y="3196026"/>
            <a:ext cx="1696119" cy="186689"/>
          </a:xfrm>
          <a:prstGeom prst="rect">
            <a:avLst/>
          </a:prstGeom>
          <a:noFill/>
        </p:spPr>
        <p:txBody>
          <a:bodyPr wrap="none" lIns="0" rIns="0" tIns="0" bIns="0">
            <a:spAutoFit/>
          </a:bodyPr>
          <a:lstStyle/>
          <a:p>
            <a:r>
              <a:rPr sz="1100" b="0">
                <a:solidFill>
                  <a:srgbClr val="2E2E2E"/>
                </a:solidFill>
                <a:latin typeface="Calibri"/>
              </a:rPr>
              <a:t>channels led by 'Academic &amp;</a:t>
            </a:r>
          </a:p>
        </p:txBody>
      </p:sp>
      <p:sp>
        <p:nvSpPr>
          <p:cNvPr id="75" name="TextBox 74"/>
          <p:cNvSpPr txBox="1"/>
          <p:nvPr/>
        </p:nvSpPr>
        <p:spPr>
          <a:xfrm>
            <a:off x="2657475" y="3363666"/>
            <a:ext cx="1842641" cy="186689"/>
          </a:xfrm>
          <a:prstGeom prst="rect">
            <a:avLst/>
          </a:prstGeom>
          <a:noFill/>
        </p:spPr>
        <p:txBody>
          <a:bodyPr wrap="none" lIns="0" rIns="0" tIns="0" bIns="0">
            <a:spAutoFit/>
          </a:bodyPr>
          <a:lstStyle/>
          <a:p>
            <a:r>
              <a:rPr sz="1100" b="0">
                <a:solidFill>
                  <a:srgbClr val="2E2E2E"/>
                </a:solidFill>
                <a:latin typeface="Calibri"/>
              </a:rPr>
              <a:t>Teaching Dental Institutions' at</a:t>
            </a:r>
          </a:p>
        </p:txBody>
      </p:sp>
      <p:pic>
        <p:nvPicPr>
          <p:cNvPr id="76" name="Picture 75" descr="lock.png"/>
          <p:cNvPicPr>
            <a:picLocks noChangeAspect="1"/>
          </p:cNvPicPr>
          <p:nvPr/>
        </p:nvPicPr>
        <p:blipFill>
          <a:blip r:embed="rId4"/>
          <a:stretch>
            <a:fillRect/>
          </a:stretch>
        </p:blipFill>
        <p:spPr>
          <a:xfrm>
            <a:off x="4448167" y="3353887"/>
            <a:ext cx="128699" cy="187198"/>
          </a:xfrm>
          <a:prstGeom prst="rect">
            <a:avLst/>
          </a:prstGeom>
        </p:spPr>
      </p:pic>
      <p:sp>
        <p:nvSpPr>
          <p:cNvPr id="77" name="TextBox 76"/>
          <p:cNvSpPr txBox="1"/>
          <p:nvPr/>
        </p:nvSpPr>
        <p:spPr>
          <a:xfrm>
            <a:off x="4615663" y="3363666"/>
            <a:ext cx="111125" cy="186689"/>
          </a:xfrm>
          <a:prstGeom prst="rect">
            <a:avLst/>
          </a:prstGeom>
          <a:noFill/>
        </p:spPr>
        <p:txBody>
          <a:bodyPr wrap="none" lIns="0" rIns="0" tIns="0" bIns="0">
            <a:spAutoFit/>
          </a:bodyPr>
          <a:lstStyle/>
          <a:p>
            <a:r>
              <a:rPr sz="1100" b="0">
                <a:solidFill>
                  <a:srgbClr val="2E2E2E"/>
                </a:solidFill>
                <a:latin typeface="Calibri"/>
              </a:rPr>
              <a:t>,</a:t>
            </a:r>
          </a:p>
        </p:txBody>
      </p:sp>
      <p:sp>
        <p:nvSpPr>
          <p:cNvPr id="78" name="TextBox 77"/>
          <p:cNvSpPr txBox="1"/>
          <p:nvPr/>
        </p:nvSpPr>
        <p:spPr>
          <a:xfrm>
            <a:off x="2657475" y="3531306"/>
            <a:ext cx="1487388" cy="186689"/>
          </a:xfrm>
          <a:prstGeom prst="rect">
            <a:avLst/>
          </a:prstGeom>
          <a:noFill/>
        </p:spPr>
        <p:txBody>
          <a:bodyPr wrap="none" lIns="0" rIns="0" tIns="0" bIns="0">
            <a:spAutoFit/>
          </a:bodyPr>
          <a:lstStyle/>
          <a:p>
            <a:r>
              <a:rPr sz="1100" b="0">
                <a:solidFill>
                  <a:srgbClr val="2E2E2E"/>
                </a:solidFill>
                <a:latin typeface="Calibri"/>
              </a:rPr>
              <a:t>giving large buyers scale.</a:t>
            </a:r>
          </a:p>
        </p:txBody>
      </p:sp>
      <p:sp>
        <p:nvSpPr>
          <p:cNvPr id="79" name="TextBox 78"/>
          <p:cNvSpPr txBox="1"/>
          <p:nvPr/>
        </p:nvSpPr>
        <p:spPr>
          <a:xfrm>
            <a:off x="2657475" y="3900000"/>
            <a:ext cx="2062013" cy="186689"/>
          </a:xfrm>
          <a:prstGeom prst="rect">
            <a:avLst/>
          </a:prstGeom>
          <a:noFill/>
        </p:spPr>
        <p:txBody>
          <a:bodyPr wrap="none" lIns="0" rIns="0" tIns="0" bIns="0">
            <a:spAutoFit/>
          </a:bodyPr>
          <a:lstStyle/>
          <a:p>
            <a:r>
              <a:rPr sz="1100" b="0">
                <a:solidFill>
                  <a:srgbClr val="2E2E2E"/>
                </a:solidFill>
                <a:latin typeface="Calibri"/>
              </a:rPr>
              <a:t>▸ Price sensitivity tracks realisation</a:t>
            </a:r>
          </a:p>
        </p:txBody>
      </p:sp>
      <p:sp>
        <p:nvSpPr>
          <p:cNvPr id="80" name="TextBox 79"/>
          <p:cNvSpPr txBox="1"/>
          <p:nvPr/>
        </p:nvSpPr>
        <p:spPr>
          <a:xfrm>
            <a:off x="2657475" y="4067640"/>
            <a:ext cx="495845" cy="186689"/>
          </a:xfrm>
          <a:prstGeom prst="rect">
            <a:avLst/>
          </a:prstGeom>
          <a:noFill/>
        </p:spPr>
        <p:txBody>
          <a:bodyPr wrap="none" lIns="0" rIns="0" tIns="0" bIns="0">
            <a:spAutoFit/>
          </a:bodyPr>
          <a:lstStyle/>
          <a:p>
            <a:r>
              <a:rPr sz="1100" b="0">
                <a:solidFill>
                  <a:srgbClr val="2E2E2E"/>
                </a:solidFill>
                <a:latin typeface="Calibri"/>
              </a:rPr>
              <a:t>moving</a:t>
            </a:r>
          </a:p>
        </p:txBody>
      </p:sp>
      <p:pic>
        <p:nvPicPr>
          <p:cNvPr id="81" name="Picture 80" descr="lock.png"/>
          <p:cNvPicPr>
            <a:picLocks noChangeAspect="1"/>
          </p:cNvPicPr>
          <p:nvPr/>
        </p:nvPicPr>
        <p:blipFill>
          <a:blip r:embed="rId4"/>
          <a:stretch>
            <a:fillRect/>
          </a:stretch>
        </p:blipFill>
        <p:spPr>
          <a:xfrm>
            <a:off x="3101372" y="4057861"/>
            <a:ext cx="128699" cy="187198"/>
          </a:xfrm>
          <a:prstGeom prst="rect">
            <a:avLst/>
          </a:prstGeom>
        </p:spPr>
      </p:pic>
      <p:sp>
        <p:nvSpPr>
          <p:cNvPr id="82" name="TextBox 81"/>
          <p:cNvSpPr txBox="1"/>
          <p:nvPr/>
        </p:nvSpPr>
        <p:spPr>
          <a:xfrm>
            <a:off x="3268868" y="4067640"/>
            <a:ext cx="1316583" cy="186689"/>
          </a:xfrm>
          <a:prstGeom prst="rect">
            <a:avLst/>
          </a:prstGeom>
          <a:noFill/>
        </p:spPr>
        <p:txBody>
          <a:bodyPr wrap="none" lIns="0" rIns="0" tIns="0" bIns="0">
            <a:spAutoFit/>
          </a:bodyPr>
          <a:lstStyle/>
          <a:p>
            <a:r>
              <a:rPr sz="1100" b="0">
                <a:solidFill>
                  <a:srgbClr val="2E2E2E"/>
                </a:solidFill>
                <a:latin typeface="Calibri"/>
              </a:rPr>
              <a:t>a year against volume</a:t>
            </a:r>
          </a:p>
        </p:txBody>
      </p:sp>
      <p:sp>
        <p:nvSpPr>
          <p:cNvPr id="83" name="TextBox 82"/>
          <p:cNvSpPr txBox="1"/>
          <p:nvPr/>
        </p:nvSpPr>
        <p:spPr>
          <a:xfrm>
            <a:off x="2657475" y="4235280"/>
            <a:ext cx="632544" cy="186689"/>
          </a:xfrm>
          <a:prstGeom prst="rect">
            <a:avLst/>
          </a:prstGeom>
          <a:noFill/>
        </p:spPr>
        <p:txBody>
          <a:bodyPr wrap="none" lIns="0" rIns="0" tIns="0" bIns="0">
            <a:spAutoFit/>
          </a:bodyPr>
          <a:lstStyle/>
          <a:p>
            <a:r>
              <a:rPr sz="1100" b="0">
                <a:solidFill>
                  <a:srgbClr val="2E2E2E"/>
                </a:solidFill>
                <a:latin typeface="Calibri"/>
              </a:rPr>
              <a:t>growth of</a:t>
            </a:r>
          </a:p>
        </p:txBody>
      </p:sp>
      <p:pic>
        <p:nvPicPr>
          <p:cNvPr id="84" name="Picture 83" descr="lock.png"/>
          <p:cNvPicPr>
            <a:picLocks noChangeAspect="1"/>
          </p:cNvPicPr>
          <p:nvPr/>
        </p:nvPicPr>
        <p:blipFill>
          <a:blip r:embed="rId4"/>
          <a:stretch>
            <a:fillRect/>
          </a:stretch>
        </p:blipFill>
        <p:spPr>
          <a:xfrm>
            <a:off x="3238070" y="4225501"/>
            <a:ext cx="128699" cy="187198"/>
          </a:xfrm>
          <a:prstGeom prst="rect">
            <a:avLst/>
          </a:prstGeom>
        </p:spPr>
      </p:pic>
      <p:sp>
        <p:nvSpPr>
          <p:cNvPr id="85" name="TextBox 84"/>
          <p:cNvSpPr txBox="1"/>
          <p:nvPr/>
        </p:nvSpPr>
        <p:spPr>
          <a:xfrm>
            <a:off x="3405566" y="4235280"/>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86" name="TextBox 85"/>
          <p:cNvSpPr txBox="1"/>
          <p:nvPr/>
        </p:nvSpPr>
        <p:spPr>
          <a:xfrm>
            <a:off x="5038725" y="2932554"/>
            <a:ext cx="1848916" cy="186689"/>
          </a:xfrm>
          <a:prstGeom prst="rect">
            <a:avLst/>
          </a:prstGeom>
          <a:noFill/>
        </p:spPr>
        <p:txBody>
          <a:bodyPr wrap="none" lIns="0" rIns="0" tIns="0" bIns="0">
            <a:spAutoFit/>
          </a:bodyPr>
          <a:lstStyle/>
          <a:p>
            <a:r>
              <a:rPr sz="1100" b="0">
                <a:solidFill>
                  <a:srgbClr val="2E2E2E"/>
                </a:solidFill>
                <a:latin typeface="Calibri"/>
              </a:rPr>
              <a:t>▸ Assessed moderate to high. 4</a:t>
            </a:r>
          </a:p>
        </p:txBody>
      </p:sp>
      <p:sp>
        <p:nvSpPr>
          <p:cNvPr id="87" name="TextBox 86"/>
          <p:cNvSpPr txBox="1"/>
          <p:nvPr/>
        </p:nvSpPr>
        <p:spPr>
          <a:xfrm>
            <a:off x="5038725" y="3100194"/>
            <a:ext cx="2006079" cy="186689"/>
          </a:xfrm>
          <a:prstGeom prst="rect">
            <a:avLst/>
          </a:prstGeom>
          <a:noFill/>
        </p:spPr>
        <p:txBody>
          <a:bodyPr wrap="none" lIns="0" rIns="0" tIns="0" bIns="0">
            <a:spAutoFit/>
          </a:bodyPr>
          <a:lstStyle/>
          <a:p>
            <a:r>
              <a:rPr sz="1100" b="0">
                <a:solidFill>
                  <a:srgbClr val="2E2E2E"/>
                </a:solidFill>
                <a:latin typeface="Calibri"/>
              </a:rPr>
              <a:t>product type lines compete inside</a:t>
            </a:r>
          </a:p>
        </p:txBody>
      </p:sp>
      <p:sp>
        <p:nvSpPr>
          <p:cNvPr id="88" name="TextBox 87"/>
          <p:cNvSpPr txBox="1"/>
          <p:nvPr/>
        </p:nvSpPr>
        <p:spPr>
          <a:xfrm>
            <a:off x="5038725" y="3267834"/>
            <a:ext cx="1779066" cy="186689"/>
          </a:xfrm>
          <a:prstGeom prst="rect">
            <a:avLst/>
          </a:prstGeom>
          <a:noFill/>
        </p:spPr>
        <p:txBody>
          <a:bodyPr wrap="none" lIns="0" rIns="0" tIns="0" bIns="0">
            <a:spAutoFit/>
          </a:bodyPr>
          <a:lstStyle/>
          <a:p>
            <a:r>
              <a:rPr sz="1100" b="0">
                <a:solidFill>
                  <a:srgbClr val="2E2E2E"/>
                </a:solidFill>
                <a:latin typeface="Calibri"/>
              </a:rPr>
              <a:t>the segment; the leader holds</a:t>
            </a:r>
          </a:p>
        </p:txBody>
      </p:sp>
      <p:pic>
        <p:nvPicPr>
          <p:cNvPr id="89" name="Picture 88" descr="lock.png"/>
          <p:cNvPicPr>
            <a:picLocks noChangeAspect="1"/>
          </p:cNvPicPr>
          <p:nvPr/>
        </p:nvPicPr>
        <p:blipFill>
          <a:blip r:embed="rId4"/>
          <a:stretch>
            <a:fillRect/>
          </a:stretch>
        </p:blipFill>
        <p:spPr>
          <a:xfrm>
            <a:off x="6765843" y="3258055"/>
            <a:ext cx="128699" cy="187198"/>
          </a:xfrm>
          <a:prstGeom prst="rect">
            <a:avLst/>
          </a:prstGeom>
        </p:spPr>
      </p:pic>
      <p:sp>
        <p:nvSpPr>
          <p:cNvPr id="90" name="TextBox 89"/>
          <p:cNvSpPr txBox="1"/>
          <p:nvPr/>
        </p:nvSpPr>
        <p:spPr>
          <a:xfrm>
            <a:off x="6933339" y="3267834"/>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91" name="TextBox 90"/>
          <p:cNvSpPr txBox="1"/>
          <p:nvPr/>
        </p:nvSpPr>
        <p:spPr>
          <a:xfrm>
            <a:off x="5038725" y="3715785"/>
            <a:ext cx="1934046" cy="186689"/>
          </a:xfrm>
          <a:prstGeom prst="rect">
            <a:avLst/>
          </a:prstGeom>
          <a:noFill/>
        </p:spPr>
        <p:txBody>
          <a:bodyPr wrap="none" lIns="0" rIns="0" tIns="0" bIns="0">
            <a:spAutoFit/>
          </a:bodyPr>
          <a:lstStyle/>
          <a:p>
            <a:r>
              <a:rPr sz="1100" b="0">
                <a:solidFill>
                  <a:srgbClr val="2E2E2E"/>
                </a:solidFill>
                <a:latin typeface="Calibri"/>
              </a:rPr>
              <a:t>▸ Growth is unevenly distributed</a:t>
            </a:r>
          </a:p>
        </p:txBody>
      </p:sp>
      <p:sp>
        <p:nvSpPr>
          <p:cNvPr id="92" name="TextBox 91"/>
          <p:cNvSpPr txBox="1"/>
          <p:nvPr/>
        </p:nvSpPr>
        <p:spPr>
          <a:xfrm>
            <a:off x="5038725" y="3883425"/>
            <a:ext cx="1844550" cy="186689"/>
          </a:xfrm>
          <a:prstGeom prst="rect">
            <a:avLst/>
          </a:prstGeom>
          <a:noFill/>
        </p:spPr>
        <p:txBody>
          <a:bodyPr wrap="none" lIns="0" rIns="0" tIns="0" bIns="0">
            <a:spAutoFit/>
          </a:bodyPr>
          <a:lstStyle/>
          <a:p>
            <a:r>
              <a:rPr sz="1100" b="0">
                <a:solidFill>
                  <a:srgbClr val="2E2E2E"/>
                </a:solidFill>
                <a:latin typeface="Calibri"/>
              </a:rPr>
              <a:t>'Cast Metal Partial Dentures' at</a:t>
            </a:r>
          </a:p>
        </p:txBody>
      </p:sp>
      <p:pic>
        <p:nvPicPr>
          <p:cNvPr id="93" name="Picture 92" descr="lock.png"/>
          <p:cNvPicPr>
            <a:picLocks noChangeAspect="1"/>
          </p:cNvPicPr>
          <p:nvPr/>
        </p:nvPicPr>
        <p:blipFill>
          <a:blip r:embed="rId4"/>
          <a:stretch>
            <a:fillRect/>
          </a:stretch>
        </p:blipFill>
        <p:spPr>
          <a:xfrm>
            <a:off x="6831327" y="3873646"/>
            <a:ext cx="128699" cy="187198"/>
          </a:xfrm>
          <a:prstGeom prst="rect">
            <a:avLst/>
          </a:prstGeom>
        </p:spPr>
      </p:pic>
      <p:sp>
        <p:nvSpPr>
          <p:cNvPr id="94" name="TextBox 93"/>
          <p:cNvSpPr txBox="1"/>
          <p:nvPr/>
        </p:nvSpPr>
        <p:spPr>
          <a:xfrm>
            <a:off x="5038725" y="4051065"/>
            <a:ext cx="2107034" cy="186689"/>
          </a:xfrm>
          <a:prstGeom prst="rect">
            <a:avLst/>
          </a:prstGeom>
          <a:noFill/>
        </p:spPr>
        <p:txBody>
          <a:bodyPr wrap="none" lIns="0" rIns="0" tIns="0" bIns="0">
            <a:spAutoFit/>
          </a:bodyPr>
          <a:lstStyle/>
          <a:p>
            <a:r>
              <a:rPr sz="1100" b="0">
                <a:solidFill>
                  <a:srgbClr val="2E2E2E"/>
                </a:solidFill>
                <a:latin typeface="Calibri"/>
              </a:rPr>
              <a:t>against 'Flexible Partial Dentures' at</a:t>
            </a:r>
          </a:p>
        </p:txBody>
      </p:sp>
      <p:pic>
        <p:nvPicPr>
          <p:cNvPr id="95" name="Picture 94" descr="lock.png"/>
          <p:cNvPicPr>
            <a:picLocks noChangeAspect="1"/>
          </p:cNvPicPr>
          <p:nvPr/>
        </p:nvPicPr>
        <p:blipFill>
          <a:blip r:embed="rId4"/>
          <a:stretch>
            <a:fillRect/>
          </a:stretch>
        </p:blipFill>
        <p:spPr>
          <a:xfrm>
            <a:off x="5025257" y="4208926"/>
            <a:ext cx="128699" cy="187198"/>
          </a:xfrm>
          <a:prstGeom prst="rect">
            <a:avLst/>
          </a:prstGeom>
        </p:spPr>
      </p:pic>
      <p:sp>
        <p:nvSpPr>
          <p:cNvPr id="96" name="TextBox 95"/>
          <p:cNvSpPr txBox="1"/>
          <p:nvPr/>
        </p:nvSpPr>
        <p:spPr>
          <a:xfrm>
            <a:off x="5192753" y="4218705"/>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97" name="TextBox 96"/>
          <p:cNvSpPr txBox="1"/>
          <p:nvPr/>
        </p:nvSpPr>
        <p:spPr>
          <a:xfrm>
            <a:off x="5038725" y="4575387"/>
            <a:ext cx="2114550" cy="186689"/>
          </a:xfrm>
          <a:prstGeom prst="rect">
            <a:avLst/>
          </a:prstGeom>
          <a:noFill/>
        </p:spPr>
        <p:txBody>
          <a:bodyPr wrap="none" lIns="0" rIns="0" tIns="0" bIns="0">
            <a:spAutoFit/>
          </a:bodyPr>
          <a:lstStyle/>
          <a:p>
            <a:r>
              <a:rPr sz="1100" b="0">
                <a:solidFill>
                  <a:srgbClr val="2E2E2E"/>
                </a:solidFill>
                <a:latin typeface="Calibri"/>
              </a:rPr>
              <a:t>▸ 3 of 6 regions grow at or above the</a:t>
            </a:r>
          </a:p>
        </p:txBody>
      </p:sp>
      <p:pic>
        <p:nvPicPr>
          <p:cNvPr id="98" name="Picture 97" descr="lock.png"/>
          <p:cNvPicPr>
            <a:picLocks noChangeAspect="1"/>
          </p:cNvPicPr>
          <p:nvPr/>
        </p:nvPicPr>
        <p:blipFill>
          <a:blip r:embed="rId4"/>
          <a:stretch>
            <a:fillRect/>
          </a:stretch>
        </p:blipFill>
        <p:spPr>
          <a:xfrm>
            <a:off x="5025257" y="4733248"/>
            <a:ext cx="128699" cy="187198"/>
          </a:xfrm>
          <a:prstGeom prst="rect">
            <a:avLst/>
          </a:prstGeom>
        </p:spPr>
      </p:pic>
      <p:sp>
        <p:nvSpPr>
          <p:cNvPr id="99" name="TextBox 98"/>
          <p:cNvSpPr txBox="1"/>
          <p:nvPr/>
        </p:nvSpPr>
        <p:spPr>
          <a:xfrm>
            <a:off x="5192753" y="4743027"/>
            <a:ext cx="1643186" cy="186689"/>
          </a:xfrm>
          <a:prstGeom prst="rect">
            <a:avLst/>
          </a:prstGeom>
          <a:noFill/>
        </p:spPr>
        <p:txBody>
          <a:bodyPr wrap="none" lIns="0" rIns="0" tIns="0" bIns="0">
            <a:spAutoFit/>
          </a:bodyPr>
          <a:lstStyle/>
          <a:p>
            <a:r>
              <a:rPr sz="1100" b="0">
                <a:solidFill>
                  <a:srgbClr val="2E2E2E"/>
                </a:solidFill>
                <a:latin typeface="Calibri"/>
              </a:rPr>
              <a:t>market pace, keeping share</a:t>
            </a:r>
          </a:p>
        </p:txBody>
      </p:sp>
      <p:sp>
        <p:nvSpPr>
          <p:cNvPr id="100" name="TextBox 99"/>
          <p:cNvSpPr txBox="1"/>
          <p:nvPr/>
        </p:nvSpPr>
        <p:spPr>
          <a:xfrm>
            <a:off x="5038725" y="4910667"/>
            <a:ext cx="678656" cy="186689"/>
          </a:xfrm>
          <a:prstGeom prst="rect">
            <a:avLst/>
          </a:prstGeom>
          <a:noFill/>
        </p:spPr>
        <p:txBody>
          <a:bodyPr wrap="none" lIns="0" rIns="0" tIns="0" bIns="0">
            <a:spAutoFit/>
          </a:bodyPr>
          <a:lstStyle/>
          <a:p>
            <a:r>
              <a:rPr sz="1100" b="0">
                <a:solidFill>
                  <a:srgbClr val="2E2E2E"/>
                </a:solidFill>
                <a:latin typeface="Calibri"/>
              </a:rPr>
              <a:t>contested.</a:t>
            </a:r>
          </a:p>
        </p:txBody>
      </p:sp>
      <p:sp>
        <p:nvSpPr>
          <p:cNvPr id="101" name="TextBox 100"/>
          <p:cNvSpPr txBox="1"/>
          <p:nvPr/>
        </p:nvSpPr>
        <p:spPr>
          <a:xfrm>
            <a:off x="7419975" y="2860746"/>
            <a:ext cx="1896119" cy="186689"/>
          </a:xfrm>
          <a:prstGeom prst="rect">
            <a:avLst/>
          </a:prstGeom>
          <a:noFill/>
        </p:spPr>
        <p:txBody>
          <a:bodyPr wrap="none" lIns="0" rIns="0" tIns="0" bIns="0">
            <a:spAutoFit/>
          </a:bodyPr>
          <a:lstStyle/>
          <a:p>
            <a:r>
              <a:rPr sz="1100" b="0">
                <a:solidFill>
                  <a:srgbClr val="2E2E2E"/>
                </a:solidFill>
                <a:latin typeface="Calibri"/>
              </a:rPr>
              <a:t>▸ Assessed high. 'Flexible Partial</a:t>
            </a:r>
          </a:p>
        </p:txBody>
      </p:sp>
      <p:sp>
        <p:nvSpPr>
          <p:cNvPr id="102" name="TextBox 101"/>
          <p:cNvSpPr txBox="1"/>
          <p:nvPr/>
        </p:nvSpPr>
        <p:spPr>
          <a:xfrm>
            <a:off x="7419975" y="3028386"/>
            <a:ext cx="945505" cy="186689"/>
          </a:xfrm>
          <a:prstGeom prst="rect">
            <a:avLst/>
          </a:prstGeom>
          <a:noFill/>
        </p:spPr>
        <p:txBody>
          <a:bodyPr wrap="none" lIns="0" rIns="0" tIns="0" bIns="0">
            <a:spAutoFit/>
          </a:bodyPr>
          <a:lstStyle/>
          <a:p>
            <a:r>
              <a:rPr sz="1100" b="0">
                <a:solidFill>
                  <a:srgbClr val="2E2E2E"/>
                </a:solidFill>
                <a:latin typeface="Calibri"/>
              </a:rPr>
              <a:t>Dentures' loses</a:t>
            </a:r>
          </a:p>
        </p:txBody>
      </p:sp>
      <p:pic>
        <p:nvPicPr>
          <p:cNvPr id="103" name="Picture 102" descr="lock.png"/>
          <p:cNvPicPr>
            <a:picLocks noChangeAspect="1"/>
          </p:cNvPicPr>
          <p:nvPr/>
        </p:nvPicPr>
        <p:blipFill>
          <a:blip r:embed="rId4"/>
          <a:stretch>
            <a:fillRect/>
          </a:stretch>
        </p:blipFill>
        <p:spPr>
          <a:xfrm>
            <a:off x="8313531" y="3018607"/>
            <a:ext cx="128699" cy="187198"/>
          </a:xfrm>
          <a:prstGeom prst="rect">
            <a:avLst/>
          </a:prstGeom>
        </p:spPr>
      </p:pic>
      <p:sp>
        <p:nvSpPr>
          <p:cNvPr id="104" name="TextBox 103"/>
          <p:cNvSpPr txBox="1"/>
          <p:nvPr/>
        </p:nvSpPr>
        <p:spPr>
          <a:xfrm>
            <a:off x="8481027" y="3028386"/>
            <a:ext cx="933772" cy="186689"/>
          </a:xfrm>
          <a:prstGeom prst="rect">
            <a:avLst/>
          </a:prstGeom>
          <a:noFill/>
        </p:spPr>
        <p:txBody>
          <a:bodyPr wrap="none" lIns="0" rIns="0" tIns="0" bIns="0">
            <a:spAutoFit/>
          </a:bodyPr>
          <a:lstStyle/>
          <a:p>
            <a:r>
              <a:rPr sz="1100" b="0">
                <a:solidFill>
                  <a:srgbClr val="2E2E2E"/>
                </a:solidFill>
                <a:latin typeface="Calibri"/>
              </a:rPr>
              <a:t>BPS of share to</a:t>
            </a:r>
          </a:p>
        </p:txBody>
      </p:sp>
      <p:sp>
        <p:nvSpPr>
          <p:cNvPr id="105" name="TextBox 104"/>
          <p:cNvSpPr txBox="1"/>
          <p:nvPr/>
        </p:nvSpPr>
        <p:spPr>
          <a:xfrm>
            <a:off x="7419975" y="3196026"/>
            <a:ext cx="1842641" cy="186689"/>
          </a:xfrm>
          <a:prstGeom prst="rect">
            <a:avLst/>
          </a:prstGeom>
          <a:noFill/>
        </p:spPr>
        <p:txBody>
          <a:bodyPr wrap="none" lIns="0" rIns="0" tIns="0" bIns="0">
            <a:spAutoFit/>
          </a:bodyPr>
          <a:lstStyle/>
          <a:p>
            <a:r>
              <a:rPr sz="1100" b="0">
                <a:solidFill>
                  <a:srgbClr val="2E2E2E"/>
                </a:solidFill>
                <a:latin typeface="Calibri"/>
              </a:rPr>
              <a:t>'Cast Metal Partial Dentures' (+</a:t>
            </a:r>
          </a:p>
        </p:txBody>
      </p:sp>
      <p:pic>
        <p:nvPicPr>
          <p:cNvPr id="106" name="Picture 105" descr="lock.png"/>
          <p:cNvPicPr>
            <a:picLocks noChangeAspect="1"/>
          </p:cNvPicPr>
          <p:nvPr/>
        </p:nvPicPr>
        <p:blipFill>
          <a:blip r:embed="rId4"/>
          <a:stretch>
            <a:fillRect/>
          </a:stretch>
        </p:blipFill>
        <p:spPr>
          <a:xfrm>
            <a:off x="9210667" y="3186247"/>
            <a:ext cx="128699" cy="187198"/>
          </a:xfrm>
          <a:prstGeom prst="rect">
            <a:avLst/>
          </a:prstGeom>
        </p:spPr>
      </p:pic>
      <p:sp>
        <p:nvSpPr>
          <p:cNvPr id="107" name="TextBox 106"/>
          <p:cNvSpPr txBox="1"/>
          <p:nvPr/>
        </p:nvSpPr>
        <p:spPr>
          <a:xfrm>
            <a:off x="7419975" y="3363666"/>
            <a:ext cx="2035274" cy="186689"/>
          </a:xfrm>
          <a:prstGeom prst="rect">
            <a:avLst/>
          </a:prstGeom>
          <a:noFill/>
        </p:spPr>
        <p:txBody>
          <a:bodyPr wrap="none" lIns="0" rIns="0" tIns="0" bIns="0">
            <a:spAutoFit/>
          </a:bodyPr>
          <a:lstStyle/>
          <a:p>
            <a:r>
              <a:rPr sz="1100" b="0">
                <a:solidFill>
                  <a:srgbClr val="2E2E2E"/>
                </a:solidFill>
                <a:latin typeface="Calibri"/>
              </a:rPr>
              <a:t>BPS) by 2036 substitution is visible</a:t>
            </a:r>
          </a:p>
        </p:txBody>
      </p:sp>
      <p:sp>
        <p:nvSpPr>
          <p:cNvPr id="108" name="TextBox 107"/>
          <p:cNvSpPr txBox="1"/>
          <p:nvPr/>
        </p:nvSpPr>
        <p:spPr>
          <a:xfrm>
            <a:off x="7419975" y="3531306"/>
            <a:ext cx="904304" cy="186689"/>
          </a:xfrm>
          <a:prstGeom prst="rect">
            <a:avLst/>
          </a:prstGeom>
          <a:noFill/>
        </p:spPr>
        <p:txBody>
          <a:bodyPr wrap="none" lIns="0" rIns="0" tIns="0" bIns="0">
            <a:spAutoFit/>
          </a:bodyPr>
          <a:lstStyle/>
          <a:p>
            <a:r>
              <a:rPr sz="1100" b="0">
                <a:solidFill>
                  <a:srgbClr val="2E2E2E"/>
                </a:solidFill>
                <a:latin typeface="Calibri"/>
              </a:rPr>
              <a:t>inside the mix.</a:t>
            </a:r>
          </a:p>
        </p:txBody>
      </p:sp>
      <p:sp>
        <p:nvSpPr>
          <p:cNvPr id="109" name="TextBox 108"/>
          <p:cNvSpPr txBox="1"/>
          <p:nvPr/>
        </p:nvSpPr>
        <p:spPr>
          <a:xfrm>
            <a:off x="7419975" y="3894694"/>
            <a:ext cx="1550384" cy="179984"/>
          </a:xfrm>
          <a:prstGeom prst="rect">
            <a:avLst/>
          </a:prstGeom>
          <a:noFill/>
        </p:spPr>
        <p:txBody>
          <a:bodyPr wrap="none" lIns="0" rIns="0" tIns="0" bIns="0">
            <a:spAutoFit/>
          </a:bodyPr>
          <a:lstStyle/>
          <a:p>
            <a:r>
              <a:rPr sz="1055" b="0">
                <a:solidFill>
                  <a:srgbClr val="2E2E2E"/>
                </a:solidFill>
                <a:latin typeface="Calibri"/>
              </a:rPr>
              <a:t>▸ The slowest line grows at</a:t>
            </a:r>
          </a:p>
        </p:txBody>
      </p:sp>
      <p:pic>
        <p:nvPicPr>
          <p:cNvPr id="110" name="Picture 109" descr="lock.png"/>
          <p:cNvPicPr>
            <a:picLocks noChangeAspect="1"/>
          </p:cNvPicPr>
          <p:nvPr/>
        </p:nvPicPr>
        <p:blipFill>
          <a:blip r:embed="rId4"/>
          <a:stretch>
            <a:fillRect/>
          </a:stretch>
        </p:blipFill>
        <p:spPr>
          <a:xfrm>
            <a:off x="8917440" y="3885306"/>
            <a:ext cx="123551" cy="179710"/>
          </a:xfrm>
          <a:prstGeom prst="rect">
            <a:avLst/>
          </a:prstGeom>
        </p:spPr>
      </p:pic>
      <p:sp>
        <p:nvSpPr>
          <p:cNvPr id="111" name="TextBox 110"/>
          <p:cNvSpPr txBox="1"/>
          <p:nvPr/>
        </p:nvSpPr>
        <p:spPr>
          <a:xfrm>
            <a:off x="9078236" y="3894694"/>
            <a:ext cx="181236" cy="179984"/>
          </a:xfrm>
          <a:prstGeom prst="rect">
            <a:avLst/>
          </a:prstGeom>
          <a:noFill/>
        </p:spPr>
        <p:txBody>
          <a:bodyPr wrap="none" lIns="0" rIns="0" tIns="0" bIns="0">
            <a:spAutoFit/>
          </a:bodyPr>
          <a:lstStyle/>
          <a:p>
            <a:r>
              <a:rPr sz="1055" b="0">
                <a:solidFill>
                  <a:srgbClr val="2E2E2E"/>
                </a:solidFill>
                <a:latin typeface="Calibri"/>
              </a:rPr>
              <a:t>, -</a:t>
            </a:r>
          </a:p>
        </p:txBody>
      </p:sp>
      <p:pic>
        <p:nvPicPr>
          <p:cNvPr id="112" name="Picture 111" descr="lock.png"/>
          <p:cNvPicPr>
            <a:picLocks noChangeAspect="1"/>
          </p:cNvPicPr>
          <p:nvPr/>
        </p:nvPicPr>
        <p:blipFill>
          <a:blip r:embed="rId4"/>
          <a:stretch>
            <a:fillRect/>
          </a:stretch>
        </p:blipFill>
        <p:spPr>
          <a:xfrm>
            <a:off x="9206555" y="3885306"/>
            <a:ext cx="123551" cy="179710"/>
          </a:xfrm>
          <a:prstGeom prst="rect">
            <a:avLst/>
          </a:prstGeom>
        </p:spPr>
      </p:pic>
      <p:sp>
        <p:nvSpPr>
          <p:cNvPr id="113" name="TextBox 112"/>
          <p:cNvSpPr txBox="1"/>
          <p:nvPr/>
        </p:nvSpPr>
        <p:spPr>
          <a:xfrm>
            <a:off x="7419975" y="4055628"/>
            <a:ext cx="1368861" cy="179984"/>
          </a:xfrm>
          <a:prstGeom prst="rect">
            <a:avLst/>
          </a:prstGeom>
          <a:noFill/>
        </p:spPr>
        <p:txBody>
          <a:bodyPr wrap="none" lIns="0" rIns="0" tIns="0" bIns="0">
            <a:spAutoFit/>
          </a:bodyPr>
          <a:lstStyle/>
          <a:p>
            <a:r>
              <a:rPr sz="1055" b="0">
                <a:solidFill>
                  <a:srgbClr val="2E2E2E"/>
                </a:solidFill>
                <a:latin typeface="Calibri"/>
              </a:rPr>
              <a:t>BPS against the market.</a:t>
            </a:r>
          </a:p>
        </p:txBody>
      </p:sp>
      <p:sp>
        <p:nvSpPr>
          <p:cNvPr id="114" name="TextBox 113"/>
          <p:cNvSpPr txBox="1"/>
          <p:nvPr/>
        </p:nvSpPr>
        <p:spPr>
          <a:xfrm>
            <a:off x="7419975" y="4392850"/>
            <a:ext cx="1254373" cy="186689"/>
          </a:xfrm>
          <a:prstGeom prst="rect">
            <a:avLst/>
          </a:prstGeom>
          <a:noFill/>
        </p:spPr>
        <p:txBody>
          <a:bodyPr wrap="none" lIns="0" rIns="0" tIns="0" bIns="0">
            <a:spAutoFit/>
          </a:bodyPr>
          <a:lstStyle/>
          <a:p>
            <a:r>
              <a:rPr sz="1100" b="0">
                <a:solidFill>
                  <a:srgbClr val="2E2E2E"/>
                </a:solidFill>
                <a:latin typeface="Calibri"/>
              </a:rPr>
              <a:t>▸ Realisation moving</a:t>
            </a:r>
          </a:p>
        </p:txBody>
      </p:sp>
      <p:pic>
        <p:nvPicPr>
          <p:cNvPr id="115" name="Picture 114" descr="lock.png"/>
          <p:cNvPicPr>
            <a:picLocks noChangeAspect="1"/>
          </p:cNvPicPr>
          <p:nvPr/>
        </p:nvPicPr>
        <p:blipFill>
          <a:blip r:embed="rId4"/>
          <a:stretch>
            <a:fillRect/>
          </a:stretch>
        </p:blipFill>
        <p:spPr>
          <a:xfrm>
            <a:off x="8622399" y="4383071"/>
            <a:ext cx="128699" cy="187198"/>
          </a:xfrm>
          <a:prstGeom prst="rect">
            <a:avLst/>
          </a:prstGeom>
        </p:spPr>
      </p:pic>
      <p:sp>
        <p:nvSpPr>
          <p:cNvPr id="116" name="TextBox 115"/>
          <p:cNvSpPr txBox="1"/>
          <p:nvPr/>
        </p:nvSpPr>
        <p:spPr>
          <a:xfrm>
            <a:off x="8789895" y="4392850"/>
            <a:ext cx="423267" cy="186689"/>
          </a:xfrm>
          <a:prstGeom prst="rect">
            <a:avLst/>
          </a:prstGeom>
          <a:noFill/>
        </p:spPr>
        <p:txBody>
          <a:bodyPr wrap="none" lIns="0" rIns="0" tIns="0" bIns="0">
            <a:spAutoFit/>
          </a:bodyPr>
          <a:lstStyle/>
          <a:p>
            <a:r>
              <a:rPr sz="1100" b="0">
                <a:solidFill>
                  <a:srgbClr val="2E2E2E"/>
                </a:solidFill>
                <a:latin typeface="Calibri"/>
              </a:rPr>
              <a:t>a year</a:t>
            </a:r>
          </a:p>
        </p:txBody>
      </p:sp>
      <p:sp>
        <p:nvSpPr>
          <p:cNvPr id="117" name="TextBox 116"/>
          <p:cNvSpPr txBox="1"/>
          <p:nvPr/>
        </p:nvSpPr>
        <p:spPr>
          <a:xfrm>
            <a:off x="7419975" y="4560490"/>
            <a:ext cx="1911399" cy="186689"/>
          </a:xfrm>
          <a:prstGeom prst="rect">
            <a:avLst/>
          </a:prstGeom>
          <a:noFill/>
        </p:spPr>
        <p:txBody>
          <a:bodyPr wrap="none" lIns="0" rIns="0" tIns="0" bIns="0">
            <a:spAutoFit/>
          </a:bodyPr>
          <a:lstStyle/>
          <a:p>
            <a:r>
              <a:rPr sz="1100" b="0">
                <a:solidFill>
                  <a:srgbClr val="2E2E2E"/>
                </a:solidFill>
                <a:latin typeface="Calibri"/>
              </a:rPr>
              <a:t>widens the price gap substitutes</a:t>
            </a:r>
          </a:p>
        </p:txBody>
      </p:sp>
      <p:sp>
        <p:nvSpPr>
          <p:cNvPr id="118" name="TextBox 117"/>
          <p:cNvSpPr txBox="1"/>
          <p:nvPr/>
        </p:nvSpPr>
        <p:spPr>
          <a:xfrm>
            <a:off x="7419975" y="4728130"/>
            <a:ext cx="718765" cy="186689"/>
          </a:xfrm>
          <a:prstGeom prst="rect">
            <a:avLst/>
          </a:prstGeom>
          <a:noFill/>
        </p:spPr>
        <p:txBody>
          <a:bodyPr wrap="none" lIns="0" rIns="0" tIns="0" bIns="0">
            <a:spAutoFit/>
          </a:bodyPr>
          <a:lstStyle/>
          <a:p>
            <a:r>
              <a:rPr sz="1100" b="0">
                <a:solidFill>
                  <a:srgbClr val="2E2E2E"/>
                </a:solidFill>
                <a:latin typeface="Calibri"/>
              </a:rPr>
              <a:t>must close.</a:t>
            </a:r>
          </a:p>
        </p:txBody>
      </p:sp>
      <p:sp>
        <p:nvSpPr>
          <p:cNvPr id="119" name="TextBox 118"/>
          <p:cNvSpPr txBox="1"/>
          <p:nvPr/>
        </p:nvSpPr>
        <p:spPr>
          <a:xfrm>
            <a:off x="9801225" y="2848734"/>
            <a:ext cx="1989162" cy="186689"/>
          </a:xfrm>
          <a:prstGeom prst="rect">
            <a:avLst/>
          </a:prstGeom>
          <a:noFill/>
        </p:spPr>
        <p:txBody>
          <a:bodyPr wrap="none" lIns="0" rIns="0" tIns="0" bIns="0">
            <a:spAutoFit/>
          </a:bodyPr>
          <a:lstStyle/>
          <a:p>
            <a:r>
              <a:rPr sz="1100" b="0">
                <a:solidFill>
                  <a:srgbClr val="2E2E2E"/>
                </a:solidFill>
                <a:latin typeface="Calibri"/>
              </a:rPr>
              <a:t>▸ Assessed moderate to high. The</a:t>
            </a:r>
          </a:p>
        </p:txBody>
      </p:sp>
      <p:sp>
        <p:nvSpPr>
          <p:cNvPr id="120" name="TextBox 119"/>
          <p:cNvSpPr txBox="1"/>
          <p:nvPr/>
        </p:nvSpPr>
        <p:spPr>
          <a:xfrm>
            <a:off x="9801225" y="3016374"/>
            <a:ext cx="1003349" cy="186689"/>
          </a:xfrm>
          <a:prstGeom prst="rect">
            <a:avLst/>
          </a:prstGeom>
          <a:noFill/>
        </p:spPr>
        <p:txBody>
          <a:bodyPr wrap="none" lIns="0" rIns="0" tIns="0" bIns="0">
            <a:spAutoFit/>
          </a:bodyPr>
          <a:lstStyle/>
          <a:p>
            <a:r>
              <a:rPr sz="1100" b="0">
                <a:solidFill>
                  <a:srgbClr val="2E2E2E"/>
                </a:solidFill>
                <a:latin typeface="Calibri"/>
              </a:rPr>
              <a:t>market grows at</a:t>
            </a:r>
          </a:p>
        </p:txBody>
      </p:sp>
      <p:pic>
        <p:nvPicPr>
          <p:cNvPr id="121" name="Picture 120" descr="lock.png"/>
          <p:cNvPicPr>
            <a:picLocks noChangeAspect="1"/>
          </p:cNvPicPr>
          <p:nvPr/>
        </p:nvPicPr>
        <p:blipFill>
          <a:blip r:embed="rId4"/>
          <a:stretch>
            <a:fillRect/>
          </a:stretch>
        </p:blipFill>
        <p:spPr>
          <a:xfrm>
            <a:off x="10752626" y="3006595"/>
            <a:ext cx="128699" cy="187198"/>
          </a:xfrm>
          <a:prstGeom prst="rect">
            <a:avLst/>
          </a:prstGeom>
        </p:spPr>
      </p:pic>
      <p:sp>
        <p:nvSpPr>
          <p:cNvPr id="122" name="TextBox 121"/>
          <p:cNvSpPr txBox="1"/>
          <p:nvPr/>
        </p:nvSpPr>
        <p:spPr>
          <a:xfrm>
            <a:off x="10920122" y="3016374"/>
            <a:ext cx="940576" cy="186689"/>
          </a:xfrm>
          <a:prstGeom prst="rect">
            <a:avLst/>
          </a:prstGeom>
          <a:noFill/>
        </p:spPr>
        <p:txBody>
          <a:bodyPr wrap="none" lIns="0" rIns="0" tIns="0" bIns="0">
            <a:spAutoFit/>
          </a:bodyPr>
          <a:lstStyle/>
          <a:p>
            <a:r>
              <a:rPr sz="1100" b="0">
                <a:solidFill>
                  <a:srgbClr val="2E2E2E"/>
                </a:solidFill>
                <a:latin typeface="Calibri"/>
              </a:rPr>
              <a:t>CAGR and adds</a:t>
            </a:r>
          </a:p>
        </p:txBody>
      </p:sp>
      <p:pic>
        <p:nvPicPr>
          <p:cNvPr id="123" name="Picture 122" descr="lock.png"/>
          <p:cNvPicPr>
            <a:picLocks noChangeAspect="1"/>
          </p:cNvPicPr>
          <p:nvPr/>
        </p:nvPicPr>
        <p:blipFill>
          <a:blip r:embed="rId4"/>
          <a:stretch>
            <a:fillRect/>
          </a:stretch>
        </p:blipFill>
        <p:spPr>
          <a:xfrm>
            <a:off x="9787757" y="3174235"/>
            <a:ext cx="128699" cy="187198"/>
          </a:xfrm>
          <a:prstGeom prst="rect">
            <a:avLst/>
          </a:prstGeom>
        </p:spPr>
      </p:pic>
      <p:sp>
        <p:nvSpPr>
          <p:cNvPr id="124" name="TextBox 123"/>
          <p:cNvSpPr txBox="1"/>
          <p:nvPr/>
        </p:nvSpPr>
        <p:spPr>
          <a:xfrm>
            <a:off x="9955253" y="3184014"/>
            <a:ext cx="1629816" cy="186689"/>
          </a:xfrm>
          <a:prstGeom prst="rect">
            <a:avLst/>
          </a:prstGeom>
          <a:noFill/>
        </p:spPr>
        <p:txBody>
          <a:bodyPr wrap="none" lIns="0" rIns="0" tIns="0" bIns="0">
            <a:spAutoFit/>
          </a:bodyPr>
          <a:lstStyle/>
          <a:p>
            <a:r>
              <a:rPr sz="1100" b="0">
                <a:solidFill>
                  <a:srgbClr val="2E2E2E"/>
                </a:solidFill>
                <a:latin typeface="Calibri"/>
              </a:rPr>
              <a:t>US$ Mn by 2036, attracting</a:t>
            </a:r>
          </a:p>
        </p:txBody>
      </p:sp>
      <p:sp>
        <p:nvSpPr>
          <p:cNvPr id="125" name="TextBox 124"/>
          <p:cNvSpPr txBox="1"/>
          <p:nvPr/>
        </p:nvSpPr>
        <p:spPr>
          <a:xfrm>
            <a:off x="9801225" y="3351654"/>
            <a:ext cx="413444" cy="186689"/>
          </a:xfrm>
          <a:prstGeom prst="rect">
            <a:avLst/>
          </a:prstGeom>
          <a:noFill/>
        </p:spPr>
        <p:txBody>
          <a:bodyPr wrap="none" lIns="0" rIns="0" tIns="0" bIns="0">
            <a:spAutoFit/>
          </a:bodyPr>
          <a:lstStyle/>
          <a:p>
            <a:r>
              <a:rPr sz="1100" b="0">
                <a:solidFill>
                  <a:srgbClr val="2E2E2E"/>
                </a:solidFill>
                <a:latin typeface="Calibri"/>
              </a:rPr>
              <a:t>entry.</a:t>
            </a:r>
          </a:p>
        </p:txBody>
      </p:sp>
      <p:sp>
        <p:nvSpPr>
          <p:cNvPr id="126" name="TextBox 125"/>
          <p:cNvSpPr txBox="1"/>
          <p:nvPr/>
        </p:nvSpPr>
        <p:spPr>
          <a:xfrm>
            <a:off x="9801225" y="3708336"/>
            <a:ext cx="1971426" cy="186689"/>
          </a:xfrm>
          <a:prstGeom prst="rect">
            <a:avLst/>
          </a:prstGeom>
          <a:noFill/>
        </p:spPr>
        <p:txBody>
          <a:bodyPr wrap="none" lIns="0" rIns="0" tIns="0" bIns="0">
            <a:spAutoFit/>
          </a:bodyPr>
          <a:lstStyle/>
          <a:p>
            <a:r>
              <a:rPr sz="1100" b="0">
                <a:solidFill>
                  <a:srgbClr val="2E2E2E"/>
                </a:solidFill>
                <a:latin typeface="Calibri"/>
              </a:rPr>
              <a:t>▸ Demand spreads over 6 regions</a:t>
            </a:r>
          </a:p>
        </p:txBody>
      </p:sp>
      <p:sp>
        <p:nvSpPr>
          <p:cNvPr id="127" name="TextBox 126"/>
          <p:cNvSpPr txBox="1"/>
          <p:nvPr/>
        </p:nvSpPr>
        <p:spPr>
          <a:xfrm>
            <a:off x="9801225" y="3875976"/>
            <a:ext cx="1493118" cy="186689"/>
          </a:xfrm>
          <a:prstGeom prst="rect">
            <a:avLst/>
          </a:prstGeom>
          <a:noFill/>
        </p:spPr>
        <p:txBody>
          <a:bodyPr wrap="none" lIns="0" rIns="0" tIns="0" bIns="0">
            <a:spAutoFit/>
          </a:bodyPr>
          <a:lstStyle/>
          <a:p>
            <a:r>
              <a:rPr sz="1100" b="0">
                <a:solidFill>
                  <a:srgbClr val="2E2E2E"/>
                </a:solidFill>
                <a:latin typeface="Calibri"/>
              </a:rPr>
              <a:t>with no single one above</a:t>
            </a:r>
          </a:p>
        </p:txBody>
      </p:sp>
      <p:pic>
        <p:nvPicPr>
          <p:cNvPr id="128" name="Picture 127" descr="lock.png"/>
          <p:cNvPicPr>
            <a:picLocks noChangeAspect="1"/>
          </p:cNvPicPr>
          <p:nvPr/>
        </p:nvPicPr>
        <p:blipFill>
          <a:blip r:embed="rId4"/>
          <a:stretch>
            <a:fillRect/>
          </a:stretch>
        </p:blipFill>
        <p:spPr>
          <a:xfrm>
            <a:off x="11242394" y="3866197"/>
            <a:ext cx="128699" cy="187198"/>
          </a:xfrm>
          <a:prstGeom prst="rect">
            <a:avLst/>
          </a:prstGeom>
        </p:spPr>
      </p:pic>
      <p:sp>
        <p:nvSpPr>
          <p:cNvPr id="129" name="TextBox 128"/>
          <p:cNvSpPr txBox="1"/>
          <p:nvPr/>
        </p:nvSpPr>
        <p:spPr>
          <a:xfrm>
            <a:off x="11409890" y="3875976"/>
            <a:ext cx="271016" cy="186689"/>
          </a:xfrm>
          <a:prstGeom prst="rect">
            <a:avLst/>
          </a:prstGeom>
          <a:noFill/>
        </p:spPr>
        <p:txBody>
          <a:bodyPr wrap="none" lIns="0" rIns="0" tIns="0" bIns="0">
            <a:spAutoFit/>
          </a:bodyPr>
          <a:lstStyle/>
          <a:p>
            <a:r>
              <a:rPr sz="1100" b="0">
                <a:solidFill>
                  <a:srgbClr val="2E2E2E"/>
                </a:solidFill>
                <a:latin typeface="Calibri"/>
              </a:rPr>
              <a:t>, so</a:t>
            </a:r>
          </a:p>
        </p:txBody>
      </p:sp>
      <p:sp>
        <p:nvSpPr>
          <p:cNvPr id="130" name="TextBox 129"/>
          <p:cNvSpPr txBox="1"/>
          <p:nvPr/>
        </p:nvSpPr>
        <p:spPr>
          <a:xfrm>
            <a:off x="9801225" y="4043616"/>
            <a:ext cx="1498575" cy="186689"/>
          </a:xfrm>
          <a:prstGeom prst="rect">
            <a:avLst/>
          </a:prstGeom>
          <a:noFill/>
        </p:spPr>
        <p:txBody>
          <a:bodyPr wrap="none" lIns="0" rIns="0" tIns="0" bIns="0">
            <a:spAutoFit/>
          </a:bodyPr>
          <a:lstStyle/>
          <a:p>
            <a:r>
              <a:rPr sz="1100" b="0">
                <a:solidFill>
                  <a:srgbClr val="2E2E2E"/>
                </a:solidFill>
                <a:latin typeface="Calibri"/>
              </a:rPr>
              <a:t>regional entry is feasible.</a:t>
            </a:r>
          </a:p>
        </p:txBody>
      </p:sp>
      <p:sp>
        <p:nvSpPr>
          <p:cNvPr id="131" name="TextBox 130"/>
          <p:cNvSpPr txBox="1"/>
          <p:nvPr/>
        </p:nvSpPr>
        <p:spPr>
          <a:xfrm>
            <a:off x="9801225" y="4400299"/>
            <a:ext cx="2114550" cy="186689"/>
          </a:xfrm>
          <a:prstGeom prst="rect">
            <a:avLst/>
          </a:prstGeom>
          <a:noFill/>
        </p:spPr>
        <p:txBody>
          <a:bodyPr wrap="none" lIns="0" rIns="0" tIns="0" bIns="0">
            <a:spAutoFit/>
          </a:bodyPr>
          <a:lstStyle/>
          <a:p>
            <a:r>
              <a:rPr sz="1100" b="0">
                <a:solidFill>
                  <a:srgbClr val="2E2E2E"/>
                </a:solidFill>
                <a:latin typeface="Calibri"/>
              </a:rPr>
              <a:t>▸ Incumbent scale in 'North America'</a:t>
            </a:r>
          </a:p>
        </p:txBody>
      </p:sp>
      <p:sp>
        <p:nvSpPr>
          <p:cNvPr id="132" name="TextBox 131"/>
          <p:cNvSpPr txBox="1"/>
          <p:nvPr/>
        </p:nvSpPr>
        <p:spPr>
          <a:xfrm>
            <a:off x="9801225" y="4567939"/>
            <a:ext cx="1842641" cy="186689"/>
          </a:xfrm>
          <a:prstGeom prst="rect">
            <a:avLst/>
          </a:prstGeom>
          <a:noFill/>
        </p:spPr>
        <p:txBody>
          <a:bodyPr wrap="none" lIns="0" rIns="0" tIns="0" bIns="0">
            <a:spAutoFit/>
          </a:bodyPr>
          <a:lstStyle/>
          <a:p>
            <a:r>
              <a:rPr sz="1100" b="0">
                <a:solidFill>
                  <a:srgbClr val="2E2E2E"/>
                </a:solidFill>
                <a:latin typeface="Calibri"/>
              </a:rPr>
              <a:t>and 'Flexible Partial Dentures' (</a:t>
            </a:r>
          </a:p>
        </p:txBody>
      </p:sp>
      <p:pic>
        <p:nvPicPr>
          <p:cNvPr id="133" name="Picture 132" descr="lock.png"/>
          <p:cNvPicPr>
            <a:picLocks noChangeAspect="1"/>
          </p:cNvPicPr>
          <p:nvPr/>
        </p:nvPicPr>
        <p:blipFill>
          <a:blip r:embed="rId4"/>
          <a:stretch>
            <a:fillRect/>
          </a:stretch>
        </p:blipFill>
        <p:spPr>
          <a:xfrm>
            <a:off x="11591917" y="4558160"/>
            <a:ext cx="128699" cy="187198"/>
          </a:xfrm>
          <a:prstGeom prst="rect">
            <a:avLst/>
          </a:prstGeom>
        </p:spPr>
      </p:pic>
      <p:sp>
        <p:nvSpPr>
          <p:cNvPr id="134" name="TextBox 133"/>
          <p:cNvSpPr txBox="1"/>
          <p:nvPr/>
        </p:nvSpPr>
        <p:spPr>
          <a:xfrm>
            <a:off x="9801225" y="4735579"/>
            <a:ext cx="1991345" cy="186689"/>
          </a:xfrm>
          <a:prstGeom prst="rect">
            <a:avLst/>
          </a:prstGeom>
          <a:noFill/>
        </p:spPr>
        <p:txBody>
          <a:bodyPr wrap="none" lIns="0" rIns="0" tIns="0" bIns="0">
            <a:spAutoFit/>
          </a:bodyPr>
          <a:lstStyle/>
          <a:p>
            <a:r>
              <a:rPr sz="1100" b="0">
                <a:solidFill>
                  <a:srgbClr val="2E2E2E"/>
                </a:solidFill>
                <a:latin typeface="Calibri"/>
              </a:rPr>
              <a:t>of segment) remains the principal</a:t>
            </a:r>
          </a:p>
        </p:txBody>
      </p:sp>
      <p:sp>
        <p:nvSpPr>
          <p:cNvPr id="135" name="TextBox 134"/>
          <p:cNvSpPr txBox="1"/>
          <p:nvPr/>
        </p:nvSpPr>
        <p:spPr>
          <a:xfrm>
            <a:off x="9801225" y="4903219"/>
            <a:ext cx="499938" cy="186689"/>
          </a:xfrm>
          <a:prstGeom prst="rect">
            <a:avLst/>
          </a:prstGeom>
          <a:noFill/>
        </p:spPr>
        <p:txBody>
          <a:bodyPr wrap="none" lIns="0" rIns="0" tIns="0" bIns="0">
            <a:spAutoFit/>
          </a:bodyPr>
          <a:lstStyle/>
          <a:p>
            <a:r>
              <a:rPr sz="1100" b="0">
                <a:solidFill>
                  <a:srgbClr val="2E2E2E"/>
                </a:solidFill>
                <a:latin typeface="Calibri"/>
              </a:rPr>
              <a:t>barrier.</a:t>
            </a:r>
          </a:p>
        </p:txBody>
      </p:sp>
    </p:spTree>
  </p:cSld>
  <p:clrMapOvr>
    <a:masterClrMapping/>
  </p:clrMapOvr>
</p:sld>
</file>

<file path=ppt/slides/slide268.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000375"/>
            <a:ext cx="7239000" cy="247650"/>
          </a:xfrm>
          <a:prstGeom prst="rect">
            <a:avLst/>
          </a:prstGeom>
          <a:noFill/>
        </p:spPr>
        <p:txBody>
          <a:bodyPr wrap="none" lIns="0" tIns="0">
            <a:spAutoFit/>
          </a:bodyPr>
          <a:lstStyle/>
          <a:p>
            <a:r>
              <a:rPr sz="1400" b="0">
                <a:solidFill>
                  <a:srgbClr val="8FC8F2"/>
                </a:solidFill>
                <a:latin typeface="Calibri"/>
              </a:rPr>
              <a:t>Removable Partial Dentures Market</a:t>
            </a:r>
          </a:p>
        </p:txBody>
      </p:sp>
      <p:sp>
        <p:nvSpPr>
          <p:cNvPr id="6" name="FMI Breaker Title"/>
          <p:cNvSpPr txBox="1"/>
          <p:nvPr/>
        </p:nvSpPr>
        <p:spPr>
          <a:xfrm>
            <a:off x="914400" y="3305175"/>
            <a:ext cx="7239000" cy="514350"/>
          </a:xfrm>
          <a:prstGeom prst="rect">
            <a:avLst/>
          </a:prstGeom>
          <a:noFill/>
        </p:spPr>
        <p:txBody>
          <a:bodyPr wrap="square" lIns="0" rIns="0" tIns="0">
            <a:spAutoFit/>
          </a:bodyPr>
          <a:lstStyle/>
          <a:p>
            <a:r>
              <a:rPr sz="3000" b="1" cap="all" spc="400">
                <a:solidFill>
                  <a:srgbClr val="FFFFFF"/>
                </a:solidFill>
                <a:latin typeface="Calibri"/>
              </a:rPr>
              <a:t>Competition Assessment</a:t>
            </a:r>
          </a:p>
        </p:txBody>
      </p:sp>
      <p:sp>
        <p:nvSpPr>
          <p:cNvPr id="7" name="TextBox 6"/>
          <p:cNvSpPr txBox="1"/>
          <p:nvPr/>
        </p:nvSpPr>
        <p:spPr>
          <a:xfrm>
            <a:off x="914400" y="4010025"/>
            <a:ext cx="71247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Competitive Landscape</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Share by Leading Players</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Company Profiles &amp; Strategic Benchmarking</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6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19</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Competitive Landscape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Pipeline Assessment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Strategic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Competition Dashboard</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Competitive Landscape at a Glance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Market concentration, segment leadership and the moves that will shift share, 2026–2036, in one page</a:t>
            </a:r>
          </a:p>
        </p:txBody>
      </p:sp>
      <p:cxnSp>
        <p:nvCxnSpPr>
          <p:cNvPr id="10" name="Connector 9"/>
          <p:cNvCxnSpPr/>
          <p:nvPr/>
        </p:nvCxnSpPr>
        <p:spPr>
          <a:xfrm>
            <a:off x="190500" y="10477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11" name="TextBox 10"/>
          <p:cNvSpPr txBox="1"/>
          <p:nvPr/>
        </p:nvSpPr>
        <p:spPr>
          <a:xfrm>
            <a:off x="247650"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Top 3 share, 2026</a:t>
            </a:r>
          </a:p>
        </p:txBody>
      </p:sp>
      <p:sp>
        <p:nvSpPr>
          <p:cNvPr id="12" name="TextBox 11"/>
          <p:cNvSpPr txBox="1"/>
          <p:nvPr/>
        </p:nvSpPr>
        <p:spPr>
          <a:xfrm>
            <a:off x="247650"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E87722"/>
                </a:solidFill>
                <a:latin typeface="Calibri"/>
              </a:rPr>
              <a:t> </a:t>
            </a:r>
          </a:p>
        </p:txBody>
      </p:sp>
      <p:cxnSp>
        <p:nvCxnSpPr>
          <p:cNvPr id="13" name="Connector 12"/>
          <p:cNvCxnSpPr/>
          <p:nvPr/>
        </p:nvCxnSpPr>
        <p:spPr>
          <a:xfrm>
            <a:off x="1666875"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4" name="TextBox 13"/>
          <p:cNvSpPr txBox="1"/>
          <p:nvPr/>
        </p:nvSpPr>
        <p:spPr>
          <a:xfrm>
            <a:off x="1724025"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Top 5 share</a:t>
            </a:r>
          </a:p>
        </p:txBody>
      </p:sp>
      <p:sp>
        <p:nvSpPr>
          <p:cNvPr id="15" name="TextBox 14"/>
          <p:cNvSpPr txBox="1"/>
          <p:nvPr/>
        </p:nvSpPr>
        <p:spPr>
          <a:xfrm>
            <a:off x="1724025"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 </a:t>
            </a:r>
          </a:p>
        </p:txBody>
      </p:sp>
      <p:cxnSp>
        <p:nvCxnSpPr>
          <p:cNvPr id="16" name="Connector 15"/>
          <p:cNvCxnSpPr/>
          <p:nvPr/>
        </p:nvCxnSpPr>
        <p:spPr>
          <a:xfrm>
            <a:off x="3143250"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7" name="TextBox 16"/>
          <p:cNvSpPr txBox="1"/>
          <p:nvPr/>
        </p:nvSpPr>
        <p:spPr>
          <a:xfrm>
            <a:off x="3200400"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Top 3 product types</a:t>
            </a:r>
          </a:p>
        </p:txBody>
      </p:sp>
      <p:sp>
        <p:nvSpPr>
          <p:cNvPr id="18" name="TextBox 17"/>
          <p:cNvSpPr txBox="1"/>
          <p:nvPr/>
        </p:nvSpPr>
        <p:spPr>
          <a:xfrm>
            <a:off x="3200400"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 </a:t>
            </a:r>
          </a:p>
        </p:txBody>
      </p:sp>
      <p:cxnSp>
        <p:nvCxnSpPr>
          <p:cNvPr id="19" name="Connector 18"/>
          <p:cNvCxnSpPr/>
          <p:nvPr/>
        </p:nvCxnSpPr>
        <p:spPr>
          <a:xfrm>
            <a:off x="4619625"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0" name="TextBox 19"/>
          <p:cNvSpPr txBox="1"/>
          <p:nvPr/>
        </p:nvSpPr>
        <p:spPr>
          <a:xfrm>
            <a:off x="4676775"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Largest end use</a:t>
            </a:r>
          </a:p>
        </p:txBody>
      </p:sp>
      <p:sp>
        <p:nvSpPr>
          <p:cNvPr id="21" name="TextBox 20"/>
          <p:cNvSpPr txBox="1"/>
          <p:nvPr/>
        </p:nvSpPr>
        <p:spPr>
          <a:xfrm>
            <a:off x="4676775"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
            </a:r>
          </a:p>
        </p:txBody>
      </p:sp>
      <p:cxnSp>
        <p:nvCxnSpPr>
          <p:cNvPr id="22" name="Connector 21"/>
          <p:cNvCxnSpPr/>
          <p:nvPr/>
        </p:nvCxnSpPr>
        <p:spPr>
          <a:xfrm>
            <a:off x="6096000"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3" name="TextBox 22"/>
          <p:cNvSpPr txBox="1"/>
          <p:nvPr/>
        </p:nvSpPr>
        <p:spPr>
          <a:xfrm>
            <a:off x="6153150"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Named competitors</a:t>
            </a:r>
          </a:p>
        </p:txBody>
      </p:sp>
      <p:sp>
        <p:nvSpPr>
          <p:cNvPr id="24" name="TextBox 23"/>
          <p:cNvSpPr txBox="1"/>
          <p:nvPr/>
        </p:nvSpPr>
        <p:spPr>
          <a:xfrm>
            <a:off x="6153150"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10</a:t>
            </a:r>
          </a:p>
        </p:txBody>
      </p:sp>
      <p:cxnSp>
        <p:nvCxnSpPr>
          <p:cNvPr id="25" name="Connector 24"/>
          <p:cNvCxnSpPr/>
          <p:nvPr/>
        </p:nvCxnSpPr>
        <p:spPr>
          <a:xfrm>
            <a:off x="7572375"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6" name="TextBox 25"/>
          <p:cNvSpPr txBox="1"/>
          <p:nvPr/>
        </p:nvSpPr>
        <p:spPr>
          <a:xfrm>
            <a:off x="7629525"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Moves tracked</a:t>
            </a:r>
          </a:p>
        </p:txBody>
      </p:sp>
      <p:sp>
        <p:nvSpPr>
          <p:cNvPr id="27" name="TextBox 26"/>
          <p:cNvSpPr txBox="1"/>
          <p:nvPr/>
        </p:nvSpPr>
        <p:spPr>
          <a:xfrm>
            <a:off x="7629525"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50</a:t>
            </a:r>
          </a:p>
        </p:txBody>
      </p:sp>
      <p:cxnSp>
        <p:nvCxnSpPr>
          <p:cNvPr id="28" name="Connector 27"/>
          <p:cNvCxnSpPr/>
          <p:nvPr/>
        </p:nvCxnSpPr>
        <p:spPr>
          <a:xfrm>
            <a:off x="9048750"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9" name="TextBox 28"/>
          <p:cNvSpPr txBox="1"/>
          <p:nvPr/>
        </p:nvSpPr>
        <p:spPr>
          <a:xfrm>
            <a:off x="9105900"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Largest player</a:t>
            </a:r>
          </a:p>
        </p:txBody>
      </p:sp>
      <p:sp>
        <p:nvSpPr>
          <p:cNvPr id="30" name="TextBox 29"/>
          <p:cNvSpPr txBox="1"/>
          <p:nvPr/>
        </p:nvSpPr>
        <p:spPr>
          <a:xfrm>
            <a:off x="9105900"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Dentsply Sirona Inc.</a:t>
            </a:r>
          </a:p>
        </p:txBody>
      </p:sp>
      <p:cxnSp>
        <p:nvCxnSpPr>
          <p:cNvPr id="31" name="Connector 30"/>
          <p:cNvCxnSpPr/>
          <p:nvPr/>
        </p:nvCxnSpPr>
        <p:spPr>
          <a:xfrm>
            <a:off x="10525125"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10582275"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CAGR 2026–2036</a:t>
            </a:r>
          </a:p>
        </p:txBody>
      </p:sp>
      <p:sp>
        <p:nvSpPr>
          <p:cNvPr id="33" name="TextBox 32"/>
          <p:cNvSpPr txBox="1"/>
          <p:nvPr/>
        </p:nvSpPr>
        <p:spPr>
          <a:xfrm>
            <a:off x="10582275"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 </a:t>
            </a:r>
          </a:p>
        </p:txBody>
      </p:sp>
      <p:cxnSp>
        <p:nvCxnSpPr>
          <p:cNvPr id="34" name="Connector 33"/>
          <p:cNvCxnSpPr/>
          <p:nvPr/>
        </p:nvCxnSpPr>
        <p:spPr>
          <a:xfrm>
            <a:off x="190500" y="17335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35" name="Rectangle 34"/>
          <p:cNvSpPr/>
          <p:nvPr/>
        </p:nvSpPr>
        <p:spPr>
          <a:xfrm>
            <a:off x="190500" y="19240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190500" y="1924050"/>
            <a:ext cx="209550" cy="209550"/>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37" name="TextBox 36"/>
          <p:cNvSpPr txBox="1"/>
          <p:nvPr/>
        </p:nvSpPr>
        <p:spPr>
          <a:xfrm>
            <a:off x="495300" y="19050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Leadership is concentrated in value, spread in capability</a:t>
            </a:r>
          </a:p>
        </p:txBody>
      </p:sp>
      <p:sp>
        <p:nvSpPr>
          <p:cNvPr id="38" name="TextBox 37"/>
          <p:cNvSpPr txBox="1"/>
          <p:nvPr/>
        </p:nvSpPr>
        <p:spPr>
          <a:xfrm>
            <a:off x="495300" y="21145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39" name="Rectangle 38"/>
          <p:cNvSpPr/>
          <p:nvPr/>
        </p:nvSpPr>
        <p:spPr>
          <a:xfrm>
            <a:off x="190500" y="30289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190500" y="3028950"/>
            <a:ext cx="209550" cy="209550"/>
          </a:xfrm>
          <a:prstGeom prst="rect">
            <a:avLst/>
          </a:prstGeom>
          <a:noFill/>
        </p:spPr>
        <p:txBody>
          <a:bodyPr wrap="none" lIns="0" rIns="0" tIns="0" bIns="0" anchor="ctr">
            <a:spAutoFit/>
          </a:bodyPr>
          <a:lstStyle/>
          <a:p>
            <a:pPr algn="ctr"/>
            <a:r>
              <a:rPr sz="1100" b="1">
                <a:solidFill>
                  <a:srgbClr val="FFFFFF"/>
                </a:solidFill>
                <a:latin typeface="Calibri"/>
              </a:rPr>
              <a:t>2</a:t>
            </a:r>
          </a:p>
        </p:txBody>
      </p:sp>
      <p:sp>
        <p:nvSpPr>
          <p:cNvPr id="41" name="TextBox 40"/>
          <p:cNvSpPr txBox="1"/>
          <p:nvPr/>
        </p:nvSpPr>
        <p:spPr>
          <a:xfrm>
            <a:off x="495300" y="30099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The tier structure is steep</a:t>
            </a:r>
          </a:p>
        </p:txBody>
      </p:sp>
      <p:sp>
        <p:nvSpPr>
          <p:cNvPr id="42" name="TextBox 41"/>
          <p:cNvSpPr txBox="1"/>
          <p:nvPr/>
        </p:nvSpPr>
        <p:spPr>
          <a:xfrm>
            <a:off x="495300" y="32194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43" name="Rectangle 42"/>
          <p:cNvSpPr/>
          <p:nvPr/>
        </p:nvSpPr>
        <p:spPr>
          <a:xfrm>
            <a:off x="190500" y="41338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190500" y="4133850"/>
            <a:ext cx="209550" cy="209550"/>
          </a:xfrm>
          <a:prstGeom prst="rect">
            <a:avLst/>
          </a:prstGeom>
          <a:noFill/>
        </p:spPr>
        <p:txBody>
          <a:bodyPr wrap="none" lIns="0" rIns="0" tIns="0" bIns="0" anchor="ctr">
            <a:spAutoFit/>
          </a:bodyPr>
          <a:lstStyle/>
          <a:p>
            <a:pPr algn="ctr"/>
            <a:r>
              <a:rPr sz="1100" b="1">
                <a:solidFill>
                  <a:srgbClr val="FFFFFF"/>
                </a:solidFill>
                <a:latin typeface="Calibri"/>
              </a:rPr>
              <a:t>3</a:t>
            </a:r>
          </a:p>
        </p:txBody>
      </p:sp>
      <p:sp>
        <p:nvSpPr>
          <p:cNvPr id="45" name="TextBox 44"/>
          <p:cNvSpPr txBox="1"/>
          <p:nvPr/>
        </p:nvSpPr>
        <p:spPr>
          <a:xfrm>
            <a:off x="495300" y="41148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Growth is shifting inside the product mix</a:t>
            </a:r>
          </a:p>
        </p:txBody>
      </p:sp>
      <p:sp>
        <p:nvSpPr>
          <p:cNvPr id="46" name="TextBox 45"/>
          <p:cNvSpPr txBox="1"/>
          <p:nvPr/>
        </p:nvSpPr>
        <p:spPr>
          <a:xfrm>
            <a:off x="495300" y="43243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47" name="Rectangle 46"/>
          <p:cNvSpPr/>
          <p:nvPr/>
        </p:nvSpPr>
        <p:spPr>
          <a:xfrm>
            <a:off x="6286500" y="19240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6286500" y="1924050"/>
            <a:ext cx="209550" cy="209550"/>
          </a:xfrm>
          <a:prstGeom prst="rect">
            <a:avLst/>
          </a:prstGeom>
          <a:noFill/>
        </p:spPr>
        <p:txBody>
          <a:bodyPr wrap="none" lIns="0" rIns="0" tIns="0" bIns="0" anchor="ctr">
            <a:spAutoFit/>
          </a:bodyPr>
          <a:lstStyle/>
          <a:p>
            <a:pPr algn="ctr"/>
            <a:r>
              <a:rPr sz="1100" b="1">
                <a:solidFill>
                  <a:srgbClr val="FFFFFF"/>
                </a:solidFill>
                <a:latin typeface="Calibri"/>
              </a:rPr>
              <a:t>4</a:t>
            </a:r>
          </a:p>
        </p:txBody>
      </p:sp>
      <p:sp>
        <p:nvSpPr>
          <p:cNvPr id="49" name="TextBox 48"/>
          <p:cNvSpPr txBox="1"/>
          <p:nvPr/>
        </p:nvSpPr>
        <p:spPr>
          <a:xfrm>
            <a:off x="6591300" y="19050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Reach divides the field</a:t>
            </a:r>
          </a:p>
        </p:txBody>
      </p:sp>
      <p:sp>
        <p:nvSpPr>
          <p:cNvPr id="50" name="TextBox 49"/>
          <p:cNvSpPr txBox="1"/>
          <p:nvPr/>
        </p:nvSpPr>
        <p:spPr>
          <a:xfrm>
            <a:off x="6591300" y="21145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4 players compete globally, 2 regionally and 4 in one market or niche.</a:t>
            </a:r>
          </a:p>
        </p:txBody>
      </p:sp>
      <p:sp>
        <p:nvSpPr>
          <p:cNvPr id="51" name="Rectangle 50"/>
          <p:cNvSpPr/>
          <p:nvPr/>
        </p:nvSpPr>
        <p:spPr>
          <a:xfrm>
            <a:off x="6286500" y="30289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6286500" y="3028950"/>
            <a:ext cx="209550" cy="209550"/>
          </a:xfrm>
          <a:prstGeom prst="rect">
            <a:avLst/>
          </a:prstGeom>
          <a:noFill/>
        </p:spPr>
        <p:txBody>
          <a:bodyPr wrap="none" lIns="0" rIns="0" tIns="0" bIns="0" anchor="ctr">
            <a:spAutoFit/>
          </a:bodyPr>
          <a:lstStyle/>
          <a:p>
            <a:pPr algn="ctr"/>
            <a:r>
              <a:rPr sz="1100" b="1">
                <a:solidFill>
                  <a:srgbClr val="FFFFFF"/>
                </a:solidFill>
                <a:latin typeface="Calibri"/>
              </a:rPr>
              <a:t>5</a:t>
            </a:r>
          </a:p>
        </p:txBody>
      </p:sp>
      <p:sp>
        <p:nvSpPr>
          <p:cNvPr id="53" name="TextBox 52"/>
          <p:cNvSpPr txBox="1"/>
          <p:nvPr/>
        </p:nvSpPr>
        <p:spPr>
          <a:xfrm>
            <a:off x="6591300" y="30099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Consolidation is an active lever</a:t>
            </a:r>
          </a:p>
        </p:txBody>
      </p:sp>
      <p:sp>
        <p:nvSpPr>
          <p:cNvPr id="54" name="TextBox 53"/>
          <p:cNvSpPr txBox="1"/>
          <p:nvPr/>
        </p:nvSpPr>
        <p:spPr>
          <a:xfrm>
            <a:off x="6591300" y="32194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is an active strategy at 5 of 10 named players; the independent target list is shrinking.</a:t>
            </a:r>
          </a:p>
        </p:txBody>
      </p:sp>
      <p:sp>
        <p:nvSpPr>
          <p:cNvPr id="55" name="Rectangle 54"/>
          <p:cNvSpPr/>
          <p:nvPr/>
        </p:nvSpPr>
        <p:spPr>
          <a:xfrm>
            <a:off x="6286500" y="41338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6286500" y="4133850"/>
            <a:ext cx="209550" cy="209550"/>
          </a:xfrm>
          <a:prstGeom prst="rect">
            <a:avLst/>
          </a:prstGeom>
          <a:noFill/>
        </p:spPr>
        <p:txBody>
          <a:bodyPr wrap="none" lIns="0" rIns="0" tIns="0" bIns="0" anchor="ctr">
            <a:spAutoFit/>
          </a:bodyPr>
          <a:lstStyle/>
          <a:p>
            <a:pPr algn="ctr"/>
            <a:r>
              <a:rPr sz="1100" b="1">
                <a:solidFill>
                  <a:srgbClr val="FFFFFF"/>
                </a:solidFill>
                <a:latin typeface="Calibri"/>
              </a:rPr>
              <a:t>6</a:t>
            </a:r>
          </a:p>
        </p:txBody>
      </p:sp>
      <p:sp>
        <p:nvSpPr>
          <p:cNvPr id="57" name="TextBox 56"/>
          <p:cNvSpPr txBox="1"/>
          <p:nvPr/>
        </p:nvSpPr>
        <p:spPr>
          <a:xfrm>
            <a:off x="6591300" y="41148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Success factors, in order</a:t>
            </a:r>
          </a:p>
        </p:txBody>
      </p:sp>
      <p:sp>
        <p:nvSpPr>
          <p:cNvPr id="58" name="TextBox 57"/>
          <p:cNvSpPr txBox="1"/>
          <p:nvPr/>
        </p:nvSpPr>
        <p:spPr>
          <a:xfrm>
            <a:off x="6591300" y="43243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1 segment breadth, 2 scale and share, 3 geographic reach, 4 innovation pipeline, 5 strategic momentum.  Ranking leads: Ivoclar Vivadent AG, Dentsply Sirona Inc., Kulzer GmbH.</a:t>
            </a:r>
          </a:p>
        </p:txBody>
      </p:sp>
      <p:cxnSp>
        <p:nvCxnSpPr>
          <p:cNvPr id="59" name="Connector 58"/>
          <p:cNvCxnSpPr/>
          <p:nvPr/>
        </p:nvCxnSpPr>
        <p:spPr>
          <a:xfrm>
            <a:off x="190500" y="5219700"/>
            <a:ext cx="11811000"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60" name="TextBox 59"/>
          <p:cNvSpPr txBox="1"/>
          <p:nvPr/>
        </p:nvSpPr>
        <p:spPr>
          <a:xfrm>
            <a:off x="190500" y="5276850"/>
            <a:ext cx="3810000" cy="152400"/>
          </a:xfrm>
          <a:prstGeom prst="rect">
            <a:avLst/>
          </a:prstGeom>
          <a:noFill/>
        </p:spPr>
        <p:txBody>
          <a:bodyPr wrap="square" lIns="28575" rIns="28575" tIns="9525" bIns="9525" anchor="t">
            <a:spAutoFit/>
          </a:bodyPr>
          <a:lstStyle/>
          <a:p>
            <a:pPr algn="l"/>
            <a:r>
              <a:rPr sz="1100" b="1">
                <a:solidFill>
                  <a:srgbClr val="0F2D52"/>
                </a:solidFill>
                <a:latin typeface="Calibri"/>
              </a:rPr>
              <a:t>HOW THIS SECTION IS BUILT</a:t>
            </a:r>
          </a:p>
        </p:txBody>
      </p:sp>
      <p:sp>
        <p:nvSpPr>
          <p:cNvPr id="61" name="TextBox 60"/>
          <p:cNvSpPr txBox="1"/>
          <p:nvPr/>
        </p:nvSpPr>
        <p:spPr>
          <a:xfrm>
            <a:off x="190500" y="5448300"/>
            <a:ext cx="11811000" cy="5715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Pages 2 to 4 show where the market is and who plays.  Pages 5 to 7 rate every named company on twenty Ps (who they are, what they sell, how they win); a cell reads n/a where no evidence exists.  Page 8 turns the pattern into five success factors and a ranking.  Pages 9 and 10 list what each player is doing and what each of your departments should do about it.</a:t>
            </a:r>
          </a:p>
        </p:txBody>
      </p:sp>
      <p:sp>
        <p:nvSpPr>
          <p:cNvPr id="62" name="TextBox 6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3" name="Picture 62" descr="lock.png"/>
          <p:cNvPicPr>
            <a:picLocks noChangeAspect="1"/>
          </p:cNvPicPr>
          <p:nvPr/>
        </p:nvPicPr>
        <p:blipFill>
          <a:blip r:embed="rId4"/>
          <a:stretch>
            <a:fillRect/>
          </a:stretch>
        </p:blipFill>
        <p:spPr>
          <a:xfrm>
            <a:off x="873863" y="1401826"/>
            <a:ext cx="128699" cy="187198"/>
          </a:xfrm>
          <a:prstGeom prst="rect">
            <a:avLst/>
          </a:prstGeom>
        </p:spPr>
      </p:pic>
      <p:pic>
        <p:nvPicPr>
          <p:cNvPr id="64" name="Picture 63" descr="lock.png"/>
          <p:cNvPicPr>
            <a:picLocks noChangeAspect="1"/>
          </p:cNvPicPr>
          <p:nvPr/>
        </p:nvPicPr>
        <p:blipFill>
          <a:blip r:embed="rId4"/>
          <a:stretch>
            <a:fillRect/>
          </a:stretch>
        </p:blipFill>
        <p:spPr>
          <a:xfrm>
            <a:off x="2350238" y="1401826"/>
            <a:ext cx="128699" cy="187198"/>
          </a:xfrm>
          <a:prstGeom prst="rect">
            <a:avLst/>
          </a:prstGeom>
        </p:spPr>
      </p:pic>
      <p:pic>
        <p:nvPicPr>
          <p:cNvPr id="65" name="Picture 64" descr="lock.png"/>
          <p:cNvPicPr>
            <a:picLocks noChangeAspect="1"/>
          </p:cNvPicPr>
          <p:nvPr/>
        </p:nvPicPr>
        <p:blipFill>
          <a:blip r:embed="rId4"/>
          <a:stretch>
            <a:fillRect/>
          </a:stretch>
        </p:blipFill>
        <p:spPr>
          <a:xfrm>
            <a:off x="3826613" y="1401826"/>
            <a:ext cx="128699" cy="187198"/>
          </a:xfrm>
          <a:prstGeom prst="rect">
            <a:avLst/>
          </a:prstGeom>
        </p:spPr>
      </p:pic>
      <p:pic>
        <p:nvPicPr>
          <p:cNvPr id="66" name="Picture 65" descr="lock.png"/>
          <p:cNvPicPr>
            <a:picLocks noChangeAspect="1"/>
          </p:cNvPicPr>
          <p:nvPr/>
        </p:nvPicPr>
        <p:blipFill>
          <a:blip r:embed="rId4"/>
          <a:stretch>
            <a:fillRect/>
          </a:stretch>
        </p:blipFill>
        <p:spPr>
          <a:xfrm>
            <a:off x="11208488" y="1401826"/>
            <a:ext cx="128699" cy="187198"/>
          </a:xfrm>
          <a:prstGeom prst="rect">
            <a:avLst/>
          </a:prstGeom>
        </p:spPr>
      </p:pic>
      <p:sp>
        <p:nvSpPr>
          <p:cNvPr id="67" name="TextBox 66"/>
          <p:cNvSpPr txBox="1"/>
          <p:nvPr/>
        </p:nvSpPr>
        <p:spPr>
          <a:xfrm>
            <a:off x="4705350" y="1304925"/>
            <a:ext cx="1212746" cy="179984"/>
          </a:xfrm>
          <a:prstGeom prst="rect">
            <a:avLst/>
          </a:prstGeom>
          <a:noFill/>
        </p:spPr>
        <p:txBody>
          <a:bodyPr wrap="none" lIns="0" rIns="0" tIns="0" bIns="0">
            <a:spAutoFit/>
          </a:bodyPr>
          <a:lstStyle/>
          <a:p>
            <a:r>
              <a:rPr sz="1055" b="1">
                <a:solidFill>
                  <a:srgbClr val="0F2D52"/>
                </a:solidFill>
                <a:latin typeface="Calibri"/>
              </a:rPr>
              <a:t>Dental Laboratories,</a:t>
            </a:r>
          </a:p>
        </p:txBody>
      </p:sp>
      <p:pic>
        <p:nvPicPr>
          <p:cNvPr id="68" name="Picture 67" descr="lock.png"/>
          <p:cNvPicPr>
            <a:picLocks noChangeAspect="1"/>
          </p:cNvPicPr>
          <p:nvPr/>
        </p:nvPicPr>
        <p:blipFill>
          <a:blip r:embed="rId4"/>
          <a:stretch>
            <a:fillRect/>
          </a:stretch>
        </p:blipFill>
        <p:spPr>
          <a:xfrm>
            <a:off x="4692421" y="1456471"/>
            <a:ext cx="123551" cy="179710"/>
          </a:xfrm>
          <a:prstGeom prst="rect">
            <a:avLst/>
          </a:prstGeom>
        </p:spPr>
      </p:pic>
      <p:sp>
        <p:nvSpPr>
          <p:cNvPr id="69" name="TextBox 68"/>
          <p:cNvSpPr txBox="1"/>
          <p:nvPr/>
        </p:nvSpPr>
        <p:spPr>
          <a:xfrm>
            <a:off x="523875" y="2124075"/>
            <a:ext cx="1137319" cy="186689"/>
          </a:xfrm>
          <a:prstGeom prst="rect">
            <a:avLst/>
          </a:prstGeom>
          <a:noFill/>
        </p:spPr>
        <p:txBody>
          <a:bodyPr wrap="none" lIns="0" rIns="0" tIns="0" bIns="0">
            <a:spAutoFit/>
          </a:bodyPr>
          <a:lstStyle/>
          <a:p>
            <a:r>
              <a:rPr sz="1100" b="0">
                <a:solidFill>
                  <a:srgbClr val="1F2933"/>
                </a:solidFill>
                <a:latin typeface="Calibri"/>
              </a:rPr>
              <a:t>The top three hold</a:t>
            </a:r>
          </a:p>
        </p:txBody>
      </p:sp>
      <p:pic>
        <p:nvPicPr>
          <p:cNvPr id="70" name="Picture 69" descr="lock.png"/>
          <p:cNvPicPr>
            <a:picLocks noChangeAspect="1"/>
          </p:cNvPicPr>
          <p:nvPr/>
        </p:nvPicPr>
        <p:blipFill>
          <a:blip r:embed="rId4"/>
          <a:stretch>
            <a:fillRect/>
          </a:stretch>
        </p:blipFill>
        <p:spPr>
          <a:xfrm>
            <a:off x="1609246" y="2114296"/>
            <a:ext cx="128699" cy="187198"/>
          </a:xfrm>
          <a:prstGeom prst="rect">
            <a:avLst/>
          </a:prstGeom>
        </p:spPr>
      </p:pic>
      <p:sp>
        <p:nvSpPr>
          <p:cNvPr id="71" name="TextBox 70"/>
          <p:cNvSpPr txBox="1"/>
          <p:nvPr/>
        </p:nvSpPr>
        <p:spPr>
          <a:xfrm>
            <a:off x="1776742" y="2124075"/>
            <a:ext cx="3949327" cy="186689"/>
          </a:xfrm>
          <a:prstGeom prst="rect">
            <a:avLst/>
          </a:prstGeom>
          <a:noFill/>
        </p:spPr>
        <p:txBody>
          <a:bodyPr wrap="none" lIns="0" rIns="0" tIns="0" bIns="0">
            <a:spAutoFit/>
          </a:bodyPr>
          <a:lstStyle/>
          <a:p>
            <a:r>
              <a:rPr sz="1100" b="0">
                <a:solidFill>
                  <a:srgbClr val="1F2933"/>
                </a:solidFill>
                <a:latin typeface="Calibri"/>
              </a:rPr>
              <a:t>of 2026 value, but 3 companies lead the 8 sub-segments tracked; no</a:t>
            </a:r>
          </a:p>
        </p:txBody>
      </p:sp>
      <p:sp>
        <p:nvSpPr>
          <p:cNvPr id="72" name="TextBox 71"/>
          <p:cNvSpPr txBox="1"/>
          <p:nvPr/>
        </p:nvSpPr>
        <p:spPr>
          <a:xfrm>
            <a:off x="523875" y="2291715"/>
            <a:ext cx="1386433" cy="186689"/>
          </a:xfrm>
          <a:prstGeom prst="rect">
            <a:avLst/>
          </a:prstGeom>
          <a:noFill/>
        </p:spPr>
        <p:txBody>
          <a:bodyPr wrap="none" lIns="0" rIns="0" tIns="0" bIns="0">
            <a:spAutoFit/>
          </a:bodyPr>
          <a:lstStyle/>
          <a:p>
            <a:r>
              <a:rPr sz="1100" b="0">
                <a:solidFill>
                  <a:srgbClr val="1F2933"/>
                </a:solidFill>
                <a:latin typeface="Calibri"/>
              </a:rPr>
              <a:t>one leads more than 5.</a:t>
            </a:r>
          </a:p>
        </p:txBody>
      </p:sp>
      <p:sp>
        <p:nvSpPr>
          <p:cNvPr id="73" name="TextBox 72"/>
          <p:cNvSpPr txBox="1"/>
          <p:nvPr/>
        </p:nvSpPr>
        <p:spPr>
          <a:xfrm>
            <a:off x="523875" y="3228975"/>
            <a:ext cx="1364059" cy="186689"/>
          </a:xfrm>
          <a:prstGeom prst="rect">
            <a:avLst/>
          </a:prstGeom>
          <a:noFill/>
        </p:spPr>
        <p:txBody>
          <a:bodyPr wrap="none" lIns="0" rIns="0" tIns="0" bIns="0">
            <a:spAutoFit/>
          </a:bodyPr>
          <a:lstStyle/>
          <a:p>
            <a:r>
              <a:rPr sz="1100" b="0">
                <a:solidFill>
                  <a:srgbClr val="1F2933"/>
                </a:solidFill>
                <a:latin typeface="Calibri"/>
              </a:rPr>
              <a:t>Tier 1 (4 players) holds</a:t>
            </a:r>
          </a:p>
        </p:txBody>
      </p:sp>
      <p:pic>
        <p:nvPicPr>
          <p:cNvPr id="74" name="Picture 73" descr="lock.png"/>
          <p:cNvPicPr>
            <a:picLocks noChangeAspect="1"/>
          </p:cNvPicPr>
          <p:nvPr/>
        </p:nvPicPr>
        <p:blipFill>
          <a:blip r:embed="rId4"/>
          <a:stretch>
            <a:fillRect/>
          </a:stretch>
        </p:blipFill>
        <p:spPr>
          <a:xfrm>
            <a:off x="1835985" y="3219196"/>
            <a:ext cx="128699" cy="187198"/>
          </a:xfrm>
          <a:prstGeom prst="rect">
            <a:avLst/>
          </a:prstGeom>
        </p:spPr>
      </p:pic>
      <p:sp>
        <p:nvSpPr>
          <p:cNvPr id="75" name="TextBox 74"/>
          <p:cNvSpPr txBox="1"/>
          <p:nvPr/>
        </p:nvSpPr>
        <p:spPr>
          <a:xfrm>
            <a:off x="2003481" y="3228975"/>
            <a:ext cx="1875656" cy="186689"/>
          </a:xfrm>
          <a:prstGeom prst="rect">
            <a:avLst/>
          </a:prstGeom>
          <a:noFill/>
        </p:spPr>
        <p:txBody>
          <a:bodyPr wrap="none" lIns="0" rIns="0" tIns="0" bIns="0">
            <a:spAutoFit/>
          </a:bodyPr>
          <a:lstStyle/>
          <a:p>
            <a:r>
              <a:rPr sz="1100" b="0">
                <a:solidFill>
                  <a:srgbClr val="1F2933"/>
                </a:solidFill>
                <a:latin typeface="Calibri"/>
              </a:rPr>
              <a:t>; Tier 2 and Tier 3 together hold</a:t>
            </a:r>
          </a:p>
        </p:txBody>
      </p:sp>
      <p:pic>
        <p:nvPicPr>
          <p:cNvPr id="76" name="Picture 75" descr="lock.png"/>
          <p:cNvPicPr>
            <a:picLocks noChangeAspect="1"/>
          </p:cNvPicPr>
          <p:nvPr/>
        </p:nvPicPr>
        <p:blipFill>
          <a:blip r:embed="rId4"/>
          <a:stretch>
            <a:fillRect/>
          </a:stretch>
        </p:blipFill>
        <p:spPr>
          <a:xfrm>
            <a:off x="3827189" y="3219196"/>
            <a:ext cx="128699" cy="187198"/>
          </a:xfrm>
          <a:prstGeom prst="rect">
            <a:avLst/>
          </a:prstGeom>
        </p:spPr>
      </p:pic>
      <p:sp>
        <p:nvSpPr>
          <p:cNvPr id="77" name="TextBox 76"/>
          <p:cNvSpPr txBox="1"/>
          <p:nvPr/>
        </p:nvSpPr>
        <p:spPr>
          <a:xfrm>
            <a:off x="3994685" y="3228975"/>
            <a:ext cx="111397" cy="186689"/>
          </a:xfrm>
          <a:prstGeom prst="rect">
            <a:avLst/>
          </a:prstGeom>
          <a:noFill/>
        </p:spPr>
        <p:txBody>
          <a:bodyPr wrap="none" lIns="0" rIns="0" tIns="0" bIns="0">
            <a:spAutoFit/>
          </a:bodyPr>
          <a:lstStyle/>
          <a:p>
            <a:r>
              <a:rPr sz="1100" b="0">
                <a:solidFill>
                  <a:srgbClr val="1F2933"/>
                </a:solidFill>
                <a:latin typeface="Calibri"/>
              </a:rPr>
              <a:t>.</a:t>
            </a:r>
          </a:p>
        </p:txBody>
      </p:sp>
      <p:sp>
        <p:nvSpPr>
          <p:cNvPr id="78" name="TextBox 77"/>
          <p:cNvSpPr txBox="1"/>
          <p:nvPr/>
        </p:nvSpPr>
        <p:spPr>
          <a:xfrm>
            <a:off x="523875" y="4333875"/>
            <a:ext cx="5322316" cy="186689"/>
          </a:xfrm>
          <a:prstGeom prst="rect">
            <a:avLst/>
          </a:prstGeom>
          <a:noFill/>
        </p:spPr>
        <p:txBody>
          <a:bodyPr wrap="none" lIns="0" rIns="0" tIns="0" bIns="0">
            <a:spAutoFit/>
          </a:bodyPr>
          <a:lstStyle/>
          <a:p>
            <a:r>
              <a:rPr sz="1100" b="0">
                <a:solidFill>
                  <a:srgbClr val="1F2933"/>
                </a:solidFill>
                <a:latin typeface="Calibri"/>
              </a:rPr>
              <a:t>'Flexible Partial Dentures' is the largest line; 'Cast Metal Partial Dentures' compounds fastest</a:t>
            </a:r>
          </a:p>
        </p:txBody>
      </p:sp>
      <p:sp>
        <p:nvSpPr>
          <p:cNvPr id="79" name="TextBox 78"/>
          <p:cNvSpPr txBox="1"/>
          <p:nvPr/>
        </p:nvSpPr>
        <p:spPr>
          <a:xfrm>
            <a:off x="523875" y="4501515"/>
            <a:ext cx="189979" cy="186689"/>
          </a:xfrm>
          <a:prstGeom prst="rect">
            <a:avLst/>
          </a:prstGeom>
          <a:noFill/>
        </p:spPr>
        <p:txBody>
          <a:bodyPr wrap="none" lIns="0" rIns="0" tIns="0" bIns="0">
            <a:spAutoFit/>
          </a:bodyPr>
          <a:lstStyle/>
          <a:p>
            <a:r>
              <a:rPr sz="1100" b="0">
                <a:solidFill>
                  <a:srgbClr val="1F2933"/>
                </a:solidFill>
                <a:latin typeface="Calibri"/>
              </a:rPr>
              <a:t>at</a:t>
            </a:r>
          </a:p>
        </p:txBody>
      </p:sp>
      <p:pic>
        <p:nvPicPr>
          <p:cNvPr id="80" name="Picture 79" descr="lock.png"/>
          <p:cNvPicPr>
            <a:picLocks noChangeAspect="1"/>
          </p:cNvPicPr>
          <p:nvPr/>
        </p:nvPicPr>
        <p:blipFill>
          <a:blip r:embed="rId4"/>
          <a:stretch>
            <a:fillRect/>
          </a:stretch>
        </p:blipFill>
        <p:spPr>
          <a:xfrm>
            <a:off x="661905" y="4491736"/>
            <a:ext cx="128699" cy="187198"/>
          </a:xfrm>
          <a:prstGeom prst="rect">
            <a:avLst/>
          </a:prstGeom>
        </p:spPr>
      </p:pic>
      <p:sp>
        <p:nvSpPr>
          <p:cNvPr id="81" name="TextBox 80"/>
          <p:cNvSpPr txBox="1"/>
          <p:nvPr/>
        </p:nvSpPr>
        <p:spPr>
          <a:xfrm>
            <a:off x="829401" y="4501515"/>
            <a:ext cx="430617" cy="186689"/>
          </a:xfrm>
          <a:prstGeom prst="rect">
            <a:avLst/>
          </a:prstGeom>
          <a:noFill/>
        </p:spPr>
        <p:txBody>
          <a:bodyPr wrap="none" lIns="0" rIns="0" tIns="0" bIns="0">
            <a:spAutoFit/>
          </a:bodyPr>
          <a:lstStyle/>
          <a:p>
            <a:r>
              <a:rPr sz="1100" b="0">
                <a:solidFill>
                  <a:srgbClr val="1F2933"/>
                </a:solidFill>
                <a:latin typeface="Calibri"/>
              </a:rPr>
              <a:t>CAGR.</a:t>
            </a:r>
          </a:p>
        </p:txBody>
      </p:sp>
    </p:spTree>
  </p:cSld>
  <p:clrMapOvr>
    <a:masterClrMapping/>
  </p:clrMapOvr>
</p:sld>
</file>

<file path=ppt/slides/slide2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Segment Leadership Map</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Share by player group and which named player leads or is active in each sub-segment, 2026</a:t>
            </a:r>
          </a:p>
        </p:txBody>
      </p:sp>
      <p:sp>
        <p:nvSpPr>
          <p:cNvPr id="10" name="TextBox 9"/>
          <p:cNvSpPr txBox="1"/>
          <p:nvPr/>
        </p:nvSpPr>
        <p:spPr>
          <a:xfrm>
            <a:off x="190500" y="1047750"/>
            <a:ext cx="5715000" cy="171450"/>
          </a:xfrm>
          <a:prstGeom prst="rect">
            <a:avLst/>
          </a:prstGeom>
          <a:noFill/>
        </p:spPr>
        <p:txBody>
          <a:bodyPr wrap="square" lIns="28575" rIns="28575" tIns="9525" bIns="9525" anchor="t">
            <a:spAutoFit/>
          </a:bodyPr>
          <a:lstStyle/>
          <a:p>
            <a:pPr algn="l"/>
            <a:r>
              <a:rPr sz="1100" b="1">
                <a:solidFill>
                  <a:srgbClr val="0F2D52"/>
                </a:solidFill>
                <a:latin typeface="Calibri"/>
              </a:rPr>
              <a:t>Who holds the market, 2026</a:t>
            </a:r>
          </a:p>
        </p:txBody>
      </p:sp>
      <p:sp>
        <p:nvSpPr>
          <p:cNvPr id="11" name="Rectangle 10"/>
          <p:cNvSpPr/>
          <p:nvPr/>
        </p:nvSpPr>
        <p:spPr>
          <a:xfrm>
            <a:off x="190500" y="1257300"/>
            <a:ext cx="4509884" cy="266700"/>
          </a:xfrm>
          <a:prstGeom prst="rect">
            <a:avLst/>
          </a:prstGeom>
          <a:solidFill>
            <a:srgbClr val="0F2D52"/>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47650" y="1257300"/>
            <a:ext cx="4433684" cy="266700"/>
          </a:xfrm>
          <a:prstGeom prst="rect">
            <a:avLst/>
          </a:prstGeom>
          <a:noFill/>
        </p:spPr>
        <p:txBody>
          <a:bodyPr wrap="square" lIns="28575" rIns="28575" tIns="9525" bIns="9525" anchor="ctr">
            <a:spAutoFit/>
          </a:bodyPr>
          <a:lstStyle/>
          <a:p>
            <a:pPr algn="l"/>
            <a:r>
              <a:rPr sz="1100" b="1">
                <a:solidFill>
                  <a:srgbClr val="FFFFFF"/>
                </a:solidFill>
                <a:latin typeface="Calibri"/>
              </a:rPr>
              <a:t/>
            </a:r>
          </a:p>
        </p:txBody>
      </p:sp>
      <p:sp>
        <p:nvSpPr>
          <p:cNvPr id="13" name="Rectangle 12"/>
          <p:cNvSpPr/>
          <p:nvPr/>
        </p:nvSpPr>
        <p:spPr>
          <a:xfrm>
            <a:off x="4700384" y="1257300"/>
            <a:ext cx="1536162" cy="266700"/>
          </a:xfrm>
          <a:prstGeom prst="rect">
            <a:avLst/>
          </a:prstGeom>
          <a:solidFill>
            <a:srgbClr val="1F6FA8"/>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757534" y="1257300"/>
            <a:ext cx="1459962" cy="266700"/>
          </a:xfrm>
          <a:prstGeom prst="rect">
            <a:avLst/>
          </a:prstGeom>
          <a:noFill/>
        </p:spPr>
        <p:txBody>
          <a:bodyPr wrap="square" lIns="28575" rIns="28575" tIns="9525" bIns="9525" anchor="ctr">
            <a:spAutoFit/>
          </a:bodyPr>
          <a:lstStyle/>
          <a:p>
            <a:pPr algn="l"/>
            <a:r>
              <a:rPr sz="1100" b="1">
                <a:solidFill>
                  <a:srgbClr val="FFFFFF"/>
                </a:solidFill>
                <a:latin typeface="Calibri"/>
              </a:rPr>
              <a:t/>
            </a:r>
          </a:p>
        </p:txBody>
      </p:sp>
      <p:sp>
        <p:nvSpPr>
          <p:cNvPr id="15" name="Rectangle 14"/>
          <p:cNvSpPr/>
          <p:nvPr/>
        </p:nvSpPr>
        <p:spPr>
          <a:xfrm>
            <a:off x="6236546" y="1257300"/>
            <a:ext cx="2242416" cy="266700"/>
          </a:xfrm>
          <a:prstGeom prst="rect">
            <a:avLst/>
          </a:prstGeom>
          <a:solidFill>
            <a:srgbClr val="6FA0CF"/>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293696" y="1257300"/>
            <a:ext cx="2166216" cy="266700"/>
          </a:xfrm>
          <a:prstGeom prst="rect">
            <a:avLst/>
          </a:prstGeom>
          <a:noFill/>
        </p:spPr>
        <p:txBody>
          <a:bodyPr wrap="square" lIns="28575" rIns="28575" tIns="9525" bIns="9525" anchor="ctr">
            <a:spAutoFit/>
          </a:bodyPr>
          <a:lstStyle/>
          <a:p>
            <a:pPr algn="l"/>
            <a:r>
              <a:rPr sz="1100" b="1">
                <a:solidFill>
                  <a:srgbClr val="FFFFFF"/>
                </a:solidFill>
                <a:latin typeface="Calibri"/>
              </a:rPr>
              <a:t/>
            </a:r>
          </a:p>
        </p:txBody>
      </p:sp>
      <p:sp>
        <p:nvSpPr>
          <p:cNvPr id="17" name="Rectangle 16"/>
          <p:cNvSpPr/>
          <p:nvPr/>
        </p:nvSpPr>
        <p:spPr>
          <a:xfrm>
            <a:off x="8478962" y="1257300"/>
            <a:ext cx="3522538" cy="266700"/>
          </a:xfrm>
          <a:prstGeom prst="rect">
            <a:avLst/>
          </a:prstGeom>
          <a:solidFill>
            <a:srgbClr val="A9C6E3"/>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8536112" y="1257300"/>
            <a:ext cx="3446338" cy="266700"/>
          </a:xfrm>
          <a:prstGeom prst="rect">
            <a:avLst/>
          </a:prstGeom>
          <a:noFill/>
        </p:spPr>
        <p:txBody>
          <a:bodyPr wrap="square" lIns="28575" rIns="28575" tIns="9525" bIns="9525" anchor="ctr">
            <a:spAutoFit/>
          </a:bodyPr>
          <a:lstStyle/>
          <a:p>
            <a:pPr algn="l"/>
            <a:r>
              <a:rPr sz="1100" b="1">
                <a:solidFill>
                  <a:srgbClr val="0F2D52"/>
                </a:solidFill>
                <a:latin typeface="Calibri"/>
              </a:rPr>
              <a:t/>
            </a:r>
          </a:p>
        </p:txBody>
      </p:sp>
      <p:sp>
        <p:nvSpPr>
          <p:cNvPr id="19" name="Rectangle 18"/>
          <p:cNvSpPr/>
          <p:nvPr/>
        </p:nvSpPr>
        <p:spPr>
          <a:xfrm>
            <a:off x="190500" y="1600200"/>
            <a:ext cx="85725" cy="857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314325" y="1543050"/>
            <a:ext cx="276225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Dentsply Sirona Inc., Ivoclar Vivadent AG, Kulzer GmbH</a:t>
            </a:r>
          </a:p>
        </p:txBody>
      </p:sp>
      <p:sp>
        <p:nvSpPr>
          <p:cNvPr id="21" name="Rectangle 20"/>
          <p:cNvSpPr/>
          <p:nvPr/>
        </p:nvSpPr>
        <p:spPr>
          <a:xfrm>
            <a:off x="3143250" y="1600200"/>
            <a:ext cx="85725" cy="8572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3267075" y="1543050"/>
            <a:ext cx="276225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GC Corporation, SHOFU INC.</a:t>
            </a:r>
          </a:p>
        </p:txBody>
      </p:sp>
      <p:sp>
        <p:nvSpPr>
          <p:cNvPr id="23" name="Rectangle 22"/>
          <p:cNvSpPr/>
          <p:nvPr/>
        </p:nvSpPr>
        <p:spPr>
          <a:xfrm>
            <a:off x="6096000" y="1600200"/>
            <a:ext cx="85725" cy="85725"/>
          </a:xfrm>
          <a:prstGeom prst="rect">
            <a:avLst/>
          </a:prstGeom>
          <a:solidFill>
            <a:srgbClr val="6FA0C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6219825" y="1543050"/>
            <a:ext cx="276225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VITA Zahnfabrik H. Rauter GmbH &amp; Co. KG, Zhermack S.p.A., DETAX GmbH, Candulor AG, Ruthinium Dental Manufacturing S.p.A.</a:t>
            </a:r>
          </a:p>
        </p:txBody>
      </p:sp>
      <p:sp>
        <p:nvSpPr>
          <p:cNvPr id="25" name="Rectangle 24"/>
          <p:cNvSpPr/>
          <p:nvPr/>
        </p:nvSpPr>
        <p:spPr>
          <a:xfrm>
            <a:off x="9048750" y="1600200"/>
            <a:ext cx="85725" cy="8572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9172575" y="1543050"/>
            <a:ext cx="276225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Long tail of regional and niche suppliers</a:t>
            </a:r>
          </a:p>
        </p:txBody>
      </p:sp>
      <p:cxnSp>
        <p:nvCxnSpPr>
          <p:cNvPr id="27" name="Connector 26"/>
          <p:cNvCxnSpPr/>
          <p:nvPr/>
        </p:nvCxnSpPr>
        <p:spPr>
          <a:xfrm>
            <a:off x="190500" y="19240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190500" y="1981200"/>
            <a:ext cx="8572500" cy="171450"/>
          </a:xfrm>
          <a:prstGeom prst="rect">
            <a:avLst/>
          </a:prstGeom>
          <a:noFill/>
        </p:spPr>
        <p:txBody>
          <a:bodyPr wrap="square" lIns="28575" rIns="28575" tIns="9525" bIns="9525" anchor="t">
            <a:spAutoFit/>
          </a:bodyPr>
          <a:lstStyle/>
          <a:p>
            <a:pPr algn="l"/>
            <a:r>
              <a:rPr sz="1100" b="1">
                <a:solidFill>
                  <a:srgbClr val="0F2D52"/>
                </a:solidFill>
                <a:latin typeface="Calibri"/>
              </a:rPr>
              <a:t>Who leads which sub-segment, 2026  (full = leader, half = active)</a:t>
            </a:r>
          </a:p>
        </p:txBody>
      </p:sp>
      <p:sp>
        <p:nvSpPr>
          <p:cNvPr id="29" name="TextBox 28"/>
          <p:cNvSpPr txBox="1"/>
          <p:nvPr/>
        </p:nvSpPr>
        <p:spPr>
          <a:xfrm>
            <a:off x="2114550" y="2114550"/>
            <a:ext cx="120015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Flexible Partial Dentures</a:t>
            </a:r>
          </a:p>
        </p:txBody>
      </p:sp>
      <p:sp>
        <p:nvSpPr>
          <p:cNvPr id="30" name="TextBox 29"/>
          <p:cNvSpPr txBox="1"/>
          <p:nvPr/>
        </p:nvSpPr>
        <p:spPr>
          <a:xfrm>
            <a:off x="3352800" y="2114550"/>
            <a:ext cx="120015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Combination Framework Partial Dentures</a:t>
            </a:r>
          </a:p>
        </p:txBody>
      </p:sp>
      <p:sp>
        <p:nvSpPr>
          <p:cNvPr id="31" name="TextBox 30"/>
          <p:cNvSpPr txBox="1"/>
          <p:nvPr/>
        </p:nvSpPr>
        <p:spPr>
          <a:xfrm>
            <a:off x="4591050" y="2114550"/>
            <a:ext cx="120015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Cast Metal Partial Dentures</a:t>
            </a:r>
          </a:p>
        </p:txBody>
      </p:sp>
      <p:sp>
        <p:nvSpPr>
          <p:cNvPr id="32" name="TextBox 31"/>
          <p:cNvSpPr txBox="1"/>
          <p:nvPr/>
        </p:nvSpPr>
        <p:spPr>
          <a:xfrm>
            <a:off x="5829300" y="2114550"/>
            <a:ext cx="120015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Acrylic Partial Dentures</a:t>
            </a:r>
          </a:p>
        </p:txBody>
      </p:sp>
      <p:sp>
        <p:nvSpPr>
          <p:cNvPr id="33" name="TextBox 32"/>
          <p:cNvSpPr txBox="1"/>
          <p:nvPr/>
        </p:nvSpPr>
        <p:spPr>
          <a:xfrm>
            <a:off x="7067550" y="2114550"/>
            <a:ext cx="120015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Dental Laboratories</a:t>
            </a:r>
          </a:p>
        </p:txBody>
      </p:sp>
      <p:sp>
        <p:nvSpPr>
          <p:cNvPr id="34" name="TextBox 33"/>
          <p:cNvSpPr txBox="1"/>
          <p:nvPr/>
        </p:nvSpPr>
        <p:spPr>
          <a:xfrm>
            <a:off x="8305800" y="2114550"/>
            <a:ext cx="120015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Academic &amp; Teaching Dental Institutions</a:t>
            </a:r>
          </a:p>
        </p:txBody>
      </p:sp>
      <p:sp>
        <p:nvSpPr>
          <p:cNvPr id="35" name="TextBox 34"/>
          <p:cNvSpPr txBox="1"/>
          <p:nvPr/>
        </p:nvSpPr>
        <p:spPr>
          <a:xfrm>
            <a:off x="9544050" y="2114550"/>
            <a:ext cx="120015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Dental Clinics</a:t>
            </a:r>
          </a:p>
        </p:txBody>
      </p:sp>
      <p:sp>
        <p:nvSpPr>
          <p:cNvPr id="36" name="TextBox 35"/>
          <p:cNvSpPr txBox="1"/>
          <p:nvPr/>
        </p:nvSpPr>
        <p:spPr>
          <a:xfrm>
            <a:off x="10782300" y="2114550"/>
            <a:ext cx="120015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Dental Hospitals</a:t>
            </a:r>
          </a:p>
        </p:txBody>
      </p:sp>
      <p:cxnSp>
        <p:nvCxnSpPr>
          <p:cNvPr id="37" name="Connector 36"/>
          <p:cNvCxnSpPr/>
          <p:nvPr/>
        </p:nvCxnSpPr>
        <p:spPr>
          <a:xfrm>
            <a:off x="190500" y="26098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8" name="Rectangle 37"/>
          <p:cNvSpPr/>
          <p:nvPr/>
        </p:nvSpPr>
        <p:spPr>
          <a:xfrm>
            <a:off x="190500" y="26384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285750" y="26289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Dentsply Sirona Inc.</a:t>
            </a:r>
          </a:p>
        </p:txBody>
      </p:sp>
      <p:sp>
        <p:nvSpPr>
          <p:cNvPr id="40" name="TextBox 39"/>
          <p:cNvSpPr txBox="1"/>
          <p:nvPr/>
        </p:nvSpPr>
        <p:spPr>
          <a:xfrm>
            <a:off x="285750" y="27908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41" name="Oval 40"/>
          <p:cNvSpPr/>
          <p:nvPr/>
        </p:nvSpPr>
        <p:spPr>
          <a:xfrm>
            <a:off x="2638425" y="27051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Freeform 41"/>
          <p:cNvSpPr/>
          <p:nvPr/>
        </p:nvSpPr>
        <p:spPr>
          <a:xfrm>
            <a:off x="2714625" y="27051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Oval 42"/>
          <p:cNvSpPr/>
          <p:nvPr/>
        </p:nvSpPr>
        <p:spPr>
          <a:xfrm>
            <a:off x="3876675" y="2705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Oval 43"/>
          <p:cNvSpPr/>
          <p:nvPr/>
        </p:nvSpPr>
        <p:spPr>
          <a:xfrm>
            <a:off x="5114925" y="2705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Oval 44"/>
          <p:cNvSpPr/>
          <p:nvPr/>
        </p:nvSpPr>
        <p:spPr>
          <a:xfrm>
            <a:off x="6353175" y="2705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Oval 45"/>
          <p:cNvSpPr/>
          <p:nvPr/>
        </p:nvSpPr>
        <p:spPr>
          <a:xfrm>
            <a:off x="7591425" y="27051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Freeform 46"/>
          <p:cNvSpPr/>
          <p:nvPr/>
        </p:nvSpPr>
        <p:spPr>
          <a:xfrm>
            <a:off x="7667625" y="27051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Oval 47"/>
          <p:cNvSpPr/>
          <p:nvPr/>
        </p:nvSpPr>
        <p:spPr>
          <a:xfrm>
            <a:off x="8829675" y="27051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Freeform 48"/>
          <p:cNvSpPr/>
          <p:nvPr/>
        </p:nvSpPr>
        <p:spPr>
          <a:xfrm>
            <a:off x="8905875" y="27051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Oval 49"/>
          <p:cNvSpPr/>
          <p:nvPr/>
        </p:nvSpPr>
        <p:spPr>
          <a:xfrm>
            <a:off x="10067925" y="2705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Oval 50"/>
          <p:cNvSpPr/>
          <p:nvPr/>
        </p:nvSpPr>
        <p:spPr>
          <a:xfrm>
            <a:off x="11306175" y="2705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52" name="Connector 51"/>
          <p:cNvCxnSpPr/>
          <p:nvPr/>
        </p:nvCxnSpPr>
        <p:spPr>
          <a:xfrm>
            <a:off x="190500" y="2952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3" name="Rectangle 52"/>
          <p:cNvSpPr/>
          <p:nvPr/>
        </p:nvSpPr>
        <p:spPr>
          <a:xfrm>
            <a:off x="190500" y="29813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285750" y="29718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Ivoclar Vivadent AG</a:t>
            </a:r>
          </a:p>
        </p:txBody>
      </p:sp>
      <p:sp>
        <p:nvSpPr>
          <p:cNvPr id="55" name="TextBox 54"/>
          <p:cNvSpPr txBox="1"/>
          <p:nvPr/>
        </p:nvSpPr>
        <p:spPr>
          <a:xfrm>
            <a:off x="285750" y="31337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56" name="Oval 55"/>
          <p:cNvSpPr/>
          <p:nvPr/>
        </p:nvSpPr>
        <p:spPr>
          <a:xfrm>
            <a:off x="2638425"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Freeform 56"/>
          <p:cNvSpPr/>
          <p:nvPr/>
        </p:nvSpPr>
        <p:spPr>
          <a:xfrm>
            <a:off x="2714625"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Oval 57"/>
          <p:cNvSpPr/>
          <p:nvPr/>
        </p:nvSpPr>
        <p:spPr>
          <a:xfrm>
            <a:off x="3876675"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Freeform 58"/>
          <p:cNvSpPr/>
          <p:nvPr/>
        </p:nvSpPr>
        <p:spPr>
          <a:xfrm>
            <a:off x="3952875"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Oval 59"/>
          <p:cNvSpPr/>
          <p:nvPr/>
        </p:nvSpPr>
        <p:spPr>
          <a:xfrm>
            <a:off x="5114925"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Oval 60"/>
          <p:cNvSpPr/>
          <p:nvPr/>
        </p:nvSpPr>
        <p:spPr>
          <a:xfrm>
            <a:off x="6353175"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Freeform 61"/>
          <p:cNvSpPr/>
          <p:nvPr/>
        </p:nvSpPr>
        <p:spPr>
          <a:xfrm>
            <a:off x="6429375"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Oval 62"/>
          <p:cNvSpPr/>
          <p:nvPr/>
        </p:nvSpPr>
        <p:spPr>
          <a:xfrm>
            <a:off x="7591425"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Freeform 63"/>
          <p:cNvSpPr/>
          <p:nvPr/>
        </p:nvSpPr>
        <p:spPr>
          <a:xfrm>
            <a:off x="7667625"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Oval 64"/>
          <p:cNvSpPr/>
          <p:nvPr/>
        </p:nvSpPr>
        <p:spPr>
          <a:xfrm>
            <a:off x="8829675" y="3048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Oval 65"/>
          <p:cNvSpPr/>
          <p:nvPr/>
        </p:nvSpPr>
        <p:spPr>
          <a:xfrm>
            <a:off x="10067925"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Freeform 66"/>
          <p:cNvSpPr/>
          <p:nvPr/>
        </p:nvSpPr>
        <p:spPr>
          <a:xfrm>
            <a:off x="10144125"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Oval 67"/>
          <p:cNvSpPr/>
          <p:nvPr/>
        </p:nvSpPr>
        <p:spPr>
          <a:xfrm>
            <a:off x="11306175"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Freeform 68"/>
          <p:cNvSpPr/>
          <p:nvPr/>
        </p:nvSpPr>
        <p:spPr>
          <a:xfrm>
            <a:off x="11382375"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70" name="Connector 69"/>
          <p:cNvCxnSpPr/>
          <p:nvPr/>
        </p:nvCxnSpPr>
        <p:spPr>
          <a:xfrm>
            <a:off x="190500" y="32956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1" name="Rectangle 70"/>
          <p:cNvSpPr/>
          <p:nvPr/>
        </p:nvSpPr>
        <p:spPr>
          <a:xfrm>
            <a:off x="190500" y="33242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TextBox 71"/>
          <p:cNvSpPr txBox="1"/>
          <p:nvPr/>
        </p:nvSpPr>
        <p:spPr>
          <a:xfrm>
            <a:off x="285750" y="33147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Kulzer GmbH</a:t>
            </a:r>
          </a:p>
        </p:txBody>
      </p:sp>
      <p:sp>
        <p:nvSpPr>
          <p:cNvPr id="73" name="TextBox 72"/>
          <p:cNvSpPr txBox="1"/>
          <p:nvPr/>
        </p:nvSpPr>
        <p:spPr>
          <a:xfrm>
            <a:off x="285750" y="34766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74" name="Oval 73"/>
          <p:cNvSpPr/>
          <p:nvPr/>
        </p:nvSpPr>
        <p:spPr>
          <a:xfrm>
            <a:off x="2638425" y="3390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Oval 74"/>
          <p:cNvSpPr/>
          <p:nvPr/>
        </p:nvSpPr>
        <p:spPr>
          <a:xfrm>
            <a:off x="3876675"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Oval 75"/>
          <p:cNvSpPr/>
          <p:nvPr/>
        </p:nvSpPr>
        <p:spPr>
          <a:xfrm>
            <a:off x="5114925"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Freeform 76"/>
          <p:cNvSpPr/>
          <p:nvPr/>
        </p:nvSpPr>
        <p:spPr>
          <a:xfrm>
            <a:off x="5191125" y="33909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Oval 77"/>
          <p:cNvSpPr/>
          <p:nvPr/>
        </p:nvSpPr>
        <p:spPr>
          <a:xfrm>
            <a:off x="6353175"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Oval 78"/>
          <p:cNvSpPr/>
          <p:nvPr/>
        </p:nvSpPr>
        <p:spPr>
          <a:xfrm>
            <a:off x="7591425" y="3390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Oval 79"/>
          <p:cNvSpPr/>
          <p:nvPr/>
        </p:nvSpPr>
        <p:spPr>
          <a:xfrm>
            <a:off x="8829675"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Freeform 80"/>
          <p:cNvSpPr/>
          <p:nvPr/>
        </p:nvSpPr>
        <p:spPr>
          <a:xfrm>
            <a:off x="8905875" y="33909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Oval 81"/>
          <p:cNvSpPr/>
          <p:nvPr/>
        </p:nvSpPr>
        <p:spPr>
          <a:xfrm>
            <a:off x="10067925"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Freeform 82"/>
          <p:cNvSpPr/>
          <p:nvPr/>
        </p:nvSpPr>
        <p:spPr>
          <a:xfrm>
            <a:off x="10144125" y="33909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Oval 83"/>
          <p:cNvSpPr/>
          <p:nvPr/>
        </p:nvSpPr>
        <p:spPr>
          <a:xfrm>
            <a:off x="11306175"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Freeform 84"/>
          <p:cNvSpPr/>
          <p:nvPr/>
        </p:nvSpPr>
        <p:spPr>
          <a:xfrm>
            <a:off x="11382375" y="33909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86" name="Connector 85"/>
          <p:cNvCxnSpPr/>
          <p:nvPr/>
        </p:nvCxnSpPr>
        <p:spPr>
          <a:xfrm>
            <a:off x="190500" y="3638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7" name="Rectangle 86"/>
          <p:cNvSpPr/>
          <p:nvPr/>
        </p:nvSpPr>
        <p:spPr>
          <a:xfrm>
            <a:off x="190500" y="36671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TextBox 87"/>
          <p:cNvSpPr txBox="1"/>
          <p:nvPr/>
        </p:nvSpPr>
        <p:spPr>
          <a:xfrm>
            <a:off x="285750" y="36576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GC Corporation</a:t>
            </a:r>
          </a:p>
        </p:txBody>
      </p:sp>
      <p:sp>
        <p:nvSpPr>
          <p:cNvPr id="89" name="TextBox 88"/>
          <p:cNvSpPr txBox="1"/>
          <p:nvPr/>
        </p:nvSpPr>
        <p:spPr>
          <a:xfrm>
            <a:off x="285750" y="38195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90" name="Oval 89"/>
          <p:cNvSpPr/>
          <p:nvPr/>
        </p:nvSpPr>
        <p:spPr>
          <a:xfrm>
            <a:off x="2638425"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Oval 90"/>
          <p:cNvSpPr/>
          <p:nvPr/>
        </p:nvSpPr>
        <p:spPr>
          <a:xfrm>
            <a:off x="3876675"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Freeform 91"/>
          <p:cNvSpPr/>
          <p:nvPr/>
        </p:nvSpPr>
        <p:spPr>
          <a:xfrm>
            <a:off x="3952875" y="37338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Oval 92"/>
          <p:cNvSpPr/>
          <p:nvPr/>
        </p:nvSpPr>
        <p:spPr>
          <a:xfrm>
            <a:off x="5114925"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Freeform 93"/>
          <p:cNvSpPr/>
          <p:nvPr/>
        </p:nvSpPr>
        <p:spPr>
          <a:xfrm>
            <a:off x="5191125" y="37338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Oval 94"/>
          <p:cNvSpPr/>
          <p:nvPr/>
        </p:nvSpPr>
        <p:spPr>
          <a:xfrm>
            <a:off x="6353175"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Freeform 95"/>
          <p:cNvSpPr/>
          <p:nvPr/>
        </p:nvSpPr>
        <p:spPr>
          <a:xfrm>
            <a:off x="6429375" y="37338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Oval 96"/>
          <p:cNvSpPr/>
          <p:nvPr/>
        </p:nvSpPr>
        <p:spPr>
          <a:xfrm>
            <a:off x="7591425"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Freeform 97"/>
          <p:cNvSpPr/>
          <p:nvPr/>
        </p:nvSpPr>
        <p:spPr>
          <a:xfrm>
            <a:off x="7667625" y="37338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Oval 98"/>
          <p:cNvSpPr/>
          <p:nvPr/>
        </p:nvSpPr>
        <p:spPr>
          <a:xfrm>
            <a:off x="8829675"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Freeform 99"/>
          <p:cNvSpPr/>
          <p:nvPr/>
        </p:nvSpPr>
        <p:spPr>
          <a:xfrm>
            <a:off x="8905875" y="37338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Oval 100"/>
          <p:cNvSpPr/>
          <p:nvPr/>
        </p:nvSpPr>
        <p:spPr>
          <a:xfrm>
            <a:off x="10067925"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Oval 101"/>
          <p:cNvSpPr/>
          <p:nvPr/>
        </p:nvSpPr>
        <p:spPr>
          <a:xfrm>
            <a:off x="11306175"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03" name="Connector 102"/>
          <p:cNvCxnSpPr/>
          <p:nvPr/>
        </p:nvCxnSpPr>
        <p:spPr>
          <a:xfrm>
            <a:off x="190500" y="39814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4" name="Rectangle 103"/>
          <p:cNvSpPr/>
          <p:nvPr/>
        </p:nvSpPr>
        <p:spPr>
          <a:xfrm>
            <a:off x="190500" y="40100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285750" y="40005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SHOFU INC.</a:t>
            </a:r>
          </a:p>
        </p:txBody>
      </p:sp>
      <p:sp>
        <p:nvSpPr>
          <p:cNvPr id="106" name="TextBox 105"/>
          <p:cNvSpPr txBox="1"/>
          <p:nvPr/>
        </p:nvSpPr>
        <p:spPr>
          <a:xfrm>
            <a:off x="285750" y="41624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107" name="Oval 106"/>
          <p:cNvSpPr/>
          <p:nvPr/>
        </p:nvSpPr>
        <p:spPr>
          <a:xfrm>
            <a:off x="2638425"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Freeform 107"/>
          <p:cNvSpPr/>
          <p:nvPr/>
        </p:nvSpPr>
        <p:spPr>
          <a:xfrm>
            <a:off x="2714625" y="4076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Oval 108"/>
          <p:cNvSpPr/>
          <p:nvPr/>
        </p:nvSpPr>
        <p:spPr>
          <a:xfrm>
            <a:off x="3876675"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Freeform 109"/>
          <p:cNvSpPr/>
          <p:nvPr/>
        </p:nvSpPr>
        <p:spPr>
          <a:xfrm>
            <a:off x="3952875" y="4076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Oval 110"/>
          <p:cNvSpPr/>
          <p:nvPr/>
        </p:nvSpPr>
        <p:spPr>
          <a:xfrm>
            <a:off x="5114925"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Freeform 111"/>
          <p:cNvSpPr/>
          <p:nvPr/>
        </p:nvSpPr>
        <p:spPr>
          <a:xfrm>
            <a:off x="5191125" y="4076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Oval 112"/>
          <p:cNvSpPr/>
          <p:nvPr/>
        </p:nvSpPr>
        <p:spPr>
          <a:xfrm>
            <a:off x="6353175"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Oval 113"/>
          <p:cNvSpPr/>
          <p:nvPr/>
        </p:nvSpPr>
        <p:spPr>
          <a:xfrm>
            <a:off x="7591425"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Freeform 114"/>
          <p:cNvSpPr/>
          <p:nvPr/>
        </p:nvSpPr>
        <p:spPr>
          <a:xfrm>
            <a:off x="7667625" y="4076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Oval 115"/>
          <p:cNvSpPr/>
          <p:nvPr/>
        </p:nvSpPr>
        <p:spPr>
          <a:xfrm>
            <a:off x="8829675"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Oval 116"/>
          <p:cNvSpPr/>
          <p:nvPr/>
        </p:nvSpPr>
        <p:spPr>
          <a:xfrm>
            <a:off x="10067925"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Freeform 117"/>
          <p:cNvSpPr/>
          <p:nvPr/>
        </p:nvSpPr>
        <p:spPr>
          <a:xfrm>
            <a:off x="10144125" y="4076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Oval 118"/>
          <p:cNvSpPr/>
          <p:nvPr/>
        </p:nvSpPr>
        <p:spPr>
          <a:xfrm>
            <a:off x="11306175"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20" name="Connector 119"/>
          <p:cNvCxnSpPr/>
          <p:nvPr/>
        </p:nvCxnSpPr>
        <p:spPr>
          <a:xfrm>
            <a:off x="190500" y="4324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1" name="Rectangle 120"/>
          <p:cNvSpPr/>
          <p:nvPr/>
        </p:nvSpPr>
        <p:spPr>
          <a:xfrm>
            <a:off x="190500" y="43529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TextBox 121"/>
          <p:cNvSpPr txBox="1"/>
          <p:nvPr/>
        </p:nvSpPr>
        <p:spPr>
          <a:xfrm>
            <a:off x="285750" y="43434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VITA Zahnfabrik H. Rauter GmbH &amp; Co. KG</a:t>
            </a:r>
          </a:p>
        </p:txBody>
      </p:sp>
      <p:sp>
        <p:nvSpPr>
          <p:cNvPr id="123" name="TextBox 122"/>
          <p:cNvSpPr txBox="1"/>
          <p:nvPr/>
        </p:nvSpPr>
        <p:spPr>
          <a:xfrm>
            <a:off x="285750" y="45053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124" name="Oval 123"/>
          <p:cNvSpPr/>
          <p:nvPr/>
        </p:nvSpPr>
        <p:spPr>
          <a:xfrm>
            <a:off x="2638425"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Freeform 124"/>
          <p:cNvSpPr/>
          <p:nvPr/>
        </p:nvSpPr>
        <p:spPr>
          <a:xfrm>
            <a:off x="2714625" y="4419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Oval 125"/>
          <p:cNvSpPr/>
          <p:nvPr/>
        </p:nvSpPr>
        <p:spPr>
          <a:xfrm>
            <a:off x="3876675"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Freeform 126"/>
          <p:cNvSpPr/>
          <p:nvPr/>
        </p:nvSpPr>
        <p:spPr>
          <a:xfrm>
            <a:off x="3952875" y="4419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Oval 127"/>
          <p:cNvSpPr/>
          <p:nvPr/>
        </p:nvSpPr>
        <p:spPr>
          <a:xfrm>
            <a:off x="5114925"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Oval 128"/>
          <p:cNvSpPr/>
          <p:nvPr/>
        </p:nvSpPr>
        <p:spPr>
          <a:xfrm>
            <a:off x="6353175"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Oval 129"/>
          <p:cNvSpPr/>
          <p:nvPr/>
        </p:nvSpPr>
        <p:spPr>
          <a:xfrm>
            <a:off x="7591425"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Oval 130"/>
          <p:cNvSpPr/>
          <p:nvPr/>
        </p:nvSpPr>
        <p:spPr>
          <a:xfrm>
            <a:off x="8829675"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Freeform 131"/>
          <p:cNvSpPr/>
          <p:nvPr/>
        </p:nvSpPr>
        <p:spPr>
          <a:xfrm>
            <a:off x="8905875" y="4419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Oval 132"/>
          <p:cNvSpPr/>
          <p:nvPr/>
        </p:nvSpPr>
        <p:spPr>
          <a:xfrm>
            <a:off x="10067925"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Freeform 133"/>
          <p:cNvSpPr/>
          <p:nvPr/>
        </p:nvSpPr>
        <p:spPr>
          <a:xfrm>
            <a:off x="10144125" y="4419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Oval 134"/>
          <p:cNvSpPr/>
          <p:nvPr/>
        </p:nvSpPr>
        <p:spPr>
          <a:xfrm>
            <a:off x="11306175"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36" name="Connector 135"/>
          <p:cNvCxnSpPr/>
          <p:nvPr/>
        </p:nvCxnSpPr>
        <p:spPr>
          <a:xfrm>
            <a:off x="190500" y="46672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37" name="Rectangle 136"/>
          <p:cNvSpPr/>
          <p:nvPr/>
        </p:nvSpPr>
        <p:spPr>
          <a:xfrm>
            <a:off x="190500" y="46958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TextBox 137"/>
          <p:cNvSpPr txBox="1"/>
          <p:nvPr/>
        </p:nvSpPr>
        <p:spPr>
          <a:xfrm>
            <a:off x="285750" y="46863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Zhermack S.p.A.</a:t>
            </a:r>
          </a:p>
        </p:txBody>
      </p:sp>
      <p:sp>
        <p:nvSpPr>
          <p:cNvPr id="139" name="TextBox 138"/>
          <p:cNvSpPr txBox="1"/>
          <p:nvPr/>
        </p:nvSpPr>
        <p:spPr>
          <a:xfrm>
            <a:off x="285750" y="48482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40" name="Oval 139"/>
          <p:cNvSpPr/>
          <p:nvPr/>
        </p:nvSpPr>
        <p:spPr>
          <a:xfrm>
            <a:off x="2638425"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Freeform 140"/>
          <p:cNvSpPr/>
          <p:nvPr/>
        </p:nvSpPr>
        <p:spPr>
          <a:xfrm>
            <a:off x="2714625" y="47625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Oval 141"/>
          <p:cNvSpPr/>
          <p:nvPr/>
        </p:nvSpPr>
        <p:spPr>
          <a:xfrm>
            <a:off x="3876675"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Oval 142"/>
          <p:cNvSpPr/>
          <p:nvPr/>
        </p:nvSpPr>
        <p:spPr>
          <a:xfrm>
            <a:off x="5114925"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Freeform 143"/>
          <p:cNvSpPr/>
          <p:nvPr/>
        </p:nvSpPr>
        <p:spPr>
          <a:xfrm>
            <a:off x="5191125" y="47625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Oval 144"/>
          <p:cNvSpPr/>
          <p:nvPr/>
        </p:nvSpPr>
        <p:spPr>
          <a:xfrm>
            <a:off x="6353175"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Oval 145"/>
          <p:cNvSpPr/>
          <p:nvPr/>
        </p:nvSpPr>
        <p:spPr>
          <a:xfrm>
            <a:off x="7591425"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Freeform 146"/>
          <p:cNvSpPr/>
          <p:nvPr/>
        </p:nvSpPr>
        <p:spPr>
          <a:xfrm>
            <a:off x="7667625" y="47625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Oval 147"/>
          <p:cNvSpPr/>
          <p:nvPr/>
        </p:nvSpPr>
        <p:spPr>
          <a:xfrm>
            <a:off x="8829675"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Freeform 148"/>
          <p:cNvSpPr/>
          <p:nvPr/>
        </p:nvSpPr>
        <p:spPr>
          <a:xfrm>
            <a:off x="8905875" y="47625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Oval 149"/>
          <p:cNvSpPr/>
          <p:nvPr/>
        </p:nvSpPr>
        <p:spPr>
          <a:xfrm>
            <a:off x="10067925"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Oval 150"/>
          <p:cNvSpPr/>
          <p:nvPr/>
        </p:nvSpPr>
        <p:spPr>
          <a:xfrm>
            <a:off x="11306175"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52" name="Connector 151"/>
          <p:cNvCxnSpPr/>
          <p:nvPr/>
        </p:nvCxnSpPr>
        <p:spPr>
          <a:xfrm>
            <a:off x="190500" y="5010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53" name="Rectangle 152"/>
          <p:cNvSpPr/>
          <p:nvPr/>
        </p:nvSpPr>
        <p:spPr>
          <a:xfrm>
            <a:off x="190500" y="50387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TextBox 153"/>
          <p:cNvSpPr txBox="1"/>
          <p:nvPr/>
        </p:nvSpPr>
        <p:spPr>
          <a:xfrm>
            <a:off x="285750" y="50292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DETAX GmbH</a:t>
            </a:r>
          </a:p>
        </p:txBody>
      </p:sp>
      <p:sp>
        <p:nvSpPr>
          <p:cNvPr id="155" name="TextBox 154"/>
          <p:cNvSpPr txBox="1"/>
          <p:nvPr/>
        </p:nvSpPr>
        <p:spPr>
          <a:xfrm>
            <a:off x="285750" y="51911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56" name="Oval 155"/>
          <p:cNvSpPr/>
          <p:nvPr/>
        </p:nvSpPr>
        <p:spPr>
          <a:xfrm>
            <a:off x="2638425"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Oval 156"/>
          <p:cNvSpPr/>
          <p:nvPr/>
        </p:nvSpPr>
        <p:spPr>
          <a:xfrm>
            <a:off x="3876675"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Freeform 157"/>
          <p:cNvSpPr/>
          <p:nvPr/>
        </p:nvSpPr>
        <p:spPr>
          <a:xfrm>
            <a:off x="3952875" y="5105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Oval 158"/>
          <p:cNvSpPr/>
          <p:nvPr/>
        </p:nvSpPr>
        <p:spPr>
          <a:xfrm>
            <a:off x="5114925"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Freeform 159"/>
          <p:cNvSpPr/>
          <p:nvPr/>
        </p:nvSpPr>
        <p:spPr>
          <a:xfrm>
            <a:off x="5191125" y="5105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Oval 160"/>
          <p:cNvSpPr/>
          <p:nvPr/>
        </p:nvSpPr>
        <p:spPr>
          <a:xfrm>
            <a:off x="6353175"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Oval 161"/>
          <p:cNvSpPr/>
          <p:nvPr/>
        </p:nvSpPr>
        <p:spPr>
          <a:xfrm>
            <a:off x="7591425"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Freeform 162"/>
          <p:cNvSpPr/>
          <p:nvPr/>
        </p:nvSpPr>
        <p:spPr>
          <a:xfrm>
            <a:off x="7667625" y="5105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Oval 163"/>
          <p:cNvSpPr/>
          <p:nvPr/>
        </p:nvSpPr>
        <p:spPr>
          <a:xfrm>
            <a:off x="8829675"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Oval 164"/>
          <p:cNvSpPr/>
          <p:nvPr/>
        </p:nvSpPr>
        <p:spPr>
          <a:xfrm>
            <a:off x="10067925"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Freeform 165"/>
          <p:cNvSpPr/>
          <p:nvPr/>
        </p:nvSpPr>
        <p:spPr>
          <a:xfrm>
            <a:off x="10144125" y="5105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Oval 166"/>
          <p:cNvSpPr/>
          <p:nvPr/>
        </p:nvSpPr>
        <p:spPr>
          <a:xfrm>
            <a:off x="11306175"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68" name="Connector 167"/>
          <p:cNvCxnSpPr/>
          <p:nvPr/>
        </p:nvCxnSpPr>
        <p:spPr>
          <a:xfrm>
            <a:off x="190500" y="53530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69" name="Rectangle 168"/>
          <p:cNvSpPr/>
          <p:nvPr/>
        </p:nvSpPr>
        <p:spPr>
          <a:xfrm>
            <a:off x="190500" y="53816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TextBox 169"/>
          <p:cNvSpPr txBox="1"/>
          <p:nvPr/>
        </p:nvSpPr>
        <p:spPr>
          <a:xfrm>
            <a:off x="285750" y="53721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Candulor AG</a:t>
            </a:r>
          </a:p>
        </p:txBody>
      </p:sp>
      <p:sp>
        <p:nvSpPr>
          <p:cNvPr id="171" name="TextBox 170"/>
          <p:cNvSpPr txBox="1"/>
          <p:nvPr/>
        </p:nvSpPr>
        <p:spPr>
          <a:xfrm>
            <a:off x="285750" y="55340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72" name="Oval 171"/>
          <p:cNvSpPr/>
          <p:nvPr/>
        </p:nvSpPr>
        <p:spPr>
          <a:xfrm>
            <a:off x="2638425"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Freeform 172"/>
          <p:cNvSpPr/>
          <p:nvPr/>
        </p:nvSpPr>
        <p:spPr>
          <a:xfrm>
            <a:off x="2714625" y="54483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Oval 173"/>
          <p:cNvSpPr/>
          <p:nvPr/>
        </p:nvSpPr>
        <p:spPr>
          <a:xfrm>
            <a:off x="3876675"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Freeform 174"/>
          <p:cNvSpPr/>
          <p:nvPr/>
        </p:nvSpPr>
        <p:spPr>
          <a:xfrm>
            <a:off x="3952875" y="54483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Oval 175"/>
          <p:cNvSpPr/>
          <p:nvPr/>
        </p:nvSpPr>
        <p:spPr>
          <a:xfrm>
            <a:off x="5114925"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Freeform 176"/>
          <p:cNvSpPr/>
          <p:nvPr/>
        </p:nvSpPr>
        <p:spPr>
          <a:xfrm>
            <a:off x="5191125" y="54483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Oval 177"/>
          <p:cNvSpPr/>
          <p:nvPr/>
        </p:nvSpPr>
        <p:spPr>
          <a:xfrm>
            <a:off x="6353175"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Oval 178"/>
          <p:cNvSpPr/>
          <p:nvPr/>
        </p:nvSpPr>
        <p:spPr>
          <a:xfrm>
            <a:off x="7591425"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Oval 179"/>
          <p:cNvSpPr/>
          <p:nvPr/>
        </p:nvSpPr>
        <p:spPr>
          <a:xfrm>
            <a:off x="8829675"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Freeform 180"/>
          <p:cNvSpPr/>
          <p:nvPr/>
        </p:nvSpPr>
        <p:spPr>
          <a:xfrm>
            <a:off x="8905875" y="54483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Oval 181"/>
          <p:cNvSpPr/>
          <p:nvPr/>
        </p:nvSpPr>
        <p:spPr>
          <a:xfrm>
            <a:off x="10067925"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Freeform 182"/>
          <p:cNvSpPr/>
          <p:nvPr/>
        </p:nvSpPr>
        <p:spPr>
          <a:xfrm>
            <a:off x="10144125" y="54483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Oval 183"/>
          <p:cNvSpPr/>
          <p:nvPr/>
        </p:nvSpPr>
        <p:spPr>
          <a:xfrm>
            <a:off x="11306175"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85" name="Connector 184"/>
          <p:cNvCxnSpPr/>
          <p:nvPr/>
        </p:nvCxnSpPr>
        <p:spPr>
          <a:xfrm>
            <a:off x="190500" y="5695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86" name="Rectangle 185"/>
          <p:cNvSpPr/>
          <p:nvPr/>
        </p:nvSpPr>
        <p:spPr>
          <a:xfrm>
            <a:off x="190500" y="57245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85750" y="57150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Ruthinium Dental Manufacturing S.p.A.</a:t>
            </a:r>
          </a:p>
        </p:txBody>
      </p:sp>
      <p:sp>
        <p:nvSpPr>
          <p:cNvPr id="188" name="TextBox 187"/>
          <p:cNvSpPr txBox="1"/>
          <p:nvPr/>
        </p:nvSpPr>
        <p:spPr>
          <a:xfrm>
            <a:off x="285750" y="58769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89" name="Oval 188"/>
          <p:cNvSpPr/>
          <p:nvPr/>
        </p:nvSpPr>
        <p:spPr>
          <a:xfrm>
            <a:off x="2638425"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Freeform 189"/>
          <p:cNvSpPr/>
          <p:nvPr/>
        </p:nvSpPr>
        <p:spPr>
          <a:xfrm>
            <a:off x="2714625" y="57912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Oval 190"/>
          <p:cNvSpPr/>
          <p:nvPr/>
        </p:nvSpPr>
        <p:spPr>
          <a:xfrm>
            <a:off x="3876675"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Freeform 191"/>
          <p:cNvSpPr/>
          <p:nvPr/>
        </p:nvSpPr>
        <p:spPr>
          <a:xfrm>
            <a:off x="3952875" y="57912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Oval 192"/>
          <p:cNvSpPr/>
          <p:nvPr/>
        </p:nvSpPr>
        <p:spPr>
          <a:xfrm>
            <a:off x="5114925"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Oval 193"/>
          <p:cNvSpPr/>
          <p:nvPr/>
        </p:nvSpPr>
        <p:spPr>
          <a:xfrm>
            <a:off x="6353175"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Oval 194"/>
          <p:cNvSpPr/>
          <p:nvPr/>
        </p:nvSpPr>
        <p:spPr>
          <a:xfrm>
            <a:off x="7591425"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Freeform 195"/>
          <p:cNvSpPr/>
          <p:nvPr/>
        </p:nvSpPr>
        <p:spPr>
          <a:xfrm>
            <a:off x="7667625" y="57912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Oval 196"/>
          <p:cNvSpPr/>
          <p:nvPr/>
        </p:nvSpPr>
        <p:spPr>
          <a:xfrm>
            <a:off x="8829675"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Freeform 197"/>
          <p:cNvSpPr/>
          <p:nvPr/>
        </p:nvSpPr>
        <p:spPr>
          <a:xfrm>
            <a:off x="8905875" y="57912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Oval 198"/>
          <p:cNvSpPr/>
          <p:nvPr/>
        </p:nvSpPr>
        <p:spPr>
          <a:xfrm>
            <a:off x="10067925"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Oval 199"/>
          <p:cNvSpPr/>
          <p:nvPr/>
        </p:nvSpPr>
        <p:spPr>
          <a:xfrm>
            <a:off x="11306175"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01" name="Connector 200"/>
          <p:cNvCxnSpPr/>
          <p:nvPr/>
        </p:nvCxnSpPr>
        <p:spPr>
          <a:xfrm>
            <a:off x="190500" y="60388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202" name="Rectangle 201"/>
          <p:cNvSpPr/>
          <p:nvPr/>
        </p:nvSpPr>
        <p:spPr>
          <a:xfrm>
            <a:off x="190500" y="6124575"/>
            <a:ext cx="85725" cy="8572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314325" y="6076950"/>
            <a:ext cx="2095500" cy="171450"/>
          </a:xfrm>
          <a:prstGeom prst="rect">
            <a:avLst/>
          </a:prstGeom>
          <a:noFill/>
        </p:spPr>
        <p:txBody>
          <a:bodyPr wrap="square" lIns="28575" rIns="28575" tIns="9525" bIns="9525" anchor="t">
            <a:spAutoFit/>
          </a:bodyPr>
          <a:lstStyle/>
          <a:p>
            <a:pPr algn="l"/>
            <a:r>
              <a:rPr sz="1100" b="0">
                <a:solidFill>
                  <a:srgbClr val="1F2933"/>
                </a:solidFill>
                <a:latin typeface="Calibri"/>
              </a:rPr>
              <a:t>Tier 1</a:t>
            </a:r>
          </a:p>
        </p:txBody>
      </p:sp>
      <p:sp>
        <p:nvSpPr>
          <p:cNvPr id="204" name="Rectangle 203"/>
          <p:cNvSpPr/>
          <p:nvPr/>
        </p:nvSpPr>
        <p:spPr>
          <a:xfrm>
            <a:off x="847725" y="6124575"/>
            <a:ext cx="85725" cy="85725"/>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TextBox 204"/>
          <p:cNvSpPr txBox="1"/>
          <p:nvPr/>
        </p:nvSpPr>
        <p:spPr>
          <a:xfrm>
            <a:off x="971550" y="6076950"/>
            <a:ext cx="2095500" cy="171450"/>
          </a:xfrm>
          <a:prstGeom prst="rect">
            <a:avLst/>
          </a:prstGeom>
          <a:noFill/>
        </p:spPr>
        <p:txBody>
          <a:bodyPr wrap="square" lIns="28575" rIns="28575" tIns="9525" bIns="9525" anchor="t">
            <a:spAutoFit/>
          </a:bodyPr>
          <a:lstStyle/>
          <a:p>
            <a:pPr algn="l"/>
            <a:r>
              <a:rPr sz="1100" b="0">
                <a:solidFill>
                  <a:srgbClr val="1F2933"/>
                </a:solidFill>
                <a:latin typeface="Calibri"/>
              </a:rPr>
              <a:t>Tier 2</a:t>
            </a:r>
          </a:p>
        </p:txBody>
      </p:sp>
      <p:sp>
        <p:nvSpPr>
          <p:cNvPr id="206" name="Rectangle 205"/>
          <p:cNvSpPr/>
          <p:nvPr/>
        </p:nvSpPr>
        <p:spPr>
          <a:xfrm>
            <a:off x="1504950" y="6124575"/>
            <a:ext cx="85725" cy="85725"/>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TextBox 206"/>
          <p:cNvSpPr txBox="1"/>
          <p:nvPr/>
        </p:nvSpPr>
        <p:spPr>
          <a:xfrm>
            <a:off x="1628775" y="6076950"/>
            <a:ext cx="2095500" cy="171450"/>
          </a:xfrm>
          <a:prstGeom prst="rect">
            <a:avLst/>
          </a:prstGeom>
          <a:noFill/>
        </p:spPr>
        <p:txBody>
          <a:bodyPr wrap="square" lIns="28575" rIns="28575" tIns="9525" bIns="9525" anchor="t">
            <a:spAutoFit/>
          </a:bodyPr>
          <a:lstStyle/>
          <a:p>
            <a:pPr algn="l"/>
            <a:r>
              <a:rPr sz="1100" b="0">
                <a:solidFill>
                  <a:srgbClr val="1F2933"/>
                </a:solidFill>
                <a:latin typeface="Calibri"/>
              </a:rPr>
              <a:t>Tier 3</a:t>
            </a:r>
          </a:p>
        </p:txBody>
      </p:sp>
      <p:sp>
        <p:nvSpPr>
          <p:cNvPr id="208" name="TextBox 207"/>
          <p:cNvSpPr txBox="1"/>
          <p:nvPr/>
        </p:nvSpPr>
        <p:spPr>
          <a:xfrm>
            <a:off x="190500" y="62865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READING</a:t>
            </a:r>
          </a:p>
        </p:txBody>
      </p:sp>
      <p:sp>
        <p:nvSpPr>
          <p:cNvPr id="209" name="TextBox 208"/>
          <p:cNvSpPr txBox="1"/>
          <p:nvPr/>
        </p:nvSpPr>
        <p:spPr>
          <a:xfrm>
            <a:off x="190500" y="6400800"/>
            <a:ext cx="11811000" cy="2286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Read across a row to see breadth; down a column to see contestability.  'Flexible Partial Dentures' is the most contested column (8 players active); 'Acrylic Partial Dentures' is the most open (3).</a:t>
            </a:r>
          </a:p>
        </p:txBody>
      </p:sp>
      <p:sp>
        <p:nvSpPr>
          <p:cNvPr id="210" name="TextBox 20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211" name="TextBox 210"/>
          <p:cNvSpPr txBox="1"/>
          <p:nvPr/>
        </p:nvSpPr>
        <p:spPr>
          <a:xfrm>
            <a:off x="276225" y="1306830"/>
            <a:ext cx="398164" cy="186689"/>
          </a:xfrm>
          <a:prstGeom prst="rect">
            <a:avLst/>
          </a:prstGeom>
          <a:noFill/>
        </p:spPr>
        <p:txBody>
          <a:bodyPr wrap="none" lIns="0" rIns="0" tIns="0" bIns="0">
            <a:spAutoFit/>
          </a:bodyPr>
          <a:lstStyle/>
          <a:p>
            <a:r>
              <a:rPr sz="1100" b="1">
                <a:solidFill>
                  <a:srgbClr val="FFFFFF"/>
                </a:solidFill>
                <a:latin typeface="Calibri"/>
              </a:rPr>
              <a:t>Top 3</a:t>
            </a:r>
          </a:p>
        </p:txBody>
      </p:sp>
      <p:pic>
        <p:nvPicPr>
          <p:cNvPr id="212" name="Picture 211" descr="lock.png"/>
          <p:cNvPicPr>
            <a:picLocks noChangeAspect="1"/>
          </p:cNvPicPr>
          <p:nvPr/>
        </p:nvPicPr>
        <p:blipFill>
          <a:blip r:embed="rId4"/>
          <a:stretch>
            <a:fillRect/>
          </a:stretch>
        </p:blipFill>
        <p:spPr>
          <a:xfrm>
            <a:off x="622441" y="1297051"/>
            <a:ext cx="128699" cy="187198"/>
          </a:xfrm>
          <a:prstGeom prst="rect">
            <a:avLst/>
          </a:prstGeom>
        </p:spPr>
      </p:pic>
      <p:sp>
        <p:nvSpPr>
          <p:cNvPr id="213" name="TextBox 212"/>
          <p:cNvSpPr txBox="1"/>
          <p:nvPr/>
        </p:nvSpPr>
        <p:spPr>
          <a:xfrm>
            <a:off x="4786109" y="1306830"/>
            <a:ext cx="813172" cy="186689"/>
          </a:xfrm>
          <a:prstGeom prst="rect">
            <a:avLst/>
          </a:prstGeom>
          <a:noFill/>
        </p:spPr>
        <p:txBody>
          <a:bodyPr wrap="none" lIns="0" rIns="0" tIns="0" bIns="0">
            <a:spAutoFit/>
          </a:bodyPr>
          <a:lstStyle/>
          <a:p>
            <a:r>
              <a:rPr sz="1100" b="1">
                <a:solidFill>
                  <a:srgbClr val="FFFFFF"/>
                </a:solidFill>
                <a:latin typeface="Calibri"/>
              </a:rPr>
              <a:t>Rest of top 5</a:t>
            </a:r>
          </a:p>
        </p:txBody>
      </p:sp>
      <p:pic>
        <p:nvPicPr>
          <p:cNvPr id="214" name="Picture 213" descr="lock.png"/>
          <p:cNvPicPr>
            <a:picLocks noChangeAspect="1"/>
          </p:cNvPicPr>
          <p:nvPr/>
        </p:nvPicPr>
        <p:blipFill>
          <a:blip r:embed="rId4"/>
          <a:stretch>
            <a:fillRect/>
          </a:stretch>
        </p:blipFill>
        <p:spPr>
          <a:xfrm>
            <a:off x="5547332" y="1297051"/>
            <a:ext cx="128699" cy="187198"/>
          </a:xfrm>
          <a:prstGeom prst="rect">
            <a:avLst/>
          </a:prstGeom>
        </p:spPr>
      </p:pic>
      <p:sp>
        <p:nvSpPr>
          <p:cNvPr id="215" name="TextBox 214"/>
          <p:cNvSpPr txBox="1"/>
          <p:nvPr/>
        </p:nvSpPr>
        <p:spPr>
          <a:xfrm>
            <a:off x="6322271" y="1306830"/>
            <a:ext cx="620266" cy="186689"/>
          </a:xfrm>
          <a:prstGeom prst="rect">
            <a:avLst/>
          </a:prstGeom>
          <a:noFill/>
        </p:spPr>
        <p:txBody>
          <a:bodyPr wrap="none" lIns="0" rIns="0" tIns="0" bIns="0">
            <a:spAutoFit/>
          </a:bodyPr>
          <a:lstStyle/>
          <a:p>
            <a:r>
              <a:rPr sz="1100" b="1">
                <a:solidFill>
                  <a:srgbClr val="FFFFFF"/>
                </a:solidFill>
                <a:latin typeface="Calibri"/>
              </a:rPr>
              <a:t>Emerging</a:t>
            </a:r>
          </a:p>
        </p:txBody>
      </p:sp>
      <p:pic>
        <p:nvPicPr>
          <p:cNvPr id="216" name="Picture 215" descr="lock.png"/>
          <p:cNvPicPr>
            <a:picLocks noChangeAspect="1"/>
          </p:cNvPicPr>
          <p:nvPr/>
        </p:nvPicPr>
        <p:blipFill>
          <a:blip r:embed="rId4"/>
          <a:stretch>
            <a:fillRect/>
          </a:stretch>
        </p:blipFill>
        <p:spPr>
          <a:xfrm>
            <a:off x="6890588" y="1297051"/>
            <a:ext cx="128699" cy="187198"/>
          </a:xfrm>
          <a:prstGeom prst="rect">
            <a:avLst/>
          </a:prstGeom>
        </p:spPr>
      </p:pic>
      <p:sp>
        <p:nvSpPr>
          <p:cNvPr id="217" name="TextBox 216"/>
          <p:cNvSpPr txBox="1"/>
          <p:nvPr/>
        </p:nvSpPr>
        <p:spPr>
          <a:xfrm>
            <a:off x="8564687" y="1306830"/>
            <a:ext cx="469924" cy="186689"/>
          </a:xfrm>
          <a:prstGeom prst="rect">
            <a:avLst/>
          </a:prstGeom>
          <a:noFill/>
        </p:spPr>
        <p:txBody>
          <a:bodyPr wrap="none" lIns="0" rIns="0" tIns="0" bIns="0">
            <a:spAutoFit/>
          </a:bodyPr>
          <a:lstStyle/>
          <a:p>
            <a:r>
              <a:rPr sz="1100" b="1">
                <a:solidFill>
                  <a:srgbClr val="0F2D52"/>
                </a:solidFill>
                <a:latin typeface="Calibri"/>
              </a:rPr>
              <a:t>Others</a:t>
            </a:r>
          </a:p>
        </p:txBody>
      </p:sp>
      <p:pic>
        <p:nvPicPr>
          <p:cNvPr id="218" name="Picture 217" descr="lock.png"/>
          <p:cNvPicPr>
            <a:picLocks noChangeAspect="1"/>
          </p:cNvPicPr>
          <p:nvPr/>
        </p:nvPicPr>
        <p:blipFill>
          <a:blip r:embed="rId4"/>
          <a:stretch>
            <a:fillRect/>
          </a:stretch>
        </p:blipFill>
        <p:spPr>
          <a:xfrm>
            <a:off x="8982663" y="1297051"/>
            <a:ext cx="128699" cy="187198"/>
          </a:xfrm>
          <a:prstGeom prst="rect">
            <a:avLst/>
          </a:prstGeom>
        </p:spPr>
      </p:pic>
    </p:spTree>
  </p:cSld>
  <p:clrMapOvr>
    <a:masterClrMapping/>
  </p:clrMapOvr>
</p:sld>
</file>

<file path=ppt/slides/slide2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Value Chain Positioning of Leading Players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How the market is organised by product type and end use, and who leads at each stage</a:t>
            </a:r>
          </a:p>
        </p:txBody>
      </p:sp>
      <p:sp>
        <p:nvSpPr>
          <p:cNvPr id="10" name="TextBox 9"/>
          <p:cNvSpPr txBox="1"/>
          <p:nvPr/>
        </p:nvSpPr>
        <p:spPr>
          <a:xfrm>
            <a:off x="247650" y="1047750"/>
            <a:ext cx="2266950" cy="171450"/>
          </a:xfrm>
          <a:prstGeom prst="rect">
            <a:avLst/>
          </a:prstGeom>
          <a:noFill/>
        </p:spPr>
        <p:txBody>
          <a:bodyPr wrap="square" lIns="28575" rIns="28575" tIns="9525" bIns="9525" anchor="t">
            <a:spAutoFit/>
          </a:bodyPr>
          <a:lstStyle/>
          <a:p>
            <a:pPr algn="l"/>
            <a:r>
              <a:rPr sz="1100" b="0">
                <a:solidFill>
                  <a:srgbClr val="5F6B7A"/>
                </a:solidFill>
                <a:latin typeface="Calibri"/>
              </a:rPr>
              <a:t>Top 3 share, 2026</a:t>
            </a:r>
          </a:p>
        </p:txBody>
      </p:sp>
      <p:sp>
        <p:nvSpPr>
          <p:cNvPr id="11" name="TextBox 10"/>
          <p:cNvSpPr txBox="1"/>
          <p:nvPr/>
        </p:nvSpPr>
        <p:spPr>
          <a:xfrm>
            <a:off x="247650" y="1238250"/>
            <a:ext cx="2266950" cy="228600"/>
          </a:xfrm>
          <a:prstGeom prst="rect">
            <a:avLst/>
          </a:prstGeom>
          <a:noFill/>
        </p:spPr>
        <p:txBody>
          <a:bodyPr wrap="square" lIns="28575" rIns="28575" tIns="9525" bIns="9525" anchor="t">
            <a:spAutoFit/>
          </a:bodyPr>
          <a:lstStyle/>
          <a:p>
            <a:pPr algn="l"/>
            <a:r>
              <a:rPr sz="1100" b="1">
                <a:solidFill>
                  <a:srgbClr val="E87722"/>
                </a:solidFill>
                <a:latin typeface="Calibri"/>
              </a:rPr>
              <a:t> </a:t>
            </a:r>
          </a:p>
        </p:txBody>
      </p:sp>
      <p:cxnSp>
        <p:nvCxnSpPr>
          <p:cNvPr id="12" name="Connector 11"/>
          <p:cNvCxnSpPr/>
          <p:nvPr/>
        </p:nvCxnSpPr>
        <p:spPr>
          <a:xfrm>
            <a:off x="2552700" y="1085850"/>
            <a:ext cx="0" cy="4000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3" name="TextBox 12"/>
          <p:cNvSpPr txBox="1"/>
          <p:nvPr/>
        </p:nvSpPr>
        <p:spPr>
          <a:xfrm>
            <a:off x="2609850" y="1047750"/>
            <a:ext cx="2266950" cy="171450"/>
          </a:xfrm>
          <a:prstGeom prst="rect">
            <a:avLst/>
          </a:prstGeom>
          <a:noFill/>
        </p:spPr>
        <p:txBody>
          <a:bodyPr wrap="square" lIns="28575" rIns="28575" tIns="9525" bIns="9525" anchor="t">
            <a:spAutoFit/>
          </a:bodyPr>
          <a:lstStyle/>
          <a:p>
            <a:pPr algn="l"/>
            <a:r>
              <a:rPr sz="1100" b="0">
                <a:solidFill>
                  <a:srgbClr val="5F6B7A"/>
                </a:solidFill>
                <a:latin typeface="Calibri"/>
              </a:rPr>
              <a:t>Top 5 share</a:t>
            </a:r>
          </a:p>
        </p:txBody>
      </p:sp>
      <p:sp>
        <p:nvSpPr>
          <p:cNvPr id="14" name="TextBox 13"/>
          <p:cNvSpPr txBox="1"/>
          <p:nvPr/>
        </p:nvSpPr>
        <p:spPr>
          <a:xfrm>
            <a:off x="2609850" y="1238250"/>
            <a:ext cx="2266950" cy="228600"/>
          </a:xfrm>
          <a:prstGeom prst="rect">
            <a:avLst/>
          </a:prstGeom>
          <a:noFill/>
        </p:spPr>
        <p:txBody>
          <a:bodyPr wrap="square" lIns="28575" rIns="28575" tIns="9525" bIns="9525" anchor="t">
            <a:spAutoFit/>
          </a:bodyPr>
          <a:lstStyle/>
          <a:p>
            <a:pPr algn="l"/>
            <a:r>
              <a:rPr sz="1100" b="1">
                <a:solidFill>
                  <a:srgbClr val="0F2D52"/>
                </a:solidFill>
                <a:latin typeface="Calibri"/>
              </a:rPr>
              <a:t> </a:t>
            </a:r>
          </a:p>
        </p:txBody>
      </p:sp>
      <p:cxnSp>
        <p:nvCxnSpPr>
          <p:cNvPr id="15" name="Connector 14"/>
          <p:cNvCxnSpPr/>
          <p:nvPr/>
        </p:nvCxnSpPr>
        <p:spPr>
          <a:xfrm>
            <a:off x="4914900" y="1085850"/>
            <a:ext cx="0" cy="4000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4972050" y="1047750"/>
            <a:ext cx="2266950" cy="171450"/>
          </a:xfrm>
          <a:prstGeom prst="rect">
            <a:avLst/>
          </a:prstGeom>
          <a:noFill/>
        </p:spPr>
        <p:txBody>
          <a:bodyPr wrap="square" lIns="28575" rIns="28575" tIns="9525" bIns="9525" anchor="t">
            <a:spAutoFit/>
          </a:bodyPr>
          <a:lstStyle/>
          <a:p>
            <a:pPr algn="l"/>
            <a:r>
              <a:rPr sz="1100" b="0">
                <a:solidFill>
                  <a:srgbClr val="5F6B7A"/>
                </a:solidFill>
                <a:latin typeface="Calibri"/>
              </a:rPr>
              <a:t>Flexible Partial Dentures, share</a:t>
            </a:r>
          </a:p>
        </p:txBody>
      </p:sp>
      <p:sp>
        <p:nvSpPr>
          <p:cNvPr id="17" name="TextBox 16"/>
          <p:cNvSpPr txBox="1"/>
          <p:nvPr/>
        </p:nvSpPr>
        <p:spPr>
          <a:xfrm>
            <a:off x="4972050" y="1238250"/>
            <a:ext cx="2266950" cy="228600"/>
          </a:xfrm>
          <a:prstGeom prst="rect">
            <a:avLst/>
          </a:prstGeom>
          <a:noFill/>
        </p:spPr>
        <p:txBody>
          <a:bodyPr wrap="square" lIns="28575" rIns="28575" tIns="9525" bIns="9525" anchor="t">
            <a:spAutoFit/>
          </a:bodyPr>
          <a:lstStyle/>
          <a:p>
            <a:pPr algn="l"/>
            <a:r>
              <a:rPr sz="1100" b="1">
                <a:solidFill>
                  <a:srgbClr val="0F2D52"/>
                </a:solidFill>
                <a:latin typeface="Calibri"/>
              </a:rPr>
              <a:t> </a:t>
            </a:r>
          </a:p>
        </p:txBody>
      </p:sp>
      <p:cxnSp>
        <p:nvCxnSpPr>
          <p:cNvPr id="18" name="Connector 17"/>
          <p:cNvCxnSpPr/>
          <p:nvPr/>
        </p:nvCxnSpPr>
        <p:spPr>
          <a:xfrm>
            <a:off x="7277100" y="1085850"/>
            <a:ext cx="0" cy="4000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9" name="TextBox 18"/>
          <p:cNvSpPr txBox="1"/>
          <p:nvPr/>
        </p:nvSpPr>
        <p:spPr>
          <a:xfrm>
            <a:off x="7334250" y="1047750"/>
            <a:ext cx="2266950" cy="171450"/>
          </a:xfrm>
          <a:prstGeom prst="rect">
            <a:avLst/>
          </a:prstGeom>
          <a:noFill/>
        </p:spPr>
        <p:txBody>
          <a:bodyPr wrap="square" lIns="28575" rIns="28575" tIns="9525" bIns="9525" anchor="t">
            <a:spAutoFit/>
          </a:bodyPr>
          <a:lstStyle/>
          <a:p>
            <a:pPr algn="l"/>
            <a:r>
              <a:rPr sz="1100" b="0">
                <a:solidFill>
                  <a:srgbClr val="5F6B7A"/>
                </a:solidFill>
                <a:latin typeface="Calibri"/>
              </a:rPr>
              <a:t>Combination Framework Partial Dentures, share</a:t>
            </a:r>
          </a:p>
        </p:txBody>
      </p:sp>
      <p:sp>
        <p:nvSpPr>
          <p:cNvPr id="20" name="TextBox 19"/>
          <p:cNvSpPr txBox="1"/>
          <p:nvPr/>
        </p:nvSpPr>
        <p:spPr>
          <a:xfrm>
            <a:off x="7334250" y="1238250"/>
            <a:ext cx="2266950" cy="228600"/>
          </a:xfrm>
          <a:prstGeom prst="rect">
            <a:avLst/>
          </a:prstGeom>
          <a:noFill/>
        </p:spPr>
        <p:txBody>
          <a:bodyPr wrap="square" lIns="28575" rIns="28575" tIns="9525" bIns="9525" anchor="t">
            <a:spAutoFit/>
          </a:bodyPr>
          <a:lstStyle/>
          <a:p>
            <a:pPr algn="l"/>
            <a:r>
              <a:rPr sz="1100" b="1">
                <a:solidFill>
                  <a:srgbClr val="0F2D52"/>
                </a:solidFill>
                <a:latin typeface="Calibri"/>
              </a:rPr>
              <a:t> </a:t>
            </a:r>
          </a:p>
        </p:txBody>
      </p:sp>
      <p:cxnSp>
        <p:nvCxnSpPr>
          <p:cNvPr id="21" name="Connector 20"/>
          <p:cNvCxnSpPr/>
          <p:nvPr/>
        </p:nvCxnSpPr>
        <p:spPr>
          <a:xfrm>
            <a:off x="9639300" y="1085850"/>
            <a:ext cx="0" cy="4000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2" name="TextBox 21"/>
          <p:cNvSpPr txBox="1"/>
          <p:nvPr/>
        </p:nvSpPr>
        <p:spPr>
          <a:xfrm>
            <a:off x="9696450" y="1047750"/>
            <a:ext cx="2266950" cy="171450"/>
          </a:xfrm>
          <a:prstGeom prst="rect">
            <a:avLst/>
          </a:prstGeom>
          <a:noFill/>
        </p:spPr>
        <p:txBody>
          <a:bodyPr wrap="square" lIns="28575" rIns="28575" tIns="9525" bIns="9525" anchor="t">
            <a:spAutoFit/>
          </a:bodyPr>
          <a:lstStyle/>
          <a:p>
            <a:pPr algn="l"/>
            <a:r>
              <a:rPr sz="1100" b="0">
                <a:solidFill>
                  <a:srgbClr val="5F6B7A"/>
                </a:solidFill>
                <a:latin typeface="Calibri"/>
              </a:rPr>
              <a:t>Cast Metal Partial Dentures, share</a:t>
            </a:r>
          </a:p>
        </p:txBody>
      </p:sp>
      <p:sp>
        <p:nvSpPr>
          <p:cNvPr id="23" name="TextBox 22"/>
          <p:cNvSpPr txBox="1"/>
          <p:nvPr/>
        </p:nvSpPr>
        <p:spPr>
          <a:xfrm>
            <a:off x="9696450" y="1238250"/>
            <a:ext cx="2266950" cy="228600"/>
          </a:xfrm>
          <a:prstGeom prst="rect">
            <a:avLst/>
          </a:prstGeom>
          <a:noFill/>
        </p:spPr>
        <p:txBody>
          <a:bodyPr wrap="square" lIns="28575" rIns="28575" tIns="9525" bIns="9525" anchor="t">
            <a:spAutoFit/>
          </a:bodyPr>
          <a:lstStyle/>
          <a:p>
            <a:pPr algn="l"/>
            <a:r>
              <a:rPr sz="1100" b="1">
                <a:solidFill>
                  <a:srgbClr val="0F2D52"/>
                </a:solidFill>
                <a:latin typeface="Calibri"/>
              </a:rPr>
              <a:t> </a:t>
            </a:r>
          </a:p>
        </p:txBody>
      </p:sp>
      <p:cxnSp>
        <p:nvCxnSpPr>
          <p:cNvPr id="24" name="Connector 23"/>
          <p:cNvCxnSpPr/>
          <p:nvPr/>
        </p:nvCxnSpPr>
        <p:spPr>
          <a:xfrm>
            <a:off x="190500" y="1543050"/>
            <a:ext cx="11811000"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5" name="Rectangle 24"/>
          <p:cNvSpPr/>
          <p:nvPr/>
        </p:nvSpPr>
        <p:spPr>
          <a:xfrm>
            <a:off x="190500" y="1638300"/>
            <a:ext cx="2767012" cy="37147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Rectangle 25"/>
          <p:cNvSpPr/>
          <p:nvPr/>
        </p:nvSpPr>
        <p:spPr>
          <a:xfrm>
            <a:off x="190500" y="1638300"/>
            <a:ext cx="2767012" cy="476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85750" y="1733550"/>
            <a:ext cx="2576512" cy="171450"/>
          </a:xfrm>
          <a:prstGeom prst="rect">
            <a:avLst/>
          </a:prstGeom>
          <a:noFill/>
        </p:spPr>
        <p:txBody>
          <a:bodyPr wrap="square" lIns="28575" rIns="28575" tIns="9525" bIns="9525" anchor="t">
            <a:spAutoFit/>
          </a:bodyPr>
          <a:lstStyle/>
          <a:p>
            <a:pPr algn="l"/>
            <a:r>
              <a:rPr sz="1100" b="1">
                <a:solidFill>
                  <a:srgbClr val="0F2D52"/>
                </a:solidFill>
                <a:latin typeface="Calibri"/>
              </a:rPr>
              <a:t>1. Flexible Partial Dentures</a:t>
            </a:r>
          </a:p>
        </p:txBody>
      </p:sp>
      <p:sp>
        <p:nvSpPr>
          <p:cNvPr id="28" name="TextBox 27"/>
          <p:cNvSpPr txBox="1"/>
          <p:nvPr/>
        </p:nvSpPr>
        <p:spPr>
          <a:xfrm>
            <a:off x="285750" y="1924050"/>
            <a:ext cx="666750" cy="190500"/>
          </a:xfrm>
          <a:prstGeom prst="rect">
            <a:avLst/>
          </a:prstGeom>
          <a:noFill/>
        </p:spPr>
        <p:txBody>
          <a:bodyPr wrap="none" lIns="0" rIns="0" tIns="0" bIns="0" anchor="t">
            <a:spAutoFit/>
          </a:bodyPr>
          <a:lstStyle/>
          <a:p>
            <a:pPr algn="l"/>
            <a:r>
              <a:rPr sz="1100" b="1">
                <a:solidFill>
                  <a:srgbClr val="1F2933"/>
                </a:solidFill>
                <a:latin typeface="Calibri"/>
              </a:rPr>
              <a:t> </a:t>
            </a:r>
          </a:p>
        </p:txBody>
      </p:sp>
      <p:sp>
        <p:nvSpPr>
          <p:cNvPr id="29" name="TextBox 28"/>
          <p:cNvSpPr txBox="1"/>
          <p:nvPr/>
        </p:nvSpPr>
        <p:spPr>
          <a:xfrm>
            <a:off x="971550" y="1924050"/>
            <a:ext cx="1890712" cy="190500"/>
          </a:xfrm>
          <a:prstGeom prst="rect">
            <a:avLst/>
          </a:prstGeom>
          <a:noFill/>
        </p:spPr>
        <p:txBody>
          <a:bodyPr wrap="square" lIns="28575" rIns="28575" tIns="9525" bIns="9525" anchor="t">
            <a:spAutoFit/>
          </a:bodyPr>
          <a:lstStyle/>
          <a:p>
            <a:pPr algn="l"/>
            <a:r>
              <a:rPr sz="1100" b="1">
                <a:solidFill>
                  <a:srgbClr val="1F2933"/>
                </a:solidFill>
                <a:latin typeface="Calibri"/>
              </a:rPr>
              <a:t>of market</a:t>
            </a:r>
          </a:p>
        </p:txBody>
      </p:sp>
      <p:sp>
        <p:nvSpPr>
          <p:cNvPr id="30" name="TextBox 29"/>
          <p:cNvSpPr txBox="1"/>
          <p:nvPr/>
        </p:nvSpPr>
        <p:spPr>
          <a:xfrm>
            <a:off x="285750" y="2133600"/>
            <a:ext cx="666750" cy="190500"/>
          </a:xfrm>
          <a:prstGeom prst="rect">
            <a:avLst/>
          </a:prstGeom>
          <a:noFill/>
        </p:spPr>
        <p:txBody>
          <a:bodyPr wrap="none" lIns="0" rIns="0" tIns="0" bIns="0" anchor="t">
            <a:spAutoFit/>
          </a:bodyPr>
          <a:lstStyle/>
          <a:p>
            <a:pPr algn="l"/>
            <a:r>
              <a:rPr sz="1100" b="0">
                <a:solidFill>
                  <a:srgbClr val="5F6B7A"/>
                </a:solidFill>
                <a:latin typeface="Calibri"/>
              </a:rPr>
              <a:t> </a:t>
            </a:r>
          </a:p>
        </p:txBody>
      </p:sp>
      <p:sp>
        <p:nvSpPr>
          <p:cNvPr id="31" name="TextBox 30"/>
          <p:cNvSpPr txBox="1"/>
          <p:nvPr/>
        </p:nvSpPr>
        <p:spPr>
          <a:xfrm>
            <a:off x="971550" y="2133600"/>
            <a:ext cx="1890712" cy="190500"/>
          </a:xfrm>
          <a:prstGeom prst="rect">
            <a:avLst/>
          </a:prstGeom>
          <a:noFill/>
        </p:spPr>
        <p:txBody>
          <a:bodyPr wrap="square" lIns="28575" rIns="28575" tIns="9525" bIns="9525" anchor="t">
            <a:spAutoFit/>
          </a:bodyPr>
          <a:lstStyle/>
          <a:p>
            <a:pPr algn="l"/>
            <a:r>
              <a:rPr sz="1100" b="0">
                <a:solidFill>
                  <a:srgbClr val="5F6B7A"/>
                </a:solidFill>
                <a:latin typeface="Calibri"/>
              </a:rPr>
              <a:t>CAGR 2026–2036</a:t>
            </a:r>
          </a:p>
        </p:txBody>
      </p:sp>
      <p:cxnSp>
        <p:nvCxnSpPr>
          <p:cNvPr id="32" name="Connector 31"/>
          <p:cNvCxnSpPr/>
          <p:nvPr/>
        </p:nvCxnSpPr>
        <p:spPr>
          <a:xfrm>
            <a:off x="285750" y="2362200"/>
            <a:ext cx="2576512"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33" name="TextBox 32"/>
          <p:cNvSpPr txBox="1"/>
          <p:nvPr/>
        </p:nvSpPr>
        <p:spPr>
          <a:xfrm>
            <a:off x="285750" y="241935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LEADS</a:t>
            </a:r>
          </a:p>
        </p:txBody>
      </p:sp>
      <p:sp>
        <p:nvSpPr>
          <p:cNvPr id="34" name="TextBox 33"/>
          <p:cNvSpPr txBox="1"/>
          <p:nvPr/>
        </p:nvSpPr>
        <p:spPr>
          <a:xfrm>
            <a:off x="285750" y="2590800"/>
            <a:ext cx="2576512" cy="171450"/>
          </a:xfrm>
          <a:prstGeom prst="rect">
            <a:avLst/>
          </a:prstGeom>
          <a:noFill/>
        </p:spPr>
        <p:txBody>
          <a:bodyPr wrap="square" lIns="28575" rIns="28575" tIns="9525" bIns="9525" anchor="t">
            <a:spAutoFit/>
          </a:bodyPr>
          <a:lstStyle/>
          <a:p>
            <a:pPr algn="l"/>
            <a:r>
              <a:rPr sz="1100" b="1">
                <a:solidFill>
                  <a:srgbClr val="1F2933"/>
                </a:solidFill>
                <a:latin typeface="Calibri"/>
              </a:rPr>
              <a:t>●  Kulzer GmbH</a:t>
            </a:r>
          </a:p>
        </p:txBody>
      </p:sp>
      <p:sp>
        <p:nvSpPr>
          <p:cNvPr id="35" name="TextBox 34"/>
          <p:cNvSpPr txBox="1"/>
          <p:nvPr/>
        </p:nvSpPr>
        <p:spPr>
          <a:xfrm>
            <a:off x="285750" y="28194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ALSO ACTIVE</a:t>
            </a:r>
          </a:p>
        </p:txBody>
      </p:sp>
      <p:sp>
        <p:nvSpPr>
          <p:cNvPr id="36" name="TextBox 35"/>
          <p:cNvSpPr txBox="1"/>
          <p:nvPr/>
        </p:nvSpPr>
        <p:spPr>
          <a:xfrm>
            <a:off x="285750" y="29908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Dentsply Sirona Inc.</a:t>
            </a:r>
          </a:p>
        </p:txBody>
      </p:sp>
      <p:sp>
        <p:nvSpPr>
          <p:cNvPr id="37" name="TextBox 36"/>
          <p:cNvSpPr txBox="1"/>
          <p:nvPr/>
        </p:nvSpPr>
        <p:spPr>
          <a:xfrm>
            <a:off x="285750" y="31623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Ivoclar Vivadent AG</a:t>
            </a:r>
          </a:p>
        </p:txBody>
      </p:sp>
      <p:sp>
        <p:nvSpPr>
          <p:cNvPr id="38" name="TextBox 37"/>
          <p:cNvSpPr txBox="1"/>
          <p:nvPr/>
        </p:nvSpPr>
        <p:spPr>
          <a:xfrm>
            <a:off x="285750" y="33337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SHOFU INC.</a:t>
            </a:r>
          </a:p>
        </p:txBody>
      </p:sp>
      <p:sp>
        <p:nvSpPr>
          <p:cNvPr id="39" name="TextBox 38"/>
          <p:cNvSpPr txBox="1"/>
          <p:nvPr/>
        </p:nvSpPr>
        <p:spPr>
          <a:xfrm>
            <a:off x="285750" y="35052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VITA Zahnfabrik H. Rauter GmbH &amp; Co. KG</a:t>
            </a:r>
          </a:p>
        </p:txBody>
      </p:sp>
      <p:cxnSp>
        <p:nvCxnSpPr>
          <p:cNvPr id="40" name="Connector 39"/>
          <p:cNvCxnSpPr/>
          <p:nvPr/>
        </p:nvCxnSpPr>
        <p:spPr>
          <a:xfrm>
            <a:off x="285750" y="4438650"/>
            <a:ext cx="2576512"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41" name="TextBox 40"/>
          <p:cNvSpPr txBox="1"/>
          <p:nvPr/>
        </p:nvSpPr>
        <p:spPr>
          <a:xfrm>
            <a:off x="285750" y="44958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WHAT TO WATCH</a:t>
            </a:r>
          </a:p>
        </p:txBody>
      </p:sp>
      <p:sp>
        <p:nvSpPr>
          <p:cNvPr id="42" name="TextBox 41"/>
          <p:cNvSpPr txBox="1"/>
          <p:nvPr/>
        </p:nvSpPr>
        <p:spPr>
          <a:xfrm>
            <a:off x="285750" y="4667250"/>
            <a:ext cx="2576512" cy="6667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cxnSp>
        <p:nvCxnSpPr>
          <p:cNvPr id="43" name="Connector 42"/>
          <p:cNvCxnSpPr/>
          <p:nvPr/>
        </p:nvCxnSpPr>
        <p:spPr>
          <a:xfrm>
            <a:off x="2995612" y="3495675"/>
            <a:ext cx="152400" cy="0"/>
          </a:xfrm>
          <a:prstGeom prst="line">
            <a:avLst/>
          </a:prstGeom>
          <a:ln w="254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44" name="Freeform 43"/>
          <p:cNvSpPr/>
          <p:nvPr/>
        </p:nvSpPr>
        <p:spPr>
          <a:xfrm>
            <a:off x="3105150" y="3448050"/>
            <a:ext cx="57150" cy="95250"/>
          </a:xfrm>
          <a:custGeom>
            <a:avLst/>
            <a:gdLst/>
            <a:ahLst/>
            <a:cxnLst/>
            <a:rect l="l" t="t" r="r" b="b"/>
            <a:pathLst>
              <a:path w="6" h="10">
                <a:moveTo>
                  <a:pt x="6" y="5"/>
                </a:moveTo>
                <a:lnTo>
                  <a:pt x="0" y="0"/>
                </a:lnTo>
                <a:lnTo>
                  <a:pt x="0" y="10"/>
                </a:lnTo>
                <a:close/>
              </a:path>
            </a:pathLst>
          </a:custGeom>
          <a:solidFill>
            <a:srgbClr val="0F2D52"/>
          </a:solidFill>
          <a:ln w="9525">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3205162" y="1638300"/>
            <a:ext cx="2767012" cy="37147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205162" y="1638300"/>
            <a:ext cx="2767012" cy="476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3300412" y="1733550"/>
            <a:ext cx="2576512" cy="171450"/>
          </a:xfrm>
          <a:prstGeom prst="rect">
            <a:avLst/>
          </a:prstGeom>
          <a:noFill/>
        </p:spPr>
        <p:txBody>
          <a:bodyPr wrap="square" lIns="28575" rIns="28575" tIns="9525" bIns="9525" anchor="t">
            <a:spAutoFit/>
          </a:bodyPr>
          <a:lstStyle/>
          <a:p>
            <a:pPr algn="l"/>
            <a:r>
              <a:rPr sz="1100" b="1">
                <a:solidFill>
                  <a:srgbClr val="0F2D52"/>
                </a:solidFill>
                <a:latin typeface="Calibri"/>
              </a:rPr>
              <a:t>2. Combination Framework Partial Dentures</a:t>
            </a:r>
          </a:p>
        </p:txBody>
      </p:sp>
      <p:sp>
        <p:nvSpPr>
          <p:cNvPr id="48" name="TextBox 47"/>
          <p:cNvSpPr txBox="1"/>
          <p:nvPr/>
        </p:nvSpPr>
        <p:spPr>
          <a:xfrm>
            <a:off x="3300412" y="1924050"/>
            <a:ext cx="666750" cy="190500"/>
          </a:xfrm>
          <a:prstGeom prst="rect">
            <a:avLst/>
          </a:prstGeom>
          <a:noFill/>
        </p:spPr>
        <p:txBody>
          <a:bodyPr wrap="none" lIns="0" rIns="0" tIns="0" bIns="0" anchor="t">
            <a:spAutoFit/>
          </a:bodyPr>
          <a:lstStyle/>
          <a:p>
            <a:pPr algn="l"/>
            <a:r>
              <a:rPr sz="1100" b="1">
                <a:solidFill>
                  <a:srgbClr val="1F2933"/>
                </a:solidFill>
                <a:latin typeface="Calibri"/>
              </a:rPr>
              <a:t> </a:t>
            </a:r>
          </a:p>
        </p:txBody>
      </p:sp>
      <p:sp>
        <p:nvSpPr>
          <p:cNvPr id="49" name="TextBox 48"/>
          <p:cNvSpPr txBox="1"/>
          <p:nvPr/>
        </p:nvSpPr>
        <p:spPr>
          <a:xfrm>
            <a:off x="3986212" y="1924050"/>
            <a:ext cx="1890712" cy="190500"/>
          </a:xfrm>
          <a:prstGeom prst="rect">
            <a:avLst/>
          </a:prstGeom>
          <a:noFill/>
        </p:spPr>
        <p:txBody>
          <a:bodyPr wrap="square" lIns="28575" rIns="28575" tIns="9525" bIns="9525" anchor="t">
            <a:spAutoFit/>
          </a:bodyPr>
          <a:lstStyle/>
          <a:p>
            <a:pPr algn="l"/>
            <a:r>
              <a:rPr sz="1100" b="1">
                <a:solidFill>
                  <a:srgbClr val="1F2933"/>
                </a:solidFill>
                <a:latin typeface="Calibri"/>
              </a:rPr>
              <a:t>of market</a:t>
            </a:r>
          </a:p>
        </p:txBody>
      </p:sp>
      <p:sp>
        <p:nvSpPr>
          <p:cNvPr id="50" name="TextBox 49"/>
          <p:cNvSpPr txBox="1"/>
          <p:nvPr/>
        </p:nvSpPr>
        <p:spPr>
          <a:xfrm>
            <a:off x="3300412" y="2133600"/>
            <a:ext cx="666750" cy="190500"/>
          </a:xfrm>
          <a:prstGeom prst="rect">
            <a:avLst/>
          </a:prstGeom>
          <a:noFill/>
        </p:spPr>
        <p:txBody>
          <a:bodyPr wrap="none" lIns="0" rIns="0" tIns="0" bIns="0" anchor="t">
            <a:spAutoFit/>
          </a:bodyPr>
          <a:lstStyle/>
          <a:p>
            <a:pPr algn="l"/>
            <a:r>
              <a:rPr sz="1100" b="0">
                <a:solidFill>
                  <a:srgbClr val="5F6B7A"/>
                </a:solidFill>
                <a:latin typeface="Calibri"/>
              </a:rPr>
              <a:t> </a:t>
            </a:r>
          </a:p>
        </p:txBody>
      </p:sp>
      <p:sp>
        <p:nvSpPr>
          <p:cNvPr id="51" name="TextBox 50"/>
          <p:cNvSpPr txBox="1"/>
          <p:nvPr/>
        </p:nvSpPr>
        <p:spPr>
          <a:xfrm>
            <a:off x="3986212" y="2133600"/>
            <a:ext cx="1890712" cy="190500"/>
          </a:xfrm>
          <a:prstGeom prst="rect">
            <a:avLst/>
          </a:prstGeom>
          <a:noFill/>
        </p:spPr>
        <p:txBody>
          <a:bodyPr wrap="square" lIns="28575" rIns="28575" tIns="9525" bIns="9525" anchor="t">
            <a:spAutoFit/>
          </a:bodyPr>
          <a:lstStyle/>
          <a:p>
            <a:pPr algn="l"/>
            <a:r>
              <a:rPr sz="1100" b="0">
                <a:solidFill>
                  <a:srgbClr val="5F6B7A"/>
                </a:solidFill>
                <a:latin typeface="Calibri"/>
              </a:rPr>
              <a:t>CAGR 2026–2036</a:t>
            </a:r>
          </a:p>
        </p:txBody>
      </p:sp>
      <p:cxnSp>
        <p:nvCxnSpPr>
          <p:cNvPr id="52" name="Connector 51"/>
          <p:cNvCxnSpPr/>
          <p:nvPr/>
        </p:nvCxnSpPr>
        <p:spPr>
          <a:xfrm>
            <a:off x="3300412" y="2362200"/>
            <a:ext cx="2576513"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53" name="TextBox 52"/>
          <p:cNvSpPr txBox="1"/>
          <p:nvPr/>
        </p:nvSpPr>
        <p:spPr>
          <a:xfrm>
            <a:off x="3300412" y="241935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LEADS</a:t>
            </a:r>
          </a:p>
        </p:txBody>
      </p:sp>
      <p:sp>
        <p:nvSpPr>
          <p:cNvPr id="54" name="TextBox 53"/>
          <p:cNvSpPr txBox="1"/>
          <p:nvPr/>
        </p:nvSpPr>
        <p:spPr>
          <a:xfrm>
            <a:off x="3300412" y="2590800"/>
            <a:ext cx="2576512" cy="171450"/>
          </a:xfrm>
          <a:prstGeom prst="rect">
            <a:avLst/>
          </a:prstGeom>
          <a:noFill/>
        </p:spPr>
        <p:txBody>
          <a:bodyPr wrap="square" lIns="28575" rIns="28575" tIns="9525" bIns="9525" anchor="t">
            <a:spAutoFit/>
          </a:bodyPr>
          <a:lstStyle/>
          <a:p>
            <a:pPr algn="l"/>
            <a:r>
              <a:rPr sz="1100" b="1">
                <a:solidFill>
                  <a:srgbClr val="1F2933"/>
                </a:solidFill>
                <a:latin typeface="Calibri"/>
              </a:rPr>
              <a:t>●  Dentsply Sirona Inc.</a:t>
            </a:r>
          </a:p>
        </p:txBody>
      </p:sp>
      <p:sp>
        <p:nvSpPr>
          <p:cNvPr id="55" name="TextBox 54"/>
          <p:cNvSpPr txBox="1"/>
          <p:nvPr/>
        </p:nvSpPr>
        <p:spPr>
          <a:xfrm>
            <a:off x="3300412" y="28194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ALSO ACTIVE</a:t>
            </a:r>
          </a:p>
        </p:txBody>
      </p:sp>
      <p:sp>
        <p:nvSpPr>
          <p:cNvPr id="56" name="TextBox 55"/>
          <p:cNvSpPr txBox="1"/>
          <p:nvPr/>
        </p:nvSpPr>
        <p:spPr>
          <a:xfrm>
            <a:off x="3300412" y="29908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Ivoclar Vivadent AG</a:t>
            </a:r>
          </a:p>
        </p:txBody>
      </p:sp>
      <p:sp>
        <p:nvSpPr>
          <p:cNvPr id="57" name="TextBox 56"/>
          <p:cNvSpPr txBox="1"/>
          <p:nvPr/>
        </p:nvSpPr>
        <p:spPr>
          <a:xfrm>
            <a:off x="3300412" y="31623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GC Corporation</a:t>
            </a:r>
          </a:p>
        </p:txBody>
      </p:sp>
      <p:sp>
        <p:nvSpPr>
          <p:cNvPr id="58" name="TextBox 57"/>
          <p:cNvSpPr txBox="1"/>
          <p:nvPr/>
        </p:nvSpPr>
        <p:spPr>
          <a:xfrm>
            <a:off x="3300412" y="33337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SHOFU INC.</a:t>
            </a:r>
          </a:p>
        </p:txBody>
      </p:sp>
      <p:sp>
        <p:nvSpPr>
          <p:cNvPr id="59" name="TextBox 58"/>
          <p:cNvSpPr txBox="1"/>
          <p:nvPr/>
        </p:nvSpPr>
        <p:spPr>
          <a:xfrm>
            <a:off x="3300412" y="35052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VITA Zahnfabrik H. Rauter GmbH &amp; Co. KG</a:t>
            </a:r>
          </a:p>
        </p:txBody>
      </p:sp>
      <p:cxnSp>
        <p:nvCxnSpPr>
          <p:cNvPr id="60" name="Connector 59"/>
          <p:cNvCxnSpPr/>
          <p:nvPr/>
        </p:nvCxnSpPr>
        <p:spPr>
          <a:xfrm>
            <a:off x="3300412" y="4438650"/>
            <a:ext cx="2576513"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61" name="TextBox 60"/>
          <p:cNvSpPr txBox="1"/>
          <p:nvPr/>
        </p:nvSpPr>
        <p:spPr>
          <a:xfrm>
            <a:off x="3300412" y="44958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WHAT TO WATCH</a:t>
            </a:r>
          </a:p>
        </p:txBody>
      </p:sp>
      <p:sp>
        <p:nvSpPr>
          <p:cNvPr id="62" name="TextBox 61"/>
          <p:cNvSpPr txBox="1"/>
          <p:nvPr/>
        </p:nvSpPr>
        <p:spPr>
          <a:xfrm>
            <a:off x="3300412" y="4667250"/>
            <a:ext cx="2576512" cy="6667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cxnSp>
        <p:nvCxnSpPr>
          <p:cNvPr id="63" name="Connector 62"/>
          <p:cNvCxnSpPr/>
          <p:nvPr/>
        </p:nvCxnSpPr>
        <p:spPr>
          <a:xfrm>
            <a:off x="6010275" y="3495675"/>
            <a:ext cx="152400" cy="0"/>
          </a:xfrm>
          <a:prstGeom prst="line">
            <a:avLst/>
          </a:prstGeom>
          <a:ln w="254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64" name="Freeform 63"/>
          <p:cNvSpPr/>
          <p:nvPr/>
        </p:nvSpPr>
        <p:spPr>
          <a:xfrm>
            <a:off x="6115050" y="3448050"/>
            <a:ext cx="66675" cy="95250"/>
          </a:xfrm>
          <a:custGeom>
            <a:avLst/>
            <a:gdLst/>
            <a:ahLst/>
            <a:cxnLst/>
            <a:rect l="l" t="t" r="r" b="b"/>
            <a:pathLst>
              <a:path w="7" h="10">
                <a:moveTo>
                  <a:pt x="7" y="5"/>
                </a:moveTo>
                <a:lnTo>
                  <a:pt x="0" y="0"/>
                </a:lnTo>
                <a:lnTo>
                  <a:pt x="0" y="10"/>
                </a:lnTo>
                <a:close/>
              </a:path>
            </a:pathLst>
          </a:custGeom>
          <a:solidFill>
            <a:srgbClr val="0F2D52"/>
          </a:solidFill>
          <a:ln w="9525">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6219825" y="1638300"/>
            <a:ext cx="2767012" cy="37147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6219825" y="1638300"/>
            <a:ext cx="2767012" cy="476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6315075" y="1733550"/>
            <a:ext cx="2576512" cy="171450"/>
          </a:xfrm>
          <a:prstGeom prst="rect">
            <a:avLst/>
          </a:prstGeom>
          <a:noFill/>
        </p:spPr>
        <p:txBody>
          <a:bodyPr wrap="square" lIns="28575" rIns="28575" tIns="9525" bIns="9525" anchor="t">
            <a:spAutoFit/>
          </a:bodyPr>
          <a:lstStyle/>
          <a:p>
            <a:pPr algn="l"/>
            <a:r>
              <a:rPr sz="1100" b="1">
                <a:solidFill>
                  <a:srgbClr val="0F2D52"/>
                </a:solidFill>
                <a:latin typeface="Calibri"/>
              </a:rPr>
              <a:t>3. Cast Metal Partial Dentures</a:t>
            </a:r>
          </a:p>
        </p:txBody>
      </p:sp>
      <p:sp>
        <p:nvSpPr>
          <p:cNvPr id="68" name="TextBox 67"/>
          <p:cNvSpPr txBox="1"/>
          <p:nvPr/>
        </p:nvSpPr>
        <p:spPr>
          <a:xfrm>
            <a:off x="6315075" y="1924050"/>
            <a:ext cx="666750" cy="190500"/>
          </a:xfrm>
          <a:prstGeom prst="rect">
            <a:avLst/>
          </a:prstGeom>
          <a:noFill/>
        </p:spPr>
        <p:txBody>
          <a:bodyPr wrap="none" lIns="0" rIns="0" tIns="0" bIns="0" anchor="t">
            <a:spAutoFit/>
          </a:bodyPr>
          <a:lstStyle/>
          <a:p>
            <a:pPr algn="l"/>
            <a:r>
              <a:rPr sz="1100" b="1">
                <a:solidFill>
                  <a:srgbClr val="1F2933"/>
                </a:solidFill>
                <a:latin typeface="Calibri"/>
              </a:rPr>
              <a:t> </a:t>
            </a:r>
          </a:p>
        </p:txBody>
      </p:sp>
      <p:sp>
        <p:nvSpPr>
          <p:cNvPr id="69" name="TextBox 68"/>
          <p:cNvSpPr txBox="1"/>
          <p:nvPr/>
        </p:nvSpPr>
        <p:spPr>
          <a:xfrm>
            <a:off x="7000875" y="1924050"/>
            <a:ext cx="1890712" cy="190500"/>
          </a:xfrm>
          <a:prstGeom prst="rect">
            <a:avLst/>
          </a:prstGeom>
          <a:noFill/>
        </p:spPr>
        <p:txBody>
          <a:bodyPr wrap="square" lIns="28575" rIns="28575" tIns="9525" bIns="9525" anchor="t">
            <a:spAutoFit/>
          </a:bodyPr>
          <a:lstStyle/>
          <a:p>
            <a:pPr algn="l"/>
            <a:r>
              <a:rPr sz="1100" b="1">
                <a:solidFill>
                  <a:srgbClr val="1F2933"/>
                </a:solidFill>
                <a:latin typeface="Calibri"/>
              </a:rPr>
              <a:t>of market</a:t>
            </a:r>
          </a:p>
        </p:txBody>
      </p:sp>
      <p:sp>
        <p:nvSpPr>
          <p:cNvPr id="70" name="TextBox 69"/>
          <p:cNvSpPr txBox="1"/>
          <p:nvPr/>
        </p:nvSpPr>
        <p:spPr>
          <a:xfrm>
            <a:off x="6315075" y="2133600"/>
            <a:ext cx="666750" cy="190500"/>
          </a:xfrm>
          <a:prstGeom prst="rect">
            <a:avLst/>
          </a:prstGeom>
          <a:noFill/>
        </p:spPr>
        <p:txBody>
          <a:bodyPr wrap="none" lIns="0" rIns="0" tIns="0" bIns="0" anchor="t">
            <a:spAutoFit/>
          </a:bodyPr>
          <a:lstStyle/>
          <a:p>
            <a:pPr algn="l"/>
            <a:r>
              <a:rPr sz="1100" b="0">
                <a:solidFill>
                  <a:srgbClr val="5F6B7A"/>
                </a:solidFill>
                <a:latin typeface="Calibri"/>
              </a:rPr>
              <a:t> </a:t>
            </a:r>
          </a:p>
        </p:txBody>
      </p:sp>
      <p:sp>
        <p:nvSpPr>
          <p:cNvPr id="71" name="TextBox 70"/>
          <p:cNvSpPr txBox="1"/>
          <p:nvPr/>
        </p:nvSpPr>
        <p:spPr>
          <a:xfrm>
            <a:off x="7000875" y="2133600"/>
            <a:ext cx="1890712" cy="190500"/>
          </a:xfrm>
          <a:prstGeom prst="rect">
            <a:avLst/>
          </a:prstGeom>
          <a:noFill/>
        </p:spPr>
        <p:txBody>
          <a:bodyPr wrap="square" lIns="28575" rIns="28575" tIns="9525" bIns="9525" anchor="t">
            <a:spAutoFit/>
          </a:bodyPr>
          <a:lstStyle/>
          <a:p>
            <a:pPr algn="l"/>
            <a:r>
              <a:rPr sz="1100" b="0">
                <a:solidFill>
                  <a:srgbClr val="5F6B7A"/>
                </a:solidFill>
                <a:latin typeface="Calibri"/>
              </a:rPr>
              <a:t>CAGR 2026–2036</a:t>
            </a:r>
          </a:p>
        </p:txBody>
      </p:sp>
      <p:cxnSp>
        <p:nvCxnSpPr>
          <p:cNvPr id="72" name="Connector 71"/>
          <p:cNvCxnSpPr/>
          <p:nvPr/>
        </p:nvCxnSpPr>
        <p:spPr>
          <a:xfrm>
            <a:off x="6315075" y="2362200"/>
            <a:ext cx="2576513"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73" name="TextBox 72"/>
          <p:cNvSpPr txBox="1"/>
          <p:nvPr/>
        </p:nvSpPr>
        <p:spPr>
          <a:xfrm>
            <a:off x="6315075" y="241935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LEADS</a:t>
            </a:r>
          </a:p>
        </p:txBody>
      </p:sp>
      <p:sp>
        <p:nvSpPr>
          <p:cNvPr id="74" name="TextBox 73"/>
          <p:cNvSpPr txBox="1"/>
          <p:nvPr/>
        </p:nvSpPr>
        <p:spPr>
          <a:xfrm>
            <a:off x="6315075" y="2590800"/>
            <a:ext cx="2576512" cy="171450"/>
          </a:xfrm>
          <a:prstGeom prst="rect">
            <a:avLst/>
          </a:prstGeom>
          <a:noFill/>
        </p:spPr>
        <p:txBody>
          <a:bodyPr wrap="square" lIns="28575" rIns="28575" tIns="9525" bIns="9525" anchor="t">
            <a:spAutoFit/>
          </a:bodyPr>
          <a:lstStyle/>
          <a:p>
            <a:pPr algn="l"/>
            <a:r>
              <a:rPr sz="1100" b="1">
                <a:solidFill>
                  <a:srgbClr val="1F2933"/>
                </a:solidFill>
                <a:latin typeface="Calibri"/>
              </a:rPr>
              <a:t>●  Dentsply Sirona Inc.</a:t>
            </a:r>
          </a:p>
        </p:txBody>
      </p:sp>
      <p:sp>
        <p:nvSpPr>
          <p:cNvPr id="75" name="TextBox 74"/>
          <p:cNvSpPr txBox="1"/>
          <p:nvPr/>
        </p:nvSpPr>
        <p:spPr>
          <a:xfrm>
            <a:off x="6315075" y="28194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ALSO ACTIVE</a:t>
            </a:r>
          </a:p>
        </p:txBody>
      </p:sp>
      <p:sp>
        <p:nvSpPr>
          <p:cNvPr id="76" name="TextBox 75"/>
          <p:cNvSpPr txBox="1"/>
          <p:nvPr/>
        </p:nvSpPr>
        <p:spPr>
          <a:xfrm>
            <a:off x="6315075" y="29908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Kulzer GmbH</a:t>
            </a:r>
          </a:p>
        </p:txBody>
      </p:sp>
      <p:sp>
        <p:nvSpPr>
          <p:cNvPr id="77" name="TextBox 76"/>
          <p:cNvSpPr txBox="1"/>
          <p:nvPr/>
        </p:nvSpPr>
        <p:spPr>
          <a:xfrm>
            <a:off x="6315075" y="31623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GC Corporation</a:t>
            </a:r>
          </a:p>
        </p:txBody>
      </p:sp>
      <p:sp>
        <p:nvSpPr>
          <p:cNvPr id="78" name="TextBox 77"/>
          <p:cNvSpPr txBox="1"/>
          <p:nvPr/>
        </p:nvSpPr>
        <p:spPr>
          <a:xfrm>
            <a:off x="6315075" y="33337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SHOFU INC.</a:t>
            </a:r>
          </a:p>
        </p:txBody>
      </p:sp>
      <p:sp>
        <p:nvSpPr>
          <p:cNvPr id="79" name="TextBox 78"/>
          <p:cNvSpPr txBox="1"/>
          <p:nvPr/>
        </p:nvSpPr>
        <p:spPr>
          <a:xfrm>
            <a:off x="6315075" y="35052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Zhermack S.p.A.</a:t>
            </a:r>
          </a:p>
        </p:txBody>
      </p:sp>
      <p:cxnSp>
        <p:nvCxnSpPr>
          <p:cNvPr id="80" name="Connector 79"/>
          <p:cNvCxnSpPr/>
          <p:nvPr/>
        </p:nvCxnSpPr>
        <p:spPr>
          <a:xfrm>
            <a:off x="6315075" y="4438650"/>
            <a:ext cx="2576513"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81" name="TextBox 80"/>
          <p:cNvSpPr txBox="1"/>
          <p:nvPr/>
        </p:nvSpPr>
        <p:spPr>
          <a:xfrm>
            <a:off x="6315075" y="44958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WHAT TO WATCH</a:t>
            </a:r>
          </a:p>
        </p:txBody>
      </p:sp>
      <p:sp>
        <p:nvSpPr>
          <p:cNvPr id="82" name="TextBox 81"/>
          <p:cNvSpPr txBox="1"/>
          <p:nvPr/>
        </p:nvSpPr>
        <p:spPr>
          <a:xfrm>
            <a:off x="6315075" y="4667250"/>
            <a:ext cx="2576512" cy="6667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cxnSp>
        <p:nvCxnSpPr>
          <p:cNvPr id="83" name="Connector 82"/>
          <p:cNvCxnSpPr/>
          <p:nvPr/>
        </p:nvCxnSpPr>
        <p:spPr>
          <a:xfrm>
            <a:off x="9024938" y="3495675"/>
            <a:ext cx="152400" cy="0"/>
          </a:xfrm>
          <a:prstGeom prst="line">
            <a:avLst/>
          </a:prstGeom>
          <a:ln w="254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84" name="Freeform 83"/>
          <p:cNvSpPr/>
          <p:nvPr/>
        </p:nvSpPr>
        <p:spPr>
          <a:xfrm>
            <a:off x="9124950" y="3448050"/>
            <a:ext cx="76200" cy="95250"/>
          </a:xfrm>
          <a:custGeom>
            <a:avLst/>
            <a:gdLst/>
            <a:ahLst/>
            <a:cxnLst/>
            <a:rect l="l" t="t" r="r" b="b"/>
            <a:pathLst>
              <a:path w="8" h="10">
                <a:moveTo>
                  <a:pt x="8" y="5"/>
                </a:moveTo>
                <a:lnTo>
                  <a:pt x="0" y="0"/>
                </a:lnTo>
                <a:lnTo>
                  <a:pt x="0" y="10"/>
                </a:lnTo>
                <a:close/>
              </a:path>
            </a:pathLst>
          </a:custGeom>
          <a:solidFill>
            <a:srgbClr val="0F2D52"/>
          </a:solidFill>
          <a:ln w="9525">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9234488" y="1638300"/>
            <a:ext cx="2767012" cy="37147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9234488" y="1638300"/>
            <a:ext cx="2767012" cy="476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9329738" y="1733550"/>
            <a:ext cx="2576512" cy="171450"/>
          </a:xfrm>
          <a:prstGeom prst="rect">
            <a:avLst/>
          </a:prstGeom>
          <a:noFill/>
        </p:spPr>
        <p:txBody>
          <a:bodyPr wrap="square" lIns="28575" rIns="28575" tIns="9525" bIns="9525" anchor="t">
            <a:spAutoFit/>
          </a:bodyPr>
          <a:lstStyle/>
          <a:p>
            <a:pPr algn="l"/>
            <a:r>
              <a:rPr sz="1100" b="1">
                <a:solidFill>
                  <a:srgbClr val="0F2D52"/>
                </a:solidFill>
                <a:latin typeface="Calibri"/>
              </a:rPr>
              <a:t> </a:t>
            </a:r>
          </a:p>
        </p:txBody>
      </p:sp>
      <p:sp>
        <p:nvSpPr>
          <p:cNvPr id="88" name="TextBox 87"/>
          <p:cNvSpPr txBox="1"/>
          <p:nvPr/>
        </p:nvSpPr>
        <p:spPr>
          <a:xfrm>
            <a:off x="9329738" y="1924050"/>
            <a:ext cx="2576512" cy="190500"/>
          </a:xfrm>
          <a:prstGeom prst="rect">
            <a:avLst/>
          </a:prstGeom>
          <a:noFill/>
        </p:spPr>
        <p:txBody>
          <a:bodyPr wrap="square" lIns="28575" rIns="28575" tIns="9525" bIns="9525" anchor="t">
            <a:spAutoFit/>
          </a:bodyPr>
          <a:lstStyle/>
          <a:p>
            <a:pPr algn="l"/>
            <a:r>
              <a:rPr sz="1100" b="1">
                <a:solidFill>
                  <a:srgbClr val="1F2933"/>
                </a:solidFill>
                <a:latin typeface="Calibri"/>
              </a:rPr>
              <a:t>By application</a:t>
            </a:r>
          </a:p>
        </p:txBody>
      </p:sp>
      <p:sp>
        <p:nvSpPr>
          <p:cNvPr id="89" name="TextBox 88"/>
          <p:cNvSpPr txBox="1"/>
          <p:nvPr/>
        </p:nvSpPr>
        <p:spPr>
          <a:xfrm>
            <a:off x="9329738" y="2133600"/>
            <a:ext cx="2576512" cy="190500"/>
          </a:xfrm>
          <a:prstGeom prst="rect">
            <a:avLst/>
          </a:prstGeom>
          <a:noFill/>
        </p:spPr>
        <p:txBody>
          <a:bodyPr wrap="square" lIns="28575" rIns="28575" tIns="9525" bIns="9525" anchor="t">
            <a:spAutoFit/>
          </a:bodyPr>
          <a:lstStyle/>
          <a:p>
            <a:pPr algn="l"/>
            <a:r>
              <a:rPr sz="1100" b="0">
                <a:solidFill>
                  <a:srgbClr val="5F6B7A"/>
                </a:solidFill>
                <a:latin typeface="Calibri"/>
              </a:rPr>
              <a:t>Who buys the output.</a:t>
            </a:r>
          </a:p>
        </p:txBody>
      </p:sp>
      <p:cxnSp>
        <p:nvCxnSpPr>
          <p:cNvPr id="90" name="Connector 89"/>
          <p:cNvCxnSpPr/>
          <p:nvPr/>
        </p:nvCxnSpPr>
        <p:spPr>
          <a:xfrm>
            <a:off x="9329738" y="2362200"/>
            <a:ext cx="2576512"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91" name="TextBox 90"/>
          <p:cNvSpPr txBox="1"/>
          <p:nvPr/>
        </p:nvSpPr>
        <p:spPr>
          <a:xfrm>
            <a:off x="9329738" y="2419350"/>
            <a:ext cx="1333500" cy="3238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Dental Laboratories</a:t>
            </a:r>
          </a:p>
        </p:txBody>
      </p:sp>
      <p:sp>
        <p:nvSpPr>
          <p:cNvPr id="92" name="Rectangle 91"/>
          <p:cNvSpPr/>
          <p:nvPr/>
        </p:nvSpPr>
        <p:spPr>
          <a:xfrm>
            <a:off x="10682288" y="2524125"/>
            <a:ext cx="766762"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11487150" y="2486025"/>
            <a:ext cx="476250" cy="190500"/>
          </a:xfrm>
          <a:prstGeom prst="rect">
            <a:avLst/>
          </a:prstGeom>
          <a:noFill/>
        </p:spPr>
        <p:txBody>
          <a:bodyPr wrap="none" lIns="0" rIns="0" tIns="0" bIns="0" anchor="ctr">
            <a:spAutoFit/>
          </a:bodyPr>
          <a:lstStyle/>
          <a:p>
            <a:pPr algn="l"/>
            <a:r>
              <a:rPr sz="1100" b="1">
                <a:solidFill>
                  <a:srgbClr val="1F2933"/>
                </a:solidFill>
                <a:latin typeface="Calibri"/>
              </a:rPr>
              <a:t> </a:t>
            </a:r>
          </a:p>
        </p:txBody>
      </p:sp>
      <p:sp>
        <p:nvSpPr>
          <p:cNvPr id="94" name="TextBox 93"/>
          <p:cNvSpPr txBox="1"/>
          <p:nvPr/>
        </p:nvSpPr>
        <p:spPr>
          <a:xfrm>
            <a:off x="9329738" y="2743200"/>
            <a:ext cx="1333500" cy="3238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Academic &amp; Teaching Dental Institutions</a:t>
            </a:r>
          </a:p>
        </p:txBody>
      </p:sp>
      <p:sp>
        <p:nvSpPr>
          <p:cNvPr id="95" name="Rectangle 94"/>
          <p:cNvSpPr/>
          <p:nvPr/>
        </p:nvSpPr>
        <p:spPr>
          <a:xfrm>
            <a:off x="10682288" y="2847975"/>
            <a:ext cx="646713"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11367100" y="2809875"/>
            <a:ext cx="476250" cy="190500"/>
          </a:xfrm>
          <a:prstGeom prst="rect">
            <a:avLst/>
          </a:prstGeom>
          <a:noFill/>
        </p:spPr>
        <p:txBody>
          <a:bodyPr wrap="none" lIns="0" rIns="0" tIns="0" bIns="0" anchor="ctr">
            <a:spAutoFit/>
          </a:bodyPr>
          <a:lstStyle/>
          <a:p>
            <a:pPr algn="l"/>
            <a:r>
              <a:rPr sz="1100" b="1">
                <a:solidFill>
                  <a:srgbClr val="1F2933"/>
                </a:solidFill>
                <a:latin typeface="Calibri"/>
              </a:rPr>
              <a:t> </a:t>
            </a:r>
          </a:p>
        </p:txBody>
      </p:sp>
      <p:sp>
        <p:nvSpPr>
          <p:cNvPr id="97" name="TextBox 96"/>
          <p:cNvSpPr txBox="1"/>
          <p:nvPr/>
        </p:nvSpPr>
        <p:spPr>
          <a:xfrm>
            <a:off x="9329738" y="3067050"/>
            <a:ext cx="1333500" cy="3238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Dental Clinics</a:t>
            </a:r>
          </a:p>
        </p:txBody>
      </p:sp>
      <p:sp>
        <p:nvSpPr>
          <p:cNvPr id="98" name="Rectangle 97"/>
          <p:cNvSpPr/>
          <p:nvPr/>
        </p:nvSpPr>
        <p:spPr>
          <a:xfrm>
            <a:off x="10682288" y="3171825"/>
            <a:ext cx="225179"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10945566" y="3133725"/>
            <a:ext cx="476250" cy="190500"/>
          </a:xfrm>
          <a:prstGeom prst="rect">
            <a:avLst/>
          </a:prstGeom>
          <a:noFill/>
        </p:spPr>
        <p:txBody>
          <a:bodyPr wrap="none" lIns="0" rIns="0" tIns="0" bIns="0" anchor="ctr">
            <a:spAutoFit/>
          </a:bodyPr>
          <a:lstStyle/>
          <a:p>
            <a:pPr algn="l"/>
            <a:r>
              <a:rPr sz="1100" b="1">
                <a:solidFill>
                  <a:srgbClr val="1F2933"/>
                </a:solidFill>
                <a:latin typeface="Calibri"/>
              </a:rPr>
              <a:t> </a:t>
            </a:r>
          </a:p>
        </p:txBody>
      </p:sp>
      <p:sp>
        <p:nvSpPr>
          <p:cNvPr id="100" name="TextBox 99"/>
          <p:cNvSpPr txBox="1"/>
          <p:nvPr/>
        </p:nvSpPr>
        <p:spPr>
          <a:xfrm>
            <a:off x="9329738" y="3390900"/>
            <a:ext cx="1333500" cy="3238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Dental Hospitals</a:t>
            </a:r>
          </a:p>
        </p:txBody>
      </p:sp>
      <p:sp>
        <p:nvSpPr>
          <p:cNvPr id="101" name="Rectangle 100"/>
          <p:cNvSpPr/>
          <p:nvPr/>
        </p:nvSpPr>
        <p:spPr>
          <a:xfrm>
            <a:off x="10682288" y="3495675"/>
            <a:ext cx="121918"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TextBox 101"/>
          <p:cNvSpPr txBox="1"/>
          <p:nvPr/>
        </p:nvSpPr>
        <p:spPr>
          <a:xfrm>
            <a:off x="10842305" y="3457575"/>
            <a:ext cx="476250" cy="1905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103" name="Connector 102"/>
          <p:cNvCxnSpPr/>
          <p:nvPr/>
        </p:nvCxnSpPr>
        <p:spPr>
          <a:xfrm>
            <a:off x="9329738" y="4438650"/>
            <a:ext cx="2576512"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04" name="TextBox 103"/>
          <p:cNvSpPr txBox="1"/>
          <p:nvPr/>
        </p:nvSpPr>
        <p:spPr>
          <a:xfrm>
            <a:off x="9329738" y="44958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WHAT TO WATCH</a:t>
            </a:r>
          </a:p>
        </p:txBody>
      </p:sp>
      <p:sp>
        <p:nvSpPr>
          <p:cNvPr id="105" name="TextBox 104"/>
          <p:cNvSpPr txBox="1"/>
          <p:nvPr/>
        </p:nvSpPr>
        <p:spPr>
          <a:xfrm>
            <a:off x="9329738" y="4667250"/>
            <a:ext cx="2576512" cy="6667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106" name="Rectangle 105"/>
          <p:cNvSpPr/>
          <p:nvPr/>
        </p:nvSpPr>
        <p:spPr>
          <a:xfrm>
            <a:off x="190500" y="5467350"/>
            <a:ext cx="11811000" cy="4000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90500" y="5467350"/>
            <a:ext cx="47625" cy="4000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TextBox 107"/>
          <p:cNvSpPr txBox="1"/>
          <p:nvPr/>
        </p:nvSpPr>
        <p:spPr>
          <a:xfrm>
            <a:off x="304800" y="5467350"/>
            <a:ext cx="1047750" cy="400050"/>
          </a:xfrm>
          <a:prstGeom prst="rect">
            <a:avLst/>
          </a:prstGeom>
          <a:noFill/>
        </p:spPr>
        <p:txBody>
          <a:bodyPr wrap="square" lIns="28575" rIns="28575" tIns="9525" bIns="9525" anchor="ctr">
            <a:spAutoFit/>
          </a:bodyPr>
          <a:lstStyle/>
          <a:p>
            <a:pPr algn="l"/>
            <a:r>
              <a:rPr sz="1100" b="1">
                <a:solidFill>
                  <a:srgbClr val="0F2D52"/>
                </a:solidFill>
                <a:latin typeface="Calibri"/>
              </a:rPr>
              <a:t>ENABLERS</a:t>
            </a:r>
          </a:p>
        </p:txBody>
      </p:sp>
      <p:sp>
        <p:nvSpPr>
          <p:cNvPr id="109" name="TextBox 108"/>
          <p:cNvSpPr txBox="1"/>
          <p:nvPr/>
        </p:nvSpPr>
        <p:spPr>
          <a:xfrm>
            <a:off x="1428750" y="5467350"/>
            <a:ext cx="10477500" cy="4000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Cast Metal Partial Dentures Compounds Fastest Across the Product Type Mix  |  South Asia &amp; Pacific Emerges as the Growth Engine Among Regions  |  Premiumisation Lifts Average Realisation</a:t>
            </a:r>
          </a:p>
        </p:txBody>
      </p:sp>
      <p:sp>
        <p:nvSpPr>
          <p:cNvPr id="110" name="Rectangle 109"/>
          <p:cNvSpPr/>
          <p:nvPr/>
        </p:nvSpPr>
        <p:spPr>
          <a:xfrm>
            <a:off x="190500" y="5924550"/>
            <a:ext cx="11811000" cy="4000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90500" y="5924550"/>
            <a:ext cx="47625" cy="400050"/>
          </a:xfrm>
          <a:prstGeom prst="rect">
            <a:avLst/>
          </a:prstGeom>
          <a:solidFill>
            <a:srgbClr val="8B1E2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304800" y="5924550"/>
            <a:ext cx="1047750" cy="400050"/>
          </a:xfrm>
          <a:prstGeom prst="rect">
            <a:avLst/>
          </a:prstGeom>
          <a:noFill/>
        </p:spPr>
        <p:txBody>
          <a:bodyPr wrap="square" lIns="28575" rIns="28575" tIns="9525" bIns="9525" anchor="ctr">
            <a:spAutoFit/>
          </a:bodyPr>
          <a:lstStyle/>
          <a:p>
            <a:pPr algn="l"/>
            <a:r>
              <a:rPr sz="1100" b="1">
                <a:solidFill>
                  <a:srgbClr val="8B1E2D"/>
                </a:solidFill>
                <a:latin typeface="Calibri"/>
              </a:rPr>
              <a:t>CONSTRAINTS</a:t>
            </a:r>
          </a:p>
        </p:txBody>
      </p:sp>
      <p:sp>
        <p:nvSpPr>
          <p:cNvPr id="113" name="TextBox 112"/>
          <p:cNvSpPr txBox="1"/>
          <p:nvPr/>
        </p:nvSpPr>
        <p:spPr>
          <a:xfrm>
            <a:off x="1428750" y="5924550"/>
            <a:ext cx="10477500" cy="4000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Flexible Partial Dentures Lags the Category and Dilutes Blended Growth  |  Uneven Region Performance Caps the Blended Rate  |  Concentration Risk Limits Pricing and Sourcing Flexibility</a:t>
            </a:r>
          </a:p>
        </p:txBody>
      </p:sp>
      <p:sp>
        <p:nvSpPr>
          <p:cNvPr id="114" name="TextBox 1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15" name="Picture 114" descr="lock.png"/>
          <p:cNvPicPr>
            <a:picLocks noChangeAspect="1"/>
          </p:cNvPicPr>
          <p:nvPr/>
        </p:nvPicPr>
        <p:blipFill>
          <a:blip r:embed="rId4"/>
          <a:stretch>
            <a:fillRect/>
          </a:stretch>
        </p:blipFill>
        <p:spPr>
          <a:xfrm>
            <a:off x="1316775" y="1258951"/>
            <a:ext cx="128699" cy="187198"/>
          </a:xfrm>
          <a:prstGeom prst="rect">
            <a:avLst/>
          </a:prstGeom>
        </p:spPr>
      </p:pic>
      <p:pic>
        <p:nvPicPr>
          <p:cNvPr id="116" name="Picture 115" descr="lock.png"/>
          <p:cNvPicPr>
            <a:picLocks noChangeAspect="1"/>
          </p:cNvPicPr>
          <p:nvPr/>
        </p:nvPicPr>
        <p:blipFill>
          <a:blip r:embed="rId4"/>
          <a:stretch>
            <a:fillRect/>
          </a:stretch>
        </p:blipFill>
        <p:spPr>
          <a:xfrm>
            <a:off x="3678975" y="1258951"/>
            <a:ext cx="128699" cy="187198"/>
          </a:xfrm>
          <a:prstGeom prst="rect">
            <a:avLst/>
          </a:prstGeom>
        </p:spPr>
      </p:pic>
      <p:pic>
        <p:nvPicPr>
          <p:cNvPr id="117" name="Picture 116" descr="lock.png"/>
          <p:cNvPicPr>
            <a:picLocks noChangeAspect="1"/>
          </p:cNvPicPr>
          <p:nvPr/>
        </p:nvPicPr>
        <p:blipFill>
          <a:blip r:embed="rId4"/>
          <a:stretch>
            <a:fillRect/>
          </a:stretch>
        </p:blipFill>
        <p:spPr>
          <a:xfrm>
            <a:off x="6041175" y="1258951"/>
            <a:ext cx="128699" cy="187198"/>
          </a:xfrm>
          <a:prstGeom prst="rect">
            <a:avLst/>
          </a:prstGeom>
        </p:spPr>
      </p:pic>
      <p:pic>
        <p:nvPicPr>
          <p:cNvPr id="118" name="Picture 117" descr="lock.png"/>
          <p:cNvPicPr>
            <a:picLocks noChangeAspect="1"/>
          </p:cNvPicPr>
          <p:nvPr/>
        </p:nvPicPr>
        <p:blipFill>
          <a:blip r:embed="rId4"/>
          <a:stretch>
            <a:fillRect/>
          </a:stretch>
        </p:blipFill>
        <p:spPr>
          <a:xfrm>
            <a:off x="8403375" y="1258951"/>
            <a:ext cx="128699" cy="187198"/>
          </a:xfrm>
          <a:prstGeom prst="rect">
            <a:avLst/>
          </a:prstGeom>
        </p:spPr>
      </p:pic>
      <p:pic>
        <p:nvPicPr>
          <p:cNvPr id="119" name="Picture 118" descr="lock.png"/>
          <p:cNvPicPr>
            <a:picLocks noChangeAspect="1"/>
          </p:cNvPicPr>
          <p:nvPr/>
        </p:nvPicPr>
        <p:blipFill>
          <a:blip r:embed="rId4"/>
          <a:stretch>
            <a:fillRect/>
          </a:stretch>
        </p:blipFill>
        <p:spPr>
          <a:xfrm>
            <a:off x="10765575" y="1258951"/>
            <a:ext cx="128699" cy="187198"/>
          </a:xfrm>
          <a:prstGeom prst="rect">
            <a:avLst/>
          </a:prstGeom>
        </p:spPr>
      </p:pic>
      <p:pic>
        <p:nvPicPr>
          <p:cNvPr id="120" name="Picture 119" descr="lock.png"/>
          <p:cNvPicPr>
            <a:picLocks noChangeAspect="1"/>
          </p:cNvPicPr>
          <p:nvPr/>
        </p:nvPicPr>
        <p:blipFill>
          <a:blip r:embed="rId4"/>
          <a:stretch>
            <a:fillRect/>
          </a:stretch>
        </p:blipFill>
        <p:spPr>
          <a:xfrm>
            <a:off x="554775" y="1925701"/>
            <a:ext cx="128699" cy="187198"/>
          </a:xfrm>
          <a:prstGeom prst="rect">
            <a:avLst/>
          </a:prstGeom>
        </p:spPr>
      </p:pic>
      <p:pic>
        <p:nvPicPr>
          <p:cNvPr id="121" name="Picture 120" descr="lock.png"/>
          <p:cNvPicPr>
            <a:picLocks noChangeAspect="1"/>
          </p:cNvPicPr>
          <p:nvPr/>
        </p:nvPicPr>
        <p:blipFill>
          <a:blip r:embed="rId4"/>
          <a:stretch>
            <a:fillRect/>
          </a:stretch>
        </p:blipFill>
        <p:spPr>
          <a:xfrm>
            <a:off x="554775" y="2135251"/>
            <a:ext cx="128699" cy="187198"/>
          </a:xfrm>
          <a:prstGeom prst="rect">
            <a:avLst/>
          </a:prstGeom>
        </p:spPr>
      </p:pic>
      <p:pic>
        <p:nvPicPr>
          <p:cNvPr id="122" name="Picture 121" descr="lock.png"/>
          <p:cNvPicPr>
            <a:picLocks noChangeAspect="1"/>
          </p:cNvPicPr>
          <p:nvPr/>
        </p:nvPicPr>
        <p:blipFill>
          <a:blip r:embed="rId4"/>
          <a:stretch>
            <a:fillRect/>
          </a:stretch>
        </p:blipFill>
        <p:spPr>
          <a:xfrm>
            <a:off x="3569437" y="1925701"/>
            <a:ext cx="128699" cy="187198"/>
          </a:xfrm>
          <a:prstGeom prst="rect">
            <a:avLst/>
          </a:prstGeom>
        </p:spPr>
      </p:pic>
      <p:pic>
        <p:nvPicPr>
          <p:cNvPr id="123" name="Picture 122" descr="lock.png"/>
          <p:cNvPicPr>
            <a:picLocks noChangeAspect="1"/>
          </p:cNvPicPr>
          <p:nvPr/>
        </p:nvPicPr>
        <p:blipFill>
          <a:blip r:embed="rId4"/>
          <a:stretch>
            <a:fillRect/>
          </a:stretch>
        </p:blipFill>
        <p:spPr>
          <a:xfrm>
            <a:off x="3569437" y="2135251"/>
            <a:ext cx="128699" cy="187198"/>
          </a:xfrm>
          <a:prstGeom prst="rect">
            <a:avLst/>
          </a:prstGeom>
        </p:spPr>
      </p:pic>
      <p:pic>
        <p:nvPicPr>
          <p:cNvPr id="124" name="Picture 123" descr="lock.png"/>
          <p:cNvPicPr>
            <a:picLocks noChangeAspect="1"/>
          </p:cNvPicPr>
          <p:nvPr/>
        </p:nvPicPr>
        <p:blipFill>
          <a:blip r:embed="rId4"/>
          <a:stretch>
            <a:fillRect/>
          </a:stretch>
        </p:blipFill>
        <p:spPr>
          <a:xfrm>
            <a:off x="6584100" y="1925701"/>
            <a:ext cx="128699" cy="187198"/>
          </a:xfrm>
          <a:prstGeom prst="rect">
            <a:avLst/>
          </a:prstGeom>
        </p:spPr>
      </p:pic>
      <p:pic>
        <p:nvPicPr>
          <p:cNvPr id="125" name="Picture 124" descr="lock.png"/>
          <p:cNvPicPr>
            <a:picLocks noChangeAspect="1"/>
          </p:cNvPicPr>
          <p:nvPr/>
        </p:nvPicPr>
        <p:blipFill>
          <a:blip r:embed="rId4"/>
          <a:stretch>
            <a:fillRect/>
          </a:stretch>
        </p:blipFill>
        <p:spPr>
          <a:xfrm>
            <a:off x="6584100" y="2135251"/>
            <a:ext cx="128699" cy="187198"/>
          </a:xfrm>
          <a:prstGeom prst="rect">
            <a:avLst/>
          </a:prstGeom>
        </p:spPr>
      </p:pic>
      <p:pic>
        <p:nvPicPr>
          <p:cNvPr id="126" name="Picture 125" descr="lock.png"/>
          <p:cNvPicPr>
            <a:picLocks noChangeAspect="1"/>
          </p:cNvPicPr>
          <p:nvPr/>
        </p:nvPicPr>
        <p:blipFill>
          <a:blip r:embed="rId4"/>
          <a:stretch>
            <a:fillRect/>
          </a:stretch>
        </p:blipFill>
        <p:spPr>
          <a:xfrm>
            <a:off x="10553644" y="1725676"/>
            <a:ext cx="128699" cy="187198"/>
          </a:xfrm>
          <a:prstGeom prst="rect">
            <a:avLst/>
          </a:prstGeom>
        </p:spPr>
      </p:pic>
      <p:pic>
        <p:nvPicPr>
          <p:cNvPr id="127" name="Picture 126" descr="lock.png"/>
          <p:cNvPicPr>
            <a:picLocks noChangeAspect="1"/>
          </p:cNvPicPr>
          <p:nvPr/>
        </p:nvPicPr>
        <p:blipFill>
          <a:blip r:embed="rId4"/>
          <a:stretch>
            <a:fillRect/>
          </a:stretch>
        </p:blipFill>
        <p:spPr>
          <a:xfrm>
            <a:off x="11660925" y="2487676"/>
            <a:ext cx="128699" cy="187198"/>
          </a:xfrm>
          <a:prstGeom prst="rect">
            <a:avLst/>
          </a:prstGeom>
        </p:spPr>
      </p:pic>
      <p:pic>
        <p:nvPicPr>
          <p:cNvPr id="128" name="Picture 127" descr="lock.png"/>
          <p:cNvPicPr>
            <a:picLocks noChangeAspect="1"/>
          </p:cNvPicPr>
          <p:nvPr/>
        </p:nvPicPr>
        <p:blipFill>
          <a:blip r:embed="rId4"/>
          <a:stretch>
            <a:fillRect/>
          </a:stretch>
        </p:blipFill>
        <p:spPr>
          <a:xfrm>
            <a:off x="11540875" y="2811526"/>
            <a:ext cx="128699" cy="187198"/>
          </a:xfrm>
          <a:prstGeom prst="rect">
            <a:avLst/>
          </a:prstGeom>
        </p:spPr>
      </p:pic>
      <p:pic>
        <p:nvPicPr>
          <p:cNvPr id="129" name="Picture 128" descr="lock.png"/>
          <p:cNvPicPr>
            <a:picLocks noChangeAspect="1"/>
          </p:cNvPicPr>
          <p:nvPr/>
        </p:nvPicPr>
        <p:blipFill>
          <a:blip r:embed="rId4"/>
          <a:stretch>
            <a:fillRect/>
          </a:stretch>
        </p:blipFill>
        <p:spPr>
          <a:xfrm>
            <a:off x="11119341" y="3135376"/>
            <a:ext cx="128699" cy="187198"/>
          </a:xfrm>
          <a:prstGeom prst="rect">
            <a:avLst/>
          </a:prstGeom>
        </p:spPr>
      </p:pic>
      <p:pic>
        <p:nvPicPr>
          <p:cNvPr id="130" name="Picture 129" descr="lock.png"/>
          <p:cNvPicPr>
            <a:picLocks noChangeAspect="1"/>
          </p:cNvPicPr>
          <p:nvPr/>
        </p:nvPicPr>
        <p:blipFill>
          <a:blip r:embed="rId4"/>
          <a:stretch>
            <a:fillRect/>
          </a:stretch>
        </p:blipFill>
        <p:spPr>
          <a:xfrm>
            <a:off x="11016080" y="3459226"/>
            <a:ext cx="128699" cy="187198"/>
          </a:xfrm>
          <a:prstGeom prst="rect">
            <a:avLst/>
          </a:prstGeom>
        </p:spPr>
      </p:pic>
      <p:sp>
        <p:nvSpPr>
          <p:cNvPr id="131" name="TextBox 130"/>
          <p:cNvSpPr txBox="1"/>
          <p:nvPr/>
        </p:nvSpPr>
        <p:spPr>
          <a:xfrm>
            <a:off x="314325" y="4676775"/>
            <a:ext cx="2376338" cy="186689"/>
          </a:xfrm>
          <a:prstGeom prst="rect">
            <a:avLst/>
          </a:prstGeom>
          <a:noFill/>
        </p:spPr>
        <p:txBody>
          <a:bodyPr wrap="none" lIns="0" rIns="0" tIns="0" bIns="0">
            <a:spAutoFit/>
          </a:bodyPr>
          <a:lstStyle/>
          <a:p>
            <a:r>
              <a:rPr sz="1100" b="0">
                <a:solidFill>
                  <a:srgbClr val="1F2933"/>
                </a:solidFill>
                <a:latin typeface="Calibri"/>
              </a:rPr>
              <a:t>5 named players compete here; 'Flexible</a:t>
            </a:r>
          </a:p>
        </p:txBody>
      </p:sp>
      <p:sp>
        <p:nvSpPr>
          <p:cNvPr id="132" name="TextBox 131"/>
          <p:cNvSpPr txBox="1"/>
          <p:nvPr/>
        </p:nvSpPr>
        <p:spPr>
          <a:xfrm>
            <a:off x="314325" y="4844415"/>
            <a:ext cx="1326951" cy="186689"/>
          </a:xfrm>
          <a:prstGeom prst="rect">
            <a:avLst/>
          </a:prstGeom>
          <a:noFill/>
        </p:spPr>
        <p:txBody>
          <a:bodyPr wrap="none" lIns="0" rIns="0" tIns="0" bIns="0">
            <a:spAutoFit/>
          </a:bodyPr>
          <a:lstStyle/>
          <a:p>
            <a:r>
              <a:rPr sz="1100" b="0">
                <a:solidFill>
                  <a:srgbClr val="1F2933"/>
                </a:solidFill>
                <a:latin typeface="Calibri"/>
              </a:rPr>
              <a:t>Partial Dentures' adds</a:t>
            </a:r>
          </a:p>
        </p:txBody>
      </p:sp>
      <p:pic>
        <p:nvPicPr>
          <p:cNvPr id="133" name="Picture 132" descr="lock.png"/>
          <p:cNvPicPr>
            <a:picLocks noChangeAspect="1"/>
          </p:cNvPicPr>
          <p:nvPr/>
        </p:nvPicPr>
        <p:blipFill>
          <a:blip r:embed="rId4"/>
          <a:stretch>
            <a:fillRect/>
          </a:stretch>
        </p:blipFill>
        <p:spPr>
          <a:xfrm>
            <a:off x="1589328" y="4834636"/>
            <a:ext cx="128699" cy="187198"/>
          </a:xfrm>
          <a:prstGeom prst="rect">
            <a:avLst/>
          </a:prstGeom>
        </p:spPr>
      </p:pic>
      <p:sp>
        <p:nvSpPr>
          <p:cNvPr id="134" name="TextBox 133"/>
          <p:cNvSpPr txBox="1"/>
          <p:nvPr/>
        </p:nvSpPr>
        <p:spPr>
          <a:xfrm>
            <a:off x="1756823" y="4844415"/>
            <a:ext cx="693935" cy="186689"/>
          </a:xfrm>
          <a:prstGeom prst="rect">
            <a:avLst/>
          </a:prstGeom>
          <a:noFill/>
        </p:spPr>
        <p:txBody>
          <a:bodyPr wrap="none" lIns="0" rIns="0" tIns="0" bIns="0">
            <a:spAutoFit/>
          </a:bodyPr>
          <a:lstStyle/>
          <a:p>
            <a:r>
              <a:rPr sz="1100" b="0">
                <a:solidFill>
                  <a:srgbClr val="1F2933"/>
                </a:solidFill>
                <a:latin typeface="Calibri"/>
              </a:rPr>
              <a:t>US$ Mn by</a:t>
            </a:r>
          </a:p>
        </p:txBody>
      </p:sp>
      <p:sp>
        <p:nvSpPr>
          <p:cNvPr id="135" name="TextBox 134"/>
          <p:cNvSpPr txBox="1"/>
          <p:nvPr/>
        </p:nvSpPr>
        <p:spPr>
          <a:xfrm>
            <a:off x="314325" y="5012055"/>
            <a:ext cx="395163" cy="186689"/>
          </a:xfrm>
          <a:prstGeom prst="rect">
            <a:avLst/>
          </a:prstGeom>
          <a:noFill/>
        </p:spPr>
        <p:txBody>
          <a:bodyPr wrap="none" lIns="0" rIns="0" tIns="0" bIns="0">
            <a:spAutoFit/>
          </a:bodyPr>
          <a:lstStyle/>
          <a:p>
            <a:r>
              <a:rPr sz="1100" b="0">
                <a:solidFill>
                  <a:srgbClr val="1F2933"/>
                </a:solidFill>
                <a:latin typeface="Calibri"/>
              </a:rPr>
              <a:t>2036.</a:t>
            </a:r>
          </a:p>
        </p:txBody>
      </p:sp>
      <p:sp>
        <p:nvSpPr>
          <p:cNvPr id="136" name="TextBox 135"/>
          <p:cNvSpPr txBox="1"/>
          <p:nvPr/>
        </p:nvSpPr>
        <p:spPr>
          <a:xfrm>
            <a:off x="3328987" y="4676775"/>
            <a:ext cx="1880021" cy="186689"/>
          </a:xfrm>
          <a:prstGeom prst="rect">
            <a:avLst/>
          </a:prstGeom>
          <a:noFill/>
        </p:spPr>
        <p:txBody>
          <a:bodyPr wrap="none" lIns="0" rIns="0" tIns="0" bIns="0">
            <a:spAutoFit/>
          </a:bodyPr>
          <a:lstStyle/>
          <a:p>
            <a:r>
              <a:rPr sz="1100" b="0">
                <a:solidFill>
                  <a:srgbClr val="1F2933"/>
                </a:solidFill>
                <a:latin typeface="Calibri"/>
              </a:rPr>
              <a:t>5 named players compete here;</a:t>
            </a:r>
          </a:p>
        </p:txBody>
      </p:sp>
      <p:sp>
        <p:nvSpPr>
          <p:cNvPr id="137" name="TextBox 136"/>
          <p:cNvSpPr txBox="1"/>
          <p:nvPr/>
        </p:nvSpPr>
        <p:spPr>
          <a:xfrm>
            <a:off x="3328987" y="4844415"/>
            <a:ext cx="2499940" cy="186689"/>
          </a:xfrm>
          <a:prstGeom prst="rect">
            <a:avLst/>
          </a:prstGeom>
          <a:noFill/>
        </p:spPr>
        <p:txBody>
          <a:bodyPr wrap="none" lIns="0" rIns="0" tIns="0" bIns="0">
            <a:spAutoFit/>
          </a:bodyPr>
          <a:lstStyle/>
          <a:p>
            <a:r>
              <a:rPr sz="1100" b="0">
                <a:solidFill>
                  <a:srgbClr val="1F2933"/>
                </a:solidFill>
                <a:latin typeface="Calibri"/>
              </a:rPr>
              <a:t>'Combination Framework Partial Dentures'</a:t>
            </a:r>
          </a:p>
        </p:txBody>
      </p:sp>
      <p:sp>
        <p:nvSpPr>
          <p:cNvPr id="138" name="TextBox 137"/>
          <p:cNvSpPr txBox="1"/>
          <p:nvPr/>
        </p:nvSpPr>
        <p:spPr>
          <a:xfrm>
            <a:off x="3328987" y="5012055"/>
            <a:ext cx="344413" cy="186689"/>
          </a:xfrm>
          <a:prstGeom prst="rect">
            <a:avLst/>
          </a:prstGeom>
          <a:noFill/>
        </p:spPr>
        <p:txBody>
          <a:bodyPr wrap="none" lIns="0" rIns="0" tIns="0" bIns="0">
            <a:spAutoFit/>
          </a:bodyPr>
          <a:lstStyle/>
          <a:p>
            <a:r>
              <a:rPr sz="1100" b="0">
                <a:solidFill>
                  <a:srgbClr val="1F2933"/>
                </a:solidFill>
                <a:latin typeface="Calibri"/>
              </a:rPr>
              <a:t>adds</a:t>
            </a:r>
          </a:p>
        </p:txBody>
      </p:sp>
      <p:pic>
        <p:nvPicPr>
          <p:cNvPr id="139" name="Picture 138" descr="lock.png"/>
          <p:cNvPicPr>
            <a:picLocks noChangeAspect="1"/>
          </p:cNvPicPr>
          <p:nvPr/>
        </p:nvPicPr>
        <p:blipFill>
          <a:blip r:embed="rId4"/>
          <a:stretch>
            <a:fillRect/>
          </a:stretch>
        </p:blipFill>
        <p:spPr>
          <a:xfrm>
            <a:off x="3621451" y="5002276"/>
            <a:ext cx="128699" cy="187198"/>
          </a:xfrm>
          <a:prstGeom prst="rect">
            <a:avLst/>
          </a:prstGeom>
        </p:spPr>
      </p:pic>
      <p:sp>
        <p:nvSpPr>
          <p:cNvPr id="140" name="TextBox 139"/>
          <p:cNvSpPr txBox="1"/>
          <p:nvPr/>
        </p:nvSpPr>
        <p:spPr>
          <a:xfrm>
            <a:off x="3788947" y="5012055"/>
            <a:ext cx="1044550" cy="186689"/>
          </a:xfrm>
          <a:prstGeom prst="rect">
            <a:avLst/>
          </a:prstGeom>
          <a:noFill/>
        </p:spPr>
        <p:txBody>
          <a:bodyPr wrap="none" lIns="0" rIns="0" tIns="0" bIns="0">
            <a:spAutoFit/>
          </a:bodyPr>
          <a:lstStyle/>
          <a:p>
            <a:r>
              <a:rPr sz="1100" b="0">
                <a:solidFill>
                  <a:srgbClr val="1F2933"/>
                </a:solidFill>
                <a:latin typeface="Calibri"/>
              </a:rPr>
              <a:t>US$ Mn by 2036.</a:t>
            </a:r>
          </a:p>
        </p:txBody>
      </p:sp>
      <p:sp>
        <p:nvSpPr>
          <p:cNvPr id="141" name="TextBox 140"/>
          <p:cNvSpPr txBox="1"/>
          <p:nvPr/>
        </p:nvSpPr>
        <p:spPr>
          <a:xfrm>
            <a:off x="6343650" y="4676775"/>
            <a:ext cx="2519362" cy="186689"/>
          </a:xfrm>
          <a:prstGeom prst="rect">
            <a:avLst/>
          </a:prstGeom>
          <a:noFill/>
        </p:spPr>
        <p:txBody>
          <a:bodyPr wrap="none" lIns="0" rIns="0" tIns="0" bIns="0">
            <a:spAutoFit/>
          </a:bodyPr>
          <a:lstStyle/>
          <a:p>
            <a:r>
              <a:rPr sz="1100" b="0">
                <a:solidFill>
                  <a:srgbClr val="1F2933"/>
                </a:solidFill>
                <a:latin typeface="Calibri"/>
              </a:rPr>
              <a:t>5 named players compete here; 'Cast Metal</a:t>
            </a:r>
          </a:p>
        </p:txBody>
      </p:sp>
      <p:sp>
        <p:nvSpPr>
          <p:cNvPr id="142" name="TextBox 141"/>
          <p:cNvSpPr txBox="1"/>
          <p:nvPr/>
        </p:nvSpPr>
        <p:spPr>
          <a:xfrm>
            <a:off x="6343650" y="4844415"/>
            <a:ext cx="1326951" cy="186689"/>
          </a:xfrm>
          <a:prstGeom prst="rect">
            <a:avLst/>
          </a:prstGeom>
          <a:noFill/>
        </p:spPr>
        <p:txBody>
          <a:bodyPr wrap="none" lIns="0" rIns="0" tIns="0" bIns="0">
            <a:spAutoFit/>
          </a:bodyPr>
          <a:lstStyle/>
          <a:p>
            <a:r>
              <a:rPr sz="1100" b="0">
                <a:solidFill>
                  <a:srgbClr val="1F2933"/>
                </a:solidFill>
                <a:latin typeface="Calibri"/>
              </a:rPr>
              <a:t>Partial Dentures' adds</a:t>
            </a:r>
          </a:p>
        </p:txBody>
      </p:sp>
      <p:pic>
        <p:nvPicPr>
          <p:cNvPr id="143" name="Picture 142" descr="lock.png"/>
          <p:cNvPicPr>
            <a:picLocks noChangeAspect="1"/>
          </p:cNvPicPr>
          <p:nvPr/>
        </p:nvPicPr>
        <p:blipFill>
          <a:blip r:embed="rId4"/>
          <a:stretch>
            <a:fillRect/>
          </a:stretch>
        </p:blipFill>
        <p:spPr>
          <a:xfrm>
            <a:off x="7618653" y="4834636"/>
            <a:ext cx="128699" cy="187198"/>
          </a:xfrm>
          <a:prstGeom prst="rect">
            <a:avLst/>
          </a:prstGeom>
        </p:spPr>
      </p:pic>
      <p:sp>
        <p:nvSpPr>
          <p:cNvPr id="144" name="TextBox 143"/>
          <p:cNvSpPr txBox="1"/>
          <p:nvPr/>
        </p:nvSpPr>
        <p:spPr>
          <a:xfrm>
            <a:off x="7786148" y="4844415"/>
            <a:ext cx="693935" cy="186689"/>
          </a:xfrm>
          <a:prstGeom prst="rect">
            <a:avLst/>
          </a:prstGeom>
          <a:noFill/>
        </p:spPr>
        <p:txBody>
          <a:bodyPr wrap="none" lIns="0" rIns="0" tIns="0" bIns="0">
            <a:spAutoFit/>
          </a:bodyPr>
          <a:lstStyle/>
          <a:p>
            <a:r>
              <a:rPr sz="1100" b="0">
                <a:solidFill>
                  <a:srgbClr val="1F2933"/>
                </a:solidFill>
                <a:latin typeface="Calibri"/>
              </a:rPr>
              <a:t>US$ Mn by</a:t>
            </a:r>
          </a:p>
        </p:txBody>
      </p:sp>
      <p:sp>
        <p:nvSpPr>
          <p:cNvPr id="145" name="TextBox 144"/>
          <p:cNvSpPr txBox="1"/>
          <p:nvPr/>
        </p:nvSpPr>
        <p:spPr>
          <a:xfrm>
            <a:off x="6343650" y="5012055"/>
            <a:ext cx="395163" cy="186689"/>
          </a:xfrm>
          <a:prstGeom prst="rect">
            <a:avLst/>
          </a:prstGeom>
          <a:noFill/>
        </p:spPr>
        <p:txBody>
          <a:bodyPr wrap="none" lIns="0" rIns="0" tIns="0" bIns="0">
            <a:spAutoFit/>
          </a:bodyPr>
          <a:lstStyle/>
          <a:p>
            <a:r>
              <a:rPr sz="1100" b="0">
                <a:solidFill>
                  <a:srgbClr val="1F2933"/>
                </a:solidFill>
                <a:latin typeface="Calibri"/>
              </a:rPr>
              <a:t>2036.</a:t>
            </a:r>
          </a:p>
        </p:txBody>
      </p:sp>
      <p:sp>
        <p:nvSpPr>
          <p:cNvPr id="146" name="TextBox 145"/>
          <p:cNvSpPr txBox="1"/>
          <p:nvPr/>
        </p:nvSpPr>
        <p:spPr>
          <a:xfrm>
            <a:off x="9358313" y="4676775"/>
            <a:ext cx="1728861" cy="186689"/>
          </a:xfrm>
          <a:prstGeom prst="rect">
            <a:avLst/>
          </a:prstGeom>
          <a:noFill/>
        </p:spPr>
        <p:txBody>
          <a:bodyPr wrap="none" lIns="0" rIns="0" tIns="0" bIns="0">
            <a:spAutoFit/>
          </a:bodyPr>
          <a:lstStyle/>
          <a:p>
            <a:r>
              <a:rPr sz="1100" b="0">
                <a:solidFill>
                  <a:srgbClr val="1F2933"/>
                </a:solidFill>
                <a:latin typeface="Calibri"/>
              </a:rPr>
              <a:t>The top two end uses pay for</a:t>
            </a:r>
          </a:p>
        </p:txBody>
      </p:sp>
      <p:pic>
        <p:nvPicPr>
          <p:cNvPr id="147" name="Picture 146" descr="lock.png"/>
          <p:cNvPicPr>
            <a:picLocks noChangeAspect="1"/>
          </p:cNvPicPr>
          <p:nvPr/>
        </p:nvPicPr>
        <p:blipFill>
          <a:blip r:embed="rId4"/>
          <a:stretch>
            <a:fillRect/>
          </a:stretch>
        </p:blipFill>
        <p:spPr>
          <a:xfrm>
            <a:off x="11035226" y="4666996"/>
            <a:ext cx="128699" cy="187198"/>
          </a:xfrm>
          <a:prstGeom prst="rect">
            <a:avLst/>
          </a:prstGeom>
        </p:spPr>
      </p:pic>
      <p:sp>
        <p:nvSpPr>
          <p:cNvPr id="148" name="TextBox 147"/>
          <p:cNvSpPr txBox="1"/>
          <p:nvPr/>
        </p:nvSpPr>
        <p:spPr>
          <a:xfrm>
            <a:off x="11202722" y="4676775"/>
            <a:ext cx="413990" cy="186689"/>
          </a:xfrm>
          <a:prstGeom prst="rect">
            <a:avLst/>
          </a:prstGeom>
          <a:noFill/>
        </p:spPr>
        <p:txBody>
          <a:bodyPr wrap="none" lIns="0" rIns="0" tIns="0" bIns="0">
            <a:spAutoFit/>
          </a:bodyPr>
          <a:lstStyle/>
          <a:p>
            <a:r>
              <a:rPr sz="1100" b="0">
                <a:solidFill>
                  <a:srgbClr val="1F2933"/>
                </a:solidFill>
                <a:latin typeface="Calibri"/>
              </a:rPr>
              <a:t>of the</a:t>
            </a:r>
          </a:p>
        </p:txBody>
      </p:sp>
      <p:sp>
        <p:nvSpPr>
          <p:cNvPr id="149" name="TextBox 148"/>
          <p:cNvSpPr txBox="1"/>
          <p:nvPr/>
        </p:nvSpPr>
        <p:spPr>
          <a:xfrm>
            <a:off x="9358313" y="4844415"/>
            <a:ext cx="2519361" cy="186689"/>
          </a:xfrm>
          <a:prstGeom prst="rect">
            <a:avLst/>
          </a:prstGeom>
          <a:noFill/>
        </p:spPr>
        <p:txBody>
          <a:bodyPr wrap="none" lIns="0" rIns="0" tIns="0" bIns="0">
            <a:spAutoFit/>
          </a:bodyPr>
          <a:lstStyle/>
          <a:p>
            <a:r>
              <a:rPr sz="1100" b="0">
                <a:solidFill>
                  <a:srgbClr val="1F2933"/>
                </a:solidFill>
                <a:latin typeface="Calibri"/>
              </a:rPr>
              <a:t>market; vendors package for one vertical at</a:t>
            </a:r>
          </a:p>
        </p:txBody>
      </p:sp>
      <p:sp>
        <p:nvSpPr>
          <p:cNvPr id="150" name="TextBox 149"/>
          <p:cNvSpPr txBox="1"/>
          <p:nvPr/>
        </p:nvSpPr>
        <p:spPr>
          <a:xfrm>
            <a:off x="9358313" y="5012055"/>
            <a:ext cx="470197" cy="186689"/>
          </a:xfrm>
          <a:prstGeom prst="rect">
            <a:avLst/>
          </a:prstGeom>
          <a:noFill/>
        </p:spPr>
        <p:txBody>
          <a:bodyPr wrap="none" lIns="0" rIns="0" tIns="0" bIns="0">
            <a:spAutoFit/>
          </a:bodyPr>
          <a:lstStyle/>
          <a:p>
            <a:r>
              <a:rPr sz="1100" b="0">
                <a:solidFill>
                  <a:srgbClr val="1F2933"/>
                </a:solidFill>
                <a:latin typeface="Calibri"/>
              </a:rPr>
              <a:t>a time.</a:t>
            </a:r>
          </a:p>
        </p:txBody>
      </p:sp>
    </p:spTree>
  </p:cSld>
  <p:clrMapOvr>
    <a:masterClrMapping/>
  </p:clrMapOvr>
</p:sld>
</file>

<file path=ppt/slides/slide2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Player Landscape by Business Type and Reach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Named players by business type and geographic reach, with how each group competes</a:t>
            </a:r>
          </a:p>
        </p:txBody>
      </p:sp>
      <p:sp>
        <p:nvSpPr>
          <p:cNvPr id="10" name="Rectangle 9"/>
          <p:cNvSpPr/>
          <p:nvPr/>
        </p:nvSpPr>
        <p:spPr>
          <a:xfrm>
            <a:off x="1638300" y="1047750"/>
            <a:ext cx="3422650" cy="2667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1714500" y="1047750"/>
            <a:ext cx="3308350" cy="266700"/>
          </a:xfrm>
          <a:prstGeom prst="rect">
            <a:avLst/>
          </a:prstGeom>
          <a:noFill/>
        </p:spPr>
        <p:txBody>
          <a:bodyPr wrap="square" lIns="28575" rIns="28575" tIns="9525" bIns="9525" anchor="ctr">
            <a:spAutoFit/>
          </a:bodyPr>
          <a:lstStyle/>
          <a:p>
            <a:pPr algn="l"/>
            <a:r>
              <a:rPr sz="1100" b="1">
                <a:solidFill>
                  <a:srgbClr val="FFFFFF"/>
                </a:solidFill>
                <a:latin typeface="Calibri"/>
              </a:rPr>
              <a:t>Tier 1  (4)</a:t>
            </a:r>
          </a:p>
        </p:txBody>
      </p:sp>
      <p:sp>
        <p:nvSpPr>
          <p:cNvPr id="12" name="Rectangle 11"/>
          <p:cNvSpPr/>
          <p:nvPr/>
        </p:nvSpPr>
        <p:spPr>
          <a:xfrm>
            <a:off x="5099050" y="1047750"/>
            <a:ext cx="3422650" cy="2667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5175250" y="1047750"/>
            <a:ext cx="3308350" cy="266700"/>
          </a:xfrm>
          <a:prstGeom prst="rect">
            <a:avLst/>
          </a:prstGeom>
          <a:noFill/>
        </p:spPr>
        <p:txBody>
          <a:bodyPr wrap="square" lIns="28575" rIns="28575" tIns="9525" bIns="9525" anchor="ctr">
            <a:spAutoFit/>
          </a:bodyPr>
          <a:lstStyle/>
          <a:p>
            <a:pPr algn="l"/>
            <a:r>
              <a:rPr sz="1100" b="1">
                <a:solidFill>
                  <a:srgbClr val="FFFFFF"/>
                </a:solidFill>
                <a:latin typeface="Calibri"/>
              </a:rPr>
              <a:t>Tier 2  (2)</a:t>
            </a:r>
          </a:p>
        </p:txBody>
      </p:sp>
      <p:sp>
        <p:nvSpPr>
          <p:cNvPr id="14" name="Rectangle 13"/>
          <p:cNvSpPr/>
          <p:nvPr/>
        </p:nvSpPr>
        <p:spPr>
          <a:xfrm>
            <a:off x="8559800" y="1047750"/>
            <a:ext cx="3422650" cy="2667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8636000" y="1047750"/>
            <a:ext cx="3308350" cy="266700"/>
          </a:xfrm>
          <a:prstGeom prst="rect">
            <a:avLst/>
          </a:prstGeom>
          <a:noFill/>
        </p:spPr>
        <p:txBody>
          <a:bodyPr wrap="square" lIns="28575" rIns="28575" tIns="9525" bIns="9525" anchor="ctr">
            <a:spAutoFit/>
          </a:bodyPr>
          <a:lstStyle/>
          <a:p>
            <a:pPr algn="l"/>
            <a:r>
              <a:rPr sz="1100" b="1">
                <a:solidFill>
                  <a:srgbClr val="FFFFFF"/>
                </a:solidFill>
                <a:latin typeface="Calibri"/>
              </a:rPr>
              <a:t>Tier 3  (4)</a:t>
            </a:r>
          </a:p>
        </p:txBody>
      </p:sp>
      <p:sp>
        <p:nvSpPr>
          <p:cNvPr id="16" name="TextBox 15"/>
          <p:cNvSpPr txBox="1"/>
          <p:nvPr/>
        </p:nvSpPr>
        <p:spPr>
          <a:xfrm>
            <a:off x="190500" y="1409700"/>
            <a:ext cx="1381125" cy="171450"/>
          </a:xfrm>
          <a:prstGeom prst="rect">
            <a:avLst/>
          </a:prstGeom>
          <a:noFill/>
        </p:spPr>
        <p:txBody>
          <a:bodyPr wrap="square" lIns="28575" rIns="28575" tIns="9525" bIns="9525" anchor="t">
            <a:spAutoFit/>
          </a:bodyPr>
          <a:lstStyle/>
          <a:p>
            <a:pPr algn="l"/>
            <a:r>
              <a:rPr sz="1100" b="1">
                <a:solidFill>
                  <a:srgbClr val="0F2D52"/>
                </a:solidFill>
                <a:latin typeface="Calibri"/>
              </a:rPr>
              <a:t>Global (4)</a:t>
            </a:r>
          </a:p>
        </p:txBody>
      </p:sp>
      <p:sp>
        <p:nvSpPr>
          <p:cNvPr id="17" name="TextBox 16"/>
          <p:cNvSpPr txBox="1"/>
          <p:nvPr/>
        </p:nvSpPr>
        <p:spPr>
          <a:xfrm>
            <a:off x="190500" y="1581150"/>
            <a:ext cx="1333500" cy="3810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Sells in most major regions</a:t>
            </a:r>
          </a:p>
        </p:txBody>
      </p:sp>
      <p:cxnSp>
        <p:nvCxnSpPr>
          <p:cNvPr id="18" name="Connector 17"/>
          <p:cNvCxnSpPr/>
          <p:nvPr/>
        </p:nvCxnSpPr>
        <p:spPr>
          <a:xfrm>
            <a:off x="1647825" y="1390650"/>
            <a:ext cx="0" cy="971550"/>
          </a:xfrm>
          <a:prstGeom prst="line">
            <a:avLst/>
          </a:prstGeom>
          <a:ln w="31750">
            <a:solidFill>
              <a:srgbClr val="1F6FA8"/>
            </a:solidFill>
          </a:ln>
          <a:effectLst/>
        </p:spPr>
        <p:style>
          <a:lnRef idx="2">
            <a:schemeClr val="accent1"/>
          </a:lnRef>
          <a:fillRef idx="0">
            <a:schemeClr val="accent1"/>
          </a:fillRef>
          <a:effectRef idx="1">
            <a:schemeClr val="accent1"/>
          </a:effectRef>
          <a:fontRef idx="minor">
            <a:schemeClr val="tx1"/>
          </a:fontRef>
        </p:style>
      </p:cxnSp>
      <p:sp>
        <p:nvSpPr>
          <p:cNvPr id="19" name="Rectangle 18"/>
          <p:cNvSpPr/>
          <p:nvPr/>
        </p:nvSpPr>
        <p:spPr>
          <a:xfrm>
            <a:off x="1733550" y="1447800"/>
            <a:ext cx="142875" cy="1428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1733550" y="1438275"/>
            <a:ext cx="142875" cy="161925"/>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21" name="TextBox 20"/>
          <p:cNvSpPr txBox="1"/>
          <p:nvPr/>
        </p:nvSpPr>
        <p:spPr>
          <a:xfrm>
            <a:off x="1924050" y="1428750"/>
            <a:ext cx="3079750" cy="171450"/>
          </a:xfrm>
          <a:prstGeom prst="rect">
            <a:avLst/>
          </a:prstGeom>
          <a:noFill/>
        </p:spPr>
        <p:txBody>
          <a:bodyPr wrap="square" lIns="28575" rIns="28575" tIns="9525" bIns="9525" anchor="t">
            <a:spAutoFit/>
          </a:bodyPr>
          <a:lstStyle/>
          <a:p>
            <a:pPr algn="l"/>
            <a:r>
              <a:rPr sz="1100" b="1">
                <a:solidFill>
                  <a:srgbClr val="1F2933"/>
                </a:solidFill>
                <a:latin typeface="Calibri"/>
              </a:rPr>
              <a:t>Dentsply Sirona Inc.</a:t>
            </a:r>
          </a:p>
        </p:txBody>
      </p:sp>
      <p:sp>
        <p:nvSpPr>
          <p:cNvPr id="22" name="Rectangle 21"/>
          <p:cNvSpPr/>
          <p:nvPr/>
        </p:nvSpPr>
        <p:spPr>
          <a:xfrm>
            <a:off x="1733550" y="1638300"/>
            <a:ext cx="142875" cy="1428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1733550" y="1628775"/>
            <a:ext cx="142875" cy="161925"/>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24" name="TextBox 23"/>
          <p:cNvSpPr txBox="1"/>
          <p:nvPr/>
        </p:nvSpPr>
        <p:spPr>
          <a:xfrm>
            <a:off x="1924050" y="1619250"/>
            <a:ext cx="3079750" cy="171450"/>
          </a:xfrm>
          <a:prstGeom prst="rect">
            <a:avLst/>
          </a:prstGeom>
          <a:noFill/>
        </p:spPr>
        <p:txBody>
          <a:bodyPr wrap="square" lIns="28575" rIns="28575" tIns="9525" bIns="9525" anchor="t">
            <a:spAutoFit/>
          </a:bodyPr>
          <a:lstStyle/>
          <a:p>
            <a:pPr algn="l"/>
            <a:r>
              <a:rPr sz="1100" b="1">
                <a:solidFill>
                  <a:srgbClr val="1F2933"/>
                </a:solidFill>
                <a:latin typeface="Calibri"/>
              </a:rPr>
              <a:t>Ivoclar Vivadent AG</a:t>
            </a:r>
          </a:p>
        </p:txBody>
      </p:sp>
      <p:sp>
        <p:nvSpPr>
          <p:cNvPr id="25" name="Rectangle 24"/>
          <p:cNvSpPr/>
          <p:nvPr/>
        </p:nvSpPr>
        <p:spPr>
          <a:xfrm>
            <a:off x="1733550" y="1828800"/>
            <a:ext cx="142875" cy="1428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1733550" y="1819275"/>
            <a:ext cx="142875" cy="161925"/>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27" name="TextBox 26"/>
          <p:cNvSpPr txBox="1"/>
          <p:nvPr/>
        </p:nvSpPr>
        <p:spPr>
          <a:xfrm>
            <a:off x="1924050" y="1809750"/>
            <a:ext cx="3079750" cy="171450"/>
          </a:xfrm>
          <a:prstGeom prst="rect">
            <a:avLst/>
          </a:prstGeom>
          <a:noFill/>
        </p:spPr>
        <p:txBody>
          <a:bodyPr wrap="square" lIns="28575" rIns="28575" tIns="9525" bIns="9525" anchor="t">
            <a:spAutoFit/>
          </a:bodyPr>
          <a:lstStyle/>
          <a:p>
            <a:pPr algn="l"/>
            <a:r>
              <a:rPr sz="1100" b="1">
                <a:solidFill>
                  <a:srgbClr val="1F2933"/>
                </a:solidFill>
                <a:latin typeface="Calibri"/>
              </a:rPr>
              <a:t>Kulzer GmbH</a:t>
            </a:r>
          </a:p>
        </p:txBody>
      </p:sp>
      <p:sp>
        <p:nvSpPr>
          <p:cNvPr id="28" name="Rectangle 27"/>
          <p:cNvSpPr/>
          <p:nvPr/>
        </p:nvSpPr>
        <p:spPr>
          <a:xfrm>
            <a:off x="1733550" y="2019300"/>
            <a:ext cx="142875" cy="1428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1733550" y="2009775"/>
            <a:ext cx="142875" cy="161925"/>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30" name="TextBox 29"/>
          <p:cNvSpPr txBox="1"/>
          <p:nvPr/>
        </p:nvSpPr>
        <p:spPr>
          <a:xfrm>
            <a:off x="1924050" y="2000250"/>
            <a:ext cx="3079750" cy="171450"/>
          </a:xfrm>
          <a:prstGeom prst="rect">
            <a:avLst/>
          </a:prstGeom>
          <a:noFill/>
        </p:spPr>
        <p:txBody>
          <a:bodyPr wrap="square" lIns="28575" rIns="28575" tIns="9525" bIns="9525" anchor="t">
            <a:spAutoFit/>
          </a:bodyPr>
          <a:lstStyle/>
          <a:p>
            <a:pPr algn="l"/>
            <a:r>
              <a:rPr sz="1100" b="1">
                <a:solidFill>
                  <a:srgbClr val="1F2933"/>
                </a:solidFill>
                <a:latin typeface="Calibri"/>
              </a:rPr>
              <a:t>GC Corporation</a:t>
            </a:r>
          </a:p>
        </p:txBody>
      </p:sp>
      <p:cxnSp>
        <p:nvCxnSpPr>
          <p:cNvPr id="31" name="Connector 30"/>
          <p:cNvCxnSpPr/>
          <p:nvPr/>
        </p:nvCxnSpPr>
        <p:spPr>
          <a:xfrm>
            <a:off x="5108575" y="1390650"/>
            <a:ext cx="0" cy="971550"/>
          </a:xfrm>
          <a:prstGeom prst="line">
            <a:avLst/>
          </a:prstGeom>
          <a:ln w="31750">
            <a:solidFill>
              <a:srgbClr val="E07B24"/>
            </a:solidFill>
          </a:ln>
          <a:effectLst/>
        </p:spPr>
        <p:style>
          <a:lnRef idx="2">
            <a:schemeClr val="accent1"/>
          </a:lnRef>
          <a:fillRef idx="0">
            <a:schemeClr val="accent1"/>
          </a:fillRef>
          <a:effectRef idx="1">
            <a:schemeClr val="accent1"/>
          </a:effectRef>
          <a:fontRef idx="minor">
            <a:schemeClr val="tx1"/>
          </a:fontRef>
        </p:style>
      </p:cxnSp>
      <p:cxnSp>
        <p:nvCxnSpPr>
          <p:cNvPr id="32" name="Connector 31"/>
          <p:cNvCxnSpPr/>
          <p:nvPr/>
        </p:nvCxnSpPr>
        <p:spPr>
          <a:xfrm>
            <a:off x="8569325" y="1390650"/>
            <a:ext cx="0" cy="971550"/>
          </a:xfrm>
          <a:prstGeom prst="line">
            <a:avLst/>
          </a:prstGeom>
          <a:ln w="31750">
            <a:solidFill>
              <a:srgbClr val="2E8B57"/>
            </a:solidFill>
          </a:ln>
          <a:effectLst/>
        </p:spPr>
        <p:style>
          <a:lnRef idx="2">
            <a:schemeClr val="accent1"/>
          </a:lnRef>
          <a:fillRef idx="0">
            <a:schemeClr val="accent1"/>
          </a:fillRef>
          <a:effectRef idx="1">
            <a:schemeClr val="accent1"/>
          </a:effectRef>
          <a:fontRef idx="minor">
            <a:schemeClr val="tx1"/>
          </a:fontRef>
        </p:style>
      </p:cxnSp>
      <p:sp>
        <p:nvSpPr>
          <p:cNvPr id="33" name="TextBox 32"/>
          <p:cNvSpPr txBox="1"/>
          <p:nvPr/>
        </p:nvSpPr>
        <p:spPr>
          <a:xfrm>
            <a:off x="190500" y="2438400"/>
            <a:ext cx="1381125" cy="171450"/>
          </a:xfrm>
          <a:prstGeom prst="rect">
            <a:avLst/>
          </a:prstGeom>
          <a:noFill/>
        </p:spPr>
        <p:txBody>
          <a:bodyPr wrap="square" lIns="28575" rIns="28575" tIns="9525" bIns="9525" anchor="t">
            <a:spAutoFit/>
          </a:bodyPr>
          <a:lstStyle/>
          <a:p>
            <a:pPr algn="l"/>
            <a:r>
              <a:rPr sz="1100" b="1">
                <a:solidFill>
                  <a:srgbClr val="0F2D52"/>
                </a:solidFill>
                <a:latin typeface="Calibri"/>
              </a:rPr>
              <a:t>Regional (2)</a:t>
            </a:r>
          </a:p>
        </p:txBody>
      </p:sp>
      <p:sp>
        <p:nvSpPr>
          <p:cNvPr id="34" name="TextBox 33"/>
          <p:cNvSpPr txBox="1"/>
          <p:nvPr/>
        </p:nvSpPr>
        <p:spPr>
          <a:xfrm>
            <a:off x="190500" y="2609850"/>
            <a:ext cx="1333500" cy="3810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Strong in one or two regions</a:t>
            </a:r>
          </a:p>
        </p:txBody>
      </p:sp>
      <p:cxnSp>
        <p:nvCxnSpPr>
          <p:cNvPr id="35" name="Connector 34"/>
          <p:cNvCxnSpPr/>
          <p:nvPr/>
        </p:nvCxnSpPr>
        <p:spPr>
          <a:xfrm>
            <a:off x="190500" y="24003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cxnSp>
        <p:nvCxnSpPr>
          <p:cNvPr id="36" name="Connector 35"/>
          <p:cNvCxnSpPr/>
          <p:nvPr/>
        </p:nvCxnSpPr>
        <p:spPr>
          <a:xfrm>
            <a:off x="1647825" y="2419350"/>
            <a:ext cx="0" cy="971550"/>
          </a:xfrm>
          <a:prstGeom prst="line">
            <a:avLst/>
          </a:prstGeom>
          <a:ln w="31750">
            <a:solidFill>
              <a:srgbClr val="1F6FA8"/>
            </a:solidFill>
          </a:ln>
          <a:effectLst/>
        </p:spPr>
        <p:style>
          <a:lnRef idx="2">
            <a:schemeClr val="accent1"/>
          </a:lnRef>
          <a:fillRef idx="0">
            <a:schemeClr val="accent1"/>
          </a:fillRef>
          <a:effectRef idx="1">
            <a:schemeClr val="accent1"/>
          </a:effectRef>
          <a:fontRef idx="minor">
            <a:schemeClr val="tx1"/>
          </a:fontRef>
        </p:style>
      </p:cxnSp>
      <p:cxnSp>
        <p:nvCxnSpPr>
          <p:cNvPr id="37" name="Connector 36"/>
          <p:cNvCxnSpPr/>
          <p:nvPr/>
        </p:nvCxnSpPr>
        <p:spPr>
          <a:xfrm>
            <a:off x="5108575" y="2419350"/>
            <a:ext cx="0" cy="971550"/>
          </a:xfrm>
          <a:prstGeom prst="line">
            <a:avLst/>
          </a:prstGeom>
          <a:ln w="31750">
            <a:solidFill>
              <a:srgbClr val="E07B24"/>
            </a:solidFill>
          </a:ln>
          <a:effectLst/>
        </p:spPr>
        <p:style>
          <a:lnRef idx="2">
            <a:schemeClr val="accent1"/>
          </a:lnRef>
          <a:fillRef idx="0">
            <a:schemeClr val="accent1"/>
          </a:fillRef>
          <a:effectRef idx="1">
            <a:schemeClr val="accent1"/>
          </a:effectRef>
          <a:fontRef idx="minor">
            <a:schemeClr val="tx1"/>
          </a:fontRef>
        </p:style>
      </p:cxnSp>
      <p:sp>
        <p:nvSpPr>
          <p:cNvPr id="38" name="Rectangle 37"/>
          <p:cNvSpPr/>
          <p:nvPr/>
        </p:nvSpPr>
        <p:spPr>
          <a:xfrm>
            <a:off x="5194300" y="2476500"/>
            <a:ext cx="142875" cy="14287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5194300" y="2466975"/>
            <a:ext cx="142875" cy="161925"/>
          </a:xfrm>
          <a:prstGeom prst="rect">
            <a:avLst/>
          </a:prstGeom>
          <a:noFill/>
        </p:spPr>
        <p:txBody>
          <a:bodyPr wrap="none" lIns="0" rIns="0" tIns="0" bIns="0" anchor="ctr">
            <a:spAutoFit/>
          </a:bodyPr>
          <a:lstStyle/>
          <a:p>
            <a:pPr algn="ctr"/>
            <a:r>
              <a:rPr sz="1100" b="1">
                <a:solidFill>
                  <a:srgbClr val="FFFFFF"/>
                </a:solidFill>
                <a:latin typeface="Calibri"/>
              </a:rPr>
              <a:t>2</a:t>
            </a:r>
          </a:p>
        </p:txBody>
      </p:sp>
      <p:sp>
        <p:nvSpPr>
          <p:cNvPr id="40" name="TextBox 39"/>
          <p:cNvSpPr txBox="1"/>
          <p:nvPr/>
        </p:nvSpPr>
        <p:spPr>
          <a:xfrm>
            <a:off x="5384800" y="24574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SHOFU INC.</a:t>
            </a:r>
          </a:p>
        </p:txBody>
      </p:sp>
      <p:sp>
        <p:nvSpPr>
          <p:cNvPr id="41" name="Rectangle 40"/>
          <p:cNvSpPr/>
          <p:nvPr/>
        </p:nvSpPr>
        <p:spPr>
          <a:xfrm>
            <a:off x="5194300" y="2667000"/>
            <a:ext cx="142875" cy="14287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5194300" y="2657475"/>
            <a:ext cx="142875" cy="161925"/>
          </a:xfrm>
          <a:prstGeom prst="rect">
            <a:avLst/>
          </a:prstGeom>
          <a:noFill/>
        </p:spPr>
        <p:txBody>
          <a:bodyPr wrap="none" lIns="0" rIns="0" tIns="0" bIns="0" anchor="ctr">
            <a:spAutoFit/>
          </a:bodyPr>
          <a:lstStyle/>
          <a:p>
            <a:pPr algn="ctr"/>
            <a:r>
              <a:rPr sz="1100" b="1">
                <a:solidFill>
                  <a:srgbClr val="FFFFFF"/>
                </a:solidFill>
                <a:latin typeface="Calibri"/>
              </a:rPr>
              <a:t>2</a:t>
            </a:r>
          </a:p>
        </p:txBody>
      </p:sp>
      <p:sp>
        <p:nvSpPr>
          <p:cNvPr id="43" name="TextBox 42"/>
          <p:cNvSpPr txBox="1"/>
          <p:nvPr/>
        </p:nvSpPr>
        <p:spPr>
          <a:xfrm>
            <a:off x="5384800" y="26479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VITA Zahnfabrik H. Rauter GmbH &amp; Co. KG</a:t>
            </a:r>
          </a:p>
        </p:txBody>
      </p:sp>
      <p:cxnSp>
        <p:nvCxnSpPr>
          <p:cNvPr id="44" name="Connector 43"/>
          <p:cNvCxnSpPr/>
          <p:nvPr/>
        </p:nvCxnSpPr>
        <p:spPr>
          <a:xfrm>
            <a:off x="8569325" y="2419350"/>
            <a:ext cx="0" cy="971550"/>
          </a:xfrm>
          <a:prstGeom prst="line">
            <a:avLst/>
          </a:prstGeom>
          <a:ln w="31750">
            <a:solidFill>
              <a:srgbClr val="2E8B57"/>
            </a:solidFill>
          </a:ln>
          <a:effectLst/>
        </p:spPr>
        <p:style>
          <a:lnRef idx="2">
            <a:schemeClr val="accent1"/>
          </a:lnRef>
          <a:fillRef idx="0">
            <a:schemeClr val="accent1"/>
          </a:fillRef>
          <a:effectRef idx="1">
            <a:schemeClr val="accent1"/>
          </a:effectRef>
          <a:fontRef idx="minor">
            <a:schemeClr val="tx1"/>
          </a:fontRef>
        </p:style>
      </p:cxnSp>
      <p:sp>
        <p:nvSpPr>
          <p:cNvPr id="45" name="TextBox 44"/>
          <p:cNvSpPr txBox="1"/>
          <p:nvPr/>
        </p:nvSpPr>
        <p:spPr>
          <a:xfrm>
            <a:off x="190500" y="3467100"/>
            <a:ext cx="1381125" cy="171450"/>
          </a:xfrm>
          <a:prstGeom prst="rect">
            <a:avLst/>
          </a:prstGeom>
          <a:noFill/>
        </p:spPr>
        <p:txBody>
          <a:bodyPr wrap="square" lIns="28575" rIns="28575" tIns="9525" bIns="9525" anchor="t">
            <a:spAutoFit/>
          </a:bodyPr>
          <a:lstStyle/>
          <a:p>
            <a:pPr algn="l"/>
            <a:r>
              <a:rPr sz="1100" b="1">
                <a:solidFill>
                  <a:srgbClr val="0F2D52"/>
                </a:solidFill>
                <a:latin typeface="Calibri"/>
              </a:rPr>
              <a:t>Local or niche (4)</a:t>
            </a:r>
          </a:p>
        </p:txBody>
      </p:sp>
      <p:sp>
        <p:nvSpPr>
          <p:cNvPr id="46" name="TextBox 45"/>
          <p:cNvSpPr txBox="1"/>
          <p:nvPr/>
        </p:nvSpPr>
        <p:spPr>
          <a:xfrm>
            <a:off x="190500" y="3638550"/>
            <a:ext cx="1333500" cy="3810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One market or one specialist use</a:t>
            </a:r>
          </a:p>
        </p:txBody>
      </p:sp>
      <p:cxnSp>
        <p:nvCxnSpPr>
          <p:cNvPr id="47" name="Connector 46"/>
          <p:cNvCxnSpPr/>
          <p:nvPr/>
        </p:nvCxnSpPr>
        <p:spPr>
          <a:xfrm>
            <a:off x="190500" y="34290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cxnSp>
        <p:nvCxnSpPr>
          <p:cNvPr id="48" name="Connector 47"/>
          <p:cNvCxnSpPr/>
          <p:nvPr/>
        </p:nvCxnSpPr>
        <p:spPr>
          <a:xfrm>
            <a:off x="1647825" y="3448050"/>
            <a:ext cx="0" cy="971550"/>
          </a:xfrm>
          <a:prstGeom prst="line">
            <a:avLst/>
          </a:prstGeom>
          <a:ln w="31750">
            <a:solidFill>
              <a:srgbClr val="1F6FA8"/>
            </a:solidFill>
          </a:ln>
          <a:effectLst/>
        </p:spPr>
        <p:style>
          <a:lnRef idx="2">
            <a:schemeClr val="accent1"/>
          </a:lnRef>
          <a:fillRef idx="0">
            <a:schemeClr val="accent1"/>
          </a:fillRef>
          <a:effectRef idx="1">
            <a:schemeClr val="accent1"/>
          </a:effectRef>
          <a:fontRef idx="minor">
            <a:schemeClr val="tx1"/>
          </a:fontRef>
        </p:style>
      </p:cxnSp>
      <p:cxnSp>
        <p:nvCxnSpPr>
          <p:cNvPr id="49" name="Connector 48"/>
          <p:cNvCxnSpPr/>
          <p:nvPr/>
        </p:nvCxnSpPr>
        <p:spPr>
          <a:xfrm>
            <a:off x="5108575" y="3448050"/>
            <a:ext cx="0" cy="971550"/>
          </a:xfrm>
          <a:prstGeom prst="line">
            <a:avLst/>
          </a:prstGeom>
          <a:ln w="31750">
            <a:solidFill>
              <a:srgbClr val="E07B24"/>
            </a:solidFill>
          </a:ln>
          <a:effectLst/>
        </p:spPr>
        <p:style>
          <a:lnRef idx="2">
            <a:schemeClr val="accent1"/>
          </a:lnRef>
          <a:fillRef idx="0">
            <a:schemeClr val="accent1"/>
          </a:fillRef>
          <a:effectRef idx="1">
            <a:schemeClr val="accent1"/>
          </a:effectRef>
          <a:fontRef idx="minor">
            <a:schemeClr val="tx1"/>
          </a:fontRef>
        </p:style>
      </p:cxnSp>
      <p:cxnSp>
        <p:nvCxnSpPr>
          <p:cNvPr id="50" name="Connector 49"/>
          <p:cNvCxnSpPr/>
          <p:nvPr/>
        </p:nvCxnSpPr>
        <p:spPr>
          <a:xfrm>
            <a:off x="8569325" y="3448050"/>
            <a:ext cx="0" cy="971550"/>
          </a:xfrm>
          <a:prstGeom prst="line">
            <a:avLst/>
          </a:prstGeom>
          <a:ln w="31750">
            <a:solidFill>
              <a:srgbClr val="2E8B57"/>
            </a:solidFill>
          </a:ln>
          <a:effectLst/>
        </p:spPr>
        <p:style>
          <a:lnRef idx="2">
            <a:schemeClr val="accent1"/>
          </a:lnRef>
          <a:fillRef idx="0">
            <a:schemeClr val="accent1"/>
          </a:fillRef>
          <a:effectRef idx="1">
            <a:schemeClr val="accent1"/>
          </a:effectRef>
          <a:fontRef idx="minor">
            <a:schemeClr val="tx1"/>
          </a:fontRef>
        </p:style>
      </p:cxnSp>
      <p:sp>
        <p:nvSpPr>
          <p:cNvPr id="51" name="Rectangle 50"/>
          <p:cNvSpPr/>
          <p:nvPr/>
        </p:nvSpPr>
        <p:spPr>
          <a:xfrm>
            <a:off x="8655050" y="3505200"/>
            <a:ext cx="142875" cy="14287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655050" y="3495675"/>
            <a:ext cx="142875" cy="161925"/>
          </a:xfrm>
          <a:prstGeom prst="rect">
            <a:avLst/>
          </a:prstGeom>
          <a:noFill/>
        </p:spPr>
        <p:txBody>
          <a:bodyPr wrap="none" lIns="0" rIns="0" tIns="0" bIns="0" anchor="ctr">
            <a:spAutoFit/>
          </a:bodyPr>
          <a:lstStyle/>
          <a:p>
            <a:pPr algn="ctr"/>
            <a:r>
              <a:rPr sz="1100" b="1">
                <a:solidFill>
                  <a:srgbClr val="0F2D52"/>
                </a:solidFill>
                <a:latin typeface="Calibri"/>
              </a:rPr>
              <a:t>3</a:t>
            </a:r>
          </a:p>
        </p:txBody>
      </p:sp>
      <p:sp>
        <p:nvSpPr>
          <p:cNvPr id="53" name="TextBox 52"/>
          <p:cNvSpPr txBox="1"/>
          <p:nvPr/>
        </p:nvSpPr>
        <p:spPr>
          <a:xfrm>
            <a:off x="8845550" y="34861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Zhermack S.p.A.</a:t>
            </a:r>
          </a:p>
        </p:txBody>
      </p:sp>
      <p:sp>
        <p:nvSpPr>
          <p:cNvPr id="54" name="Rectangle 53"/>
          <p:cNvSpPr/>
          <p:nvPr/>
        </p:nvSpPr>
        <p:spPr>
          <a:xfrm>
            <a:off x="8655050" y="3695700"/>
            <a:ext cx="142875" cy="14287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8655050" y="3686175"/>
            <a:ext cx="142875" cy="161925"/>
          </a:xfrm>
          <a:prstGeom prst="rect">
            <a:avLst/>
          </a:prstGeom>
          <a:noFill/>
        </p:spPr>
        <p:txBody>
          <a:bodyPr wrap="none" lIns="0" rIns="0" tIns="0" bIns="0" anchor="ctr">
            <a:spAutoFit/>
          </a:bodyPr>
          <a:lstStyle/>
          <a:p>
            <a:pPr algn="ctr"/>
            <a:r>
              <a:rPr sz="1100" b="1">
                <a:solidFill>
                  <a:srgbClr val="0F2D52"/>
                </a:solidFill>
                <a:latin typeface="Calibri"/>
              </a:rPr>
              <a:t>3</a:t>
            </a:r>
          </a:p>
        </p:txBody>
      </p:sp>
      <p:sp>
        <p:nvSpPr>
          <p:cNvPr id="56" name="TextBox 55"/>
          <p:cNvSpPr txBox="1"/>
          <p:nvPr/>
        </p:nvSpPr>
        <p:spPr>
          <a:xfrm>
            <a:off x="8845550" y="36766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DETAX GmbH</a:t>
            </a:r>
          </a:p>
        </p:txBody>
      </p:sp>
      <p:sp>
        <p:nvSpPr>
          <p:cNvPr id="57" name="Rectangle 56"/>
          <p:cNvSpPr/>
          <p:nvPr/>
        </p:nvSpPr>
        <p:spPr>
          <a:xfrm>
            <a:off x="8655050" y="3886200"/>
            <a:ext cx="142875" cy="14287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8655050" y="3876675"/>
            <a:ext cx="142875" cy="161925"/>
          </a:xfrm>
          <a:prstGeom prst="rect">
            <a:avLst/>
          </a:prstGeom>
          <a:noFill/>
        </p:spPr>
        <p:txBody>
          <a:bodyPr wrap="none" lIns="0" rIns="0" tIns="0" bIns="0" anchor="ctr">
            <a:spAutoFit/>
          </a:bodyPr>
          <a:lstStyle/>
          <a:p>
            <a:pPr algn="ctr"/>
            <a:r>
              <a:rPr sz="1100" b="1">
                <a:solidFill>
                  <a:srgbClr val="0F2D52"/>
                </a:solidFill>
                <a:latin typeface="Calibri"/>
              </a:rPr>
              <a:t>3</a:t>
            </a:r>
          </a:p>
        </p:txBody>
      </p:sp>
      <p:sp>
        <p:nvSpPr>
          <p:cNvPr id="59" name="TextBox 58"/>
          <p:cNvSpPr txBox="1"/>
          <p:nvPr/>
        </p:nvSpPr>
        <p:spPr>
          <a:xfrm>
            <a:off x="8845550" y="38671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Candulor AG</a:t>
            </a:r>
          </a:p>
        </p:txBody>
      </p:sp>
      <p:sp>
        <p:nvSpPr>
          <p:cNvPr id="60" name="Rectangle 59"/>
          <p:cNvSpPr/>
          <p:nvPr/>
        </p:nvSpPr>
        <p:spPr>
          <a:xfrm>
            <a:off x="8655050" y="4076700"/>
            <a:ext cx="142875" cy="14287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655050" y="4067175"/>
            <a:ext cx="142875" cy="161925"/>
          </a:xfrm>
          <a:prstGeom prst="rect">
            <a:avLst/>
          </a:prstGeom>
          <a:noFill/>
        </p:spPr>
        <p:txBody>
          <a:bodyPr wrap="none" lIns="0" rIns="0" tIns="0" bIns="0" anchor="ctr">
            <a:spAutoFit/>
          </a:bodyPr>
          <a:lstStyle/>
          <a:p>
            <a:pPr algn="ctr"/>
            <a:r>
              <a:rPr sz="1100" b="1">
                <a:solidFill>
                  <a:srgbClr val="0F2D52"/>
                </a:solidFill>
                <a:latin typeface="Calibri"/>
              </a:rPr>
              <a:t>3</a:t>
            </a:r>
          </a:p>
        </p:txBody>
      </p:sp>
      <p:sp>
        <p:nvSpPr>
          <p:cNvPr id="62" name="TextBox 61"/>
          <p:cNvSpPr txBox="1"/>
          <p:nvPr/>
        </p:nvSpPr>
        <p:spPr>
          <a:xfrm>
            <a:off x="8845550" y="40576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Ruthinium Dental Manufacturing S.p.A.</a:t>
            </a:r>
          </a:p>
        </p:txBody>
      </p:sp>
      <p:sp>
        <p:nvSpPr>
          <p:cNvPr id="63" name="Rectangle 62"/>
          <p:cNvSpPr/>
          <p:nvPr/>
        </p:nvSpPr>
        <p:spPr>
          <a:xfrm>
            <a:off x="190500" y="4524375"/>
            <a:ext cx="123825" cy="1238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361950" y="4476750"/>
            <a:ext cx="476250" cy="209550"/>
          </a:xfrm>
          <a:prstGeom prst="rect">
            <a:avLst/>
          </a:prstGeom>
          <a:noFill/>
        </p:spPr>
        <p:txBody>
          <a:bodyPr wrap="square" lIns="28575" rIns="28575" tIns="9525" bIns="9525" anchor="ctr">
            <a:spAutoFit/>
          </a:bodyPr>
          <a:lstStyle/>
          <a:p>
            <a:pPr algn="l"/>
            <a:r>
              <a:rPr sz="1100" b="0">
                <a:solidFill>
                  <a:srgbClr val="1F2933"/>
                </a:solidFill>
                <a:latin typeface="Calibri"/>
              </a:rPr>
              <a:t>Tier 1</a:t>
            </a:r>
          </a:p>
        </p:txBody>
      </p:sp>
      <p:sp>
        <p:nvSpPr>
          <p:cNvPr id="65" name="TextBox 64"/>
          <p:cNvSpPr txBox="1"/>
          <p:nvPr/>
        </p:nvSpPr>
        <p:spPr>
          <a:xfrm>
            <a:off x="819150" y="4476750"/>
            <a:ext cx="609600" cy="209550"/>
          </a:xfrm>
          <a:prstGeom prst="rect">
            <a:avLst/>
          </a:prstGeom>
          <a:noFill/>
        </p:spPr>
        <p:txBody>
          <a:bodyPr wrap="square" lIns="28575" rIns="28575" tIns="9525" bIns="9525" anchor="ctr">
            <a:spAutoFit/>
          </a:bodyPr>
          <a:lstStyle/>
          <a:p>
            <a:pPr algn="l"/>
            <a:r>
              <a:rPr sz="1100" b="1">
                <a:solidFill>
                  <a:srgbClr val="1F2933"/>
                </a:solidFill>
                <a:latin typeface="Calibri"/>
              </a:rPr>
              <a:t> </a:t>
            </a:r>
          </a:p>
        </p:txBody>
      </p:sp>
      <p:sp>
        <p:nvSpPr>
          <p:cNvPr id="66" name="TextBox 65"/>
          <p:cNvSpPr txBox="1"/>
          <p:nvPr/>
        </p:nvSpPr>
        <p:spPr>
          <a:xfrm>
            <a:off x="1447800" y="4476750"/>
            <a:ext cx="1238250" cy="209550"/>
          </a:xfrm>
          <a:prstGeom prst="rect">
            <a:avLst/>
          </a:prstGeom>
          <a:noFill/>
        </p:spPr>
        <p:txBody>
          <a:bodyPr wrap="square" lIns="28575" rIns="28575" tIns="9525" bIns="9525" anchor="ctr">
            <a:spAutoFit/>
          </a:bodyPr>
          <a:lstStyle/>
          <a:p>
            <a:pPr algn="l"/>
            <a:r>
              <a:rPr sz="1100" b="0">
                <a:solidFill>
                  <a:srgbClr val="1F2933"/>
                </a:solidFill>
                <a:latin typeface="Calibri"/>
              </a:rPr>
              <a:t>combined share</a:t>
            </a:r>
          </a:p>
        </p:txBody>
      </p:sp>
      <p:sp>
        <p:nvSpPr>
          <p:cNvPr id="67" name="Rectangle 66"/>
          <p:cNvSpPr/>
          <p:nvPr/>
        </p:nvSpPr>
        <p:spPr>
          <a:xfrm>
            <a:off x="2952750" y="4524375"/>
            <a:ext cx="123825" cy="12382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3124200" y="4476750"/>
            <a:ext cx="476250" cy="209550"/>
          </a:xfrm>
          <a:prstGeom prst="rect">
            <a:avLst/>
          </a:prstGeom>
          <a:noFill/>
        </p:spPr>
        <p:txBody>
          <a:bodyPr wrap="square" lIns="28575" rIns="28575" tIns="9525" bIns="9525" anchor="ctr">
            <a:spAutoFit/>
          </a:bodyPr>
          <a:lstStyle/>
          <a:p>
            <a:pPr algn="l"/>
            <a:r>
              <a:rPr sz="1100" b="0">
                <a:solidFill>
                  <a:srgbClr val="1F2933"/>
                </a:solidFill>
                <a:latin typeface="Calibri"/>
              </a:rPr>
              <a:t>Tier 2</a:t>
            </a:r>
          </a:p>
        </p:txBody>
      </p:sp>
      <p:sp>
        <p:nvSpPr>
          <p:cNvPr id="69" name="TextBox 68"/>
          <p:cNvSpPr txBox="1"/>
          <p:nvPr/>
        </p:nvSpPr>
        <p:spPr>
          <a:xfrm>
            <a:off x="3581400" y="4476750"/>
            <a:ext cx="609600" cy="209550"/>
          </a:xfrm>
          <a:prstGeom prst="rect">
            <a:avLst/>
          </a:prstGeom>
          <a:noFill/>
        </p:spPr>
        <p:txBody>
          <a:bodyPr wrap="square" lIns="28575" rIns="28575" tIns="9525" bIns="9525" anchor="ctr">
            <a:spAutoFit/>
          </a:bodyPr>
          <a:lstStyle/>
          <a:p>
            <a:pPr algn="l"/>
            <a:r>
              <a:rPr sz="1100" b="1">
                <a:solidFill>
                  <a:srgbClr val="1F2933"/>
                </a:solidFill>
                <a:latin typeface="Calibri"/>
              </a:rPr>
              <a:t> </a:t>
            </a:r>
          </a:p>
        </p:txBody>
      </p:sp>
      <p:sp>
        <p:nvSpPr>
          <p:cNvPr id="70" name="TextBox 69"/>
          <p:cNvSpPr txBox="1"/>
          <p:nvPr/>
        </p:nvSpPr>
        <p:spPr>
          <a:xfrm>
            <a:off x="4210050" y="4476750"/>
            <a:ext cx="1238250" cy="209550"/>
          </a:xfrm>
          <a:prstGeom prst="rect">
            <a:avLst/>
          </a:prstGeom>
          <a:noFill/>
        </p:spPr>
        <p:txBody>
          <a:bodyPr wrap="square" lIns="28575" rIns="28575" tIns="9525" bIns="9525" anchor="ctr">
            <a:spAutoFit/>
          </a:bodyPr>
          <a:lstStyle/>
          <a:p>
            <a:pPr algn="l"/>
            <a:r>
              <a:rPr sz="1100" b="0">
                <a:solidFill>
                  <a:srgbClr val="1F2933"/>
                </a:solidFill>
                <a:latin typeface="Calibri"/>
              </a:rPr>
              <a:t>combined share</a:t>
            </a:r>
          </a:p>
        </p:txBody>
      </p:sp>
      <p:sp>
        <p:nvSpPr>
          <p:cNvPr id="71" name="Rectangle 70"/>
          <p:cNvSpPr/>
          <p:nvPr/>
        </p:nvSpPr>
        <p:spPr>
          <a:xfrm>
            <a:off x="5715000" y="4524375"/>
            <a:ext cx="123825" cy="12382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TextBox 71"/>
          <p:cNvSpPr txBox="1"/>
          <p:nvPr/>
        </p:nvSpPr>
        <p:spPr>
          <a:xfrm>
            <a:off x="5886450" y="4476750"/>
            <a:ext cx="476250" cy="209550"/>
          </a:xfrm>
          <a:prstGeom prst="rect">
            <a:avLst/>
          </a:prstGeom>
          <a:noFill/>
        </p:spPr>
        <p:txBody>
          <a:bodyPr wrap="square" lIns="28575" rIns="28575" tIns="9525" bIns="9525" anchor="ctr">
            <a:spAutoFit/>
          </a:bodyPr>
          <a:lstStyle/>
          <a:p>
            <a:pPr algn="l"/>
            <a:r>
              <a:rPr sz="1100" b="0">
                <a:solidFill>
                  <a:srgbClr val="1F2933"/>
                </a:solidFill>
                <a:latin typeface="Calibri"/>
              </a:rPr>
              <a:t>Tier 3</a:t>
            </a:r>
          </a:p>
        </p:txBody>
      </p:sp>
      <p:sp>
        <p:nvSpPr>
          <p:cNvPr id="73" name="TextBox 72"/>
          <p:cNvSpPr txBox="1"/>
          <p:nvPr/>
        </p:nvSpPr>
        <p:spPr>
          <a:xfrm>
            <a:off x="6343650" y="4476750"/>
            <a:ext cx="609600" cy="209550"/>
          </a:xfrm>
          <a:prstGeom prst="rect">
            <a:avLst/>
          </a:prstGeom>
          <a:noFill/>
        </p:spPr>
        <p:txBody>
          <a:bodyPr wrap="square" lIns="28575" rIns="28575" tIns="9525" bIns="9525" anchor="ctr">
            <a:spAutoFit/>
          </a:bodyPr>
          <a:lstStyle/>
          <a:p>
            <a:pPr algn="l"/>
            <a:r>
              <a:rPr sz="1100" b="1">
                <a:solidFill>
                  <a:srgbClr val="1F2933"/>
                </a:solidFill>
                <a:latin typeface="Calibri"/>
              </a:rPr>
              <a:t> </a:t>
            </a:r>
          </a:p>
        </p:txBody>
      </p:sp>
      <p:sp>
        <p:nvSpPr>
          <p:cNvPr id="74" name="TextBox 73"/>
          <p:cNvSpPr txBox="1"/>
          <p:nvPr/>
        </p:nvSpPr>
        <p:spPr>
          <a:xfrm>
            <a:off x="6972300" y="4476750"/>
            <a:ext cx="1238250" cy="209550"/>
          </a:xfrm>
          <a:prstGeom prst="rect">
            <a:avLst/>
          </a:prstGeom>
          <a:noFill/>
        </p:spPr>
        <p:txBody>
          <a:bodyPr wrap="square" lIns="28575" rIns="28575" tIns="9525" bIns="9525" anchor="ctr">
            <a:spAutoFit/>
          </a:bodyPr>
          <a:lstStyle/>
          <a:p>
            <a:pPr algn="l"/>
            <a:r>
              <a:rPr sz="1100" b="0">
                <a:solidFill>
                  <a:srgbClr val="1F2933"/>
                </a:solidFill>
                <a:latin typeface="Calibri"/>
              </a:rPr>
              <a:t>combined share</a:t>
            </a:r>
          </a:p>
        </p:txBody>
      </p:sp>
      <p:sp>
        <p:nvSpPr>
          <p:cNvPr id="75" name="TextBox 74"/>
          <p:cNvSpPr txBox="1"/>
          <p:nvPr/>
        </p:nvSpPr>
        <p:spPr>
          <a:xfrm>
            <a:off x="190500" y="4705350"/>
            <a:ext cx="11811000" cy="171450"/>
          </a:xfrm>
          <a:prstGeom prst="rect">
            <a:avLst/>
          </a:prstGeom>
          <a:noFill/>
        </p:spPr>
        <p:txBody>
          <a:bodyPr wrap="square" lIns="28575" rIns="28575" tIns="9525" bIns="9525" anchor="t">
            <a:spAutoFit/>
          </a:bodyPr>
          <a:lstStyle/>
          <a:p>
            <a:pPr algn="l"/>
            <a:r>
              <a:rPr sz="1100" b="0">
                <a:solidFill>
                  <a:srgbClr val="1F2933"/>
                </a:solidFill>
                <a:latin typeface="Calibri"/>
              </a:rPr>
              <a:t>BY TYPE   Tier 1 4   |   Tier 2 2   |   Tier 3 4      BY REACH   Global 4   |   Regional 2   |   Local or niche 4</a:t>
            </a:r>
          </a:p>
        </p:txBody>
      </p:sp>
      <p:sp>
        <p:nvSpPr>
          <p:cNvPr id="76" name="Rectangle 75"/>
          <p:cNvSpPr/>
          <p:nvPr/>
        </p:nvSpPr>
        <p:spPr>
          <a:xfrm>
            <a:off x="190500" y="4972050"/>
            <a:ext cx="2809875" cy="38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190500" y="5048250"/>
            <a:ext cx="2809875" cy="171450"/>
          </a:xfrm>
          <a:prstGeom prst="rect">
            <a:avLst/>
          </a:prstGeom>
          <a:noFill/>
        </p:spPr>
        <p:txBody>
          <a:bodyPr wrap="square" lIns="28575" rIns="28575" tIns="9525" bIns="9525" anchor="t">
            <a:spAutoFit/>
          </a:bodyPr>
          <a:lstStyle/>
          <a:p>
            <a:pPr algn="l"/>
            <a:r>
              <a:rPr sz="1100" b="1">
                <a:solidFill>
                  <a:srgbClr val="1F2933"/>
                </a:solidFill>
                <a:latin typeface="Calibri"/>
              </a:rPr>
              <a:t>Tier 1</a:t>
            </a:r>
          </a:p>
        </p:txBody>
      </p:sp>
      <p:sp>
        <p:nvSpPr>
          <p:cNvPr id="78" name="TextBox 77"/>
          <p:cNvSpPr txBox="1"/>
          <p:nvPr/>
        </p:nvSpPr>
        <p:spPr>
          <a:xfrm>
            <a:off x="190500" y="52197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HOW IT EARNS</a:t>
            </a:r>
          </a:p>
        </p:txBody>
      </p:sp>
      <p:sp>
        <p:nvSpPr>
          <p:cNvPr id="79" name="TextBox 78"/>
          <p:cNvSpPr txBox="1"/>
          <p:nvPr/>
        </p:nvSpPr>
        <p:spPr>
          <a:xfrm>
            <a:off x="190500" y="53721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Direct + key accounts; premium / bundled positioning.</a:t>
            </a:r>
          </a:p>
        </p:txBody>
      </p:sp>
      <p:sp>
        <p:nvSpPr>
          <p:cNvPr id="80" name="TextBox 79"/>
          <p:cNvSpPr txBox="1"/>
          <p:nvPr/>
        </p:nvSpPr>
        <p:spPr>
          <a:xfrm>
            <a:off x="190500" y="57150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DOMINANT STRATEGY</a:t>
            </a:r>
          </a:p>
        </p:txBody>
      </p:sp>
      <p:sp>
        <p:nvSpPr>
          <p:cNvPr id="81" name="TextBox 80"/>
          <p:cNvSpPr txBox="1"/>
          <p:nvPr/>
        </p:nvSpPr>
        <p:spPr>
          <a:xfrm>
            <a:off x="190500" y="58674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82" name="Rectangle 81"/>
          <p:cNvSpPr/>
          <p:nvPr/>
        </p:nvSpPr>
        <p:spPr>
          <a:xfrm>
            <a:off x="3190875" y="4972050"/>
            <a:ext cx="2809875" cy="381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TextBox 82"/>
          <p:cNvSpPr txBox="1"/>
          <p:nvPr/>
        </p:nvSpPr>
        <p:spPr>
          <a:xfrm>
            <a:off x="3190875" y="5048250"/>
            <a:ext cx="2809875" cy="171450"/>
          </a:xfrm>
          <a:prstGeom prst="rect">
            <a:avLst/>
          </a:prstGeom>
          <a:noFill/>
        </p:spPr>
        <p:txBody>
          <a:bodyPr wrap="square" lIns="28575" rIns="28575" tIns="9525" bIns="9525" anchor="t">
            <a:spAutoFit/>
          </a:bodyPr>
          <a:lstStyle/>
          <a:p>
            <a:pPr algn="l"/>
            <a:r>
              <a:rPr sz="1100" b="1">
                <a:solidFill>
                  <a:srgbClr val="1F2933"/>
                </a:solidFill>
                <a:latin typeface="Calibri"/>
              </a:rPr>
              <a:t>Tier 2</a:t>
            </a:r>
          </a:p>
        </p:txBody>
      </p:sp>
      <p:sp>
        <p:nvSpPr>
          <p:cNvPr id="84" name="TextBox 83"/>
          <p:cNvSpPr txBox="1"/>
          <p:nvPr/>
        </p:nvSpPr>
        <p:spPr>
          <a:xfrm>
            <a:off x="3190875" y="52197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HOW IT EARNS</a:t>
            </a:r>
          </a:p>
        </p:txBody>
      </p:sp>
      <p:sp>
        <p:nvSpPr>
          <p:cNvPr id="85" name="TextBox 84"/>
          <p:cNvSpPr txBox="1"/>
          <p:nvPr/>
        </p:nvSpPr>
        <p:spPr>
          <a:xfrm>
            <a:off x="3190875" y="53721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Distributors; mid / value-added positioning.</a:t>
            </a:r>
          </a:p>
        </p:txBody>
      </p:sp>
      <p:sp>
        <p:nvSpPr>
          <p:cNvPr id="86" name="TextBox 85"/>
          <p:cNvSpPr txBox="1"/>
          <p:nvPr/>
        </p:nvSpPr>
        <p:spPr>
          <a:xfrm>
            <a:off x="3190875" y="57150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DOMINANT STRATEGY</a:t>
            </a:r>
          </a:p>
        </p:txBody>
      </p:sp>
      <p:sp>
        <p:nvSpPr>
          <p:cNvPr id="87" name="TextBox 86"/>
          <p:cNvSpPr txBox="1"/>
          <p:nvPr/>
        </p:nvSpPr>
        <p:spPr>
          <a:xfrm>
            <a:off x="3190875" y="58674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88" name="Rectangle 87"/>
          <p:cNvSpPr/>
          <p:nvPr/>
        </p:nvSpPr>
        <p:spPr>
          <a:xfrm>
            <a:off x="6191250" y="4972050"/>
            <a:ext cx="2809875" cy="38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TextBox 88"/>
          <p:cNvSpPr txBox="1"/>
          <p:nvPr/>
        </p:nvSpPr>
        <p:spPr>
          <a:xfrm>
            <a:off x="6191250" y="5048250"/>
            <a:ext cx="2809875" cy="171450"/>
          </a:xfrm>
          <a:prstGeom prst="rect">
            <a:avLst/>
          </a:prstGeom>
          <a:noFill/>
        </p:spPr>
        <p:txBody>
          <a:bodyPr wrap="square" lIns="28575" rIns="28575" tIns="9525" bIns="9525" anchor="t">
            <a:spAutoFit/>
          </a:bodyPr>
          <a:lstStyle/>
          <a:p>
            <a:pPr algn="l"/>
            <a:r>
              <a:rPr sz="1100" b="1">
                <a:solidFill>
                  <a:srgbClr val="1F2933"/>
                </a:solidFill>
                <a:latin typeface="Calibri"/>
              </a:rPr>
              <a:t>Tier 3</a:t>
            </a:r>
          </a:p>
        </p:txBody>
      </p:sp>
      <p:sp>
        <p:nvSpPr>
          <p:cNvPr id="90" name="TextBox 89"/>
          <p:cNvSpPr txBox="1"/>
          <p:nvPr/>
        </p:nvSpPr>
        <p:spPr>
          <a:xfrm>
            <a:off x="6191250" y="52197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HOW IT EARNS</a:t>
            </a:r>
          </a:p>
        </p:txBody>
      </p:sp>
      <p:sp>
        <p:nvSpPr>
          <p:cNvPr id="91" name="TextBox 90"/>
          <p:cNvSpPr txBox="1"/>
          <p:nvPr/>
        </p:nvSpPr>
        <p:spPr>
          <a:xfrm>
            <a:off x="6191250" y="53721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Regional partners; value / entry positioning.</a:t>
            </a:r>
          </a:p>
        </p:txBody>
      </p:sp>
      <p:sp>
        <p:nvSpPr>
          <p:cNvPr id="92" name="TextBox 91"/>
          <p:cNvSpPr txBox="1"/>
          <p:nvPr/>
        </p:nvSpPr>
        <p:spPr>
          <a:xfrm>
            <a:off x="6191250" y="57150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DOMINANT STRATEGY</a:t>
            </a:r>
          </a:p>
        </p:txBody>
      </p:sp>
      <p:sp>
        <p:nvSpPr>
          <p:cNvPr id="93" name="TextBox 92"/>
          <p:cNvSpPr txBox="1"/>
          <p:nvPr/>
        </p:nvSpPr>
        <p:spPr>
          <a:xfrm>
            <a:off x="6191250" y="58674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94" name="TextBox 9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95" name="Picture 94" descr="lock.png"/>
          <p:cNvPicPr>
            <a:picLocks noChangeAspect="1"/>
          </p:cNvPicPr>
          <p:nvPr/>
        </p:nvPicPr>
        <p:blipFill>
          <a:blip r:embed="rId4"/>
          <a:stretch>
            <a:fillRect/>
          </a:stretch>
        </p:blipFill>
        <p:spPr>
          <a:xfrm>
            <a:off x="1059600" y="4487926"/>
            <a:ext cx="128699" cy="187198"/>
          </a:xfrm>
          <a:prstGeom prst="rect">
            <a:avLst/>
          </a:prstGeom>
        </p:spPr>
      </p:pic>
      <p:pic>
        <p:nvPicPr>
          <p:cNvPr id="96" name="Picture 95" descr="lock.png"/>
          <p:cNvPicPr>
            <a:picLocks noChangeAspect="1"/>
          </p:cNvPicPr>
          <p:nvPr/>
        </p:nvPicPr>
        <p:blipFill>
          <a:blip r:embed="rId4"/>
          <a:stretch>
            <a:fillRect/>
          </a:stretch>
        </p:blipFill>
        <p:spPr>
          <a:xfrm>
            <a:off x="3821850" y="4487926"/>
            <a:ext cx="128699" cy="187198"/>
          </a:xfrm>
          <a:prstGeom prst="rect">
            <a:avLst/>
          </a:prstGeom>
        </p:spPr>
      </p:pic>
      <p:pic>
        <p:nvPicPr>
          <p:cNvPr id="97" name="Picture 96" descr="lock.png"/>
          <p:cNvPicPr>
            <a:picLocks noChangeAspect="1"/>
          </p:cNvPicPr>
          <p:nvPr/>
        </p:nvPicPr>
        <p:blipFill>
          <a:blip r:embed="rId4"/>
          <a:stretch>
            <a:fillRect/>
          </a:stretch>
        </p:blipFill>
        <p:spPr>
          <a:xfrm>
            <a:off x="6584100" y="4487926"/>
            <a:ext cx="128699" cy="187198"/>
          </a:xfrm>
          <a:prstGeom prst="rect">
            <a:avLst/>
          </a:prstGeom>
        </p:spPr>
      </p:pic>
      <p:sp>
        <p:nvSpPr>
          <p:cNvPr id="98" name="TextBox 97"/>
          <p:cNvSpPr txBox="1"/>
          <p:nvPr/>
        </p:nvSpPr>
        <p:spPr>
          <a:xfrm>
            <a:off x="219075" y="5876925"/>
            <a:ext cx="1176610" cy="186689"/>
          </a:xfrm>
          <a:prstGeom prst="rect">
            <a:avLst/>
          </a:prstGeom>
          <a:noFill/>
        </p:spPr>
        <p:txBody>
          <a:bodyPr wrap="none" lIns="0" rIns="0" tIns="0" bIns="0">
            <a:spAutoFit/>
          </a:bodyPr>
          <a:lstStyle/>
          <a:p>
            <a:r>
              <a:rPr sz="1100" b="0">
                <a:solidFill>
                  <a:srgbClr val="1F2933"/>
                </a:solidFill>
                <a:latin typeface="Calibri"/>
              </a:rPr>
              <a:t>Launch-led growth;</a:t>
            </a:r>
          </a:p>
        </p:txBody>
      </p:sp>
      <p:pic>
        <p:nvPicPr>
          <p:cNvPr id="99" name="Picture 98" descr="lock.png"/>
          <p:cNvPicPr>
            <a:picLocks noChangeAspect="1"/>
          </p:cNvPicPr>
          <p:nvPr/>
        </p:nvPicPr>
        <p:blipFill>
          <a:blip r:embed="rId4"/>
          <a:stretch>
            <a:fillRect/>
          </a:stretch>
        </p:blipFill>
        <p:spPr>
          <a:xfrm>
            <a:off x="1343736" y="5867145"/>
            <a:ext cx="128699" cy="187198"/>
          </a:xfrm>
          <a:prstGeom prst="rect">
            <a:avLst/>
          </a:prstGeom>
        </p:spPr>
      </p:pic>
      <p:sp>
        <p:nvSpPr>
          <p:cNvPr id="100" name="TextBox 99"/>
          <p:cNvSpPr txBox="1"/>
          <p:nvPr/>
        </p:nvSpPr>
        <p:spPr>
          <a:xfrm>
            <a:off x="1511232" y="5876925"/>
            <a:ext cx="1022722" cy="186689"/>
          </a:xfrm>
          <a:prstGeom prst="rect">
            <a:avLst/>
          </a:prstGeom>
          <a:noFill/>
        </p:spPr>
        <p:txBody>
          <a:bodyPr wrap="none" lIns="0" rIns="0" tIns="0" bIns="0">
            <a:spAutoFit/>
          </a:bodyPr>
          <a:lstStyle/>
          <a:p>
            <a:r>
              <a:rPr sz="1100" b="0">
                <a:solidFill>
                  <a:srgbClr val="1F2933"/>
                </a:solidFill>
                <a:latin typeface="Calibri"/>
              </a:rPr>
              <a:t>combined share.</a:t>
            </a:r>
          </a:p>
        </p:txBody>
      </p:sp>
      <p:sp>
        <p:nvSpPr>
          <p:cNvPr id="101" name="TextBox 100"/>
          <p:cNvSpPr txBox="1"/>
          <p:nvPr/>
        </p:nvSpPr>
        <p:spPr>
          <a:xfrm>
            <a:off x="3219450" y="5876925"/>
            <a:ext cx="1176610" cy="186689"/>
          </a:xfrm>
          <a:prstGeom prst="rect">
            <a:avLst/>
          </a:prstGeom>
          <a:noFill/>
        </p:spPr>
        <p:txBody>
          <a:bodyPr wrap="none" lIns="0" rIns="0" tIns="0" bIns="0">
            <a:spAutoFit/>
          </a:bodyPr>
          <a:lstStyle/>
          <a:p>
            <a:r>
              <a:rPr sz="1100" b="0">
                <a:solidFill>
                  <a:srgbClr val="1F2933"/>
                </a:solidFill>
                <a:latin typeface="Calibri"/>
              </a:rPr>
              <a:t>Launch-led growth;</a:t>
            </a:r>
          </a:p>
        </p:txBody>
      </p:sp>
      <p:pic>
        <p:nvPicPr>
          <p:cNvPr id="102" name="Picture 101" descr="lock.png"/>
          <p:cNvPicPr>
            <a:picLocks noChangeAspect="1"/>
          </p:cNvPicPr>
          <p:nvPr/>
        </p:nvPicPr>
        <p:blipFill>
          <a:blip r:embed="rId4"/>
          <a:stretch>
            <a:fillRect/>
          </a:stretch>
        </p:blipFill>
        <p:spPr>
          <a:xfrm>
            <a:off x="4344111" y="5867145"/>
            <a:ext cx="128699" cy="187198"/>
          </a:xfrm>
          <a:prstGeom prst="rect">
            <a:avLst/>
          </a:prstGeom>
        </p:spPr>
      </p:pic>
      <p:sp>
        <p:nvSpPr>
          <p:cNvPr id="103" name="TextBox 102"/>
          <p:cNvSpPr txBox="1"/>
          <p:nvPr/>
        </p:nvSpPr>
        <p:spPr>
          <a:xfrm>
            <a:off x="4511607" y="5876925"/>
            <a:ext cx="1022722" cy="186689"/>
          </a:xfrm>
          <a:prstGeom prst="rect">
            <a:avLst/>
          </a:prstGeom>
          <a:noFill/>
        </p:spPr>
        <p:txBody>
          <a:bodyPr wrap="none" lIns="0" rIns="0" tIns="0" bIns="0">
            <a:spAutoFit/>
          </a:bodyPr>
          <a:lstStyle/>
          <a:p>
            <a:r>
              <a:rPr sz="1100" b="0">
                <a:solidFill>
                  <a:srgbClr val="1F2933"/>
                </a:solidFill>
                <a:latin typeface="Calibri"/>
              </a:rPr>
              <a:t>combined share.</a:t>
            </a:r>
          </a:p>
        </p:txBody>
      </p:sp>
      <p:sp>
        <p:nvSpPr>
          <p:cNvPr id="104" name="TextBox 103"/>
          <p:cNvSpPr txBox="1"/>
          <p:nvPr/>
        </p:nvSpPr>
        <p:spPr>
          <a:xfrm>
            <a:off x="6219825" y="5876925"/>
            <a:ext cx="1176610" cy="186689"/>
          </a:xfrm>
          <a:prstGeom prst="rect">
            <a:avLst/>
          </a:prstGeom>
          <a:noFill/>
        </p:spPr>
        <p:txBody>
          <a:bodyPr wrap="none" lIns="0" rIns="0" tIns="0" bIns="0">
            <a:spAutoFit/>
          </a:bodyPr>
          <a:lstStyle/>
          <a:p>
            <a:r>
              <a:rPr sz="1100" b="0">
                <a:solidFill>
                  <a:srgbClr val="1F2933"/>
                </a:solidFill>
                <a:latin typeface="Calibri"/>
              </a:rPr>
              <a:t>Launch-led growth;</a:t>
            </a:r>
          </a:p>
        </p:txBody>
      </p:sp>
      <p:pic>
        <p:nvPicPr>
          <p:cNvPr id="105" name="Picture 104" descr="lock.png"/>
          <p:cNvPicPr>
            <a:picLocks noChangeAspect="1"/>
          </p:cNvPicPr>
          <p:nvPr/>
        </p:nvPicPr>
        <p:blipFill>
          <a:blip r:embed="rId4"/>
          <a:stretch>
            <a:fillRect/>
          </a:stretch>
        </p:blipFill>
        <p:spPr>
          <a:xfrm>
            <a:off x="7344486" y="5867145"/>
            <a:ext cx="128699" cy="187198"/>
          </a:xfrm>
          <a:prstGeom prst="rect">
            <a:avLst/>
          </a:prstGeom>
        </p:spPr>
      </p:pic>
      <p:sp>
        <p:nvSpPr>
          <p:cNvPr id="106" name="TextBox 105"/>
          <p:cNvSpPr txBox="1"/>
          <p:nvPr/>
        </p:nvSpPr>
        <p:spPr>
          <a:xfrm>
            <a:off x="7511982" y="5876925"/>
            <a:ext cx="1022722" cy="186689"/>
          </a:xfrm>
          <a:prstGeom prst="rect">
            <a:avLst/>
          </a:prstGeom>
          <a:noFill/>
        </p:spPr>
        <p:txBody>
          <a:bodyPr wrap="none" lIns="0" rIns="0" tIns="0" bIns="0">
            <a:spAutoFit/>
          </a:bodyPr>
          <a:lstStyle/>
          <a:p>
            <a:r>
              <a:rPr sz="1100" b="0">
                <a:solidFill>
                  <a:srgbClr val="1F2933"/>
                </a:solidFill>
                <a:latin typeface="Calibri"/>
              </a:rPr>
              <a:t>combined share.</a:t>
            </a:r>
          </a:p>
        </p:txBody>
      </p:sp>
    </p:spTree>
  </p:cSld>
  <p:clrMapOvr>
    <a:masterClrMapping/>
  </p:clrMapOvr>
</p:sld>
</file>

<file path=ppt/slides/slide2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Corporate Scorecard: Who They Are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Eight corporate Ps for every named competitor: ownership, strategy, breadth, presence, scale and performance</a:t>
            </a:r>
          </a:p>
        </p:txBody>
      </p:sp>
      <p:sp>
        <p:nvSpPr>
          <p:cNvPr id="10" name="Rectangle 9"/>
          <p:cNvSpPr/>
          <p:nvPr/>
        </p:nvSpPr>
        <p:spPr>
          <a:xfrm>
            <a:off x="190500" y="1047750"/>
            <a:ext cx="1181100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66700" y="1047750"/>
            <a:ext cx="6667500" cy="209550"/>
          </a:xfrm>
          <a:prstGeom prst="rect">
            <a:avLst/>
          </a:prstGeom>
          <a:noFill/>
        </p:spPr>
        <p:txBody>
          <a:bodyPr wrap="square" lIns="28575" rIns="28575" tIns="9525" bIns="9525" anchor="ctr">
            <a:spAutoFit/>
          </a:bodyPr>
          <a:lstStyle/>
          <a:p>
            <a:pPr algn="l"/>
            <a:r>
              <a:rPr sz="1100" b="1">
                <a:solidFill>
                  <a:srgbClr val="FFFFFF"/>
                </a:solidFill>
                <a:latin typeface="Calibri"/>
              </a:rPr>
              <a:t>LEVEL 1, CORPORATE: WHO THEY ARE</a:t>
            </a:r>
          </a:p>
        </p:txBody>
      </p:sp>
      <p:sp>
        <p:nvSpPr>
          <p:cNvPr id="12" name="TextBox 11"/>
          <p:cNvSpPr txBox="1"/>
          <p:nvPr/>
        </p:nvSpPr>
        <p:spPr>
          <a:xfrm>
            <a:off x="2038350" y="1295400"/>
            <a:ext cx="2305050"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Parent and ownership</a:t>
            </a:r>
          </a:p>
        </p:txBody>
      </p:sp>
      <p:sp>
        <p:nvSpPr>
          <p:cNvPr id="13" name="TextBox 12"/>
          <p:cNvSpPr txBox="1"/>
          <p:nvPr/>
        </p:nvSpPr>
        <p:spPr>
          <a:xfrm>
            <a:off x="2038350" y="1657350"/>
            <a:ext cx="2305050"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From the company roster</a:t>
            </a:r>
          </a:p>
        </p:txBody>
      </p:sp>
      <p:sp>
        <p:nvSpPr>
          <p:cNvPr id="14" name="TextBox 13"/>
          <p:cNvSpPr txBox="1"/>
          <p:nvPr/>
        </p:nvSpPr>
        <p:spPr>
          <a:xfrm>
            <a:off x="4419600" y="1295400"/>
            <a:ext cx="1193800"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Purpose (strategy)</a:t>
            </a:r>
          </a:p>
        </p:txBody>
      </p:sp>
      <p:sp>
        <p:nvSpPr>
          <p:cNvPr id="15" name="TextBox 14"/>
          <p:cNvSpPr txBox="1"/>
          <p:nvPr/>
        </p:nvSpPr>
        <p:spPr>
          <a:xfrm>
            <a:off x="4419600" y="1657350"/>
            <a:ext cx="1193800"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Dominant active move</a:t>
            </a:r>
          </a:p>
        </p:txBody>
      </p:sp>
      <p:sp>
        <p:nvSpPr>
          <p:cNvPr id="16" name="TextBox 15"/>
          <p:cNvSpPr txBox="1"/>
          <p:nvPr/>
        </p:nvSpPr>
        <p:spPr>
          <a:xfrm>
            <a:off x="5689600"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Portfolio breadth</a:t>
            </a:r>
          </a:p>
        </p:txBody>
      </p:sp>
      <p:sp>
        <p:nvSpPr>
          <p:cNvPr id="17" name="TextBox 16"/>
          <p:cNvSpPr txBox="1"/>
          <p:nvPr/>
        </p:nvSpPr>
        <p:spPr>
          <a:xfrm>
            <a:off x="5689600"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Sub-segments: 6+ 3, 4+ 2, 2+ 1</a:t>
            </a:r>
          </a:p>
        </p:txBody>
      </p:sp>
      <p:sp>
        <p:nvSpPr>
          <p:cNvPr id="18" name="TextBox 17"/>
          <p:cNvSpPr txBox="1"/>
          <p:nvPr/>
        </p:nvSpPr>
        <p:spPr>
          <a:xfrm>
            <a:off x="6747933"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Presence</a:t>
            </a:r>
          </a:p>
        </p:txBody>
      </p:sp>
      <p:sp>
        <p:nvSpPr>
          <p:cNvPr id="19" name="TextBox 18"/>
          <p:cNvSpPr txBox="1"/>
          <p:nvPr/>
        </p:nvSpPr>
        <p:spPr>
          <a:xfrm>
            <a:off x="6747933"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Global 3, regional 2, local 1</a:t>
            </a:r>
          </a:p>
        </p:txBody>
      </p:sp>
      <p:sp>
        <p:nvSpPr>
          <p:cNvPr id="20" name="TextBox 19"/>
          <p:cNvSpPr txBox="1"/>
          <p:nvPr/>
        </p:nvSpPr>
        <p:spPr>
          <a:xfrm>
            <a:off x="7806267"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Power (scale)</a:t>
            </a:r>
          </a:p>
        </p:txBody>
      </p:sp>
      <p:sp>
        <p:nvSpPr>
          <p:cNvPr id="21" name="TextBox 20"/>
          <p:cNvSpPr txBox="1"/>
          <p:nvPr/>
        </p:nvSpPr>
        <p:spPr>
          <a:xfrm>
            <a:off x="7806267"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Tier 1 = 3, 2 = 2, 3 = 1</a:t>
            </a:r>
          </a:p>
        </p:txBody>
      </p:sp>
      <p:sp>
        <p:nvSpPr>
          <p:cNvPr id="22" name="TextBox 21"/>
          <p:cNvSpPr txBox="1"/>
          <p:nvPr/>
        </p:nvSpPr>
        <p:spPr>
          <a:xfrm>
            <a:off x="8864600"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Performance</a:t>
            </a:r>
          </a:p>
        </p:txBody>
      </p:sp>
      <p:sp>
        <p:nvSpPr>
          <p:cNvPr id="23" name="TextBox 22"/>
          <p:cNvSpPr txBox="1"/>
          <p:nvPr/>
        </p:nvSpPr>
        <p:spPr>
          <a:xfrm>
            <a:off x="8864600"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
            </a:r>
          </a:p>
        </p:txBody>
      </p:sp>
      <p:sp>
        <p:nvSpPr>
          <p:cNvPr id="24" name="TextBox 23"/>
          <p:cNvSpPr txBox="1"/>
          <p:nvPr/>
        </p:nvSpPr>
        <p:spPr>
          <a:xfrm>
            <a:off x="9922933"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People</a:t>
            </a:r>
          </a:p>
        </p:txBody>
      </p:sp>
      <p:sp>
        <p:nvSpPr>
          <p:cNvPr id="25" name="TextBox 24"/>
          <p:cNvSpPr txBox="1"/>
          <p:nvPr/>
        </p:nvSpPr>
        <p:spPr>
          <a:xfrm>
            <a:off x="9922933"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Talent; not assessed</a:t>
            </a:r>
          </a:p>
        </p:txBody>
      </p:sp>
      <p:sp>
        <p:nvSpPr>
          <p:cNvPr id="26" name="TextBox 25"/>
          <p:cNvSpPr txBox="1"/>
          <p:nvPr/>
        </p:nvSpPr>
        <p:spPr>
          <a:xfrm>
            <a:off x="10981267"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Partnerships</a:t>
            </a:r>
          </a:p>
        </p:txBody>
      </p:sp>
      <p:sp>
        <p:nvSpPr>
          <p:cNvPr id="27" name="TextBox 26"/>
          <p:cNvSpPr txBox="1"/>
          <p:nvPr/>
        </p:nvSpPr>
        <p:spPr>
          <a:xfrm>
            <a:off x="10981267"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Named alliances</a:t>
            </a:r>
          </a:p>
        </p:txBody>
      </p:sp>
      <p:cxnSp>
        <p:nvCxnSpPr>
          <p:cNvPr id="28" name="Connector 27"/>
          <p:cNvCxnSpPr/>
          <p:nvPr/>
        </p:nvCxnSpPr>
        <p:spPr>
          <a:xfrm>
            <a:off x="190500" y="2209800"/>
            <a:ext cx="11811000" cy="0"/>
          </a:xfrm>
          <a:prstGeom prst="line">
            <a:avLst/>
          </a:prstGeom>
          <a:ln w="127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9" name="Rectangle 28"/>
          <p:cNvSpPr/>
          <p:nvPr/>
        </p:nvSpPr>
        <p:spPr>
          <a:xfrm>
            <a:off x="190500" y="22574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85750" y="22479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Dentsply Sirona Inc.</a:t>
            </a:r>
          </a:p>
        </p:txBody>
      </p:sp>
      <p:sp>
        <p:nvSpPr>
          <p:cNvPr id="31" name="TextBox 30"/>
          <p:cNvSpPr txBox="1"/>
          <p:nvPr/>
        </p:nvSpPr>
        <p:spPr>
          <a:xfrm>
            <a:off x="285750" y="24098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32" name="TextBox 31"/>
          <p:cNvSpPr txBox="1"/>
          <p:nvPr/>
        </p:nvSpPr>
        <p:spPr>
          <a:xfrm>
            <a:off x="2000250" y="22288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33" name="TextBox 32"/>
          <p:cNvSpPr txBox="1"/>
          <p:nvPr/>
        </p:nvSpPr>
        <p:spPr>
          <a:xfrm>
            <a:off x="4419600" y="22288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34" name="Oval 33"/>
          <p:cNvSpPr/>
          <p:nvPr/>
        </p:nvSpPr>
        <p:spPr>
          <a:xfrm>
            <a:off x="6104467"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Oval 34"/>
          <p:cNvSpPr/>
          <p:nvPr/>
        </p:nvSpPr>
        <p:spPr>
          <a:xfrm>
            <a:off x="7162800"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Oval 35"/>
          <p:cNvSpPr/>
          <p:nvPr/>
        </p:nvSpPr>
        <p:spPr>
          <a:xfrm>
            <a:off x="8221133"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Oval 36"/>
          <p:cNvSpPr/>
          <p:nvPr/>
        </p:nvSpPr>
        <p:spPr>
          <a:xfrm>
            <a:off x="9279467"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9884833" y="22288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39" name="TextBox 38"/>
          <p:cNvSpPr txBox="1"/>
          <p:nvPr/>
        </p:nvSpPr>
        <p:spPr>
          <a:xfrm>
            <a:off x="10943167" y="22288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40" name="Connector 39"/>
          <p:cNvCxnSpPr/>
          <p:nvPr/>
        </p:nvCxnSpPr>
        <p:spPr>
          <a:xfrm>
            <a:off x="190500" y="2571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1" name="Rectangle 40"/>
          <p:cNvSpPr/>
          <p:nvPr/>
        </p:nvSpPr>
        <p:spPr>
          <a:xfrm>
            <a:off x="190500" y="26003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285750" y="25908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Ivoclar Vivadent AG</a:t>
            </a:r>
          </a:p>
        </p:txBody>
      </p:sp>
      <p:sp>
        <p:nvSpPr>
          <p:cNvPr id="43" name="TextBox 42"/>
          <p:cNvSpPr txBox="1"/>
          <p:nvPr/>
        </p:nvSpPr>
        <p:spPr>
          <a:xfrm>
            <a:off x="285750" y="27527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44" name="TextBox 43"/>
          <p:cNvSpPr txBox="1"/>
          <p:nvPr/>
        </p:nvSpPr>
        <p:spPr>
          <a:xfrm>
            <a:off x="2000250" y="25717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45" name="TextBox 44"/>
          <p:cNvSpPr txBox="1"/>
          <p:nvPr/>
        </p:nvSpPr>
        <p:spPr>
          <a:xfrm>
            <a:off x="4419600" y="25717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46" name="Oval 45"/>
          <p:cNvSpPr/>
          <p:nvPr/>
        </p:nvSpPr>
        <p:spPr>
          <a:xfrm>
            <a:off x="6104467"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7162800"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Oval 47"/>
          <p:cNvSpPr/>
          <p:nvPr/>
        </p:nvSpPr>
        <p:spPr>
          <a:xfrm>
            <a:off x="8221133"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Oval 48"/>
          <p:cNvSpPr/>
          <p:nvPr/>
        </p:nvSpPr>
        <p:spPr>
          <a:xfrm>
            <a:off x="9279467"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9884833" y="25717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51" name="TextBox 50"/>
          <p:cNvSpPr txBox="1"/>
          <p:nvPr/>
        </p:nvSpPr>
        <p:spPr>
          <a:xfrm>
            <a:off x="10943167" y="25717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52" name="Connector 51"/>
          <p:cNvCxnSpPr/>
          <p:nvPr/>
        </p:nvCxnSpPr>
        <p:spPr>
          <a:xfrm>
            <a:off x="190500" y="29146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3" name="Rectangle 52"/>
          <p:cNvSpPr/>
          <p:nvPr/>
        </p:nvSpPr>
        <p:spPr>
          <a:xfrm>
            <a:off x="190500" y="29432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285750" y="29337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Kulzer GmbH</a:t>
            </a:r>
          </a:p>
        </p:txBody>
      </p:sp>
      <p:sp>
        <p:nvSpPr>
          <p:cNvPr id="55" name="TextBox 54"/>
          <p:cNvSpPr txBox="1"/>
          <p:nvPr/>
        </p:nvSpPr>
        <p:spPr>
          <a:xfrm>
            <a:off x="285750" y="30956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56" name="TextBox 55"/>
          <p:cNvSpPr txBox="1"/>
          <p:nvPr/>
        </p:nvSpPr>
        <p:spPr>
          <a:xfrm>
            <a:off x="2000250" y="29146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57" name="TextBox 56"/>
          <p:cNvSpPr txBox="1"/>
          <p:nvPr/>
        </p:nvSpPr>
        <p:spPr>
          <a:xfrm>
            <a:off x="4419600" y="29146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58" name="Oval 57"/>
          <p:cNvSpPr/>
          <p:nvPr/>
        </p:nvSpPr>
        <p:spPr>
          <a:xfrm>
            <a:off x="6104467"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Oval 58"/>
          <p:cNvSpPr/>
          <p:nvPr/>
        </p:nvSpPr>
        <p:spPr>
          <a:xfrm>
            <a:off x="7162800"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Oval 59"/>
          <p:cNvSpPr/>
          <p:nvPr/>
        </p:nvSpPr>
        <p:spPr>
          <a:xfrm>
            <a:off x="8221133"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Oval 60"/>
          <p:cNvSpPr/>
          <p:nvPr/>
        </p:nvSpPr>
        <p:spPr>
          <a:xfrm>
            <a:off x="9279467" y="3009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Freeform 61"/>
          <p:cNvSpPr/>
          <p:nvPr/>
        </p:nvSpPr>
        <p:spPr>
          <a:xfrm>
            <a:off x="9353550" y="30099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9884833" y="29146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64" name="TextBox 63"/>
          <p:cNvSpPr txBox="1"/>
          <p:nvPr/>
        </p:nvSpPr>
        <p:spPr>
          <a:xfrm>
            <a:off x="10943167" y="29146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65" name="Connector 64"/>
          <p:cNvCxnSpPr/>
          <p:nvPr/>
        </p:nvCxnSpPr>
        <p:spPr>
          <a:xfrm>
            <a:off x="190500" y="3257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6" name="Rectangle 65"/>
          <p:cNvSpPr/>
          <p:nvPr/>
        </p:nvSpPr>
        <p:spPr>
          <a:xfrm>
            <a:off x="190500" y="32861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285750" y="32766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GC Corporation</a:t>
            </a:r>
          </a:p>
        </p:txBody>
      </p:sp>
      <p:sp>
        <p:nvSpPr>
          <p:cNvPr id="68" name="TextBox 67"/>
          <p:cNvSpPr txBox="1"/>
          <p:nvPr/>
        </p:nvSpPr>
        <p:spPr>
          <a:xfrm>
            <a:off x="285750" y="34385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69" name="TextBox 68"/>
          <p:cNvSpPr txBox="1"/>
          <p:nvPr/>
        </p:nvSpPr>
        <p:spPr>
          <a:xfrm>
            <a:off x="2000250" y="32575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70" name="TextBox 69"/>
          <p:cNvSpPr txBox="1"/>
          <p:nvPr/>
        </p:nvSpPr>
        <p:spPr>
          <a:xfrm>
            <a:off x="4419600" y="32575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71" name="Oval 70"/>
          <p:cNvSpPr/>
          <p:nvPr/>
        </p:nvSpPr>
        <p:spPr>
          <a:xfrm>
            <a:off x="6104467" y="3352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Freeform 71"/>
          <p:cNvSpPr/>
          <p:nvPr/>
        </p:nvSpPr>
        <p:spPr>
          <a:xfrm>
            <a:off x="6181725" y="33528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Oval 72"/>
          <p:cNvSpPr/>
          <p:nvPr/>
        </p:nvSpPr>
        <p:spPr>
          <a:xfrm>
            <a:off x="7162800"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Oval 73"/>
          <p:cNvSpPr/>
          <p:nvPr/>
        </p:nvSpPr>
        <p:spPr>
          <a:xfrm>
            <a:off x="8221133"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Oval 74"/>
          <p:cNvSpPr/>
          <p:nvPr/>
        </p:nvSpPr>
        <p:spPr>
          <a:xfrm>
            <a:off x="9279467" y="3352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Freeform 75"/>
          <p:cNvSpPr/>
          <p:nvPr/>
        </p:nvSpPr>
        <p:spPr>
          <a:xfrm>
            <a:off x="9353550" y="33528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9884833" y="32575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78" name="TextBox 77"/>
          <p:cNvSpPr txBox="1"/>
          <p:nvPr/>
        </p:nvSpPr>
        <p:spPr>
          <a:xfrm>
            <a:off x="10943167" y="32575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79" name="Connector 78"/>
          <p:cNvCxnSpPr/>
          <p:nvPr/>
        </p:nvCxnSpPr>
        <p:spPr>
          <a:xfrm>
            <a:off x="190500" y="36004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0" name="Rectangle 79"/>
          <p:cNvSpPr/>
          <p:nvPr/>
        </p:nvSpPr>
        <p:spPr>
          <a:xfrm>
            <a:off x="190500" y="36290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TextBox 80"/>
          <p:cNvSpPr txBox="1"/>
          <p:nvPr/>
        </p:nvSpPr>
        <p:spPr>
          <a:xfrm>
            <a:off x="285750" y="36195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SHOFU INC.</a:t>
            </a:r>
          </a:p>
        </p:txBody>
      </p:sp>
      <p:sp>
        <p:nvSpPr>
          <p:cNvPr id="82" name="TextBox 81"/>
          <p:cNvSpPr txBox="1"/>
          <p:nvPr/>
        </p:nvSpPr>
        <p:spPr>
          <a:xfrm>
            <a:off x="285750" y="37814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83" name="TextBox 82"/>
          <p:cNvSpPr txBox="1"/>
          <p:nvPr/>
        </p:nvSpPr>
        <p:spPr>
          <a:xfrm>
            <a:off x="2000250" y="36004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84" name="TextBox 83"/>
          <p:cNvSpPr txBox="1"/>
          <p:nvPr/>
        </p:nvSpPr>
        <p:spPr>
          <a:xfrm>
            <a:off x="4419600" y="36004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85" name="Oval 84"/>
          <p:cNvSpPr/>
          <p:nvPr/>
        </p:nvSpPr>
        <p:spPr>
          <a:xfrm>
            <a:off x="6104467"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Freeform 85"/>
          <p:cNvSpPr/>
          <p:nvPr/>
        </p:nvSpPr>
        <p:spPr>
          <a:xfrm>
            <a:off x="6181725" y="3695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Oval 86"/>
          <p:cNvSpPr/>
          <p:nvPr/>
        </p:nvSpPr>
        <p:spPr>
          <a:xfrm>
            <a:off x="7162800"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Freeform 87"/>
          <p:cNvSpPr/>
          <p:nvPr/>
        </p:nvSpPr>
        <p:spPr>
          <a:xfrm>
            <a:off x="7239000" y="3695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Oval 88"/>
          <p:cNvSpPr/>
          <p:nvPr/>
        </p:nvSpPr>
        <p:spPr>
          <a:xfrm>
            <a:off x="8221133"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Freeform 89"/>
          <p:cNvSpPr/>
          <p:nvPr/>
        </p:nvSpPr>
        <p:spPr>
          <a:xfrm>
            <a:off x="8296275" y="36957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Oval 90"/>
          <p:cNvSpPr/>
          <p:nvPr/>
        </p:nvSpPr>
        <p:spPr>
          <a:xfrm>
            <a:off x="9279467"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Freeform 91"/>
          <p:cNvSpPr/>
          <p:nvPr/>
        </p:nvSpPr>
        <p:spPr>
          <a:xfrm>
            <a:off x="9353550" y="36957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9884833" y="36004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94" name="TextBox 93"/>
          <p:cNvSpPr txBox="1"/>
          <p:nvPr/>
        </p:nvSpPr>
        <p:spPr>
          <a:xfrm>
            <a:off x="10943167" y="36004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95" name="Connector 94"/>
          <p:cNvCxnSpPr/>
          <p:nvPr/>
        </p:nvCxnSpPr>
        <p:spPr>
          <a:xfrm>
            <a:off x="190500" y="3943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6" name="Rectangle 95"/>
          <p:cNvSpPr/>
          <p:nvPr/>
        </p:nvSpPr>
        <p:spPr>
          <a:xfrm>
            <a:off x="190500" y="39719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TextBox 96"/>
          <p:cNvSpPr txBox="1"/>
          <p:nvPr/>
        </p:nvSpPr>
        <p:spPr>
          <a:xfrm>
            <a:off x="285750" y="39624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VITA Zahnfabrik H. Rauter GmbH &amp; Co. KG</a:t>
            </a:r>
          </a:p>
        </p:txBody>
      </p:sp>
      <p:sp>
        <p:nvSpPr>
          <p:cNvPr id="98" name="TextBox 97"/>
          <p:cNvSpPr txBox="1"/>
          <p:nvPr/>
        </p:nvSpPr>
        <p:spPr>
          <a:xfrm>
            <a:off x="285750" y="41243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99" name="TextBox 98"/>
          <p:cNvSpPr txBox="1"/>
          <p:nvPr/>
        </p:nvSpPr>
        <p:spPr>
          <a:xfrm>
            <a:off x="2000250" y="39433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00" name="TextBox 99"/>
          <p:cNvSpPr txBox="1"/>
          <p:nvPr/>
        </p:nvSpPr>
        <p:spPr>
          <a:xfrm>
            <a:off x="4419600" y="39433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101" name="Oval 100"/>
          <p:cNvSpPr/>
          <p:nvPr/>
        </p:nvSpPr>
        <p:spPr>
          <a:xfrm>
            <a:off x="6104467"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Freeform 101"/>
          <p:cNvSpPr/>
          <p:nvPr/>
        </p:nvSpPr>
        <p:spPr>
          <a:xfrm>
            <a:off x="6181725" y="4038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Oval 102"/>
          <p:cNvSpPr/>
          <p:nvPr/>
        </p:nvSpPr>
        <p:spPr>
          <a:xfrm>
            <a:off x="7162800"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Freeform 103"/>
          <p:cNvSpPr/>
          <p:nvPr/>
        </p:nvSpPr>
        <p:spPr>
          <a:xfrm>
            <a:off x="7239000" y="4038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Oval 104"/>
          <p:cNvSpPr/>
          <p:nvPr/>
        </p:nvSpPr>
        <p:spPr>
          <a:xfrm>
            <a:off x="8221133"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Freeform 105"/>
          <p:cNvSpPr/>
          <p:nvPr/>
        </p:nvSpPr>
        <p:spPr>
          <a:xfrm>
            <a:off x="8296275" y="40386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Oval 106"/>
          <p:cNvSpPr/>
          <p:nvPr/>
        </p:nvSpPr>
        <p:spPr>
          <a:xfrm>
            <a:off x="9279467"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Freeform 107"/>
          <p:cNvSpPr/>
          <p:nvPr/>
        </p:nvSpPr>
        <p:spPr>
          <a:xfrm>
            <a:off x="9353550" y="40386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TextBox 108"/>
          <p:cNvSpPr txBox="1"/>
          <p:nvPr/>
        </p:nvSpPr>
        <p:spPr>
          <a:xfrm>
            <a:off x="9884833" y="39433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10" name="TextBox 109"/>
          <p:cNvSpPr txBox="1"/>
          <p:nvPr/>
        </p:nvSpPr>
        <p:spPr>
          <a:xfrm>
            <a:off x="10943167" y="39433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11" name="Connector 110"/>
          <p:cNvCxnSpPr/>
          <p:nvPr/>
        </p:nvCxnSpPr>
        <p:spPr>
          <a:xfrm>
            <a:off x="190500" y="42862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12" name="Rectangle 111"/>
          <p:cNvSpPr/>
          <p:nvPr/>
        </p:nvSpPr>
        <p:spPr>
          <a:xfrm>
            <a:off x="190500" y="43148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TextBox 112"/>
          <p:cNvSpPr txBox="1"/>
          <p:nvPr/>
        </p:nvSpPr>
        <p:spPr>
          <a:xfrm>
            <a:off x="285750" y="43053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Zhermack S.p.A.</a:t>
            </a:r>
          </a:p>
        </p:txBody>
      </p:sp>
      <p:sp>
        <p:nvSpPr>
          <p:cNvPr id="114" name="TextBox 113"/>
          <p:cNvSpPr txBox="1"/>
          <p:nvPr/>
        </p:nvSpPr>
        <p:spPr>
          <a:xfrm>
            <a:off x="285750" y="44672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15" name="TextBox 114"/>
          <p:cNvSpPr txBox="1"/>
          <p:nvPr/>
        </p:nvSpPr>
        <p:spPr>
          <a:xfrm>
            <a:off x="2000250" y="42862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16" name="TextBox 115"/>
          <p:cNvSpPr txBox="1"/>
          <p:nvPr/>
        </p:nvSpPr>
        <p:spPr>
          <a:xfrm>
            <a:off x="4419600" y="42862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117" name="Oval 116"/>
          <p:cNvSpPr/>
          <p:nvPr/>
        </p:nvSpPr>
        <p:spPr>
          <a:xfrm>
            <a:off x="6104467"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Freeform 117"/>
          <p:cNvSpPr/>
          <p:nvPr/>
        </p:nvSpPr>
        <p:spPr>
          <a:xfrm>
            <a:off x="6181725" y="43815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Oval 118"/>
          <p:cNvSpPr/>
          <p:nvPr/>
        </p:nvSpPr>
        <p:spPr>
          <a:xfrm>
            <a:off x="7162800"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Freeform 119"/>
          <p:cNvSpPr/>
          <p:nvPr/>
        </p:nvSpPr>
        <p:spPr>
          <a:xfrm>
            <a:off x="7239000" y="43815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Oval 120"/>
          <p:cNvSpPr/>
          <p:nvPr/>
        </p:nvSpPr>
        <p:spPr>
          <a:xfrm>
            <a:off x="8221133"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Freeform 121"/>
          <p:cNvSpPr/>
          <p:nvPr/>
        </p:nvSpPr>
        <p:spPr>
          <a:xfrm>
            <a:off x="8296275" y="43815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Oval 122"/>
          <p:cNvSpPr/>
          <p:nvPr/>
        </p:nvSpPr>
        <p:spPr>
          <a:xfrm>
            <a:off x="9279467"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Freeform 123"/>
          <p:cNvSpPr/>
          <p:nvPr/>
        </p:nvSpPr>
        <p:spPr>
          <a:xfrm>
            <a:off x="9353550" y="43815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TextBox 124"/>
          <p:cNvSpPr txBox="1"/>
          <p:nvPr/>
        </p:nvSpPr>
        <p:spPr>
          <a:xfrm>
            <a:off x="9884833" y="42862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26" name="TextBox 125"/>
          <p:cNvSpPr txBox="1"/>
          <p:nvPr/>
        </p:nvSpPr>
        <p:spPr>
          <a:xfrm>
            <a:off x="10943167" y="42862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27" name="Connector 126"/>
          <p:cNvCxnSpPr/>
          <p:nvPr/>
        </p:nvCxnSpPr>
        <p:spPr>
          <a:xfrm>
            <a:off x="190500" y="4629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8" name="Rectangle 127"/>
          <p:cNvSpPr/>
          <p:nvPr/>
        </p:nvSpPr>
        <p:spPr>
          <a:xfrm>
            <a:off x="190500" y="46577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TextBox 128"/>
          <p:cNvSpPr txBox="1"/>
          <p:nvPr/>
        </p:nvSpPr>
        <p:spPr>
          <a:xfrm>
            <a:off x="285750" y="46482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DETAX GmbH</a:t>
            </a:r>
          </a:p>
        </p:txBody>
      </p:sp>
      <p:sp>
        <p:nvSpPr>
          <p:cNvPr id="130" name="TextBox 129"/>
          <p:cNvSpPr txBox="1"/>
          <p:nvPr/>
        </p:nvSpPr>
        <p:spPr>
          <a:xfrm>
            <a:off x="285750" y="48101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31" name="TextBox 130"/>
          <p:cNvSpPr txBox="1"/>
          <p:nvPr/>
        </p:nvSpPr>
        <p:spPr>
          <a:xfrm>
            <a:off x="2000250" y="46291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32" name="TextBox 131"/>
          <p:cNvSpPr txBox="1"/>
          <p:nvPr/>
        </p:nvSpPr>
        <p:spPr>
          <a:xfrm>
            <a:off x="4419600" y="46291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133" name="Oval 132"/>
          <p:cNvSpPr/>
          <p:nvPr/>
        </p:nvSpPr>
        <p:spPr>
          <a:xfrm>
            <a:off x="6104467"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Freeform 133"/>
          <p:cNvSpPr/>
          <p:nvPr/>
        </p:nvSpPr>
        <p:spPr>
          <a:xfrm>
            <a:off x="6181725" y="4724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Oval 134"/>
          <p:cNvSpPr/>
          <p:nvPr/>
        </p:nvSpPr>
        <p:spPr>
          <a:xfrm>
            <a:off x="7162800"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Freeform 135"/>
          <p:cNvSpPr/>
          <p:nvPr/>
        </p:nvSpPr>
        <p:spPr>
          <a:xfrm>
            <a:off x="7239000" y="47244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Oval 136"/>
          <p:cNvSpPr/>
          <p:nvPr/>
        </p:nvSpPr>
        <p:spPr>
          <a:xfrm>
            <a:off x="8221133"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Freeform 137"/>
          <p:cNvSpPr/>
          <p:nvPr/>
        </p:nvSpPr>
        <p:spPr>
          <a:xfrm>
            <a:off x="8296275" y="47244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Oval 138"/>
          <p:cNvSpPr/>
          <p:nvPr/>
        </p:nvSpPr>
        <p:spPr>
          <a:xfrm>
            <a:off x="9279467"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Freeform 139"/>
          <p:cNvSpPr/>
          <p:nvPr/>
        </p:nvSpPr>
        <p:spPr>
          <a:xfrm>
            <a:off x="9353550" y="47244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TextBox 140"/>
          <p:cNvSpPr txBox="1"/>
          <p:nvPr/>
        </p:nvSpPr>
        <p:spPr>
          <a:xfrm>
            <a:off x="9884833" y="46291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42" name="TextBox 141"/>
          <p:cNvSpPr txBox="1"/>
          <p:nvPr/>
        </p:nvSpPr>
        <p:spPr>
          <a:xfrm>
            <a:off x="10943167" y="46291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43" name="Connector 142"/>
          <p:cNvCxnSpPr/>
          <p:nvPr/>
        </p:nvCxnSpPr>
        <p:spPr>
          <a:xfrm>
            <a:off x="190500" y="49720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44" name="Rectangle 143"/>
          <p:cNvSpPr/>
          <p:nvPr/>
        </p:nvSpPr>
        <p:spPr>
          <a:xfrm>
            <a:off x="190500" y="50006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TextBox 144"/>
          <p:cNvSpPr txBox="1"/>
          <p:nvPr/>
        </p:nvSpPr>
        <p:spPr>
          <a:xfrm>
            <a:off x="285750" y="49911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Candulor AG</a:t>
            </a:r>
          </a:p>
        </p:txBody>
      </p:sp>
      <p:sp>
        <p:nvSpPr>
          <p:cNvPr id="146" name="TextBox 145"/>
          <p:cNvSpPr txBox="1"/>
          <p:nvPr/>
        </p:nvSpPr>
        <p:spPr>
          <a:xfrm>
            <a:off x="285750" y="51530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47" name="TextBox 146"/>
          <p:cNvSpPr txBox="1"/>
          <p:nvPr/>
        </p:nvSpPr>
        <p:spPr>
          <a:xfrm>
            <a:off x="2000250" y="49720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48" name="TextBox 147"/>
          <p:cNvSpPr txBox="1"/>
          <p:nvPr/>
        </p:nvSpPr>
        <p:spPr>
          <a:xfrm>
            <a:off x="4419600" y="49720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149" name="Oval 148"/>
          <p:cNvSpPr/>
          <p:nvPr/>
        </p:nvSpPr>
        <p:spPr>
          <a:xfrm>
            <a:off x="6104467" y="5067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Freeform 149"/>
          <p:cNvSpPr/>
          <p:nvPr/>
        </p:nvSpPr>
        <p:spPr>
          <a:xfrm>
            <a:off x="6181725" y="50673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Oval 150"/>
          <p:cNvSpPr/>
          <p:nvPr/>
        </p:nvSpPr>
        <p:spPr>
          <a:xfrm>
            <a:off x="7162800" y="5067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Freeform 151"/>
          <p:cNvSpPr/>
          <p:nvPr/>
        </p:nvSpPr>
        <p:spPr>
          <a:xfrm>
            <a:off x="7239000" y="50673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Oval 152"/>
          <p:cNvSpPr/>
          <p:nvPr/>
        </p:nvSpPr>
        <p:spPr>
          <a:xfrm>
            <a:off x="8221133" y="5067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Freeform 153"/>
          <p:cNvSpPr/>
          <p:nvPr/>
        </p:nvSpPr>
        <p:spPr>
          <a:xfrm>
            <a:off x="8296275" y="50673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Oval 154"/>
          <p:cNvSpPr/>
          <p:nvPr/>
        </p:nvSpPr>
        <p:spPr>
          <a:xfrm>
            <a:off x="9279467" y="5067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Freeform 155"/>
          <p:cNvSpPr/>
          <p:nvPr/>
        </p:nvSpPr>
        <p:spPr>
          <a:xfrm>
            <a:off x="9353550" y="50673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TextBox 156"/>
          <p:cNvSpPr txBox="1"/>
          <p:nvPr/>
        </p:nvSpPr>
        <p:spPr>
          <a:xfrm>
            <a:off x="9884833" y="49720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58" name="TextBox 157"/>
          <p:cNvSpPr txBox="1"/>
          <p:nvPr/>
        </p:nvSpPr>
        <p:spPr>
          <a:xfrm>
            <a:off x="10943167" y="49720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59" name="Connector 158"/>
          <p:cNvCxnSpPr/>
          <p:nvPr/>
        </p:nvCxnSpPr>
        <p:spPr>
          <a:xfrm>
            <a:off x="190500" y="5314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60" name="Rectangle 159"/>
          <p:cNvSpPr/>
          <p:nvPr/>
        </p:nvSpPr>
        <p:spPr>
          <a:xfrm>
            <a:off x="190500" y="53435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TextBox 160"/>
          <p:cNvSpPr txBox="1"/>
          <p:nvPr/>
        </p:nvSpPr>
        <p:spPr>
          <a:xfrm>
            <a:off x="285750" y="53340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Ruthinium Dental Manufacturing S.p.A.</a:t>
            </a:r>
          </a:p>
        </p:txBody>
      </p:sp>
      <p:sp>
        <p:nvSpPr>
          <p:cNvPr id="162" name="TextBox 161"/>
          <p:cNvSpPr txBox="1"/>
          <p:nvPr/>
        </p:nvSpPr>
        <p:spPr>
          <a:xfrm>
            <a:off x="285750" y="54959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63" name="TextBox 162"/>
          <p:cNvSpPr txBox="1"/>
          <p:nvPr/>
        </p:nvSpPr>
        <p:spPr>
          <a:xfrm>
            <a:off x="2000250" y="53149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64" name="TextBox 163"/>
          <p:cNvSpPr txBox="1"/>
          <p:nvPr/>
        </p:nvSpPr>
        <p:spPr>
          <a:xfrm>
            <a:off x="4419600" y="53149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165" name="Oval 164"/>
          <p:cNvSpPr/>
          <p:nvPr/>
        </p:nvSpPr>
        <p:spPr>
          <a:xfrm>
            <a:off x="6104467" y="5410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Freeform 165"/>
          <p:cNvSpPr/>
          <p:nvPr/>
        </p:nvSpPr>
        <p:spPr>
          <a:xfrm>
            <a:off x="6181725" y="54102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Oval 166"/>
          <p:cNvSpPr/>
          <p:nvPr/>
        </p:nvSpPr>
        <p:spPr>
          <a:xfrm>
            <a:off x="7162800" y="5410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Freeform 167"/>
          <p:cNvSpPr/>
          <p:nvPr/>
        </p:nvSpPr>
        <p:spPr>
          <a:xfrm>
            <a:off x="7239000" y="54102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Oval 168"/>
          <p:cNvSpPr/>
          <p:nvPr/>
        </p:nvSpPr>
        <p:spPr>
          <a:xfrm>
            <a:off x="8221133" y="5410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Freeform 169"/>
          <p:cNvSpPr/>
          <p:nvPr/>
        </p:nvSpPr>
        <p:spPr>
          <a:xfrm>
            <a:off x="8296275" y="54102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Oval 170"/>
          <p:cNvSpPr/>
          <p:nvPr/>
        </p:nvSpPr>
        <p:spPr>
          <a:xfrm>
            <a:off x="9279467" y="5410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Freeform 171"/>
          <p:cNvSpPr/>
          <p:nvPr/>
        </p:nvSpPr>
        <p:spPr>
          <a:xfrm>
            <a:off x="9353550" y="54102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TextBox 172"/>
          <p:cNvSpPr txBox="1"/>
          <p:nvPr/>
        </p:nvSpPr>
        <p:spPr>
          <a:xfrm>
            <a:off x="9884833" y="53149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74" name="TextBox 173"/>
          <p:cNvSpPr txBox="1"/>
          <p:nvPr/>
        </p:nvSpPr>
        <p:spPr>
          <a:xfrm>
            <a:off x="10943167" y="53149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75" name="Connector 174"/>
          <p:cNvCxnSpPr/>
          <p:nvPr/>
        </p:nvCxnSpPr>
        <p:spPr>
          <a:xfrm>
            <a:off x="190500" y="56578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76" name="Oval 175"/>
          <p:cNvSpPr/>
          <p:nvPr/>
        </p:nvSpPr>
        <p:spPr>
          <a:xfrm>
            <a:off x="200025" y="5734050"/>
            <a:ext cx="133350" cy="13335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TextBox 176"/>
          <p:cNvSpPr txBox="1"/>
          <p:nvPr/>
        </p:nvSpPr>
        <p:spPr>
          <a:xfrm>
            <a:off x="38100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Strong, direct evidence</a:t>
            </a:r>
          </a:p>
        </p:txBody>
      </p:sp>
      <p:sp>
        <p:nvSpPr>
          <p:cNvPr id="178" name="Oval 177"/>
          <p:cNvSpPr/>
          <p:nvPr/>
        </p:nvSpPr>
        <p:spPr>
          <a:xfrm>
            <a:off x="2065020"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Freeform 178"/>
          <p:cNvSpPr/>
          <p:nvPr/>
        </p:nvSpPr>
        <p:spPr>
          <a:xfrm>
            <a:off x="2133600" y="5734050"/>
            <a:ext cx="66675" cy="133350"/>
          </a:xfrm>
          <a:custGeom>
            <a:avLst/>
            <a:gdLst/>
            <a:ahLst/>
            <a:cxnLst/>
            <a:rect l="l" t="t" r="r" b="b"/>
            <a:pathLst>
              <a:path w="7" h="14">
                <a:moveTo>
                  <a:pt x="0" y="7"/>
                </a:moveTo>
                <a:lnTo>
                  <a:pt x="0" y="0"/>
                </a:lnTo>
                <a:lnTo>
                  <a:pt x="1" y="0"/>
                </a:lnTo>
                <a:lnTo>
                  <a:pt x="2" y="0"/>
                </a:lnTo>
                <a:lnTo>
                  <a:pt x="3" y="1"/>
                </a:lnTo>
                <a:lnTo>
                  <a:pt x="4" y="2"/>
                </a:lnTo>
                <a:lnTo>
                  <a:pt x="5" y="3"/>
                </a:lnTo>
                <a:lnTo>
                  <a:pt x="6" y="4"/>
                </a:lnTo>
                <a:lnTo>
                  <a:pt x="6" y="5"/>
                </a:lnTo>
                <a:lnTo>
                  <a:pt x="7" y="6"/>
                </a:lnTo>
                <a:lnTo>
                  <a:pt x="7" y="7"/>
                </a:lnTo>
                <a:lnTo>
                  <a:pt x="7" y="8"/>
                </a:lnTo>
                <a:lnTo>
                  <a:pt x="6" y="9"/>
                </a:lnTo>
                <a:lnTo>
                  <a:pt x="6" y="10"/>
                </a:lnTo>
                <a:lnTo>
                  <a:pt x="5" y="11"/>
                </a:lnTo>
                <a:lnTo>
                  <a:pt x="4" y="12"/>
                </a:lnTo>
                <a:lnTo>
                  <a:pt x="3" y="13"/>
                </a:lnTo>
                <a:lnTo>
                  <a:pt x="2" y="14"/>
                </a:lnTo>
                <a:lnTo>
                  <a:pt x="1" y="14"/>
                </a:lnTo>
                <a:lnTo>
                  <a:pt x="0" y="14"/>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TextBox 179"/>
          <p:cNvSpPr txBox="1"/>
          <p:nvPr/>
        </p:nvSpPr>
        <p:spPr>
          <a:xfrm>
            <a:off x="2245995"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Moderate or partial</a:t>
            </a:r>
          </a:p>
        </p:txBody>
      </p:sp>
      <p:sp>
        <p:nvSpPr>
          <p:cNvPr id="181" name="Oval 180"/>
          <p:cNvSpPr/>
          <p:nvPr/>
        </p:nvSpPr>
        <p:spPr>
          <a:xfrm>
            <a:off x="3678555"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Freeform 181"/>
          <p:cNvSpPr/>
          <p:nvPr/>
        </p:nvSpPr>
        <p:spPr>
          <a:xfrm>
            <a:off x="3743325" y="5734050"/>
            <a:ext cx="66675" cy="66675"/>
          </a:xfrm>
          <a:custGeom>
            <a:avLst/>
            <a:gdLst/>
            <a:ahLst/>
            <a:cxnLst/>
            <a:rect l="l" t="t" r="r" b="b"/>
            <a:pathLst>
              <a:path w="7" h="7">
                <a:moveTo>
                  <a:pt x="0" y="7"/>
                </a:moveTo>
                <a:lnTo>
                  <a:pt x="0" y="0"/>
                </a:lnTo>
                <a:lnTo>
                  <a:pt x="1" y="0"/>
                </a:lnTo>
                <a:lnTo>
                  <a:pt x="3" y="0"/>
                </a:lnTo>
                <a:lnTo>
                  <a:pt x="4" y="1"/>
                </a:lnTo>
                <a:lnTo>
                  <a:pt x="5" y="2"/>
                </a:lnTo>
                <a:lnTo>
                  <a:pt x="6" y="3"/>
                </a:lnTo>
                <a:lnTo>
                  <a:pt x="6" y="4"/>
                </a:lnTo>
                <a:lnTo>
                  <a:pt x="7" y="5"/>
                </a:lnTo>
                <a:lnTo>
                  <a:pt x="7" y="6"/>
                </a:lnTo>
                <a:lnTo>
                  <a:pt x="7" y="7"/>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TextBox 182"/>
          <p:cNvSpPr txBox="1"/>
          <p:nvPr/>
        </p:nvSpPr>
        <p:spPr>
          <a:xfrm>
            <a:off x="385953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Weak or indirect</a:t>
            </a:r>
          </a:p>
        </p:txBody>
      </p:sp>
      <p:sp>
        <p:nvSpPr>
          <p:cNvPr id="184" name="Oval 183"/>
          <p:cNvSpPr/>
          <p:nvPr/>
        </p:nvSpPr>
        <p:spPr>
          <a:xfrm>
            <a:off x="5103495"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TextBox 184"/>
          <p:cNvSpPr txBox="1"/>
          <p:nvPr/>
        </p:nvSpPr>
        <p:spPr>
          <a:xfrm>
            <a:off x="528447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None found</a:t>
            </a:r>
          </a:p>
        </p:txBody>
      </p:sp>
      <p:sp>
        <p:nvSpPr>
          <p:cNvPr id="186" name="TextBox 185"/>
          <p:cNvSpPr txBox="1"/>
          <p:nvPr/>
        </p:nvSpPr>
        <p:spPr>
          <a:xfrm>
            <a:off x="190500" y="59436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READING</a:t>
            </a:r>
          </a:p>
        </p:txBody>
      </p:sp>
      <p:sp>
        <p:nvSpPr>
          <p:cNvPr id="187" name="TextBox 186"/>
          <p:cNvSpPr txBox="1"/>
          <p:nvPr/>
        </p:nvSpPr>
        <p:spPr>
          <a:xfrm>
            <a:off x="190500" y="6096000"/>
            <a:ext cx="11811000" cy="2286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4 of 10 named players compete globally; scale and share follow the tier structure.</a:t>
            </a:r>
          </a:p>
        </p:txBody>
      </p:sp>
      <p:sp>
        <p:nvSpPr>
          <p:cNvPr id="188" name="TextBox 18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189" name="TextBox 188"/>
          <p:cNvSpPr txBox="1"/>
          <p:nvPr/>
        </p:nvSpPr>
        <p:spPr>
          <a:xfrm>
            <a:off x="8893175" y="1666875"/>
            <a:ext cx="398983" cy="186689"/>
          </a:xfrm>
          <a:prstGeom prst="rect">
            <a:avLst/>
          </a:prstGeom>
          <a:noFill/>
        </p:spPr>
        <p:txBody>
          <a:bodyPr wrap="none" lIns="0" rIns="0" tIns="0" bIns="0">
            <a:spAutoFit/>
          </a:bodyPr>
          <a:lstStyle/>
          <a:p>
            <a:r>
              <a:rPr sz="1100" b="0">
                <a:solidFill>
                  <a:srgbClr val="5F6B7A"/>
                </a:solidFill>
                <a:latin typeface="Calibri"/>
              </a:rPr>
              <a:t>Share</a:t>
            </a:r>
          </a:p>
        </p:txBody>
      </p:sp>
      <p:pic>
        <p:nvPicPr>
          <p:cNvPr id="190" name="Picture 189" descr="lock.png"/>
          <p:cNvPicPr>
            <a:picLocks noChangeAspect="1"/>
          </p:cNvPicPr>
          <p:nvPr/>
        </p:nvPicPr>
        <p:blipFill>
          <a:blip r:embed="rId4"/>
          <a:stretch>
            <a:fillRect/>
          </a:stretch>
        </p:blipFill>
        <p:spPr>
          <a:xfrm>
            <a:off x="9240209" y="1657096"/>
            <a:ext cx="128699" cy="187198"/>
          </a:xfrm>
          <a:prstGeom prst="rect">
            <a:avLst/>
          </a:prstGeom>
        </p:spPr>
      </p:pic>
      <p:sp>
        <p:nvSpPr>
          <p:cNvPr id="191" name="TextBox 190"/>
          <p:cNvSpPr txBox="1"/>
          <p:nvPr/>
        </p:nvSpPr>
        <p:spPr>
          <a:xfrm>
            <a:off x="9407705" y="1666875"/>
            <a:ext cx="384522" cy="186689"/>
          </a:xfrm>
          <a:prstGeom prst="rect">
            <a:avLst/>
          </a:prstGeom>
          <a:noFill/>
        </p:spPr>
        <p:txBody>
          <a:bodyPr wrap="none" lIns="0" rIns="0" tIns="0" bIns="0">
            <a:spAutoFit/>
          </a:bodyPr>
          <a:lstStyle/>
          <a:p>
            <a:r>
              <a:rPr sz="1100" b="0">
                <a:solidFill>
                  <a:srgbClr val="5F6B7A"/>
                </a:solidFill>
                <a:latin typeface="Calibri"/>
              </a:rPr>
              <a:t>+ = 3,</a:t>
            </a:r>
          </a:p>
        </p:txBody>
      </p:sp>
      <p:pic>
        <p:nvPicPr>
          <p:cNvPr id="192" name="Picture 191" descr="lock.png"/>
          <p:cNvPicPr>
            <a:picLocks noChangeAspect="1"/>
          </p:cNvPicPr>
          <p:nvPr/>
        </p:nvPicPr>
        <p:blipFill>
          <a:blip r:embed="rId4"/>
          <a:stretch>
            <a:fillRect/>
          </a:stretch>
        </p:blipFill>
        <p:spPr>
          <a:xfrm>
            <a:off x="8879707" y="1824736"/>
            <a:ext cx="128699" cy="187198"/>
          </a:xfrm>
          <a:prstGeom prst="rect">
            <a:avLst/>
          </a:prstGeom>
        </p:spPr>
      </p:pic>
      <p:sp>
        <p:nvSpPr>
          <p:cNvPr id="193" name="TextBox 192"/>
          <p:cNvSpPr txBox="1"/>
          <p:nvPr/>
        </p:nvSpPr>
        <p:spPr>
          <a:xfrm>
            <a:off x="9047203" y="1834515"/>
            <a:ext cx="643458" cy="186689"/>
          </a:xfrm>
          <a:prstGeom prst="rect">
            <a:avLst/>
          </a:prstGeom>
          <a:noFill/>
        </p:spPr>
        <p:txBody>
          <a:bodyPr wrap="none" lIns="0" rIns="0" tIns="0" bIns="0">
            <a:spAutoFit/>
          </a:bodyPr>
          <a:lstStyle/>
          <a:p>
            <a:r>
              <a:rPr sz="1100" b="0">
                <a:solidFill>
                  <a:srgbClr val="5F6B7A"/>
                </a:solidFill>
                <a:latin typeface="Calibri"/>
              </a:rPr>
              <a:t>= 2, else 1</a:t>
            </a:r>
          </a:p>
        </p:txBody>
      </p:sp>
      <p:pic>
        <p:nvPicPr>
          <p:cNvPr id="194" name="Picture 193" descr="lock.png"/>
          <p:cNvPicPr>
            <a:picLocks noChangeAspect="1"/>
          </p:cNvPicPr>
          <p:nvPr/>
        </p:nvPicPr>
        <p:blipFill>
          <a:blip r:embed="rId4"/>
          <a:stretch>
            <a:fillRect/>
          </a:stretch>
        </p:blipFill>
        <p:spPr>
          <a:xfrm>
            <a:off x="3126525" y="2306701"/>
            <a:ext cx="128699" cy="187198"/>
          </a:xfrm>
          <a:prstGeom prst="rect">
            <a:avLst/>
          </a:prstGeom>
        </p:spPr>
      </p:pic>
      <p:pic>
        <p:nvPicPr>
          <p:cNvPr id="195" name="Picture 194" descr="lock.png"/>
          <p:cNvPicPr>
            <a:picLocks noChangeAspect="1"/>
          </p:cNvPicPr>
          <p:nvPr/>
        </p:nvPicPr>
        <p:blipFill>
          <a:blip r:embed="rId4"/>
          <a:stretch>
            <a:fillRect/>
          </a:stretch>
        </p:blipFill>
        <p:spPr>
          <a:xfrm>
            <a:off x="10349650" y="2306701"/>
            <a:ext cx="128699" cy="187198"/>
          </a:xfrm>
          <a:prstGeom prst="rect">
            <a:avLst/>
          </a:prstGeom>
        </p:spPr>
      </p:pic>
      <p:pic>
        <p:nvPicPr>
          <p:cNvPr id="196" name="Picture 195" descr="lock.png"/>
          <p:cNvPicPr>
            <a:picLocks noChangeAspect="1"/>
          </p:cNvPicPr>
          <p:nvPr/>
        </p:nvPicPr>
        <p:blipFill>
          <a:blip r:embed="rId4"/>
          <a:stretch>
            <a:fillRect/>
          </a:stretch>
        </p:blipFill>
        <p:spPr>
          <a:xfrm>
            <a:off x="11407984" y="2306701"/>
            <a:ext cx="128699" cy="187198"/>
          </a:xfrm>
          <a:prstGeom prst="rect">
            <a:avLst/>
          </a:prstGeom>
        </p:spPr>
      </p:pic>
      <p:pic>
        <p:nvPicPr>
          <p:cNvPr id="197" name="Picture 196" descr="lock.png"/>
          <p:cNvPicPr>
            <a:picLocks noChangeAspect="1"/>
          </p:cNvPicPr>
          <p:nvPr/>
        </p:nvPicPr>
        <p:blipFill>
          <a:blip r:embed="rId4"/>
          <a:stretch>
            <a:fillRect/>
          </a:stretch>
        </p:blipFill>
        <p:spPr>
          <a:xfrm>
            <a:off x="3126525" y="2649601"/>
            <a:ext cx="128699" cy="187198"/>
          </a:xfrm>
          <a:prstGeom prst="rect">
            <a:avLst/>
          </a:prstGeom>
        </p:spPr>
      </p:pic>
      <p:pic>
        <p:nvPicPr>
          <p:cNvPr id="198" name="Picture 197" descr="lock.png"/>
          <p:cNvPicPr>
            <a:picLocks noChangeAspect="1"/>
          </p:cNvPicPr>
          <p:nvPr/>
        </p:nvPicPr>
        <p:blipFill>
          <a:blip r:embed="rId4"/>
          <a:stretch>
            <a:fillRect/>
          </a:stretch>
        </p:blipFill>
        <p:spPr>
          <a:xfrm>
            <a:off x="10349650" y="2649601"/>
            <a:ext cx="128699" cy="187198"/>
          </a:xfrm>
          <a:prstGeom prst="rect">
            <a:avLst/>
          </a:prstGeom>
        </p:spPr>
      </p:pic>
      <p:pic>
        <p:nvPicPr>
          <p:cNvPr id="199" name="Picture 198" descr="lock.png"/>
          <p:cNvPicPr>
            <a:picLocks noChangeAspect="1"/>
          </p:cNvPicPr>
          <p:nvPr/>
        </p:nvPicPr>
        <p:blipFill>
          <a:blip r:embed="rId4"/>
          <a:stretch>
            <a:fillRect/>
          </a:stretch>
        </p:blipFill>
        <p:spPr>
          <a:xfrm>
            <a:off x="11407984" y="2649601"/>
            <a:ext cx="128699" cy="187198"/>
          </a:xfrm>
          <a:prstGeom prst="rect">
            <a:avLst/>
          </a:prstGeom>
        </p:spPr>
      </p:pic>
      <p:pic>
        <p:nvPicPr>
          <p:cNvPr id="200" name="Picture 199" descr="lock.png"/>
          <p:cNvPicPr>
            <a:picLocks noChangeAspect="1"/>
          </p:cNvPicPr>
          <p:nvPr/>
        </p:nvPicPr>
        <p:blipFill>
          <a:blip r:embed="rId4"/>
          <a:stretch>
            <a:fillRect/>
          </a:stretch>
        </p:blipFill>
        <p:spPr>
          <a:xfrm>
            <a:off x="3126525" y="2992501"/>
            <a:ext cx="128699" cy="187198"/>
          </a:xfrm>
          <a:prstGeom prst="rect">
            <a:avLst/>
          </a:prstGeom>
        </p:spPr>
      </p:pic>
      <p:pic>
        <p:nvPicPr>
          <p:cNvPr id="201" name="Picture 200" descr="lock.png"/>
          <p:cNvPicPr>
            <a:picLocks noChangeAspect="1"/>
          </p:cNvPicPr>
          <p:nvPr/>
        </p:nvPicPr>
        <p:blipFill>
          <a:blip r:embed="rId4"/>
          <a:stretch>
            <a:fillRect/>
          </a:stretch>
        </p:blipFill>
        <p:spPr>
          <a:xfrm>
            <a:off x="10349650" y="2992501"/>
            <a:ext cx="128699" cy="187198"/>
          </a:xfrm>
          <a:prstGeom prst="rect">
            <a:avLst/>
          </a:prstGeom>
        </p:spPr>
      </p:pic>
      <p:pic>
        <p:nvPicPr>
          <p:cNvPr id="202" name="Picture 201" descr="lock.png"/>
          <p:cNvPicPr>
            <a:picLocks noChangeAspect="1"/>
          </p:cNvPicPr>
          <p:nvPr/>
        </p:nvPicPr>
        <p:blipFill>
          <a:blip r:embed="rId4"/>
          <a:stretch>
            <a:fillRect/>
          </a:stretch>
        </p:blipFill>
        <p:spPr>
          <a:xfrm>
            <a:off x="11407984" y="2992501"/>
            <a:ext cx="128699" cy="187198"/>
          </a:xfrm>
          <a:prstGeom prst="rect">
            <a:avLst/>
          </a:prstGeom>
        </p:spPr>
      </p:pic>
      <p:pic>
        <p:nvPicPr>
          <p:cNvPr id="203" name="Picture 202" descr="lock.png"/>
          <p:cNvPicPr>
            <a:picLocks noChangeAspect="1"/>
          </p:cNvPicPr>
          <p:nvPr/>
        </p:nvPicPr>
        <p:blipFill>
          <a:blip r:embed="rId4"/>
          <a:stretch>
            <a:fillRect/>
          </a:stretch>
        </p:blipFill>
        <p:spPr>
          <a:xfrm>
            <a:off x="3126525" y="3335401"/>
            <a:ext cx="128699" cy="187198"/>
          </a:xfrm>
          <a:prstGeom prst="rect">
            <a:avLst/>
          </a:prstGeom>
        </p:spPr>
      </p:pic>
      <p:pic>
        <p:nvPicPr>
          <p:cNvPr id="204" name="Picture 203" descr="lock.png"/>
          <p:cNvPicPr>
            <a:picLocks noChangeAspect="1"/>
          </p:cNvPicPr>
          <p:nvPr/>
        </p:nvPicPr>
        <p:blipFill>
          <a:blip r:embed="rId4"/>
          <a:stretch>
            <a:fillRect/>
          </a:stretch>
        </p:blipFill>
        <p:spPr>
          <a:xfrm>
            <a:off x="10349650" y="3335401"/>
            <a:ext cx="128699" cy="187198"/>
          </a:xfrm>
          <a:prstGeom prst="rect">
            <a:avLst/>
          </a:prstGeom>
        </p:spPr>
      </p:pic>
      <p:pic>
        <p:nvPicPr>
          <p:cNvPr id="205" name="Picture 204" descr="lock.png"/>
          <p:cNvPicPr>
            <a:picLocks noChangeAspect="1"/>
          </p:cNvPicPr>
          <p:nvPr/>
        </p:nvPicPr>
        <p:blipFill>
          <a:blip r:embed="rId4"/>
          <a:stretch>
            <a:fillRect/>
          </a:stretch>
        </p:blipFill>
        <p:spPr>
          <a:xfrm>
            <a:off x="11407984" y="3335401"/>
            <a:ext cx="128699" cy="187198"/>
          </a:xfrm>
          <a:prstGeom prst="rect">
            <a:avLst/>
          </a:prstGeom>
        </p:spPr>
      </p:pic>
      <p:pic>
        <p:nvPicPr>
          <p:cNvPr id="206" name="Picture 205" descr="lock.png"/>
          <p:cNvPicPr>
            <a:picLocks noChangeAspect="1"/>
          </p:cNvPicPr>
          <p:nvPr/>
        </p:nvPicPr>
        <p:blipFill>
          <a:blip r:embed="rId4"/>
          <a:stretch>
            <a:fillRect/>
          </a:stretch>
        </p:blipFill>
        <p:spPr>
          <a:xfrm>
            <a:off x="3126525" y="3678301"/>
            <a:ext cx="128699" cy="187198"/>
          </a:xfrm>
          <a:prstGeom prst="rect">
            <a:avLst/>
          </a:prstGeom>
        </p:spPr>
      </p:pic>
      <p:pic>
        <p:nvPicPr>
          <p:cNvPr id="207" name="Picture 206" descr="lock.png"/>
          <p:cNvPicPr>
            <a:picLocks noChangeAspect="1"/>
          </p:cNvPicPr>
          <p:nvPr/>
        </p:nvPicPr>
        <p:blipFill>
          <a:blip r:embed="rId4"/>
          <a:stretch>
            <a:fillRect/>
          </a:stretch>
        </p:blipFill>
        <p:spPr>
          <a:xfrm>
            <a:off x="10349650" y="3678301"/>
            <a:ext cx="128699" cy="187198"/>
          </a:xfrm>
          <a:prstGeom prst="rect">
            <a:avLst/>
          </a:prstGeom>
        </p:spPr>
      </p:pic>
      <p:pic>
        <p:nvPicPr>
          <p:cNvPr id="208" name="Picture 207" descr="lock.png"/>
          <p:cNvPicPr>
            <a:picLocks noChangeAspect="1"/>
          </p:cNvPicPr>
          <p:nvPr/>
        </p:nvPicPr>
        <p:blipFill>
          <a:blip r:embed="rId4"/>
          <a:stretch>
            <a:fillRect/>
          </a:stretch>
        </p:blipFill>
        <p:spPr>
          <a:xfrm>
            <a:off x="11407984" y="3678301"/>
            <a:ext cx="128699" cy="187198"/>
          </a:xfrm>
          <a:prstGeom prst="rect">
            <a:avLst/>
          </a:prstGeom>
        </p:spPr>
      </p:pic>
      <p:pic>
        <p:nvPicPr>
          <p:cNvPr id="209" name="Picture 208" descr="lock.png"/>
          <p:cNvPicPr>
            <a:picLocks noChangeAspect="1"/>
          </p:cNvPicPr>
          <p:nvPr/>
        </p:nvPicPr>
        <p:blipFill>
          <a:blip r:embed="rId4"/>
          <a:stretch>
            <a:fillRect/>
          </a:stretch>
        </p:blipFill>
        <p:spPr>
          <a:xfrm>
            <a:off x="3126525" y="4021201"/>
            <a:ext cx="128699" cy="187198"/>
          </a:xfrm>
          <a:prstGeom prst="rect">
            <a:avLst/>
          </a:prstGeom>
        </p:spPr>
      </p:pic>
      <p:pic>
        <p:nvPicPr>
          <p:cNvPr id="210" name="Picture 209" descr="lock.png"/>
          <p:cNvPicPr>
            <a:picLocks noChangeAspect="1"/>
          </p:cNvPicPr>
          <p:nvPr/>
        </p:nvPicPr>
        <p:blipFill>
          <a:blip r:embed="rId4"/>
          <a:stretch>
            <a:fillRect/>
          </a:stretch>
        </p:blipFill>
        <p:spPr>
          <a:xfrm>
            <a:off x="10349650" y="4021201"/>
            <a:ext cx="128699" cy="187198"/>
          </a:xfrm>
          <a:prstGeom prst="rect">
            <a:avLst/>
          </a:prstGeom>
        </p:spPr>
      </p:pic>
      <p:pic>
        <p:nvPicPr>
          <p:cNvPr id="211" name="Picture 210" descr="lock.png"/>
          <p:cNvPicPr>
            <a:picLocks noChangeAspect="1"/>
          </p:cNvPicPr>
          <p:nvPr/>
        </p:nvPicPr>
        <p:blipFill>
          <a:blip r:embed="rId4"/>
          <a:stretch>
            <a:fillRect/>
          </a:stretch>
        </p:blipFill>
        <p:spPr>
          <a:xfrm>
            <a:off x="11407984" y="4021201"/>
            <a:ext cx="128699" cy="187198"/>
          </a:xfrm>
          <a:prstGeom prst="rect">
            <a:avLst/>
          </a:prstGeom>
        </p:spPr>
      </p:pic>
      <p:pic>
        <p:nvPicPr>
          <p:cNvPr id="212" name="Picture 211" descr="lock.png"/>
          <p:cNvPicPr>
            <a:picLocks noChangeAspect="1"/>
          </p:cNvPicPr>
          <p:nvPr/>
        </p:nvPicPr>
        <p:blipFill>
          <a:blip r:embed="rId4"/>
          <a:stretch>
            <a:fillRect/>
          </a:stretch>
        </p:blipFill>
        <p:spPr>
          <a:xfrm>
            <a:off x="3126525" y="4364101"/>
            <a:ext cx="128699" cy="187198"/>
          </a:xfrm>
          <a:prstGeom prst="rect">
            <a:avLst/>
          </a:prstGeom>
        </p:spPr>
      </p:pic>
      <p:pic>
        <p:nvPicPr>
          <p:cNvPr id="213" name="Picture 212" descr="lock.png"/>
          <p:cNvPicPr>
            <a:picLocks noChangeAspect="1"/>
          </p:cNvPicPr>
          <p:nvPr/>
        </p:nvPicPr>
        <p:blipFill>
          <a:blip r:embed="rId4"/>
          <a:stretch>
            <a:fillRect/>
          </a:stretch>
        </p:blipFill>
        <p:spPr>
          <a:xfrm>
            <a:off x="10349650" y="4364101"/>
            <a:ext cx="128699" cy="187198"/>
          </a:xfrm>
          <a:prstGeom prst="rect">
            <a:avLst/>
          </a:prstGeom>
        </p:spPr>
      </p:pic>
      <p:pic>
        <p:nvPicPr>
          <p:cNvPr id="214" name="Picture 213" descr="lock.png"/>
          <p:cNvPicPr>
            <a:picLocks noChangeAspect="1"/>
          </p:cNvPicPr>
          <p:nvPr/>
        </p:nvPicPr>
        <p:blipFill>
          <a:blip r:embed="rId4"/>
          <a:stretch>
            <a:fillRect/>
          </a:stretch>
        </p:blipFill>
        <p:spPr>
          <a:xfrm>
            <a:off x="11407984" y="4364101"/>
            <a:ext cx="128699" cy="187198"/>
          </a:xfrm>
          <a:prstGeom prst="rect">
            <a:avLst/>
          </a:prstGeom>
        </p:spPr>
      </p:pic>
      <p:pic>
        <p:nvPicPr>
          <p:cNvPr id="215" name="Picture 214" descr="lock.png"/>
          <p:cNvPicPr>
            <a:picLocks noChangeAspect="1"/>
          </p:cNvPicPr>
          <p:nvPr/>
        </p:nvPicPr>
        <p:blipFill>
          <a:blip r:embed="rId4"/>
          <a:stretch>
            <a:fillRect/>
          </a:stretch>
        </p:blipFill>
        <p:spPr>
          <a:xfrm>
            <a:off x="3126525" y="4707001"/>
            <a:ext cx="128699" cy="187198"/>
          </a:xfrm>
          <a:prstGeom prst="rect">
            <a:avLst/>
          </a:prstGeom>
        </p:spPr>
      </p:pic>
      <p:pic>
        <p:nvPicPr>
          <p:cNvPr id="216" name="Picture 215" descr="lock.png"/>
          <p:cNvPicPr>
            <a:picLocks noChangeAspect="1"/>
          </p:cNvPicPr>
          <p:nvPr/>
        </p:nvPicPr>
        <p:blipFill>
          <a:blip r:embed="rId4"/>
          <a:stretch>
            <a:fillRect/>
          </a:stretch>
        </p:blipFill>
        <p:spPr>
          <a:xfrm>
            <a:off x="10349650" y="4707001"/>
            <a:ext cx="128699" cy="187198"/>
          </a:xfrm>
          <a:prstGeom prst="rect">
            <a:avLst/>
          </a:prstGeom>
        </p:spPr>
      </p:pic>
      <p:pic>
        <p:nvPicPr>
          <p:cNvPr id="217" name="Picture 216" descr="lock.png"/>
          <p:cNvPicPr>
            <a:picLocks noChangeAspect="1"/>
          </p:cNvPicPr>
          <p:nvPr/>
        </p:nvPicPr>
        <p:blipFill>
          <a:blip r:embed="rId4"/>
          <a:stretch>
            <a:fillRect/>
          </a:stretch>
        </p:blipFill>
        <p:spPr>
          <a:xfrm>
            <a:off x="11407984" y="4707001"/>
            <a:ext cx="128699" cy="187198"/>
          </a:xfrm>
          <a:prstGeom prst="rect">
            <a:avLst/>
          </a:prstGeom>
        </p:spPr>
      </p:pic>
      <p:pic>
        <p:nvPicPr>
          <p:cNvPr id="218" name="Picture 217" descr="lock.png"/>
          <p:cNvPicPr>
            <a:picLocks noChangeAspect="1"/>
          </p:cNvPicPr>
          <p:nvPr/>
        </p:nvPicPr>
        <p:blipFill>
          <a:blip r:embed="rId4"/>
          <a:stretch>
            <a:fillRect/>
          </a:stretch>
        </p:blipFill>
        <p:spPr>
          <a:xfrm>
            <a:off x="3126525" y="5049901"/>
            <a:ext cx="128699" cy="187198"/>
          </a:xfrm>
          <a:prstGeom prst="rect">
            <a:avLst/>
          </a:prstGeom>
        </p:spPr>
      </p:pic>
      <p:pic>
        <p:nvPicPr>
          <p:cNvPr id="219" name="Picture 218" descr="lock.png"/>
          <p:cNvPicPr>
            <a:picLocks noChangeAspect="1"/>
          </p:cNvPicPr>
          <p:nvPr/>
        </p:nvPicPr>
        <p:blipFill>
          <a:blip r:embed="rId4"/>
          <a:stretch>
            <a:fillRect/>
          </a:stretch>
        </p:blipFill>
        <p:spPr>
          <a:xfrm>
            <a:off x="10349650" y="5049901"/>
            <a:ext cx="128699" cy="187198"/>
          </a:xfrm>
          <a:prstGeom prst="rect">
            <a:avLst/>
          </a:prstGeom>
        </p:spPr>
      </p:pic>
      <p:pic>
        <p:nvPicPr>
          <p:cNvPr id="220" name="Picture 219" descr="lock.png"/>
          <p:cNvPicPr>
            <a:picLocks noChangeAspect="1"/>
          </p:cNvPicPr>
          <p:nvPr/>
        </p:nvPicPr>
        <p:blipFill>
          <a:blip r:embed="rId4"/>
          <a:stretch>
            <a:fillRect/>
          </a:stretch>
        </p:blipFill>
        <p:spPr>
          <a:xfrm>
            <a:off x="11407984" y="5049901"/>
            <a:ext cx="128699" cy="187198"/>
          </a:xfrm>
          <a:prstGeom prst="rect">
            <a:avLst/>
          </a:prstGeom>
        </p:spPr>
      </p:pic>
      <p:pic>
        <p:nvPicPr>
          <p:cNvPr id="221" name="Picture 220" descr="lock.png"/>
          <p:cNvPicPr>
            <a:picLocks noChangeAspect="1"/>
          </p:cNvPicPr>
          <p:nvPr/>
        </p:nvPicPr>
        <p:blipFill>
          <a:blip r:embed="rId4"/>
          <a:stretch>
            <a:fillRect/>
          </a:stretch>
        </p:blipFill>
        <p:spPr>
          <a:xfrm>
            <a:off x="3126525" y="5392801"/>
            <a:ext cx="128699" cy="187198"/>
          </a:xfrm>
          <a:prstGeom prst="rect">
            <a:avLst/>
          </a:prstGeom>
        </p:spPr>
      </p:pic>
      <p:pic>
        <p:nvPicPr>
          <p:cNvPr id="222" name="Picture 221" descr="lock.png"/>
          <p:cNvPicPr>
            <a:picLocks noChangeAspect="1"/>
          </p:cNvPicPr>
          <p:nvPr/>
        </p:nvPicPr>
        <p:blipFill>
          <a:blip r:embed="rId4"/>
          <a:stretch>
            <a:fillRect/>
          </a:stretch>
        </p:blipFill>
        <p:spPr>
          <a:xfrm>
            <a:off x="10349650" y="5392801"/>
            <a:ext cx="128699" cy="187198"/>
          </a:xfrm>
          <a:prstGeom prst="rect">
            <a:avLst/>
          </a:prstGeom>
        </p:spPr>
      </p:pic>
      <p:pic>
        <p:nvPicPr>
          <p:cNvPr id="223" name="Picture 222" descr="lock.png"/>
          <p:cNvPicPr>
            <a:picLocks noChangeAspect="1"/>
          </p:cNvPicPr>
          <p:nvPr/>
        </p:nvPicPr>
        <p:blipFill>
          <a:blip r:embed="rId4"/>
          <a:stretch>
            <a:fillRect/>
          </a:stretch>
        </p:blipFill>
        <p:spPr>
          <a:xfrm>
            <a:off x="11407984" y="5392801"/>
            <a:ext cx="128699" cy="187198"/>
          </a:xfrm>
          <a:prstGeom prst="rect">
            <a:avLst/>
          </a:prstGeom>
        </p:spPr>
      </p:pic>
    </p:spTree>
  </p:cSld>
  <p:clrMapOvr>
    <a:masterClrMapping/>
  </p:clrMapOvr>
</p:sld>
</file>

<file path=ppt/slides/slide2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Offering Scorecard: What They Sell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Six offering Ps: product, technology, price and model, verticals, proof and IP</a:t>
            </a:r>
          </a:p>
        </p:txBody>
      </p:sp>
      <p:sp>
        <p:nvSpPr>
          <p:cNvPr id="10" name="Rectangle 9"/>
          <p:cNvSpPr/>
          <p:nvPr/>
        </p:nvSpPr>
        <p:spPr>
          <a:xfrm>
            <a:off x="190500" y="1047750"/>
            <a:ext cx="1181100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66700" y="1047750"/>
            <a:ext cx="6667500" cy="209550"/>
          </a:xfrm>
          <a:prstGeom prst="rect">
            <a:avLst/>
          </a:prstGeom>
          <a:noFill/>
        </p:spPr>
        <p:txBody>
          <a:bodyPr wrap="square" lIns="28575" rIns="28575" tIns="9525" bIns="9525" anchor="ctr">
            <a:spAutoFit/>
          </a:bodyPr>
          <a:lstStyle/>
          <a:p>
            <a:pPr algn="l"/>
            <a:r>
              <a:rPr sz="1100" b="1">
                <a:solidFill>
                  <a:srgbClr val="FFFFFF"/>
                </a:solidFill>
                <a:latin typeface="Calibri"/>
              </a:rPr>
              <a:t>LEVEL 2, OFFERING: WHAT THEY SELL</a:t>
            </a:r>
          </a:p>
        </p:txBody>
      </p:sp>
      <p:sp>
        <p:nvSpPr>
          <p:cNvPr id="12" name="TextBox 11"/>
          <p:cNvSpPr txBox="1"/>
          <p:nvPr/>
        </p:nvSpPr>
        <p:spPr>
          <a:xfrm>
            <a:off x="2038350" y="1295400"/>
            <a:ext cx="1394572"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Product</a:t>
            </a:r>
          </a:p>
        </p:txBody>
      </p:sp>
      <p:sp>
        <p:nvSpPr>
          <p:cNvPr id="13" name="TextBox 12"/>
          <p:cNvSpPr txBox="1"/>
          <p:nvPr/>
        </p:nvSpPr>
        <p:spPr>
          <a:xfrm>
            <a:off x="2038350" y="1657350"/>
            <a:ext cx="1394572"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Of the top three types offered</a:t>
            </a:r>
          </a:p>
        </p:txBody>
      </p:sp>
      <p:sp>
        <p:nvSpPr>
          <p:cNvPr id="14" name="TextBox 13"/>
          <p:cNvSpPr txBox="1"/>
          <p:nvPr/>
        </p:nvSpPr>
        <p:spPr>
          <a:xfrm>
            <a:off x="3509122" y="1295400"/>
            <a:ext cx="1394572"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Platform (technology)</a:t>
            </a:r>
          </a:p>
        </p:txBody>
      </p:sp>
      <p:sp>
        <p:nvSpPr>
          <p:cNvPr id="15" name="TextBox 14"/>
          <p:cNvSpPr txBox="1"/>
          <p:nvPr/>
        </p:nvSpPr>
        <p:spPr>
          <a:xfrm>
            <a:off x="3509122" y="1657350"/>
            <a:ext cx="1394572"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R&amp;D and development: both 3, one 2</a:t>
            </a:r>
          </a:p>
        </p:txBody>
      </p:sp>
      <p:sp>
        <p:nvSpPr>
          <p:cNvPr id="16" name="TextBox 15"/>
          <p:cNvSpPr txBox="1"/>
          <p:nvPr/>
        </p:nvSpPr>
        <p:spPr>
          <a:xfrm>
            <a:off x="4979894"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Price and model</a:t>
            </a:r>
          </a:p>
        </p:txBody>
      </p:sp>
      <p:sp>
        <p:nvSpPr>
          <p:cNvPr id="17" name="TextBox 16"/>
          <p:cNvSpPr txBox="1"/>
          <p:nvPr/>
        </p:nvSpPr>
        <p:spPr>
          <a:xfrm>
            <a:off x="4979894"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Positioning by tier</a:t>
            </a:r>
          </a:p>
        </p:txBody>
      </p:sp>
      <p:sp>
        <p:nvSpPr>
          <p:cNvPr id="18" name="TextBox 17"/>
          <p:cNvSpPr txBox="1"/>
          <p:nvPr/>
        </p:nvSpPr>
        <p:spPr>
          <a:xfrm>
            <a:off x="6744821"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Positioning (verticals)</a:t>
            </a:r>
          </a:p>
        </p:txBody>
      </p:sp>
      <p:sp>
        <p:nvSpPr>
          <p:cNvPr id="19" name="TextBox 18"/>
          <p:cNvSpPr txBox="1"/>
          <p:nvPr/>
        </p:nvSpPr>
        <p:spPr>
          <a:xfrm>
            <a:off x="6744821"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End uses served</a:t>
            </a:r>
          </a:p>
        </p:txBody>
      </p:sp>
      <p:sp>
        <p:nvSpPr>
          <p:cNvPr id="20" name="TextBox 19"/>
          <p:cNvSpPr txBox="1"/>
          <p:nvPr/>
        </p:nvSpPr>
        <p:spPr>
          <a:xfrm>
            <a:off x="8509747"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Proof</a:t>
            </a:r>
          </a:p>
        </p:txBody>
      </p:sp>
      <p:sp>
        <p:nvSpPr>
          <p:cNvPr id="21" name="TextBox 20"/>
          <p:cNvSpPr txBox="1"/>
          <p:nvPr/>
        </p:nvSpPr>
        <p:spPr>
          <a:xfrm>
            <a:off x="8509747"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Named customer references</a:t>
            </a:r>
          </a:p>
        </p:txBody>
      </p:sp>
      <p:sp>
        <p:nvSpPr>
          <p:cNvPr id="22" name="TextBox 21"/>
          <p:cNvSpPr txBox="1"/>
          <p:nvPr/>
        </p:nvSpPr>
        <p:spPr>
          <a:xfrm>
            <a:off x="10274674"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Patents and IP</a:t>
            </a:r>
          </a:p>
        </p:txBody>
      </p:sp>
      <p:sp>
        <p:nvSpPr>
          <p:cNvPr id="23" name="TextBox 22"/>
          <p:cNvSpPr txBox="1"/>
          <p:nvPr/>
        </p:nvSpPr>
        <p:spPr>
          <a:xfrm>
            <a:off x="10274674"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Where the study covers patents</a:t>
            </a:r>
          </a:p>
        </p:txBody>
      </p:sp>
      <p:cxnSp>
        <p:nvCxnSpPr>
          <p:cNvPr id="24" name="Connector 23"/>
          <p:cNvCxnSpPr/>
          <p:nvPr/>
        </p:nvCxnSpPr>
        <p:spPr>
          <a:xfrm>
            <a:off x="190500" y="2209800"/>
            <a:ext cx="11811000" cy="0"/>
          </a:xfrm>
          <a:prstGeom prst="line">
            <a:avLst/>
          </a:prstGeom>
          <a:ln w="127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5" name="Rectangle 24"/>
          <p:cNvSpPr/>
          <p:nvPr/>
        </p:nvSpPr>
        <p:spPr>
          <a:xfrm>
            <a:off x="190500" y="22574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85750" y="22479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Dentsply Sirona Inc.</a:t>
            </a:r>
          </a:p>
        </p:txBody>
      </p:sp>
      <p:sp>
        <p:nvSpPr>
          <p:cNvPr id="27" name="TextBox 26"/>
          <p:cNvSpPr txBox="1"/>
          <p:nvPr/>
        </p:nvSpPr>
        <p:spPr>
          <a:xfrm>
            <a:off x="285750" y="24098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28" name="Oval 27"/>
          <p:cNvSpPr/>
          <p:nvPr/>
        </p:nvSpPr>
        <p:spPr>
          <a:xfrm>
            <a:off x="2659436"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Oval 28"/>
          <p:cNvSpPr/>
          <p:nvPr/>
        </p:nvSpPr>
        <p:spPr>
          <a:xfrm>
            <a:off x="4130208" y="23241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Freeform 29"/>
          <p:cNvSpPr/>
          <p:nvPr/>
        </p:nvSpPr>
        <p:spPr>
          <a:xfrm>
            <a:off x="4210050" y="23241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4979894" y="22288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Premium / bundled</a:t>
            </a:r>
          </a:p>
        </p:txBody>
      </p:sp>
      <p:sp>
        <p:nvSpPr>
          <p:cNvPr id="32" name="TextBox 31"/>
          <p:cNvSpPr txBox="1"/>
          <p:nvPr/>
        </p:nvSpPr>
        <p:spPr>
          <a:xfrm>
            <a:off x="6744821" y="22288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Dental Laboratories, Academic &amp; Teaching Dental Institutions</a:t>
            </a:r>
          </a:p>
        </p:txBody>
      </p:sp>
      <p:sp>
        <p:nvSpPr>
          <p:cNvPr id="33" name="TextBox 32"/>
          <p:cNvSpPr txBox="1"/>
          <p:nvPr/>
        </p:nvSpPr>
        <p:spPr>
          <a:xfrm>
            <a:off x="8471647" y="22288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34" name="TextBox 33"/>
          <p:cNvSpPr txBox="1"/>
          <p:nvPr/>
        </p:nvSpPr>
        <p:spPr>
          <a:xfrm>
            <a:off x="10236574" y="22288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35" name="Connector 34"/>
          <p:cNvCxnSpPr/>
          <p:nvPr/>
        </p:nvCxnSpPr>
        <p:spPr>
          <a:xfrm>
            <a:off x="190500" y="2571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6" name="Rectangle 35"/>
          <p:cNvSpPr/>
          <p:nvPr/>
        </p:nvSpPr>
        <p:spPr>
          <a:xfrm>
            <a:off x="190500" y="26003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85750" y="25908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Ivoclar Vivadent AG</a:t>
            </a:r>
          </a:p>
        </p:txBody>
      </p:sp>
      <p:sp>
        <p:nvSpPr>
          <p:cNvPr id="38" name="TextBox 37"/>
          <p:cNvSpPr txBox="1"/>
          <p:nvPr/>
        </p:nvSpPr>
        <p:spPr>
          <a:xfrm>
            <a:off x="285750" y="27527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39" name="Oval 38"/>
          <p:cNvSpPr/>
          <p:nvPr/>
        </p:nvSpPr>
        <p:spPr>
          <a:xfrm>
            <a:off x="2659436" y="2667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Freeform 39"/>
          <p:cNvSpPr/>
          <p:nvPr/>
        </p:nvSpPr>
        <p:spPr>
          <a:xfrm>
            <a:off x="2733675" y="26670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Oval 40"/>
          <p:cNvSpPr/>
          <p:nvPr/>
        </p:nvSpPr>
        <p:spPr>
          <a:xfrm>
            <a:off x="4130208"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979894" y="25717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Premium / bundled</a:t>
            </a:r>
          </a:p>
        </p:txBody>
      </p:sp>
      <p:sp>
        <p:nvSpPr>
          <p:cNvPr id="43" name="TextBox 42"/>
          <p:cNvSpPr txBox="1"/>
          <p:nvPr/>
        </p:nvSpPr>
        <p:spPr>
          <a:xfrm>
            <a:off x="6744821" y="25717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Dental Laboratories, Dental Clinics</a:t>
            </a:r>
          </a:p>
        </p:txBody>
      </p:sp>
      <p:sp>
        <p:nvSpPr>
          <p:cNvPr id="44" name="TextBox 43"/>
          <p:cNvSpPr txBox="1"/>
          <p:nvPr/>
        </p:nvSpPr>
        <p:spPr>
          <a:xfrm>
            <a:off x="8471647" y="25717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45" name="TextBox 44"/>
          <p:cNvSpPr txBox="1"/>
          <p:nvPr/>
        </p:nvSpPr>
        <p:spPr>
          <a:xfrm>
            <a:off x="10236574" y="25717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46" name="Connector 45"/>
          <p:cNvCxnSpPr/>
          <p:nvPr/>
        </p:nvCxnSpPr>
        <p:spPr>
          <a:xfrm>
            <a:off x="190500" y="29146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7" name="Rectangle 46"/>
          <p:cNvSpPr/>
          <p:nvPr/>
        </p:nvSpPr>
        <p:spPr>
          <a:xfrm>
            <a:off x="190500" y="29432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85750" y="29337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Kulzer GmbH</a:t>
            </a:r>
          </a:p>
        </p:txBody>
      </p:sp>
      <p:sp>
        <p:nvSpPr>
          <p:cNvPr id="49" name="TextBox 48"/>
          <p:cNvSpPr txBox="1"/>
          <p:nvPr/>
        </p:nvSpPr>
        <p:spPr>
          <a:xfrm>
            <a:off x="285750" y="30956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50" name="Oval 49"/>
          <p:cNvSpPr/>
          <p:nvPr/>
        </p:nvSpPr>
        <p:spPr>
          <a:xfrm>
            <a:off x="2659436" y="3009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Freeform 50"/>
          <p:cNvSpPr/>
          <p:nvPr/>
        </p:nvSpPr>
        <p:spPr>
          <a:xfrm>
            <a:off x="2733675" y="30099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Oval 51"/>
          <p:cNvSpPr/>
          <p:nvPr/>
        </p:nvSpPr>
        <p:spPr>
          <a:xfrm>
            <a:off x="4130208" y="3009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Freeform 52"/>
          <p:cNvSpPr/>
          <p:nvPr/>
        </p:nvSpPr>
        <p:spPr>
          <a:xfrm>
            <a:off x="4210050" y="30099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4979894" y="29146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Premium / bundled</a:t>
            </a:r>
          </a:p>
        </p:txBody>
      </p:sp>
      <p:sp>
        <p:nvSpPr>
          <p:cNvPr id="55" name="TextBox 54"/>
          <p:cNvSpPr txBox="1"/>
          <p:nvPr/>
        </p:nvSpPr>
        <p:spPr>
          <a:xfrm>
            <a:off x="6744821" y="29146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Academic &amp; Teaching Dental Institutions, Dental Clinics</a:t>
            </a:r>
          </a:p>
        </p:txBody>
      </p:sp>
      <p:sp>
        <p:nvSpPr>
          <p:cNvPr id="56" name="TextBox 55"/>
          <p:cNvSpPr txBox="1"/>
          <p:nvPr/>
        </p:nvSpPr>
        <p:spPr>
          <a:xfrm>
            <a:off x="8471647" y="29146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57" name="TextBox 56"/>
          <p:cNvSpPr txBox="1"/>
          <p:nvPr/>
        </p:nvSpPr>
        <p:spPr>
          <a:xfrm>
            <a:off x="10236574" y="29146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58" name="Connector 57"/>
          <p:cNvCxnSpPr/>
          <p:nvPr/>
        </p:nvCxnSpPr>
        <p:spPr>
          <a:xfrm>
            <a:off x="190500" y="3257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9" name="Rectangle 58"/>
          <p:cNvSpPr/>
          <p:nvPr/>
        </p:nvSpPr>
        <p:spPr>
          <a:xfrm>
            <a:off x="190500" y="32861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285750" y="32766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GC Corporation</a:t>
            </a:r>
          </a:p>
        </p:txBody>
      </p:sp>
      <p:sp>
        <p:nvSpPr>
          <p:cNvPr id="61" name="TextBox 60"/>
          <p:cNvSpPr txBox="1"/>
          <p:nvPr/>
        </p:nvSpPr>
        <p:spPr>
          <a:xfrm>
            <a:off x="285750" y="34385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62" name="Oval 61"/>
          <p:cNvSpPr/>
          <p:nvPr/>
        </p:nvSpPr>
        <p:spPr>
          <a:xfrm>
            <a:off x="2659436" y="3352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Freeform 62"/>
          <p:cNvSpPr/>
          <p:nvPr/>
        </p:nvSpPr>
        <p:spPr>
          <a:xfrm>
            <a:off x="2733675" y="33528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Oval 63"/>
          <p:cNvSpPr/>
          <p:nvPr/>
        </p:nvSpPr>
        <p:spPr>
          <a:xfrm>
            <a:off x="4130208"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4979894" y="32575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Premium / bundled</a:t>
            </a:r>
          </a:p>
        </p:txBody>
      </p:sp>
      <p:sp>
        <p:nvSpPr>
          <p:cNvPr id="66" name="TextBox 65"/>
          <p:cNvSpPr txBox="1"/>
          <p:nvPr/>
        </p:nvSpPr>
        <p:spPr>
          <a:xfrm>
            <a:off x="6744821" y="32575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Dental Laboratories, Academic &amp; Teaching Dental Institutions</a:t>
            </a:r>
          </a:p>
        </p:txBody>
      </p:sp>
      <p:sp>
        <p:nvSpPr>
          <p:cNvPr id="67" name="TextBox 66"/>
          <p:cNvSpPr txBox="1"/>
          <p:nvPr/>
        </p:nvSpPr>
        <p:spPr>
          <a:xfrm>
            <a:off x="8471647" y="32575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68" name="TextBox 67"/>
          <p:cNvSpPr txBox="1"/>
          <p:nvPr/>
        </p:nvSpPr>
        <p:spPr>
          <a:xfrm>
            <a:off x="10236574" y="32575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69" name="Connector 68"/>
          <p:cNvCxnSpPr/>
          <p:nvPr/>
        </p:nvCxnSpPr>
        <p:spPr>
          <a:xfrm>
            <a:off x="190500" y="36004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0" name="Rectangle 69"/>
          <p:cNvSpPr/>
          <p:nvPr/>
        </p:nvSpPr>
        <p:spPr>
          <a:xfrm>
            <a:off x="190500" y="36290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285750" y="36195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SHOFU INC.</a:t>
            </a:r>
          </a:p>
        </p:txBody>
      </p:sp>
      <p:sp>
        <p:nvSpPr>
          <p:cNvPr id="72" name="TextBox 71"/>
          <p:cNvSpPr txBox="1"/>
          <p:nvPr/>
        </p:nvSpPr>
        <p:spPr>
          <a:xfrm>
            <a:off x="285750" y="37814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73" name="Oval 72"/>
          <p:cNvSpPr/>
          <p:nvPr/>
        </p:nvSpPr>
        <p:spPr>
          <a:xfrm>
            <a:off x="2659436" y="36957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Oval 73"/>
          <p:cNvSpPr/>
          <p:nvPr/>
        </p:nvSpPr>
        <p:spPr>
          <a:xfrm>
            <a:off x="4130208"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Freeform 74"/>
          <p:cNvSpPr/>
          <p:nvPr/>
        </p:nvSpPr>
        <p:spPr>
          <a:xfrm>
            <a:off x="4210050" y="36957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TextBox 75"/>
          <p:cNvSpPr txBox="1"/>
          <p:nvPr/>
        </p:nvSpPr>
        <p:spPr>
          <a:xfrm>
            <a:off x="4979894" y="36004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Mid / value-added</a:t>
            </a:r>
          </a:p>
        </p:txBody>
      </p:sp>
      <p:sp>
        <p:nvSpPr>
          <p:cNvPr id="77" name="TextBox 76"/>
          <p:cNvSpPr txBox="1"/>
          <p:nvPr/>
        </p:nvSpPr>
        <p:spPr>
          <a:xfrm>
            <a:off x="6744821" y="36004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Dental Laboratories, Dental Clinics</a:t>
            </a:r>
          </a:p>
        </p:txBody>
      </p:sp>
      <p:sp>
        <p:nvSpPr>
          <p:cNvPr id="78" name="TextBox 77"/>
          <p:cNvSpPr txBox="1"/>
          <p:nvPr/>
        </p:nvSpPr>
        <p:spPr>
          <a:xfrm>
            <a:off x="8471647" y="36004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79" name="TextBox 78"/>
          <p:cNvSpPr txBox="1"/>
          <p:nvPr/>
        </p:nvSpPr>
        <p:spPr>
          <a:xfrm>
            <a:off x="10236574" y="36004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80" name="Connector 79"/>
          <p:cNvCxnSpPr/>
          <p:nvPr/>
        </p:nvCxnSpPr>
        <p:spPr>
          <a:xfrm>
            <a:off x="190500" y="3943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1" name="Rectangle 80"/>
          <p:cNvSpPr/>
          <p:nvPr/>
        </p:nvSpPr>
        <p:spPr>
          <a:xfrm>
            <a:off x="190500" y="39719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285750" y="39624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VITA Zahnfabrik H. Rauter GmbH &amp; Co. KG</a:t>
            </a:r>
          </a:p>
        </p:txBody>
      </p:sp>
      <p:sp>
        <p:nvSpPr>
          <p:cNvPr id="83" name="TextBox 82"/>
          <p:cNvSpPr txBox="1"/>
          <p:nvPr/>
        </p:nvSpPr>
        <p:spPr>
          <a:xfrm>
            <a:off x="285750" y="41243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84" name="Oval 83"/>
          <p:cNvSpPr/>
          <p:nvPr/>
        </p:nvSpPr>
        <p:spPr>
          <a:xfrm>
            <a:off x="2659436"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Freeform 84"/>
          <p:cNvSpPr/>
          <p:nvPr/>
        </p:nvSpPr>
        <p:spPr>
          <a:xfrm>
            <a:off x="2733675" y="40386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Oval 85"/>
          <p:cNvSpPr/>
          <p:nvPr/>
        </p:nvSpPr>
        <p:spPr>
          <a:xfrm>
            <a:off x="4130208" y="40386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4979894" y="39433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Mid / value-added</a:t>
            </a:r>
          </a:p>
        </p:txBody>
      </p:sp>
      <p:sp>
        <p:nvSpPr>
          <p:cNvPr id="88" name="TextBox 87"/>
          <p:cNvSpPr txBox="1"/>
          <p:nvPr/>
        </p:nvSpPr>
        <p:spPr>
          <a:xfrm>
            <a:off x="6744821" y="39433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Academic &amp; Teaching Dental Institutions, Dental Clinics</a:t>
            </a:r>
          </a:p>
        </p:txBody>
      </p:sp>
      <p:sp>
        <p:nvSpPr>
          <p:cNvPr id="89" name="TextBox 88"/>
          <p:cNvSpPr txBox="1"/>
          <p:nvPr/>
        </p:nvSpPr>
        <p:spPr>
          <a:xfrm>
            <a:off x="8471647" y="39433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90" name="TextBox 89"/>
          <p:cNvSpPr txBox="1"/>
          <p:nvPr/>
        </p:nvSpPr>
        <p:spPr>
          <a:xfrm>
            <a:off x="10236574" y="39433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91" name="Connector 90"/>
          <p:cNvCxnSpPr/>
          <p:nvPr/>
        </p:nvCxnSpPr>
        <p:spPr>
          <a:xfrm>
            <a:off x="190500" y="42862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2" name="Rectangle 91"/>
          <p:cNvSpPr/>
          <p:nvPr/>
        </p:nvSpPr>
        <p:spPr>
          <a:xfrm>
            <a:off x="190500" y="43148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285750" y="43053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Zhermack S.p.A.</a:t>
            </a:r>
          </a:p>
        </p:txBody>
      </p:sp>
      <p:sp>
        <p:nvSpPr>
          <p:cNvPr id="94" name="TextBox 93"/>
          <p:cNvSpPr txBox="1"/>
          <p:nvPr/>
        </p:nvSpPr>
        <p:spPr>
          <a:xfrm>
            <a:off x="285750" y="44672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95" name="Oval 94"/>
          <p:cNvSpPr/>
          <p:nvPr/>
        </p:nvSpPr>
        <p:spPr>
          <a:xfrm>
            <a:off x="2659436"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Freeform 95"/>
          <p:cNvSpPr/>
          <p:nvPr/>
        </p:nvSpPr>
        <p:spPr>
          <a:xfrm>
            <a:off x="2733675" y="43815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Oval 96"/>
          <p:cNvSpPr/>
          <p:nvPr/>
        </p:nvSpPr>
        <p:spPr>
          <a:xfrm>
            <a:off x="4130208"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Freeform 97"/>
          <p:cNvSpPr/>
          <p:nvPr/>
        </p:nvSpPr>
        <p:spPr>
          <a:xfrm>
            <a:off x="4210050" y="43815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4979894" y="42862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Value / entry</a:t>
            </a:r>
          </a:p>
        </p:txBody>
      </p:sp>
      <p:sp>
        <p:nvSpPr>
          <p:cNvPr id="100" name="TextBox 99"/>
          <p:cNvSpPr txBox="1"/>
          <p:nvPr/>
        </p:nvSpPr>
        <p:spPr>
          <a:xfrm>
            <a:off x="6744821" y="42862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Dental Laboratories, Academic &amp; Teaching Dental Institutions</a:t>
            </a:r>
          </a:p>
        </p:txBody>
      </p:sp>
      <p:sp>
        <p:nvSpPr>
          <p:cNvPr id="101" name="TextBox 100"/>
          <p:cNvSpPr txBox="1"/>
          <p:nvPr/>
        </p:nvSpPr>
        <p:spPr>
          <a:xfrm>
            <a:off x="8471647" y="42862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02" name="TextBox 101"/>
          <p:cNvSpPr txBox="1"/>
          <p:nvPr/>
        </p:nvSpPr>
        <p:spPr>
          <a:xfrm>
            <a:off x="10236574" y="42862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03" name="Connector 102"/>
          <p:cNvCxnSpPr/>
          <p:nvPr/>
        </p:nvCxnSpPr>
        <p:spPr>
          <a:xfrm>
            <a:off x="190500" y="4629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4" name="Rectangle 103"/>
          <p:cNvSpPr/>
          <p:nvPr/>
        </p:nvSpPr>
        <p:spPr>
          <a:xfrm>
            <a:off x="190500" y="46577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285750" y="46482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DETAX GmbH</a:t>
            </a:r>
          </a:p>
        </p:txBody>
      </p:sp>
      <p:sp>
        <p:nvSpPr>
          <p:cNvPr id="106" name="TextBox 105"/>
          <p:cNvSpPr txBox="1"/>
          <p:nvPr/>
        </p:nvSpPr>
        <p:spPr>
          <a:xfrm>
            <a:off x="285750" y="48101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07" name="Oval 106"/>
          <p:cNvSpPr/>
          <p:nvPr/>
        </p:nvSpPr>
        <p:spPr>
          <a:xfrm>
            <a:off x="2659436"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Freeform 107"/>
          <p:cNvSpPr/>
          <p:nvPr/>
        </p:nvSpPr>
        <p:spPr>
          <a:xfrm>
            <a:off x="2733675" y="47244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Oval 108"/>
          <p:cNvSpPr/>
          <p:nvPr/>
        </p:nvSpPr>
        <p:spPr>
          <a:xfrm>
            <a:off x="4130208" y="47244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TextBox 109"/>
          <p:cNvSpPr txBox="1"/>
          <p:nvPr/>
        </p:nvSpPr>
        <p:spPr>
          <a:xfrm>
            <a:off x="4979894" y="46291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Value / entry</a:t>
            </a:r>
          </a:p>
        </p:txBody>
      </p:sp>
      <p:sp>
        <p:nvSpPr>
          <p:cNvPr id="111" name="TextBox 110"/>
          <p:cNvSpPr txBox="1"/>
          <p:nvPr/>
        </p:nvSpPr>
        <p:spPr>
          <a:xfrm>
            <a:off x="6744821" y="46291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Dental Laboratories, Dental Clinics</a:t>
            </a:r>
          </a:p>
        </p:txBody>
      </p:sp>
      <p:sp>
        <p:nvSpPr>
          <p:cNvPr id="112" name="TextBox 111"/>
          <p:cNvSpPr txBox="1"/>
          <p:nvPr/>
        </p:nvSpPr>
        <p:spPr>
          <a:xfrm>
            <a:off x="8471647" y="46291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13" name="TextBox 112"/>
          <p:cNvSpPr txBox="1"/>
          <p:nvPr/>
        </p:nvSpPr>
        <p:spPr>
          <a:xfrm>
            <a:off x="10236574" y="46291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14" name="Connector 113"/>
          <p:cNvCxnSpPr/>
          <p:nvPr/>
        </p:nvCxnSpPr>
        <p:spPr>
          <a:xfrm>
            <a:off x="190500" y="49720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15" name="Rectangle 114"/>
          <p:cNvSpPr/>
          <p:nvPr/>
        </p:nvSpPr>
        <p:spPr>
          <a:xfrm>
            <a:off x="190500" y="50006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TextBox 115"/>
          <p:cNvSpPr txBox="1"/>
          <p:nvPr/>
        </p:nvSpPr>
        <p:spPr>
          <a:xfrm>
            <a:off x="285750" y="49911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Candulor AG</a:t>
            </a:r>
          </a:p>
        </p:txBody>
      </p:sp>
      <p:sp>
        <p:nvSpPr>
          <p:cNvPr id="117" name="TextBox 116"/>
          <p:cNvSpPr txBox="1"/>
          <p:nvPr/>
        </p:nvSpPr>
        <p:spPr>
          <a:xfrm>
            <a:off x="285750" y="51530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18" name="Oval 117"/>
          <p:cNvSpPr/>
          <p:nvPr/>
        </p:nvSpPr>
        <p:spPr>
          <a:xfrm>
            <a:off x="2659436" y="50673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Oval 118"/>
          <p:cNvSpPr/>
          <p:nvPr/>
        </p:nvSpPr>
        <p:spPr>
          <a:xfrm>
            <a:off x="4130208" y="5067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Freeform 119"/>
          <p:cNvSpPr/>
          <p:nvPr/>
        </p:nvSpPr>
        <p:spPr>
          <a:xfrm>
            <a:off x="4210050" y="50673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4979894" y="49720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Value / entry</a:t>
            </a:r>
          </a:p>
        </p:txBody>
      </p:sp>
      <p:sp>
        <p:nvSpPr>
          <p:cNvPr id="122" name="TextBox 121"/>
          <p:cNvSpPr txBox="1"/>
          <p:nvPr/>
        </p:nvSpPr>
        <p:spPr>
          <a:xfrm>
            <a:off x="6744821" y="49720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Academic &amp; Teaching Dental Institutions, Dental Clinics</a:t>
            </a:r>
          </a:p>
        </p:txBody>
      </p:sp>
      <p:sp>
        <p:nvSpPr>
          <p:cNvPr id="123" name="TextBox 122"/>
          <p:cNvSpPr txBox="1"/>
          <p:nvPr/>
        </p:nvSpPr>
        <p:spPr>
          <a:xfrm>
            <a:off x="8471647" y="49720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24" name="TextBox 123"/>
          <p:cNvSpPr txBox="1"/>
          <p:nvPr/>
        </p:nvSpPr>
        <p:spPr>
          <a:xfrm>
            <a:off x="10236574" y="49720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25" name="Connector 124"/>
          <p:cNvCxnSpPr/>
          <p:nvPr/>
        </p:nvCxnSpPr>
        <p:spPr>
          <a:xfrm>
            <a:off x="190500" y="5314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6" name="Rectangle 125"/>
          <p:cNvSpPr/>
          <p:nvPr/>
        </p:nvSpPr>
        <p:spPr>
          <a:xfrm>
            <a:off x="190500" y="53435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TextBox 126"/>
          <p:cNvSpPr txBox="1"/>
          <p:nvPr/>
        </p:nvSpPr>
        <p:spPr>
          <a:xfrm>
            <a:off x="285750" y="53340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Ruthinium Dental Manufacturing S.p.A.</a:t>
            </a:r>
          </a:p>
        </p:txBody>
      </p:sp>
      <p:sp>
        <p:nvSpPr>
          <p:cNvPr id="128" name="TextBox 127"/>
          <p:cNvSpPr txBox="1"/>
          <p:nvPr/>
        </p:nvSpPr>
        <p:spPr>
          <a:xfrm>
            <a:off x="285750" y="54959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29" name="Oval 128"/>
          <p:cNvSpPr/>
          <p:nvPr/>
        </p:nvSpPr>
        <p:spPr>
          <a:xfrm>
            <a:off x="2659436" y="5410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Freeform 129"/>
          <p:cNvSpPr/>
          <p:nvPr/>
        </p:nvSpPr>
        <p:spPr>
          <a:xfrm>
            <a:off x="2733675" y="54102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Oval 130"/>
          <p:cNvSpPr/>
          <p:nvPr/>
        </p:nvSpPr>
        <p:spPr>
          <a:xfrm>
            <a:off x="4130208" y="54102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TextBox 131"/>
          <p:cNvSpPr txBox="1"/>
          <p:nvPr/>
        </p:nvSpPr>
        <p:spPr>
          <a:xfrm>
            <a:off x="4979894" y="53149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Value / entry</a:t>
            </a:r>
          </a:p>
        </p:txBody>
      </p:sp>
      <p:sp>
        <p:nvSpPr>
          <p:cNvPr id="133" name="TextBox 132"/>
          <p:cNvSpPr txBox="1"/>
          <p:nvPr/>
        </p:nvSpPr>
        <p:spPr>
          <a:xfrm>
            <a:off x="6744821" y="53149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Dental Laboratories, Academic &amp; Teaching Dental Institutions</a:t>
            </a:r>
          </a:p>
        </p:txBody>
      </p:sp>
      <p:sp>
        <p:nvSpPr>
          <p:cNvPr id="134" name="TextBox 133"/>
          <p:cNvSpPr txBox="1"/>
          <p:nvPr/>
        </p:nvSpPr>
        <p:spPr>
          <a:xfrm>
            <a:off x="8471647" y="53149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35" name="TextBox 134"/>
          <p:cNvSpPr txBox="1"/>
          <p:nvPr/>
        </p:nvSpPr>
        <p:spPr>
          <a:xfrm>
            <a:off x="10236574" y="53149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36" name="Connector 135"/>
          <p:cNvCxnSpPr/>
          <p:nvPr/>
        </p:nvCxnSpPr>
        <p:spPr>
          <a:xfrm>
            <a:off x="190500" y="56578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37" name="Oval 136"/>
          <p:cNvSpPr/>
          <p:nvPr/>
        </p:nvSpPr>
        <p:spPr>
          <a:xfrm>
            <a:off x="200025" y="5734050"/>
            <a:ext cx="133350" cy="13335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TextBox 137"/>
          <p:cNvSpPr txBox="1"/>
          <p:nvPr/>
        </p:nvSpPr>
        <p:spPr>
          <a:xfrm>
            <a:off x="38100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Strong, direct evidence</a:t>
            </a:r>
          </a:p>
        </p:txBody>
      </p:sp>
      <p:sp>
        <p:nvSpPr>
          <p:cNvPr id="139" name="Oval 138"/>
          <p:cNvSpPr/>
          <p:nvPr/>
        </p:nvSpPr>
        <p:spPr>
          <a:xfrm>
            <a:off x="2065020"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Freeform 139"/>
          <p:cNvSpPr/>
          <p:nvPr/>
        </p:nvSpPr>
        <p:spPr>
          <a:xfrm>
            <a:off x="2133600" y="5734050"/>
            <a:ext cx="66675" cy="133350"/>
          </a:xfrm>
          <a:custGeom>
            <a:avLst/>
            <a:gdLst/>
            <a:ahLst/>
            <a:cxnLst/>
            <a:rect l="l" t="t" r="r" b="b"/>
            <a:pathLst>
              <a:path w="7" h="14">
                <a:moveTo>
                  <a:pt x="0" y="7"/>
                </a:moveTo>
                <a:lnTo>
                  <a:pt x="0" y="0"/>
                </a:lnTo>
                <a:lnTo>
                  <a:pt x="1" y="0"/>
                </a:lnTo>
                <a:lnTo>
                  <a:pt x="2" y="0"/>
                </a:lnTo>
                <a:lnTo>
                  <a:pt x="3" y="1"/>
                </a:lnTo>
                <a:lnTo>
                  <a:pt x="4" y="2"/>
                </a:lnTo>
                <a:lnTo>
                  <a:pt x="5" y="3"/>
                </a:lnTo>
                <a:lnTo>
                  <a:pt x="6" y="4"/>
                </a:lnTo>
                <a:lnTo>
                  <a:pt x="6" y="5"/>
                </a:lnTo>
                <a:lnTo>
                  <a:pt x="7" y="6"/>
                </a:lnTo>
                <a:lnTo>
                  <a:pt x="7" y="7"/>
                </a:lnTo>
                <a:lnTo>
                  <a:pt x="7" y="8"/>
                </a:lnTo>
                <a:lnTo>
                  <a:pt x="6" y="9"/>
                </a:lnTo>
                <a:lnTo>
                  <a:pt x="6" y="10"/>
                </a:lnTo>
                <a:lnTo>
                  <a:pt x="5" y="11"/>
                </a:lnTo>
                <a:lnTo>
                  <a:pt x="4" y="12"/>
                </a:lnTo>
                <a:lnTo>
                  <a:pt x="3" y="13"/>
                </a:lnTo>
                <a:lnTo>
                  <a:pt x="2" y="14"/>
                </a:lnTo>
                <a:lnTo>
                  <a:pt x="1" y="14"/>
                </a:lnTo>
                <a:lnTo>
                  <a:pt x="0" y="14"/>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TextBox 140"/>
          <p:cNvSpPr txBox="1"/>
          <p:nvPr/>
        </p:nvSpPr>
        <p:spPr>
          <a:xfrm>
            <a:off x="2245995"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Moderate or partial</a:t>
            </a:r>
          </a:p>
        </p:txBody>
      </p:sp>
      <p:sp>
        <p:nvSpPr>
          <p:cNvPr id="142" name="Oval 141"/>
          <p:cNvSpPr/>
          <p:nvPr/>
        </p:nvSpPr>
        <p:spPr>
          <a:xfrm>
            <a:off x="3678555"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Freeform 142"/>
          <p:cNvSpPr/>
          <p:nvPr/>
        </p:nvSpPr>
        <p:spPr>
          <a:xfrm>
            <a:off x="3743325" y="5734050"/>
            <a:ext cx="66675" cy="66675"/>
          </a:xfrm>
          <a:custGeom>
            <a:avLst/>
            <a:gdLst/>
            <a:ahLst/>
            <a:cxnLst/>
            <a:rect l="l" t="t" r="r" b="b"/>
            <a:pathLst>
              <a:path w="7" h="7">
                <a:moveTo>
                  <a:pt x="0" y="7"/>
                </a:moveTo>
                <a:lnTo>
                  <a:pt x="0" y="0"/>
                </a:lnTo>
                <a:lnTo>
                  <a:pt x="1" y="0"/>
                </a:lnTo>
                <a:lnTo>
                  <a:pt x="3" y="0"/>
                </a:lnTo>
                <a:lnTo>
                  <a:pt x="4" y="1"/>
                </a:lnTo>
                <a:lnTo>
                  <a:pt x="5" y="2"/>
                </a:lnTo>
                <a:lnTo>
                  <a:pt x="6" y="3"/>
                </a:lnTo>
                <a:lnTo>
                  <a:pt x="6" y="4"/>
                </a:lnTo>
                <a:lnTo>
                  <a:pt x="7" y="5"/>
                </a:lnTo>
                <a:lnTo>
                  <a:pt x="7" y="6"/>
                </a:lnTo>
                <a:lnTo>
                  <a:pt x="7" y="7"/>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385953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Weak or indirect</a:t>
            </a:r>
          </a:p>
        </p:txBody>
      </p:sp>
      <p:sp>
        <p:nvSpPr>
          <p:cNvPr id="145" name="Oval 144"/>
          <p:cNvSpPr/>
          <p:nvPr/>
        </p:nvSpPr>
        <p:spPr>
          <a:xfrm>
            <a:off x="5103495"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TextBox 145"/>
          <p:cNvSpPr txBox="1"/>
          <p:nvPr/>
        </p:nvSpPr>
        <p:spPr>
          <a:xfrm>
            <a:off x="528447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None found</a:t>
            </a:r>
          </a:p>
        </p:txBody>
      </p:sp>
      <p:sp>
        <p:nvSpPr>
          <p:cNvPr id="147" name="TextBox 146"/>
          <p:cNvSpPr txBox="1"/>
          <p:nvPr/>
        </p:nvSpPr>
        <p:spPr>
          <a:xfrm>
            <a:off x="190500" y="59436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READING</a:t>
            </a:r>
          </a:p>
        </p:txBody>
      </p:sp>
      <p:sp>
        <p:nvSpPr>
          <p:cNvPr id="148" name="TextBox 147"/>
          <p:cNvSpPr txBox="1"/>
          <p:nvPr/>
        </p:nvSpPr>
        <p:spPr>
          <a:xfrm>
            <a:off x="190500" y="6096000"/>
            <a:ext cx="11811000" cy="2286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breadth and technology strength do not always go together; the end uses each player serves show where it competes head to head.  Proof needs customer research.</a:t>
            </a:r>
          </a:p>
        </p:txBody>
      </p:sp>
      <p:sp>
        <p:nvSpPr>
          <p:cNvPr id="149" name="TextBox 1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50" name="Picture 149" descr="lock.png"/>
          <p:cNvPicPr>
            <a:picLocks noChangeAspect="1"/>
          </p:cNvPicPr>
          <p:nvPr/>
        </p:nvPicPr>
        <p:blipFill>
          <a:blip r:embed="rId4"/>
          <a:stretch>
            <a:fillRect/>
          </a:stretch>
        </p:blipFill>
        <p:spPr>
          <a:xfrm>
            <a:off x="9289760" y="2306701"/>
            <a:ext cx="128699" cy="187198"/>
          </a:xfrm>
          <a:prstGeom prst="rect">
            <a:avLst/>
          </a:prstGeom>
        </p:spPr>
      </p:pic>
      <p:pic>
        <p:nvPicPr>
          <p:cNvPr id="151" name="Picture 150" descr="lock.png"/>
          <p:cNvPicPr>
            <a:picLocks noChangeAspect="1"/>
          </p:cNvPicPr>
          <p:nvPr/>
        </p:nvPicPr>
        <p:blipFill>
          <a:blip r:embed="rId4"/>
          <a:stretch>
            <a:fillRect/>
          </a:stretch>
        </p:blipFill>
        <p:spPr>
          <a:xfrm>
            <a:off x="11054687" y="2306701"/>
            <a:ext cx="128699" cy="187198"/>
          </a:xfrm>
          <a:prstGeom prst="rect">
            <a:avLst/>
          </a:prstGeom>
        </p:spPr>
      </p:pic>
      <p:pic>
        <p:nvPicPr>
          <p:cNvPr id="152" name="Picture 151" descr="lock.png"/>
          <p:cNvPicPr>
            <a:picLocks noChangeAspect="1"/>
          </p:cNvPicPr>
          <p:nvPr/>
        </p:nvPicPr>
        <p:blipFill>
          <a:blip r:embed="rId4"/>
          <a:stretch>
            <a:fillRect/>
          </a:stretch>
        </p:blipFill>
        <p:spPr>
          <a:xfrm>
            <a:off x="9289760" y="2649601"/>
            <a:ext cx="128699" cy="187198"/>
          </a:xfrm>
          <a:prstGeom prst="rect">
            <a:avLst/>
          </a:prstGeom>
        </p:spPr>
      </p:pic>
      <p:pic>
        <p:nvPicPr>
          <p:cNvPr id="153" name="Picture 152" descr="lock.png"/>
          <p:cNvPicPr>
            <a:picLocks noChangeAspect="1"/>
          </p:cNvPicPr>
          <p:nvPr/>
        </p:nvPicPr>
        <p:blipFill>
          <a:blip r:embed="rId4"/>
          <a:stretch>
            <a:fillRect/>
          </a:stretch>
        </p:blipFill>
        <p:spPr>
          <a:xfrm>
            <a:off x="11054687" y="2649601"/>
            <a:ext cx="128699" cy="187198"/>
          </a:xfrm>
          <a:prstGeom prst="rect">
            <a:avLst/>
          </a:prstGeom>
        </p:spPr>
      </p:pic>
      <p:pic>
        <p:nvPicPr>
          <p:cNvPr id="154" name="Picture 153" descr="lock.png"/>
          <p:cNvPicPr>
            <a:picLocks noChangeAspect="1"/>
          </p:cNvPicPr>
          <p:nvPr/>
        </p:nvPicPr>
        <p:blipFill>
          <a:blip r:embed="rId4"/>
          <a:stretch>
            <a:fillRect/>
          </a:stretch>
        </p:blipFill>
        <p:spPr>
          <a:xfrm>
            <a:off x="9289760" y="2992501"/>
            <a:ext cx="128699" cy="187198"/>
          </a:xfrm>
          <a:prstGeom prst="rect">
            <a:avLst/>
          </a:prstGeom>
        </p:spPr>
      </p:pic>
      <p:pic>
        <p:nvPicPr>
          <p:cNvPr id="155" name="Picture 154" descr="lock.png"/>
          <p:cNvPicPr>
            <a:picLocks noChangeAspect="1"/>
          </p:cNvPicPr>
          <p:nvPr/>
        </p:nvPicPr>
        <p:blipFill>
          <a:blip r:embed="rId4"/>
          <a:stretch>
            <a:fillRect/>
          </a:stretch>
        </p:blipFill>
        <p:spPr>
          <a:xfrm>
            <a:off x="11054687" y="2992501"/>
            <a:ext cx="128699" cy="187198"/>
          </a:xfrm>
          <a:prstGeom prst="rect">
            <a:avLst/>
          </a:prstGeom>
        </p:spPr>
      </p:pic>
      <p:pic>
        <p:nvPicPr>
          <p:cNvPr id="156" name="Picture 155" descr="lock.png"/>
          <p:cNvPicPr>
            <a:picLocks noChangeAspect="1"/>
          </p:cNvPicPr>
          <p:nvPr/>
        </p:nvPicPr>
        <p:blipFill>
          <a:blip r:embed="rId4"/>
          <a:stretch>
            <a:fillRect/>
          </a:stretch>
        </p:blipFill>
        <p:spPr>
          <a:xfrm>
            <a:off x="9289760" y="3335401"/>
            <a:ext cx="128699" cy="187198"/>
          </a:xfrm>
          <a:prstGeom prst="rect">
            <a:avLst/>
          </a:prstGeom>
        </p:spPr>
      </p:pic>
      <p:pic>
        <p:nvPicPr>
          <p:cNvPr id="157" name="Picture 156" descr="lock.png"/>
          <p:cNvPicPr>
            <a:picLocks noChangeAspect="1"/>
          </p:cNvPicPr>
          <p:nvPr/>
        </p:nvPicPr>
        <p:blipFill>
          <a:blip r:embed="rId4"/>
          <a:stretch>
            <a:fillRect/>
          </a:stretch>
        </p:blipFill>
        <p:spPr>
          <a:xfrm>
            <a:off x="11054687" y="3335401"/>
            <a:ext cx="128699" cy="187198"/>
          </a:xfrm>
          <a:prstGeom prst="rect">
            <a:avLst/>
          </a:prstGeom>
        </p:spPr>
      </p:pic>
      <p:pic>
        <p:nvPicPr>
          <p:cNvPr id="158" name="Picture 157" descr="lock.png"/>
          <p:cNvPicPr>
            <a:picLocks noChangeAspect="1"/>
          </p:cNvPicPr>
          <p:nvPr/>
        </p:nvPicPr>
        <p:blipFill>
          <a:blip r:embed="rId4"/>
          <a:stretch>
            <a:fillRect/>
          </a:stretch>
        </p:blipFill>
        <p:spPr>
          <a:xfrm>
            <a:off x="9289760" y="3678301"/>
            <a:ext cx="128699" cy="187198"/>
          </a:xfrm>
          <a:prstGeom prst="rect">
            <a:avLst/>
          </a:prstGeom>
        </p:spPr>
      </p:pic>
      <p:pic>
        <p:nvPicPr>
          <p:cNvPr id="159" name="Picture 158" descr="lock.png"/>
          <p:cNvPicPr>
            <a:picLocks noChangeAspect="1"/>
          </p:cNvPicPr>
          <p:nvPr/>
        </p:nvPicPr>
        <p:blipFill>
          <a:blip r:embed="rId4"/>
          <a:stretch>
            <a:fillRect/>
          </a:stretch>
        </p:blipFill>
        <p:spPr>
          <a:xfrm>
            <a:off x="11054687" y="3678301"/>
            <a:ext cx="128699" cy="187198"/>
          </a:xfrm>
          <a:prstGeom prst="rect">
            <a:avLst/>
          </a:prstGeom>
        </p:spPr>
      </p:pic>
      <p:pic>
        <p:nvPicPr>
          <p:cNvPr id="160" name="Picture 159" descr="lock.png"/>
          <p:cNvPicPr>
            <a:picLocks noChangeAspect="1"/>
          </p:cNvPicPr>
          <p:nvPr/>
        </p:nvPicPr>
        <p:blipFill>
          <a:blip r:embed="rId4"/>
          <a:stretch>
            <a:fillRect/>
          </a:stretch>
        </p:blipFill>
        <p:spPr>
          <a:xfrm>
            <a:off x="9289760" y="4021201"/>
            <a:ext cx="128699" cy="187198"/>
          </a:xfrm>
          <a:prstGeom prst="rect">
            <a:avLst/>
          </a:prstGeom>
        </p:spPr>
      </p:pic>
      <p:pic>
        <p:nvPicPr>
          <p:cNvPr id="161" name="Picture 160" descr="lock.png"/>
          <p:cNvPicPr>
            <a:picLocks noChangeAspect="1"/>
          </p:cNvPicPr>
          <p:nvPr/>
        </p:nvPicPr>
        <p:blipFill>
          <a:blip r:embed="rId4"/>
          <a:stretch>
            <a:fillRect/>
          </a:stretch>
        </p:blipFill>
        <p:spPr>
          <a:xfrm>
            <a:off x="11054687" y="4021201"/>
            <a:ext cx="128699" cy="187198"/>
          </a:xfrm>
          <a:prstGeom prst="rect">
            <a:avLst/>
          </a:prstGeom>
        </p:spPr>
      </p:pic>
      <p:pic>
        <p:nvPicPr>
          <p:cNvPr id="162" name="Picture 161" descr="lock.png"/>
          <p:cNvPicPr>
            <a:picLocks noChangeAspect="1"/>
          </p:cNvPicPr>
          <p:nvPr/>
        </p:nvPicPr>
        <p:blipFill>
          <a:blip r:embed="rId4"/>
          <a:stretch>
            <a:fillRect/>
          </a:stretch>
        </p:blipFill>
        <p:spPr>
          <a:xfrm>
            <a:off x="9289760" y="4364101"/>
            <a:ext cx="128699" cy="187198"/>
          </a:xfrm>
          <a:prstGeom prst="rect">
            <a:avLst/>
          </a:prstGeom>
        </p:spPr>
      </p:pic>
      <p:pic>
        <p:nvPicPr>
          <p:cNvPr id="163" name="Picture 162" descr="lock.png"/>
          <p:cNvPicPr>
            <a:picLocks noChangeAspect="1"/>
          </p:cNvPicPr>
          <p:nvPr/>
        </p:nvPicPr>
        <p:blipFill>
          <a:blip r:embed="rId4"/>
          <a:stretch>
            <a:fillRect/>
          </a:stretch>
        </p:blipFill>
        <p:spPr>
          <a:xfrm>
            <a:off x="11054687" y="4364101"/>
            <a:ext cx="128699" cy="187198"/>
          </a:xfrm>
          <a:prstGeom prst="rect">
            <a:avLst/>
          </a:prstGeom>
        </p:spPr>
      </p:pic>
      <p:pic>
        <p:nvPicPr>
          <p:cNvPr id="164" name="Picture 163" descr="lock.png"/>
          <p:cNvPicPr>
            <a:picLocks noChangeAspect="1"/>
          </p:cNvPicPr>
          <p:nvPr/>
        </p:nvPicPr>
        <p:blipFill>
          <a:blip r:embed="rId4"/>
          <a:stretch>
            <a:fillRect/>
          </a:stretch>
        </p:blipFill>
        <p:spPr>
          <a:xfrm>
            <a:off x="9289760" y="4707001"/>
            <a:ext cx="128699" cy="187198"/>
          </a:xfrm>
          <a:prstGeom prst="rect">
            <a:avLst/>
          </a:prstGeom>
        </p:spPr>
      </p:pic>
      <p:pic>
        <p:nvPicPr>
          <p:cNvPr id="165" name="Picture 164" descr="lock.png"/>
          <p:cNvPicPr>
            <a:picLocks noChangeAspect="1"/>
          </p:cNvPicPr>
          <p:nvPr/>
        </p:nvPicPr>
        <p:blipFill>
          <a:blip r:embed="rId4"/>
          <a:stretch>
            <a:fillRect/>
          </a:stretch>
        </p:blipFill>
        <p:spPr>
          <a:xfrm>
            <a:off x="11054687" y="4707001"/>
            <a:ext cx="128699" cy="187198"/>
          </a:xfrm>
          <a:prstGeom prst="rect">
            <a:avLst/>
          </a:prstGeom>
        </p:spPr>
      </p:pic>
      <p:pic>
        <p:nvPicPr>
          <p:cNvPr id="166" name="Picture 165" descr="lock.png"/>
          <p:cNvPicPr>
            <a:picLocks noChangeAspect="1"/>
          </p:cNvPicPr>
          <p:nvPr/>
        </p:nvPicPr>
        <p:blipFill>
          <a:blip r:embed="rId4"/>
          <a:stretch>
            <a:fillRect/>
          </a:stretch>
        </p:blipFill>
        <p:spPr>
          <a:xfrm>
            <a:off x="9289760" y="5049901"/>
            <a:ext cx="128699" cy="187198"/>
          </a:xfrm>
          <a:prstGeom prst="rect">
            <a:avLst/>
          </a:prstGeom>
        </p:spPr>
      </p:pic>
      <p:pic>
        <p:nvPicPr>
          <p:cNvPr id="167" name="Picture 166" descr="lock.png"/>
          <p:cNvPicPr>
            <a:picLocks noChangeAspect="1"/>
          </p:cNvPicPr>
          <p:nvPr/>
        </p:nvPicPr>
        <p:blipFill>
          <a:blip r:embed="rId4"/>
          <a:stretch>
            <a:fillRect/>
          </a:stretch>
        </p:blipFill>
        <p:spPr>
          <a:xfrm>
            <a:off x="11054687" y="5049901"/>
            <a:ext cx="128699" cy="187198"/>
          </a:xfrm>
          <a:prstGeom prst="rect">
            <a:avLst/>
          </a:prstGeom>
        </p:spPr>
      </p:pic>
      <p:pic>
        <p:nvPicPr>
          <p:cNvPr id="168" name="Picture 167" descr="lock.png"/>
          <p:cNvPicPr>
            <a:picLocks noChangeAspect="1"/>
          </p:cNvPicPr>
          <p:nvPr/>
        </p:nvPicPr>
        <p:blipFill>
          <a:blip r:embed="rId4"/>
          <a:stretch>
            <a:fillRect/>
          </a:stretch>
        </p:blipFill>
        <p:spPr>
          <a:xfrm>
            <a:off x="9289760" y="5392801"/>
            <a:ext cx="128699" cy="187198"/>
          </a:xfrm>
          <a:prstGeom prst="rect">
            <a:avLst/>
          </a:prstGeom>
        </p:spPr>
      </p:pic>
      <p:pic>
        <p:nvPicPr>
          <p:cNvPr id="169" name="Picture 168" descr="lock.png"/>
          <p:cNvPicPr>
            <a:picLocks noChangeAspect="1"/>
          </p:cNvPicPr>
          <p:nvPr/>
        </p:nvPicPr>
        <p:blipFill>
          <a:blip r:embed="rId4"/>
          <a:stretch>
            <a:fillRect/>
          </a:stretch>
        </p:blipFill>
        <p:spPr>
          <a:xfrm>
            <a:off x="11054687" y="5392801"/>
            <a:ext cx="128699" cy="187198"/>
          </a:xfrm>
          <a:prstGeom prst="rect">
            <a:avLst/>
          </a:prstGeom>
        </p:spPr>
      </p:pic>
    </p:spTree>
  </p:cSld>
  <p:clrMapOvr>
    <a:masterClrMapping/>
  </p:clrMapOvr>
</p:sld>
</file>

<file path=ppt/slides/slide2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Execution Scorecard: How They Win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Six execution Ps: channel, promotion, momentum, pipeline, policy exposure and prospects</a:t>
            </a:r>
          </a:p>
        </p:txBody>
      </p:sp>
      <p:sp>
        <p:nvSpPr>
          <p:cNvPr id="10" name="Rectangle 9"/>
          <p:cNvSpPr/>
          <p:nvPr/>
        </p:nvSpPr>
        <p:spPr>
          <a:xfrm>
            <a:off x="190500" y="1047750"/>
            <a:ext cx="1181100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66700" y="1047750"/>
            <a:ext cx="6667500" cy="209550"/>
          </a:xfrm>
          <a:prstGeom prst="rect">
            <a:avLst/>
          </a:prstGeom>
          <a:noFill/>
        </p:spPr>
        <p:txBody>
          <a:bodyPr wrap="square" lIns="28575" rIns="28575" tIns="9525" bIns="9525" anchor="ctr">
            <a:spAutoFit/>
          </a:bodyPr>
          <a:lstStyle/>
          <a:p>
            <a:pPr algn="l"/>
            <a:r>
              <a:rPr sz="1100" b="1">
                <a:solidFill>
                  <a:srgbClr val="FFFFFF"/>
                </a:solidFill>
                <a:latin typeface="Calibri"/>
              </a:rPr>
              <a:t>LEVEL 3, EXECUTION: HOW THEY WIN</a:t>
            </a:r>
          </a:p>
        </p:txBody>
      </p:sp>
      <p:sp>
        <p:nvSpPr>
          <p:cNvPr id="12" name="TextBox 11"/>
          <p:cNvSpPr txBox="1"/>
          <p:nvPr/>
        </p:nvSpPr>
        <p:spPr>
          <a:xfrm>
            <a:off x="2038350"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Place (channel)</a:t>
            </a:r>
          </a:p>
        </p:txBody>
      </p:sp>
      <p:sp>
        <p:nvSpPr>
          <p:cNvPr id="13" name="TextBox 12"/>
          <p:cNvSpPr txBox="1"/>
          <p:nvPr/>
        </p:nvSpPr>
        <p:spPr>
          <a:xfrm>
            <a:off x="2038350"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Route to market by tier</a:t>
            </a:r>
          </a:p>
        </p:txBody>
      </p:sp>
      <p:sp>
        <p:nvSpPr>
          <p:cNvPr id="14" name="TextBox 13"/>
          <p:cNvSpPr txBox="1"/>
          <p:nvPr/>
        </p:nvSpPr>
        <p:spPr>
          <a:xfrm>
            <a:off x="3803276"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Promotion</a:t>
            </a:r>
          </a:p>
        </p:txBody>
      </p:sp>
      <p:sp>
        <p:nvSpPr>
          <p:cNvPr id="15" name="TextBox 14"/>
          <p:cNvSpPr txBox="1"/>
          <p:nvPr/>
        </p:nvSpPr>
        <p:spPr>
          <a:xfrm>
            <a:off x="3803276"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Go-to-market; not assessed</a:t>
            </a:r>
          </a:p>
        </p:txBody>
      </p:sp>
      <p:sp>
        <p:nvSpPr>
          <p:cNvPr id="16" name="TextBox 15"/>
          <p:cNvSpPr txBox="1"/>
          <p:nvPr/>
        </p:nvSpPr>
        <p:spPr>
          <a:xfrm>
            <a:off x="5568203" y="1295400"/>
            <a:ext cx="1394572"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Pace (momentum)</a:t>
            </a:r>
          </a:p>
        </p:txBody>
      </p:sp>
      <p:sp>
        <p:nvSpPr>
          <p:cNvPr id="17" name="TextBox 16"/>
          <p:cNvSpPr txBox="1"/>
          <p:nvPr/>
        </p:nvSpPr>
        <p:spPr>
          <a:xfrm>
            <a:off x="5568203" y="1657350"/>
            <a:ext cx="1394572"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Active moves: 5+ = 3, 3-4 = 2</a:t>
            </a:r>
          </a:p>
        </p:txBody>
      </p:sp>
      <p:sp>
        <p:nvSpPr>
          <p:cNvPr id="18" name="TextBox 17"/>
          <p:cNvSpPr txBox="1"/>
          <p:nvPr/>
        </p:nvSpPr>
        <p:spPr>
          <a:xfrm>
            <a:off x="7038975"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Pipeline</a:t>
            </a:r>
          </a:p>
        </p:txBody>
      </p:sp>
      <p:sp>
        <p:nvSpPr>
          <p:cNvPr id="19" name="TextBox 18"/>
          <p:cNvSpPr txBox="1"/>
          <p:nvPr/>
        </p:nvSpPr>
        <p:spPr>
          <a:xfrm>
            <a:off x="7038975"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Launch or development in motion</a:t>
            </a:r>
          </a:p>
        </p:txBody>
      </p:sp>
      <p:sp>
        <p:nvSpPr>
          <p:cNvPr id="20" name="TextBox 19"/>
          <p:cNvSpPr txBox="1"/>
          <p:nvPr/>
        </p:nvSpPr>
        <p:spPr>
          <a:xfrm>
            <a:off x="8803901"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Policy exposure</a:t>
            </a:r>
          </a:p>
        </p:txBody>
      </p:sp>
      <p:sp>
        <p:nvSpPr>
          <p:cNvPr id="21" name="TextBox 20"/>
          <p:cNvSpPr txBox="1"/>
          <p:nvPr/>
        </p:nvSpPr>
        <p:spPr>
          <a:xfrm>
            <a:off x="8803901"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Regulation in its favour or against</a:t>
            </a:r>
          </a:p>
        </p:txBody>
      </p:sp>
      <p:sp>
        <p:nvSpPr>
          <p:cNvPr id="22" name="TextBox 21"/>
          <p:cNvSpPr txBox="1"/>
          <p:nvPr/>
        </p:nvSpPr>
        <p:spPr>
          <a:xfrm>
            <a:off x="10568828" y="1295400"/>
            <a:ext cx="1394572"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Prospects</a:t>
            </a:r>
          </a:p>
        </p:txBody>
      </p:sp>
      <p:sp>
        <p:nvSpPr>
          <p:cNvPr id="23" name="TextBox 22"/>
          <p:cNvSpPr txBox="1"/>
          <p:nvPr/>
        </p:nvSpPr>
        <p:spPr>
          <a:xfrm>
            <a:off x="10568828" y="1657350"/>
            <a:ext cx="1394572"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Gaining 3, holding 2, at risk 1</a:t>
            </a:r>
          </a:p>
        </p:txBody>
      </p:sp>
      <p:cxnSp>
        <p:nvCxnSpPr>
          <p:cNvPr id="24" name="Connector 23"/>
          <p:cNvCxnSpPr/>
          <p:nvPr/>
        </p:nvCxnSpPr>
        <p:spPr>
          <a:xfrm>
            <a:off x="190500" y="2209800"/>
            <a:ext cx="11811000" cy="0"/>
          </a:xfrm>
          <a:prstGeom prst="line">
            <a:avLst/>
          </a:prstGeom>
          <a:ln w="127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5" name="Rectangle 24"/>
          <p:cNvSpPr/>
          <p:nvPr/>
        </p:nvSpPr>
        <p:spPr>
          <a:xfrm>
            <a:off x="190500" y="22574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85750" y="22479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Dentsply Sirona Inc.</a:t>
            </a:r>
          </a:p>
        </p:txBody>
      </p:sp>
      <p:sp>
        <p:nvSpPr>
          <p:cNvPr id="27" name="TextBox 26"/>
          <p:cNvSpPr txBox="1"/>
          <p:nvPr/>
        </p:nvSpPr>
        <p:spPr>
          <a:xfrm>
            <a:off x="285750" y="24098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28" name="TextBox 27"/>
          <p:cNvSpPr txBox="1"/>
          <p:nvPr/>
        </p:nvSpPr>
        <p:spPr>
          <a:xfrm>
            <a:off x="2038350" y="22288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 + key accounts</a:t>
            </a:r>
          </a:p>
        </p:txBody>
      </p:sp>
      <p:sp>
        <p:nvSpPr>
          <p:cNvPr id="29" name="TextBox 28"/>
          <p:cNvSpPr txBox="1"/>
          <p:nvPr/>
        </p:nvSpPr>
        <p:spPr>
          <a:xfrm>
            <a:off x="3765176" y="22288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30" name="Oval 29"/>
          <p:cNvSpPr/>
          <p:nvPr/>
        </p:nvSpPr>
        <p:spPr>
          <a:xfrm>
            <a:off x="6189289"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000875" y="22288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32" name="TextBox 31"/>
          <p:cNvSpPr txBox="1"/>
          <p:nvPr/>
        </p:nvSpPr>
        <p:spPr>
          <a:xfrm>
            <a:off x="8765801" y="22288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33" name="Oval 32"/>
          <p:cNvSpPr/>
          <p:nvPr/>
        </p:nvSpPr>
        <p:spPr>
          <a:xfrm>
            <a:off x="11189914"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4" name="Connector 33"/>
          <p:cNvCxnSpPr/>
          <p:nvPr/>
        </p:nvCxnSpPr>
        <p:spPr>
          <a:xfrm>
            <a:off x="190500" y="2571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5" name="Rectangle 34"/>
          <p:cNvSpPr/>
          <p:nvPr/>
        </p:nvSpPr>
        <p:spPr>
          <a:xfrm>
            <a:off x="190500" y="26003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285750" y="25908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Ivoclar Vivadent AG</a:t>
            </a:r>
          </a:p>
        </p:txBody>
      </p:sp>
      <p:sp>
        <p:nvSpPr>
          <p:cNvPr id="37" name="TextBox 36"/>
          <p:cNvSpPr txBox="1"/>
          <p:nvPr/>
        </p:nvSpPr>
        <p:spPr>
          <a:xfrm>
            <a:off x="285750" y="27527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38" name="TextBox 37"/>
          <p:cNvSpPr txBox="1"/>
          <p:nvPr/>
        </p:nvSpPr>
        <p:spPr>
          <a:xfrm>
            <a:off x="2038350" y="25717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 + key accounts</a:t>
            </a:r>
          </a:p>
        </p:txBody>
      </p:sp>
      <p:sp>
        <p:nvSpPr>
          <p:cNvPr id="39" name="TextBox 38"/>
          <p:cNvSpPr txBox="1"/>
          <p:nvPr/>
        </p:nvSpPr>
        <p:spPr>
          <a:xfrm>
            <a:off x="3765176" y="25717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40" name="Oval 39"/>
          <p:cNvSpPr/>
          <p:nvPr/>
        </p:nvSpPr>
        <p:spPr>
          <a:xfrm>
            <a:off x="6189289"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7038975" y="25717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42" name="TextBox 41"/>
          <p:cNvSpPr txBox="1"/>
          <p:nvPr/>
        </p:nvSpPr>
        <p:spPr>
          <a:xfrm>
            <a:off x="8765801" y="25717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43" name="Oval 42"/>
          <p:cNvSpPr/>
          <p:nvPr/>
        </p:nvSpPr>
        <p:spPr>
          <a:xfrm>
            <a:off x="11189914"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4" name="Connector 43"/>
          <p:cNvCxnSpPr/>
          <p:nvPr/>
        </p:nvCxnSpPr>
        <p:spPr>
          <a:xfrm>
            <a:off x="190500" y="29146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5" name="Rectangle 44"/>
          <p:cNvSpPr/>
          <p:nvPr/>
        </p:nvSpPr>
        <p:spPr>
          <a:xfrm>
            <a:off x="190500" y="29432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285750" y="29337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Kulzer GmbH</a:t>
            </a:r>
          </a:p>
        </p:txBody>
      </p:sp>
      <p:sp>
        <p:nvSpPr>
          <p:cNvPr id="47" name="TextBox 46"/>
          <p:cNvSpPr txBox="1"/>
          <p:nvPr/>
        </p:nvSpPr>
        <p:spPr>
          <a:xfrm>
            <a:off x="285750" y="30956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48" name="TextBox 47"/>
          <p:cNvSpPr txBox="1"/>
          <p:nvPr/>
        </p:nvSpPr>
        <p:spPr>
          <a:xfrm>
            <a:off x="2038350" y="29146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 + key accounts</a:t>
            </a:r>
          </a:p>
        </p:txBody>
      </p:sp>
      <p:sp>
        <p:nvSpPr>
          <p:cNvPr id="49" name="TextBox 48"/>
          <p:cNvSpPr txBox="1"/>
          <p:nvPr/>
        </p:nvSpPr>
        <p:spPr>
          <a:xfrm>
            <a:off x="3765176" y="29146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50" name="Oval 49"/>
          <p:cNvSpPr/>
          <p:nvPr/>
        </p:nvSpPr>
        <p:spPr>
          <a:xfrm>
            <a:off x="6189289"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7000875" y="29146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52" name="TextBox 51"/>
          <p:cNvSpPr txBox="1"/>
          <p:nvPr/>
        </p:nvSpPr>
        <p:spPr>
          <a:xfrm>
            <a:off x="8765801" y="29146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53" name="Oval 52"/>
          <p:cNvSpPr/>
          <p:nvPr/>
        </p:nvSpPr>
        <p:spPr>
          <a:xfrm>
            <a:off x="11189914"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54" name="Connector 53"/>
          <p:cNvCxnSpPr/>
          <p:nvPr/>
        </p:nvCxnSpPr>
        <p:spPr>
          <a:xfrm>
            <a:off x="190500" y="3257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5" name="Rectangle 54"/>
          <p:cNvSpPr/>
          <p:nvPr/>
        </p:nvSpPr>
        <p:spPr>
          <a:xfrm>
            <a:off x="190500" y="32861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285750" y="32766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GC Corporation</a:t>
            </a:r>
          </a:p>
        </p:txBody>
      </p:sp>
      <p:sp>
        <p:nvSpPr>
          <p:cNvPr id="57" name="TextBox 56"/>
          <p:cNvSpPr txBox="1"/>
          <p:nvPr/>
        </p:nvSpPr>
        <p:spPr>
          <a:xfrm>
            <a:off x="285750" y="34385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58" name="TextBox 57"/>
          <p:cNvSpPr txBox="1"/>
          <p:nvPr/>
        </p:nvSpPr>
        <p:spPr>
          <a:xfrm>
            <a:off x="2038350" y="32575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 + key accounts</a:t>
            </a:r>
          </a:p>
        </p:txBody>
      </p:sp>
      <p:sp>
        <p:nvSpPr>
          <p:cNvPr id="59" name="TextBox 58"/>
          <p:cNvSpPr txBox="1"/>
          <p:nvPr/>
        </p:nvSpPr>
        <p:spPr>
          <a:xfrm>
            <a:off x="3765176" y="32575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60" name="Oval 59"/>
          <p:cNvSpPr/>
          <p:nvPr/>
        </p:nvSpPr>
        <p:spPr>
          <a:xfrm>
            <a:off x="6189289"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7038975" y="32575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62" name="TextBox 61"/>
          <p:cNvSpPr txBox="1"/>
          <p:nvPr/>
        </p:nvSpPr>
        <p:spPr>
          <a:xfrm>
            <a:off x="8765801" y="32575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63" name="Oval 62"/>
          <p:cNvSpPr/>
          <p:nvPr/>
        </p:nvSpPr>
        <p:spPr>
          <a:xfrm>
            <a:off x="11189914"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64" name="Connector 63"/>
          <p:cNvCxnSpPr/>
          <p:nvPr/>
        </p:nvCxnSpPr>
        <p:spPr>
          <a:xfrm>
            <a:off x="190500" y="36004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5" name="Rectangle 64"/>
          <p:cNvSpPr/>
          <p:nvPr/>
        </p:nvSpPr>
        <p:spPr>
          <a:xfrm>
            <a:off x="190500" y="36290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285750" y="36195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SHOFU INC.</a:t>
            </a:r>
          </a:p>
        </p:txBody>
      </p:sp>
      <p:sp>
        <p:nvSpPr>
          <p:cNvPr id="67" name="TextBox 66"/>
          <p:cNvSpPr txBox="1"/>
          <p:nvPr/>
        </p:nvSpPr>
        <p:spPr>
          <a:xfrm>
            <a:off x="285750" y="37814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68" name="TextBox 67"/>
          <p:cNvSpPr txBox="1"/>
          <p:nvPr/>
        </p:nvSpPr>
        <p:spPr>
          <a:xfrm>
            <a:off x="2038350" y="36004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Distributors</a:t>
            </a:r>
          </a:p>
        </p:txBody>
      </p:sp>
      <p:sp>
        <p:nvSpPr>
          <p:cNvPr id="69" name="TextBox 68"/>
          <p:cNvSpPr txBox="1"/>
          <p:nvPr/>
        </p:nvSpPr>
        <p:spPr>
          <a:xfrm>
            <a:off x="3765176" y="36004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70" name="Oval 69"/>
          <p:cNvSpPr/>
          <p:nvPr/>
        </p:nvSpPr>
        <p:spPr>
          <a:xfrm>
            <a:off x="6189289" y="36957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7000875" y="36004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72" name="TextBox 71"/>
          <p:cNvSpPr txBox="1"/>
          <p:nvPr/>
        </p:nvSpPr>
        <p:spPr>
          <a:xfrm>
            <a:off x="8765801" y="36004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73" name="Oval 72"/>
          <p:cNvSpPr/>
          <p:nvPr/>
        </p:nvSpPr>
        <p:spPr>
          <a:xfrm>
            <a:off x="11189914"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Freeform 73"/>
          <p:cNvSpPr/>
          <p:nvPr/>
        </p:nvSpPr>
        <p:spPr>
          <a:xfrm>
            <a:off x="11268075" y="3695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75" name="Connector 74"/>
          <p:cNvCxnSpPr/>
          <p:nvPr/>
        </p:nvCxnSpPr>
        <p:spPr>
          <a:xfrm>
            <a:off x="190500" y="3943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6" name="Rectangle 75"/>
          <p:cNvSpPr/>
          <p:nvPr/>
        </p:nvSpPr>
        <p:spPr>
          <a:xfrm>
            <a:off x="190500" y="39719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285750" y="39624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VITA Zahnfabrik H. Rauter GmbH &amp; Co. KG</a:t>
            </a:r>
          </a:p>
        </p:txBody>
      </p:sp>
      <p:sp>
        <p:nvSpPr>
          <p:cNvPr id="78" name="TextBox 77"/>
          <p:cNvSpPr txBox="1"/>
          <p:nvPr/>
        </p:nvSpPr>
        <p:spPr>
          <a:xfrm>
            <a:off x="285750" y="41243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79" name="TextBox 78"/>
          <p:cNvSpPr txBox="1"/>
          <p:nvPr/>
        </p:nvSpPr>
        <p:spPr>
          <a:xfrm>
            <a:off x="2038350" y="39433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Distributors</a:t>
            </a:r>
          </a:p>
        </p:txBody>
      </p:sp>
      <p:sp>
        <p:nvSpPr>
          <p:cNvPr id="80" name="TextBox 79"/>
          <p:cNvSpPr txBox="1"/>
          <p:nvPr/>
        </p:nvSpPr>
        <p:spPr>
          <a:xfrm>
            <a:off x="3765176" y="39433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81" name="Oval 80"/>
          <p:cNvSpPr/>
          <p:nvPr/>
        </p:nvSpPr>
        <p:spPr>
          <a:xfrm>
            <a:off x="6189289" y="40386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7038975" y="39433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83" name="TextBox 82"/>
          <p:cNvSpPr txBox="1"/>
          <p:nvPr/>
        </p:nvSpPr>
        <p:spPr>
          <a:xfrm>
            <a:off x="8765801" y="39433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84" name="Oval 83"/>
          <p:cNvSpPr/>
          <p:nvPr/>
        </p:nvSpPr>
        <p:spPr>
          <a:xfrm>
            <a:off x="11189914"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Freeform 84"/>
          <p:cNvSpPr/>
          <p:nvPr/>
        </p:nvSpPr>
        <p:spPr>
          <a:xfrm>
            <a:off x="11268075" y="4038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86" name="Connector 85"/>
          <p:cNvCxnSpPr/>
          <p:nvPr/>
        </p:nvCxnSpPr>
        <p:spPr>
          <a:xfrm>
            <a:off x="190500" y="42862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7" name="Rectangle 86"/>
          <p:cNvSpPr/>
          <p:nvPr/>
        </p:nvSpPr>
        <p:spPr>
          <a:xfrm>
            <a:off x="190500" y="43148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TextBox 87"/>
          <p:cNvSpPr txBox="1"/>
          <p:nvPr/>
        </p:nvSpPr>
        <p:spPr>
          <a:xfrm>
            <a:off x="285750" y="43053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Zhermack S.p.A.</a:t>
            </a:r>
          </a:p>
        </p:txBody>
      </p:sp>
      <p:sp>
        <p:nvSpPr>
          <p:cNvPr id="89" name="TextBox 88"/>
          <p:cNvSpPr txBox="1"/>
          <p:nvPr/>
        </p:nvSpPr>
        <p:spPr>
          <a:xfrm>
            <a:off x="285750" y="44672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90" name="TextBox 89"/>
          <p:cNvSpPr txBox="1"/>
          <p:nvPr/>
        </p:nvSpPr>
        <p:spPr>
          <a:xfrm>
            <a:off x="2038350" y="42862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Regional partners</a:t>
            </a:r>
          </a:p>
        </p:txBody>
      </p:sp>
      <p:sp>
        <p:nvSpPr>
          <p:cNvPr id="91" name="TextBox 90"/>
          <p:cNvSpPr txBox="1"/>
          <p:nvPr/>
        </p:nvSpPr>
        <p:spPr>
          <a:xfrm>
            <a:off x="3765176" y="42862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92" name="Oval 91"/>
          <p:cNvSpPr/>
          <p:nvPr/>
        </p:nvSpPr>
        <p:spPr>
          <a:xfrm>
            <a:off x="6189289" y="43815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7000875" y="42862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94" name="TextBox 93"/>
          <p:cNvSpPr txBox="1"/>
          <p:nvPr/>
        </p:nvSpPr>
        <p:spPr>
          <a:xfrm>
            <a:off x="8765801" y="42862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95" name="Oval 94"/>
          <p:cNvSpPr/>
          <p:nvPr/>
        </p:nvSpPr>
        <p:spPr>
          <a:xfrm>
            <a:off x="11189914"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Freeform 95"/>
          <p:cNvSpPr/>
          <p:nvPr/>
        </p:nvSpPr>
        <p:spPr>
          <a:xfrm>
            <a:off x="11268075" y="43815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97" name="Connector 96"/>
          <p:cNvCxnSpPr/>
          <p:nvPr/>
        </p:nvCxnSpPr>
        <p:spPr>
          <a:xfrm>
            <a:off x="190500" y="4629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8" name="Rectangle 97"/>
          <p:cNvSpPr/>
          <p:nvPr/>
        </p:nvSpPr>
        <p:spPr>
          <a:xfrm>
            <a:off x="190500" y="46577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285750" y="46482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DETAX GmbH</a:t>
            </a:r>
          </a:p>
        </p:txBody>
      </p:sp>
      <p:sp>
        <p:nvSpPr>
          <p:cNvPr id="100" name="TextBox 99"/>
          <p:cNvSpPr txBox="1"/>
          <p:nvPr/>
        </p:nvSpPr>
        <p:spPr>
          <a:xfrm>
            <a:off x="285750" y="48101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01" name="TextBox 100"/>
          <p:cNvSpPr txBox="1"/>
          <p:nvPr/>
        </p:nvSpPr>
        <p:spPr>
          <a:xfrm>
            <a:off x="2038350" y="46291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Regional partners</a:t>
            </a:r>
          </a:p>
        </p:txBody>
      </p:sp>
      <p:sp>
        <p:nvSpPr>
          <p:cNvPr id="102" name="TextBox 101"/>
          <p:cNvSpPr txBox="1"/>
          <p:nvPr/>
        </p:nvSpPr>
        <p:spPr>
          <a:xfrm>
            <a:off x="3765176" y="46291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03" name="Oval 102"/>
          <p:cNvSpPr/>
          <p:nvPr/>
        </p:nvSpPr>
        <p:spPr>
          <a:xfrm>
            <a:off x="6189289" y="47244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TextBox 103"/>
          <p:cNvSpPr txBox="1"/>
          <p:nvPr/>
        </p:nvSpPr>
        <p:spPr>
          <a:xfrm>
            <a:off x="7038975" y="46291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105" name="TextBox 104"/>
          <p:cNvSpPr txBox="1"/>
          <p:nvPr/>
        </p:nvSpPr>
        <p:spPr>
          <a:xfrm>
            <a:off x="8765801" y="46291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06" name="Oval 105"/>
          <p:cNvSpPr/>
          <p:nvPr/>
        </p:nvSpPr>
        <p:spPr>
          <a:xfrm>
            <a:off x="11189914"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Freeform 106"/>
          <p:cNvSpPr/>
          <p:nvPr/>
        </p:nvSpPr>
        <p:spPr>
          <a:xfrm>
            <a:off x="11268075" y="4724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08" name="Connector 107"/>
          <p:cNvCxnSpPr/>
          <p:nvPr/>
        </p:nvCxnSpPr>
        <p:spPr>
          <a:xfrm>
            <a:off x="190500" y="49720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9" name="Rectangle 108"/>
          <p:cNvSpPr/>
          <p:nvPr/>
        </p:nvSpPr>
        <p:spPr>
          <a:xfrm>
            <a:off x="190500" y="50006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TextBox 109"/>
          <p:cNvSpPr txBox="1"/>
          <p:nvPr/>
        </p:nvSpPr>
        <p:spPr>
          <a:xfrm>
            <a:off x="285750" y="49911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Candulor AG</a:t>
            </a:r>
          </a:p>
        </p:txBody>
      </p:sp>
      <p:sp>
        <p:nvSpPr>
          <p:cNvPr id="111" name="TextBox 110"/>
          <p:cNvSpPr txBox="1"/>
          <p:nvPr/>
        </p:nvSpPr>
        <p:spPr>
          <a:xfrm>
            <a:off x="285750" y="51530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12" name="TextBox 111"/>
          <p:cNvSpPr txBox="1"/>
          <p:nvPr/>
        </p:nvSpPr>
        <p:spPr>
          <a:xfrm>
            <a:off x="2038350" y="49720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Regional partners</a:t>
            </a:r>
          </a:p>
        </p:txBody>
      </p:sp>
      <p:sp>
        <p:nvSpPr>
          <p:cNvPr id="113" name="TextBox 112"/>
          <p:cNvSpPr txBox="1"/>
          <p:nvPr/>
        </p:nvSpPr>
        <p:spPr>
          <a:xfrm>
            <a:off x="3765176" y="49720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14" name="Oval 113"/>
          <p:cNvSpPr/>
          <p:nvPr/>
        </p:nvSpPr>
        <p:spPr>
          <a:xfrm>
            <a:off x="6189289" y="50673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TextBox 114"/>
          <p:cNvSpPr txBox="1"/>
          <p:nvPr/>
        </p:nvSpPr>
        <p:spPr>
          <a:xfrm>
            <a:off x="7000875" y="49720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16" name="TextBox 115"/>
          <p:cNvSpPr txBox="1"/>
          <p:nvPr/>
        </p:nvSpPr>
        <p:spPr>
          <a:xfrm>
            <a:off x="8765801" y="49720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17" name="Oval 116"/>
          <p:cNvSpPr/>
          <p:nvPr/>
        </p:nvSpPr>
        <p:spPr>
          <a:xfrm>
            <a:off x="11189914" y="5067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Freeform 117"/>
          <p:cNvSpPr/>
          <p:nvPr/>
        </p:nvSpPr>
        <p:spPr>
          <a:xfrm>
            <a:off x="11268075" y="50673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19" name="Connector 118"/>
          <p:cNvCxnSpPr/>
          <p:nvPr/>
        </p:nvCxnSpPr>
        <p:spPr>
          <a:xfrm>
            <a:off x="190500" y="5314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0" name="Rectangle 119"/>
          <p:cNvSpPr/>
          <p:nvPr/>
        </p:nvSpPr>
        <p:spPr>
          <a:xfrm>
            <a:off x="190500" y="53435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285750" y="53340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Ruthinium Dental Manufacturing S.p.A.</a:t>
            </a:r>
          </a:p>
        </p:txBody>
      </p:sp>
      <p:sp>
        <p:nvSpPr>
          <p:cNvPr id="122" name="TextBox 121"/>
          <p:cNvSpPr txBox="1"/>
          <p:nvPr/>
        </p:nvSpPr>
        <p:spPr>
          <a:xfrm>
            <a:off x="285750" y="54959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23" name="TextBox 122"/>
          <p:cNvSpPr txBox="1"/>
          <p:nvPr/>
        </p:nvSpPr>
        <p:spPr>
          <a:xfrm>
            <a:off x="2038350" y="53149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Regional partners</a:t>
            </a:r>
          </a:p>
        </p:txBody>
      </p:sp>
      <p:sp>
        <p:nvSpPr>
          <p:cNvPr id="124" name="TextBox 123"/>
          <p:cNvSpPr txBox="1"/>
          <p:nvPr/>
        </p:nvSpPr>
        <p:spPr>
          <a:xfrm>
            <a:off x="3765176" y="53149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25" name="Oval 124"/>
          <p:cNvSpPr/>
          <p:nvPr/>
        </p:nvSpPr>
        <p:spPr>
          <a:xfrm>
            <a:off x="6189289" y="54102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TextBox 125"/>
          <p:cNvSpPr txBox="1"/>
          <p:nvPr/>
        </p:nvSpPr>
        <p:spPr>
          <a:xfrm>
            <a:off x="7038975" y="53149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127" name="TextBox 126"/>
          <p:cNvSpPr txBox="1"/>
          <p:nvPr/>
        </p:nvSpPr>
        <p:spPr>
          <a:xfrm>
            <a:off x="8765801" y="53149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28" name="Oval 127"/>
          <p:cNvSpPr/>
          <p:nvPr/>
        </p:nvSpPr>
        <p:spPr>
          <a:xfrm>
            <a:off x="11189914" y="5410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Freeform 128"/>
          <p:cNvSpPr/>
          <p:nvPr/>
        </p:nvSpPr>
        <p:spPr>
          <a:xfrm>
            <a:off x="11268075" y="54102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30" name="Connector 129"/>
          <p:cNvCxnSpPr/>
          <p:nvPr/>
        </p:nvCxnSpPr>
        <p:spPr>
          <a:xfrm>
            <a:off x="190500" y="56578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31" name="Oval 130"/>
          <p:cNvSpPr/>
          <p:nvPr/>
        </p:nvSpPr>
        <p:spPr>
          <a:xfrm>
            <a:off x="200025" y="5734050"/>
            <a:ext cx="133350" cy="13335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TextBox 131"/>
          <p:cNvSpPr txBox="1"/>
          <p:nvPr/>
        </p:nvSpPr>
        <p:spPr>
          <a:xfrm>
            <a:off x="38100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Strong, direct evidence</a:t>
            </a:r>
          </a:p>
        </p:txBody>
      </p:sp>
      <p:sp>
        <p:nvSpPr>
          <p:cNvPr id="133" name="Oval 132"/>
          <p:cNvSpPr/>
          <p:nvPr/>
        </p:nvSpPr>
        <p:spPr>
          <a:xfrm>
            <a:off x="2065020"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Freeform 133"/>
          <p:cNvSpPr/>
          <p:nvPr/>
        </p:nvSpPr>
        <p:spPr>
          <a:xfrm>
            <a:off x="2133600" y="5734050"/>
            <a:ext cx="66675" cy="133350"/>
          </a:xfrm>
          <a:custGeom>
            <a:avLst/>
            <a:gdLst/>
            <a:ahLst/>
            <a:cxnLst/>
            <a:rect l="l" t="t" r="r" b="b"/>
            <a:pathLst>
              <a:path w="7" h="14">
                <a:moveTo>
                  <a:pt x="0" y="7"/>
                </a:moveTo>
                <a:lnTo>
                  <a:pt x="0" y="0"/>
                </a:lnTo>
                <a:lnTo>
                  <a:pt x="1" y="0"/>
                </a:lnTo>
                <a:lnTo>
                  <a:pt x="2" y="0"/>
                </a:lnTo>
                <a:lnTo>
                  <a:pt x="3" y="1"/>
                </a:lnTo>
                <a:lnTo>
                  <a:pt x="4" y="2"/>
                </a:lnTo>
                <a:lnTo>
                  <a:pt x="5" y="3"/>
                </a:lnTo>
                <a:lnTo>
                  <a:pt x="6" y="4"/>
                </a:lnTo>
                <a:lnTo>
                  <a:pt x="6" y="5"/>
                </a:lnTo>
                <a:lnTo>
                  <a:pt x="7" y="6"/>
                </a:lnTo>
                <a:lnTo>
                  <a:pt x="7" y="7"/>
                </a:lnTo>
                <a:lnTo>
                  <a:pt x="7" y="8"/>
                </a:lnTo>
                <a:lnTo>
                  <a:pt x="6" y="9"/>
                </a:lnTo>
                <a:lnTo>
                  <a:pt x="6" y="10"/>
                </a:lnTo>
                <a:lnTo>
                  <a:pt x="5" y="11"/>
                </a:lnTo>
                <a:lnTo>
                  <a:pt x="4" y="12"/>
                </a:lnTo>
                <a:lnTo>
                  <a:pt x="3" y="13"/>
                </a:lnTo>
                <a:lnTo>
                  <a:pt x="2" y="14"/>
                </a:lnTo>
                <a:lnTo>
                  <a:pt x="1" y="14"/>
                </a:lnTo>
                <a:lnTo>
                  <a:pt x="0" y="14"/>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TextBox 134"/>
          <p:cNvSpPr txBox="1"/>
          <p:nvPr/>
        </p:nvSpPr>
        <p:spPr>
          <a:xfrm>
            <a:off x="2245995"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Moderate or partial</a:t>
            </a:r>
          </a:p>
        </p:txBody>
      </p:sp>
      <p:sp>
        <p:nvSpPr>
          <p:cNvPr id="136" name="Oval 135"/>
          <p:cNvSpPr/>
          <p:nvPr/>
        </p:nvSpPr>
        <p:spPr>
          <a:xfrm>
            <a:off x="3678555"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Freeform 136"/>
          <p:cNvSpPr/>
          <p:nvPr/>
        </p:nvSpPr>
        <p:spPr>
          <a:xfrm>
            <a:off x="3743325" y="5734050"/>
            <a:ext cx="66675" cy="66675"/>
          </a:xfrm>
          <a:custGeom>
            <a:avLst/>
            <a:gdLst/>
            <a:ahLst/>
            <a:cxnLst/>
            <a:rect l="l" t="t" r="r" b="b"/>
            <a:pathLst>
              <a:path w="7" h="7">
                <a:moveTo>
                  <a:pt x="0" y="7"/>
                </a:moveTo>
                <a:lnTo>
                  <a:pt x="0" y="0"/>
                </a:lnTo>
                <a:lnTo>
                  <a:pt x="1" y="0"/>
                </a:lnTo>
                <a:lnTo>
                  <a:pt x="3" y="0"/>
                </a:lnTo>
                <a:lnTo>
                  <a:pt x="4" y="1"/>
                </a:lnTo>
                <a:lnTo>
                  <a:pt x="5" y="2"/>
                </a:lnTo>
                <a:lnTo>
                  <a:pt x="6" y="3"/>
                </a:lnTo>
                <a:lnTo>
                  <a:pt x="6" y="4"/>
                </a:lnTo>
                <a:lnTo>
                  <a:pt x="7" y="5"/>
                </a:lnTo>
                <a:lnTo>
                  <a:pt x="7" y="6"/>
                </a:lnTo>
                <a:lnTo>
                  <a:pt x="7" y="7"/>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TextBox 137"/>
          <p:cNvSpPr txBox="1"/>
          <p:nvPr/>
        </p:nvSpPr>
        <p:spPr>
          <a:xfrm>
            <a:off x="385953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Weak or indirect</a:t>
            </a:r>
          </a:p>
        </p:txBody>
      </p:sp>
      <p:sp>
        <p:nvSpPr>
          <p:cNvPr id="139" name="Oval 138"/>
          <p:cNvSpPr/>
          <p:nvPr/>
        </p:nvSpPr>
        <p:spPr>
          <a:xfrm>
            <a:off x="5103495"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TextBox 139"/>
          <p:cNvSpPr txBox="1"/>
          <p:nvPr/>
        </p:nvSpPr>
        <p:spPr>
          <a:xfrm>
            <a:off x="528447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None found</a:t>
            </a:r>
          </a:p>
        </p:txBody>
      </p:sp>
      <p:sp>
        <p:nvSpPr>
          <p:cNvPr id="141" name="TextBox 140"/>
          <p:cNvSpPr txBox="1"/>
          <p:nvPr/>
        </p:nvSpPr>
        <p:spPr>
          <a:xfrm>
            <a:off x="190500" y="59436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READING</a:t>
            </a:r>
          </a:p>
        </p:txBody>
      </p:sp>
      <p:sp>
        <p:nvSpPr>
          <p:cNvPr id="142" name="TextBox 141"/>
          <p:cNvSpPr txBox="1"/>
          <p:nvPr/>
        </p:nvSpPr>
        <p:spPr>
          <a:xfrm>
            <a:off x="190500" y="6096000"/>
            <a:ext cx="11811000" cy="2286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Momentum sits with the players running the most strategic moves; prospects combine breadth, reach, scale and pace.  Promotion and policy exposure need market and regulatory research.</a:t>
            </a:r>
          </a:p>
        </p:txBody>
      </p:sp>
      <p:sp>
        <p:nvSpPr>
          <p:cNvPr id="143" name="TextBox 14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4" name="Picture 143" descr="lock.png"/>
          <p:cNvPicPr>
            <a:picLocks noChangeAspect="1"/>
          </p:cNvPicPr>
          <p:nvPr/>
        </p:nvPicPr>
        <p:blipFill>
          <a:blip r:embed="rId4"/>
          <a:stretch>
            <a:fillRect/>
          </a:stretch>
        </p:blipFill>
        <p:spPr>
          <a:xfrm>
            <a:off x="4583289" y="2306701"/>
            <a:ext cx="128699" cy="187198"/>
          </a:xfrm>
          <a:prstGeom prst="rect">
            <a:avLst/>
          </a:prstGeom>
        </p:spPr>
      </p:pic>
      <p:pic>
        <p:nvPicPr>
          <p:cNvPr id="145" name="Picture 144" descr="lock.png"/>
          <p:cNvPicPr>
            <a:picLocks noChangeAspect="1"/>
          </p:cNvPicPr>
          <p:nvPr/>
        </p:nvPicPr>
        <p:blipFill>
          <a:blip r:embed="rId4"/>
          <a:stretch>
            <a:fillRect/>
          </a:stretch>
        </p:blipFill>
        <p:spPr>
          <a:xfrm>
            <a:off x="7818988" y="2306701"/>
            <a:ext cx="128699" cy="187198"/>
          </a:xfrm>
          <a:prstGeom prst="rect">
            <a:avLst/>
          </a:prstGeom>
        </p:spPr>
      </p:pic>
      <p:pic>
        <p:nvPicPr>
          <p:cNvPr id="146" name="Picture 145" descr="lock.png"/>
          <p:cNvPicPr>
            <a:picLocks noChangeAspect="1"/>
          </p:cNvPicPr>
          <p:nvPr/>
        </p:nvPicPr>
        <p:blipFill>
          <a:blip r:embed="rId4"/>
          <a:stretch>
            <a:fillRect/>
          </a:stretch>
        </p:blipFill>
        <p:spPr>
          <a:xfrm>
            <a:off x="9583914" y="2306701"/>
            <a:ext cx="128699" cy="187198"/>
          </a:xfrm>
          <a:prstGeom prst="rect">
            <a:avLst/>
          </a:prstGeom>
        </p:spPr>
      </p:pic>
      <p:pic>
        <p:nvPicPr>
          <p:cNvPr id="147" name="Picture 146" descr="lock.png"/>
          <p:cNvPicPr>
            <a:picLocks noChangeAspect="1"/>
          </p:cNvPicPr>
          <p:nvPr/>
        </p:nvPicPr>
        <p:blipFill>
          <a:blip r:embed="rId4"/>
          <a:stretch>
            <a:fillRect/>
          </a:stretch>
        </p:blipFill>
        <p:spPr>
          <a:xfrm>
            <a:off x="4583289" y="2649601"/>
            <a:ext cx="128699" cy="187198"/>
          </a:xfrm>
          <a:prstGeom prst="rect">
            <a:avLst/>
          </a:prstGeom>
        </p:spPr>
      </p:pic>
      <p:pic>
        <p:nvPicPr>
          <p:cNvPr id="148" name="Picture 147" descr="lock.png"/>
          <p:cNvPicPr>
            <a:picLocks noChangeAspect="1"/>
          </p:cNvPicPr>
          <p:nvPr/>
        </p:nvPicPr>
        <p:blipFill>
          <a:blip r:embed="rId4"/>
          <a:stretch>
            <a:fillRect/>
          </a:stretch>
        </p:blipFill>
        <p:spPr>
          <a:xfrm>
            <a:off x="9583914" y="2649601"/>
            <a:ext cx="128699" cy="187198"/>
          </a:xfrm>
          <a:prstGeom prst="rect">
            <a:avLst/>
          </a:prstGeom>
        </p:spPr>
      </p:pic>
      <p:pic>
        <p:nvPicPr>
          <p:cNvPr id="149" name="Picture 148" descr="lock.png"/>
          <p:cNvPicPr>
            <a:picLocks noChangeAspect="1"/>
          </p:cNvPicPr>
          <p:nvPr/>
        </p:nvPicPr>
        <p:blipFill>
          <a:blip r:embed="rId4"/>
          <a:stretch>
            <a:fillRect/>
          </a:stretch>
        </p:blipFill>
        <p:spPr>
          <a:xfrm>
            <a:off x="4583289" y="2992501"/>
            <a:ext cx="128699" cy="187198"/>
          </a:xfrm>
          <a:prstGeom prst="rect">
            <a:avLst/>
          </a:prstGeom>
        </p:spPr>
      </p:pic>
      <p:pic>
        <p:nvPicPr>
          <p:cNvPr id="150" name="Picture 149" descr="lock.png"/>
          <p:cNvPicPr>
            <a:picLocks noChangeAspect="1"/>
          </p:cNvPicPr>
          <p:nvPr/>
        </p:nvPicPr>
        <p:blipFill>
          <a:blip r:embed="rId4"/>
          <a:stretch>
            <a:fillRect/>
          </a:stretch>
        </p:blipFill>
        <p:spPr>
          <a:xfrm>
            <a:off x="7818988" y="2992501"/>
            <a:ext cx="128699" cy="187198"/>
          </a:xfrm>
          <a:prstGeom prst="rect">
            <a:avLst/>
          </a:prstGeom>
        </p:spPr>
      </p:pic>
      <p:pic>
        <p:nvPicPr>
          <p:cNvPr id="151" name="Picture 150" descr="lock.png"/>
          <p:cNvPicPr>
            <a:picLocks noChangeAspect="1"/>
          </p:cNvPicPr>
          <p:nvPr/>
        </p:nvPicPr>
        <p:blipFill>
          <a:blip r:embed="rId4"/>
          <a:stretch>
            <a:fillRect/>
          </a:stretch>
        </p:blipFill>
        <p:spPr>
          <a:xfrm>
            <a:off x="9583914" y="2992501"/>
            <a:ext cx="128699" cy="187198"/>
          </a:xfrm>
          <a:prstGeom prst="rect">
            <a:avLst/>
          </a:prstGeom>
        </p:spPr>
      </p:pic>
      <p:pic>
        <p:nvPicPr>
          <p:cNvPr id="152" name="Picture 151" descr="lock.png"/>
          <p:cNvPicPr>
            <a:picLocks noChangeAspect="1"/>
          </p:cNvPicPr>
          <p:nvPr/>
        </p:nvPicPr>
        <p:blipFill>
          <a:blip r:embed="rId4"/>
          <a:stretch>
            <a:fillRect/>
          </a:stretch>
        </p:blipFill>
        <p:spPr>
          <a:xfrm>
            <a:off x="4583289" y="3335401"/>
            <a:ext cx="128699" cy="187198"/>
          </a:xfrm>
          <a:prstGeom prst="rect">
            <a:avLst/>
          </a:prstGeom>
        </p:spPr>
      </p:pic>
      <p:pic>
        <p:nvPicPr>
          <p:cNvPr id="153" name="Picture 152" descr="lock.png"/>
          <p:cNvPicPr>
            <a:picLocks noChangeAspect="1"/>
          </p:cNvPicPr>
          <p:nvPr/>
        </p:nvPicPr>
        <p:blipFill>
          <a:blip r:embed="rId4"/>
          <a:stretch>
            <a:fillRect/>
          </a:stretch>
        </p:blipFill>
        <p:spPr>
          <a:xfrm>
            <a:off x="9583914" y="3335401"/>
            <a:ext cx="128699" cy="187198"/>
          </a:xfrm>
          <a:prstGeom prst="rect">
            <a:avLst/>
          </a:prstGeom>
        </p:spPr>
      </p:pic>
      <p:pic>
        <p:nvPicPr>
          <p:cNvPr id="154" name="Picture 153" descr="lock.png"/>
          <p:cNvPicPr>
            <a:picLocks noChangeAspect="1"/>
          </p:cNvPicPr>
          <p:nvPr/>
        </p:nvPicPr>
        <p:blipFill>
          <a:blip r:embed="rId4"/>
          <a:stretch>
            <a:fillRect/>
          </a:stretch>
        </p:blipFill>
        <p:spPr>
          <a:xfrm>
            <a:off x="4583289" y="3678301"/>
            <a:ext cx="128699" cy="187198"/>
          </a:xfrm>
          <a:prstGeom prst="rect">
            <a:avLst/>
          </a:prstGeom>
        </p:spPr>
      </p:pic>
      <p:pic>
        <p:nvPicPr>
          <p:cNvPr id="155" name="Picture 154" descr="lock.png"/>
          <p:cNvPicPr>
            <a:picLocks noChangeAspect="1"/>
          </p:cNvPicPr>
          <p:nvPr/>
        </p:nvPicPr>
        <p:blipFill>
          <a:blip r:embed="rId4"/>
          <a:stretch>
            <a:fillRect/>
          </a:stretch>
        </p:blipFill>
        <p:spPr>
          <a:xfrm>
            <a:off x="7818988" y="3678301"/>
            <a:ext cx="128699" cy="187198"/>
          </a:xfrm>
          <a:prstGeom prst="rect">
            <a:avLst/>
          </a:prstGeom>
        </p:spPr>
      </p:pic>
      <p:pic>
        <p:nvPicPr>
          <p:cNvPr id="156" name="Picture 155" descr="lock.png"/>
          <p:cNvPicPr>
            <a:picLocks noChangeAspect="1"/>
          </p:cNvPicPr>
          <p:nvPr/>
        </p:nvPicPr>
        <p:blipFill>
          <a:blip r:embed="rId4"/>
          <a:stretch>
            <a:fillRect/>
          </a:stretch>
        </p:blipFill>
        <p:spPr>
          <a:xfrm>
            <a:off x="9583914" y="3678301"/>
            <a:ext cx="128699" cy="187198"/>
          </a:xfrm>
          <a:prstGeom prst="rect">
            <a:avLst/>
          </a:prstGeom>
        </p:spPr>
      </p:pic>
      <p:pic>
        <p:nvPicPr>
          <p:cNvPr id="157" name="Picture 156" descr="lock.png"/>
          <p:cNvPicPr>
            <a:picLocks noChangeAspect="1"/>
          </p:cNvPicPr>
          <p:nvPr/>
        </p:nvPicPr>
        <p:blipFill>
          <a:blip r:embed="rId4"/>
          <a:stretch>
            <a:fillRect/>
          </a:stretch>
        </p:blipFill>
        <p:spPr>
          <a:xfrm>
            <a:off x="4583289" y="4021201"/>
            <a:ext cx="128699" cy="187198"/>
          </a:xfrm>
          <a:prstGeom prst="rect">
            <a:avLst/>
          </a:prstGeom>
        </p:spPr>
      </p:pic>
      <p:pic>
        <p:nvPicPr>
          <p:cNvPr id="158" name="Picture 157" descr="lock.png"/>
          <p:cNvPicPr>
            <a:picLocks noChangeAspect="1"/>
          </p:cNvPicPr>
          <p:nvPr/>
        </p:nvPicPr>
        <p:blipFill>
          <a:blip r:embed="rId4"/>
          <a:stretch>
            <a:fillRect/>
          </a:stretch>
        </p:blipFill>
        <p:spPr>
          <a:xfrm>
            <a:off x="9583914" y="4021201"/>
            <a:ext cx="128699" cy="187198"/>
          </a:xfrm>
          <a:prstGeom prst="rect">
            <a:avLst/>
          </a:prstGeom>
        </p:spPr>
      </p:pic>
      <p:pic>
        <p:nvPicPr>
          <p:cNvPr id="159" name="Picture 158" descr="lock.png"/>
          <p:cNvPicPr>
            <a:picLocks noChangeAspect="1"/>
          </p:cNvPicPr>
          <p:nvPr/>
        </p:nvPicPr>
        <p:blipFill>
          <a:blip r:embed="rId4"/>
          <a:stretch>
            <a:fillRect/>
          </a:stretch>
        </p:blipFill>
        <p:spPr>
          <a:xfrm>
            <a:off x="4583289" y="4364101"/>
            <a:ext cx="128699" cy="187198"/>
          </a:xfrm>
          <a:prstGeom prst="rect">
            <a:avLst/>
          </a:prstGeom>
        </p:spPr>
      </p:pic>
      <p:pic>
        <p:nvPicPr>
          <p:cNvPr id="160" name="Picture 159" descr="lock.png"/>
          <p:cNvPicPr>
            <a:picLocks noChangeAspect="1"/>
          </p:cNvPicPr>
          <p:nvPr/>
        </p:nvPicPr>
        <p:blipFill>
          <a:blip r:embed="rId4"/>
          <a:stretch>
            <a:fillRect/>
          </a:stretch>
        </p:blipFill>
        <p:spPr>
          <a:xfrm>
            <a:off x="7818988" y="4364101"/>
            <a:ext cx="128699" cy="187198"/>
          </a:xfrm>
          <a:prstGeom prst="rect">
            <a:avLst/>
          </a:prstGeom>
        </p:spPr>
      </p:pic>
      <p:pic>
        <p:nvPicPr>
          <p:cNvPr id="161" name="Picture 160" descr="lock.png"/>
          <p:cNvPicPr>
            <a:picLocks noChangeAspect="1"/>
          </p:cNvPicPr>
          <p:nvPr/>
        </p:nvPicPr>
        <p:blipFill>
          <a:blip r:embed="rId4"/>
          <a:stretch>
            <a:fillRect/>
          </a:stretch>
        </p:blipFill>
        <p:spPr>
          <a:xfrm>
            <a:off x="9583914" y="4364101"/>
            <a:ext cx="128699" cy="187198"/>
          </a:xfrm>
          <a:prstGeom prst="rect">
            <a:avLst/>
          </a:prstGeom>
        </p:spPr>
      </p:pic>
      <p:pic>
        <p:nvPicPr>
          <p:cNvPr id="162" name="Picture 161" descr="lock.png"/>
          <p:cNvPicPr>
            <a:picLocks noChangeAspect="1"/>
          </p:cNvPicPr>
          <p:nvPr/>
        </p:nvPicPr>
        <p:blipFill>
          <a:blip r:embed="rId4"/>
          <a:stretch>
            <a:fillRect/>
          </a:stretch>
        </p:blipFill>
        <p:spPr>
          <a:xfrm>
            <a:off x="4583289" y="4707001"/>
            <a:ext cx="128699" cy="187198"/>
          </a:xfrm>
          <a:prstGeom prst="rect">
            <a:avLst/>
          </a:prstGeom>
        </p:spPr>
      </p:pic>
      <p:pic>
        <p:nvPicPr>
          <p:cNvPr id="163" name="Picture 162" descr="lock.png"/>
          <p:cNvPicPr>
            <a:picLocks noChangeAspect="1"/>
          </p:cNvPicPr>
          <p:nvPr/>
        </p:nvPicPr>
        <p:blipFill>
          <a:blip r:embed="rId4"/>
          <a:stretch>
            <a:fillRect/>
          </a:stretch>
        </p:blipFill>
        <p:spPr>
          <a:xfrm>
            <a:off x="9583914" y="4707001"/>
            <a:ext cx="128699" cy="187198"/>
          </a:xfrm>
          <a:prstGeom prst="rect">
            <a:avLst/>
          </a:prstGeom>
        </p:spPr>
      </p:pic>
      <p:pic>
        <p:nvPicPr>
          <p:cNvPr id="164" name="Picture 163" descr="lock.png"/>
          <p:cNvPicPr>
            <a:picLocks noChangeAspect="1"/>
          </p:cNvPicPr>
          <p:nvPr/>
        </p:nvPicPr>
        <p:blipFill>
          <a:blip r:embed="rId4"/>
          <a:stretch>
            <a:fillRect/>
          </a:stretch>
        </p:blipFill>
        <p:spPr>
          <a:xfrm>
            <a:off x="4583289" y="5049901"/>
            <a:ext cx="128699" cy="187198"/>
          </a:xfrm>
          <a:prstGeom prst="rect">
            <a:avLst/>
          </a:prstGeom>
        </p:spPr>
      </p:pic>
      <p:pic>
        <p:nvPicPr>
          <p:cNvPr id="165" name="Picture 164" descr="lock.png"/>
          <p:cNvPicPr>
            <a:picLocks noChangeAspect="1"/>
          </p:cNvPicPr>
          <p:nvPr/>
        </p:nvPicPr>
        <p:blipFill>
          <a:blip r:embed="rId4"/>
          <a:stretch>
            <a:fillRect/>
          </a:stretch>
        </p:blipFill>
        <p:spPr>
          <a:xfrm>
            <a:off x="7818988" y="5049901"/>
            <a:ext cx="128699" cy="187198"/>
          </a:xfrm>
          <a:prstGeom prst="rect">
            <a:avLst/>
          </a:prstGeom>
        </p:spPr>
      </p:pic>
      <p:pic>
        <p:nvPicPr>
          <p:cNvPr id="166" name="Picture 165" descr="lock.png"/>
          <p:cNvPicPr>
            <a:picLocks noChangeAspect="1"/>
          </p:cNvPicPr>
          <p:nvPr/>
        </p:nvPicPr>
        <p:blipFill>
          <a:blip r:embed="rId4"/>
          <a:stretch>
            <a:fillRect/>
          </a:stretch>
        </p:blipFill>
        <p:spPr>
          <a:xfrm>
            <a:off x="9583914" y="5049901"/>
            <a:ext cx="128699" cy="187198"/>
          </a:xfrm>
          <a:prstGeom prst="rect">
            <a:avLst/>
          </a:prstGeom>
        </p:spPr>
      </p:pic>
      <p:pic>
        <p:nvPicPr>
          <p:cNvPr id="167" name="Picture 166" descr="lock.png"/>
          <p:cNvPicPr>
            <a:picLocks noChangeAspect="1"/>
          </p:cNvPicPr>
          <p:nvPr/>
        </p:nvPicPr>
        <p:blipFill>
          <a:blip r:embed="rId4"/>
          <a:stretch>
            <a:fillRect/>
          </a:stretch>
        </p:blipFill>
        <p:spPr>
          <a:xfrm>
            <a:off x="4583289" y="5392801"/>
            <a:ext cx="128699" cy="187198"/>
          </a:xfrm>
          <a:prstGeom prst="rect">
            <a:avLst/>
          </a:prstGeom>
        </p:spPr>
      </p:pic>
      <p:pic>
        <p:nvPicPr>
          <p:cNvPr id="168" name="Picture 167" descr="lock.png"/>
          <p:cNvPicPr>
            <a:picLocks noChangeAspect="1"/>
          </p:cNvPicPr>
          <p:nvPr/>
        </p:nvPicPr>
        <p:blipFill>
          <a:blip r:embed="rId4"/>
          <a:stretch>
            <a:fillRect/>
          </a:stretch>
        </p:blipFill>
        <p:spPr>
          <a:xfrm>
            <a:off x="9583914" y="5392801"/>
            <a:ext cx="128699" cy="187198"/>
          </a:xfrm>
          <a:prstGeom prst="rect">
            <a:avLst/>
          </a:prstGeom>
        </p:spPr>
      </p:pic>
    </p:spTree>
  </p:cSld>
  <p:clrMapOvr>
    <a:masterClrMapping/>
  </p:clrMapOvr>
</p:sld>
</file>

<file path=ppt/slides/slide2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Success Factors and Composite Ranking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Five weighted success factors and the composite ranking they produce</a:t>
            </a:r>
          </a:p>
        </p:txBody>
      </p:sp>
      <p:sp>
        <p:nvSpPr>
          <p:cNvPr id="10" name="TextBox 9"/>
          <p:cNvSpPr txBox="1"/>
          <p:nvPr/>
        </p:nvSpPr>
        <p:spPr>
          <a:xfrm>
            <a:off x="213360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1. Segment breadth</a:t>
            </a:r>
          </a:p>
        </p:txBody>
      </p:sp>
      <p:sp>
        <p:nvSpPr>
          <p:cNvPr id="11" name="TextBox 10"/>
          <p:cNvSpPr txBox="1"/>
          <p:nvPr/>
        </p:nvSpPr>
        <p:spPr>
          <a:xfrm>
            <a:off x="213360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
            </a:r>
          </a:p>
        </p:txBody>
      </p:sp>
      <p:sp>
        <p:nvSpPr>
          <p:cNvPr id="12" name="TextBox 11"/>
          <p:cNvSpPr txBox="1"/>
          <p:nvPr/>
        </p:nvSpPr>
        <p:spPr>
          <a:xfrm>
            <a:off x="213360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Lead or be active in several sub-segments</a:t>
            </a:r>
          </a:p>
        </p:txBody>
      </p:sp>
      <p:sp>
        <p:nvSpPr>
          <p:cNvPr id="13" name="TextBox 12"/>
          <p:cNvSpPr txBox="1"/>
          <p:nvPr/>
        </p:nvSpPr>
        <p:spPr>
          <a:xfrm>
            <a:off x="379095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2. Scale and share</a:t>
            </a:r>
          </a:p>
        </p:txBody>
      </p:sp>
      <p:sp>
        <p:nvSpPr>
          <p:cNvPr id="14" name="TextBox 13"/>
          <p:cNvSpPr txBox="1"/>
          <p:nvPr/>
        </p:nvSpPr>
        <p:spPr>
          <a:xfrm>
            <a:off x="379095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
            </a:r>
          </a:p>
        </p:txBody>
      </p:sp>
      <p:sp>
        <p:nvSpPr>
          <p:cNvPr id="15" name="TextBox 14"/>
          <p:cNvSpPr txBox="1"/>
          <p:nvPr/>
        </p:nvSpPr>
        <p:spPr>
          <a:xfrm>
            <a:off x="379095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Tier position and share of market value</a:t>
            </a:r>
          </a:p>
        </p:txBody>
      </p:sp>
      <p:sp>
        <p:nvSpPr>
          <p:cNvPr id="16" name="TextBox 15"/>
          <p:cNvSpPr txBox="1"/>
          <p:nvPr/>
        </p:nvSpPr>
        <p:spPr>
          <a:xfrm>
            <a:off x="544830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3. Geographic reach</a:t>
            </a:r>
          </a:p>
        </p:txBody>
      </p:sp>
      <p:sp>
        <p:nvSpPr>
          <p:cNvPr id="17" name="TextBox 16"/>
          <p:cNvSpPr txBox="1"/>
          <p:nvPr/>
        </p:nvSpPr>
        <p:spPr>
          <a:xfrm>
            <a:off x="544830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
            </a:r>
          </a:p>
        </p:txBody>
      </p:sp>
      <p:sp>
        <p:nvSpPr>
          <p:cNvPr id="18" name="TextBox 17"/>
          <p:cNvSpPr txBox="1"/>
          <p:nvPr/>
        </p:nvSpPr>
        <p:spPr>
          <a:xfrm>
            <a:off x="544830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Global, regional or single-market footprint</a:t>
            </a:r>
          </a:p>
        </p:txBody>
      </p:sp>
      <p:sp>
        <p:nvSpPr>
          <p:cNvPr id="19" name="TextBox 18"/>
          <p:cNvSpPr txBox="1"/>
          <p:nvPr/>
        </p:nvSpPr>
        <p:spPr>
          <a:xfrm>
            <a:off x="710565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4. Innovation pipeline</a:t>
            </a:r>
          </a:p>
        </p:txBody>
      </p:sp>
      <p:sp>
        <p:nvSpPr>
          <p:cNvPr id="20" name="TextBox 19"/>
          <p:cNvSpPr txBox="1"/>
          <p:nvPr/>
        </p:nvSpPr>
        <p:spPr>
          <a:xfrm>
            <a:off x="710565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
            </a:r>
          </a:p>
        </p:txBody>
      </p:sp>
      <p:sp>
        <p:nvSpPr>
          <p:cNvPr id="21" name="TextBox 20"/>
          <p:cNvSpPr txBox="1"/>
          <p:nvPr/>
        </p:nvSpPr>
        <p:spPr>
          <a:xfrm>
            <a:off x="710565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R&amp;D and product development in motion</a:t>
            </a:r>
          </a:p>
        </p:txBody>
      </p:sp>
      <p:sp>
        <p:nvSpPr>
          <p:cNvPr id="22" name="TextBox 21"/>
          <p:cNvSpPr txBox="1"/>
          <p:nvPr/>
        </p:nvSpPr>
        <p:spPr>
          <a:xfrm>
            <a:off x="876300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5. Strategic momentum</a:t>
            </a:r>
          </a:p>
        </p:txBody>
      </p:sp>
      <p:sp>
        <p:nvSpPr>
          <p:cNvPr id="23" name="TextBox 22"/>
          <p:cNvSpPr txBox="1"/>
          <p:nvPr/>
        </p:nvSpPr>
        <p:spPr>
          <a:xfrm>
            <a:off x="876300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
            </a:r>
          </a:p>
        </p:txBody>
      </p:sp>
      <p:sp>
        <p:nvSpPr>
          <p:cNvPr id="24" name="TextBox 23"/>
          <p:cNvSpPr txBox="1"/>
          <p:nvPr/>
        </p:nvSpPr>
        <p:spPr>
          <a:xfrm>
            <a:off x="876300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Number of active strategic moves</a:t>
            </a:r>
          </a:p>
        </p:txBody>
      </p:sp>
      <p:sp>
        <p:nvSpPr>
          <p:cNvPr id="25" name="TextBox 24"/>
          <p:cNvSpPr txBox="1"/>
          <p:nvPr/>
        </p:nvSpPr>
        <p:spPr>
          <a:xfrm>
            <a:off x="10420350" y="1047750"/>
            <a:ext cx="1619250" cy="171450"/>
          </a:xfrm>
          <a:prstGeom prst="rect">
            <a:avLst/>
          </a:prstGeom>
          <a:noFill/>
        </p:spPr>
        <p:txBody>
          <a:bodyPr wrap="square" lIns="28575" rIns="28575" tIns="9525" bIns="9525" anchor="t">
            <a:spAutoFit/>
          </a:bodyPr>
          <a:lstStyle/>
          <a:p>
            <a:pPr algn="l"/>
            <a:r>
              <a:rPr sz="1100" b="1">
                <a:solidFill>
                  <a:srgbClr val="0F2D52"/>
                </a:solidFill>
                <a:latin typeface="Calibri"/>
              </a:rPr>
              <a:t>Composite</a:t>
            </a:r>
          </a:p>
        </p:txBody>
      </p:sp>
      <p:sp>
        <p:nvSpPr>
          <p:cNvPr id="26" name="TextBox 25"/>
          <p:cNvSpPr txBox="1"/>
          <p:nvPr/>
        </p:nvSpPr>
        <p:spPr>
          <a:xfrm>
            <a:off x="10420350" y="1219200"/>
            <a:ext cx="1619250" cy="152400"/>
          </a:xfrm>
          <a:prstGeom prst="rect">
            <a:avLst/>
          </a:prstGeom>
          <a:noFill/>
        </p:spPr>
        <p:txBody>
          <a:bodyPr wrap="square" lIns="28575" rIns="28575" tIns="9525" bIns="9525" anchor="t">
            <a:spAutoFit/>
          </a:bodyPr>
          <a:lstStyle/>
          <a:p>
            <a:pPr algn="l"/>
            <a:r>
              <a:rPr sz="1100" b="0">
                <a:solidFill>
                  <a:srgbClr val="1F2933"/>
                </a:solidFill>
                <a:latin typeface="Calibri"/>
              </a:rPr>
              <a:t>weighted 0 to 3</a:t>
            </a:r>
          </a:p>
        </p:txBody>
      </p:sp>
      <p:cxnSp>
        <p:nvCxnSpPr>
          <p:cNvPr id="27" name="Connector 26"/>
          <p:cNvCxnSpPr/>
          <p:nvPr/>
        </p:nvCxnSpPr>
        <p:spPr>
          <a:xfrm>
            <a:off x="190500" y="1752600"/>
            <a:ext cx="11811000" cy="0"/>
          </a:xfrm>
          <a:prstGeom prst="line">
            <a:avLst/>
          </a:prstGeom>
          <a:ln w="127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8" name="Rectangle 27"/>
          <p:cNvSpPr/>
          <p:nvPr/>
        </p:nvSpPr>
        <p:spPr>
          <a:xfrm>
            <a:off x="190500" y="1847850"/>
            <a:ext cx="38100" cy="2286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85750" y="18097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Ivoclar Vivadent AG</a:t>
            </a:r>
          </a:p>
        </p:txBody>
      </p:sp>
      <p:sp>
        <p:nvSpPr>
          <p:cNvPr id="30" name="Oval 29"/>
          <p:cNvSpPr/>
          <p:nvPr/>
        </p:nvSpPr>
        <p:spPr>
          <a:xfrm>
            <a:off x="284797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450532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Oval 31"/>
          <p:cNvSpPr/>
          <p:nvPr/>
        </p:nvSpPr>
        <p:spPr>
          <a:xfrm>
            <a:off x="616267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Oval 32"/>
          <p:cNvSpPr/>
          <p:nvPr/>
        </p:nvSpPr>
        <p:spPr>
          <a:xfrm>
            <a:off x="782002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Oval 33"/>
          <p:cNvSpPr/>
          <p:nvPr/>
        </p:nvSpPr>
        <p:spPr>
          <a:xfrm>
            <a:off x="947737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10420350" y="1895475"/>
            <a:ext cx="11430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11601450" y="18097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37" name="Connector 36"/>
          <p:cNvCxnSpPr/>
          <p:nvPr/>
        </p:nvCxnSpPr>
        <p:spPr>
          <a:xfrm>
            <a:off x="190500" y="2114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8" name="Rectangle 37"/>
          <p:cNvSpPr/>
          <p:nvPr/>
        </p:nvSpPr>
        <p:spPr>
          <a:xfrm>
            <a:off x="190500" y="2152650"/>
            <a:ext cx="38100" cy="2286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285750" y="21145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Dentsply Sirona Inc.</a:t>
            </a:r>
          </a:p>
        </p:txBody>
      </p:sp>
      <p:sp>
        <p:nvSpPr>
          <p:cNvPr id="40" name="Oval 39"/>
          <p:cNvSpPr/>
          <p:nvPr/>
        </p:nvSpPr>
        <p:spPr>
          <a:xfrm>
            <a:off x="2847975" y="2190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Oval 40"/>
          <p:cNvSpPr/>
          <p:nvPr/>
        </p:nvSpPr>
        <p:spPr>
          <a:xfrm>
            <a:off x="4505325" y="2190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Oval 41"/>
          <p:cNvSpPr/>
          <p:nvPr/>
        </p:nvSpPr>
        <p:spPr>
          <a:xfrm>
            <a:off x="6162675" y="2190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Oval 42"/>
          <p:cNvSpPr/>
          <p:nvPr/>
        </p:nvSpPr>
        <p:spPr>
          <a:xfrm>
            <a:off x="7820025" y="2190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Freeform 43"/>
          <p:cNvSpPr/>
          <p:nvPr/>
        </p:nvSpPr>
        <p:spPr>
          <a:xfrm>
            <a:off x="7896225" y="21907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Oval 44"/>
          <p:cNvSpPr/>
          <p:nvPr/>
        </p:nvSpPr>
        <p:spPr>
          <a:xfrm>
            <a:off x="9477375" y="2190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420350" y="2200275"/>
            <a:ext cx="10858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11544300" y="21145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48" name="Connector 47"/>
          <p:cNvCxnSpPr/>
          <p:nvPr/>
        </p:nvCxnSpPr>
        <p:spPr>
          <a:xfrm>
            <a:off x="190500" y="2419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9" name="Rectangle 48"/>
          <p:cNvSpPr/>
          <p:nvPr/>
        </p:nvSpPr>
        <p:spPr>
          <a:xfrm>
            <a:off x="190500" y="2457450"/>
            <a:ext cx="38100" cy="2286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285750" y="24193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Kulzer GmbH</a:t>
            </a:r>
          </a:p>
        </p:txBody>
      </p:sp>
      <p:sp>
        <p:nvSpPr>
          <p:cNvPr id="51" name="Oval 50"/>
          <p:cNvSpPr/>
          <p:nvPr/>
        </p:nvSpPr>
        <p:spPr>
          <a:xfrm>
            <a:off x="2847975" y="2495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Oval 51"/>
          <p:cNvSpPr/>
          <p:nvPr/>
        </p:nvSpPr>
        <p:spPr>
          <a:xfrm>
            <a:off x="4505325" y="2495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Oval 52"/>
          <p:cNvSpPr/>
          <p:nvPr/>
        </p:nvSpPr>
        <p:spPr>
          <a:xfrm>
            <a:off x="6162675" y="2495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Oval 53"/>
          <p:cNvSpPr/>
          <p:nvPr/>
        </p:nvSpPr>
        <p:spPr>
          <a:xfrm>
            <a:off x="7820025" y="2495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Freeform 54"/>
          <p:cNvSpPr/>
          <p:nvPr/>
        </p:nvSpPr>
        <p:spPr>
          <a:xfrm>
            <a:off x="7896225" y="24955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Oval 55"/>
          <p:cNvSpPr/>
          <p:nvPr/>
        </p:nvSpPr>
        <p:spPr>
          <a:xfrm>
            <a:off x="9477375" y="2495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420350" y="2505075"/>
            <a:ext cx="10858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11544300" y="24193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59" name="Connector 58"/>
          <p:cNvCxnSpPr/>
          <p:nvPr/>
        </p:nvCxnSpPr>
        <p:spPr>
          <a:xfrm>
            <a:off x="190500" y="2724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0" name="Rectangle 59"/>
          <p:cNvSpPr/>
          <p:nvPr/>
        </p:nvSpPr>
        <p:spPr>
          <a:xfrm>
            <a:off x="190500" y="2762250"/>
            <a:ext cx="38100" cy="2286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285750" y="27241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GC Corporation</a:t>
            </a:r>
          </a:p>
        </p:txBody>
      </p:sp>
      <p:sp>
        <p:nvSpPr>
          <p:cNvPr id="62" name="Oval 61"/>
          <p:cNvSpPr/>
          <p:nvPr/>
        </p:nvSpPr>
        <p:spPr>
          <a:xfrm>
            <a:off x="2847975" y="28003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Freeform 62"/>
          <p:cNvSpPr/>
          <p:nvPr/>
        </p:nvSpPr>
        <p:spPr>
          <a:xfrm>
            <a:off x="2924175" y="28003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Oval 63"/>
          <p:cNvSpPr/>
          <p:nvPr/>
        </p:nvSpPr>
        <p:spPr>
          <a:xfrm>
            <a:off x="4505325" y="2800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Oval 64"/>
          <p:cNvSpPr/>
          <p:nvPr/>
        </p:nvSpPr>
        <p:spPr>
          <a:xfrm>
            <a:off x="6162675" y="2800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Oval 65"/>
          <p:cNvSpPr/>
          <p:nvPr/>
        </p:nvSpPr>
        <p:spPr>
          <a:xfrm>
            <a:off x="7820025" y="2800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Oval 66"/>
          <p:cNvSpPr/>
          <p:nvPr/>
        </p:nvSpPr>
        <p:spPr>
          <a:xfrm>
            <a:off x="9477375" y="2800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0420350" y="2809875"/>
            <a:ext cx="10287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11487150" y="27241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70" name="Connector 69"/>
          <p:cNvCxnSpPr/>
          <p:nvPr/>
        </p:nvCxnSpPr>
        <p:spPr>
          <a:xfrm>
            <a:off x="190500" y="3028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1" name="Rectangle 70"/>
          <p:cNvSpPr/>
          <p:nvPr/>
        </p:nvSpPr>
        <p:spPr>
          <a:xfrm>
            <a:off x="190500" y="3067050"/>
            <a:ext cx="38100" cy="2286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TextBox 71"/>
          <p:cNvSpPr txBox="1"/>
          <p:nvPr/>
        </p:nvSpPr>
        <p:spPr>
          <a:xfrm>
            <a:off x="285750" y="30289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VITA Zahnfabrik H. Rauter GmbH &amp; Co. KG</a:t>
            </a:r>
          </a:p>
        </p:txBody>
      </p:sp>
      <p:sp>
        <p:nvSpPr>
          <p:cNvPr id="73" name="Oval 72"/>
          <p:cNvSpPr/>
          <p:nvPr/>
        </p:nvSpPr>
        <p:spPr>
          <a:xfrm>
            <a:off x="2847975" y="3105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Freeform 73"/>
          <p:cNvSpPr/>
          <p:nvPr/>
        </p:nvSpPr>
        <p:spPr>
          <a:xfrm>
            <a:off x="2924175" y="31051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Oval 74"/>
          <p:cNvSpPr/>
          <p:nvPr/>
        </p:nvSpPr>
        <p:spPr>
          <a:xfrm>
            <a:off x="4505325" y="3105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Freeform 75"/>
          <p:cNvSpPr/>
          <p:nvPr/>
        </p:nvSpPr>
        <p:spPr>
          <a:xfrm>
            <a:off x="4581525" y="31051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Oval 76"/>
          <p:cNvSpPr/>
          <p:nvPr/>
        </p:nvSpPr>
        <p:spPr>
          <a:xfrm>
            <a:off x="6162675" y="3105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Freeform 77"/>
          <p:cNvSpPr/>
          <p:nvPr/>
        </p:nvSpPr>
        <p:spPr>
          <a:xfrm>
            <a:off x="6238875" y="31051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Oval 78"/>
          <p:cNvSpPr/>
          <p:nvPr/>
        </p:nvSpPr>
        <p:spPr>
          <a:xfrm>
            <a:off x="7820025" y="31051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Oval 79"/>
          <p:cNvSpPr/>
          <p:nvPr/>
        </p:nvSpPr>
        <p:spPr>
          <a:xfrm>
            <a:off x="9477375" y="31051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0420350" y="3114675"/>
            <a:ext cx="8763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11334750" y="30289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83" name="Connector 82"/>
          <p:cNvCxnSpPr/>
          <p:nvPr/>
        </p:nvCxnSpPr>
        <p:spPr>
          <a:xfrm>
            <a:off x="190500" y="3333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4" name="Rectangle 83"/>
          <p:cNvSpPr/>
          <p:nvPr/>
        </p:nvSpPr>
        <p:spPr>
          <a:xfrm>
            <a:off x="190500" y="3371850"/>
            <a:ext cx="38100" cy="2286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285750" y="33337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SHOFU INC.</a:t>
            </a:r>
          </a:p>
        </p:txBody>
      </p:sp>
      <p:sp>
        <p:nvSpPr>
          <p:cNvPr id="86" name="Oval 85"/>
          <p:cNvSpPr/>
          <p:nvPr/>
        </p:nvSpPr>
        <p:spPr>
          <a:xfrm>
            <a:off x="2847975" y="3409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Freeform 86"/>
          <p:cNvSpPr/>
          <p:nvPr/>
        </p:nvSpPr>
        <p:spPr>
          <a:xfrm>
            <a:off x="2924175" y="3409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Oval 87"/>
          <p:cNvSpPr/>
          <p:nvPr/>
        </p:nvSpPr>
        <p:spPr>
          <a:xfrm>
            <a:off x="4505325" y="3409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Freeform 88"/>
          <p:cNvSpPr/>
          <p:nvPr/>
        </p:nvSpPr>
        <p:spPr>
          <a:xfrm>
            <a:off x="4581525" y="3409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Oval 89"/>
          <p:cNvSpPr/>
          <p:nvPr/>
        </p:nvSpPr>
        <p:spPr>
          <a:xfrm>
            <a:off x="6162675" y="3409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Freeform 90"/>
          <p:cNvSpPr/>
          <p:nvPr/>
        </p:nvSpPr>
        <p:spPr>
          <a:xfrm>
            <a:off x="6238875" y="3409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Oval 91"/>
          <p:cNvSpPr/>
          <p:nvPr/>
        </p:nvSpPr>
        <p:spPr>
          <a:xfrm>
            <a:off x="7820025" y="3409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Freeform 92"/>
          <p:cNvSpPr/>
          <p:nvPr/>
        </p:nvSpPr>
        <p:spPr>
          <a:xfrm>
            <a:off x="7896225" y="3409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Oval 93"/>
          <p:cNvSpPr/>
          <p:nvPr/>
        </p:nvSpPr>
        <p:spPr>
          <a:xfrm>
            <a:off x="9477375" y="3409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420350" y="3419475"/>
            <a:ext cx="8191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11277600" y="33337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97" name="Connector 96"/>
          <p:cNvCxnSpPr/>
          <p:nvPr/>
        </p:nvCxnSpPr>
        <p:spPr>
          <a:xfrm>
            <a:off x="190500" y="3638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8" name="Rectangle 97"/>
          <p:cNvSpPr/>
          <p:nvPr/>
        </p:nvSpPr>
        <p:spPr>
          <a:xfrm>
            <a:off x="190500" y="3676650"/>
            <a:ext cx="38100" cy="2286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285750" y="36385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DETAX GmbH</a:t>
            </a:r>
          </a:p>
        </p:txBody>
      </p:sp>
      <p:sp>
        <p:nvSpPr>
          <p:cNvPr id="100" name="Oval 99"/>
          <p:cNvSpPr/>
          <p:nvPr/>
        </p:nvSpPr>
        <p:spPr>
          <a:xfrm>
            <a:off x="2847975" y="3714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Freeform 100"/>
          <p:cNvSpPr/>
          <p:nvPr/>
        </p:nvSpPr>
        <p:spPr>
          <a:xfrm>
            <a:off x="2924175" y="37147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Oval 101"/>
          <p:cNvSpPr/>
          <p:nvPr/>
        </p:nvSpPr>
        <p:spPr>
          <a:xfrm>
            <a:off x="4505325" y="3714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Freeform 102"/>
          <p:cNvSpPr/>
          <p:nvPr/>
        </p:nvSpPr>
        <p:spPr>
          <a:xfrm>
            <a:off x="4581525" y="37147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Oval 103"/>
          <p:cNvSpPr/>
          <p:nvPr/>
        </p:nvSpPr>
        <p:spPr>
          <a:xfrm>
            <a:off x="6162675" y="3714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Freeform 104"/>
          <p:cNvSpPr/>
          <p:nvPr/>
        </p:nvSpPr>
        <p:spPr>
          <a:xfrm>
            <a:off x="6238875" y="37147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Oval 105"/>
          <p:cNvSpPr/>
          <p:nvPr/>
        </p:nvSpPr>
        <p:spPr>
          <a:xfrm>
            <a:off x="7820025" y="3714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Oval 106"/>
          <p:cNvSpPr/>
          <p:nvPr/>
        </p:nvSpPr>
        <p:spPr>
          <a:xfrm>
            <a:off x="9477375" y="3714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0420350" y="3724275"/>
            <a:ext cx="7239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TextBox 108"/>
          <p:cNvSpPr txBox="1"/>
          <p:nvPr/>
        </p:nvSpPr>
        <p:spPr>
          <a:xfrm>
            <a:off x="11182350" y="36385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110" name="Connector 109"/>
          <p:cNvCxnSpPr/>
          <p:nvPr/>
        </p:nvCxnSpPr>
        <p:spPr>
          <a:xfrm>
            <a:off x="190500" y="3943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11" name="Rectangle 110"/>
          <p:cNvSpPr/>
          <p:nvPr/>
        </p:nvSpPr>
        <p:spPr>
          <a:xfrm>
            <a:off x="190500" y="3981450"/>
            <a:ext cx="38100" cy="2286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85750" y="39433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Ruthinium Dental Manufacturing S.p.A.</a:t>
            </a:r>
          </a:p>
        </p:txBody>
      </p:sp>
      <p:sp>
        <p:nvSpPr>
          <p:cNvPr id="113" name="Oval 112"/>
          <p:cNvSpPr/>
          <p:nvPr/>
        </p:nvSpPr>
        <p:spPr>
          <a:xfrm>
            <a:off x="2847975" y="4019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Freeform 113"/>
          <p:cNvSpPr/>
          <p:nvPr/>
        </p:nvSpPr>
        <p:spPr>
          <a:xfrm>
            <a:off x="2924175" y="40195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Oval 114"/>
          <p:cNvSpPr/>
          <p:nvPr/>
        </p:nvSpPr>
        <p:spPr>
          <a:xfrm>
            <a:off x="4505325" y="4019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Freeform 115"/>
          <p:cNvSpPr/>
          <p:nvPr/>
        </p:nvSpPr>
        <p:spPr>
          <a:xfrm>
            <a:off x="4581525" y="40195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Oval 116"/>
          <p:cNvSpPr/>
          <p:nvPr/>
        </p:nvSpPr>
        <p:spPr>
          <a:xfrm>
            <a:off x="6162675" y="4019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Freeform 117"/>
          <p:cNvSpPr/>
          <p:nvPr/>
        </p:nvSpPr>
        <p:spPr>
          <a:xfrm>
            <a:off x="6238875" y="40195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Oval 118"/>
          <p:cNvSpPr/>
          <p:nvPr/>
        </p:nvSpPr>
        <p:spPr>
          <a:xfrm>
            <a:off x="7820025" y="4019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Oval 119"/>
          <p:cNvSpPr/>
          <p:nvPr/>
        </p:nvSpPr>
        <p:spPr>
          <a:xfrm>
            <a:off x="9477375" y="4019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420350" y="4029075"/>
            <a:ext cx="7239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TextBox 121"/>
          <p:cNvSpPr txBox="1"/>
          <p:nvPr/>
        </p:nvSpPr>
        <p:spPr>
          <a:xfrm>
            <a:off x="11182350" y="39433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123" name="Connector 122"/>
          <p:cNvCxnSpPr/>
          <p:nvPr/>
        </p:nvCxnSpPr>
        <p:spPr>
          <a:xfrm>
            <a:off x="190500" y="4248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4" name="Rectangle 123"/>
          <p:cNvSpPr/>
          <p:nvPr/>
        </p:nvSpPr>
        <p:spPr>
          <a:xfrm>
            <a:off x="190500" y="4286250"/>
            <a:ext cx="38100" cy="2286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TextBox 124"/>
          <p:cNvSpPr txBox="1"/>
          <p:nvPr/>
        </p:nvSpPr>
        <p:spPr>
          <a:xfrm>
            <a:off x="285750" y="42481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Zhermack S.p.A.</a:t>
            </a:r>
          </a:p>
        </p:txBody>
      </p:sp>
      <p:sp>
        <p:nvSpPr>
          <p:cNvPr id="126" name="Oval 125"/>
          <p:cNvSpPr/>
          <p:nvPr/>
        </p:nvSpPr>
        <p:spPr>
          <a:xfrm>
            <a:off x="2847975" y="43243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Freeform 126"/>
          <p:cNvSpPr/>
          <p:nvPr/>
        </p:nvSpPr>
        <p:spPr>
          <a:xfrm>
            <a:off x="2924175" y="43243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Oval 127"/>
          <p:cNvSpPr/>
          <p:nvPr/>
        </p:nvSpPr>
        <p:spPr>
          <a:xfrm>
            <a:off x="4505325" y="43243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Freeform 128"/>
          <p:cNvSpPr/>
          <p:nvPr/>
        </p:nvSpPr>
        <p:spPr>
          <a:xfrm>
            <a:off x="4581525" y="43243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Oval 129"/>
          <p:cNvSpPr/>
          <p:nvPr/>
        </p:nvSpPr>
        <p:spPr>
          <a:xfrm>
            <a:off x="6162675" y="43243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Freeform 130"/>
          <p:cNvSpPr/>
          <p:nvPr/>
        </p:nvSpPr>
        <p:spPr>
          <a:xfrm>
            <a:off x="6238875" y="43243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Oval 131"/>
          <p:cNvSpPr/>
          <p:nvPr/>
        </p:nvSpPr>
        <p:spPr>
          <a:xfrm>
            <a:off x="7820025" y="43243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Freeform 132"/>
          <p:cNvSpPr/>
          <p:nvPr/>
        </p:nvSpPr>
        <p:spPr>
          <a:xfrm>
            <a:off x="7896225" y="43243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Oval 133"/>
          <p:cNvSpPr/>
          <p:nvPr/>
        </p:nvSpPr>
        <p:spPr>
          <a:xfrm>
            <a:off x="9477375" y="4324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0420350" y="4333875"/>
            <a:ext cx="6667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TextBox 135"/>
          <p:cNvSpPr txBox="1"/>
          <p:nvPr/>
        </p:nvSpPr>
        <p:spPr>
          <a:xfrm>
            <a:off x="11125200" y="42481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137" name="Connector 136"/>
          <p:cNvCxnSpPr/>
          <p:nvPr/>
        </p:nvCxnSpPr>
        <p:spPr>
          <a:xfrm>
            <a:off x="190500" y="4552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38" name="Rectangle 137"/>
          <p:cNvSpPr/>
          <p:nvPr/>
        </p:nvSpPr>
        <p:spPr>
          <a:xfrm>
            <a:off x="190500" y="4591050"/>
            <a:ext cx="38100" cy="2286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85750" y="45529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Candulor AG</a:t>
            </a:r>
          </a:p>
        </p:txBody>
      </p:sp>
      <p:sp>
        <p:nvSpPr>
          <p:cNvPr id="140" name="Oval 139"/>
          <p:cNvSpPr/>
          <p:nvPr/>
        </p:nvSpPr>
        <p:spPr>
          <a:xfrm>
            <a:off x="2847975" y="4629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Freeform 140"/>
          <p:cNvSpPr/>
          <p:nvPr/>
        </p:nvSpPr>
        <p:spPr>
          <a:xfrm>
            <a:off x="2924175" y="46291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Oval 141"/>
          <p:cNvSpPr/>
          <p:nvPr/>
        </p:nvSpPr>
        <p:spPr>
          <a:xfrm>
            <a:off x="4505325" y="4629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Freeform 142"/>
          <p:cNvSpPr/>
          <p:nvPr/>
        </p:nvSpPr>
        <p:spPr>
          <a:xfrm>
            <a:off x="4581525" y="46291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Oval 143"/>
          <p:cNvSpPr/>
          <p:nvPr/>
        </p:nvSpPr>
        <p:spPr>
          <a:xfrm>
            <a:off x="6162675" y="4629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Freeform 144"/>
          <p:cNvSpPr/>
          <p:nvPr/>
        </p:nvSpPr>
        <p:spPr>
          <a:xfrm>
            <a:off x="6238875" y="46291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Oval 145"/>
          <p:cNvSpPr/>
          <p:nvPr/>
        </p:nvSpPr>
        <p:spPr>
          <a:xfrm>
            <a:off x="7820025" y="4629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Freeform 146"/>
          <p:cNvSpPr/>
          <p:nvPr/>
        </p:nvSpPr>
        <p:spPr>
          <a:xfrm>
            <a:off x="7896225" y="46291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Oval 147"/>
          <p:cNvSpPr/>
          <p:nvPr/>
        </p:nvSpPr>
        <p:spPr>
          <a:xfrm>
            <a:off x="9477375" y="46291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10420350" y="4638675"/>
            <a:ext cx="6667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TextBox 149"/>
          <p:cNvSpPr txBox="1"/>
          <p:nvPr/>
        </p:nvSpPr>
        <p:spPr>
          <a:xfrm>
            <a:off x="11125200" y="45529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151" name="Connector 150"/>
          <p:cNvCxnSpPr/>
          <p:nvPr/>
        </p:nvCxnSpPr>
        <p:spPr>
          <a:xfrm>
            <a:off x="190500" y="4857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52" name="Oval 151"/>
          <p:cNvSpPr/>
          <p:nvPr/>
        </p:nvSpPr>
        <p:spPr>
          <a:xfrm>
            <a:off x="200025" y="4933950"/>
            <a:ext cx="133350" cy="13335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381000" y="49149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Strong, direct evidence</a:t>
            </a:r>
          </a:p>
        </p:txBody>
      </p:sp>
      <p:sp>
        <p:nvSpPr>
          <p:cNvPr id="154" name="Oval 153"/>
          <p:cNvSpPr/>
          <p:nvPr/>
        </p:nvSpPr>
        <p:spPr>
          <a:xfrm>
            <a:off x="2065020" y="49339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Freeform 154"/>
          <p:cNvSpPr/>
          <p:nvPr/>
        </p:nvSpPr>
        <p:spPr>
          <a:xfrm>
            <a:off x="2133600" y="4933950"/>
            <a:ext cx="66675" cy="133350"/>
          </a:xfrm>
          <a:custGeom>
            <a:avLst/>
            <a:gdLst/>
            <a:ahLst/>
            <a:cxnLst/>
            <a:rect l="l" t="t" r="r" b="b"/>
            <a:pathLst>
              <a:path w="7" h="14">
                <a:moveTo>
                  <a:pt x="0" y="7"/>
                </a:moveTo>
                <a:lnTo>
                  <a:pt x="0" y="0"/>
                </a:lnTo>
                <a:lnTo>
                  <a:pt x="1" y="0"/>
                </a:lnTo>
                <a:lnTo>
                  <a:pt x="2" y="0"/>
                </a:lnTo>
                <a:lnTo>
                  <a:pt x="3" y="1"/>
                </a:lnTo>
                <a:lnTo>
                  <a:pt x="4" y="2"/>
                </a:lnTo>
                <a:lnTo>
                  <a:pt x="5" y="3"/>
                </a:lnTo>
                <a:lnTo>
                  <a:pt x="6" y="4"/>
                </a:lnTo>
                <a:lnTo>
                  <a:pt x="6" y="5"/>
                </a:lnTo>
                <a:lnTo>
                  <a:pt x="7" y="6"/>
                </a:lnTo>
                <a:lnTo>
                  <a:pt x="7" y="7"/>
                </a:lnTo>
                <a:lnTo>
                  <a:pt x="7" y="8"/>
                </a:lnTo>
                <a:lnTo>
                  <a:pt x="6" y="9"/>
                </a:lnTo>
                <a:lnTo>
                  <a:pt x="6" y="10"/>
                </a:lnTo>
                <a:lnTo>
                  <a:pt x="5" y="11"/>
                </a:lnTo>
                <a:lnTo>
                  <a:pt x="4" y="12"/>
                </a:lnTo>
                <a:lnTo>
                  <a:pt x="3" y="13"/>
                </a:lnTo>
                <a:lnTo>
                  <a:pt x="2" y="14"/>
                </a:lnTo>
                <a:lnTo>
                  <a:pt x="1" y="14"/>
                </a:lnTo>
                <a:lnTo>
                  <a:pt x="0" y="14"/>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TextBox 155"/>
          <p:cNvSpPr txBox="1"/>
          <p:nvPr/>
        </p:nvSpPr>
        <p:spPr>
          <a:xfrm>
            <a:off x="2245995" y="49149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Moderate or partial</a:t>
            </a:r>
          </a:p>
        </p:txBody>
      </p:sp>
      <p:sp>
        <p:nvSpPr>
          <p:cNvPr id="157" name="Oval 156"/>
          <p:cNvSpPr/>
          <p:nvPr/>
        </p:nvSpPr>
        <p:spPr>
          <a:xfrm>
            <a:off x="3678555" y="49339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Freeform 157"/>
          <p:cNvSpPr/>
          <p:nvPr/>
        </p:nvSpPr>
        <p:spPr>
          <a:xfrm>
            <a:off x="3743325" y="4933950"/>
            <a:ext cx="66675" cy="66675"/>
          </a:xfrm>
          <a:custGeom>
            <a:avLst/>
            <a:gdLst/>
            <a:ahLst/>
            <a:cxnLst/>
            <a:rect l="l" t="t" r="r" b="b"/>
            <a:pathLst>
              <a:path w="7" h="7">
                <a:moveTo>
                  <a:pt x="0" y="7"/>
                </a:moveTo>
                <a:lnTo>
                  <a:pt x="0" y="0"/>
                </a:lnTo>
                <a:lnTo>
                  <a:pt x="1" y="0"/>
                </a:lnTo>
                <a:lnTo>
                  <a:pt x="3" y="0"/>
                </a:lnTo>
                <a:lnTo>
                  <a:pt x="4" y="1"/>
                </a:lnTo>
                <a:lnTo>
                  <a:pt x="5" y="2"/>
                </a:lnTo>
                <a:lnTo>
                  <a:pt x="6" y="3"/>
                </a:lnTo>
                <a:lnTo>
                  <a:pt x="6" y="4"/>
                </a:lnTo>
                <a:lnTo>
                  <a:pt x="7" y="5"/>
                </a:lnTo>
                <a:lnTo>
                  <a:pt x="7" y="6"/>
                </a:lnTo>
                <a:lnTo>
                  <a:pt x="7" y="7"/>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TextBox 158"/>
          <p:cNvSpPr txBox="1"/>
          <p:nvPr/>
        </p:nvSpPr>
        <p:spPr>
          <a:xfrm>
            <a:off x="3859530" y="49149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Weak or indirect</a:t>
            </a:r>
          </a:p>
        </p:txBody>
      </p:sp>
      <p:sp>
        <p:nvSpPr>
          <p:cNvPr id="160" name="Oval 159"/>
          <p:cNvSpPr/>
          <p:nvPr/>
        </p:nvSpPr>
        <p:spPr>
          <a:xfrm>
            <a:off x="5103495" y="49339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TextBox 160"/>
          <p:cNvSpPr txBox="1"/>
          <p:nvPr/>
        </p:nvSpPr>
        <p:spPr>
          <a:xfrm>
            <a:off x="5284470" y="49149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None found</a:t>
            </a:r>
          </a:p>
        </p:txBody>
      </p:sp>
      <p:sp>
        <p:nvSpPr>
          <p:cNvPr id="162" name="TextBox 161"/>
          <p:cNvSpPr txBox="1"/>
          <p:nvPr/>
        </p:nvSpPr>
        <p:spPr>
          <a:xfrm>
            <a:off x="190500" y="51435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STRATEGIC GROUPS</a:t>
            </a:r>
          </a:p>
        </p:txBody>
      </p:sp>
      <p:sp>
        <p:nvSpPr>
          <p:cNvPr id="163" name="Rectangle 162"/>
          <p:cNvSpPr/>
          <p:nvPr/>
        </p:nvSpPr>
        <p:spPr>
          <a:xfrm>
            <a:off x="190500" y="5334000"/>
            <a:ext cx="3810000" cy="285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TextBox 163"/>
          <p:cNvSpPr txBox="1"/>
          <p:nvPr/>
        </p:nvSpPr>
        <p:spPr>
          <a:xfrm>
            <a:off x="190500" y="5391150"/>
            <a:ext cx="3810000" cy="171450"/>
          </a:xfrm>
          <a:prstGeom prst="rect">
            <a:avLst/>
          </a:prstGeom>
          <a:noFill/>
        </p:spPr>
        <p:txBody>
          <a:bodyPr wrap="square" lIns="28575" rIns="28575" tIns="9525" bIns="9525" anchor="t">
            <a:spAutoFit/>
          </a:bodyPr>
          <a:lstStyle/>
          <a:p>
            <a:pPr algn="l"/>
            <a:r>
              <a:rPr sz="1100" b="1">
                <a:solidFill>
                  <a:srgbClr val="1F2933"/>
                </a:solidFill>
                <a:latin typeface="Calibri"/>
              </a:rPr>
              <a:t>Tier 1</a:t>
            </a:r>
          </a:p>
        </p:txBody>
      </p:sp>
      <p:sp>
        <p:nvSpPr>
          <p:cNvPr id="165" name="TextBox 164"/>
          <p:cNvSpPr txBox="1"/>
          <p:nvPr/>
        </p:nvSpPr>
        <p:spPr>
          <a:xfrm>
            <a:off x="190500" y="5562600"/>
            <a:ext cx="3810000" cy="3238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Ivoclar Vivadent AG, Dentsply Sirona Inc., Kulzer GmbH, GC Corporation</a:t>
            </a:r>
          </a:p>
        </p:txBody>
      </p:sp>
      <p:sp>
        <p:nvSpPr>
          <p:cNvPr id="166" name="TextBox 165"/>
          <p:cNvSpPr txBox="1"/>
          <p:nvPr/>
        </p:nvSpPr>
        <p:spPr>
          <a:xfrm>
            <a:off x="190500" y="5924550"/>
            <a:ext cx="381000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Wins on scale and share; weakest on innovation pipeline.</a:t>
            </a:r>
          </a:p>
        </p:txBody>
      </p:sp>
      <p:sp>
        <p:nvSpPr>
          <p:cNvPr id="167" name="Rectangle 166"/>
          <p:cNvSpPr/>
          <p:nvPr/>
        </p:nvSpPr>
        <p:spPr>
          <a:xfrm>
            <a:off x="4191000" y="5334000"/>
            <a:ext cx="3810000" cy="285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TextBox 167"/>
          <p:cNvSpPr txBox="1"/>
          <p:nvPr/>
        </p:nvSpPr>
        <p:spPr>
          <a:xfrm>
            <a:off x="4191000" y="5391150"/>
            <a:ext cx="3810000" cy="171450"/>
          </a:xfrm>
          <a:prstGeom prst="rect">
            <a:avLst/>
          </a:prstGeom>
          <a:noFill/>
        </p:spPr>
        <p:txBody>
          <a:bodyPr wrap="square" lIns="28575" rIns="28575" tIns="9525" bIns="9525" anchor="t">
            <a:spAutoFit/>
          </a:bodyPr>
          <a:lstStyle/>
          <a:p>
            <a:pPr algn="l"/>
            <a:r>
              <a:rPr sz="1100" b="1">
                <a:solidFill>
                  <a:srgbClr val="1F2933"/>
                </a:solidFill>
                <a:latin typeface="Calibri"/>
              </a:rPr>
              <a:t>Tier 2</a:t>
            </a:r>
          </a:p>
        </p:txBody>
      </p:sp>
      <p:sp>
        <p:nvSpPr>
          <p:cNvPr id="169" name="TextBox 168"/>
          <p:cNvSpPr txBox="1"/>
          <p:nvPr/>
        </p:nvSpPr>
        <p:spPr>
          <a:xfrm>
            <a:off x="4191000" y="5562600"/>
            <a:ext cx="3810000" cy="3238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VITA Zahnfabrik H. Rauter GmbH &amp; Co. KG, SHOFU INC.</a:t>
            </a:r>
          </a:p>
        </p:txBody>
      </p:sp>
      <p:sp>
        <p:nvSpPr>
          <p:cNvPr id="170" name="TextBox 169"/>
          <p:cNvSpPr txBox="1"/>
          <p:nvPr/>
        </p:nvSpPr>
        <p:spPr>
          <a:xfrm>
            <a:off x="4191000" y="5924550"/>
            <a:ext cx="381000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Wins on strategic momentum; weakest on segment breadth.</a:t>
            </a:r>
          </a:p>
        </p:txBody>
      </p:sp>
      <p:sp>
        <p:nvSpPr>
          <p:cNvPr id="171" name="Rectangle 170"/>
          <p:cNvSpPr/>
          <p:nvPr/>
        </p:nvSpPr>
        <p:spPr>
          <a:xfrm>
            <a:off x="8191500" y="5334000"/>
            <a:ext cx="3810000" cy="285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TextBox 171"/>
          <p:cNvSpPr txBox="1"/>
          <p:nvPr/>
        </p:nvSpPr>
        <p:spPr>
          <a:xfrm>
            <a:off x="8191500" y="5391150"/>
            <a:ext cx="3810000" cy="171450"/>
          </a:xfrm>
          <a:prstGeom prst="rect">
            <a:avLst/>
          </a:prstGeom>
          <a:noFill/>
        </p:spPr>
        <p:txBody>
          <a:bodyPr wrap="square" lIns="28575" rIns="28575" tIns="9525" bIns="9525" anchor="t">
            <a:spAutoFit/>
          </a:bodyPr>
          <a:lstStyle/>
          <a:p>
            <a:pPr algn="l"/>
            <a:r>
              <a:rPr sz="1100" b="1">
                <a:solidFill>
                  <a:srgbClr val="1F2933"/>
                </a:solidFill>
                <a:latin typeface="Calibri"/>
              </a:rPr>
              <a:t>Tier 3</a:t>
            </a:r>
          </a:p>
        </p:txBody>
      </p:sp>
      <p:sp>
        <p:nvSpPr>
          <p:cNvPr id="173" name="TextBox 172"/>
          <p:cNvSpPr txBox="1"/>
          <p:nvPr/>
        </p:nvSpPr>
        <p:spPr>
          <a:xfrm>
            <a:off x="8191500" y="5562600"/>
            <a:ext cx="3810000" cy="3238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DETAX GmbH, Ruthinium Dental Manufacturing S.p.A., Zhermack S.p.A., Candulor AG</a:t>
            </a:r>
          </a:p>
        </p:txBody>
      </p:sp>
      <p:sp>
        <p:nvSpPr>
          <p:cNvPr id="174" name="TextBox 173"/>
          <p:cNvSpPr txBox="1"/>
          <p:nvPr/>
        </p:nvSpPr>
        <p:spPr>
          <a:xfrm>
            <a:off x="8191500" y="5924550"/>
            <a:ext cx="381000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Wins on strategic momentum; weakest on scale and share.</a:t>
            </a:r>
          </a:p>
        </p:txBody>
      </p:sp>
      <p:sp>
        <p:nvSpPr>
          <p:cNvPr id="175" name="TextBox 17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76" name="Picture 175" descr="lock.png"/>
          <p:cNvPicPr>
            <a:picLocks noChangeAspect="1"/>
          </p:cNvPicPr>
          <p:nvPr/>
        </p:nvPicPr>
        <p:blipFill>
          <a:blip r:embed="rId4"/>
          <a:stretch>
            <a:fillRect/>
          </a:stretch>
        </p:blipFill>
        <p:spPr>
          <a:xfrm>
            <a:off x="11746650" y="1868551"/>
            <a:ext cx="128699" cy="187198"/>
          </a:xfrm>
          <a:prstGeom prst="rect">
            <a:avLst/>
          </a:prstGeom>
        </p:spPr>
      </p:pic>
      <p:pic>
        <p:nvPicPr>
          <p:cNvPr id="177" name="Picture 176" descr="lock.png"/>
          <p:cNvPicPr>
            <a:picLocks noChangeAspect="1"/>
          </p:cNvPicPr>
          <p:nvPr/>
        </p:nvPicPr>
        <p:blipFill>
          <a:blip r:embed="rId4"/>
          <a:stretch>
            <a:fillRect/>
          </a:stretch>
        </p:blipFill>
        <p:spPr>
          <a:xfrm>
            <a:off x="11689500" y="2173351"/>
            <a:ext cx="128699" cy="187198"/>
          </a:xfrm>
          <a:prstGeom prst="rect">
            <a:avLst/>
          </a:prstGeom>
        </p:spPr>
      </p:pic>
      <p:pic>
        <p:nvPicPr>
          <p:cNvPr id="178" name="Picture 177" descr="lock.png"/>
          <p:cNvPicPr>
            <a:picLocks noChangeAspect="1"/>
          </p:cNvPicPr>
          <p:nvPr/>
        </p:nvPicPr>
        <p:blipFill>
          <a:blip r:embed="rId4"/>
          <a:stretch>
            <a:fillRect/>
          </a:stretch>
        </p:blipFill>
        <p:spPr>
          <a:xfrm>
            <a:off x="11689500" y="2478151"/>
            <a:ext cx="128699" cy="187198"/>
          </a:xfrm>
          <a:prstGeom prst="rect">
            <a:avLst/>
          </a:prstGeom>
        </p:spPr>
      </p:pic>
      <p:pic>
        <p:nvPicPr>
          <p:cNvPr id="179" name="Picture 178" descr="lock.png"/>
          <p:cNvPicPr>
            <a:picLocks noChangeAspect="1"/>
          </p:cNvPicPr>
          <p:nvPr/>
        </p:nvPicPr>
        <p:blipFill>
          <a:blip r:embed="rId4"/>
          <a:stretch>
            <a:fillRect/>
          </a:stretch>
        </p:blipFill>
        <p:spPr>
          <a:xfrm>
            <a:off x="11632350" y="2782951"/>
            <a:ext cx="128699" cy="187198"/>
          </a:xfrm>
          <a:prstGeom prst="rect">
            <a:avLst/>
          </a:prstGeom>
        </p:spPr>
      </p:pic>
      <p:pic>
        <p:nvPicPr>
          <p:cNvPr id="180" name="Picture 179" descr="lock.png"/>
          <p:cNvPicPr>
            <a:picLocks noChangeAspect="1"/>
          </p:cNvPicPr>
          <p:nvPr/>
        </p:nvPicPr>
        <p:blipFill>
          <a:blip r:embed="rId4"/>
          <a:stretch>
            <a:fillRect/>
          </a:stretch>
        </p:blipFill>
        <p:spPr>
          <a:xfrm>
            <a:off x="11479950" y="3087751"/>
            <a:ext cx="128699" cy="187198"/>
          </a:xfrm>
          <a:prstGeom prst="rect">
            <a:avLst/>
          </a:prstGeom>
        </p:spPr>
      </p:pic>
      <p:pic>
        <p:nvPicPr>
          <p:cNvPr id="181" name="Picture 180" descr="lock.png"/>
          <p:cNvPicPr>
            <a:picLocks noChangeAspect="1"/>
          </p:cNvPicPr>
          <p:nvPr/>
        </p:nvPicPr>
        <p:blipFill>
          <a:blip r:embed="rId4"/>
          <a:stretch>
            <a:fillRect/>
          </a:stretch>
        </p:blipFill>
        <p:spPr>
          <a:xfrm>
            <a:off x="11422800" y="3392551"/>
            <a:ext cx="128699" cy="187198"/>
          </a:xfrm>
          <a:prstGeom prst="rect">
            <a:avLst/>
          </a:prstGeom>
        </p:spPr>
      </p:pic>
      <p:pic>
        <p:nvPicPr>
          <p:cNvPr id="182" name="Picture 181" descr="lock.png"/>
          <p:cNvPicPr>
            <a:picLocks noChangeAspect="1"/>
          </p:cNvPicPr>
          <p:nvPr/>
        </p:nvPicPr>
        <p:blipFill>
          <a:blip r:embed="rId4"/>
          <a:stretch>
            <a:fillRect/>
          </a:stretch>
        </p:blipFill>
        <p:spPr>
          <a:xfrm>
            <a:off x="11327550" y="3697351"/>
            <a:ext cx="128699" cy="187198"/>
          </a:xfrm>
          <a:prstGeom prst="rect">
            <a:avLst/>
          </a:prstGeom>
        </p:spPr>
      </p:pic>
      <p:pic>
        <p:nvPicPr>
          <p:cNvPr id="183" name="Picture 182" descr="lock.png"/>
          <p:cNvPicPr>
            <a:picLocks noChangeAspect="1"/>
          </p:cNvPicPr>
          <p:nvPr/>
        </p:nvPicPr>
        <p:blipFill>
          <a:blip r:embed="rId4"/>
          <a:stretch>
            <a:fillRect/>
          </a:stretch>
        </p:blipFill>
        <p:spPr>
          <a:xfrm>
            <a:off x="11327550" y="4002151"/>
            <a:ext cx="128699" cy="187198"/>
          </a:xfrm>
          <a:prstGeom prst="rect">
            <a:avLst/>
          </a:prstGeom>
        </p:spPr>
      </p:pic>
      <p:pic>
        <p:nvPicPr>
          <p:cNvPr id="184" name="Picture 183" descr="lock.png"/>
          <p:cNvPicPr>
            <a:picLocks noChangeAspect="1"/>
          </p:cNvPicPr>
          <p:nvPr/>
        </p:nvPicPr>
        <p:blipFill>
          <a:blip r:embed="rId4"/>
          <a:stretch>
            <a:fillRect/>
          </a:stretch>
        </p:blipFill>
        <p:spPr>
          <a:xfrm>
            <a:off x="11270400" y="4306951"/>
            <a:ext cx="128699" cy="187198"/>
          </a:xfrm>
          <a:prstGeom prst="rect">
            <a:avLst/>
          </a:prstGeom>
        </p:spPr>
      </p:pic>
      <p:pic>
        <p:nvPicPr>
          <p:cNvPr id="185" name="Picture 184" descr="lock.png"/>
          <p:cNvPicPr>
            <a:picLocks noChangeAspect="1"/>
          </p:cNvPicPr>
          <p:nvPr/>
        </p:nvPicPr>
        <p:blipFill>
          <a:blip r:embed="rId4"/>
          <a:stretch>
            <a:fillRect/>
          </a:stretch>
        </p:blipFill>
        <p:spPr>
          <a:xfrm>
            <a:off x="11270400" y="4611751"/>
            <a:ext cx="128699" cy="187198"/>
          </a:xfrm>
          <a:prstGeom prst="rect">
            <a:avLst/>
          </a:prstGeom>
        </p:spPr>
      </p:pic>
      <p:sp>
        <p:nvSpPr>
          <p:cNvPr id="186" name="TextBox 185"/>
          <p:cNvSpPr txBox="1"/>
          <p:nvPr/>
        </p:nvSpPr>
        <p:spPr>
          <a:xfrm>
            <a:off x="2162175" y="1219200"/>
            <a:ext cx="379523" cy="139750"/>
          </a:xfrm>
          <a:prstGeom prst="rect">
            <a:avLst/>
          </a:prstGeom>
          <a:noFill/>
        </p:spPr>
        <p:txBody>
          <a:bodyPr wrap="none" lIns="0" rIns="0" tIns="0" bIns="0">
            <a:spAutoFit/>
          </a:bodyPr>
          <a:lstStyle/>
          <a:p>
            <a:r>
              <a:rPr sz="791" b="1">
                <a:solidFill>
                  <a:srgbClr val="1F2933"/>
                </a:solidFill>
                <a:latin typeface="Calibri"/>
              </a:rPr>
              <a:t>Weight</a:t>
            </a:r>
          </a:p>
        </p:txBody>
      </p:sp>
      <p:pic>
        <p:nvPicPr>
          <p:cNvPr id="187" name="Picture 186" descr="lock.png"/>
          <p:cNvPicPr>
            <a:picLocks noChangeAspect="1"/>
          </p:cNvPicPr>
          <p:nvPr/>
        </p:nvPicPr>
        <p:blipFill>
          <a:blip r:embed="rId4"/>
          <a:stretch>
            <a:fillRect/>
          </a:stretch>
        </p:blipFill>
        <p:spPr>
          <a:xfrm>
            <a:off x="2482959" y="1212159"/>
            <a:ext cx="92663" cy="134782"/>
          </a:xfrm>
          <a:prstGeom prst="rect">
            <a:avLst/>
          </a:prstGeom>
        </p:spPr>
      </p:pic>
      <p:sp>
        <p:nvSpPr>
          <p:cNvPr id="188" name="TextBox 187"/>
          <p:cNvSpPr txBox="1"/>
          <p:nvPr/>
        </p:nvSpPr>
        <p:spPr>
          <a:xfrm>
            <a:off x="3819525" y="1219200"/>
            <a:ext cx="379523" cy="139750"/>
          </a:xfrm>
          <a:prstGeom prst="rect">
            <a:avLst/>
          </a:prstGeom>
          <a:noFill/>
        </p:spPr>
        <p:txBody>
          <a:bodyPr wrap="none" lIns="0" rIns="0" tIns="0" bIns="0">
            <a:spAutoFit/>
          </a:bodyPr>
          <a:lstStyle/>
          <a:p>
            <a:r>
              <a:rPr sz="791" b="1">
                <a:solidFill>
                  <a:srgbClr val="1F2933"/>
                </a:solidFill>
                <a:latin typeface="Calibri"/>
              </a:rPr>
              <a:t>Weight</a:t>
            </a:r>
          </a:p>
        </p:txBody>
      </p:sp>
      <p:pic>
        <p:nvPicPr>
          <p:cNvPr id="189" name="Picture 188" descr="lock.png"/>
          <p:cNvPicPr>
            <a:picLocks noChangeAspect="1"/>
          </p:cNvPicPr>
          <p:nvPr/>
        </p:nvPicPr>
        <p:blipFill>
          <a:blip r:embed="rId4"/>
          <a:stretch>
            <a:fillRect/>
          </a:stretch>
        </p:blipFill>
        <p:spPr>
          <a:xfrm>
            <a:off x="4140309" y="1212159"/>
            <a:ext cx="92663" cy="134782"/>
          </a:xfrm>
          <a:prstGeom prst="rect">
            <a:avLst/>
          </a:prstGeom>
        </p:spPr>
      </p:pic>
      <p:sp>
        <p:nvSpPr>
          <p:cNvPr id="190" name="TextBox 189"/>
          <p:cNvSpPr txBox="1"/>
          <p:nvPr/>
        </p:nvSpPr>
        <p:spPr>
          <a:xfrm>
            <a:off x="5476875" y="1219200"/>
            <a:ext cx="379523" cy="139750"/>
          </a:xfrm>
          <a:prstGeom prst="rect">
            <a:avLst/>
          </a:prstGeom>
          <a:noFill/>
        </p:spPr>
        <p:txBody>
          <a:bodyPr wrap="none" lIns="0" rIns="0" tIns="0" bIns="0">
            <a:spAutoFit/>
          </a:bodyPr>
          <a:lstStyle/>
          <a:p>
            <a:r>
              <a:rPr sz="791" b="1">
                <a:solidFill>
                  <a:srgbClr val="1F2933"/>
                </a:solidFill>
                <a:latin typeface="Calibri"/>
              </a:rPr>
              <a:t>Weight</a:t>
            </a:r>
          </a:p>
        </p:txBody>
      </p:sp>
      <p:pic>
        <p:nvPicPr>
          <p:cNvPr id="191" name="Picture 190" descr="lock.png"/>
          <p:cNvPicPr>
            <a:picLocks noChangeAspect="1"/>
          </p:cNvPicPr>
          <p:nvPr/>
        </p:nvPicPr>
        <p:blipFill>
          <a:blip r:embed="rId4"/>
          <a:stretch>
            <a:fillRect/>
          </a:stretch>
        </p:blipFill>
        <p:spPr>
          <a:xfrm>
            <a:off x="5797659" y="1212159"/>
            <a:ext cx="92663" cy="134782"/>
          </a:xfrm>
          <a:prstGeom prst="rect">
            <a:avLst/>
          </a:prstGeom>
        </p:spPr>
      </p:pic>
      <p:sp>
        <p:nvSpPr>
          <p:cNvPr id="192" name="TextBox 191"/>
          <p:cNvSpPr txBox="1"/>
          <p:nvPr/>
        </p:nvSpPr>
        <p:spPr>
          <a:xfrm>
            <a:off x="7134225" y="1219200"/>
            <a:ext cx="379523" cy="139750"/>
          </a:xfrm>
          <a:prstGeom prst="rect">
            <a:avLst/>
          </a:prstGeom>
          <a:noFill/>
        </p:spPr>
        <p:txBody>
          <a:bodyPr wrap="none" lIns="0" rIns="0" tIns="0" bIns="0">
            <a:spAutoFit/>
          </a:bodyPr>
          <a:lstStyle/>
          <a:p>
            <a:r>
              <a:rPr sz="791" b="1">
                <a:solidFill>
                  <a:srgbClr val="1F2933"/>
                </a:solidFill>
                <a:latin typeface="Calibri"/>
              </a:rPr>
              <a:t>Weight</a:t>
            </a:r>
          </a:p>
        </p:txBody>
      </p:sp>
      <p:pic>
        <p:nvPicPr>
          <p:cNvPr id="193" name="Picture 192" descr="lock.png"/>
          <p:cNvPicPr>
            <a:picLocks noChangeAspect="1"/>
          </p:cNvPicPr>
          <p:nvPr/>
        </p:nvPicPr>
        <p:blipFill>
          <a:blip r:embed="rId4"/>
          <a:stretch>
            <a:fillRect/>
          </a:stretch>
        </p:blipFill>
        <p:spPr>
          <a:xfrm>
            <a:off x="7455009" y="1212159"/>
            <a:ext cx="92663" cy="134782"/>
          </a:xfrm>
          <a:prstGeom prst="rect">
            <a:avLst/>
          </a:prstGeom>
        </p:spPr>
      </p:pic>
      <p:sp>
        <p:nvSpPr>
          <p:cNvPr id="194" name="TextBox 193"/>
          <p:cNvSpPr txBox="1"/>
          <p:nvPr/>
        </p:nvSpPr>
        <p:spPr>
          <a:xfrm>
            <a:off x="8791575" y="1219200"/>
            <a:ext cx="379523" cy="139750"/>
          </a:xfrm>
          <a:prstGeom prst="rect">
            <a:avLst/>
          </a:prstGeom>
          <a:noFill/>
        </p:spPr>
        <p:txBody>
          <a:bodyPr wrap="none" lIns="0" rIns="0" tIns="0" bIns="0">
            <a:spAutoFit/>
          </a:bodyPr>
          <a:lstStyle/>
          <a:p>
            <a:r>
              <a:rPr sz="791" b="1">
                <a:solidFill>
                  <a:srgbClr val="1F2933"/>
                </a:solidFill>
                <a:latin typeface="Calibri"/>
              </a:rPr>
              <a:t>Weight</a:t>
            </a:r>
          </a:p>
        </p:txBody>
      </p:sp>
      <p:pic>
        <p:nvPicPr>
          <p:cNvPr id="195" name="Picture 194" descr="lock.png"/>
          <p:cNvPicPr>
            <a:picLocks noChangeAspect="1"/>
          </p:cNvPicPr>
          <p:nvPr/>
        </p:nvPicPr>
        <p:blipFill>
          <a:blip r:embed="rId4"/>
          <a:stretch>
            <a:fillRect/>
          </a:stretch>
        </p:blipFill>
        <p:spPr>
          <a:xfrm>
            <a:off x="9112359" y="1212159"/>
            <a:ext cx="92663" cy="134782"/>
          </a:xfrm>
          <a:prstGeom prst="rect">
            <a:avLst/>
          </a:prstGeom>
        </p:spPr>
      </p:pic>
    </p:spTree>
  </p:cSld>
  <p:clrMapOvr>
    <a:masterClrMapping/>
  </p:clrMapOvr>
</p:sld>
</file>

<file path=ppt/slides/slide2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Strategic Activity Tracker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Each player's active strategic moves: what, type, source department, signal and who should act</a:t>
            </a:r>
          </a:p>
        </p:txBody>
      </p:sp>
      <p:sp>
        <p:nvSpPr>
          <p:cNvPr id="10" name="TextBox 9"/>
          <p:cNvSpPr txBox="1"/>
          <p:nvPr/>
        </p:nvSpPr>
        <p:spPr>
          <a:xfrm>
            <a:off x="209550" y="1047750"/>
            <a:ext cx="1295400" cy="171450"/>
          </a:xfrm>
          <a:prstGeom prst="rect">
            <a:avLst/>
          </a:prstGeom>
          <a:noFill/>
        </p:spPr>
        <p:txBody>
          <a:bodyPr wrap="square" lIns="28575" rIns="28575" tIns="9525" bIns="9525" anchor="t">
            <a:spAutoFit/>
          </a:bodyPr>
          <a:lstStyle/>
          <a:p>
            <a:pPr algn="l"/>
            <a:r>
              <a:rPr sz="1100" b="1">
                <a:solidFill>
                  <a:srgbClr val="0F2D52"/>
                </a:solidFill>
                <a:latin typeface="Calibri"/>
              </a:rPr>
              <a:t>COMPANY</a:t>
            </a:r>
          </a:p>
        </p:txBody>
      </p:sp>
      <p:sp>
        <p:nvSpPr>
          <p:cNvPr id="11" name="TextBox 10"/>
          <p:cNvSpPr txBox="1"/>
          <p:nvPr/>
        </p:nvSpPr>
        <p:spPr>
          <a:xfrm>
            <a:off x="1543050" y="1047750"/>
            <a:ext cx="2343150" cy="171450"/>
          </a:xfrm>
          <a:prstGeom prst="rect">
            <a:avLst/>
          </a:prstGeom>
          <a:noFill/>
        </p:spPr>
        <p:txBody>
          <a:bodyPr wrap="square" lIns="28575" rIns="28575" tIns="9525" bIns="9525" anchor="t">
            <a:spAutoFit/>
          </a:bodyPr>
          <a:lstStyle/>
          <a:p>
            <a:pPr algn="l"/>
            <a:r>
              <a:rPr sz="1100" b="1">
                <a:solidFill>
                  <a:srgbClr val="0F2D52"/>
                </a:solidFill>
                <a:latin typeface="Calibri"/>
              </a:rPr>
              <a:t>DEVELOPMENT (WHAT IS HAPPENING)</a:t>
            </a:r>
          </a:p>
        </p:txBody>
      </p:sp>
      <p:sp>
        <p:nvSpPr>
          <p:cNvPr id="12" name="TextBox 11"/>
          <p:cNvSpPr txBox="1"/>
          <p:nvPr/>
        </p:nvSpPr>
        <p:spPr>
          <a:xfrm>
            <a:off x="3924300" y="1047750"/>
            <a:ext cx="533400" cy="171450"/>
          </a:xfrm>
          <a:prstGeom prst="rect">
            <a:avLst/>
          </a:prstGeom>
          <a:noFill/>
        </p:spPr>
        <p:txBody>
          <a:bodyPr wrap="none" lIns="0" rIns="0" tIns="0" bIns="0" anchor="t">
            <a:spAutoFit/>
          </a:bodyPr>
          <a:lstStyle/>
          <a:p>
            <a:pPr algn="l"/>
            <a:r>
              <a:rPr sz="1100" b="1">
                <a:solidFill>
                  <a:srgbClr val="0F2D52"/>
                </a:solidFill>
                <a:latin typeface="Calibri"/>
              </a:rPr>
              <a:t>DATE</a:t>
            </a:r>
          </a:p>
        </p:txBody>
      </p:sp>
      <p:sp>
        <p:nvSpPr>
          <p:cNvPr id="13" name="TextBox 12"/>
          <p:cNvSpPr txBox="1"/>
          <p:nvPr/>
        </p:nvSpPr>
        <p:spPr>
          <a:xfrm>
            <a:off x="4495800" y="1047750"/>
            <a:ext cx="438150" cy="171450"/>
          </a:xfrm>
          <a:prstGeom prst="rect">
            <a:avLst/>
          </a:prstGeom>
          <a:noFill/>
        </p:spPr>
        <p:txBody>
          <a:bodyPr wrap="none" lIns="0" rIns="0" tIns="0" bIns="0" anchor="t">
            <a:spAutoFit/>
          </a:bodyPr>
          <a:lstStyle/>
          <a:p>
            <a:pPr algn="l"/>
            <a:r>
              <a:rPr sz="1100" b="1">
                <a:solidFill>
                  <a:srgbClr val="0F2D52"/>
                </a:solidFill>
                <a:latin typeface="Calibri"/>
              </a:rPr>
              <a:t>TYPE</a:t>
            </a:r>
          </a:p>
        </p:txBody>
      </p:sp>
      <p:sp>
        <p:nvSpPr>
          <p:cNvPr id="14" name="TextBox 13"/>
          <p:cNvSpPr txBox="1"/>
          <p:nvPr/>
        </p:nvSpPr>
        <p:spPr>
          <a:xfrm>
            <a:off x="4972050" y="1047750"/>
            <a:ext cx="1200150" cy="171450"/>
          </a:xfrm>
          <a:prstGeom prst="rect">
            <a:avLst/>
          </a:prstGeom>
          <a:noFill/>
        </p:spPr>
        <p:txBody>
          <a:bodyPr wrap="square" lIns="28575" rIns="28575" tIns="9525" bIns="9525" anchor="t">
            <a:spAutoFit/>
          </a:bodyPr>
          <a:lstStyle/>
          <a:p>
            <a:pPr algn="l"/>
            <a:r>
              <a:rPr sz="1100" b="1">
                <a:solidFill>
                  <a:srgbClr val="0F2D52"/>
                </a:solidFill>
                <a:latin typeface="Calibri"/>
              </a:rPr>
              <a:t>SOURCE DEPT</a:t>
            </a:r>
          </a:p>
        </p:txBody>
      </p:sp>
      <p:sp>
        <p:nvSpPr>
          <p:cNvPr id="15" name="TextBox 14"/>
          <p:cNvSpPr txBox="1"/>
          <p:nvPr/>
        </p:nvSpPr>
        <p:spPr>
          <a:xfrm>
            <a:off x="6210300" y="1047750"/>
            <a:ext cx="914400" cy="171450"/>
          </a:xfrm>
          <a:prstGeom prst="rect">
            <a:avLst/>
          </a:prstGeom>
          <a:noFill/>
        </p:spPr>
        <p:txBody>
          <a:bodyPr wrap="square" lIns="28575" rIns="28575" tIns="9525" bIns="9525" anchor="t">
            <a:spAutoFit/>
          </a:bodyPr>
          <a:lstStyle/>
          <a:p>
            <a:pPr algn="l"/>
            <a:r>
              <a:rPr sz="1100" b="1">
                <a:solidFill>
                  <a:srgbClr val="0F2D52"/>
                </a:solidFill>
                <a:latin typeface="Calibri"/>
              </a:rPr>
              <a:t>EVIDENCE</a:t>
            </a:r>
          </a:p>
        </p:txBody>
      </p:sp>
      <p:sp>
        <p:nvSpPr>
          <p:cNvPr id="16" name="TextBox 15"/>
          <p:cNvSpPr txBox="1"/>
          <p:nvPr/>
        </p:nvSpPr>
        <p:spPr>
          <a:xfrm>
            <a:off x="7162800" y="1047750"/>
            <a:ext cx="2152650" cy="171450"/>
          </a:xfrm>
          <a:prstGeom prst="rect">
            <a:avLst/>
          </a:prstGeom>
          <a:noFill/>
        </p:spPr>
        <p:txBody>
          <a:bodyPr wrap="square" lIns="28575" rIns="28575" tIns="9525" bIns="9525" anchor="t">
            <a:spAutoFit/>
          </a:bodyPr>
          <a:lstStyle/>
          <a:p>
            <a:pPr algn="l"/>
            <a:r>
              <a:rPr sz="1100" b="1">
                <a:solidFill>
                  <a:srgbClr val="0F2D52"/>
                </a:solidFill>
                <a:latin typeface="Calibri"/>
              </a:rPr>
              <a:t>SIGNAL (WHAT IT INDICATES)</a:t>
            </a:r>
          </a:p>
        </p:txBody>
      </p:sp>
      <p:sp>
        <p:nvSpPr>
          <p:cNvPr id="17" name="TextBox 16"/>
          <p:cNvSpPr txBox="1"/>
          <p:nvPr/>
        </p:nvSpPr>
        <p:spPr>
          <a:xfrm>
            <a:off x="9353550" y="1047750"/>
            <a:ext cx="2628900" cy="171450"/>
          </a:xfrm>
          <a:prstGeom prst="rect">
            <a:avLst/>
          </a:prstGeom>
          <a:noFill/>
        </p:spPr>
        <p:txBody>
          <a:bodyPr wrap="square" lIns="28575" rIns="28575" tIns="9525" bIns="9525" anchor="t">
            <a:spAutoFit/>
          </a:bodyPr>
          <a:lstStyle/>
          <a:p>
            <a:pPr algn="l"/>
            <a:r>
              <a:rPr sz="1100" b="1">
                <a:solidFill>
                  <a:srgbClr val="0F2D52"/>
                </a:solidFill>
                <a:latin typeface="Calibri"/>
              </a:rPr>
              <a:t>WHO SHOULD ACT</a:t>
            </a:r>
          </a:p>
        </p:txBody>
      </p:sp>
      <p:cxnSp>
        <p:nvCxnSpPr>
          <p:cNvPr id="18" name="Connector 17"/>
          <p:cNvCxnSpPr/>
          <p:nvPr/>
        </p:nvCxnSpPr>
        <p:spPr>
          <a:xfrm>
            <a:off x="190500" y="12382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19" name="Rectangle 18"/>
          <p:cNvSpPr/>
          <p:nvPr/>
        </p:nvSpPr>
        <p:spPr>
          <a:xfrm>
            <a:off x="190500" y="1295400"/>
            <a:ext cx="38100" cy="419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266700" y="12858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Dentsply Sirona Inc.</a:t>
            </a:r>
          </a:p>
        </p:txBody>
      </p:sp>
      <p:sp>
        <p:nvSpPr>
          <p:cNvPr id="21" name="TextBox 20"/>
          <p:cNvSpPr txBox="1"/>
          <p:nvPr/>
        </p:nvSpPr>
        <p:spPr>
          <a:xfrm>
            <a:off x="1543050" y="12858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North America</a:t>
            </a:r>
          </a:p>
        </p:txBody>
      </p:sp>
      <p:sp>
        <p:nvSpPr>
          <p:cNvPr id="22" name="TextBox 21"/>
          <p:cNvSpPr txBox="1"/>
          <p:nvPr/>
        </p:nvSpPr>
        <p:spPr>
          <a:xfrm>
            <a:off x="3924300" y="12858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23" name="Rectangle 22"/>
          <p:cNvSpPr/>
          <p:nvPr/>
        </p:nvSpPr>
        <p:spPr>
          <a:xfrm>
            <a:off x="4514850" y="13144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4514850" y="13144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25" name="TextBox 24"/>
          <p:cNvSpPr txBox="1"/>
          <p:nvPr/>
        </p:nvSpPr>
        <p:spPr>
          <a:xfrm>
            <a:off x="4972050" y="12858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26" name="TextBox 25"/>
          <p:cNvSpPr txBox="1"/>
          <p:nvPr/>
        </p:nvSpPr>
        <p:spPr>
          <a:xfrm>
            <a:off x="6210300" y="12858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27" name="TextBox 26"/>
          <p:cNvSpPr txBox="1"/>
          <p:nvPr/>
        </p:nvSpPr>
        <p:spPr>
          <a:xfrm>
            <a:off x="7162800" y="12858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28" name="TextBox 27"/>
          <p:cNvSpPr txBox="1"/>
          <p:nvPr/>
        </p:nvSpPr>
        <p:spPr>
          <a:xfrm>
            <a:off x="9353550" y="12858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29" name="Connector 28"/>
          <p:cNvCxnSpPr/>
          <p:nvPr/>
        </p:nvCxnSpPr>
        <p:spPr>
          <a:xfrm>
            <a:off x="190500" y="17526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90500" y="1790700"/>
            <a:ext cx="38100" cy="419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66700" y="17811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Ivoclar Vivadent AG</a:t>
            </a:r>
          </a:p>
        </p:txBody>
      </p:sp>
      <p:sp>
        <p:nvSpPr>
          <p:cNvPr id="32" name="TextBox 31"/>
          <p:cNvSpPr txBox="1"/>
          <p:nvPr/>
        </p:nvSpPr>
        <p:spPr>
          <a:xfrm>
            <a:off x="1543050" y="17811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Flexible Partial Dentures</a:t>
            </a:r>
          </a:p>
        </p:txBody>
      </p:sp>
      <p:sp>
        <p:nvSpPr>
          <p:cNvPr id="33" name="TextBox 32"/>
          <p:cNvSpPr txBox="1"/>
          <p:nvPr/>
        </p:nvSpPr>
        <p:spPr>
          <a:xfrm>
            <a:off x="3924300" y="17811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34" name="Rectangle 33"/>
          <p:cNvSpPr/>
          <p:nvPr/>
        </p:nvSpPr>
        <p:spPr>
          <a:xfrm>
            <a:off x="4514850" y="18097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14850" y="18097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36" name="TextBox 35"/>
          <p:cNvSpPr txBox="1"/>
          <p:nvPr/>
        </p:nvSpPr>
        <p:spPr>
          <a:xfrm>
            <a:off x="4972050" y="17811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37" name="TextBox 36"/>
          <p:cNvSpPr txBox="1"/>
          <p:nvPr/>
        </p:nvSpPr>
        <p:spPr>
          <a:xfrm>
            <a:off x="6210300" y="17811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38" name="TextBox 37"/>
          <p:cNvSpPr txBox="1"/>
          <p:nvPr/>
        </p:nvSpPr>
        <p:spPr>
          <a:xfrm>
            <a:off x="7162800" y="17811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39" name="TextBox 38"/>
          <p:cNvSpPr txBox="1"/>
          <p:nvPr/>
        </p:nvSpPr>
        <p:spPr>
          <a:xfrm>
            <a:off x="9353550" y="17811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40" name="Connector 39"/>
          <p:cNvCxnSpPr/>
          <p:nvPr/>
        </p:nvCxnSpPr>
        <p:spPr>
          <a:xfrm>
            <a:off x="190500" y="22479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1" name="Rectangle 40"/>
          <p:cNvSpPr/>
          <p:nvPr/>
        </p:nvSpPr>
        <p:spPr>
          <a:xfrm>
            <a:off x="190500" y="2286000"/>
            <a:ext cx="38100" cy="419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266700" y="22764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Kulzer GmbH</a:t>
            </a:r>
          </a:p>
        </p:txBody>
      </p:sp>
      <p:sp>
        <p:nvSpPr>
          <p:cNvPr id="43" name="TextBox 42"/>
          <p:cNvSpPr txBox="1"/>
          <p:nvPr/>
        </p:nvSpPr>
        <p:spPr>
          <a:xfrm>
            <a:off x="1543050" y="22764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South Asia &amp; Pacific</a:t>
            </a:r>
          </a:p>
        </p:txBody>
      </p:sp>
      <p:sp>
        <p:nvSpPr>
          <p:cNvPr id="44" name="TextBox 43"/>
          <p:cNvSpPr txBox="1"/>
          <p:nvPr/>
        </p:nvSpPr>
        <p:spPr>
          <a:xfrm>
            <a:off x="3924300" y="22764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45" name="Rectangle 44"/>
          <p:cNvSpPr/>
          <p:nvPr/>
        </p:nvSpPr>
        <p:spPr>
          <a:xfrm>
            <a:off x="4514850" y="23050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4514850" y="23050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47" name="TextBox 46"/>
          <p:cNvSpPr txBox="1"/>
          <p:nvPr/>
        </p:nvSpPr>
        <p:spPr>
          <a:xfrm>
            <a:off x="4972050" y="22764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48" name="TextBox 47"/>
          <p:cNvSpPr txBox="1"/>
          <p:nvPr/>
        </p:nvSpPr>
        <p:spPr>
          <a:xfrm>
            <a:off x="6210300" y="22764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49" name="TextBox 48"/>
          <p:cNvSpPr txBox="1"/>
          <p:nvPr/>
        </p:nvSpPr>
        <p:spPr>
          <a:xfrm>
            <a:off x="7162800" y="22764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50" name="TextBox 49"/>
          <p:cNvSpPr txBox="1"/>
          <p:nvPr/>
        </p:nvSpPr>
        <p:spPr>
          <a:xfrm>
            <a:off x="9353550" y="22764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51" name="Connector 50"/>
          <p:cNvCxnSpPr/>
          <p:nvPr/>
        </p:nvCxnSpPr>
        <p:spPr>
          <a:xfrm>
            <a:off x="190500" y="27432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2" name="Rectangle 51"/>
          <p:cNvSpPr/>
          <p:nvPr/>
        </p:nvSpPr>
        <p:spPr>
          <a:xfrm>
            <a:off x="190500" y="2781300"/>
            <a:ext cx="38100" cy="419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66700" y="27717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GC Corporation</a:t>
            </a:r>
          </a:p>
        </p:txBody>
      </p:sp>
      <p:sp>
        <p:nvSpPr>
          <p:cNvPr id="54" name="TextBox 53"/>
          <p:cNvSpPr txBox="1"/>
          <p:nvPr/>
        </p:nvSpPr>
        <p:spPr>
          <a:xfrm>
            <a:off x="1543050" y="27717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Combination Framework Partial Dentures</a:t>
            </a:r>
          </a:p>
        </p:txBody>
      </p:sp>
      <p:sp>
        <p:nvSpPr>
          <p:cNvPr id="55" name="TextBox 54"/>
          <p:cNvSpPr txBox="1"/>
          <p:nvPr/>
        </p:nvSpPr>
        <p:spPr>
          <a:xfrm>
            <a:off x="3924300" y="27717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56" name="Rectangle 55"/>
          <p:cNvSpPr/>
          <p:nvPr/>
        </p:nvSpPr>
        <p:spPr>
          <a:xfrm>
            <a:off x="4514850" y="28003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4514850" y="28003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58" name="TextBox 57"/>
          <p:cNvSpPr txBox="1"/>
          <p:nvPr/>
        </p:nvSpPr>
        <p:spPr>
          <a:xfrm>
            <a:off x="4972050" y="27717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59" name="TextBox 58"/>
          <p:cNvSpPr txBox="1"/>
          <p:nvPr/>
        </p:nvSpPr>
        <p:spPr>
          <a:xfrm>
            <a:off x="6210300" y="27717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60" name="TextBox 59"/>
          <p:cNvSpPr txBox="1"/>
          <p:nvPr/>
        </p:nvSpPr>
        <p:spPr>
          <a:xfrm>
            <a:off x="7162800" y="27717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61" name="TextBox 60"/>
          <p:cNvSpPr txBox="1"/>
          <p:nvPr/>
        </p:nvSpPr>
        <p:spPr>
          <a:xfrm>
            <a:off x="9353550" y="27717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62" name="Connector 61"/>
          <p:cNvCxnSpPr/>
          <p:nvPr/>
        </p:nvCxnSpPr>
        <p:spPr>
          <a:xfrm>
            <a:off x="190500" y="32385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3" name="Rectangle 62"/>
          <p:cNvSpPr/>
          <p:nvPr/>
        </p:nvSpPr>
        <p:spPr>
          <a:xfrm>
            <a:off x="190500" y="3276600"/>
            <a:ext cx="38100" cy="4191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66700" y="32670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SHOFU INC.</a:t>
            </a:r>
          </a:p>
        </p:txBody>
      </p:sp>
      <p:sp>
        <p:nvSpPr>
          <p:cNvPr id="65" name="TextBox 64"/>
          <p:cNvSpPr txBox="1"/>
          <p:nvPr/>
        </p:nvSpPr>
        <p:spPr>
          <a:xfrm>
            <a:off x="1543050" y="32670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Latin America</a:t>
            </a:r>
          </a:p>
        </p:txBody>
      </p:sp>
      <p:sp>
        <p:nvSpPr>
          <p:cNvPr id="66" name="TextBox 65"/>
          <p:cNvSpPr txBox="1"/>
          <p:nvPr/>
        </p:nvSpPr>
        <p:spPr>
          <a:xfrm>
            <a:off x="3924300" y="32670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67" name="Rectangle 66"/>
          <p:cNvSpPr/>
          <p:nvPr/>
        </p:nvSpPr>
        <p:spPr>
          <a:xfrm>
            <a:off x="4514850" y="32956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4514850" y="32956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69" name="TextBox 68"/>
          <p:cNvSpPr txBox="1"/>
          <p:nvPr/>
        </p:nvSpPr>
        <p:spPr>
          <a:xfrm>
            <a:off x="4972050" y="32670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70" name="TextBox 69"/>
          <p:cNvSpPr txBox="1"/>
          <p:nvPr/>
        </p:nvSpPr>
        <p:spPr>
          <a:xfrm>
            <a:off x="6210300" y="32670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71" name="TextBox 70"/>
          <p:cNvSpPr txBox="1"/>
          <p:nvPr/>
        </p:nvSpPr>
        <p:spPr>
          <a:xfrm>
            <a:off x="7162800" y="32670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72" name="TextBox 71"/>
          <p:cNvSpPr txBox="1"/>
          <p:nvPr/>
        </p:nvSpPr>
        <p:spPr>
          <a:xfrm>
            <a:off x="9353550" y="32670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73" name="Connector 72"/>
          <p:cNvCxnSpPr/>
          <p:nvPr/>
        </p:nvCxnSpPr>
        <p:spPr>
          <a:xfrm>
            <a:off x="190500" y="37338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4" name="Rectangle 73"/>
          <p:cNvSpPr/>
          <p:nvPr/>
        </p:nvSpPr>
        <p:spPr>
          <a:xfrm>
            <a:off x="190500" y="3771900"/>
            <a:ext cx="38100" cy="4191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66700" y="37623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VITA Zahnfabrik H. Rauter GmbH &amp; Co. KG</a:t>
            </a:r>
          </a:p>
        </p:txBody>
      </p:sp>
      <p:sp>
        <p:nvSpPr>
          <p:cNvPr id="76" name="TextBox 75"/>
          <p:cNvSpPr txBox="1"/>
          <p:nvPr/>
        </p:nvSpPr>
        <p:spPr>
          <a:xfrm>
            <a:off x="1543050" y="37623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Flexible Partial Dentures</a:t>
            </a:r>
          </a:p>
        </p:txBody>
      </p:sp>
      <p:sp>
        <p:nvSpPr>
          <p:cNvPr id="77" name="TextBox 76"/>
          <p:cNvSpPr txBox="1"/>
          <p:nvPr/>
        </p:nvSpPr>
        <p:spPr>
          <a:xfrm>
            <a:off x="3924300" y="37623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78" name="Rectangle 77"/>
          <p:cNvSpPr/>
          <p:nvPr/>
        </p:nvSpPr>
        <p:spPr>
          <a:xfrm>
            <a:off x="4514850" y="37909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4514850" y="37909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80" name="TextBox 79"/>
          <p:cNvSpPr txBox="1"/>
          <p:nvPr/>
        </p:nvSpPr>
        <p:spPr>
          <a:xfrm>
            <a:off x="4972050" y="37623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81" name="TextBox 80"/>
          <p:cNvSpPr txBox="1"/>
          <p:nvPr/>
        </p:nvSpPr>
        <p:spPr>
          <a:xfrm>
            <a:off x="6210300" y="37623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82" name="TextBox 81"/>
          <p:cNvSpPr txBox="1"/>
          <p:nvPr/>
        </p:nvSpPr>
        <p:spPr>
          <a:xfrm>
            <a:off x="7162800" y="37623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83" name="TextBox 82"/>
          <p:cNvSpPr txBox="1"/>
          <p:nvPr/>
        </p:nvSpPr>
        <p:spPr>
          <a:xfrm>
            <a:off x="9353550" y="37623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84" name="Connector 83"/>
          <p:cNvCxnSpPr/>
          <p:nvPr/>
        </p:nvCxnSpPr>
        <p:spPr>
          <a:xfrm>
            <a:off x="190500" y="42291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5" name="Rectangle 84"/>
          <p:cNvSpPr/>
          <p:nvPr/>
        </p:nvSpPr>
        <p:spPr>
          <a:xfrm>
            <a:off x="190500" y="4267200"/>
            <a:ext cx="38100" cy="419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TextBox 85"/>
          <p:cNvSpPr txBox="1"/>
          <p:nvPr/>
        </p:nvSpPr>
        <p:spPr>
          <a:xfrm>
            <a:off x="266700" y="42576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Zhermack S.p.A.</a:t>
            </a:r>
          </a:p>
        </p:txBody>
      </p:sp>
      <p:sp>
        <p:nvSpPr>
          <p:cNvPr id="87" name="TextBox 86"/>
          <p:cNvSpPr txBox="1"/>
          <p:nvPr/>
        </p:nvSpPr>
        <p:spPr>
          <a:xfrm>
            <a:off x="1543050" y="42576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North America</a:t>
            </a:r>
          </a:p>
        </p:txBody>
      </p:sp>
      <p:sp>
        <p:nvSpPr>
          <p:cNvPr id="88" name="TextBox 87"/>
          <p:cNvSpPr txBox="1"/>
          <p:nvPr/>
        </p:nvSpPr>
        <p:spPr>
          <a:xfrm>
            <a:off x="3924300" y="42576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89" name="Rectangle 88"/>
          <p:cNvSpPr/>
          <p:nvPr/>
        </p:nvSpPr>
        <p:spPr>
          <a:xfrm>
            <a:off x="4514850" y="42862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TextBox 89"/>
          <p:cNvSpPr txBox="1"/>
          <p:nvPr/>
        </p:nvSpPr>
        <p:spPr>
          <a:xfrm>
            <a:off x="4514850" y="42862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91" name="TextBox 90"/>
          <p:cNvSpPr txBox="1"/>
          <p:nvPr/>
        </p:nvSpPr>
        <p:spPr>
          <a:xfrm>
            <a:off x="4972050" y="42576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92" name="TextBox 91"/>
          <p:cNvSpPr txBox="1"/>
          <p:nvPr/>
        </p:nvSpPr>
        <p:spPr>
          <a:xfrm>
            <a:off x="6210300" y="42576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93" name="TextBox 92"/>
          <p:cNvSpPr txBox="1"/>
          <p:nvPr/>
        </p:nvSpPr>
        <p:spPr>
          <a:xfrm>
            <a:off x="7162800" y="42576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94" name="TextBox 93"/>
          <p:cNvSpPr txBox="1"/>
          <p:nvPr/>
        </p:nvSpPr>
        <p:spPr>
          <a:xfrm>
            <a:off x="9353550" y="42576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95" name="Connector 94"/>
          <p:cNvCxnSpPr/>
          <p:nvPr/>
        </p:nvCxnSpPr>
        <p:spPr>
          <a:xfrm>
            <a:off x="190500" y="47244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6" name="Rectangle 95"/>
          <p:cNvSpPr/>
          <p:nvPr/>
        </p:nvSpPr>
        <p:spPr>
          <a:xfrm>
            <a:off x="190500" y="4762500"/>
            <a:ext cx="38100" cy="419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TextBox 96"/>
          <p:cNvSpPr txBox="1"/>
          <p:nvPr/>
        </p:nvSpPr>
        <p:spPr>
          <a:xfrm>
            <a:off x="266700" y="47529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DETAX GmbH</a:t>
            </a:r>
          </a:p>
        </p:txBody>
      </p:sp>
      <p:sp>
        <p:nvSpPr>
          <p:cNvPr id="98" name="TextBox 97"/>
          <p:cNvSpPr txBox="1"/>
          <p:nvPr/>
        </p:nvSpPr>
        <p:spPr>
          <a:xfrm>
            <a:off x="1543050" y="47529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Combination Framework Partial Dentures</a:t>
            </a:r>
          </a:p>
        </p:txBody>
      </p:sp>
      <p:sp>
        <p:nvSpPr>
          <p:cNvPr id="99" name="TextBox 98"/>
          <p:cNvSpPr txBox="1"/>
          <p:nvPr/>
        </p:nvSpPr>
        <p:spPr>
          <a:xfrm>
            <a:off x="3924300" y="47529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100" name="Rectangle 99"/>
          <p:cNvSpPr/>
          <p:nvPr/>
        </p:nvSpPr>
        <p:spPr>
          <a:xfrm>
            <a:off x="4514850" y="47815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TextBox 100"/>
          <p:cNvSpPr txBox="1"/>
          <p:nvPr/>
        </p:nvSpPr>
        <p:spPr>
          <a:xfrm>
            <a:off x="4514850" y="47815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102" name="TextBox 101"/>
          <p:cNvSpPr txBox="1"/>
          <p:nvPr/>
        </p:nvSpPr>
        <p:spPr>
          <a:xfrm>
            <a:off x="4972050" y="47529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103" name="TextBox 102"/>
          <p:cNvSpPr txBox="1"/>
          <p:nvPr/>
        </p:nvSpPr>
        <p:spPr>
          <a:xfrm>
            <a:off x="6210300" y="47529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104" name="TextBox 103"/>
          <p:cNvSpPr txBox="1"/>
          <p:nvPr/>
        </p:nvSpPr>
        <p:spPr>
          <a:xfrm>
            <a:off x="7162800" y="47529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105" name="TextBox 104"/>
          <p:cNvSpPr txBox="1"/>
          <p:nvPr/>
        </p:nvSpPr>
        <p:spPr>
          <a:xfrm>
            <a:off x="9353550" y="47529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106" name="Connector 105"/>
          <p:cNvCxnSpPr/>
          <p:nvPr/>
        </p:nvCxnSpPr>
        <p:spPr>
          <a:xfrm>
            <a:off x="190500" y="52197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7" name="Rectangle 106"/>
          <p:cNvSpPr/>
          <p:nvPr/>
        </p:nvSpPr>
        <p:spPr>
          <a:xfrm>
            <a:off x="190500" y="5257800"/>
            <a:ext cx="38100" cy="419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TextBox 107"/>
          <p:cNvSpPr txBox="1"/>
          <p:nvPr/>
        </p:nvSpPr>
        <p:spPr>
          <a:xfrm>
            <a:off x="266700" y="52482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Candulor AG</a:t>
            </a:r>
          </a:p>
        </p:txBody>
      </p:sp>
      <p:sp>
        <p:nvSpPr>
          <p:cNvPr id="109" name="TextBox 108"/>
          <p:cNvSpPr txBox="1"/>
          <p:nvPr/>
        </p:nvSpPr>
        <p:spPr>
          <a:xfrm>
            <a:off x="1543050" y="52482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South Asia &amp; Pacific</a:t>
            </a:r>
          </a:p>
        </p:txBody>
      </p:sp>
      <p:sp>
        <p:nvSpPr>
          <p:cNvPr id="110" name="TextBox 109"/>
          <p:cNvSpPr txBox="1"/>
          <p:nvPr/>
        </p:nvSpPr>
        <p:spPr>
          <a:xfrm>
            <a:off x="3924300" y="52482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111" name="Rectangle 110"/>
          <p:cNvSpPr/>
          <p:nvPr/>
        </p:nvSpPr>
        <p:spPr>
          <a:xfrm>
            <a:off x="4514850" y="52768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4514850" y="52768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113" name="TextBox 112"/>
          <p:cNvSpPr txBox="1"/>
          <p:nvPr/>
        </p:nvSpPr>
        <p:spPr>
          <a:xfrm>
            <a:off x="4972050" y="52482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114" name="TextBox 113"/>
          <p:cNvSpPr txBox="1"/>
          <p:nvPr/>
        </p:nvSpPr>
        <p:spPr>
          <a:xfrm>
            <a:off x="6210300" y="52482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115" name="TextBox 114"/>
          <p:cNvSpPr txBox="1"/>
          <p:nvPr/>
        </p:nvSpPr>
        <p:spPr>
          <a:xfrm>
            <a:off x="7162800" y="52482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116" name="TextBox 115"/>
          <p:cNvSpPr txBox="1"/>
          <p:nvPr/>
        </p:nvSpPr>
        <p:spPr>
          <a:xfrm>
            <a:off x="9353550" y="52482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117" name="Connector 116"/>
          <p:cNvCxnSpPr/>
          <p:nvPr/>
        </p:nvCxnSpPr>
        <p:spPr>
          <a:xfrm>
            <a:off x="190500" y="57150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18" name="Rectangle 117"/>
          <p:cNvSpPr/>
          <p:nvPr/>
        </p:nvSpPr>
        <p:spPr>
          <a:xfrm>
            <a:off x="190500" y="5753100"/>
            <a:ext cx="38100" cy="419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TextBox 118"/>
          <p:cNvSpPr txBox="1"/>
          <p:nvPr/>
        </p:nvSpPr>
        <p:spPr>
          <a:xfrm>
            <a:off x="266700" y="57435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Ruthinium Dental Manufacturing S.p.A.</a:t>
            </a:r>
          </a:p>
        </p:txBody>
      </p:sp>
      <p:sp>
        <p:nvSpPr>
          <p:cNvPr id="120" name="TextBox 119"/>
          <p:cNvSpPr txBox="1"/>
          <p:nvPr/>
        </p:nvSpPr>
        <p:spPr>
          <a:xfrm>
            <a:off x="1543050" y="57435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Flexible Partial Dentures</a:t>
            </a:r>
          </a:p>
        </p:txBody>
      </p:sp>
      <p:sp>
        <p:nvSpPr>
          <p:cNvPr id="121" name="TextBox 120"/>
          <p:cNvSpPr txBox="1"/>
          <p:nvPr/>
        </p:nvSpPr>
        <p:spPr>
          <a:xfrm>
            <a:off x="3924300" y="57435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122" name="Rectangle 121"/>
          <p:cNvSpPr/>
          <p:nvPr/>
        </p:nvSpPr>
        <p:spPr>
          <a:xfrm>
            <a:off x="4514850" y="57721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4514850" y="57721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124" name="TextBox 123"/>
          <p:cNvSpPr txBox="1"/>
          <p:nvPr/>
        </p:nvSpPr>
        <p:spPr>
          <a:xfrm>
            <a:off x="4972050" y="57435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125" name="TextBox 124"/>
          <p:cNvSpPr txBox="1"/>
          <p:nvPr/>
        </p:nvSpPr>
        <p:spPr>
          <a:xfrm>
            <a:off x="6210300" y="57435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126" name="TextBox 125"/>
          <p:cNvSpPr txBox="1"/>
          <p:nvPr/>
        </p:nvSpPr>
        <p:spPr>
          <a:xfrm>
            <a:off x="7162800" y="57435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127" name="TextBox 126"/>
          <p:cNvSpPr txBox="1"/>
          <p:nvPr/>
        </p:nvSpPr>
        <p:spPr>
          <a:xfrm>
            <a:off x="9353550" y="57435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128" name="Connector 127"/>
          <p:cNvCxnSpPr/>
          <p:nvPr/>
        </p:nvCxnSpPr>
        <p:spPr>
          <a:xfrm>
            <a:off x="190500" y="62103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9" name="Rectangle 128"/>
          <p:cNvSpPr/>
          <p:nvPr/>
        </p:nvSpPr>
        <p:spPr>
          <a:xfrm>
            <a:off x="190500" y="6276975"/>
            <a:ext cx="285750" cy="15240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TextBox 129"/>
          <p:cNvSpPr txBox="1"/>
          <p:nvPr/>
        </p:nvSpPr>
        <p:spPr>
          <a:xfrm>
            <a:off x="190500" y="6276975"/>
            <a:ext cx="285750" cy="15240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131" name="TextBox 130"/>
          <p:cNvSpPr txBox="1"/>
          <p:nvPr/>
        </p:nvSpPr>
        <p:spPr>
          <a:xfrm>
            <a:off x="514350" y="62579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M&amp;A</a:t>
            </a:r>
          </a:p>
        </p:txBody>
      </p:sp>
      <p:sp>
        <p:nvSpPr>
          <p:cNvPr id="132" name="Rectangle 131"/>
          <p:cNvSpPr/>
          <p:nvPr/>
        </p:nvSpPr>
        <p:spPr>
          <a:xfrm>
            <a:off x="923925" y="6276975"/>
            <a:ext cx="285750" cy="1524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TextBox 132"/>
          <p:cNvSpPr txBox="1"/>
          <p:nvPr/>
        </p:nvSpPr>
        <p:spPr>
          <a:xfrm>
            <a:off x="923925" y="6276975"/>
            <a:ext cx="285750" cy="15240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134" name="TextBox 133"/>
          <p:cNvSpPr txBox="1"/>
          <p:nvPr/>
        </p:nvSpPr>
        <p:spPr>
          <a:xfrm>
            <a:off x="1247775" y="62579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Product / portfolio</a:t>
            </a:r>
          </a:p>
        </p:txBody>
      </p:sp>
      <p:sp>
        <p:nvSpPr>
          <p:cNvPr id="135" name="Rectangle 134"/>
          <p:cNvSpPr/>
          <p:nvPr/>
        </p:nvSpPr>
        <p:spPr>
          <a:xfrm>
            <a:off x="2724150" y="6276975"/>
            <a:ext cx="285750" cy="152400"/>
          </a:xfrm>
          <a:prstGeom prst="rect">
            <a:avLst/>
          </a:prstGeom>
          <a:solidFill>
            <a:srgbClr val="6B7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TextBox 135"/>
          <p:cNvSpPr txBox="1"/>
          <p:nvPr/>
        </p:nvSpPr>
        <p:spPr>
          <a:xfrm>
            <a:off x="2724150" y="6276975"/>
            <a:ext cx="285750" cy="152400"/>
          </a:xfrm>
          <a:prstGeom prst="rect">
            <a:avLst/>
          </a:prstGeom>
          <a:noFill/>
        </p:spPr>
        <p:txBody>
          <a:bodyPr wrap="none" lIns="0" rIns="0" tIns="0" bIns="0" anchor="ctr">
            <a:spAutoFit/>
          </a:bodyPr>
          <a:lstStyle/>
          <a:p>
            <a:pPr algn="ctr"/>
            <a:r>
              <a:rPr sz="1100" b="1">
                <a:solidFill>
                  <a:srgbClr val="FFFFFF"/>
                </a:solidFill>
                <a:latin typeface="Calibri"/>
              </a:rPr>
              <a:t>EX</a:t>
            </a:r>
          </a:p>
        </p:txBody>
      </p:sp>
      <p:sp>
        <p:nvSpPr>
          <p:cNvPr id="137" name="TextBox 136"/>
          <p:cNvSpPr txBox="1"/>
          <p:nvPr/>
        </p:nvSpPr>
        <p:spPr>
          <a:xfrm>
            <a:off x="3048000" y="62579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Expansion</a:t>
            </a:r>
          </a:p>
        </p:txBody>
      </p:sp>
      <p:sp>
        <p:nvSpPr>
          <p:cNvPr id="138" name="Rectangle 137"/>
          <p:cNvSpPr/>
          <p:nvPr/>
        </p:nvSpPr>
        <p:spPr>
          <a:xfrm>
            <a:off x="3857625" y="6276975"/>
            <a:ext cx="285750" cy="1524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3857625" y="6276975"/>
            <a:ext cx="285750" cy="152400"/>
          </a:xfrm>
          <a:prstGeom prst="rect">
            <a:avLst/>
          </a:prstGeom>
          <a:noFill/>
        </p:spPr>
        <p:txBody>
          <a:bodyPr wrap="none" lIns="0" rIns="0" tIns="0" bIns="0" anchor="ctr">
            <a:spAutoFit/>
          </a:bodyPr>
          <a:lstStyle/>
          <a:p>
            <a:pPr algn="ctr"/>
            <a:r>
              <a:rPr sz="1100" b="1">
                <a:solidFill>
                  <a:srgbClr val="FFFFFF"/>
                </a:solidFill>
                <a:latin typeface="Calibri"/>
              </a:rPr>
              <a:t>RD</a:t>
            </a:r>
          </a:p>
        </p:txBody>
      </p:sp>
      <p:sp>
        <p:nvSpPr>
          <p:cNvPr id="140" name="TextBox 139"/>
          <p:cNvSpPr txBox="1"/>
          <p:nvPr/>
        </p:nvSpPr>
        <p:spPr>
          <a:xfrm>
            <a:off x="4181475" y="62579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R&amp;D / technology</a:t>
            </a:r>
          </a:p>
        </p:txBody>
      </p:sp>
      <p:sp>
        <p:nvSpPr>
          <p:cNvPr id="141" name="Rectangle 140"/>
          <p:cNvSpPr/>
          <p:nvPr/>
        </p:nvSpPr>
        <p:spPr>
          <a:xfrm>
            <a:off x="5457825" y="6276975"/>
            <a:ext cx="285750" cy="152400"/>
          </a:xfrm>
          <a:prstGeom prst="rect">
            <a:avLst/>
          </a:prstGeom>
          <a:solidFill>
            <a:srgbClr val="C0392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TextBox 141"/>
          <p:cNvSpPr txBox="1"/>
          <p:nvPr/>
        </p:nvSpPr>
        <p:spPr>
          <a:xfrm>
            <a:off x="5457825" y="6276975"/>
            <a:ext cx="285750" cy="152400"/>
          </a:xfrm>
          <a:prstGeom prst="rect">
            <a:avLst/>
          </a:prstGeom>
          <a:noFill/>
        </p:spPr>
        <p:txBody>
          <a:bodyPr wrap="none" lIns="0" rIns="0" tIns="0" bIns="0" anchor="ctr">
            <a:spAutoFit/>
          </a:bodyPr>
          <a:lstStyle/>
          <a:p>
            <a:pPr algn="ctr"/>
            <a:r>
              <a:rPr sz="1100" b="1">
                <a:solidFill>
                  <a:srgbClr val="FFFFFF"/>
                </a:solidFill>
                <a:latin typeface="Calibri"/>
              </a:rPr>
              <a:t>RG</a:t>
            </a:r>
          </a:p>
        </p:txBody>
      </p:sp>
      <p:sp>
        <p:nvSpPr>
          <p:cNvPr id="143" name="TextBox 142"/>
          <p:cNvSpPr txBox="1"/>
          <p:nvPr/>
        </p:nvSpPr>
        <p:spPr>
          <a:xfrm>
            <a:off x="5781675" y="62579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Regulation / compliance</a:t>
            </a:r>
          </a:p>
        </p:txBody>
      </p:sp>
      <p:sp>
        <p:nvSpPr>
          <p:cNvPr id="144" name="Rectangle 143"/>
          <p:cNvSpPr/>
          <p:nvPr/>
        </p:nvSpPr>
        <p:spPr>
          <a:xfrm>
            <a:off x="7524750" y="6276975"/>
            <a:ext cx="285750" cy="152400"/>
          </a:xfrm>
          <a:prstGeom prst="rect">
            <a:avLst/>
          </a:prstGeom>
          <a:solidFill>
            <a:srgbClr val="17768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TextBox 144"/>
          <p:cNvSpPr txBox="1"/>
          <p:nvPr/>
        </p:nvSpPr>
        <p:spPr>
          <a:xfrm>
            <a:off x="7524750" y="6276975"/>
            <a:ext cx="285750" cy="152400"/>
          </a:xfrm>
          <a:prstGeom prst="rect">
            <a:avLst/>
          </a:prstGeom>
          <a:noFill/>
        </p:spPr>
        <p:txBody>
          <a:bodyPr wrap="none" lIns="0" rIns="0" tIns="0" bIns="0" anchor="ctr">
            <a:spAutoFit/>
          </a:bodyPr>
          <a:lstStyle/>
          <a:p>
            <a:pPr algn="ctr"/>
            <a:r>
              <a:rPr sz="1100" b="1">
                <a:solidFill>
                  <a:srgbClr val="FFFFFF"/>
                </a:solidFill>
                <a:latin typeface="Calibri"/>
              </a:rPr>
              <a:t>CP</a:t>
            </a:r>
          </a:p>
        </p:txBody>
      </p:sp>
      <p:sp>
        <p:nvSpPr>
          <p:cNvPr id="146" name="TextBox 145"/>
          <p:cNvSpPr txBox="1"/>
          <p:nvPr/>
        </p:nvSpPr>
        <p:spPr>
          <a:xfrm>
            <a:off x="7848600" y="62579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Capital / funding</a:t>
            </a:r>
          </a:p>
        </p:txBody>
      </p:sp>
      <p:sp>
        <p:nvSpPr>
          <p:cNvPr id="147" name="TextBox 146"/>
          <p:cNvSpPr txBox="1"/>
          <p:nvPr/>
        </p:nvSpPr>
        <p:spPr>
          <a:xfrm>
            <a:off x="190500" y="6457950"/>
            <a:ext cx="11811000" cy="171450"/>
          </a:xfrm>
          <a:prstGeom prst="rect">
            <a:avLst/>
          </a:prstGeom>
          <a:noFill/>
        </p:spPr>
        <p:txBody>
          <a:bodyPr wrap="square" lIns="28575" rIns="28575" tIns="9525" bIns="9525" anchor="t">
            <a:spAutoFit/>
          </a:bodyPr>
          <a:lstStyle/>
          <a:p>
            <a:pPr algn="l"/>
            <a:r>
              <a:rPr sz="1100" b="0">
                <a:solidFill>
                  <a:srgbClr val="5F6B7A"/>
                </a:solidFill>
                <a:latin typeface="Calibri"/>
              </a:rPr>
              <a:t>Dates, deal values and evidence sources populate from the research feed; until then each row reads the player's most telling active strategy.</a:t>
            </a:r>
          </a:p>
        </p:txBody>
      </p:sp>
      <p:sp>
        <p:nvSpPr>
          <p:cNvPr id="148" name="TextBox 14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9" name="Picture 148" descr="lock.png"/>
          <p:cNvPicPr>
            <a:picLocks noChangeAspect="1"/>
          </p:cNvPicPr>
          <p:nvPr/>
        </p:nvPicPr>
        <p:blipFill>
          <a:blip r:embed="rId4"/>
          <a:stretch>
            <a:fillRect/>
          </a:stretch>
        </p:blipFill>
        <p:spPr>
          <a:xfrm>
            <a:off x="4126650" y="1278001"/>
            <a:ext cx="128699" cy="187198"/>
          </a:xfrm>
          <a:prstGeom prst="rect">
            <a:avLst/>
          </a:prstGeom>
        </p:spPr>
      </p:pic>
      <p:pic>
        <p:nvPicPr>
          <p:cNvPr id="150" name="Picture 149" descr="lock.png"/>
          <p:cNvPicPr>
            <a:picLocks noChangeAspect="1"/>
          </p:cNvPicPr>
          <p:nvPr/>
        </p:nvPicPr>
        <p:blipFill>
          <a:blip r:embed="rId4"/>
          <a:stretch>
            <a:fillRect/>
          </a:stretch>
        </p:blipFill>
        <p:spPr>
          <a:xfrm>
            <a:off x="4126650" y="1773301"/>
            <a:ext cx="128699" cy="187198"/>
          </a:xfrm>
          <a:prstGeom prst="rect">
            <a:avLst/>
          </a:prstGeom>
        </p:spPr>
      </p:pic>
      <p:pic>
        <p:nvPicPr>
          <p:cNvPr id="151" name="Picture 150" descr="lock.png"/>
          <p:cNvPicPr>
            <a:picLocks noChangeAspect="1"/>
          </p:cNvPicPr>
          <p:nvPr/>
        </p:nvPicPr>
        <p:blipFill>
          <a:blip r:embed="rId4"/>
          <a:stretch>
            <a:fillRect/>
          </a:stretch>
        </p:blipFill>
        <p:spPr>
          <a:xfrm>
            <a:off x="4126650" y="2268601"/>
            <a:ext cx="128699" cy="187198"/>
          </a:xfrm>
          <a:prstGeom prst="rect">
            <a:avLst/>
          </a:prstGeom>
        </p:spPr>
      </p:pic>
      <p:pic>
        <p:nvPicPr>
          <p:cNvPr id="152" name="Picture 151" descr="lock.png"/>
          <p:cNvPicPr>
            <a:picLocks noChangeAspect="1"/>
          </p:cNvPicPr>
          <p:nvPr/>
        </p:nvPicPr>
        <p:blipFill>
          <a:blip r:embed="rId4"/>
          <a:stretch>
            <a:fillRect/>
          </a:stretch>
        </p:blipFill>
        <p:spPr>
          <a:xfrm>
            <a:off x="4126650" y="2763901"/>
            <a:ext cx="128699" cy="187198"/>
          </a:xfrm>
          <a:prstGeom prst="rect">
            <a:avLst/>
          </a:prstGeom>
        </p:spPr>
      </p:pic>
      <p:pic>
        <p:nvPicPr>
          <p:cNvPr id="153" name="Picture 152" descr="lock.png"/>
          <p:cNvPicPr>
            <a:picLocks noChangeAspect="1"/>
          </p:cNvPicPr>
          <p:nvPr/>
        </p:nvPicPr>
        <p:blipFill>
          <a:blip r:embed="rId4"/>
          <a:stretch>
            <a:fillRect/>
          </a:stretch>
        </p:blipFill>
        <p:spPr>
          <a:xfrm>
            <a:off x="4126650" y="3259201"/>
            <a:ext cx="128699" cy="187198"/>
          </a:xfrm>
          <a:prstGeom prst="rect">
            <a:avLst/>
          </a:prstGeom>
        </p:spPr>
      </p:pic>
      <p:pic>
        <p:nvPicPr>
          <p:cNvPr id="154" name="Picture 153" descr="lock.png"/>
          <p:cNvPicPr>
            <a:picLocks noChangeAspect="1"/>
          </p:cNvPicPr>
          <p:nvPr/>
        </p:nvPicPr>
        <p:blipFill>
          <a:blip r:embed="rId4"/>
          <a:stretch>
            <a:fillRect/>
          </a:stretch>
        </p:blipFill>
        <p:spPr>
          <a:xfrm>
            <a:off x="4126650" y="3754501"/>
            <a:ext cx="128699" cy="187198"/>
          </a:xfrm>
          <a:prstGeom prst="rect">
            <a:avLst/>
          </a:prstGeom>
        </p:spPr>
      </p:pic>
      <p:pic>
        <p:nvPicPr>
          <p:cNvPr id="155" name="Picture 154" descr="lock.png"/>
          <p:cNvPicPr>
            <a:picLocks noChangeAspect="1"/>
          </p:cNvPicPr>
          <p:nvPr/>
        </p:nvPicPr>
        <p:blipFill>
          <a:blip r:embed="rId4"/>
          <a:stretch>
            <a:fillRect/>
          </a:stretch>
        </p:blipFill>
        <p:spPr>
          <a:xfrm>
            <a:off x="4126650" y="4249801"/>
            <a:ext cx="128699" cy="187198"/>
          </a:xfrm>
          <a:prstGeom prst="rect">
            <a:avLst/>
          </a:prstGeom>
        </p:spPr>
      </p:pic>
      <p:pic>
        <p:nvPicPr>
          <p:cNvPr id="156" name="Picture 155" descr="lock.png"/>
          <p:cNvPicPr>
            <a:picLocks noChangeAspect="1"/>
          </p:cNvPicPr>
          <p:nvPr/>
        </p:nvPicPr>
        <p:blipFill>
          <a:blip r:embed="rId4"/>
          <a:stretch>
            <a:fillRect/>
          </a:stretch>
        </p:blipFill>
        <p:spPr>
          <a:xfrm>
            <a:off x="4126650" y="4745101"/>
            <a:ext cx="128699" cy="187198"/>
          </a:xfrm>
          <a:prstGeom prst="rect">
            <a:avLst/>
          </a:prstGeom>
        </p:spPr>
      </p:pic>
      <p:pic>
        <p:nvPicPr>
          <p:cNvPr id="157" name="Picture 156" descr="lock.png"/>
          <p:cNvPicPr>
            <a:picLocks noChangeAspect="1"/>
          </p:cNvPicPr>
          <p:nvPr/>
        </p:nvPicPr>
        <p:blipFill>
          <a:blip r:embed="rId4"/>
          <a:stretch>
            <a:fillRect/>
          </a:stretch>
        </p:blipFill>
        <p:spPr>
          <a:xfrm>
            <a:off x="4126650" y="5240401"/>
            <a:ext cx="128699" cy="187198"/>
          </a:xfrm>
          <a:prstGeom prst="rect">
            <a:avLst/>
          </a:prstGeom>
        </p:spPr>
      </p:pic>
      <p:pic>
        <p:nvPicPr>
          <p:cNvPr id="158" name="Picture 157" descr="lock.png"/>
          <p:cNvPicPr>
            <a:picLocks noChangeAspect="1"/>
          </p:cNvPicPr>
          <p:nvPr/>
        </p:nvPicPr>
        <p:blipFill>
          <a:blip r:embed="rId4"/>
          <a:stretch>
            <a:fillRect/>
          </a:stretch>
        </p:blipFill>
        <p:spPr>
          <a:xfrm>
            <a:off x="4126650" y="5735701"/>
            <a:ext cx="128699" cy="187198"/>
          </a:xfrm>
          <a:prstGeom prst="rect">
            <a:avLst/>
          </a:prstGeom>
        </p:spPr>
      </p:pic>
    </p:spTree>
  </p:cSld>
  <p:clrMapOvr>
    <a:masterClrMapping/>
  </p:clrMapOvr>
</p:sld>
</file>

<file path=ppt/slides/slide2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Strategic Activity by Function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Where competitor activity concentrates by type and department, and what it means for each function</a:t>
            </a:r>
          </a:p>
        </p:txBody>
      </p:sp>
      <p:sp>
        <p:nvSpPr>
          <p:cNvPr id="10" name="Rectangle 9"/>
          <p:cNvSpPr/>
          <p:nvPr/>
        </p:nvSpPr>
        <p:spPr>
          <a:xfrm>
            <a:off x="190500" y="1638300"/>
            <a:ext cx="3810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85750" y="16002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Dentsply Sirona Inc.</a:t>
            </a:r>
          </a:p>
        </p:txBody>
      </p:sp>
      <p:sp>
        <p:nvSpPr>
          <p:cNvPr id="12" name="Rectangle 11"/>
          <p:cNvSpPr/>
          <p:nvPr/>
        </p:nvSpPr>
        <p:spPr>
          <a:xfrm>
            <a:off x="190500" y="1885950"/>
            <a:ext cx="3810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85750" y="18478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Ivoclar Vivadent AG</a:t>
            </a:r>
          </a:p>
        </p:txBody>
      </p:sp>
      <p:sp>
        <p:nvSpPr>
          <p:cNvPr id="14" name="Rectangle 13"/>
          <p:cNvSpPr/>
          <p:nvPr/>
        </p:nvSpPr>
        <p:spPr>
          <a:xfrm>
            <a:off x="190500" y="2133600"/>
            <a:ext cx="3810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85750" y="20955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Kulzer GmbH</a:t>
            </a:r>
          </a:p>
        </p:txBody>
      </p:sp>
      <p:sp>
        <p:nvSpPr>
          <p:cNvPr id="16" name="Rectangle 15"/>
          <p:cNvSpPr/>
          <p:nvPr/>
        </p:nvSpPr>
        <p:spPr>
          <a:xfrm>
            <a:off x="190500" y="2381250"/>
            <a:ext cx="3810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85750" y="23431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GC Corporation</a:t>
            </a:r>
          </a:p>
        </p:txBody>
      </p:sp>
      <p:sp>
        <p:nvSpPr>
          <p:cNvPr id="18" name="Rectangle 17"/>
          <p:cNvSpPr/>
          <p:nvPr/>
        </p:nvSpPr>
        <p:spPr>
          <a:xfrm>
            <a:off x="190500" y="2628900"/>
            <a:ext cx="38100" cy="1714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85750" y="25908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SHOFU INC.</a:t>
            </a:r>
          </a:p>
        </p:txBody>
      </p:sp>
      <p:sp>
        <p:nvSpPr>
          <p:cNvPr id="20" name="Rectangle 19"/>
          <p:cNvSpPr/>
          <p:nvPr/>
        </p:nvSpPr>
        <p:spPr>
          <a:xfrm>
            <a:off x="190500" y="2876550"/>
            <a:ext cx="38100" cy="1714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85750" y="28384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VITA Zahnfabrik H. Rauter GmbH &amp; Co. KG</a:t>
            </a:r>
          </a:p>
        </p:txBody>
      </p:sp>
      <p:sp>
        <p:nvSpPr>
          <p:cNvPr id="22" name="Rectangle 21"/>
          <p:cNvSpPr/>
          <p:nvPr/>
        </p:nvSpPr>
        <p:spPr>
          <a:xfrm>
            <a:off x="190500" y="3124200"/>
            <a:ext cx="38100" cy="1714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85750" y="30861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Zhermack S.p.A.</a:t>
            </a:r>
          </a:p>
        </p:txBody>
      </p:sp>
      <p:sp>
        <p:nvSpPr>
          <p:cNvPr id="24" name="Rectangle 23"/>
          <p:cNvSpPr/>
          <p:nvPr/>
        </p:nvSpPr>
        <p:spPr>
          <a:xfrm>
            <a:off x="190500" y="3371850"/>
            <a:ext cx="38100" cy="1714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285750" y="33337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DETAX GmbH</a:t>
            </a:r>
          </a:p>
        </p:txBody>
      </p:sp>
      <p:sp>
        <p:nvSpPr>
          <p:cNvPr id="26" name="Rectangle 25"/>
          <p:cNvSpPr/>
          <p:nvPr/>
        </p:nvSpPr>
        <p:spPr>
          <a:xfrm>
            <a:off x="190500" y="3619500"/>
            <a:ext cx="38100" cy="1714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85750" y="35814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Candulor AG</a:t>
            </a:r>
          </a:p>
        </p:txBody>
      </p:sp>
      <p:sp>
        <p:nvSpPr>
          <p:cNvPr id="28" name="Rectangle 27"/>
          <p:cNvSpPr/>
          <p:nvPr/>
        </p:nvSpPr>
        <p:spPr>
          <a:xfrm>
            <a:off x="190500" y="3867150"/>
            <a:ext cx="38100" cy="1714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85750" y="38290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Ruthinium Dental Manufacturing S.p.A.</a:t>
            </a:r>
          </a:p>
        </p:txBody>
      </p:sp>
      <p:sp>
        <p:nvSpPr>
          <p:cNvPr id="30" name="TextBox 29"/>
          <p:cNvSpPr txBox="1"/>
          <p:nvPr/>
        </p:nvSpPr>
        <p:spPr>
          <a:xfrm>
            <a:off x="1714500" y="1047750"/>
            <a:ext cx="3302000" cy="171450"/>
          </a:xfrm>
          <a:prstGeom prst="rect">
            <a:avLst/>
          </a:prstGeom>
          <a:noFill/>
        </p:spPr>
        <p:txBody>
          <a:bodyPr wrap="square" lIns="28575" rIns="28575" tIns="9525" bIns="9525" anchor="t">
            <a:spAutoFit/>
          </a:bodyPr>
          <a:lstStyle/>
          <a:p>
            <a:pPr algn="l"/>
            <a:r>
              <a:rPr sz="1100" b="1">
                <a:solidFill>
                  <a:srgbClr val="0F2D52"/>
                </a:solidFill>
                <a:latin typeface="Calibri"/>
              </a:rPr>
              <a:t>Moves by type (count)</a:t>
            </a:r>
          </a:p>
        </p:txBody>
      </p:sp>
      <p:sp>
        <p:nvSpPr>
          <p:cNvPr id="31" name="TextBox 30"/>
          <p:cNvSpPr txBox="1"/>
          <p:nvPr/>
        </p:nvSpPr>
        <p:spPr>
          <a:xfrm>
            <a:off x="1714500"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MA</a:t>
            </a:r>
          </a:p>
        </p:txBody>
      </p:sp>
      <p:sp>
        <p:nvSpPr>
          <p:cNvPr id="32" name="TextBox 31"/>
          <p:cNvSpPr txBox="1"/>
          <p:nvPr/>
        </p:nvSpPr>
        <p:spPr>
          <a:xfrm>
            <a:off x="2264833"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PR</a:t>
            </a:r>
          </a:p>
        </p:txBody>
      </p:sp>
      <p:sp>
        <p:nvSpPr>
          <p:cNvPr id="33" name="TextBox 32"/>
          <p:cNvSpPr txBox="1"/>
          <p:nvPr/>
        </p:nvSpPr>
        <p:spPr>
          <a:xfrm>
            <a:off x="2815167"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EX</a:t>
            </a:r>
          </a:p>
        </p:txBody>
      </p:sp>
      <p:sp>
        <p:nvSpPr>
          <p:cNvPr id="34" name="TextBox 33"/>
          <p:cNvSpPr txBox="1"/>
          <p:nvPr/>
        </p:nvSpPr>
        <p:spPr>
          <a:xfrm>
            <a:off x="3365500"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RD</a:t>
            </a:r>
          </a:p>
        </p:txBody>
      </p:sp>
      <p:sp>
        <p:nvSpPr>
          <p:cNvPr id="35" name="TextBox 34"/>
          <p:cNvSpPr txBox="1"/>
          <p:nvPr/>
        </p:nvSpPr>
        <p:spPr>
          <a:xfrm>
            <a:off x="3915833"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RG</a:t>
            </a:r>
          </a:p>
        </p:txBody>
      </p:sp>
      <p:sp>
        <p:nvSpPr>
          <p:cNvPr id="36" name="TextBox 35"/>
          <p:cNvSpPr txBox="1"/>
          <p:nvPr/>
        </p:nvSpPr>
        <p:spPr>
          <a:xfrm>
            <a:off x="4466167"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CP</a:t>
            </a:r>
          </a:p>
        </p:txBody>
      </p:sp>
      <p:sp>
        <p:nvSpPr>
          <p:cNvPr id="37" name="Rectangle 36"/>
          <p:cNvSpPr/>
          <p:nvPr/>
        </p:nvSpPr>
        <p:spPr>
          <a:xfrm>
            <a:off x="1724025"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1714500"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39" name="Rectangle 38"/>
          <p:cNvSpPr/>
          <p:nvPr/>
        </p:nvSpPr>
        <p:spPr>
          <a:xfrm>
            <a:off x="2274358" y="16097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2824692"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2815167"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42" name="Rectangle 41"/>
          <p:cNvSpPr/>
          <p:nvPr/>
        </p:nvSpPr>
        <p:spPr>
          <a:xfrm>
            <a:off x="3375025"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3365500"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44" name="Rectangle 43"/>
          <p:cNvSpPr/>
          <p:nvPr/>
        </p:nvSpPr>
        <p:spPr>
          <a:xfrm>
            <a:off x="3925358"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3915833"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46" name="Rectangle 45"/>
          <p:cNvSpPr/>
          <p:nvPr/>
        </p:nvSpPr>
        <p:spPr>
          <a:xfrm>
            <a:off x="4475692"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4466167"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48" name="Rectangle 47"/>
          <p:cNvSpPr/>
          <p:nvPr/>
        </p:nvSpPr>
        <p:spPr>
          <a:xfrm>
            <a:off x="1724025"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2274358" y="18573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2264833"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51" name="Rectangle 50"/>
          <p:cNvSpPr/>
          <p:nvPr/>
        </p:nvSpPr>
        <p:spPr>
          <a:xfrm>
            <a:off x="2824692"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2815167"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53" name="Rectangle 52"/>
          <p:cNvSpPr/>
          <p:nvPr/>
        </p:nvSpPr>
        <p:spPr>
          <a:xfrm>
            <a:off x="3375025"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3365500"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55" name="Rectangle 54"/>
          <p:cNvSpPr/>
          <p:nvPr/>
        </p:nvSpPr>
        <p:spPr>
          <a:xfrm>
            <a:off x="3925358"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4475692"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4466167"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58" name="Rectangle 57"/>
          <p:cNvSpPr/>
          <p:nvPr/>
        </p:nvSpPr>
        <p:spPr>
          <a:xfrm>
            <a:off x="1724025"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1714500"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60" name="Rectangle 59"/>
          <p:cNvSpPr/>
          <p:nvPr/>
        </p:nvSpPr>
        <p:spPr>
          <a:xfrm>
            <a:off x="2274358" y="21050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824692"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2815167"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63" name="Rectangle 62"/>
          <p:cNvSpPr/>
          <p:nvPr/>
        </p:nvSpPr>
        <p:spPr>
          <a:xfrm>
            <a:off x="3375025"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3365500"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65" name="Rectangle 64"/>
          <p:cNvSpPr/>
          <p:nvPr/>
        </p:nvSpPr>
        <p:spPr>
          <a:xfrm>
            <a:off x="3925358"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3915833"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67" name="Rectangle 66"/>
          <p:cNvSpPr/>
          <p:nvPr/>
        </p:nvSpPr>
        <p:spPr>
          <a:xfrm>
            <a:off x="4475692"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4466167"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69" name="Rectangle 68"/>
          <p:cNvSpPr/>
          <p:nvPr/>
        </p:nvSpPr>
        <p:spPr>
          <a:xfrm>
            <a:off x="1724025"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2274358" y="23526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2264833"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72" name="Rectangle 71"/>
          <p:cNvSpPr/>
          <p:nvPr/>
        </p:nvSpPr>
        <p:spPr>
          <a:xfrm>
            <a:off x="2824692"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2815167"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74" name="Rectangle 73"/>
          <p:cNvSpPr/>
          <p:nvPr/>
        </p:nvSpPr>
        <p:spPr>
          <a:xfrm>
            <a:off x="3375025"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3365500"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76" name="Rectangle 75"/>
          <p:cNvSpPr/>
          <p:nvPr/>
        </p:nvSpPr>
        <p:spPr>
          <a:xfrm>
            <a:off x="3925358"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4475692"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TextBox 77"/>
          <p:cNvSpPr txBox="1"/>
          <p:nvPr/>
        </p:nvSpPr>
        <p:spPr>
          <a:xfrm>
            <a:off x="4466167"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79" name="Rectangle 78"/>
          <p:cNvSpPr/>
          <p:nvPr/>
        </p:nvSpPr>
        <p:spPr>
          <a:xfrm>
            <a:off x="1724025"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1714500"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81" name="Rectangle 80"/>
          <p:cNvSpPr/>
          <p:nvPr/>
        </p:nvSpPr>
        <p:spPr>
          <a:xfrm>
            <a:off x="2274358" y="26003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824692"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TextBox 82"/>
          <p:cNvSpPr txBox="1"/>
          <p:nvPr/>
        </p:nvSpPr>
        <p:spPr>
          <a:xfrm>
            <a:off x="2815167"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84" name="Rectangle 83"/>
          <p:cNvSpPr/>
          <p:nvPr/>
        </p:nvSpPr>
        <p:spPr>
          <a:xfrm>
            <a:off x="3375025"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3365500"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86" name="Rectangle 85"/>
          <p:cNvSpPr/>
          <p:nvPr/>
        </p:nvSpPr>
        <p:spPr>
          <a:xfrm>
            <a:off x="3925358"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3915833"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88" name="Rectangle 87"/>
          <p:cNvSpPr/>
          <p:nvPr/>
        </p:nvSpPr>
        <p:spPr>
          <a:xfrm>
            <a:off x="4475692"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TextBox 88"/>
          <p:cNvSpPr txBox="1"/>
          <p:nvPr/>
        </p:nvSpPr>
        <p:spPr>
          <a:xfrm>
            <a:off x="4466167"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90" name="Rectangle 89"/>
          <p:cNvSpPr/>
          <p:nvPr/>
        </p:nvSpPr>
        <p:spPr>
          <a:xfrm>
            <a:off x="1724025"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2274358" y="28479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TextBox 91"/>
          <p:cNvSpPr txBox="1"/>
          <p:nvPr/>
        </p:nvSpPr>
        <p:spPr>
          <a:xfrm>
            <a:off x="2264833"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93" name="Rectangle 92"/>
          <p:cNvSpPr/>
          <p:nvPr/>
        </p:nvSpPr>
        <p:spPr>
          <a:xfrm>
            <a:off x="2824692"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TextBox 93"/>
          <p:cNvSpPr txBox="1"/>
          <p:nvPr/>
        </p:nvSpPr>
        <p:spPr>
          <a:xfrm>
            <a:off x="2815167"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95" name="Rectangle 94"/>
          <p:cNvSpPr/>
          <p:nvPr/>
        </p:nvSpPr>
        <p:spPr>
          <a:xfrm>
            <a:off x="3375025"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3365500"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97" name="Rectangle 96"/>
          <p:cNvSpPr/>
          <p:nvPr/>
        </p:nvSpPr>
        <p:spPr>
          <a:xfrm>
            <a:off x="3925358"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4475692"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4466167"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0" name="Rectangle 99"/>
          <p:cNvSpPr/>
          <p:nvPr/>
        </p:nvSpPr>
        <p:spPr>
          <a:xfrm>
            <a:off x="1724025"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TextBox 100"/>
          <p:cNvSpPr txBox="1"/>
          <p:nvPr/>
        </p:nvSpPr>
        <p:spPr>
          <a:xfrm>
            <a:off x="1714500"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2" name="Rectangle 101"/>
          <p:cNvSpPr/>
          <p:nvPr/>
        </p:nvSpPr>
        <p:spPr>
          <a:xfrm>
            <a:off x="2274358" y="30956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2824692"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TextBox 103"/>
          <p:cNvSpPr txBox="1"/>
          <p:nvPr/>
        </p:nvSpPr>
        <p:spPr>
          <a:xfrm>
            <a:off x="2815167"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5" name="Rectangle 104"/>
          <p:cNvSpPr/>
          <p:nvPr/>
        </p:nvSpPr>
        <p:spPr>
          <a:xfrm>
            <a:off x="3375025"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TextBox 105"/>
          <p:cNvSpPr txBox="1"/>
          <p:nvPr/>
        </p:nvSpPr>
        <p:spPr>
          <a:xfrm>
            <a:off x="3365500"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7" name="Rectangle 106"/>
          <p:cNvSpPr/>
          <p:nvPr/>
        </p:nvSpPr>
        <p:spPr>
          <a:xfrm>
            <a:off x="3925358"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TextBox 107"/>
          <p:cNvSpPr txBox="1"/>
          <p:nvPr/>
        </p:nvSpPr>
        <p:spPr>
          <a:xfrm>
            <a:off x="3915833"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9" name="Rectangle 108"/>
          <p:cNvSpPr/>
          <p:nvPr/>
        </p:nvSpPr>
        <p:spPr>
          <a:xfrm>
            <a:off x="4475692"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TextBox 109"/>
          <p:cNvSpPr txBox="1"/>
          <p:nvPr/>
        </p:nvSpPr>
        <p:spPr>
          <a:xfrm>
            <a:off x="4466167"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11" name="Rectangle 110"/>
          <p:cNvSpPr/>
          <p:nvPr/>
        </p:nvSpPr>
        <p:spPr>
          <a:xfrm>
            <a:off x="1724025"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2274358" y="33432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TextBox 112"/>
          <p:cNvSpPr txBox="1"/>
          <p:nvPr/>
        </p:nvSpPr>
        <p:spPr>
          <a:xfrm>
            <a:off x="2264833"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114" name="Rectangle 113"/>
          <p:cNvSpPr/>
          <p:nvPr/>
        </p:nvSpPr>
        <p:spPr>
          <a:xfrm>
            <a:off x="2824692"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TextBox 114"/>
          <p:cNvSpPr txBox="1"/>
          <p:nvPr/>
        </p:nvSpPr>
        <p:spPr>
          <a:xfrm>
            <a:off x="2815167"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16" name="Rectangle 115"/>
          <p:cNvSpPr/>
          <p:nvPr/>
        </p:nvSpPr>
        <p:spPr>
          <a:xfrm>
            <a:off x="3375025"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TextBox 116"/>
          <p:cNvSpPr txBox="1"/>
          <p:nvPr/>
        </p:nvSpPr>
        <p:spPr>
          <a:xfrm>
            <a:off x="3365500"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18" name="Rectangle 117"/>
          <p:cNvSpPr/>
          <p:nvPr/>
        </p:nvSpPr>
        <p:spPr>
          <a:xfrm>
            <a:off x="3925358"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4475692"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TextBox 119"/>
          <p:cNvSpPr txBox="1"/>
          <p:nvPr/>
        </p:nvSpPr>
        <p:spPr>
          <a:xfrm>
            <a:off x="4466167"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21" name="Rectangle 120"/>
          <p:cNvSpPr/>
          <p:nvPr/>
        </p:nvSpPr>
        <p:spPr>
          <a:xfrm>
            <a:off x="1724025"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TextBox 121"/>
          <p:cNvSpPr txBox="1"/>
          <p:nvPr/>
        </p:nvSpPr>
        <p:spPr>
          <a:xfrm>
            <a:off x="1714500"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23" name="Rectangle 122"/>
          <p:cNvSpPr/>
          <p:nvPr/>
        </p:nvSpPr>
        <p:spPr>
          <a:xfrm>
            <a:off x="2274358" y="35909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2824692"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TextBox 124"/>
          <p:cNvSpPr txBox="1"/>
          <p:nvPr/>
        </p:nvSpPr>
        <p:spPr>
          <a:xfrm>
            <a:off x="2815167"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26" name="Rectangle 125"/>
          <p:cNvSpPr/>
          <p:nvPr/>
        </p:nvSpPr>
        <p:spPr>
          <a:xfrm>
            <a:off x="3375025"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TextBox 126"/>
          <p:cNvSpPr txBox="1"/>
          <p:nvPr/>
        </p:nvSpPr>
        <p:spPr>
          <a:xfrm>
            <a:off x="3365500"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28" name="Rectangle 127"/>
          <p:cNvSpPr/>
          <p:nvPr/>
        </p:nvSpPr>
        <p:spPr>
          <a:xfrm>
            <a:off x="3925358"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TextBox 128"/>
          <p:cNvSpPr txBox="1"/>
          <p:nvPr/>
        </p:nvSpPr>
        <p:spPr>
          <a:xfrm>
            <a:off x="3915833"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30" name="Rectangle 129"/>
          <p:cNvSpPr/>
          <p:nvPr/>
        </p:nvSpPr>
        <p:spPr>
          <a:xfrm>
            <a:off x="4475692"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TextBox 130"/>
          <p:cNvSpPr txBox="1"/>
          <p:nvPr/>
        </p:nvSpPr>
        <p:spPr>
          <a:xfrm>
            <a:off x="4466167"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32" name="Rectangle 131"/>
          <p:cNvSpPr/>
          <p:nvPr/>
        </p:nvSpPr>
        <p:spPr>
          <a:xfrm>
            <a:off x="1724025" y="38385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2274358" y="38385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TextBox 133"/>
          <p:cNvSpPr txBox="1"/>
          <p:nvPr/>
        </p:nvSpPr>
        <p:spPr>
          <a:xfrm>
            <a:off x="2264833" y="38385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135" name="Rectangle 134"/>
          <p:cNvSpPr/>
          <p:nvPr/>
        </p:nvSpPr>
        <p:spPr>
          <a:xfrm>
            <a:off x="2824692" y="38385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TextBox 135"/>
          <p:cNvSpPr txBox="1"/>
          <p:nvPr/>
        </p:nvSpPr>
        <p:spPr>
          <a:xfrm>
            <a:off x="2815167" y="38385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37" name="Rectangle 136"/>
          <p:cNvSpPr/>
          <p:nvPr/>
        </p:nvSpPr>
        <p:spPr>
          <a:xfrm>
            <a:off x="3375025" y="38385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TextBox 137"/>
          <p:cNvSpPr txBox="1"/>
          <p:nvPr/>
        </p:nvSpPr>
        <p:spPr>
          <a:xfrm>
            <a:off x="3365500" y="38385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39" name="Rectangle 138"/>
          <p:cNvSpPr/>
          <p:nvPr/>
        </p:nvSpPr>
        <p:spPr>
          <a:xfrm>
            <a:off x="3925358" y="38385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4475692" y="38385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TextBox 140"/>
          <p:cNvSpPr txBox="1"/>
          <p:nvPr/>
        </p:nvSpPr>
        <p:spPr>
          <a:xfrm>
            <a:off x="4466167" y="38385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42" name="TextBox 141"/>
          <p:cNvSpPr txBox="1"/>
          <p:nvPr/>
        </p:nvSpPr>
        <p:spPr>
          <a:xfrm>
            <a:off x="5207000" y="1047750"/>
            <a:ext cx="3302000" cy="171450"/>
          </a:xfrm>
          <a:prstGeom prst="rect">
            <a:avLst/>
          </a:prstGeom>
          <a:noFill/>
        </p:spPr>
        <p:txBody>
          <a:bodyPr wrap="square" lIns="28575" rIns="28575" tIns="9525" bIns="9525" anchor="t">
            <a:spAutoFit/>
          </a:bodyPr>
          <a:lstStyle/>
          <a:p>
            <a:pPr algn="l"/>
            <a:r>
              <a:rPr sz="1100" b="1">
                <a:solidFill>
                  <a:srgbClr val="0F2D52"/>
                </a:solidFill>
                <a:latin typeface="Calibri"/>
              </a:rPr>
              <a:t>By department</a:t>
            </a:r>
          </a:p>
        </p:txBody>
      </p:sp>
      <p:sp>
        <p:nvSpPr>
          <p:cNvPr id="143" name="TextBox 142"/>
          <p:cNvSpPr txBox="1"/>
          <p:nvPr/>
        </p:nvSpPr>
        <p:spPr>
          <a:xfrm>
            <a:off x="5207000" y="1219200"/>
            <a:ext cx="825500"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Product &amp; R&amp;D</a:t>
            </a:r>
          </a:p>
        </p:txBody>
      </p:sp>
      <p:sp>
        <p:nvSpPr>
          <p:cNvPr id="144" name="TextBox 143"/>
          <p:cNvSpPr txBox="1"/>
          <p:nvPr/>
        </p:nvSpPr>
        <p:spPr>
          <a:xfrm>
            <a:off x="6032500" y="1219200"/>
            <a:ext cx="825500"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Corp. dev.</a:t>
            </a:r>
          </a:p>
        </p:txBody>
      </p:sp>
      <p:sp>
        <p:nvSpPr>
          <p:cNvPr id="145" name="TextBox 144"/>
          <p:cNvSpPr txBox="1"/>
          <p:nvPr/>
        </p:nvSpPr>
        <p:spPr>
          <a:xfrm>
            <a:off x="6858000" y="1219200"/>
            <a:ext cx="825500"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Operations</a:t>
            </a:r>
          </a:p>
        </p:txBody>
      </p:sp>
      <p:sp>
        <p:nvSpPr>
          <p:cNvPr id="146" name="TextBox 145"/>
          <p:cNvSpPr txBox="1"/>
          <p:nvPr/>
        </p:nvSpPr>
        <p:spPr>
          <a:xfrm>
            <a:off x="7683500" y="1219200"/>
            <a:ext cx="825500"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Legal &amp; reg.</a:t>
            </a:r>
          </a:p>
        </p:txBody>
      </p:sp>
      <p:sp>
        <p:nvSpPr>
          <p:cNvPr id="147" name="Rectangle 146"/>
          <p:cNvSpPr/>
          <p:nvPr/>
        </p:nvSpPr>
        <p:spPr>
          <a:xfrm>
            <a:off x="5216525" y="16097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TextBox 147"/>
          <p:cNvSpPr txBox="1"/>
          <p:nvPr/>
        </p:nvSpPr>
        <p:spPr>
          <a:xfrm>
            <a:off x="5207000" y="16097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49" name="Rectangle 148"/>
          <p:cNvSpPr/>
          <p:nvPr/>
        </p:nvSpPr>
        <p:spPr>
          <a:xfrm>
            <a:off x="6042025" y="16097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TextBox 149"/>
          <p:cNvSpPr txBox="1"/>
          <p:nvPr/>
        </p:nvSpPr>
        <p:spPr>
          <a:xfrm>
            <a:off x="6032500" y="16097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51" name="Rectangle 150"/>
          <p:cNvSpPr/>
          <p:nvPr/>
        </p:nvSpPr>
        <p:spPr>
          <a:xfrm>
            <a:off x="6867525" y="16097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TextBox 151"/>
          <p:cNvSpPr txBox="1"/>
          <p:nvPr/>
        </p:nvSpPr>
        <p:spPr>
          <a:xfrm>
            <a:off x="6858000" y="16097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53" name="Rectangle 152"/>
          <p:cNvSpPr/>
          <p:nvPr/>
        </p:nvSpPr>
        <p:spPr>
          <a:xfrm>
            <a:off x="7693025" y="16097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TextBox 153"/>
          <p:cNvSpPr txBox="1"/>
          <p:nvPr/>
        </p:nvSpPr>
        <p:spPr>
          <a:xfrm>
            <a:off x="7683500" y="16097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55" name="Rectangle 154"/>
          <p:cNvSpPr/>
          <p:nvPr/>
        </p:nvSpPr>
        <p:spPr>
          <a:xfrm>
            <a:off x="5216525" y="18573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TextBox 155"/>
          <p:cNvSpPr txBox="1"/>
          <p:nvPr/>
        </p:nvSpPr>
        <p:spPr>
          <a:xfrm>
            <a:off x="5207000" y="18573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157" name="Rectangle 156"/>
          <p:cNvSpPr/>
          <p:nvPr/>
        </p:nvSpPr>
        <p:spPr>
          <a:xfrm>
            <a:off x="6042025" y="18573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6867525" y="18573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TextBox 158"/>
          <p:cNvSpPr txBox="1"/>
          <p:nvPr/>
        </p:nvSpPr>
        <p:spPr>
          <a:xfrm>
            <a:off x="6858000" y="18573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60" name="Rectangle 159"/>
          <p:cNvSpPr/>
          <p:nvPr/>
        </p:nvSpPr>
        <p:spPr>
          <a:xfrm>
            <a:off x="7693025" y="18573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216525" y="21050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TextBox 161"/>
          <p:cNvSpPr txBox="1"/>
          <p:nvPr/>
        </p:nvSpPr>
        <p:spPr>
          <a:xfrm>
            <a:off x="5207000" y="21050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63" name="Rectangle 162"/>
          <p:cNvSpPr/>
          <p:nvPr/>
        </p:nvSpPr>
        <p:spPr>
          <a:xfrm>
            <a:off x="6042025" y="21050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TextBox 163"/>
          <p:cNvSpPr txBox="1"/>
          <p:nvPr/>
        </p:nvSpPr>
        <p:spPr>
          <a:xfrm>
            <a:off x="6032500" y="21050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65" name="Rectangle 164"/>
          <p:cNvSpPr/>
          <p:nvPr/>
        </p:nvSpPr>
        <p:spPr>
          <a:xfrm>
            <a:off x="6867525" y="21050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TextBox 165"/>
          <p:cNvSpPr txBox="1"/>
          <p:nvPr/>
        </p:nvSpPr>
        <p:spPr>
          <a:xfrm>
            <a:off x="6858000" y="21050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67" name="Rectangle 166"/>
          <p:cNvSpPr/>
          <p:nvPr/>
        </p:nvSpPr>
        <p:spPr>
          <a:xfrm>
            <a:off x="7693025" y="21050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TextBox 167"/>
          <p:cNvSpPr txBox="1"/>
          <p:nvPr/>
        </p:nvSpPr>
        <p:spPr>
          <a:xfrm>
            <a:off x="7683500" y="21050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69" name="Rectangle 168"/>
          <p:cNvSpPr/>
          <p:nvPr/>
        </p:nvSpPr>
        <p:spPr>
          <a:xfrm>
            <a:off x="5216525" y="23526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TextBox 169"/>
          <p:cNvSpPr txBox="1"/>
          <p:nvPr/>
        </p:nvSpPr>
        <p:spPr>
          <a:xfrm>
            <a:off x="5207000" y="23526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171" name="Rectangle 170"/>
          <p:cNvSpPr/>
          <p:nvPr/>
        </p:nvSpPr>
        <p:spPr>
          <a:xfrm>
            <a:off x="6042025" y="23526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6867525" y="23526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TextBox 172"/>
          <p:cNvSpPr txBox="1"/>
          <p:nvPr/>
        </p:nvSpPr>
        <p:spPr>
          <a:xfrm>
            <a:off x="6858000" y="23526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74" name="Rectangle 173"/>
          <p:cNvSpPr/>
          <p:nvPr/>
        </p:nvSpPr>
        <p:spPr>
          <a:xfrm>
            <a:off x="7693025" y="23526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5216525" y="26003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TextBox 175"/>
          <p:cNvSpPr txBox="1"/>
          <p:nvPr/>
        </p:nvSpPr>
        <p:spPr>
          <a:xfrm>
            <a:off x="5207000" y="26003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77" name="Rectangle 176"/>
          <p:cNvSpPr/>
          <p:nvPr/>
        </p:nvSpPr>
        <p:spPr>
          <a:xfrm>
            <a:off x="6042025" y="26003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TextBox 177"/>
          <p:cNvSpPr txBox="1"/>
          <p:nvPr/>
        </p:nvSpPr>
        <p:spPr>
          <a:xfrm>
            <a:off x="6032500" y="26003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79" name="Rectangle 178"/>
          <p:cNvSpPr/>
          <p:nvPr/>
        </p:nvSpPr>
        <p:spPr>
          <a:xfrm>
            <a:off x="6867525" y="26003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TextBox 179"/>
          <p:cNvSpPr txBox="1"/>
          <p:nvPr/>
        </p:nvSpPr>
        <p:spPr>
          <a:xfrm>
            <a:off x="6858000" y="26003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81" name="Rectangle 180"/>
          <p:cNvSpPr/>
          <p:nvPr/>
        </p:nvSpPr>
        <p:spPr>
          <a:xfrm>
            <a:off x="7693025" y="26003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TextBox 181"/>
          <p:cNvSpPr txBox="1"/>
          <p:nvPr/>
        </p:nvSpPr>
        <p:spPr>
          <a:xfrm>
            <a:off x="7683500" y="26003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83" name="Rectangle 182"/>
          <p:cNvSpPr/>
          <p:nvPr/>
        </p:nvSpPr>
        <p:spPr>
          <a:xfrm>
            <a:off x="5216525" y="28479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TextBox 183"/>
          <p:cNvSpPr txBox="1"/>
          <p:nvPr/>
        </p:nvSpPr>
        <p:spPr>
          <a:xfrm>
            <a:off x="5207000" y="28479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185" name="Rectangle 184"/>
          <p:cNvSpPr/>
          <p:nvPr/>
        </p:nvSpPr>
        <p:spPr>
          <a:xfrm>
            <a:off x="6042025" y="28479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6867525" y="28479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6858000" y="28479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88" name="Rectangle 187"/>
          <p:cNvSpPr/>
          <p:nvPr/>
        </p:nvSpPr>
        <p:spPr>
          <a:xfrm>
            <a:off x="7693025" y="28479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5216525" y="30956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TextBox 189"/>
          <p:cNvSpPr txBox="1"/>
          <p:nvPr/>
        </p:nvSpPr>
        <p:spPr>
          <a:xfrm>
            <a:off x="5207000" y="30956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91" name="Rectangle 190"/>
          <p:cNvSpPr/>
          <p:nvPr/>
        </p:nvSpPr>
        <p:spPr>
          <a:xfrm>
            <a:off x="6042025" y="30956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TextBox 191"/>
          <p:cNvSpPr txBox="1"/>
          <p:nvPr/>
        </p:nvSpPr>
        <p:spPr>
          <a:xfrm>
            <a:off x="6032500" y="30956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93" name="Rectangle 192"/>
          <p:cNvSpPr/>
          <p:nvPr/>
        </p:nvSpPr>
        <p:spPr>
          <a:xfrm>
            <a:off x="6867525" y="30956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TextBox 193"/>
          <p:cNvSpPr txBox="1"/>
          <p:nvPr/>
        </p:nvSpPr>
        <p:spPr>
          <a:xfrm>
            <a:off x="6858000" y="30956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95" name="Rectangle 194"/>
          <p:cNvSpPr/>
          <p:nvPr/>
        </p:nvSpPr>
        <p:spPr>
          <a:xfrm>
            <a:off x="7693025" y="30956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TextBox 195"/>
          <p:cNvSpPr txBox="1"/>
          <p:nvPr/>
        </p:nvSpPr>
        <p:spPr>
          <a:xfrm>
            <a:off x="7683500" y="30956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97" name="Rectangle 196"/>
          <p:cNvSpPr/>
          <p:nvPr/>
        </p:nvSpPr>
        <p:spPr>
          <a:xfrm>
            <a:off x="5216525" y="33432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TextBox 197"/>
          <p:cNvSpPr txBox="1"/>
          <p:nvPr/>
        </p:nvSpPr>
        <p:spPr>
          <a:xfrm>
            <a:off x="5207000" y="33432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199" name="Rectangle 198"/>
          <p:cNvSpPr/>
          <p:nvPr/>
        </p:nvSpPr>
        <p:spPr>
          <a:xfrm>
            <a:off x="6042025" y="33432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6867525" y="33432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TextBox 200"/>
          <p:cNvSpPr txBox="1"/>
          <p:nvPr/>
        </p:nvSpPr>
        <p:spPr>
          <a:xfrm>
            <a:off x="6858000" y="33432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02" name="Rectangle 201"/>
          <p:cNvSpPr/>
          <p:nvPr/>
        </p:nvSpPr>
        <p:spPr>
          <a:xfrm>
            <a:off x="7693025" y="33432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Rectangle 202"/>
          <p:cNvSpPr/>
          <p:nvPr/>
        </p:nvSpPr>
        <p:spPr>
          <a:xfrm>
            <a:off x="5216525" y="35909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4" name="TextBox 203"/>
          <p:cNvSpPr txBox="1"/>
          <p:nvPr/>
        </p:nvSpPr>
        <p:spPr>
          <a:xfrm>
            <a:off x="5207000" y="35909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05" name="Rectangle 204"/>
          <p:cNvSpPr/>
          <p:nvPr/>
        </p:nvSpPr>
        <p:spPr>
          <a:xfrm>
            <a:off x="6042025" y="35909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TextBox 205"/>
          <p:cNvSpPr txBox="1"/>
          <p:nvPr/>
        </p:nvSpPr>
        <p:spPr>
          <a:xfrm>
            <a:off x="6032500" y="35909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07" name="Rectangle 206"/>
          <p:cNvSpPr/>
          <p:nvPr/>
        </p:nvSpPr>
        <p:spPr>
          <a:xfrm>
            <a:off x="6867525" y="35909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TextBox 207"/>
          <p:cNvSpPr txBox="1"/>
          <p:nvPr/>
        </p:nvSpPr>
        <p:spPr>
          <a:xfrm>
            <a:off x="6858000" y="35909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09" name="Rectangle 208"/>
          <p:cNvSpPr/>
          <p:nvPr/>
        </p:nvSpPr>
        <p:spPr>
          <a:xfrm>
            <a:off x="7693025" y="35909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TextBox 209"/>
          <p:cNvSpPr txBox="1"/>
          <p:nvPr/>
        </p:nvSpPr>
        <p:spPr>
          <a:xfrm>
            <a:off x="7683500" y="35909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11" name="Rectangle 210"/>
          <p:cNvSpPr/>
          <p:nvPr/>
        </p:nvSpPr>
        <p:spPr>
          <a:xfrm>
            <a:off x="5216525" y="38385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TextBox 211"/>
          <p:cNvSpPr txBox="1"/>
          <p:nvPr/>
        </p:nvSpPr>
        <p:spPr>
          <a:xfrm>
            <a:off x="5207000" y="38385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213" name="Rectangle 212"/>
          <p:cNvSpPr/>
          <p:nvPr/>
        </p:nvSpPr>
        <p:spPr>
          <a:xfrm>
            <a:off x="6042025" y="38385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6867525" y="38385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TextBox 214"/>
          <p:cNvSpPr txBox="1"/>
          <p:nvPr/>
        </p:nvSpPr>
        <p:spPr>
          <a:xfrm>
            <a:off x="6858000" y="38385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16" name="Rectangle 215"/>
          <p:cNvSpPr/>
          <p:nvPr/>
        </p:nvSpPr>
        <p:spPr>
          <a:xfrm>
            <a:off x="7693025" y="38385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TextBox 216"/>
          <p:cNvSpPr txBox="1"/>
          <p:nvPr/>
        </p:nvSpPr>
        <p:spPr>
          <a:xfrm>
            <a:off x="8699500" y="1047750"/>
            <a:ext cx="3302000" cy="171450"/>
          </a:xfrm>
          <a:prstGeom prst="rect">
            <a:avLst/>
          </a:prstGeom>
          <a:noFill/>
        </p:spPr>
        <p:txBody>
          <a:bodyPr wrap="square" lIns="28575" rIns="28575" tIns="9525" bIns="9525" anchor="t">
            <a:spAutoFit/>
          </a:bodyPr>
          <a:lstStyle/>
          <a:p>
            <a:pPr algn="l"/>
            <a:r>
              <a:rPr sz="1100" b="1">
                <a:solidFill>
                  <a:srgbClr val="0F2D52"/>
                </a:solidFill>
                <a:latin typeface="Calibri"/>
              </a:rPr>
              <a:t>By region of activity</a:t>
            </a:r>
          </a:p>
        </p:txBody>
      </p:sp>
      <p:sp>
        <p:nvSpPr>
          <p:cNvPr id="218" name="TextBox 217"/>
          <p:cNvSpPr txBox="1"/>
          <p:nvPr/>
        </p:nvSpPr>
        <p:spPr>
          <a:xfrm>
            <a:off x="8699500" y="1219200"/>
            <a:ext cx="550333"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N. America</a:t>
            </a:r>
          </a:p>
        </p:txBody>
      </p:sp>
      <p:sp>
        <p:nvSpPr>
          <p:cNvPr id="219" name="TextBox 218"/>
          <p:cNvSpPr txBox="1"/>
          <p:nvPr/>
        </p:nvSpPr>
        <p:spPr>
          <a:xfrm>
            <a:off x="9249833" y="1219200"/>
            <a:ext cx="550333"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Europe</a:t>
            </a:r>
          </a:p>
        </p:txBody>
      </p:sp>
      <p:sp>
        <p:nvSpPr>
          <p:cNvPr id="220" name="TextBox 219"/>
          <p:cNvSpPr txBox="1"/>
          <p:nvPr/>
        </p:nvSpPr>
        <p:spPr>
          <a:xfrm>
            <a:off x="9800167" y="1219200"/>
            <a:ext cx="550333"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S. Asia &amp; Pac.</a:t>
            </a:r>
          </a:p>
        </p:txBody>
      </p:sp>
      <p:sp>
        <p:nvSpPr>
          <p:cNvPr id="221" name="TextBox 220"/>
          <p:cNvSpPr txBox="1"/>
          <p:nvPr/>
        </p:nvSpPr>
        <p:spPr>
          <a:xfrm>
            <a:off x="10350500" y="1219200"/>
            <a:ext cx="550333"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E. Asia</a:t>
            </a:r>
          </a:p>
        </p:txBody>
      </p:sp>
      <p:sp>
        <p:nvSpPr>
          <p:cNvPr id="222" name="TextBox 221"/>
          <p:cNvSpPr txBox="1"/>
          <p:nvPr/>
        </p:nvSpPr>
        <p:spPr>
          <a:xfrm>
            <a:off x="10900833" y="1219200"/>
            <a:ext cx="550333"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LATAM</a:t>
            </a:r>
          </a:p>
        </p:txBody>
      </p:sp>
      <p:sp>
        <p:nvSpPr>
          <p:cNvPr id="223" name="TextBox 222"/>
          <p:cNvSpPr txBox="1"/>
          <p:nvPr/>
        </p:nvSpPr>
        <p:spPr>
          <a:xfrm>
            <a:off x="11451167"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MEA</a:t>
            </a:r>
          </a:p>
        </p:txBody>
      </p:sp>
      <p:sp>
        <p:nvSpPr>
          <p:cNvPr id="224" name="Rectangle 223"/>
          <p:cNvSpPr/>
          <p:nvPr/>
        </p:nvSpPr>
        <p:spPr>
          <a:xfrm>
            <a:off x="8709025" y="16097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TextBox 224"/>
          <p:cNvSpPr txBox="1"/>
          <p:nvPr/>
        </p:nvSpPr>
        <p:spPr>
          <a:xfrm>
            <a:off x="8699500"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26" name="Rectangle 225"/>
          <p:cNvSpPr/>
          <p:nvPr/>
        </p:nvSpPr>
        <p:spPr>
          <a:xfrm>
            <a:off x="9259358"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TextBox 226"/>
          <p:cNvSpPr txBox="1"/>
          <p:nvPr/>
        </p:nvSpPr>
        <p:spPr>
          <a:xfrm>
            <a:off x="9249833"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28" name="Rectangle 227"/>
          <p:cNvSpPr/>
          <p:nvPr/>
        </p:nvSpPr>
        <p:spPr>
          <a:xfrm>
            <a:off x="9809692"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TextBox 228"/>
          <p:cNvSpPr txBox="1"/>
          <p:nvPr/>
        </p:nvSpPr>
        <p:spPr>
          <a:xfrm>
            <a:off x="9800167"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30" name="Rectangle 229"/>
          <p:cNvSpPr/>
          <p:nvPr/>
        </p:nvSpPr>
        <p:spPr>
          <a:xfrm>
            <a:off x="10360025" y="16097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10910358" y="16097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11460692" y="16097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8709025"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9259358" y="18573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9249833"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36" name="Rectangle 235"/>
          <p:cNvSpPr/>
          <p:nvPr/>
        </p:nvSpPr>
        <p:spPr>
          <a:xfrm>
            <a:off x="9809692"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TextBox 236"/>
          <p:cNvSpPr txBox="1"/>
          <p:nvPr/>
        </p:nvSpPr>
        <p:spPr>
          <a:xfrm>
            <a:off x="9800167"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38" name="Rectangle 237"/>
          <p:cNvSpPr/>
          <p:nvPr/>
        </p:nvSpPr>
        <p:spPr>
          <a:xfrm>
            <a:off x="10360025"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TextBox 238"/>
          <p:cNvSpPr txBox="1"/>
          <p:nvPr/>
        </p:nvSpPr>
        <p:spPr>
          <a:xfrm>
            <a:off x="10350500"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40" name="Rectangle 239"/>
          <p:cNvSpPr/>
          <p:nvPr/>
        </p:nvSpPr>
        <p:spPr>
          <a:xfrm>
            <a:off x="10910358"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11460692"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8709025" y="21050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9259358" y="21050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9809692" y="21050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TextBox 244"/>
          <p:cNvSpPr txBox="1"/>
          <p:nvPr/>
        </p:nvSpPr>
        <p:spPr>
          <a:xfrm>
            <a:off x="9800167"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46" name="Rectangle 245"/>
          <p:cNvSpPr/>
          <p:nvPr/>
        </p:nvSpPr>
        <p:spPr>
          <a:xfrm>
            <a:off x="10360025"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TextBox 246"/>
          <p:cNvSpPr txBox="1"/>
          <p:nvPr/>
        </p:nvSpPr>
        <p:spPr>
          <a:xfrm>
            <a:off x="10350500"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48" name="Rectangle 247"/>
          <p:cNvSpPr/>
          <p:nvPr/>
        </p:nvSpPr>
        <p:spPr>
          <a:xfrm>
            <a:off x="10910358"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TextBox 248"/>
          <p:cNvSpPr txBox="1"/>
          <p:nvPr/>
        </p:nvSpPr>
        <p:spPr>
          <a:xfrm>
            <a:off x="10900833"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50" name="Rectangle 249"/>
          <p:cNvSpPr/>
          <p:nvPr/>
        </p:nvSpPr>
        <p:spPr>
          <a:xfrm>
            <a:off x="11460692" y="21050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8709025"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9259358"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9809692"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10360025" y="23526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TextBox 254"/>
          <p:cNvSpPr txBox="1"/>
          <p:nvPr/>
        </p:nvSpPr>
        <p:spPr>
          <a:xfrm>
            <a:off x="10350500"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56" name="Rectangle 255"/>
          <p:cNvSpPr/>
          <p:nvPr/>
        </p:nvSpPr>
        <p:spPr>
          <a:xfrm>
            <a:off x="10910358"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TextBox 256"/>
          <p:cNvSpPr txBox="1"/>
          <p:nvPr/>
        </p:nvSpPr>
        <p:spPr>
          <a:xfrm>
            <a:off x="10900833"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58" name="Rectangle 257"/>
          <p:cNvSpPr/>
          <p:nvPr/>
        </p:nvSpPr>
        <p:spPr>
          <a:xfrm>
            <a:off x="11460692"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TextBox 258"/>
          <p:cNvSpPr txBox="1"/>
          <p:nvPr/>
        </p:nvSpPr>
        <p:spPr>
          <a:xfrm>
            <a:off x="11451167"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60" name="Rectangle 259"/>
          <p:cNvSpPr/>
          <p:nvPr/>
        </p:nvSpPr>
        <p:spPr>
          <a:xfrm>
            <a:off x="8709025"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TextBox 260"/>
          <p:cNvSpPr txBox="1"/>
          <p:nvPr/>
        </p:nvSpPr>
        <p:spPr>
          <a:xfrm>
            <a:off x="8699500"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62" name="Rectangle 261"/>
          <p:cNvSpPr/>
          <p:nvPr/>
        </p:nvSpPr>
        <p:spPr>
          <a:xfrm>
            <a:off x="9259358" y="26003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9809692" y="26003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10360025" y="26003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910358" y="26003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TextBox 265"/>
          <p:cNvSpPr txBox="1"/>
          <p:nvPr/>
        </p:nvSpPr>
        <p:spPr>
          <a:xfrm>
            <a:off x="10900833"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67" name="Rectangle 266"/>
          <p:cNvSpPr/>
          <p:nvPr/>
        </p:nvSpPr>
        <p:spPr>
          <a:xfrm>
            <a:off x="11460692"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8" name="TextBox 267"/>
          <p:cNvSpPr txBox="1"/>
          <p:nvPr/>
        </p:nvSpPr>
        <p:spPr>
          <a:xfrm>
            <a:off x="11451167"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69" name="Rectangle 268"/>
          <p:cNvSpPr/>
          <p:nvPr/>
        </p:nvSpPr>
        <p:spPr>
          <a:xfrm>
            <a:off x="8709025"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TextBox 269"/>
          <p:cNvSpPr txBox="1"/>
          <p:nvPr/>
        </p:nvSpPr>
        <p:spPr>
          <a:xfrm>
            <a:off x="8699500"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71" name="Rectangle 270"/>
          <p:cNvSpPr/>
          <p:nvPr/>
        </p:nvSpPr>
        <p:spPr>
          <a:xfrm>
            <a:off x="9259358"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TextBox 271"/>
          <p:cNvSpPr txBox="1"/>
          <p:nvPr/>
        </p:nvSpPr>
        <p:spPr>
          <a:xfrm>
            <a:off x="9249833"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73" name="Rectangle 272"/>
          <p:cNvSpPr/>
          <p:nvPr/>
        </p:nvSpPr>
        <p:spPr>
          <a:xfrm>
            <a:off x="9809692"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10360025"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10910358"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11460692" y="28479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TextBox 276"/>
          <p:cNvSpPr txBox="1"/>
          <p:nvPr/>
        </p:nvSpPr>
        <p:spPr>
          <a:xfrm>
            <a:off x="11451167"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78" name="Rectangle 277"/>
          <p:cNvSpPr/>
          <p:nvPr/>
        </p:nvSpPr>
        <p:spPr>
          <a:xfrm>
            <a:off x="8709025" y="30956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TextBox 278"/>
          <p:cNvSpPr txBox="1"/>
          <p:nvPr/>
        </p:nvSpPr>
        <p:spPr>
          <a:xfrm>
            <a:off x="8699500"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80" name="Rectangle 279"/>
          <p:cNvSpPr/>
          <p:nvPr/>
        </p:nvSpPr>
        <p:spPr>
          <a:xfrm>
            <a:off x="9259358"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TextBox 280"/>
          <p:cNvSpPr txBox="1"/>
          <p:nvPr/>
        </p:nvSpPr>
        <p:spPr>
          <a:xfrm>
            <a:off x="9249833"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82" name="Rectangle 281"/>
          <p:cNvSpPr/>
          <p:nvPr/>
        </p:nvSpPr>
        <p:spPr>
          <a:xfrm>
            <a:off x="9809692"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TextBox 282"/>
          <p:cNvSpPr txBox="1"/>
          <p:nvPr/>
        </p:nvSpPr>
        <p:spPr>
          <a:xfrm>
            <a:off x="9800167"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84" name="Rectangle 283"/>
          <p:cNvSpPr/>
          <p:nvPr/>
        </p:nvSpPr>
        <p:spPr>
          <a:xfrm>
            <a:off x="10360025" y="30956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0910358" y="30956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460692" y="30956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8709025"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9259358" y="33432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TextBox 288"/>
          <p:cNvSpPr txBox="1"/>
          <p:nvPr/>
        </p:nvSpPr>
        <p:spPr>
          <a:xfrm>
            <a:off x="9249833"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90" name="Rectangle 289"/>
          <p:cNvSpPr/>
          <p:nvPr/>
        </p:nvSpPr>
        <p:spPr>
          <a:xfrm>
            <a:off x="9809692"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TextBox 290"/>
          <p:cNvSpPr txBox="1"/>
          <p:nvPr/>
        </p:nvSpPr>
        <p:spPr>
          <a:xfrm>
            <a:off x="9800167"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92" name="Rectangle 291"/>
          <p:cNvSpPr/>
          <p:nvPr/>
        </p:nvSpPr>
        <p:spPr>
          <a:xfrm>
            <a:off x="10360025"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TextBox 292"/>
          <p:cNvSpPr txBox="1"/>
          <p:nvPr/>
        </p:nvSpPr>
        <p:spPr>
          <a:xfrm>
            <a:off x="10350500"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94" name="Rectangle 293"/>
          <p:cNvSpPr/>
          <p:nvPr/>
        </p:nvSpPr>
        <p:spPr>
          <a:xfrm>
            <a:off x="10910358"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11460692"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8709025" y="35909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9259358" y="35909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9809692" y="35909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TextBox 298"/>
          <p:cNvSpPr txBox="1"/>
          <p:nvPr/>
        </p:nvSpPr>
        <p:spPr>
          <a:xfrm>
            <a:off x="9800167"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300" name="Rectangle 299"/>
          <p:cNvSpPr/>
          <p:nvPr/>
        </p:nvSpPr>
        <p:spPr>
          <a:xfrm>
            <a:off x="10360025"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TextBox 300"/>
          <p:cNvSpPr txBox="1"/>
          <p:nvPr/>
        </p:nvSpPr>
        <p:spPr>
          <a:xfrm>
            <a:off x="10350500"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302" name="Rectangle 301"/>
          <p:cNvSpPr/>
          <p:nvPr/>
        </p:nvSpPr>
        <p:spPr>
          <a:xfrm>
            <a:off x="10910358"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TextBox 302"/>
          <p:cNvSpPr txBox="1"/>
          <p:nvPr/>
        </p:nvSpPr>
        <p:spPr>
          <a:xfrm>
            <a:off x="10900833"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304" name="Rectangle 303"/>
          <p:cNvSpPr/>
          <p:nvPr/>
        </p:nvSpPr>
        <p:spPr>
          <a:xfrm>
            <a:off x="11460692" y="35909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8709025" y="38385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9259358" y="38385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9809692" y="38385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Rectangle 307"/>
          <p:cNvSpPr/>
          <p:nvPr/>
        </p:nvSpPr>
        <p:spPr>
          <a:xfrm>
            <a:off x="10360025" y="38385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9" name="TextBox 308"/>
          <p:cNvSpPr txBox="1"/>
          <p:nvPr/>
        </p:nvSpPr>
        <p:spPr>
          <a:xfrm>
            <a:off x="10350500" y="38385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310" name="Rectangle 309"/>
          <p:cNvSpPr/>
          <p:nvPr/>
        </p:nvSpPr>
        <p:spPr>
          <a:xfrm>
            <a:off x="10910358" y="38385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1" name="TextBox 310"/>
          <p:cNvSpPr txBox="1"/>
          <p:nvPr/>
        </p:nvSpPr>
        <p:spPr>
          <a:xfrm>
            <a:off x="10900833" y="38385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312" name="Rectangle 311"/>
          <p:cNvSpPr/>
          <p:nvPr/>
        </p:nvSpPr>
        <p:spPr>
          <a:xfrm>
            <a:off x="11460692" y="38385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3" name="TextBox 312"/>
          <p:cNvSpPr txBox="1"/>
          <p:nvPr/>
        </p:nvSpPr>
        <p:spPr>
          <a:xfrm>
            <a:off x="11451167" y="38385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314" name="Rectangle 313"/>
          <p:cNvSpPr/>
          <p:nvPr/>
        </p:nvSpPr>
        <p:spPr>
          <a:xfrm>
            <a:off x="190500" y="4171950"/>
            <a:ext cx="209550" cy="123825"/>
          </a:xfrm>
          <a:prstGeom prst="rect">
            <a:avLst/>
          </a:prstGeom>
          <a:solidFill>
            <a:srgbClr val="CFE0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5" name="TextBox 314"/>
          <p:cNvSpPr txBox="1"/>
          <p:nvPr/>
        </p:nvSpPr>
        <p:spPr>
          <a:xfrm>
            <a:off x="438150" y="4133850"/>
            <a:ext cx="1047750" cy="190500"/>
          </a:xfrm>
          <a:prstGeom prst="rect">
            <a:avLst/>
          </a:prstGeom>
          <a:noFill/>
        </p:spPr>
        <p:txBody>
          <a:bodyPr wrap="square" lIns="28575" rIns="28575" tIns="9525" bIns="9525" anchor="ctr">
            <a:spAutoFit/>
          </a:bodyPr>
          <a:lstStyle/>
          <a:p>
            <a:pPr algn="l"/>
            <a:r>
              <a:rPr sz="1100" b="0">
                <a:solidFill>
                  <a:srgbClr val="1F2933"/>
                </a:solidFill>
                <a:latin typeface="Calibri"/>
              </a:rPr>
              <a:t>1 move</a:t>
            </a:r>
          </a:p>
        </p:txBody>
      </p:sp>
      <p:sp>
        <p:nvSpPr>
          <p:cNvPr id="316" name="Rectangle 315"/>
          <p:cNvSpPr/>
          <p:nvPr/>
        </p:nvSpPr>
        <p:spPr>
          <a:xfrm>
            <a:off x="1238250" y="4171950"/>
            <a:ext cx="209550" cy="123825"/>
          </a:xfrm>
          <a:prstGeom prst="rect">
            <a:avLst/>
          </a:prstGeom>
          <a:solidFill>
            <a:srgbClr val="8FB4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7" name="TextBox 316"/>
          <p:cNvSpPr txBox="1"/>
          <p:nvPr/>
        </p:nvSpPr>
        <p:spPr>
          <a:xfrm>
            <a:off x="1485900" y="4133850"/>
            <a:ext cx="1047750" cy="190500"/>
          </a:xfrm>
          <a:prstGeom prst="rect">
            <a:avLst/>
          </a:prstGeom>
          <a:noFill/>
        </p:spPr>
        <p:txBody>
          <a:bodyPr wrap="square" lIns="28575" rIns="28575" tIns="9525" bIns="9525" anchor="ctr">
            <a:spAutoFit/>
          </a:bodyPr>
          <a:lstStyle/>
          <a:p>
            <a:pPr algn="l"/>
            <a:r>
              <a:rPr sz="1100" b="0">
                <a:solidFill>
                  <a:srgbClr val="1F2933"/>
                </a:solidFill>
                <a:latin typeface="Calibri"/>
              </a:rPr>
              <a:t>2 moves</a:t>
            </a:r>
          </a:p>
        </p:txBody>
      </p:sp>
      <p:sp>
        <p:nvSpPr>
          <p:cNvPr id="318" name="Rectangle 317"/>
          <p:cNvSpPr/>
          <p:nvPr/>
        </p:nvSpPr>
        <p:spPr>
          <a:xfrm>
            <a:off x="2286000" y="4171950"/>
            <a:ext cx="209550" cy="123825"/>
          </a:xfrm>
          <a:prstGeom prst="rect">
            <a:avLst/>
          </a:prstGeom>
          <a:solidFill>
            <a:srgbClr val="3D73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9" name="TextBox 318"/>
          <p:cNvSpPr txBox="1"/>
          <p:nvPr/>
        </p:nvSpPr>
        <p:spPr>
          <a:xfrm>
            <a:off x="2533650" y="4133850"/>
            <a:ext cx="1047750" cy="190500"/>
          </a:xfrm>
          <a:prstGeom prst="rect">
            <a:avLst/>
          </a:prstGeom>
          <a:noFill/>
        </p:spPr>
        <p:txBody>
          <a:bodyPr wrap="square" lIns="28575" rIns="28575" tIns="9525" bIns="9525" anchor="ctr">
            <a:spAutoFit/>
          </a:bodyPr>
          <a:lstStyle/>
          <a:p>
            <a:pPr algn="l"/>
            <a:r>
              <a:rPr sz="1100" b="0">
                <a:solidFill>
                  <a:srgbClr val="1F2933"/>
                </a:solidFill>
                <a:latin typeface="Calibri"/>
              </a:rPr>
              <a:t>3+ moves</a:t>
            </a:r>
          </a:p>
        </p:txBody>
      </p:sp>
      <p:sp>
        <p:nvSpPr>
          <p:cNvPr id="320" name="TextBox 319"/>
          <p:cNvSpPr txBox="1"/>
          <p:nvPr/>
        </p:nvSpPr>
        <p:spPr>
          <a:xfrm>
            <a:off x="3524250" y="4133850"/>
            <a:ext cx="8477250" cy="190500"/>
          </a:xfrm>
          <a:prstGeom prst="rect">
            <a:avLst/>
          </a:prstGeom>
          <a:noFill/>
        </p:spPr>
        <p:txBody>
          <a:bodyPr wrap="square" lIns="28575" rIns="28575" tIns="9525" bIns="9525" anchor="ctr">
            <a:spAutoFit/>
          </a:bodyPr>
          <a:lstStyle/>
          <a:p>
            <a:pPr algn="l"/>
            <a:r>
              <a:rPr sz="1100" b="0">
                <a:solidFill>
                  <a:srgbClr val="5F6B7A"/>
                </a:solidFill>
                <a:latin typeface="Calibri"/>
              </a:rPr>
              <a:t>Type codes: MA M&amp;A, PR Product / portfolio, EX Expansion, RD R&amp;D / technology, RG Regulation / compliance, CP Capital / funding</a:t>
            </a:r>
          </a:p>
        </p:txBody>
      </p:sp>
      <p:cxnSp>
        <p:nvCxnSpPr>
          <p:cNvPr id="321" name="Connector 320"/>
          <p:cNvCxnSpPr/>
          <p:nvPr/>
        </p:nvCxnSpPr>
        <p:spPr>
          <a:xfrm>
            <a:off x="190500" y="44005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322" name="TextBox 321"/>
          <p:cNvSpPr txBox="1"/>
          <p:nvPr/>
        </p:nvSpPr>
        <p:spPr>
          <a:xfrm>
            <a:off x="190500" y="4457700"/>
            <a:ext cx="5715000" cy="171450"/>
          </a:xfrm>
          <a:prstGeom prst="rect">
            <a:avLst/>
          </a:prstGeom>
          <a:noFill/>
        </p:spPr>
        <p:txBody>
          <a:bodyPr wrap="square" lIns="28575" rIns="28575" tIns="9525" bIns="9525" anchor="t">
            <a:spAutoFit/>
          </a:bodyPr>
          <a:lstStyle/>
          <a:p>
            <a:pPr algn="l"/>
            <a:r>
              <a:rPr sz="1100" b="1">
                <a:solidFill>
                  <a:srgbClr val="0F2D52"/>
                </a:solidFill>
                <a:latin typeface="Calibri"/>
              </a:rPr>
              <a:t>WHAT IT MEANS FOR EACH OF YOUR DEPARTMENTS</a:t>
            </a:r>
          </a:p>
        </p:txBody>
      </p:sp>
      <p:sp>
        <p:nvSpPr>
          <p:cNvPr id="323" name="Rectangle 322"/>
          <p:cNvSpPr/>
          <p:nvPr/>
        </p:nvSpPr>
        <p:spPr>
          <a:xfrm>
            <a:off x="190500" y="46863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4" name="TextBox 323"/>
          <p:cNvSpPr txBox="1"/>
          <p:nvPr/>
        </p:nvSpPr>
        <p:spPr>
          <a:xfrm>
            <a:off x="266700" y="46863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Sales</a:t>
            </a:r>
          </a:p>
        </p:txBody>
      </p:sp>
      <p:sp>
        <p:nvSpPr>
          <p:cNvPr id="325" name="TextBox 324"/>
          <p:cNvSpPr txBox="1"/>
          <p:nvPr/>
        </p:nvSpPr>
        <p:spPr>
          <a:xfrm>
            <a:off x="190500" y="49530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10 expansion moves target new regions and volume tiers: defend key accounts where rivals expand.</a:t>
            </a:r>
          </a:p>
        </p:txBody>
      </p:sp>
      <p:sp>
        <p:nvSpPr>
          <p:cNvPr id="326" name="Rectangle 325"/>
          <p:cNvSpPr/>
          <p:nvPr/>
        </p:nvSpPr>
        <p:spPr>
          <a:xfrm>
            <a:off x="2178050" y="46863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7" name="TextBox 326"/>
          <p:cNvSpPr txBox="1"/>
          <p:nvPr/>
        </p:nvSpPr>
        <p:spPr>
          <a:xfrm>
            <a:off x="2254250" y="46863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Marketing</a:t>
            </a:r>
          </a:p>
        </p:txBody>
      </p:sp>
      <p:sp>
        <p:nvSpPr>
          <p:cNvPr id="328" name="TextBox 327"/>
          <p:cNvSpPr txBox="1"/>
          <p:nvPr/>
        </p:nvSpPr>
        <p:spPr>
          <a:xfrm>
            <a:off x="2178050" y="49530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Certification and compliance are being used as trust signals; make your own credentials visible.</a:t>
            </a:r>
          </a:p>
        </p:txBody>
      </p:sp>
      <p:sp>
        <p:nvSpPr>
          <p:cNvPr id="329" name="Rectangle 328"/>
          <p:cNvSpPr/>
          <p:nvPr/>
        </p:nvSpPr>
        <p:spPr>
          <a:xfrm>
            <a:off x="4165600" y="46863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0" name="TextBox 329"/>
          <p:cNvSpPr txBox="1"/>
          <p:nvPr/>
        </p:nvSpPr>
        <p:spPr>
          <a:xfrm>
            <a:off x="4241800" y="46863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Product and R&amp;D</a:t>
            </a:r>
          </a:p>
        </p:txBody>
      </p:sp>
      <p:sp>
        <p:nvSpPr>
          <p:cNvPr id="331" name="TextBox 330"/>
          <p:cNvSpPr txBox="1"/>
          <p:nvPr/>
        </p:nvSpPr>
        <p:spPr>
          <a:xfrm>
            <a:off x="4165600" y="49530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20 product and R&amp;D moves: benchmark launches and the technology roadmap.</a:t>
            </a:r>
          </a:p>
        </p:txBody>
      </p:sp>
      <p:sp>
        <p:nvSpPr>
          <p:cNvPr id="332" name="Rectangle 331"/>
          <p:cNvSpPr/>
          <p:nvPr/>
        </p:nvSpPr>
        <p:spPr>
          <a:xfrm>
            <a:off x="6153150" y="46863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3" name="TextBox 332"/>
          <p:cNvSpPr txBox="1"/>
          <p:nvPr/>
        </p:nvSpPr>
        <p:spPr>
          <a:xfrm>
            <a:off x="6229350" y="46863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Corporate development</a:t>
            </a:r>
          </a:p>
        </p:txBody>
      </p:sp>
      <p:sp>
        <p:nvSpPr>
          <p:cNvPr id="334" name="TextBox 333"/>
          <p:cNvSpPr txBox="1"/>
          <p:nvPr/>
        </p:nvSpPr>
        <p:spPr>
          <a:xfrm>
            <a:off x="6153150" y="49530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5 players are acquiring; the independent target list is shrinking.</a:t>
            </a:r>
          </a:p>
        </p:txBody>
      </p:sp>
      <p:sp>
        <p:nvSpPr>
          <p:cNvPr id="335" name="Rectangle 334"/>
          <p:cNvSpPr/>
          <p:nvPr/>
        </p:nvSpPr>
        <p:spPr>
          <a:xfrm>
            <a:off x="8140700" y="46863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6" name="TextBox 335"/>
          <p:cNvSpPr txBox="1"/>
          <p:nvPr/>
        </p:nvSpPr>
        <p:spPr>
          <a:xfrm>
            <a:off x="8216900" y="46863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Operations</a:t>
            </a:r>
          </a:p>
        </p:txBody>
      </p:sp>
      <p:sp>
        <p:nvSpPr>
          <p:cNvPr id="337" name="TextBox 336"/>
          <p:cNvSpPr txBox="1"/>
          <p:nvPr/>
        </p:nvSpPr>
        <p:spPr>
          <a:xfrm>
            <a:off x="8140700" y="49530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Expansion moves add capacity in rivals' home regions; review supply and lead times.</a:t>
            </a:r>
          </a:p>
        </p:txBody>
      </p:sp>
      <p:sp>
        <p:nvSpPr>
          <p:cNvPr id="338" name="Rectangle 337"/>
          <p:cNvSpPr/>
          <p:nvPr/>
        </p:nvSpPr>
        <p:spPr>
          <a:xfrm>
            <a:off x="10128250" y="46863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9" name="TextBox 338"/>
          <p:cNvSpPr txBox="1"/>
          <p:nvPr/>
        </p:nvSpPr>
        <p:spPr>
          <a:xfrm>
            <a:off x="10204450" y="46863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Legal and regulatory</a:t>
            </a:r>
          </a:p>
        </p:txBody>
      </p:sp>
      <p:sp>
        <p:nvSpPr>
          <p:cNvPr id="340" name="TextBox 339"/>
          <p:cNvSpPr txBox="1"/>
          <p:nvPr/>
        </p:nvSpPr>
        <p:spPr>
          <a:xfrm>
            <a:off x="10128250" y="49530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5 players lean on certification; audit your own compliance position.</a:t>
            </a:r>
          </a:p>
        </p:txBody>
      </p:sp>
      <p:sp>
        <p:nvSpPr>
          <p:cNvPr id="341" name="TextBox 34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Industry Structure Landscape – Removable Partial Dentures Market, Global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Tier ladder, market concentration and tier profile, and the structural shift 2026→2036 shaping the tier structure</a:t>
            </a:r>
          </a:p>
        </p:txBody>
      </p:sp>
      <p:sp>
        <p:nvSpPr>
          <p:cNvPr id="10" name="Rounded Rectangle 9"/>
          <p:cNvSpPr/>
          <p:nvPr/>
        </p:nvSpPr>
        <p:spPr>
          <a:xfrm>
            <a:off x="142875" y="1047750"/>
            <a:ext cx="5810250" cy="4000500"/>
          </a:xfrm>
          <a:prstGeom prst="roundRect">
            <a:avLst>
              <a:gd name="adj" fmla="val 131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104900"/>
            <a:ext cx="5619750" cy="209550"/>
          </a:xfrm>
          <a:prstGeom prst="rect">
            <a:avLst/>
          </a:prstGeom>
          <a:noFill/>
        </p:spPr>
        <p:txBody>
          <a:bodyPr wrap="square" lIns="28575" rIns="28575" tIns="9525" bIns="9525" anchor="ctr">
            <a:spAutoFit/>
          </a:bodyPr>
          <a:lstStyle/>
          <a:p>
            <a:pPr algn="l"/>
            <a:r>
              <a:rPr sz="1200" b="1">
                <a:solidFill>
                  <a:srgbClr val="2E2E2E"/>
                </a:solidFill>
                <a:latin typeface="Calibri"/>
              </a:rPr>
              <a:t>Tier Ladder – Share of Market Value, 2026</a:t>
            </a:r>
          </a:p>
        </p:txBody>
      </p:sp>
      <p:sp>
        <p:nvSpPr>
          <p:cNvPr id="12" name="TextBox 11"/>
          <p:cNvSpPr txBox="1"/>
          <p:nvPr/>
        </p:nvSpPr>
        <p:spPr>
          <a:xfrm>
            <a:off x="238125" y="1304925"/>
            <a:ext cx="5619750" cy="247650"/>
          </a:xfrm>
          <a:prstGeom prst="rect">
            <a:avLst/>
          </a:prstGeom>
          <a:noFill/>
        </p:spPr>
        <p:txBody>
          <a:bodyPr wrap="square" lIns="28575" rIns="28575" tIns="9525" bIns="9525" anchor="ctr">
            <a:spAutoFit/>
          </a:bodyPr>
          <a:lstStyle/>
          <a:p>
            <a:pPr algn="l"/>
            <a:r>
              <a:rPr sz="1100" b="0">
                <a:solidFill>
                  <a:srgbClr val="6B7280"/>
                </a:solidFill>
                <a:latin typeface="Calibri"/>
              </a:rPr>
              <a:t/>
            </a:r>
          </a:p>
        </p:txBody>
      </p:sp>
      <p:sp>
        <p:nvSpPr>
          <p:cNvPr id="13" name="TextBox 12"/>
          <p:cNvSpPr txBox="1"/>
          <p:nvPr/>
        </p:nvSpPr>
        <p:spPr>
          <a:xfrm>
            <a:off x="257175" y="1600200"/>
            <a:ext cx="990600" cy="209550"/>
          </a:xfrm>
          <a:prstGeom prst="rect">
            <a:avLst/>
          </a:prstGeom>
          <a:noFill/>
        </p:spPr>
        <p:txBody>
          <a:bodyPr wrap="square" lIns="28575" rIns="28575" tIns="9525" bIns="9525" anchor="ctr">
            <a:spAutoFit/>
          </a:bodyPr>
          <a:lstStyle/>
          <a:p>
            <a:pPr algn="l"/>
            <a:r>
              <a:rPr sz="1100" b="1">
                <a:solidFill>
                  <a:srgbClr val="14213D"/>
                </a:solidFill>
                <a:latin typeface="Calibri"/>
              </a:rPr>
              <a:t>Tier 1</a:t>
            </a:r>
          </a:p>
        </p:txBody>
      </p:sp>
      <p:sp>
        <p:nvSpPr>
          <p:cNvPr id="14" name="TextBox 13"/>
          <p:cNvSpPr txBox="1"/>
          <p:nvPr/>
        </p:nvSpPr>
        <p:spPr>
          <a:xfrm>
            <a:off x="257175" y="1809750"/>
            <a:ext cx="990600" cy="32385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Top / global players</a:t>
            </a:r>
          </a:p>
        </p:txBody>
      </p:sp>
      <p:sp>
        <p:nvSpPr>
          <p:cNvPr id="15" name="Rectangle 14"/>
          <p:cNvSpPr/>
          <p:nvPr/>
        </p:nvSpPr>
        <p:spPr>
          <a:xfrm>
            <a:off x="1266825" y="1581150"/>
            <a:ext cx="4533900" cy="476250"/>
          </a:xfrm>
          <a:prstGeom prst="rect">
            <a:avLst/>
          </a:prstGeom>
          <a:solidFill>
            <a:srgbClr val="1F3A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1362075" y="1609725"/>
            <a:ext cx="666750" cy="209550"/>
          </a:xfrm>
          <a:prstGeom prst="rect">
            <a:avLst/>
          </a:prstGeom>
          <a:noFill/>
        </p:spPr>
        <p:txBody>
          <a:bodyPr wrap="square" lIns="28575" rIns="28575" tIns="9525" bIns="9525" anchor="ctr">
            <a:spAutoFit/>
          </a:bodyPr>
          <a:lstStyle/>
          <a:p>
            <a:pPr algn="l"/>
            <a:r>
              <a:rPr sz="1100" b="1">
                <a:solidFill>
                  <a:srgbClr val="FFFFFF"/>
                </a:solidFill>
                <a:latin typeface="Calibri"/>
              </a:rPr>
              <a:t> </a:t>
            </a:r>
          </a:p>
        </p:txBody>
      </p:sp>
      <p:sp>
        <p:nvSpPr>
          <p:cNvPr id="17" name="TextBox 16"/>
          <p:cNvSpPr txBox="1"/>
          <p:nvPr/>
        </p:nvSpPr>
        <p:spPr>
          <a:xfrm>
            <a:off x="1362075" y="1809750"/>
            <a:ext cx="4381500" cy="247650"/>
          </a:xfrm>
          <a:prstGeom prst="rect">
            <a:avLst/>
          </a:prstGeom>
          <a:noFill/>
        </p:spPr>
        <p:txBody>
          <a:bodyPr wrap="square" lIns="28575" rIns="28575" tIns="9525" bIns="9525" anchor="ctr">
            <a:spAutoFit/>
          </a:bodyPr>
          <a:lstStyle/>
          <a:p>
            <a:pPr algn="l"/>
            <a:r>
              <a:rPr sz="1100" b="0">
                <a:solidFill>
                  <a:srgbClr val="FFFFFF"/>
                </a:solidFill>
                <a:latin typeface="Calibri"/>
              </a:rPr>
              <a:t/>
            </a:r>
          </a:p>
        </p:txBody>
      </p:sp>
      <p:sp>
        <p:nvSpPr>
          <p:cNvPr id="18" name="TextBox 17"/>
          <p:cNvSpPr txBox="1"/>
          <p:nvPr/>
        </p:nvSpPr>
        <p:spPr>
          <a:xfrm>
            <a:off x="1266825" y="2066925"/>
            <a:ext cx="4533900" cy="3429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Dentsply Sirona Inc. · Ivoclar Vivadent AG · Kulzer GmbH · GC Corporation</a:t>
            </a:r>
          </a:p>
        </p:txBody>
      </p:sp>
      <p:sp>
        <p:nvSpPr>
          <p:cNvPr id="19" name="TextBox 18"/>
          <p:cNvSpPr txBox="1"/>
          <p:nvPr/>
        </p:nvSpPr>
        <p:spPr>
          <a:xfrm>
            <a:off x="257175" y="2457450"/>
            <a:ext cx="990600" cy="209550"/>
          </a:xfrm>
          <a:prstGeom prst="rect">
            <a:avLst/>
          </a:prstGeom>
          <a:noFill/>
        </p:spPr>
        <p:txBody>
          <a:bodyPr wrap="square" lIns="28575" rIns="28575" tIns="9525" bIns="9525" anchor="ctr">
            <a:spAutoFit/>
          </a:bodyPr>
          <a:lstStyle/>
          <a:p>
            <a:pPr algn="l"/>
            <a:r>
              <a:rPr sz="1100" b="1">
                <a:solidFill>
                  <a:srgbClr val="14213D"/>
                </a:solidFill>
                <a:latin typeface="Calibri"/>
              </a:rPr>
              <a:t>Tier 2</a:t>
            </a:r>
          </a:p>
        </p:txBody>
      </p:sp>
      <p:sp>
        <p:nvSpPr>
          <p:cNvPr id="20" name="TextBox 19"/>
          <p:cNvSpPr txBox="1"/>
          <p:nvPr/>
        </p:nvSpPr>
        <p:spPr>
          <a:xfrm>
            <a:off x="257175" y="2667000"/>
            <a:ext cx="990600" cy="32385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Mid-sized players</a:t>
            </a:r>
          </a:p>
        </p:txBody>
      </p:sp>
      <p:sp>
        <p:nvSpPr>
          <p:cNvPr id="21" name="Rectangle 20"/>
          <p:cNvSpPr/>
          <p:nvPr/>
        </p:nvSpPr>
        <p:spPr>
          <a:xfrm>
            <a:off x="1266825" y="2438400"/>
            <a:ext cx="3786554" cy="476250"/>
          </a:xfrm>
          <a:prstGeom prst="rect">
            <a:avLst/>
          </a:prstGeom>
          <a:solidFill>
            <a:srgbClr val="2E6DB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362075" y="2466975"/>
            <a:ext cx="666750" cy="209550"/>
          </a:xfrm>
          <a:prstGeom prst="rect">
            <a:avLst/>
          </a:prstGeom>
          <a:noFill/>
        </p:spPr>
        <p:txBody>
          <a:bodyPr wrap="square" lIns="28575" rIns="28575" tIns="9525" bIns="9525" anchor="ctr">
            <a:spAutoFit/>
          </a:bodyPr>
          <a:lstStyle/>
          <a:p>
            <a:pPr algn="l"/>
            <a:r>
              <a:rPr sz="1100" b="1">
                <a:solidFill>
                  <a:srgbClr val="FFFFFF"/>
                </a:solidFill>
                <a:latin typeface="Calibri"/>
              </a:rPr>
              <a:t> </a:t>
            </a:r>
          </a:p>
        </p:txBody>
      </p:sp>
      <p:sp>
        <p:nvSpPr>
          <p:cNvPr id="23" name="TextBox 22"/>
          <p:cNvSpPr txBox="1"/>
          <p:nvPr/>
        </p:nvSpPr>
        <p:spPr>
          <a:xfrm>
            <a:off x="1362075" y="2667000"/>
            <a:ext cx="3634154" cy="247650"/>
          </a:xfrm>
          <a:prstGeom prst="rect">
            <a:avLst/>
          </a:prstGeom>
          <a:noFill/>
        </p:spPr>
        <p:txBody>
          <a:bodyPr wrap="square" lIns="28575" rIns="28575" tIns="9525" bIns="9525" anchor="ctr">
            <a:spAutoFit/>
          </a:bodyPr>
          <a:lstStyle/>
          <a:p>
            <a:pPr algn="l"/>
            <a:r>
              <a:rPr sz="1100" b="0">
                <a:solidFill>
                  <a:srgbClr val="FFFFFF"/>
                </a:solidFill>
                <a:latin typeface="Calibri"/>
              </a:rPr>
              <a:t/>
            </a:r>
          </a:p>
        </p:txBody>
      </p:sp>
      <p:sp>
        <p:nvSpPr>
          <p:cNvPr id="24" name="TextBox 23"/>
          <p:cNvSpPr txBox="1"/>
          <p:nvPr/>
        </p:nvSpPr>
        <p:spPr>
          <a:xfrm>
            <a:off x="1266825" y="2924175"/>
            <a:ext cx="4533900" cy="3429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SHOFU INC. · VITA Zahnfabrik H. Rauter GmbH &amp; Co. KG</a:t>
            </a:r>
          </a:p>
        </p:txBody>
      </p:sp>
      <p:sp>
        <p:nvSpPr>
          <p:cNvPr id="25" name="TextBox 24"/>
          <p:cNvSpPr txBox="1"/>
          <p:nvPr/>
        </p:nvSpPr>
        <p:spPr>
          <a:xfrm>
            <a:off x="257175" y="3314700"/>
            <a:ext cx="990600" cy="209550"/>
          </a:xfrm>
          <a:prstGeom prst="rect">
            <a:avLst/>
          </a:prstGeom>
          <a:noFill/>
        </p:spPr>
        <p:txBody>
          <a:bodyPr wrap="square" lIns="28575" rIns="28575" tIns="9525" bIns="9525" anchor="ctr">
            <a:spAutoFit/>
          </a:bodyPr>
          <a:lstStyle/>
          <a:p>
            <a:pPr algn="l"/>
            <a:r>
              <a:rPr sz="1100" b="1">
                <a:solidFill>
                  <a:srgbClr val="14213D"/>
                </a:solidFill>
                <a:latin typeface="Calibri"/>
              </a:rPr>
              <a:t>Tier 3</a:t>
            </a:r>
          </a:p>
        </p:txBody>
      </p:sp>
      <p:sp>
        <p:nvSpPr>
          <p:cNvPr id="26" name="TextBox 25"/>
          <p:cNvSpPr txBox="1"/>
          <p:nvPr/>
        </p:nvSpPr>
        <p:spPr>
          <a:xfrm>
            <a:off x="257175" y="3524250"/>
            <a:ext cx="990600" cy="32385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Emerging / local players</a:t>
            </a:r>
          </a:p>
        </p:txBody>
      </p:sp>
      <p:sp>
        <p:nvSpPr>
          <p:cNvPr id="27" name="Rectangle 26"/>
          <p:cNvSpPr/>
          <p:nvPr/>
        </p:nvSpPr>
        <p:spPr>
          <a:xfrm>
            <a:off x="1266825" y="3295650"/>
            <a:ext cx="3487615" cy="476250"/>
          </a:xfrm>
          <a:prstGeom prst="rect">
            <a:avLst/>
          </a:prstGeom>
          <a:solidFill>
            <a:srgbClr val="6FA8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362075" y="3324225"/>
            <a:ext cx="666750" cy="209550"/>
          </a:xfrm>
          <a:prstGeom prst="rect">
            <a:avLst/>
          </a:prstGeom>
          <a:noFill/>
        </p:spPr>
        <p:txBody>
          <a:bodyPr wrap="square" lIns="28575" rIns="28575" tIns="9525" bIns="9525" anchor="ctr">
            <a:spAutoFit/>
          </a:bodyPr>
          <a:lstStyle/>
          <a:p>
            <a:pPr algn="l"/>
            <a:r>
              <a:rPr sz="1100" b="1">
                <a:solidFill>
                  <a:srgbClr val="FFFFFF"/>
                </a:solidFill>
                <a:latin typeface="Calibri"/>
              </a:rPr>
              <a:t> </a:t>
            </a:r>
          </a:p>
        </p:txBody>
      </p:sp>
      <p:sp>
        <p:nvSpPr>
          <p:cNvPr id="29" name="TextBox 28"/>
          <p:cNvSpPr txBox="1"/>
          <p:nvPr/>
        </p:nvSpPr>
        <p:spPr>
          <a:xfrm>
            <a:off x="1362075" y="3524250"/>
            <a:ext cx="3335215" cy="247650"/>
          </a:xfrm>
          <a:prstGeom prst="rect">
            <a:avLst/>
          </a:prstGeom>
          <a:noFill/>
        </p:spPr>
        <p:txBody>
          <a:bodyPr wrap="square" lIns="28575" rIns="28575" tIns="9525" bIns="9525" anchor="ctr">
            <a:spAutoFit/>
          </a:bodyPr>
          <a:lstStyle/>
          <a:p>
            <a:pPr algn="l"/>
            <a:r>
              <a:rPr sz="1100" b="0">
                <a:solidFill>
                  <a:srgbClr val="FFFFFF"/>
                </a:solidFill>
                <a:latin typeface="Calibri"/>
              </a:rPr>
              <a:t/>
            </a:r>
          </a:p>
        </p:txBody>
      </p:sp>
      <p:sp>
        <p:nvSpPr>
          <p:cNvPr id="30" name="TextBox 29"/>
          <p:cNvSpPr txBox="1"/>
          <p:nvPr/>
        </p:nvSpPr>
        <p:spPr>
          <a:xfrm>
            <a:off x="1266825" y="3781425"/>
            <a:ext cx="4533900" cy="3429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Zhermack S.p.A. · DETAX GmbH · Candulor AG · Ruthinium Dental Manufacturing S.p.A.</a:t>
            </a:r>
          </a:p>
        </p:txBody>
      </p:sp>
      <p:sp>
        <p:nvSpPr>
          <p:cNvPr id="31" name="TextBox 30"/>
          <p:cNvSpPr txBox="1"/>
          <p:nvPr/>
        </p:nvSpPr>
        <p:spPr>
          <a:xfrm>
            <a:off x="257175" y="4171950"/>
            <a:ext cx="990600" cy="209550"/>
          </a:xfrm>
          <a:prstGeom prst="rect">
            <a:avLst/>
          </a:prstGeom>
          <a:noFill/>
        </p:spPr>
        <p:txBody>
          <a:bodyPr wrap="square" lIns="28575" rIns="28575" tIns="9525" bIns="9525" anchor="ctr">
            <a:spAutoFit/>
          </a:bodyPr>
          <a:lstStyle/>
          <a:p>
            <a:pPr algn="l"/>
            <a:r>
              <a:rPr sz="1100" b="1">
                <a:solidFill>
                  <a:srgbClr val="14213D"/>
                </a:solidFill>
                <a:latin typeface="Calibri"/>
              </a:rPr>
              <a:t>Others</a:t>
            </a:r>
          </a:p>
        </p:txBody>
      </p:sp>
      <p:sp>
        <p:nvSpPr>
          <p:cNvPr id="32" name="TextBox 31"/>
          <p:cNvSpPr txBox="1"/>
          <p:nvPr/>
        </p:nvSpPr>
        <p:spPr>
          <a:xfrm>
            <a:off x="257175" y="4381500"/>
            <a:ext cx="990600" cy="32385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Long tail</a:t>
            </a:r>
          </a:p>
        </p:txBody>
      </p:sp>
      <p:sp>
        <p:nvSpPr>
          <p:cNvPr id="33" name="Rectangle 32"/>
          <p:cNvSpPr/>
          <p:nvPr/>
        </p:nvSpPr>
        <p:spPr>
          <a:xfrm>
            <a:off x="1266825" y="4152900"/>
            <a:ext cx="3637085" cy="476250"/>
          </a:xfrm>
          <a:prstGeom prst="rect">
            <a:avLst/>
          </a:prstGeom>
          <a:solidFill>
            <a:srgbClr val="9FC5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1362075" y="4181475"/>
            <a:ext cx="666750" cy="209550"/>
          </a:xfrm>
          <a:prstGeom prst="rect">
            <a:avLst/>
          </a:prstGeom>
          <a:noFill/>
        </p:spPr>
        <p:txBody>
          <a:bodyPr wrap="square" lIns="28575" rIns="28575" tIns="9525" bIns="9525" anchor="ctr">
            <a:spAutoFit/>
          </a:bodyPr>
          <a:lstStyle/>
          <a:p>
            <a:pPr algn="l"/>
            <a:r>
              <a:rPr sz="1100" b="1">
                <a:solidFill>
                  <a:srgbClr val="14213D"/>
                </a:solidFill>
                <a:latin typeface="Calibri"/>
              </a:rPr>
              <a:t> </a:t>
            </a:r>
          </a:p>
        </p:txBody>
      </p:sp>
      <p:sp>
        <p:nvSpPr>
          <p:cNvPr id="35" name="TextBox 34"/>
          <p:cNvSpPr txBox="1"/>
          <p:nvPr/>
        </p:nvSpPr>
        <p:spPr>
          <a:xfrm>
            <a:off x="1362075" y="4381500"/>
            <a:ext cx="3484685" cy="247650"/>
          </a:xfrm>
          <a:prstGeom prst="rect">
            <a:avLst/>
          </a:prstGeom>
          <a:noFill/>
        </p:spPr>
        <p:txBody>
          <a:bodyPr wrap="square" lIns="28575" rIns="28575" tIns="9525" bIns="9525" anchor="ctr">
            <a:spAutoFit/>
          </a:bodyPr>
          <a:lstStyle/>
          <a:p>
            <a:pPr algn="l"/>
            <a:r>
              <a:rPr sz="1100" b="0">
                <a:solidFill>
                  <a:srgbClr val="14213D"/>
                </a:solidFill>
                <a:latin typeface="Calibri"/>
              </a:rPr>
              <a:t/>
            </a:r>
          </a:p>
        </p:txBody>
      </p:sp>
      <p:sp>
        <p:nvSpPr>
          <p:cNvPr id="36" name="TextBox 35"/>
          <p:cNvSpPr txBox="1"/>
          <p:nvPr/>
        </p:nvSpPr>
        <p:spPr>
          <a:xfrm>
            <a:off x="1266825" y="4638675"/>
            <a:ext cx="4533900" cy="3429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Regional &amp; niche suppliers</a:t>
            </a:r>
          </a:p>
        </p:txBody>
      </p:sp>
      <p:sp>
        <p:nvSpPr>
          <p:cNvPr id="37" name="Rounded Rectangle 36"/>
          <p:cNvSpPr/>
          <p:nvPr/>
        </p:nvSpPr>
        <p:spPr>
          <a:xfrm>
            <a:off x="142875" y="5162550"/>
            <a:ext cx="5810250" cy="1466850"/>
          </a:xfrm>
          <a:prstGeom prst="roundRect">
            <a:avLst>
              <a:gd name="adj" fmla="val 131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38125" y="5219700"/>
            <a:ext cx="5619750" cy="209550"/>
          </a:xfrm>
          <a:prstGeom prst="rect">
            <a:avLst/>
          </a:prstGeom>
          <a:noFill/>
        </p:spPr>
        <p:txBody>
          <a:bodyPr wrap="square" lIns="28575" rIns="28575" tIns="9525" bIns="9525" anchor="ctr">
            <a:spAutoFit/>
          </a:bodyPr>
          <a:lstStyle/>
          <a:p>
            <a:pPr algn="l"/>
            <a:r>
              <a:rPr sz="1200" b="1">
                <a:solidFill>
                  <a:srgbClr val="2E2E2E"/>
                </a:solidFill>
                <a:latin typeface="Calibri"/>
              </a:rPr>
              <a:t>Concentration Read-out</a:t>
            </a:r>
          </a:p>
        </p:txBody>
      </p:sp>
      <p:sp>
        <p:nvSpPr>
          <p:cNvPr id="39" name="Rectangle 38"/>
          <p:cNvSpPr/>
          <p:nvPr/>
        </p:nvSpPr>
        <p:spPr>
          <a:xfrm>
            <a:off x="276225" y="5505450"/>
            <a:ext cx="1847850" cy="247650"/>
          </a:xfrm>
          <a:prstGeom prst="rect">
            <a:avLst/>
          </a:prstGeom>
          <a:solidFill>
            <a:srgbClr val="C9DAF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76225" y="5505450"/>
            <a:ext cx="1847850" cy="247650"/>
          </a:xfrm>
          <a:prstGeom prst="rect">
            <a:avLst/>
          </a:prstGeom>
          <a:noFill/>
        </p:spPr>
        <p:txBody>
          <a:bodyPr wrap="square" lIns="28575" rIns="28575" tIns="9525" bIns="9525" anchor="ctr">
            <a:spAutoFit/>
          </a:bodyPr>
          <a:lstStyle/>
          <a:p>
            <a:pPr algn="ctr"/>
            <a:r>
              <a:rPr sz="1100" b="1">
                <a:solidFill>
                  <a:srgbClr val="14213D"/>
                </a:solidFill>
                <a:latin typeface="Calibri"/>
              </a:rPr>
              <a:t>Fragmented HHI &lt; 1,500</a:t>
            </a:r>
          </a:p>
        </p:txBody>
      </p:sp>
      <p:sp>
        <p:nvSpPr>
          <p:cNvPr id="41" name="Rectangle 40"/>
          <p:cNvSpPr/>
          <p:nvPr/>
        </p:nvSpPr>
        <p:spPr>
          <a:xfrm>
            <a:off x="2124075" y="5505450"/>
            <a:ext cx="1847850" cy="247650"/>
          </a:xfrm>
          <a:prstGeom prst="rect">
            <a:avLst/>
          </a:prstGeom>
          <a:solidFill>
            <a:srgbClr val="6FA8D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2124075" y="5505450"/>
            <a:ext cx="1847850" cy="247650"/>
          </a:xfrm>
          <a:prstGeom prst="rect">
            <a:avLst/>
          </a:prstGeom>
          <a:noFill/>
        </p:spPr>
        <p:txBody>
          <a:bodyPr wrap="square" lIns="28575" rIns="28575" tIns="9525" bIns="9525" anchor="ctr">
            <a:spAutoFit/>
          </a:bodyPr>
          <a:lstStyle/>
          <a:p>
            <a:pPr algn="ctr"/>
            <a:r>
              <a:rPr sz="1100" b="1">
                <a:solidFill>
                  <a:srgbClr val="FFFFFF"/>
                </a:solidFill>
                <a:latin typeface="Calibri"/>
              </a:rPr>
              <a:t>Moderate 1,500–2,500</a:t>
            </a:r>
          </a:p>
        </p:txBody>
      </p:sp>
      <p:sp>
        <p:nvSpPr>
          <p:cNvPr id="43" name="Rectangle 42"/>
          <p:cNvSpPr/>
          <p:nvPr/>
        </p:nvSpPr>
        <p:spPr>
          <a:xfrm>
            <a:off x="3971925" y="5505450"/>
            <a:ext cx="1847850"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3971925" y="5505450"/>
            <a:ext cx="1847850" cy="247650"/>
          </a:xfrm>
          <a:prstGeom prst="rect">
            <a:avLst/>
          </a:prstGeom>
          <a:noFill/>
        </p:spPr>
        <p:txBody>
          <a:bodyPr wrap="square" lIns="28575" rIns="28575" tIns="9525" bIns="9525" anchor="ctr">
            <a:spAutoFit/>
          </a:bodyPr>
          <a:lstStyle/>
          <a:p>
            <a:pPr algn="ctr"/>
            <a:r>
              <a:rPr sz="1100" b="1">
                <a:solidFill>
                  <a:srgbClr val="FFFFFF"/>
                </a:solidFill>
                <a:latin typeface="Calibri"/>
              </a:rPr>
              <a:t>Concentrated &gt; 2,500</a:t>
            </a:r>
          </a:p>
        </p:txBody>
      </p:sp>
      <p:sp>
        <p:nvSpPr>
          <p:cNvPr id="45" name="TextBox 44"/>
          <p:cNvSpPr txBox="1"/>
          <p:nvPr/>
        </p:nvSpPr>
        <p:spPr>
          <a:xfrm>
            <a:off x="669665" y="5762625"/>
            <a:ext cx="1714500" cy="247650"/>
          </a:xfrm>
          <a:prstGeom prst="rect">
            <a:avLst/>
          </a:prstGeom>
          <a:noFill/>
        </p:spPr>
        <p:txBody>
          <a:bodyPr wrap="square" lIns="28575" rIns="28575" tIns="9525" bIns="9525" anchor="ctr">
            <a:spAutoFit/>
          </a:bodyPr>
          <a:lstStyle/>
          <a:p>
            <a:pPr algn="ctr"/>
            <a:r>
              <a:rPr sz="1100" b="1">
                <a:solidFill>
                  <a:srgbClr val="14213D"/>
                </a:solidFill>
                <a:latin typeface="Calibri"/>
              </a:rPr>
              <a:t/>
            </a:r>
          </a:p>
        </p:txBody>
      </p:sp>
      <p:sp>
        <p:nvSpPr>
          <p:cNvPr id="46" name="TextBox 45"/>
          <p:cNvSpPr txBox="1"/>
          <p:nvPr/>
        </p:nvSpPr>
        <p:spPr>
          <a:xfrm>
            <a:off x="238125" y="5981700"/>
            <a:ext cx="5619750" cy="419100"/>
          </a:xfrm>
          <a:prstGeom prst="rect">
            <a:avLst/>
          </a:prstGeom>
          <a:noFill/>
        </p:spPr>
        <p:txBody>
          <a:bodyPr wrap="square" lIns="28575" rIns="28575" tIns="9525" bIns="9525" anchor="ctr">
            <a:spAutoFit/>
          </a:bodyPr>
          <a:lstStyle/>
          <a:p>
            <a:pPr algn="ctr"/>
            <a:r>
              <a:rPr sz="1100" b="1">
                <a:solidFill>
                  <a:srgbClr val="14213D"/>
                </a:solidFill>
                <a:latin typeface="Calibri"/>
              </a:rPr>
              <a:t/>
            </a:r>
          </a:p>
        </p:txBody>
      </p:sp>
      <p:sp>
        <p:nvSpPr>
          <p:cNvPr id="47" name="Rounded Rectangle 46"/>
          <p:cNvSpPr/>
          <p:nvPr/>
        </p:nvSpPr>
        <p:spPr>
          <a:xfrm>
            <a:off x="6096000" y="1047750"/>
            <a:ext cx="5953125" cy="4000500"/>
          </a:xfrm>
          <a:prstGeom prst="roundRect">
            <a:avLst>
              <a:gd name="adj" fmla="val 12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6191250" y="1104900"/>
            <a:ext cx="5762625" cy="209550"/>
          </a:xfrm>
          <a:prstGeom prst="rect">
            <a:avLst/>
          </a:prstGeom>
          <a:noFill/>
        </p:spPr>
        <p:txBody>
          <a:bodyPr wrap="square" lIns="28575" rIns="28575" tIns="9525" bIns="9525" anchor="ctr">
            <a:spAutoFit/>
          </a:bodyPr>
          <a:lstStyle/>
          <a:p>
            <a:pPr algn="l"/>
            <a:r>
              <a:rPr sz="1200" b="1">
                <a:solidFill>
                  <a:srgbClr val="2E2E2E"/>
                </a:solidFill>
                <a:latin typeface="Calibri"/>
              </a:rPr>
              <a:t>Tier Profile Matrix</a:t>
            </a:r>
          </a:p>
        </p:txBody>
      </p:sp>
      <p:sp>
        <p:nvSpPr>
          <p:cNvPr id="49" name="TextBox 48"/>
          <p:cNvSpPr txBox="1"/>
          <p:nvPr/>
        </p:nvSpPr>
        <p:spPr>
          <a:xfrm>
            <a:off x="6191250" y="1304925"/>
            <a:ext cx="5762625" cy="247650"/>
          </a:xfrm>
          <a:prstGeom prst="rect">
            <a:avLst/>
          </a:prstGeom>
          <a:noFill/>
        </p:spPr>
        <p:txBody>
          <a:bodyPr wrap="square" lIns="28575" rIns="28575" tIns="9525" bIns="9525" anchor="ctr">
            <a:spAutoFit/>
          </a:bodyPr>
          <a:lstStyle/>
          <a:p>
            <a:pPr algn="l"/>
            <a:r>
              <a:rPr sz="1100" b="0">
                <a:solidFill>
                  <a:srgbClr val="6B7280"/>
                </a:solidFill>
                <a:latin typeface="Calibri"/>
              </a:rPr>
              <a:t>Size, growth and competitive characteristics of each tier</a:t>
            </a:r>
          </a:p>
        </p:txBody>
      </p:sp>
      <p:sp>
        <p:nvSpPr>
          <p:cNvPr id="50" name="Rectangle 49"/>
          <p:cNvSpPr/>
          <p:nvPr/>
        </p:nvSpPr>
        <p:spPr>
          <a:xfrm>
            <a:off x="6191250" y="1562100"/>
            <a:ext cx="1619250"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6248400" y="1562100"/>
            <a:ext cx="1543050" cy="247650"/>
          </a:xfrm>
          <a:prstGeom prst="rect">
            <a:avLst/>
          </a:prstGeom>
          <a:noFill/>
        </p:spPr>
        <p:txBody>
          <a:bodyPr wrap="square" lIns="28575" rIns="28575" tIns="9525" bIns="9525" anchor="ctr">
            <a:spAutoFit/>
          </a:bodyPr>
          <a:lstStyle/>
          <a:p>
            <a:pPr algn="l"/>
            <a:r>
              <a:rPr sz="1100" b="1">
                <a:solidFill>
                  <a:srgbClr val="FFFFFF"/>
                </a:solidFill>
                <a:latin typeface="Calibri"/>
              </a:rPr>
              <a:t>Metric</a:t>
            </a:r>
          </a:p>
        </p:txBody>
      </p:sp>
      <p:sp>
        <p:nvSpPr>
          <p:cNvPr id="52" name="Rectangle 51"/>
          <p:cNvSpPr/>
          <p:nvPr/>
        </p:nvSpPr>
        <p:spPr>
          <a:xfrm>
            <a:off x="7810500" y="1562100"/>
            <a:ext cx="828675"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7810500" y="1562100"/>
            <a:ext cx="828675" cy="247650"/>
          </a:xfrm>
          <a:prstGeom prst="rect">
            <a:avLst/>
          </a:prstGeom>
          <a:noFill/>
        </p:spPr>
        <p:txBody>
          <a:bodyPr wrap="square" lIns="28575" rIns="28575" tIns="9525" bIns="9525" anchor="ctr">
            <a:spAutoFit/>
          </a:bodyPr>
          <a:lstStyle/>
          <a:p>
            <a:pPr algn="ctr"/>
            <a:r>
              <a:rPr sz="1100" b="1">
                <a:solidFill>
                  <a:srgbClr val="FFFFFF"/>
                </a:solidFill>
                <a:latin typeface="Calibri"/>
              </a:rPr>
              <a:t>Tier 1</a:t>
            </a:r>
          </a:p>
        </p:txBody>
      </p:sp>
      <p:sp>
        <p:nvSpPr>
          <p:cNvPr id="54" name="Rectangle 53"/>
          <p:cNvSpPr/>
          <p:nvPr/>
        </p:nvSpPr>
        <p:spPr>
          <a:xfrm>
            <a:off x="8639175" y="1562100"/>
            <a:ext cx="828675" cy="247650"/>
          </a:xfrm>
          <a:prstGeom prst="rect">
            <a:avLst/>
          </a:prstGeom>
          <a:solidFill>
            <a:srgbClr val="2E6DB4"/>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8639175" y="1562100"/>
            <a:ext cx="828675" cy="247650"/>
          </a:xfrm>
          <a:prstGeom prst="rect">
            <a:avLst/>
          </a:prstGeom>
          <a:noFill/>
        </p:spPr>
        <p:txBody>
          <a:bodyPr wrap="square" lIns="28575" rIns="28575" tIns="9525" bIns="9525" anchor="ctr">
            <a:spAutoFit/>
          </a:bodyPr>
          <a:lstStyle/>
          <a:p>
            <a:pPr algn="ctr"/>
            <a:r>
              <a:rPr sz="1100" b="1">
                <a:solidFill>
                  <a:srgbClr val="FFFFFF"/>
                </a:solidFill>
                <a:latin typeface="Calibri"/>
              </a:rPr>
              <a:t>Tier 2</a:t>
            </a:r>
          </a:p>
        </p:txBody>
      </p:sp>
      <p:sp>
        <p:nvSpPr>
          <p:cNvPr id="56" name="Rectangle 55"/>
          <p:cNvSpPr/>
          <p:nvPr/>
        </p:nvSpPr>
        <p:spPr>
          <a:xfrm>
            <a:off x="9467850" y="1562100"/>
            <a:ext cx="828675" cy="247650"/>
          </a:xfrm>
          <a:prstGeom prst="rect">
            <a:avLst/>
          </a:prstGeom>
          <a:solidFill>
            <a:srgbClr val="6FA8D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9467850" y="1562100"/>
            <a:ext cx="828675" cy="247650"/>
          </a:xfrm>
          <a:prstGeom prst="rect">
            <a:avLst/>
          </a:prstGeom>
          <a:noFill/>
        </p:spPr>
        <p:txBody>
          <a:bodyPr wrap="square" lIns="28575" rIns="28575" tIns="9525" bIns="9525" anchor="ctr">
            <a:spAutoFit/>
          </a:bodyPr>
          <a:lstStyle/>
          <a:p>
            <a:pPr algn="ctr"/>
            <a:r>
              <a:rPr sz="1100" b="1">
                <a:solidFill>
                  <a:srgbClr val="FFFFFF"/>
                </a:solidFill>
                <a:latin typeface="Calibri"/>
              </a:rPr>
              <a:t>Tier 3</a:t>
            </a:r>
          </a:p>
        </p:txBody>
      </p:sp>
      <p:sp>
        <p:nvSpPr>
          <p:cNvPr id="58" name="Rectangle 57"/>
          <p:cNvSpPr/>
          <p:nvPr/>
        </p:nvSpPr>
        <p:spPr>
          <a:xfrm>
            <a:off x="10296525" y="1562100"/>
            <a:ext cx="828675" cy="247650"/>
          </a:xfrm>
          <a:prstGeom prst="rect">
            <a:avLst/>
          </a:prstGeom>
          <a:solidFill>
            <a:srgbClr val="9FC5E8"/>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10296525" y="1562100"/>
            <a:ext cx="828675" cy="247650"/>
          </a:xfrm>
          <a:prstGeom prst="rect">
            <a:avLst/>
          </a:prstGeom>
          <a:noFill/>
        </p:spPr>
        <p:txBody>
          <a:bodyPr wrap="square" lIns="28575" rIns="28575" tIns="9525" bIns="9525" anchor="ctr">
            <a:spAutoFit/>
          </a:bodyPr>
          <a:lstStyle/>
          <a:p>
            <a:pPr algn="ctr"/>
            <a:r>
              <a:rPr sz="1100" b="1">
                <a:solidFill>
                  <a:srgbClr val="14213D"/>
                </a:solidFill>
                <a:latin typeface="Calibri"/>
              </a:rPr>
              <a:t>Others</a:t>
            </a:r>
          </a:p>
        </p:txBody>
      </p:sp>
      <p:sp>
        <p:nvSpPr>
          <p:cNvPr id="60" name="Rectangle 59"/>
          <p:cNvSpPr/>
          <p:nvPr/>
        </p:nvSpPr>
        <p:spPr>
          <a:xfrm>
            <a:off x="11125200" y="1562100"/>
            <a:ext cx="828675" cy="247650"/>
          </a:xfrm>
          <a:prstGeom prst="rect">
            <a:avLst/>
          </a:prstGeom>
          <a:solidFill>
            <a:srgbClr val="10244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11125200" y="1562100"/>
            <a:ext cx="828675" cy="247650"/>
          </a:xfrm>
          <a:prstGeom prst="rect">
            <a:avLst/>
          </a:prstGeom>
          <a:noFill/>
        </p:spPr>
        <p:txBody>
          <a:bodyPr wrap="square" lIns="28575" rIns="28575" tIns="9525" bIns="9525" anchor="ctr">
            <a:spAutoFit/>
          </a:bodyPr>
          <a:lstStyle/>
          <a:p>
            <a:pPr algn="ctr"/>
            <a:r>
              <a:rPr sz="1100" b="1">
                <a:solidFill>
                  <a:srgbClr val="FFFFFF"/>
                </a:solidFill>
                <a:latin typeface="Calibri"/>
              </a:rPr>
              <a:t>Total</a:t>
            </a:r>
          </a:p>
        </p:txBody>
      </p:sp>
      <p:sp>
        <p:nvSpPr>
          <p:cNvPr id="62" name="Rectangle 61"/>
          <p:cNvSpPr/>
          <p:nvPr/>
        </p:nvSpPr>
        <p:spPr>
          <a:xfrm>
            <a:off x="6191250" y="18097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6248400" y="18097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Players</a:t>
            </a:r>
          </a:p>
        </p:txBody>
      </p:sp>
      <p:sp>
        <p:nvSpPr>
          <p:cNvPr id="64" name="Rectangle 63"/>
          <p:cNvSpPr/>
          <p:nvPr/>
        </p:nvSpPr>
        <p:spPr>
          <a:xfrm>
            <a:off x="7810500"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7829550" y="18097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4</a:t>
            </a:r>
          </a:p>
        </p:txBody>
      </p:sp>
      <p:sp>
        <p:nvSpPr>
          <p:cNvPr id="66" name="Rectangle 65"/>
          <p:cNvSpPr/>
          <p:nvPr/>
        </p:nvSpPr>
        <p:spPr>
          <a:xfrm>
            <a:off x="8639175"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8658225" y="18097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2</a:t>
            </a:r>
          </a:p>
        </p:txBody>
      </p:sp>
      <p:sp>
        <p:nvSpPr>
          <p:cNvPr id="68" name="Rectangle 67"/>
          <p:cNvSpPr/>
          <p:nvPr/>
        </p:nvSpPr>
        <p:spPr>
          <a:xfrm>
            <a:off x="9467850"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9486900" y="18097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4</a:t>
            </a:r>
          </a:p>
        </p:txBody>
      </p:sp>
      <p:sp>
        <p:nvSpPr>
          <p:cNvPr id="70" name="Rectangle 69"/>
          <p:cNvSpPr/>
          <p:nvPr/>
        </p:nvSpPr>
        <p:spPr>
          <a:xfrm>
            <a:off x="10296525"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10315575" y="18097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Long tail</a:t>
            </a:r>
          </a:p>
        </p:txBody>
      </p:sp>
      <p:sp>
        <p:nvSpPr>
          <p:cNvPr id="72" name="Rectangle 71"/>
          <p:cNvSpPr/>
          <p:nvPr/>
        </p:nvSpPr>
        <p:spPr>
          <a:xfrm>
            <a:off x="11125200"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11144250" y="18097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 </a:t>
            </a:r>
          </a:p>
        </p:txBody>
      </p:sp>
      <p:sp>
        <p:nvSpPr>
          <p:cNvPr id="74" name="Rectangle 73"/>
          <p:cNvSpPr/>
          <p:nvPr/>
        </p:nvSpPr>
        <p:spPr>
          <a:xfrm>
            <a:off x="6191250" y="20383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6248400" y="20383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Value 2026 (US$ Mn)</a:t>
            </a:r>
          </a:p>
        </p:txBody>
      </p:sp>
      <p:sp>
        <p:nvSpPr>
          <p:cNvPr id="76" name="Rectangle 75"/>
          <p:cNvSpPr/>
          <p:nvPr/>
        </p:nvSpPr>
        <p:spPr>
          <a:xfrm>
            <a:off x="7810500"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7829550" y="2038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78" name="Rectangle 77"/>
          <p:cNvSpPr/>
          <p:nvPr/>
        </p:nvSpPr>
        <p:spPr>
          <a:xfrm>
            <a:off x="8639175"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8658225" y="2038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80" name="Rectangle 79"/>
          <p:cNvSpPr/>
          <p:nvPr/>
        </p:nvSpPr>
        <p:spPr>
          <a:xfrm>
            <a:off x="9467850"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TextBox 80"/>
          <p:cNvSpPr txBox="1"/>
          <p:nvPr/>
        </p:nvSpPr>
        <p:spPr>
          <a:xfrm>
            <a:off x="9486900" y="2038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82" name="Rectangle 81"/>
          <p:cNvSpPr/>
          <p:nvPr/>
        </p:nvSpPr>
        <p:spPr>
          <a:xfrm>
            <a:off x="10296525"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TextBox 82"/>
          <p:cNvSpPr txBox="1"/>
          <p:nvPr/>
        </p:nvSpPr>
        <p:spPr>
          <a:xfrm>
            <a:off x="10315575" y="2038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84" name="Rectangle 83"/>
          <p:cNvSpPr/>
          <p:nvPr/>
        </p:nvSpPr>
        <p:spPr>
          <a:xfrm>
            <a:off x="11125200"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11144250" y="20383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1,125</a:t>
            </a:r>
          </a:p>
        </p:txBody>
      </p:sp>
      <p:sp>
        <p:nvSpPr>
          <p:cNvPr id="86" name="Rectangle 85"/>
          <p:cNvSpPr/>
          <p:nvPr/>
        </p:nvSpPr>
        <p:spPr>
          <a:xfrm>
            <a:off x="6191250" y="22669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6248400" y="22669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Share of value 2026</a:t>
            </a:r>
          </a:p>
        </p:txBody>
      </p:sp>
      <p:sp>
        <p:nvSpPr>
          <p:cNvPr id="88" name="Rectangle 87"/>
          <p:cNvSpPr/>
          <p:nvPr/>
        </p:nvSpPr>
        <p:spPr>
          <a:xfrm>
            <a:off x="7810500"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TextBox 88"/>
          <p:cNvSpPr txBox="1"/>
          <p:nvPr/>
        </p:nvSpPr>
        <p:spPr>
          <a:xfrm>
            <a:off x="8076248" y="22669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90" name="TextBox 89"/>
          <p:cNvSpPr txBox="1"/>
          <p:nvPr/>
        </p:nvSpPr>
        <p:spPr>
          <a:xfrm>
            <a:off x="8363902" y="22669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91" name="Rectangle 90"/>
          <p:cNvSpPr/>
          <p:nvPr/>
        </p:nvSpPr>
        <p:spPr>
          <a:xfrm>
            <a:off x="8639175"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TextBox 91"/>
          <p:cNvSpPr txBox="1"/>
          <p:nvPr/>
        </p:nvSpPr>
        <p:spPr>
          <a:xfrm>
            <a:off x="8904922" y="22669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93" name="TextBox 92"/>
          <p:cNvSpPr txBox="1"/>
          <p:nvPr/>
        </p:nvSpPr>
        <p:spPr>
          <a:xfrm>
            <a:off x="9192578" y="22669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94" name="Rectangle 93"/>
          <p:cNvSpPr/>
          <p:nvPr/>
        </p:nvSpPr>
        <p:spPr>
          <a:xfrm>
            <a:off x="9467850"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TextBox 94"/>
          <p:cNvSpPr txBox="1"/>
          <p:nvPr/>
        </p:nvSpPr>
        <p:spPr>
          <a:xfrm>
            <a:off x="9733598" y="22669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96" name="TextBox 95"/>
          <p:cNvSpPr txBox="1"/>
          <p:nvPr/>
        </p:nvSpPr>
        <p:spPr>
          <a:xfrm>
            <a:off x="10021252" y="22669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97" name="Rectangle 96"/>
          <p:cNvSpPr/>
          <p:nvPr/>
        </p:nvSpPr>
        <p:spPr>
          <a:xfrm>
            <a:off x="10296525"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TextBox 97"/>
          <p:cNvSpPr txBox="1"/>
          <p:nvPr/>
        </p:nvSpPr>
        <p:spPr>
          <a:xfrm>
            <a:off x="10562272" y="22669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99" name="TextBox 98"/>
          <p:cNvSpPr txBox="1"/>
          <p:nvPr/>
        </p:nvSpPr>
        <p:spPr>
          <a:xfrm>
            <a:off x="10849928" y="22669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00" name="Rectangle 99"/>
          <p:cNvSpPr/>
          <p:nvPr/>
        </p:nvSpPr>
        <p:spPr>
          <a:xfrm>
            <a:off x="11125200"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TextBox 100"/>
          <p:cNvSpPr txBox="1"/>
          <p:nvPr/>
        </p:nvSpPr>
        <p:spPr>
          <a:xfrm>
            <a:off x="11144250" y="22669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100%</a:t>
            </a:r>
          </a:p>
        </p:txBody>
      </p:sp>
      <p:sp>
        <p:nvSpPr>
          <p:cNvPr id="102" name="Rectangle 101"/>
          <p:cNvSpPr/>
          <p:nvPr/>
        </p:nvSpPr>
        <p:spPr>
          <a:xfrm>
            <a:off x="6191250" y="24955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TextBox 102"/>
          <p:cNvSpPr txBox="1"/>
          <p:nvPr/>
        </p:nvSpPr>
        <p:spPr>
          <a:xfrm>
            <a:off x="6248400" y="24955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Share of value 2036</a:t>
            </a:r>
          </a:p>
        </p:txBody>
      </p:sp>
      <p:sp>
        <p:nvSpPr>
          <p:cNvPr id="104" name="Rectangle 103"/>
          <p:cNvSpPr/>
          <p:nvPr/>
        </p:nvSpPr>
        <p:spPr>
          <a:xfrm>
            <a:off x="7810500"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8076248" y="24955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06" name="TextBox 105"/>
          <p:cNvSpPr txBox="1"/>
          <p:nvPr/>
        </p:nvSpPr>
        <p:spPr>
          <a:xfrm>
            <a:off x="8363902" y="24955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07" name="Rectangle 106"/>
          <p:cNvSpPr/>
          <p:nvPr/>
        </p:nvSpPr>
        <p:spPr>
          <a:xfrm>
            <a:off x="8639175"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TextBox 107"/>
          <p:cNvSpPr txBox="1"/>
          <p:nvPr/>
        </p:nvSpPr>
        <p:spPr>
          <a:xfrm>
            <a:off x="8904922" y="24955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09" name="TextBox 108"/>
          <p:cNvSpPr txBox="1"/>
          <p:nvPr/>
        </p:nvSpPr>
        <p:spPr>
          <a:xfrm>
            <a:off x="9192578" y="24955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10" name="Rectangle 109"/>
          <p:cNvSpPr/>
          <p:nvPr/>
        </p:nvSpPr>
        <p:spPr>
          <a:xfrm>
            <a:off x="9467850"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TextBox 110"/>
          <p:cNvSpPr txBox="1"/>
          <p:nvPr/>
        </p:nvSpPr>
        <p:spPr>
          <a:xfrm>
            <a:off x="9733598" y="24955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12" name="TextBox 111"/>
          <p:cNvSpPr txBox="1"/>
          <p:nvPr/>
        </p:nvSpPr>
        <p:spPr>
          <a:xfrm>
            <a:off x="10021252" y="24955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13" name="Rectangle 112"/>
          <p:cNvSpPr/>
          <p:nvPr/>
        </p:nvSpPr>
        <p:spPr>
          <a:xfrm>
            <a:off x="10296525"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TextBox 113"/>
          <p:cNvSpPr txBox="1"/>
          <p:nvPr/>
        </p:nvSpPr>
        <p:spPr>
          <a:xfrm>
            <a:off x="10562272" y="24955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15" name="TextBox 114"/>
          <p:cNvSpPr txBox="1"/>
          <p:nvPr/>
        </p:nvSpPr>
        <p:spPr>
          <a:xfrm>
            <a:off x="10849928" y="24955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16" name="Rectangle 115"/>
          <p:cNvSpPr/>
          <p:nvPr/>
        </p:nvSpPr>
        <p:spPr>
          <a:xfrm>
            <a:off x="11125200"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TextBox 116"/>
          <p:cNvSpPr txBox="1"/>
          <p:nvPr/>
        </p:nvSpPr>
        <p:spPr>
          <a:xfrm>
            <a:off x="11144250" y="24955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100%</a:t>
            </a:r>
          </a:p>
        </p:txBody>
      </p:sp>
      <p:sp>
        <p:nvSpPr>
          <p:cNvPr id="118" name="Rectangle 117"/>
          <p:cNvSpPr/>
          <p:nvPr/>
        </p:nvSpPr>
        <p:spPr>
          <a:xfrm>
            <a:off x="6191250" y="27241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TextBox 118"/>
          <p:cNvSpPr txBox="1"/>
          <p:nvPr/>
        </p:nvSpPr>
        <p:spPr>
          <a:xfrm>
            <a:off x="6248400" y="27241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Share change (pp)</a:t>
            </a:r>
          </a:p>
        </p:txBody>
      </p:sp>
      <p:sp>
        <p:nvSpPr>
          <p:cNvPr id="120" name="Rectangle 119"/>
          <p:cNvSpPr/>
          <p:nvPr/>
        </p:nvSpPr>
        <p:spPr>
          <a:xfrm>
            <a:off x="7810500"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7975282" y="2724150"/>
            <a:ext cx="133350" cy="228600"/>
          </a:xfrm>
          <a:prstGeom prst="rect">
            <a:avLst/>
          </a:prstGeom>
          <a:noFill/>
        </p:spPr>
        <p:txBody>
          <a:bodyPr wrap="none" lIns="0" rIns="0" tIns="0" bIns="0" anchor="ctr">
            <a:spAutoFit/>
          </a:bodyPr>
          <a:lstStyle/>
          <a:p>
            <a:pPr algn="r"/>
            <a:r>
              <a:rPr sz="1100" b="0">
                <a:solidFill>
                  <a:srgbClr val="14213D"/>
                </a:solidFill>
                <a:latin typeface="Calibri"/>
              </a:rPr>
              <a:t>+</a:t>
            </a:r>
          </a:p>
        </p:txBody>
      </p:sp>
      <p:sp>
        <p:nvSpPr>
          <p:cNvPr id="122" name="TextBox 121"/>
          <p:cNvSpPr txBox="1"/>
          <p:nvPr/>
        </p:nvSpPr>
        <p:spPr>
          <a:xfrm>
            <a:off x="8108632" y="27241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23" name="Rectangle 122"/>
          <p:cNvSpPr/>
          <p:nvPr/>
        </p:nvSpPr>
        <p:spPr>
          <a:xfrm>
            <a:off x="8639175"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TextBox 123"/>
          <p:cNvSpPr txBox="1"/>
          <p:nvPr/>
        </p:nvSpPr>
        <p:spPr>
          <a:xfrm>
            <a:off x="8803958" y="2724150"/>
            <a:ext cx="133350" cy="228600"/>
          </a:xfrm>
          <a:prstGeom prst="rect">
            <a:avLst/>
          </a:prstGeom>
          <a:noFill/>
        </p:spPr>
        <p:txBody>
          <a:bodyPr wrap="none" lIns="0" rIns="0" tIns="0" bIns="0" anchor="ctr">
            <a:spAutoFit/>
          </a:bodyPr>
          <a:lstStyle/>
          <a:p>
            <a:pPr algn="r"/>
            <a:r>
              <a:rPr sz="1100" b="0">
                <a:solidFill>
                  <a:srgbClr val="14213D"/>
                </a:solidFill>
                <a:latin typeface="Calibri"/>
              </a:rPr>
              <a:t>+</a:t>
            </a:r>
          </a:p>
        </p:txBody>
      </p:sp>
      <p:sp>
        <p:nvSpPr>
          <p:cNvPr id="125" name="TextBox 124"/>
          <p:cNvSpPr txBox="1"/>
          <p:nvPr/>
        </p:nvSpPr>
        <p:spPr>
          <a:xfrm>
            <a:off x="8937308" y="27241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26" name="Rectangle 125"/>
          <p:cNvSpPr/>
          <p:nvPr/>
        </p:nvSpPr>
        <p:spPr>
          <a:xfrm>
            <a:off x="9467850"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TextBox 126"/>
          <p:cNvSpPr txBox="1"/>
          <p:nvPr/>
        </p:nvSpPr>
        <p:spPr>
          <a:xfrm>
            <a:off x="9632632" y="2724150"/>
            <a:ext cx="133350" cy="228600"/>
          </a:xfrm>
          <a:prstGeom prst="rect">
            <a:avLst/>
          </a:prstGeom>
          <a:noFill/>
        </p:spPr>
        <p:txBody>
          <a:bodyPr wrap="none" lIns="0" rIns="0" tIns="0" bIns="0" anchor="ctr">
            <a:spAutoFit/>
          </a:bodyPr>
          <a:lstStyle/>
          <a:p>
            <a:pPr algn="r"/>
            <a:r>
              <a:rPr sz="1100" b="0">
                <a:solidFill>
                  <a:srgbClr val="14213D"/>
                </a:solidFill>
                <a:latin typeface="Calibri"/>
              </a:rPr>
              <a:t>+</a:t>
            </a:r>
          </a:p>
        </p:txBody>
      </p:sp>
      <p:sp>
        <p:nvSpPr>
          <p:cNvPr id="128" name="TextBox 127"/>
          <p:cNvSpPr txBox="1"/>
          <p:nvPr/>
        </p:nvSpPr>
        <p:spPr>
          <a:xfrm>
            <a:off x="9765982" y="27241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29" name="Rectangle 128"/>
          <p:cNvSpPr/>
          <p:nvPr/>
        </p:nvSpPr>
        <p:spPr>
          <a:xfrm>
            <a:off x="10296525"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TextBox 129"/>
          <p:cNvSpPr txBox="1"/>
          <p:nvPr/>
        </p:nvSpPr>
        <p:spPr>
          <a:xfrm>
            <a:off x="10461308" y="2724150"/>
            <a:ext cx="133350" cy="228600"/>
          </a:xfrm>
          <a:prstGeom prst="rect">
            <a:avLst/>
          </a:prstGeom>
          <a:noFill/>
        </p:spPr>
        <p:txBody>
          <a:bodyPr wrap="none" lIns="0" rIns="0" tIns="0" bIns="0" anchor="ctr">
            <a:spAutoFit/>
          </a:bodyPr>
          <a:lstStyle/>
          <a:p>
            <a:pPr algn="r"/>
            <a:r>
              <a:rPr sz="1100" b="0">
                <a:solidFill>
                  <a:srgbClr val="14213D"/>
                </a:solidFill>
                <a:latin typeface="Calibri"/>
              </a:rPr>
              <a:t>−</a:t>
            </a:r>
          </a:p>
        </p:txBody>
      </p:sp>
      <p:sp>
        <p:nvSpPr>
          <p:cNvPr id="131" name="TextBox 130"/>
          <p:cNvSpPr txBox="1"/>
          <p:nvPr/>
        </p:nvSpPr>
        <p:spPr>
          <a:xfrm>
            <a:off x="10594658" y="27241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32" name="Rectangle 131"/>
          <p:cNvSpPr/>
          <p:nvPr/>
        </p:nvSpPr>
        <p:spPr>
          <a:xfrm>
            <a:off x="11125200"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TextBox 132"/>
          <p:cNvSpPr txBox="1"/>
          <p:nvPr/>
        </p:nvSpPr>
        <p:spPr>
          <a:xfrm>
            <a:off x="11144250" y="27241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a:t>
            </a:r>
          </a:p>
        </p:txBody>
      </p:sp>
      <p:sp>
        <p:nvSpPr>
          <p:cNvPr id="134" name="Rectangle 133"/>
          <p:cNvSpPr/>
          <p:nvPr/>
        </p:nvSpPr>
        <p:spPr>
          <a:xfrm>
            <a:off x="6191250" y="29527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TextBox 134"/>
          <p:cNvSpPr txBox="1"/>
          <p:nvPr/>
        </p:nvSpPr>
        <p:spPr>
          <a:xfrm>
            <a:off x="6248400" y="29527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CAGR 2026–2036</a:t>
            </a:r>
          </a:p>
        </p:txBody>
      </p:sp>
      <p:sp>
        <p:nvSpPr>
          <p:cNvPr id="136" name="Rectangle 135"/>
          <p:cNvSpPr/>
          <p:nvPr/>
        </p:nvSpPr>
        <p:spPr>
          <a:xfrm>
            <a:off x="7810500"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8108632" y="29527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38" name="TextBox 137"/>
          <p:cNvSpPr txBox="1"/>
          <p:nvPr/>
        </p:nvSpPr>
        <p:spPr>
          <a:xfrm>
            <a:off x="8331518" y="29527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39" name="Rectangle 138"/>
          <p:cNvSpPr/>
          <p:nvPr/>
        </p:nvSpPr>
        <p:spPr>
          <a:xfrm>
            <a:off x="8639175"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TextBox 139"/>
          <p:cNvSpPr txBox="1"/>
          <p:nvPr/>
        </p:nvSpPr>
        <p:spPr>
          <a:xfrm>
            <a:off x="8937308" y="29527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41" name="TextBox 140"/>
          <p:cNvSpPr txBox="1"/>
          <p:nvPr/>
        </p:nvSpPr>
        <p:spPr>
          <a:xfrm>
            <a:off x="9160192" y="29527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42" name="Rectangle 141"/>
          <p:cNvSpPr/>
          <p:nvPr/>
        </p:nvSpPr>
        <p:spPr>
          <a:xfrm>
            <a:off x="9467850"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TextBox 142"/>
          <p:cNvSpPr txBox="1"/>
          <p:nvPr/>
        </p:nvSpPr>
        <p:spPr>
          <a:xfrm>
            <a:off x="9765982" y="29527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44" name="TextBox 143"/>
          <p:cNvSpPr txBox="1"/>
          <p:nvPr/>
        </p:nvSpPr>
        <p:spPr>
          <a:xfrm>
            <a:off x="9988868" y="29527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45" name="Rectangle 144"/>
          <p:cNvSpPr/>
          <p:nvPr/>
        </p:nvSpPr>
        <p:spPr>
          <a:xfrm>
            <a:off x="10296525"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TextBox 145"/>
          <p:cNvSpPr txBox="1"/>
          <p:nvPr/>
        </p:nvSpPr>
        <p:spPr>
          <a:xfrm>
            <a:off x="10594658" y="29527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47" name="TextBox 146"/>
          <p:cNvSpPr txBox="1"/>
          <p:nvPr/>
        </p:nvSpPr>
        <p:spPr>
          <a:xfrm>
            <a:off x="10817542" y="29527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48" name="Rectangle 147"/>
          <p:cNvSpPr/>
          <p:nvPr/>
        </p:nvSpPr>
        <p:spPr>
          <a:xfrm>
            <a:off x="11125200"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TextBox 148"/>
          <p:cNvSpPr txBox="1"/>
          <p:nvPr/>
        </p:nvSpPr>
        <p:spPr>
          <a:xfrm>
            <a:off x="11423332" y="2952750"/>
            <a:ext cx="232410" cy="228600"/>
          </a:xfrm>
          <a:prstGeom prst="rect">
            <a:avLst/>
          </a:prstGeom>
          <a:noFill/>
        </p:spPr>
        <p:txBody>
          <a:bodyPr wrap="none" lIns="0" rIns="0" tIns="0" bIns="0" anchor="ctr">
            <a:spAutoFit/>
          </a:bodyPr>
          <a:lstStyle/>
          <a:p>
            <a:pPr algn="ctr"/>
            <a:r>
              <a:rPr sz="1100" b="1">
                <a:solidFill>
                  <a:srgbClr val="14213D"/>
                </a:solidFill>
                <a:latin typeface="Calibri"/>
              </a:rPr>
              <a:t> </a:t>
            </a:r>
          </a:p>
        </p:txBody>
      </p:sp>
      <p:sp>
        <p:nvSpPr>
          <p:cNvPr id="150" name="TextBox 149"/>
          <p:cNvSpPr txBox="1"/>
          <p:nvPr/>
        </p:nvSpPr>
        <p:spPr>
          <a:xfrm>
            <a:off x="11646218" y="2952750"/>
            <a:ext cx="133350" cy="228600"/>
          </a:xfrm>
          <a:prstGeom prst="rect">
            <a:avLst/>
          </a:prstGeom>
          <a:noFill/>
        </p:spPr>
        <p:txBody>
          <a:bodyPr wrap="none" lIns="0" rIns="0" tIns="0" bIns="0" anchor="ctr">
            <a:spAutoFit/>
          </a:bodyPr>
          <a:lstStyle/>
          <a:p>
            <a:pPr algn="l"/>
            <a:r>
              <a:rPr sz="1100" b="1">
                <a:solidFill>
                  <a:srgbClr val="14213D"/>
                </a:solidFill>
                <a:latin typeface="Calibri"/>
              </a:rPr>
              <a:t>%</a:t>
            </a:r>
          </a:p>
        </p:txBody>
      </p:sp>
      <p:sp>
        <p:nvSpPr>
          <p:cNvPr id="151" name="Rectangle 150"/>
          <p:cNvSpPr/>
          <p:nvPr/>
        </p:nvSpPr>
        <p:spPr>
          <a:xfrm>
            <a:off x="6191250" y="31813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TextBox 151"/>
          <p:cNvSpPr txBox="1"/>
          <p:nvPr/>
        </p:nvSpPr>
        <p:spPr>
          <a:xfrm>
            <a:off x="6248400" y="31813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Avg / player (US$ Mn)</a:t>
            </a:r>
          </a:p>
        </p:txBody>
      </p:sp>
      <p:sp>
        <p:nvSpPr>
          <p:cNvPr id="153" name="Rectangle 152"/>
          <p:cNvSpPr/>
          <p:nvPr/>
        </p:nvSpPr>
        <p:spPr>
          <a:xfrm>
            <a:off x="7810500"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TextBox 153"/>
          <p:cNvSpPr txBox="1"/>
          <p:nvPr/>
        </p:nvSpPr>
        <p:spPr>
          <a:xfrm>
            <a:off x="7829550" y="3181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155" name="Rectangle 154"/>
          <p:cNvSpPr/>
          <p:nvPr/>
        </p:nvSpPr>
        <p:spPr>
          <a:xfrm>
            <a:off x="8639175"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TextBox 155"/>
          <p:cNvSpPr txBox="1"/>
          <p:nvPr/>
        </p:nvSpPr>
        <p:spPr>
          <a:xfrm>
            <a:off x="8658225" y="3181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157" name="Rectangle 156"/>
          <p:cNvSpPr/>
          <p:nvPr/>
        </p:nvSpPr>
        <p:spPr>
          <a:xfrm>
            <a:off x="9467850"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TextBox 157"/>
          <p:cNvSpPr txBox="1"/>
          <p:nvPr/>
        </p:nvSpPr>
        <p:spPr>
          <a:xfrm>
            <a:off x="9486900" y="3181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159" name="Rectangle 158"/>
          <p:cNvSpPr/>
          <p:nvPr/>
        </p:nvSpPr>
        <p:spPr>
          <a:xfrm>
            <a:off x="10296525"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TextBox 159"/>
          <p:cNvSpPr txBox="1"/>
          <p:nvPr/>
        </p:nvSpPr>
        <p:spPr>
          <a:xfrm>
            <a:off x="10315575" y="3181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a:t>
            </a:r>
          </a:p>
        </p:txBody>
      </p:sp>
      <p:sp>
        <p:nvSpPr>
          <p:cNvPr id="161" name="Rectangle 160"/>
          <p:cNvSpPr/>
          <p:nvPr/>
        </p:nvSpPr>
        <p:spPr>
          <a:xfrm>
            <a:off x="11125200"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TextBox 161"/>
          <p:cNvSpPr txBox="1"/>
          <p:nvPr/>
        </p:nvSpPr>
        <p:spPr>
          <a:xfrm>
            <a:off x="11144250" y="31813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a:t>
            </a:r>
          </a:p>
        </p:txBody>
      </p:sp>
      <p:sp>
        <p:nvSpPr>
          <p:cNvPr id="163" name="Rectangle 162"/>
          <p:cNvSpPr/>
          <p:nvPr/>
        </p:nvSpPr>
        <p:spPr>
          <a:xfrm>
            <a:off x="6191250" y="340995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TextBox 163"/>
          <p:cNvSpPr txBox="1"/>
          <p:nvPr/>
        </p:nvSpPr>
        <p:spPr>
          <a:xfrm>
            <a:off x="6248400" y="340995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Installed base share (units)</a:t>
            </a:r>
          </a:p>
        </p:txBody>
      </p:sp>
      <p:sp>
        <p:nvSpPr>
          <p:cNvPr id="165" name="Rectangle 164"/>
          <p:cNvSpPr/>
          <p:nvPr/>
        </p:nvSpPr>
        <p:spPr>
          <a:xfrm>
            <a:off x="7810500"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TextBox 165"/>
          <p:cNvSpPr txBox="1"/>
          <p:nvPr/>
        </p:nvSpPr>
        <p:spPr>
          <a:xfrm>
            <a:off x="8076248" y="3409950"/>
            <a:ext cx="297180" cy="32385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67" name="TextBox 166"/>
          <p:cNvSpPr txBox="1"/>
          <p:nvPr/>
        </p:nvSpPr>
        <p:spPr>
          <a:xfrm>
            <a:off x="8363902" y="3409950"/>
            <a:ext cx="133350" cy="32385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68" name="Rectangle 167"/>
          <p:cNvSpPr/>
          <p:nvPr/>
        </p:nvSpPr>
        <p:spPr>
          <a:xfrm>
            <a:off x="8639175"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8904922" y="3409950"/>
            <a:ext cx="297180" cy="32385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70" name="TextBox 169"/>
          <p:cNvSpPr txBox="1"/>
          <p:nvPr/>
        </p:nvSpPr>
        <p:spPr>
          <a:xfrm>
            <a:off x="9192578" y="3409950"/>
            <a:ext cx="133350" cy="32385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71" name="Rectangle 170"/>
          <p:cNvSpPr/>
          <p:nvPr/>
        </p:nvSpPr>
        <p:spPr>
          <a:xfrm>
            <a:off x="9467850"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TextBox 171"/>
          <p:cNvSpPr txBox="1"/>
          <p:nvPr/>
        </p:nvSpPr>
        <p:spPr>
          <a:xfrm>
            <a:off x="9733598" y="3409950"/>
            <a:ext cx="297180" cy="32385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73" name="TextBox 172"/>
          <p:cNvSpPr txBox="1"/>
          <p:nvPr/>
        </p:nvSpPr>
        <p:spPr>
          <a:xfrm>
            <a:off x="10021252" y="3409950"/>
            <a:ext cx="133350" cy="32385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74" name="Rectangle 173"/>
          <p:cNvSpPr/>
          <p:nvPr/>
        </p:nvSpPr>
        <p:spPr>
          <a:xfrm>
            <a:off x="10296525"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TextBox 174"/>
          <p:cNvSpPr txBox="1"/>
          <p:nvPr/>
        </p:nvSpPr>
        <p:spPr>
          <a:xfrm>
            <a:off x="10562272" y="3409950"/>
            <a:ext cx="297180" cy="32385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76" name="TextBox 175"/>
          <p:cNvSpPr txBox="1"/>
          <p:nvPr/>
        </p:nvSpPr>
        <p:spPr>
          <a:xfrm>
            <a:off x="10849928" y="3409950"/>
            <a:ext cx="133350" cy="32385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77" name="Rectangle 176"/>
          <p:cNvSpPr/>
          <p:nvPr/>
        </p:nvSpPr>
        <p:spPr>
          <a:xfrm>
            <a:off x="11125200"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TextBox 177"/>
          <p:cNvSpPr txBox="1"/>
          <p:nvPr/>
        </p:nvSpPr>
        <p:spPr>
          <a:xfrm>
            <a:off x="11144250" y="3409950"/>
            <a:ext cx="790575" cy="323850"/>
          </a:xfrm>
          <a:prstGeom prst="rect">
            <a:avLst/>
          </a:prstGeom>
          <a:noFill/>
        </p:spPr>
        <p:txBody>
          <a:bodyPr wrap="square" lIns="28575" rIns="28575" tIns="9525" bIns="9525" anchor="ctr">
            <a:spAutoFit/>
          </a:bodyPr>
          <a:lstStyle/>
          <a:p>
            <a:pPr algn="ctr"/>
            <a:r>
              <a:rPr sz="1100" b="1">
                <a:solidFill>
                  <a:srgbClr val="14213D"/>
                </a:solidFill>
                <a:latin typeface="Calibri"/>
              </a:rPr>
              <a:t>100%</a:t>
            </a:r>
          </a:p>
        </p:txBody>
      </p:sp>
      <p:sp>
        <p:nvSpPr>
          <p:cNvPr id="179" name="Rectangle 178"/>
          <p:cNvSpPr/>
          <p:nvPr/>
        </p:nvSpPr>
        <p:spPr>
          <a:xfrm>
            <a:off x="6191250" y="373380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TextBox 179"/>
          <p:cNvSpPr txBox="1"/>
          <p:nvPr/>
        </p:nvSpPr>
        <p:spPr>
          <a:xfrm>
            <a:off x="6248400" y="373380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Price positioning</a:t>
            </a:r>
          </a:p>
        </p:txBody>
      </p:sp>
      <p:sp>
        <p:nvSpPr>
          <p:cNvPr id="181" name="Rectangle 180"/>
          <p:cNvSpPr/>
          <p:nvPr/>
        </p:nvSpPr>
        <p:spPr>
          <a:xfrm>
            <a:off x="7810500"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TextBox 181"/>
          <p:cNvSpPr txBox="1"/>
          <p:nvPr/>
        </p:nvSpPr>
        <p:spPr>
          <a:xfrm>
            <a:off x="7829550" y="37338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Premium</a:t>
            </a:r>
          </a:p>
        </p:txBody>
      </p:sp>
      <p:sp>
        <p:nvSpPr>
          <p:cNvPr id="183" name="Rectangle 182"/>
          <p:cNvSpPr/>
          <p:nvPr/>
        </p:nvSpPr>
        <p:spPr>
          <a:xfrm>
            <a:off x="8639175"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TextBox 183"/>
          <p:cNvSpPr txBox="1"/>
          <p:nvPr/>
        </p:nvSpPr>
        <p:spPr>
          <a:xfrm>
            <a:off x="8658225" y="37338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Mid / value</a:t>
            </a:r>
          </a:p>
        </p:txBody>
      </p:sp>
      <p:sp>
        <p:nvSpPr>
          <p:cNvPr id="185" name="Rectangle 184"/>
          <p:cNvSpPr/>
          <p:nvPr/>
        </p:nvSpPr>
        <p:spPr>
          <a:xfrm>
            <a:off x="9467850"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TextBox 185"/>
          <p:cNvSpPr txBox="1"/>
          <p:nvPr/>
        </p:nvSpPr>
        <p:spPr>
          <a:xfrm>
            <a:off x="9486900" y="37338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Value / entry</a:t>
            </a:r>
          </a:p>
        </p:txBody>
      </p:sp>
      <p:sp>
        <p:nvSpPr>
          <p:cNvPr id="187" name="Rectangle 186"/>
          <p:cNvSpPr/>
          <p:nvPr/>
        </p:nvSpPr>
        <p:spPr>
          <a:xfrm>
            <a:off x="10296525"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TextBox 187"/>
          <p:cNvSpPr txBox="1"/>
          <p:nvPr/>
        </p:nvSpPr>
        <p:spPr>
          <a:xfrm>
            <a:off x="10315575" y="37338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Mixed</a:t>
            </a:r>
          </a:p>
        </p:txBody>
      </p:sp>
      <p:sp>
        <p:nvSpPr>
          <p:cNvPr id="189" name="Rectangle 188"/>
          <p:cNvSpPr/>
          <p:nvPr/>
        </p:nvSpPr>
        <p:spPr>
          <a:xfrm>
            <a:off x="11125200"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TextBox 189"/>
          <p:cNvSpPr txBox="1"/>
          <p:nvPr/>
        </p:nvSpPr>
        <p:spPr>
          <a:xfrm>
            <a:off x="11144250" y="373380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a:t>
            </a:r>
          </a:p>
        </p:txBody>
      </p:sp>
      <p:sp>
        <p:nvSpPr>
          <p:cNvPr id="191" name="Rectangle 190"/>
          <p:cNvSpPr/>
          <p:nvPr/>
        </p:nvSpPr>
        <p:spPr>
          <a:xfrm>
            <a:off x="6191250" y="405765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TextBox 191"/>
          <p:cNvSpPr txBox="1"/>
          <p:nvPr/>
        </p:nvSpPr>
        <p:spPr>
          <a:xfrm>
            <a:off x="6248400" y="405765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Route-to-market</a:t>
            </a:r>
          </a:p>
        </p:txBody>
      </p:sp>
      <p:sp>
        <p:nvSpPr>
          <p:cNvPr id="193" name="Rectangle 192"/>
          <p:cNvSpPr/>
          <p:nvPr/>
        </p:nvSpPr>
        <p:spPr>
          <a:xfrm>
            <a:off x="7810500"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TextBox 193"/>
          <p:cNvSpPr txBox="1"/>
          <p:nvPr/>
        </p:nvSpPr>
        <p:spPr>
          <a:xfrm>
            <a:off x="7829550" y="405765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Direct / key accounts</a:t>
            </a:r>
          </a:p>
        </p:txBody>
      </p:sp>
      <p:sp>
        <p:nvSpPr>
          <p:cNvPr id="195" name="Rectangle 194"/>
          <p:cNvSpPr/>
          <p:nvPr/>
        </p:nvSpPr>
        <p:spPr>
          <a:xfrm>
            <a:off x="8639175"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TextBox 195"/>
          <p:cNvSpPr txBox="1"/>
          <p:nvPr/>
        </p:nvSpPr>
        <p:spPr>
          <a:xfrm>
            <a:off x="8658225" y="405765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Distributors</a:t>
            </a:r>
          </a:p>
        </p:txBody>
      </p:sp>
      <p:sp>
        <p:nvSpPr>
          <p:cNvPr id="197" name="Rectangle 196"/>
          <p:cNvSpPr/>
          <p:nvPr/>
        </p:nvSpPr>
        <p:spPr>
          <a:xfrm>
            <a:off x="9467850"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TextBox 197"/>
          <p:cNvSpPr txBox="1"/>
          <p:nvPr/>
        </p:nvSpPr>
        <p:spPr>
          <a:xfrm>
            <a:off x="9486900" y="405765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Regional partners</a:t>
            </a:r>
          </a:p>
        </p:txBody>
      </p:sp>
      <p:sp>
        <p:nvSpPr>
          <p:cNvPr id="199" name="Rectangle 198"/>
          <p:cNvSpPr/>
          <p:nvPr/>
        </p:nvSpPr>
        <p:spPr>
          <a:xfrm>
            <a:off x="10296525"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TextBox 199"/>
          <p:cNvSpPr txBox="1"/>
          <p:nvPr/>
        </p:nvSpPr>
        <p:spPr>
          <a:xfrm>
            <a:off x="10315575" y="405765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Local / online</a:t>
            </a:r>
          </a:p>
        </p:txBody>
      </p:sp>
      <p:sp>
        <p:nvSpPr>
          <p:cNvPr id="201" name="Rectangle 200"/>
          <p:cNvSpPr/>
          <p:nvPr/>
        </p:nvSpPr>
        <p:spPr>
          <a:xfrm>
            <a:off x="11125200"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TextBox 201"/>
          <p:cNvSpPr txBox="1"/>
          <p:nvPr/>
        </p:nvSpPr>
        <p:spPr>
          <a:xfrm>
            <a:off x="11144250" y="40576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a:t>
            </a:r>
          </a:p>
        </p:txBody>
      </p:sp>
      <p:sp>
        <p:nvSpPr>
          <p:cNvPr id="203" name="Rectangle 202"/>
          <p:cNvSpPr/>
          <p:nvPr/>
        </p:nvSpPr>
        <p:spPr>
          <a:xfrm>
            <a:off x="6191250" y="438150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4" name="TextBox 203"/>
          <p:cNvSpPr txBox="1"/>
          <p:nvPr/>
        </p:nvSpPr>
        <p:spPr>
          <a:xfrm>
            <a:off x="6248400" y="438150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Portfolio breadth</a:t>
            </a:r>
          </a:p>
        </p:txBody>
      </p:sp>
      <p:sp>
        <p:nvSpPr>
          <p:cNvPr id="205" name="Rectangle 204"/>
          <p:cNvSpPr/>
          <p:nvPr/>
        </p:nvSpPr>
        <p:spPr>
          <a:xfrm>
            <a:off x="7810500"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TextBox 205"/>
          <p:cNvSpPr txBox="1"/>
          <p:nvPr/>
        </p:nvSpPr>
        <p:spPr>
          <a:xfrm>
            <a:off x="7829550" y="43815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Full portfolio</a:t>
            </a:r>
          </a:p>
        </p:txBody>
      </p:sp>
      <p:sp>
        <p:nvSpPr>
          <p:cNvPr id="207" name="Rectangle 206"/>
          <p:cNvSpPr/>
          <p:nvPr/>
        </p:nvSpPr>
        <p:spPr>
          <a:xfrm>
            <a:off x="8639175"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TextBox 207"/>
          <p:cNvSpPr txBox="1"/>
          <p:nvPr/>
        </p:nvSpPr>
        <p:spPr>
          <a:xfrm>
            <a:off x="8658225" y="43815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2–3 core lines</a:t>
            </a:r>
          </a:p>
        </p:txBody>
      </p:sp>
      <p:sp>
        <p:nvSpPr>
          <p:cNvPr id="209" name="Rectangle 208"/>
          <p:cNvSpPr/>
          <p:nvPr/>
        </p:nvSpPr>
        <p:spPr>
          <a:xfrm>
            <a:off x="9467850"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TextBox 209"/>
          <p:cNvSpPr txBox="1"/>
          <p:nvPr/>
        </p:nvSpPr>
        <p:spPr>
          <a:xfrm>
            <a:off x="9486900" y="43815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Single line</a:t>
            </a:r>
          </a:p>
        </p:txBody>
      </p:sp>
      <p:sp>
        <p:nvSpPr>
          <p:cNvPr id="211" name="Rectangle 210"/>
          <p:cNvSpPr/>
          <p:nvPr/>
        </p:nvSpPr>
        <p:spPr>
          <a:xfrm>
            <a:off x="10296525"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TextBox 211"/>
          <p:cNvSpPr txBox="1"/>
          <p:nvPr/>
        </p:nvSpPr>
        <p:spPr>
          <a:xfrm>
            <a:off x="10315575" y="43815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Niche</a:t>
            </a:r>
          </a:p>
        </p:txBody>
      </p:sp>
      <p:sp>
        <p:nvSpPr>
          <p:cNvPr id="213" name="Rectangle 212"/>
          <p:cNvSpPr/>
          <p:nvPr/>
        </p:nvSpPr>
        <p:spPr>
          <a:xfrm>
            <a:off x="11125200"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TextBox 213"/>
          <p:cNvSpPr txBox="1"/>
          <p:nvPr/>
        </p:nvSpPr>
        <p:spPr>
          <a:xfrm>
            <a:off x="11144250" y="438150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a:t>
            </a:r>
          </a:p>
        </p:txBody>
      </p:sp>
      <p:sp>
        <p:nvSpPr>
          <p:cNvPr id="215" name="Rectangle 214"/>
          <p:cNvSpPr/>
          <p:nvPr/>
        </p:nvSpPr>
        <p:spPr>
          <a:xfrm>
            <a:off x="6191250" y="470535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TextBox 215"/>
          <p:cNvSpPr txBox="1"/>
          <p:nvPr/>
        </p:nvSpPr>
        <p:spPr>
          <a:xfrm>
            <a:off x="6248400" y="470535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Strategic posture</a:t>
            </a:r>
          </a:p>
        </p:txBody>
      </p:sp>
      <p:sp>
        <p:nvSpPr>
          <p:cNvPr id="217" name="Rectangle 216"/>
          <p:cNvSpPr/>
          <p:nvPr/>
        </p:nvSpPr>
        <p:spPr>
          <a:xfrm>
            <a:off x="7810500" y="4705350"/>
            <a:ext cx="828675" cy="323850"/>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TextBox 217"/>
          <p:cNvSpPr txBox="1"/>
          <p:nvPr/>
        </p:nvSpPr>
        <p:spPr>
          <a:xfrm>
            <a:off x="7829550"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Defend &amp; bundle</a:t>
            </a:r>
          </a:p>
        </p:txBody>
      </p:sp>
      <p:sp>
        <p:nvSpPr>
          <p:cNvPr id="219" name="Rectangle 218"/>
          <p:cNvSpPr/>
          <p:nvPr/>
        </p:nvSpPr>
        <p:spPr>
          <a:xfrm>
            <a:off x="8639175" y="4705350"/>
            <a:ext cx="828675" cy="323850"/>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TextBox 219"/>
          <p:cNvSpPr txBox="1"/>
          <p:nvPr/>
        </p:nvSpPr>
        <p:spPr>
          <a:xfrm>
            <a:off x="8658225"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Niche deepening</a:t>
            </a:r>
          </a:p>
        </p:txBody>
      </p:sp>
      <p:sp>
        <p:nvSpPr>
          <p:cNvPr id="221" name="Rectangle 220"/>
          <p:cNvSpPr/>
          <p:nvPr/>
        </p:nvSpPr>
        <p:spPr>
          <a:xfrm>
            <a:off x="9467850" y="4705350"/>
            <a:ext cx="828675" cy="323850"/>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TextBox 221"/>
          <p:cNvSpPr txBox="1"/>
          <p:nvPr/>
        </p:nvSpPr>
        <p:spPr>
          <a:xfrm>
            <a:off x="9486900"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Scale-up or exit</a:t>
            </a:r>
          </a:p>
        </p:txBody>
      </p:sp>
      <p:sp>
        <p:nvSpPr>
          <p:cNvPr id="223" name="Rectangle 222"/>
          <p:cNvSpPr/>
          <p:nvPr/>
        </p:nvSpPr>
        <p:spPr>
          <a:xfrm>
            <a:off x="10296525" y="4705350"/>
            <a:ext cx="828675" cy="323850"/>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TextBox 223"/>
          <p:cNvSpPr txBox="1"/>
          <p:nvPr/>
        </p:nvSpPr>
        <p:spPr>
          <a:xfrm>
            <a:off x="10315575"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Long-tail</a:t>
            </a:r>
          </a:p>
        </p:txBody>
      </p:sp>
      <p:sp>
        <p:nvSpPr>
          <p:cNvPr id="225" name="Rectangle 224"/>
          <p:cNvSpPr/>
          <p:nvPr/>
        </p:nvSpPr>
        <p:spPr>
          <a:xfrm>
            <a:off x="11125200" y="47053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TextBox 225"/>
          <p:cNvSpPr txBox="1"/>
          <p:nvPr/>
        </p:nvSpPr>
        <p:spPr>
          <a:xfrm>
            <a:off x="11144250"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a:t>
            </a:r>
          </a:p>
        </p:txBody>
      </p:sp>
      <p:sp>
        <p:nvSpPr>
          <p:cNvPr id="227" name="Rounded Rectangle 226"/>
          <p:cNvSpPr/>
          <p:nvPr/>
        </p:nvSpPr>
        <p:spPr>
          <a:xfrm>
            <a:off x="6096000" y="5162550"/>
            <a:ext cx="5953125" cy="1466850"/>
          </a:xfrm>
          <a:prstGeom prst="roundRect">
            <a:avLst>
              <a:gd name="adj" fmla="val 12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TextBox 227"/>
          <p:cNvSpPr txBox="1"/>
          <p:nvPr/>
        </p:nvSpPr>
        <p:spPr>
          <a:xfrm>
            <a:off x="6191250" y="5219700"/>
            <a:ext cx="5762625" cy="209550"/>
          </a:xfrm>
          <a:prstGeom prst="rect">
            <a:avLst/>
          </a:prstGeom>
          <a:noFill/>
        </p:spPr>
        <p:txBody>
          <a:bodyPr wrap="square" lIns="28575" rIns="28575" tIns="9525" bIns="9525" anchor="ctr">
            <a:spAutoFit/>
          </a:bodyPr>
          <a:lstStyle/>
          <a:p>
            <a:pPr algn="l"/>
            <a:r>
              <a:rPr sz="1200" b="1">
                <a:solidFill>
                  <a:srgbClr val="2E2E2E"/>
                </a:solidFill>
                <a:latin typeface="Calibri"/>
              </a:rPr>
              <a:t>Key Takeaways</a:t>
            </a:r>
          </a:p>
        </p:txBody>
      </p:sp>
      <p:sp>
        <p:nvSpPr>
          <p:cNvPr id="229" name="TextBox 228"/>
          <p:cNvSpPr txBox="1"/>
          <p:nvPr/>
        </p:nvSpPr>
        <p:spPr>
          <a:xfrm>
            <a:off x="6210300" y="546735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230" name="TextBox 229"/>
          <p:cNvSpPr txBox="1"/>
          <p:nvPr/>
        </p:nvSpPr>
        <p:spPr>
          <a:xfrm>
            <a:off x="6343650" y="5467350"/>
            <a:ext cx="5591175" cy="533400"/>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
            </a:r>
          </a:p>
        </p:txBody>
      </p:sp>
      <p:sp>
        <p:nvSpPr>
          <p:cNvPr id="231" name="TextBox 230"/>
          <p:cNvSpPr txBox="1"/>
          <p:nvPr/>
        </p:nvSpPr>
        <p:spPr>
          <a:xfrm>
            <a:off x="6210300" y="584835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232" name="TextBox 231"/>
          <p:cNvSpPr txBox="1"/>
          <p:nvPr/>
        </p:nvSpPr>
        <p:spPr>
          <a:xfrm>
            <a:off x="6343650" y="5848350"/>
            <a:ext cx="5591175" cy="371475"/>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
            </a:r>
          </a:p>
        </p:txBody>
      </p:sp>
      <p:sp>
        <p:nvSpPr>
          <p:cNvPr id="233" name="TextBox 232"/>
          <p:cNvSpPr txBox="1"/>
          <p:nvPr/>
        </p:nvSpPr>
        <p:spPr>
          <a:xfrm>
            <a:off x="6210300" y="6067425"/>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234" name="TextBox 233"/>
          <p:cNvSpPr txBox="1"/>
          <p:nvPr/>
        </p:nvSpPr>
        <p:spPr>
          <a:xfrm>
            <a:off x="6343650" y="6067425"/>
            <a:ext cx="5591175" cy="533400"/>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
            </a:r>
          </a:p>
        </p:txBody>
      </p:sp>
      <p:sp>
        <p:nvSpPr>
          <p:cNvPr id="235" name="TextBox 23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6" name="Picture 235" descr="lock.png"/>
          <p:cNvPicPr>
            <a:picLocks noChangeAspect="1"/>
          </p:cNvPicPr>
          <p:nvPr/>
        </p:nvPicPr>
        <p:blipFill>
          <a:blip r:embed="rId4"/>
          <a:stretch>
            <a:fillRect/>
          </a:stretch>
        </p:blipFill>
        <p:spPr>
          <a:xfrm>
            <a:off x="1631100" y="1620901"/>
            <a:ext cx="128699" cy="187198"/>
          </a:xfrm>
          <a:prstGeom prst="rect">
            <a:avLst/>
          </a:prstGeom>
        </p:spPr>
      </p:pic>
      <p:pic>
        <p:nvPicPr>
          <p:cNvPr id="237" name="Picture 236" descr="lock.png"/>
          <p:cNvPicPr>
            <a:picLocks noChangeAspect="1"/>
          </p:cNvPicPr>
          <p:nvPr/>
        </p:nvPicPr>
        <p:blipFill>
          <a:blip r:embed="rId4"/>
          <a:stretch>
            <a:fillRect/>
          </a:stretch>
        </p:blipFill>
        <p:spPr>
          <a:xfrm>
            <a:off x="1631100" y="2478151"/>
            <a:ext cx="128699" cy="187198"/>
          </a:xfrm>
          <a:prstGeom prst="rect">
            <a:avLst/>
          </a:prstGeom>
        </p:spPr>
      </p:pic>
      <p:pic>
        <p:nvPicPr>
          <p:cNvPr id="238" name="Picture 237" descr="lock.png"/>
          <p:cNvPicPr>
            <a:picLocks noChangeAspect="1"/>
          </p:cNvPicPr>
          <p:nvPr/>
        </p:nvPicPr>
        <p:blipFill>
          <a:blip r:embed="rId4"/>
          <a:stretch>
            <a:fillRect/>
          </a:stretch>
        </p:blipFill>
        <p:spPr>
          <a:xfrm>
            <a:off x="1631100" y="3335401"/>
            <a:ext cx="128699" cy="187198"/>
          </a:xfrm>
          <a:prstGeom prst="rect">
            <a:avLst/>
          </a:prstGeom>
        </p:spPr>
      </p:pic>
      <p:pic>
        <p:nvPicPr>
          <p:cNvPr id="239" name="Picture 238" descr="lock.png"/>
          <p:cNvPicPr>
            <a:picLocks noChangeAspect="1"/>
          </p:cNvPicPr>
          <p:nvPr/>
        </p:nvPicPr>
        <p:blipFill>
          <a:blip r:embed="rId4"/>
          <a:stretch>
            <a:fillRect/>
          </a:stretch>
        </p:blipFill>
        <p:spPr>
          <a:xfrm>
            <a:off x="1631100" y="4192651"/>
            <a:ext cx="128699" cy="187198"/>
          </a:xfrm>
          <a:prstGeom prst="rect">
            <a:avLst/>
          </a:prstGeom>
        </p:spPr>
      </p:pic>
      <p:pic>
        <p:nvPicPr>
          <p:cNvPr id="240" name="Picture 239" descr="lock.png"/>
          <p:cNvPicPr>
            <a:picLocks noChangeAspect="1"/>
          </p:cNvPicPr>
          <p:nvPr/>
        </p:nvPicPr>
        <p:blipFill>
          <a:blip r:embed="rId4"/>
          <a:stretch>
            <a:fillRect/>
          </a:stretch>
        </p:blipFill>
        <p:spPr>
          <a:xfrm>
            <a:off x="11475188" y="1830451"/>
            <a:ext cx="128699" cy="187198"/>
          </a:xfrm>
          <a:prstGeom prst="rect">
            <a:avLst/>
          </a:prstGeom>
        </p:spPr>
      </p:pic>
      <p:pic>
        <p:nvPicPr>
          <p:cNvPr id="241" name="Picture 240" descr="lock.png"/>
          <p:cNvPicPr>
            <a:picLocks noChangeAspect="1"/>
          </p:cNvPicPr>
          <p:nvPr/>
        </p:nvPicPr>
        <p:blipFill>
          <a:blip r:embed="rId4"/>
          <a:stretch>
            <a:fillRect/>
          </a:stretch>
        </p:blipFill>
        <p:spPr>
          <a:xfrm>
            <a:off x="8160488" y="2059051"/>
            <a:ext cx="128699" cy="187198"/>
          </a:xfrm>
          <a:prstGeom prst="rect">
            <a:avLst/>
          </a:prstGeom>
        </p:spPr>
      </p:pic>
      <p:pic>
        <p:nvPicPr>
          <p:cNvPr id="242" name="Picture 241" descr="lock.png"/>
          <p:cNvPicPr>
            <a:picLocks noChangeAspect="1"/>
          </p:cNvPicPr>
          <p:nvPr/>
        </p:nvPicPr>
        <p:blipFill>
          <a:blip r:embed="rId4"/>
          <a:stretch>
            <a:fillRect/>
          </a:stretch>
        </p:blipFill>
        <p:spPr>
          <a:xfrm>
            <a:off x="8989163" y="2059051"/>
            <a:ext cx="128699" cy="187198"/>
          </a:xfrm>
          <a:prstGeom prst="rect">
            <a:avLst/>
          </a:prstGeom>
        </p:spPr>
      </p:pic>
      <p:pic>
        <p:nvPicPr>
          <p:cNvPr id="243" name="Picture 242" descr="lock.png"/>
          <p:cNvPicPr>
            <a:picLocks noChangeAspect="1"/>
          </p:cNvPicPr>
          <p:nvPr/>
        </p:nvPicPr>
        <p:blipFill>
          <a:blip r:embed="rId4"/>
          <a:stretch>
            <a:fillRect/>
          </a:stretch>
        </p:blipFill>
        <p:spPr>
          <a:xfrm>
            <a:off x="9817838" y="2059051"/>
            <a:ext cx="128699" cy="187198"/>
          </a:xfrm>
          <a:prstGeom prst="rect">
            <a:avLst/>
          </a:prstGeom>
        </p:spPr>
      </p:pic>
      <p:pic>
        <p:nvPicPr>
          <p:cNvPr id="244" name="Picture 243" descr="lock.png"/>
          <p:cNvPicPr>
            <a:picLocks noChangeAspect="1"/>
          </p:cNvPicPr>
          <p:nvPr/>
        </p:nvPicPr>
        <p:blipFill>
          <a:blip r:embed="rId4"/>
          <a:stretch>
            <a:fillRect/>
          </a:stretch>
        </p:blipFill>
        <p:spPr>
          <a:xfrm>
            <a:off x="10646513" y="2059051"/>
            <a:ext cx="128699" cy="187198"/>
          </a:xfrm>
          <a:prstGeom prst="rect">
            <a:avLst/>
          </a:prstGeom>
        </p:spPr>
      </p:pic>
      <p:pic>
        <p:nvPicPr>
          <p:cNvPr id="245" name="Picture 244" descr="lock.png"/>
          <p:cNvPicPr>
            <a:picLocks noChangeAspect="1"/>
          </p:cNvPicPr>
          <p:nvPr/>
        </p:nvPicPr>
        <p:blipFill>
          <a:blip r:embed="rId4"/>
          <a:stretch>
            <a:fillRect/>
          </a:stretch>
        </p:blipFill>
        <p:spPr>
          <a:xfrm>
            <a:off x="8160488" y="2287651"/>
            <a:ext cx="128699" cy="187198"/>
          </a:xfrm>
          <a:prstGeom prst="rect">
            <a:avLst/>
          </a:prstGeom>
        </p:spPr>
      </p:pic>
      <p:pic>
        <p:nvPicPr>
          <p:cNvPr id="246" name="Picture 245" descr="lock.png"/>
          <p:cNvPicPr>
            <a:picLocks noChangeAspect="1"/>
          </p:cNvPicPr>
          <p:nvPr/>
        </p:nvPicPr>
        <p:blipFill>
          <a:blip r:embed="rId4"/>
          <a:stretch>
            <a:fillRect/>
          </a:stretch>
        </p:blipFill>
        <p:spPr>
          <a:xfrm>
            <a:off x="8989162" y="2287651"/>
            <a:ext cx="128699" cy="187198"/>
          </a:xfrm>
          <a:prstGeom prst="rect">
            <a:avLst/>
          </a:prstGeom>
        </p:spPr>
      </p:pic>
      <p:pic>
        <p:nvPicPr>
          <p:cNvPr id="247" name="Picture 246" descr="lock.png"/>
          <p:cNvPicPr>
            <a:picLocks noChangeAspect="1"/>
          </p:cNvPicPr>
          <p:nvPr/>
        </p:nvPicPr>
        <p:blipFill>
          <a:blip r:embed="rId4"/>
          <a:stretch>
            <a:fillRect/>
          </a:stretch>
        </p:blipFill>
        <p:spPr>
          <a:xfrm>
            <a:off x="9817838" y="2287651"/>
            <a:ext cx="128699" cy="187198"/>
          </a:xfrm>
          <a:prstGeom prst="rect">
            <a:avLst/>
          </a:prstGeom>
        </p:spPr>
      </p:pic>
      <p:pic>
        <p:nvPicPr>
          <p:cNvPr id="248" name="Picture 247" descr="lock.png"/>
          <p:cNvPicPr>
            <a:picLocks noChangeAspect="1"/>
          </p:cNvPicPr>
          <p:nvPr/>
        </p:nvPicPr>
        <p:blipFill>
          <a:blip r:embed="rId4"/>
          <a:stretch>
            <a:fillRect/>
          </a:stretch>
        </p:blipFill>
        <p:spPr>
          <a:xfrm>
            <a:off x="10646512" y="2287651"/>
            <a:ext cx="128699" cy="187198"/>
          </a:xfrm>
          <a:prstGeom prst="rect">
            <a:avLst/>
          </a:prstGeom>
        </p:spPr>
      </p:pic>
      <p:pic>
        <p:nvPicPr>
          <p:cNvPr id="249" name="Picture 248" descr="lock.png"/>
          <p:cNvPicPr>
            <a:picLocks noChangeAspect="1"/>
          </p:cNvPicPr>
          <p:nvPr/>
        </p:nvPicPr>
        <p:blipFill>
          <a:blip r:embed="rId4"/>
          <a:stretch>
            <a:fillRect/>
          </a:stretch>
        </p:blipFill>
        <p:spPr>
          <a:xfrm>
            <a:off x="8160488" y="2516251"/>
            <a:ext cx="128699" cy="187198"/>
          </a:xfrm>
          <a:prstGeom prst="rect">
            <a:avLst/>
          </a:prstGeom>
        </p:spPr>
      </p:pic>
      <p:pic>
        <p:nvPicPr>
          <p:cNvPr id="250" name="Picture 249" descr="lock.png"/>
          <p:cNvPicPr>
            <a:picLocks noChangeAspect="1"/>
          </p:cNvPicPr>
          <p:nvPr/>
        </p:nvPicPr>
        <p:blipFill>
          <a:blip r:embed="rId4"/>
          <a:stretch>
            <a:fillRect/>
          </a:stretch>
        </p:blipFill>
        <p:spPr>
          <a:xfrm>
            <a:off x="8989162" y="2516251"/>
            <a:ext cx="128699" cy="187198"/>
          </a:xfrm>
          <a:prstGeom prst="rect">
            <a:avLst/>
          </a:prstGeom>
        </p:spPr>
      </p:pic>
      <p:pic>
        <p:nvPicPr>
          <p:cNvPr id="251" name="Picture 250" descr="lock.png"/>
          <p:cNvPicPr>
            <a:picLocks noChangeAspect="1"/>
          </p:cNvPicPr>
          <p:nvPr/>
        </p:nvPicPr>
        <p:blipFill>
          <a:blip r:embed="rId4"/>
          <a:stretch>
            <a:fillRect/>
          </a:stretch>
        </p:blipFill>
        <p:spPr>
          <a:xfrm>
            <a:off x="9817838" y="2516251"/>
            <a:ext cx="128699" cy="187198"/>
          </a:xfrm>
          <a:prstGeom prst="rect">
            <a:avLst/>
          </a:prstGeom>
        </p:spPr>
      </p:pic>
      <p:pic>
        <p:nvPicPr>
          <p:cNvPr id="252" name="Picture 251" descr="lock.png"/>
          <p:cNvPicPr>
            <a:picLocks noChangeAspect="1"/>
          </p:cNvPicPr>
          <p:nvPr/>
        </p:nvPicPr>
        <p:blipFill>
          <a:blip r:embed="rId4"/>
          <a:stretch>
            <a:fillRect/>
          </a:stretch>
        </p:blipFill>
        <p:spPr>
          <a:xfrm>
            <a:off x="10646512" y="2516251"/>
            <a:ext cx="128699" cy="187198"/>
          </a:xfrm>
          <a:prstGeom prst="rect">
            <a:avLst/>
          </a:prstGeom>
        </p:spPr>
      </p:pic>
      <p:pic>
        <p:nvPicPr>
          <p:cNvPr id="253" name="Picture 252" descr="lock.png"/>
          <p:cNvPicPr>
            <a:picLocks noChangeAspect="1"/>
          </p:cNvPicPr>
          <p:nvPr/>
        </p:nvPicPr>
        <p:blipFill>
          <a:blip r:embed="rId4"/>
          <a:stretch>
            <a:fillRect/>
          </a:stretch>
        </p:blipFill>
        <p:spPr>
          <a:xfrm>
            <a:off x="8160487" y="2744851"/>
            <a:ext cx="128699" cy="187198"/>
          </a:xfrm>
          <a:prstGeom prst="rect">
            <a:avLst/>
          </a:prstGeom>
        </p:spPr>
      </p:pic>
      <p:pic>
        <p:nvPicPr>
          <p:cNvPr id="254" name="Picture 253" descr="lock.png"/>
          <p:cNvPicPr>
            <a:picLocks noChangeAspect="1"/>
          </p:cNvPicPr>
          <p:nvPr/>
        </p:nvPicPr>
        <p:blipFill>
          <a:blip r:embed="rId4"/>
          <a:stretch>
            <a:fillRect/>
          </a:stretch>
        </p:blipFill>
        <p:spPr>
          <a:xfrm>
            <a:off x="8989163" y="2744851"/>
            <a:ext cx="128699" cy="187198"/>
          </a:xfrm>
          <a:prstGeom prst="rect">
            <a:avLst/>
          </a:prstGeom>
        </p:spPr>
      </p:pic>
      <p:pic>
        <p:nvPicPr>
          <p:cNvPr id="255" name="Picture 254" descr="lock.png"/>
          <p:cNvPicPr>
            <a:picLocks noChangeAspect="1"/>
          </p:cNvPicPr>
          <p:nvPr/>
        </p:nvPicPr>
        <p:blipFill>
          <a:blip r:embed="rId4"/>
          <a:stretch>
            <a:fillRect/>
          </a:stretch>
        </p:blipFill>
        <p:spPr>
          <a:xfrm>
            <a:off x="9817837" y="2744851"/>
            <a:ext cx="128699" cy="187198"/>
          </a:xfrm>
          <a:prstGeom prst="rect">
            <a:avLst/>
          </a:prstGeom>
        </p:spPr>
      </p:pic>
      <p:pic>
        <p:nvPicPr>
          <p:cNvPr id="256" name="Picture 255" descr="lock.png"/>
          <p:cNvPicPr>
            <a:picLocks noChangeAspect="1"/>
          </p:cNvPicPr>
          <p:nvPr/>
        </p:nvPicPr>
        <p:blipFill>
          <a:blip r:embed="rId4"/>
          <a:stretch>
            <a:fillRect/>
          </a:stretch>
        </p:blipFill>
        <p:spPr>
          <a:xfrm>
            <a:off x="10646513" y="2744851"/>
            <a:ext cx="128699" cy="187198"/>
          </a:xfrm>
          <a:prstGeom prst="rect">
            <a:avLst/>
          </a:prstGeom>
        </p:spPr>
      </p:pic>
      <p:pic>
        <p:nvPicPr>
          <p:cNvPr id="257" name="Picture 256" descr="lock.png"/>
          <p:cNvPicPr>
            <a:picLocks noChangeAspect="1"/>
          </p:cNvPicPr>
          <p:nvPr/>
        </p:nvPicPr>
        <p:blipFill>
          <a:blip r:embed="rId4"/>
          <a:stretch>
            <a:fillRect/>
          </a:stretch>
        </p:blipFill>
        <p:spPr>
          <a:xfrm>
            <a:off x="8160487" y="2973451"/>
            <a:ext cx="128699" cy="187198"/>
          </a:xfrm>
          <a:prstGeom prst="rect">
            <a:avLst/>
          </a:prstGeom>
        </p:spPr>
      </p:pic>
      <p:pic>
        <p:nvPicPr>
          <p:cNvPr id="258" name="Picture 257" descr="lock.png"/>
          <p:cNvPicPr>
            <a:picLocks noChangeAspect="1"/>
          </p:cNvPicPr>
          <p:nvPr/>
        </p:nvPicPr>
        <p:blipFill>
          <a:blip r:embed="rId4"/>
          <a:stretch>
            <a:fillRect/>
          </a:stretch>
        </p:blipFill>
        <p:spPr>
          <a:xfrm>
            <a:off x="8989163" y="2973451"/>
            <a:ext cx="128699" cy="187198"/>
          </a:xfrm>
          <a:prstGeom prst="rect">
            <a:avLst/>
          </a:prstGeom>
        </p:spPr>
      </p:pic>
      <p:pic>
        <p:nvPicPr>
          <p:cNvPr id="259" name="Picture 258" descr="lock.png"/>
          <p:cNvPicPr>
            <a:picLocks noChangeAspect="1"/>
          </p:cNvPicPr>
          <p:nvPr/>
        </p:nvPicPr>
        <p:blipFill>
          <a:blip r:embed="rId4"/>
          <a:stretch>
            <a:fillRect/>
          </a:stretch>
        </p:blipFill>
        <p:spPr>
          <a:xfrm>
            <a:off x="9817837" y="2973451"/>
            <a:ext cx="128699" cy="187198"/>
          </a:xfrm>
          <a:prstGeom prst="rect">
            <a:avLst/>
          </a:prstGeom>
        </p:spPr>
      </p:pic>
      <p:pic>
        <p:nvPicPr>
          <p:cNvPr id="260" name="Picture 259" descr="lock.png"/>
          <p:cNvPicPr>
            <a:picLocks noChangeAspect="1"/>
          </p:cNvPicPr>
          <p:nvPr/>
        </p:nvPicPr>
        <p:blipFill>
          <a:blip r:embed="rId4"/>
          <a:stretch>
            <a:fillRect/>
          </a:stretch>
        </p:blipFill>
        <p:spPr>
          <a:xfrm>
            <a:off x="10646513" y="2973451"/>
            <a:ext cx="128699" cy="187198"/>
          </a:xfrm>
          <a:prstGeom prst="rect">
            <a:avLst/>
          </a:prstGeom>
        </p:spPr>
      </p:pic>
      <p:pic>
        <p:nvPicPr>
          <p:cNvPr id="261" name="Picture 260" descr="lock.png"/>
          <p:cNvPicPr>
            <a:picLocks noChangeAspect="1"/>
          </p:cNvPicPr>
          <p:nvPr/>
        </p:nvPicPr>
        <p:blipFill>
          <a:blip r:embed="rId4"/>
          <a:stretch>
            <a:fillRect/>
          </a:stretch>
        </p:blipFill>
        <p:spPr>
          <a:xfrm>
            <a:off x="11475187" y="2973451"/>
            <a:ext cx="128699" cy="187198"/>
          </a:xfrm>
          <a:prstGeom prst="rect">
            <a:avLst/>
          </a:prstGeom>
        </p:spPr>
      </p:pic>
      <p:pic>
        <p:nvPicPr>
          <p:cNvPr id="262" name="Picture 261" descr="lock.png"/>
          <p:cNvPicPr>
            <a:picLocks noChangeAspect="1"/>
          </p:cNvPicPr>
          <p:nvPr/>
        </p:nvPicPr>
        <p:blipFill>
          <a:blip r:embed="rId4"/>
          <a:stretch>
            <a:fillRect/>
          </a:stretch>
        </p:blipFill>
        <p:spPr>
          <a:xfrm>
            <a:off x="8160488" y="3202051"/>
            <a:ext cx="128699" cy="187198"/>
          </a:xfrm>
          <a:prstGeom prst="rect">
            <a:avLst/>
          </a:prstGeom>
        </p:spPr>
      </p:pic>
      <p:pic>
        <p:nvPicPr>
          <p:cNvPr id="263" name="Picture 262" descr="lock.png"/>
          <p:cNvPicPr>
            <a:picLocks noChangeAspect="1"/>
          </p:cNvPicPr>
          <p:nvPr/>
        </p:nvPicPr>
        <p:blipFill>
          <a:blip r:embed="rId4"/>
          <a:stretch>
            <a:fillRect/>
          </a:stretch>
        </p:blipFill>
        <p:spPr>
          <a:xfrm>
            <a:off x="8989163" y="3202051"/>
            <a:ext cx="128699" cy="187198"/>
          </a:xfrm>
          <a:prstGeom prst="rect">
            <a:avLst/>
          </a:prstGeom>
        </p:spPr>
      </p:pic>
      <p:pic>
        <p:nvPicPr>
          <p:cNvPr id="264" name="Picture 263" descr="lock.png"/>
          <p:cNvPicPr>
            <a:picLocks noChangeAspect="1"/>
          </p:cNvPicPr>
          <p:nvPr/>
        </p:nvPicPr>
        <p:blipFill>
          <a:blip r:embed="rId4"/>
          <a:stretch>
            <a:fillRect/>
          </a:stretch>
        </p:blipFill>
        <p:spPr>
          <a:xfrm>
            <a:off x="9817838" y="3202051"/>
            <a:ext cx="128699" cy="187198"/>
          </a:xfrm>
          <a:prstGeom prst="rect">
            <a:avLst/>
          </a:prstGeom>
        </p:spPr>
      </p:pic>
      <p:pic>
        <p:nvPicPr>
          <p:cNvPr id="265" name="Picture 264" descr="lock.png"/>
          <p:cNvPicPr>
            <a:picLocks noChangeAspect="1"/>
          </p:cNvPicPr>
          <p:nvPr/>
        </p:nvPicPr>
        <p:blipFill>
          <a:blip r:embed="rId4"/>
          <a:stretch>
            <a:fillRect/>
          </a:stretch>
        </p:blipFill>
        <p:spPr>
          <a:xfrm>
            <a:off x="8160488" y="3478276"/>
            <a:ext cx="128699" cy="187198"/>
          </a:xfrm>
          <a:prstGeom prst="rect">
            <a:avLst/>
          </a:prstGeom>
        </p:spPr>
      </p:pic>
      <p:pic>
        <p:nvPicPr>
          <p:cNvPr id="266" name="Picture 265" descr="lock.png"/>
          <p:cNvPicPr>
            <a:picLocks noChangeAspect="1"/>
          </p:cNvPicPr>
          <p:nvPr/>
        </p:nvPicPr>
        <p:blipFill>
          <a:blip r:embed="rId4"/>
          <a:stretch>
            <a:fillRect/>
          </a:stretch>
        </p:blipFill>
        <p:spPr>
          <a:xfrm>
            <a:off x="8989162" y="3478276"/>
            <a:ext cx="128699" cy="187198"/>
          </a:xfrm>
          <a:prstGeom prst="rect">
            <a:avLst/>
          </a:prstGeom>
        </p:spPr>
      </p:pic>
      <p:pic>
        <p:nvPicPr>
          <p:cNvPr id="267" name="Picture 266" descr="lock.png"/>
          <p:cNvPicPr>
            <a:picLocks noChangeAspect="1"/>
          </p:cNvPicPr>
          <p:nvPr/>
        </p:nvPicPr>
        <p:blipFill>
          <a:blip r:embed="rId4"/>
          <a:stretch>
            <a:fillRect/>
          </a:stretch>
        </p:blipFill>
        <p:spPr>
          <a:xfrm>
            <a:off x="9817838" y="3478276"/>
            <a:ext cx="128699" cy="187198"/>
          </a:xfrm>
          <a:prstGeom prst="rect">
            <a:avLst/>
          </a:prstGeom>
        </p:spPr>
      </p:pic>
      <p:pic>
        <p:nvPicPr>
          <p:cNvPr id="268" name="Picture 267" descr="lock.png"/>
          <p:cNvPicPr>
            <a:picLocks noChangeAspect="1"/>
          </p:cNvPicPr>
          <p:nvPr/>
        </p:nvPicPr>
        <p:blipFill>
          <a:blip r:embed="rId4"/>
          <a:stretch>
            <a:fillRect/>
          </a:stretch>
        </p:blipFill>
        <p:spPr>
          <a:xfrm>
            <a:off x="10646512" y="3478276"/>
            <a:ext cx="128699" cy="187198"/>
          </a:xfrm>
          <a:prstGeom prst="rect">
            <a:avLst/>
          </a:prstGeom>
        </p:spPr>
      </p:pic>
      <p:sp>
        <p:nvSpPr>
          <p:cNvPr id="269" name="TextBox 268"/>
          <p:cNvSpPr txBox="1"/>
          <p:nvPr/>
        </p:nvSpPr>
        <p:spPr>
          <a:xfrm>
            <a:off x="266700" y="1344930"/>
            <a:ext cx="491480" cy="186689"/>
          </a:xfrm>
          <a:prstGeom prst="rect">
            <a:avLst/>
          </a:prstGeom>
          <a:noFill/>
        </p:spPr>
        <p:txBody>
          <a:bodyPr wrap="none" lIns="0" rIns="0" tIns="0" bIns="0">
            <a:spAutoFit/>
          </a:bodyPr>
          <a:lstStyle/>
          <a:p>
            <a:r>
              <a:rPr sz="1100" b="0">
                <a:solidFill>
                  <a:srgbClr val="6B7280"/>
                </a:solidFill>
                <a:latin typeface="Calibri"/>
              </a:rPr>
              <a:t>Market</a:t>
            </a:r>
          </a:p>
        </p:txBody>
      </p:sp>
      <p:pic>
        <p:nvPicPr>
          <p:cNvPr id="270" name="Picture 269" descr="lock.png"/>
          <p:cNvPicPr>
            <a:picLocks noChangeAspect="1"/>
          </p:cNvPicPr>
          <p:nvPr/>
        </p:nvPicPr>
        <p:blipFill>
          <a:blip r:embed="rId4"/>
          <a:stretch>
            <a:fillRect/>
          </a:stretch>
        </p:blipFill>
        <p:spPr>
          <a:xfrm>
            <a:off x="706231" y="1335151"/>
            <a:ext cx="128699" cy="187198"/>
          </a:xfrm>
          <a:prstGeom prst="rect">
            <a:avLst/>
          </a:prstGeom>
        </p:spPr>
      </p:pic>
      <p:sp>
        <p:nvSpPr>
          <p:cNvPr id="271" name="TextBox 270"/>
          <p:cNvSpPr txBox="1"/>
          <p:nvPr/>
        </p:nvSpPr>
        <p:spPr>
          <a:xfrm>
            <a:off x="873727" y="1344930"/>
            <a:ext cx="1290389" cy="186689"/>
          </a:xfrm>
          <a:prstGeom prst="rect">
            <a:avLst/>
          </a:prstGeom>
          <a:noFill/>
        </p:spPr>
        <p:txBody>
          <a:bodyPr wrap="none" lIns="0" rIns="0" tIns="0" bIns="0">
            <a:spAutoFit/>
          </a:bodyPr>
          <a:lstStyle/>
          <a:p>
            <a:r>
              <a:rPr sz="1100" b="0">
                <a:solidFill>
                  <a:srgbClr val="6B7280"/>
                </a:solidFill>
                <a:latin typeface="Calibri"/>
              </a:rPr>
              <a:t>US$ Mn · Tier 1 share</a:t>
            </a:r>
          </a:p>
        </p:txBody>
      </p:sp>
      <p:pic>
        <p:nvPicPr>
          <p:cNvPr id="272" name="Picture 271" descr="lock.png"/>
          <p:cNvPicPr>
            <a:picLocks noChangeAspect="1"/>
          </p:cNvPicPr>
          <p:nvPr/>
        </p:nvPicPr>
        <p:blipFill>
          <a:blip r:embed="rId4"/>
          <a:stretch>
            <a:fillRect/>
          </a:stretch>
        </p:blipFill>
        <p:spPr>
          <a:xfrm>
            <a:off x="2112168" y="1335151"/>
            <a:ext cx="128699" cy="187198"/>
          </a:xfrm>
          <a:prstGeom prst="rect">
            <a:avLst/>
          </a:prstGeom>
        </p:spPr>
      </p:pic>
      <p:sp>
        <p:nvSpPr>
          <p:cNvPr id="273" name="TextBox 272"/>
          <p:cNvSpPr txBox="1"/>
          <p:nvPr/>
        </p:nvSpPr>
        <p:spPr>
          <a:xfrm>
            <a:off x="2279664" y="1344930"/>
            <a:ext cx="202803" cy="186689"/>
          </a:xfrm>
          <a:prstGeom prst="rect">
            <a:avLst/>
          </a:prstGeom>
          <a:noFill/>
        </p:spPr>
        <p:txBody>
          <a:bodyPr wrap="none" lIns="0" rIns="0" tIns="0" bIns="0">
            <a:spAutoFit/>
          </a:bodyPr>
          <a:lstStyle/>
          <a:p>
            <a:r>
              <a:rPr sz="1100" b="0">
                <a:solidFill>
                  <a:srgbClr val="6B7280"/>
                </a:solidFill>
                <a:latin typeface="Calibri"/>
              </a:rPr>
              <a:t>→</a:t>
            </a:r>
          </a:p>
        </p:txBody>
      </p:sp>
      <p:pic>
        <p:nvPicPr>
          <p:cNvPr id="274" name="Picture 273" descr="lock.png"/>
          <p:cNvPicPr>
            <a:picLocks noChangeAspect="1"/>
          </p:cNvPicPr>
          <p:nvPr/>
        </p:nvPicPr>
        <p:blipFill>
          <a:blip r:embed="rId4"/>
          <a:stretch>
            <a:fillRect/>
          </a:stretch>
        </p:blipFill>
        <p:spPr>
          <a:xfrm>
            <a:off x="2430519" y="1335151"/>
            <a:ext cx="128699" cy="187198"/>
          </a:xfrm>
          <a:prstGeom prst="rect">
            <a:avLst/>
          </a:prstGeom>
        </p:spPr>
      </p:pic>
      <p:sp>
        <p:nvSpPr>
          <p:cNvPr id="275" name="TextBox 274"/>
          <p:cNvSpPr txBox="1"/>
          <p:nvPr/>
        </p:nvSpPr>
        <p:spPr>
          <a:xfrm>
            <a:off x="2598014" y="1344930"/>
            <a:ext cx="528315" cy="186689"/>
          </a:xfrm>
          <a:prstGeom prst="rect">
            <a:avLst/>
          </a:prstGeom>
          <a:noFill/>
        </p:spPr>
        <p:txBody>
          <a:bodyPr wrap="none" lIns="0" rIns="0" tIns="0" bIns="0">
            <a:spAutoFit/>
          </a:bodyPr>
          <a:lstStyle/>
          <a:p>
            <a:r>
              <a:rPr sz="1100" b="0">
                <a:solidFill>
                  <a:srgbClr val="6B7280"/>
                </a:solidFill>
                <a:latin typeface="Calibri"/>
              </a:rPr>
              <a:t>by 2036</a:t>
            </a:r>
          </a:p>
        </p:txBody>
      </p:sp>
      <p:pic>
        <p:nvPicPr>
          <p:cNvPr id="276" name="Picture 275" descr="lock.png"/>
          <p:cNvPicPr>
            <a:picLocks noChangeAspect="1"/>
          </p:cNvPicPr>
          <p:nvPr/>
        </p:nvPicPr>
        <p:blipFill>
          <a:blip r:embed="rId4"/>
          <a:stretch>
            <a:fillRect/>
          </a:stretch>
        </p:blipFill>
        <p:spPr>
          <a:xfrm>
            <a:off x="1377182" y="1839976"/>
            <a:ext cx="128699" cy="187198"/>
          </a:xfrm>
          <a:prstGeom prst="rect">
            <a:avLst/>
          </a:prstGeom>
        </p:spPr>
      </p:pic>
      <p:sp>
        <p:nvSpPr>
          <p:cNvPr id="277" name="TextBox 276"/>
          <p:cNvSpPr txBox="1"/>
          <p:nvPr/>
        </p:nvSpPr>
        <p:spPr>
          <a:xfrm>
            <a:off x="1544678" y="1849755"/>
            <a:ext cx="1429543" cy="186689"/>
          </a:xfrm>
          <a:prstGeom prst="rect">
            <a:avLst/>
          </a:prstGeom>
          <a:noFill/>
        </p:spPr>
        <p:txBody>
          <a:bodyPr wrap="none" lIns="0" rIns="0" tIns="0" bIns="0">
            <a:spAutoFit/>
          </a:bodyPr>
          <a:lstStyle/>
          <a:p>
            <a:r>
              <a:rPr sz="1100" b="0">
                <a:solidFill>
                  <a:srgbClr val="FFFFFF"/>
                </a:solidFill>
                <a:latin typeface="Calibri"/>
              </a:rPr>
              <a:t>US$ Mn · 4 players · avg</a:t>
            </a:r>
          </a:p>
        </p:txBody>
      </p:sp>
      <p:pic>
        <p:nvPicPr>
          <p:cNvPr id="278" name="Picture 277" descr="lock.png"/>
          <p:cNvPicPr>
            <a:picLocks noChangeAspect="1"/>
          </p:cNvPicPr>
          <p:nvPr/>
        </p:nvPicPr>
        <p:blipFill>
          <a:blip r:embed="rId4"/>
          <a:stretch>
            <a:fillRect/>
          </a:stretch>
        </p:blipFill>
        <p:spPr>
          <a:xfrm>
            <a:off x="2922273" y="1839976"/>
            <a:ext cx="128699" cy="187198"/>
          </a:xfrm>
          <a:prstGeom prst="rect">
            <a:avLst/>
          </a:prstGeom>
        </p:spPr>
      </p:pic>
      <p:sp>
        <p:nvSpPr>
          <p:cNvPr id="279" name="TextBox 278"/>
          <p:cNvSpPr txBox="1"/>
          <p:nvPr/>
        </p:nvSpPr>
        <p:spPr>
          <a:xfrm>
            <a:off x="3089769" y="1849755"/>
            <a:ext cx="997074" cy="186689"/>
          </a:xfrm>
          <a:prstGeom prst="rect">
            <a:avLst/>
          </a:prstGeom>
          <a:noFill/>
        </p:spPr>
        <p:txBody>
          <a:bodyPr wrap="none" lIns="0" rIns="0" tIns="0" bIns="0">
            <a:spAutoFit/>
          </a:bodyPr>
          <a:lstStyle/>
          <a:p>
            <a:r>
              <a:rPr sz="1100" b="0">
                <a:solidFill>
                  <a:srgbClr val="FFFFFF"/>
                </a:solidFill>
                <a:latin typeface="Calibri"/>
              </a:rPr>
              <a:t>US$ Mn / player</a:t>
            </a:r>
          </a:p>
        </p:txBody>
      </p:sp>
      <p:pic>
        <p:nvPicPr>
          <p:cNvPr id="280" name="Picture 279" descr="lock.png"/>
          <p:cNvPicPr>
            <a:picLocks noChangeAspect="1"/>
          </p:cNvPicPr>
          <p:nvPr/>
        </p:nvPicPr>
        <p:blipFill>
          <a:blip r:embed="rId4"/>
          <a:stretch>
            <a:fillRect/>
          </a:stretch>
        </p:blipFill>
        <p:spPr>
          <a:xfrm>
            <a:off x="1377182" y="2697226"/>
            <a:ext cx="128699" cy="187198"/>
          </a:xfrm>
          <a:prstGeom prst="rect">
            <a:avLst/>
          </a:prstGeom>
        </p:spPr>
      </p:pic>
      <p:sp>
        <p:nvSpPr>
          <p:cNvPr id="281" name="TextBox 280"/>
          <p:cNvSpPr txBox="1"/>
          <p:nvPr/>
        </p:nvSpPr>
        <p:spPr>
          <a:xfrm>
            <a:off x="1544678" y="2707005"/>
            <a:ext cx="1429543" cy="186689"/>
          </a:xfrm>
          <a:prstGeom prst="rect">
            <a:avLst/>
          </a:prstGeom>
          <a:noFill/>
        </p:spPr>
        <p:txBody>
          <a:bodyPr wrap="none" lIns="0" rIns="0" tIns="0" bIns="0">
            <a:spAutoFit/>
          </a:bodyPr>
          <a:lstStyle/>
          <a:p>
            <a:r>
              <a:rPr sz="1100" b="0">
                <a:solidFill>
                  <a:srgbClr val="FFFFFF"/>
                </a:solidFill>
                <a:latin typeface="Calibri"/>
              </a:rPr>
              <a:t>US$ Mn · 2 players · avg</a:t>
            </a:r>
          </a:p>
        </p:txBody>
      </p:sp>
      <p:pic>
        <p:nvPicPr>
          <p:cNvPr id="282" name="Picture 281" descr="lock.png"/>
          <p:cNvPicPr>
            <a:picLocks noChangeAspect="1"/>
          </p:cNvPicPr>
          <p:nvPr/>
        </p:nvPicPr>
        <p:blipFill>
          <a:blip r:embed="rId4"/>
          <a:stretch>
            <a:fillRect/>
          </a:stretch>
        </p:blipFill>
        <p:spPr>
          <a:xfrm>
            <a:off x="2922273" y="2697226"/>
            <a:ext cx="128699" cy="187198"/>
          </a:xfrm>
          <a:prstGeom prst="rect">
            <a:avLst/>
          </a:prstGeom>
        </p:spPr>
      </p:pic>
      <p:sp>
        <p:nvSpPr>
          <p:cNvPr id="283" name="TextBox 282"/>
          <p:cNvSpPr txBox="1"/>
          <p:nvPr/>
        </p:nvSpPr>
        <p:spPr>
          <a:xfrm>
            <a:off x="3089769" y="2707005"/>
            <a:ext cx="997074" cy="186689"/>
          </a:xfrm>
          <a:prstGeom prst="rect">
            <a:avLst/>
          </a:prstGeom>
          <a:noFill/>
        </p:spPr>
        <p:txBody>
          <a:bodyPr wrap="none" lIns="0" rIns="0" tIns="0" bIns="0">
            <a:spAutoFit/>
          </a:bodyPr>
          <a:lstStyle/>
          <a:p>
            <a:r>
              <a:rPr sz="1100" b="0">
                <a:solidFill>
                  <a:srgbClr val="FFFFFF"/>
                </a:solidFill>
                <a:latin typeface="Calibri"/>
              </a:rPr>
              <a:t>US$ Mn / player</a:t>
            </a:r>
          </a:p>
        </p:txBody>
      </p:sp>
      <p:pic>
        <p:nvPicPr>
          <p:cNvPr id="284" name="Picture 283" descr="lock.png"/>
          <p:cNvPicPr>
            <a:picLocks noChangeAspect="1"/>
          </p:cNvPicPr>
          <p:nvPr/>
        </p:nvPicPr>
        <p:blipFill>
          <a:blip r:embed="rId4"/>
          <a:stretch>
            <a:fillRect/>
          </a:stretch>
        </p:blipFill>
        <p:spPr>
          <a:xfrm>
            <a:off x="1377182" y="3554476"/>
            <a:ext cx="128699" cy="187198"/>
          </a:xfrm>
          <a:prstGeom prst="rect">
            <a:avLst/>
          </a:prstGeom>
        </p:spPr>
      </p:pic>
      <p:sp>
        <p:nvSpPr>
          <p:cNvPr id="285" name="TextBox 284"/>
          <p:cNvSpPr txBox="1"/>
          <p:nvPr/>
        </p:nvSpPr>
        <p:spPr>
          <a:xfrm>
            <a:off x="1544678" y="3564255"/>
            <a:ext cx="1429543" cy="186689"/>
          </a:xfrm>
          <a:prstGeom prst="rect">
            <a:avLst/>
          </a:prstGeom>
          <a:noFill/>
        </p:spPr>
        <p:txBody>
          <a:bodyPr wrap="none" lIns="0" rIns="0" tIns="0" bIns="0">
            <a:spAutoFit/>
          </a:bodyPr>
          <a:lstStyle/>
          <a:p>
            <a:r>
              <a:rPr sz="1100" b="0">
                <a:solidFill>
                  <a:srgbClr val="FFFFFF"/>
                </a:solidFill>
                <a:latin typeface="Calibri"/>
              </a:rPr>
              <a:t>US$ Mn · 4 players · avg</a:t>
            </a:r>
          </a:p>
        </p:txBody>
      </p:sp>
      <p:pic>
        <p:nvPicPr>
          <p:cNvPr id="286" name="Picture 285" descr="lock.png"/>
          <p:cNvPicPr>
            <a:picLocks noChangeAspect="1"/>
          </p:cNvPicPr>
          <p:nvPr/>
        </p:nvPicPr>
        <p:blipFill>
          <a:blip r:embed="rId4"/>
          <a:stretch>
            <a:fillRect/>
          </a:stretch>
        </p:blipFill>
        <p:spPr>
          <a:xfrm>
            <a:off x="2922273" y="3554476"/>
            <a:ext cx="128699" cy="187198"/>
          </a:xfrm>
          <a:prstGeom prst="rect">
            <a:avLst/>
          </a:prstGeom>
        </p:spPr>
      </p:pic>
      <p:sp>
        <p:nvSpPr>
          <p:cNvPr id="287" name="TextBox 286"/>
          <p:cNvSpPr txBox="1"/>
          <p:nvPr/>
        </p:nvSpPr>
        <p:spPr>
          <a:xfrm>
            <a:off x="3089769" y="3564255"/>
            <a:ext cx="997074" cy="186689"/>
          </a:xfrm>
          <a:prstGeom prst="rect">
            <a:avLst/>
          </a:prstGeom>
          <a:noFill/>
        </p:spPr>
        <p:txBody>
          <a:bodyPr wrap="none" lIns="0" rIns="0" tIns="0" bIns="0">
            <a:spAutoFit/>
          </a:bodyPr>
          <a:lstStyle/>
          <a:p>
            <a:r>
              <a:rPr sz="1100" b="0">
                <a:solidFill>
                  <a:srgbClr val="FFFFFF"/>
                </a:solidFill>
                <a:latin typeface="Calibri"/>
              </a:rPr>
              <a:t>US$ Mn / player</a:t>
            </a:r>
          </a:p>
        </p:txBody>
      </p:sp>
      <p:pic>
        <p:nvPicPr>
          <p:cNvPr id="288" name="Picture 287" descr="lock.png"/>
          <p:cNvPicPr>
            <a:picLocks noChangeAspect="1"/>
          </p:cNvPicPr>
          <p:nvPr/>
        </p:nvPicPr>
        <p:blipFill>
          <a:blip r:embed="rId4"/>
          <a:stretch>
            <a:fillRect/>
          </a:stretch>
        </p:blipFill>
        <p:spPr>
          <a:xfrm>
            <a:off x="1377182" y="4411726"/>
            <a:ext cx="128699" cy="187198"/>
          </a:xfrm>
          <a:prstGeom prst="rect">
            <a:avLst/>
          </a:prstGeom>
        </p:spPr>
      </p:pic>
      <p:sp>
        <p:nvSpPr>
          <p:cNvPr id="289" name="TextBox 288"/>
          <p:cNvSpPr txBox="1"/>
          <p:nvPr/>
        </p:nvSpPr>
        <p:spPr>
          <a:xfrm>
            <a:off x="1544678" y="4421505"/>
            <a:ext cx="1247006" cy="186689"/>
          </a:xfrm>
          <a:prstGeom prst="rect">
            <a:avLst/>
          </a:prstGeom>
          <a:noFill/>
        </p:spPr>
        <p:txBody>
          <a:bodyPr wrap="none" lIns="0" rIns="0" tIns="0" bIns="0">
            <a:spAutoFit/>
          </a:bodyPr>
          <a:lstStyle/>
          <a:p>
            <a:r>
              <a:rPr sz="1100" b="0">
                <a:solidFill>
                  <a:srgbClr val="14213D"/>
                </a:solidFill>
                <a:latin typeface="Calibri"/>
              </a:rPr>
              <a:t>US$ Mn · – · long tail</a:t>
            </a:r>
          </a:p>
        </p:txBody>
      </p:sp>
      <p:sp>
        <p:nvSpPr>
          <p:cNvPr id="290" name="TextBox 289"/>
          <p:cNvSpPr txBox="1"/>
          <p:nvPr/>
        </p:nvSpPr>
        <p:spPr>
          <a:xfrm>
            <a:off x="1241169" y="5802630"/>
            <a:ext cx="493662" cy="186689"/>
          </a:xfrm>
          <a:prstGeom prst="rect">
            <a:avLst/>
          </a:prstGeom>
          <a:noFill/>
        </p:spPr>
        <p:txBody>
          <a:bodyPr wrap="none" lIns="0" rIns="0" tIns="0" bIns="0">
            <a:spAutoFit/>
          </a:bodyPr>
          <a:lstStyle/>
          <a:p>
            <a:r>
              <a:rPr sz="1100" b="1">
                <a:solidFill>
                  <a:srgbClr val="2E7D32"/>
                </a:solidFill>
                <a:latin typeface="Calibri"/>
              </a:rPr>
              <a:t>▲</a:t>
            </a:r>
            <a:r>
              <a:rPr sz="1100" b="1">
                <a:solidFill>
                  <a:srgbClr val="14213D"/>
                </a:solidFill>
                <a:latin typeface="Calibri"/>
              </a:rPr>
              <a:t> HHI =</a:t>
            </a:r>
          </a:p>
        </p:txBody>
      </p:sp>
      <p:pic>
        <p:nvPicPr>
          <p:cNvPr id="291" name="Picture 290" descr="lock.png"/>
          <p:cNvPicPr>
            <a:picLocks noChangeAspect="1"/>
          </p:cNvPicPr>
          <p:nvPr/>
        </p:nvPicPr>
        <p:blipFill>
          <a:blip r:embed="rId4"/>
          <a:stretch>
            <a:fillRect/>
          </a:stretch>
        </p:blipFill>
        <p:spPr>
          <a:xfrm>
            <a:off x="1682883" y="5792851"/>
            <a:ext cx="128699" cy="187198"/>
          </a:xfrm>
          <a:prstGeom prst="rect">
            <a:avLst/>
          </a:prstGeom>
        </p:spPr>
      </p:pic>
      <p:sp>
        <p:nvSpPr>
          <p:cNvPr id="292" name="TextBox 291"/>
          <p:cNvSpPr txBox="1"/>
          <p:nvPr/>
        </p:nvSpPr>
        <p:spPr>
          <a:xfrm>
            <a:off x="876202" y="6107430"/>
            <a:ext cx="400893" cy="186689"/>
          </a:xfrm>
          <a:prstGeom prst="rect">
            <a:avLst/>
          </a:prstGeom>
          <a:noFill/>
        </p:spPr>
        <p:txBody>
          <a:bodyPr wrap="none" lIns="0" rIns="0" tIns="0" bIns="0">
            <a:spAutoFit/>
          </a:bodyPr>
          <a:lstStyle/>
          <a:p>
            <a:r>
              <a:rPr sz="1100" b="1">
                <a:solidFill>
                  <a:srgbClr val="14213D"/>
                </a:solidFill>
                <a:latin typeface="Calibri"/>
              </a:rPr>
              <a:t>CR4 =</a:t>
            </a:r>
          </a:p>
        </p:txBody>
      </p:sp>
      <p:pic>
        <p:nvPicPr>
          <p:cNvPr id="293" name="Picture 292" descr="lock.png"/>
          <p:cNvPicPr>
            <a:picLocks noChangeAspect="1"/>
          </p:cNvPicPr>
          <p:nvPr/>
        </p:nvPicPr>
        <p:blipFill>
          <a:blip r:embed="rId4"/>
          <a:stretch>
            <a:fillRect/>
          </a:stretch>
        </p:blipFill>
        <p:spPr>
          <a:xfrm>
            <a:off x="1225147" y="6097651"/>
            <a:ext cx="128699" cy="187198"/>
          </a:xfrm>
          <a:prstGeom prst="rect">
            <a:avLst/>
          </a:prstGeom>
        </p:spPr>
      </p:pic>
      <p:sp>
        <p:nvSpPr>
          <p:cNvPr id="294" name="TextBox 293"/>
          <p:cNvSpPr txBox="1"/>
          <p:nvPr/>
        </p:nvSpPr>
        <p:spPr>
          <a:xfrm>
            <a:off x="1392643" y="6107430"/>
            <a:ext cx="1068288" cy="186689"/>
          </a:xfrm>
          <a:prstGeom prst="rect">
            <a:avLst/>
          </a:prstGeom>
          <a:noFill/>
        </p:spPr>
        <p:txBody>
          <a:bodyPr wrap="none" lIns="0" rIns="0" tIns="0" bIns="0">
            <a:spAutoFit/>
          </a:bodyPr>
          <a:lstStyle/>
          <a:p>
            <a:r>
              <a:rPr sz="1100" b="1">
                <a:solidFill>
                  <a:srgbClr val="14213D"/>
                </a:solidFill>
                <a:latin typeface="Calibri"/>
              </a:rPr>
              <a:t>· Tier 1 : Others =</a:t>
            </a:r>
          </a:p>
        </p:txBody>
      </p:sp>
      <p:pic>
        <p:nvPicPr>
          <p:cNvPr id="295" name="Picture 294" descr="lock.png"/>
          <p:cNvPicPr>
            <a:picLocks noChangeAspect="1"/>
          </p:cNvPicPr>
          <p:nvPr/>
        </p:nvPicPr>
        <p:blipFill>
          <a:blip r:embed="rId4"/>
          <a:stretch>
            <a:fillRect/>
          </a:stretch>
        </p:blipFill>
        <p:spPr>
          <a:xfrm>
            <a:off x="2408983" y="6097651"/>
            <a:ext cx="128699" cy="187198"/>
          </a:xfrm>
          <a:prstGeom prst="rect">
            <a:avLst/>
          </a:prstGeom>
        </p:spPr>
      </p:pic>
      <p:sp>
        <p:nvSpPr>
          <p:cNvPr id="296" name="TextBox 295"/>
          <p:cNvSpPr txBox="1"/>
          <p:nvPr/>
        </p:nvSpPr>
        <p:spPr>
          <a:xfrm>
            <a:off x="2576478" y="6107430"/>
            <a:ext cx="1397620" cy="186689"/>
          </a:xfrm>
          <a:prstGeom prst="rect">
            <a:avLst/>
          </a:prstGeom>
          <a:noFill/>
        </p:spPr>
        <p:txBody>
          <a:bodyPr wrap="none" lIns="0" rIns="0" tIns="0" bIns="0">
            <a:spAutoFit/>
          </a:bodyPr>
          <a:lstStyle/>
          <a:p>
            <a:r>
              <a:rPr sz="1100" b="1">
                <a:solidFill>
                  <a:srgbClr val="14213D"/>
                </a:solidFill>
                <a:latin typeface="Calibri"/>
              </a:rPr>
              <a:t>: 1 · Top-player share =</a:t>
            </a:r>
          </a:p>
        </p:txBody>
      </p:sp>
      <p:pic>
        <p:nvPicPr>
          <p:cNvPr id="297" name="Picture 296" descr="lock.png"/>
          <p:cNvPicPr>
            <a:picLocks noChangeAspect="1"/>
          </p:cNvPicPr>
          <p:nvPr/>
        </p:nvPicPr>
        <p:blipFill>
          <a:blip r:embed="rId4"/>
          <a:stretch>
            <a:fillRect/>
          </a:stretch>
        </p:blipFill>
        <p:spPr>
          <a:xfrm>
            <a:off x="3922150" y="6097651"/>
            <a:ext cx="128699" cy="187198"/>
          </a:xfrm>
          <a:prstGeom prst="rect">
            <a:avLst/>
          </a:prstGeom>
        </p:spPr>
      </p:pic>
      <p:sp>
        <p:nvSpPr>
          <p:cNvPr id="298" name="TextBox 297"/>
          <p:cNvSpPr txBox="1"/>
          <p:nvPr/>
        </p:nvSpPr>
        <p:spPr>
          <a:xfrm>
            <a:off x="4089646" y="6107430"/>
            <a:ext cx="1206351" cy="186689"/>
          </a:xfrm>
          <a:prstGeom prst="rect">
            <a:avLst/>
          </a:prstGeom>
          <a:noFill/>
        </p:spPr>
        <p:txBody>
          <a:bodyPr wrap="none" lIns="0" rIns="0" tIns="0" bIns="0">
            <a:spAutoFit/>
          </a:bodyPr>
          <a:lstStyle/>
          <a:p>
            <a:r>
              <a:rPr sz="1100" b="1">
                <a:solidFill>
                  <a:srgbClr val="14213D"/>
                </a:solidFill>
                <a:latin typeface="Calibri"/>
              </a:rPr>
              <a:t>· Class: Fragmented</a:t>
            </a:r>
          </a:p>
        </p:txBody>
      </p:sp>
      <p:sp>
        <p:nvSpPr>
          <p:cNvPr id="299" name="TextBox 298"/>
          <p:cNvSpPr txBox="1"/>
          <p:nvPr/>
        </p:nvSpPr>
        <p:spPr>
          <a:xfrm>
            <a:off x="6372225" y="5476875"/>
            <a:ext cx="471561" cy="186689"/>
          </a:xfrm>
          <a:prstGeom prst="rect">
            <a:avLst/>
          </a:prstGeom>
          <a:noFill/>
        </p:spPr>
        <p:txBody>
          <a:bodyPr wrap="none" lIns="0" rIns="0" tIns="0" bIns="0">
            <a:spAutoFit/>
          </a:bodyPr>
          <a:lstStyle/>
          <a:p>
            <a:r>
              <a:rPr sz="1100" b="0">
                <a:solidFill>
                  <a:srgbClr val="14213D"/>
                </a:solidFill>
                <a:latin typeface="Calibri"/>
              </a:rPr>
              <a:t>Tier 1 (</a:t>
            </a:r>
          </a:p>
        </p:txBody>
      </p:sp>
      <p:pic>
        <p:nvPicPr>
          <p:cNvPr id="300" name="Picture 299" descr="lock.png"/>
          <p:cNvPicPr>
            <a:picLocks noChangeAspect="1"/>
          </p:cNvPicPr>
          <p:nvPr/>
        </p:nvPicPr>
        <p:blipFill>
          <a:blip r:embed="rId4"/>
          <a:stretch>
            <a:fillRect/>
          </a:stretch>
        </p:blipFill>
        <p:spPr>
          <a:xfrm>
            <a:off x="6791838" y="5467095"/>
            <a:ext cx="128699" cy="187198"/>
          </a:xfrm>
          <a:prstGeom prst="rect">
            <a:avLst/>
          </a:prstGeom>
        </p:spPr>
      </p:pic>
      <p:sp>
        <p:nvSpPr>
          <p:cNvPr id="301" name="TextBox 300"/>
          <p:cNvSpPr txBox="1"/>
          <p:nvPr/>
        </p:nvSpPr>
        <p:spPr>
          <a:xfrm>
            <a:off x="6959334" y="5476875"/>
            <a:ext cx="2550145" cy="186689"/>
          </a:xfrm>
          <a:prstGeom prst="rect">
            <a:avLst/>
          </a:prstGeom>
          <a:noFill/>
        </p:spPr>
        <p:txBody>
          <a:bodyPr wrap="none" lIns="0" rIns="0" tIns="0" bIns="0">
            <a:spAutoFit/>
          </a:bodyPr>
          <a:lstStyle/>
          <a:p>
            <a:r>
              <a:rPr sz="1100" b="0">
                <a:solidFill>
                  <a:srgbClr val="14213D"/>
                </a:solidFill>
                <a:latin typeface="Calibri"/>
              </a:rPr>
              <a:t>) holds the largest single block of value on a</a:t>
            </a:r>
          </a:p>
        </p:txBody>
      </p:sp>
      <p:pic>
        <p:nvPicPr>
          <p:cNvPr id="302" name="Picture 301" descr="lock.png"/>
          <p:cNvPicPr>
            <a:picLocks noChangeAspect="1"/>
          </p:cNvPicPr>
          <p:nvPr/>
        </p:nvPicPr>
        <p:blipFill>
          <a:blip r:embed="rId4"/>
          <a:stretch>
            <a:fillRect/>
          </a:stretch>
        </p:blipFill>
        <p:spPr>
          <a:xfrm>
            <a:off x="9457531" y="5467095"/>
            <a:ext cx="128699" cy="187198"/>
          </a:xfrm>
          <a:prstGeom prst="rect">
            <a:avLst/>
          </a:prstGeom>
        </p:spPr>
      </p:pic>
      <p:sp>
        <p:nvSpPr>
          <p:cNvPr id="303" name="TextBox 302"/>
          <p:cNvSpPr txBox="1"/>
          <p:nvPr/>
        </p:nvSpPr>
        <p:spPr>
          <a:xfrm>
            <a:off x="9625026" y="5476875"/>
            <a:ext cx="1259830" cy="186689"/>
          </a:xfrm>
          <a:prstGeom prst="rect">
            <a:avLst/>
          </a:prstGeom>
          <a:noFill/>
        </p:spPr>
        <p:txBody>
          <a:bodyPr wrap="none" lIns="0" rIns="0" tIns="0" bIns="0">
            <a:spAutoFit/>
          </a:bodyPr>
          <a:lstStyle/>
          <a:p>
            <a:r>
              <a:rPr sz="1100" b="0">
                <a:solidFill>
                  <a:srgbClr val="14213D"/>
                </a:solidFill>
                <a:latin typeface="Calibri"/>
              </a:rPr>
              <a:t>US$ Mn base; CR4 of</a:t>
            </a:r>
          </a:p>
        </p:txBody>
      </p:sp>
      <p:pic>
        <p:nvPicPr>
          <p:cNvPr id="304" name="Picture 303" descr="lock.png"/>
          <p:cNvPicPr>
            <a:picLocks noChangeAspect="1"/>
          </p:cNvPicPr>
          <p:nvPr/>
        </p:nvPicPr>
        <p:blipFill>
          <a:blip r:embed="rId4"/>
          <a:stretch>
            <a:fillRect/>
          </a:stretch>
        </p:blipFill>
        <p:spPr>
          <a:xfrm>
            <a:off x="10832908" y="5467095"/>
            <a:ext cx="128699" cy="187198"/>
          </a:xfrm>
          <a:prstGeom prst="rect">
            <a:avLst/>
          </a:prstGeom>
        </p:spPr>
      </p:pic>
      <p:sp>
        <p:nvSpPr>
          <p:cNvPr id="305" name="TextBox 304"/>
          <p:cNvSpPr txBox="1"/>
          <p:nvPr/>
        </p:nvSpPr>
        <p:spPr>
          <a:xfrm>
            <a:off x="11000404" y="5476875"/>
            <a:ext cx="678656" cy="186689"/>
          </a:xfrm>
          <a:prstGeom prst="rect">
            <a:avLst/>
          </a:prstGeom>
          <a:noFill/>
        </p:spPr>
        <p:txBody>
          <a:bodyPr wrap="none" lIns="0" rIns="0" tIns="0" bIns="0">
            <a:spAutoFit/>
          </a:bodyPr>
          <a:lstStyle/>
          <a:p>
            <a:r>
              <a:rPr sz="1100" b="0">
                <a:solidFill>
                  <a:srgbClr val="14213D"/>
                </a:solidFill>
                <a:latin typeface="Calibri"/>
              </a:rPr>
              <a:t>and HHI of</a:t>
            </a:r>
          </a:p>
        </p:txBody>
      </p:sp>
      <p:pic>
        <p:nvPicPr>
          <p:cNvPr id="306" name="Picture 305" descr="lock.png"/>
          <p:cNvPicPr>
            <a:picLocks noChangeAspect="1"/>
          </p:cNvPicPr>
          <p:nvPr/>
        </p:nvPicPr>
        <p:blipFill>
          <a:blip r:embed="rId4"/>
          <a:stretch>
            <a:fillRect/>
          </a:stretch>
        </p:blipFill>
        <p:spPr>
          <a:xfrm>
            <a:off x="6358757" y="5634735"/>
            <a:ext cx="128699" cy="187198"/>
          </a:xfrm>
          <a:prstGeom prst="rect">
            <a:avLst/>
          </a:prstGeom>
        </p:spPr>
      </p:pic>
      <p:sp>
        <p:nvSpPr>
          <p:cNvPr id="307" name="TextBox 306"/>
          <p:cNvSpPr txBox="1"/>
          <p:nvPr/>
        </p:nvSpPr>
        <p:spPr>
          <a:xfrm>
            <a:off x="6526253" y="5644515"/>
            <a:ext cx="2030635" cy="186689"/>
          </a:xfrm>
          <a:prstGeom prst="rect">
            <a:avLst/>
          </a:prstGeom>
          <a:noFill/>
        </p:spPr>
        <p:txBody>
          <a:bodyPr wrap="none" lIns="0" rIns="0" tIns="0" bIns="0">
            <a:spAutoFit/>
          </a:bodyPr>
          <a:lstStyle/>
          <a:p>
            <a:r>
              <a:rPr sz="1100" b="0">
                <a:solidFill>
                  <a:srgbClr val="14213D"/>
                </a:solidFill>
                <a:latin typeface="Calibri"/>
              </a:rPr>
              <a:t>classify the market as fragmented.</a:t>
            </a:r>
          </a:p>
        </p:txBody>
      </p:sp>
      <p:sp>
        <p:nvSpPr>
          <p:cNvPr id="308" name="TextBox 307"/>
          <p:cNvSpPr txBox="1"/>
          <p:nvPr/>
        </p:nvSpPr>
        <p:spPr>
          <a:xfrm>
            <a:off x="6372225" y="5857875"/>
            <a:ext cx="1331044" cy="186689"/>
          </a:xfrm>
          <a:prstGeom prst="rect">
            <a:avLst/>
          </a:prstGeom>
          <a:noFill/>
        </p:spPr>
        <p:txBody>
          <a:bodyPr wrap="none" lIns="0" rIns="0" tIns="0" bIns="0">
            <a:spAutoFit/>
          </a:bodyPr>
          <a:lstStyle/>
          <a:p>
            <a:r>
              <a:rPr sz="1100" b="0">
                <a:solidFill>
                  <a:srgbClr val="14213D"/>
                </a:solidFill>
                <a:latin typeface="Calibri"/>
              </a:rPr>
              <a:t>Tier 2 grows fastest at</a:t>
            </a:r>
          </a:p>
        </p:txBody>
      </p:sp>
      <p:pic>
        <p:nvPicPr>
          <p:cNvPr id="309" name="Picture 308" descr="lock.png"/>
          <p:cNvPicPr>
            <a:picLocks noChangeAspect="1"/>
          </p:cNvPicPr>
          <p:nvPr/>
        </p:nvPicPr>
        <p:blipFill>
          <a:blip r:embed="rId4"/>
          <a:stretch>
            <a:fillRect/>
          </a:stretch>
        </p:blipFill>
        <p:spPr>
          <a:xfrm>
            <a:off x="7651320" y="5848095"/>
            <a:ext cx="128699" cy="187198"/>
          </a:xfrm>
          <a:prstGeom prst="rect">
            <a:avLst/>
          </a:prstGeom>
        </p:spPr>
      </p:pic>
      <p:sp>
        <p:nvSpPr>
          <p:cNvPr id="310" name="TextBox 309"/>
          <p:cNvSpPr txBox="1"/>
          <p:nvPr/>
        </p:nvSpPr>
        <p:spPr>
          <a:xfrm>
            <a:off x="7818816" y="5857875"/>
            <a:ext cx="982868" cy="186689"/>
          </a:xfrm>
          <a:prstGeom prst="rect">
            <a:avLst/>
          </a:prstGeom>
          <a:noFill/>
        </p:spPr>
        <p:txBody>
          <a:bodyPr wrap="none" lIns="0" rIns="0" tIns="0" bIns="0">
            <a:spAutoFit/>
          </a:bodyPr>
          <a:lstStyle/>
          <a:p>
            <a:r>
              <a:rPr sz="1100" b="0">
                <a:solidFill>
                  <a:srgbClr val="14213D"/>
                </a:solidFill>
                <a:latin typeface="Calibri"/>
              </a:rPr>
              <a:t>CAGR, moving +</a:t>
            </a:r>
          </a:p>
        </p:txBody>
      </p:sp>
      <p:pic>
        <p:nvPicPr>
          <p:cNvPr id="311" name="Picture 310" descr="lock.png"/>
          <p:cNvPicPr>
            <a:picLocks noChangeAspect="1"/>
          </p:cNvPicPr>
          <p:nvPr/>
        </p:nvPicPr>
        <p:blipFill>
          <a:blip r:embed="rId4"/>
          <a:stretch>
            <a:fillRect/>
          </a:stretch>
        </p:blipFill>
        <p:spPr>
          <a:xfrm>
            <a:off x="8749737" y="5848095"/>
            <a:ext cx="128699" cy="187198"/>
          </a:xfrm>
          <a:prstGeom prst="rect">
            <a:avLst/>
          </a:prstGeom>
        </p:spPr>
      </p:pic>
      <p:sp>
        <p:nvSpPr>
          <p:cNvPr id="312" name="TextBox 311"/>
          <p:cNvSpPr txBox="1"/>
          <p:nvPr/>
        </p:nvSpPr>
        <p:spPr>
          <a:xfrm>
            <a:off x="8917232" y="5857875"/>
            <a:ext cx="1234727" cy="186689"/>
          </a:xfrm>
          <a:prstGeom prst="rect">
            <a:avLst/>
          </a:prstGeom>
          <a:noFill/>
        </p:spPr>
        <p:txBody>
          <a:bodyPr wrap="none" lIns="0" rIns="0" tIns="0" bIns="0">
            <a:spAutoFit/>
          </a:bodyPr>
          <a:lstStyle/>
          <a:p>
            <a:r>
              <a:rPr sz="1100" b="0">
                <a:solidFill>
                  <a:srgbClr val="14213D"/>
                </a:solidFill>
                <a:latin typeface="Calibri"/>
              </a:rPr>
              <a:t>pp of share by 2036.</a:t>
            </a:r>
          </a:p>
        </p:txBody>
      </p:sp>
      <p:sp>
        <p:nvSpPr>
          <p:cNvPr id="313" name="TextBox 312"/>
          <p:cNvSpPr txBox="1"/>
          <p:nvPr/>
        </p:nvSpPr>
        <p:spPr>
          <a:xfrm>
            <a:off x="6372225" y="6076950"/>
            <a:ext cx="2161604" cy="186689"/>
          </a:xfrm>
          <a:prstGeom prst="rect">
            <a:avLst/>
          </a:prstGeom>
          <a:noFill/>
        </p:spPr>
        <p:txBody>
          <a:bodyPr wrap="none" lIns="0" rIns="0" tIns="0" bIns="0">
            <a:spAutoFit/>
          </a:bodyPr>
          <a:lstStyle/>
          <a:p>
            <a:r>
              <a:rPr sz="1100" b="0">
                <a:solidFill>
                  <a:srgbClr val="14213D"/>
                </a:solidFill>
                <a:latin typeface="Calibri"/>
              </a:rPr>
              <a:t>Tier 3 and the long tail together hold</a:t>
            </a:r>
          </a:p>
        </p:txBody>
      </p:sp>
      <p:pic>
        <p:nvPicPr>
          <p:cNvPr id="314" name="Picture 313" descr="lock.png"/>
          <p:cNvPicPr>
            <a:picLocks noChangeAspect="1"/>
          </p:cNvPicPr>
          <p:nvPr/>
        </p:nvPicPr>
        <p:blipFill>
          <a:blip r:embed="rId4"/>
          <a:stretch>
            <a:fillRect/>
          </a:stretch>
        </p:blipFill>
        <p:spPr>
          <a:xfrm>
            <a:off x="8481881" y="6067170"/>
            <a:ext cx="128699" cy="187198"/>
          </a:xfrm>
          <a:prstGeom prst="rect">
            <a:avLst/>
          </a:prstGeom>
        </p:spPr>
      </p:pic>
      <p:sp>
        <p:nvSpPr>
          <p:cNvPr id="315" name="TextBox 314"/>
          <p:cNvSpPr txBox="1"/>
          <p:nvPr/>
        </p:nvSpPr>
        <p:spPr>
          <a:xfrm>
            <a:off x="8649376" y="6076950"/>
            <a:ext cx="2127498" cy="186689"/>
          </a:xfrm>
          <a:prstGeom prst="rect">
            <a:avLst/>
          </a:prstGeom>
          <a:noFill/>
        </p:spPr>
        <p:txBody>
          <a:bodyPr wrap="none" lIns="0" rIns="0" tIns="0" bIns="0">
            <a:spAutoFit/>
          </a:bodyPr>
          <a:lstStyle/>
          <a:p>
            <a:r>
              <a:rPr sz="1100" b="0">
                <a:solidFill>
                  <a:srgbClr val="14213D"/>
                </a:solidFill>
                <a:latin typeface="Calibri"/>
              </a:rPr>
              <a:t>of value; the average Tier 3 player is</a:t>
            </a:r>
          </a:p>
        </p:txBody>
      </p:sp>
      <p:pic>
        <p:nvPicPr>
          <p:cNvPr id="316" name="Picture 315" descr="lock.png"/>
          <p:cNvPicPr>
            <a:picLocks noChangeAspect="1"/>
          </p:cNvPicPr>
          <p:nvPr/>
        </p:nvPicPr>
        <p:blipFill>
          <a:blip r:embed="rId4"/>
          <a:stretch>
            <a:fillRect/>
          </a:stretch>
        </p:blipFill>
        <p:spPr>
          <a:xfrm>
            <a:off x="10724926" y="6067170"/>
            <a:ext cx="128699" cy="187198"/>
          </a:xfrm>
          <a:prstGeom prst="rect">
            <a:avLst/>
          </a:prstGeom>
        </p:spPr>
      </p:pic>
      <p:sp>
        <p:nvSpPr>
          <p:cNvPr id="317" name="TextBox 316"/>
          <p:cNvSpPr txBox="1"/>
          <p:nvPr/>
        </p:nvSpPr>
        <p:spPr>
          <a:xfrm>
            <a:off x="10892422" y="6076950"/>
            <a:ext cx="876473" cy="186689"/>
          </a:xfrm>
          <a:prstGeom prst="rect">
            <a:avLst/>
          </a:prstGeom>
          <a:noFill/>
        </p:spPr>
        <p:txBody>
          <a:bodyPr wrap="none" lIns="0" rIns="0" tIns="0" bIns="0">
            <a:spAutoFit/>
          </a:bodyPr>
          <a:lstStyle/>
          <a:p>
            <a:r>
              <a:rPr sz="1100" b="0">
                <a:solidFill>
                  <a:srgbClr val="14213D"/>
                </a:solidFill>
                <a:latin typeface="Calibri"/>
              </a:rPr>
              <a:t>x smaller than</a:t>
            </a:r>
          </a:p>
        </p:txBody>
      </p:sp>
      <p:sp>
        <p:nvSpPr>
          <p:cNvPr id="318" name="TextBox 317"/>
          <p:cNvSpPr txBox="1"/>
          <p:nvPr/>
        </p:nvSpPr>
        <p:spPr>
          <a:xfrm>
            <a:off x="6372225" y="6244590"/>
            <a:ext cx="1020539" cy="186689"/>
          </a:xfrm>
          <a:prstGeom prst="rect">
            <a:avLst/>
          </a:prstGeom>
          <a:noFill/>
        </p:spPr>
        <p:txBody>
          <a:bodyPr wrap="none" lIns="0" rIns="0" tIns="0" bIns="0">
            <a:spAutoFit/>
          </a:bodyPr>
          <a:lstStyle/>
          <a:p>
            <a:r>
              <a:rPr sz="1100" b="0">
                <a:solidFill>
                  <a:srgbClr val="14213D"/>
                </a:solidFill>
                <a:latin typeface="Calibri"/>
              </a:rPr>
              <a:t>a Tier 1 supplier.</a:t>
            </a:r>
          </a:p>
        </p:txBody>
      </p:sp>
    </p:spTree>
  </p:cSld>
  <p:clrMapOvr>
    <a:masterClrMapping/>
  </p:clrMapOvr>
</p:sld>
</file>

<file path=ppt/slides/slide2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Industry Structure Landscape – Removable Partial Dentures Market, Global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Tier ladder, market concentration and tier profile, and the structural shift 2026→2036 shaping the tier structure</a:t>
            </a:r>
          </a:p>
        </p:txBody>
      </p:sp>
      <p:sp>
        <p:nvSpPr>
          <p:cNvPr id="10" name="Rounded Rectangle 9"/>
          <p:cNvSpPr/>
          <p:nvPr/>
        </p:nvSpPr>
        <p:spPr>
          <a:xfrm>
            <a:off x="142875" y="1047750"/>
            <a:ext cx="11906250" cy="2381250"/>
          </a:xfrm>
          <a:prstGeom prst="roundRect">
            <a:avLst>
              <a:gd name="adj" fmla="val 64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104900"/>
            <a:ext cx="11715750" cy="209550"/>
          </a:xfrm>
          <a:prstGeom prst="rect">
            <a:avLst/>
          </a:prstGeom>
          <a:noFill/>
        </p:spPr>
        <p:txBody>
          <a:bodyPr wrap="square" lIns="28575" rIns="28575" tIns="9525" bIns="9525" anchor="ctr">
            <a:spAutoFit/>
          </a:bodyPr>
          <a:lstStyle/>
          <a:p>
            <a:pPr algn="l"/>
            <a:r>
              <a:rPr sz="1200" b="1">
                <a:solidFill>
                  <a:srgbClr val="2E2E2E"/>
                </a:solidFill>
                <a:latin typeface="Calibri"/>
              </a:rPr>
              <a:t>Structural Shift, 2026 → 2036 – Tier Migration and Entry / Exit</a:t>
            </a:r>
          </a:p>
        </p:txBody>
      </p:sp>
      <p:sp>
        <p:nvSpPr>
          <p:cNvPr id="12" name="Rounded Rectangle 11"/>
          <p:cNvSpPr/>
          <p:nvPr/>
        </p:nvSpPr>
        <p:spPr>
          <a:xfrm>
            <a:off x="257175" y="1390650"/>
            <a:ext cx="1905000" cy="876300"/>
          </a:xfrm>
          <a:prstGeom prst="roundRect">
            <a:avLst>
              <a:gd name="adj" fmla="val 4000"/>
            </a:avLst>
          </a:prstGeom>
          <a:solidFill>
            <a:srgbClr val="1F3A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57175" y="1447800"/>
            <a:ext cx="1905000" cy="209550"/>
          </a:xfrm>
          <a:prstGeom prst="rect">
            <a:avLst/>
          </a:prstGeom>
          <a:noFill/>
        </p:spPr>
        <p:txBody>
          <a:bodyPr wrap="square" lIns="28575" rIns="28575" tIns="9525" bIns="9525" anchor="ctr">
            <a:spAutoFit/>
          </a:bodyPr>
          <a:lstStyle/>
          <a:p>
            <a:pPr algn="ctr"/>
            <a:r>
              <a:rPr sz="1100" b="1">
                <a:solidFill>
                  <a:srgbClr val="FFFFFF"/>
                </a:solidFill>
                <a:latin typeface="Calibri"/>
              </a:rPr>
              <a:t>Tier 1</a:t>
            </a:r>
          </a:p>
        </p:txBody>
      </p:sp>
      <p:sp>
        <p:nvSpPr>
          <p:cNvPr id="14" name="TextBox 13"/>
          <p:cNvSpPr txBox="1"/>
          <p:nvPr/>
        </p:nvSpPr>
        <p:spPr>
          <a:xfrm>
            <a:off x="257175" y="1676400"/>
            <a:ext cx="1905000" cy="171450"/>
          </a:xfrm>
          <a:prstGeom prst="rect">
            <a:avLst/>
          </a:prstGeom>
          <a:noFill/>
        </p:spPr>
        <p:txBody>
          <a:bodyPr wrap="square" lIns="28575" rIns="28575" tIns="9525" bIns="9525" anchor="ctr">
            <a:spAutoFit/>
          </a:bodyPr>
          <a:lstStyle/>
          <a:p>
            <a:pPr algn="ctr"/>
            <a:r>
              <a:rPr sz="1100" b="0">
                <a:solidFill>
                  <a:srgbClr val="FFFFFF"/>
                </a:solidFill>
                <a:latin typeface="Calibri"/>
              </a:rPr>
              <a:t>Top / global players</a:t>
            </a:r>
          </a:p>
        </p:txBody>
      </p:sp>
      <p:sp>
        <p:nvSpPr>
          <p:cNvPr id="15" name="TextBox 14"/>
          <p:cNvSpPr txBox="1"/>
          <p:nvPr/>
        </p:nvSpPr>
        <p:spPr>
          <a:xfrm>
            <a:off x="295275" y="1828800"/>
            <a:ext cx="1828800" cy="419100"/>
          </a:xfrm>
          <a:prstGeom prst="rect">
            <a:avLst/>
          </a:prstGeom>
          <a:noFill/>
        </p:spPr>
        <p:txBody>
          <a:bodyPr wrap="square" lIns="28575" rIns="28575" tIns="9525" bIns="9525" anchor="ctr">
            <a:spAutoFit/>
          </a:bodyPr>
          <a:lstStyle/>
          <a:p>
            <a:pPr algn="ctr">
              <a:lnSpc>
                <a:spcPct val="115000"/>
              </a:lnSpc>
            </a:pPr>
            <a:r>
              <a:rPr sz="1100" b="1">
                <a:solidFill>
                  <a:srgbClr val="FFFFFF"/>
                </a:solidFill>
                <a:latin typeface="Calibri"/>
              </a:rPr>
              <a:t/>
            </a:r>
          </a:p>
        </p:txBody>
      </p:sp>
      <p:sp>
        <p:nvSpPr>
          <p:cNvPr id="16" name="TextBox 15"/>
          <p:cNvSpPr txBox="1"/>
          <p:nvPr/>
        </p:nvSpPr>
        <p:spPr>
          <a:xfrm>
            <a:off x="2238375" y="1466850"/>
            <a:ext cx="1200150" cy="171450"/>
          </a:xfrm>
          <a:prstGeom prst="rect">
            <a:avLst/>
          </a:prstGeom>
          <a:noFill/>
        </p:spPr>
        <p:txBody>
          <a:bodyPr wrap="square" lIns="28575" rIns="28575" tIns="9525" bIns="9525" anchor="ctr">
            <a:spAutoFit/>
          </a:bodyPr>
          <a:lstStyle/>
          <a:p>
            <a:pPr algn="ctr"/>
            <a:r>
              <a:rPr sz="1100" b="1">
                <a:solidFill>
                  <a:srgbClr val="0E8C8C"/>
                </a:solidFill>
                <a:latin typeface="Calibri"/>
              </a:rPr>
              <a:t>1 up-tier (M&amp;A)</a:t>
            </a:r>
          </a:p>
        </p:txBody>
      </p:sp>
      <p:cxnSp>
        <p:nvCxnSpPr>
          <p:cNvPr id="17" name="Connector 16"/>
          <p:cNvCxnSpPr/>
          <p:nvPr/>
        </p:nvCxnSpPr>
        <p:spPr>
          <a:xfrm>
            <a:off x="2314575" y="1695450"/>
            <a:ext cx="1123950" cy="0"/>
          </a:xfrm>
          <a:prstGeom prst="line">
            <a:avLst/>
          </a:prstGeom>
          <a:ln w="25400">
            <a:solidFill>
              <a:srgbClr val="0E8C8C"/>
            </a:solidFill>
          </a:ln>
          <a:effectLst/>
        </p:spPr>
        <p:style>
          <a:lnRef idx="2">
            <a:schemeClr val="accent1"/>
          </a:lnRef>
          <a:fillRef idx="0">
            <a:schemeClr val="accent1"/>
          </a:fillRef>
          <a:effectRef idx="1">
            <a:schemeClr val="accent1"/>
          </a:effectRef>
          <a:fontRef idx="minor">
            <a:schemeClr val="tx1"/>
          </a:fontRef>
        </p:style>
      </p:cxnSp>
      <p:sp>
        <p:nvSpPr>
          <p:cNvPr id="18" name="Freeform 17"/>
          <p:cNvSpPr/>
          <p:nvPr/>
        </p:nvSpPr>
        <p:spPr>
          <a:xfrm>
            <a:off x="2238375" y="1647825"/>
            <a:ext cx="95250" cy="95250"/>
          </a:xfrm>
          <a:custGeom>
            <a:avLst/>
            <a:gdLst/>
            <a:ahLst/>
            <a:cxnLst/>
            <a:rect l="l" t="t" r="r" b="b"/>
            <a:pathLst>
              <a:path w="10" h="10">
                <a:moveTo>
                  <a:pt x="0" y="5"/>
                </a:moveTo>
                <a:lnTo>
                  <a:pt x="10" y="0"/>
                </a:lnTo>
                <a:lnTo>
                  <a:pt x="10" y="10"/>
                </a:lnTo>
                <a:close/>
              </a:path>
            </a:pathLst>
          </a:custGeom>
          <a:solidFill>
            <a:srgbClr val="0E8C8C"/>
          </a:solidFill>
          <a:ln w="9525">
            <a:solidFill>
              <a:srgbClr val="0E8C8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9" name="Connector 18"/>
          <p:cNvCxnSpPr/>
          <p:nvPr/>
        </p:nvCxnSpPr>
        <p:spPr>
          <a:xfrm>
            <a:off x="2238375" y="1962150"/>
            <a:ext cx="1123950" cy="0"/>
          </a:xfrm>
          <a:prstGeom prst="line">
            <a:avLst/>
          </a:prstGeom>
          <a:ln w="25400">
            <a:solidFill>
              <a:srgbClr val="D08C2A"/>
            </a:solidFill>
          </a:ln>
          <a:effectLst/>
        </p:spPr>
        <p:style>
          <a:lnRef idx="2">
            <a:schemeClr val="accent1"/>
          </a:lnRef>
          <a:fillRef idx="0">
            <a:schemeClr val="accent1"/>
          </a:fillRef>
          <a:effectRef idx="1">
            <a:schemeClr val="accent1"/>
          </a:effectRef>
          <a:fontRef idx="minor">
            <a:schemeClr val="tx1"/>
          </a:fontRef>
        </p:style>
      </p:cxnSp>
      <p:sp>
        <p:nvSpPr>
          <p:cNvPr id="20" name="Freeform 19"/>
          <p:cNvSpPr/>
          <p:nvPr/>
        </p:nvSpPr>
        <p:spPr>
          <a:xfrm>
            <a:off x="3343275" y="1914525"/>
            <a:ext cx="95250" cy="95250"/>
          </a:xfrm>
          <a:custGeom>
            <a:avLst/>
            <a:gdLst/>
            <a:ahLst/>
            <a:cxnLst/>
            <a:rect l="l" t="t" r="r" b="b"/>
            <a:pathLst>
              <a:path w="10" h="10">
                <a:moveTo>
                  <a:pt x="10" y="5"/>
                </a:moveTo>
                <a:lnTo>
                  <a:pt x="0" y="0"/>
                </a:lnTo>
                <a:lnTo>
                  <a:pt x="0" y="10"/>
                </a:lnTo>
                <a:close/>
              </a:path>
            </a:pathLst>
          </a:custGeom>
          <a:solidFill>
            <a:srgbClr val="D08C2A"/>
          </a:solidFill>
          <a:ln w="9525">
            <a:solidFill>
              <a:srgbClr val="D08C2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238375" y="2019300"/>
            <a:ext cx="1200150" cy="171450"/>
          </a:xfrm>
          <a:prstGeom prst="rect">
            <a:avLst/>
          </a:prstGeom>
          <a:noFill/>
        </p:spPr>
        <p:txBody>
          <a:bodyPr wrap="square" lIns="28575" rIns="28575" tIns="9525" bIns="9525" anchor="ctr">
            <a:spAutoFit/>
          </a:bodyPr>
          <a:lstStyle/>
          <a:p>
            <a:pPr algn="ctr"/>
            <a:r>
              <a:rPr sz="1100" b="1">
                <a:solidFill>
                  <a:srgbClr val="D08C2A"/>
                </a:solidFill>
                <a:latin typeface="Calibri"/>
              </a:rPr>
              <a:t>0 down / exit</a:t>
            </a:r>
          </a:p>
        </p:txBody>
      </p:sp>
      <p:sp>
        <p:nvSpPr>
          <p:cNvPr id="22" name="Rounded Rectangle 21"/>
          <p:cNvSpPr/>
          <p:nvPr/>
        </p:nvSpPr>
        <p:spPr>
          <a:xfrm>
            <a:off x="3514725" y="1390650"/>
            <a:ext cx="1905000" cy="876300"/>
          </a:xfrm>
          <a:prstGeom prst="roundRect">
            <a:avLst>
              <a:gd name="adj" fmla="val 4000"/>
            </a:avLst>
          </a:prstGeom>
          <a:solidFill>
            <a:srgbClr val="2E6DB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3514725" y="1447800"/>
            <a:ext cx="1905000" cy="209550"/>
          </a:xfrm>
          <a:prstGeom prst="rect">
            <a:avLst/>
          </a:prstGeom>
          <a:noFill/>
        </p:spPr>
        <p:txBody>
          <a:bodyPr wrap="square" lIns="28575" rIns="28575" tIns="9525" bIns="9525" anchor="ctr">
            <a:spAutoFit/>
          </a:bodyPr>
          <a:lstStyle/>
          <a:p>
            <a:pPr algn="ctr"/>
            <a:r>
              <a:rPr sz="1100" b="1">
                <a:solidFill>
                  <a:srgbClr val="FFFFFF"/>
                </a:solidFill>
                <a:latin typeface="Calibri"/>
              </a:rPr>
              <a:t>Tier 2</a:t>
            </a:r>
          </a:p>
        </p:txBody>
      </p:sp>
      <p:sp>
        <p:nvSpPr>
          <p:cNvPr id="24" name="TextBox 23"/>
          <p:cNvSpPr txBox="1"/>
          <p:nvPr/>
        </p:nvSpPr>
        <p:spPr>
          <a:xfrm>
            <a:off x="3514725" y="1676400"/>
            <a:ext cx="1905000" cy="171450"/>
          </a:xfrm>
          <a:prstGeom prst="rect">
            <a:avLst/>
          </a:prstGeom>
          <a:noFill/>
        </p:spPr>
        <p:txBody>
          <a:bodyPr wrap="square" lIns="28575" rIns="28575" tIns="9525" bIns="9525" anchor="ctr">
            <a:spAutoFit/>
          </a:bodyPr>
          <a:lstStyle/>
          <a:p>
            <a:pPr algn="ctr"/>
            <a:r>
              <a:rPr sz="1100" b="0">
                <a:solidFill>
                  <a:srgbClr val="FFFFFF"/>
                </a:solidFill>
                <a:latin typeface="Calibri"/>
              </a:rPr>
              <a:t>Mid-sized players</a:t>
            </a:r>
          </a:p>
        </p:txBody>
      </p:sp>
      <p:sp>
        <p:nvSpPr>
          <p:cNvPr id="25" name="TextBox 24"/>
          <p:cNvSpPr txBox="1"/>
          <p:nvPr/>
        </p:nvSpPr>
        <p:spPr>
          <a:xfrm>
            <a:off x="3552825" y="1828800"/>
            <a:ext cx="1828800" cy="419100"/>
          </a:xfrm>
          <a:prstGeom prst="rect">
            <a:avLst/>
          </a:prstGeom>
          <a:noFill/>
        </p:spPr>
        <p:txBody>
          <a:bodyPr wrap="square" lIns="28575" rIns="28575" tIns="9525" bIns="9525" anchor="ctr">
            <a:spAutoFit/>
          </a:bodyPr>
          <a:lstStyle/>
          <a:p>
            <a:pPr algn="ctr">
              <a:lnSpc>
                <a:spcPct val="115000"/>
              </a:lnSpc>
            </a:pPr>
            <a:r>
              <a:rPr sz="1100" b="1">
                <a:solidFill>
                  <a:srgbClr val="FFFFFF"/>
                </a:solidFill>
                <a:latin typeface="Calibri"/>
              </a:rPr>
              <a:t/>
            </a:r>
          </a:p>
        </p:txBody>
      </p:sp>
      <p:sp>
        <p:nvSpPr>
          <p:cNvPr id="26" name="TextBox 25"/>
          <p:cNvSpPr txBox="1"/>
          <p:nvPr/>
        </p:nvSpPr>
        <p:spPr>
          <a:xfrm>
            <a:off x="5495925" y="1466850"/>
            <a:ext cx="1200150" cy="171450"/>
          </a:xfrm>
          <a:prstGeom prst="rect">
            <a:avLst/>
          </a:prstGeom>
          <a:noFill/>
        </p:spPr>
        <p:txBody>
          <a:bodyPr wrap="square" lIns="28575" rIns="28575" tIns="9525" bIns="9525" anchor="ctr">
            <a:spAutoFit/>
          </a:bodyPr>
          <a:lstStyle/>
          <a:p>
            <a:pPr algn="ctr"/>
            <a:r>
              <a:rPr sz="1100" b="1">
                <a:solidFill>
                  <a:srgbClr val="0E8C8C"/>
                </a:solidFill>
                <a:latin typeface="Calibri"/>
              </a:rPr>
              <a:t>1 up-tier (M&amp;A)</a:t>
            </a:r>
          </a:p>
        </p:txBody>
      </p:sp>
      <p:cxnSp>
        <p:nvCxnSpPr>
          <p:cNvPr id="27" name="Connector 26"/>
          <p:cNvCxnSpPr/>
          <p:nvPr/>
        </p:nvCxnSpPr>
        <p:spPr>
          <a:xfrm>
            <a:off x="5572125" y="1695450"/>
            <a:ext cx="1123950" cy="0"/>
          </a:xfrm>
          <a:prstGeom prst="line">
            <a:avLst/>
          </a:prstGeom>
          <a:ln w="25400">
            <a:solidFill>
              <a:srgbClr val="0E8C8C"/>
            </a:solidFill>
          </a:ln>
          <a:effectLst/>
        </p:spPr>
        <p:style>
          <a:lnRef idx="2">
            <a:schemeClr val="accent1"/>
          </a:lnRef>
          <a:fillRef idx="0">
            <a:schemeClr val="accent1"/>
          </a:fillRef>
          <a:effectRef idx="1">
            <a:schemeClr val="accent1"/>
          </a:effectRef>
          <a:fontRef idx="minor">
            <a:schemeClr val="tx1"/>
          </a:fontRef>
        </p:style>
      </p:cxnSp>
      <p:sp>
        <p:nvSpPr>
          <p:cNvPr id="28" name="Freeform 27"/>
          <p:cNvSpPr/>
          <p:nvPr/>
        </p:nvSpPr>
        <p:spPr>
          <a:xfrm>
            <a:off x="5495925" y="1647825"/>
            <a:ext cx="95250" cy="95250"/>
          </a:xfrm>
          <a:custGeom>
            <a:avLst/>
            <a:gdLst/>
            <a:ahLst/>
            <a:cxnLst/>
            <a:rect l="l" t="t" r="r" b="b"/>
            <a:pathLst>
              <a:path w="10" h="10">
                <a:moveTo>
                  <a:pt x="0" y="5"/>
                </a:moveTo>
                <a:lnTo>
                  <a:pt x="10" y="0"/>
                </a:lnTo>
                <a:lnTo>
                  <a:pt x="10" y="10"/>
                </a:lnTo>
                <a:close/>
              </a:path>
            </a:pathLst>
          </a:custGeom>
          <a:solidFill>
            <a:srgbClr val="0E8C8C"/>
          </a:solidFill>
          <a:ln w="9525">
            <a:solidFill>
              <a:srgbClr val="0E8C8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9" name="Connector 28"/>
          <p:cNvCxnSpPr/>
          <p:nvPr/>
        </p:nvCxnSpPr>
        <p:spPr>
          <a:xfrm>
            <a:off x="5495925" y="1962150"/>
            <a:ext cx="1123950" cy="0"/>
          </a:xfrm>
          <a:prstGeom prst="line">
            <a:avLst/>
          </a:prstGeom>
          <a:ln w="25400">
            <a:solidFill>
              <a:srgbClr val="D08C2A"/>
            </a:solidFill>
          </a:ln>
          <a:effectLst/>
        </p:spPr>
        <p:style>
          <a:lnRef idx="2">
            <a:schemeClr val="accent1"/>
          </a:lnRef>
          <a:fillRef idx="0">
            <a:schemeClr val="accent1"/>
          </a:fillRef>
          <a:effectRef idx="1">
            <a:schemeClr val="accent1"/>
          </a:effectRef>
          <a:fontRef idx="minor">
            <a:schemeClr val="tx1"/>
          </a:fontRef>
        </p:style>
      </p:cxnSp>
      <p:sp>
        <p:nvSpPr>
          <p:cNvPr id="30" name="Freeform 29"/>
          <p:cNvSpPr/>
          <p:nvPr/>
        </p:nvSpPr>
        <p:spPr>
          <a:xfrm>
            <a:off x="6600825" y="1914525"/>
            <a:ext cx="95250" cy="95250"/>
          </a:xfrm>
          <a:custGeom>
            <a:avLst/>
            <a:gdLst/>
            <a:ahLst/>
            <a:cxnLst/>
            <a:rect l="l" t="t" r="r" b="b"/>
            <a:pathLst>
              <a:path w="10" h="10">
                <a:moveTo>
                  <a:pt x="10" y="5"/>
                </a:moveTo>
                <a:lnTo>
                  <a:pt x="0" y="0"/>
                </a:lnTo>
                <a:lnTo>
                  <a:pt x="0" y="10"/>
                </a:lnTo>
                <a:close/>
              </a:path>
            </a:pathLst>
          </a:custGeom>
          <a:solidFill>
            <a:srgbClr val="D08C2A"/>
          </a:solidFill>
          <a:ln w="9525">
            <a:solidFill>
              <a:srgbClr val="D08C2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5495925" y="2019300"/>
            <a:ext cx="1200150" cy="171450"/>
          </a:xfrm>
          <a:prstGeom prst="rect">
            <a:avLst/>
          </a:prstGeom>
          <a:noFill/>
        </p:spPr>
        <p:txBody>
          <a:bodyPr wrap="square" lIns="28575" rIns="28575" tIns="9525" bIns="9525" anchor="ctr">
            <a:spAutoFit/>
          </a:bodyPr>
          <a:lstStyle/>
          <a:p>
            <a:pPr algn="ctr"/>
            <a:r>
              <a:rPr sz="1100" b="1">
                <a:solidFill>
                  <a:srgbClr val="D08C2A"/>
                </a:solidFill>
                <a:latin typeface="Calibri"/>
              </a:rPr>
              <a:t>0 down / exit</a:t>
            </a:r>
          </a:p>
        </p:txBody>
      </p:sp>
      <p:sp>
        <p:nvSpPr>
          <p:cNvPr id="32" name="Rounded Rectangle 31"/>
          <p:cNvSpPr/>
          <p:nvPr/>
        </p:nvSpPr>
        <p:spPr>
          <a:xfrm>
            <a:off x="6772275" y="1390650"/>
            <a:ext cx="1905000" cy="876300"/>
          </a:xfrm>
          <a:prstGeom prst="roundRect">
            <a:avLst>
              <a:gd name="adj" fmla="val 4000"/>
            </a:avLst>
          </a:prstGeom>
          <a:solidFill>
            <a:srgbClr val="6FA8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6772275" y="1447800"/>
            <a:ext cx="1905000" cy="209550"/>
          </a:xfrm>
          <a:prstGeom prst="rect">
            <a:avLst/>
          </a:prstGeom>
          <a:noFill/>
        </p:spPr>
        <p:txBody>
          <a:bodyPr wrap="square" lIns="28575" rIns="28575" tIns="9525" bIns="9525" anchor="ctr">
            <a:spAutoFit/>
          </a:bodyPr>
          <a:lstStyle/>
          <a:p>
            <a:pPr algn="ctr"/>
            <a:r>
              <a:rPr sz="1100" b="1">
                <a:solidFill>
                  <a:srgbClr val="FFFFFF"/>
                </a:solidFill>
                <a:latin typeface="Calibri"/>
              </a:rPr>
              <a:t>Tier 3</a:t>
            </a:r>
          </a:p>
        </p:txBody>
      </p:sp>
      <p:sp>
        <p:nvSpPr>
          <p:cNvPr id="34" name="TextBox 33"/>
          <p:cNvSpPr txBox="1"/>
          <p:nvPr/>
        </p:nvSpPr>
        <p:spPr>
          <a:xfrm>
            <a:off x="6772275" y="1676400"/>
            <a:ext cx="1905000" cy="171450"/>
          </a:xfrm>
          <a:prstGeom prst="rect">
            <a:avLst/>
          </a:prstGeom>
          <a:noFill/>
        </p:spPr>
        <p:txBody>
          <a:bodyPr wrap="square" lIns="28575" rIns="28575" tIns="9525" bIns="9525" anchor="ctr">
            <a:spAutoFit/>
          </a:bodyPr>
          <a:lstStyle/>
          <a:p>
            <a:pPr algn="ctr"/>
            <a:r>
              <a:rPr sz="1100" b="0">
                <a:solidFill>
                  <a:srgbClr val="FFFFFF"/>
                </a:solidFill>
                <a:latin typeface="Calibri"/>
              </a:rPr>
              <a:t>Emerging / local players</a:t>
            </a:r>
          </a:p>
        </p:txBody>
      </p:sp>
      <p:sp>
        <p:nvSpPr>
          <p:cNvPr id="35" name="TextBox 34"/>
          <p:cNvSpPr txBox="1"/>
          <p:nvPr/>
        </p:nvSpPr>
        <p:spPr>
          <a:xfrm>
            <a:off x="6810375" y="1828800"/>
            <a:ext cx="1828800" cy="419100"/>
          </a:xfrm>
          <a:prstGeom prst="rect">
            <a:avLst/>
          </a:prstGeom>
          <a:noFill/>
        </p:spPr>
        <p:txBody>
          <a:bodyPr wrap="square" lIns="28575" rIns="28575" tIns="9525" bIns="9525" anchor="ctr">
            <a:spAutoFit/>
          </a:bodyPr>
          <a:lstStyle/>
          <a:p>
            <a:pPr algn="ctr">
              <a:lnSpc>
                <a:spcPct val="115000"/>
              </a:lnSpc>
            </a:pPr>
            <a:r>
              <a:rPr sz="1100" b="1">
                <a:solidFill>
                  <a:srgbClr val="FFFFFF"/>
                </a:solidFill>
                <a:latin typeface="Calibri"/>
              </a:rPr>
              <a:t/>
            </a:r>
          </a:p>
        </p:txBody>
      </p:sp>
      <p:sp>
        <p:nvSpPr>
          <p:cNvPr id="36" name="TextBox 35"/>
          <p:cNvSpPr txBox="1"/>
          <p:nvPr/>
        </p:nvSpPr>
        <p:spPr>
          <a:xfrm>
            <a:off x="8753475" y="1466850"/>
            <a:ext cx="1200150" cy="171450"/>
          </a:xfrm>
          <a:prstGeom prst="rect">
            <a:avLst/>
          </a:prstGeom>
          <a:noFill/>
        </p:spPr>
        <p:txBody>
          <a:bodyPr wrap="square" lIns="28575" rIns="28575" tIns="9525" bIns="9525" anchor="ctr">
            <a:spAutoFit/>
          </a:bodyPr>
          <a:lstStyle/>
          <a:p>
            <a:pPr algn="ctr"/>
            <a:r>
              <a:rPr sz="1100" b="1">
                <a:solidFill>
                  <a:srgbClr val="0E8C8C"/>
                </a:solidFill>
                <a:latin typeface="Calibri"/>
              </a:rPr>
              <a:t>2 up-tier (M&amp;A)</a:t>
            </a:r>
          </a:p>
        </p:txBody>
      </p:sp>
      <p:cxnSp>
        <p:nvCxnSpPr>
          <p:cNvPr id="37" name="Connector 36"/>
          <p:cNvCxnSpPr/>
          <p:nvPr/>
        </p:nvCxnSpPr>
        <p:spPr>
          <a:xfrm>
            <a:off x="8829675" y="1695450"/>
            <a:ext cx="1123950" cy="0"/>
          </a:xfrm>
          <a:prstGeom prst="line">
            <a:avLst/>
          </a:prstGeom>
          <a:ln w="25400">
            <a:solidFill>
              <a:srgbClr val="0E8C8C"/>
            </a:solidFill>
          </a:ln>
          <a:effectLst/>
        </p:spPr>
        <p:style>
          <a:lnRef idx="2">
            <a:schemeClr val="accent1"/>
          </a:lnRef>
          <a:fillRef idx="0">
            <a:schemeClr val="accent1"/>
          </a:fillRef>
          <a:effectRef idx="1">
            <a:schemeClr val="accent1"/>
          </a:effectRef>
          <a:fontRef idx="minor">
            <a:schemeClr val="tx1"/>
          </a:fontRef>
        </p:style>
      </p:cxnSp>
      <p:sp>
        <p:nvSpPr>
          <p:cNvPr id="38" name="Freeform 37"/>
          <p:cNvSpPr/>
          <p:nvPr/>
        </p:nvSpPr>
        <p:spPr>
          <a:xfrm>
            <a:off x="8753475" y="1647825"/>
            <a:ext cx="95250" cy="95250"/>
          </a:xfrm>
          <a:custGeom>
            <a:avLst/>
            <a:gdLst/>
            <a:ahLst/>
            <a:cxnLst/>
            <a:rect l="l" t="t" r="r" b="b"/>
            <a:pathLst>
              <a:path w="10" h="10">
                <a:moveTo>
                  <a:pt x="0" y="5"/>
                </a:moveTo>
                <a:lnTo>
                  <a:pt x="10" y="0"/>
                </a:lnTo>
                <a:lnTo>
                  <a:pt x="10" y="10"/>
                </a:lnTo>
                <a:close/>
              </a:path>
            </a:pathLst>
          </a:custGeom>
          <a:solidFill>
            <a:srgbClr val="0E8C8C"/>
          </a:solidFill>
          <a:ln w="9525">
            <a:solidFill>
              <a:srgbClr val="0E8C8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9" name="Connector 38"/>
          <p:cNvCxnSpPr/>
          <p:nvPr/>
        </p:nvCxnSpPr>
        <p:spPr>
          <a:xfrm>
            <a:off x="8753475" y="1962150"/>
            <a:ext cx="1123950" cy="0"/>
          </a:xfrm>
          <a:prstGeom prst="line">
            <a:avLst/>
          </a:prstGeom>
          <a:ln w="25400">
            <a:solidFill>
              <a:srgbClr val="D08C2A"/>
            </a:solidFill>
          </a:ln>
          <a:effectLst/>
        </p:spPr>
        <p:style>
          <a:lnRef idx="2">
            <a:schemeClr val="accent1"/>
          </a:lnRef>
          <a:fillRef idx="0">
            <a:schemeClr val="accent1"/>
          </a:fillRef>
          <a:effectRef idx="1">
            <a:schemeClr val="accent1"/>
          </a:effectRef>
          <a:fontRef idx="minor">
            <a:schemeClr val="tx1"/>
          </a:fontRef>
        </p:style>
      </p:cxnSp>
      <p:sp>
        <p:nvSpPr>
          <p:cNvPr id="40" name="Freeform 39"/>
          <p:cNvSpPr/>
          <p:nvPr/>
        </p:nvSpPr>
        <p:spPr>
          <a:xfrm>
            <a:off x="9858375" y="1914525"/>
            <a:ext cx="95250" cy="95250"/>
          </a:xfrm>
          <a:custGeom>
            <a:avLst/>
            <a:gdLst/>
            <a:ahLst/>
            <a:cxnLst/>
            <a:rect l="l" t="t" r="r" b="b"/>
            <a:pathLst>
              <a:path w="10" h="10">
                <a:moveTo>
                  <a:pt x="10" y="5"/>
                </a:moveTo>
                <a:lnTo>
                  <a:pt x="0" y="0"/>
                </a:lnTo>
                <a:lnTo>
                  <a:pt x="0" y="10"/>
                </a:lnTo>
                <a:close/>
              </a:path>
            </a:pathLst>
          </a:custGeom>
          <a:solidFill>
            <a:srgbClr val="D08C2A"/>
          </a:solidFill>
          <a:ln w="9525">
            <a:solidFill>
              <a:srgbClr val="D08C2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8753475" y="2019300"/>
            <a:ext cx="1200150" cy="171450"/>
          </a:xfrm>
          <a:prstGeom prst="rect">
            <a:avLst/>
          </a:prstGeom>
          <a:noFill/>
        </p:spPr>
        <p:txBody>
          <a:bodyPr wrap="square" lIns="28575" rIns="28575" tIns="9525" bIns="9525" anchor="ctr">
            <a:spAutoFit/>
          </a:bodyPr>
          <a:lstStyle/>
          <a:p>
            <a:pPr algn="ctr"/>
            <a:r>
              <a:rPr sz="1100" b="1">
                <a:solidFill>
                  <a:srgbClr val="D08C2A"/>
                </a:solidFill>
                <a:latin typeface="Calibri"/>
              </a:rPr>
              <a:t>1 down / exit</a:t>
            </a:r>
          </a:p>
        </p:txBody>
      </p:sp>
      <p:sp>
        <p:nvSpPr>
          <p:cNvPr id="42" name="Rounded Rectangle 41"/>
          <p:cNvSpPr/>
          <p:nvPr/>
        </p:nvSpPr>
        <p:spPr>
          <a:xfrm>
            <a:off x="10029825" y="1390650"/>
            <a:ext cx="1905000" cy="876300"/>
          </a:xfrm>
          <a:prstGeom prst="roundRect">
            <a:avLst>
              <a:gd name="adj" fmla="val 4000"/>
            </a:avLst>
          </a:prstGeom>
          <a:solidFill>
            <a:srgbClr val="9FC5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10029825" y="1447800"/>
            <a:ext cx="1905000" cy="209550"/>
          </a:xfrm>
          <a:prstGeom prst="rect">
            <a:avLst/>
          </a:prstGeom>
          <a:noFill/>
        </p:spPr>
        <p:txBody>
          <a:bodyPr wrap="square" lIns="28575" rIns="28575" tIns="9525" bIns="9525" anchor="ctr">
            <a:spAutoFit/>
          </a:bodyPr>
          <a:lstStyle/>
          <a:p>
            <a:pPr algn="ctr"/>
            <a:r>
              <a:rPr sz="1100" b="1">
                <a:solidFill>
                  <a:srgbClr val="14213D"/>
                </a:solidFill>
                <a:latin typeface="Calibri"/>
              </a:rPr>
              <a:t>Others</a:t>
            </a:r>
          </a:p>
        </p:txBody>
      </p:sp>
      <p:sp>
        <p:nvSpPr>
          <p:cNvPr id="44" name="TextBox 43"/>
          <p:cNvSpPr txBox="1"/>
          <p:nvPr/>
        </p:nvSpPr>
        <p:spPr>
          <a:xfrm>
            <a:off x="10029825" y="1676400"/>
            <a:ext cx="1905000" cy="171450"/>
          </a:xfrm>
          <a:prstGeom prst="rect">
            <a:avLst/>
          </a:prstGeom>
          <a:noFill/>
        </p:spPr>
        <p:txBody>
          <a:bodyPr wrap="square" lIns="28575" rIns="28575" tIns="9525" bIns="9525" anchor="ctr">
            <a:spAutoFit/>
          </a:bodyPr>
          <a:lstStyle/>
          <a:p>
            <a:pPr algn="ctr"/>
            <a:r>
              <a:rPr sz="1100" b="0">
                <a:solidFill>
                  <a:srgbClr val="14213D"/>
                </a:solidFill>
                <a:latin typeface="Calibri"/>
              </a:rPr>
              <a:t>Long tail</a:t>
            </a:r>
          </a:p>
        </p:txBody>
      </p:sp>
      <p:sp>
        <p:nvSpPr>
          <p:cNvPr id="45" name="TextBox 44"/>
          <p:cNvSpPr txBox="1"/>
          <p:nvPr/>
        </p:nvSpPr>
        <p:spPr>
          <a:xfrm>
            <a:off x="10067925" y="1828800"/>
            <a:ext cx="1828800" cy="41910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
            </a:r>
          </a:p>
        </p:txBody>
      </p:sp>
      <p:sp>
        <p:nvSpPr>
          <p:cNvPr id="46" name="Rounded Rectangle 45"/>
          <p:cNvSpPr/>
          <p:nvPr/>
        </p:nvSpPr>
        <p:spPr>
          <a:xfrm>
            <a:off x="257175" y="2400300"/>
            <a:ext cx="2819400" cy="914400"/>
          </a:xfrm>
          <a:prstGeom prst="roundRect">
            <a:avLst>
              <a:gd name="adj" fmla="val 2702"/>
            </a:avLst>
          </a:prstGeom>
          <a:solidFill>
            <a:srgbClr val="EAF1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FMI KPI Value"/>
          <p:cNvSpPr txBox="1"/>
          <p:nvPr/>
        </p:nvSpPr>
        <p:spPr>
          <a:xfrm>
            <a:off x="352425" y="2457450"/>
            <a:ext cx="762000" cy="342900"/>
          </a:xfrm>
          <a:prstGeom prst="rect">
            <a:avLst/>
          </a:prstGeom>
          <a:noFill/>
        </p:spPr>
        <p:txBody>
          <a:bodyPr wrap="square" lIns="28575" rIns="28575" tIns="9525" bIns="9525" anchor="ctr">
            <a:spAutoFit/>
          </a:bodyPr>
          <a:lstStyle/>
          <a:p>
            <a:pPr algn="ctr"/>
            <a:r>
              <a:rPr sz="1100" b="1">
                <a:solidFill>
                  <a:srgbClr val="1F3A6E"/>
                </a:solidFill>
                <a:latin typeface="Calibri"/>
              </a:rPr>
              <a:t> </a:t>
            </a:r>
          </a:p>
        </p:txBody>
      </p:sp>
      <p:sp>
        <p:nvSpPr>
          <p:cNvPr id="48" name="TextBox 47"/>
          <p:cNvSpPr txBox="1"/>
          <p:nvPr/>
        </p:nvSpPr>
        <p:spPr>
          <a:xfrm>
            <a:off x="1190625" y="2457450"/>
            <a:ext cx="1809750" cy="342900"/>
          </a:xfrm>
          <a:prstGeom prst="rect">
            <a:avLst/>
          </a:prstGeom>
          <a:noFill/>
        </p:spPr>
        <p:txBody>
          <a:bodyPr wrap="square" lIns="28575" rIns="28575" tIns="9525" bIns="9525" anchor="t">
            <a:spAutoFit/>
          </a:bodyPr>
          <a:lstStyle/>
          <a:p>
            <a:pPr algn="l">
              <a:lnSpc>
                <a:spcPct val="115000"/>
              </a:lnSpc>
            </a:pPr>
            <a:r>
              <a:rPr sz="1100" b="1">
                <a:solidFill>
                  <a:srgbClr val="14213D"/>
                </a:solidFill>
                <a:latin typeface="Calibri"/>
              </a:rPr>
              <a:t>New entrants 2026–2036</a:t>
            </a:r>
          </a:p>
        </p:txBody>
      </p:sp>
      <p:sp>
        <p:nvSpPr>
          <p:cNvPr id="49" name="TextBox 48"/>
          <p:cNvSpPr txBox="1"/>
          <p:nvPr/>
        </p:nvSpPr>
        <p:spPr>
          <a:xfrm>
            <a:off x="1190625" y="2800350"/>
            <a:ext cx="1809750" cy="3810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scaling up from the long tail</a:t>
            </a:r>
          </a:p>
        </p:txBody>
      </p:sp>
      <p:sp>
        <p:nvSpPr>
          <p:cNvPr id="50" name="Rounded Rectangle 49"/>
          <p:cNvSpPr/>
          <p:nvPr/>
        </p:nvSpPr>
        <p:spPr>
          <a:xfrm>
            <a:off x="3209925" y="2400300"/>
            <a:ext cx="2819400" cy="914400"/>
          </a:xfrm>
          <a:prstGeom prst="roundRect">
            <a:avLst>
              <a:gd name="adj" fmla="val 2702"/>
            </a:avLst>
          </a:prstGeom>
          <a:solidFill>
            <a:srgbClr val="EAF1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FMI KPI Value"/>
          <p:cNvSpPr txBox="1"/>
          <p:nvPr/>
        </p:nvSpPr>
        <p:spPr>
          <a:xfrm>
            <a:off x="3305175" y="2457450"/>
            <a:ext cx="762000" cy="342900"/>
          </a:xfrm>
          <a:prstGeom prst="rect">
            <a:avLst/>
          </a:prstGeom>
          <a:noFill/>
        </p:spPr>
        <p:txBody>
          <a:bodyPr wrap="square" lIns="28575" rIns="28575" tIns="9525" bIns="9525" anchor="ctr">
            <a:spAutoFit/>
          </a:bodyPr>
          <a:lstStyle/>
          <a:p>
            <a:pPr algn="ctr"/>
            <a:r>
              <a:rPr sz="1100" b="1">
                <a:solidFill>
                  <a:srgbClr val="1F3A6E"/>
                </a:solidFill>
                <a:latin typeface="Calibri"/>
              </a:rPr>
              <a:t> </a:t>
            </a:r>
          </a:p>
        </p:txBody>
      </p:sp>
      <p:sp>
        <p:nvSpPr>
          <p:cNvPr id="52" name="TextBox 51"/>
          <p:cNvSpPr txBox="1"/>
          <p:nvPr/>
        </p:nvSpPr>
        <p:spPr>
          <a:xfrm>
            <a:off x="4143375" y="2457450"/>
            <a:ext cx="1809750" cy="342900"/>
          </a:xfrm>
          <a:prstGeom prst="rect">
            <a:avLst/>
          </a:prstGeom>
          <a:noFill/>
        </p:spPr>
        <p:txBody>
          <a:bodyPr wrap="square" lIns="28575" rIns="28575" tIns="9525" bIns="9525" anchor="t">
            <a:spAutoFit/>
          </a:bodyPr>
          <a:lstStyle/>
          <a:p>
            <a:pPr algn="l">
              <a:lnSpc>
                <a:spcPct val="115000"/>
              </a:lnSpc>
            </a:pPr>
            <a:r>
              <a:rPr sz="1100" b="1">
                <a:solidFill>
                  <a:srgbClr val="14213D"/>
                </a:solidFill>
                <a:latin typeface="Calibri"/>
              </a:rPr>
              <a:t>Exits / acquisitions</a:t>
            </a:r>
          </a:p>
        </p:txBody>
      </p:sp>
      <p:sp>
        <p:nvSpPr>
          <p:cNvPr id="53" name="TextBox 52"/>
          <p:cNvSpPr txBox="1"/>
          <p:nvPr/>
        </p:nvSpPr>
        <p:spPr>
          <a:xfrm>
            <a:off x="4143375" y="2800350"/>
            <a:ext cx="1809750" cy="3810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absorbed mainly by Tier 1–2 acquirers</a:t>
            </a:r>
          </a:p>
        </p:txBody>
      </p:sp>
      <p:sp>
        <p:nvSpPr>
          <p:cNvPr id="54" name="Rounded Rectangle 53"/>
          <p:cNvSpPr/>
          <p:nvPr/>
        </p:nvSpPr>
        <p:spPr>
          <a:xfrm>
            <a:off x="6162675" y="2400300"/>
            <a:ext cx="2819400" cy="914400"/>
          </a:xfrm>
          <a:prstGeom prst="roundRect">
            <a:avLst>
              <a:gd name="adj" fmla="val 2702"/>
            </a:avLst>
          </a:prstGeom>
          <a:solidFill>
            <a:srgbClr val="EAF1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FMI KPI Value"/>
          <p:cNvSpPr txBox="1"/>
          <p:nvPr/>
        </p:nvSpPr>
        <p:spPr>
          <a:xfrm>
            <a:off x="6257925" y="2457450"/>
            <a:ext cx="762000" cy="342900"/>
          </a:xfrm>
          <a:prstGeom prst="rect">
            <a:avLst/>
          </a:prstGeom>
          <a:noFill/>
        </p:spPr>
        <p:txBody>
          <a:bodyPr wrap="square" lIns="28575" rIns="28575" tIns="9525" bIns="9525" anchor="ctr">
            <a:spAutoFit/>
          </a:bodyPr>
          <a:lstStyle/>
          <a:p>
            <a:pPr algn="ctr"/>
            <a:r>
              <a:rPr sz="1100" b="1">
                <a:solidFill>
                  <a:srgbClr val="1F3A6E"/>
                </a:solidFill>
                <a:latin typeface="Calibri"/>
              </a:rPr>
              <a:t> </a:t>
            </a:r>
          </a:p>
        </p:txBody>
      </p:sp>
      <p:sp>
        <p:nvSpPr>
          <p:cNvPr id="56" name="TextBox 55"/>
          <p:cNvSpPr txBox="1"/>
          <p:nvPr/>
        </p:nvSpPr>
        <p:spPr>
          <a:xfrm>
            <a:off x="7096125" y="2457450"/>
            <a:ext cx="1809750" cy="342900"/>
          </a:xfrm>
          <a:prstGeom prst="rect">
            <a:avLst/>
          </a:prstGeom>
          <a:noFill/>
        </p:spPr>
        <p:txBody>
          <a:bodyPr wrap="square" lIns="28575" rIns="28575" tIns="9525" bIns="9525" anchor="t">
            <a:spAutoFit/>
          </a:bodyPr>
          <a:lstStyle/>
          <a:p>
            <a:pPr algn="l">
              <a:lnSpc>
                <a:spcPct val="115000"/>
              </a:lnSpc>
            </a:pPr>
            <a:r>
              <a:rPr sz="1100" b="1">
                <a:solidFill>
                  <a:srgbClr val="14213D"/>
                </a:solidFill>
                <a:latin typeface="Calibri"/>
              </a:rPr>
              <a:t>Net change in player count</a:t>
            </a:r>
          </a:p>
        </p:txBody>
      </p:sp>
      <p:sp>
        <p:nvSpPr>
          <p:cNvPr id="57" name="TextBox 56"/>
          <p:cNvSpPr txBox="1"/>
          <p:nvPr/>
        </p:nvSpPr>
        <p:spPr>
          <a:xfrm>
            <a:off x="7096125" y="2800350"/>
            <a:ext cx="1809750" cy="3810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Between 2026 and 2036</a:t>
            </a:r>
          </a:p>
        </p:txBody>
      </p:sp>
      <p:sp>
        <p:nvSpPr>
          <p:cNvPr id="58" name="Rounded Rectangle 57"/>
          <p:cNvSpPr/>
          <p:nvPr/>
        </p:nvSpPr>
        <p:spPr>
          <a:xfrm>
            <a:off x="9115425" y="2400300"/>
            <a:ext cx="2819400" cy="914400"/>
          </a:xfrm>
          <a:prstGeom prst="roundRect">
            <a:avLst>
              <a:gd name="adj" fmla="val 2702"/>
            </a:avLst>
          </a:prstGeom>
          <a:solidFill>
            <a:srgbClr val="EAF1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FMI KPI Value"/>
          <p:cNvSpPr txBox="1"/>
          <p:nvPr/>
        </p:nvSpPr>
        <p:spPr>
          <a:xfrm>
            <a:off x="9210675" y="2457450"/>
            <a:ext cx="762000" cy="342900"/>
          </a:xfrm>
          <a:prstGeom prst="rect">
            <a:avLst/>
          </a:prstGeom>
          <a:noFill/>
        </p:spPr>
        <p:txBody>
          <a:bodyPr wrap="square" lIns="28575" rIns="28575" tIns="9525" bIns="9525" anchor="ctr">
            <a:spAutoFit/>
          </a:bodyPr>
          <a:lstStyle/>
          <a:p>
            <a:pPr algn="ctr"/>
            <a:r>
              <a:rPr sz="1100" b="1">
                <a:solidFill>
                  <a:srgbClr val="1F3A6E"/>
                </a:solidFill>
                <a:latin typeface="Calibri"/>
              </a:rPr>
              <a:t> </a:t>
            </a:r>
          </a:p>
        </p:txBody>
      </p:sp>
      <p:sp>
        <p:nvSpPr>
          <p:cNvPr id="60" name="TextBox 59"/>
          <p:cNvSpPr txBox="1"/>
          <p:nvPr/>
        </p:nvSpPr>
        <p:spPr>
          <a:xfrm>
            <a:off x="10048875" y="2457450"/>
            <a:ext cx="1809750" cy="342900"/>
          </a:xfrm>
          <a:prstGeom prst="rect">
            <a:avLst/>
          </a:prstGeom>
          <a:noFill/>
        </p:spPr>
        <p:txBody>
          <a:bodyPr wrap="square" lIns="28575" rIns="28575" tIns="9525" bIns="9525" anchor="t">
            <a:spAutoFit/>
          </a:bodyPr>
          <a:lstStyle/>
          <a:p>
            <a:pPr algn="l">
              <a:lnSpc>
                <a:spcPct val="115000"/>
              </a:lnSpc>
            </a:pPr>
            <a:r>
              <a:rPr sz="1100" b="1">
                <a:solidFill>
                  <a:srgbClr val="14213D"/>
                </a:solidFill>
                <a:latin typeface="Calibri"/>
              </a:rPr>
              <a:t>Share moving between tiers</a:t>
            </a:r>
          </a:p>
        </p:txBody>
      </p:sp>
      <p:sp>
        <p:nvSpPr>
          <p:cNvPr id="61" name="TextBox 60"/>
          <p:cNvSpPr txBox="1"/>
          <p:nvPr/>
        </p:nvSpPr>
        <p:spPr>
          <a:xfrm>
            <a:off x="10048875" y="2800350"/>
            <a:ext cx="1809750" cy="3810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largest transfer: Others → Tier 2</a:t>
            </a:r>
          </a:p>
        </p:txBody>
      </p:sp>
      <p:sp>
        <p:nvSpPr>
          <p:cNvPr id="62" name="Rounded Rectangle 61"/>
          <p:cNvSpPr/>
          <p:nvPr/>
        </p:nvSpPr>
        <p:spPr>
          <a:xfrm>
            <a:off x="142875" y="3543300"/>
            <a:ext cx="7096125" cy="3086100"/>
          </a:xfrm>
          <a:prstGeom prst="roundRect">
            <a:avLst>
              <a:gd name="adj" fmla="val 107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238125" y="3600450"/>
            <a:ext cx="6905625" cy="209550"/>
          </a:xfrm>
          <a:prstGeom prst="rect">
            <a:avLst/>
          </a:prstGeom>
          <a:noFill/>
        </p:spPr>
        <p:txBody>
          <a:bodyPr wrap="square" lIns="28575" rIns="28575" tIns="9525" bIns="9525" anchor="ctr">
            <a:spAutoFit/>
          </a:bodyPr>
          <a:lstStyle/>
          <a:p>
            <a:pPr algn="l"/>
            <a:r>
              <a:rPr sz="1200" b="1">
                <a:solidFill>
                  <a:srgbClr val="2E2E2E"/>
                </a:solidFill>
                <a:latin typeface="Calibri"/>
              </a:rPr>
              <a:t>Structural Forces Shaping the Tier Structure (1 = weak, 5 = strong)</a:t>
            </a:r>
          </a:p>
        </p:txBody>
      </p:sp>
      <p:sp>
        <p:nvSpPr>
          <p:cNvPr id="64" name="Rectangle 63"/>
          <p:cNvSpPr/>
          <p:nvPr/>
        </p:nvSpPr>
        <p:spPr>
          <a:xfrm>
            <a:off x="238125" y="3867150"/>
            <a:ext cx="1428750"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295275" y="3867150"/>
            <a:ext cx="1352550" cy="247650"/>
          </a:xfrm>
          <a:prstGeom prst="rect">
            <a:avLst/>
          </a:prstGeom>
          <a:noFill/>
        </p:spPr>
        <p:txBody>
          <a:bodyPr wrap="square" lIns="28575" rIns="28575" tIns="9525" bIns="9525" anchor="ctr">
            <a:spAutoFit/>
          </a:bodyPr>
          <a:lstStyle/>
          <a:p>
            <a:pPr algn="l"/>
            <a:r>
              <a:rPr sz="1100" b="1">
                <a:solidFill>
                  <a:srgbClr val="FFFFFF"/>
                </a:solidFill>
                <a:latin typeface="Calibri"/>
              </a:rPr>
              <a:t>Force</a:t>
            </a:r>
          </a:p>
        </p:txBody>
      </p:sp>
      <p:sp>
        <p:nvSpPr>
          <p:cNvPr id="66" name="Rectangle 65"/>
          <p:cNvSpPr/>
          <p:nvPr/>
        </p:nvSpPr>
        <p:spPr>
          <a:xfrm>
            <a:off x="1666875" y="3867150"/>
            <a:ext cx="2333625"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1724025" y="3867150"/>
            <a:ext cx="2257425" cy="247650"/>
          </a:xfrm>
          <a:prstGeom prst="rect">
            <a:avLst/>
          </a:prstGeom>
          <a:noFill/>
        </p:spPr>
        <p:txBody>
          <a:bodyPr wrap="square" lIns="28575" rIns="28575" tIns="9525" bIns="9525" anchor="ctr">
            <a:spAutoFit/>
          </a:bodyPr>
          <a:lstStyle/>
          <a:p>
            <a:pPr algn="l"/>
            <a:r>
              <a:rPr sz="1100" b="1">
                <a:solidFill>
                  <a:srgbClr val="FFFFFF"/>
                </a:solidFill>
                <a:latin typeface="Calibri"/>
              </a:rPr>
              <a:t>Drivers in the market</a:t>
            </a:r>
          </a:p>
        </p:txBody>
      </p:sp>
      <p:sp>
        <p:nvSpPr>
          <p:cNvPr id="68" name="Rectangle 67"/>
          <p:cNvSpPr/>
          <p:nvPr/>
        </p:nvSpPr>
        <p:spPr>
          <a:xfrm>
            <a:off x="4000500" y="3867150"/>
            <a:ext cx="666750"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4057650" y="3867150"/>
            <a:ext cx="590550" cy="247650"/>
          </a:xfrm>
          <a:prstGeom prst="rect">
            <a:avLst/>
          </a:prstGeom>
          <a:noFill/>
        </p:spPr>
        <p:txBody>
          <a:bodyPr wrap="square" lIns="28575" rIns="28575" tIns="9525" bIns="9525" anchor="ctr">
            <a:spAutoFit/>
          </a:bodyPr>
          <a:lstStyle/>
          <a:p>
            <a:pPr algn="l"/>
            <a:r>
              <a:rPr sz="1100" b="1">
                <a:solidFill>
                  <a:srgbClr val="FFFFFF"/>
                </a:solidFill>
                <a:latin typeface="Calibri"/>
              </a:rPr>
              <a:t>Score</a:t>
            </a:r>
          </a:p>
        </p:txBody>
      </p:sp>
      <p:sp>
        <p:nvSpPr>
          <p:cNvPr id="70" name="Rectangle 69"/>
          <p:cNvSpPr/>
          <p:nvPr/>
        </p:nvSpPr>
        <p:spPr>
          <a:xfrm>
            <a:off x="4667250" y="3867150"/>
            <a:ext cx="2476500" cy="247650"/>
          </a:xfrm>
          <a:prstGeom prst="rect">
            <a:avLst/>
          </a:prstGeom>
          <a:solidFill>
            <a:srgbClr val="0E8C8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4724400" y="3867150"/>
            <a:ext cx="2400300" cy="247650"/>
          </a:xfrm>
          <a:prstGeom prst="rect">
            <a:avLst/>
          </a:prstGeom>
          <a:noFill/>
        </p:spPr>
        <p:txBody>
          <a:bodyPr wrap="square" lIns="28575" rIns="28575" tIns="9525" bIns="9525" anchor="ctr">
            <a:spAutoFit/>
          </a:bodyPr>
          <a:lstStyle/>
          <a:p>
            <a:pPr algn="l"/>
            <a:r>
              <a:rPr sz="1100" b="1">
                <a:solidFill>
                  <a:srgbClr val="FFFFFF"/>
                </a:solidFill>
                <a:latin typeface="Calibri"/>
              </a:rPr>
              <a:t>Effect on tier structure</a:t>
            </a:r>
          </a:p>
        </p:txBody>
      </p:sp>
      <p:sp>
        <p:nvSpPr>
          <p:cNvPr id="72" name="Rectangle 71"/>
          <p:cNvSpPr/>
          <p:nvPr/>
        </p:nvSpPr>
        <p:spPr>
          <a:xfrm>
            <a:off x="238125" y="4114800"/>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295275" y="4114800"/>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Entry barriers</a:t>
            </a:r>
          </a:p>
        </p:txBody>
      </p:sp>
      <p:sp>
        <p:nvSpPr>
          <p:cNvPr id="74" name="Rectangle 73"/>
          <p:cNvSpPr/>
          <p:nvPr/>
        </p:nvSpPr>
        <p:spPr>
          <a:xfrm>
            <a:off x="1666875" y="4114800"/>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1724025" y="4114800"/>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Certification, qualification, scale economics</a:t>
            </a:r>
          </a:p>
        </p:txBody>
      </p:sp>
      <p:sp>
        <p:nvSpPr>
          <p:cNvPr id="76" name="Rectangle 75"/>
          <p:cNvSpPr/>
          <p:nvPr/>
        </p:nvSpPr>
        <p:spPr>
          <a:xfrm>
            <a:off x="4000500" y="4114800"/>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4057650" y="4114800"/>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 </a:t>
            </a:r>
          </a:p>
        </p:txBody>
      </p:sp>
      <p:sp>
        <p:nvSpPr>
          <p:cNvPr id="78" name="Rectangle 77"/>
          <p:cNvSpPr/>
          <p:nvPr/>
        </p:nvSpPr>
        <p:spPr>
          <a:xfrm>
            <a:off x="4667250" y="4114800"/>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4724400" y="4114800"/>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Protects Tier 1–2; slows new entry</a:t>
            </a:r>
          </a:p>
        </p:txBody>
      </p:sp>
      <p:sp>
        <p:nvSpPr>
          <p:cNvPr id="80" name="Rectangle 79"/>
          <p:cNvSpPr/>
          <p:nvPr/>
        </p:nvSpPr>
        <p:spPr>
          <a:xfrm>
            <a:off x="238125" y="4524375"/>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TextBox 80"/>
          <p:cNvSpPr txBox="1"/>
          <p:nvPr/>
        </p:nvSpPr>
        <p:spPr>
          <a:xfrm>
            <a:off x="295275" y="4524375"/>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Buyer power</a:t>
            </a:r>
          </a:p>
        </p:txBody>
      </p:sp>
      <p:sp>
        <p:nvSpPr>
          <p:cNvPr id="82" name="Rectangle 81"/>
          <p:cNvSpPr/>
          <p:nvPr/>
        </p:nvSpPr>
        <p:spPr>
          <a:xfrm>
            <a:off x="1666875" y="4524375"/>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TextBox 82"/>
          <p:cNvSpPr txBox="1"/>
          <p:nvPr/>
        </p:nvSpPr>
        <p:spPr>
          <a:xfrm>
            <a:off x="1724025" y="4524375"/>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Key-account purchasing, multi-year supply contracts</a:t>
            </a:r>
          </a:p>
        </p:txBody>
      </p:sp>
      <p:sp>
        <p:nvSpPr>
          <p:cNvPr id="84" name="Rectangle 83"/>
          <p:cNvSpPr/>
          <p:nvPr/>
        </p:nvSpPr>
        <p:spPr>
          <a:xfrm>
            <a:off x="4000500" y="4524375"/>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4057650" y="4524375"/>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 </a:t>
            </a:r>
          </a:p>
        </p:txBody>
      </p:sp>
      <p:sp>
        <p:nvSpPr>
          <p:cNvPr id="86" name="Rectangle 85"/>
          <p:cNvSpPr/>
          <p:nvPr/>
        </p:nvSpPr>
        <p:spPr>
          <a:xfrm>
            <a:off x="4667250" y="4524375"/>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4724400" y="4524375"/>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Compresses Tier 3 pricing</a:t>
            </a:r>
          </a:p>
        </p:txBody>
      </p:sp>
      <p:sp>
        <p:nvSpPr>
          <p:cNvPr id="88" name="Rectangle 87"/>
          <p:cNvSpPr/>
          <p:nvPr/>
        </p:nvSpPr>
        <p:spPr>
          <a:xfrm>
            <a:off x="238125" y="4933950"/>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TextBox 88"/>
          <p:cNvSpPr txBox="1"/>
          <p:nvPr/>
        </p:nvSpPr>
        <p:spPr>
          <a:xfrm>
            <a:off x="295275" y="4933950"/>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Switching costs</a:t>
            </a:r>
          </a:p>
        </p:txBody>
      </p:sp>
      <p:sp>
        <p:nvSpPr>
          <p:cNvPr id="90" name="Rectangle 89"/>
          <p:cNvSpPr/>
          <p:nvPr/>
        </p:nvSpPr>
        <p:spPr>
          <a:xfrm>
            <a:off x="1666875" y="4933950"/>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1724025" y="4933950"/>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Requalification, integration and retraining</a:t>
            </a:r>
          </a:p>
        </p:txBody>
      </p:sp>
      <p:sp>
        <p:nvSpPr>
          <p:cNvPr id="92" name="Rectangle 91"/>
          <p:cNvSpPr/>
          <p:nvPr/>
        </p:nvSpPr>
        <p:spPr>
          <a:xfrm>
            <a:off x="4000500" y="4933950"/>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4057650" y="4933950"/>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 </a:t>
            </a:r>
          </a:p>
        </p:txBody>
      </p:sp>
      <p:sp>
        <p:nvSpPr>
          <p:cNvPr id="94" name="Rectangle 93"/>
          <p:cNvSpPr/>
          <p:nvPr/>
        </p:nvSpPr>
        <p:spPr>
          <a:xfrm>
            <a:off x="4667250" y="4933950"/>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TextBox 94"/>
          <p:cNvSpPr txBox="1"/>
          <p:nvPr/>
        </p:nvSpPr>
        <p:spPr>
          <a:xfrm>
            <a:off x="4724400" y="4933950"/>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Locks in the installed base</a:t>
            </a:r>
          </a:p>
        </p:txBody>
      </p:sp>
      <p:sp>
        <p:nvSpPr>
          <p:cNvPr id="96" name="Rectangle 95"/>
          <p:cNvSpPr/>
          <p:nvPr/>
        </p:nvSpPr>
        <p:spPr>
          <a:xfrm>
            <a:off x="238125" y="5343525"/>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TextBox 96"/>
          <p:cNvSpPr txBox="1"/>
          <p:nvPr/>
        </p:nvSpPr>
        <p:spPr>
          <a:xfrm>
            <a:off x="295275" y="5343525"/>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Technology substitution</a:t>
            </a:r>
          </a:p>
        </p:txBody>
      </p:sp>
      <p:sp>
        <p:nvSpPr>
          <p:cNvPr id="98" name="Rectangle 97"/>
          <p:cNvSpPr/>
          <p:nvPr/>
        </p:nvSpPr>
        <p:spPr>
          <a:xfrm>
            <a:off x="1666875" y="5343525"/>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1724025" y="5343525"/>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Alternative materials and next-generation formats</a:t>
            </a:r>
          </a:p>
        </p:txBody>
      </p:sp>
      <p:sp>
        <p:nvSpPr>
          <p:cNvPr id="100" name="Rectangle 99"/>
          <p:cNvSpPr/>
          <p:nvPr/>
        </p:nvSpPr>
        <p:spPr>
          <a:xfrm>
            <a:off x="4000500" y="5343525"/>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TextBox 100"/>
          <p:cNvSpPr txBox="1"/>
          <p:nvPr/>
        </p:nvSpPr>
        <p:spPr>
          <a:xfrm>
            <a:off x="4057650" y="5343525"/>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 </a:t>
            </a:r>
          </a:p>
        </p:txBody>
      </p:sp>
      <p:sp>
        <p:nvSpPr>
          <p:cNvPr id="102" name="Rectangle 101"/>
          <p:cNvSpPr/>
          <p:nvPr/>
        </p:nvSpPr>
        <p:spPr>
          <a:xfrm>
            <a:off x="4667250" y="5343525"/>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TextBox 102"/>
          <p:cNvSpPr txBox="1"/>
          <p:nvPr/>
        </p:nvSpPr>
        <p:spPr>
          <a:xfrm>
            <a:off x="4724400" y="5343525"/>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Opens demand to Tier 2–3 innovators</a:t>
            </a:r>
          </a:p>
        </p:txBody>
      </p:sp>
      <p:sp>
        <p:nvSpPr>
          <p:cNvPr id="104" name="Rectangle 103"/>
          <p:cNvSpPr/>
          <p:nvPr/>
        </p:nvSpPr>
        <p:spPr>
          <a:xfrm>
            <a:off x="238125" y="5753100"/>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295275" y="5753100"/>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Supplier power</a:t>
            </a:r>
          </a:p>
        </p:txBody>
      </p:sp>
      <p:sp>
        <p:nvSpPr>
          <p:cNvPr id="106" name="Rectangle 105"/>
          <p:cNvSpPr/>
          <p:nvPr/>
        </p:nvSpPr>
        <p:spPr>
          <a:xfrm>
            <a:off x="1666875" y="5753100"/>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1724025" y="5753100"/>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Few qualified input and component suppliers</a:t>
            </a:r>
          </a:p>
        </p:txBody>
      </p:sp>
      <p:sp>
        <p:nvSpPr>
          <p:cNvPr id="108" name="Rectangle 107"/>
          <p:cNvSpPr/>
          <p:nvPr/>
        </p:nvSpPr>
        <p:spPr>
          <a:xfrm>
            <a:off x="4000500" y="5753100"/>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TextBox 108"/>
          <p:cNvSpPr txBox="1"/>
          <p:nvPr/>
        </p:nvSpPr>
        <p:spPr>
          <a:xfrm>
            <a:off x="4057650" y="5753100"/>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 </a:t>
            </a:r>
          </a:p>
        </p:txBody>
      </p:sp>
      <p:sp>
        <p:nvSpPr>
          <p:cNvPr id="110" name="Rectangle 109"/>
          <p:cNvSpPr/>
          <p:nvPr/>
        </p:nvSpPr>
        <p:spPr>
          <a:xfrm>
            <a:off x="4667250" y="5753100"/>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TextBox 110"/>
          <p:cNvSpPr txBox="1"/>
          <p:nvPr/>
        </p:nvSpPr>
        <p:spPr>
          <a:xfrm>
            <a:off x="4724400" y="5753100"/>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Raises input cost for sub-scale players</a:t>
            </a:r>
          </a:p>
        </p:txBody>
      </p:sp>
      <p:sp>
        <p:nvSpPr>
          <p:cNvPr id="112" name="Rectangle 111"/>
          <p:cNvSpPr/>
          <p:nvPr/>
        </p:nvSpPr>
        <p:spPr>
          <a:xfrm>
            <a:off x="238125" y="6162675"/>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TextBox 112"/>
          <p:cNvSpPr txBox="1"/>
          <p:nvPr/>
        </p:nvSpPr>
        <p:spPr>
          <a:xfrm>
            <a:off x="295275" y="6162675"/>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Overall structural pressure</a:t>
            </a:r>
          </a:p>
        </p:txBody>
      </p:sp>
      <p:sp>
        <p:nvSpPr>
          <p:cNvPr id="114" name="Rectangle 113"/>
          <p:cNvSpPr/>
          <p:nvPr/>
        </p:nvSpPr>
        <p:spPr>
          <a:xfrm>
            <a:off x="1666875" y="6162675"/>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TextBox 114"/>
          <p:cNvSpPr txBox="1"/>
          <p:nvPr/>
        </p:nvSpPr>
        <p:spPr>
          <a:xfrm>
            <a:off x="1724025" y="6162675"/>
            <a:ext cx="2238375"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Average of the five forces</a:t>
            </a:r>
          </a:p>
        </p:txBody>
      </p:sp>
      <p:sp>
        <p:nvSpPr>
          <p:cNvPr id="116" name="Rectangle 115"/>
          <p:cNvSpPr/>
          <p:nvPr/>
        </p:nvSpPr>
        <p:spPr>
          <a:xfrm>
            <a:off x="4000500" y="6162675"/>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TextBox 116"/>
          <p:cNvSpPr txBox="1"/>
          <p:nvPr/>
        </p:nvSpPr>
        <p:spPr>
          <a:xfrm>
            <a:off x="4057650" y="6162675"/>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 </a:t>
            </a:r>
          </a:p>
        </p:txBody>
      </p:sp>
      <p:sp>
        <p:nvSpPr>
          <p:cNvPr id="118" name="Rectangle 117"/>
          <p:cNvSpPr/>
          <p:nvPr/>
        </p:nvSpPr>
        <p:spPr>
          <a:xfrm>
            <a:off x="4667250" y="6162675"/>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TextBox 118"/>
          <p:cNvSpPr txBox="1"/>
          <p:nvPr/>
        </p:nvSpPr>
        <p:spPr>
          <a:xfrm>
            <a:off x="4724400" y="6162675"/>
            <a:ext cx="238125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Structure broadly stable</a:t>
            </a:r>
          </a:p>
        </p:txBody>
      </p:sp>
      <p:sp>
        <p:nvSpPr>
          <p:cNvPr id="120" name="Rounded Rectangle 119"/>
          <p:cNvSpPr/>
          <p:nvPr/>
        </p:nvSpPr>
        <p:spPr>
          <a:xfrm>
            <a:off x="7381875" y="3543300"/>
            <a:ext cx="4667250" cy="3086100"/>
          </a:xfrm>
          <a:prstGeom prst="roundRect">
            <a:avLst>
              <a:gd name="adj" fmla="val 16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7477125" y="3600450"/>
            <a:ext cx="4476750" cy="209550"/>
          </a:xfrm>
          <a:prstGeom prst="rect">
            <a:avLst/>
          </a:prstGeom>
          <a:noFill/>
        </p:spPr>
        <p:txBody>
          <a:bodyPr wrap="square" lIns="28575" rIns="28575" tIns="9525" bIns="9525" anchor="ctr">
            <a:spAutoFit/>
          </a:bodyPr>
          <a:lstStyle/>
          <a:p>
            <a:pPr algn="l"/>
            <a:r>
              <a:rPr sz="1200" b="1">
                <a:solidFill>
                  <a:srgbClr val="2E2E2E"/>
                </a:solidFill>
                <a:latin typeface="Calibri"/>
              </a:rPr>
              <a:t>Key Takeaways</a:t>
            </a:r>
          </a:p>
        </p:txBody>
      </p:sp>
      <p:sp>
        <p:nvSpPr>
          <p:cNvPr id="122" name="TextBox 121"/>
          <p:cNvSpPr txBox="1"/>
          <p:nvPr/>
        </p:nvSpPr>
        <p:spPr>
          <a:xfrm>
            <a:off x="7496175" y="384810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123" name="TextBox 122"/>
          <p:cNvSpPr txBox="1"/>
          <p:nvPr/>
        </p:nvSpPr>
        <p:spPr>
          <a:xfrm>
            <a:off x="7629525" y="3848100"/>
            <a:ext cx="4305300" cy="695325"/>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
            </a:r>
          </a:p>
        </p:txBody>
      </p:sp>
      <p:sp>
        <p:nvSpPr>
          <p:cNvPr id="124" name="TextBox 123"/>
          <p:cNvSpPr txBox="1"/>
          <p:nvPr/>
        </p:nvSpPr>
        <p:spPr>
          <a:xfrm>
            <a:off x="7496175" y="4429125"/>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125" name="TextBox 124"/>
          <p:cNvSpPr txBox="1"/>
          <p:nvPr/>
        </p:nvSpPr>
        <p:spPr>
          <a:xfrm>
            <a:off x="7629525" y="4429125"/>
            <a:ext cx="4305300" cy="695325"/>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1 Tier 2 player is positioned to move up-tier by 2036 through M&amp;A and key-account wins – the main structural change of the decade.</a:t>
            </a:r>
          </a:p>
        </p:txBody>
      </p:sp>
      <p:sp>
        <p:nvSpPr>
          <p:cNvPr id="126" name="TextBox 125"/>
          <p:cNvSpPr txBox="1"/>
          <p:nvPr/>
        </p:nvSpPr>
        <p:spPr>
          <a:xfrm>
            <a:off x="7496175" y="501015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127" name="TextBox 126"/>
          <p:cNvSpPr txBox="1"/>
          <p:nvPr/>
        </p:nvSpPr>
        <p:spPr>
          <a:xfrm>
            <a:off x="7629525" y="5010150"/>
            <a:ext cx="4305300" cy="533400"/>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
            </a:r>
          </a:p>
        </p:txBody>
      </p:sp>
      <p:sp>
        <p:nvSpPr>
          <p:cNvPr id="128" name="TextBox 127"/>
          <p:cNvSpPr txBox="1"/>
          <p:nvPr/>
        </p:nvSpPr>
        <p:spPr>
          <a:xfrm>
            <a:off x="7496175" y="542925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129" name="TextBox 128"/>
          <p:cNvSpPr txBox="1"/>
          <p:nvPr/>
        </p:nvSpPr>
        <p:spPr>
          <a:xfrm>
            <a:off x="7629525" y="5429250"/>
            <a:ext cx="4305300" cy="533400"/>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Technology substitution (4 / 5) and buyer power (3 / 5) are the dominant forces shaping the tier structure.</a:t>
            </a:r>
          </a:p>
        </p:txBody>
      </p:sp>
      <p:sp>
        <p:nvSpPr>
          <p:cNvPr id="130" name="TextBox 1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31" name="Picture 130" descr="lock.png"/>
          <p:cNvPicPr>
            <a:picLocks noChangeAspect="1"/>
          </p:cNvPicPr>
          <p:nvPr/>
        </p:nvPicPr>
        <p:blipFill>
          <a:blip r:embed="rId4"/>
          <a:stretch>
            <a:fillRect/>
          </a:stretch>
        </p:blipFill>
        <p:spPr>
          <a:xfrm>
            <a:off x="604726" y="2545080"/>
            <a:ext cx="257397" cy="374396"/>
          </a:xfrm>
          <a:prstGeom prst="rect">
            <a:avLst/>
          </a:prstGeom>
        </p:spPr>
      </p:pic>
      <p:pic>
        <p:nvPicPr>
          <p:cNvPr id="132" name="Picture 131" descr="lock.png"/>
          <p:cNvPicPr>
            <a:picLocks noChangeAspect="1"/>
          </p:cNvPicPr>
          <p:nvPr/>
        </p:nvPicPr>
        <p:blipFill>
          <a:blip r:embed="rId4"/>
          <a:stretch>
            <a:fillRect/>
          </a:stretch>
        </p:blipFill>
        <p:spPr>
          <a:xfrm>
            <a:off x="3557476" y="2545080"/>
            <a:ext cx="257397" cy="374396"/>
          </a:xfrm>
          <a:prstGeom prst="rect">
            <a:avLst/>
          </a:prstGeom>
        </p:spPr>
      </p:pic>
      <p:pic>
        <p:nvPicPr>
          <p:cNvPr id="133" name="Picture 132" descr="lock.png"/>
          <p:cNvPicPr>
            <a:picLocks noChangeAspect="1"/>
          </p:cNvPicPr>
          <p:nvPr/>
        </p:nvPicPr>
        <p:blipFill>
          <a:blip r:embed="rId4"/>
          <a:stretch>
            <a:fillRect/>
          </a:stretch>
        </p:blipFill>
        <p:spPr>
          <a:xfrm>
            <a:off x="6510226" y="2545080"/>
            <a:ext cx="257397" cy="374396"/>
          </a:xfrm>
          <a:prstGeom prst="rect">
            <a:avLst/>
          </a:prstGeom>
        </p:spPr>
      </p:pic>
      <p:pic>
        <p:nvPicPr>
          <p:cNvPr id="134" name="Picture 133" descr="lock.png"/>
          <p:cNvPicPr>
            <a:picLocks noChangeAspect="1"/>
          </p:cNvPicPr>
          <p:nvPr/>
        </p:nvPicPr>
        <p:blipFill>
          <a:blip r:embed="rId4"/>
          <a:stretch>
            <a:fillRect/>
          </a:stretch>
        </p:blipFill>
        <p:spPr>
          <a:xfrm>
            <a:off x="9462976" y="2545080"/>
            <a:ext cx="257397" cy="374396"/>
          </a:xfrm>
          <a:prstGeom prst="rect">
            <a:avLst/>
          </a:prstGeom>
        </p:spPr>
      </p:pic>
      <p:pic>
        <p:nvPicPr>
          <p:cNvPr id="135" name="Picture 134" descr="lock.png"/>
          <p:cNvPicPr>
            <a:picLocks noChangeAspect="1"/>
          </p:cNvPicPr>
          <p:nvPr/>
        </p:nvPicPr>
        <p:blipFill>
          <a:blip r:embed="rId4"/>
          <a:stretch>
            <a:fillRect/>
          </a:stretch>
        </p:blipFill>
        <p:spPr>
          <a:xfrm>
            <a:off x="4279050" y="4225988"/>
            <a:ext cx="128699" cy="187198"/>
          </a:xfrm>
          <a:prstGeom prst="rect">
            <a:avLst/>
          </a:prstGeom>
        </p:spPr>
      </p:pic>
      <p:pic>
        <p:nvPicPr>
          <p:cNvPr id="136" name="Picture 135" descr="lock.png"/>
          <p:cNvPicPr>
            <a:picLocks noChangeAspect="1"/>
          </p:cNvPicPr>
          <p:nvPr/>
        </p:nvPicPr>
        <p:blipFill>
          <a:blip r:embed="rId4"/>
          <a:stretch>
            <a:fillRect/>
          </a:stretch>
        </p:blipFill>
        <p:spPr>
          <a:xfrm>
            <a:off x="4279050" y="4635563"/>
            <a:ext cx="128699" cy="187198"/>
          </a:xfrm>
          <a:prstGeom prst="rect">
            <a:avLst/>
          </a:prstGeom>
        </p:spPr>
      </p:pic>
      <p:pic>
        <p:nvPicPr>
          <p:cNvPr id="137" name="Picture 136" descr="lock.png"/>
          <p:cNvPicPr>
            <a:picLocks noChangeAspect="1"/>
          </p:cNvPicPr>
          <p:nvPr/>
        </p:nvPicPr>
        <p:blipFill>
          <a:blip r:embed="rId4"/>
          <a:stretch>
            <a:fillRect/>
          </a:stretch>
        </p:blipFill>
        <p:spPr>
          <a:xfrm>
            <a:off x="4279050" y="5045138"/>
            <a:ext cx="128699" cy="187198"/>
          </a:xfrm>
          <a:prstGeom prst="rect">
            <a:avLst/>
          </a:prstGeom>
        </p:spPr>
      </p:pic>
      <p:pic>
        <p:nvPicPr>
          <p:cNvPr id="138" name="Picture 137" descr="lock.png"/>
          <p:cNvPicPr>
            <a:picLocks noChangeAspect="1"/>
          </p:cNvPicPr>
          <p:nvPr/>
        </p:nvPicPr>
        <p:blipFill>
          <a:blip r:embed="rId4"/>
          <a:stretch>
            <a:fillRect/>
          </a:stretch>
        </p:blipFill>
        <p:spPr>
          <a:xfrm>
            <a:off x="4279050" y="5454713"/>
            <a:ext cx="128699" cy="187198"/>
          </a:xfrm>
          <a:prstGeom prst="rect">
            <a:avLst/>
          </a:prstGeom>
        </p:spPr>
      </p:pic>
      <p:pic>
        <p:nvPicPr>
          <p:cNvPr id="139" name="Picture 138" descr="lock.png"/>
          <p:cNvPicPr>
            <a:picLocks noChangeAspect="1"/>
          </p:cNvPicPr>
          <p:nvPr/>
        </p:nvPicPr>
        <p:blipFill>
          <a:blip r:embed="rId4"/>
          <a:stretch>
            <a:fillRect/>
          </a:stretch>
        </p:blipFill>
        <p:spPr>
          <a:xfrm>
            <a:off x="4279050" y="5864288"/>
            <a:ext cx="128699" cy="187198"/>
          </a:xfrm>
          <a:prstGeom prst="rect">
            <a:avLst/>
          </a:prstGeom>
        </p:spPr>
      </p:pic>
      <p:pic>
        <p:nvPicPr>
          <p:cNvPr id="140" name="Picture 139" descr="lock.png"/>
          <p:cNvPicPr>
            <a:picLocks noChangeAspect="1"/>
          </p:cNvPicPr>
          <p:nvPr/>
        </p:nvPicPr>
        <p:blipFill>
          <a:blip r:embed="rId4"/>
          <a:stretch>
            <a:fillRect/>
          </a:stretch>
        </p:blipFill>
        <p:spPr>
          <a:xfrm>
            <a:off x="4279050" y="6273863"/>
            <a:ext cx="128699" cy="187198"/>
          </a:xfrm>
          <a:prstGeom prst="rect">
            <a:avLst/>
          </a:prstGeom>
        </p:spPr>
      </p:pic>
      <p:sp>
        <p:nvSpPr>
          <p:cNvPr id="141" name="TextBox 140"/>
          <p:cNvSpPr txBox="1"/>
          <p:nvPr/>
        </p:nvSpPr>
        <p:spPr>
          <a:xfrm>
            <a:off x="547018" y="1870710"/>
            <a:ext cx="929133" cy="186689"/>
          </a:xfrm>
          <a:prstGeom prst="rect">
            <a:avLst/>
          </a:prstGeom>
          <a:noFill/>
        </p:spPr>
        <p:txBody>
          <a:bodyPr wrap="none" lIns="0" rIns="0" tIns="0" bIns="0">
            <a:spAutoFit/>
          </a:bodyPr>
          <a:lstStyle/>
          <a:p>
            <a:r>
              <a:rPr sz="1100" b="1">
                <a:solidFill>
                  <a:srgbClr val="FFFFFF"/>
                </a:solidFill>
                <a:latin typeface="Calibri"/>
              </a:rPr>
              <a:t>4 → 5 players ·</a:t>
            </a:r>
          </a:p>
        </p:txBody>
      </p:sp>
      <p:pic>
        <p:nvPicPr>
          <p:cNvPr id="142" name="Picture 141" descr="lock.png"/>
          <p:cNvPicPr>
            <a:picLocks noChangeAspect="1"/>
          </p:cNvPicPr>
          <p:nvPr/>
        </p:nvPicPr>
        <p:blipFill>
          <a:blip r:embed="rId4"/>
          <a:stretch>
            <a:fillRect/>
          </a:stretch>
        </p:blipFill>
        <p:spPr>
          <a:xfrm>
            <a:off x="1424204" y="1860931"/>
            <a:ext cx="128699" cy="187198"/>
          </a:xfrm>
          <a:prstGeom prst="rect">
            <a:avLst/>
          </a:prstGeom>
        </p:spPr>
      </p:pic>
      <p:sp>
        <p:nvSpPr>
          <p:cNvPr id="143" name="TextBox 142"/>
          <p:cNvSpPr txBox="1"/>
          <p:nvPr/>
        </p:nvSpPr>
        <p:spPr>
          <a:xfrm>
            <a:off x="1591699" y="1870710"/>
            <a:ext cx="202803" cy="186689"/>
          </a:xfrm>
          <a:prstGeom prst="rect">
            <a:avLst/>
          </a:prstGeom>
          <a:noFill/>
        </p:spPr>
        <p:txBody>
          <a:bodyPr wrap="none" lIns="0" rIns="0" tIns="0" bIns="0">
            <a:spAutoFit/>
          </a:bodyPr>
          <a:lstStyle/>
          <a:p>
            <a:r>
              <a:rPr sz="1100" b="1">
                <a:solidFill>
                  <a:srgbClr val="FFFFFF"/>
                </a:solidFill>
                <a:latin typeface="Calibri"/>
              </a:rPr>
              <a:t>→</a:t>
            </a:r>
          </a:p>
        </p:txBody>
      </p:sp>
      <p:pic>
        <p:nvPicPr>
          <p:cNvPr id="144" name="Picture 143" descr="lock.png"/>
          <p:cNvPicPr>
            <a:picLocks noChangeAspect="1"/>
          </p:cNvPicPr>
          <p:nvPr/>
        </p:nvPicPr>
        <p:blipFill>
          <a:blip r:embed="rId4"/>
          <a:stretch>
            <a:fillRect/>
          </a:stretch>
        </p:blipFill>
        <p:spPr>
          <a:xfrm>
            <a:off x="1742554" y="1860931"/>
            <a:ext cx="128699" cy="187198"/>
          </a:xfrm>
          <a:prstGeom prst="rect">
            <a:avLst/>
          </a:prstGeom>
        </p:spPr>
      </p:pic>
      <p:sp>
        <p:nvSpPr>
          <p:cNvPr id="145" name="TextBox 144"/>
          <p:cNvSpPr txBox="1"/>
          <p:nvPr/>
        </p:nvSpPr>
        <p:spPr>
          <a:xfrm>
            <a:off x="1049783" y="2038350"/>
            <a:ext cx="395982" cy="186689"/>
          </a:xfrm>
          <a:prstGeom prst="rect">
            <a:avLst/>
          </a:prstGeom>
          <a:noFill/>
        </p:spPr>
        <p:txBody>
          <a:bodyPr wrap="none" lIns="0" rIns="0" tIns="0" bIns="0">
            <a:spAutoFit/>
          </a:bodyPr>
          <a:lstStyle/>
          <a:p>
            <a:r>
              <a:rPr sz="1100" b="1">
                <a:solidFill>
                  <a:srgbClr val="FFFFFF"/>
                </a:solidFill>
                <a:latin typeface="Calibri"/>
              </a:rPr>
              <a:t>share</a:t>
            </a:r>
          </a:p>
        </p:txBody>
      </p:sp>
      <p:sp>
        <p:nvSpPr>
          <p:cNvPr id="146" name="TextBox 145"/>
          <p:cNvSpPr txBox="1"/>
          <p:nvPr/>
        </p:nvSpPr>
        <p:spPr>
          <a:xfrm>
            <a:off x="3804568" y="1870710"/>
            <a:ext cx="929133" cy="186689"/>
          </a:xfrm>
          <a:prstGeom prst="rect">
            <a:avLst/>
          </a:prstGeom>
          <a:noFill/>
        </p:spPr>
        <p:txBody>
          <a:bodyPr wrap="none" lIns="0" rIns="0" tIns="0" bIns="0">
            <a:spAutoFit/>
          </a:bodyPr>
          <a:lstStyle/>
          <a:p>
            <a:r>
              <a:rPr sz="1100" b="1">
                <a:solidFill>
                  <a:srgbClr val="FFFFFF"/>
                </a:solidFill>
                <a:latin typeface="Calibri"/>
              </a:rPr>
              <a:t>2 → 2 players ·</a:t>
            </a:r>
          </a:p>
        </p:txBody>
      </p:sp>
      <p:pic>
        <p:nvPicPr>
          <p:cNvPr id="147" name="Picture 146" descr="lock.png"/>
          <p:cNvPicPr>
            <a:picLocks noChangeAspect="1"/>
          </p:cNvPicPr>
          <p:nvPr/>
        </p:nvPicPr>
        <p:blipFill>
          <a:blip r:embed="rId4"/>
          <a:stretch>
            <a:fillRect/>
          </a:stretch>
        </p:blipFill>
        <p:spPr>
          <a:xfrm>
            <a:off x="4681754" y="1860931"/>
            <a:ext cx="128699" cy="187198"/>
          </a:xfrm>
          <a:prstGeom prst="rect">
            <a:avLst/>
          </a:prstGeom>
        </p:spPr>
      </p:pic>
      <p:sp>
        <p:nvSpPr>
          <p:cNvPr id="148" name="TextBox 147"/>
          <p:cNvSpPr txBox="1"/>
          <p:nvPr/>
        </p:nvSpPr>
        <p:spPr>
          <a:xfrm>
            <a:off x="4849249" y="1870710"/>
            <a:ext cx="202803" cy="186689"/>
          </a:xfrm>
          <a:prstGeom prst="rect">
            <a:avLst/>
          </a:prstGeom>
          <a:noFill/>
        </p:spPr>
        <p:txBody>
          <a:bodyPr wrap="none" lIns="0" rIns="0" tIns="0" bIns="0">
            <a:spAutoFit/>
          </a:bodyPr>
          <a:lstStyle/>
          <a:p>
            <a:r>
              <a:rPr sz="1100" b="1">
                <a:solidFill>
                  <a:srgbClr val="FFFFFF"/>
                </a:solidFill>
                <a:latin typeface="Calibri"/>
              </a:rPr>
              <a:t>→</a:t>
            </a:r>
          </a:p>
        </p:txBody>
      </p:sp>
      <p:pic>
        <p:nvPicPr>
          <p:cNvPr id="149" name="Picture 148" descr="lock.png"/>
          <p:cNvPicPr>
            <a:picLocks noChangeAspect="1"/>
          </p:cNvPicPr>
          <p:nvPr/>
        </p:nvPicPr>
        <p:blipFill>
          <a:blip r:embed="rId4"/>
          <a:stretch>
            <a:fillRect/>
          </a:stretch>
        </p:blipFill>
        <p:spPr>
          <a:xfrm>
            <a:off x="5000104" y="1860931"/>
            <a:ext cx="128699" cy="187198"/>
          </a:xfrm>
          <a:prstGeom prst="rect">
            <a:avLst/>
          </a:prstGeom>
        </p:spPr>
      </p:pic>
      <p:sp>
        <p:nvSpPr>
          <p:cNvPr id="150" name="TextBox 149"/>
          <p:cNvSpPr txBox="1"/>
          <p:nvPr/>
        </p:nvSpPr>
        <p:spPr>
          <a:xfrm>
            <a:off x="4307333" y="2038350"/>
            <a:ext cx="395982" cy="186689"/>
          </a:xfrm>
          <a:prstGeom prst="rect">
            <a:avLst/>
          </a:prstGeom>
          <a:noFill/>
        </p:spPr>
        <p:txBody>
          <a:bodyPr wrap="none" lIns="0" rIns="0" tIns="0" bIns="0">
            <a:spAutoFit/>
          </a:bodyPr>
          <a:lstStyle/>
          <a:p>
            <a:r>
              <a:rPr sz="1100" b="1">
                <a:solidFill>
                  <a:srgbClr val="FFFFFF"/>
                </a:solidFill>
                <a:latin typeface="Calibri"/>
              </a:rPr>
              <a:t>share</a:t>
            </a:r>
          </a:p>
        </p:txBody>
      </p:sp>
      <p:sp>
        <p:nvSpPr>
          <p:cNvPr id="151" name="TextBox 150"/>
          <p:cNvSpPr txBox="1"/>
          <p:nvPr/>
        </p:nvSpPr>
        <p:spPr>
          <a:xfrm>
            <a:off x="7062118" y="1870710"/>
            <a:ext cx="929133" cy="186689"/>
          </a:xfrm>
          <a:prstGeom prst="rect">
            <a:avLst/>
          </a:prstGeom>
          <a:noFill/>
        </p:spPr>
        <p:txBody>
          <a:bodyPr wrap="none" lIns="0" rIns="0" tIns="0" bIns="0">
            <a:spAutoFit/>
          </a:bodyPr>
          <a:lstStyle/>
          <a:p>
            <a:r>
              <a:rPr sz="1100" b="1">
                <a:solidFill>
                  <a:srgbClr val="FFFFFF"/>
                </a:solidFill>
                <a:latin typeface="Calibri"/>
              </a:rPr>
              <a:t>4 → 4 players ·</a:t>
            </a:r>
          </a:p>
        </p:txBody>
      </p:sp>
      <p:pic>
        <p:nvPicPr>
          <p:cNvPr id="152" name="Picture 151" descr="lock.png"/>
          <p:cNvPicPr>
            <a:picLocks noChangeAspect="1"/>
          </p:cNvPicPr>
          <p:nvPr/>
        </p:nvPicPr>
        <p:blipFill>
          <a:blip r:embed="rId4"/>
          <a:stretch>
            <a:fillRect/>
          </a:stretch>
        </p:blipFill>
        <p:spPr>
          <a:xfrm>
            <a:off x="7939304" y="1860931"/>
            <a:ext cx="128699" cy="187198"/>
          </a:xfrm>
          <a:prstGeom prst="rect">
            <a:avLst/>
          </a:prstGeom>
        </p:spPr>
      </p:pic>
      <p:sp>
        <p:nvSpPr>
          <p:cNvPr id="153" name="TextBox 152"/>
          <p:cNvSpPr txBox="1"/>
          <p:nvPr/>
        </p:nvSpPr>
        <p:spPr>
          <a:xfrm>
            <a:off x="8106799" y="1870710"/>
            <a:ext cx="202803" cy="186689"/>
          </a:xfrm>
          <a:prstGeom prst="rect">
            <a:avLst/>
          </a:prstGeom>
          <a:noFill/>
        </p:spPr>
        <p:txBody>
          <a:bodyPr wrap="none" lIns="0" rIns="0" tIns="0" bIns="0">
            <a:spAutoFit/>
          </a:bodyPr>
          <a:lstStyle/>
          <a:p>
            <a:r>
              <a:rPr sz="1100" b="1">
                <a:solidFill>
                  <a:srgbClr val="FFFFFF"/>
                </a:solidFill>
                <a:latin typeface="Calibri"/>
              </a:rPr>
              <a:t>→</a:t>
            </a:r>
          </a:p>
        </p:txBody>
      </p:sp>
      <p:pic>
        <p:nvPicPr>
          <p:cNvPr id="154" name="Picture 153" descr="lock.png"/>
          <p:cNvPicPr>
            <a:picLocks noChangeAspect="1"/>
          </p:cNvPicPr>
          <p:nvPr/>
        </p:nvPicPr>
        <p:blipFill>
          <a:blip r:embed="rId4"/>
          <a:stretch>
            <a:fillRect/>
          </a:stretch>
        </p:blipFill>
        <p:spPr>
          <a:xfrm>
            <a:off x="8257654" y="1860931"/>
            <a:ext cx="128699" cy="187198"/>
          </a:xfrm>
          <a:prstGeom prst="rect">
            <a:avLst/>
          </a:prstGeom>
        </p:spPr>
      </p:pic>
      <p:sp>
        <p:nvSpPr>
          <p:cNvPr id="155" name="TextBox 154"/>
          <p:cNvSpPr txBox="1"/>
          <p:nvPr/>
        </p:nvSpPr>
        <p:spPr>
          <a:xfrm>
            <a:off x="7564883" y="2038350"/>
            <a:ext cx="395982" cy="186689"/>
          </a:xfrm>
          <a:prstGeom prst="rect">
            <a:avLst/>
          </a:prstGeom>
          <a:noFill/>
        </p:spPr>
        <p:txBody>
          <a:bodyPr wrap="none" lIns="0" rIns="0" tIns="0" bIns="0">
            <a:spAutoFit/>
          </a:bodyPr>
          <a:lstStyle/>
          <a:p>
            <a:r>
              <a:rPr sz="1100" b="1">
                <a:solidFill>
                  <a:srgbClr val="FFFFFF"/>
                </a:solidFill>
                <a:latin typeface="Calibri"/>
              </a:rPr>
              <a:t>share</a:t>
            </a:r>
          </a:p>
        </p:txBody>
      </p:sp>
      <p:sp>
        <p:nvSpPr>
          <p:cNvPr id="156" name="TextBox 155"/>
          <p:cNvSpPr txBox="1"/>
          <p:nvPr/>
        </p:nvSpPr>
        <p:spPr>
          <a:xfrm>
            <a:off x="10286075" y="1954530"/>
            <a:ext cx="638819" cy="186689"/>
          </a:xfrm>
          <a:prstGeom prst="rect">
            <a:avLst/>
          </a:prstGeom>
          <a:noFill/>
        </p:spPr>
        <p:txBody>
          <a:bodyPr wrap="none" lIns="0" rIns="0" tIns="0" bIns="0">
            <a:spAutoFit/>
          </a:bodyPr>
          <a:lstStyle/>
          <a:p>
            <a:r>
              <a:rPr sz="1100" b="1">
                <a:solidFill>
                  <a:srgbClr val="14213D"/>
                </a:solidFill>
                <a:latin typeface="Calibri"/>
              </a:rPr>
              <a:t>Long tail ·</a:t>
            </a:r>
          </a:p>
        </p:txBody>
      </p:sp>
      <p:pic>
        <p:nvPicPr>
          <p:cNvPr id="157" name="Picture 156" descr="lock.png"/>
          <p:cNvPicPr>
            <a:picLocks noChangeAspect="1"/>
          </p:cNvPicPr>
          <p:nvPr/>
        </p:nvPicPr>
        <p:blipFill>
          <a:blip r:embed="rId4"/>
          <a:stretch>
            <a:fillRect/>
          </a:stretch>
        </p:blipFill>
        <p:spPr>
          <a:xfrm>
            <a:off x="10872946" y="1944751"/>
            <a:ext cx="128699" cy="187198"/>
          </a:xfrm>
          <a:prstGeom prst="rect">
            <a:avLst/>
          </a:prstGeom>
        </p:spPr>
      </p:pic>
      <p:sp>
        <p:nvSpPr>
          <p:cNvPr id="158" name="TextBox 157"/>
          <p:cNvSpPr txBox="1"/>
          <p:nvPr/>
        </p:nvSpPr>
        <p:spPr>
          <a:xfrm>
            <a:off x="11040442" y="1954530"/>
            <a:ext cx="202803" cy="186689"/>
          </a:xfrm>
          <a:prstGeom prst="rect">
            <a:avLst/>
          </a:prstGeom>
          <a:noFill/>
        </p:spPr>
        <p:txBody>
          <a:bodyPr wrap="none" lIns="0" rIns="0" tIns="0" bIns="0">
            <a:spAutoFit/>
          </a:bodyPr>
          <a:lstStyle/>
          <a:p>
            <a:r>
              <a:rPr sz="1100" b="1">
                <a:solidFill>
                  <a:srgbClr val="14213D"/>
                </a:solidFill>
                <a:latin typeface="Calibri"/>
              </a:rPr>
              <a:t>→</a:t>
            </a:r>
          </a:p>
        </p:txBody>
      </p:sp>
      <p:pic>
        <p:nvPicPr>
          <p:cNvPr id="159" name="Picture 158" descr="lock.png"/>
          <p:cNvPicPr>
            <a:picLocks noChangeAspect="1"/>
          </p:cNvPicPr>
          <p:nvPr/>
        </p:nvPicPr>
        <p:blipFill>
          <a:blip r:embed="rId4"/>
          <a:stretch>
            <a:fillRect/>
          </a:stretch>
        </p:blipFill>
        <p:spPr>
          <a:xfrm>
            <a:off x="11191297" y="1944751"/>
            <a:ext cx="128699" cy="187198"/>
          </a:xfrm>
          <a:prstGeom prst="rect">
            <a:avLst/>
          </a:prstGeom>
        </p:spPr>
      </p:pic>
      <p:sp>
        <p:nvSpPr>
          <p:cNvPr id="160" name="TextBox 159"/>
          <p:cNvSpPr txBox="1"/>
          <p:nvPr/>
        </p:nvSpPr>
        <p:spPr>
          <a:xfrm>
            <a:off x="11358792" y="1954530"/>
            <a:ext cx="395982" cy="186689"/>
          </a:xfrm>
          <a:prstGeom prst="rect">
            <a:avLst/>
          </a:prstGeom>
          <a:noFill/>
        </p:spPr>
        <p:txBody>
          <a:bodyPr wrap="none" lIns="0" rIns="0" tIns="0" bIns="0">
            <a:spAutoFit/>
          </a:bodyPr>
          <a:lstStyle/>
          <a:p>
            <a:r>
              <a:rPr sz="1100" b="1">
                <a:solidFill>
                  <a:srgbClr val="14213D"/>
                </a:solidFill>
                <a:latin typeface="Calibri"/>
              </a:rPr>
              <a:t>share</a:t>
            </a:r>
          </a:p>
        </p:txBody>
      </p:sp>
      <p:sp>
        <p:nvSpPr>
          <p:cNvPr id="161" name="TextBox 160"/>
          <p:cNvSpPr txBox="1"/>
          <p:nvPr/>
        </p:nvSpPr>
        <p:spPr>
          <a:xfrm>
            <a:off x="7658100" y="3857625"/>
            <a:ext cx="1828179" cy="186689"/>
          </a:xfrm>
          <a:prstGeom prst="rect">
            <a:avLst/>
          </a:prstGeom>
          <a:noFill/>
        </p:spPr>
        <p:txBody>
          <a:bodyPr wrap="none" lIns="0" rIns="0" tIns="0" bIns="0">
            <a:spAutoFit/>
          </a:bodyPr>
          <a:lstStyle/>
          <a:p>
            <a:r>
              <a:rPr sz="1100" b="0">
                <a:solidFill>
                  <a:srgbClr val="14213D"/>
                </a:solidFill>
                <a:latin typeface="Calibri"/>
              </a:rPr>
              <a:t>The market is fragmented (HHI</a:t>
            </a:r>
          </a:p>
        </p:txBody>
      </p:sp>
      <p:pic>
        <p:nvPicPr>
          <p:cNvPr id="162" name="Picture 161" descr="lock.png"/>
          <p:cNvPicPr>
            <a:picLocks noChangeAspect="1"/>
          </p:cNvPicPr>
          <p:nvPr/>
        </p:nvPicPr>
        <p:blipFill>
          <a:blip r:embed="rId4"/>
          <a:stretch>
            <a:fillRect/>
          </a:stretch>
        </p:blipFill>
        <p:spPr>
          <a:xfrm>
            <a:off x="9434331" y="3847846"/>
            <a:ext cx="128699" cy="187198"/>
          </a:xfrm>
          <a:prstGeom prst="rect">
            <a:avLst/>
          </a:prstGeom>
        </p:spPr>
      </p:pic>
      <p:sp>
        <p:nvSpPr>
          <p:cNvPr id="163" name="TextBox 162"/>
          <p:cNvSpPr txBox="1"/>
          <p:nvPr/>
        </p:nvSpPr>
        <p:spPr>
          <a:xfrm>
            <a:off x="9601827" y="3857625"/>
            <a:ext cx="2068562" cy="186689"/>
          </a:xfrm>
          <a:prstGeom prst="rect">
            <a:avLst/>
          </a:prstGeom>
          <a:noFill/>
        </p:spPr>
        <p:txBody>
          <a:bodyPr wrap="none" lIns="0" rIns="0" tIns="0" bIns="0">
            <a:spAutoFit/>
          </a:bodyPr>
          <a:lstStyle/>
          <a:p>
            <a:r>
              <a:rPr sz="1100" b="0">
                <a:solidFill>
                  <a:srgbClr val="14213D"/>
                </a:solidFill>
                <a:latin typeface="Calibri"/>
              </a:rPr>
              <a:t>); Tier 1 sets pricing and innovation</a:t>
            </a:r>
          </a:p>
        </p:txBody>
      </p:sp>
      <p:sp>
        <p:nvSpPr>
          <p:cNvPr id="164" name="TextBox 163"/>
          <p:cNvSpPr txBox="1"/>
          <p:nvPr/>
        </p:nvSpPr>
        <p:spPr>
          <a:xfrm>
            <a:off x="7658100" y="4025265"/>
            <a:ext cx="2124769" cy="186689"/>
          </a:xfrm>
          <a:prstGeom prst="rect">
            <a:avLst/>
          </a:prstGeom>
          <a:noFill/>
        </p:spPr>
        <p:txBody>
          <a:bodyPr wrap="none" lIns="0" rIns="0" tIns="0" bIns="0">
            <a:spAutoFit/>
          </a:bodyPr>
          <a:lstStyle/>
          <a:p>
            <a:r>
              <a:rPr sz="1100" b="0">
                <a:solidFill>
                  <a:srgbClr val="14213D"/>
                </a:solidFill>
                <a:latin typeface="Calibri"/>
              </a:rPr>
              <a:t>benchmarks and is expected to hold</a:t>
            </a:r>
          </a:p>
        </p:txBody>
      </p:sp>
      <p:pic>
        <p:nvPicPr>
          <p:cNvPr id="165" name="Picture 164" descr="lock.png"/>
          <p:cNvPicPr>
            <a:picLocks noChangeAspect="1"/>
          </p:cNvPicPr>
          <p:nvPr/>
        </p:nvPicPr>
        <p:blipFill>
          <a:blip r:embed="rId4"/>
          <a:stretch>
            <a:fillRect/>
          </a:stretch>
        </p:blipFill>
        <p:spPr>
          <a:xfrm>
            <a:off x="9730921" y="4015486"/>
            <a:ext cx="128699" cy="187198"/>
          </a:xfrm>
          <a:prstGeom prst="rect">
            <a:avLst/>
          </a:prstGeom>
        </p:spPr>
      </p:pic>
      <p:sp>
        <p:nvSpPr>
          <p:cNvPr id="166" name="TextBox 165"/>
          <p:cNvSpPr txBox="1"/>
          <p:nvPr/>
        </p:nvSpPr>
        <p:spPr>
          <a:xfrm>
            <a:off x="9898416" y="4025265"/>
            <a:ext cx="1016992" cy="186689"/>
          </a:xfrm>
          <a:prstGeom prst="rect">
            <a:avLst/>
          </a:prstGeom>
          <a:noFill/>
        </p:spPr>
        <p:txBody>
          <a:bodyPr wrap="none" lIns="0" rIns="0" tIns="0" bIns="0">
            <a:spAutoFit/>
          </a:bodyPr>
          <a:lstStyle/>
          <a:p>
            <a:r>
              <a:rPr sz="1100" b="0">
                <a:solidFill>
                  <a:srgbClr val="14213D"/>
                </a:solidFill>
                <a:latin typeface="Calibri"/>
              </a:rPr>
              <a:t>of value in 2036.</a:t>
            </a:r>
          </a:p>
        </p:txBody>
      </p:sp>
      <p:sp>
        <p:nvSpPr>
          <p:cNvPr id="167" name="TextBox 166"/>
          <p:cNvSpPr txBox="1"/>
          <p:nvPr/>
        </p:nvSpPr>
        <p:spPr>
          <a:xfrm>
            <a:off x="7658100" y="5019675"/>
            <a:ext cx="3471019" cy="186689"/>
          </a:xfrm>
          <a:prstGeom prst="rect">
            <a:avLst/>
          </a:prstGeom>
          <a:noFill/>
        </p:spPr>
        <p:txBody>
          <a:bodyPr wrap="none" lIns="0" rIns="0" tIns="0" bIns="0">
            <a:spAutoFit/>
          </a:bodyPr>
          <a:lstStyle/>
          <a:p>
            <a:r>
              <a:rPr sz="1100" b="0">
                <a:solidFill>
                  <a:srgbClr val="14213D"/>
                </a:solidFill>
                <a:latin typeface="Calibri"/>
              </a:rPr>
              <a:t>Tier 3 and the long tail face the highest structural pressure (</a:t>
            </a:r>
          </a:p>
        </p:txBody>
      </p:sp>
      <p:pic>
        <p:nvPicPr>
          <p:cNvPr id="168" name="Picture 167" descr="lock.png"/>
          <p:cNvPicPr>
            <a:picLocks noChangeAspect="1"/>
          </p:cNvPicPr>
          <p:nvPr/>
        </p:nvPicPr>
        <p:blipFill>
          <a:blip r:embed="rId4"/>
          <a:stretch>
            <a:fillRect/>
          </a:stretch>
        </p:blipFill>
        <p:spPr>
          <a:xfrm>
            <a:off x="11077170" y="5009895"/>
            <a:ext cx="128699" cy="187198"/>
          </a:xfrm>
          <a:prstGeom prst="rect">
            <a:avLst/>
          </a:prstGeom>
        </p:spPr>
      </p:pic>
      <p:sp>
        <p:nvSpPr>
          <p:cNvPr id="169" name="TextBox 168"/>
          <p:cNvSpPr txBox="1"/>
          <p:nvPr/>
        </p:nvSpPr>
        <p:spPr>
          <a:xfrm>
            <a:off x="11244666" y="5019675"/>
            <a:ext cx="415081" cy="186689"/>
          </a:xfrm>
          <a:prstGeom prst="rect">
            <a:avLst/>
          </a:prstGeom>
          <a:noFill/>
        </p:spPr>
        <p:txBody>
          <a:bodyPr wrap="none" lIns="0" rIns="0" tIns="0" bIns="0">
            <a:spAutoFit/>
          </a:bodyPr>
          <a:lstStyle/>
          <a:p>
            <a:r>
              <a:rPr sz="1100" b="0">
                <a:solidFill>
                  <a:srgbClr val="14213D"/>
                </a:solidFill>
                <a:latin typeface="Calibri"/>
              </a:rPr>
              <a:t>/ 5); 2</a:t>
            </a:r>
          </a:p>
        </p:txBody>
      </p:sp>
      <p:sp>
        <p:nvSpPr>
          <p:cNvPr id="170" name="TextBox 169"/>
          <p:cNvSpPr txBox="1"/>
          <p:nvPr/>
        </p:nvSpPr>
        <p:spPr>
          <a:xfrm>
            <a:off x="7658100" y="5187315"/>
            <a:ext cx="2541413" cy="186689"/>
          </a:xfrm>
          <a:prstGeom prst="rect">
            <a:avLst/>
          </a:prstGeom>
          <a:noFill/>
        </p:spPr>
        <p:txBody>
          <a:bodyPr wrap="none" lIns="0" rIns="0" tIns="0" bIns="0">
            <a:spAutoFit/>
          </a:bodyPr>
          <a:lstStyle/>
          <a:p>
            <a:r>
              <a:rPr sz="1100" b="0">
                <a:solidFill>
                  <a:srgbClr val="14213D"/>
                </a:solidFill>
                <a:latin typeface="Calibri"/>
              </a:rPr>
              <a:t>players are expected to exit or be acquired.</a:t>
            </a:r>
          </a:p>
        </p:txBody>
      </p:sp>
    </p:spTree>
  </p:cSld>
  <p:clrMapOvr>
    <a:masterClrMapping/>
  </p:clrMapOvr>
</p:sld>
</file>

<file path=ppt/slides/slide2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Competitive Dashboard View (2026)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Benchmarking of companies on portfolio, coverage, revenue, share, regional presence and strategy</a:t>
            </a:r>
          </a:p>
        </p:txBody>
      </p:sp>
      <p:sp>
        <p:nvSpPr>
          <p:cNvPr id="10" name="TextBox 9"/>
          <p:cNvSpPr txBox="1"/>
          <p:nvPr/>
        </p:nvSpPr>
        <p:spPr>
          <a:xfrm>
            <a:off x="285750" y="970754"/>
            <a:ext cx="10477500" cy="164283"/>
          </a:xfrm>
          <a:prstGeom prst="rect">
            <a:avLst/>
          </a:prstGeom>
          <a:noFill/>
        </p:spPr>
        <p:txBody>
          <a:bodyPr wrap="square" lIns="0" rIns="19050" tIns="0" bIns="0">
            <a:spAutoFit/>
          </a:bodyPr>
          <a:lstStyle/>
          <a:p>
            <a:pPr algn="l"/>
            <a:r>
              <a:rPr sz="1100" b="0">
                <a:solidFill>
                  <a:srgbClr val="6C7A89"/>
                </a:solidFill>
                <a:latin typeface="Calibri"/>
              </a:rPr>
              <a:t>Intensified competition across the leading players portfolio, revenue, share, regional presence and strategy.  All figures 2026.</a:t>
            </a:r>
          </a:p>
        </p:txBody>
      </p:sp>
      <p:sp>
        <p:nvSpPr>
          <p:cNvPr id="11" name="Rounded Rectangle 10"/>
          <p:cNvSpPr/>
          <p:nvPr/>
        </p:nvSpPr>
        <p:spPr>
          <a:xfrm>
            <a:off x="133350" y="1153291"/>
            <a:ext cx="11925300" cy="4563424"/>
          </a:xfrm>
          <a:prstGeom prst="roundRect">
            <a:avLst>
              <a:gd name="adj" fmla="val 16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ectangle 11"/>
          <p:cNvSpPr/>
          <p:nvPr/>
        </p:nvSpPr>
        <p:spPr>
          <a:xfrm>
            <a:off x="133350" y="1171544"/>
            <a:ext cx="11925300" cy="365074"/>
          </a:xfrm>
          <a:prstGeom prst="rect">
            <a:avLst/>
          </a:prstGeom>
          <a:solidFill>
            <a:srgbClr val="F1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Rectangle 12"/>
          <p:cNvSpPr/>
          <p:nvPr/>
        </p:nvSpPr>
        <p:spPr>
          <a:xfrm>
            <a:off x="133350" y="1171544"/>
            <a:ext cx="1143000" cy="4526917"/>
          </a:xfrm>
          <a:prstGeom prst="rect">
            <a:avLst/>
          </a:prstGeom>
          <a:solidFill>
            <a:srgbClr val="F7FA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4" name="Connector 13"/>
          <p:cNvCxnSpPr/>
          <p:nvPr/>
        </p:nvCxnSpPr>
        <p:spPr>
          <a:xfrm>
            <a:off x="133350" y="1536618"/>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133350" y="1792170"/>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133350" y="2631840"/>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133350" y="2960407"/>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133350" y="3288973"/>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133350" y="4055629"/>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133350" y="5041328"/>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1333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120586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129540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2371725"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a:off x="34480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a:off x="4524375"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560070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6677025"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77533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0" name="Connector 29"/>
          <p:cNvCxnSpPr/>
          <p:nvPr/>
        </p:nvCxnSpPr>
        <p:spPr>
          <a:xfrm>
            <a:off x="8829675"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1" name="Connector 30"/>
          <p:cNvCxnSpPr/>
          <p:nvPr/>
        </p:nvCxnSpPr>
        <p:spPr>
          <a:xfrm>
            <a:off x="990600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2" name="Connector 31"/>
          <p:cNvCxnSpPr/>
          <p:nvPr/>
        </p:nvCxnSpPr>
        <p:spPr>
          <a:xfrm>
            <a:off x="10982325"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3" name="Connector 32"/>
          <p:cNvCxnSpPr/>
          <p:nvPr/>
        </p:nvCxnSpPr>
        <p:spPr>
          <a:xfrm>
            <a:off x="120586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133350" y="5698461"/>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35" name="TextBox 34"/>
          <p:cNvSpPr txBox="1"/>
          <p:nvPr/>
        </p:nvSpPr>
        <p:spPr>
          <a:xfrm>
            <a:off x="171450" y="1536618"/>
            <a:ext cx="1085850" cy="255552"/>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Company / Brand</a:t>
            </a:r>
          </a:p>
        </p:txBody>
      </p:sp>
      <p:sp>
        <p:nvSpPr>
          <p:cNvPr id="36" name="TextBox 35"/>
          <p:cNvSpPr txBox="1"/>
          <p:nvPr/>
        </p:nvSpPr>
        <p:spPr>
          <a:xfrm>
            <a:off x="171450" y="1792170"/>
            <a:ext cx="1085850" cy="839670"/>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Product Portfolio</a:t>
            </a:r>
          </a:p>
        </p:txBody>
      </p:sp>
      <p:sp>
        <p:nvSpPr>
          <p:cNvPr id="37" name="TextBox 36"/>
          <p:cNvSpPr txBox="1"/>
          <p:nvPr/>
        </p:nvSpPr>
        <p:spPr>
          <a:xfrm>
            <a:off x="171450" y="2631840"/>
            <a:ext cx="1085850" cy="328567"/>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Overall Rev (US$ Mn)</a:t>
            </a:r>
          </a:p>
        </p:txBody>
      </p:sp>
      <p:sp>
        <p:nvSpPr>
          <p:cNvPr id="38" name="TextBox 37"/>
          <p:cNvSpPr txBox="1"/>
          <p:nvPr/>
        </p:nvSpPr>
        <p:spPr>
          <a:xfrm>
            <a:off x="171450" y="2960407"/>
            <a:ext cx="1085850" cy="328567"/>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Target Rev (US$ Mn)</a:t>
            </a:r>
          </a:p>
        </p:txBody>
      </p:sp>
      <p:sp>
        <p:nvSpPr>
          <p:cNvPr id="39" name="TextBox 38"/>
          <p:cNvSpPr txBox="1"/>
          <p:nvPr/>
        </p:nvSpPr>
        <p:spPr>
          <a:xfrm>
            <a:off x="171450" y="3288973"/>
            <a:ext cx="1085850" cy="766655"/>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Market Share (%)</a:t>
            </a:r>
          </a:p>
        </p:txBody>
      </p:sp>
      <p:sp>
        <p:nvSpPr>
          <p:cNvPr id="40" name="TextBox 39"/>
          <p:cNvSpPr txBox="1"/>
          <p:nvPr/>
        </p:nvSpPr>
        <p:spPr>
          <a:xfrm>
            <a:off x="171450" y="4055629"/>
            <a:ext cx="1085850" cy="985700"/>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Regional Presence</a:t>
            </a:r>
          </a:p>
        </p:txBody>
      </p:sp>
      <p:sp>
        <p:nvSpPr>
          <p:cNvPr id="41" name="TextBox 40"/>
          <p:cNvSpPr txBox="1"/>
          <p:nvPr/>
        </p:nvSpPr>
        <p:spPr>
          <a:xfrm>
            <a:off x="171450" y="5041328"/>
            <a:ext cx="1085850" cy="657133"/>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Strategies</a:t>
            </a:r>
          </a:p>
        </p:txBody>
      </p:sp>
      <p:sp>
        <p:nvSpPr>
          <p:cNvPr id="42" name="TextBox 41"/>
          <p:cNvSpPr txBox="1"/>
          <p:nvPr/>
        </p:nvSpPr>
        <p:spPr>
          <a:xfrm>
            <a:off x="1323975"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Dentsply Sirona Inc.</a:t>
            </a:r>
          </a:p>
        </p:txBody>
      </p:sp>
      <p:cxnSp>
        <p:nvCxnSpPr>
          <p:cNvPr id="43" name="Connector 42"/>
          <p:cNvCxnSpPr/>
          <p:nvPr/>
        </p:nvCxnSpPr>
        <p:spPr>
          <a:xfrm>
            <a:off x="1604962"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1323975"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A</a:t>
            </a:r>
          </a:p>
        </p:txBody>
      </p:sp>
      <p:sp>
        <p:nvSpPr>
          <p:cNvPr id="45" name="TextBox 44"/>
          <p:cNvSpPr txBox="1"/>
          <p:nvPr/>
        </p:nvSpPr>
        <p:spPr>
          <a:xfrm>
            <a:off x="1314450"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D4D7DA"/>
                </a:solidFill>
                <a:latin typeface="Calibri"/>
              </a:rPr>
              <a:t>✦ </a:t>
            </a:r>
            <a:r>
              <a:rPr sz="1300" b="0">
                <a:solidFill>
                  <a:srgbClr val="D4D7DA"/>
                </a:solidFill>
                <a:latin typeface="Calibri"/>
              </a:rPr>
              <a:t>✦ </a:t>
            </a:r>
          </a:p>
        </p:txBody>
      </p:sp>
      <p:sp>
        <p:nvSpPr>
          <p:cNvPr id="46" name="TextBox 45"/>
          <p:cNvSpPr txBox="1"/>
          <p:nvPr/>
        </p:nvSpPr>
        <p:spPr>
          <a:xfrm>
            <a:off x="1314450"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008189"/>
                </a:solidFill>
                <a:latin typeface="Calibri"/>
              </a:rPr>
              <a:t>✔ </a:t>
            </a:r>
            <a:r>
              <a:rPr sz="1100" b="1">
                <a:solidFill>
                  <a:srgbClr val="E44D3A"/>
                </a:solidFill>
                <a:latin typeface="Calibri"/>
              </a:rPr>
              <a:t>✘ </a:t>
            </a:r>
          </a:p>
        </p:txBody>
      </p:sp>
      <p:sp>
        <p:nvSpPr>
          <p:cNvPr id="47" name="Rectangle 46"/>
          <p:cNvSpPr/>
          <p:nvPr/>
        </p:nvSpPr>
        <p:spPr>
          <a:xfrm>
            <a:off x="1604962"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1776412"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1947862"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1323975"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51" name="TextBox 50"/>
          <p:cNvSpPr txBox="1"/>
          <p:nvPr/>
        </p:nvSpPr>
        <p:spPr>
          <a:xfrm>
            <a:off x="1323975"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52" name="Oval 51"/>
          <p:cNvSpPr/>
          <p:nvPr/>
        </p:nvSpPr>
        <p:spPr>
          <a:xfrm>
            <a:off x="1585912"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Freeform 52"/>
          <p:cNvSpPr/>
          <p:nvPr/>
        </p:nvSpPr>
        <p:spPr>
          <a:xfrm>
            <a:off x="1828800" y="3416749"/>
            <a:ext cx="209550" cy="237298"/>
          </a:xfrm>
          <a:custGeom>
            <a:avLst/>
            <a:gdLst/>
            <a:ahLst/>
            <a:cxnLst/>
            <a:rect l="l" t="t" r="r" b="b"/>
            <a:pathLst>
              <a:path w="22" h="26">
                <a:moveTo>
                  <a:pt x="0" y="26"/>
                </a:moveTo>
                <a:lnTo>
                  <a:pt x="0" y="0"/>
                </a:lnTo>
                <a:lnTo>
                  <a:pt x="4" y="0"/>
                </a:lnTo>
                <a:lnTo>
                  <a:pt x="8" y="1"/>
                </a:lnTo>
                <a:lnTo>
                  <a:pt x="11" y="2"/>
                </a:lnTo>
                <a:lnTo>
                  <a:pt x="14" y="4"/>
                </a:lnTo>
                <a:lnTo>
                  <a:pt x="17" y="6"/>
                </a:lnTo>
                <a:lnTo>
                  <a:pt x="20" y="8"/>
                </a:lnTo>
                <a:lnTo>
                  <a:pt x="22" y="11"/>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Oval 53"/>
          <p:cNvSpPr/>
          <p:nvPr/>
        </p:nvSpPr>
        <p:spPr>
          <a:xfrm>
            <a:off x="1694878"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1585912" y="3590159"/>
            <a:ext cx="495300" cy="127776"/>
          </a:xfrm>
          <a:prstGeom prst="rect">
            <a:avLst/>
          </a:prstGeom>
          <a:noFill/>
        </p:spPr>
        <p:txBody>
          <a:bodyPr wrap="square" lIns="28575" rIns="28575" tIns="9525" bIns="9525" anchor="ctr">
            <a:spAutoFit/>
          </a:bodyPr>
          <a:lstStyle/>
          <a:p>
            <a:pPr algn="ctr"/>
            <a:r>
              <a:rPr sz="1100" b="1">
                <a:solidFill>
                  <a:srgbClr val="0B2E4A"/>
                </a:solidFill>
                <a:latin typeface="Calibri"/>
              </a:rPr>
              <a:t> </a:t>
            </a:r>
          </a:p>
        </p:txBody>
      </p:sp>
      <p:sp>
        <p:nvSpPr>
          <p:cNvPr id="56" name="TextBox 55"/>
          <p:cNvSpPr txBox="1"/>
          <p:nvPr/>
        </p:nvSpPr>
        <p:spPr>
          <a:xfrm>
            <a:off x="1343025"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North America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Europe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South Asia &amp; Pacific  </a:t>
            </a:r>
            <a:r>
              <a:rPr sz="1100" b="1">
                <a:solidFill>
                  <a:srgbClr val="9AA3A8"/>
                </a:solidFill>
                <a:latin typeface="Calibri"/>
              </a:rPr>
              <a:t>▲</a:t>
            </a:r>
          </a:p>
        </p:txBody>
      </p:sp>
      <p:sp>
        <p:nvSpPr>
          <p:cNvPr id="57" name="Oval 56"/>
          <p:cNvSpPr/>
          <p:nvPr/>
        </p:nvSpPr>
        <p:spPr>
          <a:xfrm>
            <a:off x="14287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14287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59" name="Oval 58"/>
          <p:cNvSpPr/>
          <p:nvPr/>
        </p:nvSpPr>
        <p:spPr>
          <a:xfrm>
            <a:off x="16383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16383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61" name="Oval 60"/>
          <p:cNvSpPr/>
          <p:nvPr/>
        </p:nvSpPr>
        <p:spPr>
          <a:xfrm>
            <a:off x="18478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18478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63" name="Oval 62"/>
          <p:cNvSpPr/>
          <p:nvPr/>
        </p:nvSpPr>
        <p:spPr>
          <a:xfrm>
            <a:off x="2057400"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0574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65" name="Oval 64"/>
          <p:cNvSpPr/>
          <p:nvPr/>
        </p:nvSpPr>
        <p:spPr>
          <a:xfrm>
            <a:off x="153352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15335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67" name="Oval 66"/>
          <p:cNvSpPr/>
          <p:nvPr/>
        </p:nvSpPr>
        <p:spPr>
          <a:xfrm>
            <a:off x="1743075"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17430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69" name="Oval 68"/>
          <p:cNvSpPr/>
          <p:nvPr/>
        </p:nvSpPr>
        <p:spPr>
          <a:xfrm>
            <a:off x="195262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TextBox 69"/>
          <p:cNvSpPr txBox="1"/>
          <p:nvPr/>
        </p:nvSpPr>
        <p:spPr>
          <a:xfrm>
            <a:off x="19526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71" name="TextBox 70"/>
          <p:cNvSpPr txBox="1"/>
          <p:nvPr/>
        </p:nvSpPr>
        <p:spPr>
          <a:xfrm>
            <a:off x="2400300"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Ivoclar Vivadent AG</a:t>
            </a:r>
          </a:p>
        </p:txBody>
      </p:sp>
      <p:cxnSp>
        <p:nvCxnSpPr>
          <p:cNvPr id="72" name="Connector 71"/>
          <p:cNvCxnSpPr/>
          <p:nvPr/>
        </p:nvCxnSpPr>
        <p:spPr>
          <a:xfrm>
            <a:off x="2681288"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73" name="TextBox 72"/>
          <p:cNvSpPr txBox="1"/>
          <p:nvPr/>
        </p:nvSpPr>
        <p:spPr>
          <a:xfrm>
            <a:off x="2400300"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B</a:t>
            </a:r>
          </a:p>
        </p:txBody>
      </p:sp>
      <p:sp>
        <p:nvSpPr>
          <p:cNvPr id="74" name="TextBox 73"/>
          <p:cNvSpPr txBox="1"/>
          <p:nvPr/>
        </p:nvSpPr>
        <p:spPr>
          <a:xfrm>
            <a:off x="2390775"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D4D7DA"/>
                </a:solidFill>
                <a:latin typeface="Calibri"/>
              </a:rPr>
              <a:t>✦ </a:t>
            </a:r>
          </a:p>
        </p:txBody>
      </p:sp>
      <p:sp>
        <p:nvSpPr>
          <p:cNvPr id="75" name="TextBox 74"/>
          <p:cNvSpPr txBox="1"/>
          <p:nvPr/>
        </p:nvSpPr>
        <p:spPr>
          <a:xfrm>
            <a:off x="2390775"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E44D3A"/>
                </a:solidFill>
                <a:latin typeface="Calibri"/>
              </a:rPr>
              <a:t>✘ </a:t>
            </a:r>
            <a:r>
              <a:rPr sz="1100" b="1">
                <a:solidFill>
                  <a:srgbClr val="008189"/>
                </a:solidFill>
                <a:latin typeface="Calibri"/>
              </a:rPr>
              <a:t>✔ </a:t>
            </a:r>
          </a:p>
        </p:txBody>
      </p:sp>
      <p:sp>
        <p:nvSpPr>
          <p:cNvPr id="76" name="Rectangle 75"/>
          <p:cNvSpPr/>
          <p:nvPr/>
        </p:nvSpPr>
        <p:spPr>
          <a:xfrm>
            <a:off x="2681288"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852738"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024188" y="2303274"/>
            <a:ext cx="114300" cy="109522"/>
          </a:xfrm>
          <a:prstGeom prst="rect">
            <a:avLst/>
          </a:prstGeom>
          <a:solidFill>
            <a:srgbClr val="FFFFF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2400300"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80" name="TextBox 79"/>
          <p:cNvSpPr txBox="1"/>
          <p:nvPr/>
        </p:nvSpPr>
        <p:spPr>
          <a:xfrm>
            <a:off x="2400300"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81" name="Oval 80"/>
          <p:cNvSpPr/>
          <p:nvPr/>
        </p:nvSpPr>
        <p:spPr>
          <a:xfrm>
            <a:off x="2662238"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Freeform 81"/>
          <p:cNvSpPr/>
          <p:nvPr/>
        </p:nvSpPr>
        <p:spPr>
          <a:xfrm>
            <a:off x="2914650" y="3416749"/>
            <a:ext cx="180975" cy="237298"/>
          </a:xfrm>
          <a:custGeom>
            <a:avLst/>
            <a:gdLst/>
            <a:ahLst/>
            <a:cxnLst/>
            <a:rect l="l" t="t" r="r" b="b"/>
            <a:pathLst>
              <a:path w="19" h="26">
                <a:moveTo>
                  <a:pt x="0" y="26"/>
                </a:moveTo>
                <a:lnTo>
                  <a:pt x="0" y="0"/>
                </a:lnTo>
                <a:lnTo>
                  <a:pt x="3" y="0"/>
                </a:lnTo>
                <a:lnTo>
                  <a:pt x="7" y="1"/>
                </a:lnTo>
                <a:lnTo>
                  <a:pt x="10" y="2"/>
                </a:lnTo>
                <a:lnTo>
                  <a:pt x="13" y="4"/>
                </a:lnTo>
                <a:lnTo>
                  <a:pt x="16" y="6"/>
                </a:lnTo>
                <a:lnTo>
                  <a:pt x="19" y="9"/>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Oval 82"/>
          <p:cNvSpPr/>
          <p:nvPr/>
        </p:nvSpPr>
        <p:spPr>
          <a:xfrm>
            <a:off x="2771204"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TextBox 83"/>
          <p:cNvSpPr txBox="1"/>
          <p:nvPr/>
        </p:nvSpPr>
        <p:spPr>
          <a:xfrm>
            <a:off x="2662238" y="3590159"/>
            <a:ext cx="495300" cy="127776"/>
          </a:xfrm>
          <a:prstGeom prst="rect">
            <a:avLst/>
          </a:prstGeom>
          <a:noFill/>
        </p:spPr>
        <p:txBody>
          <a:bodyPr wrap="square" lIns="28575" rIns="28575" tIns="9525" bIns="9525" anchor="ctr">
            <a:spAutoFit/>
          </a:bodyPr>
          <a:lstStyle/>
          <a:p>
            <a:pPr algn="ctr"/>
            <a:r>
              <a:rPr sz="1100" b="1">
                <a:solidFill>
                  <a:srgbClr val="0B2E4A"/>
                </a:solidFill>
                <a:latin typeface="Calibri"/>
              </a:rPr>
              <a:t> </a:t>
            </a:r>
          </a:p>
        </p:txBody>
      </p:sp>
      <p:sp>
        <p:nvSpPr>
          <p:cNvPr id="85" name="TextBox 84"/>
          <p:cNvSpPr txBox="1"/>
          <p:nvPr/>
        </p:nvSpPr>
        <p:spPr>
          <a:xfrm>
            <a:off x="2419350"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Europe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South Asia &amp; Pacific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East Asia  </a:t>
            </a:r>
            <a:r>
              <a:rPr sz="1100" b="1">
                <a:solidFill>
                  <a:srgbClr val="9AA3A8"/>
                </a:solidFill>
                <a:latin typeface="Calibri"/>
              </a:rPr>
              <a:t>▲</a:t>
            </a:r>
          </a:p>
        </p:txBody>
      </p:sp>
      <p:sp>
        <p:nvSpPr>
          <p:cNvPr id="86" name="Oval 85"/>
          <p:cNvSpPr/>
          <p:nvPr/>
        </p:nvSpPr>
        <p:spPr>
          <a:xfrm>
            <a:off x="25050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25050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88" name="Oval 87"/>
          <p:cNvSpPr/>
          <p:nvPr/>
        </p:nvSpPr>
        <p:spPr>
          <a:xfrm>
            <a:off x="27146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TextBox 88"/>
          <p:cNvSpPr txBox="1"/>
          <p:nvPr/>
        </p:nvSpPr>
        <p:spPr>
          <a:xfrm>
            <a:off x="27146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90" name="Oval 89"/>
          <p:cNvSpPr/>
          <p:nvPr/>
        </p:nvSpPr>
        <p:spPr>
          <a:xfrm>
            <a:off x="29241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9241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92" name="Oval 91"/>
          <p:cNvSpPr/>
          <p:nvPr/>
        </p:nvSpPr>
        <p:spPr>
          <a:xfrm>
            <a:off x="31337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31337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94" name="Oval 93"/>
          <p:cNvSpPr/>
          <p:nvPr/>
        </p:nvSpPr>
        <p:spPr>
          <a:xfrm>
            <a:off x="260985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TextBox 94"/>
          <p:cNvSpPr txBox="1"/>
          <p:nvPr/>
        </p:nvSpPr>
        <p:spPr>
          <a:xfrm>
            <a:off x="26098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96" name="Oval 95"/>
          <p:cNvSpPr/>
          <p:nvPr/>
        </p:nvSpPr>
        <p:spPr>
          <a:xfrm>
            <a:off x="2819400"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TextBox 96"/>
          <p:cNvSpPr txBox="1"/>
          <p:nvPr/>
        </p:nvSpPr>
        <p:spPr>
          <a:xfrm>
            <a:off x="28194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98" name="Oval 97"/>
          <p:cNvSpPr/>
          <p:nvPr/>
        </p:nvSpPr>
        <p:spPr>
          <a:xfrm>
            <a:off x="302895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30289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100" name="TextBox 99"/>
          <p:cNvSpPr txBox="1"/>
          <p:nvPr/>
        </p:nvSpPr>
        <p:spPr>
          <a:xfrm>
            <a:off x="3476625"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Kulzer GmbH</a:t>
            </a:r>
          </a:p>
        </p:txBody>
      </p:sp>
      <p:cxnSp>
        <p:nvCxnSpPr>
          <p:cNvPr id="101" name="Connector 100"/>
          <p:cNvCxnSpPr/>
          <p:nvPr/>
        </p:nvCxnSpPr>
        <p:spPr>
          <a:xfrm>
            <a:off x="3757612"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102" name="TextBox 101"/>
          <p:cNvSpPr txBox="1"/>
          <p:nvPr/>
        </p:nvSpPr>
        <p:spPr>
          <a:xfrm>
            <a:off x="3476625"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C</a:t>
            </a:r>
          </a:p>
        </p:txBody>
      </p:sp>
      <p:sp>
        <p:nvSpPr>
          <p:cNvPr id="103" name="TextBox 102"/>
          <p:cNvSpPr txBox="1"/>
          <p:nvPr/>
        </p:nvSpPr>
        <p:spPr>
          <a:xfrm>
            <a:off x="3467100"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79C3EC"/>
                </a:solidFill>
                <a:latin typeface="Calibri"/>
              </a:rPr>
              <a:t>✦ </a:t>
            </a:r>
          </a:p>
        </p:txBody>
      </p:sp>
      <p:sp>
        <p:nvSpPr>
          <p:cNvPr id="104" name="TextBox 103"/>
          <p:cNvSpPr txBox="1"/>
          <p:nvPr/>
        </p:nvSpPr>
        <p:spPr>
          <a:xfrm>
            <a:off x="3467100" y="2047722"/>
            <a:ext cx="1038225" cy="182537"/>
          </a:xfrm>
          <a:prstGeom prst="rect">
            <a:avLst/>
          </a:prstGeom>
          <a:noFill/>
        </p:spPr>
        <p:txBody>
          <a:bodyPr wrap="square" lIns="28575" rIns="28575" tIns="9525" bIns="9525" anchor="ctr">
            <a:spAutoFit/>
          </a:bodyPr>
          <a:lstStyle/>
          <a:p>
            <a:pPr algn="ctr"/>
            <a:r>
              <a:rPr sz="1100" b="1">
                <a:solidFill>
                  <a:srgbClr val="E44D3A"/>
                </a:solidFill>
                <a:latin typeface="Calibri"/>
              </a:rPr>
              <a:t>✘ </a:t>
            </a:r>
            <a:r>
              <a:rPr sz="1100" b="1">
                <a:solidFill>
                  <a:srgbClr val="008189"/>
                </a:solidFill>
                <a:latin typeface="Calibri"/>
              </a:rPr>
              <a:t>✔ </a:t>
            </a:r>
            <a:r>
              <a:rPr sz="1100" b="1">
                <a:solidFill>
                  <a:srgbClr val="008189"/>
                </a:solidFill>
                <a:latin typeface="Calibri"/>
              </a:rPr>
              <a:t>✔ </a:t>
            </a:r>
          </a:p>
        </p:txBody>
      </p:sp>
      <p:sp>
        <p:nvSpPr>
          <p:cNvPr id="105" name="Rectangle 104"/>
          <p:cNvSpPr/>
          <p:nvPr/>
        </p:nvSpPr>
        <p:spPr>
          <a:xfrm>
            <a:off x="3757612"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3929062" y="2303274"/>
            <a:ext cx="114300" cy="109522"/>
          </a:xfrm>
          <a:prstGeom prst="rect">
            <a:avLst/>
          </a:prstGeom>
          <a:solidFill>
            <a:srgbClr val="FFFFFF"/>
          </a:solidFill>
          <a:ln w="12700">
            <a:solidFill>
              <a:srgbClr val="79C3E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4100512"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TextBox 107"/>
          <p:cNvSpPr txBox="1"/>
          <p:nvPr/>
        </p:nvSpPr>
        <p:spPr>
          <a:xfrm>
            <a:off x="3476625"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09" name="TextBox 108"/>
          <p:cNvSpPr txBox="1"/>
          <p:nvPr/>
        </p:nvSpPr>
        <p:spPr>
          <a:xfrm>
            <a:off x="3476625"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10" name="Oval 109"/>
          <p:cNvSpPr/>
          <p:nvPr/>
        </p:nvSpPr>
        <p:spPr>
          <a:xfrm>
            <a:off x="3738562"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Freeform 110"/>
          <p:cNvSpPr/>
          <p:nvPr/>
        </p:nvSpPr>
        <p:spPr>
          <a:xfrm>
            <a:off x="3981450" y="3416749"/>
            <a:ext cx="142875" cy="237298"/>
          </a:xfrm>
          <a:custGeom>
            <a:avLst/>
            <a:gdLst/>
            <a:ahLst/>
            <a:cxnLst/>
            <a:rect l="l" t="t" r="r" b="b"/>
            <a:pathLst>
              <a:path w="15" h="26">
                <a:moveTo>
                  <a:pt x="0" y="26"/>
                </a:moveTo>
                <a:lnTo>
                  <a:pt x="0" y="0"/>
                </a:lnTo>
                <a:lnTo>
                  <a:pt x="4" y="0"/>
                </a:lnTo>
                <a:lnTo>
                  <a:pt x="8" y="1"/>
                </a:lnTo>
                <a:lnTo>
                  <a:pt x="12" y="2"/>
                </a:lnTo>
                <a:lnTo>
                  <a:pt x="15" y="4"/>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Oval 111"/>
          <p:cNvSpPr/>
          <p:nvPr/>
        </p:nvSpPr>
        <p:spPr>
          <a:xfrm>
            <a:off x="3847528"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TextBox 112"/>
          <p:cNvSpPr txBox="1"/>
          <p:nvPr/>
        </p:nvSpPr>
        <p:spPr>
          <a:xfrm>
            <a:off x="3738562"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114" name="TextBox 113"/>
          <p:cNvSpPr txBox="1"/>
          <p:nvPr/>
        </p:nvSpPr>
        <p:spPr>
          <a:xfrm>
            <a:off x="3495675"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South Asia &amp; Pacific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East Asia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Latin America  </a:t>
            </a:r>
            <a:r>
              <a:rPr sz="1100" b="1">
                <a:solidFill>
                  <a:srgbClr val="9AA3A8"/>
                </a:solidFill>
                <a:latin typeface="Calibri"/>
              </a:rPr>
              <a:t>▲</a:t>
            </a:r>
          </a:p>
        </p:txBody>
      </p:sp>
      <p:sp>
        <p:nvSpPr>
          <p:cNvPr id="115" name="Oval 114"/>
          <p:cNvSpPr/>
          <p:nvPr/>
        </p:nvSpPr>
        <p:spPr>
          <a:xfrm>
            <a:off x="35814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TextBox 115"/>
          <p:cNvSpPr txBox="1"/>
          <p:nvPr/>
        </p:nvSpPr>
        <p:spPr>
          <a:xfrm>
            <a:off x="35814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117" name="Oval 116"/>
          <p:cNvSpPr/>
          <p:nvPr/>
        </p:nvSpPr>
        <p:spPr>
          <a:xfrm>
            <a:off x="37909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TextBox 117"/>
          <p:cNvSpPr txBox="1"/>
          <p:nvPr/>
        </p:nvSpPr>
        <p:spPr>
          <a:xfrm>
            <a:off x="37909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119" name="Oval 118"/>
          <p:cNvSpPr/>
          <p:nvPr/>
        </p:nvSpPr>
        <p:spPr>
          <a:xfrm>
            <a:off x="40005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TextBox 119"/>
          <p:cNvSpPr txBox="1"/>
          <p:nvPr/>
        </p:nvSpPr>
        <p:spPr>
          <a:xfrm>
            <a:off x="40005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121" name="Oval 120"/>
          <p:cNvSpPr/>
          <p:nvPr/>
        </p:nvSpPr>
        <p:spPr>
          <a:xfrm>
            <a:off x="4210050"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TextBox 121"/>
          <p:cNvSpPr txBox="1"/>
          <p:nvPr/>
        </p:nvSpPr>
        <p:spPr>
          <a:xfrm>
            <a:off x="42100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123" name="Oval 122"/>
          <p:cNvSpPr/>
          <p:nvPr/>
        </p:nvSpPr>
        <p:spPr>
          <a:xfrm>
            <a:off x="368617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TextBox 123"/>
          <p:cNvSpPr txBox="1"/>
          <p:nvPr/>
        </p:nvSpPr>
        <p:spPr>
          <a:xfrm>
            <a:off x="36861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125" name="Oval 124"/>
          <p:cNvSpPr/>
          <p:nvPr/>
        </p:nvSpPr>
        <p:spPr>
          <a:xfrm>
            <a:off x="3895725"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TextBox 125"/>
          <p:cNvSpPr txBox="1"/>
          <p:nvPr/>
        </p:nvSpPr>
        <p:spPr>
          <a:xfrm>
            <a:off x="38957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127" name="Oval 126"/>
          <p:cNvSpPr/>
          <p:nvPr/>
        </p:nvSpPr>
        <p:spPr>
          <a:xfrm>
            <a:off x="410527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41052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129" name="TextBox 128"/>
          <p:cNvSpPr txBox="1"/>
          <p:nvPr/>
        </p:nvSpPr>
        <p:spPr>
          <a:xfrm>
            <a:off x="4552950"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GC Corporation</a:t>
            </a:r>
          </a:p>
        </p:txBody>
      </p:sp>
      <p:cxnSp>
        <p:nvCxnSpPr>
          <p:cNvPr id="130" name="Connector 129"/>
          <p:cNvCxnSpPr/>
          <p:nvPr/>
        </p:nvCxnSpPr>
        <p:spPr>
          <a:xfrm>
            <a:off x="4833938"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131" name="TextBox 130"/>
          <p:cNvSpPr txBox="1"/>
          <p:nvPr/>
        </p:nvSpPr>
        <p:spPr>
          <a:xfrm>
            <a:off x="4552950"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D</a:t>
            </a:r>
          </a:p>
        </p:txBody>
      </p:sp>
      <p:sp>
        <p:nvSpPr>
          <p:cNvPr id="132" name="TextBox 131"/>
          <p:cNvSpPr txBox="1"/>
          <p:nvPr/>
        </p:nvSpPr>
        <p:spPr>
          <a:xfrm>
            <a:off x="4543425"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D4D7DA"/>
                </a:solidFill>
                <a:latin typeface="Calibri"/>
              </a:rPr>
              <a:t>✦ </a:t>
            </a:r>
            <a:r>
              <a:rPr sz="1300" b="0">
                <a:solidFill>
                  <a:srgbClr val="D4D7DA"/>
                </a:solidFill>
                <a:latin typeface="Calibri"/>
              </a:rPr>
              <a:t>✦ </a:t>
            </a:r>
          </a:p>
        </p:txBody>
      </p:sp>
      <p:sp>
        <p:nvSpPr>
          <p:cNvPr id="133" name="TextBox 132"/>
          <p:cNvSpPr txBox="1"/>
          <p:nvPr/>
        </p:nvSpPr>
        <p:spPr>
          <a:xfrm>
            <a:off x="4543425"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008189"/>
                </a:solidFill>
                <a:latin typeface="Calibri"/>
              </a:rPr>
              <a:t>✔ </a:t>
            </a:r>
            <a:r>
              <a:rPr sz="1100" b="1">
                <a:solidFill>
                  <a:srgbClr val="E44D3A"/>
                </a:solidFill>
                <a:latin typeface="Calibri"/>
              </a:rPr>
              <a:t>✘ </a:t>
            </a:r>
          </a:p>
        </p:txBody>
      </p:sp>
      <p:sp>
        <p:nvSpPr>
          <p:cNvPr id="134" name="Rectangle 133"/>
          <p:cNvSpPr/>
          <p:nvPr/>
        </p:nvSpPr>
        <p:spPr>
          <a:xfrm>
            <a:off x="4833938" y="2303274"/>
            <a:ext cx="114300" cy="109522"/>
          </a:xfrm>
          <a:prstGeom prst="rect">
            <a:avLst/>
          </a:prstGeom>
          <a:solidFill>
            <a:srgbClr val="FFFFFF"/>
          </a:solidFill>
          <a:ln w="1270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005388"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5176838"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4552950"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38" name="TextBox 137"/>
          <p:cNvSpPr txBox="1"/>
          <p:nvPr/>
        </p:nvSpPr>
        <p:spPr>
          <a:xfrm>
            <a:off x="4552950"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39" name="Oval 138"/>
          <p:cNvSpPr/>
          <p:nvPr/>
        </p:nvSpPr>
        <p:spPr>
          <a:xfrm>
            <a:off x="4814888"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Freeform 139"/>
          <p:cNvSpPr/>
          <p:nvPr/>
        </p:nvSpPr>
        <p:spPr>
          <a:xfrm>
            <a:off x="5067300" y="3416749"/>
            <a:ext cx="95250" cy="237298"/>
          </a:xfrm>
          <a:custGeom>
            <a:avLst/>
            <a:gdLst/>
            <a:ahLst/>
            <a:cxnLst/>
            <a:rect l="l" t="t" r="r" b="b"/>
            <a:pathLst>
              <a:path w="10" h="26">
                <a:moveTo>
                  <a:pt x="0" y="26"/>
                </a:moveTo>
                <a:lnTo>
                  <a:pt x="0" y="0"/>
                </a:lnTo>
                <a:lnTo>
                  <a:pt x="3" y="0"/>
                </a:lnTo>
                <a:lnTo>
                  <a:pt x="7" y="1"/>
                </a:lnTo>
                <a:lnTo>
                  <a:pt x="10" y="2"/>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Oval 140"/>
          <p:cNvSpPr/>
          <p:nvPr/>
        </p:nvSpPr>
        <p:spPr>
          <a:xfrm>
            <a:off x="4923854"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TextBox 141"/>
          <p:cNvSpPr txBox="1"/>
          <p:nvPr/>
        </p:nvSpPr>
        <p:spPr>
          <a:xfrm>
            <a:off x="4814888"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143" name="TextBox 142"/>
          <p:cNvSpPr txBox="1"/>
          <p:nvPr/>
        </p:nvSpPr>
        <p:spPr>
          <a:xfrm>
            <a:off x="4572000"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East Asia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Latin America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Middle East &amp; Africa  </a:t>
            </a:r>
            <a:r>
              <a:rPr sz="1100" b="1">
                <a:solidFill>
                  <a:srgbClr val="9AA3A8"/>
                </a:solidFill>
                <a:latin typeface="Calibri"/>
              </a:rPr>
              <a:t>▲</a:t>
            </a:r>
          </a:p>
        </p:txBody>
      </p:sp>
      <p:sp>
        <p:nvSpPr>
          <p:cNvPr id="144" name="Oval 143"/>
          <p:cNvSpPr/>
          <p:nvPr/>
        </p:nvSpPr>
        <p:spPr>
          <a:xfrm>
            <a:off x="46577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TextBox 144"/>
          <p:cNvSpPr txBox="1"/>
          <p:nvPr/>
        </p:nvSpPr>
        <p:spPr>
          <a:xfrm>
            <a:off x="46577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146" name="Oval 145"/>
          <p:cNvSpPr/>
          <p:nvPr/>
        </p:nvSpPr>
        <p:spPr>
          <a:xfrm>
            <a:off x="48672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TextBox 146"/>
          <p:cNvSpPr txBox="1"/>
          <p:nvPr/>
        </p:nvSpPr>
        <p:spPr>
          <a:xfrm>
            <a:off x="48672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148" name="Oval 147"/>
          <p:cNvSpPr/>
          <p:nvPr/>
        </p:nvSpPr>
        <p:spPr>
          <a:xfrm>
            <a:off x="50768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TextBox 148"/>
          <p:cNvSpPr txBox="1"/>
          <p:nvPr/>
        </p:nvSpPr>
        <p:spPr>
          <a:xfrm>
            <a:off x="50768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150" name="Oval 149"/>
          <p:cNvSpPr/>
          <p:nvPr/>
        </p:nvSpPr>
        <p:spPr>
          <a:xfrm>
            <a:off x="52863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TextBox 150"/>
          <p:cNvSpPr txBox="1"/>
          <p:nvPr/>
        </p:nvSpPr>
        <p:spPr>
          <a:xfrm>
            <a:off x="52863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152" name="Oval 151"/>
          <p:cNvSpPr/>
          <p:nvPr/>
        </p:nvSpPr>
        <p:spPr>
          <a:xfrm>
            <a:off x="476250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47625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154" name="Oval 153"/>
          <p:cNvSpPr/>
          <p:nvPr/>
        </p:nvSpPr>
        <p:spPr>
          <a:xfrm>
            <a:off x="4972050"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49720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156" name="Oval 155"/>
          <p:cNvSpPr/>
          <p:nvPr/>
        </p:nvSpPr>
        <p:spPr>
          <a:xfrm>
            <a:off x="518160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TextBox 156"/>
          <p:cNvSpPr txBox="1"/>
          <p:nvPr/>
        </p:nvSpPr>
        <p:spPr>
          <a:xfrm>
            <a:off x="51816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158" name="TextBox 157"/>
          <p:cNvSpPr txBox="1"/>
          <p:nvPr/>
        </p:nvSpPr>
        <p:spPr>
          <a:xfrm>
            <a:off x="5629275"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SHOFU INC.</a:t>
            </a:r>
          </a:p>
        </p:txBody>
      </p:sp>
      <p:cxnSp>
        <p:nvCxnSpPr>
          <p:cNvPr id="159" name="Connector 158"/>
          <p:cNvCxnSpPr/>
          <p:nvPr/>
        </p:nvCxnSpPr>
        <p:spPr>
          <a:xfrm>
            <a:off x="5910262"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160" name="TextBox 159"/>
          <p:cNvSpPr txBox="1"/>
          <p:nvPr/>
        </p:nvSpPr>
        <p:spPr>
          <a:xfrm>
            <a:off x="5629275"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E</a:t>
            </a:r>
          </a:p>
        </p:txBody>
      </p:sp>
      <p:sp>
        <p:nvSpPr>
          <p:cNvPr id="161" name="TextBox 160"/>
          <p:cNvSpPr txBox="1"/>
          <p:nvPr/>
        </p:nvSpPr>
        <p:spPr>
          <a:xfrm>
            <a:off x="5619750"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D4D7DA"/>
                </a:solidFill>
                <a:latin typeface="Calibri"/>
              </a:rPr>
              <a:t>✦ </a:t>
            </a:r>
          </a:p>
        </p:txBody>
      </p:sp>
      <p:sp>
        <p:nvSpPr>
          <p:cNvPr id="162" name="TextBox 161"/>
          <p:cNvSpPr txBox="1"/>
          <p:nvPr/>
        </p:nvSpPr>
        <p:spPr>
          <a:xfrm>
            <a:off x="5619750"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E44D3A"/>
                </a:solidFill>
                <a:latin typeface="Calibri"/>
              </a:rPr>
              <a:t>✘ </a:t>
            </a:r>
            <a:r>
              <a:rPr sz="1100" b="1">
                <a:solidFill>
                  <a:srgbClr val="008189"/>
                </a:solidFill>
                <a:latin typeface="Calibri"/>
              </a:rPr>
              <a:t>✔ </a:t>
            </a:r>
          </a:p>
        </p:txBody>
      </p:sp>
      <p:sp>
        <p:nvSpPr>
          <p:cNvPr id="163" name="Rectangle 162"/>
          <p:cNvSpPr/>
          <p:nvPr/>
        </p:nvSpPr>
        <p:spPr>
          <a:xfrm>
            <a:off x="5910262"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6081712"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6253162"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TextBox 165"/>
          <p:cNvSpPr txBox="1"/>
          <p:nvPr/>
        </p:nvSpPr>
        <p:spPr>
          <a:xfrm>
            <a:off x="5629275"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67" name="TextBox 166"/>
          <p:cNvSpPr txBox="1"/>
          <p:nvPr/>
        </p:nvSpPr>
        <p:spPr>
          <a:xfrm>
            <a:off x="5629275"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68" name="Oval 167"/>
          <p:cNvSpPr/>
          <p:nvPr/>
        </p:nvSpPr>
        <p:spPr>
          <a:xfrm>
            <a:off x="5891212"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Freeform 168"/>
          <p:cNvSpPr/>
          <p:nvPr/>
        </p:nvSpPr>
        <p:spPr>
          <a:xfrm>
            <a:off x="6134100" y="3416749"/>
            <a:ext cx="104775" cy="237298"/>
          </a:xfrm>
          <a:custGeom>
            <a:avLst/>
            <a:gdLst/>
            <a:ahLst/>
            <a:cxnLst/>
            <a:rect l="l" t="t" r="r" b="b"/>
            <a:pathLst>
              <a:path w="11" h="26">
                <a:moveTo>
                  <a:pt x="0" y="26"/>
                </a:moveTo>
                <a:lnTo>
                  <a:pt x="0" y="0"/>
                </a:lnTo>
                <a:lnTo>
                  <a:pt x="4" y="0"/>
                </a:lnTo>
                <a:lnTo>
                  <a:pt x="7" y="1"/>
                </a:lnTo>
                <a:lnTo>
                  <a:pt x="11" y="2"/>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Oval 169"/>
          <p:cNvSpPr/>
          <p:nvPr/>
        </p:nvSpPr>
        <p:spPr>
          <a:xfrm>
            <a:off x="6000179"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5891212"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172" name="TextBox 171"/>
          <p:cNvSpPr txBox="1"/>
          <p:nvPr/>
        </p:nvSpPr>
        <p:spPr>
          <a:xfrm>
            <a:off x="5648325"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Latin America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Middle East &amp; Africa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North America  </a:t>
            </a:r>
            <a:r>
              <a:rPr sz="1100" b="1">
                <a:solidFill>
                  <a:srgbClr val="9AA3A8"/>
                </a:solidFill>
                <a:latin typeface="Calibri"/>
              </a:rPr>
              <a:t>▲</a:t>
            </a:r>
          </a:p>
        </p:txBody>
      </p:sp>
      <p:sp>
        <p:nvSpPr>
          <p:cNvPr id="173" name="Oval 172"/>
          <p:cNvSpPr/>
          <p:nvPr/>
        </p:nvSpPr>
        <p:spPr>
          <a:xfrm>
            <a:off x="57340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TextBox 173"/>
          <p:cNvSpPr txBox="1"/>
          <p:nvPr/>
        </p:nvSpPr>
        <p:spPr>
          <a:xfrm>
            <a:off x="57340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175" name="Oval 174"/>
          <p:cNvSpPr/>
          <p:nvPr/>
        </p:nvSpPr>
        <p:spPr>
          <a:xfrm>
            <a:off x="59436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TextBox 175"/>
          <p:cNvSpPr txBox="1"/>
          <p:nvPr/>
        </p:nvSpPr>
        <p:spPr>
          <a:xfrm>
            <a:off x="59436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177" name="Oval 176"/>
          <p:cNvSpPr/>
          <p:nvPr/>
        </p:nvSpPr>
        <p:spPr>
          <a:xfrm>
            <a:off x="61531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TextBox 177"/>
          <p:cNvSpPr txBox="1"/>
          <p:nvPr/>
        </p:nvSpPr>
        <p:spPr>
          <a:xfrm>
            <a:off x="61531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179" name="Oval 178"/>
          <p:cNvSpPr/>
          <p:nvPr/>
        </p:nvSpPr>
        <p:spPr>
          <a:xfrm>
            <a:off x="6362700"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TextBox 179"/>
          <p:cNvSpPr txBox="1"/>
          <p:nvPr/>
        </p:nvSpPr>
        <p:spPr>
          <a:xfrm>
            <a:off x="63627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181" name="Oval 180"/>
          <p:cNvSpPr/>
          <p:nvPr/>
        </p:nvSpPr>
        <p:spPr>
          <a:xfrm>
            <a:off x="583882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TextBox 181"/>
          <p:cNvSpPr txBox="1"/>
          <p:nvPr/>
        </p:nvSpPr>
        <p:spPr>
          <a:xfrm>
            <a:off x="58388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183" name="Oval 182"/>
          <p:cNvSpPr/>
          <p:nvPr/>
        </p:nvSpPr>
        <p:spPr>
          <a:xfrm>
            <a:off x="6048375"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TextBox 183"/>
          <p:cNvSpPr txBox="1"/>
          <p:nvPr/>
        </p:nvSpPr>
        <p:spPr>
          <a:xfrm>
            <a:off x="60483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185" name="Oval 184"/>
          <p:cNvSpPr/>
          <p:nvPr/>
        </p:nvSpPr>
        <p:spPr>
          <a:xfrm>
            <a:off x="625792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TextBox 185"/>
          <p:cNvSpPr txBox="1"/>
          <p:nvPr/>
        </p:nvSpPr>
        <p:spPr>
          <a:xfrm>
            <a:off x="62579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187" name="TextBox 186"/>
          <p:cNvSpPr txBox="1"/>
          <p:nvPr/>
        </p:nvSpPr>
        <p:spPr>
          <a:xfrm>
            <a:off x="6705600"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VITA Zahnfabrik H. Rauter GmbH &amp; Co. KG</a:t>
            </a:r>
          </a:p>
        </p:txBody>
      </p:sp>
      <p:cxnSp>
        <p:nvCxnSpPr>
          <p:cNvPr id="188" name="Connector 187"/>
          <p:cNvCxnSpPr/>
          <p:nvPr/>
        </p:nvCxnSpPr>
        <p:spPr>
          <a:xfrm>
            <a:off x="6986588"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189" name="TextBox 188"/>
          <p:cNvSpPr txBox="1"/>
          <p:nvPr/>
        </p:nvSpPr>
        <p:spPr>
          <a:xfrm>
            <a:off x="6705600"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F</a:t>
            </a:r>
          </a:p>
        </p:txBody>
      </p:sp>
      <p:sp>
        <p:nvSpPr>
          <p:cNvPr id="190" name="TextBox 189"/>
          <p:cNvSpPr txBox="1"/>
          <p:nvPr/>
        </p:nvSpPr>
        <p:spPr>
          <a:xfrm>
            <a:off x="6696075"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79C3EC"/>
                </a:solidFill>
                <a:latin typeface="Calibri"/>
              </a:rPr>
              <a:t>✦ </a:t>
            </a:r>
          </a:p>
        </p:txBody>
      </p:sp>
      <p:sp>
        <p:nvSpPr>
          <p:cNvPr id="191" name="TextBox 190"/>
          <p:cNvSpPr txBox="1"/>
          <p:nvPr/>
        </p:nvSpPr>
        <p:spPr>
          <a:xfrm>
            <a:off x="6696075" y="2047722"/>
            <a:ext cx="1038225" cy="182537"/>
          </a:xfrm>
          <a:prstGeom prst="rect">
            <a:avLst/>
          </a:prstGeom>
          <a:noFill/>
        </p:spPr>
        <p:txBody>
          <a:bodyPr wrap="square" lIns="28575" rIns="28575" tIns="9525" bIns="9525" anchor="ctr">
            <a:spAutoFit/>
          </a:bodyPr>
          <a:lstStyle/>
          <a:p>
            <a:pPr algn="ctr"/>
            <a:r>
              <a:rPr sz="1100" b="1">
                <a:solidFill>
                  <a:srgbClr val="E44D3A"/>
                </a:solidFill>
                <a:latin typeface="Calibri"/>
              </a:rPr>
              <a:t>✘ </a:t>
            </a:r>
            <a:r>
              <a:rPr sz="1100" b="1">
                <a:solidFill>
                  <a:srgbClr val="008189"/>
                </a:solidFill>
                <a:latin typeface="Calibri"/>
              </a:rPr>
              <a:t>✔ </a:t>
            </a:r>
            <a:r>
              <a:rPr sz="1100" b="1">
                <a:solidFill>
                  <a:srgbClr val="008189"/>
                </a:solidFill>
                <a:latin typeface="Calibri"/>
              </a:rPr>
              <a:t>✔ </a:t>
            </a:r>
          </a:p>
        </p:txBody>
      </p:sp>
      <p:sp>
        <p:nvSpPr>
          <p:cNvPr id="192" name="Rectangle 191"/>
          <p:cNvSpPr/>
          <p:nvPr/>
        </p:nvSpPr>
        <p:spPr>
          <a:xfrm>
            <a:off x="6986588"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7158038"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7329488" y="2303274"/>
            <a:ext cx="114300" cy="109522"/>
          </a:xfrm>
          <a:prstGeom prst="rect">
            <a:avLst/>
          </a:prstGeom>
          <a:solidFill>
            <a:srgbClr val="FFFFF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TextBox 194"/>
          <p:cNvSpPr txBox="1"/>
          <p:nvPr/>
        </p:nvSpPr>
        <p:spPr>
          <a:xfrm>
            <a:off x="6705600"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96" name="TextBox 195"/>
          <p:cNvSpPr txBox="1"/>
          <p:nvPr/>
        </p:nvSpPr>
        <p:spPr>
          <a:xfrm>
            <a:off x="6705600"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97" name="Oval 196"/>
          <p:cNvSpPr/>
          <p:nvPr/>
        </p:nvSpPr>
        <p:spPr>
          <a:xfrm>
            <a:off x="6967538"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Freeform 197"/>
          <p:cNvSpPr/>
          <p:nvPr/>
        </p:nvSpPr>
        <p:spPr>
          <a:xfrm>
            <a:off x="7219950" y="3416749"/>
            <a:ext cx="95250" cy="237298"/>
          </a:xfrm>
          <a:custGeom>
            <a:avLst/>
            <a:gdLst/>
            <a:ahLst/>
            <a:cxnLst/>
            <a:rect l="l" t="t" r="r" b="b"/>
            <a:pathLst>
              <a:path w="10" h="26">
                <a:moveTo>
                  <a:pt x="0" y="26"/>
                </a:moveTo>
                <a:lnTo>
                  <a:pt x="0" y="0"/>
                </a:lnTo>
                <a:lnTo>
                  <a:pt x="3" y="0"/>
                </a:lnTo>
                <a:lnTo>
                  <a:pt x="6" y="1"/>
                </a:lnTo>
                <a:lnTo>
                  <a:pt x="10" y="2"/>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Oval 198"/>
          <p:cNvSpPr/>
          <p:nvPr/>
        </p:nvSpPr>
        <p:spPr>
          <a:xfrm>
            <a:off x="7076504"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TextBox 199"/>
          <p:cNvSpPr txBox="1"/>
          <p:nvPr/>
        </p:nvSpPr>
        <p:spPr>
          <a:xfrm>
            <a:off x="6967538"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201" name="TextBox 200"/>
          <p:cNvSpPr txBox="1"/>
          <p:nvPr/>
        </p:nvSpPr>
        <p:spPr>
          <a:xfrm>
            <a:off x="6724650"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Middle East &amp; Africa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North America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Europe  </a:t>
            </a:r>
            <a:r>
              <a:rPr sz="1100" b="1">
                <a:solidFill>
                  <a:srgbClr val="9AA3A8"/>
                </a:solidFill>
                <a:latin typeface="Calibri"/>
              </a:rPr>
              <a:t>▲</a:t>
            </a:r>
          </a:p>
        </p:txBody>
      </p:sp>
      <p:sp>
        <p:nvSpPr>
          <p:cNvPr id="202" name="Oval 201"/>
          <p:cNvSpPr/>
          <p:nvPr/>
        </p:nvSpPr>
        <p:spPr>
          <a:xfrm>
            <a:off x="68103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68103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204" name="Oval 203"/>
          <p:cNvSpPr/>
          <p:nvPr/>
        </p:nvSpPr>
        <p:spPr>
          <a:xfrm>
            <a:off x="70199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TextBox 204"/>
          <p:cNvSpPr txBox="1"/>
          <p:nvPr/>
        </p:nvSpPr>
        <p:spPr>
          <a:xfrm>
            <a:off x="70199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206" name="Oval 205"/>
          <p:cNvSpPr/>
          <p:nvPr/>
        </p:nvSpPr>
        <p:spPr>
          <a:xfrm>
            <a:off x="72294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TextBox 206"/>
          <p:cNvSpPr txBox="1"/>
          <p:nvPr/>
        </p:nvSpPr>
        <p:spPr>
          <a:xfrm>
            <a:off x="72294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208" name="Oval 207"/>
          <p:cNvSpPr/>
          <p:nvPr/>
        </p:nvSpPr>
        <p:spPr>
          <a:xfrm>
            <a:off x="74390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TextBox 208"/>
          <p:cNvSpPr txBox="1"/>
          <p:nvPr/>
        </p:nvSpPr>
        <p:spPr>
          <a:xfrm>
            <a:off x="74390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210" name="Oval 209"/>
          <p:cNvSpPr/>
          <p:nvPr/>
        </p:nvSpPr>
        <p:spPr>
          <a:xfrm>
            <a:off x="691515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TextBox 210"/>
          <p:cNvSpPr txBox="1"/>
          <p:nvPr/>
        </p:nvSpPr>
        <p:spPr>
          <a:xfrm>
            <a:off x="69151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212" name="Oval 211"/>
          <p:cNvSpPr/>
          <p:nvPr/>
        </p:nvSpPr>
        <p:spPr>
          <a:xfrm>
            <a:off x="7124700"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TextBox 212"/>
          <p:cNvSpPr txBox="1"/>
          <p:nvPr/>
        </p:nvSpPr>
        <p:spPr>
          <a:xfrm>
            <a:off x="71247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214" name="Oval 213"/>
          <p:cNvSpPr/>
          <p:nvPr/>
        </p:nvSpPr>
        <p:spPr>
          <a:xfrm>
            <a:off x="733425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TextBox 214"/>
          <p:cNvSpPr txBox="1"/>
          <p:nvPr/>
        </p:nvSpPr>
        <p:spPr>
          <a:xfrm>
            <a:off x="73342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216" name="TextBox 215"/>
          <p:cNvSpPr txBox="1"/>
          <p:nvPr/>
        </p:nvSpPr>
        <p:spPr>
          <a:xfrm>
            <a:off x="7781925"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Zhermack S.p.A.</a:t>
            </a:r>
          </a:p>
        </p:txBody>
      </p:sp>
      <p:cxnSp>
        <p:nvCxnSpPr>
          <p:cNvPr id="217" name="Connector 216"/>
          <p:cNvCxnSpPr/>
          <p:nvPr/>
        </p:nvCxnSpPr>
        <p:spPr>
          <a:xfrm>
            <a:off x="8062912"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218" name="TextBox 217"/>
          <p:cNvSpPr txBox="1"/>
          <p:nvPr/>
        </p:nvSpPr>
        <p:spPr>
          <a:xfrm>
            <a:off x="7781925"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G</a:t>
            </a:r>
          </a:p>
        </p:txBody>
      </p:sp>
      <p:sp>
        <p:nvSpPr>
          <p:cNvPr id="219" name="TextBox 218"/>
          <p:cNvSpPr txBox="1"/>
          <p:nvPr/>
        </p:nvSpPr>
        <p:spPr>
          <a:xfrm>
            <a:off x="7772400"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D4D7DA"/>
                </a:solidFill>
                <a:latin typeface="Calibri"/>
              </a:rPr>
              <a:t>✦ </a:t>
            </a:r>
            <a:r>
              <a:rPr sz="1300" b="0">
                <a:solidFill>
                  <a:srgbClr val="D4D7DA"/>
                </a:solidFill>
                <a:latin typeface="Calibri"/>
              </a:rPr>
              <a:t>✦ </a:t>
            </a:r>
          </a:p>
        </p:txBody>
      </p:sp>
      <p:sp>
        <p:nvSpPr>
          <p:cNvPr id="220" name="TextBox 219"/>
          <p:cNvSpPr txBox="1"/>
          <p:nvPr/>
        </p:nvSpPr>
        <p:spPr>
          <a:xfrm>
            <a:off x="7772400"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008189"/>
                </a:solidFill>
                <a:latin typeface="Calibri"/>
              </a:rPr>
              <a:t>✔ </a:t>
            </a:r>
            <a:r>
              <a:rPr sz="1100" b="1">
                <a:solidFill>
                  <a:srgbClr val="E44D3A"/>
                </a:solidFill>
                <a:latin typeface="Calibri"/>
              </a:rPr>
              <a:t>✘ </a:t>
            </a:r>
          </a:p>
        </p:txBody>
      </p:sp>
      <p:sp>
        <p:nvSpPr>
          <p:cNvPr id="221" name="Rectangle 220"/>
          <p:cNvSpPr/>
          <p:nvPr/>
        </p:nvSpPr>
        <p:spPr>
          <a:xfrm>
            <a:off x="8062912"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8234362" y="2303274"/>
            <a:ext cx="114300" cy="109522"/>
          </a:xfrm>
          <a:prstGeom prst="rect">
            <a:avLst/>
          </a:prstGeom>
          <a:solidFill>
            <a:srgbClr val="FFFFFF"/>
          </a:solidFill>
          <a:ln w="12700">
            <a:solidFill>
              <a:srgbClr val="79C3E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8405812"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TextBox 223"/>
          <p:cNvSpPr txBox="1"/>
          <p:nvPr/>
        </p:nvSpPr>
        <p:spPr>
          <a:xfrm>
            <a:off x="7781925"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225" name="TextBox 224"/>
          <p:cNvSpPr txBox="1"/>
          <p:nvPr/>
        </p:nvSpPr>
        <p:spPr>
          <a:xfrm>
            <a:off x="7781925"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226" name="Oval 225"/>
          <p:cNvSpPr/>
          <p:nvPr/>
        </p:nvSpPr>
        <p:spPr>
          <a:xfrm>
            <a:off x="8043862"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Freeform 226"/>
          <p:cNvSpPr/>
          <p:nvPr/>
        </p:nvSpPr>
        <p:spPr>
          <a:xfrm>
            <a:off x="8286750" y="3416749"/>
            <a:ext cx="85725" cy="237298"/>
          </a:xfrm>
          <a:custGeom>
            <a:avLst/>
            <a:gdLst/>
            <a:ahLst/>
            <a:cxnLst/>
            <a:rect l="l" t="t" r="r" b="b"/>
            <a:pathLst>
              <a:path w="9" h="26">
                <a:moveTo>
                  <a:pt x="0" y="26"/>
                </a:moveTo>
                <a:lnTo>
                  <a:pt x="0" y="0"/>
                </a:lnTo>
                <a:lnTo>
                  <a:pt x="5" y="0"/>
                </a:lnTo>
                <a:lnTo>
                  <a:pt x="9" y="1"/>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Oval 227"/>
          <p:cNvSpPr/>
          <p:nvPr/>
        </p:nvSpPr>
        <p:spPr>
          <a:xfrm>
            <a:off x="8152829"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TextBox 228"/>
          <p:cNvSpPr txBox="1"/>
          <p:nvPr/>
        </p:nvSpPr>
        <p:spPr>
          <a:xfrm>
            <a:off x="8043862"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230" name="TextBox 229"/>
          <p:cNvSpPr txBox="1"/>
          <p:nvPr/>
        </p:nvSpPr>
        <p:spPr>
          <a:xfrm>
            <a:off x="7800975"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North America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Europe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South Asia &amp; Pacific  </a:t>
            </a:r>
            <a:r>
              <a:rPr sz="1100" b="1">
                <a:solidFill>
                  <a:srgbClr val="9AA3A8"/>
                </a:solidFill>
                <a:latin typeface="Calibri"/>
              </a:rPr>
              <a:t>▲</a:t>
            </a:r>
          </a:p>
        </p:txBody>
      </p:sp>
      <p:sp>
        <p:nvSpPr>
          <p:cNvPr id="231" name="Oval 230"/>
          <p:cNvSpPr/>
          <p:nvPr/>
        </p:nvSpPr>
        <p:spPr>
          <a:xfrm>
            <a:off x="78867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TextBox 231"/>
          <p:cNvSpPr txBox="1"/>
          <p:nvPr/>
        </p:nvSpPr>
        <p:spPr>
          <a:xfrm>
            <a:off x="78867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233" name="Oval 232"/>
          <p:cNvSpPr/>
          <p:nvPr/>
        </p:nvSpPr>
        <p:spPr>
          <a:xfrm>
            <a:off x="80962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TextBox 233"/>
          <p:cNvSpPr txBox="1"/>
          <p:nvPr/>
        </p:nvSpPr>
        <p:spPr>
          <a:xfrm>
            <a:off x="80962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235" name="Oval 234"/>
          <p:cNvSpPr/>
          <p:nvPr/>
        </p:nvSpPr>
        <p:spPr>
          <a:xfrm>
            <a:off x="83058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TextBox 235"/>
          <p:cNvSpPr txBox="1"/>
          <p:nvPr/>
        </p:nvSpPr>
        <p:spPr>
          <a:xfrm>
            <a:off x="83058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237" name="Oval 236"/>
          <p:cNvSpPr/>
          <p:nvPr/>
        </p:nvSpPr>
        <p:spPr>
          <a:xfrm>
            <a:off x="8515350"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TextBox 237"/>
          <p:cNvSpPr txBox="1"/>
          <p:nvPr/>
        </p:nvSpPr>
        <p:spPr>
          <a:xfrm>
            <a:off x="85153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239" name="Oval 238"/>
          <p:cNvSpPr/>
          <p:nvPr/>
        </p:nvSpPr>
        <p:spPr>
          <a:xfrm>
            <a:off x="799147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TextBox 239"/>
          <p:cNvSpPr txBox="1"/>
          <p:nvPr/>
        </p:nvSpPr>
        <p:spPr>
          <a:xfrm>
            <a:off x="79914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241" name="Oval 240"/>
          <p:cNvSpPr/>
          <p:nvPr/>
        </p:nvSpPr>
        <p:spPr>
          <a:xfrm>
            <a:off x="8201025"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TextBox 241"/>
          <p:cNvSpPr txBox="1"/>
          <p:nvPr/>
        </p:nvSpPr>
        <p:spPr>
          <a:xfrm>
            <a:off x="82010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243" name="Oval 242"/>
          <p:cNvSpPr/>
          <p:nvPr/>
        </p:nvSpPr>
        <p:spPr>
          <a:xfrm>
            <a:off x="841057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TextBox 243"/>
          <p:cNvSpPr txBox="1"/>
          <p:nvPr/>
        </p:nvSpPr>
        <p:spPr>
          <a:xfrm>
            <a:off x="84105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245" name="TextBox 244"/>
          <p:cNvSpPr txBox="1"/>
          <p:nvPr/>
        </p:nvSpPr>
        <p:spPr>
          <a:xfrm>
            <a:off x="8858250"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DETAX GmbH</a:t>
            </a:r>
          </a:p>
        </p:txBody>
      </p:sp>
      <p:cxnSp>
        <p:nvCxnSpPr>
          <p:cNvPr id="246" name="Connector 245"/>
          <p:cNvCxnSpPr/>
          <p:nvPr/>
        </p:nvCxnSpPr>
        <p:spPr>
          <a:xfrm>
            <a:off x="9139238"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247" name="TextBox 246"/>
          <p:cNvSpPr txBox="1"/>
          <p:nvPr/>
        </p:nvSpPr>
        <p:spPr>
          <a:xfrm>
            <a:off x="8858250"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H</a:t>
            </a:r>
          </a:p>
        </p:txBody>
      </p:sp>
      <p:sp>
        <p:nvSpPr>
          <p:cNvPr id="248" name="TextBox 247"/>
          <p:cNvSpPr txBox="1"/>
          <p:nvPr/>
        </p:nvSpPr>
        <p:spPr>
          <a:xfrm>
            <a:off x="8848725"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D4D7DA"/>
                </a:solidFill>
                <a:latin typeface="Calibri"/>
              </a:rPr>
              <a:t>✦ </a:t>
            </a:r>
          </a:p>
        </p:txBody>
      </p:sp>
      <p:sp>
        <p:nvSpPr>
          <p:cNvPr id="249" name="TextBox 248"/>
          <p:cNvSpPr txBox="1"/>
          <p:nvPr/>
        </p:nvSpPr>
        <p:spPr>
          <a:xfrm>
            <a:off x="8848725"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E44D3A"/>
                </a:solidFill>
                <a:latin typeface="Calibri"/>
              </a:rPr>
              <a:t>✘ </a:t>
            </a:r>
            <a:r>
              <a:rPr sz="1100" b="1">
                <a:solidFill>
                  <a:srgbClr val="008189"/>
                </a:solidFill>
                <a:latin typeface="Calibri"/>
              </a:rPr>
              <a:t>✔ </a:t>
            </a:r>
          </a:p>
        </p:txBody>
      </p:sp>
      <p:sp>
        <p:nvSpPr>
          <p:cNvPr id="250" name="Rectangle 249"/>
          <p:cNvSpPr/>
          <p:nvPr/>
        </p:nvSpPr>
        <p:spPr>
          <a:xfrm>
            <a:off x="9139238" y="2303274"/>
            <a:ext cx="114300" cy="109522"/>
          </a:xfrm>
          <a:prstGeom prst="rect">
            <a:avLst/>
          </a:prstGeom>
          <a:solidFill>
            <a:srgbClr val="FFFFFF"/>
          </a:solidFill>
          <a:ln w="1270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9310688"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9482138"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TextBox 252"/>
          <p:cNvSpPr txBox="1"/>
          <p:nvPr/>
        </p:nvSpPr>
        <p:spPr>
          <a:xfrm>
            <a:off x="8858250"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254" name="TextBox 253"/>
          <p:cNvSpPr txBox="1"/>
          <p:nvPr/>
        </p:nvSpPr>
        <p:spPr>
          <a:xfrm>
            <a:off x="8858250"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255" name="Oval 254"/>
          <p:cNvSpPr/>
          <p:nvPr/>
        </p:nvSpPr>
        <p:spPr>
          <a:xfrm>
            <a:off x="9120188"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Freeform 255"/>
          <p:cNvSpPr/>
          <p:nvPr/>
        </p:nvSpPr>
        <p:spPr>
          <a:xfrm>
            <a:off x="9372600" y="3416749"/>
            <a:ext cx="47625" cy="237298"/>
          </a:xfrm>
          <a:custGeom>
            <a:avLst/>
            <a:gdLst/>
            <a:ahLst/>
            <a:cxnLst/>
            <a:rect l="l" t="t" r="r" b="b"/>
            <a:pathLst>
              <a:path w="5" h="26">
                <a:moveTo>
                  <a:pt x="0" y="26"/>
                </a:moveTo>
                <a:lnTo>
                  <a:pt x="0" y="0"/>
                </a:lnTo>
                <a:lnTo>
                  <a:pt x="2" y="0"/>
                </a:lnTo>
                <a:lnTo>
                  <a:pt x="5" y="0"/>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Oval 256"/>
          <p:cNvSpPr/>
          <p:nvPr/>
        </p:nvSpPr>
        <p:spPr>
          <a:xfrm>
            <a:off x="9229154"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TextBox 257"/>
          <p:cNvSpPr txBox="1"/>
          <p:nvPr/>
        </p:nvSpPr>
        <p:spPr>
          <a:xfrm>
            <a:off x="9120188"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259" name="TextBox 258"/>
          <p:cNvSpPr txBox="1"/>
          <p:nvPr/>
        </p:nvSpPr>
        <p:spPr>
          <a:xfrm>
            <a:off x="8877300"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Europe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South Asia &amp; Pacific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East Asia  </a:t>
            </a:r>
            <a:r>
              <a:rPr sz="1100" b="1">
                <a:solidFill>
                  <a:srgbClr val="9AA3A8"/>
                </a:solidFill>
                <a:latin typeface="Calibri"/>
              </a:rPr>
              <a:t>▲</a:t>
            </a:r>
          </a:p>
        </p:txBody>
      </p:sp>
      <p:sp>
        <p:nvSpPr>
          <p:cNvPr id="260" name="Oval 259"/>
          <p:cNvSpPr/>
          <p:nvPr/>
        </p:nvSpPr>
        <p:spPr>
          <a:xfrm>
            <a:off x="89630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TextBox 260"/>
          <p:cNvSpPr txBox="1"/>
          <p:nvPr/>
        </p:nvSpPr>
        <p:spPr>
          <a:xfrm>
            <a:off x="89630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262" name="Oval 261"/>
          <p:cNvSpPr/>
          <p:nvPr/>
        </p:nvSpPr>
        <p:spPr>
          <a:xfrm>
            <a:off x="91725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TextBox 262"/>
          <p:cNvSpPr txBox="1"/>
          <p:nvPr/>
        </p:nvSpPr>
        <p:spPr>
          <a:xfrm>
            <a:off x="91725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264" name="Oval 263"/>
          <p:cNvSpPr/>
          <p:nvPr/>
        </p:nvSpPr>
        <p:spPr>
          <a:xfrm>
            <a:off x="93821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TextBox 264"/>
          <p:cNvSpPr txBox="1"/>
          <p:nvPr/>
        </p:nvSpPr>
        <p:spPr>
          <a:xfrm>
            <a:off x="93821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266" name="Oval 265"/>
          <p:cNvSpPr/>
          <p:nvPr/>
        </p:nvSpPr>
        <p:spPr>
          <a:xfrm>
            <a:off x="95916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TextBox 266"/>
          <p:cNvSpPr txBox="1"/>
          <p:nvPr/>
        </p:nvSpPr>
        <p:spPr>
          <a:xfrm>
            <a:off x="95916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268" name="Oval 267"/>
          <p:cNvSpPr/>
          <p:nvPr/>
        </p:nvSpPr>
        <p:spPr>
          <a:xfrm>
            <a:off x="906780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TextBox 268"/>
          <p:cNvSpPr txBox="1"/>
          <p:nvPr/>
        </p:nvSpPr>
        <p:spPr>
          <a:xfrm>
            <a:off x="90678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270" name="Oval 269"/>
          <p:cNvSpPr/>
          <p:nvPr/>
        </p:nvSpPr>
        <p:spPr>
          <a:xfrm>
            <a:off x="9277350"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TextBox 270"/>
          <p:cNvSpPr txBox="1"/>
          <p:nvPr/>
        </p:nvSpPr>
        <p:spPr>
          <a:xfrm>
            <a:off x="92773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272" name="Oval 271"/>
          <p:cNvSpPr/>
          <p:nvPr/>
        </p:nvSpPr>
        <p:spPr>
          <a:xfrm>
            <a:off x="948690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TextBox 272"/>
          <p:cNvSpPr txBox="1"/>
          <p:nvPr/>
        </p:nvSpPr>
        <p:spPr>
          <a:xfrm>
            <a:off x="94869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274" name="TextBox 273"/>
          <p:cNvSpPr txBox="1"/>
          <p:nvPr/>
        </p:nvSpPr>
        <p:spPr>
          <a:xfrm>
            <a:off x="9934575"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Candulor AG</a:t>
            </a:r>
          </a:p>
        </p:txBody>
      </p:sp>
      <p:cxnSp>
        <p:nvCxnSpPr>
          <p:cNvPr id="275" name="Connector 274"/>
          <p:cNvCxnSpPr/>
          <p:nvPr/>
        </p:nvCxnSpPr>
        <p:spPr>
          <a:xfrm>
            <a:off x="10215562"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276" name="TextBox 275"/>
          <p:cNvSpPr txBox="1"/>
          <p:nvPr/>
        </p:nvSpPr>
        <p:spPr>
          <a:xfrm>
            <a:off x="9934575"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I</a:t>
            </a:r>
          </a:p>
        </p:txBody>
      </p:sp>
      <p:sp>
        <p:nvSpPr>
          <p:cNvPr id="277" name="TextBox 276"/>
          <p:cNvSpPr txBox="1"/>
          <p:nvPr/>
        </p:nvSpPr>
        <p:spPr>
          <a:xfrm>
            <a:off x="9925050"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79C3EC"/>
                </a:solidFill>
                <a:latin typeface="Calibri"/>
              </a:rPr>
              <a:t>✦ </a:t>
            </a:r>
          </a:p>
        </p:txBody>
      </p:sp>
      <p:sp>
        <p:nvSpPr>
          <p:cNvPr id="278" name="TextBox 277"/>
          <p:cNvSpPr txBox="1"/>
          <p:nvPr/>
        </p:nvSpPr>
        <p:spPr>
          <a:xfrm>
            <a:off x="9925050" y="2047722"/>
            <a:ext cx="1038225" cy="182537"/>
          </a:xfrm>
          <a:prstGeom prst="rect">
            <a:avLst/>
          </a:prstGeom>
          <a:noFill/>
        </p:spPr>
        <p:txBody>
          <a:bodyPr wrap="square" lIns="28575" rIns="28575" tIns="9525" bIns="9525" anchor="ctr">
            <a:spAutoFit/>
          </a:bodyPr>
          <a:lstStyle/>
          <a:p>
            <a:pPr algn="ctr"/>
            <a:r>
              <a:rPr sz="1100" b="1">
                <a:solidFill>
                  <a:srgbClr val="E44D3A"/>
                </a:solidFill>
                <a:latin typeface="Calibri"/>
              </a:rPr>
              <a:t>✘ </a:t>
            </a:r>
            <a:r>
              <a:rPr sz="1100" b="1">
                <a:solidFill>
                  <a:srgbClr val="008189"/>
                </a:solidFill>
                <a:latin typeface="Calibri"/>
              </a:rPr>
              <a:t>✔ </a:t>
            </a:r>
            <a:r>
              <a:rPr sz="1100" b="1">
                <a:solidFill>
                  <a:srgbClr val="008189"/>
                </a:solidFill>
                <a:latin typeface="Calibri"/>
              </a:rPr>
              <a:t>✔ </a:t>
            </a:r>
          </a:p>
        </p:txBody>
      </p:sp>
      <p:sp>
        <p:nvSpPr>
          <p:cNvPr id="279" name="Rectangle 278"/>
          <p:cNvSpPr/>
          <p:nvPr/>
        </p:nvSpPr>
        <p:spPr>
          <a:xfrm>
            <a:off x="10215562"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10387012"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0558462"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TextBox 281"/>
          <p:cNvSpPr txBox="1"/>
          <p:nvPr/>
        </p:nvSpPr>
        <p:spPr>
          <a:xfrm>
            <a:off x="9934575"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283" name="TextBox 282"/>
          <p:cNvSpPr txBox="1"/>
          <p:nvPr/>
        </p:nvSpPr>
        <p:spPr>
          <a:xfrm>
            <a:off x="9934575"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284" name="Oval 283"/>
          <p:cNvSpPr/>
          <p:nvPr/>
        </p:nvSpPr>
        <p:spPr>
          <a:xfrm>
            <a:off x="10196512"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Freeform 284"/>
          <p:cNvSpPr/>
          <p:nvPr/>
        </p:nvSpPr>
        <p:spPr>
          <a:xfrm>
            <a:off x="10439400" y="3416749"/>
            <a:ext cx="38100" cy="237298"/>
          </a:xfrm>
          <a:custGeom>
            <a:avLst/>
            <a:gdLst/>
            <a:ahLst/>
            <a:cxnLst/>
            <a:rect l="l" t="t" r="r" b="b"/>
            <a:pathLst>
              <a:path w="4" h="26">
                <a:moveTo>
                  <a:pt x="0" y="26"/>
                </a:moveTo>
                <a:lnTo>
                  <a:pt x="0" y="0"/>
                </a:lnTo>
                <a:lnTo>
                  <a:pt x="2" y="0"/>
                </a:lnTo>
                <a:lnTo>
                  <a:pt x="4" y="0"/>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Oval 285"/>
          <p:cNvSpPr/>
          <p:nvPr/>
        </p:nvSpPr>
        <p:spPr>
          <a:xfrm>
            <a:off x="10305478"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TextBox 286"/>
          <p:cNvSpPr txBox="1"/>
          <p:nvPr/>
        </p:nvSpPr>
        <p:spPr>
          <a:xfrm>
            <a:off x="10196512"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288" name="TextBox 287"/>
          <p:cNvSpPr txBox="1"/>
          <p:nvPr/>
        </p:nvSpPr>
        <p:spPr>
          <a:xfrm>
            <a:off x="9953625"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South Asia &amp; Pacific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East Asia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Latin America  </a:t>
            </a:r>
            <a:r>
              <a:rPr sz="1100" b="1">
                <a:solidFill>
                  <a:srgbClr val="9AA3A8"/>
                </a:solidFill>
                <a:latin typeface="Calibri"/>
              </a:rPr>
              <a:t>▲</a:t>
            </a:r>
          </a:p>
        </p:txBody>
      </p:sp>
      <p:sp>
        <p:nvSpPr>
          <p:cNvPr id="289" name="Oval 288"/>
          <p:cNvSpPr/>
          <p:nvPr/>
        </p:nvSpPr>
        <p:spPr>
          <a:xfrm>
            <a:off x="100393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TextBox 289"/>
          <p:cNvSpPr txBox="1"/>
          <p:nvPr/>
        </p:nvSpPr>
        <p:spPr>
          <a:xfrm>
            <a:off x="100393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291" name="Oval 290"/>
          <p:cNvSpPr/>
          <p:nvPr/>
        </p:nvSpPr>
        <p:spPr>
          <a:xfrm>
            <a:off x="102489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TextBox 291"/>
          <p:cNvSpPr txBox="1"/>
          <p:nvPr/>
        </p:nvSpPr>
        <p:spPr>
          <a:xfrm>
            <a:off x="102489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293" name="Oval 292"/>
          <p:cNvSpPr/>
          <p:nvPr/>
        </p:nvSpPr>
        <p:spPr>
          <a:xfrm>
            <a:off x="104584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TextBox 293"/>
          <p:cNvSpPr txBox="1"/>
          <p:nvPr/>
        </p:nvSpPr>
        <p:spPr>
          <a:xfrm>
            <a:off x="104584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295" name="Oval 294"/>
          <p:cNvSpPr/>
          <p:nvPr/>
        </p:nvSpPr>
        <p:spPr>
          <a:xfrm>
            <a:off x="10668000"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TextBox 295"/>
          <p:cNvSpPr txBox="1"/>
          <p:nvPr/>
        </p:nvSpPr>
        <p:spPr>
          <a:xfrm>
            <a:off x="106680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297" name="Oval 296"/>
          <p:cNvSpPr/>
          <p:nvPr/>
        </p:nvSpPr>
        <p:spPr>
          <a:xfrm>
            <a:off x="1014412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TextBox 297"/>
          <p:cNvSpPr txBox="1"/>
          <p:nvPr/>
        </p:nvSpPr>
        <p:spPr>
          <a:xfrm>
            <a:off x="101441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299" name="Oval 298"/>
          <p:cNvSpPr/>
          <p:nvPr/>
        </p:nvSpPr>
        <p:spPr>
          <a:xfrm>
            <a:off x="10353675"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0" name="TextBox 299"/>
          <p:cNvSpPr txBox="1"/>
          <p:nvPr/>
        </p:nvSpPr>
        <p:spPr>
          <a:xfrm>
            <a:off x="103536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301" name="Oval 300"/>
          <p:cNvSpPr/>
          <p:nvPr/>
        </p:nvSpPr>
        <p:spPr>
          <a:xfrm>
            <a:off x="1056322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TextBox 301"/>
          <p:cNvSpPr txBox="1"/>
          <p:nvPr/>
        </p:nvSpPr>
        <p:spPr>
          <a:xfrm>
            <a:off x="105632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303" name="TextBox 302"/>
          <p:cNvSpPr txBox="1"/>
          <p:nvPr/>
        </p:nvSpPr>
        <p:spPr>
          <a:xfrm>
            <a:off x="11010900"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Ruthinium Dental Manufacturing S.p.A.</a:t>
            </a:r>
          </a:p>
        </p:txBody>
      </p:sp>
      <p:cxnSp>
        <p:nvCxnSpPr>
          <p:cNvPr id="304" name="Connector 303"/>
          <p:cNvCxnSpPr/>
          <p:nvPr/>
        </p:nvCxnSpPr>
        <p:spPr>
          <a:xfrm>
            <a:off x="11291888"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05" name="TextBox 304"/>
          <p:cNvSpPr txBox="1"/>
          <p:nvPr/>
        </p:nvSpPr>
        <p:spPr>
          <a:xfrm>
            <a:off x="11010900"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J</a:t>
            </a:r>
          </a:p>
        </p:txBody>
      </p:sp>
      <p:sp>
        <p:nvSpPr>
          <p:cNvPr id="306" name="TextBox 305"/>
          <p:cNvSpPr txBox="1"/>
          <p:nvPr/>
        </p:nvSpPr>
        <p:spPr>
          <a:xfrm>
            <a:off x="11001375"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D4D7DA"/>
                </a:solidFill>
                <a:latin typeface="Calibri"/>
              </a:rPr>
              <a:t>✦ </a:t>
            </a:r>
            <a:r>
              <a:rPr sz="1300" b="0">
                <a:solidFill>
                  <a:srgbClr val="D4D7DA"/>
                </a:solidFill>
                <a:latin typeface="Calibri"/>
              </a:rPr>
              <a:t>✦ </a:t>
            </a:r>
          </a:p>
        </p:txBody>
      </p:sp>
      <p:sp>
        <p:nvSpPr>
          <p:cNvPr id="307" name="TextBox 306"/>
          <p:cNvSpPr txBox="1"/>
          <p:nvPr/>
        </p:nvSpPr>
        <p:spPr>
          <a:xfrm>
            <a:off x="11001375"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008189"/>
                </a:solidFill>
                <a:latin typeface="Calibri"/>
              </a:rPr>
              <a:t>✔ </a:t>
            </a:r>
            <a:r>
              <a:rPr sz="1100" b="1">
                <a:solidFill>
                  <a:srgbClr val="E44D3A"/>
                </a:solidFill>
                <a:latin typeface="Calibri"/>
              </a:rPr>
              <a:t>✘ </a:t>
            </a:r>
          </a:p>
        </p:txBody>
      </p:sp>
      <p:sp>
        <p:nvSpPr>
          <p:cNvPr id="308" name="Rectangle 307"/>
          <p:cNvSpPr/>
          <p:nvPr/>
        </p:nvSpPr>
        <p:spPr>
          <a:xfrm>
            <a:off x="11291888"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9" name="Rectangle 308"/>
          <p:cNvSpPr/>
          <p:nvPr/>
        </p:nvSpPr>
        <p:spPr>
          <a:xfrm>
            <a:off x="11463338"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0" name="Rectangle 309"/>
          <p:cNvSpPr/>
          <p:nvPr/>
        </p:nvSpPr>
        <p:spPr>
          <a:xfrm>
            <a:off x="11634788" y="2303274"/>
            <a:ext cx="114300" cy="109522"/>
          </a:xfrm>
          <a:prstGeom prst="rect">
            <a:avLst/>
          </a:prstGeom>
          <a:solidFill>
            <a:srgbClr val="FFFFF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1" name="TextBox 310"/>
          <p:cNvSpPr txBox="1"/>
          <p:nvPr/>
        </p:nvSpPr>
        <p:spPr>
          <a:xfrm>
            <a:off x="11010900"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312" name="TextBox 311"/>
          <p:cNvSpPr txBox="1"/>
          <p:nvPr/>
        </p:nvSpPr>
        <p:spPr>
          <a:xfrm>
            <a:off x="11010900"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313" name="Oval 312"/>
          <p:cNvSpPr/>
          <p:nvPr/>
        </p:nvSpPr>
        <p:spPr>
          <a:xfrm>
            <a:off x="11272838"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4" name="Freeform 313"/>
          <p:cNvSpPr/>
          <p:nvPr/>
        </p:nvSpPr>
        <p:spPr>
          <a:xfrm>
            <a:off x="11525250" y="3416749"/>
            <a:ext cx="28575" cy="237298"/>
          </a:xfrm>
          <a:custGeom>
            <a:avLst/>
            <a:gdLst/>
            <a:ahLst/>
            <a:cxnLst/>
            <a:rect l="l" t="t" r="r" b="b"/>
            <a:pathLst>
              <a:path w="3" h="26">
                <a:moveTo>
                  <a:pt x="0" y="26"/>
                </a:moveTo>
                <a:lnTo>
                  <a:pt x="0" y="0"/>
                </a:lnTo>
                <a:lnTo>
                  <a:pt x="1" y="0"/>
                </a:lnTo>
                <a:lnTo>
                  <a:pt x="3" y="0"/>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5" name="Oval 314"/>
          <p:cNvSpPr/>
          <p:nvPr/>
        </p:nvSpPr>
        <p:spPr>
          <a:xfrm>
            <a:off x="11381804"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6" name="TextBox 315"/>
          <p:cNvSpPr txBox="1"/>
          <p:nvPr/>
        </p:nvSpPr>
        <p:spPr>
          <a:xfrm>
            <a:off x="11272838"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317" name="TextBox 316"/>
          <p:cNvSpPr txBox="1"/>
          <p:nvPr/>
        </p:nvSpPr>
        <p:spPr>
          <a:xfrm>
            <a:off x="11029950"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East Asia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Latin America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Middle East &amp; Africa  </a:t>
            </a:r>
            <a:r>
              <a:rPr sz="1100" b="1">
                <a:solidFill>
                  <a:srgbClr val="9AA3A8"/>
                </a:solidFill>
                <a:latin typeface="Calibri"/>
              </a:rPr>
              <a:t>▲</a:t>
            </a:r>
          </a:p>
        </p:txBody>
      </p:sp>
      <p:sp>
        <p:nvSpPr>
          <p:cNvPr id="318" name="Oval 317"/>
          <p:cNvSpPr/>
          <p:nvPr/>
        </p:nvSpPr>
        <p:spPr>
          <a:xfrm>
            <a:off x="111156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9" name="TextBox 318"/>
          <p:cNvSpPr txBox="1"/>
          <p:nvPr/>
        </p:nvSpPr>
        <p:spPr>
          <a:xfrm>
            <a:off x="111156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320" name="Oval 319"/>
          <p:cNvSpPr/>
          <p:nvPr/>
        </p:nvSpPr>
        <p:spPr>
          <a:xfrm>
            <a:off x="113252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1" name="TextBox 320"/>
          <p:cNvSpPr txBox="1"/>
          <p:nvPr/>
        </p:nvSpPr>
        <p:spPr>
          <a:xfrm>
            <a:off x="113252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322" name="Oval 321"/>
          <p:cNvSpPr/>
          <p:nvPr/>
        </p:nvSpPr>
        <p:spPr>
          <a:xfrm>
            <a:off x="115347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3" name="TextBox 322"/>
          <p:cNvSpPr txBox="1"/>
          <p:nvPr/>
        </p:nvSpPr>
        <p:spPr>
          <a:xfrm>
            <a:off x="115347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324" name="Oval 323"/>
          <p:cNvSpPr/>
          <p:nvPr/>
        </p:nvSpPr>
        <p:spPr>
          <a:xfrm>
            <a:off x="117443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5" name="TextBox 324"/>
          <p:cNvSpPr txBox="1"/>
          <p:nvPr/>
        </p:nvSpPr>
        <p:spPr>
          <a:xfrm>
            <a:off x="117443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326" name="Oval 325"/>
          <p:cNvSpPr/>
          <p:nvPr/>
        </p:nvSpPr>
        <p:spPr>
          <a:xfrm>
            <a:off x="1122045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7" name="TextBox 326"/>
          <p:cNvSpPr txBox="1"/>
          <p:nvPr/>
        </p:nvSpPr>
        <p:spPr>
          <a:xfrm>
            <a:off x="112204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328" name="Oval 327"/>
          <p:cNvSpPr/>
          <p:nvPr/>
        </p:nvSpPr>
        <p:spPr>
          <a:xfrm>
            <a:off x="11430000"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9" name="TextBox 328"/>
          <p:cNvSpPr txBox="1"/>
          <p:nvPr/>
        </p:nvSpPr>
        <p:spPr>
          <a:xfrm>
            <a:off x="114300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330" name="Oval 329"/>
          <p:cNvSpPr/>
          <p:nvPr/>
        </p:nvSpPr>
        <p:spPr>
          <a:xfrm>
            <a:off x="1163955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1" name="TextBox 330"/>
          <p:cNvSpPr txBox="1"/>
          <p:nvPr/>
        </p:nvSpPr>
        <p:spPr>
          <a:xfrm>
            <a:off x="116395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332" name="TextBox 331"/>
          <p:cNvSpPr txBox="1"/>
          <p:nvPr/>
        </p:nvSpPr>
        <p:spPr>
          <a:xfrm>
            <a:off x="285750" y="5716715"/>
            <a:ext cx="1116806" cy="164283"/>
          </a:xfrm>
          <a:prstGeom prst="rect">
            <a:avLst/>
          </a:prstGeom>
          <a:noFill/>
        </p:spPr>
        <p:txBody>
          <a:bodyPr wrap="square" lIns="0" rIns="0" tIns="0" bIns="0" anchor="ctr">
            <a:spAutoFit/>
          </a:bodyPr>
          <a:lstStyle/>
          <a:p>
            <a:pPr algn="l"/>
            <a:r>
              <a:rPr sz="1100" b="1">
                <a:solidFill>
                  <a:srgbClr val="2E2E2E"/>
                </a:solidFill>
                <a:latin typeface="Calibri"/>
              </a:rPr>
              <a:t>Product Portfolio:</a:t>
            </a:r>
          </a:p>
        </p:txBody>
      </p:sp>
      <p:sp>
        <p:nvSpPr>
          <p:cNvPr id="333" name="Rectangle 332"/>
          <p:cNvSpPr/>
          <p:nvPr/>
        </p:nvSpPr>
        <p:spPr>
          <a:xfrm>
            <a:off x="1383506" y="5744096"/>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4" name="TextBox 333"/>
          <p:cNvSpPr txBox="1"/>
          <p:nvPr/>
        </p:nvSpPr>
        <p:spPr>
          <a:xfrm>
            <a:off x="1535906" y="5716715"/>
            <a:ext cx="1469231" cy="164283"/>
          </a:xfrm>
          <a:prstGeom prst="rect">
            <a:avLst/>
          </a:prstGeom>
          <a:noFill/>
        </p:spPr>
        <p:txBody>
          <a:bodyPr wrap="square" lIns="0" rIns="0" tIns="0" bIns="0" anchor="ctr">
            <a:spAutoFit/>
          </a:bodyPr>
          <a:lstStyle/>
          <a:p>
            <a:pPr algn="l"/>
            <a:r>
              <a:rPr sz="1100" b="0">
                <a:solidFill>
                  <a:srgbClr val="2E2E2E"/>
                </a:solidFill>
                <a:latin typeface="Calibri"/>
              </a:rPr>
              <a:t>Flexible Partial Dentures</a:t>
            </a:r>
          </a:p>
        </p:txBody>
      </p:sp>
      <p:sp>
        <p:nvSpPr>
          <p:cNvPr id="335" name="Rectangle 334"/>
          <p:cNvSpPr/>
          <p:nvPr/>
        </p:nvSpPr>
        <p:spPr>
          <a:xfrm>
            <a:off x="3062288" y="5744096"/>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6" name="TextBox 335"/>
          <p:cNvSpPr txBox="1"/>
          <p:nvPr/>
        </p:nvSpPr>
        <p:spPr>
          <a:xfrm>
            <a:off x="3214688" y="5716715"/>
            <a:ext cx="2447925" cy="164283"/>
          </a:xfrm>
          <a:prstGeom prst="rect">
            <a:avLst/>
          </a:prstGeom>
          <a:noFill/>
        </p:spPr>
        <p:txBody>
          <a:bodyPr wrap="square" lIns="0" rIns="0" tIns="0" bIns="0" anchor="ctr">
            <a:spAutoFit/>
          </a:bodyPr>
          <a:lstStyle/>
          <a:p>
            <a:pPr algn="l"/>
            <a:r>
              <a:rPr sz="1100" b="0">
                <a:solidFill>
                  <a:srgbClr val="2E2E2E"/>
                </a:solidFill>
                <a:latin typeface="Calibri"/>
              </a:rPr>
              <a:t>Combination Framework Partial Dentures</a:t>
            </a:r>
          </a:p>
        </p:txBody>
      </p:sp>
      <p:sp>
        <p:nvSpPr>
          <p:cNvPr id="337" name="Rectangle 336"/>
          <p:cNvSpPr/>
          <p:nvPr/>
        </p:nvSpPr>
        <p:spPr>
          <a:xfrm>
            <a:off x="5719762" y="5744096"/>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8" name="TextBox 337"/>
          <p:cNvSpPr txBox="1"/>
          <p:nvPr/>
        </p:nvSpPr>
        <p:spPr>
          <a:xfrm>
            <a:off x="5872162" y="5716715"/>
            <a:ext cx="1640681" cy="164283"/>
          </a:xfrm>
          <a:prstGeom prst="rect">
            <a:avLst/>
          </a:prstGeom>
          <a:noFill/>
        </p:spPr>
        <p:txBody>
          <a:bodyPr wrap="square" lIns="0" rIns="0" tIns="0" bIns="0" anchor="ctr">
            <a:spAutoFit/>
          </a:bodyPr>
          <a:lstStyle/>
          <a:p>
            <a:pPr algn="l"/>
            <a:r>
              <a:rPr sz="1100" b="0">
                <a:solidFill>
                  <a:srgbClr val="2E2E2E"/>
                </a:solidFill>
                <a:latin typeface="Calibri"/>
              </a:rPr>
              <a:t>Cast Metal Partial Dentures</a:t>
            </a:r>
          </a:p>
        </p:txBody>
      </p:sp>
      <p:sp>
        <p:nvSpPr>
          <p:cNvPr id="339" name="Rectangle 338"/>
          <p:cNvSpPr/>
          <p:nvPr/>
        </p:nvSpPr>
        <p:spPr>
          <a:xfrm>
            <a:off x="7569994" y="5744096"/>
            <a:ext cx="114300" cy="109522"/>
          </a:xfrm>
          <a:prstGeom prst="rect">
            <a:avLst/>
          </a:prstGeom>
          <a:solidFill>
            <a:srgbClr val="FFFFFF"/>
          </a:solidFill>
          <a:ln w="12700">
            <a:solidFill>
              <a:srgbClr val="6C7A8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0" name="TextBox 339"/>
          <p:cNvSpPr txBox="1"/>
          <p:nvPr/>
        </p:nvSpPr>
        <p:spPr>
          <a:xfrm>
            <a:off x="7722394" y="5716715"/>
            <a:ext cx="740569" cy="164283"/>
          </a:xfrm>
          <a:prstGeom prst="rect">
            <a:avLst/>
          </a:prstGeom>
          <a:noFill/>
        </p:spPr>
        <p:txBody>
          <a:bodyPr wrap="square" lIns="0" rIns="0" tIns="0" bIns="0" anchor="ctr">
            <a:spAutoFit/>
          </a:bodyPr>
          <a:lstStyle/>
          <a:p>
            <a:pPr algn="l"/>
            <a:r>
              <a:rPr sz="1100" b="0">
                <a:solidFill>
                  <a:srgbClr val="2E2E2E"/>
                </a:solidFill>
                <a:latin typeface="Calibri"/>
              </a:rPr>
              <a:t>Not offered</a:t>
            </a:r>
          </a:p>
        </p:txBody>
      </p:sp>
      <p:sp>
        <p:nvSpPr>
          <p:cNvPr id="341" name="TextBox 340"/>
          <p:cNvSpPr txBox="1"/>
          <p:nvPr/>
        </p:nvSpPr>
        <p:spPr>
          <a:xfrm>
            <a:off x="285750" y="5890125"/>
            <a:ext cx="208915" cy="164283"/>
          </a:xfrm>
          <a:prstGeom prst="rect">
            <a:avLst/>
          </a:prstGeom>
          <a:noFill/>
        </p:spPr>
        <p:txBody>
          <a:bodyPr wrap="none" lIns="0" rIns="0" tIns="0" bIns="0" anchor="ctr">
            <a:spAutoFit/>
          </a:bodyPr>
          <a:lstStyle/>
          <a:p>
            <a:pPr algn="l"/>
            <a:r>
              <a:rPr sz="1100" b="1">
                <a:solidFill>
                  <a:srgbClr val="008189"/>
                </a:solidFill>
                <a:latin typeface="Calibri"/>
              </a:rPr>
              <a:t>✔</a:t>
            </a:r>
          </a:p>
        </p:txBody>
      </p:sp>
      <p:sp>
        <p:nvSpPr>
          <p:cNvPr id="342" name="TextBox 341"/>
          <p:cNvSpPr txBox="1"/>
          <p:nvPr/>
        </p:nvSpPr>
        <p:spPr>
          <a:xfrm>
            <a:off x="475615" y="5890125"/>
            <a:ext cx="457200" cy="164283"/>
          </a:xfrm>
          <a:prstGeom prst="rect">
            <a:avLst/>
          </a:prstGeom>
          <a:noFill/>
        </p:spPr>
        <p:txBody>
          <a:bodyPr wrap="square" lIns="0" rIns="0" tIns="0" bIns="0" anchor="ctr">
            <a:spAutoFit/>
          </a:bodyPr>
          <a:lstStyle/>
          <a:p>
            <a:pPr algn="l"/>
            <a:r>
              <a:rPr sz="1100" b="0">
                <a:solidFill>
                  <a:srgbClr val="2E2E2E"/>
                </a:solidFill>
                <a:latin typeface="Calibri"/>
              </a:rPr>
              <a:t>served</a:t>
            </a:r>
          </a:p>
        </p:txBody>
      </p:sp>
      <p:sp>
        <p:nvSpPr>
          <p:cNvPr id="343" name="TextBox 342"/>
          <p:cNvSpPr txBox="1"/>
          <p:nvPr/>
        </p:nvSpPr>
        <p:spPr>
          <a:xfrm>
            <a:off x="913765" y="5890125"/>
            <a:ext cx="208915" cy="164283"/>
          </a:xfrm>
          <a:prstGeom prst="rect">
            <a:avLst/>
          </a:prstGeom>
          <a:noFill/>
        </p:spPr>
        <p:txBody>
          <a:bodyPr wrap="none" lIns="0" rIns="0" tIns="0" bIns="0" anchor="ctr">
            <a:spAutoFit/>
          </a:bodyPr>
          <a:lstStyle/>
          <a:p>
            <a:pPr algn="l"/>
            <a:r>
              <a:rPr sz="1100" b="1">
                <a:solidFill>
                  <a:srgbClr val="E44D3A"/>
                </a:solidFill>
                <a:latin typeface="Calibri"/>
              </a:rPr>
              <a:t>✘</a:t>
            </a:r>
          </a:p>
        </p:txBody>
      </p:sp>
      <p:sp>
        <p:nvSpPr>
          <p:cNvPr id="344" name="TextBox 343"/>
          <p:cNvSpPr txBox="1"/>
          <p:nvPr/>
        </p:nvSpPr>
        <p:spPr>
          <a:xfrm>
            <a:off x="1103630" y="5890125"/>
            <a:ext cx="683419" cy="164283"/>
          </a:xfrm>
          <a:prstGeom prst="rect">
            <a:avLst/>
          </a:prstGeom>
          <a:noFill/>
        </p:spPr>
        <p:txBody>
          <a:bodyPr wrap="square" lIns="0" rIns="0" tIns="0" bIns="0" anchor="ctr">
            <a:spAutoFit/>
          </a:bodyPr>
          <a:lstStyle/>
          <a:p>
            <a:pPr algn="l"/>
            <a:r>
              <a:rPr sz="1100" b="0">
                <a:solidFill>
                  <a:srgbClr val="2E2E2E"/>
                </a:solidFill>
                <a:latin typeface="Calibri"/>
              </a:rPr>
              <a:t>not served</a:t>
            </a:r>
          </a:p>
        </p:txBody>
      </p:sp>
      <p:sp>
        <p:nvSpPr>
          <p:cNvPr id="345" name="TextBox 344"/>
          <p:cNvSpPr txBox="1"/>
          <p:nvPr/>
        </p:nvSpPr>
        <p:spPr>
          <a:xfrm>
            <a:off x="1939449" y="5890125"/>
            <a:ext cx="1183481" cy="164283"/>
          </a:xfrm>
          <a:prstGeom prst="rect">
            <a:avLst/>
          </a:prstGeom>
          <a:noFill/>
        </p:spPr>
        <p:txBody>
          <a:bodyPr wrap="square" lIns="0" rIns="0" tIns="0" bIns="0" anchor="ctr">
            <a:spAutoFit/>
          </a:bodyPr>
          <a:lstStyle/>
          <a:p>
            <a:pPr algn="l"/>
            <a:r>
              <a:rPr sz="1100" b="1">
                <a:solidFill>
                  <a:srgbClr val="2E2E2E"/>
                </a:solidFill>
                <a:latin typeface="Calibri"/>
              </a:rPr>
              <a:t>Regional presence:</a:t>
            </a:r>
          </a:p>
        </p:txBody>
      </p:sp>
      <p:sp>
        <p:nvSpPr>
          <p:cNvPr id="346" name="TextBox 345"/>
          <p:cNvSpPr txBox="1"/>
          <p:nvPr/>
        </p:nvSpPr>
        <p:spPr>
          <a:xfrm>
            <a:off x="3103880" y="5890125"/>
            <a:ext cx="208915" cy="164283"/>
          </a:xfrm>
          <a:prstGeom prst="rect">
            <a:avLst/>
          </a:prstGeom>
          <a:noFill/>
        </p:spPr>
        <p:txBody>
          <a:bodyPr wrap="none" lIns="0" rIns="0" tIns="0" bIns="0" anchor="ctr">
            <a:spAutoFit/>
          </a:bodyPr>
          <a:lstStyle/>
          <a:p>
            <a:pPr algn="l"/>
            <a:r>
              <a:rPr sz="1100" b="1">
                <a:solidFill>
                  <a:srgbClr val="0E72AE"/>
                </a:solidFill>
                <a:latin typeface="Calibri"/>
              </a:rPr>
              <a:t>▲</a:t>
            </a:r>
          </a:p>
        </p:txBody>
      </p:sp>
      <p:sp>
        <p:nvSpPr>
          <p:cNvPr id="347" name="TextBox 346"/>
          <p:cNvSpPr txBox="1"/>
          <p:nvPr/>
        </p:nvSpPr>
        <p:spPr>
          <a:xfrm>
            <a:off x="3293745" y="5890125"/>
            <a:ext cx="338138" cy="164283"/>
          </a:xfrm>
          <a:prstGeom prst="rect">
            <a:avLst/>
          </a:prstGeom>
          <a:noFill/>
        </p:spPr>
        <p:txBody>
          <a:bodyPr wrap="none" lIns="0" rIns="0" tIns="0" bIns="0" anchor="ctr">
            <a:spAutoFit/>
          </a:bodyPr>
          <a:lstStyle/>
          <a:p>
            <a:pPr algn="l"/>
            <a:r>
              <a:rPr sz="1100" b="0">
                <a:solidFill>
                  <a:srgbClr val="2E2E2E"/>
                </a:solidFill>
                <a:latin typeface="Calibri"/>
              </a:rPr>
              <a:t>High</a:t>
            </a:r>
          </a:p>
        </p:txBody>
      </p:sp>
      <p:sp>
        <p:nvSpPr>
          <p:cNvPr id="348" name="TextBox 347"/>
          <p:cNvSpPr txBox="1"/>
          <p:nvPr/>
        </p:nvSpPr>
        <p:spPr>
          <a:xfrm>
            <a:off x="3612832" y="5890125"/>
            <a:ext cx="208915" cy="164283"/>
          </a:xfrm>
          <a:prstGeom prst="rect">
            <a:avLst/>
          </a:prstGeom>
          <a:noFill/>
        </p:spPr>
        <p:txBody>
          <a:bodyPr wrap="none" lIns="0" rIns="0" tIns="0" bIns="0" anchor="ctr">
            <a:spAutoFit/>
          </a:bodyPr>
          <a:lstStyle/>
          <a:p>
            <a:pPr algn="l"/>
            <a:r>
              <a:rPr sz="1100" b="1">
                <a:solidFill>
                  <a:srgbClr val="A86F00"/>
                </a:solidFill>
                <a:latin typeface="Calibri"/>
              </a:rPr>
              <a:t>▲</a:t>
            </a:r>
          </a:p>
        </p:txBody>
      </p:sp>
      <p:sp>
        <p:nvSpPr>
          <p:cNvPr id="349" name="TextBox 348"/>
          <p:cNvSpPr txBox="1"/>
          <p:nvPr/>
        </p:nvSpPr>
        <p:spPr>
          <a:xfrm>
            <a:off x="3802698" y="5890125"/>
            <a:ext cx="576262" cy="164283"/>
          </a:xfrm>
          <a:prstGeom prst="rect">
            <a:avLst/>
          </a:prstGeom>
          <a:noFill/>
        </p:spPr>
        <p:txBody>
          <a:bodyPr wrap="square" lIns="0" rIns="0" tIns="0" bIns="0" anchor="ctr">
            <a:spAutoFit/>
          </a:bodyPr>
          <a:lstStyle/>
          <a:p>
            <a:pPr algn="l"/>
            <a:r>
              <a:rPr sz="1100" b="0">
                <a:solidFill>
                  <a:srgbClr val="2E2E2E"/>
                </a:solidFill>
                <a:latin typeface="Calibri"/>
              </a:rPr>
              <a:t>Medium</a:t>
            </a:r>
          </a:p>
        </p:txBody>
      </p:sp>
      <p:sp>
        <p:nvSpPr>
          <p:cNvPr id="350" name="TextBox 349"/>
          <p:cNvSpPr txBox="1"/>
          <p:nvPr/>
        </p:nvSpPr>
        <p:spPr>
          <a:xfrm>
            <a:off x="4340860" y="5890125"/>
            <a:ext cx="208915" cy="164283"/>
          </a:xfrm>
          <a:prstGeom prst="rect">
            <a:avLst/>
          </a:prstGeom>
          <a:noFill/>
        </p:spPr>
        <p:txBody>
          <a:bodyPr wrap="none" lIns="0" rIns="0" tIns="0" bIns="0" anchor="ctr">
            <a:spAutoFit/>
          </a:bodyPr>
          <a:lstStyle/>
          <a:p>
            <a:pPr algn="l"/>
            <a:r>
              <a:rPr sz="1100" b="1">
                <a:solidFill>
                  <a:srgbClr val="9AA3A8"/>
                </a:solidFill>
                <a:latin typeface="Calibri"/>
              </a:rPr>
              <a:t>▲</a:t>
            </a:r>
          </a:p>
        </p:txBody>
      </p:sp>
      <p:sp>
        <p:nvSpPr>
          <p:cNvPr id="351" name="TextBox 350"/>
          <p:cNvSpPr txBox="1"/>
          <p:nvPr/>
        </p:nvSpPr>
        <p:spPr>
          <a:xfrm>
            <a:off x="4530725" y="5890125"/>
            <a:ext cx="309562" cy="164283"/>
          </a:xfrm>
          <a:prstGeom prst="rect">
            <a:avLst/>
          </a:prstGeom>
          <a:noFill/>
        </p:spPr>
        <p:txBody>
          <a:bodyPr wrap="none" lIns="0" rIns="0" tIns="0" bIns="0" anchor="ctr">
            <a:spAutoFit/>
          </a:bodyPr>
          <a:lstStyle/>
          <a:p>
            <a:pPr algn="l"/>
            <a:r>
              <a:rPr sz="1100" b="0">
                <a:solidFill>
                  <a:srgbClr val="2E2E2E"/>
                </a:solidFill>
                <a:latin typeface="Calibri"/>
              </a:rPr>
              <a:t>Low</a:t>
            </a:r>
          </a:p>
        </p:txBody>
      </p:sp>
      <p:sp>
        <p:nvSpPr>
          <p:cNvPr id="352" name="Oval 351"/>
          <p:cNvSpPr/>
          <p:nvPr/>
        </p:nvSpPr>
        <p:spPr>
          <a:xfrm>
            <a:off x="285750"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3" name="TextBox 352"/>
          <p:cNvSpPr txBox="1"/>
          <p:nvPr/>
        </p:nvSpPr>
        <p:spPr>
          <a:xfrm>
            <a:off x="285750"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354" name="TextBox 353"/>
          <p:cNvSpPr txBox="1"/>
          <p:nvPr/>
        </p:nvSpPr>
        <p:spPr>
          <a:xfrm>
            <a:off x="495300" y="6072662"/>
            <a:ext cx="657225" cy="182537"/>
          </a:xfrm>
          <a:prstGeom prst="rect">
            <a:avLst/>
          </a:prstGeom>
          <a:noFill/>
        </p:spPr>
        <p:txBody>
          <a:bodyPr wrap="square" lIns="0" rIns="0" tIns="0" bIns="0" anchor="ctr">
            <a:spAutoFit/>
          </a:bodyPr>
          <a:lstStyle/>
          <a:p>
            <a:pPr algn="l"/>
            <a:r>
              <a:rPr sz="1100" b="0">
                <a:solidFill>
                  <a:srgbClr val="2E2E2E"/>
                </a:solidFill>
                <a:latin typeface="Calibri"/>
              </a:rPr>
              <a:t>Expansion</a:t>
            </a:r>
          </a:p>
        </p:txBody>
      </p:sp>
      <p:sp>
        <p:nvSpPr>
          <p:cNvPr id="355" name="Oval 354"/>
          <p:cNvSpPr/>
          <p:nvPr/>
        </p:nvSpPr>
        <p:spPr>
          <a:xfrm>
            <a:off x="1247775"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6" name="TextBox 355"/>
          <p:cNvSpPr txBox="1"/>
          <p:nvPr/>
        </p:nvSpPr>
        <p:spPr>
          <a:xfrm>
            <a:off x="1247775"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357" name="TextBox 356"/>
          <p:cNvSpPr txBox="1"/>
          <p:nvPr/>
        </p:nvSpPr>
        <p:spPr>
          <a:xfrm>
            <a:off x="1457325" y="6072662"/>
            <a:ext cx="1012031" cy="182537"/>
          </a:xfrm>
          <a:prstGeom prst="rect">
            <a:avLst/>
          </a:prstGeom>
          <a:noFill/>
        </p:spPr>
        <p:txBody>
          <a:bodyPr wrap="square" lIns="0" rIns="0" tIns="0" bIns="0" anchor="ctr">
            <a:spAutoFit/>
          </a:bodyPr>
          <a:lstStyle/>
          <a:p>
            <a:pPr algn="l"/>
            <a:r>
              <a:rPr sz="1100" b="0">
                <a:solidFill>
                  <a:srgbClr val="2E2E2E"/>
                </a:solidFill>
                <a:latin typeface="Calibri"/>
              </a:rPr>
              <a:t>R&amp;D Investment</a:t>
            </a:r>
          </a:p>
        </p:txBody>
      </p:sp>
      <p:sp>
        <p:nvSpPr>
          <p:cNvPr id="358" name="Oval 357"/>
          <p:cNvSpPr/>
          <p:nvPr/>
        </p:nvSpPr>
        <p:spPr>
          <a:xfrm>
            <a:off x="2564606"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9" name="TextBox 358"/>
          <p:cNvSpPr txBox="1"/>
          <p:nvPr/>
        </p:nvSpPr>
        <p:spPr>
          <a:xfrm>
            <a:off x="2564606"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360" name="TextBox 359"/>
          <p:cNvSpPr txBox="1"/>
          <p:nvPr/>
        </p:nvSpPr>
        <p:spPr>
          <a:xfrm>
            <a:off x="2774156" y="6072662"/>
            <a:ext cx="800100" cy="182537"/>
          </a:xfrm>
          <a:prstGeom prst="rect">
            <a:avLst/>
          </a:prstGeom>
          <a:noFill/>
        </p:spPr>
        <p:txBody>
          <a:bodyPr wrap="square" lIns="0" rIns="0" tIns="0" bIns="0" anchor="ctr">
            <a:spAutoFit/>
          </a:bodyPr>
          <a:lstStyle/>
          <a:p>
            <a:pPr algn="l"/>
            <a:r>
              <a:rPr sz="1100" b="0">
                <a:solidFill>
                  <a:srgbClr val="2E2E2E"/>
                </a:solidFill>
                <a:latin typeface="Calibri"/>
              </a:rPr>
              <a:t>Financial Aid</a:t>
            </a:r>
          </a:p>
        </p:txBody>
      </p:sp>
      <p:sp>
        <p:nvSpPr>
          <p:cNvPr id="361" name="Oval 360"/>
          <p:cNvSpPr/>
          <p:nvPr/>
        </p:nvSpPr>
        <p:spPr>
          <a:xfrm>
            <a:off x="3669506"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2" name="TextBox 361"/>
          <p:cNvSpPr txBox="1"/>
          <p:nvPr/>
        </p:nvSpPr>
        <p:spPr>
          <a:xfrm>
            <a:off x="3669506"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363" name="TextBox 362"/>
          <p:cNvSpPr txBox="1"/>
          <p:nvPr/>
        </p:nvSpPr>
        <p:spPr>
          <a:xfrm>
            <a:off x="3879056" y="6072662"/>
            <a:ext cx="1328738" cy="182537"/>
          </a:xfrm>
          <a:prstGeom prst="rect">
            <a:avLst/>
          </a:prstGeom>
          <a:noFill/>
        </p:spPr>
        <p:txBody>
          <a:bodyPr wrap="square" lIns="0" rIns="0" tIns="0" bIns="0" anchor="ctr">
            <a:spAutoFit/>
          </a:bodyPr>
          <a:lstStyle/>
          <a:p>
            <a:pPr algn="l"/>
            <a:r>
              <a:rPr sz="1100" b="0">
                <a:solidFill>
                  <a:srgbClr val="2E2E2E"/>
                </a:solidFill>
                <a:latin typeface="Calibri"/>
              </a:rPr>
              <a:t>Product Development</a:t>
            </a:r>
          </a:p>
        </p:txBody>
      </p:sp>
      <p:sp>
        <p:nvSpPr>
          <p:cNvPr id="364" name="Oval 363"/>
          <p:cNvSpPr/>
          <p:nvPr/>
        </p:nvSpPr>
        <p:spPr>
          <a:xfrm>
            <a:off x="5303044"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5" name="TextBox 364"/>
          <p:cNvSpPr txBox="1"/>
          <p:nvPr/>
        </p:nvSpPr>
        <p:spPr>
          <a:xfrm>
            <a:off x="5303044"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366" name="TextBox 365"/>
          <p:cNvSpPr txBox="1"/>
          <p:nvPr/>
        </p:nvSpPr>
        <p:spPr>
          <a:xfrm>
            <a:off x="5512594" y="6072662"/>
            <a:ext cx="714375" cy="182537"/>
          </a:xfrm>
          <a:prstGeom prst="rect">
            <a:avLst/>
          </a:prstGeom>
          <a:noFill/>
        </p:spPr>
        <p:txBody>
          <a:bodyPr wrap="square" lIns="0" rIns="0" tIns="0" bIns="0" anchor="ctr">
            <a:spAutoFit/>
          </a:bodyPr>
          <a:lstStyle/>
          <a:p>
            <a:pPr algn="l"/>
            <a:r>
              <a:rPr sz="1100" b="0">
                <a:solidFill>
                  <a:srgbClr val="2E2E2E"/>
                </a:solidFill>
                <a:latin typeface="Calibri"/>
              </a:rPr>
              <a:t>Acquisition</a:t>
            </a:r>
          </a:p>
        </p:txBody>
      </p:sp>
      <p:sp>
        <p:nvSpPr>
          <p:cNvPr id="367" name="Oval 366"/>
          <p:cNvSpPr/>
          <p:nvPr/>
        </p:nvSpPr>
        <p:spPr>
          <a:xfrm>
            <a:off x="6322219"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8" name="TextBox 367"/>
          <p:cNvSpPr txBox="1"/>
          <p:nvPr/>
        </p:nvSpPr>
        <p:spPr>
          <a:xfrm>
            <a:off x="6322219"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369" name="TextBox 368"/>
          <p:cNvSpPr txBox="1"/>
          <p:nvPr/>
        </p:nvSpPr>
        <p:spPr>
          <a:xfrm>
            <a:off x="6531769" y="6072662"/>
            <a:ext cx="964406" cy="182537"/>
          </a:xfrm>
          <a:prstGeom prst="rect">
            <a:avLst/>
          </a:prstGeom>
          <a:noFill/>
        </p:spPr>
        <p:txBody>
          <a:bodyPr wrap="square" lIns="0" rIns="0" tIns="0" bIns="0" anchor="ctr">
            <a:spAutoFit/>
          </a:bodyPr>
          <a:lstStyle/>
          <a:p>
            <a:pPr algn="l"/>
            <a:r>
              <a:rPr sz="1100" b="0">
                <a:solidFill>
                  <a:srgbClr val="2E2E2E"/>
                </a:solidFill>
                <a:latin typeface="Calibri"/>
              </a:rPr>
              <a:t>Product Launch</a:t>
            </a:r>
          </a:p>
        </p:txBody>
      </p:sp>
      <p:sp>
        <p:nvSpPr>
          <p:cNvPr id="370" name="Oval 369"/>
          <p:cNvSpPr/>
          <p:nvPr/>
        </p:nvSpPr>
        <p:spPr>
          <a:xfrm>
            <a:off x="7591425"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1" name="TextBox 370"/>
          <p:cNvSpPr txBox="1"/>
          <p:nvPr/>
        </p:nvSpPr>
        <p:spPr>
          <a:xfrm>
            <a:off x="7591425"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372" name="TextBox 371"/>
          <p:cNvSpPr txBox="1"/>
          <p:nvPr/>
        </p:nvSpPr>
        <p:spPr>
          <a:xfrm>
            <a:off x="7800975" y="6072662"/>
            <a:ext cx="781050" cy="182537"/>
          </a:xfrm>
          <a:prstGeom prst="rect">
            <a:avLst/>
          </a:prstGeom>
          <a:noFill/>
        </p:spPr>
        <p:txBody>
          <a:bodyPr wrap="square" lIns="0" rIns="0" tIns="0" bIns="0" anchor="ctr">
            <a:spAutoFit/>
          </a:bodyPr>
          <a:lstStyle/>
          <a:p>
            <a:pPr algn="l"/>
            <a:r>
              <a:rPr sz="1100" b="0">
                <a:solidFill>
                  <a:srgbClr val="2E2E2E"/>
                </a:solidFill>
                <a:latin typeface="Calibri"/>
              </a:rPr>
              <a:t>Certification</a:t>
            </a:r>
          </a:p>
        </p:txBody>
      </p:sp>
      <p:sp>
        <p:nvSpPr>
          <p:cNvPr id="373" name="TextBox 372"/>
          <p:cNvSpPr txBox="1"/>
          <p:nvPr/>
        </p:nvSpPr>
        <p:spPr>
          <a:xfrm>
            <a:off x="285750" y="6273453"/>
            <a:ext cx="11620500" cy="155156"/>
          </a:xfrm>
          <a:prstGeom prst="rect">
            <a:avLst/>
          </a:prstGeom>
          <a:noFill/>
        </p:spPr>
        <p:txBody>
          <a:bodyPr wrap="square" lIns="0" rIns="0" tIns="0" bIns="0">
            <a:spAutoFit/>
          </a:bodyPr>
          <a:lstStyle/>
          <a:p>
            <a:pPr algn="l"/>
            <a:r>
              <a:rPr sz="1100" b="1">
                <a:solidFill>
                  <a:srgbClr val="A35313"/>
                </a:solidFill>
                <a:latin typeface="Calibri"/>
              </a:rPr>
              <a:t>Note: Market Share indicates the contribution of target revenue in Market</a:t>
            </a:r>
          </a:p>
        </p:txBody>
      </p:sp>
      <p:sp>
        <p:nvSpPr>
          <p:cNvPr id="374" name="TextBox 373"/>
          <p:cNvSpPr txBox="1"/>
          <p:nvPr/>
        </p:nvSpPr>
        <p:spPr>
          <a:xfrm>
            <a:off x="285750" y="6428609"/>
            <a:ext cx="11620500" cy="155156"/>
          </a:xfrm>
          <a:prstGeom prst="rect">
            <a:avLst/>
          </a:prstGeom>
          <a:noFill/>
        </p:spPr>
        <p:txBody>
          <a:bodyPr wrap="square" lIns="0" rIns="0" tIns="0" bIns="0">
            <a:spAutoFit/>
          </a:bodyPr>
          <a:lstStyle/>
          <a:p>
            <a:pPr algn="l"/>
            <a:r>
              <a:rPr sz="1100" b="1">
                <a:solidFill>
                  <a:srgbClr val="A35313"/>
                </a:solidFill>
                <a:latin typeface="Calibri"/>
              </a:rPr>
              <a:t>Revenue represents sales of the company from target market</a:t>
            </a:r>
          </a:p>
        </p:txBody>
      </p:sp>
      <p:sp>
        <p:nvSpPr>
          <p:cNvPr id="375" name="TextBox 37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76" name="Picture 375" descr="lock.png"/>
          <p:cNvPicPr>
            <a:picLocks noChangeAspect="1"/>
          </p:cNvPicPr>
          <p:nvPr/>
        </p:nvPicPr>
        <p:blipFill>
          <a:blip r:embed="rId4"/>
          <a:stretch>
            <a:fillRect/>
          </a:stretch>
        </p:blipFill>
        <p:spPr>
          <a:xfrm>
            <a:off x="1769213" y="2702524"/>
            <a:ext cx="128699" cy="187198"/>
          </a:xfrm>
          <a:prstGeom prst="rect">
            <a:avLst/>
          </a:prstGeom>
        </p:spPr>
      </p:pic>
      <p:pic>
        <p:nvPicPr>
          <p:cNvPr id="377" name="Picture 376" descr="lock.png"/>
          <p:cNvPicPr>
            <a:picLocks noChangeAspect="1"/>
          </p:cNvPicPr>
          <p:nvPr/>
        </p:nvPicPr>
        <p:blipFill>
          <a:blip r:embed="rId4"/>
          <a:stretch>
            <a:fillRect/>
          </a:stretch>
        </p:blipFill>
        <p:spPr>
          <a:xfrm>
            <a:off x="1769213" y="3031091"/>
            <a:ext cx="128699" cy="187198"/>
          </a:xfrm>
          <a:prstGeom prst="rect">
            <a:avLst/>
          </a:prstGeom>
        </p:spPr>
      </p:pic>
      <p:pic>
        <p:nvPicPr>
          <p:cNvPr id="378" name="Picture 377" descr="lock.png"/>
          <p:cNvPicPr>
            <a:picLocks noChangeAspect="1"/>
          </p:cNvPicPr>
          <p:nvPr/>
        </p:nvPicPr>
        <p:blipFill>
          <a:blip r:embed="rId4"/>
          <a:stretch>
            <a:fillRect/>
          </a:stretch>
        </p:blipFill>
        <p:spPr>
          <a:xfrm>
            <a:off x="1769212" y="3560448"/>
            <a:ext cx="128699" cy="187198"/>
          </a:xfrm>
          <a:prstGeom prst="rect">
            <a:avLst/>
          </a:prstGeom>
        </p:spPr>
      </p:pic>
      <p:pic>
        <p:nvPicPr>
          <p:cNvPr id="379" name="Picture 378" descr="lock.png"/>
          <p:cNvPicPr>
            <a:picLocks noChangeAspect="1"/>
          </p:cNvPicPr>
          <p:nvPr/>
        </p:nvPicPr>
        <p:blipFill>
          <a:blip r:embed="rId4"/>
          <a:stretch>
            <a:fillRect/>
          </a:stretch>
        </p:blipFill>
        <p:spPr>
          <a:xfrm>
            <a:off x="2845538" y="2702524"/>
            <a:ext cx="128699" cy="187198"/>
          </a:xfrm>
          <a:prstGeom prst="rect">
            <a:avLst/>
          </a:prstGeom>
        </p:spPr>
      </p:pic>
      <p:pic>
        <p:nvPicPr>
          <p:cNvPr id="380" name="Picture 379" descr="lock.png"/>
          <p:cNvPicPr>
            <a:picLocks noChangeAspect="1"/>
          </p:cNvPicPr>
          <p:nvPr/>
        </p:nvPicPr>
        <p:blipFill>
          <a:blip r:embed="rId4"/>
          <a:stretch>
            <a:fillRect/>
          </a:stretch>
        </p:blipFill>
        <p:spPr>
          <a:xfrm>
            <a:off x="2845538" y="3031091"/>
            <a:ext cx="128699" cy="187198"/>
          </a:xfrm>
          <a:prstGeom prst="rect">
            <a:avLst/>
          </a:prstGeom>
        </p:spPr>
      </p:pic>
      <p:pic>
        <p:nvPicPr>
          <p:cNvPr id="381" name="Picture 380" descr="lock.png"/>
          <p:cNvPicPr>
            <a:picLocks noChangeAspect="1"/>
          </p:cNvPicPr>
          <p:nvPr/>
        </p:nvPicPr>
        <p:blipFill>
          <a:blip r:embed="rId4"/>
          <a:stretch>
            <a:fillRect/>
          </a:stretch>
        </p:blipFill>
        <p:spPr>
          <a:xfrm>
            <a:off x="2845538" y="3560448"/>
            <a:ext cx="128699" cy="187198"/>
          </a:xfrm>
          <a:prstGeom prst="rect">
            <a:avLst/>
          </a:prstGeom>
        </p:spPr>
      </p:pic>
      <p:pic>
        <p:nvPicPr>
          <p:cNvPr id="382" name="Picture 381" descr="lock.png"/>
          <p:cNvPicPr>
            <a:picLocks noChangeAspect="1"/>
          </p:cNvPicPr>
          <p:nvPr/>
        </p:nvPicPr>
        <p:blipFill>
          <a:blip r:embed="rId4"/>
          <a:stretch>
            <a:fillRect/>
          </a:stretch>
        </p:blipFill>
        <p:spPr>
          <a:xfrm>
            <a:off x="3921863" y="2702524"/>
            <a:ext cx="128699" cy="187198"/>
          </a:xfrm>
          <a:prstGeom prst="rect">
            <a:avLst/>
          </a:prstGeom>
        </p:spPr>
      </p:pic>
      <p:pic>
        <p:nvPicPr>
          <p:cNvPr id="383" name="Picture 382" descr="lock.png"/>
          <p:cNvPicPr>
            <a:picLocks noChangeAspect="1"/>
          </p:cNvPicPr>
          <p:nvPr/>
        </p:nvPicPr>
        <p:blipFill>
          <a:blip r:embed="rId4"/>
          <a:stretch>
            <a:fillRect/>
          </a:stretch>
        </p:blipFill>
        <p:spPr>
          <a:xfrm>
            <a:off x="3921863" y="3031091"/>
            <a:ext cx="128699" cy="187198"/>
          </a:xfrm>
          <a:prstGeom prst="rect">
            <a:avLst/>
          </a:prstGeom>
        </p:spPr>
      </p:pic>
      <p:pic>
        <p:nvPicPr>
          <p:cNvPr id="384" name="Picture 383" descr="lock.png"/>
          <p:cNvPicPr>
            <a:picLocks noChangeAspect="1"/>
          </p:cNvPicPr>
          <p:nvPr/>
        </p:nvPicPr>
        <p:blipFill>
          <a:blip r:embed="rId4"/>
          <a:stretch>
            <a:fillRect/>
          </a:stretch>
        </p:blipFill>
        <p:spPr>
          <a:xfrm>
            <a:off x="3921862" y="3560448"/>
            <a:ext cx="128699" cy="187198"/>
          </a:xfrm>
          <a:prstGeom prst="rect">
            <a:avLst/>
          </a:prstGeom>
        </p:spPr>
      </p:pic>
      <p:pic>
        <p:nvPicPr>
          <p:cNvPr id="385" name="Picture 384" descr="lock.png"/>
          <p:cNvPicPr>
            <a:picLocks noChangeAspect="1"/>
          </p:cNvPicPr>
          <p:nvPr/>
        </p:nvPicPr>
        <p:blipFill>
          <a:blip r:embed="rId4"/>
          <a:stretch>
            <a:fillRect/>
          </a:stretch>
        </p:blipFill>
        <p:spPr>
          <a:xfrm>
            <a:off x="4998188" y="2702524"/>
            <a:ext cx="128699" cy="187198"/>
          </a:xfrm>
          <a:prstGeom prst="rect">
            <a:avLst/>
          </a:prstGeom>
        </p:spPr>
      </p:pic>
      <p:pic>
        <p:nvPicPr>
          <p:cNvPr id="386" name="Picture 385" descr="lock.png"/>
          <p:cNvPicPr>
            <a:picLocks noChangeAspect="1"/>
          </p:cNvPicPr>
          <p:nvPr/>
        </p:nvPicPr>
        <p:blipFill>
          <a:blip r:embed="rId4"/>
          <a:stretch>
            <a:fillRect/>
          </a:stretch>
        </p:blipFill>
        <p:spPr>
          <a:xfrm>
            <a:off x="4998188" y="3031091"/>
            <a:ext cx="128699" cy="187198"/>
          </a:xfrm>
          <a:prstGeom prst="rect">
            <a:avLst/>
          </a:prstGeom>
        </p:spPr>
      </p:pic>
      <p:pic>
        <p:nvPicPr>
          <p:cNvPr id="387" name="Picture 386" descr="lock.png"/>
          <p:cNvPicPr>
            <a:picLocks noChangeAspect="1"/>
          </p:cNvPicPr>
          <p:nvPr/>
        </p:nvPicPr>
        <p:blipFill>
          <a:blip r:embed="rId4"/>
          <a:stretch>
            <a:fillRect/>
          </a:stretch>
        </p:blipFill>
        <p:spPr>
          <a:xfrm>
            <a:off x="4998188" y="3560448"/>
            <a:ext cx="128699" cy="187198"/>
          </a:xfrm>
          <a:prstGeom prst="rect">
            <a:avLst/>
          </a:prstGeom>
        </p:spPr>
      </p:pic>
      <p:pic>
        <p:nvPicPr>
          <p:cNvPr id="388" name="Picture 387" descr="lock.png"/>
          <p:cNvPicPr>
            <a:picLocks noChangeAspect="1"/>
          </p:cNvPicPr>
          <p:nvPr/>
        </p:nvPicPr>
        <p:blipFill>
          <a:blip r:embed="rId4"/>
          <a:stretch>
            <a:fillRect/>
          </a:stretch>
        </p:blipFill>
        <p:spPr>
          <a:xfrm>
            <a:off x="6074513" y="2702524"/>
            <a:ext cx="128699" cy="187198"/>
          </a:xfrm>
          <a:prstGeom prst="rect">
            <a:avLst/>
          </a:prstGeom>
        </p:spPr>
      </p:pic>
      <p:pic>
        <p:nvPicPr>
          <p:cNvPr id="389" name="Picture 388" descr="lock.png"/>
          <p:cNvPicPr>
            <a:picLocks noChangeAspect="1"/>
          </p:cNvPicPr>
          <p:nvPr/>
        </p:nvPicPr>
        <p:blipFill>
          <a:blip r:embed="rId4"/>
          <a:stretch>
            <a:fillRect/>
          </a:stretch>
        </p:blipFill>
        <p:spPr>
          <a:xfrm>
            <a:off x="6074513" y="3031091"/>
            <a:ext cx="128699" cy="187198"/>
          </a:xfrm>
          <a:prstGeom prst="rect">
            <a:avLst/>
          </a:prstGeom>
        </p:spPr>
      </p:pic>
      <p:pic>
        <p:nvPicPr>
          <p:cNvPr id="390" name="Picture 389" descr="lock.png"/>
          <p:cNvPicPr>
            <a:picLocks noChangeAspect="1"/>
          </p:cNvPicPr>
          <p:nvPr/>
        </p:nvPicPr>
        <p:blipFill>
          <a:blip r:embed="rId4"/>
          <a:stretch>
            <a:fillRect/>
          </a:stretch>
        </p:blipFill>
        <p:spPr>
          <a:xfrm>
            <a:off x="6074512" y="3560448"/>
            <a:ext cx="128699" cy="187198"/>
          </a:xfrm>
          <a:prstGeom prst="rect">
            <a:avLst/>
          </a:prstGeom>
        </p:spPr>
      </p:pic>
      <p:pic>
        <p:nvPicPr>
          <p:cNvPr id="391" name="Picture 390" descr="lock.png"/>
          <p:cNvPicPr>
            <a:picLocks noChangeAspect="1"/>
          </p:cNvPicPr>
          <p:nvPr/>
        </p:nvPicPr>
        <p:blipFill>
          <a:blip r:embed="rId4"/>
          <a:stretch>
            <a:fillRect/>
          </a:stretch>
        </p:blipFill>
        <p:spPr>
          <a:xfrm>
            <a:off x="7150838" y="2702524"/>
            <a:ext cx="128699" cy="187198"/>
          </a:xfrm>
          <a:prstGeom prst="rect">
            <a:avLst/>
          </a:prstGeom>
        </p:spPr>
      </p:pic>
      <p:pic>
        <p:nvPicPr>
          <p:cNvPr id="392" name="Picture 391" descr="lock.png"/>
          <p:cNvPicPr>
            <a:picLocks noChangeAspect="1"/>
          </p:cNvPicPr>
          <p:nvPr/>
        </p:nvPicPr>
        <p:blipFill>
          <a:blip r:embed="rId4"/>
          <a:stretch>
            <a:fillRect/>
          </a:stretch>
        </p:blipFill>
        <p:spPr>
          <a:xfrm>
            <a:off x="7150838" y="3031091"/>
            <a:ext cx="128699" cy="187198"/>
          </a:xfrm>
          <a:prstGeom prst="rect">
            <a:avLst/>
          </a:prstGeom>
        </p:spPr>
      </p:pic>
      <p:pic>
        <p:nvPicPr>
          <p:cNvPr id="393" name="Picture 392" descr="lock.png"/>
          <p:cNvPicPr>
            <a:picLocks noChangeAspect="1"/>
          </p:cNvPicPr>
          <p:nvPr/>
        </p:nvPicPr>
        <p:blipFill>
          <a:blip r:embed="rId4"/>
          <a:stretch>
            <a:fillRect/>
          </a:stretch>
        </p:blipFill>
        <p:spPr>
          <a:xfrm>
            <a:off x="7150838" y="3560448"/>
            <a:ext cx="128699" cy="187198"/>
          </a:xfrm>
          <a:prstGeom prst="rect">
            <a:avLst/>
          </a:prstGeom>
        </p:spPr>
      </p:pic>
      <p:pic>
        <p:nvPicPr>
          <p:cNvPr id="394" name="Picture 393" descr="lock.png"/>
          <p:cNvPicPr>
            <a:picLocks noChangeAspect="1"/>
          </p:cNvPicPr>
          <p:nvPr/>
        </p:nvPicPr>
        <p:blipFill>
          <a:blip r:embed="rId4"/>
          <a:stretch>
            <a:fillRect/>
          </a:stretch>
        </p:blipFill>
        <p:spPr>
          <a:xfrm>
            <a:off x="8227163" y="2702524"/>
            <a:ext cx="128699" cy="187198"/>
          </a:xfrm>
          <a:prstGeom prst="rect">
            <a:avLst/>
          </a:prstGeom>
        </p:spPr>
      </p:pic>
      <p:pic>
        <p:nvPicPr>
          <p:cNvPr id="395" name="Picture 394" descr="lock.png"/>
          <p:cNvPicPr>
            <a:picLocks noChangeAspect="1"/>
          </p:cNvPicPr>
          <p:nvPr/>
        </p:nvPicPr>
        <p:blipFill>
          <a:blip r:embed="rId4"/>
          <a:stretch>
            <a:fillRect/>
          </a:stretch>
        </p:blipFill>
        <p:spPr>
          <a:xfrm>
            <a:off x="8227163" y="3031091"/>
            <a:ext cx="128699" cy="187198"/>
          </a:xfrm>
          <a:prstGeom prst="rect">
            <a:avLst/>
          </a:prstGeom>
        </p:spPr>
      </p:pic>
      <p:pic>
        <p:nvPicPr>
          <p:cNvPr id="396" name="Picture 395" descr="lock.png"/>
          <p:cNvPicPr>
            <a:picLocks noChangeAspect="1"/>
          </p:cNvPicPr>
          <p:nvPr/>
        </p:nvPicPr>
        <p:blipFill>
          <a:blip r:embed="rId4"/>
          <a:stretch>
            <a:fillRect/>
          </a:stretch>
        </p:blipFill>
        <p:spPr>
          <a:xfrm>
            <a:off x="8227162" y="3560448"/>
            <a:ext cx="128699" cy="187198"/>
          </a:xfrm>
          <a:prstGeom prst="rect">
            <a:avLst/>
          </a:prstGeom>
        </p:spPr>
      </p:pic>
      <p:pic>
        <p:nvPicPr>
          <p:cNvPr id="397" name="Picture 396" descr="lock.png"/>
          <p:cNvPicPr>
            <a:picLocks noChangeAspect="1"/>
          </p:cNvPicPr>
          <p:nvPr/>
        </p:nvPicPr>
        <p:blipFill>
          <a:blip r:embed="rId4"/>
          <a:stretch>
            <a:fillRect/>
          </a:stretch>
        </p:blipFill>
        <p:spPr>
          <a:xfrm>
            <a:off x="9303488" y="2702524"/>
            <a:ext cx="128699" cy="187198"/>
          </a:xfrm>
          <a:prstGeom prst="rect">
            <a:avLst/>
          </a:prstGeom>
        </p:spPr>
      </p:pic>
      <p:pic>
        <p:nvPicPr>
          <p:cNvPr id="398" name="Picture 397" descr="lock.png"/>
          <p:cNvPicPr>
            <a:picLocks noChangeAspect="1"/>
          </p:cNvPicPr>
          <p:nvPr/>
        </p:nvPicPr>
        <p:blipFill>
          <a:blip r:embed="rId4"/>
          <a:stretch>
            <a:fillRect/>
          </a:stretch>
        </p:blipFill>
        <p:spPr>
          <a:xfrm>
            <a:off x="9303488" y="3031091"/>
            <a:ext cx="128699" cy="187198"/>
          </a:xfrm>
          <a:prstGeom prst="rect">
            <a:avLst/>
          </a:prstGeom>
        </p:spPr>
      </p:pic>
      <p:pic>
        <p:nvPicPr>
          <p:cNvPr id="399" name="Picture 398" descr="lock.png"/>
          <p:cNvPicPr>
            <a:picLocks noChangeAspect="1"/>
          </p:cNvPicPr>
          <p:nvPr/>
        </p:nvPicPr>
        <p:blipFill>
          <a:blip r:embed="rId4"/>
          <a:stretch>
            <a:fillRect/>
          </a:stretch>
        </p:blipFill>
        <p:spPr>
          <a:xfrm>
            <a:off x="9303488" y="3560448"/>
            <a:ext cx="128699" cy="187198"/>
          </a:xfrm>
          <a:prstGeom prst="rect">
            <a:avLst/>
          </a:prstGeom>
        </p:spPr>
      </p:pic>
      <p:pic>
        <p:nvPicPr>
          <p:cNvPr id="400" name="Picture 399" descr="lock.png"/>
          <p:cNvPicPr>
            <a:picLocks noChangeAspect="1"/>
          </p:cNvPicPr>
          <p:nvPr/>
        </p:nvPicPr>
        <p:blipFill>
          <a:blip r:embed="rId4"/>
          <a:stretch>
            <a:fillRect/>
          </a:stretch>
        </p:blipFill>
        <p:spPr>
          <a:xfrm>
            <a:off x="10379813" y="2702524"/>
            <a:ext cx="128699" cy="187198"/>
          </a:xfrm>
          <a:prstGeom prst="rect">
            <a:avLst/>
          </a:prstGeom>
        </p:spPr>
      </p:pic>
      <p:pic>
        <p:nvPicPr>
          <p:cNvPr id="401" name="Picture 400" descr="lock.png"/>
          <p:cNvPicPr>
            <a:picLocks noChangeAspect="1"/>
          </p:cNvPicPr>
          <p:nvPr/>
        </p:nvPicPr>
        <p:blipFill>
          <a:blip r:embed="rId4"/>
          <a:stretch>
            <a:fillRect/>
          </a:stretch>
        </p:blipFill>
        <p:spPr>
          <a:xfrm>
            <a:off x="10379813" y="3031091"/>
            <a:ext cx="128699" cy="187198"/>
          </a:xfrm>
          <a:prstGeom prst="rect">
            <a:avLst/>
          </a:prstGeom>
        </p:spPr>
      </p:pic>
      <p:pic>
        <p:nvPicPr>
          <p:cNvPr id="402" name="Picture 401" descr="lock.png"/>
          <p:cNvPicPr>
            <a:picLocks noChangeAspect="1"/>
          </p:cNvPicPr>
          <p:nvPr/>
        </p:nvPicPr>
        <p:blipFill>
          <a:blip r:embed="rId4"/>
          <a:stretch>
            <a:fillRect/>
          </a:stretch>
        </p:blipFill>
        <p:spPr>
          <a:xfrm>
            <a:off x="10379812" y="3560448"/>
            <a:ext cx="128699" cy="187198"/>
          </a:xfrm>
          <a:prstGeom prst="rect">
            <a:avLst/>
          </a:prstGeom>
        </p:spPr>
      </p:pic>
      <p:pic>
        <p:nvPicPr>
          <p:cNvPr id="403" name="Picture 402" descr="lock.png"/>
          <p:cNvPicPr>
            <a:picLocks noChangeAspect="1"/>
          </p:cNvPicPr>
          <p:nvPr/>
        </p:nvPicPr>
        <p:blipFill>
          <a:blip r:embed="rId4"/>
          <a:stretch>
            <a:fillRect/>
          </a:stretch>
        </p:blipFill>
        <p:spPr>
          <a:xfrm>
            <a:off x="11456138" y="2702524"/>
            <a:ext cx="128699" cy="187198"/>
          </a:xfrm>
          <a:prstGeom prst="rect">
            <a:avLst/>
          </a:prstGeom>
        </p:spPr>
      </p:pic>
      <p:pic>
        <p:nvPicPr>
          <p:cNvPr id="404" name="Picture 403" descr="lock.png"/>
          <p:cNvPicPr>
            <a:picLocks noChangeAspect="1"/>
          </p:cNvPicPr>
          <p:nvPr/>
        </p:nvPicPr>
        <p:blipFill>
          <a:blip r:embed="rId4"/>
          <a:stretch>
            <a:fillRect/>
          </a:stretch>
        </p:blipFill>
        <p:spPr>
          <a:xfrm>
            <a:off x="11456138" y="3031091"/>
            <a:ext cx="128699" cy="187198"/>
          </a:xfrm>
          <a:prstGeom prst="rect">
            <a:avLst/>
          </a:prstGeom>
        </p:spPr>
      </p:pic>
      <p:pic>
        <p:nvPicPr>
          <p:cNvPr id="405" name="Picture 404" descr="lock.png"/>
          <p:cNvPicPr>
            <a:picLocks noChangeAspect="1"/>
          </p:cNvPicPr>
          <p:nvPr/>
        </p:nvPicPr>
        <p:blipFill>
          <a:blip r:embed="rId4"/>
          <a:stretch>
            <a:fillRect/>
          </a:stretch>
        </p:blipFill>
        <p:spPr>
          <a:xfrm>
            <a:off x="11456138" y="3560448"/>
            <a:ext cx="128699" cy="187198"/>
          </a:xfrm>
          <a:prstGeom prst="rect">
            <a:avLst/>
          </a:prstGeom>
        </p:spPr>
      </p:pic>
    </p:spTree>
  </p:cSld>
  <p:clrMapOvr>
    <a:masterClrMapping/>
  </p:clrMapOvr>
</p:sld>
</file>

<file path=ppt/slides/slide28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20</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Market Share by Leading Players</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Advice for Vendors &amp; Suppliers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Value Share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Share by Product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Share by Region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Who Shaped Growth</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Advice for Market Vendors / Suppliers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Strategic advice for vendors and suppliers on pricing, product, geography, channel and competitive risk</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Strategic advice for vendors and suppliers where to compete, how to price, and which risks to manage across the Removable Partial Dentures Market.</a:t>
            </a:r>
          </a:p>
        </p:txBody>
      </p:sp>
      <p:sp>
        <p:nvSpPr>
          <p:cNvPr id="11" name="Rounded Rectangle 10"/>
          <p:cNvSpPr/>
          <p:nvPr/>
        </p:nvSpPr>
        <p:spPr>
          <a:xfrm>
            <a:off x="142875" y="1354081"/>
            <a:ext cx="5857875" cy="2601152"/>
          </a:xfrm>
          <a:prstGeom prst="roundRect">
            <a:avLst>
              <a:gd name="adj" fmla="val 29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76225" y="1439806"/>
            <a:ext cx="5591175" cy="209550"/>
          </a:xfrm>
          <a:prstGeom prst="rect">
            <a:avLst/>
          </a:prstGeom>
          <a:noFill/>
        </p:spPr>
        <p:txBody>
          <a:bodyPr wrap="square" lIns="0" rIns="19050" tIns="9525" bIns="9525">
            <a:spAutoFit/>
          </a:bodyPr>
          <a:lstStyle/>
          <a:p>
            <a:pPr algn="l"/>
            <a:r>
              <a:rPr sz="1300" b="1">
                <a:solidFill>
                  <a:srgbClr val="0B2E4A"/>
                </a:solidFill>
                <a:latin typeface="Calibri"/>
              </a:rPr>
              <a:t>Pricing &amp; Margin Strategy</a:t>
            </a:r>
          </a:p>
        </p:txBody>
      </p:sp>
      <p:sp>
        <p:nvSpPr>
          <p:cNvPr id="13" name="Rectangle 12"/>
          <p:cNvSpPr/>
          <p:nvPr/>
        </p:nvSpPr>
        <p:spPr>
          <a:xfrm>
            <a:off x="276225" y="1677931"/>
            <a:ext cx="559117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76225" y="1763656"/>
            <a:ext cx="5591175" cy="2115377"/>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5" name="Rounded Rectangle 14"/>
          <p:cNvSpPr/>
          <p:nvPr/>
        </p:nvSpPr>
        <p:spPr>
          <a:xfrm>
            <a:off x="6191250" y="1354081"/>
            <a:ext cx="5857875" cy="2601152"/>
          </a:xfrm>
          <a:prstGeom prst="roundRect">
            <a:avLst>
              <a:gd name="adj" fmla="val 29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324600" y="1439806"/>
            <a:ext cx="5591175" cy="209550"/>
          </a:xfrm>
          <a:prstGeom prst="rect">
            <a:avLst/>
          </a:prstGeom>
          <a:noFill/>
        </p:spPr>
        <p:txBody>
          <a:bodyPr wrap="square" lIns="0" rIns="19050" tIns="9525" bIns="9525">
            <a:spAutoFit/>
          </a:bodyPr>
          <a:lstStyle/>
          <a:p>
            <a:pPr algn="l"/>
            <a:r>
              <a:rPr sz="1300" b="1">
                <a:solidFill>
                  <a:srgbClr val="0B2E4A"/>
                </a:solidFill>
                <a:latin typeface="Calibri"/>
              </a:rPr>
              <a:t>Product &amp; Innovation</a:t>
            </a:r>
          </a:p>
        </p:txBody>
      </p:sp>
      <p:sp>
        <p:nvSpPr>
          <p:cNvPr id="17" name="Rectangle 16"/>
          <p:cNvSpPr/>
          <p:nvPr/>
        </p:nvSpPr>
        <p:spPr>
          <a:xfrm>
            <a:off x="6324600" y="1677931"/>
            <a:ext cx="559117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324600" y="1763656"/>
            <a:ext cx="5591175" cy="2115377"/>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Rounded Rectangle 18"/>
          <p:cNvSpPr/>
          <p:nvPr/>
        </p:nvSpPr>
        <p:spPr>
          <a:xfrm>
            <a:off x="142875" y="4046502"/>
            <a:ext cx="5857875" cy="2509883"/>
          </a:xfrm>
          <a:prstGeom prst="roundRect">
            <a:avLst>
              <a:gd name="adj" fmla="val 303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276225" y="4132227"/>
            <a:ext cx="5591175" cy="209550"/>
          </a:xfrm>
          <a:prstGeom prst="rect">
            <a:avLst/>
          </a:prstGeom>
          <a:noFill/>
        </p:spPr>
        <p:txBody>
          <a:bodyPr wrap="square" lIns="0" rIns="19050" tIns="9525" bIns="9525">
            <a:spAutoFit/>
          </a:bodyPr>
          <a:lstStyle/>
          <a:p>
            <a:pPr algn="l"/>
            <a:r>
              <a:rPr sz="1300" b="1">
                <a:solidFill>
                  <a:srgbClr val="0B2E4A"/>
                </a:solidFill>
                <a:latin typeface="Calibri"/>
              </a:rPr>
              <a:t>Geographic &amp; Channel Expansion</a:t>
            </a:r>
          </a:p>
        </p:txBody>
      </p:sp>
      <p:sp>
        <p:nvSpPr>
          <p:cNvPr id="21" name="Rectangle 20"/>
          <p:cNvSpPr/>
          <p:nvPr/>
        </p:nvSpPr>
        <p:spPr>
          <a:xfrm>
            <a:off x="276225" y="4370352"/>
            <a:ext cx="559117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456077"/>
            <a:ext cx="5591175" cy="2024108"/>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 selectively into under-penetrated regions where the leaders are thin, rather than head-on in saturated markets.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Balance retail, hospital/clinic and online channels online is the fastest-shifting route to end customers.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Build reliable distribution and logistics partnerships to convert demand into fulfilled volume.</a:t>
            </a:r>
          </a:p>
        </p:txBody>
      </p:sp>
      <p:sp>
        <p:nvSpPr>
          <p:cNvPr id="23" name="Rounded Rectangle 22"/>
          <p:cNvSpPr/>
          <p:nvPr/>
        </p:nvSpPr>
        <p:spPr>
          <a:xfrm>
            <a:off x="6191250" y="4046502"/>
            <a:ext cx="5857875" cy="2509883"/>
          </a:xfrm>
          <a:prstGeom prst="roundRect">
            <a:avLst>
              <a:gd name="adj" fmla="val 303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6324600" y="4132227"/>
            <a:ext cx="5591175" cy="209550"/>
          </a:xfrm>
          <a:prstGeom prst="rect">
            <a:avLst/>
          </a:prstGeom>
          <a:noFill/>
        </p:spPr>
        <p:txBody>
          <a:bodyPr wrap="square" lIns="0" rIns="19050" tIns="9525" bIns="9525">
            <a:spAutoFit/>
          </a:bodyPr>
          <a:lstStyle/>
          <a:p>
            <a:pPr algn="l"/>
            <a:r>
              <a:rPr sz="1300" b="1">
                <a:solidFill>
                  <a:srgbClr val="0B2E4A"/>
                </a:solidFill>
                <a:latin typeface="Calibri"/>
              </a:rPr>
              <a:t>Competitive &amp; Risk Positioning</a:t>
            </a:r>
          </a:p>
        </p:txBody>
      </p:sp>
      <p:sp>
        <p:nvSpPr>
          <p:cNvPr id="25" name="Rectangle 24"/>
          <p:cNvSpPr/>
          <p:nvPr/>
        </p:nvSpPr>
        <p:spPr>
          <a:xfrm>
            <a:off x="6324600" y="4370352"/>
            <a:ext cx="559117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6324600" y="4456077"/>
            <a:ext cx="5591175" cy="2024108"/>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7" name="TextBox 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28" name="TextBox 27"/>
          <p:cNvSpPr txBox="1"/>
          <p:nvPr/>
        </p:nvSpPr>
        <p:spPr>
          <a:xfrm>
            <a:off x="276225" y="1773181"/>
            <a:ext cx="3235387" cy="194310"/>
          </a:xfrm>
          <a:prstGeom prst="rect">
            <a:avLst/>
          </a:prstGeom>
          <a:noFill/>
        </p:spPr>
        <p:txBody>
          <a:bodyPr wrap="none" lIns="0" rIns="0" tIns="0" bIns="0">
            <a:spAutoFit/>
          </a:bodyPr>
          <a:lstStyle/>
          <a:p>
            <a:r>
              <a:rPr sz="1150" b="0">
                <a:solidFill>
                  <a:srgbClr val="2E2E2E"/>
                </a:solidFill>
                <a:latin typeface="Calibri"/>
              </a:rPr>
              <a:t>▪ Hold price discipline: with the top three players at ~</a:t>
            </a:r>
          </a:p>
        </p:txBody>
      </p:sp>
      <p:pic>
        <p:nvPicPr>
          <p:cNvPr id="29" name="Picture 28" descr="lock.png"/>
          <p:cNvPicPr>
            <a:picLocks noChangeAspect="1"/>
          </p:cNvPicPr>
          <p:nvPr/>
        </p:nvPicPr>
        <p:blipFill>
          <a:blip r:embed="rId4"/>
          <a:stretch>
            <a:fillRect/>
          </a:stretch>
        </p:blipFill>
        <p:spPr>
          <a:xfrm>
            <a:off x="3460765" y="1762957"/>
            <a:ext cx="134549" cy="195707"/>
          </a:xfrm>
          <a:prstGeom prst="rect">
            <a:avLst/>
          </a:prstGeom>
        </p:spPr>
      </p:pic>
      <p:sp>
        <p:nvSpPr>
          <p:cNvPr id="30" name="TextBox 29"/>
          <p:cNvSpPr txBox="1"/>
          <p:nvPr/>
        </p:nvSpPr>
        <p:spPr>
          <a:xfrm>
            <a:off x="3635875" y="1773181"/>
            <a:ext cx="1859892" cy="194310"/>
          </a:xfrm>
          <a:prstGeom prst="rect">
            <a:avLst/>
          </a:prstGeom>
          <a:noFill/>
        </p:spPr>
        <p:txBody>
          <a:bodyPr wrap="none" lIns="0" rIns="0" tIns="0" bIns="0">
            <a:spAutoFit/>
          </a:bodyPr>
          <a:lstStyle/>
          <a:p>
            <a:r>
              <a:rPr sz="1150" b="0">
                <a:solidFill>
                  <a:srgbClr val="2E2E2E"/>
                </a:solidFill>
                <a:latin typeface="Calibri"/>
              </a:rPr>
              <a:t>share, avoid value-destructive</a:t>
            </a:r>
          </a:p>
        </p:txBody>
      </p:sp>
      <p:sp>
        <p:nvSpPr>
          <p:cNvPr id="31" name="TextBox 30"/>
          <p:cNvSpPr txBox="1"/>
          <p:nvPr/>
        </p:nvSpPr>
        <p:spPr>
          <a:xfrm>
            <a:off x="276225" y="1948441"/>
            <a:ext cx="3646723" cy="194310"/>
          </a:xfrm>
          <a:prstGeom prst="rect">
            <a:avLst/>
          </a:prstGeom>
          <a:noFill/>
        </p:spPr>
        <p:txBody>
          <a:bodyPr wrap="none" lIns="0" rIns="0" tIns="0" bIns="0">
            <a:spAutoFit/>
          </a:bodyPr>
          <a:lstStyle/>
          <a:p>
            <a:r>
              <a:rPr sz="1150" b="0">
                <a:solidFill>
                  <a:srgbClr val="2E2E2E"/>
                </a:solidFill>
                <a:latin typeface="Calibri"/>
              </a:rPr>
              <a:t>discounting compete on mix and service, not headline price.</a:t>
            </a:r>
          </a:p>
        </p:txBody>
      </p:sp>
      <p:sp>
        <p:nvSpPr>
          <p:cNvPr id="32" name="TextBox 31"/>
          <p:cNvSpPr txBox="1"/>
          <p:nvPr/>
        </p:nvSpPr>
        <p:spPr>
          <a:xfrm>
            <a:off x="276225" y="2176279"/>
            <a:ext cx="5137174" cy="194310"/>
          </a:xfrm>
          <a:prstGeom prst="rect">
            <a:avLst/>
          </a:prstGeom>
          <a:noFill/>
        </p:spPr>
        <p:txBody>
          <a:bodyPr wrap="none" lIns="0" rIns="0" tIns="0" bIns="0">
            <a:spAutoFit/>
          </a:bodyPr>
          <a:lstStyle/>
          <a:p>
            <a:r>
              <a:rPr sz="1150" b="0">
                <a:solidFill>
                  <a:srgbClr val="2E2E2E"/>
                </a:solidFill>
                <a:latin typeface="Calibri"/>
              </a:rPr>
              <a:t>▪ Premiumise toward higher-value formulations (e.g. 'Flexible Partial Dentures') to lift</a:t>
            </a:r>
          </a:p>
        </p:txBody>
      </p:sp>
      <p:sp>
        <p:nvSpPr>
          <p:cNvPr id="33" name="TextBox 32"/>
          <p:cNvSpPr txBox="1"/>
          <p:nvPr/>
        </p:nvSpPr>
        <p:spPr>
          <a:xfrm>
            <a:off x="276225" y="2351539"/>
            <a:ext cx="3225403" cy="194310"/>
          </a:xfrm>
          <a:prstGeom prst="rect">
            <a:avLst/>
          </a:prstGeom>
          <a:noFill/>
        </p:spPr>
        <p:txBody>
          <a:bodyPr wrap="none" lIns="0" rIns="0" tIns="0" bIns="0">
            <a:spAutoFit/>
          </a:bodyPr>
          <a:lstStyle/>
          <a:p>
            <a:r>
              <a:rPr sz="1150" b="0">
                <a:solidFill>
                  <a:srgbClr val="2E2E2E"/>
                </a:solidFill>
                <a:latin typeface="Calibri"/>
              </a:rPr>
              <a:t>blended ASP and defend margin as input costs move.</a:t>
            </a:r>
          </a:p>
        </p:txBody>
      </p:sp>
      <p:sp>
        <p:nvSpPr>
          <p:cNvPr id="34" name="TextBox 33"/>
          <p:cNvSpPr txBox="1"/>
          <p:nvPr/>
        </p:nvSpPr>
        <p:spPr>
          <a:xfrm>
            <a:off x="276225" y="2579377"/>
            <a:ext cx="4816264" cy="194310"/>
          </a:xfrm>
          <a:prstGeom prst="rect">
            <a:avLst/>
          </a:prstGeom>
          <a:noFill/>
        </p:spPr>
        <p:txBody>
          <a:bodyPr wrap="none" lIns="0" rIns="0" tIns="0" bIns="0">
            <a:spAutoFit/>
          </a:bodyPr>
          <a:lstStyle/>
          <a:p>
            <a:r>
              <a:rPr sz="1150" b="0">
                <a:solidFill>
                  <a:srgbClr val="2E2E2E"/>
                </a:solidFill>
                <a:latin typeface="Calibri"/>
              </a:rPr>
              <a:t>▪ Set transparent, corridor-based regional pricing to limit grey-market arbitrage.</a:t>
            </a:r>
          </a:p>
        </p:txBody>
      </p:sp>
      <p:sp>
        <p:nvSpPr>
          <p:cNvPr id="35" name="TextBox 34"/>
          <p:cNvSpPr txBox="1"/>
          <p:nvPr/>
        </p:nvSpPr>
        <p:spPr>
          <a:xfrm>
            <a:off x="6324600" y="1773181"/>
            <a:ext cx="5495453" cy="194310"/>
          </a:xfrm>
          <a:prstGeom prst="rect">
            <a:avLst/>
          </a:prstGeom>
          <a:noFill/>
        </p:spPr>
        <p:txBody>
          <a:bodyPr wrap="none" lIns="0" rIns="0" tIns="0" bIns="0">
            <a:spAutoFit/>
          </a:bodyPr>
          <a:lstStyle/>
          <a:p>
            <a:r>
              <a:rPr sz="1150" b="0">
                <a:solidFill>
                  <a:srgbClr val="2E2E2E"/>
                </a:solidFill>
                <a:latin typeface="Calibri"/>
              </a:rPr>
              <a:t>▪ Prioritise R&amp;D in the fastest-growing formulations a differentiated portfolio is the clearest</a:t>
            </a:r>
          </a:p>
        </p:txBody>
      </p:sp>
      <p:sp>
        <p:nvSpPr>
          <p:cNvPr id="36" name="TextBox 35"/>
          <p:cNvSpPr txBox="1"/>
          <p:nvPr/>
        </p:nvSpPr>
        <p:spPr>
          <a:xfrm>
            <a:off x="6324600" y="1948441"/>
            <a:ext cx="1660500" cy="194310"/>
          </a:xfrm>
          <a:prstGeom prst="rect">
            <a:avLst/>
          </a:prstGeom>
          <a:noFill/>
        </p:spPr>
        <p:txBody>
          <a:bodyPr wrap="none" lIns="0" rIns="0" tIns="0" bIns="0">
            <a:spAutoFit/>
          </a:bodyPr>
          <a:lstStyle/>
          <a:p>
            <a:r>
              <a:rPr sz="1150" b="0">
                <a:solidFill>
                  <a:srgbClr val="2E2E2E"/>
                </a:solidFill>
                <a:latin typeface="Calibri"/>
              </a:rPr>
              <a:t>route to out-growing the ~</a:t>
            </a:r>
          </a:p>
        </p:txBody>
      </p:sp>
      <p:pic>
        <p:nvPicPr>
          <p:cNvPr id="37" name="Picture 36" descr="lock.png"/>
          <p:cNvPicPr>
            <a:picLocks noChangeAspect="1"/>
          </p:cNvPicPr>
          <p:nvPr/>
        </p:nvPicPr>
        <p:blipFill>
          <a:blip r:embed="rId4"/>
          <a:stretch>
            <a:fillRect/>
          </a:stretch>
        </p:blipFill>
        <p:spPr>
          <a:xfrm>
            <a:off x="7934254" y="1938217"/>
            <a:ext cx="134549" cy="195707"/>
          </a:xfrm>
          <a:prstGeom prst="rect">
            <a:avLst/>
          </a:prstGeom>
        </p:spPr>
      </p:pic>
      <p:sp>
        <p:nvSpPr>
          <p:cNvPr id="38" name="TextBox 37"/>
          <p:cNvSpPr txBox="1"/>
          <p:nvPr/>
        </p:nvSpPr>
        <p:spPr>
          <a:xfrm>
            <a:off x="8109363" y="1948441"/>
            <a:ext cx="905700" cy="194310"/>
          </a:xfrm>
          <a:prstGeom prst="rect">
            <a:avLst/>
          </a:prstGeom>
          <a:noFill/>
        </p:spPr>
        <p:txBody>
          <a:bodyPr wrap="none" lIns="0" rIns="0" tIns="0" bIns="0">
            <a:spAutoFit/>
          </a:bodyPr>
          <a:lstStyle/>
          <a:p>
            <a:r>
              <a:rPr sz="1150" b="0">
                <a:solidFill>
                  <a:srgbClr val="2E2E2E"/>
                </a:solidFill>
                <a:latin typeface="Calibri"/>
              </a:rPr>
              <a:t>market CAGR.</a:t>
            </a:r>
          </a:p>
        </p:txBody>
      </p:sp>
      <p:sp>
        <p:nvSpPr>
          <p:cNvPr id="39" name="TextBox 38"/>
          <p:cNvSpPr txBox="1"/>
          <p:nvPr/>
        </p:nvSpPr>
        <p:spPr>
          <a:xfrm>
            <a:off x="6324600" y="2176279"/>
            <a:ext cx="5383919" cy="194310"/>
          </a:xfrm>
          <a:prstGeom prst="rect">
            <a:avLst/>
          </a:prstGeom>
          <a:noFill/>
        </p:spPr>
        <p:txBody>
          <a:bodyPr wrap="none" lIns="0" rIns="0" tIns="0" bIns="0">
            <a:spAutoFit/>
          </a:bodyPr>
          <a:lstStyle/>
          <a:p>
            <a:r>
              <a:rPr sz="1150" b="0">
                <a:solidFill>
                  <a:srgbClr val="2E2E2E"/>
                </a:solidFill>
                <a:latin typeface="Calibri"/>
              </a:rPr>
              <a:t>▪ Pursue certification and clinical validation to build switching costs and support premium</a:t>
            </a:r>
          </a:p>
        </p:txBody>
      </p:sp>
      <p:sp>
        <p:nvSpPr>
          <p:cNvPr id="40" name="TextBox 39"/>
          <p:cNvSpPr txBox="1"/>
          <p:nvPr/>
        </p:nvSpPr>
        <p:spPr>
          <a:xfrm>
            <a:off x="6324600" y="2351539"/>
            <a:ext cx="773075" cy="194310"/>
          </a:xfrm>
          <a:prstGeom prst="rect">
            <a:avLst/>
          </a:prstGeom>
          <a:noFill/>
        </p:spPr>
        <p:txBody>
          <a:bodyPr wrap="none" lIns="0" rIns="0" tIns="0" bIns="0">
            <a:spAutoFit/>
          </a:bodyPr>
          <a:lstStyle/>
          <a:p>
            <a:r>
              <a:rPr sz="1150" b="0">
                <a:solidFill>
                  <a:srgbClr val="2E2E2E"/>
                </a:solidFill>
                <a:latin typeface="Calibri"/>
              </a:rPr>
              <a:t>positioning.</a:t>
            </a:r>
          </a:p>
        </p:txBody>
      </p:sp>
      <p:sp>
        <p:nvSpPr>
          <p:cNvPr id="41" name="TextBox 40"/>
          <p:cNvSpPr txBox="1"/>
          <p:nvPr/>
        </p:nvSpPr>
        <p:spPr>
          <a:xfrm>
            <a:off x="6324600" y="2579377"/>
            <a:ext cx="3931406" cy="194310"/>
          </a:xfrm>
          <a:prstGeom prst="rect">
            <a:avLst/>
          </a:prstGeom>
          <a:noFill/>
        </p:spPr>
        <p:txBody>
          <a:bodyPr wrap="none" lIns="0" rIns="0" tIns="0" bIns="0">
            <a:spAutoFit/>
          </a:bodyPr>
          <a:lstStyle/>
          <a:p>
            <a:r>
              <a:rPr sz="1150" b="0">
                <a:solidFill>
                  <a:srgbClr val="2E2E2E"/>
                </a:solidFill>
                <a:latin typeface="Calibri"/>
              </a:rPr>
              <a:t>▪ Localise formats and pack sizes to each channel and geography.</a:t>
            </a:r>
          </a:p>
        </p:txBody>
      </p:sp>
      <p:sp>
        <p:nvSpPr>
          <p:cNvPr id="42" name="TextBox 41"/>
          <p:cNvSpPr txBox="1"/>
          <p:nvPr/>
        </p:nvSpPr>
        <p:spPr>
          <a:xfrm>
            <a:off x="6324600" y="4465602"/>
            <a:ext cx="3423654" cy="194310"/>
          </a:xfrm>
          <a:prstGeom prst="rect">
            <a:avLst/>
          </a:prstGeom>
          <a:noFill/>
        </p:spPr>
        <p:txBody>
          <a:bodyPr wrap="none" lIns="0" rIns="0" tIns="0" bIns="0">
            <a:spAutoFit/>
          </a:bodyPr>
          <a:lstStyle/>
          <a:p>
            <a:r>
              <a:rPr sz="1150" b="0">
                <a:solidFill>
                  <a:srgbClr val="2E2E2E"/>
                </a:solidFill>
                <a:latin typeface="Calibri"/>
              </a:rPr>
              <a:t>▪ Benchmark relentlessly against 'Dentsply Sirona Inc.' (~</a:t>
            </a:r>
          </a:p>
        </p:txBody>
      </p:sp>
      <p:pic>
        <p:nvPicPr>
          <p:cNvPr id="43" name="Picture 42" descr="lock.png"/>
          <p:cNvPicPr>
            <a:picLocks noChangeAspect="1"/>
          </p:cNvPicPr>
          <p:nvPr/>
        </p:nvPicPr>
        <p:blipFill>
          <a:blip r:embed="rId4"/>
          <a:stretch>
            <a:fillRect/>
          </a:stretch>
        </p:blipFill>
        <p:spPr>
          <a:xfrm>
            <a:off x="9697408" y="4455378"/>
            <a:ext cx="134549" cy="195707"/>
          </a:xfrm>
          <a:prstGeom prst="rect">
            <a:avLst/>
          </a:prstGeom>
        </p:spPr>
      </p:pic>
      <p:sp>
        <p:nvSpPr>
          <p:cNvPr id="44" name="TextBox 43"/>
          <p:cNvSpPr txBox="1"/>
          <p:nvPr/>
        </p:nvSpPr>
        <p:spPr>
          <a:xfrm>
            <a:off x="9872517" y="4465602"/>
            <a:ext cx="1746646" cy="194310"/>
          </a:xfrm>
          <a:prstGeom prst="rect">
            <a:avLst/>
          </a:prstGeom>
          <a:noFill/>
        </p:spPr>
        <p:txBody>
          <a:bodyPr wrap="none" lIns="0" rIns="0" tIns="0" bIns="0">
            <a:spAutoFit/>
          </a:bodyPr>
          <a:lstStyle/>
          <a:p>
            <a:r>
              <a:rPr sz="1150" b="0">
                <a:solidFill>
                  <a:srgbClr val="2E2E2E"/>
                </a:solidFill>
                <a:latin typeface="Calibri"/>
              </a:rPr>
              <a:t>share) match on service and</a:t>
            </a:r>
          </a:p>
        </p:txBody>
      </p:sp>
      <p:sp>
        <p:nvSpPr>
          <p:cNvPr id="45" name="TextBox 44"/>
          <p:cNvSpPr txBox="1"/>
          <p:nvPr/>
        </p:nvSpPr>
        <p:spPr>
          <a:xfrm>
            <a:off x="6324600" y="4640861"/>
            <a:ext cx="2033327" cy="194310"/>
          </a:xfrm>
          <a:prstGeom prst="rect">
            <a:avLst/>
          </a:prstGeom>
          <a:noFill/>
        </p:spPr>
        <p:txBody>
          <a:bodyPr wrap="none" lIns="0" rIns="0" tIns="0" bIns="0">
            <a:spAutoFit/>
          </a:bodyPr>
          <a:lstStyle/>
          <a:p>
            <a:r>
              <a:rPr sz="1150" b="0">
                <a:solidFill>
                  <a:srgbClr val="2E2E2E"/>
                </a:solidFill>
                <a:latin typeface="Calibri"/>
              </a:rPr>
              <a:t>lead on innovation to take share.</a:t>
            </a:r>
          </a:p>
        </p:txBody>
      </p:sp>
      <p:sp>
        <p:nvSpPr>
          <p:cNvPr id="46" name="TextBox 45"/>
          <p:cNvSpPr txBox="1"/>
          <p:nvPr/>
        </p:nvSpPr>
        <p:spPr>
          <a:xfrm>
            <a:off x="6324600" y="4868699"/>
            <a:ext cx="5455518" cy="194310"/>
          </a:xfrm>
          <a:prstGeom prst="rect">
            <a:avLst/>
          </a:prstGeom>
          <a:noFill/>
        </p:spPr>
        <p:txBody>
          <a:bodyPr wrap="none" lIns="0" rIns="0" tIns="0" bIns="0">
            <a:spAutoFit/>
          </a:bodyPr>
          <a:lstStyle/>
          <a:p>
            <a:r>
              <a:rPr sz="1150" b="0">
                <a:solidFill>
                  <a:srgbClr val="2E2E2E"/>
                </a:solidFill>
                <a:latin typeface="Calibri"/>
              </a:rPr>
              <a:t>▪ Diversify the customer base to cut dependence on a few large accounts and single-region</a:t>
            </a:r>
          </a:p>
        </p:txBody>
      </p:sp>
      <p:sp>
        <p:nvSpPr>
          <p:cNvPr id="47" name="TextBox 46"/>
          <p:cNvSpPr txBox="1"/>
          <p:nvPr/>
        </p:nvSpPr>
        <p:spPr>
          <a:xfrm>
            <a:off x="6324600" y="5043959"/>
            <a:ext cx="660400" cy="194310"/>
          </a:xfrm>
          <a:prstGeom prst="rect">
            <a:avLst/>
          </a:prstGeom>
          <a:noFill/>
        </p:spPr>
        <p:txBody>
          <a:bodyPr wrap="none" lIns="0" rIns="0" tIns="0" bIns="0">
            <a:spAutoFit/>
          </a:bodyPr>
          <a:lstStyle/>
          <a:p>
            <a:r>
              <a:rPr sz="1150" b="0">
                <a:solidFill>
                  <a:srgbClr val="2E2E2E"/>
                </a:solidFill>
                <a:latin typeface="Calibri"/>
              </a:rPr>
              <a:t>exposure.</a:t>
            </a:r>
          </a:p>
        </p:txBody>
      </p:sp>
      <p:sp>
        <p:nvSpPr>
          <p:cNvPr id="48" name="TextBox 47"/>
          <p:cNvSpPr txBox="1"/>
          <p:nvPr/>
        </p:nvSpPr>
        <p:spPr>
          <a:xfrm>
            <a:off x="6324600" y="5271797"/>
            <a:ext cx="5230167" cy="194310"/>
          </a:xfrm>
          <a:prstGeom prst="rect">
            <a:avLst/>
          </a:prstGeom>
          <a:noFill/>
        </p:spPr>
        <p:txBody>
          <a:bodyPr wrap="none" lIns="0" rIns="0" tIns="0" bIns="0">
            <a:spAutoFit/>
          </a:bodyPr>
          <a:lstStyle/>
          <a:p>
            <a:r>
              <a:rPr sz="1150" b="0">
                <a:solidFill>
                  <a:srgbClr val="2E2E2E"/>
                </a:solidFill>
                <a:latin typeface="Calibri"/>
              </a:rPr>
              <a:t>▪ Stress-test for regulatory, currency and supply shocks; keep flexible capacity and dual</a:t>
            </a:r>
          </a:p>
        </p:txBody>
      </p:sp>
      <p:sp>
        <p:nvSpPr>
          <p:cNvPr id="49" name="TextBox 48"/>
          <p:cNvSpPr txBox="1"/>
          <p:nvPr/>
        </p:nvSpPr>
        <p:spPr>
          <a:xfrm>
            <a:off x="6324600" y="5447057"/>
            <a:ext cx="615900" cy="194310"/>
          </a:xfrm>
          <a:prstGeom prst="rect">
            <a:avLst/>
          </a:prstGeom>
          <a:noFill/>
        </p:spPr>
        <p:txBody>
          <a:bodyPr wrap="none" lIns="0" rIns="0" tIns="0" bIns="0">
            <a:spAutoFit/>
          </a:bodyPr>
          <a:lstStyle/>
          <a:p>
            <a:r>
              <a:rPr sz="1150" b="0">
                <a:solidFill>
                  <a:srgbClr val="2E2E2E"/>
                </a:solidFill>
                <a:latin typeface="Calibri"/>
              </a:rPr>
              <a:t>sourcing.</a:t>
            </a:r>
          </a:p>
        </p:txBody>
      </p:sp>
    </p:spTree>
  </p:cSld>
  <p:clrMapOvr>
    <a:masterClrMapping/>
  </p:clrMapOvr>
</p:sld>
</file>

<file path=ppt/slides/slide2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Company Value Share (Global)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value share by company in the global market, 2025, highlighting leadership and the long tail</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Global</a:t>
            </a:r>
          </a:p>
        </p:txBody>
      </p:sp>
      <p:sp>
        <p:nvSpPr>
          <p:cNvPr id="11" name="Rounded Rectangle 10"/>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Target market value share by key companies leadership, concentration and how the competitive mix shifts by region.</a:t>
            </a:r>
          </a:p>
        </p:txBody>
      </p:sp>
      <p:sp>
        <p:nvSpPr>
          <p:cNvPr id="12" name="Rounded Rectangle 11"/>
          <p:cNvSpPr/>
          <p:nvPr/>
        </p:nvSpPr>
        <p:spPr>
          <a:xfrm>
            <a:off x="142875" y="1354081"/>
            <a:ext cx="7543800" cy="5220558"/>
          </a:xfrm>
          <a:prstGeom prst="roundRect">
            <a:avLst>
              <a:gd name="adj" fmla="val 14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38125" y="1411231"/>
            <a:ext cx="73533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Share by Key Company (US$ Mn, 2026)</a:t>
            </a:r>
          </a:p>
        </p:txBody>
      </p:sp>
      <p:graphicFrame>
        <p:nvGraphicFramePr>
          <p:cNvPr id="14" name="Chart 13"/>
          <p:cNvGraphicFramePr>
            <a:graphicFrameLocks noGrp="1"/>
          </p:cNvGraphicFramePr>
          <p:nvPr/>
        </p:nvGraphicFramePr>
        <p:xfrm>
          <a:off x="238125" y="1639831"/>
          <a:ext cx="7353300" cy="4877658"/>
        </p:xfrm>
        <a:graphic>
          <a:graphicData uri="http://schemas.openxmlformats.org/drawingml/2006/chart">
            <c:chart xmlns:c="http://schemas.openxmlformats.org/drawingml/2006/chart" r:id="rId3"/>
          </a:graphicData>
        </a:graphic>
      </p:graphicFrame>
      <p:sp>
        <p:nvSpPr>
          <p:cNvPr id="15" name="TextBox 14"/>
          <p:cNvSpPr txBox="1"/>
          <p:nvPr/>
        </p:nvSpPr>
        <p:spPr>
          <a:xfrm>
            <a:off x="2049780" y="3878635"/>
            <a:ext cx="1524000" cy="400050"/>
          </a:xfrm>
          <a:prstGeom prst="rect">
            <a:avLst/>
          </a:prstGeom>
          <a:noFill/>
        </p:spPr>
        <p:txBody>
          <a:bodyPr wrap="square" lIns="28575" rIns="28575" tIns="9525" bIns="9525" anchor="ctr">
            <a:spAutoFit/>
          </a:bodyPr>
          <a:lstStyle/>
          <a:p>
            <a:pPr algn="ctr"/>
            <a:r>
              <a:rPr sz="1300" b="1">
                <a:solidFill>
                  <a:srgbClr val="2E2E2E"/>
                </a:solidFill>
                <a:latin typeface="Calibri"/>
              </a:rPr>
              <a:t/>
            </a:r>
          </a:p>
          <a:p>
            <a:pPr algn="ctr"/>
            <a:r>
              <a:rPr sz="1300" b="1">
                <a:solidFill>
                  <a:srgbClr val="2E2E2E"/>
                </a:solidFill>
                <a:latin typeface="Calibri"/>
              </a:rPr>
              <a:t/>
            </a:r>
          </a:p>
        </p:txBody>
      </p:sp>
      <p:sp>
        <p:nvSpPr>
          <p:cNvPr id="16" name="Rounded Rectangle 15"/>
          <p:cNvSpPr/>
          <p:nvPr/>
        </p:nvSpPr>
        <p:spPr>
          <a:xfrm>
            <a:off x="7800975" y="1354081"/>
            <a:ext cx="4248150" cy="5220558"/>
          </a:xfrm>
          <a:prstGeom prst="roundRect">
            <a:avLst>
              <a:gd name="adj" fmla="val 17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7934325" y="1439806"/>
            <a:ext cx="39814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18" name="Rectangle 17"/>
          <p:cNvSpPr/>
          <p:nvPr/>
        </p:nvSpPr>
        <p:spPr>
          <a:xfrm>
            <a:off x="7934325" y="1677931"/>
            <a:ext cx="39814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7934325" y="1763656"/>
            <a:ext cx="3981450" cy="4734783"/>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0" name="TextBox 1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1" name="Picture 20" descr="lock.png"/>
          <p:cNvPicPr>
            <a:picLocks noChangeAspect="1"/>
          </p:cNvPicPr>
          <p:nvPr/>
        </p:nvPicPr>
        <p:blipFill>
          <a:blip r:embed="rId5"/>
          <a:stretch>
            <a:fillRect/>
          </a:stretch>
        </p:blipFill>
        <p:spPr>
          <a:xfrm>
            <a:off x="2533173" y="3678610"/>
            <a:ext cx="523875" cy="762000"/>
          </a:xfrm>
          <a:prstGeom prst="rect">
            <a:avLst/>
          </a:prstGeom>
        </p:spPr>
      </p:pic>
      <p:sp>
        <p:nvSpPr>
          <p:cNvPr id="22" name="TextBox 21"/>
          <p:cNvSpPr txBox="1"/>
          <p:nvPr/>
        </p:nvSpPr>
        <p:spPr>
          <a:xfrm>
            <a:off x="2634865" y="3914616"/>
            <a:ext cx="430029" cy="161696"/>
          </a:xfrm>
          <a:prstGeom prst="rect">
            <a:avLst/>
          </a:prstGeom>
          <a:noFill/>
        </p:spPr>
        <p:txBody>
          <a:bodyPr wrap="none" lIns="0" rIns="0" tIns="0" bIns="0">
            <a:spAutoFit/>
          </a:bodyPr>
          <a:lstStyle/>
          <a:p>
            <a:r>
              <a:rPr sz="935" b="1">
                <a:solidFill>
                  <a:srgbClr val="2E2E2E"/>
                </a:solidFill>
                <a:latin typeface="Calibri"/>
              </a:rPr>
              <a:t>100% =</a:t>
            </a:r>
          </a:p>
        </p:txBody>
      </p:sp>
      <p:pic>
        <p:nvPicPr>
          <p:cNvPr id="23" name="Picture 22" descr="lock.png"/>
          <p:cNvPicPr>
            <a:picLocks noChangeAspect="1"/>
          </p:cNvPicPr>
          <p:nvPr/>
        </p:nvPicPr>
        <p:blipFill>
          <a:blip r:embed="rId5"/>
          <a:stretch>
            <a:fillRect/>
          </a:stretch>
        </p:blipFill>
        <p:spPr>
          <a:xfrm>
            <a:off x="2540344" y="4091735"/>
            <a:ext cx="109510" cy="159288"/>
          </a:xfrm>
          <a:prstGeom prst="rect">
            <a:avLst/>
          </a:prstGeom>
        </p:spPr>
      </p:pic>
      <p:sp>
        <p:nvSpPr>
          <p:cNvPr id="24" name="TextBox 23"/>
          <p:cNvSpPr txBox="1"/>
          <p:nvPr/>
        </p:nvSpPr>
        <p:spPr>
          <a:xfrm>
            <a:off x="2682868" y="4100056"/>
            <a:ext cx="465087" cy="161696"/>
          </a:xfrm>
          <a:prstGeom prst="rect">
            <a:avLst/>
          </a:prstGeom>
          <a:noFill/>
        </p:spPr>
        <p:txBody>
          <a:bodyPr wrap="none" lIns="0" rIns="0" tIns="0" bIns="0">
            <a:spAutoFit/>
          </a:bodyPr>
          <a:lstStyle/>
          <a:p>
            <a:r>
              <a:rPr sz="935" b="1">
                <a:solidFill>
                  <a:srgbClr val="2E2E2E"/>
                </a:solidFill>
                <a:latin typeface="Calibri"/>
              </a:rPr>
              <a:t>US$ Mn</a:t>
            </a:r>
          </a:p>
        </p:txBody>
      </p:sp>
      <p:sp>
        <p:nvSpPr>
          <p:cNvPr id="25" name="TextBox 24"/>
          <p:cNvSpPr txBox="1"/>
          <p:nvPr/>
        </p:nvSpPr>
        <p:spPr>
          <a:xfrm>
            <a:off x="7934325" y="1773181"/>
            <a:ext cx="3919996" cy="194310"/>
          </a:xfrm>
          <a:prstGeom prst="rect">
            <a:avLst/>
          </a:prstGeom>
          <a:noFill/>
        </p:spPr>
        <p:txBody>
          <a:bodyPr wrap="none" lIns="0" rIns="0" tIns="0" bIns="0">
            <a:spAutoFit/>
          </a:bodyPr>
          <a:lstStyle/>
          <a:p>
            <a:r>
              <a:rPr sz="1150" b="0">
                <a:solidFill>
                  <a:srgbClr val="2E2E2E"/>
                </a:solidFill>
                <a:latin typeface="Calibri"/>
              </a:rPr>
              <a:t>Dentsply Sirona Inc. accounted for the largest share of the global</a:t>
            </a:r>
          </a:p>
        </p:txBody>
      </p:sp>
      <p:sp>
        <p:nvSpPr>
          <p:cNvPr id="26" name="TextBox 25"/>
          <p:cNvSpPr txBox="1"/>
          <p:nvPr/>
        </p:nvSpPr>
        <p:spPr>
          <a:xfrm>
            <a:off x="7934325" y="1948441"/>
            <a:ext cx="3962400" cy="194310"/>
          </a:xfrm>
          <a:prstGeom prst="rect">
            <a:avLst/>
          </a:prstGeom>
          <a:noFill/>
        </p:spPr>
        <p:txBody>
          <a:bodyPr wrap="none" lIns="0" rIns="0" tIns="0" bIns="0">
            <a:spAutoFit/>
          </a:bodyPr>
          <a:lstStyle/>
          <a:p>
            <a:r>
              <a:rPr sz="1150" b="0">
                <a:solidFill>
                  <a:srgbClr val="2E2E2E"/>
                </a:solidFill>
                <a:latin typeface="Calibri"/>
              </a:rPr>
              <a:t>removable partial dentures market in 2026. The global removable</a:t>
            </a:r>
          </a:p>
        </p:txBody>
      </p:sp>
      <p:sp>
        <p:nvSpPr>
          <p:cNvPr id="27" name="TextBox 26"/>
          <p:cNvSpPr txBox="1"/>
          <p:nvPr/>
        </p:nvSpPr>
        <p:spPr>
          <a:xfrm>
            <a:off x="7934325" y="2123701"/>
            <a:ext cx="3957649" cy="194310"/>
          </a:xfrm>
          <a:prstGeom prst="rect">
            <a:avLst/>
          </a:prstGeom>
          <a:noFill/>
        </p:spPr>
        <p:txBody>
          <a:bodyPr wrap="none" lIns="0" rIns="0" tIns="0" bIns="0">
            <a:spAutoFit/>
          </a:bodyPr>
          <a:lstStyle/>
          <a:p>
            <a:r>
              <a:rPr sz="1150" b="0">
                <a:solidFill>
                  <a:srgbClr val="2E2E2E"/>
                </a:solidFill>
                <a:latin typeface="Calibri"/>
              </a:rPr>
              <a:t>partial dentures market is fragmented, with the top three players</a:t>
            </a:r>
          </a:p>
        </p:txBody>
      </p:sp>
      <p:sp>
        <p:nvSpPr>
          <p:cNvPr id="28" name="TextBox 27"/>
          <p:cNvSpPr txBox="1"/>
          <p:nvPr/>
        </p:nvSpPr>
        <p:spPr>
          <a:xfrm>
            <a:off x="7934325" y="2298961"/>
            <a:ext cx="1744650" cy="194310"/>
          </a:xfrm>
          <a:prstGeom prst="rect">
            <a:avLst/>
          </a:prstGeom>
          <a:noFill/>
        </p:spPr>
        <p:txBody>
          <a:bodyPr wrap="none" lIns="0" rIns="0" tIns="0" bIns="0">
            <a:spAutoFit/>
          </a:bodyPr>
          <a:lstStyle/>
          <a:p>
            <a:r>
              <a:rPr sz="1150" b="0">
                <a:solidFill>
                  <a:srgbClr val="2E2E2E"/>
                </a:solidFill>
                <a:latin typeface="Calibri"/>
              </a:rPr>
              <a:t>accounting for an estimated</a:t>
            </a:r>
          </a:p>
        </p:txBody>
      </p:sp>
      <p:pic>
        <p:nvPicPr>
          <p:cNvPr id="29" name="Picture 28" descr="lock.png"/>
          <p:cNvPicPr>
            <a:picLocks noChangeAspect="1"/>
          </p:cNvPicPr>
          <p:nvPr/>
        </p:nvPicPr>
        <p:blipFill>
          <a:blip r:embed="rId5"/>
          <a:stretch>
            <a:fillRect/>
          </a:stretch>
        </p:blipFill>
        <p:spPr>
          <a:xfrm>
            <a:off x="9628129" y="2288737"/>
            <a:ext cx="134549" cy="195707"/>
          </a:xfrm>
          <a:prstGeom prst="rect">
            <a:avLst/>
          </a:prstGeom>
        </p:spPr>
      </p:pic>
      <p:sp>
        <p:nvSpPr>
          <p:cNvPr id="30" name="TextBox 29"/>
          <p:cNvSpPr txBox="1"/>
          <p:nvPr/>
        </p:nvSpPr>
        <p:spPr>
          <a:xfrm>
            <a:off x="9803238" y="2298961"/>
            <a:ext cx="1758912" cy="194310"/>
          </a:xfrm>
          <a:prstGeom prst="rect">
            <a:avLst/>
          </a:prstGeom>
          <a:noFill/>
        </p:spPr>
        <p:txBody>
          <a:bodyPr wrap="none" lIns="0" rIns="0" tIns="0" bIns="0">
            <a:spAutoFit/>
          </a:bodyPr>
          <a:lstStyle/>
          <a:p>
            <a:r>
              <a:rPr sz="1150" b="0">
                <a:solidFill>
                  <a:srgbClr val="2E2E2E"/>
                </a:solidFill>
                <a:latin typeface="Calibri"/>
              </a:rPr>
              <a:t>share of the market in 2026.</a:t>
            </a:r>
          </a:p>
        </p:txBody>
      </p:sp>
      <p:sp>
        <p:nvSpPr>
          <p:cNvPr id="31" name="TextBox 30"/>
          <p:cNvSpPr txBox="1"/>
          <p:nvPr/>
        </p:nvSpPr>
        <p:spPr>
          <a:xfrm>
            <a:off x="7934325" y="2526799"/>
            <a:ext cx="2923889" cy="194310"/>
          </a:xfrm>
          <a:prstGeom prst="rect">
            <a:avLst/>
          </a:prstGeom>
          <a:noFill/>
        </p:spPr>
        <p:txBody>
          <a:bodyPr wrap="none" lIns="0" rIns="0" tIns="0" bIns="0">
            <a:spAutoFit/>
          </a:bodyPr>
          <a:lstStyle/>
          <a:p>
            <a:r>
              <a:rPr sz="1150" b="0">
                <a:solidFill>
                  <a:srgbClr val="2E2E2E"/>
                </a:solidFill>
                <a:latin typeface="Calibri"/>
              </a:rPr>
              <a:t>Dentsply Sirona Inc. accounted for an estimated</a:t>
            </a:r>
          </a:p>
        </p:txBody>
      </p:sp>
      <p:pic>
        <p:nvPicPr>
          <p:cNvPr id="32" name="Picture 31" descr="lock.png"/>
          <p:cNvPicPr>
            <a:picLocks noChangeAspect="1"/>
          </p:cNvPicPr>
          <p:nvPr/>
        </p:nvPicPr>
        <p:blipFill>
          <a:blip r:embed="rId5"/>
          <a:stretch>
            <a:fillRect/>
          </a:stretch>
        </p:blipFill>
        <p:spPr>
          <a:xfrm>
            <a:off x="10807368" y="2516575"/>
            <a:ext cx="134549" cy="195707"/>
          </a:xfrm>
          <a:prstGeom prst="rect">
            <a:avLst/>
          </a:prstGeom>
        </p:spPr>
      </p:pic>
      <p:sp>
        <p:nvSpPr>
          <p:cNvPr id="33" name="TextBox 32"/>
          <p:cNvSpPr txBox="1"/>
          <p:nvPr/>
        </p:nvSpPr>
        <p:spPr>
          <a:xfrm>
            <a:off x="10982477" y="2526799"/>
            <a:ext cx="789905" cy="194310"/>
          </a:xfrm>
          <a:prstGeom prst="rect">
            <a:avLst/>
          </a:prstGeom>
          <a:noFill/>
        </p:spPr>
        <p:txBody>
          <a:bodyPr wrap="none" lIns="0" rIns="0" tIns="0" bIns="0">
            <a:spAutoFit/>
          </a:bodyPr>
          <a:lstStyle/>
          <a:p>
            <a:r>
              <a:rPr sz="1150" b="0">
                <a:solidFill>
                  <a:srgbClr val="2E2E2E"/>
                </a:solidFill>
                <a:latin typeface="Calibri"/>
              </a:rPr>
              <a:t>share of the</a:t>
            </a:r>
          </a:p>
        </p:txBody>
      </p:sp>
      <p:sp>
        <p:nvSpPr>
          <p:cNvPr id="34" name="TextBox 33"/>
          <p:cNvSpPr txBox="1"/>
          <p:nvPr/>
        </p:nvSpPr>
        <p:spPr>
          <a:xfrm>
            <a:off x="7934325" y="2702058"/>
            <a:ext cx="2764129" cy="194310"/>
          </a:xfrm>
          <a:prstGeom prst="rect">
            <a:avLst/>
          </a:prstGeom>
          <a:noFill/>
        </p:spPr>
        <p:txBody>
          <a:bodyPr wrap="none" lIns="0" rIns="0" tIns="0" bIns="0">
            <a:spAutoFit/>
          </a:bodyPr>
          <a:lstStyle/>
          <a:p>
            <a:r>
              <a:rPr sz="1150" b="0">
                <a:solidFill>
                  <a:srgbClr val="2E2E2E"/>
                </a:solidFill>
                <a:latin typeface="Calibri"/>
              </a:rPr>
              <a:t>market, followed by Ivoclar Vivadent AG with</a:t>
            </a:r>
          </a:p>
        </p:txBody>
      </p:sp>
      <p:pic>
        <p:nvPicPr>
          <p:cNvPr id="35" name="Picture 34" descr="lock.png"/>
          <p:cNvPicPr>
            <a:picLocks noChangeAspect="1"/>
          </p:cNvPicPr>
          <p:nvPr/>
        </p:nvPicPr>
        <p:blipFill>
          <a:blip r:embed="rId5"/>
          <a:stretch>
            <a:fillRect/>
          </a:stretch>
        </p:blipFill>
        <p:spPr>
          <a:xfrm>
            <a:off x="10647608" y="2691835"/>
            <a:ext cx="134549" cy="195707"/>
          </a:xfrm>
          <a:prstGeom prst="rect">
            <a:avLst/>
          </a:prstGeom>
        </p:spPr>
      </p:pic>
      <p:sp>
        <p:nvSpPr>
          <p:cNvPr id="36" name="TextBox 35"/>
          <p:cNvSpPr txBox="1"/>
          <p:nvPr/>
        </p:nvSpPr>
        <p:spPr>
          <a:xfrm>
            <a:off x="10822717" y="2702058"/>
            <a:ext cx="1048019" cy="194310"/>
          </a:xfrm>
          <a:prstGeom prst="rect">
            <a:avLst/>
          </a:prstGeom>
          <a:noFill/>
        </p:spPr>
        <p:txBody>
          <a:bodyPr wrap="none" lIns="0" rIns="0" tIns="0" bIns="0">
            <a:spAutoFit/>
          </a:bodyPr>
          <a:lstStyle/>
          <a:p>
            <a:r>
              <a:rPr sz="1150" b="0">
                <a:solidFill>
                  <a:srgbClr val="2E2E2E"/>
                </a:solidFill>
                <a:latin typeface="Calibri"/>
              </a:rPr>
              <a:t>. Key players are</a:t>
            </a:r>
          </a:p>
        </p:txBody>
      </p:sp>
      <p:sp>
        <p:nvSpPr>
          <p:cNvPr id="37" name="TextBox 36"/>
          <p:cNvSpPr txBox="1"/>
          <p:nvPr/>
        </p:nvSpPr>
        <p:spPr>
          <a:xfrm>
            <a:off x="7934325" y="2877318"/>
            <a:ext cx="3551448" cy="194310"/>
          </a:xfrm>
          <a:prstGeom prst="rect">
            <a:avLst/>
          </a:prstGeom>
          <a:noFill/>
        </p:spPr>
        <p:txBody>
          <a:bodyPr wrap="none" lIns="0" rIns="0" tIns="0" bIns="0">
            <a:spAutoFit/>
          </a:bodyPr>
          <a:lstStyle/>
          <a:p>
            <a:r>
              <a:rPr sz="1150" b="0">
                <a:solidFill>
                  <a:srgbClr val="2E2E2E"/>
                </a:solidFill>
                <a:latin typeface="Calibri"/>
              </a:rPr>
              <a:t>focusing on product innovation, geographic expansion and</a:t>
            </a:r>
          </a:p>
        </p:txBody>
      </p:sp>
      <p:sp>
        <p:nvSpPr>
          <p:cNvPr id="38" name="TextBox 37"/>
          <p:cNvSpPr txBox="1"/>
          <p:nvPr/>
        </p:nvSpPr>
        <p:spPr>
          <a:xfrm>
            <a:off x="7934325" y="3052578"/>
            <a:ext cx="3540038" cy="194310"/>
          </a:xfrm>
          <a:prstGeom prst="rect">
            <a:avLst/>
          </a:prstGeom>
          <a:noFill/>
        </p:spPr>
        <p:txBody>
          <a:bodyPr wrap="none" lIns="0" rIns="0" tIns="0" bIns="0">
            <a:spAutoFit/>
          </a:bodyPr>
          <a:lstStyle/>
          <a:p>
            <a:r>
              <a:rPr sz="1150" b="0">
                <a:solidFill>
                  <a:srgbClr val="2E2E2E"/>
                </a:solidFill>
                <a:latin typeface="Calibri"/>
              </a:rPr>
              <a:t>strategic partnerships to strengthen their market position.</a:t>
            </a:r>
          </a:p>
        </p:txBody>
      </p:sp>
      <p:sp>
        <p:nvSpPr>
          <p:cNvPr id="39" name="TextBox 38"/>
          <p:cNvSpPr txBox="1"/>
          <p:nvPr/>
        </p:nvSpPr>
        <p:spPr>
          <a:xfrm>
            <a:off x="7934325" y="3280416"/>
            <a:ext cx="3647864" cy="194310"/>
          </a:xfrm>
          <a:prstGeom prst="rect">
            <a:avLst/>
          </a:prstGeom>
          <a:noFill/>
        </p:spPr>
        <p:txBody>
          <a:bodyPr wrap="none" lIns="0" rIns="0" tIns="0" bIns="0">
            <a:spAutoFit/>
          </a:bodyPr>
          <a:lstStyle/>
          <a:p>
            <a:r>
              <a:rPr sz="1150" b="0">
                <a:solidFill>
                  <a:srgbClr val="2E2E2E"/>
                </a:solidFill>
                <a:latin typeface="Calibri"/>
              </a:rPr>
              <a:t>Regional share differs from the global picture use the region</a:t>
            </a:r>
          </a:p>
        </p:txBody>
      </p:sp>
      <p:sp>
        <p:nvSpPr>
          <p:cNvPr id="40" name="TextBox 39"/>
          <p:cNvSpPr txBox="1"/>
          <p:nvPr/>
        </p:nvSpPr>
        <p:spPr>
          <a:xfrm>
            <a:off x="7934325" y="3455676"/>
            <a:ext cx="3444763" cy="194310"/>
          </a:xfrm>
          <a:prstGeom prst="rect">
            <a:avLst/>
          </a:prstGeom>
          <a:noFill/>
        </p:spPr>
        <p:txBody>
          <a:bodyPr wrap="none" lIns="0" rIns="0" tIns="0" bIns="0">
            <a:spAutoFit/>
          </a:bodyPr>
          <a:lstStyle/>
          <a:p>
            <a:r>
              <a:rPr sz="1150" b="0">
                <a:solidFill>
                  <a:srgbClr val="2E2E2E"/>
                </a:solidFill>
                <a:latin typeface="Calibri"/>
              </a:rPr>
              <a:t>selector to see how leadership shifts across geographies.</a:t>
            </a:r>
          </a:p>
        </p:txBody>
      </p:sp>
      <p:sp>
        <p:nvSpPr>
          <p:cNvPr id="41" name="lockshield_14"/>
          <p:cNvSpPr/>
          <p:nvPr/>
        </p:nvSpPr>
        <p:spPr>
          <a:xfrm>
            <a:off x="238125" y="1639831"/>
            <a:ext cx="7353300" cy="4877658"/>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Company Share by Product Type (Top 3)</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company value share within each leading product type, highlighting where leadership differs</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Company value share within each of the leading product types where each player concentrates, and how leadership varies by formulation.</a:t>
            </a:r>
          </a:p>
        </p:txBody>
      </p:sp>
      <p:sp>
        <p:nvSpPr>
          <p:cNvPr id="11" name="Rounded Rectangle 10"/>
          <p:cNvSpPr/>
          <p:nvPr/>
        </p:nvSpPr>
        <p:spPr>
          <a:xfrm>
            <a:off x="142875" y="1299320"/>
            <a:ext cx="38290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Flexible Partial Dentures</a:t>
            </a:r>
          </a:p>
        </p:txBody>
      </p:sp>
      <p:graphicFrame>
        <p:nvGraphicFramePr>
          <p:cNvPr id="13" name="Chart 12"/>
          <p:cNvGraphicFramePr>
            <a:graphicFrameLocks noGrp="1"/>
          </p:cNvGraphicFramePr>
          <p:nvPr/>
        </p:nvGraphicFramePr>
        <p:xfrm>
          <a:off x="238125" y="1585070"/>
          <a:ext cx="3638550" cy="2869751"/>
        </p:xfrm>
        <a:graphic>
          <a:graphicData uri="http://schemas.openxmlformats.org/drawingml/2006/chart">
            <c:chart xmlns:c="http://schemas.openxmlformats.org/drawingml/2006/chart" r:id="rId3"/>
          </a:graphicData>
        </a:graphic>
      </p:graphicFrame>
      <p:sp>
        <p:nvSpPr>
          <p:cNvPr id="14" name="Rounded Rectangle 13"/>
          <p:cNvSpPr/>
          <p:nvPr/>
        </p:nvSpPr>
        <p:spPr>
          <a:xfrm>
            <a:off x="4124325" y="1299320"/>
            <a:ext cx="38290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219575" y="1356470"/>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Combination Framework Partial Dentures</a:t>
            </a:r>
          </a:p>
        </p:txBody>
      </p:sp>
      <p:graphicFrame>
        <p:nvGraphicFramePr>
          <p:cNvPr id="16" name="Chart 15"/>
          <p:cNvGraphicFramePr>
            <a:graphicFrameLocks noGrp="1"/>
          </p:cNvGraphicFramePr>
          <p:nvPr/>
        </p:nvGraphicFramePr>
        <p:xfrm>
          <a:off x="4219575" y="1585070"/>
          <a:ext cx="3638550" cy="2869751"/>
        </p:xfrm>
        <a:graphic>
          <a:graphicData uri="http://schemas.openxmlformats.org/drawingml/2006/chart">
            <c:chart xmlns:c="http://schemas.openxmlformats.org/drawingml/2006/chart" r:id="rId4"/>
          </a:graphicData>
        </a:graphic>
      </p:graphicFrame>
      <p:sp>
        <p:nvSpPr>
          <p:cNvPr id="17" name="Rounded Rectangle 16"/>
          <p:cNvSpPr/>
          <p:nvPr/>
        </p:nvSpPr>
        <p:spPr>
          <a:xfrm>
            <a:off x="8105775" y="1299320"/>
            <a:ext cx="39433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8201025" y="1356470"/>
            <a:ext cx="3752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Cast Metal Partial Dentures</a:t>
            </a:r>
          </a:p>
        </p:txBody>
      </p:sp>
      <p:graphicFrame>
        <p:nvGraphicFramePr>
          <p:cNvPr id="19" name="Chart 18"/>
          <p:cNvGraphicFramePr>
            <a:graphicFrameLocks noGrp="1"/>
          </p:cNvGraphicFramePr>
          <p:nvPr/>
        </p:nvGraphicFramePr>
        <p:xfrm>
          <a:off x="8201025" y="1585070"/>
          <a:ext cx="3752850" cy="2869751"/>
        </p:xfrm>
        <a:graphic>
          <a:graphicData uri="http://schemas.openxmlformats.org/drawingml/2006/chart">
            <c:chart xmlns:c="http://schemas.openxmlformats.org/drawingml/2006/chart" r:id="rId5"/>
          </a:graphicData>
        </a:graphic>
      </p:graphicFrame>
      <p:sp>
        <p:nvSpPr>
          <p:cNvPr id="20" name="Rounded Rectangle 19"/>
          <p:cNvSpPr/>
          <p:nvPr/>
        </p:nvSpPr>
        <p:spPr>
          <a:xfrm>
            <a:off x="142875" y="4603240"/>
            <a:ext cx="11906250" cy="1971399"/>
          </a:xfrm>
          <a:prstGeom prst="roundRect">
            <a:avLst>
              <a:gd name="adj" fmla="val 38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468896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Company Share Key Takeaways</a:t>
            </a:r>
          </a:p>
        </p:txBody>
      </p:sp>
      <p:sp>
        <p:nvSpPr>
          <p:cNvPr id="22" name="Rectangle 21"/>
          <p:cNvSpPr/>
          <p:nvPr/>
        </p:nvSpPr>
        <p:spPr>
          <a:xfrm>
            <a:off x="276225" y="492709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76225" y="5012815"/>
            <a:ext cx="11639550" cy="1485624"/>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1233011" y="2619895"/>
            <a:ext cx="523875" cy="762000"/>
          </a:xfrm>
          <a:prstGeom prst="rect">
            <a:avLst/>
          </a:prstGeom>
        </p:spPr>
      </p:pic>
      <p:pic>
        <p:nvPicPr>
          <p:cNvPr id="26" name="Picture 25" descr="lock.png"/>
          <p:cNvPicPr>
            <a:picLocks noChangeAspect="1"/>
          </p:cNvPicPr>
          <p:nvPr/>
        </p:nvPicPr>
        <p:blipFill>
          <a:blip r:embed="rId7"/>
          <a:stretch>
            <a:fillRect/>
          </a:stretch>
        </p:blipFill>
        <p:spPr>
          <a:xfrm>
            <a:off x="5214461" y="2619895"/>
            <a:ext cx="523875" cy="762000"/>
          </a:xfrm>
          <a:prstGeom prst="rect">
            <a:avLst/>
          </a:prstGeom>
        </p:spPr>
      </p:pic>
      <p:pic>
        <p:nvPicPr>
          <p:cNvPr id="27" name="Picture 26" descr="lock.png"/>
          <p:cNvPicPr>
            <a:picLocks noChangeAspect="1"/>
          </p:cNvPicPr>
          <p:nvPr/>
        </p:nvPicPr>
        <p:blipFill>
          <a:blip r:embed="rId7"/>
          <a:stretch>
            <a:fillRect/>
          </a:stretch>
        </p:blipFill>
        <p:spPr>
          <a:xfrm>
            <a:off x="9235916" y="2619895"/>
            <a:ext cx="523875" cy="762000"/>
          </a:xfrm>
          <a:prstGeom prst="rect">
            <a:avLst/>
          </a:prstGeom>
        </p:spPr>
      </p:pic>
      <p:sp>
        <p:nvSpPr>
          <p:cNvPr id="28" name="TextBox 27"/>
          <p:cNvSpPr txBox="1"/>
          <p:nvPr/>
        </p:nvSpPr>
        <p:spPr>
          <a:xfrm>
            <a:off x="276225" y="5022340"/>
            <a:ext cx="3373065" cy="186689"/>
          </a:xfrm>
          <a:prstGeom prst="rect">
            <a:avLst/>
          </a:prstGeom>
          <a:noFill/>
        </p:spPr>
        <p:txBody>
          <a:bodyPr wrap="none" lIns="0" rIns="0" tIns="0" bIns="0">
            <a:spAutoFit/>
          </a:bodyPr>
          <a:lstStyle/>
          <a:p>
            <a:r>
              <a:rPr sz="1100" b="0">
                <a:solidFill>
                  <a:srgbClr val="2E2E2E"/>
                </a:solidFill>
                <a:latin typeface="Calibri"/>
              </a:rPr>
              <a:t>▪ Flexible Partial Dentures: 'Dentsply Sirona Inc.' leads at ~</a:t>
            </a:r>
          </a:p>
        </p:txBody>
      </p:sp>
      <p:pic>
        <p:nvPicPr>
          <p:cNvPr id="29" name="Picture 28" descr="lock.png"/>
          <p:cNvPicPr>
            <a:picLocks noChangeAspect="1"/>
          </p:cNvPicPr>
          <p:nvPr/>
        </p:nvPicPr>
        <p:blipFill>
          <a:blip r:embed="rId7"/>
          <a:stretch>
            <a:fillRect/>
          </a:stretch>
        </p:blipFill>
        <p:spPr>
          <a:xfrm>
            <a:off x="3597342" y="5012560"/>
            <a:ext cx="128699" cy="187198"/>
          </a:xfrm>
          <a:prstGeom prst="rect">
            <a:avLst/>
          </a:prstGeom>
        </p:spPr>
      </p:pic>
      <p:sp>
        <p:nvSpPr>
          <p:cNvPr id="30" name="TextBox 29"/>
          <p:cNvSpPr txBox="1"/>
          <p:nvPr/>
        </p:nvSpPr>
        <p:spPr>
          <a:xfrm>
            <a:off x="3764837" y="5022340"/>
            <a:ext cx="1757784" cy="186689"/>
          </a:xfrm>
          <a:prstGeom prst="rect">
            <a:avLst/>
          </a:prstGeom>
          <a:noFill/>
        </p:spPr>
        <p:txBody>
          <a:bodyPr wrap="none" lIns="0" rIns="0" tIns="0" bIns="0">
            <a:spAutoFit/>
          </a:bodyPr>
          <a:lstStyle/>
          <a:p>
            <a:r>
              <a:rPr sz="1100" b="0">
                <a:solidFill>
                  <a:srgbClr val="2E2E2E"/>
                </a:solidFill>
                <a:latin typeface="Calibri"/>
              </a:rPr>
              <a:t>, ahead of 'GC Corporation' (~</a:t>
            </a:r>
          </a:p>
        </p:txBody>
      </p:sp>
      <p:pic>
        <p:nvPicPr>
          <p:cNvPr id="31" name="Picture 30" descr="lock.png"/>
          <p:cNvPicPr>
            <a:picLocks noChangeAspect="1"/>
          </p:cNvPicPr>
          <p:nvPr/>
        </p:nvPicPr>
        <p:blipFill>
          <a:blip r:embed="rId7"/>
          <a:stretch>
            <a:fillRect/>
          </a:stretch>
        </p:blipFill>
        <p:spPr>
          <a:xfrm>
            <a:off x="5470673" y="5012560"/>
            <a:ext cx="128699" cy="187198"/>
          </a:xfrm>
          <a:prstGeom prst="rect">
            <a:avLst/>
          </a:prstGeom>
        </p:spPr>
      </p:pic>
      <p:sp>
        <p:nvSpPr>
          <p:cNvPr id="32" name="TextBox 31"/>
          <p:cNvSpPr txBox="1"/>
          <p:nvPr/>
        </p:nvSpPr>
        <p:spPr>
          <a:xfrm>
            <a:off x="5638169" y="5022340"/>
            <a:ext cx="1328588" cy="186689"/>
          </a:xfrm>
          <a:prstGeom prst="rect">
            <a:avLst/>
          </a:prstGeom>
          <a:noFill/>
        </p:spPr>
        <p:txBody>
          <a:bodyPr wrap="none" lIns="0" rIns="0" tIns="0" bIns="0">
            <a:spAutoFit/>
          </a:bodyPr>
          <a:lstStyle/>
          <a:p>
            <a:r>
              <a:rPr sz="1100" b="0">
                <a:solidFill>
                  <a:srgbClr val="2E2E2E"/>
                </a:solidFill>
                <a:latin typeface="Calibri"/>
              </a:rPr>
              <a:t>); the top three hold ~</a:t>
            </a:r>
          </a:p>
        </p:txBody>
      </p:sp>
      <p:pic>
        <p:nvPicPr>
          <p:cNvPr id="33" name="Picture 32" descr="lock.png"/>
          <p:cNvPicPr>
            <a:picLocks noChangeAspect="1"/>
          </p:cNvPicPr>
          <p:nvPr/>
        </p:nvPicPr>
        <p:blipFill>
          <a:blip r:embed="rId7"/>
          <a:stretch>
            <a:fillRect/>
          </a:stretch>
        </p:blipFill>
        <p:spPr>
          <a:xfrm>
            <a:off x="6914809" y="5012560"/>
            <a:ext cx="128699" cy="187198"/>
          </a:xfrm>
          <a:prstGeom prst="rect">
            <a:avLst/>
          </a:prstGeom>
        </p:spPr>
      </p:pic>
      <p:sp>
        <p:nvSpPr>
          <p:cNvPr id="34" name="TextBox 33"/>
          <p:cNvSpPr txBox="1"/>
          <p:nvPr/>
        </p:nvSpPr>
        <p:spPr>
          <a:xfrm>
            <a:off x="7082305" y="5022340"/>
            <a:ext cx="1539775" cy="186689"/>
          </a:xfrm>
          <a:prstGeom prst="rect">
            <a:avLst/>
          </a:prstGeom>
          <a:noFill/>
        </p:spPr>
        <p:txBody>
          <a:bodyPr wrap="none" lIns="0" rIns="0" tIns="0" bIns="0">
            <a:spAutoFit/>
          </a:bodyPr>
          <a:lstStyle/>
          <a:p>
            <a:r>
              <a:rPr sz="1100" b="0">
                <a:solidFill>
                  <a:srgbClr val="2E2E2E"/>
                </a:solidFill>
                <a:latin typeface="Calibri"/>
              </a:rPr>
              <a:t>and a long tail ('Others') ~</a:t>
            </a:r>
          </a:p>
        </p:txBody>
      </p:sp>
      <p:pic>
        <p:nvPicPr>
          <p:cNvPr id="35" name="Picture 34" descr="lock.png"/>
          <p:cNvPicPr>
            <a:picLocks noChangeAspect="1"/>
          </p:cNvPicPr>
          <p:nvPr/>
        </p:nvPicPr>
        <p:blipFill>
          <a:blip r:embed="rId7"/>
          <a:stretch>
            <a:fillRect/>
          </a:stretch>
        </p:blipFill>
        <p:spPr>
          <a:xfrm>
            <a:off x="8570132" y="5012560"/>
            <a:ext cx="128699" cy="187198"/>
          </a:xfrm>
          <a:prstGeom prst="rect">
            <a:avLst/>
          </a:prstGeom>
        </p:spPr>
      </p:pic>
      <p:sp>
        <p:nvSpPr>
          <p:cNvPr id="36" name="TextBox 35"/>
          <p:cNvSpPr txBox="1"/>
          <p:nvPr/>
        </p:nvSpPr>
        <p:spPr>
          <a:xfrm>
            <a:off x="8737628" y="5022340"/>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37" name="TextBox 36"/>
          <p:cNvSpPr txBox="1"/>
          <p:nvPr/>
        </p:nvSpPr>
        <p:spPr>
          <a:xfrm>
            <a:off x="276225" y="5240272"/>
            <a:ext cx="3968393" cy="186689"/>
          </a:xfrm>
          <a:prstGeom prst="rect">
            <a:avLst/>
          </a:prstGeom>
          <a:noFill/>
        </p:spPr>
        <p:txBody>
          <a:bodyPr wrap="none" lIns="0" rIns="0" tIns="0" bIns="0">
            <a:spAutoFit/>
          </a:bodyPr>
          <a:lstStyle/>
          <a:p>
            <a:r>
              <a:rPr sz="1100" b="0">
                <a:solidFill>
                  <a:srgbClr val="2E2E2E"/>
                </a:solidFill>
                <a:latin typeface="Calibri"/>
              </a:rPr>
              <a:t>▪ Combination Framework Partial Dentures: 'Kulzer GmbH' leads at ~</a:t>
            </a:r>
          </a:p>
        </p:txBody>
      </p:sp>
      <p:pic>
        <p:nvPicPr>
          <p:cNvPr id="38" name="Picture 37" descr="lock.png"/>
          <p:cNvPicPr>
            <a:picLocks noChangeAspect="1"/>
          </p:cNvPicPr>
          <p:nvPr/>
        </p:nvPicPr>
        <p:blipFill>
          <a:blip r:embed="rId7"/>
          <a:stretch>
            <a:fillRect/>
          </a:stretch>
        </p:blipFill>
        <p:spPr>
          <a:xfrm>
            <a:off x="4192670" y="5230492"/>
            <a:ext cx="128699" cy="187198"/>
          </a:xfrm>
          <a:prstGeom prst="rect">
            <a:avLst/>
          </a:prstGeom>
        </p:spPr>
      </p:pic>
      <p:sp>
        <p:nvSpPr>
          <p:cNvPr id="39" name="TextBox 38"/>
          <p:cNvSpPr txBox="1"/>
          <p:nvPr/>
        </p:nvSpPr>
        <p:spPr>
          <a:xfrm>
            <a:off x="4360165" y="5240272"/>
            <a:ext cx="1993510" cy="186689"/>
          </a:xfrm>
          <a:prstGeom prst="rect">
            <a:avLst/>
          </a:prstGeom>
          <a:noFill/>
        </p:spPr>
        <p:txBody>
          <a:bodyPr wrap="none" lIns="0" rIns="0" tIns="0" bIns="0">
            <a:spAutoFit/>
          </a:bodyPr>
          <a:lstStyle/>
          <a:p>
            <a:r>
              <a:rPr sz="1100" b="0">
                <a:solidFill>
                  <a:srgbClr val="2E2E2E"/>
                </a:solidFill>
                <a:latin typeface="Calibri"/>
              </a:rPr>
              <a:t>, ahead of 'Ivoclar Vivadent AG' (~</a:t>
            </a:r>
          </a:p>
        </p:txBody>
      </p:sp>
      <p:pic>
        <p:nvPicPr>
          <p:cNvPr id="40" name="Picture 39" descr="lock.png"/>
          <p:cNvPicPr>
            <a:picLocks noChangeAspect="1"/>
          </p:cNvPicPr>
          <p:nvPr/>
        </p:nvPicPr>
        <p:blipFill>
          <a:blip r:embed="rId7"/>
          <a:stretch>
            <a:fillRect/>
          </a:stretch>
        </p:blipFill>
        <p:spPr>
          <a:xfrm>
            <a:off x="6301728" y="5230492"/>
            <a:ext cx="128699" cy="187198"/>
          </a:xfrm>
          <a:prstGeom prst="rect">
            <a:avLst/>
          </a:prstGeom>
        </p:spPr>
      </p:pic>
      <p:sp>
        <p:nvSpPr>
          <p:cNvPr id="41" name="TextBox 40"/>
          <p:cNvSpPr txBox="1"/>
          <p:nvPr/>
        </p:nvSpPr>
        <p:spPr>
          <a:xfrm>
            <a:off x="6469224" y="5240272"/>
            <a:ext cx="1328588" cy="186689"/>
          </a:xfrm>
          <a:prstGeom prst="rect">
            <a:avLst/>
          </a:prstGeom>
          <a:noFill/>
        </p:spPr>
        <p:txBody>
          <a:bodyPr wrap="none" lIns="0" rIns="0" tIns="0" bIns="0">
            <a:spAutoFit/>
          </a:bodyPr>
          <a:lstStyle/>
          <a:p>
            <a:r>
              <a:rPr sz="1100" b="0">
                <a:solidFill>
                  <a:srgbClr val="2E2E2E"/>
                </a:solidFill>
                <a:latin typeface="Calibri"/>
              </a:rPr>
              <a:t>); the top three hold ~</a:t>
            </a:r>
          </a:p>
        </p:txBody>
      </p:sp>
      <p:pic>
        <p:nvPicPr>
          <p:cNvPr id="42" name="Picture 41" descr="lock.png"/>
          <p:cNvPicPr>
            <a:picLocks noChangeAspect="1"/>
          </p:cNvPicPr>
          <p:nvPr/>
        </p:nvPicPr>
        <p:blipFill>
          <a:blip r:embed="rId7"/>
          <a:stretch>
            <a:fillRect/>
          </a:stretch>
        </p:blipFill>
        <p:spPr>
          <a:xfrm>
            <a:off x="7745864" y="5230492"/>
            <a:ext cx="128699" cy="187198"/>
          </a:xfrm>
          <a:prstGeom prst="rect">
            <a:avLst/>
          </a:prstGeom>
        </p:spPr>
      </p:pic>
      <p:sp>
        <p:nvSpPr>
          <p:cNvPr id="43" name="TextBox 42"/>
          <p:cNvSpPr txBox="1"/>
          <p:nvPr/>
        </p:nvSpPr>
        <p:spPr>
          <a:xfrm>
            <a:off x="7913360" y="5240272"/>
            <a:ext cx="1539775" cy="186689"/>
          </a:xfrm>
          <a:prstGeom prst="rect">
            <a:avLst/>
          </a:prstGeom>
          <a:noFill/>
        </p:spPr>
        <p:txBody>
          <a:bodyPr wrap="none" lIns="0" rIns="0" tIns="0" bIns="0">
            <a:spAutoFit/>
          </a:bodyPr>
          <a:lstStyle/>
          <a:p>
            <a:r>
              <a:rPr sz="1100" b="0">
                <a:solidFill>
                  <a:srgbClr val="2E2E2E"/>
                </a:solidFill>
                <a:latin typeface="Calibri"/>
              </a:rPr>
              <a:t>and a long tail ('Others') ~</a:t>
            </a:r>
          </a:p>
        </p:txBody>
      </p:sp>
      <p:pic>
        <p:nvPicPr>
          <p:cNvPr id="44" name="Picture 43" descr="lock.png"/>
          <p:cNvPicPr>
            <a:picLocks noChangeAspect="1"/>
          </p:cNvPicPr>
          <p:nvPr/>
        </p:nvPicPr>
        <p:blipFill>
          <a:blip r:embed="rId7"/>
          <a:stretch>
            <a:fillRect/>
          </a:stretch>
        </p:blipFill>
        <p:spPr>
          <a:xfrm>
            <a:off x="9401187" y="5230492"/>
            <a:ext cx="128699" cy="187198"/>
          </a:xfrm>
          <a:prstGeom prst="rect">
            <a:avLst/>
          </a:prstGeom>
        </p:spPr>
      </p:pic>
      <p:sp>
        <p:nvSpPr>
          <p:cNvPr id="45" name="TextBox 44"/>
          <p:cNvSpPr txBox="1"/>
          <p:nvPr/>
        </p:nvSpPr>
        <p:spPr>
          <a:xfrm>
            <a:off x="9568683" y="5240272"/>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46" name="TextBox 45"/>
          <p:cNvSpPr txBox="1"/>
          <p:nvPr/>
        </p:nvSpPr>
        <p:spPr>
          <a:xfrm>
            <a:off x="276225" y="5458204"/>
            <a:ext cx="3548781" cy="186689"/>
          </a:xfrm>
          <a:prstGeom prst="rect">
            <a:avLst/>
          </a:prstGeom>
          <a:noFill/>
        </p:spPr>
        <p:txBody>
          <a:bodyPr wrap="none" lIns="0" rIns="0" tIns="0" bIns="0">
            <a:spAutoFit/>
          </a:bodyPr>
          <a:lstStyle/>
          <a:p>
            <a:r>
              <a:rPr sz="1100" b="0">
                <a:solidFill>
                  <a:srgbClr val="2E2E2E"/>
                </a:solidFill>
                <a:latin typeface="Calibri"/>
              </a:rPr>
              <a:t>▪ Cast Metal Partial Dentures: 'Dentsply Sirona Inc.' leads at ~</a:t>
            </a:r>
          </a:p>
        </p:txBody>
      </p:sp>
      <p:pic>
        <p:nvPicPr>
          <p:cNvPr id="47" name="Picture 46" descr="lock.png"/>
          <p:cNvPicPr>
            <a:picLocks noChangeAspect="1"/>
          </p:cNvPicPr>
          <p:nvPr/>
        </p:nvPicPr>
        <p:blipFill>
          <a:blip r:embed="rId7"/>
          <a:stretch>
            <a:fillRect/>
          </a:stretch>
        </p:blipFill>
        <p:spPr>
          <a:xfrm>
            <a:off x="3773058" y="5448424"/>
            <a:ext cx="128699" cy="187198"/>
          </a:xfrm>
          <a:prstGeom prst="rect">
            <a:avLst/>
          </a:prstGeom>
        </p:spPr>
      </p:pic>
      <p:sp>
        <p:nvSpPr>
          <p:cNvPr id="48" name="TextBox 47"/>
          <p:cNvSpPr txBox="1"/>
          <p:nvPr/>
        </p:nvSpPr>
        <p:spPr>
          <a:xfrm>
            <a:off x="3940554" y="5458204"/>
            <a:ext cx="1993510" cy="186689"/>
          </a:xfrm>
          <a:prstGeom prst="rect">
            <a:avLst/>
          </a:prstGeom>
          <a:noFill/>
        </p:spPr>
        <p:txBody>
          <a:bodyPr wrap="none" lIns="0" rIns="0" tIns="0" bIns="0">
            <a:spAutoFit/>
          </a:bodyPr>
          <a:lstStyle/>
          <a:p>
            <a:r>
              <a:rPr sz="1100" b="0">
                <a:solidFill>
                  <a:srgbClr val="2E2E2E"/>
                </a:solidFill>
                <a:latin typeface="Calibri"/>
              </a:rPr>
              <a:t>, ahead of 'Ivoclar Vivadent AG' (~</a:t>
            </a:r>
          </a:p>
        </p:txBody>
      </p:sp>
      <p:pic>
        <p:nvPicPr>
          <p:cNvPr id="49" name="Picture 48" descr="lock.png"/>
          <p:cNvPicPr>
            <a:picLocks noChangeAspect="1"/>
          </p:cNvPicPr>
          <p:nvPr/>
        </p:nvPicPr>
        <p:blipFill>
          <a:blip r:embed="rId7"/>
          <a:stretch>
            <a:fillRect/>
          </a:stretch>
        </p:blipFill>
        <p:spPr>
          <a:xfrm>
            <a:off x="5882116" y="5448424"/>
            <a:ext cx="128699" cy="187198"/>
          </a:xfrm>
          <a:prstGeom prst="rect">
            <a:avLst/>
          </a:prstGeom>
        </p:spPr>
      </p:pic>
      <p:sp>
        <p:nvSpPr>
          <p:cNvPr id="50" name="TextBox 49"/>
          <p:cNvSpPr txBox="1"/>
          <p:nvPr/>
        </p:nvSpPr>
        <p:spPr>
          <a:xfrm>
            <a:off x="6049612" y="5458204"/>
            <a:ext cx="1328588" cy="186689"/>
          </a:xfrm>
          <a:prstGeom prst="rect">
            <a:avLst/>
          </a:prstGeom>
          <a:noFill/>
        </p:spPr>
        <p:txBody>
          <a:bodyPr wrap="none" lIns="0" rIns="0" tIns="0" bIns="0">
            <a:spAutoFit/>
          </a:bodyPr>
          <a:lstStyle/>
          <a:p>
            <a:r>
              <a:rPr sz="1100" b="0">
                <a:solidFill>
                  <a:srgbClr val="2E2E2E"/>
                </a:solidFill>
                <a:latin typeface="Calibri"/>
              </a:rPr>
              <a:t>); the top three hold ~</a:t>
            </a:r>
          </a:p>
        </p:txBody>
      </p:sp>
      <p:pic>
        <p:nvPicPr>
          <p:cNvPr id="51" name="Picture 50" descr="lock.png"/>
          <p:cNvPicPr>
            <a:picLocks noChangeAspect="1"/>
          </p:cNvPicPr>
          <p:nvPr/>
        </p:nvPicPr>
        <p:blipFill>
          <a:blip r:embed="rId7"/>
          <a:stretch>
            <a:fillRect/>
          </a:stretch>
        </p:blipFill>
        <p:spPr>
          <a:xfrm>
            <a:off x="7326252" y="5448424"/>
            <a:ext cx="128699" cy="187198"/>
          </a:xfrm>
          <a:prstGeom prst="rect">
            <a:avLst/>
          </a:prstGeom>
        </p:spPr>
      </p:pic>
      <p:sp>
        <p:nvSpPr>
          <p:cNvPr id="52" name="TextBox 51"/>
          <p:cNvSpPr txBox="1"/>
          <p:nvPr/>
        </p:nvSpPr>
        <p:spPr>
          <a:xfrm>
            <a:off x="7493748" y="5458204"/>
            <a:ext cx="1539775" cy="186689"/>
          </a:xfrm>
          <a:prstGeom prst="rect">
            <a:avLst/>
          </a:prstGeom>
          <a:noFill/>
        </p:spPr>
        <p:txBody>
          <a:bodyPr wrap="none" lIns="0" rIns="0" tIns="0" bIns="0">
            <a:spAutoFit/>
          </a:bodyPr>
          <a:lstStyle/>
          <a:p>
            <a:r>
              <a:rPr sz="1100" b="0">
                <a:solidFill>
                  <a:srgbClr val="2E2E2E"/>
                </a:solidFill>
                <a:latin typeface="Calibri"/>
              </a:rPr>
              <a:t>and a long tail ('Others') ~</a:t>
            </a:r>
          </a:p>
        </p:txBody>
      </p:sp>
      <p:pic>
        <p:nvPicPr>
          <p:cNvPr id="53" name="Picture 52" descr="lock.png"/>
          <p:cNvPicPr>
            <a:picLocks noChangeAspect="1"/>
          </p:cNvPicPr>
          <p:nvPr/>
        </p:nvPicPr>
        <p:blipFill>
          <a:blip r:embed="rId7"/>
          <a:stretch>
            <a:fillRect/>
          </a:stretch>
        </p:blipFill>
        <p:spPr>
          <a:xfrm>
            <a:off x="8981576" y="5448424"/>
            <a:ext cx="128699" cy="187198"/>
          </a:xfrm>
          <a:prstGeom prst="rect">
            <a:avLst/>
          </a:prstGeom>
        </p:spPr>
      </p:pic>
      <p:sp>
        <p:nvSpPr>
          <p:cNvPr id="54" name="TextBox 53"/>
          <p:cNvSpPr txBox="1"/>
          <p:nvPr/>
        </p:nvSpPr>
        <p:spPr>
          <a:xfrm>
            <a:off x="9149071" y="5458204"/>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55" name="TextBox 54"/>
          <p:cNvSpPr txBox="1"/>
          <p:nvPr/>
        </p:nvSpPr>
        <p:spPr>
          <a:xfrm>
            <a:off x="276225" y="5676136"/>
            <a:ext cx="8524502" cy="186689"/>
          </a:xfrm>
          <a:prstGeom prst="rect">
            <a:avLst/>
          </a:prstGeom>
          <a:noFill/>
        </p:spPr>
        <p:txBody>
          <a:bodyPr wrap="none" lIns="0" rIns="0" tIns="0" bIns="0">
            <a:spAutoFit/>
          </a:bodyPr>
          <a:lstStyle/>
          <a:p>
            <a:r>
              <a:rPr sz="1100" b="0">
                <a:solidFill>
                  <a:srgbClr val="2E2E2E"/>
                </a:solidFill>
                <a:latin typeface="Calibri"/>
              </a:rPr>
              <a:t>▪ Leadership shifts across formulations a strong position in one product type does not carry over to the others, so product-level targeting is essential.</a:t>
            </a:r>
          </a:p>
        </p:txBody>
      </p:sp>
      <p:sp>
        <p:nvSpPr>
          <p:cNvPr id="56" name="TextBox 55"/>
          <p:cNvSpPr txBox="1"/>
          <p:nvPr/>
        </p:nvSpPr>
        <p:spPr>
          <a:xfrm>
            <a:off x="276225" y="5894068"/>
            <a:ext cx="6908403" cy="186689"/>
          </a:xfrm>
          <a:prstGeom prst="rect">
            <a:avLst/>
          </a:prstGeom>
          <a:noFill/>
        </p:spPr>
        <p:txBody>
          <a:bodyPr wrap="none" lIns="0" rIns="0" tIns="0" bIns="0">
            <a:spAutoFit/>
          </a:bodyPr>
          <a:lstStyle/>
          <a:p>
            <a:r>
              <a:rPr sz="1100" b="0">
                <a:solidFill>
                  <a:srgbClr val="2E2E2E"/>
                </a:solidFill>
                <a:latin typeface="Calibri"/>
              </a:rPr>
              <a:t>▪ Note: competitor figures are indicative derived from market modelling and expert validation, not company disclosures.</a:t>
            </a:r>
          </a:p>
        </p:txBody>
      </p:sp>
      <p:sp>
        <p:nvSpPr>
          <p:cNvPr id="57" name="lockshield_13"/>
          <p:cNvSpPr/>
          <p:nvPr/>
        </p:nvSpPr>
        <p:spPr>
          <a:xfrm>
            <a:off x="238125" y="1585070"/>
            <a:ext cx="3638550" cy="2869751"/>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lockshield_16"/>
          <p:cNvSpPr/>
          <p:nvPr/>
        </p:nvSpPr>
        <p:spPr>
          <a:xfrm>
            <a:off x="4219575" y="1585070"/>
            <a:ext cx="3638550" cy="2869751"/>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lockshield_19"/>
          <p:cNvSpPr/>
          <p:nvPr/>
        </p:nvSpPr>
        <p:spPr>
          <a:xfrm>
            <a:off x="8201025" y="1585070"/>
            <a:ext cx="3752850" cy="2869751"/>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Company Share by Region (Top 3)</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Company value share within the largest regions, highlighting where leadership shifts across geographies</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Company value share within each of the largest regions where each player concentrates, and how leadership varies by geography.</a:t>
            </a:r>
          </a:p>
        </p:txBody>
      </p:sp>
      <p:sp>
        <p:nvSpPr>
          <p:cNvPr id="11" name="Rounded Rectangle 10"/>
          <p:cNvSpPr/>
          <p:nvPr/>
        </p:nvSpPr>
        <p:spPr>
          <a:xfrm>
            <a:off x="142875" y="1299320"/>
            <a:ext cx="38290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a:t>
            </a:r>
          </a:p>
        </p:txBody>
      </p:sp>
      <p:graphicFrame>
        <p:nvGraphicFramePr>
          <p:cNvPr id="13" name="Chart 12"/>
          <p:cNvGraphicFramePr>
            <a:graphicFrameLocks noGrp="1"/>
          </p:cNvGraphicFramePr>
          <p:nvPr/>
        </p:nvGraphicFramePr>
        <p:xfrm>
          <a:off x="238125" y="1585070"/>
          <a:ext cx="3638550" cy="2869751"/>
        </p:xfrm>
        <a:graphic>
          <a:graphicData uri="http://schemas.openxmlformats.org/drawingml/2006/chart">
            <c:chart xmlns:c="http://schemas.openxmlformats.org/drawingml/2006/chart" r:id="rId3"/>
          </a:graphicData>
        </a:graphic>
      </p:graphicFrame>
      <p:sp>
        <p:nvSpPr>
          <p:cNvPr id="14" name="Rounded Rectangle 13"/>
          <p:cNvSpPr/>
          <p:nvPr/>
        </p:nvSpPr>
        <p:spPr>
          <a:xfrm>
            <a:off x="4124325" y="1299320"/>
            <a:ext cx="38290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219575" y="1356470"/>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a:t>
            </a:r>
          </a:p>
        </p:txBody>
      </p:sp>
      <p:graphicFrame>
        <p:nvGraphicFramePr>
          <p:cNvPr id="16" name="Chart 15"/>
          <p:cNvGraphicFramePr>
            <a:graphicFrameLocks noGrp="1"/>
          </p:cNvGraphicFramePr>
          <p:nvPr/>
        </p:nvGraphicFramePr>
        <p:xfrm>
          <a:off x="4219575" y="1585070"/>
          <a:ext cx="3638550" cy="2869751"/>
        </p:xfrm>
        <a:graphic>
          <a:graphicData uri="http://schemas.openxmlformats.org/drawingml/2006/chart">
            <c:chart xmlns:c="http://schemas.openxmlformats.org/drawingml/2006/chart" r:id="rId4"/>
          </a:graphicData>
        </a:graphic>
      </p:graphicFrame>
      <p:sp>
        <p:nvSpPr>
          <p:cNvPr id="17" name="Rounded Rectangle 16"/>
          <p:cNvSpPr/>
          <p:nvPr/>
        </p:nvSpPr>
        <p:spPr>
          <a:xfrm>
            <a:off x="8105775" y="1299320"/>
            <a:ext cx="39433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8201025" y="1356470"/>
            <a:ext cx="3752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a:t>
            </a:r>
          </a:p>
        </p:txBody>
      </p:sp>
      <p:graphicFrame>
        <p:nvGraphicFramePr>
          <p:cNvPr id="19" name="Chart 18"/>
          <p:cNvGraphicFramePr>
            <a:graphicFrameLocks noGrp="1"/>
          </p:cNvGraphicFramePr>
          <p:nvPr/>
        </p:nvGraphicFramePr>
        <p:xfrm>
          <a:off x="8201025" y="1585070"/>
          <a:ext cx="3752850" cy="2869751"/>
        </p:xfrm>
        <a:graphic>
          <a:graphicData uri="http://schemas.openxmlformats.org/drawingml/2006/chart">
            <c:chart xmlns:c="http://schemas.openxmlformats.org/drawingml/2006/chart" r:id="rId5"/>
          </a:graphicData>
        </a:graphic>
      </p:graphicFrame>
      <p:sp>
        <p:nvSpPr>
          <p:cNvPr id="20" name="Rounded Rectangle 19"/>
          <p:cNvSpPr/>
          <p:nvPr/>
        </p:nvSpPr>
        <p:spPr>
          <a:xfrm>
            <a:off x="142875" y="4603240"/>
            <a:ext cx="11906250" cy="1971399"/>
          </a:xfrm>
          <a:prstGeom prst="roundRect">
            <a:avLst>
              <a:gd name="adj" fmla="val 38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468896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Company Share Key Takeaways</a:t>
            </a:r>
          </a:p>
        </p:txBody>
      </p:sp>
      <p:sp>
        <p:nvSpPr>
          <p:cNvPr id="22" name="Rectangle 21"/>
          <p:cNvSpPr/>
          <p:nvPr/>
        </p:nvSpPr>
        <p:spPr>
          <a:xfrm>
            <a:off x="276225" y="492709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76225" y="5012815"/>
            <a:ext cx="11639550" cy="1485624"/>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1233011" y="2619895"/>
            <a:ext cx="523875" cy="762000"/>
          </a:xfrm>
          <a:prstGeom prst="rect">
            <a:avLst/>
          </a:prstGeom>
        </p:spPr>
      </p:pic>
      <p:pic>
        <p:nvPicPr>
          <p:cNvPr id="26" name="Picture 25" descr="lock.png"/>
          <p:cNvPicPr>
            <a:picLocks noChangeAspect="1"/>
          </p:cNvPicPr>
          <p:nvPr/>
        </p:nvPicPr>
        <p:blipFill>
          <a:blip r:embed="rId7"/>
          <a:stretch>
            <a:fillRect/>
          </a:stretch>
        </p:blipFill>
        <p:spPr>
          <a:xfrm>
            <a:off x="5214461" y="2619895"/>
            <a:ext cx="523875" cy="762000"/>
          </a:xfrm>
          <a:prstGeom prst="rect">
            <a:avLst/>
          </a:prstGeom>
        </p:spPr>
      </p:pic>
      <p:pic>
        <p:nvPicPr>
          <p:cNvPr id="27" name="Picture 26" descr="lock.png"/>
          <p:cNvPicPr>
            <a:picLocks noChangeAspect="1"/>
          </p:cNvPicPr>
          <p:nvPr/>
        </p:nvPicPr>
        <p:blipFill>
          <a:blip r:embed="rId7"/>
          <a:stretch>
            <a:fillRect/>
          </a:stretch>
        </p:blipFill>
        <p:spPr>
          <a:xfrm>
            <a:off x="9235916" y="2619895"/>
            <a:ext cx="523875" cy="762000"/>
          </a:xfrm>
          <a:prstGeom prst="rect">
            <a:avLst/>
          </a:prstGeom>
        </p:spPr>
      </p:pic>
      <p:sp>
        <p:nvSpPr>
          <p:cNvPr id="28" name="TextBox 27"/>
          <p:cNvSpPr txBox="1"/>
          <p:nvPr/>
        </p:nvSpPr>
        <p:spPr>
          <a:xfrm>
            <a:off x="276225" y="5022340"/>
            <a:ext cx="2946139" cy="194310"/>
          </a:xfrm>
          <a:prstGeom prst="rect">
            <a:avLst/>
          </a:prstGeom>
          <a:noFill/>
        </p:spPr>
        <p:txBody>
          <a:bodyPr wrap="none" lIns="0" rIns="0" tIns="0" bIns="0">
            <a:spAutoFit/>
          </a:bodyPr>
          <a:lstStyle/>
          <a:p>
            <a:r>
              <a:rPr sz="1150" b="0">
                <a:solidFill>
                  <a:srgbClr val="2E2E2E"/>
                </a:solidFill>
                <a:latin typeface="Calibri"/>
              </a:rPr>
              <a:t>▪ North America: 'Dentsply Sirona Inc.' leads at ~</a:t>
            </a:r>
          </a:p>
        </p:txBody>
      </p:sp>
      <p:pic>
        <p:nvPicPr>
          <p:cNvPr id="29" name="Picture 28" descr="lock.png"/>
          <p:cNvPicPr>
            <a:picLocks noChangeAspect="1"/>
          </p:cNvPicPr>
          <p:nvPr/>
        </p:nvPicPr>
        <p:blipFill>
          <a:blip r:embed="rId7"/>
          <a:stretch>
            <a:fillRect/>
          </a:stretch>
        </p:blipFill>
        <p:spPr>
          <a:xfrm>
            <a:off x="3171518" y="5012116"/>
            <a:ext cx="134549" cy="195707"/>
          </a:xfrm>
          <a:prstGeom prst="rect">
            <a:avLst/>
          </a:prstGeom>
        </p:spPr>
      </p:pic>
      <p:sp>
        <p:nvSpPr>
          <p:cNvPr id="30" name="TextBox 29"/>
          <p:cNvSpPr txBox="1"/>
          <p:nvPr/>
        </p:nvSpPr>
        <p:spPr>
          <a:xfrm>
            <a:off x="3346627" y="5022340"/>
            <a:ext cx="2080661" cy="194310"/>
          </a:xfrm>
          <a:prstGeom prst="rect">
            <a:avLst/>
          </a:prstGeom>
          <a:noFill/>
        </p:spPr>
        <p:txBody>
          <a:bodyPr wrap="none" lIns="0" rIns="0" tIns="0" bIns="0">
            <a:spAutoFit/>
          </a:bodyPr>
          <a:lstStyle/>
          <a:p>
            <a:r>
              <a:rPr sz="1150" b="0">
                <a:solidFill>
                  <a:srgbClr val="2E2E2E"/>
                </a:solidFill>
                <a:latin typeface="Calibri"/>
              </a:rPr>
              <a:t>, ahead of 'Ivoclar Vivadent AG' (~</a:t>
            </a:r>
          </a:p>
        </p:txBody>
      </p:sp>
      <p:pic>
        <p:nvPicPr>
          <p:cNvPr id="31" name="Picture 30" descr="lock.png"/>
          <p:cNvPicPr>
            <a:picLocks noChangeAspect="1"/>
          </p:cNvPicPr>
          <p:nvPr/>
        </p:nvPicPr>
        <p:blipFill>
          <a:blip r:embed="rId7"/>
          <a:stretch>
            <a:fillRect/>
          </a:stretch>
        </p:blipFill>
        <p:spPr>
          <a:xfrm>
            <a:off x="5376443" y="5012116"/>
            <a:ext cx="134549" cy="195707"/>
          </a:xfrm>
          <a:prstGeom prst="rect">
            <a:avLst/>
          </a:prstGeom>
        </p:spPr>
      </p:pic>
      <p:sp>
        <p:nvSpPr>
          <p:cNvPr id="32" name="TextBox 31"/>
          <p:cNvSpPr txBox="1"/>
          <p:nvPr/>
        </p:nvSpPr>
        <p:spPr>
          <a:xfrm>
            <a:off x="5551552" y="5022340"/>
            <a:ext cx="1385515" cy="194310"/>
          </a:xfrm>
          <a:prstGeom prst="rect">
            <a:avLst/>
          </a:prstGeom>
          <a:noFill/>
        </p:spPr>
        <p:txBody>
          <a:bodyPr wrap="none" lIns="0" rIns="0" tIns="0" bIns="0">
            <a:spAutoFit/>
          </a:bodyPr>
          <a:lstStyle/>
          <a:p>
            <a:r>
              <a:rPr sz="1150" b="0">
                <a:solidFill>
                  <a:srgbClr val="2E2E2E"/>
                </a:solidFill>
                <a:latin typeface="Calibri"/>
              </a:rPr>
              <a:t>); the top three hold ~</a:t>
            </a:r>
          </a:p>
        </p:txBody>
      </p:sp>
      <p:pic>
        <p:nvPicPr>
          <p:cNvPr id="33" name="Picture 32" descr="lock.png"/>
          <p:cNvPicPr>
            <a:picLocks noChangeAspect="1"/>
          </p:cNvPicPr>
          <p:nvPr/>
        </p:nvPicPr>
        <p:blipFill>
          <a:blip r:embed="rId7"/>
          <a:stretch>
            <a:fillRect/>
          </a:stretch>
        </p:blipFill>
        <p:spPr>
          <a:xfrm>
            <a:off x="6886221" y="5012116"/>
            <a:ext cx="134549" cy="195707"/>
          </a:xfrm>
          <a:prstGeom prst="rect">
            <a:avLst/>
          </a:prstGeom>
        </p:spPr>
      </p:pic>
      <p:sp>
        <p:nvSpPr>
          <p:cNvPr id="34" name="TextBox 33"/>
          <p:cNvSpPr txBox="1"/>
          <p:nvPr/>
        </p:nvSpPr>
        <p:spPr>
          <a:xfrm>
            <a:off x="7061330" y="5022340"/>
            <a:ext cx="1606301" cy="194310"/>
          </a:xfrm>
          <a:prstGeom prst="rect">
            <a:avLst/>
          </a:prstGeom>
          <a:noFill/>
        </p:spPr>
        <p:txBody>
          <a:bodyPr wrap="none" lIns="0" rIns="0" tIns="0" bIns="0">
            <a:spAutoFit/>
          </a:bodyPr>
          <a:lstStyle/>
          <a:p>
            <a:r>
              <a:rPr sz="1150" b="0">
                <a:solidFill>
                  <a:srgbClr val="2E2E2E"/>
                </a:solidFill>
                <a:latin typeface="Calibri"/>
              </a:rPr>
              <a:t>and a long tail ('Others') ~</a:t>
            </a:r>
          </a:p>
        </p:txBody>
      </p:sp>
      <p:pic>
        <p:nvPicPr>
          <p:cNvPr id="35" name="Picture 34" descr="lock.png"/>
          <p:cNvPicPr>
            <a:picLocks noChangeAspect="1"/>
          </p:cNvPicPr>
          <p:nvPr/>
        </p:nvPicPr>
        <p:blipFill>
          <a:blip r:embed="rId7"/>
          <a:stretch>
            <a:fillRect/>
          </a:stretch>
        </p:blipFill>
        <p:spPr>
          <a:xfrm>
            <a:off x="8616786" y="5012116"/>
            <a:ext cx="134549" cy="195707"/>
          </a:xfrm>
          <a:prstGeom prst="rect">
            <a:avLst/>
          </a:prstGeom>
        </p:spPr>
      </p:pic>
      <p:sp>
        <p:nvSpPr>
          <p:cNvPr id="36" name="TextBox 35"/>
          <p:cNvSpPr txBox="1"/>
          <p:nvPr/>
        </p:nvSpPr>
        <p:spPr>
          <a:xfrm>
            <a:off x="8791896" y="5022340"/>
            <a:ext cx="112997" cy="194310"/>
          </a:xfrm>
          <a:prstGeom prst="rect">
            <a:avLst/>
          </a:prstGeom>
          <a:noFill/>
        </p:spPr>
        <p:txBody>
          <a:bodyPr wrap="none" lIns="0" rIns="0" tIns="0" bIns="0">
            <a:spAutoFit/>
          </a:bodyPr>
          <a:lstStyle/>
          <a:p>
            <a:r>
              <a:rPr sz="1150" b="0">
                <a:solidFill>
                  <a:srgbClr val="2E2E2E"/>
                </a:solidFill>
                <a:latin typeface="Calibri"/>
              </a:rPr>
              <a:t>.</a:t>
            </a:r>
          </a:p>
        </p:txBody>
      </p:sp>
      <p:sp>
        <p:nvSpPr>
          <p:cNvPr id="37" name="TextBox 36"/>
          <p:cNvSpPr txBox="1"/>
          <p:nvPr/>
        </p:nvSpPr>
        <p:spPr>
          <a:xfrm>
            <a:off x="276225" y="5250177"/>
            <a:ext cx="2500002" cy="194310"/>
          </a:xfrm>
          <a:prstGeom prst="rect">
            <a:avLst/>
          </a:prstGeom>
          <a:noFill/>
        </p:spPr>
        <p:txBody>
          <a:bodyPr wrap="none" lIns="0" rIns="0" tIns="0" bIns="0">
            <a:spAutoFit/>
          </a:bodyPr>
          <a:lstStyle/>
          <a:p>
            <a:r>
              <a:rPr sz="1150" b="0">
                <a:solidFill>
                  <a:srgbClr val="2E2E2E"/>
                </a:solidFill>
                <a:latin typeface="Calibri"/>
              </a:rPr>
              <a:t>▪ Europe: 'Dentsply Sirona Inc.' leads at ~</a:t>
            </a:r>
          </a:p>
        </p:txBody>
      </p:sp>
      <p:pic>
        <p:nvPicPr>
          <p:cNvPr id="38" name="Picture 37" descr="lock.png"/>
          <p:cNvPicPr>
            <a:picLocks noChangeAspect="1"/>
          </p:cNvPicPr>
          <p:nvPr/>
        </p:nvPicPr>
        <p:blipFill>
          <a:blip r:embed="rId7"/>
          <a:stretch>
            <a:fillRect/>
          </a:stretch>
        </p:blipFill>
        <p:spPr>
          <a:xfrm>
            <a:off x="2725381" y="5239954"/>
            <a:ext cx="134549" cy="195707"/>
          </a:xfrm>
          <a:prstGeom prst="rect">
            <a:avLst/>
          </a:prstGeom>
        </p:spPr>
      </p:pic>
      <p:sp>
        <p:nvSpPr>
          <p:cNvPr id="39" name="TextBox 38"/>
          <p:cNvSpPr txBox="1"/>
          <p:nvPr/>
        </p:nvSpPr>
        <p:spPr>
          <a:xfrm>
            <a:off x="2900490" y="5250177"/>
            <a:ext cx="1834219" cy="194310"/>
          </a:xfrm>
          <a:prstGeom prst="rect">
            <a:avLst/>
          </a:prstGeom>
          <a:noFill/>
        </p:spPr>
        <p:txBody>
          <a:bodyPr wrap="none" lIns="0" rIns="0" tIns="0" bIns="0">
            <a:spAutoFit/>
          </a:bodyPr>
          <a:lstStyle/>
          <a:p>
            <a:r>
              <a:rPr sz="1150" b="0">
                <a:solidFill>
                  <a:srgbClr val="2E2E2E"/>
                </a:solidFill>
                <a:latin typeface="Calibri"/>
              </a:rPr>
              <a:t>, ahead of 'GC Corporation' (~</a:t>
            </a:r>
          </a:p>
        </p:txBody>
      </p:sp>
      <p:pic>
        <p:nvPicPr>
          <p:cNvPr id="40" name="Picture 39" descr="lock.png"/>
          <p:cNvPicPr>
            <a:picLocks noChangeAspect="1"/>
          </p:cNvPicPr>
          <p:nvPr/>
        </p:nvPicPr>
        <p:blipFill>
          <a:blip r:embed="rId7"/>
          <a:stretch>
            <a:fillRect/>
          </a:stretch>
        </p:blipFill>
        <p:spPr>
          <a:xfrm>
            <a:off x="4683864" y="5239954"/>
            <a:ext cx="134549" cy="195707"/>
          </a:xfrm>
          <a:prstGeom prst="rect">
            <a:avLst/>
          </a:prstGeom>
        </p:spPr>
      </p:pic>
      <p:sp>
        <p:nvSpPr>
          <p:cNvPr id="41" name="TextBox 40"/>
          <p:cNvSpPr txBox="1"/>
          <p:nvPr/>
        </p:nvSpPr>
        <p:spPr>
          <a:xfrm>
            <a:off x="4858973" y="5250177"/>
            <a:ext cx="1385515" cy="194310"/>
          </a:xfrm>
          <a:prstGeom prst="rect">
            <a:avLst/>
          </a:prstGeom>
          <a:noFill/>
        </p:spPr>
        <p:txBody>
          <a:bodyPr wrap="none" lIns="0" rIns="0" tIns="0" bIns="0">
            <a:spAutoFit/>
          </a:bodyPr>
          <a:lstStyle/>
          <a:p>
            <a:r>
              <a:rPr sz="1150" b="0">
                <a:solidFill>
                  <a:srgbClr val="2E2E2E"/>
                </a:solidFill>
                <a:latin typeface="Calibri"/>
              </a:rPr>
              <a:t>); the top three hold ~</a:t>
            </a:r>
          </a:p>
        </p:txBody>
      </p:sp>
      <p:pic>
        <p:nvPicPr>
          <p:cNvPr id="42" name="Picture 41" descr="lock.png"/>
          <p:cNvPicPr>
            <a:picLocks noChangeAspect="1"/>
          </p:cNvPicPr>
          <p:nvPr/>
        </p:nvPicPr>
        <p:blipFill>
          <a:blip r:embed="rId7"/>
          <a:stretch>
            <a:fillRect/>
          </a:stretch>
        </p:blipFill>
        <p:spPr>
          <a:xfrm>
            <a:off x="6193643" y="5239954"/>
            <a:ext cx="134549" cy="195707"/>
          </a:xfrm>
          <a:prstGeom prst="rect">
            <a:avLst/>
          </a:prstGeom>
        </p:spPr>
      </p:pic>
      <p:sp>
        <p:nvSpPr>
          <p:cNvPr id="43" name="TextBox 42"/>
          <p:cNvSpPr txBox="1"/>
          <p:nvPr/>
        </p:nvSpPr>
        <p:spPr>
          <a:xfrm>
            <a:off x="6368752" y="5250177"/>
            <a:ext cx="1606301" cy="194310"/>
          </a:xfrm>
          <a:prstGeom prst="rect">
            <a:avLst/>
          </a:prstGeom>
          <a:noFill/>
        </p:spPr>
        <p:txBody>
          <a:bodyPr wrap="none" lIns="0" rIns="0" tIns="0" bIns="0">
            <a:spAutoFit/>
          </a:bodyPr>
          <a:lstStyle/>
          <a:p>
            <a:r>
              <a:rPr sz="1150" b="0">
                <a:solidFill>
                  <a:srgbClr val="2E2E2E"/>
                </a:solidFill>
                <a:latin typeface="Calibri"/>
              </a:rPr>
              <a:t>and a long tail ('Others') ~</a:t>
            </a:r>
          </a:p>
        </p:txBody>
      </p:sp>
      <p:pic>
        <p:nvPicPr>
          <p:cNvPr id="44" name="Picture 43" descr="lock.png"/>
          <p:cNvPicPr>
            <a:picLocks noChangeAspect="1"/>
          </p:cNvPicPr>
          <p:nvPr/>
        </p:nvPicPr>
        <p:blipFill>
          <a:blip r:embed="rId7"/>
          <a:stretch>
            <a:fillRect/>
          </a:stretch>
        </p:blipFill>
        <p:spPr>
          <a:xfrm>
            <a:off x="7924208" y="5239954"/>
            <a:ext cx="134549" cy="195707"/>
          </a:xfrm>
          <a:prstGeom prst="rect">
            <a:avLst/>
          </a:prstGeom>
        </p:spPr>
      </p:pic>
      <p:sp>
        <p:nvSpPr>
          <p:cNvPr id="45" name="TextBox 44"/>
          <p:cNvSpPr txBox="1"/>
          <p:nvPr/>
        </p:nvSpPr>
        <p:spPr>
          <a:xfrm>
            <a:off x="8099317" y="5250177"/>
            <a:ext cx="112997" cy="194310"/>
          </a:xfrm>
          <a:prstGeom prst="rect">
            <a:avLst/>
          </a:prstGeom>
          <a:noFill/>
        </p:spPr>
        <p:txBody>
          <a:bodyPr wrap="none" lIns="0" rIns="0" tIns="0" bIns="0">
            <a:spAutoFit/>
          </a:bodyPr>
          <a:lstStyle/>
          <a:p>
            <a:r>
              <a:rPr sz="1150" b="0">
                <a:solidFill>
                  <a:srgbClr val="2E2E2E"/>
                </a:solidFill>
                <a:latin typeface="Calibri"/>
              </a:rPr>
              <a:t>.</a:t>
            </a:r>
          </a:p>
        </p:txBody>
      </p:sp>
      <p:sp>
        <p:nvSpPr>
          <p:cNvPr id="46" name="TextBox 45"/>
          <p:cNvSpPr txBox="1"/>
          <p:nvPr/>
        </p:nvSpPr>
        <p:spPr>
          <a:xfrm>
            <a:off x="276225" y="5478015"/>
            <a:ext cx="2847406" cy="194310"/>
          </a:xfrm>
          <a:prstGeom prst="rect">
            <a:avLst/>
          </a:prstGeom>
          <a:noFill/>
        </p:spPr>
        <p:txBody>
          <a:bodyPr wrap="none" lIns="0" rIns="0" tIns="0" bIns="0">
            <a:spAutoFit/>
          </a:bodyPr>
          <a:lstStyle/>
          <a:p>
            <a:r>
              <a:rPr sz="1150" b="0">
                <a:solidFill>
                  <a:srgbClr val="2E2E2E"/>
                </a:solidFill>
                <a:latin typeface="Calibri"/>
              </a:rPr>
              <a:t>▪ South Asia &amp; Pacific: 'Kulzer GmbH' leads at ~</a:t>
            </a:r>
          </a:p>
        </p:txBody>
      </p:sp>
      <p:pic>
        <p:nvPicPr>
          <p:cNvPr id="47" name="Picture 46" descr="lock.png"/>
          <p:cNvPicPr>
            <a:picLocks noChangeAspect="1"/>
          </p:cNvPicPr>
          <p:nvPr/>
        </p:nvPicPr>
        <p:blipFill>
          <a:blip r:embed="rId7"/>
          <a:stretch>
            <a:fillRect/>
          </a:stretch>
        </p:blipFill>
        <p:spPr>
          <a:xfrm>
            <a:off x="3072784" y="5467792"/>
            <a:ext cx="134549" cy="195707"/>
          </a:xfrm>
          <a:prstGeom prst="rect">
            <a:avLst/>
          </a:prstGeom>
        </p:spPr>
      </p:pic>
      <p:sp>
        <p:nvSpPr>
          <p:cNvPr id="48" name="TextBox 47"/>
          <p:cNvSpPr txBox="1"/>
          <p:nvPr/>
        </p:nvSpPr>
        <p:spPr>
          <a:xfrm>
            <a:off x="3247894" y="5478015"/>
            <a:ext cx="2080661" cy="194310"/>
          </a:xfrm>
          <a:prstGeom prst="rect">
            <a:avLst/>
          </a:prstGeom>
          <a:noFill/>
        </p:spPr>
        <p:txBody>
          <a:bodyPr wrap="none" lIns="0" rIns="0" tIns="0" bIns="0">
            <a:spAutoFit/>
          </a:bodyPr>
          <a:lstStyle/>
          <a:p>
            <a:r>
              <a:rPr sz="1150" b="0">
                <a:solidFill>
                  <a:srgbClr val="2E2E2E"/>
                </a:solidFill>
                <a:latin typeface="Calibri"/>
              </a:rPr>
              <a:t>, ahead of 'Ivoclar Vivadent AG' (~</a:t>
            </a:r>
          </a:p>
        </p:txBody>
      </p:sp>
      <p:pic>
        <p:nvPicPr>
          <p:cNvPr id="49" name="Picture 48" descr="lock.png"/>
          <p:cNvPicPr>
            <a:picLocks noChangeAspect="1"/>
          </p:cNvPicPr>
          <p:nvPr/>
        </p:nvPicPr>
        <p:blipFill>
          <a:blip r:embed="rId7"/>
          <a:stretch>
            <a:fillRect/>
          </a:stretch>
        </p:blipFill>
        <p:spPr>
          <a:xfrm>
            <a:off x="5277709" y="5467792"/>
            <a:ext cx="134549" cy="195707"/>
          </a:xfrm>
          <a:prstGeom prst="rect">
            <a:avLst/>
          </a:prstGeom>
        </p:spPr>
      </p:pic>
      <p:sp>
        <p:nvSpPr>
          <p:cNvPr id="50" name="TextBox 49"/>
          <p:cNvSpPr txBox="1"/>
          <p:nvPr/>
        </p:nvSpPr>
        <p:spPr>
          <a:xfrm>
            <a:off x="5452818" y="5478015"/>
            <a:ext cx="1385515" cy="194310"/>
          </a:xfrm>
          <a:prstGeom prst="rect">
            <a:avLst/>
          </a:prstGeom>
          <a:noFill/>
        </p:spPr>
        <p:txBody>
          <a:bodyPr wrap="none" lIns="0" rIns="0" tIns="0" bIns="0">
            <a:spAutoFit/>
          </a:bodyPr>
          <a:lstStyle/>
          <a:p>
            <a:r>
              <a:rPr sz="1150" b="0">
                <a:solidFill>
                  <a:srgbClr val="2E2E2E"/>
                </a:solidFill>
                <a:latin typeface="Calibri"/>
              </a:rPr>
              <a:t>); the top three hold ~</a:t>
            </a:r>
          </a:p>
        </p:txBody>
      </p:sp>
      <p:pic>
        <p:nvPicPr>
          <p:cNvPr id="51" name="Picture 50" descr="lock.png"/>
          <p:cNvPicPr>
            <a:picLocks noChangeAspect="1"/>
          </p:cNvPicPr>
          <p:nvPr/>
        </p:nvPicPr>
        <p:blipFill>
          <a:blip r:embed="rId7"/>
          <a:stretch>
            <a:fillRect/>
          </a:stretch>
        </p:blipFill>
        <p:spPr>
          <a:xfrm>
            <a:off x="6787488" y="5467792"/>
            <a:ext cx="134549" cy="195707"/>
          </a:xfrm>
          <a:prstGeom prst="rect">
            <a:avLst/>
          </a:prstGeom>
        </p:spPr>
      </p:pic>
      <p:sp>
        <p:nvSpPr>
          <p:cNvPr id="52" name="TextBox 51"/>
          <p:cNvSpPr txBox="1"/>
          <p:nvPr/>
        </p:nvSpPr>
        <p:spPr>
          <a:xfrm>
            <a:off x="6962597" y="5478015"/>
            <a:ext cx="1606301" cy="194310"/>
          </a:xfrm>
          <a:prstGeom prst="rect">
            <a:avLst/>
          </a:prstGeom>
          <a:noFill/>
        </p:spPr>
        <p:txBody>
          <a:bodyPr wrap="none" lIns="0" rIns="0" tIns="0" bIns="0">
            <a:spAutoFit/>
          </a:bodyPr>
          <a:lstStyle/>
          <a:p>
            <a:r>
              <a:rPr sz="1150" b="0">
                <a:solidFill>
                  <a:srgbClr val="2E2E2E"/>
                </a:solidFill>
                <a:latin typeface="Calibri"/>
              </a:rPr>
              <a:t>and a long tail ('Others') ~</a:t>
            </a:r>
          </a:p>
        </p:txBody>
      </p:sp>
      <p:pic>
        <p:nvPicPr>
          <p:cNvPr id="53" name="Picture 52" descr="lock.png"/>
          <p:cNvPicPr>
            <a:picLocks noChangeAspect="1"/>
          </p:cNvPicPr>
          <p:nvPr/>
        </p:nvPicPr>
        <p:blipFill>
          <a:blip r:embed="rId7"/>
          <a:stretch>
            <a:fillRect/>
          </a:stretch>
        </p:blipFill>
        <p:spPr>
          <a:xfrm>
            <a:off x="8518053" y="5467792"/>
            <a:ext cx="134549" cy="195707"/>
          </a:xfrm>
          <a:prstGeom prst="rect">
            <a:avLst/>
          </a:prstGeom>
        </p:spPr>
      </p:pic>
      <p:sp>
        <p:nvSpPr>
          <p:cNvPr id="54" name="TextBox 53"/>
          <p:cNvSpPr txBox="1"/>
          <p:nvPr/>
        </p:nvSpPr>
        <p:spPr>
          <a:xfrm>
            <a:off x="8693162" y="5478015"/>
            <a:ext cx="112997" cy="194310"/>
          </a:xfrm>
          <a:prstGeom prst="rect">
            <a:avLst/>
          </a:prstGeom>
          <a:noFill/>
        </p:spPr>
        <p:txBody>
          <a:bodyPr wrap="none" lIns="0" rIns="0" tIns="0" bIns="0">
            <a:spAutoFit/>
          </a:bodyPr>
          <a:lstStyle/>
          <a:p>
            <a:r>
              <a:rPr sz="1150" b="0">
                <a:solidFill>
                  <a:srgbClr val="2E2E2E"/>
                </a:solidFill>
                <a:latin typeface="Calibri"/>
              </a:rPr>
              <a:t>.</a:t>
            </a:r>
          </a:p>
        </p:txBody>
      </p:sp>
      <p:sp>
        <p:nvSpPr>
          <p:cNvPr id="55" name="TextBox 54"/>
          <p:cNvSpPr txBox="1"/>
          <p:nvPr/>
        </p:nvSpPr>
        <p:spPr>
          <a:xfrm>
            <a:off x="276225" y="5705853"/>
            <a:ext cx="9705801" cy="194310"/>
          </a:xfrm>
          <a:prstGeom prst="rect">
            <a:avLst/>
          </a:prstGeom>
          <a:noFill/>
        </p:spPr>
        <p:txBody>
          <a:bodyPr wrap="none" lIns="0" rIns="0" tIns="0" bIns="0">
            <a:spAutoFit/>
          </a:bodyPr>
          <a:lstStyle/>
          <a:p>
            <a:r>
              <a:rPr sz="1150" b="0">
                <a:solidFill>
                  <a:srgbClr val="2E2E2E"/>
                </a:solidFill>
                <a:latin typeface="Calibri"/>
              </a:rPr>
              <a:t>▪ Leadership is not uniform across geographies a strong position in one region does not carry over to the others, so region-level go-to-market planning is essential.</a:t>
            </a:r>
          </a:p>
        </p:txBody>
      </p:sp>
      <p:sp>
        <p:nvSpPr>
          <p:cNvPr id="56" name="TextBox 55"/>
          <p:cNvSpPr txBox="1"/>
          <p:nvPr/>
        </p:nvSpPr>
        <p:spPr>
          <a:xfrm>
            <a:off x="276225" y="5933691"/>
            <a:ext cx="7218957" cy="194310"/>
          </a:xfrm>
          <a:prstGeom prst="rect">
            <a:avLst/>
          </a:prstGeom>
          <a:noFill/>
        </p:spPr>
        <p:txBody>
          <a:bodyPr wrap="none" lIns="0" rIns="0" tIns="0" bIns="0">
            <a:spAutoFit/>
          </a:bodyPr>
          <a:lstStyle/>
          <a:p>
            <a:r>
              <a:rPr sz="1150" b="0">
                <a:solidFill>
                  <a:srgbClr val="2E2E2E"/>
                </a:solidFill>
                <a:latin typeface="Calibri"/>
              </a:rPr>
              <a:t>▪ Note: competitor figures are indicative derived from market modelling and expert validation, not company disclosures.</a:t>
            </a:r>
          </a:p>
        </p:txBody>
      </p:sp>
      <p:sp>
        <p:nvSpPr>
          <p:cNvPr id="57" name="lockshield_13"/>
          <p:cNvSpPr/>
          <p:nvPr/>
        </p:nvSpPr>
        <p:spPr>
          <a:xfrm>
            <a:off x="238125" y="1585070"/>
            <a:ext cx="3638550" cy="2869751"/>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lockshield_16"/>
          <p:cNvSpPr/>
          <p:nvPr/>
        </p:nvSpPr>
        <p:spPr>
          <a:xfrm>
            <a:off x="4219575" y="1585070"/>
            <a:ext cx="3638550" cy="2869751"/>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lockshield_19"/>
          <p:cNvSpPr/>
          <p:nvPr/>
        </p:nvSpPr>
        <p:spPr>
          <a:xfrm>
            <a:off x="8201025" y="1585070"/>
            <a:ext cx="3752850" cy="2869751"/>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Removable Partial Dentures Market Who Shaped Growth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Ranking of the players that shaped growth, by value share, growth role and signature move</a:t>
            </a:r>
          </a:p>
        </p:txBody>
      </p:sp>
      <p:sp>
        <p:nvSpPr>
          <p:cNvPr id="10" name="TextBox 9"/>
          <p:cNvSpPr txBox="1"/>
          <p:nvPr/>
        </p:nvSpPr>
        <p:spPr>
          <a:xfrm>
            <a:off x="142875" y="970754"/>
            <a:ext cx="11906250" cy="182537"/>
          </a:xfrm>
          <a:prstGeom prst="rect">
            <a:avLst/>
          </a:prstGeom>
          <a:noFill/>
        </p:spPr>
        <p:txBody>
          <a:bodyPr wrap="square" lIns="28575" rIns="28575" tIns="9525" bIns="9525" anchor="ctr">
            <a:spAutoFit/>
          </a:bodyPr>
          <a:lstStyle/>
          <a:p>
            <a:pPr algn="l"/>
            <a:r>
              <a:rPr sz="1100" b="0">
                <a:solidFill>
                  <a:srgbClr val="6C7A89"/>
                </a:solidFill>
                <a:latin typeface="Calibri"/>
              </a:rPr>
              <a:t>A framework to identify the companies that most influenced annual Removable Partial Dentures Market growth, ranked by growth-shaping impact.</a:t>
            </a:r>
          </a:p>
        </p:txBody>
      </p:sp>
      <p:sp>
        <p:nvSpPr>
          <p:cNvPr id="11" name="Rounded Rectangle 10"/>
          <p:cNvSpPr/>
          <p:nvPr/>
        </p:nvSpPr>
        <p:spPr>
          <a:xfrm>
            <a:off x="3619500" y="1189798"/>
            <a:ext cx="4953000" cy="419835"/>
          </a:xfrm>
          <a:prstGeom prst="roundRect">
            <a:avLst>
              <a:gd name="adj" fmla="val 1538"/>
            </a:avLst>
          </a:prstGeom>
          <a:solidFill>
            <a:srgbClr val="F4F8FB"/>
          </a:solidFill>
          <a:ln w="12700">
            <a:solidFill>
              <a:srgbClr val="CFE0E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3733800" y="1226305"/>
            <a:ext cx="4724400" cy="173410"/>
          </a:xfrm>
          <a:prstGeom prst="rect">
            <a:avLst/>
          </a:prstGeom>
          <a:noFill/>
        </p:spPr>
        <p:txBody>
          <a:bodyPr wrap="square" lIns="28575" rIns="28575" tIns="9525" bIns="9525" anchor="ctr">
            <a:spAutoFit/>
          </a:bodyPr>
          <a:lstStyle/>
          <a:p>
            <a:pPr algn="ctr"/>
            <a:r>
              <a:rPr sz="1100" b="1">
                <a:solidFill>
                  <a:srgbClr val="0B2E4A"/>
                </a:solidFill>
                <a:latin typeface="Calibri"/>
              </a:rPr>
              <a:t>RANKED BY GROWTH-SHAPING IMPACT</a:t>
            </a:r>
          </a:p>
        </p:txBody>
      </p:sp>
      <p:sp>
        <p:nvSpPr>
          <p:cNvPr id="13" name="TextBox 12"/>
          <p:cNvSpPr txBox="1"/>
          <p:nvPr/>
        </p:nvSpPr>
        <p:spPr>
          <a:xfrm>
            <a:off x="3733800" y="1399716"/>
            <a:ext cx="4724400" cy="173410"/>
          </a:xfrm>
          <a:prstGeom prst="rect">
            <a:avLst/>
          </a:prstGeom>
          <a:noFill/>
        </p:spPr>
        <p:txBody>
          <a:bodyPr wrap="square" lIns="28575" rIns="28575" tIns="9525" bIns="9525" anchor="ctr">
            <a:spAutoFit/>
          </a:bodyPr>
          <a:lstStyle/>
          <a:p>
            <a:pPr algn="ctr"/>
            <a:r>
              <a:rPr sz="1100" b="0">
                <a:solidFill>
                  <a:srgbClr val="6C7A89"/>
                </a:solidFill>
                <a:latin typeface="Calibri"/>
              </a:rPr>
              <a:t>Ranked by overall contribution to category growth, not share alone.</a:t>
            </a:r>
          </a:p>
        </p:txBody>
      </p:sp>
      <p:cxnSp>
        <p:nvCxnSpPr>
          <p:cNvPr id="14" name="Connector 13"/>
          <p:cNvCxnSpPr/>
          <p:nvPr/>
        </p:nvCxnSpPr>
        <p:spPr>
          <a:xfrm>
            <a:off x="428625" y="1399716"/>
            <a:ext cx="3019425" cy="0"/>
          </a:xfrm>
          <a:prstGeom prst="line">
            <a:avLst/>
          </a:prstGeom>
          <a:ln w="12700">
            <a:solidFill>
              <a:srgbClr val="C4D0DA"/>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8743950" y="1399716"/>
            <a:ext cx="3019425" cy="0"/>
          </a:xfrm>
          <a:prstGeom prst="line">
            <a:avLst/>
          </a:prstGeom>
          <a:ln w="12700">
            <a:solidFill>
              <a:srgbClr val="C4D0DA"/>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523875" y="1792170"/>
            <a:ext cx="11106150" cy="0"/>
          </a:xfrm>
          <a:prstGeom prst="line">
            <a:avLst/>
          </a:prstGeom>
          <a:ln w="25400">
            <a:solidFill>
              <a:srgbClr val="0B2E4A"/>
            </a:solidFill>
          </a:ln>
          <a:effectLst/>
        </p:spPr>
        <p:style>
          <a:lnRef idx="2">
            <a:schemeClr val="accent1"/>
          </a:lnRef>
          <a:fillRef idx="0">
            <a:schemeClr val="accent1"/>
          </a:fillRef>
          <a:effectRef idx="1">
            <a:schemeClr val="accent1"/>
          </a:effectRef>
          <a:fontRef idx="minor">
            <a:schemeClr val="tx1"/>
          </a:fontRef>
        </p:style>
      </p:cxnSp>
      <p:sp>
        <p:nvSpPr>
          <p:cNvPr id="17" name="Freeform 16"/>
          <p:cNvSpPr/>
          <p:nvPr/>
        </p:nvSpPr>
        <p:spPr>
          <a:xfrm>
            <a:off x="11630025" y="1728282"/>
            <a:ext cx="171450" cy="127776"/>
          </a:xfrm>
          <a:custGeom>
            <a:avLst/>
            <a:gdLst/>
            <a:ahLst/>
            <a:cxnLst/>
            <a:rect l="l" t="t" r="r" b="b"/>
            <a:pathLst>
              <a:path w="18" h="14">
                <a:moveTo>
                  <a:pt x="0" y="0"/>
                </a:moveTo>
                <a:lnTo>
                  <a:pt x="18" y="7"/>
                </a:lnTo>
                <a:lnTo>
                  <a:pt x="0" y="14"/>
                </a:lnTo>
                <a:close/>
              </a:path>
            </a:pathLst>
          </a:cu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Oval 17"/>
          <p:cNvSpPr/>
          <p:nvPr/>
        </p:nvSpPr>
        <p:spPr>
          <a:xfrm>
            <a:off x="1152525" y="1655267"/>
            <a:ext cx="285750" cy="273805"/>
          </a:xfrm>
          <a:prstGeom prst="ellipse">
            <a:avLst/>
          </a:prstGeom>
          <a:solidFill>
            <a:srgbClr val="0E72A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11525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20" name="Rounded Rectangle 19"/>
          <p:cNvSpPr/>
          <p:nvPr/>
        </p:nvSpPr>
        <p:spPr>
          <a:xfrm>
            <a:off x="142875" y="1992961"/>
            <a:ext cx="2305050" cy="2135683"/>
          </a:xfrm>
          <a:prstGeom prst="roundRect">
            <a:avLst>
              <a:gd name="adj" fmla="val 3719"/>
            </a:avLst>
          </a:prstGeom>
          <a:solidFill>
            <a:srgbClr val="FFFFFF"/>
          </a:solidFill>
          <a:ln w="2032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ounded Rectangle 20"/>
          <p:cNvSpPr/>
          <p:nvPr/>
        </p:nvSpPr>
        <p:spPr>
          <a:xfrm>
            <a:off x="142875" y="1992961"/>
            <a:ext cx="2305050" cy="310313"/>
          </a:xfrm>
          <a:prstGeom prst="roundRect">
            <a:avLst>
              <a:gd name="adj" fmla="val 3719"/>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Oval 21"/>
          <p:cNvSpPr/>
          <p:nvPr/>
        </p:nvSpPr>
        <p:spPr>
          <a:xfrm>
            <a:off x="2571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571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24" name="TextBox 23"/>
          <p:cNvSpPr txBox="1"/>
          <p:nvPr/>
        </p:nvSpPr>
        <p:spPr>
          <a:xfrm>
            <a:off x="5238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Dentsply Sirona Inc.</a:t>
            </a:r>
          </a:p>
        </p:txBody>
      </p:sp>
      <p:sp>
        <p:nvSpPr>
          <p:cNvPr id="25" name="TextBox 24"/>
          <p:cNvSpPr txBox="1"/>
          <p:nvPr/>
        </p:nvSpPr>
        <p:spPr>
          <a:xfrm>
            <a:off x="2381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6" name="TextBox 25"/>
          <p:cNvSpPr txBox="1"/>
          <p:nvPr/>
        </p:nvSpPr>
        <p:spPr>
          <a:xfrm>
            <a:off x="4286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
            </a:r>
          </a:p>
        </p:txBody>
      </p:sp>
      <p:cxnSp>
        <p:nvCxnSpPr>
          <p:cNvPr id="27" name="Connector 26"/>
          <p:cNvCxnSpPr/>
          <p:nvPr/>
        </p:nvCxnSpPr>
        <p:spPr>
          <a:xfrm>
            <a:off x="2381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2381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9" name="TextBox 28"/>
          <p:cNvSpPr txBox="1"/>
          <p:nvPr/>
        </p:nvSpPr>
        <p:spPr>
          <a:xfrm>
            <a:off x="4286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30" name="TextBox 29"/>
          <p:cNvSpPr txBox="1"/>
          <p:nvPr/>
        </p:nvSpPr>
        <p:spPr>
          <a:xfrm>
            <a:off x="428625" y="2805250"/>
            <a:ext cx="1924050" cy="164283"/>
          </a:xfrm>
          <a:prstGeom prst="rect">
            <a:avLst/>
          </a:prstGeom>
          <a:noFill/>
        </p:spPr>
        <p:txBody>
          <a:bodyPr wrap="square" lIns="28575" rIns="28575" tIns="9525" bIns="9525" anchor="ctr">
            <a:spAutoFit/>
          </a:bodyPr>
          <a:lstStyle/>
          <a:p>
            <a:pPr algn="l"/>
            <a:r>
              <a:rPr sz="1100" b="1">
                <a:solidFill>
                  <a:srgbClr val="0E72AE"/>
                </a:solidFill>
                <a:latin typeface="Calibri"/>
              </a:rPr>
              <a:t>Market leader</a:t>
            </a:r>
          </a:p>
        </p:txBody>
      </p:sp>
      <p:cxnSp>
        <p:nvCxnSpPr>
          <p:cNvPr id="31" name="Connector 30"/>
          <p:cNvCxnSpPr/>
          <p:nvPr/>
        </p:nvCxnSpPr>
        <p:spPr>
          <a:xfrm>
            <a:off x="2381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2381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3" name="TextBox 32"/>
          <p:cNvSpPr txBox="1"/>
          <p:nvPr/>
        </p:nvSpPr>
        <p:spPr>
          <a:xfrm>
            <a:off x="4286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34" name="TextBox 33"/>
          <p:cNvSpPr txBox="1"/>
          <p:nvPr/>
        </p:nvSpPr>
        <p:spPr>
          <a:xfrm>
            <a:off x="4286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Expanded reach across its core segment</a:t>
            </a:r>
          </a:p>
        </p:txBody>
      </p:sp>
      <p:cxnSp>
        <p:nvCxnSpPr>
          <p:cNvPr id="35" name="Connector 34"/>
          <p:cNvCxnSpPr/>
          <p:nvPr/>
        </p:nvCxnSpPr>
        <p:spPr>
          <a:xfrm>
            <a:off x="2381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36" name="TextBox 35"/>
          <p:cNvSpPr txBox="1"/>
          <p:nvPr/>
        </p:nvSpPr>
        <p:spPr>
          <a:xfrm>
            <a:off x="2381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7" name="TextBox 36"/>
          <p:cNvSpPr txBox="1"/>
          <p:nvPr/>
        </p:nvSpPr>
        <p:spPr>
          <a:xfrm>
            <a:off x="4286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38" name="TextBox 37"/>
          <p:cNvSpPr txBox="1"/>
          <p:nvPr/>
        </p:nvSpPr>
        <p:spPr>
          <a:xfrm>
            <a:off x="4286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New launch</a:t>
            </a:r>
          </a:p>
        </p:txBody>
      </p:sp>
      <p:sp>
        <p:nvSpPr>
          <p:cNvPr id="39" name="Oval 38"/>
          <p:cNvSpPr/>
          <p:nvPr/>
        </p:nvSpPr>
        <p:spPr>
          <a:xfrm>
            <a:off x="3552825" y="1655267"/>
            <a:ext cx="285750" cy="273805"/>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35528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2</a:t>
            </a:r>
          </a:p>
        </p:txBody>
      </p:sp>
      <p:sp>
        <p:nvSpPr>
          <p:cNvPr id="41" name="Rounded Rectangle 40"/>
          <p:cNvSpPr/>
          <p:nvPr/>
        </p:nvSpPr>
        <p:spPr>
          <a:xfrm>
            <a:off x="2543175" y="1992961"/>
            <a:ext cx="2305050" cy="2135683"/>
          </a:xfrm>
          <a:prstGeom prst="roundRect">
            <a:avLst>
              <a:gd name="adj" fmla="val 3719"/>
            </a:avLst>
          </a:prstGeom>
          <a:solidFill>
            <a:srgbClr val="FFFFFF"/>
          </a:solidFill>
          <a:ln w="20320">
            <a:solidFill>
              <a:srgbClr val="A3531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ounded Rectangle 41"/>
          <p:cNvSpPr/>
          <p:nvPr/>
        </p:nvSpPr>
        <p:spPr>
          <a:xfrm>
            <a:off x="2543175" y="1992961"/>
            <a:ext cx="2305050" cy="310313"/>
          </a:xfrm>
          <a:prstGeom prst="roundRect">
            <a:avLst>
              <a:gd name="adj" fmla="val 3719"/>
            </a:avLst>
          </a:prstGeom>
          <a:solidFill>
            <a:srgbClr val="A35313"/>
          </a:solidFill>
          <a:ln w="12700">
            <a:solidFill>
              <a:srgbClr val="A3531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Oval 42"/>
          <p:cNvSpPr/>
          <p:nvPr/>
        </p:nvSpPr>
        <p:spPr>
          <a:xfrm>
            <a:off x="26574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26574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45" name="TextBox 44"/>
          <p:cNvSpPr txBox="1"/>
          <p:nvPr/>
        </p:nvSpPr>
        <p:spPr>
          <a:xfrm>
            <a:off x="29241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Ivoclar Vivadent AG</a:t>
            </a:r>
          </a:p>
        </p:txBody>
      </p:sp>
      <p:sp>
        <p:nvSpPr>
          <p:cNvPr id="46" name="TextBox 45"/>
          <p:cNvSpPr txBox="1"/>
          <p:nvPr/>
        </p:nvSpPr>
        <p:spPr>
          <a:xfrm>
            <a:off x="26384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7" name="TextBox 46"/>
          <p:cNvSpPr txBox="1"/>
          <p:nvPr/>
        </p:nvSpPr>
        <p:spPr>
          <a:xfrm>
            <a:off x="28289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
            </a:r>
          </a:p>
        </p:txBody>
      </p:sp>
      <p:cxnSp>
        <p:nvCxnSpPr>
          <p:cNvPr id="48" name="Connector 47"/>
          <p:cNvCxnSpPr/>
          <p:nvPr/>
        </p:nvCxnSpPr>
        <p:spPr>
          <a:xfrm>
            <a:off x="26384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49" name="TextBox 48"/>
          <p:cNvSpPr txBox="1"/>
          <p:nvPr/>
        </p:nvSpPr>
        <p:spPr>
          <a:xfrm>
            <a:off x="26384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0" name="TextBox 49"/>
          <p:cNvSpPr txBox="1"/>
          <p:nvPr/>
        </p:nvSpPr>
        <p:spPr>
          <a:xfrm>
            <a:off x="28289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51" name="TextBox 50"/>
          <p:cNvSpPr txBox="1"/>
          <p:nvPr/>
        </p:nvSpPr>
        <p:spPr>
          <a:xfrm>
            <a:off x="2828925" y="2805250"/>
            <a:ext cx="1924050" cy="164283"/>
          </a:xfrm>
          <a:prstGeom prst="rect">
            <a:avLst/>
          </a:prstGeom>
          <a:noFill/>
        </p:spPr>
        <p:txBody>
          <a:bodyPr wrap="square" lIns="28575" rIns="28575" tIns="9525" bIns="9525" anchor="ctr">
            <a:spAutoFit/>
          </a:bodyPr>
          <a:lstStyle/>
          <a:p>
            <a:pPr algn="l"/>
            <a:r>
              <a:rPr sz="1100" b="1">
                <a:solidFill>
                  <a:srgbClr val="A35313"/>
                </a:solidFill>
                <a:latin typeface="Calibri"/>
              </a:rPr>
              <a:t>Portfolio expander</a:t>
            </a:r>
          </a:p>
        </p:txBody>
      </p:sp>
      <p:cxnSp>
        <p:nvCxnSpPr>
          <p:cNvPr id="52" name="Connector 51"/>
          <p:cNvCxnSpPr/>
          <p:nvPr/>
        </p:nvCxnSpPr>
        <p:spPr>
          <a:xfrm>
            <a:off x="26384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53" name="TextBox 52"/>
          <p:cNvSpPr txBox="1"/>
          <p:nvPr/>
        </p:nvSpPr>
        <p:spPr>
          <a:xfrm>
            <a:off x="26384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4" name="TextBox 53"/>
          <p:cNvSpPr txBox="1"/>
          <p:nvPr/>
        </p:nvSpPr>
        <p:spPr>
          <a:xfrm>
            <a:off x="28289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55" name="TextBox 54"/>
          <p:cNvSpPr txBox="1"/>
          <p:nvPr/>
        </p:nvSpPr>
        <p:spPr>
          <a:xfrm>
            <a:off x="28289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Drove new customer adoption</a:t>
            </a:r>
          </a:p>
        </p:txBody>
      </p:sp>
      <p:cxnSp>
        <p:nvCxnSpPr>
          <p:cNvPr id="56" name="Connector 55"/>
          <p:cNvCxnSpPr/>
          <p:nvPr/>
        </p:nvCxnSpPr>
        <p:spPr>
          <a:xfrm>
            <a:off x="26384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57" name="TextBox 56"/>
          <p:cNvSpPr txBox="1"/>
          <p:nvPr/>
        </p:nvSpPr>
        <p:spPr>
          <a:xfrm>
            <a:off x="26384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8" name="TextBox 57"/>
          <p:cNvSpPr txBox="1"/>
          <p:nvPr/>
        </p:nvSpPr>
        <p:spPr>
          <a:xfrm>
            <a:off x="28289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59" name="TextBox 58"/>
          <p:cNvSpPr txBox="1"/>
          <p:nvPr/>
        </p:nvSpPr>
        <p:spPr>
          <a:xfrm>
            <a:off x="28289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Channel expansion</a:t>
            </a:r>
          </a:p>
        </p:txBody>
      </p:sp>
      <p:sp>
        <p:nvSpPr>
          <p:cNvPr id="60" name="Oval 59"/>
          <p:cNvSpPr/>
          <p:nvPr/>
        </p:nvSpPr>
        <p:spPr>
          <a:xfrm>
            <a:off x="5953125" y="1655267"/>
            <a:ext cx="285750" cy="273805"/>
          </a:xfrm>
          <a:prstGeom prst="ellipse">
            <a:avLst/>
          </a:prstGeom>
          <a:solidFill>
            <a:srgbClr val="69B1E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59531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3</a:t>
            </a:r>
          </a:p>
        </p:txBody>
      </p:sp>
      <p:sp>
        <p:nvSpPr>
          <p:cNvPr id="62" name="Rounded Rectangle 61"/>
          <p:cNvSpPr/>
          <p:nvPr/>
        </p:nvSpPr>
        <p:spPr>
          <a:xfrm>
            <a:off x="4943475" y="1992961"/>
            <a:ext cx="2305050" cy="2135683"/>
          </a:xfrm>
          <a:prstGeom prst="roundRect">
            <a:avLst>
              <a:gd name="adj" fmla="val 3719"/>
            </a:avLst>
          </a:prstGeom>
          <a:solidFill>
            <a:srgbClr val="FFFFFF"/>
          </a:solidFill>
          <a:ln w="2032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ounded Rectangle 62"/>
          <p:cNvSpPr/>
          <p:nvPr/>
        </p:nvSpPr>
        <p:spPr>
          <a:xfrm>
            <a:off x="4943475" y="1992961"/>
            <a:ext cx="2305050" cy="310313"/>
          </a:xfrm>
          <a:prstGeom prst="roundRect">
            <a:avLst>
              <a:gd name="adj" fmla="val 3719"/>
            </a:avLst>
          </a:prstGeom>
          <a:solidFill>
            <a:srgbClr val="69B1E0"/>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Oval 63"/>
          <p:cNvSpPr/>
          <p:nvPr/>
        </p:nvSpPr>
        <p:spPr>
          <a:xfrm>
            <a:off x="50577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50577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66" name="TextBox 65"/>
          <p:cNvSpPr txBox="1"/>
          <p:nvPr/>
        </p:nvSpPr>
        <p:spPr>
          <a:xfrm>
            <a:off x="53244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Kulzer GmbH</a:t>
            </a:r>
          </a:p>
        </p:txBody>
      </p:sp>
      <p:sp>
        <p:nvSpPr>
          <p:cNvPr id="67" name="TextBox 66"/>
          <p:cNvSpPr txBox="1"/>
          <p:nvPr/>
        </p:nvSpPr>
        <p:spPr>
          <a:xfrm>
            <a:off x="50387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8" name="TextBox 67"/>
          <p:cNvSpPr txBox="1"/>
          <p:nvPr/>
        </p:nvSpPr>
        <p:spPr>
          <a:xfrm>
            <a:off x="52292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
            </a:r>
          </a:p>
        </p:txBody>
      </p:sp>
      <p:cxnSp>
        <p:nvCxnSpPr>
          <p:cNvPr id="69" name="Connector 68"/>
          <p:cNvCxnSpPr/>
          <p:nvPr/>
        </p:nvCxnSpPr>
        <p:spPr>
          <a:xfrm>
            <a:off x="50387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70" name="TextBox 69"/>
          <p:cNvSpPr txBox="1"/>
          <p:nvPr/>
        </p:nvSpPr>
        <p:spPr>
          <a:xfrm>
            <a:off x="50387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1" name="TextBox 70"/>
          <p:cNvSpPr txBox="1"/>
          <p:nvPr/>
        </p:nvSpPr>
        <p:spPr>
          <a:xfrm>
            <a:off x="52292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72" name="TextBox 71"/>
          <p:cNvSpPr txBox="1"/>
          <p:nvPr/>
        </p:nvSpPr>
        <p:spPr>
          <a:xfrm>
            <a:off x="5229225" y="2805250"/>
            <a:ext cx="1924050" cy="164283"/>
          </a:xfrm>
          <a:prstGeom prst="rect">
            <a:avLst/>
          </a:prstGeom>
          <a:noFill/>
        </p:spPr>
        <p:txBody>
          <a:bodyPr wrap="square" lIns="28575" rIns="28575" tIns="9525" bIns="9525" anchor="ctr">
            <a:spAutoFit/>
          </a:bodyPr>
          <a:lstStyle/>
          <a:p>
            <a:pPr algn="l"/>
            <a:r>
              <a:rPr sz="1100" b="1">
                <a:solidFill>
                  <a:srgbClr val="69B1E0"/>
                </a:solidFill>
                <a:latin typeface="Calibri"/>
              </a:rPr>
              <a:t>Access builder</a:t>
            </a:r>
          </a:p>
        </p:txBody>
      </p:sp>
      <p:cxnSp>
        <p:nvCxnSpPr>
          <p:cNvPr id="73" name="Connector 72"/>
          <p:cNvCxnSpPr/>
          <p:nvPr/>
        </p:nvCxnSpPr>
        <p:spPr>
          <a:xfrm>
            <a:off x="50387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74" name="TextBox 73"/>
          <p:cNvSpPr txBox="1"/>
          <p:nvPr/>
        </p:nvSpPr>
        <p:spPr>
          <a:xfrm>
            <a:off x="50387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5" name="TextBox 74"/>
          <p:cNvSpPr txBox="1"/>
          <p:nvPr/>
        </p:nvSpPr>
        <p:spPr>
          <a:xfrm>
            <a:off x="52292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76" name="TextBox 75"/>
          <p:cNvSpPr txBox="1"/>
          <p:nvPr/>
        </p:nvSpPr>
        <p:spPr>
          <a:xfrm>
            <a:off x="52292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Won through wider channel availability</a:t>
            </a:r>
          </a:p>
        </p:txBody>
      </p:sp>
      <p:cxnSp>
        <p:nvCxnSpPr>
          <p:cNvPr id="77" name="Connector 76"/>
          <p:cNvCxnSpPr/>
          <p:nvPr/>
        </p:nvCxnSpPr>
        <p:spPr>
          <a:xfrm>
            <a:off x="50387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78" name="TextBox 77"/>
          <p:cNvSpPr txBox="1"/>
          <p:nvPr/>
        </p:nvSpPr>
        <p:spPr>
          <a:xfrm>
            <a:off x="50387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9" name="TextBox 78"/>
          <p:cNvSpPr txBox="1"/>
          <p:nvPr/>
        </p:nvSpPr>
        <p:spPr>
          <a:xfrm>
            <a:off x="52292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80" name="TextBox 79"/>
          <p:cNvSpPr txBox="1"/>
          <p:nvPr/>
        </p:nvSpPr>
        <p:spPr>
          <a:xfrm>
            <a:off x="52292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Pricing strategy</a:t>
            </a:r>
          </a:p>
        </p:txBody>
      </p:sp>
      <p:sp>
        <p:nvSpPr>
          <p:cNvPr id="81" name="Oval 80"/>
          <p:cNvSpPr/>
          <p:nvPr/>
        </p:nvSpPr>
        <p:spPr>
          <a:xfrm>
            <a:off x="8353425" y="1655267"/>
            <a:ext cx="285750" cy="273805"/>
          </a:xfrm>
          <a:prstGeom prst="ellipse">
            <a:avLst/>
          </a:prstGeom>
          <a:solidFill>
            <a:srgbClr val="6F3CC2"/>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83534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4</a:t>
            </a:r>
          </a:p>
        </p:txBody>
      </p:sp>
      <p:sp>
        <p:nvSpPr>
          <p:cNvPr id="83" name="Rounded Rectangle 82"/>
          <p:cNvSpPr/>
          <p:nvPr/>
        </p:nvSpPr>
        <p:spPr>
          <a:xfrm>
            <a:off x="7343775" y="1992961"/>
            <a:ext cx="2305050" cy="2135683"/>
          </a:xfrm>
          <a:prstGeom prst="roundRect">
            <a:avLst>
              <a:gd name="adj" fmla="val 3719"/>
            </a:avLst>
          </a:prstGeom>
          <a:solidFill>
            <a:srgbClr val="FFFFFF"/>
          </a:solidFill>
          <a:ln w="20320">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ounded Rectangle 83"/>
          <p:cNvSpPr/>
          <p:nvPr/>
        </p:nvSpPr>
        <p:spPr>
          <a:xfrm>
            <a:off x="7343775" y="1992961"/>
            <a:ext cx="2305050" cy="310313"/>
          </a:xfrm>
          <a:prstGeom prst="roundRect">
            <a:avLst>
              <a:gd name="adj" fmla="val 3719"/>
            </a:avLst>
          </a:prstGeom>
          <a:solidFill>
            <a:srgbClr val="6F3CC2"/>
          </a:solidFill>
          <a:ln w="12700">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Oval 84"/>
          <p:cNvSpPr/>
          <p:nvPr/>
        </p:nvSpPr>
        <p:spPr>
          <a:xfrm>
            <a:off x="74580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TextBox 85"/>
          <p:cNvSpPr txBox="1"/>
          <p:nvPr/>
        </p:nvSpPr>
        <p:spPr>
          <a:xfrm>
            <a:off x="74580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87" name="TextBox 86"/>
          <p:cNvSpPr txBox="1"/>
          <p:nvPr/>
        </p:nvSpPr>
        <p:spPr>
          <a:xfrm>
            <a:off x="77247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GC Corporation</a:t>
            </a:r>
          </a:p>
        </p:txBody>
      </p:sp>
      <p:sp>
        <p:nvSpPr>
          <p:cNvPr id="88" name="TextBox 87"/>
          <p:cNvSpPr txBox="1"/>
          <p:nvPr/>
        </p:nvSpPr>
        <p:spPr>
          <a:xfrm>
            <a:off x="74390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9" name="TextBox 88"/>
          <p:cNvSpPr txBox="1"/>
          <p:nvPr/>
        </p:nvSpPr>
        <p:spPr>
          <a:xfrm>
            <a:off x="76295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
            </a:r>
          </a:p>
        </p:txBody>
      </p:sp>
      <p:cxnSp>
        <p:nvCxnSpPr>
          <p:cNvPr id="90" name="Connector 89"/>
          <p:cNvCxnSpPr/>
          <p:nvPr/>
        </p:nvCxnSpPr>
        <p:spPr>
          <a:xfrm>
            <a:off x="74390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91" name="TextBox 90"/>
          <p:cNvSpPr txBox="1"/>
          <p:nvPr/>
        </p:nvSpPr>
        <p:spPr>
          <a:xfrm>
            <a:off x="74390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2" name="TextBox 91"/>
          <p:cNvSpPr txBox="1"/>
          <p:nvPr/>
        </p:nvSpPr>
        <p:spPr>
          <a:xfrm>
            <a:off x="76295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93" name="TextBox 92"/>
          <p:cNvSpPr txBox="1"/>
          <p:nvPr/>
        </p:nvSpPr>
        <p:spPr>
          <a:xfrm>
            <a:off x="7629525" y="2805250"/>
            <a:ext cx="1924050" cy="164283"/>
          </a:xfrm>
          <a:prstGeom prst="rect">
            <a:avLst/>
          </a:prstGeom>
          <a:noFill/>
        </p:spPr>
        <p:txBody>
          <a:bodyPr wrap="square" lIns="28575" rIns="28575" tIns="9525" bIns="9525" anchor="ctr">
            <a:spAutoFit/>
          </a:bodyPr>
          <a:lstStyle/>
          <a:p>
            <a:pPr algn="l"/>
            <a:r>
              <a:rPr sz="1100" b="1">
                <a:solidFill>
                  <a:srgbClr val="6F3CC2"/>
                </a:solidFill>
                <a:latin typeface="Calibri"/>
              </a:rPr>
              <a:t>Premiumiser</a:t>
            </a:r>
          </a:p>
        </p:txBody>
      </p:sp>
      <p:cxnSp>
        <p:nvCxnSpPr>
          <p:cNvPr id="94" name="Connector 93"/>
          <p:cNvCxnSpPr/>
          <p:nvPr/>
        </p:nvCxnSpPr>
        <p:spPr>
          <a:xfrm>
            <a:off x="74390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95" name="TextBox 94"/>
          <p:cNvSpPr txBox="1"/>
          <p:nvPr/>
        </p:nvSpPr>
        <p:spPr>
          <a:xfrm>
            <a:off x="74390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6" name="TextBox 95"/>
          <p:cNvSpPr txBox="1"/>
          <p:nvPr/>
        </p:nvSpPr>
        <p:spPr>
          <a:xfrm>
            <a:off x="76295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97" name="TextBox 96"/>
          <p:cNvSpPr txBox="1"/>
          <p:nvPr/>
        </p:nvSpPr>
        <p:spPr>
          <a:xfrm>
            <a:off x="76295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Supported premium SKU growth</a:t>
            </a:r>
          </a:p>
        </p:txBody>
      </p:sp>
      <p:cxnSp>
        <p:nvCxnSpPr>
          <p:cNvPr id="98" name="Connector 97"/>
          <p:cNvCxnSpPr/>
          <p:nvPr/>
        </p:nvCxnSpPr>
        <p:spPr>
          <a:xfrm>
            <a:off x="74390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99" name="TextBox 98"/>
          <p:cNvSpPr txBox="1"/>
          <p:nvPr/>
        </p:nvSpPr>
        <p:spPr>
          <a:xfrm>
            <a:off x="74390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0" name="TextBox 99"/>
          <p:cNvSpPr txBox="1"/>
          <p:nvPr/>
        </p:nvSpPr>
        <p:spPr>
          <a:xfrm>
            <a:off x="76295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101" name="TextBox 100"/>
          <p:cNvSpPr txBox="1"/>
          <p:nvPr/>
        </p:nvSpPr>
        <p:spPr>
          <a:xfrm>
            <a:off x="76295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Portfolio/brand investment</a:t>
            </a:r>
          </a:p>
        </p:txBody>
      </p:sp>
      <p:sp>
        <p:nvSpPr>
          <p:cNvPr id="102" name="Oval 101"/>
          <p:cNvSpPr/>
          <p:nvPr/>
        </p:nvSpPr>
        <p:spPr>
          <a:xfrm>
            <a:off x="10753725" y="1655267"/>
            <a:ext cx="285750" cy="273805"/>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TextBox 102"/>
          <p:cNvSpPr txBox="1"/>
          <p:nvPr/>
        </p:nvSpPr>
        <p:spPr>
          <a:xfrm>
            <a:off x="107537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5</a:t>
            </a:r>
          </a:p>
        </p:txBody>
      </p:sp>
      <p:sp>
        <p:nvSpPr>
          <p:cNvPr id="104" name="Rounded Rectangle 103"/>
          <p:cNvSpPr/>
          <p:nvPr/>
        </p:nvSpPr>
        <p:spPr>
          <a:xfrm>
            <a:off x="9744075" y="1992961"/>
            <a:ext cx="2305050" cy="2135683"/>
          </a:xfrm>
          <a:prstGeom prst="roundRect">
            <a:avLst>
              <a:gd name="adj" fmla="val 3719"/>
            </a:avLst>
          </a:prstGeom>
          <a:solidFill>
            <a:srgbClr val="FFFFFF"/>
          </a:solidFill>
          <a:ln w="2032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ounded Rectangle 104"/>
          <p:cNvSpPr/>
          <p:nvPr/>
        </p:nvSpPr>
        <p:spPr>
          <a:xfrm>
            <a:off x="9744075" y="1992961"/>
            <a:ext cx="2305050" cy="310313"/>
          </a:xfrm>
          <a:prstGeom prst="roundRect">
            <a:avLst>
              <a:gd name="adj" fmla="val 3719"/>
            </a:avLst>
          </a:prstGeom>
          <a:solidFill>
            <a:srgbClr val="A86F00"/>
          </a:solidFill>
          <a:ln w="1270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Oval 105"/>
          <p:cNvSpPr/>
          <p:nvPr/>
        </p:nvSpPr>
        <p:spPr>
          <a:xfrm>
            <a:off x="98583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98583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108" name="TextBox 107"/>
          <p:cNvSpPr txBox="1"/>
          <p:nvPr/>
        </p:nvSpPr>
        <p:spPr>
          <a:xfrm>
            <a:off x="101250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SHOFU INC.</a:t>
            </a:r>
          </a:p>
        </p:txBody>
      </p:sp>
      <p:sp>
        <p:nvSpPr>
          <p:cNvPr id="109" name="TextBox 108"/>
          <p:cNvSpPr txBox="1"/>
          <p:nvPr/>
        </p:nvSpPr>
        <p:spPr>
          <a:xfrm>
            <a:off x="98393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0" name="TextBox 109"/>
          <p:cNvSpPr txBox="1"/>
          <p:nvPr/>
        </p:nvSpPr>
        <p:spPr>
          <a:xfrm>
            <a:off x="100298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
            </a:r>
          </a:p>
        </p:txBody>
      </p:sp>
      <p:cxnSp>
        <p:nvCxnSpPr>
          <p:cNvPr id="111" name="Connector 110"/>
          <p:cNvCxnSpPr/>
          <p:nvPr/>
        </p:nvCxnSpPr>
        <p:spPr>
          <a:xfrm>
            <a:off x="98393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112" name="TextBox 111"/>
          <p:cNvSpPr txBox="1"/>
          <p:nvPr/>
        </p:nvSpPr>
        <p:spPr>
          <a:xfrm>
            <a:off x="98393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3" name="TextBox 112"/>
          <p:cNvSpPr txBox="1"/>
          <p:nvPr/>
        </p:nvSpPr>
        <p:spPr>
          <a:xfrm>
            <a:off x="100298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114" name="TextBox 113"/>
          <p:cNvSpPr txBox="1"/>
          <p:nvPr/>
        </p:nvSpPr>
        <p:spPr>
          <a:xfrm>
            <a:off x="10029825" y="2805250"/>
            <a:ext cx="1924050" cy="164283"/>
          </a:xfrm>
          <a:prstGeom prst="rect">
            <a:avLst/>
          </a:prstGeom>
          <a:noFill/>
        </p:spPr>
        <p:txBody>
          <a:bodyPr wrap="square" lIns="28575" rIns="28575" tIns="9525" bIns="9525" anchor="ctr">
            <a:spAutoFit/>
          </a:bodyPr>
          <a:lstStyle/>
          <a:p>
            <a:pPr algn="l"/>
            <a:r>
              <a:rPr sz="1100" b="1">
                <a:solidFill>
                  <a:srgbClr val="A86F00"/>
                </a:solidFill>
                <a:latin typeface="Calibri"/>
              </a:rPr>
              <a:t>Disruptor</a:t>
            </a:r>
          </a:p>
        </p:txBody>
      </p:sp>
      <p:cxnSp>
        <p:nvCxnSpPr>
          <p:cNvPr id="115" name="Connector 114"/>
          <p:cNvCxnSpPr/>
          <p:nvPr/>
        </p:nvCxnSpPr>
        <p:spPr>
          <a:xfrm>
            <a:off x="98393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116" name="TextBox 115"/>
          <p:cNvSpPr txBox="1"/>
          <p:nvPr/>
        </p:nvSpPr>
        <p:spPr>
          <a:xfrm>
            <a:off x="98393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7" name="TextBox 116"/>
          <p:cNvSpPr txBox="1"/>
          <p:nvPr/>
        </p:nvSpPr>
        <p:spPr>
          <a:xfrm>
            <a:off x="100298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118" name="TextBox 117"/>
          <p:cNvSpPr txBox="1"/>
          <p:nvPr/>
        </p:nvSpPr>
        <p:spPr>
          <a:xfrm>
            <a:off x="100298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Strengthened end-user and specifier pull</a:t>
            </a:r>
          </a:p>
        </p:txBody>
      </p:sp>
      <p:cxnSp>
        <p:nvCxnSpPr>
          <p:cNvPr id="119" name="Connector 118"/>
          <p:cNvCxnSpPr/>
          <p:nvPr/>
        </p:nvCxnSpPr>
        <p:spPr>
          <a:xfrm>
            <a:off x="98393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120" name="TextBox 119"/>
          <p:cNvSpPr txBox="1"/>
          <p:nvPr/>
        </p:nvSpPr>
        <p:spPr>
          <a:xfrm>
            <a:off x="98393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1" name="TextBox 120"/>
          <p:cNvSpPr txBox="1"/>
          <p:nvPr/>
        </p:nvSpPr>
        <p:spPr>
          <a:xfrm>
            <a:off x="100298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122" name="TextBox 121"/>
          <p:cNvSpPr txBox="1"/>
          <p:nvPr/>
        </p:nvSpPr>
        <p:spPr>
          <a:xfrm>
            <a:off x="100298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Partnership / acquisition</a:t>
            </a:r>
          </a:p>
        </p:txBody>
      </p:sp>
      <p:sp>
        <p:nvSpPr>
          <p:cNvPr id="123" name="Rounded Rectangle 122"/>
          <p:cNvSpPr/>
          <p:nvPr/>
        </p:nvSpPr>
        <p:spPr>
          <a:xfrm>
            <a:off x="142875" y="4238166"/>
            <a:ext cx="7886700" cy="2391234"/>
          </a:xfrm>
          <a:prstGeom prst="roundRect">
            <a:avLst>
              <a:gd name="adj" fmla="val 1086"/>
            </a:avLst>
          </a:prstGeom>
          <a:solidFill>
            <a:srgbClr val="F7FAFC"/>
          </a:solidFill>
          <a:ln w="12700">
            <a:solidFill>
              <a:srgbClr val="DCE6E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TextBox 123"/>
          <p:cNvSpPr txBox="1"/>
          <p:nvPr/>
        </p:nvSpPr>
        <p:spPr>
          <a:xfrm>
            <a:off x="142875" y="4311180"/>
            <a:ext cx="7886700" cy="182537"/>
          </a:xfrm>
          <a:prstGeom prst="rect">
            <a:avLst/>
          </a:prstGeom>
          <a:noFill/>
        </p:spPr>
        <p:txBody>
          <a:bodyPr wrap="square" lIns="28575" rIns="28575" tIns="9525" bIns="9525" anchor="ctr">
            <a:spAutoFit/>
          </a:bodyPr>
          <a:lstStyle/>
          <a:p>
            <a:pPr algn="ctr"/>
            <a:r>
              <a:rPr sz="1100" b="1">
                <a:solidFill>
                  <a:srgbClr val="0B2E4A"/>
                </a:solidFill>
                <a:latin typeface="Calibri"/>
              </a:rPr>
              <a:t>HOW TO DECIDE WHO SHAPED GROWTH</a:t>
            </a:r>
          </a:p>
        </p:txBody>
      </p:sp>
      <p:sp>
        <p:nvSpPr>
          <p:cNvPr id="125" name="Oval 124"/>
          <p:cNvSpPr/>
          <p:nvPr/>
        </p:nvSpPr>
        <p:spPr>
          <a:xfrm>
            <a:off x="815340" y="4539352"/>
            <a:ext cx="400050" cy="383328"/>
          </a:xfrm>
          <a:prstGeom prst="ellipse">
            <a:avLst/>
          </a:prstGeom>
          <a:solidFill>
            <a:srgbClr val="FFFFFF"/>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TextBox 125"/>
          <p:cNvSpPr txBox="1"/>
          <p:nvPr/>
        </p:nvSpPr>
        <p:spPr>
          <a:xfrm>
            <a:off x="81534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27" name="TextBox 126"/>
          <p:cNvSpPr txBox="1"/>
          <p:nvPr/>
        </p:nvSpPr>
        <p:spPr>
          <a:xfrm>
            <a:off x="27622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0E72AE"/>
                </a:solidFill>
                <a:latin typeface="Calibri"/>
              </a:rPr>
              <a:t>1. SHARE GAIN</a:t>
            </a:r>
          </a:p>
        </p:txBody>
      </p:sp>
      <p:sp>
        <p:nvSpPr>
          <p:cNvPr id="128" name="TextBox 127"/>
          <p:cNvSpPr txBox="1"/>
          <p:nvPr/>
        </p:nvSpPr>
        <p:spPr>
          <a:xfrm>
            <a:off x="27622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Company gained value or volume share</a:t>
            </a:r>
          </a:p>
        </p:txBody>
      </p:sp>
      <p:sp>
        <p:nvSpPr>
          <p:cNvPr id="129" name="Rounded Rectangle 128"/>
          <p:cNvSpPr/>
          <p:nvPr/>
        </p:nvSpPr>
        <p:spPr>
          <a:xfrm>
            <a:off x="520065" y="6027028"/>
            <a:ext cx="990600" cy="237298"/>
          </a:xfrm>
          <a:prstGeom prst="roundRect">
            <a:avLst>
              <a:gd name="adj" fmla="val 11538"/>
            </a:avLst>
          </a:prstGeom>
          <a:solidFill>
            <a:srgbClr val="FFFFFF"/>
          </a:solidFill>
          <a:ln w="1524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TextBox 129"/>
          <p:cNvSpPr txBox="1"/>
          <p:nvPr/>
        </p:nvSpPr>
        <p:spPr>
          <a:xfrm>
            <a:off x="520065" y="6036155"/>
            <a:ext cx="990600" cy="219044"/>
          </a:xfrm>
          <a:prstGeom prst="rect">
            <a:avLst/>
          </a:prstGeom>
          <a:noFill/>
        </p:spPr>
        <p:txBody>
          <a:bodyPr wrap="square" lIns="28575" rIns="28575" tIns="9525" bIns="9525" anchor="ctr">
            <a:spAutoFit/>
          </a:bodyPr>
          <a:lstStyle/>
          <a:p>
            <a:pPr algn="ctr"/>
            <a:r>
              <a:rPr sz="1100" b="1">
                <a:solidFill>
                  <a:srgbClr val="0E72AE"/>
                </a:solidFill>
                <a:latin typeface="Calibri"/>
              </a:rPr>
              <a:t> </a:t>
            </a:r>
          </a:p>
        </p:txBody>
      </p:sp>
      <p:sp>
        <p:nvSpPr>
          <p:cNvPr id="131" name="TextBox 130"/>
          <p:cNvSpPr txBox="1"/>
          <p:nvPr/>
        </p:nvSpPr>
        <p:spPr>
          <a:xfrm>
            <a:off x="1754505" y="4648874"/>
            <a:ext cx="57150" cy="164283"/>
          </a:xfrm>
          <a:prstGeom prst="rect">
            <a:avLst/>
          </a:prstGeom>
          <a:noFill/>
        </p:spPr>
        <p:txBody>
          <a:bodyPr wrap="none" lIns="0" rIns="0" tIns="0" bIns="0" anchor="ctr">
            <a:spAutoFit/>
          </a:bodyPr>
          <a:lstStyle/>
          <a:p>
            <a:pPr algn="ctr"/>
            <a:r>
              <a:rPr sz="1100" b="1">
                <a:solidFill>
                  <a:srgbClr val="6C7A89"/>
                </a:solidFill>
                <a:latin typeface="Calibri"/>
              </a:rPr>
              <a:t>+</a:t>
            </a:r>
          </a:p>
        </p:txBody>
      </p:sp>
      <p:sp>
        <p:nvSpPr>
          <p:cNvPr id="132" name="Oval 131"/>
          <p:cNvSpPr/>
          <p:nvPr/>
        </p:nvSpPr>
        <p:spPr>
          <a:xfrm>
            <a:off x="2350770" y="4539352"/>
            <a:ext cx="400050" cy="383328"/>
          </a:xfrm>
          <a:prstGeom prst="ellipse">
            <a:avLst/>
          </a:prstGeom>
          <a:solidFill>
            <a:srgbClr val="FFFFFF"/>
          </a:solidFill>
          <a:ln w="12700">
            <a:solidFill>
              <a:srgbClr val="A3531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TextBox 132"/>
          <p:cNvSpPr txBox="1"/>
          <p:nvPr/>
        </p:nvSpPr>
        <p:spPr>
          <a:xfrm>
            <a:off x="235077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34" name="TextBox 133"/>
          <p:cNvSpPr txBox="1"/>
          <p:nvPr/>
        </p:nvSpPr>
        <p:spPr>
          <a:xfrm>
            <a:off x="181165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A35313"/>
                </a:solidFill>
                <a:latin typeface="Calibri"/>
              </a:rPr>
              <a:t>2. DISTRIBUTION EXPANSION</a:t>
            </a:r>
          </a:p>
        </p:txBody>
      </p:sp>
      <p:sp>
        <p:nvSpPr>
          <p:cNvPr id="135" name="TextBox 134"/>
          <p:cNvSpPr txBox="1"/>
          <p:nvPr/>
        </p:nvSpPr>
        <p:spPr>
          <a:xfrm>
            <a:off x="181165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Expanded channel, retail or e-commerce reach</a:t>
            </a:r>
          </a:p>
        </p:txBody>
      </p:sp>
      <p:sp>
        <p:nvSpPr>
          <p:cNvPr id="136" name="Rounded Rectangle 135"/>
          <p:cNvSpPr/>
          <p:nvPr/>
        </p:nvSpPr>
        <p:spPr>
          <a:xfrm>
            <a:off x="2055495" y="6027028"/>
            <a:ext cx="990600" cy="237298"/>
          </a:xfrm>
          <a:prstGeom prst="roundRect">
            <a:avLst>
              <a:gd name="adj" fmla="val 11538"/>
            </a:avLst>
          </a:prstGeom>
          <a:solidFill>
            <a:srgbClr val="FFFFFF"/>
          </a:solidFill>
          <a:ln w="15240">
            <a:solidFill>
              <a:srgbClr val="A3531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2055495" y="6036155"/>
            <a:ext cx="990600" cy="219044"/>
          </a:xfrm>
          <a:prstGeom prst="rect">
            <a:avLst/>
          </a:prstGeom>
          <a:noFill/>
        </p:spPr>
        <p:txBody>
          <a:bodyPr wrap="square" lIns="28575" rIns="28575" tIns="9525" bIns="9525" anchor="ctr">
            <a:spAutoFit/>
          </a:bodyPr>
          <a:lstStyle/>
          <a:p>
            <a:pPr algn="ctr"/>
            <a:r>
              <a:rPr sz="1100" b="1">
                <a:solidFill>
                  <a:srgbClr val="A35313"/>
                </a:solidFill>
                <a:latin typeface="Calibri"/>
              </a:rPr>
              <a:t> </a:t>
            </a:r>
          </a:p>
        </p:txBody>
      </p:sp>
      <p:sp>
        <p:nvSpPr>
          <p:cNvPr id="138" name="TextBox 137"/>
          <p:cNvSpPr txBox="1"/>
          <p:nvPr/>
        </p:nvSpPr>
        <p:spPr>
          <a:xfrm>
            <a:off x="3289935" y="4648874"/>
            <a:ext cx="57150" cy="164283"/>
          </a:xfrm>
          <a:prstGeom prst="rect">
            <a:avLst/>
          </a:prstGeom>
          <a:noFill/>
        </p:spPr>
        <p:txBody>
          <a:bodyPr wrap="none" lIns="0" rIns="0" tIns="0" bIns="0" anchor="ctr">
            <a:spAutoFit/>
          </a:bodyPr>
          <a:lstStyle/>
          <a:p>
            <a:pPr algn="ctr"/>
            <a:r>
              <a:rPr sz="1100" b="1">
                <a:solidFill>
                  <a:srgbClr val="6C7A89"/>
                </a:solidFill>
                <a:latin typeface="Calibri"/>
              </a:rPr>
              <a:t>+</a:t>
            </a:r>
          </a:p>
        </p:txBody>
      </p:sp>
      <p:sp>
        <p:nvSpPr>
          <p:cNvPr id="139" name="Oval 138"/>
          <p:cNvSpPr/>
          <p:nvPr/>
        </p:nvSpPr>
        <p:spPr>
          <a:xfrm>
            <a:off x="3886200" y="4539352"/>
            <a:ext cx="400050" cy="383328"/>
          </a:xfrm>
          <a:prstGeom prst="ellipse">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TextBox 139"/>
          <p:cNvSpPr txBox="1"/>
          <p:nvPr/>
        </p:nvSpPr>
        <p:spPr>
          <a:xfrm>
            <a:off x="388620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41" name="TextBox 140"/>
          <p:cNvSpPr txBox="1"/>
          <p:nvPr/>
        </p:nvSpPr>
        <p:spPr>
          <a:xfrm>
            <a:off x="334708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69B1E0"/>
                </a:solidFill>
                <a:latin typeface="Calibri"/>
              </a:rPr>
              <a:t>3. INNOVATION / LAUNCHES</a:t>
            </a:r>
          </a:p>
        </p:txBody>
      </p:sp>
      <p:sp>
        <p:nvSpPr>
          <p:cNvPr id="142" name="TextBox 141"/>
          <p:cNvSpPr txBox="1"/>
          <p:nvPr/>
        </p:nvSpPr>
        <p:spPr>
          <a:xfrm>
            <a:off x="334708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New SKUs, pack sizes or product improvements</a:t>
            </a:r>
          </a:p>
        </p:txBody>
      </p:sp>
      <p:sp>
        <p:nvSpPr>
          <p:cNvPr id="143" name="Rounded Rectangle 142"/>
          <p:cNvSpPr/>
          <p:nvPr/>
        </p:nvSpPr>
        <p:spPr>
          <a:xfrm>
            <a:off x="3590925" y="6027028"/>
            <a:ext cx="990600" cy="237298"/>
          </a:xfrm>
          <a:prstGeom prst="roundRect">
            <a:avLst>
              <a:gd name="adj" fmla="val 11538"/>
            </a:avLst>
          </a:prstGeom>
          <a:solidFill>
            <a:srgbClr val="FFFFFF"/>
          </a:solidFill>
          <a:ln w="1524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3590925" y="6036155"/>
            <a:ext cx="990600" cy="219044"/>
          </a:xfrm>
          <a:prstGeom prst="rect">
            <a:avLst/>
          </a:prstGeom>
          <a:noFill/>
        </p:spPr>
        <p:txBody>
          <a:bodyPr wrap="square" lIns="28575" rIns="28575" tIns="9525" bIns="9525" anchor="ctr">
            <a:spAutoFit/>
          </a:bodyPr>
          <a:lstStyle/>
          <a:p>
            <a:pPr algn="ctr"/>
            <a:r>
              <a:rPr sz="1100" b="1">
                <a:solidFill>
                  <a:srgbClr val="69B1E0"/>
                </a:solidFill>
                <a:latin typeface="Calibri"/>
              </a:rPr>
              <a:t> </a:t>
            </a:r>
          </a:p>
        </p:txBody>
      </p:sp>
      <p:sp>
        <p:nvSpPr>
          <p:cNvPr id="145" name="TextBox 144"/>
          <p:cNvSpPr txBox="1"/>
          <p:nvPr/>
        </p:nvSpPr>
        <p:spPr>
          <a:xfrm>
            <a:off x="4825365" y="4648874"/>
            <a:ext cx="57150" cy="164283"/>
          </a:xfrm>
          <a:prstGeom prst="rect">
            <a:avLst/>
          </a:prstGeom>
          <a:noFill/>
        </p:spPr>
        <p:txBody>
          <a:bodyPr wrap="none" lIns="0" rIns="0" tIns="0" bIns="0" anchor="ctr">
            <a:spAutoFit/>
          </a:bodyPr>
          <a:lstStyle/>
          <a:p>
            <a:pPr algn="ctr"/>
            <a:r>
              <a:rPr sz="1100" b="1">
                <a:solidFill>
                  <a:srgbClr val="6C7A89"/>
                </a:solidFill>
                <a:latin typeface="Calibri"/>
              </a:rPr>
              <a:t>+</a:t>
            </a:r>
          </a:p>
        </p:txBody>
      </p:sp>
      <p:sp>
        <p:nvSpPr>
          <p:cNvPr id="146" name="Oval 145"/>
          <p:cNvSpPr/>
          <p:nvPr/>
        </p:nvSpPr>
        <p:spPr>
          <a:xfrm>
            <a:off x="5421630" y="4539352"/>
            <a:ext cx="400050" cy="383328"/>
          </a:xfrm>
          <a:prstGeom prst="ellipse">
            <a:avLst/>
          </a:prstGeom>
          <a:solidFill>
            <a:srgbClr val="FFFFFF"/>
          </a:solidFill>
          <a:ln w="12700">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TextBox 146"/>
          <p:cNvSpPr txBox="1"/>
          <p:nvPr/>
        </p:nvSpPr>
        <p:spPr>
          <a:xfrm>
            <a:off x="542163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48" name="TextBox 147"/>
          <p:cNvSpPr txBox="1"/>
          <p:nvPr/>
        </p:nvSpPr>
        <p:spPr>
          <a:xfrm>
            <a:off x="488251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6F3CC2"/>
                </a:solidFill>
                <a:latin typeface="Calibri"/>
              </a:rPr>
              <a:t>4. BUYER INFLUENCE</a:t>
            </a:r>
          </a:p>
        </p:txBody>
      </p:sp>
      <p:sp>
        <p:nvSpPr>
          <p:cNvPr id="149" name="TextBox 148"/>
          <p:cNvSpPr txBox="1"/>
          <p:nvPr/>
        </p:nvSpPr>
        <p:spPr>
          <a:xfrm>
            <a:off x="488251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Stronger specifier, channel or end-user pull</a:t>
            </a:r>
          </a:p>
        </p:txBody>
      </p:sp>
      <p:sp>
        <p:nvSpPr>
          <p:cNvPr id="150" name="Rounded Rectangle 149"/>
          <p:cNvSpPr/>
          <p:nvPr/>
        </p:nvSpPr>
        <p:spPr>
          <a:xfrm>
            <a:off x="5126355" y="6027028"/>
            <a:ext cx="990600" cy="237298"/>
          </a:xfrm>
          <a:prstGeom prst="roundRect">
            <a:avLst>
              <a:gd name="adj" fmla="val 11538"/>
            </a:avLst>
          </a:prstGeom>
          <a:solidFill>
            <a:srgbClr val="FFFFFF"/>
          </a:solidFill>
          <a:ln w="15240">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TextBox 150"/>
          <p:cNvSpPr txBox="1"/>
          <p:nvPr/>
        </p:nvSpPr>
        <p:spPr>
          <a:xfrm>
            <a:off x="5126355" y="6036155"/>
            <a:ext cx="990600" cy="219044"/>
          </a:xfrm>
          <a:prstGeom prst="rect">
            <a:avLst/>
          </a:prstGeom>
          <a:noFill/>
        </p:spPr>
        <p:txBody>
          <a:bodyPr wrap="square" lIns="28575" rIns="28575" tIns="9525" bIns="9525" anchor="ctr">
            <a:spAutoFit/>
          </a:bodyPr>
          <a:lstStyle/>
          <a:p>
            <a:pPr algn="ctr"/>
            <a:r>
              <a:rPr sz="1100" b="1">
                <a:solidFill>
                  <a:srgbClr val="6F3CC2"/>
                </a:solidFill>
                <a:latin typeface="Calibri"/>
              </a:rPr>
              <a:t> </a:t>
            </a:r>
          </a:p>
        </p:txBody>
      </p:sp>
      <p:sp>
        <p:nvSpPr>
          <p:cNvPr id="152" name="TextBox 151"/>
          <p:cNvSpPr txBox="1"/>
          <p:nvPr/>
        </p:nvSpPr>
        <p:spPr>
          <a:xfrm>
            <a:off x="6360795" y="4648874"/>
            <a:ext cx="57150" cy="164283"/>
          </a:xfrm>
          <a:prstGeom prst="rect">
            <a:avLst/>
          </a:prstGeom>
          <a:noFill/>
        </p:spPr>
        <p:txBody>
          <a:bodyPr wrap="none" lIns="0" rIns="0" tIns="0" bIns="0" anchor="ctr">
            <a:spAutoFit/>
          </a:bodyPr>
          <a:lstStyle/>
          <a:p>
            <a:pPr algn="ctr"/>
            <a:r>
              <a:rPr sz="1100" b="1">
                <a:solidFill>
                  <a:srgbClr val="6C7A89"/>
                </a:solidFill>
                <a:latin typeface="Calibri"/>
              </a:rPr>
              <a:t>+</a:t>
            </a:r>
          </a:p>
        </p:txBody>
      </p:sp>
      <p:sp>
        <p:nvSpPr>
          <p:cNvPr id="153" name="Oval 152"/>
          <p:cNvSpPr/>
          <p:nvPr/>
        </p:nvSpPr>
        <p:spPr>
          <a:xfrm>
            <a:off x="6957060" y="4539352"/>
            <a:ext cx="400050" cy="383328"/>
          </a:xfrm>
          <a:prstGeom prst="ellipse">
            <a:avLst/>
          </a:prstGeom>
          <a:solidFill>
            <a:srgbClr val="FFFFFF"/>
          </a:solidFill>
          <a:ln w="1270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TextBox 153"/>
          <p:cNvSpPr txBox="1"/>
          <p:nvPr/>
        </p:nvSpPr>
        <p:spPr>
          <a:xfrm>
            <a:off x="695706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55" name="TextBox 154"/>
          <p:cNvSpPr txBox="1"/>
          <p:nvPr/>
        </p:nvSpPr>
        <p:spPr>
          <a:xfrm>
            <a:off x="641794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A86F00"/>
                </a:solidFill>
                <a:latin typeface="Calibri"/>
              </a:rPr>
              <a:t>5. BRAND / PRICING POWER</a:t>
            </a:r>
          </a:p>
        </p:txBody>
      </p:sp>
      <p:sp>
        <p:nvSpPr>
          <p:cNvPr id="156" name="TextBox 155"/>
          <p:cNvSpPr txBox="1"/>
          <p:nvPr/>
        </p:nvSpPr>
        <p:spPr>
          <a:xfrm>
            <a:off x="641794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Premiumisation, positioning or pricing execution</a:t>
            </a:r>
          </a:p>
        </p:txBody>
      </p:sp>
      <p:sp>
        <p:nvSpPr>
          <p:cNvPr id="157" name="Rounded Rectangle 156"/>
          <p:cNvSpPr/>
          <p:nvPr/>
        </p:nvSpPr>
        <p:spPr>
          <a:xfrm>
            <a:off x="6661785" y="6027028"/>
            <a:ext cx="990600" cy="237298"/>
          </a:xfrm>
          <a:prstGeom prst="roundRect">
            <a:avLst>
              <a:gd name="adj" fmla="val 11538"/>
            </a:avLst>
          </a:prstGeom>
          <a:solidFill>
            <a:srgbClr val="FFFFFF"/>
          </a:solidFill>
          <a:ln w="1524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TextBox 157"/>
          <p:cNvSpPr txBox="1"/>
          <p:nvPr/>
        </p:nvSpPr>
        <p:spPr>
          <a:xfrm>
            <a:off x="6661785" y="6036155"/>
            <a:ext cx="990600" cy="219044"/>
          </a:xfrm>
          <a:prstGeom prst="rect">
            <a:avLst/>
          </a:prstGeom>
          <a:noFill/>
        </p:spPr>
        <p:txBody>
          <a:bodyPr wrap="square" lIns="28575" rIns="28575" tIns="9525" bIns="9525" anchor="ctr">
            <a:spAutoFit/>
          </a:bodyPr>
          <a:lstStyle/>
          <a:p>
            <a:pPr algn="ctr"/>
            <a:r>
              <a:rPr sz="1100" b="1">
                <a:solidFill>
                  <a:srgbClr val="A86F00"/>
                </a:solidFill>
                <a:latin typeface="Calibri"/>
              </a:rPr>
              <a:t> </a:t>
            </a:r>
          </a:p>
        </p:txBody>
      </p:sp>
      <p:sp>
        <p:nvSpPr>
          <p:cNvPr id="159" name="Rounded Rectangle 158"/>
          <p:cNvSpPr/>
          <p:nvPr/>
        </p:nvSpPr>
        <p:spPr>
          <a:xfrm>
            <a:off x="8191500" y="4238166"/>
            <a:ext cx="3857625" cy="2391234"/>
          </a:xfrm>
          <a:prstGeom prst="roundRect">
            <a:avLst>
              <a:gd name="adj" fmla="val 2222"/>
            </a:avLst>
          </a:prstGeom>
          <a:solidFill>
            <a:srgbClr val="F4FAF9"/>
          </a:solidFill>
          <a:ln w="12700">
            <a:solidFill>
              <a:srgbClr val="CFE3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TextBox 159"/>
          <p:cNvSpPr txBox="1"/>
          <p:nvPr/>
        </p:nvSpPr>
        <p:spPr>
          <a:xfrm>
            <a:off x="8191500" y="4311180"/>
            <a:ext cx="3857625" cy="182537"/>
          </a:xfrm>
          <a:prstGeom prst="rect">
            <a:avLst/>
          </a:prstGeom>
          <a:noFill/>
        </p:spPr>
        <p:txBody>
          <a:bodyPr wrap="square" lIns="28575" rIns="28575" tIns="9525" bIns="9525" anchor="ctr">
            <a:spAutoFit/>
          </a:bodyPr>
          <a:lstStyle/>
          <a:p>
            <a:pPr algn="ctr"/>
            <a:r>
              <a:rPr sz="1100" b="1">
                <a:solidFill>
                  <a:srgbClr val="1F6F63"/>
                </a:solidFill>
                <a:latin typeface="Calibri"/>
              </a:rPr>
              <a:t>BEST WAY TO USE THIS SLIDE</a:t>
            </a:r>
          </a:p>
        </p:txBody>
      </p:sp>
      <p:cxnSp>
        <p:nvCxnSpPr>
          <p:cNvPr id="161" name="Connector 160"/>
          <p:cNvCxnSpPr/>
          <p:nvPr/>
        </p:nvCxnSpPr>
        <p:spPr>
          <a:xfrm>
            <a:off x="8343900" y="4548478"/>
            <a:ext cx="3552825" cy="0"/>
          </a:xfrm>
          <a:prstGeom prst="line">
            <a:avLst/>
          </a:prstGeom>
          <a:ln w="12700">
            <a:solidFill>
              <a:srgbClr val="CFE3E0"/>
            </a:solidFill>
          </a:ln>
          <a:effectLst/>
        </p:spPr>
        <p:style>
          <a:lnRef idx="2">
            <a:schemeClr val="accent1"/>
          </a:lnRef>
          <a:fillRef idx="0">
            <a:schemeClr val="accent1"/>
          </a:fillRef>
          <a:effectRef idx="1">
            <a:schemeClr val="accent1"/>
          </a:effectRef>
          <a:fontRef idx="minor">
            <a:schemeClr val="tx1"/>
          </a:fontRef>
        </p:style>
      </p:cxnSp>
      <p:sp>
        <p:nvSpPr>
          <p:cNvPr id="162" name="Oval 161"/>
          <p:cNvSpPr/>
          <p:nvPr/>
        </p:nvSpPr>
        <p:spPr>
          <a:xfrm>
            <a:off x="8372475" y="4721889"/>
            <a:ext cx="285750" cy="273805"/>
          </a:xfrm>
          <a:prstGeom prst="ellipse">
            <a:avLst/>
          </a:prstGeom>
          <a:solidFill>
            <a:srgbClr val="FFFFFF"/>
          </a:solidFill>
          <a:ln w="12700">
            <a:solidFill>
              <a:srgbClr val="1F6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TextBox 162"/>
          <p:cNvSpPr txBox="1"/>
          <p:nvPr/>
        </p:nvSpPr>
        <p:spPr>
          <a:xfrm>
            <a:off x="8372475" y="4767523"/>
            <a:ext cx="285750" cy="182537"/>
          </a:xfrm>
          <a:prstGeom prst="rect">
            <a:avLst/>
          </a:prstGeom>
          <a:noFill/>
        </p:spPr>
        <p:txBody>
          <a:bodyPr wrap="none" lIns="0" rIns="0" tIns="0" bIns="0" anchor="ctr">
            <a:spAutoFit/>
          </a:bodyPr>
          <a:lstStyle/>
          <a:p>
            <a:pPr algn="ctr"/>
            <a:r>
              <a:rPr sz="1200" b="0">
                <a:solidFill>
                  <a:srgbClr val="2E2E2E"/>
                </a:solidFill>
                <a:latin typeface="Calibri"/>
              </a:rPr>
              <a:t>📈</a:t>
            </a:r>
          </a:p>
        </p:txBody>
      </p:sp>
      <p:sp>
        <p:nvSpPr>
          <p:cNvPr id="164" name="TextBox 163"/>
          <p:cNvSpPr txBox="1"/>
          <p:nvPr/>
        </p:nvSpPr>
        <p:spPr>
          <a:xfrm>
            <a:off x="8743950" y="4694508"/>
            <a:ext cx="3152775"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Rank companies by impact on category growth</a:t>
            </a:r>
          </a:p>
        </p:txBody>
      </p:sp>
      <p:sp>
        <p:nvSpPr>
          <p:cNvPr id="165" name="Oval 164"/>
          <p:cNvSpPr/>
          <p:nvPr/>
        </p:nvSpPr>
        <p:spPr>
          <a:xfrm>
            <a:off x="8372475" y="5360768"/>
            <a:ext cx="285750" cy="273805"/>
          </a:xfrm>
          <a:prstGeom prst="ellipse">
            <a:avLst/>
          </a:prstGeom>
          <a:solidFill>
            <a:srgbClr val="FFFFFF"/>
          </a:solidFill>
          <a:ln w="12700">
            <a:solidFill>
              <a:srgbClr val="1F6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TextBox 165"/>
          <p:cNvSpPr txBox="1"/>
          <p:nvPr/>
        </p:nvSpPr>
        <p:spPr>
          <a:xfrm>
            <a:off x="8372475" y="5406402"/>
            <a:ext cx="285750" cy="182537"/>
          </a:xfrm>
          <a:prstGeom prst="rect">
            <a:avLst/>
          </a:prstGeom>
          <a:noFill/>
        </p:spPr>
        <p:txBody>
          <a:bodyPr wrap="none" lIns="0" rIns="0" tIns="0" bIns="0" anchor="ctr">
            <a:spAutoFit/>
          </a:bodyPr>
          <a:lstStyle/>
          <a:p>
            <a:pPr algn="ctr"/>
            <a:r>
              <a:rPr sz="1200" b="0">
                <a:solidFill>
                  <a:srgbClr val="2E2E2E"/>
                </a:solidFill>
                <a:latin typeface="Calibri"/>
              </a:rPr>
              <a:t>📄</a:t>
            </a:r>
          </a:p>
        </p:txBody>
      </p:sp>
      <p:sp>
        <p:nvSpPr>
          <p:cNvPr id="167" name="TextBox 166"/>
          <p:cNvSpPr txBox="1"/>
          <p:nvPr/>
        </p:nvSpPr>
        <p:spPr>
          <a:xfrm>
            <a:off x="8743950" y="5333387"/>
            <a:ext cx="3152775"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Mention the one move that explains their impact</a:t>
            </a:r>
          </a:p>
        </p:txBody>
      </p:sp>
      <p:sp>
        <p:nvSpPr>
          <p:cNvPr id="168" name="Oval 167"/>
          <p:cNvSpPr/>
          <p:nvPr/>
        </p:nvSpPr>
        <p:spPr>
          <a:xfrm>
            <a:off x="8372475" y="5999647"/>
            <a:ext cx="285750" cy="273805"/>
          </a:xfrm>
          <a:prstGeom prst="ellipse">
            <a:avLst/>
          </a:prstGeom>
          <a:solidFill>
            <a:srgbClr val="FFFFFF"/>
          </a:solidFill>
          <a:ln w="12700">
            <a:solidFill>
              <a:srgbClr val="1F6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8372475" y="6045282"/>
            <a:ext cx="285750" cy="182537"/>
          </a:xfrm>
          <a:prstGeom prst="rect">
            <a:avLst/>
          </a:prstGeom>
          <a:noFill/>
        </p:spPr>
        <p:txBody>
          <a:bodyPr wrap="none" lIns="0" rIns="0" tIns="0" bIns="0" anchor="ctr">
            <a:spAutoFit/>
          </a:bodyPr>
          <a:lstStyle/>
          <a:p>
            <a:pPr algn="ctr"/>
            <a:r>
              <a:rPr sz="1200" b="0">
                <a:solidFill>
                  <a:srgbClr val="2E2E2E"/>
                </a:solidFill>
                <a:latin typeface="Calibri"/>
              </a:rPr>
              <a:t>🚫</a:t>
            </a:r>
          </a:p>
        </p:txBody>
      </p:sp>
      <p:sp>
        <p:nvSpPr>
          <p:cNvPr id="170" name="TextBox 169"/>
          <p:cNvSpPr txBox="1"/>
          <p:nvPr/>
        </p:nvSpPr>
        <p:spPr>
          <a:xfrm>
            <a:off x="8743950" y="5972267"/>
            <a:ext cx="3152775"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Do not rely on market share alone</a:t>
            </a:r>
          </a:p>
        </p:txBody>
      </p:sp>
      <p:sp>
        <p:nvSpPr>
          <p:cNvPr id="171" name="TextBox 17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72" name="Picture 171" descr="lock.png"/>
          <p:cNvPicPr>
            <a:picLocks noChangeAspect="1"/>
          </p:cNvPicPr>
          <p:nvPr/>
        </p:nvPicPr>
        <p:blipFill>
          <a:blip r:embed="rId4"/>
          <a:stretch>
            <a:fillRect/>
          </a:stretch>
        </p:blipFill>
        <p:spPr>
          <a:xfrm>
            <a:off x="951015" y="6052078"/>
            <a:ext cx="128699" cy="187198"/>
          </a:xfrm>
          <a:prstGeom prst="rect">
            <a:avLst/>
          </a:prstGeom>
        </p:spPr>
      </p:pic>
      <p:pic>
        <p:nvPicPr>
          <p:cNvPr id="173" name="Picture 172" descr="lock.png"/>
          <p:cNvPicPr>
            <a:picLocks noChangeAspect="1"/>
          </p:cNvPicPr>
          <p:nvPr/>
        </p:nvPicPr>
        <p:blipFill>
          <a:blip r:embed="rId4"/>
          <a:stretch>
            <a:fillRect/>
          </a:stretch>
        </p:blipFill>
        <p:spPr>
          <a:xfrm>
            <a:off x="2486445" y="6052078"/>
            <a:ext cx="128699" cy="187198"/>
          </a:xfrm>
          <a:prstGeom prst="rect">
            <a:avLst/>
          </a:prstGeom>
        </p:spPr>
      </p:pic>
      <p:pic>
        <p:nvPicPr>
          <p:cNvPr id="174" name="Picture 173" descr="lock.png"/>
          <p:cNvPicPr>
            <a:picLocks noChangeAspect="1"/>
          </p:cNvPicPr>
          <p:nvPr/>
        </p:nvPicPr>
        <p:blipFill>
          <a:blip r:embed="rId4"/>
          <a:stretch>
            <a:fillRect/>
          </a:stretch>
        </p:blipFill>
        <p:spPr>
          <a:xfrm>
            <a:off x="4021875" y="6052078"/>
            <a:ext cx="128699" cy="187198"/>
          </a:xfrm>
          <a:prstGeom prst="rect">
            <a:avLst/>
          </a:prstGeom>
        </p:spPr>
      </p:pic>
      <p:pic>
        <p:nvPicPr>
          <p:cNvPr id="175" name="Picture 174" descr="lock.png"/>
          <p:cNvPicPr>
            <a:picLocks noChangeAspect="1"/>
          </p:cNvPicPr>
          <p:nvPr/>
        </p:nvPicPr>
        <p:blipFill>
          <a:blip r:embed="rId4"/>
          <a:stretch>
            <a:fillRect/>
          </a:stretch>
        </p:blipFill>
        <p:spPr>
          <a:xfrm>
            <a:off x="5557305" y="6052078"/>
            <a:ext cx="128699" cy="187198"/>
          </a:xfrm>
          <a:prstGeom prst="rect">
            <a:avLst/>
          </a:prstGeom>
        </p:spPr>
      </p:pic>
      <p:pic>
        <p:nvPicPr>
          <p:cNvPr id="176" name="Picture 175" descr="lock.png"/>
          <p:cNvPicPr>
            <a:picLocks noChangeAspect="1"/>
          </p:cNvPicPr>
          <p:nvPr/>
        </p:nvPicPr>
        <p:blipFill>
          <a:blip r:embed="rId4"/>
          <a:stretch>
            <a:fillRect/>
          </a:stretch>
        </p:blipFill>
        <p:spPr>
          <a:xfrm>
            <a:off x="7092735" y="6052078"/>
            <a:ext cx="128699" cy="187198"/>
          </a:xfrm>
          <a:prstGeom prst="rect">
            <a:avLst/>
          </a:prstGeom>
        </p:spPr>
      </p:pic>
      <p:sp>
        <p:nvSpPr>
          <p:cNvPr id="177" name="TextBox 176"/>
          <p:cNvSpPr txBox="1"/>
          <p:nvPr/>
        </p:nvSpPr>
        <p:spPr>
          <a:xfrm>
            <a:off x="457200" y="2398079"/>
            <a:ext cx="595622" cy="139750"/>
          </a:xfrm>
          <a:prstGeom prst="rect">
            <a:avLst/>
          </a:prstGeom>
          <a:noFill/>
        </p:spPr>
        <p:txBody>
          <a:bodyPr wrap="none" lIns="0" rIns="0" tIns="0" bIns="0">
            <a:spAutoFit/>
          </a:bodyPr>
          <a:lstStyle/>
          <a:p>
            <a:r>
              <a:rPr sz="791" b="1">
                <a:solidFill>
                  <a:srgbClr val="2E2E2E"/>
                </a:solidFill>
                <a:latin typeface="Calibri"/>
              </a:rPr>
              <a:t>Value share:</a:t>
            </a:r>
          </a:p>
        </p:txBody>
      </p:sp>
      <p:pic>
        <p:nvPicPr>
          <p:cNvPr id="178" name="Picture 177" descr="lock.png"/>
          <p:cNvPicPr>
            <a:picLocks noChangeAspect="1"/>
          </p:cNvPicPr>
          <p:nvPr/>
        </p:nvPicPr>
        <p:blipFill>
          <a:blip r:embed="rId4"/>
          <a:stretch>
            <a:fillRect/>
          </a:stretch>
        </p:blipFill>
        <p:spPr>
          <a:xfrm>
            <a:off x="994083" y="2391038"/>
            <a:ext cx="92663" cy="134782"/>
          </a:xfrm>
          <a:prstGeom prst="rect">
            <a:avLst/>
          </a:prstGeom>
        </p:spPr>
      </p:pic>
      <p:sp>
        <p:nvSpPr>
          <p:cNvPr id="179" name="TextBox 178"/>
          <p:cNvSpPr txBox="1"/>
          <p:nvPr/>
        </p:nvSpPr>
        <p:spPr>
          <a:xfrm>
            <a:off x="2857500" y="2398079"/>
            <a:ext cx="595622" cy="139750"/>
          </a:xfrm>
          <a:prstGeom prst="rect">
            <a:avLst/>
          </a:prstGeom>
          <a:noFill/>
        </p:spPr>
        <p:txBody>
          <a:bodyPr wrap="none" lIns="0" rIns="0" tIns="0" bIns="0">
            <a:spAutoFit/>
          </a:bodyPr>
          <a:lstStyle/>
          <a:p>
            <a:r>
              <a:rPr sz="791" b="1">
                <a:solidFill>
                  <a:srgbClr val="2E2E2E"/>
                </a:solidFill>
                <a:latin typeface="Calibri"/>
              </a:rPr>
              <a:t>Value share:</a:t>
            </a:r>
          </a:p>
        </p:txBody>
      </p:sp>
      <p:pic>
        <p:nvPicPr>
          <p:cNvPr id="180" name="Picture 179" descr="lock.png"/>
          <p:cNvPicPr>
            <a:picLocks noChangeAspect="1"/>
          </p:cNvPicPr>
          <p:nvPr/>
        </p:nvPicPr>
        <p:blipFill>
          <a:blip r:embed="rId4"/>
          <a:stretch>
            <a:fillRect/>
          </a:stretch>
        </p:blipFill>
        <p:spPr>
          <a:xfrm>
            <a:off x="3394383" y="2391038"/>
            <a:ext cx="92663" cy="134782"/>
          </a:xfrm>
          <a:prstGeom prst="rect">
            <a:avLst/>
          </a:prstGeom>
        </p:spPr>
      </p:pic>
      <p:sp>
        <p:nvSpPr>
          <p:cNvPr id="181" name="TextBox 180"/>
          <p:cNvSpPr txBox="1"/>
          <p:nvPr/>
        </p:nvSpPr>
        <p:spPr>
          <a:xfrm>
            <a:off x="5257800" y="2398079"/>
            <a:ext cx="595622" cy="139750"/>
          </a:xfrm>
          <a:prstGeom prst="rect">
            <a:avLst/>
          </a:prstGeom>
          <a:noFill/>
        </p:spPr>
        <p:txBody>
          <a:bodyPr wrap="none" lIns="0" rIns="0" tIns="0" bIns="0">
            <a:spAutoFit/>
          </a:bodyPr>
          <a:lstStyle/>
          <a:p>
            <a:r>
              <a:rPr sz="791" b="1">
                <a:solidFill>
                  <a:srgbClr val="2E2E2E"/>
                </a:solidFill>
                <a:latin typeface="Calibri"/>
              </a:rPr>
              <a:t>Value share:</a:t>
            </a:r>
          </a:p>
        </p:txBody>
      </p:sp>
      <p:pic>
        <p:nvPicPr>
          <p:cNvPr id="182" name="Picture 181" descr="lock.png"/>
          <p:cNvPicPr>
            <a:picLocks noChangeAspect="1"/>
          </p:cNvPicPr>
          <p:nvPr/>
        </p:nvPicPr>
        <p:blipFill>
          <a:blip r:embed="rId4"/>
          <a:stretch>
            <a:fillRect/>
          </a:stretch>
        </p:blipFill>
        <p:spPr>
          <a:xfrm>
            <a:off x="5794683" y="2391038"/>
            <a:ext cx="92663" cy="134782"/>
          </a:xfrm>
          <a:prstGeom prst="rect">
            <a:avLst/>
          </a:prstGeom>
        </p:spPr>
      </p:pic>
      <p:sp>
        <p:nvSpPr>
          <p:cNvPr id="183" name="TextBox 182"/>
          <p:cNvSpPr txBox="1"/>
          <p:nvPr/>
        </p:nvSpPr>
        <p:spPr>
          <a:xfrm>
            <a:off x="7658100" y="2398079"/>
            <a:ext cx="595622" cy="139750"/>
          </a:xfrm>
          <a:prstGeom prst="rect">
            <a:avLst/>
          </a:prstGeom>
          <a:noFill/>
        </p:spPr>
        <p:txBody>
          <a:bodyPr wrap="none" lIns="0" rIns="0" tIns="0" bIns="0">
            <a:spAutoFit/>
          </a:bodyPr>
          <a:lstStyle/>
          <a:p>
            <a:r>
              <a:rPr sz="791" b="1">
                <a:solidFill>
                  <a:srgbClr val="2E2E2E"/>
                </a:solidFill>
                <a:latin typeface="Calibri"/>
              </a:rPr>
              <a:t>Value share:</a:t>
            </a:r>
          </a:p>
        </p:txBody>
      </p:sp>
      <p:pic>
        <p:nvPicPr>
          <p:cNvPr id="184" name="Picture 183" descr="lock.png"/>
          <p:cNvPicPr>
            <a:picLocks noChangeAspect="1"/>
          </p:cNvPicPr>
          <p:nvPr/>
        </p:nvPicPr>
        <p:blipFill>
          <a:blip r:embed="rId4"/>
          <a:stretch>
            <a:fillRect/>
          </a:stretch>
        </p:blipFill>
        <p:spPr>
          <a:xfrm>
            <a:off x="8194983" y="2391038"/>
            <a:ext cx="92663" cy="134782"/>
          </a:xfrm>
          <a:prstGeom prst="rect">
            <a:avLst/>
          </a:prstGeom>
        </p:spPr>
      </p:pic>
      <p:sp>
        <p:nvSpPr>
          <p:cNvPr id="185" name="TextBox 184"/>
          <p:cNvSpPr txBox="1"/>
          <p:nvPr/>
        </p:nvSpPr>
        <p:spPr>
          <a:xfrm>
            <a:off x="10058400" y="2398079"/>
            <a:ext cx="595622" cy="139750"/>
          </a:xfrm>
          <a:prstGeom prst="rect">
            <a:avLst/>
          </a:prstGeom>
          <a:noFill/>
        </p:spPr>
        <p:txBody>
          <a:bodyPr wrap="none" lIns="0" rIns="0" tIns="0" bIns="0">
            <a:spAutoFit/>
          </a:bodyPr>
          <a:lstStyle/>
          <a:p>
            <a:r>
              <a:rPr sz="791" b="1">
                <a:solidFill>
                  <a:srgbClr val="2E2E2E"/>
                </a:solidFill>
                <a:latin typeface="Calibri"/>
              </a:rPr>
              <a:t>Value share:</a:t>
            </a:r>
          </a:p>
        </p:txBody>
      </p:sp>
      <p:pic>
        <p:nvPicPr>
          <p:cNvPr id="186" name="Picture 185" descr="lock.png"/>
          <p:cNvPicPr>
            <a:picLocks noChangeAspect="1"/>
          </p:cNvPicPr>
          <p:nvPr/>
        </p:nvPicPr>
        <p:blipFill>
          <a:blip r:embed="rId4"/>
          <a:stretch>
            <a:fillRect/>
          </a:stretch>
        </p:blipFill>
        <p:spPr>
          <a:xfrm>
            <a:off x="10595283" y="2391038"/>
            <a:ext cx="92663" cy="134782"/>
          </a:xfrm>
          <a:prstGeom prst="rect">
            <a:avLst/>
          </a:prstGeom>
        </p:spPr>
      </p:pic>
    </p:spTree>
  </p:cSld>
  <p:clrMapOvr>
    <a:masterClrMapping/>
  </p:clrMapOvr>
</p:sld>
</file>

<file path=ppt/slides/slide28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Removable Partial Dentures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Company Profiles &amp; Strategic Benchmarking</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Dentsply Sirona Inc.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Dentsply Sirona Inc. Penetration &amp; Win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Dentsply Sirona Inc. SWOT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Dentsply Sirona Inc. Key Financials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Dentsply Sirona Inc. Strategy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Dentsply Sirona Inc. Executive Market Snapshot (1/5)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total market, addressable opportunity and share of market by end-market, region and product</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Executive snapshot and strategic positioning Dentsply Sirona Inc.: market, addressable opportunity and SOM splits by end-market, region and product.</a:t>
            </a:r>
          </a:p>
        </p:txBody>
      </p:sp>
      <p:sp>
        <p:nvSpPr>
          <p:cNvPr id="11" name="Rounded Rectangle 10"/>
          <p:cNvSpPr/>
          <p:nvPr/>
        </p:nvSpPr>
        <p:spPr>
          <a:xfrm>
            <a:off x="1428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TAM (US$ MN)</a:t>
            </a:r>
          </a:p>
          <a:p>
            <a:pPr algn="ctr">
              <a:lnSpc>
                <a:spcPct val="95000"/>
              </a:lnSpc>
            </a:pPr>
            <a:r>
              <a:rPr sz="1500" b="1">
                <a:solidFill>
                  <a:srgbClr val="0E72AE"/>
                </a:solidFill>
                <a:latin typeface="Calibri"/>
              </a:rPr>
              <a:t>1,731</a:t>
            </a:r>
          </a:p>
          <a:p>
            <a:pPr algn="ctr">
              <a:lnSpc>
                <a:spcPct val="95000"/>
              </a:lnSpc>
            </a:pPr>
            <a:r>
              <a:rPr sz="1100" b="0">
                <a:solidFill>
                  <a:srgbClr val="6C7A89"/>
                </a:solidFill>
                <a:latin typeface="Calibri"/>
              </a:rPr>
              <a:t>Total market</a:t>
            </a:r>
          </a:p>
        </p:txBody>
      </p:sp>
      <p:sp>
        <p:nvSpPr>
          <p:cNvPr id="12" name="Rounded Rectangle 11"/>
          <p:cNvSpPr/>
          <p:nvPr/>
        </p:nvSpPr>
        <p:spPr>
          <a:xfrm>
            <a:off x="25431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SAM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Addressable</a:t>
            </a:r>
          </a:p>
        </p:txBody>
      </p:sp>
      <p:sp>
        <p:nvSpPr>
          <p:cNvPr id="13" name="Rounded Rectangle 12"/>
          <p:cNvSpPr/>
          <p:nvPr/>
        </p:nvSpPr>
        <p:spPr>
          <a:xfrm>
            <a:off x="49530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4" name="Rounded Rectangle 13"/>
          <p:cNvSpPr/>
          <p:nvPr/>
        </p:nvSpPr>
        <p:spPr>
          <a:xfrm>
            <a:off x="73533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End-Market (US$ Mn)</a:t>
            </a:r>
          </a:p>
        </p:txBody>
      </p:sp>
      <p:graphicFrame>
        <p:nvGraphicFramePr>
          <p:cNvPr id="18" name="Chart 17"/>
          <p:cNvGraphicFramePr>
            <a:graphicFrameLocks noGrp="1"/>
          </p:cNvGraphicFramePr>
          <p:nvPr/>
        </p:nvGraphicFramePr>
        <p:xfrm>
          <a:off x="238125" y="2351726"/>
          <a:ext cx="3638550" cy="2267379"/>
        </p:xfrm>
        <a:graphic>
          <a:graphicData uri="http://schemas.openxmlformats.org/drawingml/2006/chart">
            <c:chart xmlns:c="http://schemas.openxmlformats.org/drawingml/2006/chart" r:id="rId3"/>
          </a:graphicData>
        </a:graphic>
      </p:graphicFrame>
      <p:sp>
        <p:nvSpPr>
          <p:cNvPr id="19" name="Rounded Rectangle 18"/>
          <p:cNvSpPr/>
          <p:nvPr/>
        </p:nvSpPr>
        <p:spPr>
          <a:xfrm>
            <a:off x="412432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421957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Region (US$ Mn)</a:t>
            </a:r>
          </a:p>
        </p:txBody>
      </p:sp>
      <p:graphicFrame>
        <p:nvGraphicFramePr>
          <p:cNvPr id="21" name="Chart 20"/>
          <p:cNvGraphicFramePr>
            <a:graphicFrameLocks noGrp="1"/>
          </p:cNvGraphicFramePr>
          <p:nvPr/>
        </p:nvGraphicFramePr>
        <p:xfrm>
          <a:off x="4219575" y="2351726"/>
          <a:ext cx="3638550" cy="2267379"/>
        </p:xfrm>
        <a:graphic>
          <a:graphicData uri="http://schemas.openxmlformats.org/drawingml/2006/chart">
            <c:chart xmlns:c="http://schemas.openxmlformats.org/drawingml/2006/chart" r:id="rId4"/>
          </a:graphicData>
        </a:graphic>
      </p:graphicFrame>
      <p:sp>
        <p:nvSpPr>
          <p:cNvPr id="22" name="Rounded Rectangle 21"/>
          <p:cNvSpPr/>
          <p:nvPr/>
        </p:nvSpPr>
        <p:spPr>
          <a:xfrm>
            <a:off x="8105775" y="2065976"/>
            <a:ext cx="39433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8201025" y="2123126"/>
            <a:ext cx="3752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Product Line (US$ Mn)</a:t>
            </a:r>
          </a:p>
        </p:txBody>
      </p:sp>
      <p:graphicFrame>
        <p:nvGraphicFramePr>
          <p:cNvPr id="24" name="Chart 23"/>
          <p:cNvGraphicFramePr>
            <a:graphicFrameLocks noGrp="1"/>
          </p:cNvGraphicFramePr>
          <p:nvPr/>
        </p:nvGraphicFramePr>
        <p:xfrm>
          <a:off x="8201025" y="2351726"/>
          <a:ext cx="3752850" cy="2267379"/>
        </p:xfrm>
        <a:graphic>
          <a:graphicData uri="http://schemas.openxmlformats.org/drawingml/2006/chart">
            <c:chart xmlns:c="http://schemas.openxmlformats.org/drawingml/2006/chart" r:id="rId5"/>
          </a:graphicData>
        </a:graphic>
      </p:graphicFrame>
      <p:sp>
        <p:nvSpPr>
          <p:cNvPr id="25" name="Rounded Rectangle 24"/>
          <p:cNvSpPr/>
          <p:nvPr/>
        </p:nvSpPr>
        <p:spPr>
          <a:xfrm>
            <a:off x="142875" y="4785777"/>
            <a:ext cx="11906250" cy="1807116"/>
          </a:xfrm>
          <a:prstGeom prst="roundRect">
            <a:avLst>
              <a:gd name="adj" fmla="val 421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76225" y="4871502"/>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27" name="Rectangle 26"/>
          <p:cNvSpPr/>
          <p:nvPr/>
        </p:nvSpPr>
        <p:spPr>
          <a:xfrm>
            <a:off x="276225" y="5109627"/>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76225" y="5195352"/>
            <a:ext cx="11639550" cy="1321341"/>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7"/>
          <a:stretch>
            <a:fillRect/>
          </a:stretch>
        </p:blipFill>
        <p:spPr>
          <a:xfrm>
            <a:off x="3602831" y="1522714"/>
            <a:ext cx="157162" cy="228600"/>
          </a:xfrm>
          <a:prstGeom prst="rect">
            <a:avLst/>
          </a:prstGeom>
        </p:spPr>
      </p:pic>
      <p:pic>
        <p:nvPicPr>
          <p:cNvPr id="31" name="Picture 30" descr="lock.png"/>
          <p:cNvPicPr>
            <a:picLocks noChangeAspect="1"/>
          </p:cNvPicPr>
          <p:nvPr/>
        </p:nvPicPr>
        <p:blipFill>
          <a:blip r:embed="rId7"/>
          <a:stretch>
            <a:fillRect/>
          </a:stretch>
        </p:blipFill>
        <p:spPr>
          <a:xfrm>
            <a:off x="8412956" y="1522714"/>
            <a:ext cx="157162" cy="228600"/>
          </a:xfrm>
          <a:prstGeom prst="rect">
            <a:avLst/>
          </a:prstGeom>
        </p:spPr>
      </p:pic>
      <p:pic>
        <p:nvPicPr>
          <p:cNvPr id="32" name="Picture 31" descr="lock.png"/>
          <p:cNvPicPr>
            <a:picLocks noChangeAspect="1"/>
          </p:cNvPicPr>
          <p:nvPr/>
        </p:nvPicPr>
        <p:blipFill>
          <a:blip r:embed="rId7"/>
          <a:stretch>
            <a:fillRect/>
          </a:stretch>
        </p:blipFill>
        <p:spPr>
          <a:xfrm>
            <a:off x="10822781" y="1522714"/>
            <a:ext cx="157162" cy="228600"/>
          </a:xfrm>
          <a:prstGeom prst="rect">
            <a:avLst/>
          </a:prstGeom>
        </p:spPr>
      </p:pic>
      <p:pic>
        <p:nvPicPr>
          <p:cNvPr id="33" name="Picture 32" descr="lock.png"/>
          <p:cNvPicPr>
            <a:picLocks noChangeAspect="1"/>
          </p:cNvPicPr>
          <p:nvPr/>
        </p:nvPicPr>
        <p:blipFill>
          <a:blip r:embed="rId7"/>
          <a:stretch>
            <a:fillRect/>
          </a:stretch>
        </p:blipFill>
        <p:spPr>
          <a:xfrm>
            <a:off x="2104623" y="3299104"/>
            <a:ext cx="197242" cy="286897"/>
          </a:xfrm>
          <a:prstGeom prst="rect">
            <a:avLst/>
          </a:prstGeom>
        </p:spPr>
      </p:pic>
      <p:pic>
        <p:nvPicPr>
          <p:cNvPr id="34" name="Picture 33" descr="lock.png"/>
          <p:cNvPicPr>
            <a:picLocks noChangeAspect="1"/>
          </p:cNvPicPr>
          <p:nvPr/>
        </p:nvPicPr>
        <p:blipFill>
          <a:blip r:embed="rId7"/>
          <a:stretch>
            <a:fillRect/>
          </a:stretch>
        </p:blipFill>
        <p:spPr>
          <a:xfrm>
            <a:off x="6086073" y="3299104"/>
            <a:ext cx="197242" cy="286897"/>
          </a:xfrm>
          <a:prstGeom prst="rect">
            <a:avLst/>
          </a:prstGeom>
        </p:spPr>
      </p:pic>
      <p:pic>
        <p:nvPicPr>
          <p:cNvPr id="35" name="Picture 34" descr="lock.png"/>
          <p:cNvPicPr>
            <a:picLocks noChangeAspect="1"/>
          </p:cNvPicPr>
          <p:nvPr/>
        </p:nvPicPr>
        <p:blipFill>
          <a:blip r:embed="rId7"/>
          <a:stretch>
            <a:fillRect/>
          </a:stretch>
        </p:blipFill>
        <p:spPr>
          <a:xfrm>
            <a:off x="9278088" y="3145920"/>
            <a:ext cx="444576" cy="646656"/>
          </a:xfrm>
          <a:prstGeom prst="rect">
            <a:avLst/>
          </a:prstGeom>
        </p:spPr>
      </p:pic>
      <p:sp>
        <p:nvSpPr>
          <p:cNvPr id="36" name="TextBox 35"/>
          <p:cNvSpPr txBox="1"/>
          <p:nvPr/>
        </p:nvSpPr>
        <p:spPr>
          <a:xfrm>
            <a:off x="5758516" y="1377568"/>
            <a:ext cx="741641" cy="146456"/>
          </a:xfrm>
          <a:prstGeom prst="rect">
            <a:avLst/>
          </a:prstGeom>
          <a:noFill/>
        </p:spPr>
        <p:txBody>
          <a:bodyPr wrap="none" lIns="0" rIns="0" tIns="0" bIns="0">
            <a:spAutoFit/>
          </a:bodyPr>
          <a:lstStyle/>
          <a:p>
            <a:r>
              <a:rPr sz="835" b="1">
                <a:solidFill>
                  <a:srgbClr val="6C7A89"/>
                </a:solidFill>
                <a:latin typeface="Calibri"/>
              </a:rPr>
              <a:t>SOM (US$ MN)</a:t>
            </a:r>
          </a:p>
        </p:txBody>
      </p:sp>
      <p:pic>
        <p:nvPicPr>
          <p:cNvPr id="37" name="Picture 36" descr="lock.png"/>
          <p:cNvPicPr>
            <a:picLocks noChangeAspect="1"/>
          </p:cNvPicPr>
          <p:nvPr/>
        </p:nvPicPr>
        <p:blipFill>
          <a:blip r:embed="rId7"/>
          <a:stretch>
            <a:fillRect/>
          </a:stretch>
        </p:blipFill>
        <p:spPr>
          <a:xfrm>
            <a:off x="6017010" y="1533061"/>
            <a:ext cx="133378" cy="194005"/>
          </a:xfrm>
          <a:prstGeom prst="rect">
            <a:avLst/>
          </a:prstGeom>
        </p:spPr>
      </p:pic>
      <p:pic>
        <p:nvPicPr>
          <p:cNvPr id="38" name="Picture 37" descr="lock.png"/>
          <p:cNvPicPr>
            <a:picLocks noChangeAspect="1"/>
          </p:cNvPicPr>
          <p:nvPr/>
        </p:nvPicPr>
        <p:blipFill>
          <a:blip r:embed="rId7"/>
          <a:stretch>
            <a:fillRect/>
          </a:stretch>
        </p:blipFill>
        <p:spPr>
          <a:xfrm>
            <a:off x="5865805" y="1761621"/>
            <a:ext cx="97811" cy="142270"/>
          </a:xfrm>
          <a:prstGeom prst="rect">
            <a:avLst/>
          </a:prstGeom>
        </p:spPr>
      </p:pic>
      <p:sp>
        <p:nvSpPr>
          <p:cNvPr id="39" name="TextBox 38"/>
          <p:cNvSpPr txBox="1"/>
          <p:nvPr/>
        </p:nvSpPr>
        <p:spPr>
          <a:xfrm>
            <a:off x="5993102" y="1769053"/>
            <a:ext cx="389531" cy="146456"/>
          </a:xfrm>
          <a:prstGeom prst="rect">
            <a:avLst/>
          </a:prstGeom>
          <a:noFill/>
        </p:spPr>
        <p:txBody>
          <a:bodyPr wrap="none" lIns="0" rIns="0" tIns="0" bIns="0">
            <a:spAutoFit/>
          </a:bodyPr>
          <a:lstStyle/>
          <a:p>
            <a:r>
              <a:rPr sz="835" b="0">
                <a:solidFill>
                  <a:srgbClr val="6C7A89"/>
                </a:solidFill>
                <a:latin typeface="Calibri"/>
              </a:rPr>
              <a:t>of SAM</a:t>
            </a:r>
          </a:p>
        </p:txBody>
      </p:sp>
      <p:sp>
        <p:nvSpPr>
          <p:cNvPr id="40" name="TextBox 39"/>
          <p:cNvSpPr txBox="1"/>
          <p:nvPr/>
        </p:nvSpPr>
        <p:spPr>
          <a:xfrm>
            <a:off x="276225" y="5204877"/>
            <a:ext cx="3010036" cy="194310"/>
          </a:xfrm>
          <a:prstGeom prst="rect">
            <a:avLst/>
          </a:prstGeom>
          <a:noFill/>
        </p:spPr>
        <p:txBody>
          <a:bodyPr wrap="none" lIns="0" rIns="0" tIns="0" bIns="0">
            <a:spAutoFit/>
          </a:bodyPr>
          <a:lstStyle/>
          <a:p>
            <a:r>
              <a:rPr sz="1150" b="0">
                <a:solidFill>
                  <a:srgbClr val="2E2E2E"/>
                </a:solidFill>
                <a:latin typeface="Calibri"/>
              </a:rPr>
              <a:t>▪ Market Position: Dentsply Sirona Inc. captures ~</a:t>
            </a:r>
          </a:p>
        </p:txBody>
      </p:sp>
      <p:pic>
        <p:nvPicPr>
          <p:cNvPr id="41" name="Picture 40" descr="lock.png"/>
          <p:cNvPicPr>
            <a:picLocks noChangeAspect="1"/>
          </p:cNvPicPr>
          <p:nvPr/>
        </p:nvPicPr>
        <p:blipFill>
          <a:blip r:embed="rId7"/>
          <a:stretch>
            <a:fillRect/>
          </a:stretch>
        </p:blipFill>
        <p:spPr>
          <a:xfrm>
            <a:off x="3235415" y="5194653"/>
            <a:ext cx="134549" cy="195707"/>
          </a:xfrm>
          <a:prstGeom prst="rect">
            <a:avLst/>
          </a:prstGeom>
        </p:spPr>
      </p:pic>
      <p:sp>
        <p:nvSpPr>
          <p:cNvPr id="42" name="TextBox 41"/>
          <p:cNvSpPr txBox="1"/>
          <p:nvPr/>
        </p:nvSpPr>
        <p:spPr>
          <a:xfrm>
            <a:off x="3410524" y="5204877"/>
            <a:ext cx="5624958" cy="194310"/>
          </a:xfrm>
          <a:prstGeom prst="rect">
            <a:avLst/>
          </a:prstGeom>
          <a:noFill/>
        </p:spPr>
        <p:txBody>
          <a:bodyPr wrap="none" lIns="0" rIns="0" tIns="0" bIns="0">
            <a:spAutoFit/>
          </a:bodyPr>
          <a:lstStyle/>
          <a:p>
            <a:r>
              <a:rPr sz="1150" b="0">
                <a:solidFill>
                  <a:srgbClr val="2E2E2E"/>
                </a:solidFill>
                <a:latin typeface="Calibri"/>
              </a:rPr>
              <a:t>of a US$ Mn SAM, with its strongest end-market in 'Academic &amp; Teaching Dental Institutions'.</a:t>
            </a:r>
          </a:p>
        </p:txBody>
      </p:sp>
      <p:sp>
        <p:nvSpPr>
          <p:cNvPr id="43" name="TextBox 42"/>
          <p:cNvSpPr txBox="1"/>
          <p:nvPr/>
        </p:nvSpPr>
        <p:spPr>
          <a:xfrm>
            <a:off x="276225" y="5432715"/>
            <a:ext cx="7358446" cy="194310"/>
          </a:xfrm>
          <a:prstGeom prst="rect">
            <a:avLst/>
          </a:prstGeom>
          <a:noFill/>
        </p:spPr>
        <p:txBody>
          <a:bodyPr wrap="none" lIns="0" rIns="0" tIns="0" bIns="0">
            <a:spAutoFit/>
          </a:bodyPr>
          <a:lstStyle/>
          <a:p>
            <a:r>
              <a:rPr sz="1150" b="0">
                <a:solidFill>
                  <a:srgbClr val="2E2E2E"/>
                </a:solidFill>
                <a:latin typeface="Calibri"/>
              </a:rPr>
              <a:t>▪ Geographic Balance: 'North America' is the largest SOM region; 'Rest of the World' shows the highest SAM penetration (~</a:t>
            </a:r>
          </a:p>
        </p:txBody>
      </p:sp>
      <p:pic>
        <p:nvPicPr>
          <p:cNvPr id="44" name="Picture 43" descr="lock.png"/>
          <p:cNvPicPr>
            <a:picLocks noChangeAspect="1"/>
          </p:cNvPicPr>
          <p:nvPr/>
        </p:nvPicPr>
        <p:blipFill>
          <a:blip r:embed="rId7"/>
          <a:stretch>
            <a:fillRect/>
          </a:stretch>
        </p:blipFill>
        <p:spPr>
          <a:xfrm>
            <a:off x="7583825" y="5422491"/>
            <a:ext cx="134549" cy="195707"/>
          </a:xfrm>
          <a:prstGeom prst="rect">
            <a:avLst/>
          </a:prstGeom>
        </p:spPr>
      </p:pic>
      <p:sp>
        <p:nvSpPr>
          <p:cNvPr id="45" name="TextBox 44"/>
          <p:cNvSpPr txBox="1"/>
          <p:nvPr/>
        </p:nvSpPr>
        <p:spPr>
          <a:xfrm>
            <a:off x="7758935" y="5432715"/>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46" name="TextBox 45"/>
          <p:cNvSpPr txBox="1"/>
          <p:nvPr/>
        </p:nvSpPr>
        <p:spPr>
          <a:xfrm>
            <a:off x="276225" y="5660552"/>
            <a:ext cx="1391791" cy="194310"/>
          </a:xfrm>
          <a:prstGeom prst="rect">
            <a:avLst/>
          </a:prstGeom>
          <a:noFill/>
        </p:spPr>
        <p:txBody>
          <a:bodyPr wrap="none" lIns="0" rIns="0" tIns="0" bIns="0">
            <a:spAutoFit/>
          </a:bodyPr>
          <a:lstStyle/>
          <a:p>
            <a:r>
              <a:rPr sz="1150" b="0">
                <a:solidFill>
                  <a:srgbClr val="2E2E2E"/>
                </a:solidFill>
                <a:latin typeface="Calibri"/>
              </a:rPr>
              <a:t>▪ Growth Trajectory: a</a:t>
            </a:r>
          </a:p>
        </p:txBody>
      </p:sp>
      <p:pic>
        <p:nvPicPr>
          <p:cNvPr id="47" name="Picture 46" descr="lock.png"/>
          <p:cNvPicPr>
            <a:picLocks noChangeAspect="1"/>
          </p:cNvPicPr>
          <p:nvPr/>
        </p:nvPicPr>
        <p:blipFill>
          <a:blip r:embed="rId7"/>
          <a:stretch>
            <a:fillRect/>
          </a:stretch>
        </p:blipFill>
        <p:spPr>
          <a:xfrm>
            <a:off x="1617169" y="5650329"/>
            <a:ext cx="134549" cy="195707"/>
          </a:xfrm>
          <a:prstGeom prst="rect">
            <a:avLst/>
          </a:prstGeom>
        </p:spPr>
      </p:pic>
      <p:sp>
        <p:nvSpPr>
          <p:cNvPr id="48" name="TextBox 47"/>
          <p:cNvSpPr txBox="1"/>
          <p:nvPr/>
        </p:nvSpPr>
        <p:spPr>
          <a:xfrm>
            <a:off x="1792279" y="5660552"/>
            <a:ext cx="1129072" cy="194310"/>
          </a:xfrm>
          <a:prstGeom prst="rect">
            <a:avLst/>
          </a:prstGeom>
          <a:noFill/>
        </p:spPr>
        <p:txBody>
          <a:bodyPr wrap="none" lIns="0" rIns="0" tIns="0" bIns="0">
            <a:spAutoFit/>
          </a:bodyPr>
          <a:lstStyle/>
          <a:p>
            <a:r>
              <a:rPr sz="1150" b="0">
                <a:solidFill>
                  <a:srgbClr val="2E2E2E"/>
                </a:solidFill>
                <a:latin typeface="Calibri"/>
              </a:rPr>
              <a:t>book-to-bill and ~</a:t>
            </a:r>
          </a:p>
        </p:txBody>
      </p:sp>
      <p:pic>
        <p:nvPicPr>
          <p:cNvPr id="49" name="Picture 48" descr="lock.png"/>
          <p:cNvPicPr>
            <a:picLocks noChangeAspect="1"/>
          </p:cNvPicPr>
          <p:nvPr/>
        </p:nvPicPr>
        <p:blipFill>
          <a:blip r:embed="rId7"/>
          <a:stretch>
            <a:fillRect/>
          </a:stretch>
        </p:blipFill>
        <p:spPr>
          <a:xfrm>
            <a:off x="2870505" y="5650329"/>
            <a:ext cx="134549" cy="195707"/>
          </a:xfrm>
          <a:prstGeom prst="rect">
            <a:avLst/>
          </a:prstGeom>
        </p:spPr>
      </p:pic>
      <p:sp>
        <p:nvSpPr>
          <p:cNvPr id="50" name="TextBox 49"/>
          <p:cNvSpPr txBox="1"/>
          <p:nvPr/>
        </p:nvSpPr>
        <p:spPr>
          <a:xfrm>
            <a:off x="3045614" y="5660552"/>
            <a:ext cx="4503594" cy="194310"/>
          </a:xfrm>
          <a:prstGeom prst="rect">
            <a:avLst/>
          </a:prstGeom>
          <a:noFill/>
        </p:spPr>
        <p:txBody>
          <a:bodyPr wrap="none" lIns="0" rIns="0" tIns="0" bIns="0">
            <a:spAutoFit/>
          </a:bodyPr>
          <a:lstStyle/>
          <a:p>
            <a:r>
              <a:rPr sz="1150" b="0">
                <a:solidFill>
                  <a:srgbClr val="2E2E2E"/>
                </a:solidFill>
                <a:latin typeface="Calibri"/>
              </a:rPr>
              <a:t>EBITDA margin point to a path to capture more of the addressable market.</a:t>
            </a:r>
          </a:p>
        </p:txBody>
      </p:sp>
      <p:sp>
        <p:nvSpPr>
          <p:cNvPr id="51" name="TextBox 50"/>
          <p:cNvSpPr txBox="1"/>
          <p:nvPr/>
        </p:nvSpPr>
        <p:spPr>
          <a:xfrm>
            <a:off x="276225" y="5888390"/>
            <a:ext cx="1353535" cy="194310"/>
          </a:xfrm>
          <a:prstGeom prst="rect">
            <a:avLst/>
          </a:prstGeom>
          <a:noFill/>
        </p:spPr>
        <p:txBody>
          <a:bodyPr wrap="none" lIns="0" rIns="0" tIns="0" bIns="0">
            <a:spAutoFit/>
          </a:bodyPr>
          <a:lstStyle/>
          <a:p>
            <a:r>
              <a:rPr sz="1150" b="0">
                <a:solidFill>
                  <a:srgbClr val="2E2E2E"/>
                </a:solidFill>
                <a:latin typeface="Calibri"/>
              </a:rPr>
              <a:t>▪ Competitive Edge: ~</a:t>
            </a:r>
          </a:p>
        </p:txBody>
      </p:sp>
      <p:pic>
        <p:nvPicPr>
          <p:cNvPr id="52" name="Picture 51" descr="lock.png"/>
          <p:cNvPicPr>
            <a:picLocks noChangeAspect="1"/>
          </p:cNvPicPr>
          <p:nvPr/>
        </p:nvPicPr>
        <p:blipFill>
          <a:blip r:embed="rId7"/>
          <a:stretch>
            <a:fillRect/>
          </a:stretch>
        </p:blipFill>
        <p:spPr>
          <a:xfrm>
            <a:off x="1578914" y="5878167"/>
            <a:ext cx="134549" cy="195707"/>
          </a:xfrm>
          <a:prstGeom prst="rect">
            <a:avLst/>
          </a:prstGeom>
        </p:spPr>
      </p:pic>
      <p:sp>
        <p:nvSpPr>
          <p:cNvPr id="53" name="TextBox 52"/>
          <p:cNvSpPr txBox="1"/>
          <p:nvPr/>
        </p:nvSpPr>
        <p:spPr>
          <a:xfrm>
            <a:off x="1754024" y="5888390"/>
            <a:ext cx="1072591" cy="194310"/>
          </a:xfrm>
          <a:prstGeom prst="rect">
            <a:avLst/>
          </a:prstGeom>
          <a:noFill/>
        </p:spPr>
        <p:txBody>
          <a:bodyPr wrap="none" lIns="0" rIns="0" tIns="0" bIns="0">
            <a:spAutoFit/>
          </a:bodyPr>
          <a:lstStyle/>
          <a:p>
            <a:r>
              <a:rPr sz="1150" b="0">
                <a:solidFill>
                  <a:srgbClr val="2E2E2E"/>
                </a:solidFill>
                <a:latin typeface="Calibri"/>
              </a:rPr>
              <a:t>win rate with a +</a:t>
            </a:r>
          </a:p>
        </p:txBody>
      </p:sp>
      <p:pic>
        <p:nvPicPr>
          <p:cNvPr id="54" name="Picture 53" descr="lock.png"/>
          <p:cNvPicPr>
            <a:picLocks noChangeAspect="1"/>
          </p:cNvPicPr>
          <p:nvPr/>
        </p:nvPicPr>
        <p:blipFill>
          <a:blip r:embed="rId7"/>
          <a:stretch>
            <a:fillRect/>
          </a:stretch>
        </p:blipFill>
        <p:spPr>
          <a:xfrm>
            <a:off x="2775769" y="5878167"/>
            <a:ext cx="134549" cy="195707"/>
          </a:xfrm>
          <a:prstGeom prst="rect">
            <a:avLst/>
          </a:prstGeom>
        </p:spPr>
      </p:pic>
      <p:sp>
        <p:nvSpPr>
          <p:cNvPr id="55" name="TextBox 54"/>
          <p:cNvSpPr txBox="1"/>
          <p:nvPr/>
        </p:nvSpPr>
        <p:spPr>
          <a:xfrm>
            <a:off x="2950879" y="5888390"/>
            <a:ext cx="1137059" cy="194310"/>
          </a:xfrm>
          <a:prstGeom prst="rect">
            <a:avLst/>
          </a:prstGeom>
          <a:noFill/>
        </p:spPr>
        <p:txBody>
          <a:bodyPr wrap="none" lIns="0" rIns="0" tIns="0" bIns="0">
            <a:spAutoFit/>
          </a:bodyPr>
          <a:lstStyle/>
          <a:p>
            <a:r>
              <a:rPr sz="1150" b="0">
                <a:solidFill>
                  <a:srgbClr val="2E2E2E"/>
                </a:solidFill>
                <a:latin typeface="Calibri"/>
              </a:rPr>
              <a:t>ASP premium and</a:t>
            </a:r>
          </a:p>
        </p:txBody>
      </p:sp>
      <p:pic>
        <p:nvPicPr>
          <p:cNvPr id="56" name="Picture 55" descr="lock.png"/>
          <p:cNvPicPr>
            <a:picLocks noChangeAspect="1"/>
          </p:cNvPicPr>
          <p:nvPr/>
        </p:nvPicPr>
        <p:blipFill>
          <a:blip r:embed="rId7"/>
          <a:stretch>
            <a:fillRect/>
          </a:stretch>
        </p:blipFill>
        <p:spPr>
          <a:xfrm>
            <a:off x="4037092" y="5878167"/>
            <a:ext cx="134549" cy="195707"/>
          </a:xfrm>
          <a:prstGeom prst="rect">
            <a:avLst/>
          </a:prstGeom>
        </p:spPr>
      </p:pic>
      <p:sp>
        <p:nvSpPr>
          <p:cNvPr id="57" name="TextBox 56"/>
          <p:cNvSpPr txBox="1"/>
          <p:nvPr/>
        </p:nvSpPr>
        <p:spPr>
          <a:xfrm>
            <a:off x="4212201" y="5888390"/>
            <a:ext cx="1259147" cy="194310"/>
          </a:xfrm>
          <a:prstGeom prst="rect">
            <a:avLst/>
          </a:prstGeom>
          <a:noFill/>
        </p:spPr>
        <p:txBody>
          <a:bodyPr wrap="none" lIns="0" rIns="0" tIns="0" bIns="0">
            <a:spAutoFit/>
          </a:bodyPr>
          <a:lstStyle/>
          <a:p>
            <a:r>
              <a:rPr sz="1150" b="0">
                <a:solidFill>
                  <a:srgbClr val="2E2E2E"/>
                </a:solidFill>
                <a:latin typeface="Calibri"/>
              </a:rPr>
              <a:t>x pipeline coverage.</a:t>
            </a:r>
          </a:p>
        </p:txBody>
      </p:sp>
      <p:sp>
        <p:nvSpPr>
          <p:cNvPr id="58" name="lockshield_18"/>
          <p:cNvSpPr/>
          <p:nvPr/>
        </p:nvSpPr>
        <p:spPr>
          <a:xfrm>
            <a:off x="23812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lockshield_21"/>
          <p:cNvSpPr/>
          <p:nvPr/>
        </p:nvSpPr>
        <p:spPr>
          <a:xfrm>
            <a:off x="421957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lockshield_24"/>
          <p:cNvSpPr/>
          <p:nvPr/>
        </p:nvSpPr>
        <p:spPr>
          <a:xfrm>
            <a:off x="8201025" y="2351726"/>
            <a:ext cx="37528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Dentsply Sirona Inc. Regional Penetration &amp; Win Position (2/5)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penetration and competitive positioning highlighting growth potential, win rates and sales efficiency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Regional penetration and competitive positioning Dentsply Sirona Inc.: SOM vs SAM by region, win position, TAM/SAM/SOM and go-to-market benchmarks.</a:t>
            </a:r>
          </a:p>
        </p:txBody>
      </p:sp>
      <p:sp>
        <p:nvSpPr>
          <p:cNvPr id="11" name="Rounded Rectangle 10"/>
          <p:cNvSpPr/>
          <p:nvPr/>
        </p:nvSpPr>
        <p:spPr>
          <a:xfrm>
            <a:off x="142875" y="1299320"/>
            <a:ext cx="590550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vs SAM Penetration by Region</a:t>
            </a:r>
          </a:p>
        </p:txBody>
      </p:sp>
      <p:graphicFrame>
        <p:nvGraphicFramePr>
          <p:cNvPr id="13" name="Chart 12"/>
          <p:cNvGraphicFramePr>
            <a:graphicFrameLocks noGrp="1"/>
          </p:cNvGraphicFramePr>
          <p:nvPr/>
        </p:nvGraphicFramePr>
        <p:xfrm>
          <a:off x="238125" y="1585070"/>
          <a:ext cx="5715000" cy="1920559"/>
        </p:xfrm>
        <a:graphic>
          <a:graphicData uri="http://schemas.openxmlformats.org/drawingml/2006/chart">
            <c:chart xmlns:c="http://schemas.openxmlformats.org/drawingml/2006/chart" r:id="rId3"/>
          </a:graphicData>
        </a:graphic>
      </p:graphicFrame>
      <p:sp>
        <p:nvSpPr>
          <p:cNvPr id="14" name="Rounded Rectangle 13"/>
          <p:cNvSpPr/>
          <p:nvPr/>
        </p:nvSpPr>
        <p:spPr>
          <a:xfrm>
            <a:off x="6162675" y="1299320"/>
            <a:ext cx="588645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57925" y="1356470"/>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Competitive Win Position</a:t>
            </a:r>
          </a:p>
        </p:txBody>
      </p:sp>
      <p:cxnSp>
        <p:nvCxnSpPr>
          <p:cNvPr id="16" name="Connector 15"/>
          <p:cNvCxnSpPr/>
          <p:nvPr/>
        </p:nvCxnSpPr>
        <p:spPr>
          <a:xfrm>
            <a:off x="6581775" y="3219879"/>
            <a:ext cx="5257800" cy="0"/>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81775" y="1680320"/>
            <a:ext cx="0" cy="1539559"/>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6467475" y="3238929"/>
            <a:ext cx="228600" cy="114300"/>
          </a:xfrm>
          <a:prstGeom prst="rect">
            <a:avLst/>
          </a:prstGeom>
          <a:noFill/>
        </p:spPr>
        <p:txBody>
          <a:bodyPr wrap="none" lIns="0" rIns="0" tIns="0" bIns="0">
            <a:spAutoFit/>
          </a:bodyPr>
          <a:lstStyle/>
          <a:p>
            <a:pPr algn="ctr"/>
            <a:r>
              <a:rPr sz="1100" b="0">
                <a:solidFill>
                  <a:srgbClr val="6C7A89"/>
                </a:solidFill>
                <a:latin typeface="Calibri"/>
              </a:rPr>
              <a:t>0</a:t>
            </a:r>
          </a:p>
        </p:txBody>
      </p:sp>
      <p:sp>
        <p:nvSpPr>
          <p:cNvPr id="19" name="TextBox 18"/>
          <p:cNvSpPr txBox="1"/>
          <p:nvPr/>
        </p:nvSpPr>
        <p:spPr>
          <a:xfrm>
            <a:off x="7969704" y="3238929"/>
            <a:ext cx="228600" cy="114300"/>
          </a:xfrm>
          <a:prstGeom prst="rect">
            <a:avLst/>
          </a:prstGeom>
          <a:noFill/>
        </p:spPr>
        <p:txBody>
          <a:bodyPr wrap="none" lIns="0" rIns="0" tIns="0" bIns="0">
            <a:spAutoFit/>
          </a:bodyPr>
          <a:lstStyle/>
          <a:p>
            <a:pPr algn="ctr"/>
            <a:r>
              <a:rPr sz="1100" b="0">
                <a:solidFill>
                  <a:srgbClr val="6C7A89"/>
                </a:solidFill>
                <a:latin typeface="Calibri"/>
              </a:rPr>
              <a:t>1</a:t>
            </a:r>
          </a:p>
        </p:txBody>
      </p:sp>
      <p:sp>
        <p:nvSpPr>
          <p:cNvPr id="20" name="TextBox 19"/>
          <p:cNvSpPr txBox="1"/>
          <p:nvPr/>
        </p:nvSpPr>
        <p:spPr>
          <a:xfrm>
            <a:off x="9471932" y="3238929"/>
            <a:ext cx="228600" cy="114300"/>
          </a:xfrm>
          <a:prstGeom prst="rect">
            <a:avLst/>
          </a:prstGeom>
          <a:noFill/>
        </p:spPr>
        <p:txBody>
          <a:bodyPr wrap="none" lIns="0" rIns="0" tIns="0" bIns="0">
            <a:spAutoFit/>
          </a:bodyPr>
          <a:lstStyle/>
          <a:p>
            <a:pPr algn="ctr"/>
            <a:r>
              <a:rPr sz="1100" b="0">
                <a:solidFill>
                  <a:srgbClr val="6C7A89"/>
                </a:solidFill>
                <a:latin typeface="Calibri"/>
              </a:rPr>
              <a:t>2</a:t>
            </a:r>
          </a:p>
        </p:txBody>
      </p:sp>
      <p:sp>
        <p:nvSpPr>
          <p:cNvPr id="21" name="TextBox 20"/>
          <p:cNvSpPr txBox="1"/>
          <p:nvPr/>
        </p:nvSpPr>
        <p:spPr>
          <a:xfrm>
            <a:off x="10974161" y="3238929"/>
            <a:ext cx="228600" cy="114300"/>
          </a:xfrm>
          <a:prstGeom prst="rect">
            <a:avLst/>
          </a:prstGeom>
          <a:noFill/>
        </p:spPr>
        <p:txBody>
          <a:bodyPr wrap="none" lIns="0" rIns="0" tIns="0" bIns="0">
            <a:spAutoFit/>
          </a:bodyPr>
          <a:lstStyle/>
          <a:p>
            <a:pPr algn="ctr"/>
            <a:r>
              <a:rPr sz="1100" b="0">
                <a:solidFill>
                  <a:srgbClr val="6C7A89"/>
                </a:solidFill>
                <a:latin typeface="Calibri"/>
              </a:rPr>
              <a:t>3</a:t>
            </a:r>
          </a:p>
        </p:txBody>
      </p:sp>
      <p:sp>
        <p:nvSpPr>
          <p:cNvPr id="22" name="TextBox 21"/>
          <p:cNvSpPr txBox="1"/>
          <p:nvPr/>
        </p:nvSpPr>
        <p:spPr>
          <a:xfrm>
            <a:off x="6581775" y="3353229"/>
            <a:ext cx="5257800" cy="114300"/>
          </a:xfrm>
          <a:prstGeom prst="rect">
            <a:avLst/>
          </a:prstGeom>
          <a:noFill/>
        </p:spPr>
        <p:txBody>
          <a:bodyPr wrap="square" lIns="28575" rIns="28575" tIns="9525" bIns="9525">
            <a:spAutoFit/>
          </a:bodyPr>
          <a:lstStyle/>
          <a:p>
            <a:pPr algn="ctr"/>
            <a:r>
              <a:rPr sz="1100" b="0">
                <a:solidFill>
                  <a:srgbClr val="6C7A89"/>
                </a:solidFill>
                <a:latin typeface="Calibri"/>
              </a:rPr>
              <a:t>Win Rate %</a:t>
            </a:r>
          </a:p>
        </p:txBody>
      </p:sp>
      <p:sp>
        <p:nvSpPr>
          <p:cNvPr id="23" name="TextBox 22"/>
          <p:cNvSpPr txBox="1"/>
          <p:nvPr/>
        </p:nvSpPr>
        <p:spPr>
          <a:xfrm rot="16200000">
            <a:off x="6029325" y="2373900"/>
            <a:ext cx="571500" cy="152400"/>
          </a:xfrm>
          <a:prstGeom prst="rect">
            <a:avLst/>
          </a:prstGeom>
          <a:noFill/>
        </p:spPr>
        <p:txBody>
          <a:bodyPr wrap="square" lIns="28575" rIns="28575" tIns="9525" bIns="9525">
            <a:spAutoFit/>
          </a:bodyPr>
          <a:lstStyle/>
          <a:p>
            <a:pPr algn="ctr"/>
            <a:r>
              <a:rPr sz="1100" b="0">
                <a:solidFill>
                  <a:srgbClr val="6C7A89"/>
                </a:solidFill>
                <a:latin typeface="Calibri"/>
              </a:rPr>
              <a:t>ASP vs Peer</a:t>
            </a:r>
          </a:p>
        </p:txBody>
      </p:sp>
      <p:sp>
        <p:nvSpPr>
          <p:cNvPr id="24" name="Oval 23"/>
          <p:cNvSpPr/>
          <p:nvPr/>
        </p:nvSpPr>
        <p:spPr>
          <a:xfrm>
            <a:off x="7359287" y="1979874"/>
            <a:ext cx="247650" cy="247650"/>
          </a:xfrm>
          <a:prstGeom prst="ellipse">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645037" y="201797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Dentsply Sirona Inc.</a:t>
            </a:r>
          </a:p>
        </p:txBody>
      </p:sp>
      <p:sp>
        <p:nvSpPr>
          <p:cNvPr id="26" name="Oval 25"/>
          <p:cNvSpPr/>
          <p:nvPr/>
        </p:nvSpPr>
        <p:spPr>
          <a:xfrm>
            <a:off x="9283609" y="1912810"/>
            <a:ext cx="304800" cy="304800"/>
          </a:xfrm>
          <a:prstGeom prst="ellipse">
            <a:avLst/>
          </a:prstGeom>
          <a:solidFill>
            <a:srgbClr val="8C8C8C"/>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9626509" y="1979485"/>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Industry Avg.</a:t>
            </a:r>
          </a:p>
        </p:txBody>
      </p:sp>
      <p:sp>
        <p:nvSpPr>
          <p:cNvPr id="28" name="Oval 27"/>
          <p:cNvSpPr/>
          <p:nvPr/>
        </p:nvSpPr>
        <p:spPr>
          <a:xfrm>
            <a:off x="10513967" y="2711164"/>
            <a:ext cx="247650" cy="247650"/>
          </a:xfrm>
          <a:prstGeom prst="ellipse">
            <a:avLst/>
          </a:prstGeom>
          <a:solidFill>
            <a:srgbClr val="0E72AE"/>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10706100" y="274926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Market Leader</a:t>
            </a:r>
          </a:p>
        </p:txBody>
      </p:sp>
      <p:sp>
        <p:nvSpPr>
          <p:cNvPr id="30" name="Rounded Rectangle 29"/>
          <p:cNvSpPr/>
          <p:nvPr/>
        </p:nvSpPr>
        <p:spPr>
          <a:xfrm>
            <a:off x="142875" y="3635794"/>
            <a:ext cx="590550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 y="3692944"/>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TAM · SAM · SOM (US$ Mn)</a:t>
            </a:r>
          </a:p>
        </p:txBody>
      </p:sp>
      <p:sp>
        <p:nvSpPr>
          <p:cNvPr id="32" name="Rectangle 31"/>
          <p:cNvSpPr/>
          <p:nvPr/>
        </p:nvSpPr>
        <p:spPr>
          <a:xfrm>
            <a:off x="238125" y="3921544"/>
            <a:ext cx="5715000" cy="363195"/>
          </a:xfrm>
          <a:prstGeom prst="rect">
            <a:avLst/>
          </a:prstGeom>
          <a:solidFill>
            <a:srgbClr val="0A2E4D"/>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3" name="Rectangle 32"/>
          <p:cNvSpPr/>
          <p:nvPr/>
        </p:nvSpPr>
        <p:spPr>
          <a:xfrm>
            <a:off x="238125" y="4399039"/>
            <a:ext cx="4400550" cy="363195"/>
          </a:xfrm>
          <a:prstGeom prst="rect">
            <a:avLst/>
          </a:prstGeom>
          <a:solidFill>
            <a:srgbClr val="1668A8"/>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4" name="Rectangle 33"/>
          <p:cNvSpPr/>
          <p:nvPr/>
        </p:nvSpPr>
        <p:spPr>
          <a:xfrm>
            <a:off x="238125" y="4876535"/>
            <a:ext cx="3086100" cy="363195"/>
          </a:xfrm>
          <a:prstGeom prst="rect">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5" name="Rounded Rectangle 34"/>
          <p:cNvSpPr/>
          <p:nvPr/>
        </p:nvSpPr>
        <p:spPr>
          <a:xfrm>
            <a:off x="6162675" y="3635794"/>
            <a:ext cx="588645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257925" y="3692944"/>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Go-to-Market Benchmarks (Target vs Actual)</a:t>
            </a:r>
          </a:p>
        </p:txBody>
      </p:sp>
      <p:sp>
        <p:nvSpPr>
          <p:cNvPr id="37" name="Rectangle 36"/>
          <p:cNvSpPr/>
          <p:nvPr/>
        </p:nvSpPr>
        <p:spPr>
          <a:xfrm>
            <a:off x="10391775" y="3940594"/>
            <a:ext cx="95250" cy="95250"/>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1050607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Target</a:t>
            </a:r>
          </a:p>
        </p:txBody>
      </p:sp>
      <p:sp>
        <p:nvSpPr>
          <p:cNvPr id="39" name="Rectangle 38"/>
          <p:cNvSpPr/>
          <p:nvPr/>
        </p:nvSpPr>
        <p:spPr>
          <a:xfrm>
            <a:off x="11134725" y="3940594"/>
            <a:ext cx="95250" cy="95250"/>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1124902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Actual</a:t>
            </a:r>
          </a:p>
        </p:txBody>
      </p:sp>
      <p:sp>
        <p:nvSpPr>
          <p:cNvPr id="41" name="TextBox 40"/>
          <p:cNvSpPr txBox="1"/>
          <p:nvPr/>
        </p:nvSpPr>
        <p:spPr>
          <a:xfrm>
            <a:off x="6276975" y="4153941"/>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Conversion (%)</a:t>
            </a:r>
          </a:p>
        </p:txBody>
      </p:sp>
      <p:sp>
        <p:nvSpPr>
          <p:cNvPr id="42" name="Rectangle 41"/>
          <p:cNvSpPr/>
          <p:nvPr/>
        </p:nvSpPr>
        <p:spPr>
          <a:xfrm>
            <a:off x="7381875" y="4164998"/>
            <a:ext cx="1597914"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7381875" y="4277766"/>
            <a:ext cx="3018282"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6276975" y="4466337"/>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Sales Cycle (Days)</a:t>
            </a:r>
          </a:p>
        </p:txBody>
      </p:sp>
      <p:sp>
        <p:nvSpPr>
          <p:cNvPr id="45" name="Rectangle 44"/>
          <p:cNvSpPr/>
          <p:nvPr/>
        </p:nvSpPr>
        <p:spPr>
          <a:xfrm>
            <a:off x="7381875" y="4477393"/>
            <a:ext cx="3817239"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7381875" y="4590162"/>
            <a:ext cx="2219325"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6276975" y="4778732"/>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Pipeline Coverage</a:t>
            </a:r>
          </a:p>
        </p:txBody>
      </p:sp>
      <p:sp>
        <p:nvSpPr>
          <p:cNvPr id="48" name="Rectangle 47"/>
          <p:cNvSpPr/>
          <p:nvPr/>
        </p:nvSpPr>
        <p:spPr>
          <a:xfrm>
            <a:off x="7381875" y="4789789"/>
            <a:ext cx="2130552"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7381875" y="4902557"/>
            <a:ext cx="3906012"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ounded Rectangle 49"/>
          <p:cNvSpPr/>
          <p:nvPr/>
        </p:nvSpPr>
        <p:spPr>
          <a:xfrm>
            <a:off x="142875" y="5369895"/>
            <a:ext cx="11906250" cy="1259505"/>
          </a:xfrm>
          <a:prstGeom prst="roundRect">
            <a:avLst>
              <a:gd name="adj" fmla="val 60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276225" y="545562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52" name="Rectangle 51"/>
          <p:cNvSpPr/>
          <p:nvPr/>
        </p:nvSpPr>
        <p:spPr>
          <a:xfrm>
            <a:off x="276225" y="569374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76225" y="5779470"/>
            <a:ext cx="11639550" cy="77373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4" name="TextBox 5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5" name="Picture 54" descr="lock.png"/>
          <p:cNvPicPr>
            <a:picLocks noChangeAspect="1"/>
          </p:cNvPicPr>
          <p:nvPr/>
        </p:nvPicPr>
        <p:blipFill>
          <a:blip r:embed="rId5"/>
          <a:stretch>
            <a:fillRect/>
          </a:stretch>
        </p:blipFill>
        <p:spPr>
          <a:xfrm>
            <a:off x="3327425" y="2314517"/>
            <a:ext cx="199521" cy="290213"/>
          </a:xfrm>
          <a:prstGeom prst="rect">
            <a:avLst/>
          </a:prstGeom>
        </p:spPr>
      </p:pic>
      <p:sp>
        <p:nvSpPr>
          <p:cNvPr id="56" name="TextBox 55"/>
          <p:cNvSpPr txBox="1"/>
          <p:nvPr/>
        </p:nvSpPr>
        <p:spPr>
          <a:xfrm>
            <a:off x="352425" y="4015511"/>
            <a:ext cx="871202" cy="194310"/>
          </a:xfrm>
          <a:prstGeom prst="rect">
            <a:avLst/>
          </a:prstGeom>
          <a:noFill/>
        </p:spPr>
        <p:txBody>
          <a:bodyPr wrap="none" lIns="0" rIns="0" tIns="0" bIns="0">
            <a:spAutoFit/>
          </a:bodyPr>
          <a:lstStyle/>
          <a:p>
            <a:r>
              <a:rPr sz="1150" b="1">
                <a:solidFill>
                  <a:srgbClr val="FFFFFF"/>
                </a:solidFill>
                <a:latin typeface="Calibri"/>
              </a:rPr>
              <a:t>TAM · 100% ·</a:t>
            </a:r>
          </a:p>
        </p:txBody>
      </p:sp>
      <p:pic>
        <p:nvPicPr>
          <p:cNvPr id="57" name="Picture 56" descr="lock.png"/>
          <p:cNvPicPr>
            <a:picLocks noChangeAspect="1"/>
          </p:cNvPicPr>
          <p:nvPr/>
        </p:nvPicPr>
        <p:blipFill>
          <a:blip r:embed="rId5"/>
          <a:stretch>
            <a:fillRect/>
          </a:stretch>
        </p:blipFill>
        <p:spPr>
          <a:xfrm>
            <a:off x="1172781" y="4005288"/>
            <a:ext cx="134549" cy="195707"/>
          </a:xfrm>
          <a:prstGeom prst="rect">
            <a:avLst/>
          </a:prstGeom>
        </p:spPr>
      </p:pic>
      <p:sp>
        <p:nvSpPr>
          <p:cNvPr id="58" name="TextBox 57"/>
          <p:cNvSpPr txBox="1"/>
          <p:nvPr/>
        </p:nvSpPr>
        <p:spPr>
          <a:xfrm>
            <a:off x="1347890" y="4015511"/>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59" name="TextBox 58"/>
          <p:cNvSpPr txBox="1"/>
          <p:nvPr/>
        </p:nvSpPr>
        <p:spPr>
          <a:xfrm>
            <a:off x="352425" y="4493006"/>
            <a:ext cx="433623" cy="194310"/>
          </a:xfrm>
          <a:prstGeom prst="rect">
            <a:avLst/>
          </a:prstGeom>
          <a:noFill/>
        </p:spPr>
        <p:txBody>
          <a:bodyPr wrap="none" lIns="0" rIns="0" tIns="0" bIns="0">
            <a:spAutoFit/>
          </a:bodyPr>
          <a:lstStyle/>
          <a:p>
            <a:r>
              <a:rPr sz="1150" b="1">
                <a:solidFill>
                  <a:srgbClr val="FFFFFF"/>
                </a:solidFill>
                <a:latin typeface="Calibri"/>
              </a:rPr>
              <a:t>SAM ·</a:t>
            </a:r>
          </a:p>
        </p:txBody>
      </p:sp>
      <p:pic>
        <p:nvPicPr>
          <p:cNvPr id="60" name="Picture 59" descr="lock.png"/>
          <p:cNvPicPr>
            <a:picLocks noChangeAspect="1"/>
          </p:cNvPicPr>
          <p:nvPr/>
        </p:nvPicPr>
        <p:blipFill>
          <a:blip r:embed="rId5"/>
          <a:stretch>
            <a:fillRect/>
          </a:stretch>
        </p:blipFill>
        <p:spPr>
          <a:xfrm>
            <a:off x="735202" y="4482783"/>
            <a:ext cx="134549" cy="195707"/>
          </a:xfrm>
          <a:prstGeom prst="rect">
            <a:avLst/>
          </a:prstGeom>
        </p:spPr>
      </p:pic>
      <p:sp>
        <p:nvSpPr>
          <p:cNvPr id="61" name="TextBox 60"/>
          <p:cNvSpPr txBox="1"/>
          <p:nvPr/>
        </p:nvSpPr>
        <p:spPr>
          <a:xfrm>
            <a:off x="910311" y="4493006"/>
            <a:ext cx="594791" cy="194310"/>
          </a:xfrm>
          <a:prstGeom prst="rect">
            <a:avLst/>
          </a:prstGeom>
          <a:noFill/>
        </p:spPr>
        <p:txBody>
          <a:bodyPr wrap="none" lIns="0" rIns="0" tIns="0" bIns="0">
            <a:spAutoFit/>
          </a:bodyPr>
          <a:lstStyle/>
          <a:p>
            <a:r>
              <a:rPr sz="1150" b="1">
                <a:solidFill>
                  <a:srgbClr val="FFFFFF"/>
                </a:solidFill>
                <a:latin typeface="Calibri"/>
              </a:rPr>
              <a:t>of TAM ·</a:t>
            </a:r>
          </a:p>
        </p:txBody>
      </p:sp>
      <p:pic>
        <p:nvPicPr>
          <p:cNvPr id="62" name="Picture 61" descr="lock.png"/>
          <p:cNvPicPr>
            <a:picLocks noChangeAspect="1"/>
          </p:cNvPicPr>
          <p:nvPr/>
        </p:nvPicPr>
        <p:blipFill>
          <a:blip r:embed="rId5"/>
          <a:stretch>
            <a:fillRect/>
          </a:stretch>
        </p:blipFill>
        <p:spPr>
          <a:xfrm>
            <a:off x="1454256" y="4482783"/>
            <a:ext cx="134549" cy="195707"/>
          </a:xfrm>
          <a:prstGeom prst="rect">
            <a:avLst/>
          </a:prstGeom>
        </p:spPr>
      </p:pic>
      <p:sp>
        <p:nvSpPr>
          <p:cNvPr id="63" name="TextBox 62"/>
          <p:cNvSpPr txBox="1"/>
          <p:nvPr/>
        </p:nvSpPr>
        <p:spPr>
          <a:xfrm>
            <a:off x="1629366" y="4493006"/>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64" name="TextBox 63"/>
          <p:cNvSpPr txBox="1"/>
          <p:nvPr/>
        </p:nvSpPr>
        <p:spPr>
          <a:xfrm>
            <a:off x="352425" y="4970502"/>
            <a:ext cx="443892" cy="194310"/>
          </a:xfrm>
          <a:prstGeom prst="rect">
            <a:avLst/>
          </a:prstGeom>
          <a:noFill/>
        </p:spPr>
        <p:txBody>
          <a:bodyPr wrap="none" lIns="0" rIns="0" tIns="0" bIns="0">
            <a:spAutoFit/>
          </a:bodyPr>
          <a:lstStyle/>
          <a:p>
            <a:r>
              <a:rPr sz="1150" b="1">
                <a:solidFill>
                  <a:srgbClr val="FFFFFF"/>
                </a:solidFill>
                <a:latin typeface="Calibri"/>
              </a:rPr>
              <a:t>SOM ·</a:t>
            </a:r>
          </a:p>
        </p:txBody>
      </p:sp>
      <p:pic>
        <p:nvPicPr>
          <p:cNvPr id="65" name="Picture 64" descr="lock.png"/>
          <p:cNvPicPr>
            <a:picLocks noChangeAspect="1"/>
          </p:cNvPicPr>
          <p:nvPr/>
        </p:nvPicPr>
        <p:blipFill>
          <a:blip r:embed="rId5"/>
          <a:stretch>
            <a:fillRect/>
          </a:stretch>
        </p:blipFill>
        <p:spPr>
          <a:xfrm>
            <a:off x="745471" y="4960279"/>
            <a:ext cx="134549" cy="195707"/>
          </a:xfrm>
          <a:prstGeom prst="rect">
            <a:avLst/>
          </a:prstGeom>
        </p:spPr>
      </p:pic>
      <p:sp>
        <p:nvSpPr>
          <p:cNvPr id="66" name="TextBox 65"/>
          <p:cNvSpPr txBox="1"/>
          <p:nvPr/>
        </p:nvSpPr>
        <p:spPr>
          <a:xfrm>
            <a:off x="920580" y="4970502"/>
            <a:ext cx="591368" cy="194310"/>
          </a:xfrm>
          <a:prstGeom prst="rect">
            <a:avLst/>
          </a:prstGeom>
          <a:noFill/>
        </p:spPr>
        <p:txBody>
          <a:bodyPr wrap="none" lIns="0" rIns="0" tIns="0" bIns="0">
            <a:spAutoFit/>
          </a:bodyPr>
          <a:lstStyle/>
          <a:p>
            <a:r>
              <a:rPr sz="1150" b="1">
                <a:solidFill>
                  <a:srgbClr val="FFFFFF"/>
                </a:solidFill>
                <a:latin typeface="Calibri"/>
              </a:rPr>
              <a:t>of SAM ·</a:t>
            </a:r>
          </a:p>
        </p:txBody>
      </p:sp>
      <p:pic>
        <p:nvPicPr>
          <p:cNvPr id="67" name="Picture 66" descr="lock.png"/>
          <p:cNvPicPr>
            <a:picLocks noChangeAspect="1"/>
          </p:cNvPicPr>
          <p:nvPr/>
        </p:nvPicPr>
        <p:blipFill>
          <a:blip r:embed="rId5"/>
          <a:stretch>
            <a:fillRect/>
          </a:stretch>
        </p:blipFill>
        <p:spPr>
          <a:xfrm>
            <a:off x="1461102" y="4960279"/>
            <a:ext cx="134549" cy="195707"/>
          </a:xfrm>
          <a:prstGeom prst="rect">
            <a:avLst/>
          </a:prstGeom>
        </p:spPr>
      </p:pic>
      <p:sp>
        <p:nvSpPr>
          <p:cNvPr id="68" name="TextBox 67"/>
          <p:cNvSpPr txBox="1"/>
          <p:nvPr/>
        </p:nvSpPr>
        <p:spPr>
          <a:xfrm>
            <a:off x="1636212" y="4970502"/>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69" name="TextBox 68"/>
          <p:cNvSpPr txBox="1"/>
          <p:nvPr/>
        </p:nvSpPr>
        <p:spPr>
          <a:xfrm>
            <a:off x="276225" y="5788995"/>
            <a:ext cx="7663656" cy="186689"/>
          </a:xfrm>
          <a:prstGeom prst="rect">
            <a:avLst/>
          </a:prstGeom>
          <a:noFill/>
        </p:spPr>
        <p:txBody>
          <a:bodyPr wrap="none" lIns="0" rIns="0" tIns="0" bIns="0">
            <a:spAutoFit/>
          </a:bodyPr>
          <a:lstStyle/>
          <a:p>
            <a:r>
              <a:rPr sz="1100" b="0">
                <a:solidFill>
                  <a:srgbClr val="2E2E2E"/>
                </a:solidFill>
                <a:latin typeface="Calibri"/>
              </a:rPr>
              <a:t>▪ Regional Opportunity: 'Rest of the World' shows the highest SAM penetration; lower-penetration regions are the growth headroom.</a:t>
            </a:r>
          </a:p>
        </p:txBody>
      </p:sp>
      <p:sp>
        <p:nvSpPr>
          <p:cNvPr id="70" name="TextBox 69"/>
          <p:cNvSpPr txBox="1"/>
          <p:nvPr/>
        </p:nvSpPr>
        <p:spPr>
          <a:xfrm>
            <a:off x="276225" y="6006927"/>
            <a:ext cx="1297999" cy="186689"/>
          </a:xfrm>
          <a:prstGeom prst="rect">
            <a:avLst/>
          </a:prstGeom>
          <a:noFill/>
        </p:spPr>
        <p:txBody>
          <a:bodyPr wrap="none" lIns="0" rIns="0" tIns="0" bIns="0">
            <a:spAutoFit/>
          </a:bodyPr>
          <a:lstStyle/>
          <a:p>
            <a:r>
              <a:rPr sz="1100" b="0">
                <a:solidFill>
                  <a:srgbClr val="2E2E2E"/>
                </a:solidFill>
                <a:latin typeface="Calibri"/>
              </a:rPr>
              <a:t>▪ Competitive Edge: ~</a:t>
            </a:r>
          </a:p>
        </p:txBody>
      </p:sp>
      <p:pic>
        <p:nvPicPr>
          <p:cNvPr id="71" name="Picture 70" descr="lock.png"/>
          <p:cNvPicPr>
            <a:picLocks noChangeAspect="1"/>
          </p:cNvPicPr>
          <p:nvPr/>
        </p:nvPicPr>
        <p:blipFill>
          <a:blip r:embed="rId5"/>
          <a:stretch>
            <a:fillRect/>
          </a:stretch>
        </p:blipFill>
        <p:spPr>
          <a:xfrm>
            <a:off x="1522276" y="5997147"/>
            <a:ext cx="128699" cy="187198"/>
          </a:xfrm>
          <a:prstGeom prst="rect">
            <a:avLst/>
          </a:prstGeom>
        </p:spPr>
      </p:pic>
      <p:sp>
        <p:nvSpPr>
          <p:cNvPr id="72" name="TextBox 71"/>
          <p:cNvSpPr txBox="1"/>
          <p:nvPr/>
        </p:nvSpPr>
        <p:spPr>
          <a:xfrm>
            <a:off x="1689771" y="6006927"/>
            <a:ext cx="1029270" cy="186689"/>
          </a:xfrm>
          <a:prstGeom prst="rect">
            <a:avLst/>
          </a:prstGeom>
          <a:noFill/>
        </p:spPr>
        <p:txBody>
          <a:bodyPr wrap="none" lIns="0" rIns="0" tIns="0" bIns="0">
            <a:spAutoFit/>
          </a:bodyPr>
          <a:lstStyle/>
          <a:p>
            <a:r>
              <a:rPr sz="1100" b="0">
                <a:solidFill>
                  <a:srgbClr val="2E2E2E"/>
                </a:solidFill>
                <a:latin typeface="Calibri"/>
              </a:rPr>
              <a:t>win rate with a +</a:t>
            </a:r>
          </a:p>
        </p:txBody>
      </p:sp>
      <p:pic>
        <p:nvPicPr>
          <p:cNvPr id="73" name="Picture 72" descr="lock.png"/>
          <p:cNvPicPr>
            <a:picLocks noChangeAspect="1"/>
          </p:cNvPicPr>
          <p:nvPr/>
        </p:nvPicPr>
        <p:blipFill>
          <a:blip r:embed="rId5"/>
          <a:stretch>
            <a:fillRect/>
          </a:stretch>
        </p:blipFill>
        <p:spPr>
          <a:xfrm>
            <a:off x="2667093" y="5997147"/>
            <a:ext cx="128699" cy="187198"/>
          </a:xfrm>
          <a:prstGeom prst="rect">
            <a:avLst/>
          </a:prstGeom>
        </p:spPr>
      </p:pic>
      <p:sp>
        <p:nvSpPr>
          <p:cNvPr id="74" name="TextBox 73"/>
          <p:cNvSpPr txBox="1"/>
          <p:nvPr/>
        </p:nvSpPr>
        <p:spPr>
          <a:xfrm>
            <a:off x="2834589" y="6006927"/>
            <a:ext cx="2311400" cy="186689"/>
          </a:xfrm>
          <a:prstGeom prst="rect">
            <a:avLst/>
          </a:prstGeom>
          <a:noFill/>
        </p:spPr>
        <p:txBody>
          <a:bodyPr wrap="none" lIns="0" rIns="0" tIns="0" bIns="0">
            <a:spAutoFit/>
          </a:bodyPr>
          <a:lstStyle/>
          <a:p>
            <a:r>
              <a:rPr sz="1100" b="0">
                <a:solidFill>
                  <a:srgbClr val="2E2E2E"/>
                </a:solidFill>
                <a:latin typeface="Calibri"/>
              </a:rPr>
              <a:t>ASP premium signals value recognition;</a:t>
            </a:r>
          </a:p>
        </p:txBody>
      </p:sp>
      <p:pic>
        <p:nvPicPr>
          <p:cNvPr id="75" name="Picture 74" descr="lock.png"/>
          <p:cNvPicPr>
            <a:picLocks noChangeAspect="1"/>
          </p:cNvPicPr>
          <p:nvPr/>
        </p:nvPicPr>
        <p:blipFill>
          <a:blip r:embed="rId5"/>
          <a:stretch>
            <a:fillRect/>
          </a:stretch>
        </p:blipFill>
        <p:spPr>
          <a:xfrm>
            <a:off x="5094041" y="5997147"/>
            <a:ext cx="128699" cy="187198"/>
          </a:xfrm>
          <a:prstGeom prst="rect">
            <a:avLst/>
          </a:prstGeom>
        </p:spPr>
      </p:pic>
      <p:sp>
        <p:nvSpPr>
          <p:cNvPr id="76" name="TextBox 75"/>
          <p:cNvSpPr txBox="1"/>
          <p:nvPr/>
        </p:nvSpPr>
        <p:spPr>
          <a:xfrm>
            <a:off x="5261537" y="6006927"/>
            <a:ext cx="2251645" cy="186689"/>
          </a:xfrm>
          <a:prstGeom prst="rect">
            <a:avLst/>
          </a:prstGeom>
          <a:noFill/>
        </p:spPr>
        <p:txBody>
          <a:bodyPr wrap="none" lIns="0" rIns="0" tIns="0" bIns="0">
            <a:spAutoFit/>
          </a:bodyPr>
          <a:lstStyle/>
          <a:p>
            <a:r>
              <a:rPr sz="1100" b="0">
                <a:solidFill>
                  <a:srgbClr val="2E2E2E"/>
                </a:solidFill>
                <a:latin typeface="Calibri"/>
              </a:rPr>
              <a:t>x pipeline coverage underpins growth.</a:t>
            </a:r>
          </a:p>
        </p:txBody>
      </p:sp>
      <p:sp>
        <p:nvSpPr>
          <p:cNvPr id="77" name="TextBox 76"/>
          <p:cNvSpPr txBox="1"/>
          <p:nvPr/>
        </p:nvSpPr>
        <p:spPr>
          <a:xfrm>
            <a:off x="276225" y="6224859"/>
            <a:ext cx="2615015" cy="186689"/>
          </a:xfrm>
          <a:prstGeom prst="rect">
            <a:avLst/>
          </a:prstGeom>
          <a:noFill/>
        </p:spPr>
        <p:txBody>
          <a:bodyPr wrap="none" lIns="0" rIns="0" tIns="0" bIns="0">
            <a:spAutoFit/>
          </a:bodyPr>
          <a:lstStyle/>
          <a:p>
            <a:r>
              <a:rPr sz="1100" b="0">
                <a:solidFill>
                  <a:srgbClr val="2E2E2E"/>
                </a:solidFill>
                <a:latin typeface="Calibri"/>
              </a:rPr>
              <a:t>▪ Sales Efficiency: a ~95-day sales cycle and ~</a:t>
            </a:r>
          </a:p>
        </p:txBody>
      </p:sp>
      <p:pic>
        <p:nvPicPr>
          <p:cNvPr id="78" name="Picture 77" descr="lock.png"/>
          <p:cNvPicPr>
            <a:picLocks noChangeAspect="1"/>
          </p:cNvPicPr>
          <p:nvPr/>
        </p:nvPicPr>
        <p:blipFill>
          <a:blip r:embed="rId5"/>
          <a:stretch>
            <a:fillRect/>
          </a:stretch>
        </p:blipFill>
        <p:spPr>
          <a:xfrm>
            <a:off x="2839292" y="6215079"/>
            <a:ext cx="128699" cy="187198"/>
          </a:xfrm>
          <a:prstGeom prst="rect">
            <a:avLst/>
          </a:prstGeom>
        </p:spPr>
      </p:pic>
      <p:sp>
        <p:nvSpPr>
          <p:cNvPr id="79" name="TextBox 78"/>
          <p:cNvSpPr txBox="1"/>
          <p:nvPr/>
        </p:nvSpPr>
        <p:spPr>
          <a:xfrm>
            <a:off x="3006787" y="6224859"/>
            <a:ext cx="2384524" cy="186689"/>
          </a:xfrm>
          <a:prstGeom prst="rect">
            <a:avLst/>
          </a:prstGeom>
          <a:noFill/>
        </p:spPr>
        <p:txBody>
          <a:bodyPr wrap="none" lIns="0" rIns="0" tIns="0" bIns="0">
            <a:spAutoFit/>
          </a:bodyPr>
          <a:lstStyle/>
          <a:p>
            <a:r>
              <a:rPr sz="1100" b="0">
                <a:solidFill>
                  <a:srgbClr val="2E2E2E"/>
                </a:solidFill>
                <a:latin typeface="Calibri"/>
              </a:rPr>
              <a:t>conversion support faster share capture.</a:t>
            </a:r>
          </a:p>
        </p:txBody>
      </p:sp>
      <p:sp>
        <p:nvSpPr>
          <p:cNvPr id="80" name="lockshield_13"/>
          <p:cNvSpPr/>
          <p:nvPr/>
        </p:nvSpPr>
        <p:spPr>
          <a:xfrm>
            <a:off x="238125" y="1585070"/>
            <a:ext cx="5715000" cy="192055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Dentsply Sirona Inc. SWOT Analysis (3/5)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SWOT assessment of Dentsply Sirona Inc.: strengths, weaknesses, opportunities and threats shaping its competitive position</a:t>
            </a:r>
          </a:p>
        </p:txBody>
      </p:sp>
      <p:sp>
        <p:nvSpPr>
          <p:cNvPr id="10" name="TextBox 9"/>
          <p:cNvSpPr txBox="1"/>
          <p:nvPr/>
        </p:nvSpPr>
        <p:spPr>
          <a:xfrm>
            <a:off x="142875" y="1007261"/>
            <a:ext cx="11906250" cy="164283"/>
          </a:xfrm>
          <a:prstGeom prst="rect">
            <a:avLst/>
          </a:prstGeom>
          <a:noFill/>
        </p:spPr>
        <p:txBody>
          <a:bodyPr wrap="square" lIns="28575" rIns="28575" tIns="9525" bIns="9525" anchor="ctr">
            <a:spAutoFit/>
          </a:bodyPr>
          <a:lstStyle/>
          <a:p>
            <a:pPr algn="l"/>
            <a:r>
              <a:rPr sz="1150" b="0">
                <a:solidFill>
                  <a:srgbClr val="2E2E2E"/>
                </a:solidFill>
                <a:latin typeface="Calibri"/>
              </a:rPr>
              <a:t>SWOT assessment Dentsply Sirona Inc.: strengths, weaknesses, opportunities and threats (indicative).</a:t>
            </a:r>
          </a:p>
        </p:txBody>
      </p:sp>
      <p:cxnSp>
        <p:nvCxnSpPr>
          <p:cNvPr id="11" name="Connector 10"/>
          <p:cNvCxnSpPr/>
          <p:nvPr/>
        </p:nvCxnSpPr>
        <p:spPr>
          <a:xfrm>
            <a:off x="3810000" y="3891345"/>
            <a:ext cx="4572000" cy="0"/>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6096000" y="1919946"/>
            <a:ext cx="0" cy="3942799"/>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sp>
        <p:nvSpPr>
          <p:cNvPr id="13" name="Oval 12"/>
          <p:cNvSpPr/>
          <p:nvPr/>
        </p:nvSpPr>
        <p:spPr>
          <a:xfrm>
            <a:off x="3757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8329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6043612" y="1869748"/>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6043612" y="58125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ounded Rectangle 16"/>
          <p:cNvSpPr/>
          <p:nvPr/>
        </p:nvSpPr>
        <p:spPr>
          <a:xfrm>
            <a:off x="4724400" y="2577079"/>
            <a:ext cx="1257300" cy="1204744"/>
          </a:xfrm>
          <a:prstGeom prst="roundRect">
            <a:avLst>
              <a:gd name="adj" fmla="val 12121"/>
            </a:avLst>
          </a:prstGeom>
          <a:noFill/>
          <a:ln w="19050">
            <a:solidFill>
              <a:srgbClr val="69B1E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ounded Rectangle 17"/>
          <p:cNvSpPr/>
          <p:nvPr/>
        </p:nvSpPr>
        <p:spPr>
          <a:xfrm>
            <a:off x="6210300" y="2577079"/>
            <a:ext cx="1257300" cy="1204744"/>
          </a:xfrm>
          <a:prstGeom prst="roundRect">
            <a:avLst>
              <a:gd name="adj" fmla="val 12121"/>
            </a:avLst>
          </a:prstGeom>
          <a:noFill/>
          <a:ln w="19050">
            <a:solidFill>
              <a:srgbClr val="0B2E4A"/>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ounded Rectangle 18"/>
          <p:cNvSpPr/>
          <p:nvPr/>
        </p:nvSpPr>
        <p:spPr>
          <a:xfrm>
            <a:off x="4724400" y="4000868"/>
            <a:ext cx="1257300" cy="1204744"/>
          </a:xfrm>
          <a:prstGeom prst="roundRect">
            <a:avLst>
              <a:gd name="adj" fmla="val 12121"/>
            </a:avLst>
          </a:prstGeom>
          <a:noFill/>
          <a:ln w="19050">
            <a:solidFill>
              <a:srgbClr val="A35313"/>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ounded Rectangle 19"/>
          <p:cNvSpPr/>
          <p:nvPr/>
        </p:nvSpPr>
        <p:spPr>
          <a:xfrm>
            <a:off x="6210300" y="4000868"/>
            <a:ext cx="1257300" cy="1204744"/>
          </a:xfrm>
          <a:prstGeom prst="roundRect">
            <a:avLst>
              <a:gd name="adj" fmla="val 12121"/>
            </a:avLst>
          </a:prstGeom>
          <a:noFill/>
          <a:ln w="19050">
            <a:solidFill>
              <a:srgbClr val="A86F0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reeform 20"/>
          <p:cNvSpPr/>
          <p:nvPr/>
        </p:nvSpPr>
        <p:spPr>
          <a:xfrm>
            <a:off x="5524500" y="2978660"/>
            <a:ext cx="1143000" cy="803163"/>
          </a:xfrm>
          <a:custGeom>
            <a:avLst/>
            <a:gdLst/>
            <a:ahLst/>
            <a:cxnLst/>
            <a:rect l="l" t="t" r="r" b="b"/>
            <a:pathLst>
              <a:path w="120" h="88">
                <a:moveTo>
                  <a:pt x="0" y="0"/>
                </a:moveTo>
                <a:lnTo>
                  <a:pt x="120" y="0"/>
                </a:lnTo>
                <a:lnTo>
                  <a:pt x="60" y="88"/>
                </a:lnTo>
                <a:close/>
              </a:path>
            </a:pathLst>
          </a:cu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Freeform 21"/>
          <p:cNvSpPr/>
          <p:nvPr/>
        </p:nvSpPr>
        <p:spPr>
          <a:xfrm>
            <a:off x="5524500" y="4000868"/>
            <a:ext cx="1143000" cy="803163"/>
          </a:xfrm>
          <a:custGeom>
            <a:avLst/>
            <a:gdLst/>
            <a:ahLst/>
            <a:cxnLst/>
            <a:rect l="l" t="t" r="r" b="b"/>
            <a:pathLst>
              <a:path w="120" h="88">
                <a:moveTo>
                  <a:pt x="0" y="88"/>
                </a:moveTo>
                <a:lnTo>
                  <a:pt x="120" y="88"/>
                </a:lnTo>
                <a:lnTo>
                  <a:pt x="60" y="0"/>
                </a:lnTo>
                <a:close/>
              </a:path>
            </a:pathLst>
          </a:cu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Freeform 22"/>
          <p:cNvSpPr/>
          <p:nvPr/>
        </p:nvSpPr>
        <p:spPr>
          <a:xfrm>
            <a:off x="5143500" y="3343734"/>
            <a:ext cx="838200" cy="1095222"/>
          </a:xfrm>
          <a:custGeom>
            <a:avLst/>
            <a:gdLst/>
            <a:ahLst/>
            <a:cxnLst/>
            <a:rect l="l" t="t" r="r" b="b"/>
            <a:pathLst>
              <a:path w="88" h="120">
                <a:moveTo>
                  <a:pt x="0" y="0"/>
                </a:moveTo>
                <a:lnTo>
                  <a:pt x="0" y="120"/>
                </a:lnTo>
                <a:lnTo>
                  <a:pt x="88" y="60"/>
                </a:lnTo>
                <a:close/>
              </a:path>
            </a:pathLst>
          </a:cu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Freeform 23"/>
          <p:cNvSpPr/>
          <p:nvPr/>
        </p:nvSpPr>
        <p:spPr>
          <a:xfrm>
            <a:off x="6210300" y="3343734"/>
            <a:ext cx="838200" cy="1095222"/>
          </a:xfrm>
          <a:custGeom>
            <a:avLst/>
            <a:gdLst/>
            <a:ahLst/>
            <a:cxnLst/>
            <a:rect l="l" t="t" r="r" b="b"/>
            <a:pathLst>
              <a:path w="88" h="120">
                <a:moveTo>
                  <a:pt x="88" y="0"/>
                </a:moveTo>
                <a:lnTo>
                  <a:pt x="88" y="120"/>
                </a:lnTo>
                <a:lnTo>
                  <a:pt x="0" y="60"/>
                </a:lnTo>
                <a:close/>
              </a:path>
            </a:pathLst>
          </a:cu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5886450" y="3243339"/>
            <a:ext cx="419100" cy="273805"/>
          </a:xfrm>
          <a:prstGeom prst="rect">
            <a:avLst/>
          </a:prstGeom>
          <a:noFill/>
        </p:spPr>
        <p:txBody>
          <a:bodyPr wrap="none" lIns="0" rIns="0" tIns="0" bIns="0" anchor="ctr">
            <a:spAutoFit/>
          </a:bodyPr>
          <a:lstStyle/>
          <a:p>
            <a:pPr algn="ctr"/>
            <a:r>
              <a:rPr sz="2100" b="1">
                <a:solidFill>
                  <a:srgbClr val="1F2933"/>
                </a:solidFill>
                <a:latin typeface="Calibri"/>
              </a:rPr>
              <a:t>S</a:t>
            </a:r>
          </a:p>
        </p:txBody>
      </p:sp>
      <p:sp>
        <p:nvSpPr>
          <p:cNvPr id="26" name="TextBox 25"/>
          <p:cNvSpPr txBox="1"/>
          <p:nvPr/>
        </p:nvSpPr>
        <p:spPr>
          <a:xfrm>
            <a:off x="5886450" y="4265546"/>
            <a:ext cx="419100" cy="273805"/>
          </a:xfrm>
          <a:prstGeom prst="rect">
            <a:avLst/>
          </a:prstGeom>
          <a:noFill/>
        </p:spPr>
        <p:txBody>
          <a:bodyPr wrap="none" lIns="0" rIns="0" tIns="0" bIns="0" anchor="ctr">
            <a:spAutoFit/>
          </a:bodyPr>
          <a:lstStyle/>
          <a:p>
            <a:pPr algn="ctr"/>
            <a:r>
              <a:rPr sz="2100" b="1">
                <a:solidFill>
                  <a:srgbClr val="FFFFFF"/>
                </a:solidFill>
                <a:latin typeface="Calibri"/>
              </a:rPr>
              <a:t>O</a:t>
            </a:r>
          </a:p>
        </p:txBody>
      </p:sp>
      <p:sp>
        <p:nvSpPr>
          <p:cNvPr id="27" name="TextBox 26"/>
          <p:cNvSpPr txBox="1"/>
          <p:nvPr/>
        </p:nvSpPr>
        <p:spPr>
          <a:xfrm>
            <a:off x="53530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T</a:t>
            </a:r>
          </a:p>
        </p:txBody>
      </p:sp>
      <p:sp>
        <p:nvSpPr>
          <p:cNvPr id="28" name="TextBox 27"/>
          <p:cNvSpPr txBox="1"/>
          <p:nvPr/>
        </p:nvSpPr>
        <p:spPr>
          <a:xfrm>
            <a:off x="64198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W</a:t>
            </a:r>
          </a:p>
        </p:txBody>
      </p:sp>
      <p:sp>
        <p:nvSpPr>
          <p:cNvPr id="29" name="TextBox 28"/>
          <p:cNvSpPr txBox="1"/>
          <p:nvPr/>
        </p:nvSpPr>
        <p:spPr>
          <a:xfrm>
            <a:off x="190500" y="1299320"/>
            <a:ext cx="3667125" cy="182537"/>
          </a:xfrm>
          <a:prstGeom prst="rect">
            <a:avLst/>
          </a:prstGeom>
          <a:noFill/>
        </p:spPr>
        <p:txBody>
          <a:bodyPr wrap="square" lIns="28575" rIns="28575" tIns="9525" bIns="9525" anchor="ctr">
            <a:spAutoFit/>
          </a:bodyPr>
          <a:lstStyle/>
          <a:p>
            <a:pPr algn="l"/>
            <a:r>
              <a:rPr sz="1350" b="1">
                <a:solidFill>
                  <a:srgbClr val="0B2E4A"/>
                </a:solidFill>
                <a:latin typeface="Calibri"/>
              </a:rPr>
              <a:t>Strengths</a:t>
            </a:r>
          </a:p>
        </p:txBody>
      </p:sp>
      <p:sp>
        <p:nvSpPr>
          <p:cNvPr id="30" name="Rectangle 29"/>
          <p:cNvSpPr/>
          <p:nvPr/>
        </p:nvSpPr>
        <p:spPr>
          <a:xfrm>
            <a:off x="190500" y="1500111"/>
            <a:ext cx="1428750" cy="1825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204788" y="1605070"/>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333375"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3" name="Oval 32"/>
          <p:cNvSpPr/>
          <p:nvPr/>
        </p:nvSpPr>
        <p:spPr>
          <a:xfrm>
            <a:off x="204788" y="2116174"/>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333375"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Balanced SOM across regions and end-markets; strongest in 'North America'.</a:t>
            </a:r>
          </a:p>
        </p:txBody>
      </p:sp>
      <p:sp>
        <p:nvSpPr>
          <p:cNvPr id="35" name="Oval 34"/>
          <p:cNvSpPr/>
          <p:nvPr/>
        </p:nvSpPr>
        <p:spPr>
          <a:xfrm>
            <a:off x="204788" y="2627277"/>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333375"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7" name="TextBox 36"/>
          <p:cNvSpPr txBox="1"/>
          <p:nvPr/>
        </p:nvSpPr>
        <p:spPr>
          <a:xfrm>
            <a:off x="8334375" y="1299320"/>
            <a:ext cx="3667125" cy="182537"/>
          </a:xfrm>
          <a:prstGeom prst="rect">
            <a:avLst/>
          </a:prstGeom>
          <a:noFill/>
        </p:spPr>
        <p:txBody>
          <a:bodyPr wrap="square" lIns="28575" rIns="28575" tIns="9525" bIns="9525" anchor="ctr">
            <a:spAutoFit/>
          </a:bodyPr>
          <a:lstStyle/>
          <a:p>
            <a:pPr algn="l"/>
            <a:r>
              <a:rPr sz="1350" b="1">
                <a:solidFill>
                  <a:srgbClr val="082238"/>
                </a:solidFill>
                <a:latin typeface="Calibri"/>
              </a:rPr>
              <a:t>Weaknesses</a:t>
            </a:r>
          </a:p>
        </p:txBody>
      </p:sp>
      <p:sp>
        <p:nvSpPr>
          <p:cNvPr id="38" name="Rectangle 37"/>
          <p:cNvSpPr/>
          <p:nvPr/>
        </p:nvSpPr>
        <p:spPr>
          <a:xfrm>
            <a:off x="8334375" y="1500111"/>
            <a:ext cx="1428750" cy="18254"/>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8348662" y="1605070"/>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8477250"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1" name="Oval 40"/>
          <p:cNvSpPr/>
          <p:nvPr/>
        </p:nvSpPr>
        <p:spPr>
          <a:xfrm>
            <a:off x="8348662" y="2116174"/>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8477250"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Uneven SAM penetration strong in 'Rest of the World', thin elsewhere.</a:t>
            </a:r>
          </a:p>
        </p:txBody>
      </p:sp>
      <p:sp>
        <p:nvSpPr>
          <p:cNvPr id="43" name="Oval 42"/>
          <p:cNvSpPr/>
          <p:nvPr/>
        </p:nvSpPr>
        <p:spPr>
          <a:xfrm>
            <a:off x="8348662" y="2627277"/>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8477250"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Reliance on a few large accounts/regions raises concentration risk.</a:t>
            </a:r>
          </a:p>
        </p:txBody>
      </p:sp>
      <p:sp>
        <p:nvSpPr>
          <p:cNvPr id="45" name="TextBox 44"/>
          <p:cNvSpPr txBox="1"/>
          <p:nvPr/>
        </p:nvSpPr>
        <p:spPr>
          <a:xfrm>
            <a:off x="190500" y="4055629"/>
            <a:ext cx="3667125" cy="182537"/>
          </a:xfrm>
          <a:prstGeom prst="rect">
            <a:avLst/>
          </a:prstGeom>
          <a:noFill/>
        </p:spPr>
        <p:txBody>
          <a:bodyPr wrap="square" lIns="28575" rIns="28575" tIns="9525" bIns="9525" anchor="ctr">
            <a:spAutoFit/>
          </a:bodyPr>
          <a:lstStyle/>
          <a:p>
            <a:pPr algn="l"/>
            <a:r>
              <a:rPr sz="1350" b="1">
                <a:solidFill>
                  <a:srgbClr val="A35313"/>
                </a:solidFill>
                <a:latin typeface="Calibri"/>
              </a:rPr>
              <a:t>Threats</a:t>
            </a:r>
          </a:p>
        </p:txBody>
      </p:sp>
      <p:sp>
        <p:nvSpPr>
          <p:cNvPr id="46" name="Rectangle 45"/>
          <p:cNvSpPr/>
          <p:nvPr/>
        </p:nvSpPr>
        <p:spPr>
          <a:xfrm>
            <a:off x="190500" y="4256419"/>
            <a:ext cx="1428750" cy="1825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204788" y="4361379"/>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33375"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9" name="Oval 48"/>
          <p:cNvSpPr/>
          <p:nvPr/>
        </p:nvSpPr>
        <p:spPr>
          <a:xfrm>
            <a:off x="204788" y="4872482"/>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333375"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Input-cost inflation and price pressure can squeeze margin.</a:t>
            </a:r>
          </a:p>
        </p:txBody>
      </p:sp>
      <p:sp>
        <p:nvSpPr>
          <p:cNvPr id="51" name="Oval 50"/>
          <p:cNvSpPr/>
          <p:nvPr/>
        </p:nvSpPr>
        <p:spPr>
          <a:xfrm>
            <a:off x="204788" y="5383586"/>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333375"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Tier-1 incumbents and regulation raise barriers and switching friction.</a:t>
            </a:r>
          </a:p>
        </p:txBody>
      </p:sp>
      <p:sp>
        <p:nvSpPr>
          <p:cNvPr id="53" name="TextBox 52"/>
          <p:cNvSpPr txBox="1"/>
          <p:nvPr/>
        </p:nvSpPr>
        <p:spPr>
          <a:xfrm>
            <a:off x="8334375" y="4055629"/>
            <a:ext cx="3667125" cy="182537"/>
          </a:xfrm>
          <a:prstGeom prst="rect">
            <a:avLst/>
          </a:prstGeom>
          <a:noFill/>
        </p:spPr>
        <p:txBody>
          <a:bodyPr wrap="square" lIns="28575" rIns="28575" tIns="9525" bIns="9525" anchor="ctr">
            <a:spAutoFit/>
          </a:bodyPr>
          <a:lstStyle/>
          <a:p>
            <a:pPr algn="l"/>
            <a:r>
              <a:rPr sz="1350" b="1">
                <a:solidFill>
                  <a:srgbClr val="A86F00"/>
                </a:solidFill>
                <a:latin typeface="Calibri"/>
              </a:rPr>
              <a:t>Opportunities</a:t>
            </a:r>
          </a:p>
        </p:txBody>
      </p:sp>
      <p:sp>
        <p:nvSpPr>
          <p:cNvPr id="54" name="Rectangle 53"/>
          <p:cNvSpPr/>
          <p:nvPr/>
        </p:nvSpPr>
        <p:spPr>
          <a:xfrm>
            <a:off x="8334375" y="4256419"/>
            <a:ext cx="1428750" cy="1825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8348662" y="4361379"/>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8477250"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Premiumisation headroom in 'Flexible Partial Dentures' and adjacent high-value lines.</a:t>
            </a:r>
          </a:p>
        </p:txBody>
      </p:sp>
      <p:sp>
        <p:nvSpPr>
          <p:cNvPr id="57" name="Oval 56"/>
          <p:cNvSpPr/>
          <p:nvPr/>
        </p:nvSpPr>
        <p:spPr>
          <a:xfrm>
            <a:off x="8348662" y="4872482"/>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8477250"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Under-penetrated regions offer share-capture runway.</a:t>
            </a:r>
          </a:p>
        </p:txBody>
      </p:sp>
      <p:sp>
        <p:nvSpPr>
          <p:cNvPr id="59" name="Oval 58"/>
          <p:cNvSpPr/>
          <p:nvPr/>
        </p:nvSpPr>
        <p:spPr>
          <a:xfrm>
            <a:off x="8348662" y="5383586"/>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8477250"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Channel shift to online and clinics opens new demand pools.</a:t>
            </a:r>
          </a:p>
        </p:txBody>
      </p:sp>
      <p:sp>
        <p:nvSpPr>
          <p:cNvPr id="61" name="TextBox 60"/>
          <p:cNvSpPr txBox="1"/>
          <p:nvPr/>
        </p:nvSpPr>
        <p:spPr>
          <a:xfrm>
            <a:off x="2857500" y="6428609"/>
            <a:ext cx="9191625" cy="182537"/>
          </a:xfrm>
          <a:prstGeom prst="rect">
            <a:avLst/>
          </a:prstGeom>
          <a:noFill/>
        </p:spPr>
        <p:txBody>
          <a:bodyPr wrap="square" lIns="28575" rIns="28575" tIns="9525" bIns="9525" anchor="ctr">
            <a:spAutoFit/>
          </a:bodyPr>
          <a:lstStyle/>
          <a:p>
            <a:pPr algn="l"/>
            <a:r>
              <a:rPr sz="1100" b="0">
                <a:solidFill>
                  <a:srgbClr val="C0392B"/>
                </a:solidFill>
                <a:latin typeface="Calibri"/>
              </a:rPr>
              <a:t>Note: competitor figures are indicative derived from market modelling and expert validation, not company disclosures.</a:t>
            </a:r>
          </a:p>
        </p:txBody>
      </p:sp>
      <p:sp>
        <p:nvSpPr>
          <p:cNvPr id="62" name="TextBox 6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3" name="TextBox 62"/>
          <p:cNvSpPr txBox="1"/>
          <p:nvPr/>
        </p:nvSpPr>
        <p:spPr>
          <a:xfrm>
            <a:off x="361950" y="1642784"/>
            <a:ext cx="145777"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64" name="Picture 63" descr="lock.png"/>
          <p:cNvPicPr>
            <a:picLocks noChangeAspect="1"/>
          </p:cNvPicPr>
          <p:nvPr/>
        </p:nvPicPr>
        <p:blipFill>
          <a:blip r:embed="rId4"/>
          <a:stretch>
            <a:fillRect/>
          </a:stretch>
        </p:blipFill>
        <p:spPr>
          <a:xfrm>
            <a:off x="455778" y="1633005"/>
            <a:ext cx="128699" cy="187198"/>
          </a:xfrm>
          <a:prstGeom prst="rect">
            <a:avLst/>
          </a:prstGeom>
        </p:spPr>
      </p:pic>
      <p:sp>
        <p:nvSpPr>
          <p:cNvPr id="65" name="TextBox 64"/>
          <p:cNvSpPr txBox="1"/>
          <p:nvPr/>
        </p:nvSpPr>
        <p:spPr>
          <a:xfrm>
            <a:off x="623274" y="1642784"/>
            <a:ext cx="1029270" cy="186689"/>
          </a:xfrm>
          <a:prstGeom prst="rect">
            <a:avLst/>
          </a:prstGeom>
          <a:noFill/>
        </p:spPr>
        <p:txBody>
          <a:bodyPr wrap="none" lIns="0" rIns="0" tIns="0" bIns="0">
            <a:spAutoFit/>
          </a:bodyPr>
          <a:lstStyle/>
          <a:p>
            <a:r>
              <a:rPr sz="1100" b="0">
                <a:solidFill>
                  <a:srgbClr val="2E2E2E"/>
                </a:solidFill>
                <a:latin typeface="Calibri"/>
              </a:rPr>
              <a:t>win rate with a +</a:t>
            </a:r>
          </a:p>
        </p:txBody>
      </p:sp>
      <p:pic>
        <p:nvPicPr>
          <p:cNvPr id="66" name="Picture 65" descr="lock.png"/>
          <p:cNvPicPr>
            <a:picLocks noChangeAspect="1"/>
          </p:cNvPicPr>
          <p:nvPr/>
        </p:nvPicPr>
        <p:blipFill>
          <a:blip r:embed="rId4"/>
          <a:stretch>
            <a:fillRect/>
          </a:stretch>
        </p:blipFill>
        <p:spPr>
          <a:xfrm>
            <a:off x="1600596" y="1633005"/>
            <a:ext cx="128699" cy="187198"/>
          </a:xfrm>
          <a:prstGeom prst="rect">
            <a:avLst/>
          </a:prstGeom>
        </p:spPr>
      </p:pic>
      <p:sp>
        <p:nvSpPr>
          <p:cNvPr id="67" name="TextBox 66"/>
          <p:cNvSpPr txBox="1"/>
          <p:nvPr/>
        </p:nvSpPr>
        <p:spPr>
          <a:xfrm>
            <a:off x="1768092" y="1642784"/>
            <a:ext cx="1490662" cy="186689"/>
          </a:xfrm>
          <a:prstGeom prst="rect">
            <a:avLst/>
          </a:prstGeom>
          <a:noFill/>
        </p:spPr>
        <p:txBody>
          <a:bodyPr wrap="none" lIns="0" rIns="0" tIns="0" bIns="0">
            <a:spAutoFit/>
          </a:bodyPr>
          <a:lstStyle/>
          <a:p>
            <a:r>
              <a:rPr sz="1100" b="0">
                <a:solidFill>
                  <a:srgbClr val="2E2E2E"/>
                </a:solidFill>
                <a:latin typeface="Calibri"/>
              </a:rPr>
              <a:t>ASP premium clear value</a:t>
            </a:r>
          </a:p>
        </p:txBody>
      </p:sp>
      <p:sp>
        <p:nvSpPr>
          <p:cNvPr id="68" name="TextBox 67"/>
          <p:cNvSpPr txBox="1"/>
          <p:nvPr/>
        </p:nvSpPr>
        <p:spPr>
          <a:xfrm>
            <a:off x="361950" y="1810424"/>
            <a:ext cx="760238" cy="186689"/>
          </a:xfrm>
          <a:prstGeom prst="rect">
            <a:avLst/>
          </a:prstGeom>
          <a:noFill/>
        </p:spPr>
        <p:txBody>
          <a:bodyPr wrap="none" lIns="0" rIns="0" tIns="0" bIns="0">
            <a:spAutoFit/>
          </a:bodyPr>
          <a:lstStyle/>
          <a:p>
            <a:r>
              <a:rPr sz="1100" b="0">
                <a:solidFill>
                  <a:srgbClr val="2E2E2E"/>
                </a:solidFill>
                <a:latin typeface="Calibri"/>
              </a:rPr>
              <a:t>recognition.</a:t>
            </a:r>
          </a:p>
        </p:txBody>
      </p:sp>
      <p:pic>
        <p:nvPicPr>
          <p:cNvPr id="69" name="Picture 68" descr="lock.png"/>
          <p:cNvPicPr>
            <a:picLocks noChangeAspect="1"/>
          </p:cNvPicPr>
          <p:nvPr/>
        </p:nvPicPr>
        <p:blipFill>
          <a:blip r:embed="rId4"/>
          <a:stretch>
            <a:fillRect/>
          </a:stretch>
        </p:blipFill>
        <p:spPr>
          <a:xfrm>
            <a:off x="348482" y="2655212"/>
            <a:ext cx="128699" cy="187198"/>
          </a:xfrm>
          <a:prstGeom prst="rect">
            <a:avLst/>
          </a:prstGeom>
        </p:spPr>
      </p:pic>
      <p:sp>
        <p:nvSpPr>
          <p:cNvPr id="70" name="TextBox 69"/>
          <p:cNvSpPr txBox="1"/>
          <p:nvPr/>
        </p:nvSpPr>
        <p:spPr>
          <a:xfrm>
            <a:off x="515978" y="2664991"/>
            <a:ext cx="1083295" cy="186689"/>
          </a:xfrm>
          <a:prstGeom prst="rect">
            <a:avLst/>
          </a:prstGeom>
          <a:noFill/>
        </p:spPr>
        <p:txBody>
          <a:bodyPr wrap="none" lIns="0" rIns="0" tIns="0" bIns="0">
            <a:spAutoFit/>
          </a:bodyPr>
          <a:lstStyle/>
          <a:p>
            <a:r>
              <a:rPr sz="1100" b="0">
                <a:solidFill>
                  <a:srgbClr val="2E2E2E"/>
                </a:solidFill>
                <a:latin typeface="Calibri"/>
              </a:rPr>
              <a:t>book-to-bill and ~</a:t>
            </a:r>
          </a:p>
        </p:txBody>
      </p:sp>
      <p:pic>
        <p:nvPicPr>
          <p:cNvPr id="71" name="Picture 70" descr="lock.png"/>
          <p:cNvPicPr>
            <a:picLocks noChangeAspect="1"/>
          </p:cNvPicPr>
          <p:nvPr/>
        </p:nvPicPr>
        <p:blipFill>
          <a:blip r:embed="rId4"/>
          <a:stretch>
            <a:fillRect/>
          </a:stretch>
        </p:blipFill>
        <p:spPr>
          <a:xfrm>
            <a:off x="1547325" y="2655212"/>
            <a:ext cx="128699" cy="187198"/>
          </a:xfrm>
          <a:prstGeom prst="rect">
            <a:avLst/>
          </a:prstGeom>
        </p:spPr>
      </p:pic>
      <p:sp>
        <p:nvSpPr>
          <p:cNvPr id="72" name="TextBox 71"/>
          <p:cNvSpPr txBox="1"/>
          <p:nvPr/>
        </p:nvSpPr>
        <p:spPr>
          <a:xfrm>
            <a:off x="1714820" y="2664991"/>
            <a:ext cx="1304547" cy="186689"/>
          </a:xfrm>
          <a:prstGeom prst="rect">
            <a:avLst/>
          </a:prstGeom>
          <a:noFill/>
        </p:spPr>
        <p:txBody>
          <a:bodyPr wrap="none" lIns="0" rIns="0" tIns="0" bIns="0">
            <a:spAutoFit/>
          </a:bodyPr>
          <a:lstStyle/>
          <a:p>
            <a:r>
              <a:rPr sz="1100" b="0">
                <a:solidFill>
                  <a:srgbClr val="2E2E2E"/>
                </a:solidFill>
                <a:latin typeface="Calibri"/>
              </a:rPr>
              <a:t>EBITDA signal healthy</a:t>
            </a:r>
          </a:p>
        </p:txBody>
      </p:sp>
      <p:sp>
        <p:nvSpPr>
          <p:cNvPr id="73" name="TextBox 72"/>
          <p:cNvSpPr txBox="1"/>
          <p:nvPr/>
        </p:nvSpPr>
        <p:spPr>
          <a:xfrm>
            <a:off x="361950" y="2832631"/>
            <a:ext cx="783158" cy="186689"/>
          </a:xfrm>
          <a:prstGeom prst="rect">
            <a:avLst/>
          </a:prstGeom>
          <a:noFill/>
        </p:spPr>
        <p:txBody>
          <a:bodyPr wrap="none" lIns="0" rIns="0" tIns="0" bIns="0">
            <a:spAutoFit/>
          </a:bodyPr>
          <a:lstStyle/>
          <a:p>
            <a:r>
              <a:rPr sz="1100" b="0">
                <a:solidFill>
                  <a:srgbClr val="2E2E2E"/>
                </a:solidFill>
                <a:latin typeface="Calibri"/>
              </a:rPr>
              <a:t>momentum.</a:t>
            </a:r>
          </a:p>
        </p:txBody>
      </p:sp>
      <p:sp>
        <p:nvSpPr>
          <p:cNvPr id="74" name="TextBox 73"/>
          <p:cNvSpPr txBox="1"/>
          <p:nvPr/>
        </p:nvSpPr>
        <p:spPr>
          <a:xfrm>
            <a:off x="8505825" y="1726603"/>
            <a:ext cx="145777"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75" name="Picture 74" descr="lock.png"/>
          <p:cNvPicPr>
            <a:picLocks noChangeAspect="1"/>
          </p:cNvPicPr>
          <p:nvPr/>
        </p:nvPicPr>
        <p:blipFill>
          <a:blip r:embed="rId4"/>
          <a:stretch>
            <a:fillRect/>
          </a:stretch>
        </p:blipFill>
        <p:spPr>
          <a:xfrm>
            <a:off x="8599653" y="1716825"/>
            <a:ext cx="128699" cy="187198"/>
          </a:xfrm>
          <a:prstGeom prst="rect">
            <a:avLst/>
          </a:prstGeom>
        </p:spPr>
      </p:pic>
      <p:sp>
        <p:nvSpPr>
          <p:cNvPr id="76" name="TextBox 75"/>
          <p:cNvSpPr txBox="1"/>
          <p:nvPr/>
        </p:nvSpPr>
        <p:spPr>
          <a:xfrm>
            <a:off x="8767149" y="1726603"/>
            <a:ext cx="2910582" cy="186689"/>
          </a:xfrm>
          <a:prstGeom prst="rect">
            <a:avLst/>
          </a:prstGeom>
          <a:noFill/>
        </p:spPr>
        <p:txBody>
          <a:bodyPr wrap="none" lIns="0" rIns="0" tIns="0" bIns="0">
            <a:spAutoFit/>
          </a:bodyPr>
          <a:lstStyle/>
          <a:p>
            <a:r>
              <a:rPr sz="1100" b="0">
                <a:solidFill>
                  <a:srgbClr val="2E2E2E"/>
                </a:solidFill>
                <a:latin typeface="Calibri"/>
              </a:rPr>
              <a:t>share leaves a scale gap versus the market leader.</a:t>
            </a:r>
          </a:p>
        </p:txBody>
      </p:sp>
      <p:sp>
        <p:nvSpPr>
          <p:cNvPr id="77" name="TextBox 76"/>
          <p:cNvSpPr txBox="1"/>
          <p:nvPr/>
        </p:nvSpPr>
        <p:spPr>
          <a:xfrm>
            <a:off x="361950" y="4482912"/>
            <a:ext cx="1324495" cy="186689"/>
          </a:xfrm>
          <a:prstGeom prst="rect">
            <a:avLst/>
          </a:prstGeom>
          <a:noFill/>
        </p:spPr>
        <p:txBody>
          <a:bodyPr wrap="none" lIns="0" rIns="0" tIns="0" bIns="0">
            <a:spAutoFit/>
          </a:bodyPr>
          <a:lstStyle/>
          <a:p>
            <a:r>
              <a:rPr sz="1100" b="0">
                <a:solidFill>
                  <a:srgbClr val="2E2E2E"/>
                </a:solidFill>
                <a:latin typeface="Calibri"/>
              </a:rPr>
              <a:t>Intense competition ~</a:t>
            </a:r>
          </a:p>
        </p:txBody>
      </p:sp>
      <p:pic>
        <p:nvPicPr>
          <p:cNvPr id="78" name="Picture 77" descr="lock.png"/>
          <p:cNvPicPr>
            <a:picLocks noChangeAspect="1"/>
          </p:cNvPicPr>
          <p:nvPr/>
        </p:nvPicPr>
        <p:blipFill>
          <a:blip r:embed="rId4"/>
          <a:stretch>
            <a:fillRect/>
          </a:stretch>
        </p:blipFill>
        <p:spPr>
          <a:xfrm>
            <a:off x="1634497" y="4473133"/>
            <a:ext cx="128699" cy="187198"/>
          </a:xfrm>
          <a:prstGeom prst="rect">
            <a:avLst/>
          </a:prstGeom>
        </p:spPr>
      </p:pic>
      <p:sp>
        <p:nvSpPr>
          <p:cNvPr id="79" name="TextBox 78"/>
          <p:cNvSpPr txBox="1"/>
          <p:nvPr/>
        </p:nvSpPr>
        <p:spPr>
          <a:xfrm>
            <a:off x="1801993" y="4482912"/>
            <a:ext cx="1738684" cy="186689"/>
          </a:xfrm>
          <a:prstGeom prst="rect">
            <a:avLst/>
          </a:prstGeom>
          <a:noFill/>
        </p:spPr>
        <p:txBody>
          <a:bodyPr wrap="none" lIns="0" rIns="0" tIns="0" bIns="0">
            <a:spAutoFit/>
          </a:bodyPr>
          <a:lstStyle/>
          <a:p>
            <a:r>
              <a:rPr sz="1100" b="0">
                <a:solidFill>
                  <a:srgbClr val="2E2E2E"/>
                </a:solidFill>
                <a:latin typeface="Calibri"/>
              </a:rPr>
              <a:t>x pipeline needed to convert.</a:t>
            </a:r>
          </a:p>
        </p:txBody>
      </p:sp>
    </p:spTree>
  </p:cSld>
  <p:clrMapOvr>
    <a:masterClrMapping/>
  </p:clrMapOvr>
</p:sld>
</file>

<file path=ppt/slides/slide2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Dentsply Sirona Inc. Key Financials (4/5)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Dentsply Sirona Inc.'s financial performance, key ratios and pricing, highlighting margin and momentum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Key financials and pricing Dentsply Sirona Inc. (all figures indicative, USD Mn unless noted).</a:t>
            </a:r>
          </a:p>
        </p:txBody>
      </p:sp>
      <p:sp>
        <p:nvSpPr>
          <p:cNvPr id="11" name="Rounded Rectangle 10"/>
          <p:cNvSpPr/>
          <p:nvPr/>
        </p:nvSpPr>
        <p:spPr>
          <a:xfrm>
            <a:off x="142875" y="1354081"/>
            <a:ext cx="5905500" cy="1916638"/>
          </a:xfrm>
          <a:prstGeom prst="roundRect">
            <a:avLst>
              <a:gd name="adj" fmla="val 397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411231"/>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Dentsply Sirona Inc. Financial Performance</a:t>
            </a:r>
          </a:p>
        </p:txBody>
      </p:sp>
      <p:graphicFrame>
        <p:nvGraphicFramePr>
          <p:cNvPr id="13" name="Table 12"/>
          <p:cNvGraphicFramePr>
            <a:graphicFrameLocks noGrp="1"/>
          </p:cNvGraphicFramePr>
          <p:nvPr/>
        </p:nvGraphicFramePr>
        <p:xfrm>
          <a:off x="152400" y="1611256"/>
          <a:ext cx="5886449" cy="1449914"/>
        </p:xfrm>
        <a:graphic>
          <a:graphicData uri="http://schemas.openxmlformats.org/drawingml/2006/table">
            <a:tbl>
              <a:tblPr>
                <a:tableStyleId>{5C22544A-7EE6-4342-B048-85BDC9FD1C3A}</a:tableStyleId>
              </a:tblPr>
              <a:tblGrid>
                <a:gridCol w="2446649"/>
                <a:gridCol w="687960"/>
                <a:gridCol w="687960"/>
                <a:gridCol w="687960"/>
                <a:gridCol w="687960"/>
                <a:gridCol w="687960"/>
              </a:tblGrid>
              <a:tr h="246126">
                <a:tc>
                  <a:txBody>
                    <a:bodyPr wrap="none"/>
                    <a:lstStyle/>
                    <a:p>
                      <a:pPr algn="l"/>
                      <a:r>
                        <a:rPr sz="1100" b="1">
                          <a:solidFill>
                            <a:srgbClr val="0B2E4A"/>
                          </a:solidFill>
                          <a:latin typeface="Calibri"/>
                        </a:rPr>
                        <a:t>USD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300947">
                <a:tc>
                  <a:txBody>
                    <a:bodyPr wrap="none"/>
                    <a:lstStyle/>
                    <a:p>
                      <a:pPr algn="l"/>
                      <a:r>
                        <a:rPr sz="1100" b="1">
                          <a:solidFill>
                            <a:srgbClr val="2E2E2E"/>
                          </a:solidFill>
                          <a:latin typeface="Calibri"/>
                        </a:rPr>
                        <a:t>Revenue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00947">
                <a:tc>
                  <a:txBody>
                    <a:bodyPr wrap="none"/>
                    <a:lstStyle/>
                    <a:p>
                      <a:pPr algn="l"/>
                      <a:r>
                        <a:rPr sz="1100" b="1">
                          <a:solidFill>
                            <a:srgbClr val="2E2E2E"/>
                          </a:solidFill>
                          <a:latin typeface="Calibri"/>
                        </a:rPr>
                        <a:t>Gross Profit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00947">
                <a:tc>
                  <a:txBody>
                    <a:bodyPr wrap="none"/>
                    <a:lstStyle/>
                    <a:p>
                      <a:pPr algn="l"/>
                      <a:r>
                        <a:rPr sz="1100" b="1">
                          <a:solidFill>
                            <a:srgbClr val="2E2E2E"/>
                          </a:solidFill>
                          <a:latin typeface="Calibri"/>
                        </a:rPr>
                        <a:t>Pre-Tax Profit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00947">
                <a:tc>
                  <a:txBody>
                    <a:bodyPr wrap="none"/>
                    <a:lstStyle/>
                    <a:p>
                      <a:pPr algn="l"/>
                      <a:r>
                        <a:rPr sz="1100" b="1">
                          <a:solidFill>
                            <a:srgbClr val="2E2E2E"/>
                          </a:solidFill>
                          <a:latin typeface="Calibri"/>
                        </a:rPr>
                        <a:t>Profit After Tax / Net Profit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070695"/>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94397"/>
          </a:xfrm>
          <a:prstGeom prst="roundRect">
            <a:avLst>
              <a:gd name="adj" fmla="val 23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455645"/>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Dentsply Sirona Inc. Key Ratios</a:t>
            </a:r>
          </a:p>
        </p:txBody>
      </p:sp>
      <p:graphicFrame>
        <p:nvGraphicFramePr>
          <p:cNvPr id="17" name="Table 16"/>
          <p:cNvGraphicFramePr>
            <a:graphicFrameLocks noGrp="1"/>
          </p:cNvGraphicFramePr>
          <p:nvPr/>
        </p:nvGraphicFramePr>
        <p:xfrm>
          <a:off x="152400" y="3655670"/>
          <a:ext cx="5886450" cy="2727671"/>
        </p:xfrm>
        <a:graphic>
          <a:graphicData uri="http://schemas.openxmlformats.org/drawingml/2006/table">
            <a:tbl>
              <a:tblPr>
                <a:tableStyleId>{5C22544A-7EE6-4342-B048-85BDC9FD1C3A}</a:tableStyleId>
              </a:tblPr>
              <a:tblGrid>
                <a:gridCol w="1859260"/>
                <a:gridCol w="805438"/>
                <a:gridCol w="805438"/>
                <a:gridCol w="805438"/>
                <a:gridCol w="805438"/>
                <a:gridCol w="805438"/>
              </a:tblGrid>
              <a:tr h="246126">
                <a:tc>
                  <a:txBody>
                    <a:bodyPr wrap="none"/>
                    <a:lstStyle/>
                    <a:p>
                      <a:pPr algn="l"/>
                      <a:r>
                        <a:rPr sz="1100" b="1">
                          <a:solidFill>
                            <a:srgbClr val="0B2E4A"/>
                          </a:solidFill>
                          <a:latin typeface="Calibri"/>
                        </a:rPr>
                        <a:t>Key Ratios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496309">
                <a:tc>
                  <a:txBody>
                    <a:bodyPr wrap="none"/>
                    <a:lstStyle/>
                    <a:p>
                      <a:pPr algn="l"/>
                      <a:r>
                        <a:rPr sz="1100" b="1">
                          <a:solidFill>
                            <a:srgbClr val="2E2E2E"/>
                          </a:solidFill>
                          <a:latin typeface="Calibri"/>
                        </a:rPr>
                        <a:t>Gross Margin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96309">
                <a:tc>
                  <a:txBody>
                    <a:bodyPr wrap="none"/>
                    <a:lstStyle/>
                    <a:p>
                      <a:pPr algn="l"/>
                      <a:r>
                        <a:rPr sz="1100" b="1">
                          <a:solidFill>
                            <a:srgbClr val="2E2E2E"/>
                          </a:solidFill>
                          <a:latin typeface="Calibri"/>
                        </a:rPr>
                        <a:t>Pre-Tax Margin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96309">
                <a:tc>
                  <a:txBody>
                    <a:bodyPr wrap="none"/>
                    <a:lstStyle/>
                    <a:p>
                      <a:pPr algn="l"/>
                      <a:r>
                        <a:rPr sz="1100" b="1">
                          <a:solidFill>
                            <a:srgbClr val="2E2E2E"/>
                          </a:solidFill>
                          <a:latin typeface="Calibri"/>
                        </a:rPr>
                        <a:t>Net Margin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96309">
                <a:tc>
                  <a:txBody>
                    <a:bodyPr wrap="none"/>
                    <a:lstStyle/>
                    <a:p>
                      <a:pPr algn="l"/>
                      <a:r>
                        <a:rPr sz="1100" b="1">
                          <a:solidFill>
                            <a:srgbClr val="2E2E2E"/>
                          </a:solidFill>
                          <a:latin typeface="Calibri"/>
                        </a:rPr>
                        <a:t>Return on Equity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96309">
                <a:tc>
                  <a:txBody>
                    <a:bodyPr wrap="none"/>
                    <a:lstStyle/>
                    <a:p>
                      <a:pPr algn="l"/>
                      <a:r>
                        <a:rPr sz="1100" b="1">
                          <a:solidFill>
                            <a:srgbClr val="2E2E2E"/>
                          </a:solidFill>
                          <a:latin typeface="Calibri"/>
                        </a:rPr>
                        <a:t>Return on Assets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92868"/>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1354081"/>
            <a:ext cx="584835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96025" y="1411231"/>
            <a:ext cx="5657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Dentsply Sirona Inc. Pricing Analysis (US$/Units)</a:t>
            </a:r>
          </a:p>
        </p:txBody>
      </p:sp>
      <p:graphicFrame>
        <p:nvGraphicFramePr>
          <p:cNvPr id="21" name="Table 20"/>
          <p:cNvGraphicFramePr>
            <a:graphicFrameLocks noGrp="1"/>
          </p:cNvGraphicFramePr>
          <p:nvPr/>
        </p:nvGraphicFramePr>
        <p:xfrm>
          <a:off x="6210300" y="1611256"/>
          <a:ext cx="5829301" cy="4772086"/>
        </p:xfrm>
        <a:graphic>
          <a:graphicData uri="http://schemas.openxmlformats.org/drawingml/2006/table">
            <a:tbl>
              <a:tblPr>
                <a:tableStyleId>{5C22544A-7EE6-4342-B048-85BDC9FD1C3A}</a:tableStyleId>
              </a:tblPr>
              <a:tblGrid>
                <a:gridCol w="4241547"/>
                <a:gridCol w="793877"/>
                <a:gridCol w="793877"/>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1131490">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1131490">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1131490">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1131490">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2" name="TextBox 21"/>
          <p:cNvSpPr txBox="1"/>
          <p:nvPr/>
        </p:nvSpPr>
        <p:spPr>
          <a:xfrm>
            <a:off x="6276975" y="6392868"/>
            <a:ext cx="56959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4150927" y="2219246"/>
            <a:ext cx="330041" cy="480060"/>
          </a:xfrm>
          <a:prstGeom prst="rect">
            <a:avLst/>
          </a:prstGeom>
        </p:spPr>
      </p:pic>
      <p:pic>
        <p:nvPicPr>
          <p:cNvPr id="25" name="Picture 24" descr="lock.png"/>
          <p:cNvPicPr>
            <a:picLocks noChangeAspect="1"/>
          </p:cNvPicPr>
          <p:nvPr/>
        </p:nvPicPr>
        <p:blipFill>
          <a:blip r:embed="rId4"/>
          <a:stretch>
            <a:fillRect/>
          </a:stretch>
        </p:blipFill>
        <p:spPr>
          <a:xfrm>
            <a:off x="3838564" y="4875868"/>
            <a:ext cx="366712" cy="533400"/>
          </a:xfrm>
          <a:prstGeom prst="rect">
            <a:avLst/>
          </a:prstGeom>
        </p:spPr>
      </p:pic>
      <p:pic>
        <p:nvPicPr>
          <p:cNvPr id="26" name="Picture 25" descr="lock.png"/>
          <p:cNvPicPr>
            <a:picLocks noChangeAspect="1"/>
          </p:cNvPicPr>
          <p:nvPr/>
        </p:nvPicPr>
        <p:blipFill>
          <a:blip r:embed="rId4"/>
          <a:stretch>
            <a:fillRect/>
          </a:stretch>
        </p:blipFill>
        <p:spPr>
          <a:xfrm>
            <a:off x="11059034" y="3853662"/>
            <a:ext cx="366712" cy="533400"/>
          </a:xfrm>
          <a:prstGeom prst="rect">
            <a:avLst/>
          </a:prstGeom>
        </p:spPr>
      </p:pic>
    </p:spTree>
  </p:cSld>
  <p:clrMapOvr>
    <a:masterClrMapping/>
  </p:clrMapOvr>
</p:sld>
</file>

<file path=ppt/slides/slide2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Dentsply Sirona Inc. Strategy Analysis (5/5)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Dentsply Sirona Inc.'s strategic priorities and the competitive moves that support them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Strategy analysis Dentsply Sirona Inc.: strategic priorities and the competitive moves that support them (indicative).</a:t>
            </a:r>
          </a:p>
        </p:txBody>
      </p:sp>
      <p:sp>
        <p:nvSpPr>
          <p:cNvPr id="11" name="Rounded Rectangle 10"/>
          <p:cNvSpPr/>
          <p:nvPr/>
        </p:nvSpPr>
        <p:spPr>
          <a:xfrm>
            <a:off x="1428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MARKET SHARE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of global value</a:t>
            </a:r>
          </a:p>
        </p:txBody>
      </p:sp>
      <p:sp>
        <p:nvSpPr>
          <p:cNvPr id="12" name="Rounded Rectangle 11"/>
          <p:cNvSpPr/>
          <p:nvPr/>
        </p:nvSpPr>
        <p:spPr>
          <a:xfrm>
            <a:off x="25431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WIN RATE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deals won</a:t>
            </a:r>
          </a:p>
        </p:txBody>
      </p:sp>
      <p:sp>
        <p:nvSpPr>
          <p:cNvPr id="13" name="Rounded Rectangle 12"/>
          <p:cNvSpPr/>
          <p:nvPr/>
        </p:nvSpPr>
        <p:spPr>
          <a:xfrm>
            <a:off x="49530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ASP PREMIUM</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vs peers</a:t>
            </a:r>
          </a:p>
        </p:txBody>
      </p:sp>
      <p:sp>
        <p:nvSpPr>
          <p:cNvPr id="14" name="Rounded Rectangle 13"/>
          <p:cNvSpPr/>
          <p:nvPr/>
        </p:nvSpPr>
        <p:spPr>
          <a:xfrm>
            <a:off x="73533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84229"/>
            <a:ext cx="590550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2169954"/>
            <a:ext cx="5638800" cy="209550"/>
          </a:xfrm>
          <a:prstGeom prst="rect">
            <a:avLst/>
          </a:prstGeom>
          <a:noFill/>
        </p:spPr>
        <p:txBody>
          <a:bodyPr wrap="square" lIns="0" rIns="19050" tIns="9525" bIns="9525">
            <a:spAutoFit/>
          </a:bodyPr>
          <a:lstStyle/>
          <a:p>
            <a:pPr algn="l"/>
            <a:r>
              <a:rPr sz="1300" b="1">
                <a:solidFill>
                  <a:srgbClr val="0B2E4A"/>
                </a:solidFill>
                <a:latin typeface="Calibri"/>
              </a:rPr>
              <a:t>Strategic Priorities</a:t>
            </a:r>
          </a:p>
        </p:txBody>
      </p:sp>
      <p:sp>
        <p:nvSpPr>
          <p:cNvPr id="18" name="Rectangle 17"/>
          <p:cNvSpPr/>
          <p:nvPr/>
        </p:nvSpPr>
        <p:spPr>
          <a:xfrm>
            <a:off x="276225" y="2408079"/>
            <a:ext cx="56388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493804"/>
            <a:ext cx="563880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0" name="Rounded Rectangle 19"/>
          <p:cNvSpPr/>
          <p:nvPr/>
        </p:nvSpPr>
        <p:spPr>
          <a:xfrm>
            <a:off x="6200775" y="2084229"/>
            <a:ext cx="584835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34125" y="2169954"/>
            <a:ext cx="5581650" cy="209550"/>
          </a:xfrm>
          <a:prstGeom prst="rect">
            <a:avLst/>
          </a:prstGeom>
          <a:noFill/>
        </p:spPr>
        <p:txBody>
          <a:bodyPr wrap="square" lIns="0" rIns="19050" tIns="9525" bIns="9525">
            <a:spAutoFit/>
          </a:bodyPr>
          <a:lstStyle/>
          <a:p>
            <a:pPr algn="l"/>
            <a:r>
              <a:rPr sz="1300" b="1">
                <a:solidFill>
                  <a:srgbClr val="0B2E4A"/>
                </a:solidFill>
                <a:latin typeface="Calibri"/>
              </a:rPr>
              <a:t>Competitive Moves</a:t>
            </a:r>
          </a:p>
        </p:txBody>
      </p:sp>
      <p:sp>
        <p:nvSpPr>
          <p:cNvPr id="22" name="Rectangle 21"/>
          <p:cNvSpPr/>
          <p:nvPr/>
        </p:nvSpPr>
        <p:spPr>
          <a:xfrm>
            <a:off x="6334125" y="2408079"/>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34125" y="2493804"/>
            <a:ext cx="558165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4"/>
          <a:stretch>
            <a:fillRect/>
          </a:stretch>
        </p:blipFill>
        <p:spPr>
          <a:xfrm>
            <a:off x="1202531" y="1540967"/>
            <a:ext cx="157162" cy="228600"/>
          </a:xfrm>
          <a:prstGeom prst="rect">
            <a:avLst/>
          </a:prstGeom>
        </p:spPr>
      </p:pic>
      <p:pic>
        <p:nvPicPr>
          <p:cNvPr id="26" name="Picture 25" descr="lock.png"/>
          <p:cNvPicPr>
            <a:picLocks noChangeAspect="1"/>
          </p:cNvPicPr>
          <p:nvPr/>
        </p:nvPicPr>
        <p:blipFill>
          <a:blip r:embed="rId4"/>
          <a:stretch>
            <a:fillRect/>
          </a:stretch>
        </p:blipFill>
        <p:spPr>
          <a:xfrm>
            <a:off x="3602831" y="1540967"/>
            <a:ext cx="157162" cy="228600"/>
          </a:xfrm>
          <a:prstGeom prst="rect">
            <a:avLst/>
          </a:prstGeom>
        </p:spPr>
      </p:pic>
      <p:pic>
        <p:nvPicPr>
          <p:cNvPr id="27" name="Picture 26" descr="lock.png"/>
          <p:cNvPicPr>
            <a:picLocks noChangeAspect="1"/>
          </p:cNvPicPr>
          <p:nvPr/>
        </p:nvPicPr>
        <p:blipFill>
          <a:blip r:embed="rId4"/>
          <a:stretch>
            <a:fillRect/>
          </a:stretch>
        </p:blipFill>
        <p:spPr>
          <a:xfrm>
            <a:off x="6012656" y="1540967"/>
            <a:ext cx="157162" cy="228600"/>
          </a:xfrm>
          <a:prstGeom prst="rect">
            <a:avLst/>
          </a:prstGeom>
        </p:spPr>
      </p:pic>
      <p:pic>
        <p:nvPicPr>
          <p:cNvPr id="28" name="Picture 27" descr="lock.png"/>
          <p:cNvPicPr>
            <a:picLocks noChangeAspect="1"/>
          </p:cNvPicPr>
          <p:nvPr/>
        </p:nvPicPr>
        <p:blipFill>
          <a:blip r:embed="rId4"/>
          <a:stretch>
            <a:fillRect/>
          </a:stretch>
        </p:blipFill>
        <p:spPr>
          <a:xfrm>
            <a:off x="8412956" y="1540967"/>
            <a:ext cx="157162" cy="228600"/>
          </a:xfrm>
          <a:prstGeom prst="rect">
            <a:avLst/>
          </a:prstGeom>
        </p:spPr>
      </p:pic>
      <p:pic>
        <p:nvPicPr>
          <p:cNvPr id="29" name="Picture 28" descr="lock.png"/>
          <p:cNvPicPr>
            <a:picLocks noChangeAspect="1"/>
          </p:cNvPicPr>
          <p:nvPr/>
        </p:nvPicPr>
        <p:blipFill>
          <a:blip r:embed="rId4"/>
          <a:stretch>
            <a:fillRect/>
          </a:stretch>
        </p:blipFill>
        <p:spPr>
          <a:xfrm>
            <a:off x="10822781" y="1540967"/>
            <a:ext cx="157162" cy="228600"/>
          </a:xfrm>
          <a:prstGeom prst="rect">
            <a:avLst/>
          </a:prstGeom>
        </p:spPr>
      </p:pic>
      <p:sp>
        <p:nvSpPr>
          <p:cNvPr id="30" name="TextBox 29"/>
          <p:cNvSpPr txBox="1"/>
          <p:nvPr/>
        </p:nvSpPr>
        <p:spPr>
          <a:xfrm>
            <a:off x="276225" y="2503329"/>
            <a:ext cx="5559921" cy="194310"/>
          </a:xfrm>
          <a:prstGeom prst="rect">
            <a:avLst/>
          </a:prstGeom>
          <a:noFill/>
        </p:spPr>
        <p:txBody>
          <a:bodyPr wrap="none" lIns="0" rIns="0" tIns="0" bIns="0">
            <a:spAutoFit/>
          </a:bodyPr>
          <a:lstStyle/>
          <a:p>
            <a:r>
              <a:rPr sz="1150" b="0">
                <a:solidFill>
                  <a:srgbClr val="2E2E2E"/>
                </a:solidFill>
                <a:latin typeface="Calibri"/>
              </a:rPr>
              <a:t>▪ Defend and extend leadership in 'Academic &amp; Teaching Dental Institutions' Dentsply Sirona</a:t>
            </a:r>
          </a:p>
        </p:txBody>
      </p:sp>
      <p:sp>
        <p:nvSpPr>
          <p:cNvPr id="31" name="TextBox 30"/>
          <p:cNvSpPr txBox="1"/>
          <p:nvPr/>
        </p:nvSpPr>
        <p:spPr>
          <a:xfrm>
            <a:off x="276225" y="2678589"/>
            <a:ext cx="4101132" cy="194310"/>
          </a:xfrm>
          <a:prstGeom prst="rect">
            <a:avLst/>
          </a:prstGeom>
          <a:noFill/>
        </p:spPr>
        <p:txBody>
          <a:bodyPr wrap="none" lIns="0" rIns="0" tIns="0" bIns="0">
            <a:spAutoFit/>
          </a:bodyPr>
          <a:lstStyle/>
          <a:p>
            <a:r>
              <a:rPr sz="1150" b="0">
                <a:solidFill>
                  <a:srgbClr val="2E2E2E"/>
                </a:solidFill>
                <a:latin typeface="Calibri"/>
              </a:rPr>
              <a:t>Inc.'s strongest end-market while scaling the next-best applications.</a:t>
            </a:r>
          </a:p>
        </p:txBody>
      </p:sp>
      <p:sp>
        <p:nvSpPr>
          <p:cNvPr id="32" name="TextBox 31"/>
          <p:cNvSpPr txBox="1"/>
          <p:nvPr/>
        </p:nvSpPr>
        <p:spPr>
          <a:xfrm>
            <a:off x="276225" y="2906426"/>
            <a:ext cx="909997" cy="194310"/>
          </a:xfrm>
          <a:prstGeom prst="rect">
            <a:avLst/>
          </a:prstGeom>
          <a:noFill/>
        </p:spPr>
        <p:txBody>
          <a:bodyPr wrap="none" lIns="0" rIns="0" tIns="0" bIns="0">
            <a:spAutoFit/>
          </a:bodyPr>
          <a:lstStyle/>
          <a:p>
            <a:r>
              <a:rPr sz="1150" b="0">
                <a:solidFill>
                  <a:srgbClr val="2E2E2E"/>
                </a:solidFill>
                <a:latin typeface="Calibri"/>
              </a:rPr>
              <a:t>▪ Convert its ~</a:t>
            </a:r>
          </a:p>
        </p:txBody>
      </p:sp>
      <p:pic>
        <p:nvPicPr>
          <p:cNvPr id="33" name="Picture 32" descr="lock.png"/>
          <p:cNvPicPr>
            <a:picLocks noChangeAspect="1"/>
          </p:cNvPicPr>
          <p:nvPr/>
        </p:nvPicPr>
        <p:blipFill>
          <a:blip r:embed="rId4"/>
          <a:stretch>
            <a:fillRect/>
          </a:stretch>
        </p:blipFill>
        <p:spPr>
          <a:xfrm>
            <a:off x="1135376" y="2896203"/>
            <a:ext cx="134549" cy="195707"/>
          </a:xfrm>
          <a:prstGeom prst="rect">
            <a:avLst/>
          </a:prstGeom>
        </p:spPr>
      </p:pic>
      <p:sp>
        <p:nvSpPr>
          <p:cNvPr id="34" name="TextBox 33"/>
          <p:cNvSpPr txBox="1"/>
          <p:nvPr/>
        </p:nvSpPr>
        <p:spPr>
          <a:xfrm>
            <a:off x="1310485" y="2906426"/>
            <a:ext cx="929109" cy="194310"/>
          </a:xfrm>
          <a:prstGeom prst="rect">
            <a:avLst/>
          </a:prstGeom>
          <a:noFill/>
        </p:spPr>
        <p:txBody>
          <a:bodyPr wrap="none" lIns="0" rIns="0" tIns="0" bIns="0">
            <a:spAutoFit/>
          </a:bodyPr>
          <a:lstStyle/>
          <a:p>
            <a:r>
              <a:rPr sz="1150" b="0">
                <a:solidFill>
                  <a:srgbClr val="2E2E2E"/>
                </a:solidFill>
                <a:latin typeface="Calibri"/>
              </a:rPr>
              <a:t>win rate and +</a:t>
            </a:r>
          </a:p>
        </p:txBody>
      </p:sp>
      <p:pic>
        <p:nvPicPr>
          <p:cNvPr id="35" name="Picture 34" descr="lock.png"/>
          <p:cNvPicPr>
            <a:picLocks noChangeAspect="1"/>
          </p:cNvPicPr>
          <p:nvPr/>
        </p:nvPicPr>
        <p:blipFill>
          <a:blip r:embed="rId4"/>
          <a:stretch>
            <a:fillRect/>
          </a:stretch>
        </p:blipFill>
        <p:spPr>
          <a:xfrm>
            <a:off x="2188748" y="2896203"/>
            <a:ext cx="134549" cy="195707"/>
          </a:xfrm>
          <a:prstGeom prst="rect">
            <a:avLst/>
          </a:prstGeom>
        </p:spPr>
      </p:pic>
      <p:sp>
        <p:nvSpPr>
          <p:cNvPr id="36" name="TextBox 35"/>
          <p:cNvSpPr txBox="1"/>
          <p:nvPr/>
        </p:nvSpPr>
        <p:spPr>
          <a:xfrm>
            <a:off x="2363857" y="2906426"/>
            <a:ext cx="3109019" cy="194310"/>
          </a:xfrm>
          <a:prstGeom prst="rect">
            <a:avLst/>
          </a:prstGeom>
          <a:noFill/>
        </p:spPr>
        <p:txBody>
          <a:bodyPr wrap="none" lIns="0" rIns="0" tIns="0" bIns="0">
            <a:spAutoFit/>
          </a:bodyPr>
          <a:lstStyle/>
          <a:p>
            <a:r>
              <a:rPr sz="1150" b="0">
                <a:solidFill>
                  <a:srgbClr val="2E2E2E"/>
                </a:solidFill>
                <a:latin typeface="Calibri"/>
              </a:rPr>
              <a:t>ASP premium into share gains through value-based</a:t>
            </a:r>
          </a:p>
        </p:txBody>
      </p:sp>
      <p:sp>
        <p:nvSpPr>
          <p:cNvPr id="37" name="TextBox 36"/>
          <p:cNvSpPr txBox="1"/>
          <p:nvPr/>
        </p:nvSpPr>
        <p:spPr>
          <a:xfrm>
            <a:off x="276225" y="3081686"/>
            <a:ext cx="489247" cy="194310"/>
          </a:xfrm>
          <a:prstGeom prst="rect">
            <a:avLst/>
          </a:prstGeom>
          <a:noFill/>
        </p:spPr>
        <p:txBody>
          <a:bodyPr wrap="none" lIns="0" rIns="0" tIns="0" bIns="0">
            <a:spAutoFit/>
          </a:bodyPr>
          <a:lstStyle/>
          <a:p>
            <a:r>
              <a:rPr sz="1150" b="0">
                <a:solidFill>
                  <a:srgbClr val="2E2E2E"/>
                </a:solidFill>
                <a:latin typeface="Calibri"/>
              </a:rPr>
              <a:t>selling.</a:t>
            </a:r>
          </a:p>
        </p:txBody>
      </p:sp>
      <p:sp>
        <p:nvSpPr>
          <p:cNvPr id="38" name="TextBox 37"/>
          <p:cNvSpPr txBox="1"/>
          <p:nvPr/>
        </p:nvSpPr>
        <p:spPr>
          <a:xfrm>
            <a:off x="276225" y="3309524"/>
            <a:ext cx="3294434" cy="194310"/>
          </a:xfrm>
          <a:prstGeom prst="rect">
            <a:avLst/>
          </a:prstGeom>
          <a:noFill/>
        </p:spPr>
        <p:txBody>
          <a:bodyPr wrap="none" lIns="0" rIns="0" tIns="0" bIns="0">
            <a:spAutoFit/>
          </a:bodyPr>
          <a:lstStyle/>
          <a:p>
            <a:r>
              <a:rPr sz="1150" b="0">
                <a:solidFill>
                  <a:srgbClr val="2E2E2E"/>
                </a:solidFill>
                <a:latin typeface="Calibri"/>
              </a:rPr>
              <a:t>▪ Raise SAM penetration beyond 'Rest of the World' (~</a:t>
            </a:r>
          </a:p>
        </p:txBody>
      </p:sp>
      <p:pic>
        <p:nvPicPr>
          <p:cNvPr id="39" name="Picture 38" descr="lock.png"/>
          <p:cNvPicPr>
            <a:picLocks noChangeAspect="1"/>
          </p:cNvPicPr>
          <p:nvPr/>
        </p:nvPicPr>
        <p:blipFill>
          <a:blip r:embed="rId4"/>
          <a:stretch>
            <a:fillRect/>
          </a:stretch>
        </p:blipFill>
        <p:spPr>
          <a:xfrm>
            <a:off x="3519813" y="3299301"/>
            <a:ext cx="134549" cy="195707"/>
          </a:xfrm>
          <a:prstGeom prst="rect">
            <a:avLst/>
          </a:prstGeom>
        </p:spPr>
      </p:pic>
      <p:sp>
        <p:nvSpPr>
          <p:cNvPr id="40" name="TextBox 39"/>
          <p:cNvSpPr txBox="1"/>
          <p:nvPr/>
        </p:nvSpPr>
        <p:spPr>
          <a:xfrm>
            <a:off x="3694922" y="3309524"/>
            <a:ext cx="2019064" cy="194310"/>
          </a:xfrm>
          <a:prstGeom prst="rect">
            <a:avLst/>
          </a:prstGeom>
          <a:noFill/>
        </p:spPr>
        <p:txBody>
          <a:bodyPr wrap="none" lIns="0" rIns="0" tIns="0" bIns="0">
            <a:spAutoFit/>
          </a:bodyPr>
          <a:lstStyle/>
          <a:p>
            <a:r>
              <a:rPr sz="1150" b="0">
                <a:solidFill>
                  <a:srgbClr val="2E2E2E"/>
                </a:solidFill>
                <a:latin typeface="Calibri"/>
              </a:rPr>
              <a:t>) into lower-penetration regions.</a:t>
            </a:r>
          </a:p>
        </p:txBody>
      </p:sp>
      <p:sp>
        <p:nvSpPr>
          <p:cNvPr id="41" name="TextBox 40"/>
          <p:cNvSpPr txBox="1"/>
          <p:nvPr/>
        </p:nvSpPr>
        <p:spPr>
          <a:xfrm>
            <a:off x="276225" y="3537362"/>
            <a:ext cx="694059" cy="194310"/>
          </a:xfrm>
          <a:prstGeom prst="rect">
            <a:avLst/>
          </a:prstGeom>
          <a:noFill/>
        </p:spPr>
        <p:txBody>
          <a:bodyPr wrap="none" lIns="0" rIns="0" tIns="0" bIns="0">
            <a:spAutoFit/>
          </a:bodyPr>
          <a:lstStyle/>
          <a:p>
            <a:r>
              <a:rPr sz="1150" b="0">
                <a:solidFill>
                  <a:srgbClr val="2E2E2E"/>
                </a:solidFill>
                <a:latin typeface="Calibri"/>
              </a:rPr>
              <a:t>▪ Sustain a</a:t>
            </a:r>
          </a:p>
        </p:txBody>
      </p:sp>
      <p:pic>
        <p:nvPicPr>
          <p:cNvPr id="42" name="Picture 41" descr="lock.png"/>
          <p:cNvPicPr>
            <a:picLocks noChangeAspect="1"/>
          </p:cNvPicPr>
          <p:nvPr/>
        </p:nvPicPr>
        <p:blipFill>
          <a:blip r:embed="rId4"/>
          <a:stretch>
            <a:fillRect/>
          </a:stretch>
        </p:blipFill>
        <p:spPr>
          <a:xfrm>
            <a:off x="919438" y="3527139"/>
            <a:ext cx="134549" cy="195707"/>
          </a:xfrm>
          <a:prstGeom prst="rect">
            <a:avLst/>
          </a:prstGeom>
        </p:spPr>
      </p:pic>
      <p:sp>
        <p:nvSpPr>
          <p:cNvPr id="43" name="TextBox 42"/>
          <p:cNvSpPr txBox="1"/>
          <p:nvPr/>
        </p:nvSpPr>
        <p:spPr>
          <a:xfrm>
            <a:off x="1094548" y="3537362"/>
            <a:ext cx="3750555" cy="194310"/>
          </a:xfrm>
          <a:prstGeom prst="rect">
            <a:avLst/>
          </a:prstGeom>
          <a:noFill/>
        </p:spPr>
        <p:txBody>
          <a:bodyPr wrap="none" lIns="0" rIns="0" tIns="0" bIns="0">
            <a:spAutoFit/>
          </a:bodyPr>
          <a:lstStyle/>
          <a:p>
            <a:r>
              <a:rPr sz="1150" b="0">
                <a:solidFill>
                  <a:srgbClr val="2E2E2E"/>
                </a:solidFill>
                <a:latin typeface="Calibri"/>
              </a:rPr>
              <a:t>book-to-bill with disciplined capacity and channel investment.</a:t>
            </a:r>
          </a:p>
        </p:txBody>
      </p:sp>
      <p:sp>
        <p:nvSpPr>
          <p:cNvPr id="44" name="TextBox 43"/>
          <p:cNvSpPr txBox="1"/>
          <p:nvPr/>
        </p:nvSpPr>
        <p:spPr>
          <a:xfrm>
            <a:off x="276225" y="3765200"/>
            <a:ext cx="5321163" cy="194310"/>
          </a:xfrm>
          <a:prstGeom prst="rect">
            <a:avLst/>
          </a:prstGeom>
          <a:noFill/>
        </p:spPr>
        <p:txBody>
          <a:bodyPr wrap="none" lIns="0" rIns="0" tIns="0" bIns="0">
            <a:spAutoFit/>
          </a:bodyPr>
          <a:lstStyle/>
          <a:p>
            <a:r>
              <a:rPr sz="1150" b="0">
                <a:solidFill>
                  <a:srgbClr val="2E2E2E"/>
                </a:solidFill>
                <a:latin typeface="Calibri"/>
              </a:rPr>
              <a:t>▪ Protect margin through corridor-based pricing and cost discipline as input prices move.</a:t>
            </a:r>
          </a:p>
        </p:txBody>
      </p:sp>
      <p:sp>
        <p:nvSpPr>
          <p:cNvPr id="45" name="TextBox 44"/>
          <p:cNvSpPr txBox="1"/>
          <p:nvPr/>
        </p:nvSpPr>
        <p:spPr>
          <a:xfrm>
            <a:off x="6334125" y="2503329"/>
            <a:ext cx="5562600" cy="194310"/>
          </a:xfrm>
          <a:prstGeom prst="rect">
            <a:avLst/>
          </a:prstGeom>
          <a:noFill/>
        </p:spPr>
        <p:txBody>
          <a:bodyPr wrap="none" lIns="0" rIns="0" tIns="0" bIns="0">
            <a:spAutoFit/>
          </a:bodyPr>
          <a:lstStyle/>
          <a:p>
            <a:r>
              <a:rPr sz="1150" b="0">
                <a:solidFill>
                  <a:srgbClr val="2E2E2E"/>
                </a:solidFill>
                <a:latin typeface="Calibri"/>
              </a:rPr>
              <a:t>▪ Premiumise the portfolio around 'Flexible Partial Dentures' and adjacent high-value lines to</a:t>
            </a:r>
          </a:p>
        </p:txBody>
      </p:sp>
      <p:sp>
        <p:nvSpPr>
          <p:cNvPr id="46" name="TextBox 45"/>
          <p:cNvSpPr txBox="1"/>
          <p:nvPr/>
        </p:nvSpPr>
        <p:spPr>
          <a:xfrm>
            <a:off x="6334125" y="2678589"/>
            <a:ext cx="1228625" cy="194310"/>
          </a:xfrm>
          <a:prstGeom prst="rect">
            <a:avLst/>
          </a:prstGeom>
          <a:noFill/>
        </p:spPr>
        <p:txBody>
          <a:bodyPr wrap="none" lIns="0" rIns="0" tIns="0" bIns="0">
            <a:spAutoFit/>
          </a:bodyPr>
          <a:lstStyle/>
          <a:p>
            <a:r>
              <a:rPr sz="1150" b="0">
                <a:solidFill>
                  <a:srgbClr val="2E2E2E"/>
                </a:solidFill>
                <a:latin typeface="Calibri"/>
              </a:rPr>
              <a:t>lift blended pricing.</a:t>
            </a:r>
          </a:p>
        </p:txBody>
      </p:sp>
      <p:sp>
        <p:nvSpPr>
          <p:cNvPr id="47" name="TextBox 46"/>
          <p:cNvSpPr txBox="1"/>
          <p:nvPr/>
        </p:nvSpPr>
        <p:spPr>
          <a:xfrm>
            <a:off x="6334125" y="2906426"/>
            <a:ext cx="5219613" cy="194310"/>
          </a:xfrm>
          <a:prstGeom prst="rect">
            <a:avLst/>
          </a:prstGeom>
          <a:noFill/>
        </p:spPr>
        <p:txBody>
          <a:bodyPr wrap="none" lIns="0" rIns="0" tIns="0" bIns="0">
            <a:spAutoFit/>
          </a:bodyPr>
          <a:lstStyle/>
          <a:p>
            <a:r>
              <a:rPr sz="1150" b="0">
                <a:solidFill>
                  <a:srgbClr val="2E2E2E"/>
                </a:solidFill>
                <a:latin typeface="Calibri"/>
              </a:rPr>
              <a:t>▪ Deepen presence in 'North America' (largest SOM region) and build out under-served</a:t>
            </a:r>
          </a:p>
        </p:txBody>
      </p:sp>
      <p:sp>
        <p:nvSpPr>
          <p:cNvPr id="48" name="TextBox 47"/>
          <p:cNvSpPr txBox="1"/>
          <p:nvPr/>
        </p:nvSpPr>
        <p:spPr>
          <a:xfrm>
            <a:off x="6334125" y="3081686"/>
            <a:ext cx="838113" cy="194310"/>
          </a:xfrm>
          <a:prstGeom prst="rect">
            <a:avLst/>
          </a:prstGeom>
          <a:noFill/>
        </p:spPr>
        <p:txBody>
          <a:bodyPr wrap="none" lIns="0" rIns="0" tIns="0" bIns="0">
            <a:spAutoFit/>
          </a:bodyPr>
          <a:lstStyle/>
          <a:p>
            <a:r>
              <a:rPr sz="1150" b="0">
                <a:solidFill>
                  <a:srgbClr val="2E2E2E"/>
                </a:solidFill>
                <a:latin typeface="Calibri"/>
              </a:rPr>
              <a:t>geographies.</a:t>
            </a:r>
          </a:p>
        </p:txBody>
      </p:sp>
      <p:sp>
        <p:nvSpPr>
          <p:cNvPr id="49" name="TextBox 48"/>
          <p:cNvSpPr txBox="1"/>
          <p:nvPr/>
        </p:nvSpPr>
        <p:spPr>
          <a:xfrm>
            <a:off x="6334125" y="3309524"/>
            <a:ext cx="5471144" cy="194310"/>
          </a:xfrm>
          <a:prstGeom prst="rect">
            <a:avLst/>
          </a:prstGeom>
          <a:noFill/>
        </p:spPr>
        <p:txBody>
          <a:bodyPr wrap="none" lIns="0" rIns="0" tIns="0" bIns="0">
            <a:spAutoFit/>
          </a:bodyPr>
          <a:lstStyle/>
          <a:p>
            <a:r>
              <a:rPr sz="1150" b="0">
                <a:solidFill>
                  <a:srgbClr val="2E2E2E"/>
                </a:solidFill>
                <a:latin typeface="Calibri"/>
              </a:rPr>
              <a:t>▪ Invest in R&amp;D, certification and selective M&amp;A to move up the price ladder and widen the</a:t>
            </a:r>
          </a:p>
        </p:txBody>
      </p:sp>
      <p:sp>
        <p:nvSpPr>
          <p:cNvPr id="50" name="TextBox 49"/>
          <p:cNvSpPr txBox="1"/>
          <p:nvPr/>
        </p:nvSpPr>
        <p:spPr>
          <a:xfrm>
            <a:off x="6334125" y="3484784"/>
            <a:ext cx="425636" cy="194310"/>
          </a:xfrm>
          <a:prstGeom prst="rect">
            <a:avLst/>
          </a:prstGeom>
          <a:noFill/>
        </p:spPr>
        <p:txBody>
          <a:bodyPr wrap="none" lIns="0" rIns="0" tIns="0" bIns="0">
            <a:spAutoFit/>
          </a:bodyPr>
          <a:lstStyle/>
          <a:p>
            <a:r>
              <a:rPr sz="1150" b="0">
                <a:solidFill>
                  <a:srgbClr val="2E2E2E"/>
                </a:solidFill>
                <a:latin typeface="Calibri"/>
              </a:rPr>
              <a:t>moat.</a:t>
            </a:r>
          </a:p>
        </p:txBody>
      </p:sp>
      <p:sp>
        <p:nvSpPr>
          <p:cNvPr id="51" name="TextBox 50"/>
          <p:cNvSpPr txBox="1"/>
          <p:nvPr/>
        </p:nvSpPr>
        <p:spPr>
          <a:xfrm>
            <a:off x="6334125" y="3712622"/>
            <a:ext cx="5267535" cy="194310"/>
          </a:xfrm>
          <a:prstGeom prst="rect">
            <a:avLst/>
          </a:prstGeom>
          <a:noFill/>
        </p:spPr>
        <p:txBody>
          <a:bodyPr wrap="none" lIns="0" rIns="0" tIns="0" bIns="0">
            <a:spAutoFit/>
          </a:bodyPr>
          <a:lstStyle/>
          <a:p>
            <a:r>
              <a:rPr sz="1150" b="0">
                <a:solidFill>
                  <a:srgbClr val="2E2E2E"/>
                </a:solidFill>
                <a:latin typeface="Calibri"/>
              </a:rPr>
              <a:t>▪ Diversify the customer base and secure supply to de-risk concentration and input-cost</a:t>
            </a:r>
          </a:p>
        </p:txBody>
      </p:sp>
      <p:sp>
        <p:nvSpPr>
          <p:cNvPr id="52" name="TextBox 51"/>
          <p:cNvSpPr txBox="1"/>
          <p:nvPr/>
        </p:nvSpPr>
        <p:spPr>
          <a:xfrm>
            <a:off x="6334125" y="3887882"/>
            <a:ext cx="509215" cy="194310"/>
          </a:xfrm>
          <a:prstGeom prst="rect">
            <a:avLst/>
          </a:prstGeom>
          <a:noFill/>
        </p:spPr>
        <p:txBody>
          <a:bodyPr wrap="none" lIns="0" rIns="0" tIns="0" bIns="0">
            <a:spAutoFit/>
          </a:bodyPr>
          <a:lstStyle/>
          <a:p>
            <a:r>
              <a:rPr sz="1150" b="0">
                <a:solidFill>
                  <a:srgbClr val="2E2E2E"/>
                </a:solidFill>
                <a:latin typeface="Calibri"/>
              </a:rPr>
              <a:t>shocks.</a:t>
            </a:r>
          </a:p>
        </p:txBody>
      </p:sp>
      <p:sp>
        <p:nvSpPr>
          <p:cNvPr id="53" name="TextBox 52"/>
          <p:cNvSpPr txBox="1"/>
          <p:nvPr/>
        </p:nvSpPr>
        <p:spPr>
          <a:xfrm>
            <a:off x="6334125" y="4115720"/>
            <a:ext cx="3102173" cy="194310"/>
          </a:xfrm>
          <a:prstGeom prst="rect">
            <a:avLst/>
          </a:prstGeom>
          <a:noFill/>
        </p:spPr>
        <p:txBody>
          <a:bodyPr wrap="none" lIns="0" rIns="0" tIns="0" bIns="0">
            <a:spAutoFit/>
          </a:bodyPr>
          <a:lstStyle/>
          <a:p>
            <a:r>
              <a:rPr sz="1150" b="0">
                <a:solidFill>
                  <a:srgbClr val="2E2E2E"/>
                </a:solidFill>
                <a:latin typeface="Calibri"/>
              </a:rPr>
              <a:t>▪ Sharpen go-to-market a ~95-day sales cycle and ~</a:t>
            </a:r>
          </a:p>
        </p:txBody>
      </p:sp>
      <p:pic>
        <p:nvPicPr>
          <p:cNvPr id="54" name="Picture 53" descr="lock.png"/>
          <p:cNvPicPr>
            <a:picLocks noChangeAspect="1"/>
          </p:cNvPicPr>
          <p:nvPr/>
        </p:nvPicPr>
        <p:blipFill>
          <a:blip r:embed="rId4"/>
          <a:stretch>
            <a:fillRect/>
          </a:stretch>
        </p:blipFill>
        <p:spPr>
          <a:xfrm>
            <a:off x="9385452" y="4105497"/>
            <a:ext cx="134549" cy="195707"/>
          </a:xfrm>
          <a:prstGeom prst="rect">
            <a:avLst/>
          </a:prstGeom>
        </p:spPr>
      </p:pic>
      <p:sp>
        <p:nvSpPr>
          <p:cNvPr id="55" name="TextBox 54"/>
          <p:cNvSpPr txBox="1"/>
          <p:nvPr/>
        </p:nvSpPr>
        <p:spPr>
          <a:xfrm>
            <a:off x="9560561" y="4115720"/>
            <a:ext cx="2003660" cy="194310"/>
          </a:xfrm>
          <a:prstGeom prst="rect">
            <a:avLst/>
          </a:prstGeom>
          <a:noFill/>
        </p:spPr>
        <p:txBody>
          <a:bodyPr wrap="none" lIns="0" rIns="0" tIns="0" bIns="0">
            <a:spAutoFit/>
          </a:bodyPr>
          <a:lstStyle/>
          <a:p>
            <a:r>
              <a:rPr sz="1150" b="0">
                <a:solidFill>
                  <a:srgbClr val="2E2E2E"/>
                </a:solidFill>
                <a:latin typeface="Calibri"/>
              </a:rPr>
              <a:t>conversion speed share capture.</a:t>
            </a:r>
          </a:p>
        </p:txBody>
      </p:sp>
    </p:spTree>
  </p:cSld>
  <p:clrMapOvr>
    <a:masterClrMapping/>
  </p:clrMapOvr>
</p:sld>
</file>

<file path=ppt/slides/slide2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Ivoclar Vivadent AG Executive Market Snapshot (1/5)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total market, addressable opportunity and share of market by end-market, region and product</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Executive snapshot and strategic positioning Ivoclar Vivadent AG: market, addressable opportunity and SOM splits by end-market, region and product.</a:t>
            </a:r>
          </a:p>
        </p:txBody>
      </p:sp>
      <p:sp>
        <p:nvSpPr>
          <p:cNvPr id="11" name="Rounded Rectangle 10"/>
          <p:cNvSpPr/>
          <p:nvPr/>
        </p:nvSpPr>
        <p:spPr>
          <a:xfrm>
            <a:off x="1428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TAM (US$ MN)</a:t>
            </a:r>
          </a:p>
          <a:p>
            <a:pPr algn="ctr">
              <a:lnSpc>
                <a:spcPct val="95000"/>
              </a:lnSpc>
            </a:pPr>
            <a:r>
              <a:rPr sz="1500" b="1">
                <a:solidFill>
                  <a:srgbClr val="0E72AE"/>
                </a:solidFill>
                <a:latin typeface="Calibri"/>
              </a:rPr>
              <a:t>1,731</a:t>
            </a:r>
          </a:p>
          <a:p>
            <a:pPr algn="ctr">
              <a:lnSpc>
                <a:spcPct val="95000"/>
              </a:lnSpc>
            </a:pPr>
            <a:r>
              <a:rPr sz="1100" b="0">
                <a:solidFill>
                  <a:srgbClr val="6C7A89"/>
                </a:solidFill>
                <a:latin typeface="Calibri"/>
              </a:rPr>
              <a:t>Total market</a:t>
            </a:r>
          </a:p>
        </p:txBody>
      </p:sp>
      <p:sp>
        <p:nvSpPr>
          <p:cNvPr id="12" name="Rounded Rectangle 11"/>
          <p:cNvSpPr/>
          <p:nvPr/>
        </p:nvSpPr>
        <p:spPr>
          <a:xfrm>
            <a:off x="25431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SAM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Addressable</a:t>
            </a:r>
          </a:p>
        </p:txBody>
      </p:sp>
      <p:sp>
        <p:nvSpPr>
          <p:cNvPr id="13" name="Rounded Rectangle 12"/>
          <p:cNvSpPr/>
          <p:nvPr/>
        </p:nvSpPr>
        <p:spPr>
          <a:xfrm>
            <a:off x="49530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4" name="Rounded Rectangle 13"/>
          <p:cNvSpPr/>
          <p:nvPr/>
        </p:nvSpPr>
        <p:spPr>
          <a:xfrm>
            <a:off x="73533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End-Market (US$ Mn)</a:t>
            </a:r>
          </a:p>
        </p:txBody>
      </p:sp>
      <p:graphicFrame>
        <p:nvGraphicFramePr>
          <p:cNvPr id="18" name="Chart 17"/>
          <p:cNvGraphicFramePr>
            <a:graphicFrameLocks noGrp="1"/>
          </p:cNvGraphicFramePr>
          <p:nvPr/>
        </p:nvGraphicFramePr>
        <p:xfrm>
          <a:off x="238125" y="2351726"/>
          <a:ext cx="3638550" cy="2267379"/>
        </p:xfrm>
        <a:graphic>
          <a:graphicData uri="http://schemas.openxmlformats.org/drawingml/2006/chart">
            <c:chart xmlns:c="http://schemas.openxmlformats.org/drawingml/2006/chart" r:id="rId3"/>
          </a:graphicData>
        </a:graphic>
      </p:graphicFrame>
      <p:sp>
        <p:nvSpPr>
          <p:cNvPr id="19" name="Rounded Rectangle 18"/>
          <p:cNvSpPr/>
          <p:nvPr/>
        </p:nvSpPr>
        <p:spPr>
          <a:xfrm>
            <a:off x="412432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421957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Region (US$ Mn)</a:t>
            </a:r>
          </a:p>
        </p:txBody>
      </p:sp>
      <p:graphicFrame>
        <p:nvGraphicFramePr>
          <p:cNvPr id="21" name="Chart 20"/>
          <p:cNvGraphicFramePr>
            <a:graphicFrameLocks noGrp="1"/>
          </p:cNvGraphicFramePr>
          <p:nvPr/>
        </p:nvGraphicFramePr>
        <p:xfrm>
          <a:off x="4219575" y="2351726"/>
          <a:ext cx="3638550" cy="2267379"/>
        </p:xfrm>
        <a:graphic>
          <a:graphicData uri="http://schemas.openxmlformats.org/drawingml/2006/chart">
            <c:chart xmlns:c="http://schemas.openxmlformats.org/drawingml/2006/chart" r:id="rId4"/>
          </a:graphicData>
        </a:graphic>
      </p:graphicFrame>
      <p:sp>
        <p:nvSpPr>
          <p:cNvPr id="22" name="Rounded Rectangle 21"/>
          <p:cNvSpPr/>
          <p:nvPr/>
        </p:nvSpPr>
        <p:spPr>
          <a:xfrm>
            <a:off x="8105775" y="2065976"/>
            <a:ext cx="39433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8201025" y="2123126"/>
            <a:ext cx="3752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Product Line (US$ Mn)</a:t>
            </a:r>
          </a:p>
        </p:txBody>
      </p:sp>
      <p:graphicFrame>
        <p:nvGraphicFramePr>
          <p:cNvPr id="24" name="Chart 23"/>
          <p:cNvGraphicFramePr>
            <a:graphicFrameLocks noGrp="1"/>
          </p:cNvGraphicFramePr>
          <p:nvPr/>
        </p:nvGraphicFramePr>
        <p:xfrm>
          <a:off x="8201025" y="2351726"/>
          <a:ext cx="3752850" cy="2267379"/>
        </p:xfrm>
        <a:graphic>
          <a:graphicData uri="http://schemas.openxmlformats.org/drawingml/2006/chart">
            <c:chart xmlns:c="http://schemas.openxmlformats.org/drawingml/2006/chart" r:id="rId5"/>
          </a:graphicData>
        </a:graphic>
      </p:graphicFrame>
      <p:sp>
        <p:nvSpPr>
          <p:cNvPr id="25" name="Rounded Rectangle 24"/>
          <p:cNvSpPr/>
          <p:nvPr/>
        </p:nvSpPr>
        <p:spPr>
          <a:xfrm>
            <a:off x="142875" y="4785777"/>
            <a:ext cx="11906250" cy="1807116"/>
          </a:xfrm>
          <a:prstGeom prst="roundRect">
            <a:avLst>
              <a:gd name="adj" fmla="val 421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76225" y="4871502"/>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27" name="Rectangle 26"/>
          <p:cNvSpPr/>
          <p:nvPr/>
        </p:nvSpPr>
        <p:spPr>
          <a:xfrm>
            <a:off x="276225" y="5109627"/>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76225" y="5195352"/>
            <a:ext cx="11639550" cy="1321341"/>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7"/>
          <a:stretch>
            <a:fillRect/>
          </a:stretch>
        </p:blipFill>
        <p:spPr>
          <a:xfrm>
            <a:off x="3602831" y="1522714"/>
            <a:ext cx="157162" cy="228600"/>
          </a:xfrm>
          <a:prstGeom prst="rect">
            <a:avLst/>
          </a:prstGeom>
        </p:spPr>
      </p:pic>
      <p:pic>
        <p:nvPicPr>
          <p:cNvPr id="31" name="Picture 30" descr="lock.png"/>
          <p:cNvPicPr>
            <a:picLocks noChangeAspect="1"/>
          </p:cNvPicPr>
          <p:nvPr/>
        </p:nvPicPr>
        <p:blipFill>
          <a:blip r:embed="rId7"/>
          <a:stretch>
            <a:fillRect/>
          </a:stretch>
        </p:blipFill>
        <p:spPr>
          <a:xfrm>
            <a:off x="8412956" y="1522714"/>
            <a:ext cx="157162" cy="228600"/>
          </a:xfrm>
          <a:prstGeom prst="rect">
            <a:avLst/>
          </a:prstGeom>
        </p:spPr>
      </p:pic>
      <p:pic>
        <p:nvPicPr>
          <p:cNvPr id="32" name="Picture 31" descr="lock.png"/>
          <p:cNvPicPr>
            <a:picLocks noChangeAspect="1"/>
          </p:cNvPicPr>
          <p:nvPr/>
        </p:nvPicPr>
        <p:blipFill>
          <a:blip r:embed="rId7"/>
          <a:stretch>
            <a:fillRect/>
          </a:stretch>
        </p:blipFill>
        <p:spPr>
          <a:xfrm>
            <a:off x="10822781" y="1522714"/>
            <a:ext cx="157162" cy="228600"/>
          </a:xfrm>
          <a:prstGeom prst="rect">
            <a:avLst/>
          </a:prstGeom>
        </p:spPr>
      </p:pic>
      <p:pic>
        <p:nvPicPr>
          <p:cNvPr id="33" name="Picture 32" descr="lock.png"/>
          <p:cNvPicPr>
            <a:picLocks noChangeAspect="1"/>
          </p:cNvPicPr>
          <p:nvPr/>
        </p:nvPicPr>
        <p:blipFill>
          <a:blip r:embed="rId7"/>
          <a:stretch>
            <a:fillRect/>
          </a:stretch>
        </p:blipFill>
        <p:spPr>
          <a:xfrm>
            <a:off x="2104623" y="3299104"/>
            <a:ext cx="197242" cy="286897"/>
          </a:xfrm>
          <a:prstGeom prst="rect">
            <a:avLst/>
          </a:prstGeom>
        </p:spPr>
      </p:pic>
      <p:pic>
        <p:nvPicPr>
          <p:cNvPr id="34" name="Picture 33" descr="lock.png"/>
          <p:cNvPicPr>
            <a:picLocks noChangeAspect="1"/>
          </p:cNvPicPr>
          <p:nvPr/>
        </p:nvPicPr>
        <p:blipFill>
          <a:blip r:embed="rId7"/>
          <a:stretch>
            <a:fillRect/>
          </a:stretch>
        </p:blipFill>
        <p:spPr>
          <a:xfrm>
            <a:off x="6086073" y="3299104"/>
            <a:ext cx="197242" cy="286897"/>
          </a:xfrm>
          <a:prstGeom prst="rect">
            <a:avLst/>
          </a:prstGeom>
        </p:spPr>
      </p:pic>
      <p:pic>
        <p:nvPicPr>
          <p:cNvPr id="35" name="Picture 34" descr="lock.png"/>
          <p:cNvPicPr>
            <a:picLocks noChangeAspect="1"/>
          </p:cNvPicPr>
          <p:nvPr/>
        </p:nvPicPr>
        <p:blipFill>
          <a:blip r:embed="rId7"/>
          <a:stretch>
            <a:fillRect/>
          </a:stretch>
        </p:blipFill>
        <p:spPr>
          <a:xfrm>
            <a:off x="9278088" y="3145920"/>
            <a:ext cx="444576" cy="646656"/>
          </a:xfrm>
          <a:prstGeom prst="rect">
            <a:avLst/>
          </a:prstGeom>
        </p:spPr>
      </p:pic>
      <p:sp>
        <p:nvSpPr>
          <p:cNvPr id="36" name="TextBox 35"/>
          <p:cNvSpPr txBox="1"/>
          <p:nvPr/>
        </p:nvSpPr>
        <p:spPr>
          <a:xfrm>
            <a:off x="5758516" y="1377568"/>
            <a:ext cx="741641" cy="146456"/>
          </a:xfrm>
          <a:prstGeom prst="rect">
            <a:avLst/>
          </a:prstGeom>
          <a:noFill/>
        </p:spPr>
        <p:txBody>
          <a:bodyPr wrap="none" lIns="0" rIns="0" tIns="0" bIns="0">
            <a:spAutoFit/>
          </a:bodyPr>
          <a:lstStyle/>
          <a:p>
            <a:r>
              <a:rPr sz="835" b="1">
                <a:solidFill>
                  <a:srgbClr val="6C7A89"/>
                </a:solidFill>
                <a:latin typeface="Calibri"/>
              </a:rPr>
              <a:t>SOM (US$ MN)</a:t>
            </a:r>
          </a:p>
        </p:txBody>
      </p:sp>
      <p:pic>
        <p:nvPicPr>
          <p:cNvPr id="37" name="Picture 36" descr="lock.png"/>
          <p:cNvPicPr>
            <a:picLocks noChangeAspect="1"/>
          </p:cNvPicPr>
          <p:nvPr/>
        </p:nvPicPr>
        <p:blipFill>
          <a:blip r:embed="rId7"/>
          <a:stretch>
            <a:fillRect/>
          </a:stretch>
        </p:blipFill>
        <p:spPr>
          <a:xfrm>
            <a:off x="6017010" y="1533061"/>
            <a:ext cx="133378" cy="194005"/>
          </a:xfrm>
          <a:prstGeom prst="rect">
            <a:avLst/>
          </a:prstGeom>
        </p:spPr>
      </p:pic>
      <p:pic>
        <p:nvPicPr>
          <p:cNvPr id="38" name="Picture 37" descr="lock.png"/>
          <p:cNvPicPr>
            <a:picLocks noChangeAspect="1"/>
          </p:cNvPicPr>
          <p:nvPr/>
        </p:nvPicPr>
        <p:blipFill>
          <a:blip r:embed="rId7"/>
          <a:stretch>
            <a:fillRect/>
          </a:stretch>
        </p:blipFill>
        <p:spPr>
          <a:xfrm>
            <a:off x="5865805" y="1761621"/>
            <a:ext cx="97811" cy="142270"/>
          </a:xfrm>
          <a:prstGeom prst="rect">
            <a:avLst/>
          </a:prstGeom>
        </p:spPr>
      </p:pic>
      <p:sp>
        <p:nvSpPr>
          <p:cNvPr id="39" name="TextBox 38"/>
          <p:cNvSpPr txBox="1"/>
          <p:nvPr/>
        </p:nvSpPr>
        <p:spPr>
          <a:xfrm>
            <a:off x="5993102" y="1769053"/>
            <a:ext cx="389531" cy="146456"/>
          </a:xfrm>
          <a:prstGeom prst="rect">
            <a:avLst/>
          </a:prstGeom>
          <a:noFill/>
        </p:spPr>
        <p:txBody>
          <a:bodyPr wrap="none" lIns="0" rIns="0" tIns="0" bIns="0">
            <a:spAutoFit/>
          </a:bodyPr>
          <a:lstStyle/>
          <a:p>
            <a:r>
              <a:rPr sz="835" b="0">
                <a:solidFill>
                  <a:srgbClr val="6C7A89"/>
                </a:solidFill>
                <a:latin typeface="Calibri"/>
              </a:rPr>
              <a:t>of SAM</a:t>
            </a:r>
          </a:p>
        </p:txBody>
      </p:sp>
      <p:sp>
        <p:nvSpPr>
          <p:cNvPr id="40" name="TextBox 39"/>
          <p:cNvSpPr txBox="1"/>
          <p:nvPr/>
        </p:nvSpPr>
        <p:spPr>
          <a:xfrm>
            <a:off x="276225" y="5204877"/>
            <a:ext cx="3000890" cy="194310"/>
          </a:xfrm>
          <a:prstGeom prst="rect">
            <a:avLst/>
          </a:prstGeom>
          <a:noFill/>
        </p:spPr>
        <p:txBody>
          <a:bodyPr wrap="none" lIns="0" rIns="0" tIns="0" bIns="0">
            <a:spAutoFit/>
          </a:bodyPr>
          <a:lstStyle/>
          <a:p>
            <a:r>
              <a:rPr sz="1150" b="0">
                <a:solidFill>
                  <a:srgbClr val="2E2E2E"/>
                </a:solidFill>
                <a:latin typeface="Calibri"/>
              </a:rPr>
              <a:t>▪ Market Position: Ivoclar Vivadent AG captures ~</a:t>
            </a:r>
          </a:p>
        </p:txBody>
      </p:sp>
      <p:pic>
        <p:nvPicPr>
          <p:cNvPr id="41" name="Picture 40" descr="lock.png"/>
          <p:cNvPicPr>
            <a:picLocks noChangeAspect="1"/>
          </p:cNvPicPr>
          <p:nvPr/>
        </p:nvPicPr>
        <p:blipFill>
          <a:blip r:embed="rId7"/>
          <a:stretch>
            <a:fillRect/>
          </a:stretch>
        </p:blipFill>
        <p:spPr>
          <a:xfrm>
            <a:off x="3226269" y="5194653"/>
            <a:ext cx="134549" cy="195707"/>
          </a:xfrm>
          <a:prstGeom prst="rect">
            <a:avLst/>
          </a:prstGeom>
        </p:spPr>
      </p:pic>
      <p:sp>
        <p:nvSpPr>
          <p:cNvPr id="42" name="TextBox 41"/>
          <p:cNvSpPr txBox="1"/>
          <p:nvPr/>
        </p:nvSpPr>
        <p:spPr>
          <a:xfrm>
            <a:off x="3401378" y="5204877"/>
            <a:ext cx="5624958" cy="194310"/>
          </a:xfrm>
          <a:prstGeom prst="rect">
            <a:avLst/>
          </a:prstGeom>
          <a:noFill/>
        </p:spPr>
        <p:txBody>
          <a:bodyPr wrap="none" lIns="0" rIns="0" tIns="0" bIns="0">
            <a:spAutoFit/>
          </a:bodyPr>
          <a:lstStyle/>
          <a:p>
            <a:r>
              <a:rPr sz="1150" b="0">
                <a:solidFill>
                  <a:srgbClr val="2E2E2E"/>
                </a:solidFill>
                <a:latin typeface="Calibri"/>
              </a:rPr>
              <a:t>of a US$ Mn SAM, with its strongest end-market in 'Academic &amp; Teaching Dental Institutions'.</a:t>
            </a:r>
          </a:p>
        </p:txBody>
      </p:sp>
      <p:sp>
        <p:nvSpPr>
          <p:cNvPr id="43" name="TextBox 42"/>
          <p:cNvSpPr txBox="1"/>
          <p:nvPr/>
        </p:nvSpPr>
        <p:spPr>
          <a:xfrm>
            <a:off x="276225" y="5432715"/>
            <a:ext cx="7532737" cy="194310"/>
          </a:xfrm>
          <a:prstGeom prst="rect">
            <a:avLst/>
          </a:prstGeom>
          <a:noFill/>
        </p:spPr>
        <p:txBody>
          <a:bodyPr wrap="none" lIns="0" rIns="0" tIns="0" bIns="0">
            <a:spAutoFit/>
          </a:bodyPr>
          <a:lstStyle/>
          <a:p>
            <a:r>
              <a:rPr sz="1150" b="0">
                <a:solidFill>
                  <a:srgbClr val="2E2E2E"/>
                </a:solidFill>
                <a:latin typeface="Calibri"/>
              </a:rPr>
              <a:t>▪ Geographic Balance: 'Rest of the World' is the largest SOM region; 'Rest of the World' shows the highest SAM penetration (~</a:t>
            </a:r>
          </a:p>
        </p:txBody>
      </p:sp>
      <p:pic>
        <p:nvPicPr>
          <p:cNvPr id="44" name="Picture 43" descr="lock.png"/>
          <p:cNvPicPr>
            <a:picLocks noChangeAspect="1"/>
          </p:cNvPicPr>
          <p:nvPr/>
        </p:nvPicPr>
        <p:blipFill>
          <a:blip r:embed="rId7"/>
          <a:stretch>
            <a:fillRect/>
          </a:stretch>
        </p:blipFill>
        <p:spPr>
          <a:xfrm>
            <a:off x="7758116" y="5422491"/>
            <a:ext cx="134549" cy="195707"/>
          </a:xfrm>
          <a:prstGeom prst="rect">
            <a:avLst/>
          </a:prstGeom>
        </p:spPr>
      </p:pic>
      <p:sp>
        <p:nvSpPr>
          <p:cNvPr id="45" name="TextBox 44"/>
          <p:cNvSpPr txBox="1"/>
          <p:nvPr/>
        </p:nvSpPr>
        <p:spPr>
          <a:xfrm>
            <a:off x="7933225" y="5432715"/>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46" name="TextBox 45"/>
          <p:cNvSpPr txBox="1"/>
          <p:nvPr/>
        </p:nvSpPr>
        <p:spPr>
          <a:xfrm>
            <a:off x="276225" y="5660552"/>
            <a:ext cx="1391791" cy="194310"/>
          </a:xfrm>
          <a:prstGeom prst="rect">
            <a:avLst/>
          </a:prstGeom>
          <a:noFill/>
        </p:spPr>
        <p:txBody>
          <a:bodyPr wrap="none" lIns="0" rIns="0" tIns="0" bIns="0">
            <a:spAutoFit/>
          </a:bodyPr>
          <a:lstStyle/>
          <a:p>
            <a:r>
              <a:rPr sz="1150" b="0">
                <a:solidFill>
                  <a:srgbClr val="2E2E2E"/>
                </a:solidFill>
                <a:latin typeface="Calibri"/>
              </a:rPr>
              <a:t>▪ Growth Trajectory: a</a:t>
            </a:r>
          </a:p>
        </p:txBody>
      </p:sp>
      <p:pic>
        <p:nvPicPr>
          <p:cNvPr id="47" name="Picture 46" descr="lock.png"/>
          <p:cNvPicPr>
            <a:picLocks noChangeAspect="1"/>
          </p:cNvPicPr>
          <p:nvPr/>
        </p:nvPicPr>
        <p:blipFill>
          <a:blip r:embed="rId7"/>
          <a:stretch>
            <a:fillRect/>
          </a:stretch>
        </p:blipFill>
        <p:spPr>
          <a:xfrm>
            <a:off x="1617169" y="5650329"/>
            <a:ext cx="134549" cy="195707"/>
          </a:xfrm>
          <a:prstGeom prst="rect">
            <a:avLst/>
          </a:prstGeom>
        </p:spPr>
      </p:pic>
      <p:sp>
        <p:nvSpPr>
          <p:cNvPr id="48" name="TextBox 47"/>
          <p:cNvSpPr txBox="1"/>
          <p:nvPr/>
        </p:nvSpPr>
        <p:spPr>
          <a:xfrm>
            <a:off x="1792279" y="5660552"/>
            <a:ext cx="1129072" cy="194310"/>
          </a:xfrm>
          <a:prstGeom prst="rect">
            <a:avLst/>
          </a:prstGeom>
          <a:noFill/>
        </p:spPr>
        <p:txBody>
          <a:bodyPr wrap="none" lIns="0" rIns="0" tIns="0" bIns="0">
            <a:spAutoFit/>
          </a:bodyPr>
          <a:lstStyle/>
          <a:p>
            <a:r>
              <a:rPr sz="1150" b="0">
                <a:solidFill>
                  <a:srgbClr val="2E2E2E"/>
                </a:solidFill>
                <a:latin typeface="Calibri"/>
              </a:rPr>
              <a:t>book-to-bill and ~</a:t>
            </a:r>
          </a:p>
        </p:txBody>
      </p:sp>
      <p:pic>
        <p:nvPicPr>
          <p:cNvPr id="49" name="Picture 48" descr="lock.png"/>
          <p:cNvPicPr>
            <a:picLocks noChangeAspect="1"/>
          </p:cNvPicPr>
          <p:nvPr/>
        </p:nvPicPr>
        <p:blipFill>
          <a:blip r:embed="rId7"/>
          <a:stretch>
            <a:fillRect/>
          </a:stretch>
        </p:blipFill>
        <p:spPr>
          <a:xfrm>
            <a:off x="2870505" y="5650329"/>
            <a:ext cx="134549" cy="195707"/>
          </a:xfrm>
          <a:prstGeom prst="rect">
            <a:avLst/>
          </a:prstGeom>
        </p:spPr>
      </p:pic>
      <p:sp>
        <p:nvSpPr>
          <p:cNvPr id="50" name="TextBox 49"/>
          <p:cNvSpPr txBox="1"/>
          <p:nvPr/>
        </p:nvSpPr>
        <p:spPr>
          <a:xfrm>
            <a:off x="3045614" y="5660552"/>
            <a:ext cx="4503594" cy="194310"/>
          </a:xfrm>
          <a:prstGeom prst="rect">
            <a:avLst/>
          </a:prstGeom>
          <a:noFill/>
        </p:spPr>
        <p:txBody>
          <a:bodyPr wrap="none" lIns="0" rIns="0" tIns="0" bIns="0">
            <a:spAutoFit/>
          </a:bodyPr>
          <a:lstStyle/>
          <a:p>
            <a:r>
              <a:rPr sz="1150" b="0">
                <a:solidFill>
                  <a:srgbClr val="2E2E2E"/>
                </a:solidFill>
                <a:latin typeface="Calibri"/>
              </a:rPr>
              <a:t>EBITDA margin point to a path to capture more of the addressable market.</a:t>
            </a:r>
          </a:p>
        </p:txBody>
      </p:sp>
      <p:sp>
        <p:nvSpPr>
          <p:cNvPr id="51" name="TextBox 50"/>
          <p:cNvSpPr txBox="1"/>
          <p:nvPr/>
        </p:nvSpPr>
        <p:spPr>
          <a:xfrm>
            <a:off x="276225" y="5888390"/>
            <a:ext cx="1353535" cy="194310"/>
          </a:xfrm>
          <a:prstGeom prst="rect">
            <a:avLst/>
          </a:prstGeom>
          <a:noFill/>
        </p:spPr>
        <p:txBody>
          <a:bodyPr wrap="none" lIns="0" rIns="0" tIns="0" bIns="0">
            <a:spAutoFit/>
          </a:bodyPr>
          <a:lstStyle/>
          <a:p>
            <a:r>
              <a:rPr sz="1150" b="0">
                <a:solidFill>
                  <a:srgbClr val="2E2E2E"/>
                </a:solidFill>
                <a:latin typeface="Calibri"/>
              </a:rPr>
              <a:t>▪ Competitive Edge: ~</a:t>
            </a:r>
          </a:p>
        </p:txBody>
      </p:sp>
      <p:pic>
        <p:nvPicPr>
          <p:cNvPr id="52" name="Picture 51" descr="lock.png"/>
          <p:cNvPicPr>
            <a:picLocks noChangeAspect="1"/>
          </p:cNvPicPr>
          <p:nvPr/>
        </p:nvPicPr>
        <p:blipFill>
          <a:blip r:embed="rId7"/>
          <a:stretch>
            <a:fillRect/>
          </a:stretch>
        </p:blipFill>
        <p:spPr>
          <a:xfrm>
            <a:off x="1578914" y="5878167"/>
            <a:ext cx="134549" cy="195707"/>
          </a:xfrm>
          <a:prstGeom prst="rect">
            <a:avLst/>
          </a:prstGeom>
        </p:spPr>
      </p:pic>
      <p:sp>
        <p:nvSpPr>
          <p:cNvPr id="53" name="TextBox 52"/>
          <p:cNvSpPr txBox="1"/>
          <p:nvPr/>
        </p:nvSpPr>
        <p:spPr>
          <a:xfrm>
            <a:off x="1754024" y="5888390"/>
            <a:ext cx="1072591" cy="194310"/>
          </a:xfrm>
          <a:prstGeom prst="rect">
            <a:avLst/>
          </a:prstGeom>
          <a:noFill/>
        </p:spPr>
        <p:txBody>
          <a:bodyPr wrap="none" lIns="0" rIns="0" tIns="0" bIns="0">
            <a:spAutoFit/>
          </a:bodyPr>
          <a:lstStyle/>
          <a:p>
            <a:r>
              <a:rPr sz="1150" b="0">
                <a:solidFill>
                  <a:srgbClr val="2E2E2E"/>
                </a:solidFill>
                <a:latin typeface="Calibri"/>
              </a:rPr>
              <a:t>win rate with a +</a:t>
            </a:r>
          </a:p>
        </p:txBody>
      </p:sp>
      <p:pic>
        <p:nvPicPr>
          <p:cNvPr id="54" name="Picture 53" descr="lock.png"/>
          <p:cNvPicPr>
            <a:picLocks noChangeAspect="1"/>
          </p:cNvPicPr>
          <p:nvPr/>
        </p:nvPicPr>
        <p:blipFill>
          <a:blip r:embed="rId7"/>
          <a:stretch>
            <a:fillRect/>
          </a:stretch>
        </p:blipFill>
        <p:spPr>
          <a:xfrm>
            <a:off x="2775769" y="5878167"/>
            <a:ext cx="134549" cy="195707"/>
          </a:xfrm>
          <a:prstGeom prst="rect">
            <a:avLst/>
          </a:prstGeom>
        </p:spPr>
      </p:pic>
      <p:sp>
        <p:nvSpPr>
          <p:cNvPr id="55" name="TextBox 54"/>
          <p:cNvSpPr txBox="1"/>
          <p:nvPr/>
        </p:nvSpPr>
        <p:spPr>
          <a:xfrm>
            <a:off x="2950879" y="5888390"/>
            <a:ext cx="1137059" cy="194310"/>
          </a:xfrm>
          <a:prstGeom prst="rect">
            <a:avLst/>
          </a:prstGeom>
          <a:noFill/>
        </p:spPr>
        <p:txBody>
          <a:bodyPr wrap="none" lIns="0" rIns="0" tIns="0" bIns="0">
            <a:spAutoFit/>
          </a:bodyPr>
          <a:lstStyle/>
          <a:p>
            <a:r>
              <a:rPr sz="1150" b="0">
                <a:solidFill>
                  <a:srgbClr val="2E2E2E"/>
                </a:solidFill>
                <a:latin typeface="Calibri"/>
              </a:rPr>
              <a:t>ASP premium and</a:t>
            </a:r>
          </a:p>
        </p:txBody>
      </p:sp>
      <p:pic>
        <p:nvPicPr>
          <p:cNvPr id="56" name="Picture 55" descr="lock.png"/>
          <p:cNvPicPr>
            <a:picLocks noChangeAspect="1"/>
          </p:cNvPicPr>
          <p:nvPr/>
        </p:nvPicPr>
        <p:blipFill>
          <a:blip r:embed="rId7"/>
          <a:stretch>
            <a:fillRect/>
          </a:stretch>
        </p:blipFill>
        <p:spPr>
          <a:xfrm>
            <a:off x="4037092" y="5878167"/>
            <a:ext cx="134549" cy="195707"/>
          </a:xfrm>
          <a:prstGeom prst="rect">
            <a:avLst/>
          </a:prstGeom>
        </p:spPr>
      </p:pic>
      <p:sp>
        <p:nvSpPr>
          <p:cNvPr id="57" name="TextBox 56"/>
          <p:cNvSpPr txBox="1"/>
          <p:nvPr/>
        </p:nvSpPr>
        <p:spPr>
          <a:xfrm>
            <a:off x="4212201" y="5888390"/>
            <a:ext cx="1259147" cy="194310"/>
          </a:xfrm>
          <a:prstGeom prst="rect">
            <a:avLst/>
          </a:prstGeom>
          <a:noFill/>
        </p:spPr>
        <p:txBody>
          <a:bodyPr wrap="none" lIns="0" rIns="0" tIns="0" bIns="0">
            <a:spAutoFit/>
          </a:bodyPr>
          <a:lstStyle/>
          <a:p>
            <a:r>
              <a:rPr sz="1150" b="0">
                <a:solidFill>
                  <a:srgbClr val="2E2E2E"/>
                </a:solidFill>
                <a:latin typeface="Calibri"/>
              </a:rPr>
              <a:t>x pipeline coverage.</a:t>
            </a:r>
          </a:p>
        </p:txBody>
      </p:sp>
      <p:sp>
        <p:nvSpPr>
          <p:cNvPr id="58" name="lockshield_18"/>
          <p:cNvSpPr/>
          <p:nvPr/>
        </p:nvSpPr>
        <p:spPr>
          <a:xfrm>
            <a:off x="23812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lockshield_21"/>
          <p:cNvSpPr/>
          <p:nvPr/>
        </p:nvSpPr>
        <p:spPr>
          <a:xfrm>
            <a:off x="421957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lockshield_24"/>
          <p:cNvSpPr/>
          <p:nvPr/>
        </p:nvSpPr>
        <p:spPr>
          <a:xfrm>
            <a:off x="8201025" y="2351726"/>
            <a:ext cx="37528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Ivoclar Vivadent AG Regional Penetration &amp; Win Position (2/5)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penetration and competitive positioning highlighting growth potential, win rates and sales efficiency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Regional penetration and competitive positioning Ivoclar Vivadent AG: SOM vs SAM by region, win position, TAM/SAM/SOM and go-to-market benchmarks.</a:t>
            </a:r>
          </a:p>
        </p:txBody>
      </p:sp>
      <p:sp>
        <p:nvSpPr>
          <p:cNvPr id="11" name="Rounded Rectangle 10"/>
          <p:cNvSpPr/>
          <p:nvPr/>
        </p:nvSpPr>
        <p:spPr>
          <a:xfrm>
            <a:off x="142875" y="1299320"/>
            <a:ext cx="590550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vs SAM Penetration by Region</a:t>
            </a:r>
          </a:p>
        </p:txBody>
      </p:sp>
      <p:graphicFrame>
        <p:nvGraphicFramePr>
          <p:cNvPr id="13" name="Chart 12"/>
          <p:cNvGraphicFramePr>
            <a:graphicFrameLocks noGrp="1"/>
          </p:cNvGraphicFramePr>
          <p:nvPr/>
        </p:nvGraphicFramePr>
        <p:xfrm>
          <a:off x="238125" y="1585070"/>
          <a:ext cx="5715000" cy="1920559"/>
        </p:xfrm>
        <a:graphic>
          <a:graphicData uri="http://schemas.openxmlformats.org/drawingml/2006/chart">
            <c:chart xmlns:c="http://schemas.openxmlformats.org/drawingml/2006/chart" r:id="rId3"/>
          </a:graphicData>
        </a:graphic>
      </p:graphicFrame>
      <p:sp>
        <p:nvSpPr>
          <p:cNvPr id="14" name="Rounded Rectangle 13"/>
          <p:cNvSpPr/>
          <p:nvPr/>
        </p:nvSpPr>
        <p:spPr>
          <a:xfrm>
            <a:off x="6162675" y="1299320"/>
            <a:ext cx="588645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57925" y="1356470"/>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Competitive Win Position</a:t>
            </a:r>
          </a:p>
        </p:txBody>
      </p:sp>
      <p:cxnSp>
        <p:nvCxnSpPr>
          <p:cNvPr id="16" name="Connector 15"/>
          <p:cNvCxnSpPr/>
          <p:nvPr/>
        </p:nvCxnSpPr>
        <p:spPr>
          <a:xfrm>
            <a:off x="6581775" y="3219879"/>
            <a:ext cx="5257800" cy="0"/>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81775" y="1680320"/>
            <a:ext cx="0" cy="1539559"/>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6467475" y="3238929"/>
            <a:ext cx="228600" cy="114300"/>
          </a:xfrm>
          <a:prstGeom prst="rect">
            <a:avLst/>
          </a:prstGeom>
          <a:noFill/>
        </p:spPr>
        <p:txBody>
          <a:bodyPr wrap="none" lIns="0" rIns="0" tIns="0" bIns="0">
            <a:spAutoFit/>
          </a:bodyPr>
          <a:lstStyle/>
          <a:p>
            <a:pPr algn="ctr"/>
            <a:r>
              <a:rPr sz="1100" b="0">
                <a:solidFill>
                  <a:srgbClr val="6C7A89"/>
                </a:solidFill>
                <a:latin typeface="Calibri"/>
              </a:rPr>
              <a:t>0</a:t>
            </a:r>
          </a:p>
        </p:txBody>
      </p:sp>
      <p:sp>
        <p:nvSpPr>
          <p:cNvPr id="19" name="TextBox 18"/>
          <p:cNvSpPr txBox="1"/>
          <p:nvPr/>
        </p:nvSpPr>
        <p:spPr>
          <a:xfrm>
            <a:off x="7969704" y="3238929"/>
            <a:ext cx="228600" cy="114300"/>
          </a:xfrm>
          <a:prstGeom prst="rect">
            <a:avLst/>
          </a:prstGeom>
          <a:noFill/>
        </p:spPr>
        <p:txBody>
          <a:bodyPr wrap="none" lIns="0" rIns="0" tIns="0" bIns="0">
            <a:spAutoFit/>
          </a:bodyPr>
          <a:lstStyle/>
          <a:p>
            <a:pPr algn="ctr"/>
            <a:r>
              <a:rPr sz="1100" b="0">
                <a:solidFill>
                  <a:srgbClr val="6C7A89"/>
                </a:solidFill>
                <a:latin typeface="Calibri"/>
              </a:rPr>
              <a:t>1</a:t>
            </a:r>
          </a:p>
        </p:txBody>
      </p:sp>
      <p:sp>
        <p:nvSpPr>
          <p:cNvPr id="20" name="TextBox 19"/>
          <p:cNvSpPr txBox="1"/>
          <p:nvPr/>
        </p:nvSpPr>
        <p:spPr>
          <a:xfrm>
            <a:off x="9471932" y="3238929"/>
            <a:ext cx="228600" cy="114300"/>
          </a:xfrm>
          <a:prstGeom prst="rect">
            <a:avLst/>
          </a:prstGeom>
          <a:noFill/>
        </p:spPr>
        <p:txBody>
          <a:bodyPr wrap="none" lIns="0" rIns="0" tIns="0" bIns="0">
            <a:spAutoFit/>
          </a:bodyPr>
          <a:lstStyle/>
          <a:p>
            <a:pPr algn="ctr"/>
            <a:r>
              <a:rPr sz="1100" b="0">
                <a:solidFill>
                  <a:srgbClr val="6C7A89"/>
                </a:solidFill>
                <a:latin typeface="Calibri"/>
              </a:rPr>
              <a:t>2</a:t>
            </a:r>
          </a:p>
        </p:txBody>
      </p:sp>
      <p:sp>
        <p:nvSpPr>
          <p:cNvPr id="21" name="TextBox 20"/>
          <p:cNvSpPr txBox="1"/>
          <p:nvPr/>
        </p:nvSpPr>
        <p:spPr>
          <a:xfrm>
            <a:off x="10974161" y="3238929"/>
            <a:ext cx="228600" cy="114300"/>
          </a:xfrm>
          <a:prstGeom prst="rect">
            <a:avLst/>
          </a:prstGeom>
          <a:noFill/>
        </p:spPr>
        <p:txBody>
          <a:bodyPr wrap="none" lIns="0" rIns="0" tIns="0" bIns="0">
            <a:spAutoFit/>
          </a:bodyPr>
          <a:lstStyle/>
          <a:p>
            <a:pPr algn="ctr"/>
            <a:r>
              <a:rPr sz="1100" b="0">
                <a:solidFill>
                  <a:srgbClr val="6C7A89"/>
                </a:solidFill>
                <a:latin typeface="Calibri"/>
              </a:rPr>
              <a:t>3</a:t>
            </a:r>
          </a:p>
        </p:txBody>
      </p:sp>
      <p:sp>
        <p:nvSpPr>
          <p:cNvPr id="22" name="TextBox 21"/>
          <p:cNvSpPr txBox="1"/>
          <p:nvPr/>
        </p:nvSpPr>
        <p:spPr>
          <a:xfrm>
            <a:off x="6581775" y="3353229"/>
            <a:ext cx="5257800" cy="114300"/>
          </a:xfrm>
          <a:prstGeom prst="rect">
            <a:avLst/>
          </a:prstGeom>
          <a:noFill/>
        </p:spPr>
        <p:txBody>
          <a:bodyPr wrap="square" lIns="28575" rIns="28575" tIns="9525" bIns="9525">
            <a:spAutoFit/>
          </a:bodyPr>
          <a:lstStyle/>
          <a:p>
            <a:pPr algn="ctr"/>
            <a:r>
              <a:rPr sz="1100" b="0">
                <a:solidFill>
                  <a:srgbClr val="6C7A89"/>
                </a:solidFill>
                <a:latin typeface="Calibri"/>
              </a:rPr>
              <a:t>Win Rate %</a:t>
            </a:r>
          </a:p>
        </p:txBody>
      </p:sp>
      <p:sp>
        <p:nvSpPr>
          <p:cNvPr id="23" name="TextBox 22"/>
          <p:cNvSpPr txBox="1"/>
          <p:nvPr/>
        </p:nvSpPr>
        <p:spPr>
          <a:xfrm rot="16200000">
            <a:off x="6029325" y="2373900"/>
            <a:ext cx="571500" cy="152400"/>
          </a:xfrm>
          <a:prstGeom prst="rect">
            <a:avLst/>
          </a:prstGeom>
          <a:noFill/>
        </p:spPr>
        <p:txBody>
          <a:bodyPr wrap="square" lIns="28575" rIns="28575" tIns="9525" bIns="9525">
            <a:spAutoFit/>
          </a:bodyPr>
          <a:lstStyle/>
          <a:p>
            <a:pPr algn="ctr"/>
            <a:r>
              <a:rPr sz="1100" b="0">
                <a:solidFill>
                  <a:srgbClr val="6C7A89"/>
                </a:solidFill>
                <a:latin typeface="Calibri"/>
              </a:rPr>
              <a:t>ASP vs Peer</a:t>
            </a:r>
          </a:p>
        </p:txBody>
      </p:sp>
      <p:sp>
        <p:nvSpPr>
          <p:cNvPr id="24" name="Oval 23"/>
          <p:cNvSpPr/>
          <p:nvPr/>
        </p:nvSpPr>
        <p:spPr>
          <a:xfrm>
            <a:off x="7629688" y="1979874"/>
            <a:ext cx="247650" cy="247650"/>
          </a:xfrm>
          <a:prstGeom prst="ellipse">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915438" y="201797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Ivoclar Vivadent AG</a:t>
            </a:r>
          </a:p>
        </p:txBody>
      </p:sp>
      <p:sp>
        <p:nvSpPr>
          <p:cNvPr id="26" name="Oval 25"/>
          <p:cNvSpPr/>
          <p:nvPr/>
        </p:nvSpPr>
        <p:spPr>
          <a:xfrm>
            <a:off x="9283609" y="1912810"/>
            <a:ext cx="304800" cy="304800"/>
          </a:xfrm>
          <a:prstGeom prst="ellipse">
            <a:avLst/>
          </a:prstGeom>
          <a:solidFill>
            <a:srgbClr val="8C8C8C"/>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9626509" y="1979485"/>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Industry Avg.</a:t>
            </a:r>
          </a:p>
        </p:txBody>
      </p:sp>
      <p:sp>
        <p:nvSpPr>
          <p:cNvPr id="28" name="Oval 27"/>
          <p:cNvSpPr/>
          <p:nvPr/>
        </p:nvSpPr>
        <p:spPr>
          <a:xfrm>
            <a:off x="10513967" y="2711164"/>
            <a:ext cx="247650" cy="247650"/>
          </a:xfrm>
          <a:prstGeom prst="ellipse">
            <a:avLst/>
          </a:prstGeom>
          <a:solidFill>
            <a:srgbClr val="0E72AE"/>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10706100" y="274926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Market Leader</a:t>
            </a:r>
          </a:p>
        </p:txBody>
      </p:sp>
      <p:sp>
        <p:nvSpPr>
          <p:cNvPr id="30" name="Rounded Rectangle 29"/>
          <p:cNvSpPr/>
          <p:nvPr/>
        </p:nvSpPr>
        <p:spPr>
          <a:xfrm>
            <a:off x="142875" y="3635794"/>
            <a:ext cx="590550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 y="3692944"/>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TAM · SAM · SOM (US$ Mn)</a:t>
            </a:r>
          </a:p>
        </p:txBody>
      </p:sp>
      <p:sp>
        <p:nvSpPr>
          <p:cNvPr id="32" name="Rectangle 31"/>
          <p:cNvSpPr/>
          <p:nvPr/>
        </p:nvSpPr>
        <p:spPr>
          <a:xfrm>
            <a:off x="238125" y="3921544"/>
            <a:ext cx="5715000" cy="363195"/>
          </a:xfrm>
          <a:prstGeom prst="rect">
            <a:avLst/>
          </a:prstGeom>
          <a:solidFill>
            <a:srgbClr val="0A2E4D"/>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3" name="Rectangle 32"/>
          <p:cNvSpPr/>
          <p:nvPr/>
        </p:nvSpPr>
        <p:spPr>
          <a:xfrm>
            <a:off x="238125" y="4399039"/>
            <a:ext cx="4400550" cy="363195"/>
          </a:xfrm>
          <a:prstGeom prst="rect">
            <a:avLst/>
          </a:prstGeom>
          <a:solidFill>
            <a:srgbClr val="1668A8"/>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4" name="Rectangle 33"/>
          <p:cNvSpPr/>
          <p:nvPr/>
        </p:nvSpPr>
        <p:spPr>
          <a:xfrm>
            <a:off x="238125" y="4876535"/>
            <a:ext cx="3086100" cy="363195"/>
          </a:xfrm>
          <a:prstGeom prst="rect">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5" name="Rounded Rectangle 34"/>
          <p:cNvSpPr/>
          <p:nvPr/>
        </p:nvSpPr>
        <p:spPr>
          <a:xfrm>
            <a:off x="6162675" y="3635794"/>
            <a:ext cx="588645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257925" y="3692944"/>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Go-to-Market Benchmarks (Target vs Actual)</a:t>
            </a:r>
          </a:p>
        </p:txBody>
      </p:sp>
      <p:sp>
        <p:nvSpPr>
          <p:cNvPr id="37" name="Rectangle 36"/>
          <p:cNvSpPr/>
          <p:nvPr/>
        </p:nvSpPr>
        <p:spPr>
          <a:xfrm>
            <a:off x="10391775" y="3940594"/>
            <a:ext cx="95250" cy="95250"/>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1050607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Target</a:t>
            </a:r>
          </a:p>
        </p:txBody>
      </p:sp>
      <p:sp>
        <p:nvSpPr>
          <p:cNvPr id="39" name="Rectangle 38"/>
          <p:cNvSpPr/>
          <p:nvPr/>
        </p:nvSpPr>
        <p:spPr>
          <a:xfrm>
            <a:off x="11134725" y="3940594"/>
            <a:ext cx="95250" cy="95250"/>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1124902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Actual</a:t>
            </a:r>
          </a:p>
        </p:txBody>
      </p:sp>
      <p:sp>
        <p:nvSpPr>
          <p:cNvPr id="41" name="TextBox 40"/>
          <p:cNvSpPr txBox="1"/>
          <p:nvPr/>
        </p:nvSpPr>
        <p:spPr>
          <a:xfrm>
            <a:off x="6276975" y="4153941"/>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Conversion (%)</a:t>
            </a:r>
          </a:p>
        </p:txBody>
      </p:sp>
      <p:sp>
        <p:nvSpPr>
          <p:cNvPr id="42" name="Rectangle 41"/>
          <p:cNvSpPr/>
          <p:nvPr/>
        </p:nvSpPr>
        <p:spPr>
          <a:xfrm>
            <a:off x="7381875" y="4164998"/>
            <a:ext cx="1686687"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7381875" y="4277766"/>
            <a:ext cx="3107055"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6276975" y="4466337"/>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Sales Cycle (Days)</a:t>
            </a:r>
          </a:p>
        </p:txBody>
      </p:sp>
      <p:sp>
        <p:nvSpPr>
          <p:cNvPr id="45" name="Rectangle 44"/>
          <p:cNvSpPr/>
          <p:nvPr/>
        </p:nvSpPr>
        <p:spPr>
          <a:xfrm>
            <a:off x="7381875" y="4477393"/>
            <a:ext cx="3817239"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7381875" y="4590162"/>
            <a:ext cx="2219325"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6276975" y="4778732"/>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Pipeline Coverage</a:t>
            </a:r>
          </a:p>
        </p:txBody>
      </p:sp>
      <p:sp>
        <p:nvSpPr>
          <p:cNvPr id="48" name="Rectangle 47"/>
          <p:cNvSpPr/>
          <p:nvPr/>
        </p:nvSpPr>
        <p:spPr>
          <a:xfrm>
            <a:off x="7381875" y="4789789"/>
            <a:ext cx="2130552"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7381875" y="4902557"/>
            <a:ext cx="3728466"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ounded Rectangle 49"/>
          <p:cNvSpPr/>
          <p:nvPr/>
        </p:nvSpPr>
        <p:spPr>
          <a:xfrm>
            <a:off x="142875" y="5369895"/>
            <a:ext cx="11906250" cy="1259505"/>
          </a:xfrm>
          <a:prstGeom prst="roundRect">
            <a:avLst>
              <a:gd name="adj" fmla="val 60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276225" y="545562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52" name="Rectangle 51"/>
          <p:cNvSpPr/>
          <p:nvPr/>
        </p:nvSpPr>
        <p:spPr>
          <a:xfrm>
            <a:off x="276225" y="569374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76225" y="5779470"/>
            <a:ext cx="11639550" cy="77373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4" name="TextBox 5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5" name="Picture 54" descr="lock.png"/>
          <p:cNvPicPr>
            <a:picLocks noChangeAspect="1"/>
          </p:cNvPicPr>
          <p:nvPr/>
        </p:nvPicPr>
        <p:blipFill>
          <a:blip r:embed="rId5"/>
          <a:stretch>
            <a:fillRect/>
          </a:stretch>
        </p:blipFill>
        <p:spPr>
          <a:xfrm>
            <a:off x="3327425" y="2314517"/>
            <a:ext cx="199521" cy="290213"/>
          </a:xfrm>
          <a:prstGeom prst="rect">
            <a:avLst/>
          </a:prstGeom>
        </p:spPr>
      </p:pic>
      <p:sp>
        <p:nvSpPr>
          <p:cNvPr id="56" name="TextBox 55"/>
          <p:cNvSpPr txBox="1"/>
          <p:nvPr/>
        </p:nvSpPr>
        <p:spPr>
          <a:xfrm>
            <a:off x="352425" y="4015511"/>
            <a:ext cx="871202" cy="194310"/>
          </a:xfrm>
          <a:prstGeom prst="rect">
            <a:avLst/>
          </a:prstGeom>
          <a:noFill/>
        </p:spPr>
        <p:txBody>
          <a:bodyPr wrap="none" lIns="0" rIns="0" tIns="0" bIns="0">
            <a:spAutoFit/>
          </a:bodyPr>
          <a:lstStyle/>
          <a:p>
            <a:r>
              <a:rPr sz="1150" b="1">
                <a:solidFill>
                  <a:srgbClr val="FFFFFF"/>
                </a:solidFill>
                <a:latin typeface="Calibri"/>
              </a:rPr>
              <a:t>TAM · 100% ·</a:t>
            </a:r>
          </a:p>
        </p:txBody>
      </p:sp>
      <p:pic>
        <p:nvPicPr>
          <p:cNvPr id="57" name="Picture 56" descr="lock.png"/>
          <p:cNvPicPr>
            <a:picLocks noChangeAspect="1"/>
          </p:cNvPicPr>
          <p:nvPr/>
        </p:nvPicPr>
        <p:blipFill>
          <a:blip r:embed="rId5"/>
          <a:stretch>
            <a:fillRect/>
          </a:stretch>
        </p:blipFill>
        <p:spPr>
          <a:xfrm>
            <a:off x="1172781" y="4005288"/>
            <a:ext cx="134549" cy="195707"/>
          </a:xfrm>
          <a:prstGeom prst="rect">
            <a:avLst/>
          </a:prstGeom>
        </p:spPr>
      </p:pic>
      <p:sp>
        <p:nvSpPr>
          <p:cNvPr id="58" name="TextBox 57"/>
          <p:cNvSpPr txBox="1"/>
          <p:nvPr/>
        </p:nvSpPr>
        <p:spPr>
          <a:xfrm>
            <a:off x="1347890" y="4015511"/>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59" name="TextBox 58"/>
          <p:cNvSpPr txBox="1"/>
          <p:nvPr/>
        </p:nvSpPr>
        <p:spPr>
          <a:xfrm>
            <a:off x="352425" y="4493006"/>
            <a:ext cx="433623" cy="194310"/>
          </a:xfrm>
          <a:prstGeom prst="rect">
            <a:avLst/>
          </a:prstGeom>
          <a:noFill/>
        </p:spPr>
        <p:txBody>
          <a:bodyPr wrap="none" lIns="0" rIns="0" tIns="0" bIns="0">
            <a:spAutoFit/>
          </a:bodyPr>
          <a:lstStyle/>
          <a:p>
            <a:r>
              <a:rPr sz="1150" b="1">
                <a:solidFill>
                  <a:srgbClr val="FFFFFF"/>
                </a:solidFill>
                <a:latin typeface="Calibri"/>
              </a:rPr>
              <a:t>SAM ·</a:t>
            </a:r>
          </a:p>
        </p:txBody>
      </p:sp>
      <p:pic>
        <p:nvPicPr>
          <p:cNvPr id="60" name="Picture 59" descr="lock.png"/>
          <p:cNvPicPr>
            <a:picLocks noChangeAspect="1"/>
          </p:cNvPicPr>
          <p:nvPr/>
        </p:nvPicPr>
        <p:blipFill>
          <a:blip r:embed="rId5"/>
          <a:stretch>
            <a:fillRect/>
          </a:stretch>
        </p:blipFill>
        <p:spPr>
          <a:xfrm>
            <a:off x="735202" y="4482783"/>
            <a:ext cx="134549" cy="195707"/>
          </a:xfrm>
          <a:prstGeom prst="rect">
            <a:avLst/>
          </a:prstGeom>
        </p:spPr>
      </p:pic>
      <p:sp>
        <p:nvSpPr>
          <p:cNvPr id="61" name="TextBox 60"/>
          <p:cNvSpPr txBox="1"/>
          <p:nvPr/>
        </p:nvSpPr>
        <p:spPr>
          <a:xfrm>
            <a:off x="910311" y="4493006"/>
            <a:ext cx="594791" cy="194310"/>
          </a:xfrm>
          <a:prstGeom prst="rect">
            <a:avLst/>
          </a:prstGeom>
          <a:noFill/>
        </p:spPr>
        <p:txBody>
          <a:bodyPr wrap="none" lIns="0" rIns="0" tIns="0" bIns="0">
            <a:spAutoFit/>
          </a:bodyPr>
          <a:lstStyle/>
          <a:p>
            <a:r>
              <a:rPr sz="1150" b="1">
                <a:solidFill>
                  <a:srgbClr val="FFFFFF"/>
                </a:solidFill>
                <a:latin typeface="Calibri"/>
              </a:rPr>
              <a:t>of TAM ·</a:t>
            </a:r>
          </a:p>
        </p:txBody>
      </p:sp>
      <p:pic>
        <p:nvPicPr>
          <p:cNvPr id="62" name="Picture 61" descr="lock.png"/>
          <p:cNvPicPr>
            <a:picLocks noChangeAspect="1"/>
          </p:cNvPicPr>
          <p:nvPr/>
        </p:nvPicPr>
        <p:blipFill>
          <a:blip r:embed="rId5"/>
          <a:stretch>
            <a:fillRect/>
          </a:stretch>
        </p:blipFill>
        <p:spPr>
          <a:xfrm>
            <a:off x="1454256" y="4482783"/>
            <a:ext cx="134549" cy="195707"/>
          </a:xfrm>
          <a:prstGeom prst="rect">
            <a:avLst/>
          </a:prstGeom>
        </p:spPr>
      </p:pic>
      <p:sp>
        <p:nvSpPr>
          <p:cNvPr id="63" name="TextBox 62"/>
          <p:cNvSpPr txBox="1"/>
          <p:nvPr/>
        </p:nvSpPr>
        <p:spPr>
          <a:xfrm>
            <a:off x="1629366" y="4493006"/>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64" name="TextBox 63"/>
          <p:cNvSpPr txBox="1"/>
          <p:nvPr/>
        </p:nvSpPr>
        <p:spPr>
          <a:xfrm>
            <a:off x="352425" y="4970502"/>
            <a:ext cx="443892" cy="194310"/>
          </a:xfrm>
          <a:prstGeom prst="rect">
            <a:avLst/>
          </a:prstGeom>
          <a:noFill/>
        </p:spPr>
        <p:txBody>
          <a:bodyPr wrap="none" lIns="0" rIns="0" tIns="0" bIns="0">
            <a:spAutoFit/>
          </a:bodyPr>
          <a:lstStyle/>
          <a:p>
            <a:r>
              <a:rPr sz="1150" b="1">
                <a:solidFill>
                  <a:srgbClr val="FFFFFF"/>
                </a:solidFill>
                <a:latin typeface="Calibri"/>
              </a:rPr>
              <a:t>SOM ·</a:t>
            </a:r>
          </a:p>
        </p:txBody>
      </p:sp>
      <p:pic>
        <p:nvPicPr>
          <p:cNvPr id="65" name="Picture 64" descr="lock.png"/>
          <p:cNvPicPr>
            <a:picLocks noChangeAspect="1"/>
          </p:cNvPicPr>
          <p:nvPr/>
        </p:nvPicPr>
        <p:blipFill>
          <a:blip r:embed="rId5"/>
          <a:stretch>
            <a:fillRect/>
          </a:stretch>
        </p:blipFill>
        <p:spPr>
          <a:xfrm>
            <a:off x="745471" y="4960279"/>
            <a:ext cx="134549" cy="195707"/>
          </a:xfrm>
          <a:prstGeom prst="rect">
            <a:avLst/>
          </a:prstGeom>
        </p:spPr>
      </p:pic>
      <p:sp>
        <p:nvSpPr>
          <p:cNvPr id="66" name="TextBox 65"/>
          <p:cNvSpPr txBox="1"/>
          <p:nvPr/>
        </p:nvSpPr>
        <p:spPr>
          <a:xfrm>
            <a:off x="920580" y="4970502"/>
            <a:ext cx="591368" cy="194310"/>
          </a:xfrm>
          <a:prstGeom prst="rect">
            <a:avLst/>
          </a:prstGeom>
          <a:noFill/>
        </p:spPr>
        <p:txBody>
          <a:bodyPr wrap="none" lIns="0" rIns="0" tIns="0" bIns="0">
            <a:spAutoFit/>
          </a:bodyPr>
          <a:lstStyle/>
          <a:p>
            <a:r>
              <a:rPr sz="1150" b="1">
                <a:solidFill>
                  <a:srgbClr val="FFFFFF"/>
                </a:solidFill>
                <a:latin typeface="Calibri"/>
              </a:rPr>
              <a:t>of SAM ·</a:t>
            </a:r>
          </a:p>
        </p:txBody>
      </p:sp>
      <p:pic>
        <p:nvPicPr>
          <p:cNvPr id="67" name="Picture 66" descr="lock.png"/>
          <p:cNvPicPr>
            <a:picLocks noChangeAspect="1"/>
          </p:cNvPicPr>
          <p:nvPr/>
        </p:nvPicPr>
        <p:blipFill>
          <a:blip r:embed="rId5"/>
          <a:stretch>
            <a:fillRect/>
          </a:stretch>
        </p:blipFill>
        <p:spPr>
          <a:xfrm>
            <a:off x="1461102" y="4960279"/>
            <a:ext cx="134549" cy="195707"/>
          </a:xfrm>
          <a:prstGeom prst="rect">
            <a:avLst/>
          </a:prstGeom>
        </p:spPr>
      </p:pic>
      <p:sp>
        <p:nvSpPr>
          <p:cNvPr id="68" name="TextBox 67"/>
          <p:cNvSpPr txBox="1"/>
          <p:nvPr/>
        </p:nvSpPr>
        <p:spPr>
          <a:xfrm>
            <a:off x="1636212" y="4970502"/>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69" name="TextBox 68"/>
          <p:cNvSpPr txBox="1"/>
          <p:nvPr/>
        </p:nvSpPr>
        <p:spPr>
          <a:xfrm>
            <a:off x="276225" y="5788995"/>
            <a:ext cx="7663656" cy="186689"/>
          </a:xfrm>
          <a:prstGeom prst="rect">
            <a:avLst/>
          </a:prstGeom>
          <a:noFill/>
        </p:spPr>
        <p:txBody>
          <a:bodyPr wrap="none" lIns="0" rIns="0" tIns="0" bIns="0">
            <a:spAutoFit/>
          </a:bodyPr>
          <a:lstStyle/>
          <a:p>
            <a:r>
              <a:rPr sz="1100" b="0">
                <a:solidFill>
                  <a:srgbClr val="2E2E2E"/>
                </a:solidFill>
                <a:latin typeface="Calibri"/>
              </a:rPr>
              <a:t>▪ Regional Opportunity: 'Rest of the World' shows the highest SAM penetration; lower-penetration regions are the growth headroom.</a:t>
            </a:r>
          </a:p>
        </p:txBody>
      </p:sp>
      <p:sp>
        <p:nvSpPr>
          <p:cNvPr id="70" name="TextBox 69"/>
          <p:cNvSpPr txBox="1"/>
          <p:nvPr/>
        </p:nvSpPr>
        <p:spPr>
          <a:xfrm>
            <a:off x="276225" y="6006927"/>
            <a:ext cx="1297999" cy="186689"/>
          </a:xfrm>
          <a:prstGeom prst="rect">
            <a:avLst/>
          </a:prstGeom>
          <a:noFill/>
        </p:spPr>
        <p:txBody>
          <a:bodyPr wrap="none" lIns="0" rIns="0" tIns="0" bIns="0">
            <a:spAutoFit/>
          </a:bodyPr>
          <a:lstStyle/>
          <a:p>
            <a:r>
              <a:rPr sz="1100" b="0">
                <a:solidFill>
                  <a:srgbClr val="2E2E2E"/>
                </a:solidFill>
                <a:latin typeface="Calibri"/>
              </a:rPr>
              <a:t>▪ Competitive Edge: ~</a:t>
            </a:r>
          </a:p>
        </p:txBody>
      </p:sp>
      <p:pic>
        <p:nvPicPr>
          <p:cNvPr id="71" name="Picture 70" descr="lock.png"/>
          <p:cNvPicPr>
            <a:picLocks noChangeAspect="1"/>
          </p:cNvPicPr>
          <p:nvPr/>
        </p:nvPicPr>
        <p:blipFill>
          <a:blip r:embed="rId5"/>
          <a:stretch>
            <a:fillRect/>
          </a:stretch>
        </p:blipFill>
        <p:spPr>
          <a:xfrm>
            <a:off x="1522276" y="5997147"/>
            <a:ext cx="128699" cy="187198"/>
          </a:xfrm>
          <a:prstGeom prst="rect">
            <a:avLst/>
          </a:prstGeom>
        </p:spPr>
      </p:pic>
      <p:sp>
        <p:nvSpPr>
          <p:cNvPr id="72" name="TextBox 71"/>
          <p:cNvSpPr txBox="1"/>
          <p:nvPr/>
        </p:nvSpPr>
        <p:spPr>
          <a:xfrm>
            <a:off x="1689771" y="6006927"/>
            <a:ext cx="1029270" cy="186689"/>
          </a:xfrm>
          <a:prstGeom prst="rect">
            <a:avLst/>
          </a:prstGeom>
          <a:noFill/>
        </p:spPr>
        <p:txBody>
          <a:bodyPr wrap="none" lIns="0" rIns="0" tIns="0" bIns="0">
            <a:spAutoFit/>
          </a:bodyPr>
          <a:lstStyle/>
          <a:p>
            <a:r>
              <a:rPr sz="1100" b="0">
                <a:solidFill>
                  <a:srgbClr val="2E2E2E"/>
                </a:solidFill>
                <a:latin typeface="Calibri"/>
              </a:rPr>
              <a:t>win rate with a +</a:t>
            </a:r>
          </a:p>
        </p:txBody>
      </p:sp>
      <p:pic>
        <p:nvPicPr>
          <p:cNvPr id="73" name="Picture 72" descr="lock.png"/>
          <p:cNvPicPr>
            <a:picLocks noChangeAspect="1"/>
          </p:cNvPicPr>
          <p:nvPr/>
        </p:nvPicPr>
        <p:blipFill>
          <a:blip r:embed="rId5"/>
          <a:stretch>
            <a:fillRect/>
          </a:stretch>
        </p:blipFill>
        <p:spPr>
          <a:xfrm>
            <a:off x="2667093" y="5997147"/>
            <a:ext cx="128699" cy="187198"/>
          </a:xfrm>
          <a:prstGeom prst="rect">
            <a:avLst/>
          </a:prstGeom>
        </p:spPr>
      </p:pic>
      <p:sp>
        <p:nvSpPr>
          <p:cNvPr id="74" name="TextBox 73"/>
          <p:cNvSpPr txBox="1"/>
          <p:nvPr/>
        </p:nvSpPr>
        <p:spPr>
          <a:xfrm>
            <a:off x="2834589" y="6006927"/>
            <a:ext cx="2311400" cy="186689"/>
          </a:xfrm>
          <a:prstGeom prst="rect">
            <a:avLst/>
          </a:prstGeom>
          <a:noFill/>
        </p:spPr>
        <p:txBody>
          <a:bodyPr wrap="none" lIns="0" rIns="0" tIns="0" bIns="0">
            <a:spAutoFit/>
          </a:bodyPr>
          <a:lstStyle/>
          <a:p>
            <a:r>
              <a:rPr sz="1100" b="0">
                <a:solidFill>
                  <a:srgbClr val="2E2E2E"/>
                </a:solidFill>
                <a:latin typeface="Calibri"/>
              </a:rPr>
              <a:t>ASP premium signals value recognition;</a:t>
            </a:r>
          </a:p>
        </p:txBody>
      </p:sp>
      <p:pic>
        <p:nvPicPr>
          <p:cNvPr id="75" name="Picture 74" descr="lock.png"/>
          <p:cNvPicPr>
            <a:picLocks noChangeAspect="1"/>
          </p:cNvPicPr>
          <p:nvPr/>
        </p:nvPicPr>
        <p:blipFill>
          <a:blip r:embed="rId5"/>
          <a:stretch>
            <a:fillRect/>
          </a:stretch>
        </p:blipFill>
        <p:spPr>
          <a:xfrm>
            <a:off x="5094041" y="5997147"/>
            <a:ext cx="128699" cy="187198"/>
          </a:xfrm>
          <a:prstGeom prst="rect">
            <a:avLst/>
          </a:prstGeom>
        </p:spPr>
      </p:pic>
      <p:sp>
        <p:nvSpPr>
          <p:cNvPr id="76" name="TextBox 75"/>
          <p:cNvSpPr txBox="1"/>
          <p:nvPr/>
        </p:nvSpPr>
        <p:spPr>
          <a:xfrm>
            <a:off x="5261537" y="6006927"/>
            <a:ext cx="2251645" cy="186689"/>
          </a:xfrm>
          <a:prstGeom prst="rect">
            <a:avLst/>
          </a:prstGeom>
          <a:noFill/>
        </p:spPr>
        <p:txBody>
          <a:bodyPr wrap="none" lIns="0" rIns="0" tIns="0" bIns="0">
            <a:spAutoFit/>
          </a:bodyPr>
          <a:lstStyle/>
          <a:p>
            <a:r>
              <a:rPr sz="1100" b="0">
                <a:solidFill>
                  <a:srgbClr val="2E2E2E"/>
                </a:solidFill>
                <a:latin typeface="Calibri"/>
              </a:rPr>
              <a:t>x pipeline coverage underpins growth.</a:t>
            </a:r>
          </a:p>
        </p:txBody>
      </p:sp>
      <p:sp>
        <p:nvSpPr>
          <p:cNvPr id="77" name="TextBox 76"/>
          <p:cNvSpPr txBox="1"/>
          <p:nvPr/>
        </p:nvSpPr>
        <p:spPr>
          <a:xfrm>
            <a:off x="276225" y="6224859"/>
            <a:ext cx="2615015" cy="186689"/>
          </a:xfrm>
          <a:prstGeom prst="rect">
            <a:avLst/>
          </a:prstGeom>
          <a:noFill/>
        </p:spPr>
        <p:txBody>
          <a:bodyPr wrap="none" lIns="0" rIns="0" tIns="0" bIns="0">
            <a:spAutoFit/>
          </a:bodyPr>
          <a:lstStyle/>
          <a:p>
            <a:r>
              <a:rPr sz="1100" b="0">
                <a:solidFill>
                  <a:srgbClr val="2E2E2E"/>
                </a:solidFill>
                <a:latin typeface="Calibri"/>
              </a:rPr>
              <a:t>▪ Sales Efficiency: a ~90-day sales cycle and ~</a:t>
            </a:r>
          </a:p>
        </p:txBody>
      </p:sp>
      <p:pic>
        <p:nvPicPr>
          <p:cNvPr id="78" name="Picture 77" descr="lock.png"/>
          <p:cNvPicPr>
            <a:picLocks noChangeAspect="1"/>
          </p:cNvPicPr>
          <p:nvPr/>
        </p:nvPicPr>
        <p:blipFill>
          <a:blip r:embed="rId5"/>
          <a:stretch>
            <a:fillRect/>
          </a:stretch>
        </p:blipFill>
        <p:spPr>
          <a:xfrm>
            <a:off x="2839292" y="6215079"/>
            <a:ext cx="128699" cy="187198"/>
          </a:xfrm>
          <a:prstGeom prst="rect">
            <a:avLst/>
          </a:prstGeom>
        </p:spPr>
      </p:pic>
      <p:sp>
        <p:nvSpPr>
          <p:cNvPr id="79" name="TextBox 78"/>
          <p:cNvSpPr txBox="1"/>
          <p:nvPr/>
        </p:nvSpPr>
        <p:spPr>
          <a:xfrm>
            <a:off x="3006787" y="6224859"/>
            <a:ext cx="2384524" cy="186689"/>
          </a:xfrm>
          <a:prstGeom prst="rect">
            <a:avLst/>
          </a:prstGeom>
          <a:noFill/>
        </p:spPr>
        <p:txBody>
          <a:bodyPr wrap="none" lIns="0" rIns="0" tIns="0" bIns="0">
            <a:spAutoFit/>
          </a:bodyPr>
          <a:lstStyle/>
          <a:p>
            <a:r>
              <a:rPr sz="1100" b="0">
                <a:solidFill>
                  <a:srgbClr val="2E2E2E"/>
                </a:solidFill>
                <a:latin typeface="Calibri"/>
              </a:rPr>
              <a:t>conversion support faster share capture.</a:t>
            </a:r>
          </a:p>
        </p:txBody>
      </p:sp>
      <p:sp>
        <p:nvSpPr>
          <p:cNvPr id="80" name="lockshield_13"/>
          <p:cNvSpPr/>
          <p:nvPr/>
        </p:nvSpPr>
        <p:spPr>
          <a:xfrm>
            <a:off x="238125" y="1585070"/>
            <a:ext cx="5715000" cy="192055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Ivoclar Vivadent AG SWOT Analysis (3/5)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SWOT assessment of Ivoclar Vivadent AG: strengths, weaknesses, opportunities and threats shaping its competitive position</a:t>
            </a:r>
          </a:p>
        </p:txBody>
      </p:sp>
      <p:sp>
        <p:nvSpPr>
          <p:cNvPr id="10" name="TextBox 9"/>
          <p:cNvSpPr txBox="1"/>
          <p:nvPr/>
        </p:nvSpPr>
        <p:spPr>
          <a:xfrm>
            <a:off x="142875" y="1007261"/>
            <a:ext cx="11906250" cy="164283"/>
          </a:xfrm>
          <a:prstGeom prst="rect">
            <a:avLst/>
          </a:prstGeom>
          <a:noFill/>
        </p:spPr>
        <p:txBody>
          <a:bodyPr wrap="square" lIns="28575" rIns="28575" tIns="9525" bIns="9525" anchor="ctr">
            <a:spAutoFit/>
          </a:bodyPr>
          <a:lstStyle/>
          <a:p>
            <a:pPr algn="l"/>
            <a:r>
              <a:rPr sz="1150" b="0">
                <a:solidFill>
                  <a:srgbClr val="2E2E2E"/>
                </a:solidFill>
                <a:latin typeface="Calibri"/>
              </a:rPr>
              <a:t>SWOT assessment Ivoclar Vivadent AG: strengths, weaknesses, opportunities and threats (indicative).</a:t>
            </a:r>
          </a:p>
        </p:txBody>
      </p:sp>
      <p:cxnSp>
        <p:nvCxnSpPr>
          <p:cNvPr id="11" name="Connector 10"/>
          <p:cNvCxnSpPr/>
          <p:nvPr/>
        </p:nvCxnSpPr>
        <p:spPr>
          <a:xfrm>
            <a:off x="3810000" y="3891345"/>
            <a:ext cx="4572000" cy="0"/>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6096000" y="1919946"/>
            <a:ext cx="0" cy="3942799"/>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sp>
        <p:nvSpPr>
          <p:cNvPr id="13" name="Oval 12"/>
          <p:cNvSpPr/>
          <p:nvPr/>
        </p:nvSpPr>
        <p:spPr>
          <a:xfrm>
            <a:off x="3757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8329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6043612" y="1869748"/>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6043612" y="58125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ounded Rectangle 16"/>
          <p:cNvSpPr/>
          <p:nvPr/>
        </p:nvSpPr>
        <p:spPr>
          <a:xfrm>
            <a:off x="4724400" y="2577079"/>
            <a:ext cx="1257300" cy="1204744"/>
          </a:xfrm>
          <a:prstGeom prst="roundRect">
            <a:avLst>
              <a:gd name="adj" fmla="val 12121"/>
            </a:avLst>
          </a:prstGeom>
          <a:noFill/>
          <a:ln w="19050">
            <a:solidFill>
              <a:srgbClr val="69B1E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ounded Rectangle 17"/>
          <p:cNvSpPr/>
          <p:nvPr/>
        </p:nvSpPr>
        <p:spPr>
          <a:xfrm>
            <a:off x="6210300" y="2577079"/>
            <a:ext cx="1257300" cy="1204744"/>
          </a:xfrm>
          <a:prstGeom prst="roundRect">
            <a:avLst>
              <a:gd name="adj" fmla="val 12121"/>
            </a:avLst>
          </a:prstGeom>
          <a:noFill/>
          <a:ln w="19050">
            <a:solidFill>
              <a:srgbClr val="0B2E4A"/>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ounded Rectangle 18"/>
          <p:cNvSpPr/>
          <p:nvPr/>
        </p:nvSpPr>
        <p:spPr>
          <a:xfrm>
            <a:off x="4724400" y="4000868"/>
            <a:ext cx="1257300" cy="1204744"/>
          </a:xfrm>
          <a:prstGeom prst="roundRect">
            <a:avLst>
              <a:gd name="adj" fmla="val 12121"/>
            </a:avLst>
          </a:prstGeom>
          <a:noFill/>
          <a:ln w="19050">
            <a:solidFill>
              <a:srgbClr val="A35313"/>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ounded Rectangle 19"/>
          <p:cNvSpPr/>
          <p:nvPr/>
        </p:nvSpPr>
        <p:spPr>
          <a:xfrm>
            <a:off x="6210300" y="4000868"/>
            <a:ext cx="1257300" cy="1204744"/>
          </a:xfrm>
          <a:prstGeom prst="roundRect">
            <a:avLst>
              <a:gd name="adj" fmla="val 12121"/>
            </a:avLst>
          </a:prstGeom>
          <a:noFill/>
          <a:ln w="19050">
            <a:solidFill>
              <a:srgbClr val="A86F0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reeform 20"/>
          <p:cNvSpPr/>
          <p:nvPr/>
        </p:nvSpPr>
        <p:spPr>
          <a:xfrm>
            <a:off x="5524500" y="2978660"/>
            <a:ext cx="1143000" cy="803163"/>
          </a:xfrm>
          <a:custGeom>
            <a:avLst/>
            <a:gdLst/>
            <a:ahLst/>
            <a:cxnLst/>
            <a:rect l="l" t="t" r="r" b="b"/>
            <a:pathLst>
              <a:path w="120" h="88">
                <a:moveTo>
                  <a:pt x="0" y="0"/>
                </a:moveTo>
                <a:lnTo>
                  <a:pt x="120" y="0"/>
                </a:lnTo>
                <a:lnTo>
                  <a:pt x="60" y="88"/>
                </a:lnTo>
                <a:close/>
              </a:path>
            </a:pathLst>
          </a:cu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Freeform 21"/>
          <p:cNvSpPr/>
          <p:nvPr/>
        </p:nvSpPr>
        <p:spPr>
          <a:xfrm>
            <a:off x="5524500" y="4000868"/>
            <a:ext cx="1143000" cy="803163"/>
          </a:xfrm>
          <a:custGeom>
            <a:avLst/>
            <a:gdLst/>
            <a:ahLst/>
            <a:cxnLst/>
            <a:rect l="l" t="t" r="r" b="b"/>
            <a:pathLst>
              <a:path w="120" h="88">
                <a:moveTo>
                  <a:pt x="0" y="88"/>
                </a:moveTo>
                <a:lnTo>
                  <a:pt x="120" y="88"/>
                </a:lnTo>
                <a:lnTo>
                  <a:pt x="60" y="0"/>
                </a:lnTo>
                <a:close/>
              </a:path>
            </a:pathLst>
          </a:cu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Freeform 22"/>
          <p:cNvSpPr/>
          <p:nvPr/>
        </p:nvSpPr>
        <p:spPr>
          <a:xfrm>
            <a:off x="5143500" y="3343734"/>
            <a:ext cx="838200" cy="1095222"/>
          </a:xfrm>
          <a:custGeom>
            <a:avLst/>
            <a:gdLst/>
            <a:ahLst/>
            <a:cxnLst/>
            <a:rect l="l" t="t" r="r" b="b"/>
            <a:pathLst>
              <a:path w="88" h="120">
                <a:moveTo>
                  <a:pt x="0" y="0"/>
                </a:moveTo>
                <a:lnTo>
                  <a:pt x="0" y="120"/>
                </a:lnTo>
                <a:lnTo>
                  <a:pt x="88" y="60"/>
                </a:lnTo>
                <a:close/>
              </a:path>
            </a:pathLst>
          </a:cu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Freeform 23"/>
          <p:cNvSpPr/>
          <p:nvPr/>
        </p:nvSpPr>
        <p:spPr>
          <a:xfrm>
            <a:off x="6210300" y="3343734"/>
            <a:ext cx="838200" cy="1095222"/>
          </a:xfrm>
          <a:custGeom>
            <a:avLst/>
            <a:gdLst/>
            <a:ahLst/>
            <a:cxnLst/>
            <a:rect l="l" t="t" r="r" b="b"/>
            <a:pathLst>
              <a:path w="88" h="120">
                <a:moveTo>
                  <a:pt x="88" y="0"/>
                </a:moveTo>
                <a:lnTo>
                  <a:pt x="88" y="120"/>
                </a:lnTo>
                <a:lnTo>
                  <a:pt x="0" y="60"/>
                </a:lnTo>
                <a:close/>
              </a:path>
            </a:pathLst>
          </a:cu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5886450" y="3243339"/>
            <a:ext cx="419100" cy="273805"/>
          </a:xfrm>
          <a:prstGeom prst="rect">
            <a:avLst/>
          </a:prstGeom>
          <a:noFill/>
        </p:spPr>
        <p:txBody>
          <a:bodyPr wrap="none" lIns="0" rIns="0" tIns="0" bIns="0" anchor="ctr">
            <a:spAutoFit/>
          </a:bodyPr>
          <a:lstStyle/>
          <a:p>
            <a:pPr algn="ctr"/>
            <a:r>
              <a:rPr sz="2100" b="1">
                <a:solidFill>
                  <a:srgbClr val="1F2933"/>
                </a:solidFill>
                <a:latin typeface="Calibri"/>
              </a:rPr>
              <a:t>S</a:t>
            </a:r>
          </a:p>
        </p:txBody>
      </p:sp>
      <p:sp>
        <p:nvSpPr>
          <p:cNvPr id="26" name="TextBox 25"/>
          <p:cNvSpPr txBox="1"/>
          <p:nvPr/>
        </p:nvSpPr>
        <p:spPr>
          <a:xfrm>
            <a:off x="5886450" y="4265546"/>
            <a:ext cx="419100" cy="273805"/>
          </a:xfrm>
          <a:prstGeom prst="rect">
            <a:avLst/>
          </a:prstGeom>
          <a:noFill/>
        </p:spPr>
        <p:txBody>
          <a:bodyPr wrap="none" lIns="0" rIns="0" tIns="0" bIns="0" anchor="ctr">
            <a:spAutoFit/>
          </a:bodyPr>
          <a:lstStyle/>
          <a:p>
            <a:pPr algn="ctr"/>
            <a:r>
              <a:rPr sz="2100" b="1">
                <a:solidFill>
                  <a:srgbClr val="FFFFFF"/>
                </a:solidFill>
                <a:latin typeface="Calibri"/>
              </a:rPr>
              <a:t>O</a:t>
            </a:r>
          </a:p>
        </p:txBody>
      </p:sp>
      <p:sp>
        <p:nvSpPr>
          <p:cNvPr id="27" name="TextBox 26"/>
          <p:cNvSpPr txBox="1"/>
          <p:nvPr/>
        </p:nvSpPr>
        <p:spPr>
          <a:xfrm>
            <a:off x="53530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T</a:t>
            </a:r>
          </a:p>
        </p:txBody>
      </p:sp>
      <p:sp>
        <p:nvSpPr>
          <p:cNvPr id="28" name="TextBox 27"/>
          <p:cNvSpPr txBox="1"/>
          <p:nvPr/>
        </p:nvSpPr>
        <p:spPr>
          <a:xfrm>
            <a:off x="64198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W</a:t>
            </a:r>
          </a:p>
        </p:txBody>
      </p:sp>
      <p:sp>
        <p:nvSpPr>
          <p:cNvPr id="29" name="TextBox 28"/>
          <p:cNvSpPr txBox="1"/>
          <p:nvPr/>
        </p:nvSpPr>
        <p:spPr>
          <a:xfrm>
            <a:off x="190500" y="1299320"/>
            <a:ext cx="3667125" cy="182537"/>
          </a:xfrm>
          <a:prstGeom prst="rect">
            <a:avLst/>
          </a:prstGeom>
          <a:noFill/>
        </p:spPr>
        <p:txBody>
          <a:bodyPr wrap="square" lIns="28575" rIns="28575" tIns="9525" bIns="9525" anchor="ctr">
            <a:spAutoFit/>
          </a:bodyPr>
          <a:lstStyle/>
          <a:p>
            <a:pPr algn="l"/>
            <a:r>
              <a:rPr sz="1350" b="1">
                <a:solidFill>
                  <a:srgbClr val="0B2E4A"/>
                </a:solidFill>
                <a:latin typeface="Calibri"/>
              </a:rPr>
              <a:t>Strengths</a:t>
            </a:r>
          </a:p>
        </p:txBody>
      </p:sp>
      <p:sp>
        <p:nvSpPr>
          <p:cNvPr id="30" name="Rectangle 29"/>
          <p:cNvSpPr/>
          <p:nvPr/>
        </p:nvSpPr>
        <p:spPr>
          <a:xfrm>
            <a:off x="190500" y="1500111"/>
            <a:ext cx="1428750" cy="1825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204788" y="1605070"/>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333375"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3" name="Oval 32"/>
          <p:cNvSpPr/>
          <p:nvPr/>
        </p:nvSpPr>
        <p:spPr>
          <a:xfrm>
            <a:off x="204788" y="2116174"/>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333375"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Balanced SOM across regions and end-markets; strongest in 'Rest of the World'.</a:t>
            </a:r>
          </a:p>
        </p:txBody>
      </p:sp>
      <p:sp>
        <p:nvSpPr>
          <p:cNvPr id="35" name="Oval 34"/>
          <p:cNvSpPr/>
          <p:nvPr/>
        </p:nvSpPr>
        <p:spPr>
          <a:xfrm>
            <a:off x="204788" y="2627277"/>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333375"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7" name="TextBox 36"/>
          <p:cNvSpPr txBox="1"/>
          <p:nvPr/>
        </p:nvSpPr>
        <p:spPr>
          <a:xfrm>
            <a:off x="8334375" y="1299320"/>
            <a:ext cx="3667125" cy="182537"/>
          </a:xfrm>
          <a:prstGeom prst="rect">
            <a:avLst/>
          </a:prstGeom>
          <a:noFill/>
        </p:spPr>
        <p:txBody>
          <a:bodyPr wrap="square" lIns="28575" rIns="28575" tIns="9525" bIns="9525" anchor="ctr">
            <a:spAutoFit/>
          </a:bodyPr>
          <a:lstStyle/>
          <a:p>
            <a:pPr algn="l"/>
            <a:r>
              <a:rPr sz="1350" b="1">
                <a:solidFill>
                  <a:srgbClr val="082238"/>
                </a:solidFill>
                <a:latin typeface="Calibri"/>
              </a:rPr>
              <a:t>Weaknesses</a:t>
            </a:r>
          </a:p>
        </p:txBody>
      </p:sp>
      <p:sp>
        <p:nvSpPr>
          <p:cNvPr id="38" name="Rectangle 37"/>
          <p:cNvSpPr/>
          <p:nvPr/>
        </p:nvSpPr>
        <p:spPr>
          <a:xfrm>
            <a:off x="8334375" y="1500111"/>
            <a:ext cx="1428750" cy="18254"/>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8348662" y="1605070"/>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8477250"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1" name="Oval 40"/>
          <p:cNvSpPr/>
          <p:nvPr/>
        </p:nvSpPr>
        <p:spPr>
          <a:xfrm>
            <a:off x="8348662" y="2116174"/>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8477250"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Uneven SAM penetration strong in 'Rest of the World', thin elsewhere.</a:t>
            </a:r>
          </a:p>
        </p:txBody>
      </p:sp>
      <p:sp>
        <p:nvSpPr>
          <p:cNvPr id="43" name="Oval 42"/>
          <p:cNvSpPr/>
          <p:nvPr/>
        </p:nvSpPr>
        <p:spPr>
          <a:xfrm>
            <a:off x="8348662" y="2627277"/>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8477250"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Reliance on a few large accounts/regions raises concentration risk.</a:t>
            </a:r>
          </a:p>
        </p:txBody>
      </p:sp>
      <p:sp>
        <p:nvSpPr>
          <p:cNvPr id="45" name="TextBox 44"/>
          <p:cNvSpPr txBox="1"/>
          <p:nvPr/>
        </p:nvSpPr>
        <p:spPr>
          <a:xfrm>
            <a:off x="190500" y="4055629"/>
            <a:ext cx="3667125" cy="182537"/>
          </a:xfrm>
          <a:prstGeom prst="rect">
            <a:avLst/>
          </a:prstGeom>
          <a:noFill/>
        </p:spPr>
        <p:txBody>
          <a:bodyPr wrap="square" lIns="28575" rIns="28575" tIns="9525" bIns="9525" anchor="ctr">
            <a:spAutoFit/>
          </a:bodyPr>
          <a:lstStyle/>
          <a:p>
            <a:pPr algn="l"/>
            <a:r>
              <a:rPr sz="1350" b="1">
                <a:solidFill>
                  <a:srgbClr val="A35313"/>
                </a:solidFill>
                <a:latin typeface="Calibri"/>
              </a:rPr>
              <a:t>Threats</a:t>
            </a:r>
          </a:p>
        </p:txBody>
      </p:sp>
      <p:sp>
        <p:nvSpPr>
          <p:cNvPr id="46" name="Rectangle 45"/>
          <p:cNvSpPr/>
          <p:nvPr/>
        </p:nvSpPr>
        <p:spPr>
          <a:xfrm>
            <a:off x="190500" y="4256419"/>
            <a:ext cx="1428750" cy="1825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204788" y="4361379"/>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33375"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9" name="Oval 48"/>
          <p:cNvSpPr/>
          <p:nvPr/>
        </p:nvSpPr>
        <p:spPr>
          <a:xfrm>
            <a:off x="204788" y="4872482"/>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333375"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Input-cost inflation and price pressure can squeeze margin.</a:t>
            </a:r>
          </a:p>
        </p:txBody>
      </p:sp>
      <p:sp>
        <p:nvSpPr>
          <p:cNvPr id="51" name="Oval 50"/>
          <p:cNvSpPr/>
          <p:nvPr/>
        </p:nvSpPr>
        <p:spPr>
          <a:xfrm>
            <a:off x="204788" y="5383586"/>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333375"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Tier-1 incumbents and regulation raise barriers and switching friction.</a:t>
            </a:r>
          </a:p>
        </p:txBody>
      </p:sp>
      <p:sp>
        <p:nvSpPr>
          <p:cNvPr id="53" name="TextBox 52"/>
          <p:cNvSpPr txBox="1"/>
          <p:nvPr/>
        </p:nvSpPr>
        <p:spPr>
          <a:xfrm>
            <a:off x="8334375" y="4055629"/>
            <a:ext cx="3667125" cy="182537"/>
          </a:xfrm>
          <a:prstGeom prst="rect">
            <a:avLst/>
          </a:prstGeom>
          <a:noFill/>
        </p:spPr>
        <p:txBody>
          <a:bodyPr wrap="square" lIns="28575" rIns="28575" tIns="9525" bIns="9525" anchor="ctr">
            <a:spAutoFit/>
          </a:bodyPr>
          <a:lstStyle/>
          <a:p>
            <a:pPr algn="l"/>
            <a:r>
              <a:rPr sz="1350" b="1">
                <a:solidFill>
                  <a:srgbClr val="A86F00"/>
                </a:solidFill>
                <a:latin typeface="Calibri"/>
              </a:rPr>
              <a:t>Opportunities</a:t>
            </a:r>
          </a:p>
        </p:txBody>
      </p:sp>
      <p:sp>
        <p:nvSpPr>
          <p:cNvPr id="54" name="Rectangle 53"/>
          <p:cNvSpPr/>
          <p:nvPr/>
        </p:nvSpPr>
        <p:spPr>
          <a:xfrm>
            <a:off x="8334375" y="4256419"/>
            <a:ext cx="1428750" cy="1825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8348662" y="4361379"/>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8477250"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Premiumisation headroom in 'Flexible Partial Dentures' and adjacent high-value lines.</a:t>
            </a:r>
          </a:p>
        </p:txBody>
      </p:sp>
      <p:sp>
        <p:nvSpPr>
          <p:cNvPr id="57" name="Oval 56"/>
          <p:cNvSpPr/>
          <p:nvPr/>
        </p:nvSpPr>
        <p:spPr>
          <a:xfrm>
            <a:off x="8348662" y="4872482"/>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8477250"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Under-penetrated regions offer share-capture runway.</a:t>
            </a:r>
          </a:p>
        </p:txBody>
      </p:sp>
      <p:sp>
        <p:nvSpPr>
          <p:cNvPr id="59" name="Oval 58"/>
          <p:cNvSpPr/>
          <p:nvPr/>
        </p:nvSpPr>
        <p:spPr>
          <a:xfrm>
            <a:off x="8348662" y="5383586"/>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8477250"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Channel shift to online and clinics opens new demand pools.</a:t>
            </a:r>
          </a:p>
        </p:txBody>
      </p:sp>
      <p:sp>
        <p:nvSpPr>
          <p:cNvPr id="61" name="TextBox 60"/>
          <p:cNvSpPr txBox="1"/>
          <p:nvPr/>
        </p:nvSpPr>
        <p:spPr>
          <a:xfrm>
            <a:off x="2857500" y="6428609"/>
            <a:ext cx="9191625" cy="182537"/>
          </a:xfrm>
          <a:prstGeom prst="rect">
            <a:avLst/>
          </a:prstGeom>
          <a:noFill/>
        </p:spPr>
        <p:txBody>
          <a:bodyPr wrap="square" lIns="28575" rIns="28575" tIns="9525" bIns="9525" anchor="ctr">
            <a:spAutoFit/>
          </a:bodyPr>
          <a:lstStyle/>
          <a:p>
            <a:pPr algn="l"/>
            <a:r>
              <a:rPr sz="1100" b="0">
                <a:solidFill>
                  <a:srgbClr val="C0392B"/>
                </a:solidFill>
                <a:latin typeface="Calibri"/>
              </a:rPr>
              <a:t>Note: competitor figures are indicative derived from market modelling and expert validation, not company disclosures.</a:t>
            </a:r>
          </a:p>
        </p:txBody>
      </p:sp>
      <p:sp>
        <p:nvSpPr>
          <p:cNvPr id="62" name="TextBox 6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3" name="TextBox 62"/>
          <p:cNvSpPr txBox="1"/>
          <p:nvPr/>
        </p:nvSpPr>
        <p:spPr>
          <a:xfrm>
            <a:off x="361950" y="1642784"/>
            <a:ext cx="145777"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64" name="Picture 63" descr="lock.png"/>
          <p:cNvPicPr>
            <a:picLocks noChangeAspect="1"/>
          </p:cNvPicPr>
          <p:nvPr/>
        </p:nvPicPr>
        <p:blipFill>
          <a:blip r:embed="rId4"/>
          <a:stretch>
            <a:fillRect/>
          </a:stretch>
        </p:blipFill>
        <p:spPr>
          <a:xfrm>
            <a:off x="455778" y="1633005"/>
            <a:ext cx="128699" cy="187198"/>
          </a:xfrm>
          <a:prstGeom prst="rect">
            <a:avLst/>
          </a:prstGeom>
        </p:spPr>
      </p:pic>
      <p:sp>
        <p:nvSpPr>
          <p:cNvPr id="65" name="TextBox 64"/>
          <p:cNvSpPr txBox="1"/>
          <p:nvPr/>
        </p:nvSpPr>
        <p:spPr>
          <a:xfrm>
            <a:off x="623274" y="1642784"/>
            <a:ext cx="1029270" cy="186689"/>
          </a:xfrm>
          <a:prstGeom prst="rect">
            <a:avLst/>
          </a:prstGeom>
          <a:noFill/>
        </p:spPr>
        <p:txBody>
          <a:bodyPr wrap="none" lIns="0" rIns="0" tIns="0" bIns="0">
            <a:spAutoFit/>
          </a:bodyPr>
          <a:lstStyle/>
          <a:p>
            <a:r>
              <a:rPr sz="1100" b="0">
                <a:solidFill>
                  <a:srgbClr val="2E2E2E"/>
                </a:solidFill>
                <a:latin typeface="Calibri"/>
              </a:rPr>
              <a:t>win rate with a +</a:t>
            </a:r>
          </a:p>
        </p:txBody>
      </p:sp>
      <p:pic>
        <p:nvPicPr>
          <p:cNvPr id="66" name="Picture 65" descr="lock.png"/>
          <p:cNvPicPr>
            <a:picLocks noChangeAspect="1"/>
          </p:cNvPicPr>
          <p:nvPr/>
        </p:nvPicPr>
        <p:blipFill>
          <a:blip r:embed="rId4"/>
          <a:stretch>
            <a:fillRect/>
          </a:stretch>
        </p:blipFill>
        <p:spPr>
          <a:xfrm>
            <a:off x="1600596" y="1633005"/>
            <a:ext cx="128699" cy="187198"/>
          </a:xfrm>
          <a:prstGeom prst="rect">
            <a:avLst/>
          </a:prstGeom>
        </p:spPr>
      </p:pic>
      <p:sp>
        <p:nvSpPr>
          <p:cNvPr id="67" name="TextBox 66"/>
          <p:cNvSpPr txBox="1"/>
          <p:nvPr/>
        </p:nvSpPr>
        <p:spPr>
          <a:xfrm>
            <a:off x="1768092" y="1642784"/>
            <a:ext cx="1490662" cy="186689"/>
          </a:xfrm>
          <a:prstGeom prst="rect">
            <a:avLst/>
          </a:prstGeom>
          <a:noFill/>
        </p:spPr>
        <p:txBody>
          <a:bodyPr wrap="none" lIns="0" rIns="0" tIns="0" bIns="0">
            <a:spAutoFit/>
          </a:bodyPr>
          <a:lstStyle/>
          <a:p>
            <a:r>
              <a:rPr sz="1100" b="0">
                <a:solidFill>
                  <a:srgbClr val="2E2E2E"/>
                </a:solidFill>
                <a:latin typeface="Calibri"/>
              </a:rPr>
              <a:t>ASP premium clear value</a:t>
            </a:r>
          </a:p>
        </p:txBody>
      </p:sp>
      <p:sp>
        <p:nvSpPr>
          <p:cNvPr id="68" name="TextBox 67"/>
          <p:cNvSpPr txBox="1"/>
          <p:nvPr/>
        </p:nvSpPr>
        <p:spPr>
          <a:xfrm>
            <a:off x="361950" y="1810424"/>
            <a:ext cx="760238" cy="186689"/>
          </a:xfrm>
          <a:prstGeom prst="rect">
            <a:avLst/>
          </a:prstGeom>
          <a:noFill/>
        </p:spPr>
        <p:txBody>
          <a:bodyPr wrap="none" lIns="0" rIns="0" tIns="0" bIns="0">
            <a:spAutoFit/>
          </a:bodyPr>
          <a:lstStyle/>
          <a:p>
            <a:r>
              <a:rPr sz="1100" b="0">
                <a:solidFill>
                  <a:srgbClr val="2E2E2E"/>
                </a:solidFill>
                <a:latin typeface="Calibri"/>
              </a:rPr>
              <a:t>recognition.</a:t>
            </a:r>
          </a:p>
        </p:txBody>
      </p:sp>
      <p:pic>
        <p:nvPicPr>
          <p:cNvPr id="69" name="Picture 68" descr="lock.png"/>
          <p:cNvPicPr>
            <a:picLocks noChangeAspect="1"/>
          </p:cNvPicPr>
          <p:nvPr/>
        </p:nvPicPr>
        <p:blipFill>
          <a:blip r:embed="rId4"/>
          <a:stretch>
            <a:fillRect/>
          </a:stretch>
        </p:blipFill>
        <p:spPr>
          <a:xfrm>
            <a:off x="348482" y="2655212"/>
            <a:ext cx="128699" cy="187198"/>
          </a:xfrm>
          <a:prstGeom prst="rect">
            <a:avLst/>
          </a:prstGeom>
        </p:spPr>
      </p:pic>
      <p:sp>
        <p:nvSpPr>
          <p:cNvPr id="70" name="TextBox 69"/>
          <p:cNvSpPr txBox="1"/>
          <p:nvPr/>
        </p:nvSpPr>
        <p:spPr>
          <a:xfrm>
            <a:off x="515978" y="2664991"/>
            <a:ext cx="1083295" cy="186689"/>
          </a:xfrm>
          <a:prstGeom prst="rect">
            <a:avLst/>
          </a:prstGeom>
          <a:noFill/>
        </p:spPr>
        <p:txBody>
          <a:bodyPr wrap="none" lIns="0" rIns="0" tIns="0" bIns="0">
            <a:spAutoFit/>
          </a:bodyPr>
          <a:lstStyle/>
          <a:p>
            <a:r>
              <a:rPr sz="1100" b="0">
                <a:solidFill>
                  <a:srgbClr val="2E2E2E"/>
                </a:solidFill>
                <a:latin typeface="Calibri"/>
              </a:rPr>
              <a:t>book-to-bill and ~</a:t>
            </a:r>
          </a:p>
        </p:txBody>
      </p:sp>
      <p:pic>
        <p:nvPicPr>
          <p:cNvPr id="71" name="Picture 70" descr="lock.png"/>
          <p:cNvPicPr>
            <a:picLocks noChangeAspect="1"/>
          </p:cNvPicPr>
          <p:nvPr/>
        </p:nvPicPr>
        <p:blipFill>
          <a:blip r:embed="rId4"/>
          <a:stretch>
            <a:fillRect/>
          </a:stretch>
        </p:blipFill>
        <p:spPr>
          <a:xfrm>
            <a:off x="1547325" y="2655212"/>
            <a:ext cx="128699" cy="187198"/>
          </a:xfrm>
          <a:prstGeom prst="rect">
            <a:avLst/>
          </a:prstGeom>
        </p:spPr>
      </p:pic>
      <p:sp>
        <p:nvSpPr>
          <p:cNvPr id="72" name="TextBox 71"/>
          <p:cNvSpPr txBox="1"/>
          <p:nvPr/>
        </p:nvSpPr>
        <p:spPr>
          <a:xfrm>
            <a:off x="1714820" y="2664991"/>
            <a:ext cx="1304547" cy="186689"/>
          </a:xfrm>
          <a:prstGeom prst="rect">
            <a:avLst/>
          </a:prstGeom>
          <a:noFill/>
        </p:spPr>
        <p:txBody>
          <a:bodyPr wrap="none" lIns="0" rIns="0" tIns="0" bIns="0">
            <a:spAutoFit/>
          </a:bodyPr>
          <a:lstStyle/>
          <a:p>
            <a:r>
              <a:rPr sz="1100" b="0">
                <a:solidFill>
                  <a:srgbClr val="2E2E2E"/>
                </a:solidFill>
                <a:latin typeface="Calibri"/>
              </a:rPr>
              <a:t>EBITDA signal healthy</a:t>
            </a:r>
          </a:p>
        </p:txBody>
      </p:sp>
      <p:sp>
        <p:nvSpPr>
          <p:cNvPr id="73" name="TextBox 72"/>
          <p:cNvSpPr txBox="1"/>
          <p:nvPr/>
        </p:nvSpPr>
        <p:spPr>
          <a:xfrm>
            <a:off x="361950" y="2832631"/>
            <a:ext cx="783158" cy="186689"/>
          </a:xfrm>
          <a:prstGeom prst="rect">
            <a:avLst/>
          </a:prstGeom>
          <a:noFill/>
        </p:spPr>
        <p:txBody>
          <a:bodyPr wrap="none" lIns="0" rIns="0" tIns="0" bIns="0">
            <a:spAutoFit/>
          </a:bodyPr>
          <a:lstStyle/>
          <a:p>
            <a:r>
              <a:rPr sz="1100" b="0">
                <a:solidFill>
                  <a:srgbClr val="2E2E2E"/>
                </a:solidFill>
                <a:latin typeface="Calibri"/>
              </a:rPr>
              <a:t>momentum.</a:t>
            </a:r>
          </a:p>
        </p:txBody>
      </p:sp>
      <p:sp>
        <p:nvSpPr>
          <p:cNvPr id="74" name="TextBox 73"/>
          <p:cNvSpPr txBox="1"/>
          <p:nvPr/>
        </p:nvSpPr>
        <p:spPr>
          <a:xfrm>
            <a:off x="8505825" y="1726603"/>
            <a:ext cx="145777"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75" name="Picture 74" descr="lock.png"/>
          <p:cNvPicPr>
            <a:picLocks noChangeAspect="1"/>
          </p:cNvPicPr>
          <p:nvPr/>
        </p:nvPicPr>
        <p:blipFill>
          <a:blip r:embed="rId4"/>
          <a:stretch>
            <a:fillRect/>
          </a:stretch>
        </p:blipFill>
        <p:spPr>
          <a:xfrm>
            <a:off x="8599653" y="1716825"/>
            <a:ext cx="128699" cy="187198"/>
          </a:xfrm>
          <a:prstGeom prst="rect">
            <a:avLst/>
          </a:prstGeom>
        </p:spPr>
      </p:pic>
      <p:sp>
        <p:nvSpPr>
          <p:cNvPr id="76" name="TextBox 75"/>
          <p:cNvSpPr txBox="1"/>
          <p:nvPr/>
        </p:nvSpPr>
        <p:spPr>
          <a:xfrm>
            <a:off x="8767149" y="1726603"/>
            <a:ext cx="2910582" cy="186689"/>
          </a:xfrm>
          <a:prstGeom prst="rect">
            <a:avLst/>
          </a:prstGeom>
          <a:noFill/>
        </p:spPr>
        <p:txBody>
          <a:bodyPr wrap="none" lIns="0" rIns="0" tIns="0" bIns="0">
            <a:spAutoFit/>
          </a:bodyPr>
          <a:lstStyle/>
          <a:p>
            <a:r>
              <a:rPr sz="1100" b="0">
                <a:solidFill>
                  <a:srgbClr val="2E2E2E"/>
                </a:solidFill>
                <a:latin typeface="Calibri"/>
              </a:rPr>
              <a:t>share leaves a scale gap versus the market leader.</a:t>
            </a:r>
          </a:p>
        </p:txBody>
      </p:sp>
      <p:sp>
        <p:nvSpPr>
          <p:cNvPr id="77" name="TextBox 76"/>
          <p:cNvSpPr txBox="1"/>
          <p:nvPr/>
        </p:nvSpPr>
        <p:spPr>
          <a:xfrm>
            <a:off x="361950" y="4482912"/>
            <a:ext cx="1324495" cy="186689"/>
          </a:xfrm>
          <a:prstGeom prst="rect">
            <a:avLst/>
          </a:prstGeom>
          <a:noFill/>
        </p:spPr>
        <p:txBody>
          <a:bodyPr wrap="none" lIns="0" rIns="0" tIns="0" bIns="0">
            <a:spAutoFit/>
          </a:bodyPr>
          <a:lstStyle/>
          <a:p>
            <a:r>
              <a:rPr sz="1100" b="0">
                <a:solidFill>
                  <a:srgbClr val="2E2E2E"/>
                </a:solidFill>
                <a:latin typeface="Calibri"/>
              </a:rPr>
              <a:t>Intense competition ~</a:t>
            </a:r>
          </a:p>
        </p:txBody>
      </p:sp>
      <p:pic>
        <p:nvPicPr>
          <p:cNvPr id="78" name="Picture 77" descr="lock.png"/>
          <p:cNvPicPr>
            <a:picLocks noChangeAspect="1"/>
          </p:cNvPicPr>
          <p:nvPr/>
        </p:nvPicPr>
        <p:blipFill>
          <a:blip r:embed="rId4"/>
          <a:stretch>
            <a:fillRect/>
          </a:stretch>
        </p:blipFill>
        <p:spPr>
          <a:xfrm>
            <a:off x="1634497" y="4473133"/>
            <a:ext cx="128699" cy="187198"/>
          </a:xfrm>
          <a:prstGeom prst="rect">
            <a:avLst/>
          </a:prstGeom>
        </p:spPr>
      </p:pic>
      <p:sp>
        <p:nvSpPr>
          <p:cNvPr id="79" name="TextBox 78"/>
          <p:cNvSpPr txBox="1"/>
          <p:nvPr/>
        </p:nvSpPr>
        <p:spPr>
          <a:xfrm>
            <a:off x="1801993" y="4482912"/>
            <a:ext cx="1738684" cy="186689"/>
          </a:xfrm>
          <a:prstGeom prst="rect">
            <a:avLst/>
          </a:prstGeom>
          <a:noFill/>
        </p:spPr>
        <p:txBody>
          <a:bodyPr wrap="none" lIns="0" rIns="0" tIns="0" bIns="0">
            <a:spAutoFit/>
          </a:bodyPr>
          <a:lstStyle/>
          <a:p>
            <a:r>
              <a:rPr sz="1100" b="0">
                <a:solidFill>
                  <a:srgbClr val="2E2E2E"/>
                </a:solidFill>
                <a:latin typeface="Calibri"/>
              </a:rPr>
              <a:t>x pipeline needed to convert.</a:t>
            </a:r>
          </a:p>
        </p:txBody>
      </p:sp>
    </p:spTree>
  </p:cSld>
  <p:clrMapOvr>
    <a:masterClrMapping/>
  </p:clrMapOvr>
</p:sld>
</file>

<file path=ppt/slides/slide2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Ivoclar Vivadent AG Key Financials (4/5)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Ivoclar Vivadent AG's financial performance, key ratios and pricing, highlighting margin and momentum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Key financials and pricing Ivoclar Vivadent AG (all figures indicative, USD Mn unless noted).</a:t>
            </a:r>
          </a:p>
        </p:txBody>
      </p:sp>
      <p:sp>
        <p:nvSpPr>
          <p:cNvPr id="11" name="Rounded Rectangle 10"/>
          <p:cNvSpPr/>
          <p:nvPr/>
        </p:nvSpPr>
        <p:spPr>
          <a:xfrm>
            <a:off x="142875" y="1354081"/>
            <a:ext cx="5905500" cy="1916638"/>
          </a:xfrm>
          <a:prstGeom prst="roundRect">
            <a:avLst>
              <a:gd name="adj" fmla="val 397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411231"/>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Ivoclar Vivadent AG Financial Performance</a:t>
            </a:r>
          </a:p>
        </p:txBody>
      </p:sp>
      <p:graphicFrame>
        <p:nvGraphicFramePr>
          <p:cNvPr id="13" name="Table 12"/>
          <p:cNvGraphicFramePr>
            <a:graphicFrameLocks noGrp="1"/>
          </p:cNvGraphicFramePr>
          <p:nvPr/>
        </p:nvGraphicFramePr>
        <p:xfrm>
          <a:off x="152400" y="1611256"/>
          <a:ext cx="5886449" cy="1449914"/>
        </p:xfrm>
        <a:graphic>
          <a:graphicData uri="http://schemas.openxmlformats.org/drawingml/2006/table">
            <a:tbl>
              <a:tblPr>
                <a:tableStyleId>{5C22544A-7EE6-4342-B048-85BDC9FD1C3A}</a:tableStyleId>
              </a:tblPr>
              <a:tblGrid>
                <a:gridCol w="2446649"/>
                <a:gridCol w="687960"/>
                <a:gridCol w="687960"/>
                <a:gridCol w="687960"/>
                <a:gridCol w="687960"/>
                <a:gridCol w="687960"/>
              </a:tblGrid>
              <a:tr h="246126">
                <a:tc>
                  <a:txBody>
                    <a:bodyPr wrap="none"/>
                    <a:lstStyle/>
                    <a:p>
                      <a:pPr algn="l"/>
                      <a:r>
                        <a:rPr sz="1100" b="1">
                          <a:solidFill>
                            <a:srgbClr val="0B2E4A"/>
                          </a:solidFill>
                          <a:latin typeface="Calibri"/>
                        </a:rPr>
                        <a:t>USD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300947">
                <a:tc>
                  <a:txBody>
                    <a:bodyPr wrap="none"/>
                    <a:lstStyle/>
                    <a:p>
                      <a:pPr algn="l"/>
                      <a:r>
                        <a:rPr sz="1100" b="1">
                          <a:solidFill>
                            <a:srgbClr val="2E2E2E"/>
                          </a:solidFill>
                          <a:latin typeface="Calibri"/>
                        </a:rPr>
                        <a:t>Revenue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00947">
                <a:tc>
                  <a:txBody>
                    <a:bodyPr wrap="none"/>
                    <a:lstStyle/>
                    <a:p>
                      <a:pPr algn="l"/>
                      <a:r>
                        <a:rPr sz="1100" b="1">
                          <a:solidFill>
                            <a:srgbClr val="2E2E2E"/>
                          </a:solidFill>
                          <a:latin typeface="Calibri"/>
                        </a:rPr>
                        <a:t>Gross Profit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00947">
                <a:tc>
                  <a:txBody>
                    <a:bodyPr wrap="none"/>
                    <a:lstStyle/>
                    <a:p>
                      <a:pPr algn="l"/>
                      <a:r>
                        <a:rPr sz="1100" b="1">
                          <a:solidFill>
                            <a:srgbClr val="2E2E2E"/>
                          </a:solidFill>
                          <a:latin typeface="Calibri"/>
                        </a:rPr>
                        <a:t>Pre-Tax Profit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00947">
                <a:tc>
                  <a:txBody>
                    <a:bodyPr wrap="none"/>
                    <a:lstStyle/>
                    <a:p>
                      <a:pPr algn="l"/>
                      <a:r>
                        <a:rPr sz="1100" b="1">
                          <a:solidFill>
                            <a:srgbClr val="2E2E2E"/>
                          </a:solidFill>
                          <a:latin typeface="Calibri"/>
                        </a:rPr>
                        <a:t>Profit After Tax / Net Profit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070695"/>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94397"/>
          </a:xfrm>
          <a:prstGeom prst="roundRect">
            <a:avLst>
              <a:gd name="adj" fmla="val 23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455645"/>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Ivoclar Vivadent AG Key Ratios</a:t>
            </a:r>
          </a:p>
        </p:txBody>
      </p:sp>
      <p:graphicFrame>
        <p:nvGraphicFramePr>
          <p:cNvPr id="17" name="Table 16"/>
          <p:cNvGraphicFramePr>
            <a:graphicFrameLocks noGrp="1"/>
          </p:cNvGraphicFramePr>
          <p:nvPr/>
        </p:nvGraphicFramePr>
        <p:xfrm>
          <a:off x="152400" y="3655670"/>
          <a:ext cx="5886450" cy="2727671"/>
        </p:xfrm>
        <a:graphic>
          <a:graphicData uri="http://schemas.openxmlformats.org/drawingml/2006/table">
            <a:tbl>
              <a:tblPr>
                <a:tableStyleId>{5C22544A-7EE6-4342-B048-85BDC9FD1C3A}</a:tableStyleId>
              </a:tblPr>
              <a:tblGrid>
                <a:gridCol w="1859260"/>
                <a:gridCol w="805438"/>
                <a:gridCol w="805438"/>
                <a:gridCol w="805438"/>
                <a:gridCol w="805438"/>
                <a:gridCol w="805438"/>
              </a:tblGrid>
              <a:tr h="246126">
                <a:tc>
                  <a:txBody>
                    <a:bodyPr wrap="none"/>
                    <a:lstStyle/>
                    <a:p>
                      <a:pPr algn="l"/>
                      <a:r>
                        <a:rPr sz="1100" b="1">
                          <a:solidFill>
                            <a:srgbClr val="0B2E4A"/>
                          </a:solidFill>
                          <a:latin typeface="Calibri"/>
                        </a:rPr>
                        <a:t>Key Ratios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496309">
                <a:tc>
                  <a:txBody>
                    <a:bodyPr wrap="none"/>
                    <a:lstStyle/>
                    <a:p>
                      <a:pPr algn="l"/>
                      <a:r>
                        <a:rPr sz="1100" b="1">
                          <a:solidFill>
                            <a:srgbClr val="2E2E2E"/>
                          </a:solidFill>
                          <a:latin typeface="Calibri"/>
                        </a:rPr>
                        <a:t>Gross Margin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96309">
                <a:tc>
                  <a:txBody>
                    <a:bodyPr wrap="none"/>
                    <a:lstStyle/>
                    <a:p>
                      <a:pPr algn="l"/>
                      <a:r>
                        <a:rPr sz="1100" b="1">
                          <a:solidFill>
                            <a:srgbClr val="2E2E2E"/>
                          </a:solidFill>
                          <a:latin typeface="Calibri"/>
                        </a:rPr>
                        <a:t>Pre-Tax Margin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96309">
                <a:tc>
                  <a:txBody>
                    <a:bodyPr wrap="none"/>
                    <a:lstStyle/>
                    <a:p>
                      <a:pPr algn="l"/>
                      <a:r>
                        <a:rPr sz="1100" b="1">
                          <a:solidFill>
                            <a:srgbClr val="2E2E2E"/>
                          </a:solidFill>
                          <a:latin typeface="Calibri"/>
                        </a:rPr>
                        <a:t>Net Margin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96309">
                <a:tc>
                  <a:txBody>
                    <a:bodyPr wrap="none"/>
                    <a:lstStyle/>
                    <a:p>
                      <a:pPr algn="l"/>
                      <a:r>
                        <a:rPr sz="1100" b="1">
                          <a:solidFill>
                            <a:srgbClr val="2E2E2E"/>
                          </a:solidFill>
                          <a:latin typeface="Calibri"/>
                        </a:rPr>
                        <a:t>Return on Equity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96309">
                <a:tc>
                  <a:txBody>
                    <a:bodyPr wrap="none"/>
                    <a:lstStyle/>
                    <a:p>
                      <a:pPr algn="l"/>
                      <a:r>
                        <a:rPr sz="1100" b="1">
                          <a:solidFill>
                            <a:srgbClr val="2E2E2E"/>
                          </a:solidFill>
                          <a:latin typeface="Calibri"/>
                        </a:rPr>
                        <a:t>Return on Assets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92868"/>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1354081"/>
            <a:ext cx="584835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96025" y="1411231"/>
            <a:ext cx="5657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Ivoclar Vivadent AG Pricing Analysis (US$/Units)</a:t>
            </a:r>
          </a:p>
        </p:txBody>
      </p:sp>
      <p:graphicFrame>
        <p:nvGraphicFramePr>
          <p:cNvPr id="21" name="Table 20"/>
          <p:cNvGraphicFramePr>
            <a:graphicFrameLocks noGrp="1"/>
          </p:cNvGraphicFramePr>
          <p:nvPr/>
        </p:nvGraphicFramePr>
        <p:xfrm>
          <a:off x="6210300" y="1611256"/>
          <a:ext cx="5829301" cy="4772086"/>
        </p:xfrm>
        <a:graphic>
          <a:graphicData uri="http://schemas.openxmlformats.org/drawingml/2006/table">
            <a:tbl>
              <a:tblPr>
                <a:tableStyleId>{5C22544A-7EE6-4342-B048-85BDC9FD1C3A}</a:tableStyleId>
              </a:tblPr>
              <a:tblGrid>
                <a:gridCol w="4241547"/>
                <a:gridCol w="793877"/>
                <a:gridCol w="793877"/>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1131490">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1131490">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1131490">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1131490">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2" name="TextBox 21"/>
          <p:cNvSpPr txBox="1"/>
          <p:nvPr/>
        </p:nvSpPr>
        <p:spPr>
          <a:xfrm>
            <a:off x="6276975" y="6392868"/>
            <a:ext cx="56959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4150927" y="2219246"/>
            <a:ext cx="330041" cy="480060"/>
          </a:xfrm>
          <a:prstGeom prst="rect">
            <a:avLst/>
          </a:prstGeom>
        </p:spPr>
      </p:pic>
      <p:pic>
        <p:nvPicPr>
          <p:cNvPr id="25" name="Picture 24" descr="lock.png"/>
          <p:cNvPicPr>
            <a:picLocks noChangeAspect="1"/>
          </p:cNvPicPr>
          <p:nvPr/>
        </p:nvPicPr>
        <p:blipFill>
          <a:blip r:embed="rId4"/>
          <a:stretch>
            <a:fillRect/>
          </a:stretch>
        </p:blipFill>
        <p:spPr>
          <a:xfrm>
            <a:off x="3838564" y="4875868"/>
            <a:ext cx="366712" cy="533400"/>
          </a:xfrm>
          <a:prstGeom prst="rect">
            <a:avLst/>
          </a:prstGeom>
        </p:spPr>
      </p:pic>
      <p:pic>
        <p:nvPicPr>
          <p:cNvPr id="26" name="Picture 25" descr="lock.png"/>
          <p:cNvPicPr>
            <a:picLocks noChangeAspect="1"/>
          </p:cNvPicPr>
          <p:nvPr/>
        </p:nvPicPr>
        <p:blipFill>
          <a:blip r:embed="rId4"/>
          <a:stretch>
            <a:fillRect/>
          </a:stretch>
        </p:blipFill>
        <p:spPr>
          <a:xfrm>
            <a:off x="11059034" y="3853662"/>
            <a:ext cx="366712" cy="533400"/>
          </a:xfrm>
          <a:prstGeom prst="rect">
            <a:avLst/>
          </a:prstGeom>
        </p:spPr>
      </p:pic>
    </p:spTree>
  </p:cSld>
  <p:clrMapOvr>
    <a:masterClrMapping/>
  </p:clrMapOvr>
</p:sld>
</file>

<file path=ppt/slides/slide2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Ivoclar Vivadent AG Strategy Analysis (5/5)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Ivoclar Vivadent AG's strategic priorities and the competitive moves that support them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Strategy analysis Ivoclar Vivadent AG: strategic priorities and the competitive moves that support them (indicative).</a:t>
            </a:r>
          </a:p>
        </p:txBody>
      </p:sp>
      <p:sp>
        <p:nvSpPr>
          <p:cNvPr id="11" name="Rounded Rectangle 10"/>
          <p:cNvSpPr/>
          <p:nvPr/>
        </p:nvSpPr>
        <p:spPr>
          <a:xfrm>
            <a:off x="1428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MARKET SHARE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of global value</a:t>
            </a:r>
          </a:p>
        </p:txBody>
      </p:sp>
      <p:sp>
        <p:nvSpPr>
          <p:cNvPr id="12" name="Rounded Rectangle 11"/>
          <p:cNvSpPr/>
          <p:nvPr/>
        </p:nvSpPr>
        <p:spPr>
          <a:xfrm>
            <a:off x="25431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WIN RATE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deals won</a:t>
            </a:r>
          </a:p>
        </p:txBody>
      </p:sp>
      <p:sp>
        <p:nvSpPr>
          <p:cNvPr id="13" name="Rounded Rectangle 12"/>
          <p:cNvSpPr/>
          <p:nvPr/>
        </p:nvSpPr>
        <p:spPr>
          <a:xfrm>
            <a:off x="49530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ASP PREMIUM</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vs peers</a:t>
            </a:r>
          </a:p>
        </p:txBody>
      </p:sp>
      <p:sp>
        <p:nvSpPr>
          <p:cNvPr id="14" name="Rounded Rectangle 13"/>
          <p:cNvSpPr/>
          <p:nvPr/>
        </p:nvSpPr>
        <p:spPr>
          <a:xfrm>
            <a:off x="73533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84229"/>
            <a:ext cx="590550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2169954"/>
            <a:ext cx="5638800" cy="209550"/>
          </a:xfrm>
          <a:prstGeom prst="rect">
            <a:avLst/>
          </a:prstGeom>
          <a:noFill/>
        </p:spPr>
        <p:txBody>
          <a:bodyPr wrap="square" lIns="0" rIns="19050" tIns="9525" bIns="9525">
            <a:spAutoFit/>
          </a:bodyPr>
          <a:lstStyle/>
          <a:p>
            <a:pPr algn="l"/>
            <a:r>
              <a:rPr sz="1300" b="1">
                <a:solidFill>
                  <a:srgbClr val="0B2E4A"/>
                </a:solidFill>
                <a:latin typeface="Calibri"/>
              </a:rPr>
              <a:t>Strategic Priorities</a:t>
            </a:r>
          </a:p>
        </p:txBody>
      </p:sp>
      <p:sp>
        <p:nvSpPr>
          <p:cNvPr id="18" name="Rectangle 17"/>
          <p:cNvSpPr/>
          <p:nvPr/>
        </p:nvSpPr>
        <p:spPr>
          <a:xfrm>
            <a:off x="276225" y="2408079"/>
            <a:ext cx="56388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493804"/>
            <a:ext cx="563880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0" name="Rounded Rectangle 19"/>
          <p:cNvSpPr/>
          <p:nvPr/>
        </p:nvSpPr>
        <p:spPr>
          <a:xfrm>
            <a:off x="6200775" y="2084229"/>
            <a:ext cx="584835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34125" y="2169954"/>
            <a:ext cx="5581650" cy="209550"/>
          </a:xfrm>
          <a:prstGeom prst="rect">
            <a:avLst/>
          </a:prstGeom>
          <a:noFill/>
        </p:spPr>
        <p:txBody>
          <a:bodyPr wrap="square" lIns="0" rIns="19050" tIns="9525" bIns="9525">
            <a:spAutoFit/>
          </a:bodyPr>
          <a:lstStyle/>
          <a:p>
            <a:pPr algn="l"/>
            <a:r>
              <a:rPr sz="1300" b="1">
                <a:solidFill>
                  <a:srgbClr val="0B2E4A"/>
                </a:solidFill>
                <a:latin typeface="Calibri"/>
              </a:rPr>
              <a:t>Competitive Moves</a:t>
            </a:r>
          </a:p>
        </p:txBody>
      </p:sp>
      <p:sp>
        <p:nvSpPr>
          <p:cNvPr id="22" name="Rectangle 21"/>
          <p:cNvSpPr/>
          <p:nvPr/>
        </p:nvSpPr>
        <p:spPr>
          <a:xfrm>
            <a:off x="6334125" y="2408079"/>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34125" y="2493804"/>
            <a:ext cx="558165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4"/>
          <a:stretch>
            <a:fillRect/>
          </a:stretch>
        </p:blipFill>
        <p:spPr>
          <a:xfrm>
            <a:off x="1202531" y="1540967"/>
            <a:ext cx="157162" cy="228600"/>
          </a:xfrm>
          <a:prstGeom prst="rect">
            <a:avLst/>
          </a:prstGeom>
        </p:spPr>
      </p:pic>
      <p:pic>
        <p:nvPicPr>
          <p:cNvPr id="26" name="Picture 25" descr="lock.png"/>
          <p:cNvPicPr>
            <a:picLocks noChangeAspect="1"/>
          </p:cNvPicPr>
          <p:nvPr/>
        </p:nvPicPr>
        <p:blipFill>
          <a:blip r:embed="rId4"/>
          <a:stretch>
            <a:fillRect/>
          </a:stretch>
        </p:blipFill>
        <p:spPr>
          <a:xfrm>
            <a:off x="3602831" y="1540967"/>
            <a:ext cx="157162" cy="228600"/>
          </a:xfrm>
          <a:prstGeom prst="rect">
            <a:avLst/>
          </a:prstGeom>
        </p:spPr>
      </p:pic>
      <p:pic>
        <p:nvPicPr>
          <p:cNvPr id="27" name="Picture 26" descr="lock.png"/>
          <p:cNvPicPr>
            <a:picLocks noChangeAspect="1"/>
          </p:cNvPicPr>
          <p:nvPr/>
        </p:nvPicPr>
        <p:blipFill>
          <a:blip r:embed="rId4"/>
          <a:stretch>
            <a:fillRect/>
          </a:stretch>
        </p:blipFill>
        <p:spPr>
          <a:xfrm>
            <a:off x="6012656" y="1540967"/>
            <a:ext cx="157162" cy="228600"/>
          </a:xfrm>
          <a:prstGeom prst="rect">
            <a:avLst/>
          </a:prstGeom>
        </p:spPr>
      </p:pic>
      <p:pic>
        <p:nvPicPr>
          <p:cNvPr id="28" name="Picture 27" descr="lock.png"/>
          <p:cNvPicPr>
            <a:picLocks noChangeAspect="1"/>
          </p:cNvPicPr>
          <p:nvPr/>
        </p:nvPicPr>
        <p:blipFill>
          <a:blip r:embed="rId4"/>
          <a:stretch>
            <a:fillRect/>
          </a:stretch>
        </p:blipFill>
        <p:spPr>
          <a:xfrm>
            <a:off x="8412956" y="1540967"/>
            <a:ext cx="157162" cy="228600"/>
          </a:xfrm>
          <a:prstGeom prst="rect">
            <a:avLst/>
          </a:prstGeom>
        </p:spPr>
      </p:pic>
      <p:pic>
        <p:nvPicPr>
          <p:cNvPr id="29" name="Picture 28" descr="lock.png"/>
          <p:cNvPicPr>
            <a:picLocks noChangeAspect="1"/>
          </p:cNvPicPr>
          <p:nvPr/>
        </p:nvPicPr>
        <p:blipFill>
          <a:blip r:embed="rId4"/>
          <a:stretch>
            <a:fillRect/>
          </a:stretch>
        </p:blipFill>
        <p:spPr>
          <a:xfrm>
            <a:off x="10822781" y="1540967"/>
            <a:ext cx="157162" cy="228600"/>
          </a:xfrm>
          <a:prstGeom prst="rect">
            <a:avLst/>
          </a:prstGeom>
        </p:spPr>
      </p:pic>
      <p:sp>
        <p:nvSpPr>
          <p:cNvPr id="30" name="TextBox 29"/>
          <p:cNvSpPr txBox="1"/>
          <p:nvPr/>
        </p:nvSpPr>
        <p:spPr>
          <a:xfrm>
            <a:off x="276225" y="2503329"/>
            <a:ext cx="5586449" cy="194310"/>
          </a:xfrm>
          <a:prstGeom prst="rect">
            <a:avLst/>
          </a:prstGeom>
          <a:noFill/>
        </p:spPr>
        <p:txBody>
          <a:bodyPr wrap="none" lIns="0" rIns="0" tIns="0" bIns="0">
            <a:spAutoFit/>
          </a:bodyPr>
          <a:lstStyle/>
          <a:p>
            <a:r>
              <a:rPr sz="1150" b="0">
                <a:solidFill>
                  <a:srgbClr val="2E2E2E"/>
                </a:solidFill>
                <a:latin typeface="Calibri"/>
              </a:rPr>
              <a:t>▪ Defend and extend leadership in 'Academic &amp; Teaching Dental Institutions' Ivoclar Vivadent</a:t>
            </a:r>
          </a:p>
        </p:txBody>
      </p:sp>
      <p:sp>
        <p:nvSpPr>
          <p:cNvPr id="31" name="TextBox 30"/>
          <p:cNvSpPr txBox="1"/>
          <p:nvPr/>
        </p:nvSpPr>
        <p:spPr>
          <a:xfrm>
            <a:off x="276225" y="2678589"/>
            <a:ext cx="4065458" cy="194310"/>
          </a:xfrm>
          <a:prstGeom prst="rect">
            <a:avLst/>
          </a:prstGeom>
          <a:noFill/>
        </p:spPr>
        <p:txBody>
          <a:bodyPr wrap="none" lIns="0" rIns="0" tIns="0" bIns="0">
            <a:spAutoFit/>
          </a:bodyPr>
          <a:lstStyle/>
          <a:p>
            <a:r>
              <a:rPr sz="1150" b="0">
                <a:solidFill>
                  <a:srgbClr val="2E2E2E"/>
                </a:solidFill>
                <a:latin typeface="Calibri"/>
              </a:rPr>
              <a:t>AG's strongest end-market while scaling the next-best applications.</a:t>
            </a:r>
          </a:p>
        </p:txBody>
      </p:sp>
      <p:sp>
        <p:nvSpPr>
          <p:cNvPr id="32" name="TextBox 31"/>
          <p:cNvSpPr txBox="1"/>
          <p:nvPr/>
        </p:nvSpPr>
        <p:spPr>
          <a:xfrm>
            <a:off x="276225" y="2906426"/>
            <a:ext cx="909997" cy="194310"/>
          </a:xfrm>
          <a:prstGeom prst="rect">
            <a:avLst/>
          </a:prstGeom>
          <a:noFill/>
        </p:spPr>
        <p:txBody>
          <a:bodyPr wrap="none" lIns="0" rIns="0" tIns="0" bIns="0">
            <a:spAutoFit/>
          </a:bodyPr>
          <a:lstStyle/>
          <a:p>
            <a:r>
              <a:rPr sz="1150" b="0">
                <a:solidFill>
                  <a:srgbClr val="2E2E2E"/>
                </a:solidFill>
                <a:latin typeface="Calibri"/>
              </a:rPr>
              <a:t>▪ Convert its ~</a:t>
            </a:r>
          </a:p>
        </p:txBody>
      </p:sp>
      <p:pic>
        <p:nvPicPr>
          <p:cNvPr id="33" name="Picture 32" descr="lock.png"/>
          <p:cNvPicPr>
            <a:picLocks noChangeAspect="1"/>
          </p:cNvPicPr>
          <p:nvPr/>
        </p:nvPicPr>
        <p:blipFill>
          <a:blip r:embed="rId4"/>
          <a:stretch>
            <a:fillRect/>
          </a:stretch>
        </p:blipFill>
        <p:spPr>
          <a:xfrm>
            <a:off x="1135376" y="2896203"/>
            <a:ext cx="134549" cy="195707"/>
          </a:xfrm>
          <a:prstGeom prst="rect">
            <a:avLst/>
          </a:prstGeom>
        </p:spPr>
      </p:pic>
      <p:sp>
        <p:nvSpPr>
          <p:cNvPr id="34" name="TextBox 33"/>
          <p:cNvSpPr txBox="1"/>
          <p:nvPr/>
        </p:nvSpPr>
        <p:spPr>
          <a:xfrm>
            <a:off x="1310485" y="2906426"/>
            <a:ext cx="929109" cy="194310"/>
          </a:xfrm>
          <a:prstGeom prst="rect">
            <a:avLst/>
          </a:prstGeom>
          <a:noFill/>
        </p:spPr>
        <p:txBody>
          <a:bodyPr wrap="none" lIns="0" rIns="0" tIns="0" bIns="0">
            <a:spAutoFit/>
          </a:bodyPr>
          <a:lstStyle/>
          <a:p>
            <a:r>
              <a:rPr sz="1150" b="0">
                <a:solidFill>
                  <a:srgbClr val="2E2E2E"/>
                </a:solidFill>
                <a:latin typeface="Calibri"/>
              </a:rPr>
              <a:t>win rate and +</a:t>
            </a:r>
          </a:p>
        </p:txBody>
      </p:sp>
      <p:pic>
        <p:nvPicPr>
          <p:cNvPr id="35" name="Picture 34" descr="lock.png"/>
          <p:cNvPicPr>
            <a:picLocks noChangeAspect="1"/>
          </p:cNvPicPr>
          <p:nvPr/>
        </p:nvPicPr>
        <p:blipFill>
          <a:blip r:embed="rId4"/>
          <a:stretch>
            <a:fillRect/>
          </a:stretch>
        </p:blipFill>
        <p:spPr>
          <a:xfrm>
            <a:off x="2188748" y="2896203"/>
            <a:ext cx="134549" cy="195707"/>
          </a:xfrm>
          <a:prstGeom prst="rect">
            <a:avLst/>
          </a:prstGeom>
        </p:spPr>
      </p:pic>
      <p:sp>
        <p:nvSpPr>
          <p:cNvPr id="36" name="TextBox 35"/>
          <p:cNvSpPr txBox="1"/>
          <p:nvPr/>
        </p:nvSpPr>
        <p:spPr>
          <a:xfrm>
            <a:off x="2363857" y="2906426"/>
            <a:ext cx="3109019" cy="194310"/>
          </a:xfrm>
          <a:prstGeom prst="rect">
            <a:avLst/>
          </a:prstGeom>
          <a:noFill/>
        </p:spPr>
        <p:txBody>
          <a:bodyPr wrap="none" lIns="0" rIns="0" tIns="0" bIns="0">
            <a:spAutoFit/>
          </a:bodyPr>
          <a:lstStyle/>
          <a:p>
            <a:r>
              <a:rPr sz="1150" b="0">
                <a:solidFill>
                  <a:srgbClr val="2E2E2E"/>
                </a:solidFill>
                <a:latin typeface="Calibri"/>
              </a:rPr>
              <a:t>ASP premium into share gains through value-based</a:t>
            </a:r>
          </a:p>
        </p:txBody>
      </p:sp>
      <p:sp>
        <p:nvSpPr>
          <p:cNvPr id="37" name="TextBox 36"/>
          <p:cNvSpPr txBox="1"/>
          <p:nvPr/>
        </p:nvSpPr>
        <p:spPr>
          <a:xfrm>
            <a:off x="276225" y="3081686"/>
            <a:ext cx="489247" cy="194310"/>
          </a:xfrm>
          <a:prstGeom prst="rect">
            <a:avLst/>
          </a:prstGeom>
          <a:noFill/>
        </p:spPr>
        <p:txBody>
          <a:bodyPr wrap="none" lIns="0" rIns="0" tIns="0" bIns="0">
            <a:spAutoFit/>
          </a:bodyPr>
          <a:lstStyle/>
          <a:p>
            <a:r>
              <a:rPr sz="1150" b="0">
                <a:solidFill>
                  <a:srgbClr val="2E2E2E"/>
                </a:solidFill>
                <a:latin typeface="Calibri"/>
              </a:rPr>
              <a:t>selling.</a:t>
            </a:r>
          </a:p>
        </p:txBody>
      </p:sp>
      <p:sp>
        <p:nvSpPr>
          <p:cNvPr id="38" name="TextBox 37"/>
          <p:cNvSpPr txBox="1"/>
          <p:nvPr/>
        </p:nvSpPr>
        <p:spPr>
          <a:xfrm>
            <a:off x="276225" y="3309524"/>
            <a:ext cx="3294434" cy="194310"/>
          </a:xfrm>
          <a:prstGeom prst="rect">
            <a:avLst/>
          </a:prstGeom>
          <a:noFill/>
        </p:spPr>
        <p:txBody>
          <a:bodyPr wrap="none" lIns="0" rIns="0" tIns="0" bIns="0">
            <a:spAutoFit/>
          </a:bodyPr>
          <a:lstStyle/>
          <a:p>
            <a:r>
              <a:rPr sz="1150" b="0">
                <a:solidFill>
                  <a:srgbClr val="2E2E2E"/>
                </a:solidFill>
                <a:latin typeface="Calibri"/>
              </a:rPr>
              <a:t>▪ Raise SAM penetration beyond 'Rest of the World' (~</a:t>
            </a:r>
          </a:p>
        </p:txBody>
      </p:sp>
      <p:pic>
        <p:nvPicPr>
          <p:cNvPr id="39" name="Picture 38" descr="lock.png"/>
          <p:cNvPicPr>
            <a:picLocks noChangeAspect="1"/>
          </p:cNvPicPr>
          <p:nvPr/>
        </p:nvPicPr>
        <p:blipFill>
          <a:blip r:embed="rId4"/>
          <a:stretch>
            <a:fillRect/>
          </a:stretch>
        </p:blipFill>
        <p:spPr>
          <a:xfrm>
            <a:off x="3519813" y="3299301"/>
            <a:ext cx="134549" cy="195707"/>
          </a:xfrm>
          <a:prstGeom prst="rect">
            <a:avLst/>
          </a:prstGeom>
        </p:spPr>
      </p:pic>
      <p:sp>
        <p:nvSpPr>
          <p:cNvPr id="40" name="TextBox 39"/>
          <p:cNvSpPr txBox="1"/>
          <p:nvPr/>
        </p:nvSpPr>
        <p:spPr>
          <a:xfrm>
            <a:off x="3694922" y="3309524"/>
            <a:ext cx="2019064" cy="194310"/>
          </a:xfrm>
          <a:prstGeom prst="rect">
            <a:avLst/>
          </a:prstGeom>
          <a:noFill/>
        </p:spPr>
        <p:txBody>
          <a:bodyPr wrap="none" lIns="0" rIns="0" tIns="0" bIns="0">
            <a:spAutoFit/>
          </a:bodyPr>
          <a:lstStyle/>
          <a:p>
            <a:r>
              <a:rPr sz="1150" b="0">
                <a:solidFill>
                  <a:srgbClr val="2E2E2E"/>
                </a:solidFill>
                <a:latin typeface="Calibri"/>
              </a:rPr>
              <a:t>) into lower-penetration regions.</a:t>
            </a:r>
          </a:p>
        </p:txBody>
      </p:sp>
      <p:sp>
        <p:nvSpPr>
          <p:cNvPr id="41" name="TextBox 40"/>
          <p:cNvSpPr txBox="1"/>
          <p:nvPr/>
        </p:nvSpPr>
        <p:spPr>
          <a:xfrm>
            <a:off x="276225" y="3537362"/>
            <a:ext cx="694059" cy="194310"/>
          </a:xfrm>
          <a:prstGeom prst="rect">
            <a:avLst/>
          </a:prstGeom>
          <a:noFill/>
        </p:spPr>
        <p:txBody>
          <a:bodyPr wrap="none" lIns="0" rIns="0" tIns="0" bIns="0">
            <a:spAutoFit/>
          </a:bodyPr>
          <a:lstStyle/>
          <a:p>
            <a:r>
              <a:rPr sz="1150" b="0">
                <a:solidFill>
                  <a:srgbClr val="2E2E2E"/>
                </a:solidFill>
                <a:latin typeface="Calibri"/>
              </a:rPr>
              <a:t>▪ Sustain a</a:t>
            </a:r>
          </a:p>
        </p:txBody>
      </p:sp>
      <p:pic>
        <p:nvPicPr>
          <p:cNvPr id="42" name="Picture 41" descr="lock.png"/>
          <p:cNvPicPr>
            <a:picLocks noChangeAspect="1"/>
          </p:cNvPicPr>
          <p:nvPr/>
        </p:nvPicPr>
        <p:blipFill>
          <a:blip r:embed="rId4"/>
          <a:stretch>
            <a:fillRect/>
          </a:stretch>
        </p:blipFill>
        <p:spPr>
          <a:xfrm>
            <a:off x="919438" y="3527139"/>
            <a:ext cx="134549" cy="195707"/>
          </a:xfrm>
          <a:prstGeom prst="rect">
            <a:avLst/>
          </a:prstGeom>
        </p:spPr>
      </p:pic>
      <p:sp>
        <p:nvSpPr>
          <p:cNvPr id="43" name="TextBox 42"/>
          <p:cNvSpPr txBox="1"/>
          <p:nvPr/>
        </p:nvSpPr>
        <p:spPr>
          <a:xfrm>
            <a:off x="1094548" y="3537362"/>
            <a:ext cx="3750555" cy="194310"/>
          </a:xfrm>
          <a:prstGeom prst="rect">
            <a:avLst/>
          </a:prstGeom>
          <a:noFill/>
        </p:spPr>
        <p:txBody>
          <a:bodyPr wrap="none" lIns="0" rIns="0" tIns="0" bIns="0">
            <a:spAutoFit/>
          </a:bodyPr>
          <a:lstStyle/>
          <a:p>
            <a:r>
              <a:rPr sz="1150" b="0">
                <a:solidFill>
                  <a:srgbClr val="2E2E2E"/>
                </a:solidFill>
                <a:latin typeface="Calibri"/>
              </a:rPr>
              <a:t>book-to-bill with disciplined capacity and channel investment.</a:t>
            </a:r>
          </a:p>
        </p:txBody>
      </p:sp>
      <p:sp>
        <p:nvSpPr>
          <p:cNvPr id="44" name="TextBox 43"/>
          <p:cNvSpPr txBox="1"/>
          <p:nvPr/>
        </p:nvSpPr>
        <p:spPr>
          <a:xfrm>
            <a:off x="276225" y="3765200"/>
            <a:ext cx="5321163" cy="194310"/>
          </a:xfrm>
          <a:prstGeom prst="rect">
            <a:avLst/>
          </a:prstGeom>
          <a:noFill/>
        </p:spPr>
        <p:txBody>
          <a:bodyPr wrap="none" lIns="0" rIns="0" tIns="0" bIns="0">
            <a:spAutoFit/>
          </a:bodyPr>
          <a:lstStyle/>
          <a:p>
            <a:r>
              <a:rPr sz="1150" b="0">
                <a:solidFill>
                  <a:srgbClr val="2E2E2E"/>
                </a:solidFill>
                <a:latin typeface="Calibri"/>
              </a:rPr>
              <a:t>▪ Protect margin through corridor-based pricing and cost discipline as input prices move.</a:t>
            </a:r>
          </a:p>
        </p:txBody>
      </p:sp>
      <p:sp>
        <p:nvSpPr>
          <p:cNvPr id="45" name="TextBox 44"/>
          <p:cNvSpPr txBox="1"/>
          <p:nvPr/>
        </p:nvSpPr>
        <p:spPr>
          <a:xfrm>
            <a:off x="6334125" y="2503329"/>
            <a:ext cx="5562600" cy="194310"/>
          </a:xfrm>
          <a:prstGeom prst="rect">
            <a:avLst/>
          </a:prstGeom>
          <a:noFill/>
        </p:spPr>
        <p:txBody>
          <a:bodyPr wrap="none" lIns="0" rIns="0" tIns="0" bIns="0">
            <a:spAutoFit/>
          </a:bodyPr>
          <a:lstStyle/>
          <a:p>
            <a:r>
              <a:rPr sz="1150" b="0">
                <a:solidFill>
                  <a:srgbClr val="2E2E2E"/>
                </a:solidFill>
                <a:latin typeface="Calibri"/>
              </a:rPr>
              <a:t>▪ Premiumise the portfolio around 'Flexible Partial Dentures' and adjacent high-value lines to</a:t>
            </a:r>
          </a:p>
        </p:txBody>
      </p:sp>
      <p:sp>
        <p:nvSpPr>
          <p:cNvPr id="46" name="TextBox 45"/>
          <p:cNvSpPr txBox="1"/>
          <p:nvPr/>
        </p:nvSpPr>
        <p:spPr>
          <a:xfrm>
            <a:off x="6334125" y="2678589"/>
            <a:ext cx="1228625" cy="194310"/>
          </a:xfrm>
          <a:prstGeom prst="rect">
            <a:avLst/>
          </a:prstGeom>
          <a:noFill/>
        </p:spPr>
        <p:txBody>
          <a:bodyPr wrap="none" lIns="0" rIns="0" tIns="0" bIns="0">
            <a:spAutoFit/>
          </a:bodyPr>
          <a:lstStyle/>
          <a:p>
            <a:r>
              <a:rPr sz="1150" b="0">
                <a:solidFill>
                  <a:srgbClr val="2E2E2E"/>
                </a:solidFill>
                <a:latin typeface="Calibri"/>
              </a:rPr>
              <a:t>lift blended pricing.</a:t>
            </a:r>
          </a:p>
        </p:txBody>
      </p:sp>
      <p:sp>
        <p:nvSpPr>
          <p:cNvPr id="47" name="TextBox 46"/>
          <p:cNvSpPr txBox="1"/>
          <p:nvPr/>
        </p:nvSpPr>
        <p:spPr>
          <a:xfrm>
            <a:off x="6334125" y="2906426"/>
            <a:ext cx="5393903" cy="194310"/>
          </a:xfrm>
          <a:prstGeom prst="rect">
            <a:avLst/>
          </a:prstGeom>
          <a:noFill/>
        </p:spPr>
        <p:txBody>
          <a:bodyPr wrap="none" lIns="0" rIns="0" tIns="0" bIns="0">
            <a:spAutoFit/>
          </a:bodyPr>
          <a:lstStyle/>
          <a:p>
            <a:r>
              <a:rPr sz="1150" b="0">
                <a:solidFill>
                  <a:srgbClr val="2E2E2E"/>
                </a:solidFill>
                <a:latin typeface="Calibri"/>
              </a:rPr>
              <a:t>▪ Deepen presence in 'Rest of the World' (largest SOM region) and build out under-served</a:t>
            </a:r>
          </a:p>
        </p:txBody>
      </p:sp>
      <p:sp>
        <p:nvSpPr>
          <p:cNvPr id="48" name="TextBox 47"/>
          <p:cNvSpPr txBox="1"/>
          <p:nvPr/>
        </p:nvSpPr>
        <p:spPr>
          <a:xfrm>
            <a:off x="6334125" y="3081686"/>
            <a:ext cx="838113" cy="194310"/>
          </a:xfrm>
          <a:prstGeom prst="rect">
            <a:avLst/>
          </a:prstGeom>
          <a:noFill/>
        </p:spPr>
        <p:txBody>
          <a:bodyPr wrap="none" lIns="0" rIns="0" tIns="0" bIns="0">
            <a:spAutoFit/>
          </a:bodyPr>
          <a:lstStyle/>
          <a:p>
            <a:r>
              <a:rPr sz="1150" b="0">
                <a:solidFill>
                  <a:srgbClr val="2E2E2E"/>
                </a:solidFill>
                <a:latin typeface="Calibri"/>
              </a:rPr>
              <a:t>geographies.</a:t>
            </a:r>
          </a:p>
        </p:txBody>
      </p:sp>
      <p:sp>
        <p:nvSpPr>
          <p:cNvPr id="49" name="TextBox 48"/>
          <p:cNvSpPr txBox="1"/>
          <p:nvPr/>
        </p:nvSpPr>
        <p:spPr>
          <a:xfrm>
            <a:off x="6334125" y="3309524"/>
            <a:ext cx="5471144" cy="194310"/>
          </a:xfrm>
          <a:prstGeom prst="rect">
            <a:avLst/>
          </a:prstGeom>
          <a:noFill/>
        </p:spPr>
        <p:txBody>
          <a:bodyPr wrap="none" lIns="0" rIns="0" tIns="0" bIns="0">
            <a:spAutoFit/>
          </a:bodyPr>
          <a:lstStyle/>
          <a:p>
            <a:r>
              <a:rPr sz="1150" b="0">
                <a:solidFill>
                  <a:srgbClr val="2E2E2E"/>
                </a:solidFill>
                <a:latin typeface="Calibri"/>
              </a:rPr>
              <a:t>▪ Invest in R&amp;D, certification and selective M&amp;A to move up the price ladder and widen the</a:t>
            </a:r>
          </a:p>
        </p:txBody>
      </p:sp>
      <p:sp>
        <p:nvSpPr>
          <p:cNvPr id="50" name="TextBox 49"/>
          <p:cNvSpPr txBox="1"/>
          <p:nvPr/>
        </p:nvSpPr>
        <p:spPr>
          <a:xfrm>
            <a:off x="6334125" y="3484784"/>
            <a:ext cx="425636" cy="194310"/>
          </a:xfrm>
          <a:prstGeom prst="rect">
            <a:avLst/>
          </a:prstGeom>
          <a:noFill/>
        </p:spPr>
        <p:txBody>
          <a:bodyPr wrap="none" lIns="0" rIns="0" tIns="0" bIns="0">
            <a:spAutoFit/>
          </a:bodyPr>
          <a:lstStyle/>
          <a:p>
            <a:r>
              <a:rPr sz="1150" b="0">
                <a:solidFill>
                  <a:srgbClr val="2E2E2E"/>
                </a:solidFill>
                <a:latin typeface="Calibri"/>
              </a:rPr>
              <a:t>moat.</a:t>
            </a:r>
          </a:p>
        </p:txBody>
      </p:sp>
      <p:sp>
        <p:nvSpPr>
          <p:cNvPr id="51" name="TextBox 50"/>
          <p:cNvSpPr txBox="1"/>
          <p:nvPr/>
        </p:nvSpPr>
        <p:spPr>
          <a:xfrm>
            <a:off x="6334125" y="3712622"/>
            <a:ext cx="5267535" cy="194310"/>
          </a:xfrm>
          <a:prstGeom prst="rect">
            <a:avLst/>
          </a:prstGeom>
          <a:noFill/>
        </p:spPr>
        <p:txBody>
          <a:bodyPr wrap="none" lIns="0" rIns="0" tIns="0" bIns="0">
            <a:spAutoFit/>
          </a:bodyPr>
          <a:lstStyle/>
          <a:p>
            <a:r>
              <a:rPr sz="1150" b="0">
                <a:solidFill>
                  <a:srgbClr val="2E2E2E"/>
                </a:solidFill>
                <a:latin typeface="Calibri"/>
              </a:rPr>
              <a:t>▪ Diversify the customer base and secure supply to de-risk concentration and input-cost</a:t>
            </a:r>
          </a:p>
        </p:txBody>
      </p:sp>
      <p:sp>
        <p:nvSpPr>
          <p:cNvPr id="52" name="TextBox 51"/>
          <p:cNvSpPr txBox="1"/>
          <p:nvPr/>
        </p:nvSpPr>
        <p:spPr>
          <a:xfrm>
            <a:off x="6334125" y="3887882"/>
            <a:ext cx="509215" cy="194310"/>
          </a:xfrm>
          <a:prstGeom prst="rect">
            <a:avLst/>
          </a:prstGeom>
          <a:noFill/>
        </p:spPr>
        <p:txBody>
          <a:bodyPr wrap="none" lIns="0" rIns="0" tIns="0" bIns="0">
            <a:spAutoFit/>
          </a:bodyPr>
          <a:lstStyle/>
          <a:p>
            <a:r>
              <a:rPr sz="1150" b="0">
                <a:solidFill>
                  <a:srgbClr val="2E2E2E"/>
                </a:solidFill>
                <a:latin typeface="Calibri"/>
              </a:rPr>
              <a:t>shocks.</a:t>
            </a:r>
          </a:p>
        </p:txBody>
      </p:sp>
      <p:sp>
        <p:nvSpPr>
          <p:cNvPr id="53" name="TextBox 52"/>
          <p:cNvSpPr txBox="1"/>
          <p:nvPr/>
        </p:nvSpPr>
        <p:spPr>
          <a:xfrm>
            <a:off x="6334125" y="4115720"/>
            <a:ext cx="3102173" cy="194310"/>
          </a:xfrm>
          <a:prstGeom prst="rect">
            <a:avLst/>
          </a:prstGeom>
          <a:noFill/>
        </p:spPr>
        <p:txBody>
          <a:bodyPr wrap="none" lIns="0" rIns="0" tIns="0" bIns="0">
            <a:spAutoFit/>
          </a:bodyPr>
          <a:lstStyle/>
          <a:p>
            <a:r>
              <a:rPr sz="1150" b="0">
                <a:solidFill>
                  <a:srgbClr val="2E2E2E"/>
                </a:solidFill>
                <a:latin typeface="Calibri"/>
              </a:rPr>
              <a:t>▪ Sharpen go-to-market a ~90-day sales cycle and ~</a:t>
            </a:r>
          </a:p>
        </p:txBody>
      </p:sp>
      <p:pic>
        <p:nvPicPr>
          <p:cNvPr id="54" name="Picture 53" descr="lock.png"/>
          <p:cNvPicPr>
            <a:picLocks noChangeAspect="1"/>
          </p:cNvPicPr>
          <p:nvPr/>
        </p:nvPicPr>
        <p:blipFill>
          <a:blip r:embed="rId4"/>
          <a:stretch>
            <a:fillRect/>
          </a:stretch>
        </p:blipFill>
        <p:spPr>
          <a:xfrm>
            <a:off x="9385452" y="4105497"/>
            <a:ext cx="134549" cy="195707"/>
          </a:xfrm>
          <a:prstGeom prst="rect">
            <a:avLst/>
          </a:prstGeom>
        </p:spPr>
      </p:pic>
      <p:sp>
        <p:nvSpPr>
          <p:cNvPr id="55" name="TextBox 54"/>
          <p:cNvSpPr txBox="1"/>
          <p:nvPr/>
        </p:nvSpPr>
        <p:spPr>
          <a:xfrm>
            <a:off x="9560561" y="4115720"/>
            <a:ext cx="2003660" cy="194310"/>
          </a:xfrm>
          <a:prstGeom prst="rect">
            <a:avLst/>
          </a:prstGeom>
          <a:noFill/>
        </p:spPr>
        <p:txBody>
          <a:bodyPr wrap="none" lIns="0" rIns="0" tIns="0" bIns="0">
            <a:spAutoFit/>
          </a:bodyPr>
          <a:lstStyle/>
          <a:p>
            <a:r>
              <a:rPr sz="1150" b="0">
                <a:solidFill>
                  <a:srgbClr val="2E2E2E"/>
                </a:solidFill>
                <a:latin typeface="Calibri"/>
              </a:rPr>
              <a:t>conversion speed share capture.</a:t>
            </a:r>
          </a:p>
        </p:txBody>
      </p:sp>
    </p:spTree>
  </p:cSld>
  <p:clrMapOvr>
    <a:masterClrMapping/>
  </p:clrMapOvr>
</p:sld>
</file>

<file path=ppt/slides/slide3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Kulzer GmbH Executive Market Snapshot (1/5)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total market, addressable opportunity and share of market by end-market, region and product</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Executive snapshot and strategic positioning Kulzer GmbH: market, addressable opportunity and SOM splits by end-market, region and product.</a:t>
            </a:r>
          </a:p>
        </p:txBody>
      </p:sp>
      <p:sp>
        <p:nvSpPr>
          <p:cNvPr id="11" name="Rounded Rectangle 10"/>
          <p:cNvSpPr/>
          <p:nvPr/>
        </p:nvSpPr>
        <p:spPr>
          <a:xfrm>
            <a:off x="1428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TAM (US$ MN)</a:t>
            </a:r>
          </a:p>
          <a:p>
            <a:pPr algn="ctr">
              <a:lnSpc>
                <a:spcPct val="95000"/>
              </a:lnSpc>
            </a:pPr>
            <a:r>
              <a:rPr sz="1500" b="1">
                <a:solidFill>
                  <a:srgbClr val="0E72AE"/>
                </a:solidFill>
                <a:latin typeface="Calibri"/>
              </a:rPr>
              <a:t>1,731</a:t>
            </a:r>
          </a:p>
          <a:p>
            <a:pPr algn="ctr">
              <a:lnSpc>
                <a:spcPct val="95000"/>
              </a:lnSpc>
            </a:pPr>
            <a:r>
              <a:rPr sz="1100" b="0">
                <a:solidFill>
                  <a:srgbClr val="6C7A89"/>
                </a:solidFill>
                <a:latin typeface="Calibri"/>
              </a:rPr>
              <a:t>Total market</a:t>
            </a:r>
          </a:p>
        </p:txBody>
      </p:sp>
      <p:sp>
        <p:nvSpPr>
          <p:cNvPr id="12" name="Rounded Rectangle 11"/>
          <p:cNvSpPr/>
          <p:nvPr/>
        </p:nvSpPr>
        <p:spPr>
          <a:xfrm>
            <a:off x="25431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SAM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Addressable</a:t>
            </a:r>
          </a:p>
        </p:txBody>
      </p:sp>
      <p:sp>
        <p:nvSpPr>
          <p:cNvPr id="13" name="Rounded Rectangle 12"/>
          <p:cNvSpPr/>
          <p:nvPr/>
        </p:nvSpPr>
        <p:spPr>
          <a:xfrm>
            <a:off x="49530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4" name="Rounded Rectangle 13"/>
          <p:cNvSpPr/>
          <p:nvPr/>
        </p:nvSpPr>
        <p:spPr>
          <a:xfrm>
            <a:off x="73533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End-Market (US$ Mn)</a:t>
            </a:r>
          </a:p>
        </p:txBody>
      </p:sp>
      <p:graphicFrame>
        <p:nvGraphicFramePr>
          <p:cNvPr id="18" name="Chart 17"/>
          <p:cNvGraphicFramePr>
            <a:graphicFrameLocks noGrp="1"/>
          </p:cNvGraphicFramePr>
          <p:nvPr/>
        </p:nvGraphicFramePr>
        <p:xfrm>
          <a:off x="238125" y="2351726"/>
          <a:ext cx="3638550" cy="2267379"/>
        </p:xfrm>
        <a:graphic>
          <a:graphicData uri="http://schemas.openxmlformats.org/drawingml/2006/chart">
            <c:chart xmlns:c="http://schemas.openxmlformats.org/drawingml/2006/chart" r:id="rId3"/>
          </a:graphicData>
        </a:graphic>
      </p:graphicFrame>
      <p:sp>
        <p:nvSpPr>
          <p:cNvPr id="19" name="Rounded Rectangle 18"/>
          <p:cNvSpPr/>
          <p:nvPr/>
        </p:nvSpPr>
        <p:spPr>
          <a:xfrm>
            <a:off x="412432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421957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Region (US$ Mn)</a:t>
            </a:r>
          </a:p>
        </p:txBody>
      </p:sp>
      <p:graphicFrame>
        <p:nvGraphicFramePr>
          <p:cNvPr id="21" name="Chart 20"/>
          <p:cNvGraphicFramePr>
            <a:graphicFrameLocks noGrp="1"/>
          </p:cNvGraphicFramePr>
          <p:nvPr/>
        </p:nvGraphicFramePr>
        <p:xfrm>
          <a:off x="4219575" y="2351726"/>
          <a:ext cx="3638550" cy="2267379"/>
        </p:xfrm>
        <a:graphic>
          <a:graphicData uri="http://schemas.openxmlformats.org/drawingml/2006/chart">
            <c:chart xmlns:c="http://schemas.openxmlformats.org/drawingml/2006/chart" r:id="rId4"/>
          </a:graphicData>
        </a:graphic>
      </p:graphicFrame>
      <p:sp>
        <p:nvSpPr>
          <p:cNvPr id="22" name="Rounded Rectangle 21"/>
          <p:cNvSpPr/>
          <p:nvPr/>
        </p:nvSpPr>
        <p:spPr>
          <a:xfrm>
            <a:off x="8105775" y="2065976"/>
            <a:ext cx="39433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8201025" y="2123126"/>
            <a:ext cx="3752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Product Line (US$ Mn)</a:t>
            </a:r>
          </a:p>
        </p:txBody>
      </p:sp>
      <p:graphicFrame>
        <p:nvGraphicFramePr>
          <p:cNvPr id="24" name="Chart 23"/>
          <p:cNvGraphicFramePr>
            <a:graphicFrameLocks noGrp="1"/>
          </p:cNvGraphicFramePr>
          <p:nvPr/>
        </p:nvGraphicFramePr>
        <p:xfrm>
          <a:off x="8201025" y="2351726"/>
          <a:ext cx="3752850" cy="2267379"/>
        </p:xfrm>
        <a:graphic>
          <a:graphicData uri="http://schemas.openxmlformats.org/drawingml/2006/chart">
            <c:chart xmlns:c="http://schemas.openxmlformats.org/drawingml/2006/chart" r:id="rId5"/>
          </a:graphicData>
        </a:graphic>
      </p:graphicFrame>
      <p:sp>
        <p:nvSpPr>
          <p:cNvPr id="25" name="Rounded Rectangle 24"/>
          <p:cNvSpPr/>
          <p:nvPr/>
        </p:nvSpPr>
        <p:spPr>
          <a:xfrm>
            <a:off x="142875" y="4785777"/>
            <a:ext cx="11906250" cy="1807116"/>
          </a:xfrm>
          <a:prstGeom prst="roundRect">
            <a:avLst>
              <a:gd name="adj" fmla="val 421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76225" y="4871502"/>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27" name="Rectangle 26"/>
          <p:cNvSpPr/>
          <p:nvPr/>
        </p:nvSpPr>
        <p:spPr>
          <a:xfrm>
            <a:off x="276225" y="5109627"/>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76225" y="5195352"/>
            <a:ext cx="11639550" cy="1321341"/>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7"/>
          <a:stretch>
            <a:fillRect/>
          </a:stretch>
        </p:blipFill>
        <p:spPr>
          <a:xfrm>
            <a:off x="3602831" y="1522714"/>
            <a:ext cx="157162" cy="228600"/>
          </a:xfrm>
          <a:prstGeom prst="rect">
            <a:avLst/>
          </a:prstGeom>
        </p:spPr>
      </p:pic>
      <p:pic>
        <p:nvPicPr>
          <p:cNvPr id="31" name="Picture 30" descr="lock.png"/>
          <p:cNvPicPr>
            <a:picLocks noChangeAspect="1"/>
          </p:cNvPicPr>
          <p:nvPr/>
        </p:nvPicPr>
        <p:blipFill>
          <a:blip r:embed="rId7"/>
          <a:stretch>
            <a:fillRect/>
          </a:stretch>
        </p:blipFill>
        <p:spPr>
          <a:xfrm>
            <a:off x="8412956" y="1522714"/>
            <a:ext cx="157162" cy="228600"/>
          </a:xfrm>
          <a:prstGeom prst="rect">
            <a:avLst/>
          </a:prstGeom>
        </p:spPr>
      </p:pic>
      <p:pic>
        <p:nvPicPr>
          <p:cNvPr id="32" name="Picture 31" descr="lock.png"/>
          <p:cNvPicPr>
            <a:picLocks noChangeAspect="1"/>
          </p:cNvPicPr>
          <p:nvPr/>
        </p:nvPicPr>
        <p:blipFill>
          <a:blip r:embed="rId7"/>
          <a:stretch>
            <a:fillRect/>
          </a:stretch>
        </p:blipFill>
        <p:spPr>
          <a:xfrm>
            <a:off x="10822781" y="1522714"/>
            <a:ext cx="157162" cy="228600"/>
          </a:xfrm>
          <a:prstGeom prst="rect">
            <a:avLst/>
          </a:prstGeom>
        </p:spPr>
      </p:pic>
      <p:pic>
        <p:nvPicPr>
          <p:cNvPr id="33" name="Picture 32" descr="lock.png"/>
          <p:cNvPicPr>
            <a:picLocks noChangeAspect="1"/>
          </p:cNvPicPr>
          <p:nvPr/>
        </p:nvPicPr>
        <p:blipFill>
          <a:blip r:embed="rId7"/>
          <a:stretch>
            <a:fillRect/>
          </a:stretch>
        </p:blipFill>
        <p:spPr>
          <a:xfrm>
            <a:off x="2104623" y="3299104"/>
            <a:ext cx="197242" cy="286897"/>
          </a:xfrm>
          <a:prstGeom prst="rect">
            <a:avLst/>
          </a:prstGeom>
        </p:spPr>
      </p:pic>
      <p:pic>
        <p:nvPicPr>
          <p:cNvPr id="34" name="Picture 33" descr="lock.png"/>
          <p:cNvPicPr>
            <a:picLocks noChangeAspect="1"/>
          </p:cNvPicPr>
          <p:nvPr/>
        </p:nvPicPr>
        <p:blipFill>
          <a:blip r:embed="rId7"/>
          <a:stretch>
            <a:fillRect/>
          </a:stretch>
        </p:blipFill>
        <p:spPr>
          <a:xfrm>
            <a:off x="6086073" y="3299104"/>
            <a:ext cx="197242" cy="286897"/>
          </a:xfrm>
          <a:prstGeom prst="rect">
            <a:avLst/>
          </a:prstGeom>
        </p:spPr>
      </p:pic>
      <p:pic>
        <p:nvPicPr>
          <p:cNvPr id="35" name="Picture 34" descr="lock.png"/>
          <p:cNvPicPr>
            <a:picLocks noChangeAspect="1"/>
          </p:cNvPicPr>
          <p:nvPr/>
        </p:nvPicPr>
        <p:blipFill>
          <a:blip r:embed="rId7"/>
          <a:stretch>
            <a:fillRect/>
          </a:stretch>
        </p:blipFill>
        <p:spPr>
          <a:xfrm>
            <a:off x="9278088" y="3145920"/>
            <a:ext cx="444576" cy="646656"/>
          </a:xfrm>
          <a:prstGeom prst="rect">
            <a:avLst/>
          </a:prstGeom>
        </p:spPr>
      </p:pic>
      <p:sp>
        <p:nvSpPr>
          <p:cNvPr id="36" name="TextBox 35"/>
          <p:cNvSpPr txBox="1"/>
          <p:nvPr/>
        </p:nvSpPr>
        <p:spPr>
          <a:xfrm>
            <a:off x="5758516" y="1377568"/>
            <a:ext cx="741641" cy="146456"/>
          </a:xfrm>
          <a:prstGeom prst="rect">
            <a:avLst/>
          </a:prstGeom>
          <a:noFill/>
        </p:spPr>
        <p:txBody>
          <a:bodyPr wrap="none" lIns="0" rIns="0" tIns="0" bIns="0">
            <a:spAutoFit/>
          </a:bodyPr>
          <a:lstStyle/>
          <a:p>
            <a:r>
              <a:rPr sz="835" b="1">
                <a:solidFill>
                  <a:srgbClr val="6C7A89"/>
                </a:solidFill>
                <a:latin typeface="Calibri"/>
              </a:rPr>
              <a:t>SOM (US$ MN)</a:t>
            </a:r>
          </a:p>
        </p:txBody>
      </p:sp>
      <p:pic>
        <p:nvPicPr>
          <p:cNvPr id="37" name="Picture 36" descr="lock.png"/>
          <p:cNvPicPr>
            <a:picLocks noChangeAspect="1"/>
          </p:cNvPicPr>
          <p:nvPr/>
        </p:nvPicPr>
        <p:blipFill>
          <a:blip r:embed="rId7"/>
          <a:stretch>
            <a:fillRect/>
          </a:stretch>
        </p:blipFill>
        <p:spPr>
          <a:xfrm>
            <a:off x="6017010" y="1533061"/>
            <a:ext cx="133378" cy="194005"/>
          </a:xfrm>
          <a:prstGeom prst="rect">
            <a:avLst/>
          </a:prstGeom>
        </p:spPr>
      </p:pic>
      <p:pic>
        <p:nvPicPr>
          <p:cNvPr id="38" name="Picture 37" descr="lock.png"/>
          <p:cNvPicPr>
            <a:picLocks noChangeAspect="1"/>
          </p:cNvPicPr>
          <p:nvPr/>
        </p:nvPicPr>
        <p:blipFill>
          <a:blip r:embed="rId7"/>
          <a:stretch>
            <a:fillRect/>
          </a:stretch>
        </p:blipFill>
        <p:spPr>
          <a:xfrm>
            <a:off x="5865805" y="1761621"/>
            <a:ext cx="97811" cy="142270"/>
          </a:xfrm>
          <a:prstGeom prst="rect">
            <a:avLst/>
          </a:prstGeom>
        </p:spPr>
      </p:pic>
      <p:sp>
        <p:nvSpPr>
          <p:cNvPr id="39" name="TextBox 38"/>
          <p:cNvSpPr txBox="1"/>
          <p:nvPr/>
        </p:nvSpPr>
        <p:spPr>
          <a:xfrm>
            <a:off x="5993102" y="1769053"/>
            <a:ext cx="389531" cy="146456"/>
          </a:xfrm>
          <a:prstGeom prst="rect">
            <a:avLst/>
          </a:prstGeom>
          <a:noFill/>
        </p:spPr>
        <p:txBody>
          <a:bodyPr wrap="none" lIns="0" rIns="0" tIns="0" bIns="0">
            <a:spAutoFit/>
          </a:bodyPr>
          <a:lstStyle/>
          <a:p>
            <a:r>
              <a:rPr sz="835" b="0">
                <a:solidFill>
                  <a:srgbClr val="6C7A89"/>
                </a:solidFill>
                <a:latin typeface="Calibri"/>
              </a:rPr>
              <a:t>of SAM</a:t>
            </a:r>
          </a:p>
        </p:txBody>
      </p:sp>
      <p:sp>
        <p:nvSpPr>
          <p:cNvPr id="40" name="TextBox 39"/>
          <p:cNvSpPr txBox="1"/>
          <p:nvPr/>
        </p:nvSpPr>
        <p:spPr>
          <a:xfrm>
            <a:off x="276225" y="5204877"/>
            <a:ext cx="2611501" cy="194310"/>
          </a:xfrm>
          <a:prstGeom prst="rect">
            <a:avLst/>
          </a:prstGeom>
          <a:noFill/>
        </p:spPr>
        <p:txBody>
          <a:bodyPr wrap="none" lIns="0" rIns="0" tIns="0" bIns="0">
            <a:spAutoFit/>
          </a:bodyPr>
          <a:lstStyle/>
          <a:p>
            <a:r>
              <a:rPr sz="1150" b="0">
                <a:solidFill>
                  <a:srgbClr val="2E2E2E"/>
                </a:solidFill>
                <a:latin typeface="Calibri"/>
              </a:rPr>
              <a:t>▪ Market Position: Kulzer GmbH captures ~</a:t>
            </a:r>
          </a:p>
        </p:txBody>
      </p:sp>
      <p:pic>
        <p:nvPicPr>
          <p:cNvPr id="41" name="Picture 40" descr="lock.png"/>
          <p:cNvPicPr>
            <a:picLocks noChangeAspect="1"/>
          </p:cNvPicPr>
          <p:nvPr/>
        </p:nvPicPr>
        <p:blipFill>
          <a:blip r:embed="rId7"/>
          <a:stretch>
            <a:fillRect/>
          </a:stretch>
        </p:blipFill>
        <p:spPr>
          <a:xfrm>
            <a:off x="2836880" y="5194653"/>
            <a:ext cx="134549" cy="195707"/>
          </a:xfrm>
          <a:prstGeom prst="rect">
            <a:avLst/>
          </a:prstGeom>
        </p:spPr>
      </p:pic>
      <p:sp>
        <p:nvSpPr>
          <p:cNvPr id="42" name="TextBox 41"/>
          <p:cNvSpPr txBox="1"/>
          <p:nvPr/>
        </p:nvSpPr>
        <p:spPr>
          <a:xfrm>
            <a:off x="3011989" y="5204877"/>
            <a:ext cx="5624958" cy="194310"/>
          </a:xfrm>
          <a:prstGeom prst="rect">
            <a:avLst/>
          </a:prstGeom>
          <a:noFill/>
        </p:spPr>
        <p:txBody>
          <a:bodyPr wrap="none" lIns="0" rIns="0" tIns="0" bIns="0">
            <a:spAutoFit/>
          </a:bodyPr>
          <a:lstStyle/>
          <a:p>
            <a:r>
              <a:rPr sz="1150" b="0">
                <a:solidFill>
                  <a:srgbClr val="2E2E2E"/>
                </a:solidFill>
                <a:latin typeface="Calibri"/>
              </a:rPr>
              <a:t>of a US$ Mn SAM, with its strongest end-market in 'Academic &amp; Teaching Dental Institutions'.</a:t>
            </a:r>
          </a:p>
        </p:txBody>
      </p:sp>
      <p:sp>
        <p:nvSpPr>
          <p:cNvPr id="43" name="TextBox 42"/>
          <p:cNvSpPr txBox="1"/>
          <p:nvPr/>
        </p:nvSpPr>
        <p:spPr>
          <a:xfrm>
            <a:off x="276225" y="5432715"/>
            <a:ext cx="7532737" cy="194310"/>
          </a:xfrm>
          <a:prstGeom prst="rect">
            <a:avLst/>
          </a:prstGeom>
          <a:noFill/>
        </p:spPr>
        <p:txBody>
          <a:bodyPr wrap="none" lIns="0" rIns="0" tIns="0" bIns="0">
            <a:spAutoFit/>
          </a:bodyPr>
          <a:lstStyle/>
          <a:p>
            <a:r>
              <a:rPr sz="1150" b="0">
                <a:solidFill>
                  <a:srgbClr val="2E2E2E"/>
                </a:solidFill>
                <a:latin typeface="Calibri"/>
              </a:rPr>
              <a:t>▪ Geographic Balance: 'Rest of the World' is the largest SOM region; 'Rest of the World' shows the highest SAM penetration (~</a:t>
            </a:r>
          </a:p>
        </p:txBody>
      </p:sp>
      <p:pic>
        <p:nvPicPr>
          <p:cNvPr id="44" name="Picture 43" descr="lock.png"/>
          <p:cNvPicPr>
            <a:picLocks noChangeAspect="1"/>
          </p:cNvPicPr>
          <p:nvPr/>
        </p:nvPicPr>
        <p:blipFill>
          <a:blip r:embed="rId7"/>
          <a:stretch>
            <a:fillRect/>
          </a:stretch>
        </p:blipFill>
        <p:spPr>
          <a:xfrm>
            <a:off x="7758116" y="5422491"/>
            <a:ext cx="134549" cy="195707"/>
          </a:xfrm>
          <a:prstGeom prst="rect">
            <a:avLst/>
          </a:prstGeom>
        </p:spPr>
      </p:pic>
      <p:sp>
        <p:nvSpPr>
          <p:cNvPr id="45" name="TextBox 44"/>
          <p:cNvSpPr txBox="1"/>
          <p:nvPr/>
        </p:nvSpPr>
        <p:spPr>
          <a:xfrm>
            <a:off x="7933225" y="5432715"/>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46" name="TextBox 45"/>
          <p:cNvSpPr txBox="1"/>
          <p:nvPr/>
        </p:nvSpPr>
        <p:spPr>
          <a:xfrm>
            <a:off x="276225" y="5660552"/>
            <a:ext cx="1391791" cy="194310"/>
          </a:xfrm>
          <a:prstGeom prst="rect">
            <a:avLst/>
          </a:prstGeom>
          <a:noFill/>
        </p:spPr>
        <p:txBody>
          <a:bodyPr wrap="none" lIns="0" rIns="0" tIns="0" bIns="0">
            <a:spAutoFit/>
          </a:bodyPr>
          <a:lstStyle/>
          <a:p>
            <a:r>
              <a:rPr sz="1150" b="0">
                <a:solidFill>
                  <a:srgbClr val="2E2E2E"/>
                </a:solidFill>
                <a:latin typeface="Calibri"/>
              </a:rPr>
              <a:t>▪ Growth Trajectory: a</a:t>
            </a:r>
          </a:p>
        </p:txBody>
      </p:sp>
      <p:pic>
        <p:nvPicPr>
          <p:cNvPr id="47" name="Picture 46" descr="lock.png"/>
          <p:cNvPicPr>
            <a:picLocks noChangeAspect="1"/>
          </p:cNvPicPr>
          <p:nvPr/>
        </p:nvPicPr>
        <p:blipFill>
          <a:blip r:embed="rId7"/>
          <a:stretch>
            <a:fillRect/>
          </a:stretch>
        </p:blipFill>
        <p:spPr>
          <a:xfrm>
            <a:off x="1617169" y="5650329"/>
            <a:ext cx="134549" cy="195707"/>
          </a:xfrm>
          <a:prstGeom prst="rect">
            <a:avLst/>
          </a:prstGeom>
        </p:spPr>
      </p:pic>
      <p:sp>
        <p:nvSpPr>
          <p:cNvPr id="48" name="TextBox 47"/>
          <p:cNvSpPr txBox="1"/>
          <p:nvPr/>
        </p:nvSpPr>
        <p:spPr>
          <a:xfrm>
            <a:off x="1792279" y="5660552"/>
            <a:ext cx="1129072" cy="194310"/>
          </a:xfrm>
          <a:prstGeom prst="rect">
            <a:avLst/>
          </a:prstGeom>
          <a:noFill/>
        </p:spPr>
        <p:txBody>
          <a:bodyPr wrap="none" lIns="0" rIns="0" tIns="0" bIns="0">
            <a:spAutoFit/>
          </a:bodyPr>
          <a:lstStyle/>
          <a:p>
            <a:r>
              <a:rPr sz="1150" b="0">
                <a:solidFill>
                  <a:srgbClr val="2E2E2E"/>
                </a:solidFill>
                <a:latin typeface="Calibri"/>
              </a:rPr>
              <a:t>book-to-bill and ~</a:t>
            </a:r>
          </a:p>
        </p:txBody>
      </p:sp>
      <p:pic>
        <p:nvPicPr>
          <p:cNvPr id="49" name="Picture 48" descr="lock.png"/>
          <p:cNvPicPr>
            <a:picLocks noChangeAspect="1"/>
          </p:cNvPicPr>
          <p:nvPr/>
        </p:nvPicPr>
        <p:blipFill>
          <a:blip r:embed="rId7"/>
          <a:stretch>
            <a:fillRect/>
          </a:stretch>
        </p:blipFill>
        <p:spPr>
          <a:xfrm>
            <a:off x="2870505" y="5650329"/>
            <a:ext cx="134549" cy="195707"/>
          </a:xfrm>
          <a:prstGeom prst="rect">
            <a:avLst/>
          </a:prstGeom>
        </p:spPr>
      </p:pic>
      <p:sp>
        <p:nvSpPr>
          <p:cNvPr id="50" name="TextBox 49"/>
          <p:cNvSpPr txBox="1"/>
          <p:nvPr/>
        </p:nvSpPr>
        <p:spPr>
          <a:xfrm>
            <a:off x="3045614" y="5660552"/>
            <a:ext cx="4503594" cy="194310"/>
          </a:xfrm>
          <a:prstGeom prst="rect">
            <a:avLst/>
          </a:prstGeom>
          <a:noFill/>
        </p:spPr>
        <p:txBody>
          <a:bodyPr wrap="none" lIns="0" rIns="0" tIns="0" bIns="0">
            <a:spAutoFit/>
          </a:bodyPr>
          <a:lstStyle/>
          <a:p>
            <a:r>
              <a:rPr sz="1150" b="0">
                <a:solidFill>
                  <a:srgbClr val="2E2E2E"/>
                </a:solidFill>
                <a:latin typeface="Calibri"/>
              </a:rPr>
              <a:t>EBITDA margin point to a path to capture more of the addressable market.</a:t>
            </a:r>
          </a:p>
        </p:txBody>
      </p:sp>
      <p:sp>
        <p:nvSpPr>
          <p:cNvPr id="51" name="TextBox 50"/>
          <p:cNvSpPr txBox="1"/>
          <p:nvPr/>
        </p:nvSpPr>
        <p:spPr>
          <a:xfrm>
            <a:off x="276225" y="5888390"/>
            <a:ext cx="1353535" cy="194310"/>
          </a:xfrm>
          <a:prstGeom prst="rect">
            <a:avLst/>
          </a:prstGeom>
          <a:noFill/>
        </p:spPr>
        <p:txBody>
          <a:bodyPr wrap="none" lIns="0" rIns="0" tIns="0" bIns="0">
            <a:spAutoFit/>
          </a:bodyPr>
          <a:lstStyle/>
          <a:p>
            <a:r>
              <a:rPr sz="1150" b="0">
                <a:solidFill>
                  <a:srgbClr val="2E2E2E"/>
                </a:solidFill>
                <a:latin typeface="Calibri"/>
              </a:rPr>
              <a:t>▪ Competitive Edge: ~</a:t>
            </a:r>
          </a:p>
        </p:txBody>
      </p:sp>
      <p:pic>
        <p:nvPicPr>
          <p:cNvPr id="52" name="Picture 51" descr="lock.png"/>
          <p:cNvPicPr>
            <a:picLocks noChangeAspect="1"/>
          </p:cNvPicPr>
          <p:nvPr/>
        </p:nvPicPr>
        <p:blipFill>
          <a:blip r:embed="rId7"/>
          <a:stretch>
            <a:fillRect/>
          </a:stretch>
        </p:blipFill>
        <p:spPr>
          <a:xfrm>
            <a:off x="1578914" y="5878167"/>
            <a:ext cx="134549" cy="195707"/>
          </a:xfrm>
          <a:prstGeom prst="rect">
            <a:avLst/>
          </a:prstGeom>
        </p:spPr>
      </p:pic>
      <p:sp>
        <p:nvSpPr>
          <p:cNvPr id="53" name="TextBox 52"/>
          <p:cNvSpPr txBox="1"/>
          <p:nvPr/>
        </p:nvSpPr>
        <p:spPr>
          <a:xfrm>
            <a:off x="1754024" y="5888390"/>
            <a:ext cx="1072591" cy="194310"/>
          </a:xfrm>
          <a:prstGeom prst="rect">
            <a:avLst/>
          </a:prstGeom>
          <a:noFill/>
        </p:spPr>
        <p:txBody>
          <a:bodyPr wrap="none" lIns="0" rIns="0" tIns="0" bIns="0">
            <a:spAutoFit/>
          </a:bodyPr>
          <a:lstStyle/>
          <a:p>
            <a:r>
              <a:rPr sz="1150" b="0">
                <a:solidFill>
                  <a:srgbClr val="2E2E2E"/>
                </a:solidFill>
                <a:latin typeface="Calibri"/>
              </a:rPr>
              <a:t>win rate with a +</a:t>
            </a:r>
          </a:p>
        </p:txBody>
      </p:sp>
      <p:pic>
        <p:nvPicPr>
          <p:cNvPr id="54" name="Picture 53" descr="lock.png"/>
          <p:cNvPicPr>
            <a:picLocks noChangeAspect="1"/>
          </p:cNvPicPr>
          <p:nvPr/>
        </p:nvPicPr>
        <p:blipFill>
          <a:blip r:embed="rId7"/>
          <a:stretch>
            <a:fillRect/>
          </a:stretch>
        </p:blipFill>
        <p:spPr>
          <a:xfrm>
            <a:off x="2775769" y="5878167"/>
            <a:ext cx="134549" cy="195707"/>
          </a:xfrm>
          <a:prstGeom prst="rect">
            <a:avLst/>
          </a:prstGeom>
        </p:spPr>
      </p:pic>
      <p:sp>
        <p:nvSpPr>
          <p:cNvPr id="55" name="TextBox 54"/>
          <p:cNvSpPr txBox="1"/>
          <p:nvPr/>
        </p:nvSpPr>
        <p:spPr>
          <a:xfrm>
            <a:off x="2950879" y="5888390"/>
            <a:ext cx="1137059" cy="194310"/>
          </a:xfrm>
          <a:prstGeom prst="rect">
            <a:avLst/>
          </a:prstGeom>
          <a:noFill/>
        </p:spPr>
        <p:txBody>
          <a:bodyPr wrap="none" lIns="0" rIns="0" tIns="0" bIns="0">
            <a:spAutoFit/>
          </a:bodyPr>
          <a:lstStyle/>
          <a:p>
            <a:r>
              <a:rPr sz="1150" b="0">
                <a:solidFill>
                  <a:srgbClr val="2E2E2E"/>
                </a:solidFill>
                <a:latin typeface="Calibri"/>
              </a:rPr>
              <a:t>ASP premium and</a:t>
            </a:r>
          </a:p>
        </p:txBody>
      </p:sp>
      <p:pic>
        <p:nvPicPr>
          <p:cNvPr id="56" name="Picture 55" descr="lock.png"/>
          <p:cNvPicPr>
            <a:picLocks noChangeAspect="1"/>
          </p:cNvPicPr>
          <p:nvPr/>
        </p:nvPicPr>
        <p:blipFill>
          <a:blip r:embed="rId7"/>
          <a:stretch>
            <a:fillRect/>
          </a:stretch>
        </p:blipFill>
        <p:spPr>
          <a:xfrm>
            <a:off x="4037092" y="5878167"/>
            <a:ext cx="134549" cy="195707"/>
          </a:xfrm>
          <a:prstGeom prst="rect">
            <a:avLst/>
          </a:prstGeom>
        </p:spPr>
      </p:pic>
      <p:sp>
        <p:nvSpPr>
          <p:cNvPr id="57" name="TextBox 56"/>
          <p:cNvSpPr txBox="1"/>
          <p:nvPr/>
        </p:nvSpPr>
        <p:spPr>
          <a:xfrm>
            <a:off x="4212201" y="5888390"/>
            <a:ext cx="1259147" cy="194310"/>
          </a:xfrm>
          <a:prstGeom prst="rect">
            <a:avLst/>
          </a:prstGeom>
          <a:noFill/>
        </p:spPr>
        <p:txBody>
          <a:bodyPr wrap="none" lIns="0" rIns="0" tIns="0" bIns="0">
            <a:spAutoFit/>
          </a:bodyPr>
          <a:lstStyle/>
          <a:p>
            <a:r>
              <a:rPr sz="1150" b="0">
                <a:solidFill>
                  <a:srgbClr val="2E2E2E"/>
                </a:solidFill>
                <a:latin typeface="Calibri"/>
              </a:rPr>
              <a:t>x pipeline coverage.</a:t>
            </a:r>
          </a:p>
        </p:txBody>
      </p:sp>
      <p:sp>
        <p:nvSpPr>
          <p:cNvPr id="58" name="lockshield_18"/>
          <p:cNvSpPr/>
          <p:nvPr/>
        </p:nvSpPr>
        <p:spPr>
          <a:xfrm>
            <a:off x="23812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lockshield_21"/>
          <p:cNvSpPr/>
          <p:nvPr/>
        </p:nvSpPr>
        <p:spPr>
          <a:xfrm>
            <a:off x="421957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lockshield_24"/>
          <p:cNvSpPr/>
          <p:nvPr/>
        </p:nvSpPr>
        <p:spPr>
          <a:xfrm>
            <a:off x="8201025" y="2351726"/>
            <a:ext cx="37528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Kulzer GmbH Regional Penetration &amp; Win Position (2/5)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penetration and competitive positioning highlighting growth potential, win rates and sales efficiency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Regional penetration and competitive positioning Kulzer GmbH: SOM vs SAM by region, win position, TAM/SAM/SOM and go-to-market benchmarks.</a:t>
            </a:r>
          </a:p>
        </p:txBody>
      </p:sp>
      <p:sp>
        <p:nvSpPr>
          <p:cNvPr id="11" name="Rounded Rectangle 10"/>
          <p:cNvSpPr/>
          <p:nvPr/>
        </p:nvSpPr>
        <p:spPr>
          <a:xfrm>
            <a:off x="142875" y="1299320"/>
            <a:ext cx="590550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vs SAM Penetration by Region</a:t>
            </a:r>
          </a:p>
        </p:txBody>
      </p:sp>
      <p:graphicFrame>
        <p:nvGraphicFramePr>
          <p:cNvPr id="13" name="Chart 12"/>
          <p:cNvGraphicFramePr>
            <a:graphicFrameLocks noGrp="1"/>
          </p:cNvGraphicFramePr>
          <p:nvPr/>
        </p:nvGraphicFramePr>
        <p:xfrm>
          <a:off x="238125" y="1585070"/>
          <a:ext cx="5715000" cy="1920559"/>
        </p:xfrm>
        <a:graphic>
          <a:graphicData uri="http://schemas.openxmlformats.org/drawingml/2006/chart">
            <c:chart xmlns:c="http://schemas.openxmlformats.org/drawingml/2006/chart" r:id="rId3"/>
          </a:graphicData>
        </a:graphic>
      </p:graphicFrame>
      <p:sp>
        <p:nvSpPr>
          <p:cNvPr id="14" name="Rounded Rectangle 13"/>
          <p:cNvSpPr/>
          <p:nvPr/>
        </p:nvSpPr>
        <p:spPr>
          <a:xfrm>
            <a:off x="6162675" y="1299320"/>
            <a:ext cx="588645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57925" y="1356470"/>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Competitive Win Position</a:t>
            </a:r>
          </a:p>
        </p:txBody>
      </p:sp>
      <p:cxnSp>
        <p:nvCxnSpPr>
          <p:cNvPr id="16" name="Connector 15"/>
          <p:cNvCxnSpPr/>
          <p:nvPr/>
        </p:nvCxnSpPr>
        <p:spPr>
          <a:xfrm>
            <a:off x="6581775" y="3219879"/>
            <a:ext cx="5257800" cy="0"/>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81775" y="1680320"/>
            <a:ext cx="0" cy="1539559"/>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6467475" y="3238929"/>
            <a:ext cx="228600" cy="114300"/>
          </a:xfrm>
          <a:prstGeom prst="rect">
            <a:avLst/>
          </a:prstGeom>
          <a:noFill/>
        </p:spPr>
        <p:txBody>
          <a:bodyPr wrap="none" lIns="0" rIns="0" tIns="0" bIns="0">
            <a:spAutoFit/>
          </a:bodyPr>
          <a:lstStyle/>
          <a:p>
            <a:pPr algn="ctr"/>
            <a:r>
              <a:rPr sz="1100" b="0">
                <a:solidFill>
                  <a:srgbClr val="6C7A89"/>
                </a:solidFill>
                <a:latin typeface="Calibri"/>
              </a:rPr>
              <a:t>0</a:t>
            </a:r>
          </a:p>
        </p:txBody>
      </p:sp>
      <p:sp>
        <p:nvSpPr>
          <p:cNvPr id="19" name="TextBox 18"/>
          <p:cNvSpPr txBox="1"/>
          <p:nvPr/>
        </p:nvSpPr>
        <p:spPr>
          <a:xfrm>
            <a:off x="7969704" y="3238929"/>
            <a:ext cx="228600" cy="114300"/>
          </a:xfrm>
          <a:prstGeom prst="rect">
            <a:avLst/>
          </a:prstGeom>
          <a:noFill/>
        </p:spPr>
        <p:txBody>
          <a:bodyPr wrap="none" lIns="0" rIns="0" tIns="0" bIns="0">
            <a:spAutoFit/>
          </a:bodyPr>
          <a:lstStyle/>
          <a:p>
            <a:pPr algn="ctr"/>
            <a:r>
              <a:rPr sz="1100" b="0">
                <a:solidFill>
                  <a:srgbClr val="6C7A89"/>
                </a:solidFill>
                <a:latin typeface="Calibri"/>
              </a:rPr>
              <a:t>1</a:t>
            </a:r>
          </a:p>
        </p:txBody>
      </p:sp>
      <p:sp>
        <p:nvSpPr>
          <p:cNvPr id="20" name="TextBox 19"/>
          <p:cNvSpPr txBox="1"/>
          <p:nvPr/>
        </p:nvSpPr>
        <p:spPr>
          <a:xfrm>
            <a:off x="9471932" y="3238929"/>
            <a:ext cx="228600" cy="114300"/>
          </a:xfrm>
          <a:prstGeom prst="rect">
            <a:avLst/>
          </a:prstGeom>
          <a:noFill/>
        </p:spPr>
        <p:txBody>
          <a:bodyPr wrap="none" lIns="0" rIns="0" tIns="0" bIns="0">
            <a:spAutoFit/>
          </a:bodyPr>
          <a:lstStyle/>
          <a:p>
            <a:pPr algn="ctr"/>
            <a:r>
              <a:rPr sz="1100" b="0">
                <a:solidFill>
                  <a:srgbClr val="6C7A89"/>
                </a:solidFill>
                <a:latin typeface="Calibri"/>
              </a:rPr>
              <a:t>2</a:t>
            </a:r>
          </a:p>
        </p:txBody>
      </p:sp>
      <p:sp>
        <p:nvSpPr>
          <p:cNvPr id="21" name="TextBox 20"/>
          <p:cNvSpPr txBox="1"/>
          <p:nvPr/>
        </p:nvSpPr>
        <p:spPr>
          <a:xfrm>
            <a:off x="10974161" y="3238929"/>
            <a:ext cx="228600" cy="114300"/>
          </a:xfrm>
          <a:prstGeom prst="rect">
            <a:avLst/>
          </a:prstGeom>
          <a:noFill/>
        </p:spPr>
        <p:txBody>
          <a:bodyPr wrap="none" lIns="0" rIns="0" tIns="0" bIns="0">
            <a:spAutoFit/>
          </a:bodyPr>
          <a:lstStyle/>
          <a:p>
            <a:pPr algn="ctr"/>
            <a:r>
              <a:rPr sz="1100" b="0">
                <a:solidFill>
                  <a:srgbClr val="6C7A89"/>
                </a:solidFill>
                <a:latin typeface="Calibri"/>
              </a:rPr>
              <a:t>3</a:t>
            </a:r>
          </a:p>
        </p:txBody>
      </p:sp>
      <p:sp>
        <p:nvSpPr>
          <p:cNvPr id="22" name="TextBox 21"/>
          <p:cNvSpPr txBox="1"/>
          <p:nvPr/>
        </p:nvSpPr>
        <p:spPr>
          <a:xfrm>
            <a:off x="6581775" y="3353229"/>
            <a:ext cx="5257800" cy="114300"/>
          </a:xfrm>
          <a:prstGeom prst="rect">
            <a:avLst/>
          </a:prstGeom>
          <a:noFill/>
        </p:spPr>
        <p:txBody>
          <a:bodyPr wrap="square" lIns="28575" rIns="28575" tIns="9525" bIns="9525">
            <a:spAutoFit/>
          </a:bodyPr>
          <a:lstStyle/>
          <a:p>
            <a:pPr algn="ctr"/>
            <a:r>
              <a:rPr sz="1100" b="0">
                <a:solidFill>
                  <a:srgbClr val="6C7A89"/>
                </a:solidFill>
                <a:latin typeface="Calibri"/>
              </a:rPr>
              <a:t>Win Rate %</a:t>
            </a:r>
          </a:p>
        </p:txBody>
      </p:sp>
      <p:sp>
        <p:nvSpPr>
          <p:cNvPr id="23" name="TextBox 22"/>
          <p:cNvSpPr txBox="1"/>
          <p:nvPr/>
        </p:nvSpPr>
        <p:spPr>
          <a:xfrm rot="16200000">
            <a:off x="6029325" y="2373900"/>
            <a:ext cx="571500" cy="152400"/>
          </a:xfrm>
          <a:prstGeom prst="rect">
            <a:avLst/>
          </a:prstGeom>
          <a:noFill/>
        </p:spPr>
        <p:txBody>
          <a:bodyPr wrap="square" lIns="28575" rIns="28575" tIns="9525" bIns="9525">
            <a:spAutoFit/>
          </a:bodyPr>
          <a:lstStyle/>
          <a:p>
            <a:pPr algn="ctr"/>
            <a:r>
              <a:rPr sz="1100" b="0">
                <a:solidFill>
                  <a:srgbClr val="6C7A89"/>
                </a:solidFill>
                <a:latin typeface="Calibri"/>
              </a:rPr>
              <a:t>ASP vs Peer</a:t>
            </a:r>
          </a:p>
        </p:txBody>
      </p:sp>
      <p:sp>
        <p:nvSpPr>
          <p:cNvPr id="24" name="Oval 23"/>
          <p:cNvSpPr/>
          <p:nvPr/>
        </p:nvSpPr>
        <p:spPr>
          <a:xfrm>
            <a:off x="7900089" y="1979874"/>
            <a:ext cx="247650" cy="247650"/>
          </a:xfrm>
          <a:prstGeom prst="ellipse">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8185839" y="201797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Kulzer GmbH</a:t>
            </a:r>
          </a:p>
        </p:txBody>
      </p:sp>
      <p:sp>
        <p:nvSpPr>
          <p:cNvPr id="26" name="Oval 25"/>
          <p:cNvSpPr/>
          <p:nvPr/>
        </p:nvSpPr>
        <p:spPr>
          <a:xfrm>
            <a:off x="9283609" y="1912810"/>
            <a:ext cx="304800" cy="304800"/>
          </a:xfrm>
          <a:prstGeom prst="ellipse">
            <a:avLst/>
          </a:prstGeom>
          <a:solidFill>
            <a:srgbClr val="8C8C8C"/>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9626509" y="1979485"/>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Industry Avg.</a:t>
            </a:r>
          </a:p>
        </p:txBody>
      </p:sp>
      <p:sp>
        <p:nvSpPr>
          <p:cNvPr id="28" name="Oval 27"/>
          <p:cNvSpPr/>
          <p:nvPr/>
        </p:nvSpPr>
        <p:spPr>
          <a:xfrm>
            <a:off x="10513967" y="2711164"/>
            <a:ext cx="247650" cy="247650"/>
          </a:xfrm>
          <a:prstGeom prst="ellipse">
            <a:avLst/>
          </a:prstGeom>
          <a:solidFill>
            <a:srgbClr val="0E72AE"/>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10706100" y="274926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Market Leader</a:t>
            </a:r>
          </a:p>
        </p:txBody>
      </p:sp>
      <p:sp>
        <p:nvSpPr>
          <p:cNvPr id="30" name="Rounded Rectangle 29"/>
          <p:cNvSpPr/>
          <p:nvPr/>
        </p:nvSpPr>
        <p:spPr>
          <a:xfrm>
            <a:off x="142875" y="3635794"/>
            <a:ext cx="590550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 y="3692944"/>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TAM · SAM · SOM (US$ Mn)</a:t>
            </a:r>
          </a:p>
        </p:txBody>
      </p:sp>
      <p:sp>
        <p:nvSpPr>
          <p:cNvPr id="32" name="Rectangle 31"/>
          <p:cNvSpPr/>
          <p:nvPr/>
        </p:nvSpPr>
        <p:spPr>
          <a:xfrm>
            <a:off x="238125" y="3921544"/>
            <a:ext cx="5715000" cy="363195"/>
          </a:xfrm>
          <a:prstGeom prst="rect">
            <a:avLst/>
          </a:prstGeom>
          <a:solidFill>
            <a:srgbClr val="0A2E4D"/>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3" name="Rectangle 32"/>
          <p:cNvSpPr/>
          <p:nvPr/>
        </p:nvSpPr>
        <p:spPr>
          <a:xfrm>
            <a:off x="238125" y="4399039"/>
            <a:ext cx="4400550" cy="363195"/>
          </a:xfrm>
          <a:prstGeom prst="rect">
            <a:avLst/>
          </a:prstGeom>
          <a:solidFill>
            <a:srgbClr val="1668A8"/>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4" name="Rectangle 33"/>
          <p:cNvSpPr/>
          <p:nvPr/>
        </p:nvSpPr>
        <p:spPr>
          <a:xfrm>
            <a:off x="238125" y="4876535"/>
            <a:ext cx="3086100" cy="363195"/>
          </a:xfrm>
          <a:prstGeom prst="rect">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5" name="Rounded Rectangle 34"/>
          <p:cNvSpPr/>
          <p:nvPr/>
        </p:nvSpPr>
        <p:spPr>
          <a:xfrm>
            <a:off x="6162675" y="3635794"/>
            <a:ext cx="588645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257925" y="3692944"/>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Go-to-Market Benchmarks (Target vs Actual)</a:t>
            </a:r>
          </a:p>
        </p:txBody>
      </p:sp>
      <p:sp>
        <p:nvSpPr>
          <p:cNvPr id="37" name="Rectangle 36"/>
          <p:cNvSpPr/>
          <p:nvPr/>
        </p:nvSpPr>
        <p:spPr>
          <a:xfrm>
            <a:off x="10391775" y="3940594"/>
            <a:ext cx="95250" cy="95250"/>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1050607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Target</a:t>
            </a:r>
          </a:p>
        </p:txBody>
      </p:sp>
      <p:sp>
        <p:nvSpPr>
          <p:cNvPr id="39" name="Rectangle 38"/>
          <p:cNvSpPr/>
          <p:nvPr/>
        </p:nvSpPr>
        <p:spPr>
          <a:xfrm>
            <a:off x="11134725" y="3940594"/>
            <a:ext cx="95250" cy="95250"/>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1124902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Actual</a:t>
            </a:r>
          </a:p>
        </p:txBody>
      </p:sp>
      <p:sp>
        <p:nvSpPr>
          <p:cNvPr id="41" name="TextBox 40"/>
          <p:cNvSpPr txBox="1"/>
          <p:nvPr/>
        </p:nvSpPr>
        <p:spPr>
          <a:xfrm>
            <a:off x="6276975" y="4153941"/>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Conversion (%)</a:t>
            </a:r>
          </a:p>
        </p:txBody>
      </p:sp>
      <p:sp>
        <p:nvSpPr>
          <p:cNvPr id="42" name="Rectangle 41"/>
          <p:cNvSpPr/>
          <p:nvPr/>
        </p:nvSpPr>
        <p:spPr>
          <a:xfrm>
            <a:off x="7381875" y="4164998"/>
            <a:ext cx="1775460"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7381875" y="4277766"/>
            <a:ext cx="3195828"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6276975" y="4466337"/>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Sales Cycle (Days)</a:t>
            </a:r>
          </a:p>
        </p:txBody>
      </p:sp>
      <p:sp>
        <p:nvSpPr>
          <p:cNvPr id="45" name="Rectangle 44"/>
          <p:cNvSpPr/>
          <p:nvPr/>
        </p:nvSpPr>
        <p:spPr>
          <a:xfrm>
            <a:off x="7381875" y="4477393"/>
            <a:ext cx="3817239"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7381875" y="4590162"/>
            <a:ext cx="2219325"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6276975" y="4778732"/>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Pipeline Coverage</a:t>
            </a:r>
          </a:p>
        </p:txBody>
      </p:sp>
      <p:sp>
        <p:nvSpPr>
          <p:cNvPr id="48" name="Rectangle 47"/>
          <p:cNvSpPr/>
          <p:nvPr/>
        </p:nvSpPr>
        <p:spPr>
          <a:xfrm>
            <a:off x="7381875" y="4789789"/>
            <a:ext cx="2130552"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7381875" y="4902557"/>
            <a:ext cx="3550920"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ounded Rectangle 49"/>
          <p:cNvSpPr/>
          <p:nvPr/>
        </p:nvSpPr>
        <p:spPr>
          <a:xfrm>
            <a:off x="142875" y="5369895"/>
            <a:ext cx="11906250" cy="1259505"/>
          </a:xfrm>
          <a:prstGeom prst="roundRect">
            <a:avLst>
              <a:gd name="adj" fmla="val 60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276225" y="545562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52" name="Rectangle 51"/>
          <p:cNvSpPr/>
          <p:nvPr/>
        </p:nvSpPr>
        <p:spPr>
          <a:xfrm>
            <a:off x="276225" y="569374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76225" y="5779470"/>
            <a:ext cx="11639550" cy="77373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4" name="TextBox 5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5" name="Picture 54" descr="lock.png"/>
          <p:cNvPicPr>
            <a:picLocks noChangeAspect="1"/>
          </p:cNvPicPr>
          <p:nvPr/>
        </p:nvPicPr>
        <p:blipFill>
          <a:blip r:embed="rId5"/>
          <a:stretch>
            <a:fillRect/>
          </a:stretch>
        </p:blipFill>
        <p:spPr>
          <a:xfrm>
            <a:off x="3327425" y="2314517"/>
            <a:ext cx="199521" cy="290213"/>
          </a:xfrm>
          <a:prstGeom prst="rect">
            <a:avLst/>
          </a:prstGeom>
        </p:spPr>
      </p:pic>
      <p:sp>
        <p:nvSpPr>
          <p:cNvPr id="56" name="TextBox 55"/>
          <p:cNvSpPr txBox="1"/>
          <p:nvPr/>
        </p:nvSpPr>
        <p:spPr>
          <a:xfrm>
            <a:off x="352425" y="4015511"/>
            <a:ext cx="871202" cy="194310"/>
          </a:xfrm>
          <a:prstGeom prst="rect">
            <a:avLst/>
          </a:prstGeom>
          <a:noFill/>
        </p:spPr>
        <p:txBody>
          <a:bodyPr wrap="none" lIns="0" rIns="0" tIns="0" bIns="0">
            <a:spAutoFit/>
          </a:bodyPr>
          <a:lstStyle/>
          <a:p>
            <a:r>
              <a:rPr sz="1150" b="1">
                <a:solidFill>
                  <a:srgbClr val="FFFFFF"/>
                </a:solidFill>
                <a:latin typeface="Calibri"/>
              </a:rPr>
              <a:t>TAM · 100% ·</a:t>
            </a:r>
          </a:p>
        </p:txBody>
      </p:sp>
      <p:pic>
        <p:nvPicPr>
          <p:cNvPr id="57" name="Picture 56" descr="lock.png"/>
          <p:cNvPicPr>
            <a:picLocks noChangeAspect="1"/>
          </p:cNvPicPr>
          <p:nvPr/>
        </p:nvPicPr>
        <p:blipFill>
          <a:blip r:embed="rId5"/>
          <a:stretch>
            <a:fillRect/>
          </a:stretch>
        </p:blipFill>
        <p:spPr>
          <a:xfrm>
            <a:off x="1172781" y="4005288"/>
            <a:ext cx="134549" cy="195707"/>
          </a:xfrm>
          <a:prstGeom prst="rect">
            <a:avLst/>
          </a:prstGeom>
        </p:spPr>
      </p:pic>
      <p:sp>
        <p:nvSpPr>
          <p:cNvPr id="58" name="TextBox 57"/>
          <p:cNvSpPr txBox="1"/>
          <p:nvPr/>
        </p:nvSpPr>
        <p:spPr>
          <a:xfrm>
            <a:off x="1347890" y="4015511"/>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59" name="TextBox 58"/>
          <p:cNvSpPr txBox="1"/>
          <p:nvPr/>
        </p:nvSpPr>
        <p:spPr>
          <a:xfrm>
            <a:off x="352425" y="4493006"/>
            <a:ext cx="433623" cy="194310"/>
          </a:xfrm>
          <a:prstGeom prst="rect">
            <a:avLst/>
          </a:prstGeom>
          <a:noFill/>
        </p:spPr>
        <p:txBody>
          <a:bodyPr wrap="none" lIns="0" rIns="0" tIns="0" bIns="0">
            <a:spAutoFit/>
          </a:bodyPr>
          <a:lstStyle/>
          <a:p>
            <a:r>
              <a:rPr sz="1150" b="1">
                <a:solidFill>
                  <a:srgbClr val="FFFFFF"/>
                </a:solidFill>
                <a:latin typeface="Calibri"/>
              </a:rPr>
              <a:t>SAM ·</a:t>
            </a:r>
          </a:p>
        </p:txBody>
      </p:sp>
      <p:pic>
        <p:nvPicPr>
          <p:cNvPr id="60" name="Picture 59" descr="lock.png"/>
          <p:cNvPicPr>
            <a:picLocks noChangeAspect="1"/>
          </p:cNvPicPr>
          <p:nvPr/>
        </p:nvPicPr>
        <p:blipFill>
          <a:blip r:embed="rId5"/>
          <a:stretch>
            <a:fillRect/>
          </a:stretch>
        </p:blipFill>
        <p:spPr>
          <a:xfrm>
            <a:off x="735202" y="4482783"/>
            <a:ext cx="134549" cy="195707"/>
          </a:xfrm>
          <a:prstGeom prst="rect">
            <a:avLst/>
          </a:prstGeom>
        </p:spPr>
      </p:pic>
      <p:sp>
        <p:nvSpPr>
          <p:cNvPr id="61" name="TextBox 60"/>
          <p:cNvSpPr txBox="1"/>
          <p:nvPr/>
        </p:nvSpPr>
        <p:spPr>
          <a:xfrm>
            <a:off x="910311" y="4493006"/>
            <a:ext cx="594791" cy="194310"/>
          </a:xfrm>
          <a:prstGeom prst="rect">
            <a:avLst/>
          </a:prstGeom>
          <a:noFill/>
        </p:spPr>
        <p:txBody>
          <a:bodyPr wrap="none" lIns="0" rIns="0" tIns="0" bIns="0">
            <a:spAutoFit/>
          </a:bodyPr>
          <a:lstStyle/>
          <a:p>
            <a:r>
              <a:rPr sz="1150" b="1">
                <a:solidFill>
                  <a:srgbClr val="FFFFFF"/>
                </a:solidFill>
                <a:latin typeface="Calibri"/>
              </a:rPr>
              <a:t>of TAM ·</a:t>
            </a:r>
          </a:p>
        </p:txBody>
      </p:sp>
      <p:pic>
        <p:nvPicPr>
          <p:cNvPr id="62" name="Picture 61" descr="lock.png"/>
          <p:cNvPicPr>
            <a:picLocks noChangeAspect="1"/>
          </p:cNvPicPr>
          <p:nvPr/>
        </p:nvPicPr>
        <p:blipFill>
          <a:blip r:embed="rId5"/>
          <a:stretch>
            <a:fillRect/>
          </a:stretch>
        </p:blipFill>
        <p:spPr>
          <a:xfrm>
            <a:off x="1454256" y="4482783"/>
            <a:ext cx="134549" cy="195707"/>
          </a:xfrm>
          <a:prstGeom prst="rect">
            <a:avLst/>
          </a:prstGeom>
        </p:spPr>
      </p:pic>
      <p:sp>
        <p:nvSpPr>
          <p:cNvPr id="63" name="TextBox 62"/>
          <p:cNvSpPr txBox="1"/>
          <p:nvPr/>
        </p:nvSpPr>
        <p:spPr>
          <a:xfrm>
            <a:off x="1629366" y="4493006"/>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64" name="TextBox 63"/>
          <p:cNvSpPr txBox="1"/>
          <p:nvPr/>
        </p:nvSpPr>
        <p:spPr>
          <a:xfrm>
            <a:off x="352425" y="4970502"/>
            <a:ext cx="443892" cy="194310"/>
          </a:xfrm>
          <a:prstGeom prst="rect">
            <a:avLst/>
          </a:prstGeom>
          <a:noFill/>
        </p:spPr>
        <p:txBody>
          <a:bodyPr wrap="none" lIns="0" rIns="0" tIns="0" bIns="0">
            <a:spAutoFit/>
          </a:bodyPr>
          <a:lstStyle/>
          <a:p>
            <a:r>
              <a:rPr sz="1150" b="1">
                <a:solidFill>
                  <a:srgbClr val="FFFFFF"/>
                </a:solidFill>
                <a:latin typeface="Calibri"/>
              </a:rPr>
              <a:t>SOM ·</a:t>
            </a:r>
          </a:p>
        </p:txBody>
      </p:sp>
      <p:pic>
        <p:nvPicPr>
          <p:cNvPr id="65" name="Picture 64" descr="lock.png"/>
          <p:cNvPicPr>
            <a:picLocks noChangeAspect="1"/>
          </p:cNvPicPr>
          <p:nvPr/>
        </p:nvPicPr>
        <p:blipFill>
          <a:blip r:embed="rId5"/>
          <a:stretch>
            <a:fillRect/>
          </a:stretch>
        </p:blipFill>
        <p:spPr>
          <a:xfrm>
            <a:off x="745471" y="4960279"/>
            <a:ext cx="134549" cy="195707"/>
          </a:xfrm>
          <a:prstGeom prst="rect">
            <a:avLst/>
          </a:prstGeom>
        </p:spPr>
      </p:pic>
      <p:sp>
        <p:nvSpPr>
          <p:cNvPr id="66" name="TextBox 65"/>
          <p:cNvSpPr txBox="1"/>
          <p:nvPr/>
        </p:nvSpPr>
        <p:spPr>
          <a:xfrm>
            <a:off x="920580" y="4970502"/>
            <a:ext cx="591368" cy="194310"/>
          </a:xfrm>
          <a:prstGeom prst="rect">
            <a:avLst/>
          </a:prstGeom>
          <a:noFill/>
        </p:spPr>
        <p:txBody>
          <a:bodyPr wrap="none" lIns="0" rIns="0" tIns="0" bIns="0">
            <a:spAutoFit/>
          </a:bodyPr>
          <a:lstStyle/>
          <a:p>
            <a:r>
              <a:rPr sz="1150" b="1">
                <a:solidFill>
                  <a:srgbClr val="FFFFFF"/>
                </a:solidFill>
                <a:latin typeface="Calibri"/>
              </a:rPr>
              <a:t>of SAM ·</a:t>
            </a:r>
          </a:p>
        </p:txBody>
      </p:sp>
      <p:pic>
        <p:nvPicPr>
          <p:cNvPr id="67" name="Picture 66" descr="lock.png"/>
          <p:cNvPicPr>
            <a:picLocks noChangeAspect="1"/>
          </p:cNvPicPr>
          <p:nvPr/>
        </p:nvPicPr>
        <p:blipFill>
          <a:blip r:embed="rId5"/>
          <a:stretch>
            <a:fillRect/>
          </a:stretch>
        </p:blipFill>
        <p:spPr>
          <a:xfrm>
            <a:off x="1461102" y="4960279"/>
            <a:ext cx="134549" cy="195707"/>
          </a:xfrm>
          <a:prstGeom prst="rect">
            <a:avLst/>
          </a:prstGeom>
        </p:spPr>
      </p:pic>
      <p:sp>
        <p:nvSpPr>
          <p:cNvPr id="68" name="TextBox 67"/>
          <p:cNvSpPr txBox="1"/>
          <p:nvPr/>
        </p:nvSpPr>
        <p:spPr>
          <a:xfrm>
            <a:off x="1636212" y="4970502"/>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69" name="TextBox 68"/>
          <p:cNvSpPr txBox="1"/>
          <p:nvPr/>
        </p:nvSpPr>
        <p:spPr>
          <a:xfrm>
            <a:off x="276225" y="5788995"/>
            <a:ext cx="7663656" cy="186689"/>
          </a:xfrm>
          <a:prstGeom prst="rect">
            <a:avLst/>
          </a:prstGeom>
          <a:noFill/>
        </p:spPr>
        <p:txBody>
          <a:bodyPr wrap="none" lIns="0" rIns="0" tIns="0" bIns="0">
            <a:spAutoFit/>
          </a:bodyPr>
          <a:lstStyle/>
          <a:p>
            <a:r>
              <a:rPr sz="1100" b="0">
                <a:solidFill>
                  <a:srgbClr val="2E2E2E"/>
                </a:solidFill>
                <a:latin typeface="Calibri"/>
              </a:rPr>
              <a:t>▪ Regional Opportunity: 'Rest of the World' shows the highest SAM penetration; lower-penetration regions are the growth headroom.</a:t>
            </a:r>
          </a:p>
        </p:txBody>
      </p:sp>
      <p:sp>
        <p:nvSpPr>
          <p:cNvPr id="70" name="TextBox 69"/>
          <p:cNvSpPr txBox="1"/>
          <p:nvPr/>
        </p:nvSpPr>
        <p:spPr>
          <a:xfrm>
            <a:off x="276225" y="6006927"/>
            <a:ext cx="1297999" cy="186689"/>
          </a:xfrm>
          <a:prstGeom prst="rect">
            <a:avLst/>
          </a:prstGeom>
          <a:noFill/>
        </p:spPr>
        <p:txBody>
          <a:bodyPr wrap="none" lIns="0" rIns="0" tIns="0" bIns="0">
            <a:spAutoFit/>
          </a:bodyPr>
          <a:lstStyle/>
          <a:p>
            <a:r>
              <a:rPr sz="1100" b="0">
                <a:solidFill>
                  <a:srgbClr val="2E2E2E"/>
                </a:solidFill>
                <a:latin typeface="Calibri"/>
              </a:rPr>
              <a:t>▪ Competitive Edge: ~</a:t>
            </a:r>
          </a:p>
        </p:txBody>
      </p:sp>
      <p:pic>
        <p:nvPicPr>
          <p:cNvPr id="71" name="Picture 70" descr="lock.png"/>
          <p:cNvPicPr>
            <a:picLocks noChangeAspect="1"/>
          </p:cNvPicPr>
          <p:nvPr/>
        </p:nvPicPr>
        <p:blipFill>
          <a:blip r:embed="rId5"/>
          <a:stretch>
            <a:fillRect/>
          </a:stretch>
        </p:blipFill>
        <p:spPr>
          <a:xfrm>
            <a:off x="1522276" y="5997147"/>
            <a:ext cx="128699" cy="187198"/>
          </a:xfrm>
          <a:prstGeom prst="rect">
            <a:avLst/>
          </a:prstGeom>
        </p:spPr>
      </p:pic>
      <p:sp>
        <p:nvSpPr>
          <p:cNvPr id="72" name="TextBox 71"/>
          <p:cNvSpPr txBox="1"/>
          <p:nvPr/>
        </p:nvSpPr>
        <p:spPr>
          <a:xfrm>
            <a:off x="1689771" y="6006927"/>
            <a:ext cx="1029270" cy="186689"/>
          </a:xfrm>
          <a:prstGeom prst="rect">
            <a:avLst/>
          </a:prstGeom>
          <a:noFill/>
        </p:spPr>
        <p:txBody>
          <a:bodyPr wrap="none" lIns="0" rIns="0" tIns="0" bIns="0">
            <a:spAutoFit/>
          </a:bodyPr>
          <a:lstStyle/>
          <a:p>
            <a:r>
              <a:rPr sz="1100" b="0">
                <a:solidFill>
                  <a:srgbClr val="2E2E2E"/>
                </a:solidFill>
                <a:latin typeface="Calibri"/>
              </a:rPr>
              <a:t>win rate with a +</a:t>
            </a:r>
          </a:p>
        </p:txBody>
      </p:sp>
      <p:pic>
        <p:nvPicPr>
          <p:cNvPr id="73" name="Picture 72" descr="lock.png"/>
          <p:cNvPicPr>
            <a:picLocks noChangeAspect="1"/>
          </p:cNvPicPr>
          <p:nvPr/>
        </p:nvPicPr>
        <p:blipFill>
          <a:blip r:embed="rId5"/>
          <a:stretch>
            <a:fillRect/>
          </a:stretch>
        </p:blipFill>
        <p:spPr>
          <a:xfrm>
            <a:off x="2667093" y="5997147"/>
            <a:ext cx="128699" cy="187198"/>
          </a:xfrm>
          <a:prstGeom prst="rect">
            <a:avLst/>
          </a:prstGeom>
        </p:spPr>
      </p:pic>
      <p:sp>
        <p:nvSpPr>
          <p:cNvPr id="74" name="TextBox 73"/>
          <p:cNvSpPr txBox="1"/>
          <p:nvPr/>
        </p:nvSpPr>
        <p:spPr>
          <a:xfrm>
            <a:off x="2834589" y="6006927"/>
            <a:ext cx="2311400" cy="186689"/>
          </a:xfrm>
          <a:prstGeom prst="rect">
            <a:avLst/>
          </a:prstGeom>
          <a:noFill/>
        </p:spPr>
        <p:txBody>
          <a:bodyPr wrap="none" lIns="0" rIns="0" tIns="0" bIns="0">
            <a:spAutoFit/>
          </a:bodyPr>
          <a:lstStyle/>
          <a:p>
            <a:r>
              <a:rPr sz="1100" b="0">
                <a:solidFill>
                  <a:srgbClr val="2E2E2E"/>
                </a:solidFill>
                <a:latin typeface="Calibri"/>
              </a:rPr>
              <a:t>ASP premium signals value recognition;</a:t>
            </a:r>
          </a:p>
        </p:txBody>
      </p:sp>
      <p:pic>
        <p:nvPicPr>
          <p:cNvPr id="75" name="Picture 74" descr="lock.png"/>
          <p:cNvPicPr>
            <a:picLocks noChangeAspect="1"/>
          </p:cNvPicPr>
          <p:nvPr/>
        </p:nvPicPr>
        <p:blipFill>
          <a:blip r:embed="rId5"/>
          <a:stretch>
            <a:fillRect/>
          </a:stretch>
        </p:blipFill>
        <p:spPr>
          <a:xfrm>
            <a:off x="5094041" y="5997147"/>
            <a:ext cx="128699" cy="187198"/>
          </a:xfrm>
          <a:prstGeom prst="rect">
            <a:avLst/>
          </a:prstGeom>
        </p:spPr>
      </p:pic>
      <p:sp>
        <p:nvSpPr>
          <p:cNvPr id="76" name="TextBox 75"/>
          <p:cNvSpPr txBox="1"/>
          <p:nvPr/>
        </p:nvSpPr>
        <p:spPr>
          <a:xfrm>
            <a:off x="5261537" y="6006927"/>
            <a:ext cx="2251645" cy="186689"/>
          </a:xfrm>
          <a:prstGeom prst="rect">
            <a:avLst/>
          </a:prstGeom>
          <a:noFill/>
        </p:spPr>
        <p:txBody>
          <a:bodyPr wrap="none" lIns="0" rIns="0" tIns="0" bIns="0">
            <a:spAutoFit/>
          </a:bodyPr>
          <a:lstStyle/>
          <a:p>
            <a:r>
              <a:rPr sz="1100" b="0">
                <a:solidFill>
                  <a:srgbClr val="2E2E2E"/>
                </a:solidFill>
                <a:latin typeface="Calibri"/>
              </a:rPr>
              <a:t>x pipeline coverage underpins growth.</a:t>
            </a:r>
          </a:p>
        </p:txBody>
      </p:sp>
      <p:sp>
        <p:nvSpPr>
          <p:cNvPr id="77" name="TextBox 76"/>
          <p:cNvSpPr txBox="1"/>
          <p:nvPr/>
        </p:nvSpPr>
        <p:spPr>
          <a:xfrm>
            <a:off x="276225" y="6224859"/>
            <a:ext cx="2615015" cy="186689"/>
          </a:xfrm>
          <a:prstGeom prst="rect">
            <a:avLst/>
          </a:prstGeom>
          <a:noFill/>
        </p:spPr>
        <p:txBody>
          <a:bodyPr wrap="none" lIns="0" rIns="0" tIns="0" bIns="0">
            <a:spAutoFit/>
          </a:bodyPr>
          <a:lstStyle/>
          <a:p>
            <a:r>
              <a:rPr sz="1100" b="0">
                <a:solidFill>
                  <a:srgbClr val="2E2E2E"/>
                </a:solidFill>
                <a:latin typeface="Calibri"/>
              </a:rPr>
              <a:t>▪ Sales Efficiency: a ~85-day sales cycle and ~</a:t>
            </a:r>
          </a:p>
        </p:txBody>
      </p:sp>
      <p:pic>
        <p:nvPicPr>
          <p:cNvPr id="78" name="Picture 77" descr="lock.png"/>
          <p:cNvPicPr>
            <a:picLocks noChangeAspect="1"/>
          </p:cNvPicPr>
          <p:nvPr/>
        </p:nvPicPr>
        <p:blipFill>
          <a:blip r:embed="rId5"/>
          <a:stretch>
            <a:fillRect/>
          </a:stretch>
        </p:blipFill>
        <p:spPr>
          <a:xfrm>
            <a:off x="2839292" y="6215079"/>
            <a:ext cx="128699" cy="187198"/>
          </a:xfrm>
          <a:prstGeom prst="rect">
            <a:avLst/>
          </a:prstGeom>
        </p:spPr>
      </p:pic>
      <p:sp>
        <p:nvSpPr>
          <p:cNvPr id="79" name="TextBox 78"/>
          <p:cNvSpPr txBox="1"/>
          <p:nvPr/>
        </p:nvSpPr>
        <p:spPr>
          <a:xfrm>
            <a:off x="3006787" y="6224859"/>
            <a:ext cx="2384524" cy="186689"/>
          </a:xfrm>
          <a:prstGeom prst="rect">
            <a:avLst/>
          </a:prstGeom>
          <a:noFill/>
        </p:spPr>
        <p:txBody>
          <a:bodyPr wrap="none" lIns="0" rIns="0" tIns="0" bIns="0">
            <a:spAutoFit/>
          </a:bodyPr>
          <a:lstStyle/>
          <a:p>
            <a:r>
              <a:rPr sz="1100" b="0">
                <a:solidFill>
                  <a:srgbClr val="2E2E2E"/>
                </a:solidFill>
                <a:latin typeface="Calibri"/>
              </a:rPr>
              <a:t>conversion support faster share capture.</a:t>
            </a:r>
          </a:p>
        </p:txBody>
      </p:sp>
      <p:sp>
        <p:nvSpPr>
          <p:cNvPr id="80" name="lockshield_13"/>
          <p:cNvSpPr/>
          <p:nvPr/>
        </p:nvSpPr>
        <p:spPr>
          <a:xfrm>
            <a:off x="238125" y="1585070"/>
            <a:ext cx="5715000" cy="192055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Kulzer GmbH SWOT Analysis (3/5)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SWOT assessment of Kulzer GmbH: strengths, weaknesses, opportunities and threats shaping its competitive position</a:t>
            </a:r>
          </a:p>
        </p:txBody>
      </p:sp>
      <p:sp>
        <p:nvSpPr>
          <p:cNvPr id="10" name="TextBox 9"/>
          <p:cNvSpPr txBox="1"/>
          <p:nvPr/>
        </p:nvSpPr>
        <p:spPr>
          <a:xfrm>
            <a:off x="142875" y="1007261"/>
            <a:ext cx="11906250" cy="164283"/>
          </a:xfrm>
          <a:prstGeom prst="rect">
            <a:avLst/>
          </a:prstGeom>
          <a:noFill/>
        </p:spPr>
        <p:txBody>
          <a:bodyPr wrap="square" lIns="28575" rIns="28575" tIns="9525" bIns="9525" anchor="ctr">
            <a:spAutoFit/>
          </a:bodyPr>
          <a:lstStyle/>
          <a:p>
            <a:pPr algn="l"/>
            <a:r>
              <a:rPr sz="1150" b="0">
                <a:solidFill>
                  <a:srgbClr val="2E2E2E"/>
                </a:solidFill>
                <a:latin typeface="Calibri"/>
              </a:rPr>
              <a:t>SWOT assessment Kulzer GmbH: strengths, weaknesses, opportunities and threats (indicative).</a:t>
            </a:r>
          </a:p>
        </p:txBody>
      </p:sp>
      <p:cxnSp>
        <p:nvCxnSpPr>
          <p:cNvPr id="11" name="Connector 10"/>
          <p:cNvCxnSpPr/>
          <p:nvPr/>
        </p:nvCxnSpPr>
        <p:spPr>
          <a:xfrm>
            <a:off x="3810000" y="3891345"/>
            <a:ext cx="4572000" cy="0"/>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6096000" y="1919946"/>
            <a:ext cx="0" cy="3942799"/>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sp>
        <p:nvSpPr>
          <p:cNvPr id="13" name="Oval 12"/>
          <p:cNvSpPr/>
          <p:nvPr/>
        </p:nvSpPr>
        <p:spPr>
          <a:xfrm>
            <a:off x="3757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8329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6043612" y="1869748"/>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6043612" y="58125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ounded Rectangle 16"/>
          <p:cNvSpPr/>
          <p:nvPr/>
        </p:nvSpPr>
        <p:spPr>
          <a:xfrm>
            <a:off x="4724400" y="2577079"/>
            <a:ext cx="1257300" cy="1204744"/>
          </a:xfrm>
          <a:prstGeom prst="roundRect">
            <a:avLst>
              <a:gd name="adj" fmla="val 12121"/>
            </a:avLst>
          </a:prstGeom>
          <a:noFill/>
          <a:ln w="19050">
            <a:solidFill>
              <a:srgbClr val="69B1E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ounded Rectangle 17"/>
          <p:cNvSpPr/>
          <p:nvPr/>
        </p:nvSpPr>
        <p:spPr>
          <a:xfrm>
            <a:off x="6210300" y="2577079"/>
            <a:ext cx="1257300" cy="1204744"/>
          </a:xfrm>
          <a:prstGeom prst="roundRect">
            <a:avLst>
              <a:gd name="adj" fmla="val 12121"/>
            </a:avLst>
          </a:prstGeom>
          <a:noFill/>
          <a:ln w="19050">
            <a:solidFill>
              <a:srgbClr val="0B2E4A"/>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ounded Rectangle 18"/>
          <p:cNvSpPr/>
          <p:nvPr/>
        </p:nvSpPr>
        <p:spPr>
          <a:xfrm>
            <a:off x="4724400" y="4000868"/>
            <a:ext cx="1257300" cy="1204744"/>
          </a:xfrm>
          <a:prstGeom prst="roundRect">
            <a:avLst>
              <a:gd name="adj" fmla="val 12121"/>
            </a:avLst>
          </a:prstGeom>
          <a:noFill/>
          <a:ln w="19050">
            <a:solidFill>
              <a:srgbClr val="A35313"/>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ounded Rectangle 19"/>
          <p:cNvSpPr/>
          <p:nvPr/>
        </p:nvSpPr>
        <p:spPr>
          <a:xfrm>
            <a:off x="6210300" y="4000868"/>
            <a:ext cx="1257300" cy="1204744"/>
          </a:xfrm>
          <a:prstGeom prst="roundRect">
            <a:avLst>
              <a:gd name="adj" fmla="val 12121"/>
            </a:avLst>
          </a:prstGeom>
          <a:noFill/>
          <a:ln w="19050">
            <a:solidFill>
              <a:srgbClr val="A86F0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reeform 20"/>
          <p:cNvSpPr/>
          <p:nvPr/>
        </p:nvSpPr>
        <p:spPr>
          <a:xfrm>
            <a:off x="5524500" y="2978660"/>
            <a:ext cx="1143000" cy="803163"/>
          </a:xfrm>
          <a:custGeom>
            <a:avLst/>
            <a:gdLst/>
            <a:ahLst/>
            <a:cxnLst/>
            <a:rect l="l" t="t" r="r" b="b"/>
            <a:pathLst>
              <a:path w="120" h="88">
                <a:moveTo>
                  <a:pt x="0" y="0"/>
                </a:moveTo>
                <a:lnTo>
                  <a:pt x="120" y="0"/>
                </a:lnTo>
                <a:lnTo>
                  <a:pt x="60" y="88"/>
                </a:lnTo>
                <a:close/>
              </a:path>
            </a:pathLst>
          </a:cu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Freeform 21"/>
          <p:cNvSpPr/>
          <p:nvPr/>
        </p:nvSpPr>
        <p:spPr>
          <a:xfrm>
            <a:off x="5524500" y="4000868"/>
            <a:ext cx="1143000" cy="803163"/>
          </a:xfrm>
          <a:custGeom>
            <a:avLst/>
            <a:gdLst/>
            <a:ahLst/>
            <a:cxnLst/>
            <a:rect l="l" t="t" r="r" b="b"/>
            <a:pathLst>
              <a:path w="120" h="88">
                <a:moveTo>
                  <a:pt x="0" y="88"/>
                </a:moveTo>
                <a:lnTo>
                  <a:pt x="120" y="88"/>
                </a:lnTo>
                <a:lnTo>
                  <a:pt x="60" y="0"/>
                </a:lnTo>
                <a:close/>
              </a:path>
            </a:pathLst>
          </a:cu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Freeform 22"/>
          <p:cNvSpPr/>
          <p:nvPr/>
        </p:nvSpPr>
        <p:spPr>
          <a:xfrm>
            <a:off x="5143500" y="3343734"/>
            <a:ext cx="838200" cy="1095222"/>
          </a:xfrm>
          <a:custGeom>
            <a:avLst/>
            <a:gdLst/>
            <a:ahLst/>
            <a:cxnLst/>
            <a:rect l="l" t="t" r="r" b="b"/>
            <a:pathLst>
              <a:path w="88" h="120">
                <a:moveTo>
                  <a:pt x="0" y="0"/>
                </a:moveTo>
                <a:lnTo>
                  <a:pt x="0" y="120"/>
                </a:lnTo>
                <a:lnTo>
                  <a:pt x="88" y="60"/>
                </a:lnTo>
                <a:close/>
              </a:path>
            </a:pathLst>
          </a:cu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Freeform 23"/>
          <p:cNvSpPr/>
          <p:nvPr/>
        </p:nvSpPr>
        <p:spPr>
          <a:xfrm>
            <a:off x="6210300" y="3343734"/>
            <a:ext cx="838200" cy="1095222"/>
          </a:xfrm>
          <a:custGeom>
            <a:avLst/>
            <a:gdLst/>
            <a:ahLst/>
            <a:cxnLst/>
            <a:rect l="l" t="t" r="r" b="b"/>
            <a:pathLst>
              <a:path w="88" h="120">
                <a:moveTo>
                  <a:pt x="88" y="0"/>
                </a:moveTo>
                <a:lnTo>
                  <a:pt x="88" y="120"/>
                </a:lnTo>
                <a:lnTo>
                  <a:pt x="0" y="60"/>
                </a:lnTo>
                <a:close/>
              </a:path>
            </a:pathLst>
          </a:cu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5886450" y="3243339"/>
            <a:ext cx="419100" cy="273805"/>
          </a:xfrm>
          <a:prstGeom prst="rect">
            <a:avLst/>
          </a:prstGeom>
          <a:noFill/>
        </p:spPr>
        <p:txBody>
          <a:bodyPr wrap="none" lIns="0" rIns="0" tIns="0" bIns="0" anchor="ctr">
            <a:spAutoFit/>
          </a:bodyPr>
          <a:lstStyle/>
          <a:p>
            <a:pPr algn="ctr"/>
            <a:r>
              <a:rPr sz="2100" b="1">
                <a:solidFill>
                  <a:srgbClr val="1F2933"/>
                </a:solidFill>
                <a:latin typeface="Calibri"/>
              </a:rPr>
              <a:t>S</a:t>
            </a:r>
          </a:p>
        </p:txBody>
      </p:sp>
      <p:sp>
        <p:nvSpPr>
          <p:cNvPr id="26" name="TextBox 25"/>
          <p:cNvSpPr txBox="1"/>
          <p:nvPr/>
        </p:nvSpPr>
        <p:spPr>
          <a:xfrm>
            <a:off x="5886450" y="4265546"/>
            <a:ext cx="419100" cy="273805"/>
          </a:xfrm>
          <a:prstGeom prst="rect">
            <a:avLst/>
          </a:prstGeom>
          <a:noFill/>
        </p:spPr>
        <p:txBody>
          <a:bodyPr wrap="none" lIns="0" rIns="0" tIns="0" bIns="0" anchor="ctr">
            <a:spAutoFit/>
          </a:bodyPr>
          <a:lstStyle/>
          <a:p>
            <a:pPr algn="ctr"/>
            <a:r>
              <a:rPr sz="2100" b="1">
                <a:solidFill>
                  <a:srgbClr val="FFFFFF"/>
                </a:solidFill>
                <a:latin typeface="Calibri"/>
              </a:rPr>
              <a:t>O</a:t>
            </a:r>
          </a:p>
        </p:txBody>
      </p:sp>
      <p:sp>
        <p:nvSpPr>
          <p:cNvPr id="27" name="TextBox 26"/>
          <p:cNvSpPr txBox="1"/>
          <p:nvPr/>
        </p:nvSpPr>
        <p:spPr>
          <a:xfrm>
            <a:off x="53530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T</a:t>
            </a:r>
          </a:p>
        </p:txBody>
      </p:sp>
      <p:sp>
        <p:nvSpPr>
          <p:cNvPr id="28" name="TextBox 27"/>
          <p:cNvSpPr txBox="1"/>
          <p:nvPr/>
        </p:nvSpPr>
        <p:spPr>
          <a:xfrm>
            <a:off x="64198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W</a:t>
            </a:r>
          </a:p>
        </p:txBody>
      </p:sp>
      <p:sp>
        <p:nvSpPr>
          <p:cNvPr id="29" name="TextBox 28"/>
          <p:cNvSpPr txBox="1"/>
          <p:nvPr/>
        </p:nvSpPr>
        <p:spPr>
          <a:xfrm>
            <a:off x="190500" y="1299320"/>
            <a:ext cx="3667125" cy="182537"/>
          </a:xfrm>
          <a:prstGeom prst="rect">
            <a:avLst/>
          </a:prstGeom>
          <a:noFill/>
        </p:spPr>
        <p:txBody>
          <a:bodyPr wrap="square" lIns="28575" rIns="28575" tIns="9525" bIns="9525" anchor="ctr">
            <a:spAutoFit/>
          </a:bodyPr>
          <a:lstStyle/>
          <a:p>
            <a:pPr algn="l"/>
            <a:r>
              <a:rPr sz="1350" b="1">
                <a:solidFill>
                  <a:srgbClr val="0B2E4A"/>
                </a:solidFill>
                <a:latin typeface="Calibri"/>
              </a:rPr>
              <a:t>Strengths</a:t>
            </a:r>
          </a:p>
        </p:txBody>
      </p:sp>
      <p:sp>
        <p:nvSpPr>
          <p:cNvPr id="30" name="Rectangle 29"/>
          <p:cNvSpPr/>
          <p:nvPr/>
        </p:nvSpPr>
        <p:spPr>
          <a:xfrm>
            <a:off x="190500" y="1500111"/>
            <a:ext cx="1428750" cy="1825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204788" y="1605070"/>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333375"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3" name="Oval 32"/>
          <p:cNvSpPr/>
          <p:nvPr/>
        </p:nvSpPr>
        <p:spPr>
          <a:xfrm>
            <a:off x="204788" y="2116174"/>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333375"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Balanced SOM across regions and end-markets; strongest in 'Rest of the World'.</a:t>
            </a:r>
          </a:p>
        </p:txBody>
      </p:sp>
      <p:sp>
        <p:nvSpPr>
          <p:cNvPr id="35" name="Oval 34"/>
          <p:cNvSpPr/>
          <p:nvPr/>
        </p:nvSpPr>
        <p:spPr>
          <a:xfrm>
            <a:off x="204788" y="2627277"/>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333375"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7" name="TextBox 36"/>
          <p:cNvSpPr txBox="1"/>
          <p:nvPr/>
        </p:nvSpPr>
        <p:spPr>
          <a:xfrm>
            <a:off x="8334375" y="1299320"/>
            <a:ext cx="3667125" cy="182537"/>
          </a:xfrm>
          <a:prstGeom prst="rect">
            <a:avLst/>
          </a:prstGeom>
          <a:noFill/>
        </p:spPr>
        <p:txBody>
          <a:bodyPr wrap="square" lIns="28575" rIns="28575" tIns="9525" bIns="9525" anchor="ctr">
            <a:spAutoFit/>
          </a:bodyPr>
          <a:lstStyle/>
          <a:p>
            <a:pPr algn="l"/>
            <a:r>
              <a:rPr sz="1350" b="1">
                <a:solidFill>
                  <a:srgbClr val="082238"/>
                </a:solidFill>
                <a:latin typeface="Calibri"/>
              </a:rPr>
              <a:t>Weaknesses</a:t>
            </a:r>
          </a:p>
        </p:txBody>
      </p:sp>
      <p:sp>
        <p:nvSpPr>
          <p:cNvPr id="38" name="Rectangle 37"/>
          <p:cNvSpPr/>
          <p:nvPr/>
        </p:nvSpPr>
        <p:spPr>
          <a:xfrm>
            <a:off x="8334375" y="1500111"/>
            <a:ext cx="1428750" cy="18254"/>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8348662" y="1605070"/>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8477250"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1" name="Oval 40"/>
          <p:cNvSpPr/>
          <p:nvPr/>
        </p:nvSpPr>
        <p:spPr>
          <a:xfrm>
            <a:off x="8348662" y="2116174"/>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8477250"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Uneven SAM penetration strong in 'Rest of the World', thin elsewhere.</a:t>
            </a:r>
          </a:p>
        </p:txBody>
      </p:sp>
      <p:sp>
        <p:nvSpPr>
          <p:cNvPr id="43" name="Oval 42"/>
          <p:cNvSpPr/>
          <p:nvPr/>
        </p:nvSpPr>
        <p:spPr>
          <a:xfrm>
            <a:off x="8348662" y="2627277"/>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8477250"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Reliance on a few large accounts/regions raises concentration risk.</a:t>
            </a:r>
          </a:p>
        </p:txBody>
      </p:sp>
      <p:sp>
        <p:nvSpPr>
          <p:cNvPr id="45" name="TextBox 44"/>
          <p:cNvSpPr txBox="1"/>
          <p:nvPr/>
        </p:nvSpPr>
        <p:spPr>
          <a:xfrm>
            <a:off x="190500" y="4055629"/>
            <a:ext cx="3667125" cy="182537"/>
          </a:xfrm>
          <a:prstGeom prst="rect">
            <a:avLst/>
          </a:prstGeom>
          <a:noFill/>
        </p:spPr>
        <p:txBody>
          <a:bodyPr wrap="square" lIns="28575" rIns="28575" tIns="9525" bIns="9525" anchor="ctr">
            <a:spAutoFit/>
          </a:bodyPr>
          <a:lstStyle/>
          <a:p>
            <a:pPr algn="l"/>
            <a:r>
              <a:rPr sz="1350" b="1">
                <a:solidFill>
                  <a:srgbClr val="A35313"/>
                </a:solidFill>
                <a:latin typeface="Calibri"/>
              </a:rPr>
              <a:t>Threats</a:t>
            </a:r>
          </a:p>
        </p:txBody>
      </p:sp>
      <p:sp>
        <p:nvSpPr>
          <p:cNvPr id="46" name="Rectangle 45"/>
          <p:cNvSpPr/>
          <p:nvPr/>
        </p:nvSpPr>
        <p:spPr>
          <a:xfrm>
            <a:off x="190500" y="4256419"/>
            <a:ext cx="1428750" cy="1825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204788" y="4361379"/>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33375"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9" name="Oval 48"/>
          <p:cNvSpPr/>
          <p:nvPr/>
        </p:nvSpPr>
        <p:spPr>
          <a:xfrm>
            <a:off x="204788" y="4872482"/>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333375"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Input-cost inflation and price pressure can squeeze margin.</a:t>
            </a:r>
          </a:p>
        </p:txBody>
      </p:sp>
      <p:sp>
        <p:nvSpPr>
          <p:cNvPr id="51" name="Oval 50"/>
          <p:cNvSpPr/>
          <p:nvPr/>
        </p:nvSpPr>
        <p:spPr>
          <a:xfrm>
            <a:off x="204788" y="5383586"/>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333375"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Tier-1 incumbents and regulation raise barriers and switching friction.</a:t>
            </a:r>
          </a:p>
        </p:txBody>
      </p:sp>
      <p:sp>
        <p:nvSpPr>
          <p:cNvPr id="53" name="TextBox 52"/>
          <p:cNvSpPr txBox="1"/>
          <p:nvPr/>
        </p:nvSpPr>
        <p:spPr>
          <a:xfrm>
            <a:off x="8334375" y="4055629"/>
            <a:ext cx="3667125" cy="182537"/>
          </a:xfrm>
          <a:prstGeom prst="rect">
            <a:avLst/>
          </a:prstGeom>
          <a:noFill/>
        </p:spPr>
        <p:txBody>
          <a:bodyPr wrap="square" lIns="28575" rIns="28575" tIns="9525" bIns="9525" anchor="ctr">
            <a:spAutoFit/>
          </a:bodyPr>
          <a:lstStyle/>
          <a:p>
            <a:pPr algn="l"/>
            <a:r>
              <a:rPr sz="1350" b="1">
                <a:solidFill>
                  <a:srgbClr val="A86F00"/>
                </a:solidFill>
                <a:latin typeface="Calibri"/>
              </a:rPr>
              <a:t>Opportunities</a:t>
            </a:r>
          </a:p>
        </p:txBody>
      </p:sp>
      <p:sp>
        <p:nvSpPr>
          <p:cNvPr id="54" name="Rectangle 53"/>
          <p:cNvSpPr/>
          <p:nvPr/>
        </p:nvSpPr>
        <p:spPr>
          <a:xfrm>
            <a:off x="8334375" y="4256419"/>
            <a:ext cx="1428750" cy="1825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8348662" y="4361379"/>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8477250"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Premiumisation headroom in 'Flexible Partial Dentures' and adjacent high-value lines.</a:t>
            </a:r>
          </a:p>
        </p:txBody>
      </p:sp>
      <p:sp>
        <p:nvSpPr>
          <p:cNvPr id="57" name="Oval 56"/>
          <p:cNvSpPr/>
          <p:nvPr/>
        </p:nvSpPr>
        <p:spPr>
          <a:xfrm>
            <a:off x="8348662" y="4872482"/>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8477250"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Under-penetrated regions offer share-capture runway.</a:t>
            </a:r>
          </a:p>
        </p:txBody>
      </p:sp>
      <p:sp>
        <p:nvSpPr>
          <p:cNvPr id="59" name="Oval 58"/>
          <p:cNvSpPr/>
          <p:nvPr/>
        </p:nvSpPr>
        <p:spPr>
          <a:xfrm>
            <a:off x="8348662" y="5383586"/>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8477250"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Channel shift to online and clinics opens new demand pools.</a:t>
            </a:r>
          </a:p>
        </p:txBody>
      </p:sp>
      <p:sp>
        <p:nvSpPr>
          <p:cNvPr id="61" name="TextBox 60"/>
          <p:cNvSpPr txBox="1"/>
          <p:nvPr/>
        </p:nvSpPr>
        <p:spPr>
          <a:xfrm>
            <a:off x="2857500" y="6428609"/>
            <a:ext cx="9191625" cy="182537"/>
          </a:xfrm>
          <a:prstGeom prst="rect">
            <a:avLst/>
          </a:prstGeom>
          <a:noFill/>
        </p:spPr>
        <p:txBody>
          <a:bodyPr wrap="square" lIns="28575" rIns="28575" tIns="9525" bIns="9525" anchor="ctr">
            <a:spAutoFit/>
          </a:bodyPr>
          <a:lstStyle/>
          <a:p>
            <a:pPr algn="l"/>
            <a:r>
              <a:rPr sz="1100" b="0">
                <a:solidFill>
                  <a:srgbClr val="C0392B"/>
                </a:solidFill>
                <a:latin typeface="Calibri"/>
              </a:rPr>
              <a:t>Note: competitor figures are indicative derived from market modelling and expert validation, not company disclosures.</a:t>
            </a:r>
          </a:p>
        </p:txBody>
      </p:sp>
      <p:sp>
        <p:nvSpPr>
          <p:cNvPr id="62" name="TextBox 6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3" name="TextBox 62"/>
          <p:cNvSpPr txBox="1"/>
          <p:nvPr/>
        </p:nvSpPr>
        <p:spPr>
          <a:xfrm>
            <a:off x="361950" y="1642784"/>
            <a:ext cx="145777"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64" name="Picture 63" descr="lock.png"/>
          <p:cNvPicPr>
            <a:picLocks noChangeAspect="1"/>
          </p:cNvPicPr>
          <p:nvPr/>
        </p:nvPicPr>
        <p:blipFill>
          <a:blip r:embed="rId4"/>
          <a:stretch>
            <a:fillRect/>
          </a:stretch>
        </p:blipFill>
        <p:spPr>
          <a:xfrm>
            <a:off x="455778" y="1633005"/>
            <a:ext cx="128699" cy="187198"/>
          </a:xfrm>
          <a:prstGeom prst="rect">
            <a:avLst/>
          </a:prstGeom>
        </p:spPr>
      </p:pic>
      <p:sp>
        <p:nvSpPr>
          <p:cNvPr id="65" name="TextBox 64"/>
          <p:cNvSpPr txBox="1"/>
          <p:nvPr/>
        </p:nvSpPr>
        <p:spPr>
          <a:xfrm>
            <a:off x="623274" y="1642784"/>
            <a:ext cx="1029270" cy="186689"/>
          </a:xfrm>
          <a:prstGeom prst="rect">
            <a:avLst/>
          </a:prstGeom>
          <a:noFill/>
        </p:spPr>
        <p:txBody>
          <a:bodyPr wrap="none" lIns="0" rIns="0" tIns="0" bIns="0">
            <a:spAutoFit/>
          </a:bodyPr>
          <a:lstStyle/>
          <a:p>
            <a:r>
              <a:rPr sz="1100" b="0">
                <a:solidFill>
                  <a:srgbClr val="2E2E2E"/>
                </a:solidFill>
                <a:latin typeface="Calibri"/>
              </a:rPr>
              <a:t>win rate with a +</a:t>
            </a:r>
          </a:p>
        </p:txBody>
      </p:sp>
      <p:pic>
        <p:nvPicPr>
          <p:cNvPr id="66" name="Picture 65" descr="lock.png"/>
          <p:cNvPicPr>
            <a:picLocks noChangeAspect="1"/>
          </p:cNvPicPr>
          <p:nvPr/>
        </p:nvPicPr>
        <p:blipFill>
          <a:blip r:embed="rId4"/>
          <a:stretch>
            <a:fillRect/>
          </a:stretch>
        </p:blipFill>
        <p:spPr>
          <a:xfrm>
            <a:off x="1600596" y="1633005"/>
            <a:ext cx="128699" cy="187198"/>
          </a:xfrm>
          <a:prstGeom prst="rect">
            <a:avLst/>
          </a:prstGeom>
        </p:spPr>
      </p:pic>
      <p:sp>
        <p:nvSpPr>
          <p:cNvPr id="67" name="TextBox 66"/>
          <p:cNvSpPr txBox="1"/>
          <p:nvPr/>
        </p:nvSpPr>
        <p:spPr>
          <a:xfrm>
            <a:off x="1768092" y="1642784"/>
            <a:ext cx="1490662" cy="186689"/>
          </a:xfrm>
          <a:prstGeom prst="rect">
            <a:avLst/>
          </a:prstGeom>
          <a:noFill/>
        </p:spPr>
        <p:txBody>
          <a:bodyPr wrap="none" lIns="0" rIns="0" tIns="0" bIns="0">
            <a:spAutoFit/>
          </a:bodyPr>
          <a:lstStyle/>
          <a:p>
            <a:r>
              <a:rPr sz="1100" b="0">
                <a:solidFill>
                  <a:srgbClr val="2E2E2E"/>
                </a:solidFill>
                <a:latin typeface="Calibri"/>
              </a:rPr>
              <a:t>ASP premium clear value</a:t>
            </a:r>
          </a:p>
        </p:txBody>
      </p:sp>
      <p:sp>
        <p:nvSpPr>
          <p:cNvPr id="68" name="TextBox 67"/>
          <p:cNvSpPr txBox="1"/>
          <p:nvPr/>
        </p:nvSpPr>
        <p:spPr>
          <a:xfrm>
            <a:off x="361950" y="1810424"/>
            <a:ext cx="760238" cy="186689"/>
          </a:xfrm>
          <a:prstGeom prst="rect">
            <a:avLst/>
          </a:prstGeom>
          <a:noFill/>
        </p:spPr>
        <p:txBody>
          <a:bodyPr wrap="none" lIns="0" rIns="0" tIns="0" bIns="0">
            <a:spAutoFit/>
          </a:bodyPr>
          <a:lstStyle/>
          <a:p>
            <a:r>
              <a:rPr sz="1100" b="0">
                <a:solidFill>
                  <a:srgbClr val="2E2E2E"/>
                </a:solidFill>
                <a:latin typeface="Calibri"/>
              </a:rPr>
              <a:t>recognition.</a:t>
            </a:r>
          </a:p>
        </p:txBody>
      </p:sp>
      <p:pic>
        <p:nvPicPr>
          <p:cNvPr id="69" name="Picture 68" descr="lock.png"/>
          <p:cNvPicPr>
            <a:picLocks noChangeAspect="1"/>
          </p:cNvPicPr>
          <p:nvPr/>
        </p:nvPicPr>
        <p:blipFill>
          <a:blip r:embed="rId4"/>
          <a:stretch>
            <a:fillRect/>
          </a:stretch>
        </p:blipFill>
        <p:spPr>
          <a:xfrm>
            <a:off x="348482" y="2655212"/>
            <a:ext cx="128699" cy="187198"/>
          </a:xfrm>
          <a:prstGeom prst="rect">
            <a:avLst/>
          </a:prstGeom>
        </p:spPr>
      </p:pic>
      <p:sp>
        <p:nvSpPr>
          <p:cNvPr id="70" name="TextBox 69"/>
          <p:cNvSpPr txBox="1"/>
          <p:nvPr/>
        </p:nvSpPr>
        <p:spPr>
          <a:xfrm>
            <a:off x="515978" y="2664991"/>
            <a:ext cx="1083295" cy="186689"/>
          </a:xfrm>
          <a:prstGeom prst="rect">
            <a:avLst/>
          </a:prstGeom>
          <a:noFill/>
        </p:spPr>
        <p:txBody>
          <a:bodyPr wrap="none" lIns="0" rIns="0" tIns="0" bIns="0">
            <a:spAutoFit/>
          </a:bodyPr>
          <a:lstStyle/>
          <a:p>
            <a:r>
              <a:rPr sz="1100" b="0">
                <a:solidFill>
                  <a:srgbClr val="2E2E2E"/>
                </a:solidFill>
                <a:latin typeface="Calibri"/>
              </a:rPr>
              <a:t>book-to-bill and ~</a:t>
            </a:r>
          </a:p>
        </p:txBody>
      </p:sp>
      <p:pic>
        <p:nvPicPr>
          <p:cNvPr id="71" name="Picture 70" descr="lock.png"/>
          <p:cNvPicPr>
            <a:picLocks noChangeAspect="1"/>
          </p:cNvPicPr>
          <p:nvPr/>
        </p:nvPicPr>
        <p:blipFill>
          <a:blip r:embed="rId4"/>
          <a:stretch>
            <a:fillRect/>
          </a:stretch>
        </p:blipFill>
        <p:spPr>
          <a:xfrm>
            <a:off x="1547325" y="2655212"/>
            <a:ext cx="128699" cy="187198"/>
          </a:xfrm>
          <a:prstGeom prst="rect">
            <a:avLst/>
          </a:prstGeom>
        </p:spPr>
      </p:pic>
      <p:sp>
        <p:nvSpPr>
          <p:cNvPr id="72" name="TextBox 71"/>
          <p:cNvSpPr txBox="1"/>
          <p:nvPr/>
        </p:nvSpPr>
        <p:spPr>
          <a:xfrm>
            <a:off x="1714820" y="2664991"/>
            <a:ext cx="1304547" cy="186689"/>
          </a:xfrm>
          <a:prstGeom prst="rect">
            <a:avLst/>
          </a:prstGeom>
          <a:noFill/>
        </p:spPr>
        <p:txBody>
          <a:bodyPr wrap="none" lIns="0" rIns="0" tIns="0" bIns="0">
            <a:spAutoFit/>
          </a:bodyPr>
          <a:lstStyle/>
          <a:p>
            <a:r>
              <a:rPr sz="1100" b="0">
                <a:solidFill>
                  <a:srgbClr val="2E2E2E"/>
                </a:solidFill>
                <a:latin typeface="Calibri"/>
              </a:rPr>
              <a:t>EBITDA signal healthy</a:t>
            </a:r>
          </a:p>
        </p:txBody>
      </p:sp>
      <p:sp>
        <p:nvSpPr>
          <p:cNvPr id="73" name="TextBox 72"/>
          <p:cNvSpPr txBox="1"/>
          <p:nvPr/>
        </p:nvSpPr>
        <p:spPr>
          <a:xfrm>
            <a:off x="361950" y="2832631"/>
            <a:ext cx="783158" cy="186689"/>
          </a:xfrm>
          <a:prstGeom prst="rect">
            <a:avLst/>
          </a:prstGeom>
          <a:noFill/>
        </p:spPr>
        <p:txBody>
          <a:bodyPr wrap="none" lIns="0" rIns="0" tIns="0" bIns="0">
            <a:spAutoFit/>
          </a:bodyPr>
          <a:lstStyle/>
          <a:p>
            <a:r>
              <a:rPr sz="1100" b="0">
                <a:solidFill>
                  <a:srgbClr val="2E2E2E"/>
                </a:solidFill>
                <a:latin typeface="Calibri"/>
              </a:rPr>
              <a:t>momentum.</a:t>
            </a:r>
          </a:p>
        </p:txBody>
      </p:sp>
      <p:sp>
        <p:nvSpPr>
          <p:cNvPr id="74" name="TextBox 73"/>
          <p:cNvSpPr txBox="1"/>
          <p:nvPr/>
        </p:nvSpPr>
        <p:spPr>
          <a:xfrm>
            <a:off x="8505825" y="1726603"/>
            <a:ext cx="145777"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75" name="Picture 74" descr="lock.png"/>
          <p:cNvPicPr>
            <a:picLocks noChangeAspect="1"/>
          </p:cNvPicPr>
          <p:nvPr/>
        </p:nvPicPr>
        <p:blipFill>
          <a:blip r:embed="rId4"/>
          <a:stretch>
            <a:fillRect/>
          </a:stretch>
        </p:blipFill>
        <p:spPr>
          <a:xfrm>
            <a:off x="8599653" y="1716825"/>
            <a:ext cx="128699" cy="187198"/>
          </a:xfrm>
          <a:prstGeom prst="rect">
            <a:avLst/>
          </a:prstGeom>
        </p:spPr>
      </p:pic>
      <p:sp>
        <p:nvSpPr>
          <p:cNvPr id="76" name="TextBox 75"/>
          <p:cNvSpPr txBox="1"/>
          <p:nvPr/>
        </p:nvSpPr>
        <p:spPr>
          <a:xfrm>
            <a:off x="8767149" y="1726603"/>
            <a:ext cx="2910582" cy="186689"/>
          </a:xfrm>
          <a:prstGeom prst="rect">
            <a:avLst/>
          </a:prstGeom>
          <a:noFill/>
        </p:spPr>
        <p:txBody>
          <a:bodyPr wrap="none" lIns="0" rIns="0" tIns="0" bIns="0">
            <a:spAutoFit/>
          </a:bodyPr>
          <a:lstStyle/>
          <a:p>
            <a:r>
              <a:rPr sz="1100" b="0">
                <a:solidFill>
                  <a:srgbClr val="2E2E2E"/>
                </a:solidFill>
                <a:latin typeface="Calibri"/>
              </a:rPr>
              <a:t>share leaves a scale gap versus the market leader.</a:t>
            </a:r>
          </a:p>
        </p:txBody>
      </p:sp>
      <p:sp>
        <p:nvSpPr>
          <p:cNvPr id="77" name="TextBox 76"/>
          <p:cNvSpPr txBox="1"/>
          <p:nvPr/>
        </p:nvSpPr>
        <p:spPr>
          <a:xfrm>
            <a:off x="361950" y="4482912"/>
            <a:ext cx="1324495" cy="186689"/>
          </a:xfrm>
          <a:prstGeom prst="rect">
            <a:avLst/>
          </a:prstGeom>
          <a:noFill/>
        </p:spPr>
        <p:txBody>
          <a:bodyPr wrap="none" lIns="0" rIns="0" tIns="0" bIns="0">
            <a:spAutoFit/>
          </a:bodyPr>
          <a:lstStyle/>
          <a:p>
            <a:r>
              <a:rPr sz="1100" b="0">
                <a:solidFill>
                  <a:srgbClr val="2E2E2E"/>
                </a:solidFill>
                <a:latin typeface="Calibri"/>
              </a:rPr>
              <a:t>Intense competition ~</a:t>
            </a:r>
          </a:p>
        </p:txBody>
      </p:sp>
      <p:pic>
        <p:nvPicPr>
          <p:cNvPr id="78" name="Picture 77" descr="lock.png"/>
          <p:cNvPicPr>
            <a:picLocks noChangeAspect="1"/>
          </p:cNvPicPr>
          <p:nvPr/>
        </p:nvPicPr>
        <p:blipFill>
          <a:blip r:embed="rId4"/>
          <a:stretch>
            <a:fillRect/>
          </a:stretch>
        </p:blipFill>
        <p:spPr>
          <a:xfrm>
            <a:off x="1634497" y="4473133"/>
            <a:ext cx="128699" cy="187198"/>
          </a:xfrm>
          <a:prstGeom prst="rect">
            <a:avLst/>
          </a:prstGeom>
        </p:spPr>
      </p:pic>
      <p:sp>
        <p:nvSpPr>
          <p:cNvPr id="79" name="TextBox 78"/>
          <p:cNvSpPr txBox="1"/>
          <p:nvPr/>
        </p:nvSpPr>
        <p:spPr>
          <a:xfrm>
            <a:off x="1801993" y="4482912"/>
            <a:ext cx="1738684" cy="186689"/>
          </a:xfrm>
          <a:prstGeom prst="rect">
            <a:avLst/>
          </a:prstGeom>
          <a:noFill/>
        </p:spPr>
        <p:txBody>
          <a:bodyPr wrap="none" lIns="0" rIns="0" tIns="0" bIns="0">
            <a:spAutoFit/>
          </a:bodyPr>
          <a:lstStyle/>
          <a:p>
            <a:r>
              <a:rPr sz="1100" b="0">
                <a:solidFill>
                  <a:srgbClr val="2E2E2E"/>
                </a:solidFill>
                <a:latin typeface="Calibri"/>
              </a:rPr>
              <a:t>x pipeline needed to convert.</a:t>
            </a:r>
          </a:p>
        </p:txBody>
      </p:sp>
    </p:spTree>
  </p:cSld>
  <p:clrMapOvr>
    <a:masterClrMapping/>
  </p:clrMapOvr>
</p:sld>
</file>

<file path=ppt/slides/slide3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Kulzer GmbH Key Financials (4/5)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Kulzer GmbH's financial performance, key ratios and pricing, highlighting margin and momentum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Key financials and pricing Kulzer GmbH (all figures indicative, USD Mn unless noted).</a:t>
            </a:r>
          </a:p>
        </p:txBody>
      </p:sp>
      <p:sp>
        <p:nvSpPr>
          <p:cNvPr id="11" name="Rounded Rectangle 10"/>
          <p:cNvSpPr/>
          <p:nvPr/>
        </p:nvSpPr>
        <p:spPr>
          <a:xfrm>
            <a:off x="142875" y="1354081"/>
            <a:ext cx="5905500" cy="1916638"/>
          </a:xfrm>
          <a:prstGeom prst="roundRect">
            <a:avLst>
              <a:gd name="adj" fmla="val 397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411231"/>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Kulzer GmbH Financial Performance</a:t>
            </a:r>
          </a:p>
        </p:txBody>
      </p:sp>
      <p:graphicFrame>
        <p:nvGraphicFramePr>
          <p:cNvPr id="13" name="Table 12"/>
          <p:cNvGraphicFramePr>
            <a:graphicFrameLocks noGrp="1"/>
          </p:cNvGraphicFramePr>
          <p:nvPr/>
        </p:nvGraphicFramePr>
        <p:xfrm>
          <a:off x="152400" y="1611256"/>
          <a:ext cx="5886449" cy="1449914"/>
        </p:xfrm>
        <a:graphic>
          <a:graphicData uri="http://schemas.openxmlformats.org/drawingml/2006/table">
            <a:tbl>
              <a:tblPr>
                <a:tableStyleId>{5C22544A-7EE6-4342-B048-85BDC9FD1C3A}</a:tableStyleId>
              </a:tblPr>
              <a:tblGrid>
                <a:gridCol w="2446649"/>
                <a:gridCol w="687960"/>
                <a:gridCol w="687960"/>
                <a:gridCol w="687960"/>
                <a:gridCol w="687960"/>
                <a:gridCol w="687960"/>
              </a:tblGrid>
              <a:tr h="246126">
                <a:tc>
                  <a:txBody>
                    <a:bodyPr wrap="none"/>
                    <a:lstStyle/>
                    <a:p>
                      <a:pPr algn="l"/>
                      <a:r>
                        <a:rPr sz="1100" b="1">
                          <a:solidFill>
                            <a:srgbClr val="0B2E4A"/>
                          </a:solidFill>
                          <a:latin typeface="Calibri"/>
                        </a:rPr>
                        <a:t>USD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300947">
                <a:tc>
                  <a:txBody>
                    <a:bodyPr wrap="none"/>
                    <a:lstStyle/>
                    <a:p>
                      <a:pPr algn="l"/>
                      <a:r>
                        <a:rPr sz="1100" b="1">
                          <a:solidFill>
                            <a:srgbClr val="2E2E2E"/>
                          </a:solidFill>
                          <a:latin typeface="Calibri"/>
                        </a:rPr>
                        <a:t>Revenue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00947">
                <a:tc>
                  <a:txBody>
                    <a:bodyPr wrap="none"/>
                    <a:lstStyle/>
                    <a:p>
                      <a:pPr algn="l"/>
                      <a:r>
                        <a:rPr sz="1100" b="1">
                          <a:solidFill>
                            <a:srgbClr val="2E2E2E"/>
                          </a:solidFill>
                          <a:latin typeface="Calibri"/>
                        </a:rPr>
                        <a:t>Gross Profit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00947">
                <a:tc>
                  <a:txBody>
                    <a:bodyPr wrap="none"/>
                    <a:lstStyle/>
                    <a:p>
                      <a:pPr algn="l"/>
                      <a:r>
                        <a:rPr sz="1100" b="1">
                          <a:solidFill>
                            <a:srgbClr val="2E2E2E"/>
                          </a:solidFill>
                          <a:latin typeface="Calibri"/>
                        </a:rPr>
                        <a:t>Pre-Tax Profit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00947">
                <a:tc>
                  <a:txBody>
                    <a:bodyPr wrap="none"/>
                    <a:lstStyle/>
                    <a:p>
                      <a:pPr algn="l"/>
                      <a:r>
                        <a:rPr sz="1100" b="1">
                          <a:solidFill>
                            <a:srgbClr val="2E2E2E"/>
                          </a:solidFill>
                          <a:latin typeface="Calibri"/>
                        </a:rPr>
                        <a:t>Profit After Tax / Net Profit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070695"/>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94397"/>
          </a:xfrm>
          <a:prstGeom prst="roundRect">
            <a:avLst>
              <a:gd name="adj" fmla="val 23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455645"/>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Kulzer GmbH Key Ratios</a:t>
            </a:r>
          </a:p>
        </p:txBody>
      </p:sp>
      <p:graphicFrame>
        <p:nvGraphicFramePr>
          <p:cNvPr id="17" name="Table 16"/>
          <p:cNvGraphicFramePr>
            <a:graphicFrameLocks noGrp="1"/>
          </p:cNvGraphicFramePr>
          <p:nvPr/>
        </p:nvGraphicFramePr>
        <p:xfrm>
          <a:off x="152400" y="3655670"/>
          <a:ext cx="5886450" cy="2727671"/>
        </p:xfrm>
        <a:graphic>
          <a:graphicData uri="http://schemas.openxmlformats.org/drawingml/2006/table">
            <a:tbl>
              <a:tblPr>
                <a:tableStyleId>{5C22544A-7EE6-4342-B048-85BDC9FD1C3A}</a:tableStyleId>
              </a:tblPr>
              <a:tblGrid>
                <a:gridCol w="1859260"/>
                <a:gridCol w="805438"/>
                <a:gridCol w="805438"/>
                <a:gridCol w="805438"/>
                <a:gridCol w="805438"/>
                <a:gridCol w="805438"/>
              </a:tblGrid>
              <a:tr h="246126">
                <a:tc>
                  <a:txBody>
                    <a:bodyPr wrap="none"/>
                    <a:lstStyle/>
                    <a:p>
                      <a:pPr algn="l"/>
                      <a:r>
                        <a:rPr sz="1100" b="1">
                          <a:solidFill>
                            <a:srgbClr val="0B2E4A"/>
                          </a:solidFill>
                          <a:latin typeface="Calibri"/>
                        </a:rPr>
                        <a:t>Key Ratios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496309">
                <a:tc>
                  <a:txBody>
                    <a:bodyPr wrap="none"/>
                    <a:lstStyle/>
                    <a:p>
                      <a:pPr algn="l"/>
                      <a:r>
                        <a:rPr sz="1100" b="1">
                          <a:solidFill>
                            <a:srgbClr val="2E2E2E"/>
                          </a:solidFill>
                          <a:latin typeface="Calibri"/>
                        </a:rPr>
                        <a:t>Gross Margin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96309">
                <a:tc>
                  <a:txBody>
                    <a:bodyPr wrap="none"/>
                    <a:lstStyle/>
                    <a:p>
                      <a:pPr algn="l"/>
                      <a:r>
                        <a:rPr sz="1100" b="1">
                          <a:solidFill>
                            <a:srgbClr val="2E2E2E"/>
                          </a:solidFill>
                          <a:latin typeface="Calibri"/>
                        </a:rPr>
                        <a:t>Pre-Tax Margin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96309">
                <a:tc>
                  <a:txBody>
                    <a:bodyPr wrap="none"/>
                    <a:lstStyle/>
                    <a:p>
                      <a:pPr algn="l"/>
                      <a:r>
                        <a:rPr sz="1100" b="1">
                          <a:solidFill>
                            <a:srgbClr val="2E2E2E"/>
                          </a:solidFill>
                          <a:latin typeface="Calibri"/>
                        </a:rPr>
                        <a:t>Net Margin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96309">
                <a:tc>
                  <a:txBody>
                    <a:bodyPr wrap="none"/>
                    <a:lstStyle/>
                    <a:p>
                      <a:pPr algn="l"/>
                      <a:r>
                        <a:rPr sz="1100" b="1">
                          <a:solidFill>
                            <a:srgbClr val="2E2E2E"/>
                          </a:solidFill>
                          <a:latin typeface="Calibri"/>
                        </a:rPr>
                        <a:t>Return on Equity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96309">
                <a:tc>
                  <a:txBody>
                    <a:bodyPr wrap="none"/>
                    <a:lstStyle/>
                    <a:p>
                      <a:pPr algn="l"/>
                      <a:r>
                        <a:rPr sz="1100" b="1">
                          <a:solidFill>
                            <a:srgbClr val="2E2E2E"/>
                          </a:solidFill>
                          <a:latin typeface="Calibri"/>
                        </a:rPr>
                        <a:t>Return on Assets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92868"/>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1354081"/>
            <a:ext cx="584835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96025" y="1411231"/>
            <a:ext cx="5657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Kulzer GmbH Pricing Analysis (US$/Units)</a:t>
            </a:r>
          </a:p>
        </p:txBody>
      </p:sp>
      <p:graphicFrame>
        <p:nvGraphicFramePr>
          <p:cNvPr id="21" name="Table 20"/>
          <p:cNvGraphicFramePr>
            <a:graphicFrameLocks noGrp="1"/>
          </p:cNvGraphicFramePr>
          <p:nvPr/>
        </p:nvGraphicFramePr>
        <p:xfrm>
          <a:off x="6210300" y="1611256"/>
          <a:ext cx="5829301" cy="4772086"/>
        </p:xfrm>
        <a:graphic>
          <a:graphicData uri="http://schemas.openxmlformats.org/drawingml/2006/table">
            <a:tbl>
              <a:tblPr>
                <a:tableStyleId>{5C22544A-7EE6-4342-B048-85BDC9FD1C3A}</a:tableStyleId>
              </a:tblPr>
              <a:tblGrid>
                <a:gridCol w="4241547"/>
                <a:gridCol w="793877"/>
                <a:gridCol w="793877"/>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1131490">
                <a:tc>
                  <a:txBody>
                    <a:bodyPr wrap="none"/>
                    <a:lstStyle/>
                    <a:p>
                      <a:pPr algn="l"/>
                      <a:r>
                        <a:rPr sz="1100" b="1">
                          <a:solidFill>
                            <a:srgbClr val="2E2E2E"/>
                          </a:solidFill>
                          <a:latin typeface="Calibri"/>
                        </a:rPr>
                        <a:t>Flexible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1131490">
                <a:tc>
                  <a:txBody>
                    <a:bodyPr wrap="none"/>
                    <a:lstStyle/>
                    <a:p>
                      <a:pPr algn="l"/>
                      <a:r>
                        <a:rPr sz="1100" b="1">
                          <a:solidFill>
                            <a:srgbClr val="2E2E2E"/>
                          </a:solidFill>
                          <a:latin typeface="Calibri"/>
                        </a:rPr>
                        <a:t>Combination Framework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1131490">
                <a:tc>
                  <a:txBody>
                    <a:bodyPr wrap="none"/>
                    <a:lstStyle/>
                    <a:p>
                      <a:pPr algn="l"/>
                      <a:r>
                        <a:rPr sz="1100" b="1">
                          <a:solidFill>
                            <a:srgbClr val="2E2E2E"/>
                          </a:solidFill>
                          <a:latin typeface="Calibri"/>
                        </a:rPr>
                        <a:t>Cast Metal Partial Dentures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1131490">
                <a:tc>
                  <a:txBody>
                    <a:bodyPr wrap="none"/>
                    <a:lstStyle/>
                    <a:p>
                      <a:pPr algn="l"/>
                      <a:r>
                        <a:rPr sz="1100" b="1">
                          <a:solidFill>
                            <a:srgbClr val="2E2E2E"/>
                          </a:solidFill>
                          <a:latin typeface="Calibri"/>
                        </a:rPr>
                        <a:t>Acrylic Partial Dentures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2" name="TextBox 21"/>
          <p:cNvSpPr txBox="1"/>
          <p:nvPr/>
        </p:nvSpPr>
        <p:spPr>
          <a:xfrm>
            <a:off x="6276975" y="6392868"/>
            <a:ext cx="56959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4150927" y="2219246"/>
            <a:ext cx="330041" cy="480060"/>
          </a:xfrm>
          <a:prstGeom prst="rect">
            <a:avLst/>
          </a:prstGeom>
        </p:spPr>
      </p:pic>
      <p:pic>
        <p:nvPicPr>
          <p:cNvPr id="25" name="Picture 24" descr="lock.png"/>
          <p:cNvPicPr>
            <a:picLocks noChangeAspect="1"/>
          </p:cNvPicPr>
          <p:nvPr/>
        </p:nvPicPr>
        <p:blipFill>
          <a:blip r:embed="rId4"/>
          <a:stretch>
            <a:fillRect/>
          </a:stretch>
        </p:blipFill>
        <p:spPr>
          <a:xfrm>
            <a:off x="3838564" y="4875868"/>
            <a:ext cx="366712" cy="533400"/>
          </a:xfrm>
          <a:prstGeom prst="rect">
            <a:avLst/>
          </a:prstGeom>
        </p:spPr>
      </p:pic>
      <p:pic>
        <p:nvPicPr>
          <p:cNvPr id="26" name="Picture 25" descr="lock.png"/>
          <p:cNvPicPr>
            <a:picLocks noChangeAspect="1"/>
          </p:cNvPicPr>
          <p:nvPr/>
        </p:nvPicPr>
        <p:blipFill>
          <a:blip r:embed="rId4"/>
          <a:stretch>
            <a:fillRect/>
          </a:stretch>
        </p:blipFill>
        <p:spPr>
          <a:xfrm>
            <a:off x="11059034" y="3853662"/>
            <a:ext cx="366712" cy="533400"/>
          </a:xfrm>
          <a:prstGeom prst="rect">
            <a:avLst/>
          </a:prstGeom>
        </p:spPr>
      </p:pic>
    </p:spTree>
  </p:cSld>
  <p:clrMapOvr>
    <a:masterClrMapping/>
  </p:clrMapOvr>
</p:sld>
</file>

<file path=ppt/slides/slide3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Kulzer GmbH Strategy Analysis (5/5)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Kulzer GmbH's strategic priorities and the competitive moves that support them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Strategy analysis Kulzer GmbH: strategic priorities and the competitive moves that support them (indicative).</a:t>
            </a:r>
          </a:p>
        </p:txBody>
      </p:sp>
      <p:sp>
        <p:nvSpPr>
          <p:cNvPr id="11" name="Rounded Rectangle 10"/>
          <p:cNvSpPr/>
          <p:nvPr/>
        </p:nvSpPr>
        <p:spPr>
          <a:xfrm>
            <a:off x="1428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MARKET SHARE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of global value</a:t>
            </a:r>
          </a:p>
        </p:txBody>
      </p:sp>
      <p:sp>
        <p:nvSpPr>
          <p:cNvPr id="12" name="Rounded Rectangle 11"/>
          <p:cNvSpPr/>
          <p:nvPr/>
        </p:nvSpPr>
        <p:spPr>
          <a:xfrm>
            <a:off x="25431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WIN RATE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deals won</a:t>
            </a:r>
          </a:p>
        </p:txBody>
      </p:sp>
      <p:sp>
        <p:nvSpPr>
          <p:cNvPr id="13" name="Rounded Rectangle 12"/>
          <p:cNvSpPr/>
          <p:nvPr/>
        </p:nvSpPr>
        <p:spPr>
          <a:xfrm>
            <a:off x="49530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ASP PREMIUM</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vs peers</a:t>
            </a:r>
          </a:p>
        </p:txBody>
      </p:sp>
      <p:sp>
        <p:nvSpPr>
          <p:cNvPr id="14" name="Rounded Rectangle 13"/>
          <p:cNvSpPr/>
          <p:nvPr/>
        </p:nvSpPr>
        <p:spPr>
          <a:xfrm>
            <a:off x="73533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84229"/>
            <a:ext cx="590550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2169954"/>
            <a:ext cx="5638800" cy="209550"/>
          </a:xfrm>
          <a:prstGeom prst="rect">
            <a:avLst/>
          </a:prstGeom>
          <a:noFill/>
        </p:spPr>
        <p:txBody>
          <a:bodyPr wrap="square" lIns="0" rIns="19050" tIns="9525" bIns="9525">
            <a:spAutoFit/>
          </a:bodyPr>
          <a:lstStyle/>
          <a:p>
            <a:pPr algn="l"/>
            <a:r>
              <a:rPr sz="1300" b="1">
                <a:solidFill>
                  <a:srgbClr val="0B2E4A"/>
                </a:solidFill>
                <a:latin typeface="Calibri"/>
              </a:rPr>
              <a:t>Strategic Priorities</a:t>
            </a:r>
          </a:p>
        </p:txBody>
      </p:sp>
      <p:sp>
        <p:nvSpPr>
          <p:cNvPr id="18" name="Rectangle 17"/>
          <p:cNvSpPr/>
          <p:nvPr/>
        </p:nvSpPr>
        <p:spPr>
          <a:xfrm>
            <a:off x="276225" y="2408079"/>
            <a:ext cx="56388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493804"/>
            <a:ext cx="563880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0" name="Rounded Rectangle 19"/>
          <p:cNvSpPr/>
          <p:nvPr/>
        </p:nvSpPr>
        <p:spPr>
          <a:xfrm>
            <a:off x="6200775" y="2084229"/>
            <a:ext cx="584835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34125" y="2169954"/>
            <a:ext cx="5581650" cy="209550"/>
          </a:xfrm>
          <a:prstGeom prst="rect">
            <a:avLst/>
          </a:prstGeom>
          <a:noFill/>
        </p:spPr>
        <p:txBody>
          <a:bodyPr wrap="square" lIns="0" rIns="19050" tIns="9525" bIns="9525">
            <a:spAutoFit/>
          </a:bodyPr>
          <a:lstStyle/>
          <a:p>
            <a:pPr algn="l"/>
            <a:r>
              <a:rPr sz="1300" b="1">
                <a:solidFill>
                  <a:srgbClr val="0B2E4A"/>
                </a:solidFill>
                <a:latin typeface="Calibri"/>
              </a:rPr>
              <a:t>Competitive Moves</a:t>
            </a:r>
          </a:p>
        </p:txBody>
      </p:sp>
      <p:sp>
        <p:nvSpPr>
          <p:cNvPr id="22" name="Rectangle 21"/>
          <p:cNvSpPr/>
          <p:nvPr/>
        </p:nvSpPr>
        <p:spPr>
          <a:xfrm>
            <a:off x="6334125" y="2408079"/>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34125" y="2493804"/>
            <a:ext cx="558165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4"/>
          <a:stretch>
            <a:fillRect/>
          </a:stretch>
        </p:blipFill>
        <p:spPr>
          <a:xfrm>
            <a:off x="1202531" y="1540967"/>
            <a:ext cx="157162" cy="228600"/>
          </a:xfrm>
          <a:prstGeom prst="rect">
            <a:avLst/>
          </a:prstGeom>
        </p:spPr>
      </p:pic>
      <p:pic>
        <p:nvPicPr>
          <p:cNvPr id="26" name="Picture 25" descr="lock.png"/>
          <p:cNvPicPr>
            <a:picLocks noChangeAspect="1"/>
          </p:cNvPicPr>
          <p:nvPr/>
        </p:nvPicPr>
        <p:blipFill>
          <a:blip r:embed="rId4"/>
          <a:stretch>
            <a:fillRect/>
          </a:stretch>
        </p:blipFill>
        <p:spPr>
          <a:xfrm>
            <a:off x="3602831" y="1540967"/>
            <a:ext cx="157162" cy="228600"/>
          </a:xfrm>
          <a:prstGeom prst="rect">
            <a:avLst/>
          </a:prstGeom>
        </p:spPr>
      </p:pic>
      <p:pic>
        <p:nvPicPr>
          <p:cNvPr id="27" name="Picture 26" descr="lock.png"/>
          <p:cNvPicPr>
            <a:picLocks noChangeAspect="1"/>
          </p:cNvPicPr>
          <p:nvPr/>
        </p:nvPicPr>
        <p:blipFill>
          <a:blip r:embed="rId4"/>
          <a:stretch>
            <a:fillRect/>
          </a:stretch>
        </p:blipFill>
        <p:spPr>
          <a:xfrm>
            <a:off x="6012656" y="1540967"/>
            <a:ext cx="157162" cy="228600"/>
          </a:xfrm>
          <a:prstGeom prst="rect">
            <a:avLst/>
          </a:prstGeom>
        </p:spPr>
      </p:pic>
      <p:pic>
        <p:nvPicPr>
          <p:cNvPr id="28" name="Picture 27" descr="lock.png"/>
          <p:cNvPicPr>
            <a:picLocks noChangeAspect="1"/>
          </p:cNvPicPr>
          <p:nvPr/>
        </p:nvPicPr>
        <p:blipFill>
          <a:blip r:embed="rId4"/>
          <a:stretch>
            <a:fillRect/>
          </a:stretch>
        </p:blipFill>
        <p:spPr>
          <a:xfrm>
            <a:off x="8412956" y="1540967"/>
            <a:ext cx="157162" cy="228600"/>
          </a:xfrm>
          <a:prstGeom prst="rect">
            <a:avLst/>
          </a:prstGeom>
        </p:spPr>
      </p:pic>
      <p:pic>
        <p:nvPicPr>
          <p:cNvPr id="29" name="Picture 28" descr="lock.png"/>
          <p:cNvPicPr>
            <a:picLocks noChangeAspect="1"/>
          </p:cNvPicPr>
          <p:nvPr/>
        </p:nvPicPr>
        <p:blipFill>
          <a:blip r:embed="rId4"/>
          <a:stretch>
            <a:fillRect/>
          </a:stretch>
        </p:blipFill>
        <p:spPr>
          <a:xfrm>
            <a:off x="10822781" y="1540967"/>
            <a:ext cx="157162" cy="228600"/>
          </a:xfrm>
          <a:prstGeom prst="rect">
            <a:avLst/>
          </a:prstGeom>
        </p:spPr>
      </p:pic>
      <p:sp>
        <p:nvSpPr>
          <p:cNvPr id="30" name="TextBox 29"/>
          <p:cNvSpPr txBox="1"/>
          <p:nvPr/>
        </p:nvSpPr>
        <p:spPr>
          <a:xfrm>
            <a:off x="276225" y="2503329"/>
            <a:ext cx="5495988" cy="194310"/>
          </a:xfrm>
          <a:prstGeom prst="rect">
            <a:avLst/>
          </a:prstGeom>
          <a:noFill/>
        </p:spPr>
        <p:txBody>
          <a:bodyPr wrap="none" lIns="0" rIns="0" tIns="0" bIns="0">
            <a:spAutoFit/>
          </a:bodyPr>
          <a:lstStyle/>
          <a:p>
            <a:r>
              <a:rPr sz="1150" b="0">
                <a:solidFill>
                  <a:srgbClr val="2E2E2E"/>
                </a:solidFill>
                <a:latin typeface="Calibri"/>
              </a:rPr>
              <a:t>▪ Defend and extend leadership in 'Academic &amp; Teaching Dental Institutions' Kulzer GmbH's</a:t>
            </a:r>
          </a:p>
        </p:txBody>
      </p:sp>
      <p:sp>
        <p:nvSpPr>
          <p:cNvPr id="31" name="TextBox 30"/>
          <p:cNvSpPr txBox="1"/>
          <p:nvPr/>
        </p:nvSpPr>
        <p:spPr>
          <a:xfrm>
            <a:off x="276225" y="2678589"/>
            <a:ext cx="3766529" cy="194310"/>
          </a:xfrm>
          <a:prstGeom prst="rect">
            <a:avLst/>
          </a:prstGeom>
          <a:noFill/>
        </p:spPr>
        <p:txBody>
          <a:bodyPr wrap="none" lIns="0" rIns="0" tIns="0" bIns="0">
            <a:spAutoFit/>
          </a:bodyPr>
          <a:lstStyle/>
          <a:p>
            <a:r>
              <a:rPr sz="1150" b="0">
                <a:solidFill>
                  <a:srgbClr val="2E2E2E"/>
                </a:solidFill>
                <a:latin typeface="Calibri"/>
              </a:rPr>
              <a:t>strongest end-market while scaling the next-best applications.</a:t>
            </a:r>
          </a:p>
        </p:txBody>
      </p:sp>
      <p:sp>
        <p:nvSpPr>
          <p:cNvPr id="32" name="TextBox 31"/>
          <p:cNvSpPr txBox="1"/>
          <p:nvPr/>
        </p:nvSpPr>
        <p:spPr>
          <a:xfrm>
            <a:off x="276225" y="2906426"/>
            <a:ext cx="909997" cy="194310"/>
          </a:xfrm>
          <a:prstGeom prst="rect">
            <a:avLst/>
          </a:prstGeom>
          <a:noFill/>
        </p:spPr>
        <p:txBody>
          <a:bodyPr wrap="none" lIns="0" rIns="0" tIns="0" bIns="0">
            <a:spAutoFit/>
          </a:bodyPr>
          <a:lstStyle/>
          <a:p>
            <a:r>
              <a:rPr sz="1150" b="0">
                <a:solidFill>
                  <a:srgbClr val="2E2E2E"/>
                </a:solidFill>
                <a:latin typeface="Calibri"/>
              </a:rPr>
              <a:t>▪ Convert its ~</a:t>
            </a:r>
          </a:p>
        </p:txBody>
      </p:sp>
      <p:pic>
        <p:nvPicPr>
          <p:cNvPr id="33" name="Picture 32" descr="lock.png"/>
          <p:cNvPicPr>
            <a:picLocks noChangeAspect="1"/>
          </p:cNvPicPr>
          <p:nvPr/>
        </p:nvPicPr>
        <p:blipFill>
          <a:blip r:embed="rId4"/>
          <a:stretch>
            <a:fillRect/>
          </a:stretch>
        </p:blipFill>
        <p:spPr>
          <a:xfrm>
            <a:off x="1135376" y="2896203"/>
            <a:ext cx="134549" cy="195707"/>
          </a:xfrm>
          <a:prstGeom prst="rect">
            <a:avLst/>
          </a:prstGeom>
        </p:spPr>
      </p:pic>
      <p:sp>
        <p:nvSpPr>
          <p:cNvPr id="34" name="TextBox 33"/>
          <p:cNvSpPr txBox="1"/>
          <p:nvPr/>
        </p:nvSpPr>
        <p:spPr>
          <a:xfrm>
            <a:off x="1310485" y="2906426"/>
            <a:ext cx="929109" cy="194310"/>
          </a:xfrm>
          <a:prstGeom prst="rect">
            <a:avLst/>
          </a:prstGeom>
          <a:noFill/>
        </p:spPr>
        <p:txBody>
          <a:bodyPr wrap="none" lIns="0" rIns="0" tIns="0" bIns="0">
            <a:spAutoFit/>
          </a:bodyPr>
          <a:lstStyle/>
          <a:p>
            <a:r>
              <a:rPr sz="1150" b="0">
                <a:solidFill>
                  <a:srgbClr val="2E2E2E"/>
                </a:solidFill>
                <a:latin typeface="Calibri"/>
              </a:rPr>
              <a:t>win rate and +</a:t>
            </a:r>
          </a:p>
        </p:txBody>
      </p:sp>
      <p:pic>
        <p:nvPicPr>
          <p:cNvPr id="35" name="Picture 34" descr="lock.png"/>
          <p:cNvPicPr>
            <a:picLocks noChangeAspect="1"/>
          </p:cNvPicPr>
          <p:nvPr/>
        </p:nvPicPr>
        <p:blipFill>
          <a:blip r:embed="rId4"/>
          <a:stretch>
            <a:fillRect/>
          </a:stretch>
        </p:blipFill>
        <p:spPr>
          <a:xfrm>
            <a:off x="2188748" y="2896203"/>
            <a:ext cx="134549" cy="195707"/>
          </a:xfrm>
          <a:prstGeom prst="rect">
            <a:avLst/>
          </a:prstGeom>
        </p:spPr>
      </p:pic>
      <p:sp>
        <p:nvSpPr>
          <p:cNvPr id="36" name="TextBox 35"/>
          <p:cNvSpPr txBox="1"/>
          <p:nvPr/>
        </p:nvSpPr>
        <p:spPr>
          <a:xfrm>
            <a:off x="2363857" y="2906426"/>
            <a:ext cx="3109019" cy="194310"/>
          </a:xfrm>
          <a:prstGeom prst="rect">
            <a:avLst/>
          </a:prstGeom>
          <a:noFill/>
        </p:spPr>
        <p:txBody>
          <a:bodyPr wrap="none" lIns="0" rIns="0" tIns="0" bIns="0">
            <a:spAutoFit/>
          </a:bodyPr>
          <a:lstStyle/>
          <a:p>
            <a:r>
              <a:rPr sz="1150" b="0">
                <a:solidFill>
                  <a:srgbClr val="2E2E2E"/>
                </a:solidFill>
                <a:latin typeface="Calibri"/>
              </a:rPr>
              <a:t>ASP premium into share gains through value-based</a:t>
            </a:r>
          </a:p>
        </p:txBody>
      </p:sp>
      <p:sp>
        <p:nvSpPr>
          <p:cNvPr id="37" name="TextBox 36"/>
          <p:cNvSpPr txBox="1"/>
          <p:nvPr/>
        </p:nvSpPr>
        <p:spPr>
          <a:xfrm>
            <a:off x="276225" y="3081686"/>
            <a:ext cx="489247" cy="194310"/>
          </a:xfrm>
          <a:prstGeom prst="rect">
            <a:avLst/>
          </a:prstGeom>
          <a:noFill/>
        </p:spPr>
        <p:txBody>
          <a:bodyPr wrap="none" lIns="0" rIns="0" tIns="0" bIns="0">
            <a:spAutoFit/>
          </a:bodyPr>
          <a:lstStyle/>
          <a:p>
            <a:r>
              <a:rPr sz="1150" b="0">
                <a:solidFill>
                  <a:srgbClr val="2E2E2E"/>
                </a:solidFill>
                <a:latin typeface="Calibri"/>
              </a:rPr>
              <a:t>selling.</a:t>
            </a:r>
          </a:p>
        </p:txBody>
      </p:sp>
      <p:sp>
        <p:nvSpPr>
          <p:cNvPr id="38" name="TextBox 37"/>
          <p:cNvSpPr txBox="1"/>
          <p:nvPr/>
        </p:nvSpPr>
        <p:spPr>
          <a:xfrm>
            <a:off x="276225" y="3309524"/>
            <a:ext cx="3294434" cy="194310"/>
          </a:xfrm>
          <a:prstGeom prst="rect">
            <a:avLst/>
          </a:prstGeom>
          <a:noFill/>
        </p:spPr>
        <p:txBody>
          <a:bodyPr wrap="none" lIns="0" rIns="0" tIns="0" bIns="0">
            <a:spAutoFit/>
          </a:bodyPr>
          <a:lstStyle/>
          <a:p>
            <a:r>
              <a:rPr sz="1150" b="0">
                <a:solidFill>
                  <a:srgbClr val="2E2E2E"/>
                </a:solidFill>
                <a:latin typeface="Calibri"/>
              </a:rPr>
              <a:t>▪ Raise SAM penetration beyond 'Rest of the World' (~</a:t>
            </a:r>
          </a:p>
        </p:txBody>
      </p:sp>
      <p:pic>
        <p:nvPicPr>
          <p:cNvPr id="39" name="Picture 38" descr="lock.png"/>
          <p:cNvPicPr>
            <a:picLocks noChangeAspect="1"/>
          </p:cNvPicPr>
          <p:nvPr/>
        </p:nvPicPr>
        <p:blipFill>
          <a:blip r:embed="rId4"/>
          <a:stretch>
            <a:fillRect/>
          </a:stretch>
        </p:blipFill>
        <p:spPr>
          <a:xfrm>
            <a:off x="3519813" y="3299301"/>
            <a:ext cx="134549" cy="195707"/>
          </a:xfrm>
          <a:prstGeom prst="rect">
            <a:avLst/>
          </a:prstGeom>
        </p:spPr>
      </p:pic>
      <p:sp>
        <p:nvSpPr>
          <p:cNvPr id="40" name="TextBox 39"/>
          <p:cNvSpPr txBox="1"/>
          <p:nvPr/>
        </p:nvSpPr>
        <p:spPr>
          <a:xfrm>
            <a:off x="3694922" y="3309524"/>
            <a:ext cx="2019064" cy="194310"/>
          </a:xfrm>
          <a:prstGeom prst="rect">
            <a:avLst/>
          </a:prstGeom>
          <a:noFill/>
        </p:spPr>
        <p:txBody>
          <a:bodyPr wrap="none" lIns="0" rIns="0" tIns="0" bIns="0">
            <a:spAutoFit/>
          </a:bodyPr>
          <a:lstStyle/>
          <a:p>
            <a:r>
              <a:rPr sz="1150" b="0">
                <a:solidFill>
                  <a:srgbClr val="2E2E2E"/>
                </a:solidFill>
                <a:latin typeface="Calibri"/>
              </a:rPr>
              <a:t>) into lower-penetration regions.</a:t>
            </a:r>
          </a:p>
        </p:txBody>
      </p:sp>
      <p:sp>
        <p:nvSpPr>
          <p:cNvPr id="41" name="TextBox 40"/>
          <p:cNvSpPr txBox="1"/>
          <p:nvPr/>
        </p:nvSpPr>
        <p:spPr>
          <a:xfrm>
            <a:off x="276225" y="3537362"/>
            <a:ext cx="694059" cy="194310"/>
          </a:xfrm>
          <a:prstGeom prst="rect">
            <a:avLst/>
          </a:prstGeom>
          <a:noFill/>
        </p:spPr>
        <p:txBody>
          <a:bodyPr wrap="none" lIns="0" rIns="0" tIns="0" bIns="0">
            <a:spAutoFit/>
          </a:bodyPr>
          <a:lstStyle/>
          <a:p>
            <a:r>
              <a:rPr sz="1150" b="0">
                <a:solidFill>
                  <a:srgbClr val="2E2E2E"/>
                </a:solidFill>
                <a:latin typeface="Calibri"/>
              </a:rPr>
              <a:t>▪ Sustain a</a:t>
            </a:r>
          </a:p>
        </p:txBody>
      </p:sp>
      <p:pic>
        <p:nvPicPr>
          <p:cNvPr id="42" name="Picture 41" descr="lock.png"/>
          <p:cNvPicPr>
            <a:picLocks noChangeAspect="1"/>
          </p:cNvPicPr>
          <p:nvPr/>
        </p:nvPicPr>
        <p:blipFill>
          <a:blip r:embed="rId4"/>
          <a:stretch>
            <a:fillRect/>
          </a:stretch>
        </p:blipFill>
        <p:spPr>
          <a:xfrm>
            <a:off x="919438" y="3527139"/>
            <a:ext cx="134549" cy="195707"/>
          </a:xfrm>
          <a:prstGeom prst="rect">
            <a:avLst/>
          </a:prstGeom>
        </p:spPr>
      </p:pic>
      <p:sp>
        <p:nvSpPr>
          <p:cNvPr id="43" name="TextBox 42"/>
          <p:cNvSpPr txBox="1"/>
          <p:nvPr/>
        </p:nvSpPr>
        <p:spPr>
          <a:xfrm>
            <a:off x="1094548" y="3537362"/>
            <a:ext cx="3750555" cy="194310"/>
          </a:xfrm>
          <a:prstGeom prst="rect">
            <a:avLst/>
          </a:prstGeom>
          <a:noFill/>
        </p:spPr>
        <p:txBody>
          <a:bodyPr wrap="none" lIns="0" rIns="0" tIns="0" bIns="0">
            <a:spAutoFit/>
          </a:bodyPr>
          <a:lstStyle/>
          <a:p>
            <a:r>
              <a:rPr sz="1150" b="0">
                <a:solidFill>
                  <a:srgbClr val="2E2E2E"/>
                </a:solidFill>
                <a:latin typeface="Calibri"/>
              </a:rPr>
              <a:t>book-to-bill with disciplined capacity and channel investment.</a:t>
            </a:r>
          </a:p>
        </p:txBody>
      </p:sp>
      <p:sp>
        <p:nvSpPr>
          <p:cNvPr id="44" name="TextBox 43"/>
          <p:cNvSpPr txBox="1"/>
          <p:nvPr/>
        </p:nvSpPr>
        <p:spPr>
          <a:xfrm>
            <a:off x="276225" y="3765200"/>
            <a:ext cx="5321163" cy="194310"/>
          </a:xfrm>
          <a:prstGeom prst="rect">
            <a:avLst/>
          </a:prstGeom>
          <a:noFill/>
        </p:spPr>
        <p:txBody>
          <a:bodyPr wrap="none" lIns="0" rIns="0" tIns="0" bIns="0">
            <a:spAutoFit/>
          </a:bodyPr>
          <a:lstStyle/>
          <a:p>
            <a:r>
              <a:rPr sz="1150" b="0">
                <a:solidFill>
                  <a:srgbClr val="2E2E2E"/>
                </a:solidFill>
                <a:latin typeface="Calibri"/>
              </a:rPr>
              <a:t>▪ Protect margin through corridor-based pricing and cost discipline as input prices move.</a:t>
            </a:r>
          </a:p>
        </p:txBody>
      </p:sp>
      <p:sp>
        <p:nvSpPr>
          <p:cNvPr id="45" name="TextBox 44"/>
          <p:cNvSpPr txBox="1"/>
          <p:nvPr/>
        </p:nvSpPr>
        <p:spPr>
          <a:xfrm>
            <a:off x="6334125" y="2503329"/>
            <a:ext cx="5562600" cy="194310"/>
          </a:xfrm>
          <a:prstGeom prst="rect">
            <a:avLst/>
          </a:prstGeom>
          <a:noFill/>
        </p:spPr>
        <p:txBody>
          <a:bodyPr wrap="none" lIns="0" rIns="0" tIns="0" bIns="0">
            <a:spAutoFit/>
          </a:bodyPr>
          <a:lstStyle/>
          <a:p>
            <a:r>
              <a:rPr sz="1150" b="0">
                <a:solidFill>
                  <a:srgbClr val="2E2E2E"/>
                </a:solidFill>
                <a:latin typeface="Calibri"/>
              </a:rPr>
              <a:t>▪ Premiumise the portfolio around 'Flexible Partial Dentures' and adjacent high-value lines to</a:t>
            </a:r>
          </a:p>
        </p:txBody>
      </p:sp>
      <p:sp>
        <p:nvSpPr>
          <p:cNvPr id="46" name="TextBox 45"/>
          <p:cNvSpPr txBox="1"/>
          <p:nvPr/>
        </p:nvSpPr>
        <p:spPr>
          <a:xfrm>
            <a:off x="6334125" y="2678589"/>
            <a:ext cx="1228625" cy="194310"/>
          </a:xfrm>
          <a:prstGeom prst="rect">
            <a:avLst/>
          </a:prstGeom>
          <a:noFill/>
        </p:spPr>
        <p:txBody>
          <a:bodyPr wrap="none" lIns="0" rIns="0" tIns="0" bIns="0">
            <a:spAutoFit/>
          </a:bodyPr>
          <a:lstStyle/>
          <a:p>
            <a:r>
              <a:rPr sz="1150" b="0">
                <a:solidFill>
                  <a:srgbClr val="2E2E2E"/>
                </a:solidFill>
                <a:latin typeface="Calibri"/>
              </a:rPr>
              <a:t>lift blended pricing.</a:t>
            </a:r>
          </a:p>
        </p:txBody>
      </p:sp>
      <p:sp>
        <p:nvSpPr>
          <p:cNvPr id="47" name="TextBox 46"/>
          <p:cNvSpPr txBox="1"/>
          <p:nvPr/>
        </p:nvSpPr>
        <p:spPr>
          <a:xfrm>
            <a:off x="6334125" y="2906426"/>
            <a:ext cx="5393903" cy="194310"/>
          </a:xfrm>
          <a:prstGeom prst="rect">
            <a:avLst/>
          </a:prstGeom>
          <a:noFill/>
        </p:spPr>
        <p:txBody>
          <a:bodyPr wrap="none" lIns="0" rIns="0" tIns="0" bIns="0">
            <a:spAutoFit/>
          </a:bodyPr>
          <a:lstStyle/>
          <a:p>
            <a:r>
              <a:rPr sz="1150" b="0">
                <a:solidFill>
                  <a:srgbClr val="2E2E2E"/>
                </a:solidFill>
                <a:latin typeface="Calibri"/>
              </a:rPr>
              <a:t>▪ Deepen presence in 'Rest of the World' (largest SOM region) and build out under-served</a:t>
            </a:r>
          </a:p>
        </p:txBody>
      </p:sp>
      <p:sp>
        <p:nvSpPr>
          <p:cNvPr id="48" name="TextBox 47"/>
          <p:cNvSpPr txBox="1"/>
          <p:nvPr/>
        </p:nvSpPr>
        <p:spPr>
          <a:xfrm>
            <a:off x="6334125" y="3081686"/>
            <a:ext cx="838113" cy="194310"/>
          </a:xfrm>
          <a:prstGeom prst="rect">
            <a:avLst/>
          </a:prstGeom>
          <a:noFill/>
        </p:spPr>
        <p:txBody>
          <a:bodyPr wrap="none" lIns="0" rIns="0" tIns="0" bIns="0">
            <a:spAutoFit/>
          </a:bodyPr>
          <a:lstStyle/>
          <a:p>
            <a:r>
              <a:rPr sz="1150" b="0">
                <a:solidFill>
                  <a:srgbClr val="2E2E2E"/>
                </a:solidFill>
                <a:latin typeface="Calibri"/>
              </a:rPr>
              <a:t>geographies.</a:t>
            </a:r>
          </a:p>
        </p:txBody>
      </p:sp>
      <p:sp>
        <p:nvSpPr>
          <p:cNvPr id="49" name="TextBox 48"/>
          <p:cNvSpPr txBox="1"/>
          <p:nvPr/>
        </p:nvSpPr>
        <p:spPr>
          <a:xfrm>
            <a:off x="6334125" y="3309524"/>
            <a:ext cx="5471144" cy="194310"/>
          </a:xfrm>
          <a:prstGeom prst="rect">
            <a:avLst/>
          </a:prstGeom>
          <a:noFill/>
        </p:spPr>
        <p:txBody>
          <a:bodyPr wrap="none" lIns="0" rIns="0" tIns="0" bIns="0">
            <a:spAutoFit/>
          </a:bodyPr>
          <a:lstStyle/>
          <a:p>
            <a:r>
              <a:rPr sz="1150" b="0">
                <a:solidFill>
                  <a:srgbClr val="2E2E2E"/>
                </a:solidFill>
                <a:latin typeface="Calibri"/>
              </a:rPr>
              <a:t>▪ Invest in R&amp;D, certification and selective M&amp;A to move up the price ladder and widen the</a:t>
            </a:r>
          </a:p>
        </p:txBody>
      </p:sp>
      <p:sp>
        <p:nvSpPr>
          <p:cNvPr id="50" name="TextBox 49"/>
          <p:cNvSpPr txBox="1"/>
          <p:nvPr/>
        </p:nvSpPr>
        <p:spPr>
          <a:xfrm>
            <a:off x="6334125" y="3484784"/>
            <a:ext cx="425636" cy="194310"/>
          </a:xfrm>
          <a:prstGeom prst="rect">
            <a:avLst/>
          </a:prstGeom>
          <a:noFill/>
        </p:spPr>
        <p:txBody>
          <a:bodyPr wrap="none" lIns="0" rIns="0" tIns="0" bIns="0">
            <a:spAutoFit/>
          </a:bodyPr>
          <a:lstStyle/>
          <a:p>
            <a:r>
              <a:rPr sz="1150" b="0">
                <a:solidFill>
                  <a:srgbClr val="2E2E2E"/>
                </a:solidFill>
                <a:latin typeface="Calibri"/>
              </a:rPr>
              <a:t>moat.</a:t>
            </a:r>
          </a:p>
        </p:txBody>
      </p:sp>
      <p:sp>
        <p:nvSpPr>
          <p:cNvPr id="51" name="TextBox 50"/>
          <p:cNvSpPr txBox="1"/>
          <p:nvPr/>
        </p:nvSpPr>
        <p:spPr>
          <a:xfrm>
            <a:off x="6334125" y="3712622"/>
            <a:ext cx="5267535" cy="194310"/>
          </a:xfrm>
          <a:prstGeom prst="rect">
            <a:avLst/>
          </a:prstGeom>
          <a:noFill/>
        </p:spPr>
        <p:txBody>
          <a:bodyPr wrap="none" lIns="0" rIns="0" tIns="0" bIns="0">
            <a:spAutoFit/>
          </a:bodyPr>
          <a:lstStyle/>
          <a:p>
            <a:r>
              <a:rPr sz="1150" b="0">
                <a:solidFill>
                  <a:srgbClr val="2E2E2E"/>
                </a:solidFill>
                <a:latin typeface="Calibri"/>
              </a:rPr>
              <a:t>▪ Diversify the customer base and secure supply to de-risk concentration and input-cost</a:t>
            </a:r>
          </a:p>
        </p:txBody>
      </p:sp>
      <p:sp>
        <p:nvSpPr>
          <p:cNvPr id="52" name="TextBox 51"/>
          <p:cNvSpPr txBox="1"/>
          <p:nvPr/>
        </p:nvSpPr>
        <p:spPr>
          <a:xfrm>
            <a:off x="6334125" y="3887882"/>
            <a:ext cx="509215" cy="194310"/>
          </a:xfrm>
          <a:prstGeom prst="rect">
            <a:avLst/>
          </a:prstGeom>
          <a:noFill/>
        </p:spPr>
        <p:txBody>
          <a:bodyPr wrap="none" lIns="0" rIns="0" tIns="0" bIns="0">
            <a:spAutoFit/>
          </a:bodyPr>
          <a:lstStyle/>
          <a:p>
            <a:r>
              <a:rPr sz="1150" b="0">
                <a:solidFill>
                  <a:srgbClr val="2E2E2E"/>
                </a:solidFill>
                <a:latin typeface="Calibri"/>
              </a:rPr>
              <a:t>shocks.</a:t>
            </a:r>
          </a:p>
        </p:txBody>
      </p:sp>
      <p:sp>
        <p:nvSpPr>
          <p:cNvPr id="53" name="TextBox 52"/>
          <p:cNvSpPr txBox="1"/>
          <p:nvPr/>
        </p:nvSpPr>
        <p:spPr>
          <a:xfrm>
            <a:off x="6334125" y="4115720"/>
            <a:ext cx="3102173" cy="194310"/>
          </a:xfrm>
          <a:prstGeom prst="rect">
            <a:avLst/>
          </a:prstGeom>
          <a:noFill/>
        </p:spPr>
        <p:txBody>
          <a:bodyPr wrap="none" lIns="0" rIns="0" tIns="0" bIns="0">
            <a:spAutoFit/>
          </a:bodyPr>
          <a:lstStyle/>
          <a:p>
            <a:r>
              <a:rPr sz="1150" b="0">
                <a:solidFill>
                  <a:srgbClr val="2E2E2E"/>
                </a:solidFill>
                <a:latin typeface="Calibri"/>
              </a:rPr>
              <a:t>▪ Sharpen go-to-market a ~85-day sales cycle and ~</a:t>
            </a:r>
          </a:p>
        </p:txBody>
      </p:sp>
      <p:pic>
        <p:nvPicPr>
          <p:cNvPr id="54" name="Picture 53" descr="lock.png"/>
          <p:cNvPicPr>
            <a:picLocks noChangeAspect="1"/>
          </p:cNvPicPr>
          <p:nvPr/>
        </p:nvPicPr>
        <p:blipFill>
          <a:blip r:embed="rId4"/>
          <a:stretch>
            <a:fillRect/>
          </a:stretch>
        </p:blipFill>
        <p:spPr>
          <a:xfrm>
            <a:off x="9385452" y="4105497"/>
            <a:ext cx="134549" cy="195707"/>
          </a:xfrm>
          <a:prstGeom prst="rect">
            <a:avLst/>
          </a:prstGeom>
        </p:spPr>
      </p:pic>
      <p:sp>
        <p:nvSpPr>
          <p:cNvPr id="55" name="TextBox 54"/>
          <p:cNvSpPr txBox="1"/>
          <p:nvPr/>
        </p:nvSpPr>
        <p:spPr>
          <a:xfrm>
            <a:off x="9560561" y="4115720"/>
            <a:ext cx="2003660" cy="194310"/>
          </a:xfrm>
          <a:prstGeom prst="rect">
            <a:avLst/>
          </a:prstGeom>
          <a:noFill/>
        </p:spPr>
        <p:txBody>
          <a:bodyPr wrap="none" lIns="0" rIns="0" tIns="0" bIns="0">
            <a:spAutoFit/>
          </a:bodyPr>
          <a:lstStyle/>
          <a:p>
            <a:r>
              <a:rPr sz="1150" b="0">
                <a:solidFill>
                  <a:srgbClr val="2E2E2E"/>
                </a:solidFill>
                <a:latin typeface="Calibri"/>
              </a:rPr>
              <a:t>conversion speed share capture.</a:t>
            </a:r>
          </a:p>
        </p:txBody>
      </p:sp>
    </p:spTree>
  </p:cSld>
  <p:clrMapOvr>
    <a:masterClrMapping/>
  </p:clrMapOvr>
</p:sld>
</file>

<file path=ppt/theme/theme1.xml><?xml version="1.0" encoding="utf-8"?>
<a:theme xmlns:a="http://schemas.openxmlformats.org/drawingml/2006/main" name="Office Theme">
  <a:themeElements>
    <a:clrScheme name="Custom 70">
      <a:dk1>
        <a:sysClr val="windowText" lastClr="000000"/>
      </a:dk1>
      <a:lt1>
        <a:sysClr val="window" lastClr="FFFFFF"/>
      </a:lt1>
      <a:dk2>
        <a:srgbClr val="000000"/>
      </a:dk2>
      <a:lt2>
        <a:srgbClr val="F8F8F8"/>
      </a:lt2>
      <a:accent1>
        <a:srgbClr val="3D85C6"/>
      </a:accent1>
      <a:accent2>
        <a:srgbClr val="9E7E0A"/>
      </a:accent2>
      <a:accent3>
        <a:srgbClr val="40315E"/>
      </a:accent3>
      <a:accent4>
        <a:srgbClr val="008189"/>
      </a:accent4>
      <a:accent5>
        <a:srgbClr val="A35313"/>
      </a:accent5>
      <a:accent6>
        <a:srgbClr val="5F5F5F"/>
      </a:accent6>
      <a:hlink>
        <a:srgbClr val="5F5F5F"/>
      </a:hlink>
      <a:folHlink>
        <a:srgbClr val="919191"/>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docProps/app.xml><?xml version="1.0" encoding="utf-8"?>
<Properties xmlns="http://schemas.openxmlformats.org/officeDocument/2006/extended-properties" xmlns:vt="http://schemas.openxmlformats.org/officeDocument/2006/docPropsVTypes">
  <TotalTime>1</TotalTime>
  <Words>0</Words>
  <Application>Microsoft Macintosh PowerPoint</Application>
  <PresentationFormat>On-screen Show (4:3)</PresentationFormat>
  <Paragraphs>0</Paragraphs>
  <Slides>0</Slides>
  <Notes>0</Notes>
  <HiddenSlides>0</HiddenSlides>
  <MMClips>0</MMClips>
  <ScaleCrop>false</ScaleCrop>
  <HeadingPairs>
    <vt:vector size="4" baseType="variant">
      <vt:variant>
        <vt:lpstr>Theme</vt:lpstr>
      </vt:variant>
      <vt:variant>
        <vt:i4>1</vt:i4>
      </vt:variant>
      <vt:variant>
        <vt:lpstr>Slide Titles</vt:lpstr>
      </vt:variant>
      <vt:variant>
        <vt:i4>0</vt:i4>
      </vt:variant>
    </vt:vector>
  </HeadingPairs>
  <TitlesOfParts>
    <vt:vector size="1" baseType="lpstr">
      <vt:lpstr>Office Theme</vt:lpstr>
    </vt:vector>
  </TitlesOfParts>
  <Manager/>
  <Company/>
  <LinksUpToDate>false</LinksUpToDate>
  <SharedDoc>false</SharedDoc>
  <HyperlinkBase/>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subject/>
  <dc:creator/>
  <cp:keywords/>
  <dc:description>generated using python-pptx</dc:description>
  <cp:lastModifiedBy>Steve Canny</cp:lastModifiedBy>
  <cp:revision>1</cp:revision>
  <dcterms:created xsi:type="dcterms:W3CDTF">2013-01-27T09:14:16Z</dcterms:created>
  <dcterms:modified xsi:type="dcterms:W3CDTF">2013-01-27T09:15:58Z</dcterms:modified>
  <cp:category/>
</cp:coreProperties>
</file>